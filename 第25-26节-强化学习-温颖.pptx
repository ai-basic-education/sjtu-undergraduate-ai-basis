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314" r:id="rId2"/>
    <p:sldId id="10330" r:id="rId3"/>
    <p:sldId id="10331" r:id="rId4"/>
    <p:sldId id="10448" r:id="rId5"/>
    <p:sldId id="10436" r:id="rId6"/>
    <p:sldId id="10427" r:id="rId7"/>
    <p:sldId id="10428" r:id="rId8"/>
    <p:sldId id="10442" r:id="rId9"/>
    <p:sldId id="10429" r:id="rId10"/>
    <p:sldId id="10430" r:id="rId11"/>
    <p:sldId id="10435" r:id="rId12"/>
    <p:sldId id="10431" r:id="rId13"/>
    <p:sldId id="10432" r:id="rId14"/>
    <p:sldId id="10443" r:id="rId15"/>
    <p:sldId id="10433" r:id="rId16"/>
    <p:sldId id="10449" r:id="rId17"/>
    <p:sldId id="10450" r:id="rId18"/>
    <p:sldId id="10444" r:id="rId19"/>
    <p:sldId id="10434" r:id="rId20"/>
    <p:sldId id="10437" r:id="rId21"/>
    <p:sldId id="10451" r:id="rId22"/>
    <p:sldId id="10452" r:id="rId23"/>
    <p:sldId id="10453" r:id="rId24"/>
    <p:sldId id="10454" r:id="rId25"/>
    <p:sldId id="10455" r:id="rId26"/>
    <p:sldId id="10456" r:id="rId27"/>
    <p:sldId id="10457" r:id="rId28"/>
    <p:sldId id="10460" r:id="rId29"/>
    <p:sldId id="10462" r:id="rId30"/>
    <p:sldId id="10458" r:id="rId31"/>
    <p:sldId id="10445" r:id="rId32"/>
    <p:sldId id="10388" r:id="rId33"/>
    <p:sldId id="10441" r:id="rId34"/>
    <p:sldId id="10389" r:id="rId35"/>
    <p:sldId id="10390" r:id="rId36"/>
    <p:sldId id="10391" r:id="rId37"/>
    <p:sldId id="10395" r:id="rId38"/>
    <p:sldId id="10394" r:id="rId39"/>
    <p:sldId id="10393" r:id="rId40"/>
    <p:sldId id="10447" r:id="rId41"/>
    <p:sldId id="10464" r:id="rId42"/>
    <p:sldId id="10392" r:id="rId43"/>
    <p:sldId id="10463" r:id="rId44"/>
    <p:sldId id="10321"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070707"/>
    <a:srgbClr val="6D9EEB"/>
    <a:srgbClr val="F7B26B"/>
    <a:srgbClr val="E16666"/>
    <a:srgbClr val="93C57D"/>
    <a:srgbClr val="002B7F"/>
    <a:srgbClr val="1D41D5"/>
    <a:srgbClr val="32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16" autoAdjust="0"/>
    <p:restoredTop sz="96327" autoAdjust="0"/>
  </p:normalViewPr>
  <p:slideViewPr>
    <p:cSldViewPr snapToGrid="0">
      <p:cViewPr varScale="1">
        <p:scale>
          <a:sx n="80" d="100"/>
          <a:sy n="80" d="100"/>
        </p:scale>
        <p:origin x="57" y="159"/>
      </p:cViewPr>
      <p:guideLst/>
    </p:cSldViewPr>
  </p:slideViewPr>
  <p:outlineViewPr>
    <p:cViewPr>
      <p:scale>
        <a:sx n="33" d="100"/>
        <a:sy n="33" d="100"/>
      </p:scale>
      <p:origin x="0" y="-12872"/>
    </p:cViewPr>
  </p:outlineViewPr>
  <p:notesTextViewPr>
    <p:cViewPr>
      <p:scale>
        <a:sx n="3" d="2"/>
        <a:sy n="3" d="2"/>
      </p:scale>
      <p:origin x="0" y="0"/>
    </p:cViewPr>
  </p:notesTextViewPr>
  <p:sorterViewPr>
    <p:cViewPr>
      <p:scale>
        <a:sx n="50" d="100"/>
        <a:sy n="50" d="100"/>
      </p:scale>
      <p:origin x="0" y="-261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2025/10/28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2</a:t>
            </a:fld>
            <a:endParaRPr lang="zh-CN" altLang="en-US"/>
          </a:p>
        </p:txBody>
      </p:sp>
    </p:spTree>
    <p:extLst>
      <p:ext uri="{BB962C8B-B14F-4D97-AF65-F5344CB8AC3E}">
        <p14:creationId xmlns:p14="http://schemas.microsoft.com/office/powerpoint/2010/main" val="1259568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a:t>
            </a:fld>
            <a:endParaRPr lang="zh-CN" altLang="en-US"/>
          </a:p>
        </p:txBody>
      </p:sp>
    </p:spTree>
    <p:extLst>
      <p:ext uri="{BB962C8B-B14F-4D97-AF65-F5344CB8AC3E}">
        <p14:creationId xmlns:p14="http://schemas.microsoft.com/office/powerpoint/2010/main" val="332810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ED11C-DCB0-948E-C0E4-AF64CFD6BF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EC89DE-3DE3-E3EC-7093-43A0938D41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1D8484-BD6F-B196-F535-1684539034A3}"/>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B4406AE1-04A8-0990-3AEB-6782B73568C9}"/>
              </a:ext>
            </a:extLst>
          </p:cNvPr>
          <p:cNvSpPr>
            <a:spLocks noGrp="1"/>
          </p:cNvSpPr>
          <p:nvPr>
            <p:ph type="sldNum" sz="quarter" idx="5"/>
          </p:nvPr>
        </p:nvSpPr>
        <p:spPr/>
        <p:txBody>
          <a:bodyPr/>
          <a:lstStyle/>
          <a:p>
            <a:fld id="{B3FB6C25-FFE4-4126-ADF1-3137FE8DB2D2}" type="slidenum">
              <a:rPr lang="zh-CN" altLang="en-US" smtClean="0"/>
              <a:t>8</a:t>
            </a:fld>
            <a:endParaRPr lang="zh-CN" altLang="en-US"/>
          </a:p>
        </p:txBody>
      </p:sp>
    </p:spTree>
    <p:extLst>
      <p:ext uri="{BB962C8B-B14F-4D97-AF65-F5344CB8AC3E}">
        <p14:creationId xmlns:p14="http://schemas.microsoft.com/office/powerpoint/2010/main" val="2998564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67B99-4CAC-1151-1401-6D9CDCCE61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D4279E-F837-C57C-AD2A-4C63BDF9A2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E8029C-7770-EEA0-CE97-72492869E8D5}"/>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83F3FEF6-E5C2-8D8B-4DFF-0C5DBF35C6F5}"/>
              </a:ext>
            </a:extLst>
          </p:cNvPr>
          <p:cNvSpPr>
            <a:spLocks noGrp="1"/>
          </p:cNvSpPr>
          <p:nvPr>
            <p:ph type="sldNum" sz="quarter" idx="5"/>
          </p:nvPr>
        </p:nvSpPr>
        <p:spPr/>
        <p:txBody>
          <a:bodyPr/>
          <a:lstStyle/>
          <a:p>
            <a:fld id="{B3FB6C25-FFE4-4126-ADF1-3137FE8DB2D2}" type="slidenum">
              <a:rPr lang="zh-CN" altLang="en-US" smtClean="0"/>
              <a:t>14</a:t>
            </a:fld>
            <a:endParaRPr lang="zh-CN" altLang="en-US"/>
          </a:p>
        </p:txBody>
      </p:sp>
    </p:spTree>
    <p:extLst>
      <p:ext uri="{BB962C8B-B14F-4D97-AF65-F5344CB8AC3E}">
        <p14:creationId xmlns:p14="http://schemas.microsoft.com/office/powerpoint/2010/main" val="681600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A3D6D-E6BD-EF76-D42D-98F5ACFD34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DE273D-6009-5A44-2293-AE4F0E110D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2BAE7B-4DAE-39FF-ECC9-DD59B9E3C1CF}"/>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52B4158A-74E6-E8E6-1809-6C08E7057B7B}"/>
              </a:ext>
            </a:extLst>
          </p:cNvPr>
          <p:cNvSpPr>
            <a:spLocks noGrp="1"/>
          </p:cNvSpPr>
          <p:nvPr>
            <p:ph type="sldNum" sz="quarter" idx="5"/>
          </p:nvPr>
        </p:nvSpPr>
        <p:spPr/>
        <p:txBody>
          <a:bodyPr/>
          <a:lstStyle/>
          <a:p>
            <a:fld id="{B3FB6C25-FFE4-4126-ADF1-3137FE8DB2D2}" type="slidenum">
              <a:rPr lang="zh-CN" altLang="en-US" smtClean="0"/>
              <a:t>18</a:t>
            </a:fld>
            <a:endParaRPr lang="zh-CN" altLang="en-US"/>
          </a:p>
        </p:txBody>
      </p:sp>
    </p:spTree>
    <p:extLst>
      <p:ext uri="{BB962C8B-B14F-4D97-AF65-F5344CB8AC3E}">
        <p14:creationId xmlns:p14="http://schemas.microsoft.com/office/powerpoint/2010/main" val="1531902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AFF1-C741-FFA1-6D92-EBAA28B23C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170AA8-64F8-09B7-373F-1D7DB992CD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0E28F2-488D-20A9-22AD-3228A09CB97F}"/>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A093A9A9-5242-B643-E627-5CBFAC0559B1}"/>
              </a:ext>
            </a:extLst>
          </p:cNvPr>
          <p:cNvSpPr>
            <a:spLocks noGrp="1"/>
          </p:cNvSpPr>
          <p:nvPr>
            <p:ph type="sldNum" sz="quarter" idx="5"/>
          </p:nvPr>
        </p:nvSpPr>
        <p:spPr/>
        <p:txBody>
          <a:bodyPr/>
          <a:lstStyle/>
          <a:p>
            <a:fld id="{B3FB6C25-FFE4-4126-ADF1-3137FE8DB2D2}" type="slidenum">
              <a:rPr lang="zh-CN" altLang="en-US" smtClean="0"/>
              <a:t>31</a:t>
            </a:fld>
            <a:endParaRPr lang="zh-CN" altLang="en-US"/>
          </a:p>
        </p:txBody>
      </p:sp>
    </p:spTree>
    <p:extLst>
      <p:ext uri="{BB962C8B-B14F-4D97-AF65-F5344CB8AC3E}">
        <p14:creationId xmlns:p14="http://schemas.microsoft.com/office/powerpoint/2010/main" val="1227263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32</a:t>
            </a:fld>
            <a:endParaRPr lang="zh-CN" altLang="en-US"/>
          </a:p>
        </p:txBody>
      </p:sp>
    </p:spTree>
    <p:extLst>
      <p:ext uri="{BB962C8B-B14F-4D97-AF65-F5344CB8AC3E}">
        <p14:creationId xmlns:p14="http://schemas.microsoft.com/office/powerpoint/2010/main" val="594493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34</a:t>
            </a:fld>
            <a:endParaRPr lang="zh-CN" altLang="en-US"/>
          </a:p>
        </p:txBody>
      </p:sp>
    </p:spTree>
    <p:extLst>
      <p:ext uri="{BB962C8B-B14F-4D97-AF65-F5344CB8AC3E}">
        <p14:creationId xmlns:p14="http://schemas.microsoft.com/office/powerpoint/2010/main" val="2919906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35</a:t>
            </a:fld>
            <a:endParaRPr lang="zh-CN" altLang="en-US"/>
          </a:p>
        </p:txBody>
      </p:sp>
    </p:spTree>
    <p:extLst>
      <p:ext uri="{BB962C8B-B14F-4D97-AF65-F5344CB8AC3E}">
        <p14:creationId xmlns:p14="http://schemas.microsoft.com/office/powerpoint/2010/main" val="66667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36</a:t>
            </a:fld>
            <a:endParaRPr lang="zh-CN" altLang="en-US"/>
          </a:p>
        </p:txBody>
      </p:sp>
    </p:spTree>
    <p:extLst>
      <p:ext uri="{BB962C8B-B14F-4D97-AF65-F5344CB8AC3E}">
        <p14:creationId xmlns:p14="http://schemas.microsoft.com/office/powerpoint/2010/main" val="4183316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37</a:t>
            </a:fld>
            <a:endParaRPr lang="zh-CN" altLang="en-US"/>
          </a:p>
        </p:txBody>
      </p:sp>
    </p:spTree>
    <p:extLst>
      <p:ext uri="{BB962C8B-B14F-4D97-AF65-F5344CB8AC3E}">
        <p14:creationId xmlns:p14="http://schemas.microsoft.com/office/powerpoint/2010/main" val="3929736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38</a:t>
            </a:fld>
            <a:endParaRPr lang="zh-CN" altLang="en-US"/>
          </a:p>
        </p:txBody>
      </p:sp>
    </p:spTree>
    <p:extLst>
      <p:ext uri="{BB962C8B-B14F-4D97-AF65-F5344CB8AC3E}">
        <p14:creationId xmlns:p14="http://schemas.microsoft.com/office/powerpoint/2010/main" val="463078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39</a:t>
            </a:fld>
            <a:endParaRPr lang="zh-CN" altLang="en-US"/>
          </a:p>
        </p:txBody>
      </p:sp>
    </p:spTree>
    <p:extLst>
      <p:ext uri="{BB962C8B-B14F-4D97-AF65-F5344CB8AC3E}">
        <p14:creationId xmlns:p14="http://schemas.microsoft.com/office/powerpoint/2010/main" val="1636270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7A43A-D22E-D951-2F11-EFA92C6B10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055245-1F30-E73E-C1DF-450F3919B2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CDB0DB-BC27-2881-9428-4C177A1C6DFA}"/>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441EB95E-12C4-4C34-4D61-BD1AD56BF38C}"/>
              </a:ext>
            </a:extLst>
          </p:cNvPr>
          <p:cNvSpPr>
            <a:spLocks noGrp="1"/>
          </p:cNvSpPr>
          <p:nvPr>
            <p:ph type="sldNum" sz="quarter" idx="5"/>
          </p:nvPr>
        </p:nvSpPr>
        <p:spPr/>
        <p:txBody>
          <a:bodyPr/>
          <a:lstStyle/>
          <a:p>
            <a:fld id="{B3FB6C25-FFE4-4126-ADF1-3137FE8DB2D2}" type="slidenum">
              <a:rPr lang="zh-CN" altLang="en-US" smtClean="0"/>
              <a:t>40</a:t>
            </a:fld>
            <a:endParaRPr lang="zh-CN" altLang="en-US"/>
          </a:p>
        </p:txBody>
      </p:sp>
    </p:spTree>
    <p:extLst>
      <p:ext uri="{BB962C8B-B14F-4D97-AF65-F5344CB8AC3E}">
        <p14:creationId xmlns:p14="http://schemas.microsoft.com/office/powerpoint/2010/main" val="3100375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42</a:t>
            </a:fld>
            <a:endParaRPr lang="zh-CN" altLang="en-US"/>
          </a:p>
        </p:txBody>
      </p:sp>
    </p:spTree>
    <p:extLst>
      <p:ext uri="{BB962C8B-B14F-4D97-AF65-F5344CB8AC3E}">
        <p14:creationId xmlns:p14="http://schemas.microsoft.com/office/powerpoint/2010/main" val="7094232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3FB6C25-FFE4-4126-ADF1-3137FE8DB2D2}" type="slidenum">
              <a:rPr lang="zh-CN" altLang="en-US" smtClean="0"/>
              <a:t>44</a:t>
            </a:fld>
            <a:endParaRPr lang="zh-CN" altLang="en-US"/>
          </a:p>
        </p:txBody>
      </p:sp>
    </p:spTree>
    <p:extLst>
      <p:ext uri="{BB962C8B-B14F-4D97-AF65-F5344CB8AC3E}">
        <p14:creationId xmlns:p14="http://schemas.microsoft.com/office/powerpoint/2010/main" val="7153548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3464822670"/>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 Id="rId5" Type="http://schemas.openxmlformats.org/officeDocument/2006/relationships/image" Target="../media/image1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20.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4" Type="http://schemas.openxmlformats.org/officeDocument/2006/relationships/image" Target="../media/image17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5" Type="http://schemas.openxmlformats.org/officeDocument/2006/relationships/image" Target="../media/image21.jpeg"/><Relationship Id="rId4" Type="http://schemas.openxmlformats.org/officeDocument/2006/relationships/image" Target="../media/image180.png"/></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gif"/><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8.gif"/><Relationship Id="rId1" Type="http://schemas.openxmlformats.org/officeDocument/2006/relationships/slideLayout" Target="../slideLayouts/slideLayout5.xml"/><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8" Type="http://schemas.openxmlformats.org/officeDocument/2006/relationships/image" Target="../media/image44.png"/><Relationship Id="rId7" Type="http://schemas.openxmlformats.org/officeDocument/2006/relationships/image" Target="../media/image42.png"/><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1.png"/><Relationship Id="rId10" Type="http://schemas.openxmlformats.org/officeDocument/2006/relationships/image" Target="../media/image47.png"/><Relationship Id="rId4" Type="http://schemas.openxmlformats.org/officeDocument/2006/relationships/image" Target="../media/image410.png"/><Relationship Id="rId9"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5.xml"/><Relationship Id="rId1" Type="http://schemas.openxmlformats.org/officeDocument/2006/relationships/tags" Target="../tags/tag1.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8.png"/><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55.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58.png"/><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microsoft.com/office/2007/relationships/media" Target="../media/media1.mp4"/><Relationship Id="rId2" Type="http://schemas.openxmlformats.org/officeDocument/2006/relationships/video" Target="NULL" TargetMode="External"/><Relationship Id="rId1" Type="http://schemas.openxmlformats.org/officeDocument/2006/relationships/tags" Target="../tags/tag2.xml"/><Relationship Id="rId6" Type="http://schemas.openxmlformats.org/officeDocument/2006/relationships/image" Target="../media/image60.png"/><Relationship Id="rId5" Type="http://schemas.openxmlformats.org/officeDocument/2006/relationships/notesSlide" Target="../notesSlides/notesSlide13.xml"/><Relationship Id="rId4"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jpe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2"/>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kumimoji="0" lang="zh-CN" altLang="en-US"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强化学习</a:t>
            </a:r>
            <a:endParaRPr kumimoji="0" lang="zh-CN" altLang="en-US"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2025年10月28日星期二</a:t>
            </a:fld>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AC7ADDD-F18A-7548-E8A2-A13B758D3015}"/>
              </a:ext>
            </a:extLst>
          </p:cNvPr>
          <p:cNvSpPr txBox="1"/>
          <p:nvPr/>
        </p:nvSpPr>
        <p:spPr>
          <a:xfrm>
            <a:off x="92764" y="6374296"/>
            <a:ext cx="3075189" cy="400110"/>
          </a:xfrm>
          <a:prstGeom prst="rect">
            <a:avLst/>
          </a:prstGeom>
          <a:noFill/>
        </p:spPr>
        <p:txBody>
          <a:bodyPr wrap="square" rtlCol="0">
            <a:spAutoFit/>
          </a:bodyPr>
          <a:lstStyle/>
          <a:p>
            <a:pPr algn="l"/>
            <a:r>
              <a:rPr lang="en-US" altLang="zh-CN" sz="2000" dirty="0">
                <a:solidFill>
                  <a:schemeClr val="bg1"/>
                </a:solidFill>
              </a:rPr>
              <a:t>PPT</a:t>
            </a:r>
            <a:r>
              <a:rPr lang="zh-CN" altLang="en-US" sz="2000">
                <a:solidFill>
                  <a:schemeClr val="bg1"/>
                </a:solidFill>
              </a:rPr>
              <a:t>贡献：温颖</a:t>
            </a:r>
            <a:endParaRPr lang="zh-CN" altLang="en-US"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935" y="144826"/>
            <a:ext cx="2576687" cy="337358"/>
          </a:xfrm>
        </p:spPr>
        <p:txBody>
          <a:bodyPr/>
          <a:lstStyle/>
          <a:p>
            <a:r>
              <a:rPr lang="zh-CN" altLang="en-US" sz="2800" dirty="0"/>
              <a:t>目录</a:t>
            </a:r>
          </a:p>
        </p:txBody>
      </p:sp>
      <p:sp>
        <p:nvSpPr>
          <p:cNvPr id="3" name="文本框 2"/>
          <p:cNvSpPr txBox="1"/>
          <p:nvPr/>
        </p:nvSpPr>
        <p:spPr>
          <a:xfrm>
            <a:off x="3855154" y="1454516"/>
            <a:ext cx="4134465" cy="4832092"/>
          </a:xfrm>
          <a:prstGeom prst="rect">
            <a:avLst/>
          </a:prstGeom>
          <a:noFill/>
        </p:spPr>
        <p:txBody>
          <a:bodyPr wrap="none" rtlCol="0">
            <a:spAutoFit/>
          </a:bodyPr>
          <a:lstStyle/>
          <a:p>
            <a:pPr algn="l"/>
            <a:r>
              <a:rPr lang="zh-CN" altLang="en-US" sz="2800" b="1" dirty="0">
                <a:latin typeface="微软雅黑" panose="020B0503020204020204" pitchFamily="34" charset="-122"/>
                <a:ea typeface="微软雅黑" panose="020B0503020204020204" pitchFamily="34" charset="-122"/>
              </a:rPr>
              <a:t>一、什么是强化学习</a:t>
            </a:r>
            <a:endParaRPr lang="en-US" altLang="zh-CN" sz="2800" b="1" dirty="0">
              <a:latin typeface="微软雅黑" panose="020B0503020204020204" pitchFamily="34" charset="-122"/>
              <a:ea typeface="微软雅黑" panose="020B0503020204020204" pitchFamily="34" charset="-122"/>
            </a:endParaRPr>
          </a:p>
          <a:p>
            <a:pPr algn="l"/>
            <a:endParaRPr lang="en-US" altLang="zh-CN" sz="2800" b="1" dirty="0">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二、强化学习的基本要素</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三、强化学习的任务类型</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四、解决强化学习问题</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五、深度强化学习</a:t>
            </a:r>
          </a:p>
          <a:p>
            <a:endParaRPr lang="zh-CN" altLang="en-US" sz="2800" b="1" dirty="0">
              <a:latin typeface="微软雅黑" panose="020B0503020204020204" pitchFamily="34" charset="-122"/>
              <a:ea typeface="微软雅黑" panose="020B0503020204020204" pitchFamily="34" charset="-122"/>
            </a:endParaRPr>
          </a:p>
          <a:p>
            <a:pPr algn="l"/>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两种人工智能任务类型</a:t>
            </a:r>
          </a:p>
        </p:txBody>
      </p:sp>
      <p:sp>
        <p:nvSpPr>
          <p:cNvPr id="10" name="文本框 9"/>
          <p:cNvSpPr txBox="1"/>
          <p:nvPr/>
        </p:nvSpPr>
        <p:spPr>
          <a:xfrm>
            <a:off x="380999" y="1012121"/>
            <a:ext cx="11253159" cy="501303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预测型任务</a:t>
            </a:r>
          </a:p>
          <a:p>
            <a:pPr marL="800100" lvl="1"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根据数据预测所需输出（</a:t>
            </a:r>
            <a:r>
              <a:rPr lang="zh-CN" altLang="en-US" sz="2400" b="1" dirty="0">
                <a:solidFill>
                  <a:srgbClr val="070707"/>
                </a:solidFill>
                <a:latin typeface="微软雅黑" panose="020B0503020204020204" pitchFamily="34" charset="-122"/>
                <a:ea typeface="微软雅黑" panose="020B0503020204020204" pitchFamily="34" charset="-122"/>
              </a:rPr>
              <a:t>有监督学习</a:t>
            </a:r>
            <a:r>
              <a:rPr lang="zh-CN" altLang="en-US" sz="2400" dirty="0">
                <a:solidFill>
                  <a:srgbClr val="070707"/>
                </a:solidFill>
                <a:latin typeface="微软雅黑" panose="020B0503020204020204" pitchFamily="34" charset="-122"/>
                <a:ea typeface="微软雅黑" panose="020B0503020204020204" pitchFamily="34" charset="-122"/>
              </a:rPr>
              <a:t>）</a:t>
            </a:r>
          </a:p>
          <a:p>
            <a:pPr marL="800100" lvl="1"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生成数据实例（</a:t>
            </a:r>
            <a:r>
              <a:rPr lang="zh-CN" altLang="en-US" sz="2400" b="1" dirty="0">
                <a:solidFill>
                  <a:srgbClr val="070707"/>
                </a:solidFill>
                <a:latin typeface="微软雅黑" panose="020B0503020204020204" pitchFamily="34" charset="-122"/>
                <a:ea typeface="微软雅黑" panose="020B0503020204020204" pitchFamily="34" charset="-122"/>
              </a:rPr>
              <a:t>无监督学习</a:t>
            </a:r>
            <a:r>
              <a:rPr lang="zh-CN" altLang="en-US" sz="2400" dirty="0">
                <a:solidFill>
                  <a:srgbClr val="070707"/>
                </a:solidFill>
                <a:latin typeface="微软雅黑" panose="020B0503020204020204" pitchFamily="34" charset="-122"/>
                <a:ea typeface="微软雅黑" panose="020B0503020204020204" pitchFamily="34" charset="-122"/>
              </a:rPr>
              <a:t>）</a:t>
            </a:r>
          </a:p>
          <a:p>
            <a:pPr marL="342900"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决策型任务</a:t>
            </a:r>
          </a:p>
          <a:p>
            <a:pPr marL="800100" lvl="1"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在动态环境中采取动作（</a:t>
            </a:r>
            <a:r>
              <a:rPr lang="zh-CN" altLang="en-US" sz="2400" b="1" dirty="0">
                <a:latin typeface="微软雅黑" panose="020B0503020204020204" pitchFamily="34" charset="-122"/>
                <a:ea typeface="微软雅黑" panose="020B0503020204020204" pitchFamily="34" charset="-122"/>
              </a:rPr>
              <a:t>强化学习</a:t>
            </a:r>
            <a:r>
              <a:rPr lang="zh-CN" altLang="en-US" sz="2400" dirty="0">
                <a:solidFill>
                  <a:srgbClr val="070707"/>
                </a:solidFill>
                <a:latin typeface="微软雅黑" panose="020B0503020204020204" pitchFamily="34" charset="-122"/>
                <a:ea typeface="微软雅黑" panose="020B0503020204020204" pitchFamily="34" charset="-122"/>
              </a:rPr>
              <a:t>）</a:t>
            </a:r>
          </a:p>
          <a:p>
            <a:pPr marL="800100" lvl="1"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转变到新的状态</a:t>
            </a:r>
          </a:p>
          <a:p>
            <a:pPr marL="800100" lvl="1"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获得即时奖励</a:t>
            </a:r>
          </a:p>
          <a:p>
            <a:pPr marL="800100" lvl="1"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随着时间的推移最大化累计奖励</a:t>
            </a:r>
          </a:p>
          <a:p>
            <a:pPr marL="800100" lvl="1" indent="-342900">
              <a:lnSpc>
                <a:spcPct val="150000"/>
              </a:lnSpc>
              <a:buFont typeface="Arial" panose="020B0604020202020204" pitchFamily="34" charset="0"/>
              <a:buChar char="•"/>
            </a:pPr>
            <a:r>
              <a:rPr lang="zh-CN" altLang="en-US" sz="2400" dirty="0">
                <a:solidFill>
                  <a:srgbClr val="070707"/>
                </a:solidFill>
                <a:latin typeface="微软雅黑" panose="020B0503020204020204" pitchFamily="34" charset="-122"/>
                <a:ea typeface="微软雅黑" panose="020B0503020204020204" pitchFamily="34" charset="-122"/>
              </a:rPr>
              <a:t>在交互过程中不断进行试错学习</a:t>
            </a:r>
            <a:endParaRPr lang="en-US" altLang="zh-CN" sz="2400" dirty="0">
              <a:solidFill>
                <a:srgbClr val="070707"/>
              </a:solidFill>
              <a:latin typeface="微软雅黑" panose="020B0503020204020204" pitchFamily="34" charset="-122"/>
              <a:ea typeface="微软雅黑" panose="020B0503020204020204" pitchFamily="34" charset="-122"/>
            </a:endParaRPr>
          </a:p>
        </p:txBody>
      </p:sp>
      <p:pic>
        <p:nvPicPr>
          <p:cNvPr id="2" name="Picture 5">
            <a:extLst>
              <a:ext uri="{FF2B5EF4-FFF2-40B4-BE49-F238E27FC236}">
                <a16:creationId xmlns:a16="http://schemas.microsoft.com/office/drawing/2014/main" id="{2A6E3743-51F2-9BC3-357E-B7829831AE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2742" y="1012121"/>
            <a:ext cx="2552700" cy="179070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EF6EBCC7-D558-16D4-4C95-2C3D2B9E06F4}"/>
              </a:ext>
            </a:extLst>
          </p:cNvPr>
          <p:cNvPicPr>
            <a:picLocks noChangeAspect="1"/>
          </p:cNvPicPr>
          <p:nvPr/>
        </p:nvPicPr>
        <p:blipFill>
          <a:blip r:embed="rId4"/>
          <a:stretch>
            <a:fillRect/>
          </a:stretch>
        </p:blipFill>
        <p:spPr>
          <a:xfrm>
            <a:off x="8413202" y="3597924"/>
            <a:ext cx="2552700" cy="1794779"/>
          </a:xfrm>
          <a:prstGeom prst="rect">
            <a:avLst/>
          </a:prstGeom>
        </p:spPr>
      </p:pic>
      <p:sp>
        <p:nvSpPr>
          <p:cNvPr id="5" name="箭头: 右 9">
            <a:extLst>
              <a:ext uri="{FF2B5EF4-FFF2-40B4-BE49-F238E27FC236}">
                <a16:creationId xmlns:a16="http://schemas.microsoft.com/office/drawing/2014/main" id="{E2B0FB07-30DF-7272-9981-F7F18ABFBC38}"/>
              </a:ext>
            </a:extLst>
          </p:cNvPr>
          <p:cNvSpPr/>
          <p:nvPr/>
        </p:nvSpPr>
        <p:spPr>
          <a:xfrm rot="5400000">
            <a:off x="9379289" y="3065460"/>
            <a:ext cx="546204" cy="270550"/>
          </a:xfrm>
          <a:prstGeom prst="rightArrow">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CAA818-9E74-5D8F-E833-97EAC8659E16}"/>
              </a:ext>
            </a:extLst>
          </p:cNvPr>
          <p:cNvSpPr>
            <a:spLocks noGrp="1"/>
          </p:cNvSpPr>
          <p:nvPr>
            <p:ph type="title"/>
          </p:nvPr>
        </p:nvSpPr>
        <p:spPr/>
        <p:txBody>
          <a:bodyPr/>
          <a:lstStyle/>
          <a:p>
            <a:r>
              <a:rPr kumimoji="1" lang="zh-CN" altLang="en-US" dirty="0"/>
              <a:t>从函数映射角度看机器学习不同范式</a:t>
            </a:r>
          </a:p>
        </p:txBody>
      </p:sp>
      <p:sp>
        <p:nvSpPr>
          <p:cNvPr id="82" name="Content Placeholder 3">
            <a:extLst>
              <a:ext uri="{FF2B5EF4-FFF2-40B4-BE49-F238E27FC236}">
                <a16:creationId xmlns:a16="http://schemas.microsoft.com/office/drawing/2014/main" id="{56C00DC3-A850-2E94-C3CD-5A42B1FB2B96}"/>
              </a:ext>
            </a:extLst>
          </p:cNvPr>
          <p:cNvSpPr txBox="1">
            <a:spLocks/>
          </p:cNvSpPr>
          <p:nvPr/>
        </p:nvSpPr>
        <p:spPr>
          <a:xfrm>
            <a:off x="209549" y="875561"/>
            <a:ext cx="11745889" cy="906744"/>
          </a:xfrm>
          <a:prstGeom prst="rect">
            <a:avLst/>
          </a:prstGeom>
        </p:spPr>
        <p:txBody>
          <a:bodyPr vert="horz" lIns="91440" tIns="45720" rIns="91440" bIns="45720" rtlCol="0">
            <a:normAutofit/>
          </a:bodyPr>
          <a:lstStyle>
            <a:lvl1pPr marL="228600" indent="-228600" algn="l" defTabSz="914400" rtl="0" eaLnBrk="1" latinLnBrk="0" hangingPunct="1">
              <a:lnSpc>
                <a:spcPct val="80000"/>
              </a:lnSpc>
              <a:spcBef>
                <a:spcPts val="1000"/>
              </a:spcBef>
              <a:buSzPct val="80000"/>
              <a:buFont typeface=".Lucida Grande UI Regular"/>
              <a:buChar char="►"/>
              <a:defRPr sz="2200" kern="1200">
                <a:solidFill>
                  <a:schemeClr val="tx1"/>
                </a:solidFill>
                <a:latin typeface="+mn-lt"/>
                <a:ea typeface="+mn-ea"/>
                <a:cs typeface="+mn-cs"/>
              </a:defRPr>
            </a:lvl1pPr>
            <a:lvl2pPr marL="685800" indent="-228600" algn="l" defTabSz="914400" rtl="0" eaLnBrk="1" latinLnBrk="0" hangingPunct="1">
              <a:lnSpc>
                <a:spcPct val="80000"/>
              </a:lnSpc>
              <a:spcBef>
                <a:spcPts val="500"/>
              </a:spcBef>
              <a:buSzPct val="100000"/>
              <a:buFont typeface="System Font Regular"/>
              <a:buChar char="-"/>
              <a:defRPr sz="2000" kern="1200">
                <a:solidFill>
                  <a:schemeClr val="tx1"/>
                </a:solidFill>
                <a:latin typeface="+mn-lt"/>
                <a:ea typeface="+mn-ea"/>
                <a:cs typeface="+mn-cs"/>
              </a:defRPr>
            </a:lvl2pPr>
            <a:lvl3pPr marL="1143000" indent="-228600" algn="l" defTabSz="914400" rtl="0" eaLnBrk="1" latinLnBrk="0" hangingPunct="1">
              <a:lnSpc>
                <a:spcPct val="8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8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8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80000"/>
              </a:lnSpc>
              <a:spcBef>
                <a:spcPts val="1000"/>
              </a:spcBef>
              <a:spcAft>
                <a:spcPts val="0"/>
              </a:spcAft>
              <a:buClrTx/>
              <a:buSzPct val="80000"/>
              <a:buFont typeface=".Lucida Grande UI Regular"/>
              <a:buChar char="►"/>
              <a:tabLst/>
              <a:defRPr/>
            </a:pPr>
            <a:r>
              <a:rPr kumimoji="0" lang="zh-CN" altLang="en-US" sz="2200" b="0" i="0" u="none" strike="noStrike" kern="1200" cap="none" spc="0" normalizeH="0" baseline="0" noProof="0" dirty="0">
                <a:ln>
                  <a:noFill/>
                </a:ln>
                <a:solidFill>
                  <a:sysClr val="windowText" lastClr="000000"/>
                </a:solidFill>
                <a:effectLst/>
                <a:uLnTx/>
                <a:uFillTx/>
                <a:latin typeface="等线" panose="020F0502020204030204"/>
                <a:ea typeface="+mn-ea"/>
                <a:cs typeface="+mn-cs"/>
              </a:rPr>
              <a:t>机器学习任务很多时候可以看作学习一个函数映射，但在可用经验、目标函数和具体学习算法方面各不相同。</a:t>
            </a:r>
            <a:endParaRPr kumimoji="0" lang="en-US" sz="2200" b="0" i="0" u="none" strike="noStrike" kern="1200" cap="none" spc="0" normalizeH="0" baseline="0" noProof="0" dirty="0">
              <a:ln>
                <a:noFill/>
              </a:ln>
              <a:solidFill>
                <a:sysClr val="windowText" lastClr="000000"/>
              </a:solidFill>
              <a:effectLst/>
              <a:uLnTx/>
              <a:uFillTx/>
              <a:latin typeface="等线" panose="020F0502020204030204"/>
              <a:ea typeface="+mn-ea"/>
              <a:cs typeface="+mn-cs"/>
            </a:endParaRPr>
          </a:p>
        </p:txBody>
      </p:sp>
      <p:grpSp>
        <p:nvGrpSpPr>
          <p:cNvPr id="83" name="Group 10">
            <a:extLst>
              <a:ext uri="{FF2B5EF4-FFF2-40B4-BE49-F238E27FC236}">
                <a16:creationId xmlns:a16="http://schemas.microsoft.com/office/drawing/2014/main" id="{33465F89-450E-0BA9-72BF-06FD18FD5743}"/>
              </a:ext>
            </a:extLst>
          </p:cNvPr>
          <p:cNvGrpSpPr/>
          <p:nvPr/>
        </p:nvGrpSpPr>
        <p:grpSpPr>
          <a:xfrm>
            <a:off x="5324152" y="3676971"/>
            <a:ext cx="1543695" cy="666241"/>
            <a:chOff x="5160936" y="3403086"/>
            <a:chExt cx="1543695" cy="666241"/>
          </a:xfrm>
        </p:grpSpPr>
        <p:sp>
          <p:nvSpPr>
            <p:cNvPr id="84" name="Rectangle 4">
              <a:extLst>
                <a:ext uri="{FF2B5EF4-FFF2-40B4-BE49-F238E27FC236}">
                  <a16:creationId xmlns:a16="http://schemas.microsoft.com/office/drawing/2014/main" id="{59E867EF-933F-492C-F33C-4459574EBE56}"/>
                </a:ext>
              </a:extLst>
            </p:cNvPr>
            <p:cNvSpPr/>
            <p:nvPr/>
          </p:nvSpPr>
          <p:spPr>
            <a:xfrm>
              <a:off x="5160936" y="3403086"/>
              <a:ext cx="1543695" cy="666241"/>
            </a:xfrm>
            <a:prstGeom prst="rect">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N" sz="1800" b="0" i="0" u="none" strike="noStrike" kern="0" cap="none" spc="0" normalizeH="0" baseline="0" noProof="0">
                <a:ln>
                  <a:noFill/>
                </a:ln>
                <a:solidFill>
                  <a:prstClr val="white"/>
                </a:solidFill>
                <a:effectLst/>
                <a:uLnTx/>
                <a:uFillTx/>
                <a:latin typeface="等线" panose="020F0502020204030204"/>
                <a:ea typeface="+mn-ea"/>
                <a:cs typeface="+mn-cs"/>
              </a:endParaRPr>
            </a:p>
          </p:txBody>
        </p:sp>
        <p:pic>
          <p:nvPicPr>
            <p:cNvPr id="85" name="Picture 5">
              <a:extLst>
                <a:ext uri="{FF2B5EF4-FFF2-40B4-BE49-F238E27FC236}">
                  <a16:creationId xmlns:a16="http://schemas.microsoft.com/office/drawing/2014/main" id="{E25D7554-7EF1-FACC-A982-02E9AB7471E5}"/>
                </a:ext>
              </a:extLst>
            </p:cNvPr>
            <p:cNvPicPr>
              <a:picLocks noChangeAspect="1"/>
            </p:cNvPicPr>
            <p:nvPr/>
          </p:nvPicPr>
          <p:blipFill>
            <a:blip r:embed="rId2"/>
            <a:stretch>
              <a:fillRect/>
            </a:stretch>
          </p:blipFill>
          <p:spPr>
            <a:xfrm>
              <a:off x="5342233" y="3615556"/>
              <a:ext cx="1181100" cy="241300"/>
            </a:xfrm>
            <a:prstGeom prst="rect">
              <a:avLst/>
            </a:prstGeom>
          </p:spPr>
        </p:pic>
      </p:grpSp>
      <p:sp>
        <p:nvSpPr>
          <p:cNvPr id="86" name="Rectangle 6">
            <a:extLst>
              <a:ext uri="{FF2B5EF4-FFF2-40B4-BE49-F238E27FC236}">
                <a16:creationId xmlns:a16="http://schemas.microsoft.com/office/drawing/2014/main" id="{9837EC13-5ECC-BABC-B3E8-B183E1BF1944}"/>
              </a:ext>
            </a:extLst>
          </p:cNvPr>
          <p:cNvSpPr/>
          <p:nvPr/>
        </p:nvSpPr>
        <p:spPr>
          <a:xfrm>
            <a:off x="214016" y="2027395"/>
            <a:ext cx="2745782" cy="666241"/>
          </a:xfrm>
          <a:prstGeom prst="rect">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类别</a:t>
            </a:r>
            <a:endPar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样本特征</a:t>
            </a:r>
            <a:endParaRPr kumimoji="0" lang="en-CN" sz="1800" b="0" i="0" u="none" strike="noStrike" kern="0" cap="none" spc="0" normalizeH="0" baseline="0" noProof="0" dirty="0">
              <a:ln>
                <a:noFill/>
              </a:ln>
              <a:solidFill>
                <a:prstClr val="black"/>
              </a:solidFill>
              <a:effectLst/>
              <a:uLnTx/>
              <a:uFillTx/>
              <a:latin typeface="等线" panose="020F0502020204030204"/>
              <a:ea typeface="+mn-ea"/>
              <a:cs typeface="+mn-cs"/>
            </a:endParaRPr>
          </a:p>
        </p:txBody>
      </p:sp>
      <p:sp>
        <p:nvSpPr>
          <p:cNvPr id="87" name="Rectangle 8">
            <a:extLst>
              <a:ext uri="{FF2B5EF4-FFF2-40B4-BE49-F238E27FC236}">
                <a16:creationId xmlns:a16="http://schemas.microsoft.com/office/drawing/2014/main" id="{6329A5E8-C463-A0CB-7DCF-AD9D940B7E49}"/>
              </a:ext>
            </a:extLst>
          </p:cNvPr>
          <p:cNvSpPr/>
          <p:nvPr/>
        </p:nvSpPr>
        <p:spPr>
          <a:xfrm>
            <a:off x="214016" y="3229336"/>
            <a:ext cx="2745783" cy="666241"/>
          </a:xfrm>
          <a:prstGeom prst="rect">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a:t>
            </a:r>
            <a:r>
              <a:rPr lang="zh-CN" altLang="en-US" kern="0" dirty="0">
                <a:solidFill>
                  <a:prstClr val="black"/>
                </a:solidFill>
                <a:latin typeface="等线" panose="020F0502020204030204"/>
                <a:ea typeface="等线" panose="02010600030101010101" pitchFamily="2" charset="-122"/>
              </a:rPr>
              <a:t>连续变量</a:t>
            </a:r>
            <a:endPar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样本特征</a:t>
            </a:r>
            <a:endParaRPr kumimoji="0" lang="en-CN" sz="1800" b="0" i="0" u="none" strike="noStrike" kern="0" cap="none" spc="0" normalizeH="0" baseline="0" noProof="0" dirty="0">
              <a:ln>
                <a:noFill/>
              </a:ln>
              <a:solidFill>
                <a:prstClr val="black"/>
              </a:solidFill>
              <a:effectLst/>
              <a:uLnTx/>
              <a:uFillTx/>
              <a:latin typeface="等线" panose="020F0502020204030204"/>
              <a:ea typeface="+mn-ea"/>
              <a:cs typeface="+mn-cs"/>
            </a:endParaRPr>
          </a:p>
        </p:txBody>
      </p:sp>
      <p:sp>
        <p:nvSpPr>
          <p:cNvPr id="88" name="Rectangle 9">
            <a:extLst>
              <a:ext uri="{FF2B5EF4-FFF2-40B4-BE49-F238E27FC236}">
                <a16:creationId xmlns:a16="http://schemas.microsoft.com/office/drawing/2014/main" id="{41957B1F-7143-270E-54DB-50BB745AF020}"/>
              </a:ext>
            </a:extLst>
          </p:cNvPr>
          <p:cNvSpPr/>
          <p:nvPr/>
        </p:nvSpPr>
        <p:spPr>
          <a:xfrm>
            <a:off x="214016" y="5197046"/>
            <a:ext cx="2745783" cy="666241"/>
          </a:xfrm>
          <a:prstGeom prst="rect">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样本特征</a:t>
            </a:r>
            <a:endPar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类别</a:t>
            </a:r>
            <a:endParaRPr kumimoji="0" lang="en-CN" sz="1800" b="0" i="0" u="none" strike="noStrike" kern="0" cap="none" spc="0" normalizeH="0" baseline="0" noProof="0" dirty="0">
              <a:ln>
                <a:noFill/>
              </a:ln>
              <a:solidFill>
                <a:prstClr val="black"/>
              </a:solidFill>
              <a:effectLst/>
              <a:uLnTx/>
              <a:uFillTx/>
              <a:latin typeface="等线" panose="020F0502020204030204"/>
              <a:ea typeface="+mn-ea"/>
              <a:cs typeface="+mn-cs"/>
            </a:endParaRPr>
          </a:p>
        </p:txBody>
      </p:sp>
      <p:sp>
        <p:nvSpPr>
          <p:cNvPr id="89" name="Rectangle 11">
            <a:extLst>
              <a:ext uri="{FF2B5EF4-FFF2-40B4-BE49-F238E27FC236}">
                <a16:creationId xmlns:a16="http://schemas.microsoft.com/office/drawing/2014/main" id="{A039DD76-FAE3-2C3E-0B1B-4DFDA454B24D}"/>
              </a:ext>
            </a:extLst>
          </p:cNvPr>
          <p:cNvSpPr/>
          <p:nvPr/>
        </p:nvSpPr>
        <p:spPr>
          <a:xfrm>
            <a:off x="9174779" y="2042619"/>
            <a:ext cx="2745783" cy="666241"/>
          </a:xfrm>
          <a:prstGeom prst="rect">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聚类标签</a:t>
            </a:r>
            <a:endPar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样本特征</a:t>
            </a:r>
            <a:endParaRPr kumimoji="0" lang="en-CN" sz="1800" b="0" i="0" u="none" strike="noStrike" kern="0" cap="none" spc="0" normalizeH="0" baseline="0" noProof="0" dirty="0">
              <a:ln>
                <a:noFill/>
              </a:ln>
              <a:solidFill>
                <a:prstClr val="black"/>
              </a:solidFill>
              <a:effectLst/>
              <a:uLnTx/>
              <a:uFillTx/>
              <a:latin typeface="等线" panose="020F0502020204030204"/>
              <a:ea typeface="+mn-ea"/>
              <a:cs typeface="+mn-cs"/>
            </a:endParaRPr>
          </a:p>
        </p:txBody>
      </p:sp>
      <p:sp>
        <p:nvSpPr>
          <p:cNvPr id="90" name="Rectangle 12">
            <a:extLst>
              <a:ext uri="{FF2B5EF4-FFF2-40B4-BE49-F238E27FC236}">
                <a16:creationId xmlns:a16="http://schemas.microsoft.com/office/drawing/2014/main" id="{A4DC231E-A48E-B693-4F93-2D93ABA85E05}"/>
              </a:ext>
            </a:extLst>
          </p:cNvPr>
          <p:cNvSpPr/>
          <p:nvPr/>
        </p:nvSpPr>
        <p:spPr>
          <a:xfrm>
            <a:off x="9174779" y="3245502"/>
            <a:ext cx="2745783" cy="666241"/>
          </a:xfrm>
          <a:prstGeom prst="rect">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异常点</a:t>
            </a:r>
            <a:endPar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F0502020204030204"/>
                <a:ea typeface="等线" panose="02010600030101010101" pitchFamily="2" charset="-122"/>
                <a:cs typeface="+mn-cs"/>
              </a:rPr>
              <a:t> 样本特征</a:t>
            </a:r>
            <a:endParaRPr kumimoji="0" lang="en-CN" sz="1800" b="0" i="0" u="none" strike="noStrike" kern="0" cap="none" spc="0" normalizeH="0" baseline="0" noProof="0" dirty="0">
              <a:ln>
                <a:noFill/>
              </a:ln>
              <a:solidFill>
                <a:prstClr val="black"/>
              </a:solidFill>
              <a:effectLst/>
              <a:uLnTx/>
              <a:uFillTx/>
              <a:latin typeface="等线" panose="020F0502020204030204"/>
              <a:ea typeface="+mn-ea"/>
              <a:cs typeface="+mn-cs"/>
            </a:endParaRPr>
          </a:p>
        </p:txBody>
      </p:sp>
      <p:sp>
        <p:nvSpPr>
          <p:cNvPr id="91" name="Rectangle 13">
            <a:extLst>
              <a:ext uri="{FF2B5EF4-FFF2-40B4-BE49-F238E27FC236}">
                <a16:creationId xmlns:a16="http://schemas.microsoft.com/office/drawing/2014/main" id="{304DED5C-C9F6-A979-F869-DA0BE36D2BD9}"/>
              </a:ext>
            </a:extLst>
          </p:cNvPr>
          <p:cNvSpPr/>
          <p:nvPr/>
        </p:nvSpPr>
        <p:spPr>
          <a:xfrm>
            <a:off x="9174779" y="5208734"/>
            <a:ext cx="2745783" cy="666241"/>
          </a:xfrm>
          <a:prstGeom prst="rect">
            <a:avLst/>
          </a:prstGeom>
          <a:noFill/>
          <a:ln w="28575"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Y</a:t>
            </a:r>
            <a:r>
              <a:rPr kumimoji="0" lang="en-US" altLang="zh-CN" sz="1800" b="0" i="0" u="none" strike="noStrike" kern="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 动作</a:t>
            </a:r>
            <a:endParaRPr kumimoji="0" lang="en-US" altLang="zh-CN" sz="1800" b="0" i="0" u="none" strike="noStrike" kern="0" cap="none" spc="0" normalizeH="0" baseline="0" noProof="0" dirty="0">
              <a:ln>
                <a:noFill/>
              </a:ln>
              <a:solidFill>
                <a:srgbClr val="C00000"/>
              </a:solidFill>
              <a:effectLst/>
              <a:uLnTx/>
              <a:uFillTx/>
              <a:latin typeface="等线"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1" u="none" strike="noStrike" kern="0" cap="none" spc="0" normalizeH="0" baseline="0" noProof="0" dirty="0">
                <a:ln>
                  <a:noFill/>
                </a:ln>
                <a:solidFill>
                  <a:srgbClr val="C00000"/>
                </a:solidFill>
                <a:effectLst/>
                <a:uLnTx/>
                <a:uFillTx/>
                <a:latin typeface="Times New Roman" panose="02020603050405020304" pitchFamily="18" charset="0"/>
                <a:ea typeface="等线" panose="02010600030101010101" pitchFamily="2" charset="-122"/>
                <a:cs typeface="Times New Roman" panose="02020603050405020304" pitchFamily="18" charset="0"/>
              </a:rPr>
              <a:t>X</a:t>
            </a:r>
            <a:r>
              <a:rPr kumimoji="0" lang="en-US" altLang="zh-CN" sz="1800" b="0" i="0" u="none" strike="noStrike" kern="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a:t>
            </a:r>
            <a:r>
              <a:rPr kumimoji="0" lang="zh-CN" altLang="en-US" sz="1800" b="0" i="0" u="none" strike="noStrike" kern="0" cap="none" spc="0" normalizeH="0" baseline="0" noProof="0" dirty="0">
                <a:ln>
                  <a:noFill/>
                </a:ln>
                <a:solidFill>
                  <a:srgbClr val="C00000"/>
                </a:solidFill>
                <a:effectLst/>
                <a:uLnTx/>
                <a:uFillTx/>
                <a:latin typeface="等线" panose="020F0502020204030204"/>
                <a:ea typeface="等线" panose="02010600030101010101" pitchFamily="2" charset="-122"/>
                <a:cs typeface="+mn-cs"/>
              </a:rPr>
              <a:t> 状态特征</a:t>
            </a:r>
            <a:endParaRPr kumimoji="0" lang="en-CN" sz="1800" b="0" i="0" u="none" strike="noStrike" kern="0" cap="none" spc="0" normalizeH="0" baseline="0" noProof="0" dirty="0">
              <a:ln>
                <a:noFill/>
              </a:ln>
              <a:solidFill>
                <a:srgbClr val="C00000"/>
              </a:solidFill>
              <a:effectLst/>
              <a:uLnTx/>
              <a:uFillTx/>
              <a:latin typeface="等线" panose="020F0502020204030204"/>
              <a:ea typeface="+mn-ea"/>
              <a:cs typeface="+mn-cs"/>
            </a:endParaRPr>
          </a:p>
        </p:txBody>
      </p:sp>
      <p:cxnSp>
        <p:nvCxnSpPr>
          <p:cNvPr id="92" name="Curved Connector 15">
            <a:extLst>
              <a:ext uri="{FF2B5EF4-FFF2-40B4-BE49-F238E27FC236}">
                <a16:creationId xmlns:a16="http://schemas.microsoft.com/office/drawing/2014/main" id="{033B788A-3738-38F9-30F9-97D7E586D20F}"/>
              </a:ext>
            </a:extLst>
          </p:cNvPr>
          <p:cNvCxnSpPr>
            <a:cxnSpLocks/>
            <a:stCxn id="84" idx="1"/>
            <a:endCxn id="93" idx="2"/>
          </p:cNvCxnSpPr>
          <p:nvPr/>
        </p:nvCxnSpPr>
        <p:spPr>
          <a:xfrm rot="10800000">
            <a:off x="4849608" y="3083434"/>
            <a:ext cx="474545" cy="926658"/>
          </a:xfrm>
          <a:prstGeom prst="curvedConnector2">
            <a:avLst/>
          </a:prstGeom>
          <a:noFill/>
          <a:ln w="28575" cap="flat" cmpd="sng" algn="ctr">
            <a:solidFill>
              <a:sysClr val="windowText" lastClr="000000"/>
            </a:solidFill>
            <a:prstDash val="solid"/>
            <a:miter lim="800000"/>
            <a:tailEnd type="triangle"/>
          </a:ln>
          <a:effectLst/>
        </p:spPr>
      </p:cxnSp>
      <p:sp>
        <p:nvSpPr>
          <p:cNvPr id="93" name="TextBox 16">
            <a:extLst>
              <a:ext uri="{FF2B5EF4-FFF2-40B4-BE49-F238E27FC236}">
                <a16:creationId xmlns:a16="http://schemas.microsoft.com/office/drawing/2014/main" id="{B35CCA9C-0139-74AD-B1D4-9AB2C09ABEE0}"/>
              </a:ext>
            </a:extLst>
          </p:cNvPr>
          <p:cNvSpPr txBox="1"/>
          <p:nvPr/>
        </p:nvSpPr>
        <p:spPr>
          <a:xfrm>
            <a:off x="4295609" y="2714102"/>
            <a:ext cx="1107996" cy="369332"/>
          </a:xfrm>
          <a:prstGeom prst="rect">
            <a:avLst/>
          </a:prstGeom>
          <a:noFill/>
        </p:spPr>
        <p:txBody>
          <a:bodyPr wrap="none" rtlCol="0">
            <a:spAutoFit/>
          </a:bodyPr>
          <a:lstStyle/>
          <a:p>
            <a:r>
              <a:rPr lang="zh-CN" altLang="en-US" b="1" dirty="0">
                <a:solidFill>
                  <a:prstClr val="black"/>
                </a:solidFill>
                <a:latin typeface="等线" panose="020F0502020204030204"/>
                <a:ea typeface="等线" panose="02010600030101010101" pitchFamily="2" charset="-122"/>
              </a:rPr>
              <a:t>监督学习</a:t>
            </a:r>
            <a:endParaRPr lang="en-CN" b="1" dirty="0">
              <a:solidFill>
                <a:prstClr val="black"/>
              </a:solidFill>
              <a:latin typeface="等线" panose="020F0502020204030204"/>
            </a:endParaRPr>
          </a:p>
        </p:txBody>
      </p:sp>
      <p:sp>
        <p:nvSpPr>
          <p:cNvPr id="94" name="TextBox 20">
            <a:extLst>
              <a:ext uri="{FF2B5EF4-FFF2-40B4-BE49-F238E27FC236}">
                <a16:creationId xmlns:a16="http://schemas.microsoft.com/office/drawing/2014/main" id="{7414E79D-8C98-7C0D-6E6C-04554983761A}"/>
              </a:ext>
            </a:extLst>
          </p:cNvPr>
          <p:cNvSpPr txBox="1"/>
          <p:nvPr/>
        </p:nvSpPr>
        <p:spPr>
          <a:xfrm>
            <a:off x="2963193" y="2181816"/>
            <a:ext cx="646331" cy="369332"/>
          </a:xfrm>
          <a:prstGeom prst="rect">
            <a:avLst/>
          </a:prstGeom>
          <a:noFill/>
        </p:spPr>
        <p:txBody>
          <a:bodyPr wrap="none" rtlCol="0">
            <a:spAutoFit/>
          </a:bodyPr>
          <a:lstStyle/>
          <a:p>
            <a:r>
              <a:rPr lang="zh-CN" altLang="en-US" b="1" dirty="0">
                <a:solidFill>
                  <a:prstClr val="black"/>
                </a:solidFill>
                <a:latin typeface="等线" panose="020F0502020204030204"/>
                <a:ea typeface="等线" panose="02010600030101010101" pitchFamily="2" charset="-122"/>
              </a:rPr>
              <a:t>分类</a:t>
            </a:r>
            <a:endParaRPr lang="en-CN" b="1" dirty="0">
              <a:solidFill>
                <a:prstClr val="black"/>
              </a:solidFill>
              <a:latin typeface="等线" panose="020F0502020204030204"/>
            </a:endParaRPr>
          </a:p>
        </p:txBody>
      </p:sp>
      <p:sp>
        <p:nvSpPr>
          <p:cNvPr id="95" name="TextBox 21">
            <a:extLst>
              <a:ext uri="{FF2B5EF4-FFF2-40B4-BE49-F238E27FC236}">
                <a16:creationId xmlns:a16="http://schemas.microsoft.com/office/drawing/2014/main" id="{96EE9D82-3DAB-4287-1F23-FDEB3A248C5C}"/>
              </a:ext>
            </a:extLst>
          </p:cNvPr>
          <p:cNvSpPr txBox="1"/>
          <p:nvPr/>
        </p:nvSpPr>
        <p:spPr>
          <a:xfrm>
            <a:off x="2963193" y="3377790"/>
            <a:ext cx="646331" cy="369332"/>
          </a:xfrm>
          <a:prstGeom prst="rect">
            <a:avLst/>
          </a:prstGeom>
          <a:noFill/>
        </p:spPr>
        <p:txBody>
          <a:bodyPr wrap="none" rtlCol="0">
            <a:spAutoFit/>
          </a:bodyPr>
          <a:lstStyle/>
          <a:p>
            <a:r>
              <a:rPr lang="zh-CN" altLang="en-US" b="1" dirty="0">
                <a:solidFill>
                  <a:prstClr val="black"/>
                </a:solidFill>
                <a:latin typeface="等线" panose="020F0502020204030204"/>
                <a:ea typeface="等线" panose="02010600030101010101" pitchFamily="2" charset="-122"/>
              </a:rPr>
              <a:t>回归</a:t>
            </a:r>
            <a:endParaRPr lang="en-CN" b="1" dirty="0">
              <a:solidFill>
                <a:prstClr val="black"/>
              </a:solidFill>
              <a:latin typeface="等线" panose="020F0502020204030204"/>
            </a:endParaRPr>
          </a:p>
        </p:txBody>
      </p:sp>
      <p:sp>
        <p:nvSpPr>
          <p:cNvPr id="96" name="TextBox 22">
            <a:extLst>
              <a:ext uri="{FF2B5EF4-FFF2-40B4-BE49-F238E27FC236}">
                <a16:creationId xmlns:a16="http://schemas.microsoft.com/office/drawing/2014/main" id="{F1382AC3-6E6F-A09D-641B-8D26918B5885}"/>
              </a:ext>
            </a:extLst>
          </p:cNvPr>
          <p:cNvSpPr txBox="1"/>
          <p:nvPr/>
        </p:nvSpPr>
        <p:spPr>
          <a:xfrm>
            <a:off x="2939148" y="5228644"/>
            <a:ext cx="1338828" cy="369332"/>
          </a:xfrm>
          <a:prstGeom prst="rect">
            <a:avLst/>
          </a:prstGeom>
          <a:noFill/>
        </p:spPr>
        <p:txBody>
          <a:bodyPr wrap="none" rtlCol="0">
            <a:spAutoFit/>
          </a:bodyPr>
          <a:lstStyle/>
          <a:p>
            <a:r>
              <a:rPr lang="zh-CN" altLang="en-US" b="1" dirty="0">
                <a:solidFill>
                  <a:prstClr val="black"/>
                </a:solidFill>
                <a:latin typeface="等线" panose="020F0502020204030204"/>
                <a:ea typeface="等线" panose="02010600030101010101" pitchFamily="2" charset="-122"/>
              </a:rPr>
              <a:t>生成式模型</a:t>
            </a:r>
            <a:endParaRPr lang="en-CN" b="1" dirty="0">
              <a:solidFill>
                <a:prstClr val="black"/>
              </a:solidFill>
              <a:latin typeface="等线" panose="020F0502020204030204"/>
            </a:endParaRPr>
          </a:p>
        </p:txBody>
      </p:sp>
      <p:cxnSp>
        <p:nvCxnSpPr>
          <p:cNvPr id="97" name="Curved Connector 23">
            <a:extLst>
              <a:ext uri="{FF2B5EF4-FFF2-40B4-BE49-F238E27FC236}">
                <a16:creationId xmlns:a16="http://schemas.microsoft.com/office/drawing/2014/main" id="{7A40069C-5E9F-CBA7-4701-864859331A48}"/>
              </a:ext>
            </a:extLst>
          </p:cNvPr>
          <p:cNvCxnSpPr>
            <a:cxnSpLocks/>
            <a:stCxn id="93" idx="1"/>
            <a:endCxn id="94" idx="2"/>
          </p:cNvCxnSpPr>
          <p:nvPr/>
        </p:nvCxnSpPr>
        <p:spPr>
          <a:xfrm rot="10800000">
            <a:off x="3286359" y="2551148"/>
            <a:ext cx="1009250" cy="347620"/>
          </a:xfrm>
          <a:prstGeom prst="curvedConnector2">
            <a:avLst/>
          </a:prstGeom>
          <a:noFill/>
          <a:ln w="28575" cap="flat" cmpd="sng" algn="ctr">
            <a:solidFill>
              <a:sysClr val="windowText" lastClr="000000"/>
            </a:solidFill>
            <a:prstDash val="solid"/>
            <a:miter lim="800000"/>
            <a:tailEnd type="triangle"/>
          </a:ln>
          <a:effectLst/>
        </p:spPr>
      </p:cxnSp>
      <p:cxnSp>
        <p:nvCxnSpPr>
          <p:cNvPr id="98" name="Curved Connector 26">
            <a:extLst>
              <a:ext uri="{FF2B5EF4-FFF2-40B4-BE49-F238E27FC236}">
                <a16:creationId xmlns:a16="http://schemas.microsoft.com/office/drawing/2014/main" id="{ED8DCEF7-E67F-806D-A39C-1CDFAA6BA5FE}"/>
              </a:ext>
            </a:extLst>
          </p:cNvPr>
          <p:cNvCxnSpPr>
            <a:cxnSpLocks/>
            <a:stCxn id="93" idx="1"/>
            <a:endCxn id="95" idx="0"/>
          </p:cNvCxnSpPr>
          <p:nvPr/>
        </p:nvCxnSpPr>
        <p:spPr>
          <a:xfrm rot="10800000" flipV="1">
            <a:off x="3286359" y="2898768"/>
            <a:ext cx="1009250" cy="479022"/>
          </a:xfrm>
          <a:prstGeom prst="curvedConnector2">
            <a:avLst/>
          </a:prstGeom>
          <a:noFill/>
          <a:ln w="28575" cap="flat" cmpd="sng" algn="ctr">
            <a:solidFill>
              <a:sysClr val="windowText" lastClr="000000"/>
            </a:solidFill>
            <a:prstDash val="solid"/>
            <a:miter lim="800000"/>
            <a:tailEnd type="triangle"/>
          </a:ln>
          <a:effectLst/>
        </p:spPr>
      </p:cxnSp>
      <p:cxnSp>
        <p:nvCxnSpPr>
          <p:cNvPr id="99" name="Curved Connector 30">
            <a:extLst>
              <a:ext uri="{FF2B5EF4-FFF2-40B4-BE49-F238E27FC236}">
                <a16:creationId xmlns:a16="http://schemas.microsoft.com/office/drawing/2014/main" id="{E49DD52B-6DDE-05DA-2DEB-4620756522BF}"/>
              </a:ext>
            </a:extLst>
          </p:cNvPr>
          <p:cNvCxnSpPr>
            <a:cxnSpLocks/>
            <a:stCxn id="84" idx="1"/>
            <a:endCxn id="96" idx="0"/>
          </p:cNvCxnSpPr>
          <p:nvPr/>
        </p:nvCxnSpPr>
        <p:spPr>
          <a:xfrm rot="10800000" flipV="1">
            <a:off x="3608562" y="4010092"/>
            <a:ext cx="1715590" cy="1218552"/>
          </a:xfrm>
          <a:prstGeom prst="curvedConnector2">
            <a:avLst/>
          </a:prstGeom>
          <a:noFill/>
          <a:ln w="28575" cap="flat" cmpd="sng" algn="ctr">
            <a:solidFill>
              <a:sysClr val="windowText" lastClr="000000"/>
            </a:solidFill>
            <a:prstDash val="solid"/>
            <a:miter lim="800000"/>
            <a:tailEnd type="triangle"/>
          </a:ln>
          <a:effectLst/>
        </p:spPr>
      </p:cxnSp>
      <p:sp>
        <p:nvSpPr>
          <p:cNvPr id="100" name="TextBox 33">
            <a:extLst>
              <a:ext uri="{FF2B5EF4-FFF2-40B4-BE49-F238E27FC236}">
                <a16:creationId xmlns:a16="http://schemas.microsoft.com/office/drawing/2014/main" id="{BF5FFE3A-891E-72EF-95BB-5CF167F2EA4B}"/>
              </a:ext>
            </a:extLst>
          </p:cNvPr>
          <p:cNvSpPr txBox="1"/>
          <p:nvPr/>
        </p:nvSpPr>
        <p:spPr>
          <a:xfrm>
            <a:off x="6699602" y="2714103"/>
            <a:ext cx="1338828" cy="369332"/>
          </a:xfrm>
          <a:prstGeom prst="rect">
            <a:avLst/>
          </a:prstGeom>
          <a:noFill/>
        </p:spPr>
        <p:txBody>
          <a:bodyPr wrap="none" rtlCol="0">
            <a:spAutoFit/>
          </a:bodyPr>
          <a:lstStyle/>
          <a:p>
            <a:pPr algn="r"/>
            <a:r>
              <a:rPr lang="zh-CN" altLang="en-US" b="1" dirty="0">
                <a:solidFill>
                  <a:prstClr val="black"/>
                </a:solidFill>
                <a:latin typeface="等线" panose="020F0502020204030204"/>
                <a:ea typeface="等线" panose="02010600030101010101" pitchFamily="2" charset="-122"/>
              </a:rPr>
              <a:t>非监督学习</a:t>
            </a:r>
            <a:endParaRPr lang="en-CN" b="1" dirty="0">
              <a:solidFill>
                <a:prstClr val="black"/>
              </a:solidFill>
              <a:latin typeface="等线" panose="020F0502020204030204"/>
            </a:endParaRPr>
          </a:p>
        </p:txBody>
      </p:sp>
      <p:cxnSp>
        <p:nvCxnSpPr>
          <p:cNvPr id="101" name="Curved Connector 34">
            <a:extLst>
              <a:ext uri="{FF2B5EF4-FFF2-40B4-BE49-F238E27FC236}">
                <a16:creationId xmlns:a16="http://schemas.microsoft.com/office/drawing/2014/main" id="{2CDB1D99-3B6D-EA2B-E416-0BF555F65777}"/>
              </a:ext>
            </a:extLst>
          </p:cNvPr>
          <p:cNvCxnSpPr>
            <a:cxnSpLocks/>
            <a:stCxn id="84" idx="3"/>
            <a:endCxn id="100" idx="2"/>
          </p:cNvCxnSpPr>
          <p:nvPr/>
        </p:nvCxnSpPr>
        <p:spPr>
          <a:xfrm flipV="1">
            <a:off x="6867847" y="3083435"/>
            <a:ext cx="501169" cy="926657"/>
          </a:xfrm>
          <a:prstGeom prst="curvedConnector2">
            <a:avLst/>
          </a:prstGeom>
          <a:noFill/>
          <a:ln w="28575" cap="flat" cmpd="sng" algn="ctr">
            <a:solidFill>
              <a:sysClr val="windowText" lastClr="000000"/>
            </a:solidFill>
            <a:prstDash val="solid"/>
            <a:miter lim="800000"/>
            <a:tailEnd type="triangle"/>
          </a:ln>
          <a:effectLst/>
        </p:spPr>
      </p:cxnSp>
      <p:sp>
        <p:nvSpPr>
          <p:cNvPr id="102" name="TextBox 37">
            <a:extLst>
              <a:ext uri="{FF2B5EF4-FFF2-40B4-BE49-F238E27FC236}">
                <a16:creationId xmlns:a16="http://schemas.microsoft.com/office/drawing/2014/main" id="{C87C8C32-3AFF-B93C-07D7-00355B00D110}"/>
              </a:ext>
            </a:extLst>
          </p:cNvPr>
          <p:cNvSpPr txBox="1"/>
          <p:nvPr/>
        </p:nvSpPr>
        <p:spPr>
          <a:xfrm>
            <a:off x="8528448" y="2183238"/>
            <a:ext cx="646331" cy="369332"/>
          </a:xfrm>
          <a:prstGeom prst="rect">
            <a:avLst/>
          </a:prstGeom>
          <a:noFill/>
        </p:spPr>
        <p:txBody>
          <a:bodyPr wrap="none" rtlCol="0">
            <a:spAutoFit/>
          </a:bodyPr>
          <a:lstStyle/>
          <a:p>
            <a:pPr algn="r"/>
            <a:r>
              <a:rPr lang="zh-CN" altLang="en-US" b="1" dirty="0">
                <a:solidFill>
                  <a:prstClr val="black"/>
                </a:solidFill>
                <a:latin typeface="等线" panose="020F0502020204030204"/>
                <a:ea typeface="等线" panose="02010600030101010101" pitchFamily="2" charset="-122"/>
              </a:rPr>
              <a:t>聚类</a:t>
            </a:r>
            <a:endParaRPr lang="en-CN" b="1" dirty="0">
              <a:solidFill>
                <a:prstClr val="black"/>
              </a:solidFill>
              <a:latin typeface="等线" panose="020F0502020204030204"/>
            </a:endParaRPr>
          </a:p>
        </p:txBody>
      </p:sp>
      <p:sp>
        <p:nvSpPr>
          <p:cNvPr id="103" name="TextBox 38">
            <a:extLst>
              <a:ext uri="{FF2B5EF4-FFF2-40B4-BE49-F238E27FC236}">
                <a16:creationId xmlns:a16="http://schemas.microsoft.com/office/drawing/2014/main" id="{23913FB8-FCD2-D458-EF95-17A54D3063E2}"/>
              </a:ext>
            </a:extLst>
          </p:cNvPr>
          <p:cNvSpPr txBox="1"/>
          <p:nvPr/>
        </p:nvSpPr>
        <p:spPr>
          <a:xfrm>
            <a:off x="8528448" y="3259032"/>
            <a:ext cx="646331" cy="646331"/>
          </a:xfrm>
          <a:prstGeom prst="rect">
            <a:avLst/>
          </a:prstGeom>
          <a:noFill/>
        </p:spPr>
        <p:txBody>
          <a:bodyPr wrap="none" rtlCol="0">
            <a:spAutoFit/>
          </a:bodyPr>
          <a:lstStyle/>
          <a:p>
            <a:pPr algn="r"/>
            <a:r>
              <a:rPr lang="zh-CN" altLang="en-US" b="1" dirty="0">
                <a:solidFill>
                  <a:prstClr val="black"/>
                </a:solidFill>
                <a:latin typeface="等线" panose="020F0502020204030204"/>
                <a:ea typeface="等线" panose="02010600030101010101" pitchFamily="2" charset="-122"/>
              </a:rPr>
              <a:t>异常</a:t>
            </a:r>
            <a:endParaRPr lang="en-US" altLang="zh-CN" b="1" dirty="0">
              <a:solidFill>
                <a:prstClr val="black"/>
              </a:solidFill>
              <a:latin typeface="等线" panose="020F0502020204030204"/>
              <a:ea typeface="等线" panose="02010600030101010101" pitchFamily="2" charset="-122"/>
            </a:endParaRPr>
          </a:p>
          <a:p>
            <a:pPr algn="r"/>
            <a:r>
              <a:rPr lang="zh-CN" altLang="en-US" b="1" dirty="0">
                <a:solidFill>
                  <a:prstClr val="black"/>
                </a:solidFill>
                <a:latin typeface="等线" panose="020F0502020204030204"/>
                <a:ea typeface="等线" panose="02010600030101010101" pitchFamily="2" charset="-122"/>
              </a:rPr>
              <a:t>检测</a:t>
            </a:r>
            <a:endParaRPr lang="en-CN" b="1" dirty="0">
              <a:solidFill>
                <a:prstClr val="black"/>
              </a:solidFill>
              <a:latin typeface="等线" panose="020F0502020204030204"/>
            </a:endParaRPr>
          </a:p>
        </p:txBody>
      </p:sp>
      <p:cxnSp>
        <p:nvCxnSpPr>
          <p:cNvPr id="104" name="Curved Connector 39">
            <a:extLst>
              <a:ext uri="{FF2B5EF4-FFF2-40B4-BE49-F238E27FC236}">
                <a16:creationId xmlns:a16="http://schemas.microsoft.com/office/drawing/2014/main" id="{4BFC300C-BCE4-5DF8-7647-82B92F0C027F}"/>
              </a:ext>
            </a:extLst>
          </p:cNvPr>
          <p:cNvCxnSpPr>
            <a:cxnSpLocks/>
            <a:stCxn id="100" idx="3"/>
            <a:endCxn id="102" idx="2"/>
          </p:cNvCxnSpPr>
          <p:nvPr/>
        </p:nvCxnSpPr>
        <p:spPr>
          <a:xfrm flipV="1">
            <a:off x="8038430" y="2552570"/>
            <a:ext cx="813184" cy="346199"/>
          </a:xfrm>
          <a:prstGeom prst="curvedConnector2">
            <a:avLst/>
          </a:prstGeom>
          <a:noFill/>
          <a:ln w="28575" cap="flat" cmpd="sng" algn="ctr">
            <a:solidFill>
              <a:sysClr val="windowText" lastClr="000000"/>
            </a:solidFill>
            <a:prstDash val="solid"/>
            <a:miter lim="800000"/>
            <a:tailEnd type="triangle"/>
          </a:ln>
          <a:effectLst/>
        </p:spPr>
      </p:cxnSp>
      <p:cxnSp>
        <p:nvCxnSpPr>
          <p:cNvPr id="105" name="Curved Connector 42">
            <a:extLst>
              <a:ext uri="{FF2B5EF4-FFF2-40B4-BE49-F238E27FC236}">
                <a16:creationId xmlns:a16="http://schemas.microsoft.com/office/drawing/2014/main" id="{FDC4B011-BFA7-1F03-ACE9-D805320F6EF8}"/>
              </a:ext>
            </a:extLst>
          </p:cNvPr>
          <p:cNvCxnSpPr>
            <a:cxnSpLocks/>
            <a:stCxn id="100" idx="3"/>
            <a:endCxn id="103" idx="0"/>
          </p:cNvCxnSpPr>
          <p:nvPr/>
        </p:nvCxnSpPr>
        <p:spPr>
          <a:xfrm>
            <a:off x="8038430" y="2898769"/>
            <a:ext cx="813184" cy="360263"/>
          </a:xfrm>
          <a:prstGeom prst="curvedConnector2">
            <a:avLst/>
          </a:prstGeom>
          <a:noFill/>
          <a:ln w="28575" cap="flat" cmpd="sng" algn="ctr">
            <a:solidFill>
              <a:sysClr val="windowText" lastClr="000000"/>
            </a:solidFill>
            <a:prstDash val="solid"/>
            <a:miter lim="800000"/>
            <a:tailEnd type="triangle"/>
          </a:ln>
          <a:effectLst/>
        </p:spPr>
      </p:cxnSp>
      <p:sp>
        <p:nvSpPr>
          <p:cNvPr id="106" name="TextBox 45">
            <a:extLst>
              <a:ext uri="{FF2B5EF4-FFF2-40B4-BE49-F238E27FC236}">
                <a16:creationId xmlns:a16="http://schemas.microsoft.com/office/drawing/2014/main" id="{1B57CB93-11F0-08D4-00A8-434CE4BE4C4D}"/>
              </a:ext>
            </a:extLst>
          </p:cNvPr>
          <p:cNvSpPr txBox="1"/>
          <p:nvPr/>
        </p:nvSpPr>
        <p:spPr>
          <a:xfrm>
            <a:off x="7968216" y="5221791"/>
            <a:ext cx="1204176" cy="646331"/>
          </a:xfrm>
          <a:prstGeom prst="rect">
            <a:avLst/>
          </a:prstGeom>
          <a:noFill/>
        </p:spPr>
        <p:txBody>
          <a:bodyPr wrap="none" rtlCol="0">
            <a:spAutoFit/>
          </a:bodyPr>
          <a:lstStyle/>
          <a:p>
            <a:pPr algn="r"/>
            <a:r>
              <a:rPr lang="zh-CN" altLang="en-US" b="1" dirty="0">
                <a:solidFill>
                  <a:srgbClr val="C00000"/>
                </a:solidFill>
                <a:latin typeface="等线" panose="020F0502020204030204"/>
                <a:ea typeface="等线" panose="02010600030101010101" pitchFamily="2" charset="-122"/>
              </a:rPr>
              <a:t>强化学习</a:t>
            </a:r>
            <a:r>
              <a:rPr lang="en-US" altLang="zh-CN" b="1" dirty="0">
                <a:solidFill>
                  <a:srgbClr val="C00000"/>
                </a:solidFill>
                <a:latin typeface="等线" panose="020F0502020204030204"/>
                <a:ea typeface="等线" panose="02010600030101010101" pitchFamily="2" charset="-122"/>
              </a:rPr>
              <a:t>/</a:t>
            </a:r>
          </a:p>
          <a:p>
            <a:pPr algn="r"/>
            <a:r>
              <a:rPr lang="zh-CN" altLang="en-US" b="1" dirty="0">
                <a:solidFill>
                  <a:srgbClr val="C00000"/>
                </a:solidFill>
                <a:latin typeface="等线" panose="020F0502020204030204"/>
                <a:ea typeface="等线" panose="02010600030101010101" pitchFamily="2" charset="-122"/>
              </a:rPr>
              <a:t>决策任务</a:t>
            </a:r>
            <a:endParaRPr lang="en-CN" b="1" dirty="0">
              <a:solidFill>
                <a:srgbClr val="C00000"/>
              </a:solidFill>
              <a:latin typeface="等线" panose="020F0502020204030204"/>
            </a:endParaRPr>
          </a:p>
        </p:txBody>
      </p:sp>
      <p:cxnSp>
        <p:nvCxnSpPr>
          <p:cNvPr id="107" name="Curved Connector 46">
            <a:extLst>
              <a:ext uri="{FF2B5EF4-FFF2-40B4-BE49-F238E27FC236}">
                <a16:creationId xmlns:a16="http://schemas.microsoft.com/office/drawing/2014/main" id="{E294CCC9-CDAA-D376-F559-3200332136AE}"/>
              </a:ext>
            </a:extLst>
          </p:cNvPr>
          <p:cNvCxnSpPr>
            <a:cxnSpLocks/>
            <a:stCxn id="84" idx="3"/>
            <a:endCxn id="106" idx="0"/>
          </p:cNvCxnSpPr>
          <p:nvPr/>
        </p:nvCxnSpPr>
        <p:spPr>
          <a:xfrm>
            <a:off x="6867847" y="4010092"/>
            <a:ext cx="1702457" cy="1211699"/>
          </a:xfrm>
          <a:prstGeom prst="curvedConnector2">
            <a:avLst/>
          </a:prstGeom>
          <a:noFill/>
          <a:ln w="28575" cap="flat" cmpd="sng" algn="ctr">
            <a:solidFill>
              <a:sysClr val="windowText" lastClr="000000"/>
            </a:solidFill>
            <a:prstDash val="solid"/>
            <a:miter lim="800000"/>
            <a:tailEnd type="triangle"/>
          </a:ln>
          <a:effectLst/>
        </p:spPr>
      </p:cxnSp>
    </p:spTree>
    <p:extLst>
      <p:ext uri="{BB962C8B-B14F-4D97-AF65-F5344CB8AC3E}">
        <p14:creationId xmlns:p14="http://schemas.microsoft.com/office/powerpoint/2010/main" val="3394138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4F34-FD83-FA5B-FD49-E8E0970EB427}"/>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9E7C37F-B051-6C74-20B5-B27B6D78CFA6}"/>
              </a:ext>
            </a:extLst>
          </p:cNvPr>
          <p:cNvSpPr>
            <a:spLocks noGrp="1"/>
          </p:cNvSpPr>
          <p:nvPr>
            <p:ph type="title"/>
          </p:nvPr>
        </p:nvSpPr>
        <p:spPr/>
        <p:txBody>
          <a:bodyPr/>
          <a:lstStyle/>
          <a:p>
            <a:r>
              <a:rPr lang="zh-CN" altLang="en-US" dirty="0"/>
              <a:t>什么是强化学习</a:t>
            </a:r>
          </a:p>
        </p:txBody>
      </p:sp>
      <p:sp>
        <p:nvSpPr>
          <p:cNvPr id="3" name="文本框 2">
            <a:extLst>
              <a:ext uri="{FF2B5EF4-FFF2-40B4-BE49-F238E27FC236}">
                <a16:creationId xmlns:a16="http://schemas.microsoft.com/office/drawing/2014/main" id="{8A50D9FA-1A21-90A1-DDB7-539E058C104F}"/>
              </a:ext>
            </a:extLst>
          </p:cNvPr>
          <p:cNvSpPr txBox="1"/>
          <p:nvPr/>
        </p:nvSpPr>
        <p:spPr>
          <a:xfrm>
            <a:off x="515007" y="1198179"/>
            <a:ext cx="11004331" cy="1323439"/>
          </a:xfrm>
          <a:prstGeom prst="rect">
            <a:avLst/>
          </a:prstGeom>
          <a:noFill/>
        </p:spPr>
        <p:txBody>
          <a:bodyPr wrap="square" rtlCol="0">
            <a:spAutoFit/>
          </a:bodyPr>
          <a:lstStyle/>
          <a:p>
            <a:pPr algn="l"/>
            <a:r>
              <a:rPr lang="zh-CN" altLang="en-US" sz="2000" b="0" i="0" dirty="0">
                <a:solidFill>
                  <a:srgbClr val="070707"/>
                </a:solidFill>
                <a:effectLst/>
                <a:latin typeface="Source Sans Pro" panose="020B0503030403020204" pitchFamily="34" charset="0"/>
              </a:rPr>
              <a:t>强化学习背后的理念是，智能体通过</a:t>
            </a:r>
            <a:r>
              <a:rPr lang="zh-CN" altLang="en-US" sz="2000" b="1" i="0" dirty="0">
                <a:effectLst/>
                <a:latin typeface="Source Sans Pro" panose="020B0503030403020204" pitchFamily="34" charset="0"/>
              </a:rPr>
              <a:t>与环境交互</a:t>
            </a:r>
            <a:r>
              <a:rPr lang="zh-CN" altLang="en-US" sz="2000" b="0" i="0" dirty="0">
                <a:solidFill>
                  <a:srgbClr val="070707"/>
                </a:solidFill>
                <a:effectLst/>
                <a:latin typeface="Source Sans Pro" panose="020B0503030403020204" pitchFamily="34" charset="0"/>
              </a:rPr>
              <a:t>（通过反复试验）并从环境中学习，并</a:t>
            </a:r>
            <a:r>
              <a:rPr lang="zh-CN" altLang="en-US" sz="2000" b="1" i="0" dirty="0">
                <a:effectLst/>
                <a:latin typeface="Source Sans Pro" panose="020B0503030403020204" pitchFamily="34" charset="0"/>
              </a:rPr>
              <a:t>获得奖励</a:t>
            </a:r>
            <a:r>
              <a:rPr lang="zh-CN" altLang="en-US" sz="2000" b="0" i="0" dirty="0">
                <a:solidFill>
                  <a:srgbClr val="070707"/>
                </a:solidFill>
                <a:effectLst/>
                <a:latin typeface="Source Sans Pro" panose="020B0503030403020204" pitchFamily="34" charset="0"/>
              </a:rPr>
              <a:t>（负面或正面）作为执行动作的反馈。这种从与环境交互中学习的灵感来源于我们的自然经验。</a:t>
            </a:r>
            <a:endParaRPr lang="en-US" altLang="zh-CN" sz="2000" b="0" i="0" dirty="0">
              <a:solidFill>
                <a:srgbClr val="070707"/>
              </a:solidFill>
              <a:effectLst/>
              <a:latin typeface="Source Sans Pro" panose="020B0503030403020204" pitchFamily="34" charset="0"/>
            </a:endParaRPr>
          </a:p>
          <a:p>
            <a:pPr algn="l"/>
            <a:endParaRPr kumimoji="1" lang="en-US" altLang="zh-CN" sz="2000" dirty="0">
              <a:solidFill>
                <a:srgbClr val="070707"/>
              </a:solidFill>
              <a:latin typeface="Source Sans Pro" panose="020B0503030403020204" pitchFamily="34" charset="0"/>
            </a:endParaRPr>
          </a:p>
          <a:p>
            <a:pPr algn="l"/>
            <a:r>
              <a:rPr kumimoji="1" lang="zh-CN" altLang="en-US" sz="2000" dirty="0">
                <a:solidFill>
                  <a:srgbClr val="070707"/>
                </a:solidFill>
                <a:latin typeface="Source Sans Pro" panose="020B0503030403020204" pitchFamily="34" charset="0"/>
              </a:rPr>
              <a:t>想象一下我们正面对一个从未玩过的电子游戏。</a:t>
            </a:r>
            <a:endParaRPr kumimoji="1" lang="zh-CN" altLang="en-US" sz="2000" dirty="0">
              <a:solidFill>
                <a:srgbClr val="070707"/>
              </a:solidFill>
            </a:endParaRPr>
          </a:p>
        </p:txBody>
      </p:sp>
      <p:pic>
        <p:nvPicPr>
          <p:cNvPr id="1026" name="Picture 2" descr="插图_1">
            <a:extLst>
              <a:ext uri="{FF2B5EF4-FFF2-40B4-BE49-F238E27FC236}">
                <a16:creationId xmlns:a16="http://schemas.microsoft.com/office/drawing/2014/main" id="{F83A1894-2D74-AEBA-97E8-5264CC887B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242" y="2682939"/>
            <a:ext cx="3457906" cy="17564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插图_2">
            <a:extLst>
              <a:ext uri="{FF2B5EF4-FFF2-40B4-BE49-F238E27FC236}">
                <a16:creationId xmlns:a16="http://schemas.microsoft.com/office/drawing/2014/main" id="{A027F608-0836-3D2B-8938-A40F9ECA44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7047" y="2682939"/>
            <a:ext cx="3457905" cy="175641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插图_3">
            <a:extLst>
              <a:ext uri="{FF2B5EF4-FFF2-40B4-BE49-F238E27FC236}">
                <a16:creationId xmlns:a16="http://schemas.microsoft.com/office/drawing/2014/main" id="{C7DCAB1F-375E-5308-F887-C87B2971F1C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52852" y="2682939"/>
            <a:ext cx="3457906" cy="1756418"/>
          </a:xfrm>
          <a:prstGeom prst="rect">
            <a:avLst/>
          </a:prstGeom>
          <a:noFill/>
          <a:extLst>
            <a:ext uri="{909E8E84-426E-40DD-AFC4-6F175D3DCCD1}">
              <a14:hiddenFill xmlns:a14="http://schemas.microsoft.com/office/drawing/2010/main">
                <a:solidFill>
                  <a:srgbClr val="FFFFFF"/>
                </a:solidFill>
              </a14:hiddenFill>
            </a:ext>
          </a:extLst>
        </p:spPr>
      </p:pic>
      <p:sp>
        <p:nvSpPr>
          <p:cNvPr id="2" name="右箭头 1">
            <a:extLst>
              <a:ext uri="{FF2B5EF4-FFF2-40B4-BE49-F238E27FC236}">
                <a16:creationId xmlns:a16="http://schemas.microsoft.com/office/drawing/2014/main" id="{CA4E5B34-2B3D-EAF7-EB31-4B3FF5EB91B3}"/>
              </a:ext>
            </a:extLst>
          </p:cNvPr>
          <p:cNvSpPr/>
          <p:nvPr/>
        </p:nvSpPr>
        <p:spPr>
          <a:xfrm>
            <a:off x="3899582" y="3402563"/>
            <a:ext cx="407031" cy="317169"/>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p>
        </p:txBody>
      </p:sp>
      <p:sp>
        <p:nvSpPr>
          <p:cNvPr id="5" name="右箭头 4">
            <a:extLst>
              <a:ext uri="{FF2B5EF4-FFF2-40B4-BE49-F238E27FC236}">
                <a16:creationId xmlns:a16="http://schemas.microsoft.com/office/drawing/2014/main" id="{77CB1CED-3E2F-D4F1-3C21-B83B5DED462E}"/>
              </a:ext>
            </a:extLst>
          </p:cNvPr>
          <p:cNvSpPr/>
          <p:nvPr/>
        </p:nvSpPr>
        <p:spPr>
          <a:xfrm>
            <a:off x="7885386" y="3396539"/>
            <a:ext cx="407031" cy="317169"/>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88ED3873-D5B7-224D-7FF2-0838CA35B98B}"/>
              </a:ext>
            </a:extLst>
          </p:cNvPr>
          <p:cNvSpPr txBox="1"/>
          <p:nvPr/>
        </p:nvSpPr>
        <p:spPr>
          <a:xfrm>
            <a:off x="4658746" y="4464369"/>
            <a:ext cx="2874505" cy="338554"/>
          </a:xfrm>
          <a:prstGeom prst="rect">
            <a:avLst/>
          </a:prstGeom>
          <a:noFill/>
        </p:spPr>
        <p:txBody>
          <a:bodyPr wrap="none" rtlCol="0">
            <a:spAutoFit/>
          </a:bodyPr>
          <a:lstStyle/>
          <a:p>
            <a:pPr algn="l"/>
            <a:r>
              <a:rPr kumimoji="1" lang="zh-CN" altLang="en-US" sz="1600" dirty="0">
                <a:solidFill>
                  <a:srgbClr val="070707"/>
                </a:solidFill>
              </a:rPr>
              <a:t>按下右键，获得硬币，奖励</a:t>
            </a:r>
            <a:r>
              <a:rPr kumimoji="1" lang="en-US" altLang="zh-CN" sz="1600" dirty="0">
                <a:solidFill>
                  <a:srgbClr val="070707"/>
                </a:solidFill>
              </a:rPr>
              <a:t>+1</a:t>
            </a:r>
            <a:endParaRPr kumimoji="1" lang="zh-CN" altLang="en-US" sz="1600" dirty="0">
              <a:solidFill>
                <a:srgbClr val="070707"/>
              </a:solidFill>
            </a:endParaRPr>
          </a:p>
        </p:txBody>
      </p:sp>
      <p:sp>
        <p:nvSpPr>
          <p:cNvPr id="7" name="文本框 6">
            <a:extLst>
              <a:ext uri="{FF2B5EF4-FFF2-40B4-BE49-F238E27FC236}">
                <a16:creationId xmlns:a16="http://schemas.microsoft.com/office/drawing/2014/main" id="{E3D24F33-590C-DAC4-89CF-CE1BC62426F5}"/>
              </a:ext>
            </a:extLst>
          </p:cNvPr>
          <p:cNvSpPr txBox="1"/>
          <p:nvPr/>
        </p:nvSpPr>
        <p:spPr>
          <a:xfrm>
            <a:off x="8570012" y="4464369"/>
            <a:ext cx="3023585" cy="338554"/>
          </a:xfrm>
          <a:prstGeom prst="rect">
            <a:avLst/>
          </a:prstGeom>
          <a:noFill/>
        </p:spPr>
        <p:txBody>
          <a:bodyPr wrap="none" rtlCol="0">
            <a:spAutoFit/>
          </a:bodyPr>
          <a:lstStyle/>
          <a:p>
            <a:pPr algn="l"/>
            <a:r>
              <a:rPr kumimoji="1" lang="zh-CN" altLang="en-US" sz="1600" dirty="0">
                <a:solidFill>
                  <a:srgbClr val="070707"/>
                </a:solidFill>
              </a:rPr>
              <a:t>再按下右键，遇到敌人，奖励</a:t>
            </a:r>
            <a:r>
              <a:rPr kumimoji="1" lang="en-US" altLang="zh-CN" sz="1600" dirty="0">
                <a:solidFill>
                  <a:srgbClr val="070707"/>
                </a:solidFill>
              </a:rPr>
              <a:t>-1</a:t>
            </a:r>
            <a:endParaRPr kumimoji="1" lang="zh-CN" altLang="en-US" sz="1600" dirty="0">
              <a:solidFill>
                <a:srgbClr val="070707"/>
              </a:solidFill>
            </a:endParaRPr>
          </a:p>
        </p:txBody>
      </p:sp>
      <p:sp>
        <p:nvSpPr>
          <p:cNvPr id="10" name="文本框 9">
            <a:extLst>
              <a:ext uri="{FF2B5EF4-FFF2-40B4-BE49-F238E27FC236}">
                <a16:creationId xmlns:a16="http://schemas.microsoft.com/office/drawing/2014/main" id="{43EE1816-6967-4E05-2202-A78B06BF7A05}"/>
              </a:ext>
            </a:extLst>
          </p:cNvPr>
          <p:cNvSpPr txBox="1"/>
          <p:nvPr/>
        </p:nvSpPr>
        <p:spPr>
          <a:xfrm>
            <a:off x="589266" y="4914168"/>
            <a:ext cx="11004331" cy="707886"/>
          </a:xfrm>
          <a:prstGeom prst="rect">
            <a:avLst/>
          </a:prstGeom>
          <a:noFill/>
        </p:spPr>
        <p:txBody>
          <a:bodyPr wrap="square" rtlCol="0">
            <a:spAutoFit/>
          </a:bodyPr>
          <a:lstStyle/>
          <a:p>
            <a:pPr algn="l"/>
            <a:r>
              <a:rPr lang="zh-CN" altLang="en-US" sz="2000" b="0" i="0" dirty="0">
                <a:solidFill>
                  <a:srgbClr val="070707"/>
                </a:solidFill>
                <a:effectLst/>
                <a:latin typeface="Source Sans Pro" panose="020B0503030403020204" pitchFamily="34" charset="0"/>
              </a:rPr>
              <a:t>通过反复试验与周围环境互动</a:t>
            </a:r>
            <a:r>
              <a:rPr kumimoji="1" lang="zh-CN" altLang="en-US" sz="2000" b="0" i="0" dirty="0">
                <a:solidFill>
                  <a:srgbClr val="070707"/>
                </a:solidFill>
                <a:effectLst/>
                <a:latin typeface="Source Sans Pro" panose="020B0503030403020204" pitchFamily="34" charset="0"/>
              </a:rPr>
              <a:t>，我们会明白这个游戏需要在环境中获取硬币，同时避开敌人。这一过程没有任何按键上的指引或监督。</a:t>
            </a:r>
            <a:endParaRPr kumimoji="1" lang="zh-CN" altLang="en-US" sz="2000" dirty="0">
              <a:solidFill>
                <a:srgbClr val="070707"/>
              </a:solidFill>
            </a:endParaRPr>
          </a:p>
        </p:txBody>
      </p:sp>
    </p:spTree>
    <p:extLst>
      <p:ext uri="{BB962C8B-B14F-4D97-AF65-F5344CB8AC3E}">
        <p14:creationId xmlns:p14="http://schemas.microsoft.com/office/powerpoint/2010/main" val="2572609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B8EE5A28-9FB2-33FE-2769-5394A79C0DB2}"/>
              </a:ext>
            </a:extLst>
          </p:cNvPr>
          <p:cNvGrpSpPr/>
          <p:nvPr/>
        </p:nvGrpSpPr>
        <p:grpSpPr>
          <a:xfrm>
            <a:off x="6843978" y="1845933"/>
            <a:ext cx="3940905" cy="2153539"/>
            <a:chOff x="525517" y="2081153"/>
            <a:chExt cx="5580993" cy="3137128"/>
          </a:xfrm>
        </p:grpSpPr>
        <p:pic>
          <p:nvPicPr>
            <p:cNvPr id="1026" name="Picture 2" descr="The RL process">
              <a:extLst>
                <a:ext uri="{FF2B5EF4-FFF2-40B4-BE49-F238E27FC236}">
                  <a16:creationId xmlns:a16="http://schemas.microsoft.com/office/drawing/2014/main" id="{ECB9A825-DCD1-19B9-5B11-3B29E73BCA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517" y="2081153"/>
              <a:ext cx="5580993" cy="3137128"/>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208E7BE3-74F0-153D-908F-6697DDC5E98C}"/>
                </a:ext>
              </a:extLst>
            </p:cNvPr>
            <p:cNvSpPr txBox="1"/>
            <p:nvPr/>
          </p:nvSpPr>
          <p:spPr>
            <a:xfrm>
              <a:off x="2915903" y="2535704"/>
              <a:ext cx="800219" cy="338554"/>
            </a:xfrm>
            <a:prstGeom prst="rect">
              <a:avLst/>
            </a:prstGeom>
            <a:noFill/>
          </p:spPr>
          <p:txBody>
            <a:bodyPr wrap="none" rtlCol="0">
              <a:spAutoFit/>
            </a:bodyPr>
            <a:lstStyle/>
            <a:p>
              <a:pPr algn="l"/>
              <a:r>
                <a:rPr kumimoji="1" lang="zh-CN" altLang="en-US" sz="1600" dirty="0">
                  <a:solidFill>
                    <a:srgbClr val="808080"/>
                  </a:solidFill>
                </a:rPr>
                <a:t>智能体</a:t>
              </a:r>
            </a:p>
          </p:txBody>
        </p:sp>
        <p:sp>
          <p:nvSpPr>
            <p:cNvPr id="15" name="文本框 14">
              <a:extLst>
                <a:ext uri="{FF2B5EF4-FFF2-40B4-BE49-F238E27FC236}">
                  <a16:creationId xmlns:a16="http://schemas.microsoft.com/office/drawing/2014/main" id="{9B2B8BDD-BEEF-9066-EB3D-F43B6BB140D5}"/>
                </a:ext>
              </a:extLst>
            </p:cNvPr>
            <p:cNvSpPr txBox="1"/>
            <p:nvPr/>
          </p:nvSpPr>
          <p:spPr>
            <a:xfrm>
              <a:off x="3018494" y="4446573"/>
              <a:ext cx="595035" cy="338554"/>
            </a:xfrm>
            <a:prstGeom prst="rect">
              <a:avLst/>
            </a:prstGeom>
            <a:noFill/>
          </p:spPr>
          <p:txBody>
            <a:bodyPr wrap="none" rtlCol="0">
              <a:spAutoFit/>
            </a:bodyPr>
            <a:lstStyle/>
            <a:p>
              <a:pPr algn="l"/>
              <a:r>
                <a:rPr kumimoji="1" lang="zh-CN" altLang="en-US" sz="1600" dirty="0">
                  <a:solidFill>
                    <a:srgbClr val="808080"/>
                  </a:solidFill>
                </a:rPr>
                <a:t>环境</a:t>
              </a:r>
            </a:p>
          </p:txBody>
        </p:sp>
      </p:grpSp>
      <p:sp>
        <p:nvSpPr>
          <p:cNvPr id="4" name="标题 3">
            <a:extLst>
              <a:ext uri="{FF2B5EF4-FFF2-40B4-BE49-F238E27FC236}">
                <a16:creationId xmlns:a16="http://schemas.microsoft.com/office/drawing/2014/main" id="{543D43AC-9F5C-363F-049F-27A91944B682}"/>
              </a:ext>
            </a:extLst>
          </p:cNvPr>
          <p:cNvSpPr>
            <a:spLocks noGrp="1"/>
          </p:cNvSpPr>
          <p:nvPr>
            <p:ph type="title"/>
          </p:nvPr>
        </p:nvSpPr>
        <p:spPr/>
        <p:txBody>
          <a:bodyPr/>
          <a:lstStyle/>
          <a:p>
            <a:r>
              <a:rPr lang="zh-CN" altLang="en-US" dirty="0"/>
              <a:t>什么是强化学习</a:t>
            </a:r>
          </a:p>
        </p:txBody>
      </p:sp>
      <p:sp>
        <p:nvSpPr>
          <p:cNvPr id="3" name="文本框 2">
            <a:extLst>
              <a:ext uri="{FF2B5EF4-FFF2-40B4-BE49-F238E27FC236}">
                <a16:creationId xmlns:a16="http://schemas.microsoft.com/office/drawing/2014/main" id="{1C07A441-7A41-EF5C-FFBF-C1D4F41A1BE5}"/>
              </a:ext>
            </a:extLst>
          </p:cNvPr>
          <p:cNvSpPr txBox="1"/>
          <p:nvPr/>
        </p:nvSpPr>
        <p:spPr>
          <a:xfrm>
            <a:off x="248555" y="1645878"/>
            <a:ext cx="10700365" cy="400110"/>
          </a:xfrm>
          <a:prstGeom prst="rect">
            <a:avLst/>
          </a:prstGeom>
          <a:noFill/>
        </p:spPr>
        <p:txBody>
          <a:bodyPr wrap="none" rtlCol="0">
            <a:spAutoFit/>
          </a:bodyPr>
          <a:lstStyle/>
          <a:p>
            <a:pPr algn="l"/>
            <a:r>
              <a:rPr kumimoji="1" lang="zh-CN" altLang="en-US" sz="2000" dirty="0">
                <a:solidFill>
                  <a:srgbClr val="070707"/>
                </a:solidFill>
              </a:rPr>
              <a:t>强化学习的基本要素：</a:t>
            </a:r>
            <a:r>
              <a:rPr kumimoji="1" lang="zh-CN" altLang="en-US" sz="2000" dirty="0">
                <a:solidFill>
                  <a:srgbClr val="C00000"/>
                </a:solidFill>
              </a:rPr>
              <a:t>智能体、环境、以及一个</a:t>
            </a:r>
            <a:r>
              <a:rPr lang="zh-CN" altLang="en-US" sz="2000" b="0" i="0" dirty="0">
                <a:effectLst/>
                <a:latin typeface="D-DINExp"/>
              </a:rPr>
              <a:t>由状态、动作、奖励和下一状态组成的循环。</a:t>
            </a:r>
            <a:endParaRPr kumimoji="1" lang="zh-CN" altLang="en-US" sz="2000" dirty="0">
              <a:solidFill>
                <a:srgbClr val="070707"/>
              </a:solidFill>
            </a:endParaRPr>
          </a:p>
        </p:txBody>
      </p:sp>
      <p:grpSp>
        <p:nvGrpSpPr>
          <p:cNvPr id="13" name="组合 12">
            <a:extLst>
              <a:ext uri="{FF2B5EF4-FFF2-40B4-BE49-F238E27FC236}">
                <a16:creationId xmlns:a16="http://schemas.microsoft.com/office/drawing/2014/main" id="{80F26596-B518-9802-A33D-FBD819876FC1}"/>
              </a:ext>
            </a:extLst>
          </p:cNvPr>
          <p:cNvGrpSpPr/>
          <p:nvPr/>
        </p:nvGrpSpPr>
        <p:grpSpPr>
          <a:xfrm>
            <a:off x="6811381" y="3928657"/>
            <a:ext cx="4137539" cy="2171160"/>
            <a:chOff x="6995719" y="1860436"/>
            <a:chExt cx="4137539" cy="2171160"/>
          </a:xfrm>
        </p:grpSpPr>
        <p:sp>
          <p:nvSpPr>
            <p:cNvPr id="11" name="矩形 10">
              <a:extLst>
                <a:ext uri="{FF2B5EF4-FFF2-40B4-BE49-F238E27FC236}">
                  <a16:creationId xmlns:a16="http://schemas.microsoft.com/office/drawing/2014/main" id="{1613557D-A9ED-B943-8110-520BB6FF5059}"/>
                </a:ext>
              </a:extLst>
            </p:cNvPr>
            <p:cNvSpPr/>
            <p:nvPr/>
          </p:nvSpPr>
          <p:spPr>
            <a:xfrm>
              <a:off x="6995719" y="3683811"/>
              <a:ext cx="4137538" cy="3378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28" name="Picture 4" descr="State, Action, Reward, Next State">
              <a:extLst>
                <a:ext uri="{FF2B5EF4-FFF2-40B4-BE49-F238E27FC236}">
                  <a16:creationId xmlns:a16="http://schemas.microsoft.com/office/drawing/2014/main" id="{73B267BA-CBA5-4BEA-6CF0-C75480EDF71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5719" y="1860436"/>
              <a:ext cx="4137539" cy="182633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DA66C38C-A19B-89C4-A056-F56134D7719B}"/>
                </a:ext>
              </a:extLst>
            </p:cNvPr>
            <p:cNvSpPr txBox="1"/>
            <p:nvPr/>
          </p:nvSpPr>
          <p:spPr>
            <a:xfrm>
              <a:off x="7381888" y="3683068"/>
              <a:ext cx="595035" cy="338554"/>
            </a:xfrm>
            <a:prstGeom prst="rect">
              <a:avLst/>
            </a:prstGeom>
            <a:noFill/>
          </p:spPr>
          <p:txBody>
            <a:bodyPr wrap="none" rtlCol="0">
              <a:spAutoFit/>
            </a:bodyPr>
            <a:lstStyle/>
            <a:p>
              <a:pPr algn="l"/>
              <a:r>
                <a:rPr kumimoji="1" lang="zh-CN" altLang="en-US" sz="1600" dirty="0">
                  <a:solidFill>
                    <a:srgbClr val="93C57D"/>
                  </a:solidFill>
                </a:rPr>
                <a:t>状态</a:t>
              </a:r>
            </a:p>
          </p:txBody>
        </p:sp>
        <p:sp>
          <p:nvSpPr>
            <p:cNvPr id="8" name="文本框 7">
              <a:extLst>
                <a:ext uri="{FF2B5EF4-FFF2-40B4-BE49-F238E27FC236}">
                  <a16:creationId xmlns:a16="http://schemas.microsoft.com/office/drawing/2014/main" id="{A3CA4EBD-03DB-4C62-61D6-B569926F8AE9}"/>
                </a:ext>
              </a:extLst>
            </p:cNvPr>
            <p:cNvSpPr txBox="1"/>
            <p:nvPr/>
          </p:nvSpPr>
          <p:spPr>
            <a:xfrm>
              <a:off x="8365019" y="3693042"/>
              <a:ext cx="595035" cy="338554"/>
            </a:xfrm>
            <a:prstGeom prst="rect">
              <a:avLst/>
            </a:prstGeom>
            <a:noFill/>
          </p:spPr>
          <p:txBody>
            <a:bodyPr wrap="square">
              <a:spAutoFit/>
            </a:bodyPr>
            <a:lstStyle/>
            <a:p>
              <a:pPr algn="l"/>
              <a:r>
                <a:rPr kumimoji="1" lang="zh-CN" altLang="en-US" sz="1600" dirty="0">
                  <a:solidFill>
                    <a:srgbClr val="E16666"/>
                  </a:solidFill>
                </a:rPr>
                <a:t>动作</a:t>
              </a:r>
            </a:p>
          </p:txBody>
        </p:sp>
        <p:sp>
          <p:nvSpPr>
            <p:cNvPr id="9" name="文本框 8">
              <a:extLst>
                <a:ext uri="{FF2B5EF4-FFF2-40B4-BE49-F238E27FC236}">
                  <a16:creationId xmlns:a16="http://schemas.microsoft.com/office/drawing/2014/main" id="{0788CDB4-A07F-A59A-5E64-F95CCD05A600}"/>
                </a:ext>
              </a:extLst>
            </p:cNvPr>
            <p:cNvSpPr txBox="1"/>
            <p:nvPr/>
          </p:nvSpPr>
          <p:spPr>
            <a:xfrm>
              <a:off x="9264738" y="3693042"/>
              <a:ext cx="595035" cy="338554"/>
            </a:xfrm>
            <a:prstGeom prst="rect">
              <a:avLst/>
            </a:prstGeom>
            <a:noFill/>
          </p:spPr>
          <p:txBody>
            <a:bodyPr wrap="square">
              <a:spAutoFit/>
            </a:bodyPr>
            <a:lstStyle/>
            <a:p>
              <a:pPr algn="l"/>
              <a:r>
                <a:rPr kumimoji="1" lang="zh-CN" altLang="en-US" sz="1600" dirty="0">
                  <a:solidFill>
                    <a:srgbClr val="F7B26B"/>
                  </a:solidFill>
                </a:rPr>
                <a:t>奖励</a:t>
              </a:r>
            </a:p>
          </p:txBody>
        </p:sp>
        <p:sp>
          <p:nvSpPr>
            <p:cNvPr id="10" name="文本框 9">
              <a:extLst>
                <a:ext uri="{FF2B5EF4-FFF2-40B4-BE49-F238E27FC236}">
                  <a16:creationId xmlns:a16="http://schemas.microsoft.com/office/drawing/2014/main" id="{A12EE6A7-F1FC-CC14-FA1F-1ACC7CD24B1F}"/>
                </a:ext>
              </a:extLst>
            </p:cNvPr>
            <p:cNvSpPr txBox="1"/>
            <p:nvPr/>
          </p:nvSpPr>
          <p:spPr>
            <a:xfrm>
              <a:off x="9983242" y="3693042"/>
              <a:ext cx="1150015" cy="338554"/>
            </a:xfrm>
            <a:prstGeom prst="rect">
              <a:avLst/>
            </a:prstGeom>
            <a:noFill/>
          </p:spPr>
          <p:txBody>
            <a:bodyPr wrap="square">
              <a:spAutoFit/>
            </a:bodyPr>
            <a:lstStyle/>
            <a:p>
              <a:pPr algn="l"/>
              <a:r>
                <a:rPr kumimoji="1" lang="zh-CN" altLang="en-US" sz="1600" dirty="0">
                  <a:solidFill>
                    <a:srgbClr val="6D9EEB"/>
                  </a:solidFill>
                </a:rPr>
                <a:t>下一状态</a:t>
              </a:r>
            </a:p>
          </p:txBody>
        </p:sp>
      </p:grpSp>
      <p:sp>
        <p:nvSpPr>
          <p:cNvPr id="2" name="文本框 1">
            <a:extLst>
              <a:ext uri="{FF2B5EF4-FFF2-40B4-BE49-F238E27FC236}">
                <a16:creationId xmlns:a16="http://schemas.microsoft.com/office/drawing/2014/main" id="{0314202C-FC89-6B7A-0992-03830719FC59}"/>
              </a:ext>
            </a:extLst>
          </p:cNvPr>
          <p:cNvSpPr txBox="1"/>
          <p:nvPr/>
        </p:nvSpPr>
        <p:spPr>
          <a:xfrm>
            <a:off x="248554" y="837361"/>
            <a:ext cx="10618251" cy="707886"/>
          </a:xfrm>
          <a:prstGeom prst="rect">
            <a:avLst/>
          </a:prstGeom>
          <a:noFill/>
        </p:spPr>
        <p:txBody>
          <a:bodyPr wrap="square" rtlCol="0">
            <a:spAutoFit/>
          </a:bodyPr>
          <a:lstStyle/>
          <a:p>
            <a:pPr algn="l"/>
            <a:r>
              <a:rPr lang="zh-CN" altLang="en-US" sz="2000" b="0" i="0" dirty="0">
                <a:solidFill>
                  <a:srgbClr val="070707"/>
                </a:solidFill>
                <a:effectLst/>
                <a:latin typeface="Source Sans Pro" panose="020B0503030403020204" pitchFamily="34" charset="0"/>
              </a:rPr>
              <a:t>强化学习是一种解决</a:t>
            </a:r>
            <a:r>
              <a:rPr lang="zh-CN" altLang="en-US" sz="2000" b="0" i="0" dirty="0">
                <a:solidFill>
                  <a:srgbClr val="C00000"/>
                </a:solidFill>
                <a:effectLst/>
                <a:latin typeface="Source Sans Pro" panose="020B0503030403020204" pitchFamily="34" charset="0"/>
              </a:rPr>
              <a:t>控制任务</a:t>
            </a:r>
            <a:r>
              <a:rPr lang="zh-CN" altLang="en-US" sz="2000" b="0" i="0" dirty="0">
                <a:solidFill>
                  <a:srgbClr val="070707"/>
                </a:solidFill>
                <a:effectLst/>
                <a:latin typeface="Source Sans Pro" panose="020B0503030403020204" pitchFamily="34" charset="0"/>
              </a:rPr>
              <a:t>（或称为决策问题）的框架，智能体从环境中获得奖励（正面或负面）作为反馈信号，通过与环境反复交互试错来学习。</a:t>
            </a:r>
            <a:endParaRPr kumimoji="1" lang="zh-CN" altLang="en-US" sz="2000" dirty="0">
              <a:solidFill>
                <a:srgbClr val="070707"/>
              </a:solidFill>
            </a:endParaRPr>
          </a:p>
        </p:txBody>
      </p:sp>
      <p:pic>
        <p:nvPicPr>
          <p:cNvPr id="21" name="图片 20">
            <a:extLst>
              <a:ext uri="{FF2B5EF4-FFF2-40B4-BE49-F238E27FC236}">
                <a16:creationId xmlns:a16="http://schemas.microsoft.com/office/drawing/2014/main" id="{F6DE4823-BB5D-84E1-688E-96CECA50F3E4}"/>
              </a:ext>
            </a:extLst>
          </p:cNvPr>
          <p:cNvPicPr>
            <a:picLocks noChangeAspect="1"/>
          </p:cNvPicPr>
          <p:nvPr/>
        </p:nvPicPr>
        <p:blipFill>
          <a:blip r:embed="rId4"/>
          <a:stretch>
            <a:fillRect/>
          </a:stretch>
        </p:blipFill>
        <p:spPr>
          <a:xfrm>
            <a:off x="333642" y="2161288"/>
            <a:ext cx="6262102" cy="3704999"/>
          </a:xfrm>
          <a:prstGeom prst="rect">
            <a:avLst/>
          </a:prstGeom>
        </p:spPr>
      </p:pic>
    </p:spTree>
    <p:extLst>
      <p:ext uri="{BB962C8B-B14F-4D97-AF65-F5344CB8AC3E}">
        <p14:creationId xmlns:p14="http://schemas.microsoft.com/office/powerpoint/2010/main" val="1087385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B04066B-B7CD-3517-7F9C-60512EC5089B}"/>
              </a:ext>
            </a:extLst>
          </p:cNvPr>
          <p:cNvSpPr>
            <a:spLocks noGrp="1"/>
          </p:cNvSpPr>
          <p:nvPr>
            <p:ph type="title"/>
          </p:nvPr>
        </p:nvSpPr>
        <p:spPr/>
        <p:txBody>
          <a:bodyPr/>
          <a:lstStyle/>
          <a:p>
            <a:r>
              <a:rPr lang="zh-CN" altLang="en-US" dirty="0"/>
              <a:t>什么是强化学习</a:t>
            </a:r>
          </a:p>
        </p:txBody>
      </p:sp>
      <p:pic>
        <p:nvPicPr>
          <p:cNvPr id="3" name="Picture 2" descr="The RL process">
            <a:extLst>
              <a:ext uri="{FF2B5EF4-FFF2-40B4-BE49-F238E27FC236}">
                <a16:creationId xmlns:a16="http://schemas.microsoft.com/office/drawing/2014/main" id="{1370E191-DBA9-7B60-21B7-194F758EA8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5007" y="1860436"/>
            <a:ext cx="5580993" cy="313712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6A99142D-83FA-63F9-4A36-5164B7991C25}"/>
              </a:ext>
            </a:extLst>
          </p:cNvPr>
          <p:cNvSpPr txBox="1"/>
          <p:nvPr/>
        </p:nvSpPr>
        <p:spPr>
          <a:xfrm>
            <a:off x="515007" y="1198179"/>
            <a:ext cx="5570756" cy="400110"/>
          </a:xfrm>
          <a:prstGeom prst="rect">
            <a:avLst/>
          </a:prstGeom>
          <a:noFill/>
        </p:spPr>
        <p:txBody>
          <a:bodyPr wrap="none" rtlCol="0">
            <a:spAutoFit/>
          </a:bodyPr>
          <a:lstStyle/>
          <a:p>
            <a:pPr algn="l"/>
            <a:r>
              <a:rPr kumimoji="1" lang="zh-CN" altLang="en-US" sz="2000" dirty="0">
                <a:solidFill>
                  <a:srgbClr val="070707"/>
                </a:solidFill>
              </a:rPr>
              <a:t>直观理解：考虑一个智能体在学习玩一款游戏：</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6115535-578F-20F8-3FE6-CBD938C5E5D6}"/>
                  </a:ext>
                </a:extLst>
              </p:cNvPr>
              <p:cNvSpPr txBox="1"/>
              <p:nvPr/>
            </p:nvSpPr>
            <p:spPr>
              <a:xfrm>
                <a:off x="6621517" y="1860436"/>
                <a:ext cx="4908331" cy="3131627"/>
              </a:xfrm>
              <a:prstGeom prst="rect">
                <a:avLst/>
              </a:prstGeom>
              <a:noFill/>
            </p:spPr>
            <p:txBody>
              <a:bodyPr wrap="square" rtlCol="0">
                <a:spAutoFit/>
              </a:bodyPr>
              <a:lstStyle/>
              <a:p>
                <a:pPr>
                  <a:spcAft>
                    <a:spcPts val="1500"/>
                  </a:spcAft>
                </a:pPr>
                <a:r>
                  <a:rPr lang="en-US" altLang="zh-CN" sz="2000" b="0" i="0" dirty="0">
                    <a:solidFill>
                      <a:srgbClr val="070707"/>
                    </a:solidFill>
                    <a:effectLst/>
                    <a:latin typeface="D-DINExp"/>
                  </a:rPr>
                  <a:t>- </a:t>
                </a:r>
                <a:r>
                  <a:rPr lang="zh-CN" altLang="en-US" sz="2000" b="0" i="0" dirty="0">
                    <a:solidFill>
                      <a:srgbClr val="070707"/>
                    </a:solidFill>
                    <a:effectLst/>
                    <a:latin typeface="D-DINExp"/>
                  </a:rPr>
                  <a:t>在</a:t>
                </a:r>
                <a14:m>
                  <m:oMath xmlns:m="http://schemas.openxmlformats.org/officeDocument/2006/math">
                    <m:r>
                      <a:rPr lang="en-US" altLang="zh-CN" sz="2000" b="0" i="1" smtClean="0">
                        <a:solidFill>
                          <a:srgbClr val="070707"/>
                        </a:solidFill>
                        <a:effectLst/>
                        <a:latin typeface="Cambria Math" panose="02040503050406030204" pitchFamily="18" charset="0"/>
                      </a:rPr>
                      <m:t>𝑡</m:t>
                    </m:r>
                  </m:oMath>
                </a14:m>
                <a:r>
                  <a:rPr lang="zh-CN" altLang="en-US" sz="2000" b="0" i="0" dirty="0">
                    <a:solidFill>
                      <a:srgbClr val="070707"/>
                    </a:solidFill>
                    <a:effectLst/>
                    <a:latin typeface="D-DINExp"/>
                  </a:rPr>
                  <a:t>时刻，智能体从环境接收到状态</a:t>
                </a:r>
                <a14:m>
                  <m:oMath xmlns:m="http://schemas.openxmlformats.org/officeDocument/2006/math">
                    <m:sSub>
                      <m:sSubPr>
                        <m:ctrlPr>
                          <a:rPr lang="en-US" altLang="zh-CN" sz="2000" b="0" i="1" smtClean="0">
                            <a:solidFill>
                              <a:srgbClr val="070707"/>
                            </a:solidFill>
                            <a:effectLst/>
                            <a:latin typeface="Cambria Math" panose="02040503050406030204" pitchFamily="18" charset="0"/>
                          </a:rPr>
                        </m:ctrlPr>
                      </m:sSubPr>
                      <m:e>
                        <m:r>
                          <a:rPr lang="en-US" altLang="zh-CN" sz="2000" b="0" i="1" smtClean="0">
                            <a:solidFill>
                              <a:srgbClr val="070707"/>
                            </a:solidFill>
                            <a:effectLst/>
                            <a:latin typeface="Cambria Math" panose="02040503050406030204" pitchFamily="18" charset="0"/>
                          </a:rPr>
                          <m:t>𝑆</m:t>
                        </m:r>
                      </m:e>
                      <m:sub>
                        <m:r>
                          <a:rPr lang="en-US" altLang="zh-CN" sz="2000" b="0" i="1" smtClean="0">
                            <a:solidFill>
                              <a:srgbClr val="070707"/>
                            </a:solidFill>
                            <a:effectLst/>
                            <a:latin typeface="Cambria Math" panose="02040503050406030204" pitchFamily="18" charset="0"/>
                          </a:rPr>
                          <m:t>𝑡</m:t>
                        </m:r>
                      </m:sub>
                    </m:sSub>
                  </m:oMath>
                </a14:m>
                <a:r>
                  <a:rPr lang="zh-CN" altLang="en-US" sz="2000" b="0" i="0" dirty="0">
                    <a:solidFill>
                      <a:srgbClr val="070707"/>
                    </a:solidFill>
                    <a:effectLst/>
                    <a:latin typeface="D-DINExp"/>
                  </a:rPr>
                  <a:t>，也就是我们看到的游戏的第</a:t>
                </a:r>
                <a14:m>
                  <m:oMath xmlns:m="http://schemas.openxmlformats.org/officeDocument/2006/math">
                    <m:r>
                      <a:rPr lang="en-US" altLang="zh-CN" sz="2000" i="1">
                        <a:solidFill>
                          <a:srgbClr val="070707"/>
                        </a:solidFill>
                        <a:latin typeface="Cambria Math" panose="02040503050406030204" pitchFamily="18" charset="0"/>
                      </a:rPr>
                      <m:t>𝑡</m:t>
                    </m:r>
                  </m:oMath>
                </a14:m>
                <a:r>
                  <a:rPr lang="zh-CN" altLang="en-US" sz="2000" b="0" i="0" dirty="0">
                    <a:solidFill>
                      <a:srgbClr val="070707"/>
                    </a:solidFill>
                    <a:effectLst/>
                    <a:latin typeface="D-DINExp"/>
                  </a:rPr>
                  <a:t>帧画面。</a:t>
                </a:r>
              </a:p>
              <a:p>
                <a:pPr>
                  <a:spcAft>
                    <a:spcPts val="1500"/>
                  </a:spcAft>
                </a:pPr>
                <a:r>
                  <a:rPr lang="en-US" altLang="zh-CN" sz="2000" b="0" i="0" dirty="0">
                    <a:solidFill>
                      <a:srgbClr val="070707"/>
                    </a:solidFill>
                    <a:effectLst/>
                    <a:latin typeface="D-DINExp"/>
                  </a:rPr>
                  <a:t>- </a:t>
                </a:r>
                <a:r>
                  <a:rPr lang="zh-CN" altLang="en-US" sz="2000" b="0" i="0" dirty="0">
                    <a:solidFill>
                      <a:srgbClr val="070707"/>
                    </a:solidFill>
                    <a:effectLst/>
                    <a:latin typeface="D-DINExp"/>
                  </a:rPr>
                  <a:t>基于状态</a:t>
                </a:r>
                <a14:m>
                  <m:oMath xmlns:m="http://schemas.openxmlformats.org/officeDocument/2006/math">
                    <m:sSub>
                      <m:sSubPr>
                        <m:ctrlPr>
                          <a:rPr lang="en-US" altLang="zh-CN" sz="2000" b="0" i="1" smtClean="0">
                            <a:solidFill>
                              <a:srgbClr val="070707"/>
                            </a:solidFill>
                            <a:effectLst/>
                            <a:latin typeface="Cambria Math" panose="02040503050406030204" pitchFamily="18" charset="0"/>
                          </a:rPr>
                        </m:ctrlPr>
                      </m:sSubPr>
                      <m:e>
                        <m:r>
                          <a:rPr lang="en-US" altLang="zh-CN" sz="2000" b="0" i="1" smtClean="0">
                            <a:solidFill>
                              <a:srgbClr val="070707"/>
                            </a:solidFill>
                            <a:effectLst/>
                            <a:latin typeface="Cambria Math" panose="02040503050406030204" pitchFamily="18" charset="0"/>
                          </a:rPr>
                          <m:t>𝑆</m:t>
                        </m:r>
                      </m:e>
                      <m:sub>
                        <m:r>
                          <a:rPr lang="en-US" altLang="zh-CN" sz="2000" b="0" i="1" smtClean="0">
                            <a:solidFill>
                              <a:srgbClr val="070707"/>
                            </a:solidFill>
                            <a:effectLst/>
                            <a:latin typeface="Cambria Math" panose="02040503050406030204" pitchFamily="18" charset="0"/>
                          </a:rPr>
                          <m:t>𝑡</m:t>
                        </m:r>
                      </m:sub>
                    </m:sSub>
                    <m:r>
                      <a:rPr lang="en-US" altLang="zh-CN" sz="2000" b="0" i="1" smtClean="0">
                        <a:solidFill>
                          <a:srgbClr val="070707"/>
                        </a:solidFill>
                        <a:effectLst/>
                        <a:latin typeface="Cambria Math" panose="02040503050406030204" pitchFamily="18" charset="0"/>
                      </a:rPr>
                      <m:t> </m:t>
                    </m:r>
                  </m:oMath>
                </a14:m>
                <a:r>
                  <a:rPr lang="en" altLang="zh-CN" sz="2000" b="0" i="0" dirty="0">
                    <a:solidFill>
                      <a:srgbClr val="070707"/>
                    </a:solidFill>
                    <a:effectLst/>
                    <a:latin typeface="KaTeX_Main"/>
                  </a:rPr>
                  <a:t>​</a:t>
                </a:r>
                <a:r>
                  <a:rPr lang="zh-CN" altLang="en" sz="2000" b="0" i="0" dirty="0">
                    <a:solidFill>
                      <a:srgbClr val="070707"/>
                    </a:solidFill>
                    <a:effectLst/>
                    <a:latin typeface="D-DINExp"/>
                  </a:rPr>
                  <a:t>，</a:t>
                </a:r>
                <a:r>
                  <a:rPr lang="zh-CN" altLang="en-US" sz="2000" b="0" i="0" dirty="0">
                    <a:solidFill>
                      <a:srgbClr val="070707"/>
                    </a:solidFill>
                    <a:effectLst/>
                    <a:latin typeface="D-DINExp"/>
                  </a:rPr>
                  <a:t>智能体采取动作</a:t>
                </a:r>
                <a14:m>
                  <m:oMath xmlns:m="http://schemas.openxmlformats.org/officeDocument/2006/math">
                    <m:sSub>
                      <m:sSubPr>
                        <m:ctrlPr>
                          <a:rPr lang="en-US" altLang="zh-CN" sz="2000" i="1">
                            <a:solidFill>
                              <a:srgbClr val="070707"/>
                            </a:solidFill>
                            <a:latin typeface="Cambria Math" panose="02040503050406030204" pitchFamily="18" charset="0"/>
                          </a:rPr>
                        </m:ctrlPr>
                      </m:sSubPr>
                      <m:e>
                        <m:r>
                          <a:rPr lang="en-US" altLang="zh-CN" sz="2000" b="0" i="1" smtClean="0">
                            <a:solidFill>
                              <a:srgbClr val="070707"/>
                            </a:solidFill>
                            <a:latin typeface="Cambria Math" panose="02040503050406030204" pitchFamily="18" charset="0"/>
                          </a:rPr>
                          <m:t>𝐴</m:t>
                        </m:r>
                      </m:e>
                      <m:sub>
                        <m:r>
                          <a:rPr lang="en-US" altLang="zh-CN" sz="2000" i="1">
                            <a:solidFill>
                              <a:srgbClr val="070707"/>
                            </a:solidFill>
                            <a:latin typeface="Cambria Math" panose="02040503050406030204" pitchFamily="18" charset="0"/>
                          </a:rPr>
                          <m:t>𝑡</m:t>
                        </m:r>
                      </m:sub>
                    </m:sSub>
                    <m:r>
                      <a:rPr lang="en-US" altLang="zh-CN" sz="2000" i="1">
                        <a:solidFill>
                          <a:srgbClr val="070707"/>
                        </a:solidFill>
                        <a:latin typeface="Cambria Math" panose="02040503050406030204" pitchFamily="18" charset="0"/>
                      </a:rPr>
                      <m:t> </m:t>
                    </m:r>
                  </m:oMath>
                </a14:m>
                <a:r>
                  <a:rPr lang="en" altLang="zh-CN" sz="2000" dirty="0">
                    <a:solidFill>
                      <a:srgbClr val="070707"/>
                    </a:solidFill>
                    <a:latin typeface="KaTeX_Main"/>
                  </a:rPr>
                  <a:t>​</a:t>
                </a:r>
                <a:r>
                  <a:rPr lang="zh-CN" altLang="en-US" sz="2000" dirty="0">
                    <a:solidFill>
                      <a:srgbClr val="070707"/>
                    </a:solidFill>
                    <a:latin typeface="KaTeX_Main"/>
                  </a:rPr>
                  <a:t>，</a:t>
                </a:r>
                <a:r>
                  <a:rPr lang="zh-CN" altLang="en-US" sz="2000" b="0" i="0" dirty="0">
                    <a:solidFill>
                      <a:srgbClr val="070707"/>
                    </a:solidFill>
                    <a:effectLst/>
                    <a:latin typeface="D-DINExp"/>
                  </a:rPr>
                  <a:t>我们的智能体将向右移动。</a:t>
                </a:r>
              </a:p>
              <a:p>
                <a:pPr algn="l">
                  <a:spcAft>
                    <a:spcPts val="1500"/>
                  </a:spcAft>
                </a:pPr>
                <a:r>
                  <a:rPr lang="en-US" altLang="zh-CN" sz="2000" b="0" i="0" dirty="0">
                    <a:solidFill>
                      <a:srgbClr val="070707"/>
                    </a:solidFill>
                    <a:effectLst/>
                    <a:latin typeface="D-DINExp"/>
                  </a:rPr>
                  <a:t>- </a:t>
                </a:r>
                <a:r>
                  <a:rPr lang="zh-CN" altLang="en-US" sz="2000" b="0" i="0" dirty="0">
                    <a:solidFill>
                      <a:srgbClr val="070707"/>
                    </a:solidFill>
                    <a:effectLst/>
                    <a:latin typeface="D-DINExp"/>
                  </a:rPr>
                  <a:t>环境转变为一个新的状态 </a:t>
                </a:r>
                <a14:m>
                  <m:oMath xmlns:m="http://schemas.openxmlformats.org/officeDocument/2006/math">
                    <m:sSub>
                      <m:sSubPr>
                        <m:ctrlPr>
                          <a:rPr lang="en-US" altLang="zh-CN" sz="2000" b="0" i="1" smtClean="0">
                            <a:solidFill>
                              <a:srgbClr val="070707"/>
                            </a:solidFill>
                            <a:effectLst/>
                            <a:latin typeface="Cambria Math" panose="02040503050406030204" pitchFamily="18" charset="0"/>
                          </a:rPr>
                        </m:ctrlPr>
                      </m:sSubPr>
                      <m:e>
                        <m:r>
                          <a:rPr lang="en-US" altLang="zh-CN" sz="2000" b="0" i="1" smtClean="0">
                            <a:solidFill>
                              <a:srgbClr val="070707"/>
                            </a:solidFill>
                            <a:effectLst/>
                            <a:latin typeface="Cambria Math" panose="02040503050406030204" pitchFamily="18" charset="0"/>
                          </a:rPr>
                          <m:t>𝑆</m:t>
                        </m:r>
                      </m:e>
                      <m:sub>
                        <m:r>
                          <a:rPr lang="en-US" altLang="zh-CN" sz="2000" b="0" i="1" smtClean="0">
                            <a:solidFill>
                              <a:srgbClr val="070707"/>
                            </a:solidFill>
                            <a:effectLst/>
                            <a:latin typeface="Cambria Math" panose="02040503050406030204" pitchFamily="18" charset="0"/>
                          </a:rPr>
                          <m:t>𝑡</m:t>
                        </m:r>
                        <m:r>
                          <a:rPr lang="en-US" altLang="zh-CN" sz="2000" b="0" i="1" smtClean="0">
                            <a:solidFill>
                              <a:srgbClr val="070707"/>
                            </a:solidFill>
                            <a:effectLst/>
                            <a:latin typeface="Cambria Math" panose="02040503050406030204" pitchFamily="18" charset="0"/>
                          </a:rPr>
                          <m:t>+1</m:t>
                        </m:r>
                      </m:sub>
                    </m:sSub>
                    <m:r>
                      <a:rPr lang="en-US" altLang="zh-CN" sz="2000" b="0" i="1" smtClean="0">
                        <a:solidFill>
                          <a:srgbClr val="070707"/>
                        </a:solidFill>
                        <a:effectLst/>
                        <a:latin typeface="Cambria Math" panose="02040503050406030204" pitchFamily="18" charset="0"/>
                      </a:rPr>
                      <m:t> </m:t>
                    </m:r>
                  </m:oMath>
                </a14:m>
                <a:r>
                  <a:rPr lang="en" altLang="zh-CN" sz="2000" b="0" i="0" dirty="0">
                    <a:solidFill>
                      <a:srgbClr val="070707"/>
                    </a:solidFill>
                    <a:effectLst/>
                    <a:latin typeface="KaTeX_Main"/>
                  </a:rPr>
                  <a:t>​​</a:t>
                </a:r>
                <a:r>
                  <a:rPr lang="zh-CN" altLang="en-US" sz="2000" b="0" i="0" dirty="0">
                    <a:solidFill>
                      <a:srgbClr val="070707"/>
                    </a:solidFill>
                    <a:effectLst/>
                    <a:latin typeface="KaTeX_Main"/>
                  </a:rPr>
                  <a:t>，游戏</a:t>
                </a:r>
                <a:r>
                  <a:rPr lang="zh-CN" altLang="en-US" sz="2000" b="0" i="0" dirty="0">
                    <a:solidFill>
                      <a:srgbClr val="070707"/>
                    </a:solidFill>
                    <a:effectLst/>
                    <a:latin typeface="D-DINExp"/>
                  </a:rPr>
                  <a:t>更新为新的一帧画面。</a:t>
                </a:r>
              </a:p>
              <a:p>
                <a:pPr algn="l">
                  <a:spcAft>
                    <a:spcPts val="1500"/>
                  </a:spcAft>
                </a:pPr>
                <a:r>
                  <a:rPr lang="en-US" altLang="zh-CN" sz="2000" b="0" i="0" dirty="0">
                    <a:solidFill>
                      <a:srgbClr val="070707"/>
                    </a:solidFill>
                    <a:effectLst/>
                    <a:latin typeface="D-DINExp"/>
                  </a:rPr>
                  <a:t>- </a:t>
                </a:r>
                <a:r>
                  <a:rPr lang="zh-CN" altLang="en-US" sz="2000" b="0" i="0" dirty="0">
                    <a:solidFill>
                      <a:srgbClr val="070707"/>
                    </a:solidFill>
                    <a:effectLst/>
                    <a:latin typeface="D-DINExp"/>
                  </a:rPr>
                  <a:t>环境为智能体提供奖励 </a:t>
                </a:r>
                <a14:m>
                  <m:oMath xmlns:m="http://schemas.openxmlformats.org/officeDocument/2006/math">
                    <m:sSub>
                      <m:sSubPr>
                        <m:ctrlPr>
                          <a:rPr lang="en-US" altLang="zh-CN" sz="2000" i="1" smtClean="0">
                            <a:solidFill>
                              <a:srgbClr val="070707"/>
                            </a:solidFill>
                            <a:latin typeface="Cambria Math" panose="02040503050406030204" pitchFamily="18" charset="0"/>
                          </a:rPr>
                        </m:ctrlPr>
                      </m:sSubPr>
                      <m:e>
                        <m:r>
                          <a:rPr lang="en-US" altLang="zh-CN" sz="2000" b="0" i="1" smtClean="0">
                            <a:solidFill>
                              <a:srgbClr val="070707"/>
                            </a:solidFill>
                            <a:latin typeface="Cambria Math" panose="02040503050406030204" pitchFamily="18" charset="0"/>
                          </a:rPr>
                          <m:t>𝑅</m:t>
                        </m:r>
                      </m:e>
                      <m:sub>
                        <m:r>
                          <a:rPr lang="en-US" altLang="zh-CN" sz="2000" i="1">
                            <a:solidFill>
                              <a:srgbClr val="070707"/>
                            </a:solidFill>
                            <a:latin typeface="Cambria Math" panose="02040503050406030204" pitchFamily="18" charset="0"/>
                          </a:rPr>
                          <m:t>𝑡</m:t>
                        </m:r>
                      </m:sub>
                    </m:sSub>
                  </m:oMath>
                </a14:m>
                <a:r>
                  <a:rPr lang="zh-CN" altLang="en-US" sz="2000" b="0" i="0" dirty="0">
                    <a:solidFill>
                      <a:srgbClr val="070707"/>
                    </a:solidFill>
                    <a:effectLst/>
                    <a:latin typeface="D-DINExp"/>
                  </a:rPr>
                  <a:t>，表明我们向右移动获得的收益反馈</a:t>
                </a:r>
                <a:r>
                  <a:rPr lang="zh-CN" altLang="en-US" sz="2000" dirty="0">
                    <a:solidFill>
                      <a:srgbClr val="070707"/>
                    </a:solidFill>
                    <a:latin typeface="D-DINExp"/>
                  </a:rPr>
                  <a:t>。</a:t>
                </a:r>
                <a:endParaRPr lang="zh-CN" altLang="en-US" sz="2000" b="0" i="0" dirty="0">
                  <a:solidFill>
                    <a:srgbClr val="070707"/>
                  </a:solidFill>
                  <a:effectLst/>
                  <a:latin typeface="D-DINExp"/>
                </a:endParaRPr>
              </a:p>
            </p:txBody>
          </p:sp>
        </mc:Choice>
        <mc:Fallback xmlns="">
          <p:sp>
            <p:nvSpPr>
              <p:cNvPr id="5" name="文本框 4">
                <a:extLst>
                  <a:ext uri="{FF2B5EF4-FFF2-40B4-BE49-F238E27FC236}">
                    <a16:creationId xmlns:a16="http://schemas.microsoft.com/office/drawing/2014/main" id="{26115535-578F-20F8-3FE6-CBD938C5E5D6}"/>
                  </a:ext>
                </a:extLst>
              </p:cNvPr>
              <p:cNvSpPr txBox="1">
                <a:spLocks noRot="1" noChangeAspect="1" noMove="1" noResize="1" noEditPoints="1" noAdjustHandles="1" noChangeArrowheads="1" noChangeShapeType="1" noTextEdit="1"/>
              </p:cNvSpPr>
              <p:nvPr/>
            </p:nvSpPr>
            <p:spPr>
              <a:xfrm>
                <a:off x="6621517" y="1860436"/>
                <a:ext cx="4908331" cy="3131627"/>
              </a:xfrm>
              <a:prstGeom prst="rect">
                <a:avLst/>
              </a:prstGeom>
              <a:blipFill>
                <a:blip r:embed="rId5"/>
                <a:stretch>
                  <a:fillRect l="-1292" t="-1613" b="-16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31695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679DD-A29A-5C2C-353C-6096AD6C8F3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9D39AF1-3DA4-33A3-7F18-6C5E1540B485}"/>
              </a:ext>
            </a:extLst>
          </p:cNvPr>
          <p:cNvSpPr>
            <a:spLocks noGrp="1"/>
          </p:cNvSpPr>
          <p:nvPr>
            <p:ph type="title"/>
          </p:nvPr>
        </p:nvSpPr>
        <p:spPr>
          <a:xfrm>
            <a:off x="143935" y="144826"/>
            <a:ext cx="2576687" cy="337358"/>
          </a:xfrm>
        </p:spPr>
        <p:txBody>
          <a:bodyPr/>
          <a:lstStyle/>
          <a:p>
            <a:r>
              <a:rPr lang="zh-CN" altLang="en-US" sz="2800" dirty="0"/>
              <a:t>目录</a:t>
            </a:r>
          </a:p>
        </p:txBody>
      </p:sp>
      <p:sp>
        <p:nvSpPr>
          <p:cNvPr id="3" name="文本框 2">
            <a:extLst>
              <a:ext uri="{FF2B5EF4-FFF2-40B4-BE49-F238E27FC236}">
                <a16:creationId xmlns:a16="http://schemas.microsoft.com/office/drawing/2014/main" id="{4622E5DD-175C-D4FD-70AB-50854438BD4B}"/>
              </a:ext>
            </a:extLst>
          </p:cNvPr>
          <p:cNvSpPr txBox="1"/>
          <p:nvPr/>
        </p:nvSpPr>
        <p:spPr>
          <a:xfrm>
            <a:off x="3855154" y="1454516"/>
            <a:ext cx="4134465" cy="4832092"/>
          </a:xfrm>
          <a:prstGeom prst="rect">
            <a:avLst/>
          </a:prstGeom>
          <a:noFill/>
        </p:spPr>
        <p:txBody>
          <a:bodyPr wrap="none" rtlCol="0">
            <a:spAutoFit/>
          </a:bodyPr>
          <a:lstStyle/>
          <a:p>
            <a:pPr algn="l"/>
            <a:r>
              <a:rPr lang="zh-CN" altLang="en-US" sz="2800" b="1" dirty="0">
                <a:solidFill>
                  <a:srgbClr val="808080"/>
                </a:solidFill>
                <a:latin typeface="微软雅黑" panose="020B0503020204020204" pitchFamily="34" charset="-122"/>
                <a:ea typeface="微软雅黑" panose="020B0503020204020204" pitchFamily="34" charset="-122"/>
              </a:rPr>
              <a:t>一、什么是强化学习</a:t>
            </a:r>
            <a:endParaRPr lang="en-US" altLang="zh-CN" sz="2800" b="1" dirty="0">
              <a:solidFill>
                <a:srgbClr val="808080"/>
              </a:solidFill>
              <a:latin typeface="微软雅黑" panose="020B0503020204020204" pitchFamily="34" charset="-122"/>
              <a:ea typeface="微软雅黑" panose="020B0503020204020204" pitchFamily="34" charset="-122"/>
            </a:endParaRPr>
          </a:p>
          <a:p>
            <a:pPr algn="l"/>
            <a:endParaRPr lang="en-US" altLang="zh-CN" sz="2800" b="1" dirty="0">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二、强化学习的基本要素</a:t>
            </a:r>
            <a:endParaRPr lang="en-US" altLang="zh-CN" sz="2800" b="1" dirty="0">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三、强化学习的任务类型</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四、解决强化学习问题</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五、深度强化学习</a:t>
            </a:r>
          </a:p>
          <a:p>
            <a:endParaRPr lang="zh-CN" altLang="en-US" sz="2800" b="1" dirty="0">
              <a:latin typeface="微软雅黑" panose="020B0503020204020204" pitchFamily="34" charset="-122"/>
              <a:ea typeface="微软雅黑" panose="020B0503020204020204" pitchFamily="34" charset="-122"/>
            </a:endParaRPr>
          </a:p>
          <a:p>
            <a:pPr algn="l"/>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632031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90D50-5A1B-C907-B369-12D05B732F6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39DB696-62A4-0038-F20A-C3DD7DEE6D32}"/>
              </a:ext>
            </a:extLst>
          </p:cNvPr>
          <p:cNvSpPr>
            <a:spLocks noGrp="1"/>
          </p:cNvSpPr>
          <p:nvPr>
            <p:ph type="title"/>
          </p:nvPr>
        </p:nvSpPr>
        <p:spPr/>
        <p:txBody>
          <a:bodyPr/>
          <a:lstStyle/>
          <a:p>
            <a:r>
              <a:rPr lang="zh-CN" altLang="en-US" dirty="0"/>
              <a:t>强化学习的基本要素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055D09D-10E3-5734-EE2D-117979181B76}"/>
                  </a:ext>
                </a:extLst>
              </p:cNvPr>
              <p:cNvSpPr txBox="1"/>
              <p:nvPr/>
            </p:nvSpPr>
            <p:spPr>
              <a:xfrm>
                <a:off x="515007" y="1198179"/>
                <a:ext cx="10670735" cy="1515800"/>
              </a:xfrm>
              <a:prstGeom prst="rect">
                <a:avLst/>
              </a:prstGeom>
              <a:noFill/>
            </p:spPr>
            <p:txBody>
              <a:bodyPr wrap="square" rtlCol="0">
                <a:spAutoFit/>
              </a:bodyPr>
              <a:lstStyle/>
              <a:p>
                <a:pPr algn="l">
                  <a:spcAft>
                    <a:spcPts val="1500"/>
                  </a:spcAft>
                </a:pPr>
                <a:r>
                  <a:rPr kumimoji="1" lang="zh-CN" altLang="en-US" sz="2000" b="1" dirty="0">
                    <a:solidFill>
                      <a:srgbClr val="070707"/>
                    </a:solidFill>
                  </a:rPr>
                  <a:t>状态和观察：</a:t>
                </a:r>
                <a:endParaRPr kumimoji="1" lang="en-US" altLang="zh-CN" sz="2000" b="1" dirty="0">
                  <a:solidFill>
                    <a:srgbClr val="070707"/>
                  </a:solidFill>
                </a:endParaRPr>
              </a:p>
              <a:p>
                <a:pPr>
                  <a:spcAft>
                    <a:spcPts val="1500"/>
                  </a:spcAft>
                </a:pPr>
                <a:r>
                  <a:rPr kumimoji="1" lang="zh-CN" altLang="en-US" sz="2000" dirty="0">
                    <a:solidFill>
                      <a:srgbClr val="070707"/>
                    </a:solidFill>
                  </a:rPr>
                  <a:t>我们对</a:t>
                </a:r>
                <a:r>
                  <a:rPr kumimoji="1" lang="zh-CN" altLang="en-US" sz="2000" b="1" dirty="0">
                    <a:solidFill>
                      <a:srgbClr val="070707"/>
                    </a:solidFill>
                  </a:rPr>
                  <a:t>状态</a:t>
                </a:r>
                <a:r>
                  <a:rPr kumimoji="1" lang="zh-CN" altLang="en-US" sz="2000" dirty="0">
                    <a:solidFill>
                      <a:srgbClr val="070707"/>
                    </a:solidFill>
                  </a:rPr>
                  <a:t>（</a:t>
                </a:r>
                <a:r>
                  <a:rPr kumimoji="1" lang="en-US" altLang="zh-CN" sz="2000" dirty="0">
                    <a:solidFill>
                      <a:srgbClr val="070707"/>
                    </a:solidFill>
                  </a:rPr>
                  <a:t>State</a:t>
                </a:r>
                <a:r>
                  <a:rPr kumimoji="1" lang="zh-CN" altLang="en-US" sz="2000" dirty="0">
                    <a:solidFill>
                      <a:srgbClr val="070707"/>
                    </a:solidFill>
                  </a:rPr>
                  <a:t>）和</a:t>
                </a:r>
                <a:r>
                  <a:rPr kumimoji="1" lang="zh-CN" altLang="en-US" sz="2000" b="1" dirty="0">
                    <a:solidFill>
                      <a:srgbClr val="070707"/>
                    </a:solidFill>
                  </a:rPr>
                  <a:t>观察</a:t>
                </a:r>
                <a:r>
                  <a:rPr kumimoji="1" lang="zh-CN" altLang="en-US" sz="2000" dirty="0">
                    <a:solidFill>
                      <a:srgbClr val="070707"/>
                    </a:solidFill>
                  </a:rPr>
                  <a:t>（</a:t>
                </a:r>
                <a:r>
                  <a:rPr kumimoji="1" lang="en-US" altLang="zh-CN" sz="2000" dirty="0">
                    <a:solidFill>
                      <a:srgbClr val="070707"/>
                    </a:solidFill>
                  </a:rPr>
                  <a:t>Observation</a:t>
                </a:r>
                <a:r>
                  <a:rPr kumimoji="1" lang="zh-CN" altLang="en-US" sz="2000" dirty="0">
                    <a:solidFill>
                      <a:srgbClr val="070707"/>
                    </a:solidFill>
                  </a:rPr>
                  <a:t>）进行简单的区分。</a:t>
                </a:r>
                <a:r>
                  <a:rPr kumimoji="1" lang="zh-CN" altLang="en-US" sz="2000" b="1" dirty="0">
                    <a:solidFill>
                      <a:srgbClr val="070707"/>
                    </a:solidFill>
                  </a:rPr>
                  <a:t>状态</a:t>
                </a:r>
                <a14:m>
                  <m:oMath xmlns:m="http://schemas.openxmlformats.org/officeDocument/2006/math">
                    <m:r>
                      <a:rPr kumimoji="1" lang="en-US" altLang="zh-CN" sz="2000" i="1">
                        <a:solidFill>
                          <a:srgbClr val="070707"/>
                        </a:solidFill>
                        <a:latin typeface="Cambria Math" panose="02040503050406030204" pitchFamily="18" charset="0"/>
                      </a:rPr>
                      <m:t>𝑆</m:t>
                    </m:r>
                  </m:oMath>
                </a14:m>
                <a:r>
                  <a:rPr kumimoji="1" lang="zh-CN" altLang="en-US" sz="2000" dirty="0">
                    <a:solidFill>
                      <a:srgbClr val="070707"/>
                    </a:solidFill>
                  </a:rPr>
                  <a:t>指的是当前</a:t>
                </a:r>
                <a:r>
                  <a:rPr kumimoji="1" lang="zh-CN" altLang="en-US" sz="2000" dirty="0">
                    <a:solidFill>
                      <a:srgbClr val="C00000"/>
                    </a:solidFill>
                  </a:rPr>
                  <a:t>环境的完整信息</a:t>
                </a:r>
                <a:r>
                  <a:rPr kumimoji="1" lang="zh-CN" altLang="en-US" sz="2000" dirty="0">
                    <a:solidFill>
                      <a:srgbClr val="070707"/>
                    </a:solidFill>
                  </a:rPr>
                  <a:t>。这些信息可能描述了系统或环境的真实情况。</a:t>
                </a:r>
                <a:r>
                  <a:rPr kumimoji="1" lang="zh-CN" altLang="en-US" sz="2000" b="1" dirty="0">
                    <a:solidFill>
                      <a:srgbClr val="070707"/>
                    </a:solidFill>
                  </a:rPr>
                  <a:t>观察</a:t>
                </a:r>
                <a14:m>
                  <m:oMath xmlns:m="http://schemas.openxmlformats.org/officeDocument/2006/math">
                    <m:r>
                      <a:rPr kumimoji="1" lang="en-US" altLang="zh-CN" sz="2000" b="0" i="1" smtClean="0">
                        <a:solidFill>
                          <a:srgbClr val="070707"/>
                        </a:solidFill>
                        <a:latin typeface="Cambria Math" panose="02040503050406030204" pitchFamily="18" charset="0"/>
                      </a:rPr>
                      <m:t>𝑂</m:t>
                    </m:r>
                  </m:oMath>
                </a14:m>
                <a:r>
                  <a:rPr kumimoji="1" lang="zh-CN" altLang="en-US" sz="2000" dirty="0">
                    <a:solidFill>
                      <a:srgbClr val="070707"/>
                    </a:solidFill>
                  </a:rPr>
                  <a:t>则是</a:t>
                </a:r>
                <a:r>
                  <a:rPr kumimoji="1" lang="zh-CN" altLang="en-US" sz="2000" dirty="0">
                    <a:solidFill>
                      <a:srgbClr val="C00000"/>
                    </a:solidFill>
                  </a:rPr>
                  <a:t>智能体可观察到的环境信息</a:t>
                </a:r>
                <a:r>
                  <a:rPr kumimoji="1" lang="zh-CN" altLang="en-US" sz="2000" dirty="0">
                    <a:solidFill>
                      <a:srgbClr val="070707"/>
                    </a:solidFill>
                  </a:rPr>
                  <a:t>，通常是状态的一个子集或近似值，受限于智能体的感知能力或观测设备。</a:t>
                </a:r>
                <a:endParaRPr kumimoji="1" lang="en-US" altLang="zh-CN" sz="2000" dirty="0">
                  <a:solidFill>
                    <a:srgbClr val="070707"/>
                  </a:solidFill>
                </a:endParaRPr>
              </a:p>
            </p:txBody>
          </p:sp>
        </mc:Choice>
        <mc:Fallback xmlns="">
          <p:sp>
            <p:nvSpPr>
              <p:cNvPr id="4" name="文本框 3">
                <a:extLst>
                  <a:ext uri="{FF2B5EF4-FFF2-40B4-BE49-F238E27FC236}">
                    <a16:creationId xmlns:a16="http://schemas.microsoft.com/office/drawing/2014/main" id="{F055D09D-10E3-5734-EE2D-117979181B76}"/>
                  </a:ext>
                </a:extLst>
              </p:cNvPr>
              <p:cNvSpPr txBox="1">
                <a:spLocks noRot="1" noChangeAspect="1" noMove="1" noResize="1" noEditPoints="1" noAdjustHandles="1" noChangeArrowheads="1" noChangeShapeType="1" noTextEdit="1"/>
              </p:cNvSpPr>
              <p:nvPr/>
            </p:nvSpPr>
            <p:spPr>
              <a:xfrm>
                <a:off x="515007" y="1198179"/>
                <a:ext cx="10670735" cy="1515800"/>
              </a:xfrm>
              <a:prstGeom prst="rect">
                <a:avLst/>
              </a:prstGeom>
              <a:blipFill>
                <a:blip r:embed="rId4"/>
                <a:stretch>
                  <a:fillRect l="-595" t="-4167" r="-595" b="-5000"/>
                </a:stretch>
              </a:blipFill>
            </p:spPr>
            <p:txBody>
              <a:bodyPr/>
              <a:lstStyle/>
              <a:p>
                <a:r>
                  <a:rPr lang="zh-CN" altLang="en-US">
                    <a:noFill/>
                  </a:rPr>
                  <a:t> </a:t>
                </a:r>
              </a:p>
            </p:txBody>
          </p:sp>
        </mc:Fallback>
      </mc:AlternateContent>
      <p:pic>
        <p:nvPicPr>
          <p:cNvPr id="4098" name="Picture 2" descr="Chess">
            <a:extLst>
              <a:ext uri="{FF2B5EF4-FFF2-40B4-BE49-F238E27FC236}">
                <a16:creationId xmlns:a16="http://schemas.microsoft.com/office/drawing/2014/main" id="{2964C1C4-80C9-F65B-3819-AF08A711FF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597" y="2917962"/>
            <a:ext cx="2460321" cy="245212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Mario">
            <a:extLst>
              <a:ext uri="{FF2B5EF4-FFF2-40B4-BE49-F238E27FC236}">
                <a16:creationId xmlns:a16="http://schemas.microsoft.com/office/drawing/2014/main" id="{9C307C66-145C-6B86-B3A9-90920689C9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55436" y="2917962"/>
            <a:ext cx="2615595" cy="245212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B957DA83-1778-EC26-B14A-438176B40699}"/>
              </a:ext>
            </a:extLst>
          </p:cNvPr>
          <p:cNvSpPr txBox="1"/>
          <p:nvPr/>
        </p:nvSpPr>
        <p:spPr>
          <a:xfrm>
            <a:off x="3162635" y="3048000"/>
            <a:ext cx="2773931" cy="2031325"/>
          </a:xfrm>
          <a:prstGeom prst="rect">
            <a:avLst/>
          </a:prstGeom>
          <a:noFill/>
        </p:spPr>
        <p:txBody>
          <a:bodyPr wrap="square" rtlCol="0">
            <a:spAutoFit/>
          </a:bodyPr>
          <a:lstStyle/>
          <a:p>
            <a:pPr algn="l"/>
            <a:r>
              <a:rPr lang="zh-CN" altLang="en-US" b="0" i="0" dirty="0">
                <a:solidFill>
                  <a:srgbClr val="070707"/>
                </a:solidFill>
                <a:effectLst/>
                <a:latin typeface="D-DINExp"/>
              </a:rPr>
              <a:t>在国际象棋游戏中，我们能够获取整个棋盘的完整信息，因此智能体观察到的环境信息和环境的状态是一致的</a:t>
            </a:r>
            <a:r>
              <a:rPr lang="zh-CN" altLang="en" b="0" i="0" dirty="0">
                <a:solidFill>
                  <a:srgbClr val="070707"/>
                </a:solidFill>
                <a:effectLst/>
                <a:latin typeface="D-DINExp"/>
              </a:rPr>
              <a:t>。</a:t>
            </a:r>
            <a:r>
              <a:rPr lang="zh-CN" altLang="en-US" b="0" i="0" dirty="0">
                <a:solidFill>
                  <a:srgbClr val="070707"/>
                </a:solidFill>
                <a:effectLst/>
                <a:latin typeface="D-DINExp"/>
              </a:rPr>
              <a:t>这样的环境是</a:t>
            </a:r>
            <a:r>
              <a:rPr lang="zh-CN" altLang="en-US" i="0" dirty="0">
                <a:solidFill>
                  <a:srgbClr val="C00000"/>
                </a:solidFill>
                <a:effectLst/>
                <a:latin typeface="D-DINExp"/>
              </a:rPr>
              <a:t>完全可观测的</a:t>
            </a:r>
            <a:r>
              <a:rPr lang="zh-CN" altLang="en-US" i="0" dirty="0">
                <a:solidFill>
                  <a:srgbClr val="070707"/>
                </a:solidFill>
                <a:effectLst/>
                <a:latin typeface="D-DINExp"/>
              </a:rPr>
              <a:t>（</a:t>
            </a:r>
            <a:r>
              <a:rPr lang="en" altLang="zh-CN" i="0" dirty="0">
                <a:solidFill>
                  <a:srgbClr val="070707"/>
                </a:solidFill>
                <a:effectLst/>
                <a:latin typeface="D-DINExp"/>
              </a:rPr>
              <a:t>Fully Observed</a:t>
            </a:r>
            <a:r>
              <a:rPr lang="zh-CN" altLang="en" i="0" dirty="0">
                <a:solidFill>
                  <a:srgbClr val="070707"/>
                </a:solidFill>
                <a:effectLst/>
                <a:latin typeface="D-DINExp"/>
              </a:rPr>
              <a:t>）</a:t>
            </a:r>
            <a:r>
              <a:rPr lang="zh-CN" altLang="en-US" i="0" dirty="0">
                <a:solidFill>
                  <a:srgbClr val="070707"/>
                </a:solidFill>
                <a:effectLst/>
                <a:latin typeface="D-DINExp"/>
              </a:rPr>
              <a:t>环境</a:t>
            </a:r>
            <a:r>
              <a:rPr lang="zh-CN" altLang="en" b="0" i="0" dirty="0">
                <a:solidFill>
                  <a:srgbClr val="070707"/>
                </a:solidFill>
                <a:effectLst/>
                <a:latin typeface="D-DINExp"/>
              </a:rPr>
              <a:t>。</a:t>
            </a:r>
            <a:endParaRPr kumimoji="1" lang="zh-CN" altLang="en-US" dirty="0">
              <a:solidFill>
                <a:srgbClr val="070707"/>
              </a:solidFill>
            </a:endParaRPr>
          </a:p>
        </p:txBody>
      </p:sp>
      <p:sp>
        <p:nvSpPr>
          <p:cNvPr id="7" name="文本框 6">
            <a:extLst>
              <a:ext uri="{FF2B5EF4-FFF2-40B4-BE49-F238E27FC236}">
                <a16:creationId xmlns:a16="http://schemas.microsoft.com/office/drawing/2014/main" id="{0EAF6D84-C1D8-8867-E156-B8196B9E9715}"/>
              </a:ext>
            </a:extLst>
          </p:cNvPr>
          <p:cNvSpPr txBox="1"/>
          <p:nvPr/>
        </p:nvSpPr>
        <p:spPr>
          <a:xfrm>
            <a:off x="8903062" y="3048000"/>
            <a:ext cx="2773931" cy="2031325"/>
          </a:xfrm>
          <a:prstGeom prst="rect">
            <a:avLst/>
          </a:prstGeom>
          <a:noFill/>
        </p:spPr>
        <p:txBody>
          <a:bodyPr wrap="square" rtlCol="0">
            <a:spAutoFit/>
          </a:bodyPr>
          <a:lstStyle/>
          <a:p>
            <a:r>
              <a:rPr lang="zh-CN" altLang="en-US" b="0" i="0" dirty="0">
                <a:solidFill>
                  <a:srgbClr val="070707"/>
                </a:solidFill>
                <a:effectLst/>
                <a:latin typeface="D-DINExp"/>
              </a:rPr>
              <a:t>在</a:t>
            </a:r>
            <a:r>
              <a:rPr lang="en-US" altLang="zh-CN" b="0" i="0" dirty="0">
                <a:solidFill>
                  <a:srgbClr val="070707"/>
                </a:solidFill>
                <a:effectLst/>
                <a:latin typeface="D-DINExp"/>
              </a:rPr>
              <a:t>《</a:t>
            </a:r>
            <a:r>
              <a:rPr lang="zh-CN" altLang="en-US" b="0" i="0" dirty="0">
                <a:solidFill>
                  <a:srgbClr val="070707"/>
                </a:solidFill>
                <a:effectLst/>
                <a:latin typeface="D-DINExp"/>
              </a:rPr>
              <a:t>超级马里奥</a:t>
            </a:r>
            <a:r>
              <a:rPr lang="en-US" altLang="zh-CN" b="0" i="0" dirty="0">
                <a:solidFill>
                  <a:srgbClr val="070707"/>
                </a:solidFill>
                <a:effectLst/>
                <a:latin typeface="D-DINExp"/>
              </a:rPr>
              <a:t>》</a:t>
            </a:r>
            <a:r>
              <a:rPr lang="zh-CN" altLang="en-US" b="0" i="0" dirty="0">
                <a:solidFill>
                  <a:srgbClr val="070707"/>
                </a:solidFill>
                <a:effectLst/>
                <a:latin typeface="D-DINExp"/>
              </a:rPr>
              <a:t>中，我们只能看到靠近玩家的部分关卡内容，因此智能体从环境中接收到的观察是不完整的。这样的环境是</a:t>
            </a:r>
            <a:r>
              <a:rPr lang="zh-CN" altLang="en-US" b="0" i="0" dirty="0">
                <a:solidFill>
                  <a:srgbClr val="C00000"/>
                </a:solidFill>
                <a:effectLst/>
                <a:latin typeface="D-DINExp"/>
              </a:rPr>
              <a:t>部分可观测</a:t>
            </a:r>
            <a:r>
              <a:rPr lang="zh-CN" altLang="en-US" b="0" i="0" dirty="0">
                <a:solidFill>
                  <a:srgbClr val="070707"/>
                </a:solidFill>
                <a:effectLst/>
                <a:latin typeface="D-DINExp"/>
              </a:rPr>
              <a:t>的（</a:t>
            </a:r>
            <a:r>
              <a:rPr lang="en-US" altLang="zh-CN" b="0" i="0" dirty="0">
                <a:solidFill>
                  <a:srgbClr val="070707"/>
                </a:solidFill>
                <a:effectLst/>
                <a:latin typeface="D-DINExp"/>
              </a:rPr>
              <a:t>P</a:t>
            </a:r>
            <a:r>
              <a:rPr lang="en" altLang="zh-CN" b="0" i="0" dirty="0" err="1">
                <a:solidFill>
                  <a:srgbClr val="070707"/>
                </a:solidFill>
                <a:effectLst/>
                <a:latin typeface="D-DINExp"/>
              </a:rPr>
              <a:t>artially</a:t>
            </a:r>
            <a:r>
              <a:rPr lang="en" altLang="zh-CN" b="0" i="0" dirty="0">
                <a:solidFill>
                  <a:srgbClr val="070707"/>
                </a:solidFill>
                <a:effectLst/>
                <a:latin typeface="D-DINExp"/>
              </a:rPr>
              <a:t> Observed</a:t>
            </a:r>
            <a:r>
              <a:rPr lang="zh-CN" altLang="en-US" b="0" i="0" dirty="0">
                <a:solidFill>
                  <a:srgbClr val="070707"/>
                </a:solidFill>
                <a:effectLst/>
                <a:latin typeface="D-DINExp"/>
              </a:rPr>
              <a:t>）环境。</a:t>
            </a:r>
            <a:endParaRPr kumimoji="1" lang="zh-CN" altLang="en-US" dirty="0">
              <a:solidFill>
                <a:srgbClr val="070707"/>
              </a:solidFill>
            </a:endParaRPr>
          </a:p>
        </p:txBody>
      </p:sp>
    </p:spTree>
    <p:extLst>
      <p:ext uri="{BB962C8B-B14F-4D97-AF65-F5344CB8AC3E}">
        <p14:creationId xmlns:p14="http://schemas.microsoft.com/office/powerpoint/2010/main" val="2908192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9C1E1-79B2-7C1E-47F2-80DA02E18A6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6CACBB6-ECAA-7B0C-9EB5-7781F8DD49E4}"/>
              </a:ext>
            </a:extLst>
          </p:cNvPr>
          <p:cNvSpPr>
            <a:spLocks noGrp="1"/>
          </p:cNvSpPr>
          <p:nvPr>
            <p:ph type="title"/>
          </p:nvPr>
        </p:nvSpPr>
        <p:spPr/>
        <p:txBody>
          <a:bodyPr/>
          <a:lstStyle/>
          <a:p>
            <a:r>
              <a:rPr lang="zh-CN" altLang="en-US" dirty="0"/>
              <a:t>强化学习的基本要素</a:t>
            </a:r>
          </a:p>
        </p:txBody>
      </p:sp>
      <p:sp>
        <p:nvSpPr>
          <p:cNvPr id="4" name="文本框 3">
            <a:extLst>
              <a:ext uri="{FF2B5EF4-FFF2-40B4-BE49-F238E27FC236}">
                <a16:creationId xmlns:a16="http://schemas.microsoft.com/office/drawing/2014/main" id="{2CF7ACAA-7D5A-015B-69C4-3FCB95D0A26C}"/>
              </a:ext>
            </a:extLst>
          </p:cNvPr>
          <p:cNvSpPr txBox="1"/>
          <p:nvPr/>
        </p:nvSpPr>
        <p:spPr>
          <a:xfrm>
            <a:off x="515007" y="1198179"/>
            <a:ext cx="10670735" cy="1208023"/>
          </a:xfrm>
          <a:prstGeom prst="rect">
            <a:avLst/>
          </a:prstGeom>
          <a:noFill/>
        </p:spPr>
        <p:txBody>
          <a:bodyPr wrap="square" rtlCol="0">
            <a:spAutoFit/>
          </a:bodyPr>
          <a:lstStyle/>
          <a:p>
            <a:pPr algn="l">
              <a:spcAft>
                <a:spcPts val="1500"/>
              </a:spcAft>
            </a:pPr>
            <a:r>
              <a:rPr kumimoji="1" lang="zh-CN" altLang="en-US" sz="2000" b="1" dirty="0">
                <a:solidFill>
                  <a:srgbClr val="070707"/>
                </a:solidFill>
              </a:rPr>
              <a:t>动作空间：</a:t>
            </a:r>
            <a:endParaRPr kumimoji="1" lang="en-US" altLang="zh-CN" sz="2000" b="1" dirty="0">
              <a:solidFill>
                <a:srgbClr val="070707"/>
              </a:solidFill>
            </a:endParaRPr>
          </a:p>
          <a:p>
            <a:pPr>
              <a:spcAft>
                <a:spcPts val="1500"/>
              </a:spcAft>
            </a:pPr>
            <a:r>
              <a:rPr lang="zh-CN" altLang="en-US" sz="2000" dirty="0">
                <a:solidFill>
                  <a:srgbClr val="070707"/>
                </a:solidFill>
              </a:rPr>
              <a:t>动作空间（</a:t>
            </a:r>
            <a:r>
              <a:rPr lang="en" altLang="zh-CN" sz="2000" dirty="0">
                <a:solidFill>
                  <a:srgbClr val="070707"/>
                </a:solidFill>
              </a:rPr>
              <a:t>Action Space</a:t>
            </a:r>
            <a:r>
              <a:rPr lang="zh-CN" altLang="en" sz="2000" dirty="0">
                <a:solidFill>
                  <a:srgbClr val="070707"/>
                </a:solidFill>
              </a:rPr>
              <a:t>）</a:t>
            </a:r>
            <a:r>
              <a:rPr lang="zh-CN" altLang="en-US" sz="2000" dirty="0">
                <a:solidFill>
                  <a:srgbClr val="070707"/>
                </a:solidFill>
              </a:rPr>
              <a:t>是指在给定环境中智能体</a:t>
            </a:r>
            <a:r>
              <a:rPr lang="zh-CN" altLang="en-US" sz="2000" b="1" dirty="0">
                <a:solidFill>
                  <a:srgbClr val="070707"/>
                </a:solidFill>
              </a:rPr>
              <a:t>所有可能动作的集合，</a:t>
            </a:r>
            <a:r>
              <a:rPr lang="zh-CN" altLang="en-US" sz="2000" dirty="0">
                <a:solidFill>
                  <a:srgbClr val="070707"/>
                </a:solidFill>
              </a:rPr>
              <a:t>有离散动作空间和连续动作空间两类。</a:t>
            </a:r>
            <a:endParaRPr kumimoji="1" lang="en-US" altLang="zh-CN" sz="2400" dirty="0">
              <a:solidFill>
                <a:srgbClr val="070707"/>
              </a:solidFill>
            </a:endParaRPr>
          </a:p>
        </p:txBody>
      </p:sp>
      <p:pic>
        <p:nvPicPr>
          <p:cNvPr id="4100" name="Picture 4" descr="Mario">
            <a:extLst>
              <a:ext uri="{FF2B5EF4-FFF2-40B4-BE49-F238E27FC236}">
                <a16:creationId xmlns:a16="http://schemas.microsoft.com/office/drawing/2014/main" id="{2B1E4BEF-7CD2-6D48-5DBC-DD8B747A5F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648" y="2813348"/>
            <a:ext cx="2276785" cy="2134486"/>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7A5FFD54-0763-501F-0D20-5350B35A66AA}"/>
              </a:ext>
            </a:extLst>
          </p:cNvPr>
          <p:cNvSpPr txBox="1"/>
          <p:nvPr/>
        </p:nvSpPr>
        <p:spPr>
          <a:xfrm>
            <a:off x="2933129" y="3141927"/>
            <a:ext cx="2615595" cy="1477328"/>
          </a:xfrm>
          <a:prstGeom prst="rect">
            <a:avLst/>
          </a:prstGeom>
          <a:noFill/>
        </p:spPr>
        <p:txBody>
          <a:bodyPr wrap="square" rtlCol="0">
            <a:spAutoFit/>
          </a:bodyPr>
          <a:lstStyle/>
          <a:p>
            <a:pPr algn="l"/>
            <a:r>
              <a:rPr lang="zh-CN" altLang="en-US" b="0" i="0" dirty="0">
                <a:solidFill>
                  <a:srgbClr val="070707"/>
                </a:solidFill>
                <a:effectLst/>
                <a:latin typeface="D-DINExp"/>
              </a:rPr>
              <a:t>国际象棋和</a:t>
            </a:r>
            <a:r>
              <a:rPr lang="en-US" altLang="zh-CN" b="0" i="0" dirty="0">
                <a:solidFill>
                  <a:srgbClr val="070707"/>
                </a:solidFill>
                <a:effectLst/>
                <a:latin typeface="D-DINExp"/>
              </a:rPr>
              <a:t>《</a:t>
            </a:r>
            <a:r>
              <a:rPr lang="zh-CN" altLang="en-US" b="0" i="0" dirty="0">
                <a:solidFill>
                  <a:srgbClr val="070707"/>
                </a:solidFill>
                <a:effectLst/>
                <a:latin typeface="D-DINExp"/>
              </a:rPr>
              <a:t>超级马里奥</a:t>
            </a:r>
            <a:r>
              <a:rPr lang="en-US" altLang="zh-CN" b="0" i="0" dirty="0">
                <a:solidFill>
                  <a:srgbClr val="070707"/>
                </a:solidFill>
                <a:effectLst/>
                <a:latin typeface="D-DINExp"/>
              </a:rPr>
              <a:t>》</a:t>
            </a:r>
            <a:r>
              <a:rPr lang="zh-CN" altLang="en-US" b="0" i="0" dirty="0">
                <a:solidFill>
                  <a:srgbClr val="070707"/>
                </a:solidFill>
                <a:effectLst/>
                <a:latin typeface="D-DINExp"/>
              </a:rPr>
              <a:t>游戏的动作空间都是离散的。在这类环境中，智能体可行的动作是有限的。</a:t>
            </a:r>
            <a:endParaRPr kumimoji="1" lang="zh-CN" altLang="en-US" dirty="0">
              <a:solidFill>
                <a:srgbClr val="070707"/>
              </a:solidFill>
            </a:endParaRPr>
          </a:p>
        </p:txBody>
      </p:sp>
      <p:pic>
        <p:nvPicPr>
          <p:cNvPr id="5122" name="Picture 2" descr="Self Driving Car">
            <a:extLst>
              <a:ext uri="{FF2B5EF4-FFF2-40B4-BE49-F238E27FC236}">
                <a16:creationId xmlns:a16="http://schemas.microsoft.com/office/drawing/2014/main" id="{E3772358-EB27-4E71-C6A3-4FC88A75DE1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19750"/>
          <a:stretch/>
        </p:blipFill>
        <p:spPr bwMode="auto">
          <a:xfrm>
            <a:off x="5548724" y="2813348"/>
            <a:ext cx="2985740" cy="2134486"/>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48262B36-BB01-EDC9-89C8-827CBB3782B7}"/>
              </a:ext>
            </a:extLst>
          </p:cNvPr>
          <p:cNvSpPr txBox="1"/>
          <p:nvPr/>
        </p:nvSpPr>
        <p:spPr>
          <a:xfrm>
            <a:off x="8703097" y="3251470"/>
            <a:ext cx="2615595" cy="1200329"/>
          </a:xfrm>
          <a:prstGeom prst="rect">
            <a:avLst/>
          </a:prstGeom>
          <a:noFill/>
        </p:spPr>
        <p:txBody>
          <a:bodyPr wrap="square" rtlCol="0">
            <a:spAutoFit/>
          </a:bodyPr>
          <a:lstStyle/>
          <a:p>
            <a:pPr algn="l"/>
            <a:r>
              <a:rPr lang="zh-CN" altLang="en-US" b="0" i="0" dirty="0">
                <a:solidFill>
                  <a:srgbClr val="070707"/>
                </a:solidFill>
                <a:effectLst/>
                <a:latin typeface="D-DINExp"/>
              </a:rPr>
              <a:t>自动驾驶任务的动作空间是连续的。在这类环境中智能体可行的动作是无限的。</a:t>
            </a:r>
            <a:endParaRPr kumimoji="1" lang="zh-CN" altLang="en-US" dirty="0">
              <a:solidFill>
                <a:srgbClr val="070707"/>
              </a:solidFill>
            </a:endParaRPr>
          </a:p>
        </p:txBody>
      </p:sp>
    </p:spTree>
    <p:extLst>
      <p:ext uri="{BB962C8B-B14F-4D97-AF65-F5344CB8AC3E}">
        <p14:creationId xmlns:p14="http://schemas.microsoft.com/office/powerpoint/2010/main" val="593601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3E968-162E-71AA-9DD7-9457A68C588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81525B5-7961-EA3C-A6E2-0D5315005F3E}"/>
              </a:ext>
            </a:extLst>
          </p:cNvPr>
          <p:cNvSpPr>
            <a:spLocks noGrp="1"/>
          </p:cNvSpPr>
          <p:nvPr>
            <p:ph type="title"/>
          </p:nvPr>
        </p:nvSpPr>
        <p:spPr/>
        <p:txBody>
          <a:bodyPr/>
          <a:lstStyle/>
          <a:p>
            <a:r>
              <a:rPr lang="zh-CN" altLang="en-US" dirty="0"/>
              <a:t>强化学习的基本要素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A666787-59C0-48BC-8F6C-370C2869E3FA}"/>
                  </a:ext>
                </a:extLst>
              </p:cNvPr>
              <p:cNvSpPr txBox="1"/>
              <p:nvPr/>
            </p:nvSpPr>
            <p:spPr>
              <a:xfrm>
                <a:off x="515007" y="1198179"/>
                <a:ext cx="10670735" cy="3278654"/>
              </a:xfrm>
              <a:prstGeom prst="rect">
                <a:avLst/>
              </a:prstGeom>
              <a:noFill/>
            </p:spPr>
            <p:txBody>
              <a:bodyPr wrap="square" rtlCol="0">
                <a:spAutoFit/>
              </a:bodyPr>
              <a:lstStyle/>
              <a:p>
                <a:pPr algn="l">
                  <a:spcAft>
                    <a:spcPts val="1500"/>
                  </a:spcAft>
                </a:pPr>
                <a:r>
                  <a:rPr kumimoji="1" lang="zh-CN" altLang="en-US" sz="2000" b="1" dirty="0">
                    <a:solidFill>
                      <a:srgbClr val="070707"/>
                    </a:solidFill>
                  </a:rPr>
                  <a:t>奖励和期望回报：</a:t>
                </a:r>
                <a:endParaRPr kumimoji="1" lang="en-US" altLang="zh-CN" sz="2000" b="1" dirty="0">
                  <a:solidFill>
                    <a:srgbClr val="070707"/>
                  </a:solidFill>
                </a:endParaRPr>
              </a:p>
              <a:p>
                <a:pPr>
                  <a:spcAft>
                    <a:spcPts val="750"/>
                  </a:spcAft>
                </a:pPr>
                <a:r>
                  <a:rPr lang="zh-CN" altLang="en-US" sz="2000" b="0" i="0" dirty="0">
                    <a:solidFill>
                      <a:srgbClr val="070707"/>
                    </a:solidFill>
                    <a:effectLst/>
                    <a:latin typeface="D-DINExp"/>
                  </a:rPr>
                  <a:t>奖励在强化学习中至关重要，因为它能够给出评估智能体行为优劣的信号。通过奖励，智能体能够知道所采取的动作是否合适，进而使智能体明确任务目标</a:t>
                </a:r>
                <a:r>
                  <a:rPr lang="zh-CN" altLang="en-US" sz="2000" dirty="0">
                    <a:solidFill>
                      <a:srgbClr val="070707"/>
                    </a:solidFill>
                  </a:rPr>
                  <a:t>。</a:t>
                </a:r>
                <a:endParaRPr lang="en-US" altLang="zh-CN" sz="2000" dirty="0">
                  <a:solidFill>
                    <a:srgbClr val="070707"/>
                  </a:solidFill>
                </a:endParaRPr>
              </a:p>
              <a:p>
                <a:pPr>
                  <a:spcAft>
                    <a:spcPts val="750"/>
                  </a:spcAft>
                </a:pPr>
                <a:r>
                  <a:rPr lang="zh-CN" altLang="en-US" sz="2000" dirty="0">
                    <a:solidFill>
                      <a:srgbClr val="070707"/>
                    </a:solidFill>
                  </a:rPr>
                  <a:t>为了最优化智能体的的行为表现，</a:t>
                </a:r>
                <a:r>
                  <a:rPr lang="zh-CN" altLang="en-US" sz="2000" b="1" dirty="0"/>
                  <a:t>强化学习的目标就是最大化期望累积奖励</a:t>
                </a:r>
                <a:r>
                  <a:rPr lang="zh-CN" altLang="en-US" sz="2000" dirty="0">
                    <a:solidFill>
                      <a:srgbClr val="070707"/>
                    </a:solidFill>
                  </a:rPr>
                  <a:t>（</a:t>
                </a:r>
                <a:r>
                  <a:rPr lang="en-US" altLang="zh-CN" sz="2000" dirty="0">
                    <a:solidFill>
                      <a:srgbClr val="070707"/>
                    </a:solidFill>
                  </a:rPr>
                  <a:t>Cumulative</a:t>
                </a:r>
                <a:r>
                  <a:rPr lang="zh-CN" altLang="en-US" sz="2000" dirty="0">
                    <a:solidFill>
                      <a:srgbClr val="070707"/>
                    </a:solidFill>
                  </a:rPr>
                  <a:t> </a:t>
                </a:r>
                <a:r>
                  <a:rPr lang="en-US" altLang="zh-CN" sz="2000" dirty="0">
                    <a:solidFill>
                      <a:srgbClr val="070707"/>
                    </a:solidFill>
                  </a:rPr>
                  <a:t>Reward</a:t>
                </a:r>
                <a:r>
                  <a:rPr lang="zh-CN" altLang="en-US" sz="2000" dirty="0">
                    <a:solidFill>
                      <a:srgbClr val="070707"/>
                    </a:solidFill>
                  </a:rPr>
                  <a:t>）。直观上，</a:t>
                </a:r>
                <a14:m>
                  <m:oMath xmlns:m="http://schemas.openxmlformats.org/officeDocument/2006/math">
                    <m:r>
                      <a:rPr lang="en-US" altLang="zh-CN" sz="2000" b="0" i="1" smtClean="0">
                        <a:solidFill>
                          <a:srgbClr val="070707"/>
                        </a:solidFill>
                        <a:latin typeface="Cambria Math" panose="02040503050406030204" pitchFamily="18" charset="0"/>
                      </a:rPr>
                      <m:t>𝑡</m:t>
                    </m:r>
                  </m:oMath>
                </a14:m>
                <a:r>
                  <a:rPr kumimoji="1" lang="zh-CN" altLang="en-US" sz="2000" dirty="0">
                    <a:solidFill>
                      <a:srgbClr val="070707"/>
                    </a:solidFill>
                  </a:rPr>
                  <a:t>时刻的累积奖励应该定义为从</a:t>
                </a:r>
                <a14:m>
                  <m:oMath xmlns:m="http://schemas.openxmlformats.org/officeDocument/2006/math">
                    <m:r>
                      <a:rPr lang="en-US" altLang="zh-CN" sz="2000" i="1">
                        <a:solidFill>
                          <a:srgbClr val="070707"/>
                        </a:solidFill>
                        <a:latin typeface="Cambria Math" panose="02040503050406030204" pitchFamily="18" charset="0"/>
                      </a:rPr>
                      <m:t>𝑡</m:t>
                    </m:r>
                  </m:oMath>
                </a14:m>
                <a:r>
                  <a:rPr kumimoji="1" lang="zh-CN" altLang="en-US" sz="2000" dirty="0">
                    <a:solidFill>
                      <a:srgbClr val="070707"/>
                    </a:solidFill>
                  </a:rPr>
                  <a:t>开始到未来的奖励总和。</a:t>
                </a:r>
                <a:endParaRPr kumimoji="1" lang="en-US" altLang="zh-CN" sz="2400" dirty="0">
                  <a:solidFill>
                    <a:srgbClr val="070707"/>
                  </a:solidFill>
                </a:endParaRPr>
              </a:p>
              <a:p>
                <a:pPr algn="ctr">
                  <a:spcAft>
                    <a:spcPts val="750"/>
                  </a:spcAft>
                </a:pPr>
                <a14:m>
                  <m:oMathPara xmlns:m="http://schemas.openxmlformats.org/officeDocument/2006/math">
                    <m:oMathParaPr>
                      <m:jc m:val="centerGroup"/>
                    </m:oMathParaPr>
                    <m:oMath xmlns:m="http://schemas.openxmlformats.org/officeDocument/2006/math">
                      <m:r>
                        <a:rPr kumimoji="1" lang="en-US" altLang="zh-CN" sz="2000" b="0" i="1" smtClean="0">
                          <a:solidFill>
                            <a:srgbClr val="070707"/>
                          </a:solidFill>
                          <a:latin typeface="Cambria Math" panose="02040503050406030204" pitchFamily="18" charset="0"/>
                        </a:rPr>
                        <m:t>𝑅</m:t>
                      </m:r>
                      <m:d>
                        <m:dPr>
                          <m:ctrlPr>
                            <a:rPr kumimoji="1" lang="en-US" altLang="zh-CN" sz="2000" b="0" i="1" smtClean="0">
                              <a:solidFill>
                                <a:srgbClr val="070707"/>
                              </a:solidFill>
                              <a:latin typeface="Cambria Math" panose="02040503050406030204" pitchFamily="18" charset="0"/>
                            </a:rPr>
                          </m:ctrlPr>
                        </m:dPr>
                        <m:e>
                          <m:r>
                            <a:rPr kumimoji="1" lang="en-US" altLang="zh-CN" sz="2000" b="0" i="1" smtClean="0">
                              <a:solidFill>
                                <a:srgbClr val="070707"/>
                              </a:solidFill>
                              <a:latin typeface="Cambria Math" panose="02040503050406030204" pitchFamily="18" charset="0"/>
                            </a:rPr>
                            <m:t>𝑡</m:t>
                          </m:r>
                        </m:e>
                      </m:d>
                      <m:r>
                        <a:rPr kumimoji="1" lang="en-US" altLang="zh-CN" sz="2000" b="0" i="1" smtClean="0">
                          <a:solidFill>
                            <a:srgbClr val="070707"/>
                          </a:solidFill>
                          <a:latin typeface="Cambria Math" panose="02040503050406030204" pitchFamily="18" charset="0"/>
                        </a:rPr>
                        <m:t>=</m:t>
                      </m:r>
                      <m:nary>
                        <m:naryPr>
                          <m:chr m:val="∑"/>
                          <m:ctrlPr>
                            <a:rPr kumimoji="1" lang="en-US" altLang="zh-CN" sz="2000" b="0" i="1" smtClean="0">
                              <a:solidFill>
                                <a:srgbClr val="070707"/>
                              </a:solidFill>
                              <a:latin typeface="Cambria Math" panose="02040503050406030204" pitchFamily="18" charset="0"/>
                            </a:rPr>
                          </m:ctrlPr>
                        </m:naryPr>
                        <m:sub>
                          <m:r>
                            <m:rPr>
                              <m:brk m:alnAt="23"/>
                            </m:rPr>
                            <a:rPr kumimoji="1" lang="en-US" altLang="zh-CN" sz="2000" b="0" i="1" smtClean="0">
                              <a:solidFill>
                                <a:srgbClr val="070707"/>
                              </a:solidFill>
                              <a:latin typeface="Cambria Math" panose="02040503050406030204" pitchFamily="18" charset="0"/>
                            </a:rPr>
                            <m:t>𝑘</m:t>
                          </m:r>
                          <m:r>
                            <a:rPr kumimoji="1" lang="en-US" altLang="zh-CN" sz="2000" b="0" i="1" smtClean="0">
                              <a:solidFill>
                                <a:srgbClr val="070707"/>
                              </a:solidFill>
                              <a:latin typeface="Cambria Math" panose="02040503050406030204" pitchFamily="18" charset="0"/>
                            </a:rPr>
                            <m:t>=0</m:t>
                          </m:r>
                        </m:sub>
                        <m:sup>
                          <m:r>
                            <a:rPr kumimoji="1" lang="en-US" altLang="zh-CN" sz="2000" b="0" i="1" smtClean="0">
                              <a:solidFill>
                                <a:srgbClr val="070707"/>
                              </a:solidFill>
                              <a:latin typeface="Cambria Math" panose="02040503050406030204" pitchFamily="18" charset="0"/>
                              <a:ea typeface="Cambria Math" panose="02040503050406030204" pitchFamily="18" charset="0"/>
                            </a:rPr>
                            <m:t>∞</m:t>
                          </m:r>
                        </m:sup>
                        <m:e>
                          <m:sSub>
                            <m:sSubPr>
                              <m:ctrlPr>
                                <a:rPr kumimoji="1" lang="en-US" altLang="zh-CN" sz="2000" b="0" i="1" smtClean="0">
                                  <a:solidFill>
                                    <a:srgbClr val="070707"/>
                                  </a:solidFill>
                                  <a:latin typeface="Cambria Math" panose="02040503050406030204" pitchFamily="18" charset="0"/>
                                </a:rPr>
                              </m:ctrlPr>
                            </m:sSubPr>
                            <m:e>
                              <m:r>
                                <a:rPr kumimoji="1" lang="en-US" altLang="zh-CN" sz="2000" b="0" i="1" smtClean="0">
                                  <a:solidFill>
                                    <a:srgbClr val="070707"/>
                                  </a:solidFill>
                                  <a:latin typeface="Cambria Math" panose="02040503050406030204" pitchFamily="18" charset="0"/>
                                </a:rPr>
                                <m:t>𝑟</m:t>
                              </m:r>
                            </m:e>
                            <m:sub>
                              <m:r>
                                <a:rPr kumimoji="1" lang="en-US" altLang="zh-CN" sz="2000" b="0" i="1" smtClean="0">
                                  <a:solidFill>
                                    <a:srgbClr val="070707"/>
                                  </a:solidFill>
                                  <a:latin typeface="Cambria Math" panose="02040503050406030204" pitchFamily="18" charset="0"/>
                                </a:rPr>
                                <m:t>𝑡</m:t>
                              </m:r>
                              <m:r>
                                <a:rPr kumimoji="1" lang="en-US" altLang="zh-CN" sz="2000" b="0" i="1" smtClean="0">
                                  <a:solidFill>
                                    <a:srgbClr val="070707"/>
                                  </a:solidFill>
                                  <a:latin typeface="Cambria Math" panose="02040503050406030204" pitchFamily="18" charset="0"/>
                                </a:rPr>
                                <m:t>+</m:t>
                              </m:r>
                              <m:r>
                                <a:rPr kumimoji="1" lang="en-US" altLang="zh-CN" sz="2000" b="0" i="1" smtClean="0">
                                  <a:solidFill>
                                    <a:srgbClr val="070707"/>
                                  </a:solidFill>
                                  <a:latin typeface="Cambria Math" panose="02040503050406030204" pitchFamily="18" charset="0"/>
                                </a:rPr>
                                <m:t>𝑘</m:t>
                              </m:r>
                              <m:r>
                                <a:rPr kumimoji="1" lang="en-US" altLang="zh-CN" sz="2000" b="0" i="1" smtClean="0">
                                  <a:solidFill>
                                    <a:srgbClr val="070707"/>
                                  </a:solidFill>
                                  <a:latin typeface="Cambria Math" panose="02040503050406030204" pitchFamily="18" charset="0"/>
                                </a:rPr>
                                <m:t>+1</m:t>
                              </m:r>
                            </m:sub>
                          </m:sSub>
                        </m:e>
                      </m:nary>
                    </m:oMath>
                  </m:oMathPara>
                </a14:m>
                <a:endParaRPr kumimoji="1" lang="en-US" altLang="zh-CN" sz="2000" dirty="0">
                  <a:solidFill>
                    <a:srgbClr val="070707"/>
                  </a:solidFill>
                </a:endParaRPr>
              </a:p>
              <a:p>
                <a:pPr>
                  <a:spcAft>
                    <a:spcPts val="750"/>
                  </a:spcAft>
                </a:pPr>
                <a:endParaRPr kumimoji="1" lang="en-US" altLang="zh-CN" sz="2000" dirty="0">
                  <a:solidFill>
                    <a:srgbClr val="070707"/>
                  </a:solidFill>
                  <a:latin typeface="+mn-ea"/>
                </a:endParaRPr>
              </a:p>
            </p:txBody>
          </p:sp>
        </mc:Choice>
        <mc:Fallback xmlns="">
          <p:sp>
            <p:nvSpPr>
              <p:cNvPr id="4" name="文本框 3">
                <a:extLst>
                  <a:ext uri="{FF2B5EF4-FFF2-40B4-BE49-F238E27FC236}">
                    <a16:creationId xmlns:a16="http://schemas.microsoft.com/office/drawing/2014/main" id="{CA666787-59C0-48BC-8F6C-370C2869E3FA}"/>
                  </a:ext>
                </a:extLst>
              </p:cNvPr>
              <p:cNvSpPr txBox="1">
                <a:spLocks noRot="1" noChangeAspect="1" noMove="1" noResize="1" noEditPoints="1" noAdjustHandles="1" noChangeArrowheads="1" noChangeShapeType="1" noTextEdit="1"/>
              </p:cNvSpPr>
              <p:nvPr/>
            </p:nvSpPr>
            <p:spPr>
              <a:xfrm>
                <a:off x="515007" y="1198179"/>
                <a:ext cx="10670735" cy="3278654"/>
              </a:xfrm>
              <a:prstGeom prst="rect">
                <a:avLst/>
              </a:prstGeom>
              <a:blipFill>
                <a:blip r:embed="rId4"/>
                <a:stretch>
                  <a:fillRect l="-595" t="-1931" b="-320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49726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C9A05-87D1-B83B-A7B5-209E607E03C8}"/>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F4032D0B-37C1-7558-733E-F3A668812D2B}"/>
              </a:ext>
            </a:extLst>
          </p:cNvPr>
          <p:cNvSpPr>
            <a:spLocks noGrp="1"/>
          </p:cNvSpPr>
          <p:nvPr>
            <p:ph type="title"/>
          </p:nvPr>
        </p:nvSpPr>
        <p:spPr/>
        <p:txBody>
          <a:bodyPr/>
          <a:lstStyle/>
          <a:p>
            <a:r>
              <a:rPr lang="zh-CN" altLang="en-US" dirty="0"/>
              <a:t>强化学习的基本要素</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1B58755-5E37-AA10-60E5-3C6EC0B7DD9F}"/>
                  </a:ext>
                </a:extLst>
              </p:cNvPr>
              <p:cNvSpPr txBox="1"/>
              <p:nvPr/>
            </p:nvSpPr>
            <p:spPr>
              <a:xfrm>
                <a:off x="515007" y="1198179"/>
                <a:ext cx="10670735" cy="3381247"/>
              </a:xfrm>
              <a:prstGeom prst="rect">
                <a:avLst/>
              </a:prstGeom>
              <a:noFill/>
            </p:spPr>
            <p:txBody>
              <a:bodyPr wrap="square" rtlCol="0">
                <a:spAutoFit/>
              </a:bodyPr>
              <a:lstStyle/>
              <a:p>
                <a:pPr algn="l">
                  <a:spcAft>
                    <a:spcPts val="1500"/>
                  </a:spcAft>
                </a:pPr>
                <a:r>
                  <a:rPr kumimoji="1" lang="zh-CN" altLang="en-US" sz="2000" b="1" dirty="0">
                    <a:solidFill>
                      <a:srgbClr val="070707"/>
                    </a:solidFill>
                  </a:rPr>
                  <a:t>奖励和期望回报：</a:t>
                </a:r>
                <a:endParaRPr kumimoji="1" lang="en-US" altLang="zh-CN" sz="2000" b="1" dirty="0">
                  <a:solidFill>
                    <a:srgbClr val="070707"/>
                  </a:solidFill>
                </a:endParaRPr>
              </a:p>
              <a:p>
                <a:pPr>
                  <a:spcAft>
                    <a:spcPts val="750"/>
                  </a:spcAft>
                </a:pPr>
                <a:r>
                  <a:rPr lang="zh-CN" altLang="en-US" sz="2000" b="0" i="0" dirty="0">
                    <a:solidFill>
                      <a:srgbClr val="070707"/>
                    </a:solidFill>
                    <a:effectLst/>
                    <a:latin typeface="D-DINExp"/>
                  </a:rPr>
                  <a:t>实际上，我们</a:t>
                </a:r>
                <a:r>
                  <a:rPr lang="zh-CN" altLang="en-US" sz="2000" b="1" i="0" dirty="0">
                    <a:solidFill>
                      <a:srgbClr val="070707"/>
                    </a:solidFill>
                    <a:effectLst/>
                    <a:latin typeface="D-DINExp"/>
                  </a:rPr>
                  <a:t>不应该这样简单地将</a:t>
                </a:r>
                <a:r>
                  <a:rPr lang="zh-CN" altLang="en-US" sz="2000" b="1" dirty="0">
                    <a:solidFill>
                      <a:srgbClr val="070707"/>
                    </a:solidFill>
                    <a:latin typeface="D-DINExp"/>
                  </a:rPr>
                  <a:t>未来的奖励</a:t>
                </a:r>
                <a:r>
                  <a:rPr lang="zh-CN" altLang="en-US" sz="2000" b="1" i="0" dirty="0">
                    <a:solidFill>
                      <a:srgbClr val="070707"/>
                    </a:solidFill>
                    <a:effectLst/>
                    <a:latin typeface="D-DINExp"/>
                  </a:rPr>
                  <a:t>相加</a:t>
                </a:r>
                <a:r>
                  <a:rPr lang="zh-CN" altLang="en-US" sz="2000" b="0" i="0" dirty="0">
                    <a:solidFill>
                      <a:srgbClr val="070707"/>
                    </a:solidFill>
                    <a:effectLst/>
                    <a:latin typeface="D-DINExp"/>
                  </a:rPr>
                  <a:t>。相比很久以后的奖励，</a:t>
                </a:r>
                <a:r>
                  <a:rPr lang="zh-CN" altLang="en-US" sz="2000" b="1" i="0" dirty="0">
                    <a:solidFill>
                      <a:srgbClr val="070707"/>
                    </a:solidFill>
                    <a:effectLst/>
                    <a:latin typeface="D-DINExp"/>
                  </a:rPr>
                  <a:t>短期的奖励</a:t>
                </a:r>
                <a:r>
                  <a:rPr lang="zh-CN" altLang="en-US" sz="2000" b="0" i="0" dirty="0">
                    <a:solidFill>
                      <a:srgbClr val="070707"/>
                    </a:solidFill>
                    <a:effectLst/>
                    <a:latin typeface="D-DINExp"/>
                  </a:rPr>
                  <a:t>更加可预测和容易实现，因此我们需要添加</a:t>
                </a:r>
                <a:r>
                  <a:rPr lang="zh-CN" altLang="en-US" sz="2000" b="1" i="0" dirty="0">
                    <a:effectLst/>
                    <a:latin typeface="D-DINExp"/>
                  </a:rPr>
                  <a:t>权重</a:t>
                </a:r>
                <a:r>
                  <a:rPr lang="zh-CN" altLang="en-US" sz="2000" b="0" i="0" dirty="0">
                    <a:solidFill>
                      <a:srgbClr val="070707"/>
                    </a:solidFill>
                    <a:effectLst/>
                    <a:latin typeface="D-DINExp"/>
                  </a:rPr>
                  <a:t>（</a:t>
                </a:r>
                <a:r>
                  <a:rPr lang="en-US" altLang="zh-CN" sz="2000" b="0" i="0" dirty="0">
                    <a:solidFill>
                      <a:srgbClr val="070707"/>
                    </a:solidFill>
                    <a:effectLst/>
                  </a:rPr>
                  <a:t>Discount</a:t>
                </a:r>
                <a:r>
                  <a:rPr lang="zh-CN" altLang="en-US" sz="2000" b="0" i="0" dirty="0">
                    <a:solidFill>
                      <a:srgbClr val="070707"/>
                    </a:solidFill>
                    <a:effectLst/>
                    <a:latin typeface="D-DINExp"/>
                  </a:rPr>
                  <a:t>）以区分。</a:t>
                </a:r>
                <a:endParaRPr lang="en-US" altLang="zh-CN" sz="2000" b="0" i="0" dirty="0">
                  <a:solidFill>
                    <a:srgbClr val="070707"/>
                  </a:solidFill>
                  <a:effectLst/>
                  <a:latin typeface="D-DINExp"/>
                </a:endParaRPr>
              </a:p>
              <a:p>
                <a:pPr algn="ctr">
                  <a:spcAft>
                    <a:spcPts val="750"/>
                  </a:spcAft>
                </a:pPr>
                <a14:m>
                  <m:oMathPara xmlns:m="http://schemas.openxmlformats.org/officeDocument/2006/math">
                    <m:oMathParaPr>
                      <m:jc m:val="centerGroup"/>
                    </m:oMathParaPr>
                    <m:oMath xmlns:m="http://schemas.openxmlformats.org/officeDocument/2006/math">
                      <m:r>
                        <a:rPr kumimoji="1" lang="en-US" altLang="zh-CN" sz="2000" b="0" i="1" smtClean="0">
                          <a:solidFill>
                            <a:srgbClr val="070707"/>
                          </a:solidFill>
                          <a:latin typeface="Cambria Math" panose="02040503050406030204" pitchFamily="18" charset="0"/>
                        </a:rPr>
                        <m:t>𝑅</m:t>
                      </m:r>
                      <m:d>
                        <m:dPr>
                          <m:ctrlPr>
                            <a:rPr kumimoji="1" lang="en-US" altLang="zh-CN" sz="2000" b="0" i="1" smtClean="0">
                              <a:solidFill>
                                <a:srgbClr val="070707"/>
                              </a:solidFill>
                              <a:latin typeface="Cambria Math" panose="02040503050406030204" pitchFamily="18" charset="0"/>
                            </a:rPr>
                          </m:ctrlPr>
                        </m:dPr>
                        <m:e>
                          <m:r>
                            <a:rPr kumimoji="1" lang="en-US" altLang="zh-CN" sz="2000" b="0" i="1" smtClean="0">
                              <a:solidFill>
                                <a:srgbClr val="070707"/>
                              </a:solidFill>
                              <a:latin typeface="Cambria Math" panose="02040503050406030204" pitchFamily="18" charset="0"/>
                            </a:rPr>
                            <m:t>𝑡</m:t>
                          </m:r>
                        </m:e>
                      </m:d>
                      <m:r>
                        <a:rPr kumimoji="1" lang="en-US" altLang="zh-CN" sz="2000" b="0" i="1" smtClean="0">
                          <a:solidFill>
                            <a:srgbClr val="070707"/>
                          </a:solidFill>
                          <a:latin typeface="Cambria Math" panose="02040503050406030204" pitchFamily="18" charset="0"/>
                        </a:rPr>
                        <m:t>=</m:t>
                      </m:r>
                      <m:nary>
                        <m:naryPr>
                          <m:chr m:val="∑"/>
                          <m:ctrlPr>
                            <a:rPr kumimoji="1" lang="en-US" altLang="zh-CN" sz="2000" b="0" i="1" smtClean="0">
                              <a:solidFill>
                                <a:srgbClr val="070707"/>
                              </a:solidFill>
                              <a:latin typeface="Cambria Math" panose="02040503050406030204" pitchFamily="18" charset="0"/>
                            </a:rPr>
                          </m:ctrlPr>
                        </m:naryPr>
                        <m:sub>
                          <m:r>
                            <m:rPr>
                              <m:brk m:alnAt="23"/>
                            </m:rPr>
                            <a:rPr kumimoji="1" lang="en-US" altLang="zh-CN" sz="2000" b="0" i="1" smtClean="0">
                              <a:solidFill>
                                <a:srgbClr val="070707"/>
                              </a:solidFill>
                              <a:latin typeface="Cambria Math" panose="02040503050406030204" pitchFamily="18" charset="0"/>
                            </a:rPr>
                            <m:t>𝑘</m:t>
                          </m:r>
                          <m:r>
                            <a:rPr kumimoji="1" lang="en-US" altLang="zh-CN" sz="2000" b="0" i="1" smtClean="0">
                              <a:solidFill>
                                <a:srgbClr val="070707"/>
                              </a:solidFill>
                              <a:latin typeface="Cambria Math" panose="02040503050406030204" pitchFamily="18" charset="0"/>
                            </a:rPr>
                            <m:t>=0</m:t>
                          </m:r>
                        </m:sub>
                        <m:sup>
                          <m:r>
                            <a:rPr kumimoji="1" lang="en-US" altLang="zh-CN" sz="2000" b="0" i="1" smtClean="0">
                              <a:solidFill>
                                <a:srgbClr val="070707"/>
                              </a:solidFill>
                              <a:latin typeface="Cambria Math" panose="02040503050406030204" pitchFamily="18" charset="0"/>
                              <a:ea typeface="Cambria Math" panose="02040503050406030204" pitchFamily="18" charset="0"/>
                            </a:rPr>
                            <m:t>∞</m:t>
                          </m:r>
                        </m:sup>
                        <m:e>
                          <m:sSup>
                            <m:sSupPr>
                              <m:ctrlPr>
                                <a:rPr kumimoji="1" lang="en-US" altLang="zh-CN" sz="2000" b="0" i="1" smtClean="0">
                                  <a:solidFill>
                                    <a:srgbClr val="070707"/>
                                  </a:solidFill>
                                  <a:latin typeface="Cambria Math" panose="02040503050406030204" pitchFamily="18" charset="0"/>
                                  <a:ea typeface="Cambria Math" panose="02040503050406030204" pitchFamily="18" charset="0"/>
                                </a:rPr>
                              </m:ctrlPr>
                            </m:sSupPr>
                            <m:e>
                              <m:r>
                                <a:rPr kumimoji="1" lang="en-US" altLang="zh-CN" sz="2000" b="0" i="1" smtClean="0">
                                  <a:solidFill>
                                    <a:srgbClr val="070707"/>
                                  </a:solidFill>
                                  <a:latin typeface="Cambria Math" panose="02040503050406030204" pitchFamily="18" charset="0"/>
                                  <a:ea typeface="Cambria Math" panose="02040503050406030204" pitchFamily="18" charset="0"/>
                                </a:rPr>
                                <m:t>𝛾</m:t>
                              </m:r>
                            </m:e>
                            <m:sup>
                              <m:r>
                                <a:rPr kumimoji="1" lang="en-US" altLang="zh-CN" sz="2000" b="0" i="1" smtClean="0">
                                  <a:solidFill>
                                    <a:srgbClr val="070707"/>
                                  </a:solidFill>
                                  <a:latin typeface="Cambria Math" panose="02040503050406030204" pitchFamily="18" charset="0"/>
                                  <a:ea typeface="Cambria Math" panose="02040503050406030204" pitchFamily="18" charset="0"/>
                                </a:rPr>
                                <m:t>𝑘</m:t>
                              </m:r>
                            </m:sup>
                          </m:sSup>
                          <m:sSub>
                            <m:sSubPr>
                              <m:ctrlPr>
                                <a:rPr kumimoji="1" lang="en-US" altLang="zh-CN" sz="2000" b="0" i="1" smtClean="0">
                                  <a:solidFill>
                                    <a:srgbClr val="070707"/>
                                  </a:solidFill>
                                  <a:latin typeface="Cambria Math" panose="02040503050406030204" pitchFamily="18" charset="0"/>
                                </a:rPr>
                              </m:ctrlPr>
                            </m:sSubPr>
                            <m:e>
                              <m:r>
                                <a:rPr kumimoji="1" lang="en-US" altLang="zh-CN" sz="2000" b="0" i="1" smtClean="0">
                                  <a:solidFill>
                                    <a:srgbClr val="070707"/>
                                  </a:solidFill>
                                  <a:latin typeface="Cambria Math" panose="02040503050406030204" pitchFamily="18" charset="0"/>
                                </a:rPr>
                                <m:t>𝑟</m:t>
                              </m:r>
                            </m:e>
                            <m:sub>
                              <m:r>
                                <a:rPr kumimoji="1" lang="en-US" altLang="zh-CN" sz="2000" b="0" i="1" smtClean="0">
                                  <a:solidFill>
                                    <a:srgbClr val="070707"/>
                                  </a:solidFill>
                                  <a:latin typeface="Cambria Math" panose="02040503050406030204" pitchFamily="18" charset="0"/>
                                </a:rPr>
                                <m:t>𝑡</m:t>
                              </m:r>
                              <m:r>
                                <a:rPr kumimoji="1" lang="en-US" altLang="zh-CN" sz="2000" b="0" i="1" smtClean="0">
                                  <a:solidFill>
                                    <a:srgbClr val="070707"/>
                                  </a:solidFill>
                                  <a:latin typeface="Cambria Math" panose="02040503050406030204" pitchFamily="18" charset="0"/>
                                </a:rPr>
                                <m:t>+</m:t>
                              </m:r>
                              <m:r>
                                <a:rPr kumimoji="1" lang="en-US" altLang="zh-CN" sz="2000" b="0" i="1" smtClean="0">
                                  <a:solidFill>
                                    <a:srgbClr val="070707"/>
                                  </a:solidFill>
                                  <a:latin typeface="Cambria Math" panose="02040503050406030204" pitchFamily="18" charset="0"/>
                                </a:rPr>
                                <m:t>𝑘</m:t>
                              </m:r>
                              <m:r>
                                <a:rPr kumimoji="1" lang="en-US" altLang="zh-CN" sz="2000" b="0" i="1" smtClean="0">
                                  <a:solidFill>
                                    <a:srgbClr val="070707"/>
                                  </a:solidFill>
                                  <a:latin typeface="Cambria Math" panose="02040503050406030204" pitchFamily="18" charset="0"/>
                                </a:rPr>
                                <m:t>+1</m:t>
                              </m:r>
                            </m:sub>
                          </m:sSub>
                        </m:e>
                      </m:nary>
                    </m:oMath>
                  </m:oMathPara>
                </a14:m>
                <a:endParaRPr lang="en-US" altLang="zh-CN" sz="2000" dirty="0">
                  <a:solidFill>
                    <a:srgbClr val="070707"/>
                  </a:solidFill>
                  <a:latin typeface="D-DINExp"/>
                </a:endParaRPr>
              </a:p>
              <a:p>
                <a:pPr>
                  <a:spcAft>
                    <a:spcPts val="750"/>
                  </a:spcAft>
                </a:pPr>
                <a:endParaRPr lang="en-US" altLang="zh-CN" sz="2000" b="0" i="0" dirty="0">
                  <a:solidFill>
                    <a:srgbClr val="070707"/>
                  </a:solidFill>
                  <a:effectLst/>
                  <a:latin typeface="D-DINExp"/>
                </a:endParaRPr>
              </a:p>
              <a:p>
                <a:pPr>
                  <a:spcAft>
                    <a:spcPts val="750"/>
                  </a:spcAft>
                </a:pPr>
                <a:endParaRPr kumimoji="1" lang="en-US" altLang="zh-CN" sz="2000" dirty="0">
                  <a:solidFill>
                    <a:srgbClr val="070707"/>
                  </a:solidFill>
                </a:endParaRPr>
              </a:p>
              <a:p>
                <a:pPr>
                  <a:spcAft>
                    <a:spcPts val="750"/>
                  </a:spcAft>
                </a:pPr>
                <a:endParaRPr kumimoji="1" lang="en-US" altLang="zh-CN" sz="2000" dirty="0">
                  <a:solidFill>
                    <a:srgbClr val="070707"/>
                  </a:solidFill>
                  <a:latin typeface="+mn-ea"/>
                </a:endParaRPr>
              </a:p>
            </p:txBody>
          </p:sp>
        </mc:Choice>
        <mc:Fallback xmlns="">
          <p:sp>
            <p:nvSpPr>
              <p:cNvPr id="4" name="文本框 3">
                <a:extLst>
                  <a:ext uri="{FF2B5EF4-FFF2-40B4-BE49-F238E27FC236}">
                    <a16:creationId xmlns:a16="http://schemas.microsoft.com/office/drawing/2014/main" id="{61B58755-5E37-AA10-60E5-3C6EC0B7DD9F}"/>
                  </a:ext>
                </a:extLst>
              </p:cNvPr>
              <p:cNvSpPr txBox="1">
                <a:spLocks noRot="1" noChangeAspect="1" noMove="1" noResize="1" noEditPoints="1" noAdjustHandles="1" noChangeArrowheads="1" noChangeShapeType="1" noTextEdit="1"/>
              </p:cNvSpPr>
              <p:nvPr/>
            </p:nvSpPr>
            <p:spPr>
              <a:xfrm>
                <a:off x="515007" y="1198179"/>
                <a:ext cx="10670735" cy="3381247"/>
              </a:xfrm>
              <a:prstGeom prst="rect">
                <a:avLst/>
              </a:prstGeom>
              <a:blipFill>
                <a:blip r:embed="rId4"/>
                <a:stretch>
                  <a:fillRect l="-595" t="-1873" b="-7116"/>
                </a:stretch>
              </a:blipFill>
            </p:spPr>
            <p:txBody>
              <a:bodyPr/>
              <a:lstStyle/>
              <a:p>
                <a:r>
                  <a:rPr lang="zh-CN" altLang="en-US">
                    <a:noFill/>
                  </a:rPr>
                  <a:t> </a:t>
                </a:r>
              </a:p>
            </p:txBody>
          </p:sp>
        </mc:Fallback>
      </mc:AlternateContent>
      <p:pic>
        <p:nvPicPr>
          <p:cNvPr id="1026" name="Picture 2" descr="Rewards">
            <a:extLst>
              <a:ext uri="{FF2B5EF4-FFF2-40B4-BE49-F238E27FC236}">
                <a16:creationId xmlns:a16="http://schemas.microsoft.com/office/drawing/2014/main" id="{C57187C4-A667-3F19-6CBD-483E982C65F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1485" r="21397"/>
          <a:stretch/>
        </p:blipFill>
        <p:spPr bwMode="auto">
          <a:xfrm>
            <a:off x="585956" y="2540393"/>
            <a:ext cx="2947384" cy="290058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8FE88DDB-6F7F-92A4-7787-436B47F4B9EF}"/>
              </a:ext>
            </a:extLst>
          </p:cNvPr>
          <p:cNvSpPr txBox="1"/>
          <p:nvPr/>
        </p:nvSpPr>
        <p:spPr>
          <a:xfrm>
            <a:off x="3807321" y="3625094"/>
            <a:ext cx="7186500" cy="1323439"/>
          </a:xfrm>
          <a:prstGeom prst="rect">
            <a:avLst/>
          </a:prstGeom>
          <a:noFill/>
        </p:spPr>
        <p:txBody>
          <a:bodyPr wrap="square" rtlCol="0">
            <a:spAutoFit/>
          </a:bodyPr>
          <a:lstStyle/>
          <a:p>
            <a:pPr algn="l"/>
            <a:r>
              <a:rPr lang="zh-CN" altLang="en-US" sz="1600" dirty="0">
                <a:solidFill>
                  <a:srgbClr val="070707"/>
                </a:solidFill>
                <a:latin typeface="D-DINExp"/>
              </a:rPr>
              <a:t>左图中，我们控制的</a:t>
            </a:r>
            <a:r>
              <a:rPr lang="zh-CN" altLang="en-US" sz="1600" b="0" i="0" dirty="0">
                <a:solidFill>
                  <a:srgbClr val="070707"/>
                </a:solidFill>
                <a:effectLst/>
                <a:latin typeface="D-DINExp"/>
              </a:rPr>
              <a:t>智能体是下方的小老鼠，对手是左上角的猫，它们每个时间步只能移动一格。老鼠的目标是在被猫吃掉之前尽可能多地吃到奶酪。从图中可以看到，吃到离我们较近的奶酪的可能性要比吃到离猫较近的奶酪的可能性更大。因此，即便远处的奖励（奶酪）更大，它的价值也会被更多地折扣，因为我们不能确定自己真的能吃到它。</a:t>
            </a:r>
            <a:endParaRPr kumimoji="1" lang="zh-CN" altLang="en-US" sz="1600" dirty="0">
              <a:solidFill>
                <a:srgbClr val="070707"/>
              </a:solidFill>
            </a:endParaRPr>
          </a:p>
        </p:txBody>
      </p:sp>
      <p:sp>
        <p:nvSpPr>
          <p:cNvPr id="5" name="三角形 4">
            <a:extLst>
              <a:ext uri="{FF2B5EF4-FFF2-40B4-BE49-F238E27FC236}">
                <a16:creationId xmlns:a16="http://schemas.microsoft.com/office/drawing/2014/main" id="{794FAC55-EC71-5026-8F88-FE6992D6021B}"/>
              </a:ext>
            </a:extLst>
          </p:cNvPr>
          <p:cNvSpPr/>
          <p:nvPr/>
        </p:nvSpPr>
        <p:spPr>
          <a:xfrm rot="16200000">
            <a:off x="3588937" y="3772299"/>
            <a:ext cx="233737" cy="203032"/>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705048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D1BAD-53E1-DB3F-45F8-988C9647F0D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DAF473E-AFCF-318F-B658-B0050D9A90A3}"/>
              </a:ext>
            </a:extLst>
          </p:cNvPr>
          <p:cNvSpPr>
            <a:spLocks noGrp="1"/>
          </p:cNvSpPr>
          <p:nvPr>
            <p:ph type="title"/>
          </p:nvPr>
        </p:nvSpPr>
        <p:spPr/>
        <p:txBody>
          <a:bodyPr/>
          <a:lstStyle/>
          <a:p>
            <a:r>
              <a:rPr lang="zh-CN" altLang="en-US" dirty="0"/>
              <a:t>强化学习的基本要素</a:t>
            </a:r>
          </a:p>
        </p:txBody>
      </p:sp>
      <p:sp>
        <p:nvSpPr>
          <p:cNvPr id="4" name="文本框 3">
            <a:extLst>
              <a:ext uri="{FF2B5EF4-FFF2-40B4-BE49-F238E27FC236}">
                <a16:creationId xmlns:a16="http://schemas.microsoft.com/office/drawing/2014/main" id="{47A13E77-EF16-1140-82A2-30C6910C808D}"/>
              </a:ext>
            </a:extLst>
          </p:cNvPr>
          <p:cNvSpPr txBox="1"/>
          <p:nvPr/>
        </p:nvSpPr>
        <p:spPr>
          <a:xfrm>
            <a:off x="515007" y="1198179"/>
            <a:ext cx="7413651" cy="3939540"/>
          </a:xfrm>
          <a:prstGeom prst="rect">
            <a:avLst/>
          </a:prstGeom>
          <a:noFill/>
        </p:spPr>
        <p:txBody>
          <a:bodyPr wrap="square" rtlCol="0">
            <a:spAutoFit/>
          </a:bodyPr>
          <a:lstStyle/>
          <a:p>
            <a:pPr algn="l">
              <a:spcAft>
                <a:spcPts val="1500"/>
              </a:spcAft>
            </a:pPr>
            <a:r>
              <a:rPr kumimoji="1" lang="zh-CN" altLang="en-US" sz="2000" b="1" dirty="0">
                <a:solidFill>
                  <a:srgbClr val="070707"/>
                </a:solidFill>
              </a:rPr>
              <a:t>马尔可夫过程与马尔可夫性：</a:t>
            </a:r>
            <a:endParaRPr kumimoji="1" lang="en-US" altLang="zh-CN" sz="2000" b="1" dirty="0">
              <a:solidFill>
                <a:srgbClr val="070707"/>
              </a:solidFill>
            </a:endParaRPr>
          </a:p>
          <a:p>
            <a:pPr>
              <a:spcAft>
                <a:spcPts val="1500"/>
              </a:spcAft>
            </a:pPr>
            <a:r>
              <a:rPr lang="zh-CN" altLang="en-US" sz="2000" dirty="0">
                <a:solidFill>
                  <a:srgbClr val="070707"/>
                </a:solidFill>
              </a:rPr>
              <a:t>强化学习过程是一个</a:t>
            </a:r>
            <a:r>
              <a:rPr lang="zh-CN" altLang="en-US" sz="2000" b="1" dirty="0"/>
              <a:t>马尔可夫决策过程</a:t>
            </a:r>
            <a:r>
              <a:rPr lang="zh-CN" altLang="en-US" sz="2000" dirty="0">
                <a:solidFill>
                  <a:srgbClr val="070707"/>
                </a:solidFill>
              </a:rPr>
              <a:t>（</a:t>
            </a:r>
            <a:r>
              <a:rPr lang="en" altLang="zh-CN" sz="2000" dirty="0">
                <a:solidFill>
                  <a:srgbClr val="070707"/>
                </a:solidFill>
              </a:rPr>
              <a:t>Markov Decision Process, MDP</a:t>
            </a:r>
            <a:r>
              <a:rPr lang="zh-CN" altLang="en" sz="2000" dirty="0">
                <a:solidFill>
                  <a:srgbClr val="070707"/>
                </a:solidFill>
              </a:rPr>
              <a:t>）</a:t>
            </a:r>
            <a:r>
              <a:rPr lang="zh-CN" altLang="en-US" sz="2000" dirty="0">
                <a:solidFill>
                  <a:srgbClr val="070707"/>
                </a:solidFill>
              </a:rPr>
              <a:t>，</a:t>
            </a:r>
            <a:r>
              <a:rPr lang="zh-CN" altLang="en-US" sz="2000" b="0" dirty="0">
                <a:solidFill>
                  <a:srgbClr val="000000"/>
                </a:solidFill>
                <a:latin typeface="Microsoft YaHei" panose="020B0503020204020204" pitchFamily="34" charset="-122"/>
                <a:ea typeface="Microsoft YaHei" panose="020B0503020204020204" pitchFamily="34" charset="-122"/>
                <a:cs typeface="阿里巴巴普惠体 R" panose="00020600040101010101" pitchFamily="18" charset="-122"/>
              </a:rPr>
              <a:t>提供了一套为在</a:t>
            </a:r>
            <a:r>
              <a:rPr lang="zh-CN" altLang="en-US" sz="2000" b="0" dirty="0">
                <a:solidFill>
                  <a:srgbClr val="C00000"/>
                </a:solidFill>
                <a:latin typeface="Microsoft YaHei" panose="020B0503020204020204" pitchFamily="34" charset="-122"/>
                <a:ea typeface="Microsoft YaHei" panose="020B0503020204020204" pitchFamily="34" charset="-122"/>
              </a:rPr>
              <a:t>结果</a:t>
            </a:r>
            <a:r>
              <a:rPr lang="zh-CN" altLang="en-US" sz="2000" b="0" dirty="0">
                <a:solidFill>
                  <a:srgbClr val="C00000"/>
                </a:solidFill>
                <a:latin typeface="Microsoft YaHei" panose="020B0503020204020204" pitchFamily="34" charset="-122"/>
                <a:ea typeface="Microsoft YaHei" panose="020B0503020204020204" pitchFamily="34" charset="-122"/>
                <a:cs typeface="阿里巴巴普惠体 R" panose="00020600040101010101" pitchFamily="18" charset="-122"/>
              </a:rPr>
              <a:t>部分随机、部分在</a:t>
            </a:r>
            <a:r>
              <a:rPr lang="zh-CN" altLang="en-US" sz="2000" dirty="0">
                <a:solidFill>
                  <a:srgbClr val="C00000"/>
                </a:solidFill>
                <a:latin typeface="Microsoft YaHei" panose="020B0503020204020204" pitchFamily="34" charset="-122"/>
                <a:ea typeface="Microsoft YaHei" panose="020B0503020204020204" pitchFamily="34" charset="-122"/>
                <a:cs typeface="阿里巴巴普惠体 R" panose="00020600040101010101" pitchFamily="18" charset="-122"/>
              </a:rPr>
              <a:t>决策者的控制</a:t>
            </a:r>
            <a:r>
              <a:rPr lang="zh-CN" altLang="en-US" sz="2000" b="0" dirty="0">
                <a:solidFill>
                  <a:srgbClr val="C00000"/>
                </a:solidFill>
                <a:latin typeface="Microsoft YaHei" panose="020B0503020204020204" pitchFamily="34" charset="-122"/>
                <a:ea typeface="Microsoft YaHei" panose="020B0503020204020204" pitchFamily="34" charset="-122"/>
                <a:cs typeface="阿里巴巴普惠体 R" panose="00020600040101010101" pitchFamily="18" charset="-122"/>
              </a:rPr>
              <a:t>下的决策过程建模</a:t>
            </a:r>
            <a:r>
              <a:rPr lang="zh-CN" altLang="en-US" sz="2000" b="0" dirty="0">
                <a:solidFill>
                  <a:srgbClr val="000000"/>
                </a:solidFill>
                <a:latin typeface="Microsoft YaHei" panose="020B0503020204020204" pitchFamily="34" charset="-122"/>
                <a:ea typeface="Microsoft YaHei" panose="020B0503020204020204" pitchFamily="34" charset="-122"/>
                <a:cs typeface="阿里巴巴普惠体 R" panose="00020600040101010101" pitchFamily="18" charset="-122"/>
              </a:rPr>
              <a:t>的数学框架</a:t>
            </a:r>
            <a:endParaRPr lang="en-US" altLang="zh-CN" sz="2000" b="0" dirty="0">
              <a:solidFill>
                <a:srgbClr val="000000"/>
              </a:solidFill>
              <a:latin typeface="Microsoft YaHei" panose="020B0503020204020204" pitchFamily="34" charset="-122"/>
              <a:ea typeface="Microsoft YaHei" panose="020B0503020204020204" pitchFamily="34" charset="-122"/>
              <a:cs typeface="阿里巴巴普惠体 R" panose="00020600040101010101" pitchFamily="18" charset="-122"/>
            </a:endParaRPr>
          </a:p>
          <a:p>
            <a:pPr>
              <a:spcAft>
                <a:spcPts val="1500"/>
              </a:spcAft>
            </a:pPr>
            <a:endParaRPr lang="en-US" altLang="zh-CN" sz="2000" dirty="0">
              <a:solidFill>
                <a:srgbClr val="070707"/>
              </a:solidFill>
            </a:endParaRPr>
          </a:p>
          <a:p>
            <a:pPr>
              <a:spcAft>
                <a:spcPts val="1500"/>
              </a:spcAft>
            </a:pPr>
            <a:endParaRPr lang="en-US" altLang="zh-CN" sz="2000" dirty="0">
              <a:solidFill>
                <a:srgbClr val="070707"/>
              </a:solidFill>
            </a:endParaRPr>
          </a:p>
          <a:p>
            <a:pPr>
              <a:spcAft>
                <a:spcPts val="1500"/>
              </a:spcAft>
            </a:pPr>
            <a:r>
              <a:rPr kumimoji="1" lang="zh-CN" altLang="en-US" sz="2000" b="1" dirty="0"/>
              <a:t>马尔可夫决策过程</a:t>
            </a:r>
            <a:r>
              <a:rPr kumimoji="1" lang="zh-CN" altLang="en-US" sz="2000" dirty="0">
                <a:solidFill>
                  <a:srgbClr val="070707"/>
                </a:solidFill>
              </a:rPr>
              <a:t>遵循</a:t>
            </a:r>
            <a:r>
              <a:rPr kumimoji="1" lang="zh-CN" altLang="en-US" sz="2000" b="1" dirty="0"/>
              <a:t>马尔可夫性</a:t>
            </a:r>
            <a:r>
              <a:rPr kumimoji="1" lang="zh-CN" altLang="en-US" sz="2000" dirty="0">
                <a:solidFill>
                  <a:srgbClr val="070707"/>
                </a:solidFill>
              </a:rPr>
              <a:t>（</a:t>
            </a:r>
            <a:r>
              <a:rPr kumimoji="1" lang="en" altLang="zh-CN" sz="2000" dirty="0">
                <a:solidFill>
                  <a:srgbClr val="070707"/>
                </a:solidFill>
              </a:rPr>
              <a:t>Markov Property</a:t>
            </a:r>
            <a:r>
              <a:rPr kumimoji="1" lang="zh-CN" altLang="en-US" sz="2000" dirty="0">
                <a:solidFill>
                  <a:srgbClr val="070707"/>
                </a:solidFill>
              </a:rPr>
              <a:t>），即随机过程</a:t>
            </a:r>
            <a:r>
              <a:rPr kumimoji="1" lang="zh-CN" altLang="en-US" sz="2000" b="1" dirty="0">
                <a:solidFill>
                  <a:srgbClr val="070707"/>
                </a:solidFill>
              </a:rPr>
              <a:t>未来状态</a:t>
            </a:r>
            <a:r>
              <a:rPr kumimoji="1" lang="zh-CN" altLang="en-US" sz="2000" dirty="0">
                <a:solidFill>
                  <a:srgbClr val="070707"/>
                </a:solidFill>
              </a:rPr>
              <a:t>的概率分布仅依赖于</a:t>
            </a:r>
            <a:r>
              <a:rPr kumimoji="1" lang="zh-CN" altLang="en-US" sz="2000" b="1" dirty="0">
                <a:solidFill>
                  <a:srgbClr val="070707"/>
                </a:solidFill>
              </a:rPr>
              <a:t>当前状态</a:t>
            </a:r>
            <a:r>
              <a:rPr kumimoji="1" lang="zh-CN" altLang="en-US" sz="2000" dirty="0">
                <a:solidFill>
                  <a:srgbClr val="070707"/>
                </a:solidFill>
              </a:rPr>
              <a:t>，而</a:t>
            </a:r>
            <a:r>
              <a:rPr kumimoji="1" lang="zh-CN" altLang="en-US" sz="2000" b="1" dirty="0">
                <a:solidFill>
                  <a:srgbClr val="070707"/>
                </a:solidFill>
              </a:rPr>
              <a:t>与过去状态无关</a:t>
            </a:r>
            <a:r>
              <a:rPr kumimoji="1" lang="zh-CN" altLang="en-US" sz="2000" dirty="0">
                <a:solidFill>
                  <a:srgbClr val="070707"/>
                </a:solidFill>
              </a:rPr>
              <a:t>。这意味着我们的智能体只需要当前状态来决定采取什么行动，而无需考虑之前的历史。</a:t>
            </a:r>
            <a:endParaRPr kumimoji="1" lang="en-US" altLang="zh-CN" sz="2400" dirty="0">
              <a:solidFill>
                <a:srgbClr val="070707"/>
              </a:solidFill>
            </a:endParaRPr>
          </a:p>
        </p:txBody>
      </p:sp>
      <p:pic>
        <p:nvPicPr>
          <p:cNvPr id="6146" name="Picture 2" descr="隐含马尔科夫模型的训练 - 走看看">
            <a:extLst>
              <a:ext uri="{FF2B5EF4-FFF2-40B4-BE49-F238E27FC236}">
                <a16:creationId xmlns:a16="http://schemas.microsoft.com/office/drawing/2014/main" id="{B6C448E7-2E4C-555B-10AD-C97DB31CC7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9429" y="1849996"/>
            <a:ext cx="2794548" cy="263590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9418E23-3C59-6000-B85C-AE5795A527A9}"/>
                  </a:ext>
                </a:extLst>
              </p:cNvPr>
              <p:cNvSpPr/>
              <p:nvPr/>
            </p:nvSpPr>
            <p:spPr>
              <a:xfrm>
                <a:off x="2006455" y="2793365"/>
                <a:ext cx="351359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a:solidFill>
                            <a:srgbClr val="000000"/>
                          </a:solidFill>
                          <a:latin typeface="Cambria Math" panose="02040503050406030204" pitchFamily="18" charset="0"/>
                          <a:ea typeface="Cambria Math" panose="02040503050406030204" pitchFamily="18" charset="0"/>
                        </a:rPr>
                        <m:t>ℙ</m:t>
                      </m:r>
                      <m:r>
                        <a:rPr lang="en-US" altLang="zh-CN" sz="2000" i="1">
                          <a:solidFill>
                            <a:srgbClr val="000000"/>
                          </a:solidFill>
                          <a:latin typeface="Cambria Math" panose="02040503050406030204" pitchFamily="18" charset="0"/>
                          <a:ea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ea typeface="Cambria Math" panose="02040503050406030204" pitchFamily="18" charset="0"/>
                            </a:rPr>
                            <m:t>𝑆</m:t>
                          </m:r>
                        </m:e>
                        <m:sub>
                          <m:r>
                            <a:rPr lang="en-US" altLang="zh-CN" sz="2000" i="1">
                              <a:solidFill>
                                <a:srgbClr val="000000"/>
                              </a:solidFill>
                              <a:latin typeface="Cambria Math" panose="02040503050406030204" pitchFamily="18" charset="0"/>
                              <a:ea typeface="Cambria Math" panose="02040503050406030204" pitchFamily="18" charset="0"/>
                            </a:rPr>
                            <m:t>𝑡</m:t>
                          </m:r>
                          <m:r>
                            <a:rPr lang="en-US" altLang="zh-CN" sz="2000" i="1">
                              <a:solidFill>
                                <a:srgbClr val="000000"/>
                              </a:solidFill>
                              <a:latin typeface="Cambria Math" panose="02040503050406030204" pitchFamily="18" charset="0"/>
                              <a:ea typeface="Cambria Math" panose="02040503050406030204" pitchFamily="18" charset="0"/>
                            </a:rPr>
                            <m:t>+1</m:t>
                          </m:r>
                        </m:sub>
                      </m:sSub>
                      <m:r>
                        <a:rPr lang="en-US" altLang="zh-CN" sz="2000" i="1">
                          <a:solidFill>
                            <a:srgbClr val="000000"/>
                          </a:solidFill>
                          <a:latin typeface="Cambria Math" panose="02040503050406030204" pitchFamily="18" charset="0"/>
                          <a:ea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ea typeface="Cambria Math" panose="02040503050406030204" pitchFamily="18" charset="0"/>
                            </a:rPr>
                            <m:t>𝑆</m:t>
                          </m:r>
                        </m:e>
                        <m:sub>
                          <m:r>
                            <a:rPr lang="en-US" altLang="zh-CN" sz="2000" i="1">
                              <a:solidFill>
                                <a:srgbClr val="000000"/>
                              </a:solidFill>
                              <a:latin typeface="Cambria Math" panose="02040503050406030204" pitchFamily="18" charset="0"/>
                              <a:ea typeface="Cambria Math" panose="02040503050406030204" pitchFamily="18" charset="0"/>
                            </a:rPr>
                            <m:t>𝑡</m:t>
                          </m:r>
                        </m:sub>
                      </m:sSub>
                      <m:r>
                        <a:rPr lang="en-US" altLang="zh-CN" sz="2000" i="1">
                          <a:solidFill>
                            <a:srgbClr val="000000"/>
                          </a:solidFill>
                          <a:latin typeface="Cambria Math" panose="02040503050406030204" pitchFamily="18" charset="0"/>
                          <a:ea typeface="Cambria Math" panose="02040503050406030204" pitchFamily="18" charset="0"/>
                        </a:rPr>
                        <m:t>]=</m:t>
                      </m:r>
                      <m:r>
                        <a:rPr lang="en-US" altLang="zh-CN" sz="2000" i="1">
                          <a:solidFill>
                            <a:srgbClr val="000000"/>
                          </a:solidFill>
                          <a:latin typeface="Cambria Math" panose="02040503050406030204" pitchFamily="18" charset="0"/>
                          <a:ea typeface="Cambria Math" panose="02040503050406030204" pitchFamily="18" charset="0"/>
                        </a:rPr>
                        <m:t>ℙ</m:t>
                      </m:r>
                      <m:r>
                        <a:rPr lang="en-US" altLang="zh-CN" sz="2000" i="1">
                          <a:solidFill>
                            <a:srgbClr val="000000"/>
                          </a:solidFill>
                          <a:latin typeface="Cambria Math" panose="02040503050406030204" pitchFamily="18" charset="0"/>
                          <a:ea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ea typeface="Cambria Math" panose="02040503050406030204" pitchFamily="18" charset="0"/>
                            </a:rPr>
                            <m:t>𝑆</m:t>
                          </m:r>
                        </m:e>
                        <m:sub>
                          <m:r>
                            <a:rPr lang="en-US" altLang="zh-CN" sz="2000" i="1">
                              <a:solidFill>
                                <a:srgbClr val="000000"/>
                              </a:solidFill>
                              <a:latin typeface="Cambria Math" panose="02040503050406030204" pitchFamily="18" charset="0"/>
                              <a:ea typeface="Cambria Math" panose="02040503050406030204" pitchFamily="18" charset="0"/>
                            </a:rPr>
                            <m:t>𝑡</m:t>
                          </m:r>
                          <m:r>
                            <a:rPr lang="en-US" altLang="zh-CN" sz="2000" i="1">
                              <a:solidFill>
                                <a:srgbClr val="000000"/>
                              </a:solidFill>
                              <a:latin typeface="Cambria Math" panose="02040503050406030204" pitchFamily="18" charset="0"/>
                              <a:ea typeface="Cambria Math" panose="02040503050406030204" pitchFamily="18" charset="0"/>
                            </a:rPr>
                            <m:t>+1</m:t>
                          </m:r>
                        </m:sub>
                      </m:sSub>
                      <m:r>
                        <a:rPr lang="en-US" altLang="zh-CN" sz="2000" i="1">
                          <a:solidFill>
                            <a:srgbClr val="000000"/>
                          </a:solidFill>
                          <a:latin typeface="Cambria Math" panose="02040503050406030204" pitchFamily="18" charset="0"/>
                          <a:ea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ea typeface="Cambria Math" panose="02040503050406030204" pitchFamily="18" charset="0"/>
                            </a:rPr>
                            <m:t>𝑆</m:t>
                          </m:r>
                        </m:e>
                        <m:sub>
                          <m:r>
                            <a:rPr lang="en-US" altLang="zh-CN" sz="2000" i="1">
                              <a:solidFill>
                                <a:srgbClr val="000000"/>
                              </a:solidFill>
                              <a:latin typeface="Cambria Math" panose="02040503050406030204" pitchFamily="18" charset="0"/>
                              <a:ea typeface="Cambria Math" panose="02040503050406030204" pitchFamily="18" charset="0"/>
                            </a:rPr>
                            <m:t>1</m:t>
                          </m:r>
                        </m:sub>
                      </m:sSub>
                      <m:r>
                        <a:rPr lang="en-US" altLang="zh-CN" sz="2000" i="1">
                          <a:solidFill>
                            <a:srgbClr val="000000"/>
                          </a:solidFill>
                          <a:latin typeface="Cambria Math" panose="02040503050406030204" pitchFamily="18" charset="0"/>
                          <a:ea typeface="Cambria Math" panose="02040503050406030204" pitchFamily="18" charset="0"/>
                        </a:rPr>
                        <m:t>,…,</m:t>
                      </m:r>
                      <m:sSub>
                        <m:sSubPr>
                          <m:ctrlPr>
                            <a:rPr lang="zh-CN" altLang="zh-CN"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ea typeface="Cambria Math" panose="02040503050406030204" pitchFamily="18" charset="0"/>
                            </a:rPr>
                            <m:t>𝑆</m:t>
                          </m:r>
                        </m:e>
                        <m:sub>
                          <m:r>
                            <a:rPr lang="en-US" altLang="zh-CN" sz="2000" i="1">
                              <a:solidFill>
                                <a:srgbClr val="000000"/>
                              </a:solidFill>
                              <a:latin typeface="Cambria Math" panose="02040503050406030204" pitchFamily="18" charset="0"/>
                              <a:ea typeface="Cambria Math" panose="02040503050406030204" pitchFamily="18" charset="0"/>
                            </a:rPr>
                            <m:t>𝑡</m:t>
                          </m:r>
                        </m:sub>
                      </m:sSub>
                      <m:r>
                        <a:rPr lang="en-US" altLang="zh-CN" sz="2000" i="1">
                          <a:solidFill>
                            <a:srgbClr val="000000"/>
                          </a:solidFill>
                          <a:latin typeface="Cambria Math" panose="02040503050406030204" pitchFamily="18" charset="0"/>
                          <a:ea typeface="Cambria Math" panose="02040503050406030204" pitchFamily="18" charset="0"/>
                        </a:rPr>
                        <m:t>]</m:t>
                      </m:r>
                    </m:oMath>
                  </m:oMathPara>
                </a14:m>
                <a:endParaRPr lang="zh-CN" altLang="en-US" sz="2000" dirty="0"/>
              </a:p>
            </p:txBody>
          </p:sp>
        </mc:Choice>
        <mc:Fallback xmlns="">
          <p:sp>
            <p:nvSpPr>
              <p:cNvPr id="7" name="矩形 6">
                <a:extLst>
                  <a:ext uri="{FF2B5EF4-FFF2-40B4-BE49-F238E27FC236}">
                    <a16:creationId xmlns:a16="http://schemas.microsoft.com/office/drawing/2014/main" id="{D9418E23-3C59-6000-B85C-AE5795A527A9}"/>
                  </a:ext>
                </a:extLst>
              </p:cNvPr>
              <p:cNvSpPr>
                <a:spLocks noRot="1" noChangeAspect="1" noMove="1" noResize="1" noEditPoints="1" noAdjustHandles="1" noChangeArrowheads="1" noChangeShapeType="1" noTextEdit="1"/>
              </p:cNvSpPr>
              <p:nvPr/>
            </p:nvSpPr>
            <p:spPr>
              <a:xfrm>
                <a:off x="2006455" y="2793365"/>
                <a:ext cx="3513591" cy="400110"/>
              </a:xfrm>
              <a:prstGeom prst="rect">
                <a:avLst/>
              </a:prstGeom>
              <a:blipFill>
                <a:blip r:embed="rId5"/>
                <a:stretch>
                  <a:fillRect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2EEA5F8-996A-6BE7-893D-58A2B1D8E3CD}"/>
                  </a:ext>
                </a:extLst>
              </p:cNvPr>
              <p:cNvSpPr/>
              <p:nvPr/>
            </p:nvSpPr>
            <p:spPr>
              <a:xfrm>
                <a:off x="2006455" y="3318257"/>
                <a:ext cx="4937506" cy="400110"/>
              </a:xfrm>
              <a:prstGeom prst="rect">
                <a:avLst/>
              </a:prstGeom>
            </p:spPr>
            <p:txBody>
              <a:bodyPr wrap="none">
                <a:spAutoFit/>
              </a:bodyPr>
              <a:lstStyle/>
              <a:p>
                <a14:m>
                  <m:oMath xmlns:m="http://schemas.openxmlformats.org/officeDocument/2006/math">
                    <m:r>
                      <a:rPr lang="en-US" altLang="zh-CN" sz="2000" i="1" smtClean="0">
                        <a:solidFill>
                          <a:srgbClr val="000000"/>
                        </a:solidFill>
                        <a:latin typeface="Cambria Math" panose="02040503050406030204" pitchFamily="18" charset="0"/>
                        <a:ea typeface="Cambria Math" panose="02040503050406030204" pitchFamily="18" charset="0"/>
                      </a:rPr>
                      <m:t>ℙ</m:t>
                    </m:r>
                    <m:d>
                      <m:dPr>
                        <m:begChr m:val="["/>
                        <m:endChr m:val="]"/>
                        <m:ctrlPr>
                          <a:rPr lang="en-US" altLang="zh-CN" sz="2000" i="1" smtClean="0">
                            <a:solidFill>
                              <a:schemeClr val="tx2"/>
                            </a:solidFill>
                            <a:latin typeface="Cambria Math" panose="02040503050406030204" pitchFamily="18" charset="0"/>
                            <a:ea typeface="Cambria Math" panose="02040503050406030204" pitchFamily="18" charset="0"/>
                          </a:rPr>
                        </m:ctrlPr>
                      </m:dPr>
                      <m:e>
                        <m:sSub>
                          <m:sSubPr>
                            <m:ctrlPr>
                              <a:rPr lang="zh-CN" altLang="zh-CN" sz="2000" i="1">
                                <a:solidFill>
                                  <a:schemeClr val="tx2"/>
                                </a:solidFill>
                                <a:latin typeface="Cambria Math" panose="02040503050406030204" pitchFamily="18" charset="0"/>
                              </a:rPr>
                            </m:ctrlPr>
                          </m:sSubPr>
                          <m:e>
                            <m:r>
                              <a:rPr lang="en-US" altLang="zh-CN" sz="2000" i="1">
                                <a:solidFill>
                                  <a:schemeClr val="tx2"/>
                                </a:solidFill>
                                <a:latin typeface="Cambria Math" panose="02040503050406030204" pitchFamily="18" charset="0"/>
                                <a:ea typeface="Cambria Math" panose="02040503050406030204" pitchFamily="18" charset="0"/>
                              </a:rPr>
                              <m:t>𝑆</m:t>
                            </m:r>
                          </m:e>
                          <m:sub>
                            <m:r>
                              <a:rPr lang="en-US" altLang="zh-CN" sz="2000" i="1">
                                <a:solidFill>
                                  <a:schemeClr val="tx2"/>
                                </a:solidFill>
                                <a:latin typeface="Cambria Math" panose="02040503050406030204" pitchFamily="18" charset="0"/>
                                <a:ea typeface="Cambria Math" panose="02040503050406030204" pitchFamily="18" charset="0"/>
                              </a:rPr>
                              <m:t>𝑡</m:t>
                            </m:r>
                            <m:r>
                              <a:rPr lang="en-US" altLang="zh-CN" sz="2000" i="1">
                                <a:solidFill>
                                  <a:schemeClr val="tx2"/>
                                </a:solidFill>
                                <a:latin typeface="Cambria Math" panose="02040503050406030204" pitchFamily="18" charset="0"/>
                                <a:ea typeface="Cambria Math" panose="02040503050406030204" pitchFamily="18" charset="0"/>
                              </a:rPr>
                              <m:t>+1</m:t>
                            </m:r>
                          </m:sub>
                        </m:sSub>
                      </m:e>
                      <m:e>
                        <m:sSub>
                          <m:sSubPr>
                            <m:ctrlPr>
                              <a:rPr lang="zh-CN" altLang="zh-CN" sz="2000" i="1">
                                <a:solidFill>
                                  <a:schemeClr val="tx2"/>
                                </a:solidFill>
                                <a:latin typeface="Cambria Math" panose="02040503050406030204" pitchFamily="18" charset="0"/>
                              </a:rPr>
                            </m:ctrlPr>
                          </m:sSubPr>
                          <m:e>
                            <m:r>
                              <a:rPr lang="en-US" altLang="zh-CN" sz="2000" i="1">
                                <a:solidFill>
                                  <a:schemeClr val="tx2"/>
                                </a:solidFill>
                                <a:latin typeface="Cambria Math" panose="02040503050406030204" pitchFamily="18" charset="0"/>
                                <a:ea typeface="Cambria Math" panose="02040503050406030204" pitchFamily="18" charset="0"/>
                              </a:rPr>
                              <m:t>𝑆</m:t>
                            </m:r>
                          </m:e>
                          <m:sub>
                            <m:r>
                              <a:rPr lang="en-US" altLang="zh-CN" sz="2000" i="1">
                                <a:solidFill>
                                  <a:schemeClr val="tx2"/>
                                </a:solidFill>
                                <a:latin typeface="Cambria Math" panose="02040503050406030204" pitchFamily="18" charset="0"/>
                                <a:ea typeface="Cambria Math" panose="02040503050406030204" pitchFamily="18" charset="0"/>
                              </a:rPr>
                              <m:t>𝑡</m:t>
                            </m:r>
                          </m:sub>
                        </m:sSub>
                        <m:r>
                          <a:rPr lang="en-US" altLang="zh-CN" sz="2000" i="1">
                            <a:solidFill>
                              <a:schemeClr val="tx2"/>
                            </a:solidFill>
                            <a:latin typeface="Cambria Math" panose="02040503050406030204" pitchFamily="18" charset="0"/>
                            <a:ea typeface="Cambria Math" panose="02040503050406030204" pitchFamily="18" charset="0"/>
                          </a:rPr>
                          <m:t>,</m:t>
                        </m:r>
                        <m:r>
                          <a:rPr lang="en-US" altLang="zh-CN" sz="2000" i="1">
                            <a:solidFill>
                              <a:schemeClr val="tx2"/>
                            </a:solidFill>
                            <a:latin typeface="Cambria Math" panose="02040503050406030204" pitchFamily="18" charset="0"/>
                            <a:ea typeface="Cambria Math" panose="02040503050406030204" pitchFamily="18" charset="0"/>
                          </a:rPr>
                          <m:t>𝐴𝑡</m:t>
                        </m:r>
                      </m:e>
                    </m:d>
                    <m:r>
                      <a:rPr lang="en-US" altLang="zh-CN" sz="2000" b="0" i="1" smtClean="0">
                        <a:solidFill>
                          <a:schemeClr val="tx2"/>
                        </a:solidFill>
                        <a:latin typeface="Cambria Math" panose="02040503050406030204" pitchFamily="18" charset="0"/>
                        <a:ea typeface="Cambria Math" panose="02040503050406030204" pitchFamily="18" charset="0"/>
                      </a:rPr>
                      <m:t>=</m:t>
                    </m:r>
                    <m:r>
                      <a:rPr lang="en-US" altLang="zh-CN" sz="2000" i="1">
                        <a:solidFill>
                          <a:schemeClr val="tx2"/>
                        </a:solidFill>
                        <a:latin typeface="Cambria Math" panose="02040503050406030204" pitchFamily="18" charset="0"/>
                        <a:ea typeface="Cambria Math" panose="02040503050406030204" pitchFamily="18" charset="0"/>
                      </a:rPr>
                      <m:t>ℙ</m:t>
                    </m:r>
                    <m:r>
                      <a:rPr lang="en-US" altLang="zh-CN" sz="2000" i="1">
                        <a:solidFill>
                          <a:schemeClr val="tx2"/>
                        </a:solidFill>
                        <a:latin typeface="Cambria Math" panose="02040503050406030204" pitchFamily="18" charset="0"/>
                        <a:ea typeface="Cambria Math" panose="02040503050406030204" pitchFamily="18" charset="0"/>
                      </a:rPr>
                      <m:t>[</m:t>
                    </m:r>
                    <m:sSub>
                      <m:sSubPr>
                        <m:ctrlPr>
                          <a:rPr lang="zh-CN" altLang="zh-CN" sz="2000" i="1">
                            <a:solidFill>
                              <a:schemeClr val="tx2"/>
                            </a:solidFill>
                            <a:latin typeface="Cambria Math" panose="02040503050406030204" pitchFamily="18" charset="0"/>
                          </a:rPr>
                        </m:ctrlPr>
                      </m:sSubPr>
                      <m:e>
                        <m:r>
                          <a:rPr lang="en-US" altLang="zh-CN" sz="2000" i="1">
                            <a:solidFill>
                              <a:schemeClr val="tx2"/>
                            </a:solidFill>
                            <a:latin typeface="Cambria Math" panose="02040503050406030204" pitchFamily="18" charset="0"/>
                            <a:ea typeface="Cambria Math" panose="02040503050406030204" pitchFamily="18" charset="0"/>
                          </a:rPr>
                          <m:t>𝑆</m:t>
                        </m:r>
                      </m:e>
                      <m:sub>
                        <m:r>
                          <a:rPr lang="en-US" altLang="zh-CN" sz="2000" i="1">
                            <a:solidFill>
                              <a:schemeClr val="tx2"/>
                            </a:solidFill>
                            <a:latin typeface="Cambria Math" panose="02040503050406030204" pitchFamily="18" charset="0"/>
                            <a:ea typeface="Cambria Math" panose="02040503050406030204" pitchFamily="18" charset="0"/>
                          </a:rPr>
                          <m:t>𝑡</m:t>
                        </m:r>
                        <m:r>
                          <a:rPr lang="en-US" altLang="zh-CN" sz="2000" i="1">
                            <a:solidFill>
                              <a:schemeClr val="tx2"/>
                            </a:solidFill>
                            <a:latin typeface="Cambria Math" panose="02040503050406030204" pitchFamily="18" charset="0"/>
                            <a:ea typeface="Cambria Math" panose="02040503050406030204" pitchFamily="18" charset="0"/>
                          </a:rPr>
                          <m:t>+1</m:t>
                        </m:r>
                      </m:sub>
                    </m:sSub>
                    <m:r>
                      <a:rPr lang="en-US" altLang="zh-CN" sz="2000" i="1">
                        <a:solidFill>
                          <a:schemeClr val="tx2"/>
                        </a:solidFill>
                        <a:latin typeface="Cambria Math" panose="02040503050406030204" pitchFamily="18" charset="0"/>
                        <a:ea typeface="Cambria Math" panose="02040503050406030204" pitchFamily="18" charset="0"/>
                      </a:rPr>
                      <m:t>|</m:t>
                    </m:r>
                    <m:sSub>
                      <m:sSubPr>
                        <m:ctrlPr>
                          <a:rPr lang="zh-CN" altLang="zh-CN" sz="2000" i="1">
                            <a:solidFill>
                              <a:schemeClr val="tx2"/>
                            </a:solidFill>
                            <a:latin typeface="Cambria Math" panose="02040503050406030204" pitchFamily="18" charset="0"/>
                          </a:rPr>
                        </m:ctrlPr>
                      </m:sSubPr>
                      <m:e>
                        <m:r>
                          <a:rPr lang="en-US" altLang="zh-CN" sz="2000" i="1">
                            <a:solidFill>
                              <a:schemeClr val="tx2"/>
                            </a:solidFill>
                            <a:latin typeface="Cambria Math" panose="02040503050406030204" pitchFamily="18" charset="0"/>
                            <a:ea typeface="Cambria Math" panose="02040503050406030204" pitchFamily="18" charset="0"/>
                          </a:rPr>
                          <m:t>𝑆</m:t>
                        </m:r>
                      </m:e>
                      <m:sub>
                        <m:r>
                          <a:rPr lang="en-US" altLang="zh-CN" sz="2000" i="1">
                            <a:solidFill>
                              <a:schemeClr val="tx2"/>
                            </a:solidFill>
                            <a:latin typeface="Cambria Math" panose="02040503050406030204" pitchFamily="18" charset="0"/>
                            <a:ea typeface="Cambria Math" panose="02040503050406030204" pitchFamily="18" charset="0"/>
                          </a:rPr>
                          <m:t>𝑡</m:t>
                        </m:r>
                      </m:sub>
                    </m:sSub>
                    <m:r>
                      <a:rPr lang="en-US" altLang="zh-CN" sz="2000" i="1">
                        <a:solidFill>
                          <a:schemeClr val="tx2"/>
                        </a:solidFill>
                        <a:latin typeface="Cambria Math" panose="02040503050406030204" pitchFamily="18" charset="0"/>
                        <a:ea typeface="Cambria Math" panose="02040503050406030204" pitchFamily="18" charset="0"/>
                      </a:rPr>
                      <m:t>,</m:t>
                    </m:r>
                    <m:sSub>
                      <m:sSubPr>
                        <m:ctrlPr>
                          <a:rPr lang="en-US" altLang="zh-CN" sz="2000" b="0" i="1" smtClean="0">
                            <a:solidFill>
                              <a:schemeClr val="tx2"/>
                            </a:solidFill>
                            <a:latin typeface="Cambria Math" panose="02040503050406030204" pitchFamily="18" charset="0"/>
                            <a:ea typeface="Cambria Math" panose="02040503050406030204" pitchFamily="18" charset="0"/>
                          </a:rPr>
                        </m:ctrlPr>
                      </m:sSubPr>
                      <m:e>
                        <m:r>
                          <a:rPr lang="en-US" altLang="zh-CN" sz="2000" b="0" i="1" smtClean="0">
                            <a:solidFill>
                              <a:schemeClr val="tx2"/>
                            </a:solidFill>
                            <a:latin typeface="Cambria Math" panose="02040503050406030204" pitchFamily="18" charset="0"/>
                            <a:ea typeface="Cambria Math" panose="02040503050406030204" pitchFamily="18" charset="0"/>
                          </a:rPr>
                          <m:t>𝐴</m:t>
                        </m:r>
                      </m:e>
                      <m:sub>
                        <m:r>
                          <a:rPr lang="en-US" altLang="zh-CN" sz="2000" b="0" i="1" smtClean="0">
                            <a:solidFill>
                              <a:schemeClr val="tx2"/>
                            </a:solidFill>
                            <a:latin typeface="Cambria Math" panose="02040503050406030204" pitchFamily="18" charset="0"/>
                            <a:ea typeface="Cambria Math" panose="02040503050406030204" pitchFamily="18" charset="0"/>
                          </a:rPr>
                          <m:t>𝑡</m:t>
                        </m:r>
                      </m:sub>
                    </m:sSub>
                    <m:r>
                      <a:rPr lang="en-US" altLang="zh-CN" sz="2000" b="0" i="1" smtClean="0">
                        <a:solidFill>
                          <a:schemeClr val="tx2"/>
                        </a:solidFill>
                        <a:latin typeface="Cambria Math" panose="02040503050406030204" pitchFamily="18" charset="0"/>
                        <a:ea typeface="Cambria Math" panose="02040503050406030204" pitchFamily="18" charset="0"/>
                      </a:rPr>
                      <m:t>,</m:t>
                    </m:r>
                    <m:sSub>
                      <m:sSubPr>
                        <m:ctrlPr>
                          <a:rPr lang="en-US" altLang="zh-CN" sz="2000" b="0" i="1" smtClean="0">
                            <a:solidFill>
                              <a:schemeClr val="tx2"/>
                            </a:solidFill>
                            <a:latin typeface="Cambria Math" panose="02040503050406030204" pitchFamily="18" charset="0"/>
                            <a:ea typeface="Cambria Math" panose="02040503050406030204" pitchFamily="18" charset="0"/>
                          </a:rPr>
                        </m:ctrlPr>
                      </m:sSubPr>
                      <m:e>
                        <m:r>
                          <a:rPr lang="en-US" altLang="zh-CN" sz="2000" b="0" i="1" smtClean="0">
                            <a:solidFill>
                              <a:schemeClr val="tx2"/>
                            </a:solidFill>
                            <a:latin typeface="Cambria Math" panose="02040503050406030204" pitchFamily="18" charset="0"/>
                            <a:ea typeface="Cambria Math" panose="02040503050406030204" pitchFamily="18" charset="0"/>
                          </a:rPr>
                          <m:t>𝑆</m:t>
                        </m:r>
                      </m:e>
                      <m:sub>
                        <m:r>
                          <a:rPr lang="en-US" altLang="zh-CN" sz="2000" b="0" i="1" smtClean="0">
                            <a:solidFill>
                              <a:schemeClr val="tx2"/>
                            </a:solidFill>
                            <a:latin typeface="Cambria Math" panose="02040503050406030204" pitchFamily="18" charset="0"/>
                            <a:ea typeface="Cambria Math" panose="02040503050406030204" pitchFamily="18" charset="0"/>
                          </a:rPr>
                          <m:t>𝑡</m:t>
                        </m:r>
                        <m:r>
                          <a:rPr lang="en-US" altLang="zh-CN" sz="2000" b="0" i="1" smtClean="0">
                            <a:solidFill>
                              <a:schemeClr val="tx2"/>
                            </a:solidFill>
                            <a:latin typeface="Cambria Math" panose="02040503050406030204" pitchFamily="18" charset="0"/>
                            <a:ea typeface="Cambria Math" panose="02040503050406030204" pitchFamily="18" charset="0"/>
                          </a:rPr>
                          <m:t>−1</m:t>
                        </m:r>
                      </m:sub>
                    </m:sSub>
                    <m:r>
                      <a:rPr lang="en-US" altLang="zh-CN" sz="2000" b="0" i="1" smtClean="0">
                        <a:solidFill>
                          <a:schemeClr val="tx2"/>
                        </a:solidFill>
                        <a:latin typeface="Cambria Math" panose="02040503050406030204" pitchFamily="18" charset="0"/>
                        <a:ea typeface="Cambria Math" panose="02040503050406030204" pitchFamily="18" charset="0"/>
                      </a:rPr>
                      <m:t>,</m:t>
                    </m:r>
                    <m:sSub>
                      <m:sSubPr>
                        <m:ctrlPr>
                          <a:rPr lang="en-US" altLang="zh-CN" sz="2000" b="0" i="1" smtClean="0">
                            <a:solidFill>
                              <a:schemeClr val="tx2"/>
                            </a:solidFill>
                            <a:latin typeface="Cambria Math" panose="02040503050406030204" pitchFamily="18" charset="0"/>
                            <a:ea typeface="Cambria Math" panose="02040503050406030204" pitchFamily="18" charset="0"/>
                          </a:rPr>
                        </m:ctrlPr>
                      </m:sSubPr>
                      <m:e>
                        <m:r>
                          <a:rPr lang="en-US" altLang="zh-CN" sz="2000" b="0" i="1" smtClean="0">
                            <a:solidFill>
                              <a:schemeClr val="tx2"/>
                            </a:solidFill>
                            <a:latin typeface="Cambria Math" panose="02040503050406030204" pitchFamily="18" charset="0"/>
                            <a:ea typeface="Cambria Math" panose="02040503050406030204" pitchFamily="18" charset="0"/>
                          </a:rPr>
                          <m:t>𝐴</m:t>
                        </m:r>
                      </m:e>
                      <m:sub>
                        <m:r>
                          <a:rPr lang="en-US" altLang="zh-CN" sz="2000" b="0" i="1" smtClean="0">
                            <a:solidFill>
                              <a:schemeClr val="tx2"/>
                            </a:solidFill>
                            <a:latin typeface="Cambria Math" panose="02040503050406030204" pitchFamily="18" charset="0"/>
                            <a:ea typeface="Cambria Math" panose="02040503050406030204" pitchFamily="18" charset="0"/>
                          </a:rPr>
                          <m:t>𝑡</m:t>
                        </m:r>
                        <m:r>
                          <a:rPr lang="en-US" altLang="zh-CN" sz="2000" b="0" i="1" smtClean="0">
                            <a:solidFill>
                              <a:schemeClr val="tx2"/>
                            </a:solidFill>
                            <a:latin typeface="Cambria Math" panose="02040503050406030204" pitchFamily="18" charset="0"/>
                            <a:ea typeface="Cambria Math" panose="02040503050406030204" pitchFamily="18" charset="0"/>
                          </a:rPr>
                          <m:t>−1</m:t>
                        </m:r>
                      </m:sub>
                    </m:sSub>
                    <m:r>
                      <a:rPr lang="en-US" altLang="zh-CN" sz="2000" b="0" i="1" smtClean="0">
                        <a:solidFill>
                          <a:schemeClr val="tx2"/>
                        </a:solidFill>
                        <a:latin typeface="Cambria Math" panose="02040503050406030204" pitchFamily="18" charset="0"/>
                        <a:ea typeface="Cambria Math" panose="02040503050406030204" pitchFamily="18" charset="0"/>
                      </a:rPr>
                      <m:t>, ⋯</m:t>
                    </m:r>
                  </m:oMath>
                </a14:m>
                <a:r>
                  <a:rPr lang="en-US" altLang="zh-CN" sz="2000" dirty="0">
                    <a:solidFill>
                      <a:schemeClr val="tx2"/>
                    </a:solidFill>
                  </a:rPr>
                  <a:t>]</a:t>
                </a:r>
              </a:p>
            </p:txBody>
          </p:sp>
        </mc:Choice>
        <mc:Fallback xmlns="">
          <p:sp>
            <p:nvSpPr>
              <p:cNvPr id="8" name="矩形 7">
                <a:extLst>
                  <a:ext uri="{FF2B5EF4-FFF2-40B4-BE49-F238E27FC236}">
                    <a16:creationId xmlns:a16="http://schemas.microsoft.com/office/drawing/2014/main" id="{F2EEA5F8-996A-6BE7-893D-58A2B1D8E3CD}"/>
                  </a:ext>
                </a:extLst>
              </p:cNvPr>
              <p:cNvSpPr>
                <a:spLocks noRot="1" noChangeAspect="1" noMove="1" noResize="1" noEditPoints="1" noAdjustHandles="1" noChangeArrowheads="1" noChangeShapeType="1" noTextEdit="1"/>
              </p:cNvSpPr>
              <p:nvPr/>
            </p:nvSpPr>
            <p:spPr>
              <a:xfrm>
                <a:off x="2006455" y="3318257"/>
                <a:ext cx="4937506" cy="400110"/>
              </a:xfrm>
              <a:prstGeom prst="rect">
                <a:avLst/>
              </a:prstGeom>
              <a:blipFill>
                <a:blip r:embed="rId6"/>
                <a:stretch>
                  <a:fillRect t="-6061" r="-370" b="-27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18962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3D068-21CE-0063-91D4-EE15BC45DC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0C15CC-8370-F0C0-32A7-64B23A4B880A}"/>
              </a:ext>
            </a:extLst>
          </p:cNvPr>
          <p:cNvSpPr>
            <a:spLocks noGrp="1"/>
          </p:cNvSpPr>
          <p:nvPr>
            <p:ph type="title"/>
          </p:nvPr>
        </p:nvSpPr>
        <p:spPr>
          <a:xfrm>
            <a:off x="143935" y="144826"/>
            <a:ext cx="2576687" cy="337358"/>
          </a:xfrm>
        </p:spPr>
        <p:txBody>
          <a:bodyPr/>
          <a:lstStyle/>
          <a:p>
            <a:r>
              <a:rPr lang="zh-CN" altLang="en-US" sz="2800" dirty="0"/>
              <a:t>目录</a:t>
            </a:r>
          </a:p>
        </p:txBody>
      </p:sp>
      <p:sp>
        <p:nvSpPr>
          <p:cNvPr id="3" name="文本框 2">
            <a:extLst>
              <a:ext uri="{FF2B5EF4-FFF2-40B4-BE49-F238E27FC236}">
                <a16:creationId xmlns:a16="http://schemas.microsoft.com/office/drawing/2014/main" id="{46AF0D53-88A4-C12B-7BCA-908B1FD6563A}"/>
              </a:ext>
            </a:extLst>
          </p:cNvPr>
          <p:cNvSpPr txBox="1"/>
          <p:nvPr/>
        </p:nvSpPr>
        <p:spPr>
          <a:xfrm>
            <a:off x="3855154" y="1454516"/>
            <a:ext cx="4134465" cy="4832092"/>
          </a:xfrm>
          <a:prstGeom prst="rect">
            <a:avLst/>
          </a:prstGeom>
          <a:noFill/>
        </p:spPr>
        <p:txBody>
          <a:bodyPr wrap="none" rtlCol="0">
            <a:spAutoFit/>
          </a:bodyPr>
          <a:lstStyle/>
          <a:p>
            <a:pPr algn="l"/>
            <a:r>
              <a:rPr lang="zh-CN" altLang="en-US" sz="2800" b="1" dirty="0">
                <a:solidFill>
                  <a:srgbClr val="808080"/>
                </a:solidFill>
                <a:latin typeface="微软雅黑" panose="020B0503020204020204" pitchFamily="34" charset="-122"/>
                <a:ea typeface="微软雅黑" panose="020B0503020204020204" pitchFamily="34" charset="-122"/>
              </a:rPr>
              <a:t>一、什么是强化学习</a:t>
            </a:r>
            <a:endParaRPr lang="en-US" altLang="zh-CN" sz="2800" b="1" dirty="0">
              <a:solidFill>
                <a:srgbClr val="808080"/>
              </a:solidFill>
              <a:latin typeface="微软雅黑" panose="020B0503020204020204" pitchFamily="34" charset="-122"/>
              <a:ea typeface="微软雅黑" panose="020B0503020204020204" pitchFamily="34" charset="-122"/>
            </a:endParaRPr>
          </a:p>
          <a:p>
            <a:pPr algn="l"/>
            <a:endParaRPr lang="en-US" altLang="zh-CN" sz="2800" b="1" dirty="0">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二、强化学习的基本要素</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三、强化学习的任务类型</a:t>
            </a:r>
            <a:endParaRPr lang="en-US" altLang="zh-CN" sz="2800" b="1" dirty="0">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四、解决强化学习问题</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五、深度强化学习</a:t>
            </a:r>
          </a:p>
          <a:p>
            <a:endParaRPr lang="zh-CN" altLang="en-US" sz="2800" b="1" dirty="0">
              <a:latin typeface="微软雅黑" panose="020B0503020204020204" pitchFamily="34" charset="-122"/>
              <a:ea typeface="微软雅黑" panose="020B0503020204020204" pitchFamily="34" charset="-122"/>
            </a:endParaRPr>
          </a:p>
          <a:p>
            <a:pPr algn="l"/>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263700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52A7396-8837-9F2A-FBF3-DC58DB83EC22}"/>
              </a:ext>
            </a:extLst>
          </p:cNvPr>
          <p:cNvSpPr>
            <a:spLocks noGrp="1"/>
          </p:cNvSpPr>
          <p:nvPr>
            <p:ph type="title"/>
          </p:nvPr>
        </p:nvSpPr>
        <p:spPr/>
        <p:txBody>
          <a:bodyPr/>
          <a:lstStyle/>
          <a:p>
            <a:r>
              <a:rPr lang="zh-CN" altLang="en-US" dirty="0"/>
              <a:t>强化学习的任务类型</a:t>
            </a:r>
          </a:p>
        </p:txBody>
      </p:sp>
      <p:sp>
        <p:nvSpPr>
          <p:cNvPr id="3" name="文本框 2">
            <a:extLst>
              <a:ext uri="{FF2B5EF4-FFF2-40B4-BE49-F238E27FC236}">
                <a16:creationId xmlns:a16="http://schemas.microsoft.com/office/drawing/2014/main" id="{3DAE1BE1-108F-43A6-2911-072FD4CEBADC}"/>
              </a:ext>
            </a:extLst>
          </p:cNvPr>
          <p:cNvSpPr txBox="1"/>
          <p:nvPr/>
        </p:nvSpPr>
        <p:spPr>
          <a:xfrm>
            <a:off x="515007" y="1198179"/>
            <a:ext cx="10670735" cy="2323713"/>
          </a:xfrm>
          <a:prstGeom prst="rect">
            <a:avLst/>
          </a:prstGeom>
          <a:noFill/>
        </p:spPr>
        <p:txBody>
          <a:bodyPr wrap="square" rtlCol="0">
            <a:spAutoFit/>
          </a:bodyPr>
          <a:lstStyle/>
          <a:p>
            <a:pPr algn="l">
              <a:spcAft>
                <a:spcPts val="1500"/>
              </a:spcAft>
            </a:pPr>
            <a:r>
              <a:rPr kumimoji="1" lang="zh-CN" altLang="en-US" sz="2000" b="1" dirty="0">
                <a:solidFill>
                  <a:srgbClr val="070707"/>
                </a:solidFill>
              </a:rPr>
              <a:t>强化学习的两种任务类型：</a:t>
            </a:r>
            <a:endParaRPr kumimoji="1" lang="en-US" altLang="zh-CN" sz="2000" b="1" dirty="0">
              <a:solidFill>
                <a:srgbClr val="070707"/>
              </a:solidFill>
            </a:endParaRPr>
          </a:p>
          <a:p>
            <a:pPr>
              <a:spcAft>
                <a:spcPts val="1500"/>
              </a:spcAft>
            </a:pPr>
            <a:r>
              <a:rPr lang="zh-CN" altLang="en-US" sz="2000" b="1" dirty="0">
                <a:solidFill>
                  <a:srgbClr val="070707"/>
                </a:solidFill>
              </a:rPr>
              <a:t>情节型任务</a:t>
            </a:r>
            <a:r>
              <a:rPr lang="zh-CN" altLang="en-US" sz="2000" dirty="0">
                <a:solidFill>
                  <a:srgbClr val="070707"/>
                </a:solidFill>
              </a:rPr>
              <a:t>（</a:t>
            </a:r>
            <a:r>
              <a:rPr lang="en-US" altLang="zh-CN" sz="2000" dirty="0">
                <a:solidFill>
                  <a:srgbClr val="070707"/>
                </a:solidFill>
              </a:rPr>
              <a:t>Episodic</a:t>
            </a:r>
            <a:r>
              <a:rPr lang="zh-CN" altLang="en-US" sz="2000" dirty="0">
                <a:solidFill>
                  <a:srgbClr val="070707"/>
                </a:solidFill>
              </a:rPr>
              <a:t> </a:t>
            </a:r>
            <a:r>
              <a:rPr lang="en-US" altLang="zh-CN" sz="2000" dirty="0">
                <a:solidFill>
                  <a:srgbClr val="070707"/>
                </a:solidFill>
              </a:rPr>
              <a:t>task</a:t>
            </a:r>
            <a:r>
              <a:rPr lang="zh-CN" altLang="en-US" sz="2000" dirty="0">
                <a:solidFill>
                  <a:srgbClr val="070707"/>
                </a:solidFill>
              </a:rPr>
              <a:t>）：在这种任务中，我们有一个起点和一个终点（即一个终止状态）。这就形成了一个情节</a:t>
            </a:r>
            <a:r>
              <a:rPr lang="zh-CN" altLang="en" sz="2000" dirty="0">
                <a:solidFill>
                  <a:srgbClr val="070707"/>
                </a:solidFill>
              </a:rPr>
              <a:t>：</a:t>
            </a:r>
            <a:r>
              <a:rPr lang="zh-CN" altLang="en-US" sz="2000" dirty="0">
                <a:solidFill>
                  <a:srgbClr val="070707"/>
                </a:solidFill>
              </a:rPr>
              <a:t>由状态</a:t>
            </a:r>
            <a:r>
              <a:rPr lang="zh-CN" altLang="en" sz="2000" dirty="0">
                <a:solidFill>
                  <a:srgbClr val="070707"/>
                </a:solidFill>
              </a:rPr>
              <a:t>、</a:t>
            </a:r>
            <a:r>
              <a:rPr lang="zh-CN" altLang="en-US" sz="2000" dirty="0">
                <a:solidFill>
                  <a:srgbClr val="070707"/>
                </a:solidFill>
              </a:rPr>
              <a:t>动作</a:t>
            </a:r>
            <a:r>
              <a:rPr lang="zh-CN" altLang="en" sz="2000" dirty="0">
                <a:solidFill>
                  <a:srgbClr val="070707"/>
                </a:solidFill>
              </a:rPr>
              <a:t>、</a:t>
            </a:r>
            <a:r>
              <a:rPr lang="zh-CN" altLang="en-US" sz="2000" dirty="0">
                <a:solidFill>
                  <a:srgbClr val="070707"/>
                </a:solidFill>
              </a:rPr>
              <a:t>奖励以及新的状态组成的有限序列。例如，在</a:t>
            </a:r>
            <a:r>
              <a:rPr lang="en-US" altLang="zh-CN" sz="2000" dirty="0">
                <a:solidFill>
                  <a:srgbClr val="070707"/>
                </a:solidFill>
              </a:rPr>
              <a:t>《</a:t>
            </a:r>
            <a:r>
              <a:rPr lang="zh-CN" altLang="en-US" sz="2000" dirty="0">
                <a:solidFill>
                  <a:srgbClr val="070707"/>
                </a:solidFill>
              </a:rPr>
              <a:t>超级马里奥</a:t>
            </a:r>
            <a:r>
              <a:rPr lang="en-US" altLang="zh-CN" sz="2000" dirty="0">
                <a:solidFill>
                  <a:srgbClr val="070707"/>
                </a:solidFill>
              </a:rPr>
              <a:t>》</a:t>
            </a:r>
            <a:r>
              <a:rPr lang="zh-CN" altLang="en-US" sz="2000" dirty="0">
                <a:solidFill>
                  <a:srgbClr val="070707"/>
                </a:solidFill>
              </a:rPr>
              <a:t>游戏中，一个情节从开启一个关卡开始，以被击败或到达关卡终点为结束。</a:t>
            </a:r>
            <a:endParaRPr lang="en-US" altLang="zh-CN" sz="2000" dirty="0">
              <a:solidFill>
                <a:srgbClr val="070707"/>
              </a:solidFill>
            </a:endParaRPr>
          </a:p>
          <a:p>
            <a:pPr>
              <a:spcAft>
                <a:spcPts val="1500"/>
              </a:spcAft>
            </a:pPr>
            <a:r>
              <a:rPr kumimoji="1" lang="zh-CN" altLang="en-US" sz="2000" b="1" dirty="0">
                <a:solidFill>
                  <a:srgbClr val="070707"/>
                </a:solidFill>
              </a:rPr>
              <a:t>连续型任务</a:t>
            </a:r>
            <a:r>
              <a:rPr kumimoji="1" lang="zh-CN" altLang="en-US" sz="2000" dirty="0">
                <a:solidFill>
                  <a:srgbClr val="070707"/>
                </a:solidFill>
              </a:rPr>
              <a:t>（</a:t>
            </a:r>
            <a:r>
              <a:rPr kumimoji="1" lang="en-US" altLang="zh-CN" sz="2000" dirty="0">
                <a:solidFill>
                  <a:srgbClr val="070707"/>
                </a:solidFill>
              </a:rPr>
              <a:t>Continuing</a:t>
            </a:r>
            <a:r>
              <a:rPr kumimoji="1" lang="zh-CN" altLang="en-US" sz="2000" dirty="0">
                <a:solidFill>
                  <a:srgbClr val="070707"/>
                </a:solidFill>
              </a:rPr>
              <a:t> </a:t>
            </a:r>
            <a:r>
              <a:rPr kumimoji="1" lang="en-US" altLang="zh-CN" sz="2000" dirty="0">
                <a:solidFill>
                  <a:srgbClr val="070707"/>
                </a:solidFill>
              </a:rPr>
              <a:t>task</a:t>
            </a:r>
            <a:r>
              <a:rPr kumimoji="1" lang="zh-CN" altLang="en-US" sz="2000" dirty="0">
                <a:solidFill>
                  <a:srgbClr val="070707"/>
                </a:solidFill>
              </a:rPr>
              <a:t>）：这种任务没有终止状态，智能体必须持续与环境交互并学习如何选择最优的动作。例如执行自动化股票交易的任务。</a:t>
            </a:r>
            <a:endParaRPr kumimoji="1" lang="en-US" altLang="zh-CN" sz="2000" dirty="0">
              <a:solidFill>
                <a:srgbClr val="070707"/>
              </a:solidFill>
            </a:endParaRPr>
          </a:p>
        </p:txBody>
      </p:sp>
      <p:pic>
        <p:nvPicPr>
          <p:cNvPr id="1026" name="Picture 2" descr="Stock Market">
            <a:extLst>
              <a:ext uri="{FF2B5EF4-FFF2-40B4-BE49-F238E27FC236}">
                <a16:creationId xmlns:a16="http://schemas.microsoft.com/office/drawing/2014/main" id="{C3FF860B-FB91-1669-9478-9646FF55C6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5798" y="3630573"/>
            <a:ext cx="3377382" cy="2029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7241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C6312-6420-456B-A9DD-3DD381BF0505}"/>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A32BE182-58B3-9258-9ECA-DAEC75A67BCD}"/>
              </a:ext>
            </a:extLst>
          </p:cNvPr>
          <p:cNvSpPr>
            <a:spLocks noGrp="1"/>
          </p:cNvSpPr>
          <p:nvPr>
            <p:ph type="title"/>
          </p:nvPr>
        </p:nvSpPr>
        <p:spPr/>
        <p:txBody>
          <a:bodyPr/>
          <a:lstStyle/>
          <a:p>
            <a:r>
              <a:rPr lang="zh-CN" altLang="en-US" dirty="0"/>
              <a:t>强化学习的任务类型</a:t>
            </a:r>
          </a:p>
        </p:txBody>
      </p:sp>
      <p:sp>
        <p:nvSpPr>
          <p:cNvPr id="3" name="文本框 2">
            <a:extLst>
              <a:ext uri="{FF2B5EF4-FFF2-40B4-BE49-F238E27FC236}">
                <a16:creationId xmlns:a16="http://schemas.microsoft.com/office/drawing/2014/main" id="{C8AD2BEF-B9AF-1F00-C2A6-F19444259A54}"/>
              </a:ext>
            </a:extLst>
          </p:cNvPr>
          <p:cNvSpPr txBox="1"/>
          <p:nvPr/>
        </p:nvSpPr>
        <p:spPr>
          <a:xfrm>
            <a:off x="515007" y="1198179"/>
            <a:ext cx="10670735" cy="400110"/>
          </a:xfrm>
          <a:prstGeom prst="rect">
            <a:avLst/>
          </a:prstGeom>
          <a:noFill/>
        </p:spPr>
        <p:txBody>
          <a:bodyPr wrap="square" rtlCol="0">
            <a:spAutoFit/>
          </a:bodyPr>
          <a:lstStyle/>
          <a:p>
            <a:pPr algn="l">
              <a:spcAft>
                <a:spcPts val="1500"/>
              </a:spcAft>
            </a:pPr>
            <a:r>
              <a:rPr kumimoji="1" lang="zh-CN" altLang="en-US" sz="2000" b="1" dirty="0">
                <a:solidFill>
                  <a:srgbClr val="070707"/>
                </a:solidFill>
              </a:rPr>
              <a:t>情节型任务：</a:t>
            </a:r>
            <a:r>
              <a:rPr kumimoji="1" lang="zh-CN" altLang="en-US" sz="2000" dirty="0">
                <a:solidFill>
                  <a:srgbClr val="070707"/>
                </a:solidFill>
              </a:rPr>
              <a:t>明确的任务目标、具有起点和终点</a:t>
            </a:r>
            <a:endParaRPr kumimoji="1" lang="en-US" altLang="zh-CN" sz="2000" dirty="0">
              <a:solidFill>
                <a:srgbClr val="070707"/>
              </a:solidFill>
            </a:endParaRPr>
          </a:p>
        </p:txBody>
      </p:sp>
      <p:pic>
        <p:nvPicPr>
          <p:cNvPr id="6" name="图片 5">
            <a:extLst>
              <a:ext uri="{FF2B5EF4-FFF2-40B4-BE49-F238E27FC236}">
                <a16:creationId xmlns:a16="http://schemas.microsoft.com/office/drawing/2014/main" id="{C026C567-BE81-D6EC-5961-100670AF39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2536" y="1841782"/>
            <a:ext cx="2921000" cy="2978150"/>
          </a:xfrm>
          <a:prstGeom prst="rect">
            <a:avLst/>
          </a:prstGeom>
        </p:spPr>
      </p:pic>
      <p:pic>
        <p:nvPicPr>
          <p:cNvPr id="8" name="图片 7">
            <a:extLst>
              <a:ext uri="{FF2B5EF4-FFF2-40B4-BE49-F238E27FC236}">
                <a16:creationId xmlns:a16="http://schemas.microsoft.com/office/drawing/2014/main" id="{9F4DFFC3-0D54-2EBB-6F8D-31C77A885A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2256" y="2133601"/>
            <a:ext cx="3701690" cy="1984106"/>
          </a:xfrm>
          <a:prstGeom prst="rect">
            <a:avLst/>
          </a:prstGeom>
        </p:spPr>
      </p:pic>
      <p:sp>
        <p:nvSpPr>
          <p:cNvPr id="9" name="文本框 8">
            <a:extLst>
              <a:ext uri="{FF2B5EF4-FFF2-40B4-BE49-F238E27FC236}">
                <a16:creationId xmlns:a16="http://schemas.microsoft.com/office/drawing/2014/main" id="{646D16B6-AC8E-CA36-425F-CFBE27B76FF9}"/>
              </a:ext>
            </a:extLst>
          </p:cNvPr>
          <p:cNvSpPr txBox="1"/>
          <p:nvPr/>
        </p:nvSpPr>
        <p:spPr>
          <a:xfrm>
            <a:off x="384516" y="5287388"/>
            <a:ext cx="3217041" cy="338554"/>
          </a:xfrm>
          <a:prstGeom prst="rect">
            <a:avLst/>
          </a:prstGeom>
          <a:noFill/>
        </p:spPr>
        <p:txBody>
          <a:bodyPr wrap="square" rtlCol="0">
            <a:spAutoFit/>
          </a:bodyPr>
          <a:lstStyle/>
          <a:p>
            <a:r>
              <a:rPr kumimoji="1" lang="zh-CN" altLang="en-US" sz="1600" dirty="0">
                <a:solidFill>
                  <a:srgbClr val="070707"/>
                </a:solidFill>
              </a:rPr>
              <a:t>关卡制游戏：</a:t>
            </a:r>
            <a:r>
              <a:rPr kumimoji="1" lang="en-US" altLang="zh-CN" sz="1600" dirty="0">
                <a:solidFill>
                  <a:srgbClr val="070707"/>
                </a:solidFill>
              </a:rPr>
              <a:t>《</a:t>
            </a:r>
            <a:r>
              <a:rPr kumimoji="1" lang="zh-CN" altLang="en-US" sz="1600" dirty="0">
                <a:solidFill>
                  <a:srgbClr val="070707"/>
                </a:solidFill>
              </a:rPr>
              <a:t>超级马里奥兄弟</a:t>
            </a:r>
            <a:r>
              <a:rPr kumimoji="1" lang="en-US" altLang="zh-CN" sz="1600" dirty="0">
                <a:solidFill>
                  <a:srgbClr val="070707"/>
                </a:solidFill>
              </a:rPr>
              <a:t>》</a:t>
            </a:r>
            <a:endParaRPr kumimoji="1" lang="zh-CN" altLang="en-US" sz="1600" dirty="0">
              <a:solidFill>
                <a:srgbClr val="070707"/>
              </a:solidFill>
            </a:endParaRPr>
          </a:p>
        </p:txBody>
      </p:sp>
      <p:sp>
        <p:nvSpPr>
          <p:cNvPr id="10" name="三角形 9">
            <a:extLst>
              <a:ext uri="{FF2B5EF4-FFF2-40B4-BE49-F238E27FC236}">
                <a16:creationId xmlns:a16="http://schemas.microsoft.com/office/drawing/2014/main" id="{F3AC839F-D9BA-F42B-1CD9-5CE75BCDF0BC}"/>
              </a:ext>
            </a:extLst>
          </p:cNvPr>
          <p:cNvSpPr/>
          <p:nvPr/>
        </p:nvSpPr>
        <p:spPr>
          <a:xfrm>
            <a:off x="1876169" y="4991973"/>
            <a:ext cx="233737" cy="123374"/>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7630A424-091D-8550-471B-DEDA6D209A5D}"/>
              </a:ext>
            </a:extLst>
          </p:cNvPr>
          <p:cNvSpPr txBox="1"/>
          <p:nvPr/>
        </p:nvSpPr>
        <p:spPr>
          <a:xfrm>
            <a:off x="4829019" y="4650655"/>
            <a:ext cx="1950545" cy="338554"/>
          </a:xfrm>
          <a:prstGeom prst="rect">
            <a:avLst/>
          </a:prstGeom>
          <a:noFill/>
        </p:spPr>
        <p:txBody>
          <a:bodyPr wrap="square" rtlCol="0">
            <a:spAutoFit/>
          </a:bodyPr>
          <a:lstStyle/>
          <a:p>
            <a:r>
              <a:rPr kumimoji="1" lang="zh-CN" altLang="en-US" sz="1600" dirty="0">
                <a:solidFill>
                  <a:srgbClr val="070707"/>
                </a:solidFill>
              </a:rPr>
              <a:t>机械臂抓取任务</a:t>
            </a:r>
          </a:p>
        </p:txBody>
      </p:sp>
      <p:sp>
        <p:nvSpPr>
          <p:cNvPr id="12" name="三角形 11">
            <a:extLst>
              <a:ext uri="{FF2B5EF4-FFF2-40B4-BE49-F238E27FC236}">
                <a16:creationId xmlns:a16="http://schemas.microsoft.com/office/drawing/2014/main" id="{86DC9C2B-B82F-F9DC-06C1-08D3F0D9DEBA}"/>
              </a:ext>
            </a:extLst>
          </p:cNvPr>
          <p:cNvSpPr/>
          <p:nvPr/>
        </p:nvSpPr>
        <p:spPr>
          <a:xfrm>
            <a:off x="5570555" y="4372923"/>
            <a:ext cx="233737" cy="123374"/>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pic>
        <p:nvPicPr>
          <p:cNvPr id="1030" name="Picture 6" descr="AlphaZero - Chess Engines - Chess.com">
            <a:extLst>
              <a:ext uri="{FF2B5EF4-FFF2-40B4-BE49-F238E27FC236}">
                <a16:creationId xmlns:a16="http://schemas.microsoft.com/office/drawing/2014/main" id="{F8C70C83-80CE-F4BE-1517-051AF0C8AA0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64179" y="1974210"/>
            <a:ext cx="4046579" cy="2302888"/>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2EDC99A8-BE1B-A469-0DBF-7AE3C26FD9F9}"/>
              </a:ext>
            </a:extLst>
          </p:cNvPr>
          <p:cNvSpPr txBox="1"/>
          <p:nvPr/>
        </p:nvSpPr>
        <p:spPr>
          <a:xfrm>
            <a:off x="8378035" y="4815616"/>
            <a:ext cx="2854931" cy="584775"/>
          </a:xfrm>
          <a:prstGeom prst="rect">
            <a:avLst/>
          </a:prstGeom>
          <a:noFill/>
        </p:spPr>
        <p:txBody>
          <a:bodyPr wrap="square" rtlCol="0">
            <a:spAutoFit/>
          </a:bodyPr>
          <a:lstStyle/>
          <a:p>
            <a:r>
              <a:rPr kumimoji="1" lang="zh-CN" altLang="en-US" sz="1600" dirty="0">
                <a:solidFill>
                  <a:srgbClr val="070707"/>
                </a:solidFill>
              </a:rPr>
              <a:t>国际象棋游戏：明确的规则、获胜目标、开局</a:t>
            </a:r>
            <a:r>
              <a:rPr kumimoji="1" lang="zh-CN" altLang="en-US" sz="1600">
                <a:solidFill>
                  <a:srgbClr val="070707"/>
                </a:solidFill>
              </a:rPr>
              <a:t>与终局状态</a:t>
            </a:r>
            <a:endParaRPr kumimoji="1" lang="zh-CN" altLang="en-US" sz="1600" dirty="0">
              <a:solidFill>
                <a:srgbClr val="070707"/>
              </a:solidFill>
            </a:endParaRPr>
          </a:p>
        </p:txBody>
      </p:sp>
      <p:sp>
        <p:nvSpPr>
          <p:cNvPr id="14" name="三角形 13">
            <a:extLst>
              <a:ext uri="{FF2B5EF4-FFF2-40B4-BE49-F238E27FC236}">
                <a16:creationId xmlns:a16="http://schemas.microsoft.com/office/drawing/2014/main" id="{9007BBF3-C3A2-D5EA-72B7-FB798E2331AE}"/>
              </a:ext>
            </a:extLst>
          </p:cNvPr>
          <p:cNvSpPr/>
          <p:nvPr/>
        </p:nvSpPr>
        <p:spPr>
          <a:xfrm>
            <a:off x="9800969" y="4542200"/>
            <a:ext cx="233737" cy="123374"/>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094375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9A40D-5192-5EE3-FC71-56405639382F}"/>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392631D-E5A1-8EB6-1B2B-D446471328F8}"/>
              </a:ext>
            </a:extLst>
          </p:cNvPr>
          <p:cNvSpPr>
            <a:spLocks noGrp="1"/>
          </p:cNvSpPr>
          <p:nvPr>
            <p:ph type="title"/>
          </p:nvPr>
        </p:nvSpPr>
        <p:spPr/>
        <p:txBody>
          <a:bodyPr/>
          <a:lstStyle/>
          <a:p>
            <a:r>
              <a:rPr lang="zh-CN" altLang="en-US" dirty="0"/>
              <a:t>强化学习的任务类型</a:t>
            </a:r>
          </a:p>
        </p:txBody>
      </p:sp>
      <p:sp>
        <p:nvSpPr>
          <p:cNvPr id="3" name="文本框 2">
            <a:extLst>
              <a:ext uri="{FF2B5EF4-FFF2-40B4-BE49-F238E27FC236}">
                <a16:creationId xmlns:a16="http://schemas.microsoft.com/office/drawing/2014/main" id="{D8EF2DFF-6D69-BF4B-F172-0805B4317FFF}"/>
              </a:ext>
            </a:extLst>
          </p:cNvPr>
          <p:cNvSpPr txBox="1"/>
          <p:nvPr/>
        </p:nvSpPr>
        <p:spPr>
          <a:xfrm>
            <a:off x="515007" y="1198179"/>
            <a:ext cx="10670735" cy="400110"/>
          </a:xfrm>
          <a:prstGeom prst="rect">
            <a:avLst/>
          </a:prstGeom>
          <a:noFill/>
        </p:spPr>
        <p:txBody>
          <a:bodyPr wrap="square" rtlCol="0">
            <a:spAutoFit/>
          </a:bodyPr>
          <a:lstStyle/>
          <a:p>
            <a:pPr algn="l">
              <a:spcAft>
                <a:spcPts val="1500"/>
              </a:spcAft>
            </a:pPr>
            <a:r>
              <a:rPr kumimoji="1" lang="zh-CN" altLang="en-US" sz="2000" b="1" dirty="0">
                <a:solidFill>
                  <a:srgbClr val="070707"/>
                </a:solidFill>
              </a:rPr>
              <a:t>连续型任务：</a:t>
            </a:r>
            <a:r>
              <a:rPr kumimoji="1" lang="zh-CN" altLang="en-US" sz="2000" dirty="0">
                <a:solidFill>
                  <a:srgbClr val="070707"/>
                </a:solidFill>
              </a:rPr>
              <a:t>开放任务，没有终点，不断学习</a:t>
            </a:r>
            <a:endParaRPr kumimoji="1" lang="en-US" altLang="zh-CN" sz="2000" dirty="0">
              <a:solidFill>
                <a:srgbClr val="070707"/>
              </a:solidFill>
            </a:endParaRPr>
          </a:p>
        </p:txBody>
      </p:sp>
      <p:pic>
        <p:nvPicPr>
          <p:cNvPr id="8" name="图片 7">
            <a:extLst>
              <a:ext uri="{FF2B5EF4-FFF2-40B4-BE49-F238E27FC236}">
                <a16:creationId xmlns:a16="http://schemas.microsoft.com/office/drawing/2014/main" id="{B5967B27-C3D2-5E7B-14BB-DF7B7CC04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242" y="2034490"/>
            <a:ext cx="3607552" cy="2029248"/>
          </a:xfrm>
          <a:prstGeom prst="rect">
            <a:avLst/>
          </a:prstGeom>
        </p:spPr>
      </p:pic>
      <p:sp>
        <p:nvSpPr>
          <p:cNvPr id="9" name="文本框 8">
            <a:extLst>
              <a:ext uri="{FF2B5EF4-FFF2-40B4-BE49-F238E27FC236}">
                <a16:creationId xmlns:a16="http://schemas.microsoft.com/office/drawing/2014/main" id="{2AC1A4DB-24EA-B287-CA79-6DB6401707C1}"/>
              </a:ext>
            </a:extLst>
          </p:cNvPr>
          <p:cNvSpPr txBox="1"/>
          <p:nvPr/>
        </p:nvSpPr>
        <p:spPr>
          <a:xfrm>
            <a:off x="770123" y="4607697"/>
            <a:ext cx="2932386" cy="584775"/>
          </a:xfrm>
          <a:prstGeom prst="rect">
            <a:avLst/>
          </a:prstGeom>
          <a:noFill/>
        </p:spPr>
        <p:txBody>
          <a:bodyPr wrap="square" rtlCol="0">
            <a:spAutoFit/>
          </a:bodyPr>
          <a:lstStyle/>
          <a:p>
            <a:r>
              <a:rPr lang="en-US" altLang="zh-CN" sz="1600" b="0" i="0" dirty="0">
                <a:solidFill>
                  <a:srgbClr val="070707"/>
                </a:solidFill>
                <a:effectLst/>
                <a:latin typeface="Source Sans Pro" panose="020B0503030403020204" pitchFamily="34" charset="0"/>
              </a:rPr>
              <a:t>《Minecraft》</a:t>
            </a:r>
            <a:r>
              <a:rPr lang="zh-CN" altLang="en-US" sz="1600" b="0" i="0" dirty="0">
                <a:solidFill>
                  <a:srgbClr val="070707"/>
                </a:solidFill>
                <a:effectLst/>
                <a:latin typeface="Source Sans Pro" panose="020B0503030403020204" pitchFamily="34" charset="0"/>
              </a:rPr>
              <a:t>游戏：开放世界，没有特定任务，没有终点</a:t>
            </a:r>
            <a:endParaRPr kumimoji="1" lang="zh-CN" altLang="en-US" sz="1600" dirty="0">
              <a:solidFill>
                <a:srgbClr val="070707"/>
              </a:solidFill>
            </a:endParaRPr>
          </a:p>
        </p:txBody>
      </p:sp>
      <p:sp>
        <p:nvSpPr>
          <p:cNvPr id="10" name="三角形 9">
            <a:extLst>
              <a:ext uri="{FF2B5EF4-FFF2-40B4-BE49-F238E27FC236}">
                <a16:creationId xmlns:a16="http://schemas.microsoft.com/office/drawing/2014/main" id="{30AB142F-67D0-4BD7-977A-F8CC79746F63}"/>
              </a:ext>
            </a:extLst>
          </p:cNvPr>
          <p:cNvSpPr/>
          <p:nvPr/>
        </p:nvSpPr>
        <p:spPr>
          <a:xfrm>
            <a:off x="2119448" y="4312282"/>
            <a:ext cx="233737" cy="123374"/>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pic>
        <p:nvPicPr>
          <p:cNvPr id="11" name="Picture 2" descr="Stock Market">
            <a:extLst>
              <a:ext uri="{FF2B5EF4-FFF2-40B4-BE49-F238E27FC236}">
                <a16:creationId xmlns:a16="http://schemas.microsoft.com/office/drawing/2014/main" id="{59C61F5B-5E6F-6F40-359A-58F666D41D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47642" y="2034490"/>
            <a:ext cx="3377382" cy="2029248"/>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AB54A5DF-F1A3-3A24-E2AB-78B124E24091}"/>
              </a:ext>
            </a:extLst>
          </p:cNvPr>
          <p:cNvSpPr txBox="1"/>
          <p:nvPr/>
        </p:nvSpPr>
        <p:spPr>
          <a:xfrm>
            <a:off x="4585226" y="4607697"/>
            <a:ext cx="2660328" cy="584775"/>
          </a:xfrm>
          <a:prstGeom prst="rect">
            <a:avLst/>
          </a:prstGeom>
          <a:noFill/>
        </p:spPr>
        <p:txBody>
          <a:bodyPr wrap="square" rtlCol="0">
            <a:spAutoFit/>
          </a:bodyPr>
          <a:lstStyle/>
          <a:p>
            <a:r>
              <a:rPr lang="zh-CN" altLang="en-US" sz="1600" dirty="0">
                <a:solidFill>
                  <a:srgbClr val="070707"/>
                </a:solidFill>
                <a:latin typeface="Source Sans Pro" panose="020B0503030403020204" pitchFamily="34" charset="0"/>
              </a:rPr>
              <a:t>股票交易：不断运行，没有终止状态</a:t>
            </a:r>
            <a:endParaRPr kumimoji="1" lang="zh-CN" altLang="en-US" sz="1600" dirty="0">
              <a:solidFill>
                <a:srgbClr val="070707"/>
              </a:solidFill>
            </a:endParaRPr>
          </a:p>
        </p:txBody>
      </p:sp>
      <p:sp>
        <p:nvSpPr>
          <p:cNvPr id="13" name="三角形 12">
            <a:extLst>
              <a:ext uri="{FF2B5EF4-FFF2-40B4-BE49-F238E27FC236}">
                <a16:creationId xmlns:a16="http://schemas.microsoft.com/office/drawing/2014/main" id="{E1E4EA39-C591-864F-74B9-A4EE66ACEFD3}"/>
              </a:ext>
            </a:extLst>
          </p:cNvPr>
          <p:cNvSpPr/>
          <p:nvPr/>
        </p:nvSpPr>
        <p:spPr>
          <a:xfrm>
            <a:off x="5817682" y="4312282"/>
            <a:ext cx="233737" cy="123374"/>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74A3B01C-223E-84F9-84FF-AAE4DA65497F}"/>
              </a:ext>
            </a:extLst>
          </p:cNvPr>
          <p:cNvSpPr txBox="1"/>
          <p:nvPr/>
        </p:nvSpPr>
        <p:spPr>
          <a:xfrm>
            <a:off x="8415921" y="4607697"/>
            <a:ext cx="3005956" cy="584775"/>
          </a:xfrm>
          <a:prstGeom prst="rect">
            <a:avLst/>
          </a:prstGeom>
          <a:noFill/>
        </p:spPr>
        <p:txBody>
          <a:bodyPr wrap="square" rtlCol="0">
            <a:spAutoFit/>
          </a:bodyPr>
          <a:lstStyle/>
          <a:p>
            <a:r>
              <a:rPr lang="zh-CN" altLang="en-US" sz="1600" dirty="0">
                <a:solidFill>
                  <a:srgbClr val="070707"/>
                </a:solidFill>
                <a:latin typeface="Source Sans Pro" panose="020B0503030403020204" pitchFamily="34" charset="0"/>
              </a:rPr>
              <a:t>自动驾驶：开放未知场景，根据场景切换任务，动态决策</a:t>
            </a:r>
            <a:endParaRPr kumimoji="1" lang="zh-CN" altLang="en-US" sz="1600" dirty="0">
              <a:solidFill>
                <a:srgbClr val="070707"/>
              </a:solidFill>
            </a:endParaRPr>
          </a:p>
        </p:txBody>
      </p:sp>
      <p:sp>
        <p:nvSpPr>
          <p:cNvPr id="16" name="三角形 15">
            <a:extLst>
              <a:ext uri="{FF2B5EF4-FFF2-40B4-BE49-F238E27FC236}">
                <a16:creationId xmlns:a16="http://schemas.microsoft.com/office/drawing/2014/main" id="{2F1AF2AD-4F8F-3811-706F-67EA2A0CB47A}"/>
              </a:ext>
            </a:extLst>
          </p:cNvPr>
          <p:cNvSpPr/>
          <p:nvPr/>
        </p:nvSpPr>
        <p:spPr>
          <a:xfrm>
            <a:off x="9648377" y="4312282"/>
            <a:ext cx="233737" cy="123374"/>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pic>
        <p:nvPicPr>
          <p:cNvPr id="2050" name="Picture 2" descr="alter:自动驾驶的行至中场：毫末智行领跑“重感知、轻地图”路线 - 科技先生">
            <a:extLst>
              <a:ext uri="{FF2B5EF4-FFF2-40B4-BE49-F238E27FC236}">
                <a16:creationId xmlns:a16="http://schemas.microsoft.com/office/drawing/2014/main" id="{C2B39C1C-9667-DBA9-3CA9-9C5E7971FCE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78337" y="1919746"/>
            <a:ext cx="3607553" cy="2141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824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B21CD-A166-D877-1FA5-2495B6BE4F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FEEB691-B14C-8426-A24E-B7C7ED0E7966}"/>
              </a:ext>
            </a:extLst>
          </p:cNvPr>
          <p:cNvSpPr>
            <a:spLocks noGrp="1"/>
          </p:cNvSpPr>
          <p:nvPr>
            <p:ph type="title"/>
          </p:nvPr>
        </p:nvSpPr>
        <p:spPr>
          <a:xfrm>
            <a:off x="143935" y="144826"/>
            <a:ext cx="2576687" cy="337358"/>
          </a:xfrm>
        </p:spPr>
        <p:txBody>
          <a:bodyPr/>
          <a:lstStyle/>
          <a:p>
            <a:r>
              <a:rPr lang="zh-CN" altLang="en-US" sz="2800" dirty="0"/>
              <a:t>目录</a:t>
            </a:r>
          </a:p>
        </p:txBody>
      </p:sp>
      <p:sp>
        <p:nvSpPr>
          <p:cNvPr id="3" name="文本框 2">
            <a:extLst>
              <a:ext uri="{FF2B5EF4-FFF2-40B4-BE49-F238E27FC236}">
                <a16:creationId xmlns:a16="http://schemas.microsoft.com/office/drawing/2014/main" id="{1AF163D0-3D86-D5B4-FF9D-81C6928552C4}"/>
              </a:ext>
            </a:extLst>
          </p:cNvPr>
          <p:cNvSpPr txBox="1"/>
          <p:nvPr/>
        </p:nvSpPr>
        <p:spPr>
          <a:xfrm>
            <a:off x="3855154" y="1454516"/>
            <a:ext cx="4134465" cy="4832092"/>
          </a:xfrm>
          <a:prstGeom prst="rect">
            <a:avLst/>
          </a:prstGeom>
          <a:noFill/>
        </p:spPr>
        <p:txBody>
          <a:bodyPr wrap="none" rtlCol="0">
            <a:spAutoFit/>
          </a:bodyPr>
          <a:lstStyle/>
          <a:p>
            <a:pPr algn="l"/>
            <a:r>
              <a:rPr lang="zh-CN" altLang="en-US" sz="2800" b="1" dirty="0">
                <a:solidFill>
                  <a:srgbClr val="808080"/>
                </a:solidFill>
                <a:latin typeface="微软雅黑" panose="020B0503020204020204" pitchFamily="34" charset="-122"/>
                <a:ea typeface="微软雅黑" panose="020B0503020204020204" pitchFamily="34" charset="-122"/>
              </a:rPr>
              <a:t>一、什么是强化学习</a:t>
            </a:r>
            <a:endParaRPr lang="en-US" altLang="zh-CN" sz="2800" b="1" dirty="0">
              <a:solidFill>
                <a:srgbClr val="808080"/>
              </a:solidFill>
              <a:latin typeface="微软雅黑" panose="020B0503020204020204" pitchFamily="34" charset="-122"/>
              <a:ea typeface="微软雅黑" panose="020B0503020204020204" pitchFamily="34" charset="-122"/>
            </a:endParaRPr>
          </a:p>
          <a:p>
            <a:pPr algn="l"/>
            <a:endParaRPr lang="en-US" altLang="zh-CN" sz="2800" b="1" dirty="0">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二、强化学习的基本要素</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三、强化学习的任务类型</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latin typeface="微软雅黑" panose="020B0503020204020204" pitchFamily="34" charset="-122"/>
                <a:ea typeface="微软雅黑" panose="020B0503020204020204" pitchFamily="34" charset="-122"/>
              </a:rPr>
              <a:t>四、解决强化学习问题</a:t>
            </a:r>
            <a:endParaRPr lang="en-US" altLang="zh-CN" sz="2800" b="1" dirty="0">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五、深度强化学习</a:t>
            </a:r>
          </a:p>
          <a:p>
            <a:endParaRPr lang="zh-CN" altLang="en-US" sz="2800" b="1" dirty="0">
              <a:latin typeface="微软雅黑" panose="020B0503020204020204" pitchFamily="34" charset="-122"/>
              <a:ea typeface="微软雅黑" panose="020B0503020204020204" pitchFamily="34" charset="-122"/>
            </a:endParaRPr>
          </a:p>
          <a:p>
            <a:pPr algn="l"/>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9485764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407E-B603-AF12-120D-CA4B53FF433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D785D76-640E-2C0F-C304-9C0DF3F4AA2B}"/>
              </a:ext>
            </a:extLst>
          </p:cNvPr>
          <p:cNvSpPr>
            <a:spLocks noGrp="1"/>
          </p:cNvSpPr>
          <p:nvPr>
            <p:ph type="title"/>
          </p:nvPr>
        </p:nvSpPr>
        <p:spPr/>
        <p:txBody>
          <a:bodyPr/>
          <a:lstStyle/>
          <a:p>
            <a:r>
              <a:rPr lang="zh-CN" altLang="en-US" dirty="0"/>
              <a:t>解决强化学习问题</a:t>
            </a:r>
          </a:p>
        </p:txBody>
      </p:sp>
      <p:sp>
        <p:nvSpPr>
          <p:cNvPr id="3" name="文本框 2">
            <a:extLst>
              <a:ext uri="{FF2B5EF4-FFF2-40B4-BE49-F238E27FC236}">
                <a16:creationId xmlns:a16="http://schemas.microsoft.com/office/drawing/2014/main" id="{FAC2A9CC-52C3-1C19-48DD-7B62F7F81879}"/>
              </a:ext>
            </a:extLst>
          </p:cNvPr>
          <p:cNvSpPr txBox="1"/>
          <p:nvPr/>
        </p:nvSpPr>
        <p:spPr>
          <a:xfrm>
            <a:off x="515007" y="1198179"/>
            <a:ext cx="10670735" cy="3208571"/>
          </a:xfrm>
          <a:prstGeom prst="rect">
            <a:avLst/>
          </a:prstGeom>
          <a:noFill/>
        </p:spPr>
        <p:txBody>
          <a:bodyPr wrap="square" rtlCol="0">
            <a:spAutoFit/>
          </a:bodyPr>
          <a:lstStyle/>
          <a:p>
            <a:pPr>
              <a:spcAft>
                <a:spcPts val="1500"/>
              </a:spcAft>
            </a:pPr>
            <a:r>
              <a:rPr lang="zh-CN" altLang="en-US" sz="2000" b="1" dirty="0">
                <a:solidFill>
                  <a:srgbClr val="070707"/>
                </a:solidFill>
              </a:rPr>
              <a:t>强化学习的关键问题</a:t>
            </a:r>
            <a:r>
              <a:rPr lang="en-US" altLang="zh-CN" sz="2000" b="1" dirty="0">
                <a:solidFill>
                  <a:srgbClr val="070707"/>
                </a:solidFill>
              </a:rPr>
              <a:t>——</a:t>
            </a:r>
            <a:r>
              <a:rPr lang="zh-CN" altLang="en-US" sz="2000" b="1" dirty="0">
                <a:solidFill>
                  <a:srgbClr val="070707"/>
                </a:solidFill>
              </a:rPr>
              <a:t>探索与利用的平衡：</a:t>
            </a:r>
            <a:endParaRPr lang="en-US" altLang="zh-CN" sz="2000" b="1" dirty="0">
              <a:solidFill>
                <a:srgbClr val="070707"/>
              </a:solidFill>
            </a:endParaRPr>
          </a:p>
          <a:p>
            <a:pPr>
              <a:spcAft>
                <a:spcPts val="1500"/>
              </a:spcAft>
            </a:pPr>
            <a:r>
              <a:rPr lang="zh-CN" altLang="en-US" sz="2000" b="1" dirty="0">
                <a:solidFill>
                  <a:srgbClr val="070707"/>
                </a:solidFill>
              </a:rPr>
              <a:t>探索</a:t>
            </a:r>
            <a:r>
              <a:rPr lang="zh-CN" altLang="en-US" sz="2000" dirty="0">
                <a:solidFill>
                  <a:srgbClr val="070707"/>
                </a:solidFill>
                <a:sym typeface="Wingdings" pitchFamily="2" charset="2"/>
              </a:rPr>
              <a:t>（</a:t>
            </a:r>
            <a:r>
              <a:rPr lang="en-US" altLang="zh-CN" sz="2000" dirty="0">
                <a:solidFill>
                  <a:srgbClr val="070707"/>
                </a:solidFill>
                <a:sym typeface="Wingdings" pitchFamily="2" charset="2"/>
              </a:rPr>
              <a:t>Exploration</a:t>
            </a:r>
            <a:r>
              <a:rPr lang="zh-CN" altLang="en-US" sz="2000" dirty="0">
                <a:solidFill>
                  <a:srgbClr val="070707"/>
                </a:solidFill>
                <a:sym typeface="Wingdings" pitchFamily="2" charset="2"/>
              </a:rPr>
              <a:t>） ：</a:t>
            </a:r>
            <a:r>
              <a:rPr lang="zh-CN" altLang="en-US" sz="2000" b="0" i="0" dirty="0">
                <a:solidFill>
                  <a:srgbClr val="070707"/>
                </a:solidFill>
                <a:effectLst/>
                <a:latin typeface="D-DINExp"/>
              </a:rPr>
              <a:t>通过尝试随机动作来探索环境，从而获取更多关于环境的信息。</a:t>
            </a:r>
            <a:endParaRPr lang="en-US" altLang="zh-CN" sz="2000" b="0" i="0" dirty="0">
              <a:solidFill>
                <a:srgbClr val="070707"/>
              </a:solidFill>
              <a:effectLst/>
              <a:latin typeface="D-DINExp"/>
            </a:endParaRPr>
          </a:p>
          <a:p>
            <a:pPr>
              <a:spcAft>
                <a:spcPts val="1500"/>
              </a:spcAft>
            </a:pPr>
            <a:r>
              <a:rPr lang="zh-CN" altLang="en-US" sz="2000" b="1" i="0" dirty="0">
                <a:solidFill>
                  <a:srgbClr val="070707"/>
                </a:solidFill>
                <a:effectLst/>
                <a:latin typeface="D-DINExp"/>
              </a:rPr>
              <a:t>利用</a:t>
            </a:r>
            <a:r>
              <a:rPr lang="zh-CN" altLang="en-US" sz="2000" b="0" i="0" dirty="0">
                <a:solidFill>
                  <a:srgbClr val="070707"/>
                </a:solidFill>
                <a:effectLst/>
              </a:rPr>
              <a:t>（</a:t>
            </a:r>
            <a:r>
              <a:rPr lang="en-US" altLang="zh-CN" sz="2000" b="0" i="0" dirty="0">
                <a:solidFill>
                  <a:srgbClr val="070707"/>
                </a:solidFill>
                <a:effectLst/>
              </a:rPr>
              <a:t>Exploitation</a:t>
            </a:r>
            <a:r>
              <a:rPr lang="zh-CN" altLang="en-US" sz="2000" b="0" i="0" dirty="0">
                <a:solidFill>
                  <a:srgbClr val="070707"/>
                </a:solidFill>
                <a:effectLst/>
              </a:rPr>
              <a:t>）</a:t>
            </a:r>
            <a:r>
              <a:rPr lang="zh-CN" altLang="en-US" sz="2000" dirty="0">
                <a:solidFill>
                  <a:srgbClr val="070707"/>
                </a:solidFill>
                <a:latin typeface="D-DINExp"/>
              </a:rPr>
              <a:t>：</a:t>
            </a:r>
            <a:r>
              <a:rPr lang="zh-CN" altLang="en-US" sz="2000" b="0" i="0" dirty="0">
                <a:solidFill>
                  <a:srgbClr val="070707"/>
                </a:solidFill>
                <a:effectLst/>
                <a:latin typeface="D-DINExp"/>
              </a:rPr>
              <a:t>利用已知的信息来最大化奖励。</a:t>
            </a:r>
            <a:endParaRPr lang="en-US" altLang="zh-CN" sz="2000" b="0" i="0" dirty="0">
              <a:solidFill>
                <a:srgbClr val="070707"/>
              </a:solidFill>
              <a:effectLst/>
              <a:latin typeface="D-DINExp"/>
            </a:endParaRPr>
          </a:p>
          <a:p>
            <a:pPr>
              <a:spcAft>
                <a:spcPts val="1500"/>
              </a:spcAft>
            </a:pPr>
            <a:r>
              <a:rPr lang="zh-CN" altLang="en-US" sz="2000" b="0" i="0" dirty="0">
                <a:solidFill>
                  <a:srgbClr val="070707"/>
                </a:solidFill>
                <a:effectLst/>
                <a:latin typeface="D-DINExp"/>
              </a:rPr>
              <a:t>在强化学习中，探索和利用的平衡是一个关键问题。探索的缺乏</a:t>
            </a:r>
            <a:r>
              <a:rPr lang="zh-CN" altLang="en-US" sz="2000" dirty="0">
                <a:solidFill>
                  <a:srgbClr val="070707"/>
                </a:solidFill>
                <a:latin typeface="D-DINExp"/>
              </a:rPr>
              <a:t>可能</a:t>
            </a:r>
            <a:r>
              <a:rPr lang="zh-CN" altLang="en-US" sz="2000" b="0" i="0" dirty="0">
                <a:solidFill>
                  <a:srgbClr val="070707"/>
                </a:solidFill>
                <a:effectLst/>
                <a:latin typeface="D-DINExp"/>
              </a:rPr>
              <a:t>导致智能体遗漏环境的关键信息，无法给出最优的决策，而利用的缺乏则背离了最大化期望累计奖励的目标。</a:t>
            </a:r>
            <a:endParaRPr lang="en-US" altLang="zh-CN" sz="2000" b="0" i="0" dirty="0">
              <a:solidFill>
                <a:srgbClr val="070707"/>
              </a:solidFill>
              <a:effectLst/>
              <a:latin typeface="D-DINExp"/>
            </a:endParaRPr>
          </a:p>
          <a:p>
            <a:pPr>
              <a:spcAft>
                <a:spcPts val="1500"/>
              </a:spcAft>
            </a:pPr>
            <a:endParaRPr lang="en-US" altLang="zh-CN" sz="2000" b="0" i="0" dirty="0">
              <a:solidFill>
                <a:srgbClr val="070707"/>
              </a:solidFill>
              <a:effectLst/>
              <a:latin typeface="D-DINExp"/>
            </a:endParaRPr>
          </a:p>
          <a:p>
            <a:pPr>
              <a:spcAft>
                <a:spcPts val="1500"/>
              </a:spcAft>
            </a:pPr>
            <a:endParaRPr kumimoji="1" lang="en-US" altLang="zh-CN" sz="2000" dirty="0">
              <a:solidFill>
                <a:srgbClr val="070707"/>
              </a:solidFill>
            </a:endParaRPr>
          </a:p>
        </p:txBody>
      </p:sp>
      <p:pic>
        <p:nvPicPr>
          <p:cNvPr id="4" name="图片 3">
            <a:extLst>
              <a:ext uri="{FF2B5EF4-FFF2-40B4-BE49-F238E27FC236}">
                <a16:creationId xmlns:a16="http://schemas.microsoft.com/office/drawing/2014/main" id="{08E118AA-874A-F60B-E89D-7FB674347F23}"/>
              </a:ext>
            </a:extLst>
          </p:cNvPr>
          <p:cNvPicPr>
            <a:picLocks noChangeAspect="1"/>
          </p:cNvPicPr>
          <p:nvPr/>
        </p:nvPicPr>
        <p:blipFill>
          <a:blip r:embed="rId2"/>
          <a:stretch>
            <a:fillRect/>
          </a:stretch>
        </p:blipFill>
        <p:spPr>
          <a:xfrm>
            <a:off x="654286" y="3563943"/>
            <a:ext cx="2579242" cy="2558014"/>
          </a:xfrm>
          <a:prstGeom prst="rect">
            <a:avLst/>
          </a:prstGeom>
        </p:spPr>
      </p:pic>
      <p:sp>
        <p:nvSpPr>
          <p:cNvPr id="6" name="文本框 5">
            <a:extLst>
              <a:ext uri="{FF2B5EF4-FFF2-40B4-BE49-F238E27FC236}">
                <a16:creationId xmlns:a16="http://schemas.microsoft.com/office/drawing/2014/main" id="{C8956BF0-6C30-935B-38CF-45EF8759CBF0}"/>
              </a:ext>
            </a:extLst>
          </p:cNvPr>
          <p:cNvSpPr txBox="1"/>
          <p:nvPr/>
        </p:nvSpPr>
        <p:spPr>
          <a:xfrm>
            <a:off x="3569259" y="3495961"/>
            <a:ext cx="4535829" cy="1323439"/>
          </a:xfrm>
          <a:prstGeom prst="rect">
            <a:avLst/>
          </a:prstGeom>
          <a:noFill/>
        </p:spPr>
        <p:txBody>
          <a:bodyPr wrap="square" rtlCol="0">
            <a:spAutoFit/>
          </a:bodyPr>
          <a:lstStyle/>
          <a:p>
            <a:pPr algn="just"/>
            <a:r>
              <a:rPr lang="zh-CN" altLang="en-US" sz="1600" dirty="0">
                <a:solidFill>
                  <a:srgbClr val="070707"/>
                </a:solidFill>
                <a:latin typeface="D-DINExp"/>
              </a:rPr>
              <a:t>智能体控制的小老鼠周围有无限数量的小奶酪（每次获得一个），但在左上角有一个奶酪堆（一次性获得</a:t>
            </a:r>
            <a:r>
              <a:rPr lang="en-US" altLang="zh-CN" sz="1600" dirty="0">
                <a:solidFill>
                  <a:srgbClr val="070707"/>
                </a:solidFill>
                <a:latin typeface="D-DINExp"/>
              </a:rPr>
              <a:t>1000</a:t>
            </a:r>
            <a:r>
              <a:rPr lang="zh-CN" altLang="en-US" sz="1600" dirty="0">
                <a:solidFill>
                  <a:srgbClr val="070707"/>
                </a:solidFill>
                <a:latin typeface="D-DINExp"/>
              </a:rPr>
              <a:t>个）。小老鼠通过一步行动就能拿到附近的小奶酪，如果此时我们只</a:t>
            </a:r>
            <a:r>
              <a:rPr lang="zh-CN" altLang="en-US" sz="1600" b="1" dirty="0">
                <a:solidFill>
                  <a:srgbClr val="070707"/>
                </a:solidFill>
                <a:latin typeface="D-DINExp"/>
              </a:rPr>
              <a:t>利用</a:t>
            </a:r>
            <a:r>
              <a:rPr lang="zh-CN" altLang="en-US" sz="1600" dirty="0">
                <a:solidFill>
                  <a:srgbClr val="070707"/>
                </a:solidFill>
                <a:latin typeface="D-DINExp"/>
              </a:rPr>
              <a:t>这一信息不断取奶酪，就会遗漏左上角的巨大奖励。</a:t>
            </a:r>
            <a:endParaRPr kumimoji="1" lang="zh-CN" altLang="en-US" sz="1600" dirty="0">
              <a:solidFill>
                <a:srgbClr val="070707"/>
              </a:solidFill>
            </a:endParaRPr>
          </a:p>
        </p:txBody>
      </p:sp>
      <p:sp>
        <p:nvSpPr>
          <p:cNvPr id="7" name="三角形 6">
            <a:extLst>
              <a:ext uri="{FF2B5EF4-FFF2-40B4-BE49-F238E27FC236}">
                <a16:creationId xmlns:a16="http://schemas.microsoft.com/office/drawing/2014/main" id="{0AE9CAF1-83F4-C02C-2EF0-691ACA228096}"/>
              </a:ext>
            </a:extLst>
          </p:cNvPr>
          <p:cNvSpPr/>
          <p:nvPr/>
        </p:nvSpPr>
        <p:spPr>
          <a:xfrm rot="16200000">
            <a:off x="3350876" y="3643166"/>
            <a:ext cx="233737" cy="203032"/>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pic>
        <p:nvPicPr>
          <p:cNvPr id="2050" name="Picture 2" descr="勘探">
            <a:extLst>
              <a:ext uri="{FF2B5EF4-FFF2-40B4-BE49-F238E27FC236}">
                <a16:creationId xmlns:a16="http://schemas.microsoft.com/office/drawing/2014/main" id="{AAFC64A2-55FA-06DC-F394-2FB8C3136A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37790" y="3847142"/>
            <a:ext cx="3190078" cy="193256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D6338382-0034-CAFD-8AA6-35A892D4128F}"/>
              </a:ext>
            </a:extLst>
          </p:cNvPr>
          <p:cNvSpPr txBox="1"/>
          <p:nvPr/>
        </p:nvSpPr>
        <p:spPr>
          <a:xfrm>
            <a:off x="3569259" y="5062883"/>
            <a:ext cx="4535829" cy="584775"/>
          </a:xfrm>
          <a:prstGeom prst="rect">
            <a:avLst/>
          </a:prstGeom>
          <a:noFill/>
        </p:spPr>
        <p:txBody>
          <a:bodyPr wrap="square" rtlCol="0">
            <a:spAutoFit/>
          </a:bodyPr>
          <a:lstStyle/>
          <a:p>
            <a:r>
              <a:rPr kumimoji="1" lang="zh-CN" altLang="en-US" sz="1600" dirty="0">
                <a:solidFill>
                  <a:srgbClr val="070707"/>
                </a:solidFill>
                <a:latin typeface="D-DINExp"/>
              </a:rPr>
              <a:t>选择餐厅：是每天都去同一家已知的还不错的餐厅（</a:t>
            </a:r>
            <a:r>
              <a:rPr kumimoji="1" lang="zh-CN" altLang="en-US" sz="1600" b="1" dirty="0">
                <a:solidFill>
                  <a:srgbClr val="070707"/>
                </a:solidFill>
                <a:latin typeface="D-DINExp"/>
              </a:rPr>
              <a:t>利用</a:t>
            </a:r>
            <a:r>
              <a:rPr kumimoji="1" lang="zh-CN" altLang="en-US" sz="1600" dirty="0">
                <a:solidFill>
                  <a:srgbClr val="070707"/>
                </a:solidFill>
                <a:latin typeface="D-DINExp"/>
              </a:rPr>
              <a:t>），还是</a:t>
            </a:r>
            <a:r>
              <a:rPr lang="zh-CN" altLang="en-US" sz="1600" i="0" dirty="0">
                <a:solidFill>
                  <a:srgbClr val="070707"/>
                </a:solidFill>
                <a:effectLst/>
                <a:latin typeface="Source Sans Pro" panose="020B0503030403020204" pitchFamily="34" charset="0"/>
              </a:rPr>
              <a:t>尝试从未去过的餐厅（</a:t>
            </a:r>
            <a:r>
              <a:rPr lang="zh-CN" altLang="en-US" sz="1600" b="1" i="0" dirty="0">
                <a:solidFill>
                  <a:srgbClr val="070707"/>
                </a:solidFill>
                <a:effectLst/>
                <a:latin typeface="Source Sans Pro" panose="020B0503030403020204" pitchFamily="34" charset="0"/>
              </a:rPr>
              <a:t>探索</a:t>
            </a:r>
            <a:r>
              <a:rPr lang="zh-CN" altLang="en-US" sz="1600" i="0" dirty="0">
                <a:solidFill>
                  <a:srgbClr val="070707"/>
                </a:solidFill>
                <a:effectLst/>
                <a:latin typeface="Source Sans Pro" panose="020B0503030403020204" pitchFamily="34" charset="0"/>
              </a:rPr>
              <a:t>）？</a:t>
            </a:r>
            <a:endParaRPr kumimoji="1" lang="zh-CN" altLang="en-US" sz="1600" dirty="0">
              <a:solidFill>
                <a:srgbClr val="070707"/>
              </a:solidFill>
            </a:endParaRPr>
          </a:p>
        </p:txBody>
      </p:sp>
      <p:sp>
        <p:nvSpPr>
          <p:cNvPr id="9" name="三角形 8">
            <a:extLst>
              <a:ext uri="{FF2B5EF4-FFF2-40B4-BE49-F238E27FC236}">
                <a16:creationId xmlns:a16="http://schemas.microsoft.com/office/drawing/2014/main" id="{EC8A144D-373E-A493-82BA-CD3B48D7CD3C}"/>
              </a:ext>
            </a:extLst>
          </p:cNvPr>
          <p:cNvSpPr/>
          <p:nvPr/>
        </p:nvSpPr>
        <p:spPr>
          <a:xfrm rot="5400000">
            <a:off x="8019405" y="5162059"/>
            <a:ext cx="233737" cy="203032"/>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23674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A986E-8EE3-732D-C04B-76EB4E59699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E735E6F-1AE2-2E81-D952-7075A45D3950}"/>
              </a:ext>
            </a:extLst>
          </p:cNvPr>
          <p:cNvSpPr>
            <a:spLocks noGrp="1"/>
          </p:cNvSpPr>
          <p:nvPr>
            <p:ph type="title"/>
          </p:nvPr>
        </p:nvSpPr>
        <p:spPr/>
        <p:txBody>
          <a:bodyPr/>
          <a:lstStyle/>
          <a:p>
            <a:r>
              <a:rPr lang="zh-CN" altLang="en-US" dirty="0"/>
              <a:t>解决强化学习问题</a:t>
            </a:r>
          </a:p>
        </p:txBody>
      </p:sp>
      <p:sp>
        <p:nvSpPr>
          <p:cNvPr id="10" name="文本框 9">
            <a:extLst>
              <a:ext uri="{FF2B5EF4-FFF2-40B4-BE49-F238E27FC236}">
                <a16:creationId xmlns:a16="http://schemas.microsoft.com/office/drawing/2014/main" id="{2FFA80B5-DE6C-46D0-B43B-48A1F71E5E01}"/>
              </a:ext>
            </a:extLst>
          </p:cNvPr>
          <p:cNvSpPr txBox="1"/>
          <p:nvPr/>
        </p:nvSpPr>
        <p:spPr>
          <a:xfrm>
            <a:off x="515007" y="1198179"/>
            <a:ext cx="10670735" cy="3323987"/>
          </a:xfrm>
          <a:prstGeom prst="rect">
            <a:avLst/>
          </a:prstGeom>
          <a:noFill/>
        </p:spPr>
        <p:txBody>
          <a:bodyPr wrap="square" rtlCol="0">
            <a:spAutoFit/>
          </a:bodyPr>
          <a:lstStyle/>
          <a:p>
            <a:pPr algn="l">
              <a:spcAft>
                <a:spcPts val="1500"/>
              </a:spcAft>
            </a:pPr>
            <a:r>
              <a:rPr kumimoji="1" lang="zh-CN" altLang="en-US" sz="2000" dirty="0">
                <a:solidFill>
                  <a:srgbClr val="070707"/>
                </a:solidFill>
              </a:rPr>
              <a:t>如何训练强化学习策略？</a:t>
            </a:r>
            <a:r>
              <a:rPr lang="zh-CN" altLang="en-US" sz="2000" b="0" i="0" dirty="0">
                <a:solidFill>
                  <a:srgbClr val="070707"/>
                </a:solidFill>
                <a:effectLst/>
                <a:latin typeface="Source Sans Pro" panose="020B0503030403020204" pitchFamily="34" charset="0"/>
              </a:rPr>
              <a:t>构建一个能够</a:t>
            </a:r>
            <a:r>
              <a:rPr lang="zh-CN" altLang="en-US" sz="2000" b="1" dirty="0">
                <a:solidFill>
                  <a:srgbClr val="070707"/>
                </a:solidFill>
              </a:rPr>
              <a:t>最大化期望累积奖励</a:t>
            </a:r>
            <a:r>
              <a:rPr lang="zh-CN" altLang="en-US" sz="2000" dirty="0">
                <a:solidFill>
                  <a:srgbClr val="070707"/>
                </a:solidFill>
              </a:rPr>
              <a:t>的智能体。</a:t>
            </a:r>
            <a:endParaRPr lang="en-US" altLang="zh-CN" sz="2000" dirty="0">
              <a:solidFill>
                <a:srgbClr val="070707"/>
              </a:solidFill>
            </a:endParaRPr>
          </a:p>
          <a:p>
            <a:pPr algn="l">
              <a:spcAft>
                <a:spcPts val="1500"/>
              </a:spcAft>
            </a:pPr>
            <a:r>
              <a:rPr lang="zh-CN" altLang="en-US" sz="2000" b="1" dirty="0">
                <a:solidFill>
                  <a:srgbClr val="070707"/>
                </a:solidFill>
              </a:rPr>
              <a:t>策略</a:t>
            </a:r>
            <a:r>
              <a:rPr lang="zh-CN" altLang="en-US" sz="2000" dirty="0">
                <a:solidFill>
                  <a:srgbClr val="070707"/>
                </a:solidFill>
              </a:rPr>
              <a:t>是</a:t>
            </a:r>
            <a:r>
              <a:rPr lang="zh-CN" altLang="en-US" sz="2000" i="0" dirty="0">
                <a:solidFill>
                  <a:srgbClr val="070707"/>
                </a:solidFill>
                <a:effectLst/>
                <a:latin typeface="Source Sans Pro" panose="020B0503030403020204" pitchFamily="34" charset="0"/>
              </a:rPr>
              <a:t>智能体的大脑，它的作用是告诉智能体在特定状态下应该采取什么行动。我们的目标是找到</a:t>
            </a:r>
            <a:r>
              <a:rPr lang="zh-CN" altLang="en-US" sz="2000" b="1" i="0" dirty="0">
                <a:solidFill>
                  <a:srgbClr val="070707"/>
                </a:solidFill>
                <a:effectLst/>
                <a:latin typeface="Source Sans Pro" panose="020B0503030403020204" pitchFamily="34" charset="0"/>
              </a:rPr>
              <a:t>最优策略 </a:t>
            </a:r>
            <a:r>
              <a:rPr lang="el-GR" altLang="zh-CN" sz="2000" i="0" dirty="0">
                <a:solidFill>
                  <a:srgbClr val="070707"/>
                </a:solidFill>
                <a:effectLst/>
                <a:latin typeface="Source Sans Pro" panose="020B0503030403020204" pitchFamily="34" charset="0"/>
              </a:rPr>
              <a:t>π*</a:t>
            </a:r>
            <a:r>
              <a:rPr lang="zh-CN" altLang="el-GR" sz="2000" i="0" dirty="0">
                <a:solidFill>
                  <a:srgbClr val="070707"/>
                </a:solidFill>
                <a:effectLst/>
                <a:latin typeface="Source Sans Pro" panose="020B0503030403020204" pitchFamily="34" charset="0"/>
              </a:rPr>
              <a:t>， </a:t>
            </a:r>
            <a:r>
              <a:rPr lang="zh-CN" altLang="en-US" sz="2000" i="0" dirty="0">
                <a:solidFill>
                  <a:srgbClr val="070707"/>
                </a:solidFill>
                <a:effectLst/>
                <a:latin typeface="Source Sans Pro" panose="020B0503030403020204" pitchFamily="34" charset="0"/>
              </a:rPr>
              <a:t>当智能体按照该最优策略行动时，智能体能够</a:t>
            </a:r>
            <a:r>
              <a:rPr lang="zh-CN" altLang="en-US" sz="2000" b="1" dirty="0">
                <a:solidFill>
                  <a:srgbClr val="070707"/>
                </a:solidFill>
              </a:rPr>
              <a:t>最大化期望累积奖励</a:t>
            </a:r>
            <a:r>
              <a:rPr lang="zh-CN" altLang="en-US" sz="2000" i="0" dirty="0">
                <a:solidFill>
                  <a:srgbClr val="070707"/>
                </a:solidFill>
                <a:effectLst/>
                <a:latin typeface="Source Sans Pro" panose="020B0503030403020204" pitchFamily="34" charset="0"/>
              </a:rPr>
              <a:t>。我们通过迭代训练来寻找这个</a:t>
            </a:r>
            <a:r>
              <a:rPr lang="el-GR" altLang="zh-CN" sz="2000" i="0" dirty="0">
                <a:solidFill>
                  <a:srgbClr val="070707"/>
                </a:solidFill>
                <a:effectLst/>
                <a:latin typeface="Source Sans Pro" panose="020B0503030403020204" pitchFamily="34" charset="0"/>
              </a:rPr>
              <a:t>π*</a:t>
            </a:r>
            <a:r>
              <a:rPr lang="zh-CN" altLang="en-US" sz="2000" dirty="0">
                <a:solidFill>
                  <a:srgbClr val="070707"/>
                </a:solidFill>
                <a:latin typeface="Source Sans Pro" panose="020B0503030403020204" pitchFamily="34" charset="0"/>
              </a:rPr>
              <a:t>。</a:t>
            </a:r>
            <a:endParaRPr lang="en-US" altLang="zh-CN" sz="2000" dirty="0">
              <a:solidFill>
                <a:srgbClr val="070707"/>
              </a:solidFill>
              <a:latin typeface="Source Sans Pro" panose="020B0503030403020204" pitchFamily="34" charset="0"/>
            </a:endParaRPr>
          </a:p>
          <a:p>
            <a:pPr algn="l">
              <a:spcAft>
                <a:spcPts val="1500"/>
              </a:spcAft>
            </a:pPr>
            <a:r>
              <a:rPr lang="zh-CN" altLang="en-US" sz="2000" i="0" dirty="0">
                <a:solidFill>
                  <a:srgbClr val="070707"/>
                </a:solidFill>
                <a:effectLst/>
                <a:latin typeface="Source Sans Pro" panose="020B0503030403020204" pitchFamily="34" charset="0"/>
              </a:rPr>
              <a:t>两类训练方法：</a:t>
            </a:r>
            <a:endParaRPr lang="en-US" altLang="zh-CN" sz="2000" dirty="0">
              <a:solidFill>
                <a:srgbClr val="070707"/>
              </a:solidFill>
            </a:endParaRPr>
          </a:p>
          <a:p>
            <a:pPr algn="l">
              <a:spcAft>
                <a:spcPts val="1500"/>
              </a:spcAft>
            </a:pPr>
            <a:r>
              <a:rPr lang="zh-CN" altLang="en-US" sz="2000" b="1" dirty="0">
                <a:solidFill>
                  <a:srgbClr val="070707"/>
                </a:solidFill>
              </a:rPr>
              <a:t>基于策略的方法</a:t>
            </a:r>
            <a:r>
              <a:rPr lang="zh-CN" altLang="en-US" sz="2000" dirty="0">
                <a:solidFill>
                  <a:srgbClr val="070707"/>
                </a:solidFill>
              </a:rPr>
              <a:t>：</a:t>
            </a:r>
            <a:r>
              <a:rPr lang="zh-CN" altLang="en-US" sz="2000" b="1" i="0" dirty="0">
                <a:solidFill>
                  <a:srgbClr val="070707"/>
                </a:solidFill>
                <a:effectLst/>
                <a:latin typeface="Source Sans Pro" panose="020B0503030403020204" pitchFamily="34" charset="0"/>
              </a:rPr>
              <a:t>直接地</a:t>
            </a:r>
            <a:r>
              <a:rPr lang="zh-CN" altLang="en-US" sz="2000" b="0" i="0" dirty="0">
                <a:solidFill>
                  <a:srgbClr val="070707"/>
                </a:solidFill>
                <a:effectLst/>
                <a:latin typeface="Source Sans Pro" panose="020B0503030403020204" pitchFamily="34" charset="0"/>
              </a:rPr>
              <a:t>教导智能体学习在给定状态下应该</a:t>
            </a:r>
            <a:r>
              <a:rPr lang="zh-CN" altLang="en-US" sz="2000" b="1" i="0" dirty="0">
                <a:solidFill>
                  <a:srgbClr val="070707"/>
                </a:solidFill>
                <a:effectLst/>
                <a:latin typeface="Source Sans Pro" panose="020B0503030403020204" pitchFamily="34" charset="0"/>
              </a:rPr>
              <a:t>采取什么行动</a:t>
            </a:r>
            <a:endParaRPr lang="en-US" altLang="zh-CN" sz="2000" b="1" i="0" dirty="0">
              <a:solidFill>
                <a:srgbClr val="070707"/>
              </a:solidFill>
              <a:effectLst/>
              <a:latin typeface="Source Sans Pro" panose="020B0503030403020204" pitchFamily="34" charset="0"/>
            </a:endParaRPr>
          </a:p>
          <a:p>
            <a:pPr algn="l">
              <a:spcAft>
                <a:spcPts val="1500"/>
              </a:spcAft>
            </a:pPr>
            <a:r>
              <a:rPr lang="zh-CN" altLang="en-US" sz="2000" b="1" dirty="0">
                <a:solidFill>
                  <a:srgbClr val="070707"/>
                </a:solidFill>
              </a:rPr>
              <a:t>基于价值的方法</a:t>
            </a:r>
            <a:r>
              <a:rPr lang="zh-CN" altLang="en-US" sz="2000" dirty="0">
                <a:solidFill>
                  <a:srgbClr val="070707"/>
                </a:solidFill>
              </a:rPr>
              <a:t>：间接地，</a:t>
            </a:r>
            <a:r>
              <a:rPr lang="zh-CN" altLang="en-US" sz="2000" i="0" dirty="0">
                <a:solidFill>
                  <a:srgbClr val="070707"/>
                </a:solidFill>
                <a:effectLst/>
                <a:latin typeface="Source Sans Pro" panose="020B0503030403020204" pitchFamily="34" charset="0"/>
              </a:rPr>
              <a:t>教导代理学习哪种状态更有</a:t>
            </a:r>
            <a:r>
              <a:rPr lang="zh-CN" altLang="en-US" sz="2000" b="1" i="0" dirty="0">
                <a:solidFill>
                  <a:srgbClr val="070707"/>
                </a:solidFill>
                <a:effectLst/>
                <a:latin typeface="Source Sans Pro" panose="020B0503030403020204" pitchFamily="34" charset="0"/>
              </a:rPr>
              <a:t>价值</a:t>
            </a:r>
            <a:r>
              <a:rPr lang="zh-CN" altLang="en-US" sz="2000" i="0" dirty="0">
                <a:solidFill>
                  <a:srgbClr val="070707"/>
                </a:solidFill>
                <a:effectLst/>
                <a:latin typeface="Source Sans Pro" panose="020B0503030403020204" pitchFamily="34" charset="0"/>
              </a:rPr>
              <a:t>，从而使智能体采取能够到达更有     </a:t>
            </a:r>
            <a:r>
              <a:rPr lang="en-US" altLang="zh-CN" sz="2000" i="0" dirty="0">
                <a:solidFill>
                  <a:srgbClr val="070707"/>
                </a:solidFill>
                <a:effectLst/>
                <a:latin typeface="Source Sans Pro" panose="020B0503030403020204" pitchFamily="34" charset="0"/>
              </a:rPr>
              <a:t>		</a:t>
            </a:r>
            <a:r>
              <a:rPr lang="zh-CN" altLang="en-US" sz="2000" i="0" dirty="0">
                <a:solidFill>
                  <a:srgbClr val="070707"/>
                </a:solidFill>
                <a:effectLst/>
                <a:latin typeface="Source Sans Pro" panose="020B0503030403020204" pitchFamily="34" charset="0"/>
              </a:rPr>
              <a:t>     价值的状态的行动。</a:t>
            </a:r>
            <a:endParaRPr lang="en-US" altLang="zh-CN" sz="2000" dirty="0">
              <a:solidFill>
                <a:srgbClr val="070707"/>
              </a:solidFill>
            </a:endParaRPr>
          </a:p>
        </p:txBody>
      </p:sp>
      <p:pic>
        <p:nvPicPr>
          <p:cNvPr id="3076" name="Picture 4" descr="政策">
            <a:extLst>
              <a:ext uri="{FF2B5EF4-FFF2-40B4-BE49-F238E27FC236}">
                <a16:creationId xmlns:a16="http://schemas.microsoft.com/office/drawing/2014/main" id="{6048D6E2-8E9C-78D1-7544-E75406E692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0508" y="4406552"/>
            <a:ext cx="4299731" cy="179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7879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01911-1A79-CAFC-45C7-14827E40329C}"/>
              </a:ext>
            </a:extLst>
          </p:cNvPr>
          <p:cNvSpPr>
            <a:spLocks noGrp="1"/>
          </p:cNvSpPr>
          <p:nvPr>
            <p:ph type="title"/>
          </p:nvPr>
        </p:nvSpPr>
        <p:spPr/>
        <p:txBody>
          <a:bodyPr/>
          <a:lstStyle/>
          <a:p>
            <a:r>
              <a:rPr lang="zh-CN" altLang="en-US" dirty="0"/>
              <a:t>马尔可夫决策过程 </a:t>
            </a:r>
            <a:r>
              <a:rPr lang="en-US" altLang="zh-CN" dirty="0"/>
              <a:t>(Markov Decision Process, MDP)</a:t>
            </a:r>
            <a:endParaRPr lang="zh-CN" altLang="en-US" dirty="0"/>
          </a:p>
        </p:txBody>
      </p:sp>
      <p:sp>
        <p:nvSpPr>
          <p:cNvPr id="4" name="文本框 3">
            <a:extLst>
              <a:ext uri="{FF2B5EF4-FFF2-40B4-BE49-F238E27FC236}">
                <a16:creationId xmlns:a16="http://schemas.microsoft.com/office/drawing/2014/main" id="{6A51BE90-8641-0FB2-F9E2-F41A6B5752AA}"/>
              </a:ext>
            </a:extLst>
          </p:cNvPr>
          <p:cNvSpPr txBox="1"/>
          <p:nvPr/>
        </p:nvSpPr>
        <p:spPr>
          <a:xfrm>
            <a:off x="381242" y="965114"/>
            <a:ext cx="7036394" cy="369332"/>
          </a:xfrm>
          <a:prstGeom prst="rect">
            <a:avLst/>
          </a:prstGeom>
          <a:noFill/>
        </p:spPr>
        <p:txBody>
          <a:bodyPr wrap="square">
            <a:spAutoFit/>
          </a:bodyPr>
          <a:lstStyle/>
          <a:p>
            <a:r>
              <a:rPr lang="zh-CN" altLang="en-US" dirty="0">
                <a:solidFill>
                  <a:schemeClr val="tx2"/>
                </a:solidFill>
              </a:rPr>
              <a:t>强化学习问题通常被形式化为一个 马尔可夫决策过程（</a:t>
            </a:r>
            <a:r>
              <a:rPr lang="en-US" altLang="zh-CN" dirty="0">
                <a:solidFill>
                  <a:schemeClr val="tx2"/>
                </a:solidFill>
              </a:rPr>
              <a:t>MDP</a:t>
            </a:r>
            <a:r>
              <a:rPr lang="zh-CN" altLang="en-US" dirty="0">
                <a:solidFill>
                  <a:schemeClr val="tx2"/>
                </a:solidFill>
              </a:rPr>
              <a:t>）。</a:t>
            </a:r>
          </a:p>
        </p:txBody>
      </p:sp>
      <p:pic>
        <p:nvPicPr>
          <p:cNvPr id="6" name="图片 5">
            <a:extLst>
              <a:ext uri="{FF2B5EF4-FFF2-40B4-BE49-F238E27FC236}">
                <a16:creationId xmlns:a16="http://schemas.microsoft.com/office/drawing/2014/main" id="{9CBE7099-3FE7-CAEF-83E3-449769A1E888}"/>
              </a:ext>
            </a:extLst>
          </p:cNvPr>
          <p:cNvPicPr>
            <a:picLocks noChangeAspect="1"/>
          </p:cNvPicPr>
          <p:nvPr/>
        </p:nvPicPr>
        <p:blipFill>
          <a:blip r:embed="rId2"/>
          <a:stretch>
            <a:fillRect/>
          </a:stretch>
        </p:blipFill>
        <p:spPr>
          <a:xfrm>
            <a:off x="2166360" y="1392303"/>
            <a:ext cx="7516026" cy="4388921"/>
          </a:xfrm>
          <a:prstGeom prst="rect">
            <a:avLst/>
          </a:prstGeom>
        </p:spPr>
      </p:pic>
    </p:spTree>
    <p:extLst>
      <p:ext uri="{BB962C8B-B14F-4D97-AF65-F5344CB8AC3E}">
        <p14:creationId xmlns:p14="http://schemas.microsoft.com/office/powerpoint/2010/main" val="3598819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C5F1B2-7E0F-0E79-F212-2689EF61A4FE}"/>
              </a:ext>
            </a:extLst>
          </p:cNvPr>
          <p:cNvSpPr>
            <a:spLocks noGrp="1"/>
          </p:cNvSpPr>
          <p:nvPr>
            <p:ph type="title"/>
          </p:nvPr>
        </p:nvSpPr>
        <p:spPr/>
        <p:txBody>
          <a:bodyPr/>
          <a:lstStyle/>
          <a:p>
            <a:r>
              <a:rPr lang="zh-CN" altLang="en-US" dirty="0"/>
              <a:t>价值函数（</a:t>
            </a:r>
            <a:r>
              <a:rPr lang="en-US" altLang="zh-CN" dirty="0"/>
              <a:t>Value Function</a:t>
            </a:r>
            <a:r>
              <a:rPr lang="zh-CN" altLang="en-US" dirty="0"/>
              <a:t>）</a:t>
            </a:r>
          </a:p>
        </p:txBody>
      </p:sp>
      <p:pic>
        <p:nvPicPr>
          <p:cNvPr id="4" name="图片 3">
            <a:extLst>
              <a:ext uri="{FF2B5EF4-FFF2-40B4-BE49-F238E27FC236}">
                <a16:creationId xmlns:a16="http://schemas.microsoft.com/office/drawing/2014/main" id="{69AB8557-51ED-76DE-2AAE-8C19D419538A}"/>
              </a:ext>
            </a:extLst>
          </p:cNvPr>
          <p:cNvPicPr>
            <a:picLocks noChangeAspect="1"/>
          </p:cNvPicPr>
          <p:nvPr/>
        </p:nvPicPr>
        <p:blipFill>
          <a:blip r:embed="rId2"/>
          <a:stretch>
            <a:fillRect/>
          </a:stretch>
        </p:blipFill>
        <p:spPr>
          <a:xfrm>
            <a:off x="423972" y="1013807"/>
            <a:ext cx="8297012" cy="2903309"/>
          </a:xfrm>
          <a:prstGeom prst="rect">
            <a:avLst/>
          </a:prstGeom>
        </p:spPr>
      </p:pic>
      <p:pic>
        <p:nvPicPr>
          <p:cNvPr id="8" name="图片 7">
            <a:extLst>
              <a:ext uri="{FF2B5EF4-FFF2-40B4-BE49-F238E27FC236}">
                <a16:creationId xmlns:a16="http://schemas.microsoft.com/office/drawing/2014/main" id="{94DB98D2-B272-E162-5ADF-384FBA85E1B7}"/>
              </a:ext>
            </a:extLst>
          </p:cNvPr>
          <p:cNvPicPr>
            <a:picLocks noChangeAspect="1"/>
          </p:cNvPicPr>
          <p:nvPr/>
        </p:nvPicPr>
        <p:blipFill>
          <a:blip r:embed="rId3"/>
          <a:stretch>
            <a:fillRect/>
          </a:stretch>
        </p:blipFill>
        <p:spPr>
          <a:xfrm>
            <a:off x="8497320" y="2602138"/>
            <a:ext cx="3270708" cy="3584616"/>
          </a:xfrm>
          <a:prstGeom prst="rect">
            <a:avLst/>
          </a:prstGeom>
        </p:spPr>
      </p:pic>
      <p:pic>
        <p:nvPicPr>
          <p:cNvPr id="9" name="图片 8">
            <a:extLst>
              <a:ext uri="{FF2B5EF4-FFF2-40B4-BE49-F238E27FC236}">
                <a16:creationId xmlns:a16="http://schemas.microsoft.com/office/drawing/2014/main" id="{288DC786-B6A3-FE84-44A7-2C7D006C3B12}"/>
              </a:ext>
            </a:extLst>
          </p:cNvPr>
          <p:cNvPicPr>
            <a:picLocks noChangeAspect="1"/>
          </p:cNvPicPr>
          <p:nvPr/>
        </p:nvPicPr>
        <p:blipFill>
          <a:blip r:embed="rId4"/>
          <a:srcRect t="51573"/>
          <a:stretch>
            <a:fillRect/>
          </a:stretch>
        </p:blipFill>
        <p:spPr>
          <a:xfrm>
            <a:off x="594289" y="4392538"/>
            <a:ext cx="6262102" cy="1794216"/>
          </a:xfrm>
          <a:prstGeom prst="rect">
            <a:avLst/>
          </a:prstGeom>
        </p:spPr>
      </p:pic>
      <p:pic>
        <p:nvPicPr>
          <p:cNvPr id="5" name="图片 4">
            <a:extLst>
              <a:ext uri="{FF2B5EF4-FFF2-40B4-BE49-F238E27FC236}">
                <a16:creationId xmlns:a16="http://schemas.microsoft.com/office/drawing/2014/main" id="{6CC216CC-40CC-4298-D326-80FDBA0A05DA}"/>
              </a:ext>
            </a:extLst>
          </p:cNvPr>
          <p:cNvPicPr>
            <a:picLocks noChangeAspect="1"/>
          </p:cNvPicPr>
          <p:nvPr/>
        </p:nvPicPr>
        <p:blipFill>
          <a:blip r:embed="rId5"/>
          <a:stretch>
            <a:fillRect/>
          </a:stretch>
        </p:blipFill>
        <p:spPr>
          <a:xfrm>
            <a:off x="8789351" y="813255"/>
            <a:ext cx="3089774" cy="1730943"/>
          </a:xfrm>
          <a:prstGeom prst="rect">
            <a:avLst/>
          </a:prstGeom>
        </p:spPr>
      </p:pic>
    </p:spTree>
    <p:extLst>
      <p:ext uri="{BB962C8B-B14F-4D97-AF65-F5344CB8AC3E}">
        <p14:creationId xmlns:p14="http://schemas.microsoft.com/office/powerpoint/2010/main" val="4138435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3A81C-0FE5-D25E-1677-F2D3E02E5925}"/>
              </a:ext>
            </a:extLst>
          </p:cNvPr>
          <p:cNvSpPr>
            <a:spLocks noGrp="1"/>
          </p:cNvSpPr>
          <p:nvPr>
            <p:ph type="title"/>
          </p:nvPr>
        </p:nvSpPr>
        <p:spPr/>
        <p:txBody>
          <a:bodyPr/>
          <a:lstStyle/>
          <a:p>
            <a:r>
              <a:rPr lang="en-US" altLang="zh-CN" dirty="0"/>
              <a:t>Bellman </a:t>
            </a:r>
            <a:r>
              <a:rPr lang="zh-CN" altLang="en-US" dirty="0"/>
              <a:t>方程</a:t>
            </a:r>
          </a:p>
        </p:txBody>
      </p:sp>
      <p:pic>
        <p:nvPicPr>
          <p:cNvPr id="4" name="图片 3">
            <a:extLst>
              <a:ext uri="{FF2B5EF4-FFF2-40B4-BE49-F238E27FC236}">
                <a16:creationId xmlns:a16="http://schemas.microsoft.com/office/drawing/2014/main" id="{0601EA35-2B91-F850-233B-8EFE1DF43637}"/>
              </a:ext>
            </a:extLst>
          </p:cNvPr>
          <p:cNvPicPr>
            <a:picLocks noChangeAspect="1"/>
          </p:cNvPicPr>
          <p:nvPr/>
        </p:nvPicPr>
        <p:blipFill>
          <a:blip r:embed="rId2"/>
          <a:stretch>
            <a:fillRect/>
          </a:stretch>
        </p:blipFill>
        <p:spPr>
          <a:xfrm>
            <a:off x="2320299" y="761979"/>
            <a:ext cx="8243804" cy="5446596"/>
          </a:xfrm>
          <a:prstGeom prst="rect">
            <a:avLst/>
          </a:prstGeom>
        </p:spPr>
      </p:pic>
    </p:spTree>
    <p:extLst>
      <p:ext uri="{BB962C8B-B14F-4D97-AF65-F5344CB8AC3E}">
        <p14:creationId xmlns:p14="http://schemas.microsoft.com/office/powerpoint/2010/main" val="618984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61728-1C7A-A46E-D3E1-7EB922A6730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88DE7D-38AD-63ED-BB73-06C0120021C0}"/>
              </a:ext>
            </a:extLst>
          </p:cNvPr>
          <p:cNvSpPr>
            <a:spLocks noGrp="1"/>
          </p:cNvSpPr>
          <p:nvPr>
            <p:ph type="title"/>
          </p:nvPr>
        </p:nvSpPr>
        <p:spPr/>
        <p:txBody>
          <a:bodyPr/>
          <a:lstStyle/>
          <a:p>
            <a:r>
              <a:rPr lang="en-US" altLang="zh-CN" dirty="0"/>
              <a:t>Bellman </a:t>
            </a:r>
            <a:r>
              <a:rPr lang="zh-CN" altLang="en-US" dirty="0"/>
              <a:t>方程</a:t>
            </a:r>
          </a:p>
        </p:txBody>
      </p:sp>
      <p:pic>
        <p:nvPicPr>
          <p:cNvPr id="5" name="图片 4">
            <a:extLst>
              <a:ext uri="{FF2B5EF4-FFF2-40B4-BE49-F238E27FC236}">
                <a16:creationId xmlns:a16="http://schemas.microsoft.com/office/drawing/2014/main" id="{1E24E7DF-FBAA-83A9-1AB1-4529C4C0C462}"/>
              </a:ext>
            </a:extLst>
          </p:cNvPr>
          <p:cNvPicPr>
            <a:picLocks noChangeAspect="1"/>
          </p:cNvPicPr>
          <p:nvPr/>
        </p:nvPicPr>
        <p:blipFill>
          <a:blip r:embed="rId2"/>
          <a:stretch>
            <a:fillRect/>
          </a:stretch>
        </p:blipFill>
        <p:spPr>
          <a:xfrm>
            <a:off x="918673" y="1414840"/>
            <a:ext cx="10442961" cy="3514546"/>
          </a:xfrm>
          <a:prstGeom prst="rect">
            <a:avLst/>
          </a:prstGeom>
        </p:spPr>
      </p:pic>
    </p:spTree>
    <p:extLst>
      <p:ext uri="{BB962C8B-B14F-4D97-AF65-F5344CB8AC3E}">
        <p14:creationId xmlns:p14="http://schemas.microsoft.com/office/powerpoint/2010/main" val="4198736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C4C0E-36D2-E039-FF9B-18944011865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D04123-3E8A-1F6A-A1D4-EBED4A9617E4}"/>
              </a:ext>
            </a:extLst>
          </p:cNvPr>
          <p:cNvSpPr>
            <a:spLocks noGrp="1"/>
          </p:cNvSpPr>
          <p:nvPr>
            <p:ph type="title"/>
          </p:nvPr>
        </p:nvSpPr>
        <p:spPr/>
        <p:txBody>
          <a:bodyPr/>
          <a:lstStyle/>
          <a:p>
            <a:r>
              <a:rPr lang="en-US" altLang="zh-CN" dirty="0"/>
              <a:t>Bellman </a:t>
            </a:r>
            <a:r>
              <a:rPr lang="zh-CN" altLang="en-US" dirty="0"/>
              <a:t>方程</a:t>
            </a:r>
          </a:p>
        </p:txBody>
      </p:sp>
      <p:pic>
        <p:nvPicPr>
          <p:cNvPr id="4" name="图片 3">
            <a:extLst>
              <a:ext uri="{FF2B5EF4-FFF2-40B4-BE49-F238E27FC236}">
                <a16:creationId xmlns:a16="http://schemas.microsoft.com/office/drawing/2014/main" id="{514C2EAD-BEB5-2C1C-8D79-2D1093E78FF3}"/>
              </a:ext>
            </a:extLst>
          </p:cNvPr>
          <p:cNvPicPr>
            <a:picLocks noChangeAspect="1"/>
          </p:cNvPicPr>
          <p:nvPr/>
        </p:nvPicPr>
        <p:blipFill>
          <a:blip r:embed="rId2"/>
          <a:stretch>
            <a:fillRect/>
          </a:stretch>
        </p:blipFill>
        <p:spPr>
          <a:xfrm>
            <a:off x="299103" y="857699"/>
            <a:ext cx="11810758" cy="5278813"/>
          </a:xfrm>
          <a:prstGeom prst="rect">
            <a:avLst/>
          </a:prstGeom>
        </p:spPr>
      </p:pic>
    </p:spTree>
    <p:extLst>
      <p:ext uri="{BB962C8B-B14F-4D97-AF65-F5344CB8AC3E}">
        <p14:creationId xmlns:p14="http://schemas.microsoft.com/office/powerpoint/2010/main" val="3624629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BAC4AC-DA3E-7A96-5284-CCC4A30B8889}"/>
              </a:ext>
            </a:extLst>
          </p:cNvPr>
          <p:cNvSpPr>
            <a:spLocks noGrp="1"/>
          </p:cNvSpPr>
          <p:nvPr>
            <p:ph type="title"/>
          </p:nvPr>
        </p:nvSpPr>
        <p:spPr/>
        <p:txBody>
          <a:bodyPr/>
          <a:lstStyle/>
          <a:p>
            <a:r>
              <a:rPr lang="zh-CN" altLang="en-US" dirty="0"/>
              <a:t>小型 </a:t>
            </a:r>
            <a:r>
              <a:rPr lang="en-US" altLang="zh-CN" dirty="0"/>
              <a:t>MDP </a:t>
            </a:r>
            <a:r>
              <a:rPr lang="zh-CN" altLang="en-US" dirty="0"/>
              <a:t>推导</a:t>
            </a:r>
          </a:p>
        </p:txBody>
      </p:sp>
      <p:pic>
        <p:nvPicPr>
          <p:cNvPr id="4" name="图片 3">
            <a:extLst>
              <a:ext uri="{FF2B5EF4-FFF2-40B4-BE49-F238E27FC236}">
                <a16:creationId xmlns:a16="http://schemas.microsoft.com/office/drawing/2014/main" id="{6A3ECA50-B431-9DE6-06A0-D3A8C8897F5D}"/>
              </a:ext>
            </a:extLst>
          </p:cNvPr>
          <p:cNvPicPr>
            <a:picLocks noChangeAspect="1"/>
          </p:cNvPicPr>
          <p:nvPr/>
        </p:nvPicPr>
        <p:blipFill>
          <a:blip r:embed="rId2"/>
          <a:stretch>
            <a:fillRect/>
          </a:stretch>
        </p:blipFill>
        <p:spPr>
          <a:xfrm>
            <a:off x="381242" y="999858"/>
            <a:ext cx="8883736" cy="5012108"/>
          </a:xfrm>
          <a:prstGeom prst="rect">
            <a:avLst/>
          </a:prstGeom>
        </p:spPr>
      </p:pic>
    </p:spTree>
    <p:extLst>
      <p:ext uri="{BB962C8B-B14F-4D97-AF65-F5344CB8AC3E}">
        <p14:creationId xmlns:p14="http://schemas.microsoft.com/office/powerpoint/2010/main" val="700948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8511F-E42E-8DBF-7BA3-B7945A5A4B61}"/>
              </a:ext>
            </a:extLst>
          </p:cNvPr>
          <p:cNvSpPr>
            <a:spLocks noGrp="1"/>
          </p:cNvSpPr>
          <p:nvPr>
            <p:ph type="title"/>
          </p:nvPr>
        </p:nvSpPr>
        <p:spPr/>
        <p:txBody>
          <a:bodyPr/>
          <a:lstStyle/>
          <a:p>
            <a:r>
              <a:rPr lang="zh-CN" altLang="en-US" dirty="0"/>
              <a:t>求解 </a:t>
            </a:r>
            <a:r>
              <a:rPr lang="en-US" altLang="zh-CN" dirty="0"/>
              <a:t>RL</a:t>
            </a:r>
            <a:r>
              <a:rPr lang="zh-CN" altLang="en-US" dirty="0"/>
              <a:t>问题</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284895D-D389-F221-BD64-8BE9101A0ABB}"/>
                  </a:ext>
                </a:extLst>
              </p:cNvPr>
              <p:cNvSpPr txBox="1"/>
              <p:nvPr/>
            </p:nvSpPr>
            <p:spPr>
              <a:xfrm>
                <a:off x="1359849" y="965981"/>
                <a:ext cx="10253886" cy="1206549"/>
              </a:xfrm>
              <a:prstGeom prst="rect">
                <a:avLst/>
              </a:prstGeom>
              <a:noFill/>
            </p:spPr>
            <p:txBody>
              <a:bodyPr wrap="square" rtlCol="0">
                <a:spAutoFit/>
              </a:bodyPr>
              <a:lstStyle/>
              <a:p>
                <a:pPr algn="l"/>
                <a:r>
                  <a:rPr lang="zh-CN" altLang="en-US" dirty="0">
                    <a:solidFill>
                      <a:srgbClr val="333333"/>
                    </a:solidFill>
                    <a:latin typeface="Helvetica Neue"/>
                  </a:rPr>
                  <a:t>动态规划</a:t>
                </a:r>
                <a:r>
                  <a:rPr lang="en-US" altLang="zh-CN" dirty="0">
                    <a:solidFill>
                      <a:srgbClr val="333333"/>
                    </a:solidFill>
                    <a:latin typeface="Helvetica Neue"/>
                  </a:rPr>
                  <a:t>(Dynamic program</a:t>
                </a:r>
                <a:r>
                  <a:rPr lang="zh-CN" altLang="en-US" dirty="0">
                    <a:solidFill>
                      <a:srgbClr val="333333"/>
                    </a:solidFill>
                    <a:latin typeface="Helvetica Neue"/>
                  </a:rPr>
                  <a:t>， </a:t>
                </a:r>
                <a:r>
                  <a:rPr lang="en-US" altLang="zh-CN" dirty="0">
                    <a:solidFill>
                      <a:srgbClr val="333333"/>
                    </a:solidFill>
                    <a:latin typeface="Helvetica Neue"/>
                  </a:rPr>
                  <a:t>DP)</a:t>
                </a:r>
                <a:r>
                  <a:rPr lang="zh-CN" altLang="en-US" dirty="0">
                    <a:solidFill>
                      <a:srgbClr val="333333"/>
                    </a:solidFill>
                    <a:latin typeface="Helvetica Neue"/>
                  </a:rPr>
                  <a:t>，需要知道模型转移概率</a:t>
                </a:r>
                <a:r>
                  <a:rPr lang="en-US" altLang="zh-CN" dirty="0">
                    <a:solidFill>
                      <a:srgbClr val="333333"/>
                    </a:solidFill>
                    <a:latin typeface="Helvetica Neue"/>
                  </a:rPr>
                  <a:t>P</a:t>
                </a:r>
              </a:p>
              <a:p>
                <a:pPr algn="l"/>
                <a14:m>
                  <m:oMathPara xmlns:m="http://schemas.openxmlformats.org/officeDocument/2006/math">
                    <m:oMathParaPr>
                      <m:jc m:val="centerGroup"/>
                    </m:oMathParaPr>
                    <m:oMath xmlns:m="http://schemas.openxmlformats.org/officeDocument/2006/math">
                      <m:r>
                        <a:rPr lang="en-US" altLang="zh-CN">
                          <a:solidFill>
                            <a:srgbClr val="333333"/>
                          </a:solidFill>
                          <a:latin typeface="Cambria Math" panose="02040503050406030204" pitchFamily="18" charset="0"/>
                        </a:rPr>
                        <m:t>𝑉</m:t>
                      </m:r>
                      <m:r>
                        <a:rPr lang="en-US" altLang="zh-CN">
                          <a:solidFill>
                            <a:srgbClr val="333333"/>
                          </a:solidFill>
                          <a:latin typeface="Cambria Math" panose="02040503050406030204" pitchFamily="18" charset="0"/>
                        </a:rPr>
                        <m:t>=</m:t>
                      </m:r>
                      <m:r>
                        <a:rPr lang="en-US" altLang="zh-CN">
                          <a:solidFill>
                            <a:srgbClr val="333333"/>
                          </a:solidFill>
                          <a:latin typeface="Cambria Math" panose="02040503050406030204" pitchFamily="18" charset="0"/>
                        </a:rPr>
                        <m:t>𝑅</m:t>
                      </m:r>
                      <m:r>
                        <a:rPr lang="en-US" altLang="zh-CN">
                          <a:solidFill>
                            <a:srgbClr val="333333"/>
                          </a:solidFill>
                          <a:latin typeface="Cambria Math" panose="02040503050406030204" pitchFamily="18" charset="0"/>
                        </a:rPr>
                        <m:t>+</m:t>
                      </m:r>
                      <m:r>
                        <a:rPr lang="en-US" altLang="zh-CN">
                          <a:solidFill>
                            <a:srgbClr val="333333"/>
                          </a:solidFill>
                          <a:latin typeface="Cambria Math" panose="02040503050406030204" pitchFamily="18" charset="0"/>
                        </a:rPr>
                        <m:t>𝛾</m:t>
                      </m:r>
                      <m:r>
                        <a:rPr lang="en-US" altLang="zh-CN">
                          <a:solidFill>
                            <a:srgbClr val="333333"/>
                          </a:solidFill>
                          <a:latin typeface="Cambria Math" panose="02040503050406030204" pitchFamily="18" charset="0"/>
                        </a:rPr>
                        <m:t>𝑃𝑉</m:t>
                      </m:r>
                    </m:oMath>
                  </m:oMathPara>
                </a14:m>
                <a:endParaRPr lang="en-US" altLang="zh-CN" dirty="0">
                  <a:solidFill>
                    <a:srgbClr val="333333"/>
                  </a:solidFill>
                  <a:latin typeface="Helvetica Neue"/>
                </a:endParaRPr>
              </a:p>
              <a:p>
                <a:pPr algn="l"/>
                <a:r>
                  <a:rPr lang="zh-CN" altLang="en-US" dirty="0">
                    <a:solidFill>
                      <a:srgbClr val="333333"/>
                    </a:solidFill>
                    <a:latin typeface="Helvetica Neue"/>
                  </a:rPr>
                  <a:t>迭代</a:t>
                </a:r>
                <a:endParaRPr lang="en-US" altLang="zh-CN" dirty="0">
                  <a:solidFill>
                    <a:srgbClr val="333333"/>
                  </a:solidFill>
                  <a:latin typeface="Helvetica Neue"/>
                </a:endParaRPr>
              </a:p>
              <a:p>
                <a:pPr algn="l"/>
                <a14:m>
                  <m:oMathPara xmlns:m="http://schemas.openxmlformats.org/officeDocument/2006/math">
                    <m:oMathParaPr>
                      <m:jc m:val="centerGroup"/>
                    </m:oMathParaPr>
                    <m:oMath xmlns:m="http://schemas.openxmlformats.org/officeDocument/2006/math">
                      <m:sSup>
                        <m:sSupPr>
                          <m:ctrlPr>
                            <a:rPr lang="en-US" altLang="zh-CN" i="1">
                              <a:solidFill>
                                <a:srgbClr val="333333"/>
                              </a:solidFill>
                              <a:latin typeface="Cambria Math" panose="02040503050406030204" pitchFamily="18" charset="0"/>
                            </a:rPr>
                          </m:ctrlPr>
                        </m:sSupPr>
                        <m:e>
                          <m:r>
                            <a:rPr lang="en-US" altLang="zh-CN">
                              <a:solidFill>
                                <a:srgbClr val="333333"/>
                              </a:solidFill>
                              <a:latin typeface="Cambria Math" panose="02040503050406030204" pitchFamily="18" charset="0"/>
                            </a:rPr>
                            <m:t>𝑉</m:t>
                          </m:r>
                        </m:e>
                        <m:sup>
                          <m:r>
                            <a:rPr lang="en-US" altLang="zh-CN">
                              <a:solidFill>
                                <a:srgbClr val="333333"/>
                              </a:solidFill>
                              <a:latin typeface="Cambria Math" panose="02040503050406030204" pitchFamily="18" charset="0"/>
                            </a:rPr>
                            <m:t>𝑡</m:t>
                          </m:r>
                          <m:r>
                            <a:rPr lang="en-US" altLang="zh-CN">
                              <a:solidFill>
                                <a:srgbClr val="333333"/>
                              </a:solidFill>
                              <a:latin typeface="Cambria Math" panose="02040503050406030204" pitchFamily="18" charset="0"/>
                            </a:rPr>
                            <m:t>+1</m:t>
                          </m:r>
                        </m:sup>
                      </m:sSup>
                      <m:r>
                        <a:rPr lang="en-US" altLang="zh-CN">
                          <a:solidFill>
                            <a:srgbClr val="333333"/>
                          </a:solidFill>
                          <a:latin typeface="Cambria Math" panose="02040503050406030204" pitchFamily="18" charset="0"/>
                        </a:rPr>
                        <m:t>=</m:t>
                      </m:r>
                      <m:r>
                        <a:rPr lang="en-US" altLang="zh-CN">
                          <a:solidFill>
                            <a:srgbClr val="333333"/>
                          </a:solidFill>
                          <a:latin typeface="Cambria Math" panose="02040503050406030204" pitchFamily="18" charset="0"/>
                        </a:rPr>
                        <m:t>𝑅</m:t>
                      </m:r>
                      <m:r>
                        <a:rPr lang="en-US" altLang="zh-CN">
                          <a:solidFill>
                            <a:srgbClr val="333333"/>
                          </a:solidFill>
                          <a:latin typeface="Cambria Math" panose="02040503050406030204" pitchFamily="18" charset="0"/>
                        </a:rPr>
                        <m:t>+</m:t>
                      </m:r>
                      <m:r>
                        <a:rPr lang="en-US" altLang="zh-CN">
                          <a:solidFill>
                            <a:srgbClr val="333333"/>
                          </a:solidFill>
                          <a:latin typeface="Cambria Math" panose="02040503050406030204" pitchFamily="18" charset="0"/>
                        </a:rPr>
                        <m:t>𝛾</m:t>
                      </m:r>
                      <m:r>
                        <a:rPr lang="en-US" altLang="zh-CN">
                          <a:solidFill>
                            <a:srgbClr val="333333"/>
                          </a:solidFill>
                          <a:latin typeface="Cambria Math" panose="02040503050406030204" pitchFamily="18" charset="0"/>
                        </a:rPr>
                        <m:t>𝑃</m:t>
                      </m:r>
                      <m:sSup>
                        <m:sSupPr>
                          <m:ctrlPr>
                            <a:rPr lang="en-US" altLang="zh-CN" i="1">
                              <a:solidFill>
                                <a:srgbClr val="333333"/>
                              </a:solidFill>
                              <a:latin typeface="Cambria Math" panose="02040503050406030204" pitchFamily="18" charset="0"/>
                            </a:rPr>
                          </m:ctrlPr>
                        </m:sSupPr>
                        <m:e>
                          <m:r>
                            <a:rPr lang="en-US" altLang="zh-CN">
                              <a:solidFill>
                                <a:srgbClr val="333333"/>
                              </a:solidFill>
                              <a:latin typeface="Cambria Math" panose="02040503050406030204" pitchFamily="18" charset="0"/>
                            </a:rPr>
                            <m:t>𝑉</m:t>
                          </m:r>
                        </m:e>
                        <m:sup>
                          <m:r>
                            <a:rPr lang="en-US" altLang="zh-CN">
                              <a:solidFill>
                                <a:srgbClr val="333333"/>
                              </a:solidFill>
                              <a:latin typeface="Cambria Math" panose="02040503050406030204" pitchFamily="18" charset="0"/>
                            </a:rPr>
                            <m:t>𝑡</m:t>
                          </m:r>
                        </m:sup>
                      </m:sSup>
                    </m:oMath>
                  </m:oMathPara>
                </a14:m>
                <a:endParaRPr lang="zh-CN" altLang="en-US" dirty="0">
                  <a:solidFill>
                    <a:srgbClr val="333333"/>
                  </a:solidFill>
                  <a:latin typeface="Helvetica Neue"/>
                </a:endParaRPr>
              </a:p>
            </p:txBody>
          </p:sp>
        </mc:Choice>
        <mc:Fallback xmlns="">
          <p:sp>
            <p:nvSpPr>
              <p:cNvPr id="3" name="文本框 2">
                <a:extLst>
                  <a:ext uri="{FF2B5EF4-FFF2-40B4-BE49-F238E27FC236}">
                    <a16:creationId xmlns:a16="http://schemas.microsoft.com/office/drawing/2014/main" id="{6284895D-D389-F221-BD64-8BE9101A0ABB}"/>
                  </a:ext>
                </a:extLst>
              </p:cNvPr>
              <p:cNvSpPr txBox="1">
                <a:spLocks noRot="1" noChangeAspect="1" noMove="1" noResize="1" noEditPoints="1" noAdjustHandles="1" noChangeArrowheads="1" noChangeShapeType="1" noTextEdit="1"/>
              </p:cNvSpPr>
              <p:nvPr/>
            </p:nvSpPr>
            <p:spPr>
              <a:xfrm>
                <a:off x="1359849" y="965981"/>
                <a:ext cx="10253886" cy="1206549"/>
              </a:xfrm>
              <a:prstGeom prst="rect">
                <a:avLst/>
              </a:prstGeom>
              <a:blipFill>
                <a:blip r:embed="rId4"/>
                <a:stretch>
                  <a:fillRect l="-476" t="-3535" b="-353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15631FBE-764E-6807-FC70-85B2FE20278B}"/>
              </a:ext>
            </a:extLst>
          </p:cNvPr>
          <p:cNvPicPr>
            <a:picLocks noChangeAspect="1"/>
          </p:cNvPicPr>
          <p:nvPr/>
        </p:nvPicPr>
        <p:blipFill>
          <a:blip r:embed="rId5"/>
          <a:srcRect t="14773" b="11706"/>
          <a:stretch>
            <a:fillRect/>
          </a:stretch>
        </p:blipFill>
        <p:spPr>
          <a:xfrm>
            <a:off x="3365734" y="3057021"/>
            <a:ext cx="5034781" cy="844046"/>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83CAB65-EC8D-CDC4-932B-C289CAD8646E}"/>
                  </a:ext>
                </a:extLst>
              </p:cNvPr>
              <p:cNvSpPr txBox="1"/>
              <p:nvPr/>
            </p:nvSpPr>
            <p:spPr>
              <a:xfrm>
                <a:off x="1359849" y="2359845"/>
                <a:ext cx="7344042" cy="646331"/>
              </a:xfrm>
              <a:prstGeom prst="rect">
                <a:avLst/>
              </a:prstGeom>
              <a:noFill/>
            </p:spPr>
            <p:txBody>
              <a:bodyPr wrap="square">
                <a:spAutoFit/>
              </a:bodyPr>
              <a:lstStyle/>
              <a:p>
                <a:r>
                  <a:rPr lang="zh-CN" altLang="it-IT" dirty="0">
                    <a:solidFill>
                      <a:schemeClr val="tx2"/>
                    </a:solidFill>
                    <a:latin typeface="Helvetica Neue"/>
                  </a:rPr>
                  <a:t>蒙特卡洛方法 </a:t>
                </a:r>
                <a:r>
                  <a:rPr lang="it-IT" altLang="zh-CN" dirty="0">
                    <a:solidFill>
                      <a:schemeClr val="tx2"/>
                    </a:solidFill>
                    <a:latin typeface="Helvetica Neue"/>
                  </a:rPr>
                  <a:t>(Monte Carlo, MC):</a:t>
                </a:r>
                <a:r>
                  <a:rPr lang="zh-CN" altLang="en-US" b="0" i="0" dirty="0">
                    <a:solidFill>
                      <a:schemeClr val="tx2"/>
                    </a:solidFill>
                    <a:effectLst/>
                    <a:latin typeface="Helvetica Neue"/>
                  </a:rPr>
                  <a:t>多次实验取平均</a:t>
                </a:r>
                <a:endParaRPr lang="en-US" altLang="zh-CN" b="0" i="0" dirty="0">
                  <a:solidFill>
                    <a:schemeClr val="tx2"/>
                  </a:solidFill>
                  <a:effectLst/>
                  <a:latin typeface="Helvetica Neue"/>
                </a:endParaRPr>
              </a:p>
              <a:p>
                <a14:m>
                  <m:oMath xmlns:m="http://schemas.openxmlformats.org/officeDocument/2006/math">
                    <m:r>
                      <a:rPr lang="en-US" altLang="zh-CN" b="0" i="1" smtClean="0">
                        <a:solidFill>
                          <a:schemeClr val="tx2"/>
                        </a:solidFill>
                        <a:effectLst/>
                        <a:latin typeface="Cambria Math" panose="02040503050406030204" pitchFamily="18" charset="0"/>
                      </a:rPr>
                      <m:t>𝑁</m:t>
                    </m:r>
                    <m:r>
                      <a:rPr lang="en-US" altLang="zh-CN" b="0" i="1" smtClean="0">
                        <a:solidFill>
                          <a:schemeClr val="tx2"/>
                        </a:solidFill>
                        <a:effectLst/>
                        <a:latin typeface="Cambria Math" panose="02040503050406030204" pitchFamily="18" charset="0"/>
                      </a:rPr>
                      <m:t>(</m:t>
                    </m:r>
                    <m:r>
                      <a:rPr lang="en-US" altLang="zh-CN" b="0" i="1" smtClean="0">
                        <a:solidFill>
                          <a:schemeClr val="tx2"/>
                        </a:solidFill>
                        <a:effectLst/>
                        <a:latin typeface="Cambria Math" panose="02040503050406030204" pitchFamily="18" charset="0"/>
                      </a:rPr>
                      <m:t>𝑠</m:t>
                    </m:r>
                    <m:r>
                      <a:rPr lang="en-US" altLang="zh-CN" b="0" i="1" smtClean="0">
                        <a:solidFill>
                          <a:schemeClr val="tx2"/>
                        </a:solidFill>
                        <a:effectLst/>
                        <a:latin typeface="Cambria Math" panose="02040503050406030204" pitchFamily="18" charset="0"/>
                      </a:rPr>
                      <m:t>)</m:t>
                    </m:r>
                  </m:oMath>
                </a14:m>
                <a:r>
                  <a:rPr lang="zh-CN" altLang="en-US" dirty="0">
                    <a:solidFill>
                      <a:schemeClr val="tx2"/>
                    </a:solidFill>
                  </a:rPr>
                  <a:t> 为实验中出现状态</a:t>
                </a:r>
                <a:r>
                  <a:rPr lang="en-US" altLang="zh-CN" dirty="0">
                    <a:solidFill>
                      <a:schemeClr val="tx2"/>
                    </a:solidFill>
                  </a:rPr>
                  <a:t>s</a:t>
                </a:r>
                <a:r>
                  <a:rPr lang="zh-CN" altLang="en-US" dirty="0">
                    <a:solidFill>
                      <a:schemeClr val="tx2"/>
                    </a:solidFill>
                  </a:rPr>
                  <a:t>的次数</a:t>
                </a:r>
              </a:p>
            </p:txBody>
          </p:sp>
        </mc:Choice>
        <mc:Fallback xmlns="">
          <p:sp>
            <p:nvSpPr>
              <p:cNvPr id="5" name="文本框 4">
                <a:extLst>
                  <a:ext uri="{FF2B5EF4-FFF2-40B4-BE49-F238E27FC236}">
                    <a16:creationId xmlns:a16="http://schemas.microsoft.com/office/drawing/2014/main" id="{783CAB65-EC8D-CDC4-932B-C289CAD8646E}"/>
                  </a:ext>
                </a:extLst>
              </p:cNvPr>
              <p:cNvSpPr txBox="1">
                <a:spLocks noRot="1" noChangeAspect="1" noMove="1" noResize="1" noEditPoints="1" noAdjustHandles="1" noChangeArrowheads="1" noChangeShapeType="1" noTextEdit="1"/>
              </p:cNvSpPr>
              <p:nvPr/>
            </p:nvSpPr>
            <p:spPr>
              <a:xfrm>
                <a:off x="1359849" y="2359845"/>
                <a:ext cx="7344042" cy="646331"/>
              </a:xfrm>
              <a:prstGeom prst="rect">
                <a:avLst/>
              </a:prstGeom>
              <a:blipFill>
                <a:blip r:embed="rId6"/>
                <a:stretch>
                  <a:fillRect l="-664" t="-6604" b="-16038"/>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BA478D24-9A4E-B155-C2C6-38A100371AA6}"/>
              </a:ext>
            </a:extLst>
          </p:cNvPr>
          <p:cNvSpPr txBox="1"/>
          <p:nvPr/>
        </p:nvSpPr>
        <p:spPr>
          <a:xfrm>
            <a:off x="1359849" y="3872318"/>
            <a:ext cx="6095288" cy="646331"/>
          </a:xfrm>
          <a:prstGeom prst="rect">
            <a:avLst/>
          </a:prstGeom>
          <a:noFill/>
        </p:spPr>
        <p:txBody>
          <a:bodyPr wrap="square">
            <a:spAutoFit/>
          </a:bodyPr>
          <a:lstStyle/>
          <a:p>
            <a:r>
              <a:rPr lang="zh-CN" altLang="en-US" dirty="0">
                <a:solidFill>
                  <a:schemeClr val="tx2"/>
                </a:solidFill>
              </a:rPr>
              <a:t>时序差分 </a:t>
            </a:r>
            <a:r>
              <a:rPr lang="en-US" altLang="zh-CN" dirty="0">
                <a:solidFill>
                  <a:schemeClr val="tx2"/>
                </a:solidFill>
              </a:rPr>
              <a:t>(Temporal-Difference, TD) </a:t>
            </a:r>
            <a:r>
              <a:rPr lang="zh-CN" altLang="en-US" dirty="0">
                <a:solidFill>
                  <a:schemeClr val="tx2"/>
                </a:solidFill>
              </a:rPr>
              <a:t>学习</a:t>
            </a:r>
            <a:r>
              <a:rPr lang="en-US" altLang="zh-CN" dirty="0">
                <a:solidFill>
                  <a:schemeClr val="tx2"/>
                </a:solidFill>
              </a:rPr>
              <a:t>:</a:t>
            </a:r>
          </a:p>
          <a:p>
            <a:r>
              <a:rPr lang="en-US" altLang="zh-CN" dirty="0">
                <a:solidFill>
                  <a:schemeClr val="tx2"/>
                </a:solidFill>
              </a:rPr>
              <a:t>TD </a:t>
            </a:r>
            <a:r>
              <a:rPr lang="zh-CN" altLang="en-US" dirty="0">
                <a:solidFill>
                  <a:schemeClr val="tx2"/>
                </a:solidFill>
              </a:rPr>
              <a:t>结合了 </a:t>
            </a:r>
            <a:r>
              <a:rPr lang="en-US" altLang="zh-CN" dirty="0">
                <a:solidFill>
                  <a:schemeClr val="tx2"/>
                </a:solidFill>
              </a:rPr>
              <a:t>MC</a:t>
            </a:r>
            <a:r>
              <a:rPr lang="zh-CN" altLang="en-US" dirty="0">
                <a:solidFill>
                  <a:schemeClr val="tx2"/>
                </a:solidFill>
              </a:rPr>
              <a:t>（但只做一步）</a:t>
            </a:r>
            <a:r>
              <a:rPr lang="en-US" altLang="zh-CN" dirty="0">
                <a:solidFill>
                  <a:schemeClr val="tx2"/>
                </a:solidFill>
              </a:rPr>
              <a:t> </a:t>
            </a:r>
            <a:r>
              <a:rPr lang="zh-CN" altLang="en-US" dirty="0">
                <a:solidFill>
                  <a:schemeClr val="tx2"/>
                </a:solidFill>
              </a:rPr>
              <a:t>的采样 和 </a:t>
            </a:r>
            <a:r>
              <a:rPr lang="en-US" altLang="zh-CN" dirty="0">
                <a:solidFill>
                  <a:schemeClr val="tx2"/>
                </a:solidFill>
              </a:rPr>
              <a:t>DP </a:t>
            </a:r>
            <a:r>
              <a:rPr lang="zh-CN" altLang="en-US" dirty="0">
                <a:solidFill>
                  <a:schemeClr val="tx2"/>
                </a:solidFill>
              </a:rPr>
              <a:t>的 思想</a:t>
            </a:r>
          </a:p>
        </p:txBody>
      </p:sp>
      <p:pic>
        <p:nvPicPr>
          <p:cNvPr id="7" name="图片 6">
            <a:extLst>
              <a:ext uri="{FF2B5EF4-FFF2-40B4-BE49-F238E27FC236}">
                <a16:creationId xmlns:a16="http://schemas.microsoft.com/office/drawing/2014/main" id="{30146F37-5D6B-F338-AE5A-9AE146CE833D}"/>
              </a:ext>
            </a:extLst>
          </p:cNvPr>
          <p:cNvPicPr>
            <a:picLocks noChangeAspect="1"/>
          </p:cNvPicPr>
          <p:nvPr/>
        </p:nvPicPr>
        <p:blipFill>
          <a:blip r:embed="rId7"/>
          <a:stretch>
            <a:fillRect/>
          </a:stretch>
        </p:blipFill>
        <p:spPr>
          <a:xfrm>
            <a:off x="2444001" y="5487757"/>
            <a:ext cx="7127193" cy="808524"/>
          </a:xfrm>
          <a:prstGeom prst="rect">
            <a:avLst/>
          </a:prstGeom>
        </p:spPr>
      </p:pic>
      <p:pic>
        <p:nvPicPr>
          <p:cNvPr id="9" name="图片 8">
            <a:extLst>
              <a:ext uri="{FF2B5EF4-FFF2-40B4-BE49-F238E27FC236}">
                <a16:creationId xmlns:a16="http://schemas.microsoft.com/office/drawing/2014/main" id="{446098DC-3C9F-CC16-5476-CDA9074091CA}"/>
              </a:ext>
            </a:extLst>
          </p:cNvPr>
          <p:cNvPicPr>
            <a:picLocks noChangeAspect="1"/>
          </p:cNvPicPr>
          <p:nvPr/>
        </p:nvPicPr>
        <p:blipFill>
          <a:blip r:embed="rId8"/>
          <a:stretch>
            <a:fillRect/>
          </a:stretch>
        </p:blipFill>
        <p:spPr>
          <a:xfrm>
            <a:off x="3327884" y="4559635"/>
            <a:ext cx="4307840" cy="638498"/>
          </a:xfrm>
          <a:prstGeom prst="rect">
            <a:avLst/>
          </a:prstGeom>
        </p:spPr>
      </p:pic>
      <p:sp>
        <p:nvSpPr>
          <p:cNvPr id="10" name="文本框 9">
            <a:extLst>
              <a:ext uri="{FF2B5EF4-FFF2-40B4-BE49-F238E27FC236}">
                <a16:creationId xmlns:a16="http://schemas.microsoft.com/office/drawing/2014/main" id="{D32F49DC-2BE4-5125-F5FC-A8074583999B}"/>
              </a:ext>
            </a:extLst>
          </p:cNvPr>
          <p:cNvSpPr txBox="1"/>
          <p:nvPr/>
        </p:nvSpPr>
        <p:spPr>
          <a:xfrm>
            <a:off x="1039568" y="5198133"/>
            <a:ext cx="2128520" cy="400110"/>
          </a:xfrm>
          <a:prstGeom prst="rect">
            <a:avLst/>
          </a:prstGeom>
          <a:noFill/>
        </p:spPr>
        <p:txBody>
          <a:bodyPr wrap="square" rtlCol="0">
            <a:spAutoFit/>
          </a:bodyPr>
          <a:lstStyle/>
          <a:p>
            <a:pPr algn="l"/>
            <a:r>
              <a:rPr lang="zh-CN" altLang="en-US" sz="2000" dirty="0"/>
              <a:t>期望意义下：</a:t>
            </a:r>
          </a:p>
        </p:txBody>
      </p:sp>
      <p:sp>
        <p:nvSpPr>
          <p:cNvPr id="11" name="文本框 10">
            <a:extLst>
              <a:ext uri="{FF2B5EF4-FFF2-40B4-BE49-F238E27FC236}">
                <a16:creationId xmlns:a16="http://schemas.microsoft.com/office/drawing/2014/main" id="{25C3B546-3672-64CC-A8FF-C4BF40C7D574}"/>
              </a:ext>
            </a:extLst>
          </p:cNvPr>
          <p:cNvSpPr txBox="1"/>
          <p:nvPr/>
        </p:nvSpPr>
        <p:spPr>
          <a:xfrm>
            <a:off x="66040" y="5708728"/>
            <a:ext cx="2839720" cy="400110"/>
          </a:xfrm>
          <a:prstGeom prst="rect">
            <a:avLst/>
          </a:prstGeom>
          <a:noFill/>
        </p:spPr>
        <p:txBody>
          <a:bodyPr wrap="square" rtlCol="0">
            <a:spAutoFit/>
          </a:bodyPr>
          <a:lstStyle/>
          <a:p>
            <a:pPr algn="l"/>
            <a:r>
              <a:rPr lang="en-US" altLang="zh-CN" sz="2000" dirty="0"/>
              <a:t>SGD with Batch size=1</a:t>
            </a:r>
            <a:endParaRPr lang="zh-CN" altLang="en-US" sz="2000"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E5628AD-E846-945B-B630-075FBC3922F3}"/>
                  </a:ext>
                </a:extLst>
              </p:cNvPr>
              <p:cNvSpPr txBox="1"/>
              <p:nvPr/>
            </p:nvSpPr>
            <p:spPr>
              <a:xfrm>
                <a:off x="2281404" y="5198133"/>
                <a:ext cx="5354320" cy="40011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𝑉</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𝑠</m:t>
                          </m:r>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𝐸</m:t>
                          </m:r>
                        </m:e>
                        <m:sub>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𝑅</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𝑠</m:t>
                              </m:r>
                            </m:e>
                            <m:sup>
                              <m:r>
                                <a:rPr lang="en-US" altLang="zh-CN" sz="2000" b="0" i="1" smtClean="0">
                                  <a:latin typeface="Cambria Math" panose="02040503050406030204" pitchFamily="18" charset="0"/>
                                </a:rPr>
                                <m:t>′</m:t>
                              </m:r>
                            </m:sup>
                          </m:sSup>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𝛾</m:t>
                      </m:r>
                      <m:r>
                        <a:rPr lang="en-US" altLang="zh-CN" sz="2000" b="0" i="1" smtClean="0">
                          <a:latin typeface="Cambria Math" panose="02040503050406030204" pitchFamily="18" charset="0"/>
                        </a:rPr>
                        <m:t>𝑉</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𝑠</m:t>
                          </m:r>
                        </m:e>
                        <m:sup>
                          <m:r>
                            <a:rPr lang="en-US" altLang="zh-CN" sz="2000" b="0" i="1" smtClean="0">
                              <a:latin typeface="Cambria Math" panose="02040503050406030204" pitchFamily="18" charset="0"/>
                            </a:rPr>
                            <m:t>′</m:t>
                          </m:r>
                        </m:sup>
                      </m:sSup>
                      <m:r>
                        <a:rPr lang="en-US" altLang="zh-CN" sz="2000" b="0" i="1" smtClean="0">
                          <a:latin typeface="Cambria Math" panose="02040503050406030204" pitchFamily="18" charset="0"/>
                        </a:rPr>
                        <m:t>)]</m:t>
                      </m:r>
                    </m:oMath>
                  </m:oMathPara>
                </a14:m>
                <a:endParaRPr lang="zh-CN" altLang="en-US" sz="2000" dirty="0"/>
              </a:p>
            </p:txBody>
          </p:sp>
        </mc:Choice>
        <mc:Fallback xmlns="">
          <p:sp>
            <p:nvSpPr>
              <p:cNvPr id="12" name="文本框 11">
                <a:extLst>
                  <a:ext uri="{FF2B5EF4-FFF2-40B4-BE49-F238E27FC236}">
                    <a16:creationId xmlns:a16="http://schemas.microsoft.com/office/drawing/2014/main" id="{6E5628AD-E846-945B-B630-075FBC3922F3}"/>
                  </a:ext>
                </a:extLst>
              </p:cNvPr>
              <p:cNvSpPr txBox="1">
                <a:spLocks noRot="1" noChangeAspect="1" noMove="1" noResize="1" noEditPoints="1" noAdjustHandles="1" noChangeArrowheads="1" noChangeShapeType="1" noTextEdit="1"/>
              </p:cNvSpPr>
              <p:nvPr/>
            </p:nvSpPr>
            <p:spPr>
              <a:xfrm>
                <a:off x="2281404" y="5198133"/>
                <a:ext cx="5354320" cy="400110"/>
              </a:xfrm>
              <a:prstGeom prst="rect">
                <a:avLst/>
              </a:prstGeom>
              <a:blipFill>
                <a:blip r:embed="rId9"/>
                <a:stretch>
                  <a:fillRect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61F89F8-B975-E4F5-48ED-F1B71D0271D9}"/>
                  </a:ext>
                </a:extLst>
              </p:cNvPr>
              <p:cNvSpPr txBox="1"/>
              <p:nvPr/>
            </p:nvSpPr>
            <p:spPr>
              <a:xfrm>
                <a:off x="6625938" y="5198133"/>
                <a:ext cx="498779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𝐿𝑜𝑠𝑠</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𝐸</m:t>
                          </m:r>
                        </m:e>
                        <m:sub>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sub>
                      </m:sSub>
                      <m:sSup>
                        <m:sSupPr>
                          <m:ctrlPr>
                            <a:rPr lang="en-US" altLang="zh-CN" sz="2000" b="0" i="1" smtClean="0">
                              <a:latin typeface="Cambria Math" panose="02040503050406030204" pitchFamily="18" charset="0"/>
                            </a:rPr>
                          </m:ctrlPr>
                        </m:sSup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𝑅</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𝑠</m:t>
                                      </m:r>
                                    </m:e>
                                    <m:sup>
                                      <m:r>
                                        <a:rPr lang="en-US" altLang="zh-CN" sz="2000" b="0" i="1" smtClean="0">
                                          <a:latin typeface="Cambria Math" panose="02040503050406030204" pitchFamily="18" charset="0"/>
                                        </a:rPr>
                                        <m:t>′</m:t>
                                      </m:r>
                                    </m:sup>
                                  </m:sSup>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𝛾</m:t>
                              </m:r>
                              <m:r>
                                <a:rPr lang="en-US" altLang="zh-CN" sz="2000" b="0" i="1" smtClean="0">
                                  <a:latin typeface="Cambria Math" panose="02040503050406030204" pitchFamily="18" charset="0"/>
                                </a:rPr>
                                <m:t>𝑉</m:t>
                              </m:r>
                              <m:d>
                                <m:dPr>
                                  <m:ctrlPr>
                                    <a:rPr lang="en-US" altLang="zh-CN" sz="2000" b="0" i="1" smtClean="0">
                                      <a:latin typeface="Cambria Math" panose="02040503050406030204" pitchFamily="18" charset="0"/>
                                    </a:rPr>
                                  </m:ctrlPr>
                                </m:dPr>
                                <m:e>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𝑠</m:t>
                                      </m:r>
                                    </m:e>
                                    <m:sup>
                                      <m:r>
                                        <a:rPr lang="en-US" altLang="zh-CN" sz="2000" b="0" i="1" smtClean="0">
                                          <a:latin typeface="Cambria Math" panose="02040503050406030204" pitchFamily="18" charset="0"/>
                                        </a:rPr>
                                        <m:t>′</m:t>
                                      </m:r>
                                    </m:sup>
                                  </m:sSup>
                                </m:e>
                              </m:d>
                              <m:r>
                                <a:rPr lang="en-US" altLang="zh-CN" sz="2000" i="1">
                                  <a:latin typeface="Cambria Math" panose="02040503050406030204" pitchFamily="18" charset="0"/>
                                </a:rPr>
                                <m:t>−</m:t>
                              </m:r>
                              <m:r>
                                <a:rPr lang="en-US" altLang="zh-CN" sz="2000" i="1">
                                  <a:latin typeface="Cambria Math" panose="02040503050406030204" pitchFamily="18" charset="0"/>
                                </a:rPr>
                                <m:t>𝑉</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e>
                          </m:d>
                        </m:e>
                        <m:sup>
                          <m:r>
                            <a:rPr lang="en-US" altLang="zh-CN" sz="2000" b="0" i="1" smtClean="0">
                              <a:latin typeface="Cambria Math" panose="02040503050406030204" pitchFamily="18" charset="0"/>
                            </a:rPr>
                            <m:t>2</m:t>
                          </m:r>
                        </m:sup>
                      </m:sSup>
                    </m:oMath>
                  </m:oMathPara>
                </a14:m>
                <a:endParaRPr lang="zh-CN" altLang="en-US" sz="2000" dirty="0"/>
              </a:p>
            </p:txBody>
          </p:sp>
        </mc:Choice>
        <mc:Fallback xmlns="">
          <p:sp>
            <p:nvSpPr>
              <p:cNvPr id="13" name="文本框 12">
                <a:extLst>
                  <a:ext uri="{FF2B5EF4-FFF2-40B4-BE49-F238E27FC236}">
                    <a16:creationId xmlns:a16="http://schemas.microsoft.com/office/drawing/2014/main" id="{861F89F8-B975-E4F5-48ED-F1B71D0271D9}"/>
                  </a:ext>
                </a:extLst>
              </p:cNvPr>
              <p:cNvSpPr txBox="1">
                <a:spLocks noRot="1" noChangeAspect="1" noMove="1" noResize="1" noEditPoints="1" noAdjustHandles="1" noChangeArrowheads="1" noChangeShapeType="1" noTextEdit="1"/>
              </p:cNvSpPr>
              <p:nvPr/>
            </p:nvSpPr>
            <p:spPr>
              <a:xfrm>
                <a:off x="6625938" y="5198133"/>
                <a:ext cx="4987797" cy="400110"/>
              </a:xfrm>
              <a:prstGeom prst="rect">
                <a:avLst/>
              </a:prstGeom>
              <a:blipFill>
                <a:blip r:embed="rId10"/>
                <a:stretch>
                  <a:fillRect b="-123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50146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8D5EB-AE0A-6957-F323-22EA598339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4EC2899-83E8-B37E-058D-669FFCC87EF7}"/>
              </a:ext>
            </a:extLst>
          </p:cNvPr>
          <p:cNvSpPr>
            <a:spLocks noGrp="1"/>
          </p:cNvSpPr>
          <p:nvPr>
            <p:ph type="title"/>
          </p:nvPr>
        </p:nvSpPr>
        <p:spPr/>
        <p:txBody>
          <a:bodyPr/>
          <a:lstStyle/>
          <a:p>
            <a:r>
              <a:rPr lang="en-US" altLang="zh-CN" dirty="0"/>
              <a:t>Bellman </a:t>
            </a:r>
            <a:r>
              <a:rPr lang="zh-CN" altLang="en-US" dirty="0"/>
              <a:t>方程</a:t>
            </a:r>
          </a:p>
        </p:txBody>
      </p:sp>
      <p:pic>
        <p:nvPicPr>
          <p:cNvPr id="4" name="图片 3">
            <a:extLst>
              <a:ext uri="{FF2B5EF4-FFF2-40B4-BE49-F238E27FC236}">
                <a16:creationId xmlns:a16="http://schemas.microsoft.com/office/drawing/2014/main" id="{9CBA8FC6-E21E-FA86-96F6-6F71E8A6EADC}"/>
              </a:ext>
            </a:extLst>
          </p:cNvPr>
          <p:cNvPicPr>
            <a:picLocks noChangeAspect="1"/>
          </p:cNvPicPr>
          <p:nvPr/>
        </p:nvPicPr>
        <p:blipFill>
          <a:blip r:embed="rId2"/>
          <a:stretch>
            <a:fillRect/>
          </a:stretch>
        </p:blipFill>
        <p:spPr>
          <a:xfrm>
            <a:off x="299103" y="857699"/>
            <a:ext cx="11810758" cy="5278813"/>
          </a:xfrm>
          <a:prstGeom prst="rect">
            <a:avLst/>
          </a:prstGeom>
        </p:spPr>
      </p:pic>
      <p:pic>
        <p:nvPicPr>
          <p:cNvPr id="3" name="图片 2">
            <a:extLst>
              <a:ext uri="{FF2B5EF4-FFF2-40B4-BE49-F238E27FC236}">
                <a16:creationId xmlns:a16="http://schemas.microsoft.com/office/drawing/2014/main" id="{D0751E70-EDE7-C13B-DD64-4927CBEAF3E9}"/>
              </a:ext>
            </a:extLst>
          </p:cNvPr>
          <p:cNvPicPr>
            <a:picLocks noChangeAspect="1"/>
          </p:cNvPicPr>
          <p:nvPr/>
        </p:nvPicPr>
        <p:blipFill>
          <a:blip r:embed="rId2"/>
          <a:srcRect l="23705" t="13970" r="8638" b="70633"/>
          <a:stretch>
            <a:fillRect/>
          </a:stretch>
        </p:blipFill>
        <p:spPr>
          <a:xfrm>
            <a:off x="3154679" y="1599379"/>
            <a:ext cx="7990841" cy="812800"/>
          </a:xfrm>
          <a:prstGeom prst="rect">
            <a:avLst/>
          </a:prstGeom>
        </p:spPr>
      </p:pic>
      <p:pic>
        <p:nvPicPr>
          <p:cNvPr id="5" name="图片 4">
            <a:extLst>
              <a:ext uri="{FF2B5EF4-FFF2-40B4-BE49-F238E27FC236}">
                <a16:creationId xmlns:a16="http://schemas.microsoft.com/office/drawing/2014/main" id="{B4CB30B9-0B45-0371-04E6-261EEF6E22D8}"/>
              </a:ext>
            </a:extLst>
          </p:cNvPr>
          <p:cNvPicPr>
            <a:picLocks noChangeAspect="1"/>
          </p:cNvPicPr>
          <p:nvPr/>
        </p:nvPicPr>
        <p:blipFill>
          <a:blip r:embed="rId2"/>
          <a:srcRect l="28522" t="86818" r="11691" b="-387"/>
          <a:stretch>
            <a:fillRect/>
          </a:stretch>
        </p:blipFill>
        <p:spPr>
          <a:xfrm>
            <a:off x="3662679" y="5420232"/>
            <a:ext cx="7061201" cy="716280"/>
          </a:xfrm>
          <a:prstGeom prst="rect">
            <a:avLst/>
          </a:prstGeom>
        </p:spPr>
      </p:pic>
    </p:spTree>
    <p:extLst>
      <p:ext uri="{BB962C8B-B14F-4D97-AF65-F5344CB8AC3E}">
        <p14:creationId xmlns:p14="http://schemas.microsoft.com/office/powerpoint/2010/main" val="1923888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AF9EF-C575-2954-9053-78A67A772D7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A17E926-8F01-B301-2019-7BE7333066FA}"/>
              </a:ext>
            </a:extLst>
          </p:cNvPr>
          <p:cNvSpPr>
            <a:spLocks noGrp="1"/>
          </p:cNvSpPr>
          <p:nvPr>
            <p:ph type="title"/>
          </p:nvPr>
        </p:nvSpPr>
        <p:spPr/>
        <p:txBody>
          <a:bodyPr/>
          <a:lstStyle/>
          <a:p>
            <a:r>
              <a:rPr lang="en-US" altLang="zh-CN" dirty="0"/>
              <a:t>Bellman </a:t>
            </a:r>
            <a:r>
              <a:rPr lang="zh-CN" altLang="en-US" dirty="0"/>
              <a:t>方程</a:t>
            </a:r>
          </a:p>
        </p:txBody>
      </p:sp>
      <p:pic>
        <p:nvPicPr>
          <p:cNvPr id="4" name="图片 3">
            <a:extLst>
              <a:ext uri="{FF2B5EF4-FFF2-40B4-BE49-F238E27FC236}">
                <a16:creationId xmlns:a16="http://schemas.microsoft.com/office/drawing/2014/main" id="{E64029A4-DFD4-0032-46E2-38723695313A}"/>
              </a:ext>
            </a:extLst>
          </p:cNvPr>
          <p:cNvPicPr>
            <a:picLocks noChangeAspect="1"/>
          </p:cNvPicPr>
          <p:nvPr/>
        </p:nvPicPr>
        <p:blipFill>
          <a:blip r:embed="rId3"/>
          <a:srcRect l="28522" t="86818" r="11691" b="-387"/>
          <a:stretch>
            <a:fillRect/>
          </a:stretch>
        </p:blipFill>
        <p:spPr>
          <a:xfrm>
            <a:off x="2941319" y="2246279"/>
            <a:ext cx="7061201" cy="716280"/>
          </a:xfrm>
          <a:prstGeom prst="rect">
            <a:avLst/>
          </a:prstGeom>
        </p:spPr>
      </p:pic>
      <p:pic>
        <p:nvPicPr>
          <p:cNvPr id="10" name="图片 9">
            <a:extLst>
              <a:ext uri="{FF2B5EF4-FFF2-40B4-BE49-F238E27FC236}">
                <a16:creationId xmlns:a16="http://schemas.microsoft.com/office/drawing/2014/main" id="{847059BF-18C9-675E-8896-F56A114B972D}"/>
              </a:ext>
            </a:extLst>
          </p:cNvPr>
          <p:cNvPicPr>
            <a:picLocks noChangeAspect="1"/>
          </p:cNvPicPr>
          <p:nvPr/>
        </p:nvPicPr>
        <p:blipFill>
          <a:blip r:embed="rId3"/>
          <a:srcRect l="23705" t="13970" r="8638" b="70633"/>
          <a:stretch>
            <a:fillRect/>
          </a:stretch>
        </p:blipFill>
        <p:spPr>
          <a:xfrm>
            <a:off x="2524759" y="1086299"/>
            <a:ext cx="7990841" cy="812800"/>
          </a:xfrm>
          <a:prstGeom prst="rect">
            <a:avLst/>
          </a:prstGeom>
        </p:spPr>
      </p:pic>
      <p:sp>
        <p:nvSpPr>
          <p:cNvPr id="3" name="文本框 2">
            <a:extLst>
              <a:ext uri="{FF2B5EF4-FFF2-40B4-BE49-F238E27FC236}">
                <a16:creationId xmlns:a16="http://schemas.microsoft.com/office/drawing/2014/main" id="{C6EED177-1BEC-0611-83D8-5321522B95ED}"/>
              </a:ext>
            </a:extLst>
          </p:cNvPr>
          <p:cNvSpPr txBox="1"/>
          <p:nvPr/>
        </p:nvSpPr>
        <p:spPr>
          <a:xfrm>
            <a:off x="916845" y="3294287"/>
            <a:ext cx="6095288" cy="369332"/>
          </a:xfrm>
          <a:prstGeom prst="rect">
            <a:avLst/>
          </a:prstGeom>
          <a:noFill/>
        </p:spPr>
        <p:txBody>
          <a:bodyPr wrap="square">
            <a:spAutoFit/>
          </a:bodyPr>
          <a:lstStyle/>
          <a:p>
            <a:r>
              <a:rPr lang="en-US" altLang="zh-CN" dirty="0"/>
              <a:t>Sarsa </a:t>
            </a:r>
            <a:r>
              <a:rPr lang="zh-CN" altLang="en-US" dirty="0"/>
              <a:t>与 </a:t>
            </a:r>
            <a:r>
              <a:rPr lang="en-US" altLang="zh-CN" dirty="0"/>
              <a:t>Q-learning</a:t>
            </a:r>
            <a:endParaRPr lang="zh-CN" altLang="en-US" dirty="0"/>
          </a:p>
        </p:txBody>
      </p:sp>
      <p:pic>
        <p:nvPicPr>
          <p:cNvPr id="5" name="图片 4">
            <a:extLst>
              <a:ext uri="{FF2B5EF4-FFF2-40B4-BE49-F238E27FC236}">
                <a16:creationId xmlns:a16="http://schemas.microsoft.com/office/drawing/2014/main" id="{88C945D1-E03E-5E1E-898A-2E2CC4DF17C8}"/>
              </a:ext>
            </a:extLst>
          </p:cNvPr>
          <p:cNvPicPr>
            <a:picLocks noChangeAspect="1"/>
          </p:cNvPicPr>
          <p:nvPr/>
        </p:nvPicPr>
        <p:blipFill>
          <a:blip r:embed="rId4"/>
          <a:stretch>
            <a:fillRect/>
          </a:stretch>
        </p:blipFill>
        <p:spPr>
          <a:xfrm>
            <a:off x="2129992" y="3699264"/>
            <a:ext cx="8003136" cy="2072437"/>
          </a:xfrm>
          <a:prstGeom prst="rect">
            <a:avLst/>
          </a:prstGeom>
        </p:spPr>
      </p:pic>
      <p:sp>
        <p:nvSpPr>
          <p:cNvPr id="6" name="文本框 5">
            <a:extLst>
              <a:ext uri="{FF2B5EF4-FFF2-40B4-BE49-F238E27FC236}">
                <a16:creationId xmlns:a16="http://schemas.microsoft.com/office/drawing/2014/main" id="{3930F2A6-AC4A-85E0-BF58-FDDDB4F0D10F}"/>
              </a:ext>
            </a:extLst>
          </p:cNvPr>
          <p:cNvSpPr txBox="1"/>
          <p:nvPr/>
        </p:nvSpPr>
        <p:spPr>
          <a:xfrm>
            <a:off x="6594457" y="3617822"/>
            <a:ext cx="4636094" cy="400110"/>
          </a:xfrm>
          <a:prstGeom prst="rect">
            <a:avLst/>
          </a:prstGeom>
          <a:noFill/>
        </p:spPr>
        <p:txBody>
          <a:bodyPr wrap="square" rtlCol="0">
            <a:spAutoFit/>
          </a:bodyPr>
          <a:lstStyle/>
          <a:p>
            <a:pPr algn="l"/>
            <a:r>
              <a:rPr lang="en-US" altLang="zh-CN" sz="2000" dirty="0"/>
              <a:t>On-policy: </a:t>
            </a:r>
            <a:r>
              <a:rPr lang="zh-CN" altLang="en-US" sz="2000" dirty="0"/>
              <a:t>采样和要更新的分布相同</a:t>
            </a:r>
          </a:p>
        </p:txBody>
      </p:sp>
      <p:sp>
        <p:nvSpPr>
          <p:cNvPr id="7" name="右大括号 6">
            <a:extLst>
              <a:ext uri="{FF2B5EF4-FFF2-40B4-BE49-F238E27FC236}">
                <a16:creationId xmlns:a16="http://schemas.microsoft.com/office/drawing/2014/main" id="{630562E0-29E3-0E94-E4ED-B827652ED797}"/>
              </a:ext>
            </a:extLst>
          </p:cNvPr>
          <p:cNvSpPr/>
          <p:nvPr/>
        </p:nvSpPr>
        <p:spPr>
          <a:xfrm rot="16200000">
            <a:off x="6683718" y="3253985"/>
            <a:ext cx="216252" cy="1767320"/>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448F8206-02F1-B18A-0E31-E65A117488FB}"/>
              </a:ext>
            </a:extLst>
          </p:cNvPr>
          <p:cNvSpPr txBox="1"/>
          <p:nvPr/>
        </p:nvSpPr>
        <p:spPr>
          <a:xfrm>
            <a:off x="6484810" y="4618904"/>
            <a:ext cx="4636094" cy="400110"/>
          </a:xfrm>
          <a:prstGeom prst="rect">
            <a:avLst/>
          </a:prstGeom>
          <a:noFill/>
        </p:spPr>
        <p:txBody>
          <a:bodyPr wrap="square" rtlCol="0">
            <a:spAutoFit/>
          </a:bodyPr>
          <a:lstStyle/>
          <a:p>
            <a:pPr algn="l"/>
            <a:r>
              <a:rPr lang="en-US" altLang="zh-CN" sz="2000" dirty="0"/>
              <a:t>Off-policy: </a:t>
            </a:r>
            <a:r>
              <a:rPr lang="zh-CN" altLang="en-US" sz="2000" dirty="0"/>
              <a:t>采样和要更新的分布</a:t>
            </a:r>
            <a:r>
              <a:rPr lang="zh-CN" altLang="en-US" sz="2000" b="1" dirty="0"/>
              <a:t>不</a:t>
            </a:r>
            <a:r>
              <a:rPr lang="zh-CN" altLang="en-US" sz="2000" dirty="0"/>
              <a:t>相同</a:t>
            </a:r>
          </a:p>
        </p:txBody>
      </p:sp>
      <p:sp>
        <p:nvSpPr>
          <p:cNvPr id="9" name="右大括号 8">
            <a:extLst>
              <a:ext uri="{FF2B5EF4-FFF2-40B4-BE49-F238E27FC236}">
                <a16:creationId xmlns:a16="http://schemas.microsoft.com/office/drawing/2014/main" id="{FBC6BF2E-5716-FE49-10B5-8E0F5259A823}"/>
              </a:ext>
            </a:extLst>
          </p:cNvPr>
          <p:cNvSpPr/>
          <p:nvPr/>
        </p:nvSpPr>
        <p:spPr>
          <a:xfrm rot="16200000">
            <a:off x="6574071" y="4255067"/>
            <a:ext cx="216252" cy="1767320"/>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2091166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animBg="1"/>
      <p:bldP spid="8" grpId="0"/>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BBEDF-597B-9387-0B69-C70AD015C681}"/>
            </a:ext>
          </a:extLst>
        </p:cNvPr>
        <p:cNvGrpSpPr/>
        <p:nvPr/>
      </p:nvGrpSpPr>
      <p:grpSpPr>
        <a:xfrm>
          <a:off x="0" y="0"/>
          <a:ext cx="0" cy="0"/>
          <a:chOff x="0" y="0"/>
          <a:chExt cx="0" cy="0"/>
        </a:xfrm>
      </p:grpSpPr>
      <p:pic>
        <p:nvPicPr>
          <p:cNvPr id="15" name="图片 14">
            <a:extLst>
              <a:ext uri="{FF2B5EF4-FFF2-40B4-BE49-F238E27FC236}">
                <a16:creationId xmlns:a16="http://schemas.microsoft.com/office/drawing/2014/main" id="{317C1391-45D1-ACDB-D4BF-D89F8B193141}"/>
              </a:ext>
            </a:extLst>
          </p:cNvPr>
          <p:cNvPicPr>
            <a:picLocks noChangeAspect="1"/>
          </p:cNvPicPr>
          <p:nvPr/>
        </p:nvPicPr>
        <p:blipFill>
          <a:blip r:embed="rId2"/>
          <a:stretch>
            <a:fillRect/>
          </a:stretch>
        </p:blipFill>
        <p:spPr>
          <a:xfrm>
            <a:off x="4264353" y="3739721"/>
            <a:ext cx="4574967" cy="2036031"/>
          </a:xfrm>
          <a:prstGeom prst="rect">
            <a:avLst/>
          </a:prstGeom>
        </p:spPr>
      </p:pic>
      <p:sp>
        <p:nvSpPr>
          <p:cNvPr id="2" name="标题 1">
            <a:extLst>
              <a:ext uri="{FF2B5EF4-FFF2-40B4-BE49-F238E27FC236}">
                <a16:creationId xmlns:a16="http://schemas.microsoft.com/office/drawing/2014/main" id="{719FE0C9-5BCA-65E1-7CCC-D6AC360537F8}"/>
              </a:ext>
            </a:extLst>
          </p:cNvPr>
          <p:cNvSpPr>
            <a:spLocks noGrp="1"/>
          </p:cNvSpPr>
          <p:nvPr>
            <p:ph type="title"/>
          </p:nvPr>
        </p:nvSpPr>
        <p:spPr/>
        <p:txBody>
          <a:bodyPr/>
          <a:lstStyle/>
          <a:p>
            <a:r>
              <a:rPr lang="zh-CN" altLang="en-US" dirty="0"/>
              <a:t>求解 </a:t>
            </a:r>
            <a:r>
              <a:rPr lang="en-US" altLang="zh-CN" dirty="0"/>
              <a:t>RL</a:t>
            </a:r>
            <a:r>
              <a:rPr lang="zh-CN" altLang="en-US" dirty="0"/>
              <a:t>问题</a:t>
            </a:r>
          </a:p>
        </p:txBody>
      </p:sp>
      <p:sp>
        <p:nvSpPr>
          <p:cNvPr id="9" name="文本框 8">
            <a:extLst>
              <a:ext uri="{FF2B5EF4-FFF2-40B4-BE49-F238E27FC236}">
                <a16:creationId xmlns:a16="http://schemas.microsoft.com/office/drawing/2014/main" id="{78C56E6B-D095-CC74-6502-5BAC8125F096}"/>
              </a:ext>
            </a:extLst>
          </p:cNvPr>
          <p:cNvSpPr txBox="1"/>
          <p:nvPr/>
        </p:nvSpPr>
        <p:spPr>
          <a:xfrm>
            <a:off x="881285" y="1082248"/>
            <a:ext cx="6095288" cy="369332"/>
          </a:xfrm>
          <a:prstGeom prst="rect">
            <a:avLst/>
          </a:prstGeom>
          <a:noFill/>
        </p:spPr>
        <p:txBody>
          <a:bodyPr wrap="square">
            <a:spAutoFit/>
          </a:bodyPr>
          <a:lstStyle/>
          <a:p>
            <a:r>
              <a:rPr lang="en-US" altLang="zh-CN" dirty="0"/>
              <a:t>Sarsa </a:t>
            </a:r>
            <a:r>
              <a:rPr lang="zh-CN" altLang="en-US" dirty="0"/>
              <a:t>与 </a:t>
            </a:r>
            <a:r>
              <a:rPr lang="en-US" altLang="zh-CN" dirty="0"/>
              <a:t>Q-learning</a:t>
            </a:r>
            <a:endParaRPr lang="zh-CN" altLang="en-US" dirty="0"/>
          </a:p>
        </p:txBody>
      </p:sp>
      <p:pic>
        <p:nvPicPr>
          <p:cNvPr id="11" name="图片 10">
            <a:extLst>
              <a:ext uri="{FF2B5EF4-FFF2-40B4-BE49-F238E27FC236}">
                <a16:creationId xmlns:a16="http://schemas.microsoft.com/office/drawing/2014/main" id="{806FE1E4-D081-BC0E-CED0-600F07AFF413}"/>
              </a:ext>
            </a:extLst>
          </p:cNvPr>
          <p:cNvPicPr>
            <a:picLocks noChangeAspect="1"/>
          </p:cNvPicPr>
          <p:nvPr/>
        </p:nvPicPr>
        <p:blipFill>
          <a:blip r:embed="rId3"/>
          <a:stretch>
            <a:fillRect/>
          </a:stretch>
        </p:blipFill>
        <p:spPr>
          <a:xfrm>
            <a:off x="2094432" y="1487225"/>
            <a:ext cx="8003136" cy="2072437"/>
          </a:xfrm>
          <a:prstGeom prst="rect">
            <a:avLst/>
          </a:prstGeom>
        </p:spPr>
      </p:pic>
      <p:sp>
        <p:nvSpPr>
          <p:cNvPr id="13" name="文本框 12">
            <a:extLst>
              <a:ext uri="{FF2B5EF4-FFF2-40B4-BE49-F238E27FC236}">
                <a16:creationId xmlns:a16="http://schemas.microsoft.com/office/drawing/2014/main" id="{17B9451B-8570-D8A3-A156-6927FF3947E4}"/>
              </a:ext>
            </a:extLst>
          </p:cNvPr>
          <p:cNvSpPr txBox="1"/>
          <p:nvPr/>
        </p:nvSpPr>
        <p:spPr>
          <a:xfrm>
            <a:off x="0" y="4390210"/>
            <a:ext cx="6095288" cy="923330"/>
          </a:xfrm>
          <a:prstGeom prst="rect">
            <a:avLst/>
          </a:prstGeom>
          <a:noFill/>
        </p:spPr>
        <p:txBody>
          <a:bodyPr wrap="square">
            <a:spAutoFit/>
          </a:bodyPr>
          <a:lstStyle/>
          <a:p>
            <a:r>
              <a:rPr lang="en-US" altLang="zh-CN" dirty="0">
                <a:solidFill>
                  <a:schemeClr val="tx2"/>
                </a:solidFill>
              </a:rPr>
              <a:t>Sarsa </a:t>
            </a:r>
            <a:r>
              <a:rPr lang="zh-CN" altLang="en-US" dirty="0">
                <a:solidFill>
                  <a:schemeClr val="tx2"/>
                </a:solidFill>
              </a:rPr>
              <a:t>会学到一个安全但慢的策略；</a:t>
            </a:r>
          </a:p>
          <a:p>
            <a:endParaRPr lang="zh-CN" altLang="en-US" dirty="0">
              <a:solidFill>
                <a:schemeClr val="tx2"/>
              </a:solidFill>
            </a:endParaRPr>
          </a:p>
          <a:p>
            <a:r>
              <a:rPr lang="en-US" altLang="zh-CN" dirty="0">
                <a:solidFill>
                  <a:schemeClr val="tx2"/>
                </a:solidFill>
              </a:rPr>
              <a:t>Q-learning </a:t>
            </a:r>
            <a:r>
              <a:rPr lang="zh-CN" altLang="en-US" dirty="0">
                <a:solidFill>
                  <a:schemeClr val="tx2"/>
                </a:solidFill>
              </a:rPr>
              <a:t>会学到一个高风险但最优的策略</a:t>
            </a:r>
          </a:p>
        </p:txBody>
      </p:sp>
      <p:pic>
        <p:nvPicPr>
          <p:cNvPr id="17" name="图片 16">
            <a:extLst>
              <a:ext uri="{FF2B5EF4-FFF2-40B4-BE49-F238E27FC236}">
                <a16:creationId xmlns:a16="http://schemas.microsoft.com/office/drawing/2014/main" id="{86DD1343-879E-9E21-94AD-9B85EE5BE15E}"/>
              </a:ext>
            </a:extLst>
          </p:cNvPr>
          <p:cNvPicPr>
            <a:picLocks noChangeAspect="1"/>
          </p:cNvPicPr>
          <p:nvPr/>
        </p:nvPicPr>
        <p:blipFill>
          <a:blip r:embed="rId4"/>
          <a:stretch>
            <a:fillRect/>
          </a:stretch>
        </p:blipFill>
        <p:spPr>
          <a:xfrm>
            <a:off x="8767297" y="3706402"/>
            <a:ext cx="3372696" cy="2149267"/>
          </a:xfrm>
          <a:prstGeom prst="rect">
            <a:avLst/>
          </a:prstGeom>
        </p:spPr>
      </p:pic>
      <p:sp>
        <p:nvSpPr>
          <p:cNvPr id="18" name="文本框 17">
            <a:extLst>
              <a:ext uri="{FF2B5EF4-FFF2-40B4-BE49-F238E27FC236}">
                <a16:creationId xmlns:a16="http://schemas.microsoft.com/office/drawing/2014/main" id="{2804A7B5-E390-A581-27D7-608B4ED102C4}"/>
              </a:ext>
            </a:extLst>
          </p:cNvPr>
          <p:cNvSpPr txBox="1"/>
          <p:nvPr/>
        </p:nvSpPr>
        <p:spPr>
          <a:xfrm>
            <a:off x="6558897" y="1405783"/>
            <a:ext cx="4636094" cy="400110"/>
          </a:xfrm>
          <a:prstGeom prst="rect">
            <a:avLst/>
          </a:prstGeom>
          <a:noFill/>
        </p:spPr>
        <p:txBody>
          <a:bodyPr wrap="square" rtlCol="0">
            <a:spAutoFit/>
          </a:bodyPr>
          <a:lstStyle/>
          <a:p>
            <a:pPr algn="l"/>
            <a:r>
              <a:rPr lang="en-US" altLang="zh-CN" sz="2000" dirty="0"/>
              <a:t>On-policy: </a:t>
            </a:r>
            <a:r>
              <a:rPr lang="zh-CN" altLang="en-US" sz="2000" dirty="0"/>
              <a:t>采样和要更新的分布相同</a:t>
            </a:r>
          </a:p>
        </p:txBody>
      </p:sp>
      <p:sp>
        <p:nvSpPr>
          <p:cNvPr id="19" name="右大括号 18">
            <a:extLst>
              <a:ext uri="{FF2B5EF4-FFF2-40B4-BE49-F238E27FC236}">
                <a16:creationId xmlns:a16="http://schemas.microsoft.com/office/drawing/2014/main" id="{324D6768-152C-08BA-ABEA-E5E73344312F}"/>
              </a:ext>
            </a:extLst>
          </p:cNvPr>
          <p:cNvSpPr/>
          <p:nvPr/>
        </p:nvSpPr>
        <p:spPr>
          <a:xfrm rot="16200000">
            <a:off x="6648158" y="1041946"/>
            <a:ext cx="216252" cy="1767320"/>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16971E9-B456-D15D-96E4-B40DE25F0ACF}"/>
              </a:ext>
            </a:extLst>
          </p:cNvPr>
          <p:cNvSpPr txBox="1"/>
          <p:nvPr/>
        </p:nvSpPr>
        <p:spPr>
          <a:xfrm>
            <a:off x="6449250" y="2406865"/>
            <a:ext cx="4636094" cy="400110"/>
          </a:xfrm>
          <a:prstGeom prst="rect">
            <a:avLst/>
          </a:prstGeom>
          <a:noFill/>
        </p:spPr>
        <p:txBody>
          <a:bodyPr wrap="square" rtlCol="0">
            <a:spAutoFit/>
          </a:bodyPr>
          <a:lstStyle/>
          <a:p>
            <a:pPr algn="l"/>
            <a:r>
              <a:rPr lang="en-US" altLang="zh-CN" sz="2000" dirty="0"/>
              <a:t>Off-policy: </a:t>
            </a:r>
            <a:r>
              <a:rPr lang="zh-CN" altLang="en-US" sz="2000" dirty="0"/>
              <a:t>采样和要更新的分布</a:t>
            </a:r>
            <a:r>
              <a:rPr lang="zh-CN" altLang="en-US" sz="2000" b="1" dirty="0"/>
              <a:t>不</a:t>
            </a:r>
            <a:r>
              <a:rPr lang="zh-CN" altLang="en-US" sz="2000" dirty="0"/>
              <a:t>相同</a:t>
            </a:r>
          </a:p>
        </p:txBody>
      </p:sp>
      <p:sp>
        <p:nvSpPr>
          <p:cNvPr id="21" name="右大括号 20">
            <a:extLst>
              <a:ext uri="{FF2B5EF4-FFF2-40B4-BE49-F238E27FC236}">
                <a16:creationId xmlns:a16="http://schemas.microsoft.com/office/drawing/2014/main" id="{984C15A7-6985-66B7-B893-698512647502}"/>
              </a:ext>
            </a:extLst>
          </p:cNvPr>
          <p:cNvSpPr/>
          <p:nvPr/>
        </p:nvSpPr>
        <p:spPr>
          <a:xfrm rot="16200000">
            <a:off x="6538511" y="2043028"/>
            <a:ext cx="216252" cy="1767320"/>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426F11BD-3E74-4DFF-23B1-493D2E9E26CC}"/>
              </a:ext>
            </a:extLst>
          </p:cNvPr>
          <p:cNvSpPr txBox="1"/>
          <p:nvPr/>
        </p:nvSpPr>
        <p:spPr>
          <a:xfrm>
            <a:off x="7067550" y="5962650"/>
            <a:ext cx="2590800" cy="400110"/>
          </a:xfrm>
          <a:prstGeom prst="rect">
            <a:avLst/>
          </a:prstGeom>
          <a:noFill/>
        </p:spPr>
        <p:txBody>
          <a:bodyPr wrap="square" rtlCol="0">
            <a:spAutoFit/>
          </a:bodyPr>
          <a:lstStyle/>
          <a:p>
            <a:pPr algn="l"/>
            <a:r>
              <a:rPr lang="en-US" altLang="zh-CN" sz="2000" dirty="0"/>
              <a:t>《</a:t>
            </a:r>
            <a:r>
              <a:rPr lang="zh-CN" altLang="en-US" sz="2000" dirty="0"/>
              <a:t>强化学习</a:t>
            </a:r>
            <a:r>
              <a:rPr lang="en-US" altLang="zh-CN" sz="2000" dirty="0"/>
              <a:t>》Sutton</a:t>
            </a:r>
            <a:endParaRPr lang="zh-CN" altLang="en-US" sz="2000" dirty="0"/>
          </a:p>
        </p:txBody>
      </p:sp>
    </p:spTree>
    <p:extLst>
      <p:ext uri="{BB962C8B-B14F-4D97-AF65-F5344CB8AC3E}">
        <p14:creationId xmlns:p14="http://schemas.microsoft.com/office/powerpoint/2010/main" val="30524058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217AB-C934-AA6A-1534-5CDC931B72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F13AF33-D830-5A52-9FE8-21FF07335854}"/>
              </a:ext>
            </a:extLst>
          </p:cNvPr>
          <p:cNvSpPr>
            <a:spLocks noGrp="1"/>
          </p:cNvSpPr>
          <p:nvPr>
            <p:ph type="title"/>
          </p:nvPr>
        </p:nvSpPr>
        <p:spPr>
          <a:xfrm>
            <a:off x="143935" y="144826"/>
            <a:ext cx="2576687" cy="337358"/>
          </a:xfrm>
        </p:spPr>
        <p:txBody>
          <a:bodyPr/>
          <a:lstStyle/>
          <a:p>
            <a:r>
              <a:rPr lang="zh-CN" altLang="en-US" sz="2800" dirty="0"/>
              <a:t>目录</a:t>
            </a:r>
          </a:p>
        </p:txBody>
      </p:sp>
      <p:sp>
        <p:nvSpPr>
          <p:cNvPr id="3" name="文本框 2">
            <a:extLst>
              <a:ext uri="{FF2B5EF4-FFF2-40B4-BE49-F238E27FC236}">
                <a16:creationId xmlns:a16="http://schemas.microsoft.com/office/drawing/2014/main" id="{52232468-0D0F-5398-3C27-CDF0432C710C}"/>
              </a:ext>
            </a:extLst>
          </p:cNvPr>
          <p:cNvSpPr txBox="1"/>
          <p:nvPr/>
        </p:nvSpPr>
        <p:spPr>
          <a:xfrm>
            <a:off x="3855154" y="1454516"/>
            <a:ext cx="4134465" cy="4832092"/>
          </a:xfrm>
          <a:prstGeom prst="rect">
            <a:avLst/>
          </a:prstGeom>
          <a:noFill/>
        </p:spPr>
        <p:txBody>
          <a:bodyPr wrap="none" rtlCol="0">
            <a:spAutoFit/>
          </a:bodyPr>
          <a:lstStyle/>
          <a:p>
            <a:pPr algn="l"/>
            <a:r>
              <a:rPr lang="zh-CN" altLang="en-US" sz="2800" b="1" dirty="0">
                <a:solidFill>
                  <a:srgbClr val="808080"/>
                </a:solidFill>
                <a:latin typeface="微软雅黑" panose="020B0503020204020204" pitchFamily="34" charset="-122"/>
                <a:ea typeface="微软雅黑" panose="020B0503020204020204" pitchFamily="34" charset="-122"/>
              </a:rPr>
              <a:t>一、什么是强化学习</a:t>
            </a:r>
            <a:endParaRPr lang="en-US" altLang="zh-CN" sz="2800" b="1" dirty="0">
              <a:solidFill>
                <a:srgbClr val="808080"/>
              </a:solidFill>
              <a:latin typeface="微软雅黑" panose="020B0503020204020204" pitchFamily="34" charset="-122"/>
              <a:ea typeface="微软雅黑" panose="020B0503020204020204" pitchFamily="34" charset="-122"/>
            </a:endParaRPr>
          </a:p>
          <a:p>
            <a:pPr algn="l"/>
            <a:endParaRPr lang="en-US" altLang="zh-CN" sz="2800" b="1" dirty="0">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二、强化学习的基本要素</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三、强化学习的任务类型</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808080"/>
                </a:solidFill>
                <a:latin typeface="微软雅黑" panose="020B0503020204020204" pitchFamily="34" charset="-122"/>
                <a:ea typeface="微软雅黑" panose="020B0503020204020204" pitchFamily="34" charset="-122"/>
              </a:rPr>
              <a:t>四、解决强化学习问题</a:t>
            </a:r>
            <a:endParaRPr lang="en-US" altLang="zh-CN" sz="2800" b="1" dirty="0">
              <a:solidFill>
                <a:srgbClr val="808080"/>
              </a:solidFill>
              <a:latin typeface="微软雅黑" panose="020B0503020204020204" pitchFamily="34" charset="-122"/>
              <a:ea typeface="微软雅黑" panose="020B0503020204020204" pitchFamily="34" charset="-122"/>
            </a:endParaRPr>
          </a:p>
          <a:p>
            <a:endParaRPr lang="en-US" altLang="zh-CN" sz="2800" b="1" dirty="0">
              <a:solidFill>
                <a:srgbClr val="808080"/>
              </a:solidFill>
              <a:latin typeface="微软雅黑" panose="020B0503020204020204" pitchFamily="34" charset="-122"/>
              <a:ea typeface="微软雅黑" panose="020B0503020204020204" pitchFamily="34" charset="-122"/>
            </a:endParaRPr>
          </a:p>
          <a:p>
            <a:r>
              <a:rPr lang="zh-CN" altLang="en-US" sz="2800" b="1" dirty="0">
                <a:solidFill>
                  <a:srgbClr val="C00000"/>
                </a:solidFill>
                <a:latin typeface="微软雅黑" panose="020B0503020204020204" pitchFamily="34" charset="-122"/>
                <a:ea typeface="微软雅黑" panose="020B0503020204020204" pitchFamily="34" charset="-122"/>
              </a:rPr>
              <a:t>五、深度强化学习</a:t>
            </a:r>
          </a:p>
          <a:p>
            <a:endParaRPr lang="zh-CN" altLang="en-US" sz="2800" b="1" dirty="0">
              <a:latin typeface="微软雅黑" panose="020B0503020204020204" pitchFamily="34" charset="-122"/>
              <a:ea typeface="微软雅黑" panose="020B0503020204020204" pitchFamily="34" charset="-122"/>
            </a:endParaRPr>
          </a:p>
          <a:p>
            <a:pPr algn="l"/>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0133307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D1BFF5-4B69-4C38-9581-71CD97B1FB9D}"/>
              </a:ext>
            </a:extLst>
          </p:cNvPr>
          <p:cNvSpPr>
            <a:spLocks noGrp="1"/>
          </p:cNvSpPr>
          <p:nvPr>
            <p:ph type="title"/>
          </p:nvPr>
        </p:nvSpPr>
        <p:spPr/>
        <p:txBody>
          <a:bodyPr/>
          <a:lstStyle/>
          <a:p>
            <a:r>
              <a:rPr lang="zh-CN" altLang="en-US" dirty="0"/>
              <a:t>深度强化学习的崛起</a:t>
            </a:r>
            <a:endParaRPr kumimoji="1" lang="zh-CN" altLang="en-US" dirty="0"/>
          </a:p>
        </p:txBody>
      </p:sp>
      <p:sp>
        <p:nvSpPr>
          <p:cNvPr id="3" name="内容占位符 2">
            <a:extLst>
              <a:ext uri="{FF2B5EF4-FFF2-40B4-BE49-F238E27FC236}">
                <a16:creationId xmlns:a16="http://schemas.microsoft.com/office/drawing/2014/main" id="{72D1A3FD-21E4-B89D-F36B-EFC3415DC5CA}"/>
              </a:ext>
            </a:extLst>
          </p:cNvPr>
          <p:cNvSpPr>
            <a:spLocks noGrp="1"/>
          </p:cNvSpPr>
          <p:nvPr>
            <p:ph idx="1"/>
          </p:nvPr>
        </p:nvSpPr>
        <p:spPr/>
        <p:txBody>
          <a:bodyPr/>
          <a:lstStyle/>
          <a:p>
            <a:pPr marL="342900" indent="-342900">
              <a:buFont typeface="Arial" panose="020B0604020202020204" pitchFamily="34" charset="0"/>
              <a:buChar char="•"/>
            </a:pPr>
            <a:r>
              <a:rPr lang="en-US" altLang="zh-CN" sz="2400" b="0" dirty="0"/>
              <a:t>2012</a:t>
            </a:r>
            <a:r>
              <a:rPr lang="zh-CN" altLang="en-US" sz="2400" b="0" dirty="0"/>
              <a:t>年</a:t>
            </a:r>
            <a:r>
              <a:rPr lang="en-US" altLang="zh-CN" sz="2400" b="0" dirty="0" err="1"/>
              <a:t>AlexNet</a:t>
            </a:r>
            <a:r>
              <a:rPr lang="zh-CN" altLang="en-US" sz="2400" b="0" dirty="0"/>
              <a:t>在</a:t>
            </a:r>
            <a:r>
              <a:rPr lang="en-US" altLang="zh-CN" sz="2400" b="0" dirty="0"/>
              <a:t>ImageNet</a:t>
            </a:r>
            <a:r>
              <a:rPr lang="zh-CN" altLang="en-US" sz="2400" b="0" dirty="0"/>
              <a:t>比赛中大幅度领先对手获得冠军</a:t>
            </a:r>
            <a:endParaRPr lang="en-US" altLang="zh-CN" sz="2400" b="0" dirty="0"/>
          </a:p>
          <a:p>
            <a:pPr marL="342900" indent="-342900">
              <a:buFont typeface="Arial" panose="020B0604020202020204" pitchFamily="34" charset="0"/>
              <a:buChar char="•"/>
            </a:pPr>
            <a:r>
              <a:rPr lang="en-US" altLang="zh-CN" sz="2400" b="0" dirty="0"/>
              <a:t>2013</a:t>
            </a:r>
            <a:r>
              <a:rPr lang="zh-CN" altLang="en-US" sz="2400" b="0" dirty="0"/>
              <a:t>年</a:t>
            </a:r>
            <a:r>
              <a:rPr lang="en-US" altLang="zh-CN" sz="2400" b="0" dirty="0"/>
              <a:t>12</a:t>
            </a:r>
            <a:r>
              <a:rPr lang="zh-CN" altLang="en-US" sz="2400" b="0" dirty="0"/>
              <a:t>月，第一篇深度强化学习论文出自</a:t>
            </a:r>
            <a:r>
              <a:rPr lang="en-US" altLang="zh-CN" sz="2400" b="0" dirty="0"/>
              <a:t>NIPS 2013 Reinforcement Learning Workshop</a:t>
            </a:r>
            <a:endParaRPr lang="zh-CN" altLang="en-US" sz="2400" b="0" dirty="0"/>
          </a:p>
          <a:p>
            <a:endParaRPr kumimoji="1" lang="zh-CN" altLang="en-US" dirty="0"/>
          </a:p>
        </p:txBody>
      </p:sp>
      <p:grpSp>
        <p:nvGrpSpPr>
          <p:cNvPr id="4" name="组合 3">
            <a:extLst>
              <a:ext uri="{FF2B5EF4-FFF2-40B4-BE49-F238E27FC236}">
                <a16:creationId xmlns:a16="http://schemas.microsoft.com/office/drawing/2014/main" id="{95139E57-FF5E-F94A-7D25-D81C41297EB8}"/>
              </a:ext>
            </a:extLst>
          </p:cNvPr>
          <p:cNvGrpSpPr/>
          <p:nvPr/>
        </p:nvGrpSpPr>
        <p:grpSpPr>
          <a:xfrm>
            <a:off x="1310639" y="2394108"/>
            <a:ext cx="8296102" cy="3338312"/>
            <a:chOff x="0" y="2460619"/>
            <a:chExt cx="9144000" cy="3679502"/>
          </a:xfrm>
        </p:grpSpPr>
        <p:pic>
          <p:nvPicPr>
            <p:cNvPr id="5" name="图片 4">
              <a:extLst>
                <a:ext uri="{FF2B5EF4-FFF2-40B4-BE49-F238E27FC236}">
                  <a16:creationId xmlns:a16="http://schemas.microsoft.com/office/drawing/2014/main" id="{E3EDAC25-E69E-3912-F99A-91E07766265F}"/>
                </a:ext>
              </a:extLst>
            </p:cNvPr>
            <p:cNvPicPr>
              <a:picLocks noChangeAspect="1"/>
            </p:cNvPicPr>
            <p:nvPr/>
          </p:nvPicPr>
          <p:blipFill>
            <a:blip r:embed="rId3"/>
            <a:stretch>
              <a:fillRect/>
            </a:stretch>
          </p:blipFill>
          <p:spPr>
            <a:xfrm>
              <a:off x="0" y="2460619"/>
              <a:ext cx="9144000" cy="1524000"/>
            </a:xfrm>
            <a:prstGeom prst="rect">
              <a:avLst/>
            </a:prstGeom>
          </p:spPr>
        </p:pic>
        <p:pic>
          <p:nvPicPr>
            <p:cNvPr id="6" name="图片 5">
              <a:extLst>
                <a:ext uri="{FF2B5EF4-FFF2-40B4-BE49-F238E27FC236}">
                  <a16:creationId xmlns:a16="http://schemas.microsoft.com/office/drawing/2014/main" id="{390F502B-2537-AAE5-F171-B828D581850D}"/>
                </a:ext>
              </a:extLst>
            </p:cNvPr>
            <p:cNvPicPr>
              <a:picLocks noChangeAspect="1"/>
            </p:cNvPicPr>
            <p:nvPr/>
          </p:nvPicPr>
          <p:blipFill>
            <a:blip r:embed="rId4"/>
            <a:stretch>
              <a:fillRect/>
            </a:stretch>
          </p:blipFill>
          <p:spPr>
            <a:xfrm>
              <a:off x="0" y="4242476"/>
              <a:ext cx="9144000" cy="1897645"/>
            </a:xfrm>
            <a:prstGeom prst="rect">
              <a:avLst/>
            </a:prstGeom>
          </p:spPr>
        </p:pic>
      </p:grpSp>
      <p:sp>
        <p:nvSpPr>
          <p:cNvPr id="7" name="页脚占位符 2">
            <a:extLst>
              <a:ext uri="{FF2B5EF4-FFF2-40B4-BE49-F238E27FC236}">
                <a16:creationId xmlns:a16="http://schemas.microsoft.com/office/drawing/2014/main" id="{4E561B77-D75D-45C4-7185-5C02A1CFBC6A}"/>
              </a:ext>
            </a:extLst>
          </p:cNvPr>
          <p:cNvSpPr>
            <a:spLocks noGrp="1"/>
          </p:cNvSpPr>
          <p:nvPr>
            <p:ph type="ftr" sz="quarter" idx="11"/>
          </p:nvPr>
        </p:nvSpPr>
        <p:spPr>
          <a:xfrm>
            <a:off x="1347569" y="5996033"/>
            <a:ext cx="7885100" cy="3189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bg1">
                    <a:lumMod val="50000"/>
                  </a:schemeClr>
                </a:solidFill>
                <a:effectLst/>
                <a:uLnTx/>
                <a:uFillTx/>
                <a:latin typeface="Microsoft YaHei" panose="020B0503020204020204" pitchFamily="34" charset="-122"/>
                <a:ea typeface="Microsoft YaHei" panose="020B0503020204020204" pitchFamily="34" charset="-122"/>
              </a:rPr>
              <a:t>Volodymyr </a:t>
            </a:r>
            <a:r>
              <a:rPr kumimoji="0" lang="en-US" altLang="zh-CN" sz="1000" b="0" i="0" u="none" strike="noStrike" kern="1200" cap="none" spc="0" normalizeH="0" baseline="0" noProof="0" dirty="0" err="1">
                <a:ln>
                  <a:noFill/>
                </a:ln>
                <a:solidFill>
                  <a:schemeClr val="bg1">
                    <a:lumMod val="50000"/>
                  </a:schemeClr>
                </a:solidFill>
                <a:effectLst/>
                <a:uLnTx/>
                <a:uFillTx/>
                <a:latin typeface="Microsoft YaHei" panose="020B0503020204020204" pitchFamily="34" charset="-122"/>
                <a:ea typeface="Microsoft YaHei" panose="020B0503020204020204" pitchFamily="34" charset="-122"/>
              </a:rPr>
              <a:t>Mnih</a:t>
            </a:r>
            <a:r>
              <a:rPr kumimoji="0" lang="en-US" altLang="zh-CN" sz="1000" b="0" i="0" u="none" strike="noStrike" kern="1200" cap="none" spc="0" normalizeH="0" baseline="0" noProof="0" dirty="0">
                <a:ln>
                  <a:noFill/>
                </a:ln>
                <a:solidFill>
                  <a:schemeClr val="bg1">
                    <a:lumMod val="50000"/>
                  </a:schemeClr>
                </a:solidFill>
                <a:effectLst/>
                <a:uLnTx/>
                <a:uFillTx/>
                <a:latin typeface="Microsoft YaHei" panose="020B0503020204020204" pitchFamily="34" charset="-122"/>
                <a:ea typeface="Microsoft YaHei" panose="020B0503020204020204" pitchFamily="34" charset="-122"/>
              </a:rPr>
              <a:t>, </a:t>
            </a:r>
            <a:r>
              <a:rPr kumimoji="0" lang="en-US" altLang="zh-CN" sz="1000" b="0" i="0" u="none" strike="noStrike" kern="1200" cap="none" spc="0" normalizeH="0" baseline="0" noProof="0" dirty="0" err="1">
                <a:ln>
                  <a:noFill/>
                </a:ln>
                <a:solidFill>
                  <a:schemeClr val="bg1">
                    <a:lumMod val="50000"/>
                  </a:schemeClr>
                </a:solidFill>
                <a:effectLst/>
                <a:uLnTx/>
                <a:uFillTx/>
                <a:latin typeface="Microsoft YaHei" panose="020B0503020204020204" pitchFamily="34" charset="-122"/>
                <a:ea typeface="Microsoft YaHei" panose="020B0503020204020204" pitchFamily="34" charset="-122"/>
              </a:rPr>
              <a:t>Koray</a:t>
            </a:r>
            <a:r>
              <a:rPr kumimoji="0" lang="en-US" altLang="zh-CN" sz="1000" b="0" i="0" u="none" strike="noStrike" kern="1200" cap="none" spc="0" normalizeH="0" baseline="0" noProof="0" dirty="0">
                <a:ln>
                  <a:noFill/>
                </a:ln>
                <a:solidFill>
                  <a:schemeClr val="bg1">
                    <a:lumMod val="50000"/>
                  </a:schemeClr>
                </a:solidFill>
                <a:effectLst/>
                <a:uLnTx/>
                <a:uFillTx/>
                <a:latin typeface="Microsoft YaHei" panose="020B0503020204020204" pitchFamily="34" charset="-122"/>
                <a:ea typeface="Microsoft YaHei" panose="020B0503020204020204" pitchFamily="34" charset="-122"/>
              </a:rPr>
              <a:t> </a:t>
            </a:r>
            <a:r>
              <a:rPr kumimoji="0" lang="en-US" altLang="zh-CN" sz="1000" b="0" i="0" u="none" strike="noStrike" kern="1200" cap="none" spc="0" normalizeH="0" baseline="0" noProof="0" dirty="0" err="1">
                <a:ln>
                  <a:noFill/>
                </a:ln>
                <a:solidFill>
                  <a:schemeClr val="bg1">
                    <a:lumMod val="50000"/>
                  </a:schemeClr>
                </a:solidFill>
                <a:effectLst/>
                <a:uLnTx/>
                <a:uFillTx/>
                <a:latin typeface="Microsoft YaHei" panose="020B0503020204020204" pitchFamily="34" charset="-122"/>
                <a:ea typeface="Microsoft YaHei" panose="020B0503020204020204" pitchFamily="34" charset="-122"/>
              </a:rPr>
              <a:t>Kavukcuoglu</a:t>
            </a:r>
            <a:r>
              <a:rPr kumimoji="0" lang="en-US" altLang="zh-CN" sz="1000" b="0" i="0" u="none" strike="noStrike" kern="1200" cap="none" spc="0" normalizeH="0" baseline="0" noProof="0" dirty="0">
                <a:ln>
                  <a:noFill/>
                </a:ln>
                <a:solidFill>
                  <a:schemeClr val="bg1">
                    <a:lumMod val="50000"/>
                  </a:schemeClr>
                </a:solidFill>
                <a:effectLst/>
                <a:uLnTx/>
                <a:uFillTx/>
                <a:latin typeface="Microsoft YaHei" panose="020B0503020204020204" pitchFamily="34" charset="-122"/>
                <a:ea typeface="Microsoft YaHei" panose="020B0503020204020204" pitchFamily="34" charset="-122"/>
              </a:rPr>
              <a:t>, David Silver et al. Playing Atari with Deep Reinforcement Learning. NIPS 2013 workshop.</a:t>
            </a:r>
          </a:p>
        </p:txBody>
      </p:sp>
    </p:spTree>
    <p:extLst>
      <p:ext uri="{BB962C8B-B14F-4D97-AF65-F5344CB8AC3E}">
        <p14:creationId xmlns:p14="http://schemas.microsoft.com/office/powerpoint/2010/main" val="17803403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FDC39-82BF-A2EA-76BC-4E094C37956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CD96C17-74D0-639E-E49F-0E0930E741E2}"/>
              </a:ext>
            </a:extLst>
          </p:cNvPr>
          <p:cNvSpPr>
            <a:spLocks noGrp="1"/>
          </p:cNvSpPr>
          <p:nvPr>
            <p:ph type="title"/>
          </p:nvPr>
        </p:nvSpPr>
        <p:spPr/>
        <p:txBody>
          <a:bodyPr/>
          <a:lstStyle/>
          <a:p>
            <a:r>
              <a:rPr lang="zh-CN" altLang="en-US" dirty="0"/>
              <a:t>深度强化学习</a:t>
            </a:r>
          </a:p>
        </p:txBody>
      </p:sp>
      <p:sp>
        <p:nvSpPr>
          <p:cNvPr id="10" name="文本框 9">
            <a:extLst>
              <a:ext uri="{FF2B5EF4-FFF2-40B4-BE49-F238E27FC236}">
                <a16:creationId xmlns:a16="http://schemas.microsoft.com/office/drawing/2014/main" id="{703E2186-89DD-A812-5BB7-05AB60836656}"/>
              </a:ext>
            </a:extLst>
          </p:cNvPr>
          <p:cNvSpPr txBox="1"/>
          <p:nvPr/>
        </p:nvSpPr>
        <p:spPr>
          <a:xfrm>
            <a:off x="515007" y="1198179"/>
            <a:ext cx="10670735" cy="2785378"/>
          </a:xfrm>
          <a:prstGeom prst="rect">
            <a:avLst/>
          </a:prstGeom>
          <a:noFill/>
        </p:spPr>
        <p:txBody>
          <a:bodyPr wrap="square" rtlCol="0">
            <a:spAutoFit/>
          </a:bodyPr>
          <a:lstStyle/>
          <a:p>
            <a:pPr algn="l">
              <a:spcAft>
                <a:spcPts val="1500"/>
              </a:spcAft>
            </a:pPr>
            <a:r>
              <a:rPr lang="zh-CN" altLang="en-US" sz="2000" dirty="0">
                <a:solidFill>
                  <a:srgbClr val="070707"/>
                </a:solidFill>
              </a:rPr>
              <a:t>深度强化学习引入深度神经网络来解决强化学习问题。</a:t>
            </a:r>
            <a:endParaRPr lang="en-US" altLang="zh-CN" sz="2000" dirty="0">
              <a:solidFill>
                <a:srgbClr val="070707"/>
              </a:solidFill>
            </a:endParaRPr>
          </a:p>
          <a:p>
            <a:pPr algn="l">
              <a:spcAft>
                <a:spcPts val="1500"/>
              </a:spcAft>
            </a:pPr>
            <a:r>
              <a:rPr lang="zh-CN" altLang="en-US" sz="2000" dirty="0">
                <a:solidFill>
                  <a:srgbClr val="070707"/>
                </a:solidFill>
              </a:rPr>
              <a:t>例如，</a:t>
            </a:r>
            <a:r>
              <a:rPr lang="en-US" altLang="zh-CN" sz="2000" dirty="0">
                <a:solidFill>
                  <a:srgbClr val="070707"/>
                </a:solidFill>
              </a:rPr>
              <a:t>Q-Learning</a:t>
            </a:r>
            <a:r>
              <a:rPr lang="zh-CN" altLang="en-US" sz="2000" dirty="0">
                <a:solidFill>
                  <a:srgbClr val="070707"/>
                </a:solidFill>
              </a:rPr>
              <a:t>是经典的基于价值的算法，通过学习（状态，动作）所对应的价值表来训练强化学习智能体。深度</a:t>
            </a:r>
            <a:r>
              <a:rPr lang="en-US" altLang="zh-CN" sz="2000" dirty="0">
                <a:solidFill>
                  <a:srgbClr val="070707"/>
                </a:solidFill>
              </a:rPr>
              <a:t>Q-Learning</a:t>
            </a:r>
            <a:r>
              <a:rPr lang="zh-CN" altLang="en-US" sz="2000" dirty="0">
                <a:solidFill>
                  <a:srgbClr val="070707"/>
                </a:solidFill>
              </a:rPr>
              <a:t>（</a:t>
            </a:r>
            <a:r>
              <a:rPr lang="en-US" altLang="zh-CN" sz="2000" dirty="0">
                <a:solidFill>
                  <a:srgbClr val="070707"/>
                </a:solidFill>
              </a:rPr>
              <a:t>DQN</a:t>
            </a:r>
            <a:r>
              <a:rPr lang="zh-CN" altLang="en-US" sz="2000" dirty="0">
                <a:solidFill>
                  <a:srgbClr val="070707"/>
                </a:solidFill>
              </a:rPr>
              <a:t>）则使用深度神经网络替代表格来拟合</a:t>
            </a:r>
            <a:r>
              <a:rPr lang="en-US" altLang="zh-CN" sz="2000" dirty="0">
                <a:solidFill>
                  <a:srgbClr val="070707"/>
                </a:solidFill>
              </a:rPr>
              <a:t>Q</a:t>
            </a:r>
            <a:r>
              <a:rPr lang="zh-CN" altLang="en-US" sz="2000" dirty="0">
                <a:solidFill>
                  <a:srgbClr val="070707"/>
                </a:solidFill>
              </a:rPr>
              <a:t>值。</a:t>
            </a:r>
            <a:endParaRPr lang="en-US" altLang="zh-CN" sz="2000" dirty="0">
              <a:solidFill>
                <a:srgbClr val="070707"/>
              </a:solidFill>
            </a:endParaRPr>
          </a:p>
          <a:p>
            <a:pPr>
              <a:spcAft>
                <a:spcPts val="1200"/>
              </a:spcAft>
              <a:buNone/>
            </a:pPr>
            <a:r>
              <a:rPr lang="zh-CN" altLang="en-US" sz="2000" dirty="0">
                <a:solidFill>
                  <a:srgbClr val="070707"/>
                </a:solidFill>
                <a:effectLst/>
                <a:latin typeface="var(--gpts-font-family)"/>
              </a:rPr>
              <a:t>深度强化学习通过深度神经网络的表征能力，能够自动处理高维状态空间和复杂特征提取，解决了传统强化学习在面对复杂场景时的维度灾难等难题。</a:t>
            </a:r>
            <a:br>
              <a:rPr lang="zh-CN" altLang="en-US" sz="2000" dirty="0">
                <a:effectLst/>
              </a:rPr>
            </a:br>
            <a:endParaRPr lang="zh-CN" altLang="en-US" sz="2000" dirty="0">
              <a:effectLst/>
            </a:endParaRPr>
          </a:p>
          <a:p>
            <a:pPr algn="l">
              <a:spcAft>
                <a:spcPts val="1500"/>
              </a:spcAft>
            </a:pPr>
            <a:endParaRPr lang="en-US" altLang="zh-CN" sz="2000" dirty="0">
              <a:solidFill>
                <a:srgbClr val="070707"/>
              </a:solidFill>
            </a:endParaRPr>
          </a:p>
        </p:txBody>
      </p:sp>
      <p:pic>
        <p:nvPicPr>
          <p:cNvPr id="8194" name="Picture 2" descr="Value based RL">
            <a:extLst>
              <a:ext uri="{FF2B5EF4-FFF2-40B4-BE49-F238E27FC236}">
                <a16:creationId xmlns:a16="http://schemas.microsoft.com/office/drawing/2014/main" id="{92C230AE-D97A-95C0-09AE-0714163D7F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9657" y="3319346"/>
            <a:ext cx="4887310" cy="274720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52F8C00B-D991-5DD4-453C-2E314736A2A9}"/>
              </a:ext>
            </a:extLst>
          </p:cNvPr>
          <p:cNvSpPr txBox="1"/>
          <p:nvPr/>
        </p:nvSpPr>
        <p:spPr>
          <a:xfrm>
            <a:off x="6831224" y="3814280"/>
            <a:ext cx="1985088" cy="338554"/>
          </a:xfrm>
          <a:prstGeom prst="rect">
            <a:avLst/>
          </a:prstGeom>
          <a:noFill/>
        </p:spPr>
        <p:txBody>
          <a:bodyPr wrap="square" rtlCol="0">
            <a:spAutoFit/>
          </a:bodyPr>
          <a:lstStyle/>
          <a:p>
            <a:pPr algn="just"/>
            <a:r>
              <a:rPr kumimoji="1" lang="en-US" altLang="zh-CN" sz="1600" dirty="0">
                <a:solidFill>
                  <a:srgbClr val="070707"/>
                </a:solidFill>
              </a:rPr>
              <a:t>Q-Learning </a:t>
            </a:r>
            <a:r>
              <a:rPr kumimoji="1" lang="zh-CN" altLang="en-US" sz="1600" dirty="0">
                <a:solidFill>
                  <a:srgbClr val="070707"/>
                </a:solidFill>
              </a:rPr>
              <a:t>算法</a:t>
            </a:r>
          </a:p>
        </p:txBody>
      </p:sp>
      <p:sp>
        <p:nvSpPr>
          <p:cNvPr id="4" name="三角形 3">
            <a:extLst>
              <a:ext uri="{FF2B5EF4-FFF2-40B4-BE49-F238E27FC236}">
                <a16:creationId xmlns:a16="http://schemas.microsoft.com/office/drawing/2014/main" id="{D3103F06-EAF8-7768-27CA-0DF21D33780A}"/>
              </a:ext>
            </a:extLst>
          </p:cNvPr>
          <p:cNvSpPr/>
          <p:nvPr/>
        </p:nvSpPr>
        <p:spPr>
          <a:xfrm rot="16200000">
            <a:off x="6555786" y="3882041"/>
            <a:ext cx="233737" cy="203032"/>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6A90E6D2-90C1-92BB-E55F-4F9913461204}"/>
              </a:ext>
            </a:extLst>
          </p:cNvPr>
          <p:cNvSpPr txBox="1"/>
          <p:nvPr/>
        </p:nvSpPr>
        <p:spPr>
          <a:xfrm>
            <a:off x="6831223" y="4924857"/>
            <a:ext cx="1985088" cy="338554"/>
          </a:xfrm>
          <a:prstGeom prst="rect">
            <a:avLst/>
          </a:prstGeom>
          <a:noFill/>
        </p:spPr>
        <p:txBody>
          <a:bodyPr wrap="square" rtlCol="0">
            <a:spAutoFit/>
          </a:bodyPr>
          <a:lstStyle/>
          <a:p>
            <a:pPr algn="just"/>
            <a:r>
              <a:rPr kumimoji="1" lang="en-US" altLang="zh-CN" sz="1600" dirty="0">
                <a:solidFill>
                  <a:srgbClr val="070707"/>
                </a:solidFill>
              </a:rPr>
              <a:t>DQN </a:t>
            </a:r>
            <a:r>
              <a:rPr kumimoji="1" lang="zh-CN" altLang="en-US" sz="1600" dirty="0">
                <a:solidFill>
                  <a:srgbClr val="070707"/>
                </a:solidFill>
              </a:rPr>
              <a:t>算法</a:t>
            </a:r>
          </a:p>
        </p:txBody>
      </p:sp>
      <p:sp>
        <p:nvSpPr>
          <p:cNvPr id="7" name="三角形 6">
            <a:extLst>
              <a:ext uri="{FF2B5EF4-FFF2-40B4-BE49-F238E27FC236}">
                <a16:creationId xmlns:a16="http://schemas.microsoft.com/office/drawing/2014/main" id="{C293ECAA-235D-456A-89DC-7F4F2DC4E2C1}"/>
              </a:ext>
            </a:extLst>
          </p:cNvPr>
          <p:cNvSpPr/>
          <p:nvPr/>
        </p:nvSpPr>
        <p:spPr>
          <a:xfrm rot="16200000">
            <a:off x="6555785" y="4992618"/>
            <a:ext cx="233737" cy="203032"/>
          </a:xfrm>
          <a:prstGeom prst="triangle">
            <a:avLst/>
          </a:prstGeom>
          <a:solidFill>
            <a:schemeClr val="tx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383006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3D4AFA-A571-B81A-EE6C-911B19FA6D8D}"/>
              </a:ext>
            </a:extLst>
          </p:cNvPr>
          <p:cNvSpPr>
            <a:spLocks noGrp="1"/>
          </p:cNvSpPr>
          <p:nvPr>
            <p:ph type="title"/>
          </p:nvPr>
        </p:nvSpPr>
        <p:spPr/>
        <p:txBody>
          <a:bodyPr/>
          <a:lstStyle/>
          <a:p>
            <a:r>
              <a:rPr lang="zh-CN" altLang="en-US" dirty="0"/>
              <a:t>深度强化学习</a:t>
            </a:r>
            <a:endParaRPr kumimoji="1" lang="zh-CN" altLang="en-US" dirty="0"/>
          </a:p>
        </p:txBody>
      </p:sp>
      <p:sp>
        <p:nvSpPr>
          <p:cNvPr id="4" name="内容占位符 2">
            <a:extLst>
              <a:ext uri="{FF2B5EF4-FFF2-40B4-BE49-F238E27FC236}">
                <a16:creationId xmlns:a16="http://schemas.microsoft.com/office/drawing/2014/main" id="{39815A81-2952-6A90-CD1C-8EBADB274370}"/>
              </a:ext>
            </a:extLst>
          </p:cNvPr>
          <p:cNvSpPr txBox="1">
            <a:spLocks/>
          </p:cNvSpPr>
          <p:nvPr/>
        </p:nvSpPr>
        <p:spPr>
          <a:xfrm>
            <a:off x="983088" y="948378"/>
            <a:ext cx="8487445" cy="1363729"/>
          </a:xfrm>
          <a:prstGeom prst="rect">
            <a:avLst/>
          </a:prstGeom>
        </p:spPr>
        <p:txBody>
          <a:bodyPr vert="horz" lIns="91440" tIns="45720" rIns="91440" bIns="45720" rtlCol="0">
            <a:normAutofit/>
          </a:bodyPr>
          <a:lstStyle>
            <a:lvl1pPr marL="285750" indent="-285750" algn="l" defTabSz="914400" rtl="0" eaLnBrk="1" latinLnBrk="0" hangingPunct="1">
              <a:lnSpc>
                <a:spcPct val="100000"/>
              </a:lnSpc>
              <a:spcBef>
                <a:spcPts val="1000"/>
              </a:spcBef>
              <a:buClr>
                <a:schemeClr val="accent1"/>
              </a:buClr>
              <a:buSzPct val="88000"/>
              <a:buFont typeface="Wingdings" pitchFamily="2" charset="2"/>
              <a:buChar char="p"/>
              <a:defRPr sz="2000" b="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800" b="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600" b="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50000"/>
              </a:lnSpc>
              <a:spcBef>
                <a:spcPts val="1000"/>
              </a:spcBef>
              <a:spcAft>
                <a:spcPts val="0"/>
              </a:spcAft>
              <a:buClr>
                <a:srgbClr val="070707"/>
              </a:buClr>
              <a:buSzPct val="88000"/>
              <a:buFont typeface="Wingdings" pitchFamily="2" charset="2"/>
              <a:buChar char="p"/>
              <a:tabLst/>
              <a:defRPr/>
            </a:pPr>
            <a:r>
              <a:rPr kumimoji="0" lang="zh-CN" altLang="en-US"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深度强化学习</a:t>
            </a:r>
            <a:endParaRPr kumimoji="0" lang="en-US" altLang="zh-CN"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利用深度神经网络进行价值函数和策略近似</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从而使强化学习算法能够以端到端的方式解决复杂问题</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pic>
        <p:nvPicPr>
          <p:cNvPr id="5" name="内容占位符 3">
            <a:extLst>
              <a:ext uri="{FF2B5EF4-FFF2-40B4-BE49-F238E27FC236}">
                <a16:creationId xmlns:a16="http://schemas.microsoft.com/office/drawing/2014/main" id="{464F7FF6-80EA-F2AA-93A2-08A813CB70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088" y="2404184"/>
            <a:ext cx="3529874" cy="2647406"/>
          </a:xfrm>
          <a:prstGeom prst="rect">
            <a:avLst/>
          </a:prstGeom>
        </p:spPr>
      </p:pic>
      <p:pic>
        <p:nvPicPr>
          <p:cNvPr id="6" name="图片 4">
            <a:extLst>
              <a:ext uri="{FF2B5EF4-FFF2-40B4-BE49-F238E27FC236}">
                <a16:creationId xmlns:a16="http://schemas.microsoft.com/office/drawing/2014/main" id="{5958AACB-D52A-5DC3-8224-19C833B24868}"/>
              </a:ext>
            </a:extLst>
          </p:cNvPr>
          <p:cNvPicPr>
            <a:picLocks noChangeAspect="1"/>
          </p:cNvPicPr>
          <p:nvPr/>
        </p:nvPicPr>
        <p:blipFill>
          <a:blip r:embed="rId4"/>
          <a:stretch>
            <a:fillRect/>
          </a:stretch>
        </p:blipFill>
        <p:spPr>
          <a:xfrm>
            <a:off x="4417312" y="2312107"/>
            <a:ext cx="4718236" cy="2739483"/>
          </a:xfrm>
          <a:prstGeom prst="rect">
            <a:avLst/>
          </a:prstGeom>
        </p:spPr>
      </p:pic>
      <p:sp>
        <p:nvSpPr>
          <p:cNvPr id="7" name="页脚占位符 2">
            <a:extLst>
              <a:ext uri="{FF2B5EF4-FFF2-40B4-BE49-F238E27FC236}">
                <a16:creationId xmlns:a16="http://schemas.microsoft.com/office/drawing/2014/main" id="{70CDD431-4CAE-F413-688C-6C51F8A81189}"/>
              </a:ext>
            </a:extLst>
          </p:cNvPr>
          <p:cNvSpPr>
            <a:spLocks noGrp="1"/>
          </p:cNvSpPr>
          <p:nvPr>
            <p:ph type="ftr" sz="quarter" idx="11"/>
          </p:nvPr>
        </p:nvSpPr>
        <p:spPr>
          <a:xfrm>
            <a:off x="983088" y="6015751"/>
            <a:ext cx="7885100" cy="318977"/>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2"/>
                </a:solidFill>
                <a:effectLst/>
                <a:uLnTx/>
                <a:uFillTx/>
                <a:ea typeface="阿里巴巴普惠体 R" panose="00020600040101010101" pitchFamily="18" charset="-122"/>
              </a:rPr>
              <a:t>Volodymyr </a:t>
            </a:r>
            <a:r>
              <a:rPr kumimoji="0" lang="en-US" altLang="zh-CN" sz="1000" b="0" i="0" u="none" strike="noStrike" kern="1200" cap="none" spc="0" normalizeH="0" baseline="0" noProof="0" dirty="0" err="1">
                <a:ln>
                  <a:noFill/>
                </a:ln>
                <a:solidFill>
                  <a:schemeClr val="tx2"/>
                </a:solidFill>
                <a:effectLst/>
                <a:uLnTx/>
                <a:uFillTx/>
                <a:ea typeface="阿里巴巴普惠体 R" panose="00020600040101010101" pitchFamily="18" charset="-122"/>
              </a:rPr>
              <a:t>Mnih</a:t>
            </a:r>
            <a:r>
              <a:rPr kumimoji="0" lang="en-US" altLang="zh-CN" sz="1000" b="0" i="0" u="none" strike="noStrike" kern="1200" cap="none" spc="0" normalizeH="0" baseline="0" noProof="0" dirty="0">
                <a:ln>
                  <a:noFill/>
                </a:ln>
                <a:solidFill>
                  <a:schemeClr val="tx2"/>
                </a:solidFill>
                <a:effectLst/>
                <a:uLnTx/>
                <a:uFillTx/>
                <a:ea typeface="阿里巴巴普惠体 R" panose="00020600040101010101" pitchFamily="18" charset="-122"/>
              </a:rPr>
              <a:t>, </a:t>
            </a:r>
            <a:r>
              <a:rPr kumimoji="0" lang="en-US" altLang="zh-CN" sz="1000" b="0" i="0" u="none" strike="noStrike" kern="1200" cap="none" spc="0" normalizeH="0" baseline="0" noProof="0" dirty="0" err="1">
                <a:ln>
                  <a:noFill/>
                </a:ln>
                <a:solidFill>
                  <a:schemeClr val="tx2"/>
                </a:solidFill>
                <a:effectLst/>
                <a:uLnTx/>
                <a:uFillTx/>
                <a:ea typeface="阿里巴巴普惠体 R" panose="00020600040101010101" pitchFamily="18" charset="-122"/>
              </a:rPr>
              <a:t>Koray</a:t>
            </a:r>
            <a:r>
              <a:rPr kumimoji="0" lang="en-US" altLang="zh-CN" sz="1000" b="0" i="0" u="none" strike="noStrike" kern="1200" cap="none" spc="0" normalizeH="0" baseline="0" noProof="0" dirty="0">
                <a:ln>
                  <a:noFill/>
                </a:ln>
                <a:solidFill>
                  <a:schemeClr val="tx2"/>
                </a:solidFill>
                <a:effectLst/>
                <a:uLnTx/>
                <a:uFillTx/>
                <a:ea typeface="阿里巴巴普惠体 R" panose="00020600040101010101" pitchFamily="18" charset="-122"/>
              </a:rPr>
              <a:t> </a:t>
            </a:r>
            <a:r>
              <a:rPr kumimoji="0" lang="en-US" altLang="zh-CN" sz="1000" b="0" i="0" u="none" strike="noStrike" kern="1200" cap="none" spc="0" normalizeH="0" baseline="0" noProof="0" dirty="0" err="1">
                <a:ln>
                  <a:noFill/>
                </a:ln>
                <a:solidFill>
                  <a:schemeClr val="tx2"/>
                </a:solidFill>
                <a:effectLst/>
                <a:uLnTx/>
                <a:uFillTx/>
                <a:ea typeface="阿里巴巴普惠体 R" panose="00020600040101010101" pitchFamily="18" charset="-122"/>
              </a:rPr>
              <a:t>Kavukcuoglu</a:t>
            </a:r>
            <a:r>
              <a:rPr kumimoji="0" lang="en-US" altLang="zh-CN" sz="1000" b="0" i="0" u="none" strike="noStrike" kern="1200" cap="none" spc="0" normalizeH="0" baseline="0" noProof="0" dirty="0">
                <a:ln>
                  <a:noFill/>
                </a:ln>
                <a:solidFill>
                  <a:schemeClr val="tx2"/>
                </a:solidFill>
                <a:effectLst/>
                <a:uLnTx/>
                <a:uFillTx/>
                <a:ea typeface="阿里巴巴普惠体 R" panose="00020600040101010101" pitchFamily="18" charset="-122"/>
              </a:rPr>
              <a:t>, David Silver et al. Playing Atari with Deep Reinforcement Learning. NIPS 2013 workshop.</a:t>
            </a:r>
          </a:p>
        </p:txBody>
      </p:sp>
      <p:pic>
        <p:nvPicPr>
          <p:cNvPr id="8" name="图片 7">
            <a:extLst>
              <a:ext uri="{FF2B5EF4-FFF2-40B4-BE49-F238E27FC236}">
                <a16:creationId xmlns:a16="http://schemas.microsoft.com/office/drawing/2014/main" id="{910F6ED3-4E4B-ED60-DFE9-892528A2B439}"/>
              </a:ext>
            </a:extLst>
          </p:cNvPr>
          <p:cNvPicPr>
            <a:picLocks noChangeAspect="1"/>
          </p:cNvPicPr>
          <p:nvPr/>
        </p:nvPicPr>
        <p:blipFill>
          <a:blip r:embed="rId5"/>
          <a:stretch>
            <a:fillRect/>
          </a:stretch>
        </p:blipFill>
        <p:spPr>
          <a:xfrm>
            <a:off x="788796" y="5135848"/>
            <a:ext cx="8441834" cy="523062"/>
          </a:xfrm>
          <a:prstGeom prst="rect">
            <a:avLst/>
          </a:prstGeom>
        </p:spPr>
      </p:pic>
      <p:sp>
        <p:nvSpPr>
          <p:cNvPr id="9" name="矩形 8">
            <a:extLst>
              <a:ext uri="{FF2B5EF4-FFF2-40B4-BE49-F238E27FC236}">
                <a16:creationId xmlns:a16="http://schemas.microsoft.com/office/drawing/2014/main" id="{0F84D520-F23A-AD08-5431-C62B5AD8F2FD}"/>
              </a:ext>
            </a:extLst>
          </p:cNvPr>
          <p:cNvSpPr/>
          <p:nvPr/>
        </p:nvSpPr>
        <p:spPr>
          <a:xfrm>
            <a:off x="5068688" y="5672917"/>
            <a:ext cx="428835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Q</a:t>
            </a:r>
            <a:r>
              <a:rPr kumimoji="0" lang="zh-CN" altLang="en-US" sz="1800" b="0" i="0" u="none" strike="noStrike" kern="1200" cap="none" spc="0" normalizeH="0" baseline="0" noProof="0" dirty="0">
                <a:ln>
                  <a:noFill/>
                </a:ln>
                <a:solidFill>
                  <a:srgbClr val="000000"/>
                </a:solidFill>
                <a:effectLst/>
                <a:uLnTx/>
                <a:uFillTx/>
                <a:latin typeface="Arial"/>
                <a:ea typeface="微软雅黑"/>
                <a:cs typeface="+mn-cs"/>
              </a:rPr>
              <a:t>函数的参数通过神经网络反向传播学习</a:t>
            </a:r>
          </a:p>
        </p:txBody>
      </p:sp>
    </p:spTree>
    <p:extLst>
      <p:ext uri="{BB962C8B-B14F-4D97-AF65-F5344CB8AC3E}">
        <p14:creationId xmlns:p14="http://schemas.microsoft.com/office/powerpoint/2010/main" val="3309682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6EA554-444C-4902-9954-618A15547A4E}"/>
              </a:ext>
            </a:extLst>
          </p:cNvPr>
          <p:cNvSpPr>
            <a:spLocks noGrp="1"/>
          </p:cNvSpPr>
          <p:nvPr>
            <p:ph type="title"/>
          </p:nvPr>
        </p:nvSpPr>
        <p:spPr/>
        <p:txBody>
          <a:bodyPr/>
          <a:lstStyle/>
          <a:p>
            <a:r>
              <a:rPr lang="zh-CN" altLang="en-US" dirty="0"/>
              <a:t>端到端强化学习</a:t>
            </a:r>
            <a:endParaRPr kumimoji="1" lang="zh-CN" altLang="en-US" dirty="0"/>
          </a:p>
        </p:txBody>
      </p:sp>
      <p:pic>
        <p:nvPicPr>
          <p:cNvPr id="4" name="内容占位符 3">
            <a:extLst>
              <a:ext uri="{FF2B5EF4-FFF2-40B4-BE49-F238E27FC236}">
                <a16:creationId xmlns:a16="http://schemas.microsoft.com/office/drawing/2014/main" id="{58FCDBAC-0105-6AFB-8DDC-6E26D38DC5C7}"/>
              </a:ext>
            </a:extLst>
          </p:cNvPr>
          <p:cNvPicPr>
            <a:picLocks noChangeAspect="1"/>
          </p:cNvPicPr>
          <p:nvPr/>
        </p:nvPicPr>
        <p:blipFill>
          <a:blip r:embed="rId3"/>
          <a:stretch>
            <a:fillRect/>
          </a:stretch>
        </p:blipFill>
        <p:spPr>
          <a:xfrm>
            <a:off x="2313055" y="761979"/>
            <a:ext cx="6834852" cy="4627563"/>
          </a:xfrm>
          <a:prstGeom prst="rect">
            <a:avLst/>
          </a:prstGeom>
        </p:spPr>
      </p:pic>
      <p:sp>
        <p:nvSpPr>
          <p:cNvPr id="5" name="TextBox 2">
            <a:extLst>
              <a:ext uri="{FF2B5EF4-FFF2-40B4-BE49-F238E27FC236}">
                <a16:creationId xmlns:a16="http://schemas.microsoft.com/office/drawing/2014/main" id="{5EEE24F0-594C-0AE4-72D4-9DD4EB9F51B9}"/>
              </a:ext>
            </a:extLst>
          </p:cNvPr>
          <p:cNvSpPr txBox="1"/>
          <p:nvPr/>
        </p:nvSpPr>
        <p:spPr>
          <a:xfrm>
            <a:off x="852229" y="1002950"/>
            <a:ext cx="146082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rPr>
              <a:t>标准（传统）</a:t>
            </a:r>
            <a:endParaRPr kumimoji="0" lang="en-US" altLang="zh-CN"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rPr>
              <a:t>计算机视觉</a:t>
            </a:r>
          </a:p>
        </p:txBody>
      </p:sp>
      <p:sp>
        <p:nvSpPr>
          <p:cNvPr id="6" name="TextBox 6">
            <a:extLst>
              <a:ext uri="{FF2B5EF4-FFF2-40B4-BE49-F238E27FC236}">
                <a16:creationId xmlns:a16="http://schemas.microsoft.com/office/drawing/2014/main" id="{190CB2BC-7DA4-03A9-B8CD-9FC5EFDCD20B}"/>
              </a:ext>
            </a:extLst>
          </p:cNvPr>
          <p:cNvSpPr txBox="1"/>
          <p:nvPr/>
        </p:nvSpPr>
        <p:spPr>
          <a:xfrm>
            <a:off x="974227" y="2168278"/>
            <a:ext cx="110799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rPr>
              <a:t>深度学习</a:t>
            </a:r>
          </a:p>
        </p:txBody>
      </p:sp>
      <p:sp>
        <p:nvSpPr>
          <p:cNvPr id="7" name="TextBox 7">
            <a:extLst>
              <a:ext uri="{FF2B5EF4-FFF2-40B4-BE49-F238E27FC236}">
                <a16:creationId xmlns:a16="http://schemas.microsoft.com/office/drawing/2014/main" id="{AABCD116-0E89-1C23-94E3-6E5E1D385741}"/>
              </a:ext>
            </a:extLst>
          </p:cNvPr>
          <p:cNvSpPr txBox="1"/>
          <p:nvPr/>
        </p:nvSpPr>
        <p:spPr>
          <a:xfrm>
            <a:off x="794695" y="3464099"/>
            <a:ext cx="1569660"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rPr>
              <a:t>标准（传统）</a:t>
            </a:r>
            <a:endParaRPr kumimoji="0" lang="en-US" altLang="zh-CN"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rPr>
              <a:t>强化学习</a:t>
            </a:r>
          </a:p>
        </p:txBody>
      </p:sp>
      <p:sp>
        <p:nvSpPr>
          <p:cNvPr id="8" name="TextBox 8">
            <a:extLst>
              <a:ext uri="{FF2B5EF4-FFF2-40B4-BE49-F238E27FC236}">
                <a16:creationId xmlns:a16="http://schemas.microsoft.com/office/drawing/2014/main" id="{7BD41CA2-E619-FCBA-9143-680CDE5912BB}"/>
              </a:ext>
            </a:extLst>
          </p:cNvPr>
          <p:cNvSpPr txBox="1"/>
          <p:nvPr/>
        </p:nvSpPr>
        <p:spPr>
          <a:xfrm>
            <a:off x="732885" y="4665938"/>
            <a:ext cx="156966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rPr>
              <a:t>深度强化学习</a:t>
            </a:r>
          </a:p>
        </p:txBody>
      </p:sp>
      <p:sp>
        <p:nvSpPr>
          <p:cNvPr id="9" name="矩形 8">
            <a:extLst>
              <a:ext uri="{FF2B5EF4-FFF2-40B4-BE49-F238E27FC236}">
                <a16:creationId xmlns:a16="http://schemas.microsoft.com/office/drawing/2014/main" id="{055EADDA-28B4-6825-7375-7E97C84606ED}"/>
              </a:ext>
            </a:extLst>
          </p:cNvPr>
          <p:cNvSpPr/>
          <p:nvPr/>
        </p:nvSpPr>
        <p:spPr>
          <a:xfrm>
            <a:off x="743395" y="5389542"/>
            <a:ext cx="8560839" cy="64633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rPr>
              <a:t>深度强化学习使强化学习算法能够以端到端的方式解决复杂问题</a:t>
            </a:r>
            <a:endParaRPr kumimoji="0" lang="en-US" altLang="zh-CN" sz="1800" b="0" i="0" u="none" strike="noStrike" kern="1200" cap="none" spc="0" normalizeH="0" baseline="0" noProof="0" dirty="0">
              <a:ln>
                <a:noFill/>
              </a:ln>
              <a:solidFill>
                <a:srgbClr val="000000"/>
              </a:solidFill>
              <a:effectLst/>
              <a:uLnTx/>
              <a:uFillTx/>
              <a:latin typeface="Arial"/>
              <a:ea typeface="阿里巴巴普惠体 R" panose="00020600040101010101"/>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schemeClr val="tx2"/>
                </a:solidFill>
                <a:effectLst/>
                <a:uLnTx/>
                <a:uFillTx/>
                <a:latin typeface="Arial"/>
                <a:ea typeface="阿里巴巴普惠体 R" panose="00020600040101010101"/>
                <a:cs typeface="+mn-cs"/>
              </a:rPr>
              <a:t>从一项实验室学术技术变成可以产生</a:t>
            </a:r>
            <a:r>
              <a:rPr kumimoji="0" lang="en-US" altLang="zh-CN" sz="1800" b="0" i="0" u="none" strike="noStrike" kern="1200" cap="none" spc="0" normalizeH="0" baseline="0" noProof="0" dirty="0">
                <a:ln>
                  <a:noFill/>
                </a:ln>
                <a:solidFill>
                  <a:schemeClr val="tx2"/>
                </a:solidFill>
                <a:effectLst/>
                <a:uLnTx/>
                <a:uFillTx/>
                <a:latin typeface="Arial"/>
                <a:ea typeface="阿里巴巴普惠体 R" panose="00020600040101010101"/>
                <a:cs typeface="+mn-cs"/>
              </a:rPr>
              <a:t>GDP</a:t>
            </a:r>
            <a:r>
              <a:rPr kumimoji="0" lang="zh-CN" altLang="en-US" sz="1800" b="0" i="0" u="none" strike="noStrike" kern="1200" cap="none" spc="0" normalizeH="0" baseline="0" noProof="0" dirty="0">
                <a:ln>
                  <a:noFill/>
                </a:ln>
                <a:solidFill>
                  <a:schemeClr val="tx2"/>
                </a:solidFill>
                <a:effectLst/>
                <a:uLnTx/>
                <a:uFillTx/>
                <a:latin typeface="Arial"/>
                <a:ea typeface="阿里巴巴普惠体 R" panose="00020600040101010101"/>
                <a:cs typeface="+mn-cs"/>
              </a:rPr>
              <a:t>的实际技术</a:t>
            </a:r>
            <a:endParaRPr kumimoji="0" lang="en-US" sz="1800" b="0" i="0" u="none" strike="noStrike" kern="1200" cap="none" spc="0" normalizeH="0" baseline="0" noProof="0" dirty="0">
              <a:ln>
                <a:noFill/>
              </a:ln>
              <a:solidFill>
                <a:schemeClr val="tx2"/>
              </a:solidFill>
              <a:effectLst/>
              <a:uLnTx/>
              <a:uFillTx/>
              <a:latin typeface="Arial"/>
              <a:ea typeface="阿里巴巴普惠体 R" panose="00020600040101010101"/>
              <a:cs typeface="+mn-cs"/>
            </a:endParaRPr>
          </a:p>
        </p:txBody>
      </p:sp>
      <p:sp>
        <p:nvSpPr>
          <p:cNvPr id="10" name="页脚占位符 2">
            <a:extLst>
              <a:ext uri="{FF2B5EF4-FFF2-40B4-BE49-F238E27FC236}">
                <a16:creationId xmlns:a16="http://schemas.microsoft.com/office/drawing/2014/main" id="{B208B37D-9933-82A7-5976-2AA1F321E310}"/>
              </a:ext>
            </a:extLst>
          </p:cNvPr>
          <p:cNvSpPr>
            <a:spLocks noGrp="1"/>
          </p:cNvSpPr>
          <p:nvPr>
            <p:ph type="ftr" sz="quarter" idx="11"/>
          </p:nvPr>
        </p:nvSpPr>
        <p:spPr>
          <a:xfrm>
            <a:off x="1079016" y="6156981"/>
            <a:ext cx="7385660" cy="20638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chemeClr val="tx2"/>
                </a:solidFill>
                <a:effectLst/>
                <a:uLnTx/>
                <a:uFillTx/>
                <a:ea typeface="阿里巴巴普惠体 R" panose="00020600040101010101" pitchFamily="18" charset="-122"/>
              </a:rPr>
              <a:t>Slide from Sergey Levine. http://rail.eecs.berkeley.edu/deeprlcourse/static/slides/lec-1.pdf</a:t>
            </a:r>
          </a:p>
        </p:txBody>
      </p:sp>
    </p:spTree>
    <p:extLst>
      <p:ext uri="{BB962C8B-B14F-4D97-AF65-F5344CB8AC3E}">
        <p14:creationId xmlns:p14="http://schemas.microsoft.com/office/powerpoint/2010/main" val="19829371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5AB1BB-9762-5655-6D66-1369254EBFE9}"/>
              </a:ext>
            </a:extLst>
          </p:cNvPr>
          <p:cNvSpPr>
            <a:spLocks noGrp="1"/>
          </p:cNvSpPr>
          <p:nvPr>
            <p:ph type="title"/>
          </p:nvPr>
        </p:nvSpPr>
        <p:spPr/>
        <p:txBody>
          <a:bodyPr/>
          <a:lstStyle/>
          <a:p>
            <a:r>
              <a:rPr lang="zh-CN" altLang="en-US"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深度强化学习带来的关键变化</a:t>
            </a:r>
            <a:endParaRPr kumimoji="1" lang="zh-CN" altLang="en-US" dirty="0"/>
          </a:p>
        </p:txBody>
      </p:sp>
      <p:sp>
        <p:nvSpPr>
          <p:cNvPr id="4" name="内容占位符 2">
            <a:extLst>
              <a:ext uri="{FF2B5EF4-FFF2-40B4-BE49-F238E27FC236}">
                <a16:creationId xmlns:a16="http://schemas.microsoft.com/office/drawing/2014/main" id="{8CB156A3-87A9-2810-0F27-2FD3AD4810B3}"/>
              </a:ext>
            </a:extLst>
          </p:cNvPr>
          <p:cNvSpPr txBox="1">
            <a:spLocks/>
          </p:cNvSpPr>
          <p:nvPr/>
        </p:nvSpPr>
        <p:spPr>
          <a:xfrm>
            <a:off x="1207020" y="1214490"/>
            <a:ext cx="4815421" cy="4936268"/>
          </a:xfrm>
          <a:prstGeom prst="rect">
            <a:avLst/>
          </a:prstGeom>
        </p:spPr>
        <p:txBody>
          <a:bodyPr vert="horz" lIns="91440" tIns="45720" rIns="91440" bIns="45720" rtlCol="0">
            <a:normAutofit/>
          </a:bodyPr>
          <a:lstStyle>
            <a:lvl1pPr marL="285750" indent="-285750" algn="l" defTabSz="914400" rtl="0" eaLnBrk="1" latinLnBrk="0" hangingPunct="1">
              <a:lnSpc>
                <a:spcPct val="100000"/>
              </a:lnSpc>
              <a:spcBef>
                <a:spcPts val="1000"/>
              </a:spcBef>
              <a:buClr>
                <a:schemeClr val="accent1"/>
              </a:buClr>
              <a:buSzPct val="88000"/>
              <a:buFont typeface="Wingdings" pitchFamily="2" charset="2"/>
              <a:buChar char="p"/>
              <a:defRPr sz="2000" b="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800" b="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500"/>
              </a:spcBef>
              <a:buClr>
                <a:schemeClr val="accent1"/>
              </a:buClr>
              <a:buSzPct val="100000"/>
              <a:buFont typeface="Arial" panose="020B0604020202020204" pitchFamily="34" charset="0"/>
              <a:buChar char="•"/>
              <a:defRPr sz="1600" b="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spcBef>
                <a:spcPts val="1000"/>
              </a:spcBef>
              <a:spcAft>
                <a:spcPts val="0"/>
              </a:spcAft>
              <a:buClr>
                <a:srgbClr val="070707"/>
              </a:buClr>
              <a:buSzPct val="88000"/>
              <a:buFont typeface="Wingdings" pitchFamily="2" charset="2"/>
              <a:buChar char="p"/>
              <a:tabLst/>
              <a:defRPr/>
            </a:pPr>
            <a:r>
              <a:rPr kumimoji="0" lang="zh-CN" altLang="en-US"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将深度学习（</a:t>
            </a:r>
            <a:r>
              <a:rPr kumimoji="0" lang="en-US" altLang="zh-CN"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DL</a:t>
            </a:r>
            <a:r>
              <a:rPr kumimoji="0" lang="zh-CN" altLang="en-US"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）和强化学习（</a:t>
            </a:r>
            <a:r>
              <a:rPr kumimoji="0" lang="en-US" altLang="zh-CN"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RL</a:t>
            </a:r>
            <a:r>
              <a:rPr kumimoji="0" lang="zh-CN" altLang="en-US"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）结合在一起会发生什么？</a:t>
            </a:r>
            <a:endParaRPr kumimoji="0" lang="en-US" altLang="zh-CN"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价值函数和策略变成了深度神经网络</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相当高维的参数空间</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难以稳定地训练</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容易过拟合</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需要大量的数据</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需要高性能计算</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CPU</a:t>
            </a: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（用于收集经验数据）和</a:t>
            </a:r>
            <a:r>
              <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GPU</a:t>
            </a:r>
            <a:r>
              <a:rPr kumimoji="0" lang="zh-CN" altLang="en-US"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（用于训练神经网络）之间的平衡</a:t>
            </a:r>
            <a:endPar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a:p>
            <a:pPr marL="685800" marR="0" lvl="1" indent="-228600" algn="l" defTabSz="914400" rtl="0" eaLnBrk="1" fontAlgn="auto" latinLnBrk="0" hangingPunct="1">
              <a:lnSpc>
                <a:spcPct val="100000"/>
              </a:lnSpc>
              <a:spcBef>
                <a:spcPts val="500"/>
              </a:spcBef>
              <a:spcAft>
                <a:spcPts val="0"/>
              </a:spcAft>
              <a:buClr>
                <a:srgbClr val="070707"/>
              </a:buClr>
              <a:buSzPct val="100000"/>
              <a:buFont typeface="Arial" panose="020B0604020202020204" pitchFamily="34" charset="0"/>
              <a:buChar char="•"/>
              <a:tabLst/>
              <a:defRPr/>
            </a:pPr>
            <a:r>
              <a:rPr kumimoji="0" lang="en-US" altLang="zh-CN" sz="18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a:t>
            </a:r>
          </a:p>
          <a:p>
            <a:pPr marL="285750" marR="0" lvl="0" indent="-285750" algn="l" defTabSz="914400" rtl="0" eaLnBrk="1" fontAlgn="auto" latinLnBrk="0" hangingPunct="1">
              <a:lnSpc>
                <a:spcPct val="100000"/>
              </a:lnSpc>
              <a:spcBef>
                <a:spcPts val="1000"/>
              </a:spcBef>
              <a:spcAft>
                <a:spcPts val="0"/>
              </a:spcAft>
              <a:buClr>
                <a:srgbClr val="070707"/>
              </a:buClr>
              <a:buSzPct val="88000"/>
              <a:buFont typeface="Wingdings" pitchFamily="2" charset="2"/>
              <a:buChar char="p"/>
              <a:tabLst/>
              <a:defRPr/>
            </a:pPr>
            <a:r>
              <a:rPr kumimoji="0" lang="zh-CN" altLang="en-US"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rPr>
              <a:t>这些新的问题促进着深度强化学习算法的创新</a:t>
            </a:r>
            <a:endParaRPr kumimoji="0" lang="en-US" altLang="zh-CN" sz="2000" b="0" i="0" u="none" strike="noStrike" kern="1200" cap="none" spc="0" normalizeH="0" baseline="0" noProof="0" dirty="0">
              <a:ln>
                <a:noFill/>
              </a:ln>
              <a:solidFill>
                <a:srgbClr val="000000"/>
              </a:solidFill>
              <a:effectLst/>
              <a:uLnTx/>
              <a:uFillTx/>
              <a:latin typeface="阿里巴巴普惠体 R" panose="00020600040101010101" pitchFamily="18" charset="-122"/>
              <a:ea typeface="阿里巴巴普惠体 R" panose="00020600040101010101" pitchFamily="18" charset="-122"/>
              <a:cs typeface="阿里巴巴普惠体 R" panose="00020600040101010101" pitchFamily="18" charset="-122"/>
            </a:endParaRPr>
          </a:p>
        </p:txBody>
      </p:sp>
      <p:grpSp>
        <p:nvGrpSpPr>
          <p:cNvPr id="5" name="组合 4">
            <a:extLst>
              <a:ext uri="{FF2B5EF4-FFF2-40B4-BE49-F238E27FC236}">
                <a16:creationId xmlns:a16="http://schemas.microsoft.com/office/drawing/2014/main" id="{C6EA3FD8-B807-492B-6A30-4CC0BA91BA85}"/>
              </a:ext>
            </a:extLst>
          </p:cNvPr>
          <p:cNvGrpSpPr/>
          <p:nvPr/>
        </p:nvGrpSpPr>
        <p:grpSpPr>
          <a:xfrm>
            <a:off x="7034821" y="902672"/>
            <a:ext cx="2687865" cy="5052655"/>
            <a:chOff x="5935436" y="1089214"/>
            <a:chExt cx="2687865" cy="5052655"/>
          </a:xfrm>
        </p:grpSpPr>
        <p:grpSp>
          <p:nvGrpSpPr>
            <p:cNvPr id="6" name="组合 5">
              <a:extLst>
                <a:ext uri="{FF2B5EF4-FFF2-40B4-BE49-F238E27FC236}">
                  <a16:creationId xmlns:a16="http://schemas.microsoft.com/office/drawing/2014/main" id="{F9232B27-19C3-3670-11CC-B1A8B3ADA0AA}"/>
                </a:ext>
              </a:extLst>
            </p:cNvPr>
            <p:cNvGrpSpPr/>
            <p:nvPr/>
          </p:nvGrpSpPr>
          <p:grpSpPr>
            <a:xfrm>
              <a:off x="5935436" y="1089214"/>
              <a:ext cx="2687865" cy="5052655"/>
              <a:chOff x="5935436" y="1089214"/>
              <a:chExt cx="2687865" cy="5052655"/>
            </a:xfrm>
          </p:grpSpPr>
          <p:pic>
            <p:nvPicPr>
              <p:cNvPr id="8" name="图片 4">
                <a:extLst>
                  <a:ext uri="{FF2B5EF4-FFF2-40B4-BE49-F238E27FC236}">
                    <a16:creationId xmlns:a16="http://schemas.microsoft.com/office/drawing/2014/main" id="{E01CE7BF-7F3B-8D7B-0BBF-7C814B0FB068}"/>
                  </a:ext>
                </a:extLst>
              </p:cNvPr>
              <p:cNvPicPr>
                <a:picLocks noChangeAspect="1"/>
              </p:cNvPicPr>
              <p:nvPr/>
            </p:nvPicPr>
            <p:blipFill rotWithShape="1">
              <a:blip r:embed="rId3"/>
              <a:srcRect t="5843" r="12422"/>
              <a:stretch/>
            </p:blipFill>
            <p:spPr>
              <a:xfrm rot="16200000">
                <a:off x="5126434" y="2645001"/>
                <a:ext cx="4305870" cy="2687865"/>
              </a:xfrm>
              <a:prstGeom prst="rect">
                <a:avLst/>
              </a:prstGeom>
            </p:spPr>
          </p:pic>
          <p:pic>
            <p:nvPicPr>
              <p:cNvPr id="9" name="图片 8">
                <a:extLst>
                  <a:ext uri="{FF2B5EF4-FFF2-40B4-BE49-F238E27FC236}">
                    <a16:creationId xmlns:a16="http://schemas.microsoft.com/office/drawing/2014/main" id="{6B043554-03F9-6216-FF85-53CFF165DA09}"/>
                  </a:ext>
                </a:extLst>
              </p:cNvPr>
              <p:cNvPicPr>
                <a:picLocks noChangeAspect="1"/>
              </p:cNvPicPr>
              <p:nvPr/>
            </p:nvPicPr>
            <p:blipFill>
              <a:blip r:embed="rId4"/>
              <a:stretch>
                <a:fillRect/>
              </a:stretch>
            </p:blipFill>
            <p:spPr>
              <a:xfrm rot="5400000">
                <a:off x="6911918" y="1161596"/>
                <a:ext cx="662863" cy="518100"/>
              </a:xfrm>
              <a:prstGeom prst="rect">
                <a:avLst/>
              </a:prstGeom>
            </p:spPr>
          </p:pic>
        </p:grpSp>
        <p:pic>
          <p:nvPicPr>
            <p:cNvPr id="7" name="图片 6">
              <a:extLst>
                <a:ext uri="{FF2B5EF4-FFF2-40B4-BE49-F238E27FC236}">
                  <a16:creationId xmlns:a16="http://schemas.microsoft.com/office/drawing/2014/main" id="{DC550547-1C8A-7C2E-CA17-6748A695A1AB}"/>
                </a:ext>
              </a:extLst>
            </p:cNvPr>
            <p:cNvPicPr>
              <a:picLocks noChangeAspect="1"/>
            </p:cNvPicPr>
            <p:nvPr/>
          </p:nvPicPr>
          <p:blipFill>
            <a:blip r:embed="rId5"/>
            <a:stretch>
              <a:fillRect/>
            </a:stretch>
          </p:blipFill>
          <p:spPr>
            <a:xfrm>
              <a:off x="6847200" y="5544410"/>
              <a:ext cx="763722" cy="507290"/>
            </a:xfrm>
            <a:prstGeom prst="rect">
              <a:avLst/>
            </a:prstGeom>
          </p:spPr>
        </p:pic>
      </p:grpSp>
      <p:sp>
        <p:nvSpPr>
          <p:cNvPr id="10" name="矩形 9">
            <a:extLst>
              <a:ext uri="{FF2B5EF4-FFF2-40B4-BE49-F238E27FC236}">
                <a16:creationId xmlns:a16="http://schemas.microsoft.com/office/drawing/2014/main" id="{E0A9FAE8-9257-0BA3-B482-CBC0CB7E57C8}"/>
              </a:ext>
            </a:extLst>
          </p:cNvPr>
          <p:cNvSpPr/>
          <p:nvPr/>
        </p:nvSpPr>
        <p:spPr>
          <a:xfrm>
            <a:off x="6902762" y="1008656"/>
            <a:ext cx="1082348" cy="307777"/>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rPr>
              <a:t>输出：动作</a:t>
            </a:r>
            <a:endParaRPr kumimoji="0" lang="zh-CN" altLang="en-US" sz="14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1" name="矩形 10">
            <a:extLst>
              <a:ext uri="{FF2B5EF4-FFF2-40B4-BE49-F238E27FC236}">
                <a16:creationId xmlns:a16="http://schemas.microsoft.com/office/drawing/2014/main" id="{BC14E754-28E4-0801-6199-38D7E6C1CEF7}"/>
              </a:ext>
            </a:extLst>
          </p:cNvPr>
          <p:cNvSpPr/>
          <p:nvPr/>
        </p:nvSpPr>
        <p:spPr>
          <a:xfrm>
            <a:off x="6224874" y="1649456"/>
            <a:ext cx="902811"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rPr>
              <a:t>动作价值</a:t>
            </a:r>
            <a:endParaRPr kumimoji="0" lang="zh-CN" altLang="en-US" sz="14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2" name="矩形 11">
            <a:extLst>
              <a:ext uri="{FF2B5EF4-FFF2-40B4-BE49-F238E27FC236}">
                <a16:creationId xmlns:a16="http://schemas.microsoft.com/office/drawing/2014/main" id="{42019E0B-C80B-6F1A-0F8C-790763229CEE}"/>
              </a:ext>
            </a:extLst>
          </p:cNvPr>
          <p:cNvSpPr/>
          <p:nvPr/>
        </p:nvSpPr>
        <p:spPr>
          <a:xfrm>
            <a:off x="6135105" y="2502921"/>
            <a:ext cx="1082348"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rPr>
              <a:t>多层全连接</a:t>
            </a:r>
            <a:endParaRPr kumimoji="0" lang="en-US" altLang="zh-CN"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rPr>
              <a:t>网络</a:t>
            </a:r>
            <a:endParaRPr kumimoji="0" lang="zh-CN" altLang="en-US" sz="14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3" name="矩形 12">
            <a:extLst>
              <a:ext uri="{FF2B5EF4-FFF2-40B4-BE49-F238E27FC236}">
                <a16:creationId xmlns:a16="http://schemas.microsoft.com/office/drawing/2014/main" id="{84376D69-70E5-D7AF-FD3A-94169FFA6364}"/>
              </a:ext>
            </a:extLst>
          </p:cNvPr>
          <p:cNvSpPr/>
          <p:nvPr/>
        </p:nvSpPr>
        <p:spPr>
          <a:xfrm>
            <a:off x="6224873" y="4326839"/>
            <a:ext cx="902811" cy="52322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rPr>
              <a:t>多层卷积</a:t>
            </a:r>
            <a:endParaRPr kumimoji="0" lang="en-US" altLang="zh-CN"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rPr>
              <a:t>网络</a:t>
            </a:r>
            <a:endParaRPr kumimoji="0" lang="zh-CN" altLang="en-US" sz="14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4" name="矩形 13">
            <a:extLst>
              <a:ext uri="{FF2B5EF4-FFF2-40B4-BE49-F238E27FC236}">
                <a16:creationId xmlns:a16="http://schemas.microsoft.com/office/drawing/2014/main" id="{EC9A061B-880F-6896-09AE-2A8A60596DE2}"/>
              </a:ext>
            </a:extLst>
          </p:cNvPr>
          <p:cNvSpPr/>
          <p:nvPr/>
        </p:nvSpPr>
        <p:spPr>
          <a:xfrm>
            <a:off x="6403644" y="5494338"/>
            <a:ext cx="1441421"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00000"/>
                </a:solidFill>
                <a:effectLst/>
                <a:uLnTx/>
                <a:uFillTx/>
                <a:latin typeface="Arial"/>
                <a:ea typeface="阿里巴巴普惠体 R" panose="00020600040101010101" pitchFamily="18" charset="-122"/>
                <a:cs typeface="+mn-cs"/>
              </a:rPr>
              <a:t>输入：直接观察</a:t>
            </a:r>
            <a:endParaRPr kumimoji="0" lang="zh-CN" altLang="en-US" sz="1400" b="0" i="0" u="none" strike="noStrike" kern="1200" cap="none" spc="0" normalizeH="0" baseline="0" noProof="0" dirty="0">
              <a:ln>
                <a:noFill/>
              </a:ln>
              <a:solidFill>
                <a:srgbClr val="000000"/>
              </a:solidFill>
              <a:effectLst/>
              <a:uLnTx/>
              <a:uFillTx/>
              <a:latin typeface="Arial"/>
              <a:ea typeface="微软雅黑"/>
              <a:cs typeface="+mn-cs"/>
            </a:endParaRPr>
          </a:p>
        </p:txBody>
      </p:sp>
    </p:spTree>
    <p:extLst>
      <p:ext uri="{BB962C8B-B14F-4D97-AF65-F5344CB8AC3E}">
        <p14:creationId xmlns:p14="http://schemas.microsoft.com/office/powerpoint/2010/main" val="1453665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2B803F-4E43-8434-A5CE-CE604F51CA79}"/>
              </a:ext>
            </a:extLst>
          </p:cNvPr>
          <p:cNvSpPr>
            <a:spLocks noGrp="1"/>
          </p:cNvSpPr>
          <p:nvPr>
            <p:ph type="title"/>
          </p:nvPr>
        </p:nvSpPr>
        <p:spPr/>
        <p:txBody>
          <a:bodyPr/>
          <a:lstStyle/>
          <a:p>
            <a:r>
              <a:rPr lang="zh-CN" altLang="en-US" dirty="0"/>
              <a:t>强化学习的落地场景</a:t>
            </a:r>
            <a:endParaRPr kumimoji="1" lang="zh-CN" altLang="en-US" dirty="0"/>
          </a:p>
        </p:txBody>
      </p:sp>
      <p:sp>
        <p:nvSpPr>
          <p:cNvPr id="4" name="内容占位符 4">
            <a:extLst>
              <a:ext uri="{FF2B5EF4-FFF2-40B4-BE49-F238E27FC236}">
                <a16:creationId xmlns:a16="http://schemas.microsoft.com/office/drawing/2014/main" id="{4767B42D-2E7A-293B-A9D4-96F0DFEA8320}"/>
              </a:ext>
            </a:extLst>
          </p:cNvPr>
          <p:cNvSpPr txBox="1">
            <a:spLocks/>
          </p:cNvSpPr>
          <p:nvPr/>
        </p:nvSpPr>
        <p:spPr>
          <a:xfrm>
            <a:off x="694464" y="1473200"/>
            <a:ext cx="3050222" cy="4664075"/>
          </a:xfrm>
          <a:prstGeom prst="rect">
            <a:avLst/>
          </a:prstGeom>
        </p:spPr>
        <p:txBody>
          <a:bodyPr>
            <a:normAutofit fontScale="85000" lnSpcReduction="20000"/>
          </a:bodyPr>
          <a:lst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a:lstStyle>
          <a:p>
            <a:r>
              <a:rPr lang="zh-CN" altLang="en-US"/>
              <a:t>无人驾驶</a:t>
            </a:r>
            <a:endParaRPr lang="en-US" altLang="zh-CN"/>
          </a:p>
          <a:p>
            <a:r>
              <a:rPr lang="zh-CN" altLang="en-US"/>
              <a:t>游戏</a:t>
            </a:r>
            <a:r>
              <a:rPr lang="en-US" altLang="zh-CN"/>
              <a:t>AI</a:t>
            </a:r>
          </a:p>
          <a:p>
            <a:r>
              <a:rPr lang="zh-CN" altLang="en-US"/>
              <a:t>交通灯调度</a:t>
            </a:r>
            <a:endParaRPr lang="en-US" altLang="zh-CN"/>
          </a:p>
          <a:p>
            <a:r>
              <a:rPr lang="zh-CN" altLang="en-US"/>
              <a:t>网约车派单</a:t>
            </a:r>
            <a:endParaRPr lang="en-US" altLang="zh-CN"/>
          </a:p>
          <a:p>
            <a:r>
              <a:rPr lang="zh-CN" altLang="en-US"/>
              <a:t>组合优化</a:t>
            </a:r>
            <a:endParaRPr lang="en-US" altLang="zh-CN"/>
          </a:p>
          <a:p>
            <a:r>
              <a:rPr lang="zh-CN" altLang="en-US"/>
              <a:t>推荐搜索系统</a:t>
            </a:r>
            <a:endParaRPr lang="en-US" altLang="zh-CN"/>
          </a:p>
          <a:p>
            <a:r>
              <a:rPr lang="zh-CN" altLang="en-US"/>
              <a:t>数据中心节能优化</a:t>
            </a:r>
            <a:endParaRPr lang="en-US" altLang="zh-CN"/>
          </a:p>
          <a:p>
            <a:r>
              <a:rPr lang="zh-CN" altLang="en-US"/>
              <a:t>对话系统</a:t>
            </a:r>
            <a:endParaRPr lang="en-US" altLang="zh-CN"/>
          </a:p>
          <a:p>
            <a:r>
              <a:rPr lang="zh-CN" altLang="en-US"/>
              <a:t>机器人控制</a:t>
            </a:r>
            <a:endParaRPr lang="en-US" altLang="zh-CN"/>
          </a:p>
          <a:p>
            <a:r>
              <a:rPr lang="zh-CN" altLang="en-US"/>
              <a:t>路由选路</a:t>
            </a:r>
            <a:endParaRPr lang="en-US" altLang="zh-CN"/>
          </a:p>
          <a:p>
            <a:r>
              <a:rPr lang="zh-CN" altLang="en-US"/>
              <a:t>工业互联网场景</a:t>
            </a:r>
            <a:endParaRPr lang="en-US" altLang="zh-CN"/>
          </a:p>
          <a:p>
            <a:r>
              <a:rPr lang="en-US" altLang="zh-CN"/>
              <a:t>…</a:t>
            </a:r>
            <a:endParaRPr lang="zh-CN" altLang="en-US" dirty="0"/>
          </a:p>
        </p:txBody>
      </p:sp>
      <p:pic>
        <p:nvPicPr>
          <p:cNvPr id="5" name="图片 4">
            <a:extLst>
              <a:ext uri="{FF2B5EF4-FFF2-40B4-BE49-F238E27FC236}">
                <a16:creationId xmlns:a16="http://schemas.microsoft.com/office/drawing/2014/main" id="{DDE9A890-F951-3470-AE04-71C0FB083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879" y="1427122"/>
            <a:ext cx="4426857" cy="4426857"/>
          </a:xfrm>
          <a:prstGeom prst="rect">
            <a:avLst/>
          </a:prstGeom>
        </p:spPr>
      </p:pic>
    </p:spTree>
    <p:extLst>
      <p:ext uri="{BB962C8B-B14F-4D97-AF65-F5344CB8AC3E}">
        <p14:creationId xmlns:p14="http://schemas.microsoft.com/office/powerpoint/2010/main" val="32179231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B60E33-6AB7-8108-B8BD-A79EC35261BA}"/>
              </a:ext>
            </a:extLst>
          </p:cNvPr>
          <p:cNvSpPr>
            <a:spLocks noGrp="1"/>
          </p:cNvSpPr>
          <p:nvPr>
            <p:ph type="title"/>
          </p:nvPr>
        </p:nvSpPr>
        <p:spPr/>
        <p:txBody>
          <a:bodyPr/>
          <a:lstStyle/>
          <a:p>
            <a:r>
              <a:rPr lang="zh-CN" altLang="en-US" dirty="0"/>
              <a:t>强化学习应用案例 </a:t>
            </a:r>
            <a:r>
              <a:rPr lang="en-US" altLang="zh-CN" dirty="0"/>
              <a:t>-</a:t>
            </a:r>
            <a:r>
              <a:rPr lang="zh-CN" altLang="en-US" dirty="0"/>
              <a:t> 控制灵巧手弹钢琴</a:t>
            </a:r>
            <a:endParaRPr kumimoji="1" lang="zh-CN" altLang="en-US" dirty="0"/>
          </a:p>
        </p:txBody>
      </p:sp>
      <p:sp>
        <p:nvSpPr>
          <p:cNvPr id="3" name="内容占位符 2">
            <a:extLst>
              <a:ext uri="{FF2B5EF4-FFF2-40B4-BE49-F238E27FC236}">
                <a16:creationId xmlns:a16="http://schemas.microsoft.com/office/drawing/2014/main" id="{1EF4457D-D0A3-FDCB-B942-DF1CA2CA9D2D}"/>
              </a:ext>
            </a:extLst>
          </p:cNvPr>
          <p:cNvSpPr>
            <a:spLocks noGrp="1"/>
          </p:cNvSpPr>
          <p:nvPr>
            <p:ph idx="1"/>
          </p:nvPr>
        </p:nvSpPr>
        <p:spPr/>
        <p:txBody>
          <a:bodyPr/>
          <a:lstStyle/>
          <a:p>
            <a:endParaRPr kumimoji="1" lang="zh-CN" altLang="en-US"/>
          </a:p>
        </p:txBody>
      </p:sp>
      <p:sp>
        <p:nvSpPr>
          <p:cNvPr id="4" name="页脚占位符 4">
            <a:extLst>
              <a:ext uri="{FF2B5EF4-FFF2-40B4-BE49-F238E27FC236}">
                <a16:creationId xmlns:a16="http://schemas.microsoft.com/office/drawing/2014/main" id="{9E229945-745E-687C-B0C4-0284CBE81C3A}"/>
              </a:ext>
            </a:extLst>
          </p:cNvPr>
          <p:cNvSpPr>
            <a:spLocks noGrp="1"/>
          </p:cNvSpPr>
          <p:nvPr>
            <p:ph type="ftr" sz="quarter" idx="11"/>
          </p:nvPr>
        </p:nvSpPr>
        <p:spPr>
          <a:xfrm>
            <a:off x="1897489" y="6029341"/>
            <a:ext cx="6134663" cy="341311"/>
          </a:xfrm>
        </p:spPr>
        <p:txBody>
          <a:bodyPr/>
          <a:lstStyle/>
          <a:p>
            <a:pPr>
              <a:defRPr/>
            </a:pPr>
            <a:r>
              <a:rPr kumimoji="0" lang="en-US" altLang="zh-CN" sz="1000" b="0" i="0" u="none" strike="noStrike" kern="1200" cap="none" spc="0" normalizeH="0" baseline="0" noProof="0" dirty="0" err="1">
                <a:ln>
                  <a:noFill/>
                </a:ln>
                <a:solidFill>
                  <a:srgbClr val="17ABE3"/>
                </a:solidFill>
                <a:effectLst/>
                <a:uLnTx/>
                <a:uFillTx/>
                <a:ea typeface="阿里巴巴普惠体 R" panose="00020600040101010101" pitchFamily="18" charset="-122"/>
              </a:rPr>
              <a:t>CoRL</a:t>
            </a:r>
            <a:r>
              <a:rPr kumimoji="0" lang="zh-CN" altLang="en-US" sz="1000" b="0" i="0" u="none" strike="noStrike" kern="1200" cap="none" spc="0" normalizeH="0" baseline="0" noProof="0" dirty="0">
                <a:ln>
                  <a:noFill/>
                </a:ln>
                <a:solidFill>
                  <a:srgbClr val="17ABE3"/>
                </a:solidFill>
                <a:effectLst/>
                <a:uLnTx/>
                <a:uFillTx/>
                <a:ea typeface="阿里巴巴普惠体 R" panose="00020600040101010101" pitchFamily="18" charset="-122"/>
              </a:rPr>
              <a:t> </a:t>
            </a:r>
            <a:r>
              <a:rPr kumimoji="0" lang="en-US" altLang="zh-CN" sz="1000" b="0" i="0" u="none" strike="noStrike" kern="1200" cap="none" spc="0" normalizeH="0" baseline="0" noProof="0" dirty="0">
                <a:ln>
                  <a:noFill/>
                </a:ln>
                <a:solidFill>
                  <a:srgbClr val="17ABE3"/>
                </a:solidFill>
                <a:effectLst/>
                <a:uLnTx/>
                <a:uFillTx/>
                <a:ea typeface="阿里巴巴普惠体 R" panose="00020600040101010101" pitchFamily="18" charset="-122"/>
              </a:rPr>
              <a:t>2023:</a:t>
            </a:r>
            <a:r>
              <a:rPr kumimoji="0" lang="zh-CN" altLang="en-US" sz="1000" b="0" i="0" u="none" strike="noStrike" kern="1200" cap="none" spc="0" normalizeH="0" baseline="0" noProof="0" dirty="0">
                <a:ln>
                  <a:noFill/>
                </a:ln>
                <a:solidFill>
                  <a:srgbClr val="17ABE3"/>
                </a:solidFill>
                <a:effectLst/>
                <a:uLnTx/>
                <a:uFillTx/>
                <a:ea typeface="阿里巴巴普惠体 R" panose="00020600040101010101" pitchFamily="18" charset="-122"/>
              </a:rPr>
              <a:t> </a:t>
            </a:r>
            <a:r>
              <a:rPr kumimoji="0" lang="en-US" altLang="zh-CN" sz="1000" b="0" i="0" u="none" strike="noStrike" kern="1200" cap="none" spc="0" normalizeH="0" baseline="0" noProof="0" dirty="0" err="1">
                <a:ln>
                  <a:noFill/>
                </a:ln>
                <a:solidFill>
                  <a:srgbClr val="17ABE3"/>
                </a:solidFill>
                <a:effectLst/>
                <a:uLnTx/>
                <a:uFillTx/>
                <a:ea typeface="阿里巴巴普惠体 R" panose="00020600040101010101" pitchFamily="18" charset="-122"/>
              </a:rPr>
              <a:t>RoboPianist</a:t>
            </a:r>
            <a:r>
              <a:rPr kumimoji="0" lang="en-US" altLang="zh-CN" sz="1000" b="0" i="0" u="none" strike="noStrike" kern="1200" cap="none" spc="0" normalizeH="0" baseline="0" noProof="0" dirty="0">
                <a:ln>
                  <a:noFill/>
                </a:ln>
                <a:solidFill>
                  <a:srgbClr val="17ABE3"/>
                </a:solidFill>
                <a:effectLst/>
                <a:uLnTx/>
                <a:uFillTx/>
                <a:ea typeface="阿里巴巴普惠体 R" panose="00020600040101010101" pitchFamily="18" charset="-122"/>
              </a:rPr>
              <a:t>: Dexterous Piano Playing</a:t>
            </a:r>
            <a:r>
              <a:rPr kumimoji="0" lang="zh-CN" altLang="en-US" sz="1000" b="0" i="0" u="none" strike="noStrike" kern="1200" cap="none" spc="0" normalizeH="0" baseline="0" noProof="0" dirty="0">
                <a:ln>
                  <a:noFill/>
                </a:ln>
                <a:solidFill>
                  <a:srgbClr val="17ABE3"/>
                </a:solidFill>
                <a:effectLst/>
                <a:uLnTx/>
                <a:uFillTx/>
                <a:ea typeface="阿里巴巴普惠体 R" panose="00020600040101010101" pitchFamily="18" charset="-122"/>
              </a:rPr>
              <a:t> </a:t>
            </a:r>
            <a:r>
              <a:rPr kumimoji="0" lang="en-US" altLang="zh-CN" sz="1000" b="0" i="0" u="none" strike="noStrike" kern="1200" cap="none" spc="0" normalizeH="0" baseline="0" noProof="0" dirty="0">
                <a:ln>
                  <a:noFill/>
                </a:ln>
                <a:solidFill>
                  <a:srgbClr val="17ABE3"/>
                </a:solidFill>
                <a:effectLst/>
                <a:uLnTx/>
                <a:uFillTx/>
                <a:ea typeface="阿里巴巴普惠体 R" panose="00020600040101010101" pitchFamily="18" charset="-122"/>
              </a:rPr>
              <a:t>with Deep Reinforcement Learning</a:t>
            </a:r>
          </a:p>
        </p:txBody>
      </p:sp>
      <p:pic>
        <p:nvPicPr>
          <p:cNvPr id="5" name="Bagatelle Op. 3 No. 4.mp4" descr="Bagatelle Op. 3 No. 4.mp4">
            <a:hlinkClick r:id="" action="ppaction://media"/>
            <a:extLst>
              <a:ext uri="{FF2B5EF4-FFF2-40B4-BE49-F238E27FC236}">
                <a16:creationId xmlns:a16="http://schemas.microsoft.com/office/drawing/2014/main" id="{CC8B4887-74F7-D5F4-2E64-1E1E5F304629}"/>
              </a:ext>
            </a:extLst>
          </p:cNvPr>
          <p:cNvPicPr>
            <a:picLocks noChangeAspect="1"/>
          </p:cNvPicPr>
          <p:nvPr>
            <a:videoFile r:link="rId2"/>
            <p:extLst>
              <p:ext uri="{DAA4B4D4-6D71-4841-9C94-3DE7FCFB9230}">
                <p14:media xmlns:p14="http://schemas.microsoft.com/office/powerpoint/2010/main" r:embed="rId3">
                  <p14:trim end="21796"/>
                </p14:media>
              </p:ext>
            </p:extLst>
          </p:nvPr>
        </p:nvPicPr>
        <p:blipFill>
          <a:blip r:embed="rId6"/>
          <a:stretch>
            <a:fillRect/>
          </a:stretch>
        </p:blipFill>
        <p:spPr>
          <a:xfrm>
            <a:off x="2007212" y="925512"/>
            <a:ext cx="6675437" cy="5006975"/>
          </a:xfrm>
          <a:prstGeom prst="rect">
            <a:avLst/>
          </a:prstGeom>
        </p:spPr>
      </p:pic>
    </p:spTree>
    <p:custDataLst>
      <p:tags r:id="rId1"/>
    </p:custDataLst>
    <p:extLst>
      <p:ext uri="{BB962C8B-B14F-4D97-AF65-F5344CB8AC3E}">
        <p14:creationId xmlns:p14="http://schemas.microsoft.com/office/powerpoint/2010/main" val="15328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5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774069-A83C-A6C4-4D10-BEBAD4B7AFA7}"/>
              </a:ext>
            </a:extLst>
          </p:cNvPr>
          <p:cNvSpPr>
            <a:spLocks noGrp="1"/>
          </p:cNvSpPr>
          <p:nvPr>
            <p:ph type="title"/>
          </p:nvPr>
        </p:nvSpPr>
        <p:spPr/>
        <p:txBody>
          <a:bodyPr/>
          <a:lstStyle/>
          <a:p>
            <a:r>
              <a:rPr lang="zh-CN" altLang="en-US" dirty="0"/>
              <a:t>强化学习的在</a:t>
            </a:r>
            <a:r>
              <a:rPr lang="en-US" altLang="zh-CN" dirty="0"/>
              <a:t>ChatGPT</a:t>
            </a:r>
            <a:r>
              <a:rPr lang="zh-CN" altLang="en-US" dirty="0"/>
              <a:t>中的使用</a:t>
            </a:r>
            <a:endParaRPr kumimoji="1" lang="zh-CN" altLang="en-US" dirty="0"/>
          </a:p>
        </p:txBody>
      </p:sp>
      <p:sp>
        <p:nvSpPr>
          <p:cNvPr id="3" name="内容占位符 2">
            <a:extLst>
              <a:ext uri="{FF2B5EF4-FFF2-40B4-BE49-F238E27FC236}">
                <a16:creationId xmlns:a16="http://schemas.microsoft.com/office/drawing/2014/main" id="{A088F939-C8D1-F077-49BE-980F1CA18317}"/>
              </a:ext>
            </a:extLst>
          </p:cNvPr>
          <p:cNvSpPr>
            <a:spLocks noGrp="1"/>
          </p:cNvSpPr>
          <p:nvPr>
            <p:ph idx="1"/>
          </p:nvPr>
        </p:nvSpPr>
        <p:spPr/>
        <p:txBody>
          <a:bodyPr/>
          <a:lstStyle/>
          <a:p>
            <a:endParaRPr kumimoji="1" lang="zh-CN" altLang="en-US"/>
          </a:p>
        </p:txBody>
      </p:sp>
      <p:pic>
        <p:nvPicPr>
          <p:cNvPr id="5" name="图片 4">
            <a:extLst>
              <a:ext uri="{FF2B5EF4-FFF2-40B4-BE49-F238E27FC236}">
                <a16:creationId xmlns:a16="http://schemas.microsoft.com/office/drawing/2014/main" id="{15F57887-314B-85F1-DEAF-85AF6EA81BA5}"/>
              </a:ext>
            </a:extLst>
          </p:cNvPr>
          <p:cNvPicPr>
            <a:picLocks noChangeAspect="1"/>
          </p:cNvPicPr>
          <p:nvPr/>
        </p:nvPicPr>
        <p:blipFill>
          <a:blip r:embed="rId3"/>
          <a:stretch>
            <a:fillRect/>
          </a:stretch>
        </p:blipFill>
        <p:spPr>
          <a:xfrm>
            <a:off x="1321358" y="1162792"/>
            <a:ext cx="8752114" cy="4041117"/>
          </a:xfrm>
          <a:prstGeom prst="rect">
            <a:avLst/>
          </a:prstGeom>
        </p:spPr>
      </p:pic>
      <p:sp>
        <p:nvSpPr>
          <p:cNvPr id="6" name="文本框 5">
            <a:extLst>
              <a:ext uri="{FF2B5EF4-FFF2-40B4-BE49-F238E27FC236}">
                <a16:creationId xmlns:a16="http://schemas.microsoft.com/office/drawing/2014/main" id="{8B962553-5C46-1B4E-1BAA-F3C2D62F3579}"/>
              </a:ext>
            </a:extLst>
          </p:cNvPr>
          <p:cNvSpPr txBox="1"/>
          <p:nvPr/>
        </p:nvSpPr>
        <p:spPr>
          <a:xfrm>
            <a:off x="1321358" y="5758812"/>
            <a:ext cx="6458954" cy="461665"/>
          </a:xfrm>
          <a:prstGeom prst="rect">
            <a:avLst/>
          </a:prstGeom>
          <a:noFill/>
        </p:spPr>
        <p:txBody>
          <a:bodyPr wrap="square">
            <a:spAutoFit/>
          </a:bodyPr>
          <a:lstStyle/>
          <a:p>
            <a:r>
              <a:rPr lang="en-US" altLang="zh-CN" sz="1200" dirty="0">
                <a:solidFill>
                  <a:schemeClr val="tx2"/>
                </a:solidFill>
              </a:rPr>
              <a:t>Ouyang</a:t>
            </a:r>
            <a:r>
              <a:rPr lang="zh-CN" altLang="en-US" sz="1200" dirty="0">
                <a:solidFill>
                  <a:schemeClr val="tx2"/>
                </a:solidFill>
              </a:rPr>
              <a:t> </a:t>
            </a:r>
            <a:r>
              <a:rPr lang="en-US" altLang="zh-CN" sz="1200" dirty="0">
                <a:solidFill>
                  <a:schemeClr val="tx2"/>
                </a:solidFill>
              </a:rPr>
              <a:t>et</a:t>
            </a:r>
            <a:r>
              <a:rPr lang="zh-CN" altLang="en-US" sz="1200" dirty="0">
                <a:solidFill>
                  <a:schemeClr val="tx2"/>
                </a:solidFill>
              </a:rPr>
              <a:t> </a:t>
            </a:r>
            <a:r>
              <a:rPr lang="en-US" altLang="zh-CN" sz="1200" dirty="0">
                <a:solidFill>
                  <a:schemeClr val="tx2"/>
                </a:solidFill>
              </a:rPr>
              <a:t>al.</a:t>
            </a:r>
            <a:r>
              <a:rPr lang="zh-CN" altLang="en-US" sz="1200" dirty="0">
                <a:solidFill>
                  <a:schemeClr val="tx2"/>
                </a:solidFill>
              </a:rPr>
              <a:t> </a:t>
            </a:r>
            <a:r>
              <a:rPr lang="en-US" altLang="zh-CN" sz="1200" dirty="0">
                <a:solidFill>
                  <a:schemeClr val="tx2"/>
                </a:solidFill>
              </a:rPr>
              <a:t>Training language models to follow instructions with human feedback.</a:t>
            </a:r>
            <a:r>
              <a:rPr lang="zh-CN" altLang="en-US" sz="1200" dirty="0">
                <a:solidFill>
                  <a:schemeClr val="tx2"/>
                </a:solidFill>
              </a:rPr>
              <a:t> </a:t>
            </a:r>
            <a:r>
              <a:rPr lang="en-US" altLang="zh-CN" sz="1200" dirty="0">
                <a:solidFill>
                  <a:schemeClr val="tx2"/>
                </a:solidFill>
              </a:rPr>
              <a:t>2022.</a:t>
            </a:r>
          </a:p>
          <a:p>
            <a:r>
              <a:rPr lang="zh-CN" altLang="en-US" sz="1200" dirty="0">
                <a:solidFill>
                  <a:schemeClr val="tx2"/>
                </a:solidFill>
              </a:rPr>
              <a:t>https://openai.com/research/instruction-following</a:t>
            </a:r>
          </a:p>
        </p:txBody>
      </p:sp>
    </p:spTree>
    <p:extLst>
      <p:ext uri="{BB962C8B-B14F-4D97-AF65-F5344CB8AC3E}">
        <p14:creationId xmlns:p14="http://schemas.microsoft.com/office/powerpoint/2010/main" val="10950796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391C3-EA2D-787A-FDCC-8EAEF93DBFB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81C0D7-9674-B8EB-A6AB-1E18D97809D0}"/>
              </a:ext>
            </a:extLst>
          </p:cNvPr>
          <p:cNvSpPr>
            <a:spLocks noGrp="1"/>
          </p:cNvSpPr>
          <p:nvPr>
            <p:ph type="title"/>
          </p:nvPr>
        </p:nvSpPr>
        <p:spPr/>
        <p:txBody>
          <a:bodyPr/>
          <a:lstStyle/>
          <a:p>
            <a:r>
              <a:rPr lang="zh-CN" altLang="en-US" dirty="0"/>
              <a:t>强化学习的在</a:t>
            </a:r>
            <a:r>
              <a:rPr lang="en-US" altLang="zh-CN" dirty="0" err="1"/>
              <a:t>DeepSeek</a:t>
            </a:r>
            <a:r>
              <a:rPr lang="zh-CN" altLang="en-US" dirty="0"/>
              <a:t> </a:t>
            </a:r>
            <a:r>
              <a:rPr lang="en-US" altLang="zh-CN" dirty="0"/>
              <a:t>R1</a:t>
            </a:r>
            <a:r>
              <a:rPr lang="zh-CN" altLang="en-US" dirty="0"/>
              <a:t>中的使用</a:t>
            </a:r>
            <a:endParaRPr kumimoji="1" lang="zh-CN" altLang="en-US" dirty="0"/>
          </a:p>
        </p:txBody>
      </p:sp>
      <p:sp>
        <p:nvSpPr>
          <p:cNvPr id="3" name="内容占位符 2">
            <a:extLst>
              <a:ext uri="{FF2B5EF4-FFF2-40B4-BE49-F238E27FC236}">
                <a16:creationId xmlns:a16="http://schemas.microsoft.com/office/drawing/2014/main" id="{703CA126-1B22-FB75-DF6C-8D6D2BF0B33A}"/>
              </a:ext>
            </a:extLst>
          </p:cNvPr>
          <p:cNvSpPr>
            <a:spLocks noGrp="1"/>
          </p:cNvSpPr>
          <p:nvPr>
            <p:ph idx="1"/>
          </p:nvPr>
        </p:nvSpPr>
        <p:spPr/>
        <p:txBody>
          <a:bodyPr/>
          <a:lstStyle/>
          <a:p>
            <a:endParaRPr kumimoji="1" lang="zh-CN" altLang="en-US" dirty="0"/>
          </a:p>
        </p:txBody>
      </p:sp>
      <p:sp>
        <p:nvSpPr>
          <p:cNvPr id="6" name="文本框 5">
            <a:extLst>
              <a:ext uri="{FF2B5EF4-FFF2-40B4-BE49-F238E27FC236}">
                <a16:creationId xmlns:a16="http://schemas.microsoft.com/office/drawing/2014/main" id="{5FCF6D7D-E686-EA09-1696-1667781B8E16}"/>
              </a:ext>
            </a:extLst>
          </p:cNvPr>
          <p:cNvSpPr txBox="1"/>
          <p:nvPr/>
        </p:nvSpPr>
        <p:spPr>
          <a:xfrm>
            <a:off x="1726472" y="5851145"/>
            <a:ext cx="6458954" cy="276999"/>
          </a:xfrm>
          <a:prstGeom prst="rect">
            <a:avLst/>
          </a:prstGeom>
          <a:noFill/>
        </p:spPr>
        <p:txBody>
          <a:bodyPr wrap="square">
            <a:spAutoFit/>
          </a:bodyPr>
          <a:lstStyle/>
          <a:p>
            <a:r>
              <a:rPr lang="en-US" altLang="zh-CN" sz="1200" dirty="0">
                <a:solidFill>
                  <a:schemeClr val="tx2"/>
                </a:solidFill>
              </a:rPr>
              <a:t>DeepSeek-R1: Incentivizing Reasoning Capability in LLMs via Reinforcement Learning</a:t>
            </a:r>
            <a:endParaRPr lang="zh-CN" altLang="en-US" sz="1200" dirty="0">
              <a:solidFill>
                <a:schemeClr val="tx2"/>
              </a:solidFill>
            </a:endParaRPr>
          </a:p>
        </p:txBody>
      </p:sp>
      <p:pic>
        <p:nvPicPr>
          <p:cNvPr id="1026" name="Picture 2">
            <a:extLst>
              <a:ext uri="{FF2B5EF4-FFF2-40B4-BE49-F238E27FC236}">
                <a16:creationId xmlns:a16="http://schemas.microsoft.com/office/drawing/2014/main" id="{48A75392-3F6C-D23F-3DAD-F479D19210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9213" y="1187397"/>
            <a:ext cx="6758849" cy="4476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4861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BB17C9-1C04-A89D-386B-B003E1889F37}"/>
              </a:ext>
            </a:extLst>
          </p:cNvPr>
          <p:cNvSpPr>
            <a:spLocks noGrp="1"/>
          </p:cNvSpPr>
          <p:nvPr>
            <p:ph type="title"/>
          </p:nvPr>
        </p:nvSpPr>
        <p:spPr/>
        <p:txBody>
          <a:bodyPr/>
          <a:lstStyle/>
          <a:p>
            <a:r>
              <a:rPr lang="en-US" altLang="zh-CN" dirty="0"/>
              <a:t>2025 </a:t>
            </a:r>
            <a:r>
              <a:rPr lang="zh-CN" altLang="en-US" dirty="0"/>
              <a:t>图灵奖</a:t>
            </a:r>
          </a:p>
        </p:txBody>
      </p:sp>
      <p:pic>
        <p:nvPicPr>
          <p:cNvPr id="1026" name="Picture 2">
            <a:extLst>
              <a:ext uri="{FF2B5EF4-FFF2-40B4-BE49-F238E27FC236}">
                <a16:creationId xmlns:a16="http://schemas.microsoft.com/office/drawing/2014/main" id="{761BF54C-62C0-B023-9D3C-58A723991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56" y="1309408"/>
            <a:ext cx="2716015" cy="4095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A50E291-FCB1-EEAF-660C-B3E430971C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0744" y="1309407"/>
            <a:ext cx="7277100" cy="4095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7531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F06368-55F0-1F93-022F-72C4FFCCEC9A}"/>
              </a:ext>
            </a:extLst>
          </p:cNvPr>
          <p:cNvSpPr>
            <a:spLocks noGrp="1"/>
          </p:cNvSpPr>
          <p:nvPr>
            <p:ph type="title"/>
          </p:nvPr>
        </p:nvSpPr>
        <p:spPr/>
        <p:txBody>
          <a:bodyPr/>
          <a:lstStyle/>
          <a:p>
            <a:r>
              <a:rPr lang="zh-CN" altLang="en-US" dirty="0"/>
              <a:t>深度强化学习的研究前沿</a:t>
            </a:r>
            <a:endParaRPr kumimoji="1" lang="zh-CN" altLang="en-US" dirty="0"/>
          </a:p>
        </p:txBody>
      </p:sp>
      <p:sp>
        <p:nvSpPr>
          <p:cNvPr id="4" name="灯片编号占位符 2">
            <a:extLst>
              <a:ext uri="{FF2B5EF4-FFF2-40B4-BE49-F238E27FC236}">
                <a16:creationId xmlns:a16="http://schemas.microsoft.com/office/drawing/2014/main" id="{CF83AB72-6018-D394-E730-9F33E5546788}"/>
              </a:ext>
            </a:extLst>
          </p:cNvPr>
          <p:cNvSpPr>
            <a:spLocks noGrp="1"/>
          </p:cNvSpPr>
          <p:nvPr>
            <p:ph type="sldNum" sz="quarter" idx="12"/>
          </p:nvPr>
        </p:nvSpPr>
        <p:spPr>
          <a:xfrm>
            <a:off x="7185601" y="6092065"/>
            <a:ext cx="2182416" cy="20638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D3DB80-B894-403A-B48E-6FDC1A72010E}" type="slidenum">
              <a:rPr kumimoji="0" lang="zh-CN" altLang="en-US" sz="1000" b="1" i="0" u="none" strike="noStrike" kern="1200" cap="none" spc="0" normalizeH="0" baseline="0" noProof="0" smtClean="0">
                <a:ln>
                  <a:noFill/>
                </a:ln>
                <a:solidFill>
                  <a:srgbClr val="17ABE3"/>
                </a:solidFill>
                <a:effectLst/>
                <a:uLnTx/>
                <a:uFillTx/>
                <a:ea typeface="阿里巴巴普惠体 B" panose="00020600040101010101" pitchFamily="18" charset="-122"/>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000" b="1" i="0" u="none" strike="noStrike" kern="1200" cap="none" spc="0" normalizeH="0" baseline="0" noProof="0" dirty="0">
              <a:ln>
                <a:noFill/>
              </a:ln>
              <a:solidFill>
                <a:srgbClr val="17ABE3"/>
              </a:solidFill>
              <a:effectLst/>
              <a:uLnTx/>
              <a:uFillTx/>
              <a:ea typeface="阿里巴巴普惠体 B" panose="00020600040101010101" pitchFamily="18" charset="-122"/>
            </a:endParaRPr>
          </a:p>
        </p:txBody>
      </p:sp>
      <p:sp>
        <p:nvSpPr>
          <p:cNvPr id="5" name="矩形 4">
            <a:extLst>
              <a:ext uri="{FF2B5EF4-FFF2-40B4-BE49-F238E27FC236}">
                <a16:creationId xmlns:a16="http://schemas.microsoft.com/office/drawing/2014/main" id="{BCE045D8-CF0A-D3A1-15EC-8118E0CF2491}"/>
              </a:ext>
            </a:extLst>
          </p:cNvPr>
          <p:cNvSpPr/>
          <p:nvPr/>
        </p:nvSpPr>
        <p:spPr>
          <a:xfrm>
            <a:off x="1055077" y="5456374"/>
            <a:ext cx="9144000" cy="85456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0A5D5E7E-CC55-9F1E-DD13-D4AA28B7EF3A}"/>
              </a:ext>
            </a:extLst>
          </p:cNvPr>
          <p:cNvSpPr/>
          <p:nvPr/>
        </p:nvSpPr>
        <p:spPr>
          <a:xfrm>
            <a:off x="1055077" y="3670566"/>
            <a:ext cx="9144000" cy="17784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066A634F-42E9-60C5-86B4-324386296DD4}"/>
              </a:ext>
            </a:extLst>
          </p:cNvPr>
          <p:cNvSpPr/>
          <p:nvPr/>
        </p:nvSpPr>
        <p:spPr>
          <a:xfrm>
            <a:off x="1055077" y="981154"/>
            <a:ext cx="9144000" cy="268941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8" name="图片 7">
            <a:extLst>
              <a:ext uri="{FF2B5EF4-FFF2-40B4-BE49-F238E27FC236}">
                <a16:creationId xmlns:a16="http://schemas.microsoft.com/office/drawing/2014/main" id="{65816111-ECF0-405F-5BF5-8F02273B69D1}"/>
              </a:ext>
            </a:extLst>
          </p:cNvPr>
          <p:cNvPicPr>
            <a:picLocks noChangeAspect="1"/>
          </p:cNvPicPr>
          <p:nvPr/>
        </p:nvPicPr>
        <p:blipFill>
          <a:blip r:embed="rId3"/>
          <a:stretch>
            <a:fillRect/>
          </a:stretch>
        </p:blipFill>
        <p:spPr>
          <a:xfrm>
            <a:off x="1202997" y="1106655"/>
            <a:ext cx="918880" cy="699148"/>
          </a:xfrm>
          <a:prstGeom prst="rect">
            <a:avLst/>
          </a:prstGeom>
        </p:spPr>
      </p:pic>
      <p:pic>
        <p:nvPicPr>
          <p:cNvPr id="9" name="图片 8">
            <a:extLst>
              <a:ext uri="{FF2B5EF4-FFF2-40B4-BE49-F238E27FC236}">
                <a16:creationId xmlns:a16="http://schemas.microsoft.com/office/drawing/2014/main" id="{C75869D4-47B4-CCB7-8605-8ECBB64F7594}"/>
              </a:ext>
            </a:extLst>
          </p:cNvPr>
          <p:cNvPicPr>
            <a:picLocks noChangeAspect="1"/>
          </p:cNvPicPr>
          <p:nvPr/>
        </p:nvPicPr>
        <p:blipFill>
          <a:blip r:embed="rId4"/>
          <a:stretch>
            <a:fillRect/>
          </a:stretch>
        </p:blipFill>
        <p:spPr>
          <a:xfrm>
            <a:off x="1202997" y="1991010"/>
            <a:ext cx="918880" cy="677592"/>
          </a:xfrm>
          <a:prstGeom prst="rect">
            <a:avLst/>
          </a:prstGeom>
        </p:spPr>
      </p:pic>
      <p:pic>
        <p:nvPicPr>
          <p:cNvPr id="10" name="图片 9">
            <a:extLst>
              <a:ext uri="{FF2B5EF4-FFF2-40B4-BE49-F238E27FC236}">
                <a16:creationId xmlns:a16="http://schemas.microsoft.com/office/drawing/2014/main" id="{8126C986-1C66-E7ED-AEEA-7BB5698A5A80}"/>
              </a:ext>
            </a:extLst>
          </p:cNvPr>
          <p:cNvPicPr>
            <a:picLocks noChangeAspect="1"/>
          </p:cNvPicPr>
          <p:nvPr/>
        </p:nvPicPr>
        <p:blipFill rotWithShape="1">
          <a:blip r:embed="rId5"/>
          <a:srcRect l="7416"/>
          <a:stretch/>
        </p:blipFill>
        <p:spPr>
          <a:xfrm>
            <a:off x="1202995" y="2853812"/>
            <a:ext cx="918880" cy="722561"/>
          </a:xfrm>
          <a:prstGeom prst="rect">
            <a:avLst/>
          </a:prstGeom>
        </p:spPr>
      </p:pic>
      <p:pic>
        <p:nvPicPr>
          <p:cNvPr id="11" name="图片 10">
            <a:extLst>
              <a:ext uri="{FF2B5EF4-FFF2-40B4-BE49-F238E27FC236}">
                <a16:creationId xmlns:a16="http://schemas.microsoft.com/office/drawing/2014/main" id="{8DA6F2CA-4216-96C4-34EE-7FAC49246610}"/>
              </a:ext>
            </a:extLst>
          </p:cNvPr>
          <p:cNvPicPr>
            <a:picLocks noChangeAspect="1"/>
          </p:cNvPicPr>
          <p:nvPr/>
        </p:nvPicPr>
        <p:blipFill rotWithShape="1">
          <a:blip r:embed="rId6"/>
          <a:srcRect l="11927" r="11927"/>
          <a:stretch/>
        </p:blipFill>
        <p:spPr>
          <a:xfrm>
            <a:off x="1202996" y="3761577"/>
            <a:ext cx="918880" cy="734290"/>
          </a:xfrm>
          <a:prstGeom prst="rect">
            <a:avLst/>
          </a:prstGeom>
        </p:spPr>
      </p:pic>
      <p:sp>
        <p:nvSpPr>
          <p:cNvPr id="12" name="矩形 11">
            <a:extLst>
              <a:ext uri="{FF2B5EF4-FFF2-40B4-BE49-F238E27FC236}">
                <a16:creationId xmlns:a16="http://schemas.microsoft.com/office/drawing/2014/main" id="{13841463-15EC-D009-5297-4F16B6AAC1E4}"/>
              </a:ext>
            </a:extLst>
          </p:cNvPr>
          <p:cNvSpPr/>
          <p:nvPr/>
        </p:nvSpPr>
        <p:spPr>
          <a:xfrm>
            <a:off x="2596223" y="3755838"/>
            <a:ext cx="5752471" cy="707886"/>
          </a:xfrm>
          <a:prstGeom prst="rect">
            <a:avLst/>
          </a:prstGeom>
        </p:spPr>
        <p:txBody>
          <a:bodyPr wrap="square">
            <a:spAutoFit/>
          </a:bodyPr>
          <a:lstStyle/>
          <a:p>
            <a:pPr>
              <a:defRPr/>
            </a:pPr>
            <a:r>
              <a:rPr lang="zh-CN" altLang="en-US" sz="2000" dirty="0">
                <a:solidFill>
                  <a:srgbClr val="000000"/>
                </a:solidFill>
                <a:latin typeface="Arial"/>
                <a:ea typeface="微软雅黑"/>
              </a:rPr>
              <a:t>多智能体强化学习</a:t>
            </a:r>
            <a:endParaRPr lang="en-US" altLang="zh-CN" sz="2000" dirty="0">
              <a:solidFill>
                <a:srgbClr val="000000"/>
              </a:solidFill>
              <a:latin typeface="Arial"/>
              <a:ea typeface="微软雅黑"/>
            </a:endParaRPr>
          </a:p>
          <a:p>
            <a:pPr marL="342900" indent="-342900">
              <a:buFont typeface="Arial" panose="020B0604020202020204" pitchFamily="34" charset="0"/>
              <a:buChar char="•"/>
              <a:defRPr/>
            </a:pPr>
            <a:r>
              <a:rPr lang="zh-CN" altLang="en-US" sz="2000" dirty="0">
                <a:solidFill>
                  <a:srgbClr val="000000"/>
                </a:solidFill>
                <a:latin typeface="Arial"/>
                <a:ea typeface="微软雅黑"/>
              </a:rPr>
              <a:t>分散式、去中心化的人工智能</a:t>
            </a:r>
          </a:p>
        </p:txBody>
      </p:sp>
      <p:sp>
        <p:nvSpPr>
          <p:cNvPr id="13" name="矩形 12">
            <a:extLst>
              <a:ext uri="{FF2B5EF4-FFF2-40B4-BE49-F238E27FC236}">
                <a16:creationId xmlns:a16="http://schemas.microsoft.com/office/drawing/2014/main" id="{46E185A9-9284-C45C-072B-28B53562ED31}"/>
              </a:ext>
            </a:extLst>
          </p:cNvPr>
          <p:cNvSpPr/>
          <p:nvPr/>
        </p:nvSpPr>
        <p:spPr>
          <a:xfrm>
            <a:off x="2596220" y="2883725"/>
            <a:ext cx="4753454" cy="707886"/>
          </a:xfrm>
          <a:prstGeom prst="rect">
            <a:avLst/>
          </a:prstGeom>
        </p:spPr>
        <p:txBody>
          <a:bodyPr wrap="square">
            <a:spAutoFit/>
          </a:bodyPr>
          <a:lstStyle/>
          <a:p>
            <a:pPr>
              <a:defRPr/>
            </a:pPr>
            <a:r>
              <a:rPr lang="zh-CN" altLang="en-US" sz="2000" dirty="0">
                <a:solidFill>
                  <a:srgbClr val="000000"/>
                </a:solidFill>
                <a:latin typeface="Arial"/>
                <a:ea typeface="微软雅黑"/>
              </a:rPr>
              <a:t>模仿学习</a:t>
            </a:r>
            <a:endParaRPr lang="en-US" altLang="zh-CN" sz="2000" dirty="0">
              <a:solidFill>
                <a:srgbClr val="000000"/>
              </a:solidFill>
              <a:latin typeface="Arial"/>
              <a:ea typeface="微软雅黑"/>
            </a:endParaRPr>
          </a:p>
          <a:p>
            <a:pPr marL="342900" indent="-342900">
              <a:buFont typeface="Arial" panose="020B0604020202020204" pitchFamily="34" charset="0"/>
              <a:buChar char="•"/>
              <a:defRPr/>
            </a:pPr>
            <a:r>
              <a:rPr lang="zh-CN" altLang="en-US" sz="2000" dirty="0">
                <a:solidFill>
                  <a:srgbClr val="000000"/>
                </a:solidFill>
                <a:latin typeface="Arial"/>
                <a:ea typeface="微软雅黑"/>
              </a:rPr>
              <a:t>无奖励信号下跟随专家做策略学习</a:t>
            </a:r>
            <a:endParaRPr lang="en-US" altLang="zh-CN" sz="2000" dirty="0">
              <a:solidFill>
                <a:srgbClr val="000000"/>
              </a:solidFill>
              <a:latin typeface="Arial"/>
              <a:ea typeface="微软雅黑"/>
            </a:endParaRPr>
          </a:p>
        </p:txBody>
      </p:sp>
      <p:sp>
        <p:nvSpPr>
          <p:cNvPr id="14" name="矩形 13">
            <a:extLst>
              <a:ext uri="{FF2B5EF4-FFF2-40B4-BE49-F238E27FC236}">
                <a16:creationId xmlns:a16="http://schemas.microsoft.com/office/drawing/2014/main" id="{32B9DF80-5361-8A28-C520-0C93F36EEBFF}"/>
              </a:ext>
            </a:extLst>
          </p:cNvPr>
          <p:cNvSpPr/>
          <p:nvPr/>
        </p:nvSpPr>
        <p:spPr>
          <a:xfrm>
            <a:off x="2596223" y="2011612"/>
            <a:ext cx="4931671" cy="707886"/>
          </a:xfrm>
          <a:prstGeom prst="rect">
            <a:avLst/>
          </a:prstGeom>
        </p:spPr>
        <p:txBody>
          <a:bodyPr wrap="square">
            <a:spAutoFit/>
          </a:bodyPr>
          <a:lstStyle/>
          <a:p>
            <a:pPr>
              <a:defRPr/>
            </a:pPr>
            <a:r>
              <a:rPr lang="zh-CN" altLang="en-US" sz="2000" dirty="0">
                <a:solidFill>
                  <a:srgbClr val="000000"/>
                </a:solidFill>
                <a:latin typeface="Arial"/>
                <a:ea typeface="微软雅黑"/>
              </a:rPr>
              <a:t>目标策动的层次化强化学习</a:t>
            </a:r>
            <a:endParaRPr lang="en-US" altLang="zh-CN" sz="2000" dirty="0">
              <a:solidFill>
                <a:srgbClr val="000000"/>
              </a:solidFill>
              <a:latin typeface="Arial"/>
              <a:ea typeface="微软雅黑"/>
            </a:endParaRPr>
          </a:p>
          <a:p>
            <a:pPr marL="342900" indent="-342900">
              <a:buFont typeface="Arial" panose="020B0604020202020204" pitchFamily="34" charset="0"/>
              <a:buChar char="•"/>
              <a:defRPr/>
            </a:pPr>
            <a:r>
              <a:rPr lang="zh-CN" altLang="en-US" sz="2000" dirty="0">
                <a:solidFill>
                  <a:srgbClr val="000000"/>
                </a:solidFill>
                <a:latin typeface="Arial"/>
                <a:ea typeface="微软雅黑"/>
              </a:rPr>
              <a:t>长程任务的中间目标是桥梁的基石</a:t>
            </a:r>
            <a:endParaRPr lang="en-US" altLang="zh-CN" sz="2000" dirty="0">
              <a:solidFill>
                <a:srgbClr val="000000"/>
              </a:solidFill>
              <a:latin typeface="Arial"/>
              <a:ea typeface="微软雅黑"/>
            </a:endParaRPr>
          </a:p>
        </p:txBody>
      </p:sp>
      <p:sp>
        <p:nvSpPr>
          <p:cNvPr id="15" name="矩形 14">
            <a:extLst>
              <a:ext uri="{FF2B5EF4-FFF2-40B4-BE49-F238E27FC236}">
                <a16:creationId xmlns:a16="http://schemas.microsoft.com/office/drawing/2014/main" id="{476F7229-41D2-9354-7605-0410CFA6B6C9}"/>
              </a:ext>
            </a:extLst>
          </p:cNvPr>
          <p:cNvSpPr/>
          <p:nvPr/>
        </p:nvSpPr>
        <p:spPr>
          <a:xfrm>
            <a:off x="2596223" y="1139499"/>
            <a:ext cx="4931671" cy="707886"/>
          </a:xfrm>
          <a:prstGeom prst="rect">
            <a:avLst/>
          </a:prstGeom>
        </p:spPr>
        <p:txBody>
          <a:bodyPr wrap="square">
            <a:spAutoFit/>
          </a:bodyPr>
          <a:lstStyle/>
          <a:p>
            <a:pPr>
              <a:defRPr/>
            </a:pPr>
            <a:r>
              <a:rPr lang="zh-CN" altLang="en-US" sz="2000" dirty="0">
                <a:solidFill>
                  <a:srgbClr val="000000"/>
                </a:solidFill>
                <a:latin typeface="Arial"/>
                <a:ea typeface="微软雅黑"/>
              </a:rPr>
              <a:t>基于模拟模型的强化学习</a:t>
            </a:r>
            <a:endParaRPr lang="en-US" altLang="zh-CN" sz="2000" dirty="0">
              <a:solidFill>
                <a:srgbClr val="000000"/>
              </a:solidFill>
              <a:latin typeface="Arial"/>
              <a:ea typeface="微软雅黑"/>
            </a:endParaRPr>
          </a:p>
          <a:p>
            <a:pPr marL="342900" indent="-342900">
              <a:buFont typeface="Arial" panose="020B0604020202020204" pitchFamily="34" charset="0"/>
              <a:buChar char="•"/>
              <a:defRPr/>
            </a:pPr>
            <a:r>
              <a:rPr lang="zh-CN" altLang="en-US" sz="2000" dirty="0">
                <a:solidFill>
                  <a:srgbClr val="000000"/>
                </a:solidFill>
                <a:latin typeface="Arial"/>
                <a:ea typeface="微软雅黑"/>
              </a:rPr>
              <a:t>模拟器的无比重要性</a:t>
            </a:r>
            <a:endParaRPr lang="en-US" altLang="zh-CN" sz="2000" dirty="0">
              <a:solidFill>
                <a:srgbClr val="000000"/>
              </a:solidFill>
              <a:latin typeface="Arial"/>
              <a:ea typeface="微软雅黑"/>
            </a:endParaRPr>
          </a:p>
        </p:txBody>
      </p:sp>
      <p:sp>
        <p:nvSpPr>
          <p:cNvPr id="16" name="矩形 15">
            <a:extLst>
              <a:ext uri="{FF2B5EF4-FFF2-40B4-BE49-F238E27FC236}">
                <a16:creationId xmlns:a16="http://schemas.microsoft.com/office/drawing/2014/main" id="{02F91215-53C9-879F-37BE-557EF388DB7E}"/>
              </a:ext>
            </a:extLst>
          </p:cNvPr>
          <p:cNvSpPr/>
          <p:nvPr/>
        </p:nvSpPr>
        <p:spPr>
          <a:xfrm>
            <a:off x="2596223" y="5500065"/>
            <a:ext cx="5752471" cy="707886"/>
          </a:xfrm>
          <a:prstGeom prst="rect">
            <a:avLst/>
          </a:prstGeom>
        </p:spPr>
        <p:txBody>
          <a:bodyPr wrap="square">
            <a:spAutoFit/>
          </a:bodyPr>
          <a:lstStyle/>
          <a:p>
            <a:pPr>
              <a:defRPr/>
            </a:pPr>
            <a:r>
              <a:rPr lang="zh-CN" altLang="en-US" sz="2000" dirty="0">
                <a:solidFill>
                  <a:srgbClr val="000000"/>
                </a:solidFill>
                <a:latin typeface="Arial"/>
                <a:ea typeface="微软雅黑"/>
              </a:rPr>
              <a:t>强化学习决策大模型</a:t>
            </a:r>
            <a:endParaRPr lang="en-US" altLang="zh-CN" sz="2000" dirty="0">
              <a:solidFill>
                <a:srgbClr val="000000"/>
              </a:solidFill>
              <a:latin typeface="Arial"/>
              <a:ea typeface="微软雅黑"/>
            </a:endParaRPr>
          </a:p>
          <a:p>
            <a:pPr marL="342900" indent="-342900">
              <a:buFont typeface="Arial" panose="020B0604020202020204" pitchFamily="34" charset="0"/>
              <a:buChar char="•"/>
              <a:defRPr/>
            </a:pPr>
            <a:r>
              <a:rPr lang="zh-CN" altLang="en-US" sz="2000" dirty="0">
                <a:solidFill>
                  <a:srgbClr val="000000"/>
                </a:solidFill>
                <a:latin typeface="Arial"/>
                <a:ea typeface="微软雅黑"/>
              </a:rPr>
              <a:t>探索以大的序列建模方式来完成序贯决策任务</a:t>
            </a:r>
          </a:p>
        </p:txBody>
      </p:sp>
      <p:sp>
        <p:nvSpPr>
          <p:cNvPr id="17" name="矩形 16">
            <a:extLst>
              <a:ext uri="{FF2B5EF4-FFF2-40B4-BE49-F238E27FC236}">
                <a16:creationId xmlns:a16="http://schemas.microsoft.com/office/drawing/2014/main" id="{E98896EC-F06E-86A1-26D0-ADFD065ECB8A}"/>
              </a:ext>
            </a:extLst>
          </p:cNvPr>
          <p:cNvSpPr/>
          <p:nvPr/>
        </p:nvSpPr>
        <p:spPr>
          <a:xfrm>
            <a:off x="2596220" y="4627951"/>
            <a:ext cx="4753454" cy="707886"/>
          </a:xfrm>
          <a:prstGeom prst="rect">
            <a:avLst/>
          </a:prstGeom>
        </p:spPr>
        <p:txBody>
          <a:bodyPr wrap="square">
            <a:spAutoFit/>
          </a:bodyPr>
          <a:lstStyle/>
          <a:p>
            <a:pPr>
              <a:defRPr/>
            </a:pPr>
            <a:r>
              <a:rPr lang="zh-CN" altLang="en-US" sz="2000" dirty="0">
                <a:solidFill>
                  <a:srgbClr val="000000"/>
                </a:solidFill>
                <a:latin typeface="Arial"/>
                <a:ea typeface="微软雅黑"/>
              </a:rPr>
              <a:t>离线强化学习</a:t>
            </a:r>
            <a:endParaRPr lang="en-US" altLang="zh-CN" sz="2000" dirty="0">
              <a:solidFill>
                <a:srgbClr val="000000"/>
              </a:solidFill>
              <a:latin typeface="Arial"/>
              <a:ea typeface="微软雅黑"/>
            </a:endParaRPr>
          </a:p>
          <a:p>
            <a:pPr marL="342900" indent="-342900">
              <a:buFont typeface="Arial" panose="020B0604020202020204" pitchFamily="34" charset="0"/>
              <a:buChar char="•"/>
              <a:defRPr/>
            </a:pPr>
            <a:r>
              <a:rPr lang="zh-CN" altLang="en-US" sz="2000" dirty="0">
                <a:solidFill>
                  <a:srgbClr val="000000"/>
                </a:solidFill>
                <a:latin typeface="Arial"/>
                <a:ea typeface="微软雅黑"/>
              </a:rPr>
              <a:t>训练过程中智能体不能和环境交互</a:t>
            </a:r>
            <a:endParaRPr lang="en-US" altLang="zh-CN" sz="2000" dirty="0">
              <a:solidFill>
                <a:srgbClr val="000000"/>
              </a:solidFill>
              <a:latin typeface="Arial"/>
              <a:ea typeface="微软雅黑"/>
            </a:endParaRPr>
          </a:p>
        </p:txBody>
      </p:sp>
      <p:pic>
        <p:nvPicPr>
          <p:cNvPr id="18" name="Picture 2">
            <a:extLst>
              <a:ext uri="{FF2B5EF4-FFF2-40B4-BE49-F238E27FC236}">
                <a16:creationId xmlns:a16="http://schemas.microsoft.com/office/drawing/2014/main" id="{6079F29D-9699-ED4D-05AE-88E58076749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408" r="17286"/>
          <a:stretch/>
        </p:blipFill>
        <p:spPr bwMode="auto">
          <a:xfrm>
            <a:off x="1202995" y="4681074"/>
            <a:ext cx="918880" cy="67759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a:extLst>
              <a:ext uri="{FF2B5EF4-FFF2-40B4-BE49-F238E27FC236}">
                <a16:creationId xmlns:a16="http://schemas.microsoft.com/office/drawing/2014/main" id="{4F2CFFFA-6D77-4997-68C9-EA60A692B52F}"/>
              </a:ext>
            </a:extLst>
          </p:cNvPr>
          <p:cNvPicPr>
            <a:picLocks noChangeAspect="1"/>
          </p:cNvPicPr>
          <p:nvPr/>
        </p:nvPicPr>
        <p:blipFill rotWithShape="1">
          <a:blip r:embed="rId8"/>
          <a:srcRect l="12876" r="23835" b="23948"/>
          <a:stretch/>
        </p:blipFill>
        <p:spPr>
          <a:xfrm>
            <a:off x="1215402" y="5543872"/>
            <a:ext cx="924051" cy="648758"/>
          </a:xfrm>
          <a:prstGeom prst="rect">
            <a:avLst/>
          </a:prstGeom>
          <a:ln>
            <a:solidFill>
              <a:schemeClr val="bg1">
                <a:lumMod val="85000"/>
              </a:schemeClr>
            </a:solidFill>
          </a:ln>
        </p:spPr>
      </p:pic>
      <p:sp>
        <p:nvSpPr>
          <p:cNvPr id="20" name="矩形 19">
            <a:extLst>
              <a:ext uri="{FF2B5EF4-FFF2-40B4-BE49-F238E27FC236}">
                <a16:creationId xmlns:a16="http://schemas.microsoft.com/office/drawing/2014/main" id="{29911B6A-E595-EE7F-A62A-20AE47011977}"/>
              </a:ext>
            </a:extLst>
          </p:cNvPr>
          <p:cNvSpPr/>
          <p:nvPr/>
        </p:nvSpPr>
        <p:spPr>
          <a:xfrm>
            <a:off x="8332261" y="1709950"/>
            <a:ext cx="1866816" cy="707886"/>
          </a:xfrm>
          <a:prstGeom prst="rect">
            <a:avLst/>
          </a:prstGeom>
        </p:spPr>
        <p:txBody>
          <a:bodyPr wrap="square">
            <a:spAutoFit/>
          </a:bodyPr>
          <a:lstStyle/>
          <a:p>
            <a:pPr>
              <a:defRPr/>
            </a:pPr>
            <a:r>
              <a:rPr lang="zh-CN" altLang="en-US" sz="2000" dirty="0">
                <a:solidFill>
                  <a:srgbClr val="000000"/>
                </a:solidFill>
                <a:latin typeface="Arial"/>
                <a:ea typeface="微软雅黑"/>
              </a:rPr>
              <a:t>让强化学习算法更加高效</a:t>
            </a:r>
            <a:endParaRPr lang="en-US" altLang="zh-CN" sz="2000" dirty="0">
              <a:solidFill>
                <a:srgbClr val="000000"/>
              </a:solidFill>
              <a:latin typeface="Arial"/>
              <a:ea typeface="微软雅黑"/>
            </a:endParaRPr>
          </a:p>
        </p:txBody>
      </p:sp>
      <p:sp>
        <p:nvSpPr>
          <p:cNvPr id="21" name="矩形 20">
            <a:extLst>
              <a:ext uri="{FF2B5EF4-FFF2-40B4-BE49-F238E27FC236}">
                <a16:creationId xmlns:a16="http://schemas.microsoft.com/office/drawing/2014/main" id="{4D451BC2-07D2-E88E-1921-FB935E02FF3A}"/>
              </a:ext>
            </a:extLst>
          </p:cNvPr>
          <p:cNvSpPr/>
          <p:nvPr/>
        </p:nvSpPr>
        <p:spPr>
          <a:xfrm>
            <a:off x="8332261" y="4138452"/>
            <a:ext cx="1866816" cy="707886"/>
          </a:xfrm>
          <a:prstGeom prst="rect">
            <a:avLst/>
          </a:prstGeom>
        </p:spPr>
        <p:txBody>
          <a:bodyPr wrap="square">
            <a:spAutoFit/>
          </a:bodyPr>
          <a:lstStyle/>
          <a:p>
            <a:pPr>
              <a:defRPr/>
            </a:pPr>
            <a:r>
              <a:rPr lang="zh-CN" altLang="en-US" sz="2000" dirty="0">
                <a:solidFill>
                  <a:srgbClr val="000000"/>
                </a:solidFill>
                <a:latin typeface="Arial"/>
                <a:ea typeface="微软雅黑"/>
              </a:rPr>
              <a:t>让强化学习算法易于落地</a:t>
            </a:r>
            <a:endParaRPr lang="en-US" altLang="zh-CN" sz="2000" dirty="0">
              <a:solidFill>
                <a:srgbClr val="000000"/>
              </a:solidFill>
              <a:latin typeface="Arial"/>
              <a:ea typeface="微软雅黑"/>
            </a:endParaRPr>
          </a:p>
        </p:txBody>
      </p:sp>
      <p:sp>
        <p:nvSpPr>
          <p:cNvPr id="22" name="矩形 21">
            <a:extLst>
              <a:ext uri="{FF2B5EF4-FFF2-40B4-BE49-F238E27FC236}">
                <a16:creationId xmlns:a16="http://schemas.microsoft.com/office/drawing/2014/main" id="{BD51056B-11F0-ECCB-96B5-15CA81DEEA8C}"/>
              </a:ext>
            </a:extLst>
          </p:cNvPr>
          <p:cNvSpPr/>
          <p:nvPr/>
        </p:nvSpPr>
        <p:spPr>
          <a:xfrm>
            <a:off x="8332261" y="5624726"/>
            <a:ext cx="1866816" cy="400110"/>
          </a:xfrm>
          <a:prstGeom prst="rect">
            <a:avLst/>
          </a:prstGeom>
        </p:spPr>
        <p:txBody>
          <a:bodyPr wrap="square">
            <a:spAutoFit/>
          </a:bodyPr>
          <a:lstStyle/>
          <a:p>
            <a:pPr>
              <a:defRPr/>
            </a:pPr>
            <a:r>
              <a:rPr lang="zh-CN" altLang="en-US" sz="2000" dirty="0">
                <a:solidFill>
                  <a:srgbClr val="000000"/>
                </a:solidFill>
                <a:latin typeface="Arial"/>
                <a:ea typeface="微软雅黑"/>
              </a:rPr>
              <a:t>一项革新技术</a:t>
            </a:r>
            <a:endParaRPr lang="en-US" altLang="zh-CN" sz="2000" dirty="0">
              <a:solidFill>
                <a:srgbClr val="000000"/>
              </a:solidFill>
              <a:latin typeface="Arial"/>
              <a:ea typeface="微软雅黑"/>
            </a:endParaRPr>
          </a:p>
        </p:txBody>
      </p:sp>
    </p:spTree>
    <p:extLst>
      <p:ext uri="{BB962C8B-B14F-4D97-AF65-F5344CB8AC3E}">
        <p14:creationId xmlns:p14="http://schemas.microsoft.com/office/powerpoint/2010/main" val="3876699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0DC79-A8AC-66AB-7314-73071239ADF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7DAB08E-E1BB-06A0-F577-29996E75C20F}"/>
              </a:ext>
            </a:extLst>
          </p:cNvPr>
          <p:cNvSpPr>
            <a:spLocks noGrp="1"/>
          </p:cNvSpPr>
          <p:nvPr>
            <p:ph type="title"/>
          </p:nvPr>
        </p:nvSpPr>
        <p:spPr/>
        <p:txBody>
          <a:bodyPr/>
          <a:lstStyle/>
          <a:p>
            <a:r>
              <a:rPr lang="zh-CN" altLang="en-US" dirty="0"/>
              <a:t>通过</a:t>
            </a:r>
            <a:r>
              <a:rPr lang="en-US" altLang="zh-CN" dirty="0" err="1"/>
              <a:t>GridWorld</a:t>
            </a:r>
            <a:r>
              <a:rPr lang="zh-CN" altLang="en-US" dirty="0"/>
              <a:t>深入理解强化学习的基本概念</a:t>
            </a:r>
          </a:p>
        </p:txBody>
      </p:sp>
      <p:pic>
        <p:nvPicPr>
          <p:cNvPr id="6" name="图片 5">
            <a:extLst>
              <a:ext uri="{FF2B5EF4-FFF2-40B4-BE49-F238E27FC236}">
                <a16:creationId xmlns:a16="http://schemas.microsoft.com/office/drawing/2014/main" id="{B8300B98-F8DB-3BB7-021F-BF358844D995}"/>
              </a:ext>
            </a:extLst>
          </p:cNvPr>
          <p:cNvPicPr>
            <a:picLocks noChangeAspect="1"/>
          </p:cNvPicPr>
          <p:nvPr/>
        </p:nvPicPr>
        <p:blipFill>
          <a:blip r:embed="rId2"/>
          <a:stretch>
            <a:fillRect/>
          </a:stretch>
        </p:blipFill>
        <p:spPr>
          <a:xfrm>
            <a:off x="2743200" y="1282283"/>
            <a:ext cx="7212650" cy="4040646"/>
          </a:xfrm>
          <a:prstGeom prst="rect">
            <a:avLst/>
          </a:prstGeom>
        </p:spPr>
      </p:pic>
    </p:spTree>
    <p:extLst>
      <p:ext uri="{BB962C8B-B14F-4D97-AF65-F5344CB8AC3E}">
        <p14:creationId xmlns:p14="http://schemas.microsoft.com/office/powerpoint/2010/main" val="3776178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3.6"/>
</p:tagLst>
</file>

<file path=ppt/tags/tag2.xml><?xml version="1.0" encoding="utf-8"?>
<p:tagLst xmlns:a="http://schemas.openxmlformats.org/drawingml/2006/main" xmlns:r="http://schemas.openxmlformats.org/officeDocument/2006/relationships" xmlns:p="http://schemas.openxmlformats.org/presentationml/2006/main">
  <p:tag name="TIMING" val="|3.9"/>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9720</TotalTime>
  <Words>2711</Words>
  <Application>Microsoft Office PowerPoint</Application>
  <PresentationFormat>宽屏</PresentationFormat>
  <Paragraphs>300</Paragraphs>
  <Slides>44</Slides>
  <Notes>17</Notes>
  <HiddenSlides>0</HiddenSlides>
  <MMClips>1</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44</vt:i4>
      </vt:variant>
    </vt:vector>
  </HeadingPairs>
  <TitlesOfParts>
    <vt:vector size="61" baseType="lpstr">
      <vt:lpstr>.Lucida Grande UI Regular</vt:lpstr>
      <vt:lpstr>D-DINExp</vt:lpstr>
      <vt:lpstr>Helvetica Neue</vt:lpstr>
      <vt:lpstr>KaTeX_Main</vt:lpstr>
      <vt:lpstr>var(--gpts-font-family)</vt:lpstr>
      <vt:lpstr>阿里巴巴普惠体 B</vt:lpstr>
      <vt:lpstr>阿里巴巴普惠体 R</vt:lpstr>
      <vt:lpstr>等线</vt:lpstr>
      <vt:lpstr>Microsoft YaHei</vt:lpstr>
      <vt:lpstr>Microsoft YaHei</vt:lpstr>
      <vt:lpstr>Arial</vt:lpstr>
      <vt:lpstr>Book Antiqua</vt:lpstr>
      <vt:lpstr>Cambria Math</vt:lpstr>
      <vt:lpstr>Source Sans Pro</vt:lpstr>
      <vt:lpstr>Times New Roman</vt:lpstr>
      <vt:lpstr>Wingdings</vt:lpstr>
      <vt:lpstr>1_自定义设计方案</vt:lpstr>
      <vt:lpstr>PowerPoint 演示文稿</vt:lpstr>
      <vt:lpstr>目录</vt:lpstr>
      <vt:lpstr>两种人工智能任务类型</vt:lpstr>
      <vt:lpstr>从函数映射角度看机器学习不同范式</vt:lpstr>
      <vt:lpstr>什么是强化学习</vt:lpstr>
      <vt:lpstr>什么是强化学习</vt:lpstr>
      <vt:lpstr>什么是强化学习</vt:lpstr>
      <vt:lpstr>目录</vt:lpstr>
      <vt:lpstr>强化学习的基本要素</vt:lpstr>
      <vt:lpstr>强化学习的基本要素</vt:lpstr>
      <vt:lpstr>强化学习的基本要素</vt:lpstr>
      <vt:lpstr>强化学习的基本要素</vt:lpstr>
      <vt:lpstr>强化学习的基本要素</vt:lpstr>
      <vt:lpstr>目录</vt:lpstr>
      <vt:lpstr>强化学习的任务类型</vt:lpstr>
      <vt:lpstr>强化学习的任务类型</vt:lpstr>
      <vt:lpstr>强化学习的任务类型</vt:lpstr>
      <vt:lpstr>目录</vt:lpstr>
      <vt:lpstr>解决强化学习问题</vt:lpstr>
      <vt:lpstr>解决强化学习问题</vt:lpstr>
      <vt:lpstr>马尔可夫决策过程 (Markov Decision Process, MDP)</vt:lpstr>
      <vt:lpstr>价值函数（Value Function）</vt:lpstr>
      <vt:lpstr>Bellman 方程</vt:lpstr>
      <vt:lpstr>Bellman 方程</vt:lpstr>
      <vt:lpstr>Bellman 方程</vt:lpstr>
      <vt:lpstr>小型 MDP 推导</vt:lpstr>
      <vt:lpstr>求解 RL问题</vt:lpstr>
      <vt:lpstr>Bellman 方程</vt:lpstr>
      <vt:lpstr>Bellman 方程</vt:lpstr>
      <vt:lpstr>求解 RL问题</vt:lpstr>
      <vt:lpstr>目录</vt:lpstr>
      <vt:lpstr>深度强化学习的崛起</vt:lpstr>
      <vt:lpstr>深度强化学习</vt:lpstr>
      <vt:lpstr>深度强化学习</vt:lpstr>
      <vt:lpstr>端到端强化学习</vt:lpstr>
      <vt:lpstr>深度强化学习带来的关键变化</vt:lpstr>
      <vt:lpstr>强化学习的落地场景</vt:lpstr>
      <vt:lpstr>强化学习应用案例 - 控制灵巧手弹钢琴</vt:lpstr>
      <vt:lpstr>强化学习的在ChatGPT中的使用</vt:lpstr>
      <vt:lpstr>强化学习的在DeepSeek R1中的使用</vt:lpstr>
      <vt:lpstr>2025 图灵奖</vt:lpstr>
      <vt:lpstr>深度强化学习的研究前沿</vt:lpstr>
      <vt:lpstr>通过GridWorld深入理解强化学习的基本概念</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624</cp:revision>
  <dcterms:created xsi:type="dcterms:W3CDTF">2020-06-05T07:59:00Z</dcterms:created>
  <dcterms:modified xsi:type="dcterms:W3CDTF">2025-10-28T07:33:23Z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0FE3EF06A9C74838A2BB9773EB8F8EE0_12</vt:lpwstr>
  </property>
  <property fmtid="{D5CDD505-2E9C-101B-9397-08002B2CF9AE}" pid="3" name="KSOProductBuildVer">
    <vt:lpwstr>2052-12.1.0.19302</vt:lpwstr>
  </property>
</Properties>
</file>