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8" r:id="rId2"/>
  </p:sldMasterIdLst>
  <p:notesMasterIdLst>
    <p:notesMasterId r:id="rId51"/>
  </p:notesMasterIdLst>
  <p:sldIdLst>
    <p:sldId id="2314" r:id="rId3"/>
    <p:sldId id="10434" r:id="rId4"/>
    <p:sldId id="10448" r:id="rId5"/>
    <p:sldId id="10461" r:id="rId6"/>
    <p:sldId id="10450" r:id="rId7"/>
    <p:sldId id="10462" r:id="rId8"/>
    <p:sldId id="10463" r:id="rId9"/>
    <p:sldId id="10435" r:id="rId10"/>
    <p:sldId id="10830" r:id="rId11"/>
    <p:sldId id="10832" r:id="rId12"/>
    <p:sldId id="10831" r:id="rId13"/>
    <p:sldId id="10833" r:id="rId14"/>
    <p:sldId id="10834" r:id="rId15"/>
    <p:sldId id="10836" r:id="rId16"/>
    <p:sldId id="10835" r:id="rId17"/>
    <p:sldId id="10838" r:id="rId18"/>
    <p:sldId id="10839" r:id="rId19"/>
    <p:sldId id="10841" r:id="rId20"/>
    <p:sldId id="10455" r:id="rId21"/>
    <p:sldId id="10466" r:id="rId22"/>
    <p:sldId id="10843" r:id="rId23"/>
    <p:sldId id="10844" r:id="rId24"/>
    <p:sldId id="10845" r:id="rId25"/>
    <p:sldId id="10846" r:id="rId26"/>
    <p:sldId id="10842" r:id="rId27"/>
    <p:sldId id="10847" r:id="rId28"/>
    <p:sldId id="10848" r:id="rId29"/>
    <p:sldId id="10849" r:id="rId30"/>
    <p:sldId id="10850" r:id="rId31"/>
    <p:sldId id="10857" r:id="rId32"/>
    <p:sldId id="10851" r:id="rId33"/>
    <p:sldId id="10856" r:id="rId34"/>
    <p:sldId id="10858" r:id="rId35"/>
    <p:sldId id="10852" r:id="rId36"/>
    <p:sldId id="10853" r:id="rId37"/>
    <p:sldId id="10854" r:id="rId38"/>
    <p:sldId id="10855" r:id="rId39"/>
    <p:sldId id="10859" r:id="rId40"/>
    <p:sldId id="10443" r:id="rId41"/>
    <p:sldId id="10445" r:id="rId42"/>
    <p:sldId id="10447" r:id="rId43"/>
    <p:sldId id="10860" r:id="rId44"/>
    <p:sldId id="10861" r:id="rId45"/>
    <p:sldId id="10862" r:id="rId46"/>
    <p:sldId id="10875" r:id="rId47"/>
    <p:sldId id="10865" r:id="rId48"/>
    <p:sldId id="10866" r:id="rId49"/>
    <p:sldId id="10321" r:id="rId5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耀宇" initials="张耀宇" lastIdx="1" clrIdx="0"/>
  <p:cmAuthor id="2" name="zhiqin xu" initials="zx" lastIdx="1" clrIdx="1"/>
  <p:cmAuthor id="3" name="Microsoft Office User" initials="MOU" lastIdx="2" clrIdx="2">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0707"/>
    <a:srgbClr val="FF9966"/>
    <a:srgbClr val="002B7F"/>
    <a:srgbClr val="1D41D5"/>
    <a:srgbClr val="3232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22" autoAdjust="0"/>
    <p:restoredTop sz="89457" autoAdjust="0"/>
  </p:normalViewPr>
  <p:slideViewPr>
    <p:cSldViewPr snapToGrid="0">
      <p:cViewPr varScale="1">
        <p:scale>
          <a:sx n="85" d="100"/>
          <a:sy n="85" d="100"/>
        </p:scale>
        <p:origin x="186" y="48"/>
      </p:cViewPr>
      <p:guideLst/>
    </p:cSldViewPr>
  </p:slideViewPr>
  <p:notesTextViewPr>
    <p:cViewPr>
      <p:scale>
        <a:sx n="3" d="2"/>
        <a:sy n="3" d="2"/>
      </p:scale>
      <p:origin x="0" y="0"/>
    </p:cViewPr>
  </p:notesTextViewPr>
  <p:sorterViewPr>
    <p:cViewPr>
      <p:scale>
        <a:sx n="200" d="100"/>
        <a:sy n="200" d="100"/>
      </p:scale>
      <p:origin x="0" y="-4236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09CCD4-B0A0-4411-AF27-E52F275BA53D}" type="datetimeFigureOut">
              <a:rPr lang="zh-CN" altLang="en-US" smtClean="0"/>
              <a:t>2025/10/28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FB6C25-FFE4-4126-ADF1-3137FE8DB2D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FB6C25-FFE4-4126-ADF1-3137FE8DB2D2}"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algn="l" rtl="0" eaLnBrk="1" fontAlgn="t" latinLnBrk="0" hangingPunct="1"/>
            <a:endParaRPr lang="zh-CN" altLang="zh-CN" sz="1800" b="0" i="0" u="none" strike="noStrike" dirty="0">
              <a:effectLst/>
              <a:latin typeface="Arial" panose="020B0604020202020204" pitchFamily="34" charset="0"/>
            </a:endParaRPr>
          </a:p>
        </p:txBody>
      </p:sp>
      <p:sp>
        <p:nvSpPr>
          <p:cNvPr id="4" name="灯片编号占位符 3"/>
          <p:cNvSpPr>
            <a:spLocks noGrp="1"/>
          </p:cNvSpPr>
          <p:nvPr>
            <p:ph type="sldNum" sz="quarter" idx="5"/>
          </p:nvPr>
        </p:nvSpPr>
        <p:spPr/>
        <p:txBody>
          <a:bodyPr/>
          <a:lstStyle/>
          <a:p>
            <a:fld id="{B3FB6C25-FFE4-4126-ADF1-3137FE8DB2D2}" type="slidenum">
              <a:rPr lang="zh-CN" altLang="en-US" smtClean="0"/>
              <a:t>4</a:t>
            </a:fld>
            <a:endParaRPr lang="zh-CN" altLang="en-US"/>
          </a:p>
        </p:txBody>
      </p:sp>
    </p:spTree>
    <p:extLst>
      <p:ext uri="{BB962C8B-B14F-4D97-AF65-F5344CB8AC3E}">
        <p14:creationId xmlns:p14="http://schemas.microsoft.com/office/powerpoint/2010/main" val="23100538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algn="l" rtl="0" eaLnBrk="1" fontAlgn="t" latinLnBrk="0" hangingPunct="1"/>
            <a:endParaRPr lang="zh-CN" altLang="zh-CN" sz="1200" b="0" i="0" u="none" strike="noStrike" dirty="0">
              <a:effectLst/>
              <a:latin typeface="Arial" panose="020B0604020202020204" pitchFamily="34" charset="0"/>
            </a:endParaRPr>
          </a:p>
        </p:txBody>
      </p:sp>
      <p:sp>
        <p:nvSpPr>
          <p:cNvPr id="4" name="灯片编号占位符 3"/>
          <p:cNvSpPr>
            <a:spLocks noGrp="1"/>
          </p:cNvSpPr>
          <p:nvPr>
            <p:ph type="sldNum" sz="quarter" idx="5"/>
          </p:nvPr>
        </p:nvSpPr>
        <p:spPr/>
        <p:txBody>
          <a:bodyPr/>
          <a:lstStyle/>
          <a:p>
            <a:fld id="{B3FB6C25-FFE4-4126-ADF1-3137FE8DB2D2}" type="slidenum">
              <a:rPr lang="zh-CN" altLang="en-US" smtClean="0"/>
              <a:t>6</a:t>
            </a:fld>
            <a:endParaRPr lang="zh-CN" altLang="en-US"/>
          </a:p>
        </p:txBody>
      </p:sp>
    </p:spTree>
    <p:extLst>
      <p:ext uri="{BB962C8B-B14F-4D97-AF65-F5344CB8AC3E}">
        <p14:creationId xmlns:p14="http://schemas.microsoft.com/office/powerpoint/2010/main" val="4644604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AC481-6192-760C-CDC1-768BFDDF23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D3AD15-35DB-26FA-0623-0999C3A6A2B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C19A794-A127-DF6F-4B75-07740A24CBF6}"/>
              </a:ext>
            </a:extLst>
          </p:cNvPr>
          <p:cNvSpPr>
            <a:spLocks noGrp="1"/>
          </p:cNvSpPr>
          <p:nvPr>
            <p:ph type="body" idx="1"/>
          </p:nvPr>
        </p:nvSpPr>
        <p:spPr/>
        <p:txBody>
          <a:bodyPr/>
          <a:lstStyle/>
          <a:p>
            <a:pPr marL="0" algn="l" rtl="0" eaLnBrk="1" fontAlgn="t" latinLnBrk="0" hangingPunct="1"/>
            <a:endParaRPr lang="zh-CN" altLang="zh-CN" sz="1200" b="0" i="0" u="none" strike="noStrike" dirty="0">
              <a:effectLst/>
              <a:latin typeface="Arial" panose="020B0604020202020204" pitchFamily="34" charset="0"/>
            </a:endParaRPr>
          </a:p>
        </p:txBody>
      </p:sp>
      <p:sp>
        <p:nvSpPr>
          <p:cNvPr id="4" name="灯片编号占位符 3">
            <a:extLst>
              <a:ext uri="{FF2B5EF4-FFF2-40B4-BE49-F238E27FC236}">
                <a16:creationId xmlns:a16="http://schemas.microsoft.com/office/drawing/2014/main" id="{01046376-AFF3-2F16-5EB7-120945A62B45}"/>
              </a:ext>
            </a:extLst>
          </p:cNvPr>
          <p:cNvSpPr>
            <a:spLocks noGrp="1"/>
          </p:cNvSpPr>
          <p:nvPr>
            <p:ph type="sldNum" sz="quarter" idx="5"/>
          </p:nvPr>
        </p:nvSpPr>
        <p:spPr/>
        <p:txBody>
          <a:bodyPr/>
          <a:lstStyle/>
          <a:p>
            <a:fld id="{B3FB6C25-FFE4-4126-ADF1-3137FE8DB2D2}" type="slidenum">
              <a:rPr lang="zh-CN" altLang="en-US" smtClean="0"/>
              <a:t>7</a:t>
            </a:fld>
            <a:endParaRPr lang="zh-CN" altLang="en-US"/>
          </a:p>
        </p:txBody>
      </p:sp>
    </p:spTree>
    <p:extLst>
      <p:ext uri="{BB962C8B-B14F-4D97-AF65-F5344CB8AC3E}">
        <p14:creationId xmlns:p14="http://schemas.microsoft.com/office/powerpoint/2010/main" val="42244423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7.jpeg"/></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欢迎页幻灯片">
    <p:spTree>
      <p:nvGrpSpPr>
        <p:cNvPr id="1" name=""/>
        <p:cNvGrpSpPr/>
        <p:nvPr/>
      </p:nvGrpSpPr>
      <p:grpSpPr>
        <a:xfrm>
          <a:off x="0" y="0"/>
          <a:ext cx="0" cy="0"/>
          <a:chOff x="0" y="0"/>
          <a:chExt cx="0" cy="0"/>
        </a:xfrm>
      </p:grpSpPr>
      <p:sp>
        <p:nvSpPr>
          <p:cNvPr id="8" name="矩形 7"/>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title" hasCustomPrompt="1"/>
          </p:nvPr>
        </p:nvSpPr>
        <p:spPr>
          <a:xfrm>
            <a:off x="381242" y="3716337"/>
            <a:ext cx="11429516" cy="1523959"/>
          </a:xfrm>
        </p:spPr>
        <p:txBody>
          <a:bodyPr vert="horz" lIns="0" tIns="0" rIns="0" bIns="0" rtlCol="0" anchor="t" anchorCtr="0">
            <a:normAutofit/>
          </a:bodyPr>
          <a:lstStyle>
            <a:lvl1pPr algn="ctr">
              <a:defRPr lang="zh-CN" altLang="en-US" sz="5400" b="1">
                <a:solidFill>
                  <a:schemeClr val="bg1"/>
                </a:solidFill>
              </a:defRPr>
            </a:lvl1pPr>
          </a:lstStyle>
          <a:p>
            <a:pPr lvl="0">
              <a:lnSpc>
                <a:spcPct val="100000"/>
              </a:lnSpc>
            </a:pPr>
            <a:r>
              <a:rPr lang="zh-CN" altLang="en-US" dirty="0"/>
              <a:t>欢迎页面</a:t>
            </a:r>
          </a:p>
        </p:txBody>
      </p:sp>
      <p:sp>
        <p:nvSpPr>
          <p:cNvPr id="3" name="文本占位符 2"/>
          <p:cNvSpPr>
            <a:spLocks noGrp="1"/>
          </p:cNvSpPr>
          <p:nvPr>
            <p:ph type="body" idx="1" hasCustomPrompt="1"/>
          </p:nvPr>
        </p:nvSpPr>
        <p:spPr>
          <a:xfrm>
            <a:off x="381242" y="5336848"/>
            <a:ext cx="11429516" cy="761979"/>
          </a:xfrm>
        </p:spPr>
        <p:txBody>
          <a:bodyPr>
            <a:normAutofit/>
          </a:bodyPr>
          <a:lstStyle>
            <a:lvl1pPr marL="0" indent="0" algn="ctr">
              <a:buNone/>
              <a:defRPr sz="2800">
                <a:solidFill>
                  <a:schemeClr val="bg1"/>
                </a:solidFill>
                <a:latin typeface="+mj-ea"/>
                <a:ea typeface="+mj-ea"/>
              </a:defRPr>
            </a:lvl1pPr>
            <a:lvl2pPr marL="609600" indent="0">
              <a:buNone/>
              <a:defRPr sz="2665">
                <a:solidFill>
                  <a:schemeClr val="tx1">
                    <a:tint val="75000"/>
                  </a:schemeClr>
                </a:solidFill>
              </a:defRPr>
            </a:lvl2pPr>
            <a:lvl3pPr marL="1219200" indent="0">
              <a:buNone/>
              <a:defRPr sz="2400">
                <a:solidFill>
                  <a:schemeClr val="tx1">
                    <a:tint val="75000"/>
                  </a:schemeClr>
                </a:solidFill>
              </a:defRPr>
            </a:lvl3pPr>
            <a:lvl4pPr marL="1828800" indent="0">
              <a:buNone/>
              <a:defRPr sz="2135">
                <a:solidFill>
                  <a:schemeClr val="tx1">
                    <a:tint val="75000"/>
                  </a:schemeClr>
                </a:solidFill>
              </a:defRPr>
            </a:lvl4pPr>
            <a:lvl5pPr marL="2438400" indent="0">
              <a:buNone/>
              <a:defRPr sz="2135">
                <a:solidFill>
                  <a:schemeClr val="tx1">
                    <a:tint val="75000"/>
                  </a:schemeClr>
                </a:solidFill>
              </a:defRPr>
            </a:lvl5pPr>
            <a:lvl6pPr marL="3048000" indent="0">
              <a:buNone/>
              <a:defRPr sz="2135">
                <a:solidFill>
                  <a:schemeClr val="tx1">
                    <a:tint val="75000"/>
                  </a:schemeClr>
                </a:solidFill>
              </a:defRPr>
            </a:lvl6pPr>
            <a:lvl7pPr marL="3657600" indent="0">
              <a:buNone/>
              <a:defRPr sz="2135">
                <a:solidFill>
                  <a:schemeClr val="tx1">
                    <a:tint val="75000"/>
                  </a:schemeClr>
                </a:solidFill>
              </a:defRPr>
            </a:lvl7pPr>
            <a:lvl8pPr marL="4267200" indent="0">
              <a:buNone/>
              <a:defRPr sz="2135">
                <a:solidFill>
                  <a:schemeClr val="tx1">
                    <a:tint val="75000"/>
                  </a:schemeClr>
                </a:solidFill>
              </a:defRPr>
            </a:lvl8pPr>
            <a:lvl9pPr marL="4876800" indent="0">
              <a:buNone/>
              <a:defRPr sz="2135">
                <a:solidFill>
                  <a:schemeClr val="tx1">
                    <a:tint val="75000"/>
                  </a:schemeClr>
                </a:solidFill>
              </a:defRPr>
            </a:lvl9pPr>
          </a:lstStyle>
          <a:p>
            <a:pPr lvl="0"/>
            <a:r>
              <a:rPr lang="zh-CN" altLang="en-US" dirty="0"/>
              <a:t>备注</a:t>
            </a:r>
          </a:p>
        </p:txBody>
      </p:sp>
      <p:sp>
        <p:nvSpPr>
          <p:cNvPr id="4" name="日期占位符 3"/>
          <p:cNvSpPr>
            <a:spLocks noGrp="1"/>
          </p:cNvSpPr>
          <p:nvPr>
            <p:ph type="dt" sz="half" idx="10"/>
          </p:nvPr>
        </p:nvSpPr>
        <p:spPr>
          <a:xfrm>
            <a:off x="381242" y="6237360"/>
            <a:ext cx="11429516" cy="457188"/>
          </a:xfrm>
          <a:prstGeom prst="rect">
            <a:avLst/>
          </a:prstGeom>
        </p:spPr>
        <p:txBody>
          <a:bodyPr vert="horz" lIns="91440" tIns="45720" rIns="91440" bIns="45720" rtlCol="0" anchor="ctr"/>
          <a:lstStyle>
            <a:lvl1pPr algn="ctr">
              <a:defRPr lang="zh-CN" altLang="en-US" sz="2540" smtClean="0">
                <a:solidFill>
                  <a:schemeClr val="bg1"/>
                </a:solidFill>
              </a:defRPr>
            </a:lvl1pPr>
          </a:lstStyle>
          <a:p>
            <a:fld id="{D2032502-F676-4D52-ABE7-5D8167C8AC58}" type="datetimeFigureOut">
              <a:rPr lang="zh-CN" altLang="en-US" smtClean="0"/>
              <a:t>2025/10/28</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ctrTitle" hasCustomPrompt="1"/>
          </p:nvPr>
        </p:nvSpPr>
        <p:spPr>
          <a:xfrm>
            <a:off x="762226" y="3717192"/>
            <a:ext cx="10667548" cy="1333464"/>
          </a:xfrm>
        </p:spPr>
        <p:txBody>
          <a:bodyPr lIns="0" tIns="0" rIns="0" bIns="0" anchor="t" anchorCtr="0">
            <a:normAutofit/>
          </a:bodyPr>
          <a:lstStyle>
            <a:lvl1pPr algn="ctr">
              <a:lnSpc>
                <a:spcPct val="100000"/>
              </a:lnSpc>
              <a:defRPr sz="4800">
                <a:solidFill>
                  <a:schemeClr val="bg1"/>
                </a:solidFill>
              </a:defRPr>
            </a:lvl1pPr>
          </a:lstStyle>
          <a:p>
            <a:r>
              <a:rPr lang="zh-CN" altLang="en-US" dirty="0"/>
              <a:t>讲演主标题</a:t>
            </a:r>
          </a:p>
        </p:txBody>
      </p:sp>
      <p:sp>
        <p:nvSpPr>
          <p:cNvPr id="3" name="副标题 2"/>
          <p:cNvSpPr>
            <a:spLocks noGrp="1"/>
          </p:cNvSpPr>
          <p:nvPr>
            <p:ph type="subTitle" idx="1" hasCustomPrompt="1"/>
          </p:nvPr>
        </p:nvSpPr>
        <p:spPr>
          <a:xfrm>
            <a:off x="3429113" y="5387513"/>
            <a:ext cx="5333774" cy="571485"/>
          </a:xfrm>
        </p:spPr>
        <p:txBody>
          <a:bodyPr vert="horz" lIns="91440" tIns="45720" rIns="91440" bIns="45720" rtlCol="0" anchor="ctr" anchorCtr="0">
            <a:normAutofit/>
          </a:bodyPr>
          <a:lstStyle>
            <a:lvl1pPr algn="ctr">
              <a:defRPr lang="zh-CN" altLang="en-US" dirty="0">
                <a:solidFill>
                  <a:schemeClr val="bg1"/>
                </a:solidFill>
                <a:latin typeface="+mj-ea"/>
                <a:ea typeface="+mj-ea"/>
              </a:defRPr>
            </a:lvl1pPr>
          </a:lstStyle>
          <a:p>
            <a:pPr marL="0" lvl="0" indent="0">
              <a:buNone/>
            </a:pPr>
            <a:r>
              <a:rPr lang="zh-CN" altLang="en-US" dirty="0"/>
              <a:t>演讲者</a:t>
            </a:r>
          </a:p>
        </p:txBody>
      </p:sp>
      <p:sp>
        <p:nvSpPr>
          <p:cNvPr id="17" name="日期占位符 16"/>
          <p:cNvSpPr>
            <a:spLocks noGrp="1"/>
          </p:cNvSpPr>
          <p:nvPr>
            <p:ph type="dt" sz="half" idx="11"/>
          </p:nvPr>
        </p:nvSpPr>
        <p:spPr>
          <a:xfrm>
            <a:off x="3429113" y="6229835"/>
            <a:ext cx="5333774" cy="457188"/>
          </a:xfrm>
          <a:prstGeom prst="rect">
            <a:avLst/>
          </a:prstGeom>
        </p:spPr>
        <p:txBody>
          <a:bodyPr/>
          <a:lstStyle>
            <a:lvl1pPr algn="ctr">
              <a:defRPr sz="2400">
                <a:solidFill>
                  <a:schemeClr val="bg1"/>
                </a:solidFill>
              </a:defRPr>
            </a:lvl1pPr>
          </a:lstStyle>
          <a:p>
            <a:fld id="{D2032502-F676-4D52-ABE7-5D8167C8AC58}" type="datetimeFigureOut">
              <a:rPr lang="zh-CN" altLang="en-US" smtClean="0"/>
              <a:t>2025/10/28</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pic>
        <p:nvPicPr>
          <p:cNvPr id="10" name="图片 9"/>
          <p:cNvPicPr>
            <a:picLocks noChangeAspect="1"/>
          </p:cNvPicPr>
          <p:nvPr/>
        </p:nvPicPr>
        <p:blipFill>
          <a:blip r:embed="rId3" cstate="print"/>
          <a:stretch>
            <a:fillRect/>
          </a:stretch>
        </p:blipFill>
        <p:spPr>
          <a:xfrm>
            <a:off x="9134117" y="5941837"/>
            <a:ext cx="2723765" cy="720001"/>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结尾页幻灯片">
    <p:spTree>
      <p:nvGrpSpPr>
        <p:cNvPr id="1" name=""/>
        <p:cNvGrpSpPr/>
        <p:nvPr/>
      </p:nvGrpSpPr>
      <p:grpSpPr>
        <a:xfrm>
          <a:off x="0" y="0"/>
          <a:ext cx="0" cy="0"/>
          <a:chOff x="0" y="0"/>
          <a:chExt cx="0" cy="0"/>
        </a:xfrm>
      </p:grpSpPr>
      <p:sp>
        <p:nvSpPr>
          <p:cNvPr id="4" name="矩形 3"/>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6" name="图片 5"/>
          <p:cNvPicPr>
            <a:picLocks noChangeAspect="1"/>
          </p:cNvPicPr>
          <p:nvPr/>
        </p:nvPicPr>
        <p:blipFill>
          <a:blip r:embed="rId2" cstate="print"/>
          <a:stretch>
            <a:fillRect/>
          </a:stretch>
        </p:blipFill>
        <p:spPr>
          <a:xfrm>
            <a:off x="0" y="1197884"/>
            <a:ext cx="12192000" cy="3723238"/>
          </a:xfrm>
          <a:prstGeom prst="rect">
            <a:avLst/>
          </a:prstGeom>
        </p:spPr>
      </p:pic>
      <p:pic>
        <p:nvPicPr>
          <p:cNvPr id="7" name="图片 6"/>
          <p:cNvPicPr>
            <a:picLocks noChangeAspect="1"/>
          </p:cNvPicPr>
          <p:nvPr/>
        </p:nvPicPr>
        <p:blipFill>
          <a:blip r:embed="rId3" cstate="print"/>
          <a:stretch>
            <a:fillRect/>
          </a:stretch>
        </p:blipFill>
        <p:spPr>
          <a:xfrm>
            <a:off x="480002" y="2699982"/>
            <a:ext cx="3626453" cy="96089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sz="3200"/>
            </a:lvl1pPr>
          </a:lstStyle>
          <a:p>
            <a:r>
              <a:rPr lang="zh-CN" altLang="en-US" dirty="0"/>
              <a:t>页面标题</a:t>
            </a:r>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页面标题</a:t>
            </a:r>
          </a:p>
        </p:txBody>
      </p:sp>
      <p:sp>
        <p:nvSpPr>
          <p:cNvPr id="3" name="内容占位符 2"/>
          <p:cNvSpPr>
            <a:spLocks noGrp="1"/>
          </p:cNvSpPr>
          <p:nvPr>
            <p:ph idx="1" hasCustomPrompt="1"/>
          </p:nvPr>
        </p:nvSpPr>
        <p:spPr/>
        <p:txBody>
          <a:bodyPr/>
          <a:lstStyle>
            <a:lvl1pPr>
              <a:defRPr/>
            </a:lvl1p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11"/>
          </p:nvPr>
        </p:nvSpPr>
        <p:spPr>
          <a:xfrm>
            <a:off x="2736001" y="6318000"/>
            <a:ext cx="6720000" cy="540000"/>
          </a:xfrm>
        </p:spPr>
        <p:txBody>
          <a:bodyPr/>
          <a:lstStyle/>
          <a:p>
            <a:endParaRPr lang="zh-CN" altLang="en-US"/>
          </a:p>
        </p:txBody>
      </p:sp>
      <p:sp>
        <p:nvSpPr>
          <p:cNvPr id="6" name="灯片编号占位符 5"/>
          <p:cNvSpPr>
            <a:spLocks noGrp="1"/>
          </p:cNvSpPr>
          <p:nvPr>
            <p:ph type="sldNum" sz="quarter" idx="12"/>
          </p:nvPr>
        </p:nvSpPr>
        <p:spPr>
          <a:xfrm>
            <a:off x="336002" y="6318000"/>
            <a:ext cx="960000" cy="540000"/>
          </a:xfrm>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封底">
    <p:spTree>
      <p:nvGrpSpPr>
        <p:cNvPr id="1" name=""/>
        <p:cNvGrpSpPr/>
        <p:nvPr/>
      </p:nvGrpSpPr>
      <p:grpSpPr>
        <a:xfrm>
          <a:off x="0" y="0"/>
          <a:ext cx="0" cy="0"/>
          <a:chOff x="0" y="0"/>
          <a:chExt cx="0" cy="0"/>
        </a:xfrm>
      </p:grpSpPr>
      <p:sp>
        <p:nvSpPr>
          <p:cNvPr id="18" name="矩形 17"/>
          <p:cNvSpPr/>
          <p:nvPr/>
        </p:nvSpPr>
        <p:spPr>
          <a:xfrm>
            <a:off x="0" y="2"/>
            <a:ext cx="12192000" cy="685800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7" name="图片 6"/>
          <p:cNvPicPr>
            <a:picLocks noChangeAspect="1"/>
          </p:cNvPicPr>
          <p:nvPr/>
        </p:nvPicPr>
        <p:blipFill>
          <a:blip r:embed="rId2" cstate="print"/>
          <a:stretch>
            <a:fillRect/>
          </a:stretch>
        </p:blipFill>
        <p:spPr>
          <a:xfrm>
            <a:off x="4444642" y="1805992"/>
            <a:ext cx="3302721" cy="2708599"/>
          </a:xfrm>
          <a:prstGeom prst="rect">
            <a:avLst/>
          </a:prstGeom>
        </p:spPr>
      </p:pic>
      <p:cxnSp>
        <p:nvCxnSpPr>
          <p:cNvPr id="10" name="直接连接符 9"/>
          <p:cNvCxnSpPr/>
          <p:nvPr/>
        </p:nvCxnSpPr>
        <p:spPr>
          <a:xfrm>
            <a:off x="431818"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8807295"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0472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欢迎页幻灯片">
    <p:spTree>
      <p:nvGrpSpPr>
        <p:cNvPr id="1" name=""/>
        <p:cNvGrpSpPr/>
        <p:nvPr/>
      </p:nvGrpSpPr>
      <p:grpSpPr>
        <a:xfrm>
          <a:off x="0" y="0"/>
          <a:ext cx="0" cy="0"/>
          <a:chOff x="0" y="0"/>
          <a:chExt cx="0" cy="0"/>
        </a:xfrm>
      </p:grpSpPr>
      <p:sp>
        <p:nvSpPr>
          <p:cNvPr id="8" name="矩形 7"/>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title" hasCustomPrompt="1"/>
          </p:nvPr>
        </p:nvSpPr>
        <p:spPr>
          <a:xfrm>
            <a:off x="381242" y="3716337"/>
            <a:ext cx="11429516" cy="1523959"/>
          </a:xfrm>
        </p:spPr>
        <p:txBody>
          <a:bodyPr vert="horz" lIns="0" tIns="0" rIns="0" bIns="0" rtlCol="0" anchor="t" anchorCtr="0">
            <a:normAutofit/>
          </a:bodyPr>
          <a:lstStyle>
            <a:lvl1pPr algn="ctr">
              <a:defRPr lang="zh-CN" altLang="en-US" sz="5400" b="1">
                <a:solidFill>
                  <a:schemeClr val="bg1"/>
                </a:solidFill>
              </a:defRPr>
            </a:lvl1pPr>
          </a:lstStyle>
          <a:p>
            <a:pPr lvl="0">
              <a:lnSpc>
                <a:spcPct val="100000"/>
              </a:lnSpc>
            </a:pPr>
            <a:r>
              <a:rPr lang="zh-CN" altLang="en-US" dirty="0"/>
              <a:t>欢迎页面</a:t>
            </a:r>
          </a:p>
        </p:txBody>
      </p:sp>
      <p:sp>
        <p:nvSpPr>
          <p:cNvPr id="3" name="文本占位符 2"/>
          <p:cNvSpPr>
            <a:spLocks noGrp="1"/>
          </p:cNvSpPr>
          <p:nvPr>
            <p:ph type="body" idx="1" hasCustomPrompt="1"/>
          </p:nvPr>
        </p:nvSpPr>
        <p:spPr>
          <a:xfrm>
            <a:off x="381242" y="5336848"/>
            <a:ext cx="11429516" cy="761979"/>
          </a:xfrm>
        </p:spPr>
        <p:txBody>
          <a:bodyPr>
            <a:normAutofit/>
          </a:bodyPr>
          <a:lstStyle>
            <a:lvl1pPr marL="0" indent="0" algn="ctr">
              <a:buNone/>
              <a:defRPr sz="2800">
                <a:solidFill>
                  <a:schemeClr val="bg1"/>
                </a:solidFill>
                <a:latin typeface="+mj-ea"/>
                <a:ea typeface="+mj-ea"/>
              </a:defRPr>
            </a:lvl1pPr>
            <a:lvl2pPr marL="609600" indent="0">
              <a:buNone/>
              <a:defRPr sz="2665">
                <a:solidFill>
                  <a:schemeClr val="tx1">
                    <a:tint val="75000"/>
                  </a:schemeClr>
                </a:solidFill>
              </a:defRPr>
            </a:lvl2pPr>
            <a:lvl3pPr marL="1219200" indent="0">
              <a:buNone/>
              <a:defRPr sz="2400">
                <a:solidFill>
                  <a:schemeClr val="tx1">
                    <a:tint val="75000"/>
                  </a:schemeClr>
                </a:solidFill>
              </a:defRPr>
            </a:lvl3pPr>
            <a:lvl4pPr marL="1828800" indent="0">
              <a:buNone/>
              <a:defRPr sz="2135">
                <a:solidFill>
                  <a:schemeClr val="tx1">
                    <a:tint val="75000"/>
                  </a:schemeClr>
                </a:solidFill>
              </a:defRPr>
            </a:lvl4pPr>
            <a:lvl5pPr marL="2438400" indent="0">
              <a:buNone/>
              <a:defRPr sz="2135">
                <a:solidFill>
                  <a:schemeClr val="tx1">
                    <a:tint val="75000"/>
                  </a:schemeClr>
                </a:solidFill>
              </a:defRPr>
            </a:lvl5pPr>
            <a:lvl6pPr marL="3048000" indent="0">
              <a:buNone/>
              <a:defRPr sz="2135">
                <a:solidFill>
                  <a:schemeClr val="tx1">
                    <a:tint val="75000"/>
                  </a:schemeClr>
                </a:solidFill>
              </a:defRPr>
            </a:lvl6pPr>
            <a:lvl7pPr marL="3657600" indent="0">
              <a:buNone/>
              <a:defRPr sz="2135">
                <a:solidFill>
                  <a:schemeClr val="tx1">
                    <a:tint val="75000"/>
                  </a:schemeClr>
                </a:solidFill>
              </a:defRPr>
            </a:lvl7pPr>
            <a:lvl8pPr marL="4267200" indent="0">
              <a:buNone/>
              <a:defRPr sz="2135">
                <a:solidFill>
                  <a:schemeClr val="tx1">
                    <a:tint val="75000"/>
                  </a:schemeClr>
                </a:solidFill>
              </a:defRPr>
            </a:lvl8pPr>
            <a:lvl9pPr marL="4876800" indent="0">
              <a:buNone/>
              <a:defRPr sz="2135">
                <a:solidFill>
                  <a:schemeClr val="tx1">
                    <a:tint val="75000"/>
                  </a:schemeClr>
                </a:solidFill>
              </a:defRPr>
            </a:lvl9pPr>
          </a:lstStyle>
          <a:p>
            <a:pPr lvl="0"/>
            <a:r>
              <a:rPr lang="zh-CN" altLang="en-US" dirty="0"/>
              <a:t>备注</a:t>
            </a:r>
          </a:p>
        </p:txBody>
      </p:sp>
      <p:sp>
        <p:nvSpPr>
          <p:cNvPr id="4" name="日期占位符 3"/>
          <p:cNvSpPr>
            <a:spLocks noGrp="1"/>
          </p:cNvSpPr>
          <p:nvPr>
            <p:ph type="dt" sz="half" idx="10"/>
          </p:nvPr>
        </p:nvSpPr>
        <p:spPr>
          <a:xfrm>
            <a:off x="381242" y="6237360"/>
            <a:ext cx="11429516" cy="457188"/>
          </a:xfrm>
          <a:prstGeom prst="rect">
            <a:avLst/>
          </a:prstGeom>
        </p:spPr>
        <p:txBody>
          <a:bodyPr vert="horz" lIns="91440" tIns="45720" rIns="91440" bIns="45720" rtlCol="0" anchor="ctr"/>
          <a:lstStyle>
            <a:lvl1pPr algn="ctr">
              <a:defRPr lang="zh-CN" altLang="en-US" sz="2540" smtClean="0">
                <a:solidFill>
                  <a:schemeClr val="bg1"/>
                </a:solidFill>
              </a:defRPr>
            </a:lvl1pPr>
          </a:lstStyle>
          <a:p>
            <a:fld id="{D2032502-F676-4D52-ABE7-5D8167C8AC58}" type="datetimeFigureOut">
              <a:rPr lang="zh-CN" altLang="en-US" smtClean="0"/>
              <a:t>2025/10/28</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spTree>
    <p:extLst>
      <p:ext uri="{BB962C8B-B14F-4D97-AF65-F5344CB8AC3E}">
        <p14:creationId xmlns:p14="http://schemas.microsoft.com/office/powerpoint/2010/main" val="1612764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ctrTitle" hasCustomPrompt="1"/>
          </p:nvPr>
        </p:nvSpPr>
        <p:spPr>
          <a:xfrm>
            <a:off x="762226" y="3717192"/>
            <a:ext cx="10667548" cy="1333464"/>
          </a:xfrm>
        </p:spPr>
        <p:txBody>
          <a:bodyPr lIns="0" tIns="0" rIns="0" bIns="0" anchor="t" anchorCtr="0">
            <a:normAutofit/>
          </a:bodyPr>
          <a:lstStyle>
            <a:lvl1pPr algn="ctr">
              <a:lnSpc>
                <a:spcPct val="100000"/>
              </a:lnSpc>
              <a:defRPr sz="4800">
                <a:solidFill>
                  <a:schemeClr val="bg1"/>
                </a:solidFill>
              </a:defRPr>
            </a:lvl1pPr>
          </a:lstStyle>
          <a:p>
            <a:r>
              <a:rPr lang="zh-CN" altLang="en-US" dirty="0"/>
              <a:t>讲演主标题</a:t>
            </a:r>
          </a:p>
        </p:txBody>
      </p:sp>
      <p:sp>
        <p:nvSpPr>
          <p:cNvPr id="3" name="副标题 2"/>
          <p:cNvSpPr>
            <a:spLocks noGrp="1"/>
          </p:cNvSpPr>
          <p:nvPr>
            <p:ph type="subTitle" idx="1" hasCustomPrompt="1"/>
          </p:nvPr>
        </p:nvSpPr>
        <p:spPr>
          <a:xfrm>
            <a:off x="3429113" y="5387513"/>
            <a:ext cx="5333774" cy="571485"/>
          </a:xfrm>
        </p:spPr>
        <p:txBody>
          <a:bodyPr vert="horz" lIns="91440" tIns="45720" rIns="91440" bIns="45720" rtlCol="0" anchor="ctr" anchorCtr="0">
            <a:normAutofit/>
          </a:bodyPr>
          <a:lstStyle>
            <a:lvl1pPr algn="ctr">
              <a:defRPr lang="zh-CN" altLang="en-US" dirty="0">
                <a:solidFill>
                  <a:schemeClr val="bg1"/>
                </a:solidFill>
                <a:latin typeface="+mj-ea"/>
                <a:ea typeface="+mj-ea"/>
              </a:defRPr>
            </a:lvl1pPr>
          </a:lstStyle>
          <a:p>
            <a:pPr marL="0" lvl="0" indent="0">
              <a:buNone/>
            </a:pPr>
            <a:r>
              <a:rPr lang="zh-CN" altLang="en-US" dirty="0"/>
              <a:t>演讲者</a:t>
            </a:r>
          </a:p>
        </p:txBody>
      </p:sp>
      <p:sp>
        <p:nvSpPr>
          <p:cNvPr id="17" name="日期占位符 16"/>
          <p:cNvSpPr>
            <a:spLocks noGrp="1"/>
          </p:cNvSpPr>
          <p:nvPr>
            <p:ph type="dt" sz="half" idx="11"/>
          </p:nvPr>
        </p:nvSpPr>
        <p:spPr>
          <a:xfrm>
            <a:off x="3429113" y="6229835"/>
            <a:ext cx="5333774" cy="457188"/>
          </a:xfrm>
          <a:prstGeom prst="rect">
            <a:avLst/>
          </a:prstGeom>
        </p:spPr>
        <p:txBody>
          <a:bodyPr/>
          <a:lstStyle>
            <a:lvl1pPr algn="ctr">
              <a:defRPr sz="2400">
                <a:solidFill>
                  <a:schemeClr val="bg1"/>
                </a:solidFill>
              </a:defRPr>
            </a:lvl1pPr>
          </a:lstStyle>
          <a:p>
            <a:fld id="{D2032502-F676-4D52-ABE7-5D8167C8AC58}" type="datetimeFigureOut">
              <a:rPr lang="zh-CN" altLang="en-US" smtClean="0"/>
              <a:t>2025/10/28</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pic>
        <p:nvPicPr>
          <p:cNvPr id="10" name="图片 9"/>
          <p:cNvPicPr>
            <a:picLocks noChangeAspect="1"/>
          </p:cNvPicPr>
          <p:nvPr/>
        </p:nvPicPr>
        <p:blipFill>
          <a:blip r:embed="rId3" cstate="print"/>
          <a:stretch>
            <a:fillRect/>
          </a:stretch>
        </p:blipFill>
        <p:spPr>
          <a:xfrm>
            <a:off x="9134117" y="5941837"/>
            <a:ext cx="2723765" cy="720001"/>
          </a:xfrm>
          <a:prstGeom prst="rect">
            <a:avLst/>
          </a:prstGeom>
        </p:spPr>
      </p:pic>
    </p:spTree>
    <p:extLst>
      <p:ext uri="{BB962C8B-B14F-4D97-AF65-F5344CB8AC3E}">
        <p14:creationId xmlns:p14="http://schemas.microsoft.com/office/powerpoint/2010/main" val="3882094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结尾页幻灯片">
    <p:spTree>
      <p:nvGrpSpPr>
        <p:cNvPr id="1" name=""/>
        <p:cNvGrpSpPr/>
        <p:nvPr/>
      </p:nvGrpSpPr>
      <p:grpSpPr>
        <a:xfrm>
          <a:off x="0" y="0"/>
          <a:ext cx="0" cy="0"/>
          <a:chOff x="0" y="0"/>
          <a:chExt cx="0" cy="0"/>
        </a:xfrm>
      </p:grpSpPr>
      <p:sp>
        <p:nvSpPr>
          <p:cNvPr id="4" name="矩形 3"/>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6" name="图片 5"/>
          <p:cNvPicPr>
            <a:picLocks noChangeAspect="1"/>
          </p:cNvPicPr>
          <p:nvPr/>
        </p:nvPicPr>
        <p:blipFill>
          <a:blip r:embed="rId2" cstate="print"/>
          <a:stretch>
            <a:fillRect/>
          </a:stretch>
        </p:blipFill>
        <p:spPr>
          <a:xfrm>
            <a:off x="0" y="1197884"/>
            <a:ext cx="12192000" cy="3723238"/>
          </a:xfrm>
          <a:prstGeom prst="rect">
            <a:avLst/>
          </a:prstGeom>
        </p:spPr>
      </p:pic>
      <p:pic>
        <p:nvPicPr>
          <p:cNvPr id="7" name="图片 6"/>
          <p:cNvPicPr>
            <a:picLocks noChangeAspect="1"/>
          </p:cNvPicPr>
          <p:nvPr/>
        </p:nvPicPr>
        <p:blipFill>
          <a:blip r:embed="rId3" cstate="print"/>
          <a:stretch>
            <a:fillRect/>
          </a:stretch>
        </p:blipFill>
        <p:spPr>
          <a:xfrm>
            <a:off x="480002" y="2699982"/>
            <a:ext cx="3626453" cy="960898"/>
          </a:xfrm>
          <a:prstGeom prst="rect">
            <a:avLst/>
          </a:prstGeom>
        </p:spPr>
      </p:pic>
    </p:spTree>
    <p:extLst>
      <p:ext uri="{BB962C8B-B14F-4D97-AF65-F5344CB8AC3E}">
        <p14:creationId xmlns:p14="http://schemas.microsoft.com/office/powerpoint/2010/main" val="409048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6E0AC87-F9B6-4F7A-AB3A-6863E2A5800B}" type="slidenum">
              <a:rPr lang="zh-CN" altLang="en-US" smtClean="0"/>
              <a:t>‹#›</a:t>
            </a:fld>
            <a:endParaRPr lang="zh-CN" altLang="en-US"/>
          </a:p>
        </p:txBody>
      </p:sp>
    </p:spTree>
    <p:extLst>
      <p:ext uri="{BB962C8B-B14F-4D97-AF65-F5344CB8AC3E}">
        <p14:creationId xmlns:p14="http://schemas.microsoft.com/office/powerpoint/2010/main" val="24155110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sz="3200"/>
            </a:lvl1pPr>
          </a:lstStyle>
          <a:p>
            <a:r>
              <a:rPr lang="zh-CN" altLang="en-US" dirty="0"/>
              <a:t>页面标题</a:t>
            </a:r>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6E0AC87-F9B6-4F7A-AB3A-6863E2A5800B}" type="slidenum">
              <a:rPr lang="zh-CN" altLang="en-US" smtClean="0"/>
              <a:t>‹#›</a:t>
            </a:fld>
            <a:endParaRPr lang="zh-CN" altLang="en-US"/>
          </a:p>
        </p:txBody>
      </p:sp>
    </p:spTree>
    <p:extLst>
      <p:ext uri="{BB962C8B-B14F-4D97-AF65-F5344CB8AC3E}">
        <p14:creationId xmlns:p14="http://schemas.microsoft.com/office/powerpoint/2010/main" val="35784129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页面标题</a:t>
            </a:r>
          </a:p>
        </p:txBody>
      </p:sp>
      <p:sp>
        <p:nvSpPr>
          <p:cNvPr id="3" name="内容占位符 2"/>
          <p:cNvSpPr>
            <a:spLocks noGrp="1"/>
          </p:cNvSpPr>
          <p:nvPr>
            <p:ph idx="1" hasCustomPrompt="1"/>
          </p:nvPr>
        </p:nvSpPr>
        <p:spPr/>
        <p:txBody>
          <a:bodyPr/>
          <a:lstStyle>
            <a:lvl1pPr>
              <a:defRPr/>
            </a:lvl1p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11"/>
          </p:nvPr>
        </p:nvSpPr>
        <p:spPr>
          <a:xfrm>
            <a:off x="2736001" y="6318000"/>
            <a:ext cx="6720000" cy="540000"/>
          </a:xfrm>
        </p:spPr>
        <p:txBody>
          <a:bodyPr/>
          <a:lstStyle/>
          <a:p>
            <a:endParaRPr lang="zh-CN" altLang="en-US"/>
          </a:p>
        </p:txBody>
      </p:sp>
      <p:sp>
        <p:nvSpPr>
          <p:cNvPr id="6" name="灯片编号占位符 5"/>
          <p:cNvSpPr>
            <a:spLocks noGrp="1"/>
          </p:cNvSpPr>
          <p:nvPr>
            <p:ph type="sldNum" sz="quarter" idx="12"/>
          </p:nvPr>
        </p:nvSpPr>
        <p:spPr>
          <a:xfrm>
            <a:off x="336002" y="6318000"/>
            <a:ext cx="960000" cy="540000"/>
          </a:xfrm>
        </p:spPr>
        <p:txBody>
          <a:bodyPr/>
          <a:lstStyle/>
          <a:p>
            <a:fld id="{66E0AC87-F9B6-4F7A-AB3A-6863E2A5800B}" type="slidenum">
              <a:rPr lang="zh-CN" altLang="en-US" smtClean="0"/>
              <a:t>‹#›</a:t>
            </a:fld>
            <a:endParaRPr lang="zh-CN" altLang="en-US"/>
          </a:p>
        </p:txBody>
      </p:sp>
    </p:spTree>
    <p:extLst>
      <p:ext uri="{BB962C8B-B14F-4D97-AF65-F5344CB8AC3E}">
        <p14:creationId xmlns:p14="http://schemas.microsoft.com/office/powerpoint/2010/main" val="2133913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封底">
    <p:spTree>
      <p:nvGrpSpPr>
        <p:cNvPr id="1" name=""/>
        <p:cNvGrpSpPr/>
        <p:nvPr/>
      </p:nvGrpSpPr>
      <p:grpSpPr>
        <a:xfrm>
          <a:off x="0" y="0"/>
          <a:ext cx="0" cy="0"/>
          <a:chOff x="0" y="0"/>
          <a:chExt cx="0" cy="0"/>
        </a:xfrm>
      </p:grpSpPr>
      <p:sp>
        <p:nvSpPr>
          <p:cNvPr id="18" name="矩形 17"/>
          <p:cNvSpPr/>
          <p:nvPr/>
        </p:nvSpPr>
        <p:spPr>
          <a:xfrm>
            <a:off x="0" y="2"/>
            <a:ext cx="12192000" cy="685800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7" name="图片 6"/>
          <p:cNvPicPr>
            <a:picLocks noChangeAspect="1"/>
          </p:cNvPicPr>
          <p:nvPr/>
        </p:nvPicPr>
        <p:blipFill>
          <a:blip r:embed="rId2" cstate="print"/>
          <a:stretch>
            <a:fillRect/>
          </a:stretch>
        </p:blipFill>
        <p:spPr>
          <a:xfrm>
            <a:off x="4444642" y="1805992"/>
            <a:ext cx="3302721" cy="2708599"/>
          </a:xfrm>
          <a:prstGeom prst="rect">
            <a:avLst/>
          </a:prstGeom>
        </p:spPr>
      </p:pic>
      <p:cxnSp>
        <p:nvCxnSpPr>
          <p:cNvPr id="10" name="直接连接符 9"/>
          <p:cNvCxnSpPr/>
          <p:nvPr/>
        </p:nvCxnSpPr>
        <p:spPr>
          <a:xfrm>
            <a:off x="431818"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8807295"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85329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cSld name="目录">
    <p:spTree>
      <p:nvGrpSpPr>
        <p:cNvPr id="1" name=""/>
        <p:cNvGrpSpPr/>
        <p:nvPr/>
      </p:nvGrpSpPr>
      <p:grpSpPr>
        <a:xfrm>
          <a:off x="0" y="0"/>
          <a:ext cx="0" cy="0"/>
          <a:chOff x="0" y="0"/>
          <a:chExt cx="0" cy="0"/>
        </a:xfrm>
      </p:grpSpPr>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
            <a:ext cx="12192000" cy="665863"/>
          </a:xfrm>
          <a:prstGeom prst="rect">
            <a:avLst/>
          </a:prstGeom>
        </p:spPr>
      </p:pic>
      <p:sp>
        <p:nvSpPr>
          <p:cNvPr id="7" name="矩形 6"/>
          <p:cNvSpPr/>
          <p:nvPr/>
        </p:nvSpPr>
        <p:spPr>
          <a:xfrm>
            <a:off x="0" y="5821680"/>
            <a:ext cx="12192000" cy="103632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89726" y="6100774"/>
            <a:ext cx="2611396" cy="518469"/>
          </a:xfrm>
          <a:prstGeom prst="rect">
            <a:avLst/>
          </a:prstGeom>
        </p:spPr>
      </p:pic>
      <p:sp>
        <p:nvSpPr>
          <p:cNvPr id="2" name="标题 1"/>
          <p:cNvSpPr>
            <a:spLocks noGrp="1"/>
          </p:cNvSpPr>
          <p:nvPr>
            <p:ph type="title"/>
          </p:nvPr>
        </p:nvSpPr>
        <p:spPr>
          <a:xfrm>
            <a:off x="431802" y="235137"/>
            <a:ext cx="8632687" cy="337358"/>
          </a:xfrm>
          <a:prstGeom prst="rect">
            <a:avLst/>
          </a:prstGeom>
        </p:spPr>
        <p:txBody>
          <a:bodyPr anchor="ctr"/>
          <a:lstStyle>
            <a:lvl1pPr>
              <a:defRPr sz="2000">
                <a:solidFill>
                  <a:schemeClr val="accent1"/>
                </a:solidFill>
                <a:effectLst>
                  <a:glow rad="25400">
                    <a:srgbClr val="BFE2F3"/>
                  </a:glow>
                </a:effectLst>
              </a:defRPr>
            </a:lvl1pPr>
          </a:lstStyle>
          <a:p>
            <a:r>
              <a:rPr lang="zh-CN" altLang="en-US"/>
              <a:t>单击此处编辑母版标题样式</a:t>
            </a:r>
            <a:endParaRPr lang="zh-CN" altLang="en-US" dirty="0"/>
          </a:p>
        </p:txBody>
      </p:sp>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80411"/>
            <a:ext cx="12192000" cy="5181600"/>
          </a:xfrm>
          <a:prstGeom prst="rect">
            <a:avLst/>
          </a:prstGeom>
        </p:spPr>
      </p:pic>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65863"/>
          </a:xfrm>
          <a:prstGeom prst="rect">
            <a:avLst/>
          </a:prstGeom>
        </p:spPr>
      </p:pic>
      <p:sp>
        <p:nvSpPr>
          <p:cNvPr id="10" name="矩形 9"/>
          <p:cNvSpPr/>
          <p:nvPr userDrawn="1"/>
        </p:nvSpPr>
        <p:spPr>
          <a:xfrm>
            <a:off x="0" y="5821680"/>
            <a:ext cx="12192000" cy="103632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4519" y="6100774"/>
            <a:ext cx="2143761" cy="518469"/>
          </a:xfrm>
          <a:prstGeom prst="rect">
            <a:avLst/>
          </a:prstGeom>
        </p:spPr>
      </p:pic>
      <p:pic>
        <p:nvPicPr>
          <p:cNvPr id="12" name="图片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680411"/>
            <a:ext cx="12192000" cy="5181600"/>
          </a:xfrm>
          <a:prstGeom prst="rect">
            <a:avLst/>
          </a:prstGeom>
        </p:spPr>
      </p:pic>
    </p:spTree>
    <p:extLst>
      <p:ext uri="{BB962C8B-B14F-4D97-AF65-F5344CB8AC3E}">
        <p14:creationId xmlns:p14="http://schemas.microsoft.com/office/powerpoint/2010/main" val="2787789926"/>
      </p:ext>
    </p:extLst>
  </p:cSld>
  <p:clrMapOvr>
    <a:masterClrMapping/>
  </p:clrMapOvr>
  <p:transition>
    <p:fade/>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image" Target="../media/image2.png"/><Relationship Id="rId5" Type="http://schemas.openxmlformats.org/officeDocument/2006/relationships/slideLayout" Target="../slideLayouts/slideLayout12.xml"/><Relationship Id="rId10" Type="http://schemas.openxmlformats.org/officeDocument/2006/relationships/image" Target="../media/image1.png"/><Relationship Id="rId4" Type="http://schemas.openxmlformats.org/officeDocument/2006/relationships/slideLayout" Target="../slideLayouts/slideLayout11.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9" cstate="print"/>
          <a:srcRect r="1346"/>
          <a:stretch>
            <a:fillRect/>
          </a:stretch>
        </p:blipFill>
        <p:spPr>
          <a:xfrm>
            <a:off x="516" y="341947"/>
            <a:ext cx="12191484" cy="411617"/>
          </a:xfrm>
          <a:prstGeom prst="rect">
            <a:avLst/>
          </a:prstGeom>
        </p:spPr>
      </p:pic>
      <p:sp>
        <p:nvSpPr>
          <p:cNvPr id="9" name="矩形 6"/>
          <p:cNvSpPr/>
          <p:nvPr/>
        </p:nvSpPr>
        <p:spPr>
          <a:xfrm>
            <a:off x="0" y="6318000"/>
            <a:ext cx="12192000" cy="54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905"/>
          </a:p>
        </p:txBody>
      </p:sp>
      <p:sp>
        <p:nvSpPr>
          <p:cNvPr id="2" name="标题占位符 1"/>
          <p:cNvSpPr>
            <a:spLocks noGrp="1"/>
          </p:cNvSpPr>
          <p:nvPr>
            <p:ph type="title"/>
          </p:nvPr>
        </p:nvSpPr>
        <p:spPr>
          <a:xfrm>
            <a:off x="381242" y="0"/>
            <a:ext cx="11429516" cy="761979"/>
          </a:xfrm>
          <a:prstGeom prst="rect">
            <a:avLst/>
          </a:prstGeom>
          <a:ln>
            <a:noFill/>
          </a:ln>
        </p:spPr>
        <p:txBody>
          <a:bodyPr vert="horz" lIns="0" tIns="0" rIns="0" bIns="0" rtlCol="0" anchor="b" anchorCtr="0">
            <a:noAutofit/>
          </a:bodyPr>
          <a:lstStyle/>
          <a:p>
            <a:r>
              <a:rPr lang="zh-CN" altLang="en-US" dirty="0"/>
              <a:t>页面标题</a:t>
            </a:r>
          </a:p>
        </p:txBody>
      </p:sp>
      <p:sp>
        <p:nvSpPr>
          <p:cNvPr id="3" name="文本占位符 2"/>
          <p:cNvSpPr>
            <a:spLocks noGrp="1"/>
          </p:cNvSpPr>
          <p:nvPr>
            <p:ph type="body" idx="1"/>
          </p:nvPr>
        </p:nvSpPr>
        <p:spPr>
          <a:xfrm>
            <a:off x="381242" y="981154"/>
            <a:ext cx="11429516" cy="5333856"/>
          </a:xfrm>
          <a:prstGeom prst="rect">
            <a:avLst/>
          </a:prstGeom>
        </p:spPr>
        <p:txBody>
          <a:bodyPr vert="horz" lIns="90000" tIns="0" rIns="91440" bIns="0" rtlCol="0">
            <a:normAutofit/>
          </a:body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3"/>
          </p:nvPr>
        </p:nvSpPr>
        <p:spPr>
          <a:xfrm>
            <a:off x="2667146" y="6318000"/>
            <a:ext cx="6857709" cy="540000"/>
          </a:xfrm>
          <a:prstGeom prst="rect">
            <a:avLst/>
          </a:prstGeom>
        </p:spPr>
        <p:txBody>
          <a:bodyPr vert="horz" lIns="91440" tIns="45720" rIns="91440" bIns="45720" rtlCol="0" anchor="ctr"/>
          <a:lstStyle>
            <a:lvl1pPr algn="ctr">
              <a:defRPr sz="1905">
                <a:solidFill>
                  <a:schemeClr val="bg1"/>
                </a:solidFill>
              </a:defRPr>
            </a:lvl1pPr>
          </a:lstStyle>
          <a:p>
            <a:endParaRPr lang="zh-CN" altLang="en-US"/>
          </a:p>
        </p:txBody>
      </p:sp>
      <p:sp>
        <p:nvSpPr>
          <p:cNvPr id="6" name="灯片编号占位符 5"/>
          <p:cNvSpPr>
            <a:spLocks noGrp="1"/>
          </p:cNvSpPr>
          <p:nvPr>
            <p:ph type="sldNum" sz="quarter" idx="4"/>
          </p:nvPr>
        </p:nvSpPr>
        <p:spPr>
          <a:xfrm>
            <a:off x="381242" y="6318000"/>
            <a:ext cx="952460" cy="540000"/>
          </a:xfrm>
          <a:prstGeom prst="rect">
            <a:avLst/>
          </a:prstGeom>
        </p:spPr>
        <p:txBody>
          <a:bodyPr vert="horz" lIns="91440" tIns="45720" rIns="91440" bIns="45720" rtlCol="0" anchor="ctr"/>
          <a:lstStyle>
            <a:lvl1pPr algn="l">
              <a:defRPr sz="1695">
                <a:solidFill>
                  <a:schemeClr val="bg1"/>
                </a:solidFill>
              </a:defRPr>
            </a:lvl1pPr>
          </a:lstStyle>
          <a:p>
            <a:fld id="{66E0AC87-F9B6-4F7A-AB3A-6863E2A5800B}" type="slidenum">
              <a:rPr lang="zh-CN" altLang="en-US" smtClean="0"/>
              <a:t>‹#›</a:t>
            </a:fld>
            <a:endParaRPr lang="zh-CN" altLang="en-US"/>
          </a:p>
        </p:txBody>
      </p:sp>
      <p:pic>
        <p:nvPicPr>
          <p:cNvPr id="12" name="图片 11"/>
          <p:cNvPicPr>
            <a:picLocks noChangeAspect="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247359" y="6371999"/>
            <a:ext cx="1622722" cy="4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Lst>
  <p:txStyles>
    <p:title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p:titleStyle>
    <p:bodyStyle>
      <a:lvl1pPr marL="0" indent="0" algn="just" defTabSz="1219200" rtl="0" eaLnBrk="1" latinLnBrk="0" hangingPunct="1">
        <a:lnSpc>
          <a:spcPct val="120000"/>
        </a:lnSpc>
        <a:spcBef>
          <a:spcPts val="0"/>
        </a:spcBef>
        <a:spcAft>
          <a:spcPts val="635"/>
        </a:spcAft>
        <a:buSzPct val="80000"/>
        <a:buFontTx/>
        <a:buNone/>
        <a:defRPr sz="2400" b="1" kern="1200">
          <a:solidFill>
            <a:schemeClr val="tx2"/>
          </a:solidFill>
          <a:latin typeface="微软雅黑" panose="020B0503020204020204" pitchFamily="34" charset="-122"/>
          <a:ea typeface="微软雅黑" panose="020B0503020204020204" pitchFamily="34" charset="-122"/>
          <a:cs typeface="+mn-cs"/>
        </a:defRPr>
      </a:lvl1pPr>
      <a:lvl2pPr marL="609600" indent="0" algn="just" defTabSz="1219200" rtl="0" eaLnBrk="1" latinLnBrk="0" hangingPunct="1">
        <a:lnSpc>
          <a:spcPct val="120000"/>
        </a:lnSpc>
        <a:spcBef>
          <a:spcPts val="0"/>
        </a:spcBef>
        <a:spcAft>
          <a:spcPts val="635"/>
        </a:spcAft>
        <a:buSzPct val="70000"/>
        <a:buFontTx/>
        <a:buNone/>
        <a:defRPr sz="2000" b="1" kern="1200">
          <a:solidFill>
            <a:schemeClr val="tx2"/>
          </a:solidFill>
          <a:latin typeface="微软雅黑" panose="020B0503020204020204" pitchFamily="34" charset="-122"/>
          <a:ea typeface="微软雅黑" panose="020B0503020204020204" pitchFamily="34" charset="-122"/>
          <a:cs typeface="+mn-cs"/>
        </a:defRPr>
      </a:lvl2pPr>
      <a:lvl3pPr marL="1219200" indent="0" algn="just" defTabSz="1219200" rtl="0" eaLnBrk="1" latinLnBrk="0" hangingPunct="1">
        <a:lnSpc>
          <a:spcPct val="120000"/>
        </a:lnSpc>
        <a:spcBef>
          <a:spcPts val="0"/>
        </a:spcBef>
        <a:spcAft>
          <a:spcPts val="635"/>
        </a:spcAft>
        <a:buSzPct val="60000"/>
        <a:buFontTx/>
        <a:buNone/>
        <a:defRPr sz="1800" b="1" kern="1200">
          <a:solidFill>
            <a:schemeClr val="tx2"/>
          </a:solidFill>
          <a:latin typeface="微软雅黑" panose="020B0503020204020204" pitchFamily="34" charset="-122"/>
          <a:ea typeface="微软雅黑" panose="020B0503020204020204" pitchFamily="34" charset="-122"/>
          <a:cs typeface="+mn-cs"/>
        </a:defRPr>
      </a:lvl3pPr>
      <a:lvl4pPr marL="21336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4pPr>
      <a:lvl5pPr marL="27432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5pPr>
      <a:lvl6pPr marL="33528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0" cstate="print"/>
          <a:srcRect r="1346"/>
          <a:stretch>
            <a:fillRect/>
          </a:stretch>
        </p:blipFill>
        <p:spPr>
          <a:xfrm>
            <a:off x="516" y="341947"/>
            <a:ext cx="12191484" cy="411617"/>
          </a:xfrm>
          <a:prstGeom prst="rect">
            <a:avLst/>
          </a:prstGeom>
        </p:spPr>
      </p:pic>
      <p:sp>
        <p:nvSpPr>
          <p:cNvPr id="9" name="矩形 6"/>
          <p:cNvSpPr/>
          <p:nvPr/>
        </p:nvSpPr>
        <p:spPr>
          <a:xfrm>
            <a:off x="0" y="6318000"/>
            <a:ext cx="12192000" cy="54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905"/>
          </a:p>
        </p:txBody>
      </p:sp>
      <p:sp>
        <p:nvSpPr>
          <p:cNvPr id="2" name="标题占位符 1"/>
          <p:cNvSpPr>
            <a:spLocks noGrp="1"/>
          </p:cNvSpPr>
          <p:nvPr>
            <p:ph type="title"/>
          </p:nvPr>
        </p:nvSpPr>
        <p:spPr>
          <a:xfrm>
            <a:off x="381242" y="0"/>
            <a:ext cx="11429516" cy="761979"/>
          </a:xfrm>
          <a:prstGeom prst="rect">
            <a:avLst/>
          </a:prstGeom>
          <a:ln>
            <a:noFill/>
          </a:ln>
        </p:spPr>
        <p:txBody>
          <a:bodyPr vert="horz" lIns="0" tIns="0" rIns="0" bIns="0" rtlCol="0" anchor="b" anchorCtr="0">
            <a:noAutofit/>
          </a:bodyPr>
          <a:lstStyle/>
          <a:p>
            <a:r>
              <a:rPr lang="zh-CN" altLang="en-US" dirty="0"/>
              <a:t>页面标题</a:t>
            </a:r>
          </a:p>
        </p:txBody>
      </p:sp>
      <p:sp>
        <p:nvSpPr>
          <p:cNvPr id="3" name="文本占位符 2"/>
          <p:cNvSpPr>
            <a:spLocks noGrp="1"/>
          </p:cNvSpPr>
          <p:nvPr>
            <p:ph type="body" idx="1"/>
          </p:nvPr>
        </p:nvSpPr>
        <p:spPr>
          <a:xfrm>
            <a:off x="381242" y="981154"/>
            <a:ext cx="11429516" cy="5333856"/>
          </a:xfrm>
          <a:prstGeom prst="rect">
            <a:avLst/>
          </a:prstGeom>
        </p:spPr>
        <p:txBody>
          <a:bodyPr vert="horz" lIns="90000" tIns="0" rIns="91440" bIns="0" rtlCol="0">
            <a:normAutofit/>
          </a:body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3"/>
          </p:nvPr>
        </p:nvSpPr>
        <p:spPr>
          <a:xfrm>
            <a:off x="2667146" y="6318000"/>
            <a:ext cx="6857709" cy="540000"/>
          </a:xfrm>
          <a:prstGeom prst="rect">
            <a:avLst/>
          </a:prstGeom>
        </p:spPr>
        <p:txBody>
          <a:bodyPr vert="horz" lIns="91440" tIns="45720" rIns="91440" bIns="45720" rtlCol="0" anchor="ctr"/>
          <a:lstStyle>
            <a:lvl1pPr algn="ctr">
              <a:defRPr sz="1905">
                <a:solidFill>
                  <a:schemeClr val="bg1"/>
                </a:solidFill>
              </a:defRPr>
            </a:lvl1pPr>
          </a:lstStyle>
          <a:p>
            <a:endParaRPr lang="zh-CN" altLang="en-US"/>
          </a:p>
        </p:txBody>
      </p:sp>
      <p:sp>
        <p:nvSpPr>
          <p:cNvPr id="6" name="灯片编号占位符 5"/>
          <p:cNvSpPr>
            <a:spLocks noGrp="1"/>
          </p:cNvSpPr>
          <p:nvPr>
            <p:ph type="sldNum" sz="quarter" idx="4"/>
          </p:nvPr>
        </p:nvSpPr>
        <p:spPr>
          <a:xfrm>
            <a:off x="381242" y="6318000"/>
            <a:ext cx="952460" cy="540000"/>
          </a:xfrm>
          <a:prstGeom prst="rect">
            <a:avLst/>
          </a:prstGeom>
        </p:spPr>
        <p:txBody>
          <a:bodyPr vert="horz" lIns="91440" tIns="45720" rIns="91440" bIns="45720" rtlCol="0" anchor="ctr"/>
          <a:lstStyle>
            <a:lvl1pPr algn="l">
              <a:defRPr sz="1695">
                <a:solidFill>
                  <a:schemeClr val="bg1"/>
                </a:solidFill>
              </a:defRPr>
            </a:lvl1pPr>
          </a:lstStyle>
          <a:p>
            <a:fld id="{66E0AC87-F9B6-4F7A-AB3A-6863E2A5800B}" type="slidenum">
              <a:rPr lang="zh-CN" altLang="en-US" smtClean="0"/>
              <a:t>‹#›</a:t>
            </a:fld>
            <a:endParaRPr lang="zh-CN" altLang="en-US"/>
          </a:p>
        </p:txBody>
      </p:sp>
      <p:pic>
        <p:nvPicPr>
          <p:cNvPr id="12" name="图片 11"/>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247359" y="6371999"/>
            <a:ext cx="1622722" cy="4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81444489"/>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Lst>
  <p:txStyles>
    <p:title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p:titleStyle>
    <p:bodyStyle>
      <a:lvl1pPr marL="0" indent="0" algn="just" defTabSz="1219200" rtl="0" eaLnBrk="1" latinLnBrk="0" hangingPunct="1">
        <a:lnSpc>
          <a:spcPct val="120000"/>
        </a:lnSpc>
        <a:spcBef>
          <a:spcPts val="0"/>
        </a:spcBef>
        <a:spcAft>
          <a:spcPts val="635"/>
        </a:spcAft>
        <a:buSzPct val="80000"/>
        <a:buFontTx/>
        <a:buNone/>
        <a:defRPr sz="2400" b="1" kern="1200">
          <a:solidFill>
            <a:schemeClr val="tx2"/>
          </a:solidFill>
          <a:latin typeface="微软雅黑" panose="020B0503020204020204" pitchFamily="34" charset="-122"/>
          <a:ea typeface="微软雅黑" panose="020B0503020204020204" pitchFamily="34" charset="-122"/>
          <a:cs typeface="+mn-cs"/>
        </a:defRPr>
      </a:lvl1pPr>
      <a:lvl2pPr marL="609600" indent="0" algn="just" defTabSz="1219200" rtl="0" eaLnBrk="1" latinLnBrk="0" hangingPunct="1">
        <a:lnSpc>
          <a:spcPct val="120000"/>
        </a:lnSpc>
        <a:spcBef>
          <a:spcPts val="0"/>
        </a:spcBef>
        <a:spcAft>
          <a:spcPts val="635"/>
        </a:spcAft>
        <a:buSzPct val="70000"/>
        <a:buFontTx/>
        <a:buNone/>
        <a:defRPr sz="2000" b="1" kern="1200">
          <a:solidFill>
            <a:schemeClr val="tx2"/>
          </a:solidFill>
          <a:latin typeface="微软雅黑" panose="020B0503020204020204" pitchFamily="34" charset="-122"/>
          <a:ea typeface="微软雅黑" panose="020B0503020204020204" pitchFamily="34" charset="-122"/>
          <a:cs typeface="+mn-cs"/>
        </a:defRPr>
      </a:lvl2pPr>
      <a:lvl3pPr marL="1219200" indent="0" algn="just" defTabSz="1219200" rtl="0" eaLnBrk="1" latinLnBrk="0" hangingPunct="1">
        <a:lnSpc>
          <a:spcPct val="120000"/>
        </a:lnSpc>
        <a:spcBef>
          <a:spcPts val="0"/>
        </a:spcBef>
        <a:spcAft>
          <a:spcPts val="635"/>
        </a:spcAft>
        <a:buSzPct val="60000"/>
        <a:buFontTx/>
        <a:buNone/>
        <a:defRPr sz="1800" b="1" kern="1200">
          <a:solidFill>
            <a:schemeClr val="tx2"/>
          </a:solidFill>
          <a:latin typeface="微软雅黑" panose="020B0503020204020204" pitchFamily="34" charset="-122"/>
          <a:ea typeface="微软雅黑" panose="020B0503020204020204" pitchFamily="34" charset="-122"/>
          <a:cs typeface="+mn-cs"/>
        </a:defRPr>
      </a:lvl3pPr>
      <a:lvl4pPr marL="21336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4pPr>
      <a:lvl5pPr marL="27432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5pPr>
      <a:lvl6pPr marL="33528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image" Target="../media/image790.png"/><Relationship Id="rId1" Type="http://schemas.openxmlformats.org/officeDocument/2006/relationships/slideLayout" Target="../slideLayouts/slideLayout13.xml"/><Relationship Id="rId5" Type="http://schemas.openxmlformats.org/officeDocument/2006/relationships/image" Target="../media/image112.png"/><Relationship Id="rId4" Type="http://schemas.openxmlformats.org/officeDocument/2006/relationships/image" Target="../media/image111.png"/></Relationships>
</file>

<file path=ppt/slides/_rels/slide6.xml.rels><?xml version="1.0" encoding="UTF-8" standalone="yes"?>
<Relationships xmlns="http://schemas.openxmlformats.org/package/2006/relationships"><Relationship Id="rId8" Type="http://schemas.openxmlformats.org/officeDocument/2006/relationships/image" Target="../media/image830.png"/><Relationship Id="rId3" Type="http://schemas.openxmlformats.org/officeDocument/2006/relationships/image" Target="../media/image1800.png"/><Relationship Id="rId7" Type="http://schemas.openxmlformats.org/officeDocument/2006/relationships/image" Target="../media/image820.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810.png"/><Relationship Id="rId5" Type="http://schemas.openxmlformats.org/officeDocument/2006/relationships/image" Target="../media/image200.png"/><Relationship Id="rId4" Type="http://schemas.openxmlformats.org/officeDocument/2006/relationships/image" Target="../media/image1900.png"/><Relationship Id="rId9" Type="http://schemas.openxmlformats.org/officeDocument/2006/relationships/image" Target="../media/image240.png"/></Relationships>
</file>

<file path=ppt/slides/_rels/slide7.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 Id="rId5" Type="http://schemas.openxmlformats.org/officeDocument/2006/relationships/image" Target="../media/image16.png"/><Relationship Id="rId4" Type="http://schemas.openxmlformats.org/officeDocument/2006/relationships/image" Target="../media/image900.png"/></Relationships>
</file>

<file path=ppt/slides/_rels/slide12.xml.rels><?xml version="1.0" encoding="UTF-8" standalone="yes"?>
<Relationships xmlns="http://schemas.openxmlformats.org/package/2006/relationships"><Relationship Id="rId3" Type="http://schemas.openxmlformats.org/officeDocument/2006/relationships/image" Target="../media/image920.png"/><Relationship Id="rId2" Type="http://schemas.openxmlformats.org/officeDocument/2006/relationships/image" Target="../media/image17.png"/><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3.xml"/><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7.png"/><Relationship Id="rId2" Type="http://schemas.openxmlformats.org/officeDocument/2006/relationships/image" Target="../media/image25.png"/><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900.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40.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1070.png"/><Relationship Id="rId2" Type="http://schemas.openxmlformats.org/officeDocument/2006/relationships/image" Target="../media/image30.png"/><Relationship Id="rId1" Type="http://schemas.openxmlformats.org/officeDocument/2006/relationships/slideLayout" Target="../slideLayouts/slideLayout13.xml"/><Relationship Id="rId5" Type="http://schemas.openxmlformats.org/officeDocument/2006/relationships/image" Target="../media/image1090.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2" Type="http://schemas.openxmlformats.org/officeDocument/2006/relationships/image" Target="../media/image1101.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130.png"/><Relationship Id="rId1" Type="http://schemas.openxmlformats.org/officeDocument/2006/relationships/slideLayout" Target="../slideLayouts/slideLayout13.xml"/><Relationship Id="rId5" Type="http://schemas.openxmlformats.org/officeDocument/2006/relationships/image" Target="../media/image1160.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1180.png"/><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4.png"/><Relationship Id="rId1" Type="http://schemas.openxmlformats.org/officeDocument/2006/relationships/slideLayout" Target="../slideLayouts/slideLayout13.xml"/><Relationship Id="rId6" Type="http://schemas.openxmlformats.org/officeDocument/2006/relationships/image" Target="../media/image1230.png"/><Relationship Id="rId5" Type="http://schemas.openxmlformats.org/officeDocument/2006/relationships/image" Target="../media/image1220.png"/><Relationship Id="rId4" Type="http://schemas.openxmlformats.org/officeDocument/2006/relationships/image" Target="../media/image1210.pn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4.png"/><Relationship Id="rId1" Type="http://schemas.openxmlformats.org/officeDocument/2006/relationships/slideLayout" Target="../slideLayouts/slideLayout13.xml"/><Relationship Id="rId4" Type="http://schemas.openxmlformats.org/officeDocument/2006/relationships/image" Target="../media/image1250.png"/></Relationships>
</file>

<file path=ppt/slides/_rels/slide28.xml.rels><?xml version="1.0" encoding="UTF-8" standalone="yes"?>
<Relationships xmlns="http://schemas.openxmlformats.org/package/2006/relationships"><Relationship Id="rId3" Type="http://schemas.openxmlformats.org/officeDocument/2006/relationships/image" Target="../media/image1260.png"/><Relationship Id="rId2" Type="http://schemas.openxmlformats.org/officeDocument/2006/relationships/image" Target="../media/image34.png"/><Relationship Id="rId1" Type="http://schemas.openxmlformats.org/officeDocument/2006/relationships/slideLayout" Target="../slideLayouts/slideLayout13.xml"/><Relationship Id="rId5" Type="http://schemas.openxmlformats.org/officeDocument/2006/relationships/image" Target="../media/image39.png"/><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131.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4.png"/><Relationship Id="rId1" Type="http://schemas.openxmlformats.org/officeDocument/2006/relationships/slideLayout" Target="../slideLayouts/slideLayout13.xml"/><Relationship Id="rId5" Type="http://schemas.openxmlformats.org/officeDocument/2006/relationships/image" Target="../media/image43.png"/><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1340.png"/><Relationship Id="rId1" Type="http://schemas.openxmlformats.org/officeDocument/2006/relationships/slideLayout" Target="../slideLayouts/slideLayout13.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33.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3.xml"/><Relationship Id="rId5" Type="http://schemas.openxmlformats.org/officeDocument/2006/relationships/image" Target="../media/image52.png"/><Relationship Id="rId4" Type="http://schemas.openxmlformats.org/officeDocument/2006/relationships/image" Target="../media/image51.png"/></Relationships>
</file>

<file path=ppt/slides/_rels/slide3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3.xml"/><Relationship Id="rId6" Type="http://schemas.openxmlformats.org/officeDocument/2006/relationships/image" Target="../media/image46.png"/><Relationship Id="rId5" Type="http://schemas.openxmlformats.org/officeDocument/2006/relationships/image" Target="../media/image56.png"/><Relationship Id="rId4" Type="http://schemas.openxmlformats.org/officeDocument/2006/relationships/image" Target="../media/image55.png"/></Relationships>
</file>

<file path=ppt/slides/_rels/slide3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3.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3.png"/><Relationship Id="rId1" Type="http://schemas.openxmlformats.org/officeDocument/2006/relationships/slideLayout" Target="../slideLayouts/slideLayout13.xml"/><Relationship Id="rId5" Type="http://schemas.openxmlformats.org/officeDocument/2006/relationships/image" Target="../media/image60.png"/><Relationship Id="rId4" Type="http://schemas.openxmlformats.org/officeDocument/2006/relationships/image" Target="../media/image59.png"/></Relationships>
</file>

<file path=ppt/slides/_rels/slide3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530.png"/><Relationship Id="rId1" Type="http://schemas.openxmlformats.org/officeDocument/2006/relationships/slideLayout" Target="../slideLayouts/slideLayout13.xml"/><Relationship Id="rId4" Type="http://schemas.openxmlformats.org/officeDocument/2006/relationships/image" Target="../media/image62.png"/></Relationships>
</file>

<file path=ppt/slides/_rels/slide39.xml.rels><?xml version="1.0" encoding="UTF-8" standalone="yes"?>
<Relationships xmlns="http://schemas.openxmlformats.org/package/2006/relationships"><Relationship Id="rId3" Type="http://schemas.openxmlformats.org/officeDocument/2006/relationships/image" Target="../media/image1390.png"/><Relationship Id="rId2" Type="http://schemas.openxmlformats.org/officeDocument/2006/relationships/image" Target="../media/image63.GIF"/><Relationship Id="rId1" Type="http://schemas.openxmlformats.org/officeDocument/2006/relationships/slideLayout" Target="../slideLayouts/slideLayout13.xml"/><Relationship Id="rId4" Type="http://schemas.openxmlformats.org/officeDocument/2006/relationships/image" Target="../media/image64.png"/></Relationships>
</file>

<file path=ppt/slides/_rels/slide4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hyperlink" Target="https://www.kaggle.com/competitions/mnist-and-mlp-2" TargetMode="External"/><Relationship Id="rId2" Type="http://schemas.openxmlformats.org/officeDocument/2006/relationships/hyperlink" Target="http://www.kaggle.com/" TargetMode="External"/><Relationship Id="rId1" Type="http://schemas.openxmlformats.org/officeDocument/2006/relationships/slideLayout" Target="../slideLayouts/slideLayout13.xml"/><Relationship Id="rId6" Type="http://schemas.openxmlformats.org/officeDocument/2006/relationships/image" Target="../media/image68.png"/><Relationship Id="rId5" Type="http://schemas.openxmlformats.org/officeDocument/2006/relationships/hyperlink" Target="https://www.kaggle.com/competitions/lstm-transformers-2/overview" TargetMode="External"/><Relationship Id="rId4" Type="http://schemas.openxmlformats.org/officeDocument/2006/relationships/hyperlink" Target="https://www.kaggle.com/competitions/cnn-cifar-10" TargetMode="External"/></Relationships>
</file>

<file path=ppt/slides/_rels/slide4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hyperlink" Target="https://www.kaggle.com/competitions/lstm-transformers-2/overview" TargetMode="Externa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hyperlink" Target="https://www.kaggle.com/competitions/mnist-and-mlp-2" TargetMode="External"/><Relationship Id="rId1" Type="http://schemas.openxmlformats.org/officeDocument/2006/relationships/slideLayout" Target="../slideLayouts/slideLayout13.xml"/><Relationship Id="rId4" Type="http://schemas.openxmlformats.org/officeDocument/2006/relationships/image" Target="../media/image71.png"/></Relationships>
</file>

<file path=ppt/slides/_rels/slide47.xml.rels><?xml version="1.0" encoding="UTF-8" standalone="yes"?>
<Relationships xmlns="http://schemas.openxmlformats.org/package/2006/relationships"><Relationship Id="rId3" Type="http://schemas.openxmlformats.org/officeDocument/2006/relationships/hyperlink" Target="https://www.kaggle.com/competitions/mnist-and-mlp-2" TargetMode="External"/><Relationship Id="rId2" Type="http://schemas.openxmlformats.org/officeDocument/2006/relationships/image" Target="../media/image72.png"/><Relationship Id="rId1" Type="http://schemas.openxmlformats.org/officeDocument/2006/relationships/slideLayout" Target="../slideLayouts/slideLayout13.xml"/><Relationship Id="rId5" Type="http://schemas.openxmlformats.org/officeDocument/2006/relationships/image" Target="../media/image74.png"/><Relationship Id="rId4" Type="http://schemas.openxmlformats.org/officeDocument/2006/relationships/image" Target="../media/image7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591" y="3694681"/>
            <a:ext cx="12192000" cy="2769989"/>
          </a:xfrm>
          <a:prstGeom prst="rect">
            <a:avLst/>
          </a:prstGeom>
          <a:noFill/>
        </p:spPr>
        <p:txBody>
          <a:bodyPr wrap="square" rtlCol="0" anchor="ctr">
            <a:spAutoFit/>
          </a:bodyPr>
          <a:lstStyle/>
          <a:p>
            <a:pPr indent="0" algn="ctr" defTabSz="864235" fontAlgn="auto">
              <a:lnSpc>
                <a:spcPct val="100000"/>
              </a:lnSpc>
              <a:spcAft>
                <a:spcPts val="2400"/>
              </a:spcAft>
              <a:defRPr/>
            </a:pPr>
            <a:r>
              <a:rPr kumimoji="0" lang="en-US" altLang="zh-CN" sz="5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Transformer </a:t>
            </a:r>
            <a:r>
              <a:rPr kumimoji="0" lang="zh-CN" altLang="en-US" sz="5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神经网络结构</a:t>
            </a:r>
            <a:endParaRPr kumimoji="0" lang="en-US" altLang="zh-CN" sz="5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indent="0" algn="ctr" defTabSz="864235" fontAlgn="auto">
              <a:lnSpc>
                <a:spcPct val="100000"/>
              </a:lnSpc>
              <a:spcAft>
                <a:spcPts val="2400"/>
              </a:spcAft>
              <a:defRPr/>
            </a:pPr>
            <a:r>
              <a:rPr lang="zh-CN" altLang="en-US" sz="2000" dirty="0">
                <a:solidFill>
                  <a:schemeClr val="bg1"/>
                </a:solidFill>
                <a:latin typeface="微软雅黑" panose="020B0503020204020204" pitchFamily="34" charset="-122"/>
                <a:ea typeface="微软雅黑" panose="020B0503020204020204" pitchFamily="34" charset="-122"/>
              </a:rPr>
              <a:t>上海交通大学</a:t>
            </a:r>
            <a:endParaRPr lang="en-US" altLang="zh-CN" sz="2000" dirty="0">
              <a:solidFill>
                <a:schemeClr val="bg1"/>
              </a:solidFill>
              <a:latin typeface="微软雅黑" panose="020B0503020204020204" pitchFamily="34" charset="-122"/>
              <a:ea typeface="微软雅黑" panose="020B0503020204020204" pitchFamily="34" charset="-122"/>
            </a:endParaRPr>
          </a:p>
          <a:p>
            <a:pPr indent="0" algn="ctr" defTabSz="864235" fontAlgn="auto">
              <a:lnSpc>
                <a:spcPct val="100000"/>
              </a:lnSpc>
              <a:spcAft>
                <a:spcPts val="2400"/>
              </a:spcAft>
              <a:defRPr/>
            </a:pPr>
            <a:r>
              <a:rPr lang="en-US" altLang="zh-CN" sz="2000" dirty="0">
                <a:solidFill>
                  <a:schemeClr val="bg1"/>
                </a:solidFill>
                <a:latin typeface="微软雅黑" panose="020B0503020204020204" pitchFamily="34" charset="-122"/>
                <a:ea typeface="微软雅黑" panose="020B0503020204020204" pitchFamily="34" charset="-122"/>
              </a:rPr>
              <a:t>SJTU AI</a:t>
            </a:r>
            <a:r>
              <a:rPr lang="zh-CN" altLang="en-US" sz="2000" dirty="0">
                <a:solidFill>
                  <a:schemeClr val="bg1"/>
                </a:solidFill>
                <a:latin typeface="微软雅黑" panose="020B0503020204020204" pitchFamily="34" charset="-122"/>
                <a:ea typeface="微软雅黑" panose="020B0503020204020204" pitchFamily="34" charset="-122"/>
              </a:rPr>
              <a:t>大课</a:t>
            </a:r>
          </a:p>
          <a:p>
            <a:pPr lvl="0" algn="ctr" defTabSz="864235">
              <a:defRPr/>
            </a:pPr>
            <a:fld id="{E102F756-3B96-CC46-A2D4-96CC8736307C}" type="datetime3">
              <a:rPr lang="zh-CN" altLang="en-US" sz="2000">
                <a:solidFill>
                  <a:schemeClr val="bg1"/>
                </a:solidFill>
                <a:latin typeface="微软雅黑" panose="020B0503020204020204" pitchFamily="34" charset="-122"/>
                <a:ea typeface="微软雅黑" panose="020B0503020204020204" pitchFamily="34" charset="-122"/>
              </a:rPr>
              <a:pPr lvl="0" algn="ctr" defTabSz="864235">
                <a:defRPr/>
              </a:pPr>
              <a:t>2025年10月28日星期二</a:t>
            </a:fld>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3D238901-5126-1C81-30EE-2A1D48B4D812}"/>
              </a:ext>
            </a:extLst>
          </p:cNvPr>
          <p:cNvSpPr txBox="1"/>
          <p:nvPr/>
        </p:nvSpPr>
        <p:spPr>
          <a:xfrm>
            <a:off x="92764" y="6374296"/>
            <a:ext cx="3075189" cy="400110"/>
          </a:xfrm>
          <a:prstGeom prst="rect">
            <a:avLst/>
          </a:prstGeom>
          <a:noFill/>
        </p:spPr>
        <p:txBody>
          <a:bodyPr wrap="square" rtlCol="0">
            <a:spAutoFit/>
          </a:bodyPr>
          <a:lstStyle/>
          <a:p>
            <a:pPr algn="l"/>
            <a:r>
              <a:rPr lang="en-US" altLang="zh-CN" sz="2000" dirty="0">
                <a:solidFill>
                  <a:schemeClr val="bg1"/>
                </a:solidFill>
              </a:rPr>
              <a:t>PPT</a:t>
            </a:r>
            <a:r>
              <a:rPr lang="zh-CN" altLang="en-US" sz="2000" dirty="0">
                <a:solidFill>
                  <a:schemeClr val="bg1"/>
                </a:solidFill>
              </a:rPr>
              <a:t>贡献：马征、许志钦</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28353" y="962245"/>
            <a:ext cx="6159731" cy="465362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p:cNvSpPr>
            <a:spLocks noGrp="1"/>
          </p:cNvSpPr>
          <p:nvPr>
            <p:ph type="title"/>
          </p:nvPr>
        </p:nvSpPr>
        <p:spPr/>
        <p:txBody>
          <a:bodyPr/>
          <a:lstStyle/>
          <a:p>
            <a:r>
              <a:rPr lang="en-US" altLang="zh-CN" dirty="0"/>
              <a:t>Attention is all you need</a:t>
            </a:r>
            <a:r>
              <a:rPr lang="zh-CN" altLang="en-US" dirty="0"/>
              <a:t>！</a:t>
            </a:r>
          </a:p>
        </p:txBody>
      </p:sp>
      <p:sp>
        <p:nvSpPr>
          <p:cNvPr id="10" name="文本框 9"/>
          <p:cNvSpPr txBox="1"/>
          <p:nvPr/>
        </p:nvSpPr>
        <p:spPr>
          <a:xfrm>
            <a:off x="381243" y="962245"/>
            <a:ext cx="6106842" cy="3649845"/>
          </a:xfrm>
          <a:prstGeom prst="rect">
            <a:avLst/>
          </a:prstGeom>
          <a:noFill/>
        </p:spPr>
        <p:txBody>
          <a:bodyPr wrap="square" rtlCol="0">
            <a:spAutoFit/>
          </a:bodyPr>
          <a:lstStyle/>
          <a:p>
            <a:pPr>
              <a:lnSpc>
                <a:spcPct val="150000"/>
              </a:lnSpc>
            </a:pPr>
            <a:r>
              <a:rPr lang="en-US" altLang="zh-CN" sz="2400" b="1" dirty="0">
                <a:solidFill>
                  <a:schemeClr val="tx2"/>
                </a:solidFill>
                <a:latin typeface="微软雅黑" panose="020B0503020204020204" pitchFamily="34" charset="-122"/>
                <a:ea typeface="微软雅黑" panose="020B0503020204020204" pitchFamily="34" charset="-122"/>
              </a:rPr>
              <a:t>Why Transformer</a:t>
            </a:r>
            <a:r>
              <a:rPr lang="zh-CN" altLang="en-US" sz="2400" b="1" dirty="0">
                <a:solidFill>
                  <a:schemeClr val="tx2"/>
                </a:solidFill>
                <a:latin typeface="微软雅黑" panose="020B0503020204020204" pitchFamily="34" charset="-122"/>
                <a:ea typeface="微软雅黑" panose="020B0503020204020204" pitchFamily="34" charset="-122"/>
              </a:rPr>
              <a:t>？</a:t>
            </a:r>
            <a:endParaRPr lang="en-US" altLang="zh-CN" sz="2400" b="1" dirty="0">
              <a:solidFill>
                <a:schemeClr val="tx2"/>
              </a:solidFill>
              <a:latin typeface="微软雅黑" panose="020B0503020204020204" pitchFamily="34" charset="-122"/>
              <a:ea typeface="微软雅黑" panose="020B0503020204020204" pitchFamily="34" charset="-122"/>
            </a:endParaRPr>
          </a:p>
          <a:p>
            <a:pPr>
              <a:lnSpc>
                <a:spcPct val="150000"/>
              </a:lnSpc>
            </a:pPr>
            <a:r>
              <a:rPr lang="en-US" altLang="zh-CN" sz="1600" dirty="0">
                <a:solidFill>
                  <a:schemeClr val="tx2"/>
                </a:solidFill>
                <a:latin typeface="微软雅黑" panose="020B0503020204020204" pitchFamily="34" charset="-122"/>
                <a:ea typeface="微软雅黑" panose="020B0503020204020204" pitchFamily="34" charset="-122"/>
              </a:rPr>
              <a:t>Transformer</a:t>
            </a:r>
            <a:r>
              <a:rPr lang="en-US" altLang="zh-CN" sz="1600" baseline="30000" dirty="0">
                <a:solidFill>
                  <a:schemeClr val="tx2"/>
                </a:solidFill>
                <a:latin typeface="微软雅黑" panose="020B0503020204020204" pitchFamily="34" charset="-122"/>
                <a:ea typeface="微软雅黑" panose="020B0503020204020204" pitchFamily="34" charset="-122"/>
              </a:rPr>
              <a:t> [1]</a:t>
            </a:r>
            <a:r>
              <a:rPr lang="en-US" altLang="zh-CN" sz="1600" dirty="0">
                <a:solidFill>
                  <a:schemeClr val="tx2"/>
                </a:solidFill>
                <a:latin typeface="微软雅黑" panose="020B0503020204020204" pitchFamily="34" charset="-122"/>
                <a:ea typeface="微软雅黑" panose="020B0503020204020204" pitchFamily="34" charset="-122"/>
              </a:rPr>
              <a:t> </a:t>
            </a:r>
            <a:r>
              <a:rPr lang="zh-CN" altLang="en-US" sz="1600" dirty="0">
                <a:solidFill>
                  <a:schemeClr val="tx2"/>
                </a:solidFill>
                <a:latin typeface="微软雅黑" panose="020B0503020204020204" pitchFamily="34" charset="-122"/>
                <a:ea typeface="微软雅黑" panose="020B0503020204020204" pitchFamily="34" charset="-122"/>
              </a:rPr>
              <a:t>诞生之前，在自然语言处理中大都采用基于</a:t>
            </a:r>
            <a:r>
              <a:rPr lang="en-US" altLang="zh-CN" sz="1600" dirty="0">
                <a:solidFill>
                  <a:schemeClr val="tx2"/>
                </a:solidFill>
                <a:latin typeface="微软雅黑" panose="020B0503020204020204" pitchFamily="34" charset="-122"/>
                <a:ea typeface="微软雅黑" panose="020B0503020204020204" pitchFamily="34" charset="-122"/>
              </a:rPr>
              <a:t>RNN</a:t>
            </a:r>
            <a:r>
              <a:rPr lang="zh-CN" altLang="en-US" sz="1600" dirty="0">
                <a:solidFill>
                  <a:schemeClr val="tx2"/>
                </a:solidFill>
                <a:latin typeface="微软雅黑" panose="020B0503020204020204" pitchFamily="34" charset="-122"/>
                <a:ea typeface="微软雅黑" panose="020B0503020204020204" pitchFamily="34" charset="-122"/>
              </a:rPr>
              <a:t>的编码器</a:t>
            </a:r>
            <a:r>
              <a:rPr lang="en-US" altLang="zh-CN" sz="1600" dirty="0">
                <a:solidFill>
                  <a:schemeClr val="tx2"/>
                </a:solidFill>
                <a:latin typeface="微软雅黑" panose="020B0503020204020204" pitchFamily="34" charset="-122"/>
                <a:ea typeface="微软雅黑" panose="020B0503020204020204" pitchFamily="34" charset="-122"/>
              </a:rPr>
              <a:t>-</a:t>
            </a:r>
            <a:r>
              <a:rPr lang="zh-CN" altLang="en-US" sz="1600" dirty="0">
                <a:solidFill>
                  <a:schemeClr val="tx2"/>
                </a:solidFill>
                <a:latin typeface="微软雅黑" panose="020B0503020204020204" pitchFamily="34" charset="-122"/>
                <a:ea typeface="微软雅黑" panose="020B0503020204020204" pitchFamily="34" charset="-122"/>
              </a:rPr>
              <a:t>解码器（</a:t>
            </a:r>
            <a:r>
              <a:rPr lang="en-US" altLang="zh-CN" sz="1600" dirty="0">
                <a:solidFill>
                  <a:schemeClr val="tx2"/>
                </a:solidFill>
                <a:latin typeface="微软雅黑" panose="020B0503020204020204" pitchFamily="34" charset="-122"/>
                <a:ea typeface="微软雅黑" panose="020B0503020204020204" pitchFamily="34" charset="-122"/>
              </a:rPr>
              <a:t>Encoder-Decoder</a:t>
            </a:r>
            <a:r>
              <a:rPr lang="zh-CN" altLang="en-US" sz="1600" dirty="0">
                <a:solidFill>
                  <a:schemeClr val="tx2"/>
                </a:solidFill>
                <a:latin typeface="微软雅黑" panose="020B0503020204020204" pitchFamily="34" charset="-122"/>
                <a:ea typeface="微软雅黑" panose="020B0503020204020204" pitchFamily="34" charset="-122"/>
              </a:rPr>
              <a:t>）结构来完成序列翻译。</a:t>
            </a:r>
            <a:endParaRPr lang="en-US" altLang="zh-CN" sz="1600" dirty="0">
              <a:solidFill>
                <a:schemeClr val="tx2"/>
              </a:solidFill>
              <a:latin typeface="微软雅黑" panose="020B0503020204020204" pitchFamily="34" charset="-122"/>
              <a:ea typeface="微软雅黑" panose="020B0503020204020204" pitchFamily="34" charset="-122"/>
            </a:endParaRPr>
          </a:p>
          <a:p>
            <a:pPr>
              <a:lnSpc>
                <a:spcPct val="150000"/>
              </a:lnSpc>
            </a:pPr>
            <a:r>
              <a:rPr lang="en-US" altLang="zh-CN" b="1" dirty="0">
                <a:solidFill>
                  <a:schemeClr val="tx2"/>
                </a:solidFill>
                <a:latin typeface="微软雅黑" panose="020B0503020204020204" pitchFamily="34" charset="-122"/>
                <a:ea typeface="微软雅黑" panose="020B0503020204020204" pitchFamily="34" charset="-122"/>
              </a:rPr>
              <a:t>RNN</a:t>
            </a:r>
            <a:r>
              <a:rPr lang="zh-CN" altLang="en-US" b="1" dirty="0">
                <a:solidFill>
                  <a:schemeClr val="tx2"/>
                </a:solidFill>
                <a:latin typeface="微软雅黑" panose="020B0503020204020204" pitchFamily="34" charset="-122"/>
                <a:ea typeface="微软雅黑" panose="020B0503020204020204" pitchFamily="34" charset="-122"/>
              </a:rPr>
              <a:t>（</a:t>
            </a:r>
            <a:r>
              <a:rPr lang="en-US" altLang="zh-CN" b="1" dirty="0">
                <a:solidFill>
                  <a:schemeClr val="tx2"/>
                </a:solidFill>
                <a:latin typeface="微软雅黑" panose="020B0503020204020204" pitchFamily="34" charset="-122"/>
                <a:ea typeface="微软雅黑" panose="020B0503020204020204" pitchFamily="34" charset="-122"/>
              </a:rPr>
              <a:t>LSTM</a:t>
            </a:r>
            <a:r>
              <a:rPr lang="zh-CN" altLang="en-US" b="1" dirty="0">
                <a:solidFill>
                  <a:schemeClr val="tx2"/>
                </a:solidFill>
                <a:latin typeface="微软雅黑" panose="020B0503020204020204" pitchFamily="34" charset="-122"/>
                <a:ea typeface="微软雅黑" panose="020B0503020204020204" pitchFamily="34" charset="-122"/>
              </a:rPr>
              <a:t>）的不足：</a:t>
            </a:r>
            <a:endParaRPr lang="en-US" altLang="zh-CN" b="1" dirty="0">
              <a:solidFill>
                <a:schemeClr val="tx2"/>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r>
              <a:rPr lang="zh-CN" altLang="en-US" sz="1600" dirty="0">
                <a:solidFill>
                  <a:schemeClr val="tx2"/>
                </a:solidFill>
                <a:latin typeface="微软雅黑" panose="020B0503020204020204" pitchFamily="34" charset="-122"/>
                <a:ea typeface="微软雅黑" panose="020B0503020204020204" pitchFamily="34" charset="-122"/>
              </a:rPr>
              <a:t>难以捕获长期依赖关系（梯度消失和梯度爆炸仍存在）</a:t>
            </a:r>
            <a:endParaRPr lang="en-US" altLang="zh-CN" sz="1600" b="1" dirty="0">
              <a:solidFill>
                <a:schemeClr val="tx2"/>
              </a:solidFill>
              <a:latin typeface="微软雅黑" panose="020B0503020204020204" pitchFamily="34" charset="-122"/>
              <a:ea typeface="微软雅黑" panose="020B0503020204020204" pitchFamily="34" charset="-122"/>
            </a:endParaRPr>
          </a:p>
          <a:p>
            <a:pPr>
              <a:lnSpc>
                <a:spcPct val="150000"/>
              </a:lnSpc>
            </a:pPr>
            <a:r>
              <a:rPr lang="en-US" altLang="zh-CN" b="1" dirty="0">
                <a:solidFill>
                  <a:schemeClr val="tx2"/>
                </a:solidFill>
                <a:latin typeface="微软雅黑" panose="020B0503020204020204" pitchFamily="34" charset="-122"/>
                <a:ea typeface="微软雅黑" panose="020B0503020204020204" pitchFamily="34" charset="-122"/>
              </a:rPr>
              <a:t>Transformer</a:t>
            </a:r>
            <a:r>
              <a:rPr lang="zh-CN" altLang="en-US" b="1" dirty="0">
                <a:solidFill>
                  <a:schemeClr val="tx2"/>
                </a:solidFill>
                <a:latin typeface="微软雅黑" panose="020B0503020204020204" pitchFamily="34" charset="-122"/>
                <a:ea typeface="微软雅黑" panose="020B0503020204020204" pitchFamily="34" charset="-122"/>
              </a:rPr>
              <a:t>的优势：</a:t>
            </a:r>
            <a:endParaRPr lang="en-US" altLang="zh-CN" b="1" dirty="0">
              <a:solidFill>
                <a:schemeClr val="tx2"/>
              </a:solidFill>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p"/>
            </a:pPr>
            <a:r>
              <a:rPr lang="zh-CN" altLang="en-US" sz="1600" dirty="0">
                <a:solidFill>
                  <a:schemeClr val="tx2"/>
                </a:solidFill>
                <a:latin typeface="微软雅黑" panose="020B0503020204020204" pitchFamily="34" charset="-122"/>
                <a:ea typeface="微软雅黑" panose="020B0503020204020204" pitchFamily="34" charset="-122"/>
              </a:rPr>
              <a:t> 更好地捕捉全局语义关系（多头注意力机制）</a:t>
            </a:r>
            <a:endParaRPr lang="en-US" altLang="zh-CN" sz="1600" dirty="0">
              <a:solidFill>
                <a:schemeClr val="tx2"/>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r>
              <a:rPr lang="zh-CN" altLang="en-US" sz="1600" dirty="0">
                <a:solidFill>
                  <a:schemeClr val="tx2"/>
                </a:solidFill>
                <a:latin typeface="微软雅黑" panose="020B0503020204020204" pitchFamily="34" charset="-122"/>
                <a:ea typeface="微软雅黑" panose="020B0503020204020204" pitchFamily="34" charset="-122"/>
              </a:rPr>
              <a:t>更好地理解上下文（位置编码）</a:t>
            </a:r>
            <a:endParaRPr lang="en-US" altLang="zh-CN" sz="1600" dirty="0">
              <a:solidFill>
                <a:schemeClr val="tx2"/>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r>
              <a:rPr lang="zh-CN" altLang="en-US" sz="1600" dirty="0">
                <a:solidFill>
                  <a:schemeClr val="tx2"/>
                </a:solidFill>
                <a:latin typeface="微软雅黑" panose="020B0503020204020204" pitchFamily="34" charset="-122"/>
                <a:ea typeface="微软雅黑" panose="020B0503020204020204" pitchFamily="34" charset="-122"/>
              </a:rPr>
              <a:t>更快的计算效率！（结构使得高效的并行计算成为可能）</a:t>
            </a:r>
            <a:endParaRPr lang="en-US" altLang="zh-CN" sz="1600" b="1" dirty="0">
              <a:solidFill>
                <a:schemeClr val="tx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26998" y="6351998"/>
            <a:ext cx="10665179" cy="376834"/>
          </a:xfrm>
          <a:prstGeom prst="rect">
            <a:avLst/>
          </a:prstGeom>
          <a:noFill/>
        </p:spPr>
        <p:txBody>
          <a:bodyPr wrap="square" rtlCol="0">
            <a:spAutoFit/>
          </a:bodyPr>
          <a:lstStyle/>
          <a:p>
            <a:pPr algn="l">
              <a:lnSpc>
                <a:spcPct val="150000"/>
              </a:lnSpc>
            </a:pP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 Vaswani A, </a:t>
            </a:r>
            <a:r>
              <a:rPr lang="en-US" altLang="zh-CN" sz="1400"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Shazeer</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N, Parmar N, et al. Attention is all you need[J]. Advances in neural information processing systems, 2017, 30.</a:t>
            </a:r>
            <a:endParaRPr lang="en-US"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 name="图片 6"/>
          <p:cNvPicPr>
            <a:picLocks noChangeAspect="1"/>
          </p:cNvPicPr>
          <p:nvPr/>
        </p:nvPicPr>
        <p:blipFill>
          <a:blip r:embed="rId2">
            <a:clrChange>
              <a:clrFrom>
                <a:srgbClr val="FFFFFF"/>
              </a:clrFrom>
              <a:clrTo>
                <a:srgbClr val="FFFFFF">
                  <a:alpha val="0"/>
                </a:srgbClr>
              </a:clrTo>
            </a:clrChange>
          </a:blip>
          <a:stretch>
            <a:fillRect/>
          </a:stretch>
        </p:blipFill>
        <p:spPr>
          <a:xfrm>
            <a:off x="7211135" y="1050168"/>
            <a:ext cx="3922638" cy="448407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B8ED4-FBD0-1EC0-2BCB-C0D75AD11F6E}"/>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B69C71FE-6886-137F-3929-EC07BE1D82F0}"/>
              </a:ext>
            </a:extLst>
          </p:cNvPr>
          <p:cNvSpPr/>
          <p:nvPr/>
        </p:nvSpPr>
        <p:spPr>
          <a:xfrm>
            <a:off x="328353" y="962246"/>
            <a:ext cx="11380822" cy="382014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a:extLst>
              <a:ext uri="{FF2B5EF4-FFF2-40B4-BE49-F238E27FC236}">
                <a16:creationId xmlns:a16="http://schemas.microsoft.com/office/drawing/2014/main" id="{F9D0010A-F651-98DE-92D3-7BDA5E5AA511}"/>
              </a:ext>
            </a:extLst>
          </p:cNvPr>
          <p:cNvSpPr>
            <a:spLocks noGrp="1"/>
          </p:cNvSpPr>
          <p:nvPr>
            <p:ph type="title"/>
          </p:nvPr>
        </p:nvSpPr>
        <p:spPr/>
        <p:txBody>
          <a:bodyPr/>
          <a:lstStyle/>
          <a:p>
            <a:r>
              <a:rPr lang="zh-CN" altLang="en-US" dirty="0"/>
              <a:t>情景模拟</a:t>
            </a:r>
          </a:p>
        </p:txBody>
      </p:sp>
      <p:sp>
        <p:nvSpPr>
          <p:cNvPr id="10" name="文本框 9">
            <a:extLst>
              <a:ext uri="{FF2B5EF4-FFF2-40B4-BE49-F238E27FC236}">
                <a16:creationId xmlns:a16="http://schemas.microsoft.com/office/drawing/2014/main" id="{D4012319-0280-65F6-0B69-AE5C3F2634E9}"/>
              </a:ext>
            </a:extLst>
          </p:cNvPr>
          <p:cNvSpPr txBox="1"/>
          <p:nvPr/>
        </p:nvSpPr>
        <p:spPr>
          <a:xfrm>
            <a:off x="381000" y="1012121"/>
            <a:ext cx="11429516" cy="5208605"/>
          </a:xfrm>
          <a:prstGeom prst="rect">
            <a:avLst/>
          </a:prstGeom>
          <a:noFill/>
        </p:spPr>
        <p:txBody>
          <a:bodyPr wrap="square" rtlCol="0">
            <a:spAutoFit/>
          </a:bodyPr>
          <a:lstStyle/>
          <a:p>
            <a:pPr algn="l">
              <a:lnSpc>
                <a:spcPct val="150000"/>
              </a:lnSpc>
            </a:pPr>
            <a:r>
              <a:rPr lang="zh-CN" altLang="en-US" sz="2400" b="1" dirty="0">
                <a:solidFill>
                  <a:schemeClr val="tx2"/>
                </a:solidFill>
                <a:latin typeface="微软雅黑" panose="020B0503020204020204" pitchFamily="34" charset="-122"/>
                <a:ea typeface="微软雅黑" panose="020B0503020204020204" pitchFamily="34" charset="-122"/>
              </a:rPr>
              <a:t>问：在一个班级里，一位同学的成绩丢失了，如何在已知其他所有人的成绩的情况下获得他的大概成绩？</a:t>
            </a:r>
            <a:endParaRPr lang="en-US" altLang="zh-CN" sz="2400" b="1" dirty="0">
              <a:solidFill>
                <a:schemeClr val="tx2"/>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r>
              <a:rPr lang="zh-CN" altLang="en-US" sz="2000" dirty="0">
                <a:solidFill>
                  <a:schemeClr val="tx2"/>
                </a:solidFill>
                <a:latin typeface="微软雅黑" panose="020B0503020204020204" pitchFamily="34" charset="-122"/>
                <a:ea typeface="微软雅黑" panose="020B0503020204020204" pitchFamily="34" charset="-122"/>
              </a:rPr>
              <a:t>提取特征：</a:t>
            </a:r>
            <a:endParaRPr lang="en-US" altLang="zh-CN" sz="2000" dirty="0">
              <a:solidFill>
                <a:schemeClr val="tx2"/>
              </a:solidFill>
              <a:latin typeface="微软雅黑" panose="020B0503020204020204" pitchFamily="34" charset="-122"/>
              <a:ea typeface="微软雅黑" panose="020B0503020204020204" pitchFamily="34" charset="-122"/>
            </a:endParaRPr>
          </a:p>
          <a:p>
            <a:pPr marL="1257300" lvl="2" indent="-342900">
              <a:lnSpc>
                <a:spcPct val="150000"/>
              </a:lnSpc>
              <a:buFont typeface="Wingdings" panose="05000000000000000000" pitchFamily="2" charset="2"/>
              <a:buChar char="p"/>
            </a:pPr>
            <a:r>
              <a:rPr lang="zh-CN" altLang="en-US" sz="1600" dirty="0">
                <a:solidFill>
                  <a:schemeClr val="tx2"/>
                </a:solidFill>
                <a:latin typeface="微软雅黑" panose="020B0503020204020204" pitchFamily="34" charset="-122"/>
                <a:ea typeface="微软雅黑" panose="020B0503020204020204" pitchFamily="34" charset="-122"/>
              </a:rPr>
              <a:t>学习相关性特征（成绩好或坏）</a:t>
            </a:r>
            <a:endParaRPr lang="en-US" altLang="zh-CN" sz="1600" dirty="0">
              <a:solidFill>
                <a:schemeClr val="tx2"/>
              </a:solidFill>
              <a:latin typeface="微软雅黑" panose="020B0503020204020204" pitchFamily="34" charset="-122"/>
              <a:ea typeface="微软雅黑" panose="020B0503020204020204" pitchFamily="34" charset="-122"/>
            </a:endParaRPr>
          </a:p>
          <a:p>
            <a:pPr marL="1257300" lvl="2" indent="-342900">
              <a:lnSpc>
                <a:spcPct val="150000"/>
              </a:lnSpc>
              <a:buFont typeface="Wingdings" panose="05000000000000000000" pitchFamily="2" charset="2"/>
              <a:buChar char="p"/>
            </a:pPr>
            <a:r>
              <a:rPr lang="zh-CN" altLang="en-US" sz="1600" dirty="0">
                <a:solidFill>
                  <a:schemeClr val="tx2"/>
                </a:solidFill>
                <a:latin typeface="微软雅黑" panose="020B0503020204020204" pitchFamily="34" charset="-122"/>
                <a:ea typeface="微软雅黑" panose="020B0503020204020204" pitchFamily="34" charset="-122"/>
              </a:rPr>
              <a:t>学科相关性特征（擅长物理或擅长化学等）</a:t>
            </a:r>
            <a:endParaRPr lang="en-US" altLang="zh-CN" sz="1600" dirty="0">
              <a:solidFill>
                <a:schemeClr val="tx2"/>
              </a:solidFill>
              <a:latin typeface="微软雅黑" panose="020B0503020204020204" pitchFamily="34" charset="-122"/>
              <a:ea typeface="微软雅黑" panose="020B0503020204020204" pitchFamily="34" charset="-122"/>
            </a:endParaRPr>
          </a:p>
          <a:p>
            <a:pPr marL="1257300" lvl="2" indent="-342900">
              <a:lnSpc>
                <a:spcPct val="150000"/>
              </a:lnSpc>
              <a:buFont typeface="Wingdings" panose="05000000000000000000" pitchFamily="2" charset="2"/>
              <a:buChar char="p"/>
            </a:pPr>
            <a:r>
              <a:rPr lang="en-US" altLang="zh-CN" sz="1600" dirty="0">
                <a:solidFill>
                  <a:schemeClr val="tx2"/>
                </a:solidFill>
                <a:latin typeface="微软雅黑" panose="020B0503020204020204" pitchFamily="34" charset="-122"/>
                <a:ea typeface="微软雅黑" panose="020B0503020204020204" pitchFamily="34" charset="-122"/>
              </a:rPr>
              <a:t>……</a:t>
            </a:r>
          </a:p>
          <a:p>
            <a:pPr marL="800100" lvl="1" indent="-342900">
              <a:lnSpc>
                <a:spcPct val="150000"/>
              </a:lnSpc>
              <a:buFont typeface="Wingdings" panose="05000000000000000000" pitchFamily="2" charset="2"/>
              <a:buChar char="p"/>
            </a:pPr>
            <a:r>
              <a:rPr lang="zh-CN" altLang="en-US" sz="2000" dirty="0">
                <a:solidFill>
                  <a:schemeClr val="tx2"/>
                </a:solidFill>
                <a:latin typeface="微软雅黑" panose="020B0503020204020204" pitchFamily="34" charset="-122"/>
                <a:ea typeface="微软雅黑" panose="020B0503020204020204" pitchFamily="34" charset="-122"/>
              </a:rPr>
              <a:t>通过特征相似度整合信息：</a:t>
            </a:r>
            <a:endParaRPr lang="en-US" altLang="zh-CN" sz="2000" dirty="0">
              <a:solidFill>
                <a:schemeClr val="tx2"/>
              </a:solidFill>
              <a:latin typeface="微软雅黑" panose="020B0503020204020204" pitchFamily="34" charset="-122"/>
              <a:ea typeface="微软雅黑" panose="020B0503020204020204" pitchFamily="34" charset="-122"/>
            </a:endParaRPr>
          </a:p>
          <a:p>
            <a:pPr marL="1257300" lvl="2" indent="-342900">
              <a:lnSpc>
                <a:spcPct val="150000"/>
              </a:lnSpc>
              <a:buFont typeface="Wingdings" panose="05000000000000000000" pitchFamily="2" charset="2"/>
              <a:buChar char="p"/>
            </a:pPr>
            <a:r>
              <a:rPr lang="zh-CN" altLang="en-US" sz="1600" dirty="0">
                <a:solidFill>
                  <a:schemeClr val="tx2"/>
                </a:solidFill>
                <a:latin typeface="微软雅黑" panose="020B0503020204020204" pitchFamily="34" charset="-122"/>
                <a:ea typeface="微软雅黑" panose="020B0503020204020204" pitchFamily="34" charset="-122"/>
              </a:rPr>
              <a:t>对比相似同学成绩（在班级中寻找与该同学各项特征相似的其他同学，对比他们的成绩）</a:t>
            </a:r>
            <a:endParaRPr lang="en-US" altLang="zh-CN" sz="1600" dirty="0">
              <a:solidFill>
                <a:schemeClr val="tx2"/>
              </a:solidFill>
              <a:latin typeface="微软雅黑" panose="020B0503020204020204" pitchFamily="34" charset="-122"/>
              <a:ea typeface="微软雅黑" panose="020B0503020204020204" pitchFamily="34" charset="-122"/>
            </a:endParaRPr>
          </a:p>
          <a:p>
            <a:pPr marL="1257300" lvl="2" indent="-342900">
              <a:lnSpc>
                <a:spcPct val="150000"/>
              </a:lnSpc>
              <a:buFont typeface="Wingdings" panose="05000000000000000000" pitchFamily="2" charset="2"/>
              <a:buChar char="p"/>
            </a:pPr>
            <a:endParaRPr lang="en-US" altLang="zh-CN" sz="1600" dirty="0">
              <a:solidFill>
                <a:schemeClr val="tx2"/>
              </a:solidFill>
              <a:latin typeface="微软雅黑" panose="020B0503020204020204" pitchFamily="34" charset="-122"/>
              <a:ea typeface="微软雅黑" panose="020B0503020204020204" pitchFamily="34" charset="-122"/>
            </a:endParaRPr>
          </a:p>
          <a:p>
            <a:pPr>
              <a:lnSpc>
                <a:spcPct val="150000"/>
              </a:lnSpc>
            </a:pPr>
            <a:r>
              <a:rPr lang="zh-CN" altLang="en-US" b="1" dirty="0">
                <a:solidFill>
                  <a:schemeClr val="tx2"/>
                </a:solidFill>
                <a:latin typeface="微软雅黑" panose="020B0503020204020204" pitchFamily="34" charset="-122"/>
                <a:ea typeface="微软雅黑" panose="020B0503020204020204" pitchFamily="34" charset="-122"/>
              </a:rPr>
              <a:t>比如，找到在学科偏好、成绩稳定性以及课堂表现等方面都相似的同学，若这些同学的成绩集中在某个分数段，那么该同学丢失的成绩也</a:t>
            </a:r>
            <a:r>
              <a:rPr lang="zh-CN" altLang="en-US" b="1" dirty="0">
                <a:latin typeface="微软雅黑" panose="020B0503020204020204" pitchFamily="34" charset="-122"/>
                <a:ea typeface="微软雅黑" panose="020B0503020204020204" pitchFamily="34" charset="-122"/>
              </a:rPr>
              <a:t>极有可能在这个分数段内</a:t>
            </a:r>
            <a:r>
              <a:rPr lang="zh-CN" altLang="en-US" b="1" dirty="0">
                <a:solidFill>
                  <a:schemeClr val="tx2"/>
                </a:solidFill>
                <a:latin typeface="微软雅黑" panose="020B0503020204020204" pitchFamily="34" charset="-122"/>
                <a:ea typeface="微软雅黑" panose="020B0503020204020204" pitchFamily="34" charset="-122"/>
              </a:rPr>
              <a:t>。</a:t>
            </a:r>
            <a:endParaRPr lang="en-US" altLang="zh-CN" b="1" dirty="0">
              <a:solidFill>
                <a:schemeClr val="tx2"/>
              </a:solidFill>
              <a:latin typeface="微软雅黑" panose="020B0503020204020204" pitchFamily="34" charset="-122"/>
              <a:ea typeface="微软雅黑" panose="020B0503020204020204" pitchFamily="34" charset="-122"/>
            </a:endParaRPr>
          </a:p>
          <a:p>
            <a:pPr marL="1257300" lvl="2" indent="-342900">
              <a:lnSpc>
                <a:spcPct val="150000"/>
              </a:lnSpc>
              <a:buFont typeface="Wingdings" panose="05000000000000000000" pitchFamily="2" charset="2"/>
              <a:buChar char="p"/>
            </a:pPr>
            <a:endParaRPr lang="en-US" altLang="zh-CN"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07725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327799-6402-F328-03CA-2804E191083D}"/>
              </a:ext>
            </a:extLst>
          </p:cNvPr>
          <p:cNvSpPr>
            <a:spLocks noGrp="1"/>
          </p:cNvSpPr>
          <p:nvPr>
            <p:ph type="title"/>
          </p:nvPr>
        </p:nvSpPr>
        <p:spPr/>
        <p:txBody>
          <a:bodyPr/>
          <a:lstStyle/>
          <a:p>
            <a:r>
              <a:rPr lang="zh-CN" altLang="en-US" dirty="0"/>
              <a:t>情景模拟</a:t>
            </a:r>
          </a:p>
        </p:txBody>
      </p:sp>
      <p:graphicFrame>
        <p:nvGraphicFramePr>
          <p:cNvPr id="4" name="表格 3">
            <a:extLst>
              <a:ext uri="{FF2B5EF4-FFF2-40B4-BE49-F238E27FC236}">
                <a16:creationId xmlns:a16="http://schemas.microsoft.com/office/drawing/2014/main" id="{2BB8C34C-DA99-C435-7D1C-D468F0E08252}"/>
              </a:ext>
            </a:extLst>
          </p:cNvPr>
          <p:cNvGraphicFramePr>
            <a:graphicFrameLocks noGrp="1"/>
          </p:cNvGraphicFramePr>
          <p:nvPr>
            <p:extLst>
              <p:ext uri="{D42A27DB-BD31-4B8C-83A1-F6EECF244321}">
                <p14:modId xmlns:p14="http://schemas.microsoft.com/office/powerpoint/2010/main" val="537896423"/>
              </p:ext>
            </p:extLst>
          </p:nvPr>
        </p:nvGraphicFramePr>
        <p:xfrm>
          <a:off x="2031999" y="1546041"/>
          <a:ext cx="8128002" cy="2286000"/>
        </p:xfrm>
        <a:graphic>
          <a:graphicData uri="http://schemas.openxmlformats.org/drawingml/2006/table">
            <a:tbl>
              <a:tblPr firstRow="1" bandRow="1">
                <a:tableStyleId>{7E9639D4-E3E2-4D34-9284-5A2195B3D0D7}</a:tableStyleId>
              </a:tblPr>
              <a:tblGrid>
                <a:gridCol w="1354667">
                  <a:extLst>
                    <a:ext uri="{9D8B030D-6E8A-4147-A177-3AD203B41FA5}">
                      <a16:colId xmlns:a16="http://schemas.microsoft.com/office/drawing/2014/main" val="2516750132"/>
                    </a:ext>
                  </a:extLst>
                </a:gridCol>
                <a:gridCol w="1354667">
                  <a:extLst>
                    <a:ext uri="{9D8B030D-6E8A-4147-A177-3AD203B41FA5}">
                      <a16:colId xmlns:a16="http://schemas.microsoft.com/office/drawing/2014/main" val="69868326"/>
                    </a:ext>
                  </a:extLst>
                </a:gridCol>
                <a:gridCol w="1354667">
                  <a:extLst>
                    <a:ext uri="{9D8B030D-6E8A-4147-A177-3AD203B41FA5}">
                      <a16:colId xmlns:a16="http://schemas.microsoft.com/office/drawing/2014/main" val="3107138434"/>
                    </a:ext>
                  </a:extLst>
                </a:gridCol>
                <a:gridCol w="1354667">
                  <a:extLst>
                    <a:ext uri="{9D8B030D-6E8A-4147-A177-3AD203B41FA5}">
                      <a16:colId xmlns:a16="http://schemas.microsoft.com/office/drawing/2014/main" val="1711585782"/>
                    </a:ext>
                  </a:extLst>
                </a:gridCol>
                <a:gridCol w="1354667">
                  <a:extLst>
                    <a:ext uri="{9D8B030D-6E8A-4147-A177-3AD203B41FA5}">
                      <a16:colId xmlns:a16="http://schemas.microsoft.com/office/drawing/2014/main" val="4267124800"/>
                    </a:ext>
                  </a:extLst>
                </a:gridCol>
                <a:gridCol w="1354667">
                  <a:extLst>
                    <a:ext uri="{9D8B030D-6E8A-4147-A177-3AD203B41FA5}">
                      <a16:colId xmlns:a16="http://schemas.microsoft.com/office/drawing/2014/main" val="2116535047"/>
                    </a:ext>
                  </a:extLst>
                </a:gridCol>
              </a:tblGrid>
              <a:tr h="370840">
                <a:tc>
                  <a:txBody>
                    <a:bodyPr/>
                    <a:lstStyle/>
                    <a:p>
                      <a:endParaRPr lang="zh-CN" altLang="en-US" dirty="0"/>
                    </a:p>
                  </a:txBody>
                  <a:tcPr/>
                </a:tc>
                <a:tc>
                  <a:txBody>
                    <a:bodyPr/>
                    <a:lstStyle/>
                    <a:p>
                      <a:r>
                        <a:rPr lang="zh-CN" altLang="en-US" sz="2400" b="1" kern="1200" dirty="0">
                          <a:solidFill>
                            <a:schemeClr val="bg1"/>
                          </a:solidFill>
                          <a:latin typeface="微软雅黑" panose="020B0503020204020204" pitchFamily="34" charset="-122"/>
                          <a:ea typeface="微软雅黑" panose="020B0503020204020204" pitchFamily="34" charset="-122"/>
                        </a:rPr>
                        <a:t>语文</a:t>
                      </a:r>
                      <a:endParaRPr lang="zh-CN" altLang="en-US" sz="2400" b="1" kern="1200" dirty="0">
                        <a:solidFill>
                          <a:schemeClr val="bg1"/>
                        </a:solidFill>
                        <a:latin typeface="微软雅黑" panose="020B0503020204020204" pitchFamily="34" charset="-122"/>
                        <a:ea typeface="微软雅黑" panose="020B0503020204020204" pitchFamily="34" charset="-122"/>
                        <a:cs typeface="+mj-cs"/>
                      </a:endParaRPr>
                    </a:p>
                  </a:txBody>
                  <a:tcPr/>
                </a:tc>
                <a:tc>
                  <a:txBody>
                    <a:bodyPr/>
                    <a:lstStyle/>
                    <a:p>
                      <a:pPr marL="0" algn="l" defTabSz="1219200" rtl="0" eaLnBrk="1" latinLnBrk="0" hangingPunct="1"/>
                      <a:r>
                        <a:rPr lang="zh-CN" altLang="en-US" sz="2400" b="1" kern="1200" dirty="0">
                          <a:solidFill>
                            <a:schemeClr val="bg1"/>
                          </a:solidFill>
                          <a:latin typeface="微软雅黑" panose="020B0503020204020204" pitchFamily="34" charset="-122"/>
                          <a:ea typeface="微软雅黑" panose="020B0503020204020204" pitchFamily="34" charset="-122"/>
                          <a:cs typeface="+mn-cs"/>
                        </a:rPr>
                        <a:t>数学</a:t>
                      </a:r>
                    </a:p>
                  </a:txBody>
                  <a:tcPr/>
                </a:tc>
                <a:tc>
                  <a:txBody>
                    <a:bodyPr/>
                    <a:lstStyle/>
                    <a:p>
                      <a:pPr marL="0" algn="l" defTabSz="1219200" rtl="0" eaLnBrk="1" latinLnBrk="0" hangingPunct="1"/>
                      <a:r>
                        <a:rPr lang="zh-CN" altLang="en-US" sz="2400" b="1" kern="1200" dirty="0">
                          <a:solidFill>
                            <a:schemeClr val="bg1"/>
                          </a:solidFill>
                          <a:latin typeface="微软雅黑" panose="020B0503020204020204" pitchFamily="34" charset="-122"/>
                          <a:ea typeface="微软雅黑" panose="020B0503020204020204" pitchFamily="34" charset="-122"/>
                          <a:cs typeface="+mn-cs"/>
                        </a:rPr>
                        <a:t>英文</a:t>
                      </a:r>
                    </a:p>
                  </a:txBody>
                  <a:tcPr/>
                </a:tc>
                <a:tc>
                  <a:txBody>
                    <a:bodyPr/>
                    <a:lstStyle/>
                    <a:p>
                      <a:pPr marL="0" algn="l" defTabSz="1219200" rtl="0" eaLnBrk="1" latinLnBrk="0" hangingPunct="1"/>
                      <a:r>
                        <a:rPr lang="zh-CN" altLang="en-US" sz="2400" b="1" kern="1200" dirty="0">
                          <a:solidFill>
                            <a:schemeClr val="bg1"/>
                          </a:solidFill>
                          <a:latin typeface="微软雅黑" panose="020B0503020204020204" pitchFamily="34" charset="-122"/>
                          <a:ea typeface="微软雅黑" panose="020B0503020204020204" pitchFamily="34" charset="-122"/>
                          <a:cs typeface="+mn-cs"/>
                        </a:rPr>
                        <a:t>物理</a:t>
                      </a:r>
                    </a:p>
                  </a:txBody>
                  <a:tcPr/>
                </a:tc>
                <a:tc>
                  <a:txBody>
                    <a:bodyPr/>
                    <a:lstStyle/>
                    <a:p>
                      <a:pPr marL="0" algn="l" defTabSz="1219200" rtl="0" eaLnBrk="1" latinLnBrk="0" hangingPunct="1"/>
                      <a:r>
                        <a:rPr lang="zh-CN" altLang="en-US" sz="2400" b="1" kern="1200" dirty="0">
                          <a:solidFill>
                            <a:schemeClr val="bg1"/>
                          </a:solidFill>
                          <a:latin typeface="微软雅黑" panose="020B0503020204020204" pitchFamily="34" charset="-122"/>
                          <a:ea typeface="微软雅黑" panose="020B0503020204020204" pitchFamily="34" charset="-122"/>
                          <a:cs typeface="+mn-cs"/>
                        </a:rPr>
                        <a:t>化学</a:t>
                      </a:r>
                    </a:p>
                  </a:txBody>
                  <a:tcPr/>
                </a:tc>
                <a:extLst>
                  <a:ext uri="{0D108BD9-81ED-4DB2-BD59-A6C34878D82A}">
                    <a16:rowId xmlns:a16="http://schemas.microsoft.com/office/drawing/2014/main" val="3558869112"/>
                  </a:ext>
                </a:extLst>
              </a:tr>
              <a:tr h="370840">
                <a:tc>
                  <a:txBody>
                    <a:bodyPr/>
                    <a:lstStyle/>
                    <a:p>
                      <a:r>
                        <a:rPr lang="en-US" altLang="zh-CN" dirty="0">
                          <a:solidFill>
                            <a:schemeClr val="tx2"/>
                          </a:solidFill>
                        </a:rPr>
                        <a:t>A</a:t>
                      </a:r>
                      <a:endParaRPr lang="zh-CN" altLang="en-US" dirty="0">
                        <a:solidFill>
                          <a:schemeClr val="tx2"/>
                        </a:solidFill>
                      </a:endParaRPr>
                    </a:p>
                  </a:txBody>
                  <a:tcPr/>
                </a:tc>
                <a:tc>
                  <a:txBody>
                    <a:bodyPr/>
                    <a:lstStyle/>
                    <a:p>
                      <a:r>
                        <a:rPr lang="en-US" altLang="zh-CN" dirty="0">
                          <a:solidFill>
                            <a:schemeClr val="tx2"/>
                          </a:solidFill>
                        </a:rPr>
                        <a:t>0.48</a:t>
                      </a:r>
                      <a:endParaRPr lang="zh-CN" altLang="en-US" dirty="0">
                        <a:solidFill>
                          <a:schemeClr val="tx2"/>
                        </a:solidFill>
                      </a:endParaRPr>
                    </a:p>
                  </a:txBody>
                  <a:tcPr/>
                </a:tc>
                <a:tc>
                  <a:txBody>
                    <a:bodyPr/>
                    <a:lstStyle/>
                    <a:p>
                      <a:r>
                        <a:rPr lang="en-US" altLang="zh-CN" dirty="0">
                          <a:solidFill>
                            <a:schemeClr val="tx2"/>
                          </a:solidFill>
                        </a:rPr>
                        <a:t>0.5</a:t>
                      </a:r>
                      <a:endParaRPr lang="zh-CN" altLang="en-US" dirty="0">
                        <a:solidFill>
                          <a:schemeClr val="tx2"/>
                        </a:solidFill>
                      </a:endParaRPr>
                    </a:p>
                  </a:txBody>
                  <a:tcPr/>
                </a:tc>
                <a:tc>
                  <a:txBody>
                    <a:bodyPr/>
                    <a:lstStyle/>
                    <a:p>
                      <a:r>
                        <a:rPr lang="en-US" altLang="zh-CN" dirty="0">
                          <a:solidFill>
                            <a:schemeClr val="tx2"/>
                          </a:solidFill>
                        </a:rPr>
                        <a:t>0.45</a:t>
                      </a:r>
                      <a:endParaRPr lang="zh-CN" altLang="en-US" dirty="0">
                        <a:solidFill>
                          <a:schemeClr val="tx2"/>
                        </a:solidFill>
                      </a:endParaRPr>
                    </a:p>
                  </a:txBody>
                  <a:tcPr/>
                </a:tc>
                <a:tc>
                  <a:txBody>
                    <a:bodyPr/>
                    <a:lstStyle/>
                    <a:p>
                      <a:r>
                        <a:rPr lang="en-US" altLang="zh-CN" dirty="0">
                          <a:solidFill>
                            <a:schemeClr val="tx2"/>
                          </a:solidFill>
                        </a:rPr>
                        <a:t>0.48</a:t>
                      </a:r>
                      <a:endParaRPr lang="zh-CN" altLang="en-US" dirty="0">
                        <a:solidFill>
                          <a:schemeClr val="tx2"/>
                        </a:solidFill>
                      </a:endParaRPr>
                    </a:p>
                  </a:txBody>
                  <a:tcPr/>
                </a:tc>
                <a:tc>
                  <a:txBody>
                    <a:bodyPr/>
                    <a:lstStyle/>
                    <a:p>
                      <a:r>
                        <a:rPr lang="en-US" altLang="zh-CN" dirty="0">
                          <a:solidFill>
                            <a:schemeClr val="tx2"/>
                          </a:solidFill>
                        </a:rPr>
                        <a:t>0.5</a:t>
                      </a:r>
                      <a:endParaRPr lang="zh-CN" altLang="en-US" dirty="0">
                        <a:solidFill>
                          <a:schemeClr val="tx2"/>
                        </a:solidFill>
                      </a:endParaRPr>
                    </a:p>
                  </a:txBody>
                  <a:tcPr/>
                </a:tc>
                <a:extLst>
                  <a:ext uri="{0D108BD9-81ED-4DB2-BD59-A6C34878D82A}">
                    <a16:rowId xmlns:a16="http://schemas.microsoft.com/office/drawing/2014/main" val="1845841437"/>
                  </a:ext>
                </a:extLst>
              </a:tr>
              <a:tr h="370840">
                <a:tc>
                  <a:txBody>
                    <a:bodyPr/>
                    <a:lstStyle/>
                    <a:p>
                      <a:r>
                        <a:rPr lang="en-US" altLang="zh-CN" dirty="0">
                          <a:solidFill>
                            <a:schemeClr val="tx2"/>
                          </a:solidFill>
                        </a:rPr>
                        <a:t>B</a:t>
                      </a:r>
                      <a:endParaRPr lang="zh-CN" altLang="en-US" dirty="0">
                        <a:solidFill>
                          <a:schemeClr val="tx2"/>
                        </a:solidFill>
                      </a:endParaRPr>
                    </a:p>
                  </a:txBody>
                  <a:tcPr/>
                </a:tc>
                <a:tc>
                  <a:txBody>
                    <a:bodyPr/>
                    <a:lstStyle/>
                    <a:p>
                      <a:r>
                        <a:rPr lang="en-US" altLang="zh-CN" dirty="0">
                          <a:solidFill>
                            <a:schemeClr val="tx2"/>
                          </a:solidFill>
                        </a:rPr>
                        <a:t>-0.1</a:t>
                      </a:r>
                      <a:endParaRPr lang="zh-CN" altLang="en-US" dirty="0">
                        <a:solidFill>
                          <a:schemeClr val="tx2"/>
                        </a:solidFill>
                      </a:endParaRPr>
                    </a:p>
                  </a:txBody>
                  <a:tcPr/>
                </a:tc>
                <a:tc>
                  <a:txBody>
                    <a:bodyPr/>
                    <a:lstStyle/>
                    <a:p>
                      <a:r>
                        <a:rPr lang="en-US" altLang="zh-CN" dirty="0">
                          <a:solidFill>
                            <a:schemeClr val="tx2"/>
                          </a:solidFill>
                        </a:rPr>
                        <a:t>0.1</a:t>
                      </a:r>
                      <a:endParaRPr lang="zh-CN" altLang="en-US" dirty="0">
                        <a:solidFill>
                          <a:schemeClr val="tx2"/>
                        </a:solidFill>
                      </a:endParaRPr>
                    </a:p>
                  </a:txBody>
                  <a:tcPr/>
                </a:tc>
                <a:tc>
                  <a:txBody>
                    <a:bodyPr/>
                    <a:lstStyle/>
                    <a:p>
                      <a:r>
                        <a:rPr lang="en-US" altLang="zh-CN" dirty="0">
                          <a:solidFill>
                            <a:schemeClr val="tx2"/>
                          </a:solidFill>
                        </a:rPr>
                        <a:t>-0.3</a:t>
                      </a:r>
                      <a:endParaRPr lang="zh-CN" altLang="en-US" dirty="0">
                        <a:solidFill>
                          <a:schemeClr val="tx2"/>
                        </a:solidFill>
                      </a:endParaRPr>
                    </a:p>
                  </a:txBody>
                  <a:tcPr/>
                </a:tc>
                <a:tc>
                  <a:txBody>
                    <a:bodyPr/>
                    <a:lstStyle/>
                    <a:p>
                      <a:r>
                        <a:rPr lang="en-US" altLang="zh-CN" dirty="0">
                          <a:solidFill>
                            <a:schemeClr val="tx2"/>
                          </a:solidFill>
                        </a:rPr>
                        <a:t>0.1</a:t>
                      </a:r>
                      <a:endParaRPr lang="zh-CN" altLang="en-US" dirty="0">
                        <a:solidFill>
                          <a:schemeClr val="tx2"/>
                        </a:solidFill>
                      </a:endParaRPr>
                    </a:p>
                  </a:txBody>
                  <a:tcPr/>
                </a:tc>
                <a:tc>
                  <a:txBody>
                    <a:bodyPr/>
                    <a:lstStyle/>
                    <a:p>
                      <a:r>
                        <a:rPr lang="en-US" altLang="zh-CN" dirty="0">
                          <a:solidFill>
                            <a:schemeClr val="tx2"/>
                          </a:solidFill>
                        </a:rPr>
                        <a:t>0.1</a:t>
                      </a:r>
                      <a:endParaRPr lang="zh-CN" altLang="en-US" dirty="0">
                        <a:solidFill>
                          <a:schemeClr val="tx2"/>
                        </a:solidFill>
                      </a:endParaRPr>
                    </a:p>
                  </a:txBody>
                  <a:tcPr/>
                </a:tc>
                <a:extLst>
                  <a:ext uri="{0D108BD9-81ED-4DB2-BD59-A6C34878D82A}">
                    <a16:rowId xmlns:a16="http://schemas.microsoft.com/office/drawing/2014/main" val="1902133081"/>
                  </a:ext>
                </a:extLst>
              </a:tr>
              <a:tr h="370840">
                <a:tc>
                  <a:txBody>
                    <a:bodyPr/>
                    <a:lstStyle/>
                    <a:p>
                      <a:r>
                        <a:rPr lang="en-US" altLang="zh-CN" dirty="0">
                          <a:solidFill>
                            <a:schemeClr val="tx2"/>
                          </a:solidFill>
                        </a:rPr>
                        <a:t>C</a:t>
                      </a:r>
                      <a:endParaRPr lang="zh-CN" altLang="en-US" dirty="0">
                        <a:solidFill>
                          <a:schemeClr val="tx2"/>
                        </a:solidFill>
                      </a:endParaRPr>
                    </a:p>
                  </a:txBody>
                  <a:tcPr/>
                </a:tc>
                <a:tc>
                  <a:txBody>
                    <a:bodyPr/>
                    <a:lstStyle/>
                    <a:p>
                      <a:r>
                        <a:rPr lang="en-US" altLang="zh-CN" dirty="0">
                          <a:solidFill>
                            <a:schemeClr val="tx2"/>
                          </a:solidFill>
                        </a:rPr>
                        <a:t>0.1</a:t>
                      </a:r>
                      <a:endParaRPr lang="zh-CN" altLang="en-US" dirty="0">
                        <a:solidFill>
                          <a:schemeClr val="tx2"/>
                        </a:solidFill>
                      </a:endParaRPr>
                    </a:p>
                  </a:txBody>
                  <a:tcPr/>
                </a:tc>
                <a:tc>
                  <a:txBody>
                    <a:bodyPr/>
                    <a:lstStyle/>
                    <a:p>
                      <a:r>
                        <a:rPr lang="en-US" altLang="zh-CN" dirty="0">
                          <a:solidFill>
                            <a:schemeClr val="tx2"/>
                          </a:solidFill>
                        </a:rPr>
                        <a:t>0.5</a:t>
                      </a:r>
                      <a:endParaRPr lang="zh-CN" altLang="en-US" dirty="0">
                        <a:solidFill>
                          <a:schemeClr val="tx2"/>
                        </a:solidFill>
                      </a:endParaRPr>
                    </a:p>
                  </a:txBody>
                  <a:tcPr/>
                </a:tc>
                <a:tc>
                  <a:txBody>
                    <a:bodyPr/>
                    <a:lstStyle/>
                    <a:p>
                      <a:r>
                        <a:rPr lang="en-US" altLang="zh-CN" dirty="0">
                          <a:solidFill>
                            <a:schemeClr val="tx2"/>
                          </a:solidFill>
                        </a:rPr>
                        <a:t>0.1</a:t>
                      </a:r>
                      <a:endParaRPr lang="zh-CN" altLang="en-US" dirty="0">
                        <a:solidFill>
                          <a:schemeClr val="tx2"/>
                        </a:solidFill>
                      </a:endParaRPr>
                    </a:p>
                  </a:txBody>
                  <a:tcPr/>
                </a:tc>
                <a:tc>
                  <a:txBody>
                    <a:bodyPr/>
                    <a:lstStyle/>
                    <a:p>
                      <a:r>
                        <a:rPr lang="en-US" altLang="zh-CN" dirty="0">
                          <a:solidFill>
                            <a:schemeClr val="tx2"/>
                          </a:solidFill>
                        </a:rPr>
                        <a:t>0.5</a:t>
                      </a:r>
                      <a:endParaRPr lang="zh-CN" altLang="en-US" dirty="0">
                        <a:solidFill>
                          <a:schemeClr val="tx2"/>
                        </a:solidFill>
                      </a:endParaRPr>
                    </a:p>
                  </a:txBody>
                  <a:tcPr/>
                </a:tc>
                <a:tc>
                  <a:txBody>
                    <a:bodyPr/>
                    <a:lstStyle/>
                    <a:p>
                      <a:r>
                        <a:rPr lang="en-US" altLang="zh-CN" dirty="0">
                          <a:solidFill>
                            <a:schemeClr val="tx2"/>
                          </a:solidFill>
                        </a:rPr>
                        <a:t>0.5</a:t>
                      </a:r>
                      <a:endParaRPr lang="zh-CN" altLang="en-US" dirty="0">
                        <a:solidFill>
                          <a:schemeClr val="tx2"/>
                        </a:solidFill>
                      </a:endParaRPr>
                    </a:p>
                  </a:txBody>
                  <a:tcPr/>
                </a:tc>
                <a:extLst>
                  <a:ext uri="{0D108BD9-81ED-4DB2-BD59-A6C34878D82A}">
                    <a16:rowId xmlns:a16="http://schemas.microsoft.com/office/drawing/2014/main" val="3699934940"/>
                  </a:ext>
                </a:extLst>
              </a:tr>
              <a:tr h="370840">
                <a:tc>
                  <a:txBody>
                    <a:bodyPr/>
                    <a:lstStyle/>
                    <a:p>
                      <a:r>
                        <a:rPr lang="en-US" altLang="zh-CN" dirty="0">
                          <a:solidFill>
                            <a:schemeClr val="tx2"/>
                          </a:solidFill>
                        </a:rPr>
                        <a:t>D</a:t>
                      </a:r>
                      <a:endParaRPr lang="zh-CN" altLang="en-US" dirty="0">
                        <a:solidFill>
                          <a:schemeClr val="tx2"/>
                        </a:solidFill>
                      </a:endParaRPr>
                    </a:p>
                  </a:txBody>
                  <a:tcPr/>
                </a:tc>
                <a:tc>
                  <a:txBody>
                    <a:bodyPr/>
                    <a:lstStyle/>
                    <a:p>
                      <a:r>
                        <a:rPr lang="en-US" altLang="zh-CN" dirty="0">
                          <a:solidFill>
                            <a:schemeClr val="tx2"/>
                          </a:solidFill>
                        </a:rPr>
                        <a:t>0.44</a:t>
                      </a:r>
                      <a:endParaRPr lang="zh-CN" altLang="en-US" dirty="0">
                        <a:solidFill>
                          <a:schemeClr val="tx2"/>
                        </a:solidFill>
                      </a:endParaRPr>
                    </a:p>
                  </a:txBody>
                  <a:tcPr/>
                </a:tc>
                <a:tc>
                  <a:txBody>
                    <a:bodyPr/>
                    <a:lstStyle/>
                    <a:p>
                      <a:r>
                        <a:rPr lang="en-US" altLang="zh-CN" dirty="0">
                          <a:solidFill>
                            <a:schemeClr val="tx2"/>
                          </a:solidFill>
                        </a:rPr>
                        <a:t>0.45</a:t>
                      </a:r>
                      <a:endParaRPr lang="zh-CN" altLang="en-US" dirty="0">
                        <a:solidFill>
                          <a:schemeClr val="tx2"/>
                        </a:solidFill>
                      </a:endParaRPr>
                    </a:p>
                  </a:txBody>
                  <a:tcPr/>
                </a:tc>
                <a:tc>
                  <a:txBody>
                    <a:bodyPr/>
                    <a:lstStyle/>
                    <a:p>
                      <a:r>
                        <a:rPr lang="en-US" altLang="zh-CN" dirty="0">
                          <a:solidFill>
                            <a:schemeClr val="tx2"/>
                          </a:solidFill>
                        </a:rPr>
                        <a:t>0.48</a:t>
                      </a:r>
                      <a:endParaRPr lang="zh-CN" altLang="en-US" dirty="0">
                        <a:solidFill>
                          <a:schemeClr val="tx2"/>
                        </a:solidFill>
                      </a:endParaRPr>
                    </a:p>
                  </a:txBody>
                  <a:tcPr/>
                </a:tc>
                <a:tc>
                  <a:txBody>
                    <a:bodyPr/>
                    <a:lstStyle/>
                    <a:p>
                      <a:r>
                        <a:rPr lang="en-US" altLang="zh-CN" dirty="0">
                          <a:solidFill>
                            <a:schemeClr val="tx2"/>
                          </a:solidFill>
                        </a:rPr>
                        <a:t>0.49</a:t>
                      </a:r>
                      <a:endParaRPr lang="zh-CN" altLang="en-US" dirty="0">
                        <a:solidFill>
                          <a:schemeClr val="tx2"/>
                        </a:solidFill>
                      </a:endParaRPr>
                    </a:p>
                  </a:txBody>
                  <a:tcPr/>
                </a:tc>
                <a:tc>
                  <a:txBody>
                    <a:bodyPr/>
                    <a:lstStyle/>
                    <a:p>
                      <a:r>
                        <a:rPr lang="en-US" altLang="zh-CN" b="1" dirty="0">
                          <a:solidFill>
                            <a:schemeClr val="tx2"/>
                          </a:solidFill>
                        </a:rPr>
                        <a:t>?</a:t>
                      </a:r>
                    </a:p>
                  </a:txBody>
                  <a:tcPr/>
                </a:tc>
                <a:extLst>
                  <a:ext uri="{0D108BD9-81ED-4DB2-BD59-A6C34878D82A}">
                    <a16:rowId xmlns:a16="http://schemas.microsoft.com/office/drawing/2014/main" val="3813163313"/>
                  </a:ext>
                </a:extLst>
              </a:tr>
            </a:tbl>
          </a:graphicData>
        </a:graphic>
      </p:graphicFrame>
      <p:sp>
        <p:nvSpPr>
          <p:cNvPr id="7" name="文本框 6">
            <a:extLst>
              <a:ext uri="{FF2B5EF4-FFF2-40B4-BE49-F238E27FC236}">
                <a16:creationId xmlns:a16="http://schemas.microsoft.com/office/drawing/2014/main" id="{E1DAF8FF-7A4B-BE80-F6B5-54DE83193665}"/>
              </a:ext>
            </a:extLst>
          </p:cNvPr>
          <p:cNvSpPr txBox="1"/>
          <p:nvPr/>
        </p:nvSpPr>
        <p:spPr>
          <a:xfrm>
            <a:off x="4667202" y="4616103"/>
            <a:ext cx="3041650" cy="461665"/>
          </a:xfrm>
          <a:prstGeom prst="rect">
            <a:avLst/>
          </a:prstGeom>
          <a:noFill/>
        </p:spPr>
        <p:txBody>
          <a:bodyPr wrap="square" rtlCol="0">
            <a:spAutoFit/>
          </a:bodyPr>
          <a:lstStyle/>
          <a:p>
            <a:pPr algn="l"/>
            <a:r>
              <a:rPr lang="en-US" altLang="zh-CN" sz="2400" b="1" dirty="0">
                <a:solidFill>
                  <a:schemeClr val="tx2"/>
                </a:solidFill>
                <a:latin typeface="微软雅黑" panose="020B0503020204020204" pitchFamily="34" charset="-122"/>
                <a:ea typeface="微软雅黑" panose="020B0503020204020204" pitchFamily="34" charset="-122"/>
                <a:cs typeface="+mj-cs"/>
              </a:rPr>
              <a:t>D</a:t>
            </a:r>
            <a:r>
              <a:rPr lang="zh-CN" altLang="en-US" sz="2400" b="1" dirty="0">
                <a:solidFill>
                  <a:schemeClr val="tx2"/>
                </a:solidFill>
                <a:latin typeface="微软雅黑" panose="020B0503020204020204" pitchFamily="34" charset="-122"/>
                <a:ea typeface="微软雅黑" panose="020B0503020204020204" pitchFamily="34" charset="-122"/>
                <a:cs typeface="+mj-cs"/>
              </a:rPr>
              <a:t>的化学成绩是多少？</a:t>
            </a:r>
          </a:p>
        </p:txBody>
      </p:sp>
    </p:spTree>
    <p:extLst>
      <p:ext uri="{BB962C8B-B14F-4D97-AF65-F5344CB8AC3E}">
        <p14:creationId xmlns:p14="http://schemas.microsoft.com/office/powerpoint/2010/main" val="37339919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8E82D-878E-4459-CE5F-865553DAAF7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5876FA58-0AD8-0FCC-475E-48315769F861}"/>
              </a:ext>
            </a:extLst>
          </p:cNvPr>
          <p:cNvSpPr>
            <a:spLocks noGrp="1"/>
          </p:cNvSpPr>
          <p:nvPr>
            <p:ph type="title"/>
          </p:nvPr>
        </p:nvSpPr>
        <p:spPr/>
        <p:txBody>
          <a:bodyPr/>
          <a:lstStyle/>
          <a:p>
            <a:r>
              <a:rPr lang="zh-CN" altLang="en-US" dirty="0"/>
              <a:t>线性映射提取信息</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8151379B-5F48-FE5D-154F-7C1B56D9EFED}"/>
                  </a:ext>
                </a:extLst>
              </p:cNvPr>
              <p:cNvSpPr txBox="1"/>
              <p:nvPr/>
            </p:nvSpPr>
            <p:spPr>
              <a:xfrm>
                <a:off x="381000" y="1012121"/>
                <a:ext cx="11429516" cy="979884"/>
              </a:xfrm>
              <a:prstGeom prst="rect">
                <a:avLst/>
              </a:prstGeom>
              <a:noFill/>
            </p:spPr>
            <p:txBody>
              <a:bodyPr wrap="square" rtlCol="0">
                <a:spAutoFit/>
              </a:bodyPr>
              <a:lstStyle/>
              <a:p>
                <a:pPr marL="342900" indent="-342900">
                  <a:lnSpc>
                    <a:spcPct val="150000"/>
                  </a:lnSpc>
                  <a:buFont typeface="Wingdings" panose="05000000000000000000" pitchFamily="2" charset="2"/>
                  <a:buChar char="p"/>
                </a:pPr>
                <a:r>
                  <a:rPr lang="zh-CN" altLang="en-US" sz="2000" dirty="0">
                    <a:solidFill>
                      <a:schemeClr val="tx2"/>
                    </a:solidFill>
                    <a:latin typeface="微软雅黑" panose="020B0503020204020204" pitchFamily="34" charset="-122"/>
                    <a:ea typeface="微软雅黑" panose="020B0503020204020204" pitchFamily="34" charset="-122"/>
                  </a:rPr>
                  <a:t>以</a:t>
                </a:r>
                <a14:m>
                  <m:oMath xmlns:m="http://schemas.openxmlformats.org/officeDocument/2006/math">
                    <m:r>
                      <m:rPr>
                        <m:sty m:val="p"/>
                      </m:rPr>
                      <a:rPr lang="en-US" altLang="zh-CN" sz="2000" b="0" i="1">
                        <a:solidFill>
                          <a:schemeClr val="tx2"/>
                        </a:solidFill>
                        <a:latin typeface="Cambria Math" panose="02040503050406030204" pitchFamily="18" charset="0"/>
                        <a:ea typeface="微软雅黑" panose="020B0503020204020204" pitchFamily="34" charset="-122"/>
                      </a:rPr>
                      <m:t>Q</m:t>
                    </m:r>
                    <m:r>
                      <a:rPr lang="en-US" altLang="zh-CN" sz="2000" b="0">
                        <a:solidFill>
                          <a:schemeClr val="tx2"/>
                        </a:solidFill>
                        <a:latin typeface="Cambria Math" panose="02040503050406030204" pitchFamily="18" charset="0"/>
                        <a:ea typeface="微软雅黑" panose="020B0503020204020204" pitchFamily="34" charset="-122"/>
                      </a:rPr>
                      <m:t>=</m:t>
                    </m:r>
                    <m:r>
                      <m:rPr>
                        <m:sty m:val="p"/>
                      </m:rPr>
                      <a:rPr lang="en-US" altLang="zh-CN" sz="2000" b="0" i="1">
                        <a:solidFill>
                          <a:schemeClr val="tx2"/>
                        </a:solidFill>
                        <a:latin typeface="Cambria Math" panose="02040503050406030204" pitchFamily="18" charset="0"/>
                        <a:ea typeface="微软雅黑" panose="020B0503020204020204" pitchFamily="34" charset="-122"/>
                      </a:rPr>
                      <m:t>X</m:t>
                    </m:r>
                    <m:sSup>
                      <m:sSupPr>
                        <m:ctrlPr>
                          <a:rPr lang="en-US" altLang="zh-CN" sz="2000" i="1">
                            <a:solidFill>
                              <a:schemeClr val="tx2"/>
                            </a:solidFill>
                            <a:latin typeface="Cambria Math" panose="02040503050406030204" pitchFamily="18" charset="0"/>
                            <a:ea typeface="微软雅黑" panose="020B0503020204020204" pitchFamily="34" charset="-122"/>
                          </a:rPr>
                        </m:ctrlPr>
                      </m:sSupPr>
                      <m:e>
                        <m:r>
                          <m:rPr>
                            <m:sty m:val="p"/>
                          </m:rPr>
                          <a:rPr lang="en-US" altLang="zh-CN" sz="2000" b="0" i="1">
                            <a:solidFill>
                              <a:schemeClr val="tx2"/>
                            </a:solidFill>
                            <a:latin typeface="Cambria Math" panose="02040503050406030204" pitchFamily="18" charset="0"/>
                            <a:ea typeface="微软雅黑" panose="020B0503020204020204" pitchFamily="34" charset="-122"/>
                          </a:rPr>
                          <m:t>W</m:t>
                        </m:r>
                      </m:e>
                      <m:sup>
                        <m:r>
                          <m:rPr>
                            <m:sty m:val="p"/>
                          </m:rPr>
                          <a:rPr lang="en-US" altLang="zh-CN" sz="2000" b="0" i="1">
                            <a:solidFill>
                              <a:schemeClr val="tx2"/>
                            </a:solidFill>
                            <a:latin typeface="Cambria Math" panose="02040503050406030204" pitchFamily="18" charset="0"/>
                            <a:ea typeface="微软雅黑" panose="020B0503020204020204" pitchFamily="34" charset="-122"/>
                          </a:rPr>
                          <m:t>Q</m:t>
                        </m:r>
                      </m:sup>
                    </m:sSup>
                    <m:r>
                      <a:rPr lang="zh-CN" altLang="en-US" sz="2000" b="0">
                        <a:solidFill>
                          <a:schemeClr val="tx2"/>
                        </a:solidFill>
                        <a:latin typeface="Cambria Math" panose="02040503050406030204" pitchFamily="18" charset="0"/>
                        <a:ea typeface="微软雅黑" panose="020B0503020204020204" pitchFamily="34" charset="-122"/>
                      </a:rPr>
                      <m:t>为</m:t>
                    </m:r>
                  </m:oMath>
                </a14:m>
                <a:r>
                  <a:rPr lang="zh-CN" altLang="en-US" sz="2000" dirty="0">
                    <a:solidFill>
                      <a:schemeClr val="tx2"/>
                    </a:solidFill>
                    <a:latin typeface="微软雅黑" panose="020B0503020204020204" pitchFamily="34" charset="-122"/>
                    <a:ea typeface="微软雅黑" panose="020B0503020204020204" pitchFamily="34" charset="-122"/>
                  </a:rPr>
                  <a:t>例，如何提取灰色块的信息？</a:t>
                </a:r>
                <a:endParaRPr lang="en-US" altLang="zh-CN" sz="2000" dirty="0">
                  <a:solidFill>
                    <a:schemeClr val="tx2"/>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r>
                  <a:rPr lang="zh-CN" altLang="en-US" sz="2000" dirty="0">
                    <a:solidFill>
                      <a:schemeClr val="tx2"/>
                    </a:solidFill>
                    <a:latin typeface="微软雅黑" panose="020B0503020204020204" pitchFamily="34" charset="-122"/>
                    <a:ea typeface="微软雅黑" panose="020B0503020204020204" pitchFamily="34" charset="-122"/>
                  </a:rPr>
                  <a:t>令</a:t>
                </a:r>
                <a14:m>
                  <m:oMath xmlns:m="http://schemas.openxmlformats.org/officeDocument/2006/math">
                    <m:sSup>
                      <m:sSupPr>
                        <m:ctrlPr>
                          <a:rPr lang="en-US" altLang="zh-CN" sz="2000" i="1">
                            <a:solidFill>
                              <a:schemeClr val="tx2"/>
                            </a:solidFill>
                            <a:latin typeface="Cambria Math" panose="02040503050406030204" pitchFamily="18" charset="0"/>
                            <a:ea typeface="微软雅黑" panose="020B0503020204020204" pitchFamily="34" charset="-122"/>
                          </a:rPr>
                        </m:ctrlPr>
                      </m:sSupPr>
                      <m:e>
                        <m:r>
                          <m:rPr>
                            <m:sty m:val="p"/>
                          </m:rPr>
                          <a:rPr lang="en-US" altLang="zh-CN" sz="2000" i="1">
                            <a:solidFill>
                              <a:schemeClr val="tx2"/>
                            </a:solidFill>
                            <a:latin typeface="Cambria Math" panose="02040503050406030204" pitchFamily="18" charset="0"/>
                            <a:ea typeface="微软雅黑" panose="020B0503020204020204" pitchFamily="34" charset="-122"/>
                          </a:rPr>
                          <m:t>W</m:t>
                        </m:r>
                      </m:e>
                      <m:sup>
                        <m:r>
                          <m:rPr>
                            <m:sty m:val="p"/>
                          </m:rPr>
                          <a:rPr lang="en-US" altLang="zh-CN" sz="2000" i="1">
                            <a:solidFill>
                              <a:schemeClr val="tx2"/>
                            </a:solidFill>
                            <a:latin typeface="Cambria Math" panose="02040503050406030204" pitchFamily="18" charset="0"/>
                            <a:ea typeface="微软雅黑" panose="020B0503020204020204" pitchFamily="34" charset="-122"/>
                          </a:rPr>
                          <m:t>Q</m:t>
                        </m:r>
                      </m:sup>
                    </m:sSup>
                  </m:oMath>
                </a14:m>
                <a:r>
                  <a:rPr lang="zh-CN" altLang="en-US" sz="2000" dirty="0">
                    <a:solidFill>
                      <a:schemeClr val="tx2"/>
                    </a:solidFill>
                    <a:latin typeface="微软雅黑" panose="020B0503020204020204" pitchFamily="34" charset="-122"/>
                    <a:ea typeface="微软雅黑" panose="020B0503020204020204" pitchFamily="34" charset="-122"/>
                  </a:rPr>
                  <a:t>除了蓝色块外都为</a:t>
                </a:r>
                <a:r>
                  <a:rPr lang="en-US" altLang="zh-CN" sz="2000" dirty="0">
                    <a:solidFill>
                      <a:schemeClr val="tx2"/>
                    </a:solidFill>
                    <a:latin typeface="微软雅黑" panose="020B0503020204020204" pitchFamily="34" charset="-122"/>
                    <a:ea typeface="微软雅黑" panose="020B0503020204020204" pitchFamily="34" charset="-122"/>
                  </a:rPr>
                  <a:t>0</a:t>
                </a:r>
              </a:p>
            </p:txBody>
          </p:sp>
        </mc:Choice>
        <mc:Fallback xmlns="">
          <p:sp>
            <p:nvSpPr>
              <p:cNvPr id="10" name="文本框 9">
                <a:extLst>
                  <a:ext uri="{FF2B5EF4-FFF2-40B4-BE49-F238E27FC236}">
                    <a16:creationId xmlns:a16="http://schemas.microsoft.com/office/drawing/2014/main" id="{8151379B-5F48-FE5D-154F-7C1B56D9EFED}"/>
                  </a:ext>
                </a:extLst>
              </p:cNvPr>
              <p:cNvSpPr txBox="1">
                <a:spLocks noRot="1" noChangeAspect="1" noMove="1" noResize="1" noEditPoints="1" noAdjustHandles="1" noChangeArrowheads="1" noChangeShapeType="1" noTextEdit="1"/>
              </p:cNvSpPr>
              <p:nvPr/>
            </p:nvSpPr>
            <p:spPr>
              <a:xfrm>
                <a:off x="381000" y="1012121"/>
                <a:ext cx="11429516" cy="979884"/>
              </a:xfrm>
              <a:prstGeom prst="rect">
                <a:avLst/>
              </a:prstGeom>
              <a:blipFill>
                <a:blip r:embed="rId2"/>
                <a:stretch>
                  <a:fillRect l="-556" b="-11538"/>
                </a:stretch>
              </a:blipFill>
            </p:spPr>
            <p:txBody>
              <a:bodyPr/>
              <a:lstStyle/>
              <a:p>
                <a:r>
                  <a:rPr lang="zh-CN" altLang="en-US">
                    <a:noFill/>
                  </a:rPr>
                  <a:t> </a:t>
                </a:r>
              </a:p>
            </p:txBody>
          </p:sp>
        </mc:Fallback>
      </mc:AlternateContent>
      <p:grpSp>
        <p:nvGrpSpPr>
          <p:cNvPr id="26" name="组合 25">
            <a:extLst>
              <a:ext uri="{FF2B5EF4-FFF2-40B4-BE49-F238E27FC236}">
                <a16:creationId xmlns:a16="http://schemas.microsoft.com/office/drawing/2014/main" id="{29F5E1F8-EE22-F338-6A3A-F7E12DD0876A}"/>
              </a:ext>
            </a:extLst>
          </p:cNvPr>
          <p:cNvGrpSpPr/>
          <p:nvPr/>
        </p:nvGrpSpPr>
        <p:grpSpPr>
          <a:xfrm>
            <a:off x="3909799" y="3250301"/>
            <a:ext cx="2067516" cy="1769458"/>
            <a:chOff x="3363589" y="3250301"/>
            <a:chExt cx="2067516" cy="1769458"/>
          </a:xfrm>
        </p:grpSpPr>
        <p:sp>
          <p:nvSpPr>
            <p:cNvPr id="6" name="矩形 5">
              <a:extLst>
                <a:ext uri="{FF2B5EF4-FFF2-40B4-BE49-F238E27FC236}">
                  <a16:creationId xmlns:a16="http://schemas.microsoft.com/office/drawing/2014/main" id="{A4954588-C571-FB2C-152C-134DA035CDE4}"/>
                </a:ext>
              </a:extLst>
            </p:cNvPr>
            <p:cNvSpPr/>
            <p:nvPr/>
          </p:nvSpPr>
          <p:spPr>
            <a:xfrm>
              <a:off x="3363589" y="3250301"/>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962A5C35-C5F1-C015-5DB6-98B5E119BAAA}"/>
                </a:ext>
              </a:extLst>
            </p:cNvPr>
            <p:cNvSpPr/>
            <p:nvPr/>
          </p:nvSpPr>
          <p:spPr>
            <a:xfrm>
              <a:off x="3363589" y="3398655"/>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6361E25A-D891-64CB-15A5-3F9EDEF5A81C}"/>
                </a:ext>
              </a:extLst>
            </p:cNvPr>
            <p:cNvSpPr/>
            <p:nvPr/>
          </p:nvSpPr>
          <p:spPr>
            <a:xfrm>
              <a:off x="3363589" y="3547009"/>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0AAFA30F-168A-5382-2140-A193917D4832}"/>
                </a:ext>
              </a:extLst>
            </p:cNvPr>
            <p:cNvSpPr/>
            <p:nvPr/>
          </p:nvSpPr>
          <p:spPr>
            <a:xfrm>
              <a:off x="3363589" y="3716942"/>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1AE93D3F-C76D-E90A-E018-323ADD1D7E01}"/>
                </a:ext>
              </a:extLst>
            </p:cNvPr>
            <p:cNvSpPr/>
            <p:nvPr/>
          </p:nvSpPr>
          <p:spPr>
            <a:xfrm>
              <a:off x="3363589" y="3865296"/>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AFBCE729-76C8-A02D-E336-C99140C74B6B}"/>
                </a:ext>
              </a:extLst>
            </p:cNvPr>
            <p:cNvSpPr/>
            <p:nvPr/>
          </p:nvSpPr>
          <p:spPr>
            <a:xfrm>
              <a:off x="3363589" y="4013650"/>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2AC0C75E-64CA-0AFD-810C-8E7888488654}"/>
                </a:ext>
              </a:extLst>
            </p:cNvPr>
            <p:cNvSpPr/>
            <p:nvPr/>
          </p:nvSpPr>
          <p:spPr>
            <a:xfrm>
              <a:off x="3363589" y="4179536"/>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94D72C1D-DF07-6A37-60CB-A45F2159A329}"/>
                </a:ext>
              </a:extLst>
            </p:cNvPr>
            <p:cNvSpPr/>
            <p:nvPr/>
          </p:nvSpPr>
          <p:spPr>
            <a:xfrm>
              <a:off x="3363589" y="4327890"/>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2EDBEDA8-2EF5-264B-B718-48878714ECFF}"/>
                </a:ext>
              </a:extLst>
            </p:cNvPr>
            <p:cNvSpPr/>
            <p:nvPr/>
          </p:nvSpPr>
          <p:spPr>
            <a:xfrm>
              <a:off x="3363589" y="4476244"/>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BF543CE2-52F9-6B1E-5CC6-FB959579D7A5}"/>
                </a:ext>
              </a:extLst>
            </p:cNvPr>
            <p:cNvSpPr/>
            <p:nvPr/>
          </p:nvSpPr>
          <p:spPr>
            <a:xfrm>
              <a:off x="3363589" y="4634039"/>
              <a:ext cx="2067516" cy="89012"/>
            </a:xfrm>
            <a:prstGeom prst="rect">
              <a:avLst/>
            </a:prstGeom>
            <a:solidFill>
              <a:schemeClr val="bg2">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9CAB9737-A48D-A1DC-36E9-89C4F250D406}"/>
                </a:ext>
              </a:extLst>
            </p:cNvPr>
            <p:cNvSpPr/>
            <p:nvPr/>
          </p:nvSpPr>
          <p:spPr>
            <a:xfrm>
              <a:off x="3363589" y="4782393"/>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4C5A678B-42C9-687E-3B08-62AD38581228}"/>
                </a:ext>
              </a:extLst>
            </p:cNvPr>
            <p:cNvSpPr/>
            <p:nvPr/>
          </p:nvSpPr>
          <p:spPr>
            <a:xfrm>
              <a:off x="3363589" y="4930747"/>
              <a:ext cx="2067516" cy="8901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grpSp>
        <p:nvGrpSpPr>
          <p:cNvPr id="28" name="组合 27">
            <a:extLst>
              <a:ext uri="{FF2B5EF4-FFF2-40B4-BE49-F238E27FC236}">
                <a16:creationId xmlns:a16="http://schemas.microsoft.com/office/drawing/2014/main" id="{60FF5972-5E7F-2102-A642-D744887F7BED}"/>
              </a:ext>
            </a:extLst>
          </p:cNvPr>
          <p:cNvGrpSpPr/>
          <p:nvPr/>
        </p:nvGrpSpPr>
        <p:grpSpPr>
          <a:xfrm>
            <a:off x="1586037" y="3967792"/>
            <a:ext cx="2067516" cy="229275"/>
            <a:chOff x="1039827" y="3967792"/>
            <a:chExt cx="2067516" cy="229275"/>
          </a:xfrm>
        </p:grpSpPr>
        <p:sp>
          <p:nvSpPr>
            <p:cNvPr id="2" name="矩形 1">
              <a:extLst>
                <a:ext uri="{FF2B5EF4-FFF2-40B4-BE49-F238E27FC236}">
                  <a16:creationId xmlns:a16="http://schemas.microsoft.com/office/drawing/2014/main" id="{AA8FB965-3BB5-4077-8593-AD103A638687}"/>
                </a:ext>
              </a:extLst>
            </p:cNvPr>
            <p:cNvSpPr/>
            <p:nvPr/>
          </p:nvSpPr>
          <p:spPr>
            <a:xfrm>
              <a:off x="1039827" y="4046018"/>
              <a:ext cx="2067516" cy="89012"/>
            </a:xfrm>
            <a:prstGeom prst="rect">
              <a:avLst/>
            </a:prstGeom>
            <a:solidFill>
              <a:schemeClr val="tx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F2E639FA-3E68-A3FC-2E22-6BCE0D70E607}"/>
                </a:ext>
              </a:extLst>
            </p:cNvPr>
            <p:cNvSpPr/>
            <p:nvPr/>
          </p:nvSpPr>
          <p:spPr>
            <a:xfrm>
              <a:off x="2782313" y="3967792"/>
              <a:ext cx="118682" cy="229275"/>
            </a:xfrm>
            <a:prstGeom prst="rect">
              <a:avLst/>
            </a:prstGeom>
            <a:solidFill>
              <a:schemeClr val="bg1">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grpSp>
        <p:nvGrpSpPr>
          <p:cNvPr id="27" name="组合 26">
            <a:extLst>
              <a:ext uri="{FF2B5EF4-FFF2-40B4-BE49-F238E27FC236}">
                <a16:creationId xmlns:a16="http://schemas.microsoft.com/office/drawing/2014/main" id="{2F08E98E-84B2-DCA8-2B2F-E0FDFF6196A2}"/>
              </a:ext>
            </a:extLst>
          </p:cNvPr>
          <p:cNvGrpSpPr/>
          <p:nvPr/>
        </p:nvGrpSpPr>
        <p:grpSpPr>
          <a:xfrm>
            <a:off x="6642210" y="3967792"/>
            <a:ext cx="535424" cy="225900"/>
            <a:chOff x="6096000" y="3967792"/>
            <a:chExt cx="535424" cy="225900"/>
          </a:xfrm>
        </p:grpSpPr>
        <p:sp>
          <p:nvSpPr>
            <p:cNvPr id="21" name="矩形 20">
              <a:extLst>
                <a:ext uri="{FF2B5EF4-FFF2-40B4-BE49-F238E27FC236}">
                  <a16:creationId xmlns:a16="http://schemas.microsoft.com/office/drawing/2014/main" id="{4815EBE4-68B9-2A75-E1DB-AD6E18C37FDB}"/>
                </a:ext>
              </a:extLst>
            </p:cNvPr>
            <p:cNvSpPr/>
            <p:nvPr/>
          </p:nvSpPr>
          <p:spPr>
            <a:xfrm>
              <a:off x="6096000" y="3967792"/>
              <a:ext cx="535423" cy="49901"/>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solidFill>
                  <a:schemeClr val="tx2"/>
                </a:solidFill>
              </a:endParaRPr>
            </a:p>
          </p:txBody>
        </p:sp>
        <p:sp>
          <p:nvSpPr>
            <p:cNvPr id="22" name="矩形 21">
              <a:extLst>
                <a:ext uri="{FF2B5EF4-FFF2-40B4-BE49-F238E27FC236}">
                  <a16:creationId xmlns:a16="http://schemas.microsoft.com/office/drawing/2014/main" id="{D79B9176-D2EE-8315-7835-3E24DE098159}"/>
                </a:ext>
              </a:extLst>
            </p:cNvPr>
            <p:cNvSpPr/>
            <p:nvPr/>
          </p:nvSpPr>
          <p:spPr>
            <a:xfrm>
              <a:off x="6096001" y="4143791"/>
              <a:ext cx="535423" cy="49901"/>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solidFill>
                  <a:schemeClr val="tx2"/>
                </a:solidFill>
              </a:endParaRPr>
            </a:p>
          </p:txBody>
        </p:sp>
      </p:grpSp>
      <p:sp>
        <p:nvSpPr>
          <p:cNvPr id="23" name="矩形 22">
            <a:extLst>
              <a:ext uri="{FF2B5EF4-FFF2-40B4-BE49-F238E27FC236}">
                <a16:creationId xmlns:a16="http://schemas.microsoft.com/office/drawing/2014/main" id="{06E880BE-4054-10A1-6081-02283D74DEC5}"/>
              </a:ext>
            </a:extLst>
          </p:cNvPr>
          <p:cNvSpPr/>
          <p:nvPr/>
        </p:nvSpPr>
        <p:spPr>
          <a:xfrm>
            <a:off x="8009765" y="4046018"/>
            <a:ext cx="2067516" cy="89012"/>
          </a:xfrm>
          <a:prstGeom prst="rect">
            <a:avLst/>
          </a:prstGeom>
          <a:solidFill>
            <a:schemeClr val="bg2">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AE9D19F6-8956-8287-3D65-00F502D84BCD}"/>
                  </a:ext>
                </a:extLst>
              </p:cNvPr>
              <p:cNvSpPr txBox="1"/>
              <p:nvPr/>
            </p:nvSpPr>
            <p:spPr>
              <a:xfrm>
                <a:off x="2342644" y="5498538"/>
                <a:ext cx="394659" cy="400110"/>
              </a:xfrm>
              <a:prstGeom prst="rect">
                <a:avLst/>
              </a:prstGeom>
              <a:noFill/>
            </p:spPr>
            <p:txBody>
              <a:bodyPr wrap="none" rtlCol="0">
                <a:spAutoFit/>
              </a:bodyPr>
              <a:lstStyle/>
              <a:p>
                <a:pPr algn="l"/>
                <a14:m>
                  <m:oMathPara xmlns:m="http://schemas.openxmlformats.org/officeDocument/2006/math">
                    <m:oMathParaPr>
                      <m:jc m:val="centerGroup"/>
                    </m:oMathParaPr>
                    <m:oMath xmlns:m="http://schemas.openxmlformats.org/officeDocument/2006/math">
                      <m:r>
                        <m:rPr>
                          <m:sty m:val="p"/>
                        </m:rPr>
                        <a:rPr lang="en-US" altLang="zh-CN" sz="2000" b="0" i="0" smtClean="0">
                          <a:solidFill>
                            <a:schemeClr val="tx2"/>
                          </a:solidFill>
                          <a:latin typeface="Cambria Math" panose="02040503050406030204" pitchFamily="18" charset="0"/>
                        </a:rPr>
                        <m:t>X</m:t>
                      </m:r>
                    </m:oMath>
                  </m:oMathPara>
                </a14:m>
                <a:endParaRPr lang="zh-CN" altLang="en-US" sz="2000" dirty="0">
                  <a:solidFill>
                    <a:schemeClr val="tx2"/>
                  </a:solidFill>
                </a:endParaRPr>
              </a:p>
            </p:txBody>
          </p:sp>
        </mc:Choice>
        <mc:Fallback xmlns="">
          <p:sp>
            <p:nvSpPr>
              <p:cNvPr id="29" name="文本框 28">
                <a:extLst>
                  <a:ext uri="{FF2B5EF4-FFF2-40B4-BE49-F238E27FC236}">
                    <a16:creationId xmlns:a16="http://schemas.microsoft.com/office/drawing/2014/main" id="{AE9D19F6-8956-8287-3D65-00F502D84BCD}"/>
                  </a:ext>
                </a:extLst>
              </p:cNvPr>
              <p:cNvSpPr txBox="1">
                <a:spLocks noRot="1" noChangeAspect="1" noMove="1" noResize="1" noEditPoints="1" noAdjustHandles="1" noChangeArrowheads="1" noChangeShapeType="1" noTextEdit="1"/>
              </p:cNvSpPr>
              <p:nvPr/>
            </p:nvSpPr>
            <p:spPr>
              <a:xfrm>
                <a:off x="2342644" y="5498538"/>
                <a:ext cx="394659" cy="40011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8A5A4538-4168-6D66-8F38-69A55A230034}"/>
                  </a:ext>
                </a:extLst>
              </p:cNvPr>
              <p:cNvSpPr txBox="1"/>
              <p:nvPr/>
            </p:nvSpPr>
            <p:spPr>
              <a:xfrm>
                <a:off x="4746227" y="5498538"/>
                <a:ext cx="653962" cy="401135"/>
              </a:xfrm>
              <a:prstGeom prst="rect">
                <a:avLst/>
              </a:prstGeom>
              <a:noFill/>
            </p:spPr>
            <p:txBody>
              <a:bodyPr wrap="none" rtlCol="0">
                <a:spAutoFit/>
              </a:bodyPr>
              <a:lstStyle/>
              <a:p>
                <a:pPr algn="l"/>
                <a14:m>
                  <m:oMathPara xmlns:m="http://schemas.openxmlformats.org/officeDocument/2006/math">
                    <m:oMathParaPr>
                      <m:jc m:val="centerGroup"/>
                    </m:oMathParaPr>
                    <m:oMath xmlns:m="http://schemas.openxmlformats.org/officeDocument/2006/math">
                      <m:sSup>
                        <m:sSupPr>
                          <m:ctrlPr>
                            <a:rPr lang="en-US" altLang="zh-CN" sz="2000" b="0" i="1" smtClean="0">
                              <a:solidFill>
                                <a:schemeClr val="tx2"/>
                              </a:solidFill>
                              <a:latin typeface="Cambria Math" panose="02040503050406030204" pitchFamily="18" charset="0"/>
                            </a:rPr>
                          </m:ctrlPr>
                        </m:sSupPr>
                        <m:e>
                          <m:r>
                            <a:rPr lang="en-US" altLang="zh-CN" sz="2000" b="0" i="1" smtClean="0">
                              <a:solidFill>
                                <a:schemeClr val="tx2"/>
                              </a:solidFill>
                              <a:latin typeface="Cambria Math" panose="02040503050406030204" pitchFamily="18" charset="0"/>
                            </a:rPr>
                            <m:t>𝑊</m:t>
                          </m:r>
                        </m:e>
                        <m:sup>
                          <m:r>
                            <a:rPr lang="en-US" altLang="zh-CN" sz="2000" b="0" i="1" smtClean="0">
                              <a:solidFill>
                                <a:schemeClr val="tx2"/>
                              </a:solidFill>
                              <a:latin typeface="Cambria Math" panose="02040503050406030204" pitchFamily="18" charset="0"/>
                            </a:rPr>
                            <m:t>𝑄</m:t>
                          </m:r>
                        </m:sup>
                      </m:sSup>
                    </m:oMath>
                  </m:oMathPara>
                </a14:m>
                <a:endParaRPr lang="zh-CN" altLang="en-US" sz="2000" dirty="0">
                  <a:solidFill>
                    <a:schemeClr val="tx2"/>
                  </a:solidFill>
                </a:endParaRPr>
              </a:p>
            </p:txBody>
          </p:sp>
        </mc:Choice>
        <mc:Fallback xmlns="">
          <p:sp>
            <p:nvSpPr>
              <p:cNvPr id="30" name="文本框 29">
                <a:extLst>
                  <a:ext uri="{FF2B5EF4-FFF2-40B4-BE49-F238E27FC236}">
                    <a16:creationId xmlns:a16="http://schemas.microsoft.com/office/drawing/2014/main" id="{8A5A4538-4168-6D66-8F38-69A55A230034}"/>
                  </a:ext>
                </a:extLst>
              </p:cNvPr>
              <p:cNvSpPr txBox="1">
                <a:spLocks noRot="1" noChangeAspect="1" noMove="1" noResize="1" noEditPoints="1" noAdjustHandles="1" noChangeArrowheads="1" noChangeShapeType="1" noTextEdit="1"/>
              </p:cNvSpPr>
              <p:nvPr/>
            </p:nvSpPr>
            <p:spPr>
              <a:xfrm>
                <a:off x="4746227" y="5498538"/>
                <a:ext cx="653962" cy="40113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AA937BCA-F27D-0AA4-08E4-DDC9F2A6AB4B}"/>
                  </a:ext>
                </a:extLst>
              </p:cNvPr>
              <p:cNvSpPr txBox="1"/>
              <p:nvPr/>
            </p:nvSpPr>
            <p:spPr>
              <a:xfrm>
                <a:off x="8828816" y="5498538"/>
                <a:ext cx="429413" cy="400110"/>
              </a:xfrm>
              <a:prstGeom prst="rect">
                <a:avLst/>
              </a:prstGeom>
              <a:noFill/>
            </p:spPr>
            <p:txBody>
              <a:bodyPr wrap="none" rtlCol="0">
                <a:spAutoFit/>
              </a:bodyPr>
              <a:lstStyle/>
              <a:p>
                <a:pPr algn="l"/>
                <a14:m>
                  <m:oMathPara xmlns:m="http://schemas.openxmlformats.org/officeDocument/2006/math">
                    <m:oMathParaPr>
                      <m:jc m:val="centerGroup"/>
                    </m:oMathParaPr>
                    <m:oMath xmlns:m="http://schemas.openxmlformats.org/officeDocument/2006/math">
                      <m:r>
                        <a:rPr lang="en-US" altLang="zh-CN" sz="2000" b="0" i="1" smtClean="0">
                          <a:solidFill>
                            <a:schemeClr val="tx2"/>
                          </a:solidFill>
                          <a:latin typeface="Cambria Math" panose="02040503050406030204" pitchFamily="18" charset="0"/>
                        </a:rPr>
                        <m:t>𝑄</m:t>
                      </m:r>
                    </m:oMath>
                  </m:oMathPara>
                </a14:m>
                <a:endParaRPr lang="zh-CN" altLang="en-US" sz="2000" dirty="0">
                  <a:solidFill>
                    <a:schemeClr val="tx2"/>
                  </a:solidFill>
                </a:endParaRPr>
              </a:p>
            </p:txBody>
          </p:sp>
        </mc:Choice>
        <mc:Fallback xmlns="">
          <p:sp>
            <p:nvSpPr>
              <p:cNvPr id="31" name="文本框 30">
                <a:extLst>
                  <a:ext uri="{FF2B5EF4-FFF2-40B4-BE49-F238E27FC236}">
                    <a16:creationId xmlns:a16="http://schemas.microsoft.com/office/drawing/2014/main" id="{AA937BCA-F27D-0AA4-08E4-DDC9F2A6AB4B}"/>
                  </a:ext>
                </a:extLst>
              </p:cNvPr>
              <p:cNvSpPr txBox="1">
                <a:spLocks noRot="1" noChangeAspect="1" noMove="1" noResize="1" noEditPoints="1" noAdjustHandles="1" noChangeArrowheads="1" noChangeShapeType="1" noTextEdit="1"/>
              </p:cNvSpPr>
              <p:nvPr/>
            </p:nvSpPr>
            <p:spPr>
              <a:xfrm>
                <a:off x="8828816" y="5498538"/>
                <a:ext cx="429413" cy="400110"/>
              </a:xfrm>
              <a:prstGeom prst="rect">
                <a:avLst/>
              </a:prstGeom>
              <a:blipFill>
                <a:blip r:embed="rId5"/>
                <a:stretch>
                  <a:fillRect b="-7576"/>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19CD7F4D-2DA7-D959-916A-2E0506063898}"/>
              </a:ext>
            </a:extLst>
          </p:cNvPr>
          <p:cNvSpPr txBox="1"/>
          <p:nvPr/>
        </p:nvSpPr>
        <p:spPr>
          <a:xfrm>
            <a:off x="7414954" y="1379913"/>
            <a:ext cx="3183774" cy="400110"/>
          </a:xfrm>
          <a:prstGeom prst="rect">
            <a:avLst/>
          </a:prstGeom>
          <a:noFill/>
        </p:spPr>
        <p:txBody>
          <a:bodyPr wrap="square" rtlCol="0">
            <a:spAutoFit/>
          </a:bodyPr>
          <a:lstStyle/>
          <a:p>
            <a:pPr algn="l"/>
            <a:r>
              <a:rPr kumimoji="1" lang="zh-CN" altLang="en-US" sz="2000" dirty="0"/>
              <a:t>思考：怎么获取平均值？</a:t>
            </a:r>
          </a:p>
        </p:txBody>
      </p:sp>
    </p:spTree>
    <p:extLst>
      <p:ext uri="{BB962C8B-B14F-4D97-AF65-F5344CB8AC3E}">
        <p14:creationId xmlns:p14="http://schemas.microsoft.com/office/powerpoint/2010/main" val="1332845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9DF2C0-EEFB-B94A-EC2A-A755F32658C3}"/>
              </a:ext>
            </a:extLst>
          </p:cNvPr>
          <p:cNvSpPr>
            <a:spLocks noGrp="1"/>
          </p:cNvSpPr>
          <p:nvPr>
            <p:ph type="title"/>
          </p:nvPr>
        </p:nvSpPr>
        <p:spPr/>
        <p:txBody>
          <a:bodyPr/>
          <a:lstStyle/>
          <a:p>
            <a:r>
              <a:rPr lang="zh-CN" altLang="en-US" dirty="0"/>
              <a:t>情景模拟</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F8954F3A-38A1-F0DB-BD59-4C084A01B25B}"/>
                  </a:ext>
                </a:extLst>
              </p:cNvPr>
              <p:cNvSpPr txBox="1"/>
              <p:nvPr/>
            </p:nvSpPr>
            <p:spPr>
              <a:xfrm>
                <a:off x="381242" y="741477"/>
                <a:ext cx="9055100" cy="1553439"/>
              </a:xfrm>
              <a:prstGeom prst="rect">
                <a:avLst/>
              </a:prstGeom>
              <a:noFill/>
            </p:spPr>
            <p:txBody>
              <a:bodyPr wrap="square" rtlCol="0">
                <a:spAutoFit/>
              </a:bodyPr>
              <a:lstStyle/>
              <a:p>
                <a:r>
                  <a:rPr lang="zh-CN" altLang="en-US" sz="2000" dirty="0">
                    <a:solidFill>
                      <a:schemeClr val="tx2"/>
                    </a:solidFill>
                    <a:latin typeface="微软雅黑" panose="020B0503020204020204" pitchFamily="34" charset="-122"/>
                    <a:ea typeface="微软雅黑" panose="020B0503020204020204" pitchFamily="34" charset="-122"/>
                  </a:rPr>
                  <a:t>分析：</a:t>
                </a:r>
                <a14:m>
                  <m:oMath xmlns:m="http://schemas.openxmlformats.org/officeDocument/2006/math">
                    <m:r>
                      <a:rPr lang="en-US" altLang="zh-CN" sz="2000" b="0" i="1" smtClean="0">
                        <a:solidFill>
                          <a:schemeClr val="tx2"/>
                        </a:solidFill>
                        <a:latin typeface="Cambria Math" panose="02040503050406030204" pitchFamily="18" charset="0"/>
                      </a:rPr>
                      <m:t>𝑄𝑢𝑒𝑟</m:t>
                    </m:r>
                    <m:sSub>
                      <m:sSubPr>
                        <m:ctrlPr>
                          <a:rPr lang="en-US" altLang="zh-CN" sz="2000" b="0" i="1" smtClean="0">
                            <a:solidFill>
                              <a:schemeClr val="tx2"/>
                            </a:solidFill>
                            <a:latin typeface="Cambria Math" panose="02040503050406030204" pitchFamily="18" charset="0"/>
                          </a:rPr>
                        </m:ctrlPr>
                      </m:sSubPr>
                      <m:e>
                        <m:r>
                          <a:rPr lang="en-US" altLang="zh-CN" sz="2000" b="0" i="1" smtClean="0">
                            <a:solidFill>
                              <a:schemeClr val="tx2"/>
                            </a:solidFill>
                            <a:latin typeface="Cambria Math" panose="02040503050406030204" pitchFamily="18" charset="0"/>
                          </a:rPr>
                          <m:t>𝑦</m:t>
                        </m:r>
                      </m:e>
                      <m:sub>
                        <m:r>
                          <a:rPr lang="en-US" altLang="zh-CN" sz="2000" b="0" i="1" smtClean="0">
                            <a:solidFill>
                              <a:schemeClr val="tx2"/>
                            </a:solidFill>
                            <a:latin typeface="Cambria Math" panose="02040503050406030204" pitchFamily="18" charset="0"/>
                          </a:rPr>
                          <m:t>𝐷</m:t>
                        </m:r>
                      </m:sub>
                    </m:sSub>
                    <m:r>
                      <a:rPr lang="en-US" altLang="zh-CN" sz="2000" b="0" i="1" smtClean="0">
                        <a:solidFill>
                          <a:schemeClr val="tx2"/>
                        </a:solidFill>
                        <a:latin typeface="Cambria Math" panose="02040503050406030204" pitchFamily="18" charset="0"/>
                      </a:rPr>
                      <m:t>=</m:t>
                    </m:r>
                    <m:d>
                      <m:dPr>
                        <m:ctrlPr>
                          <a:rPr lang="en-US" altLang="zh-CN" sz="2000" b="0" i="1" smtClean="0">
                            <a:solidFill>
                              <a:schemeClr val="tx2"/>
                            </a:solidFill>
                            <a:latin typeface="Cambria Math" panose="02040503050406030204" pitchFamily="18" charset="0"/>
                          </a:rPr>
                        </m:ctrlPr>
                      </m:dPr>
                      <m:e>
                        <m:r>
                          <a:rPr lang="en-US" altLang="zh-CN" sz="2000" b="0" i="1" smtClean="0">
                            <a:solidFill>
                              <a:schemeClr val="tx2"/>
                            </a:solidFill>
                            <a:latin typeface="Cambria Math" panose="02040503050406030204" pitchFamily="18" charset="0"/>
                          </a:rPr>
                          <m:t>0.44,0.45,0.48,0.49,?</m:t>
                        </m:r>
                      </m:e>
                    </m:d>
                    <m:r>
                      <a:rPr lang="en-US" altLang="zh-CN" sz="2000" b="0" i="1" smtClean="0">
                        <a:solidFill>
                          <a:schemeClr val="tx2"/>
                        </a:solidFill>
                        <a:latin typeface="Cambria Math" panose="02040503050406030204" pitchFamily="18" charset="0"/>
                      </a:rPr>
                      <m:t>∗</m:t>
                    </m:r>
                    <m:d>
                      <m:dPr>
                        <m:ctrlPr>
                          <a:rPr lang="en-US" altLang="zh-CN" sz="2000" b="0" i="1" smtClean="0">
                            <a:solidFill>
                              <a:schemeClr val="tx2"/>
                            </a:solidFill>
                            <a:latin typeface="Cambria Math" panose="02040503050406030204" pitchFamily="18" charset="0"/>
                          </a:rPr>
                        </m:ctrlPr>
                      </m:dPr>
                      <m:e>
                        <m:eqArr>
                          <m:eqArrPr>
                            <m:ctrlPr>
                              <a:rPr lang="en-US" altLang="zh-CN" sz="2000" i="1">
                                <a:solidFill>
                                  <a:schemeClr val="tx2"/>
                                </a:solidFill>
                                <a:latin typeface="Cambria Math" panose="02040503050406030204" pitchFamily="18" charset="0"/>
                              </a:rPr>
                            </m:ctrlPr>
                          </m:eqArrPr>
                          <m:e>
                            <m:r>
                              <a:rPr lang="en-US" altLang="zh-CN" sz="2000" b="0" i="1" smtClean="0">
                                <a:solidFill>
                                  <a:schemeClr val="tx2"/>
                                </a:solidFill>
                                <a:latin typeface="Cambria Math" panose="02040503050406030204" pitchFamily="18" charset="0"/>
                              </a:rPr>
                              <m:t>1</m:t>
                            </m:r>
                          </m:e>
                          <m:e/>
                          <m:e>
                            <m:eqArr>
                              <m:eqArrPr>
                                <m:ctrlPr>
                                  <a:rPr lang="en-US" altLang="zh-CN" sz="2000" i="1">
                                    <a:solidFill>
                                      <a:schemeClr val="tx2"/>
                                    </a:solidFill>
                                    <a:latin typeface="Cambria Math" panose="02040503050406030204" pitchFamily="18" charset="0"/>
                                  </a:rPr>
                                </m:ctrlPr>
                              </m:eqArrPr>
                              <m:e/>
                              <m:e/>
                              <m:e/>
                            </m:eqArr>
                          </m:e>
                        </m:eqArr>
                        <m:eqArr>
                          <m:eqArrPr>
                            <m:ctrlPr>
                              <a:rPr lang="en-US" altLang="zh-CN" sz="2000" i="1">
                                <a:solidFill>
                                  <a:schemeClr val="tx2"/>
                                </a:solidFill>
                                <a:latin typeface="Cambria Math" panose="02040503050406030204" pitchFamily="18" charset="0"/>
                              </a:rPr>
                            </m:ctrlPr>
                          </m:eqArrPr>
                          <m:e/>
                          <m:e>
                            <m:r>
                              <a:rPr lang="en-US" altLang="zh-CN" sz="2000" b="0" i="1" smtClean="0">
                                <a:solidFill>
                                  <a:schemeClr val="tx2"/>
                                </a:solidFill>
                                <a:latin typeface="Cambria Math" panose="02040503050406030204" pitchFamily="18" charset="0"/>
                              </a:rPr>
                              <m:t>1</m:t>
                            </m:r>
                          </m:e>
                          <m:e>
                            <m:eqArr>
                              <m:eqArrPr>
                                <m:ctrlPr>
                                  <a:rPr lang="en-US" altLang="zh-CN" sz="2000" i="1">
                                    <a:solidFill>
                                      <a:schemeClr val="tx2"/>
                                    </a:solidFill>
                                    <a:latin typeface="Cambria Math" panose="02040503050406030204" pitchFamily="18" charset="0"/>
                                  </a:rPr>
                                </m:ctrlPr>
                              </m:eqArrPr>
                              <m:e/>
                              <m:e/>
                              <m:e/>
                            </m:eqArr>
                          </m:e>
                        </m:eqArr>
                        <m:eqArr>
                          <m:eqArrPr>
                            <m:ctrlPr>
                              <a:rPr lang="en-US" altLang="zh-CN" sz="2000" i="1">
                                <a:solidFill>
                                  <a:schemeClr val="tx2"/>
                                </a:solidFill>
                                <a:latin typeface="Cambria Math" panose="02040503050406030204" pitchFamily="18" charset="0"/>
                              </a:rPr>
                            </m:ctrlPr>
                          </m:eqArrPr>
                          <m:e/>
                          <m:e/>
                          <m:e>
                            <m:eqArr>
                              <m:eqArrPr>
                                <m:ctrlPr>
                                  <a:rPr lang="en-US" altLang="zh-CN" sz="2000" i="1">
                                    <a:solidFill>
                                      <a:schemeClr val="tx2"/>
                                    </a:solidFill>
                                    <a:latin typeface="Cambria Math" panose="02040503050406030204" pitchFamily="18" charset="0"/>
                                  </a:rPr>
                                </m:ctrlPr>
                              </m:eqArrPr>
                              <m:e>
                                <m:r>
                                  <a:rPr lang="en-US" altLang="zh-CN" sz="2000" b="0" i="1" smtClean="0">
                                    <a:solidFill>
                                      <a:schemeClr val="tx2"/>
                                    </a:solidFill>
                                    <a:latin typeface="Cambria Math" panose="02040503050406030204" pitchFamily="18" charset="0"/>
                                  </a:rPr>
                                  <m:t>1</m:t>
                                </m:r>
                              </m:e>
                              <m:e/>
                              <m:e/>
                            </m:eqArr>
                          </m:e>
                        </m:eqArr>
                        <m:eqArr>
                          <m:eqArrPr>
                            <m:ctrlPr>
                              <a:rPr lang="en-US" altLang="zh-CN" sz="2000" i="1">
                                <a:solidFill>
                                  <a:schemeClr val="tx2"/>
                                </a:solidFill>
                                <a:latin typeface="Cambria Math" panose="02040503050406030204" pitchFamily="18" charset="0"/>
                              </a:rPr>
                            </m:ctrlPr>
                          </m:eqArrPr>
                          <m:e/>
                          <m:e/>
                          <m:e>
                            <m:eqArr>
                              <m:eqArrPr>
                                <m:ctrlPr>
                                  <a:rPr lang="en-US" altLang="zh-CN" sz="2000" i="1">
                                    <a:solidFill>
                                      <a:schemeClr val="tx2"/>
                                    </a:solidFill>
                                    <a:latin typeface="Cambria Math" panose="02040503050406030204" pitchFamily="18" charset="0"/>
                                  </a:rPr>
                                </m:ctrlPr>
                              </m:eqArrPr>
                              <m:e/>
                              <m:e>
                                <m:r>
                                  <a:rPr lang="en-US" altLang="zh-CN" sz="2000" b="0" i="1" smtClean="0">
                                    <a:solidFill>
                                      <a:schemeClr val="tx2"/>
                                    </a:solidFill>
                                    <a:latin typeface="Cambria Math" panose="02040503050406030204" pitchFamily="18" charset="0"/>
                                  </a:rPr>
                                  <m:t>1</m:t>
                                </m:r>
                              </m:e>
                              <m:e/>
                            </m:eqArr>
                          </m:e>
                        </m:eqArr>
                      </m:e>
                    </m:d>
                    <m:r>
                      <a:rPr lang="en-US" altLang="zh-CN" sz="2000" b="0" i="0" smtClean="0">
                        <a:solidFill>
                          <a:schemeClr val="tx2"/>
                        </a:solidFill>
                        <a:latin typeface="Cambria Math" panose="02040503050406030204" pitchFamily="18" charset="0"/>
                      </a:rPr>
                      <m:t>=</m:t>
                    </m:r>
                    <m:d>
                      <m:dPr>
                        <m:ctrlPr>
                          <a:rPr lang="en-US" altLang="zh-CN" sz="2000" i="1">
                            <a:solidFill>
                              <a:schemeClr val="tx2"/>
                            </a:solidFill>
                            <a:latin typeface="Cambria Math" panose="02040503050406030204" pitchFamily="18" charset="0"/>
                          </a:rPr>
                        </m:ctrlPr>
                      </m:dPr>
                      <m:e>
                        <m:r>
                          <a:rPr lang="en-US" altLang="zh-CN" sz="2000" i="1">
                            <a:solidFill>
                              <a:schemeClr val="tx2"/>
                            </a:solidFill>
                            <a:latin typeface="Cambria Math" panose="02040503050406030204" pitchFamily="18" charset="0"/>
                          </a:rPr>
                          <m:t>0.44,0.45,0.48,0.49</m:t>
                        </m:r>
                      </m:e>
                    </m:d>
                  </m:oMath>
                </a14:m>
                <a:endParaRPr lang="zh-CN" altLang="en-US" sz="2000" dirty="0">
                  <a:latin typeface="微软雅黑" panose="020B0503020204020204" pitchFamily="34" charset="-122"/>
                  <a:ea typeface="微软雅黑" panose="020B0503020204020204" pitchFamily="34" charset="-122"/>
                </a:endParaRPr>
              </a:p>
            </p:txBody>
          </p:sp>
        </mc:Choice>
        <mc:Fallback xmlns="">
          <p:sp>
            <p:nvSpPr>
              <p:cNvPr id="8" name="文本框 7">
                <a:extLst>
                  <a:ext uri="{FF2B5EF4-FFF2-40B4-BE49-F238E27FC236}">
                    <a16:creationId xmlns:a16="http://schemas.microsoft.com/office/drawing/2014/main" id="{F8954F3A-38A1-F0DB-BD59-4C084A01B25B}"/>
                  </a:ext>
                </a:extLst>
              </p:cNvPr>
              <p:cNvSpPr txBox="1">
                <a:spLocks noRot="1" noChangeAspect="1" noMove="1" noResize="1" noEditPoints="1" noAdjustHandles="1" noChangeArrowheads="1" noChangeShapeType="1" noTextEdit="1"/>
              </p:cNvSpPr>
              <p:nvPr/>
            </p:nvSpPr>
            <p:spPr>
              <a:xfrm>
                <a:off x="381242" y="741477"/>
                <a:ext cx="9055100" cy="1553439"/>
              </a:xfrm>
              <a:prstGeom prst="rect">
                <a:avLst/>
              </a:prstGeom>
              <a:blipFill>
                <a:blip r:embed="rId3"/>
                <a:stretch>
                  <a:fillRect l="-7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A323D7D6-05C4-F767-5F79-ADEAAA8E5F22}"/>
                  </a:ext>
                </a:extLst>
              </p:cNvPr>
              <p:cNvSpPr txBox="1"/>
              <p:nvPr/>
            </p:nvSpPr>
            <p:spPr>
              <a:xfrm>
                <a:off x="381242" y="2269261"/>
                <a:ext cx="9055100" cy="1553439"/>
              </a:xfrm>
              <a:prstGeom prst="rect">
                <a:avLst/>
              </a:prstGeom>
              <a:noFill/>
            </p:spPr>
            <p:txBody>
              <a:bodyPr wrap="square" rtlCol="0">
                <a:spAutoFit/>
              </a:bodyPr>
              <a:lstStyle/>
              <a:p>
                <a:r>
                  <a:rPr lang="zh-CN" altLang="en-US" sz="2000" dirty="0">
                    <a:solidFill>
                      <a:schemeClr val="tx2"/>
                    </a:solidFill>
                    <a:latin typeface="微软雅黑" panose="020B0503020204020204" pitchFamily="34" charset="-122"/>
                    <a:ea typeface="微软雅黑" panose="020B0503020204020204" pitchFamily="34" charset="-122"/>
                  </a:rPr>
                  <a:t>分析</a:t>
                </a:r>
                <a:r>
                  <a:rPr lang="zh-CN" altLang="en-US" sz="2000" dirty="0">
                    <a:solidFill>
                      <a:schemeClr val="tx2"/>
                    </a:solidFill>
                  </a:rPr>
                  <a:t>：</a:t>
                </a:r>
                <a14:m>
                  <m:oMath xmlns:m="http://schemas.openxmlformats.org/officeDocument/2006/math">
                    <m:sSub>
                      <m:sSubPr>
                        <m:ctrlPr>
                          <a:rPr lang="en-US" altLang="zh-CN" sz="2000" b="0" i="1" smtClean="0">
                            <a:solidFill>
                              <a:schemeClr val="tx2"/>
                            </a:solidFill>
                            <a:latin typeface="Cambria Math" panose="02040503050406030204" pitchFamily="18" charset="0"/>
                          </a:rPr>
                        </m:ctrlPr>
                      </m:sSubPr>
                      <m:e>
                        <m:r>
                          <m:rPr>
                            <m:sty m:val="p"/>
                          </m:rPr>
                          <a:rPr lang="en-US" altLang="zh-CN" sz="2000" b="0" i="0" smtClean="0">
                            <a:solidFill>
                              <a:schemeClr val="tx2"/>
                            </a:solidFill>
                            <a:latin typeface="Cambria Math" panose="02040503050406030204" pitchFamily="18" charset="0"/>
                          </a:rPr>
                          <m:t>Key</m:t>
                        </m:r>
                      </m:e>
                      <m:sub>
                        <m:r>
                          <m:rPr>
                            <m:sty m:val="p"/>
                          </m:rPr>
                          <a:rPr lang="en-US" altLang="zh-CN" sz="2000" b="0" i="0" smtClean="0">
                            <a:solidFill>
                              <a:schemeClr val="tx2"/>
                            </a:solidFill>
                            <a:latin typeface="Cambria Math" panose="02040503050406030204" pitchFamily="18" charset="0"/>
                          </a:rPr>
                          <m:t>B</m:t>
                        </m:r>
                      </m:sub>
                    </m:sSub>
                    <m:r>
                      <a:rPr lang="en-US" altLang="zh-CN" sz="2000" b="0" i="1" smtClean="0">
                        <a:solidFill>
                          <a:schemeClr val="tx2"/>
                        </a:solidFill>
                        <a:latin typeface="Cambria Math" panose="02040503050406030204" pitchFamily="18" charset="0"/>
                      </a:rPr>
                      <m:t>=</m:t>
                    </m:r>
                    <m:d>
                      <m:dPr>
                        <m:ctrlPr>
                          <a:rPr lang="en-US" altLang="zh-CN" sz="2000" b="0" i="1" smtClean="0">
                            <a:solidFill>
                              <a:schemeClr val="tx2"/>
                            </a:solidFill>
                            <a:latin typeface="Cambria Math" panose="02040503050406030204" pitchFamily="18" charset="0"/>
                          </a:rPr>
                        </m:ctrlPr>
                      </m:dPr>
                      <m:e>
                        <m:r>
                          <a:rPr lang="en-US" altLang="zh-CN" sz="2000" b="0" i="1" smtClean="0">
                            <a:solidFill>
                              <a:schemeClr val="tx2"/>
                            </a:solidFill>
                            <a:latin typeface="Cambria Math" panose="02040503050406030204" pitchFamily="18" charset="0"/>
                          </a:rPr>
                          <m:t>−0.1,0.1,−0.3,0.1,0.1</m:t>
                        </m:r>
                      </m:e>
                    </m:d>
                    <m:r>
                      <a:rPr lang="en-US" altLang="zh-CN" sz="2000" b="0" i="1" smtClean="0">
                        <a:solidFill>
                          <a:schemeClr val="tx2"/>
                        </a:solidFill>
                        <a:latin typeface="Cambria Math" panose="02040503050406030204" pitchFamily="18" charset="0"/>
                      </a:rPr>
                      <m:t>∗</m:t>
                    </m:r>
                    <m:d>
                      <m:dPr>
                        <m:ctrlPr>
                          <a:rPr lang="en-US" altLang="zh-CN" sz="2000" b="0" i="1" smtClean="0">
                            <a:solidFill>
                              <a:schemeClr val="tx2"/>
                            </a:solidFill>
                            <a:latin typeface="Cambria Math" panose="02040503050406030204" pitchFamily="18" charset="0"/>
                          </a:rPr>
                        </m:ctrlPr>
                      </m:dPr>
                      <m:e>
                        <m:eqArr>
                          <m:eqArrPr>
                            <m:ctrlPr>
                              <a:rPr lang="en-US" altLang="zh-CN" sz="2000" i="1">
                                <a:solidFill>
                                  <a:schemeClr val="tx2"/>
                                </a:solidFill>
                                <a:latin typeface="Cambria Math" panose="02040503050406030204" pitchFamily="18" charset="0"/>
                              </a:rPr>
                            </m:ctrlPr>
                          </m:eqArrPr>
                          <m:e>
                            <m:r>
                              <a:rPr lang="en-US" altLang="zh-CN" sz="2000" b="0" i="1" smtClean="0">
                                <a:solidFill>
                                  <a:schemeClr val="tx2"/>
                                </a:solidFill>
                                <a:latin typeface="Cambria Math" panose="02040503050406030204" pitchFamily="18" charset="0"/>
                              </a:rPr>
                              <m:t>1</m:t>
                            </m:r>
                          </m:e>
                          <m:e/>
                          <m:e>
                            <m:eqArr>
                              <m:eqArrPr>
                                <m:ctrlPr>
                                  <a:rPr lang="en-US" altLang="zh-CN" sz="2000" i="1">
                                    <a:solidFill>
                                      <a:schemeClr val="tx2"/>
                                    </a:solidFill>
                                    <a:latin typeface="Cambria Math" panose="02040503050406030204" pitchFamily="18" charset="0"/>
                                  </a:rPr>
                                </m:ctrlPr>
                              </m:eqArrPr>
                              <m:e/>
                              <m:e/>
                              <m:e/>
                            </m:eqArr>
                          </m:e>
                        </m:eqArr>
                        <m:eqArr>
                          <m:eqArrPr>
                            <m:ctrlPr>
                              <a:rPr lang="en-US" altLang="zh-CN" sz="2000" i="1">
                                <a:solidFill>
                                  <a:schemeClr val="tx2"/>
                                </a:solidFill>
                                <a:latin typeface="Cambria Math" panose="02040503050406030204" pitchFamily="18" charset="0"/>
                              </a:rPr>
                            </m:ctrlPr>
                          </m:eqArrPr>
                          <m:e/>
                          <m:e>
                            <m:r>
                              <a:rPr lang="en-US" altLang="zh-CN" sz="2000" b="0" i="1" smtClean="0">
                                <a:solidFill>
                                  <a:schemeClr val="tx2"/>
                                </a:solidFill>
                                <a:latin typeface="Cambria Math" panose="02040503050406030204" pitchFamily="18" charset="0"/>
                              </a:rPr>
                              <m:t>1</m:t>
                            </m:r>
                          </m:e>
                          <m:e>
                            <m:eqArr>
                              <m:eqArrPr>
                                <m:ctrlPr>
                                  <a:rPr lang="en-US" altLang="zh-CN" sz="2000" i="1">
                                    <a:solidFill>
                                      <a:schemeClr val="tx2"/>
                                    </a:solidFill>
                                    <a:latin typeface="Cambria Math" panose="02040503050406030204" pitchFamily="18" charset="0"/>
                                  </a:rPr>
                                </m:ctrlPr>
                              </m:eqArrPr>
                              <m:e/>
                              <m:e/>
                              <m:e/>
                            </m:eqArr>
                          </m:e>
                        </m:eqArr>
                        <m:eqArr>
                          <m:eqArrPr>
                            <m:ctrlPr>
                              <a:rPr lang="en-US" altLang="zh-CN" sz="2000" i="1">
                                <a:solidFill>
                                  <a:schemeClr val="tx2"/>
                                </a:solidFill>
                                <a:latin typeface="Cambria Math" panose="02040503050406030204" pitchFamily="18" charset="0"/>
                              </a:rPr>
                            </m:ctrlPr>
                          </m:eqArrPr>
                          <m:e/>
                          <m:e/>
                          <m:e>
                            <m:eqArr>
                              <m:eqArrPr>
                                <m:ctrlPr>
                                  <a:rPr lang="en-US" altLang="zh-CN" sz="2000" i="1">
                                    <a:solidFill>
                                      <a:schemeClr val="tx2"/>
                                    </a:solidFill>
                                    <a:latin typeface="Cambria Math" panose="02040503050406030204" pitchFamily="18" charset="0"/>
                                  </a:rPr>
                                </m:ctrlPr>
                              </m:eqArrPr>
                              <m:e>
                                <m:r>
                                  <a:rPr lang="en-US" altLang="zh-CN" sz="2000" b="0" i="1" smtClean="0">
                                    <a:solidFill>
                                      <a:schemeClr val="tx2"/>
                                    </a:solidFill>
                                    <a:latin typeface="Cambria Math" panose="02040503050406030204" pitchFamily="18" charset="0"/>
                                  </a:rPr>
                                  <m:t>1</m:t>
                                </m:r>
                              </m:e>
                              <m:e/>
                              <m:e/>
                            </m:eqArr>
                          </m:e>
                        </m:eqArr>
                        <m:eqArr>
                          <m:eqArrPr>
                            <m:ctrlPr>
                              <a:rPr lang="en-US" altLang="zh-CN" sz="2000" i="1">
                                <a:solidFill>
                                  <a:schemeClr val="tx2"/>
                                </a:solidFill>
                                <a:latin typeface="Cambria Math" panose="02040503050406030204" pitchFamily="18" charset="0"/>
                              </a:rPr>
                            </m:ctrlPr>
                          </m:eqArrPr>
                          <m:e/>
                          <m:e/>
                          <m:e>
                            <m:eqArr>
                              <m:eqArrPr>
                                <m:ctrlPr>
                                  <a:rPr lang="en-US" altLang="zh-CN" sz="2000" i="1">
                                    <a:solidFill>
                                      <a:schemeClr val="tx2"/>
                                    </a:solidFill>
                                    <a:latin typeface="Cambria Math" panose="02040503050406030204" pitchFamily="18" charset="0"/>
                                  </a:rPr>
                                </m:ctrlPr>
                              </m:eqArrPr>
                              <m:e/>
                              <m:e>
                                <m:r>
                                  <a:rPr lang="en-US" altLang="zh-CN" sz="2000" b="0" i="1" smtClean="0">
                                    <a:solidFill>
                                      <a:schemeClr val="tx2"/>
                                    </a:solidFill>
                                    <a:latin typeface="Cambria Math" panose="02040503050406030204" pitchFamily="18" charset="0"/>
                                  </a:rPr>
                                  <m:t>1</m:t>
                                </m:r>
                              </m:e>
                              <m:e/>
                            </m:eqArr>
                          </m:e>
                        </m:eqArr>
                      </m:e>
                    </m:d>
                    <m:r>
                      <a:rPr lang="en-US" altLang="zh-CN" sz="2000" b="0" i="0" smtClean="0">
                        <a:solidFill>
                          <a:schemeClr val="tx2"/>
                        </a:solidFill>
                        <a:latin typeface="Cambria Math" panose="02040503050406030204" pitchFamily="18" charset="0"/>
                      </a:rPr>
                      <m:t>=</m:t>
                    </m:r>
                    <m:d>
                      <m:dPr>
                        <m:ctrlPr>
                          <a:rPr lang="en-US" altLang="zh-CN" sz="2000" i="1">
                            <a:solidFill>
                              <a:schemeClr val="tx2"/>
                            </a:solidFill>
                            <a:latin typeface="Cambria Math" panose="02040503050406030204" pitchFamily="18" charset="0"/>
                          </a:rPr>
                        </m:ctrlPr>
                      </m:dPr>
                      <m:e>
                        <m:r>
                          <a:rPr lang="en-US" altLang="zh-CN" sz="2000" i="1">
                            <a:solidFill>
                              <a:schemeClr val="tx2"/>
                            </a:solidFill>
                            <a:latin typeface="Cambria Math" panose="02040503050406030204" pitchFamily="18" charset="0"/>
                          </a:rPr>
                          <m:t>−0.1,0.1,−0.3,0.1</m:t>
                        </m:r>
                      </m:e>
                    </m:d>
                  </m:oMath>
                </a14:m>
                <a:endParaRPr lang="zh-CN" altLang="en-US" sz="2000" dirty="0">
                  <a:solidFill>
                    <a:schemeClr val="tx2"/>
                  </a:solidFill>
                </a:endParaRPr>
              </a:p>
            </p:txBody>
          </p:sp>
        </mc:Choice>
        <mc:Fallback xmlns="">
          <p:sp>
            <p:nvSpPr>
              <p:cNvPr id="11" name="文本框 10">
                <a:extLst>
                  <a:ext uri="{FF2B5EF4-FFF2-40B4-BE49-F238E27FC236}">
                    <a16:creationId xmlns:a16="http://schemas.microsoft.com/office/drawing/2014/main" id="{A323D7D6-05C4-F767-5F79-ADEAAA8E5F22}"/>
                  </a:ext>
                </a:extLst>
              </p:cNvPr>
              <p:cNvSpPr txBox="1">
                <a:spLocks noRot="1" noChangeAspect="1" noMove="1" noResize="1" noEditPoints="1" noAdjustHandles="1" noChangeArrowheads="1" noChangeShapeType="1" noTextEdit="1"/>
              </p:cNvSpPr>
              <p:nvPr/>
            </p:nvSpPr>
            <p:spPr>
              <a:xfrm>
                <a:off x="381242" y="2269261"/>
                <a:ext cx="9055100" cy="1553439"/>
              </a:xfrm>
              <a:prstGeom prst="rect">
                <a:avLst/>
              </a:prstGeom>
              <a:blipFill>
                <a:blip r:embed="rId4"/>
                <a:stretch>
                  <a:fillRect l="-7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4B13841-DB5C-DE9A-7275-7811823C6C85}"/>
                  </a:ext>
                </a:extLst>
              </p:cNvPr>
              <p:cNvSpPr txBox="1"/>
              <p:nvPr/>
            </p:nvSpPr>
            <p:spPr>
              <a:xfrm>
                <a:off x="432042" y="3776543"/>
                <a:ext cx="10769358" cy="400110"/>
              </a:xfrm>
              <a:prstGeom prst="rect">
                <a:avLst/>
              </a:prstGeom>
              <a:noFill/>
            </p:spPr>
            <p:txBody>
              <a:bodyPr wrap="square" rtlCol="0">
                <a:spAutoFit/>
              </a:bodyPr>
              <a:lstStyle/>
              <a:p>
                <a14:m>
                  <m:oMath xmlns:m="http://schemas.openxmlformats.org/officeDocument/2006/math">
                    <m:sSub>
                      <m:sSubPr>
                        <m:ctrlPr>
                          <a:rPr lang="en-US" altLang="zh-CN" sz="2000" i="1" smtClean="0">
                            <a:solidFill>
                              <a:schemeClr val="tx2"/>
                            </a:solidFill>
                            <a:latin typeface="Cambria Math" panose="02040503050406030204" pitchFamily="18" charset="0"/>
                          </a:rPr>
                        </m:ctrlPr>
                      </m:sSubPr>
                      <m:e>
                        <m:r>
                          <m:rPr>
                            <m:sty m:val="p"/>
                          </m:rPr>
                          <a:rPr lang="en-US" altLang="zh-CN" sz="2000">
                            <a:solidFill>
                              <a:schemeClr val="tx2"/>
                            </a:solidFill>
                            <a:latin typeface="Cambria Math" panose="02040503050406030204" pitchFamily="18" charset="0"/>
                          </a:rPr>
                          <m:t>Key</m:t>
                        </m:r>
                      </m:e>
                      <m:sub>
                        <m:r>
                          <m:rPr>
                            <m:sty m:val="p"/>
                          </m:rPr>
                          <a:rPr lang="en-US" altLang="zh-CN" sz="2000">
                            <a:solidFill>
                              <a:schemeClr val="tx2"/>
                            </a:solidFill>
                            <a:latin typeface="Cambria Math" panose="02040503050406030204" pitchFamily="18" charset="0"/>
                          </a:rPr>
                          <m:t>A</m:t>
                        </m:r>
                      </m:sub>
                    </m:sSub>
                    <m:r>
                      <a:rPr lang="en-US" altLang="zh-CN" sz="2000" i="1">
                        <a:solidFill>
                          <a:schemeClr val="tx2"/>
                        </a:solidFill>
                        <a:latin typeface="Cambria Math" panose="02040503050406030204" pitchFamily="18" charset="0"/>
                      </a:rPr>
                      <m:t>=</m:t>
                    </m:r>
                    <m:d>
                      <m:dPr>
                        <m:ctrlPr>
                          <a:rPr lang="en-US" altLang="zh-CN" sz="2000" i="1">
                            <a:solidFill>
                              <a:schemeClr val="tx2"/>
                            </a:solidFill>
                            <a:latin typeface="Cambria Math" panose="02040503050406030204" pitchFamily="18" charset="0"/>
                          </a:rPr>
                        </m:ctrlPr>
                      </m:dPr>
                      <m:e>
                        <m:r>
                          <a:rPr lang="en-US" altLang="zh-CN" sz="2000" i="1">
                            <a:solidFill>
                              <a:schemeClr val="tx2"/>
                            </a:solidFill>
                            <a:latin typeface="Cambria Math" panose="02040503050406030204" pitchFamily="18" charset="0"/>
                          </a:rPr>
                          <m:t>0.48 0.5 0.45 0.48 </m:t>
                        </m:r>
                      </m:e>
                    </m:d>
                  </m:oMath>
                </a14:m>
                <a:r>
                  <a:rPr lang="en-US" altLang="zh-CN" sz="2000" dirty="0">
                    <a:solidFill>
                      <a:schemeClr val="tx2"/>
                    </a:solidFill>
                  </a:rPr>
                  <a:t> , </a:t>
                </a:r>
                <a14:m>
                  <m:oMath xmlns:m="http://schemas.openxmlformats.org/officeDocument/2006/math">
                    <m:sSub>
                      <m:sSubPr>
                        <m:ctrlPr>
                          <a:rPr lang="en-US" altLang="zh-CN" sz="2000" i="1">
                            <a:solidFill>
                              <a:schemeClr val="tx2"/>
                            </a:solidFill>
                            <a:latin typeface="Cambria Math" panose="02040503050406030204" pitchFamily="18" charset="0"/>
                          </a:rPr>
                        </m:ctrlPr>
                      </m:sSubPr>
                      <m:e>
                        <m:r>
                          <m:rPr>
                            <m:sty m:val="p"/>
                          </m:rPr>
                          <a:rPr lang="en-US" altLang="zh-CN" sz="2000">
                            <a:solidFill>
                              <a:schemeClr val="tx2"/>
                            </a:solidFill>
                            <a:latin typeface="Cambria Math" panose="02040503050406030204" pitchFamily="18" charset="0"/>
                          </a:rPr>
                          <m:t>Key</m:t>
                        </m:r>
                      </m:e>
                      <m:sub>
                        <m:r>
                          <m:rPr>
                            <m:sty m:val="p"/>
                          </m:rPr>
                          <a:rPr lang="en-US" altLang="zh-CN" sz="2000">
                            <a:solidFill>
                              <a:schemeClr val="tx2"/>
                            </a:solidFill>
                            <a:latin typeface="Cambria Math" panose="02040503050406030204" pitchFamily="18" charset="0"/>
                          </a:rPr>
                          <m:t>c</m:t>
                        </m:r>
                      </m:sub>
                    </m:sSub>
                    <m:r>
                      <a:rPr lang="en-US" altLang="zh-CN" sz="2000" i="1">
                        <a:solidFill>
                          <a:schemeClr val="tx2"/>
                        </a:solidFill>
                        <a:latin typeface="Cambria Math" panose="02040503050406030204" pitchFamily="18" charset="0"/>
                      </a:rPr>
                      <m:t>=</m:t>
                    </m:r>
                    <m:d>
                      <m:dPr>
                        <m:ctrlPr>
                          <a:rPr lang="en-US" altLang="zh-CN" sz="2000" i="1">
                            <a:solidFill>
                              <a:schemeClr val="tx2"/>
                            </a:solidFill>
                            <a:latin typeface="Cambria Math" panose="02040503050406030204" pitchFamily="18" charset="0"/>
                          </a:rPr>
                        </m:ctrlPr>
                      </m:dPr>
                      <m:e>
                        <m:r>
                          <a:rPr lang="en-US" altLang="zh-CN" sz="2000" i="1">
                            <a:solidFill>
                              <a:schemeClr val="tx2"/>
                            </a:solidFill>
                            <a:latin typeface="Cambria Math" panose="02040503050406030204" pitchFamily="18" charset="0"/>
                          </a:rPr>
                          <m:t>0.1, 0.5, 0.1, 0.5</m:t>
                        </m:r>
                      </m:e>
                    </m:d>
                  </m:oMath>
                </a14:m>
                <a:endParaRPr lang="zh-CN" altLang="en-US" sz="2000" dirty="0"/>
              </a:p>
            </p:txBody>
          </p:sp>
        </mc:Choice>
        <mc:Fallback xmlns="">
          <p:sp>
            <p:nvSpPr>
              <p:cNvPr id="4" name="文本框 3">
                <a:extLst>
                  <a:ext uri="{FF2B5EF4-FFF2-40B4-BE49-F238E27FC236}">
                    <a16:creationId xmlns:a16="http://schemas.microsoft.com/office/drawing/2014/main" id="{14B13841-DB5C-DE9A-7275-7811823C6C85}"/>
                  </a:ext>
                </a:extLst>
              </p:cNvPr>
              <p:cNvSpPr txBox="1">
                <a:spLocks noRot="1" noChangeAspect="1" noMove="1" noResize="1" noEditPoints="1" noAdjustHandles="1" noChangeArrowheads="1" noChangeShapeType="1" noTextEdit="1"/>
              </p:cNvSpPr>
              <p:nvPr/>
            </p:nvSpPr>
            <p:spPr>
              <a:xfrm>
                <a:off x="432042" y="3776543"/>
                <a:ext cx="10769358" cy="400110"/>
              </a:xfrm>
              <a:prstGeom prst="rect">
                <a:avLst/>
              </a:prstGeom>
              <a:blipFill>
                <a:blip r:embed="rId5"/>
                <a:stretch>
                  <a:fillRect l="-226" t="-7692" b="-29231"/>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4E9BC0E6-EFD0-1DCC-8798-2AB51DDAFF92}"/>
              </a:ext>
            </a:extLst>
          </p:cNvPr>
          <p:cNvSpPr txBox="1"/>
          <p:nvPr/>
        </p:nvSpPr>
        <p:spPr>
          <a:xfrm>
            <a:off x="381242" y="4389497"/>
            <a:ext cx="2717800" cy="400110"/>
          </a:xfrm>
          <a:prstGeom prst="rect">
            <a:avLst/>
          </a:prstGeom>
          <a:noFill/>
        </p:spPr>
        <p:txBody>
          <a:bodyPr wrap="square" rtlCol="0">
            <a:spAutoFit/>
          </a:bodyPr>
          <a:lstStyle/>
          <a:p>
            <a:pPr algn="l"/>
            <a:r>
              <a:rPr lang="zh-CN" altLang="en-US" sz="2000" dirty="0">
                <a:solidFill>
                  <a:schemeClr val="tx2"/>
                </a:solidFill>
                <a:latin typeface="微软雅黑" panose="020B0503020204020204" pitchFamily="34" charset="-122"/>
                <a:ea typeface="微软雅黑" panose="020B0503020204020204" pitchFamily="34" charset="-122"/>
              </a:rPr>
              <a:t>计算关联强度</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C1FF9439-F786-7254-C044-4DA015C0595F}"/>
                  </a:ext>
                </a:extLst>
              </p:cNvPr>
              <p:cNvSpPr txBox="1"/>
              <p:nvPr/>
            </p:nvSpPr>
            <p:spPr>
              <a:xfrm>
                <a:off x="1981200" y="4521200"/>
                <a:ext cx="2425700" cy="406137"/>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altLang="zh-CN" sz="2000" b="0" i="1" smtClean="0">
                              <a:solidFill>
                                <a:schemeClr val="tx2"/>
                              </a:solidFill>
                              <a:latin typeface="Cambria Math" panose="02040503050406030204" pitchFamily="18" charset="0"/>
                            </a:rPr>
                          </m:ctrlPr>
                        </m:sSubPr>
                        <m:e>
                          <m:r>
                            <m:rPr>
                              <m:sty m:val="p"/>
                            </m:rPr>
                            <a:rPr lang="en-US" altLang="zh-CN" sz="2000" i="1" smtClean="0">
                              <a:solidFill>
                                <a:schemeClr val="tx2"/>
                              </a:solidFill>
                              <a:latin typeface="Cambria Math" panose="02040503050406030204" pitchFamily="18" charset="0"/>
                            </a:rPr>
                            <m:t>Q</m:t>
                          </m:r>
                        </m:e>
                        <m:sub>
                          <m:r>
                            <m:rPr>
                              <m:sty m:val="p"/>
                            </m:rPr>
                            <a:rPr lang="en-US" altLang="zh-CN" sz="2000" i="1">
                              <a:solidFill>
                                <a:schemeClr val="tx2"/>
                              </a:solidFill>
                              <a:latin typeface="Cambria Math" panose="02040503050406030204" pitchFamily="18" charset="0"/>
                            </a:rPr>
                            <m:t>D</m:t>
                          </m:r>
                        </m:sub>
                      </m:sSub>
                      <m:sSubSup>
                        <m:sSubSupPr>
                          <m:ctrlPr>
                            <a:rPr lang="en-US" altLang="zh-CN" sz="2000" b="0" i="1" smtClean="0">
                              <a:solidFill>
                                <a:schemeClr val="tx2"/>
                              </a:solidFill>
                              <a:latin typeface="Cambria Math" panose="02040503050406030204" pitchFamily="18" charset="0"/>
                            </a:rPr>
                          </m:ctrlPr>
                        </m:sSubSupPr>
                        <m:e>
                          <m:r>
                            <a:rPr lang="en-US" altLang="zh-CN" sz="2000" b="0" i="1" smtClean="0">
                              <a:solidFill>
                                <a:schemeClr val="tx2"/>
                              </a:solidFill>
                              <a:latin typeface="Cambria Math" panose="02040503050406030204" pitchFamily="18" charset="0"/>
                            </a:rPr>
                            <m:t>𝐾</m:t>
                          </m:r>
                        </m:e>
                        <m:sub>
                          <m:r>
                            <a:rPr lang="en-US" altLang="zh-CN" sz="2000" b="0" i="1" smtClean="0">
                              <a:solidFill>
                                <a:schemeClr val="tx2"/>
                              </a:solidFill>
                              <a:latin typeface="Cambria Math" panose="02040503050406030204" pitchFamily="18" charset="0"/>
                            </a:rPr>
                            <m:t>𝐴</m:t>
                          </m:r>
                        </m:sub>
                        <m:sup>
                          <m:r>
                            <a:rPr lang="en-US" altLang="zh-CN" sz="2000" b="0" i="1" smtClean="0">
                              <a:solidFill>
                                <a:schemeClr val="tx2"/>
                              </a:solidFill>
                              <a:latin typeface="Cambria Math" panose="02040503050406030204" pitchFamily="18" charset="0"/>
                            </a:rPr>
                            <m:t>𝑇</m:t>
                          </m:r>
                        </m:sup>
                      </m:sSubSup>
                      <m:r>
                        <a:rPr lang="en-US" altLang="zh-CN" sz="2000" b="0" i="1" smtClean="0">
                          <a:solidFill>
                            <a:schemeClr val="tx2"/>
                          </a:solidFill>
                          <a:latin typeface="Cambria Math" panose="02040503050406030204" pitchFamily="18" charset="0"/>
                        </a:rPr>
                        <m:t>=0.89</m:t>
                      </m:r>
                    </m:oMath>
                  </m:oMathPara>
                </a14:m>
                <a:endParaRPr lang="zh-CN" altLang="en-US" sz="2000" dirty="0"/>
              </a:p>
            </p:txBody>
          </p:sp>
        </mc:Choice>
        <mc:Fallback xmlns="">
          <p:sp>
            <p:nvSpPr>
              <p:cNvPr id="7" name="文本框 6">
                <a:extLst>
                  <a:ext uri="{FF2B5EF4-FFF2-40B4-BE49-F238E27FC236}">
                    <a16:creationId xmlns:a16="http://schemas.microsoft.com/office/drawing/2014/main" id="{C1FF9439-F786-7254-C044-4DA015C0595F}"/>
                  </a:ext>
                </a:extLst>
              </p:cNvPr>
              <p:cNvSpPr txBox="1">
                <a:spLocks noRot="1" noChangeAspect="1" noMove="1" noResize="1" noEditPoints="1" noAdjustHandles="1" noChangeArrowheads="1" noChangeShapeType="1" noTextEdit="1"/>
              </p:cNvSpPr>
              <p:nvPr/>
            </p:nvSpPr>
            <p:spPr>
              <a:xfrm>
                <a:off x="1981200" y="4521200"/>
                <a:ext cx="2425700" cy="406137"/>
              </a:xfrm>
              <a:prstGeom prst="rect">
                <a:avLst/>
              </a:prstGeom>
              <a:blipFill>
                <a:blip r:embed="rId6"/>
                <a:stretch>
                  <a:fillRect b="-156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DBFEE4F6-CE69-3808-E444-806669C51B0E}"/>
                  </a:ext>
                </a:extLst>
              </p:cNvPr>
              <p:cNvSpPr txBox="1"/>
              <p:nvPr/>
            </p:nvSpPr>
            <p:spPr>
              <a:xfrm>
                <a:off x="1981200" y="5002451"/>
                <a:ext cx="2425700" cy="404598"/>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altLang="zh-CN" sz="2000" b="0" i="1" smtClean="0">
                              <a:solidFill>
                                <a:schemeClr val="tx2"/>
                              </a:solidFill>
                              <a:latin typeface="Cambria Math" panose="02040503050406030204" pitchFamily="18" charset="0"/>
                            </a:rPr>
                          </m:ctrlPr>
                        </m:sSubPr>
                        <m:e>
                          <m:r>
                            <m:rPr>
                              <m:sty m:val="p"/>
                            </m:rPr>
                            <a:rPr lang="en-US" altLang="zh-CN" sz="2000" i="1" smtClean="0">
                              <a:solidFill>
                                <a:schemeClr val="tx2"/>
                              </a:solidFill>
                              <a:latin typeface="Cambria Math" panose="02040503050406030204" pitchFamily="18" charset="0"/>
                            </a:rPr>
                            <m:t>Q</m:t>
                          </m:r>
                        </m:e>
                        <m:sub>
                          <m:r>
                            <a:rPr lang="en-US" altLang="zh-CN" sz="2000" b="0" i="1" smtClean="0">
                              <a:solidFill>
                                <a:schemeClr val="tx2"/>
                              </a:solidFill>
                              <a:latin typeface="Cambria Math" panose="02040503050406030204" pitchFamily="18" charset="0"/>
                            </a:rPr>
                            <m:t>𝐷</m:t>
                          </m:r>
                        </m:sub>
                      </m:sSub>
                      <m:sSubSup>
                        <m:sSubSupPr>
                          <m:ctrlPr>
                            <a:rPr lang="en-US" altLang="zh-CN" sz="2000" b="0" i="1" smtClean="0">
                              <a:solidFill>
                                <a:schemeClr val="tx2"/>
                              </a:solidFill>
                              <a:latin typeface="Cambria Math" panose="02040503050406030204" pitchFamily="18" charset="0"/>
                            </a:rPr>
                          </m:ctrlPr>
                        </m:sSubSupPr>
                        <m:e>
                          <m:r>
                            <a:rPr lang="en-US" altLang="zh-CN" sz="2000" b="0" i="1" smtClean="0">
                              <a:solidFill>
                                <a:schemeClr val="tx2"/>
                              </a:solidFill>
                              <a:latin typeface="Cambria Math" panose="02040503050406030204" pitchFamily="18" charset="0"/>
                            </a:rPr>
                            <m:t>𝐾</m:t>
                          </m:r>
                        </m:e>
                        <m:sub>
                          <m:r>
                            <a:rPr lang="en-US" altLang="zh-CN" sz="2000" b="0" i="1" smtClean="0">
                              <a:solidFill>
                                <a:schemeClr val="tx2"/>
                              </a:solidFill>
                              <a:latin typeface="Cambria Math" panose="02040503050406030204" pitchFamily="18" charset="0"/>
                            </a:rPr>
                            <m:t>𝐵</m:t>
                          </m:r>
                        </m:sub>
                        <m:sup>
                          <m:r>
                            <a:rPr lang="en-US" altLang="zh-CN" sz="2000" b="0" i="1" smtClean="0">
                              <a:solidFill>
                                <a:schemeClr val="tx2"/>
                              </a:solidFill>
                              <a:latin typeface="Cambria Math" panose="02040503050406030204" pitchFamily="18" charset="0"/>
                            </a:rPr>
                            <m:t>𝑇</m:t>
                          </m:r>
                        </m:sup>
                      </m:sSubSup>
                      <m:r>
                        <a:rPr lang="en-US" altLang="zh-CN" sz="2000" b="0" i="1" smtClean="0">
                          <a:solidFill>
                            <a:schemeClr val="tx2"/>
                          </a:solidFill>
                          <a:latin typeface="Cambria Math" panose="02040503050406030204" pitchFamily="18" charset="0"/>
                        </a:rPr>
                        <m:t>=−0.09</m:t>
                      </m:r>
                    </m:oMath>
                  </m:oMathPara>
                </a14:m>
                <a:endParaRPr lang="zh-CN" altLang="en-US" sz="2000" dirty="0"/>
              </a:p>
            </p:txBody>
          </p:sp>
        </mc:Choice>
        <mc:Fallback xmlns="">
          <p:sp>
            <p:nvSpPr>
              <p:cNvPr id="9" name="文本框 8">
                <a:extLst>
                  <a:ext uri="{FF2B5EF4-FFF2-40B4-BE49-F238E27FC236}">
                    <a16:creationId xmlns:a16="http://schemas.microsoft.com/office/drawing/2014/main" id="{DBFEE4F6-CE69-3808-E444-806669C51B0E}"/>
                  </a:ext>
                </a:extLst>
              </p:cNvPr>
              <p:cNvSpPr txBox="1">
                <a:spLocks noRot="1" noChangeAspect="1" noMove="1" noResize="1" noEditPoints="1" noAdjustHandles="1" noChangeArrowheads="1" noChangeShapeType="1" noTextEdit="1"/>
              </p:cNvSpPr>
              <p:nvPr/>
            </p:nvSpPr>
            <p:spPr>
              <a:xfrm>
                <a:off x="1981200" y="5002451"/>
                <a:ext cx="2425700" cy="404598"/>
              </a:xfrm>
              <a:prstGeom prst="rect">
                <a:avLst/>
              </a:prstGeom>
              <a:blipFill>
                <a:blip r:embed="rId7"/>
                <a:stretch>
                  <a:fillRect b="-156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5E3286FE-D863-246F-88BC-25002DD517D6}"/>
                  </a:ext>
                </a:extLst>
              </p:cNvPr>
              <p:cNvSpPr txBox="1"/>
              <p:nvPr/>
            </p:nvSpPr>
            <p:spPr>
              <a:xfrm>
                <a:off x="1981200" y="5483560"/>
                <a:ext cx="2425700" cy="408382"/>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altLang="zh-CN" sz="2000" b="0" i="1" smtClean="0">
                              <a:solidFill>
                                <a:schemeClr val="tx2"/>
                              </a:solidFill>
                              <a:latin typeface="Cambria Math" panose="02040503050406030204" pitchFamily="18" charset="0"/>
                            </a:rPr>
                          </m:ctrlPr>
                        </m:sSubPr>
                        <m:e>
                          <m:r>
                            <m:rPr>
                              <m:sty m:val="p"/>
                            </m:rPr>
                            <a:rPr lang="en-US" altLang="zh-CN" sz="2000" i="1" smtClean="0">
                              <a:solidFill>
                                <a:schemeClr val="tx2"/>
                              </a:solidFill>
                              <a:latin typeface="Cambria Math" panose="02040503050406030204" pitchFamily="18" charset="0"/>
                            </a:rPr>
                            <m:t>Q</m:t>
                          </m:r>
                        </m:e>
                        <m:sub>
                          <m:r>
                            <a:rPr lang="en-US" altLang="zh-CN" sz="2000" b="0" i="1" smtClean="0">
                              <a:solidFill>
                                <a:schemeClr val="tx2"/>
                              </a:solidFill>
                              <a:latin typeface="Cambria Math" panose="02040503050406030204" pitchFamily="18" charset="0"/>
                            </a:rPr>
                            <m:t>𝐷</m:t>
                          </m:r>
                        </m:sub>
                      </m:sSub>
                      <m:sSubSup>
                        <m:sSubSupPr>
                          <m:ctrlPr>
                            <a:rPr lang="en-US" altLang="zh-CN" sz="2000" b="0" i="1" smtClean="0">
                              <a:solidFill>
                                <a:schemeClr val="tx2"/>
                              </a:solidFill>
                              <a:latin typeface="Cambria Math" panose="02040503050406030204" pitchFamily="18" charset="0"/>
                            </a:rPr>
                          </m:ctrlPr>
                        </m:sSubSupPr>
                        <m:e>
                          <m:r>
                            <a:rPr lang="en-US" altLang="zh-CN" sz="2000" b="0" i="1" smtClean="0">
                              <a:solidFill>
                                <a:schemeClr val="tx2"/>
                              </a:solidFill>
                              <a:latin typeface="Cambria Math" panose="02040503050406030204" pitchFamily="18" charset="0"/>
                            </a:rPr>
                            <m:t>𝐾</m:t>
                          </m:r>
                        </m:e>
                        <m:sub>
                          <m:r>
                            <a:rPr lang="en-US" altLang="zh-CN" sz="2000" b="0" i="1" smtClean="0">
                              <a:solidFill>
                                <a:schemeClr val="tx2"/>
                              </a:solidFill>
                              <a:latin typeface="Cambria Math" panose="02040503050406030204" pitchFamily="18" charset="0"/>
                            </a:rPr>
                            <m:t>𝐶</m:t>
                          </m:r>
                        </m:sub>
                        <m:sup>
                          <m:r>
                            <a:rPr lang="en-US" altLang="zh-CN" sz="2000" b="0" i="1" smtClean="0">
                              <a:solidFill>
                                <a:schemeClr val="tx2"/>
                              </a:solidFill>
                              <a:latin typeface="Cambria Math" panose="02040503050406030204" pitchFamily="18" charset="0"/>
                            </a:rPr>
                            <m:t>𝑇</m:t>
                          </m:r>
                        </m:sup>
                      </m:sSubSup>
                      <m:r>
                        <a:rPr lang="en-US" altLang="zh-CN" sz="2000" b="0" i="1" smtClean="0">
                          <a:solidFill>
                            <a:schemeClr val="tx2"/>
                          </a:solidFill>
                          <a:latin typeface="Cambria Math" panose="02040503050406030204" pitchFamily="18" charset="0"/>
                        </a:rPr>
                        <m:t>=0.56</m:t>
                      </m:r>
                    </m:oMath>
                  </m:oMathPara>
                </a14:m>
                <a:endParaRPr lang="zh-CN" altLang="en-US" sz="2000" dirty="0"/>
              </a:p>
            </p:txBody>
          </p:sp>
        </mc:Choice>
        <mc:Fallback xmlns="">
          <p:sp>
            <p:nvSpPr>
              <p:cNvPr id="10" name="文本框 9">
                <a:extLst>
                  <a:ext uri="{FF2B5EF4-FFF2-40B4-BE49-F238E27FC236}">
                    <a16:creationId xmlns:a16="http://schemas.microsoft.com/office/drawing/2014/main" id="{5E3286FE-D863-246F-88BC-25002DD517D6}"/>
                  </a:ext>
                </a:extLst>
              </p:cNvPr>
              <p:cNvSpPr txBox="1">
                <a:spLocks noRot="1" noChangeAspect="1" noMove="1" noResize="1" noEditPoints="1" noAdjustHandles="1" noChangeArrowheads="1" noChangeShapeType="1" noTextEdit="1"/>
              </p:cNvSpPr>
              <p:nvPr/>
            </p:nvSpPr>
            <p:spPr>
              <a:xfrm>
                <a:off x="1981200" y="5483560"/>
                <a:ext cx="2425700" cy="408382"/>
              </a:xfrm>
              <a:prstGeom prst="rect">
                <a:avLst/>
              </a:prstGeom>
              <a:blipFill>
                <a:blip r:embed="rId8"/>
                <a:stretch>
                  <a:fillRect b="-12121"/>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10ED1BEE-D876-1EC1-B3C6-DD36C8346523}"/>
              </a:ext>
            </a:extLst>
          </p:cNvPr>
          <p:cNvSpPr txBox="1"/>
          <p:nvPr/>
        </p:nvSpPr>
        <p:spPr>
          <a:xfrm>
            <a:off x="6406083" y="5047770"/>
            <a:ext cx="1549400" cy="400110"/>
          </a:xfrm>
          <a:prstGeom prst="rect">
            <a:avLst/>
          </a:prstGeom>
          <a:noFill/>
        </p:spPr>
        <p:txBody>
          <a:bodyPr wrap="square" rtlCol="0">
            <a:spAutoFit/>
          </a:bodyPr>
          <a:lstStyle/>
          <a:p>
            <a:pPr algn="l"/>
            <a:r>
              <a:rPr lang="en-US" altLang="zh-CN" sz="2000" dirty="0" err="1">
                <a:solidFill>
                  <a:schemeClr val="tx2"/>
                </a:solidFill>
                <a:latin typeface="微软雅黑" panose="020B0503020204020204" pitchFamily="34" charset="-122"/>
                <a:ea typeface="微软雅黑" panose="020B0503020204020204" pitchFamily="34" charset="-122"/>
              </a:rPr>
              <a:t>softmax</a:t>
            </a:r>
            <a:endParaRPr lang="zh-CN" altLang="en-US" sz="2000" dirty="0">
              <a:solidFill>
                <a:schemeClr val="tx2"/>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34FAB079-4C63-1516-982E-9A5E17DC660B}"/>
                  </a:ext>
                </a:extLst>
              </p:cNvPr>
              <p:cNvSpPr txBox="1"/>
              <p:nvPr/>
            </p:nvSpPr>
            <p:spPr>
              <a:xfrm>
                <a:off x="4406900" y="4519606"/>
                <a:ext cx="384175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solidFill>
                            <a:schemeClr val="tx2"/>
                          </a:solidFill>
                          <a:latin typeface="Cambria Math" panose="02040503050406030204" pitchFamily="18" charset="0"/>
                        </a:rPr>
                        <m:t>𝑄</m:t>
                      </m:r>
                      <m:sSup>
                        <m:sSupPr>
                          <m:ctrlPr>
                            <a:rPr lang="en-US" altLang="zh-CN" sz="2000" b="0" i="1" smtClean="0">
                              <a:solidFill>
                                <a:schemeClr val="tx2"/>
                              </a:solidFill>
                              <a:latin typeface="Cambria Math" panose="02040503050406030204" pitchFamily="18" charset="0"/>
                            </a:rPr>
                          </m:ctrlPr>
                        </m:sSupPr>
                        <m:e>
                          <m:r>
                            <a:rPr lang="en-US" altLang="zh-CN" sz="2000" b="0" i="1" smtClean="0">
                              <a:solidFill>
                                <a:schemeClr val="tx2"/>
                              </a:solidFill>
                              <a:latin typeface="Cambria Math" panose="02040503050406030204" pitchFamily="18" charset="0"/>
                            </a:rPr>
                            <m:t>𝐾</m:t>
                          </m:r>
                        </m:e>
                        <m:sup>
                          <m:r>
                            <a:rPr lang="en-US" altLang="zh-CN" sz="2000" b="0" i="1" smtClean="0">
                              <a:solidFill>
                                <a:schemeClr val="tx2"/>
                              </a:solidFill>
                              <a:latin typeface="Cambria Math" panose="02040503050406030204" pitchFamily="18" charset="0"/>
                            </a:rPr>
                            <m:t>𝑇</m:t>
                          </m:r>
                        </m:sup>
                      </m:sSup>
                      <m:r>
                        <a:rPr lang="en-US" altLang="zh-CN" sz="2000" i="1">
                          <a:solidFill>
                            <a:schemeClr val="tx2"/>
                          </a:solidFill>
                          <a:latin typeface="Cambria Math" panose="02040503050406030204" pitchFamily="18" charset="0"/>
                        </a:rPr>
                        <m:t>=(0.89</m:t>
                      </m:r>
                      <m:r>
                        <a:rPr lang="en-US" altLang="zh-CN" sz="2000" b="0" i="1" smtClean="0">
                          <a:solidFill>
                            <a:schemeClr val="tx2"/>
                          </a:solidFill>
                          <a:latin typeface="Cambria Math" panose="02040503050406030204" pitchFamily="18" charset="0"/>
                        </a:rPr>
                        <m:t>,−0.09,0.56</m:t>
                      </m:r>
                      <m:r>
                        <a:rPr lang="en-US" altLang="zh-CN" sz="2000" i="1">
                          <a:solidFill>
                            <a:schemeClr val="tx2"/>
                          </a:solidFill>
                          <a:latin typeface="Cambria Math" panose="02040503050406030204" pitchFamily="18" charset="0"/>
                        </a:rPr>
                        <m:t>)</m:t>
                      </m:r>
                    </m:oMath>
                  </m:oMathPara>
                </a14:m>
                <a:endParaRPr lang="zh-CN" altLang="en-US" sz="2000" dirty="0">
                  <a:solidFill>
                    <a:schemeClr val="tx2"/>
                  </a:solidFill>
                </a:endParaRPr>
              </a:p>
            </p:txBody>
          </p:sp>
        </mc:Choice>
        <mc:Fallback xmlns="">
          <p:sp>
            <p:nvSpPr>
              <p:cNvPr id="14" name="文本框 13">
                <a:extLst>
                  <a:ext uri="{FF2B5EF4-FFF2-40B4-BE49-F238E27FC236}">
                    <a16:creationId xmlns:a16="http://schemas.microsoft.com/office/drawing/2014/main" id="{34FAB079-4C63-1516-982E-9A5E17DC660B}"/>
                  </a:ext>
                </a:extLst>
              </p:cNvPr>
              <p:cNvSpPr txBox="1">
                <a:spLocks noRot="1" noChangeAspect="1" noMove="1" noResize="1" noEditPoints="1" noAdjustHandles="1" noChangeArrowheads="1" noChangeShapeType="1" noTextEdit="1"/>
              </p:cNvSpPr>
              <p:nvPr/>
            </p:nvSpPr>
            <p:spPr>
              <a:xfrm>
                <a:off x="4406900" y="4519606"/>
                <a:ext cx="3841750" cy="400110"/>
              </a:xfrm>
              <a:prstGeom prst="rect">
                <a:avLst/>
              </a:prstGeom>
              <a:blipFill>
                <a:blip r:embed="rId9"/>
                <a:stretch>
                  <a:fillRect b="-15152"/>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295D9CD2-96D2-C584-A4B1-30A101BADBCC}"/>
              </a:ext>
            </a:extLst>
          </p:cNvPr>
          <p:cNvSpPr txBox="1"/>
          <p:nvPr/>
        </p:nvSpPr>
        <p:spPr>
          <a:xfrm>
            <a:off x="4908792" y="5601778"/>
            <a:ext cx="7080250" cy="400110"/>
          </a:xfrm>
          <a:prstGeom prst="rect">
            <a:avLst/>
          </a:prstGeom>
          <a:noFill/>
        </p:spPr>
        <p:txBody>
          <a:bodyPr wrap="square" rtlCol="0">
            <a:spAutoFit/>
          </a:bodyPr>
          <a:lstStyle/>
          <a:p>
            <a:pPr algn="l"/>
            <a:r>
              <a:rPr lang="zh-CN" altLang="en-US" sz="2000" dirty="0"/>
              <a:t> </a:t>
            </a:r>
            <a:r>
              <a:rPr lang="en-US" altLang="zh-CN" sz="2000" dirty="0" err="1">
                <a:solidFill>
                  <a:schemeClr val="tx2"/>
                </a:solidFill>
              </a:rPr>
              <a:t>Att</a:t>
            </a:r>
            <a:r>
              <a:rPr lang="en-US" altLang="zh-CN" sz="2000" dirty="0">
                <a:solidFill>
                  <a:schemeClr val="tx2"/>
                </a:solidFill>
              </a:rPr>
              <a:t>=[0.48, 0.18, 0.34]</a:t>
            </a:r>
            <a:endParaRPr lang="zh-CN" altLang="en-US" sz="2000" dirty="0">
              <a:solidFill>
                <a:schemeClr val="tx2"/>
              </a:solidFill>
            </a:endParaRPr>
          </a:p>
        </p:txBody>
      </p:sp>
      <p:sp>
        <p:nvSpPr>
          <p:cNvPr id="3" name="右箭头 8">
            <a:extLst>
              <a:ext uri="{FF2B5EF4-FFF2-40B4-BE49-F238E27FC236}">
                <a16:creationId xmlns:a16="http://schemas.microsoft.com/office/drawing/2014/main" id="{41EEA6A0-EE1A-B96C-B8F0-D58458919A40}"/>
              </a:ext>
            </a:extLst>
          </p:cNvPr>
          <p:cNvSpPr/>
          <p:nvPr/>
        </p:nvSpPr>
        <p:spPr>
          <a:xfrm rot="5400000">
            <a:off x="5931393" y="5133397"/>
            <a:ext cx="680750" cy="268630"/>
          </a:xfrm>
          <a:prstGeom prst="rightArrow">
            <a:avLst>
              <a:gd name="adj1" fmla="val 38247"/>
              <a:gd name="adj2" fmla="val 72678"/>
            </a:avLst>
          </a:prstGeom>
          <a:solidFill>
            <a:sysClr val="window" lastClr="FFFFFF"/>
          </a:solidFill>
          <a:ln w="12700" cap="flat" cmpd="sng" algn="ctr">
            <a:solidFill>
              <a:schemeClr val="tx1"/>
            </a:solidFill>
            <a:prstDash val="solid"/>
            <a:miter lim="800000"/>
          </a:ln>
        </p:spPr>
        <p:txBody>
          <a:bodyPr rtlCol="0" anchor="ctr"/>
          <a:lstStyle/>
          <a:p>
            <a:pPr algn="just"/>
            <a:endParaRPr lang="zh-CN" altLang="en-US" dirty="0"/>
          </a:p>
        </p:txBody>
      </p:sp>
      <p:sp>
        <p:nvSpPr>
          <p:cNvPr id="5" name="文本框 4">
            <a:extLst>
              <a:ext uri="{FF2B5EF4-FFF2-40B4-BE49-F238E27FC236}">
                <a16:creationId xmlns:a16="http://schemas.microsoft.com/office/drawing/2014/main" id="{2CAB1FA3-AC1B-7862-2E29-A6BB42759D3A}"/>
              </a:ext>
            </a:extLst>
          </p:cNvPr>
          <p:cNvSpPr txBox="1"/>
          <p:nvPr/>
        </p:nvSpPr>
        <p:spPr>
          <a:xfrm>
            <a:off x="2755658" y="925706"/>
            <a:ext cx="2717800" cy="400110"/>
          </a:xfrm>
          <a:prstGeom prst="rect">
            <a:avLst/>
          </a:prstGeom>
          <a:noFill/>
        </p:spPr>
        <p:txBody>
          <a:bodyPr wrap="square" rtlCol="0">
            <a:spAutoFit/>
          </a:bodyPr>
          <a:lstStyle/>
          <a:p>
            <a:pPr algn="l"/>
            <a:r>
              <a:rPr lang="zh-CN" altLang="en-US" sz="2000" dirty="0">
                <a:solidFill>
                  <a:schemeClr val="tx2"/>
                </a:solidFill>
                <a:latin typeface="微软雅黑" panose="020B0503020204020204" pitchFamily="34" charset="-122"/>
                <a:ea typeface="微软雅黑" panose="020B0503020204020204" pitchFamily="34" charset="-122"/>
              </a:rPr>
              <a:t>线性变换提取特征</a:t>
            </a:r>
          </a:p>
        </p:txBody>
      </p:sp>
      <p:sp>
        <p:nvSpPr>
          <p:cNvPr id="12" name="文本框 11">
            <a:extLst>
              <a:ext uri="{FF2B5EF4-FFF2-40B4-BE49-F238E27FC236}">
                <a16:creationId xmlns:a16="http://schemas.microsoft.com/office/drawing/2014/main" id="{D5C5B922-E88A-8D24-2581-1A8F6FE7E2C9}"/>
              </a:ext>
            </a:extLst>
          </p:cNvPr>
          <p:cNvSpPr txBox="1"/>
          <p:nvPr/>
        </p:nvSpPr>
        <p:spPr>
          <a:xfrm>
            <a:off x="2518591" y="2550886"/>
            <a:ext cx="2717800" cy="400110"/>
          </a:xfrm>
          <a:prstGeom prst="rect">
            <a:avLst/>
          </a:prstGeom>
          <a:noFill/>
        </p:spPr>
        <p:txBody>
          <a:bodyPr wrap="square" rtlCol="0">
            <a:spAutoFit/>
          </a:bodyPr>
          <a:lstStyle/>
          <a:p>
            <a:pPr algn="l"/>
            <a:r>
              <a:rPr lang="zh-CN" altLang="en-US" sz="2000" dirty="0">
                <a:solidFill>
                  <a:schemeClr val="tx2"/>
                </a:solidFill>
                <a:latin typeface="微软雅黑" panose="020B0503020204020204" pitchFamily="34" charset="-122"/>
                <a:ea typeface="微软雅黑" panose="020B0503020204020204" pitchFamily="34" charset="-122"/>
              </a:rPr>
              <a:t>线性变换提取特征</a:t>
            </a:r>
          </a:p>
        </p:txBody>
      </p:sp>
    </p:spTree>
    <p:extLst>
      <p:ext uri="{BB962C8B-B14F-4D97-AF65-F5344CB8AC3E}">
        <p14:creationId xmlns:p14="http://schemas.microsoft.com/office/powerpoint/2010/main" val="4016464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2D009-92D0-EF2F-7164-27AA62F9469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4962EDC-B623-CE9F-E222-5D0152D2029E}"/>
              </a:ext>
            </a:extLst>
          </p:cNvPr>
          <p:cNvSpPr>
            <a:spLocks noGrp="1"/>
          </p:cNvSpPr>
          <p:nvPr>
            <p:ph type="title"/>
          </p:nvPr>
        </p:nvSpPr>
        <p:spPr/>
        <p:txBody>
          <a:bodyPr/>
          <a:lstStyle/>
          <a:p>
            <a:r>
              <a:rPr lang="zh-CN" altLang="en-US" dirty="0"/>
              <a:t>情景模拟</a:t>
            </a:r>
          </a:p>
        </p:txBody>
      </p:sp>
      <p:sp>
        <p:nvSpPr>
          <p:cNvPr id="15" name="文本框 14">
            <a:extLst>
              <a:ext uri="{FF2B5EF4-FFF2-40B4-BE49-F238E27FC236}">
                <a16:creationId xmlns:a16="http://schemas.microsoft.com/office/drawing/2014/main" id="{20016DB1-995B-BA61-C217-C9269DA561A1}"/>
              </a:ext>
            </a:extLst>
          </p:cNvPr>
          <p:cNvSpPr txBox="1"/>
          <p:nvPr/>
        </p:nvSpPr>
        <p:spPr>
          <a:xfrm>
            <a:off x="333375" y="1125028"/>
            <a:ext cx="7080250" cy="400110"/>
          </a:xfrm>
          <a:prstGeom prst="rect">
            <a:avLst/>
          </a:prstGeom>
          <a:noFill/>
        </p:spPr>
        <p:txBody>
          <a:bodyPr wrap="square" rtlCol="0">
            <a:spAutoFit/>
          </a:bodyPr>
          <a:lstStyle/>
          <a:p>
            <a:pPr algn="l"/>
            <a:r>
              <a:rPr lang="zh-CN" altLang="en-US" sz="2000" dirty="0"/>
              <a:t> </a:t>
            </a:r>
            <a:r>
              <a:rPr lang="en-US" altLang="zh-CN" sz="2000" dirty="0" err="1">
                <a:solidFill>
                  <a:schemeClr val="tx2"/>
                </a:solidFill>
              </a:rPr>
              <a:t>Att</a:t>
            </a:r>
            <a:r>
              <a:rPr lang="en-US" altLang="zh-CN" sz="2000" dirty="0">
                <a:solidFill>
                  <a:schemeClr val="tx2"/>
                </a:solidFill>
              </a:rPr>
              <a:t>=[0.48, 0.18, 0.34]</a:t>
            </a:r>
            <a:endParaRPr lang="zh-CN" altLang="en-US" sz="2000" dirty="0">
              <a:solidFill>
                <a:schemeClr val="tx2"/>
              </a:solidFill>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A368FB5-4E52-B8D2-72B7-43606101024A}"/>
                  </a:ext>
                </a:extLst>
              </p:cNvPr>
              <p:cNvSpPr txBox="1"/>
              <p:nvPr/>
            </p:nvSpPr>
            <p:spPr>
              <a:xfrm>
                <a:off x="381242" y="2269261"/>
                <a:ext cx="9055100" cy="1861215"/>
              </a:xfrm>
              <a:prstGeom prst="rect">
                <a:avLst/>
              </a:prstGeom>
              <a:noFill/>
            </p:spPr>
            <p:txBody>
              <a:bodyPr wrap="square" rtlCol="0">
                <a:spAutoFit/>
              </a:bodyPr>
              <a:lstStyle/>
              <a:p>
                <a:r>
                  <a:rPr lang="zh-CN" altLang="en-US" sz="2000" dirty="0">
                    <a:solidFill>
                      <a:schemeClr val="tx2"/>
                    </a:solidFill>
                    <a:latin typeface="微软雅黑" panose="020B0503020204020204" pitchFamily="34" charset="-122"/>
                    <a:ea typeface="微软雅黑" panose="020B0503020204020204" pitchFamily="34" charset="-122"/>
                  </a:rPr>
                  <a:t>分析</a:t>
                </a:r>
                <a:r>
                  <a:rPr lang="zh-CN" altLang="en-US" sz="2000" dirty="0">
                    <a:solidFill>
                      <a:schemeClr val="tx2"/>
                    </a:solidFill>
                  </a:rPr>
                  <a:t>：</a:t>
                </a:r>
                <a14:m>
                  <m:oMath xmlns:m="http://schemas.openxmlformats.org/officeDocument/2006/math">
                    <m:sSub>
                      <m:sSubPr>
                        <m:ctrlPr>
                          <a:rPr lang="en-US" altLang="zh-CN" sz="2000" i="1">
                            <a:solidFill>
                              <a:schemeClr val="tx2"/>
                            </a:solidFill>
                            <a:latin typeface="Cambria Math" panose="02040503050406030204" pitchFamily="18" charset="0"/>
                          </a:rPr>
                        </m:ctrlPr>
                      </m:sSubPr>
                      <m:e>
                        <m:r>
                          <m:rPr>
                            <m:sty m:val="p"/>
                          </m:rPr>
                          <a:rPr lang="en-US" altLang="zh-CN" sz="2000">
                            <a:solidFill>
                              <a:schemeClr val="tx2"/>
                            </a:solidFill>
                            <a:latin typeface="Cambria Math" panose="02040503050406030204" pitchFamily="18" charset="0"/>
                          </a:rPr>
                          <m:t>Value</m:t>
                        </m:r>
                      </m:e>
                      <m:sub>
                        <m:r>
                          <m:rPr>
                            <m:sty m:val="p"/>
                          </m:rPr>
                          <a:rPr lang="en-US" altLang="zh-CN" sz="2000">
                            <a:solidFill>
                              <a:schemeClr val="tx2"/>
                            </a:solidFill>
                            <a:latin typeface="Cambria Math" panose="02040503050406030204" pitchFamily="18" charset="0"/>
                          </a:rPr>
                          <m:t>B</m:t>
                        </m:r>
                      </m:sub>
                    </m:sSub>
                    <m:r>
                      <a:rPr lang="en-US" altLang="zh-CN" sz="2000" i="1">
                        <a:solidFill>
                          <a:schemeClr val="tx2"/>
                        </a:solidFill>
                        <a:latin typeface="Cambria Math" panose="02040503050406030204" pitchFamily="18" charset="0"/>
                      </a:rPr>
                      <m:t>=</m:t>
                    </m:r>
                    <m:d>
                      <m:dPr>
                        <m:ctrlPr>
                          <a:rPr lang="en-US" altLang="zh-CN" sz="2000" i="1">
                            <a:solidFill>
                              <a:schemeClr val="tx2"/>
                            </a:solidFill>
                            <a:latin typeface="Cambria Math" panose="02040503050406030204" pitchFamily="18" charset="0"/>
                          </a:rPr>
                        </m:ctrlPr>
                      </m:dPr>
                      <m:e>
                        <m:r>
                          <a:rPr lang="en-US" altLang="zh-CN" sz="2000" i="1">
                            <a:solidFill>
                              <a:schemeClr val="tx2"/>
                            </a:solidFill>
                            <a:latin typeface="Cambria Math" panose="02040503050406030204" pitchFamily="18" charset="0"/>
                          </a:rPr>
                          <m:t>−0.1,0.1,−0.3,0.1,0.1</m:t>
                        </m:r>
                      </m:e>
                    </m:d>
                    <m:r>
                      <a:rPr lang="en-US" altLang="zh-CN" sz="2000" i="1">
                        <a:solidFill>
                          <a:schemeClr val="tx2"/>
                        </a:solidFill>
                        <a:latin typeface="Cambria Math" panose="02040503050406030204" pitchFamily="18" charset="0"/>
                      </a:rPr>
                      <m:t>∗</m:t>
                    </m:r>
                    <m:d>
                      <m:dPr>
                        <m:ctrlPr>
                          <a:rPr lang="en-US" altLang="zh-CN" sz="2000" i="1">
                            <a:solidFill>
                              <a:schemeClr val="tx2"/>
                            </a:solidFill>
                            <a:latin typeface="Cambria Math" panose="02040503050406030204" pitchFamily="18" charset="0"/>
                          </a:rPr>
                        </m:ctrlPr>
                      </m:dPr>
                      <m:e>
                        <m:eqArr>
                          <m:eqArrPr>
                            <m:ctrlPr>
                              <a:rPr lang="en-US" altLang="zh-CN" sz="2000" i="1">
                                <a:solidFill>
                                  <a:schemeClr val="tx2"/>
                                </a:solidFill>
                                <a:latin typeface="Cambria Math" panose="02040503050406030204" pitchFamily="18" charset="0"/>
                              </a:rPr>
                            </m:ctrlPr>
                          </m:eqArrPr>
                          <m:e>
                            <m:r>
                              <a:rPr lang="en-US" altLang="zh-CN" sz="2000" i="1">
                                <a:solidFill>
                                  <a:schemeClr val="tx2"/>
                                </a:solidFill>
                                <a:latin typeface="Cambria Math" panose="02040503050406030204" pitchFamily="18" charset="0"/>
                              </a:rPr>
                              <m:t>0</m:t>
                            </m:r>
                          </m:e>
                          <m:e>
                            <m:r>
                              <a:rPr lang="en-US" altLang="zh-CN" sz="2000" i="1">
                                <a:solidFill>
                                  <a:schemeClr val="tx2"/>
                                </a:solidFill>
                                <a:latin typeface="Cambria Math" panose="02040503050406030204" pitchFamily="18" charset="0"/>
                              </a:rPr>
                              <m:t>0</m:t>
                            </m:r>
                          </m:e>
                          <m:e>
                            <m:eqArr>
                              <m:eqArrPr>
                                <m:ctrlPr>
                                  <a:rPr lang="en-US" altLang="zh-CN" sz="2000" i="1">
                                    <a:solidFill>
                                      <a:schemeClr val="tx2"/>
                                    </a:solidFill>
                                    <a:latin typeface="Cambria Math" panose="02040503050406030204" pitchFamily="18" charset="0"/>
                                  </a:rPr>
                                </m:ctrlPr>
                              </m:eqArrPr>
                              <m:e>
                                <m:r>
                                  <a:rPr lang="en-US" altLang="zh-CN" sz="2000" i="1">
                                    <a:solidFill>
                                      <a:schemeClr val="tx2"/>
                                    </a:solidFill>
                                    <a:latin typeface="Cambria Math" panose="02040503050406030204" pitchFamily="18" charset="0"/>
                                  </a:rPr>
                                  <m:t>0</m:t>
                                </m:r>
                              </m:e>
                              <m:e>
                                <m:r>
                                  <a:rPr lang="en-US" altLang="zh-CN" sz="2000" i="1">
                                    <a:solidFill>
                                      <a:schemeClr val="tx2"/>
                                    </a:solidFill>
                                    <a:latin typeface="Cambria Math" panose="02040503050406030204" pitchFamily="18" charset="0"/>
                                  </a:rPr>
                                  <m:t>0</m:t>
                                </m:r>
                              </m:e>
                              <m:e>
                                <m:r>
                                  <a:rPr lang="en-US" altLang="zh-CN" sz="2000" i="1">
                                    <a:solidFill>
                                      <a:schemeClr val="tx2"/>
                                    </a:solidFill>
                                    <a:latin typeface="Cambria Math" panose="02040503050406030204" pitchFamily="18" charset="0"/>
                                  </a:rPr>
                                  <m:t>1</m:t>
                                </m:r>
                              </m:e>
                            </m:eqArr>
                          </m:e>
                        </m:eqArr>
                      </m:e>
                    </m:d>
                    <m:r>
                      <a:rPr lang="en-US" altLang="zh-CN" sz="2000">
                        <a:solidFill>
                          <a:schemeClr val="tx2"/>
                        </a:solidFill>
                        <a:latin typeface="Cambria Math" panose="02040503050406030204" pitchFamily="18" charset="0"/>
                      </a:rPr>
                      <m:t>=</m:t>
                    </m:r>
                    <m:d>
                      <m:dPr>
                        <m:ctrlPr>
                          <a:rPr lang="en-US" altLang="zh-CN" sz="2000" i="1">
                            <a:solidFill>
                              <a:schemeClr val="tx2"/>
                            </a:solidFill>
                            <a:latin typeface="Cambria Math" panose="02040503050406030204" pitchFamily="18" charset="0"/>
                          </a:rPr>
                        </m:ctrlPr>
                      </m:dPr>
                      <m:e>
                        <m:r>
                          <a:rPr lang="en-US" altLang="zh-CN" sz="2000" i="1">
                            <a:solidFill>
                              <a:schemeClr val="tx2"/>
                            </a:solidFill>
                            <a:latin typeface="Cambria Math" panose="02040503050406030204" pitchFamily="18" charset="0"/>
                          </a:rPr>
                          <m:t>0.1</m:t>
                        </m:r>
                      </m:e>
                    </m:d>
                  </m:oMath>
                </a14:m>
                <a:endParaRPr lang="en-US" altLang="zh-CN" sz="2000" dirty="0">
                  <a:solidFill>
                    <a:schemeClr val="tx2"/>
                  </a:solidFill>
                </a:endParaRPr>
              </a:p>
              <a:p>
                <a:pPr/>
                <a14:m>
                  <m:oMathPara xmlns:m="http://schemas.openxmlformats.org/officeDocument/2006/math">
                    <m:oMathParaPr>
                      <m:jc m:val="centerGroup"/>
                    </m:oMathParaPr>
                    <m:oMath xmlns:m="http://schemas.openxmlformats.org/officeDocument/2006/math">
                      <m:r>
                        <a:rPr lang="en-US" altLang="zh-CN" sz="2000" i="1">
                          <a:solidFill>
                            <a:schemeClr val="tx2"/>
                          </a:solidFill>
                          <a:latin typeface="Cambria Math" panose="02040503050406030204" pitchFamily="18" charset="0"/>
                        </a:rPr>
                        <m:t>𝑉𝑎𝑙𝑢𝑒</m:t>
                      </m:r>
                      <m:r>
                        <a:rPr lang="en-US" altLang="zh-CN" sz="2000" i="1">
                          <a:solidFill>
                            <a:schemeClr val="tx2"/>
                          </a:solidFill>
                          <a:latin typeface="Cambria Math" panose="02040503050406030204" pitchFamily="18" charset="0"/>
                        </a:rPr>
                        <m:t>=[0.5,0.1,0.5,0.1]</m:t>
                      </m:r>
                    </m:oMath>
                  </m:oMathPara>
                </a14:m>
                <a:endParaRPr lang="zh-CN" altLang="en-US" sz="2000" dirty="0">
                  <a:solidFill>
                    <a:schemeClr val="tx2"/>
                  </a:solidFill>
                </a:endParaRPr>
              </a:p>
            </p:txBody>
          </p:sp>
        </mc:Choice>
        <mc:Fallback xmlns="">
          <p:sp>
            <p:nvSpPr>
              <p:cNvPr id="3" name="文本框 2">
                <a:extLst>
                  <a:ext uri="{FF2B5EF4-FFF2-40B4-BE49-F238E27FC236}">
                    <a16:creationId xmlns:a16="http://schemas.microsoft.com/office/drawing/2014/main" id="{6A368FB5-4E52-B8D2-72B7-43606101024A}"/>
                  </a:ext>
                </a:extLst>
              </p:cNvPr>
              <p:cNvSpPr txBox="1">
                <a:spLocks noRot="1" noChangeAspect="1" noMove="1" noResize="1" noEditPoints="1" noAdjustHandles="1" noChangeArrowheads="1" noChangeShapeType="1" noTextEdit="1"/>
              </p:cNvSpPr>
              <p:nvPr/>
            </p:nvSpPr>
            <p:spPr>
              <a:xfrm>
                <a:off x="381242" y="2269261"/>
                <a:ext cx="9055100" cy="1861215"/>
              </a:xfrm>
              <a:prstGeom prst="rect">
                <a:avLst/>
              </a:prstGeom>
              <a:blipFill>
                <a:blip r:embed="rId3"/>
                <a:stretch>
                  <a:fillRect l="-741" b="-2288"/>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487AFEDF-6A9A-942D-3FAD-5E050DC3A3D3}"/>
              </a:ext>
            </a:extLst>
          </p:cNvPr>
          <p:cNvSpPr txBox="1"/>
          <p:nvPr/>
        </p:nvSpPr>
        <p:spPr>
          <a:xfrm>
            <a:off x="444500" y="4400529"/>
            <a:ext cx="3041650" cy="400110"/>
          </a:xfrm>
          <a:prstGeom prst="rect">
            <a:avLst/>
          </a:prstGeom>
          <a:noFill/>
        </p:spPr>
        <p:txBody>
          <a:bodyPr wrap="square" rtlCol="0">
            <a:spAutoFit/>
          </a:bodyPr>
          <a:lstStyle/>
          <a:p>
            <a:pPr algn="l"/>
            <a:r>
              <a:rPr lang="en-US" altLang="zh-CN" sz="2000" dirty="0">
                <a:solidFill>
                  <a:schemeClr val="tx2"/>
                </a:solidFill>
                <a:latin typeface="微软雅黑" panose="020B0503020204020204" pitchFamily="34" charset="-122"/>
                <a:ea typeface="微软雅黑" panose="020B0503020204020204" pitchFamily="34" charset="-122"/>
              </a:rPr>
              <a:t>D</a:t>
            </a:r>
            <a:r>
              <a:rPr lang="zh-CN" altLang="en-US" sz="2000" dirty="0">
                <a:solidFill>
                  <a:schemeClr val="tx2"/>
                </a:solidFill>
                <a:latin typeface="微软雅黑" panose="020B0503020204020204" pitchFamily="34" charset="-122"/>
                <a:ea typeface="微软雅黑" panose="020B0503020204020204" pitchFamily="34" charset="-122"/>
              </a:rPr>
              <a:t>的化学成绩</a:t>
            </a:r>
          </a:p>
        </p:txBody>
      </p:sp>
      <p:sp>
        <p:nvSpPr>
          <p:cNvPr id="16" name="文本框 15">
            <a:extLst>
              <a:ext uri="{FF2B5EF4-FFF2-40B4-BE49-F238E27FC236}">
                <a16:creationId xmlns:a16="http://schemas.microsoft.com/office/drawing/2014/main" id="{611746CC-D559-E413-1798-FE5F0C3730DE}"/>
              </a:ext>
            </a:extLst>
          </p:cNvPr>
          <p:cNvSpPr txBox="1"/>
          <p:nvPr/>
        </p:nvSpPr>
        <p:spPr>
          <a:xfrm>
            <a:off x="2825750" y="4913631"/>
            <a:ext cx="5289550" cy="400110"/>
          </a:xfrm>
          <a:prstGeom prst="rect">
            <a:avLst/>
          </a:prstGeom>
          <a:noFill/>
        </p:spPr>
        <p:txBody>
          <a:bodyPr wrap="square" rtlCol="0">
            <a:spAutoFit/>
          </a:bodyPr>
          <a:lstStyle/>
          <a:p>
            <a:r>
              <a:rPr lang="en-US" altLang="zh-CN" sz="2000" dirty="0" err="1">
                <a:solidFill>
                  <a:schemeClr val="tx2"/>
                </a:solidFill>
              </a:rPr>
              <a:t>Att</a:t>
            </a:r>
            <a:r>
              <a:rPr lang="en-US" altLang="zh-CN" sz="2000" dirty="0">
                <a:solidFill>
                  <a:schemeClr val="tx2"/>
                </a:solidFill>
              </a:rPr>
              <a:t>*Value=0.48*0.5+0.18*0.1+0.34*0.5=0.43</a:t>
            </a:r>
            <a:endParaRPr lang="zh-CN" altLang="en-US" sz="2000" dirty="0">
              <a:solidFill>
                <a:schemeClr val="tx2"/>
              </a:solidFill>
            </a:endParaRPr>
          </a:p>
        </p:txBody>
      </p:sp>
      <p:sp>
        <p:nvSpPr>
          <p:cNvPr id="17" name="文本框 16">
            <a:extLst>
              <a:ext uri="{FF2B5EF4-FFF2-40B4-BE49-F238E27FC236}">
                <a16:creationId xmlns:a16="http://schemas.microsoft.com/office/drawing/2014/main" id="{FFCDD767-387A-9490-D790-6098CFD9BCA0}"/>
              </a:ext>
            </a:extLst>
          </p:cNvPr>
          <p:cNvSpPr txBox="1"/>
          <p:nvPr/>
        </p:nvSpPr>
        <p:spPr>
          <a:xfrm>
            <a:off x="7413625" y="2967335"/>
            <a:ext cx="4362450" cy="461665"/>
          </a:xfrm>
          <a:prstGeom prst="rect">
            <a:avLst/>
          </a:prstGeom>
          <a:noFill/>
        </p:spPr>
        <p:txBody>
          <a:bodyPr wrap="square" rtlCol="0">
            <a:spAutoFit/>
          </a:bodyPr>
          <a:lstStyle/>
          <a:p>
            <a:pPr algn="l"/>
            <a:r>
              <a:rPr lang="en-US" altLang="zh-CN" sz="2400" b="1" dirty="0">
                <a:latin typeface="微软雅黑" panose="020B0503020204020204" pitchFamily="34" charset="-122"/>
                <a:ea typeface="微软雅黑" panose="020B0503020204020204" pitchFamily="34" charset="-122"/>
              </a:rPr>
              <a:t>Key</a:t>
            </a:r>
            <a:r>
              <a:rPr lang="zh-CN" altLang="en-US" sz="2400" b="1" dirty="0">
                <a:latin typeface="微软雅黑" panose="020B0503020204020204" pitchFamily="34" charset="-122"/>
                <a:ea typeface="微软雅黑" panose="020B0503020204020204" pitchFamily="34" charset="-122"/>
              </a:rPr>
              <a:t>和</a:t>
            </a:r>
            <a:r>
              <a:rPr lang="en-US" altLang="zh-CN" sz="2400" b="1" dirty="0">
                <a:latin typeface="微软雅黑" panose="020B0503020204020204" pitchFamily="34" charset="-122"/>
                <a:ea typeface="微软雅黑" panose="020B0503020204020204" pitchFamily="34" charset="-122"/>
              </a:rPr>
              <a:t>value</a:t>
            </a:r>
            <a:r>
              <a:rPr lang="zh-CN" altLang="en-US" sz="2400" b="1" dirty="0">
                <a:latin typeface="微软雅黑" panose="020B0503020204020204" pitchFamily="34" charset="-122"/>
                <a:ea typeface="微软雅黑" panose="020B0503020204020204" pitchFamily="34" charset="-122"/>
              </a:rPr>
              <a:t>对，可以无限多！</a:t>
            </a:r>
          </a:p>
        </p:txBody>
      </p:sp>
      <p:sp>
        <p:nvSpPr>
          <p:cNvPr id="4" name="文本框 3">
            <a:extLst>
              <a:ext uri="{FF2B5EF4-FFF2-40B4-BE49-F238E27FC236}">
                <a16:creationId xmlns:a16="http://schemas.microsoft.com/office/drawing/2014/main" id="{1F9D4945-E113-CD38-C3F9-EA64A2D83B82}"/>
              </a:ext>
            </a:extLst>
          </p:cNvPr>
          <p:cNvSpPr txBox="1"/>
          <p:nvPr/>
        </p:nvSpPr>
        <p:spPr>
          <a:xfrm>
            <a:off x="2752725" y="2483573"/>
            <a:ext cx="2717800" cy="400110"/>
          </a:xfrm>
          <a:prstGeom prst="rect">
            <a:avLst/>
          </a:prstGeom>
          <a:noFill/>
        </p:spPr>
        <p:txBody>
          <a:bodyPr wrap="square" rtlCol="0">
            <a:spAutoFit/>
          </a:bodyPr>
          <a:lstStyle/>
          <a:p>
            <a:pPr algn="l"/>
            <a:r>
              <a:rPr lang="zh-CN" altLang="en-US" sz="2000" dirty="0">
                <a:solidFill>
                  <a:schemeClr val="tx2"/>
                </a:solidFill>
                <a:latin typeface="微软雅黑" panose="020B0503020204020204" pitchFamily="34" charset="-122"/>
                <a:ea typeface="微软雅黑" panose="020B0503020204020204" pitchFamily="34" charset="-122"/>
              </a:rPr>
              <a:t>线性变换提取特征</a:t>
            </a:r>
          </a:p>
        </p:txBody>
      </p:sp>
    </p:spTree>
    <p:extLst>
      <p:ext uri="{BB962C8B-B14F-4D97-AF65-F5344CB8AC3E}">
        <p14:creationId xmlns:p14="http://schemas.microsoft.com/office/powerpoint/2010/main" val="3255077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Attention is all you need</a:t>
            </a:r>
            <a:r>
              <a:rPr lang="zh-CN" altLang="en-US" dirty="0"/>
              <a:t>！</a:t>
            </a:r>
          </a:p>
        </p:txBody>
      </p:sp>
      <p:pic>
        <p:nvPicPr>
          <p:cNvPr id="5" name="图片 4"/>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2002558" y="2024726"/>
            <a:ext cx="3037840" cy="4295140"/>
          </a:xfrm>
          <a:prstGeom prst="rect">
            <a:avLst/>
          </a:prstGeom>
        </p:spPr>
      </p:pic>
      <p:pic>
        <p:nvPicPr>
          <p:cNvPr id="6" name="图片 5"/>
          <p:cNvPicPr>
            <a:picLocks noChangeAspect="1"/>
          </p:cNvPicPr>
          <p:nvPr/>
        </p:nvPicPr>
        <p:blipFill>
          <a:blip r:embed="rId3">
            <a:clrChange>
              <a:clrFrom>
                <a:srgbClr val="FEFEFE">
                  <a:alpha val="100000"/>
                </a:srgbClr>
              </a:clrFrom>
              <a:clrTo>
                <a:srgbClr val="FEFEFE">
                  <a:alpha val="100000"/>
                  <a:alpha val="0"/>
                </a:srgbClr>
              </a:clrTo>
            </a:clrChange>
          </a:blip>
          <a:stretch>
            <a:fillRect/>
          </a:stretch>
        </p:blipFill>
        <p:spPr>
          <a:xfrm>
            <a:off x="6931746" y="2141566"/>
            <a:ext cx="2401570" cy="4061460"/>
          </a:xfrm>
          <a:prstGeom prst="rect">
            <a:avLst/>
          </a:prstGeom>
        </p:spPr>
      </p:pic>
      <p:sp>
        <p:nvSpPr>
          <p:cNvPr id="7" name="文本框 6"/>
          <p:cNvSpPr txBox="1"/>
          <p:nvPr/>
        </p:nvSpPr>
        <p:spPr>
          <a:xfrm>
            <a:off x="381242" y="1042098"/>
            <a:ext cx="11073130" cy="1099468"/>
          </a:xfrm>
          <a:prstGeom prst="rect">
            <a:avLst/>
          </a:prstGeom>
          <a:noFill/>
        </p:spPr>
        <p:txBody>
          <a:bodyPr wrap="square" rtlCol="0">
            <a:spAutoFit/>
          </a:bodyPr>
          <a:lstStyle/>
          <a:p>
            <a:pPr indent="0" fontAlgn="auto">
              <a:lnSpc>
                <a:spcPct val="125000"/>
              </a:lnSpc>
              <a:spcBef>
                <a:spcPts val="600"/>
              </a:spcBef>
            </a:pPr>
            <a:r>
              <a:rPr lang="zh-CN" altLang="en-US" dirty="0">
                <a:solidFill>
                  <a:schemeClr val="tx2"/>
                </a:solidFill>
                <a:latin typeface="微软雅黑" panose="020B0503020204020204" pitchFamily="34" charset="-122"/>
                <a:ea typeface="微软雅黑" panose="020B0503020204020204" pitchFamily="34" charset="-122"/>
              </a:rPr>
              <a:t>最早的</a:t>
            </a:r>
            <a:r>
              <a:rPr lang="en-US" altLang="zh-CN" dirty="0">
                <a:solidFill>
                  <a:schemeClr val="tx2"/>
                </a:solidFill>
                <a:latin typeface="微软雅黑" panose="020B0503020204020204" pitchFamily="34" charset="-122"/>
                <a:ea typeface="微软雅黑" panose="020B0503020204020204" pitchFamily="34" charset="-122"/>
              </a:rPr>
              <a:t>Transformer</a:t>
            </a:r>
            <a:r>
              <a:rPr lang="zh-CN" altLang="en-US" dirty="0">
                <a:solidFill>
                  <a:schemeClr val="tx2"/>
                </a:solidFill>
                <a:latin typeface="微软雅黑" panose="020B0503020204020204" pitchFamily="34" charset="-122"/>
                <a:ea typeface="微软雅黑" panose="020B0503020204020204" pitchFamily="34" charset="-122"/>
              </a:rPr>
              <a:t>模型</a:t>
            </a:r>
            <a:r>
              <a:rPr lang="en-US" altLang="zh-CN" baseline="30000" dirty="0">
                <a:solidFill>
                  <a:schemeClr val="tx2"/>
                </a:solidFill>
                <a:latin typeface="微软雅黑" panose="020B0503020204020204" pitchFamily="34" charset="-122"/>
                <a:ea typeface="微软雅黑" panose="020B0503020204020204" pitchFamily="34" charset="-122"/>
              </a:rPr>
              <a:t>[1]</a:t>
            </a:r>
            <a:r>
              <a:rPr lang="zh-CN" altLang="en-US" dirty="0">
                <a:solidFill>
                  <a:schemeClr val="tx2"/>
                </a:solidFill>
                <a:latin typeface="微软雅黑" panose="020B0503020204020204" pitchFamily="34" charset="-122"/>
                <a:ea typeface="微软雅黑" panose="020B0503020204020204" pitchFamily="34" charset="-122"/>
              </a:rPr>
              <a:t>的提出是为了解决翻译问题，用的是</a:t>
            </a:r>
            <a:r>
              <a:rPr lang="en-US" altLang="zh-CN" b="1" dirty="0">
                <a:solidFill>
                  <a:schemeClr val="tx2"/>
                </a:solidFill>
                <a:latin typeface="微软雅黑" panose="020B0503020204020204" pitchFamily="34" charset="-122"/>
                <a:ea typeface="微软雅黑" panose="020B0503020204020204" pitchFamily="34" charset="-122"/>
              </a:rPr>
              <a:t>encoder-decoder</a:t>
            </a:r>
            <a:r>
              <a:rPr lang="zh-CN" altLang="en-US" dirty="0">
                <a:solidFill>
                  <a:schemeClr val="tx2"/>
                </a:solidFill>
                <a:latin typeface="微软雅黑" panose="020B0503020204020204" pitchFamily="34" charset="-122"/>
                <a:ea typeface="微软雅黑" panose="020B0503020204020204" pitchFamily="34" charset="-122"/>
              </a:rPr>
              <a:t>结构，将原文放入</a:t>
            </a:r>
            <a:r>
              <a:rPr lang="en-US" altLang="zh-CN" dirty="0">
                <a:solidFill>
                  <a:schemeClr val="tx2"/>
                </a:solidFill>
                <a:latin typeface="微软雅黑" panose="020B0503020204020204" pitchFamily="34" charset="-122"/>
                <a:ea typeface="微软雅黑" panose="020B0503020204020204" pitchFamily="34" charset="-122"/>
              </a:rPr>
              <a:t>encoder</a:t>
            </a:r>
            <a:r>
              <a:rPr lang="zh-CN" altLang="en-US" dirty="0">
                <a:solidFill>
                  <a:schemeClr val="tx2"/>
                </a:solidFill>
                <a:latin typeface="微软雅黑" panose="020B0503020204020204" pitchFamily="34" charset="-122"/>
                <a:ea typeface="微软雅黑" panose="020B0503020204020204" pitchFamily="34" charset="-122"/>
              </a:rPr>
              <a:t>，将译文放入</a:t>
            </a:r>
            <a:r>
              <a:rPr lang="en-US" altLang="zh-CN" dirty="0">
                <a:solidFill>
                  <a:schemeClr val="tx2"/>
                </a:solidFill>
                <a:latin typeface="微软雅黑" panose="020B0503020204020204" pitchFamily="34" charset="-122"/>
                <a:ea typeface="微软雅黑" panose="020B0503020204020204" pitchFamily="34" charset="-122"/>
              </a:rPr>
              <a:t>decoder</a:t>
            </a:r>
            <a:r>
              <a:rPr lang="zh-CN" altLang="en-US" dirty="0">
                <a:solidFill>
                  <a:schemeClr val="tx2"/>
                </a:solidFill>
                <a:latin typeface="微软雅黑" panose="020B0503020204020204" pitchFamily="34" charset="-122"/>
                <a:ea typeface="微软雅黑" panose="020B0503020204020204" pitchFamily="34" charset="-122"/>
              </a:rPr>
              <a:t>来进行推理。现在人们发现，</a:t>
            </a:r>
            <a:r>
              <a:rPr lang="en-US" altLang="zh-CN" b="1" dirty="0">
                <a:solidFill>
                  <a:schemeClr val="tx2"/>
                </a:solidFill>
                <a:latin typeface="微软雅黑" panose="020B0503020204020204" pitchFamily="34" charset="-122"/>
                <a:ea typeface="微软雅黑" panose="020B0503020204020204" pitchFamily="34" charset="-122"/>
              </a:rPr>
              <a:t>decoder-only</a:t>
            </a:r>
            <a:r>
              <a:rPr lang="zh-CN" altLang="en-US" dirty="0">
                <a:solidFill>
                  <a:schemeClr val="tx2"/>
                </a:solidFill>
                <a:latin typeface="微软雅黑" panose="020B0503020204020204" pitchFamily="34" charset="-122"/>
                <a:ea typeface="微软雅黑" panose="020B0503020204020204" pitchFamily="34" charset="-122"/>
              </a:rPr>
              <a:t>的结构更加灵活，并且可以完成多类任务。</a:t>
            </a:r>
          </a:p>
        </p:txBody>
      </p:sp>
      <p:sp>
        <p:nvSpPr>
          <p:cNvPr id="8" name="右箭头 8"/>
          <p:cNvSpPr/>
          <p:nvPr/>
        </p:nvSpPr>
        <p:spPr>
          <a:xfrm>
            <a:off x="5411930" y="3995766"/>
            <a:ext cx="961390" cy="353060"/>
          </a:xfrm>
          <a:prstGeom prst="rightArrow">
            <a:avLst>
              <a:gd name="adj1" fmla="val 38247"/>
              <a:gd name="adj2" fmla="val 72678"/>
            </a:avLst>
          </a:prstGeom>
          <a:solidFill>
            <a:sysClr val="window" lastClr="FFFFFF"/>
          </a:solidFill>
          <a:ln w="12700" cap="flat" cmpd="sng" algn="ctr">
            <a:solidFill>
              <a:schemeClr val="tx1"/>
            </a:solidFill>
            <a:prstDash val="solid"/>
            <a:miter lim="800000"/>
          </a:ln>
        </p:spPr>
        <p:txBody>
          <a:bodyPr rtlCol="0" anchor="ctr"/>
          <a:lstStyle/>
          <a:p>
            <a:pPr algn="just"/>
            <a:endParaRPr lang="zh-CN" altLang="en-US" dirty="0"/>
          </a:p>
        </p:txBody>
      </p:sp>
      <p:sp>
        <p:nvSpPr>
          <p:cNvPr id="14" name="文本框 13"/>
          <p:cNvSpPr txBox="1"/>
          <p:nvPr/>
        </p:nvSpPr>
        <p:spPr>
          <a:xfrm>
            <a:off x="126998" y="6351998"/>
            <a:ext cx="10665179" cy="376834"/>
          </a:xfrm>
          <a:prstGeom prst="rect">
            <a:avLst/>
          </a:prstGeom>
          <a:noFill/>
        </p:spPr>
        <p:txBody>
          <a:bodyPr wrap="square" rtlCol="0">
            <a:spAutoFit/>
          </a:bodyPr>
          <a:lstStyle/>
          <a:p>
            <a:pPr algn="l">
              <a:lnSpc>
                <a:spcPct val="150000"/>
              </a:lnSpc>
            </a:pP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 Vaswani A, </a:t>
            </a:r>
            <a:r>
              <a:rPr lang="en-US" altLang="zh-CN" sz="1400"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Shazeer</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N, Parmar N, et al. Attention is all you need[J]. Advances in neural information processing systems, 2017, 30.</a:t>
            </a:r>
            <a:endParaRPr lang="en-US"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D13405-9353-493E-1D8F-3C9CF0B71BE1}"/>
              </a:ext>
            </a:extLst>
          </p:cNvPr>
          <p:cNvSpPr>
            <a:spLocks noGrp="1"/>
          </p:cNvSpPr>
          <p:nvPr>
            <p:ph type="title"/>
          </p:nvPr>
        </p:nvSpPr>
        <p:spPr/>
        <p:txBody>
          <a:bodyPr/>
          <a:lstStyle/>
          <a:p>
            <a:r>
              <a:rPr lang="en-US" altLang="zh-CN" dirty="0"/>
              <a:t>Decoder only</a:t>
            </a:r>
            <a:endParaRPr lang="zh-CN" altLang="en-US" dirty="0"/>
          </a:p>
        </p:txBody>
      </p:sp>
      <p:pic>
        <p:nvPicPr>
          <p:cNvPr id="5" name="图片 4">
            <a:extLst>
              <a:ext uri="{FF2B5EF4-FFF2-40B4-BE49-F238E27FC236}">
                <a16:creationId xmlns:a16="http://schemas.microsoft.com/office/drawing/2014/main" id="{AC9CE2CB-54D8-E083-7ABD-CF86D32CA329}"/>
              </a:ext>
            </a:extLst>
          </p:cNvPr>
          <p:cNvPicPr>
            <a:picLocks noChangeAspect="1"/>
          </p:cNvPicPr>
          <p:nvPr/>
        </p:nvPicPr>
        <p:blipFill>
          <a:blip r:embed="rId2"/>
          <a:srcRect b="31390"/>
          <a:stretch>
            <a:fillRect/>
          </a:stretch>
        </p:blipFill>
        <p:spPr>
          <a:xfrm>
            <a:off x="477520" y="1004177"/>
            <a:ext cx="8519160" cy="2247023"/>
          </a:xfrm>
          <a:prstGeom prst="rect">
            <a:avLst/>
          </a:prstGeom>
        </p:spPr>
      </p:pic>
      <p:pic>
        <p:nvPicPr>
          <p:cNvPr id="7" name="图片 6">
            <a:extLst>
              <a:ext uri="{FF2B5EF4-FFF2-40B4-BE49-F238E27FC236}">
                <a16:creationId xmlns:a16="http://schemas.microsoft.com/office/drawing/2014/main" id="{8DA70DF0-3F0B-B2E1-103E-AD3AF1D95206}"/>
              </a:ext>
            </a:extLst>
          </p:cNvPr>
          <p:cNvPicPr>
            <a:picLocks noChangeAspect="1"/>
          </p:cNvPicPr>
          <p:nvPr/>
        </p:nvPicPr>
        <p:blipFill>
          <a:blip r:embed="rId3"/>
          <a:stretch>
            <a:fillRect/>
          </a:stretch>
        </p:blipFill>
        <p:spPr>
          <a:xfrm>
            <a:off x="716280" y="3927271"/>
            <a:ext cx="8173720" cy="1813150"/>
          </a:xfrm>
          <a:prstGeom prst="rect">
            <a:avLst/>
          </a:prstGeom>
        </p:spPr>
      </p:pic>
      <p:sp>
        <p:nvSpPr>
          <p:cNvPr id="9" name="文本框 8">
            <a:extLst>
              <a:ext uri="{FF2B5EF4-FFF2-40B4-BE49-F238E27FC236}">
                <a16:creationId xmlns:a16="http://schemas.microsoft.com/office/drawing/2014/main" id="{41A756F3-EABB-7BF5-1F9A-555332AA298B}"/>
              </a:ext>
            </a:extLst>
          </p:cNvPr>
          <p:cNvSpPr txBox="1"/>
          <p:nvPr/>
        </p:nvSpPr>
        <p:spPr>
          <a:xfrm>
            <a:off x="9331960" y="4721275"/>
            <a:ext cx="2702560" cy="400110"/>
          </a:xfrm>
          <a:prstGeom prst="rect">
            <a:avLst/>
          </a:prstGeom>
          <a:noFill/>
        </p:spPr>
        <p:txBody>
          <a:bodyPr wrap="square">
            <a:spAutoFit/>
          </a:bodyPr>
          <a:lstStyle/>
          <a:p>
            <a:r>
              <a:rPr lang="en-US" altLang="zh-CN" sz="2000" b="1" i="0" dirty="0">
                <a:solidFill>
                  <a:srgbClr val="000000"/>
                </a:solidFill>
                <a:effectLst/>
                <a:latin typeface="LMRoman10-Regular-Identity-H"/>
              </a:rPr>
              <a:t>“Post-</a:t>
            </a:r>
            <a:r>
              <a:rPr lang="en-US" altLang="zh-CN" sz="2000" b="1" i="0" dirty="0" err="1">
                <a:solidFill>
                  <a:srgbClr val="000000"/>
                </a:solidFill>
                <a:effectLst/>
                <a:latin typeface="LMRoman10-Regular-Identity-H"/>
              </a:rPr>
              <a:t>layernorm</a:t>
            </a:r>
            <a:r>
              <a:rPr lang="en-US" altLang="zh-CN" sz="2000" b="1" i="0" dirty="0">
                <a:solidFill>
                  <a:srgbClr val="000000"/>
                </a:solidFill>
                <a:effectLst/>
                <a:latin typeface="FandolSong-Regular-Identity-H"/>
              </a:rPr>
              <a:t>”</a:t>
            </a:r>
            <a:r>
              <a:rPr lang="zh-CN" altLang="en-US" sz="2000" b="1" i="0" dirty="0">
                <a:solidFill>
                  <a:srgbClr val="000000"/>
                </a:solidFill>
                <a:effectLst/>
                <a:latin typeface="FandolSong-Regular-Identity-H"/>
              </a:rPr>
              <a:t>架构</a:t>
            </a:r>
            <a:r>
              <a:rPr lang="zh-CN" altLang="en-US" sz="2000" b="1" dirty="0"/>
              <a:t> </a:t>
            </a:r>
          </a:p>
        </p:txBody>
      </p:sp>
      <p:sp>
        <p:nvSpPr>
          <p:cNvPr id="10" name="文本框 9">
            <a:extLst>
              <a:ext uri="{FF2B5EF4-FFF2-40B4-BE49-F238E27FC236}">
                <a16:creationId xmlns:a16="http://schemas.microsoft.com/office/drawing/2014/main" id="{9F6905AA-B674-73DA-260E-879ED76E86D7}"/>
              </a:ext>
            </a:extLst>
          </p:cNvPr>
          <p:cNvSpPr txBox="1"/>
          <p:nvPr/>
        </p:nvSpPr>
        <p:spPr>
          <a:xfrm>
            <a:off x="9331960" y="1736615"/>
            <a:ext cx="2702560" cy="400110"/>
          </a:xfrm>
          <a:prstGeom prst="rect">
            <a:avLst/>
          </a:prstGeom>
          <a:noFill/>
        </p:spPr>
        <p:txBody>
          <a:bodyPr wrap="square">
            <a:spAutoFit/>
          </a:bodyPr>
          <a:lstStyle/>
          <a:p>
            <a:r>
              <a:rPr lang="en-US" altLang="zh-CN" sz="2000" b="1" i="0" dirty="0">
                <a:solidFill>
                  <a:srgbClr val="000000"/>
                </a:solidFill>
                <a:effectLst/>
                <a:latin typeface="LMRoman10-Regular-Identity-H"/>
              </a:rPr>
              <a:t>“Pre-</a:t>
            </a:r>
            <a:r>
              <a:rPr lang="en-US" altLang="zh-CN" sz="2000" b="1" i="0" dirty="0" err="1">
                <a:solidFill>
                  <a:srgbClr val="000000"/>
                </a:solidFill>
                <a:effectLst/>
                <a:latin typeface="LMRoman10-Regular-Identity-H"/>
              </a:rPr>
              <a:t>layernorm</a:t>
            </a:r>
            <a:r>
              <a:rPr lang="en-US" altLang="zh-CN" sz="2000" b="1" i="0" dirty="0">
                <a:solidFill>
                  <a:srgbClr val="000000"/>
                </a:solidFill>
                <a:effectLst/>
                <a:latin typeface="FandolSong-Regular-Identity-H"/>
              </a:rPr>
              <a:t>”</a:t>
            </a:r>
            <a:r>
              <a:rPr lang="zh-CN" altLang="en-US" sz="2000" b="1" i="0" dirty="0">
                <a:solidFill>
                  <a:srgbClr val="000000"/>
                </a:solidFill>
                <a:effectLst/>
                <a:latin typeface="FandolSong-Regular-Identity-H"/>
              </a:rPr>
              <a:t>架构</a:t>
            </a:r>
            <a:r>
              <a:rPr lang="zh-CN" altLang="en-US" sz="2000" b="1" dirty="0"/>
              <a:t> </a:t>
            </a:r>
          </a:p>
        </p:txBody>
      </p:sp>
    </p:spTree>
    <p:extLst>
      <p:ext uri="{BB962C8B-B14F-4D97-AF65-F5344CB8AC3E}">
        <p14:creationId xmlns:p14="http://schemas.microsoft.com/office/powerpoint/2010/main" val="2765639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23E9E-70A8-FD3E-6D4C-DA8C8388C1F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4637F9A5-2EFE-11CC-C7E2-0DE15F8D8E2A}"/>
              </a:ext>
            </a:extLst>
          </p:cNvPr>
          <p:cNvSpPr>
            <a:spLocks noGrp="1"/>
          </p:cNvSpPr>
          <p:nvPr>
            <p:ph type="title"/>
          </p:nvPr>
        </p:nvSpPr>
        <p:spPr/>
        <p:txBody>
          <a:bodyPr/>
          <a:lstStyle/>
          <a:p>
            <a:r>
              <a:rPr lang="en-US" altLang="zh-CN" dirty="0"/>
              <a:t>Next Token Prediction</a:t>
            </a:r>
            <a:r>
              <a:rPr lang="zh-CN" altLang="en-US" dirty="0"/>
              <a:t>框架</a:t>
            </a:r>
          </a:p>
        </p:txBody>
      </p:sp>
      <p:sp>
        <p:nvSpPr>
          <p:cNvPr id="11" name="文本框 10">
            <a:extLst>
              <a:ext uri="{FF2B5EF4-FFF2-40B4-BE49-F238E27FC236}">
                <a16:creationId xmlns:a16="http://schemas.microsoft.com/office/drawing/2014/main" id="{64A21656-64BD-4EEF-727D-C66EF39D41F1}"/>
              </a:ext>
            </a:extLst>
          </p:cNvPr>
          <p:cNvSpPr txBox="1"/>
          <p:nvPr/>
        </p:nvSpPr>
        <p:spPr>
          <a:xfrm>
            <a:off x="381242" y="957720"/>
            <a:ext cx="10962640" cy="2813399"/>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什么是</a:t>
            </a:r>
            <a:r>
              <a:rPr kumimoji="0" lang="en-US" altLang="zh-CN"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Next Token Prediction</a:t>
            </a:r>
            <a:r>
              <a:rPr kumimoji="0" lang="zh-CN" altLang="en-US"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框架？</a:t>
            </a:r>
            <a:endParaRPr kumimoji="0" lang="en-US" altLang="zh-CN"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18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一种基于语言模型的技术，旨在根据给定的前文语境，预测序列中的下一个词或标记（</a:t>
            </a:r>
            <a:r>
              <a:rPr kumimoji="0" lang="en-US" altLang="zh-CN" sz="18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token</a:t>
            </a:r>
            <a:r>
              <a:rPr kumimoji="0" lang="zh-CN" altLang="en-US" sz="18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a:t>
            </a:r>
            <a:endParaRPr kumimoji="0" lang="en-US" altLang="zh-CN" sz="18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Next Token Prediction</a:t>
            </a:r>
            <a:r>
              <a:rPr kumimoji="0" lang="zh-CN" altLang="en-US"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框架的优势？</a:t>
            </a:r>
            <a:endParaRPr kumimoji="0" lang="en-US" altLang="zh-CN" sz="24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18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数据驱动学习：不依赖复杂的人工规则，仅需大量的文本数据训练</a:t>
            </a:r>
            <a:r>
              <a:rPr kumimoji="0" lang="zh-CN" altLang="en-US" sz="18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，自动学习语言模式和规律，适应多种语言和领域文本</a:t>
            </a:r>
          </a:p>
          <a:p>
            <a:pPr marL="742950" marR="0" lvl="1"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p"/>
              <a:tabLst/>
              <a:defRPr/>
            </a:pPr>
            <a:r>
              <a:rPr kumimoji="0" lang="zh-CN" altLang="en-US" sz="1800" b="1"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上下文感知：</a:t>
            </a:r>
            <a:r>
              <a:rPr kumimoji="0" lang="zh-CN" altLang="en-US" sz="18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存在前文语境信息，能依据上下文预测下一个词，生成的文本连贯性和逻辑性强</a:t>
            </a:r>
          </a:p>
        </p:txBody>
      </p:sp>
      <p:pic>
        <p:nvPicPr>
          <p:cNvPr id="5" name="图片 4">
            <a:extLst>
              <a:ext uri="{FF2B5EF4-FFF2-40B4-BE49-F238E27FC236}">
                <a16:creationId xmlns:a16="http://schemas.microsoft.com/office/drawing/2014/main" id="{7DD6F39B-3C57-2E11-7A92-AAFB77DC6ACD}"/>
              </a:ext>
            </a:extLst>
          </p:cNvPr>
          <p:cNvPicPr>
            <a:picLocks noChangeAspect="1"/>
          </p:cNvPicPr>
          <p:nvPr/>
        </p:nvPicPr>
        <p:blipFill>
          <a:blip r:embed="rId2">
            <a:clrChange>
              <a:clrFrom>
                <a:srgbClr val="FEFEFE"/>
              </a:clrFrom>
              <a:clrTo>
                <a:srgbClr val="FEFEFE">
                  <a:alpha val="0"/>
                </a:srgbClr>
              </a:clrTo>
            </a:clrChange>
          </a:blip>
          <a:stretch>
            <a:fillRect/>
          </a:stretch>
        </p:blipFill>
        <p:spPr>
          <a:xfrm>
            <a:off x="3556889" y="5928338"/>
            <a:ext cx="333860" cy="394753"/>
          </a:xfrm>
          <a:prstGeom prst="rect">
            <a:avLst/>
          </a:prstGeom>
        </p:spPr>
      </p:pic>
      <p:sp>
        <p:nvSpPr>
          <p:cNvPr id="10" name="文本框 9">
            <a:extLst>
              <a:ext uri="{FF2B5EF4-FFF2-40B4-BE49-F238E27FC236}">
                <a16:creationId xmlns:a16="http://schemas.microsoft.com/office/drawing/2014/main" id="{E7A39444-506A-CE33-E559-C326BE4A236F}"/>
              </a:ext>
            </a:extLst>
          </p:cNvPr>
          <p:cNvSpPr txBox="1"/>
          <p:nvPr/>
        </p:nvSpPr>
        <p:spPr>
          <a:xfrm>
            <a:off x="2998132" y="5980937"/>
            <a:ext cx="54373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133984">
                    <a:lumMod val="75000"/>
                  </a:srgbClr>
                </a:solidFill>
                <a:effectLst/>
                <a:uLnTx/>
                <a:uFillTx/>
                <a:latin typeface="微软雅黑" panose="020B0503020204020204" pitchFamily="34" charset="-122"/>
                <a:ea typeface="微软雅黑" panose="020B0503020204020204" pitchFamily="34" charset="-122"/>
                <a:cs typeface="+mn-cs"/>
              </a:rPr>
              <a:t>文本</a:t>
            </a:r>
          </a:p>
        </p:txBody>
      </p:sp>
      <p:sp>
        <p:nvSpPr>
          <p:cNvPr id="21" name="矩形: 圆角 20">
            <a:extLst>
              <a:ext uri="{FF2B5EF4-FFF2-40B4-BE49-F238E27FC236}">
                <a16:creationId xmlns:a16="http://schemas.microsoft.com/office/drawing/2014/main" id="{4CF8A492-DE1F-48C8-4AD1-417588D93513}"/>
              </a:ext>
            </a:extLst>
          </p:cNvPr>
          <p:cNvSpPr/>
          <p:nvPr/>
        </p:nvSpPr>
        <p:spPr>
          <a:xfrm>
            <a:off x="2847868" y="4540523"/>
            <a:ext cx="5571366" cy="307779"/>
          </a:xfrm>
          <a:prstGeom prst="roundRect">
            <a:avLst/>
          </a:prstGeom>
          <a:solidFill>
            <a:schemeClr val="bg2">
              <a:lumMod val="20000"/>
              <a:lumOff val="80000"/>
            </a:schemeClr>
          </a:solidFill>
          <a:ln w="19050">
            <a:solidFill>
              <a:srgbClr val="070707"/>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语言模型</a:t>
            </a:r>
          </a:p>
        </p:txBody>
      </p:sp>
      <p:sp>
        <p:nvSpPr>
          <p:cNvPr id="22" name="矩形: 圆角 21">
            <a:extLst>
              <a:ext uri="{FF2B5EF4-FFF2-40B4-BE49-F238E27FC236}">
                <a16:creationId xmlns:a16="http://schemas.microsoft.com/office/drawing/2014/main" id="{5F996171-F40D-DFBC-3775-72B9C9A702E5}"/>
              </a:ext>
            </a:extLst>
          </p:cNvPr>
          <p:cNvSpPr/>
          <p:nvPr/>
        </p:nvSpPr>
        <p:spPr>
          <a:xfrm>
            <a:off x="2851914" y="5494349"/>
            <a:ext cx="1218027" cy="307777"/>
          </a:xfrm>
          <a:prstGeom prst="roundRect">
            <a:avLst/>
          </a:prstGeom>
          <a:solidFill>
            <a:schemeClr val="bg2">
              <a:lumMod val="20000"/>
              <a:lumOff val="80000"/>
            </a:schemeClr>
          </a:solidFill>
          <a:ln w="19050">
            <a:solidFill>
              <a:srgbClr val="070707"/>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文本分词器</a:t>
            </a:r>
          </a:p>
        </p:txBody>
      </p:sp>
      <p:cxnSp>
        <p:nvCxnSpPr>
          <p:cNvPr id="24" name="直接箭头连接符 23">
            <a:extLst>
              <a:ext uri="{FF2B5EF4-FFF2-40B4-BE49-F238E27FC236}">
                <a16:creationId xmlns:a16="http://schemas.microsoft.com/office/drawing/2014/main" id="{417A3654-57AF-8B69-D204-48ABC04CEEA0}"/>
              </a:ext>
            </a:extLst>
          </p:cNvPr>
          <p:cNvCxnSpPr/>
          <p:nvPr/>
        </p:nvCxnSpPr>
        <p:spPr>
          <a:xfrm flipV="1">
            <a:off x="3452835" y="5827188"/>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BDAEF69E-0EB1-9619-E2F1-483D42F8004C}"/>
              </a:ext>
            </a:extLst>
          </p:cNvPr>
          <p:cNvCxnSpPr/>
          <p:nvPr/>
        </p:nvCxnSpPr>
        <p:spPr>
          <a:xfrm flipV="1">
            <a:off x="3452835" y="5267488"/>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矩形: 圆角 26">
            <a:extLst>
              <a:ext uri="{FF2B5EF4-FFF2-40B4-BE49-F238E27FC236}">
                <a16:creationId xmlns:a16="http://schemas.microsoft.com/office/drawing/2014/main" id="{8A3A6B5D-96D6-0DE9-AC0C-72E1244B8A31}"/>
              </a:ext>
            </a:extLst>
          </p:cNvPr>
          <p:cNvSpPr/>
          <p:nvPr/>
        </p:nvSpPr>
        <p:spPr>
          <a:xfrm>
            <a:off x="3316531" y="5072493"/>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28" name="矩形: 圆角 27">
            <a:extLst>
              <a:ext uri="{FF2B5EF4-FFF2-40B4-BE49-F238E27FC236}">
                <a16:creationId xmlns:a16="http://schemas.microsoft.com/office/drawing/2014/main" id="{DC63E1AB-C951-46AA-0FD0-F8CA0293D69A}"/>
              </a:ext>
            </a:extLst>
          </p:cNvPr>
          <p:cNvSpPr/>
          <p:nvPr/>
        </p:nvSpPr>
        <p:spPr>
          <a:xfrm>
            <a:off x="2955087" y="5072493"/>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sp>
        <p:nvSpPr>
          <p:cNvPr id="29" name="矩形: 圆角 28">
            <a:extLst>
              <a:ext uri="{FF2B5EF4-FFF2-40B4-BE49-F238E27FC236}">
                <a16:creationId xmlns:a16="http://schemas.microsoft.com/office/drawing/2014/main" id="{057F1CD2-32D1-82CE-D10C-E513799A7B38}"/>
              </a:ext>
            </a:extLst>
          </p:cNvPr>
          <p:cNvSpPr/>
          <p:nvPr/>
        </p:nvSpPr>
        <p:spPr>
          <a:xfrm>
            <a:off x="3682783" y="5075215"/>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cxnSp>
        <p:nvCxnSpPr>
          <p:cNvPr id="30" name="直接箭头连接符 29">
            <a:extLst>
              <a:ext uri="{FF2B5EF4-FFF2-40B4-BE49-F238E27FC236}">
                <a16:creationId xmlns:a16="http://schemas.microsoft.com/office/drawing/2014/main" id="{B601C495-16C8-2C8B-86EC-502748FEC54C}"/>
              </a:ext>
            </a:extLst>
          </p:cNvPr>
          <p:cNvCxnSpPr/>
          <p:nvPr/>
        </p:nvCxnSpPr>
        <p:spPr>
          <a:xfrm flipV="1">
            <a:off x="3448789" y="4870192"/>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9992D37A-D8FE-D0B3-B40F-7346085DA2C1}"/>
              </a:ext>
            </a:extLst>
          </p:cNvPr>
          <p:cNvCxnSpPr/>
          <p:nvPr/>
        </p:nvCxnSpPr>
        <p:spPr>
          <a:xfrm flipV="1">
            <a:off x="7026231" y="4292050"/>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 name="矩形: 圆角 31">
            <a:extLst>
              <a:ext uri="{FF2B5EF4-FFF2-40B4-BE49-F238E27FC236}">
                <a16:creationId xmlns:a16="http://schemas.microsoft.com/office/drawing/2014/main" id="{79DB6098-54F0-D4C2-D449-5B1C66B5785D}"/>
              </a:ext>
            </a:extLst>
          </p:cNvPr>
          <p:cNvSpPr/>
          <p:nvPr/>
        </p:nvSpPr>
        <p:spPr>
          <a:xfrm>
            <a:off x="6889927" y="4097055"/>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cxnSp>
        <p:nvCxnSpPr>
          <p:cNvPr id="36" name="直接箭头连接符 35">
            <a:extLst>
              <a:ext uri="{FF2B5EF4-FFF2-40B4-BE49-F238E27FC236}">
                <a16:creationId xmlns:a16="http://schemas.microsoft.com/office/drawing/2014/main" id="{55469172-B364-040E-61DC-3F31C53C448C}"/>
              </a:ext>
            </a:extLst>
          </p:cNvPr>
          <p:cNvCxnSpPr/>
          <p:nvPr/>
        </p:nvCxnSpPr>
        <p:spPr>
          <a:xfrm flipV="1">
            <a:off x="7347801" y="4292836"/>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 name="矩形: 圆角 36">
            <a:extLst>
              <a:ext uri="{FF2B5EF4-FFF2-40B4-BE49-F238E27FC236}">
                <a16:creationId xmlns:a16="http://schemas.microsoft.com/office/drawing/2014/main" id="{34D23034-9FFD-9D96-4606-317A54FDF96C}"/>
              </a:ext>
            </a:extLst>
          </p:cNvPr>
          <p:cNvSpPr/>
          <p:nvPr/>
        </p:nvSpPr>
        <p:spPr>
          <a:xfrm>
            <a:off x="7211497" y="4097841"/>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cxnSp>
        <p:nvCxnSpPr>
          <p:cNvPr id="38" name="直接箭头连接符 37">
            <a:extLst>
              <a:ext uri="{FF2B5EF4-FFF2-40B4-BE49-F238E27FC236}">
                <a16:creationId xmlns:a16="http://schemas.microsoft.com/office/drawing/2014/main" id="{3A937F14-B9F6-116D-8075-B50BF11289EF}"/>
              </a:ext>
            </a:extLst>
          </p:cNvPr>
          <p:cNvCxnSpPr/>
          <p:nvPr/>
        </p:nvCxnSpPr>
        <p:spPr>
          <a:xfrm flipV="1">
            <a:off x="7673417" y="4292050"/>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9" name="矩形: 圆角 38">
            <a:extLst>
              <a:ext uri="{FF2B5EF4-FFF2-40B4-BE49-F238E27FC236}">
                <a16:creationId xmlns:a16="http://schemas.microsoft.com/office/drawing/2014/main" id="{1E009B20-387A-6E4C-565C-919756D78D23}"/>
              </a:ext>
            </a:extLst>
          </p:cNvPr>
          <p:cNvSpPr/>
          <p:nvPr/>
        </p:nvSpPr>
        <p:spPr>
          <a:xfrm>
            <a:off x="7537113" y="4097055"/>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cxnSp>
        <p:nvCxnSpPr>
          <p:cNvPr id="40" name="直接箭头连接符 39">
            <a:extLst>
              <a:ext uri="{FF2B5EF4-FFF2-40B4-BE49-F238E27FC236}">
                <a16:creationId xmlns:a16="http://schemas.microsoft.com/office/drawing/2014/main" id="{EB5FDB83-CE9F-F939-58EB-E5CE4B694F58}"/>
              </a:ext>
            </a:extLst>
          </p:cNvPr>
          <p:cNvCxnSpPr/>
          <p:nvPr/>
        </p:nvCxnSpPr>
        <p:spPr>
          <a:xfrm flipV="1">
            <a:off x="7994987" y="4296096"/>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1" name="矩形: 圆角 40">
            <a:extLst>
              <a:ext uri="{FF2B5EF4-FFF2-40B4-BE49-F238E27FC236}">
                <a16:creationId xmlns:a16="http://schemas.microsoft.com/office/drawing/2014/main" id="{00D53976-3398-B89B-D50F-383B2F868F13}"/>
              </a:ext>
            </a:extLst>
          </p:cNvPr>
          <p:cNvSpPr/>
          <p:nvPr/>
        </p:nvSpPr>
        <p:spPr>
          <a:xfrm>
            <a:off x="7858683" y="4101101"/>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cxnSp>
        <p:nvCxnSpPr>
          <p:cNvPr id="42" name="直接箭头连接符 41">
            <a:extLst>
              <a:ext uri="{FF2B5EF4-FFF2-40B4-BE49-F238E27FC236}">
                <a16:creationId xmlns:a16="http://schemas.microsoft.com/office/drawing/2014/main" id="{683713BF-6EAD-12BF-B921-95DD1921BD7F}"/>
              </a:ext>
            </a:extLst>
          </p:cNvPr>
          <p:cNvCxnSpPr/>
          <p:nvPr/>
        </p:nvCxnSpPr>
        <p:spPr>
          <a:xfrm flipV="1">
            <a:off x="7355626" y="4877498"/>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3" name="矩形: 圆角 42">
            <a:extLst>
              <a:ext uri="{FF2B5EF4-FFF2-40B4-BE49-F238E27FC236}">
                <a16:creationId xmlns:a16="http://schemas.microsoft.com/office/drawing/2014/main" id="{F51B758C-7B5B-6B44-FA4A-20DCFDED6954}"/>
              </a:ext>
            </a:extLst>
          </p:cNvPr>
          <p:cNvSpPr/>
          <p:nvPr/>
        </p:nvSpPr>
        <p:spPr>
          <a:xfrm>
            <a:off x="7219322" y="5089463"/>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cxnSp>
        <p:nvCxnSpPr>
          <p:cNvPr id="44" name="直接箭头连接符 43">
            <a:extLst>
              <a:ext uri="{FF2B5EF4-FFF2-40B4-BE49-F238E27FC236}">
                <a16:creationId xmlns:a16="http://schemas.microsoft.com/office/drawing/2014/main" id="{C579A9AF-64EF-00DC-5402-EBE911A77661}"/>
              </a:ext>
            </a:extLst>
          </p:cNvPr>
          <p:cNvCxnSpPr/>
          <p:nvPr/>
        </p:nvCxnSpPr>
        <p:spPr>
          <a:xfrm flipV="1">
            <a:off x="7677196" y="4878284"/>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5" name="矩形: 圆角 44">
            <a:extLst>
              <a:ext uri="{FF2B5EF4-FFF2-40B4-BE49-F238E27FC236}">
                <a16:creationId xmlns:a16="http://schemas.microsoft.com/office/drawing/2014/main" id="{C783F490-4491-9891-2DB0-2E551256D96D}"/>
              </a:ext>
            </a:extLst>
          </p:cNvPr>
          <p:cNvSpPr/>
          <p:nvPr/>
        </p:nvSpPr>
        <p:spPr>
          <a:xfrm>
            <a:off x="7540892" y="5090249"/>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cxnSp>
        <p:nvCxnSpPr>
          <p:cNvPr id="46" name="直接箭头连接符 45">
            <a:extLst>
              <a:ext uri="{FF2B5EF4-FFF2-40B4-BE49-F238E27FC236}">
                <a16:creationId xmlns:a16="http://schemas.microsoft.com/office/drawing/2014/main" id="{8D308663-8C32-B2A3-E2AA-97BD731ECE1F}"/>
              </a:ext>
            </a:extLst>
          </p:cNvPr>
          <p:cNvCxnSpPr/>
          <p:nvPr/>
        </p:nvCxnSpPr>
        <p:spPr>
          <a:xfrm flipV="1">
            <a:off x="8002812" y="4877498"/>
            <a:ext cx="0" cy="202301"/>
          </a:xfrm>
          <a:prstGeom prst="straightConnector1">
            <a:avLst/>
          </a:prstGeom>
          <a:ln w="381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7" name="矩形: 圆角 46">
            <a:extLst>
              <a:ext uri="{FF2B5EF4-FFF2-40B4-BE49-F238E27FC236}">
                <a16:creationId xmlns:a16="http://schemas.microsoft.com/office/drawing/2014/main" id="{416836E9-69BE-8041-B986-407769C734FA}"/>
              </a:ext>
            </a:extLst>
          </p:cNvPr>
          <p:cNvSpPr/>
          <p:nvPr/>
        </p:nvSpPr>
        <p:spPr>
          <a:xfrm>
            <a:off x="7866508" y="5089463"/>
            <a:ext cx="264516" cy="186117"/>
          </a:xfrm>
          <a:prstGeom prst="roundRect">
            <a:avLst/>
          </a:prstGeom>
          <a:solidFill>
            <a:schemeClr val="bg2">
              <a:lumMod val="20000"/>
              <a:lumOff val="80000"/>
            </a:schemeClr>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Book Antiqua"/>
              <a:ea typeface="黑体"/>
              <a:cs typeface="+mn-cs"/>
            </a:endParaRPr>
          </a:p>
        </p:txBody>
      </p:sp>
      <p:cxnSp>
        <p:nvCxnSpPr>
          <p:cNvPr id="51" name="连接符: 曲线 50">
            <a:extLst>
              <a:ext uri="{FF2B5EF4-FFF2-40B4-BE49-F238E27FC236}">
                <a16:creationId xmlns:a16="http://schemas.microsoft.com/office/drawing/2014/main" id="{F5D45E3D-371D-13F0-BF86-27F90F3E31C0}"/>
              </a:ext>
            </a:extLst>
          </p:cNvPr>
          <p:cNvCxnSpPr>
            <a:cxnSpLocks/>
            <a:stCxn id="32" idx="0"/>
            <a:endCxn id="43" idx="2"/>
          </p:cNvCxnSpPr>
          <p:nvPr/>
        </p:nvCxnSpPr>
        <p:spPr>
          <a:xfrm rot="16200000" flipH="1">
            <a:off x="6597619" y="4521620"/>
            <a:ext cx="1178525" cy="329395"/>
          </a:xfrm>
          <a:prstGeom prst="curvedConnector5">
            <a:avLst>
              <a:gd name="adj1" fmla="val -19397"/>
              <a:gd name="adj2" fmla="val 50000"/>
              <a:gd name="adj3" fmla="val 119397"/>
            </a:avLst>
          </a:prstGeom>
          <a:ln>
            <a:tailEnd type="triangle"/>
          </a:ln>
        </p:spPr>
        <p:style>
          <a:lnRef idx="1">
            <a:schemeClr val="dk1"/>
          </a:lnRef>
          <a:fillRef idx="0">
            <a:schemeClr val="dk1"/>
          </a:fillRef>
          <a:effectRef idx="0">
            <a:schemeClr val="dk1"/>
          </a:effectRef>
          <a:fontRef idx="minor">
            <a:schemeClr val="tx1"/>
          </a:fontRef>
        </p:style>
      </p:cxnSp>
      <p:cxnSp>
        <p:nvCxnSpPr>
          <p:cNvPr id="53" name="连接符: 曲线 52">
            <a:extLst>
              <a:ext uri="{FF2B5EF4-FFF2-40B4-BE49-F238E27FC236}">
                <a16:creationId xmlns:a16="http://schemas.microsoft.com/office/drawing/2014/main" id="{986A1055-836D-E870-6E95-BB9ACE3911C3}"/>
              </a:ext>
            </a:extLst>
          </p:cNvPr>
          <p:cNvCxnSpPr>
            <a:cxnSpLocks/>
          </p:cNvCxnSpPr>
          <p:nvPr/>
        </p:nvCxnSpPr>
        <p:spPr>
          <a:xfrm rot="16200000" flipH="1">
            <a:off x="6931061" y="4529714"/>
            <a:ext cx="1178525" cy="329395"/>
          </a:xfrm>
          <a:prstGeom prst="curvedConnector5">
            <a:avLst>
              <a:gd name="adj1" fmla="val -19397"/>
              <a:gd name="adj2" fmla="val 50000"/>
              <a:gd name="adj3" fmla="val 119397"/>
            </a:avLst>
          </a:prstGeom>
          <a:ln>
            <a:tailEnd type="triangle"/>
          </a:ln>
        </p:spPr>
        <p:style>
          <a:lnRef idx="1">
            <a:schemeClr val="dk1"/>
          </a:lnRef>
          <a:fillRef idx="0">
            <a:schemeClr val="dk1"/>
          </a:fillRef>
          <a:effectRef idx="0">
            <a:schemeClr val="dk1"/>
          </a:effectRef>
          <a:fontRef idx="minor">
            <a:schemeClr val="tx1"/>
          </a:fontRef>
        </p:style>
      </p:cxnSp>
      <p:cxnSp>
        <p:nvCxnSpPr>
          <p:cNvPr id="54" name="连接符: 曲线 53">
            <a:extLst>
              <a:ext uri="{FF2B5EF4-FFF2-40B4-BE49-F238E27FC236}">
                <a16:creationId xmlns:a16="http://schemas.microsoft.com/office/drawing/2014/main" id="{AB349BB0-710E-EBA3-CED9-912148DB24F1}"/>
              </a:ext>
            </a:extLst>
          </p:cNvPr>
          <p:cNvCxnSpPr>
            <a:cxnSpLocks/>
          </p:cNvCxnSpPr>
          <p:nvPr/>
        </p:nvCxnSpPr>
        <p:spPr>
          <a:xfrm rot="16200000" flipH="1">
            <a:off x="7248583" y="4529713"/>
            <a:ext cx="1178525" cy="329395"/>
          </a:xfrm>
          <a:prstGeom prst="curvedConnector5">
            <a:avLst>
              <a:gd name="adj1" fmla="val -19397"/>
              <a:gd name="adj2" fmla="val 50000"/>
              <a:gd name="adj3" fmla="val 119397"/>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96552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D13405-9353-493E-1D8F-3C9CF0B71BE1}"/>
              </a:ext>
            </a:extLst>
          </p:cNvPr>
          <p:cNvSpPr>
            <a:spLocks noGrp="1"/>
          </p:cNvSpPr>
          <p:nvPr>
            <p:ph type="title"/>
          </p:nvPr>
        </p:nvSpPr>
        <p:spPr/>
        <p:txBody>
          <a:bodyPr/>
          <a:lstStyle/>
          <a:p>
            <a:r>
              <a:rPr lang="zh-CN" altLang="en-US" dirty="0"/>
              <a:t>输入</a:t>
            </a:r>
          </a:p>
        </p:txBody>
      </p:sp>
      <p:pic>
        <p:nvPicPr>
          <p:cNvPr id="3" name="图片 2">
            <a:extLst>
              <a:ext uri="{FF2B5EF4-FFF2-40B4-BE49-F238E27FC236}">
                <a16:creationId xmlns:a16="http://schemas.microsoft.com/office/drawing/2014/main" id="{FE71810B-5FB5-C63D-F503-84E1762B98F2}"/>
              </a:ext>
            </a:extLst>
          </p:cNvPr>
          <p:cNvPicPr>
            <a:picLocks noChangeAspect="1"/>
          </p:cNvPicPr>
          <p:nvPr/>
        </p:nvPicPr>
        <p:blipFill>
          <a:blip r:embed="rId2"/>
          <a:stretch>
            <a:fillRect/>
          </a:stretch>
        </p:blipFill>
        <p:spPr>
          <a:xfrm>
            <a:off x="572193" y="1247534"/>
            <a:ext cx="6560127" cy="469027"/>
          </a:xfrm>
          <a:prstGeom prst="rect">
            <a:avLst/>
          </a:prstGeom>
        </p:spPr>
      </p:pic>
      <p:pic>
        <p:nvPicPr>
          <p:cNvPr id="4" name="图片 3">
            <a:extLst>
              <a:ext uri="{FF2B5EF4-FFF2-40B4-BE49-F238E27FC236}">
                <a16:creationId xmlns:a16="http://schemas.microsoft.com/office/drawing/2014/main" id="{A606E5C8-11C2-A6E7-D9D4-B15746A43655}"/>
              </a:ext>
            </a:extLst>
          </p:cNvPr>
          <p:cNvPicPr>
            <a:picLocks noChangeAspect="1"/>
          </p:cNvPicPr>
          <p:nvPr/>
        </p:nvPicPr>
        <p:blipFill>
          <a:blip r:embed="rId3"/>
          <a:stretch>
            <a:fillRect/>
          </a:stretch>
        </p:blipFill>
        <p:spPr>
          <a:xfrm>
            <a:off x="572193" y="1925235"/>
            <a:ext cx="7092142" cy="520705"/>
          </a:xfrm>
          <a:prstGeom prst="rect">
            <a:avLst/>
          </a:prstGeom>
        </p:spPr>
      </p:pic>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861FD1E8-107F-CCC1-1B09-43E9BF9F5A19}"/>
                  </a:ext>
                </a:extLst>
              </p:cNvPr>
              <p:cNvSpPr txBox="1"/>
              <p:nvPr/>
            </p:nvSpPr>
            <p:spPr>
              <a:xfrm>
                <a:off x="8028256" y="2000921"/>
                <a:ext cx="2005429" cy="461665"/>
              </a:xfrm>
              <a:prstGeom prst="rect">
                <a:avLst/>
              </a:prstGeom>
              <a:noFill/>
            </p:spPr>
            <p:txBody>
              <a:bodyPr wrap="square">
                <a:spAutoFit/>
              </a:bodyPr>
              <a:lstStyle/>
              <a:p>
                <a14:m>
                  <m:oMath xmlns:m="http://schemas.openxmlformats.org/officeDocument/2006/math">
                    <m:r>
                      <a:rPr lang="en-US" altLang="zh-CN" sz="2400" b="0" i="1" smtClean="0">
                        <a:effectLst/>
                        <a:latin typeface="Cambria Math" panose="02040503050406030204" pitchFamily="18" charset="0"/>
                      </a:rPr>
                      <m:t>𝑑</m:t>
                    </m:r>
                  </m:oMath>
                </a14:m>
                <a:r>
                  <a:rPr lang="en-US" altLang="zh-CN" sz="2400" dirty="0">
                    <a:effectLst/>
                    <a:latin typeface="Helvetica" pitchFamily="2" charset="0"/>
                  </a:rPr>
                  <a:t> </a:t>
                </a:r>
                <a:r>
                  <a:rPr lang="zh-CN" altLang="en-US" sz="2400" dirty="0">
                    <a:effectLst/>
                    <a:latin typeface="Helvetica" pitchFamily="2" charset="0"/>
                  </a:rPr>
                  <a:t>为字典大小</a:t>
                </a:r>
              </a:p>
            </p:txBody>
          </p:sp>
        </mc:Choice>
        <mc:Fallback xmlns="">
          <p:sp>
            <p:nvSpPr>
              <p:cNvPr id="8" name="文本框 7">
                <a:extLst>
                  <a:ext uri="{FF2B5EF4-FFF2-40B4-BE49-F238E27FC236}">
                    <a16:creationId xmlns:a16="http://schemas.microsoft.com/office/drawing/2014/main" id="{861FD1E8-107F-CCC1-1B09-43E9BF9F5A19}"/>
                  </a:ext>
                </a:extLst>
              </p:cNvPr>
              <p:cNvSpPr txBox="1">
                <a:spLocks noRot="1" noChangeAspect="1" noMove="1" noResize="1" noEditPoints="1" noAdjustHandles="1" noChangeArrowheads="1" noChangeShapeType="1" noTextEdit="1"/>
              </p:cNvSpPr>
              <p:nvPr/>
            </p:nvSpPr>
            <p:spPr>
              <a:xfrm>
                <a:off x="8028256" y="2000921"/>
                <a:ext cx="2005429" cy="461665"/>
              </a:xfrm>
              <a:prstGeom prst="rect">
                <a:avLst/>
              </a:prstGeom>
              <a:blipFill>
                <a:blip r:embed="rId4"/>
                <a:stretch>
                  <a:fillRect l="-1258" t="-13514" r="-3145" b="-29730"/>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9A2FEBAE-EDEA-4FC2-985A-159B76A80F29}"/>
              </a:ext>
            </a:extLst>
          </p:cNvPr>
          <p:cNvPicPr>
            <a:picLocks noChangeAspect="1"/>
          </p:cNvPicPr>
          <p:nvPr/>
        </p:nvPicPr>
        <p:blipFill rotWithShape="1">
          <a:blip r:embed="rId5"/>
          <a:srcRect l="18781" t="42414" b="27818"/>
          <a:stretch/>
        </p:blipFill>
        <p:spPr>
          <a:xfrm>
            <a:off x="381242" y="2779811"/>
            <a:ext cx="9083023" cy="2361629"/>
          </a:xfrm>
          <a:prstGeom prst="rect">
            <a:avLst/>
          </a:prstGeom>
        </p:spPr>
      </p:pic>
    </p:spTree>
    <p:extLst>
      <p:ext uri="{BB962C8B-B14F-4D97-AF65-F5344CB8AC3E}">
        <p14:creationId xmlns:p14="http://schemas.microsoft.com/office/powerpoint/2010/main" val="1322996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D13405-9353-493E-1D8F-3C9CF0B71BE1}"/>
              </a:ext>
            </a:extLst>
          </p:cNvPr>
          <p:cNvSpPr>
            <a:spLocks noGrp="1"/>
          </p:cNvSpPr>
          <p:nvPr>
            <p:ph type="title"/>
          </p:nvPr>
        </p:nvSpPr>
        <p:spPr/>
        <p:txBody>
          <a:bodyPr/>
          <a:lstStyle/>
          <a:p>
            <a:r>
              <a:rPr lang="zh-CN" altLang="en-US" dirty="0"/>
              <a:t>输出</a:t>
            </a:r>
          </a:p>
        </p:txBody>
      </p:sp>
      <p:pic>
        <p:nvPicPr>
          <p:cNvPr id="4" name="图片 3">
            <a:extLst>
              <a:ext uri="{FF2B5EF4-FFF2-40B4-BE49-F238E27FC236}">
                <a16:creationId xmlns:a16="http://schemas.microsoft.com/office/drawing/2014/main" id="{A606E5C8-11C2-A6E7-D9D4-B15746A4365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72193" y="1951345"/>
            <a:ext cx="6854218" cy="485329"/>
          </a:xfrm>
          <a:prstGeom prst="rect">
            <a:avLst/>
          </a:prstGeom>
        </p:spPr>
      </p:pic>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861FD1E8-107F-CCC1-1B09-43E9BF9F5A19}"/>
                  </a:ext>
                </a:extLst>
              </p:cNvPr>
              <p:cNvSpPr txBox="1"/>
              <p:nvPr/>
            </p:nvSpPr>
            <p:spPr>
              <a:xfrm>
                <a:off x="8868515" y="1095850"/>
                <a:ext cx="2005429" cy="461665"/>
              </a:xfrm>
              <a:prstGeom prst="rect">
                <a:avLst/>
              </a:prstGeom>
              <a:noFill/>
            </p:spPr>
            <p:txBody>
              <a:bodyPr wrap="square">
                <a:spAutoFit/>
              </a:bodyPr>
              <a:lstStyle/>
              <a:p>
                <a14:m>
                  <m:oMath xmlns:m="http://schemas.openxmlformats.org/officeDocument/2006/math">
                    <m:r>
                      <a:rPr lang="en-US" altLang="zh-CN" sz="2400" b="0" i="1" smtClean="0">
                        <a:effectLst/>
                        <a:latin typeface="Cambria Math" panose="02040503050406030204" pitchFamily="18" charset="0"/>
                      </a:rPr>
                      <m:t>𝑑</m:t>
                    </m:r>
                  </m:oMath>
                </a14:m>
                <a:r>
                  <a:rPr lang="en-US" altLang="zh-CN" sz="2400" dirty="0">
                    <a:effectLst/>
                    <a:latin typeface="Helvetica" pitchFamily="2" charset="0"/>
                  </a:rPr>
                  <a:t> </a:t>
                </a:r>
                <a:r>
                  <a:rPr lang="zh-CN" altLang="en-US" sz="2400" dirty="0">
                    <a:effectLst/>
                    <a:latin typeface="Helvetica" pitchFamily="2" charset="0"/>
                  </a:rPr>
                  <a:t>为字典大小</a:t>
                </a:r>
              </a:p>
            </p:txBody>
          </p:sp>
        </mc:Choice>
        <mc:Fallback xmlns="">
          <p:sp>
            <p:nvSpPr>
              <p:cNvPr id="8" name="文本框 7">
                <a:extLst>
                  <a:ext uri="{FF2B5EF4-FFF2-40B4-BE49-F238E27FC236}">
                    <a16:creationId xmlns:a16="http://schemas.microsoft.com/office/drawing/2014/main" id="{861FD1E8-107F-CCC1-1B09-43E9BF9F5A19}"/>
                  </a:ext>
                </a:extLst>
              </p:cNvPr>
              <p:cNvSpPr txBox="1">
                <a:spLocks noRot="1" noChangeAspect="1" noMove="1" noResize="1" noEditPoints="1" noAdjustHandles="1" noChangeArrowheads="1" noChangeShapeType="1" noTextEdit="1"/>
              </p:cNvSpPr>
              <p:nvPr/>
            </p:nvSpPr>
            <p:spPr>
              <a:xfrm>
                <a:off x="8868515" y="1095850"/>
                <a:ext cx="2005429" cy="461665"/>
              </a:xfrm>
              <a:prstGeom prst="rect">
                <a:avLst/>
              </a:prstGeom>
              <a:blipFill>
                <a:blip r:embed="rId3"/>
                <a:stretch>
                  <a:fillRect l="-1258" t="-13514" r="-3145" b="-27027"/>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DFF7DEB4-1068-B807-C9AE-02143276E0F5}"/>
              </a:ext>
            </a:extLst>
          </p:cNvPr>
          <p:cNvPicPr>
            <a:picLocks noChangeAspect="1"/>
          </p:cNvPicPr>
          <p:nvPr/>
        </p:nvPicPr>
        <p:blipFill>
          <a:blip r:embed="rId4"/>
          <a:stretch>
            <a:fillRect/>
          </a:stretch>
        </p:blipFill>
        <p:spPr>
          <a:xfrm>
            <a:off x="572193" y="1101538"/>
            <a:ext cx="7772400" cy="493847"/>
          </a:xfrm>
          <a:prstGeom prst="rect">
            <a:avLst/>
          </a:prstGeom>
        </p:spPr>
      </p:pic>
      <p:pic>
        <p:nvPicPr>
          <p:cNvPr id="6" name="图片 5">
            <a:extLst>
              <a:ext uri="{FF2B5EF4-FFF2-40B4-BE49-F238E27FC236}">
                <a16:creationId xmlns:a16="http://schemas.microsoft.com/office/drawing/2014/main" id="{16F812E6-D391-9BA5-AEBC-9711C85BCCAB}"/>
              </a:ext>
            </a:extLst>
          </p:cNvPr>
          <p:cNvPicPr>
            <a:picLocks noChangeAspect="1"/>
          </p:cNvPicPr>
          <p:nvPr/>
        </p:nvPicPr>
        <p:blipFill>
          <a:blip r:embed="rId5"/>
          <a:stretch>
            <a:fillRect/>
          </a:stretch>
        </p:blipFill>
        <p:spPr>
          <a:xfrm>
            <a:off x="572193" y="2592527"/>
            <a:ext cx="5130800" cy="3657600"/>
          </a:xfrm>
          <a:prstGeom prst="rect">
            <a:avLst/>
          </a:prstGeom>
        </p:spPr>
      </p:pic>
      <p:pic>
        <p:nvPicPr>
          <p:cNvPr id="7" name="图片 6">
            <a:extLst>
              <a:ext uri="{FF2B5EF4-FFF2-40B4-BE49-F238E27FC236}">
                <a16:creationId xmlns:a16="http://schemas.microsoft.com/office/drawing/2014/main" id="{E79C2715-A0A2-F6AB-FE9C-38673EDF0731}"/>
              </a:ext>
            </a:extLst>
          </p:cNvPr>
          <p:cNvPicPr>
            <a:picLocks noChangeAspect="1"/>
          </p:cNvPicPr>
          <p:nvPr/>
        </p:nvPicPr>
        <p:blipFill>
          <a:blip r:embed="rId6"/>
          <a:stretch>
            <a:fillRect/>
          </a:stretch>
        </p:blipFill>
        <p:spPr>
          <a:xfrm>
            <a:off x="6324358" y="2592527"/>
            <a:ext cx="5486400" cy="3632200"/>
          </a:xfrm>
          <a:prstGeom prst="rect">
            <a:avLst/>
          </a:prstGeom>
        </p:spPr>
      </p:pic>
    </p:spTree>
    <p:extLst>
      <p:ext uri="{BB962C8B-B14F-4D97-AF65-F5344CB8AC3E}">
        <p14:creationId xmlns:p14="http://schemas.microsoft.com/office/powerpoint/2010/main" val="130063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D13405-9353-493E-1D8F-3C9CF0B71BE1}"/>
              </a:ext>
            </a:extLst>
          </p:cNvPr>
          <p:cNvSpPr>
            <a:spLocks noGrp="1"/>
          </p:cNvSpPr>
          <p:nvPr>
            <p:ph type="title"/>
          </p:nvPr>
        </p:nvSpPr>
        <p:spPr/>
        <p:txBody>
          <a:bodyPr/>
          <a:lstStyle/>
          <a:p>
            <a:r>
              <a:rPr lang="zh-CN" altLang="en-US" dirty="0">
                <a:effectLst/>
                <a:latin typeface="Helvetica" pitchFamily="2" charset="0"/>
              </a:rPr>
              <a:t>损失函数</a:t>
            </a:r>
            <a:endParaRPr lang="zh-CN" altLang="en-US" dirty="0"/>
          </a:p>
        </p:txBody>
      </p:sp>
      <p:pic>
        <p:nvPicPr>
          <p:cNvPr id="3" name="图片 2">
            <a:extLst>
              <a:ext uri="{FF2B5EF4-FFF2-40B4-BE49-F238E27FC236}">
                <a16:creationId xmlns:a16="http://schemas.microsoft.com/office/drawing/2014/main" id="{6AE7E899-5A6A-30BA-34FD-C3A643EB210A}"/>
              </a:ext>
            </a:extLst>
          </p:cNvPr>
          <p:cNvPicPr>
            <a:picLocks noChangeAspect="1"/>
          </p:cNvPicPr>
          <p:nvPr/>
        </p:nvPicPr>
        <p:blipFill>
          <a:blip r:embed="rId2"/>
          <a:stretch>
            <a:fillRect/>
          </a:stretch>
        </p:blipFill>
        <p:spPr>
          <a:xfrm>
            <a:off x="3791335" y="1327564"/>
            <a:ext cx="4734697" cy="618201"/>
          </a:xfrm>
          <a:prstGeom prst="rect">
            <a:avLst/>
          </a:prstGeom>
        </p:spPr>
      </p:pic>
      <p:pic>
        <p:nvPicPr>
          <p:cNvPr id="9" name="图片 8">
            <a:extLst>
              <a:ext uri="{FF2B5EF4-FFF2-40B4-BE49-F238E27FC236}">
                <a16:creationId xmlns:a16="http://schemas.microsoft.com/office/drawing/2014/main" id="{961598DA-3F9E-6A64-C06C-C874F41B5346}"/>
              </a:ext>
            </a:extLst>
          </p:cNvPr>
          <p:cNvPicPr>
            <a:picLocks noChangeAspect="1"/>
          </p:cNvPicPr>
          <p:nvPr/>
        </p:nvPicPr>
        <p:blipFill>
          <a:blip r:embed="rId3"/>
          <a:stretch>
            <a:fillRect/>
          </a:stretch>
        </p:blipFill>
        <p:spPr>
          <a:xfrm>
            <a:off x="3791335" y="2465414"/>
            <a:ext cx="4640049" cy="530853"/>
          </a:xfrm>
          <a:prstGeom prst="rect">
            <a:avLst/>
          </a:prstGeom>
        </p:spPr>
      </p:pic>
      <p:pic>
        <p:nvPicPr>
          <p:cNvPr id="10" name="图片 9">
            <a:extLst>
              <a:ext uri="{FF2B5EF4-FFF2-40B4-BE49-F238E27FC236}">
                <a16:creationId xmlns:a16="http://schemas.microsoft.com/office/drawing/2014/main" id="{8925873F-30A0-D394-72F1-BCD8D30194DF}"/>
              </a:ext>
            </a:extLst>
          </p:cNvPr>
          <p:cNvPicPr>
            <a:picLocks noChangeAspect="1"/>
          </p:cNvPicPr>
          <p:nvPr/>
        </p:nvPicPr>
        <p:blipFill>
          <a:blip r:embed="rId4"/>
          <a:stretch>
            <a:fillRect/>
          </a:stretch>
        </p:blipFill>
        <p:spPr>
          <a:xfrm>
            <a:off x="3803692" y="1890311"/>
            <a:ext cx="4627692" cy="541681"/>
          </a:xfrm>
          <a:prstGeom prst="rect">
            <a:avLst/>
          </a:prstGeom>
        </p:spPr>
      </p:pic>
      <p:pic>
        <p:nvPicPr>
          <p:cNvPr id="11" name="图片 10">
            <a:extLst>
              <a:ext uri="{FF2B5EF4-FFF2-40B4-BE49-F238E27FC236}">
                <a16:creationId xmlns:a16="http://schemas.microsoft.com/office/drawing/2014/main" id="{D46DC0D2-6D59-D071-71B9-0647358D277E}"/>
              </a:ext>
            </a:extLst>
          </p:cNvPr>
          <p:cNvPicPr>
            <a:picLocks noChangeAspect="1"/>
          </p:cNvPicPr>
          <p:nvPr/>
        </p:nvPicPr>
        <p:blipFill>
          <a:blip r:embed="rId5"/>
          <a:stretch>
            <a:fillRect/>
          </a:stretch>
        </p:blipFill>
        <p:spPr>
          <a:xfrm>
            <a:off x="3252916" y="4040901"/>
            <a:ext cx="5686168" cy="1254395"/>
          </a:xfrm>
          <a:prstGeom prst="rect">
            <a:avLst/>
          </a:prstGeom>
        </p:spPr>
      </p:pic>
      <p:sp>
        <p:nvSpPr>
          <p:cNvPr id="17" name="文本框 11">
            <a:extLst>
              <a:ext uri="{FF2B5EF4-FFF2-40B4-BE49-F238E27FC236}">
                <a16:creationId xmlns:a16="http://schemas.microsoft.com/office/drawing/2014/main" id="{822634DE-A813-EABA-93EC-0EC9328FD65D}"/>
              </a:ext>
            </a:extLst>
          </p:cNvPr>
          <p:cNvSpPr txBox="1"/>
          <p:nvPr/>
        </p:nvSpPr>
        <p:spPr>
          <a:xfrm>
            <a:off x="381242" y="3345097"/>
            <a:ext cx="7248496" cy="4995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根据</a:t>
            </a:r>
            <a:r>
              <a:rPr kumimoji="0" lang="en-US" altLang="zh-CN"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Next Token Prediction</a:t>
            </a:r>
            <a:r>
              <a:rPr kumimoji="0" lang="zh-CN" altLang="en-US" sz="2000" b="0" i="0" u="none" strike="noStrike" kern="1200" cap="none" spc="0" normalizeH="0" baseline="0" noProof="0" dirty="0">
                <a:ln>
                  <a:noFill/>
                </a:ln>
                <a:solidFill>
                  <a:srgbClr val="242C2D"/>
                </a:solidFill>
                <a:effectLst/>
                <a:uLnTx/>
                <a:uFillTx/>
                <a:latin typeface="微软雅黑" panose="020B0503020204020204" pitchFamily="34" charset="-122"/>
                <a:ea typeface="微软雅黑" panose="020B0503020204020204" pitchFamily="34" charset="-122"/>
                <a:cs typeface="+mn-cs"/>
              </a:rPr>
              <a:t>，于是可以对其计算交叉熵损失：</a:t>
            </a:r>
          </a:p>
        </p:txBody>
      </p:sp>
    </p:spTree>
    <p:extLst>
      <p:ext uri="{BB962C8B-B14F-4D97-AF65-F5344CB8AC3E}">
        <p14:creationId xmlns:p14="http://schemas.microsoft.com/office/powerpoint/2010/main" val="1423528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89878-D570-605E-9696-38CEA0682F3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361399A-90DA-EA23-D4A5-FE02C2606D8E}"/>
              </a:ext>
            </a:extLst>
          </p:cNvPr>
          <p:cNvSpPr>
            <a:spLocks noGrp="1"/>
          </p:cNvSpPr>
          <p:nvPr>
            <p:ph type="title"/>
          </p:nvPr>
        </p:nvSpPr>
        <p:spPr>
          <a:xfrm>
            <a:off x="381242" y="2844289"/>
            <a:ext cx="11429516" cy="761979"/>
          </a:xfrm>
        </p:spPr>
        <p:txBody>
          <a:bodyPr/>
          <a:lstStyle/>
          <a:p>
            <a:pPr algn="ctr"/>
            <a:r>
              <a:rPr lang="en-US" altLang="zh-CN" dirty="0"/>
              <a:t>Transformer</a:t>
            </a:r>
            <a:r>
              <a:rPr lang="zh-CN" altLang="en-US" dirty="0"/>
              <a:t>的具体运算流程</a:t>
            </a:r>
          </a:p>
        </p:txBody>
      </p:sp>
    </p:spTree>
    <p:extLst>
      <p:ext uri="{BB962C8B-B14F-4D97-AF65-F5344CB8AC3E}">
        <p14:creationId xmlns:p14="http://schemas.microsoft.com/office/powerpoint/2010/main" val="3678721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D13405-9353-493E-1D8F-3C9CF0B71BE1}"/>
              </a:ext>
            </a:extLst>
          </p:cNvPr>
          <p:cNvSpPr>
            <a:spLocks noGrp="1"/>
          </p:cNvSpPr>
          <p:nvPr>
            <p:ph type="title"/>
          </p:nvPr>
        </p:nvSpPr>
        <p:spPr/>
        <p:txBody>
          <a:bodyPr/>
          <a:lstStyle/>
          <a:p>
            <a:r>
              <a:rPr lang="zh-CN" altLang="en-US" dirty="0"/>
              <a:t>嵌入 </a:t>
            </a:r>
            <a:r>
              <a:rPr lang="en-US" altLang="zh-CN" dirty="0"/>
              <a:t>Embedding</a:t>
            </a:r>
            <a:endParaRPr lang="zh-CN" altLang="en-US" dirty="0"/>
          </a:p>
        </p:txBody>
      </p:sp>
      <p:pic>
        <p:nvPicPr>
          <p:cNvPr id="4" name="图片 3">
            <a:extLst>
              <a:ext uri="{FF2B5EF4-FFF2-40B4-BE49-F238E27FC236}">
                <a16:creationId xmlns:a16="http://schemas.microsoft.com/office/drawing/2014/main" id="{81FD7CFD-4E9B-A3E9-6658-32F00B8ADD1C}"/>
              </a:ext>
            </a:extLst>
          </p:cNvPr>
          <p:cNvPicPr>
            <a:picLocks noChangeAspect="1"/>
          </p:cNvPicPr>
          <p:nvPr/>
        </p:nvPicPr>
        <p:blipFill>
          <a:blip r:embed="rId2"/>
          <a:stretch>
            <a:fillRect/>
          </a:stretch>
        </p:blipFill>
        <p:spPr>
          <a:xfrm>
            <a:off x="3568033" y="1650779"/>
            <a:ext cx="5896232" cy="567512"/>
          </a:xfrm>
          <a:prstGeom prst="rect">
            <a:avLst/>
          </a:prstGeom>
        </p:spPr>
      </p:pic>
      <p:pic>
        <p:nvPicPr>
          <p:cNvPr id="5" name="图片 4">
            <a:extLst>
              <a:ext uri="{FF2B5EF4-FFF2-40B4-BE49-F238E27FC236}">
                <a16:creationId xmlns:a16="http://schemas.microsoft.com/office/drawing/2014/main" id="{50C0A059-9308-B14E-288B-0A7AFAF1E8A6}"/>
              </a:ext>
            </a:extLst>
          </p:cNvPr>
          <p:cNvPicPr>
            <a:picLocks noChangeAspect="1"/>
          </p:cNvPicPr>
          <p:nvPr/>
        </p:nvPicPr>
        <p:blipFill>
          <a:blip r:embed="rId3"/>
          <a:stretch>
            <a:fillRect/>
          </a:stretch>
        </p:blipFill>
        <p:spPr>
          <a:xfrm>
            <a:off x="3714750" y="920629"/>
            <a:ext cx="2896115" cy="571500"/>
          </a:xfrm>
          <a:prstGeom prst="rect">
            <a:avLst/>
          </a:prstGeom>
        </p:spPr>
      </p:pic>
      <p:pic>
        <p:nvPicPr>
          <p:cNvPr id="6" name="图片 5">
            <a:extLst>
              <a:ext uri="{FF2B5EF4-FFF2-40B4-BE49-F238E27FC236}">
                <a16:creationId xmlns:a16="http://schemas.microsoft.com/office/drawing/2014/main" id="{8D0A918F-0246-84E1-DF4C-39F9471205C0}"/>
              </a:ext>
            </a:extLst>
          </p:cNvPr>
          <p:cNvPicPr>
            <a:picLocks noChangeAspect="1"/>
          </p:cNvPicPr>
          <p:nvPr/>
        </p:nvPicPr>
        <p:blipFill>
          <a:blip r:embed="rId4"/>
          <a:stretch>
            <a:fillRect/>
          </a:stretch>
        </p:blipFill>
        <p:spPr>
          <a:xfrm>
            <a:off x="572193" y="3107091"/>
            <a:ext cx="7092142" cy="520705"/>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58EDD308-B567-2FD4-D752-510E34423A88}"/>
                  </a:ext>
                </a:extLst>
              </p:cNvPr>
              <p:cNvSpPr txBox="1"/>
              <p:nvPr/>
            </p:nvSpPr>
            <p:spPr>
              <a:xfrm>
                <a:off x="8028256" y="3134606"/>
                <a:ext cx="2005429" cy="461665"/>
              </a:xfrm>
              <a:prstGeom prst="rect">
                <a:avLst/>
              </a:prstGeom>
              <a:noFill/>
            </p:spPr>
            <p:txBody>
              <a:bodyPr wrap="square">
                <a:spAutoFit/>
              </a:bodyPr>
              <a:lstStyle/>
              <a:p>
                <a14:m>
                  <m:oMath xmlns:m="http://schemas.openxmlformats.org/officeDocument/2006/math">
                    <m:r>
                      <a:rPr lang="en-US" altLang="zh-CN" sz="2400" b="0" i="1" smtClean="0">
                        <a:effectLst/>
                        <a:latin typeface="Cambria Math" panose="02040503050406030204" pitchFamily="18" charset="0"/>
                      </a:rPr>
                      <m:t>𝑑</m:t>
                    </m:r>
                  </m:oMath>
                </a14:m>
                <a:r>
                  <a:rPr lang="en-US" altLang="zh-CN" sz="2400" dirty="0">
                    <a:effectLst/>
                    <a:latin typeface="Helvetica" pitchFamily="2" charset="0"/>
                  </a:rPr>
                  <a:t> </a:t>
                </a:r>
                <a:r>
                  <a:rPr lang="zh-CN" altLang="en-US" sz="2400" dirty="0">
                    <a:effectLst/>
                    <a:latin typeface="Helvetica" pitchFamily="2" charset="0"/>
                  </a:rPr>
                  <a:t>为字典大小</a:t>
                </a:r>
              </a:p>
            </p:txBody>
          </p:sp>
        </mc:Choice>
        <mc:Fallback xmlns="">
          <p:sp>
            <p:nvSpPr>
              <p:cNvPr id="7" name="文本框 6">
                <a:extLst>
                  <a:ext uri="{FF2B5EF4-FFF2-40B4-BE49-F238E27FC236}">
                    <a16:creationId xmlns:a16="http://schemas.microsoft.com/office/drawing/2014/main" id="{58EDD308-B567-2FD4-D752-510E34423A88}"/>
                  </a:ext>
                </a:extLst>
              </p:cNvPr>
              <p:cNvSpPr txBox="1">
                <a:spLocks noRot="1" noChangeAspect="1" noMove="1" noResize="1" noEditPoints="1" noAdjustHandles="1" noChangeArrowheads="1" noChangeShapeType="1" noTextEdit="1"/>
              </p:cNvSpPr>
              <p:nvPr/>
            </p:nvSpPr>
            <p:spPr>
              <a:xfrm>
                <a:off x="8028256" y="3134606"/>
                <a:ext cx="2005429" cy="461665"/>
              </a:xfrm>
              <a:prstGeom prst="rect">
                <a:avLst/>
              </a:prstGeom>
              <a:blipFill>
                <a:blip r:embed="rId5"/>
                <a:stretch>
                  <a:fillRect l="-1258" t="-13158" r="-3145" b="-26316"/>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8C41569D-EE6B-9CF6-497B-8D0BA44964F8}"/>
              </a:ext>
            </a:extLst>
          </p:cNvPr>
          <p:cNvPicPr>
            <a:picLocks noChangeAspect="1"/>
          </p:cNvPicPr>
          <p:nvPr/>
        </p:nvPicPr>
        <p:blipFill rotWithShape="1">
          <a:blip r:embed="rId6"/>
          <a:srcRect l="18781" t="42414" b="27818"/>
          <a:stretch/>
        </p:blipFill>
        <p:spPr>
          <a:xfrm>
            <a:off x="381242" y="3961667"/>
            <a:ext cx="9083023" cy="2361629"/>
          </a:xfrm>
          <a:prstGeom prst="rect">
            <a:avLst/>
          </a:prstGeom>
        </p:spPr>
      </p:pic>
      <p:pic>
        <p:nvPicPr>
          <p:cNvPr id="12" name="图片 11">
            <a:extLst>
              <a:ext uri="{FF2B5EF4-FFF2-40B4-BE49-F238E27FC236}">
                <a16:creationId xmlns:a16="http://schemas.microsoft.com/office/drawing/2014/main" id="{C26DD5D1-9376-4A00-595B-29D8375ED71B}"/>
              </a:ext>
            </a:extLst>
          </p:cNvPr>
          <p:cNvPicPr>
            <a:picLocks noChangeAspect="1"/>
          </p:cNvPicPr>
          <p:nvPr/>
        </p:nvPicPr>
        <p:blipFill>
          <a:blip r:embed="rId7"/>
          <a:stretch>
            <a:fillRect/>
          </a:stretch>
        </p:blipFill>
        <p:spPr>
          <a:xfrm>
            <a:off x="3568033" y="2417270"/>
            <a:ext cx="3265253" cy="569775"/>
          </a:xfrm>
          <a:prstGeom prst="rect">
            <a:avLst/>
          </a:prstGeom>
        </p:spPr>
      </p:pic>
      <p:sp>
        <p:nvSpPr>
          <p:cNvPr id="13" name="文本框 12">
            <a:extLst>
              <a:ext uri="{FF2B5EF4-FFF2-40B4-BE49-F238E27FC236}">
                <a16:creationId xmlns:a16="http://schemas.microsoft.com/office/drawing/2014/main" id="{10DE3276-4E4D-5A57-51B3-F1F026FBD1EA}"/>
              </a:ext>
            </a:extLst>
          </p:cNvPr>
          <p:cNvSpPr txBox="1"/>
          <p:nvPr/>
        </p:nvSpPr>
        <p:spPr>
          <a:xfrm>
            <a:off x="7458836" y="2502288"/>
            <a:ext cx="3093834" cy="461665"/>
          </a:xfrm>
          <a:prstGeom prst="rect">
            <a:avLst/>
          </a:prstGeom>
          <a:noFill/>
        </p:spPr>
        <p:txBody>
          <a:bodyPr wrap="square">
            <a:spAutoFit/>
          </a:bodyPr>
          <a:lstStyle/>
          <a:p>
            <a:r>
              <a:rPr lang="zh-CN" altLang="en-US" sz="2400" dirty="0">
                <a:effectLst/>
                <a:latin typeface="Helvetica" pitchFamily="2" charset="0"/>
              </a:rPr>
              <a:t>随机初始化，可训练</a:t>
            </a:r>
          </a:p>
        </p:txBody>
      </p:sp>
    </p:spTree>
    <p:extLst>
      <p:ext uri="{BB962C8B-B14F-4D97-AF65-F5344CB8AC3E}">
        <p14:creationId xmlns:p14="http://schemas.microsoft.com/office/powerpoint/2010/main" val="19139984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0EDF7-A1CE-FCE1-2413-2A5000FE673C}"/>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5A506131-9C66-988A-7571-2C2F2AF117DA}"/>
              </a:ext>
            </a:extLst>
          </p:cNvPr>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随机投影引理</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041A14E-3EF1-8AF3-BA2E-8C5EB0D97061}"/>
                  </a:ext>
                </a:extLst>
              </p:cNvPr>
              <p:cNvSpPr txBox="1"/>
              <p:nvPr/>
            </p:nvSpPr>
            <p:spPr>
              <a:xfrm>
                <a:off x="129873" y="727216"/>
                <a:ext cx="11794434" cy="1705403"/>
              </a:xfrm>
              <a:prstGeom prst="rect">
                <a:avLst/>
              </a:prstGeom>
              <a:noFill/>
            </p:spPr>
            <p:txBody>
              <a:bodyPr wrap="square">
                <a:spAutoFit/>
              </a:bodyPr>
              <a:lstStyle/>
              <a:p>
                <a:pPr marL="285750" indent="-285750">
                  <a:lnSpc>
                    <a:spcPct val="150000"/>
                  </a:lnSpc>
                  <a:buFont typeface="Wingdings" pitchFamily="2" charset="2"/>
                  <a:buChar char="Ø"/>
                </a:pPr>
                <a:r>
                  <a:rPr lang="zh-CN" altLang="en-US" sz="1800" dirty="0">
                    <a:solidFill>
                      <a:srgbClr val="000000"/>
                    </a:solidFill>
                    <a:effectLst/>
                    <a:latin typeface="Microsoft YaHei" panose="020B0503020204020204" pitchFamily="34" charset="-122"/>
                    <a:ea typeface="Microsoft YaHei" panose="020B0503020204020204" pitchFamily="34" charset="-122"/>
                  </a:rPr>
                  <a:t> </a:t>
                </a:r>
                <a:r>
                  <a:rPr lang="en" altLang="zh-CN" sz="1800" b="1" dirty="0">
                    <a:solidFill>
                      <a:srgbClr val="000000"/>
                    </a:solidFill>
                    <a:effectLst/>
                    <a:latin typeface="Microsoft YaHei" panose="020B0503020204020204" pitchFamily="34" charset="-122"/>
                    <a:ea typeface="Microsoft YaHei" panose="020B0503020204020204" pitchFamily="34" charset="-122"/>
                  </a:rPr>
                  <a:t>n </a:t>
                </a:r>
                <a:r>
                  <a:rPr lang="zh-CN" altLang="en-US" sz="1800" b="1" dirty="0">
                    <a:solidFill>
                      <a:srgbClr val="000000"/>
                    </a:solidFill>
                    <a:effectLst/>
                    <a:latin typeface="Microsoft YaHei" panose="020B0503020204020204" pitchFamily="34" charset="-122"/>
                    <a:ea typeface="Microsoft YaHei" panose="020B0503020204020204" pitchFamily="34" charset="-122"/>
                  </a:rPr>
                  <a:t>个数据点</a:t>
                </a:r>
                <a:r>
                  <a:rPr lang="zh-CN" altLang="en-US" sz="1800" dirty="0">
                    <a:solidFill>
                      <a:srgbClr val="000000"/>
                    </a:solidFill>
                    <a:effectLst/>
                    <a:latin typeface="Microsoft YaHei" panose="020B0503020204020204" pitchFamily="34" charset="-122"/>
                    <a:ea typeface="Microsoft YaHei" panose="020B0503020204020204" pitchFamily="34" charset="-122"/>
                  </a:rPr>
                  <a:t>的数据集</a:t>
                </a:r>
                <a:r>
                  <a:rPr lang="en-US"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dirty="0">
                    <a:solidFill>
                      <a:srgbClr val="000000"/>
                    </a:solidFill>
                    <a:latin typeface="Microsoft YaHei" panose="020B0503020204020204" pitchFamily="34" charset="-122"/>
                    <a:ea typeface="Microsoft YaHei" panose="020B0503020204020204" pitchFamily="34" charset="-122"/>
                  </a:rPr>
                  <a:t> </a:t>
                </a:r>
                <a:r>
                  <a:rPr lang="zh-CN" altLang="en-US" sz="1800" dirty="0">
                    <a:solidFill>
                      <a:srgbClr val="000000"/>
                    </a:solidFill>
                    <a:effectLst/>
                    <a:latin typeface="Microsoft YaHei" panose="020B0503020204020204" pitchFamily="34" charset="-122"/>
                    <a:ea typeface="Microsoft YaHei" panose="020B0503020204020204" pitchFamily="34" charset="-122"/>
                  </a:rPr>
                  <a:t>每个数据点都位于 </a:t>
                </a:r>
                <a:r>
                  <a:rPr lang="en" altLang="zh-CN" sz="1800" b="1" dirty="0">
                    <a:solidFill>
                      <a:srgbClr val="000000"/>
                    </a:solidFill>
                    <a:effectLst/>
                    <a:latin typeface="Microsoft YaHei" panose="020B0503020204020204" pitchFamily="34" charset="-122"/>
                    <a:ea typeface="Microsoft YaHei" panose="020B0503020204020204" pitchFamily="34" charset="-122"/>
                  </a:rPr>
                  <a:t>d </a:t>
                </a:r>
                <a:r>
                  <a:rPr lang="zh-CN" altLang="en-US" sz="1800" b="1" dirty="0">
                    <a:solidFill>
                      <a:srgbClr val="000000"/>
                    </a:solidFill>
                    <a:effectLst/>
                    <a:latin typeface="Microsoft YaHei" panose="020B0503020204020204" pitchFamily="34" charset="-122"/>
                    <a:ea typeface="Microsoft YaHei" panose="020B0503020204020204" pitchFamily="34" charset="-122"/>
                  </a:rPr>
                  <a:t>维空间</a:t>
                </a:r>
                <a:r>
                  <a:rPr lang="zh-CN" altLang="en-US" sz="1800" dirty="0">
                    <a:solidFill>
                      <a:srgbClr val="000000"/>
                    </a:solidFill>
                    <a:effectLst/>
                    <a:latin typeface="Microsoft YaHei" panose="020B0503020204020204" pitchFamily="34" charset="-122"/>
                    <a:ea typeface="Microsoft YaHei" panose="020B0503020204020204" pitchFamily="34" charset="-122"/>
                  </a:rPr>
                  <a:t>中。</a:t>
                </a:r>
                <a:endParaRPr lang="en-US" altLang="zh-CN" sz="1800"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r>
                  <a:rPr lang="en-US" altLang="zh-CN" b="1" dirty="0">
                    <a:solidFill>
                      <a:srgbClr val="000000"/>
                    </a:solidFill>
                    <a:latin typeface="Microsoft YaHei" panose="020B0503020204020204" pitchFamily="34" charset="-122"/>
                    <a:ea typeface="Microsoft YaHei" panose="020B0503020204020204" pitchFamily="34" charset="-122"/>
                  </a:rPr>
                  <a:t>d</a:t>
                </a:r>
                <a:r>
                  <a:rPr lang="zh-CN" altLang="en-US" b="1" dirty="0">
                    <a:solidFill>
                      <a:srgbClr val="000000"/>
                    </a:solidFill>
                    <a:latin typeface="Microsoft YaHei" panose="020B0503020204020204" pitchFamily="34" charset="-122"/>
                    <a:ea typeface="Microsoft YaHei" panose="020B0503020204020204" pitchFamily="34" charset="-122"/>
                  </a:rPr>
                  <a:t> 非常大：</a:t>
                </a:r>
                <a:r>
                  <a:rPr lang="zh-CN" altLang="en-US" sz="1800" dirty="0">
                    <a:solidFill>
                      <a:srgbClr val="000000"/>
                    </a:solidFill>
                    <a:effectLst/>
                    <a:latin typeface="Microsoft YaHei" panose="020B0503020204020204" pitchFamily="34" charset="-122"/>
                    <a:ea typeface="Microsoft YaHei" panose="020B0503020204020204" pitchFamily="34" charset="-122"/>
                  </a:rPr>
                  <a:t>直接在原始高维空间中对数据进行分析和处理会带来较高的存储和计算负担</a:t>
                </a:r>
                <a:endParaRPr lang="en-US" altLang="zh-CN" dirty="0">
                  <a:solidFill>
                    <a:srgbClr val="000000"/>
                  </a:solidFill>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r>
                  <a:rPr lang="zh-CN" altLang="en-US" sz="1800" dirty="0">
                    <a:solidFill>
                      <a:srgbClr val="000000"/>
                    </a:solidFill>
                    <a:effectLst/>
                    <a:latin typeface="Microsoft YaHei" panose="020B0503020204020204" pitchFamily="34" charset="-122"/>
                    <a:ea typeface="Microsoft YaHei" panose="020B0503020204020204" pitchFamily="34" charset="-122"/>
                  </a:rPr>
                  <a:t>例：自然语言</a:t>
                </a:r>
                <a:r>
                  <a:rPr lang="zh-CN" altLang="en-US" dirty="0">
                    <a:solidFill>
                      <a:srgbClr val="000000"/>
                    </a:solidFill>
                    <a:latin typeface="Microsoft YaHei" panose="020B0503020204020204" pitchFamily="34" charset="-122"/>
                    <a:ea typeface="Microsoft YaHei" panose="020B0503020204020204" pitchFamily="34" charset="-122"/>
                  </a:rPr>
                  <a:t>任务</a:t>
                </a:r>
                <a:r>
                  <a:rPr lang="en-US" altLang="zh-CN" sz="1800" dirty="0">
                    <a:solidFill>
                      <a:srgbClr val="000000"/>
                    </a:solidFill>
                    <a:effectLst/>
                    <a:latin typeface="Microsoft YaHei" panose="020B0503020204020204" pitchFamily="34" charset="-122"/>
                    <a:ea typeface="Microsoft YaHei" panose="020B0503020204020204" pitchFamily="34" charset="-122"/>
                  </a:rPr>
                  <a:t>, </a:t>
                </a:r>
                <a:r>
                  <a:rPr lang="zh-CN" altLang="en-US" dirty="0">
                    <a:solidFill>
                      <a:srgbClr val="000000"/>
                    </a:solidFill>
                    <a:latin typeface="Microsoft YaHei" panose="020B0503020204020204" pitchFamily="34" charset="-122"/>
                    <a:ea typeface="Microsoft YaHei" panose="020B0503020204020204" pitchFamily="34" charset="-122"/>
                  </a:rPr>
                  <a:t>字典大小为 </a:t>
                </a:r>
                <a:r>
                  <a:rPr lang="en-US" altLang="zh-CN" dirty="0">
                    <a:solidFill>
                      <a:srgbClr val="000000"/>
                    </a:solidFill>
                    <a:latin typeface="Microsoft YaHei" panose="020B0503020204020204" pitchFamily="34" charset="-122"/>
                    <a:ea typeface="Microsoft YaHei" panose="020B0503020204020204" pitchFamily="34" charset="-122"/>
                  </a:rPr>
                  <a:t>1,000,000</a:t>
                </a:r>
                <a:r>
                  <a:rPr lang="zh-CN" altLang="en-US" dirty="0">
                    <a:solidFill>
                      <a:srgbClr val="000000"/>
                    </a:solidFill>
                    <a:latin typeface="Microsoft YaHei" panose="020B0503020204020204" pitchFamily="34" charset="-122"/>
                    <a:ea typeface="Microsoft YaHei" panose="020B0503020204020204" pitchFamily="34" charset="-122"/>
                  </a:rPr>
                  <a:t>，若每个单词都</a:t>
                </a:r>
                <a:r>
                  <a:rPr lang="zh-CN" altLang="en-US" sz="1800" dirty="0">
                    <a:solidFill>
                      <a:srgbClr val="000000"/>
                    </a:solidFill>
                    <a:effectLst/>
                    <a:latin typeface="Microsoft YaHei" panose="020B0503020204020204" pitchFamily="34" charset="-122"/>
                    <a:ea typeface="Microsoft YaHei" panose="020B0503020204020204" pitchFamily="34" charset="-122"/>
                  </a:rPr>
                  <a:t>使用 </a:t>
                </a:r>
                <a:r>
                  <a:rPr lang="en-US" altLang="zh-CN" sz="1800" dirty="0">
                    <a:solidFill>
                      <a:srgbClr val="000000"/>
                    </a:solidFill>
                    <a:effectLst/>
                    <a:latin typeface="Microsoft YaHei" panose="020B0503020204020204" pitchFamily="34" charset="-122"/>
                    <a:ea typeface="Microsoft YaHei" panose="020B0503020204020204" pitchFamily="34" charset="-122"/>
                  </a:rPr>
                  <a:t>1,000,000 </a:t>
                </a:r>
                <a:r>
                  <a:rPr lang="zh-CN" altLang="en-US" sz="1800" dirty="0">
                    <a:solidFill>
                      <a:srgbClr val="000000"/>
                    </a:solidFill>
                    <a:effectLst/>
                    <a:latin typeface="Microsoft YaHei" panose="020B0503020204020204" pitchFamily="34" charset="-122"/>
                    <a:ea typeface="Microsoft YaHei" panose="020B0503020204020204" pitchFamily="34" charset="-122"/>
                  </a:rPr>
                  <a:t>维的 </a:t>
                </a:r>
                <a:r>
                  <a:rPr lang="en-US" altLang="zh-CN" sz="1800" dirty="0">
                    <a:solidFill>
                      <a:srgbClr val="000000"/>
                    </a:solidFill>
                    <a:effectLst/>
                    <a:latin typeface="Microsoft YaHei" panose="020B0503020204020204" pitchFamily="34" charset="-122"/>
                    <a:ea typeface="Microsoft YaHei" panose="020B0503020204020204" pitchFamily="34" charset="-122"/>
                  </a:rPr>
                  <a:t>one-hot </a:t>
                </a:r>
                <a:r>
                  <a:rPr lang="zh-CN" altLang="en-US" sz="1800" dirty="0">
                    <a:solidFill>
                      <a:srgbClr val="000000"/>
                    </a:solidFill>
                    <a:effectLst/>
                    <a:latin typeface="Microsoft YaHei" panose="020B0503020204020204" pitchFamily="34" charset="-122"/>
                    <a:ea typeface="Microsoft YaHei" panose="020B0503020204020204" pitchFamily="34" charset="-122"/>
                  </a:rPr>
                  <a:t>词向量表示</a:t>
                </a:r>
                <a:r>
                  <a:rPr lang="zh-CN" altLang="en-US" dirty="0">
                    <a:solidFill>
                      <a:srgbClr val="000000"/>
                    </a:solidFill>
                    <a:latin typeface="Microsoft YaHei" panose="020B0503020204020204" pitchFamily="34" charset="-122"/>
                    <a:ea typeface="Microsoft YaHei" panose="020B0503020204020204" pitchFamily="34" charset="-122"/>
                  </a:rPr>
                  <a:t>，非常高维</a:t>
                </a:r>
                <a:endParaRPr lang="en-US" altLang="zh-CN" sz="1800"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50000"/>
                  </a:lnSpc>
                  <a:buFont typeface="Wingdings" pitchFamily="2" charset="2"/>
                  <a:buChar char="Ø"/>
                </a:pPr>
                <a14:m>
                  <m:oMath xmlns:m="http://schemas.openxmlformats.org/officeDocument/2006/math">
                    <m:r>
                      <a:rPr lang="zh-CN" altLang="en-US" sz="1800" i="1" smtClean="0">
                        <a:solidFill>
                          <a:srgbClr val="000000"/>
                        </a:solidFill>
                        <a:effectLst/>
                        <a:latin typeface="Cambria Math" panose="02040503050406030204" pitchFamily="18" charset="0"/>
                        <a:ea typeface="Microsoft YaHei" panose="020B0503020204020204" pitchFamily="34" charset="-122"/>
                      </a:rPr>
                      <m:t>⟹</m:t>
                    </m:r>
                  </m:oMath>
                </a14:m>
                <a:r>
                  <a:rPr lang="zh-CN" altLang="en-US" sz="1800" dirty="0">
                    <a:solidFill>
                      <a:srgbClr val="000000"/>
                    </a:solidFill>
                    <a:effectLst/>
                    <a:latin typeface="Microsoft YaHei" panose="020B0503020204020204" pitchFamily="34" charset="-122"/>
                    <a:ea typeface="Microsoft YaHei" panose="020B0503020204020204" pitchFamily="34" charset="-122"/>
                  </a:rPr>
                  <a:t> </a:t>
                </a:r>
                <a:r>
                  <a:rPr lang="zh-CN" altLang="en-US" sz="1800" b="1" dirty="0">
                    <a:solidFill>
                      <a:srgbClr val="000000"/>
                    </a:solidFill>
                    <a:effectLst/>
                    <a:latin typeface="Microsoft YaHei" panose="020B0503020204020204" pitchFamily="34" charset="-122"/>
                    <a:ea typeface="Microsoft YaHei" panose="020B0503020204020204" pitchFamily="34" charset="-122"/>
                  </a:rPr>
                  <a:t>降维</a:t>
                </a:r>
                <a:r>
                  <a:rPr lang="zh-CN" altLang="en-US" sz="1800" dirty="0">
                    <a:solidFill>
                      <a:srgbClr val="000000"/>
                    </a:solidFill>
                    <a:effectLst/>
                    <a:latin typeface="Microsoft YaHei" panose="020B0503020204020204" pitchFamily="34" charset="-122"/>
                    <a:ea typeface="Microsoft YaHei" panose="020B0503020204020204" pitchFamily="34" charset="-122"/>
                  </a:rPr>
                  <a:t>， </a:t>
                </a:r>
                <a:r>
                  <a:rPr lang="en-US" altLang="zh-CN" sz="1800" dirty="0">
                    <a:solidFill>
                      <a:srgbClr val="000000"/>
                    </a:solidFill>
                    <a:effectLst/>
                    <a:latin typeface="Microsoft YaHei" panose="020B0503020204020204" pitchFamily="34" charset="-122"/>
                    <a:ea typeface="Microsoft YaHei" panose="020B0503020204020204" pitchFamily="34" charset="-122"/>
                  </a:rPr>
                  <a:t>word embedding</a:t>
                </a:r>
                <a:endParaRPr lang="zh-CN" altLang="en-US" dirty="0">
                  <a:solidFill>
                    <a:srgbClr val="000000"/>
                  </a:solidFill>
                  <a:effectLst/>
                  <a:latin typeface="Microsoft YaHei" panose="020B0503020204020204" pitchFamily="34" charset="-122"/>
                  <a:ea typeface="Microsoft YaHei" panose="020B0503020204020204" pitchFamily="34" charset="-122"/>
                </a:endParaRPr>
              </a:p>
            </p:txBody>
          </p:sp>
        </mc:Choice>
        <mc:Fallback xmlns="">
          <p:sp>
            <p:nvSpPr>
              <p:cNvPr id="6" name="文本框 5">
                <a:extLst>
                  <a:ext uri="{FF2B5EF4-FFF2-40B4-BE49-F238E27FC236}">
                    <a16:creationId xmlns:a16="http://schemas.microsoft.com/office/drawing/2014/main" id="{B041A14E-3EF1-8AF3-BA2E-8C5EB0D97061}"/>
                  </a:ext>
                </a:extLst>
              </p:cNvPr>
              <p:cNvSpPr txBox="1">
                <a:spLocks noRot="1" noChangeAspect="1" noMove="1" noResize="1" noEditPoints="1" noAdjustHandles="1" noChangeArrowheads="1" noChangeShapeType="1" noTextEdit="1"/>
              </p:cNvSpPr>
              <p:nvPr/>
            </p:nvSpPr>
            <p:spPr>
              <a:xfrm>
                <a:off x="129873" y="727216"/>
                <a:ext cx="11794434" cy="1705403"/>
              </a:xfrm>
              <a:prstGeom prst="rect">
                <a:avLst/>
              </a:prstGeom>
              <a:blipFill>
                <a:blip r:embed="rId2"/>
                <a:stretch>
                  <a:fillRect l="-323" b="-5185"/>
                </a:stretch>
              </a:blipFill>
            </p:spPr>
            <p:txBody>
              <a:bodyPr/>
              <a:lstStyle/>
              <a:p>
                <a:r>
                  <a:rPr lang="zh-CN" altLang="en-US">
                    <a:noFill/>
                  </a:rPr>
                  <a:t> </a:t>
                </a:r>
              </a:p>
            </p:txBody>
          </p:sp>
        </mc:Fallback>
      </mc:AlternateContent>
      <p:pic>
        <p:nvPicPr>
          <p:cNvPr id="7" name="Picture 2" descr="A Guide to Word Embedding. What are they? How are they more useful… | by  Shraddha Anala | Towards Data Science">
            <a:extLst>
              <a:ext uri="{FF2B5EF4-FFF2-40B4-BE49-F238E27FC236}">
                <a16:creationId xmlns:a16="http://schemas.microsoft.com/office/drawing/2014/main" id="{13C3CD6A-9AE6-2F4F-FA1F-E60D272491A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151" b="7910"/>
          <a:stretch/>
        </p:blipFill>
        <p:spPr bwMode="auto">
          <a:xfrm>
            <a:off x="1073426" y="2558045"/>
            <a:ext cx="8839200" cy="2733476"/>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6437F31F-7F3A-5363-93B0-01CFA9305AC6}"/>
              </a:ext>
            </a:extLst>
          </p:cNvPr>
          <p:cNvSpPr txBox="1"/>
          <p:nvPr/>
        </p:nvSpPr>
        <p:spPr>
          <a:xfrm>
            <a:off x="198783" y="5329503"/>
            <a:ext cx="11794434" cy="874407"/>
          </a:xfrm>
          <a:prstGeom prst="rect">
            <a:avLst/>
          </a:prstGeom>
          <a:noFill/>
        </p:spPr>
        <p:txBody>
          <a:bodyPr wrap="square" rtlCol="0">
            <a:spAutoFit/>
          </a:bodyPr>
          <a:lstStyle/>
          <a:p>
            <a:pPr marL="285750" indent="-285750">
              <a:lnSpc>
                <a:spcPct val="150000"/>
              </a:lnSpc>
              <a:buFont typeface="Wingdings" pitchFamily="2" charset="2"/>
              <a:buChar char="Ø"/>
            </a:pPr>
            <a:r>
              <a:rPr lang="en" altLang="zh-CN" sz="1800" b="1" dirty="0">
                <a:solidFill>
                  <a:srgbClr val="B61516"/>
                </a:solidFill>
                <a:effectLst/>
                <a:latin typeface="Microsoft YaHei" panose="020B0503020204020204" pitchFamily="34" charset="-122"/>
                <a:ea typeface="Microsoft YaHei" panose="020B0503020204020204" pitchFamily="34" charset="-122"/>
              </a:rPr>
              <a:t>Johnson-</a:t>
            </a:r>
            <a:r>
              <a:rPr lang="en" altLang="zh-CN" sz="1800" b="1" dirty="0" err="1">
                <a:solidFill>
                  <a:srgbClr val="B61516"/>
                </a:solidFill>
                <a:effectLst/>
                <a:latin typeface="Microsoft YaHei" panose="020B0503020204020204" pitchFamily="34" charset="-122"/>
                <a:ea typeface="Microsoft YaHei" panose="020B0503020204020204" pitchFamily="34" charset="-122"/>
              </a:rPr>
              <a:t>Lindenstrauss</a:t>
            </a:r>
            <a:r>
              <a:rPr lang="en" altLang="zh-CN" sz="1800" b="1" dirty="0">
                <a:solidFill>
                  <a:srgbClr val="B61516"/>
                </a:solidFill>
                <a:effectLst/>
                <a:latin typeface="Microsoft YaHei" panose="020B0503020204020204" pitchFamily="34" charset="-122"/>
                <a:ea typeface="Microsoft YaHei" panose="020B0503020204020204" pitchFamily="34" charset="-122"/>
              </a:rPr>
              <a:t> </a:t>
            </a:r>
            <a:r>
              <a:rPr lang="zh-CN" altLang="en-US" sz="1800" b="1" dirty="0">
                <a:solidFill>
                  <a:srgbClr val="B61516"/>
                </a:solidFill>
                <a:effectLst/>
                <a:latin typeface="Microsoft YaHei" panose="020B0503020204020204" pitchFamily="34" charset="-122"/>
                <a:ea typeface="Microsoft YaHei" panose="020B0503020204020204" pitchFamily="34" charset="-122"/>
              </a:rPr>
              <a:t>引理：</a:t>
            </a:r>
            <a:r>
              <a:rPr lang="zh-CN" altLang="en-US" sz="1800" b="1" dirty="0">
                <a:solidFill>
                  <a:srgbClr val="000000"/>
                </a:solidFill>
                <a:effectLst/>
                <a:latin typeface="Microsoft YaHei" panose="020B0503020204020204" pitchFamily="34" charset="-122"/>
                <a:ea typeface="Microsoft YaHei" panose="020B0503020204020204" pitchFamily="34" charset="-122"/>
              </a:rPr>
              <a:t>可以通过随机线性映射嵌入到一个通常远低于原始维数 </a:t>
            </a:r>
            <a:r>
              <a:rPr lang="en" altLang="zh-CN" sz="1800" b="1" dirty="0">
                <a:solidFill>
                  <a:srgbClr val="000000"/>
                </a:solidFill>
                <a:effectLst/>
                <a:latin typeface="Microsoft YaHei" panose="020B0503020204020204" pitchFamily="34" charset="-122"/>
                <a:ea typeface="Microsoft YaHei" panose="020B0503020204020204" pitchFamily="34" charset="-122"/>
              </a:rPr>
              <a:t>d </a:t>
            </a:r>
            <a:r>
              <a:rPr lang="zh-CN" altLang="en-US" sz="1800" b="1" dirty="0">
                <a:solidFill>
                  <a:srgbClr val="000000"/>
                </a:solidFill>
                <a:effectLst/>
                <a:latin typeface="Microsoft YaHei" panose="020B0503020204020204" pitchFamily="34" charset="-122"/>
                <a:ea typeface="Microsoft YaHei" panose="020B0503020204020204" pitchFamily="34" charset="-122"/>
              </a:rPr>
              <a:t>的 </a:t>
            </a:r>
            <a:r>
              <a:rPr lang="en" altLang="zh-CN" sz="1800" b="1" dirty="0">
                <a:solidFill>
                  <a:srgbClr val="000000"/>
                </a:solidFill>
                <a:effectLst/>
                <a:latin typeface="Microsoft YaHei" panose="020B0503020204020204" pitchFamily="34" charset="-122"/>
                <a:ea typeface="Microsoft YaHei" panose="020B0503020204020204" pitchFamily="34" charset="-122"/>
              </a:rPr>
              <a:t>k </a:t>
            </a:r>
            <a:r>
              <a:rPr lang="zh-CN" altLang="en-US" sz="1800" b="1" dirty="0">
                <a:solidFill>
                  <a:srgbClr val="000000"/>
                </a:solidFill>
                <a:effectLst/>
                <a:latin typeface="Microsoft YaHei" panose="020B0503020204020204" pitchFamily="34" charset="-122"/>
                <a:ea typeface="Microsoft YaHei" panose="020B0503020204020204" pitchFamily="34" charset="-122"/>
              </a:rPr>
              <a:t>维空间 </a:t>
            </a:r>
            <a:r>
              <a:rPr lang="en-US" altLang="zh-CN" sz="1800" b="1" dirty="0">
                <a:solidFill>
                  <a:srgbClr val="000000"/>
                </a:solidFill>
                <a:effectLst/>
                <a:latin typeface="Microsoft YaHei" panose="020B0503020204020204" pitchFamily="34" charset="-122"/>
                <a:ea typeface="Microsoft YaHei" panose="020B0503020204020204" pitchFamily="34" charset="-122"/>
              </a:rPr>
              <a:t>(</a:t>
            </a:r>
            <a:r>
              <a:rPr lang="en" altLang="zh-CN" sz="1800" b="1" dirty="0">
                <a:solidFill>
                  <a:srgbClr val="000000"/>
                </a:solidFill>
                <a:effectLst/>
                <a:latin typeface="Microsoft YaHei" panose="020B0503020204020204" pitchFamily="34" charset="-122"/>
                <a:ea typeface="Microsoft YaHei" panose="020B0503020204020204" pitchFamily="34" charset="-122"/>
              </a:rPr>
              <a:t>k </a:t>
            </a:r>
            <a:r>
              <a:rPr lang="zh-CN" altLang="en-US" sz="1800" b="1" dirty="0">
                <a:solidFill>
                  <a:srgbClr val="000000"/>
                </a:solidFill>
                <a:effectLst/>
                <a:latin typeface="Microsoft YaHei" panose="020B0503020204020204" pitchFamily="34" charset="-122"/>
                <a:ea typeface="Microsoft YaHei" panose="020B0503020204020204" pitchFamily="34" charset="-122"/>
              </a:rPr>
              <a:t>依赖于 </a:t>
            </a:r>
            <a:r>
              <a:rPr lang="en" altLang="zh-CN" sz="1800" b="1" dirty="0">
                <a:solidFill>
                  <a:srgbClr val="000000"/>
                </a:solidFill>
                <a:effectLst/>
                <a:latin typeface="Microsoft YaHei" panose="020B0503020204020204" pitchFamily="34" charset="-122"/>
                <a:ea typeface="Microsoft YaHei" panose="020B0503020204020204" pitchFamily="34" charset="-122"/>
              </a:rPr>
              <a:t>log n)</a:t>
            </a:r>
            <a:r>
              <a:rPr lang="zh-CN" altLang="en-US" sz="1800" b="1" dirty="0">
                <a:solidFill>
                  <a:srgbClr val="000000"/>
                </a:solidFill>
                <a:effectLst/>
                <a:latin typeface="Microsoft YaHei" panose="020B0503020204020204" pitchFamily="34" charset="-122"/>
                <a:ea typeface="Microsoft YaHei" panose="020B0503020204020204" pitchFamily="34" charset="-122"/>
              </a:rPr>
              <a:t>中</a:t>
            </a:r>
            <a:r>
              <a:rPr lang="en-US" altLang="zh-CN" sz="1800" b="1" dirty="0">
                <a:solidFill>
                  <a:srgbClr val="000000"/>
                </a:solidFill>
                <a:effectLst/>
                <a:latin typeface="Microsoft YaHei" panose="020B0503020204020204" pitchFamily="34" charset="-122"/>
                <a:ea typeface="Microsoft YaHei" panose="020B0503020204020204" pitchFamily="34" charset="-122"/>
              </a:rPr>
              <a:t>, </a:t>
            </a:r>
            <a:r>
              <a:rPr lang="zh-CN" altLang="en-US" sz="1800" b="1" dirty="0">
                <a:solidFill>
                  <a:srgbClr val="000000"/>
                </a:solidFill>
                <a:effectLst/>
                <a:latin typeface="Microsoft YaHei" panose="020B0503020204020204" pitchFamily="34" charset="-122"/>
                <a:ea typeface="Microsoft YaHei" panose="020B0503020204020204" pitchFamily="34" charset="-122"/>
              </a:rPr>
              <a:t>且点与点之间的距离可以近似得以保持。</a:t>
            </a:r>
            <a:endParaRPr lang="zh-CN" altLang="en-US" b="1" dirty="0">
              <a:solidFill>
                <a:srgbClr val="000000"/>
              </a:solidFill>
              <a:effectLst/>
              <a:latin typeface="Microsoft YaHei" panose="020B0503020204020204" pitchFamily="34" charset="-122"/>
              <a:ea typeface="Microsoft YaHei" panose="020B0503020204020204" pitchFamily="34" charset="-122"/>
            </a:endParaRPr>
          </a:p>
        </p:txBody>
      </p:sp>
      <p:sp>
        <p:nvSpPr>
          <p:cNvPr id="11" name="椭圆形标注 10">
            <a:extLst>
              <a:ext uri="{FF2B5EF4-FFF2-40B4-BE49-F238E27FC236}">
                <a16:creationId xmlns:a16="http://schemas.microsoft.com/office/drawing/2014/main" id="{5AD78B22-9DEB-F197-2003-253D9E33EA6D}"/>
              </a:ext>
            </a:extLst>
          </p:cNvPr>
          <p:cNvSpPr/>
          <p:nvPr/>
        </p:nvSpPr>
        <p:spPr>
          <a:xfrm>
            <a:off x="9912626" y="2411040"/>
            <a:ext cx="2279374" cy="679783"/>
          </a:xfrm>
          <a:prstGeom prst="wedgeEllipseCallout">
            <a:avLst>
              <a:gd name="adj1" fmla="val -75836"/>
              <a:gd name="adj2" fmla="val 1208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C00000"/>
                </a:solidFill>
                <a:latin typeface="Microsoft YaHei" panose="020B0503020204020204" pitchFamily="34" charset="-122"/>
                <a:ea typeface="Microsoft YaHei" panose="020B0503020204020204" pitchFamily="34" charset="-122"/>
              </a:rPr>
              <a:t>思考：应该降到几维？</a:t>
            </a:r>
          </a:p>
        </p:txBody>
      </p:sp>
      <p:sp>
        <p:nvSpPr>
          <p:cNvPr id="2" name="文本框 1">
            <a:extLst>
              <a:ext uri="{FF2B5EF4-FFF2-40B4-BE49-F238E27FC236}">
                <a16:creationId xmlns:a16="http://schemas.microsoft.com/office/drawing/2014/main" id="{9CB3FC08-6C35-9CF3-0074-1D9CB45BF8A3}"/>
              </a:ext>
            </a:extLst>
          </p:cNvPr>
          <p:cNvSpPr txBox="1"/>
          <p:nvPr/>
        </p:nvSpPr>
        <p:spPr>
          <a:xfrm>
            <a:off x="198783" y="6416325"/>
            <a:ext cx="7522059" cy="338554"/>
          </a:xfrm>
          <a:prstGeom prst="rect">
            <a:avLst/>
          </a:prstGeom>
          <a:noFill/>
        </p:spPr>
        <p:txBody>
          <a:bodyPr wrap="none" rtlCol="0">
            <a:spAutoFit/>
          </a:bodyPr>
          <a:lstStyle/>
          <a:p>
            <a:r>
              <a:rPr lang="zh-CN" altLang="en" sz="1600" b="0" i="0" dirty="0">
                <a:solidFill>
                  <a:srgbClr val="F0F0EB"/>
                </a:solidFill>
                <a:effectLst/>
                <a:latin typeface="Times New Roman" panose="02020603050405020304" pitchFamily="18" charset="0"/>
                <a:ea typeface="SimSun" panose="02010600030101010101" pitchFamily="2" charset="-122"/>
                <a:cs typeface="Times New Roman" panose="02020603050405020304" pitchFamily="18" charset="0"/>
              </a:rPr>
              <a:t>图片</a:t>
            </a:r>
            <a:r>
              <a:rPr lang="zh-CN" altLang="en-US" sz="1600" b="0" i="0" dirty="0">
                <a:solidFill>
                  <a:srgbClr val="F0F0EB"/>
                </a:solidFill>
                <a:effectLst/>
                <a:latin typeface="Times New Roman" panose="02020603050405020304" pitchFamily="18" charset="0"/>
                <a:ea typeface="SimSun" panose="02010600030101010101" pitchFamily="2" charset="-122"/>
                <a:cs typeface="Times New Roman" panose="02020603050405020304" pitchFamily="18" charset="0"/>
              </a:rPr>
              <a:t>来源：</a:t>
            </a:r>
            <a:r>
              <a:rPr lang="en" altLang="zh-CN" sz="1600" b="0" i="0" dirty="0">
                <a:solidFill>
                  <a:srgbClr val="F0F0EB"/>
                </a:solidFill>
                <a:effectLst/>
                <a:latin typeface="Times New Roman" panose="02020603050405020304" pitchFamily="18" charset="0"/>
                <a:ea typeface="SimSun" panose="02010600030101010101" pitchFamily="2" charset="-122"/>
                <a:cs typeface="Times New Roman" panose="02020603050405020304" pitchFamily="18" charset="0"/>
              </a:rPr>
              <a:t>A Technical Intro to Embeddings: The approach to data powering modern AI</a:t>
            </a:r>
          </a:p>
        </p:txBody>
      </p:sp>
    </p:spTree>
    <p:extLst>
      <p:ext uri="{BB962C8B-B14F-4D97-AF65-F5344CB8AC3E}">
        <p14:creationId xmlns:p14="http://schemas.microsoft.com/office/powerpoint/2010/main" val="3553532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D13405-9353-493E-1D8F-3C9CF0B71BE1}"/>
              </a:ext>
            </a:extLst>
          </p:cNvPr>
          <p:cNvSpPr>
            <a:spLocks noGrp="1"/>
          </p:cNvSpPr>
          <p:nvPr>
            <p:ph type="title"/>
          </p:nvPr>
        </p:nvSpPr>
        <p:spPr/>
        <p:txBody>
          <a:bodyPr/>
          <a:lstStyle/>
          <a:p>
            <a:r>
              <a:rPr lang="zh-CN" altLang="en-US" dirty="0"/>
              <a:t>嵌入 </a:t>
            </a:r>
            <a:r>
              <a:rPr lang="en-US" altLang="zh-CN" dirty="0"/>
              <a:t>Embedding</a:t>
            </a:r>
            <a:r>
              <a:rPr lang="zh-CN" altLang="en-US" dirty="0"/>
              <a:t> </a:t>
            </a:r>
            <a:r>
              <a:rPr lang="en-US" altLang="zh-CN" dirty="0"/>
              <a:t>+</a:t>
            </a:r>
            <a:r>
              <a:rPr lang="zh-CN" altLang="en-US" dirty="0"/>
              <a:t> 位置编码</a:t>
            </a:r>
          </a:p>
        </p:txBody>
      </p:sp>
      <p:pic>
        <p:nvPicPr>
          <p:cNvPr id="4" name="图片 3">
            <a:extLst>
              <a:ext uri="{FF2B5EF4-FFF2-40B4-BE49-F238E27FC236}">
                <a16:creationId xmlns:a16="http://schemas.microsoft.com/office/drawing/2014/main" id="{81FD7CFD-4E9B-A3E9-6658-32F00B8ADD1C}"/>
              </a:ext>
            </a:extLst>
          </p:cNvPr>
          <p:cNvPicPr>
            <a:picLocks noChangeAspect="1"/>
          </p:cNvPicPr>
          <p:nvPr/>
        </p:nvPicPr>
        <p:blipFill>
          <a:blip r:embed="rId2"/>
          <a:stretch>
            <a:fillRect/>
          </a:stretch>
        </p:blipFill>
        <p:spPr>
          <a:xfrm>
            <a:off x="3568033" y="1650779"/>
            <a:ext cx="5896232" cy="567512"/>
          </a:xfrm>
          <a:prstGeom prst="rect">
            <a:avLst/>
          </a:prstGeom>
        </p:spPr>
      </p:pic>
      <p:pic>
        <p:nvPicPr>
          <p:cNvPr id="5" name="图片 4">
            <a:extLst>
              <a:ext uri="{FF2B5EF4-FFF2-40B4-BE49-F238E27FC236}">
                <a16:creationId xmlns:a16="http://schemas.microsoft.com/office/drawing/2014/main" id="{50C0A059-9308-B14E-288B-0A7AFAF1E8A6}"/>
              </a:ext>
            </a:extLst>
          </p:cNvPr>
          <p:cNvPicPr>
            <a:picLocks noChangeAspect="1"/>
          </p:cNvPicPr>
          <p:nvPr/>
        </p:nvPicPr>
        <p:blipFill>
          <a:blip r:embed="rId3"/>
          <a:stretch>
            <a:fillRect/>
          </a:stretch>
        </p:blipFill>
        <p:spPr>
          <a:xfrm>
            <a:off x="3714750" y="920629"/>
            <a:ext cx="2896115" cy="571500"/>
          </a:xfrm>
          <a:prstGeom prst="rect">
            <a:avLst/>
          </a:prstGeom>
        </p:spPr>
      </p:pic>
      <p:pic>
        <p:nvPicPr>
          <p:cNvPr id="12" name="图片 11">
            <a:extLst>
              <a:ext uri="{FF2B5EF4-FFF2-40B4-BE49-F238E27FC236}">
                <a16:creationId xmlns:a16="http://schemas.microsoft.com/office/drawing/2014/main" id="{C26DD5D1-9376-4A00-595B-29D8375ED71B}"/>
              </a:ext>
            </a:extLst>
          </p:cNvPr>
          <p:cNvPicPr>
            <a:picLocks noChangeAspect="1"/>
          </p:cNvPicPr>
          <p:nvPr/>
        </p:nvPicPr>
        <p:blipFill>
          <a:blip r:embed="rId4"/>
          <a:stretch>
            <a:fillRect/>
          </a:stretch>
        </p:blipFill>
        <p:spPr>
          <a:xfrm>
            <a:off x="3568033" y="2417270"/>
            <a:ext cx="3265253" cy="569775"/>
          </a:xfrm>
          <a:prstGeom prst="rect">
            <a:avLst/>
          </a:prstGeom>
        </p:spPr>
      </p:pic>
      <p:sp>
        <p:nvSpPr>
          <p:cNvPr id="13" name="文本框 12">
            <a:extLst>
              <a:ext uri="{FF2B5EF4-FFF2-40B4-BE49-F238E27FC236}">
                <a16:creationId xmlns:a16="http://schemas.microsoft.com/office/drawing/2014/main" id="{10DE3276-4E4D-5A57-51B3-F1F026FBD1EA}"/>
              </a:ext>
            </a:extLst>
          </p:cNvPr>
          <p:cNvSpPr txBox="1"/>
          <p:nvPr/>
        </p:nvSpPr>
        <p:spPr>
          <a:xfrm>
            <a:off x="7458836" y="2502288"/>
            <a:ext cx="3093834" cy="461665"/>
          </a:xfrm>
          <a:prstGeom prst="rect">
            <a:avLst/>
          </a:prstGeom>
          <a:noFill/>
        </p:spPr>
        <p:txBody>
          <a:bodyPr wrap="square">
            <a:spAutoFit/>
          </a:bodyPr>
          <a:lstStyle/>
          <a:p>
            <a:r>
              <a:rPr lang="zh-CN" altLang="en-US" sz="2400" dirty="0">
                <a:effectLst/>
                <a:latin typeface="Helvetica" pitchFamily="2" charset="0"/>
              </a:rPr>
              <a:t>随机初始化，可训练</a:t>
            </a:r>
          </a:p>
        </p:txBody>
      </p:sp>
      <p:pic>
        <p:nvPicPr>
          <p:cNvPr id="3" name="图片 2">
            <a:extLst>
              <a:ext uri="{FF2B5EF4-FFF2-40B4-BE49-F238E27FC236}">
                <a16:creationId xmlns:a16="http://schemas.microsoft.com/office/drawing/2014/main" id="{94186150-934B-E799-F6E7-2B823F3D6B1C}"/>
              </a:ext>
            </a:extLst>
          </p:cNvPr>
          <p:cNvPicPr>
            <a:picLocks noChangeAspect="1"/>
          </p:cNvPicPr>
          <p:nvPr/>
        </p:nvPicPr>
        <p:blipFill>
          <a:blip r:embed="rId5"/>
          <a:stretch>
            <a:fillRect/>
          </a:stretch>
        </p:blipFill>
        <p:spPr>
          <a:xfrm>
            <a:off x="3568033" y="3271042"/>
            <a:ext cx="3591142" cy="567512"/>
          </a:xfrm>
          <a:prstGeom prst="rect">
            <a:avLst/>
          </a:prstGeom>
        </p:spPr>
      </p:pic>
      <p:pic>
        <p:nvPicPr>
          <p:cNvPr id="9" name="图片 8">
            <a:extLst>
              <a:ext uri="{FF2B5EF4-FFF2-40B4-BE49-F238E27FC236}">
                <a16:creationId xmlns:a16="http://schemas.microsoft.com/office/drawing/2014/main" id="{261EAB68-2A80-1CBD-13D6-3FD26D77412E}"/>
              </a:ext>
            </a:extLst>
          </p:cNvPr>
          <p:cNvPicPr>
            <a:picLocks noChangeAspect="1"/>
          </p:cNvPicPr>
          <p:nvPr/>
        </p:nvPicPr>
        <p:blipFill>
          <a:blip r:embed="rId6"/>
          <a:stretch>
            <a:fillRect/>
          </a:stretch>
        </p:blipFill>
        <p:spPr>
          <a:xfrm>
            <a:off x="3568033" y="4064276"/>
            <a:ext cx="4639436" cy="575434"/>
          </a:xfrm>
          <a:prstGeom prst="rect">
            <a:avLst/>
          </a:prstGeom>
        </p:spPr>
      </p:pic>
      <p:sp>
        <p:nvSpPr>
          <p:cNvPr id="10" name="文本框 9">
            <a:extLst>
              <a:ext uri="{FF2B5EF4-FFF2-40B4-BE49-F238E27FC236}">
                <a16:creationId xmlns:a16="http://schemas.microsoft.com/office/drawing/2014/main" id="{044DFB66-AB1E-874E-B03C-E99627799095}"/>
              </a:ext>
            </a:extLst>
          </p:cNvPr>
          <p:cNvSpPr txBox="1"/>
          <p:nvPr/>
        </p:nvSpPr>
        <p:spPr>
          <a:xfrm>
            <a:off x="7042826" y="4704262"/>
            <a:ext cx="3093834" cy="461665"/>
          </a:xfrm>
          <a:prstGeom prst="rect">
            <a:avLst/>
          </a:prstGeom>
          <a:noFill/>
        </p:spPr>
        <p:txBody>
          <a:bodyPr wrap="square">
            <a:spAutoFit/>
          </a:bodyPr>
          <a:lstStyle/>
          <a:p>
            <a:r>
              <a:rPr lang="zh-CN" altLang="en-US" sz="2400" dirty="0">
                <a:effectLst/>
                <a:latin typeface="Helvetica" pitchFamily="2" charset="0"/>
              </a:rPr>
              <a:t>随机初始化，可训练</a:t>
            </a:r>
          </a:p>
        </p:txBody>
      </p:sp>
    </p:spTree>
    <p:extLst>
      <p:ext uri="{BB962C8B-B14F-4D97-AF65-F5344CB8AC3E}">
        <p14:creationId xmlns:p14="http://schemas.microsoft.com/office/powerpoint/2010/main" val="20623142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D13405-9353-493E-1D8F-3C9CF0B71BE1}"/>
              </a:ext>
            </a:extLst>
          </p:cNvPr>
          <p:cNvSpPr>
            <a:spLocks noGrp="1"/>
          </p:cNvSpPr>
          <p:nvPr>
            <p:ph type="title"/>
          </p:nvPr>
        </p:nvSpPr>
        <p:spPr/>
        <p:txBody>
          <a:bodyPr/>
          <a:lstStyle/>
          <a:p>
            <a:r>
              <a:rPr lang="zh-CN" altLang="en-US" dirty="0"/>
              <a:t>嵌入 </a:t>
            </a:r>
            <a:r>
              <a:rPr lang="en-US" altLang="zh-CN" dirty="0"/>
              <a:t>Embedding</a:t>
            </a:r>
            <a:r>
              <a:rPr lang="zh-CN" altLang="en-US" dirty="0"/>
              <a:t> </a:t>
            </a:r>
            <a:r>
              <a:rPr lang="en-US" altLang="zh-CN" dirty="0"/>
              <a:t>+</a:t>
            </a:r>
            <a:r>
              <a:rPr lang="zh-CN" altLang="en-US" dirty="0"/>
              <a:t> 位置编码</a:t>
            </a:r>
          </a:p>
        </p:txBody>
      </p:sp>
      <p:pic>
        <p:nvPicPr>
          <p:cNvPr id="9" name="图片 8">
            <a:extLst>
              <a:ext uri="{FF2B5EF4-FFF2-40B4-BE49-F238E27FC236}">
                <a16:creationId xmlns:a16="http://schemas.microsoft.com/office/drawing/2014/main" id="{261EAB68-2A80-1CBD-13D6-3FD26D77412E}"/>
              </a:ext>
            </a:extLst>
          </p:cNvPr>
          <p:cNvPicPr>
            <a:picLocks noChangeAspect="1"/>
          </p:cNvPicPr>
          <p:nvPr/>
        </p:nvPicPr>
        <p:blipFill>
          <a:blip r:embed="rId2"/>
          <a:stretch>
            <a:fillRect/>
          </a:stretch>
        </p:blipFill>
        <p:spPr>
          <a:xfrm>
            <a:off x="3555676" y="987444"/>
            <a:ext cx="4639436" cy="575434"/>
          </a:xfrm>
          <a:prstGeom prst="rect">
            <a:avLst/>
          </a:prstGeom>
        </p:spPr>
      </p:pic>
      <p:sp>
        <p:nvSpPr>
          <p:cNvPr id="10" name="文本框 9">
            <a:extLst>
              <a:ext uri="{FF2B5EF4-FFF2-40B4-BE49-F238E27FC236}">
                <a16:creationId xmlns:a16="http://schemas.microsoft.com/office/drawing/2014/main" id="{044DFB66-AB1E-874E-B03C-E99627799095}"/>
              </a:ext>
            </a:extLst>
          </p:cNvPr>
          <p:cNvSpPr txBox="1"/>
          <p:nvPr/>
        </p:nvSpPr>
        <p:spPr>
          <a:xfrm>
            <a:off x="8377356" y="1072838"/>
            <a:ext cx="3093834" cy="461665"/>
          </a:xfrm>
          <a:prstGeom prst="rect">
            <a:avLst/>
          </a:prstGeom>
          <a:noFill/>
        </p:spPr>
        <p:txBody>
          <a:bodyPr wrap="square">
            <a:spAutoFit/>
          </a:bodyPr>
          <a:lstStyle/>
          <a:p>
            <a:r>
              <a:rPr lang="zh-CN" altLang="en-US" sz="2400" dirty="0">
                <a:effectLst/>
                <a:latin typeface="Helvetica" pitchFamily="2" charset="0"/>
              </a:rPr>
              <a:t>随机初始化，可训练</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BF9D5E8-5BAE-DC90-561A-C8D0AB864539}"/>
                  </a:ext>
                </a:extLst>
              </p:cNvPr>
              <p:cNvSpPr txBox="1"/>
              <p:nvPr/>
            </p:nvSpPr>
            <p:spPr>
              <a:xfrm>
                <a:off x="234281" y="1948967"/>
                <a:ext cx="4955059" cy="2022798"/>
              </a:xfrm>
              <a:prstGeom prst="rect">
                <a:avLst/>
              </a:prstGeom>
              <a:noFill/>
            </p:spPr>
            <p:txBody>
              <a:bodyPr wrap="square" rtlCol="0">
                <a:spAutoFit/>
              </a:bodyPr>
              <a:lstStyle/>
              <a:p>
                <a:pPr indent="0" fontAlgn="auto">
                  <a:lnSpc>
                    <a:spcPct val="125000"/>
                  </a:lnSpc>
                  <a:spcBef>
                    <a:spcPts val="600"/>
                  </a:spcBef>
                </a:pPr>
                <a:r>
                  <a:rPr lang="zh-CN" altLang="en-US" sz="2000" b="1" dirty="0">
                    <a:latin typeface="微软雅黑" panose="020B0503020204020204" pitchFamily="34" charset="-122"/>
                    <a:ea typeface="微软雅黑" panose="020B0503020204020204" pitchFamily="34" charset="-122"/>
                  </a:rPr>
                  <a:t>位置嵌入</a:t>
                </a:r>
                <a:r>
                  <a:rPr lang="en-US" altLang="zh-CN" sz="2000" b="1" dirty="0">
                    <a:latin typeface="微软雅黑" panose="020B0503020204020204" pitchFamily="34" charset="-122"/>
                    <a:ea typeface="微软雅黑" panose="020B0503020204020204" pitchFamily="34" charset="-122"/>
                  </a:rPr>
                  <a:t>(position embedding)</a:t>
                </a:r>
                <a:r>
                  <a:rPr lang="zh-CN" altLang="en-US" sz="2000" b="1" dirty="0">
                    <a:latin typeface="微软雅黑" panose="020B0503020204020204" pitchFamily="34" charset="-122"/>
                    <a:ea typeface="微软雅黑" panose="020B0503020204020204" pitchFamily="34" charset="-122"/>
                  </a:rPr>
                  <a:t>：</a:t>
                </a:r>
                <a:r>
                  <a:rPr lang="zh-CN" altLang="en-US" sz="2000" dirty="0">
                    <a:solidFill>
                      <a:schemeClr val="tx2"/>
                    </a:solidFill>
                    <a:latin typeface="微软雅黑" panose="020B0503020204020204" pitchFamily="34" charset="-122"/>
                    <a:ea typeface="微软雅黑" panose="020B0503020204020204" pitchFamily="34" charset="-122"/>
                  </a:rPr>
                  <a:t>用于区分每个</a:t>
                </a:r>
                <a:r>
                  <a:rPr lang="en-US" altLang="zh-CN" sz="2000" dirty="0">
                    <a:solidFill>
                      <a:schemeClr val="tx2"/>
                    </a:solidFill>
                    <a:latin typeface="微软雅黑" panose="020B0503020204020204" pitchFamily="34" charset="-122"/>
                    <a:ea typeface="微软雅黑" panose="020B0503020204020204" pitchFamily="34" charset="-122"/>
                  </a:rPr>
                  <a:t>token</a:t>
                </a:r>
                <a:r>
                  <a:rPr lang="zh-CN" altLang="en-US" sz="2000" dirty="0">
                    <a:solidFill>
                      <a:schemeClr val="tx2"/>
                    </a:solidFill>
                    <a:latin typeface="微软雅黑" panose="020B0503020204020204" pitchFamily="34" charset="-122"/>
                    <a:ea typeface="微软雅黑" panose="020B0503020204020204" pitchFamily="34" charset="-122"/>
                  </a:rPr>
                  <a:t>在什么地方。也是一个</a:t>
                </a:r>
                <a14:m>
                  <m:oMath xmlns:m="http://schemas.openxmlformats.org/officeDocument/2006/math">
                    <m:r>
                      <a:rPr lang="en-US" altLang="zh-CN" sz="2000" i="1" dirty="0" smtClean="0">
                        <a:solidFill>
                          <a:schemeClr val="tx2"/>
                        </a:solidFill>
                        <a:latin typeface="Cambria Math" panose="02040503050406030204" pitchFamily="18" charset="0"/>
                        <a:ea typeface="微软雅黑" panose="020B0503020204020204" pitchFamily="34" charset="-122"/>
                      </a:rPr>
                      <m:t>𝑛</m:t>
                    </m:r>
                    <m:r>
                      <a:rPr lang="zh-CN" altLang="en-US" sz="2000" i="1" dirty="0">
                        <a:solidFill>
                          <a:schemeClr val="tx2"/>
                        </a:solidFill>
                        <a:latin typeface="Cambria Math" panose="02040503050406030204" pitchFamily="18" charset="0"/>
                        <a:ea typeface="微软雅黑" panose="020B0503020204020204" pitchFamily="34" charset="-122"/>
                      </a:rPr>
                      <m:t>×</m:t>
                    </m:r>
                    <m:sSub>
                      <m:sSubPr>
                        <m:ctrlPr>
                          <a:rPr lang="en-US" altLang="zh-CN" sz="2000" b="0" i="1" dirty="0" smtClean="0">
                            <a:solidFill>
                              <a:schemeClr val="tx2"/>
                            </a:solidFill>
                            <a:latin typeface="Cambria Math" panose="02040503050406030204" pitchFamily="18" charset="0"/>
                            <a:ea typeface="微软雅黑" panose="020B0503020204020204" pitchFamily="34" charset="-122"/>
                          </a:rPr>
                        </m:ctrlPr>
                      </m:sSubPr>
                      <m:e>
                        <m:r>
                          <a:rPr lang="en-US" altLang="zh-CN" sz="2000" b="0" i="1" dirty="0" smtClean="0">
                            <a:solidFill>
                              <a:schemeClr val="tx2"/>
                            </a:solidFill>
                            <a:latin typeface="Cambria Math" panose="02040503050406030204" pitchFamily="18" charset="0"/>
                            <a:ea typeface="微软雅黑" panose="020B0503020204020204" pitchFamily="34" charset="-122"/>
                          </a:rPr>
                          <m:t>𝑑</m:t>
                        </m:r>
                      </m:e>
                      <m:sub>
                        <m:r>
                          <a:rPr lang="en-US" altLang="zh-CN" sz="2000" b="0" i="1" dirty="0" smtClean="0">
                            <a:solidFill>
                              <a:schemeClr val="tx2"/>
                            </a:solidFill>
                            <a:latin typeface="Cambria Math" panose="02040503050406030204" pitchFamily="18" charset="0"/>
                            <a:ea typeface="微软雅黑" panose="020B0503020204020204" pitchFamily="34" charset="-122"/>
                          </a:rPr>
                          <m:t>𝑚</m:t>
                        </m:r>
                      </m:sub>
                    </m:sSub>
                  </m:oMath>
                </a14:m>
                <a:r>
                  <a:rPr lang="zh-CN" altLang="en-US" sz="2000" dirty="0">
                    <a:solidFill>
                      <a:schemeClr val="tx2"/>
                    </a:solidFill>
                    <a:latin typeface="微软雅黑" panose="020B0503020204020204" pitchFamily="34" charset="-122"/>
                    <a:ea typeface="微软雅黑" panose="020B0503020204020204" pitchFamily="34" charset="-122"/>
                  </a:rPr>
                  <a:t>维矩阵，可以使用可训练矩阵也可以人为设计，比如以下的正余弦编码：</a:t>
                </a:r>
                <a:endParaRPr lang="zh-CN" altLang="en-US" sz="2400" dirty="0">
                  <a:solidFill>
                    <a:schemeClr val="tx2"/>
                  </a:solidFill>
                  <a:latin typeface="微软雅黑" panose="020B0503020204020204" pitchFamily="34" charset="-122"/>
                  <a:ea typeface="微软雅黑" panose="020B0503020204020204" pitchFamily="34" charset="-122"/>
                </a:endParaRPr>
              </a:p>
              <a:p>
                <a:pPr indent="0" fontAlgn="auto">
                  <a:lnSpc>
                    <a:spcPct val="125000"/>
                  </a:lnSpc>
                  <a:spcBef>
                    <a:spcPts val="600"/>
                  </a:spcBef>
                </a:pPr>
                <a:endParaRPr lang="zh-CN" altLang="en-US" dirty="0">
                  <a:solidFill>
                    <a:schemeClr val="tx2"/>
                  </a:solidFill>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3BF9D5E8-5BAE-DC90-561A-C8D0AB864539}"/>
                  </a:ext>
                </a:extLst>
              </p:cNvPr>
              <p:cNvSpPr txBox="1">
                <a:spLocks noRot="1" noChangeAspect="1" noMove="1" noResize="1" noEditPoints="1" noAdjustHandles="1" noChangeArrowheads="1" noChangeShapeType="1" noTextEdit="1"/>
              </p:cNvSpPr>
              <p:nvPr/>
            </p:nvSpPr>
            <p:spPr>
              <a:xfrm>
                <a:off x="234281" y="1948967"/>
                <a:ext cx="4955059" cy="2022798"/>
              </a:xfrm>
              <a:prstGeom prst="rect">
                <a:avLst/>
              </a:prstGeom>
              <a:blipFill>
                <a:blip r:embed="rId3"/>
                <a:stretch>
                  <a:fillRect l="-1279" r="-512"/>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B35182EB-2BED-30B2-74A0-FA73994DF452}"/>
              </a:ext>
            </a:extLst>
          </p:cNvPr>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234281" y="4357854"/>
            <a:ext cx="4178265" cy="1214270"/>
          </a:xfrm>
          <a:prstGeom prst="rect">
            <a:avLst/>
          </a:prstGeom>
        </p:spPr>
      </p:pic>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5DAA3B7D-A78C-5213-BA77-2F1B6E66F6D4}"/>
                  </a:ext>
                </a:extLst>
              </p:cNvPr>
              <p:cNvSpPr txBox="1"/>
              <p:nvPr/>
            </p:nvSpPr>
            <p:spPr>
              <a:xfrm>
                <a:off x="5424616" y="1948967"/>
                <a:ext cx="6533103" cy="4023345"/>
              </a:xfrm>
              <a:prstGeom prst="rect">
                <a:avLst/>
              </a:prstGeom>
              <a:noFill/>
            </p:spPr>
            <p:txBody>
              <a:bodyPr wrap="square" rtlCol="0">
                <a:spAutoFit/>
              </a:bodyPr>
              <a:lstStyle/>
              <a:p>
                <a:pPr indent="0" fontAlgn="auto">
                  <a:lnSpc>
                    <a:spcPct val="125000"/>
                  </a:lnSpc>
                  <a:spcBef>
                    <a:spcPts val="600"/>
                  </a:spcBef>
                </a:pPr>
                <a:r>
                  <a:rPr lang="zh-CN" altLang="en-US" dirty="0">
                    <a:solidFill>
                      <a:schemeClr val="tx2"/>
                    </a:solidFill>
                    <a:latin typeface="微软雅黑" panose="020B0503020204020204" pitchFamily="34" charset="-122"/>
                    <a:ea typeface="微软雅黑" panose="020B0503020204020204" pitchFamily="34" charset="-122"/>
                  </a:rPr>
                  <a:t>两个正余弦位置编码的点积仅取决于偏移量  ，也即</a:t>
                </a:r>
                <a:r>
                  <a:rPr lang="zh-CN" altLang="en-US" b="1" dirty="0">
                    <a:latin typeface="微软雅黑" panose="020B0503020204020204" pitchFamily="34" charset="-122"/>
                    <a:ea typeface="微软雅黑" panose="020B0503020204020204" pitchFamily="34" charset="-122"/>
                  </a:rPr>
                  <a:t>两个位置编码的点积可以反应出两个位置编码间的距离</a:t>
                </a:r>
                <a:r>
                  <a:rPr lang="zh-CN" altLang="en-US" dirty="0">
                    <a:solidFill>
                      <a:schemeClr val="tx2"/>
                    </a:solidFill>
                    <a:latin typeface="微软雅黑" panose="020B0503020204020204" pitchFamily="34" charset="-122"/>
                    <a:ea typeface="微软雅黑" panose="020B0503020204020204" pitchFamily="34" charset="-122"/>
                  </a:rPr>
                  <a:t>，令</a:t>
                </a:r>
                <a14:m>
                  <m:oMath xmlns:m="http://schemas.openxmlformats.org/officeDocument/2006/math">
                    <m:sSub>
                      <m:sSubPr>
                        <m:ctrlPr>
                          <a:rPr lang="en-US" altLang="zh-CN" i="1">
                            <a:solidFill>
                              <a:schemeClr val="tx2"/>
                            </a:solidFill>
                            <a:latin typeface="Cambria Math" panose="02040503050406030204" pitchFamily="18" charset="0"/>
                            <a:ea typeface="微软雅黑" panose="020B0503020204020204" pitchFamily="34" charset="-122"/>
                          </a:rPr>
                        </m:ctrlPr>
                      </m:sSubPr>
                      <m:e>
                        <m:r>
                          <a:rPr lang="en-US" altLang="zh-CN" i="1">
                            <a:solidFill>
                              <a:schemeClr val="tx2"/>
                            </a:solidFill>
                            <a:latin typeface="Cambria Math" panose="02040503050406030204" pitchFamily="18" charset="0"/>
                            <a:ea typeface="微软雅黑" panose="020B0503020204020204" pitchFamily="34" charset="-122"/>
                          </a:rPr>
                          <m:t>𝜔</m:t>
                        </m:r>
                      </m:e>
                      <m:sub>
                        <m:r>
                          <a:rPr lang="en-US" altLang="zh-CN" i="1">
                            <a:solidFill>
                              <a:schemeClr val="tx2"/>
                            </a:solidFill>
                            <a:latin typeface="Cambria Math" panose="02040503050406030204" pitchFamily="18" charset="0"/>
                            <a:ea typeface="微软雅黑" panose="020B0503020204020204" pitchFamily="34" charset="-122"/>
                          </a:rPr>
                          <m:t>𝑖</m:t>
                        </m:r>
                      </m:sub>
                    </m:sSub>
                    <m:r>
                      <a:rPr lang="en-US" altLang="zh-CN" i="1">
                        <a:solidFill>
                          <a:schemeClr val="tx2"/>
                        </a:solidFill>
                        <a:latin typeface="Cambria Math" panose="02040503050406030204" pitchFamily="18" charset="0"/>
                        <a:ea typeface="微软雅黑" panose="020B0503020204020204" pitchFamily="34" charset="-122"/>
                      </a:rPr>
                      <m:t>=1/</m:t>
                    </m:r>
                    <m:sSup>
                      <m:sSupPr>
                        <m:ctrlPr>
                          <a:rPr lang="en-US" altLang="zh-CN" i="1">
                            <a:solidFill>
                              <a:schemeClr val="tx2"/>
                            </a:solidFill>
                            <a:latin typeface="Cambria Math" panose="02040503050406030204" pitchFamily="18" charset="0"/>
                            <a:ea typeface="微软雅黑" panose="020B0503020204020204" pitchFamily="34" charset="-122"/>
                          </a:rPr>
                        </m:ctrlPr>
                      </m:sSupPr>
                      <m:e>
                        <m:r>
                          <a:rPr lang="en-US" altLang="zh-CN" i="1">
                            <a:solidFill>
                              <a:schemeClr val="tx2"/>
                            </a:solidFill>
                            <a:latin typeface="Cambria Math" panose="02040503050406030204" pitchFamily="18" charset="0"/>
                            <a:ea typeface="微软雅黑" panose="020B0503020204020204" pitchFamily="34" charset="-122"/>
                          </a:rPr>
                          <m:t>10000</m:t>
                        </m:r>
                      </m:e>
                      <m:sup>
                        <m:r>
                          <a:rPr lang="en-US" altLang="zh-CN" i="1">
                            <a:solidFill>
                              <a:schemeClr val="tx2"/>
                            </a:solidFill>
                            <a:latin typeface="Cambria Math" panose="02040503050406030204" pitchFamily="18" charset="0"/>
                            <a:ea typeface="微软雅黑" panose="020B0503020204020204" pitchFamily="34" charset="-122"/>
                          </a:rPr>
                          <m:t>2</m:t>
                        </m:r>
                        <m:r>
                          <a:rPr lang="en-US" altLang="zh-CN" i="1">
                            <a:solidFill>
                              <a:schemeClr val="tx2"/>
                            </a:solidFill>
                            <a:latin typeface="Cambria Math" panose="02040503050406030204" pitchFamily="18" charset="0"/>
                            <a:ea typeface="微软雅黑" panose="020B0503020204020204" pitchFamily="34" charset="-122"/>
                          </a:rPr>
                          <m:t>𝑖</m:t>
                        </m:r>
                        <m:r>
                          <a:rPr lang="en-US" altLang="zh-CN" i="1">
                            <a:solidFill>
                              <a:schemeClr val="tx2"/>
                            </a:solidFill>
                            <a:latin typeface="Cambria Math" panose="02040503050406030204" pitchFamily="18" charset="0"/>
                            <a:ea typeface="微软雅黑" panose="020B0503020204020204" pitchFamily="34" charset="-122"/>
                          </a:rPr>
                          <m:t>/</m:t>
                        </m:r>
                        <m:sSub>
                          <m:sSubPr>
                            <m:ctrlPr>
                              <a:rPr lang="en-US" altLang="zh-CN" i="1">
                                <a:solidFill>
                                  <a:schemeClr val="tx2"/>
                                </a:solidFill>
                                <a:latin typeface="Cambria Math" panose="02040503050406030204" pitchFamily="18" charset="0"/>
                                <a:ea typeface="微软雅黑" panose="020B0503020204020204" pitchFamily="34" charset="-122"/>
                              </a:rPr>
                            </m:ctrlPr>
                          </m:sSubPr>
                          <m:e>
                            <m:r>
                              <a:rPr lang="en-US" altLang="zh-CN" i="1">
                                <a:solidFill>
                                  <a:schemeClr val="tx2"/>
                                </a:solidFill>
                                <a:latin typeface="Cambria Math" panose="02040503050406030204" pitchFamily="18" charset="0"/>
                                <a:ea typeface="微软雅黑" panose="020B0503020204020204" pitchFamily="34" charset="-122"/>
                              </a:rPr>
                              <m:t>𝑑</m:t>
                            </m:r>
                          </m:e>
                          <m:sub>
                            <m:r>
                              <a:rPr lang="en-US" altLang="zh-CN" i="1">
                                <a:solidFill>
                                  <a:schemeClr val="tx2"/>
                                </a:solidFill>
                                <a:latin typeface="Cambria Math" panose="02040503050406030204" pitchFamily="18" charset="0"/>
                                <a:ea typeface="微软雅黑" panose="020B0503020204020204" pitchFamily="34" charset="-122"/>
                              </a:rPr>
                              <m:t>𝑚</m:t>
                            </m:r>
                          </m:sub>
                        </m:sSub>
                      </m:sup>
                    </m:sSup>
                  </m:oMath>
                </a14:m>
                <a:endParaRPr lang="zh-CN" altLang="en-US" dirty="0">
                  <a:solidFill>
                    <a:schemeClr val="tx2"/>
                  </a:solidFill>
                  <a:latin typeface="微软雅黑" panose="020B0503020204020204" pitchFamily="34" charset="-122"/>
                  <a:ea typeface="微软雅黑" panose="020B0503020204020204" pitchFamily="34" charset="-122"/>
                </a:endParaRPr>
              </a:p>
              <a:p>
                <a:pPr>
                  <a:lnSpc>
                    <a:spcPct val="125000"/>
                  </a:lnSpc>
                  <a:spcBef>
                    <a:spcPts val="600"/>
                  </a:spcBef>
                </a:pPr>
                <a14:m>
                  <m:oMathPara xmlns:m="http://schemas.openxmlformats.org/officeDocument/2006/math">
                    <m:oMathParaPr>
                      <m:jc m:val="centerGroup"/>
                    </m:oMathParaPr>
                    <m:oMath xmlns:m="http://schemas.openxmlformats.org/officeDocument/2006/math">
                      <m:sSup>
                        <m:sSupPr>
                          <m:ctrlPr>
                            <a:rPr lang="en-US" altLang="zh-CN" b="1" i="1">
                              <a:solidFill>
                                <a:schemeClr val="tx2"/>
                              </a:solidFill>
                              <a:latin typeface="Cambria Math" panose="02040503050406030204" pitchFamily="18" charset="0"/>
                              <a:ea typeface="微软雅黑" panose="020B0503020204020204" pitchFamily="34" charset="-122"/>
                            </a:rPr>
                          </m:ctrlPr>
                        </m:sSupPr>
                        <m:e>
                          <m:r>
                            <a:rPr lang="en-US" altLang="zh-CN" b="1" i="1">
                              <a:solidFill>
                                <a:schemeClr val="tx2"/>
                              </a:solidFill>
                              <a:latin typeface="Cambria Math" panose="02040503050406030204" pitchFamily="18" charset="0"/>
                              <a:ea typeface="微软雅黑" panose="020B0503020204020204" pitchFamily="34" charset="-122"/>
                            </a:rPr>
                            <m:t>𝑿</m:t>
                          </m:r>
                        </m:e>
                        <m:sup>
                          <m:r>
                            <a:rPr lang="en-US" altLang="zh-CN" b="1" i="1">
                              <a:solidFill>
                                <a:schemeClr val="tx2"/>
                              </a:solidFill>
                              <a:latin typeface="Cambria Math" panose="02040503050406030204" pitchFamily="18" charset="0"/>
                              <a:ea typeface="微软雅黑" panose="020B0503020204020204" pitchFamily="34" charset="-122"/>
                            </a:rPr>
                            <m:t>𝒑𝒐𝒔</m:t>
                          </m:r>
                        </m:sup>
                      </m:sSup>
                      <m:d>
                        <m:dPr>
                          <m:begChr m:val="["/>
                          <m:endChr m:val="]"/>
                          <m:ctrlPr>
                            <a:rPr lang="en-US" altLang="zh-CN" b="1" i="1">
                              <a:solidFill>
                                <a:schemeClr val="tx2"/>
                              </a:solidFill>
                              <a:latin typeface="Cambria Math" panose="02040503050406030204" pitchFamily="18" charset="0"/>
                              <a:ea typeface="微软雅黑" panose="020B0503020204020204" pitchFamily="34" charset="-122"/>
                            </a:rPr>
                          </m:ctrlPr>
                        </m:dPr>
                        <m:e>
                          <m:r>
                            <a:rPr lang="en-US" altLang="zh-CN" b="1" i="1">
                              <a:solidFill>
                                <a:schemeClr val="tx2"/>
                              </a:solidFill>
                              <a:latin typeface="Cambria Math" panose="02040503050406030204" pitchFamily="18" charset="0"/>
                              <a:ea typeface="微软雅黑" panose="020B0503020204020204" pitchFamily="34" charset="-122"/>
                            </a:rPr>
                            <m:t>𝒌</m:t>
                          </m:r>
                        </m:e>
                      </m:d>
                      <m:r>
                        <a:rPr lang="en-US" altLang="zh-CN" b="1" i="1">
                          <a:solidFill>
                            <a:schemeClr val="tx2"/>
                          </a:solidFill>
                          <a:latin typeface="Cambria Math" panose="02040503050406030204" pitchFamily="18" charset="0"/>
                          <a:ea typeface="微软雅黑" panose="020B0503020204020204" pitchFamily="34" charset="-122"/>
                        </a:rPr>
                        <m:t>⋅</m:t>
                      </m:r>
                      <m:sSup>
                        <m:sSupPr>
                          <m:ctrlPr>
                            <a:rPr lang="en-US" altLang="zh-CN" b="1" i="1">
                              <a:solidFill>
                                <a:schemeClr val="tx2"/>
                              </a:solidFill>
                              <a:latin typeface="Cambria Math" panose="02040503050406030204" pitchFamily="18" charset="0"/>
                              <a:ea typeface="微软雅黑" panose="020B0503020204020204" pitchFamily="34" charset="-122"/>
                            </a:rPr>
                          </m:ctrlPr>
                        </m:sSupPr>
                        <m:e>
                          <m:r>
                            <a:rPr lang="en-US" altLang="zh-CN" b="1" i="1">
                              <a:solidFill>
                                <a:schemeClr val="tx2"/>
                              </a:solidFill>
                              <a:latin typeface="Cambria Math" panose="02040503050406030204" pitchFamily="18" charset="0"/>
                              <a:ea typeface="微软雅黑" panose="020B0503020204020204" pitchFamily="34" charset="-122"/>
                            </a:rPr>
                            <m:t>𝑿</m:t>
                          </m:r>
                        </m:e>
                        <m:sup>
                          <m:r>
                            <a:rPr lang="en-US" altLang="zh-CN" b="1" i="1">
                              <a:solidFill>
                                <a:schemeClr val="tx2"/>
                              </a:solidFill>
                              <a:latin typeface="Cambria Math" panose="02040503050406030204" pitchFamily="18" charset="0"/>
                              <a:ea typeface="微软雅黑" panose="020B0503020204020204" pitchFamily="34" charset="-122"/>
                            </a:rPr>
                            <m:t>𝒑𝒐𝒔</m:t>
                          </m:r>
                        </m:sup>
                      </m:sSup>
                      <m:d>
                        <m:dPr>
                          <m:begChr m:val="["/>
                          <m:endChr m:val="]"/>
                          <m:ctrlPr>
                            <a:rPr lang="en-US" altLang="zh-CN" b="1" i="1">
                              <a:solidFill>
                                <a:schemeClr val="tx2"/>
                              </a:solidFill>
                              <a:latin typeface="Cambria Math" panose="02040503050406030204" pitchFamily="18" charset="0"/>
                              <a:ea typeface="微软雅黑" panose="020B0503020204020204" pitchFamily="34" charset="-122"/>
                            </a:rPr>
                          </m:ctrlPr>
                        </m:dPr>
                        <m:e>
                          <m:r>
                            <a:rPr lang="en-US" altLang="zh-CN" b="1" i="1">
                              <a:solidFill>
                                <a:schemeClr val="tx2"/>
                              </a:solidFill>
                              <a:latin typeface="Cambria Math" panose="02040503050406030204" pitchFamily="18" charset="0"/>
                              <a:ea typeface="微软雅黑" panose="020B0503020204020204" pitchFamily="34" charset="-122"/>
                            </a:rPr>
                            <m:t>𝒌</m:t>
                          </m:r>
                          <m:r>
                            <a:rPr lang="en-US" altLang="zh-CN" b="1" i="1">
                              <a:solidFill>
                                <a:schemeClr val="tx2"/>
                              </a:solidFill>
                              <a:latin typeface="Cambria Math" panose="02040503050406030204" pitchFamily="18" charset="0"/>
                              <a:ea typeface="微软雅黑" panose="020B0503020204020204" pitchFamily="34" charset="-122"/>
                            </a:rPr>
                            <m:t>+</m:t>
                          </m:r>
                          <m:r>
                            <a:rPr lang="en-US" altLang="zh-CN" b="1">
                              <a:solidFill>
                                <a:schemeClr val="tx2"/>
                              </a:solidFill>
                              <a:latin typeface="Cambria Math" panose="02040503050406030204" pitchFamily="18" charset="0"/>
                              <a:ea typeface="微软雅黑" panose="020B0503020204020204" pitchFamily="34" charset="-122"/>
                            </a:rPr>
                            <m:t>𝚫</m:t>
                          </m:r>
                          <m:r>
                            <a:rPr lang="en-US" altLang="zh-CN" b="1" i="1">
                              <a:solidFill>
                                <a:schemeClr val="tx2"/>
                              </a:solidFill>
                              <a:latin typeface="Cambria Math" panose="02040503050406030204" pitchFamily="18" charset="0"/>
                              <a:ea typeface="微软雅黑" panose="020B0503020204020204" pitchFamily="34" charset="-122"/>
                            </a:rPr>
                            <m:t> </m:t>
                          </m:r>
                          <m:r>
                            <a:rPr lang="en-US" altLang="zh-CN" b="1" i="1">
                              <a:solidFill>
                                <a:schemeClr val="tx2"/>
                              </a:solidFill>
                              <a:latin typeface="Cambria Math" panose="02040503050406030204" pitchFamily="18" charset="0"/>
                              <a:ea typeface="微软雅黑" panose="020B0503020204020204" pitchFamily="34" charset="-122"/>
                            </a:rPr>
                            <m:t>𝒌</m:t>
                          </m:r>
                        </m:e>
                      </m:d>
                      <m:r>
                        <a:rPr lang="en-US" altLang="zh-CN" b="1" i="1">
                          <a:solidFill>
                            <a:schemeClr val="tx2"/>
                          </a:solidFill>
                          <a:latin typeface="Cambria Math" panose="02040503050406030204" pitchFamily="18" charset="0"/>
                          <a:ea typeface="微软雅黑" panose="020B0503020204020204" pitchFamily="34" charset="-122"/>
                        </a:rPr>
                        <m:t>=</m:t>
                      </m:r>
                      <m:nary>
                        <m:naryPr>
                          <m:chr m:val="∑"/>
                          <m:limLoc m:val="subSup"/>
                          <m:ctrlPr>
                            <a:rPr lang="en-US" altLang="zh-CN" b="1" i="1">
                              <a:solidFill>
                                <a:schemeClr val="tx2"/>
                              </a:solidFill>
                              <a:latin typeface="Cambria Math" panose="02040503050406030204" pitchFamily="18" charset="0"/>
                              <a:ea typeface="微软雅黑" panose="020B0503020204020204" pitchFamily="34" charset="-122"/>
                            </a:rPr>
                          </m:ctrlPr>
                        </m:naryPr>
                        <m:sub>
                          <m:r>
                            <m:rPr>
                              <m:brk m:alnAt="25"/>
                            </m:rPr>
                            <a:rPr lang="en-US" altLang="zh-CN" b="1" i="1">
                              <a:solidFill>
                                <a:schemeClr val="tx2"/>
                              </a:solidFill>
                              <a:latin typeface="Cambria Math" panose="02040503050406030204" pitchFamily="18" charset="0"/>
                              <a:ea typeface="微软雅黑" panose="020B0503020204020204" pitchFamily="34" charset="-122"/>
                            </a:rPr>
                            <m:t>𝒊</m:t>
                          </m:r>
                          <m:r>
                            <a:rPr lang="en-US" altLang="zh-CN" b="1" i="1">
                              <a:solidFill>
                                <a:schemeClr val="tx2"/>
                              </a:solidFill>
                              <a:latin typeface="Cambria Math" panose="02040503050406030204" pitchFamily="18" charset="0"/>
                              <a:ea typeface="微软雅黑" panose="020B0503020204020204" pitchFamily="34" charset="-122"/>
                            </a:rPr>
                            <m:t>=</m:t>
                          </m:r>
                          <m:r>
                            <a:rPr lang="en-US" altLang="zh-CN" b="1" i="1">
                              <a:solidFill>
                                <a:schemeClr val="tx2"/>
                              </a:solidFill>
                              <a:latin typeface="Cambria Math" panose="02040503050406030204" pitchFamily="18" charset="0"/>
                              <a:ea typeface="微软雅黑" panose="020B0503020204020204" pitchFamily="34" charset="-122"/>
                            </a:rPr>
                            <m:t>𝟎</m:t>
                          </m:r>
                        </m:sub>
                        <m:sup>
                          <m:f>
                            <m:fPr>
                              <m:ctrlPr>
                                <a:rPr lang="en-US" altLang="zh-CN" b="1" i="1">
                                  <a:solidFill>
                                    <a:schemeClr val="tx2"/>
                                  </a:solidFill>
                                  <a:latin typeface="Cambria Math" panose="02040503050406030204" pitchFamily="18" charset="0"/>
                                  <a:ea typeface="微软雅黑" panose="020B0503020204020204" pitchFamily="34" charset="-122"/>
                                </a:rPr>
                              </m:ctrlPr>
                            </m:fPr>
                            <m:num>
                              <m:sSub>
                                <m:sSubPr>
                                  <m:ctrlPr>
                                    <a:rPr lang="en-US" altLang="zh-CN" b="1" i="1">
                                      <a:solidFill>
                                        <a:schemeClr val="tx2"/>
                                      </a:solidFill>
                                      <a:latin typeface="Cambria Math" panose="02040503050406030204" pitchFamily="18" charset="0"/>
                                      <a:ea typeface="微软雅黑" panose="020B0503020204020204" pitchFamily="34" charset="-122"/>
                                    </a:rPr>
                                  </m:ctrlPr>
                                </m:sSubPr>
                                <m:e>
                                  <m:r>
                                    <a:rPr lang="en-US" altLang="zh-CN" b="1" i="1">
                                      <a:solidFill>
                                        <a:schemeClr val="tx2"/>
                                      </a:solidFill>
                                      <a:latin typeface="Cambria Math" panose="02040503050406030204" pitchFamily="18" charset="0"/>
                                      <a:ea typeface="微软雅黑" panose="020B0503020204020204" pitchFamily="34" charset="-122"/>
                                    </a:rPr>
                                    <m:t>𝒅</m:t>
                                  </m:r>
                                </m:e>
                                <m:sub>
                                  <m:r>
                                    <a:rPr lang="en-US" altLang="zh-CN" b="1" i="1">
                                      <a:solidFill>
                                        <a:schemeClr val="tx2"/>
                                      </a:solidFill>
                                      <a:latin typeface="Cambria Math" panose="02040503050406030204" pitchFamily="18" charset="0"/>
                                      <a:ea typeface="微软雅黑" panose="020B0503020204020204" pitchFamily="34" charset="-122"/>
                                    </a:rPr>
                                    <m:t>𝒎</m:t>
                                  </m:r>
                                </m:sub>
                              </m:sSub>
                            </m:num>
                            <m:den>
                              <m:r>
                                <a:rPr lang="en-US" altLang="zh-CN" b="1" i="1">
                                  <a:solidFill>
                                    <a:schemeClr val="tx2"/>
                                  </a:solidFill>
                                  <a:latin typeface="Cambria Math" panose="02040503050406030204" pitchFamily="18" charset="0"/>
                                  <a:ea typeface="微软雅黑" panose="020B0503020204020204" pitchFamily="34" charset="-122"/>
                                </a:rPr>
                                <m:t>𝟐</m:t>
                              </m:r>
                            </m:den>
                          </m:f>
                          <m:r>
                            <a:rPr lang="en-US" altLang="zh-CN" b="1" i="1">
                              <a:solidFill>
                                <a:schemeClr val="tx2"/>
                              </a:solidFill>
                              <a:latin typeface="Cambria Math" panose="02040503050406030204" pitchFamily="18" charset="0"/>
                              <a:ea typeface="微软雅黑" panose="020B0503020204020204" pitchFamily="34" charset="-122"/>
                            </a:rPr>
                            <m:t>−</m:t>
                          </m:r>
                          <m:r>
                            <a:rPr lang="en-US" altLang="zh-CN" b="1" i="1">
                              <a:solidFill>
                                <a:schemeClr val="tx2"/>
                              </a:solidFill>
                              <a:latin typeface="Cambria Math" panose="02040503050406030204" pitchFamily="18" charset="0"/>
                              <a:ea typeface="微软雅黑" panose="020B0503020204020204" pitchFamily="34" charset="-122"/>
                            </a:rPr>
                            <m:t>𝟏</m:t>
                          </m:r>
                        </m:sup>
                        <m:e>
                          <m:d>
                            <m:dPr>
                              <m:ctrlPr>
                                <a:rPr lang="en-US" altLang="zh-CN" b="1" i="1">
                                  <a:solidFill>
                                    <a:schemeClr val="tx2"/>
                                  </a:solidFill>
                                  <a:latin typeface="Cambria Math" panose="02040503050406030204" pitchFamily="18" charset="0"/>
                                  <a:ea typeface="微软雅黑" panose="020B0503020204020204" pitchFamily="34" charset="-122"/>
                                </a:rPr>
                              </m:ctrlPr>
                            </m:dPr>
                            <m:e>
                              <m:r>
                                <a:rPr lang="en-US" altLang="zh-CN" b="1" i="1">
                                  <a:solidFill>
                                    <a:schemeClr val="tx2"/>
                                  </a:solidFill>
                                  <a:latin typeface="Cambria Math" panose="02040503050406030204" pitchFamily="18" charset="0"/>
                                  <a:ea typeface="微软雅黑" panose="020B0503020204020204" pitchFamily="34" charset="-122"/>
                                </a:rPr>
                                <m:t>𝒔𝒊𝒏</m:t>
                              </m:r>
                              <m:sSub>
                                <m:sSubPr>
                                  <m:ctrlPr>
                                    <a:rPr lang="en-US" altLang="zh-CN" b="1" i="1">
                                      <a:solidFill>
                                        <a:schemeClr val="tx2"/>
                                      </a:solidFill>
                                      <a:latin typeface="Cambria Math" panose="02040503050406030204" pitchFamily="18" charset="0"/>
                                      <a:ea typeface="微软雅黑" panose="020B0503020204020204" pitchFamily="34" charset="-122"/>
                                    </a:rPr>
                                  </m:ctrlPr>
                                </m:sSubPr>
                                <m:e>
                                  <m:r>
                                    <a:rPr lang="en-US" altLang="zh-CN" b="1" i="1">
                                      <a:solidFill>
                                        <a:schemeClr val="tx2"/>
                                      </a:solidFill>
                                      <a:latin typeface="Cambria Math" panose="02040503050406030204" pitchFamily="18" charset="0"/>
                                      <a:ea typeface="微软雅黑" panose="020B0503020204020204" pitchFamily="34" charset="-122"/>
                                    </a:rPr>
                                    <m:t>𝝎</m:t>
                                  </m:r>
                                </m:e>
                                <m:sub>
                                  <m:r>
                                    <a:rPr lang="en-US" altLang="zh-CN" b="1" i="1">
                                      <a:solidFill>
                                        <a:schemeClr val="tx2"/>
                                      </a:solidFill>
                                      <a:latin typeface="Cambria Math" panose="02040503050406030204" pitchFamily="18" charset="0"/>
                                      <a:ea typeface="微软雅黑" panose="020B0503020204020204" pitchFamily="34" charset="-122"/>
                                    </a:rPr>
                                    <m:t>𝒊</m:t>
                                  </m:r>
                                </m:sub>
                              </m:sSub>
                              <m:r>
                                <a:rPr lang="en-US" altLang="zh-CN" b="1" i="1">
                                  <a:solidFill>
                                    <a:schemeClr val="tx2"/>
                                  </a:solidFill>
                                  <a:latin typeface="Cambria Math" panose="02040503050406030204" pitchFamily="18" charset="0"/>
                                  <a:ea typeface="微软雅黑" panose="020B0503020204020204" pitchFamily="34" charset="-122"/>
                                </a:rPr>
                                <m:t>𝒌</m:t>
                              </m:r>
                              <m:r>
                                <a:rPr lang="en-US" altLang="zh-CN" b="1" i="1">
                                  <a:solidFill>
                                    <a:schemeClr val="tx2"/>
                                  </a:solidFill>
                                  <a:latin typeface="Cambria Math" panose="02040503050406030204" pitchFamily="18" charset="0"/>
                                  <a:ea typeface="微软雅黑" panose="020B0503020204020204" pitchFamily="34" charset="-122"/>
                                </a:rPr>
                                <m:t> </m:t>
                              </m:r>
                              <m:r>
                                <a:rPr lang="en-US" altLang="zh-CN" b="1" i="1">
                                  <a:solidFill>
                                    <a:schemeClr val="tx2"/>
                                  </a:solidFill>
                                  <a:latin typeface="Cambria Math" panose="02040503050406030204" pitchFamily="18" charset="0"/>
                                  <a:ea typeface="微软雅黑" panose="020B0503020204020204" pitchFamily="34" charset="-122"/>
                                </a:rPr>
                                <m:t>𝒔𝒊𝒏</m:t>
                              </m:r>
                              <m:sSub>
                                <m:sSubPr>
                                  <m:ctrlPr>
                                    <a:rPr lang="en-US" altLang="zh-CN" b="1" i="1">
                                      <a:solidFill>
                                        <a:schemeClr val="tx2"/>
                                      </a:solidFill>
                                      <a:latin typeface="Cambria Math" panose="02040503050406030204" pitchFamily="18" charset="0"/>
                                      <a:ea typeface="微软雅黑" panose="020B0503020204020204" pitchFamily="34" charset="-122"/>
                                    </a:rPr>
                                  </m:ctrlPr>
                                </m:sSubPr>
                                <m:e>
                                  <m:r>
                                    <a:rPr lang="en-US" altLang="zh-CN" b="1" i="1">
                                      <a:solidFill>
                                        <a:schemeClr val="tx2"/>
                                      </a:solidFill>
                                      <a:latin typeface="Cambria Math" panose="02040503050406030204" pitchFamily="18" charset="0"/>
                                      <a:ea typeface="微软雅黑" panose="020B0503020204020204" pitchFamily="34" charset="-122"/>
                                    </a:rPr>
                                    <m:t>𝝎</m:t>
                                  </m:r>
                                </m:e>
                                <m:sub>
                                  <m:r>
                                    <a:rPr lang="en-US" altLang="zh-CN" b="1" i="1">
                                      <a:solidFill>
                                        <a:schemeClr val="tx2"/>
                                      </a:solidFill>
                                      <a:latin typeface="Cambria Math" panose="02040503050406030204" pitchFamily="18" charset="0"/>
                                      <a:ea typeface="微软雅黑" panose="020B0503020204020204" pitchFamily="34" charset="-122"/>
                                    </a:rPr>
                                    <m:t>𝒊</m:t>
                                  </m:r>
                                </m:sub>
                              </m:sSub>
                              <m:d>
                                <m:dPr>
                                  <m:ctrlPr>
                                    <a:rPr lang="en-US" altLang="zh-CN" b="1" i="1">
                                      <a:solidFill>
                                        <a:schemeClr val="tx2"/>
                                      </a:solidFill>
                                      <a:latin typeface="Cambria Math" panose="02040503050406030204" pitchFamily="18" charset="0"/>
                                      <a:ea typeface="微软雅黑" panose="020B0503020204020204" pitchFamily="34" charset="-122"/>
                                    </a:rPr>
                                  </m:ctrlPr>
                                </m:dPr>
                                <m:e>
                                  <m:r>
                                    <a:rPr lang="en-US" altLang="zh-CN" b="1" i="1">
                                      <a:solidFill>
                                        <a:schemeClr val="tx2"/>
                                      </a:solidFill>
                                      <a:latin typeface="Cambria Math" panose="02040503050406030204" pitchFamily="18" charset="0"/>
                                      <a:ea typeface="微软雅黑" panose="020B0503020204020204" pitchFamily="34" charset="-122"/>
                                    </a:rPr>
                                    <m:t>𝒌</m:t>
                                  </m:r>
                                  <m:r>
                                    <a:rPr lang="en-US" altLang="zh-CN" b="1" i="1">
                                      <a:solidFill>
                                        <a:schemeClr val="tx2"/>
                                      </a:solidFill>
                                      <a:latin typeface="Cambria Math" panose="02040503050406030204" pitchFamily="18" charset="0"/>
                                      <a:ea typeface="微软雅黑" panose="020B0503020204020204" pitchFamily="34" charset="-122"/>
                                    </a:rPr>
                                    <m:t>+</m:t>
                                  </m:r>
                                  <m:r>
                                    <a:rPr lang="en-US" altLang="zh-CN" b="1">
                                      <a:solidFill>
                                        <a:schemeClr val="tx2"/>
                                      </a:solidFill>
                                      <a:latin typeface="Cambria Math" panose="02040503050406030204" pitchFamily="18" charset="0"/>
                                      <a:ea typeface="微软雅黑" panose="020B0503020204020204" pitchFamily="34" charset="-122"/>
                                    </a:rPr>
                                    <m:t>𝚫</m:t>
                                  </m:r>
                                  <m:r>
                                    <a:rPr lang="en-US" altLang="zh-CN" b="1" i="1">
                                      <a:solidFill>
                                        <a:schemeClr val="tx2"/>
                                      </a:solidFill>
                                      <a:latin typeface="Cambria Math" panose="02040503050406030204" pitchFamily="18" charset="0"/>
                                      <a:ea typeface="微软雅黑" panose="020B0503020204020204" pitchFamily="34" charset="-122"/>
                                    </a:rPr>
                                    <m:t> </m:t>
                                  </m:r>
                                  <m:r>
                                    <a:rPr lang="en-US" altLang="zh-CN" b="1" i="1">
                                      <a:solidFill>
                                        <a:schemeClr val="tx2"/>
                                      </a:solidFill>
                                      <a:latin typeface="Cambria Math" panose="02040503050406030204" pitchFamily="18" charset="0"/>
                                      <a:ea typeface="微软雅黑" panose="020B0503020204020204" pitchFamily="34" charset="-122"/>
                                    </a:rPr>
                                    <m:t>𝒌</m:t>
                                  </m:r>
                                </m:e>
                              </m:d>
                              <m:r>
                                <a:rPr lang="en-US" altLang="zh-CN" b="1" i="1">
                                  <a:solidFill>
                                    <a:schemeClr val="tx2"/>
                                  </a:solidFill>
                                  <a:latin typeface="Cambria Math" panose="02040503050406030204" pitchFamily="18" charset="0"/>
                                  <a:ea typeface="微软雅黑" panose="020B0503020204020204" pitchFamily="34" charset="-122"/>
                                </a:rPr>
                                <m:t>+</m:t>
                              </m:r>
                              <m:r>
                                <a:rPr lang="en-US" altLang="zh-CN" b="1" i="1">
                                  <a:solidFill>
                                    <a:schemeClr val="tx2"/>
                                  </a:solidFill>
                                  <a:latin typeface="Cambria Math" panose="02040503050406030204" pitchFamily="18" charset="0"/>
                                  <a:ea typeface="微软雅黑" panose="020B0503020204020204" pitchFamily="34" charset="-122"/>
                                </a:rPr>
                                <m:t>𝒄𝒐𝒔</m:t>
                              </m:r>
                              <m:sSub>
                                <m:sSubPr>
                                  <m:ctrlPr>
                                    <a:rPr lang="en-US" altLang="zh-CN" b="1" i="1">
                                      <a:solidFill>
                                        <a:schemeClr val="tx2"/>
                                      </a:solidFill>
                                      <a:latin typeface="Cambria Math" panose="02040503050406030204" pitchFamily="18" charset="0"/>
                                      <a:ea typeface="微软雅黑" panose="020B0503020204020204" pitchFamily="34" charset="-122"/>
                                    </a:rPr>
                                  </m:ctrlPr>
                                </m:sSubPr>
                                <m:e>
                                  <m:r>
                                    <a:rPr lang="en-US" altLang="zh-CN" b="1" i="1">
                                      <a:solidFill>
                                        <a:schemeClr val="tx2"/>
                                      </a:solidFill>
                                      <a:latin typeface="Cambria Math" panose="02040503050406030204" pitchFamily="18" charset="0"/>
                                      <a:ea typeface="微软雅黑" panose="020B0503020204020204" pitchFamily="34" charset="-122"/>
                                    </a:rPr>
                                    <m:t>𝝎</m:t>
                                  </m:r>
                                </m:e>
                                <m:sub>
                                  <m:r>
                                    <a:rPr lang="en-US" altLang="zh-CN" b="1" i="1">
                                      <a:solidFill>
                                        <a:schemeClr val="tx2"/>
                                      </a:solidFill>
                                      <a:latin typeface="Cambria Math" panose="02040503050406030204" pitchFamily="18" charset="0"/>
                                      <a:ea typeface="微软雅黑" panose="020B0503020204020204" pitchFamily="34" charset="-122"/>
                                    </a:rPr>
                                    <m:t>𝒊</m:t>
                                  </m:r>
                                </m:sub>
                              </m:sSub>
                              <m:r>
                                <a:rPr lang="en-US" altLang="zh-CN" b="1" i="1">
                                  <a:solidFill>
                                    <a:schemeClr val="tx2"/>
                                  </a:solidFill>
                                  <a:latin typeface="Cambria Math" panose="02040503050406030204" pitchFamily="18" charset="0"/>
                                  <a:ea typeface="微软雅黑" panose="020B0503020204020204" pitchFamily="34" charset="-122"/>
                                </a:rPr>
                                <m:t>𝒌</m:t>
                              </m:r>
                              <m:r>
                                <a:rPr lang="en-US" altLang="zh-CN" b="1" i="1">
                                  <a:solidFill>
                                    <a:schemeClr val="tx2"/>
                                  </a:solidFill>
                                  <a:latin typeface="Cambria Math" panose="02040503050406030204" pitchFamily="18" charset="0"/>
                                  <a:ea typeface="微软雅黑" panose="020B0503020204020204" pitchFamily="34" charset="-122"/>
                                </a:rPr>
                                <m:t> </m:t>
                              </m:r>
                              <m:r>
                                <a:rPr lang="en-US" altLang="zh-CN" b="1" i="1">
                                  <a:solidFill>
                                    <a:schemeClr val="tx2"/>
                                  </a:solidFill>
                                  <a:latin typeface="Cambria Math" panose="02040503050406030204" pitchFamily="18" charset="0"/>
                                  <a:ea typeface="微软雅黑" panose="020B0503020204020204" pitchFamily="34" charset="-122"/>
                                </a:rPr>
                                <m:t>𝒄𝒐𝒔</m:t>
                              </m:r>
                              <m:sSub>
                                <m:sSubPr>
                                  <m:ctrlPr>
                                    <a:rPr lang="en-US" altLang="zh-CN" b="1" i="1">
                                      <a:solidFill>
                                        <a:schemeClr val="tx2"/>
                                      </a:solidFill>
                                      <a:latin typeface="Cambria Math" panose="02040503050406030204" pitchFamily="18" charset="0"/>
                                      <a:ea typeface="微软雅黑" panose="020B0503020204020204" pitchFamily="34" charset="-122"/>
                                    </a:rPr>
                                  </m:ctrlPr>
                                </m:sSubPr>
                                <m:e>
                                  <m:r>
                                    <a:rPr lang="en-US" altLang="zh-CN" b="1" i="1">
                                      <a:solidFill>
                                        <a:schemeClr val="tx2"/>
                                      </a:solidFill>
                                      <a:latin typeface="Cambria Math" panose="02040503050406030204" pitchFamily="18" charset="0"/>
                                      <a:ea typeface="微软雅黑" panose="020B0503020204020204" pitchFamily="34" charset="-122"/>
                                    </a:rPr>
                                    <m:t>𝝎</m:t>
                                  </m:r>
                                </m:e>
                                <m:sub>
                                  <m:r>
                                    <a:rPr lang="en-US" altLang="zh-CN" b="1" i="1">
                                      <a:solidFill>
                                        <a:schemeClr val="tx2"/>
                                      </a:solidFill>
                                      <a:latin typeface="Cambria Math" panose="02040503050406030204" pitchFamily="18" charset="0"/>
                                      <a:ea typeface="微软雅黑" panose="020B0503020204020204" pitchFamily="34" charset="-122"/>
                                    </a:rPr>
                                    <m:t>𝒊</m:t>
                                  </m:r>
                                </m:sub>
                              </m:sSub>
                              <m:d>
                                <m:dPr>
                                  <m:ctrlPr>
                                    <a:rPr lang="en-US" altLang="zh-CN" b="1" i="1">
                                      <a:solidFill>
                                        <a:schemeClr val="tx2"/>
                                      </a:solidFill>
                                      <a:latin typeface="Cambria Math" panose="02040503050406030204" pitchFamily="18" charset="0"/>
                                      <a:ea typeface="微软雅黑" panose="020B0503020204020204" pitchFamily="34" charset="-122"/>
                                    </a:rPr>
                                  </m:ctrlPr>
                                </m:dPr>
                                <m:e>
                                  <m:r>
                                    <a:rPr lang="en-US" altLang="zh-CN" b="1" i="1">
                                      <a:solidFill>
                                        <a:schemeClr val="tx2"/>
                                      </a:solidFill>
                                      <a:latin typeface="Cambria Math" panose="02040503050406030204" pitchFamily="18" charset="0"/>
                                      <a:ea typeface="微软雅黑" panose="020B0503020204020204" pitchFamily="34" charset="-122"/>
                                    </a:rPr>
                                    <m:t>𝒌</m:t>
                                  </m:r>
                                  <m:r>
                                    <a:rPr lang="en-US" altLang="zh-CN" b="1" i="1">
                                      <a:solidFill>
                                        <a:schemeClr val="tx2"/>
                                      </a:solidFill>
                                      <a:latin typeface="Cambria Math" panose="02040503050406030204" pitchFamily="18" charset="0"/>
                                      <a:ea typeface="微软雅黑" panose="020B0503020204020204" pitchFamily="34" charset="-122"/>
                                    </a:rPr>
                                    <m:t>+</m:t>
                                  </m:r>
                                  <m:r>
                                    <a:rPr lang="en-US" altLang="zh-CN" b="1">
                                      <a:solidFill>
                                        <a:schemeClr val="tx2"/>
                                      </a:solidFill>
                                      <a:latin typeface="Cambria Math" panose="02040503050406030204" pitchFamily="18" charset="0"/>
                                      <a:ea typeface="微软雅黑" panose="020B0503020204020204" pitchFamily="34" charset="-122"/>
                                    </a:rPr>
                                    <m:t>𝚫</m:t>
                                  </m:r>
                                  <m:r>
                                    <a:rPr lang="en-US" altLang="zh-CN" b="1">
                                      <a:solidFill>
                                        <a:schemeClr val="tx2"/>
                                      </a:solidFill>
                                      <a:latin typeface="Cambria Math" panose="02040503050406030204" pitchFamily="18" charset="0"/>
                                      <a:ea typeface="微软雅黑" panose="020B0503020204020204" pitchFamily="34" charset="-122"/>
                                    </a:rPr>
                                    <m:t> </m:t>
                                  </m:r>
                                  <m:r>
                                    <a:rPr lang="en-US" altLang="zh-CN" b="1" i="1">
                                      <a:solidFill>
                                        <a:schemeClr val="tx2"/>
                                      </a:solidFill>
                                      <a:latin typeface="Cambria Math" panose="02040503050406030204" pitchFamily="18" charset="0"/>
                                      <a:ea typeface="微软雅黑" panose="020B0503020204020204" pitchFamily="34" charset="-122"/>
                                    </a:rPr>
                                    <m:t>𝒌</m:t>
                                  </m:r>
                                </m:e>
                              </m:d>
                            </m:e>
                          </m:d>
                          <m:r>
                            <a:rPr lang="en-US" altLang="zh-CN" b="1" i="1">
                              <a:solidFill>
                                <a:schemeClr val="tx2"/>
                              </a:solidFill>
                              <a:latin typeface="Cambria Math" panose="02040503050406030204" pitchFamily="18" charset="0"/>
                              <a:ea typeface="微软雅黑" panose="020B0503020204020204" pitchFamily="34" charset="-122"/>
                            </a:rPr>
                            <m:t>=</m:t>
                          </m:r>
                          <m:nary>
                            <m:naryPr>
                              <m:chr m:val="∑"/>
                              <m:limLoc m:val="subSup"/>
                              <m:ctrlPr>
                                <a:rPr lang="en-US" altLang="zh-CN" b="1" i="1">
                                  <a:solidFill>
                                    <a:schemeClr val="tx2"/>
                                  </a:solidFill>
                                  <a:latin typeface="Cambria Math" panose="02040503050406030204" pitchFamily="18" charset="0"/>
                                  <a:ea typeface="微软雅黑" panose="020B0503020204020204" pitchFamily="34" charset="-122"/>
                                </a:rPr>
                              </m:ctrlPr>
                            </m:naryPr>
                            <m:sub>
                              <m:r>
                                <m:rPr>
                                  <m:brk m:alnAt="25"/>
                                </m:rPr>
                                <a:rPr lang="en-US" altLang="zh-CN" b="1" i="1">
                                  <a:solidFill>
                                    <a:schemeClr val="tx2"/>
                                  </a:solidFill>
                                  <a:latin typeface="Cambria Math" panose="02040503050406030204" pitchFamily="18" charset="0"/>
                                  <a:ea typeface="微软雅黑" panose="020B0503020204020204" pitchFamily="34" charset="-122"/>
                                </a:rPr>
                                <m:t>𝒊</m:t>
                              </m:r>
                              <m:r>
                                <a:rPr lang="en-US" altLang="zh-CN" b="1" i="1">
                                  <a:solidFill>
                                    <a:schemeClr val="tx2"/>
                                  </a:solidFill>
                                  <a:latin typeface="Cambria Math" panose="02040503050406030204" pitchFamily="18" charset="0"/>
                                  <a:ea typeface="微软雅黑" panose="020B0503020204020204" pitchFamily="34" charset="-122"/>
                                </a:rPr>
                                <m:t>=</m:t>
                              </m:r>
                              <m:r>
                                <a:rPr lang="en-US" altLang="zh-CN" b="1" i="1">
                                  <a:solidFill>
                                    <a:schemeClr val="tx2"/>
                                  </a:solidFill>
                                  <a:latin typeface="Cambria Math" panose="02040503050406030204" pitchFamily="18" charset="0"/>
                                  <a:ea typeface="微软雅黑" panose="020B0503020204020204" pitchFamily="34" charset="-122"/>
                                </a:rPr>
                                <m:t>𝟎</m:t>
                              </m:r>
                            </m:sub>
                            <m:sup>
                              <m:f>
                                <m:fPr>
                                  <m:ctrlPr>
                                    <a:rPr lang="en-US" altLang="zh-CN" b="1" i="1">
                                      <a:solidFill>
                                        <a:schemeClr val="tx2"/>
                                      </a:solidFill>
                                      <a:latin typeface="Cambria Math" panose="02040503050406030204" pitchFamily="18" charset="0"/>
                                      <a:ea typeface="微软雅黑" panose="020B0503020204020204" pitchFamily="34" charset="-122"/>
                                    </a:rPr>
                                  </m:ctrlPr>
                                </m:fPr>
                                <m:num>
                                  <m:sSub>
                                    <m:sSubPr>
                                      <m:ctrlPr>
                                        <a:rPr lang="en-US" altLang="zh-CN" b="1" i="1">
                                          <a:solidFill>
                                            <a:schemeClr val="tx2"/>
                                          </a:solidFill>
                                          <a:latin typeface="Cambria Math" panose="02040503050406030204" pitchFamily="18" charset="0"/>
                                          <a:ea typeface="微软雅黑" panose="020B0503020204020204" pitchFamily="34" charset="-122"/>
                                        </a:rPr>
                                      </m:ctrlPr>
                                    </m:sSubPr>
                                    <m:e>
                                      <m:r>
                                        <a:rPr lang="en-US" altLang="zh-CN" b="1" i="1">
                                          <a:solidFill>
                                            <a:schemeClr val="tx2"/>
                                          </a:solidFill>
                                          <a:latin typeface="Cambria Math" panose="02040503050406030204" pitchFamily="18" charset="0"/>
                                          <a:ea typeface="微软雅黑" panose="020B0503020204020204" pitchFamily="34" charset="-122"/>
                                        </a:rPr>
                                        <m:t>𝒅</m:t>
                                      </m:r>
                                    </m:e>
                                    <m:sub>
                                      <m:r>
                                        <a:rPr lang="en-US" altLang="zh-CN" b="1" i="1">
                                          <a:solidFill>
                                            <a:schemeClr val="tx2"/>
                                          </a:solidFill>
                                          <a:latin typeface="Cambria Math" panose="02040503050406030204" pitchFamily="18" charset="0"/>
                                          <a:ea typeface="微软雅黑" panose="020B0503020204020204" pitchFamily="34" charset="-122"/>
                                        </a:rPr>
                                        <m:t>𝒎</m:t>
                                      </m:r>
                                    </m:sub>
                                  </m:sSub>
                                </m:num>
                                <m:den>
                                  <m:r>
                                    <a:rPr lang="en-US" altLang="zh-CN" b="1" i="1">
                                      <a:solidFill>
                                        <a:schemeClr val="tx2"/>
                                      </a:solidFill>
                                      <a:latin typeface="Cambria Math" panose="02040503050406030204" pitchFamily="18" charset="0"/>
                                      <a:ea typeface="微软雅黑" panose="020B0503020204020204" pitchFamily="34" charset="-122"/>
                                    </a:rPr>
                                    <m:t>𝟐</m:t>
                                  </m:r>
                                </m:den>
                              </m:f>
                              <m:r>
                                <a:rPr lang="en-US" altLang="zh-CN" b="1" i="1">
                                  <a:solidFill>
                                    <a:schemeClr val="tx2"/>
                                  </a:solidFill>
                                  <a:latin typeface="Cambria Math" panose="02040503050406030204" pitchFamily="18" charset="0"/>
                                  <a:ea typeface="微软雅黑" panose="020B0503020204020204" pitchFamily="34" charset="-122"/>
                                </a:rPr>
                                <m:t>−</m:t>
                              </m:r>
                              <m:r>
                                <a:rPr lang="en-US" altLang="zh-CN" b="1" i="1">
                                  <a:solidFill>
                                    <a:schemeClr val="tx2"/>
                                  </a:solidFill>
                                  <a:latin typeface="Cambria Math" panose="02040503050406030204" pitchFamily="18" charset="0"/>
                                  <a:ea typeface="微软雅黑" panose="020B0503020204020204" pitchFamily="34" charset="-122"/>
                                </a:rPr>
                                <m:t>𝟏</m:t>
                              </m:r>
                            </m:sup>
                            <m:e>
                              <m:func>
                                <m:funcPr>
                                  <m:ctrlPr>
                                    <a:rPr lang="en-US" altLang="zh-CN" b="1" i="1">
                                      <a:solidFill>
                                        <a:schemeClr val="tx2"/>
                                      </a:solidFill>
                                      <a:latin typeface="Cambria Math" panose="02040503050406030204" pitchFamily="18" charset="0"/>
                                      <a:ea typeface="微软雅黑" panose="020B0503020204020204" pitchFamily="34" charset="-122"/>
                                    </a:rPr>
                                  </m:ctrlPr>
                                </m:funcPr>
                                <m:fName>
                                  <m:r>
                                    <m:rPr>
                                      <m:sty m:val="p"/>
                                    </m:rPr>
                                    <a:rPr lang="en-US" altLang="zh-CN" b="0" i="0">
                                      <a:solidFill>
                                        <a:schemeClr val="tx2"/>
                                      </a:solidFill>
                                      <a:latin typeface="Cambria Math" panose="02040503050406030204" pitchFamily="18" charset="0"/>
                                      <a:ea typeface="微软雅黑" panose="020B0503020204020204" pitchFamily="34" charset="-122"/>
                                    </a:rPr>
                                    <m:t>cos</m:t>
                                  </m:r>
                                </m:fName>
                                <m:e>
                                  <m:d>
                                    <m:dPr>
                                      <m:ctrlPr>
                                        <a:rPr lang="en-US" altLang="zh-CN" b="1" i="1">
                                          <a:solidFill>
                                            <a:schemeClr val="tx2"/>
                                          </a:solidFill>
                                          <a:latin typeface="Cambria Math" panose="02040503050406030204" pitchFamily="18" charset="0"/>
                                          <a:ea typeface="微软雅黑" panose="020B0503020204020204" pitchFamily="34" charset="-122"/>
                                        </a:rPr>
                                      </m:ctrlPr>
                                    </m:dPr>
                                    <m:e>
                                      <m:sSub>
                                        <m:sSubPr>
                                          <m:ctrlPr>
                                            <a:rPr lang="en-US" altLang="zh-CN" b="1" i="1">
                                              <a:solidFill>
                                                <a:schemeClr val="tx2"/>
                                              </a:solidFill>
                                              <a:latin typeface="Cambria Math" panose="02040503050406030204" pitchFamily="18" charset="0"/>
                                              <a:ea typeface="微软雅黑" panose="020B0503020204020204" pitchFamily="34" charset="-122"/>
                                            </a:rPr>
                                          </m:ctrlPr>
                                        </m:sSubPr>
                                        <m:e>
                                          <m:r>
                                            <a:rPr lang="en-US" altLang="zh-CN" b="1" i="1">
                                              <a:solidFill>
                                                <a:schemeClr val="tx2"/>
                                              </a:solidFill>
                                              <a:latin typeface="Cambria Math" panose="02040503050406030204" pitchFamily="18" charset="0"/>
                                              <a:ea typeface="微软雅黑" panose="020B0503020204020204" pitchFamily="34" charset="-122"/>
                                            </a:rPr>
                                            <m:t>𝝎</m:t>
                                          </m:r>
                                        </m:e>
                                        <m:sub>
                                          <m:r>
                                            <a:rPr lang="en-US" altLang="zh-CN" b="1" i="1">
                                              <a:solidFill>
                                                <a:schemeClr val="tx2"/>
                                              </a:solidFill>
                                              <a:latin typeface="Cambria Math" panose="02040503050406030204" pitchFamily="18" charset="0"/>
                                              <a:ea typeface="微软雅黑" panose="020B0503020204020204" pitchFamily="34" charset="-122"/>
                                            </a:rPr>
                                            <m:t>𝒊</m:t>
                                          </m:r>
                                        </m:sub>
                                      </m:sSub>
                                      <m:d>
                                        <m:dPr>
                                          <m:ctrlPr>
                                            <a:rPr lang="en-US" altLang="zh-CN" b="1" i="1">
                                              <a:solidFill>
                                                <a:schemeClr val="tx2"/>
                                              </a:solidFill>
                                              <a:latin typeface="Cambria Math" panose="02040503050406030204" pitchFamily="18" charset="0"/>
                                              <a:ea typeface="微软雅黑" panose="020B0503020204020204" pitchFamily="34" charset="-122"/>
                                            </a:rPr>
                                          </m:ctrlPr>
                                        </m:dPr>
                                        <m:e>
                                          <m:r>
                                            <a:rPr lang="en-US" altLang="zh-CN" b="1" i="1">
                                              <a:solidFill>
                                                <a:schemeClr val="tx2"/>
                                              </a:solidFill>
                                              <a:latin typeface="Cambria Math" panose="02040503050406030204" pitchFamily="18" charset="0"/>
                                              <a:ea typeface="微软雅黑" panose="020B0503020204020204" pitchFamily="34" charset="-122"/>
                                            </a:rPr>
                                            <m:t>𝒌</m:t>
                                          </m:r>
                                          <m:r>
                                            <a:rPr lang="en-US" altLang="zh-CN" b="1" i="1">
                                              <a:solidFill>
                                                <a:schemeClr val="tx2"/>
                                              </a:solidFill>
                                              <a:latin typeface="Cambria Math" panose="02040503050406030204" pitchFamily="18" charset="0"/>
                                              <a:ea typeface="微软雅黑" panose="020B0503020204020204" pitchFamily="34" charset="-122"/>
                                            </a:rPr>
                                            <m:t>−</m:t>
                                          </m:r>
                                          <m:r>
                                            <a:rPr lang="en-US" altLang="zh-CN" b="1" i="1">
                                              <a:solidFill>
                                                <a:schemeClr val="tx2"/>
                                              </a:solidFill>
                                              <a:latin typeface="Cambria Math" panose="02040503050406030204" pitchFamily="18" charset="0"/>
                                              <a:ea typeface="微软雅黑" panose="020B0503020204020204" pitchFamily="34" charset="-122"/>
                                            </a:rPr>
                                            <m:t>𝒌</m:t>
                                          </m:r>
                                          <m:r>
                                            <a:rPr lang="en-US" altLang="zh-CN" b="1" i="1">
                                              <a:solidFill>
                                                <a:schemeClr val="tx2"/>
                                              </a:solidFill>
                                              <a:latin typeface="Cambria Math" panose="02040503050406030204" pitchFamily="18" charset="0"/>
                                              <a:ea typeface="微软雅黑" panose="020B0503020204020204" pitchFamily="34" charset="-122"/>
                                            </a:rPr>
                                            <m:t>+</m:t>
                                          </m:r>
                                          <m:r>
                                            <a:rPr lang="en-US" altLang="zh-CN" b="1">
                                              <a:solidFill>
                                                <a:schemeClr val="tx2"/>
                                              </a:solidFill>
                                              <a:latin typeface="Cambria Math" panose="02040503050406030204" pitchFamily="18" charset="0"/>
                                              <a:ea typeface="微软雅黑" panose="020B0503020204020204" pitchFamily="34" charset="-122"/>
                                            </a:rPr>
                                            <m:t>𝚫</m:t>
                                          </m:r>
                                          <m:r>
                                            <a:rPr lang="en-US" altLang="zh-CN" b="1">
                                              <a:solidFill>
                                                <a:schemeClr val="tx2"/>
                                              </a:solidFill>
                                              <a:latin typeface="Cambria Math" panose="02040503050406030204" pitchFamily="18" charset="0"/>
                                              <a:ea typeface="微软雅黑" panose="020B0503020204020204" pitchFamily="34" charset="-122"/>
                                            </a:rPr>
                                            <m:t> </m:t>
                                          </m:r>
                                          <m:r>
                                            <a:rPr lang="en-US" altLang="zh-CN" b="1" i="1">
                                              <a:solidFill>
                                                <a:schemeClr val="tx2"/>
                                              </a:solidFill>
                                              <a:latin typeface="Cambria Math" panose="02040503050406030204" pitchFamily="18" charset="0"/>
                                              <a:ea typeface="微软雅黑" panose="020B0503020204020204" pitchFamily="34" charset="-122"/>
                                            </a:rPr>
                                            <m:t>𝒌</m:t>
                                          </m:r>
                                        </m:e>
                                      </m:d>
                                    </m:e>
                                  </m:d>
                                </m:e>
                              </m:func>
                            </m:e>
                          </m:nary>
                        </m:e>
                      </m:nary>
                      <m:r>
                        <a:rPr lang="en-US" altLang="zh-CN" b="1" i="1">
                          <a:solidFill>
                            <a:schemeClr val="tx2"/>
                          </a:solidFill>
                          <a:latin typeface="Cambria Math" panose="02040503050406030204" pitchFamily="18" charset="0"/>
                          <a:ea typeface="微软雅黑" panose="020B0503020204020204" pitchFamily="34" charset="-122"/>
                        </a:rPr>
                        <m:t> </m:t>
                      </m:r>
                      <m:r>
                        <a:rPr lang="en-US" altLang="zh-CN" b="1" i="1" smtClean="0">
                          <a:solidFill>
                            <a:schemeClr val="tx2"/>
                          </a:solidFill>
                          <a:latin typeface="Cambria Math" panose="02040503050406030204" pitchFamily="18" charset="0"/>
                          <a:ea typeface="微软雅黑" panose="020B0503020204020204" pitchFamily="34" charset="-122"/>
                        </a:rPr>
                        <m:t>=</m:t>
                      </m:r>
                      <m:nary>
                        <m:naryPr>
                          <m:chr m:val="∑"/>
                          <m:limLoc m:val="subSup"/>
                          <m:ctrlPr>
                            <a:rPr lang="en-US" altLang="zh-CN" b="1" i="1">
                              <a:solidFill>
                                <a:schemeClr val="tx2"/>
                              </a:solidFill>
                              <a:latin typeface="Cambria Math" panose="02040503050406030204" pitchFamily="18" charset="0"/>
                              <a:ea typeface="微软雅黑" panose="020B0503020204020204" pitchFamily="34" charset="-122"/>
                            </a:rPr>
                          </m:ctrlPr>
                        </m:naryPr>
                        <m:sub>
                          <m:r>
                            <m:rPr>
                              <m:brk m:alnAt="25"/>
                            </m:rPr>
                            <a:rPr lang="en-US" altLang="zh-CN" b="1" i="1">
                              <a:solidFill>
                                <a:schemeClr val="tx2"/>
                              </a:solidFill>
                              <a:latin typeface="Cambria Math" panose="02040503050406030204" pitchFamily="18" charset="0"/>
                              <a:ea typeface="微软雅黑" panose="020B0503020204020204" pitchFamily="34" charset="-122"/>
                            </a:rPr>
                            <m:t>𝒊</m:t>
                          </m:r>
                          <m:r>
                            <a:rPr lang="en-US" altLang="zh-CN" b="1" i="1">
                              <a:solidFill>
                                <a:schemeClr val="tx2"/>
                              </a:solidFill>
                              <a:latin typeface="Cambria Math" panose="02040503050406030204" pitchFamily="18" charset="0"/>
                              <a:ea typeface="微软雅黑" panose="020B0503020204020204" pitchFamily="34" charset="-122"/>
                            </a:rPr>
                            <m:t>=</m:t>
                          </m:r>
                          <m:r>
                            <a:rPr lang="en-US" altLang="zh-CN" b="1" i="1">
                              <a:solidFill>
                                <a:schemeClr val="tx2"/>
                              </a:solidFill>
                              <a:latin typeface="Cambria Math" panose="02040503050406030204" pitchFamily="18" charset="0"/>
                              <a:ea typeface="微软雅黑" panose="020B0503020204020204" pitchFamily="34" charset="-122"/>
                            </a:rPr>
                            <m:t>𝟎</m:t>
                          </m:r>
                        </m:sub>
                        <m:sup>
                          <m:f>
                            <m:fPr>
                              <m:ctrlPr>
                                <a:rPr lang="en-US" altLang="zh-CN" b="1" i="1">
                                  <a:solidFill>
                                    <a:schemeClr val="tx2"/>
                                  </a:solidFill>
                                  <a:latin typeface="Cambria Math" panose="02040503050406030204" pitchFamily="18" charset="0"/>
                                  <a:ea typeface="微软雅黑" panose="020B0503020204020204" pitchFamily="34" charset="-122"/>
                                </a:rPr>
                              </m:ctrlPr>
                            </m:fPr>
                            <m:num>
                              <m:sSub>
                                <m:sSubPr>
                                  <m:ctrlPr>
                                    <a:rPr lang="en-US" altLang="zh-CN" b="1" i="1">
                                      <a:solidFill>
                                        <a:schemeClr val="tx2"/>
                                      </a:solidFill>
                                      <a:latin typeface="Cambria Math" panose="02040503050406030204" pitchFamily="18" charset="0"/>
                                      <a:ea typeface="微软雅黑" panose="020B0503020204020204" pitchFamily="34" charset="-122"/>
                                    </a:rPr>
                                  </m:ctrlPr>
                                </m:sSubPr>
                                <m:e>
                                  <m:r>
                                    <a:rPr lang="en-US" altLang="zh-CN" b="1" i="1">
                                      <a:solidFill>
                                        <a:schemeClr val="tx2"/>
                                      </a:solidFill>
                                      <a:latin typeface="Cambria Math" panose="02040503050406030204" pitchFamily="18" charset="0"/>
                                      <a:ea typeface="微软雅黑" panose="020B0503020204020204" pitchFamily="34" charset="-122"/>
                                    </a:rPr>
                                    <m:t>𝒅</m:t>
                                  </m:r>
                                </m:e>
                                <m:sub>
                                  <m:r>
                                    <a:rPr lang="en-US" altLang="zh-CN" b="1" i="1">
                                      <a:solidFill>
                                        <a:schemeClr val="tx2"/>
                                      </a:solidFill>
                                      <a:latin typeface="Cambria Math" panose="02040503050406030204" pitchFamily="18" charset="0"/>
                                      <a:ea typeface="微软雅黑" panose="020B0503020204020204" pitchFamily="34" charset="-122"/>
                                    </a:rPr>
                                    <m:t>𝒎</m:t>
                                  </m:r>
                                </m:sub>
                              </m:sSub>
                            </m:num>
                            <m:den>
                              <m:r>
                                <a:rPr lang="en-US" altLang="zh-CN" b="1" i="1">
                                  <a:solidFill>
                                    <a:schemeClr val="tx2"/>
                                  </a:solidFill>
                                  <a:latin typeface="Cambria Math" panose="02040503050406030204" pitchFamily="18" charset="0"/>
                                  <a:ea typeface="微软雅黑" panose="020B0503020204020204" pitchFamily="34" charset="-122"/>
                                </a:rPr>
                                <m:t>𝟐</m:t>
                              </m:r>
                            </m:den>
                          </m:f>
                          <m:r>
                            <a:rPr lang="en-US" altLang="zh-CN" b="1" i="1">
                              <a:solidFill>
                                <a:schemeClr val="tx2"/>
                              </a:solidFill>
                              <a:latin typeface="Cambria Math" panose="02040503050406030204" pitchFamily="18" charset="0"/>
                              <a:ea typeface="微软雅黑" panose="020B0503020204020204" pitchFamily="34" charset="-122"/>
                            </a:rPr>
                            <m:t>−</m:t>
                          </m:r>
                          <m:r>
                            <a:rPr lang="en-US" altLang="zh-CN" b="1" i="1">
                              <a:solidFill>
                                <a:schemeClr val="tx2"/>
                              </a:solidFill>
                              <a:latin typeface="Cambria Math" panose="02040503050406030204" pitchFamily="18" charset="0"/>
                              <a:ea typeface="微软雅黑" panose="020B0503020204020204" pitchFamily="34" charset="-122"/>
                            </a:rPr>
                            <m:t>𝟏</m:t>
                          </m:r>
                        </m:sup>
                        <m:e>
                          <m:func>
                            <m:funcPr>
                              <m:ctrlPr>
                                <a:rPr lang="en-US" altLang="zh-CN" b="1" i="1">
                                  <a:solidFill>
                                    <a:schemeClr val="tx2"/>
                                  </a:solidFill>
                                  <a:latin typeface="Cambria Math" panose="02040503050406030204" pitchFamily="18" charset="0"/>
                                  <a:ea typeface="微软雅黑" panose="020B0503020204020204" pitchFamily="34" charset="-122"/>
                                </a:rPr>
                              </m:ctrlPr>
                            </m:funcPr>
                            <m:fName>
                              <m:r>
                                <m:rPr>
                                  <m:sty m:val="p"/>
                                </m:rPr>
                                <a:rPr lang="en-US" altLang="zh-CN">
                                  <a:solidFill>
                                    <a:schemeClr val="tx2"/>
                                  </a:solidFill>
                                  <a:latin typeface="Cambria Math" panose="02040503050406030204" pitchFamily="18" charset="0"/>
                                  <a:ea typeface="微软雅黑" panose="020B0503020204020204" pitchFamily="34" charset="-122"/>
                                </a:rPr>
                                <m:t>cos</m:t>
                              </m:r>
                            </m:fName>
                            <m:e>
                              <m:d>
                                <m:dPr>
                                  <m:ctrlPr>
                                    <a:rPr lang="en-US" altLang="zh-CN" b="1" i="1">
                                      <a:solidFill>
                                        <a:schemeClr val="tx2"/>
                                      </a:solidFill>
                                      <a:latin typeface="Cambria Math" panose="02040503050406030204" pitchFamily="18" charset="0"/>
                                      <a:ea typeface="微软雅黑" panose="020B0503020204020204" pitchFamily="34" charset="-122"/>
                                    </a:rPr>
                                  </m:ctrlPr>
                                </m:dPr>
                                <m:e>
                                  <m:sSub>
                                    <m:sSubPr>
                                      <m:ctrlPr>
                                        <a:rPr lang="en-US" altLang="zh-CN" b="1" i="1">
                                          <a:solidFill>
                                            <a:schemeClr val="tx2"/>
                                          </a:solidFill>
                                          <a:latin typeface="Cambria Math" panose="02040503050406030204" pitchFamily="18" charset="0"/>
                                          <a:ea typeface="微软雅黑" panose="020B0503020204020204" pitchFamily="34" charset="-122"/>
                                        </a:rPr>
                                      </m:ctrlPr>
                                    </m:sSubPr>
                                    <m:e>
                                      <m:r>
                                        <a:rPr lang="en-US" altLang="zh-CN" b="1" i="1">
                                          <a:solidFill>
                                            <a:schemeClr val="tx2"/>
                                          </a:solidFill>
                                          <a:latin typeface="Cambria Math" panose="02040503050406030204" pitchFamily="18" charset="0"/>
                                          <a:ea typeface="微软雅黑" panose="020B0503020204020204" pitchFamily="34" charset="-122"/>
                                        </a:rPr>
                                        <m:t>𝝎</m:t>
                                      </m:r>
                                    </m:e>
                                    <m:sub>
                                      <m:r>
                                        <a:rPr lang="en-US" altLang="zh-CN" b="1" i="1">
                                          <a:solidFill>
                                            <a:schemeClr val="tx2"/>
                                          </a:solidFill>
                                          <a:latin typeface="Cambria Math" panose="02040503050406030204" pitchFamily="18" charset="0"/>
                                          <a:ea typeface="微软雅黑" panose="020B0503020204020204" pitchFamily="34" charset="-122"/>
                                        </a:rPr>
                                        <m:t>𝒊</m:t>
                                      </m:r>
                                    </m:sub>
                                  </m:sSub>
                                  <m:r>
                                    <a:rPr lang="en-US" altLang="zh-CN" b="1" i="0" smtClean="0">
                                      <a:solidFill>
                                        <a:schemeClr val="tx2"/>
                                      </a:solidFill>
                                      <a:latin typeface="Cambria Math" panose="02040503050406030204" pitchFamily="18" charset="0"/>
                                      <a:ea typeface="微软雅黑" panose="020B0503020204020204" pitchFamily="34" charset="-122"/>
                                    </a:rPr>
                                    <m:t>𝚫</m:t>
                                  </m:r>
                                  <m:r>
                                    <a:rPr lang="en-US" altLang="zh-CN" b="1" i="0" smtClean="0">
                                      <a:solidFill>
                                        <a:schemeClr val="tx2"/>
                                      </a:solidFill>
                                      <a:latin typeface="Cambria Math" panose="02040503050406030204" pitchFamily="18" charset="0"/>
                                      <a:ea typeface="微软雅黑" panose="020B0503020204020204" pitchFamily="34" charset="-122"/>
                                    </a:rPr>
                                    <m:t> </m:t>
                                  </m:r>
                                  <m:r>
                                    <a:rPr lang="en-US" altLang="zh-CN" b="1" i="0" smtClean="0">
                                      <a:solidFill>
                                        <a:schemeClr val="tx2"/>
                                      </a:solidFill>
                                      <a:latin typeface="Cambria Math" panose="02040503050406030204" pitchFamily="18" charset="0"/>
                                      <a:ea typeface="微软雅黑" panose="020B0503020204020204" pitchFamily="34" charset="-122"/>
                                    </a:rPr>
                                    <m:t>𝐤</m:t>
                                  </m:r>
                                </m:e>
                              </m:d>
                            </m:e>
                          </m:func>
                        </m:e>
                      </m:nary>
                    </m:oMath>
                  </m:oMathPara>
                </a14:m>
                <a:endParaRPr lang="en-US" altLang="zh-CN" b="1" dirty="0">
                  <a:solidFill>
                    <a:schemeClr val="tx2"/>
                  </a:solidFill>
                  <a:latin typeface="微软雅黑" panose="020B0503020204020204" pitchFamily="34" charset="-122"/>
                  <a:ea typeface="微软雅黑" panose="020B0503020204020204" pitchFamily="34" charset="-122"/>
                </a:endParaRPr>
              </a:p>
            </p:txBody>
          </p:sp>
        </mc:Choice>
        <mc:Fallback xmlns="">
          <p:sp>
            <p:nvSpPr>
              <p:cNvPr id="15" name="文本框 14">
                <a:extLst>
                  <a:ext uri="{FF2B5EF4-FFF2-40B4-BE49-F238E27FC236}">
                    <a16:creationId xmlns:a16="http://schemas.microsoft.com/office/drawing/2014/main" id="{5DAA3B7D-A78C-5213-BA77-2F1B6E66F6D4}"/>
                  </a:ext>
                </a:extLst>
              </p:cNvPr>
              <p:cNvSpPr txBox="1">
                <a:spLocks noRot="1" noChangeAspect="1" noMove="1" noResize="1" noEditPoints="1" noAdjustHandles="1" noChangeArrowheads="1" noChangeShapeType="1" noTextEdit="1"/>
              </p:cNvSpPr>
              <p:nvPr/>
            </p:nvSpPr>
            <p:spPr>
              <a:xfrm>
                <a:off x="5424616" y="1948967"/>
                <a:ext cx="6533103" cy="4023345"/>
              </a:xfrm>
              <a:prstGeom prst="rect">
                <a:avLst/>
              </a:prstGeom>
              <a:blipFill>
                <a:blip r:embed="rId5"/>
                <a:stretch>
                  <a:fillRect l="-5631" r="-194" b="-333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335974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76D89-3DDE-071B-5A8C-D7B8E3A49016}"/>
            </a:ext>
          </a:extLst>
        </p:cNvPr>
        <p:cNvGrpSpPr/>
        <p:nvPr/>
      </p:nvGrpSpPr>
      <p:grpSpPr>
        <a:xfrm>
          <a:off x="0" y="0"/>
          <a:ext cx="0" cy="0"/>
          <a:chOff x="0" y="0"/>
          <a:chExt cx="0" cy="0"/>
        </a:xfrm>
      </p:grpSpPr>
      <p:sp>
        <p:nvSpPr>
          <p:cNvPr id="16" name="圆角矩形 19">
            <a:extLst>
              <a:ext uri="{FF2B5EF4-FFF2-40B4-BE49-F238E27FC236}">
                <a16:creationId xmlns:a16="http://schemas.microsoft.com/office/drawing/2014/main" id="{78DB3EA7-846B-32E2-9BAF-C50C42F140DD}"/>
              </a:ext>
            </a:extLst>
          </p:cNvPr>
          <p:cNvSpPr/>
          <p:nvPr/>
        </p:nvSpPr>
        <p:spPr>
          <a:xfrm>
            <a:off x="2243708" y="4301212"/>
            <a:ext cx="7351921" cy="1110624"/>
          </a:xfrm>
          <a:prstGeom prst="roundRect">
            <a:avLst>
              <a:gd name="adj" fmla="val 9265"/>
            </a:avLst>
          </a:prstGeom>
          <a:solidFill>
            <a:schemeClr val="bg1">
              <a:lumMod val="85000"/>
              <a:alpha val="68000"/>
            </a:schemeClr>
          </a:solidFill>
          <a:ln w="254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3" name="标题 2">
            <a:extLst>
              <a:ext uri="{FF2B5EF4-FFF2-40B4-BE49-F238E27FC236}">
                <a16:creationId xmlns:a16="http://schemas.microsoft.com/office/drawing/2014/main" id="{046C332D-5850-A831-FA02-7AEB565DFF1F}"/>
              </a:ext>
            </a:extLst>
          </p:cNvPr>
          <p:cNvSpPr>
            <a:spLocks noGrp="1"/>
          </p:cNvSpPr>
          <p:nvPr>
            <p:ph type="title"/>
          </p:nvPr>
        </p:nvSpPr>
        <p:spPr/>
        <p:txBody>
          <a:bodyPr/>
          <a:lstStyle/>
          <a:p>
            <a:r>
              <a:rPr lang="zh-CN" altLang="en-US" dirty="0"/>
              <a:t>嵌入层：更多的位置编码</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9EF1C386-1D92-7DF9-3F96-E5CC00B264B7}"/>
                  </a:ext>
                </a:extLst>
              </p:cNvPr>
              <p:cNvSpPr txBox="1"/>
              <p:nvPr/>
            </p:nvSpPr>
            <p:spPr>
              <a:xfrm>
                <a:off x="2133613" y="854598"/>
                <a:ext cx="8051165" cy="4596130"/>
              </a:xfrm>
              <a:prstGeom prst="rect">
                <a:avLst/>
              </a:prstGeom>
              <a:noFill/>
            </p:spPr>
            <p:txBody>
              <a:bodyPr wrap="square" rtlCol="0">
                <a:spAutoFit/>
              </a:bodyPr>
              <a:lstStyle/>
              <a:p>
                <a:pPr>
                  <a:lnSpc>
                    <a:spcPct val="125000"/>
                  </a:lnSpc>
                  <a:spcBef>
                    <a:spcPts val="600"/>
                  </a:spcBef>
                </a:pPr>
                <a:r>
                  <a:rPr lang="zh-CN" altLang="en-US" sz="2000" b="1" dirty="0">
                    <a:solidFill>
                      <a:srgbClr val="070707"/>
                    </a:solidFill>
                    <a:latin typeface="微软雅黑" panose="020B0503020204020204" pitchFamily="34" charset="-122"/>
                    <a:ea typeface="微软雅黑" panose="020B0503020204020204" pitchFamily="34" charset="-122"/>
                  </a:rPr>
                  <a:t>位置编码的外推能力：</a:t>
                </a:r>
                <a:endParaRPr lang="en-US" altLang="zh-CN" sz="2000" b="1" dirty="0">
                  <a:solidFill>
                    <a:srgbClr val="070707"/>
                  </a:solidFill>
                  <a:latin typeface="微软雅黑" panose="020B0503020204020204" pitchFamily="34" charset="-122"/>
                  <a:ea typeface="微软雅黑" panose="020B0503020204020204" pitchFamily="34" charset="-122"/>
                </a:endParaRPr>
              </a:p>
              <a:p>
                <a:pPr marL="800100" lvl="1" indent="-342900">
                  <a:lnSpc>
                    <a:spcPct val="125000"/>
                  </a:lnSpc>
                  <a:spcBef>
                    <a:spcPts val="600"/>
                  </a:spcBef>
                  <a:buFont typeface="Wingdings" panose="05000000000000000000" pitchFamily="2" charset="2"/>
                  <a:buChar char="p"/>
                </a:pPr>
                <a:r>
                  <a:rPr lang="zh-CN" altLang="en-US" sz="1600" dirty="0">
                    <a:solidFill>
                      <a:srgbClr val="070707"/>
                    </a:solidFill>
                    <a:latin typeface="微软雅黑" panose="020B0503020204020204" pitchFamily="34" charset="-122"/>
                    <a:ea typeface="微软雅黑" panose="020B0503020204020204" pitchFamily="34" charset="-122"/>
                  </a:rPr>
                  <a:t>某些特定位置编码在超出原始上下文窗口的文本上表现出的建模能力，被称为外推（</a:t>
                </a:r>
                <a:r>
                  <a:rPr lang="en-US" altLang="zh-CN" sz="1600" dirty="0">
                    <a:solidFill>
                      <a:srgbClr val="070707"/>
                    </a:solidFill>
                    <a:latin typeface="微软雅黑" panose="020B0503020204020204" pitchFamily="34" charset="-122"/>
                    <a:ea typeface="微软雅黑" panose="020B0503020204020204" pitchFamily="34" charset="-122"/>
                  </a:rPr>
                  <a:t>Extrapolation</a:t>
                </a:r>
                <a:r>
                  <a:rPr lang="zh-CN" altLang="en-US" sz="1600" dirty="0">
                    <a:solidFill>
                      <a:srgbClr val="070707"/>
                    </a:solidFill>
                    <a:latin typeface="微软雅黑" panose="020B0503020204020204" pitchFamily="34" charset="-122"/>
                    <a:ea typeface="微软雅黑" panose="020B0503020204020204" pitchFamily="34" charset="-122"/>
                  </a:rPr>
                  <a:t>）能力。</a:t>
                </a:r>
                <a:endParaRPr lang="en-US" altLang="zh-CN" sz="1600" b="1" dirty="0">
                  <a:solidFill>
                    <a:srgbClr val="070707"/>
                  </a:solidFill>
                  <a:latin typeface="微软雅黑" panose="020B0503020204020204" pitchFamily="34" charset="-122"/>
                  <a:ea typeface="微软雅黑" panose="020B0503020204020204" pitchFamily="34" charset="-122"/>
                </a:endParaRPr>
              </a:p>
              <a:p>
                <a:pPr fontAlgn="auto">
                  <a:lnSpc>
                    <a:spcPct val="125000"/>
                  </a:lnSpc>
                  <a:spcBef>
                    <a:spcPts val="600"/>
                  </a:spcBef>
                </a:pPr>
                <a:r>
                  <a:rPr lang="en-US" altLang="zh-CN" sz="2000" b="1" dirty="0">
                    <a:solidFill>
                      <a:srgbClr val="070707"/>
                    </a:solidFill>
                    <a:latin typeface="微软雅黑" panose="020B0503020204020204" pitchFamily="34" charset="-122"/>
                    <a:ea typeface="微软雅黑" panose="020B0503020204020204" pitchFamily="34" charset="-122"/>
                  </a:rPr>
                  <a:t>1. </a:t>
                </a:r>
                <a:r>
                  <a:rPr lang="zh-CN" altLang="en-US" sz="2000" b="1" dirty="0">
                    <a:solidFill>
                      <a:srgbClr val="070707"/>
                    </a:solidFill>
                    <a:latin typeface="微软雅黑" panose="020B0503020204020204" pitchFamily="34" charset="-122"/>
                    <a:ea typeface="微软雅黑" panose="020B0503020204020204" pitchFamily="34" charset="-122"/>
                  </a:rPr>
                  <a:t>绝对位置编码：</a:t>
                </a:r>
                <a:endParaRPr lang="en-US" altLang="zh-CN" sz="2000" b="1" dirty="0">
                  <a:solidFill>
                    <a:srgbClr val="070707"/>
                  </a:solidFill>
                  <a:latin typeface="微软雅黑" panose="020B0503020204020204" pitchFamily="34" charset="-122"/>
                  <a:ea typeface="微软雅黑" panose="020B0503020204020204" pitchFamily="34" charset="-122"/>
                </a:endParaRPr>
              </a:p>
              <a:p>
                <a:pPr marL="800100" lvl="1" indent="-342900">
                  <a:lnSpc>
                    <a:spcPct val="125000"/>
                  </a:lnSpc>
                  <a:spcBef>
                    <a:spcPts val="600"/>
                  </a:spcBef>
                  <a:buFont typeface="Wingdings" panose="05000000000000000000" pitchFamily="2" charset="2"/>
                  <a:buChar char="p"/>
                </a:pPr>
                <a:r>
                  <a:rPr lang="zh-CN" altLang="en-US" sz="1600" dirty="0">
                    <a:solidFill>
                      <a:srgbClr val="070707"/>
                    </a:solidFill>
                    <a:latin typeface="微软雅黑" panose="020B0503020204020204" pitchFamily="34" charset="-122"/>
                    <a:ea typeface="微软雅黑" panose="020B0503020204020204" pitchFamily="34" charset="-122"/>
                  </a:rPr>
                  <a:t>运用绝对位置编码的模型</a:t>
                </a:r>
                <a:r>
                  <a:rPr lang="zh-CN" altLang="en-US" sz="1600" b="1" dirty="0">
                    <a:solidFill>
                      <a:srgbClr val="070707"/>
                    </a:solidFill>
                    <a:latin typeface="微软雅黑" panose="020B0503020204020204" pitchFamily="34" charset="-122"/>
                    <a:ea typeface="微软雅黑" panose="020B0503020204020204" pitchFamily="34" charset="-122"/>
                  </a:rPr>
                  <a:t>上下文建模能力</a:t>
                </a:r>
                <a:r>
                  <a:rPr lang="zh-CN" altLang="en-US" sz="1600" dirty="0">
                    <a:solidFill>
                      <a:srgbClr val="070707"/>
                    </a:solidFill>
                    <a:latin typeface="微软雅黑" panose="020B0503020204020204" pitchFamily="34" charset="-122"/>
                    <a:ea typeface="微软雅黑" panose="020B0503020204020204" pitchFamily="34" charset="-122"/>
                  </a:rPr>
                  <a:t>通常会受到训练集中文本数据</a:t>
                </a:r>
                <a:r>
                  <a:rPr lang="zh-CN" altLang="en-US" sz="1600" b="1" dirty="0">
                    <a:solidFill>
                      <a:srgbClr val="070707"/>
                    </a:solidFill>
                    <a:latin typeface="微软雅黑" panose="020B0503020204020204" pitchFamily="34" charset="-122"/>
                    <a:ea typeface="微软雅黑" panose="020B0503020204020204" pitchFamily="34" charset="-122"/>
                  </a:rPr>
                  <a:t>长度分布</a:t>
                </a:r>
                <a:r>
                  <a:rPr lang="zh-CN" altLang="en-US" sz="1600" dirty="0">
                    <a:solidFill>
                      <a:srgbClr val="070707"/>
                    </a:solidFill>
                    <a:latin typeface="微软雅黑" panose="020B0503020204020204" pitchFamily="34" charset="-122"/>
                    <a:ea typeface="微软雅黑" panose="020B0503020204020204" pitchFamily="34" charset="-122"/>
                  </a:rPr>
                  <a:t>的限制。一旦超出这个分布范围，模型的位置编码往往无法得到充分训练，从而导致模型处理长文本的性能下降。即外推能力较差。</a:t>
                </a:r>
                <a:endParaRPr lang="en-US" altLang="zh-CN" sz="1600" dirty="0">
                  <a:solidFill>
                    <a:srgbClr val="070707"/>
                  </a:solidFill>
                  <a:latin typeface="微软雅黑" panose="020B0503020204020204" pitchFamily="34" charset="-122"/>
                  <a:ea typeface="微软雅黑" panose="020B0503020204020204" pitchFamily="34" charset="-122"/>
                </a:endParaRPr>
              </a:p>
              <a:p>
                <a:pPr fontAlgn="auto">
                  <a:lnSpc>
                    <a:spcPct val="125000"/>
                  </a:lnSpc>
                  <a:spcBef>
                    <a:spcPts val="600"/>
                  </a:spcBef>
                </a:pPr>
                <a:r>
                  <a:rPr lang="en-US" altLang="zh-CN" sz="2000" b="1" dirty="0">
                    <a:solidFill>
                      <a:srgbClr val="070707"/>
                    </a:solidFill>
                    <a:latin typeface="微软雅黑" panose="020B0503020204020204" pitchFamily="34" charset="-122"/>
                    <a:ea typeface="微软雅黑" panose="020B0503020204020204" pitchFamily="34" charset="-122"/>
                  </a:rPr>
                  <a:t>2. </a:t>
                </a:r>
                <a:r>
                  <a:rPr lang="zh-CN" altLang="en-US" sz="2000" b="1" dirty="0">
                    <a:solidFill>
                      <a:srgbClr val="070707"/>
                    </a:solidFill>
                    <a:latin typeface="微软雅黑" panose="020B0503020204020204" pitchFamily="34" charset="-122"/>
                    <a:ea typeface="微软雅黑" panose="020B0503020204020204" pitchFamily="34" charset="-122"/>
                  </a:rPr>
                  <a:t>相对位置编码：</a:t>
                </a:r>
                <a:endParaRPr lang="en-US" altLang="zh-CN" sz="2000" b="1" dirty="0">
                  <a:solidFill>
                    <a:srgbClr val="070707"/>
                  </a:solidFill>
                  <a:latin typeface="微软雅黑" panose="020B0503020204020204" pitchFamily="34" charset="-122"/>
                  <a:ea typeface="微软雅黑" panose="020B0503020204020204" pitchFamily="34" charset="-122"/>
                </a:endParaRPr>
              </a:p>
              <a:p>
                <a:pPr marL="742950" lvl="1" indent="-285750">
                  <a:lnSpc>
                    <a:spcPct val="125000"/>
                  </a:lnSpc>
                  <a:spcBef>
                    <a:spcPts val="600"/>
                  </a:spcBef>
                  <a:buFont typeface="Wingdings" panose="05000000000000000000" pitchFamily="2" charset="2"/>
                  <a:buChar char="p"/>
                </a:pPr>
                <a:r>
                  <a:rPr lang="zh-CN" altLang="en-US" sz="1600" dirty="0">
                    <a:solidFill>
                      <a:srgbClr val="070707"/>
                    </a:solidFill>
                    <a:latin typeface="微软雅黑" panose="020B0503020204020204" pitchFamily="34" charset="-122"/>
                    <a:ea typeface="微软雅黑" panose="020B0503020204020204" pitchFamily="34" charset="-122"/>
                  </a:rPr>
                  <a:t>其位移不变性会使其具备相对较好的外推能力。</a:t>
                </a:r>
                <a:endParaRPr lang="en-US" altLang="zh-CN" sz="1600" dirty="0">
                  <a:solidFill>
                    <a:srgbClr val="070707"/>
                  </a:solidFill>
                  <a:latin typeface="微软雅黑" panose="020B0503020204020204" pitchFamily="34" charset="-122"/>
                  <a:ea typeface="微软雅黑" panose="020B0503020204020204" pitchFamily="34" charset="-122"/>
                </a:endParaRPr>
              </a:p>
              <a:p>
                <a:pPr lvl="1">
                  <a:lnSpc>
                    <a:spcPct val="125000"/>
                  </a:lnSpc>
                  <a:spcBef>
                    <a:spcPts val="600"/>
                  </a:spcBef>
                </a:pPr>
                <a:r>
                  <a:rPr lang="en-US" altLang="zh-CN" sz="1600" dirty="0">
                    <a:solidFill>
                      <a:srgbClr val="070707"/>
                    </a:solidFill>
                    <a:latin typeface="微软雅黑" panose="020B0503020204020204" pitchFamily="34" charset="-122"/>
                    <a:ea typeface="微软雅黑" panose="020B0503020204020204" pitchFamily="34" charset="-122"/>
                  </a:rPr>
                  <a:t>	</a:t>
                </a:r>
                <a:r>
                  <a:rPr lang="en-US" altLang="zh-CN" sz="1400" dirty="0">
                    <a:solidFill>
                      <a:srgbClr val="070707"/>
                    </a:solidFill>
                    <a:latin typeface="微软雅黑" panose="020B0503020204020204" pitchFamily="34" charset="-122"/>
                    <a:ea typeface="微软雅黑" panose="020B0503020204020204" pitchFamily="34" charset="-122"/>
                  </a:rPr>
                  <a:t>ex</a:t>
                </a:r>
                <a:r>
                  <a:rPr lang="zh-CN" altLang="en-US" sz="1400" dirty="0">
                    <a:solidFill>
                      <a:srgbClr val="070707"/>
                    </a:solidFill>
                    <a:latin typeface="微软雅黑" panose="020B0503020204020204" pitchFamily="34" charset="-122"/>
                    <a:ea typeface="微软雅黑" panose="020B0503020204020204" pitchFamily="34" charset="-122"/>
                  </a:rPr>
                  <a:t>：</a:t>
                </a:r>
                <a:r>
                  <a:rPr lang="en-US" altLang="zh-CN" sz="1400" dirty="0">
                    <a:solidFill>
                      <a:srgbClr val="070707"/>
                    </a:solidFill>
                    <a:latin typeface="微软雅黑" panose="020B0503020204020204" pitchFamily="34" charset="-122"/>
                    <a:ea typeface="微软雅黑" panose="020B0503020204020204" pitchFamily="34" charset="-122"/>
                  </a:rPr>
                  <a:t>T5 </a:t>
                </a:r>
                <a:r>
                  <a:rPr lang="zh-CN" altLang="en-US" sz="1400" dirty="0">
                    <a:solidFill>
                      <a:srgbClr val="070707"/>
                    </a:solidFill>
                    <a:latin typeface="微软雅黑" panose="020B0503020204020204" pitchFamily="34" charset="-122"/>
                    <a:ea typeface="微软雅黑" panose="020B0503020204020204" pitchFamily="34" charset="-122"/>
                  </a:rPr>
                  <a:t>相对位置编码</a:t>
                </a:r>
                <a:r>
                  <a:rPr lang="en-US" altLang="zh-CN" sz="1400" baseline="30000" dirty="0">
                    <a:solidFill>
                      <a:schemeClr val="tx2"/>
                    </a:solidFill>
                    <a:latin typeface="微软雅黑" panose="020B0503020204020204" pitchFamily="34" charset="-122"/>
                    <a:ea typeface="微软雅黑" panose="020B0503020204020204" pitchFamily="34" charset="-122"/>
                  </a:rPr>
                  <a:t>[1]</a:t>
                </a:r>
                <a:endParaRPr lang="en-US" altLang="zh-CN" sz="1400" dirty="0">
                  <a:solidFill>
                    <a:srgbClr val="070707"/>
                  </a:solidFill>
                  <a:latin typeface="微软雅黑" panose="020B0503020204020204" pitchFamily="34" charset="-122"/>
                  <a:ea typeface="微软雅黑" panose="020B0503020204020204" pitchFamily="34" charset="-122"/>
                </a:endParaRPr>
              </a:p>
              <a:p>
                <a:pPr lvl="1">
                  <a:lnSpc>
                    <a:spcPct val="125000"/>
                  </a:lnSpc>
                  <a:spcBef>
                    <a:spcPts val="600"/>
                  </a:spcBef>
                </a:pPr>
                <a14:m>
                  <m:oMathPara xmlns:m="http://schemas.openxmlformats.org/officeDocument/2006/math">
                    <m:oMathParaPr>
                      <m:jc m:val="centerGroup"/>
                    </m:oMathParaPr>
                    <m:oMath xmlns:m="http://schemas.openxmlformats.org/officeDocument/2006/math">
                      <m:sSub>
                        <m:sSubPr>
                          <m:ctrlPr>
                            <a:rPr lang="en-US" altLang="zh-CN" sz="1400" b="0" i="1" smtClean="0">
                              <a:solidFill>
                                <a:srgbClr val="070707"/>
                              </a:solidFill>
                              <a:latin typeface="Cambria Math" panose="02040503050406030204" pitchFamily="18" charset="0"/>
                              <a:ea typeface="微软雅黑" panose="020B0503020204020204" pitchFamily="34" charset="-122"/>
                            </a:rPr>
                          </m:ctrlPr>
                        </m:sSubPr>
                        <m:e>
                          <m:r>
                            <a:rPr lang="en-US" altLang="zh-CN" sz="1400" b="0" i="1" smtClean="0">
                              <a:solidFill>
                                <a:srgbClr val="070707"/>
                              </a:solidFill>
                              <a:latin typeface="Cambria Math" panose="02040503050406030204" pitchFamily="18" charset="0"/>
                              <a:ea typeface="微软雅黑" panose="020B0503020204020204" pitchFamily="34" charset="-122"/>
                            </a:rPr>
                            <m:t>𝐴</m:t>
                          </m:r>
                        </m:e>
                        <m:sub>
                          <m:r>
                            <a:rPr lang="en-US" altLang="zh-CN" sz="1400" b="0" i="1" smtClean="0">
                              <a:solidFill>
                                <a:srgbClr val="070707"/>
                              </a:solidFill>
                              <a:latin typeface="Cambria Math" panose="02040503050406030204" pitchFamily="18" charset="0"/>
                              <a:ea typeface="微软雅黑" panose="020B0503020204020204" pitchFamily="34" charset="-122"/>
                            </a:rPr>
                            <m:t>𝑖𝑗</m:t>
                          </m:r>
                        </m:sub>
                      </m:sSub>
                      <m:r>
                        <a:rPr lang="en-US" altLang="zh-CN" sz="1400" b="0" i="1" smtClean="0">
                          <a:solidFill>
                            <a:srgbClr val="070707"/>
                          </a:solidFill>
                          <a:latin typeface="Cambria Math" panose="02040503050406030204" pitchFamily="18" charset="0"/>
                          <a:ea typeface="微软雅黑" panose="020B0503020204020204" pitchFamily="34" charset="-122"/>
                        </a:rPr>
                        <m:t>=</m:t>
                      </m:r>
                      <m:sSub>
                        <m:sSubPr>
                          <m:ctrlPr>
                            <a:rPr lang="en-US" altLang="zh-CN" sz="1400" b="0" i="1" smtClean="0">
                              <a:solidFill>
                                <a:srgbClr val="070707"/>
                              </a:solidFill>
                              <a:latin typeface="Cambria Math" panose="02040503050406030204" pitchFamily="18" charset="0"/>
                              <a:ea typeface="微软雅黑" panose="020B0503020204020204" pitchFamily="34" charset="-122"/>
                            </a:rPr>
                          </m:ctrlPr>
                        </m:sSubPr>
                        <m:e>
                          <m:r>
                            <a:rPr lang="en-US" altLang="zh-CN" sz="1400" b="0" i="1" smtClean="0">
                              <a:solidFill>
                                <a:srgbClr val="070707"/>
                              </a:solidFill>
                              <a:latin typeface="Cambria Math" panose="02040503050406030204" pitchFamily="18" charset="0"/>
                              <a:ea typeface="微软雅黑" panose="020B0503020204020204" pitchFamily="34" charset="-122"/>
                            </a:rPr>
                            <m:t>𝑥</m:t>
                          </m:r>
                        </m:e>
                        <m:sub>
                          <m:r>
                            <a:rPr lang="en-US" altLang="zh-CN" sz="1400" b="0" i="1" smtClean="0">
                              <a:solidFill>
                                <a:srgbClr val="070707"/>
                              </a:solidFill>
                              <a:latin typeface="Cambria Math" panose="02040503050406030204" pitchFamily="18" charset="0"/>
                              <a:ea typeface="微软雅黑" panose="020B0503020204020204" pitchFamily="34" charset="-122"/>
                            </a:rPr>
                            <m:t>𝑖</m:t>
                          </m:r>
                        </m:sub>
                      </m:sSub>
                      <m:sSup>
                        <m:sSupPr>
                          <m:ctrlPr>
                            <a:rPr lang="en-US" altLang="zh-CN" sz="1400" b="0" i="1" smtClean="0">
                              <a:solidFill>
                                <a:srgbClr val="070707"/>
                              </a:solidFill>
                              <a:latin typeface="Cambria Math" panose="02040503050406030204" pitchFamily="18" charset="0"/>
                              <a:ea typeface="微软雅黑" panose="020B0503020204020204" pitchFamily="34" charset="-122"/>
                            </a:rPr>
                          </m:ctrlPr>
                        </m:sSupPr>
                        <m:e>
                          <m:r>
                            <a:rPr lang="en-US" altLang="zh-CN" sz="1400" b="0" i="1" smtClean="0">
                              <a:solidFill>
                                <a:srgbClr val="070707"/>
                              </a:solidFill>
                              <a:latin typeface="Cambria Math" panose="02040503050406030204" pitchFamily="18" charset="0"/>
                              <a:ea typeface="微软雅黑" panose="020B0503020204020204" pitchFamily="34" charset="-122"/>
                            </a:rPr>
                            <m:t>𝑊</m:t>
                          </m:r>
                        </m:e>
                        <m:sup>
                          <m:r>
                            <a:rPr lang="en-US" altLang="zh-CN" sz="1400" b="0" i="1" smtClean="0">
                              <a:solidFill>
                                <a:srgbClr val="070707"/>
                              </a:solidFill>
                              <a:latin typeface="Cambria Math" panose="02040503050406030204" pitchFamily="18" charset="0"/>
                              <a:ea typeface="微软雅黑" panose="020B0503020204020204" pitchFamily="34" charset="-122"/>
                            </a:rPr>
                            <m:t>𝑄</m:t>
                          </m:r>
                        </m:sup>
                      </m:sSup>
                      <m:sSup>
                        <m:sSupPr>
                          <m:ctrlPr>
                            <a:rPr lang="en-US" altLang="zh-CN" sz="1400" b="0" i="1" smtClean="0">
                              <a:solidFill>
                                <a:srgbClr val="070707"/>
                              </a:solidFill>
                              <a:latin typeface="Cambria Math" panose="02040503050406030204" pitchFamily="18" charset="0"/>
                              <a:ea typeface="微软雅黑" panose="020B0503020204020204" pitchFamily="34" charset="-122"/>
                            </a:rPr>
                          </m:ctrlPr>
                        </m:sSupPr>
                        <m:e>
                          <m:r>
                            <a:rPr lang="en-US" altLang="zh-CN" sz="1400" b="0" i="1" smtClean="0">
                              <a:solidFill>
                                <a:srgbClr val="070707"/>
                              </a:solidFill>
                              <a:latin typeface="Cambria Math" panose="02040503050406030204" pitchFamily="18" charset="0"/>
                              <a:ea typeface="微软雅黑" panose="020B0503020204020204" pitchFamily="34" charset="-122"/>
                            </a:rPr>
                            <m:t>𝑊</m:t>
                          </m:r>
                        </m:e>
                        <m:sup>
                          <m:r>
                            <a:rPr lang="en-US" altLang="zh-CN" sz="1400" b="0" i="1" smtClean="0">
                              <a:solidFill>
                                <a:srgbClr val="070707"/>
                              </a:solidFill>
                              <a:latin typeface="Cambria Math" panose="02040503050406030204" pitchFamily="18" charset="0"/>
                              <a:ea typeface="微软雅黑" panose="020B0503020204020204" pitchFamily="34" charset="-122"/>
                            </a:rPr>
                            <m:t>𝐾</m:t>
                          </m:r>
                        </m:sup>
                      </m:sSup>
                      <m:sSub>
                        <m:sSubPr>
                          <m:ctrlPr>
                            <a:rPr lang="en-US" altLang="zh-CN" sz="1400" b="0" i="1" smtClean="0">
                              <a:solidFill>
                                <a:srgbClr val="070707"/>
                              </a:solidFill>
                              <a:latin typeface="Cambria Math" panose="02040503050406030204" pitchFamily="18" charset="0"/>
                              <a:ea typeface="微软雅黑" panose="020B0503020204020204" pitchFamily="34" charset="-122"/>
                            </a:rPr>
                          </m:ctrlPr>
                        </m:sSubPr>
                        <m:e>
                          <m:r>
                            <a:rPr lang="en-US" altLang="zh-CN" sz="1400" b="0" i="1" smtClean="0">
                              <a:solidFill>
                                <a:srgbClr val="070707"/>
                              </a:solidFill>
                              <a:latin typeface="Cambria Math" panose="02040503050406030204" pitchFamily="18" charset="0"/>
                              <a:ea typeface="微软雅黑" panose="020B0503020204020204" pitchFamily="34" charset="-122"/>
                            </a:rPr>
                            <m:t>𝑥</m:t>
                          </m:r>
                        </m:e>
                        <m:sub>
                          <m:r>
                            <a:rPr lang="en-US" altLang="zh-CN" sz="1400" b="0" i="1" smtClean="0">
                              <a:solidFill>
                                <a:srgbClr val="070707"/>
                              </a:solidFill>
                              <a:latin typeface="Cambria Math" panose="02040503050406030204" pitchFamily="18" charset="0"/>
                              <a:ea typeface="微软雅黑" panose="020B0503020204020204" pitchFamily="34" charset="-122"/>
                            </a:rPr>
                            <m:t>𝑗</m:t>
                          </m:r>
                        </m:sub>
                      </m:sSub>
                      <m:r>
                        <a:rPr lang="en-US" altLang="zh-CN" sz="1400" b="0" i="1" smtClean="0">
                          <a:solidFill>
                            <a:srgbClr val="070707"/>
                          </a:solidFill>
                          <a:latin typeface="Cambria Math" panose="02040503050406030204" pitchFamily="18" charset="0"/>
                          <a:ea typeface="微软雅黑" panose="020B0503020204020204" pitchFamily="34" charset="-122"/>
                        </a:rPr>
                        <m:t>+</m:t>
                      </m:r>
                      <m:sSub>
                        <m:sSubPr>
                          <m:ctrlPr>
                            <a:rPr lang="en-US" altLang="zh-CN" sz="1400" b="1" i="1" smtClean="0">
                              <a:solidFill>
                                <a:schemeClr val="tx1"/>
                              </a:solidFill>
                              <a:latin typeface="Cambria Math" panose="02040503050406030204" pitchFamily="18" charset="0"/>
                              <a:ea typeface="微软雅黑" panose="020B0503020204020204" pitchFamily="34" charset="-122"/>
                            </a:rPr>
                          </m:ctrlPr>
                        </m:sSubPr>
                        <m:e>
                          <m:r>
                            <a:rPr lang="en-US" altLang="zh-CN" sz="1400" b="1" i="1" smtClean="0">
                              <a:solidFill>
                                <a:schemeClr val="tx1"/>
                              </a:solidFill>
                              <a:latin typeface="Cambria Math" panose="02040503050406030204" pitchFamily="18" charset="0"/>
                              <a:ea typeface="微软雅黑" panose="020B0503020204020204" pitchFamily="34" charset="-122"/>
                            </a:rPr>
                            <m:t>𝒓</m:t>
                          </m:r>
                        </m:e>
                        <m:sub>
                          <m:r>
                            <a:rPr lang="en-US" altLang="zh-CN" sz="1400" b="1" i="1" smtClean="0">
                              <a:solidFill>
                                <a:schemeClr val="tx1"/>
                              </a:solidFill>
                              <a:latin typeface="Cambria Math" panose="02040503050406030204" pitchFamily="18" charset="0"/>
                              <a:ea typeface="微软雅黑" panose="020B0503020204020204" pitchFamily="34" charset="-122"/>
                            </a:rPr>
                            <m:t>𝒊</m:t>
                          </m:r>
                          <m:r>
                            <a:rPr lang="en-US" altLang="zh-CN" sz="1400" b="1" i="1" smtClean="0">
                              <a:solidFill>
                                <a:schemeClr val="tx1"/>
                              </a:solidFill>
                              <a:latin typeface="Cambria Math" panose="02040503050406030204" pitchFamily="18" charset="0"/>
                              <a:ea typeface="微软雅黑" panose="020B0503020204020204" pitchFamily="34" charset="-122"/>
                            </a:rPr>
                            <m:t>−</m:t>
                          </m:r>
                          <m:r>
                            <a:rPr lang="en-US" altLang="zh-CN" sz="1400" b="1" i="1" smtClean="0">
                              <a:solidFill>
                                <a:schemeClr val="tx1"/>
                              </a:solidFill>
                              <a:latin typeface="Cambria Math" panose="02040503050406030204" pitchFamily="18" charset="0"/>
                              <a:ea typeface="微软雅黑" panose="020B0503020204020204" pitchFamily="34" charset="-122"/>
                            </a:rPr>
                            <m:t>𝒋</m:t>
                          </m:r>
                        </m:sub>
                      </m:sSub>
                      <m:r>
                        <a:rPr lang="en-US" altLang="zh-CN" sz="1400" b="0" i="1" smtClean="0">
                          <a:solidFill>
                            <a:srgbClr val="070707"/>
                          </a:solidFill>
                          <a:latin typeface="Cambria Math" panose="02040503050406030204" pitchFamily="18" charset="0"/>
                          <a:ea typeface="微软雅黑" panose="020B0503020204020204" pitchFamily="34" charset="-122"/>
                        </a:rPr>
                        <m:t>,</m:t>
                      </m:r>
                    </m:oMath>
                  </m:oMathPara>
                </a14:m>
                <a:endParaRPr lang="en-US" altLang="zh-CN" sz="1400" dirty="0">
                  <a:solidFill>
                    <a:srgbClr val="070707"/>
                  </a:solidFill>
                  <a:latin typeface="微软雅黑" panose="020B0503020204020204" pitchFamily="34" charset="-122"/>
                  <a:ea typeface="微软雅黑" panose="020B0503020204020204" pitchFamily="34" charset="-122"/>
                </a:endParaRPr>
              </a:p>
              <a:p>
                <a:pPr lvl="1">
                  <a:lnSpc>
                    <a:spcPct val="125000"/>
                  </a:lnSpc>
                  <a:spcBef>
                    <a:spcPts val="600"/>
                  </a:spcBef>
                </a:pPr>
                <a:r>
                  <a:rPr lang="en-US" altLang="zh-CN" sz="1400" dirty="0">
                    <a:solidFill>
                      <a:srgbClr val="070707"/>
                    </a:solidFill>
                    <a:latin typeface="微软雅黑" panose="020B0503020204020204" pitchFamily="34" charset="-122"/>
                    <a:ea typeface="微软雅黑" panose="020B0503020204020204" pitchFamily="34" charset="-122"/>
                  </a:rPr>
                  <a:t>	</a:t>
                </a:r>
                <a:r>
                  <a:rPr lang="zh-CN" altLang="en-US" sz="1400" dirty="0">
                    <a:solidFill>
                      <a:srgbClr val="070707"/>
                    </a:solidFill>
                    <a:latin typeface="微软雅黑" panose="020B0503020204020204" pitchFamily="34" charset="-122"/>
                    <a:ea typeface="微软雅黑" panose="020B0503020204020204" pitchFamily="34" charset="-122"/>
                  </a:rPr>
                  <a:t>其中</a:t>
                </a:r>
                <a14:m>
                  <m:oMath xmlns:m="http://schemas.openxmlformats.org/officeDocument/2006/math">
                    <m:sSub>
                      <m:sSubPr>
                        <m:ctrlPr>
                          <a:rPr lang="en-US" altLang="zh-CN" sz="1400" b="0" i="1" smtClean="0">
                            <a:solidFill>
                              <a:srgbClr val="070707"/>
                            </a:solidFill>
                            <a:latin typeface="Cambria Math" panose="02040503050406030204" pitchFamily="18" charset="0"/>
                            <a:ea typeface="微软雅黑" panose="020B0503020204020204" pitchFamily="34" charset="-122"/>
                          </a:rPr>
                        </m:ctrlPr>
                      </m:sSubPr>
                      <m:e>
                        <m:r>
                          <a:rPr lang="en-US" altLang="zh-CN" sz="1400" b="0" i="1" smtClean="0">
                            <a:solidFill>
                              <a:srgbClr val="070707"/>
                            </a:solidFill>
                            <a:latin typeface="Cambria Math" panose="02040503050406030204" pitchFamily="18" charset="0"/>
                            <a:ea typeface="微软雅黑" panose="020B0503020204020204" pitchFamily="34" charset="-122"/>
                          </a:rPr>
                          <m:t>𝑟</m:t>
                        </m:r>
                      </m:e>
                      <m:sub>
                        <m:r>
                          <a:rPr lang="en-US" altLang="zh-CN" sz="1400" b="0" i="1" smtClean="0">
                            <a:solidFill>
                              <a:srgbClr val="070707"/>
                            </a:solidFill>
                            <a:latin typeface="Cambria Math" panose="02040503050406030204" pitchFamily="18" charset="0"/>
                            <a:ea typeface="微软雅黑" panose="020B0503020204020204" pitchFamily="34" charset="-122"/>
                          </a:rPr>
                          <m:t>𝑖</m:t>
                        </m:r>
                        <m:r>
                          <a:rPr lang="en-US" altLang="zh-CN" sz="1400" b="0" i="1" smtClean="0">
                            <a:solidFill>
                              <a:srgbClr val="070707"/>
                            </a:solidFill>
                            <a:latin typeface="Cambria Math" panose="02040503050406030204" pitchFamily="18" charset="0"/>
                            <a:ea typeface="微软雅黑" panose="020B0503020204020204" pitchFamily="34" charset="-122"/>
                          </a:rPr>
                          <m:t>−</m:t>
                        </m:r>
                        <m:r>
                          <a:rPr lang="en-US" altLang="zh-CN" sz="1400" b="0" i="1" smtClean="0">
                            <a:solidFill>
                              <a:srgbClr val="070707"/>
                            </a:solidFill>
                            <a:latin typeface="Cambria Math" panose="02040503050406030204" pitchFamily="18" charset="0"/>
                            <a:ea typeface="微软雅黑" panose="020B0503020204020204" pitchFamily="34" charset="-122"/>
                          </a:rPr>
                          <m:t>𝑗</m:t>
                        </m:r>
                      </m:sub>
                    </m:sSub>
                  </m:oMath>
                </a14:m>
                <a:r>
                  <a:rPr lang="zh-CN" altLang="en-US" sz="1400" dirty="0">
                    <a:solidFill>
                      <a:srgbClr val="070707"/>
                    </a:solidFill>
                    <a:latin typeface="微软雅黑" panose="020B0503020204020204" pitchFamily="34" charset="-122"/>
                    <a:ea typeface="微软雅黑" panose="020B0503020204020204" pitchFamily="34" charset="-122"/>
                  </a:rPr>
                  <a:t>表示基于查询和键之间偏移的可学习标量，</a:t>
                </a:r>
                <a14:m>
                  <m:oMath xmlns:m="http://schemas.openxmlformats.org/officeDocument/2006/math">
                    <m:sSub>
                      <m:sSubPr>
                        <m:ctrlPr>
                          <a:rPr lang="en-US" altLang="zh-CN" sz="1400" b="0" i="1" smtClean="0">
                            <a:solidFill>
                              <a:srgbClr val="070707"/>
                            </a:solidFill>
                            <a:latin typeface="Cambria Math" panose="02040503050406030204" pitchFamily="18" charset="0"/>
                            <a:ea typeface="微软雅黑" panose="020B0503020204020204" pitchFamily="34" charset="-122"/>
                          </a:rPr>
                        </m:ctrlPr>
                      </m:sSubPr>
                      <m:e>
                        <m:r>
                          <a:rPr lang="en-US" altLang="zh-CN" sz="1400" b="0" i="1" smtClean="0">
                            <a:solidFill>
                              <a:srgbClr val="070707"/>
                            </a:solidFill>
                            <a:latin typeface="Cambria Math" panose="02040503050406030204" pitchFamily="18" charset="0"/>
                            <a:ea typeface="微软雅黑" panose="020B0503020204020204" pitchFamily="34" charset="-122"/>
                          </a:rPr>
                          <m:t>𝑥</m:t>
                        </m:r>
                      </m:e>
                      <m:sub>
                        <m:r>
                          <a:rPr lang="en-US" altLang="zh-CN" sz="1400" b="0" i="1" smtClean="0">
                            <a:solidFill>
                              <a:srgbClr val="070707"/>
                            </a:solidFill>
                            <a:latin typeface="Cambria Math" panose="02040503050406030204" pitchFamily="18" charset="0"/>
                            <a:ea typeface="微软雅黑" panose="020B0503020204020204" pitchFamily="34" charset="-122"/>
                          </a:rPr>
                          <m:t>𝑖</m:t>
                        </m:r>
                      </m:sub>
                    </m:sSub>
                  </m:oMath>
                </a14:m>
                <a:r>
                  <a:rPr lang="zh-CN" altLang="en-US" sz="1400" dirty="0">
                    <a:solidFill>
                      <a:srgbClr val="070707"/>
                    </a:solidFill>
                    <a:latin typeface="微软雅黑" panose="020B0503020204020204" pitchFamily="34" charset="-122"/>
                    <a:ea typeface="微软雅黑" panose="020B0503020204020204" pitchFamily="34" charset="-122"/>
                  </a:rPr>
                  <a:t>与</a:t>
                </a:r>
                <a14:m>
                  <m:oMath xmlns:m="http://schemas.openxmlformats.org/officeDocument/2006/math">
                    <m:sSub>
                      <m:sSubPr>
                        <m:ctrlPr>
                          <a:rPr lang="en-US" altLang="zh-CN" sz="1400" b="0" i="1" dirty="0" smtClean="0">
                            <a:solidFill>
                              <a:srgbClr val="070707"/>
                            </a:solidFill>
                            <a:latin typeface="Cambria Math" panose="02040503050406030204" pitchFamily="18" charset="0"/>
                            <a:ea typeface="微软雅黑" panose="020B0503020204020204" pitchFamily="34" charset="-122"/>
                          </a:rPr>
                        </m:ctrlPr>
                      </m:sSubPr>
                      <m:e>
                        <m:r>
                          <a:rPr lang="en-US" altLang="zh-CN" sz="1400" b="0" i="1" dirty="0" smtClean="0">
                            <a:solidFill>
                              <a:srgbClr val="070707"/>
                            </a:solidFill>
                            <a:latin typeface="Cambria Math" panose="02040503050406030204" pitchFamily="18" charset="0"/>
                            <a:ea typeface="微软雅黑" panose="020B0503020204020204" pitchFamily="34" charset="-122"/>
                          </a:rPr>
                          <m:t>𝑥</m:t>
                        </m:r>
                      </m:e>
                      <m:sub>
                        <m:r>
                          <a:rPr lang="en-US" altLang="zh-CN" sz="1400" b="0" i="1" dirty="0" smtClean="0">
                            <a:solidFill>
                              <a:srgbClr val="070707"/>
                            </a:solidFill>
                            <a:latin typeface="Cambria Math" panose="02040503050406030204" pitchFamily="18" charset="0"/>
                            <a:ea typeface="微软雅黑" panose="020B0503020204020204" pitchFamily="34" charset="-122"/>
                          </a:rPr>
                          <m:t>𝑗</m:t>
                        </m:r>
                      </m:sub>
                    </m:sSub>
                  </m:oMath>
                </a14:m>
                <a:r>
                  <a:rPr lang="zh-CN" altLang="en-US" sz="1400" dirty="0">
                    <a:solidFill>
                      <a:srgbClr val="070707"/>
                    </a:solidFill>
                    <a:latin typeface="微软雅黑" panose="020B0503020204020204" pitchFamily="34" charset="-122"/>
                    <a:ea typeface="微软雅黑" panose="020B0503020204020204" pitchFamily="34" charset="-122"/>
                  </a:rPr>
                  <a:t>是</a:t>
                </a:r>
                <a14:m>
                  <m:oMath xmlns:m="http://schemas.openxmlformats.org/officeDocument/2006/math">
                    <m:sSup>
                      <m:sSupPr>
                        <m:ctrlPr>
                          <a:rPr lang="en-US" altLang="zh-CN" sz="1400" b="0" i="1" dirty="0" smtClean="0">
                            <a:solidFill>
                              <a:srgbClr val="070707"/>
                            </a:solidFill>
                            <a:latin typeface="Cambria Math" panose="02040503050406030204" pitchFamily="18" charset="0"/>
                            <a:ea typeface="微软雅黑" panose="020B0503020204020204" pitchFamily="34" charset="-122"/>
                          </a:rPr>
                        </m:ctrlPr>
                      </m:sSupPr>
                      <m:e>
                        <m:r>
                          <a:rPr lang="en-US" altLang="zh-CN" sz="1400" b="0" i="1" dirty="0" smtClean="0">
                            <a:solidFill>
                              <a:srgbClr val="070707"/>
                            </a:solidFill>
                            <a:latin typeface="Cambria Math" panose="02040503050406030204" pitchFamily="18" charset="0"/>
                            <a:ea typeface="微软雅黑" panose="020B0503020204020204" pitchFamily="34" charset="-122"/>
                          </a:rPr>
                          <m:t>𝑋</m:t>
                        </m:r>
                      </m:e>
                      <m:sup>
                        <m:r>
                          <a:rPr lang="en-US" altLang="zh-CN" sz="1400" b="0" i="1" dirty="0" smtClean="0">
                            <a:solidFill>
                              <a:srgbClr val="070707"/>
                            </a:solidFill>
                            <a:latin typeface="Cambria Math" panose="02040503050406030204" pitchFamily="18" charset="0"/>
                            <a:ea typeface="微软雅黑" panose="020B0503020204020204" pitchFamily="34" charset="-122"/>
                          </a:rPr>
                          <m:t>𝑒𝑚</m:t>
                        </m:r>
                      </m:sup>
                    </m:sSup>
                    <m:r>
                      <a:rPr lang="zh-CN" altLang="en-US" sz="1400" i="1" dirty="0">
                        <a:solidFill>
                          <a:srgbClr val="070707"/>
                        </a:solidFill>
                        <a:latin typeface="Cambria Math" panose="02040503050406030204" pitchFamily="18" charset="0"/>
                        <a:ea typeface="微软雅黑" panose="020B0503020204020204" pitchFamily="34" charset="-122"/>
                      </a:rPr>
                      <m:t>的</m:t>
                    </m:r>
                  </m:oMath>
                </a14:m>
                <a:r>
                  <a:rPr lang="zh-CN" altLang="en-US" sz="1400" dirty="0">
                    <a:solidFill>
                      <a:srgbClr val="070707"/>
                    </a:solidFill>
                    <a:latin typeface="微软雅黑" panose="020B0503020204020204" pitchFamily="34" charset="-122"/>
                    <a:ea typeface="微软雅黑" panose="020B0503020204020204" pitchFamily="34" charset="-122"/>
                  </a:rPr>
                  <a:t>行向量。</a:t>
                </a:r>
                <a:endParaRPr lang="en-US" altLang="zh-CN" sz="1400" dirty="0">
                  <a:solidFill>
                    <a:srgbClr val="070707"/>
                  </a:solidFill>
                  <a:latin typeface="微软雅黑" panose="020B0503020204020204" pitchFamily="34" charset="-122"/>
                  <a:ea typeface="微软雅黑" panose="020B0503020204020204" pitchFamily="34" charset="-122"/>
                </a:endParaRPr>
              </a:p>
            </p:txBody>
          </p:sp>
        </mc:Choice>
        <mc:Fallback xmlns="">
          <p:sp>
            <p:nvSpPr>
              <p:cNvPr id="2" name="文本框 1">
                <a:extLst>
                  <a:ext uri="{FF2B5EF4-FFF2-40B4-BE49-F238E27FC236}">
                    <a16:creationId xmlns:a16="http://schemas.microsoft.com/office/drawing/2014/main" id="{9EF1C386-1D92-7DF9-3F96-E5CC00B264B7}"/>
                  </a:ext>
                </a:extLst>
              </p:cNvPr>
              <p:cNvSpPr txBox="1">
                <a:spLocks noRot="1" noChangeAspect="1" noMove="1" noResize="1" noEditPoints="1" noAdjustHandles="1" noChangeArrowheads="1" noChangeShapeType="1" noTextEdit="1"/>
              </p:cNvSpPr>
              <p:nvPr/>
            </p:nvSpPr>
            <p:spPr>
              <a:xfrm>
                <a:off x="2133613" y="854598"/>
                <a:ext cx="8051165" cy="4596130"/>
              </a:xfrm>
              <a:prstGeom prst="rect">
                <a:avLst/>
              </a:prstGeom>
              <a:blipFill>
                <a:blip r:embed="rId2"/>
                <a:stretch>
                  <a:fillRect l="-787"/>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5C4AD93C-E2EB-7EA6-D0A1-FFE5753CF699}"/>
              </a:ext>
            </a:extLst>
          </p:cNvPr>
          <p:cNvSpPr txBox="1"/>
          <p:nvPr/>
        </p:nvSpPr>
        <p:spPr>
          <a:xfrm>
            <a:off x="2133613" y="5458225"/>
            <a:ext cx="7983551" cy="830997"/>
          </a:xfrm>
          <a:prstGeom prst="rect">
            <a:avLst/>
          </a:prstGeom>
          <a:noFill/>
        </p:spPr>
        <p:txBody>
          <a:bodyPr wrap="square">
            <a:spAutoFit/>
          </a:bodyPr>
          <a:lstStyle/>
          <a:p>
            <a:r>
              <a:rPr lang="zh-CN" altLang="en-US" sz="1600" b="1" dirty="0">
                <a:latin typeface="微软雅黑" panose="020B0503020204020204" pitchFamily="34" charset="-122"/>
                <a:ea typeface="微软雅黑" panose="020B0503020204020204" pitchFamily="34" charset="-122"/>
              </a:rPr>
              <a:t>尽管这种外推能力可以确保模型在长文本上继续生成流畅的文本，但模型对长文本本身的理解能力可能无法达到与短文本相同的水平。为了真正增强长文本建模能力，通常还需要在更长的文本上进行一定的训练！</a:t>
            </a:r>
          </a:p>
        </p:txBody>
      </p:sp>
      <p:sp>
        <p:nvSpPr>
          <p:cNvPr id="19" name="文本框 18">
            <a:extLst>
              <a:ext uri="{FF2B5EF4-FFF2-40B4-BE49-F238E27FC236}">
                <a16:creationId xmlns:a16="http://schemas.microsoft.com/office/drawing/2014/main" id="{5125FE39-A3E6-68B6-3724-5CDBAF1FDF69}"/>
              </a:ext>
            </a:extLst>
          </p:cNvPr>
          <p:cNvSpPr txBox="1"/>
          <p:nvPr/>
        </p:nvSpPr>
        <p:spPr>
          <a:xfrm>
            <a:off x="126998" y="6351998"/>
            <a:ext cx="11595375" cy="376834"/>
          </a:xfrm>
          <a:prstGeom prst="rect">
            <a:avLst/>
          </a:prstGeom>
          <a:noFill/>
        </p:spPr>
        <p:txBody>
          <a:bodyPr wrap="square" rtlCol="0">
            <a:spAutoFit/>
          </a:bodyPr>
          <a:lstStyle/>
          <a:p>
            <a:pPr algn="l">
              <a:lnSpc>
                <a:spcPct val="150000"/>
              </a:lnSpc>
            </a:pP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 OfirPress,NoahA.Smith,andMikeLewis.“Train Short, Test Long: Attention with Linear Biases Enables Input Length Extrapolation”. In: ICLR.2022.</a:t>
            </a:r>
            <a:endParaRPr lang="en-US"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4355006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16" name="圆角矩形 19">
            <a:extLst>
              <a:ext uri="{FF2B5EF4-FFF2-40B4-BE49-F238E27FC236}">
                <a16:creationId xmlns:a16="http://schemas.microsoft.com/office/drawing/2014/main" id="{9FB44C26-C3B8-DF6D-9331-FD9A03685B8B}"/>
              </a:ext>
            </a:extLst>
          </p:cNvPr>
          <p:cNvSpPr/>
          <p:nvPr/>
        </p:nvSpPr>
        <p:spPr>
          <a:xfrm>
            <a:off x="2464447" y="2623386"/>
            <a:ext cx="7351921" cy="2937521"/>
          </a:xfrm>
          <a:prstGeom prst="roundRect">
            <a:avLst>
              <a:gd name="adj" fmla="val 9265"/>
            </a:avLst>
          </a:prstGeom>
          <a:solidFill>
            <a:schemeClr val="bg1">
              <a:lumMod val="85000"/>
              <a:alpha val="68000"/>
            </a:schemeClr>
          </a:solidFill>
          <a:ln w="254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嵌入层：更多的位置编码</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172944AB-4014-813D-B299-22DEEDCF38C7}"/>
                  </a:ext>
                </a:extLst>
              </p:cNvPr>
              <p:cNvSpPr txBox="1"/>
              <p:nvPr/>
            </p:nvSpPr>
            <p:spPr>
              <a:xfrm>
                <a:off x="2294246" y="854598"/>
                <a:ext cx="8051165" cy="4903458"/>
              </a:xfrm>
              <a:prstGeom prst="rect">
                <a:avLst/>
              </a:prstGeom>
              <a:noFill/>
            </p:spPr>
            <p:txBody>
              <a:bodyPr wrap="square" rtlCol="0">
                <a:spAutoFit/>
              </a:bodyPr>
              <a:lstStyle/>
              <a:p>
                <a:pPr>
                  <a:lnSpc>
                    <a:spcPct val="125000"/>
                  </a:lnSpc>
                  <a:spcBef>
                    <a:spcPts val="600"/>
                  </a:spcBef>
                </a:pPr>
                <a:r>
                  <a:rPr lang="en-US" altLang="zh-CN" sz="2000" b="1" dirty="0">
                    <a:solidFill>
                      <a:srgbClr val="070707"/>
                    </a:solidFill>
                    <a:latin typeface="微软雅黑" panose="020B0503020204020204" pitchFamily="34" charset="-122"/>
                    <a:ea typeface="微软雅黑" panose="020B0503020204020204" pitchFamily="34" charset="-122"/>
                  </a:rPr>
                  <a:t>3.</a:t>
                </a:r>
                <a:r>
                  <a:rPr lang="zh-CN" altLang="en-US" sz="2000" b="1" dirty="0">
                    <a:solidFill>
                      <a:srgbClr val="070707"/>
                    </a:solidFill>
                    <a:latin typeface="微软雅黑" panose="020B0503020204020204" pitchFamily="34" charset="-122"/>
                    <a:ea typeface="微软雅黑" panose="020B0503020204020204" pitchFamily="34" charset="-122"/>
                  </a:rPr>
                  <a:t> 旋转位置编码（</a:t>
                </a:r>
                <a:r>
                  <a:rPr lang="en-US" altLang="zh-CN" sz="2000" b="1" dirty="0">
                    <a:solidFill>
                      <a:srgbClr val="070707"/>
                    </a:solidFill>
                    <a:latin typeface="微软雅黑" panose="020B0503020204020204" pitchFamily="34" charset="-122"/>
                    <a:ea typeface="微软雅黑" panose="020B0503020204020204" pitchFamily="34" charset="-122"/>
                  </a:rPr>
                  <a:t>Rotary Position Embedding, </a:t>
                </a:r>
                <a:r>
                  <a:rPr lang="en-US" altLang="zh-CN" sz="2000" b="1" dirty="0" err="1">
                    <a:solidFill>
                      <a:srgbClr val="070707"/>
                    </a:solidFill>
                    <a:latin typeface="微软雅黑" panose="020B0503020204020204" pitchFamily="34" charset="-122"/>
                    <a:ea typeface="微软雅黑" panose="020B0503020204020204" pitchFamily="34" charset="-122"/>
                  </a:rPr>
                  <a:t>RoPE</a:t>
                </a:r>
                <a:r>
                  <a:rPr lang="zh-CN" altLang="en-US" sz="2000" b="1" dirty="0">
                    <a:solidFill>
                      <a:srgbClr val="070707"/>
                    </a:solidFill>
                    <a:latin typeface="微软雅黑" panose="020B0503020204020204" pitchFamily="34" charset="-122"/>
                    <a:ea typeface="微软雅黑" panose="020B0503020204020204" pitchFamily="34" charset="-122"/>
                  </a:rPr>
                  <a:t>）</a:t>
                </a:r>
                <a:endParaRPr lang="en-US" altLang="zh-CN" sz="2000" b="1" dirty="0">
                  <a:solidFill>
                    <a:srgbClr val="070707"/>
                  </a:solidFill>
                  <a:latin typeface="微软雅黑" panose="020B0503020204020204" pitchFamily="34" charset="-122"/>
                  <a:ea typeface="微软雅黑" panose="020B0503020204020204" pitchFamily="34" charset="-122"/>
                </a:endParaRPr>
              </a:p>
              <a:p>
                <a:pPr>
                  <a:lnSpc>
                    <a:spcPct val="125000"/>
                  </a:lnSpc>
                  <a:spcBef>
                    <a:spcPts val="600"/>
                  </a:spcBef>
                </a:pPr>
                <a:r>
                  <a:rPr lang="zh-CN" altLang="en-US" sz="1600" dirty="0">
                    <a:solidFill>
                      <a:srgbClr val="070707"/>
                    </a:solidFill>
                    <a:latin typeface="微软雅黑" panose="020B0503020204020204" pitchFamily="34" charset="-122"/>
                    <a:ea typeface="微软雅黑" panose="020B0503020204020204" pitchFamily="34" charset="-122"/>
                  </a:rPr>
                  <a:t>旋转位置编码使用了基于绝对位置信息的旋转矩阵来表示注意力中的相对位置信息。其定义了一个</a:t>
                </a:r>
                <a:r>
                  <a:rPr lang="zh-CN" altLang="en-US" sz="1600" b="1" dirty="0">
                    <a:solidFill>
                      <a:srgbClr val="070707"/>
                    </a:solidFill>
                    <a:latin typeface="微软雅黑" panose="020B0503020204020204" pitchFamily="34" charset="-122"/>
                    <a:ea typeface="微软雅黑" panose="020B0503020204020204" pitchFamily="34" charset="-122"/>
                  </a:rPr>
                  <a:t>旋转矩阵</a:t>
                </a:r>
                <a14:m>
                  <m:oMath xmlns:m="http://schemas.openxmlformats.org/officeDocument/2006/math">
                    <m:sSub>
                      <m:sSubPr>
                        <m:ctrlPr>
                          <a:rPr lang="en-US" altLang="zh-CN" sz="1600" b="1" i="1" smtClean="0">
                            <a:solidFill>
                              <a:srgbClr val="070707"/>
                            </a:solidFill>
                            <a:latin typeface="Cambria Math" panose="02040503050406030204" pitchFamily="18" charset="0"/>
                            <a:ea typeface="微软雅黑" panose="020B0503020204020204" pitchFamily="34" charset="-122"/>
                          </a:rPr>
                        </m:ctrlPr>
                      </m:sSubPr>
                      <m:e>
                        <m:r>
                          <a:rPr lang="en-US" altLang="zh-CN" sz="1600" b="1" i="1" smtClean="0">
                            <a:solidFill>
                              <a:srgbClr val="070707"/>
                            </a:solidFill>
                            <a:latin typeface="Cambria Math" panose="02040503050406030204" pitchFamily="18" charset="0"/>
                            <a:ea typeface="微软雅黑" panose="020B0503020204020204" pitchFamily="34" charset="-122"/>
                          </a:rPr>
                          <m:t>𝑹</m:t>
                        </m:r>
                      </m:e>
                      <m:sub>
                        <m:r>
                          <a:rPr lang="en-US" altLang="zh-CN" sz="1600" b="1" i="1" smtClean="0">
                            <a:solidFill>
                              <a:srgbClr val="070707"/>
                            </a:solidFill>
                            <a:latin typeface="Cambria Math" panose="02040503050406030204" pitchFamily="18" charset="0"/>
                            <a:ea typeface="微软雅黑" panose="020B0503020204020204" pitchFamily="34" charset="-122"/>
                          </a:rPr>
                          <m:t>𝜽</m:t>
                        </m:r>
                        <m:r>
                          <a:rPr lang="en-US" altLang="zh-CN" sz="1600" b="1" i="1" smtClean="0">
                            <a:solidFill>
                              <a:srgbClr val="070707"/>
                            </a:solidFill>
                            <a:latin typeface="Cambria Math" panose="02040503050406030204" pitchFamily="18" charset="0"/>
                            <a:ea typeface="微软雅黑" panose="020B0503020204020204" pitchFamily="34" charset="-122"/>
                          </a:rPr>
                          <m:t>,</m:t>
                        </m:r>
                        <m:r>
                          <a:rPr lang="en-US" altLang="zh-CN" sz="1600" b="1" i="1" smtClean="0">
                            <a:solidFill>
                              <a:srgbClr val="070707"/>
                            </a:solidFill>
                            <a:latin typeface="Cambria Math" panose="02040503050406030204" pitchFamily="18" charset="0"/>
                            <a:ea typeface="微软雅黑" panose="020B0503020204020204" pitchFamily="34" charset="-122"/>
                          </a:rPr>
                          <m:t>𝒊</m:t>
                        </m:r>
                      </m:sub>
                    </m:sSub>
                  </m:oMath>
                </a14:m>
                <a:r>
                  <a:rPr lang="zh-CN" altLang="en-US" sz="1600" dirty="0">
                    <a:solidFill>
                      <a:srgbClr val="070707"/>
                    </a:solidFill>
                    <a:latin typeface="微软雅黑" panose="020B0503020204020204" pitchFamily="34" charset="-122"/>
                    <a:ea typeface="微软雅黑" panose="020B0503020204020204" pitchFamily="34" charset="-122"/>
                  </a:rPr>
                  <a:t>，并利用旋转矩阵中三角函数的特性，位置索引为𝑖的旋转矩阵和位置索引为𝑗的旋转矩阵的转置的乘积等同于位置索引为它们相对距离𝑖−𝑗的旋转矩阵，即</a:t>
                </a:r>
                <a14:m>
                  <m:oMath xmlns:m="http://schemas.openxmlformats.org/officeDocument/2006/math">
                    <m:sSub>
                      <m:sSubPr>
                        <m:ctrlPr>
                          <a:rPr lang="en-US" altLang="zh-CN" sz="1600" b="0" i="1" smtClean="0">
                            <a:solidFill>
                              <a:srgbClr val="070707"/>
                            </a:solidFill>
                            <a:latin typeface="Cambria Math" panose="02040503050406030204" pitchFamily="18" charset="0"/>
                            <a:ea typeface="微软雅黑" panose="020B0503020204020204" pitchFamily="34" charset="-122"/>
                          </a:rPr>
                        </m:ctrlPr>
                      </m:sSubPr>
                      <m:e>
                        <m:r>
                          <a:rPr lang="en-US" altLang="zh-CN" sz="1600" b="0" i="1" smtClean="0">
                            <a:solidFill>
                              <a:srgbClr val="070707"/>
                            </a:solidFill>
                            <a:latin typeface="Cambria Math" panose="02040503050406030204" pitchFamily="18" charset="0"/>
                            <a:ea typeface="微软雅黑" panose="020B0503020204020204" pitchFamily="34" charset="-122"/>
                          </a:rPr>
                          <m:t>𝑅</m:t>
                        </m:r>
                      </m:e>
                      <m:sub>
                        <m:r>
                          <a:rPr lang="en-US" altLang="zh-CN" sz="1600" b="0" i="1" smtClean="0">
                            <a:solidFill>
                              <a:srgbClr val="070707"/>
                            </a:solidFill>
                            <a:latin typeface="Cambria Math" panose="02040503050406030204" pitchFamily="18" charset="0"/>
                            <a:ea typeface="微软雅黑" panose="020B0503020204020204" pitchFamily="34" charset="-122"/>
                          </a:rPr>
                          <m:t>𝜃</m:t>
                        </m:r>
                        <m:r>
                          <a:rPr lang="en-US" altLang="zh-CN" sz="1600" b="0" i="1" smtClean="0">
                            <a:solidFill>
                              <a:srgbClr val="070707"/>
                            </a:solidFill>
                            <a:latin typeface="Cambria Math" panose="02040503050406030204" pitchFamily="18" charset="0"/>
                            <a:ea typeface="微软雅黑" panose="020B0503020204020204" pitchFamily="34" charset="-122"/>
                          </a:rPr>
                          <m:t>,</m:t>
                        </m:r>
                        <m:r>
                          <a:rPr lang="en-US" altLang="zh-CN" sz="1600" b="0" i="1" smtClean="0">
                            <a:solidFill>
                              <a:srgbClr val="070707"/>
                            </a:solidFill>
                            <a:latin typeface="Cambria Math" panose="02040503050406030204" pitchFamily="18" charset="0"/>
                            <a:ea typeface="微软雅黑" panose="020B0503020204020204" pitchFamily="34" charset="-122"/>
                          </a:rPr>
                          <m:t>𝑖</m:t>
                        </m:r>
                      </m:sub>
                    </m:sSub>
                    <m:r>
                      <a:rPr lang="en-US" altLang="zh-CN" sz="1600" b="0" i="1" smtClean="0">
                        <a:solidFill>
                          <a:srgbClr val="070707"/>
                        </a:solidFill>
                        <a:latin typeface="Cambria Math" panose="02040503050406030204" pitchFamily="18" charset="0"/>
                        <a:ea typeface="微软雅黑" panose="020B0503020204020204" pitchFamily="34" charset="-122"/>
                      </a:rPr>
                      <m:t>⋅</m:t>
                    </m:r>
                    <m:sSubSup>
                      <m:sSubSupPr>
                        <m:ctrlPr>
                          <a:rPr lang="en-US" altLang="zh-CN" sz="1600" b="0" i="1" smtClean="0">
                            <a:solidFill>
                              <a:srgbClr val="070707"/>
                            </a:solidFill>
                            <a:latin typeface="Cambria Math" panose="02040503050406030204" pitchFamily="18" charset="0"/>
                            <a:ea typeface="微软雅黑" panose="020B0503020204020204" pitchFamily="34" charset="-122"/>
                          </a:rPr>
                        </m:ctrlPr>
                      </m:sSubSupPr>
                      <m:e>
                        <m:r>
                          <a:rPr lang="en-US" altLang="zh-CN" sz="1600" b="0" i="1" smtClean="0">
                            <a:solidFill>
                              <a:srgbClr val="070707"/>
                            </a:solidFill>
                            <a:latin typeface="Cambria Math" panose="02040503050406030204" pitchFamily="18" charset="0"/>
                            <a:ea typeface="微软雅黑" panose="020B0503020204020204" pitchFamily="34" charset="-122"/>
                          </a:rPr>
                          <m:t>𝑅</m:t>
                        </m:r>
                      </m:e>
                      <m:sub>
                        <m:r>
                          <a:rPr lang="en-US" altLang="zh-CN" sz="1600" b="0" i="1" smtClean="0">
                            <a:solidFill>
                              <a:srgbClr val="070707"/>
                            </a:solidFill>
                            <a:latin typeface="Cambria Math" panose="02040503050406030204" pitchFamily="18" charset="0"/>
                            <a:ea typeface="微软雅黑" panose="020B0503020204020204" pitchFamily="34" charset="-122"/>
                          </a:rPr>
                          <m:t>𝜃</m:t>
                        </m:r>
                        <m:r>
                          <a:rPr lang="en-US" altLang="zh-CN" sz="1600" b="0" i="1" smtClean="0">
                            <a:solidFill>
                              <a:srgbClr val="070707"/>
                            </a:solidFill>
                            <a:latin typeface="Cambria Math" panose="02040503050406030204" pitchFamily="18" charset="0"/>
                            <a:ea typeface="微软雅黑" panose="020B0503020204020204" pitchFamily="34" charset="-122"/>
                          </a:rPr>
                          <m:t>,</m:t>
                        </m:r>
                        <m:r>
                          <a:rPr lang="en-US" altLang="zh-CN" sz="1600" b="0" i="1" smtClean="0">
                            <a:solidFill>
                              <a:srgbClr val="070707"/>
                            </a:solidFill>
                            <a:latin typeface="Cambria Math" panose="02040503050406030204" pitchFamily="18" charset="0"/>
                            <a:ea typeface="微软雅黑" panose="020B0503020204020204" pitchFamily="34" charset="-122"/>
                          </a:rPr>
                          <m:t>𝑗</m:t>
                        </m:r>
                      </m:sub>
                      <m:sup>
                        <m:r>
                          <a:rPr lang="en-US" altLang="zh-CN" sz="1600" b="0" i="1" smtClean="0">
                            <a:solidFill>
                              <a:srgbClr val="070707"/>
                            </a:solidFill>
                            <a:latin typeface="Cambria Math" panose="02040503050406030204" pitchFamily="18" charset="0"/>
                            <a:ea typeface="微软雅黑" panose="020B0503020204020204" pitchFamily="34" charset="-122"/>
                          </a:rPr>
                          <m:t>𝑇</m:t>
                        </m:r>
                      </m:sup>
                    </m:sSubSup>
                    <m:r>
                      <a:rPr lang="en-US" altLang="zh-CN" sz="1600" b="0" i="1" smtClean="0">
                        <a:solidFill>
                          <a:srgbClr val="070707"/>
                        </a:solidFill>
                        <a:latin typeface="Cambria Math" panose="02040503050406030204" pitchFamily="18" charset="0"/>
                        <a:ea typeface="微软雅黑" panose="020B0503020204020204" pitchFamily="34" charset="-122"/>
                      </a:rPr>
                      <m:t>=</m:t>
                    </m:r>
                    <m:sSub>
                      <m:sSubPr>
                        <m:ctrlPr>
                          <a:rPr lang="en-US" altLang="zh-CN" sz="1600" b="0" i="1" smtClean="0">
                            <a:solidFill>
                              <a:srgbClr val="070707"/>
                            </a:solidFill>
                            <a:latin typeface="Cambria Math" panose="02040503050406030204" pitchFamily="18" charset="0"/>
                            <a:ea typeface="微软雅黑" panose="020B0503020204020204" pitchFamily="34" charset="-122"/>
                          </a:rPr>
                        </m:ctrlPr>
                      </m:sSubPr>
                      <m:e>
                        <m:r>
                          <a:rPr lang="en-US" altLang="zh-CN" sz="1600" b="0" i="1" smtClean="0">
                            <a:solidFill>
                              <a:srgbClr val="070707"/>
                            </a:solidFill>
                            <a:latin typeface="Cambria Math" panose="02040503050406030204" pitchFamily="18" charset="0"/>
                            <a:ea typeface="微软雅黑" panose="020B0503020204020204" pitchFamily="34" charset="-122"/>
                          </a:rPr>
                          <m:t>𝑅</m:t>
                        </m:r>
                      </m:e>
                      <m:sub>
                        <m:r>
                          <a:rPr lang="en-US" altLang="zh-CN" sz="1600" b="0" i="1" smtClean="0">
                            <a:solidFill>
                              <a:srgbClr val="070707"/>
                            </a:solidFill>
                            <a:latin typeface="Cambria Math" panose="02040503050406030204" pitchFamily="18" charset="0"/>
                            <a:ea typeface="微软雅黑" panose="020B0503020204020204" pitchFamily="34" charset="-122"/>
                          </a:rPr>
                          <m:t>𝜃</m:t>
                        </m:r>
                        <m:r>
                          <a:rPr lang="en-US" altLang="zh-CN" sz="1600" b="0" i="1" smtClean="0">
                            <a:solidFill>
                              <a:srgbClr val="070707"/>
                            </a:solidFill>
                            <a:latin typeface="Cambria Math" panose="02040503050406030204" pitchFamily="18" charset="0"/>
                            <a:ea typeface="微软雅黑" panose="020B0503020204020204" pitchFamily="34" charset="-122"/>
                          </a:rPr>
                          <m:t>,</m:t>
                        </m:r>
                        <m:r>
                          <a:rPr lang="en-US" altLang="zh-CN" sz="1600" b="0" i="1" smtClean="0">
                            <a:solidFill>
                              <a:srgbClr val="070707"/>
                            </a:solidFill>
                            <a:latin typeface="Cambria Math" panose="02040503050406030204" pitchFamily="18" charset="0"/>
                            <a:ea typeface="微软雅黑" panose="020B0503020204020204" pitchFamily="34" charset="-122"/>
                          </a:rPr>
                          <m:t>𝑖</m:t>
                        </m:r>
                        <m:r>
                          <a:rPr lang="en-US" altLang="zh-CN" sz="1600" b="0" i="1" smtClean="0">
                            <a:solidFill>
                              <a:srgbClr val="070707"/>
                            </a:solidFill>
                            <a:latin typeface="Cambria Math" panose="02040503050406030204" pitchFamily="18" charset="0"/>
                            <a:ea typeface="微软雅黑" panose="020B0503020204020204" pitchFamily="34" charset="-122"/>
                          </a:rPr>
                          <m:t>−</m:t>
                        </m:r>
                        <m:r>
                          <a:rPr lang="en-US" altLang="zh-CN" sz="1600" b="0" i="1" smtClean="0">
                            <a:solidFill>
                              <a:srgbClr val="070707"/>
                            </a:solidFill>
                            <a:latin typeface="Cambria Math" panose="02040503050406030204" pitchFamily="18" charset="0"/>
                            <a:ea typeface="微软雅黑" panose="020B0503020204020204" pitchFamily="34" charset="-122"/>
                          </a:rPr>
                          <m:t>𝑗</m:t>
                        </m:r>
                      </m:sub>
                    </m:sSub>
                  </m:oMath>
                </a14:m>
                <a:r>
                  <a:rPr lang="en-US" altLang="zh-CN" sz="1600" dirty="0">
                    <a:solidFill>
                      <a:srgbClr val="070707"/>
                    </a:solidFill>
                    <a:latin typeface="微软雅黑" panose="020B0503020204020204" pitchFamily="34" charset="-122"/>
                    <a:ea typeface="微软雅黑" panose="020B0503020204020204" pitchFamily="34" charset="-122"/>
                  </a:rPr>
                  <a:t>, </a:t>
                </a:r>
                <a:r>
                  <a:rPr lang="zh-CN" altLang="en-US" sz="1600" dirty="0">
                    <a:solidFill>
                      <a:srgbClr val="070707"/>
                    </a:solidFill>
                    <a:latin typeface="微软雅黑" panose="020B0503020204020204" pitchFamily="34" charset="-122"/>
                    <a:ea typeface="微软雅黑" panose="020B0503020204020204" pitchFamily="34" charset="-122"/>
                  </a:rPr>
                  <a:t>以下公式中为简洁用</a:t>
                </a:r>
                <a14:m>
                  <m:oMath xmlns:m="http://schemas.openxmlformats.org/officeDocument/2006/math">
                    <m:r>
                      <a:rPr lang="en-US" altLang="zh-CN" sz="1600" b="0" i="1" smtClean="0">
                        <a:solidFill>
                          <a:srgbClr val="070707"/>
                        </a:solidFill>
                        <a:latin typeface="Cambria Math" panose="02040503050406030204" pitchFamily="18" charset="0"/>
                        <a:ea typeface="微软雅黑" panose="020B0503020204020204" pitchFamily="34" charset="-122"/>
                      </a:rPr>
                      <m:t>𝐻</m:t>
                    </m:r>
                  </m:oMath>
                </a14:m>
                <a:r>
                  <a:rPr lang="zh-CN" altLang="en-US" sz="1600" dirty="0">
                    <a:solidFill>
                      <a:srgbClr val="070707"/>
                    </a:solidFill>
                    <a:latin typeface="微软雅黑" panose="020B0503020204020204" pitchFamily="34" charset="-122"/>
                    <a:ea typeface="微软雅黑" panose="020B0503020204020204" pitchFamily="34" charset="-122"/>
                  </a:rPr>
                  <a:t>代替</a:t>
                </a:r>
                <a14:m>
                  <m:oMath xmlns:m="http://schemas.openxmlformats.org/officeDocument/2006/math">
                    <m:sSub>
                      <m:sSubPr>
                        <m:ctrlPr>
                          <a:rPr lang="en-US" altLang="zh-CN" sz="1600" b="0" i="1" dirty="0" smtClean="0">
                            <a:solidFill>
                              <a:srgbClr val="070707"/>
                            </a:solidFill>
                            <a:latin typeface="Cambria Math" panose="02040503050406030204" pitchFamily="18" charset="0"/>
                            <a:ea typeface="微软雅黑" panose="020B0503020204020204" pitchFamily="34" charset="-122"/>
                          </a:rPr>
                        </m:ctrlPr>
                      </m:sSubPr>
                      <m:e>
                        <m:r>
                          <a:rPr lang="en-US" altLang="zh-CN" sz="1600" b="0" i="1" dirty="0" smtClean="0">
                            <a:solidFill>
                              <a:srgbClr val="070707"/>
                            </a:solidFill>
                            <a:latin typeface="Cambria Math" panose="02040503050406030204" pitchFamily="18" charset="0"/>
                            <a:ea typeface="微软雅黑" panose="020B0503020204020204" pitchFamily="34" charset="-122"/>
                          </a:rPr>
                          <m:t>𝑑</m:t>
                        </m:r>
                      </m:e>
                      <m:sub>
                        <m:r>
                          <a:rPr lang="en-US" altLang="zh-CN" sz="1600" b="0" i="1" dirty="0" smtClean="0">
                            <a:solidFill>
                              <a:srgbClr val="070707"/>
                            </a:solidFill>
                            <a:latin typeface="Cambria Math" panose="02040503050406030204" pitchFamily="18" charset="0"/>
                            <a:ea typeface="微软雅黑" panose="020B0503020204020204" pitchFamily="34" charset="-122"/>
                          </a:rPr>
                          <m:t>𝑚</m:t>
                        </m:r>
                      </m:sub>
                    </m:sSub>
                  </m:oMath>
                </a14:m>
                <a:r>
                  <a:rPr lang="en-US" altLang="zh-CN" sz="1600" dirty="0">
                    <a:solidFill>
                      <a:srgbClr val="070707"/>
                    </a:solidFill>
                    <a:latin typeface="微软雅黑" panose="020B0503020204020204" pitchFamily="34" charset="-122"/>
                    <a:ea typeface="微软雅黑" panose="020B0503020204020204" pitchFamily="34" charset="-122"/>
                  </a:rPr>
                  <a:t>.</a:t>
                </a:r>
              </a:p>
              <a:p>
                <a:pPr>
                  <a:lnSpc>
                    <a:spcPct val="125000"/>
                  </a:lnSpc>
                  <a:spcBef>
                    <a:spcPts val="600"/>
                  </a:spcBef>
                </a:pPr>
                <a:endParaRPr lang="en-US" altLang="zh-CN" sz="1600" dirty="0">
                  <a:solidFill>
                    <a:srgbClr val="070707"/>
                  </a:solidFill>
                  <a:latin typeface="微软雅黑" panose="020B0503020204020204" pitchFamily="34" charset="-122"/>
                  <a:ea typeface="微软雅黑" panose="020B0503020204020204" pitchFamily="34" charset="-122"/>
                </a:endParaRPr>
              </a:p>
              <a:p>
                <a:pPr>
                  <a:lnSpc>
                    <a:spcPct val="125000"/>
                  </a:lnSpc>
                  <a:spcBef>
                    <a:spcPts val="600"/>
                  </a:spcBef>
                </a:pPr>
                <a:endParaRPr lang="en-US" altLang="zh-CN" sz="1600" dirty="0">
                  <a:solidFill>
                    <a:srgbClr val="070707"/>
                  </a:solidFill>
                  <a:latin typeface="微软雅黑" panose="020B0503020204020204" pitchFamily="34" charset="-122"/>
                  <a:ea typeface="微软雅黑" panose="020B0503020204020204" pitchFamily="34" charset="-122"/>
                </a:endParaRPr>
              </a:p>
              <a:p>
                <a:pPr>
                  <a:lnSpc>
                    <a:spcPct val="125000"/>
                  </a:lnSpc>
                  <a:spcBef>
                    <a:spcPts val="600"/>
                  </a:spcBef>
                </a:pPr>
                <a:endParaRPr lang="en-US" altLang="zh-CN" sz="1600" dirty="0">
                  <a:solidFill>
                    <a:srgbClr val="070707"/>
                  </a:solidFill>
                  <a:latin typeface="微软雅黑" panose="020B0503020204020204" pitchFamily="34" charset="-122"/>
                  <a:ea typeface="微软雅黑" panose="020B0503020204020204" pitchFamily="34" charset="-122"/>
                </a:endParaRPr>
              </a:p>
              <a:p>
                <a:pPr>
                  <a:lnSpc>
                    <a:spcPct val="125000"/>
                  </a:lnSpc>
                  <a:spcBef>
                    <a:spcPts val="600"/>
                  </a:spcBef>
                </a:pPr>
                <a:endParaRPr lang="en-US" altLang="zh-CN" sz="1600" dirty="0">
                  <a:solidFill>
                    <a:srgbClr val="070707"/>
                  </a:solidFill>
                  <a:latin typeface="微软雅黑" panose="020B0503020204020204" pitchFamily="34" charset="-122"/>
                  <a:ea typeface="微软雅黑" panose="020B0503020204020204" pitchFamily="34" charset="-122"/>
                </a:endParaRPr>
              </a:p>
              <a:p>
                <a:pPr>
                  <a:lnSpc>
                    <a:spcPct val="125000"/>
                  </a:lnSpc>
                  <a:spcBef>
                    <a:spcPts val="600"/>
                  </a:spcBef>
                </a:pPr>
                <a:endParaRPr lang="en-US" altLang="zh-CN" sz="1600" dirty="0">
                  <a:solidFill>
                    <a:srgbClr val="070707"/>
                  </a:solidFill>
                  <a:latin typeface="微软雅黑" panose="020B0503020204020204" pitchFamily="34" charset="-122"/>
                  <a:ea typeface="微软雅黑" panose="020B0503020204020204" pitchFamily="34" charset="-122"/>
                </a:endParaRPr>
              </a:p>
              <a:p>
                <a:pPr>
                  <a:lnSpc>
                    <a:spcPct val="125000"/>
                  </a:lnSpc>
                  <a:spcBef>
                    <a:spcPts val="600"/>
                  </a:spcBef>
                </a:pPr>
                <a:endParaRPr lang="en-US" altLang="zh-CN" sz="1600" dirty="0">
                  <a:solidFill>
                    <a:srgbClr val="070707"/>
                  </a:solidFill>
                  <a:latin typeface="微软雅黑" panose="020B0503020204020204" pitchFamily="34" charset="-122"/>
                  <a:ea typeface="微软雅黑" panose="020B0503020204020204" pitchFamily="34" charset="-122"/>
                </a:endParaRPr>
              </a:p>
              <a:p>
                <a:pPr>
                  <a:lnSpc>
                    <a:spcPct val="125000"/>
                  </a:lnSpc>
                  <a:spcBef>
                    <a:spcPts val="600"/>
                  </a:spcBef>
                </a:pPr>
                <a:endParaRPr lang="en-US" altLang="zh-CN" sz="1600" dirty="0">
                  <a:solidFill>
                    <a:srgbClr val="070707"/>
                  </a:solidFill>
                  <a:latin typeface="微软雅黑" panose="020B0503020204020204" pitchFamily="34" charset="-122"/>
                  <a:ea typeface="微软雅黑" panose="020B0503020204020204" pitchFamily="34" charset="-122"/>
                </a:endParaRPr>
              </a:p>
              <a:p>
                <a:pPr>
                  <a:lnSpc>
                    <a:spcPct val="125000"/>
                  </a:lnSpc>
                  <a:spcBef>
                    <a:spcPts val="600"/>
                  </a:spcBef>
                </a:pPr>
                <a:endParaRPr lang="en-US" altLang="zh-CN" sz="1600" dirty="0">
                  <a:solidFill>
                    <a:srgbClr val="070707"/>
                  </a:solidFill>
                  <a:latin typeface="微软雅黑" panose="020B0503020204020204" pitchFamily="34" charset="-122"/>
                  <a:ea typeface="微软雅黑" panose="020B0503020204020204" pitchFamily="34" charset="-122"/>
                </a:endParaRPr>
              </a:p>
            </p:txBody>
          </p:sp>
        </mc:Choice>
        <mc:Fallback xmlns="">
          <p:sp>
            <p:nvSpPr>
              <p:cNvPr id="2" name="文本框 1">
                <a:extLst>
                  <a:ext uri="{FF2B5EF4-FFF2-40B4-BE49-F238E27FC236}">
                    <a16:creationId xmlns:a16="http://schemas.microsoft.com/office/drawing/2014/main" id="{172944AB-4014-813D-B299-22DEEDCF38C7}"/>
                  </a:ext>
                </a:extLst>
              </p:cNvPr>
              <p:cNvSpPr txBox="1">
                <a:spLocks noRot="1" noChangeAspect="1" noMove="1" noResize="1" noEditPoints="1" noAdjustHandles="1" noChangeArrowheads="1" noChangeShapeType="1" noTextEdit="1"/>
              </p:cNvSpPr>
              <p:nvPr/>
            </p:nvSpPr>
            <p:spPr>
              <a:xfrm>
                <a:off x="2294246" y="854598"/>
                <a:ext cx="8051165" cy="4903458"/>
              </a:xfrm>
              <a:prstGeom prst="rect">
                <a:avLst/>
              </a:prstGeom>
              <a:blipFill>
                <a:blip r:embed="rId2"/>
                <a:stretch>
                  <a:fillRect l="-787" r="-472"/>
                </a:stretch>
              </a:blipFill>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539104A3-922C-9DB1-E78B-F227E9AEC579}"/>
              </a:ext>
            </a:extLst>
          </p:cNvPr>
          <p:cNvSpPr txBox="1"/>
          <p:nvPr/>
        </p:nvSpPr>
        <p:spPr>
          <a:xfrm>
            <a:off x="126998" y="6351998"/>
            <a:ext cx="11595375" cy="376834"/>
          </a:xfrm>
          <a:prstGeom prst="rect">
            <a:avLst/>
          </a:prstGeom>
          <a:noFill/>
        </p:spPr>
        <p:txBody>
          <a:bodyPr wrap="square" rtlCol="0">
            <a:spAutoFit/>
          </a:bodyPr>
          <a:lstStyle/>
          <a:p>
            <a:pPr algn="l">
              <a:lnSpc>
                <a:spcPct val="150000"/>
              </a:lnSpc>
            </a:pP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 Su et al., </a:t>
            </a:r>
            <a:r>
              <a:rPr lang="en-US" altLang="zh-CN" sz="1400"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Roformer</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Enhanced transformer with rotary position embedding. In: Neurocomputing. 2024.</a:t>
            </a:r>
            <a:endParaRPr lang="en-US"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 name="图片 4">
            <a:extLst>
              <a:ext uri="{FF2B5EF4-FFF2-40B4-BE49-F238E27FC236}">
                <a16:creationId xmlns:a16="http://schemas.microsoft.com/office/drawing/2014/main" id="{D950B3EB-2617-8CF4-5CCC-762964B39A6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3981475" y="2623386"/>
            <a:ext cx="4676705" cy="713691"/>
          </a:xfrm>
          <a:prstGeom prst="rect">
            <a:avLst/>
          </a:prstGeom>
        </p:spPr>
      </p:pic>
      <p:pic>
        <p:nvPicPr>
          <p:cNvPr id="8" name="图片 7">
            <a:extLst>
              <a:ext uri="{FF2B5EF4-FFF2-40B4-BE49-F238E27FC236}">
                <a16:creationId xmlns:a16="http://schemas.microsoft.com/office/drawing/2014/main" id="{D33B4053-37CE-CDAC-B954-7F4B2EDD927D}"/>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278658" y="3337077"/>
            <a:ext cx="5570711" cy="2141373"/>
          </a:xfrm>
          <a:prstGeom prst="rect">
            <a:avLst/>
          </a:prstGeom>
        </p:spPr>
      </p:pic>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83481C3D-E2E6-2064-2275-D9CBA7335A79}"/>
                  </a:ext>
                </a:extLst>
              </p:cNvPr>
              <p:cNvSpPr txBox="1"/>
              <p:nvPr/>
            </p:nvSpPr>
            <p:spPr>
              <a:xfrm>
                <a:off x="2294247" y="5575564"/>
                <a:ext cx="7932952" cy="720710"/>
              </a:xfrm>
              <a:prstGeom prst="rect">
                <a:avLst/>
              </a:prstGeom>
              <a:noFill/>
            </p:spPr>
            <p:txBody>
              <a:bodyPr wrap="square">
                <a:spAutoFit/>
              </a:bodyPr>
              <a:lstStyle/>
              <a:p>
                <a:pPr>
                  <a:lnSpc>
                    <a:spcPct val="125000"/>
                  </a:lnSpc>
                  <a:spcBef>
                    <a:spcPts val="600"/>
                  </a:spcBef>
                </a:pPr>
                <a:r>
                  <a:rPr lang="zh-CN" altLang="en-US" sz="1600" dirty="0">
                    <a:solidFill>
                      <a:srgbClr val="070707"/>
                    </a:solidFill>
                    <a:latin typeface="微软雅黑" panose="020B0503020204020204" pitchFamily="34" charset="-122"/>
                    <a:ea typeface="微软雅黑" panose="020B0503020204020204" pitchFamily="34" charset="-122"/>
                  </a:rPr>
                  <a:t>与正弦位置嵌入类似，</a:t>
                </a:r>
                <a:r>
                  <a:rPr lang="en-US" altLang="zh-CN" sz="1600" dirty="0" err="1">
                    <a:solidFill>
                      <a:srgbClr val="070707"/>
                    </a:solidFill>
                    <a:latin typeface="微软雅黑" panose="020B0503020204020204" pitchFamily="34" charset="-122"/>
                    <a:ea typeface="微软雅黑" panose="020B0503020204020204" pitchFamily="34" charset="-122"/>
                  </a:rPr>
                  <a:t>RoPE</a:t>
                </a:r>
                <a:r>
                  <a:rPr lang="zh-CN" altLang="en-US" sz="1600" dirty="0">
                    <a:solidFill>
                      <a:srgbClr val="070707"/>
                    </a:solidFill>
                    <a:latin typeface="微软雅黑" panose="020B0503020204020204" pitchFamily="34" charset="-122"/>
                    <a:ea typeface="微软雅黑" panose="020B0503020204020204" pitchFamily="34" charset="-122"/>
                  </a:rPr>
                  <a:t>将基</a:t>
                </a:r>
                <a14:m>
                  <m:oMath xmlns:m="http://schemas.openxmlformats.org/officeDocument/2006/math">
                    <m:sSub>
                      <m:sSubPr>
                        <m:ctrlPr>
                          <a:rPr lang="en-US" altLang="zh-CN" sz="1600" b="0" i="1" smtClean="0">
                            <a:solidFill>
                              <a:srgbClr val="070707"/>
                            </a:solidFill>
                            <a:latin typeface="Cambria Math" panose="02040503050406030204" pitchFamily="18" charset="0"/>
                            <a:ea typeface="微软雅黑" panose="020B0503020204020204" pitchFamily="34" charset="-122"/>
                          </a:rPr>
                        </m:ctrlPr>
                      </m:sSubPr>
                      <m:e>
                        <m:r>
                          <a:rPr lang="en-US" altLang="zh-CN" sz="1600" b="0" i="1" smtClean="0">
                            <a:solidFill>
                              <a:srgbClr val="070707"/>
                            </a:solidFill>
                            <a:latin typeface="Cambria Math" panose="02040503050406030204" pitchFamily="18" charset="0"/>
                            <a:ea typeface="微软雅黑" panose="020B0503020204020204" pitchFamily="34" charset="-122"/>
                          </a:rPr>
                          <m:t>𝜃</m:t>
                        </m:r>
                      </m:e>
                      <m:sub>
                        <m:r>
                          <a:rPr lang="en-US" altLang="zh-CN" sz="1600" b="0" i="1" smtClean="0">
                            <a:solidFill>
                              <a:srgbClr val="070707"/>
                            </a:solidFill>
                            <a:latin typeface="Cambria Math" panose="02040503050406030204" pitchFamily="18" charset="0"/>
                            <a:ea typeface="微软雅黑" panose="020B0503020204020204" pitchFamily="34" charset="-122"/>
                          </a:rPr>
                          <m:t>𝑖</m:t>
                        </m:r>
                      </m:sub>
                    </m:sSub>
                  </m:oMath>
                </a14:m>
                <a:r>
                  <a:rPr lang="zh-CN" altLang="en-US" sz="1600" dirty="0">
                    <a:solidFill>
                      <a:srgbClr val="070707"/>
                    </a:solidFill>
                    <a:latin typeface="微软雅黑" panose="020B0503020204020204" pitchFamily="34" charset="-122"/>
                    <a:ea typeface="微软雅黑" panose="020B0503020204020204" pitchFamily="34" charset="-122"/>
                  </a:rPr>
                  <a:t>定义为底数</a:t>
                </a:r>
                <a14:m>
                  <m:oMath xmlns:m="http://schemas.openxmlformats.org/officeDocument/2006/math">
                    <m:r>
                      <a:rPr lang="en-US" altLang="zh-CN" sz="1600" b="0" i="1" smtClean="0">
                        <a:solidFill>
                          <a:srgbClr val="070707"/>
                        </a:solidFill>
                        <a:latin typeface="Cambria Math" panose="02040503050406030204" pitchFamily="18" charset="0"/>
                        <a:ea typeface="微软雅黑" panose="020B0503020204020204" pitchFamily="34" charset="-122"/>
                      </a:rPr>
                      <m:t>𝑏</m:t>
                    </m:r>
                  </m:oMath>
                </a14:m>
                <a:r>
                  <a:rPr lang="zh-CN" altLang="en-US" sz="1600" dirty="0">
                    <a:solidFill>
                      <a:srgbClr val="070707"/>
                    </a:solidFill>
                    <a:latin typeface="微软雅黑" panose="020B0503020204020204" pitchFamily="34" charset="-122"/>
                    <a:ea typeface="微软雅黑" panose="020B0503020204020204" pitchFamily="34" charset="-122"/>
                  </a:rPr>
                  <a:t>（默认值是</a:t>
                </a:r>
                <a:r>
                  <a:rPr lang="en-US" altLang="zh-CN" sz="1600" dirty="0">
                    <a:solidFill>
                      <a:srgbClr val="070707"/>
                    </a:solidFill>
                    <a:latin typeface="微软雅黑" panose="020B0503020204020204" pitchFamily="34" charset="-122"/>
                    <a:ea typeface="微软雅黑" panose="020B0503020204020204" pitchFamily="34" charset="-122"/>
                  </a:rPr>
                  <a:t>10000</a:t>
                </a:r>
                <a:r>
                  <a:rPr lang="zh-CN" altLang="en-US" sz="1600" dirty="0">
                    <a:solidFill>
                      <a:srgbClr val="070707"/>
                    </a:solidFill>
                    <a:latin typeface="微软雅黑" panose="020B0503020204020204" pitchFamily="34" charset="-122"/>
                    <a:ea typeface="微软雅黑" panose="020B0503020204020204" pitchFamily="34" charset="-122"/>
                  </a:rPr>
                  <a:t>）的指数</a:t>
                </a:r>
                <a:r>
                  <a:rPr lang="en-US" altLang="zh-CN" sz="1600" dirty="0">
                    <a:solidFill>
                      <a:srgbClr val="070707"/>
                    </a:solidFill>
                    <a:latin typeface="微软雅黑" panose="020B0503020204020204" pitchFamily="34" charset="-122"/>
                    <a:ea typeface="微软雅黑" panose="020B0503020204020204" pitchFamily="34" charset="-122"/>
                  </a:rPr>
                  <a:t>:</a:t>
                </a:r>
                <a:endParaRPr lang="en-US" altLang="zh-CN" sz="1600" b="0" i="1" dirty="0">
                  <a:solidFill>
                    <a:srgbClr val="070707"/>
                  </a:solidFill>
                  <a:latin typeface="Cambria Math" panose="02040503050406030204" pitchFamily="18" charset="0"/>
                  <a:ea typeface="微软雅黑" panose="020B0503020204020204" pitchFamily="34" charset="-122"/>
                </a:endParaRPr>
              </a:p>
              <a:p>
                <a:pPr>
                  <a:lnSpc>
                    <a:spcPct val="125000"/>
                  </a:lnSpc>
                  <a:spcBef>
                    <a:spcPts val="600"/>
                  </a:spcBef>
                </a:pPr>
                <a14:m>
                  <m:oMathPara xmlns:m="http://schemas.openxmlformats.org/officeDocument/2006/math">
                    <m:oMathParaPr>
                      <m:jc m:val="centerGroup"/>
                    </m:oMathParaPr>
                    <m:oMath xmlns:m="http://schemas.openxmlformats.org/officeDocument/2006/math">
                      <m:sSub>
                        <m:sSubPr>
                          <m:ctrlPr>
                            <a:rPr lang="en-US" altLang="zh-CN" sz="1600" b="0" i="1" smtClean="0">
                              <a:solidFill>
                                <a:srgbClr val="070707"/>
                              </a:solidFill>
                              <a:latin typeface="Cambria Math" panose="02040503050406030204" pitchFamily="18" charset="0"/>
                              <a:ea typeface="微软雅黑" panose="020B0503020204020204" pitchFamily="34" charset="-122"/>
                            </a:rPr>
                          </m:ctrlPr>
                        </m:sSubPr>
                        <m:e>
                          <m:r>
                            <a:rPr lang="en-US" altLang="zh-CN" sz="1600" b="0" i="1" smtClean="0">
                              <a:solidFill>
                                <a:srgbClr val="070707"/>
                              </a:solidFill>
                              <a:latin typeface="Cambria Math" panose="02040503050406030204" pitchFamily="18" charset="0"/>
                              <a:ea typeface="微软雅黑" panose="020B0503020204020204" pitchFamily="34" charset="-122"/>
                            </a:rPr>
                            <m:t>𝜃</m:t>
                          </m:r>
                        </m:e>
                        <m:sub>
                          <m:r>
                            <a:rPr lang="en-US" altLang="zh-CN" sz="1600" b="0" i="1" smtClean="0">
                              <a:solidFill>
                                <a:srgbClr val="070707"/>
                              </a:solidFill>
                              <a:latin typeface="Cambria Math" panose="02040503050406030204" pitchFamily="18" charset="0"/>
                              <a:ea typeface="微软雅黑" panose="020B0503020204020204" pitchFamily="34" charset="-122"/>
                            </a:rPr>
                            <m:t>𝑖</m:t>
                          </m:r>
                        </m:sub>
                      </m:sSub>
                      <m:r>
                        <a:rPr lang="en-US" altLang="zh-CN" sz="1600" b="0" i="1" smtClean="0">
                          <a:solidFill>
                            <a:srgbClr val="070707"/>
                          </a:solidFill>
                          <a:latin typeface="Cambria Math" panose="02040503050406030204" pitchFamily="18" charset="0"/>
                          <a:ea typeface="微软雅黑" panose="020B0503020204020204" pitchFamily="34" charset="-122"/>
                        </a:rPr>
                        <m:t>=</m:t>
                      </m:r>
                      <m:sSup>
                        <m:sSupPr>
                          <m:ctrlPr>
                            <a:rPr lang="en-US" altLang="zh-CN" sz="1600" b="0" i="1" smtClean="0">
                              <a:solidFill>
                                <a:srgbClr val="070707"/>
                              </a:solidFill>
                              <a:latin typeface="Cambria Math" panose="02040503050406030204" pitchFamily="18" charset="0"/>
                              <a:ea typeface="微软雅黑" panose="020B0503020204020204" pitchFamily="34" charset="-122"/>
                            </a:rPr>
                          </m:ctrlPr>
                        </m:sSupPr>
                        <m:e>
                          <m:r>
                            <a:rPr lang="en-US" altLang="zh-CN" sz="1600" b="0" i="1" smtClean="0">
                              <a:solidFill>
                                <a:srgbClr val="070707"/>
                              </a:solidFill>
                              <a:latin typeface="Cambria Math" panose="02040503050406030204" pitchFamily="18" charset="0"/>
                              <a:ea typeface="微软雅黑" panose="020B0503020204020204" pitchFamily="34" charset="-122"/>
                            </a:rPr>
                            <m:t>𝑏</m:t>
                          </m:r>
                        </m:e>
                        <m:sup>
                          <m:r>
                            <a:rPr lang="en-US" altLang="zh-CN" sz="1600" b="0" i="1" smtClean="0">
                              <a:solidFill>
                                <a:srgbClr val="070707"/>
                              </a:solidFill>
                              <a:latin typeface="Cambria Math" panose="02040503050406030204" pitchFamily="18" charset="0"/>
                              <a:ea typeface="微软雅黑" panose="020B0503020204020204" pitchFamily="34" charset="-122"/>
                            </a:rPr>
                            <m:t>−2(</m:t>
                          </m:r>
                          <m:r>
                            <a:rPr lang="en-US" altLang="zh-CN" sz="1600" b="0" i="1" smtClean="0">
                              <a:solidFill>
                                <a:srgbClr val="070707"/>
                              </a:solidFill>
                              <a:latin typeface="Cambria Math" panose="02040503050406030204" pitchFamily="18" charset="0"/>
                              <a:ea typeface="微软雅黑" panose="020B0503020204020204" pitchFamily="34" charset="-122"/>
                            </a:rPr>
                            <m:t>𝑖</m:t>
                          </m:r>
                          <m:r>
                            <a:rPr lang="en-US" altLang="zh-CN" sz="1600" b="0" i="1" smtClean="0">
                              <a:solidFill>
                                <a:srgbClr val="070707"/>
                              </a:solidFill>
                              <a:latin typeface="Cambria Math" panose="02040503050406030204" pitchFamily="18" charset="0"/>
                              <a:ea typeface="微软雅黑" panose="020B0503020204020204" pitchFamily="34" charset="-122"/>
                            </a:rPr>
                            <m:t>−1)/</m:t>
                          </m:r>
                          <m:r>
                            <a:rPr lang="en-US" altLang="zh-CN" sz="1600" b="0" i="1" smtClean="0">
                              <a:solidFill>
                                <a:srgbClr val="070707"/>
                              </a:solidFill>
                              <a:latin typeface="Cambria Math" panose="02040503050406030204" pitchFamily="18" charset="0"/>
                              <a:ea typeface="微软雅黑" panose="020B0503020204020204" pitchFamily="34" charset="-122"/>
                            </a:rPr>
                            <m:t>𝐻</m:t>
                          </m:r>
                        </m:sup>
                      </m:sSup>
                      <m:r>
                        <a:rPr lang="en-US" altLang="zh-CN" sz="1600" b="0" i="1" smtClean="0">
                          <a:solidFill>
                            <a:srgbClr val="070707"/>
                          </a:solidFill>
                          <a:latin typeface="Cambria Math" panose="02040503050406030204" pitchFamily="18" charset="0"/>
                          <a:ea typeface="微软雅黑" panose="020B0503020204020204" pitchFamily="34" charset="-122"/>
                        </a:rPr>
                        <m:t>, </m:t>
                      </m:r>
                      <m:r>
                        <a:rPr lang="en-US" altLang="zh-CN" sz="1600" b="0" i="1" smtClean="0">
                          <a:solidFill>
                            <a:srgbClr val="070707"/>
                          </a:solidFill>
                          <a:latin typeface="Cambria Math" panose="02040503050406030204" pitchFamily="18" charset="0"/>
                          <a:ea typeface="微软雅黑" panose="020B0503020204020204" pitchFamily="34" charset="-122"/>
                        </a:rPr>
                        <m:t>𝑖</m:t>
                      </m:r>
                      <m:r>
                        <a:rPr lang="en-US" altLang="zh-CN" sz="1600" b="0" i="1" smtClean="0">
                          <a:solidFill>
                            <a:srgbClr val="070707"/>
                          </a:solidFill>
                          <a:latin typeface="Cambria Math" panose="02040503050406030204" pitchFamily="18" charset="0"/>
                          <a:ea typeface="微软雅黑" panose="020B0503020204020204" pitchFamily="34" charset="-122"/>
                        </a:rPr>
                        <m:t>=1,2,⋯,</m:t>
                      </m:r>
                      <m:r>
                        <a:rPr lang="en-US" altLang="zh-CN" sz="1600" b="0" i="1" smtClean="0">
                          <a:solidFill>
                            <a:srgbClr val="070707"/>
                          </a:solidFill>
                          <a:latin typeface="Cambria Math" panose="02040503050406030204" pitchFamily="18" charset="0"/>
                          <a:ea typeface="微软雅黑" panose="020B0503020204020204" pitchFamily="34" charset="-122"/>
                        </a:rPr>
                        <m:t>𝐻</m:t>
                      </m:r>
                      <m:r>
                        <a:rPr lang="en-US" altLang="zh-CN" sz="1600" b="0" i="1" smtClean="0">
                          <a:solidFill>
                            <a:srgbClr val="070707"/>
                          </a:solidFill>
                          <a:latin typeface="Cambria Math" panose="02040503050406030204" pitchFamily="18" charset="0"/>
                          <a:ea typeface="微软雅黑" panose="020B0503020204020204" pitchFamily="34" charset="-122"/>
                        </a:rPr>
                        <m:t>/2</m:t>
                      </m:r>
                    </m:oMath>
                  </m:oMathPara>
                </a14:m>
                <a:endParaRPr lang="en-US" altLang="zh-CN" sz="1600" dirty="0">
                  <a:solidFill>
                    <a:srgbClr val="070707"/>
                  </a:solidFill>
                  <a:latin typeface="微软雅黑" panose="020B0503020204020204" pitchFamily="34" charset="-122"/>
                  <a:ea typeface="微软雅黑" panose="020B0503020204020204" pitchFamily="34" charset="-122"/>
                </a:endParaRPr>
              </a:p>
            </p:txBody>
          </p:sp>
        </mc:Choice>
        <mc:Fallback xmlns="">
          <p:sp>
            <p:nvSpPr>
              <p:cNvPr id="10" name="文本框 9">
                <a:extLst>
                  <a:ext uri="{FF2B5EF4-FFF2-40B4-BE49-F238E27FC236}">
                    <a16:creationId xmlns:a16="http://schemas.microsoft.com/office/drawing/2014/main" id="{83481C3D-E2E6-2064-2275-D9CBA7335A79}"/>
                  </a:ext>
                </a:extLst>
              </p:cNvPr>
              <p:cNvSpPr txBox="1">
                <a:spLocks noRot="1" noChangeAspect="1" noMove="1" noResize="1" noEditPoints="1" noAdjustHandles="1" noChangeArrowheads="1" noChangeShapeType="1" noTextEdit="1"/>
              </p:cNvSpPr>
              <p:nvPr/>
            </p:nvSpPr>
            <p:spPr>
              <a:xfrm>
                <a:off x="2294247" y="5575564"/>
                <a:ext cx="7932952" cy="720710"/>
              </a:xfrm>
              <a:prstGeom prst="rect">
                <a:avLst/>
              </a:prstGeom>
              <a:blipFill>
                <a:blip r:embed="rId5"/>
                <a:stretch>
                  <a:fillRect l="-31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93603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注意力机制</a:t>
            </a:r>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stretch>
            <a:fillRect/>
          </a:stretch>
        </p:blipFill>
        <p:spPr>
          <a:xfrm>
            <a:off x="345082" y="781382"/>
            <a:ext cx="11673954" cy="2727934"/>
          </a:xfrm>
          <a:prstGeom prst="rect">
            <a:avLst/>
          </a:prstGeom>
        </p:spPr>
      </p:pic>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11C1AD38-BD3D-1044-7F5C-EE993F35AB5C}"/>
                  </a:ext>
                </a:extLst>
              </p:cNvPr>
              <p:cNvSpPr txBox="1"/>
              <p:nvPr/>
            </p:nvSpPr>
            <p:spPr>
              <a:xfrm>
                <a:off x="825601" y="3453288"/>
                <a:ext cx="10985157" cy="2686120"/>
              </a:xfrm>
              <a:prstGeom prst="rect">
                <a:avLst/>
              </a:prstGeom>
              <a:noFill/>
            </p:spPr>
            <p:txBody>
              <a:bodyPr wrap="square" rtlCol="0">
                <a:spAutoFit/>
              </a:bodyPr>
              <a:lstStyle/>
              <a:p>
                <a:pPr algn="l"/>
                <a:r>
                  <a:rPr kumimoji="1" lang="zh-CN" altLang="en-US" sz="2400" dirty="0">
                    <a:solidFill>
                      <a:schemeClr val="tx2"/>
                    </a:solidFill>
                  </a:rPr>
                  <a:t>第一步：计算词与词之间的关联，以</a:t>
                </a:r>
                <a14:m>
                  <m:oMath xmlns:m="http://schemas.openxmlformats.org/officeDocument/2006/math">
                    <m:sSub>
                      <m:sSubPr>
                        <m:ctrlPr>
                          <a:rPr kumimoji="1" lang="en-US" altLang="zh-CN" sz="2400" b="0" i="1" smtClean="0">
                            <a:solidFill>
                              <a:schemeClr val="tx2"/>
                            </a:solidFill>
                            <a:latin typeface="Cambria Math" panose="02040503050406030204" pitchFamily="18" charset="0"/>
                          </a:rPr>
                        </m:ctrlPr>
                      </m:sSubPr>
                      <m:e>
                        <m:r>
                          <a:rPr kumimoji="1" lang="en-US" altLang="zh-CN" sz="2400" b="0" i="1" smtClean="0">
                            <a:solidFill>
                              <a:schemeClr val="tx2"/>
                            </a:solidFill>
                            <a:latin typeface="Cambria Math" panose="02040503050406030204" pitchFamily="18" charset="0"/>
                          </a:rPr>
                          <m:t>𝑥</m:t>
                        </m:r>
                      </m:e>
                      <m:sub>
                        <m:r>
                          <a:rPr kumimoji="1" lang="en-US" altLang="zh-CN" sz="2400" b="0" i="1" smtClean="0">
                            <a:solidFill>
                              <a:schemeClr val="tx2"/>
                            </a:solidFill>
                            <a:latin typeface="Cambria Math" panose="02040503050406030204" pitchFamily="18" charset="0"/>
                          </a:rPr>
                          <m:t>1</m:t>
                        </m:r>
                      </m:sub>
                    </m:sSub>
                    <m:r>
                      <a:rPr kumimoji="1" lang="en-US" altLang="zh-CN" sz="2400" b="0" i="1" smtClean="0">
                        <a:solidFill>
                          <a:schemeClr val="tx2"/>
                        </a:solidFill>
                        <a:latin typeface="Cambria Math" panose="02040503050406030204" pitchFamily="18" charset="0"/>
                      </a:rPr>
                      <m:t>∈</m:t>
                    </m:r>
                    <m:sSup>
                      <m:sSupPr>
                        <m:ctrlPr>
                          <a:rPr kumimoji="1" lang="en-US" altLang="zh-CN" sz="2400" b="0" i="1" smtClean="0">
                            <a:solidFill>
                              <a:schemeClr val="tx2"/>
                            </a:solidFill>
                            <a:latin typeface="Cambria Math" panose="02040503050406030204" pitchFamily="18" charset="0"/>
                          </a:rPr>
                        </m:ctrlPr>
                      </m:sSupPr>
                      <m:e>
                        <m:r>
                          <a:rPr kumimoji="1" lang="en-US" altLang="zh-CN" sz="2400" b="0" i="1" smtClean="0">
                            <a:solidFill>
                              <a:schemeClr val="tx2"/>
                            </a:solidFill>
                            <a:latin typeface="Cambria Math" panose="02040503050406030204" pitchFamily="18" charset="0"/>
                          </a:rPr>
                          <m:t>𝑅</m:t>
                        </m:r>
                      </m:e>
                      <m:sup>
                        <m:r>
                          <a:rPr kumimoji="1" lang="en-US" altLang="zh-CN" sz="2400" b="0" i="1" smtClean="0">
                            <a:solidFill>
                              <a:schemeClr val="tx2"/>
                            </a:solidFill>
                            <a:latin typeface="Cambria Math" panose="02040503050406030204" pitchFamily="18" charset="0"/>
                          </a:rPr>
                          <m:t>𝑑</m:t>
                        </m:r>
                      </m:sup>
                    </m:sSup>
                  </m:oMath>
                </a14:m>
                <a:r>
                  <a:rPr kumimoji="1" lang="zh-CN" altLang="en-US" sz="2400" dirty="0">
                    <a:solidFill>
                      <a:schemeClr val="tx2"/>
                    </a:solidFill>
                  </a:rPr>
                  <a:t>为例</a:t>
                </a:r>
                <a:endParaRPr kumimoji="1" lang="en-US" altLang="zh-CN" sz="2400" dirty="0">
                  <a:solidFill>
                    <a:schemeClr val="tx2"/>
                  </a:solidFill>
                </a:endParaRPr>
              </a:p>
              <a:p>
                <a:pPr algn="l"/>
                <a:endParaRPr kumimoji="1" lang="en-US" altLang="zh-CN" dirty="0"/>
              </a:p>
              <a:p>
                <a:r>
                  <a:rPr kumimoji="1" lang="en-US" altLang="zh-CN" sz="2000" dirty="0"/>
                  <a:t>	</a:t>
                </a:r>
                <a14:m>
                  <m:oMath xmlns:m="http://schemas.openxmlformats.org/officeDocument/2006/math">
                    <m:r>
                      <a:rPr kumimoji="1" lang="en-US" altLang="zh-CN" sz="2800" i="1">
                        <a:latin typeface="Cambria Math" panose="02040503050406030204" pitchFamily="18" charset="0"/>
                      </a:rPr>
                      <m:t>𝑐𝑜𝑣</m:t>
                    </m:r>
                    <m:d>
                      <m:dPr>
                        <m:ctrlPr>
                          <a:rPr kumimoji="1" lang="en-US" altLang="zh-CN" sz="2800" i="1">
                            <a:latin typeface="Cambria Math" panose="02040503050406030204" pitchFamily="18" charset="0"/>
                          </a:rPr>
                        </m:ctrlPr>
                      </m:dPr>
                      <m:e>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i="1">
                                <a:latin typeface="Cambria Math" panose="02040503050406030204" pitchFamily="18" charset="0"/>
                              </a:rPr>
                              <m:t>1</m:t>
                            </m:r>
                          </m:sub>
                        </m:sSub>
                        <m:r>
                          <a:rPr kumimoji="1" lang="en-US" altLang="zh-CN" sz="2800" i="1">
                            <a:latin typeface="Cambria Math" panose="02040503050406030204" pitchFamily="18" charset="0"/>
                          </a:rPr>
                          <m:t>,</m:t>
                        </m:r>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i="1">
                                <a:latin typeface="Cambria Math" panose="02040503050406030204" pitchFamily="18" charset="0"/>
                              </a:rPr>
                              <m:t>1</m:t>
                            </m:r>
                          </m:sub>
                        </m:sSub>
                      </m:e>
                    </m:d>
                    <m:r>
                      <a:rPr kumimoji="1" lang="en-US" altLang="zh-CN" sz="2800" b="0" i="1" smtClean="0">
                        <a:latin typeface="Cambria Math" panose="02040503050406030204" pitchFamily="18" charset="0"/>
                      </a:rPr>
                      <m:t>,</m:t>
                    </m:r>
                    <m:r>
                      <a:rPr kumimoji="1" lang="en-US" altLang="zh-CN" sz="2800" i="1">
                        <a:latin typeface="Cambria Math" panose="02040503050406030204" pitchFamily="18" charset="0"/>
                      </a:rPr>
                      <m:t>𝑐𝑜𝑣</m:t>
                    </m:r>
                    <m:d>
                      <m:dPr>
                        <m:ctrlPr>
                          <a:rPr kumimoji="1" lang="en-US" altLang="zh-CN" sz="2800" i="1">
                            <a:latin typeface="Cambria Math" panose="02040503050406030204" pitchFamily="18" charset="0"/>
                          </a:rPr>
                        </m:ctrlPr>
                      </m:dPr>
                      <m:e>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i="1">
                                <a:latin typeface="Cambria Math" panose="02040503050406030204" pitchFamily="18" charset="0"/>
                              </a:rPr>
                              <m:t>1</m:t>
                            </m:r>
                          </m:sub>
                        </m:sSub>
                        <m:r>
                          <a:rPr kumimoji="1" lang="en-US" altLang="zh-CN" sz="2800" i="1">
                            <a:latin typeface="Cambria Math" panose="02040503050406030204" pitchFamily="18" charset="0"/>
                          </a:rPr>
                          <m:t>,</m:t>
                        </m:r>
                        <m:sSub>
                          <m:sSubPr>
                            <m:ctrlPr>
                              <a:rPr kumimoji="1" lang="en-US" altLang="zh-CN" sz="2800" i="1" smtClean="0">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b="0" i="1" smtClean="0">
                                <a:latin typeface="Cambria Math" panose="02040503050406030204" pitchFamily="18" charset="0"/>
                              </a:rPr>
                              <m:t>2</m:t>
                            </m:r>
                          </m:sub>
                        </m:sSub>
                      </m:e>
                    </m:d>
                    <m:r>
                      <a:rPr kumimoji="1" lang="en-US" altLang="zh-CN" sz="2800" b="0" i="1" smtClean="0">
                        <a:latin typeface="Cambria Math" panose="02040503050406030204" pitchFamily="18" charset="0"/>
                      </a:rPr>
                      <m:t>,⋯</m:t>
                    </m:r>
                    <m:r>
                      <a:rPr kumimoji="1" lang="en-US" altLang="zh-CN" sz="2800" b="0" i="1" smtClean="0">
                        <a:latin typeface="Cambria Math" panose="02040503050406030204" pitchFamily="18" charset="0"/>
                      </a:rPr>
                      <m:t>𝑐𝑜𝑣</m:t>
                    </m:r>
                    <m:r>
                      <a:rPr kumimoji="1" lang="en-US" altLang="zh-CN" sz="2800" b="0" i="1" smtClean="0">
                        <a:latin typeface="Cambria Math" panose="02040503050406030204" pitchFamily="18" charset="0"/>
                      </a:rPr>
                      <m:t>(</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𝑥</m:t>
                        </m:r>
                      </m:e>
                      <m:sub>
                        <m:r>
                          <a:rPr kumimoji="1" lang="en-US" altLang="zh-CN" sz="2800" b="0" i="1" smtClean="0">
                            <a:latin typeface="Cambria Math" panose="02040503050406030204" pitchFamily="18" charset="0"/>
                          </a:rPr>
                          <m:t>1</m:t>
                        </m:r>
                      </m:sub>
                    </m:sSub>
                    <m:r>
                      <a:rPr kumimoji="1" lang="en-US" altLang="zh-CN" sz="2800" b="0" i="1" smtClean="0">
                        <a:latin typeface="Cambria Math" panose="02040503050406030204" pitchFamily="18" charset="0"/>
                      </a:rPr>
                      <m:t>,</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𝑥</m:t>
                        </m:r>
                      </m:e>
                      <m:sub>
                        <m:r>
                          <a:rPr kumimoji="1" lang="en-US" altLang="zh-CN" sz="2800" b="0" i="1" smtClean="0">
                            <a:latin typeface="Cambria Math" panose="02040503050406030204" pitchFamily="18" charset="0"/>
                          </a:rPr>
                          <m:t>𝑛</m:t>
                        </m:r>
                      </m:sub>
                    </m:sSub>
                    <m:r>
                      <a:rPr kumimoji="1" lang="en-US" altLang="zh-CN" sz="2800" b="0" i="1" smtClean="0">
                        <a:latin typeface="Cambria Math" panose="02040503050406030204" pitchFamily="18" charset="0"/>
                      </a:rPr>
                      <m:t>)</m:t>
                    </m:r>
                  </m:oMath>
                </a14:m>
                <a:endParaRPr kumimoji="1" lang="en-US" altLang="zh-CN" sz="2800" dirty="0"/>
              </a:p>
              <a:p>
                <a:pPr algn="l"/>
                <a:endParaRPr kumimoji="1" lang="en-US" altLang="zh-CN" sz="2800" dirty="0"/>
              </a:p>
              <a:p>
                <a:pPr algn="l"/>
                <a:r>
                  <a:rPr kumimoji="1" lang="zh-CN" altLang="en-US" sz="2400" dirty="0">
                    <a:solidFill>
                      <a:schemeClr val="tx2"/>
                    </a:solidFill>
                  </a:rPr>
                  <a:t>第二步：用关联作为权重，把其它词的值加权求和</a:t>
                </a:r>
                <a:endParaRPr kumimoji="1" lang="en-US" altLang="zh-CN" sz="2400" dirty="0">
                  <a:solidFill>
                    <a:schemeClr val="tx2"/>
                  </a:solidFill>
                </a:endParaRPr>
              </a:p>
              <a:p>
                <a:pPr algn="l"/>
                <a:endParaRPr kumimoji="1" lang="en-US" altLang="zh-CN" sz="1600" dirty="0"/>
              </a:p>
              <a:p>
                <a:r>
                  <a:rPr kumimoji="1" lang="en-US" altLang="zh-CN" sz="2800" dirty="0"/>
                  <a:t>	</a:t>
                </a:r>
                <a14:m>
                  <m:oMath xmlns:m="http://schemas.openxmlformats.org/officeDocument/2006/math">
                    <m:sSubSup>
                      <m:sSubSupPr>
                        <m:ctrlPr>
                          <a:rPr kumimoji="1" lang="en-US" altLang="zh-CN" sz="2800" b="0" i="1" smtClean="0">
                            <a:latin typeface="Cambria Math" panose="02040503050406030204" pitchFamily="18" charset="0"/>
                          </a:rPr>
                        </m:ctrlPr>
                      </m:sSubSupPr>
                      <m:e>
                        <m:r>
                          <a:rPr kumimoji="1" lang="en-US" altLang="zh-CN" sz="2800" b="0" i="1" smtClean="0">
                            <a:latin typeface="Cambria Math" panose="02040503050406030204" pitchFamily="18" charset="0"/>
                          </a:rPr>
                          <m:t>𝑥</m:t>
                        </m:r>
                      </m:e>
                      <m:sub>
                        <m:r>
                          <a:rPr kumimoji="1" lang="en-US" altLang="zh-CN" sz="2800" b="0" i="1" smtClean="0">
                            <a:latin typeface="Cambria Math" panose="02040503050406030204" pitchFamily="18" charset="0"/>
                          </a:rPr>
                          <m:t>1</m:t>
                        </m:r>
                      </m:sub>
                      <m:sup>
                        <m:r>
                          <a:rPr kumimoji="1" lang="en-US" altLang="zh-CN" sz="2800" b="0" i="1" smtClean="0">
                            <a:latin typeface="Cambria Math" panose="02040503050406030204" pitchFamily="18" charset="0"/>
                          </a:rPr>
                          <m:t>𝑜𝑢𝑡</m:t>
                        </m:r>
                      </m:sup>
                    </m:sSubSup>
                    <m:r>
                      <a:rPr kumimoji="1" lang="en-US" altLang="zh-CN" sz="2800" b="0" i="1" smtClean="0">
                        <a:latin typeface="Cambria Math" panose="02040503050406030204" pitchFamily="18" charset="0"/>
                      </a:rPr>
                      <m:t>=</m:t>
                    </m:r>
                    <m:r>
                      <a:rPr kumimoji="1" lang="en-US" altLang="zh-CN" sz="2800" i="1">
                        <a:latin typeface="Cambria Math" panose="02040503050406030204" pitchFamily="18" charset="0"/>
                      </a:rPr>
                      <m:t>𝑐𝑜𝑣</m:t>
                    </m:r>
                    <m:d>
                      <m:dPr>
                        <m:ctrlPr>
                          <a:rPr kumimoji="1" lang="en-US" altLang="zh-CN" sz="2800" i="1">
                            <a:latin typeface="Cambria Math" panose="02040503050406030204" pitchFamily="18" charset="0"/>
                          </a:rPr>
                        </m:ctrlPr>
                      </m:dPr>
                      <m:e>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i="1">
                                <a:latin typeface="Cambria Math" panose="02040503050406030204" pitchFamily="18" charset="0"/>
                              </a:rPr>
                              <m:t>1</m:t>
                            </m:r>
                          </m:sub>
                        </m:sSub>
                        <m:r>
                          <a:rPr kumimoji="1" lang="en-US" altLang="zh-CN" sz="2800" i="1">
                            <a:latin typeface="Cambria Math" panose="02040503050406030204" pitchFamily="18" charset="0"/>
                          </a:rPr>
                          <m:t>,</m:t>
                        </m:r>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i="1">
                                <a:latin typeface="Cambria Math" panose="02040503050406030204" pitchFamily="18" charset="0"/>
                              </a:rPr>
                              <m:t>1</m:t>
                            </m:r>
                          </m:sub>
                        </m:sSub>
                      </m:e>
                    </m:d>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i="1">
                            <a:latin typeface="Cambria Math" panose="02040503050406030204" pitchFamily="18" charset="0"/>
                          </a:rPr>
                          <m:t>1</m:t>
                        </m:r>
                      </m:sub>
                    </m:sSub>
                    <m:r>
                      <a:rPr kumimoji="1" lang="en-US" altLang="zh-CN" sz="2800" b="0" i="1" smtClean="0">
                        <a:latin typeface="Cambria Math" panose="02040503050406030204" pitchFamily="18" charset="0"/>
                      </a:rPr>
                      <m:t>+</m:t>
                    </m:r>
                    <m:r>
                      <a:rPr kumimoji="1" lang="en-US" altLang="zh-CN" sz="2800" i="1">
                        <a:latin typeface="Cambria Math" panose="02040503050406030204" pitchFamily="18" charset="0"/>
                      </a:rPr>
                      <m:t>𝑐𝑜𝑣</m:t>
                    </m:r>
                    <m:d>
                      <m:dPr>
                        <m:ctrlPr>
                          <a:rPr kumimoji="1" lang="en-US" altLang="zh-CN" sz="2800" i="1">
                            <a:latin typeface="Cambria Math" panose="02040503050406030204" pitchFamily="18" charset="0"/>
                          </a:rPr>
                        </m:ctrlPr>
                      </m:dPr>
                      <m:e>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i="1">
                                <a:latin typeface="Cambria Math" panose="02040503050406030204" pitchFamily="18" charset="0"/>
                              </a:rPr>
                              <m:t>1</m:t>
                            </m:r>
                          </m:sub>
                        </m:sSub>
                        <m:r>
                          <a:rPr kumimoji="1" lang="en-US" altLang="zh-CN" sz="2800" i="1">
                            <a:latin typeface="Cambria Math" panose="02040503050406030204" pitchFamily="18" charset="0"/>
                          </a:rPr>
                          <m:t>,</m:t>
                        </m:r>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b="0" i="1" smtClean="0">
                                <a:latin typeface="Cambria Math" panose="02040503050406030204" pitchFamily="18" charset="0"/>
                              </a:rPr>
                              <m:t>2</m:t>
                            </m:r>
                          </m:sub>
                        </m:sSub>
                      </m:e>
                    </m:d>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b="0" i="1" smtClean="0">
                            <a:latin typeface="Cambria Math" panose="02040503050406030204" pitchFamily="18" charset="0"/>
                          </a:rPr>
                          <m:t>2</m:t>
                        </m:r>
                      </m:sub>
                    </m:sSub>
                    <m:r>
                      <a:rPr kumimoji="1" lang="en-US" altLang="zh-CN" sz="2800" i="1">
                        <a:latin typeface="Cambria Math" panose="02040503050406030204" pitchFamily="18" charset="0"/>
                      </a:rPr>
                      <m:t>⋯</m:t>
                    </m:r>
                    <m:r>
                      <a:rPr kumimoji="1" lang="en-US" altLang="zh-CN" sz="2800" i="1">
                        <a:latin typeface="Cambria Math" panose="02040503050406030204" pitchFamily="18" charset="0"/>
                      </a:rPr>
                      <m:t>𝑐𝑜𝑣</m:t>
                    </m:r>
                    <m:d>
                      <m:dPr>
                        <m:ctrlPr>
                          <a:rPr kumimoji="1" lang="en-US" altLang="zh-CN" sz="2800" i="1">
                            <a:latin typeface="Cambria Math" panose="02040503050406030204" pitchFamily="18" charset="0"/>
                          </a:rPr>
                        </m:ctrlPr>
                      </m:dPr>
                      <m:e>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i="1">
                                <a:latin typeface="Cambria Math" panose="02040503050406030204" pitchFamily="18" charset="0"/>
                              </a:rPr>
                              <m:t>1</m:t>
                            </m:r>
                          </m:sub>
                        </m:sSub>
                        <m:r>
                          <a:rPr kumimoji="1" lang="en-US" altLang="zh-CN" sz="2800" i="1">
                            <a:latin typeface="Cambria Math" panose="02040503050406030204" pitchFamily="18" charset="0"/>
                          </a:rPr>
                          <m:t>,</m:t>
                        </m:r>
                        <m:sSub>
                          <m:sSubPr>
                            <m:ctrlPr>
                              <a:rPr kumimoji="1" lang="en-US" altLang="zh-CN" sz="2800" i="1">
                                <a:latin typeface="Cambria Math" panose="02040503050406030204" pitchFamily="18" charset="0"/>
                              </a:rPr>
                            </m:ctrlPr>
                          </m:sSubPr>
                          <m:e>
                            <m:r>
                              <a:rPr kumimoji="1" lang="en-US" altLang="zh-CN" sz="2800" i="1">
                                <a:latin typeface="Cambria Math" panose="02040503050406030204" pitchFamily="18" charset="0"/>
                              </a:rPr>
                              <m:t>𝑥</m:t>
                            </m:r>
                          </m:e>
                          <m:sub>
                            <m:r>
                              <a:rPr kumimoji="1" lang="en-US" altLang="zh-CN" sz="2800" i="1">
                                <a:latin typeface="Cambria Math" panose="02040503050406030204" pitchFamily="18" charset="0"/>
                              </a:rPr>
                              <m:t>𝑛</m:t>
                            </m:r>
                          </m:sub>
                        </m:sSub>
                      </m:e>
                    </m:d>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𝑥</m:t>
                        </m:r>
                      </m:e>
                      <m:sub>
                        <m:r>
                          <a:rPr kumimoji="1" lang="en-US" altLang="zh-CN" sz="2800" b="0" i="1" smtClean="0">
                            <a:latin typeface="Cambria Math" panose="02040503050406030204" pitchFamily="18" charset="0"/>
                          </a:rPr>
                          <m:t>𝑛</m:t>
                        </m:r>
                      </m:sub>
                    </m:sSub>
                  </m:oMath>
                </a14:m>
                <a:endParaRPr kumimoji="1" lang="en-US" altLang="zh-CN" sz="2800" dirty="0"/>
              </a:p>
            </p:txBody>
          </p:sp>
        </mc:Choice>
        <mc:Fallback xmlns="">
          <p:sp>
            <p:nvSpPr>
              <p:cNvPr id="2" name="文本框 1">
                <a:extLst>
                  <a:ext uri="{FF2B5EF4-FFF2-40B4-BE49-F238E27FC236}">
                    <a16:creationId xmlns:a16="http://schemas.microsoft.com/office/drawing/2014/main" id="{11C1AD38-BD3D-1044-7F5C-EE993F35AB5C}"/>
                  </a:ext>
                </a:extLst>
              </p:cNvPr>
              <p:cNvSpPr txBox="1">
                <a:spLocks noRot="1" noChangeAspect="1" noMove="1" noResize="1" noEditPoints="1" noAdjustHandles="1" noChangeArrowheads="1" noChangeShapeType="1" noTextEdit="1"/>
              </p:cNvSpPr>
              <p:nvPr/>
            </p:nvSpPr>
            <p:spPr>
              <a:xfrm>
                <a:off x="825601" y="3453288"/>
                <a:ext cx="10985157" cy="2686120"/>
              </a:xfrm>
              <a:prstGeom prst="rect">
                <a:avLst/>
              </a:prstGeom>
              <a:blipFill>
                <a:blip r:embed="rId3"/>
                <a:stretch>
                  <a:fillRect l="-808" t="-140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793293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89878-D570-605E-9696-38CEA0682F3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361399A-90DA-EA23-D4A5-FE02C2606D8E}"/>
              </a:ext>
            </a:extLst>
          </p:cNvPr>
          <p:cNvSpPr>
            <a:spLocks noGrp="1"/>
          </p:cNvSpPr>
          <p:nvPr>
            <p:ph type="title"/>
          </p:nvPr>
        </p:nvSpPr>
        <p:spPr>
          <a:xfrm>
            <a:off x="381242" y="2844289"/>
            <a:ext cx="11429516" cy="761979"/>
          </a:xfrm>
        </p:spPr>
        <p:txBody>
          <a:bodyPr/>
          <a:lstStyle/>
          <a:p>
            <a:pPr algn="ctr"/>
            <a:r>
              <a:rPr lang="zh-CN" altLang="en-US" dirty="0"/>
              <a:t>但记住！使用信息前，先提取！线性变换！</a:t>
            </a:r>
          </a:p>
        </p:txBody>
      </p:sp>
    </p:spTree>
    <p:extLst>
      <p:ext uri="{BB962C8B-B14F-4D97-AF65-F5344CB8AC3E}">
        <p14:creationId xmlns:p14="http://schemas.microsoft.com/office/powerpoint/2010/main" val="29214527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89878-D570-605E-9696-38CEA0682F3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361399A-90DA-EA23-D4A5-FE02C2606D8E}"/>
              </a:ext>
            </a:extLst>
          </p:cNvPr>
          <p:cNvSpPr>
            <a:spLocks noGrp="1"/>
          </p:cNvSpPr>
          <p:nvPr>
            <p:ph type="title"/>
          </p:nvPr>
        </p:nvSpPr>
        <p:spPr>
          <a:xfrm>
            <a:off x="381242" y="2844289"/>
            <a:ext cx="11429516" cy="761979"/>
          </a:xfrm>
        </p:spPr>
        <p:txBody>
          <a:bodyPr/>
          <a:lstStyle/>
          <a:p>
            <a:pPr algn="ctr"/>
            <a:r>
              <a:rPr lang="zh-CN" altLang="en-US" dirty="0"/>
              <a:t>我怎么知道线性变换刚好能提取到需要的信息？</a:t>
            </a:r>
          </a:p>
        </p:txBody>
      </p:sp>
    </p:spTree>
    <p:extLst>
      <p:ext uri="{BB962C8B-B14F-4D97-AF65-F5344CB8AC3E}">
        <p14:creationId xmlns:p14="http://schemas.microsoft.com/office/powerpoint/2010/main" val="38974826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89878-D570-605E-9696-38CEA0682F3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361399A-90DA-EA23-D4A5-FE02C2606D8E}"/>
              </a:ext>
            </a:extLst>
          </p:cNvPr>
          <p:cNvSpPr>
            <a:spLocks noGrp="1"/>
          </p:cNvSpPr>
          <p:nvPr>
            <p:ph type="title"/>
          </p:nvPr>
        </p:nvSpPr>
        <p:spPr>
          <a:xfrm>
            <a:off x="381242" y="2844289"/>
            <a:ext cx="11429516" cy="761979"/>
          </a:xfrm>
        </p:spPr>
        <p:txBody>
          <a:bodyPr/>
          <a:lstStyle/>
          <a:p>
            <a:pPr algn="ctr"/>
            <a:r>
              <a:rPr lang="zh-CN" altLang="en-US" dirty="0"/>
              <a:t>暂时！只能有可能做到，就相信它可以训练到！</a:t>
            </a:r>
          </a:p>
        </p:txBody>
      </p:sp>
    </p:spTree>
    <p:extLst>
      <p:ext uri="{BB962C8B-B14F-4D97-AF65-F5344CB8AC3E}">
        <p14:creationId xmlns:p14="http://schemas.microsoft.com/office/powerpoint/2010/main" val="21882523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注意力机制</a:t>
            </a:r>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stretch>
            <a:fillRect/>
          </a:stretch>
        </p:blipFill>
        <p:spPr>
          <a:xfrm>
            <a:off x="345082" y="880238"/>
            <a:ext cx="11673954" cy="2727934"/>
          </a:xfrm>
          <a:prstGeom prst="rect">
            <a:avLst/>
          </a:prstGeom>
        </p:spPr>
      </p:pic>
      <p:pic>
        <p:nvPicPr>
          <p:cNvPr id="6" name="图片 5">
            <a:extLst>
              <a:ext uri="{FF2B5EF4-FFF2-40B4-BE49-F238E27FC236}">
                <a16:creationId xmlns:a16="http://schemas.microsoft.com/office/drawing/2014/main" id="{B2D7EEB3-34F2-A384-7716-41EB8AE2D697}"/>
              </a:ext>
            </a:extLst>
          </p:cNvPr>
          <p:cNvPicPr>
            <a:picLocks noChangeAspect="1"/>
          </p:cNvPicPr>
          <p:nvPr/>
        </p:nvPicPr>
        <p:blipFill>
          <a:blip r:embed="rId3"/>
          <a:stretch>
            <a:fillRect/>
          </a:stretch>
        </p:blipFill>
        <p:spPr>
          <a:xfrm>
            <a:off x="2209800" y="4203035"/>
            <a:ext cx="7772400" cy="1970365"/>
          </a:xfrm>
          <a:prstGeom prst="rect">
            <a:avLst/>
          </a:prstGeom>
        </p:spPr>
      </p:pic>
    </p:spTree>
    <p:extLst>
      <p:ext uri="{BB962C8B-B14F-4D97-AF65-F5344CB8AC3E}">
        <p14:creationId xmlns:p14="http://schemas.microsoft.com/office/powerpoint/2010/main" val="23383829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注意力机制</a:t>
            </a:r>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stretch>
            <a:fillRect/>
          </a:stretch>
        </p:blipFill>
        <p:spPr>
          <a:xfrm>
            <a:off x="345082" y="880238"/>
            <a:ext cx="11673954" cy="2727934"/>
          </a:xfrm>
          <a:prstGeom prst="rect">
            <a:avLst/>
          </a:prstGeom>
        </p:spPr>
      </p:pic>
      <p:sp>
        <p:nvSpPr>
          <p:cNvPr id="7" name="标题 2">
            <a:extLst>
              <a:ext uri="{FF2B5EF4-FFF2-40B4-BE49-F238E27FC236}">
                <a16:creationId xmlns:a16="http://schemas.microsoft.com/office/drawing/2014/main" id="{3D7B8E85-5C71-5677-B1F0-FCA751689CAB}"/>
              </a:ext>
            </a:extLst>
          </p:cNvPr>
          <p:cNvSpPr txBox="1">
            <a:spLocks/>
          </p:cNvSpPr>
          <p:nvPr/>
        </p:nvSpPr>
        <p:spPr>
          <a:xfrm>
            <a:off x="417402" y="3429000"/>
            <a:ext cx="11429516" cy="761979"/>
          </a:xfrm>
          <a:prstGeom prst="rect">
            <a:avLst/>
          </a:prstGeom>
          <a:ln>
            <a:noFill/>
          </a:ln>
        </p:spPr>
        <p:txBody>
          <a:bodyPr vert="horz" lIns="0" tIns="0" rIns="0" bIns="0" rtlCol="0" anchor="b" anchorCtr="0">
            <a:noAutofit/>
          </a:bodyPr>
          <a:lst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算关联</a:t>
            </a:r>
            <a:endParaRPr lang="en-US" altLang="zh-CN" dirty="0"/>
          </a:p>
        </p:txBody>
      </p:sp>
      <p:pic>
        <p:nvPicPr>
          <p:cNvPr id="8" name="图片 7">
            <a:extLst>
              <a:ext uri="{FF2B5EF4-FFF2-40B4-BE49-F238E27FC236}">
                <a16:creationId xmlns:a16="http://schemas.microsoft.com/office/drawing/2014/main" id="{EAF20D95-55E0-9D11-6753-2474D3736130}"/>
              </a:ext>
            </a:extLst>
          </p:cNvPr>
          <p:cNvPicPr>
            <a:picLocks noChangeAspect="1"/>
          </p:cNvPicPr>
          <p:nvPr/>
        </p:nvPicPr>
        <p:blipFill>
          <a:blip r:embed="rId3"/>
          <a:stretch>
            <a:fillRect/>
          </a:stretch>
        </p:blipFill>
        <p:spPr>
          <a:xfrm>
            <a:off x="820865" y="4550877"/>
            <a:ext cx="3276772" cy="826001"/>
          </a:xfrm>
          <a:prstGeom prst="rect">
            <a:avLst/>
          </a:prstGeom>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6FD0E645-F0BB-FE4E-6ADC-131A82D0485B}"/>
                  </a:ext>
                </a:extLst>
              </p:cNvPr>
              <p:cNvSpPr txBox="1"/>
              <p:nvPr/>
            </p:nvSpPr>
            <p:spPr>
              <a:xfrm>
                <a:off x="7333735" y="4074090"/>
                <a:ext cx="2034275" cy="1812997"/>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d>
                        <m:dPr>
                          <m:begChr m:val="["/>
                          <m:endChr m:val="]"/>
                          <m:ctrlPr>
                            <a:rPr kumimoji="1" lang="en-US" altLang="zh-CN" sz="2000" i="1" smtClean="0">
                              <a:latin typeface="Cambria Math" panose="02040503050406030204" pitchFamily="18" charset="0"/>
                            </a:rPr>
                          </m:ctrlPr>
                        </m:dPr>
                        <m:e>
                          <m:eqArr>
                            <m:eqArrPr>
                              <m:ctrlPr>
                                <a:rPr kumimoji="1" lang="en-US" altLang="zh-CN" sz="2000" i="1" smtClean="0">
                                  <a:latin typeface="Cambria Math" panose="02040503050406030204" pitchFamily="18" charset="0"/>
                                </a:rPr>
                              </m:ctrlPr>
                            </m:eqArrPr>
                            <m:e>
                              <m:m>
                                <m:mPr>
                                  <m:mcs>
                                    <m:mc>
                                      <m:mcPr>
                                        <m:count m:val="3"/>
                                        <m:mcJc m:val="center"/>
                                      </m:mcPr>
                                    </m:mc>
                                  </m:mcs>
                                  <m:ctrlPr>
                                    <a:rPr kumimoji="1" lang="en-US" altLang="zh-CN" sz="2000" i="1" smtClean="0">
                                      <a:latin typeface="Cambria Math" panose="02040503050406030204" pitchFamily="18" charset="0"/>
                                    </a:rPr>
                                  </m:ctrlPr>
                                </m:mPr>
                                <m:mr>
                                  <m:e/>
                                  <m:e/>
                                  <m:e/>
                                </m:mr>
                                <m:mr>
                                  <m:e/>
                                  <m:e/>
                                  <m:e/>
                                </m:mr>
                                <m:mr>
                                  <m:e>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𝑄</m:t>
                                        </m:r>
                                      </m:e>
                                      <m:sub>
                                        <m:r>
                                          <a:rPr kumimoji="1" lang="en-US" altLang="zh-CN" sz="2000" b="0" i="1" smtClean="0">
                                            <a:latin typeface="Cambria Math" panose="02040503050406030204" pitchFamily="18" charset="0"/>
                                          </a:rPr>
                                          <m:t>𝑖</m:t>
                                        </m:r>
                                        <m:r>
                                          <a:rPr kumimoji="1" lang="en-US" altLang="zh-CN" sz="2000" b="0" i="1" smtClean="0">
                                            <a:latin typeface="Cambria Math" panose="02040503050406030204" pitchFamily="18" charset="0"/>
                                          </a:rPr>
                                          <m:t>,1</m:t>
                                        </m:r>
                                      </m:sub>
                                    </m:sSub>
                                  </m:e>
                                  <m:e>
                                    <m:r>
                                      <a:rPr kumimoji="1" lang="en-US" altLang="zh-CN" sz="2000" b="0" i="1" smtClean="0">
                                        <a:latin typeface="Cambria Math" panose="02040503050406030204" pitchFamily="18" charset="0"/>
                                      </a:rPr>
                                      <m:t>⋯</m:t>
                                    </m:r>
                                  </m:e>
                                  <m:e>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𝑄</m:t>
                                        </m:r>
                                      </m:e>
                                      <m:sub>
                                        <m:r>
                                          <a:rPr kumimoji="1" lang="en-US" altLang="zh-CN" sz="2000" b="0" i="1" smtClean="0">
                                            <a:latin typeface="Cambria Math" panose="02040503050406030204" pitchFamily="18" charset="0"/>
                                          </a:rPr>
                                          <m:t>𝑖</m:t>
                                        </m:r>
                                        <m:r>
                                          <a:rPr kumimoji="1" lang="en-US" altLang="zh-CN" sz="2000" b="0" i="1" smtClean="0">
                                            <a:latin typeface="Cambria Math" panose="02040503050406030204" pitchFamily="18" charset="0"/>
                                          </a:rPr>
                                          <m:t>,</m:t>
                                        </m:r>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𝑑</m:t>
                                            </m:r>
                                          </m:e>
                                          <m:sub>
                                            <m:r>
                                              <a:rPr kumimoji="1" lang="en-US" altLang="zh-CN" sz="2000" b="0" i="1" smtClean="0">
                                                <a:latin typeface="Cambria Math" panose="02040503050406030204" pitchFamily="18" charset="0"/>
                                              </a:rPr>
                                              <m:t>𝑚</m:t>
                                            </m:r>
                                          </m:sub>
                                        </m:sSub>
                                      </m:sub>
                                    </m:sSub>
                                  </m:e>
                                </m:mr>
                              </m:m>
                            </m:e>
                            <m:e>
                              <m:m>
                                <m:mPr>
                                  <m:mcs>
                                    <m:mc>
                                      <m:mcPr>
                                        <m:count m:val="3"/>
                                        <m:mcJc m:val="center"/>
                                      </m:mcPr>
                                    </m:mc>
                                  </m:mcs>
                                  <m:ctrlPr>
                                    <a:rPr kumimoji="1" lang="en-US" altLang="zh-CN" sz="2000" i="1" smtClean="0">
                                      <a:latin typeface="Cambria Math" panose="02040503050406030204" pitchFamily="18" charset="0"/>
                                    </a:rPr>
                                  </m:ctrlPr>
                                </m:mPr>
                                <m:mr>
                                  <m:e/>
                                  <m:e/>
                                  <m:e/>
                                </m:mr>
                                <m:mr>
                                  <m:e/>
                                  <m:e/>
                                  <m:e/>
                                </m:mr>
                                <m:mr>
                                  <m:e/>
                                  <m:e/>
                                  <m:e/>
                                </m:mr>
                              </m:m>
                            </m:e>
                          </m:eqArr>
                        </m:e>
                      </m:d>
                    </m:oMath>
                  </m:oMathPara>
                </a14:m>
                <a:endParaRPr kumimoji="1" lang="zh-CN" altLang="en-US" sz="2000" dirty="0"/>
              </a:p>
            </p:txBody>
          </p:sp>
        </mc:Choice>
        <mc:Fallback xmlns="">
          <p:sp>
            <p:nvSpPr>
              <p:cNvPr id="9" name="文本框 8">
                <a:extLst>
                  <a:ext uri="{FF2B5EF4-FFF2-40B4-BE49-F238E27FC236}">
                    <a16:creationId xmlns:a16="http://schemas.microsoft.com/office/drawing/2014/main" id="{6FD0E645-F0BB-FE4E-6ADC-131A82D0485B}"/>
                  </a:ext>
                </a:extLst>
              </p:cNvPr>
              <p:cNvSpPr txBox="1">
                <a:spLocks noRot="1" noChangeAspect="1" noMove="1" noResize="1" noEditPoints="1" noAdjustHandles="1" noChangeArrowheads="1" noChangeShapeType="1" noTextEdit="1"/>
              </p:cNvSpPr>
              <p:nvPr/>
            </p:nvSpPr>
            <p:spPr>
              <a:xfrm>
                <a:off x="7333735" y="4074090"/>
                <a:ext cx="2034275" cy="18129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81B5C6DF-AEE9-F279-CAAE-A1EC20047FD1}"/>
                  </a:ext>
                </a:extLst>
              </p:cNvPr>
              <p:cNvSpPr txBox="1"/>
              <p:nvPr/>
            </p:nvSpPr>
            <p:spPr>
              <a:xfrm rot="5400000">
                <a:off x="9590326" y="4074090"/>
                <a:ext cx="1950919" cy="1812997"/>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d>
                        <m:dPr>
                          <m:begChr m:val="["/>
                          <m:endChr m:val="]"/>
                          <m:ctrlPr>
                            <a:rPr kumimoji="1" lang="en-US" altLang="zh-CN" sz="2000" i="1" smtClean="0">
                              <a:latin typeface="Cambria Math" panose="02040503050406030204" pitchFamily="18" charset="0"/>
                            </a:rPr>
                          </m:ctrlPr>
                        </m:dPr>
                        <m:e>
                          <m:eqArr>
                            <m:eqArrPr>
                              <m:ctrlPr>
                                <a:rPr kumimoji="1" lang="en-US" altLang="zh-CN" sz="2000" i="1" smtClean="0">
                                  <a:latin typeface="Cambria Math" panose="02040503050406030204" pitchFamily="18" charset="0"/>
                                </a:rPr>
                              </m:ctrlPr>
                            </m:eqArrPr>
                            <m:e>
                              <m:m>
                                <m:mPr>
                                  <m:mcs>
                                    <m:mc>
                                      <m:mcPr>
                                        <m:count m:val="3"/>
                                        <m:mcJc m:val="center"/>
                                      </m:mcPr>
                                    </m:mc>
                                  </m:mcs>
                                  <m:ctrlPr>
                                    <a:rPr kumimoji="1" lang="en-US" altLang="zh-CN" sz="2000" i="1" smtClean="0">
                                      <a:latin typeface="Cambria Math" panose="02040503050406030204" pitchFamily="18" charset="0"/>
                                    </a:rPr>
                                  </m:ctrlPr>
                                </m:mPr>
                                <m:mr>
                                  <m:e/>
                                  <m:e/>
                                  <m:e/>
                                </m:mr>
                                <m:mr>
                                  <m:e/>
                                  <m:e/>
                                  <m:e/>
                                </m:mr>
                                <m:mr>
                                  <m:e>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𝐾</m:t>
                                        </m:r>
                                      </m:e>
                                      <m:sub>
                                        <m:r>
                                          <a:rPr kumimoji="1" lang="en-US" altLang="zh-CN" sz="2000" b="0" i="1" smtClean="0">
                                            <a:latin typeface="Cambria Math" panose="02040503050406030204" pitchFamily="18" charset="0"/>
                                          </a:rPr>
                                          <m:t>𝑗</m:t>
                                        </m:r>
                                        <m:r>
                                          <a:rPr kumimoji="1" lang="en-US" altLang="zh-CN" sz="2000" b="0" i="1" smtClean="0">
                                            <a:latin typeface="Cambria Math" panose="02040503050406030204" pitchFamily="18" charset="0"/>
                                          </a:rPr>
                                          <m:t>,1</m:t>
                                        </m:r>
                                      </m:sub>
                                    </m:sSub>
                                  </m:e>
                                  <m:e>
                                    <m:r>
                                      <a:rPr kumimoji="1" lang="en-US" altLang="zh-CN" sz="2000" b="0" i="1" smtClean="0">
                                        <a:latin typeface="Cambria Math" panose="02040503050406030204" pitchFamily="18" charset="0"/>
                                      </a:rPr>
                                      <m:t>⋯</m:t>
                                    </m:r>
                                  </m:e>
                                  <m:e>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𝐾</m:t>
                                        </m:r>
                                      </m:e>
                                      <m:sub>
                                        <m:r>
                                          <a:rPr kumimoji="1" lang="en-US" altLang="zh-CN" sz="2000" b="0" i="1" smtClean="0">
                                            <a:latin typeface="Cambria Math" panose="02040503050406030204" pitchFamily="18" charset="0"/>
                                          </a:rPr>
                                          <m:t>𝑗</m:t>
                                        </m:r>
                                        <m:r>
                                          <a:rPr kumimoji="1" lang="en-US" altLang="zh-CN" sz="2000" b="0" i="1" smtClean="0">
                                            <a:latin typeface="Cambria Math" panose="02040503050406030204" pitchFamily="18" charset="0"/>
                                          </a:rPr>
                                          <m:t>,</m:t>
                                        </m:r>
                                        <m:sSub>
                                          <m:sSubPr>
                                            <m:ctrlPr>
                                              <a:rPr kumimoji="1" lang="en-US" altLang="zh-CN" sz="2000" b="0" i="1" smtClean="0">
                                                <a:latin typeface="Cambria Math" panose="02040503050406030204" pitchFamily="18" charset="0"/>
                                              </a:rPr>
                                            </m:ctrlPr>
                                          </m:sSubPr>
                                          <m:e>
                                            <m:r>
                                              <a:rPr kumimoji="1" lang="en-US" altLang="zh-CN" sz="2000" b="0" i="1" smtClean="0">
                                                <a:latin typeface="Cambria Math" panose="02040503050406030204" pitchFamily="18" charset="0"/>
                                              </a:rPr>
                                              <m:t>𝑑</m:t>
                                            </m:r>
                                          </m:e>
                                          <m:sub>
                                            <m:r>
                                              <a:rPr kumimoji="1" lang="en-US" altLang="zh-CN" sz="2000" b="0" i="1" smtClean="0">
                                                <a:latin typeface="Cambria Math" panose="02040503050406030204" pitchFamily="18" charset="0"/>
                                              </a:rPr>
                                              <m:t>𝑚</m:t>
                                            </m:r>
                                          </m:sub>
                                        </m:sSub>
                                      </m:sub>
                                    </m:sSub>
                                  </m:e>
                                </m:mr>
                              </m:m>
                            </m:e>
                            <m:e>
                              <m:m>
                                <m:mPr>
                                  <m:mcs>
                                    <m:mc>
                                      <m:mcPr>
                                        <m:count m:val="3"/>
                                        <m:mcJc m:val="center"/>
                                      </m:mcPr>
                                    </m:mc>
                                  </m:mcs>
                                  <m:ctrlPr>
                                    <a:rPr kumimoji="1" lang="en-US" altLang="zh-CN" sz="2000" i="1" smtClean="0">
                                      <a:latin typeface="Cambria Math" panose="02040503050406030204" pitchFamily="18" charset="0"/>
                                    </a:rPr>
                                  </m:ctrlPr>
                                </m:mPr>
                                <m:mr>
                                  <m:e/>
                                  <m:e/>
                                  <m:e/>
                                </m:mr>
                                <m:mr>
                                  <m:e/>
                                  <m:e/>
                                  <m:e/>
                                </m:mr>
                                <m:mr>
                                  <m:e/>
                                  <m:e/>
                                  <m:e/>
                                </m:mr>
                              </m:m>
                            </m:e>
                          </m:eqArr>
                        </m:e>
                      </m:d>
                    </m:oMath>
                  </m:oMathPara>
                </a14:m>
                <a:endParaRPr kumimoji="1" lang="zh-CN" altLang="en-US" sz="2000" dirty="0"/>
              </a:p>
            </p:txBody>
          </p:sp>
        </mc:Choice>
        <mc:Fallback xmlns="">
          <p:sp>
            <p:nvSpPr>
              <p:cNvPr id="11" name="文本框 10">
                <a:extLst>
                  <a:ext uri="{FF2B5EF4-FFF2-40B4-BE49-F238E27FC236}">
                    <a16:creationId xmlns:a16="http://schemas.microsoft.com/office/drawing/2014/main" id="{81B5C6DF-AEE9-F279-CAAE-A1EC20047FD1}"/>
                  </a:ext>
                </a:extLst>
              </p:cNvPr>
              <p:cNvSpPr txBox="1">
                <a:spLocks noRot="1" noChangeAspect="1" noMove="1" noResize="1" noEditPoints="1" noAdjustHandles="1" noChangeArrowheads="1" noChangeShapeType="1" noTextEdit="1"/>
              </p:cNvSpPr>
              <p:nvPr/>
            </p:nvSpPr>
            <p:spPr>
              <a:xfrm rot="5400000">
                <a:off x="9590326" y="4074090"/>
                <a:ext cx="1950919" cy="1812997"/>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35C7F293-3B95-1890-86D0-E3F5D5571191}"/>
                  </a:ext>
                </a:extLst>
              </p:cNvPr>
              <p:cNvSpPr txBox="1"/>
              <p:nvPr/>
            </p:nvSpPr>
            <p:spPr>
              <a:xfrm>
                <a:off x="4456220" y="4550877"/>
                <a:ext cx="3351879" cy="7645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supHide m:val="on"/>
                          <m:ctrlPr>
                            <a:rPr kumimoji="1" lang="en-US" altLang="zh-CN" i="1">
                              <a:latin typeface="Cambria Math" panose="02040503050406030204" pitchFamily="18" charset="0"/>
                            </a:rPr>
                          </m:ctrlPr>
                        </m:naryPr>
                        <m:sub>
                          <m:r>
                            <a:rPr kumimoji="1" lang="en-US" altLang="zh-CN" i="1">
                              <a:latin typeface="Cambria Math" panose="02040503050406030204" pitchFamily="18" charset="0"/>
                            </a:rPr>
                            <m:t>𝑢</m:t>
                          </m:r>
                        </m:sub>
                        <m:sup/>
                        <m:e>
                          <m:sSub>
                            <m:sSubPr>
                              <m:ctrlPr>
                                <a:rPr kumimoji="1" lang="en-US" altLang="zh-CN" i="1">
                                  <a:latin typeface="Cambria Math" panose="02040503050406030204" pitchFamily="18" charset="0"/>
                                </a:rPr>
                              </m:ctrlPr>
                            </m:sSub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𝑄</m:t>
                                  </m:r>
                                </m:e>
                                <m:sub>
                                  <m:r>
                                    <a:rPr kumimoji="1" lang="en-US" altLang="zh-CN" i="1">
                                      <a:latin typeface="Cambria Math" panose="02040503050406030204" pitchFamily="18" charset="0"/>
                                    </a:rPr>
                                    <m:t>𝑖</m:t>
                                  </m:r>
                                  <m:r>
                                    <a:rPr kumimoji="1" lang="en-US" altLang="zh-CN" i="1">
                                      <a:latin typeface="Cambria Math" panose="02040503050406030204" pitchFamily="18" charset="0"/>
                                    </a:rPr>
                                    <m:t>,</m:t>
                                  </m:r>
                                  <m:r>
                                    <a:rPr kumimoji="1" lang="en-US" altLang="zh-CN" i="1">
                                      <a:latin typeface="Cambria Math" panose="02040503050406030204" pitchFamily="18" charset="0"/>
                                    </a:rPr>
                                    <m:t>𝑢</m:t>
                                  </m:r>
                                </m:sub>
                              </m:sSub>
                              <m:r>
                                <a:rPr kumimoji="1" lang="en-US" altLang="zh-CN" i="1">
                                  <a:latin typeface="Cambria Math" panose="02040503050406030204" pitchFamily="18" charset="0"/>
                                </a:rPr>
                                <m:t>𝐾</m:t>
                              </m:r>
                            </m:e>
                            <m:sub>
                              <m:r>
                                <a:rPr kumimoji="1" lang="en-US" altLang="zh-CN" i="1">
                                  <a:latin typeface="Cambria Math" panose="02040503050406030204" pitchFamily="18" charset="0"/>
                                </a:rPr>
                                <m:t>𝑗</m:t>
                              </m:r>
                              <m:r>
                                <a:rPr kumimoji="1" lang="en-US" altLang="zh-CN" i="1">
                                  <a:latin typeface="Cambria Math" panose="02040503050406030204" pitchFamily="18" charset="0"/>
                                </a:rPr>
                                <m:t>,</m:t>
                              </m:r>
                              <m:r>
                                <a:rPr kumimoji="1" lang="en-US" altLang="zh-CN" i="1">
                                  <a:latin typeface="Cambria Math" panose="02040503050406030204" pitchFamily="18" charset="0"/>
                                </a:rPr>
                                <m:t>𝑢</m:t>
                              </m:r>
                            </m:sub>
                          </m:sSub>
                        </m:e>
                      </m:nary>
                    </m:oMath>
                  </m:oMathPara>
                </a14:m>
                <a:endParaRPr lang="zh-CN" altLang="en-US" dirty="0"/>
              </a:p>
            </p:txBody>
          </p:sp>
        </mc:Choice>
        <mc:Fallback xmlns="">
          <p:sp>
            <p:nvSpPr>
              <p:cNvPr id="13" name="文本框 12">
                <a:extLst>
                  <a:ext uri="{FF2B5EF4-FFF2-40B4-BE49-F238E27FC236}">
                    <a16:creationId xmlns:a16="http://schemas.microsoft.com/office/drawing/2014/main" id="{35C7F293-3B95-1890-86D0-E3F5D5571191}"/>
                  </a:ext>
                </a:extLst>
              </p:cNvPr>
              <p:cNvSpPr txBox="1">
                <a:spLocks noRot="1" noChangeAspect="1" noMove="1" noResize="1" noEditPoints="1" noAdjustHandles="1" noChangeArrowheads="1" noChangeShapeType="1" noTextEdit="1"/>
              </p:cNvSpPr>
              <p:nvPr/>
            </p:nvSpPr>
            <p:spPr>
              <a:xfrm>
                <a:off x="4456220" y="4550877"/>
                <a:ext cx="3351879" cy="764505"/>
              </a:xfrm>
              <a:prstGeom prst="rect">
                <a:avLst/>
              </a:prstGeom>
              <a:blipFill>
                <a:blip r:embed="rId6"/>
                <a:stretch>
                  <a:fillRect t="-122951" b="-17049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627106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注意力机制</a:t>
            </a:r>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stretch>
            <a:fillRect/>
          </a:stretch>
        </p:blipFill>
        <p:spPr>
          <a:xfrm>
            <a:off x="345082" y="880238"/>
            <a:ext cx="11673954" cy="2727934"/>
          </a:xfrm>
          <a:prstGeom prst="rect">
            <a:avLst/>
          </a:prstGeom>
        </p:spPr>
      </p:pic>
      <p:sp>
        <p:nvSpPr>
          <p:cNvPr id="7" name="标题 2">
            <a:extLst>
              <a:ext uri="{FF2B5EF4-FFF2-40B4-BE49-F238E27FC236}">
                <a16:creationId xmlns:a16="http://schemas.microsoft.com/office/drawing/2014/main" id="{3D7B8E85-5C71-5677-B1F0-FCA751689CAB}"/>
              </a:ext>
            </a:extLst>
          </p:cNvPr>
          <p:cNvSpPr txBox="1">
            <a:spLocks/>
          </p:cNvSpPr>
          <p:nvPr/>
        </p:nvSpPr>
        <p:spPr>
          <a:xfrm>
            <a:off x="417402" y="3429000"/>
            <a:ext cx="11429516" cy="761979"/>
          </a:xfrm>
          <a:prstGeom prst="rect">
            <a:avLst/>
          </a:prstGeom>
          <a:ln>
            <a:noFill/>
          </a:ln>
        </p:spPr>
        <p:txBody>
          <a:bodyPr vert="horz" lIns="0" tIns="0" rIns="0" bIns="0" rtlCol="0" anchor="b" anchorCtr="0">
            <a:noAutofit/>
          </a:bodyPr>
          <a:lst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算关联</a:t>
            </a:r>
            <a:r>
              <a:rPr lang="en-US" altLang="zh-CN" dirty="0"/>
              <a:t>+Mask</a:t>
            </a:r>
          </a:p>
        </p:txBody>
      </p:sp>
      <p:pic>
        <p:nvPicPr>
          <p:cNvPr id="8" name="图片 7">
            <a:extLst>
              <a:ext uri="{FF2B5EF4-FFF2-40B4-BE49-F238E27FC236}">
                <a16:creationId xmlns:a16="http://schemas.microsoft.com/office/drawing/2014/main" id="{EAF20D95-55E0-9D11-6753-2474D373613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923696" y="4319989"/>
            <a:ext cx="4286804" cy="654039"/>
          </a:xfrm>
          <a:prstGeom prst="rect">
            <a:avLst/>
          </a:prstGeom>
        </p:spPr>
      </p:pic>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B0FE8C74-A250-3701-B0DC-DB9D4DE59D93}"/>
                  </a:ext>
                </a:extLst>
              </p:cNvPr>
              <p:cNvSpPr txBox="1"/>
              <p:nvPr/>
            </p:nvSpPr>
            <p:spPr>
              <a:xfrm>
                <a:off x="7692079" y="3608172"/>
                <a:ext cx="3819956" cy="17209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kumimoji="1" lang="en-US" altLang="zh-CN" sz="2000" i="1" smtClean="0">
                              <a:latin typeface="Cambria Math" panose="02040503050406030204" pitchFamily="18" charset="0"/>
                            </a:rPr>
                          </m:ctrlPr>
                        </m:dPr>
                        <m:e>
                          <m:m>
                            <m:mPr>
                              <m:mcs>
                                <m:mc>
                                  <m:mcPr>
                                    <m:count m:val="2"/>
                                    <m:mcJc m:val="center"/>
                                  </m:mcPr>
                                </m:mc>
                              </m:mcs>
                              <m:ctrlPr>
                                <a:rPr kumimoji="1" lang="en-US" altLang="zh-CN" sz="2000" i="1" smtClean="0">
                                  <a:latin typeface="Cambria Math" panose="02040503050406030204" pitchFamily="18" charset="0"/>
                                </a:rPr>
                              </m:ctrlPr>
                            </m:mPr>
                            <m:mr>
                              <m:e>
                                <m:m>
                                  <m:mPr>
                                    <m:mcs>
                                      <m:mc>
                                        <m:mcPr>
                                          <m:count m:val="3"/>
                                          <m:mcJc m:val="center"/>
                                        </m:mcPr>
                                      </m:mc>
                                    </m:mcs>
                                    <m:ctrlPr>
                                      <a:rPr kumimoji="1" lang="en-US" altLang="zh-CN" sz="2000" i="1" smtClean="0">
                                        <a:latin typeface="Cambria Math" panose="02040503050406030204" pitchFamily="18" charset="0"/>
                                      </a:rPr>
                                    </m:ctrlPr>
                                  </m:mPr>
                                  <m:mr>
                                    <m:e/>
                                    <m:e>
                                      <m:r>
                                        <a:rPr kumimoji="1" lang="en-US" altLang="zh-CN" sz="2000" b="0" i="1" smtClean="0">
                                          <a:latin typeface="Cambria Math" panose="02040503050406030204" pitchFamily="18" charset="0"/>
                                        </a:rPr>
                                        <m:t>−∞</m:t>
                                      </m:r>
                                    </m:e>
                                    <m:e>
                                      <m:r>
                                        <a:rPr kumimoji="1" lang="en-US" altLang="zh-CN" sz="2000" i="1">
                                          <a:latin typeface="Cambria Math" panose="02040503050406030204" pitchFamily="18" charset="0"/>
                                        </a:rPr>
                                        <m:t>−∞</m:t>
                                      </m:r>
                                    </m:e>
                                  </m:mr>
                                  <m:mr>
                                    <m:e/>
                                    <m:e/>
                                    <m:e>
                                      <m:r>
                                        <a:rPr kumimoji="1" lang="en-US" altLang="zh-CN" sz="2000" i="1">
                                          <a:latin typeface="Cambria Math" panose="02040503050406030204" pitchFamily="18" charset="0"/>
                                        </a:rPr>
                                        <m:t>−∞</m:t>
                                      </m:r>
                                    </m:e>
                                  </m:mr>
                                  <m:mr>
                                    <m:e/>
                                    <m:e/>
                                    <m:e/>
                                  </m:mr>
                                </m:m>
                              </m:e>
                              <m:e>
                                <m:m>
                                  <m:mPr>
                                    <m:mcs>
                                      <m:mc>
                                        <m:mcPr>
                                          <m:count m:val="3"/>
                                          <m:mcJc m:val="center"/>
                                        </m:mcPr>
                                      </m:mc>
                                    </m:mcs>
                                    <m:ctrlPr>
                                      <a:rPr kumimoji="1" lang="en-US" altLang="zh-CN" sz="2000" i="1">
                                        <a:latin typeface="Cambria Math" panose="02040503050406030204" pitchFamily="18" charset="0"/>
                                      </a:rPr>
                                    </m:ctrlPr>
                                  </m:mPr>
                                  <m:mr>
                                    <m:e>
                                      <m:r>
                                        <a:rPr kumimoji="1" lang="en-US" altLang="zh-CN" sz="2000" b="0" i="1" smtClean="0">
                                          <a:latin typeface="Cambria Math" panose="02040503050406030204" pitchFamily="18" charset="0"/>
                                        </a:rPr>
                                        <m:t>⋯</m:t>
                                      </m:r>
                                    </m:e>
                                    <m:e>
                                      <m:r>
                                        <a:rPr kumimoji="1" lang="en-US" altLang="zh-CN" sz="2000" b="0" i="1" smtClean="0">
                                          <a:latin typeface="Cambria Math" panose="02040503050406030204" pitchFamily="18" charset="0"/>
                                        </a:rPr>
                                        <m:t>⋯</m:t>
                                      </m:r>
                                    </m:e>
                                    <m:e>
                                      <m:r>
                                        <a:rPr kumimoji="1" lang="en-US" altLang="zh-CN" sz="2000" i="1">
                                          <a:latin typeface="Cambria Math" panose="02040503050406030204" pitchFamily="18" charset="0"/>
                                        </a:rPr>
                                        <m:t>−∞</m:t>
                                      </m:r>
                                    </m:e>
                                  </m:mr>
                                  <m:mr>
                                    <m:e>
                                      <m:r>
                                        <a:rPr kumimoji="1" lang="en-US" altLang="zh-CN" sz="2000" i="1">
                                          <a:latin typeface="Cambria Math" panose="02040503050406030204" pitchFamily="18" charset="0"/>
                                        </a:rPr>
                                        <m:t>⋯</m:t>
                                      </m:r>
                                    </m:e>
                                    <m:e>
                                      <m:r>
                                        <a:rPr kumimoji="1" lang="en-US" altLang="zh-CN" sz="2000" i="1">
                                          <a:latin typeface="Cambria Math" panose="02040503050406030204" pitchFamily="18" charset="0"/>
                                        </a:rPr>
                                        <m:t>−∞</m:t>
                                      </m:r>
                                    </m:e>
                                    <m:e>
                                      <m:r>
                                        <a:rPr kumimoji="1" lang="en-US" altLang="zh-CN" sz="2000" i="1">
                                          <a:latin typeface="Cambria Math" panose="02040503050406030204" pitchFamily="18" charset="0"/>
                                        </a:rPr>
                                        <m:t>−∞</m:t>
                                      </m:r>
                                    </m:e>
                                  </m:mr>
                                  <m:mr>
                                    <m:e>
                                      <m:r>
                                        <a:rPr kumimoji="1" lang="en-US" altLang="zh-CN" sz="2000" i="1">
                                          <a:latin typeface="Cambria Math" panose="02040503050406030204" pitchFamily="18" charset="0"/>
                                        </a:rPr>
                                        <m:t>−∞</m:t>
                                      </m:r>
                                    </m:e>
                                    <m:e>
                                      <m:r>
                                        <a:rPr kumimoji="1" lang="en-US" altLang="zh-CN" sz="2000" i="1">
                                          <a:latin typeface="Cambria Math" panose="02040503050406030204" pitchFamily="18" charset="0"/>
                                        </a:rPr>
                                        <m:t>⋯</m:t>
                                      </m:r>
                                    </m:e>
                                    <m:e>
                                      <m:r>
                                        <a:rPr kumimoji="1" lang="en-US" altLang="zh-CN" sz="2000" i="1">
                                          <a:latin typeface="Cambria Math" panose="02040503050406030204" pitchFamily="18" charset="0"/>
                                        </a:rPr>
                                        <m:t>⋯</m:t>
                                      </m:r>
                                    </m:e>
                                  </m:mr>
                                </m:m>
                              </m:e>
                            </m:mr>
                            <m:mr>
                              <m:e>
                                <m:m>
                                  <m:mPr>
                                    <m:mcs>
                                      <m:mc>
                                        <m:mcPr>
                                          <m:count m:val="3"/>
                                          <m:mcJc m:val="center"/>
                                        </m:mcPr>
                                      </m:mc>
                                    </m:mcs>
                                    <m:ctrlPr>
                                      <a:rPr kumimoji="1" lang="en-US" altLang="zh-CN" sz="2000" i="1">
                                        <a:latin typeface="Cambria Math" panose="02040503050406030204" pitchFamily="18" charset="0"/>
                                      </a:rPr>
                                    </m:ctrlPr>
                                  </m:mPr>
                                  <m:mr>
                                    <m:e/>
                                    <m:e/>
                                    <m:e/>
                                  </m:mr>
                                  <m:mr>
                                    <m:e/>
                                    <m:e/>
                                    <m:e/>
                                  </m:mr>
                                  <m:mr>
                                    <m:e/>
                                    <m:e/>
                                    <m:e/>
                                  </m:mr>
                                </m:m>
                              </m:e>
                              <m:e>
                                <m:m>
                                  <m:mPr>
                                    <m:mcs>
                                      <m:mc>
                                        <m:mcPr>
                                          <m:count m:val="3"/>
                                          <m:mcJc m:val="center"/>
                                        </m:mcPr>
                                      </m:mc>
                                    </m:mcs>
                                    <m:ctrlPr>
                                      <a:rPr kumimoji="1" lang="en-US" altLang="zh-CN" sz="2000" i="1">
                                        <a:latin typeface="Cambria Math" panose="02040503050406030204" pitchFamily="18" charset="0"/>
                                      </a:rPr>
                                    </m:ctrlPr>
                                  </m:mPr>
                                  <m:mr>
                                    <m:e/>
                                    <m:e>
                                      <m:r>
                                        <a:rPr kumimoji="1" lang="en-US" altLang="zh-CN" sz="2000" i="1">
                                          <a:latin typeface="Cambria Math" panose="02040503050406030204" pitchFamily="18" charset="0"/>
                                        </a:rPr>
                                        <m:t>−∞</m:t>
                                      </m:r>
                                    </m:e>
                                    <m:e>
                                      <m:r>
                                        <a:rPr kumimoji="1" lang="en-US" altLang="zh-CN" sz="2000" i="1">
                                          <a:latin typeface="Cambria Math" panose="02040503050406030204" pitchFamily="18" charset="0"/>
                                        </a:rPr>
                                        <m:t>−∞</m:t>
                                      </m:r>
                                    </m:e>
                                  </m:mr>
                                  <m:mr>
                                    <m:e/>
                                    <m:e/>
                                    <m:e>
                                      <m:r>
                                        <a:rPr kumimoji="1" lang="en-US" altLang="zh-CN" sz="2000" i="1">
                                          <a:latin typeface="Cambria Math" panose="02040503050406030204" pitchFamily="18" charset="0"/>
                                        </a:rPr>
                                        <m:t>−∞</m:t>
                                      </m:r>
                                    </m:e>
                                  </m:mr>
                                  <m:mr>
                                    <m:e/>
                                    <m:e/>
                                    <m:e/>
                                  </m:mr>
                                </m:m>
                              </m:e>
                            </m:mr>
                          </m:m>
                        </m:e>
                      </m:d>
                    </m:oMath>
                  </m:oMathPara>
                </a14:m>
                <a:endParaRPr kumimoji="1" lang="zh-CN" altLang="en-US" sz="2000" dirty="0"/>
              </a:p>
            </p:txBody>
          </p:sp>
        </mc:Choice>
        <mc:Fallback xmlns="">
          <p:sp>
            <p:nvSpPr>
              <p:cNvPr id="2" name="文本框 1">
                <a:extLst>
                  <a:ext uri="{FF2B5EF4-FFF2-40B4-BE49-F238E27FC236}">
                    <a16:creationId xmlns:a16="http://schemas.microsoft.com/office/drawing/2014/main" id="{B0FE8C74-A250-3701-B0DC-DB9D4DE59D93}"/>
                  </a:ext>
                </a:extLst>
              </p:cNvPr>
              <p:cNvSpPr txBox="1">
                <a:spLocks noRot="1" noChangeAspect="1" noMove="1" noResize="1" noEditPoints="1" noAdjustHandles="1" noChangeArrowheads="1" noChangeShapeType="1" noTextEdit="1"/>
              </p:cNvSpPr>
              <p:nvPr/>
            </p:nvSpPr>
            <p:spPr>
              <a:xfrm>
                <a:off x="7692079" y="3608172"/>
                <a:ext cx="3819956" cy="1720920"/>
              </a:xfrm>
              <a:prstGeom prst="rect">
                <a:avLst/>
              </a:prstGeom>
              <a:blipFill>
                <a:blip r:embed="rId4"/>
                <a:stretch>
                  <a:fillRect/>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FFBCCB69-AC0D-152B-F167-FF97A1759E52}"/>
              </a:ext>
            </a:extLst>
          </p:cNvPr>
          <p:cNvSpPr txBox="1"/>
          <p:nvPr/>
        </p:nvSpPr>
        <p:spPr>
          <a:xfrm>
            <a:off x="7048538" y="5366163"/>
            <a:ext cx="4798380" cy="830997"/>
          </a:xfrm>
          <a:prstGeom prst="rect">
            <a:avLst/>
          </a:prstGeom>
          <a:noFill/>
        </p:spPr>
        <p:txBody>
          <a:bodyPr wrap="square" rtlCol="0">
            <a:spAutoFit/>
          </a:bodyPr>
          <a:lstStyle/>
          <a:p>
            <a:pPr algn="l"/>
            <a:r>
              <a:rPr kumimoji="1" lang="zh-CN" altLang="en-US" sz="2400" dirty="0">
                <a:solidFill>
                  <a:schemeClr val="tx2"/>
                </a:solidFill>
              </a:rPr>
              <a:t>元素</a:t>
            </a:r>
            <a:r>
              <a:rPr kumimoji="1" lang="en-US" altLang="zh-CN" sz="2400" dirty="0">
                <a:solidFill>
                  <a:schemeClr val="tx2"/>
                </a:solidFill>
              </a:rPr>
              <a:t> </a:t>
            </a:r>
            <a:r>
              <a:rPr kumimoji="1" lang="en-US" altLang="zh-CN" sz="2400" dirty="0" err="1">
                <a:solidFill>
                  <a:schemeClr val="tx2"/>
                </a:solidFill>
              </a:rPr>
              <a:t>i,j</a:t>
            </a:r>
            <a:r>
              <a:rPr kumimoji="1" lang="en-US" altLang="zh-CN" sz="2400" dirty="0">
                <a:solidFill>
                  <a:schemeClr val="tx2"/>
                </a:solidFill>
              </a:rPr>
              <a:t>: </a:t>
            </a:r>
            <a:r>
              <a:rPr kumimoji="1" lang="zh-CN" altLang="en-US" sz="2400" dirty="0">
                <a:solidFill>
                  <a:schemeClr val="tx2"/>
                </a:solidFill>
              </a:rPr>
              <a:t>第</a:t>
            </a:r>
            <a:r>
              <a:rPr kumimoji="1" lang="en-US" altLang="zh-CN" sz="2400" dirty="0" err="1">
                <a:solidFill>
                  <a:schemeClr val="tx2"/>
                </a:solidFill>
              </a:rPr>
              <a:t>i</a:t>
            </a:r>
            <a:r>
              <a:rPr kumimoji="1" lang="zh-CN" altLang="en-US" sz="2400" dirty="0">
                <a:solidFill>
                  <a:schemeClr val="tx2"/>
                </a:solidFill>
              </a:rPr>
              <a:t>个词对第</a:t>
            </a:r>
            <a:r>
              <a:rPr kumimoji="1" lang="en-US" altLang="zh-CN" sz="2400" dirty="0">
                <a:solidFill>
                  <a:schemeClr val="tx2"/>
                </a:solidFill>
              </a:rPr>
              <a:t>j</a:t>
            </a:r>
            <a:r>
              <a:rPr kumimoji="1" lang="zh-CN" altLang="en-US" sz="2400" dirty="0">
                <a:solidFill>
                  <a:schemeClr val="tx2"/>
                </a:solidFill>
              </a:rPr>
              <a:t>个词的注意值</a:t>
            </a:r>
            <a:endParaRPr kumimoji="1" lang="en-US" altLang="zh-CN" sz="2400" dirty="0">
              <a:solidFill>
                <a:schemeClr val="tx2"/>
              </a:solidFill>
            </a:endParaRPr>
          </a:p>
          <a:p>
            <a:pPr algn="l"/>
            <a:r>
              <a:rPr kumimoji="1" lang="zh-CN" altLang="en-US" sz="2400" dirty="0">
                <a:solidFill>
                  <a:schemeClr val="tx2"/>
                </a:solidFill>
              </a:rPr>
              <a:t>只能对自己前面的词有关注！</a:t>
            </a:r>
          </a:p>
        </p:txBody>
      </p:sp>
    </p:spTree>
    <p:extLst>
      <p:ext uri="{BB962C8B-B14F-4D97-AF65-F5344CB8AC3E}">
        <p14:creationId xmlns:p14="http://schemas.microsoft.com/office/powerpoint/2010/main" val="40917031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注意力机制</a:t>
            </a:r>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stretch>
            <a:fillRect/>
          </a:stretch>
        </p:blipFill>
        <p:spPr>
          <a:xfrm>
            <a:off x="345082" y="880238"/>
            <a:ext cx="11673954" cy="2727934"/>
          </a:xfrm>
          <a:prstGeom prst="rect">
            <a:avLst/>
          </a:prstGeom>
        </p:spPr>
      </p:pic>
      <p:sp>
        <p:nvSpPr>
          <p:cNvPr id="7" name="标题 2">
            <a:extLst>
              <a:ext uri="{FF2B5EF4-FFF2-40B4-BE49-F238E27FC236}">
                <a16:creationId xmlns:a16="http://schemas.microsoft.com/office/drawing/2014/main" id="{3D7B8E85-5C71-5677-B1F0-FCA751689CAB}"/>
              </a:ext>
            </a:extLst>
          </p:cNvPr>
          <p:cNvSpPr txBox="1">
            <a:spLocks/>
          </p:cNvSpPr>
          <p:nvPr/>
        </p:nvSpPr>
        <p:spPr>
          <a:xfrm>
            <a:off x="417402" y="3429000"/>
            <a:ext cx="11429516" cy="761979"/>
          </a:xfrm>
          <a:prstGeom prst="rect">
            <a:avLst/>
          </a:prstGeom>
          <a:ln>
            <a:noFill/>
          </a:ln>
        </p:spPr>
        <p:txBody>
          <a:bodyPr vert="horz" lIns="0" tIns="0" rIns="0" bIns="0" rtlCol="0" anchor="b" anchorCtr="0">
            <a:noAutofit/>
          </a:bodyPr>
          <a:lst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算关联</a:t>
            </a:r>
            <a:r>
              <a:rPr lang="en-US" altLang="zh-CN" dirty="0"/>
              <a:t>+Mask+</a:t>
            </a:r>
            <a:r>
              <a:rPr lang="zh-CN" altLang="en-US" dirty="0"/>
              <a:t>归一化</a:t>
            </a:r>
            <a:endParaRPr lang="en-US" altLang="zh-CN" dirty="0"/>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B0FE8C74-A250-3701-B0DC-DB9D4DE59D93}"/>
                  </a:ext>
                </a:extLst>
              </p:cNvPr>
              <p:cNvSpPr txBox="1"/>
              <p:nvPr/>
            </p:nvSpPr>
            <p:spPr>
              <a:xfrm>
                <a:off x="7692079" y="3608172"/>
                <a:ext cx="2946319" cy="17209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kumimoji="1" lang="en-US" altLang="zh-CN" sz="2000" i="1" smtClean="0">
                              <a:latin typeface="Cambria Math" panose="02040503050406030204" pitchFamily="18" charset="0"/>
                            </a:rPr>
                          </m:ctrlPr>
                        </m:dPr>
                        <m:e>
                          <m:m>
                            <m:mPr>
                              <m:mcs>
                                <m:mc>
                                  <m:mcPr>
                                    <m:count m:val="2"/>
                                    <m:mcJc m:val="center"/>
                                  </m:mcPr>
                                </m:mc>
                              </m:mcs>
                              <m:ctrlPr>
                                <a:rPr kumimoji="1" lang="en-US" altLang="zh-CN" sz="2000" i="1" smtClean="0">
                                  <a:latin typeface="Cambria Math" panose="02040503050406030204" pitchFamily="18" charset="0"/>
                                </a:rPr>
                              </m:ctrlPr>
                            </m:mPr>
                            <m:mr>
                              <m:e>
                                <m:m>
                                  <m:mPr>
                                    <m:mcs>
                                      <m:mc>
                                        <m:mcPr>
                                          <m:count m:val="3"/>
                                          <m:mcJc m:val="center"/>
                                        </m:mcPr>
                                      </m:mc>
                                    </m:mcs>
                                    <m:ctrlPr>
                                      <a:rPr kumimoji="1" lang="en-US" altLang="zh-CN" sz="2000" i="1" smtClean="0">
                                        <a:latin typeface="Cambria Math" panose="02040503050406030204" pitchFamily="18" charset="0"/>
                                      </a:rPr>
                                    </m:ctrlPr>
                                  </m:mPr>
                                  <m:mr>
                                    <m:e/>
                                    <m:e>
                                      <m:r>
                                        <a:rPr kumimoji="1" lang="en-US" altLang="zh-CN" sz="2000" b="0" i="1" smtClean="0">
                                          <a:latin typeface="Cambria Math" panose="02040503050406030204" pitchFamily="18" charset="0"/>
                                        </a:rPr>
                                        <m:t>0</m:t>
                                      </m:r>
                                    </m:e>
                                    <m:e>
                                      <m:r>
                                        <a:rPr kumimoji="1" lang="en-US" altLang="zh-CN" sz="2000" b="0" i="1" smtClean="0">
                                          <a:latin typeface="Cambria Math" panose="02040503050406030204" pitchFamily="18" charset="0"/>
                                        </a:rPr>
                                        <m:t>0</m:t>
                                      </m:r>
                                    </m:e>
                                  </m:mr>
                                  <m:mr>
                                    <m:e/>
                                    <m:e/>
                                    <m:e>
                                      <m:r>
                                        <a:rPr kumimoji="1" lang="en-US" altLang="zh-CN" sz="2000" b="0" i="1" smtClean="0">
                                          <a:latin typeface="Cambria Math" panose="02040503050406030204" pitchFamily="18" charset="0"/>
                                        </a:rPr>
                                        <m:t>0</m:t>
                                      </m:r>
                                    </m:e>
                                  </m:mr>
                                  <m:mr>
                                    <m:e/>
                                    <m:e/>
                                    <m:e/>
                                  </m:mr>
                                </m:m>
                              </m:e>
                              <m:e>
                                <m:m>
                                  <m:mPr>
                                    <m:mcs>
                                      <m:mc>
                                        <m:mcPr>
                                          <m:count m:val="3"/>
                                          <m:mcJc m:val="center"/>
                                        </m:mcPr>
                                      </m:mc>
                                    </m:mcs>
                                    <m:ctrlPr>
                                      <a:rPr kumimoji="1" lang="en-US" altLang="zh-CN" sz="2000" i="1">
                                        <a:latin typeface="Cambria Math" panose="02040503050406030204" pitchFamily="18" charset="0"/>
                                      </a:rPr>
                                    </m:ctrlPr>
                                  </m:mPr>
                                  <m:mr>
                                    <m:e>
                                      <m:r>
                                        <a:rPr kumimoji="1" lang="en-US" altLang="zh-CN" sz="2000" b="0" i="1" smtClean="0">
                                          <a:latin typeface="Cambria Math" panose="02040503050406030204" pitchFamily="18" charset="0"/>
                                        </a:rPr>
                                        <m:t>⋯</m:t>
                                      </m:r>
                                    </m:e>
                                    <m:e>
                                      <m:r>
                                        <a:rPr kumimoji="1" lang="en-US" altLang="zh-CN" sz="2000" b="0" i="1" smtClean="0">
                                          <a:latin typeface="Cambria Math" panose="02040503050406030204" pitchFamily="18" charset="0"/>
                                        </a:rPr>
                                        <m:t>⋯</m:t>
                                      </m:r>
                                    </m:e>
                                    <m:e>
                                      <m:r>
                                        <a:rPr kumimoji="1" lang="en-US" altLang="zh-CN" sz="2000" b="0" i="1" smtClean="0">
                                          <a:latin typeface="Cambria Math" panose="02040503050406030204" pitchFamily="18" charset="0"/>
                                        </a:rPr>
                                        <m:t>0</m:t>
                                      </m:r>
                                    </m:e>
                                  </m:mr>
                                  <m:mr>
                                    <m:e>
                                      <m:r>
                                        <a:rPr kumimoji="1" lang="en-US" altLang="zh-CN" sz="2000" i="1">
                                          <a:latin typeface="Cambria Math" panose="02040503050406030204" pitchFamily="18" charset="0"/>
                                        </a:rPr>
                                        <m:t>⋯</m:t>
                                      </m:r>
                                    </m:e>
                                    <m:e>
                                      <m:r>
                                        <a:rPr kumimoji="1" lang="en-US" altLang="zh-CN" sz="2000" b="0" i="1" smtClean="0">
                                          <a:latin typeface="Cambria Math" panose="02040503050406030204" pitchFamily="18" charset="0"/>
                                        </a:rPr>
                                        <m:t>0</m:t>
                                      </m:r>
                                    </m:e>
                                    <m:e>
                                      <m:r>
                                        <a:rPr kumimoji="1" lang="en-US" altLang="zh-CN" sz="2000" b="0" i="1" smtClean="0">
                                          <a:latin typeface="Cambria Math" panose="02040503050406030204" pitchFamily="18" charset="0"/>
                                        </a:rPr>
                                        <m:t>0</m:t>
                                      </m:r>
                                    </m:e>
                                  </m:mr>
                                  <m:mr>
                                    <m:e>
                                      <m:r>
                                        <a:rPr kumimoji="1" lang="en-US" altLang="zh-CN" sz="2000" b="0" i="1" smtClean="0">
                                          <a:latin typeface="Cambria Math" panose="02040503050406030204" pitchFamily="18" charset="0"/>
                                        </a:rPr>
                                        <m:t>0</m:t>
                                      </m:r>
                                    </m:e>
                                    <m:e>
                                      <m:r>
                                        <a:rPr kumimoji="1" lang="en-US" altLang="zh-CN" sz="2000" i="1">
                                          <a:latin typeface="Cambria Math" panose="02040503050406030204" pitchFamily="18" charset="0"/>
                                        </a:rPr>
                                        <m:t>⋯</m:t>
                                      </m:r>
                                    </m:e>
                                    <m:e>
                                      <m:r>
                                        <a:rPr kumimoji="1" lang="en-US" altLang="zh-CN" sz="2000" i="1">
                                          <a:latin typeface="Cambria Math" panose="02040503050406030204" pitchFamily="18" charset="0"/>
                                        </a:rPr>
                                        <m:t>⋯</m:t>
                                      </m:r>
                                    </m:e>
                                  </m:mr>
                                </m:m>
                              </m:e>
                            </m:mr>
                            <m:mr>
                              <m:e>
                                <m:m>
                                  <m:mPr>
                                    <m:mcs>
                                      <m:mc>
                                        <m:mcPr>
                                          <m:count m:val="3"/>
                                          <m:mcJc m:val="center"/>
                                        </m:mcPr>
                                      </m:mc>
                                    </m:mcs>
                                    <m:ctrlPr>
                                      <a:rPr kumimoji="1" lang="en-US" altLang="zh-CN" sz="2000" i="1">
                                        <a:latin typeface="Cambria Math" panose="02040503050406030204" pitchFamily="18" charset="0"/>
                                      </a:rPr>
                                    </m:ctrlPr>
                                  </m:mPr>
                                  <m:mr>
                                    <m:e/>
                                    <m:e/>
                                    <m:e/>
                                  </m:mr>
                                  <m:mr>
                                    <m:e/>
                                    <m:e/>
                                    <m:e/>
                                  </m:mr>
                                  <m:mr>
                                    <m:e/>
                                    <m:e/>
                                    <m:e/>
                                  </m:mr>
                                </m:m>
                              </m:e>
                              <m:e>
                                <m:m>
                                  <m:mPr>
                                    <m:mcs>
                                      <m:mc>
                                        <m:mcPr>
                                          <m:count m:val="3"/>
                                          <m:mcJc m:val="center"/>
                                        </m:mcPr>
                                      </m:mc>
                                    </m:mcs>
                                    <m:ctrlPr>
                                      <a:rPr kumimoji="1" lang="en-US" altLang="zh-CN" sz="2000" i="1">
                                        <a:latin typeface="Cambria Math" panose="02040503050406030204" pitchFamily="18" charset="0"/>
                                      </a:rPr>
                                    </m:ctrlPr>
                                  </m:mPr>
                                  <m:mr>
                                    <m:e/>
                                    <m:e>
                                      <m:r>
                                        <a:rPr kumimoji="1" lang="en-US" altLang="zh-CN" sz="2000" b="0" i="1" smtClean="0">
                                          <a:latin typeface="Cambria Math" panose="02040503050406030204" pitchFamily="18" charset="0"/>
                                        </a:rPr>
                                        <m:t>0</m:t>
                                      </m:r>
                                    </m:e>
                                    <m:e>
                                      <m:r>
                                        <a:rPr kumimoji="1" lang="en-US" altLang="zh-CN" sz="2000" b="0" i="1" smtClean="0">
                                          <a:latin typeface="Cambria Math" panose="02040503050406030204" pitchFamily="18" charset="0"/>
                                        </a:rPr>
                                        <m:t>0</m:t>
                                      </m:r>
                                    </m:e>
                                  </m:mr>
                                  <m:mr>
                                    <m:e/>
                                    <m:e/>
                                    <m:e>
                                      <m:r>
                                        <a:rPr kumimoji="1" lang="en-US" altLang="zh-CN" sz="2000" b="0" i="1" smtClean="0">
                                          <a:latin typeface="Cambria Math" panose="02040503050406030204" pitchFamily="18" charset="0"/>
                                        </a:rPr>
                                        <m:t>0</m:t>
                                      </m:r>
                                    </m:e>
                                  </m:mr>
                                  <m:mr>
                                    <m:e/>
                                    <m:e/>
                                    <m:e/>
                                  </m:mr>
                                </m:m>
                              </m:e>
                            </m:mr>
                          </m:m>
                        </m:e>
                      </m:d>
                    </m:oMath>
                  </m:oMathPara>
                </a14:m>
                <a:endParaRPr kumimoji="1" lang="zh-CN" altLang="en-US" sz="2000" dirty="0"/>
              </a:p>
            </p:txBody>
          </p:sp>
        </mc:Choice>
        <mc:Fallback xmlns="">
          <p:sp>
            <p:nvSpPr>
              <p:cNvPr id="2" name="文本框 1">
                <a:extLst>
                  <a:ext uri="{FF2B5EF4-FFF2-40B4-BE49-F238E27FC236}">
                    <a16:creationId xmlns:a16="http://schemas.microsoft.com/office/drawing/2014/main" id="{B0FE8C74-A250-3701-B0DC-DB9D4DE59D93}"/>
                  </a:ext>
                </a:extLst>
              </p:cNvPr>
              <p:cNvSpPr txBox="1">
                <a:spLocks noRot="1" noChangeAspect="1" noMove="1" noResize="1" noEditPoints="1" noAdjustHandles="1" noChangeArrowheads="1" noChangeShapeType="1" noTextEdit="1"/>
              </p:cNvSpPr>
              <p:nvPr/>
            </p:nvSpPr>
            <p:spPr>
              <a:xfrm>
                <a:off x="7692079" y="3608172"/>
                <a:ext cx="2946319" cy="1720920"/>
              </a:xfrm>
              <a:prstGeom prst="rect">
                <a:avLst/>
              </a:prstGeom>
              <a:blipFill>
                <a:blip r:embed="rId3"/>
                <a:stretch>
                  <a:fillRect t="-735"/>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FFBCCB69-AC0D-152B-F167-FF97A1759E52}"/>
              </a:ext>
            </a:extLst>
          </p:cNvPr>
          <p:cNvSpPr txBox="1"/>
          <p:nvPr/>
        </p:nvSpPr>
        <p:spPr>
          <a:xfrm>
            <a:off x="7048538" y="5366163"/>
            <a:ext cx="4798380" cy="830997"/>
          </a:xfrm>
          <a:prstGeom prst="rect">
            <a:avLst/>
          </a:prstGeom>
          <a:noFill/>
        </p:spPr>
        <p:txBody>
          <a:bodyPr wrap="square" rtlCol="0">
            <a:spAutoFit/>
          </a:bodyPr>
          <a:lstStyle/>
          <a:p>
            <a:pPr algn="l"/>
            <a:r>
              <a:rPr kumimoji="1" lang="zh-CN" altLang="en-US" sz="2400" dirty="0">
                <a:solidFill>
                  <a:schemeClr val="tx2"/>
                </a:solidFill>
              </a:rPr>
              <a:t>元素</a:t>
            </a:r>
            <a:r>
              <a:rPr kumimoji="1" lang="en-US" altLang="zh-CN" sz="2400" dirty="0">
                <a:solidFill>
                  <a:schemeClr val="tx2"/>
                </a:solidFill>
              </a:rPr>
              <a:t> </a:t>
            </a:r>
            <a:r>
              <a:rPr kumimoji="1" lang="en-US" altLang="zh-CN" sz="2400" dirty="0" err="1">
                <a:solidFill>
                  <a:schemeClr val="tx2"/>
                </a:solidFill>
              </a:rPr>
              <a:t>i,j</a:t>
            </a:r>
            <a:r>
              <a:rPr kumimoji="1" lang="en-US" altLang="zh-CN" sz="2400" dirty="0">
                <a:solidFill>
                  <a:schemeClr val="tx2"/>
                </a:solidFill>
              </a:rPr>
              <a:t>: </a:t>
            </a:r>
            <a:r>
              <a:rPr kumimoji="1" lang="zh-CN" altLang="en-US" sz="2400" dirty="0">
                <a:solidFill>
                  <a:schemeClr val="tx2"/>
                </a:solidFill>
              </a:rPr>
              <a:t>第</a:t>
            </a:r>
            <a:r>
              <a:rPr kumimoji="1" lang="en-US" altLang="zh-CN" sz="2400" dirty="0" err="1">
                <a:solidFill>
                  <a:schemeClr val="tx2"/>
                </a:solidFill>
              </a:rPr>
              <a:t>i</a:t>
            </a:r>
            <a:r>
              <a:rPr kumimoji="1" lang="zh-CN" altLang="en-US" sz="2400" dirty="0">
                <a:solidFill>
                  <a:schemeClr val="tx2"/>
                </a:solidFill>
              </a:rPr>
              <a:t>个词对第</a:t>
            </a:r>
            <a:r>
              <a:rPr kumimoji="1" lang="en-US" altLang="zh-CN" sz="2400" dirty="0">
                <a:solidFill>
                  <a:schemeClr val="tx2"/>
                </a:solidFill>
              </a:rPr>
              <a:t>j</a:t>
            </a:r>
            <a:r>
              <a:rPr kumimoji="1" lang="zh-CN" altLang="en-US" sz="2400" dirty="0">
                <a:solidFill>
                  <a:schemeClr val="tx2"/>
                </a:solidFill>
              </a:rPr>
              <a:t>个词的注意值</a:t>
            </a:r>
            <a:endParaRPr kumimoji="1" lang="en-US" altLang="zh-CN" sz="2400" dirty="0">
              <a:solidFill>
                <a:schemeClr val="tx2"/>
              </a:solidFill>
            </a:endParaRPr>
          </a:p>
          <a:p>
            <a:pPr algn="l"/>
            <a:r>
              <a:rPr kumimoji="1" lang="zh-CN" altLang="en-US" sz="2400" dirty="0">
                <a:solidFill>
                  <a:schemeClr val="tx2"/>
                </a:solidFill>
              </a:rPr>
              <a:t>只能对自己前面的词有关注！</a:t>
            </a:r>
          </a:p>
        </p:txBody>
      </p:sp>
      <p:pic>
        <p:nvPicPr>
          <p:cNvPr id="6" name="图片 5">
            <a:extLst>
              <a:ext uri="{FF2B5EF4-FFF2-40B4-BE49-F238E27FC236}">
                <a16:creationId xmlns:a16="http://schemas.microsoft.com/office/drawing/2014/main" id="{705B88C1-D27C-0BB5-0D37-AE9FEEE9E13B}"/>
              </a:ext>
            </a:extLst>
          </p:cNvPr>
          <p:cNvPicPr>
            <a:picLocks noChangeAspect="1"/>
          </p:cNvPicPr>
          <p:nvPr/>
        </p:nvPicPr>
        <p:blipFill>
          <a:blip r:embed="rId4"/>
          <a:stretch>
            <a:fillRect/>
          </a:stretch>
        </p:blipFill>
        <p:spPr>
          <a:xfrm>
            <a:off x="345082" y="4254055"/>
            <a:ext cx="6713024" cy="900462"/>
          </a:xfrm>
          <a:prstGeom prst="rect">
            <a:avLst/>
          </a:prstGeom>
        </p:spPr>
      </p:pic>
      <p:pic>
        <p:nvPicPr>
          <p:cNvPr id="9" name="图片 8">
            <a:extLst>
              <a:ext uri="{FF2B5EF4-FFF2-40B4-BE49-F238E27FC236}">
                <a16:creationId xmlns:a16="http://schemas.microsoft.com/office/drawing/2014/main" id="{8BD8B02E-85B2-9DFB-45FE-7407B477D404}"/>
              </a:ext>
            </a:extLst>
          </p:cNvPr>
          <p:cNvPicPr>
            <a:picLocks noChangeAspect="1"/>
          </p:cNvPicPr>
          <p:nvPr/>
        </p:nvPicPr>
        <p:blipFill>
          <a:blip r:embed="rId5"/>
          <a:stretch>
            <a:fillRect/>
          </a:stretch>
        </p:blipFill>
        <p:spPr>
          <a:xfrm>
            <a:off x="503900" y="5152454"/>
            <a:ext cx="4798380" cy="1136087"/>
          </a:xfrm>
          <a:prstGeom prst="rect">
            <a:avLst/>
          </a:prstGeom>
        </p:spPr>
      </p:pic>
    </p:spTree>
    <p:extLst>
      <p:ext uri="{BB962C8B-B14F-4D97-AF65-F5344CB8AC3E}">
        <p14:creationId xmlns:p14="http://schemas.microsoft.com/office/powerpoint/2010/main" val="6390010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注意力机制</a:t>
            </a:r>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stretch>
            <a:fillRect/>
          </a:stretch>
        </p:blipFill>
        <p:spPr>
          <a:xfrm>
            <a:off x="345082" y="880238"/>
            <a:ext cx="11673954" cy="2727934"/>
          </a:xfrm>
          <a:prstGeom prst="rect">
            <a:avLst/>
          </a:prstGeom>
        </p:spPr>
      </p:pic>
      <p:sp>
        <p:nvSpPr>
          <p:cNvPr id="7" name="标题 2">
            <a:extLst>
              <a:ext uri="{FF2B5EF4-FFF2-40B4-BE49-F238E27FC236}">
                <a16:creationId xmlns:a16="http://schemas.microsoft.com/office/drawing/2014/main" id="{3D7B8E85-5C71-5677-B1F0-FCA751689CAB}"/>
              </a:ext>
            </a:extLst>
          </p:cNvPr>
          <p:cNvSpPr txBox="1">
            <a:spLocks/>
          </p:cNvSpPr>
          <p:nvPr/>
        </p:nvSpPr>
        <p:spPr>
          <a:xfrm>
            <a:off x="417402" y="3429000"/>
            <a:ext cx="11429516" cy="761979"/>
          </a:xfrm>
          <a:prstGeom prst="rect">
            <a:avLst/>
          </a:prstGeom>
          <a:ln>
            <a:noFill/>
          </a:ln>
        </p:spPr>
        <p:txBody>
          <a:bodyPr vert="horz" lIns="0" tIns="0" rIns="0" bIns="0" rtlCol="0" anchor="b" anchorCtr="0">
            <a:noAutofit/>
          </a:bodyPr>
          <a:lst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算关联</a:t>
            </a:r>
            <a:r>
              <a:rPr lang="en-US" altLang="zh-CN" dirty="0"/>
              <a:t>+Mask+</a:t>
            </a:r>
            <a:r>
              <a:rPr lang="zh-CN" altLang="en-US" dirty="0"/>
              <a:t>归一化</a:t>
            </a:r>
            <a:r>
              <a:rPr lang="en-US" altLang="zh-CN" dirty="0"/>
              <a:t>+</a:t>
            </a:r>
            <a:r>
              <a:rPr lang="zh-CN" altLang="en-US" dirty="0"/>
              <a:t>加权求和</a:t>
            </a:r>
            <a:endParaRPr lang="en-US" altLang="zh-CN" dirty="0"/>
          </a:p>
        </p:txBody>
      </p:sp>
      <p:pic>
        <p:nvPicPr>
          <p:cNvPr id="10" name="图片 9">
            <a:extLst>
              <a:ext uri="{FF2B5EF4-FFF2-40B4-BE49-F238E27FC236}">
                <a16:creationId xmlns:a16="http://schemas.microsoft.com/office/drawing/2014/main" id="{13500754-B587-F414-11D8-D76FEB2A3CF4}"/>
              </a:ext>
            </a:extLst>
          </p:cNvPr>
          <p:cNvPicPr>
            <a:picLocks noChangeAspect="1"/>
          </p:cNvPicPr>
          <p:nvPr/>
        </p:nvPicPr>
        <p:blipFill>
          <a:blip r:embed="rId3"/>
          <a:stretch>
            <a:fillRect/>
          </a:stretch>
        </p:blipFill>
        <p:spPr>
          <a:xfrm>
            <a:off x="2702014" y="4678697"/>
            <a:ext cx="6577910" cy="700709"/>
          </a:xfrm>
          <a:prstGeom prst="rect">
            <a:avLst/>
          </a:prstGeom>
        </p:spPr>
      </p:pic>
    </p:spTree>
    <p:extLst>
      <p:ext uri="{BB962C8B-B14F-4D97-AF65-F5344CB8AC3E}">
        <p14:creationId xmlns:p14="http://schemas.microsoft.com/office/powerpoint/2010/main" val="13970270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6475F-5A9A-B989-F7A9-E850797C07E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B98ECAA-4BB3-71BF-2251-F60322417780}"/>
              </a:ext>
            </a:extLst>
          </p:cNvPr>
          <p:cNvSpPr>
            <a:spLocks noGrp="1"/>
          </p:cNvSpPr>
          <p:nvPr>
            <p:ph type="title"/>
          </p:nvPr>
        </p:nvSpPr>
        <p:spPr/>
        <p:txBody>
          <a:bodyPr/>
          <a:lstStyle/>
          <a:p>
            <a:r>
              <a:rPr lang="en-US" altLang="zh-CN" dirty="0"/>
              <a:t>Transformer</a:t>
            </a:r>
            <a:r>
              <a:rPr lang="zh-CN" altLang="en-US" dirty="0"/>
              <a:t>核心：</a:t>
            </a:r>
            <a:r>
              <a:rPr lang="en-US" altLang="zh-CN" dirty="0"/>
              <a:t>Attention</a:t>
            </a:r>
            <a:r>
              <a:rPr lang="zh-CN" altLang="en-US" dirty="0"/>
              <a:t>机制</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A0802533-D82E-D01A-7CD5-7E2610B54F7E}"/>
                  </a:ext>
                </a:extLst>
              </p:cNvPr>
              <p:cNvSpPr txBox="1"/>
              <p:nvPr/>
            </p:nvSpPr>
            <p:spPr>
              <a:xfrm>
                <a:off x="381000" y="1012121"/>
                <a:ext cx="11429516" cy="5064720"/>
              </a:xfrm>
              <a:prstGeom prst="rect">
                <a:avLst/>
              </a:prstGeom>
              <a:noFill/>
            </p:spPr>
            <p:txBody>
              <a:bodyPr wrap="square" rtlCol="0">
                <a:spAutoFit/>
              </a:bodyPr>
              <a:lstStyle/>
              <a:p>
                <a:pPr>
                  <a:lnSpc>
                    <a:spcPct val="150000"/>
                  </a:lnSpc>
                </a:pPr>
                <a:r>
                  <a:rPr lang="en-US" altLang="zh-CN" sz="2400" b="1" dirty="0">
                    <a:solidFill>
                      <a:schemeClr val="tx2"/>
                    </a:solidFill>
                    <a:latin typeface="微软雅黑" panose="020B0503020204020204" pitchFamily="34" charset="-122"/>
                    <a:ea typeface="微软雅黑" panose="020B0503020204020204" pitchFamily="34" charset="-122"/>
                  </a:rPr>
                  <a:t>Attention</a:t>
                </a:r>
                <a:r>
                  <a:rPr lang="zh-CN" altLang="en-US" sz="2400" b="1" dirty="0">
                    <a:solidFill>
                      <a:schemeClr val="tx2"/>
                    </a:solidFill>
                    <a:latin typeface="微软雅黑" panose="020B0503020204020204" pitchFamily="34" charset="-122"/>
                    <a:ea typeface="微软雅黑" panose="020B0503020204020204" pitchFamily="34" charset="-122"/>
                  </a:rPr>
                  <a:t>机制的</a:t>
                </a:r>
                <a:r>
                  <a:rPr lang="en-US" altLang="zh-CN" sz="2400" b="1" dirty="0">
                    <a:solidFill>
                      <a:schemeClr val="tx2"/>
                    </a:solidFill>
                    <a:latin typeface="微软雅黑" panose="020B0503020204020204" pitchFamily="34" charset="-122"/>
                    <a:ea typeface="微软雅黑" panose="020B0503020204020204" pitchFamily="34" charset="-122"/>
                  </a:rPr>
                  <a:t>Scale up</a:t>
                </a:r>
                <a:r>
                  <a:rPr lang="zh-CN" altLang="en-US" sz="2400" b="1" dirty="0">
                    <a:solidFill>
                      <a:schemeClr val="tx2"/>
                    </a:solidFill>
                    <a:latin typeface="微软雅黑" panose="020B0503020204020204" pitchFamily="34" charset="-122"/>
                    <a:ea typeface="微软雅黑" panose="020B0503020204020204" pitchFamily="34" charset="-122"/>
                  </a:rPr>
                  <a:t>：</a:t>
                </a:r>
                <a:endParaRPr lang="en-US" altLang="zh-CN" sz="2400" b="1" dirty="0">
                  <a:solidFill>
                    <a:schemeClr val="tx2"/>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r>
                  <a:rPr lang="zh-CN" altLang="en-US" sz="2000" dirty="0">
                    <a:solidFill>
                      <a:schemeClr val="tx2"/>
                    </a:solidFill>
                    <a:latin typeface="微软雅黑" panose="020B0503020204020204" pitchFamily="34" charset="-122"/>
                    <a:ea typeface="微软雅黑" panose="020B0503020204020204" pitchFamily="34" charset="-122"/>
                  </a:rPr>
                  <a:t>回顾</a:t>
                </a:r>
                <a:r>
                  <a:rPr lang="en-US" altLang="zh-CN" sz="2000" dirty="0">
                    <a:solidFill>
                      <a:schemeClr val="tx2"/>
                    </a:solidFill>
                    <a:latin typeface="微软雅黑" panose="020B0503020204020204" pitchFamily="34" charset="-122"/>
                    <a:ea typeface="微软雅黑" panose="020B0503020204020204" pitchFamily="34" charset="-122"/>
                  </a:rPr>
                  <a:t>Attention</a:t>
                </a:r>
                <a:r>
                  <a:rPr lang="zh-CN" altLang="en-US" sz="2000" dirty="0">
                    <a:solidFill>
                      <a:schemeClr val="tx2"/>
                    </a:solidFill>
                    <a:latin typeface="微软雅黑" panose="020B0503020204020204" pitchFamily="34" charset="-122"/>
                    <a:ea typeface="微软雅黑" panose="020B0503020204020204" pitchFamily="34" charset="-122"/>
                  </a:rPr>
                  <a:t>的计算公式，</a:t>
                </a:r>
                <a:r>
                  <a:rPr lang="en-US" altLang="zh-CN" sz="2000" dirty="0">
                    <a:solidFill>
                      <a:schemeClr val="tx2"/>
                    </a:solidFill>
                    <a:latin typeface="微软雅黑" panose="020B0503020204020204" pitchFamily="34" charset="-122"/>
                    <a:ea typeface="微软雅黑" panose="020B0503020204020204" pitchFamily="34" charset="-122"/>
                  </a:rPr>
                  <a:t>Query</a:t>
                </a:r>
                <a:r>
                  <a:rPr lang="zh-CN" altLang="en-US" sz="2000" dirty="0">
                    <a:solidFill>
                      <a:schemeClr val="tx2"/>
                    </a:solidFill>
                    <a:latin typeface="微软雅黑" panose="020B0503020204020204" pitchFamily="34" charset="-122"/>
                    <a:ea typeface="微软雅黑" panose="020B0503020204020204" pitchFamily="34" charset="-122"/>
                  </a:rPr>
                  <a:t>（查询）、</a:t>
                </a:r>
                <a:r>
                  <a:rPr lang="en-US" altLang="zh-CN" sz="2000" dirty="0">
                    <a:solidFill>
                      <a:schemeClr val="tx2"/>
                    </a:solidFill>
                    <a:latin typeface="微软雅黑" panose="020B0503020204020204" pitchFamily="34" charset="-122"/>
                    <a:ea typeface="微软雅黑" panose="020B0503020204020204" pitchFamily="34" charset="-122"/>
                  </a:rPr>
                  <a:t>Key</a:t>
                </a:r>
                <a:r>
                  <a:rPr lang="zh-CN" altLang="en-US" sz="2000" dirty="0">
                    <a:solidFill>
                      <a:schemeClr val="tx2"/>
                    </a:solidFill>
                    <a:latin typeface="微软雅黑" panose="020B0503020204020204" pitchFamily="34" charset="-122"/>
                    <a:ea typeface="微软雅黑" panose="020B0503020204020204" pitchFamily="34" charset="-122"/>
                  </a:rPr>
                  <a:t>（键）、</a:t>
                </a:r>
                <a:r>
                  <a:rPr lang="en-US" altLang="zh-CN" sz="2000" dirty="0">
                    <a:solidFill>
                      <a:schemeClr val="tx2"/>
                    </a:solidFill>
                    <a:latin typeface="微软雅黑" panose="020B0503020204020204" pitchFamily="34" charset="-122"/>
                    <a:ea typeface="微软雅黑" panose="020B0503020204020204" pitchFamily="34" charset="-122"/>
                  </a:rPr>
                  <a:t>Value</a:t>
                </a:r>
                <a:r>
                  <a:rPr lang="zh-CN" altLang="en-US" sz="2000" dirty="0">
                    <a:solidFill>
                      <a:schemeClr val="tx2"/>
                    </a:solidFill>
                    <a:latin typeface="微软雅黑" panose="020B0503020204020204" pitchFamily="34" charset="-122"/>
                    <a:ea typeface="微软雅黑" panose="020B0503020204020204" pitchFamily="34" charset="-122"/>
                  </a:rPr>
                  <a:t>（值）的公式如下：</a:t>
                </a:r>
                <a:endParaRPr lang="en-US" altLang="zh-CN" sz="2000" dirty="0">
                  <a:solidFill>
                    <a:schemeClr val="tx2"/>
                  </a:solidFill>
                  <a:latin typeface="微软雅黑" panose="020B0503020204020204" pitchFamily="34" charset="-122"/>
                  <a:ea typeface="微软雅黑" panose="020B0503020204020204" pitchFamily="34" charset="-122"/>
                </a:endParaRPr>
              </a:p>
              <a:p>
                <a:pPr lvl="1">
                  <a:lnSpc>
                    <a:spcPct val="150000"/>
                  </a:lnSpc>
                </a:pPr>
                <a14:m>
                  <m:oMathPara xmlns:m="http://schemas.openxmlformats.org/officeDocument/2006/math">
                    <m:oMathParaPr>
                      <m:jc m:val="centerGroup"/>
                    </m:oMathParaPr>
                    <m:oMath xmlns:m="http://schemas.openxmlformats.org/officeDocument/2006/math">
                      <m:r>
                        <a:rPr lang="en-US" altLang="zh-CN" sz="2000" b="0" i="1" smtClean="0">
                          <a:solidFill>
                            <a:schemeClr val="tx2"/>
                          </a:solidFill>
                          <a:latin typeface="Cambria Math" panose="02040503050406030204" pitchFamily="18" charset="0"/>
                          <a:ea typeface="微软雅黑" panose="020B0503020204020204" pitchFamily="34" charset="-122"/>
                        </a:rPr>
                        <m:t>𝐴𝑡𝑡𝑒𝑛𝑡𝑖𝑜𝑛</m:t>
                      </m:r>
                      <m:d>
                        <m:dPr>
                          <m:ctrlPr>
                            <a:rPr lang="en-US" altLang="zh-CN" sz="2000" b="0" i="1" smtClean="0">
                              <a:solidFill>
                                <a:schemeClr val="tx2"/>
                              </a:solidFill>
                              <a:latin typeface="Cambria Math" panose="02040503050406030204" pitchFamily="18" charset="0"/>
                              <a:ea typeface="微软雅黑" panose="020B0503020204020204" pitchFamily="34" charset="-122"/>
                            </a:rPr>
                          </m:ctrlPr>
                        </m:dPr>
                        <m:e>
                          <m:r>
                            <a:rPr lang="en-US" altLang="zh-CN" sz="2000" b="0" i="1" smtClean="0">
                              <a:solidFill>
                                <a:schemeClr val="tx2"/>
                              </a:solidFill>
                              <a:latin typeface="Cambria Math" panose="02040503050406030204" pitchFamily="18" charset="0"/>
                              <a:ea typeface="微软雅黑" panose="020B0503020204020204" pitchFamily="34" charset="-122"/>
                            </a:rPr>
                            <m:t>𝑄</m:t>
                          </m:r>
                          <m:r>
                            <a:rPr lang="en-US" altLang="zh-CN" sz="2000" b="0" i="1" smtClean="0">
                              <a:solidFill>
                                <a:schemeClr val="tx2"/>
                              </a:solidFill>
                              <a:latin typeface="Cambria Math" panose="02040503050406030204" pitchFamily="18" charset="0"/>
                              <a:ea typeface="微软雅黑" panose="020B0503020204020204" pitchFamily="34" charset="-122"/>
                            </a:rPr>
                            <m:t>,</m:t>
                          </m:r>
                          <m:r>
                            <a:rPr lang="en-US" altLang="zh-CN" sz="2000" b="0" i="1" smtClean="0">
                              <a:solidFill>
                                <a:schemeClr val="tx2"/>
                              </a:solidFill>
                              <a:latin typeface="Cambria Math" panose="02040503050406030204" pitchFamily="18" charset="0"/>
                              <a:ea typeface="微软雅黑" panose="020B0503020204020204" pitchFamily="34" charset="-122"/>
                            </a:rPr>
                            <m:t>𝐾</m:t>
                          </m:r>
                          <m:r>
                            <a:rPr lang="en-US" altLang="zh-CN" sz="2000" b="0" i="1" smtClean="0">
                              <a:solidFill>
                                <a:schemeClr val="tx2"/>
                              </a:solidFill>
                              <a:latin typeface="Cambria Math" panose="02040503050406030204" pitchFamily="18" charset="0"/>
                              <a:ea typeface="微软雅黑" panose="020B0503020204020204" pitchFamily="34" charset="-122"/>
                            </a:rPr>
                            <m:t>,</m:t>
                          </m:r>
                          <m:r>
                            <a:rPr lang="en-US" altLang="zh-CN" sz="2000" b="0" i="1" smtClean="0">
                              <a:solidFill>
                                <a:schemeClr val="tx2"/>
                              </a:solidFill>
                              <a:latin typeface="Cambria Math" panose="02040503050406030204" pitchFamily="18" charset="0"/>
                              <a:ea typeface="微软雅黑" panose="020B0503020204020204" pitchFamily="34" charset="-122"/>
                            </a:rPr>
                            <m:t>𝑉</m:t>
                          </m:r>
                        </m:e>
                      </m:d>
                      <m:r>
                        <a:rPr lang="en-US" altLang="zh-CN" sz="2000" b="0" i="1" smtClean="0">
                          <a:solidFill>
                            <a:schemeClr val="tx2"/>
                          </a:solidFill>
                          <a:latin typeface="Cambria Math" panose="02040503050406030204" pitchFamily="18" charset="0"/>
                          <a:ea typeface="微软雅黑" panose="020B0503020204020204" pitchFamily="34" charset="-122"/>
                        </a:rPr>
                        <m:t>=</m:t>
                      </m:r>
                      <m:r>
                        <a:rPr lang="en-US" altLang="zh-CN" sz="2000" b="0" i="1" smtClean="0">
                          <a:solidFill>
                            <a:schemeClr val="tx2"/>
                          </a:solidFill>
                          <a:latin typeface="Cambria Math" panose="02040503050406030204" pitchFamily="18" charset="0"/>
                          <a:ea typeface="微软雅黑" panose="020B0503020204020204" pitchFamily="34" charset="-122"/>
                        </a:rPr>
                        <m:t>𝑠𝑜𝑓𝑡𝑚𝑎𝑥</m:t>
                      </m:r>
                      <m:d>
                        <m:dPr>
                          <m:ctrlPr>
                            <a:rPr lang="en-US" altLang="zh-CN" sz="2000" b="0" i="1" smtClean="0">
                              <a:solidFill>
                                <a:schemeClr val="tx2"/>
                              </a:solidFill>
                              <a:latin typeface="Cambria Math" panose="02040503050406030204" pitchFamily="18" charset="0"/>
                              <a:ea typeface="微软雅黑" panose="020B0503020204020204" pitchFamily="34" charset="-122"/>
                            </a:rPr>
                          </m:ctrlPr>
                        </m:dPr>
                        <m:e>
                          <m:f>
                            <m:fPr>
                              <m:ctrlPr>
                                <a:rPr lang="en-US" altLang="zh-CN" sz="2000" b="0" i="1" smtClean="0">
                                  <a:solidFill>
                                    <a:schemeClr val="tx2"/>
                                  </a:solidFill>
                                  <a:latin typeface="Cambria Math" panose="02040503050406030204" pitchFamily="18" charset="0"/>
                                  <a:ea typeface="微软雅黑" panose="020B0503020204020204" pitchFamily="34" charset="-122"/>
                                </a:rPr>
                              </m:ctrlPr>
                            </m:fPr>
                            <m:num>
                              <m:r>
                                <a:rPr lang="en-US" altLang="zh-CN" sz="2000" b="0" i="1" smtClean="0">
                                  <a:solidFill>
                                    <a:schemeClr val="tx2"/>
                                  </a:solidFill>
                                  <a:latin typeface="Cambria Math" panose="02040503050406030204" pitchFamily="18" charset="0"/>
                                  <a:ea typeface="微软雅黑" panose="020B0503020204020204" pitchFamily="34" charset="-122"/>
                                </a:rPr>
                                <m:t>𝑄</m:t>
                              </m:r>
                              <m:sSup>
                                <m:sSupPr>
                                  <m:ctrlPr>
                                    <a:rPr lang="en-US" altLang="zh-CN" sz="2000" b="0" i="1" smtClean="0">
                                      <a:solidFill>
                                        <a:schemeClr val="tx2"/>
                                      </a:solidFill>
                                      <a:latin typeface="Cambria Math" panose="02040503050406030204" pitchFamily="18" charset="0"/>
                                      <a:ea typeface="微软雅黑" panose="020B0503020204020204" pitchFamily="34" charset="-122"/>
                                    </a:rPr>
                                  </m:ctrlPr>
                                </m:sSupPr>
                                <m:e>
                                  <m:r>
                                    <a:rPr lang="en-US" altLang="zh-CN" sz="2000" b="0" i="1" smtClean="0">
                                      <a:solidFill>
                                        <a:schemeClr val="tx2"/>
                                      </a:solidFill>
                                      <a:latin typeface="Cambria Math" panose="02040503050406030204" pitchFamily="18" charset="0"/>
                                      <a:ea typeface="微软雅黑" panose="020B0503020204020204" pitchFamily="34" charset="-122"/>
                                    </a:rPr>
                                    <m:t>𝐾</m:t>
                                  </m:r>
                                </m:e>
                                <m:sup>
                                  <m:r>
                                    <a:rPr lang="en-US" altLang="zh-CN" sz="2000" b="0" i="1" smtClean="0">
                                      <a:solidFill>
                                        <a:schemeClr val="tx2"/>
                                      </a:solidFill>
                                      <a:latin typeface="Cambria Math" panose="02040503050406030204" pitchFamily="18" charset="0"/>
                                      <a:ea typeface="微软雅黑" panose="020B0503020204020204" pitchFamily="34" charset="-122"/>
                                    </a:rPr>
                                    <m:t>𝑇</m:t>
                                  </m:r>
                                </m:sup>
                              </m:sSup>
                            </m:num>
                            <m:den>
                              <m:rad>
                                <m:radPr>
                                  <m:degHide m:val="on"/>
                                  <m:ctrlPr>
                                    <a:rPr lang="en-US" altLang="zh-CN" sz="2000" b="0" i="1" smtClean="0">
                                      <a:solidFill>
                                        <a:schemeClr val="tx2"/>
                                      </a:solidFill>
                                      <a:latin typeface="Cambria Math" panose="02040503050406030204" pitchFamily="18" charset="0"/>
                                      <a:ea typeface="微软雅黑" panose="020B0503020204020204" pitchFamily="34" charset="-122"/>
                                    </a:rPr>
                                  </m:ctrlPr>
                                </m:radPr>
                                <m:deg/>
                                <m:e>
                                  <m:sSub>
                                    <m:sSubPr>
                                      <m:ctrlPr>
                                        <a:rPr lang="en-US" altLang="zh-CN" sz="2000" b="0" i="1" smtClean="0">
                                          <a:solidFill>
                                            <a:schemeClr val="tx2"/>
                                          </a:solidFill>
                                          <a:latin typeface="Cambria Math" panose="02040503050406030204" pitchFamily="18" charset="0"/>
                                          <a:ea typeface="微软雅黑" panose="020B0503020204020204" pitchFamily="34" charset="-122"/>
                                        </a:rPr>
                                      </m:ctrlPr>
                                    </m:sSubPr>
                                    <m:e>
                                      <m:r>
                                        <a:rPr lang="en-US" altLang="zh-CN" sz="2000" b="0" i="1" smtClean="0">
                                          <a:solidFill>
                                            <a:schemeClr val="tx2"/>
                                          </a:solidFill>
                                          <a:latin typeface="Cambria Math" panose="02040503050406030204" pitchFamily="18" charset="0"/>
                                          <a:ea typeface="微软雅黑" panose="020B0503020204020204" pitchFamily="34" charset="-122"/>
                                        </a:rPr>
                                        <m:t>𝑑</m:t>
                                      </m:r>
                                    </m:e>
                                    <m:sub>
                                      <m:r>
                                        <a:rPr lang="en-US" altLang="zh-CN" sz="2000" b="0" i="1" smtClean="0">
                                          <a:solidFill>
                                            <a:schemeClr val="tx2"/>
                                          </a:solidFill>
                                          <a:latin typeface="Cambria Math" panose="02040503050406030204" pitchFamily="18" charset="0"/>
                                          <a:ea typeface="微软雅黑" panose="020B0503020204020204" pitchFamily="34" charset="-122"/>
                                        </a:rPr>
                                        <m:t>𝑘</m:t>
                                      </m:r>
                                    </m:sub>
                                  </m:sSub>
                                </m:e>
                              </m:rad>
                            </m:den>
                          </m:f>
                        </m:e>
                      </m:d>
                      <m:r>
                        <a:rPr lang="en-US" altLang="zh-CN" sz="2000" b="0" i="1" smtClean="0">
                          <a:solidFill>
                            <a:schemeClr val="tx2"/>
                          </a:solidFill>
                          <a:latin typeface="Cambria Math" panose="02040503050406030204" pitchFamily="18" charset="0"/>
                          <a:ea typeface="微软雅黑" panose="020B0503020204020204" pitchFamily="34" charset="-122"/>
                        </a:rPr>
                        <m:t>𝑉</m:t>
                      </m:r>
                      <m:r>
                        <a:rPr lang="en-US" altLang="zh-CN" sz="2000" b="0" i="1" smtClean="0">
                          <a:solidFill>
                            <a:schemeClr val="tx2"/>
                          </a:solidFill>
                          <a:latin typeface="Cambria Math" panose="02040503050406030204" pitchFamily="18" charset="0"/>
                          <a:ea typeface="微软雅黑" panose="020B0503020204020204" pitchFamily="34" charset="-122"/>
                        </a:rPr>
                        <m:t>,</m:t>
                      </m:r>
                    </m:oMath>
                  </m:oMathPara>
                </a14:m>
                <a:endParaRPr lang="en-US" altLang="zh-CN" sz="2000" dirty="0">
                  <a:solidFill>
                    <a:schemeClr val="tx2"/>
                  </a:solidFill>
                  <a:latin typeface="微软雅黑" panose="020B0503020204020204" pitchFamily="34" charset="-122"/>
                  <a:ea typeface="微软雅黑" panose="020B0503020204020204" pitchFamily="34" charset="-122"/>
                </a:endParaRPr>
              </a:p>
              <a:p>
                <a:pPr lvl="1">
                  <a:lnSpc>
                    <a:spcPct val="150000"/>
                  </a:lnSpc>
                </a:pPr>
                <a14:m>
                  <m:oMathPara xmlns:m="http://schemas.openxmlformats.org/officeDocument/2006/math">
                    <m:oMathParaPr>
                      <m:jc m:val="centerGroup"/>
                    </m:oMathParaPr>
                    <m:oMath xmlns:m="http://schemas.openxmlformats.org/officeDocument/2006/math">
                      <m:r>
                        <a:rPr lang="en-US" altLang="zh-CN" sz="2000" i="1" smtClean="0">
                          <a:solidFill>
                            <a:schemeClr val="tx2"/>
                          </a:solidFill>
                          <a:latin typeface="Cambria Math" panose="02040503050406030204" pitchFamily="18" charset="0"/>
                          <a:ea typeface="微软雅黑" panose="020B0503020204020204" pitchFamily="34" charset="-122"/>
                        </a:rPr>
                        <m:t>𝑄</m:t>
                      </m:r>
                      <m:r>
                        <a:rPr lang="en-US" altLang="zh-CN" sz="2000" i="1" smtClean="0">
                          <a:solidFill>
                            <a:schemeClr val="tx2"/>
                          </a:solidFill>
                          <a:latin typeface="Cambria Math" panose="02040503050406030204" pitchFamily="18" charset="0"/>
                          <a:ea typeface="微软雅黑" panose="020B0503020204020204" pitchFamily="34" charset="-122"/>
                        </a:rPr>
                        <m:t>∈</m:t>
                      </m:r>
                      <m:sSup>
                        <m:sSupPr>
                          <m:ctrlPr>
                            <a:rPr lang="en-US" altLang="zh-CN" sz="2000" i="1">
                              <a:solidFill>
                                <a:schemeClr val="tx2"/>
                              </a:solidFill>
                              <a:latin typeface="Cambria Math" panose="02040503050406030204" pitchFamily="18" charset="0"/>
                              <a:ea typeface="微软雅黑" panose="020B0503020204020204" pitchFamily="34" charset="-122"/>
                            </a:rPr>
                          </m:ctrlPr>
                        </m:sSupPr>
                        <m:e>
                          <m:r>
                            <a:rPr lang="en-US" altLang="zh-CN" sz="2000" i="1">
                              <a:solidFill>
                                <a:schemeClr val="tx2"/>
                              </a:solidFill>
                              <a:latin typeface="Cambria Math" panose="02040503050406030204" pitchFamily="18" charset="0"/>
                              <a:ea typeface="微软雅黑" panose="020B0503020204020204" pitchFamily="34" charset="-122"/>
                            </a:rPr>
                            <m:t>𝑅</m:t>
                          </m:r>
                        </m:e>
                        <m:sup>
                          <m:sSub>
                            <m:sSubPr>
                              <m:ctrlPr>
                                <a:rPr lang="en-US" altLang="zh-CN" sz="2000" i="1">
                                  <a:solidFill>
                                    <a:schemeClr val="tx2"/>
                                  </a:solidFill>
                                  <a:latin typeface="Cambria Math" panose="02040503050406030204" pitchFamily="18" charset="0"/>
                                  <a:ea typeface="微软雅黑" panose="020B0503020204020204" pitchFamily="34" charset="-122"/>
                                </a:rPr>
                              </m:ctrlPr>
                            </m:sSubPr>
                            <m:e>
                              <m:r>
                                <a:rPr lang="en-US" altLang="zh-CN" sz="2000" i="1">
                                  <a:solidFill>
                                    <a:schemeClr val="tx2"/>
                                  </a:solidFill>
                                  <a:latin typeface="Cambria Math" panose="02040503050406030204" pitchFamily="18" charset="0"/>
                                  <a:ea typeface="微软雅黑" panose="020B0503020204020204" pitchFamily="34" charset="-122"/>
                                </a:rPr>
                                <m:t>𝑛</m:t>
                              </m:r>
                            </m:e>
                            <m:sub>
                              <m:r>
                                <a:rPr lang="en-US" altLang="zh-CN" sz="2000" i="1">
                                  <a:solidFill>
                                    <a:schemeClr val="tx2"/>
                                  </a:solidFill>
                                  <a:latin typeface="Cambria Math" panose="02040503050406030204" pitchFamily="18" charset="0"/>
                                  <a:ea typeface="微软雅黑" panose="020B0503020204020204" pitchFamily="34" charset="-122"/>
                                </a:rPr>
                                <m:t>𝑄</m:t>
                              </m:r>
                            </m:sub>
                          </m:sSub>
                          <m:r>
                            <a:rPr lang="en-US" altLang="zh-CN" sz="2000" i="1">
                              <a:solidFill>
                                <a:schemeClr val="tx2"/>
                              </a:solidFill>
                              <a:latin typeface="Cambria Math" panose="02040503050406030204" pitchFamily="18" charset="0"/>
                              <a:ea typeface="微软雅黑" panose="020B0503020204020204" pitchFamily="34" charset="-122"/>
                            </a:rPr>
                            <m:t>×</m:t>
                          </m:r>
                          <m:sSub>
                            <m:sSubPr>
                              <m:ctrlPr>
                                <a:rPr lang="en-US" altLang="zh-CN" sz="2000" i="1">
                                  <a:solidFill>
                                    <a:schemeClr val="tx2"/>
                                  </a:solidFill>
                                  <a:latin typeface="Cambria Math" panose="02040503050406030204" pitchFamily="18" charset="0"/>
                                  <a:ea typeface="微软雅黑" panose="020B0503020204020204" pitchFamily="34" charset="-122"/>
                                </a:rPr>
                              </m:ctrlPr>
                            </m:sSubPr>
                            <m:e>
                              <m:r>
                                <a:rPr lang="en-US" altLang="zh-CN" sz="2000" i="1">
                                  <a:solidFill>
                                    <a:schemeClr val="tx2"/>
                                  </a:solidFill>
                                  <a:latin typeface="Cambria Math" panose="02040503050406030204" pitchFamily="18" charset="0"/>
                                  <a:ea typeface="微软雅黑" panose="020B0503020204020204" pitchFamily="34" charset="-122"/>
                                </a:rPr>
                                <m:t>𝑑</m:t>
                              </m:r>
                            </m:e>
                            <m:sub>
                              <m:r>
                                <a:rPr lang="en-US" altLang="zh-CN" sz="2000" i="1">
                                  <a:solidFill>
                                    <a:schemeClr val="tx2"/>
                                  </a:solidFill>
                                  <a:latin typeface="Cambria Math" panose="02040503050406030204" pitchFamily="18" charset="0"/>
                                  <a:ea typeface="微软雅黑" panose="020B0503020204020204" pitchFamily="34" charset="-122"/>
                                </a:rPr>
                                <m:t>𝐾</m:t>
                              </m:r>
                            </m:sub>
                          </m:sSub>
                        </m:sup>
                      </m:sSup>
                      <m:r>
                        <a:rPr lang="en-US" altLang="zh-CN" sz="2000" b="0" i="1" smtClean="0">
                          <a:solidFill>
                            <a:schemeClr val="tx2"/>
                          </a:solidFill>
                          <a:latin typeface="Cambria Math" panose="02040503050406030204" pitchFamily="18" charset="0"/>
                          <a:ea typeface="微软雅黑" panose="020B0503020204020204" pitchFamily="34" charset="-122"/>
                        </a:rPr>
                        <m:t>, </m:t>
                      </m:r>
                      <m:r>
                        <a:rPr lang="en-US" altLang="zh-CN" sz="2000" b="0" i="1" smtClean="0">
                          <a:solidFill>
                            <a:schemeClr val="tx2"/>
                          </a:solidFill>
                          <a:latin typeface="Cambria Math" panose="02040503050406030204" pitchFamily="18" charset="0"/>
                          <a:ea typeface="微软雅黑" panose="020B0503020204020204" pitchFamily="34" charset="-122"/>
                        </a:rPr>
                        <m:t>𝐾</m:t>
                      </m:r>
                      <m:r>
                        <a:rPr lang="en-US" altLang="zh-CN" sz="2000" b="0" i="1" smtClean="0">
                          <a:solidFill>
                            <a:schemeClr val="tx2"/>
                          </a:solidFill>
                          <a:latin typeface="Cambria Math" panose="02040503050406030204" pitchFamily="18" charset="0"/>
                          <a:ea typeface="微软雅黑" panose="020B0503020204020204" pitchFamily="34" charset="-122"/>
                        </a:rPr>
                        <m:t>∈</m:t>
                      </m:r>
                      <m:sSup>
                        <m:sSupPr>
                          <m:ctrlPr>
                            <a:rPr lang="en-US" altLang="zh-CN" sz="2000" b="0" i="1" smtClean="0">
                              <a:solidFill>
                                <a:schemeClr val="tx2"/>
                              </a:solidFill>
                              <a:latin typeface="Cambria Math" panose="02040503050406030204" pitchFamily="18" charset="0"/>
                              <a:ea typeface="微软雅黑" panose="020B0503020204020204" pitchFamily="34" charset="-122"/>
                            </a:rPr>
                          </m:ctrlPr>
                        </m:sSupPr>
                        <m:e>
                          <m:r>
                            <a:rPr lang="en-US" altLang="zh-CN" sz="2000" b="0" i="1" smtClean="0">
                              <a:solidFill>
                                <a:schemeClr val="tx2"/>
                              </a:solidFill>
                              <a:latin typeface="Cambria Math" panose="02040503050406030204" pitchFamily="18" charset="0"/>
                              <a:ea typeface="微软雅黑" panose="020B0503020204020204" pitchFamily="34" charset="-122"/>
                            </a:rPr>
                            <m:t>𝑅</m:t>
                          </m:r>
                        </m:e>
                        <m:sup>
                          <m:sSub>
                            <m:sSubPr>
                              <m:ctrlPr>
                                <a:rPr lang="en-US" altLang="zh-CN" sz="2000" b="0" i="1" smtClean="0">
                                  <a:solidFill>
                                    <a:schemeClr val="tx2"/>
                                  </a:solidFill>
                                  <a:latin typeface="Cambria Math" panose="02040503050406030204" pitchFamily="18" charset="0"/>
                                  <a:ea typeface="微软雅黑" panose="020B0503020204020204" pitchFamily="34" charset="-122"/>
                                </a:rPr>
                              </m:ctrlPr>
                            </m:sSubPr>
                            <m:e>
                              <m:r>
                                <a:rPr lang="en-US" altLang="zh-CN" sz="2000" b="0" i="1" smtClean="0">
                                  <a:solidFill>
                                    <a:schemeClr val="tx2"/>
                                  </a:solidFill>
                                  <a:latin typeface="Cambria Math" panose="02040503050406030204" pitchFamily="18" charset="0"/>
                                  <a:ea typeface="微软雅黑" panose="020B0503020204020204" pitchFamily="34" charset="-122"/>
                                </a:rPr>
                                <m:t>𝑛</m:t>
                              </m:r>
                            </m:e>
                            <m:sub>
                              <m:r>
                                <a:rPr lang="en-US" altLang="zh-CN" sz="2000" b="0" i="1" smtClean="0">
                                  <a:solidFill>
                                    <a:schemeClr val="tx2"/>
                                  </a:solidFill>
                                  <a:latin typeface="Cambria Math" panose="02040503050406030204" pitchFamily="18" charset="0"/>
                                  <a:ea typeface="微软雅黑" panose="020B0503020204020204" pitchFamily="34" charset="-122"/>
                                </a:rPr>
                                <m:t>𝐾</m:t>
                              </m:r>
                            </m:sub>
                          </m:sSub>
                          <m:r>
                            <a:rPr lang="en-US" altLang="zh-CN" sz="2000" b="0" i="1" smtClean="0">
                              <a:solidFill>
                                <a:schemeClr val="tx2"/>
                              </a:solidFill>
                              <a:latin typeface="Cambria Math" panose="02040503050406030204" pitchFamily="18" charset="0"/>
                              <a:ea typeface="微软雅黑" panose="020B0503020204020204" pitchFamily="34" charset="-122"/>
                            </a:rPr>
                            <m:t>×</m:t>
                          </m:r>
                          <m:sSub>
                            <m:sSubPr>
                              <m:ctrlPr>
                                <a:rPr lang="en-US" altLang="zh-CN" sz="2000" b="0" i="1" smtClean="0">
                                  <a:solidFill>
                                    <a:schemeClr val="tx2"/>
                                  </a:solidFill>
                                  <a:latin typeface="Cambria Math" panose="02040503050406030204" pitchFamily="18" charset="0"/>
                                  <a:ea typeface="微软雅黑" panose="020B0503020204020204" pitchFamily="34" charset="-122"/>
                                </a:rPr>
                              </m:ctrlPr>
                            </m:sSubPr>
                            <m:e>
                              <m:r>
                                <a:rPr lang="en-US" altLang="zh-CN" sz="2000" b="0" i="1" smtClean="0">
                                  <a:solidFill>
                                    <a:schemeClr val="tx2"/>
                                  </a:solidFill>
                                  <a:latin typeface="Cambria Math" panose="02040503050406030204" pitchFamily="18" charset="0"/>
                                  <a:ea typeface="微软雅黑" panose="020B0503020204020204" pitchFamily="34" charset="-122"/>
                                </a:rPr>
                                <m:t>𝑑</m:t>
                              </m:r>
                            </m:e>
                            <m:sub>
                              <m:r>
                                <a:rPr lang="en-US" altLang="zh-CN" sz="2000" b="0" i="1" smtClean="0">
                                  <a:solidFill>
                                    <a:schemeClr val="tx2"/>
                                  </a:solidFill>
                                  <a:latin typeface="Cambria Math" panose="02040503050406030204" pitchFamily="18" charset="0"/>
                                  <a:ea typeface="微软雅黑" panose="020B0503020204020204" pitchFamily="34" charset="-122"/>
                                </a:rPr>
                                <m:t>𝐾</m:t>
                              </m:r>
                            </m:sub>
                          </m:sSub>
                        </m:sup>
                      </m:sSup>
                      <m:r>
                        <a:rPr lang="en-US" altLang="zh-CN" sz="2000" b="0" i="1" smtClean="0">
                          <a:solidFill>
                            <a:schemeClr val="tx2"/>
                          </a:solidFill>
                          <a:latin typeface="Cambria Math" panose="02040503050406030204" pitchFamily="18" charset="0"/>
                          <a:ea typeface="微软雅黑" panose="020B0503020204020204" pitchFamily="34" charset="-122"/>
                        </a:rPr>
                        <m:t>, </m:t>
                      </m:r>
                      <m:r>
                        <a:rPr lang="en-US" altLang="zh-CN" sz="2000" b="0" i="1" smtClean="0">
                          <a:solidFill>
                            <a:schemeClr val="tx2"/>
                          </a:solidFill>
                          <a:latin typeface="Cambria Math" panose="02040503050406030204" pitchFamily="18" charset="0"/>
                          <a:ea typeface="微软雅黑" panose="020B0503020204020204" pitchFamily="34" charset="-122"/>
                        </a:rPr>
                        <m:t>𝑉</m:t>
                      </m:r>
                      <m:r>
                        <a:rPr lang="en-US" altLang="zh-CN" sz="2000" b="0" i="1" smtClean="0">
                          <a:solidFill>
                            <a:schemeClr val="tx2"/>
                          </a:solidFill>
                          <a:latin typeface="Cambria Math" panose="02040503050406030204" pitchFamily="18" charset="0"/>
                          <a:ea typeface="微软雅黑" panose="020B0503020204020204" pitchFamily="34" charset="-122"/>
                        </a:rPr>
                        <m:t>∈</m:t>
                      </m:r>
                      <m:sSup>
                        <m:sSupPr>
                          <m:ctrlPr>
                            <a:rPr lang="en-US" altLang="zh-CN" sz="2000" b="0" i="1" smtClean="0">
                              <a:solidFill>
                                <a:schemeClr val="tx2"/>
                              </a:solidFill>
                              <a:latin typeface="Cambria Math" panose="02040503050406030204" pitchFamily="18" charset="0"/>
                              <a:ea typeface="微软雅黑" panose="020B0503020204020204" pitchFamily="34" charset="-122"/>
                            </a:rPr>
                          </m:ctrlPr>
                        </m:sSupPr>
                        <m:e>
                          <m:r>
                            <a:rPr lang="en-US" altLang="zh-CN" sz="2000" b="0" i="1" smtClean="0">
                              <a:solidFill>
                                <a:schemeClr val="tx2"/>
                              </a:solidFill>
                              <a:latin typeface="Cambria Math" panose="02040503050406030204" pitchFamily="18" charset="0"/>
                              <a:ea typeface="微软雅黑" panose="020B0503020204020204" pitchFamily="34" charset="-122"/>
                            </a:rPr>
                            <m:t>𝑅</m:t>
                          </m:r>
                        </m:e>
                        <m:sup>
                          <m:sSub>
                            <m:sSubPr>
                              <m:ctrlPr>
                                <a:rPr lang="en-US" altLang="zh-CN" sz="2000" b="0" i="1" smtClean="0">
                                  <a:solidFill>
                                    <a:schemeClr val="tx2"/>
                                  </a:solidFill>
                                  <a:latin typeface="Cambria Math" panose="02040503050406030204" pitchFamily="18" charset="0"/>
                                  <a:ea typeface="微软雅黑" panose="020B0503020204020204" pitchFamily="34" charset="-122"/>
                                </a:rPr>
                              </m:ctrlPr>
                            </m:sSubPr>
                            <m:e>
                              <m:r>
                                <a:rPr lang="en-US" altLang="zh-CN" sz="2000" b="0" i="1" smtClean="0">
                                  <a:solidFill>
                                    <a:schemeClr val="tx2"/>
                                  </a:solidFill>
                                  <a:latin typeface="Cambria Math" panose="02040503050406030204" pitchFamily="18" charset="0"/>
                                  <a:ea typeface="微软雅黑" panose="020B0503020204020204" pitchFamily="34" charset="-122"/>
                                </a:rPr>
                                <m:t>𝑛</m:t>
                              </m:r>
                            </m:e>
                            <m:sub>
                              <m:r>
                                <a:rPr lang="en-US" altLang="zh-CN" sz="2000" b="0" i="1" smtClean="0">
                                  <a:solidFill>
                                    <a:schemeClr val="tx2"/>
                                  </a:solidFill>
                                  <a:latin typeface="Cambria Math" panose="02040503050406030204" pitchFamily="18" charset="0"/>
                                  <a:ea typeface="微软雅黑" panose="020B0503020204020204" pitchFamily="34" charset="-122"/>
                                </a:rPr>
                                <m:t>𝐾</m:t>
                              </m:r>
                            </m:sub>
                          </m:sSub>
                          <m:r>
                            <a:rPr lang="en-US" altLang="zh-CN" sz="2000" b="0" i="1" smtClean="0">
                              <a:solidFill>
                                <a:schemeClr val="tx2"/>
                              </a:solidFill>
                              <a:latin typeface="Cambria Math" panose="02040503050406030204" pitchFamily="18" charset="0"/>
                              <a:ea typeface="微软雅黑" panose="020B0503020204020204" pitchFamily="34" charset="-122"/>
                            </a:rPr>
                            <m:t>×</m:t>
                          </m:r>
                          <m:sSub>
                            <m:sSubPr>
                              <m:ctrlPr>
                                <a:rPr lang="en-US" altLang="zh-CN" sz="2000" b="0" i="1" smtClean="0">
                                  <a:solidFill>
                                    <a:schemeClr val="tx2"/>
                                  </a:solidFill>
                                  <a:latin typeface="Cambria Math" panose="02040503050406030204" pitchFamily="18" charset="0"/>
                                  <a:ea typeface="微软雅黑" panose="020B0503020204020204" pitchFamily="34" charset="-122"/>
                                </a:rPr>
                              </m:ctrlPr>
                            </m:sSubPr>
                            <m:e>
                              <m:r>
                                <a:rPr lang="en-US" altLang="zh-CN" sz="2000" b="0" i="1" smtClean="0">
                                  <a:solidFill>
                                    <a:schemeClr val="tx2"/>
                                  </a:solidFill>
                                  <a:latin typeface="Cambria Math" panose="02040503050406030204" pitchFamily="18" charset="0"/>
                                  <a:ea typeface="微软雅黑" panose="020B0503020204020204" pitchFamily="34" charset="-122"/>
                                </a:rPr>
                                <m:t>𝑑</m:t>
                              </m:r>
                            </m:e>
                            <m:sub>
                              <m:r>
                                <a:rPr lang="en-US" altLang="zh-CN" sz="2000" b="0" i="1" smtClean="0">
                                  <a:solidFill>
                                    <a:schemeClr val="tx2"/>
                                  </a:solidFill>
                                  <a:latin typeface="Cambria Math" panose="02040503050406030204" pitchFamily="18" charset="0"/>
                                  <a:ea typeface="微软雅黑" panose="020B0503020204020204" pitchFamily="34" charset="-122"/>
                                </a:rPr>
                                <m:t>𝑉</m:t>
                              </m:r>
                            </m:sub>
                          </m:sSub>
                        </m:sup>
                      </m:sSup>
                      <m:r>
                        <a:rPr lang="en-US" altLang="zh-CN" sz="2000" b="0" i="1" smtClean="0">
                          <a:solidFill>
                            <a:schemeClr val="tx2"/>
                          </a:solidFill>
                          <a:latin typeface="Cambria Math" panose="02040503050406030204" pitchFamily="18" charset="0"/>
                          <a:ea typeface="微软雅黑" panose="020B0503020204020204" pitchFamily="34" charset="-122"/>
                        </a:rPr>
                        <m:t>.</m:t>
                      </m:r>
                    </m:oMath>
                  </m:oMathPara>
                </a14:m>
                <a:endParaRPr lang="en-US" altLang="zh-CN" sz="2000" dirty="0">
                  <a:solidFill>
                    <a:schemeClr val="tx2"/>
                  </a:solidFill>
                  <a:latin typeface="微软雅黑" panose="020B0503020204020204" pitchFamily="34" charset="-122"/>
                  <a:ea typeface="微软雅黑" panose="020B0503020204020204" pitchFamily="34" charset="-122"/>
                </a:endParaRPr>
              </a:p>
              <a:p>
                <a:pPr lvl="1">
                  <a:lnSpc>
                    <a:spcPct val="150000"/>
                  </a:lnSpc>
                </a:pPr>
                <a:endParaRPr lang="en-US" altLang="zh-CN" sz="2000" dirty="0">
                  <a:solidFill>
                    <a:schemeClr val="tx2"/>
                  </a:solidFill>
                  <a:latin typeface="微软雅黑" panose="020B0503020204020204" pitchFamily="34" charset="-122"/>
                  <a:ea typeface="微软雅黑" panose="020B0503020204020204" pitchFamily="34" charset="-122"/>
                </a:endParaRPr>
              </a:p>
              <a:p>
                <a:pPr lvl="1">
                  <a:lnSpc>
                    <a:spcPct val="150000"/>
                  </a:lnSpc>
                </a:pPr>
                <a:r>
                  <a:rPr lang="zh-CN" altLang="en-US" sz="2000" dirty="0">
                    <a:solidFill>
                      <a:schemeClr val="tx2"/>
                    </a:solidFill>
                    <a:latin typeface="微软雅黑" panose="020B0503020204020204" pitchFamily="34" charset="-122"/>
                    <a:ea typeface="微软雅黑" panose="020B0503020204020204" pitchFamily="34" charset="-122"/>
                  </a:rPr>
                  <a:t>可以发现</a:t>
                </a:r>
                <a:r>
                  <a:rPr lang="en-US" altLang="zh-CN" sz="2000" b="1" dirty="0">
                    <a:solidFill>
                      <a:schemeClr val="tx2"/>
                    </a:solidFill>
                    <a:latin typeface="微软雅黑" panose="020B0503020204020204" pitchFamily="34" charset="-122"/>
                    <a:ea typeface="微软雅黑" panose="020B0503020204020204" pitchFamily="34" charset="-122"/>
                  </a:rPr>
                  <a:t>Attention</a:t>
                </a:r>
                <a:r>
                  <a:rPr lang="zh-CN" altLang="en-US" sz="2000" b="1" dirty="0">
                    <a:solidFill>
                      <a:schemeClr val="tx2"/>
                    </a:solidFill>
                    <a:latin typeface="微软雅黑" panose="020B0503020204020204" pitchFamily="34" charset="-122"/>
                    <a:ea typeface="微软雅黑" panose="020B0503020204020204" pitchFamily="34" charset="-122"/>
                  </a:rPr>
                  <a:t>并不要求</a:t>
                </a:r>
                <a14:m>
                  <m:oMath xmlns:m="http://schemas.openxmlformats.org/officeDocument/2006/math">
                    <m:sSub>
                      <m:sSubPr>
                        <m:ctrlPr>
                          <a:rPr lang="en-US" altLang="zh-CN" sz="2000" b="1" i="1" smtClean="0">
                            <a:solidFill>
                              <a:schemeClr val="tx2"/>
                            </a:solidFill>
                            <a:latin typeface="Cambria Math" panose="02040503050406030204" pitchFamily="18" charset="0"/>
                            <a:ea typeface="微软雅黑" panose="020B0503020204020204" pitchFamily="34" charset="-122"/>
                          </a:rPr>
                        </m:ctrlPr>
                      </m:sSubPr>
                      <m:e>
                        <m:r>
                          <a:rPr lang="en-US" altLang="zh-CN" sz="2000" b="1" i="1" smtClean="0">
                            <a:solidFill>
                              <a:schemeClr val="tx2"/>
                            </a:solidFill>
                            <a:latin typeface="Cambria Math" panose="02040503050406030204" pitchFamily="18" charset="0"/>
                            <a:ea typeface="微软雅黑" panose="020B0503020204020204" pitchFamily="34" charset="-122"/>
                          </a:rPr>
                          <m:t>𝒏</m:t>
                        </m:r>
                      </m:e>
                      <m:sub>
                        <m:r>
                          <a:rPr lang="en-US" altLang="zh-CN" sz="2000" b="1" i="1" smtClean="0">
                            <a:solidFill>
                              <a:schemeClr val="tx2"/>
                            </a:solidFill>
                            <a:latin typeface="Cambria Math" panose="02040503050406030204" pitchFamily="18" charset="0"/>
                            <a:ea typeface="微软雅黑" panose="020B0503020204020204" pitchFamily="34" charset="-122"/>
                          </a:rPr>
                          <m:t>𝑸</m:t>
                        </m:r>
                      </m:sub>
                    </m:sSub>
                    <m:sSub>
                      <m:sSubPr>
                        <m:ctrlPr>
                          <a:rPr lang="en-US" altLang="zh-CN" sz="2000" b="1" i="1" smtClean="0">
                            <a:solidFill>
                              <a:schemeClr val="tx2"/>
                            </a:solidFill>
                            <a:latin typeface="Cambria Math" panose="02040503050406030204" pitchFamily="18" charset="0"/>
                            <a:ea typeface="微软雅黑" panose="020B0503020204020204" pitchFamily="34" charset="-122"/>
                          </a:rPr>
                        </m:ctrlPr>
                      </m:sSubPr>
                      <m:e>
                        <m:r>
                          <a:rPr lang="en-US" altLang="zh-CN" sz="2000" b="1" i="1" smtClean="0">
                            <a:solidFill>
                              <a:schemeClr val="tx2"/>
                            </a:solidFill>
                            <a:latin typeface="Cambria Math" panose="02040503050406030204" pitchFamily="18" charset="0"/>
                            <a:ea typeface="微软雅黑" panose="020B0503020204020204" pitchFamily="34" charset="-122"/>
                          </a:rPr>
                          <m:t>, </m:t>
                        </m:r>
                        <m:r>
                          <a:rPr lang="en-US" altLang="zh-CN" sz="2000" b="1" i="1" smtClean="0">
                            <a:solidFill>
                              <a:schemeClr val="tx2"/>
                            </a:solidFill>
                            <a:latin typeface="Cambria Math" panose="02040503050406030204" pitchFamily="18" charset="0"/>
                            <a:ea typeface="微软雅黑" panose="020B0503020204020204" pitchFamily="34" charset="-122"/>
                          </a:rPr>
                          <m:t>𝒏</m:t>
                        </m:r>
                      </m:e>
                      <m:sub>
                        <m:r>
                          <a:rPr lang="en-US" altLang="zh-CN" sz="2000" b="1" i="1" smtClean="0">
                            <a:solidFill>
                              <a:schemeClr val="tx2"/>
                            </a:solidFill>
                            <a:latin typeface="Cambria Math" panose="02040503050406030204" pitchFamily="18" charset="0"/>
                            <a:ea typeface="微软雅黑" panose="020B0503020204020204" pitchFamily="34" charset="-122"/>
                          </a:rPr>
                          <m:t>𝑲</m:t>
                        </m:r>
                      </m:sub>
                    </m:sSub>
                  </m:oMath>
                </a14:m>
                <a:r>
                  <a:rPr lang="zh-CN" altLang="en-US" sz="2000" b="1" dirty="0">
                    <a:solidFill>
                      <a:schemeClr val="tx2"/>
                    </a:solidFill>
                    <a:latin typeface="微软雅黑" panose="020B0503020204020204" pitchFamily="34" charset="-122"/>
                    <a:ea typeface="微软雅黑" panose="020B0503020204020204" pitchFamily="34" charset="-122"/>
                  </a:rPr>
                  <a:t>一致</a:t>
                </a:r>
                <a:r>
                  <a:rPr lang="zh-CN" altLang="en-US" sz="2000" dirty="0">
                    <a:solidFill>
                      <a:schemeClr val="tx2"/>
                    </a:solidFill>
                    <a:latin typeface="微软雅黑" panose="020B0503020204020204" pitchFamily="34" charset="-122"/>
                    <a:ea typeface="微软雅黑" panose="020B0503020204020204" pitchFamily="34" charset="-122"/>
                  </a:rPr>
                  <a:t>！</a:t>
                </a:r>
                <a:endParaRPr lang="en-US" altLang="zh-CN" sz="2000" dirty="0">
                  <a:solidFill>
                    <a:schemeClr val="tx2"/>
                  </a:solidFill>
                  <a:latin typeface="微软雅黑" panose="020B0503020204020204" pitchFamily="34" charset="-122"/>
                  <a:ea typeface="微软雅黑" panose="020B0503020204020204" pitchFamily="34" charset="-122"/>
                </a:endParaRPr>
              </a:p>
              <a:p>
                <a:pPr lvl="1">
                  <a:lnSpc>
                    <a:spcPct val="150000"/>
                  </a:lnSpc>
                </a:pPr>
                <a:endParaRPr lang="en-US" altLang="zh-CN" sz="2000" dirty="0">
                  <a:solidFill>
                    <a:schemeClr val="tx2"/>
                  </a:solidFill>
                  <a:latin typeface="微软雅黑" panose="020B0503020204020204" pitchFamily="34" charset="-122"/>
                  <a:ea typeface="微软雅黑" panose="020B0503020204020204" pitchFamily="34" charset="-122"/>
                </a:endParaRPr>
              </a:p>
              <a:p>
                <a:pPr lvl="1">
                  <a:lnSpc>
                    <a:spcPct val="150000"/>
                  </a:lnSpc>
                </a:pPr>
                <a:endParaRPr lang="en-US" altLang="zh-CN" sz="2000" dirty="0">
                  <a:solidFill>
                    <a:schemeClr val="tx2"/>
                  </a:solidFill>
                  <a:latin typeface="微软雅黑" panose="020B0503020204020204" pitchFamily="34" charset="-122"/>
                  <a:ea typeface="微软雅黑" panose="020B0503020204020204" pitchFamily="34" charset="-122"/>
                </a:endParaRPr>
              </a:p>
              <a:p>
                <a:pPr lvl="1">
                  <a:lnSpc>
                    <a:spcPct val="150000"/>
                  </a:lnSpc>
                </a:pPr>
                <a:r>
                  <a:rPr lang="zh-CN" altLang="en-US" sz="2000" dirty="0">
                    <a:solidFill>
                      <a:schemeClr val="tx2"/>
                    </a:solidFill>
                    <a:latin typeface="微软雅黑" panose="020B0503020204020204" pitchFamily="34" charset="-122"/>
                    <a:ea typeface="微软雅黑" panose="020B0503020204020204" pitchFamily="34" charset="-122"/>
                  </a:rPr>
                  <a:t>这为大模型提供了极好的基础。</a:t>
                </a:r>
                <a:endParaRPr lang="en-US" altLang="zh-CN" sz="2000" dirty="0">
                  <a:solidFill>
                    <a:schemeClr val="tx2"/>
                  </a:solidFill>
                  <a:latin typeface="微软雅黑" panose="020B0503020204020204" pitchFamily="34" charset="-122"/>
                  <a:ea typeface="微软雅黑" panose="020B0503020204020204" pitchFamily="34" charset="-122"/>
                </a:endParaRPr>
              </a:p>
            </p:txBody>
          </p:sp>
        </mc:Choice>
        <mc:Fallback xmlns="">
          <p:sp>
            <p:nvSpPr>
              <p:cNvPr id="10" name="文本框 9">
                <a:extLst>
                  <a:ext uri="{FF2B5EF4-FFF2-40B4-BE49-F238E27FC236}">
                    <a16:creationId xmlns:a16="http://schemas.microsoft.com/office/drawing/2014/main" id="{A0802533-D82E-D01A-7CD5-7E2610B54F7E}"/>
                  </a:ext>
                </a:extLst>
              </p:cNvPr>
              <p:cNvSpPr txBox="1">
                <a:spLocks noRot="1" noChangeAspect="1" noMove="1" noResize="1" noEditPoints="1" noAdjustHandles="1" noChangeArrowheads="1" noChangeShapeType="1" noTextEdit="1"/>
              </p:cNvSpPr>
              <p:nvPr/>
            </p:nvSpPr>
            <p:spPr>
              <a:xfrm>
                <a:off x="381000" y="1012121"/>
                <a:ext cx="11429516" cy="5064720"/>
              </a:xfrm>
              <a:prstGeom prst="rect">
                <a:avLst/>
              </a:prstGeom>
              <a:blipFill>
                <a:blip r:embed="rId2"/>
                <a:stretch>
                  <a:fillRect l="-854" b="-1203"/>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F36F1317-6BB7-69D6-902E-122FDEC864D9}"/>
              </a:ext>
            </a:extLst>
          </p:cNvPr>
          <p:cNvSpPr txBox="1"/>
          <p:nvPr/>
        </p:nvSpPr>
        <p:spPr>
          <a:xfrm>
            <a:off x="2412698" y="4859268"/>
            <a:ext cx="7366119" cy="523220"/>
          </a:xfrm>
          <a:prstGeom prst="rect">
            <a:avLst/>
          </a:prstGeom>
          <a:noFill/>
        </p:spPr>
        <p:txBody>
          <a:bodyPr wrap="none" rtlCol="0">
            <a:spAutoFit/>
          </a:bodyPr>
          <a:lstStyle/>
          <a:p>
            <a:pPr algn="l"/>
            <a:r>
              <a:rPr lang="zh-CN" altLang="en-US" sz="2800" dirty="0">
                <a:solidFill>
                  <a:schemeClr val="tx2"/>
                </a:solidFill>
                <a:latin typeface="微软雅黑" panose="020B0503020204020204" pitchFamily="34" charset="-122"/>
                <a:ea typeface="微软雅黑" panose="020B0503020204020204" pitchFamily="34" charset="-122"/>
              </a:rPr>
              <a:t>对于</a:t>
            </a:r>
            <a:r>
              <a:rPr lang="zh-CN" altLang="en-US" sz="2800" b="1" dirty="0">
                <a:latin typeface="微软雅黑" panose="020B0503020204020204" pitchFamily="34" charset="-122"/>
                <a:ea typeface="微软雅黑" panose="020B0503020204020204" pitchFamily="34" charset="-122"/>
              </a:rPr>
              <a:t>一个</a:t>
            </a:r>
            <a:r>
              <a:rPr lang="zh-CN" altLang="en-US" sz="2800" dirty="0">
                <a:solidFill>
                  <a:schemeClr val="tx2"/>
                </a:solidFill>
                <a:latin typeface="微软雅黑" panose="020B0503020204020204" pitchFamily="34" charset="-122"/>
                <a:ea typeface="微软雅黑" panose="020B0503020204020204" pitchFamily="34" charset="-122"/>
              </a:rPr>
              <a:t>查询值，可以塞入</a:t>
            </a:r>
            <a:r>
              <a:rPr lang="zh-CN" altLang="en-US" sz="2800" b="1" dirty="0">
                <a:latin typeface="微软雅黑" panose="020B0503020204020204" pitchFamily="34" charset="-122"/>
                <a:ea typeface="微软雅黑" panose="020B0503020204020204" pitchFamily="34" charset="-122"/>
              </a:rPr>
              <a:t>任意多</a:t>
            </a:r>
            <a:r>
              <a:rPr lang="zh-CN" altLang="en-US" sz="2800" dirty="0">
                <a:solidFill>
                  <a:schemeClr val="tx2"/>
                </a:solidFill>
                <a:latin typeface="微软雅黑" panose="020B0503020204020204" pitchFamily="34" charset="-122"/>
                <a:ea typeface="微软雅黑" panose="020B0503020204020204" pitchFamily="34" charset="-122"/>
              </a:rPr>
              <a:t>的键值对！</a:t>
            </a:r>
          </a:p>
        </p:txBody>
      </p:sp>
    </p:spTree>
    <p:extLst>
      <p:ext uri="{BB962C8B-B14F-4D97-AF65-F5344CB8AC3E}">
        <p14:creationId xmlns:p14="http://schemas.microsoft.com/office/powerpoint/2010/main" val="17019877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注意力机制</a:t>
            </a:r>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stretch>
            <a:fillRect/>
          </a:stretch>
        </p:blipFill>
        <p:spPr>
          <a:xfrm>
            <a:off x="345082" y="880238"/>
            <a:ext cx="11673954" cy="2727934"/>
          </a:xfrm>
          <a:prstGeom prst="rect">
            <a:avLst/>
          </a:prstGeom>
        </p:spPr>
      </p:pic>
      <p:sp>
        <p:nvSpPr>
          <p:cNvPr id="7" name="标题 2">
            <a:extLst>
              <a:ext uri="{FF2B5EF4-FFF2-40B4-BE49-F238E27FC236}">
                <a16:creationId xmlns:a16="http://schemas.microsoft.com/office/drawing/2014/main" id="{3D7B8E85-5C71-5677-B1F0-FCA751689CAB}"/>
              </a:ext>
            </a:extLst>
          </p:cNvPr>
          <p:cNvSpPr txBox="1">
            <a:spLocks/>
          </p:cNvSpPr>
          <p:nvPr/>
        </p:nvSpPr>
        <p:spPr>
          <a:xfrm>
            <a:off x="417402" y="3429000"/>
            <a:ext cx="11429516" cy="761979"/>
          </a:xfrm>
          <a:prstGeom prst="rect">
            <a:avLst/>
          </a:prstGeom>
          <a:ln>
            <a:noFill/>
          </a:ln>
        </p:spPr>
        <p:txBody>
          <a:bodyPr vert="horz" lIns="0" tIns="0" rIns="0" bIns="0" rtlCol="0" anchor="b" anchorCtr="0">
            <a:noAutofit/>
          </a:bodyPr>
          <a:lst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算关联</a:t>
            </a:r>
            <a:r>
              <a:rPr lang="en-US" altLang="zh-CN" dirty="0"/>
              <a:t>+Mask+</a:t>
            </a:r>
            <a:r>
              <a:rPr lang="zh-CN" altLang="en-US" dirty="0"/>
              <a:t>归一化</a:t>
            </a:r>
            <a:r>
              <a:rPr lang="en-US" altLang="zh-CN" dirty="0"/>
              <a:t>+</a:t>
            </a:r>
            <a:r>
              <a:rPr lang="zh-CN" altLang="en-US" dirty="0"/>
              <a:t>加权求和</a:t>
            </a:r>
            <a:r>
              <a:rPr lang="en-US" altLang="zh-CN" dirty="0"/>
              <a:t>+</a:t>
            </a:r>
            <a:r>
              <a:rPr lang="zh-CN" altLang="en-US" dirty="0"/>
              <a:t>线性变换</a:t>
            </a:r>
            <a:endParaRPr lang="en-US" altLang="zh-CN" dirty="0"/>
          </a:p>
        </p:txBody>
      </p:sp>
      <p:pic>
        <p:nvPicPr>
          <p:cNvPr id="2" name="图片 1">
            <a:extLst>
              <a:ext uri="{FF2B5EF4-FFF2-40B4-BE49-F238E27FC236}">
                <a16:creationId xmlns:a16="http://schemas.microsoft.com/office/drawing/2014/main" id="{25C9E57F-599B-3350-0064-C66884DB58DE}"/>
              </a:ext>
            </a:extLst>
          </p:cNvPr>
          <p:cNvPicPr>
            <a:picLocks noChangeAspect="1"/>
          </p:cNvPicPr>
          <p:nvPr/>
        </p:nvPicPr>
        <p:blipFill>
          <a:blip r:embed="rId3"/>
          <a:stretch>
            <a:fillRect/>
          </a:stretch>
        </p:blipFill>
        <p:spPr>
          <a:xfrm>
            <a:off x="2209800" y="4232907"/>
            <a:ext cx="7772400" cy="542260"/>
          </a:xfrm>
          <a:prstGeom prst="rect">
            <a:avLst/>
          </a:prstGeom>
        </p:spPr>
      </p:pic>
      <p:pic>
        <p:nvPicPr>
          <p:cNvPr id="5" name="图片 4">
            <a:extLst>
              <a:ext uri="{FF2B5EF4-FFF2-40B4-BE49-F238E27FC236}">
                <a16:creationId xmlns:a16="http://schemas.microsoft.com/office/drawing/2014/main" id="{B2305566-E29F-84EA-AC0B-ADE6F3411233}"/>
              </a:ext>
            </a:extLst>
          </p:cNvPr>
          <p:cNvPicPr>
            <a:picLocks noChangeAspect="1"/>
          </p:cNvPicPr>
          <p:nvPr/>
        </p:nvPicPr>
        <p:blipFill>
          <a:blip r:embed="rId4"/>
          <a:stretch>
            <a:fillRect/>
          </a:stretch>
        </p:blipFill>
        <p:spPr>
          <a:xfrm>
            <a:off x="2148015" y="4798561"/>
            <a:ext cx="7772400" cy="598564"/>
          </a:xfrm>
          <a:prstGeom prst="rect">
            <a:avLst/>
          </a:prstGeom>
        </p:spPr>
      </p:pic>
      <p:pic>
        <p:nvPicPr>
          <p:cNvPr id="6" name="图片 5">
            <a:extLst>
              <a:ext uri="{FF2B5EF4-FFF2-40B4-BE49-F238E27FC236}">
                <a16:creationId xmlns:a16="http://schemas.microsoft.com/office/drawing/2014/main" id="{75241871-92DD-B39D-62D6-CD1364594B7A}"/>
              </a:ext>
            </a:extLst>
          </p:cNvPr>
          <p:cNvPicPr>
            <a:picLocks noChangeAspect="1"/>
          </p:cNvPicPr>
          <p:nvPr/>
        </p:nvPicPr>
        <p:blipFill>
          <a:blip r:embed="rId5"/>
          <a:stretch>
            <a:fillRect/>
          </a:stretch>
        </p:blipFill>
        <p:spPr>
          <a:xfrm>
            <a:off x="2629930" y="5397125"/>
            <a:ext cx="6205151" cy="855100"/>
          </a:xfrm>
          <a:prstGeom prst="rect">
            <a:avLst/>
          </a:prstGeom>
        </p:spPr>
      </p:pic>
    </p:spTree>
    <p:extLst>
      <p:ext uri="{BB962C8B-B14F-4D97-AF65-F5344CB8AC3E}">
        <p14:creationId xmlns:p14="http://schemas.microsoft.com/office/powerpoint/2010/main" val="28827096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注意力机制</a:t>
            </a:r>
          </a:p>
        </p:txBody>
      </p:sp>
      <p:sp>
        <p:nvSpPr>
          <p:cNvPr id="6" name="圆角矩形 19"/>
          <p:cNvSpPr/>
          <p:nvPr/>
        </p:nvSpPr>
        <p:spPr>
          <a:xfrm>
            <a:off x="2615656" y="3603080"/>
            <a:ext cx="7351395" cy="2378075"/>
          </a:xfrm>
          <a:prstGeom prst="roundRect">
            <a:avLst>
              <a:gd name="adj" fmla="val 9265"/>
            </a:avLst>
          </a:prstGeom>
          <a:solidFill>
            <a:schemeClr val="bg1">
              <a:lumMod val="85000"/>
              <a:alpha val="68000"/>
            </a:schemeClr>
          </a:solidFill>
          <a:ln w="254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8" name="文本框 7"/>
              <p:cNvSpPr txBox="1"/>
              <p:nvPr/>
            </p:nvSpPr>
            <p:spPr>
              <a:xfrm>
                <a:off x="2615656" y="996405"/>
                <a:ext cx="6759575" cy="753220"/>
              </a:xfrm>
              <a:prstGeom prst="rect">
                <a:avLst/>
              </a:prstGeom>
              <a:noFill/>
            </p:spPr>
            <p:txBody>
              <a:bodyPr wrap="square" rtlCol="0">
                <a:spAutoFit/>
              </a:bodyPr>
              <a:lstStyle/>
              <a:p>
                <a:pPr indent="0" fontAlgn="auto">
                  <a:lnSpc>
                    <a:spcPct val="125000"/>
                  </a:lnSpc>
                  <a:spcBef>
                    <a:spcPts val="600"/>
                  </a:spcBef>
                </a:pPr>
                <a:r>
                  <a:rPr lang="zh-CN" altLang="en-US" dirty="0">
                    <a:solidFill>
                      <a:schemeClr val="tx2"/>
                    </a:solidFill>
                    <a:latin typeface="微软雅黑" panose="020B0503020204020204" pitchFamily="34" charset="-122"/>
                    <a:ea typeface="微软雅黑" panose="020B0503020204020204" pitchFamily="34" charset="-122"/>
                  </a:rPr>
                  <a:t>因为</a:t>
                </a:r>
                <a:r>
                  <a:rPr lang="en-US" altLang="zh-CN" dirty="0">
                    <a:solidFill>
                      <a:schemeClr val="tx2"/>
                    </a:solidFill>
                    <a:latin typeface="微软雅黑" panose="020B0503020204020204" pitchFamily="34" charset="-122"/>
                    <a:ea typeface="微软雅黑" panose="020B0503020204020204" pitchFamily="34" charset="-122"/>
                  </a:rPr>
                  <a:t>             </a:t>
                </a:r>
                <a:r>
                  <a:rPr lang="zh-CN" altLang="en-US" dirty="0">
                    <a:solidFill>
                      <a:schemeClr val="tx2"/>
                    </a:solidFill>
                    <a:latin typeface="微软雅黑" panose="020B0503020204020204" pitchFamily="34" charset="-122"/>
                    <a:ea typeface="微软雅黑" panose="020B0503020204020204" pitchFamily="34" charset="-122"/>
                  </a:rPr>
                  <a:t>的维度为</a:t>
                </a:r>
                <a14:m>
                  <m:oMath xmlns:m="http://schemas.openxmlformats.org/officeDocument/2006/math">
                    <m:r>
                      <a:rPr lang="en-US" altLang="zh-CN" i="1" dirty="0" smtClean="0">
                        <a:solidFill>
                          <a:schemeClr val="tx2"/>
                        </a:solidFill>
                        <a:latin typeface="Cambria Math" panose="02040503050406030204" pitchFamily="18" charset="0"/>
                        <a:ea typeface="微软雅黑" panose="020B0503020204020204" pitchFamily="34" charset="-122"/>
                      </a:rPr>
                      <m:t>𝑛</m:t>
                    </m:r>
                    <m:r>
                      <a:rPr lang="zh-CN" altLang="en-US" i="1" dirty="0">
                        <a:solidFill>
                          <a:schemeClr val="tx2"/>
                        </a:solidFill>
                        <a:latin typeface="Cambria Math" panose="02040503050406030204" pitchFamily="18" charset="0"/>
                        <a:ea typeface="微软雅黑" panose="020B0503020204020204" pitchFamily="34" charset="-122"/>
                      </a:rPr>
                      <m:t>×</m:t>
                    </m:r>
                    <m:sSub>
                      <m:sSubPr>
                        <m:ctrlPr>
                          <a:rPr lang="en-US" altLang="zh-CN" b="0" i="1" dirty="0" smtClean="0">
                            <a:solidFill>
                              <a:schemeClr val="tx2"/>
                            </a:solidFill>
                            <a:latin typeface="Cambria Math" panose="02040503050406030204" pitchFamily="18" charset="0"/>
                            <a:ea typeface="微软雅黑" panose="020B0503020204020204" pitchFamily="34" charset="-122"/>
                          </a:rPr>
                        </m:ctrlPr>
                      </m:sSubPr>
                      <m:e>
                        <m:r>
                          <a:rPr lang="en-US" altLang="zh-CN" i="1" dirty="0">
                            <a:solidFill>
                              <a:schemeClr val="tx2"/>
                            </a:solidFill>
                            <a:latin typeface="Cambria Math" panose="02040503050406030204" pitchFamily="18" charset="0"/>
                            <a:ea typeface="微软雅黑" panose="020B0503020204020204" pitchFamily="34" charset="-122"/>
                          </a:rPr>
                          <m:t>𝑑</m:t>
                        </m:r>
                      </m:e>
                      <m:sub>
                        <m:r>
                          <a:rPr lang="en-US" altLang="zh-CN" i="1" dirty="0">
                            <a:solidFill>
                              <a:schemeClr val="tx2"/>
                            </a:solidFill>
                            <a:latin typeface="Cambria Math" panose="02040503050406030204" pitchFamily="18" charset="0"/>
                            <a:ea typeface="微软雅黑" panose="020B0503020204020204" pitchFamily="34" charset="-122"/>
                          </a:rPr>
                          <m:t>𝑣</m:t>
                        </m:r>
                      </m:sub>
                    </m:sSub>
                  </m:oMath>
                </a14:m>
                <a:r>
                  <a:rPr lang="zh-CN" altLang="en-US" dirty="0">
                    <a:solidFill>
                      <a:schemeClr val="tx2"/>
                    </a:solidFill>
                    <a:latin typeface="微软雅黑" panose="020B0503020204020204" pitchFamily="34" charset="-122"/>
                    <a:ea typeface="微软雅黑" panose="020B0503020204020204" pitchFamily="34" charset="-122"/>
                  </a:rPr>
                  <a:t>，因此需要一个额外的线性变换把它变回</a:t>
                </a:r>
                <a14:m>
                  <m:oMath xmlns:m="http://schemas.openxmlformats.org/officeDocument/2006/math">
                    <m:r>
                      <a:rPr lang="en-US" altLang="zh-CN" i="1" dirty="0" smtClean="0">
                        <a:solidFill>
                          <a:schemeClr val="tx2"/>
                        </a:solidFill>
                        <a:latin typeface="Cambria Math" panose="02040503050406030204" pitchFamily="18" charset="0"/>
                        <a:ea typeface="微软雅黑" panose="020B0503020204020204" pitchFamily="34" charset="-122"/>
                      </a:rPr>
                      <m:t>𝑛</m:t>
                    </m:r>
                    <m:r>
                      <a:rPr lang="zh-CN" altLang="en-US" i="1" dirty="0">
                        <a:solidFill>
                          <a:schemeClr val="tx2"/>
                        </a:solidFill>
                        <a:latin typeface="Cambria Math" panose="02040503050406030204" pitchFamily="18" charset="0"/>
                        <a:ea typeface="微软雅黑" panose="020B0503020204020204" pitchFamily="34" charset="-122"/>
                      </a:rPr>
                      <m:t>×</m:t>
                    </m:r>
                    <m:sSub>
                      <m:sSubPr>
                        <m:ctrlPr>
                          <a:rPr lang="en-US" altLang="zh-CN" b="0" i="1" dirty="0" smtClean="0">
                            <a:solidFill>
                              <a:schemeClr val="tx2"/>
                            </a:solidFill>
                            <a:latin typeface="Cambria Math" panose="02040503050406030204" pitchFamily="18" charset="0"/>
                            <a:ea typeface="微软雅黑" panose="020B0503020204020204" pitchFamily="34" charset="-122"/>
                          </a:rPr>
                        </m:ctrlPr>
                      </m:sSubPr>
                      <m:e>
                        <m:r>
                          <a:rPr lang="en-US" altLang="zh-CN" i="1" dirty="0">
                            <a:solidFill>
                              <a:schemeClr val="tx2"/>
                            </a:solidFill>
                            <a:latin typeface="Cambria Math" panose="02040503050406030204" pitchFamily="18" charset="0"/>
                            <a:ea typeface="微软雅黑" panose="020B0503020204020204" pitchFamily="34" charset="-122"/>
                          </a:rPr>
                          <m:t>𝑑</m:t>
                        </m:r>
                      </m:e>
                      <m:sub>
                        <m:r>
                          <a:rPr lang="en-US" altLang="zh-CN" i="1" dirty="0">
                            <a:solidFill>
                              <a:schemeClr val="tx2"/>
                            </a:solidFill>
                            <a:latin typeface="Cambria Math" panose="02040503050406030204" pitchFamily="18" charset="0"/>
                            <a:ea typeface="微软雅黑" panose="020B0503020204020204" pitchFamily="34" charset="-122"/>
                          </a:rPr>
                          <m:t>𝑚</m:t>
                        </m:r>
                      </m:sub>
                    </m:sSub>
                  </m:oMath>
                </a14:m>
                <a:r>
                  <a:rPr lang="zh-CN" altLang="en-US" dirty="0">
                    <a:solidFill>
                      <a:schemeClr val="tx2"/>
                    </a:solidFill>
                    <a:latin typeface="微软雅黑" panose="020B0503020204020204" pitchFamily="34" charset="-122"/>
                    <a:ea typeface="微软雅黑" panose="020B0503020204020204" pitchFamily="34" charset="-122"/>
                  </a:rPr>
                  <a:t>：</a:t>
                </a:r>
              </a:p>
            </p:txBody>
          </p:sp>
        </mc:Choice>
        <mc:Fallback xmlns="">
          <p:sp>
            <p:nvSpPr>
              <p:cNvPr id="8" name="文本框 7"/>
              <p:cNvSpPr txBox="1">
                <a:spLocks noRot="1" noChangeAspect="1" noMove="1" noResize="1" noEditPoints="1" noAdjustHandles="1" noChangeArrowheads="1" noChangeShapeType="1" noTextEdit="1"/>
              </p:cNvSpPr>
              <p:nvPr/>
            </p:nvSpPr>
            <p:spPr>
              <a:xfrm>
                <a:off x="2615656" y="996405"/>
                <a:ext cx="6759575" cy="753220"/>
              </a:xfrm>
              <a:prstGeom prst="rect">
                <a:avLst/>
              </a:prstGeom>
              <a:blipFill>
                <a:blip r:embed="rId2"/>
                <a:stretch>
                  <a:fillRect l="-562" b="-11667"/>
                </a:stretch>
              </a:blipFill>
            </p:spPr>
            <p:txBody>
              <a:bodyPr/>
              <a:lstStyle/>
              <a:p>
                <a:r>
                  <a:rPr lang="zh-CN" altLang="en-US">
                    <a:noFill/>
                  </a:rPr>
                  <a:t> </a:t>
                </a:r>
              </a:p>
            </p:txBody>
          </p:sp>
        </mc:Fallback>
      </mc:AlternateContent>
      <p:pic>
        <p:nvPicPr>
          <p:cNvPr id="9" name="图片 8"/>
          <p:cNvPicPr>
            <a:picLocks noChangeAspect="1"/>
          </p:cNvPicPr>
          <p:nvPr/>
        </p:nvPicPr>
        <p:blipFill>
          <a:blip r:embed="rId3">
            <a:clrChange>
              <a:clrFrom>
                <a:srgbClr val="F6F6F6"/>
              </a:clrFrom>
              <a:clrTo>
                <a:srgbClr val="F6F6F6">
                  <a:alpha val="0"/>
                </a:srgbClr>
              </a:clrTo>
            </a:clrChange>
          </a:blip>
          <a:stretch>
            <a:fillRect/>
          </a:stretch>
        </p:blipFill>
        <p:spPr>
          <a:xfrm>
            <a:off x="3180171" y="1081495"/>
            <a:ext cx="765810" cy="273685"/>
          </a:xfrm>
          <a:prstGeom prst="rect">
            <a:avLst/>
          </a:prstGeom>
        </p:spPr>
      </p:pic>
      <p:sp>
        <p:nvSpPr>
          <p:cNvPr id="10" name="文本框 9"/>
          <p:cNvSpPr txBox="1"/>
          <p:nvPr/>
        </p:nvSpPr>
        <p:spPr>
          <a:xfrm>
            <a:off x="2615656" y="2387690"/>
            <a:ext cx="6759575" cy="409920"/>
          </a:xfrm>
          <a:prstGeom prst="rect">
            <a:avLst/>
          </a:prstGeom>
          <a:noFill/>
        </p:spPr>
        <p:txBody>
          <a:bodyPr wrap="square" rtlCol="0">
            <a:spAutoFit/>
          </a:bodyPr>
          <a:lstStyle/>
          <a:p>
            <a:pPr indent="0" fontAlgn="auto">
              <a:lnSpc>
                <a:spcPct val="125000"/>
              </a:lnSpc>
              <a:spcBef>
                <a:spcPts val="600"/>
              </a:spcBef>
            </a:pPr>
            <a:r>
              <a:rPr lang="zh-CN" altLang="en-US" dirty="0">
                <a:solidFill>
                  <a:schemeClr val="tx2"/>
                </a:solidFill>
                <a:latin typeface="微软雅黑" panose="020B0503020204020204" pitchFamily="34" charset="-122"/>
                <a:ea typeface="微软雅黑" panose="020B0503020204020204" pitchFamily="34" charset="-122"/>
              </a:rPr>
              <a:t>加残差连接，并归一化：</a:t>
            </a:r>
          </a:p>
        </p:txBody>
      </p:sp>
      <p:pic>
        <p:nvPicPr>
          <p:cNvPr id="11" name="图片 10"/>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3945981" y="2942680"/>
            <a:ext cx="3641725" cy="362585"/>
          </a:xfrm>
          <a:prstGeom prst="rect">
            <a:avLst/>
          </a:prstGeom>
        </p:spPr>
      </p:pic>
      <p:sp>
        <p:nvSpPr>
          <p:cNvPr id="12" name="文本框 11"/>
          <p:cNvSpPr txBox="1"/>
          <p:nvPr/>
        </p:nvSpPr>
        <p:spPr>
          <a:xfrm>
            <a:off x="2615656" y="3603080"/>
            <a:ext cx="6238875" cy="706755"/>
          </a:xfrm>
          <a:prstGeom prst="rect">
            <a:avLst/>
          </a:prstGeom>
          <a:noFill/>
        </p:spPr>
        <p:txBody>
          <a:bodyPr wrap="square" rtlCol="0">
            <a:spAutoFit/>
          </a:bodyPr>
          <a:lstStyle/>
          <a:p>
            <a:pPr indent="0" fontAlgn="auto">
              <a:lnSpc>
                <a:spcPct val="125000"/>
              </a:lnSpc>
              <a:spcBef>
                <a:spcPts val="600"/>
              </a:spcBef>
            </a:pPr>
            <a:r>
              <a:rPr lang="en-US" altLang="zh-CN" sz="1400" b="1">
                <a:solidFill>
                  <a:schemeClr val="tx2"/>
                </a:solidFill>
                <a:latin typeface="微软雅黑" panose="020B0503020204020204" pitchFamily="34" charset="-122"/>
                <a:ea typeface="微软雅黑" panose="020B0503020204020204" pitchFamily="34" charset="-122"/>
              </a:rPr>
              <a:t>LayerNorm</a:t>
            </a:r>
            <a:r>
              <a:rPr lang="en-US" altLang="zh-CN" sz="1400">
                <a:solidFill>
                  <a:schemeClr val="tx2"/>
                </a:solidFill>
                <a:latin typeface="微软雅黑" panose="020B0503020204020204" pitchFamily="34" charset="-122"/>
                <a:ea typeface="微软雅黑" panose="020B0503020204020204" pitchFamily="34" charset="-122"/>
              </a:rPr>
              <a:t>    </a:t>
            </a:r>
            <a:r>
              <a:rPr lang="zh-CN" altLang="en-US" sz="1400">
                <a:solidFill>
                  <a:schemeClr val="tx2"/>
                </a:solidFill>
                <a:latin typeface="微软雅黑" panose="020B0503020204020204" pitchFamily="34" charset="-122"/>
                <a:ea typeface="微软雅黑" panose="020B0503020204020204" pitchFamily="34" charset="-122"/>
                <a:sym typeface="+mn-ea"/>
              </a:rPr>
              <a:t>一个非常重要的归一化方式</a:t>
            </a:r>
            <a:endParaRPr lang="en-US" altLang="zh-CN" sz="1400">
              <a:solidFill>
                <a:schemeClr val="tx2"/>
              </a:solidFill>
              <a:latin typeface="微软雅黑" panose="020B0503020204020204" pitchFamily="34" charset="-122"/>
              <a:ea typeface="微软雅黑" panose="020B0503020204020204" pitchFamily="34" charset="-122"/>
            </a:endParaRPr>
          </a:p>
          <a:p>
            <a:pPr indent="0" fontAlgn="auto">
              <a:lnSpc>
                <a:spcPct val="125000"/>
              </a:lnSpc>
              <a:spcBef>
                <a:spcPts val="600"/>
              </a:spcBef>
            </a:pPr>
            <a:r>
              <a:rPr lang="zh-CN" altLang="en-US" sz="1400" b="1">
                <a:solidFill>
                  <a:schemeClr val="tx2"/>
                </a:solidFill>
                <a:latin typeface="微软雅黑" panose="020B0503020204020204" pitchFamily="34" charset="-122"/>
                <a:ea typeface="微软雅黑" panose="020B0503020204020204" pitchFamily="34" charset="-122"/>
              </a:rPr>
              <a:t>逐个</a:t>
            </a:r>
            <a:r>
              <a:rPr lang="en-US" altLang="zh-CN" sz="1400" b="1">
                <a:solidFill>
                  <a:schemeClr val="tx2"/>
                </a:solidFill>
                <a:latin typeface="微软雅黑" panose="020B0503020204020204" pitchFamily="34" charset="-122"/>
                <a:ea typeface="微软雅黑" panose="020B0503020204020204" pitchFamily="34" charset="-122"/>
              </a:rPr>
              <a:t>token</a:t>
            </a:r>
            <a:r>
              <a:rPr lang="zh-CN" altLang="en-US" sz="1400">
                <a:solidFill>
                  <a:schemeClr val="tx2"/>
                </a:solidFill>
                <a:latin typeface="微软雅黑" panose="020B0503020204020204" pitchFamily="34" charset="-122"/>
                <a:ea typeface="微软雅黑" panose="020B0503020204020204" pitchFamily="34" charset="-122"/>
              </a:rPr>
              <a:t>进行的。具体操作是</a:t>
            </a:r>
            <a:r>
              <a:rPr lang="zh-CN" altLang="en-US" sz="1400" b="1">
                <a:solidFill>
                  <a:schemeClr val="tx2"/>
                </a:solidFill>
                <a:latin typeface="微软雅黑" panose="020B0503020204020204" pitchFamily="34" charset="-122"/>
                <a:ea typeface="微软雅黑" panose="020B0503020204020204" pitchFamily="34" charset="-122"/>
              </a:rPr>
              <a:t>减均值除方差</a:t>
            </a:r>
            <a:r>
              <a:rPr lang="zh-CN" altLang="en-US" sz="1400">
                <a:solidFill>
                  <a:schemeClr val="tx2"/>
                </a:solidFill>
                <a:latin typeface="微软雅黑" panose="020B0503020204020204" pitchFamily="34" charset="-122"/>
                <a:ea typeface="微软雅黑" panose="020B0503020204020204" pitchFamily="34" charset="-122"/>
              </a:rPr>
              <a:t>，再做个仿射变换</a:t>
            </a:r>
            <a:r>
              <a:rPr lang="zh-CN" altLang="en-US" sz="1400" b="1">
                <a:solidFill>
                  <a:schemeClr val="tx2"/>
                </a:solidFill>
                <a:latin typeface="微软雅黑" panose="020B0503020204020204" pitchFamily="34" charset="-122"/>
                <a:ea typeface="微软雅黑" panose="020B0503020204020204" pitchFamily="34" charset="-122"/>
              </a:rPr>
              <a:t>：</a:t>
            </a:r>
          </a:p>
        </p:txBody>
      </p:sp>
      <p:sp>
        <p:nvSpPr>
          <p:cNvPr id="13" name="文本框 12"/>
          <p:cNvSpPr txBox="1"/>
          <p:nvPr/>
        </p:nvSpPr>
        <p:spPr>
          <a:xfrm>
            <a:off x="3780246" y="4467950"/>
            <a:ext cx="1218565" cy="1383665"/>
          </a:xfrm>
          <a:prstGeom prst="rect">
            <a:avLst/>
          </a:prstGeom>
          <a:noFill/>
        </p:spPr>
        <p:txBody>
          <a:bodyPr wrap="square" rtlCol="0" anchor="t">
            <a:spAutoFit/>
          </a:bodyPr>
          <a:lstStyle/>
          <a:p>
            <a:pPr indent="0" fontAlgn="auto">
              <a:lnSpc>
                <a:spcPct val="150000"/>
              </a:lnSpc>
            </a:pPr>
            <a:r>
              <a:rPr lang="zh-CN" altLang="en-US" sz="1400" dirty="0">
                <a:solidFill>
                  <a:schemeClr val="tx2"/>
                </a:solidFill>
                <a:latin typeface="微软雅黑" panose="020B0503020204020204" pitchFamily="34" charset="-122"/>
                <a:ea typeface="微软雅黑" panose="020B0503020204020204" pitchFamily="34" charset="-122"/>
                <a:sym typeface="+mn-ea"/>
              </a:rPr>
              <a:t>我：</a:t>
            </a:r>
          </a:p>
          <a:p>
            <a:pPr indent="0" fontAlgn="auto">
              <a:lnSpc>
                <a:spcPct val="150000"/>
              </a:lnSpc>
            </a:pPr>
            <a:r>
              <a:rPr lang="zh-CN" altLang="en-US" sz="1400" dirty="0">
                <a:solidFill>
                  <a:schemeClr val="tx2"/>
                </a:solidFill>
                <a:latin typeface="微软雅黑" panose="020B0503020204020204" pitchFamily="34" charset="-122"/>
                <a:ea typeface="微软雅黑" panose="020B0503020204020204" pitchFamily="34" charset="-122"/>
                <a:sym typeface="+mn-ea"/>
              </a:rPr>
              <a:t>爱：</a:t>
            </a:r>
          </a:p>
          <a:p>
            <a:pPr indent="0" fontAlgn="auto">
              <a:lnSpc>
                <a:spcPct val="150000"/>
              </a:lnSpc>
            </a:pPr>
            <a:r>
              <a:rPr lang="zh-CN" altLang="en-US" sz="1400" dirty="0">
                <a:solidFill>
                  <a:schemeClr val="tx2"/>
                </a:solidFill>
                <a:latin typeface="微软雅黑" panose="020B0503020204020204" pitchFamily="34" charset="-122"/>
                <a:ea typeface="微软雅黑" panose="020B0503020204020204" pitchFamily="34" charset="-122"/>
                <a:sym typeface="+mn-ea"/>
              </a:rPr>
              <a:t>小：</a:t>
            </a:r>
          </a:p>
          <a:p>
            <a:pPr indent="0" fontAlgn="auto">
              <a:lnSpc>
                <a:spcPct val="150000"/>
              </a:lnSpc>
            </a:pPr>
            <a:r>
              <a:rPr lang="zh-CN" altLang="en-US" sz="1400" dirty="0">
                <a:solidFill>
                  <a:schemeClr val="tx2"/>
                </a:solidFill>
                <a:latin typeface="微软雅黑" panose="020B0503020204020204" pitchFamily="34" charset="-122"/>
                <a:ea typeface="微软雅黑" panose="020B0503020204020204" pitchFamily="34" charset="-122"/>
                <a:sym typeface="+mn-ea"/>
              </a:rPr>
              <a:t>猫：</a:t>
            </a:r>
          </a:p>
        </p:txBody>
      </p:sp>
      <p:pic>
        <p:nvPicPr>
          <p:cNvPr id="15" name="图片 14"/>
          <p:cNvPicPr>
            <a:picLocks noChangeAspect="1"/>
          </p:cNvPicPr>
          <p:nvPr/>
        </p:nvPicPr>
        <p:blipFill>
          <a:blip r:embed="rId5"/>
          <a:srcRect r="26190"/>
          <a:stretch>
            <a:fillRect/>
          </a:stretch>
        </p:blipFill>
        <p:spPr>
          <a:xfrm>
            <a:off x="4323171" y="4557485"/>
            <a:ext cx="925195" cy="1252855"/>
          </a:xfrm>
          <a:prstGeom prst="rect">
            <a:avLst/>
          </a:prstGeom>
          <a:ln w="12700">
            <a:solidFill>
              <a:schemeClr val="tx2"/>
            </a:solidFill>
          </a:ln>
        </p:spPr>
      </p:pic>
      <p:sp>
        <p:nvSpPr>
          <p:cNvPr id="16" name="右箭头 32"/>
          <p:cNvSpPr/>
          <p:nvPr/>
        </p:nvSpPr>
        <p:spPr>
          <a:xfrm>
            <a:off x="5454106" y="5087710"/>
            <a:ext cx="467995" cy="149225"/>
          </a:xfrm>
          <a:prstGeom prst="rightArrow">
            <a:avLst>
              <a:gd name="adj1" fmla="val 38247"/>
              <a:gd name="adj2" fmla="val 72678"/>
            </a:avLst>
          </a:prstGeom>
          <a:solidFill>
            <a:sysClr val="window" lastClr="FFFFFF"/>
          </a:solidFill>
          <a:ln w="254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6127841" y="4467950"/>
            <a:ext cx="2689225" cy="1383665"/>
          </a:xfrm>
          <a:prstGeom prst="rect">
            <a:avLst/>
          </a:prstGeom>
          <a:noFill/>
        </p:spPr>
        <p:txBody>
          <a:bodyPr wrap="square" rtlCol="0" anchor="t">
            <a:spAutoFit/>
          </a:bodyPr>
          <a:lstStyle/>
          <a:p>
            <a:pPr indent="0" fontAlgn="auto">
              <a:lnSpc>
                <a:spcPct val="150000"/>
              </a:lnSpc>
            </a:pPr>
            <a:r>
              <a:rPr lang="en-US" altLang="zh-CN" sz="1400">
                <a:solidFill>
                  <a:schemeClr val="tx2"/>
                </a:solidFill>
                <a:latin typeface="微软雅黑" panose="020B0503020204020204" pitchFamily="34" charset="-122"/>
                <a:ea typeface="微软雅黑" panose="020B0503020204020204" pitchFamily="34" charset="-122"/>
                <a:sym typeface="+mn-ea"/>
              </a:rPr>
              <a:t>LayerNorm(                      )</a:t>
            </a:r>
            <a:endParaRPr lang="zh-CN" altLang="en-US" sz="1400">
              <a:solidFill>
                <a:schemeClr val="tx2"/>
              </a:solidFill>
              <a:latin typeface="微软雅黑" panose="020B0503020204020204" pitchFamily="34" charset="-122"/>
              <a:ea typeface="微软雅黑" panose="020B0503020204020204" pitchFamily="34" charset="-122"/>
              <a:sym typeface="+mn-ea"/>
            </a:endParaRPr>
          </a:p>
          <a:p>
            <a:pPr indent="0" fontAlgn="auto">
              <a:lnSpc>
                <a:spcPct val="150000"/>
              </a:lnSpc>
            </a:pPr>
            <a:r>
              <a:rPr lang="en-US" altLang="zh-CN" sz="1400">
                <a:solidFill>
                  <a:schemeClr val="tx2"/>
                </a:solidFill>
                <a:latin typeface="微软雅黑" panose="020B0503020204020204" pitchFamily="34" charset="-122"/>
                <a:ea typeface="微软雅黑" panose="020B0503020204020204" pitchFamily="34" charset="-122"/>
                <a:sym typeface="+mn-ea"/>
              </a:rPr>
              <a:t>LayerNorm(                      )</a:t>
            </a:r>
            <a:endParaRPr lang="zh-CN" altLang="en-US" sz="1400">
              <a:solidFill>
                <a:schemeClr val="tx2"/>
              </a:solidFill>
              <a:latin typeface="微软雅黑" panose="020B0503020204020204" pitchFamily="34" charset="-122"/>
              <a:ea typeface="微软雅黑" panose="020B0503020204020204" pitchFamily="34" charset="-122"/>
              <a:sym typeface="+mn-ea"/>
            </a:endParaRPr>
          </a:p>
          <a:p>
            <a:pPr indent="0" fontAlgn="auto">
              <a:lnSpc>
                <a:spcPct val="150000"/>
              </a:lnSpc>
            </a:pPr>
            <a:r>
              <a:rPr lang="en-US" altLang="zh-CN" sz="1400">
                <a:solidFill>
                  <a:schemeClr val="tx2"/>
                </a:solidFill>
                <a:latin typeface="微软雅黑" panose="020B0503020204020204" pitchFamily="34" charset="-122"/>
                <a:ea typeface="微软雅黑" panose="020B0503020204020204" pitchFamily="34" charset="-122"/>
                <a:sym typeface="+mn-ea"/>
              </a:rPr>
              <a:t>LayerNorm(                      )</a:t>
            </a:r>
            <a:endParaRPr lang="zh-CN" altLang="en-US" sz="1400">
              <a:solidFill>
                <a:schemeClr val="tx2"/>
              </a:solidFill>
              <a:latin typeface="微软雅黑" panose="020B0503020204020204" pitchFamily="34" charset="-122"/>
              <a:ea typeface="微软雅黑" panose="020B0503020204020204" pitchFamily="34" charset="-122"/>
              <a:sym typeface="+mn-ea"/>
            </a:endParaRPr>
          </a:p>
          <a:p>
            <a:pPr indent="0" fontAlgn="auto">
              <a:lnSpc>
                <a:spcPct val="150000"/>
              </a:lnSpc>
            </a:pPr>
            <a:r>
              <a:rPr lang="en-US" altLang="zh-CN" sz="1400">
                <a:solidFill>
                  <a:schemeClr val="tx2"/>
                </a:solidFill>
                <a:latin typeface="微软雅黑" panose="020B0503020204020204" pitchFamily="34" charset="-122"/>
                <a:ea typeface="微软雅黑" panose="020B0503020204020204" pitchFamily="34" charset="-122"/>
                <a:sym typeface="+mn-ea"/>
              </a:rPr>
              <a:t>LayerNorm(                      )</a:t>
            </a:r>
            <a:endParaRPr lang="zh-CN" altLang="en-US" sz="1400">
              <a:solidFill>
                <a:schemeClr val="tx2"/>
              </a:solidFill>
              <a:latin typeface="微软雅黑" panose="020B0503020204020204" pitchFamily="34" charset="-122"/>
              <a:ea typeface="微软雅黑" panose="020B0503020204020204" pitchFamily="34" charset="-122"/>
              <a:sym typeface="+mn-ea"/>
            </a:endParaRPr>
          </a:p>
        </p:txBody>
      </p:sp>
      <p:pic>
        <p:nvPicPr>
          <p:cNvPr id="18" name="图片 17"/>
          <p:cNvPicPr>
            <a:picLocks noChangeAspect="1"/>
          </p:cNvPicPr>
          <p:nvPr/>
        </p:nvPicPr>
        <p:blipFill>
          <a:blip r:embed="rId5"/>
          <a:srcRect r="26190"/>
          <a:stretch>
            <a:fillRect/>
          </a:stretch>
        </p:blipFill>
        <p:spPr>
          <a:xfrm>
            <a:off x="7316878" y="4557485"/>
            <a:ext cx="925195" cy="1252855"/>
          </a:xfrm>
          <a:prstGeom prst="rect">
            <a:avLst/>
          </a:prstGeom>
          <a:ln w="12700">
            <a:solidFill>
              <a:schemeClr val="tx2"/>
            </a:solidFill>
          </a:ln>
        </p:spPr>
      </p:pic>
      <p:pic>
        <p:nvPicPr>
          <p:cNvPr id="19" name="图片 18"/>
          <p:cNvPicPr>
            <a:picLocks noChangeAspect="1"/>
          </p:cNvPicPr>
          <p:nvPr/>
        </p:nvPicPr>
        <p:blipFill>
          <a:blip r:embed="rId6">
            <a:clrChange>
              <a:clrFrom>
                <a:srgbClr val="FFFFFF">
                  <a:alpha val="100000"/>
                </a:srgbClr>
              </a:clrFrom>
              <a:clrTo>
                <a:srgbClr val="FFFFFF">
                  <a:alpha val="100000"/>
                  <a:alpha val="0"/>
                </a:srgbClr>
              </a:clrTo>
            </a:clrChange>
          </a:blip>
          <a:stretch>
            <a:fillRect/>
          </a:stretch>
        </p:blipFill>
        <p:spPr>
          <a:xfrm>
            <a:off x="7779476" y="3890735"/>
            <a:ext cx="1955165" cy="514985"/>
          </a:xfrm>
          <a:prstGeom prst="rect">
            <a:avLst/>
          </a:prstGeom>
        </p:spPr>
      </p:pic>
      <p:pic>
        <p:nvPicPr>
          <p:cNvPr id="20" name="图片 19"/>
          <p:cNvPicPr>
            <a:picLocks noChangeAspect="1"/>
          </p:cNvPicPr>
          <p:nvPr/>
        </p:nvPicPr>
        <p:blipFill>
          <a:blip r:embed="rId7">
            <a:clrChange>
              <a:clrFrom>
                <a:srgbClr val="FFFFFF">
                  <a:alpha val="100000"/>
                </a:srgbClr>
              </a:clrFrom>
              <a:clrTo>
                <a:srgbClr val="FFFFFF">
                  <a:alpha val="100000"/>
                  <a:alpha val="0"/>
                </a:srgbClr>
              </a:clrTo>
            </a:clrChange>
          </a:blip>
          <a:stretch>
            <a:fillRect/>
          </a:stretch>
        </p:blipFill>
        <p:spPr>
          <a:xfrm>
            <a:off x="2740116" y="1866990"/>
            <a:ext cx="6382385" cy="412115"/>
          </a:xfrm>
          <a:prstGeom prst="rect">
            <a:avLst/>
          </a:prstGeom>
        </p:spPr>
      </p:pic>
    </p:spTree>
    <p:extLst>
      <p:ext uri="{BB962C8B-B14F-4D97-AF65-F5344CB8AC3E}">
        <p14:creationId xmlns:p14="http://schemas.microsoft.com/office/powerpoint/2010/main" val="20562056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945CF-081A-0390-D865-9C1124D143E5}"/>
            </a:ext>
          </a:extLst>
        </p:cNvPr>
        <p:cNvGrpSpPr/>
        <p:nvPr/>
      </p:nvGrpSpPr>
      <p:grpSpPr>
        <a:xfrm>
          <a:off x="0" y="0"/>
          <a:ext cx="0" cy="0"/>
          <a:chOff x="0" y="0"/>
          <a:chExt cx="0" cy="0"/>
        </a:xfrm>
      </p:grpSpPr>
      <p:sp>
        <p:nvSpPr>
          <p:cNvPr id="16" name="圆角矩形 19">
            <a:extLst>
              <a:ext uri="{FF2B5EF4-FFF2-40B4-BE49-F238E27FC236}">
                <a16:creationId xmlns:a16="http://schemas.microsoft.com/office/drawing/2014/main" id="{0C4E00E7-31BC-9732-9C57-58EC4CFF3B0B}"/>
              </a:ext>
            </a:extLst>
          </p:cNvPr>
          <p:cNvSpPr/>
          <p:nvPr/>
        </p:nvSpPr>
        <p:spPr>
          <a:xfrm>
            <a:off x="381242" y="3864012"/>
            <a:ext cx="7290218" cy="1646139"/>
          </a:xfrm>
          <a:prstGeom prst="roundRect">
            <a:avLst>
              <a:gd name="adj" fmla="val 9265"/>
            </a:avLst>
          </a:prstGeom>
          <a:solidFill>
            <a:schemeClr val="bg1">
              <a:lumMod val="85000"/>
              <a:alpha val="68000"/>
            </a:schemeClr>
          </a:solidFill>
          <a:ln w="254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5" name="圆角矩形 19">
            <a:extLst>
              <a:ext uri="{FF2B5EF4-FFF2-40B4-BE49-F238E27FC236}">
                <a16:creationId xmlns:a16="http://schemas.microsoft.com/office/drawing/2014/main" id="{E27BD825-AC12-BA4E-7922-319C2A5EE67D}"/>
              </a:ext>
            </a:extLst>
          </p:cNvPr>
          <p:cNvSpPr/>
          <p:nvPr/>
        </p:nvSpPr>
        <p:spPr>
          <a:xfrm>
            <a:off x="381242" y="2783358"/>
            <a:ext cx="7290218" cy="998933"/>
          </a:xfrm>
          <a:prstGeom prst="roundRect">
            <a:avLst>
              <a:gd name="adj" fmla="val 9265"/>
            </a:avLst>
          </a:prstGeom>
          <a:solidFill>
            <a:schemeClr val="bg1">
              <a:lumMod val="85000"/>
              <a:alpha val="68000"/>
            </a:schemeClr>
          </a:solidFill>
          <a:ln w="254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4" name="圆角矩形 19">
            <a:extLst>
              <a:ext uri="{FF2B5EF4-FFF2-40B4-BE49-F238E27FC236}">
                <a16:creationId xmlns:a16="http://schemas.microsoft.com/office/drawing/2014/main" id="{89C7E46D-1AF5-3BF3-B3D3-124A4D03CF2C}"/>
              </a:ext>
            </a:extLst>
          </p:cNvPr>
          <p:cNvSpPr/>
          <p:nvPr/>
        </p:nvSpPr>
        <p:spPr>
          <a:xfrm>
            <a:off x="381242" y="1506097"/>
            <a:ext cx="7290218" cy="1195540"/>
          </a:xfrm>
          <a:prstGeom prst="roundRect">
            <a:avLst>
              <a:gd name="adj" fmla="val 9265"/>
            </a:avLst>
          </a:prstGeom>
          <a:solidFill>
            <a:schemeClr val="bg1">
              <a:lumMod val="85000"/>
              <a:alpha val="68000"/>
            </a:schemeClr>
          </a:solidFill>
          <a:ln w="254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3" name="标题 2">
            <a:extLst>
              <a:ext uri="{FF2B5EF4-FFF2-40B4-BE49-F238E27FC236}">
                <a16:creationId xmlns:a16="http://schemas.microsoft.com/office/drawing/2014/main" id="{23634B29-BC36-69E5-65BA-14CF9AC776F9}"/>
              </a:ext>
            </a:extLst>
          </p:cNvPr>
          <p:cNvSpPr>
            <a:spLocks noGrp="1"/>
          </p:cNvSpPr>
          <p:nvPr>
            <p:ph type="title"/>
          </p:nvPr>
        </p:nvSpPr>
        <p:spPr/>
        <p:txBody>
          <a:bodyPr/>
          <a:lstStyle/>
          <a:p>
            <a:r>
              <a:rPr lang="zh-CN" altLang="en-US" dirty="0"/>
              <a:t>归一化模块</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64E9882-4112-D040-42FE-314BA7490877}"/>
                  </a:ext>
                </a:extLst>
              </p:cNvPr>
              <p:cNvSpPr txBox="1"/>
              <p:nvPr/>
            </p:nvSpPr>
            <p:spPr>
              <a:xfrm>
                <a:off x="381242" y="1078543"/>
                <a:ext cx="7401560" cy="4297395"/>
              </a:xfrm>
              <a:prstGeom prst="rect">
                <a:avLst/>
              </a:prstGeom>
              <a:noFill/>
            </p:spPr>
            <p:txBody>
              <a:bodyPr wrap="square" rtlCol="0">
                <a:spAutoFit/>
              </a:bodyPr>
              <a:lstStyle/>
              <a:p>
                <a:pPr fontAlgn="auto">
                  <a:lnSpc>
                    <a:spcPct val="125000"/>
                  </a:lnSpc>
                  <a:spcBef>
                    <a:spcPts val="600"/>
                  </a:spcBef>
                </a:pPr>
                <a:r>
                  <a:rPr lang="zh-CN" altLang="en-US" b="1" dirty="0">
                    <a:solidFill>
                      <a:schemeClr val="tx2"/>
                    </a:solidFill>
                    <a:latin typeface="微软雅黑" panose="020B0503020204020204" pitchFamily="34" charset="-122"/>
                    <a:ea typeface="微软雅黑" panose="020B0503020204020204" pitchFamily="34" charset="-122"/>
                  </a:rPr>
                  <a:t>常见的三种归一化：</a:t>
                </a:r>
                <a:endParaRPr lang="en-US" altLang="zh-CN" b="1" dirty="0">
                  <a:solidFill>
                    <a:schemeClr val="tx2"/>
                  </a:solidFill>
                  <a:latin typeface="微软雅黑" panose="020B0503020204020204" pitchFamily="34" charset="-122"/>
                  <a:ea typeface="微软雅黑" panose="020B0503020204020204" pitchFamily="34" charset="-122"/>
                </a:endParaRPr>
              </a:p>
              <a:p>
                <a:pPr marL="285750" indent="-285750">
                  <a:lnSpc>
                    <a:spcPct val="125000"/>
                  </a:lnSpc>
                  <a:spcBef>
                    <a:spcPts val="600"/>
                  </a:spcBef>
                  <a:buFont typeface="Wingdings" panose="05000000000000000000" pitchFamily="2" charset="2"/>
                  <a:buChar char="p"/>
                </a:pPr>
                <a:r>
                  <a:rPr lang="en-US" altLang="zh-CN" sz="1600" b="1" dirty="0">
                    <a:solidFill>
                      <a:schemeClr val="tx2"/>
                    </a:solidFill>
                    <a:latin typeface="微软雅黑" panose="020B0503020204020204" pitchFamily="34" charset="-122"/>
                    <a:ea typeface="微软雅黑" panose="020B0503020204020204" pitchFamily="34" charset="-122"/>
                  </a:rPr>
                  <a:t>Post-Norm</a:t>
                </a:r>
                <a:r>
                  <a:rPr lang="zh-CN" altLang="en-US" sz="1600" b="1" dirty="0">
                    <a:solidFill>
                      <a:schemeClr val="tx2"/>
                    </a:solidFill>
                    <a:latin typeface="微软雅黑" panose="020B0503020204020204" pitchFamily="34" charset="-122"/>
                    <a:ea typeface="微软雅黑" panose="020B0503020204020204" pitchFamily="34" charset="-122"/>
                  </a:rPr>
                  <a:t>：</a:t>
                </a:r>
                <a:r>
                  <a:rPr lang="en-US" altLang="zh-CN" sz="1600" dirty="0">
                    <a:solidFill>
                      <a:schemeClr val="tx2"/>
                    </a:solidFill>
                    <a:latin typeface="微软雅黑" panose="020B0503020204020204" pitchFamily="34" charset="-122"/>
                    <a:ea typeface="微软雅黑" panose="020B0503020204020204" pitchFamily="34" charset="-122"/>
                  </a:rPr>
                  <a:t>Post-Norm </a:t>
                </a:r>
                <a:r>
                  <a:rPr lang="zh-CN" altLang="en-US" sz="1600" dirty="0">
                    <a:solidFill>
                      <a:schemeClr val="tx2"/>
                    </a:solidFill>
                    <a:latin typeface="微软雅黑" panose="020B0503020204020204" pitchFamily="34" charset="-122"/>
                    <a:ea typeface="微软雅黑" panose="020B0503020204020204" pitchFamily="34" charset="-122"/>
                  </a:rPr>
                  <a:t>是在原始 </a:t>
                </a:r>
                <a:r>
                  <a:rPr lang="en-US" altLang="zh-CN" sz="1600" dirty="0">
                    <a:solidFill>
                      <a:schemeClr val="tx2"/>
                    </a:solidFill>
                    <a:latin typeface="微软雅黑" panose="020B0503020204020204" pitchFamily="34" charset="-122"/>
                    <a:ea typeface="微软雅黑" panose="020B0503020204020204" pitchFamily="34" charset="-122"/>
                  </a:rPr>
                  <a:t>Transformer </a:t>
                </a:r>
                <a:r>
                  <a:rPr lang="zh-CN" altLang="en-US" sz="1600" dirty="0">
                    <a:solidFill>
                      <a:schemeClr val="tx2"/>
                    </a:solidFill>
                    <a:latin typeface="微软雅黑" panose="020B0503020204020204" pitchFamily="34" charset="-122"/>
                    <a:ea typeface="微软雅黑" panose="020B0503020204020204" pitchFamily="34" charset="-122"/>
                  </a:rPr>
                  <a:t>模型中所使用的一种归一化技术。其中，归一化模块被放置于残差计算之后。</a:t>
                </a:r>
                <a:endParaRPr lang="en-US" altLang="zh-CN" sz="1600" dirty="0">
                  <a:solidFill>
                    <a:schemeClr val="tx2"/>
                  </a:solidFill>
                  <a:latin typeface="微软雅黑" panose="020B0503020204020204" pitchFamily="34" charset="-122"/>
                  <a:ea typeface="微软雅黑" panose="020B0503020204020204" pitchFamily="34" charset="-122"/>
                </a:endParaRPr>
              </a:p>
              <a:p>
                <a:pPr>
                  <a:lnSpc>
                    <a:spcPct val="125000"/>
                  </a:lnSpc>
                  <a:spcBef>
                    <a:spcPts val="600"/>
                  </a:spcBef>
                </a:pPr>
                <a14:m>
                  <m:oMathPara xmlns:m="http://schemas.openxmlformats.org/officeDocument/2006/math">
                    <m:oMathParaPr>
                      <m:jc m:val="centerGroup"/>
                    </m:oMathParaPr>
                    <m:oMath xmlns:m="http://schemas.openxmlformats.org/officeDocument/2006/math">
                      <m:r>
                        <a:rPr lang="en-US" altLang="zh-CN" sz="1600" b="0" i="1" smtClean="0">
                          <a:solidFill>
                            <a:schemeClr val="tx2"/>
                          </a:solidFill>
                          <a:latin typeface="Cambria Math" panose="02040503050406030204" pitchFamily="18" charset="0"/>
                          <a:ea typeface="微软雅黑" panose="020B0503020204020204" pitchFamily="34" charset="-122"/>
                        </a:rPr>
                        <m:t>𝑃𝑜𝑠𝑡𝑁𝑜𝑟𝑚</m:t>
                      </m:r>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𝑥</m:t>
                      </m:r>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𝑁𝑜𝑟𝑚</m:t>
                      </m:r>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𝑥</m:t>
                      </m:r>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𝑆𝑢𝑏𝑙𝑎𝑦𝑒𝑟</m:t>
                      </m:r>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𝑥</m:t>
                      </m:r>
                      <m:r>
                        <a:rPr lang="en-US" altLang="zh-CN" sz="1600" b="0" i="1" smtClean="0">
                          <a:solidFill>
                            <a:schemeClr val="tx2"/>
                          </a:solidFill>
                          <a:latin typeface="Cambria Math" panose="02040503050406030204" pitchFamily="18" charset="0"/>
                          <a:ea typeface="微软雅黑" panose="020B0503020204020204" pitchFamily="34" charset="-122"/>
                        </a:rPr>
                        <m:t>))</m:t>
                      </m:r>
                    </m:oMath>
                  </m:oMathPara>
                </a14:m>
                <a:endParaRPr lang="en-US" altLang="zh-CN" sz="1600" dirty="0">
                  <a:solidFill>
                    <a:schemeClr val="tx2"/>
                  </a:solidFill>
                  <a:latin typeface="微软雅黑" panose="020B0503020204020204" pitchFamily="34" charset="-122"/>
                  <a:ea typeface="微软雅黑" panose="020B0503020204020204" pitchFamily="34" charset="-122"/>
                </a:endParaRPr>
              </a:p>
              <a:p>
                <a:pPr>
                  <a:lnSpc>
                    <a:spcPct val="125000"/>
                  </a:lnSpc>
                  <a:spcBef>
                    <a:spcPts val="600"/>
                  </a:spcBef>
                </a:pPr>
                <a:endParaRPr lang="en-US" altLang="zh-CN" sz="1600" dirty="0">
                  <a:solidFill>
                    <a:schemeClr val="tx2"/>
                  </a:solidFill>
                  <a:latin typeface="微软雅黑" panose="020B0503020204020204" pitchFamily="34" charset="-122"/>
                  <a:ea typeface="微软雅黑" panose="020B0503020204020204" pitchFamily="34" charset="-122"/>
                </a:endParaRPr>
              </a:p>
              <a:p>
                <a:pPr marL="285750" indent="-285750" fontAlgn="auto">
                  <a:lnSpc>
                    <a:spcPct val="125000"/>
                  </a:lnSpc>
                  <a:spcBef>
                    <a:spcPts val="600"/>
                  </a:spcBef>
                  <a:buFont typeface="Wingdings" panose="05000000000000000000" pitchFamily="2" charset="2"/>
                  <a:buChar char="p"/>
                </a:pPr>
                <a:r>
                  <a:rPr lang="en-US" altLang="zh-CN" sz="1600" b="1" dirty="0">
                    <a:solidFill>
                      <a:schemeClr val="tx2"/>
                    </a:solidFill>
                    <a:latin typeface="微软雅黑" panose="020B0503020204020204" pitchFamily="34" charset="-122"/>
                    <a:ea typeface="微软雅黑" panose="020B0503020204020204" pitchFamily="34" charset="-122"/>
                  </a:rPr>
                  <a:t>Pre-Norm</a:t>
                </a:r>
                <a:r>
                  <a:rPr lang="zh-CN" altLang="en-US" sz="1600" b="1" dirty="0">
                    <a:solidFill>
                      <a:schemeClr val="tx2"/>
                    </a:solidFill>
                    <a:latin typeface="微软雅黑" panose="020B0503020204020204" pitchFamily="34" charset="-122"/>
                    <a:ea typeface="微软雅黑" panose="020B0503020204020204" pitchFamily="34" charset="-122"/>
                  </a:rPr>
                  <a:t>：</a:t>
                </a:r>
                <a:r>
                  <a:rPr lang="en-US" altLang="zh-CN" sz="1600" dirty="0">
                    <a:solidFill>
                      <a:schemeClr val="tx2"/>
                    </a:solidFill>
                    <a:latin typeface="微软雅黑" panose="020B0503020204020204" pitchFamily="34" charset="-122"/>
                    <a:ea typeface="微软雅黑" panose="020B0503020204020204" pitchFamily="34" charset="-122"/>
                  </a:rPr>
                  <a:t>Pre-Norm </a:t>
                </a:r>
                <a:r>
                  <a:rPr lang="zh-CN" altLang="en-US" sz="1600" dirty="0">
                    <a:solidFill>
                      <a:schemeClr val="tx2"/>
                    </a:solidFill>
                    <a:latin typeface="微软雅黑" panose="020B0503020204020204" pitchFamily="34" charset="-122"/>
                    <a:ea typeface="微软雅黑" panose="020B0503020204020204" pitchFamily="34" charset="-122"/>
                  </a:rPr>
                  <a:t>将归一化模块应用在每个子层之前。</a:t>
                </a:r>
                <a:endParaRPr lang="en-US" altLang="zh-CN" sz="1600" dirty="0">
                  <a:solidFill>
                    <a:schemeClr val="tx2"/>
                  </a:solidFill>
                  <a:latin typeface="微软雅黑" panose="020B0503020204020204" pitchFamily="34" charset="-122"/>
                  <a:ea typeface="微软雅黑" panose="020B0503020204020204" pitchFamily="34" charset="-122"/>
                </a:endParaRPr>
              </a:p>
              <a:p>
                <a:pPr fontAlgn="auto">
                  <a:lnSpc>
                    <a:spcPct val="125000"/>
                  </a:lnSpc>
                  <a:spcBef>
                    <a:spcPts val="600"/>
                  </a:spcBef>
                </a:pPr>
                <a14:m>
                  <m:oMathPara xmlns:m="http://schemas.openxmlformats.org/officeDocument/2006/math">
                    <m:oMathParaPr>
                      <m:jc m:val="centerGroup"/>
                    </m:oMathParaPr>
                    <m:oMath xmlns:m="http://schemas.openxmlformats.org/officeDocument/2006/math">
                      <m:r>
                        <a:rPr lang="en-US" altLang="zh-CN" sz="1600" b="0" i="1" smtClean="0">
                          <a:solidFill>
                            <a:schemeClr val="tx2"/>
                          </a:solidFill>
                          <a:latin typeface="Cambria Math" panose="02040503050406030204" pitchFamily="18" charset="0"/>
                          <a:ea typeface="微软雅黑" panose="020B0503020204020204" pitchFamily="34" charset="-122"/>
                        </a:rPr>
                        <m:t>𝑃𝑟𝑒𝑁𝑜𝑟𝑚</m:t>
                      </m:r>
                      <m:d>
                        <m:dPr>
                          <m:ctrlPr>
                            <a:rPr lang="en-US" altLang="zh-CN" sz="1600" b="0" i="1" smtClean="0">
                              <a:solidFill>
                                <a:schemeClr val="tx2"/>
                              </a:solidFill>
                              <a:latin typeface="Cambria Math" panose="02040503050406030204" pitchFamily="18" charset="0"/>
                              <a:ea typeface="微软雅黑" panose="020B0503020204020204" pitchFamily="34" charset="-122"/>
                            </a:rPr>
                          </m:ctrlPr>
                        </m:dPr>
                        <m:e>
                          <m:r>
                            <a:rPr lang="en-US" altLang="zh-CN" sz="1600" b="0" i="1" smtClean="0">
                              <a:solidFill>
                                <a:schemeClr val="tx2"/>
                              </a:solidFill>
                              <a:latin typeface="Cambria Math" panose="02040503050406030204" pitchFamily="18" charset="0"/>
                              <a:ea typeface="微软雅黑" panose="020B0503020204020204" pitchFamily="34" charset="-122"/>
                            </a:rPr>
                            <m:t>𝑥</m:t>
                          </m:r>
                        </m:e>
                      </m:d>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𝑥</m:t>
                      </m:r>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𝑆𝑢𝑏𝑙𝑎𝑦𝑒𝑟</m:t>
                      </m:r>
                      <m:d>
                        <m:dPr>
                          <m:ctrlPr>
                            <a:rPr lang="en-US" altLang="zh-CN" sz="1600" b="0" i="1" smtClean="0">
                              <a:solidFill>
                                <a:schemeClr val="tx2"/>
                              </a:solidFill>
                              <a:latin typeface="Cambria Math" panose="02040503050406030204" pitchFamily="18" charset="0"/>
                              <a:ea typeface="微软雅黑" panose="020B0503020204020204" pitchFamily="34" charset="-122"/>
                            </a:rPr>
                          </m:ctrlPr>
                        </m:dPr>
                        <m:e>
                          <m:r>
                            <a:rPr lang="en-US" altLang="zh-CN" sz="1600" b="0" i="1" smtClean="0">
                              <a:solidFill>
                                <a:schemeClr val="tx2"/>
                              </a:solidFill>
                              <a:latin typeface="Cambria Math" panose="02040503050406030204" pitchFamily="18" charset="0"/>
                              <a:ea typeface="微软雅黑" panose="020B0503020204020204" pitchFamily="34" charset="-122"/>
                            </a:rPr>
                            <m:t>𝑁𝑜𝑟𝑚</m:t>
                          </m:r>
                          <m:d>
                            <m:dPr>
                              <m:ctrlPr>
                                <a:rPr lang="en-US" altLang="zh-CN" sz="1600" b="0" i="1" smtClean="0">
                                  <a:solidFill>
                                    <a:schemeClr val="tx2"/>
                                  </a:solidFill>
                                  <a:latin typeface="Cambria Math" panose="02040503050406030204" pitchFamily="18" charset="0"/>
                                  <a:ea typeface="微软雅黑" panose="020B0503020204020204" pitchFamily="34" charset="-122"/>
                                </a:rPr>
                              </m:ctrlPr>
                            </m:dPr>
                            <m:e>
                              <m:r>
                                <a:rPr lang="en-US" altLang="zh-CN" sz="1600" b="0" i="1" smtClean="0">
                                  <a:solidFill>
                                    <a:schemeClr val="tx2"/>
                                  </a:solidFill>
                                  <a:latin typeface="Cambria Math" panose="02040503050406030204" pitchFamily="18" charset="0"/>
                                  <a:ea typeface="微软雅黑" panose="020B0503020204020204" pitchFamily="34" charset="-122"/>
                                </a:rPr>
                                <m:t>𝑥</m:t>
                              </m:r>
                            </m:e>
                          </m:d>
                        </m:e>
                      </m:d>
                    </m:oMath>
                  </m:oMathPara>
                </a14:m>
                <a:endParaRPr lang="en-US" altLang="zh-CN" sz="1600" b="0" dirty="0">
                  <a:solidFill>
                    <a:schemeClr val="tx2"/>
                  </a:solidFill>
                  <a:latin typeface="微软雅黑" panose="020B0503020204020204" pitchFamily="34" charset="-122"/>
                  <a:ea typeface="微软雅黑" panose="020B0503020204020204" pitchFamily="34" charset="-122"/>
                </a:endParaRPr>
              </a:p>
              <a:p>
                <a:pPr fontAlgn="auto">
                  <a:lnSpc>
                    <a:spcPct val="125000"/>
                  </a:lnSpc>
                  <a:spcBef>
                    <a:spcPts val="600"/>
                  </a:spcBef>
                </a:pPr>
                <a:endParaRPr lang="en-US" altLang="zh-CN" sz="1600" dirty="0">
                  <a:solidFill>
                    <a:schemeClr val="tx2"/>
                  </a:solidFill>
                  <a:latin typeface="微软雅黑" panose="020B0503020204020204" pitchFamily="34" charset="-122"/>
                  <a:ea typeface="微软雅黑" panose="020B0503020204020204" pitchFamily="34" charset="-122"/>
                </a:endParaRPr>
              </a:p>
              <a:p>
                <a:pPr marL="285750" indent="-285750" fontAlgn="auto">
                  <a:lnSpc>
                    <a:spcPct val="125000"/>
                  </a:lnSpc>
                  <a:spcBef>
                    <a:spcPts val="600"/>
                  </a:spcBef>
                  <a:buFont typeface="Wingdings" panose="05000000000000000000" pitchFamily="2" charset="2"/>
                  <a:buChar char="p"/>
                </a:pPr>
                <a:r>
                  <a:rPr lang="en-US" altLang="zh-CN" sz="1600" b="1" dirty="0">
                    <a:solidFill>
                      <a:schemeClr val="tx2"/>
                    </a:solidFill>
                    <a:latin typeface="微软雅黑" panose="020B0503020204020204" pitchFamily="34" charset="-122"/>
                    <a:ea typeface="微软雅黑" panose="020B0503020204020204" pitchFamily="34" charset="-122"/>
                  </a:rPr>
                  <a:t>Sandwich-Norm</a:t>
                </a:r>
                <a:r>
                  <a:rPr lang="zh-CN" altLang="en-US" sz="1600" b="1" dirty="0">
                    <a:solidFill>
                      <a:schemeClr val="tx2"/>
                    </a:solidFill>
                    <a:latin typeface="微软雅黑" panose="020B0503020204020204" pitchFamily="34" charset="-122"/>
                    <a:ea typeface="微软雅黑" panose="020B0503020204020204" pitchFamily="34" charset="-122"/>
                  </a:rPr>
                  <a:t>：</a:t>
                </a:r>
                <a:r>
                  <a:rPr lang="zh-CN" altLang="en-US" sz="1600" dirty="0">
                    <a:solidFill>
                      <a:schemeClr val="tx2"/>
                    </a:solidFill>
                    <a:latin typeface="微软雅黑" panose="020B0503020204020204" pitchFamily="34" charset="-122"/>
                    <a:ea typeface="微软雅黑" panose="020B0503020204020204" pitchFamily="34" charset="-122"/>
                  </a:rPr>
                  <a:t>在 </a:t>
                </a:r>
                <a:r>
                  <a:rPr lang="en-US" altLang="zh-CN" sz="1600" dirty="0">
                    <a:solidFill>
                      <a:schemeClr val="tx2"/>
                    </a:solidFill>
                    <a:latin typeface="微软雅黑" panose="020B0503020204020204" pitchFamily="34" charset="-122"/>
                    <a:ea typeface="微软雅黑" panose="020B0503020204020204" pitchFamily="34" charset="-122"/>
                  </a:rPr>
                  <a:t>Pre-Norm </a:t>
                </a:r>
                <a:r>
                  <a:rPr lang="zh-CN" altLang="en-US" sz="1600" dirty="0">
                    <a:solidFill>
                      <a:schemeClr val="tx2"/>
                    </a:solidFill>
                    <a:latin typeface="微软雅黑" panose="020B0503020204020204" pitchFamily="34" charset="-122"/>
                    <a:ea typeface="微软雅黑" panose="020B0503020204020204" pitchFamily="34" charset="-122"/>
                  </a:rPr>
                  <a:t>的基础上，</a:t>
                </a:r>
                <a:r>
                  <a:rPr lang="en-US" altLang="zh-CN" sz="1600" dirty="0">
                    <a:solidFill>
                      <a:schemeClr val="tx2"/>
                    </a:solidFill>
                    <a:latin typeface="微软雅黑" panose="020B0503020204020204" pitchFamily="34" charset="-122"/>
                    <a:ea typeface="微软雅黑" panose="020B0503020204020204" pitchFamily="34" charset="-122"/>
                  </a:rPr>
                  <a:t>Sandwich-Norm </a:t>
                </a:r>
                <a:r>
                  <a:rPr lang="zh-CN" altLang="en-US" sz="1600" dirty="0">
                    <a:solidFill>
                      <a:schemeClr val="tx2"/>
                    </a:solidFill>
                    <a:latin typeface="微软雅黑" panose="020B0503020204020204" pitchFamily="34" charset="-122"/>
                    <a:ea typeface="微软雅黑" panose="020B0503020204020204" pitchFamily="34" charset="-122"/>
                  </a:rPr>
                  <a:t>在残差连接之前增加了额外的 </a:t>
                </a:r>
                <a:r>
                  <a:rPr lang="en-US" altLang="zh-CN" sz="1600" dirty="0" err="1">
                    <a:solidFill>
                      <a:schemeClr val="tx2"/>
                    </a:solidFill>
                    <a:latin typeface="微软雅黑" panose="020B0503020204020204" pitchFamily="34" charset="-122"/>
                    <a:ea typeface="微软雅黑" panose="020B0503020204020204" pitchFamily="34" charset="-122"/>
                  </a:rPr>
                  <a:t>LayerNorm</a:t>
                </a:r>
                <a:r>
                  <a:rPr lang="zh-CN" altLang="en-US" sz="1600" dirty="0">
                    <a:solidFill>
                      <a:schemeClr val="tx2"/>
                    </a:solidFill>
                    <a:latin typeface="微软雅黑" panose="020B0503020204020204" pitchFamily="34" charset="-122"/>
                    <a:ea typeface="微软雅黑" panose="020B0503020204020204" pitchFamily="34" charset="-122"/>
                  </a:rPr>
                  <a:t>，旨在避免 </a:t>
                </a:r>
                <a:r>
                  <a:rPr lang="en-US" altLang="zh-CN" sz="1600" dirty="0">
                    <a:solidFill>
                      <a:schemeClr val="tx2"/>
                    </a:solidFill>
                    <a:latin typeface="微软雅黑" panose="020B0503020204020204" pitchFamily="34" charset="-122"/>
                    <a:ea typeface="微软雅黑" panose="020B0503020204020204" pitchFamily="34" charset="-122"/>
                  </a:rPr>
                  <a:t>Transformer </a:t>
                </a:r>
                <a:r>
                  <a:rPr lang="zh-CN" altLang="en-US" sz="1600" dirty="0">
                    <a:solidFill>
                      <a:schemeClr val="tx2"/>
                    </a:solidFill>
                    <a:latin typeface="微软雅黑" panose="020B0503020204020204" pitchFamily="34" charset="-122"/>
                    <a:ea typeface="微软雅黑" panose="020B0503020204020204" pitchFamily="34" charset="-122"/>
                  </a:rPr>
                  <a:t>层的输出数值爆炸。</a:t>
                </a:r>
                <a:endParaRPr lang="en-US" altLang="zh-CN" sz="1600" dirty="0">
                  <a:solidFill>
                    <a:schemeClr val="tx2"/>
                  </a:solidFill>
                  <a:latin typeface="微软雅黑" panose="020B0503020204020204" pitchFamily="34" charset="-122"/>
                  <a:ea typeface="微软雅黑" panose="020B0503020204020204" pitchFamily="34" charset="-122"/>
                </a:endParaRPr>
              </a:p>
              <a:p>
                <a:pPr>
                  <a:lnSpc>
                    <a:spcPct val="125000"/>
                  </a:lnSpc>
                  <a:spcBef>
                    <a:spcPts val="600"/>
                  </a:spcBef>
                </a:pPr>
                <a14:m>
                  <m:oMathPara xmlns:m="http://schemas.openxmlformats.org/officeDocument/2006/math">
                    <m:oMathParaPr>
                      <m:jc m:val="centerGroup"/>
                    </m:oMathParaPr>
                    <m:oMath xmlns:m="http://schemas.openxmlformats.org/officeDocument/2006/math">
                      <m:r>
                        <a:rPr lang="en-US" altLang="zh-CN" sz="1600" b="0" i="1" smtClean="0">
                          <a:solidFill>
                            <a:schemeClr val="tx2"/>
                          </a:solidFill>
                          <a:latin typeface="Cambria Math" panose="02040503050406030204" pitchFamily="18" charset="0"/>
                          <a:ea typeface="微软雅黑" panose="020B0503020204020204" pitchFamily="34" charset="-122"/>
                        </a:rPr>
                        <m:t>𝑆𝑎𝑛𝑑𝑤𝑖𝑐h𝑁𝑜𝑟𝑚</m:t>
                      </m:r>
                      <m:d>
                        <m:dPr>
                          <m:ctrlPr>
                            <a:rPr lang="en-US" altLang="zh-CN" sz="1600" b="0" i="1" smtClean="0">
                              <a:solidFill>
                                <a:schemeClr val="tx2"/>
                              </a:solidFill>
                              <a:latin typeface="Cambria Math" panose="02040503050406030204" pitchFamily="18" charset="0"/>
                              <a:ea typeface="微软雅黑" panose="020B0503020204020204" pitchFamily="34" charset="-122"/>
                            </a:rPr>
                          </m:ctrlPr>
                        </m:dPr>
                        <m:e>
                          <m:r>
                            <a:rPr lang="en-US" altLang="zh-CN" sz="1600" b="0" i="1" smtClean="0">
                              <a:solidFill>
                                <a:schemeClr val="tx2"/>
                              </a:solidFill>
                              <a:latin typeface="Cambria Math" panose="02040503050406030204" pitchFamily="18" charset="0"/>
                              <a:ea typeface="微软雅黑" panose="020B0503020204020204" pitchFamily="34" charset="-122"/>
                            </a:rPr>
                            <m:t>𝑥</m:t>
                          </m:r>
                        </m:e>
                      </m:d>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𝑥</m:t>
                      </m:r>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𝑁𝑜𝑟𝑚</m:t>
                      </m:r>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𝑆𝑢𝑏𝑙𝑎𝑦𝑒𝑟</m:t>
                      </m:r>
                      <m:r>
                        <a:rPr lang="en-US" altLang="zh-CN" sz="1600" b="0" i="1" smtClean="0">
                          <a:solidFill>
                            <a:schemeClr val="tx2"/>
                          </a:solidFill>
                          <a:latin typeface="Cambria Math" panose="02040503050406030204" pitchFamily="18" charset="0"/>
                          <a:ea typeface="微软雅黑" panose="020B0503020204020204" pitchFamily="34" charset="-122"/>
                        </a:rPr>
                        <m:t>(</m:t>
                      </m:r>
                      <m:r>
                        <a:rPr lang="en-US" altLang="zh-CN" sz="1600" b="0" i="1" smtClean="0">
                          <a:solidFill>
                            <a:schemeClr val="tx2"/>
                          </a:solidFill>
                          <a:latin typeface="Cambria Math" panose="02040503050406030204" pitchFamily="18" charset="0"/>
                          <a:ea typeface="微软雅黑" panose="020B0503020204020204" pitchFamily="34" charset="-122"/>
                        </a:rPr>
                        <m:t>𝑁𝑜𝑟𝑚</m:t>
                      </m:r>
                      <m:d>
                        <m:dPr>
                          <m:ctrlPr>
                            <a:rPr lang="en-US" altLang="zh-CN" sz="1600" b="0" i="1" smtClean="0">
                              <a:solidFill>
                                <a:schemeClr val="tx2"/>
                              </a:solidFill>
                              <a:latin typeface="Cambria Math" panose="02040503050406030204" pitchFamily="18" charset="0"/>
                              <a:ea typeface="微软雅黑" panose="020B0503020204020204" pitchFamily="34" charset="-122"/>
                            </a:rPr>
                          </m:ctrlPr>
                        </m:dPr>
                        <m:e>
                          <m:r>
                            <a:rPr lang="en-US" altLang="zh-CN" sz="1600" b="0" i="1" smtClean="0">
                              <a:solidFill>
                                <a:schemeClr val="tx2"/>
                              </a:solidFill>
                              <a:latin typeface="Cambria Math" panose="02040503050406030204" pitchFamily="18" charset="0"/>
                              <a:ea typeface="微软雅黑" panose="020B0503020204020204" pitchFamily="34" charset="-122"/>
                            </a:rPr>
                            <m:t>𝑥</m:t>
                          </m:r>
                        </m:e>
                      </m:d>
                      <m:r>
                        <a:rPr lang="en-US" altLang="zh-CN" sz="1600" b="0" i="1" smtClean="0">
                          <a:solidFill>
                            <a:schemeClr val="tx2"/>
                          </a:solidFill>
                          <a:latin typeface="Cambria Math" panose="02040503050406030204" pitchFamily="18" charset="0"/>
                          <a:ea typeface="微软雅黑" panose="020B0503020204020204" pitchFamily="34" charset="-122"/>
                        </a:rPr>
                        <m:t>))</m:t>
                      </m:r>
                    </m:oMath>
                  </m:oMathPara>
                </a14:m>
                <a:endParaRPr lang="en-US" altLang="zh-CN" sz="1600" dirty="0">
                  <a:solidFill>
                    <a:schemeClr val="tx2"/>
                  </a:solidFill>
                  <a:latin typeface="微软雅黑" panose="020B0503020204020204" pitchFamily="34" charset="-122"/>
                  <a:ea typeface="微软雅黑" panose="020B0503020204020204" pitchFamily="34" charset="-122"/>
                </a:endParaRPr>
              </a:p>
              <a:p>
                <a:pPr fontAlgn="auto">
                  <a:lnSpc>
                    <a:spcPct val="125000"/>
                  </a:lnSpc>
                  <a:spcBef>
                    <a:spcPts val="600"/>
                  </a:spcBef>
                </a:pPr>
                <a:endParaRPr lang="en-US" altLang="zh-CN" sz="1600" dirty="0">
                  <a:solidFill>
                    <a:schemeClr val="tx2"/>
                  </a:solidFill>
                  <a:latin typeface="微软雅黑" panose="020B0503020204020204" pitchFamily="34" charset="-122"/>
                  <a:ea typeface="微软雅黑" panose="020B0503020204020204" pitchFamily="34" charset="-122"/>
                </a:endParaRPr>
              </a:p>
            </p:txBody>
          </p:sp>
        </mc:Choice>
        <mc:Fallback xmlns="">
          <p:sp>
            <p:nvSpPr>
              <p:cNvPr id="2" name="文本框 1">
                <a:extLst>
                  <a:ext uri="{FF2B5EF4-FFF2-40B4-BE49-F238E27FC236}">
                    <a16:creationId xmlns:a16="http://schemas.microsoft.com/office/drawing/2014/main" id="{A64E9882-4112-D040-42FE-314BA7490877}"/>
                  </a:ext>
                </a:extLst>
              </p:cNvPr>
              <p:cNvSpPr txBox="1">
                <a:spLocks noRot="1" noChangeAspect="1" noMove="1" noResize="1" noEditPoints="1" noAdjustHandles="1" noChangeArrowheads="1" noChangeShapeType="1" noTextEdit="1"/>
              </p:cNvSpPr>
              <p:nvPr/>
            </p:nvSpPr>
            <p:spPr>
              <a:xfrm>
                <a:off x="381242" y="1078543"/>
                <a:ext cx="7401560" cy="4297395"/>
              </a:xfrm>
              <a:prstGeom prst="rect">
                <a:avLst/>
              </a:prstGeom>
              <a:blipFill>
                <a:blip r:embed="rId2"/>
                <a:stretch>
                  <a:fillRect l="-741"/>
                </a:stretch>
              </a:blipFill>
            </p:spPr>
            <p:txBody>
              <a:bodyPr/>
              <a:lstStyle/>
              <a:p>
                <a:r>
                  <a:rPr lang="zh-CN" altLang="en-US">
                    <a:noFill/>
                  </a:rPr>
                  <a:t> </a:t>
                </a:r>
              </a:p>
            </p:txBody>
          </p:sp>
        </mc:Fallback>
      </mc:AlternateContent>
      <p:sp>
        <p:nvSpPr>
          <p:cNvPr id="17" name="文本框 16">
            <a:extLst>
              <a:ext uri="{FF2B5EF4-FFF2-40B4-BE49-F238E27FC236}">
                <a16:creationId xmlns:a16="http://schemas.microsoft.com/office/drawing/2014/main" id="{613A5B85-EB7E-3488-3A39-A338ED3641B6}"/>
              </a:ext>
            </a:extLst>
          </p:cNvPr>
          <p:cNvSpPr txBox="1"/>
          <p:nvPr/>
        </p:nvSpPr>
        <p:spPr>
          <a:xfrm>
            <a:off x="7885216" y="1624854"/>
            <a:ext cx="4245428" cy="584775"/>
          </a:xfrm>
          <a:prstGeom prst="rect">
            <a:avLst/>
          </a:prstGeom>
          <a:noFill/>
        </p:spPr>
        <p:txBody>
          <a:bodyPr wrap="square" rtlCol="0">
            <a:spAutoFit/>
          </a:bodyPr>
          <a:lstStyle/>
          <a:p>
            <a:pPr algn="ctr"/>
            <a:r>
              <a:rPr lang="zh-CN" altLang="en-US" sz="1600" dirty="0">
                <a:latin typeface="微软雅黑" panose="020B0503020204020204" pitchFamily="34" charset="-122"/>
                <a:ea typeface="微软雅黑" panose="020B0503020204020204" pitchFamily="34" charset="-122"/>
              </a:rPr>
              <a:t>有助于加快神经网络的训练收敛速度，使模型可以更有效地传播梯度</a:t>
            </a:r>
          </a:p>
        </p:txBody>
      </p:sp>
      <p:sp>
        <p:nvSpPr>
          <p:cNvPr id="18" name="文本框 17">
            <a:extLst>
              <a:ext uri="{FF2B5EF4-FFF2-40B4-BE49-F238E27FC236}">
                <a16:creationId xmlns:a16="http://schemas.microsoft.com/office/drawing/2014/main" id="{D3023EEF-B6A7-2E6F-C693-5014D7C42B1F}"/>
              </a:ext>
            </a:extLst>
          </p:cNvPr>
          <p:cNvSpPr txBox="1"/>
          <p:nvPr/>
        </p:nvSpPr>
        <p:spPr>
          <a:xfrm>
            <a:off x="7885216" y="2276063"/>
            <a:ext cx="4245428" cy="338554"/>
          </a:xfrm>
          <a:prstGeom prst="rect">
            <a:avLst/>
          </a:prstGeom>
          <a:noFill/>
        </p:spPr>
        <p:txBody>
          <a:bodyPr wrap="square" rtlCol="0">
            <a:spAutoFit/>
          </a:bodyPr>
          <a:lstStyle/>
          <a:p>
            <a:pPr algn="ctr"/>
            <a:r>
              <a:rPr lang="zh-CN" altLang="en-US" sz="1600" dirty="0">
                <a:solidFill>
                  <a:schemeClr val="bg2"/>
                </a:solidFill>
                <a:latin typeface="微软雅黑" panose="020B0503020204020204" pitchFamily="34" charset="-122"/>
                <a:ea typeface="微软雅黑" panose="020B0503020204020204" pitchFamily="34" charset="-122"/>
              </a:rPr>
              <a:t>在输出层附近梯度较大</a:t>
            </a:r>
            <a:r>
              <a:rPr lang="en-US" altLang="zh-CN" sz="1600" dirty="0">
                <a:solidFill>
                  <a:schemeClr val="bg2"/>
                </a:solidFill>
                <a:latin typeface="微软雅黑" panose="020B0503020204020204" pitchFamily="34" charset="-122"/>
                <a:ea typeface="微软雅黑" panose="020B0503020204020204" pitchFamily="34" charset="-122"/>
              </a:rPr>
              <a:t>, </a:t>
            </a:r>
            <a:r>
              <a:rPr lang="zh-CN" altLang="en-US" sz="1600" dirty="0">
                <a:solidFill>
                  <a:schemeClr val="bg2"/>
                </a:solidFill>
                <a:latin typeface="微软雅黑" panose="020B0503020204020204" pitchFamily="34" charset="-122"/>
                <a:ea typeface="微软雅黑" panose="020B0503020204020204" pitchFamily="34" charset="-122"/>
              </a:rPr>
              <a:t>训练不稳定</a:t>
            </a:r>
          </a:p>
        </p:txBody>
      </p:sp>
      <p:sp>
        <p:nvSpPr>
          <p:cNvPr id="19" name="文本框 18">
            <a:extLst>
              <a:ext uri="{FF2B5EF4-FFF2-40B4-BE49-F238E27FC236}">
                <a16:creationId xmlns:a16="http://schemas.microsoft.com/office/drawing/2014/main" id="{CE8BC55A-89C5-AA55-B2F4-3681BD2D098B}"/>
              </a:ext>
            </a:extLst>
          </p:cNvPr>
          <p:cNvSpPr txBox="1"/>
          <p:nvPr/>
        </p:nvSpPr>
        <p:spPr>
          <a:xfrm>
            <a:off x="7946572" y="973645"/>
            <a:ext cx="4245428" cy="461665"/>
          </a:xfrm>
          <a:prstGeom prst="rect">
            <a:avLst/>
          </a:prstGeom>
          <a:noFill/>
        </p:spPr>
        <p:txBody>
          <a:bodyPr wrap="square" rtlCol="0">
            <a:spAutoFit/>
          </a:bodyPr>
          <a:lstStyle/>
          <a:p>
            <a:pPr algn="ctr"/>
            <a:r>
              <a:rPr lang="zh-CN" altLang="en-US" sz="2400" dirty="0">
                <a:latin typeface="微软雅黑" panose="020B0503020204020204" pitchFamily="34" charset="-122"/>
                <a:ea typeface="微软雅黑" panose="020B0503020204020204" pitchFamily="34" charset="-122"/>
              </a:rPr>
              <a:t>优 </a:t>
            </a:r>
            <a:r>
              <a:rPr lang="zh-CN" altLang="en-US" sz="1600" dirty="0">
                <a:solidFill>
                  <a:srgbClr val="070707"/>
                </a:solidFill>
                <a:latin typeface="微软雅黑" panose="020B0503020204020204" pitchFamily="34" charset="-122"/>
                <a:ea typeface="微软雅黑" panose="020B0503020204020204" pitchFamily="34" charset="-122"/>
              </a:rPr>
              <a:t>与 </a:t>
            </a:r>
            <a:r>
              <a:rPr lang="zh-CN" altLang="en-US" sz="2400" dirty="0">
                <a:solidFill>
                  <a:schemeClr val="bg2"/>
                </a:solidFill>
                <a:latin typeface="微软雅黑" panose="020B0503020204020204" pitchFamily="34" charset="-122"/>
                <a:ea typeface="微软雅黑" panose="020B0503020204020204" pitchFamily="34" charset="-122"/>
              </a:rPr>
              <a:t>劣</a:t>
            </a:r>
          </a:p>
        </p:txBody>
      </p:sp>
      <p:sp>
        <p:nvSpPr>
          <p:cNvPr id="20" name="文本框 19">
            <a:extLst>
              <a:ext uri="{FF2B5EF4-FFF2-40B4-BE49-F238E27FC236}">
                <a16:creationId xmlns:a16="http://schemas.microsoft.com/office/drawing/2014/main" id="{EA5F6BDF-1750-4761-81A9-E1F9587BC7DB}"/>
              </a:ext>
            </a:extLst>
          </p:cNvPr>
          <p:cNvSpPr txBox="1"/>
          <p:nvPr/>
        </p:nvSpPr>
        <p:spPr>
          <a:xfrm>
            <a:off x="7885216" y="2903227"/>
            <a:ext cx="4245428" cy="584775"/>
          </a:xfrm>
          <a:prstGeom prst="rect">
            <a:avLst/>
          </a:prstGeom>
          <a:noFill/>
        </p:spPr>
        <p:txBody>
          <a:bodyPr wrap="square" rtlCol="0">
            <a:spAutoFit/>
          </a:bodyPr>
          <a:lstStyle/>
          <a:p>
            <a:pPr algn="ctr"/>
            <a:r>
              <a:rPr lang="zh-CN" altLang="en-US" sz="1600" dirty="0">
                <a:latin typeface="微软雅黑" panose="020B0503020204020204" pitchFamily="34" charset="-122"/>
                <a:ea typeface="微软雅黑" panose="020B0503020204020204" pitchFamily="34" charset="-122"/>
              </a:rPr>
              <a:t>有效防止模型的梯度爆炸或者梯度消失现象，训练稳定</a:t>
            </a:r>
          </a:p>
        </p:txBody>
      </p:sp>
      <p:sp>
        <p:nvSpPr>
          <p:cNvPr id="21" name="文本框 20">
            <a:extLst>
              <a:ext uri="{FF2B5EF4-FFF2-40B4-BE49-F238E27FC236}">
                <a16:creationId xmlns:a16="http://schemas.microsoft.com/office/drawing/2014/main" id="{2773FC88-6146-279A-868C-6D96F8E0EE1B}"/>
              </a:ext>
            </a:extLst>
          </p:cNvPr>
          <p:cNvSpPr txBox="1"/>
          <p:nvPr/>
        </p:nvSpPr>
        <p:spPr>
          <a:xfrm>
            <a:off x="7885216" y="3504676"/>
            <a:ext cx="4245428" cy="338554"/>
          </a:xfrm>
          <a:prstGeom prst="rect">
            <a:avLst/>
          </a:prstGeom>
          <a:noFill/>
        </p:spPr>
        <p:txBody>
          <a:bodyPr wrap="square" rtlCol="0">
            <a:spAutoFit/>
          </a:bodyPr>
          <a:lstStyle/>
          <a:p>
            <a:pPr algn="ctr"/>
            <a:r>
              <a:rPr lang="zh-CN" altLang="en-US" sz="1600" dirty="0">
                <a:solidFill>
                  <a:schemeClr val="bg2"/>
                </a:solidFill>
                <a:latin typeface="微软雅黑" panose="020B0503020204020204" pitchFamily="34" charset="-122"/>
                <a:ea typeface="微软雅黑" panose="020B0503020204020204" pitchFamily="34" charset="-122"/>
              </a:rPr>
              <a:t>模型性能较差</a:t>
            </a:r>
          </a:p>
        </p:txBody>
      </p:sp>
      <p:sp>
        <p:nvSpPr>
          <p:cNvPr id="22" name="文本框 21">
            <a:extLst>
              <a:ext uri="{FF2B5EF4-FFF2-40B4-BE49-F238E27FC236}">
                <a16:creationId xmlns:a16="http://schemas.microsoft.com/office/drawing/2014/main" id="{264D6D0A-58E9-BAA4-B197-4939E1F1AA3A}"/>
              </a:ext>
            </a:extLst>
          </p:cNvPr>
          <p:cNvSpPr txBox="1"/>
          <p:nvPr/>
        </p:nvSpPr>
        <p:spPr>
          <a:xfrm>
            <a:off x="7885216" y="4243384"/>
            <a:ext cx="4245428" cy="338554"/>
          </a:xfrm>
          <a:prstGeom prst="rect">
            <a:avLst/>
          </a:prstGeom>
          <a:noFill/>
        </p:spPr>
        <p:txBody>
          <a:bodyPr wrap="square" rtlCol="0">
            <a:spAutoFit/>
          </a:bodyPr>
          <a:lstStyle/>
          <a:p>
            <a:pPr algn="ctr"/>
            <a:r>
              <a:rPr lang="zh-CN" altLang="en-US" sz="1600" dirty="0">
                <a:latin typeface="微软雅黑" panose="020B0503020204020204" pitchFamily="34" charset="-122"/>
                <a:ea typeface="微软雅黑" panose="020B0503020204020204" pitchFamily="34" charset="-122"/>
              </a:rPr>
              <a:t>理论上具有更加灵活的表达能力</a:t>
            </a:r>
          </a:p>
        </p:txBody>
      </p:sp>
      <p:sp>
        <p:nvSpPr>
          <p:cNvPr id="23" name="文本框 22">
            <a:extLst>
              <a:ext uri="{FF2B5EF4-FFF2-40B4-BE49-F238E27FC236}">
                <a16:creationId xmlns:a16="http://schemas.microsoft.com/office/drawing/2014/main" id="{B5B08E69-8F3B-63F9-0598-967740E1DC30}"/>
              </a:ext>
            </a:extLst>
          </p:cNvPr>
          <p:cNvSpPr txBox="1"/>
          <p:nvPr/>
        </p:nvSpPr>
        <p:spPr>
          <a:xfrm>
            <a:off x="7885216" y="4668639"/>
            <a:ext cx="4245428" cy="338554"/>
          </a:xfrm>
          <a:prstGeom prst="rect">
            <a:avLst/>
          </a:prstGeom>
          <a:noFill/>
        </p:spPr>
        <p:txBody>
          <a:bodyPr wrap="square" rtlCol="0">
            <a:spAutoFit/>
          </a:bodyPr>
          <a:lstStyle/>
          <a:p>
            <a:pPr algn="ctr"/>
            <a:r>
              <a:rPr lang="zh-CN" altLang="en-US" sz="1600" dirty="0">
                <a:solidFill>
                  <a:schemeClr val="bg2"/>
                </a:solidFill>
                <a:latin typeface="微软雅黑" panose="020B0503020204020204" pitchFamily="34" charset="-122"/>
                <a:ea typeface="微软雅黑" panose="020B0503020204020204" pitchFamily="34" charset="-122"/>
              </a:rPr>
              <a:t>仍然无法保证大语言模型的稳定训练</a:t>
            </a:r>
          </a:p>
        </p:txBody>
      </p:sp>
    </p:spTree>
    <p:extLst>
      <p:ext uri="{BB962C8B-B14F-4D97-AF65-F5344CB8AC3E}">
        <p14:creationId xmlns:p14="http://schemas.microsoft.com/office/powerpoint/2010/main" val="35215594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多头注意力机制</a:t>
            </a:r>
          </a:p>
        </p:txBody>
      </p:sp>
      <p:pic>
        <p:nvPicPr>
          <p:cNvPr id="8" name="图片 7">
            <a:extLst>
              <a:ext uri="{FF2B5EF4-FFF2-40B4-BE49-F238E27FC236}">
                <a16:creationId xmlns:a16="http://schemas.microsoft.com/office/drawing/2014/main" id="{7B2797BB-9E6C-DA62-891F-BD1E2D644252}"/>
              </a:ext>
            </a:extLst>
          </p:cNvPr>
          <p:cNvPicPr>
            <a:picLocks noChangeAspect="1"/>
          </p:cNvPicPr>
          <p:nvPr/>
        </p:nvPicPr>
        <p:blipFill>
          <a:blip r:embed="rId2"/>
          <a:stretch>
            <a:fillRect/>
          </a:stretch>
        </p:blipFill>
        <p:spPr>
          <a:xfrm>
            <a:off x="492211" y="906743"/>
            <a:ext cx="7772400" cy="2067736"/>
          </a:xfrm>
          <a:prstGeom prst="rect">
            <a:avLst/>
          </a:prstGeom>
        </p:spPr>
      </p:pic>
      <p:pic>
        <p:nvPicPr>
          <p:cNvPr id="9" name="图片 8">
            <a:extLst>
              <a:ext uri="{FF2B5EF4-FFF2-40B4-BE49-F238E27FC236}">
                <a16:creationId xmlns:a16="http://schemas.microsoft.com/office/drawing/2014/main" id="{B727565A-9264-7CCA-0C0C-8C4A10C20C3C}"/>
              </a:ext>
            </a:extLst>
          </p:cNvPr>
          <p:cNvPicPr>
            <a:picLocks noChangeAspect="1"/>
          </p:cNvPicPr>
          <p:nvPr/>
        </p:nvPicPr>
        <p:blipFill>
          <a:blip r:embed="rId3"/>
          <a:stretch>
            <a:fillRect/>
          </a:stretch>
        </p:blipFill>
        <p:spPr>
          <a:xfrm>
            <a:off x="628134" y="2974479"/>
            <a:ext cx="6551142" cy="1782411"/>
          </a:xfrm>
          <a:prstGeom prst="rect">
            <a:avLst/>
          </a:prstGeom>
        </p:spPr>
      </p:pic>
      <p:pic>
        <p:nvPicPr>
          <p:cNvPr id="10" name="图片 9">
            <a:extLst>
              <a:ext uri="{FF2B5EF4-FFF2-40B4-BE49-F238E27FC236}">
                <a16:creationId xmlns:a16="http://schemas.microsoft.com/office/drawing/2014/main" id="{54C7C8F4-A854-3049-0627-9A549254864A}"/>
              </a:ext>
            </a:extLst>
          </p:cNvPr>
          <p:cNvPicPr>
            <a:picLocks noChangeAspect="1"/>
          </p:cNvPicPr>
          <p:nvPr/>
        </p:nvPicPr>
        <p:blipFill>
          <a:blip r:embed="rId4"/>
          <a:stretch>
            <a:fillRect/>
          </a:stretch>
        </p:blipFill>
        <p:spPr>
          <a:xfrm>
            <a:off x="492211" y="4775314"/>
            <a:ext cx="11587272" cy="641437"/>
          </a:xfrm>
          <a:prstGeom prst="rect">
            <a:avLst/>
          </a:prstGeom>
        </p:spPr>
      </p:pic>
      <p:pic>
        <p:nvPicPr>
          <p:cNvPr id="11" name="图片 10">
            <a:extLst>
              <a:ext uri="{FF2B5EF4-FFF2-40B4-BE49-F238E27FC236}">
                <a16:creationId xmlns:a16="http://schemas.microsoft.com/office/drawing/2014/main" id="{B245D3EC-73DD-3521-3961-992C0D5FCE36}"/>
              </a:ext>
            </a:extLst>
          </p:cNvPr>
          <p:cNvPicPr>
            <a:picLocks noChangeAspect="1"/>
          </p:cNvPicPr>
          <p:nvPr/>
        </p:nvPicPr>
        <p:blipFill>
          <a:blip r:embed="rId5"/>
          <a:stretch>
            <a:fillRect/>
          </a:stretch>
        </p:blipFill>
        <p:spPr>
          <a:xfrm>
            <a:off x="492211" y="5558590"/>
            <a:ext cx="6279292" cy="585455"/>
          </a:xfrm>
          <a:prstGeom prst="rect">
            <a:avLst/>
          </a:prstGeom>
        </p:spPr>
      </p:pic>
      <p:sp>
        <p:nvSpPr>
          <p:cNvPr id="12" name="文本框 11">
            <a:extLst>
              <a:ext uri="{FF2B5EF4-FFF2-40B4-BE49-F238E27FC236}">
                <a16:creationId xmlns:a16="http://schemas.microsoft.com/office/drawing/2014/main" id="{135648FA-2C1B-99CB-CE8F-2AF34A56CF24}"/>
              </a:ext>
            </a:extLst>
          </p:cNvPr>
          <p:cNvSpPr txBox="1"/>
          <p:nvPr/>
        </p:nvSpPr>
        <p:spPr>
          <a:xfrm>
            <a:off x="8686800" y="1000898"/>
            <a:ext cx="3123958" cy="1323439"/>
          </a:xfrm>
          <a:prstGeom prst="rect">
            <a:avLst/>
          </a:prstGeom>
          <a:noFill/>
        </p:spPr>
        <p:txBody>
          <a:bodyPr wrap="square" rtlCol="0">
            <a:spAutoFit/>
          </a:bodyPr>
          <a:lstStyle/>
          <a:p>
            <a:pPr algn="l"/>
            <a:r>
              <a:rPr kumimoji="1" lang="zh-CN" altLang="en-US" sz="2000" dirty="0"/>
              <a:t>每个头提取不一样的信息</a:t>
            </a:r>
            <a:endParaRPr kumimoji="1" lang="en-US" altLang="zh-CN" sz="2000" dirty="0"/>
          </a:p>
          <a:p>
            <a:pPr algn="l"/>
            <a:r>
              <a:rPr kumimoji="1" lang="zh-CN" altLang="en-US" sz="2000" dirty="0"/>
              <a:t>例如：有的头提取一个人的家庭信息，一个头提取工作信息等。</a:t>
            </a:r>
          </a:p>
        </p:txBody>
      </p:sp>
    </p:spTree>
    <p:extLst>
      <p:ext uri="{BB962C8B-B14F-4D97-AF65-F5344CB8AC3E}">
        <p14:creationId xmlns:p14="http://schemas.microsoft.com/office/powerpoint/2010/main" val="2194246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前馈全连接神经网络</a:t>
            </a:r>
            <a:r>
              <a:rPr lang="en-US" altLang="zh-CN" dirty="0"/>
              <a:t>FNN</a:t>
            </a:r>
            <a:endParaRPr lang="zh-CN" altLang="en-US" dirty="0"/>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12240" y="829833"/>
            <a:ext cx="10962358" cy="2887407"/>
          </a:xfrm>
          <a:prstGeom prst="rect">
            <a:avLst/>
          </a:prstGeom>
        </p:spPr>
      </p:pic>
      <p:sp>
        <p:nvSpPr>
          <p:cNvPr id="7" name="标题 2">
            <a:extLst>
              <a:ext uri="{FF2B5EF4-FFF2-40B4-BE49-F238E27FC236}">
                <a16:creationId xmlns:a16="http://schemas.microsoft.com/office/drawing/2014/main" id="{3D7B8E85-5C71-5677-B1F0-FCA751689CAB}"/>
              </a:ext>
            </a:extLst>
          </p:cNvPr>
          <p:cNvSpPr txBox="1">
            <a:spLocks/>
          </p:cNvSpPr>
          <p:nvPr/>
        </p:nvSpPr>
        <p:spPr>
          <a:xfrm>
            <a:off x="159331" y="3543277"/>
            <a:ext cx="11429516" cy="473739"/>
          </a:xfrm>
          <a:prstGeom prst="rect">
            <a:avLst/>
          </a:prstGeom>
          <a:ln>
            <a:noFill/>
          </a:ln>
        </p:spPr>
        <p:txBody>
          <a:bodyPr vert="horz" lIns="0" tIns="0" rIns="0" bIns="0" rtlCol="0" anchor="b" anchorCtr="0">
            <a:noAutofit/>
          </a:bodyPr>
          <a:lst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a:lstStyle>
          <a:p>
            <a:r>
              <a:rPr lang="zh-CN" altLang="en-US" dirty="0"/>
              <a:t>逐词过</a:t>
            </a:r>
            <a:r>
              <a:rPr lang="en-US" altLang="zh-CN" dirty="0"/>
              <a:t>FNN</a:t>
            </a:r>
          </a:p>
        </p:txBody>
      </p:sp>
      <p:pic>
        <p:nvPicPr>
          <p:cNvPr id="8" name="图片 7">
            <a:extLst>
              <a:ext uri="{FF2B5EF4-FFF2-40B4-BE49-F238E27FC236}">
                <a16:creationId xmlns:a16="http://schemas.microsoft.com/office/drawing/2014/main" id="{D67D06DF-5C54-0369-9264-AB43A2BCB31E}"/>
              </a:ext>
            </a:extLst>
          </p:cNvPr>
          <p:cNvPicPr>
            <a:picLocks noChangeAspect="1"/>
          </p:cNvPicPr>
          <p:nvPr/>
        </p:nvPicPr>
        <p:blipFill>
          <a:blip r:embed="rId3"/>
          <a:stretch>
            <a:fillRect/>
          </a:stretch>
        </p:blipFill>
        <p:spPr>
          <a:xfrm>
            <a:off x="1184188" y="3982089"/>
            <a:ext cx="10474755" cy="472868"/>
          </a:xfrm>
          <a:prstGeom prst="rect">
            <a:avLst/>
          </a:prstGeom>
        </p:spPr>
      </p:pic>
      <p:pic>
        <p:nvPicPr>
          <p:cNvPr id="9" name="图片 8">
            <a:extLst>
              <a:ext uri="{FF2B5EF4-FFF2-40B4-BE49-F238E27FC236}">
                <a16:creationId xmlns:a16="http://schemas.microsoft.com/office/drawing/2014/main" id="{22752A39-DF0B-F6D4-C38F-99B6436DEBCB}"/>
              </a:ext>
            </a:extLst>
          </p:cNvPr>
          <p:cNvPicPr>
            <a:picLocks noChangeAspect="1"/>
          </p:cNvPicPr>
          <p:nvPr/>
        </p:nvPicPr>
        <p:blipFill>
          <a:blip r:embed="rId4"/>
          <a:stretch>
            <a:fillRect/>
          </a:stretch>
        </p:blipFill>
        <p:spPr>
          <a:xfrm>
            <a:off x="1184188" y="4511929"/>
            <a:ext cx="7772400" cy="360218"/>
          </a:xfrm>
          <a:prstGeom prst="rect">
            <a:avLst/>
          </a:prstGeom>
        </p:spPr>
      </p:pic>
      <p:pic>
        <p:nvPicPr>
          <p:cNvPr id="10" name="图片 9">
            <a:extLst>
              <a:ext uri="{FF2B5EF4-FFF2-40B4-BE49-F238E27FC236}">
                <a16:creationId xmlns:a16="http://schemas.microsoft.com/office/drawing/2014/main" id="{7521ED13-0E84-4C6A-40AF-EE448ADD8237}"/>
              </a:ext>
            </a:extLst>
          </p:cNvPr>
          <p:cNvPicPr>
            <a:picLocks noChangeAspect="1"/>
          </p:cNvPicPr>
          <p:nvPr/>
        </p:nvPicPr>
        <p:blipFill>
          <a:blip r:embed="rId5"/>
          <a:stretch>
            <a:fillRect/>
          </a:stretch>
        </p:blipFill>
        <p:spPr>
          <a:xfrm>
            <a:off x="9375327" y="4511929"/>
            <a:ext cx="2399271" cy="415972"/>
          </a:xfrm>
          <a:prstGeom prst="rect">
            <a:avLst/>
          </a:prstGeom>
        </p:spPr>
      </p:pic>
      <p:sp>
        <p:nvSpPr>
          <p:cNvPr id="2" name="文本框 5">
            <a:extLst>
              <a:ext uri="{FF2B5EF4-FFF2-40B4-BE49-F238E27FC236}">
                <a16:creationId xmlns:a16="http://schemas.microsoft.com/office/drawing/2014/main" id="{7097D3FD-1F0F-EB53-0F56-642274B2783F}"/>
              </a:ext>
            </a:extLst>
          </p:cNvPr>
          <p:cNvSpPr txBox="1"/>
          <p:nvPr/>
        </p:nvSpPr>
        <p:spPr>
          <a:xfrm>
            <a:off x="3690670" y="4883012"/>
            <a:ext cx="1218565" cy="138366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50000"/>
              </a:lnSpc>
            </a:pPr>
            <a:r>
              <a:rPr lang="zh-CN" altLang="en-US" sz="1400" dirty="0">
                <a:solidFill>
                  <a:schemeClr val="tx2"/>
                </a:solidFill>
                <a:latin typeface="微软雅黑" panose="020B0503020204020204" pitchFamily="34" charset="-122"/>
                <a:ea typeface="微软雅黑" panose="020B0503020204020204" pitchFamily="34" charset="-122"/>
                <a:sym typeface="+mn-ea"/>
              </a:rPr>
              <a:t>我：</a:t>
            </a:r>
          </a:p>
          <a:p>
            <a:pPr indent="0" fontAlgn="auto">
              <a:lnSpc>
                <a:spcPct val="150000"/>
              </a:lnSpc>
            </a:pPr>
            <a:r>
              <a:rPr lang="zh-CN" altLang="en-US" sz="1400" dirty="0">
                <a:solidFill>
                  <a:schemeClr val="tx2"/>
                </a:solidFill>
                <a:latin typeface="微软雅黑" panose="020B0503020204020204" pitchFamily="34" charset="-122"/>
                <a:ea typeface="微软雅黑" panose="020B0503020204020204" pitchFamily="34" charset="-122"/>
                <a:sym typeface="+mn-ea"/>
              </a:rPr>
              <a:t>爱：</a:t>
            </a:r>
          </a:p>
          <a:p>
            <a:pPr indent="0" fontAlgn="auto">
              <a:lnSpc>
                <a:spcPct val="150000"/>
              </a:lnSpc>
            </a:pPr>
            <a:r>
              <a:rPr lang="zh-CN" altLang="en-US" sz="1400" dirty="0">
                <a:solidFill>
                  <a:schemeClr val="tx2"/>
                </a:solidFill>
                <a:latin typeface="微软雅黑" panose="020B0503020204020204" pitchFamily="34" charset="-122"/>
                <a:ea typeface="微软雅黑" panose="020B0503020204020204" pitchFamily="34" charset="-122"/>
                <a:sym typeface="+mn-ea"/>
              </a:rPr>
              <a:t>小：</a:t>
            </a:r>
          </a:p>
          <a:p>
            <a:pPr indent="0" fontAlgn="auto">
              <a:lnSpc>
                <a:spcPct val="150000"/>
              </a:lnSpc>
            </a:pPr>
            <a:r>
              <a:rPr lang="zh-CN" altLang="en-US" sz="1400" dirty="0">
                <a:solidFill>
                  <a:schemeClr val="tx2"/>
                </a:solidFill>
                <a:latin typeface="微软雅黑" panose="020B0503020204020204" pitchFamily="34" charset="-122"/>
                <a:ea typeface="微软雅黑" panose="020B0503020204020204" pitchFamily="34" charset="-122"/>
                <a:sym typeface="+mn-ea"/>
              </a:rPr>
              <a:t>猫：</a:t>
            </a:r>
          </a:p>
        </p:txBody>
      </p:sp>
      <p:pic>
        <p:nvPicPr>
          <p:cNvPr id="5" name="图片 4">
            <a:extLst>
              <a:ext uri="{FF2B5EF4-FFF2-40B4-BE49-F238E27FC236}">
                <a16:creationId xmlns:a16="http://schemas.microsoft.com/office/drawing/2014/main" id="{F4539979-B9F5-6261-A23F-15F95F734FA2}"/>
              </a:ext>
            </a:extLst>
          </p:cNvPr>
          <p:cNvPicPr>
            <a:picLocks noChangeAspect="1"/>
          </p:cNvPicPr>
          <p:nvPr/>
        </p:nvPicPr>
        <p:blipFill>
          <a:blip r:embed="rId6"/>
          <a:srcRect r="26190"/>
          <a:stretch>
            <a:fillRect/>
          </a:stretch>
        </p:blipFill>
        <p:spPr>
          <a:xfrm>
            <a:off x="4233595" y="4972547"/>
            <a:ext cx="925195" cy="1252855"/>
          </a:xfrm>
          <a:prstGeom prst="rect">
            <a:avLst/>
          </a:prstGeom>
          <a:ln w="12700">
            <a:solidFill>
              <a:schemeClr val="tx2"/>
            </a:solidFill>
          </a:ln>
        </p:spPr>
      </p:pic>
      <p:sp>
        <p:nvSpPr>
          <p:cNvPr id="6" name="右箭头 5">
            <a:extLst>
              <a:ext uri="{FF2B5EF4-FFF2-40B4-BE49-F238E27FC236}">
                <a16:creationId xmlns:a16="http://schemas.microsoft.com/office/drawing/2014/main" id="{B7D19C56-D40E-3681-D562-8B04D0093778}"/>
              </a:ext>
            </a:extLst>
          </p:cNvPr>
          <p:cNvSpPr/>
          <p:nvPr/>
        </p:nvSpPr>
        <p:spPr>
          <a:xfrm>
            <a:off x="5406094" y="5514836"/>
            <a:ext cx="467995" cy="149225"/>
          </a:xfrm>
          <a:prstGeom prst="rightArrow">
            <a:avLst>
              <a:gd name="adj1" fmla="val 38247"/>
              <a:gd name="adj2" fmla="val 72678"/>
            </a:avLst>
          </a:prstGeom>
          <a:solidFill>
            <a:sysClr val="window" lastClr="FFFFFF"/>
          </a:solidFill>
          <a:ln w="25400" cap="flat" cmpd="sng" algn="ctr">
            <a:solidFill>
              <a:schemeClr val="tx2"/>
            </a:solidFill>
            <a:prstDash val="solid"/>
            <a:miter lim="800000"/>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11" name="文本框 9">
            <a:extLst>
              <a:ext uri="{FF2B5EF4-FFF2-40B4-BE49-F238E27FC236}">
                <a16:creationId xmlns:a16="http://schemas.microsoft.com/office/drawing/2014/main" id="{FEB2559B-86DB-419E-FE43-4DB75CA2ACF8}"/>
              </a:ext>
            </a:extLst>
          </p:cNvPr>
          <p:cNvSpPr txBox="1"/>
          <p:nvPr/>
        </p:nvSpPr>
        <p:spPr>
          <a:xfrm>
            <a:off x="6038265" y="4883012"/>
            <a:ext cx="1953895" cy="138366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50000"/>
              </a:lnSpc>
            </a:pPr>
            <a:r>
              <a:rPr lang="en-US" altLang="zh-CN" sz="1400" dirty="0">
                <a:solidFill>
                  <a:schemeClr val="tx2"/>
                </a:solidFill>
                <a:latin typeface="微软雅黑" panose="020B0503020204020204" pitchFamily="34" charset="-122"/>
                <a:ea typeface="微软雅黑" panose="020B0503020204020204" pitchFamily="34" charset="-122"/>
                <a:sym typeface="+mn-ea"/>
              </a:rPr>
              <a:t>FNN(                      )</a:t>
            </a:r>
            <a:endParaRPr lang="zh-CN" altLang="en-US" sz="1400" dirty="0">
              <a:solidFill>
                <a:schemeClr val="tx2"/>
              </a:solidFill>
              <a:latin typeface="微软雅黑" panose="020B0503020204020204" pitchFamily="34" charset="-122"/>
              <a:ea typeface="微软雅黑" panose="020B0503020204020204" pitchFamily="34" charset="-122"/>
              <a:sym typeface="+mn-ea"/>
            </a:endParaRPr>
          </a:p>
          <a:p>
            <a:pPr indent="0" fontAlgn="auto">
              <a:lnSpc>
                <a:spcPct val="150000"/>
              </a:lnSpc>
            </a:pPr>
            <a:r>
              <a:rPr lang="en-US" altLang="zh-CN" sz="1400" dirty="0">
                <a:solidFill>
                  <a:schemeClr val="tx2"/>
                </a:solidFill>
                <a:latin typeface="微软雅黑" panose="020B0503020204020204" pitchFamily="34" charset="-122"/>
                <a:ea typeface="微软雅黑" panose="020B0503020204020204" pitchFamily="34" charset="-122"/>
                <a:sym typeface="+mn-ea"/>
              </a:rPr>
              <a:t>FNN(                      )</a:t>
            </a:r>
            <a:endParaRPr lang="zh-CN" altLang="en-US" sz="1400" dirty="0">
              <a:solidFill>
                <a:schemeClr val="tx2"/>
              </a:solidFill>
              <a:latin typeface="微软雅黑" panose="020B0503020204020204" pitchFamily="34" charset="-122"/>
              <a:ea typeface="微软雅黑" panose="020B0503020204020204" pitchFamily="34" charset="-122"/>
              <a:sym typeface="+mn-ea"/>
            </a:endParaRPr>
          </a:p>
          <a:p>
            <a:pPr indent="0" fontAlgn="auto">
              <a:lnSpc>
                <a:spcPct val="150000"/>
              </a:lnSpc>
            </a:pPr>
            <a:r>
              <a:rPr lang="en-US" altLang="zh-CN" sz="1400" dirty="0">
                <a:solidFill>
                  <a:schemeClr val="tx2"/>
                </a:solidFill>
                <a:latin typeface="微软雅黑" panose="020B0503020204020204" pitchFamily="34" charset="-122"/>
                <a:ea typeface="微软雅黑" panose="020B0503020204020204" pitchFamily="34" charset="-122"/>
                <a:sym typeface="+mn-ea"/>
              </a:rPr>
              <a:t>FNN(                      )</a:t>
            </a:r>
            <a:endParaRPr lang="zh-CN" altLang="en-US" sz="1400" dirty="0">
              <a:solidFill>
                <a:schemeClr val="tx2"/>
              </a:solidFill>
              <a:latin typeface="微软雅黑" panose="020B0503020204020204" pitchFamily="34" charset="-122"/>
              <a:ea typeface="微软雅黑" panose="020B0503020204020204" pitchFamily="34" charset="-122"/>
              <a:sym typeface="+mn-ea"/>
            </a:endParaRPr>
          </a:p>
          <a:p>
            <a:pPr indent="0" fontAlgn="auto">
              <a:lnSpc>
                <a:spcPct val="150000"/>
              </a:lnSpc>
            </a:pPr>
            <a:r>
              <a:rPr lang="en-US" altLang="zh-CN" sz="1400" dirty="0">
                <a:solidFill>
                  <a:schemeClr val="tx2"/>
                </a:solidFill>
                <a:latin typeface="微软雅黑" panose="020B0503020204020204" pitchFamily="34" charset="-122"/>
                <a:ea typeface="微软雅黑" panose="020B0503020204020204" pitchFamily="34" charset="-122"/>
                <a:sym typeface="+mn-ea"/>
              </a:rPr>
              <a:t>FNN(                      )</a:t>
            </a:r>
            <a:endParaRPr lang="zh-CN" altLang="en-US" sz="1400" dirty="0">
              <a:solidFill>
                <a:schemeClr val="tx2"/>
              </a:solidFill>
              <a:latin typeface="微软雅黑" panose="020B0503020204020204" pitchFamily="34" charset="-122"/>
              <a:ea typeface="微软雅黑" panose="020B0503020204020204" pitchFamily="34" charset="-122"/>
              <a:sym typeface="+mn-ea"/>
            </a:endParaRPr>
          </a:p>
        </p:txBody>
      </p:sp>
      <p:pic>
        <p:nvPicPr>
          <p:cNvPr id="12" name="图片 11">
            <a:extLst>
              <a:ext uri="{FF2B5EF4-FFF2-40B4-BE49-F238E27FC236}">
                <a16:creationId xmlns:a16="http://schemas.microsoft.com/office/drawing/2014/main" id="{2AD49C12-87B8-C3FC-CA83-7444EDDA2A48}"/>
              </a:ext>
            </a:extLst>
          </p:cNvPr>
          <p:cNvPicPr>
            <a:picLocks noChangeAspect="1"/>
          </p:cNvPicPr>
          <p:nvPr/>
        </p:nvPicPr>
        <p:blipFill>
          <a:blip r:embed="rId6"/>
          <a:srcRect r="26190"/>
          <a:stretch>
            <a:fillRect/>
          </a:stretch>
        </p:blipFill>
        <p:spPr>
          <a:xfrm>
            <a:off x="6682155" y="4972547"/>
            <a:ext cx="925195" cy="1252855"/>
          </a:xfrm>
          <a:prstGeom prst="rect">
            <a:avLst/>
          </a:prstGeom>
          <a:ln w="12700">
            <a:solidFill>
              <a:schemeClr val="tx2"/>
            </a:solidFill>
          </a:ln>
        </p:spPr>
      </p:pic>
    </p:spTree>
    <p:extLst>
      <p:ext uri="{BB962C8B-B14F-4D97-AF65-F5344CB8AC3E}">
        <p14:creationId xmlns:p14="http://schemas.microsoft.com/office/powerpoint/2010/main" val="19652439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模块复制</a:t>
            </a:r>
            <a:r>
              <a:rPr lang="en-US" altLang="zh-CN" dirty="0"/>
              <a:t>N</a:t>
            </a:r>
            <a:r>
              <a:rPr lang="zh-CN" altLang="en-US" dirty="0"/>
              <a:t>次</a:t>
            </a:r>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12240" y="829833"/>
            <a:ext cx="10962358" cy="2887407"/>
          </a:xfrm>
          <a:prstGeom prst="rect">
            <a:avLst/>
          </a:prstGeom>
        </p:spPr>
      </p:pic>
      <p:pic>
        <p:nvPicPr>
          <p:cNvPr id="2" name="图片 1">
            <a:extLst>
              <a:ext uri="{FF2B5EF4-FFF2-40B4-BE49-F238E27FC236}">
                <a16:creationId xmlns:a16="http://schemas.microsoft.com/office/drawing/2014/main" id="{B213F8D6-1ED0-DB9D-0165-D3FCAA21C79F}"/>
              </a:ext>
            </a:extLst>
          </p:cNvPr>
          <p:cNvPicPr>
            <a:picLocks noChangeAspect="1"/>
          </p:cNvPicPr>
          <p:nvPr/>
        </p:nvPicPr>
        <p:blipFill>
          <a:blip r:embed="rId3"/>
          <a:stretch>
            <a:fillRect/>
          </a:stretch>
        </p:blipFill>
        <p:spPr>
          <a:xfrm>
            <a:off x="2451100" y="4115658"/>
            <a:ext cx="7289800" cy="850900"/>
          </a:xfrm>
          <a:prstGeom prst="rect">
            <a:avLst/>
          </a:prstGeom>
        </p:spPr>
      </p:pic>
    </p:spTree>
    <p:extLst>
      <p:ext uri="{BB962C8B-B14F-4D97-AF65-F5344CB8AC3E}">
        <p14:creationId xmlns:p14="http://schemas.microsoft.com/office/powerpoint/2010/main" val="42119238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输出（</a:t>
            </a:r>
            <a:r>
              <a:rPr lang="zh-CN" altLang="en-US" dirty="0">
                <a:effectLst/>
                <a:latin typeface="Helvetica" pitchFamily="2" charset="0"/>
              </a:rPr>
              <a:t>投影</a:t>
            </a:r>
            <a:r>
              <a:rPr lang="zh-CN" altLang="en-US" dirty="0"/>
              <a:t>）层</a:t>
            </a:r>
          </a:p>
        </p:txBody>
      </p:sp>
      <p:pic>
        <p:nvPicPr>
          <p:cNvPr id="4" name="图片 3">
            <a:extLst>
              <a:ext uri="{FF2B5EF4-FFF2-40B4-BE49-F238E27FC236}">
                <a16:creationId xmlns:a16="http://schemas.microsoft.com/office/drawing/2014/main" id="{A98E4569-063B-21DF-4DF6-0BB66F3D4AC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12240" y="829833"/>
            <a:ext cx="10962358" cy="2887407"/>
          </a:xfrm>
          <a:prstGeom prst="rect">
            <a:avLst/>
          </a:prstGeom>
        </p:spPr>
      </p:pic>
      <p:pic>
        <p:nvPicPr>
          <p:cNvPr id="5" name="图片 4">
            <a:extLst>
              <a:ext uri="{FF2B5EF4-FFF2-40B4-BE49-F238E27FC236}">
                <a16:creationId xmlns:a16="http://schemas.microsoft.com/office/drawing/2014/main" id="{F42F672B-32B1-D36E-A019-AF52C573EC09}"/>
              </a:ext>
            </a:extLst>
          </p:cNvPr>
          <p:cNvPicPr>
            <a:picLocks noChangeAspect="1"/>
          </p:cNvPicPr>
          <p:nvPr/>
        </p:nvPicPr>
        <p:blipFill>
          <a:blip r:embed="rId3"/>
          <a:stretch>
            <a:fillRect/>
          </a:stretch>
        </p:blipFill>
        <p:spPr>
          <a:xfrm>
            <a:off x="-3226" y="3806764"/>
            <a:ext cx="12063421" cy="493358"/>
          </a:xfrm>
          <a:prstGeom prst="rect">
            <a:avLst/>
          </a:prstGeom>
        </p:spPr>
      </p:pic>
      <p:sp>
        <p:nvSpPr>
          <p:cNvPr id="6" name="文本框 5">
            <a:extLst>
              <a:ext uri="{FF2B5EF4-FFF2-40B4-BE49-F238E27FC236}">
                <a16:creationId xmlns:a16="http://schemas.microsoft.com/office/drawing/2014/main" id="{8519E255-0311-E97C-8D7A-4F7E3E1311FB}"/>
              </a:ext>
            </a:extLst>
          </p:cNvPr>
          <p:cNvSpPr txBox="1"/>
          <p:nvPr/>
        </p:nvSpPr>
        <p:spPr>
          <a:xfrm>
            <a:off x="381242" y="4583277"/>
            <a:ext cx="3374329" cy="369332"/>
          </a:xfrm>
          <a:prstGeom prst="rect">
            <a:avLst/>
          </a:prstGeom>
          <a:noFill/>
        </p:spPr>
        <p:txBody>
          <a:bodyPr wrap="square">
            <a:spAutoFit/>
          </a:bodyPr>
          <a:lstStyle/>
          <a:p>
            <a:r>
              <a:rPr lang="zh-CN" altLang="en-US" dirty="0">
                <a:effectLst/>
                <a:latin typeface="Helvetica" pitchFamily="2" charset="0"/>
              </a:rPr>
              <a:t>贪婪解码 </a:t>
            </a:r>
            <a:r>
              <a:rPr lang="en-US" altLang="zh-CN" dirty="0">
                <a:effectLst/>
                <a:latin typeface="Helvetica" pitchFamily="2" charset="0"/>
              </a:rPr>
              <a:t>(greedy decoding)</a:t>
            </a:r>
          </a:p>
        </p:txBody>
      </p:sp>
      <p:pic>
        <p:nvPicPr>
          <p:cNvPr id="7" name="图片 6">
            <a:extLst>
              <a:ext uri="{FF2B5EF4-FFF2-40B4-BE49-F238E27FC236}">
                <a16:creationId xmlns:a16="http://schemas.microsoft.com/office/drawing/2014/main" id="{3DC1D3EA-6757-4242-B0B4-3846E5AA696E}"/>
              </a:ext>
            </a:extLst>
          </p:cNvPr>
          <p:cNvPicPr>
            <a:picLocks noChangeAspect="1"/>
          </p:cNvPicPr>
          <p:nvPr/>
        </p:nvPicPr>
        <p:blipFill>
          <a:blip r:embed="rId4"/>
          <a:stretch>
            <a:fillRect/>
          </a:stretch>
        </p:blipFill>
        <p:spPr>
          <a:xfrm>
            <a:off x="3755571" y="4542189"/>
            <a:ext cx="5061858" cy="410420"/>
          </a:xfrm>
          <a:prstGeom prst="rect">
            <a:avLst/>
          </a:prstGeom>
        </p:spPr>
      </p:pic>
      <p:sp>
        <p:nvSpPr>
          <p:cNvPr id="9" name="文本框 8">
            <a:extLst>
              <a:ext uri="{FF2B5EF4-FFF2-40B4-BE49-F238E27FC236}">
                <a16:creationId xmlns:a16="http://schemas.microsoft.com/office/drawing/2014/main" id="{07F9578E-D19C-3EC4-C8D3-05DA1E0FB387}"/>
              </a:ext>
            </a:extLst>
          </p:cNvPr>
          <p:cNvSpPr txBox="1"/>
          <p:nvPr/>
        </p:nvSpPr>
        <p:spPr>
          <a:xfrm>
            <a:off x="459922" y="5235764"/>
            <a:ext cx="3513364" cy="369332"/>
          </a:xfrm>
          <a:prstGeom prst="rect">
            <a:avLst/>
          </a:prstGeom>
          <a:noFill/>
        </p:spPr>
        <p:txBody>
          <a:bodyPr wrap="square">
            <a:spAutoFit/>
          </a:bodyPr>
          <a:lstStyle/>
          <a:p>
            <a:r>
              <a:rPr lang="zh-CN" altLang="en-US" dirty="0">
                <a:effectLst/>
                <a:latin typeface="Helvetica" pitchFamily="2" charset="0"/>
              </a:rPr>
              <a:t>采样解码 </a:t>
            </a:r>
            <a:r>
              <a:rPr lang="en-US" altLang="zh-CN" dirty="0">
                <a:effectLst/>
                <a:latin typeface="Helvetica" pitchFamily="2" charset="0"/>
              </a:rPr>
              <a:t>(sampling decoding)</a:t>
            </a:r>
          </a:p>
        </p:txBody>
      </p:sp>
      <p:pic>
        <p:nvPicPr>
          <p:cNvPr id="10" name="图片 9">
            <a:extLst>
              <a:ext uri="{FF2B5EF4-FFF2-40B4-BE49-F238E27FC236}">
                <a16:creationId xmlns:a16="http://schemas.microsoft.com/office/drawing/2014/main" id="{D4792067-0E00-771B-811C-E30A5DE517FE}"/>
              </a:ext>
            </a:extLst>
          </p:cNvPr>
          <p:cNvPicPr>
            <a:picLocks noChangeAspect="1"/>
          </p:cNvPicPr>
          <p:nvPr/>
        </p:nvPicPr>
        <p:blipFill>
          <a:blip r:embed="rId5"/>
          <a:stretch>
            <a:fillRect/>
          </a:stretch>
        </p:blipFill>
        <p:spPr>
          <a:xfrm>
            <a:off x="3755571" y="5235764"/>
            <a:ext cx="3907972" cy="427237"/>
          </a:xfrm>
          <a:prstGeom prst="rect">
            <a:avLst/>
          </a:prstGeom>
        </p:spPr>
      </p:pic>
    </p:spTree>
    <p:extLst>
      <p:ext uri="{BB962C8B-B14F-4D97-AF65-F5344CB8AC3E}">
        <p14:creationId xmlns:p14="http://schemas.microsoft.com/office/powerpoint/2010/main" val="28998736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4C0-FC1C-A7DC-A145-F37AF347764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ED9FBFE-4DCA-21E3-D68D-A95381A8DEB4}"/>
              </a:ext>
            </a:extLst>
          </p:cNvPr>
          <p:cNvSpPr>
            <a:spLocks noGrp="1"/>
          </p:cNvSpPr>
          <p:nvPr>
            <p:ph type="title"/>
          </p:nvPr>
        </p:nvSpPr>
        <p:spPr/>
        <p:txBody>
          <a:bodyPr/>
          <a:lstStyle/>
          <a:p>
            <a:r>
              <a:rPr lang="zh-CN" altLang="en-US" dirty="0"/>
              <a:t>输出（</a:t>
            </a:r>
            <a:r>
              <a:rPr lang="zh-CN" altLang="en-US" dirty="0">
                <a:effectLst/>
                <a:latin typeface="Helvetica" pitchFamily="2" charset="0"/>
              </a:rPr>
              <a:t>投影</a:t>
            </a:r>
            <a:r>
              <a:rPr lang="zh-CN" altLang="en-US" dirty="0"/>
              <a:t>）层</a:t>
            </a:r>
          </a:p>
        </p:txBody>
      </p:sp>
      <p:sp>
        <p:nvSpPr>
          <p:cNvPr id="2" name="圆角矩形 19">
            <a:extLst>
              <a:ext uri="{FF2B5EF4-FFF2-40B4-BE49-F238E27FC236}">
                <a16:creationId xmlns:a16="http://schemas.microsoft.com/office/drawing/2014/main" id="{E97B800B-666C-EE7A-A6A4-640CA3B433BE}"/>
              </a:ext>
            </a:extLst>
          </p:cNvPr>
          <p:cNvSpPr/>
          <p:nvPr/>
        </p:nvSpPr>
        <p:spPr>
          <a:xfrm>
            <a:off x="2593884" y="3701052"/>
            <a:ext cx="7449820" cy="1648460"/>
          </a:xfrm>
          <a:prstGeom prst="roundRect">
            <a:avLst>
              <a:gd name="adj" fmla="val 9265"/>
            </a:avLst>
          </a:prstGeom>
          <a:solidFill>
            <a:schemeClr val="bg1">
              <a:lumMod val="85000"/>
              <a:alpha val="68000"/>
            </a:schemeClr>
          </a:solidFill>
          <a:ln w="254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87DD6BAE-6584-80C5-5416-0D75EA7BF37B}"/>
                  </a:ext>
                </a:extLst>
              </p:cNvPr>
              <p:cNvSpPr txBox="1"/>
              <p:nvPr/>
            </p:nvSpPr>
            <p:spPr>
              <a:xfrm>
                <a:off x="2579279" y="1094377"/>
                <a:ext cx="7401560" cy="409920"/>
              </a:xfrm>
              <a:prstGeom prst="rect">
                <a:avLst/>
              </a:prstGeom>
              <a:noFill/>
            </p:spPr>
            <p:txBody>
              <a:bodyPr wrap="square" rtlCol="0">
                <a:spAutoFit/>
              </a:bodyPr>
              <a:lstStyle/>
              <a:p>
                <a:pPr indent="0" fontAlgn="auto">
                  <a:lnSpc>
                    <a:spcPct val="125000"/>
                  </a:lnSpc>
                  <a:spcBef>
                    <a:spcPts val="600"/>
                  </a:spcBef>
                </a:pPr>
                <a:r>
                  <a:rPr lang="zh-CN" altLang="en-US" dirty="0">
                    <a:solidFill>
                      <a:schemeClr val="tx2"/>
                    </a:solidFill>
                    <a:latin typeface="微软雅黑" panose="020B0503020204020204" pitchFamily="34" charset="-122"/>
                    <a:ea typeface="微软雅黑" panose="020B0503020204020204" pitchFamily="34" charset="-122"/>
                  </a:rPr>
                  <a:t>逐个</a:t>
                </a:r>
                <a:r>
                  <a:rPr lang="en-US" altLang="zh-CN" dirty="0">
                    <a:solidFill>
                      <a:schemeClr val="tx2"/>
                    </a:solidFill>
                    <a:latin typeface="微软雅黑" panose="020B0503020204020204" pitchFamily="34" charset="-122"/>
                    <a:ea typeface="微软雅黑" panose="020B0503020204020204" pitchFamily="34" charset="-122"/>
                  </a:rPr>
                  <a:t>token</a:t>
                </a:r>
                <a:r>
                  <a:rPr lang="zh-CN" altLang="en-US" dirty="0">
                    <a:solidFill>
                      <a:schemeClr val="tx2"/>
                    </a:solidFill>
                    <a:latin typeface="微软雅黑" panose="020B0503020204020204" pitchFamily="34" charset="-122"/>
                    <a:ea typeface="微软雅黑" panose="020B0503020204020204" pitchFamily="34" charset="-122"/>
                  </a:rPr>
                  <a:t>做，将</a:t>
                </a:r>
                <a14:m>
                  <m:oMath xmlns:m="http://schemas.openxmlformats.org/officeDocument/2006/math">
                    <m:sSub>
                      <m:sSubPr>
                        <m:ctrlPr>
                          <a:rPr lang="en-US" altLang="zh-CN" b="0" i="1" dirty="0" smtClean="0">
                            <a:solidFill>
                              <a:schemeClr val="tx2"/>
                            </a:solidFill>
                            <a:latin typeface="Cambria Math" panose="02040503050406030204" pitchFamily="18" charset="0"/>
                            <a:ea typeface="微软雅黑" panose="020B0503020204020204" pitchFamily="34" charset="-122"/>
                          </a:rPr>
                        </m:ctrlPr>
                      </m:sSubPr>
                      <m:e>
                        <m:r>
                          <a:rPr lang="en-US" altLang="zh-CN" i="1" dirty="0" smtClean="0">
                            <a:solidFill>
                              <a:schemeClr val="tx2"/>
                            </a:solidFill>
                            <a:latin typeface="Cambria Math" panose="02040503050406030204" pitchFamily="18" charset="0"/>
                            <a:ea typeface="微软雅黑" panose="020B0503020204020204" pitchFamily="34" charset="-122"/>
                          </a:rPr>
                          <m:t>𝑑</m:t>
                        </m:r>
                      </m:e>
                      <m:sub>
                        <m:r>
                          <a:rPr lang="en-US" altLang="zh-CN" i="1" dirty="0" smtClean="0">
                            <a:solidFill>
                              <a:schemeClr val="tx2"/>
                            </a:solidFill>
                            <a:latin typeface="Cambria Math" panose="02040503050406030204" pitchFamily="18" charset="0"/>
                            <a:ea typeface="微软雅黑" panose="020B0503020204020204" pitchFamily="34" charset="-122"/>
                          </a:rPr>
                          <m:t>𝑚</m:t>
                        </m:r>
                      </m:sub>
                    </m:sSub>
                  </m:oMath>
                </a14:m>
                <a:r>
                  <a:rPr lang="zh-CN" altLang="en-US" dirty="0">
                    <a:solidFill>
                      <a:schemeClr val="tx2"/>
                    </a:solidFill>
                    <a:latin typeface="微软雅黑" panose="020B0503020204020204" pitchFamily="34" charset="-122"/>
                    <a:ea typeface="微软雅黑" panose="020B0503020204020204" pitchFamily="34" charset="-122"/>
                  </a:rPr>
                  <a:t>维向量映射到</a:t>
                </a:r>
                <a14:m>
                  <m:oMath xmlns:m="http://schemas.openxmlformats.org/officeDocument/2006/math">
                    <m:r>
                      <a:rPr lang="en-US" altLang="zh-CN" i="1" dirty="0" smtClean="0">
                        <a:solidFill>
                          <a:schemeClr val="tx2"/>
                        </a:solidFill>
                        <a:latin typeface="Cambria Math" panose="02040503050406030204" pitchFamily="18" charset="0"/>
                        <a:ea typeface="微软雅黑" panose="020B0503020204020204" pitchFamily="34" charset="-122"/>
                      </a:rPr>
                      <m:t>𝑑</m:t>
                    </m:r>
                  </m:oMath>
                </a14:m>
                <a:r>
                  <a:rPr lang="zh-CN" altLang="en-US" dirty="0">
                    <a:solidFill>
                      <a:schemeClr val="tx2"/>
                    </a:solidFill>
                    <a:latin typeface="微软雅黑" panose="020B0503020204020204" pitchFamily="34" charset="-122"/>
                    <a:ea typeface="微软雅黑" panose="020B0503020204020204" pitchFamily="34" charset="-122"/>
                  </a:rPr>
                  <a:t>维向量：</a:t>
                </a:r>
              </a:p>
            </p:txBody>
          </p:sp>
        </mc:Choice>
        <mc:Fallback xmlns="">
          <p:sp>
            <p:nvSpPr>
              <p:cNvPr id="8" name="文本框 7">
                <a:extLst>
                  <a:ext uri="{FF2B5EF4-FFF2-40B4-BE49-F238E27FC236}">
                    <a16:creationId xmlns:a16="http://schemas.microsoft.com/office/drawing/2014/main" id="{87DD6BAE-6584-80C5-5416-0D75EA7BF37B}"/>
                  </a:ext>
                </a:extLst>
              </p:cNvPr>
              <p:cNvSpPr txBox="1">
                <a:spLocks noRot="1" noChangeAspect="1" noMove="1" noResize="1" noEditPoints="1" noAdjustHandles="1" noChangeArrowheads="1" noChangeShapeType="1" noTextEdit="1"/>
              </p:cNvSpPr>
              <p:nvPr/>
            </p:nvSpPr>
            <p:spPr>
              <a:xfrm>
                <a:off x="2579279" y="1094377"/>
                <a:ext cx="7401560" cy="409920"/>
              </a:xfrm>
              <a:prstGeom prst="rect">
                <a:avLst/>
              </a:prstGeom>
              <a:blipFill>
                <a:blip r:embed="rId2"/>
                <a:stretch>
                  <a:fillRect l="-686" b="-18182"/>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FC22E4A3-BDEF-8F23-76DD-342DDD162C76}"/>
              </a:ext>
            </a:extLst>
          </p:cNvPr>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3298734" y="1811927"/>
            <a:ext cx="5962650" cy="352425"/>
          </a:xfrm>
          <a:prstGeom prst="rect">
            <a:avLst/>
          </a:prstGeom>
        </p:spPr>
      </p:pic>
      <p:pic>
        <p:nvPicPr>
          <p:cNvPr id="12" name="图片 11">
            <a:extLst>
              <a:ext uri="{FF2B5EF4-FFF2-40B4-BE49-F238E27FC236}">
                <a16:creationId xmlns:a16="http://schemas.microsoft.com/office/drawing/2014/main" id="{0B1063A1-2E01-8444-F2FF-01E3ECD4A0E2}"/>
              </a:ext>
            </a:extLst>
          </p:cNvPr>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4348389" y="3110502"/>
            <a:ext cx="3514725" cy="352425"/>
          </a:xfrm>
          <a:prstGeom prst="rect">
            <a:avLst/>
          </a:prstGeom>
        </p:spPr>
      </p:pic>
      <p:sp>
        <p:nvSpPr>
          <p:cNvPr id="13" name="文本框 12">
            <a:extLst>
              <a:ext uri="{FF2B5EF4-FFF2-40B4-BE49-F238E27FC236}">
                <a16:creationId xmlns:a16="http://schemas.microsoft.com/office/drawing/2014/main" id="{512F09A5-12E4-A190-1DAA-3E60E5BFE849}"/>
              </a:ext>
            </a:extLst>
          </p:cNvPr>
          <p:cNvSpPr txBox="1"/>
          <p:nvPr/>
        </p:nvSpPr>
        <p:spPr>
          <a:xfrm>
            <a:off x="2579279" y="2495187"/>
            <a:ext cx="7401560" cy="753220"/>
          </a:xfrm>
          <a:prstGeom prst="rect">
            <a:avLst/>
          </a:prstGeom>
          <a:noFill/>
        </p:spPr>
        <p:txBody>
          <a:bodyPr wrap="square" rtlCol="0">
            <a:spAutoFit/>
          </a:bodyPr>
          <a:lstStyle/>
          <a:p>
            <a:pPr indent="0" fontAlgn="auto">
              <a:lnSpc>
                <a:spcPct val="125000"/>
              </a:lnSpc>
              <a:spcBef>
                <a:spcPts val="600"/>
              </a:spcBef>
            </a:pPr>
            <a:r>
              <a:rPr lang="zh-CN" altLang="en-US" dirty="0">
                <a:solidFill>
                  <a:schemeClr val="tx2"/>
                </a:solidFill>
                <a:latin typeface="微软雅黑" panose="020B0503020204020204" pitchFamily="34" charset="-122"/>
                <a:ea typeface="微软雅黑" panose="020B0503020204020204" pitchFamily="34" charset="-122"/>
              </a:rPr>
              <a:t>经过投影后，再使用</a:t>
            </a:r>
            <a:r>
              <a:rPr lang="en-US" altLang="zh-CN" dirty="0" err="1">
                <a:solidFill>
                  <a:schemeClr val="tx2"/>
                </a:solidFill>
                <a:latin typeface="微软雅黑" panose="020B0503020204020204" pitchFamily="34" charset="-122"/>
                <a:ea typeface="微软雅黑" panose="020B0503020204020204" pitchFamily="34" charset="-122"/>
              </a:rPr>
              <a:t>softmax</a:t>
            </a:r>
            <a:r>
              <a:rPr lang="zh-CN" altLang="en-US" dirty="0">
                <a:solidFill>
                  <a:schemeClr val="tx2"/>
                </a:solidFill>
                <a:latin typeface="微软雅黑" panose="020B0503020204020204" pitchFamily="34" charset="-122"/>
                <a:ea typeface="微软雅黑" panose="020B0503020204020204" pitchFamily="34" charset="-122"/>
              </a:rPr>
              <a:t>变换将其变成概率输出，取最大位置的词作为输出：</a:t>
            </a:r>
          </a:p>
        </p:txBody>
      </p:sp>
      <p:sp>
        <p:nvSpPr>
          <p:cNvPr id="14" name="圆角矩形 5">
            <a:extLst>
              <a:ext uri="{FF2B5EF4-FFF2-40B4-BE49-F238E27FC236}">
                <a16:creationId xmlns:a16="http://schemas.microsoft.com/office/drawing/2014/main" id="{8829CF89-2642-453E-D41C-6311424982C3}"/>
              </a:ext>
            </a:extLst>
          </p:cNvPr>
          <p:cNvSpPr/>
          <p:nvPr/>
        </p:nvSpPr>
        <p:spPr>
          <a:xfrm>
            <a:off x="4785904" y="4478927"/>
            <a:ext cx="752475" cy="606425"/>
          </a:xfrm>
          <a:prstGeom prst="roundRect">
            <a:avLst/>
          </a:prstGeom>
          <a:solidFill>
            <a:schemeClr val="bg1">
              <a:lumMod val="85000"/>
            </a:schemeClr>
          </a:solidFill>
          <a:ln w="25400" cap="flat" cmpd="sng" algn="ctr">
            <a:solidFill>
              <a:schemeClr val="tx2"/>
            </a:solidFill>
            <a:prstDash val="solid"/>
            <a:miter lim="800000"/>
          </a:ln>
        </p:spPr>
        <p:txBody>
          <a:bodyPr rtlCol="0" anchor="ctr"/>
          <a:lstStyle/>
          <a:p>
            <a:pPr algn="ctr"/>
            <a:r>
              <a:rPr lang="zh-CN" altLang="en-US" sz="1000" dirty="0">
                <a:solidFill>
                  <a:schemeClr val="tx2"/>
                </a:solidFill>
                <a:latin typeface="微软雅黑" panose="020B0503020204020204" pitchFamily="34" charset="-122"/>
                <a:ea typeface="微软雅黑" panose="020B0503020204020204" pitchFamily="34" charset="-122"/>
              </a:rPr>
              <a:t>语言模型</a:t>
            </a:r>
          </a:p>
        </p:txBody>
      </p:sp>
      <p:sp>
        <p:nvSpPr>
          <p:cNvPr id="15" name="右箭头 8">
            <a:extLst>
              <a:ext uri="{FF2B5EF4-FFF2-40B4-BE49-F238E27FC236}">
                <a16:creationId xmlns:a16="http://schemas.microsoft.com/office/drawing/2014/main" id="{83853637-416B-529D-2CBD-599CE242292B}"/>
              </a:ext>
            </a:extLst>
          </p:cNvPr>
          <p:cNvSpPr/>
          <p:nvPr/>
        </p:nvSpPr>
        <p:spPr>
          <a:xfrm>
            <a:off x="4380774" y="4707527"/>
            <a:ext cx="325755" cy="149225"/>
          </a:xfrm>
          <a:prstGeom prst="rightArrow">
            <a:avLst>
              <a:gd name="adj1" fmla="val 38247"/>
              <a:gd name="adj2" fmla="val 72678"/>
            </a:avLst>
          </a:prstGeom>
          <a:solidFill>
            <a:sysClr val="window" lastClr="FFFFFF"/>
          </a:solidFill>
          <a:ln w="127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16" name="右箭头 9">
            <a:extLst>
              <a:ext uri="{FF2B5EF4-FFF2-40B4-BE49-F238E27FC236}">
                <a16:creationId xmlns:a16="http://schemas.microsoft.com/office/drawing/2014/main" id="{4F22C89A-C3CB-25FA-CE88-48071F1226A0}"/>
              </a:ext>
            </a:extLst>
          </p:cNvPr>
          <p:cNvSpPr/>
          <p:nvPr/>
        </p:nvSpPr>
        <p:spPr>
          <a:xfrm>
            <a:off x="5598704" y="4707527"/>
            <a:ext cx="319405" cy="149225"/>
          </a:xfrm>
          <a:prstGeom prst="rightArrow">
            <a:avLst>
              <a:gd name="adj1" fmla="val 38247"/>
              <a:gd name="adj2" fmla="val 72678"/>
            </a:avLst>
          </a:prstGeom>
          <a:solidFill>
            <a:sysClr val="window" lastClr="FFFFFF"/>
          </a:solidFill>
          <a:ln w="127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90AB3C8B-6D44-FB05-22F8-83BD8399D486}"/>
              </a:ext>
            </a:extLst>
          </p:cNvPr>
          <p:cNvSpPr txBox="1"/>
          <p:nvPr/>
        </p:nvSpPr>
        <p:spPr>
          <a:xfrm>
            <a:off x="2612934" y="4339862"/>
            <a:ext cx="1824355" cy="860425"/>
          </a:xfrm>
          <a:prstGeom prst="rect">
            <a:avLst/>
          </a:prstGeom>
          <a:noFill/>
        </p:spPr>
        <p:txBody>
          <a:bodyPr wrap="square" rtlCol="0">
            <a:spAutoFit/>
          </a:bodyPr>
          <a:lstStyle/>
          <a:p>
            <a:pPr indent="0" algn="ctr" fontAlgn="auto">
              <a:lnSpc>
                <a:spcPct val="125000"/>
              </a:lnSpc>
            </a:pPr>
            <a:r>
              <a:rPr lang="zh-CN" altLang="en-US" sz="1000" dirty="0">
                <a:solidFill>
                  <a:schemeClr val="tx2"/>
                </a:solidFill>
                <a:latin typeface="微软雅黑" panose="020B0503020204020204" pitchFamily="34" charset="-122"/>
                <a:ea typeface="微软雅黑" panose="020B0503020204020204" pitchFamily="34" charset="-122"/>
              </a:rPr>
              <a:t>我</a:t>
            </a:r>
            <a:r>
              <a:rPr lang="en-US" altLang="zh-CN" sz="1000" dirty="0">
                <a:solidFill>
                  <a:schemeClr val="tx2"/>
                </a:solidFill>
                <a:latin typeface="微软雅黑" panose="020B0503020204020204" pitchFamily="34" charset="-122"/>
                <a:ea typeface="微软雅黑" panose="020B0503020204020204" pitchFamily="34" charset="-122"/>
              </a:rPr>
              <a:t>: </a:t>
            </a:r>
            <a:r>
              <a:rPr lang="en-US" altLang="zh-CN" sz="1000" dirty="0">
                <a:solidFill>
                  <a:schemeClr val="tx2"/>
                </a:solidFill>
                <a:latin typeface="微软雅黑" panose="020B0503020204020204" pitchFamily="34" charset="-122"/>
                <a:ea typeface="微软雅黑" panose="020B0503020204020204" pitchFamily="34" charset="-122"/>
                <a:sym typeface="+mn-ea"/>
              </a:rPr>
              <a:t>[0, </a:t>
            </a:r>
            <a:r>
              <a:rPr lang="en-US" altLang="zh-CN" sz="1000" b="1" dirty="0">
                <a:solidFill>
                  <a:schemeClr val="tx2"/>
                </a:solidFill>
                <a:latin typeface="微软雅黑" panose="020B0503020204020204" pitchFamily="34" charset="-122"/>
                <a:ea typeface="微软雅黑" panose="020B0503020204020204" pitchFamily="34" charset="-122"/>
                <a:sym typeface="+mn-ea"/>
              </a:rPr>
              <a:t>1</a:t>
            </a:r>
            <a:r>
              <a:rPr lang="en-US" altLang="zh-CN" sz="1000" dirty="0">
                <a:solidFill>
                  <a:schemeClr val="tx2"/>
                </a:solidFill>
                <a:latin typeface="微软雅黑" panose="020B0503020204020204" pitchFamily="34" charset="-122"/>
                <a:ea typeface="微软雅黑" panose="020B0503020204020204" pitchFamily="34" charset="-122"/>
                <a:sym typeface="+mn-ea"/>
              </a:rPr>
              <a:t>, 0, 0, 0, 0, 0, 0, 0, 0]</a:t>
            </a:r>
            <a:endParaRPr lang="en-US" altLang="zh-CN" sz="1000" dirty="0">
              <a:solidFill>
                <a:schemeClr val="tx2"/>
              </a:solidFill>
              <a:latin typeface="微软雅黑" panose="020B0503020204020204" pitchFamily="34" charset="-122"/>
              <a:ea typeface="微软雅黑" panose="020B0503020204020204" pitchFamily="34" charset="-122"/>
            </a:endParaRPr>
          </a:p>
          <a:p>
            <a:pPr indent="0" algn="ctr" fontAlgn="auto">
              <a:lnSpc>
                <a:spcPct val="125000"/>
              </a:lnSpc>
            </a:pPr>
            <a:r>
              <a:rPr lang="zh-CN" altLang="en-US" sz="1000" dirty="0">
                <a:solidFill>
                  <a:schemeClr val="tx2"/>
                </a:solidFill>
                <a:latin typeface="微软雅黑" panose="020B0503020204020204" pitchFamily="34" charset="-122"/>
                <a:ea typeface="微软雅黑" panose="020B0503020204020204" pitchFamily="34" charset="-122"/>
              </a:rPr>
              <a:t>爱</a:t>
            </a:r>
            <a:r>
              <a:rPr lang="en-US" altLang="zh-CN" sz="1000" dirty="0">
                <a:solidFill>
                  <a:schemeClr val="tx2"/>
                </a:solidFill>
                <a:latin typeface="微软雅黑" panose="020B0503020204020204" pitchFamily="34" charset="-122"/>
                <a:ea typeface="微软雅黑" panose="020B0503020204020204" pitchFamily="34" charset="-122"/>
              </a:rPr>
              <a:t>: </a:t>
            </a:r>
            <a:r>
              <a:rPr lang="en-US" altLang="zh-CN" sz="1000" dirty="0">
                <a:solidFill>
                  <a:schemeClr val="tx2"/>
                </a:solidFill>
                <a:latin typeface="微软雅黑" panose="020B0503020204020204" pitchFamily="34" charset="-122"/>
                <a:ea typeface="微软雅黑" panose="020B0503020204020204" pitchFamily="34" charset="-122"/>
                <a:sym typeface="+mn-ea"/>
              </a:rPr>
              <a:t>[0, 0, </a:t>
            </a:r>
            <a:r>
              <a:rPr lang="en-US" altLang="zh-CN" sz="1000" b="1" dirty="0">
                <a:solidFill>
                  <a:schemeClr val="tx2"/>
                </a:solidFill>
                <a:latin typeface="微软雅黑" panose="020B0503020204020204" pitchFamily="34" charset="-122"/>
                <a:ea typeface="微软雅黑" panose="020B0503020204020204" pitchFamily="34" charset="-122"/>
                <a:sym typeface="+mn-ea"/>
              </a:rPr>
              <a:t>1</a:t>
            </a:r>
            <a:r>
              <a:rPr lang="en-US" altLang="zh-CN" sz="1000" dirty="0">
                <a:solidFill>
                  <a:schemeClr val="tx2"/>
                </a:solidFill>
                <a:latin typeface="微软雅黑" panose="020B0503020204020204" pitchFamily="34" charset="-122"/>
                <a:ea typeface="微软雅黑" panose="020B0503020204020204" pitchFamily="34" charset="-122"/>
                <a:sym typeface="+mn-ea"/>
              </a:rPr>
              <a:t>, 0, 0, 0, 0, 0, 0, 0]</a:t>
            </a:r>
            <a:endParaRPr lang="zh-CN" altLang="en-US" sz="1000" dirty="0">
              <a:solidFill>
                <a:schemeClr val="tx2"/>
              </a:solidFill>
              <a:latin typeface="微软雅黑" panose="020B0503020204020204" pitchFamily="34" charset="-122"/>
              <a:ea typeface="微软雅黑" panose="020B0503020204020204" pitchFamily="34" charset="-122"/>
            </a:endParaRPr>
          </a:p>
          <a:p>
            <a:pPr indent="0" algn="ctr" fontAlgn="auto">
              <a:lnSpc>
                <a:spcPct val="125000"/>
              </a:lnSpc>
            </a:pPr>
            <a:r>
              <a:rPr lang="zh-CN" altLang="en-US" sz="1000" dirty="0">
                <a:solidFill>
                  <a:schemeClr val="tx2"/>
                </a:solidFill>
                <a:latin typeface="微软雅黑" panose="020B0503020204020204" pitchFamily="34" charset="-122"/>
                <a:ea typeface="微软雅黑" panose="020B0503020204020204" pitchFamily="34" charset="-122"/>
              </a:rPr>
              <a:t>小</a:t>
            </a:r>
            <a:r>
              <a:rPr lang="en-US" altLang="zh-CN" sz="1000" dirty="0">
                <a:solidFill>
                  <a:schemeClr val="tx2"/>
                </a:solidFill>
                <a:latin typeface="微软雅黑" panose="020B0503020204020204" pitchFamily="34" charset="-122"/>
                <a:ea typeface="微软雅黑" panose="020B0503020204020204" pitchFamily="34" charset="-122"/>
              </a:rPr>
              <a:t>: </a:t>
            </a:r>
            <a:r>
              <a:rPr lang="en-US" altLang="zh-CN" sz="1000" dirty="0">
                <a:solidFill>
                  <a:schemeClr val="tx2"/>
                </a:solidFill>
                <a:latin typeface="微软雅黑" panose="020B0503020204020204" pitchFamily="34" charset="-122"/>
                <a:ea typeface="微软雅黑" panose="020B0503020204020204" pitchFamily="34" charset="-122"/>
                <a:sym typeface="+mn-ea"/>
              </a:rPr>
              <a:t>[0, 0, 0, 0, </a:t>
            </a:r>
            <a:r>
              <a:rPr lang="en-US" altLang="zh-CN" sz="1000" b="1" dirty="0">
                <a:solidFill>
                  <a:schemeClr val="tx2"/>
                </a:solidFill>
                <a:latin typeface="微软雅黑" panose="020B0503020204020204" pitchFamily="34" charset="-122"/>
                <a:ea typeface="微软雅黑" panose="020B0503020204020204" pitchFamily="34" charset="-122"/>
                <a:sym typeface="+mn-ea"/>
              </a:rPr>
              <a:t>1</a:t>
            </a:r>
            <a:r>
              <a:rPr lang="en-US" altLang="zh-CN" sz="1000" dirty="0">
                <a:solidFill>
                  <a:schemeClr val="tx2"/>
                </a:solidFill>
                <a:latin typeface="微软雅黑" panose="020B0503020204020204" pitchFamily="34" charset="-122"/>
                <a:ea typeface="微软雅黑" panose="020B0503020204020204" pitchFamily="34" charset="-122"/>
                <a:sym typeface="+mn-ea"/>
              </a:rPr>
              <a:t>, 0, 0, 0, 0, 0]</a:t>
            </a:r>
            <a:endParaRPr lang="en-US" altLang="zh-CN" sz="1000" dirty="0">
              <a:solidFill>
                <a:schemeClr val="tx2"/>
              </a:solidFill>
              <a:latin typeface="微软雅黑" panose="020B0503020204020204" pitchFamily="34" charset="-122"/>
              <a:ea typeface="微软雅黑" panose="020B0503020204020204" pitchFamily="34" charset="-122"/>
            </a:endParaRPr>
          </a:p>
          <a:p>
            <a:pPr indent="0" algn="ctr" fontAlgn="auto">
              <a:lnSpc>
                <a:spcPct val="125000"/>
              </a:lnSpc>
            </a:pPr>
            <a:r>
              <a:rPr lang="zh-CN" altLang="en-US" sz="1000" dirty="0">
                <a:solidFill>
                  <a:schemeClr val="tx2"/>
                </a:solidFill>
                <a:latin typeface="微软雅黑" panose="020B0503020204020204" pitchFamily="34" charset="-122"/>
                <a:ea typeface="微软雅黑" panose="020B0503020204020204" pitchFamily="34" charset="-122"/>
              </a:rPr>
              <a:t>猫</a:t>
            </a:r>
            <a:r>
              <a:rPr lang="en-US" altLang="zh-CN" sz="1000" dirty="0">
                <a:solidFill>
                  <a:schemeClr val="tx2"/>
                </a:solidFill>
                <a:latin typeface="微软雅黑" panose="020B0503020204020204" pitchFamily="34" charset="-122"/>
                <a:ea typeface="微软雅黑" panose="020B0503020204020204" pitchFamily="34" charset="-122"/>
              </a:rPr>
              <a:t>: </a:t>
            </a:r>
            <a:r>
              <a:rPr lang="en-US" altLang="zh-CN" sz="1000" dirty="0">
                <a:solidFill>
                  <a:schemeClr val="tx2"/>
                </a:solidFill>
                <a:latin typeface="微软雅黑" panose="020B0503020204020204" pitchFamily="34" charset="-122"/>
                <a:ea typeface="微软雅黑" panose="020B0503020204020204" pitchFamily="34" charset="-122"/>
                <a:sym typeface="+mn-ea"/>
              </a:rPr>
              <a:t>[0, 0, 0, 0, 0, 0, </a:t>
            </a:r>
            <a:r>
              <a:rPr lang="en-US" altLang="zh-CN" sz="1000" b="1" dirty="0">
                <a:solidFill>
                  <a:schemeClr val="tx2"/>
                </a:solidFill>
                <a:latin typeface="微软雅黑" panose="020B0503020204020204" pitchFamily="34" charset="-122"/>
                <a:ea typeface="微软雅黑" panose="020B0503020204020204" pitchFamily="34" charset="-122"/>
                <a:sym typeface="+mn-ea"/>
              </a:rPr>
              <a:t>1</a:t>
            </a:r>
            <a:r>
              <a:rPr lang="en-US" altLang="zh-CN" sz="1000" dirty="0">
                <a:solidFill>
                  <a:schemeClr val="tx2"/>
                </a:solidFill>
                <a:latin typeface="微软雅黑" panose="020B0503020204020204" pitchFamily="34" charset="-122"/>
                <a:ea typeface="微软雅黑" panose="020B0503020204020204" pitchFamily="34" charset="-122"/>
                <a:sym typeface="+mn-ea"/>
              </a:rPr>
              <a:t>, 0, 0, 0]</a:t>
            </a:r>
            <a:endParaRPr lang="en-US" altLang="zh-CN" sz="1000" dirty="0">
              <a:solidFill>
                <a:schemeClr val="tx2"/>
              </a:solidFill>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23040371-8F01-8226-4FFD-C4488BAFA9F2}"/>
              </a:ext>
            </a:extLst>
          </p:cNvPr>
          <p:cNvSpPr txBox="1"/>
          <p:nvPr/>
        </p:nvSpPr>
        <p:spPr>
          <a:xfrm>
            <a:off x="5793014" y="4339862"/>
            <a:ext cx="3599180" cy="860425"/>
          </a:xfrm>
          <a:prstGeom prst="rect">
            <a:avLst/>
          </a:prstGeom>
          <a:noFill/>
        </p:spPr>
        <p:txBody>
          <a:bodyPr wrap="square" rtlCol="0">
            <a:spAutoFit/>
          </a:bodyPr>
          <a:lstStyle/>
          <a:p>
            <a:pPr indent="0" algn="ctr" fontAlgn="auto">
              <a:lnSpc>
                <a:spcPct val="125000"/>
              </a:lnSpc>
            </a:pPr>
            <a:r>
              <a:rPr lang="en-US" altLang="zh-CN" sz="1000" dirty="0">
                <a:solidFill>
                  <a:schemeClr val="tx2"/>
                </a:solidFill>
                <a:latin typeface="微软雅黑" panose="020B0503020204020204" pitchFamily="34" charset="-122"/>
                <a:ea typeface="微软雅黑" panose="020B0503020204020204" pitchFamily="34" charset="-122"/>
                <a:sym typeface="+mn-ea"/>
              </a:rPr>
              <a:t>[0.00, 0.00, </a:t>
            </a:r>
            <a:r>
              <a:rPr lang="en-US" altLang="zh-CN" sz="1000" b="1" dirty="0">
                <a:solidFill>
                  <a:schemeClr val="tx2"/>
                </a:solidFill>
                <a:latin typeface="微软雅黑" panose="020B0503020204020204" pitchFamily="34" charset="-122"/>
                <a:ea typeface="微软雅黑" panose="020B0503020204020204" pitchFamily="34" charset="-122"/>
                <a:sym typeface="+mn-ea"/>
              </a:rPr>
              <a:t>0.93</a:t>
            </a:r>
            <a:r>
              <a:rPr lang="en-US" altLang="zh-CN" sz="1000" dirty="0">
                <a:solidFill>
                  <a:schemeClr val="tx2"/>
                </a:solidFill>
                <a:latin typeface="微软雅黑" panose="020B0503020204020204" pitchFamily="34" charset="-122"/>
                <a:ea typeface="微软雅黑" panose="020B0503020204020204" pitchFamily="34" charset="-122"/>
                <a:sym typeface="+mn-ea"/>
              </a:rPr>
              <a:t>, 0.00, 0.01, 0.02, 0.02, 0.00, 0.01, 0.01]</a:t>
            </a:r>
            <a:endParaRPr lang="en-US" altLang="zh-CN" sz="1000" dirty="0">
              <a:solidFill>
                <a:schemeClr val="tx2"/>
              </a:solidFill>
              <a:latin typeface="微软雅黑" panose="020B0503020204020204" pitchFamily="34" charset="-122"/>
              <a:ea typeface="微软雅黑" panose="020B0503020204020204" pitchFamily="34" charset="-122"/>
            </a:endParaRPr>
          </a:p>
          <a:p>
            <a:pPr indent="0" algn="ctr" fontAlgn="auto">
              <a:lnSpc>
                <a:spcPct val="125000"/>
              </a:lnSpc>
            </a:pPr>
            <a:r>
              <a:rPr lang="en-US" altLang="zh-CN" sz="1000" dirty="0">
                <a:solidFill>
                  <a:schemeClr val="tx2"/>
                </a:solidFill>
                <a:latin typeface="微软雅黑" panose="020B0503020204020204" pitchFamily="34" charset="-122"/>
                <a:ea typeface="微软雅黑" panose="020B0503020204020204" pitchFamily="34" charset="-122"/>
                <a:sym typeface="+mn-ea"/>
              </a:rPr>
              <a:t>[0.00, 0.02, 0.02, 0.00, </a:t>
            </a:r>
            <a:r>
              <a:rPr lang="en-US" altLang="zh-CN" sz="1000" b="1" dirty="0">
                <a:solidFill>
                  <a:schemeClr val="tx2"/>
                </a:solidFill>
                <a:latin typeface="微软雅黑" panose="020B0503020204020204" pitchFamily="34" charset="-122"/>
                <a:ea typeface="微软雅黑" panose="020B0503020204020204" pitchFamily="34" charset="-122"/>
                <a:sym typeface="+mn-ea"/>
              </a:rPr>
              <a:t>0.88</a:t>
            </a:r>
            <a:r>
              <a:rPr lang="en-US" altLang="zh-CN" sz="1000" dirty="0">
                <a:solidFill>
                  <a:schemeClr val="tx2"/>
                </a:solidFill>
                <a:latin typeface="微软雅黑" panose="020B0503020204020204" pitchFamily="34" charset="-122"/>
                <a:ea typeface="微软雅黑" panose="020B0503020204020204" pitchFamily="34" charset="-122"/>
                <a:sym typeface="+mn-ea"/>
              </a:rPr>
              <a:t>, 0.02, 0.02, 0.00, 0.01, 0.01]</a:t>
            </a:r>
          </a:p>
          <a:p>
            <a:pPr indent="0" algn="ctr" fontAlgn="auto">
              <a:lnSpc>
                <a:spcPct val="125000"/>
              </a:lnSpc>
            </a:pPr>
            <a:r>
              <a:rPr lang="en-US" altLang="zh-CN" sz="1000" dirty="0">
                <a:solidFill>
                  <a:schemeClr val="tx2"/>
                </a:solidFill>
                <a:latin typeface="微软雅黑" panose="020B0503020204020204" pitchFamily="34" charset="-122"/>
                <a:ea typeface="微软雅黑" panose="020B0503020204020204" pitchFamily="34" charset="-122"/>
                <a:sym typeface="+mn-ea"/>
              </a:rPr>
              <a:t>[0.01, 0.00, 0.00, 0.00, 0.00, 0.00, </a:t>
            </a:r>
            <a:r>
              <a:rPr lang="en-US" altLang="zh-CN" sz="1000" b="1" dirty="0">
                <a:solidFill>
                  <a:schemeClr val="tx2"/>
                </a:solidFill>
                <a:latin typeface="微软雅黑" panose="020B0503020204020204" pitchFamily="34" charset="-122"/>
                <a:ea typeface="微软雅黑" panose="020B0503020204020204" pitchFamily="34" charset="-122"/>
                <a:sym typeface="+mn-ea"/>
              </a:rPr>
              <a:t>0.99</a:t>
            </a:r>
            <a:r>
              <a:rPr lang="en-US" altLang="zh-CN" sz="1000" dirty="0">
                <a:solidFill>
                  <a:schemeClr val="tx2"/>
                </a:solidFill>
                <a:latin typeface="微软雅黑" panose="020B0503020204020204" pitchFamily="34" charset="-122"/>
                <a:ea typeface="微软雅黑" panose="020B0503020204020204" pitchFamily="34" charset="-122"/>
                <a:sym typeface="+mn-ea"/>
              </a:rPr>
              <a:t>, 0.00, 0.00, 0.00]</a:t>
            </a:r>
          </a:p>
          <a:p>
            <a:pPr indent="0" algn="ctr" fontAlgn="auto">
              <a:lnSpc>
                <a:spcPct val="125000"/>
              </a:lnSpc>
            </a:pPr>
            <a:r>
              <a:rPr lang="en-US" altLang="zh-CN" sz="1000" dirty="0">
                <a:solidFill>
                  <a:schemeClr val="tx2"/>
                </a:solidFill>
                <a:latin typeface="微软雅黑" panose="020B0503020204020204" pitchFamily="34" charset="-122"/>
                <a:ea typeface="微软雅黑" panose="020B0503020204020204" pitchFamily="34" charset="-122"/>
                <a:sym typeface="+mn-ea"/>
              </a:rPr>
              <a:t>[0.00, 0.00, 0.00, 0.00, 0.00, 0.00, 0.00, 0.00, 0.03, </a:t>
            </a:r>
            <a:r>
              <a:rPr lang="en-US" altLang="zh-CN" sz="1000" b="1" dirty="0">
                <a:solidFill>
                  <a:schemeClr val="tx2"/>
                </a:solidFill>
                <a:latin typeface="微软雅黑" panose="020B0503020204020204" pitchFamily="34" charset="-122"/>
                <a:ea typeface="微软雅黑" panose="020B0503020204020204" pitchFamily="34" charset="-122"/>
                <a:sym typeface="+mn-ea"/>
              </a:rPr>
              <a:t>0.97</a:t>
            </a:r>
            <a:r>
              <a:rPr lang="en-US" altLang="zh-CN" sz="1000" dirty="0">
                <a:solidFill>
                  <a:schemeClr val="tx2"/>
                </a:solidFill>
                <a:latin typeface="微软雅黑" panose="020B0503020204020204" pitchFamily="34" charset="-122"/>
                <a:ea typeface="微软雅黑" panose="020B0503020204020204" pitchFamily="34" charset="-122"/>
                <a:sym typeface="+mn-ea"/>
              </a:rPr>
              <a:t>]</a:t>
            </a:r>
            <a:endParaRPr lang="zh-CN" altLang="en-US" sz="1000" dirty="0">
              <a:solidFill>
                <a:schemeClr val="tx2"/>
              </a:solidFill>
              <a:latin typeface="微软雅黑"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A471BE46-3204-58D2-FFE1-1B2ED1A42C67}"/>
              </a:ext>
            </a:extLst>
          </p:cNvPr>
          <p:cNvSpPr txBox="1"/>
          <p:nvPr/>
        </p:nvSpPr>
        <p:spPr>
          <a:xfrm>
            <a:off x="2579279" y="3850912"/>
            <a:ext cx="7152640" cy="304058"/>
          </a:xfrm>
          <a:prstGeom prst="rect">
            <a:avLst/>
          </a:prstGeom>
          <a:noFill/>
        </p:spPr>
        <p:txBody>
          <a:bodyPr wrap="square" rtlCol="0">
            <a:spAutoFit/>
          </a:bodyPr>
          <a:lstStyle/>
          <a:p>
            <a:pPr indent="0" fontAlgn="auto">
              <a:lnSpc>
                <a:spcPct val="125000"/>
              </a:lnSpc>
              <a:spcBef>
                <a:spcPts val="600"/>
              </a:spcBef>
            </a:pPr>
            <a:r>
              <a:rPr lang="zh-CN" altLang="en-US" sz="1200" dirty="0">
                <a:solidFill>
                  <a:schemeClr val="tx2"/>
                </a:solidFill>
                <a:latin typeface="微软雅黑" panose="020B0503020204020204" pitchFamily="34" charset="-122"/>
                <a:ea typeface="微软雅黑" panose="020B0503020204020204" pitchFamily="34" charset="-122"/>
              </a:rPr>
              <a:t>假设词典为：</a:t>
            </a:r>
            <a:r>
              <a:rPr lang="en-US" altLang="zh-CN" sz="1200" dirty="0">
                <a:solidFill>
                  <a:schemeClr val="tx2"/>
                </a:solidFill>
                <a:latin typeface="微软雅黑" panose="020B0503020204020204" pitchFamily="34" charset="-122"/>
                <a:ea typeface="微软雅黑" panose="020B0503020204020204" pitchFamily="34" charset="-122"/>
              </a:rPr>
              <a:t>[</a:t>
            </a:r>
            <a:r>
              <a:rPr lang="zh-CN" altLang="en-US" sz="1200" dirty="0">
                <a:solidFill>
                  <a:schemeClr val="tx2"/>
                </a:solidFill>
                <a:latin typeface="微软雅黑" panose="020B0503020204020204" pitchFamily="34" charset="-122"/>
                <a:ea typeface="微软雅黑" panose="020B0503020204020204" pitchFamily="34" charset="-122"/>
              </a:rPr>
              <a:t>你，我，爱，恨，小，大，猫，狗，鼠，</a:t>
            </a:r>
            <a:r>
              <a:rPr lang="en-US" altLang="zh-CN" sz="1200" dirty="0">
                <a:solidFill>
                  <a:schemeClr val="tx2"/>
                </a:solidFill>
                <a:latin typeface="微软雅黑" panose="020B0503020204020204" pitchFamily="34" charset="-122"/>
                <a:ea typeface="微软雅黑" panose="020B0503020204020204" pitchFamily="34" charset="-122"/>
              </a:rPr>
              <a:t>!]</a:t>
            </a:r>
            <a:r>
              <a:rPr lang="zh-CN" altLang="en-US" sz="1200" dirty="0">
                <a:solidFill>
                  <a:schemeClr val="tx2"/>
                </a:solidFill>
                <a:latin typeface="微软雅黑" panose="020B0503020204020204" pitchFamily="34" charset="-122"/>
                <a:ea typeface="微软雅黑" panose="020B0503020204020204" pitchFamily="34" charset="-122"/>
              </a:rPr>
              <a:t>，大小为</a:t>
            </a:r>
            <a:r>
              <a:rPr lang="en-US" altLang="zh-CN" sz="1200" dirty="0">
                <a:solidFill>
                  <a:schemeClr val="tx2"/>
                </a:solidFill>
                <a:latin typeface="微软雅黑" panose="020B0503020204020204" pitchFamily="34" charset="-122"/>
                <a:ea typeface="微软雅黑" panose="020B0503020204020204" pitchFamily="34" charset="-122"/>
              </a:rPr>
              <a:t>10</a:t>
            </a:r>
            <a:r>
              <a:rPr lang="zh-CN" altLang="en-US" sz="1200" dirty="0">
                <a:solidFill>
                  <a:schemeClr val="tx2"/>
                </a:solidFill>
                <a:latin typeface="微软雅黑" panose="020B0503020204020204" pitchFamily="34" charset="-122"/>
                <a:ea typeface="微软雅黑" panose="020B0503020204020204" pitchFamily="34" charset="-122"/>
              </a:rPr>
              <a:t>，于是</a:t>
            </a:r>
            <a:r>
              <a:rPr lang="en-US" altLang="zh-CN" sz="1200" dirty="0">
                <a:solidFill>
                  <a:schemeClr val="tx2"/>
                </a:solidFill>
                <a:latin typeface="微软雅黑" panose="020B0503020204020204" pitchFamily="34" charset="-122"/>
                <a:ea typeface="微软雅黑" panose="020B0503020204020204" pitchFamily="34" charset="-122"/>
              </a:rPr>
              <a:t>d=10</a:t>
            </a:r>
          </a:p>
        </p:txBody>
      </p:sp>
      <p:sp>
        <p:nvSpPr>
          <p:cNvPr id="20" name="右箭头 12">
            <a:extLst>
              <a:ext uri="{FF2B5EF4-FFF2-40B4-BE49-F238E27FC236}">
                <a16:creationId xmlns:a16="http://schemas.microsoft.com/office/drawing/2014/main" id="{41487DF6-4D29-D6B7-CC8C-3717BE97FA10}"/>
              </a:ext>
            </a:extLst>
          </p:cNvPr>
          <p:cNvSpPr/>
          <p:nvPr/>
        </p:nvSpPr>
        <p:spPr>
          <a:xfrm>
            <a:off x="9261384" y="4707527"/>
            <a:ext cx="325755" cy="149225"/>
          </a:xfrm>
          <a:prstGeom prst="rightArrow">
            <a:avLst>
              <a:gd name="adj1" fmla="val 38247"/>
              <a:gd name="adj2" fmla="val 72678"/>
            </a:avLst>
          </a:prstGeom>
          <a:solidFill>
            <a:sysClr val="window" lastClr="FFFFFF"/>
          </a:solidFill>
          <a:ln w="12700" cap="flat" cmpd="sng" algn="ctr">
            <a:solidFill>
              <a:schemeClr val="tx2"/>
            </a:solidFill>
            <a:prstDash val="solid"/>
            <a:miter lim="800000"/>
          </a:ln>
        </p:spPr>
        <p:txBody>
          <a:bodyPr rtlCol="0" anchor="ctr"/>
          <a:lstStyle/>
          <a:p>
            <a:pPr algn="just"/>
            <a:endParaRPr lang="zh-CN" altLang="en-US" dirty="0">
              <a:solidFill>
                <a:schemeClr val="tx2"/>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2992F11F-EE06-36BE-FB26-8D94D82B9A4C}"/>
              </a:ext>
            </a:extLst>
          </p:cNvPr>
          <p:cNvSpPr txBox="1"/>
          <p:nvPr/>
        </p:nvSpPr>
        <p:spPr>
          <a:xfrm>
            <a:off x="9625874" y="4339862"/>
            <a:ext cx="303530" cy="860425"/>
          </a:xfrm>
          <a:prstGeom prst="rect">
            <a:avLst/>
          </a:prstGeom>
          <a:noFill/>
        </p:spPr>
        <p:txBody>
          <a:bodyPr wrap="square" rtlCol="0" anchor="t">
            <a:spAutoFit/>
          </a:bodyPr>
          <a:lstStyle/>
          <a:p>
            <a:pPr indent="0" algn="ctr" fontAlgn="auto">
              <a:lnSpc>
                <a:spcPct val="125000"/>
              </a:lnSpc>
            </a:pPr>
            <a:r>
              <a:rPr lang="zh-CN" altLang="en-US" sz="1000">
                <a:solidFill>
                  <a:schemeClr val="tx2"/>
                </a:solidFill>
                <a:latin typeface="微软雅黑" panose="020B0503020204020204" pitchFamily="34" charset="-122"/>
                <a:ea typeface="微软雅黑" panose="020B0503020204020204" pitchFamily="34" charset="-122"/>
                <a:sym typeface="+mn-ea"/>
              </a:rPr>
              <a:t>爱</a:t>
            </a:r>
          </a:p>
          <a:p>
            <a:pPr indent="0" algn="ctr" fontAlgn="auto">
              <a:lnSpc>
                <a:spcPct val="125000"/>
              </a:lnSpc>
            </a:pPr>
            <a:r>
              <a:rPr lang="zh-CN" altLang="en-US" sz="1000">
                <a:solidFill>
                  <a:schemeClr val="tx2"/>
                </a:solidFill>
                <a:latin typeface="微软雅黑" panose="020B0503020204020204" pitchFamily="34" charset="-122"/>
                <a:ea typeface="微软雅黑" panose="020B0503020204020204" pitchFamily="34" charset="-122"/>
                <a:sym typeface="+mn-ea"/>
              </a:rPr>
              <a:t>小</a:t>
            </a:r>
          </a:p>
          <a:p>
            <a:pPr indent="0" algn="ctr" fontAlgn="auto">
              <a:lnSpc>
                <a:spcPct val="125000"/>
              </a:lnSpc>
            </a:pPr>
            <a:r>
              <a:rPr lang="zh-CN" altLang="en-US" sz="1000">
                <a:solidFill>
                  <a:schemeClr val="tx2"/>
                </a:solidFill>
                <a:latin typeface="微软雅黑" panose="020B0503020204020204" pitchFamily="34" charset="-122"/>
                <a:ea typeface="微软雅黑" panose="020B0503020204020204" pitchFamily="34" charset="-122"/>
                <a:sym typeface="+mn-ea"/>
              </a:rPr>
              <a:t>猫</a:t>
            </a:r>
          </a:p>
          <a:p>
            <a:pPr indent="0" algn="ctr" fontAlgn="auto">
              <a:lnSpc>
                <a:spcPct val="125000"/>
              </a:lnSpc>
            </a:pPr>
            <a:r>
              <a:rPr lang="zh-CN" altLang="en-US" sz="1000">
                <a:solidFill>
                  <a:schemeClr val="tx2"/>
                </a:solidFill>
                <a:latin typeface="微软雅黑" panose="020B0503020204020204" pitchFamily="34" charset="-122"/>
                <a:ea typeface="微软雅黑" panose="020B0503020204020204" pitchFamily="34" charset="-122"/>
                <a:sym typeface="+mn-ea"/>
              </a:rPr>
              <a:t>！</a:t>
            </a:r>
          </a:p>
        </p:txBody>
      </p:sp>
    </p:spTree>
    <p:extLst>
      <p:ext uri="{BB962C8B-B14F-4D97-AF65-F5344CB8AC3E}">
        <p14:creationId xmlns:p14="http://schemas.microsoft.com/office/powerpoint/2010/main" val="28725627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Transformer</a:t>
            </a:r>
            <a:r>
              <a:rPr lang="zh-CN" altLang="en-US" dirty="0"/>
              <a:t>：从</a:t>
            </a:r>
            <a:r>
              <a:rPr lang="en-US" altLang="zh-CN" dirty="0"/>
              <a:t>NLP</a:t>
            </a:r>
            <a:r>
              <a:rPr lang="zh-CN" altLang="en-US" dirty="0"/>
              <a:t>到图像识别</a:t>
            </a:r>
          </a:p>
        </p:txBody>
      </p:sp>
      <p:pic>
        <p:nvPicPr>
          <p:cNvPr id="33" name="图片 3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35095" y="1736982"/>
            <a:ext cx="4842219" cy="3329025"/>
          </a:xfrm>
          <a:prstGeom prst="rect">
            <a:avLst/>
          </a:prstGeom>
        </p:spPr>
      </p:pic>
      <p:sp>
        <p:nvSpPr>
          <p:cNvPr id="2" name="文本框 1"/>
          <p:cNvSpPr txBox="1"/>
          <p:nvPr/>
        </p:nvSpPr>
        <p:spPr>
          <a:xfrm>
            <a:off x="126998" y="6351998"/>
            <a:ext cx="10665179" cy="376834"/>
          </a:xfrm>
          <a:prstGeom prst="rect">
            <a:avLst/>
          </a:prstGeom>
          <a:noFill/>
        </p:spPr>
        <p:txBody>
          <a:bodyPr wrap="square" rtlCol="0">
            <a:spAutoFit/>
          </a:bodyPr>
          <a:lstStyle/>
          <a:p>
            <a:pPr algn="l">
              <a:lnSpc>
                <a:spcPct val="150000"/>
              </a:lnSpc>
            </a:pP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 Alexey D. An image is worth 16x16 words: Transformers for image recognition at scale[J]. </a:t>
            </a:r>
            <a:r>
              <a:rPr lang="en-US" altLang="zh-CN" sz="1400"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arXiv</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preprint </a:t>
            </a:r>
            <a:r>
              <a:rPr lang="en-US" altLang="zh-CN" sz="1400"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arXiv</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2010.11929, 2020.</a:t>
            </a:r>
            <a:endParaRPr lang="en-US"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C9D1BB04-D225-8AEC-5BCF-0FDF29EB06FA}"/>
                  </a:ext>
                </a:extLst>
              </p:cNvPr>
              <p:cNvSpPr txBox="1"/>
              <p:nvPr/>
            </p:nvSpPr>
            <p:spPr>
              <a:xfrm>
                <a:off x="381000" y="1012121"/>
                <a:ext cx="6554095" cy="1428404"/>
              </a:xfrm>
              <a:prstGeom prst="rect">
                <a:avLst/>
              </a:prstGeom>
              <a:noFill/>
            </p:spPr>
            <p:txBody>
              <a:bodyPr wrap="square" rtlCol="0">
                <a:spAutoFit/>
              </a:bodyPr>
              <a:lstStyle/>
              <a:p>
                <a:pPr>
                  <a:lnSpc>
                    <a:spcPct val="150000"/>
                  </a:lnSpc>
                </a:pPr>
                <a:r>
                  <a:rPr lang="zh-CN" altLang="en-US" sz="2400" b="1" dirty="0">
                    <a:solidFill>
                      <a:schemeClr val="tx2"/>
                    </a:solidFill>
                    <a:latin typeface="微软雅黑" panose="020B0503020204020204" pitchFamily="34" charset="-122"/>
                    <a:ea typeface="微软雅黑" panose="020B0503020204020204" pitchFamily="34" charset="-122"/>
                  </a:rPr>
                  <a:t>图像 “</a:t>
                </a:r>
                <a:r>
                  <a:rPr lang="en-US" altLang="zh-CN" sz="2400" b="1" dirty="0">
                    <a:solidFill>
                      <a:schemeClr val="tx2"/>
                    </a:solidFill>
                    <a:latin typeface="微软雅黑" panose="020B0503020204020204" pitchFamily="34" charset="-122"/>
                    <a:ea typeface="微软雅黑" panose="020B0503020204020204" pitchFamily="34" charset="-122"/>
                  </a:rPr>
                  <a:t>=</a:t>
                </a:r>
                <a:r>
                  <a:rPr lang="zh-CN" altLang="en-US" sz="2400" b="1" dirty="0">
                    <a:solidFill>
                      <a:schemeClr val="tx2"/>
                    </a:solidFill>
                    <a:latin typeface="微软雅黑" panose="020B0503020204020204" pitchFamily="34" charset="-122"/>
                    <a:ea typeface="微软雅黑" panose="020B0503020204020204" pitchFamily="34" charset="-122"/>
                  </a:rPr>
                  <a:t>”词？</a:t>
                </a:r>
                <a:endParaRPr lang="en-US" altLang="zh-CN" sz="2400" b="1" dirty="0">
                  <a:solidFill>
                    <a:schemeClr val="tx2"/>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r>
                  <a:rPr lang="zh-CN" altLang="en-US" dirty="0">
                    <a:solidFill>
                      <a:schemeClr val="tx2"/>
                    </a:solidFill>
                    <a:latin typeface="微软雅黑" panose="020B0503020204020204" pitchFamily="34" charset="-122"/>
                    <a:ea typeface="微软雅黑" panose="020B0503020204020204" pitchFamily="34" charset="-122"/>
                  </a:rPr>
                  <a:t>将图像分割为</a:t>
                </a:r>
                <a:r>
                  <a:rPr lang="en-US" altLang="zh-CN" dirty="0">
                    <a:solidFill>
                      <a:schemeClr val="tx2"/>
                    </a:solidFill>
                    <a:latin typeface="微软雅黑" panose="020B0503020204020204" pitchFamily="34" charset="-122"/>
                    <a:ea typeface="微软雅黑" panose="020B0503020204020204" pitchFamily="34" charset="-122"/>
                  </a:rPr>
                  <a:t>16</a:t>
                </a:r>
                <a14:m>
                  <m:oMath xmlns:m="http://schemas.openxmlformats.org/officeDocument/2006/math">
                    <m:r>
                      <a:rPr lang="en-US" altLang="zh-CN" b="0" i="1" smtClean="0">
                        <a:solidFill>
                          <a:schemeClr val="tx2"/>
                        </a:solidFill>
                        <a:latin typeface="Cambria Math" panose="02040503050406030204" pitchFamily="18" charset="0"/>
                        <a:ea typeface="微软雅黑" panose="020B0503020204020204" pitchFamily="34" charset="-122"/>
                      </a:rPr>
                      <m:t>×</m:t>
                    </m:r>
                  </m:oMath>
                </a14:m>
                <a:r>
                  <a:rPr lang="en-US" altLang="zh-CN" dirty="0">
                    <a:solidFill>
                      <a:schemeClr val="tx2"/>
                    </a:solidFill>
                    <a:latin typeface="微软雅黑" panose="020B0503020204020204" pitchFamily="34" charset="-122"/>
                    <a:ea typeface="微软雅黑" panose="020B0503020204020204" pitchFamily="34" charset="-122"/>
                  </a:rPr>
                  <a:t>16</a:t>
                </a:r>
                <a:r>
                  <a:rPr lang="zh-CN" altLang="en-US" dirty="0">
                    <a:solidFill>
                      <a:schemeClr val="tx2"/>
                    </a:solidFill>
                    <a:latin typeface="微软雅黑" panose="020B0503020204020204" pitchFamily="34" charset="-122"/>
                    <a:ea typeface="微软雅黑" panose="020B0503020204020204" pitchFamily="34" charset="-122"/>
                  </a:rPr>
                  <a:t>的</a:t>
                </a:r>
                <a:r>
                  <a:rPr lang="en-US" altLang="zh-CN" dirty="0">
                    <a:solidFill>
                      <a:schemeClr val="tx2"/>
                    </a:solidFill>
                    <a:latin typeface="微软雅黑" panose="020B0503020204020204" pitchFamily="34" charset="-122"/>
                    <a:ea typeface="微软雅黑" panose="020B0503020204020204" pitchFamily="34" charset="-122"/>
                  </a:rPr>
                  <a:t>patch</a:t>
                </a:r>
                <a:r>
                  <a:rPr lang="zh-CN" altLang="en-US" dirty="0">
                    <a:solidFill>
                      <a:schemeClr val="tx2"/>
                    </a:solidFill>
                    <a:latin typeface="微软雅黑" panose="020B0503020204020204" pitchFamily="34" charset="-122"/>
                    <a:ea typeface="微软雅黑" panose="020B0503020204020204" pitchFamily="34" charset="-122"/>
                  </a:rPr>
                  <a:t>，把这些</a:t>
                </a:r>
                <a:r>
                  <a:rPr lang="en-US" altLang="zh-CN" dirty="0">
                    <a:solidFill>
                      <a:schemeClr val="tx2"/>
                    </a:solidFill>
                    <a:latin typeface="微软雅黑" panose="020B0503020204020204" pitchFamily="34" charset="-122"/>
                    <a:ea typeface="微软雅黑" panose="020B0503020204020204" pitchFamily="34" charset="-122"/>
                  </a:rPr>
                  <a:t>patch</a:t>
                </a:r>
                <a:r>
                  <a:rPr lang="zh-CN" altLang="en-US" dirty="0">
                    <a:solidFill>
                      <a:schemeClr val="tx2"/>
                    </a:solidFill>
                    <a:latin typeface="微软雅黑" panose="020B0503020204020204" pitchFamily="34" charset="-122"/>
                    <a:ea typeface="微软雅黑" panose="020B0503020204020204" pitchFamily="34" charset="-122"/>
                  </a:rPr>
                  <a:t>视为词汇，再利用 </a:t>
                </a:r>
                <a:r>
                  <a:rPr lang="en-US" altLang="zh-CN" dirty="0">
                    <a:solidFill>
                      <a:schemeClr val="tx2"/>
                    </a:solidFill>
                    <a:latin typeface="微软雅黑" panose="020B0503020204020204" pitchFamily="34" charset="-122"/>
                    <a:ea typeface="微软雅黑" panose="020B0503020204020204" pitchFamily="34" charset="-122"/>
                  </a:rPr>
                  <a:t>Transformer </a:t>
                </a:r>
                <a:r>
                  <a:rPr lang="zh-CN" altLang="en-US" dirty="0">
                    <a:solidFill>
                      <a:schemeClr val="tx2"/>
                    </a:solidFill>
                    <a:latin typeface="微软雅黑" panose="020B0503020204020204" pitchFamily="34" charset="-122"/>
                    <a:ea typeface="微软雅黑" panose="020B0503020204020204" pitchFamily="34" charset="-122"/>
                  </a:rPr>
                  <a:t>架构来处理这些图像 “词”。</a:t>
                </a:r>
                <a:endParaRPr lang="en-US" altLang="zh-CN" dirty="0">
                  <a:solidFill>
                    <a:schemeClr val="tx2"/>
                  </a:solidFill>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C9D1BB04-D225-8AEC-5BCF-0FDF29EB06FA}"/>
                  </a:ext>
                </a:extLst>
              </p:cNvPr>
              <p:cNvSpPr txBox="1">
                <a:spLocks noRot="1" noChangeAspect="1" noMove="1" noResize="1" noEditPoints="1" noAdjustHandles="1" noChangeArrowheads="1" noChangeShapeType="1" noTextEdit="1"/>
              </p:cNvSpPr>
              <p:nvPr/>
            </p:nvSpPr>
            <p:spPr>
              <a:xfrm>
                <a:off x="381000" y="1012121"/>
                <a:ext cx="6554095" cy="1428404"/>
              </a:xfrm>
              <a:prstGeom prst="rect">
                <a:avLst/>
              </a:prstGeom>
              <a:blipFill>
                <a:blip r:embed="rId3"/>
                <a:stretch>
                  <a:fillRect l="-1488" r="-744" b="-5983"/>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E61A4565-6676-167A-1B28-F6C759453F43}"/>
              </a:ext>
            </a:extLst>
          </p:cNvPr>
          <p:cNvSpPr txBox="1"/>
          <p:nvPr/>
        </p:nvSpPr>
        <p:spPr>
          <a:xfrm>
            <a:off x="1766007" y="5451752"/>
            <a:ext cx="3648396" cy="900246"/>
          </a:xfrm>
          <a:prstGeom prst="rect">
            <a:avLst/>
          </a:prstGeom>
          <a:noFill/>
        </p:spPr>
        <p:txBody>
          <a:bodyPr wrap="square" rtlCol="0">
            <a:spAutoFit/>
          </a:bodyPr>
          <a:lstStyle/>
          <a:p>
            <a:r>
              <a:rPr lang="en-US" altLang="zh-CN" sz="1050" dirty="0">
                <a:solidFill>
                  <a:schemeClr val="tx2"/>
                </a:solidFill>
                <a:latin typeface="微软雅黑" panose="020B0503020204020204" pitchFamily="34" charset="-122"/>
                <a:ea typeface="微软雅黑" panose="020B0503020204020204" pitchFamily="34" charset="-122"/>
              </a:rPr>
              <a:t>2020 </a:t>
            </a:r>
            <a:r>
              <a:rPr lang="zh-CN" altLang="en-US" sz="1050" dirty="0">
                <a:solidFill>
                  <a:schemeClr val="tx2"/>
                </a:solidFill>
                <a:latin typeface="微软雅黑" panose="020B0503020204020204" pitchFamily="34" charset="-122"/>
                <a:ea typeface="微软雅黑" panose="020B0503020204020204" pitchFamily="34" charset="-122"/>
              </a:rPr>
              <a:t>年 </a:t>
            </a:r>
            <a:r>
              <a:rPr lang="en-US" altLang="zh-CN" sz="1050" dirty="0">
                <a:solidFill>
                  <a:schemeClr val="tx2"/>
                </a:solidFill>
                <a:latin typeface="微软雅黑" panose="020B0503020204020204" pitchFamily="34" charset="-122"/>
                <a:ea typeface="微软雅黑" panose="020B0503020204020204" pitchFamily="34" charset="-122"/>
              </a:rPr>
              <a:t>10 </a:t>
            </a:r>
            <a:r>
              <a:rPr lang="zh-CN" altLang="en-US" sz="1050" dirty="0">
                <a:solidFill>
                  <a:schemeClr val="tx2"/>
                </a:solidFill>
                <a:latin typeface="微软雅黑" panose="020B0503020204020204" pitchFamily="34" charset="-122"/>
                <a:ea typeface="微软雅黑" panose="020B0503020204020204" pitchFamily="34" charset="-122"/>
              </a:rPr>
              <a:t>月，谷歌提出的 </a:t>
            </a:r>
            <a:r>
              <a:rPr lang="en-US" altLang="zh-CN" sz="1050" b="1" dirty="0">
                <a:solidFill>
                  <a:schemeClr val="tx2"/>
                </a:solidFill>
                <a:latin typeface="微软雅黑" panose="020B0503020204020204" pitchFamily="34" charset="-122"/>
                <a:ea typeface="微软雅黑" panose="020B0503020204020204" pitchFamily="34" charset="-122"/>
              </a:rPr>
              <a:t>Vision Transformer</a:t>
            </a:r>
            <a:r>
              <a:rPr lang="en-US" altLang="zh-CN" sz="1050" baseline="30000" dirty="0">
                <a:solidFill>
                  <a:schemeClr val="tx2"/>
                </a:solidFill>
                <a:latin typeface="微软雅黑" panose="020B0503020204020204" pitchFamily="34" charset="-122"/>
                <a:ea typeface="微软雅黑" panose="020B0503020204020204" pitchFamily="34" charset="-122"/>
              </a:rPr>
              <a:t> [1]</a:t>
            </a:r>
            <a:r>
              <a:rPr lang="en-US" altLang="zh-CN" sz="1050" b="1" dirty="0">
                <a:solidFill>
                  <a:schemeClr val="tx2"/>
                </a:solidFill>
                <a:latin typeface="微软雅黑" panose="020B0503020204020204" pitchFamily="34" charset="-122"/>
                <a:ea typeface="微软雅黑" panose="020B0503020204020204" pitchFamily="34" charset="-122"/>
              </a:rPr>
              <a:t> </a:t>
            </a:r>
            <a:r>
              <a:rPr lang="en-US" altLang="zh-CN" sz="1050" dirty="0">
                <a:solidFill>
                  <a:schemeClr val="tx2"/>
                </a:solidFill>
                <a:latin typeface="微软雅黑" panose="020B0503020204020204" pitchFamily="34" charset="-122"/>
                <a:ea typeface="微软雅黑" panose="020B0503020204020204" pitchFamily="34" charset="-122"/>
              </a:rPr>
              <a:t>(</a:t>
            </a:r>
            <a:r>
              <a:rPr lang="en-US" altLang="zh-CN" sz="1050" dirty="0" err="1">
                <a:solidFill>
                  <a:schemeClr val="tx2"/>
                </a:solidFill>
                <a:latin typeface="微软雅黑" panose="020B0503020204020204" pitchFamily="34" charset="-122"/>
                <a:ea typeface="微软雅黑" panose="020B0503020204020204" pitchFamily="34" charset="-122"/>
              </a:rPr>
              <a:t>ViT</a:t>
            </a:r>
            <a:r>
              <a:rPr lang="en-US" altLang="zh-CN" sz="1050" dirty="0">
                <a:solidFill>
                  <a:schemeClr val="tx2"/>
                </a:solidFill>
                <a:latin typeface="微软雅黑" panose="020B0503020204020204" pitchFamily="34" charset="-122"/>
                <a:ea typeface="微软雅黑" panose="020B0503020204020204" pitchFamily="34" charset="-122"/>
              </a:rPr>
              <a:t>)</a:t>
            </a:r>
            <a:r>
              <a:rPr lang="zh-CN" altLang="en-US" sz="1050" dirty="0">
                <a:solidFill>
                  <a:schemeClr val="tx2"/>
                </a:solidFill>
                <a:latin typeface="微软雅黑" panose="020B0503020204020204" pitchFamily="34" charset="-122"/>
                <a:ea typeface="微软雅黑" panose="020B0503020204020204" pitchFamily="34" charset="-122"/>
              </a:rPr>
              <a:t>，</a:t>
            </a:r>
            <a:r>
              <a:rPr lang="zh-CN" altLang="en-US" sz="1050" b="1" dirty="0">
                <a:solidFill>
                  <a:schemeClr val="tx2"/>
                </a:solidFill>
                <a:latin typeface="微软雅黑" panose="020B0503020204020204" pitchFamily="34" charset="-122"/>
                <a:ea typeface="微软雅黑" panose="020B0503020204020204" pitchFamily="34" charset="-122"/>
              </a:rPr>
              <a:t>不用卷积神经网络（</a:t>
            </a:r>
            <a:r>
              <a:rPr lang="en-US" altLang="zh-CN" sz="1050" b="1" dirty="0">
                <a:solidFill>
                  <a:schemeClr val="tx2"/>
                </a:solidFill>
                <a:latin typeface="微软雅黑" panose="020B0503020204020204" pitchFamily="34" charset="-122"/>
                <a:ea typeface="微软雅黑" panose="020B0503020204020204" pitchFamily="34" charset="-122"/>
              </a:rPr>
              <a:t>CNN</a:t>
            </a:r>
            <a:r>
              <a:rPr lang="zh-CN" altLang="en-US" sz="1050" b="1" dirty="0">
                <a:solidFill>
                  <a:schemeClr val="tx2"/>
                </a:solidFill>
                <a:latin typeface="微软雅黑" panose="020B0503020204020204" pitchFamily="34" charset="-122"/>
                <a:ea typeface="微软雅黑" panose="020B0503020204020204" pitchFamily="34" charset="-122"/>
              </a:rPr>
              <a:t>）</a:t>
            </a:r>
            <a:r>
              <a:rPr lang="zh-CN" altLang="en-US" sz="1050" dirty="0">
                <a:solidFill>
                  <a:schemeClr val="tx2"/>
                </a:solidFill>
                <a:latin typeface="微软雅黑" panose="020B0503020204020204" pitchFamily="34" charset="-122"/>
                <a:ea typeface="微软雅黑" panose="020B0503020204020204" pitchFamily="34" charset="-122"/>
              </a:rPr>
              <a:t>，可以直接用 </a:t>
            </a:r>
            <a:r>
              <a:rPr lang="en-US" altLang="zh-CN" sz="1050" dirty="0">
                <a:solidFill>
                  <a:schemeClr val="tx2"/>
                </a:solidFill>
                <a:latin typeface="微软雅黑" panose="020B0503020204020204" pitchFamily="34" charset="-122"/>
                <a:ea typeface="微软雅黑" panose="020B0503020204020204" pitchFamily="34" charset="-122"/>
              </a:rPr>
              <a:t>Transformer </a:t>
            </a:r>
            <a:r>
              <a:rPr lang="zh-CN" altLang="en-US" sz="1050" dirty="0">
                <a:solidFill>
                  <a:schemeClr val="tx2"/>
                </a:solidFill>
                <a:latin typeface="微软雅黑" panose="020B0503020204020204" pitchFamily="34" charset="-122"/>
                <a:ea typeface="微软雅黑" panose="020B0503020204020204" pitchFamily="34" charset="-122"/>
              </a:rPr>
              <a:t>对图像进行分类。</a:t>
            </a:r>
            <a:r>
              <a:rPr lang="en-US" altLang="zh-CN" sz="1050" dirty="0" err="1">
                <a:solidFill>
                  <a:schemeClr val="tx2"/>
                </a:solidFill>
                <a:latin typeface="微软雅黑" panose="020B0503020204020204" pitchFamily="34" charset="-122"/>
                <a:ea typeface="微软雅黑" panose="020B0503020204020204" pitchFamily="34" charset="-122"/>
              </a:rPr>
              <a:t>ViT</a:t>
            </a:r>
            <a:r>
              <a:rPr lang="zh-CN" altLang="en-US" sz="1050" dirty="0">
                <a:solidFill>
                  <a:schemeClr val="tx2"/>
                </a:solidFill>
                <a:latin typeface="微软雅黑" panose="020B0503020204020204" pitchFamily="34" charset="-122"/>
                <a:ea typeface="微软雅黑" panose="020B0503020204020204" pitchFamily="34" charset="-122"/>
              </a:rPr>
              <a:t>在预训练数据足够时，有超出</a:t>
            </a:r>
            <a:r>
              <a:rPr lang="en-US" altLang="zh-CN" sz="1050" dirty="0">
                <a:solidFill>
                  <a:schemeClr val="tx2"/>
                </a:solidFill>
                <a:latin typeface="微软雅黑" panose="020B0503020204020204" pitchFamily="34" charset="-122"/>
                <a:ea typeface="微软雅黑" panose="020B0503020204020204" pitchFamily="34" charset="-122"/>
              </a:rPr>
              <a:t>CNN</a:t>
            </a:r>
            <a:r>
              <a:rPr lang="zh-CN" altLang="en-US" sz="1050" dirty="0">
                <a:solidFill>
                  <a:schemeClr val="tx2"/>
                </a:solidFill>
                <a:latin typeface="微软雅黑" panose="020B0503020204020204" pitchFamily="34" charset="-122"/>
                <a:ea typeface="微软雅黑" panose="020B0503020204020204" pitchFamily="34" charset="-122"/>
              </a:rPr>
              <a:t>的表现。</a:t>
            </a:r>
          </a:p>
          <a:p>
            <a:endParaRPr lang="zh-CN" altLang="en-US" sz="1050" dirty="0">
              <a:solidFill>
                <a:schemeClr val="tx2"/>
              </a:solidFill>
              <a:latin typeface="微软雅黑" panose="020B0503020204020204" pitchFamily="34" charset="-122"/>
              <a:ea typeface="微软雅黑" panose="020B0503020204020204" pitchFamily="34" charset="-122"/>
            </a:endParaRPr>
          </a:p>
        </p:txBody>
      </p:sp>
      <p:pic>
        <p:nvPicPr>
          <p:cNvPr id="9" name="图片 8">
            <a:extLst>
              <a:ext uri="{FF2B5EF4-FFF2-40B4-BE49-F238E27FC236}">
                <a16:creationId xmlns:a16="http://schemas.microsoft.com/office/drawing/2014/main" id="{E93F0609-F88B-F052-4B37-11B4E98F2658}"/>
              </a:ext>
            </a:extLst>
          </p:cNvPr>
          <p:cNvPicPr>
            <a:picLocks noChangeAspect="1"/>
          </p:cNvPicPr>
          <p:nvPr/>
        </p:nvPicPr>
        <p:blipFill>
          <a:blip r:embed="rId4"/>
          <a:stretch>
            <a:fillRect/>
          </a:stretch>
        </p:blipFill>
        <p:spPr>
          <a:xfrm>
            <a:off x="1591753" y="2690667"/>
            <a:ext cx="3989618" cy="2598001"/>
          </a:xfrm>
          <a:prstGeom prst="rect">
            <a:avLst/>
          </a:prstGeom>
        </p:spPr>
      </p:pic>
      <p:sp>
        <p:nvSpPr>
          <p:cNvPr id="5" name="文本框 4">
            <a:extLst>
              <a:ext uri="{FF2B5EF4-FFF2-40B4-BE49-F238E27FC236}">
                <a16:creationId xmlns:a16="http://schemas.microsoft.com/office/drawing/2014/main" id="{DC7A143C-0A1C-2510-E477-03D4066ECAD0}"/>
              </a:ext>
            </a:extLst>
          </p:cNvPr>
          <p:cNvSpPr txBox="1"/>
          <p:nvPr/>
        </p:nvSpPr>
        <p:spPr>
          <a:xfrm>
            <a:off x="6777599" y="5560035"/>
            <a:ext cx="5108546" cy="461665"/>
          </a:xfrm>
          <a:prstGeom prst="rect">
            <a:avLst/>
          </a:prstGeom>
          <a:noFill/>
        </p:spPr>
        <p:txBody>
          <a:bodyPr wrap="square">
            <a:spAutoFit/>
          </a:bodyPr>
          <a:lstStyle/>
          <a:p>
            <a:r>
              <a:rPr lang="en-US" altLang="zh-CN" sz="2400" b="1" dirty="0">
                <a:latin typeface="微软雅黑" panose="020B0503020204020204" pitchFamily="34" charset="-122"/>
                <a:ea typeface="微软雅黑" panose="020B0503020204020204" pitchFamily="34" charset="-122"/>
                <a:cs typeface="+mj-cs"/>
              </a:rPr>
              <a:t>An image is worth 16x16 words</a:t>
            </a:r>
            <a:r>
              <a:rPr lang="zh-CN" altLang="en-US" sz="2400" b="1" dirty="0">
                <a:latin typeface="微软雅黑" panose="020B0503020204020204" pitchFamily="34" charset="-122"/>
                <a:ea typeface="微软雅黑" panose="020B0503020204020204" pitchFamily="34" charset="-122"/>
                <a:cs typeface="+mj-cs"/>
              </a:rPr>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Transformer</a:t>
            </a:r>
            <a:r>
              <a:rPr lang="zh-CN" altLang="en-US" dirty="0"/>
              <a:t>：从 </a:t>
            </a:r>
            <a:r>
              <a:rPr lang="en-US" altLang="zh-CN" dirty="0"/>
              <a:t>NLP </a:t>
            </a:r>
            <a:r>
              <a:rPr lang="zh-CN" altLang="en-US" dirty="0"/>
              <a:t>到蛋白质结构预测</a:t>
            </a:r>
          </a:p>
        </p:txBody>
      </p:sp>
      <p:grpSp>
        <p:nvGrpSpPr>
          <p:cNvPr id="9" name="组合 8">
            <a:extLst>
              <a:ext uri="{FF2B5EF4-FFF2-40B4-BE49-F238E27FC236}">
                <a16:creationId xmlns:a16="http://schemas.microsoft.com/office/drawing/2014/main" id="{9BDF341B-D9EA-AA7D-638C-52D7DA9796AF}"/>
              </a:ext>
            </a:extLst>
          </p:cNvPr>
          <p:cNvGrpSpPr/>
          <p:nvPr/>
        </p:nvGrpSpPr>
        <p:grpSpPr>
          <a:xfrm>
            <a:off x="7166517" y="1408964"/>
            <a:ext cx="4732456" cy="2932930"/>
            <a:chOff x="3201878" y="1090306"/>
            <a:chExt cx="7835488" cy="4468090"/>
          </a:xfrm>
        </p:grpSpPr>
        <p:pic>
          <p:nvPicPr>
            <p:cNvPr id="2" name="图片 1"/>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3201878" y="3408459"/>
              <a:ext cx="7835488" cy="2149937"/>
            </a:xfrm>
            <a:prstGeom prst="rect">
              <a:avLst/>
            </a:prstGeom>
          </p:spPr>
        </p:pic>
        <p:sp>
          <p:nvSpPr>
            <p:cNvPr id="4" name="矩形 3"/>
            <p:cNvSpPr/>
            <p:nvPr/>
          </p:nvSpPr>
          <p:spPr>
            <a:xfrm>
              <a:off x="4100404" y="3596592"/>
              <a:ext cx="656706" cy="843743"/>
            </a:xfrm>
            <a:prstGeom prst="rect">
              <a:avLst/>
            </a:prstGeom>
            <a:noFill/>
            <a:ln w="25400" cmpd="sng">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3231724" y="1090306"/>
              <a:ext cx="5756564" cy="2098964"/>
            </a:xfrm>
            <a:prstGeom prst="rect">
              <a:avLst/>
            </a:prstGeom>
            <a:noFill/>
            <a:ln w="25400" cmpd="sng">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3263475" y="1110891"/>
              <a:ext cx="5595966" cy="2057794"/>
            </a:xfrm>
            <a:prstGeom prst="rect">
              <a:avLst/>
            </a:prstGeom>
          </p:spPr>
        </p:pic>
        <p:cxnSp>
          <p:nvCxnSpPr>
            <p:cNvPr id="8" name="直接连接符 7"/>
            <p:cNvCxnSpPr/>
            <p:nvPr/>
          </p:nvCxnSpPr>
          <p:spPr>
            <a:xfrm flipH="1" flipV="1">
              <a:off x="3231724" y="3189270"/>
              <a:ext cx="868680" cy="403364"/>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V="1">
              <a:off x="4757110" y="3189270"/>
              <a:ext cx="4189614" cy="403364"/>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3" name="文本框 12"/>
          <p:cNvSpPr txBox="1"/>
          <p:nvPr/>
        </p:nvSpPr>
        <p:spPr>
          <a:xfrm>
            <a:off x="126998" y="6351998"/>
            <a:ext cx="10665179" cy="376834"/>
          </a:xfrm>
          <a:prstGeom prst="rect">
            <a:avLst/>
          </a:prstGeom>
          <a:noFill/>
        </p:spPr>
        <p:txBody>
          <a:bodyPr wrap="square" rtlCol="0">
            <a:spAutoFit/>
          </a:bodyPr>
          <a:lstStyle/>
          <a:p>
            <a:pPr algn="l">
              <a:lnSpc>
                <a:spcPct val="150000"/>
              </a:lnSpc>
            </a:pP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Jumper J, Evans R, </a:t>
            </a:r>
            <a:r>
              <a:rPr lang="en-US" altLang="zh-CN" sz="1400"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Pritzel</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A, et al. Highly accurate protein structure prediction with AlphaFold[J]. Nature, 2021, 596(7873): 583-589.</a:t>
            </a:r>
          </a:p>
        </p:txBody>
      </p:sp>
      <p:sp>
        <p:nvSpPr>
          <p:cNvPr id="7" name="文本框 6">
            <a:extLst>
              <a:ext uri="{FF2B5EF4-FFF2-40B4-BE49-F238E27FC236}">
                <a16:creationId xmlns:a16="http://schemas.microsoft.com/office/drawing/2014/main" id="{5D694974-E81F-63BB-A472-7F6F1E05D0F0}"/>
              </a:ext>
            </a:extLst>
          </p:cNvPr>
          <p:cNvSpPr txBox="1"/>
          <p:nvPr/>
        </p:nvSpPr>
        <p:spPr>
          <a:xfrm>
            <a:off x="381000" y="1012121"/>
            <a:ext cx="6554095" cy="4336893"/>
          </a:xfrm>
          <a:prstGeom prst="rect">
            <a:avLst/>
          </a:prstGeom>
          <a:noFill/>
        </p:spPr>
        <p:txBody>
          <a:bodyPr wrap="square" rtlCol="0">
            <a:spAutoFit/>
          </a:bodyPr>
          <a:lstStyle/>
          <a:p>
            <a:pPr>
              <a:lnSpc>
                <a:spcPct val="150000"/>
              </a:lnSpc>
            </a:pPr>
            <a:r>
              <a:rPr lang="zh-CN" altLang="en-US" sz="2400" b="1" dirty="0">
                <a:solidFill>
                  <a:schemeClr val="tx2"/>
                </a:solidFill>
                <a:latin typeface="微软雅黑" panose="020B0503020204020204" pitchFamily="34" charset="-122"/>
                <a:ea typeface="微软雅黑" panose="020B0503020204020204" pitchFamily="34" charset="-122"/>
              </a:rPr>
              <a:t>蛋白质 “</a:t>
            </a:r>
            <a:r>
              <a:rPr lang="en-US" altLang="zh-CN" sz="2400" b="1" dirty="0">
                <a:solidFill>
                  <a:schemeClr val="tx2"/>
                </a:solidFill>
                <a:latin typeface="微软雅黑" panose="020B0503020204020204" pitchFamily="34" charset="-122"/>
                <a:ea typeface="微软雅黑" panose="020B0503020204020204" pitchFamily="34" charset="-122"/>
              </a:rPr>
              <a:t>=</a:t>
            </a:r>
            <a:r>
              <a:rPr lang="zh-CN" altLang="en-US" sz="2400" b="1" dirty="0">
                <a:solidFill>
                  <a:schemeClr val="tx2"/>
                </a:solidFill>
                <a:latin typeface="微软雅黑" panose="020B0503020204020204" pitchFamily="34" charset="-122"/>
                <a:ea typeface="微软雅黑" panose="020B0503020204020204" pitchFamily="34" charset="-122"/>
              </a:rPr>
              <a:t>”词？</a:t>
            </a:r>
            <a:endParaRPr lang="en-US" altLang="zh-CN" sz="2400" b="1" dirty="0">
              <a:solidFill>
                <a:schemeClr val="tx2"/>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r>
              <a:rPr lang="en-US" altLang="zh-CN" dirty="0">
                <a:solidFill>
                  <a:schemeClr val="tx2"/>
                </a:solidFill>
                <a:latin typeface="微软雅黑" panose="020B0503020204020204" pitchFamily="34" charset="-122"/>
                <a:ea typeface="微软雅黑" panose="020B0503020204020204" pitchFamily="34" charset="-122"/>
              </a:rPr>
              <a:t>AlphaFold </a:t>
            </a:r>
            <a:r>
              <a:rPr lang="zh-CN" altLang="en-US" dirty="0">
                <a:solidFill>
                  <a:schemeClr val="tx2"/>
                </a:solidFill>
                <a:latin typeface="微软雅黑" panose="020B0503020204020204" pitchFamily="34" charset="-122"/>
                <a:ea typeface="微软雅黑" panose="020B0503020204020204" pitchFamily="34" charset="-122"/>
              </a:rPr>
              <a:t>利用深度学习和</a:t>
            </a:r>
            <a:r>
              <a:rPr lang="en-US" altLang="zh-CN" dirty="0">
                <a:solidFill>
                  <a:schemeClr val="tx2"/>
                </a:solidFill>
                <a:latin typeface="微软雅黑" panose="020B0503020204020204" pitchFamily="34" charset="-122"/>
                <a:ea typeface="微软雅黑" panose="020B0503020204020204" pitchFamily="34" charset="-122"/>
              </a:rPr>
              <a:t>Transformer</a:t>
            </a:r>
            <a:r>
              <a:rPr lang="zh-CN" altLang="en-US" dirty="0">
                <a:solidFill>
                  <a:schemeClr val="tx2"/>
                </a:solidFill>
                <a:latin typeface="微软雅黑" panose="020B0503020204020204" pitchFamily="34" charset="-122"/>
                <a:ea typeface="微软雅黑" panose="020B0503020204020204" pitchFamily="34" charset="-122"/>
              </a:rPr>
              <a:t>架构，整合氨基酸序列信息及蛋白质结构数据库知识，预测蛋白质结构。</a:t>
            </a:r>
            <a:endParaRPr lang="en-US" altLang="zh-CN" dirty="0">
              <a:solidFill>
                <a:schemeClr val="tx2"/>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r>
              <a:rPr lang="zh-CN" altLang="en-US" dirty="0">
                <a:solidFill>
                  <a:schemeClr val="tx2"/>
                </a:solidFill>
                <a:latin typeface="微软雅黑" panose="020B0503020204020204" pitchFamily="34" charset="-122"/>
                <a:ea typeface="微软雅黑" panose="020B0503020204020204" pitchFamily="34" charset="-122"/>
              </a:rPr>
              <a:t>数据库如同 “语境”，帮助模型理解氨基酸间相互作用及折叠规律。</a:t>
            </a:r>
            <a:endParaRPr lang="en-US" altLang="zh-CN" dirty="0">
              <a:solidFill>
                <a:schemeClr val="tx2"/>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pitchFamily="2" charset="2"/>
              <a:buChar char="p"/>
            </a:pPr>
            <a:endParaRPr lang="en-US" altLang="zh-CN" dirty="0">
              <a:solidFill>
                <a:schemeClr val="tx2"/>
              </a:solidFill>
              <a:latin typeface="微软雅黑" panose="020B0503020204020204" pitchFamily="34" charset="-122"/>
              <a:ea typeface="微软雅黑" panose="020B0503020204020204" pitchFamily="34" charset="-122"/>
            </a:endParaRPr>
          </a:p>
          <a:p>
            <a:pPr>
              <a:lnSpc>
                <a:spcPct val="150000"/>
              </a:lnSpc>
            </a:pPr>
            <a:r>
              <a:rPr lang="en-US" altLang="zh-CN" sz="1600" b="0" i="0" dirty="0">
                <a:solidFill>
                  <a:schemeClr val="tx2"/>
                </a:solidFill>
                <a:effectLst/>
                <a:latin typeface="微软雅黑" panose="020B0503020204020204" pitchFamily="34" charset="-122"/>
                <a:ea typeface="微软雅黑" panose="020B0503020204020204" pitchFamily="34" charset="-122"/>
              </a:rPr>
              <a:t>AlphaFold </a:t>
            </a:r>
            <a:r>
              <a:rPr lang="zh-CN" altLang="en-US" sz="1600" b="0" i="0" dirty="0">
                <a:solidFill>
                  <a:schemeClr val="tx2"/>
                </a:solidFill>
                <a:effectLst/>
                <a:latin typeface="微软雅黑" panose="020B0503020204020204" pitchFamily="34" charset="-122"/>
                <a:ea typeface="微软雅黑" panose="020B0503020204020204" pitchFamily="34" charset="-122"/>
              </a:rPr>
              <a:t>由</a:t>
            </a:r>
            <a:r>
              <a:rPr lang="en-US" altLang="zh-CN" sz="1600" b="0" i="0" dirty="0">
                <a:solidFill>
                  <a:schemeClr val="tx2"/>
                </a:solidFill>
                <a:effectLst/>
                <a:latin typeface="微软雅黑" panose="020B0503020204020204" pitchFamily="34" charset="-122"/>
                <a:ea typeface="微软雅黑" panose="020B0503020204020204" pitchFamily="34" charset="-122"/>
              </a:rPr>
              <a:t>DeepMind </a:t>
            </a:r>
            <a:r>
              <a:rPr lang="zh-CN" altLang="en-US" sz="1600" b="0" i="0" dirty="0">
                <a:solidFill>
                  <a:schemeClr val="tx2"/>
                </a:solidFill>
                <a:effectLst/>
                <a:latin typeface="微软雅黑" panose="020B0503020204020204" pitchFamily="34" charset="-122"/>
                <a:ea typeface="微软雅黑" panose="020B0503020204020204" pitchFamily="34" charset="-122"/>
              </a:rPr>
              <a:t>研发。在“蛋白质结构预测奥运会” </a:t>
            </a:r>
            <a:r>
              <a:rPr lang="en-US" altLang="zh-CN" sz="1600" b="0" i="0" dirty="0">
                <a:solidFill>
                  <a:schemeClr val="tx2"/>
                </a:solidFill>
                <a:effectLst/>
                <a:latin typeface="微软雅黑" panose="020B0503020204020204" pitchFamily="34" charset="-122"/>
                <a:ea typeface="微软雅黑" panose="020B0503020204020204" pitchFamily="34" charset="-122"/>
              </a:rPr>
              <a:t>CASP </a:t>
            </a:r>
            <a:r>
              <a:rPr lang="zh-CN" altLang="en-US" sz="1600" b="0" i="0" dirty="0">
                <a:solidFill>
                  <a:schemeClr val="tx2"/>
                </a:solidFill>
                <a:effectLst/>
                <a:latin typeface="微软雅黑" panose="020B0503020204020204" pitchFamily="34" charset="-122"/>
                <a:ea typeface="微软雅黑" panose="020B0503020204020204" pitchFamily="34" charset="-122"/>
              </a:rPr>
              <a:t>比赛中，</a:t>
            </a:r>
            <a:r>
              <a:rPr lang="en-US" altLang="zh-CN" sz="1600" b="0" i="0" dirty="0">
                <a:solidFill>
                  <a:schemeClr val="tx2"/>
                </a:solidFill>
                <a:effectLst/>
                <a:latin typeface="微软雅黑" panose="020B0503020204020204" pitchFamily="34" charset="-122"/>
                <a:ea typeface="微软雅黑" panose="020B0503020204020204" pitchFamily="34" charset="-122"/>
              </a:rPr>
              <a:t>AlphaFold </a:t>
            </a:r>
            <a:r>
              <a:rPr lang="zh-CN" altLang="en-US" sz="1600" b="0" i="0" dirty="0">
                <a:solidFill>
                  <a:schemeClr val="tx2"/>
                </a:solidFill>
                <a:effectLst/>
                <a:latin typeface="微软雅黑" panose="020B0503020204020204" pitchFamily="34" charset="-122"/>
                <a:ea typeface="微软雅黑" panose="020B0503020204020204" pitchFamily="34" charset="-122"/>
              </a:rPr>
              <a:t>预测出 </a:t>
            </a:r>
            <a:r>
              <a:rPr lang="en-US" altLang="zh-CN" sz="1600" b="0" i="0" dirty="0">
                <a:solidFill>
                  <a:schemeClr val="tx2"/>
                </a:solidFill>
                <a:effectLst/>
                <a:latin typeface="微软雅黑" panose="020B0503020204020204" pitchFamily="34" charset="-122"/>
                <a:ea typeface="微软雅黑" panose="020B0503020204020204" pitchFamily="34" charset="-122"/>
              </a:rPr>
              <a:t>43 </a:t>
            </a:r>
            <a:r>
              <a:rPr lang="zh-CN" altLang="en-US" sz="1600" b="0" i="0" dirty="0">
                <a:solidFill>
                  <a:schemeClr val="tx2"/>
                </a:solidFill>
                <a:effectLst/>
                <a:latin typeface="微软雅黑" panose="020B0503020204020204" pitchFamily="34" charset="-122"/>
                <a:ea typeface="微软雅黑" panose="020B0503020204020204" pitchFamily="34" charset="-122"/>
              </a:rPr>
              <a:t>种蛋白质中 </a:t>
            </a:r>
            <a:r>
              <a:rPr lang="en-US" altLang="zh-CN" sz="1600" b="0" i="0" dirty="0">
                <a:solidFill>
                  <a:schemeClr val="tx2"/>
                </a:solidFill>
                <a:effectLst/>
                <a:latin typeface="微软雅黑" panose="020B0503020204020204" pitchFamily="34" charset="-122"/>
                <a:ea typeface="微软雅黑" panose="020B0503020204020204" pitchFamily="34" charset="-122"/>
              </a:rPr>
              <a:t>25 </a:t>
            </a:r>
            <a:r>
              <a:rPr lang="zh-CN" altLang="en-US" sz="1600" b="0" i="0" dirty="0">
                <a:solidFill>
                  <a:schemeClr val="tx2"/>
                </a:solidFill>
                <a:effectLst/>
                <a:latin typeface="微软雅黑" panose="020B0503020204020204" pitchFamily="34" charset="-122"/>
                <a:ea typeface="微软雅黑" panose="020B0503020204020204" pitchFamily="34" charset="-122"/>
              </a:rPr>
              <a:t>种蛋白质的最精确结构，而第二名仅预测出 </a:t>
            </a:r>
            <a:r>
              <a:rPr lang="en-US" altLang="zh-CN" sz="1600" b="0" i="0" dirty="0">
                <a:solidFill>
                  <a:schemeClr val="tx2"/>
                </a:solidFill>
                <a:effectLst/>
                <a:latin typeface="微软雅黑" panose="020B0503020204020204" pitchFamily="34" charset="-122"/>
                <a:ea typeface="微软雅黑" panose="020B0503020204020204" pitchFamily="34" charset="-122"/>
              </a:rPr>
              <a:t>3 </a:t>
            </a:r>
            <a:r>
              <a:rPr lang="zh-CN" altLang="en-US" sz="1600" b="0" i="0" dirty="0">
                <a:solidFill>
                  <a:schemeClr val="tx2"/>
                </a:solidFill>
                <a:effectLst/>
                <a:latin typeface="微软雅黑" panose="020B0503020204020204" pitchFamily="34" charset="-122"/>
                <a:ea typeface="微软雅黑" panose="020B0503020204020204" pitchFamily="34" charset="-122"/>
              </a:rPr>
              <a:t>种。</a:t>
            </a:r>
            <a:endParaRPr lang="zh-CN" altLang="en-US" sz="1600" dirty="0">
              <a:solidFill>
                <a:schemeClr val="tx2"/>
              </a:solidFill>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2E98FE73-7815-8695-6833-D9606D5B5E9A}"/>
              </a:ext>
            </a:extLst>
          </p:cNvPr>
          <p:cNvSpPr txBox="1"/>
          <p:nvPr/>
        </p:nvSpPr>
        <p:spPr>
          <a:xfrm>
            <a:off x="7244560" y="4610964"/>
            <a:ext cx="4626942" cy="253916"/>
          </a:xfrm>
          <a:prstGeom prst="rect">
            <a:avLst/>
          </a:prstGeom>
          <a:noFill/>
        </p:spPr>
        <p:txBody>
          <a:bodyPr wrap="square" rtlCol="0">
            <a:spAutoFit/>
          </a:bodyPr>
          <a:lstStyle/>
          <a:p>
            <a:pPr algn="ctr"/>
            <a:r>
              <a:rPr lang="en-US" altLang="zh-CN" sz="1050" dirty="0">
                <a:solidFill>
                  <a:schemeClr val="tx2"/>
                </a:solidFill>
                <a:latin typeface="微软雅黑" panose="020B0503020204020204" pitchFamily="34" charset="-122"/>
                <a:ea typeface="微软雅黑" panose="020B0503020204020204" pitchFamily="34" charset="-122"/>
              </a:rPr>
              <a:t>AlphaFold</a:t>
            </a:r>
            <a:r>
              <a:rPr lang="zh-CN" altLang="en-US" sz="1050" dirty="0">
                <a:solidFill>
                  <a:schemeClr val="tx2"/>
                </a:solidFill>
                <a:latin typeface="微软雅黑" panose="020B0503020204020204" pitchFamily="34" charset="-122"/>
                <a:ea typeface="微软雅黑" panose="020B0503020204020204" pitchFamily="34" charset="-122"/>
              </a:rPr>
              <a:t>框架中的</a:t>
            </a:r>
            <a:r>
              <a:rPr lang="en-US" altLang="zh-CN" sz="1050" dirty="0">
                <a:solidFill>
                  <a:schemeClr val="tx2"/>
                </a:solidFill>
                <a:latin typeface="微软雅黑" panose="020B0503020204020204" pitchFamily="34" charset="-122"/>
                <a:ea typeface="微软雅黑" panose="020B0503020204020204" pitchFamily="34" charset="-122"/>
              </a:rPr>
              <a:t>Attention</a:t>
            </a:r>
            <a:endParaRPr lang="zh-CN" altLang="en-US" sz="1050" dirty="0">
              <a:solidFill>
                <a:schemeClr val="tx2"/>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“万能“</a:t>
            </a:r>
            <a:r>
              <a:rPr lang="en-US" altLang="zh-CN" dirty="0"/>
              <a:t>Transformer</a:t>
            </a:r>
            <a:endParaRPr lang="zh-CN" altLang="en-US" dirty="0"/>
          </a:p>
        </p:txBody>
      </p:sp>
      <p:pic>
        <p:nvPicPr>
          <p:cNvPr id="3074" name="Picture 2" descr="Transformer models: an introduction and catalog — 2023 Edition - AI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1421" y="1882833"/>
            <a:ext cx="7809157" cy="3785611"/>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p:cNvSpPr txBox="1"/>
          <p:nvPr/>
        </p:nvSpPr>
        <p:spPr>
          <a:xfrm>
            <a:off x="4859829" y="5720690"/>
            <a:ext cx="2563436" cy="307777"/>
          </a:xfrm>
          <a:prstGeom prst="rect">
            <a:avLst/>
          </a:prstGeom>
          <a:noFill/>
        </p:spPr>
        <p:txBody>
          <a:bodyPr wrap="square">
            <a:spAutoFit/>
          </a:bodyPr>
          <a:lstStyle/>
          <a:p>
            <a:r>
              <a:rPr lang="zh-CN" altLang="en-US" sz="1400" b="0" i="0" dirty="0">
                <a:solidFill>
                  <a:srgbClr val="424242"/>
                </a:solidFill>
                <a:effectLst/>
                <a:latin typeface="微软雅黑" panose="020B0503020204020204" pitchFamily="34" charset="-122"/>
                <a:ea typeface="微软雅黑" panose="020B0503020204020204" pitchFamily="34" charset="-122"/>
              </a:rPr>
              <a:t>基于 </a:t>
            </a:r>
            <a:r>
              <a:rPr lang="en-US" altLang="zh-CN" sz="1400" b="0" i="0" dirty="0">
                <a:solidFill>
                  <a:srgbClr val="424242"/>
                </a:solidFill>
                <a:effectLst/>
                <a:latin typeface="微软雅黑" panose="020B0503020204020204" pitchFamily="34" charset="-122"/>
                <a:ea typeface="微软雅黑" panose="020B0503020204020204" pitchFamily="34" charset="-122"/>
              </a:rPr>
              <a:t>Transformer </a:t>
            </a:r>
            <a:r>
              <a:rPr lang="zh-CN" altLang="en-US" sz="1400" b="0" i="0" dirty="0">
                <a:solidFill>
                  <a:srgbClr val="424242"/>
                </a:solidFill>
                <a:effectLst/>
                <a:latin typeface="微软雅黑" panose="020B0503020204020204" pitchFamily="34" charset="-122"/>
                <a:ea typeface="微软雅黑" panose="020B0503020204020204" pitchFamily="34" charset="-122"/>
              </a:rPr>
              <a:t>诞生的模型</a:t>
            </a:r>
            <a:endParaRPr lang="zh-CN" altLang="en-US" sz="1400" dirty="0"/>
          </a:p>
        </p:txBody>
      </p:sp>
      <p:sp>
        <p:nvSpPr>
          <p:cNvPr id="13" name="文本框 12"/>
          <p:cNvSpPr txBox="1"/>
          <p:nvPr/>
        </p:nvSpPr>
        <p:spPr>
          <a:xfrm>
            <a:off x="647526" y="991129"/>
            <a:ext cx="10896945" cy="662554"/>
          </a:xfrm>
          <a:prstGeom prst="rect">
            <a:avLst/>
          </a:prstGeom>
          <a:noFill/>
        </p:spPr>
        <p:txBody>
          <a:bodyPr wrap="square">
            <a:spAutoFit/>
          </a:bodyPr>
          <a:lstStyle/>
          <a:p>
            <a:pPr algn="ctr">
              <a:lnSpc>
                <a:spcPct val="150000"/>
              </a:lnSpc>
            </a:pPr>
            <a:r>
              <a:rPr lang="zh-CN" altLang="en-US" sz="2800" b="1" dirty="0">
                <a:solidFill>
                  <a:schemeClr val="tx2"/>
                </a:solidFill>
                <a:latin typeface="微软雅黑" panose="020B0503020204020204" pitchFamily="34" charset="-122"/>
                <a:ea typeface="微软雅黑" panose="020B0503020204020204" pitchFamily="34" charset="-122"/>
              </a:rPr>
              <a:t>？ “</a:t>
            </a:r>
            <a:r>
              <a:rPr lang="en-US" altLang="zh-CN" sz="2800" b="1" dirty="0">
                <a:solidFill>
                  <a:schemeClr val="tx2"/>
                </a:solidFill>
                <a:latin typeface="微软雅黑" panose="020B0503020204020204" pitchFamily="34" charset="-122"/>
                <a:ea typeface="微软雅黑" panose="020B0503020204020204" pitchFamily="34" charset="-122"/>
              </a:rPr>
              <a:t>=</a:t>
            </a:r>
            <a:r>
              <a:rPr lang="zh-CN" altLang="en-US" sz="2800" b="1" dirty="0">
                <a:solidFill>
                  <a:schemeClr val="tx2"/>
                </a:solidFill>
                <a:latin typeface="微软雅黑" panose="020B0503020204020204" pitchFamily="34" charset="-122"/>
                <a:ea typeface="微软雅黑" panose="020B0503020204020204" pitchFamily="34" charset="-122"/>
              </a:rPr>
              <a:t>”词</a:t>
            </a:r>
            <a:endParaRPr lang="en-US" altLang="zh-CN" sz="2800" b="1" dirty="0">
              <a:solidFill>
                <a:schemeClr val="tx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26998" y="6351998"/>
            <a:ext cx="10665179" cy="377283"/>
          </a:xfrm>
          <a:prstGeom prst="rect">
            <a:avLst/>
          </a:prstGeom>
          <a:noFill/>
        </p:spPr>
        <p:txBody>
          <a:bodyPr wrap="square" rtlCol="0">
            <a:spAutoFit/>
          </a:bodyPr>
          <a:lstStyle/>
          <a:p>
            <a:pPr algn="l">
              <a:lnSpc>
                <a:spcPct val="150000"/>
              </a:lnSpc>
            </a:pP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“Transformer models: an introduction and catalog.” ,</a:t>
            </a:r>
            <a:r>
              <a:rPr lang="zh-CN" altLang="en-US"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https://amatria.in/blog/transformer-models-an-introduction-and-catalog-2d1e9039f376/.</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3802B-2E03-40B7-B83B-7E0E5426062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00114A7-2D2D-D5DF-C672-145F28C09F83}"/>
              </a:ext>
            </a:extLst>
          </p:cNvPr>
          <p:cNvSpPr>
            <a:spLocks noGrp="1"/>
          </p:cNvSpPr>
          <p:nvPr>
            <p:ph type="title"/>
          </p:nvPr>
        </p:nvSpPr>
        <p:spPr>
          <a:xfrm>
            <a:off x="381242" y="2844289"/>
            <a:ext cx="11429516" cy="761979"/>
          </a:xfrm>
        </p:spPr>
        <p:txBody>
          <a:bodyPr/>
          <a:lstStyle/>
          <a:p>
            <a:pPr algn="ctr"/>
            <a:r>
              <a:rPr lang="zh-CN" altLang="en-US" dirty="0"/>
              <a:t>实验</a:t>
            </a:r>
          </a:p>
        </p:txBody>
      </p:sp>
    </p:spTree>
    <p:extLst>
      <p:ext uri="{BB962C8B-B14F-4D97-AF65-F5344CB8AC3E}">
        <p14:creationId xmlns:p14="http://schemas.microsoft.com/office/powerpoint/2010/main" val="35920197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Kaggle</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介绍</a:t>
            </a:r>
          </a:p>
        </p:txBody>
      </p:sp>
      <p:sp>
        <p:nvSpPr>
          <p:cNvPr id="2" name="文本框 1">
            <a:extLst>
              <a:ext uri="{FF2B5EF4-FFF2-40B4-BE49-F238E27FC236}">
                <a16:creationId xmlns:a16="http://schemas.microsoft.com/office/drawing/2014/main" id="{6B0038AF-3566-B855-CAEC-443AE6297839}"/>
              </a:ext>
            </a:extLst>
          </p:cNvPr>
          <p:cNvSpPr txBox="1"/>
          <p:nvPr/>
        </p:nvSpPr>
        <p:spPr>
          <a:xfrm>
            <a:off x="380999" y="1012121"/>
            <a:ext cx="11049001" cy="3269613"/>
          </a:xfrm>
          <a:prstGeom prst="rect">
            <a:avLst/>
          </a:prstGeom>
          <a:noFill/>
        </p:spPr>
        <p:txBody>
          <a:bodyPr wrap="square" rtlCol="0">
            <a:spAutoFit/>
          </a:bodyPr>
          <a:lstStyle/>
          <a:p>
            <a:pPr indent="0" fontAlgn="auto">
              <a:lnSpc>
                <a:spcPct val="150000"/>
              </a:lnSpc>
            </a:pPr>
            <a:r>
              <a:rPr lang="en-US" altLang="zh-CN" sz="2000" dirty="0">
                <a:solidFill>
                  <a:schemeClr val="tx2"/>
                </a:solidFill>
                <a:latin typeface="微软雅黑" panose="020B0503020204020204" pitchFamily="34" charset="-122"/>
                <a:ea typeface="微软雅黑" panose="020B0503020204020204" pitchFamily="34" charset="-122"/>
              </a:rPr>
              <a:t>Kaggle </a:t>
            </a:r>
            <a:r>
              <a:rPr lang="zh-CN" altLang="en-US" sz="2000" dirty="0">
                <a:solidFill>
                  <a:schemeClr val="tx2"/>
                </a:solidFill>
                <a:latin typeface="微软雅黑" panose="020B0503020204020204" pitchFamily="34" charset="-122"/>
                <a:ea typeface="微软雅黑" panose="020B0503020204020204" pitchFamily="34" charset="-122"/>
              </a:rPr>
              <a:t>平台为数据科学家、机器学习工程师和学生提供了一个展现和提升技能的大舞台，通过参与各类数据建模和机器学习的竞赛，他们可以与全球各地的参赛者一决高下。这些竞赛涵盖多个领域，包括表格数据、计算机视觉、自然语言处理、语音处理和生物医学等。这些竞赛通常由各大企业和研究机构赞助，提出具体的数据问题，参赛者则需要开发出模型来解决这些问题。这些竞赛不仅推动了数据科学领域的研究，还为企业寻找创新解决方案提供了机会。</a:t>
            </a:r>
            <a:endParaRPr lang="en-US" altLang="zh-CN" sz="2000" dirty="0">
              <a:solidFill>
                <a:schemeClr val="tx2"/>
              </a:solidFill>
              <a:latin typeface="微软雅黑" panose="020B0503020204020204" pitchFamily="34" charset="-122"/>
              <a:ea typeface="微软雅黑" panose="020B0503020204020204" pitchFamily="34" charset="-122"/>
            </a:endParaRPr>
          </a:p>
          <a:p>
            <a:pPr indent="0" fontAlgn="auto">
              <a:lnSpc>
                <a:spcPct val="150000"/>
              </a:lnSpc>
            </a:pPr>
            <a:endParaRPr lang="en-US" altLang="zh-CN" sz="2000" b="1" dirty="0">
              <a:solidFill>
                <a:schemeClr val="tx2"/>
              </a:solidFill>
              <a:latin typeface="微软雅黑" panose="020B0503020204020204" pitchFamily="34" charset="-122"/>
              <a:ea typeface="微软雅黑" panose="020B0503020204020204" pitchFamily="34" charset="-122"/>
            </a:endParaRPr>
          </a:p>
          <a:p>
            <a:pPr indent="0" fontAlgn="auto">
              <a:lnSpc>
                <a:spcPct val="150000"/>
              </a:lnSpc>
            </a:pPr>
            <a:r>
              <a:rPr lang="zh-CN" altLang="en-US" sz="2000" b="1" dirty="0">
                <a:solidFill>
                  <a:schemeClr val="tx2"/>
                </a:solidFill>
                <a:latin typeface="微软雅黑" panose="020B0503020204020204" pitchFamily="34" charset="-122"/>
                <a:ea typeface="微软雅黑" panose="020B0503020204020204" pitchFamily="34" charset="-122"/>
              </a:rPr>
              <a:t>本节课程的后半部分 ，我们将发布关于训练分类器和生成式模型两项内容的竞赛。</a:t>
            </a:r>
            <a:endParaRPr lang="en-US" altLang="zh-CN"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133651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Kaggle</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注册</a:t>
            </a:r>
          </a:p>
        </p:txBody>
      </p:sp>
      <p:sp>
        <p:nvSpPr>
          <p:cNvPr id="2" name="文本框 1">
            <a:extLst>
              <a:ext uri="{FF2B5EF4-FFF2-40B4-BE49-F238E27FC236}">
                <a16:creationId xmlns:a16="http://schemas.microsoft.com/office/drawing/2014/main" id="{BBFEC3C2-DAD2-9870-3CCC-6503459E1F72}"/>
              </a:ext>
            </a:extLst>
          </p:cNvPr>
          <p:cNvSpPr txBox="1"/>
          <p:nvPr/>
        </p:nvSpPr>
        <p:spPr>
          <a:xfrm>
            <a:off x="380999" y="1012121"/>
            <a:ext cx="11255830" cy="5123197"/>
          </a:xfrm>
          <a:prstGeom prst="rect">
            <a:avLst/>
          </a:prstGeom>
          <a:noFill/>
        </p:spPr>
        <p:txBody>
          <a:bodyPr wrap="square" rtlCol="0">
            <a:spAutoFit/>
          </a:bodyPr>
          <a:lstStyle/>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打开 </a:t>
            </a:r>
            <a:r>
              <a:rPr lang="en-US" altLang="zh-CN" sz="2000" dirty="0">
                <a:solidFill>
                  <a:schemeClr val="tx2"/>
                </a:solidFill>
                <a:latin typeface="微软雅黑" panose="020B0503020204020204" pitchFamily="34" charset="-122"/>
                <a:ea typeface="微软雅黑" panose="020B0503020204020204" pitchFamily="34" charset="-122"/>
                <a:hlinkClick r:id="rId2"/>
              </a:rPr>
              <a:t>www.kaggle.com</a:t>
            </a:r>
            <a:r>
              <a:rPr lang="zh-CN" altLang="en-US" sz="2000" dirty="0">
                <a:solidFill>
                  <a:schemeClr val="tx2"/>
                </a:solidFill>
                <a:latin typeface="微软雅黑" panose="020B0503020204020204" pitchFamily="34" charset="-122"/>
                <a:ea typeface="微软雅黑" panose="020B0503020204020204" pitchFamily="34" charset="-122"/>
              </a:rPr>
              <a:t>，点击网页的右上角的  </a:t>
            </a:r>
            <a:r>
              <a:rPr lang="en-US" altLang="zh-CN" sz="2000" dirty="0">
                <a:solidFill>
                  <a:schemeClr val="tx2"/>
                </a:solidFill>
                <a:latin typeface="微软雅黑" panose="020B0503020204020204" pitchFamily="34" charset="-122"/>
                <a:ea typeface="微软雅黑" panose="020B0503020204020204" pitchFamily="34" charset="-122"/>
              </a:rPr>
              <a:t>Register</a:t>
            </a:r>
            <a:r>
              <a:rPr lang="zh-CN" altLang="en-US" sz="2000" dirty="0">
                <a:solidFill>
                  <a:schemeClr val="tx2"/>
                </a:solidFill>
                <a:latin typeface="微软雅黑" panose="020B0503020204020204" pitchFamily="34" charset="-122"/>
                <a:ea typeface="微软雅黑" panose="020B0503020204020204" pitchFamily="34" charset="-122"/>
              </a:rPr>
              <a:t>，点击画面上的  </a:t>
            </a:r>
            <a:r>
              <a:rPr lang="en-US" altLang="zh-CN" sz="2000" dirty="0">
                <a:solidFill>
                  <a:schemeClr val="tx2"/>
                </a:solidFill>
                <a:latin typeface="微软雅黑" panose="020B0503020204020204" pitchFamily="34" charset="-122"/>
                <a:ea typeface="微软雅黑" panose="020B0503020204020204" pitchFamily="34" charset="-122"/>
              </a:rPr>
              <a:t>Register with Email</a:t>
            </a:r>
          </a:p>
          <a:p>
            <a:pPr marL="457200" indent="-457200" fontAlgn="auto">
              <a:lnSpc>
                <a:spcPct val="150000"/>
              </a:lnSpc>
              <a:buFont typeface="+mj-lt"/>
              <a:buAutoNum type="arabicPeriod"/>
            </a:pP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输入你的邮箱 ，密码 ，进行人机验证。登录邮箱 ，输入你收到的六位验证码</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进行手机号码验证 ，以便使用 </a:t>
            </a:r>
            <a:r>
              <a:rPr lang="en-US" altLang="zh-CN" sz="2000" dirty="0">
                <a:solidFill>
                  <a:schemeClr val="tx2"/>
                </a:solidFill>
                <a:latin typeface="微软雅黑" panose="020B0503020204020204" pitchFamily="34" charset="-122"/>
                <a:ea typeface="微软雅黑" panose="020B0503020204020204" pitchFamily="34" charset="-122"/>
              </a:rPr>
              <a:t>Kaggle </a:t>
            </a:r>
            <a:r>
              <a:rPr lang="zh-CN" altLang="en-US" sz="2000" dirty="0">
                <a:solidFill>
                  <a:schemeClr val="tx2"/>
                </a:solidFill>
                <a:latin typeface="微软雅黑" panose="020B0503020204020204" pitchFamily="34" charset="-122"/>
                <a:ea typeface="微软雅黑" panose="020B0503020204020204" pitchFamily="34" charset="-122"/>
              </a:rPr>
              <a:t>平台提供的 </a:t>
            </a:r>
            <a:r>
              <a:rPr lang="en-US" altLang="zh-CN" sz="2000" dirty="0">
                <a:solidFill>
                  <a:schemeClr val="tx2"/>
                </a:solidFill>
                <a:latin typeface="微软雅黑" panose="020B0503020204020204" pitchFamily="34" charset="-122"/>
                <a:ea typeface="微软雅黑" panose="020B0503020204020204" pitchFamily="34" charset="-122"/>
              </a:rPr>
              <a:t>GPU </a:t>
            </a:r>
            <a:r>
              <a:rPr lang="zh-CN" altLang="en-US" sz="2000" dirty="0">
                <a:solidFill>
                  <a:schemeClr val="tx2"/>
                </a:solidFill>
                <a:latin typeface="微软雅黑" panose="020B0503020204020204" pitchFamily="34" charset="-122"/>
                <a:ea typeface="微软雅黑" panose="020B0503020204020204" pitchFamily="34" charset="-122"/>
              </a:rPr>
              <a:t>计算资源：</a:t>
            </a:r>
            <a:br>
              <a:rPr lang="en-US" altLang="zh-CN" sz="2000" dirty="0">
                <a:solidFill>
                  <a:schemeClr val="tx2"/>
                </a:solidFill>
                <a:latin typeface="微软雅黑" panose="020B0503020204020204" pitchFamily="34" charset="-122"/>
                <a:ea typeface="微软雅黑" panose="020B0503020204020204" pitchFamily="34" charset="-122"/>
              </a:rPr>
            </a:br>
            <a:r>
              <a:rPr lang="zh-CN" altLang="en-US" sz="2000" dirty="0">
                <a:solidFill>
                  <a:schemeClr val="tx2"/>
                </a:solidFill>
                <a:latin typeface="微软雅黑" panose="020B0503020204020204" pitchFamily="34" charset="-122"/>
                <a:ea typeface="微软雅黑" panose="020B0503020204020204" pitchFamily="34" charset="-122"/>
              </a:rPr>
              <a:t>点击右上角的头像 ，并选择 </a:t>
            </a:r>
            <a:r>
              <a:rPr lang="en-US" altLang="zh-CN" sz="2000" dirty="0">
                <a:solidFill>
                  <a:schemeClr val="tx2"/>
                </a:solidFill>
                <a:latin typeface="微软雅黑" panose="020B0503020204020204" pitchFamily="34" charset="-122"/>
                <a:ea typeface="微软雅黑" panose="020B0503020204020204" pitchFamily="34" charset="-122"/>
              </a:rPr>
              <a:t>settings </a:t>
            </a:r>
            <a:r>
              <a:rPr lang="zh-CN" altLang="en-US" sz="2000" dirty="0">
                <a:solidFill>
                  <a:schemeClr val="tx2"/>
                </a:solidFill>
                <a:latin typeface="微软雅黑" panose="020B0503020204020204" pitchFamily="34" charset="-122"/>
                <a:ea typeface="微软雅黑" panose="020B0503020204020204" pitchFamily="34" charset="-122"/>
              </a:rPr>
              <a:t>，完成 </a:t>
            </a:r>
            <a:r>
              <a:rPr lang="en-US" altLang="zh-CN" sz="2000" dirty="0">
                <a:solidFill>
                  <a:schemeClr val="tx2"/>
                </a:solidFill>
                <a:latin typeface="微软雅黑" panose="020B0503020204020204" pitchFamily="34" charset="-122"/>
                <a:ea typeface="微软雅黑" panose="020B0503020204020204" pitchFamily="34" charset="-122"/>
              </a:rPr>
              <a:t>Phone verification</a:t>
            </a:r>
          </a:p>
          <a:p>
            <a:pPr marL="457200" indent="-457200" fontAlgn="auto">
              <a:lnSpc>
                <a:spcPct val="150000"/>
              </a:lnSpc>
              <a:buFont typeface="+mj-lt"/>
              <a:buAutoNum type="arabicPeriod"/>
            </a:pP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访问本课程提供的竞赛</a:t>
            </a:r>
            <a:br>
              <a:rPr lang="en-US" altLang="zh-CN" sz="2000" dirty="0">
                <a:solidFill>
                  <a:schemeClr val="tx2"/>
                </a:solidFill>
                <a:latin typeface="微软雅黑" panose="020B0503020204020204" pitchFamily="34" charset="-122"/>
                <a:ea typeface="微软雅黑" panose="020B0503020204020204" pitchFamily="34" charset="-122"/>
              </a:rPr>
            </a:br>
            <a:r>
              <a:rPr lang="en-US" altLang="zh-CN" sz="2000" dirty="0">
                <a:solidFill>
                  <a:schemeClr val="tx2"/>
                </a:solidFill>
                <a:latin typeface="微软雅黑" panose="020B0503020204020204" pitchFamily="34" charset="-122"/>
                <a:ea typeface="微软雅黑" panose="020B0503020204020204" pitchFamily="34" charset="-122"/>
              </a:rPr>
              <a:t>MLP: </a:t>
            </a:r>
            <a:r>
              <a:rPr lang="en-US" altLang="zh-CN" sz="2000" dirty="0">
                <a:hlinkClick r:id="rId3"/>
              </a:rPr>
              <a:t>MNIST_AND_MLP2 | Kaggle</a:t>
            </a:r>
            <a:br>
              <a:rPr lang="en-US" altLang="zh-CN" sz="2000" dirty="0">
                <a:solidFill>
                  <a:schemeClr val="tx2"/>
                </a:solidFill>
                <a:latin typeface="微软雅黑" panose="020B0503020204020204" pitchFamily="34" charset="-122"/>
                <a:ea typeface="微软雅黑" panose="020B0503020204020204" pitchFamily="34" charset="-122"/>
              </a:rPr>
            </a:br>
            <a:r>
              <a:rPr lang="en-US" altLang="zh-CN" sz="2000" dirty="0">
                <a:solidFill>
                  <a:schemeClr val="tx2"/>
                </a:solidFill>
                <a:latin typeface="微软雅黑" panose="020B0503020204020204" pitchFamily="34" charset="-122"/>
                <a:ea typeface="微软雅黑" panose="020B0503020204020204" pitchFamily="34" charset="-122"/>
              </a:rPr>
              <a:t>CNN: </a:t>
            </a:r>
            <a:r>
              <a:rPr lang="en-US" altLang="zh-CN" sz="2000" dirty="0">
                <a:hlinkClick r:id="rId4"/>
              </a:rPr>
              <a:t>CNN-Cifar10 | Kaggle</a:t>
            </a:r>
            <a:br>
              <a:rPr lang="en-US" altLang="zh-CN" sz="2000" dirty="0">
                <a:solidFill>
                  <a:schemeClr val="tx2"/>
                </a:solidFill>
                <a:latin typeface="微软雅黑" panose="020B0503020204020204" pitchFamily="34" charset="-122"/>
                <a:ea typeface="微软雅黑" panose="020B0503020204020204" pitchFamily="34" charset="-122"/>
              </a:rPr>
            </a:br>
            <a:r>
              <a:rPr lang="en-US" altLang="zh-CN" sz="2000" dirty="0">
                <a:solidFill>
                  <a:schemeClr val="tx2"/>
                </a:solidFill>
                <a:latin typeface="微软雅黑" panose="020B0503020204020204" pitchFamily="34" charset="-122"/>
                <a:ea typeface="微软雅黑" panose="020B0503020204020204" pitchFamily="34" charset="-122"/>
              </a:rPr>
              <a:t>LSTM + Transformer: </a:t>
            </a:r>
            <a:r>
              <a:rPr lang="en-US" altLang="zh-CN" sz="2000" dirty="0">
                <a:hlinkClick r:id="rId5"/>
              </a:rPr>
              <a:t>LSTM+Transformers2 | Kaggle</a:t>
            </a:r>
            <a:endParaRPr lang="zh-CN" altLang="en-US" sz="2000" dirty="0">
              <a:solidFill>
                <a:schemeClr val="tx2"/>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65DBDCED-538D-F72A-CF95-88A26BD07DB6}"/>
              </a:ext>
            </a:extLst>
          </p:cNvPr>
          <p:cNvPicPr>
            <a:picLocks noChangeAspect="1"/>
          </p:cNvPicPr>
          <p:nvPr/>
        </p:nvPicPr>
        <p:blipFill>
          <a:blip r:embed="rId6"/>
          <a:stretch>
            <a:fillRect/>
          </a:stretch>
        </p:blipFill>
        <p:spPr>
          <a:xfrm>
            <a:off x="8501743" y="2940146"/>
            <a:ext cx="3528772" cy="3316460"/>
          </a:xfrm>
          <a:prstGeom prst="rect">
            <a:avLst/>
          </a:prstGeom>
        </p:spPr>
      </p:pic>
      <p:sp>
        <p:nvSpPr>
          <p:cNvPr id="7" name="箭头: 左 6">
            <a:extLst>
              <a:ext uri="{FF2B5EF4-FFF2-40B4-BE49-F238E27FC236}">
                <a16:creationId xmlns:a16="http://schemas.microsoft.com/office/drawing/2014/main" id="{3953C379-B369-96FF-EE5D-22D2AF765A1F}"/>
              </a:ext>
            </a:extLst>
          </p:cNvPr>
          <p:cNvSpPr/>
          <p:nvPr/>
        </p:nvSpPr>
        <p:spPr>
          <a:xfrm rot="2399504">
            <a:off x="7445615" y="4005060"/>
            <a:ext cx="968828" cy="31933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675925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3BC02-A92D-68A5-69FC-EEA98F18C1C2}"/>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F998867-4B18-DD0D-4E24-2DAE084CA8D3}"/>
              </a:ext>
            </a:extLst>
          </p:cNvPr>
          <p:cNvSpPr>
            <a:spLocks noGrp="1"/>
          </p:cNvSpPr>
          <p:nvPr>
            <p:ph type="title"/>
          </p:nvPr>
        </p:nvSpPr>
        <p:spPr/>
        <p:txBody>
          <a:bodyPr/>
          <a:lstStyle/>
          <a:p>
            <a:pPr>
              <a:spcBef>
                <a:spcPts val="0"/>
              </a:spcBef>
              <a:buSzPct val="100000"/>
            </a:pP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自然语言处理任务 </a:t>
            </a: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IMDB </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数据集介绍</a:t>
            </a:r>
          </a:p>
        </p:txBody>
      </p:sp>
      <p:sp>
        <p:nvSpPr>
          <p:cNvPr id="4" name="文本框 3">
            <a:extLst>
              <a:ext uri="{FF2B5EF4-FFF2-40B4-BE49-F238E27FC236}">
                <a16:creationId xmlns:a16="http://schemas.microsoft.com/office/drawing/2014/main" id="{88C4FB82-B459-EF6A-5FDC-91D7F77F2057}"/>
              </a:ext>
            </a:extLst>
          </p:cNvPr>
          <p:cNvSpPr txBox="1"/>
          <p:nvPr/>
        </p:nvSpPr>
        <p:spPr>
          <a:xfrm>
            <a:off x="3048000" y="3244334"/>
            <a:ext cx="6096000" cy="369332"/>
          </a:xfrm>
          <a:prstGeom prst="rect">
            <a:avLst/>
          </a:prstGeom>
          <a:noFill/>
        </p:spPr>
        <p:txBody>
          <a:bodyPr wrap="square">
            <a:spAutoFit/>
          </a:bodyPr>
          <a:lstStyle/>
          <a:p>
            <a:r>
              <a:rPr lang="en-US" altLang="zh-CN" b="0" i="0" dirty="0">
                <a:solidFill>
                  <a:srgbClr val="F9FAFB"/>
                </a:solidFill>
                <a:effectLst/>
                <a:latin typeface="quote-cjk-patch"/>
              </a:rPr>
              <a:t>MNIST </a:t>
            </a:r>
            <a:r>
              <a:rPr lang="zh-CN" altLang="en-US" b="0" i="0" dirty="0">
                <a:solidFill>
                  <a:srgbClr val="F9FAFB"/>
                </a:solidFill>
                <a:effectLst/>
                <a:latin typeface="quote-cjk-patch"/>
              </a:rPr>
              <a:t>是一个被广泛使用的手写数字图像数据集。</a:t>
            </a:r>
            <a:endParaRPr lang="zh-CN" altLang="en-US" dirty="0"/>
          </a:p>
        </p:txBody>
      </p:sp>
      <p:sp>
        <p:nvSpPr>
          <p:cNvPr id="5" name="文本框 4">
            <a:extLst>
              <a:ext uri="{FF2B5EF4-FFF2-40B4-BE49-F238E27FC236}">
                <a16:creationId xmlns:a16="http://schemas.microsoft.com/office/drawing/2014/main" id="{42AD89CF-E9B2-74FE-8D56-05642A7E7220}"/>
              </a:ext>
            </a:extLst>
          </p:cNvPr>
          <p:cNvSpPr txBox="1"/>
          <p:nvPr/>
        </p:nvSpPr>
        <p:spPr>
          <a:xfrm>
            <a:off x="380999" y="761979"/>
            <a:ext cx="11255830" cy="3782895"/>
          </a:xfrm>
          <a:prstGeom prst="rect">
            <a:avLst/>
          </a:prstGeom>
          <a:noFill/>
        </p:spPr>
        <p:txBody>
          <a:bodyPr wrap="square" rtlCol="0">
            <a:spAutoFit/>
          </a:bodyPr>
          <a:lstStyle/>
          <a:p>
            <a:pPr fontAlgn="auto">
              <a:lnSpc>
                <a:spcPct val="150000"/>
              </a:lnSpc>
            </a:pPr>
            <a:r>
              <a:rPr lang="zh-CN" altLang="en-US" dirty="0">
                <a:solidFill>
                  <a:schemeClr val="tx2"/>
                </a:solidFill>
                <a:latin typeface="微软雅黑" panose="020B0503020204020204" pitchFamily="34" charset="-122"/>
                <a:ea typeface="微软雅黑" panose="020B0503020204020204" pitchFamily="34" charset="-122"/>
              </a:rPr>
              <a:t>核心概览：一个用于情感分析（二分类）的经典自然语言处理数据集</a:t>
            </a:r>
          </a:p>
          <a:p>
            <a:pPr fontAlgn="auto">
              <a:lnSpc>
                <a:spcPct val="150000"/>
              </a:lnSpc>
            </a:pPr>
            <a:r>
              <a:rPr lang="zh-CN" altLang="en-US" dirty="0">
                <a:solidFill>
                  <a:schemeClr val="tx2"/>
                </a:solidFill>
                <a:latin typeface="微软雅黑" panose="020B0503020204020204" pitchFamily="34" charset="-122"/>
                <a:ea typeface="微软雅黑" panose="020B0503020204020204" pitchFamily="34" charset="-122"/>
              </a:rPr>
              <a:t>内容构成</a:t>
            </a:r>
          </a:p>
          <a:p>
            <a:pPr fontAlgn="auto">
              <a:lnSpc>
                <a:spcPct val="150000"/>
              </a:lnSpc>
            </a:pPr>
            <a:r>
              <a:rPr lang="zh-CN" altLang="en-US" dirty="0">
                <a:solidFill>
                  <a:schemeClr val="tx2"/>
                </a:solidFill>
                <a:latin typeface="微软雅黑" panose="020B0503020204020204" pitchFamily="34" charset="-122"/>
                <a:ea typeface="微软雅黑" panose="020B0503020204020204" pitchFamily="34" charset="-122"/>
              </a:rPr>
              <a:t>包含来自互联网电影数据库（</a:t>
            </a:r>
            <a:r>
              <a:rPr lang="en-US" altLang="zh-CN" dirty="0">
                <a:solidFill>
                  <a:schemeClr val="tx2"/>
                </a:solidFill>
                <a:latin typeface="微软雅黑" panose="020B0503020204020204" pitchFamily="34" charset="-122"/>
                <a:ea typeface="微软雅黑" panose="020B0503020204020204" pitchFamily="34" charset="-122"/>
              </a:rPr>
              <a:t>IMDb</a:t>
            </a:r>
            <a:r>
              <a:rPr lang="zh-CN" altLang="en-US" dirty="0">
                <a:solidFill>
                  <a:schemeClr val="tx2"/>
                </a:solidFill>
                <a:latin typeface="微软雅黑" panose="020B0503020204020204" pitchFamily="34" charset="-122"/>
                <a:ea typeface="微软雅黑" panose="020B0503020204020204" pitchFamily="34" charset="-122"/>
              </a:rPr>
              <a:t>）的 </a:t>
            </a:r>
            <a:r>
              <a:rPr lang="en-US" altLang="zh-CN" dirty="0">
                <a:solidFill>
                  <a:schemeClr val="tx2"/>
                </a:solidFill>
                <a:latin typeface="微软雅黑" panose="020B0503020204020204" pitchFamily="34" charset="-122"/>
                <a:ea typeface="微软雅黑" panose="020B0503020204020204" pitchFamily="34" charset="-122"/>
              </a:rPr>
              <a:t>50,000 </a:t>
            </a:r>
            <a:r>
              <a:rPr lang="zh-CN" altLang="en-US" dirty="0">
                <a:solidFill>
                  <a:schemeClr val="tx2"/>
                </a:solidFill>
                <a:latin typeface="微软雅黑" panose="020B0503020204020204" pitchFamily="34" charset="-122"/>
                <a:ea typeface="微软雅黑" panose="020B0503020204020204" pitchFamily="34" charset="-122"/>
              </a:rPr>
              <a:t>条高度极端的影评文本。</a:t>
            </a:r>
          </a:p>
          <a:p>
            <a:pPr fontAlgn="auto">
              <a:lnSpc>
                <a:spcPct val="150000"/>
              </a:lnSpc>
            </a:pPr>
            <a:r>
              <a:rPr lang="zh-CN" altLang="en-US" dirty="0">
                <a:solidFill>
                  <a:schemeClr val="tx2"/>
                </a:solidFill>
                <a:latin typeface="微软雅黑" panose="020B0503020204020204" pitchFamily="34" charset="-122"/>
                <a:ea typeface="微软雅黑" panose="020B0503020204020204" pitchFamily="34" charset="-122"/>
              </a:rPr>
              <a:t>其中 </a:t>
            </a:r>
            <a:r>
              <a:rPr lang="en-US" altLang="zh-CN" dirty="0">
                <a:solidFill>
                  <a:schemeClr val="tx2"/>
                </a:solidFill>
                <a:latin typeface="微软雅黑" panose="020B0503020204020204" pitchFamily="34" charset="-122"/>
                <a:ea typeface="微软雅黑" panose="020B0503020204020204" pitchFamily="34" charset="-122"/>
              </a:rPr>
              <a:t>25,000 </a:t>
            </a:r>
            <a:r>
              <a:rPr lang="zh-CN" altLang="en-US" dirty="0">
                <a:solidFill>
                  <a:schemeClr val="tx2"/>
                </a:solidFill>
                <a:latin typeface="微软雅黑" panose="020B0503020204020204" pitchFamily="34" charset="-122"/>
                <a:ea typeface="微软雅黑" panose="020B0503020204020204" pitchFamily="34" charset="-122"/>
              </a:rPr>
              <a:t>条用于训练，</a:t>
            </a:r>
            <a:r>
              <a:rPr lang="en-US" altLang="zh-CN" dirty="0">
                <a:solidFill>
                  <a:schemeClr val="tx2"/>
                </a:solidFill>
                <a:latin typeface="微软雅黑" panose="020B0503020204020204" pitchFamily="34" charset="-122"/>
                <a:ea typeface="微软雅黑" panose="020B0503020204020204" pitchFamily="34" charset="-122"/>
              </a:rPr>
              <a:t>25,000 </a:t>
            </a:r>
            <a:r>
              <a:rPr lang="zh-CN" altLang="en-US" dirty="0">
                <a:solidFill>
                  <a:schemeClr val="tx2"/>
                </a:solidFill>
                <a:latin typeface="微软雅黑" panose="020B0503020204020204" pitchFamily="34" charset="-122"/>
                <a:ea typeface="微软雅黑" panose="020B0503020204020204" pitchFamily="34" charset="-122"/>
              </a:rPr>
              <a:t>条用于测试，另外还有 </a:t>
            </a:r>
            <a:r>
              <a:rPr lang="en-US" altLang="zh-CN" dirty="0">
                <a:solidFill>
                  <a:schemeClr val="tx2"/>
                </a:solidFill>
                <a:latin typeface="微软雅黑" panose="020B0503020204020204" pitchFamily="34" charset="-122"/>
                <a:ea typeface="微软雅黑" panose="020B0503020204020204" pitchFamily="34" charset="-122"/>
              </a:rPr>
              <a:t>50,000 </a:t>
            </a:r>
            <a:r>
              <a:rPr lang="zh-CN" altLang="en-US" dirty="0">
                <a:solidFill>
                  <a:schemeClr val="tx2"/>
                </a:solidFill>
                <a:latin typeface="微软雅黑" panose="020B0503020204020204" pitchFamily="34" charset="-122"/>
                <a:ea typeface="微软雅黑" panose="020B0503020204020204" pitchFamily="34" charset="-122"/>
              </a:rPr>
              <a:t>条未标注的评论。</a:t>
            </a:r>
          </a:p>
          <a:p>
            <a:pPr fontAlgn="auto">
              <a:lnSpc>
                <a:spcPct val="150000"/>
              </a:lnSpc>
            </a:pPr>
            <a:r>
              <a:rPr lang="zh-CN" altLang="en-US" dirty="0">
                <a:solidFill>
                  <a:schemeClr val="tx2"/>
                </a:solidFill>
                <a:latin typeface="微软雅黑" panose="020B0503020204020204" pitchFamily="34" charset="-122"/>
                <a:ea typeface="微软雅黑" panose="020B0503020204020204" pitchFamily="34" charset="-122"/>
              </a:rPr>
              <a:t>每个集合（训练</a:t>
            </a:r>
            <a:r>
              <a:rPr lang="en-US" altLang="zh-CN" dirty="0">
                <a:solidFill>
                  <a:schemeClr val="tx2"/>
                </a:solidFill>
                <a:latin typeface="微软雅黑" panose="020B0503020204020204" pitchFamily="34" charset="-122"/>
                <a:ea typeface="微软雅黑" panose="020B0503020204020204" pitchFamily="34" charset="-122"/>
              </a:rPr>
              <a:t>/</a:t>
            </a:r>
            <a:r>
              <a:rPr lang="zh-CN" altLang="en-US" dirty="0">
                <a:solidFill>
                  <a:schemeClr val="tx2"/>
                </a:solidFill>
                <a:latin typeface="微软雅黑" panose="020B0503020204020204" pitchFamily="34" charset="-122"/>
                <a:ea typeface="微软雅黑" panose="020B0503020204020204" pitchFamily="34" charset="-122"/>
              </a:rPr>
              <a:t>测试）都包含 </a:t>
            </a:r>
            <a:r>
              <a:rPr lang="en-US" altLang="zh-CN" dirty="0">
                <a:solidFill>
                  <a:schemeClr val="tx2"/>
                </a:solidFill>
                <a:latin typeface="微软雅黑" panose="020B0503020204020204" pitchFamily="34" charset="-122"/>
                <a:ea typeface="微软雅黑" panose="020B0503020204020204" pitchFamily="34" charset="-122"/>
              </a:rPr>
              <a:t>50% </a:t>
            </a:r>
            <a:r>
              <a:rPr lang="zh-CN" altLang="en-US" dirty="0">
                <a:solidFill>
                  <a:schemeClr val="tx2"/>
                </a:solidFill>
                <a:latin typeface="微软雅黑" panose="020B0503020204020204" pitchFamily="34" charset="-122"/>
                <a:ea typeface="微软雅黑" panose="020B0503020204020204" pitchFamily="34" charset="-122"/>
              </a:rPr>
              <a:t>的正面评价和 </a:t>
            </a:r>
            <a:r>
              <a:rPr lang="en-US" altLang="zh-CN" dirty="0">
                <a:solidFill>
                  <a:schemeClr val="tx2"/>
                </a:solidFill>
                <a:latin typeface="微软雅黑" panose="020B0503020204020204" pitchFamily="34" charset="-122"/>
                <a:ea typeface="微软雅黑" panose="020B0503020204020204" pitchFamily="34" charset="-122"/>
              </a:rPr>
              <a:t>50% </a:t>
            </a:r>
            <a:r>
              <a:rPr lang="zh-CN" altLang="en-US" dirty="0">
                <a:solidFill>
                  <a:schemeClr val="tx2"/>
                </a:solidFill>
                <a:latin typeface="微软雅黑" panose="020B0503020204020204" pitchFamily="34" charset="-122"/>
                <a:ea typeface="微软雅黑" panose="020B0503020204020204" pitchFamily="34" charset="-122"/>
              </a:rPr>
              <a:t>的负面评价。</a:t>
            </a:r>
            <a:endParaRPr lang="en-US" altLang="zh-CN" dirty="0">
              <a:solidFill>
                <a:schemeClr val="tx2"/>
              </a:solidFill>
              <a:latin typeface="微软雅黑" panose="020B0503020204020204" pitchFamily="34" charset="-122"/>
              <a:ea typeface="微软雅黑" panose="020B0503020204020204" pitchFamily="34" charset="-122"/>
            </a:endParaRPr>
          </a:p>
          <a:p>
            <a:pPr fontAlgn="auto">
              <a:lnSpc>
                <a:spcPct val="150000"/>
              </a:lnSpc>
            </a:pPr>
            <a:r>
              <a:rPr lang="zh-CN" altLang="en-US" dirty="0">
                <a:solidFill>
                  <a:schemeClr val="tx2"/>
                </a:solidFill>
                <a:latin typeface="微软雅黑" panose="020B0503020204020204" pitchFamily="34" charset="-122"/>
                <a:ea typeface="微软雅黑" panose="020B0503020204020204" pitchFamily="34" charset="-122"/>
              </a:rPr>
              <a:t>分别使用传统的 </a:t>
            </a:r>
            <a:r>
              <a:rPr lang="en-US" altLang="zh-CN" dirty="0">
                <a:solidFill>
                  <a:schemeClr val="tx2"/>
                </a:solidFill>
                <a:latin typeface="微软雅黑" panose="020B0503020204020204" pitchFamily="34" charset="-122"/>
                <a:ea typeface="微软雅黑" panose="020B0503020204020204" pitchFamily="34" charset="-122"/>
              </a:rPr>
              <a:t>LSTM </a:t>
            </a:r>
            <a:r>
              <a:rPr lang="zh-CN" altLang="en-US" dirty="0">
                <a:solidFill>
                  <a:schemeClr val="tx2"/>
                </a:solidFill>
                <a:latin typeface="微软雅黑" panose="020B0503020204020204" pitchFamily="34" charset="-122"/>
                <a:ea typeface="微软雅黑" panose="020B0503020204020204" pitchFamily="34" charset="-122"/>
              </a:rPr>
              <a:t>模型和新兴的</a:t>
            </a:r>
            <a:r>
              <a:rPr lang="en-US" altLang="zh-CN" dirty="0">
                <a:solidFill>
                  <a:schemeClr val="tx2"/>
                </a:solidFill>
                <a:latin typeface="微软雅黑" panose="020B0503020204020204" pitchFamily="34" charset="-122"/>
                <a:ea typeface="微软雅黑" panose="020B0503020204020204" pitchFamily="34" charset="-122"/>
              </a:rPr>
              <a:t> Transformer </a:t>
            </a:r>
            <a:r>
              <a:rPr lang="zh-CN" altLang="en-US" dirty="0">
                <a:solidFill>
                  <a:schemeClr val="tx2"/>
                </a:solidFill>
                <a:latin typeface="微软雅黑" panose="020B0503020204020204" pitchFamily="34" charset="-122"/>
                <a:ea typeface="微软雅黑" panose="020B0503020204020204" pitchFamily="34" charset="-122"/>
              </a:rPr>
              <a:t>模型训练 </a:t>
            </a:r>
            <a:r>
              <a:rPr lang="en-US" altLang="zh-CN" dirty="0">
                <a:solidFill>
                  <a:schemeClr val="tx2"/>
                </a:solidFill>
                <a:latin typeface="微软雅黑" panose="020B0503020204020204" pitchFamily="34" charset="-122"/>
                <a:ea typeface="微软雅黑" panose="020B0503020204020204" pitchFamily="34" charset="-122"/>
              </a:rPr>
              <a:t>IMDB </a:t>
            </a:r>
            <a:r>
              <a:rPr lang="zh-CN" altLang="en-US" dirty="0">
                <a:solidFill>
                  <a:schemeClr val="tx2"/>
                </a:solidFill>
                <a:latin typeface="微软雅黑" panose="020B0503020204020204" pitchFamily="34" charset="-122"/>
                <a:ea typeface="微软雅黑" panose="020B0503020204020204" pitchFamily="34" charset="-122"/>
              </a:rPr>
              <a:t>数据集</a:t>
            </a:r>
            <a:r>
              <a:rPr lang="en-US" altLang="zh-CN" dirty="0">
                <a:solidFill>
                  <a:schemeClr val="tx2"/>
                </a:solidFill>
                <a:latin typeface="微软雅黑" panose="020B0503020204020204" pitchFamily="34" charset="-122"/>
                <a:ea typeface="微软雅黑" panose="020B0503020204020204" pitchFamily="34" charset="-122"/>
              </a:rPr>
              <a:t>: </a:t>
            </a:r>
            <a:r>
              <a:rPr lang="en-US" altLang="zh-CN" dirty="0">
                <a:hlinkClick r:id="rId2"/>
              </a:rPr>
              <a:t>LSTM+Transformers2 | Kaggle</a:t>
            </a:r>
            <a:endParaRPr lang="en-US" altLang="zh-CN" dirty="0">
              <a:solidFill>
                <a:schemeClr val="tx2"/>
              </a:solidFill>
              <a:latin typeface="微软雅黑" panose="020B0503020204020204" pitchFamily="34" charset="-122"/>
              <a:ea typeface="微软雅黑" panose="020B0503020204020204" pitchFamily="34" charset="-122"/>
            </a:endParaRPr>
          </a:p>
          <a:p>
            <a:pPr fontAlgn="auto">
              <a:lnSpc>
                <a:spcPct val="150000"/>
              </a:lnSpc>
            </a:pPr>
            <a:endParaRPr lang="en-US" altLang="zh-CN" dirty="0">
              <a:solidFill>
                <a:schemeClr val="tx2"/>
              </a:solidFill>
              <a:latin typeface="微软雅黑" panose="020B0503020204020204" pitchFamily="34" charset="-122"/>
              <a:ea typeface="微软雅黑" panose="020B0503020204020204" pitchFamily="34" charset="-122"/>
            </a:endParaRPr>
          </a:p>
          <a:p>
            <a:pPr fontAlgn="auto">
              <a:lnSpc>
                <a:spcPct val="150000"/>
              </a:lnSpc>
            </a:pPr>
            <a:endParaRPr lang="zh-CN" altLang="en-US" dirty="0">
              <a:solidFill>
                <a:schemeClr val="tx2"/>
              </a:solidFill>
              <a:latin typeface="微软雅黑" panose="020B0503020204020204" pitchFamily="34" charset="-122"/>
              <a:ea typeface="微软雅黑" panose="020B0503020204020204" pitchFamily="34" charset="-122"/>
            </a:endParaRPr>
          </a:p>
          <a:p>
            <a:pPr fontAlgn="auto">
              <a:lnSpc>
                <a:spcPct val="150000"/>
              </a:lnSpc>
            </a:pPr>
            <a:endParaRPr lang="en-US" altLang="zh-CN" dirty="0">
              <a:solidFill>
                <a:schemeClr val="tx2"/>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8E4D34A8-DE2A-1FD2-FACC-4C1666F73F76}"/>
              </a:ext>
            </a:extLst>
          </p:cNvPr>
          <p:cNvPicPr>
            <a:picLocks noChangeAspect="1"/>
          </p:cNvPicPr>
          <p:nvPr/>
        </p:nvPicPr>
        <p:blipFill>
          <a:blip r:embed="rId3"/>
          <a:stretch>
            <a:fillRect/>
          </a:stretch>
        </p:blipFill>
        <p:spPr>
          <a:xfrm>
            <a:off x="2093018" y="3376450"/>
            <a:ext cx="7831792" cy="2896001"/>
          </a:xfrm>
          <a:prstGeom prst="rect">
            <a:avLst/>
          </a:prstGeom>
        </p:spPr>
      </p:pic>
    </p:spTree>
    <p:extLst>
      <p:ext uri="{BB962C8B-B14F-4D97-AF65-F5344CB8AC3E}">
        <p14:creationId xmlns:p14="http://schemas.microsoft.com/office/powerpoint/2010/main" val="3103363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Kaggle</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跑实验说明</a:t>
            </a:r>
          </a:p>
        </p:txBody>
      </p:sp>
      <p:sp>
        <p:nvSpPr>
          <p:cNvPr id="9" name="文本框 8">
            <a:extLst>
              <a:ext uri="{FF2B5EF4-FFF2-40B4-BE49-F238E27FC236}">
                <a16:creationId xmlns:a16="http://schemas.microsoft.com/office/drawing/2014/main" id="{B765885D-9A66-8992-07F0-541DB8536947}"/>
              </a:ext>
            </a:extLst>
          </p:cNvPr>
          <p:cNvSpPr txBox="1"/>
          <p:nvPr/>
        </p:nvSpPr>
        <p:spPr>
          <a:xfrm>
            <a:off x="380999" y="1012121"/>
            <a:ext cx="11255830" cy="3269613"/>
          </a:xfrm>
          <a:prstGeom prst="rect">
            <a:avLst/>
          </a:prstGeom>
          <a:noFill/>
        </p:spPr>
        <p:txBody>
          <a:bodyPr wrap="square" rtlCol="0">
            <a:spAutoFit/>
          </a:bodyPr>
          <a:lstStyle/>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进入 </a:t>
            </a:r>
            <a:r>
              <a:rPr lang="en-US" altLang="zh-CN" sz="2000" dirty="0">
                <a:solidFill>
                  <a:schemeClr val="tx2"/>
                </a:solidFill>
                <a:latin typeface="微软雅黑" panose="020B0503020204020204" pitchFamily="34" charset="-122"/>
                <a:ea typeface="微软雅黑" panose="020B0503020204020204" pitchFamily="34" charset="-122"/>
              </a:rPr>
              <a:t>Code</a:t>
            </a:r>
            <a:r>
              <a:rPr lang="zh-CN" altLang="en-US" sz="2000" dirty="0">
                <a:solidFill>
                  <a:schemeClr val="tx2"/>
                </a:solidFill>
                <a:latin typeface="微软雅黑" panose="020B0503020204020204" pitchFamily="34" charset="-122"/>
                <a:ea typeface="微软雅黑" panose="020B0503020204020204" pitchFamily="34" charset="-122"/>
              </a:rPr>
              <a:t>，选择 </a:t>
            </a:r>
            <a:r>
              <a:rPr lang="en-US" altLang="zh-CN" sz="2000" dirty="0">
                <a:solidFill>
                  <a:schemeClr val="tx2"/>
                </a:solidFill>
                <a:latin typeface="微软雅黑" panose="020B0503020204020204" pitchFamily="34" charset="-122"/>
                <a:ea typeface="微软雅黑" panose="020B0503020204020204" pitchFamily="34" charset="-122"/>
              </a:rPr>
              <a:t>example by teacher </a:t>
            </a:r>
            <a:r>
              <a:rPr lang="zh-CN" altLang="en-US" sz="2000" dirty="0">
                <a:solidFill>
                  <a:schemeClr val="tx2"/>
                </a:solidFill>
                <a:latin typeface="微软雅黑" panose="020B0503020204020204" pitchFamily="34" charset="-122"/>
                <a:ea typeface="微软雅黑" panose="020B0503020204020204" pitchFamily="34" charset="-122"/>
              </a:rPr>
              <a:t>的 </a:t>
            </a:r>
            <a:r>
              <a:rPr lang="en-US" altLang="zh-CN" sz="2000" dirty="0">
                <a:solidFill>
                  <a:schemeClr val="tx2"/>
                </a:solidFill>
                <a:latin typeface="微软雅黑" panose="020B0503020204020204" pitchFamily="34" charset="-122"/>
                <a:ea typeface="微软雅黑" panose="020B0503020204020204" pitchFamily="34" charset="-122"/>
              </a:rPr>
              <a:t>notebook</a:t>
            </a: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进入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预览界面后，点击右上角三点展开，选择 </a:t>
            </a:r>
            <a:r>
              <a:rPr lang="en-US" altLang="zh-CN" sz="2000" dirty="0">
                <a:solidFill>
                  <a:schemeClr val="tx2"/>
                </a:solidFill>
                <a:latin typeface="微软雅黑" panose="020B0503020204020204" pitchFamily="34" charset="-122"/>
                <a:ea typeface="微软雅黑" panose="020B0503020204020204" pitchFamily="34" charset="-122"/>
              </a:rPr>
              <a:t>copy &amp; edit </a:t>
            </a:r>
            <a:r>
              <a:rPr lang="zh-CN" altLang="en-US" sz="2000" dirty="0">
                <a:solidFill>
                  <a:schemeClr val="tx2"/>
                </a:solidFill>
                <a:latin typeface="微软雅黑" panose="020B0503020204020204" pitchFamily="34" charset="-122"/>
                <a:ea typeface="微软雅黑" panose="020B0503020204020204" pitchFamily="34" charset="-122"/>
              </a:rPr>
              <a:t>将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给自己复制一份再修改</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进入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编辑界面后，修改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题目，并找到代码中可以修改的超参数部分</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修改超参数，将 </a:t>
            </a:r>
            <a:r>
              <a:rPr lang="en-US" altLang="zh-CN" sz="2000" dirty="0">
                <a:solidFill>
                  <a:schemeClr val="tx2"/>
                </a:solidFill>
                <a:latin typeface="微软雅黑" panose="020B0503020204020204" pitchFamily="34" charset="-122"/>
                <a:ea typeface="微软雅黑" panose="020B0503020204020204" pitchFamily="34" charset="-122"/>
              </a:rPr>
              <a:t>setting </a:t>
            </a:r>
            <a:r>
              <a:rPr lang="zh-CN" altLang="en-US" sz="2000" dirty="0">
                <a:solidFill>
                  <a:schemeClr val="tx2"/>
                </a:solidFill>
                <a:latin typeface="微软雅黑" panose="020B0503020204020204" pitchFamily="34" charset="-122"/>
                <a:ea typeface="微软雅黑" panose="020B0503020204020204" pitchFamily="34" charset="-122"/>
              </a:rPr>
              <a:t>中设置为 </a:t>
            </a:r>
            <a:r>
              <a:rPr lang="en-US" altLang="zh-CN" sz="2000" dirty="0">
                <a:solidFill>
                  <a:schemeClr val="tx2"/>
                </a:solidFill>
                <a:latin typeface="微软雅黑" panose="020B0503020204020204" pitchFamily="34" charset="-122"/>
                <a:ea typeface="微软雅黑" panose="020B0503020204020204" pitchFamily="34" charset="-122"/>
              </a:rPr>
              <a:t>GPU P100 </a:t>
            </a:r>
            <a:r>
              <a:rPr lang="zh-CN" altLang="en-US" sz="2000" dirty="0">
                <a:solidFill>
                  <a:schemeClr val="tx2"/>
                </a:solidFill>
                <a:latin typeface="微软雅黑" panose="020B0503020204020204" pitchFamily="34" charset="-122"/>
                <a:ea typeface="微软雅黑" panose="020B0503020204020204" pitchFamily="34" charset="-122"/>
              </a:rPr>
              <a:t>后，选择 </a:t>
            </a:r>
            <a:r>
              <a:rPr lang="en-US" altLang="zh-CN" sz="2000" dirty="0">
                <a:solidFill>
                  <a:schemeClr val="tx2"/>
                </a:solidFill>
                <a:latin typeface="微软雅黑" panose="020B0503020204020204" pitchFamily="34" charset="-122"/>
                <a:ea typeface="微软雅黑" panose="020B0503020204020204" pitchFamily="34" charset="-122"/>
              </a:rPr>
              <a:t>run all               </a:t>
            </a:r>
            <a:r>
              <a:rPr lang="zh-CN" altLang="en-US" sz="2000" dirty="0">
                <a:solidFill>
                  <a:schemeClr val="tx2"/>
                </a:solidFill>
                <a:latin typeface="微软雅黑" panose="020B0503020204020204" pitchFamily="34" charset="-122"/>
                <a:ea typeface="微软雅黑" panose="020B0503020204020204" pitchFamily="34" charset="-122"/>
              </a:rPr>
              <a:t>运行所有的单元格</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运行完毕后生成测试准确率</a:t>
            </a:r>
            <a:endParaRPr lang="en-US" altLang="zh-CN" sz="2000" dirty="0">
              <a:solidFill>
                <a:schemeClr val="tx2"/>
              </a:solidFill>
              <a:latin typeface="微软雅黑" panose="020B0503020204020204" pitchFamily="34" charset="-122"/>
              <a:ea typeface="微软雅黑" panose="020B0503020204020204" pitchFamily="34" charset="-122"/>
            </a:endParaRPr>
          </a:p>
          <a:p>
            <a:pPr fontAlgn="auto">
              <a:lnSpc>
                <a:spcPct val="150000"/>
              </a:lnSpc>
            </a:pPr>
            <a:r>
              <a:rPr lang="zh-CN" altLang="en-US" sz="2000" dirty="0">
                <a:solidFill>
                  <a:schemeClr val="tx2"/>
                </a:solidFill>
                <a:latin typeface="微软雅黑" panose="020B0503020204020204" pitchFamily="34" charset="-122"/>
                <a:ea typeface="微软雅黑" panose="020B0503020204020204" pitchFamily="34" charset="-122"/>
              </a:rPr>
              <a:t>（以上过程并不会提交作业，可以查看作业的效果）</a:t>
            </a:r>
            <a:endParaRPr lang="en-US" altLang="zh-CN" sz="2000" dirty="0">
              <a:solidFill>
                <a:schemeClr val="tx2"/>
              </a:solidFill>
              <a:latin typeface="微软雅黑" panose="020B0503020204020204" pitchFamily="34" charset="-122"/>
              <a:ea typeface="微软雅黑" panose="020B0503020204020204" pitchFamily="34" charset="-122"/>
              <a:hlinkClick r:id="rId2">
                <a:extLst>
                  <a:ext uri="{A12FA001-AC4F-418D-AE19-62706E023703}">
                    <ahyp:hlinkClr xmlns:ahyp="http://schemas.microsoft.com/office/drawing/2018/hyperlinkcolor" val="tx"/>
                  </a:ext>
                </a:extLst>
              </a:hlinkClick>
            </a:endParaRPr>
          </a:p>
        </p:txBody>
      </p:sp>
      <p:pic>
        <p:nvPicPr>
          <p:cNvPr id="11" name="图片 10">
            <a:extLst>
              <a:ext uri="{FF2B5EF4-FFF2-40B4-BE49-F238E27FC236}">
                <a16:creationId xmlns:a16="http://schemas.microsoft.com/office/drawing/2014/main" id="{D172394F-30EB-9DE1-E94B-B30482243875}"/>
              </a:ext>
            </a:extLst>
          </p:cNvPr>
          <p:cNvPicPr>
            <a:picLocks noChangeAspect="1"/>
          </p:cNvPicPr>
          <p:nvPr/>
        </p:nvPicPr>
        <p:blipFill>
          <a:blip r:embed="rId3"/>
          <a:stretch>
            <a:fillRect/>
          </a:stretch>
        </p:blipFill>
        <p:spPr>
          <a:xfrm>
            <a:off x="7181440" y="3483019"/>
            <a:ext cx="4629318" cy="3356256"/>
          </a:xfrm>
          <a:prstGeom prst="rect">
            <a:avLst/>
          </a:prstGeom>
        </p:spPr>
      </p:pic>
      <p:sp>
        <p:nvSpPr>
          <p:cNvPr id="12" name="文本框 11">
            <a:extLst>
              <a:ext uri="{FF2B5EF4-FFF2-40B4-BE49-F238E27FC236}">
                <a16:creationId xmlns:a16="http://schemas.microsoft.com/office/drawing/2014/main" id="{389C1088-B965-2B56-FBBF-2CB3CA15173F}"/>
              </a:ext>
            </a:extLst>
          </p:cNvPr>
          <p:cNvSpPr txBox="1"/>
          <p:nvPr/>
        </p:nvSpPr>
        <p:spPr>
          <a:xfrm>
            <a:off x="8765810" y="3374981"/>
            <a:ext cx="312906" cy="400110"/>
          </a:xfrm>
          <a:prstGeom prst="rect">
            <a:avLst/>
          </a:prstGeom>
          <a:noFill/>
        </p:spPr>
        <p:txBody>
          <a:bodyPr wrap="none" rtlCol="0">
            <a:spAutoFit/>
          </a:bodyPr>
          <a:lstStyle/>
          <a:p>
            <a:pPr algn="l"/>
            <a:r>
              <a:rPr lang="en-US" altLang="zh-CN" sz="2000" dirty="0"/>
              <a:t>1</a:t>
            </a:r>
            <a:endParaRPr lang="zh-CN" altLang="en-US" sz="2000" dirty="0"/>
          </a:p>
        </p:txBody>
      </p:sp>
      <p:sp>
        <p:nvSpPr>
          <p:cNvPr id="13" name="文本框 12">
            <a:extLst>
              <a:ext uri="{FF2B5EF4-FFF2-40B4-BE49-F238E27FC236}">
                <a16:creationId xmlns:a16="http://schemas.microsoft.com/office/drawing/2014/main" id="{795E2901-FAB1-1D55-902E-9BE5DA227169}"/>
              </a:ext>
            </a:extLst>
          </p:cNvPr>
          <p:cNvSpPr txBox="1"/>
          <p:nvPr/>
        </p:nvSpPr>
        <p:spPr>
          <a:xfrm>
            <a:off x="9974421" y="5845879"/>
            <a:ext cx="312906" cy="400110"/>
          </a:xfrm>
          <a:prstGeom prst="rect">
            <a:avLst/>
          </a:prstGeom>
          <a:noFill/>
        </p:spPr>
        <p:txBody>
          <a:bodyPr wrap="none" rtlCol="0">
            <a:spAutoFit/>
          </a:bodyPr>
          <a:lstStyle/>
          <a:p>
            <a:pPr algn="l"/>
            <a:r>
              <a:rPr lang="en-US" altLang="zh-CN" sz="2000" dirty="0"/>
              <a:t>2</a:t>
            </a:r>
            <a:endParaRPr lang="zh-CN" altLang="en-US" sz="2000" dirty="0"/>
          </a:p>
        </p:txBody>
      </p:sp>
      <p:sp>
        <p:nvSpPr>
          <p:cNvPr id="14" name="文本框 13">
            <a:extLst>
              <a:ext uri="{FF2B5EF4-FFF2-40B4-BE49-F238E27FC236}">
                <a16:creationId xmlns:a16="http://schemas.microsoft.com/office/drawing/2014/main" id="{7010EF86-A2F7-DD2E-CB02-52416406B85D}"/>
              </a:ext>
            </a:extLst>
          </p:cNvPr>
          <p:cNvSpPr txBox="1"/>
          <p:nvPr/>
        </p:nvSpPr>
        <p:spPr>
          <a:xfrm>
            <a:off x="9908841" y="4453974"/>
            <a:ext cx="312906" cy="400110"/>
          </a:xfrm>
          <a:prstGeom prst="rect">
            <a:avLst/>
          </a:prstGeom>
          <a:noFill/>
        </p:spPr>
        <p:txBody>
          <a:bodyPr wrap="none" rtlCol="0">
            <a:spAutoFit/>
          </a:bodyPr>
          <a:lstStyle/>
          <a:p>
            <a:pPr algn="l"/>
            <a:r>
              <a:rPr lang="en-US" altLang="zh-CN" sz="2000" dirty="0"/>
              <a:t>3</a:t>
            </a:r>
            <a:endParaRPr lang="zh-CN" altLang="en-US" sz="2000" dirty="0"/>
          </a:p>
        </p:txBody>
      </p:sp>
      <p:pic>
        <p:nvPicPr>
          <p:cNvPr id="16" name="图片 15">
            <a:extLst>
              <a:ext uri="{FF2B5EF4-FFF2-40B4-BE49-F238E27FC236}">
                <a16:creationId xmlns:a16="http://schemas.microsoft.com/office/drawing/2014/main" id="{FDED9243-6F7B-8DE6-7A64-079BB3F3E75E}"/>
              </a:ext>
            </a:extLst>
          </p:cNvPr>
          <p:cNvPicPr>
            <a:picLocks noChangeAspect="1"/>
          </p:cNvPicPr>
          <p:nvPr/>
        </p:nvPicPr>
        <p:blipFill>
          <a:blip r:embed="rId4"/>
          <a:stretch>
            <a:fillRect/>
          </a:stretch>
        </p:blipFill>
        <p:spPr>
          <a:xfrm>
            <a:off x="8009538" y="2906867"/>
            <a:ext cx="1069178" cy="403912"/>
          </a:xfrm>
          <a:prstGeom prst="rect">
            <a:avLst/>
          </a:prstGeom>
        </p:spPr>
      </p:pic>
    </p:spTree>
    <p:extLst>
      <p:ext uri="{BB962C8B-B14F-4D97-AF65-F5344CB8AC3E}">
        <p14:creationId xmlns:p14="http://schemas.microsoft.com/office/powerpoint/2010/main" val="12568308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Kaggle</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提交成绩</a:t>
            </a:r>
          </a:p>
        </p:txBody>
      </p:sp>
      <p:pic>
        <p:nvPicPr>
          <p:cNvPr id="4" name="图片 3">
            <a:extLst>
              <a:ext uri="{FF2B5EF4-FFF2-40B4-BE49-F238E27FC236}">
                <a16:creationId xmlns:a16="http://schemas.microsoft.com/office/drawing/2014/main" id="{0046EB0D-9B8F-1E78-F403-9F36179E8416}"/>
              </a:ext>
            </a:extLst>
          </p:cNvPr>
          <p:cNvPicPr>
            <a:picLocks noChangeAspect="1"/>
          </p:cNvPicPr>
          <p:nvPr/>
        </p:nvPicPr>
        <p:blipFill>
          <a:blip r:embed="rId2"/>
          <a:stretch>
            <a:fillRect/>
          </a:stretch>
        </p:blipFill>
        <p:spPr>
          <a:xfrm>
            <a:off x="2447865" y="1012121"/>
            <a:ext cx="2178749" cy="501911"/>
          </a:xfrm>
          <a:prstGeom prst="rect">
            <a:avLst/>
          </a:prstGeom>
        </p:spPr>
      </p:pic>
      <p:sp>
        <p:nvSpPr>
          <p:cNvPr id="5" name="文本框 4">
            <a:extLst>
              <a:ext uri="{FF2B5EF4-FFF2-40B4-BE49-F238E27FC236}">
                <a16:creationId xmlns:a16="http://schemas.microsoft.com/office/drawing/2014/main" id="{1B9ED0A3-A0B4-D262-5B96-D3CD81D9A35A}"/>
              </a:ext>
            </a:extLst>
          </p:cNvPr>
          <p:cNvSpPr txBox="1"/>
          <p:nvPr/>
        </p:nvSpPr>
        <p:spPr>
          <a:xfrm>
            <a:off x="380999" y="1012121"/>
            <a:ext cx="11255830" cy="2807948"/>
          </a:xfrm>
          <a:prstGeom prst="rect">
            <a:avLst/>
          </a:prstGeom>
          <a:noFill/>
        </p:spPr>
        <p:txBody>
          <a:bodyPr wrap="square" rtlCol="0">
            <a:spAutoFit/>
          </a:bodyPr>
          <a:lstStyle/>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选择右上角的                               在界面中点开 </a:t>
            </a:r>
            <a:r>
              <a:rPr lang="en-US" altLang="zh-CN" sz="2000" dirty="0">
                <a:solidFill>
                  <a:schemeClr val="tx2"/>
                </a:solidFill>
                <a:latin typeface="微软雅黑" panose="020B0503020204020204" pitchFamily="34" charset="-122"/>
                <a:ea typeface="微软雅黑" panose="020B0503020204020204" pitchFamily="34" charset="-122"/>
              </a:rPr>
              <a:t>Advanced Settings </a:t>
            </a:r>
            <a:r>
              <a:rPr lang="zh-CN" altLang="en-US" sz="2000" dirty="0">
                <a:solidFill>
                  <a:schemeClr val="tx2"/>
                </a:solidFill>
                <a:latin typeface="微软雅黑" panose="020B0503020204020204" pitchFamily="34" charset="-122"/>
                <a:ea typeface="微软雅黑" panose="020B0503020204020204" pitchFamily="34" charset="-122"/>
              </a:rPr>
              <a:t>并选择 </a:t>
            </a:r>
            <a:r>
              <a:rPr lang="en-US" altLang="zh-CN" sz="2000" dirty="0">
                <a:solidFill>
                  <a:schemeClr val="tx2"/>
                </a:solidFill>
                <a:latin typeface="微软雅黑" panose="020B0503020204020204" pitchFamily="34" charset="-122"/>
                <a:ea typeface="微软雅黑" panose="020B0503020204020204" pitchFamily="34" charset="-122"/>
              </a:rPr>
              <a:t>Run with GPU for all sessions</a:t>
            </a:r>
            <a:r>
              <a:rPr lang="zh-CN" altLang="en-US" sz="2000" dirty="0">
                <a:solidFill>
                  <a:schemeClr val="tx2"/>
                </a:solidFill>
                <a:latin typeface="微软雅黑" panose="020B0503020204020204" pitchFamily="34" charset="-122"/>
                <a:ea typeface="微软雅黑" panose="020B0503020204020204" pitchFamily="34" charset="-122"/>
              </a:rPr>
              <a:t> </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此时左下角出现了运行中的提示，运行结束后会出现 </a:t>
            </a:r>
            <a:r>
              <a:rPr lang="en-US" altLang="zh-CN" sz="2000" dirty="0">
                <a:solidFill>
                  <a:schemeClr val="tx2"/>
                </a:solidFill>
                <a:latin typeface="微软雅黑" panose="020B0503020204020204" pitchFamily="34" charset="-122"/>
                <a:ea typeface="微软雅黑" panose="020B0503020204020204" pitchFamily="34" charset="-122"/>
              </a:rPr>
              <a:t>successful </a:t>
            </a:r>
            <a:r>
              <a:rPr lang="zh-CN" altLang="en-US" sz="2000" dirty="0">
                <a:solidFill>
                  <a:schemeClr val="tx2"/>
                </a:solidFill>
                <a:latin typeface="微软雅黑" panose="020B0503020204020204" pitchFamily="34" charset="-122"/>
                <a:ea typeface="微软雅黑" panose="020B0503020204020204" pitchFamily="34" charset="-122"/>
              </a:rPr>
              <a:t>或者 </a:t>
            </a:r>
            <a:r>
              <a:rPr lang="en-US" altLang="zh-CN" sz="2000" dirty="0">
                <a:solidFill>
                  <a:schemeClr val="tx2"/>
                </a:solidFill>
                <a:latin typeface="微软雅黑" panose="020B0503020204020204" pitchFamily="34" charset="-122"/>
                <a:ea typeface="微软雅黑" panose="020B0503020204020204" pitchFamily="34" charset="-122"/>
              </a:rPr>
              <a:t>failed </a:t>
            </a:r>
            <a:r>
              <a:rPr lang="zh-CN" altLang="en-US" sz="2000" dirty="0">
                <a:solidFill>
                  <a:schemeClr val="tx2"/>
                </a:solidFill>
                <a:latin typeface="微软雅黑" panose="020B0503020204020204" pitchFamily="34" charset="-122"/>
                <a:ea typeface="微软雅黑" panose="020B0503020204020204" pitchFamily="34" charset="-122"/>
              </a:rPr>
              <a:t>字样</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点击运行结束的提示，进入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预览界面</a:t>
            </a:r>
            <a:br>
              <a:rPr lang="en-US" altLang="zh-CN" sz="2000" dirty="0">
                <a:solidFill>
                  <a:schemeClr val="tx2"/>
                </a:solidFill>
                <a:latin typeface="微软雅黑" panose="020B0503020204020204" pitchFamily="34" charset="-122"/>
                <a:ea typeface="微软雅黑" panose="020B0503020204020204" pitchFamily="34" charset="-122"/>
              </a:rPr>
            </a:br>
            <a:r>
              <a:rPr lang="zh-CN" altLang="en-US" sz="2000" dirty="0">
                <a:solidFill>
                  <a:schemeClr val="tx2"/>
                </a:solidFill>
                <a:latin typeface="微软雅黑" panose="020B0503020204020204" pitchFamily="34" charset="-122"/>
                <a:ea typeface="微软雅黑" panose="020B0503020204020204" pitchFamily="34" charset="-122"/>
              </a:rPr>
              <a:t>点击右上角三个点，选择 </a:t>
            </a:r>
            <a:r>
              <a:rPr lang="en-US" altLang="zh-CN" sz="2000" dirty="0">
                <a:solidFill>
                  <a:schemeClr val="tx2"/>
                </a:solidFill>
                <a:latin typeface="微软雅黑" panose="020B0503020204020204" pitchFamily="34" charset="-122"/>
                <a:ea typeface="微软雅黑" panose="020B0503020204020204" pitchFamily="34" charset="-122"/>
              </a:rPr>
              <a:t>submit to competition</a:t>
            </a: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点击 </a:t>
            </a:r>
            <a:r>
              <a:rPr lang="en-US" altLang="zh-CN" sz="2000" dirty="0">
                <a:solidFill>
                  <a:schemeClr val="tx2"/>
                </a:solidFill>
                <a:latin typeface="微软雅黑" panose="020B0503020204020204" pitchFamily="34" charset="-122"/>
                <a:ea typeface="微软雅黑" panose="020B0503020204020204" pitchFamily="34" charset="-122"/>
              </a:rPr>
              <a:t>submit </a:t>
            </a:r>
            <a:r>
              <a:rPr lang="zh-CN" altLang="en-US" sz="2000" dirty="0">
                <a:solidFill>
                  <a:schemeClr val="tx2"/>
                </a:solidFill>
                <a:latin typeface="微软雅黑" panose="020B0503020204020204" pitchFamily="34" charset="-122"/>
                <a:ea typeface="微软雅黑" panose="020B0503020204020204" pitchFamily="34" charset="-122"/>
              </a:rPr>
              <a:t>即可提交，作业会显示在 </a:t>
            </a:r>
            <a:r>
              <a:rPr lang="en-US" altLang="zh-CN" sz="2000" dirty="0">
                <a:solidFill>
                  <a:schemeClr val="tx2"/>
                </a:solidFill>
                <a:latin typeface="微软雅黑" panose="020B0503020204020204" pitchFamily="34" charset="-122"/>
                <a:ea typeface="微软雅黑" panose="020B0503020204020204" pitchFamily="34" charset="-122"/>
              </a:rPr>
              <a:t>“submission”</a:t>
            </a:r>
            <a:r>
              <a:rPr lang="zh-CN" altLang="en-US" sz="2000" dirty="0">
                <a:solidFill>
                  <a:schemeClr val="tx2"/>
                </a:solidFill>
                <a:latin typeface="微软雅黑" panose="020B0503020204020204" pitchFamily="34" charset="-122"/>
                <a:ea typeface="微软雅黑" panose="020B0503020204020204" pitchFamily="34" charset="-122"/>
              </a:rPr>
              <a:t>选项卡下</a:t>
            </a:r>
            <a:endParaRPr lang="en-US" altLang="zh-CN" sz="2000" dirty="0">
              <a:solidFill>
                <a:schemeClr val="tx2"/>
              </a:solidFill>
              <a:latin typeface="微软雅黑" panose="020B0503020204020204" pitchFamily="34" charset="-122"/>
              <a:ea typeface="微软雅黑" panose="020B0503020204020204" pitchFamily="34" charset="-122"/>
              <a:hlinkClick r:id="rId3">
                <a:extLst>
                  <a:ext uri="{A12FA001-AC4F-418D-AE19-62706E023703}">
                    <ahyp:hlinkClr xmlns:ahyp="http://schemas.microsoft.com/office/drawing/2018/hyperlinkcolor" val="tx"/>
                  </a:ext>
                </a:extLst>
              </a:hlinkClick>
            </a:endParaRPr>
          </a:p>
        </p:txBody>
      </p:sp>
      <p:pic>
        <p:nvPicPr>
          <p:cNvPr id="7" name="图片 6">
            <a:extLst>
              <a:ext uri="{FF2B5EF4-FFF2-40B4-BE49-F238E27FC236}">
                <a16:creationId xmlns:a16="http://schemas.microsoft.com/office/drawing/2014/main" id="{C548657C-DC52-D8EC-6E03-2200AE18F473}"/>
              </a:ext>
            </a:extLst>
          </p:cNvPr>
          <p:cNvPicPr>
            <a:picLocks noChangeAspect="1"/>
          </p:cNvPicPr>
          <p:nvPr/>
        </p:nvPicPr>
        <p:blipFill>
          <a:blip r:embed="rId4"/>
          <a:stretch>
            <a:fillRect/>
          </a:stretch>
        </p:blipFill>
        <p:spPr>
          <a:xfrm>
            <a:off x="7519662" y="2536161"/>
            <a:ext cx="4428119" cy="892839"/>
          </a:xfrm>
          <a:prstGeom prst="rect">
            <a:avLst/>
          </a:prstGeom>
        </p:spPr>
      </p:pic>
      <p:pic>
        <p:nvPicPr>
          <p:cNvPr id="11" name="图片 10">
            <a:extLst>
              <a:ext uri="{FF2B5EF4-FFF2-40B4-BE49-F238E27FC236}">
                <a16:creationId xmlns:a16="http://schemas.microsoft.com/office/drawing/2014/main" id="{3888214C-4A56-899D-8E10-D267C5705F57}"/>
              </a:ext>
            </a:extLst>
          </p:cNvPr>
          <p:cNvPicPr>
            <a:picLocks noChangeAspect="1"/>
          </p:cNvPicPr>
          <p:nvPr/>
        </p:nvPicPr>
        <p:blipFill>
          <a:blip r:embed="rId5"/>
          <a:stretch>
            <a:fillRect/>
          </a:stretch>
        </p:blipFill>
        <p:spPr>
          <a:xfrm>
            <a:off x="6383062" y="4073054"/>
            <a:ext cx="5427696" cy="1759971"/>
          </a:xfrm>
          <a:prstGeom prst="rect">
            <a:avLst/>
          </a:prstGeom>
        </p:spPr>
      </p:pic>
    </p:spTree>
    <p:extLst>
      <p:ext uri="{BB962C8B-B14F-4D97-AF65-F5344CB8AC3E}">
        <p14:creationId xmlns:p14="http://schemas.microsoft.com/office/powerpoint/2010/main" val="25777998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1_自定义设计方案">
  <a:themeElements>
    <a:clrScheme name="潘冬远waxy">
      <a:dk1>
        <a:srgbClr val="B61616"/>
      </a:dk1>
      <a:lt1>
        <a:srgbClr val="FFFFFF"/>
      </a:lt1>
      <a:dk2>
        <a:srgbClr val="242C2D"/>
      </a:dk2>
      <a:lt2>
        <a:srgbClr val="133984"/>
      </a:lt2>
      <a:accent1>
        <a:srgbClr val="D73C1E"/>
      </a:accent1>
      <a:accent2>
        <a:srgbClr val="3769AF"/>
      </a:accent2>
      <a:accent3>
        <a:srgbClr val="EBAA05"/>
      </a:accent3>
      <a:accent4>
        <a:srgbClr val="A0B932"/>
      </a:accent4>
      <a:accent5>
        <a:srgbClr val="82B9BE"/>
      </a:accent5>
      <a:accent6>
        <a:srgbClr val="B4915F"/>
      </a:accent6>
      <a:hlink>
        <a:srgbClr val="196E7D"/>
      </a:hlink>
      <a:folHlink>
        <a:srgbClr val="BEBEBE"/>
      </a:folHlink>
    </a:clrScheme>
    <a:fontScheme name="SJTU标准I">
      <a:majorFont>
        <a:latin typeface="Book Antiqua"/>
        <a:ea typeface="黑体"/>
        <a:cs typeface=""/>
      </a:majorFont>
      <a:minorFont>
        <a:latin typeface="Book Antiqua"/>
        <a:ea typeface="黑体"/>
        <a:cs typeface=""/>
      </a:minorFont>
    </a:fontScheme>
    <a:fmtScheme name="光面">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C0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20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自定义设计方案">
  <a:themeElements>
    <a:clrScheme name="潘冬远waxy">
      <a:dk1>
        <a:srgbClr val="B61616"/>
      </a:dk1>
      <a:lt1>
        <a:srgbClr val="FFFFFF"/>
      </a:lt1>
      <a:dk2>
        <a:srgbClr val="242C2D"/>
      </a:dk2>
      <a:lt2>
        <a:srgbClr val="133984"/>
      </a:lt2>
      <a:accent1>
        <a:srgbClr val="D73C1E"/>
      </a:accent1>
      <a:accent2>
        <a:srgbClr val="3769AF"/>
      </a:accent2>
      <a:accent3>
        <a:srgbClr val="EBAA05"/>
      </a:accent3>
      <a:accent4>
        <a:srgbClr val="A0B932"/>
      </a:accent4>
      <a:accent5>
        <a:srgbClr val="82B9BE"/>
      </a:accent5>
      <a:accent6>
        <a:srgbClr val="B4915F"/>
      </a:accent6>
      <a:hlink>
        <a:srgbClr val="196E7D"/>
      </a:hlink>
      <a:folHlink>
        <a:srgbClr val="BEBEBE"/>
      </a:folHlink>
    </a:clrScheme>
    <a:fontScheme name="自定义 1">
      <a:majorFont>
        <a:latin typeface="Segoe UI"/>
        <a:ea typeface="微软雅黑"/>
        <a:cs typeface=""/>
      </a:majorFont>
      <a:minorFont>
        <a:latin typeface="Segoe UI"/>
        <a:ea typeface="微软雅黑"/>
        <a:cs typeface=""/>
      </a:minorFont>
    </a:fontScheme>
    <a:fmtScheme name="光面">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C0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20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1056</TotalTime>
  <Words>3097</Words>
  <Application>Microsoft Office PowerPoint</Application>
  <PresentationFormat>宽屏</PresentationFormat>
  <Paragraphs>314</Paragraphs>
  <Slides>48</Slides>
  <Notes>4</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48</vt:i4>
      </vt:variant>
    </vt:vector>
  </HeadingPairs>
  <TitlesOfParts>
    <vt:vector size="63" baseType="lpstr">
      <vt:lpstr>FandolSong-Regular-Identity-H</vt:lpstr>
      <vt:lpstr>LMRoman10-Regular-Identity-H</vt:lpstr>
      <vt:lpstr>quote-cjk-patch</vt:lpstr>
      <vt:lpstr>等线</vt:lpstr>
      <vt:lpstr>微软雅黑</vt:lpstr>
      <vt:lpstr>微软雅黑</vt:lpstr>
      <vt:lpstr>Arial</vt:lpstr>
      <vt:lpstr>Book Antiqua</vt:lpstr>
      <vt:lpstr>Cambria Math</vt:lpstr>
      <vt:lpstr>Helvetica</vt:lpstr>
      <vt:lpstr>Segoe UI</vt:lpstr>
      <vt:lpstr>Times New Roman</vt:lpstr>
      <vt:lpstr>Wingdings</vt:lpstr>
      <vt:lpstr>1_自定义设计方案</vt:lpstr>
      <vt:lpstr>2_自定义设计方案</vt:lpstr>
      <vt:lpstr>PowerPoint 演示文稿</vt:lpstr>
      <vt:lpstr>Attention is all you need！</vt:lpstr>
      <vt:lpstr>情景模拟</vt:lpstr>
      <vt:lpstr>情景模拟</vt:lpstr>
      <vt:lpstr>线性映射提取信息</vt:lpstr>
      <vt:lpstr>情景模拟</vt:lpstr>
      <vt:lpstr>情景模拟</vt:lpstr>
      <vt:lpstr>Attention is all you need！</vt:lpstr>
      <vt:lpstr>Decoder only</vt:lpstr>
      <vt:lpstr>Next Token Prediction框架</vt:lpstr>
      <vt:lpstr>输入</vt:lpstr>
      <vt:lpstr>输出</vt:lpstr>
      <vt:lpstr>损失函数</vt:lpstr>
      <vt:lpstr>Transformer的具体运算流程</vt:lpstr>
      <vt:lpstr>嵌入 Embedding</vt:lpstr>
      <vt:lpstr>随机投影引理</vt:lpstr>
      <vt:lpstr>嵌入 Embedding + 位置编码</vt:lpstr>
      <vt:lpstr>嵌入 Embedding + 位置编码</vt:lpstr>
      <vt:lpstr>嵌入层：更多的位置编码</vt:lpstr>
      <vt:lpstr>嵌入层：更多的位置编码</vt:lpstr>
      <vt:lpstr>注意力机制</vt:lpstr>
      <vt:lpstr>但记住！使用信息前，先提取！线性变换！</vt:lpstr>
      <vt:lpstr>我怎么知道线性变换刚好能提取到需要的信息？</vt:lpstr>
      <vt:lpstr>暂时！只能有可能做到，就相信它可以训练到！</vt:lpstr>
      <vt:lpstr>注意力机制</vt:lpstr>
      <vt:lpstr>注意力机制</vt:lpstr>
      <vt:lpstr>注意力机制</vt:lpstr>
      <vt:lpstr>注意力机制</vt:lpstr>
      <vt:lpstr>注意力机制</vt:lpstr>
      <vt:lpstr>Transformer核心：Attention机制</vt:lpstr>
      <vt:lpstr>注意力机制</vt:lpstr>
      <vt:lpstr>注意力机制</vt:lpstr>
      <vt:lpstr>归一化模块</vt:lpstr>
      <vt:lpstr>多头注意力机制</vt:lpstr>
      <vt:lpstr>前馈全连接神经网络FNN</vt:lpstr>
      <vt:lpstr>模块复制N次</vt:lpstr>
      <vt:lpstr>输出（投影）层</vt:lpstr>
      <vt:lpstr>输出（投影）层</vt:lpstr>
      <vt:lpstr>Transformer：从NLP到图像识别</vt:lpstr>
      <vt:lpstr>Transformer：从 NLP 到蛋白质结构预测</vt:lpstr>
      <vt:lpstr>“万能“Transformer</vt:lpstr>
      <vt:lpstr>实验</vt:lpstr>
      <vt:lpstr>Kaggle介绍</vt:lpstr>
      <vt:lpstr>Kaggle注册</vt:lpstr>
      <vt:lpstr>自然语言处理任务 IMDB 数据集介绍</vt:lpstr>
      <vt:lpstr>Kaggle跑实验说明</vt:lpstr>
      <vt:lpstr>Kaggle提交成绩</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Frequency perspective to understand depth effect and robustness of deep learning</dc:title>
  <dc:creator>zhiqin xu</dc:creator>
  <cp:lastModifiedBy>zhiqin xu</cp:lastModifiedBy>
  <cp:revision>622</cp:revision>
  <dcterms:created xsi:type="dcterms:W3CDTF">2020-06-05T07:59:00Z</dcterms:created>
  <dcterms:modified xsi:type="dcterms:W3CDTF">2025-10-28T07:21:10Z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31F957580B7B45D18D290D792645BC9D_13</vt:lpwstr>
  </property>
  <property fmtid="{D5CDD505-2E9C-101B-9397-08002B2CF9AE}" pid="3" name="KSOProductBuildVer">
    <vt:lpwstr>2052-12.1.0.19770</vt:lpwstr>
  </property>
</Properties>
</file>