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314" r:id="rId2"/>
    <p:sldId id="10354" r:id="rId3"/>
    <p:sldId id="10361" r:id="rId4"/>
    <p:sldId id="10367" r:id="rId5"/>
    <p:sldId id="10381" r:id="rId6"/>
    <p:sldId id="10362" r:id="rId7"/>
    <p:sldId id="10382" r:id="rId8"/>
    <p:sldId id="260" r:id="rId9"/>
    <p:sldId id="10402" r:id="rId10"/>
    <p:sldId id="10403" r:id="rId11"/>
    <p:sldId id="10406" r:id="rId12"/>
    <p:sldId id="10369" r:id="rId13"/>
    <p:sldId id="10383" r:id="rId14"/>
    <p:sldId id="10384" r:id="rId15"/>
    <p:sldId id="10404" r:id="rId16"/>
    <p:sldId id="10407" r:id="rId17"/>
    <p:sldId id="10408" r:id="rId18"/>
    <p:sldId id="10380" r:id="rId19"/>
    <p:sldId id="10364" r:id="rId20"/>
    <p:sldId id="10373" r:id="rId21"/>
    <p:sldId id="10385" r:id="rId22"/>
    <p:sldId id="10377" r:id="rId23"/>
    <p:sldId id="10376" r:id="rId24"/>
    <p:sldId id="10363" r:id="rId25"/>
    <p:sldId id="10386" r:id="rId26"/>
    <p:sldId id="10401" r:id="rId27"/>
    <p:sldId id="10387" r:id="rId28"/>
    <p:sldId id="10389" r:id="rId29"/>
    <p:sldId id="10372" r:id="rId30"/>
    <p:sldId id="10353" r:id="rId31"/>
    <p:sldId id="10391" r:id="rId32"/>
    <p:sldId id="10392" r:id="rId33"/>
    <p:sldId id="10399" r:id="rId34"/>
    <p:sldId id="10320" r:id="rId35"/>
    <p:sldId id="1040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与目录" id="{E16E27CC-1BBC-AC4E-922C-7D48AA8F4D76}">
          <p14:sldIdLst>
            <p14:sldId id="2314"/>
            <p14:sldId id="10354"/>
          </p14:sldIdLst>
        </p14:section>
        <p14:section name="第一节" id="{9F139EFA-3D2F-524E-B20E-2D2181600DF8}">
          <p14:sldIdLst>
            <p14:sldId id="10361"/>
            <p14:sldId id="10367"/>
            <p14:sldId id="10381"/>
          </p14:sldIdLst>
        </p14:section>
        <p14:section name="第二节" id="{3878EE42-64CB-7341-ACAD-31EAB31AC43E}">
          <p14:sldIdLst>
            <p14:sldId id="10362"/>
            <p14:sldId id="10382"/>
            <p14:sldId id="260"/>
            <p14:sldId id="10402"/>
            <p14:sldId id="10403"/>
            <p14:sldId id="10406"/>
            <p14:sldId id="10369"/>
            <p14:sldId id="10383"/>
            <p14:sldId id="10384"/>
            <p14:sldId id="10404"/>
            <p14:sldId id="10407"/>
            <p14:sldId id="10408"/>
            <p14:sldId id="10380"/>
          </p14:sldIdLst>
        </p14:section>
        <p14:section name="第三节" id="{DA0693EE-3C4C-A948-AE50-6EE902EED0CB}">
          <p14:sldIdLst>
            <p14:sldId id="10364"/>
            <p14:sldId id="10373"/>
            <p14:sldId id="10385"/>
            <p14:sldId id="10377"/>
            <p14:sldId id="10376"/>
          </p14:sldIdLst>
        </p14:section>
        <p14:section name="第四节" id="{743B3694-8775-E54A-B449-7D69E8BA2971}">
          <p14:sldIdLst>
            <p14:sldId id="10363"/>
            <p14:sldId id="10386"/>
            <p14:sldId id="10401"/>
            <p14:sldId id="10387"/>
            <p14:sldId id="10389"/>
            <p14:sldId id="10372"/>
          </p14:sldIdLst>
        </p14:section>
        <p14:section name="总结" id="{BEF27FA2-F71C-194E-BD4E-FCE88338B7C2}">
          <p14:sldIdLst>
            <p14:sldId id="10353"/>
            <p14:sldId id="10391"/>
            <p14:sldId id="10392"/>
            <p14:sldId id="10399"/>
            <p14:sldId id="10320"/>
            <p14:sldId id="104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1D5"/>
    <a:srgbClr val="000000"/>
    <a:srgbClr val="D73C1E"/>
    <a:srgbClr val="B61516"/>
    <a:srgbClr val="070707"/>
    <a:srgbClr val="002B7F"/>
    <a:srgbClr val="3232FF"/>
    <a:srgbClr val="0000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2" autoAdjust="0"/>
    <p:restoredTop sz="89457" autoAdjust="0"/>
  </p:normalViewPr>
  <p:slideViewPr>
    <p:cSldViewPr snapToGrid="0">
      <p:cViewPr>
        <p:scale>
          <a:sx n="75" d="100"/>
          <a:sy n="75" d="100"/>
        </p:scale>
        <p:origin x="414" y="26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47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FE79F7C-34C1-4D7C-817B-EE84AA9B9D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CCCD9A-3D9D-46B9-A7E5-33ABED3108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76995-7265-45E8-A9DD-3334EEF1A353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AAC71-1D78-4F24-A075-206709D73D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669D59-F476-40E4-B116-1ECC46950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97389-2A4A-4819-AAE4-803C35258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88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2974-D3CE-004F-808E-E43BDBA07C0F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1051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7555-CF2B-A481-7DD5-0054B0CC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76C62-5F47-4B70-AAD1-6BCA1234A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FF35-8A53-2060-4869-7DD7F122A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63ADC-1FBD-1296-8020-EF7B82BE7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2974-D3CE-004F-808E-E43BDBA07C0F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3941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C463-F816-7CC6-CE64-F77F3046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6F7C468-C581-547B-8871-BEEC3FAE2C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953ACA-34F1-418E-A1E7-028F18F1A691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4EA6FEB6-0EC2-37F7-EBBE-0AE1EE6AE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C224A8C5-9C3A-1D22-DBD1-6AD694003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54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430E-8366-FF1F-81FA-30126B95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3EA242B-4701-B4F1-67FF-39F63CA9F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CA347-18BC-4560-84AD-F412C4730CDD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D0CED28A-2523-A6E6-8C8C-7FB6834A6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0F9B25FB-BACA-F9A0-F272-F6EEFAEE4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415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430E-8366-FF1F-81FA-30126B95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3EA242B-4701-B4F1-67FF-39F63CA9F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CA347-18BC-4560-84AD-F412C4730CD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D0CED28A-2523-A6E6-8C8C-7FB6834A6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0F9B25FB-BACA-F9A0-F272-F6EEFAEE4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415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FFBE-6063-1051-9418-9BD3ACC8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FF6E82E-16B6-9544-DF0F-7B91895DE6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CA347-18BC-4560-84AD-F412C4730CD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3DD6CA4B-A3A1-A0EA-F4FA-43933411F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EC0314F0-C072-08E4-F03B-4DC5BACE0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21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9655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334118" y="3717192"/>
            <a:ext cx="11523764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98913" y="5387513"/>
            <a:ext cx="63941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236843" y="6229835"/>
            <a:ext cx="571831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r>
              <a:rPr lang="en-US" altLang="zh-CN" dirty="0"/>
              <a:t>/26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437E-93F6-1045-30BB-E70861E9E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页面标题</a:t>
            </a:r>
            <a:endParaRPr lang="en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3F575-2B35-BD81-72E3-40F667AEDD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C267D-6A4F-FA05-FC69-0D34F123D0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r>
              <a:rPr lang="en-US" altLang="zh-CN" dirty="0"/>
              <a:t>/26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B01B7-8796-3FAB-148C-D82F1FB797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1242" y="927100"/>
            <a:ext cx="11429758" cy="5218113"/>
          </a:xfrm>
        </p:spPr>
        <p:txBody>
          <a:bodyPr/>
          <a:lstStyle/>
          <a:p>
            <a:pPr lvl="0"/>
            <a:r>
              <a:rPr lang="en-US" dirty="0" err="1"/>
              <a:t>一级标题内容</a:t>
            </a:r>
            <a:endParaRPr lang="en-US" dirty="0"/>
          </a:p>
          <a:p>
            <a:pPr lvl="1"/>
            <a:r>
              <a:rPr lang="en-US" dirty="0" err="1"/>
              <a:t>二级标题内容</a:t>
            </a:r>
            <a:endParaRPr lang="en-US" dirty="0"/>
          </a:p>
          <a:p>
            <a:pPr lvl="2"/>
            <a:r>
              <a:rPr lang="en-US" dirty="0" err="1"/>
              <a:t>三级标题内容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8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r>
              <a:rPr lang="en-US" altLang="zh-CN" dirty="0"/>
              <a:t>/xx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8" r:id="rId5"/>
    <p:sldLayoutId id="2147483657" r:id="rId6"/>
  </p:sldLayoutIdLst>
  <p:hf hdr="0" ftr="0" dt="0"/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2.png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11" Type="http://schemas.openxmlformats.org/officeDocument/2006/relationships/image" Target="../media/image9.emf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png"/><Relationship Id="rId18" Type="http://schemas.openxmlformats.org/officeDocument/2006/relationships/image" Target="../media/image30.png"/><Relationship Id="rId3" Type="http://schemas.openxmlformats.org/officeDocument/2006/relationships/video" Target="../media/media1.mp4"/><Relationship Id="rId12" Type="http://schemas.openxmlformats.org/officeDocument/2006/relationships/image" Target="../media/image240.png"/><Relationship Id="rId17" Type="http://schemas.openxmlformats.org/officeDocument/2006/relationships/image" Target="../media/image29.png"/><Relationship Id="rId2" Type="http://schemas.microsoft.com/office/2007/relationships/media" Target="../media/media1.mp4"/><Relationship Id="rId16" Type="http://schemas.openxmlformats.org/officeDocument/2006/relationships/image" Target="../media/image28.png"/><Relationship Id="rId20" Type="http://schemas.openxmlformats.org/officeDocument/2006/relationships/image" Target="../media/image24.png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11" Type="http://schemas.openxmlformats.org/officeDocument/2006/relationships/image" Target="../media/image230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7.png"/><Relationship Id="rId10" Type="http://schemas.openxmlformats.org/officeDocument/2006/relationships/image" Target="../media/image220.png"/><Relationship Id="rId19" Type="http://schemas.openxmlformats.org/officeDocument/2006/relationships/image" Target="../media/image31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5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3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8.png"/><Relationship Id="rId7" Type="http://schemas.openxmlformats.org/officeDocument/2006/relationships/image" Target="../media/image37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6" Type="http://schemas.openxmlformats.org/officeDocument/2006/relationships/image" Target="../media/image3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5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4.png"/><Relationship Id="rId7" Type="http://schemas.openxmlformats.org/officeDocument/2006/relationships/image" Target="../media/image47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6" Type="http://schemas.openxmlformats.org/officeDocument/2006/relationships/image" Target="../media/image46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9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Relationship Id="rId6" Type="http://schemas.openxmlformats.org/officeDocument/2006/relationships/image" Target="../media/image580.png"/><Relationship Id="rId10" Type="http://schemas.openxmlformats.org/officeDocument/2006/relationships/image" Target="../media/image620.png"/><Relationship Id="rId9" Type="http://schemas.openxmlformats.org/officeDocument/2006/relationships/image" Target="../media/image6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1.png"/><Relationship Id="rId11" Type="http://schemas.openxmlformats.org/officeDocument/2006/relationships/image" Target="../media/image582.png"/><Relationship Id="rId5" Type="http://schemas.openxmlformats.org/officeDocument/2006/relationships/image" Target="../media/image520.png"/><Relationship Id="rId10" Type="http://schemas.openxmlformats.org/officeDocument/2006/relationships/image" Target="../media/image570.png"/><Relationship Id="rId9" Type="http://schemas.openxmlformats.org/officeDocument/2006/relationships/image" Target="../media/image5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Relationship Id="rId5" Type="http://schemas.openxmlformats.org/officeDocument/2006/relationships/image" Target="../media/image630.png"/><Relationship Id="rId4" Type="http://schemas.openxmlformats.org/officeDocument/2006/relationships/image" Target="../media/image59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9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6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gif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595ACC-32E0-A7D5-35A2-CCA59EB5C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传统机器学习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监督学习</a:t>
            </a:r>
            <a:endParaRPr lang="en-C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E345D47-C3D0-4DDE-607E-CCAD4772F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8913" y="4768620"/>
            <a:ext cx="6394174" cy="1542970"/>
          </a:xfrm>
        </p:spPr>
        <p:txBody>
          <a:bodyPr>
            <a:normAutofit fontScale="85000" lnSpcReduction="20000"/>
          </a:bodyPr>
          <a:lstStyle/>
          <a:p>
            <a:pPr defTabSz="864235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64235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defTabSz="864235">
              <a:defRPr/>
            </a:pPr>
            <a:fld id="{E102F756-3B96-CC46-A2D4-96CC8736307C}" type="datetime3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pPr lvl="0" defTabSz="864235">
                <a:defRPr/>
              </a:pPr>
              <a:t>2026年8月5日星期三</a:t>
            </a:fld>
            <a:endParaRPr lang="en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5717-CE55-6CB0-664E-5AFD66CD6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47FC-9D99-12F9-07A3-1C17B95F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E3C73-61A8-2693-3468-F320DBE96ADE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D382BF-1385-C859-6151-31817A9F99C4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BB8358-CAF0-9647-865B-9028CF4D9677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三、决策树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74E5C7-3E8D-BA85-B740-61B45DF9917B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08A42F-B707-4198-8CD4-728FA745AFA3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Microsoft YaHei"/>
              </a:rPr>
              <a:t>2/36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BC17B4-76D8-D4D3-AF65-C3B4BB358051}"/>
              </a:ext>
            </a:extLst>
          </p:cNvPr>
          <p:cNvSpPr txBox="1"/>
          <p:nvPr/>
        </p:nvSpPr>
        <p:spPr>
          <a:xfrm>
            <a:off x="103415" y="5917096"/>
            <a:ext cx="2544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</a:rPr>
              <a:t>PPT</a:t>
            </a:r>
            <a:r>
              <a:rPr lang="zh-CN" altLang="en-US" sz="1000" dirty="0">
                <a:solidFill>
                  <a:schemeClr val="bg1"/>
                </a:solidFill>
              </a:rPr>
              <a:t>主要贡献：周栋焯</a:t>
            </a:r>
          </a:p>
        </p:txBody>
      </p:sp>
    </p:spTree>
    <p:extLst>
      <p:ext uri="{BB962C8B-B14F-4D97-AF65-F5344CB8AC3E}">
        <p14:creationId xmlns:p14="http://schemas.microsoft.com/office/powerpoint/2010/main" val="32833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CF77-DE99-DC11-051C-FB904504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9D3C0-EDB8-4AAF-2B3F-E6749FA0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40292C-5862-EFFE-E5EB-AE58647A1A6A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一、绪论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D08AAD-DB64-233F-B261-17888E60FD5F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AE68E6-48BB-A9E4-BA27-9BB1516032EE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</a:t>
            </a:r>
            <a:r>
              <a:rPr lang="zh-CN" altLang="en-US" dirty="0"/>
              <a:t>、</a:t>
            </a:r>
            <a:r>
              <a:rPr lang="zh-CN" altLang="en-US"/>
              <a:t>决策树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6DC2CF-B859-4396-68EC-C299B6695DFA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1092D6-96B8-44DE-A101-D07EBCDCD65A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Microsoft YaHei"/>
              </a:rPr>
              <a:t>3/36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4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机器学习可以做什么？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A08AC-3620-3313-40E1-9D695F7D5D9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2B7F"/>
                </a:solidFill>
              </a:rPr>
              <a:t>机器学习（</a:t>
            </a:r>
            <a:r>
              <a:rPr lang="en-US" altLang="zh-CN" b="1" i="0" dirty="0">
                <a:solidFill>
                  <a:srgbClr val="002B7F"/>
                </a:solidFill>
                <a:effectLst/>
              </a:rPr>
              <a:t>Machine Learning</a:t>
            </a:r>
            <a:r>
              <a:rPr lang="en-US" altLang="zh-CN" b="1" dirty="0">
                <a:solidFill>
                  <a:srgbClr val="002B7F"/>
                </a:solidFill>
              </a:rPr>
              <a:t>,</a:t>
            </a:r>
            <a:r>
              <a:rPr lang="zh-CN" altLang="en-US" b="1" dirty="0">
                <a:solidFill>
                  <a:srgbClr val="002B7F"/>
                </a:solidFill>
              </a:rPr>
              <a:t> </a:t>
            </a:r>
            <a:r>
              <a:rPr lang="en-US" altLang="zh-CN" b="1" dirty="0">
                <a:solidFill>
                  <a:srgbClr val="002B7F"/>
                </a:solidFill>
              </a:rPr>
              <a:t>ML</a:t>
            </a:r>
            <a:r>
              <a:rPr lang="zh-CN" altLang="en-US" b="1" dirty="0">
                <a:solidFill>
                  <a:srgbClr val="002B7F"/>
                </a:solidFill>
              </a:rPr>
              <a:t>）</a:t>
            </a:r>
            <a:r>
              <a:rPr lang="zh-CN" altLang="en-US" dirty="0"/>
              <a:t>是实现人工智能常用的途径之一。</a:t>
            </a:r>
            <a:br>
              <a:rPr lang="en-US" altLang="zh-CN" dirty="0"/>
            </a:br>
            <a:r>
              <a:rPr lang="zh-CN" altLang="en-US" b="0" i="0" dirty="0">
                <a:solidFill>
                  <a:srgbClr val="202122"/>
                </a:solidFill>
                <a:effectLst/>
              </a:rPr>
              <a:t>机器学习算法是一类从</a:t>
            </a:r>
            <a:r>
              <a:rPr lang="zh-CN" altLang="en-US" b="0" i="0" u="none" strike="noStrike" dirty="0">
                <a:effectLst/>
              </a:rPr>
              <a:t>数据</a:t>
            </a:r>
            <a:r>
              <a:rPr lang="zh-CN" altLang="en-US" b="0" i="0" dirty="0">
                <a:solidFill>
                  <a:srgbClr val="202122"/>
                </a:solidFill>
                <a:effectLst/>
              </a:rPr>
              <a:t>中自动分析获得</a:t>
            </a:r>
            <a:r>
              <a:rPr lang="zh-CN" altLang="en-US" b="0" i="0" u="none" strike="noStrike" dirty="0">
                <a:effectLst/>
              </a:rPr>
              <a:t>规律</a:t>
            </a:r>
            <a:r>
              <a:rPr lang="zh-CN" altLang="en-US" b="0" i="0" dirty="0">
                <a:solidFill>
                  <a:srgbClr val="202122"/>
                </a:solidFill>
                <a:effectLst/>
              </a:rPr>
              <a:t>，并利用规律对未知数据进行预测的算法</a:t>
            </a:r>
            <a:r>
              <a:rPr lang="zh-CN" altLang="en-US" b="0" dirty="0">
                <a:solidFill>
                  <a:srgbClr val="202122"/>
                </a:solidFill>
              </a:rPr>
              <a:t>，</a:t>
            </a:r>
            <a:r>
              <a:rPr lang="zh-CN" altLang="en-US" b="0" i="0" dirty="0">
                <a:solidFill>
                  <a:srgbClr val="202122"/>
                </a:solidFill>
                <a:effectLst/>
              </a:rPr>
              <a:t>例如：</a:t>
            </a:r>
            <a:endParaRPr lang="en-US" altLang="zh-CN" dirty="0">
              <a:solidFill>
                <a:srgbClr val="202122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70771" y="2349747"/>
            <a:ext cx="3022429" cy="2473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数据降维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聚类方法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异常检测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0841108E-BFA3-25D9-AAF4-07DA71CDA919}"/>
              </a:ext>
            </a:extLst>
          </p:cNvPr>
          <p:cNvSpPr txBox="1"/>
          <p:nvPr/>
        </p:nvSpPr>
        <p:spPr>
          <a:xfrm>
            <a:off x="8167094" y="2349747"/>
            <a:ext cx="3145140" cy="2473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高效采样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最优决策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环境探索</a:t>
            </a:r>
            <a:endParaRPr lang="en-US" altLang="zh-CN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b="1" dirty="0">
              <a:solidFill>
                <a:srgbClr val="2021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66BFC-B9EE-48C7-7C92-A94BABF9CD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4/36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35CD32-35B8-2C49-6533-6774B0F9D17B}"/>
              </a:ext>
            </a:extLst>
          </p:cNvPr>
          <p:cNvSpPr txBox="1"/>
          <p:nvPr/>
        </p:nvSpPr>
        <p:spPr>
          <a:xfrm>
            <a:off x="1374448" y="2349747"/>
            <a:ext cx="3022429" cy="2473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线性回归</a:t>
            </a: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数据分类</a:t>
            </a: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序列预测</a:t>
            </a:r>
          </a:p>
          <a:p>
            <a:pPr marL="342900" indent="-342900" algn="just" defTabSz="1219200">
              <a:lnSpc>
                <a:spcPct val="150000"/>
              </a:lnSpc>
              <a:spcAft>
                <a:spcPts val="635"/>
              </a:spcAft>
              <a:buSzPct val="60000"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2021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8BBB-11F2-A723-0057-F2B6F73B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BD5B41-CA31-7A17-A8D3-7AA91688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监督学习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54A02-EE7E-7484-3B77-6119852D1A1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基本问题</a:t>
            </a:r>
            <a:r>
              <a:rPr lang="zh-CN" altLang="en-US" dirty="0"/>
              <a:t>：分类问题 </a:t>
            </a:r>
            <a:r>
              <a:rPr lang="en-US" altLang="zh-CN" dirty="0"/>
              <a:t>&amp; 回归问题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602217-1683-B384-27AB-9E5A00FF6F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5/36</a:t>
            </a:r>
            <a:endParaRPr lang="zh-CN" alt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7BD5E5F7-9857-85F5-21A7-C346E626B9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500" b="62167" l="25400" r="36400">
                        <a14:foregroundMark x1="25400" y1="46833" x2="25400" y2="46833"/>
                        <a14:foregroundMark x1="29400" y1="49833" x2="29400" y2="49833"/>
                        <a14:backgroundMark x1="29667" y1="43000" x2="29667" y2="43000"/>
                        <a14:backgroundMark x1="28733" y1="41000" x2="33067" y2="44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36" t="35588" r="62222" b="34725"/>
          <a:stretch/>
        </p:blipFill>
        <p:spPr bwMode="auto">
          <a:xfrm>
            <a:off x="8136464" y="1794159"/>
            <a:ext cx="1651001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3F60EA44-6FF3-7E16-422A-C79714D7C8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8299" b="62743" l="63604" r="74104">
                        <a14:foregroundMark x1="63800" y1="39667" x2="63800" y2="39667"/>
                        <a14:foregroundMark x1="65867" y1="55833" x2="65867" y2="55833"/>
                        <a14:foregroundMark x1="68333" y1="58167" x2="68333" y2="58167"/>
                        <a14:foregroundMark x1="69800" y1="53333" x2="69800" y2="53333"/>
                        <a14:foregroundMark x1="72333" y1="54167" x2="72333" y2="54167"/>
                        <a14:foregroundMark x1="73467" y1="46833" x2="73467" y2="46833"/>
                        <a14:foregroundMark x1="72533" y1="40167" x2="72533" y2="40167"/>
                        <a14:foregroundMark x1="70933" y1="44500" x2="70933" y2="44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292" t="35243" r="24583" b="34201"/>
          <a:stretch/>
        </p:blipFill>
        <p:spPr bwMode="auto">
          <a:xfrm>
            <a:off x="2290234" y="1794159"/>
            <a:ext cx="1600200" cy="149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A77B6FF-02B8-5BC5-DC36-BDAE9BF459FF}"/>
              </a:ext>
            </a:extLst>
          </p:cNvPr>
          <p:cNvSpPr txBox="1"/>
          <p:nvPr/>
        </p:nvSpPr>
        <p:spPr>
          <a:xfrm>
            <a:off x="1524001" y="3312271"/>
            <a:ext cx="313266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分类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预测非连续的、离散的数据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2F103C-A290-C691-851A-2F516A07D6F4}"/>
              </a:ext>
            </a:extLst>
          </p:cNvPr>
          <p:cNvSpPr txBox="1"/>
          <p:nvPr/>
        </p:nvSpPr>
        <p:spPr>
          <a:xfrm>
            <a:off x="7395631" y="3312270"/>
            <a:ext cx="313266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回归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预测连续的、具体的数据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7B56A6D-25D1-0364-1EDA-B943933F89D0}"/>
                  </a:ext>
                </a:extLst>
              </p:cNvPr>
              <p:cNvSpPr txBox="1"/>
              <p:nvPr/>
            </p:nvSpPr>
            <p:spPr>
              <a:xfrm>
                <a:off x="1524000" y="4104908"/>
                <a:ext cx="3522133" cy="1942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输入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2"/>
                    </a:solidFill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误差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0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7B56A6D-25D1-0364-1EDA-B943933F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104908"/>
                <a:ext cx="3522133" cy="1942648"/>
              </a:xfrm>
              <a:prstGeom prst="rect">
                <a:avLst/>
              </a:prstGeom>
              <a:blipFill>
                <a:blip r:embed="rId8"/>
                <a:stretch>
                  <a:fillRect l="-1730" b="-36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EBCF1B4-BBDB-FF92-3759-1C9AD6D5309E}"/>
                  </a:ext>
                </a:extLst>
              </p:cNvPr>
              <p:cNvSpPr txBox="1"/>
              <p:nvPr/>
            </p:nvSpPr>
            <p:spPr>
              <a:xfrm>
                <a:off x="7230535" y="4104908"/>
                <a:ext cx="3522133" cy="19426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输入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输出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2000" dirty="0">
                    <a:solidFill>
                      <a:schemeClr val="tx2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</a:rPr>
                  <a:t>误差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EBCF1B4-BBDB-FF92-3759-1C9AD6D53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535" y="4104908"/>
                <a:ext cx="3522133" cy="1942648"/>
              </a:xfrm>
              <a:prstGeom prst="rect">
                <a:avLst/>
              </a:prstGeom>
              <a:blipFill>
                <a:blip r:embed="rId9"/>
                <a:stretch>
                  <a:fillRect l="-1730" b="-36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226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0657-0AAA-570A-1AED-1A189FFB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8D638-455E-1566-6B50-B306D0C4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D39ACE-765B-7837-28FF-60FD6CFB3E4B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一、绪论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A250BE-D2BB-7D08-978A-0C052907C32D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D39C2D-A191-3AD7-DE11-FD01AC26B541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</a:t>
            </a:r>
            <a:r>
              <a:rPr lang="zh-CN" altLang="en-US" dirty="0"/>
              <a:t>、</a:t>
            </a:r>
            <a:r>
              <a:rPr lang="zh-CN" altLang="en-US"/>
              <a:t>决策树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85A787-9836-9886-06F6-8E1565A571CF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421B51-2E34-4748-BF21-2345147DD798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Microsoft YaHei"/>
              </a:rPr>
              <a:t>6/36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612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E6F2-3C1D-111A-355B-60317247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72BE-50F9-9015-7A82-0D1FB316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回归问题</a:t>
            </a:r>
            <a:r>
              <a:rPr lang="zh-CN" altLang="en-US" dirty="0"/>
              <a:t>：最小二乘法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DFBD2-FE33-EDB0-4D37-1BC66EF3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7/36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19188D-73CC-7E45-1C41-BCEDCC1FEB91}"/>
                  </a:ext>
                </a:extLst>
              </p:cNvPr>
              <p:cNvSpPr txBox="1"/>
              <p:nvPr/>
            </p:nvSpPr>
            <p:spPr>
              <a:xfrm>
                <a:off x="8253106" y="1621784"/>
                <a:ext cx="3669933" cy="7305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lim>
                          </m:limLow>
                        </m:fName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CN" sz="3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19188D-73CC-7E45-1C41-BCEDCC1FE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106" y="1621784"/>
                <a:ext cx="3669933" cy="730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22480C72-5EA1-AECF-465D-2B3363410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50122"/>
              </p:ext>
            </p:extLst>
          </p:nvPr>
        </p:nvGraphicFramePr>
        <p:xfrm>
          <a:off x="5150321" y="3938966"/>
          <a:ext cx="4393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381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5FBAEB-FDBA-BABA-8E47-E304936DB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0297"/>
              </p:ext>
            </p:extLst>
          </p:nvPr>
        </p:nvGraphicFramePr>
        <p:xfrm>
          <a:off x="6845033" y="3938966"/>
          <a:ext cx="45049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493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A18897-349C-8A9B-5428-6BE830317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224960"/>
              </p:ext>
            </p:extLst>
          </p:nvPr>
        </p:nvGraphicFramePr>
        <p:xfrm>
          <a:off x="5949704" y="3933611"/>
          <a:ext cx="36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6820630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1712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3EB549-044E-C4F2-724C-6E7ABF930573}"/>
                  </a:ext>
                </a:extLst>
              </p:cNvPr>
              <p:cNvSpPr txBox="1"/>
              <p:nvPr/>
            </p:nvSpPr>
            <p:spPr>
              <a:xfrm flipH="1">
                <a:off x="6006469" y="3502429"/>
                <a:ext cx="2464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𝑲</m:t>
                      </m:r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3EB549-044E-C4F2-724C-6E7ABF930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06469" y="3502429"/>
                <a:ext cx="246469" cy="430887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EEBF55-F586-552E-D133-6F81730F51CA}"/>
                  </a:ext>
                </a:extLst>
              </p:cNvPr>
              <p:cNvSpPr txBox="1"/>
              <p:nvPr/>
            </p:nvSpPr>
            <p:spPr>
              <a:xfrm>
                <a:off x="6366889" y="3861029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EEBF55-F586-552E-D133-6F81730F5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889" y="3861029"/>
                <a:ext cx="3600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648AB-F4B7-B5A5-49FB-6140C0C6387C}"/>
                  </a:ext>
                </a:extLst>
              </p:cNvPr>
              <p:cNvSpPr txBox="1"/>
              <p:nvPr/>
            </p:nvSpPr>
            <p:spPr>
              <a:xfrm>
                <a:off x="6797723" y="3478200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648AB-F4B7-B5A5-49FB-6140C0C63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723" y="3478200"/>
                <a:ext cx="43938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CAEFA3-4FE9-15D2-22A7-B979FA3862F1}"/>
                  </a:ext>
                </a:extLst>
              </p:cNvPr>
              <p:cNvSpPr txBox="1"/>
              <p:nvPr/>
            </p:nvSpPr>
            <p:spPr>
              <a:xfrm>
                <a:off x="5104852" y="3471445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CAEFA3-4FE9-15D2-22A7-B979FA386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852" y="3471445"/>
                <a:ext cx="43938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6FD076-F536-B649-38AE-62A349F71F62}"/>
                  </a:ext>
                </a:extLst>
              </p:cNvPr>
              <p:cNvSpPr txBox="1"/>
              <p:nvPr/>
            </p:nvSpPr>
            <p:spPr>
              <a:xfrm>
                <a:off x="5542570" y="3899422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6FD076-F536-B649-38AE-62A349F71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570" y="3899422"/>
                <a:ext cx="36000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>
            <a:extLst>
              <a:ext uri="{FF2B5EF4-FFF2-40B4-BE49-F238E27FC236}">
                <a16:creationId xmlns:a16="http://schemas.microsoft.com/office/drawing/2014/main" id="{3F80FC7E-1592-294E-DC0E-E3EC76768F81}"/>
              </a:ext>
            </a:extLst>
          </p:cNvPr>
          <p:cNvSpPr/>
          <p:nvPr/>
        </p:nvSpPr>
        <p:spPr>
          <a:xfrm rot="5400000">
            <a:off x="2304079" y="2351418"/>
            <a:ext cx="326022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086084-92AC-37BA-31FA-F87F2F8CD672}"/>
              </a:ext>
            </a:extLst>
          </p:cNvPr>
          <p:cNvGrpSpPr/>
          <p:nvPr/>
        </p:nvGrpSpPr>
        <p:grpSpPr>
          <a:xfrm>
            <a:off x="171596" y="3096582"/>
            <a:ext cx="3991031" cy="3265884"/>
            <a:chOff x="343697" y="3273447"/>
            <a:chExt cx="3991031" cy="326588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82C0FA4-D34B-CFE2-5D30-05E3AED5A1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25035" t="9411" r="21073" b="10581"/>
            <a:stretch/>
          </p:blipFill>
          <p:spPr>
            <a:xfrm>
              <a:off x="1378021" y="3273447"/>
              <a:ext cx="2956707" cy="29263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747E0D9-4F63-4545-0BEA-1B88C735A5D7}"/>
                    </a:ext>
                  </a:extLst>
                </p:cNvPr>
                <p:cNvSpPr txBox="1"/>
                <p:nvPr/>
              </p:nvSpPr>
              <p:spPr>
                <a:xfrm>
                  <a:off x="2121728" y="6169999"/>
                  <a:ext cx="12961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dirty="0"/>
                    <a:t>位移</a:t>
                  </a:r>
                  <a:r>
                    <a:rPr lang="zh-CN" altLang="en-US" dirty="0"/>
                    <a:t>大小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CN" i="1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747E0D9-4F63-4545-0BEA-1B88C735A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1728" y="6169999"/>
                  <a:ext cx="1296124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4245" t="-14754" b="-180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700C444-7515-030F-C646-6F6EB17E3F92}"/>
                    </a:ext>
                  </a:extLst>
                </p:cNvPr>
                <p:cNvSpPr txBox="1"/>
                <p:nvPr/>
              </p:nvSpPr>
              <p:spPr>
                <a:xfrm>
                  <a:off x="343697" y="4349734"/>
                  <a:ext cx="11079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CN" dirty="0"/>
                    <a:t>弹簧拉力</a:t>
                  </a:r>
                  <a:br>
                    <a:rPr lang="en-US" dirty="0"/>
                  </a:br>
                  <a:r>
                    <a:rPr lang="zh-CN" altLang="en-US" dirty="0"/>
                    <a:t>大小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700C444-7515-030F-C646-6F6EB17E3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697" y="4349734"/>
                  <a:ext cx="1107996" cy="646331"/>
                </a:xfrm>
                <a:prstGeom prst="rect">
                  <a:avLst/>
                </a:prstGeom>
                <a:blipFill>
                  <a:blip r:embed="rId13"/>
                  <a:stretch>
                    <a:fillRect l="-3846" t="-8491" r="-4396" b="-113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B286B7F-8D8F-7F20-1590-D59F92F044EF}"/>
              </a:ext>
            </a:extLst>
          </p:cNvPr>
          <p:cNvSpPr txBox="1"/>
          <p:nvPr/>
        </p:nvSpPr>
        <p:spPr>
          <a:xfrm>
            <a:off x="484054" y="1050273"/>
            <a:ext cx="10575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tx2"/>
                </a:solidFill>
              </a:rPr>
              <a:t>大学物理实验课</a:t>
            </a:r>
            <a:r>
              <a:rPr lang="zh-CN" altLang="en-US" dirty="0">
                <a:solidFill>
                  <a:schemeClr val="tx2"/>
                </a:solidFill>
              </a:rPr>
              <a:t>，测量轻质弹簧拉力与弹簧伸长位移的关系，以验证胡克定律，并测算弹簧弹性系数。</a:t>
            </a:r>
            <a:endParaRPr lang="en-CN" dirty="0">
              <a:solidFill>
                <a:schemeClr val="tx2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D359B1-795A-BEA5-FFE0-39759FA7BB60}"/>
              </a:ext>
            </a:extLst>
          </p:cNvPr>
          <p:cNvGrpSpPr/>
          <p:nvPr/>
        </p:nvGrpSpPr>
        <p:grpSpPr>
          <a:xfrm>
            <a:off x="944910" y="1576728"/>
            <a:ext cx="3284031" cy="871279"/>
            <a:chOff x="6669149" y="116259"/>
            <a:chExt cx="2269553" cy="63030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DE116D-DFB5-CBBF-B73B-36EA73949A1F}"/>
                </a:ext>
              </a:extLst>
            </p:cNvPr>
            <p:cNvSpPr/>
            <p:nvPr/>
          </p:nvSpPr>
          <p:spPr>
            <a:xfrm>
              <a:off x="8258713" y="121106"/>
              <a:ext cx="378826" cy="3788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BD64754-5DFA-82B0-5AF5-7CB779DE0337}"/>
                </a:ext>
              </a:extLst>
            </p:cNvPr>
            <p:cNvGrpSpPr/>
            <p:nvPr/>
          </p:nvGrpSpPr>
          <p:grpSpPr>
            <a:xfrm>
              <a:off x="6669149" y="116259"/>
              <a:ext cx="2269553" cy="630308"/>
              <a:chOff x="6758940" y="691048"/>
              <a:chExt cx="2269553" cy="630308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62F6E08-96C6-81E5-4E3C-E6E778E54902}"/>
                  </a:ext>
                </a:extLst>
              </p:cNvPr>
              <p:cNvSpPr/>
              <p:nvPr/>
            </p:nvSpPr>
            <p:spPr>
              <a:xfrm>
                <a:off x="6758940" y="1076366"/>
                <a:ext cx="2269553" cy="24499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21FBE4E-AE3C-1D66-DF73-6BC997AA0A8B}"/>
                  </a:ext>
                </a:extLst>
              </p:cNvPr>
              <p:cNvSpPr/>
              <p:nvPr/>
            </p:nvSpPr>
            <p:spPr>
              <a:xfrm>
                <a:off x="6758940" y="691048"/>
                <a:ext cx="175260" cy="3788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02754D0-DB6F-46E6-EF2D-F5151D3E5A4E}"/>
                </a:ext>
              </a:extLst>
            </p:cNvPr>
            <p:cNvCxnSpPr>
              <a:cxnSpLocks/>
              <a:stCxn id="33" idx="3"/>
              <a:endCxn id="30" idx="1"/>
            </p:cNvCxnSpPr>
            <p:nvPr/>
          </p:nvCxnSpPr>
          <p:spPr>
            <a:xfrm>
              <a:off x="6844409" y="305672"/>
              <a:ext cx="1414304" cy="48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84E1719-E5EB-97AE-F46A-D1A00FEEC3C2}"/>
                </a:ext>
              </a:extLst>
            </p:cNvPr>
            <p:cNvSpPr/>
            <p:nvPr/>
          </p:nvSpPr>
          <p:spPr>
            <a:xfrm>
              <a:off x="7118209" y="213187"/>
              <a:ext cx="791178" cy="184969"/>
            </a:xfrm>
            <a:custGeom>
              <a:avLst/>
              <a:gdLst>
                <a:gd name="connsiteX0" fmla="*/ 0 w 1577782"/>
                <a:gd name="connsiteY0" fmla="*/ 152400 h 184969"/>
                <a:gd name="connsiteX1" fmla="*/ 22860 w 1577782"/>
                <a:gd name="connsiteY1" fmla="*/ 38100 h 184969"/>
                <a:gd name="connsiteX2" fmla="*/ 30480 w 1577782"/>
                <a:gd name="connsiteY2" fmla="*/ 15240 h 184969"/>
                <a:gd name="connsiteX3" fmla="*/ 53340 w 1577782"/>
                <a:gd name="connsiteY3" fmla="*/ 0 h 184969"/>
                <a:gd name="connsiteX4" fmla="*/ 99060 w 1577782"/>
                <a:gd name="connsiteY4" fmla="*/ 30480 h 184969"/>
                <a:gd name="connsiteX5" fmla="*/ 114300 w 1577782"/>
                <a:gd name="connsiteY5" fmla="*/ 76200 h 184969"/>
                <a:gd name="connsiteX6" fmla="*/ 106680 w 1577782"/>
                <a:gd name="connsiteY6" fmla="*/ 144780 h 184969"/>
                <a:gd name="connsiteX7" fmla="*/ 99060 w 1577782"/>
                <a:gd name="connsiteY7" fmla="*/ 167640 h 184969"/>
                <a:gd name="connsiteX8" fmla="*/ 76200 w 1577782"/>
                <a:gd name="connsiteY8" fmla="*/ 175260 h 184969"/>
                <a:gd name="connsiteX9" fmla="*/ 68580 w 1577782"/>
                <a:gd name="connsiteY9" fmla="*/ 53340 h 184969"/>
                <a:gd name="connsiteX10" fmla="*/ 76200 w 1577782"/>
                <a:gd name="connsiteY10" fmla="*/ 30480 h 184969"/>
                <a:gd name="connsiteX11" fmla="*/ 121920 w 1577782"/>
                <a:gd name="connsiteY11" fmla="*/ 0 h 184969"/>
                <a:gd name="connsiteX12" fmla="*/ 175260 w 1577782"/>
                <a:gd name="connsiteY12" fmla="*/ 22860 h 184969"/>
                <a:gd name="connsiteX13" fmla="*/ 190500 w 1577782"/>
                <a:gd name="connsiteY13" fmla="*/ 68580 h 184969"/>
                <a:gd name="connsiteX14" fmla="*/ 182880 w 1577782"/>
                <a:gd name="connsiteY14" fmla="*/ 129540 h 184969"/>
                <a:gd name="connsiteX15" fmla="*/ 167640 w 1577782"/>
                <a:gd name="connsiteY15" fmla="*/ 152400 h 184969"/>
                <a:gd name="connsiteX16" fmla="*/ 152400 w 1577782"/>
                <a:gd name="connsiteY16" fmla="*/ 106680 h 184969"/>
                <a:gd name="connsiteX17" fmla="*/ 160020 w 1577782"/>
                <a:gd name="connsiteY17" fmla="*/ 45720 h 184969"/>
                <a:gd name="connsiteX18" fmla="*/ 167640 w 1577782"/>
                <a:gd name="connsiteY18" fmla="*/ 22860 h 184969"/>
                <a:gd name="connsiteX19" fmla="*/ 213360 w 1577782"/>
                <a:gd name="connsiteY19" fmla="*/ 7620 h 184969"/>
                <a:gd name="connsiteX20" fmla="*/ 236220 w 1577782"/>
                <a:gd name="connsiteY20" fmla="*/ 0 h 184969"/>
                <a:gd name="connsiteX21" fmla="*/ 259080 w 1577782"/>
                <a:gd name="connsiteY21" fmla="*/ 7620 h 184969"/>
                <a:gd name="connsiteX22" fmla="*/ 281940 w 1577782"/>
                <a:gd name="connsiteY22" fmla="*/ 53340 h 184969"/>
                <a:gd name="connsiteX23" fmla="*/ 274320 w 1577782"/>
                <a:gd name="connsiteY23" fmla="*/ 152400 h 184969"/>
                <a:gd name="connsiteX24" fmla="*/ 251460 w 1577782"/>
                <a:gd name="connsiteY24" fmla="*/ 167640 h 184969"/>
                <a:gd name="connsiteX25" fmla="*/ 228600 w 1577782"/>
                <a:gd name="connsiteY25" fmla="*/ 152400 h 184969"/>
                <a:gd name="connsiteX26" fmla="*/ 220980 w 1577782"/>
                <a:gd name="connsiteY26" fmla="*/ 129540 h 184969"/>
                <a:gd name="connsiteX27" fmla="*/ 228600 w 1577782"/>
                <a:gd name="connsiteY27" fmla="*/ 68580 h 184969"/>
                <a:gd name="connsiteX28" fmla="*/ 236220 w 1577782"/>
                <a:gd name="connsiteY28" fmla="*/ 45720 h 184969"/>
                <a:gd name="connsiteX29" fmla="*/ 259080 w 1577782"/>
                <a:gd name="connsiteY29" fmla="*/ 38100 h 184969"/>
                <a:gd name="connsiteX30" fmla="*/ 312420 w 1577782"/>
                <a:gd name="connsiteY30" fmla="*/ 22860 h 184969"/>
                <a:gd name="connsiteX31" fmla="*/ 358140 w 1577782"/>
                <a:gd name="connsiteY31" fmla="*/ 60960 h 184969"/>
                <a:gd name="connsiteX32" fmla="*/ 373380 w 1577782"/>
                <a:gd name="connsiteY32" fmla="*/ 106680 h 184969"/>
                <a:gd name="connsiteX33" fmla="*/ 365760 w 1577782"/>
                <a:gd name="connsiteY33" fmla="*/ 144780 h 184969"/>
                <a:gd name="connsiteX34" fmla="*/ 342900 w 1577782"/>
                <a:gd name="connsiteY34" fmla="*/ 152400 h 184969"/>
                <a:gd name="connsiteX35" fmla="*/ 320040 w 1577782"/>
                <a:gd name="connsiteY35" fmla="*/ 106680 h 184969"/>
                <a:gd name="connsiteX36" fmla="*/ 327660 w 1577782"/>
                <a:gd name="connsiteY36" fmla="*/ 68580 h 184969"/>
                <a:gd name="connsiteX37" fmla="*/ 335280 w 1577782"/>
                <a:gd name="connsiteY37" fmla="*/ 45720 h 184969"/>
                <a:gd name="connsiteX38" fmla="*/ 411480 w 1577782"/>
                <a:gd name="connsiteY38" fmla="*/ 7620 h 184969"/>
                <a:gd name="connsiteX39" fmla="*/ 434340 w 1577782"/>
                <a:gd name="connsiteY39" fmla="*/ 15240 h 184969"/>
                <a:gd name="connsiteX40" fmla="*/ 441960 w 1577782"/>
                <a:gd name="connsiteY40" fmla="*/ 38100 h 184969"/>
                <a:gd name="connsiteX41" fmla="*/ 449580 w 1577782"/>
                <a:gd name="connsiteY41" fmla="*/ 68580 h 184969"/>
                <a:gd name="connsiteX42" fmla="*/ 464820 w 1577782"/>
                <a:gd name="connsiteY42" fmla="*/ 121920 h 184969"/>
                <a:gd name="connsiteX43" fmla="*/ 434340 w 1577782"/>
                <a:gd name="connsiteY43" fmla="*/ 160020 h 184969"/>
                <a:gd name="connsiteX44" fmla="*/ 411480 w 1577782"/>
                <a:gd name="connsiteY44" fmla="*/ 144780 h 184969"/>
                <a:gd name="connsiteX45" fmla="*/ 403860 w 1577782"/>
                <a:gd name="connsiteY45" fmla="*/ 114300 h 184969"/>
                <a:gd name="connsiteX46" fmla="*/ 441960 w 1577782"/>
                <a:gd name="connsiteY46" fmla="*/ 38100 h 184969"/>
                <a:gd name="connsiteX47" fmla="*/ 464820 w 1577782"/>
                <a:gd name="connsiteY47" fmla="*/ 30480 h 184969"/>
                <a:gd name="connsiteX48" fmla="*/ 510540 w 1577782"/>
                <a:gd name="connsiteY48" fmla="*/ 7620 h 184969"/>
                <a:gd name="connsiteX49" fmla="*/ 541020 w 1577782"/>
                <a:gd name="connsiteY49" fmla="*/ 15240 h 184969"/>
                <a:gd name="connsiteX50" fmla="*/ 548640 w 1577782"/>
                <a:gd name="connsiteY50" fmla="*/ 91440 h 184969"/>
                <a:gd name="connsiteX51" fmla="*/ 541020 w 1577782"/>
                <a:gd name="connsiteY51" fmla="*/ 121920 h 184969"/>
                <a:gd name="connsiteX52" fmla="*/ 502920 w 1577782"/>
                <a:gd name="connsiteY52" fmla="*/ 160020 h 184969"/>
                <a:gd name="connsiteX53" fmla="*/ 480060 w 1577782"/>
                <a:gd name="connsiteY53" fmla="*/ 167640 h 184969"/>
                <a:gd name="connsiteX54" fmla="*/ 457200 w 1577782"/>
                <a:gd name="connsiteY54" fmla="*/ 160020 h 184969"/>
                <a:gd name="connsiteX55" fmla="*/ 441960 w 1577782"/>
                <a:gd name="connsiteY55" fmla="*/ 114300 h 184969"/>
                <a:gd name="connsiteX56" fmla="*/ 502920 w 1577782"/>
                <a:gd name="connsiteY56" fmla="*/ 38100 h 184969"/>
                <a:gd name="connsiteX57" fmla="*/ 525780 w 1577782"/>
                <a:gd name="connsiteY57" fmla="*/ 22860 h 184969"/>
                <a:gd name="connsiteX58" fmla="*/ 548640 w 1577782"/>
                <a:gd name="connsiteY58" fmla="*/ 7620 h 184969"/>
                <a:gd name="connsiteX59" fmla="*/ 594360 w 1577782"/>
                <a:gd name="connsiteY59" fmla="*/ 22860 h 184969"/>
                <a:gd name="connsiteX60" fmla="*/ 617220 w 1577782"/>
                <a:gd name="connsiteY60" fmla="*/ 30480 h 184969"/>
                <a:gd name="connsiteX61" fmla="*/ 640080 w 1577782"/>
                <a:gd name="connsiteY61" fmla="*/ 45720 h 184969"/>
                <a:gd name="connsiteX62" fmla="*/ 685800 w 1577782"/>
                <a:gd name="connsiteY62" fmla="*/ 68580 h 184969"/>
                <a:gd name="connsiteX63" fmla="*/ 693420 w 1577782"/>
                <a:gd name="connsiteY63" fmla="*/ 91440 h 184969"/>
                <a:gd name="connsiteX64" fmla="*/ 678180 w 1577782"/>
                <a:gd name="connsiteY64" fmla="*/ 167640 h 184969"/>
                <a:gd name="connsiteX65" fmla="*/ 632460 w 1577782"/>
                <a:gd name="connsiteY65" fmla="*/ 160020 h 184969"/>
                <a:gd name="connsiteX66" fmla="*/ 617220 w 1577782"/>
                <a:gd name="connsiteY66" fmla="*/ 114300 h 184969"/>
                <a:gd name="connsiteX67" fmla="*/ 624840 w 1577782"/>
                <a:gd name="connsiteY67" fmla="*/ 68580 h 184969"/>
                <a:gd name="connsiteX68" fmla="*/ 640080 w 1577782"/>
                <a:gd name="connsiteY68" fmla="*/ 45720 h 184969"/>
                <a:gd name="connsiteX69" fmla="*/ 693420 w 1577782"/>
                <a:gd name="connsiteY69" fmla="*/ 30480 h 184969"/>
                <a:gd name="connsiteX70" fmla="*/ 739140 w 1577782"/>
                <a:gd name="connsiteY70" fmla="*/ 38100 h 184969"/>
                <a:gd name="connsiteX71" fmla="*/ 777240 w 1577782"/>
                <a:gd name="connsiteY71" fmla="*/ 106680 h 184969"/>
                <a:gd name="connsiteX72" fmla="*/ 754380 w 1577782"/>
                <a:gd name="connsiteY72" fmla="*/ 167640 h 184969"/>
                <a:gd name="connsiteX73" fmla="*/ 731520 w 1577782"/>
                <a:gd name="connsiteY73" fmla="*/ 160020 h 184969"/>
                <a:gd name="connsiteX74" fmla="*/ 731520 w 1577782"/>
                <a:gd name="connsiteY74" fmla="*/ 91440 h 184969"/>
                <a:gd name="connsiteX75" fmla="*/ 739140 w 1577782"/>
                <a:gd name="connsiteY75" fmla="*/ 68580 h 184969"/>
                <a:gd name="connsiteX76" fmla="*/ 762000 w 1577782"/>
                <a:gd name="connsiteY76" fmla="*/ 60960 h 184969"/>
                <a:gd name="connsiteX77" fmla="*/ 784860 w 1577782"/>
                <a:gd name="connsiteY77" fmla="*/ 45720 h 184969"/>
                <a:gd name="connsiteX78" fmla="*/ 830580 w 1577782"/>
                <a:gd name="connsiteY78" fmla="*/ 30480 h 184969"/>
                <a:gd name="connsiteX79" fmla="*/ 853440 w 1577782"/>
                <a:gd name="connsiteY79" fmla="*/ 38100 h 184969"/>
                <a:gd name="connsiteX80" fmla="*/ 891540 w 1577782"/>
                <a:gd name="connsiteY80" fmla="*/ 106680 h 184969"/>
                <a:gd name="connsiteX81" fmla="*/ 899160 w 1577782"/>
                <a:gd name="connsiteY81" fmla="*/ 137160 h 184969"/>
                <a:gd name="connsiteX82" fmla="*/ 891540 w 1577782"/>
                <a:gd name="connsiteY82" fmla="*/ 160020 h 184969"/>
                <a:gd name="connsiteX83" fmla="*/ 845820 w 1577782"/>
                <a:gd name="connsiteY83" fmla="*/ 160020 h 184969"/>
                <a:gd name="connsiteX84" fmla="*/ 830580 w 1577782"/>
                <a:gd name="connsiteY84" fmla="*/ 137160 h 184969"/>
                <a:gd name="connsiteX85" fmla="*/ 853440 w 1577782"/>
                <a:gd name="connsiteY85" fmla="*/ 76200 h 184969"/>
                <a:gd name="connsiteX86" fmla="*/ 899160 w 1577782"/>
                <a:gd name="connsiteY86" fmla="*/ 60960 h 184969"/>
                <a:gd name="connsiteX87" fmla="*/ 922020 w 1577782"/>
                <a:gd name="connsiteY87" fmla="*/ 53340 h 184969"/>
                <a:gd name="connsiteX88" fmla="*/ 982980 w 1577782"/>
                <a:gd name="connsiteY88" fmla="*/ 60960 h 184969"/>
                <a:gd name="connsiteX89" fmla="*/ 998220 w 1577782"/>
                <a:gd name="connsiteY89" fmla="*/ 106680 h 184969"/>
                <a:gd name="connsiteX90" fmla="*/ 990600 w 1577782"/>
                <a:gd name="connsiteY90" fmla="*/ 160020 h 184969"/>
                <a:gd name="connsiteX91" fmla="*/ 975360 w 1577782"/>
                <a:gd name="connsiteY91" fmla="*/ 137160 h 184969"/>
                <a:gd name="connsiteX92" fmla="*/ 982980 w 1577782"/>
                <a:gd name="connsiteY92" fmla="*/ 83820 h 184969"/>
                <a:gd name="connsiteX93" fmla="*/ 990600 w 1577782"/>
                <a:gd name="connsiteY93" fmla="*/ 60960 h 184969"/>
                <a:gd name="connsiteX94" fmla="*/ 1036320 w 1577782"/>
                <a:gd name="connsiteY94" fmla="*/ 45720 h 184969"/>
                <a:gd name="connsiteX95" fmla="*/ 1082040 w 1577782"/>
                <a:gd name="connsiteY95" fmla="*/ 53340 h 184969"/>
                <a:gd name="connsiteX96" fmla="*/ 1097280 w 1577782"/>
                <a:gd name="connsiteY96" fmla="*/ 99060 h 184969"/>
                <a:gd name="connsiteX97" fmla="*/ 1089660 w 1577782"/>
                <a:gd name="connsiteY97" fmla="*/ 167640 h 184969"/>
                <a:gd name="connsiteX98" fmla="*/ 1066800 w 1577782"/>
                <a:gd name="connsiteY98" fmla="*/ 160020 h 184969"/>
                <a:gd name="connsiteX99" fmla="*/ 1043940 w 1577782"/>
                <a:gd name="connsiteY99" fmla="*/ 114300 h 184969"/>
                <a:gd name="connsiteX100" fmla="*/ 1066800 w 1577782"/>
                <a:gd name="connsiteY100" fmla="*/ 68580 h 184969"/>
                <a:gd name="connsiteX101" fmla="*/ 1074420 w 1577782"/>
                <a:gd name="connsiteY101" fmla="*/ 45720 h 184969"/>
                <a:gd name="connsiteX102" fmla="*/ 1120140 w 1577782"/>
                <a:gd name="connsiteY102" fmla="*/ 38100 h 184969"/>
                <a:gd name="connsiteX103" fmla="*/ 1181100 w 1577782"/>
                <a:gd name="connsiteY103" fmla="*/ 45720 h 184969"/>
                <a:gd name="connsiteX104" fmla="*/ 1196340 w 1577782"/>
                <a:gd name="connsiteY104" fmla="*/ 68580 h 184969"/>
                <a:gd name="connsiteX105" fmla="*/ 1203960 w 1577782"/>
                <a:gd name="connsiteY105" fmla="*/ 91440 h 184969"/>
                <a:gd name="connsiteX106" fmla="*/ 1226820 w 1577782"/>
                <a:gd name="connsiteY106" fmla="*/ 137160 h 184969"/>
                <a:gd name="connsiteX107" fmla="*/ 1181100 w 1577782"/>
                <a:gd name="connsiteY107" fmla="*/ 144780 h 184969"/>
                <a:gd name="connsiteX108" fmla="*/ 1150620 w 1577782"/>
                <a:gd name="connsiteY108" fmla="*/ 99060 h 184969"/>
                <a:gd name="connsiteX109" fmla="*/ 1181100 w 1577782"/>
                <a:gd name="connsiteY109" fmla="*/ 60960 h 184969"/>
                <a:gd name="connsiteX110" fmla="*/ 1219200 w 1577782"/>
                <a:gd name="connsiteY110" fmla="*/ 30480 h 184969"/>
                <a:gd name="connsiteX111" fmla="*/ 1280160 w 1577782"/>
                <a:gd name="connsiteY111" fmla="*/ 45720 h 184969"/>
                <a:gd name="connsiteX112" fmla="*/ 1295400 w 1577782"/>
                <a:gd name="connsiteY112" fmla="*/ 68580 h 184969"/>
                <a:gd name="connsiteX113" fmla="*/ 1318260 w 1577782"/>
                <a:gd name="connsiteY113" fmla="*/ 83820 h 184969"/>
                <a:gd name="connsiteX114" fmla="*/ 1325880 w 1577782"/>
                <a:gd name="connsiteY114" fmla="*/ 129540 h 184969"/>
                <a:gd name="connsiteX115" fmla="*/ 1303020 w 1577782"/>
                <a:gd name="connsiteY115" fmla="*/ 137160 h 184969"/>
                <a:gd name="connsiteX116" fmla="*/ 1287780 w 1577782"/>
                <a:gd name="connsiteY116" fmla="*/ 114300 h 184969"/>
                <a:gd name="connsiteX117" fmla="*/ 1310640 w 1577782"/>
                <a:gd name="connsiteY117" fmla="*/ 38100 h 184969"/>
                <a:gd name="connsiteX118" fmla="*/ 1356360 w 1577782"/>
                <a:gd name="connsiteY118" fmla="*/ 22860 h 184969"/>
                <a:gd name="connsiteX119" fmla="*/ 1409700 w 1577782"/>
                <a:gd name="connsiteY119" fmla="*/ 45720 h 184969"/>
                <a:gd name="connsiteX120" fmla="*/ 1417320 w 1577782"/>
                <a:gd name="connsiteY120" fmla="*/ 68580 h 184969"/>
                <a:gd name="connsiteX121" fmla="*/ 1432560 w 1577782"/>
                <a:gd name="connsiteY121" fmla="*/ 91440 h 184969"/>
                <a:gd name="connsiteX122" fmla="*/ 1447800 w 1577782"/>
                <a:gd name="connsiteY122" fmla="*/ 137160 h 184969"/>
                <a:gd name="connsiteX123" fmla="*/ 1440180 w 1577782"/>
                <a:gd name="connsiteY123" fmla="*/ 160020 h 184969"/>
                <a:gd name="connsiteX124" fmla="*/ 1409700 w 1577782"/>
                <a:gd name="connsiteY124" fmla="*/ 129540 h 184969"/>
                <a:gd name="connsiteX125" fmla="*/ 1432560 w 1577782"/>
                <a:gd name="connsiteY125" fmla="*/ 76200 h 184969"/>
                <a:gd name="connsiteX126" fmla="*/ 1455420 w 1577782"/>
                <a:gd name="connsiteY126" fmla="*/ 68580 h 184969"/>
                <a:gd name="connsiteX127" fmla="*/ 1516380 w 1577782"/>
                <a:gd name="connsiteY127" fmla="*/ 99060 h 184969"/>
                <a:gd name="connsiteX128" fmla="*/ 1531620 w 1577782"/>
                <a:gd name="connsiteY128" fmla="*/ 144780 h 184969"/>
                <a:gd name="connsiteX129" fmla="*/ 1524000 w 1577782"/>
                <a:gd name="connsiteY129" fmla="*/ 175260 h 184969"/>
                <a:gd name="connsiteX130" fmla="*/ 1501140 w 1577782"/>
                <a:gd name="connsiteY130" fmla="*/ 182880 h 184969"/>
                <a:gd name="connsiteX131" fmla="*/ 1485900 w 1577782"/>
                <a:gd name="connsiteY131" fmla="*/ 137160 h 184969"/>
                <a:gd name="connsiteX132" fmla="*/ 1508760 w 1577782"/>
                <a:gd name="connsiteY132" fmla="*/ 91440 h 184969"/>
                <a:gd name="connsiteX133" fmla="*/ 1531620 w 1577782"/>
                <a:gd name="connsiteY133" fmla="*/ 76200 h 184969"/>
                <a:gd name="connsiteX134" fmla="*/ 1554480 w 1577782"/>
                <a:gd name="connsiteY134" fmla="*/ 68580 h 184969"/>
                <a:gd name="connsiteX135" fmla="*/ 1577340 w 1577782"/>
                <a:gd name="connsiteY135" fmla="*/ 114300 h 184969"/>
                <a:gd name="connsiteX136" fmla="*/ 1577340 w 1577782"/>
                <a:gd name="connsiteY136" fmla="*/ 129540 h 18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577782" h="184969">
                  <a:moveTo>
                    <a:pt x="0" y="152400"/>
                  </a:moveTo>
                  <a:cubicBezTo>
                    <a:pt x="6381" y="107731"/>
                    <a:pt x="8163" y="82191"/>
                    <a:pt x="22860" y="38100"/>
                  </a:cubicBezTo>
                  <a:cubicBezTo>
                    <a:pt x="25400" y="30480"/>
                    <a:pt x="25462" y="21512"/>
                    <a:pt x="30480" y="15240"/>
                  </a:cubicBezTo>
                  <a:cubicBezTo>
                    <a:pt x="36201" y="8089"/>
                    <a:pt x="45720" y="5080"/>
                    <a:pt x="53340" y="0"/>
                  </a:cubicBezTo>
                  <a:cubicBezTo>
                    <a:pt x="83678" y="7585"/>
                    <a:pt x="85904" y="880"/>
                    <a:pt x="99060" y="30480"/>
                  </a:cubicBezTo>
                  <a:cubicBezTo>
                    <a:pt x="105584" y="45160"/>
                    <a:pt x="114300" y="76200"/>
                    <a:pt x="114300" y="76200"/>
                  </a:cubicBezTo>
                  <a:cubicBezTo>
                    <a:pt x="111760" y="99060"/>
                    <a:pt x="110461" y="122092"/>
                    <a:pt x="106680" y="144780"/>
                  </a:cubicBezTo>
                  <a:cubicBezTo>
                    <a:pt x="105360" y="152703"/>
                    <a:pt x="104740" y="161960"/>
                    <a:pt x="99060" y="167640"/>
                  </a:cubicBezTo>
                  <a:cubicBezTo>
                    <a:pt x="93380" y="173320"/>
                    <a:pt x="83820" y="172720"/>
                    <a:pt x="76200" y="175260"/>
                  </a:cubicBezTo>
                  <a:cubicBezTo>
                    <a:pt x="55025" y="111735"/>
                    <a:pt x="55965" y="135336"/>
                    <a:pt x="68580" y="53340"/>
                  </a:cubicBezTo>
                  <a:cubicBezTo>
                    <a:pt x="69801" y="45401"/>
                    <a:pt x="70520" y="36160"/>
                    <a:pt x="76200" y="30480"/>
                  </a:cubicBezTo>
                  <a:cubicBezTo>
                    <a:pt x="89152" y="17528"/>
                    <a:pt x="121920" y="0"/>
                    <a:pt x="121920" y="0"/>
                  </a:cubicBezTo>
                  <a:cubicBezTo>
                    <a:pt x="136322" y="3601"/>
                    <a:pt x="165515" y="7268"/>
                    <a:pt x="175260" y="22860"/>
                  </a:cubicBezTo>
                  <a:cubicBezTo>
                    <a:pt x="183774" y="36483"/>
                    <a:pt x="190500" y="68580"/>
                    <a:pt x="190500" y="68580"/>
                  </a:cubicBezTo>
                  <a:cubicBezTo>
                    <a:pt x="187960" y="88900"/>
                    <a:pt x="188268" y="109783"/>
                    <a:pt x="182880" y="129540"/>
                  </a:cubicBezTo>
                  <a:cubicBezTo>
                    <a:pt x="180470" y="138375"/>
                    <a:pt x="174966" y="157895"/>
                    <a:pt x="167640" y="152400"/>
                  </a:cubicBezTo>
                  <a:cubicBezTo>
                    <a:pt x="154789" y="142761"/>
                    <a:pt x="152400" y="106680"/>
                    <a:pt x="152400" y="106680"/>
                  </a:cubicBezTo>
                  <a:cubicBezTo>
                    <a:pt x="154940" y="86360"/>
                    <a:pt x="156357" y="65868"/>
                    <a:pt x="160020" y="45720"/>
                  </a:cubicBezTo>
                  <a:cubicBezTo>
                    <a:pt x="161457" y="37817"/>
                    <a:pt x="161104" y="27529"/>
                    <a:pt x="167640" y="22860"/>
                  </a:cubicBezTo>
                  <a:cubicBezTo>
                    <a:pt x="180712" y="13523"/>
                    <a:pt x="198120" y="12700"/>
                    <a:pt x="213360" y="7620"/>
                  </a:cubicBezTo>
                  <a:lnTo>
                    <a:pt x="236220" y="0"/>
                  </a:lnTo>
                  <a:cubicBezTo>
                    <a:pt x="243840" y="2540"/>
                    <a:pt x="252808" y="2602"/>
                    <a:pt x="259080" y="7620"/>
                  </a:cubicBezTo>
                  <a:cubicBezTo>
                    <a:pt x="272509" y="18363"/>
                    <a:pt x="276920" y="38281"/>
                    <a:pt x="281940" y="53340"/>
                  </a:cubicBezTo>
                  <a:cubicBezTo>
                    <a:pt x="279400" y="86360"/>
                    <a:pt x="282853" y="120401"/>
                    <a:pt x="274320" y="152400"/>
                  </a:cubicBezTo>
                  <a:cubicBezTo>
                    <a:pt x="271960" y="161249"/>
                    <a:pt x="260618" y="167640"/>
                    <a:pt x="251460" y="167640"/>
                  </a:cubicBezTo>
                  <a:cubicBezTo>
                    <a:pt x="242302" y="167640"/>
                    <a:pt x="236220" y="157480"/>
                    <a:pt x="228600" y="152400"/>
                  </a:cubicBezTo>
                  <a:cubicBezTo>
                    <a:pt x="226060" y="144780"/>
                    <a:pt x="220980" y="137572"/>
                    <a:pt x="220980" y="129540"/>
                  </a:cubicBezTo>
                  <a:cubicBezTo>
                    <a:pt x="220980" y="109062"/>
                    <a:pt x="224937" y="88728"/>
                    <a:pt x="228600" y="68580"/>
                  </a:cubicBezTo>
                  <a:cubicBezTo>
                    <a:pt x="230037" y="60677"/>
                    <a:pt x="230540" y="51400"/>
                    <a:pt x="236220" y="45720"/>
                  </a:cubicBezTo>
                  <a:cubicBezTo>
                    <a:pt x="241900" y="40040"/>
                    <a:pt x="251357" y="40307"/>
                    <a:pt x="259080" y="38100"/>
                  </a:cubicBezTo>
                  <a:cubicBezTo>
                    <a:pt x="326057" y="18964"/>
                    <a:pt x="257610" y="41130"/>
                    <a:pt x="312420" y="22860"/>
                  </a:cubicBezTo>
                  <a:cubicBezTo>
                    <a:pt x="349838" y="32215"/>
                    <a:pt x="342644" y="22220"/>
                    <a:pt x="358140" y="60960"/>
                  </a:cubicBezTo>
                  <a:cubicBezTo>
                    <a:pt x="364106" y="75875"/>
                    <a:pt x="373380" y="106680"/>
                    <a:pt x="373380" y="106680"/>
                  </a:cubicBezTo>
                  <a:cubicBezTo>
                    <a:pt x="370840" y="119380"/>
                    <a:pt x="372944" y="134004"/>
                    <a:pt x="365760" y="144780"/>
                  </a:cubicBezTo>
                  <a:cubicBezTo>
                    <a:pt x="361305" y="151463"/>
                    <a:pt x="350358" y="155383"/>
                    <a:pt x="342900" y="152400"/>
                  </a:cubicBezTo>
                  <a:cubicBezTo>
                    <a:pt x="331537" y="147855"/>
                    <a:pt x="323248" y="116303"/>
                    <a:pt x="320040" y="106680"/>
                  </a:cubicBezTo>
                  <a:cubicBezTo>
                    <a:pt x="322580" y="93980"/>
                    <a:pt x="324519" y="81145"/>
                    <a:pt x="327660" y="68580"/>
                  </a:cubicBezTo>
                  <a:cubicBezTo>
                    <a:pt x="329608" y="60788"/>
                    <a:pt x="329600" y="51400"/>
                    <a:pt x="335280" y="45720"/>
                  </a:cubicBezTo>
                  <a:cubicBezTo>
                    <a:pt x="365521" y="15479"/>
                    <a:pt x="377063" y="16224"/>
                    <a:pt x="411480" y="7620"/>
                  </a:cubicBezTo>
                  <a:cubicBezTo>
                    <a:pt x="419100" y="10160"/>
                    <a:pt x="428660" y="9560"/>
                    <a:pt x="434340" y="15240"/>
                  </a:cubicBezTo>
                  <a:cubicBezTo>
                    <a:pt x="440020" y="20920"/>
                    <a:pt x="439753" y="30377"/>
                    <a:pt x="441960" y="38100"/>
                  </a:cubicBezTo>
                  <a:cubicBezTo>
                    <a:pt x="444837" y="48170"/>
                    <a:pt x="446703" y="58510"/>
                    <a:pt x="449580" y="68580"/>
                  </a:cubicBezTo>
                  <a:cubicBezTo>
                    <a:pt x="471444" y="145102"/>
                    <a:pt x="440999" y="26635"/>
                    <a:pt x="464820" y="121920"/>
                  </a:cubicBezTo>
                  <a:cubicBezTo>
                    <a:pt x="460062" y="136194"/>
                    <a:pt x="457318" y="160020"/>
                    <a:pt x="434340" y="160020"/>
                  </a:cubicBezTo>
                  <a:cubicBezTo>
                    <a:pt x="425182" y="160020"/>
                    <a:pt x="419100" y="149860"/>
                    <a:pt x="411480" y="144780"/>
                  </a:cubicBezTo>
                  <a:cubicBezTo>
                    <a:pt x="408940" y="134620"/>
                    <a:pt x="403860" y="124773"/>
                    <a:pt x="403860" y="114300"/>
                  </a:cubicBezTo>
                  <a:cubicBezTo>
                    <a:pt x="403860" y="94279"/>
                    <a:pt x="426767" y="43164"/>
                    <a:pt x="441960" y="38100"/>
                  </a:cubicBezTo>
                  <a:cubicBezTo>
                    <a:pt x="449580" y="35560"/>
                    <a:pt x="457636" y="34072"/>
                    <a:pt x="464820" y="30480"/>
                  </a:cubicBezTo>
                  <a:cubicBezTo>
                    <a:pt x="523906" y="937"/>
                    <a:pt x="453081" y="26773"/>
                    <a:pt x="510540" y="7620"/>
                  </a:cubicBezTo>
                  <a:cubicBezTo>
                    <a:pt x="520700" y="10160"/>
                    <a:pt x="532306" y="9431"/>
                    <a:pt x="541020" y="15240"/>
                  </a:cubicBezTo>
                  <a:cubicBezTo>
                    <a:pt x="568523" y="33575"/>
                    <a:pt x="553044" y="67216"/>
                    <a:pt x="548640" y="91440"/>
                  </a:cubicBezTo>
                  <a:cubicBezTo>
                    <a:pt x="546767" y="101744"/>
                    <a:pt x="545145" y="112294"/>
                    <a:pt x="541020" y="121920"/>
                  </a:cubicBezTo>
                  <a:cubicBezTo>
                    <a:pt x="532707" y="141316"/>
                    <a:pt x="521393" y="150784"/>
                    <a:pt x="502920" y="160020"/>
                  </a:cubicBezTo>
                  <a:cubicBezTo>
                    <a:pt x="495736" y="163612"/>
                    <a:pt x="487680" y="165100"/>
                    <a:pt x="480060" y="167640"/>
                  </a:cubicBezTo>
                  <a:cubicBezTo>
                    <a:pt x="472440" y="165100"/>
                    <a:pt x="461869" y="166556"/>
                    <a:pt x="457200" y="160020"/>
                  </a:cubicBezTo>
                  <a:cubicBezTo>
                    <a:pt x="447863" y="146948"/>
                    <a:pt x="441960" y="114300"/>
                    <a:pt x="441960" y="114300"/>
                  </a:cubicBezTo>
                  <a:cubicBezTo>
                    <a:pt x="462992" y="51204"/>
                    <a:pt x="443834" y="77491"/>
                    <a:pt x="502920" y="38100"/>
                  </a:cubicBezTo>
                  <a:lnTo>
                    <a:pt x="525780" y="22860"/>
                  </a:lnTo>
                  <a:lnTo>
                    <a:pt x="548640" y="7620"/>
                  </a:lnTo>
                  <a:lnTo>
                    <a:pt x="594360" y="22860"/>
                  </a:lnTo>
                  <a:cubicBezTo>
                    <a:pt x="601980" y="25400"/>
                    <a:pt x="610537" y="26025"/>
                    <a:pt x="617220" y="30480"/>
                  </a:cubicBezTo>
                  <a:cubicBezTo>
                    <a:pt x="624840" y="35560"/>
                    <a:pt x="631889" y="41624"/>
                    <a:pt x="640080" y="45720"/>
                  </a:cubicBezTo>
                  <a:cubicBezTo>
                    <a:pt x="703176" y="77268"/>
                    <a:pt x="620286" y="24904"/>
                    <a:pt x="685800" y="68580"/>
                  </a:cubicBezTo>
                  <a:cubicBezTo>
                    <a:pt x="688340" y="76200"/>
                    <a:pt x="693420" y="83408"/>
                    <a:pt x="693420" y="91440"/>
                  </a:cubicBezTo>
                  <a:cubicBezTo>
                    <a:pt x="693420" y="126464"/>
                    <a:pt x="687564" y="139488"/>
                    <a:pt x="678180" y="167640"/>
                  </a:cubicBezTo>
                  <a:cubicBezTo>
                    <a:pt x="662940" y="165100"/>
                    <a:pt x="644087" y="170194"/>
                    <a:pt x="632460" y="160020"/>
                  </a:cubicBezTo>
                  <a:cubicBezTo>
                    <a:pt x="620370" y="149442"/>
                    <a:pt x="617220" y="114300"/>
                    <a:pt x="617220" y="114300"/>
                  </a:cubicBezTo>
                  <a:cubicBezTo>
                    <a:pt x="619760" y="99060"/>
                    <a:pt x="619954" y="83237"/>
                    <a:pt x="624840" y="68580"/>
                  </a:cubicBezTo>
                  <a:cubicBezTo>
                    <a:pt x="627736" y="59892"/>
                    <a:pt x="632929" y="51441"/>
                    <a:pt x="640080" y="45720"/>
                  </a:cubicBezTo>
                  <a:cubicBezTo>
                    <a:pt x="645049" y="41745"/>
                    <a:pt x="691429" y="30978"/>
                    <a:pt x="693420" y="30480"/>
                  </a:cubicBezTo>
                  <a:cubicBezTo>
                    <a:pt x="708660" y="33020"/>
                    <a:pt x="726483" y="29240"/>
                    <a:pt x="739140" y="38100"/>
                  </a:cubicBezTo>
                  <a:cubicBezTo>
                    <a:pt x="761924" y="54049"/>
                    <a:pt x="769157" y="82430"/>
                    <a:pt x="777240" y="106680"/>
                  </a:cubicBezTo>
                  <a:cubicBezTo>
                    <a:pt x="775407" y="115843"/>
                    <a:pt x="771442" y="160815"/>
                    <a:pt x="754380" y="167640"/>
                  </a:cubicBezTo>
                  <a:cubicBezTo>
                    <a:pt x="746922" y="170623"/>
                    <a:pt x="739140" y="162560"/>
                    <a:pt x="731520" y="160020"/>
                  </a:cubicBezTo>
                  <a:cubicBezTo>
                    <a:pt x="721737" y="120886"/>
                    <a:pt x="720637" y="134972"/>
                    <a:pt x="731520" y="91440"/>
                  </a:cubicBezTo>
                  <a:cubicBezTo>
                    <a:pt x="733468" y="83648"/>
                    <a:pt x="733460" y="74260"/>
                    <a:pt x="739140" y="68580"/>
                  </a:cubicBezTo>
                  <a:cubicBezTo>
                    <a:pt x="744820" y="62900"/>
                    <a:pt x="754816" y="64552"/>
                    <a:pt x="762000" y="60960"/>
                  </a:cubicBezTo>
                  <a:cubicBezTo>
                    <a:pt x="770191" y="56864"/>
                    <a:pt x="776491" y="49439"/>
                    <a:pt x="784860" y="45720"/>
                  </a:cubicBezTo>
                  <a:cubicBezTo>
                    <a:pt x="799540" y="39196"/>
                    <a:pt x="830580" y="30480"/>
                    <a:pt x="830580" y="30480"/>
                  </a:cubicBezTo>
                  <a:cubicBezTo>
                    <a:pt x="838200" y="33020"/>
                    <a:pt x="847760" y="32420"/>
                    <a:pt x="853440" y="38100"/>
                  </a:cubicBezTo>
                  <a:cubicBezTo>
                    <a:pt x="875272" y="59932"/>
                    <a:pt x="883874" y="79850"/>
                    <a:pt x="891540" y="106680"/>
                  </a:cubicBezTo>
                  <a:cubicBezTo>
                    <a:pt x="894417" y="116750"/>
                    <a:pt x="896620" y="127000"/>
                    <a:pt x="899160" y="137160"/>
                  </a:cubicBezTo>
                  <a:cubicBezTo>
                    <a:pt x="896620" y="144780"/>
                    <a:pt x="897220" y="154340"/>
                    <a:pt x="891540" y="160020"/>
                  </a:cubicBezTo>
                  <a:cubicBezTo>
                    <a:pt x="876300" y="175260"/>
                    <a:pt x="861060" y="165100"/>
                    <a:pt x="845820" y="160020"/>
                  </a:cubicBezTo>
                  <a:cubicBezTo>
                    <a:pt x="840740" y="152400"/>
                    <a:pt x="831716" y="146247"/>
                    <a:pt x="830580" y="137160"/>
                  </a:cubicBezTo>
                  <a:cubicBezTo>
                    <a:pt x="829021" y="124688"/>
                    <a:pt x="838776" y="85365"/>
                    <a:pt x="853440" y="76200"/>
                  </a:cubicBezTo>
                  <a:cubicBezTo>
                    <a:pt x="867063" y="67686"/>
                    <a:pt x="883920" y="66040"/>
                    <a:pt x="899160" y="60960"/>
                  </a:cubicBezTo>
                  <a:lnTo>
                    <a:pt x="922020" y="53340"/>
                  </a:lnTo>
                  <a:cubicBezTo>
                    <a:pt x="942340" y="55880"/>
                    <a:pt x="966204" y="49217"/>
                    <a:pt x="982980" y="60960"/>
                  </a:cubicBezTo>
                  <a:cubicBezTo>
                    <a:pt x="996140" y="70172"/>
                    <a:pt x="998220" y="106680"/>
                    <a:pt x="998220" y="106680"/>
                  </a:cubicBezTo>
                  <a:cubicBezTo>
                    <a:pt x="995680" y="124460"/>
                    <a:pt x="1001376" y="145652"/>
                    <a:pt x="990600" y="160020"/>
                  </a:cubicBezTo>
                  <a:cubicBezTo>
                    <a:pt x="985105" y="167346"/>
                    <a:pt x="976271" y="146273"/>
                    <a:pt x="975360" y="137160"/>
                  </a:cubicBezTo>
                  <a:cubicBezTo>
                    <a:pt x="973573" y="119289"/>
                    <a:pt x="979458" y="101432"/>
                    <a:pt x="982980" y="83820"/>
                  </a:cubicBezTo>
                  <a:cubicBezTo>
                    <a:pt x="984555" y="75944"/>
                    <a:pt x="984064" y="65629"/>
                    <a:pt x="990600" y="60960"/>
                  </a:cubicBezTo>
                  <a:cubicBezTo>
                    <a:pt x="1003672" y="51623"/>
                    <a:pt x="1036320" y="45720"/>
                    <a:pt x="1036320" y="45720"/>
                  </a:cubicBezTo>
                  <a:cubicBezTo>
                    <a:pt x="1051560" y="48260"/>
                    <a:pt x="1070413" y="43166"/>
                    <a:pt x="1082040" y="53340"/>
                  </a:cubicBezTo>
                  <a:cubicBezTo>
                    <a:pt x="1094130" y="63918"/>
                    <a:pt x="1097280" y="99060"/>
                    <a:pt x="1097280" y="99060"/>
                  </a:cubicBezTo>
                  <a:cubicBezTo>
                    <a:pt x="1094740" y="121920"/>
                    <a:pt x="1099946" y="147068"/>
                    <a:pt x="1089660" y="167640"/>
                  </a:cubicBezTo>
                  <a:cubicBezTo>
                    <a:pt x="1086068" y="174824"/>
                    <a:pt x="1073072" y="165038"/>
                    <a:pt x="1066800" y="160020"/>
                  </a:cubicBezTo>
                  <a:cubicBezTo>
                    <a:pt x="1053371" y="149277"/>
                    <a:pt x="1048960" y="129359"/>
                    <a:pt x="1043940" y="114300"/>
                  </a:cubicBezTo>
                  <a:cubicBezTo>
                    <a:pt x="1063093" y="56841"/>
                    <a:pt x="1037257" y="127666"/>
                    <a:pt x="1066800" y="68580"/>
                  </a:cubicBezTo>
                  <a:cubicBezTo>
                    <a:pt x="1070392" y="61396"/>
                    <a:pt x="1067446" y="49705"/>
                    <a:pt x="1074420" y="45720"/>
                  </a:cubicBezTo>
                  <a:cubicBezTo>
                    <a:pt x="1087835" y="38055"/>
                    <a:pt x="1104900" y="40640"/>
                    <a:pt x="1120140" y="38100"/>
                  </a:cubicBezTo>
                  <a:cubicBezTo>
                    <a:pt x="1140460" y="40640"/>
                    <a:pt x="1162087" y="38115"/>
                    <a:pt x="1181100" y="45720"/>
                  </a:cubicBezTo>
                  <a:cubicBezTo>
                    <a:pt x="1189603" y="49121"/>
                    <a:pt x="1192244" y="60389"/>
                    <a:pt x="1196340" y="68580"/>
                  </a:cubicBezTo>
                  <a:cubicBezTo>
                    <a:pt x="1199932" y="75764"/>
                    <a:pt x="1200368" y="84256"/>
                    <a:pt x="1203960" y="91440"/>
                  </a:cubicBezTo>
                  <a:cubicBezTo>
                    <a:pt x="1233503" y="150526"/>
                    <a:pt x="1207667" y="79701"/>
                    <a:pt x="1226820" y="137160"/>
                  </a:cubicBezTo>
                  <a:cubicBezTo>
                    <a:pt x="1211665" y="147263"/>
                    <a:pt x="1200029" y="163709"/>
                    <a:pt x="1181100" y="144780"/>
                  </a:cubicBezTo>
                  <a:cubicBezTo>
                    <a:pt x="1168148" y="131828"/>
                    <a:pt x="1150620" y="99060"/>
                    <a:pt x="1150620" y="99060"/>
                  </a:cubicBezTo>
                  <a:cubicBezTo>
                    <a:pt x="1165455" y="54556"/>
                    <a:pt x="1146633" y="95427"/>
                    <a:pt x="1181100" y="60960"/>
                  </a:cubicBezTo>
                  <a:cubicBezTo>
                    <a:pt x="1215567" y="26493"/>
                    <a:pt x="1174696" y="45315"/>
                    <a:pt x="1219200" y="30480"/>
                  </a:cubicBezTo>
                  <a:cubicBezTo>
                    <a:pt x="1221097" y="30859"/>
                    <a:pt x="1272350" y="39472"/>
                    <a:pt x="1280160" y="45720"/>
                  </a:cubicBezTo>
                  <a:cubicBezTo>
                    <a:pt x="1287311" y="51441"/>
                    <a:pt x="1288924" y="62104"/>
                    <a:pt x="1295400" y="68580"/>
                  </a:cubicBezTo>
                  <a:cubicBezTo>
                    <a:pt x="1301876" y="75056"/>
                    <a:pt x="1310640" y="78740"/>
                    <a:pt x="1318260" y="83820"/>
                  </a:cubicBezTo>
                  <a:cubicBezTo>
                    <a:pt x="1328363" y="98975"/>
                    <a:pt x="1344809" y="110611"/>
                    <a:pt x="1325880" y="129540"/>
                  </a:cubicBezTo>
                  <a:cubicBezTo>
                    <a:pt x="1320200" y="135220"/>
                    <a:pt x="1310640" y="134620"/>
                    <a:pt x="1303020" y="137160"/>
                  </a:cubicBezTo>
                  <a:cubicBezTo>
                    <a:pt x="1297940" y="129540"/>
                    <a:pt x="1288691" y="123413"/>
                    <a:pt x="1287780" y="114300"/>
                  </a:cubicBezTo>
                  <a:cubicBezTo>
                    <a:pt x="1286501" y="101513"/>
                    <a:pt x="1290635" y="50603"/>
                    <a:pt x="1310640" y="38100"/>
                  </a:cubicBezTo>
                  <a:cubicBezTo>
                    <a:pt x="1324263" y="29586"/>
                    <a:pt x="1356360" y="22860"/>
                    <a:pt x="1356360" y="22860"/>
                  </a:cubicBezTo>
                  <a:cubicBezTo>
                    <a:pt x="1374663" y="27436"/>
                    <a:pt x="1396544" y="29275"/>
                    <a:pt x="1409700" y="45720"/>
                  </a:cubicBezTo>
                  <a:cubicBezTo>
                    <a:pt x="1414718" y="51992"/>
                    <a:pt x="1413728" y="61396"/>
                    <a:pt x="1417320" y="68580"/>
                  </a:cubicBezTo>
                  <a:cubicBezTo>
                    <a:pt x="1421416" y="76771"/>
                    <a:pt x="1428841" y="83071"/>
                    <a:pt x="1432560" y="91440"/>
                  </a:cubicBezTo>
                  <a:cubicBezTo>
                    <a:pt x="1439084" y="106120"/>
                    <a:pt x="1447800" y="137160"/>
                    <a:pt x="1447800" y="137160"/>
                  </a:cubicBezTo>
                  <a:cubicBezTo>
                    <a:pt x="1445260" y="144780"/>
                    <a:pt x="1447364" y="156428"/>
                    <a:pt x="1440180" y="160020"/>
                  </a:cubicBezTo>
                  <a:cubicBezTo>
                    <a:pt x="1416957" y="171631"/>
                    <a:pt x="1412603" y="138249"/>
                    <a:pt x="1409700" y="129540"/>
                  </a:cubicBezTo>
                  <a:cubicBezTo>
                    <a:pt x="1414276" y="111237"/>
                    <a:pt x="1416115" y="89356"/>
                    <a:pt x="1432560" y="76200"/>
                  </a:cubicBezTo>
                  <a:cubicBezTo>
                    <a:pt x="1438832" y="71182"/>
                    <a:pt x="1447800" y="71120"/>
                    <a:pt x="1455420" y="68580"/>
                  </a:cubicBezTo>
                  <a:cubicBezTo>
                    <a:pt x="1495713" y="75295"/>
                    <a:pt x="1501141" y="64773"/>
                    <a:pt x="1516380" y="99060"/>
                  </a:cubicBezTo>
                  <a:cubicBezTo>
                    <a:pt x="1522904" y="113740"/>
                    <a:pt x="1531620" y="144780"/>
                    <a:pt x="1531620" y="144780"/>
                  </a:cubicBezTo>
                  <a:cubicBezTo>
                    <a:pt x="1529080" y="154940"/>
                    <a:pt x="1530542" y="167082"/>
                    <a:pt x="1524000" y="175260"/>
                  </a:cubicBezTo>
                  <a:cubicBezTo>
                    <a:pt x="1518982" y="181532"/>
                    <a:pt x="1506820" y="188560"/>
                    <a:pt x="1501140" y="182880"/>
                  </a:cubicBezTo>
                  <a:cubicBezTo>
                    <a:pt x="1489781" y="171521"/>
                    <a:pt x="1485900" y="137160"/>
                    <a:pt x="1485900" y="137160"/>
                  </a:cubicBezTo>
                  <a:cubicBezTo>
                    <a:pt x="1492098" y="118567"/>
                    <a:pt x="1493988" y="106212"/>
                    <a:pt x="1508760" y="91440"/>
                  </a:cubicBezTo>
                  <a:cubicBezTo>
                    <a:pt x="1515236" y="84964"/>
                    <a:pt x="1523429" y="80296"/>
                    <a:pt x="1531620" y="76200"/>
                  </a:cubicBezTo>
                  <a:cubicBezTo>
                    <a:pt x="1538804" y="72608"/>
                    <a:pt x="1546860" y="71120"/>
                    <a:pt x="1554480" y="68580"/>
                  </a:cubicBezTo>
                  <a:cubicBezTo>
                    <a:pt x="1567324" y="87846"/>
                    <a:pt x="1572833" y="91766"/>
                    <a:pt x="1577340" y="114300"/>
                  </a:cubicBezTo>
                  <a:cubicBezTo>
                    <a:pt x="1578336" y="119281"/>
                    <a:pt x="1577340" y="124460"/>
                    <a:pt x="1577340" y="129540"/>
                  </a:cubicBezTo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2" name="TextBox 35">
            <a:extLst>
              <a:ext uri="{FF2B5EF4-FFF2-40B4-BE49-F238E27FC236}">
                <a16:creationId xmlns:a16="http://schemas.microsoft.com/office/drawing/2014/main" id="{55437BB0-7D6B-B952-1AFF-D152E2F0ABE1}"/>
              </a:ext>
            </a:extLst>
          </p:cNvPr>
          <p:cNvSpPr txBox="1"/>
          <p:nvPr/>
        </p:nvSpPr>
        <p:spPr>
          <a:xfrm>
            <a:off x="841959" y="247742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2"/>
                </a:solidFill>
              </a:rPr>
              <a:t>独立测量</a:t>
            </a:r>
            <a:endParaRPr lang="en-US" altLang="zh-CN" dirty="0">
              <a:solidFill>
                <a:schemeClr val="tx2"/>
              </a:solidFill>
            </a:endParaRPr>
          </a:p>
          <a:p>
            <a:pPr algn="l"/>
            <a:r>
              <a:rPr lang="zh-CN" altLang="en-US" dirty="0">
                <a:solidFill>
                  <a:schemeClr val="tx2"/>
                </a:solidFill>
              </a:rPr>
              <a:t>多组数据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38" name="Right Arrow 22">
            <a:extLst>
              <a:ext uri="{FF2B5EF4-FFF2-40B4-BE49-F238E27FC236}">
                <a16:creationId xmlns:a16="http://schemas.microsoft.com/office/drawing/2014/main" id="{027DB923-D7BA-F784-43B8-F53F4CF2E7D4}"/>
              </a:ext>
            </a:extLst>
          </p:cNvPr>
          <p:cNvSpPr/>
          <p:nvPr/>
        </p:nvSpPr>
        <p:spPr>
          <a:xfrm>
            <a:off x="4521006" y="1471883"/>
            <a:ext cx="326022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7CF320C9-2A85-17D6-BF01-8AB221A6D5BD}"/>
              </a:ext>
            </a:extLst>
          </p:cNvPr>
          <p:cNvSpPr txBox="1"/>
          <p:nvPr/>
        </p:nvSpPr>
        <p:spPr>
          <a:xfrm>
            <a:off x="6994977" y="251077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最小化</a:t>
            </a:r>
            <a:endParaRPr lang="en-US" altLang="zh-CN" dirty="0">
              <a:solidFill>
                <a:schemeClr val="tx2"/>
              </a:solidFill>
            </a:endParaRPr>
          </a:p>
          <a:p>
            <a:pPr algn="ctr"/>
            <a:r>
              <a:rPr lang="zh-CN" altLang="en-US" dirty="0">
                <a:solidFill>
                  <a:schemeClr val="tx2"/>
                </a:solidFill>
              </a:rPr>
              <a:t>误差平方和</a:t>
            </a:r>
            <a:endParaRPr lang="en-CN" dirty="0">
              <a:solidFill>
                <a:schemeClr val="tx2"/>
              </a:solidFill>
            </a:endParaRP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ACCF9B51-26AC-6F05-6A62-F4108C0395D4}"/>
              </a:ext>
            </a:extLst>
          </p:cNvPr>
          <p:cNvSpPr txBox="1"/>
          <p:nvPr/>
        </p:nvSpPr>
        <p:spPr>
          <a:xfrm>
            <a:off x="4125462" y="251077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线性模型</a:t>
            </a:r>
            <a:endParaRPr lang="en-CN" altLang="zh-CN" dirty="0">
              <a:solidFill>
                <a:schemeClr val="tx2"/>
              </a:solidFill>
            </a:endParaRPr>
          </a:p>
          <a:p>
            <a:pPr algn="l"/>
            <a:r>
              <a:rPr lang="zh-CN" altLang="en-US" dirty="0">
                <a:solidFill>
                  <a:schemeClr val="tx2"/>
                </a:solidFill>
              </a:rPr>
              <a:t>胡克定律</a:t>
            </a:r>
            <a:endParaRPr lang="en-US" altLang="zh-CN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25">
                <a:extLst>
                  <a:ext uri="{FF2B5EF4-FFF2-40B4-BE49-F238E27FC236}">
                    <a16:creationId xmlns:a16="http://schemas.microsoft.com/office/drawing/2014/main" id="{BAD47D97-4B6F-0AA7-C20A-A0B0505658DD}"/>
                  </a:ext>
                </a:extLst>
              </p:cNvPr>
              <p:cNvSpPr txBox="1"/>
              <p:nvPr/>
            </p:nvSpPr>
            <p:spPr>
              <a:xfrm>
                <a:off x="5313205" y="1597433"/>
                <a:ext cx="1700722" cy="615553"/>
              </a:xfrm>
              <a:prstGeom prst="rect">
                <a:avLst/>
              </a:prstGeom>
              <a:noFill/>
              <a:ln w="38100">
                <a:noFill/>
                <a:prstDash val="sysDot"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𝑘𝑥</m:t>
                      </m:r>
                    </m:oMath>
                  </m:oMathPara>
                </a14:m>
                <a:endParaRPr lang="en-CN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25">
                <a:extLst>
                  <a:ext uri="{FF2B5EF4-FFF2-40B4-BE49-F238E27FC236}">
                    <a16:creationId xmlns:a16="http://schemas.microsoft.com/office/drawing/2014/main" id="{BAD47D97-4B6F-0AA7-C20A-A0B050565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205" y="1597433"/>
                <a:ext cx="1700722" cy="61555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noFill/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ight Arrow 22">
            <a:extLst>
              <a:ext uri="{FF2B5EF4-FFF2-40B4-BE49-F238E27FC236}">
                <a16:creationId xmlns:a16="http://schemas.microsoft.com/office/drawing/2014/main" id="{6A288806-F3A2-9111-A692-8DFF108AB6D4}"/>
              </a:ext>
            </a:extLst>
          </p:cNvPr>
          <p:cNvSpPr/>
          <p:nvPr/>
        </p:nvSpPr>
        <p:spPr>
          <a:xfrm>
            <a:off x="7442598" y="1482833"/>
            <a:ext cx="326022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9220EC7-A6AD-6312-E3D8-2C7152E73DEA}"/>
                  </a:ext>
                </a:extLst>
              </p:cNvPr>
              <p:cNvSpPr txBox="1"/>
              <p:nvPr/>
            </p:nvSpPr>
            <p:spPr>
              <a:xfrm>
                <a:off x="7984146" y="3786113"/>
                <a:ext cx="4207854" cy="630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dirty="0"/>
                  <a:t>误差函数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9220EC7-A6AD-6312-E3D8-2C7152E73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146" y="3786113"/>
                <a:ext cx="4207854" cy="630622"/>
              </a:xfrm>
              <a:prstGeom prst="rect">
                <a:avLst/>
              </a:prstGeom>
              <a:blipFill>
                <a:blip r:embed="rId15"/>
                <a:stretch>
                  <a:fillRect l="-1594" t="-41346" b="-1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8507C2-8D4F-B7CE-AD7F-5C0E478D6389}"/>
                  </a:ext>
                </a:extLst>
              </p:cNvPr>
              <p:cNvSpPr txBox="1"/>
              <p:nvPr/>
            </p:nvSpPr>
            <p:spPr>
              <a:xfrm>
                <a:off x="8522086" y="2318413"/>
                <a:ext cx="3290022" cy="744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32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8507C2-8D4F-B7CE-AD7F-5C0E478D6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086" y="2318413"/>
                <a:ext cx="3290022" cy="7443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C163EC2-A742-3721-306C-6FAD959BF4D2}"/>
                  </a:ext>
                </a:extLst>
              </p:cNvPr>
              <p:cNvSpPr txBox="1"/>
              <p:nvPr/>
            </p:nvSpPr>
            <p:spPr>
              <a:xfrm>
                <a:off x="7984146" y="4427432"/>
                <a:ext cx="4036258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矩阵形式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𝑭</m:t>
                            </m:r>
                            <m: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𝑿𝑲</m:t>
                            </m:r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𝑿𝑲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C163EC2-A742-3721-306C-6FAD959BF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146" y="4427432"/>
                <a:ext cx="4036258" cy="618311"/>
              </a:xfrm>
              <a:prstGeom prst="rect">
                <a:avLst/>
              </a:prstGeom>
              <a:blipFill>
                <a:blip r:embed="rId17"/>
                <a:stretch>
                  <a:fillRect l="-1662" b="-12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3949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19" grpId="0"/>
      <p:bldP spid="20" grpId="0"/>
      <p:bldP spid="21" grpId="0"/>
      <p:bldP spid="22" grpId="0"/>
      <p:bldP spid="23" grpId="0" animBg="1"/>
      <p:bldP spid="12" grpId="0"/>
      <p:bldP spid="38" grpId="0" animBg="1"/>
      <p:bldP spid="39" grpId="0"/>
      <p:bldP spid="40" grpId="0"/>
      <p:bldP spid="42" grpId="0"/>
      <p:bldP spid="44" grpId="0" animBg="1"/>
      <p:bldP spid="45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sq-3d" descr="lsq-3d">
            <a:hlinkClick r:id="" action="ppaction://media"/>
            <a:extLst>
              <a:ext uri="{FF2B5EF4-FFF2-40B4-BE49-F238E27FC236}">
                <a16:creationId xmlns:a16="http://schemas.microsoft.com/office/drawing/2014/main" id="{C8326F93-8517-B143-8429-6105BB74F608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b="17084"/>
          <a:stretch/>
        </p:blipFill>
        <p:spPr>
          <a:xfrm>
            <a:off x="5214180" y="1013141"/>
            <a:ext cx="5979600" cy="4958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9D7B8C-F403-574C-9EB0-0F53E1FD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回归问题</a:t>
            </a:r>
            <a:r>
              <a:rPr lang="zh-CN" altLang="en-US" dirty="0"/>
              <a:t>：最小二乘法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F19538-5B2A-4C4F-9DAC-8C0B6C648D8E}"/>
                  </a:ext>
                </a:extLst>
              </p:cNvPr>
              <p:cNvSpPr txBox="1"/>
              <p:nvPr/>
            </p:nvSpPr>
            <p:spPr>
              <a:xfrm>
                <a:off x="281374" y="1140024"/>
                <a:ext cx="548393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2000" b="1" dirty="0">
                    <a:solidFill>
                      <a:schemeClr val="tx1"/>
                    </a:solidFill>
                  </a:rPr>
                  <a:t>最小二乘法的几何意义</a:t>
                </a:r>
                <a:r>
                  <a:rPr lang="zh-CN" altLang="en-US" sz="2000" b="1" dirty="0">
                    <a:solidFill>
                      <a:schemeClr val="tx1"/>
                    </a:solidFill>
                  </a:rPr>
                  <a:t>：</a:t>
                </a:r>
                <a:br>
                  <a:rPr lang="en-US" altLang="zh-CN" sz="2000" b="1" dirty="0">
                    <a:solidFill>
                      <a:schemeClr val="tx1"/>
                    </a:solidFill>
                  </a:rPr>
                </a:br>
                <a:r>
                  <a:rPr lang="en-US" altLang="zh-CN" sz="2000" b="1" dirty="0">
                    <a:solidFill>
                      <a:schemeClr val="tx1"/>
                    </a:solidFill>
                  </a:rPr>
                  <a:t>	</a:t>
                </a:r>
                <a:r>
                  <a:rPr lang="en-CN" altLang="zh-CN" sz="2000" b="1" dirty="0">
                    <a:solidFill>
                      <a:schemeClr val="tx1"/>
                    </a:solidFill>
                  </a:rPr>
                  <a:t>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N" altLang="zh-C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N" altLang="zh-CN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CN" altLang="zh-CN" sz="2000" b="1" dirty="0">
                    <a:solidFill>
                      <a:schemeClr val="tx1"/>
                    </a:solidFill>
                  </a:rPr>
                  <a:t> 使得目标向量与拟合向量距离最短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F19538-5B2A-4C4F-9DAC-8C0B6C648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74" y="1140024"/>
                <a:ext cx="5483937" cy="707886"/>
              </a:xfrm>
              <a:prstGeom prst="rect">
                <a:avLst/>
              </a:prstGeom>
              <a:blipFill>
                <a:blip r:embed="rId9"/>
                <a:stretch>
                  <a:fillRect l="-1111" t="-6897" r="-1111" b="-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C98050-813C-6D47-9229-0B3463E15BCB}"/>
                  </a:ext>
                </a:extLst>
              </p:cNvPr>
              <p:cNvSpPr txBox="1"/>
              <p:nvPr/>
            </p:nvSpPr>
            <p:spPr>
              <a:xfrm>
                <a:off x="756307" y="2035121"/>
                <a:ext cx="167353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N" sz="36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C98050-813C-6D47-9229-0B3463E1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7" y="2035121"/>
                <a:ext cx="1673535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3">
            <a:extLst>
              <a:ext uri="{FF2B5EF4-FFF2-40B4-BE49-F238E27FC236}">
                <a16:creationId xmlns:a16="http://schemas.microsoft.com/office/drawing/2014/main" id="{80562401-49B8-234E-A5E3-EF998B051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66024"/>
              </p:ext>
            </p:extLst>
          </p:nvPr>
        </p:nvGraphicFramePr>
        <p:xfrm>
          <a:off x="1296646" y="3835510"/>
          <a:ext cx="108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0551164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0932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7C476A-D6D7-B341-8356-210F3F9FA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038971"/>
              </p:ext>
            </p:extLst>
          </p:nvPr>
        </p:nvGraphicFramePr>
        <p:xfrm>
          <a:off x="3747523" y="3835510"/>
          <a:ext cx="36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400158637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1594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4959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0632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462538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12753"/>
                  </a:ext>
                </a:extLst>
              </a:tr>
            </a:tbl>
          </a:graphicData>
        </a:graphic>
      </p:graphicFrame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F7936A7E-8098-5042-80F4-F701B0C95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77086"/>
              </p:ext>
            </p:extLst>
          </p:nvPr>
        </p:nvGraphicFramePr>
        <p:xfrm>
          <a:off x="2852193" y="3830155"/>
          <a:ext cx="36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682063015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endParaRPr lang="en-CN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17121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72219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endParaRPr lang="en-CN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597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5276A2-271F-7B4C-B8AB-FEB8A8D31072}"/>
                  </a:ext>
                </a:extLst>
              </p:cNvPr>
              <p:cNvSpPr txBox="1"/>
              <p:nvPr/>
            </p:nvSpPr>
            <p:spPr>
              <a:xfrm flipH="1">
                <a:off x="2908958" y="3398973"/>
                <a:ext cx="2464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5276A2-271F-7B4C-B8AB-FEB8A8D31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08958" y="3398973"/>
                <a:ext cx="246469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2A03D1-A260-4E4B-8ED7-FA1039491B05}"/>
                  </a:ext>
                </a:extLst>
              </p:cNvPr>
              <p:cNvSpPr txBox="1"/>
              <p:nvPr/>
            </p:nvSpPr>
            <p:spPr>
              <a:xfrm>
                <a:off x="3269378" y="3757573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2A03D1-A260-4E4B-8ED7-FA1039491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78" y="3757573"/>
                <a:ext cx="3600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E91E36-3BF6-1D41-92C4-D4D7A6AFDB51}"/>
                  </a:ext>
                </a:extLst>
              </p:cNvPr>
              <p:cNvSpPr txBox="1"/>
              <p:nvPr/>
            </p:nvSpPr>
            <p:spPr>
              <a:xfrm>
                <a:off x="3700212" y="3374744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CN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E91E36-3BF6-1D41-92C4-D4D7A6AFD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212" y="3374744"/>
                <a:ext cx="43938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874027-ECCA-614D-A02E-ACCE27775287}"/>
                  </a:ext>
                </a:extLst>
              </p:cNvPr>
              <p:cNvSpPr txBox="1"/>
              <p:nvPr/>
            </p:nvSpPr>
            <p:spPr>
              <a:xfrm>
                <a:off x="1664069" y="3374744"/>
                <a:ext cx="43938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874027-ECCA-614D-A02E-ACCE2777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069" y="3374744"/>
                <a:ext cx="439382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EE727-547B-3845-B506-939E7A860934}"/>
                  </a:ext>
                </a:extLst>
              </p:cNvPr>
              <p:cNvSpPr txBox="1"/>
              <p:nvPr/>
            </p:nvSpPr>
            <p:spPr>
              <a:xfrm>
                <a:off x="2428545" y="3759443"/>
                <a:ext cx="360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5EE727-547B-3845-B506-939E7A86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545" y="3759443"/>
                <a:ext cx="36000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B89DB2-4B92-D74C-9CB1-5AFF15410B11}"/>
                  </a:ext>
                </a:extLst>
              </p:cNvPr>
              <p:cNvSpPr txBox="1"/>
              <p:nvPr/>
            </p:nvSpPr>
            <p:spPr>
              <a:xfrm>
                <a:off x="10574145" y="2392680"/>
                <a:ext cx="11333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8CA58C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rgbClr val="8CA58C"/>
                    </a:solidFill>
                  </a:rPr>
                  <a:t> </a:t>
                </a:r>
                <a:r>
                  <a:rPr lang="zh-CN" altLang="en-US" dirty="0">
                    <a:solidFill>
                      <a:srgbClr val="8CA58C"/>
                    </a:solidFill>
                  </a:rPr>
                  <a:t>的</a:t>
                </a:r>
                <a:r>
                  <a:rPr lang="en-CN" dirty="0">
                    <a:solidFill>
                      <a:srgbClr val="8CA58C"/>
                    </a:solidFill>
                  </a:rPr>
                  <a:t>列空间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1B89DB2-4B92-D74C-9CB1-5AFF15410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145" y="2392680"/>
                <a:ext cx="1133324" cy="276999"/>
              </a:xfrm>
              <a:prstGeom prst="rect">
                <a:avLst/>
              </a:prstGeom>
              <a:blipFill>
                <a:blip r:embed="rId16"/>
                <a:stretch>
                  <a:fillRect l="-7527" t="-35556" r="-12366" b="-4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6A89E3-9E02-9949-B2AC-BF1778E9DC0A}"/>
              </a:ext>
            </a:extLst>
          </p:cNvPr>
          <p:cNvCxnSpPr/>
          <p:nvPr/>
        </p:nvCxnSpPr>
        <p:spPr>
          <a:xfrm flipH="1">
            <a:off x="9768840" y="2537460"/>
            <a:ext cx="784860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227370-4243-8842-AA2D-E76E50C32DD3}"/>
                  </a:ext>
                </a:extLst>
              </p:cNvPr>
              <p:cNvSpPr txBox="1"/>
              <p:nvPr/>
            </p:nvSpPr>
            <p:spPr>
              <a:xfrm>
                <a:off x="6848630" y="1791296"/>
                <a:ext cx="41905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A5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>
                    <a:solidFill>
                      <a:srgbClr val="FFA500"/>
                    </a:solidFill>
                  </a:rPr>
                  <a:t> </a:t>
                </a:r>
                <a:r>
                  <a:rPr lang="en-CN" dirty="0">
                    <a:solidFill>
                      <a:srgbClr val="FFA500"/>
                    </a:solidFill>
                  </a:rPr>
                  <a:t>目标向量: 待拟合数据组成的高维向量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227370-4243-8842-AA2D-E76E50C32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630" y="1791296"/>
                <a:ext cx="4190571" cy="369332"/>
              </a:xfrm>
              <a:prstGeom prst="rect">
                <a:avLst/>
              </a:prstGeom>
              <a:blipFill>
                <a:blip r:embed="rId17"/>
                <a:stretch>
                  <a:fillRect t="-15000" r="-727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CEA2C3-9C62-2B42-8093-B459CFD7364A}"/>
              </a:ext>
            </a:extLst>
          </p:cNvPr>
          <p:cNvCxnSpPr/>
          <p:nvPr/>
        </p:nvCxnSpPr>
        <p:spPr>
          <a:xfrm flipH="1">
            <a:off x="8097366" y="2181940"/>
            <a:ext cx="818034" cy="1056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FBC2ED-8C1F-3D4F-AE04-A70BF1C2EE53}"/>
                  </a:ext>
                </a:extLst>
              </p:cNvPr>
              <p:cNvSpPr txBox="1"/>
              <p:nvPr/>
            </p:nvSpPr>
            <p:spPr>
              <a:xfrm>
                <a:off x="10413717" y="4016438"/>
                <a:ext cx="1451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64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̂"/>
                        <m:ctrlPr>
                          <a:rPr lang="en-US" b="1" i="1" smtClean="0">
                            <a:solidFill>
                              <a:srgbClr val="0064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rgbClr val="0064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006400"/>
                    </a:solidFill>
                  </a:rPr>
                  <a:t> </a:t>
                </a:r>
                <a:r>
                  <a:rPr lang="en-CN" dirty="0">
                    <a:solidFill>
                      <a:srgbClr val="006400"/>
                    </a:solidFill>
                  </a:rPr>
                  <a:t>拟合向量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FBC2ED-8C1F-3D4F-AE04-A70BF1C2E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3717" y="4016438"/>
                <a:ext cx="1451038" cy="369332"/>
              </a:xfrm>
              <a:prstGeom prst="rect">
                <a:avLst/>
              </a:prstGeom>
              <a:blipFill>
                <a:blip r:embed="rId18"/>
                <a:stretch>
                  <a:fillRect t="-15000" r="-3361" b="-2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67CDA5-4BDB-D246-A811-87231925B98F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8343900" y="3741331"/>
            <a:ext cx="2069817" cy="459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id="{F8551E1C-50E5-7C5E-CF82-8EDC72619ADA}"/>
                  </a:ext>
                </a:extLst>
              </p:cNvPr>
              <p:cNvSpPr txBox="1"/>
              <p:nvPr/>
            </p:nvSpPr>
            <p:spPr>
              <a:xfrm>
                <a:off x="756307" y="2717029"/>
                <a:ext cx="166552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̂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N" sz="3600" b="1" dirty="0"/>
              </a:p>
            </p:txBody>
          </p:sp>
        </mc:Choice>
        <mc:Fallback xmlns=""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id="{F8551E1C-50E5-7C5E-CF82-8EDC72619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07" y="2717029"/>
                <a:ext cx="1665521" cy="5539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0067050E-9A6F-A686-FA4E-A6A03A74E124}"/>
              </a:ext>
            </a:extLst>
          </p:cNvPr>
          <p:cNvSpPr txBox="1"/>
          <p:nvPr/>
        </p:nvSpPr>
        <p:spPr>
          <a:xfrm>
            <a:off x="2443017" y="2125662"/>
            <a:ext cx="2837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未必有解、未必有唯一解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C8F60A-60C4-ED8B-97B2-598926E4311E}"/>
              </a:ext>
            </a:extLst>
          </p:cNvPr>
          <p:cNvSpPr txBox="1"/>
          <p:nvPr/>
        </p:nvSpPr>
        <p:spPr>
          <a:xfrm>
            <a:off x="2428545" y="2873023"/>
            <a:ext cx="3102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欧式距离下存在唯一最小解</a:t>
            </a:r>
            <a:endParaRPr lang="zh-CN" altLang="en-US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A182E1F-15B5-40B4-9070-6A771F361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242" y="6318000"/>
            <a:ext cx="1362214" cy="540000"/>
          </a:xfrm>
        </p:spPr>
        <p:txBody>
          <a:bodyPr/>
          <a:lstStyle/>
          <a:p>
            <a:r>
              <a:rPr>
                <a:latin typeface="Microsoft YaHei"/>
              </a:rPr>
              <a:t>8/36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4AE812-A7C4-7D4B-2290-C4B2AD5F34CD}"/>
                  </a:ext>
                </a:extLst>
              </p:cNvPr>
              <p:cNvSpPr txBox="1"/>
              <p:nvPr/>
            </p:nvSpPr>
            <p:spPr>
              <a:xfrm>
                <a:off x="7114009" y="5520180"/>
                <a:ext cx="180139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14AE812-A7C4-7D4B-2290-C4B2AD5F3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009" y="5520180"/>
                <a:ext cx="1801391" cy="307777"/>
              </a:xfrm>
              <a:prstGeom prst="rect">
                <a:avLst/>
              </a:prstGeom>
              <a:blipFill>
                <a:blip r:embed="rId20"/>
                <a:stretch>
                  <a:fillRect l="-2703" t="-2000" r="-2365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6588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6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  <p:bldLst>
      <p:bldP spid="3" grpId="0"/>
      <p:bldP spid="4" grpId="0"/>
      <p:bldP spid="8" grpId="0"/>
      <p:bldP spid="9" grpId="0"/>
      <p:bldP spid="10" grpId="0"/>
      <p:bldP spid="11" grpId="0"/>
      <p:bldP spid="12" grpId="0"/>
      <p:bldP spid="14" grpId="0"/>
      <p:bldP spid="17" grpId="0"/>
      <p:bldP spid="20" grpId="0"/>
      <p:bldP spid="13" grpId="0"/>
      <p:bldP spid="22" grpId="0"/>
      <p:bldP spid="23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DB6B-3B9D-B020-DD45-43DC4FBC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7558-8717-ECD7-22D6-4EB867410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回归问题</a:t>
            </a:r>
            <a:r>
              <a:rPr lang="zh-CN" altLang="en-US" dirty="0"/>
              <a:t>：最小二乘法</a:t>
            </a:r>
            <a:endParaRPr lang="en-CN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329CEF44-5F65-DD30-8711-8F03151BD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242" y="6318000"/>
            <a:ext cx="1362214" cy="540000"/>
          </a:xfrm>
        </p:spPr>
        <p:txBody>
          <a:bodyPr/>
          <a:lstStyle/>
          <a:p>
            <a:r>
              <a:rPr>
                <a:latin typeface="Microsoft YaHei"/>
              </a:rPr>
              <a:t>9/36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4F0F385-E56C-C874-2174-26DF4F53F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658" y="1045028"/>
            <a:ext cx="3877401" cy="476794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5ECFDD4-E6D5-38E6-67E2-B20AA84C6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11" y="2024237"/>
            <a:ext cx="4019048" cy="2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3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EA060-0F22-75D3-A962-C373D5A73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30000" cy="761979"/>
          </a:xfrm>
        </p:spPr>
        <p:txBody>
          <a:bodyPr/>
          <a:lstStyle/>
          <a:p>
            <a:r>
              <a:rPr lang="zh-CN" altLang="en-US" sz="2800">
                <a:solidFill>
                  <a:srgbClr val="C3151B"/>
                </a:solidFill>
                <a:latin typeface="Microsoft YaHei"/>
              </a:rPr>
              <a:t>示例：最小二乘法手算练习</a:t>
            </a:r>
            <a:endParaRPr sz="2800">
              <a:solidFill>
                <a:srgbClr val="C3151B"/>
              </a:solidFill>
              <a:latin typeface="Microsoft YaHe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EE248E-27D0-7B6F-9B9D-A20AAFCD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10/36</a:t>
            </a:r>
            <a:endParaRPr lang="zh-CN" altLang="en-US" dirty="0"/>
          </a:p>
        </p:txBody>
      </p:sp>
      <p:sp>
        <p:nvSpPr>
          <p:cNvPr id="5" name="AI_TEXT_10_5">
            <a:extLst>
              <a:ext uri="{FF2B5EF4-FFF2-40B4-BE49-F238E27FC236}">
                <a16:creationId xmlns:a16="http://schemas.microsoft.com/office/drawing/2014/main" id="{EAF9E0D4-104B-E1DE-996F-D5BDE2C55979}"/>
              </a:ext>
            </a:extLst>
          </p:cNvPr>
          <p:cNvSpPr txBox="1"/>
          <p:nvPr/>
        </p:nvSpPr>
        <p:spPr>
          <a:xfrm>
            <a:off x="635000" y="939800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题目</a:t>
            </a:r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CN" altLang="en-US" sz="1900" b="1" dirty="0">
              <a:solidFill>
                <a:srgbClr val="003C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AI_TEXT_10_6">
            <a:extLst>
              <a:ext uri="{FF2B5EF4-FFF2-40B4-BE49-F238E27FC236}">
                <a16:creationId xmlns:a16="http://schemas.microsoft.com/office/drawing/2014/main" id="{6B3E4802-318C-FA31-1C62-52B8FDE84644}"/>
              </a:ext>
            </a:extLst>
          </p:cNvPr>
          <p:cNvSpPr txBox="1"/>
          <p:nvPr/>
        </p:nvSpPr>
        <p:spPr>
          <a:xfrm>
            <a:off x="635000" y="1371600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某物理实验中，测量得到以下 </a:t>
            </a:r>
            <a:r>
              <a:rPr lang="en-US" altLang="zh-CN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组数据：</a:t>
            </a:r>
            <a:endParaRPr lang="zh-CN" altLang="en-US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AI_EQ_10_1">
                <a:extLst>
                  <a:ext uri="{FF2B5EF4-FFF2-40B4-BE49-F238E27FC236}">
                    <a16:creationId xmlns:a16="http://schemas.microsoft.com/office/drawing/2014/main" id="{E83E6A67-0665-047F-CE08-89F2A4A43139}"/>
                  </a:ext>
                </a:extLst>
              </p:cNvPr>
              <p:cNvSpPr txBox="1"/>
              <p:nvPr/>
            </p:nvSpPr>
            <p:spPr>
              <a:xfrm>
                <a:off x="1206500" y="1800711"/>
                <a:ext cx="489409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altLang="zh-CN" sz="2200" i="1" smtClean="0">
                          <a:solidFill>
                            <a:srgbClr val="0066C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  <m:t>1,2.1</m:t>
                              </m:r>
                            </m:e>
                          </m:d>
                          <m: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  <m:t>2,3.9</m:t>
                              </m:r>
                            </m:e>
                          </m:d>
                          <m: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  <m:t>3,6.2</m:t>
                              </m:r>
                            </m:e>
                          </m:d>
                          <m:r>
                            <a:rPr lang="es-ES" altLang="zh-CN" sz="22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altLang="zh-CN" sz="2200" i="1" smtClean="0">
                                  <a:solidFill>
                                    <a:srgbClr val="0066C9"/>
                                  </a:solidFill>
                                  <a:latin typeface="Cambria Math" panose="02040503050406030204" pitchFamily="18" charset="0"/>
                                </a:rPr>
                                <m:t>4,7.8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>
                  <a:solidFill>
                    <a:srgbClr val="0066C9"/>
                  </a:solidFill>
                </a:endParaRPr>
              </a:p>
            </p:txBody>
          </p:sp>
        </mc:Choice>
        <mc:Fallback xmlns="">
          <p:sp>
            <p:nvSpPr>
              <p:cNvPr id="7" name="AI_EQ_10_1">
                <a:extLst>
                  <a:ext uri="{FF2B5EF4-FFF2-40B4-BE49-F238E27FC236}">
                    <a16:creationId xmlns:a16="http://schemas.microsoft.com/office/drawing/2014/main" id="{E83E6A67-0665-047F-CE08-89F2A4A43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500" y="1800711"/>
                <a:ext cx="4894097" cy="338554"/>
              </a:xfrm>
              <a:prstGeom prst="rect">
                <a:avLst/>
              </a:prstGeom>
              <a:blipFill>
                <a:blip r:embed="rId2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I_TEXT_10_8">
            <a:extLst>
              <a:ext uri="{FF2B5EF4-FFF2-40B4-BE49-F238E27FC236}">
                <a16:creationId xmlns:a16="http://schemas.microsoft.com/office/drawing/2014/main" id="{BEC3BE22-80C7-1D2D-4463-8576B792BBF9}"/>
              </a:ext>
            </a:extLst>
          </p:cNvPr>
          <p:cNvSpPr txBox="1"/>
          <p:nvPr/>
        </p:nvSpPr>
        <p:spPr>
          <a:xfrm>
            <a:off x="635000" y="2603500"/>
            <a:ext cx="8890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请用最小二乘法，求线性拟合方程。</a:t>
            </a:r>
            <a:endParaRPr lang="zh-CN" altLang="en-US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AI_TEXT_10_9">
            <a:extLst>
              <a:ext uri="{FF2B5EF4-FFF2-40B4-BE49-F238E27FC236}">
                <a16:creationId xmlns:a16="http://schemas.microsoft.com/office/drawing/2014/main" id="{F23C13C6-8979-DCD6-140B-B856656AAD06}"/>
              </a:ext>
            </a:extLst>
          </p:cNvPr>
          <p:cNvSpPr txBox="1"/>
          <p:nvPr/>
        </p:nvSpPr>
        <p:spPr>
          <a:xfrm>
            <a:off x="635000" y="3302000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提示</a:t>
            </a:r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CN" altLang="en-US" sz="1900" b="1" dirty="0">
              <a:solidFill>
                <a:srgbClr val="003C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AI_TEXT_10_10">
            <a:extLst>
              <a:ext uri="{FF2B5EF4-FFF2-40B4-BE49-F238E27FC236}">
                <a16:creationId xmlns:a16="http://schemas.microsoft.com/office/drawing/2014/main" id="{BAE3C53B-9C2B-A318-452C-D6B745586487}"/>
              </a:ext>
            </a:extLst>
          </p:cNvPr>
          <p:cNvSpPr txBox="1"/>
          <p:nvPr/>
        </p:nvSpPr>
        <p:spPr>
          <a:xfrm>
            <a:off x="635000" y="3759200"/>
            <a:ext cx="965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寻找参数，使所有数据点的残差平方和最小：</a:t>
            </a:r>
            <a:endParaRPr lang="zh-CN" altLang="en-US" sz="1700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AI_EQ_10_2">
                <a:extLst>
                  <a:ext uri="{FF2B5EF4-FFF2-40B4-BE49-F238E27FC236}">
                    <a16:creationId xmlns:a16="http://schemas.microsoft.com/office/drawing/2014/main" id="{F3AA1E11-1276-E6B1-7BA3-FEDB778E1406}"/>
                  </a:ext>
                </a:extLst>
              </p:cNvPr>
              <p:cNvSpPr txBox="1"/>
              <p:nvPr/>
            </p:nvSpPr>
            <p:spPr>
              <a:xfrm>
                <a:off x="1968499" y="4210054"/>
                <a:ext cx="3538020" cy="10799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sz="25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500" i="0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500" i="0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500" i="1" smtClean="0">
                                  <a:solidFill>
                                    <a:srgbClr val="C3151B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500" i="1" smtClean="0">
                                      <a:solidFill>
                                        <a:srgbClr val="C3151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500" i="1" smtClean="0">
                                          <a:solidFill>
                                            <a:srgbClr val="C315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500" i="1" smtClean="0">
                                          <a:solidFill>
                                            <a:srgbClr val="C3151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r>
                                            <a:rPr lang="en-US" altLang="zh-CN" sz="2500" i="1" smtClean="0">
                                              <a:solidFill>
                                                <a:srgbClr val="C3151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500" i="1" smtClean="0">
                                                  <a:solidFill>
                                                    <a:srgbClr val="C315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500" i="1" smtClean="0">
                                                  <a:solidFill>
                                                    <a:srgbClr val="C315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500" i="1" smtClean="0">
                                                  <a:solidFill>
                                                    <a:srgbClr val="C3151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500" i="1" smtClean="0">
                                      <a:solidFill>
                                        <a:srgbClr val="C3151B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500" dirty="0">
                  <a:solidFill>
                    <a:srgbClr val="C3151B"/>
                  </a:solidFill>
                </a:endParaRPr>
              </a:p>
            </p:txBody>
          </p:sp>
        </mc:Choice>
        <mc:Fallback xmlns="">
          <p:sp>
            <p:nvSpPr>
              <p:cNvPr id="11" name="AI_EQ_10_2">
                <a:extLst>
                  <a:ext uri="{FF2B5EF4-FFF2-40B4-BE49-F238E27FC236}">
                    <a16:creationId xmlns:a16="http://schemas.microsoft.com/office/drawing/2014/main" id="{F3AA1E11-1276-E6B1-7BA3-FEDB778E1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499" y="4210054"/>
                <a:ext cx="3538020" cy="10799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09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示例：最小二乘法结果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8500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 dirty="0">
                <a:solidFill>
                  <a:srgbClr val="003366"/>
                </a:solidFill>
                <a:latin typeface="Microsoft YaHei"/>
              </a:rPr>
              <a:t>【</a:t>
            </a:r>
            <a:r>
              <a:rPr sz="2200" b="1" i="0" dirty="0" err="1">
                <a:solidFill>
                  <a:srgbClr val="003366"/>
                </a:solidFill>
                <a:latin typeface="Microsoft YaHei"/>
              </a:rPr>
              <a:t>结论</a:t>
            </a:r>
            <a:r>
              <a:rPr sz="2200" b="1" i="0" dirty="0">
                <a:solidFill>
                  <a:srgbClr val="003366"/>
                </a:solidFill>
                <a:latin typeface="Microsoft YaHei"/>
              </a:rPr>
              <a:t>】</a:t>
            </a:r>
          </a:p>
          <a:p>
            <a:endParaRPr sz="2200" b="1" i="0" dirty="0">
              <a:solidFill>
                <a:srgbClr val="003366"/>
              </a:solidFill>
              <a:latin typeface="Microsoft YaHei"/>
            </a:endParaRPr>
          </a:p>
          <a:p>
            <a:r>
              <a:rPr sz="2000" b="0" i="0" dirty="0" err="1">
                <a:latin typeface="Microsoft YaHei"/>
              </a:rPr>
              <a:t>线性拟合方程为</a:t>
            </a:r>
            <a:r>
              <a:rPr sz="2000" b="0" i="0" dirty="0">
                <a:latin typeface="Microsoft YaHei"/>
              </a:rPr>
              <a:t>：</a:t>
            </a:r>
          </a:p>
          <a:p>
            <a:endParaRPr sz="2000" b="0" i="0" dirty="0">
              <a:latin typeface="Microsoft YaHei"/>
            </a:endParaRPr>
          </a:p>
          <a:p>
            <a:r>
              <a:rPr sz="2600" b="1" i="1" dirty="0">
                <a:solidFill>
                  <a:srgbClr val="CC0000"/>
                </a:solidFill>
                <a:latin typeface="Microsoft YaHei"/>
              </a:rPr>
              <a:t>        y = 0.15 + 1.94x</a:t>
            </a:r>
          </a:p>
          <a:p>
            <a:endParaRPr sz="2600" b="1" i="1" dirty="0">
              <a:solidFill>
                <a:srgbClr val="CC0000"/>
              </a:solidFill>
              <a:latin typeface="Microsoft YaHei"/>
            </a:endParaRPr>
          </a:p>
          <a:p>
            <a:r>
              <a:rPr sz="1800" b="1" i="0" dirty="0" err="1">
                <a:solidFill>
                  <a:srgbClr val="003366"/>
                </a:solidFill>
                <a:latin typeface="Microsoft YaHei"/>
              </a:rPr>
              <a:t>物理意义</a:t>
            </a:r>
            <a:r>
              <a:rPr sz="1800" b="1" i="0" dirty="0">
                <a:solidFill>
                  <a:srgbClr val="003366"/>
                </a:solidFill>
                <a:latin typeface="Microsoft YaHei"/>
              </a:rPr>
              <a:t>：</a:t>
            </a:r>
          </a:p>
          <a:p>
            <a:r>
              <a:rPr sz="1700" b="0" i="0" dirty="0">
                <a:latin typeface="Microsoft YaHei"/>
              </a:rPr>
              <a:t>  - </a:t>
            </a:r>
            <a:r>
              <a:rPr sz="1700" b="0" i="0" dirty="0" err="1">
                <a:latin typeface="Microsoft YaHei"/>
              </a:rPr>
              <a:t>斜率</a:t>
            </a:r>
            <a:r>
              <a:rPr sz="1700" b="0" i="0" dirty="0">
                <a:latin typeface="Microsoft YaHei"/>
              </a:rPr>
              <a:t> 1.94 </a:t>
            </a:r>
            <a:r>
              <a:rPr sz="1700" b="0" i="0" dirty="0" err="1">
                <a:latin typeface="Microsoft YaHei"/>
              </a:rPr>
              <a:t>近似等于弹簧弹性系数的倒数（胡克定律</a:t>
            </a:r>
            <a:r>
              <a:rPr sz="1700" b="0" i="0" dirty="0">
                <a:latin typeface="Microsoft YaHei"/>
              </a:rPr>
              <a:t> F = </a:t>
            </a:r>
            <a:r>
              <a:rPr sz="1700" b="0" i="0" dirty="0" err="1">
                <a:latin typeface="Microsoft YaHei"/>
              </a:rPr>
              <a:t>kx</a:t>
            </a:r>
            <a:r>
              <a:rPr sz="1700" b="0" i="0" dirty="0">
                <a:latin typeface="Microsoft YaHei"/>
              </a:rPr>
              <a:t> 中 k </a:t>
            </a:r>
            <a:r>
              <a:rPr sz="1700" b="0" i="0" dirty="0" err="1">
                <a:latin typeface="Microsoft YaHei"/>
              </a:rPr>
              <a:t>约等于</a:t>
            </a:r>
            <a:r>
              <a:rPr sz="1700" b="0" i="0" dirty="0">
                <a:latin typeface="Microsoft YaHei"/>
              </a:rPr>
              <a:t> 1.94）</a:t>
            </a:r>
          </a:p>
          <a:p>
            <a:r>
              <a:rPr sz="1700" b="0" i="0" dirty="0">
                <a:latin typeface="Microsoft YaHei"/>
              </a:rPr>
              <a:t>  - </a:t>
            </a:r>
            <a:r>
              <a:rPr sz="1700" b="0" i="0" dirty="0" err="1">
                <a:latin typeface="Microsoft YaHei"/>
              </a:rPr>
              <a:t>截距</a:t>
            </a:r>
            <a:r>
              <a:rPr sz="1700" b="0" i="0" dirty="0">
                <a:latin typeface="Microsoft YaHei"/>
              </a:rPr>
              <a:t> 0.15 </a:t>
            </a:r>
            <a:r>
              <a:rPr sz="1700" b="0" i="0" dirty="0" err="1">
                <a:latin typeface="Microsoft YaHei"/>
              </a:rPr>
              <a:t>接近</a:t>
            </a:r>
            <a:r>
              <a:rPr sz="1700" b="0" i="0" dirty="0">
                <a:latin typeface="Microsoft YaHei"/>
              </a:rPr>
              <a:t> 0，说明系统误差很小</a:t>
            </a:r>
          </a:p>
          <a:p>
            <a:endParaRPr sz="1700" b="0" i="0" dirty="0">
              <a:latin typeface="Microsoft YaHei"/>
            </a:endParaRPr>
          </a:p>
          <a:p>
            <a:r>
              <a:rPr sz="1700" b="0" i="0" dirty="0" err="1">
                <a:latin typeface="Microsoft YaHei"/>
              </a:rPr>
              <a:t>验证：将</a:t>
            </a:r>
            <a:r>
              <a:rPr sz="1700" b="0" i="0" dirty="0">
                <a:latin typeface="Microsoft YaHei"/>
              </a:rPr>
              <a:t> x = 1,2,3,4 </a:t>
            </a:r>
            <a:r>
              <a:rPr sz="1700" b="0" i="0" dirty="0" err="1">
                <a:latin typeface="Microsoft YaHei"/>
              </a:rPr>
              <a:t>代入，预测值分别为</a:t>
            </a:r>
            <a:r>
              <a:rPr sz="1700" b="0" i="0" dirty="0">
                <a:latin typeface="Microsoft YaHei"/>
              </a:rPr>
              <a:t> 2.09, 4.03, 5.97, 7.91</a:t>
            </a:r>
          </a:p>
          <a:p>
            <a:r>
              <a:rPr sz="1700" b="0" i="0" dirty="0">
                <a:solidFill>
                  <a:srgbClr val="006600"/>
                </a:solidFill>
                <a:latin typeface="Microsoft YaHei"/>
              </a:rPr>
              <a:t>      </a:t>
            </a:r>
            <a:r>
              <a:rPr sz="1700" b="0" i="0" dirty="0" err="1">
                <a:solidFill>
                  <a:srgbClr val="006600"/>
                </a:solidFill>
                <a:latin typeface="Microsoft YaHei"/>
              </a:rPr>
              <a:t>与真实值</a:t>
            </a:r>
            <a:r>
              <a:rPr sz="1700" b="0" i="0" dirty="0">
                <a:solidFill>
                  <a:srgbClr val="006600"/>
                </a:solidFill>
                <a:latin typeface="Microsoft YaHei"/>
              </a:rPr>
              <a:t> 2.1, 3.9, 6.2, 7.8 </a:t>
            </a:r>
            <a:r>
              <a:rPr sz="1700" b="0" i="0" dirty="0" err="1">
                <a:solidFill>
                  <a:srgbClr val="006600"/>
                </a:solidFill>
                <a:latin typeface="Microsoft YaHei"/>
              </a:rPr>
              <a:t>非常接近</a:t>
            </a:r>
            <a:r>
              <a:rPr sz="1700" b="0" i="0" dirty="0">
                <a:solidFill>
                  <a:srgbClr val="006600"/>
                </a:solidFill>
                <a:latin typeface="Microsoft YaHei"/>
              </a:rPr>
              <a:t>！</a:t>
            </a:r>
          </a:p>
        </p:txBody>
      </p:sp>
      <p:pic>
        <p:nvPicPr>
          <p:cNvPr id="4" name="Picture 3" descr="least_squares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000" y="1100000"/>
            <a:ext cx="5800000" cy="48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242" y="6318000"/>
            <a:ext cx="1362214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Microsoft YaHei"/>
              </a:rPr>
              <a:t>12/36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5196-AC5F-C197-EAFB-559B5CB6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分类问题</a:t>
            </a:r>
            <a:r>
              <a:rPr lang="zh-CN" altLang="en-US" dirty="0"/>
              <a:t>：二分类问题</a:t>
            </a:r>
            <a:endParaRPr lang="en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D319D-BDAE-C9FB-C3DE-7ED43F3FF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76" y="968375"/>
            <a:ext cx="5163126" cy="49212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69B1-3D88-3BF7-FA50-F563D3ECE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13/36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E9CFE34-1F53-02BC-0490-55A0392A8CA4}"/>
                  </a:ext>
                </a:extLst>
              </p:cNvPr>
              <p:cNvSpPr txBox="1"/>
              <p:nvPr/>
            </p:nvSpPr>
            <p:spPr>
              <a:xfrm>
                <a:off x="5942302" y="1238160"/>
                <a:ext cx="6148098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2"/>
                    </a:solidFill>
                  </a:rPr>
                  <a:t>例</a:t>
                </a:r>
                <a:r>
                  <a:rPr lang="en-US" altLang="zh-CN" b="1" dirty="0">
                    <a:solidFill>
                      <a:schemeClr val="tx2"/>
                    </a:solidFill>
                  </a:rPr>
                  <a:t>. 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平面散点二分类问题</a:t>
                </a:r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r>
                  <a:rPr lang="zh-CN" altLang="en-US" dirty="0">
                    <a:solidFill>
                      <a:schemeClr val="tx2"/>
                    </a:solidFill>
                  </a:rPr>
                  <a:t>图中的平面上有一系列散点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，其中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绿色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的点具有标签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，而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红色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的点具有标签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。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r>
                  <a:rPr lang="zh-CN" altLang="en-US" dirty="0">
                    <a:solidFill>
                      <a:schemeClr val="tx2"/>
                    </a:solidFill>
                  </a:rPr>
                  <a:t>图中的黑色实线代表一个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决策边界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，它尝试将平面分成两个区域，其中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红色区域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将覆盖尽可能多的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红点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以及尽可能少的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绿点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，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绿色区域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则相反。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endParaRPr lang="en-US" altLang="zh-CN" dirty="0">
                  <a:solidFill>
                    <a:schemeClr val="tx2"/>
                  </a:solidFill>
                </a:endParaRPr>
              </a:p>
              <a:p>
                <a:r>
                  <a:rPr lang="zh-CN" altLang="en-US" dirty="0">
                    <a:solidFill>
                      <a:schemeClr val="tx2"/>
                    </a:solidFill>
                  </a:rPr>
                  <a:t>显然不同的直线会带来不同的决策边界，我们的目标是尝试找到</a:t>
                </a:r>
                <a:r>
                  <a:rPr lang="zh-CN" altLang="en-US" b="1" dirty="0">
                    <a:solidFill>
                      <a:schemeClr val="tx2"/>
                    </a:solidFill>
                  </a:rPr>
                  <a:t>最优的决策边界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。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E9CFE34-1F53-02BC-0490-55A0392A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302" y="1238160"/>
                <a:ext cx="6148098" cy="3108543"/>
              </a:xfrm>
              <a:prstGeom prst="rect">
                <a:avLst/>
              </a:prstGeom>
              <a:blipFill>
                <a:blip r:embed="rId6"/>
                <a:stretch>
                  <a:fillRect l="-893" t="-1569" r="-595" b="-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D8013A2A-D79F-D7AB-825F-F82EEEB137A2}"/>
              </a:ext>
            </a:extLst>
          </p:cNvPr>
          <p:cNvSpPr txBox="1"/>
          <p:nvPr/>
        </p:nvSpPr>
        <p:spPr>
          <a:xfrm>
            <a:off x="6532418" y="4616488"/>
            <a:ext cx="2837029" cy="877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如何定义“最优边界”？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如何找到“最优边界”？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0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51E2C-4DAD-E322-9672-6E559561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0C19-7332-4670-C80D-818A65949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逻辑回归（</a:t>
            </a:r>
            <a:r>
              <a:rPr lang="en-US" altLang="zh-CN" dirty="0"/>
              <a:t>Logistic Regression</a:t>
            </a:r>
            <a:r>
              <a:rPr lang="zh-CN" altLang="en-US" dirty="0"/>
              <a:t>，</a:t>
            </a:r>
            <a:r>
              <a:rPr lang="en-US" altLang="zh-CN" dirty="0"/>
              <a:t>LR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A0F165-9F26-4520-67F8-2084BCD7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14/36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3353BBE-22C1-27F8-3147-3CAB9456E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409" y="1159876"/>
            <a:ext cx="4369858" cy="2257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3646EA4-8485-E97F-F97B-EDC27035BE01}"/>
                  </a:ext>
                </a:extLst>
              </p:cNvPr>
              <p:cNvSpPr txBox="1"/>
              <p:nvPr/>
            </p:nvSpPr>
            <p:spPr>
              <a:xfrm>
                <a:off x="863071" y="1308107"/>
                <a:ext cx="6096000" cy="1284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schemeClr val="tx2"/>
                    </a:solidFill>
                  </a:rPr>
                  <a:t> 分类模型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sz="2400" b="1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tx2"/>
                    </a:solidFill>
                  </a:rPr>
                  <a:t>逻辑回归模型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3646EA4-8485-E97F-F97B-EDC27035B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1" y="1308107"/>
                <a:ext cx="6096000" cy="1284582"/>
              </a:xfrm>
              <a:prstGeom prst="rect">
                <a:avLst/>
              </a:prstGeom>
              <a:blipFill>
                <a:blip r:embed="rId6"/>
                <a:stretch>
                  <a:fillRect l="-16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A00F641-013E-5113-7CF5-643DD6E74A3B}"/>
              </a:ext>
            </a:extLst>
          </p:cNvPr>
          <p:cNvCxnSpPr>
            <a:cxnSpLocks/>
          </p:cNvCxnSpPr>
          <p:nvPr/>
        </p:nvCxnSpPr>
        <p:spPr>
          <a:xfrm>
            <a:off x="5232400" y="2345766"/>
            <a:ext cx="1981200" cy="143434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F49FD5B-58B9-5959-00B1-B2C4383DD7BA}"/>
                  </a:ext>
                </a:extLst>
              </p:cNvPr>
              <p:cNvSpPr txBox="1"/>
              <p:nvPr/>
            </p:nvSpPr>
            <p:spPr>
              <a:xfrm>
                <a:off x="863071" y="3672716"/>
                <a:ext cx="10898187" cy="615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schemeClr val="tx2"/>
                    </a:solidFill>
                  </a:rPr>
                  <a:t> 分类误差函数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24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F49FD5B-58B9-5959-00B1-B2C4383DD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1" y="3672716"/>
                <a:ext cx="10898187" cy="615874"/>
              </a:xfrm>
              <a:prstGeom prst="rect">
                <a:avLst/>
              </a:prstGeom>
              <a:blipFill>
                <a:blip r:embed="rId7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600D5E4-4EC5-E3C0-448C-582772EB60AE}"/>
                  </a:ext>
                </a:extLst>
              </p:cNvPr>
              <p:cNvSpPr txBox="1"/>
              <p:nvPr/>
            </p:nvSpPr>
            <p:spPr>
              <a:xfrm>
                <a:off x="863071" y="4302086"/>
                <a:ext cx="11279187" cy="615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2"/>
                    </a:solidFill>
                  </a:rPr>
                  <a:t>逻辑回归误差函数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CN" sz="24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2400" b="1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func>
                              <m:funcPr>
                                <m:ctrlPr>
                                  <a:rPr lang="en-US" altLang="zh-CN" sz="24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600D5E4-4EC5-E3C0-448C-582772EB6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71" y="4302086"/>
                <a:ext cx="11279187" cy="615874"/>
              </a:xfrm>
              <a:prstGeom prst="rect">
                <a:avLst/>
              </a:prstGeom>
              <a:blipFill>
                <a:blip r:embed="rId8"/>
                <a:stretch>
                  <a:fillRect l="-865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Arrow 22">
            <a:extLst>
              <a:ext uri="{FF2B5EF4-FFF2-40B4-BE49-F238E27FC236}">
                <a16:creationId xmlns:a16="http://schemas.microsoft.com/office/drawing/2014/main" id="{F64F2EFF-9FF6-EB84-83ED-56CF5147FC6A}"/>
              </a:ext>
            </a:extLst>
          </p:cNvPr>
          <p:cNvSpPr/>
          <p:nvPr/>
        </p:nvSpPr>
        <p:spPr>
          <a:xfrm rot="5400000">
            <a:off x="2215609" y="2716236"/>
            <a:ext cx="587628" cy="8447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C0785B1-24B2-C98B-334E-C620FDDE7310}"/>
              </a:ext>
            </a:extLst>
          </p:cNvPr>
          <p:cNvSpPr txBox="1"/>
          <p:nvPr/>
        </p:nvSpPr>
        <p:spPr>
          <a:xfrm>
            <a:off x="863071" y="54147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课外阅读：利用最大似然估计导出逻辑回归的误差函数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19EA15-0803-C3F1-1BDF-2B3BFAEB9055}"/>
              </a:ext>
            </a:extLst>
          </p:cNvPr>
          <p:cNvSpPr txBox="1"/>
          <p:nvPr/>
        </p:nvSpPr>
        <p:spPr>
          <a:xfrm>
            <a:off x="7421608" y="384013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（不连续，不利于基于梯度的优化算法）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A4FDC7-CF0E-5B83-3503-BA6907A6C1E8}"/>
              </a:ext>
            </a:extLst>
          </p:cNvPr>
          <p:cNvSpPr txBox="1"/>
          <p:nvPr/>
        </p:nvSpPr>
        <p:spPr>
          <a:xfrm>
            <a:off x="9729933" y="445274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（具有概率解释）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081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29" grpId="0"/>
      <p:bldP spid="32" grpId="0" animBg="1"/>
      <p:bldP spid="34" grpId="0"/>
      <p:bldP spid="3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50A3-A2D3-819A-B2CC-64260281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4029-3C5F-1466-61DC-EAE9C89E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9144000" cy="761979"/>
          </a:xfrm>
        </p:spPr>
        <p:txBody>
          <a:bodyPr/>
          <a:lstStyle/>
          <a:p>
            <a:r>
              <a:rPr lang="zh-CN" altLang="en-US" sz="2700">
                <a:solidFill>
                  <a:srgbClr val="C3151B"/>
                </a:solidFill>
              </a:rPr>
              <a:t>线性判别分析（</a:t>
            </a:r>
            <a:r>
              <a:rPr lang="en-CN" sz="2700">
                <a:solidFill>
                  <a:srgbClr val="C3151B"/>
                </a:solidFill>
              </a:rPr>
              <a:t>Linear Discriminant Analysis，LDA）</a:t>
            </a:r>
            <a:endParaRPr lang="en-CN" sz="2700" dirty="0">
              <a:solidFill>
                <a:srgbClr val="C3151B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A735C3C-CFD7-5DA6-C58F-F44EDFB1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15/36</a:t>
            </a:r>
            <a:endParaRPr lang="zh-CN" altLang="en-US" dirty="0"/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D5B5DBD2-3215-1E6D-5CB6-7882F9431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5" r="6884"/>
          <a:stretch/>
        </p:blipFill>
        <p:spPr>
          <a:xfrm>
            <a:off x="482600" y="2235200"/>
            <a:ext cx="4003845" cy="3213100"/>
          </a:xfrm>
          <a:prstGeom prst="rect">
            <a:avLst/>
          </a:prstGeom>
        </p:spPr>
      </p:pic>
      <p:sp>
        <p:nvSpPr>
          <p:cNvPr id="7" name="AI_TEXT_15_7">
            <a:extLst>
              <a:ext uri="{FF2B5EF4-FFF2-40B4-BE49-F238E27FC236}">
                <a16:creationId xmlns:a16="http://schemas.microsoft.com/office/drawing/2014/main" id="{EF7BBA3B-F920-8DDC-D2D9-4853CE1D5182}"/>
              </a:ext>
            </a:extLst>
          </p:cNvPr>
          <p:cNvSpPr txBox="1"/>
          <p:nvPr/>
        </p:nvSpPr>
        <p:spPr>
          <a:xfrm>
            <a:off x="469900" y="990600"/>
            <a:ext cx="825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LDA </a:t>
            </a:r>
            <a:r>
              <a:rPr lang="zh-CN" altLang="en-US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的朴素思想：样本投影后，不同类别各自聚集</a:t>
            </a:r>
            <a:endParaRPr lang="zh-CN" altLang="en-US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AI_TEXT_15_8">
            <a:extLst>
              <a:ext uri="{FF2B5EF4-FFF2-40B4-BE49-F238E27FC236}">
                <a16:creationId xmlns:a16="http://schemas.microsoft.com/office/drawing/2014/main" id="{E42B913A-8574-181F-97EF-3F05EF6BBD09}"/>
              </a:ext>
            </a:extLst>
          </p:cNvPr>
          <p:cNvSpPr txBox="1"/>
          <p:nvPr/>
        </p:nvSpPr>
        <p:spPr>
          <a:xfrm>
            <a:off x="4927600" y="1651000"/>
            <a:ext cx="3810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 </a:t>
            </a:r>
            <a:r>
              <a:rPr lang="en-US" altLang="zh-CN" sz="1700" b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</a:t>
            </a:r>
            <a:r>
              <a:rPr lang="zh-CN" altLang="en-US" sz="1700" b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类的中心与协方差</a:t>
            </a:r>
            <a:endParaRPr lang="zh-CN" altLang="en-US" sz="17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AI_EQ_15_13">
                <a:extLst>
                  <a:ext uri="{FF2B5EF4-FFF2-40B4-BE49-F238E27FC236}">
                    <a16:creationId xmlns:a16="http://schemas.microsoft.com/office/drawing/2014/main" id="{DAA4600D-F586-4FA8-4D33-39C57B799389}"/>
                  </a:ext>
                </a:extLst>
              </p:cNvPr>
              <p:cNvSpPr txBox="1"/>
              <p:nvPr/>
            </p:nvSpPr>
            <p:spPr>
              <a:xfrm>
                <a:off x="8763000" y="1590188"/>
                <a:ext cx="19351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nn-NO" altLang="zh-CN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n-NO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nn-NO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nn-NO" altLang="zh-CN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nn-NO" altLang="zh-CN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n-NO" altLang="zh-CN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nn-NO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nn-NO" altLang="zh-CN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nn-NO" altLang="zh-CN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nn-NO" altLang="zh-CN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=0,1</m:t>
                      </m:r>
                    </m:oMath>
                  </m:oMathPara>
                </a14:m>
                <a:endParaRPr lang="zh-CN" altLang="en-US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9" name="AI_EQ_15_13">
                <a:extLst>
                  <a:ext uri="{FF2B5EF4-FFF2-40B4-BE49-F238E27FC236}">
                    <a16:creationId xmlns:a16="http://schemas.microsoft.com/office/drawing/2014/main" id="{DAA4600D-F586-4FA8-4D33-39C57B799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0" y="1590188"/>
                <a:ext cx="1935145" cy="276999"/>
              </a:xfrm>
              <a:prstGeom prst="rect">
                <a:avLst/>
              </a:prstGeom>
              <a:blipFill>
                <a:blip r:embed="rId4"/>
                <a:stretch>
                  <a:fillRect r="-946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I_TEXT_15_10">
            <a:extLst>
              <a:ext uri="{FF2B5EF4-FFF2-40B4-BE49-F238E27FC236}">
                <a16:creationId xmlns:a16="http://schemas.microsoft.com/office/drawing/2014/main" id="{4CB2D0B0-5D7E-F4C9-0E68-71085C09FA4C}"/>
              </a:ext>
            </a:extLst>
          </p:cNvPr>
          <p:cNvSpPr txBox="1"/>
          <p:nvPr/>
        </p:nvSpPr>
        <p:spPr>
          <a:xfrm>
            <a:off x="4927600" y="2247900"/>
            <a:ext cx="3810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投影后的中心与协方差</a:t>
            </a:r>
            <a:endParaRPr lang="zh-CN" altLang="en-US" sz="17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AI_EQ_15_14">
                <a:extLst>
                  <a:ext uri="{FF2B5EF4-FFF2-40B4-BE49-F238E27FC236}">
                    <a16:creationId xmlns:a16="http://schemas.microsoft.com/office/drawing/2014/main" id="{0184AA52-C2FA-31D9-7D62-8DE220AEDECF}"/>
                  </a:ext>
                </a:extLst>
              </p:cNvPr>
              <p:cNvSpPr txBox="1"/>
              <p:nvPr/>
            </p:nvSpPr>
            <p:spPr>
              <a:xfrm>
                <a:off x="8508999" y="2163675"/>
                <a:ext cx="1536382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pl-PL" altLang="zh-CN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l-PL" altLang="zh-CN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pl-PL" altLang="zh-CN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l-PL" altLang="zh-CN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pl-PL" altLang="zh-CN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l-PL" altLang="zh-CN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12" name="AI_EQ_15_14">
                <a:extLst>
                  <a:ext uri="{FF2B5EF4-FFF2-40B4-BE49-F238E27FC236}">
                    <a16:creationId xmlns:a16="http://schemas.microsoft.com/office/drawing/2014/main" id="{0184AA52-C2FA-31D9-7D62-8DE220AED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999" y="2163675"/>
                <a:ext cx="1536382" cy="312650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I_TEXT_15_13">
            <a:extLst>
              <a:ext uri="{FF2B5EF4-FFF2-40B4-BE49-F238E27FC236}">
                <a16:creationId xmlns:a16="http://schemas.microsoft.com/office/drawing/2014/main" id="{FCEA6BCB-063A-5C5F-EEC6-3E95E284731C}"/>
              </a:ext>
            </a:extLst>
          </p:cNvPr>
          <p:cNvSpPr txBox="1"/>
          <p:nvPr/>
        </p:nvSpPr>
        <p:spPr>
          <a:xfrm>
            <a:off x="4927600" y="2921000"/>
            <a:ext cx="317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最大化目标函数</a:t>
            </a:r>
            <a:endParaRPr lang="zh-CN" altLang="en-US" sz="1900" b="1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AI_EQ_15_15">
                <a:extLst>
                  <a:ext uri="{FF2B5EF4-FFF2-40B4-BE49-F238E27FC236}">
                    <a16:creationId xmlns:a16="http://schemas.microsoft.com/office/drawing/2014/main" id="{EE9081C1-0A8D-34F7-E214-5C85E576A4F1}"/>
                  </a:ext>
                </a:extLst>
              </p:cNvPr>
              <p:cNvSpPr txBox="1"/>
              <p:nvPr/>
            </p:nvSpPr>
            <p:spPr>
              <a:xfrm>
                <a:off x="4889500" y="3358855"/>
                <a:ext cx="3366626" cy="71070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altLang="zh-CN" sz="19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pl-PL" altLang="zh-CN" sz="19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pl-PL" altLang="zh-CN" sz="190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l-PL" altLang="zh-CN" sz="190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pl-PL" altLang="zh-CN" sz="190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l-PL" altLang="zh-CN" sz="1900" i="0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pl-PL" altLang="zh-CN" sz="19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sSup>
                            <m:sSup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zh-CN" altLang="en-US" sz="1900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14" name="AI_EQ_15_15">
                <a:extLst>
                  <a:ext uri="{FF2B5EF4-FFF2-40B4-BE49-F238E27FC236}">
                    <a16:creationId xmlns:a16="http://schemas.microsoft.com/office/drawing/2014/main" id="{EE9081C1-0A8D-34F7-E214-5C85E576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500" y="3358855"/>
                <a:ext cx="3366626" cy="710707"/>
              </a:xfrm>
              <a:prstGeom prst="rect">
                <a:avLst/>
              </a:prstGeom>
              <a:blipFill>
                <a:blip r:embed="rId6"/>
                <a:stretch>
                  <a:fillRect l="-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I_TEXT_15_16">
            <a:extLst>
              <a:ext uri="{FF2B5EF4-FFF2-40B4-BE49-F238E27FC236}">
                <a16:creationId xmlns:a16="http://schemas.microsoft.com/office/drawing/2014/main" id="{C9957C99-A4EA-C519-107F-A68FF8D4E4D2}"/>
              </a:ext>
            </a:extLst>
          </p:cNvPr>
          <p:cNvSpPr txBox="1"/>
          <p:nvPr/>
        </p:nvSpPr>
        <p:spPr>
          <a:xfrm>
            <a:off x="8128000" y="4140200"/>
            <a:ext cx="3556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>
                <a:solidFill>
                  <a:srgbClr val="A0A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增大类间距离，同时减小类内方差</a:t>
            </a:r>
            <a:endParaRPr lang="zh-CN" altLang="en-US" sz="1500" dirty="0">
              <a:solidFill>
                <a:srgbClr val="A0A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AI_EQ_15_16">
                <a:extLst>
                  <a:ext uri="{FF2B5EF4-FFF2-40B4-BE49-F238E27FC236}">
                    <a16:creationId xmlns:a16="http://schemas.microsoft.com/office/drawing/2014/main" id="{35212690-522C-54CE-AFD3-5C7DE8178618}"/>
                  </a:ext>
                </a:extLst>
              </p:cNvPr>
              <p:cNvSpPr txBox="1"/>
              <p:nvPr/>
            </p:nvSpPr>
            <p:spPr>
              <a:xfrm>
                <a:off x="5207000" y="4520393"/>
                <a:ext cx="3616375" cy="44852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l-PL" altLang="zh-CN" sz="19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l-PL" altLang="zh-CN" sz="1900" i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altLang="zh-CN" sz="1900" i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l-PL" altLang="zh-CN" sz="1900" i="0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l-PL" altLang="zh-CN" sz="1900" i="0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pl-PL" altLang="zh-CN" sz="19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func>
                        </m:e>
                      </m:func>
                      <m:r>
                        <a:rPr lang="pl-PL" altLang="zh-CN" sz="19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l-PL" altLang="zh-CN" sz="19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d>
                            <m:d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l-PL" altLang="zh-CN" sz="19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pl-PL" altLang="zh-CN" sz="19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sz="1900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17" name="AI_EQ_15_16">
                <a:extLst>
                  <a:ext uri="{FF2B5EF4-FFF2-40B4-BE49-F238E27FC236}">
                    <a16:creationId xmlns:a16="http://schemas.microsoft.com/office/drawing/2014/main" id="{35212690-522C-54CE-AFD3-5C7DE8178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000" y="4520393"/>
                <a:ext cx="3616375" cy="448521"/>
              </a:xfrm>
              <a:prstGeom prst="rect">
                <a:avLst/>
              </a:prstGeom>
              <a:blipFill>
                <a:blip r:embed="rId7"/>
                <a:stretch>
                  <a:fillRect l="-1180"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I_TEXT_15_23">
            <a:extLst>
              <a:ext uri="{FF2B5EF4-FFF2-40B4-BE49-F238E27FC236}">
                <a16:creationId xmlns:a16="http://schemas.microsoft.com/office/drawing/2014/main" id="{6B669759-4CE5-3908-5972-A600B20D2EDF}"/>
              </a:ext>
            </a:extLst>
          </p:cNvPr>
          <p:cNvSpPr txBox="1"/>
          <p:nvPr/>
        </p:nvSpPr>
        <p:spPr>
          <a:xfrm>
            <a:off x="4927600" y="5562600"/>
            <a:ext cx="635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课外阅读：利用拉格朗日乘子法推导最优方向</a:t>
            </a:r>
            <a:endParaRPr lang="zh-CN" altLang="en-US" sz="1700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26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6E48-4FA8-B4E6-79EB-4FCE0B5D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1F9B8-D214-73DA-A748-BED95003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0"/>
            <a:ext cx="11430000" cy="761979"/>
          </a:xfrm>
        </p:spPr>
        <p:txBody>
          <a:bodyPr/>
          <a:lstStyle/>
          <a:p>
            <a:r>
              <a:rPr lang="zh-CN" altLang="en-US" sz="2800">
                <a:solidFill>
                  <a:srgbClr val="C3151B"/>
                </a:solidFill>
                <a:latin typeface="Microsoft YaHei"/>
              </a:rPr>
              <a:t>示例：</a:t>
            </a:r>
            <a:r>
              <a:rPr lang="en-US" altLang="zh-CN" sz="2800">
                <a:solidFill>
                  <a:srgbClr val="C3151B"/>
                </a:solidFill>
                <a:latin typeface="Microsoft YaHei"/>
              </a:rPr>
              <a:t>LDA </a:t>
            </a:r>
            <a:r>
              <a:rPr lang="zh-CN" altLang="en-US" sz="2800">
                <a:solidFill>
                  <a:srgbClr val="C3151B"/>
                </a:solidFill>
                <a:latin typeface="Microsoft YaHei"/>
              </a:rPr>
              <a:t>投影后的均值与方差计算</a:t>
            </a:r>
            <a:endParaRPr sz="2800">
              <a:solidFill>
                <a:srgbClr val="C3151B"/>
              </a:solidFill>
              <a:latin typeface="Microsoft YaHei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D73B6C5-98A5-BC1F-ABB7-D433149F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16/36</a:t>
            </a:r>
            <a:endParaRPr lang="zh-CN" altLang="en-US" dirty="0"/>
          </a:p>
        </p:txBody>
      </p:sp>
      <p:sp>
        <p:nvSpPr>
          <p:cNvPr id="4" name="AI_TEXT_16_4">
            <a:extLst>
              <a:ext uri="{FF2B5EF4-FFF2-40B4-BE49-F238E27FC236}">
                <a16:creationId xmlns:a16="http://schemas.microsoft.com/office/drawing/2014/main" id="{FCB1431E-DFB4-63F5-CA3F-DA1C4648FEBD}"/>
              </a:ext>
            </a:extLst>
          </p:cNvPr>
          <p:cNvSpPr txBox="1"/>
          <p:nvPr/>
        </p:nvSpPr>
        <p:spPr>
          <a:xfrm>
            <a:off x="533400" y="9398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题目</a:t>
            </a:r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CN" altLang="en-US" sz="1900" b="1" dirty="0">
              <a:solidFill>
                <a:srgbClr val="003C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AI_TEXT_16_7">
            <a:extLst>
              <a:ext uri="{FF2B5EF4-FFF2-40B4-BE49-F238E27FC236}">
                <a16:creationId xmlns:a16="http://schemas.microsoft.com/office/drawing/2014/main" id="{10331AFA-E77B-4B4D-13F9-5BF62B02424E}"/>
              </a:ext>
            </a:extLst>
          </p:cNvPr>
          <p:cNvSpPr txBox="1"/>
          <p:nvPr/>
        </p:nvSpPr>
        <p:spPr>
          <a:xfrm>
            <a:off x="533400" y="1397000"/>
            <a:ext cx="6096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已知二维空间中的两类样本：</a:t>
            </a:r>
            <a:endParaRPr lang="zh-CN" altLang="en-US" sz="17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AI_TEXT_16_8">
            <a:extLst>
              <a:ext uri="{FF2B5EF4-FFF2-40B4-BE49-F238E27FC236}">
                <a16:creationId xmlns:a16="http://schemas.microsoft.com/office/drawing/2014/main" id="{4D8DE795-8957-90E3-286B-D3F3762C3B56}"/>
              </a:ext>
            </a:extLst>
          </p:cNvPr>
          <p:cNvSpPr txBox="1"/>
          <p:nvPr/>
        </p:nvSpPr>
        <p:spPr>
          <a:xfrm>
            <a:off x="533400" y="1905000"/>
            <a:ext cx="889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正类：</a:t>
            </a:r>
            <a:endParaRPr lang="zh-CN" altLang="en-US" b="1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AI_EQ_16_17">
                <a:extLst>
                  <a:ext uri="{FF2B5EF4-FFF2-40B4-BE49-F238E27FC236}">
                    <a16:creationId xmlns:a16="http://schemas.microsoft.com/office/drawing/2014/main" id="{88C6A1BD-2032-2B3C-ECAE-3BBF25536EB6}"/>
                  </a:ext>
                </a:extLst>
              </p:cNvPr>
              <p:cNvSpPr txBox="1"/>
              <p:nvPr/>
            </p:nvSpPr>
            <p:spPr>
              <a:xfrm>
                <a:off x="1416534" y="1860385"/>
                <a:ext cx="2482410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1900" i="1" smtClean="0">
                          <a:solidFill>
                            <a:srgbClr val="C3151B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altLang="zh-CN" sz="1900" i="1" smtClean="0">
                          <a:solidFill>
                            <a:srgbClr val="C3151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  <m:r>
                        <a:rPr lang="en-US" altLang="zh-CN" sz="1900" i="1" smtClean="0">
                          <a:solidFill>
                            <a:srgbClr val="C3151B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C3151B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e>
                      </m:d>
                    </m:oMath>
                  </m:oMathPara>
                </a14:m>
                <a:endParaRPr lang="zh-CN" altLang="en-US" sz="1900" dirty="0">
                  <a:solidFill>
                    <a:srgbClr val="C3151B"/>
                  </a:solidFill>
                </a:endParaRPr>
              </a:p>
            </p:txBody>
          </p:sp>
        </mc:Choice>
        <mc:Fallback>
          <p:sp>
            <p:nvSpPr>
              <p:cNvPr id="9" name="AI_EQ_16_17">
                <a:extLst>
                  <a:ext uri="{FF2B5EF4-FFF2-40B4-BE49-F238E27FC236}">
                    <a16:creationId xmlns:a16="http://schemas.microsoft.com/office/drawing/2014/main" id="{88C6A1BD-2032-2B3C-ECAE-3BBF25536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534" y="1860385"/>
                <a:ext cx="2482410" cy="292388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I_TEXT_16_10">
            <a:extLst>
              <a:ext uri="{FF2B5EF4-FFF2-40B4-BE49-F238E27FC236}">
                <a16:creationId xmlns:a16="http://schemas.microsoft.com/office/drawing/2014/main" id="{C22C9B50-1230-7DE5-56B4-0DA45AE5FAE2}"/>
              </a:ext>
            </a:extLst>
          </p:cNvPr>
          <p:cNvSpPr txBox="1"/>
          <p:nvPr/>
        </p:nvSpPr>
        <p:spPr>
          <a:xfrm>
            <a:off x="533400" y="2413000"/>
            <a:ext cx="889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66C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负类：</a:t>
            </a:r>
            <a:endParaRPr lang="zh-CN" altLang="en-US" b="1" dirty="0">
              <a:solidFill>
                <a:srgbClr val="0066C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AI_EQ_16_18">
                <a:extLst>
                  <a:ext uri="{FF2B5EF4-FFF2-40B4-BE49-F238E27FC236}">
                    <a16:creationId xmlns:a16="http://schemas.microsoft.com/office/drawing/2014/main" id="{D0D51C80-ABDE-B90D-FFA9-520ED0BDEBF0}"/>
                  </a:ext>
                </a:extLst>
              </p:cNvPr>
              <p:cNvSpPr txBox="1"/>
              <p:nvPr/>
            </p:nvSpPr>
            <p:spPr>
              <a:xfrm>
                <a:off x="1416534" y="2368385"/>
                <a:ext cx="2482410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1900" i="1" smtClean="0">
                          <a:solidFill>
                            <a:srgbClr val="0066C9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2,4</m:t>
                          </m:r>
                        </m:e>
                      </m:d>
                      <m:r>
                        <a:rPr lang="en-US" altLang="zh-CN" sz="1900" i="1" smtClean="0">
                          <a:solidFill>
                            <a:srgbClr val="0066C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3,5</m:t>
                          </m:r>
                        </m:e>
                      </m:d>
                      <m:r>
                        <a:rPr lang="en-US" altLang="zh-CN" sz="1900" i="1" smtClean="0">
                          <a:solidFill>
                            <a:srgbClr val="0066C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900" i="1" smtClean="0">
                              <a:solidFill>
                                <a:srgbClr val="0066C9"/>
                              </a:solidFill>
                              <a:latin typeface="Cambria Math" panose="02040503050406030204" pitchFamily="18" charset="0"/>
                            </a:rPr>
                            <m:t>4,6</m:t>
                          </m:r>
                        </m:e>
                      </m:d>
                    </m:oMath>
                  </m:oMathPara>
                </a14:m>
                <a:endParaRPr lang="zh-CN" altLang="en-US" sz="1900" dirty="0">
                  <a:solidFill>
                    <a:srgbClr val="0066C9"/>
                  </a:solidFill>
                </a:endParaRPr>
              </a:p>
            </p:txBody>
          </p:sp>
        </mc:Choice>
        <mc:Fallback>
          <p:sp>
            <p:nvSpPr>
              <p:cNvPr id="11" name="AI_EQ_16_18">
                <a:extLst>
                  <a:ext uri="{FF2B5EF4-FFF2-40B4-BE49-F238E27FC236}">
                    <a16:creationId xmlns:a16="http://schemas.microsoft.com/office/drawing/2014/main" id="{D0D51C80-ABDE-B90D-FFA9-520ED0BDE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534" y="2368385"/>
                <a:ext cx="2482410" cy="292388"/>
              </a:xfrm>
              <a:prstGeom prst="rect">
                <a:avLst/>
              </a:prstGeom>
              <a:blipFill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I_TEXT_16_12">
            <a:extLst>
              <a:ext uri="{FF2B5EF4-FFF2-40B4-BE49-F238E27FC236}">
                <a16:creationId xmlns:a16="http://schemas.microsoft.com/office/drawing/2014/main" id="{95E89617-7DDA-4865-B91E-250E86C4A557}"/>
              </a:ext>
            </a:extLst>
          </p:cNvPr>
          <p:cNvSpPr txBox="1"/>
          <p:nvPr/>
        </p:nvSpPr>
        <p:spPr>
          <a:xfrm>
            <a:off x="533400" y="2997200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给定投影方向</a:t>
            </a:r>
            <a:endParaRPr lang="zh-CN" altLang="en-US" sz="1700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AI_EQ_16_19">
                <a:extLst>
                  <a:ext uri="{FF2B5EF4-FFF2-40B4-BE49-F238E27FC236}">
                    <a16:creationId xmlns:a16="http://schemas.microsoft.com/office/drawing/2014/main" id="{439B287F-FB43-DB8F-C481-95C351D459A2}"/>
                  </a:ext>
                </a:extLst>
              </p:cNvPr>
              <p:cNvSpPr txBox="1"/>
              <p:nvPr/>
            </p:nvSpPr>
            <p:spPr>
              <a:xfrm>
                <a:off x="2196858" y="2918023"/>
                <a:ext cx="12450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rgbClr val="222222"/>
                  </a:solidFill>
                </a:endParaRPr>
              </a:p>
            </p:txBody>
          </p:sp>
        </mc:Choice>
        <mc:Fallback>
          <p:sp>
            <p:nvSpPr>
              <p:cNvPr id="13" name="AI_EQ_16_19">
                <a:extLst>
                  <a:ext uri="{FF2B5EF4-FFF2-40B4-BE49-F238E27FC236}">
                    <a16:creationId xmlns:a16="http://schemas.microsoft.com/office/drawing/2014/main" id="{439B287F-FB43-DB8F-C481-95C351D45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858" y="2918023"/>
                <a:ext cx="1245084" cy="307777"/>
              </a:xfrm>
              <a:prstGeom prst="rect">
                <a:avLst/>
              </a:prstGeom>
              <a:blipFill>
                <a:blip r:embed="rId4"/>
                <a:stretch>
                  <a:fillRect l="-1951" r="-488"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I_TEXT_16_14">
            <a:extLst>
              <a:ext uri="{FF2B5EF4-FFF2-40B4-BE49-F238E27FC236}">
                <a16:creationId xmlns:a16="http://schemas.microsoft.com/office/drawing/2014/main" id="{E81DCC2F-C3A3-76EB-AC77-6C53E6649A90}"/>
              </a:ext>
            </a:extLst>
          </p:cNvPr>
          <p:cNvSpPr txBox="1"/>
          <p:nvPr/>
        </p:nvSpPr>
        <p:spPr>
          <a:xfrm>
            <a:off x="533400" y="3657600"/>
            <a:ext cx="88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b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求：</a:t>
            </a:r>
            <a:endParaRPr lang="zh-CN" altLang="en-US" sz="1700" b="1" dirty="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AI_TEXT_16_15">
            <a:extLst>
              <a:ext uri="{FF2B5EF4-FFF2-40B4-BE49-F238E27FC236}">
                <a16:creationId xmlns:a16="http://schemas.microsoft.com/office/drawing/2014/main" id="{95649FCD-2830-54D9-8813-098618982995}"/>
              </a:ext>
            </a:extLst>
          </p:cNvPr>
          <p:cNvSpPr txBox="1"/>
          <p:nvPr/>
        </p:nvSpPr>
        <p:spPr>
          <a:xfrm>
            <a:off x="787400" y="4064000"/>
            <a:ext cx="5461000" cy="1333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）每类样本的投影值
（</a:t>
            </a:r>
            <a:r>
              <a:rPr lang="en-US" altLang="zh-CN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）投影后每类的均值
（</a:t>
            </a:r>
            <a:r>
              <a:rPr lang="en-US" altLang="zh-CN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700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）投影后每类的方差</a:t>
            </a:r>
            <a:endParaRPr lang="zh-CN" altLang="en-US" sz="1700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BE65CBC-3A9C-E55A-5201-0DF083CCB852}"/>
              </a:ext>
            </a:extLst>
          </p:cNvPr>
          <p:cNvCxnSpPr/>
          <p:nvPr/>
        </p:nvCxnSpPr>
        <p:spPr>
          <a:xfrm>
            <a:off x="7150100" y="1041400"/>
            <a:ext cx="0" cy="4673600"/>
          </a:xfrm>
          <a:prstGeom prst="line">
            <a:avLst/>
          </a:prstGeom>
          <a:ln w="19050">
            <a:solidFill>
              <a:srgbClr val="C3151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I_TEXT_16_17">
            <a:extLst>
              <a:ext uri="{FF2B5EF4-FFF2-40B4-BE49-F238E27FC236}">
                <a16:creationId xmlns:a16="http://schemas.microsoft.com/office/drawing/2014/main" id="{28E34CEB-AD3A-BE01-1DEC-B1C627D62B75}"/>
              </a:ext>
            </a:extLst>
          </p:cNvPr>
          <p:cNvSpPr txBox="1"/>
          <p:nvPr/>
        </p:nvSpPr>
        <p:spPr>
          <a:xfrm>
            <a:off x="7556500" y="10414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</a:t>
            </a:r>
            <a:r>
              <a:rPr lang="en-US" altLang="zh-CN" sz="1900" b="1">
                <a:solidFill>
                  <a:srgbClr val="003C6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CN" altLang="en-US" sz="1900" b="1" dirty="0">
              <a:solidFill>
                <a:srgbClr val="003C6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AI_TEXT_16_18">
            <a:extLst>
              <a:ext uri="{FF2B5EF4-FFF2-40B4-BE49-F238E27FC236}">
                <a16:creationId xmlns:a16="http://schemas.microsoft.com/office/drawing/2014/main" id="{17773667-D4A8-59D6-1091-B1B18000BEE3}"/>
              </a:ext>
            </a:extLst>
          </p:cNvPr>
          <p:cNvSpPr txBox="1"/>
          <p:nvPr/>
        </p:nvSpPr>
        <p:spPr>
          <a:xfrm>
            <a:off x="7556500" y="1651000"/>
            <a:ext cx="152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投影值</a:t>
            </a:r>
            <a:endParaRPr lang="zh-CN" altLang="en-US" sz="1600" b="1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AI_EQ_16_20">
                <a:extLst>
                  <a:ext uri="{FF2B5EF4-FFF2-40B4-BE49-F238E27FC236}">
                    <a16:creationId xmlns:a16="http://schemas.microsoft.com/office/drawing/2014/main" id="{B78CFBEB-7155-81D8-BF4C-C174F247D4FF}"/>
                  </a:ext>
                </a:extLst>
              </p:cNvPr>
              <p:cNvSpPr txBox="1"/>
              <p:nvPr/>
            </p:nvSpPr>
            <p:spPr>
              <a:xfrm>
                <a:off x="7493000" y="1981199"/>
                <a:ext cx="274389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l-PL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l-PL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altLang="zh-CN" sz="20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l-PL" altLang="zh-CN" sz="20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19" name="AI_EQ_16_20">
                <a:extLst>
                  <a:ext uri="{FF2B5EF4-FFF2-40B4-BE49-F238E27FC236}">
                    <a16:creationId xmlns:a16="http://schemas.microsoft.com/office/drawing/2014/main" id="{B78CFBEB-7155-81D8-BF4C-C174F247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1981199"/>
                <a:ext cx="2743892" cy="307777"/>
              </a:xfrm>
              <a:prstGeom prst="rect">
                <a:avLst/>
              </a:prstGeom>
              <a:blipFill>
                <a:blip r:embed="rId5"/>
                <a:stretch>
                  <a:fillRect l="-1778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I_TEXT_16_20">
            <a:extLst>
              <a:ext uri="{FF2B5EF4-FFF2-40B4-BE49-F238E27FC236}">
                <a16:creationId xmlns:a16="http://schemas.microsoft.com/office/drawing/2014/main" id="{E45D9EE9-35EA-8469-6B03-6D9339A3C7D3}"/>
              </a:ext>
            </a:extLst>
          </p:cNvPr>
          <p:cNvSpPr txBox="1"/>
          <p:nvPr/>
        </p:nvSpPr>
        <p:spPr>
          <a:xfrm>
            <a:off x="7556500" y="2908300"/>
            <a:ext cx="152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均值</a:t>
            </a:r>
            <a:endParaRPr lang="zh-CN" altLang="en-US" sz="1600" b="1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AI_EQ_16_21">
                <a:extLst>
                  <a:ext uri="{FF2B5EF4-FFF2-40B4-BE49-F238E27FC236}">
                    <a16:creationId xmlns:a16="http://schemas.microsoft.com/office/drawing/2014/main" id="{0DE9D161-2B14-4399-ABC0-6A5127E60EC8}"/>
                  </a:ext>
                </a:extLst>
              </p:cNvPr>
              <p:cNvSpPr txBox="1"/>
              <p:nvPr/>
            </p:nvSpPr>
            <p:spPr>
              <a:xfrm>
                <a:off x="7492999" y="3192133"/>
                <a:ext cx="1389035" cy="8822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altLang="zh-CN" sz="21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altLang="zh-CN" sz="21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altLang="zh-CN" sz="21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altLang="zh-CN" sz="21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pt-BR" altLang="zh-CN" sz="21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100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21" name="AI_EQ_16_21">
                <a:extLst>
                  <a:ext uri="{FF2B5EF4-FFF2-40B4-BE49-F238E27FC236}">
                    <a16:creationId xmlns:a16="http://schemas.microsoft.com/office/drawing/2014/main" id="{0DE9D161-2B14-4399-ABC0-6A5127E60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999" y="3192133"/>
                <a:ext cx="1389035" cy="8822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I_TEXT_16_22">
            <a:extLst>
              <a:ext uri="{FF2B5EF4-FFF2-40B4-BE49-F238E27FC236}">
                <a16:creationId xmlns:a16="http://schemas.microsoft.com/office/drawing/2014/main" id="{2756D66E-7A1D-30FE-2FE8-FA3DEF26257E}"/>
              </a:ext>
            </a:extLst>
          </p:cNvPr>
          <p:cNvSpPr txBox="1"/>
          <p:nvPr/>
        </p:nvSpPr>
        <p:spPr>
          <a:xfrm>
            <a:off x="7556500" y="4191000"/>
            <a:ext cx="152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600" b="1">
                <a:solidFill>
                  <a:srgbClr val="C315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方差</a:t>
            </a:r>
            <a:endParaRPr lang="zh-CN" altLang="en-US" sz="1600" b="1" dirty="0">
              <a:solidFill>
                <a:srgbClr val="C3151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AI_EQ_16_22">
                <a:extLst>
                  <a:ext uri="{FF2B5EF4-FFF2-40B4-BE49-F238E27FC236}">
                    <a16:creationId xmlns:a16="http://schemas.microsoft.com/office/drawing/2014/main" id="{E6D123CD-51EB-D7F5-8832-F35831EFD958}"/>
                  </a:ext>
                </a:extLst>
              </p:cNvPr>
              <p:cNvSpPr txBox="1"/>
              <p:nvPr/>
            </p:nvSpPr>
            <p:spPr>
              <a:xfrm>
                <a:off x="7493000" y="4487533"/>
                <a:ext cx="2312171" cy="8822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zh-CN" sz="210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zh-CN" sz="2100" i="1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pt-BR" altLang="zh-CN" sz="21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altLang="zh-CN" sz="21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altLang="zh-CN" sz="21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altLang="zh-CN" sz="21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pt-BR" altLang="zh-CN" sz="2100" i="1" smtClean="0">
                                          <a:solidFill>
                                            <a:srgbClr val="22222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altLang="zh-CN" sz="21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altLang="zh-CN" sz="2100" i="1" smtClean="0">
                                      <a:solidFill>
                                        <a:srgbClr val="222222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altLang="zh-CN" sz="2100" i="1" smtClean="0"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100" dirty="0">
                  <a:solidFill>
                    <a:srgbClr val="222222"/>
                  </a:solidFill>
                </a:endParaRPr>
              </a:p>
            </p:txBody>
          </p:sp>
        </mc:Choice>
        <mc:Fallback xmlns="">
          <p:sp>
            <p:nvSpPr>
              <p:cNvPr id="23" name="AI_EQ_16_22">
                <a:extLst>
                  <a:ext uri="{FF2B5EF4-FFF2-40B4-BE49-F238E27FC236}">
                    <a16:creationId xmlns:a16="http://schemas.microsoft.com/office/drawing/2014/main" id="{E6D123CD-51EB-D7F5-8832-F35831EF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4487533"/>
                <a:ext cx="2312171" cy="8822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802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示例：LDA 投影计算求解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900000"/>
            <a:ext cx="112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03366"/>
                </a:solidFill>
                <a:latin typeface="Microsoft YaHei"/>
              </a:rPr>
              <a:t>【求解过程】</a:t>
            </a:r>
          </a:p>
          <a:p>
            <a:endParaRPr sz="2000" b="1" i="0">
              <a:solidFill>
                <a:srgbClr val="003366"/>
              </a:solidFill>
              <a:latin typeface="Microsoft YaHei"/>
            </a:endParaRPr>
          </a:p>
          <a:p>
            <a:r>
              <a:rPr sz="1700" b="1" i="0">
                <a:solidFill>
                  <a:srgbClr val="006600"/>
                </a:solidFill>
                <a:latin typeface="Microsoft YaHei"/>
              </a:rPr>
              <a:t>Step 1: 计算投影值 z = wᵀx，其中 w = [1, 2]</a:t>
            </a:r>
          </a:p>
          <a:p>
            <a:r>
              <a:rPr sz="1600" b="0" i="0">
                <a:solidFill>
                  <a:srgbClr val="CC0000"/>
                </a:solidFill>
                <a:latin typeface="Microsoft YaHei"/>
              </a:rPr>
              <a:t>    正类: z₁ = 1×1+2×1 = 3,  z₂ = 1×2+2×2 = 6,  z₃ = 1×3+2×3 = 9</a:t>
            </a:r>
          </a:p>
          <a:p>
            <a:r>
              <a:rPr sz="1600" b="0" i="0">
                <a:solidFill>
                  <a:srgbClr val="0066CC"/>
                </a:solidFill>
                <a:latin typeface="Microsoft YaHei"/>
              </a:rPr>
              <a:t>    负类: z₁ = 1×2+2×4 = 10, z₂ = 1×3+2×5 = 13, z₃ = 1×4+2×6 = 16</a:t>
            </a:r>
          </a:p>
          <a:p>
            <a:endParaRPr sz="1600" b="0" i="0">
              <a:solidFill>
                <a:srgbClr val="0066CC"/>
              </a:solidFill>
              <a:latin typeface="Microsoft YaHei"/>
            </a:endParaRPr>
          </a:p>
          <a:p>
            <a:r>
              <a:rPr sz="1700" b="1" i="0">
                <a:solidFill>
                  <a:srgbClr val="006600"/>
                </a:solidFill>
                <a:latin typeface="Microsoft YaHei"/>
              </a:rPr>
              <a:t>Step 2: 计算投影后的均值</a:t>
            </a:r>
          </a:p>
          <a:p>
            <a:r>
              <a:rPr sz="1600" b="0" i="0">
                <a:solidFill>
                  <a:srgbClr val="CC0000"/>
                </a:solidFill>
                <a:latin typeface="Microsoft YaHei"/>
              </a:rPr>
              <a:t>    正类均值: μ(+1) = (3 + 6 + 9) / 3 = 18 / 3 = 6.0</a:t>
            </a:r>
          </a:p>
          <a:p>
            <a:r>
              <a:rPr sz="1600" b="0" i="0">
                <a:solidFill>
                  <a:srgbClr val="0066CC"/>
                </a:solidFill>
                <a:latin typeface="Microsoft YaHei"/>
              </a:rPr>
              <a:t>    负类均值: μ(-1) = (10 + 13 + 16) / 3 = 39 / 3 = 13.0</a:t>
            </a:r>
          </a:p>
          <a:p>
            <a:endParaRPr sz="1600" b="0" i="0">
              <a:solidFill>
                <a:srgbClr val="0066CC"/>
              </a:solidFill>
              <a:latin typeface="Microsoft YaHei"/>
            </a:endParaRPr>
          </a:p>
          <a:p>
            <a:r>
              <a:rPr sz="1700" b="1" i="0">
                <a:solidFill>
                  <a:srgbClr val="006600"/>
                </a:solidFill>
                <a:latin typeface="Microsoft YaHei"/>
              </a:rPr>
              <a:t>Step 3: 计算投影后的方差</a:t>
            </a:r>
          </a:p>
          <a:p>
            <a:r>
              <a:rPr sz="1600" b="0" i="0">
                <a:solidFill>
                  <a:srgbClr val="CC0000"/>
                </a:solidFill>
                <a:latin typeface="Microsoft YaHei"/>
              </a:rPr>
              <a:t>    正类方差: [(3-6)² + (6-6)² + (9-6)²] / 3 = (9+0+9) / 3 = 6.0</a:t>
            </a:r>
          </a:p>
          <a:p>
            <a:r>
              <a:rPr sz="1600" b="0" i="0">
                <a:solidFill>
                  <a:srgbClr val="0066CC"/>
                </a:solidFill>
                <a:latin typeface="Microsoft YaHei"/>
              </a:rPr>
              <a:t>    负类方差: [(10-13)² + (13-13)² + (16-13)²] / 3 = (9+0+9) / 3 = 6.0</a:t>
            </a:r>
          </a:p>
          <a:p>
            <a:endParaRPr sz="1600" b="0" i="0">
              <a:solidFill>
                <a:srgbClr val="0066CC"/>
              </a:solidFill>
              <a:latin typeface="Microsoft YaHei"/>
            </a:endParaRPr>
          </a:p>
          <a:p>
            <a:r>
              <a:rPr sz="1800" b="1" i="0">
                <a:solidFill>
                  <a:srgbClr val="003366"/>
                </a:solidFill>
                <a:latin typeface="Microsoft YaHei"/>
              </a:rPr>
              <a:t>【结论】</a:t>
            </a:r>
          </a:p>
          <a:p>
            <a:r>
              <a:rPr sz="1700" b="1" i="0">
                <a:solidFill>
                  <a:srgbClr val="006600"/>
                </a:solidFill>
                <a:latin typeface="Microsoft YaHei"/>
              </a:rPr>
              <a:t>    类间距离 = |6.0 - 13.0| = 7.0（越大越好）</a:t>
            </a:r>
          </a:p>
          <a:p>
            <a:r>
              <a:rPr sz="1700" b="1" i="0">
                <a:solidFill>
                  <a:srgbClr val="006600"/>
                </a:solidFill>
                <a:latin typeface="Microsoft YaHei"/>
              </a:rPr>
              <a:t>    类内方差 = 6.0（越小越好）</a:t>
            </a:r>
          </a:p>
          <a:p>
            <a:r>
              <a:rPr sz="1700" b="1" i="0">
                <a:solidFill>
                  <a:srgbClr val="660066"/>
                </a:solidFill>
                <a:latin typeface="Microsoft YaHei"/>
              </a:rPr>
              <a:t>    LDA 的目标：最大化类间距离 / 最小化类内方差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42" y="6318000"/>
            <a:ext cx="1362214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Microsoft YaHei"/>
              </a:rPr>
              <a:t>17/36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示例：LDA 投影可视化</a:t>
            </a:r>
          </a:p>
        </p:txBody>
      </p:sp>
      <p:pic>
        <p:nvPicPr>
          <p:cNvPr id="3" name="Picture 2" descr="lda_projection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1000000"/>
            <a:ext cx="10500000" cy="4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000" y="59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46464"/>
                </a:solidFill>
                <a:latin typeface="Microsoft YaHei"/>
              </a:rPr>
              <a:t>左图：二维空间中两类样本及投影方向 w=[1,2]，绿色菱形为投影点</a:t>
            </a:r>
          </a:p>
          <a:p>
            <a:pPr algn="ctr"/>
            <a:r>
              <a:rPr sz="1500" b="0" i="0">
                <a:solidFill>
                  <a:srgbClr val="646464"/>
                </a:solidFill>
                <a:latin typeface="Microsoft YaHei"/>
              </a:rPr>
              <a:t>右图：投影到一维后，两类样本分开聚集，均值间距为 7.0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242" y="6318000"/>
            <a:ext cx="1362214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Microsoft YaHei"/>
              </a:rPr>
              <a:t>18/36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0E6C-EDF9-650A-9851-9E9BFF68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多分类学习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6BD3A-5D50-54CD-B289-F018514F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19/36</a:t>
            </a:r>
            <a:endParaRPr lang="zh-CN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9317288-D96F-00E5-9845-541423DE2C15}"/>
              </a:ext>
            </a:extLst>
          </p:cNvPr>
          <p:cNvSpPr txBox="1"/>
          <p:nvPr/>
        </p:nvSpPr>
        <p:spPr>
          <a:xfrm>
            <a:off x="381242" y="1050462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如何利用已有的二分类算法进行多分类问题？</a:t>
            </a:r>
            <a:endParaRPr lang="en-CN" altLang="zh-CN" sz="2400" b="1" dirty="0">
              <a:solidFill>
                <a:schemeClr val="tx1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07568878-29B0-6A62-0FFC-D0F1A7F1B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09" y="2537308"/>
            <a:ext cx="5512794" cy="202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0DBCED-C50F-FAE5-873B-4EB5E7908358}"/>
                  </a:ext>
                </a:extLst>
              </p:cNvPr>
              <p:cNvSpPr txBox="1"/>
              <p:nvPr/>
            </p:nvSpPr>
            <p:spPr>
              <a:xfrm>
                <a:off x="983611" y="5075067"/>
                <a:ext cx="4308056" cy="865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OvO (One vs One)</a:t>
                </a:r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en-US" altLang="zh-CN" sz="1600" i="1" dirty="0">
                    <a:solidFill>
                      <a:schemeClr val="tx2"/>
                    </a:solidFill>
                  </a:rPr>
                  <a:t>N </a:t>
                </a:r>
                <a:r>
                  <a:rPr lang="zh-CN" altLang="en-US" sz="1600" dirty="0">
                    <a:solidFill>
                      <a:schemeClr val="tx2"/>
                    </a:solidFill>
                  </a:rPr>
                  <a:t>个类别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160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zh-CN" sz="1600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solidFill>
                      <a:schemeClr val="tx2"/>
                    </a:solidFill>
                  </a:rPr>
                  <a:t> 个二分类任务</a:t>
                </a:r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</a:rPr>
                  <a:t>更耗时，但更准确，没有混淆其它的类别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0DBCED-C50F-FAE5-873B-4EB5E790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11" y="5075067"/>
                <a:ext cx="4308056" cy="865237"/>
              </a:xfrm>
              <a:prstGeom prst="rect">
                <a:avLst/>
              </a:prstGeom>
              <a:blipFill>
                <a:blip r:embed="rId6"/>
                <a:stretch>
                  <a:fillRect t="-4965" b="-7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5FCB48-FF8C-B233-C576-5331750E82C4}"/>
                  </a:ext>
                </a:extLst>
              </p:cNvPr>
              <p:cNvSpPr txBox="1"/>
              <p:nvPr/>
            </p:nvSpPr>
            <p:spPr>
              <a:xfrm>
                <a:off x="7198145" y="5075067"/>
                <a:ext cx="4010244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OvR (One vs Rest)</a:t>
                </a:r>
                <a:endParaRPr lang="en-US" altLang="zh-CN" b="1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en-US" altLang="zh-CN" sz="1600" i="1" dirty="0">
                    <a:solidFill>
                      <a:schemeClr val="tx2"/>
                    </a:solidFill>
                  </a:rPr>
                  <a:t>N </a:t>
                </a:r>
                <a:r>
                  <a:rPr lang="zh-CN" altLang="en-US" sz="1600" dirty="0">
                    <a:solidFill>
                      <a:schemeClr val="tx2"/>
                    </a:solidFill>
                  </a:rPr>
                  <a:t>个类别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1600" dirty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1600" b="0" i="1" dirty="0">
                    <a:solidFill>
                      <a:schemeClr val="tx2"/>
                    </a:solidFill>
                    <a:latin typeface="+mj-lt"/>
                  </a:rPr>
                  <a:t>N </a:t>
                </a:r>
                <a:r>
                  <a:rPr lang="zh-CN" altLang="en-US" sz="1600" dirty="0">
                    <a:solidFill>
                      <a:schemeClr val="tx2"/>
                    </a:solidFill>
                  </a:rPr>
                  <a:t>个二分类任务</a:t>
                </a:r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pPr algn="ctr"/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</a:rPr>
                  <a:t>更常用，但容易存在类别不平衡的问题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5FCB48-FF8C-B233-C576-5331750E8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145" y="5075067"/>
                <a:ext cx="4010244" cy="861774"/>
              </a:xfrm>
              <a:prstGeom prst="rect">
                <a:avLst/>
              </a:prstGeom>
              <a:blipFill>
                <a:blip r:embed="rId7"/>
                <a:stretch>
                  <a:fillRect t="-4965" b="-7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302F62A-6755-32F8-6B34-96EE18157CED}"/>
              </a:ext>
            </a:extLst>
          </p:cNvPr>
          <p:cNvCxnSpPr/>
          <p:nvPr/>
        </p:nvCxnSpPr>
        <p:spPr>
          <a:xfrm>
            <a:off x="6096000" y="2370667"/>
            <a:ext cx="0" cy="245533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274F0B9-C327-8704-AA37-BC984592010D}"/>
              </a:ext>
            </a:extLst>
          </p:cNvPr>
          <p:cNvCxnSpPr/>
          <p:nvPr/>
        </p:nvCxnSpPr>
        <p:spPr>
          <a:xfrm flipH="1">
            <a:off x="1270000" y="2946400"/>
            <a:ext cx="1176867" cy="762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5873BED-603C-27D3-9127-2B9455F438ED}"/>
              </a:ext>
            </a:extLst>
          </p:cNvPr>
          <p:cNvCxnSpPr/>
          <p:nvPr/>
        </p:nvCxnSpPr>
        <p:spPr>
          <a:xfrm flipH="1">
            <a:off x="1574800" y="3225800"/>
            <a:ext cx="872067" cy="42333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CCAEA65-23AB-5F5E-FF2B-E24FE433A807}"/>
              </a:ext>
            </a:extLst>
          </p:cNvPr>
          <p:cNvCxnSpPr>
            <a:cxnSpLocks/>
          </p:cNvCxnSpPr>
          <p:nvPr/>
        </p:nvCxnSpPr>
        <p:spPr>
          <a:xfrm flipH="1">
            <a:off x="2446867" y="3318933"/>
            <a:ext cx="431800" cy="42333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7DEB02A-CA6D-FE01-ADE6-0A551F01C66B}"/>
              </a:ext>
            </a:extLst>
          </p:cNvPr>
          <p:cNvCxnSpPr>
            <a:cxnSpLocks/>
          </p:cNvCxnSpPr>
          <p:nvPr/>
        </p:nvCxnSpPr>
        <p:spPr>
          <a:xfrm>
            <a:off x="3149600" y="3318933"/>
            <a:ext cx="287867" cy="42333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D852481-2894-D183-B5A7-679B0D241653}"/>
              </a:ext>
            </a:extLst>
          </p:cNvPr>
          <p:cNvCxnSpPr>
            <a:cxnSpLocks/>
          </p:cNvCxnSpPr>
          <p:nvPr/>
        </p:nvCxnSpPr>
        <p:spPr>
          <a:xfrm>
            <a:off x="3640667" y="3166533"/>
            <a:ext cx="550333" cy="4826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463BFD6-3762-1830-602F-3EF90816626C}"/>
              </a:ext>
            </a:extLst>
          </p:cNvPr>
          <p:cNvCxnSpPr>
            <a:cxnSpLocks/>
          </p:cNvCxnSpPr>
          <p:nvPr/>
        </p:nvCxnSpPr>
        <p:spPr>
          <a:xfrm>
            <a:off x="3750733" y="2844800"/>
            <a:ext cx="829734" cy="1778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6CBCC49-3267-0757-B1BF-5CB63B5C45D7}"/>
              </a:ext>
            </a:extLst>
          </p:cNvPr>
          <p:cNvSpPr txBox="1"/>
          <p:nvPr/>
        </p:nvSpPr>
        <p:spPr>
          <a:xfrm>
            <a:off x="2344141" y="208181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四分类问题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E15850D-4252-BB6B-D0C8-398FB64492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952" y="2537308"/>
            <a:ext cx="5224725" cy="2158171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801372-E207-DBAC-7BA1-D684C2930D73}"/>
              </a:ext>
            </a:extLst>
          </p:cNvPr>
          <p:cNvCxnSpPr>
            <a:cxnSpLocks/>
          </p:cNvCxnSpPr>
          <p:nvPr/>
        </p:nvCxnSpPr>
        <p:spPr>
          <a:xfrm flipH="1">
            <a:off x="7323667" y="3128433"/>
            <a:ext cx="1089866" cy="4699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8337468-F726-8029-DBF7-90D30AB0964E}"/>
              </a:ext>
            </a:extLst>
          </p:cNvPr>
          <p:cNvCxnSpPr>
            <a:cxnSpLocks/>
          </p:cNvCxnSpPr>
          <p:nvPr/>
        </p:nvCxnSpPr>
        <p:spPr>
          <a:xfrm flipH="1">
            <a:off x="8483600" y="3363383"/>
            <a:ext cx="296333" cy="25301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C91773A-0E8D-CFA5-3478-E21EB3A1A473}"/>
              </a:ext>
            </a:extLst>
          </p:cNvPr>
          <p:cNvCxnSpPr>
            <a:cxnSpLocks/>
          </p:cNvCxnSpPr>
          <p:nvPr/>
        </p:nvCxnSpPr>
        <p:spPr>
          <a:xfrm>
            <a:off x="9330267" y="3363383"/>
            <a:ext cx="339804" cy="2349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F08E3D2-84FF-D934-605D-6F537D69BD8E}"/>
              </a:ext>
            </a:extLst>
          </p:cNvPr>
          <p:cNvCxnSpPr>
            <a:cxnSpLocks/>
          </p:cNvCxnSpPr>
          <p:nvPr/>
        </p:nvCxnSpPr>
        <p:spPr>
          <a:xfrm>
            <a:off x="9670071" y="3166533"/>
            <a:ext cx="1311196" cy="4826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50265A2-0676-0CFE-1A08-CD7CD82A4043}"/>
              </a:ext>
            </a:extLst>
          </p:cNvPr>
          <p:cNvSpPr txBox="1"/>
          <p:nvPr/>
        </p:nvSpPr>
        <p:spPr>
          <a:xfrm>
            <a:off x="8380791" y="208181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四分类问题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D70F5AB-2423-5E92-5A8B-5ADF14A62DAF}"/>
              </a:ext>
            </a:extLst>
          </p:cNvPr>
          <p:cNvSpPr txBox="1"/>
          <p:nvPr/>
        </p:nvSpPr>
        <p:spPr>
          <a:xfrm>
            <a:off x="6392576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是不是红色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B77B6D-EE09-3E75-FE8D-9DBB6825851C}"/>
              </a:ext>
            </a:extLst>
          </p:cNvPr>
          <p:cNvSpPr txBox="1"/>
          <p:nvPr/>
        </p:nvSpPr>
        <p:spPr>
          <a:xfrm>
            <a:off x="7777747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是不是蓝色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AB588B1-2568-F7A5-B30C-4ECBB5706652}"/>
              </a:ext>
            </a:extLst>
          </p:cNvPr>
          <p:cNvSpPr txBox="1"/>
          <p:nvPr/>
        </p:nvSpPr>
        <p:spPr>
          <a:xfrm>
            <a:off x="9162918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是不是紫色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73CFBCA-FDFB-4790-6E37-4D113B1020D6}"/>
              </a:ext>
            </a:extLst>
          </p:cNvPr>
          <p:cNvSpPr txBox="1"/>
          <p:nvPr/>
        </p:nvSpPr>
        <p:spPr>
          <a:xfrm>
            <a:off x="10548088" y="454671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是不是绿色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19E3924-EF73-3C03-13E5-225308A5B131}"/>
              </a:ext>
            </a:extLst>
          </p:cNvPr>
          <p:cNvSpPr txBox="1"/>
          <p:nvPr/>
        </p:nvSpPr>
        <p:spPr>
          <a:xfrm>
            <a:off x="344747" y="2480846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红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蓝？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266034-59C0-A1CE-639F-485200FD2FDB}"/>
              </a:ext>
            </a:extLst>
          </p:cNvPr>
          <p:cNvSpPr txBox="1"/>
          <p:nvPr/>
        </p:nvSpPr>
        <p:spPr>
          <a:xfrm>
            <a:off x="4924694" y="2555459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紫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绿？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F4D8777-65E9-900A-E03F-E6476B52BCD8}"/>
              </a:ext>
            </a:extLst>
          </p:cNvPr>
          <p:cNvSpPr txBox="1"/>
          <p:nvPr/>
        </p:nvSpPr>
        <p:spPr>
          <a:xfrm>
            <a:off x="4476882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蓝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紫？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008A50E-E4D7-F9FA-B4E6-A2CA829A5348}"/>
              </a:ext>
            </a:extLst>
          </p:cNvPr>
          <p:cNvSpPr txBox="1"/>
          <p:nvPr/>
        </p:nvSpPr>
        <p:spPr>
          <a:xfrm>
            <a:off x="3279644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蓝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绿？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EE92A9F-AD6B-955D-76E9-EBDFF731D982}"/>
              </a:ext>
            </a:extLst>
          </p:cNvPr>
          <p:cNvSpPr txBox="1"/>
          <p:nvPr/>
        </p:nvSpPr>
        <p:spPr>
          <a:xfrm>
            <a:off x="2082405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紫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红？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62002C1-E870-B48B-8C2A-D8337C33D3D5}"/>
              </a:ext>
            </a:extLst>
          </p:cNvPr>
          <p:cNvSpPr txBox="1"/>
          <p:nvPr/>
        </p:nvSpPr>
        <p:spPr>
          <a:xfrm>
            <a:off x="885166" y="45262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红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绿？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360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6" grpId="0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13E1-BF5A-E128-C303-155C0A786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3328CB-B9B0-B9E4-0878-68D880DE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F0EB75-C518-3F2C-2F1C-437005A4D4B9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一、绪论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485AF6-403C-4ECD-AF6C-A8868D7B9D6A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二、线性模型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AB92A9-C5E4-F39D-69CC-5C0938C12B29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三、</a:t>
            </a:r>
            <a:r>
              <a:rPr lang="zh-CN" altLang="en-CN"/>
              <a:t>决策树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E88BE3-C4B7-00CD-44DD-BEC4C9F35E6A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C5448A-DCBD-4B84-8C49-4CD051736635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Microsoft YaHei"/>
              </a:rPr>
              <a:t>20/36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3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710D-66C3-FFE3-B89D-2C81751B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决策树</a:t>
            </a:r>
            <a:r>
              <a:rPr lang="zh-CN" altLang="en-US" dirty="0"/>
              <a:t>的基本流程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36CEF-FC83-7882-189B-CFAECDCA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21/36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E2BE08C-37F7-2136-5081-F4C271D99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37" b="98682" l="1613" r="99707">
                        <a14:foregroundMark x1="28739" y1="17326" x2="28739" y2="17326"/>
                        <a14:foregroundMark x1="74373" y1="86707" x2="76545" y2="89326"/>
                        <a14:foregroundMark x1="26404" y1="28849" x2="72376" y2="84299"/>
                        <a14:foregroundMark x1="9824" y1="8851" x2="20954" y2="22276"/>
                        <a14:foregroundMark x1="76833" y1="14124" x2="1906" y2="90960"/>
                        <a14:foregroundMark x1="75660" y1="21092" x2="38710" y2="91149"/>
                        <a14:foregroundMark x1="89150" y1="35782" x2="82111" y2="27684"/>
                        <a14:foregroundMark x1="73900" y1="44256" x2="75637" y2="79203"/>
                        <a14:foregroundMark x1="87348" y1="84355" x2="87456" y2="86579"/>
                        <a14:foregroundMark x1="87197" y1="81232" x2="87233" y2="81976"/>
                        <a14:foregroundMark x1="86769" y1="72384" x2="86848" y2="74019"/>
                        <a14:foregroundMark x1="83724" y1="9416" x2="85665" y2="49551"/>
                        <a14:foregroundMark x1="22018" y1="20589" x2="19941" y2="22222"/>
                        <a14:foregroundMark x1="36950" y1="8851" x2="25657" y2="17728"/>
                        <a14:foregroundMark x1="19941" y1="22222" x2="17279" y2="28105"/>
                        <a14:foregroundMark x1="9139" y1="56232" x2="18035" y2="86441"/>
                        <a14:foregroundMark x1="18035" y1="86441" x2="46774" y2="91525"/>
                        <a14:foregroundMark x1="46774" y1="91525" x2="82845" y2="63653"/>
                        <a14:foregroundMark x1="82845" y1="63653" x2="69501" y2="10546"/>
                        <a14:foregroundMark x1="69501" y1="10546" x2="28316" y2="20054"/>
                        <a14:foregroundMark x1="27819" y1="26604" x2="53372" y2="72316"/>
                        <a14:foregroundMark x1="53372" y1="72316" x2="73167" y2="20151"/>
                        <a14:foregroundMark x1="73167" y1="20151" x2="51613" y2="64783"/>
                        <a14:foregroundMark x1="51613" y1="64783" x2="44135" y2="38983"/>
                        <a14:foregroundMark x1="44135" y1="38983" x2="55718" y2="36347"/>
                        <a14:foregroundMark x1="55718" y1="36347" x2="27566" y2="82298"/>
                        <a14:foregroundMark x1="27566" y1="82298" x2="7038" y2="84934"/>
                        <a14:foregroundMark x1="7038" y1="84934" x2="14223" y2="65537"/>
                        <a14:foregroundMark x1="96921" y1="46328" x2="93255" y2="73823"/>
                        <a14:foregroundMark x1="54692" y1="6026" x2="79326" y2="7345"/>
                        <a14:foregroundMark x1="16569" y1="6591" x2="4545" y2="47458"/>
                        <a14:foregroundMark x1="13636" y1="9416" x2="41202" y2="8851"/>
                        <a14:foregroundMark x1="92815" y1="10923" x2="99853" y2="41431"/>
                        <a14:foregroundMark x1="89150" y1="5650" x2="8651" y2="5273"/>
                        <a14:foregroundMark x1="7625" y1="8851" x2="3519" y2="35782"/>
                        <a14:foregroundMark x1="3959" y1="8851" x2="3959" y2="8851"/>
                        <a14:foregroundMark x1="2933" y1="3578" x2="22727" y2="3766"/>
                        <a14:foregroundMark x1="22727" y1="3766" x2="74194" y2="1883"/>
                        <a14:foregroundMark x1="74194" y1="1883" x2="96481" y2="2637"/>
                        <a14:foregroundMark x1="96481" y1="2637" x2="94428" y2="8663"/>
                        <a14:foregroundMark x1="80938" y1="27872" x2="47947" y2="96234"/>
                        <a14:foregroundMark x1="47947" y1="96234" x2="13050" y2="93597"/>
                        <a14:foregroundMark x1="13050" y1="93597" x2="16569" y2="92467"/>
                        <a14:foregroundMark x1="15689" y1="30508" x2="15689" y2="30508"/>
                        <a14:foregroundMark x1="30645" y1="26742" x2="14809" y2="44821"/>
                        <a14:foregroundMark x1="28152" y1="14689" x2="1613" y2="55179"/>
                        <a14:foregroundMark x1="1613" y1="55179" x2="1613" y2="55179"/>
                        <a14:backgroundMark x1="74340" y1="99623" x2="73167" y2="83804"/>
                        <a14:backgroundMark x1="73167" y1="83804" x2="87830" y2="77024"/>
                        <a14:backgroundMark x1="87830" y1="77024" x2="92082" y2="77778"/>
                        <a14:backgroundMark x1="74340" y1="93597" x2="96774" y2="87947"/>
                        <a14:backgroundMark x1="90176" y1="92090" x2="78006" y2="95480"/>
                        <a14:backgroundMark x1="78006" y1="96422" x2="90176" y2="96422"/>
                        <a14:backgroundMark x1="90176" y1="96422" x2="86657" y2="79849"/>
                        <a14:backgroundMark x1="90323" y1="36535" x2="87830" y2="725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810" y="2006916"/>
            <a:ext cx="4330923" cy="33720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C69C49-914A-D09B-E618-453447162C18}"/>
              </a:ext>
            </a:extLst>
          </p:cNvPr>
          <p:cNvSpPr txBox="1"/>
          <p:nvPr/>
        </p:nvSpPr>
        <p:spPr>
          <a:xfrm>
            <a:off x="3597677" y="5438206"/>
            <a:ext cx="4308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出门问题的一棵决策树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328AB03-4C95-4A5E-0A43-CB7257A4A35B}"/>
              </a:ext>
            </a:extLst>
          </p:cNvPr>
          <p:cNvSpPr txBox="1"/>
          <p:nvPr/>
        </p:nvSpPr>
        <p:spPr>
          <a:xfrm>
            <a:off x="381241" y="1050462"/>
            <a:ext cx="11010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一种树状结构，其中每个内部节点表示一个判断，每个分支代表一个判断结果，最后每个叶节点代表一种分类结果。</a:t>
            </a:r>
            <a:endParaRPr lang="en-CN" altLang="zh-CN" sz="2400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4904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3AFC-A10F-6CC1-827D-6CE4830A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C4E3-DC35-CC59-22E8-4C207B43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决策树</a:t>
            </a:r>
            <a:r>
              <a:rPr lang="zh-CN" altLang="en-US" dirty="0"/>
              <a:t>的基本流程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663AF-ACCC-2D41-6277-A158BEF5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22/36</a:t>
            </a:r>
            <a:endParaRPr lang="zh-CN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FBEF631-2766-15A2-8B87-D17E72947F14}"/>
              </a:ext>
            </a:extLst>
          </p:cNvPr>
          <p:cNvSpPr txBox="1"/>
          <p:nvPr/>
        </p:nvSpPr>
        <p:spPr>
          <a:xfrm>
            <a:off x="381240" y="1050462"/>
            <a:ext cx="11556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决策树的生成是一个递归过程：对整体集合进行第一次划分，然后对每个部分都生成一个决策子树。</a:t>
            </a:r>
            <a:endParaRPr lang="en-CN" altLang="zh-CN" sz="2000" b="1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CE928B-1332-5835-43DC-7DBD83D77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8" y="2974962"/>
            <a:ext cx="3891624" cy="23844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E60853-1031-37BD-489F-62B5ADBCB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08" y="2974962"/>
            <a:ext cx="3891624" cy="23844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784C2D6-2EAE-366A-7362-465AA674F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949" y="2974962"/>
            <a:ext cx="3891624" cy="2384437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C90FA77E-37A5-6A81-2347-332C3C34B794}"/>
              </a:ext>
            </a:extLst>
          </p:cNvPr>
          <p:cNvSpPr/>
          <p:nvPr/>
        </p:nvSpPr>
        <p:spPr>
          <a:xfrm>
            <a:off x="84668" y="3522133"/>
            <a:ext cx="4039640" cy="18372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1189FC-AFD4-F081-C7BF-67854D1D837A}"/>
              </a:ext>
            </a:extLst>
          </p:cNvPr>
          <p:cNvSpPr txBox="1"/>
          <p:nvPr/>
        </p:nvSpPr>
        <p:spPr>
          <a:xfrm>
            <a:off x="884484" y="2101396"/>
            <a:ext cx="309180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首次划分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根据纹理制定三种标准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444D9F6-58E4-76BC-A6AE-05AF7E76FC6D}"/>
              </a:ext>
            </a:extLst>
          </p:cNvPr>
          <p:cNvSpPr/>
          <p:nvPr/>
        </p:nvSpPr>
        <p:spPr>
          <a:xfrm>
            <a:off x="6193228" y="3522133"/>
            <a:ext cx="1822704" cy="81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B04CFA-9103-A8BC-F6D6-E3D39834292C}"/>
              </a:ext>
            </a:extLst>
          </p:cNvPr>
          <p:cNvSpPr txBox="1"/>
          <p:nvPr/>
        </p:nvSpPr>
        <p:spPr>
          <a:xfrm>
            <a:off x="5054600" y="2085823"/>
            <a:ext cx="208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不断划分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对于纹理清晰的瓜按根蒂继续划分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7EA321-BACA-0F62-2C4E-F4441B31F5B1}"/>
              </a:ext>
            </a:extLst>
          </p:cNvPr>
          <p:cNvSpPr txBox="1"/>
          <p:nvPr/>
        </p:nvSpPr>
        <p:spPr>
          <a:xfrm>
            <a:off x="9060455" y="2113188"/>
            <a:ext cx="20986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递归生成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对每个部分不断划分直至分类结束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75B98B1-EEF4-5C4B-2681-655DB88ED3A2}"/>
              </a:ext>
            </a:extLst>
          </p:cNvPr>
          <p:cNvSpPr/>
          <p:nvPr/>
        </p:nvSpPr>
        <p:spPr>
          <a:xfrm>
            <a:off x="4082466" y="4059546"/>
            <a:ext cx="3891625" cy="132721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9EE25A6-1F2D-C6AA-1736-948C7E390CC3}"/>
              </a:ext>
            </a:extLst>
          </p:cNvPr>
          <p:cNvSpPr txBox="1"/>
          <p:nvPr/>
        </p:nvSpPr>
        <p:spPr>
          <a:xfrm>
            <a:off x="3048000" y="58075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划分标准？何时停止？泛化能力？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636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1" grpId="0"/>
      <p:bldP spid="14" grpId="0"/>
      <p:bldP spid="16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AD1A-1E98-CE2A-2796-B9B8C0AD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剪枝处理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282ED-54FA-8193-D5D4-38B605D3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23/36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00A4E-485F-8910-FE9B-16744EB56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168"/>
          <a:stretch/>
        </p:blipFill>
        <p:spPr>
          <a:xfrm>
            <a:off x="381242" y="2322087"/>
            <a:ext cx="5918938" cy="3760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E8272-09FF-E127-A710-5F918581A1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832"/>
          <a:stretch/>
        </p:blipFill>
        <p:spPr>
          <a:xfrm>
            <a:off x="6096000" y="2984819"/>
            <a:ext cx="5918938" cy="3097634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1C2BAE74-EE64-243D-67B8-961343F640B3}"/>
              </a:ext>
            </a:extLst>
          </p:cNvPr>
          <p:cNvSpPr txBox="1"/>
          <p:nvPr/>
        </p:nvSpPr>
        <p:spPr>
          <a:xfrm>
            <a:off x="381242" y="1157144"/>
            <a:ext cx="8185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过大过密的决策树容易导致“过拟合”，因此需要及时进行“剪枝”</a:t>
            </a:r>
            <a:endParaRPr lang="en-CN" sz="2000" b="1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59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93513-48C0-F6B8-69E4-451F2CD0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多变量决策树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238B-BF64-95E5-306E-D1DE4E31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24/36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F8DDF0-39CD-6167-0EB9-481024D7F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40" y="1958705"/>
            <a:ext cx="2480246" cy="25352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96628A-441D-4A17-B12A-283F4FAFB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589" y="2183348"/>
            <a:ext cx="2438987" cy="23106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38D345-6B55-0029-888C-AC583D5E0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92234"/>
            <a:ext cx="3204609" cy="18017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D351E7-541F-F5AC-7B9C-4FDEBAD48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712" y="2279624"/>
            <a:ext cx="2659045" cy="2214342"/>
          </a:xfrm>
          <a:prstGeom prst="rect">
            <a:avLst/>
          </a:prstGeo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8C298A55-0E84-08CF-91A8-59D335195B4A}"/>
              </a:ext>
            </a:extLst>
          </p:cNvPr>
          <p:cNvSpPr txBox="1"/>
          <p:nvPr/>
        </p:nvSpPr>
        <p:spPr>
          <a:xfrm>
            <a:off x="381240" y="1050462"/>
            <a:ext cx="11556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内部叶子节点未必一定得是单变量判断条件，有时候使用多变量条件会得到更好的决策树。</a:t>
            </a:r>
            <a:endParaRPr lang="en-CN" altLang="zh-CN" sz="2000" b="1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F8F152-CD4F-A18F-C094-8705407571A7}"/>
              </a:ext>
            </a:extLst>
          </p:cNvPr>
          <p:cNvSpPr txBox="1"/>
          <p:nvPr/>
        </p:nvSpPr>
        <p:spPr>
          <a:xfrm>
            <a:off x="238200" y="4694322"/>
            <a:ext cx="51463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单变量决策树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划分边界必定垂直坐标轴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如果真实边界比较复杂时需要大量分段近似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D33EBF-77BC-152E-1378-4E8F157EE098}"/>
              </a:ext>
            </a:extLst>
          </p:cNvPr>
          <p:cNvSpPr txBox="1"/>
          <p:nvPr/>
        </p:nvSpPr>
        <p:spPr>
          <a:xfrm>
            <a:off x="6468485" y="4694322"/>
            <a:ext cx="56642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多变量决策树</a:t>
            </a:r>
            <a:endParaRPr lang="en-US" altLang="zh-CN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划分边界未必垂直坐标轴（甚至未必是直线段）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拟合真实边界的能力更强，但自由度太高也会使得学习困难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1B62398E-6DFE-6743-E7C4-94111D1EBCA6}"/>
              </a:ext>
            </a:extLst>
          </p:cNvPr>
          <p:cNvSpPr txBox="1"/>
          <p:nvPr/>
        </p:nvSpPr>
        <p:spPr>
          <a:xfrm>
            <a:off x="269188" y="5807538"/>
            <a:ext cx="9076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讨论：如果在叶子节点使用线性模型，或者继续嵌套决策树，或者甚至使用神经网络，会怎么样？</a:t>
            </a:r>
            <a:endParaRPr lang="en-CN" sz="1600" b="1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98AD23-433D-4D2D-B417-C4B19C23FA51}"/>
              </a:ext>
            </a:extLst>
          </p:cNvPr>
          <p:cNvSpPr txBox="1"/>
          <p:nvPr/>
        </p:nvSpPr>
        <p:spPr>
          <a:xfrm>
            <a:off x="5016501" y="1459322"/>
            <a:ext cx="6155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（例如变量之间可能有相关性，只用单变量条件不容易刻画）</a:t>
            </a:r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000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B947-C54E-79A7-510F-86055AF3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F31D7-268B-1425-14E2-A984AF076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C9215A-9BD0-C99B-2C22-D94A8BF491D8}"/>
              </a:ext>
            </a:extLst>
          </p:cNvPr>
          <p:cNvSpPr txBox="1"/>
          <p:nvPr/>
        </p:nvSpPr>
        <p:spPr>
          <a:xfrm>
            <a:off x="3855154" y="13999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一、绪论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197E95-E6E0-BCEA-8937-C17693C6A96C}"/>
              </a:ext>
            </a:extLst>
          </p:cNvPr>
          <p:cNvSpPr txBox="1"/>
          <p:nvPr/>
        </p:nvSpPr>
        <p:spPr>
          <a:xfrm>
            <a:off x="3855154" y="2362073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二、线性分类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032673-0E2F-D87D-CB73-0FBA73DB8F0D}"/>
              </a:ext>
            </a:extLst>
          </p:cNvPr>
          <p:cNvSpPr txBox="1"/>
          <p:nvPr/>
        </p:nvSpPr>
        <p:spPr>
          <a:xfrm>
            <a:off x="3855154" y="332417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三、决策树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4BACB1-892A-BB5D-B91E-DC3EEE4FD887}"/>
              </a:ext>
            </a:extLst>
          </p:cNvPr>
          <p:cNvSpPr txBox="1"/>
          <p:nvPr/>
        </p:nvSpPr>
        <p:spPr>
          <a:xfrm>
            <a:off x="3855153" y="428628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四、支持向量机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5AFF99-F04E-424D-B5F3-A9277D5D0A79}"/>
              </a:ext>
            </a:extLst>
          </p:cNvPr>
          <p:cNvSpPr txBox="1">
            <a:spLocks/>
          </p:cNvSpPr>
          <p:nvPr/>
        </p:nvSpPr>
        <p:spPr>
          <a:xfrm>
            <a:off x="381242" y="6318000"/>
            <a:ext cx="1362214" cy="540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Microsoft YaHei"/>
              </a:rPr>
              <a:t>25/36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39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9498-BACC-AB13-D79B-BD0DCDDD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3B86DCB0-011F-2B52-9CAF-8A0C8E1A9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分类问题</a:t>
            </a:r>
            <a:r>
              <a:rPr lang="zh-CN" altLang="en-US" dirty="0"/>
              <a:t>：二分类问题</a:t>
            </a:r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8F6AB-8418-A7ED-4310-38F9C31FD9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26/36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EB073D25-8CB8-8B11-335D-F7124C449D1A}"/>
                  </a:ext>
                </a:extLst>
              </p:cNvPr>
              <p:cNvSpPr txBox="1"/>
              <p:nvPr/>
            </p:nvSpPr>
            <p:spPr>
              <a:xfrm>
                <a:off x="381242" y="1050462"/>
                <a:ext cx="10586809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1"/>
                    </a:solidFill>
                  </a:rPr>
                  <a:t>目标：在样本空间中找到一个超平面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，将不同类别的样本分开。</a:t>
                </a:r>
                <a:endParaRPr lang="en-CN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EB073D25-8CB8-8B11-335D-F7124C449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050462"/>
                <a:ext cx="10586809" cy="468205"/>
              </a:xfrm>
              <a:prstGeom prst="rect">
                <a:avLst/>
              </a:prstGeom>
              <a:blipFill>
                <a:blip r:embed="rId6"/>
                <a:stretch>
                  <a:fillRect l="-922" t="-15584" b="-22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DE4B7ECE-5AF7-4298-124F-BFAAD73E275B}"/>
              </a:ext>
            </a:extLst>
          </p:cNvPr>
          <p:cNvGrpSpPr/>
          <p:nvPr/>
        </p:nvGrpSpPr>
        <p:grpSpPr>
          <a:xfrm>
            <a:off x="693738" y="1972734"/>
            <a:ext cx="4081463" cy="3124200"/>
            <a:chOff x="474134" y="2370666"/>
            <a:chExt cx="4081463" cy="3124200"/>
          </a:xfrm>
        </p:grpSpPr>
        <p:sp>
          <p:nvSpPr>
            <p:cNvPr id="9" name="Line 4"/>
            <p:cNvSpPr>
              <a:spLocks noChangeShapeType="1"/>
            </p:cNvSpPr>
            <p:nvPr/>
          </p:nvSpPr>
          <p:spPr bwMode="auto">
            <a:xfrm flipV="1">
              <a:off x="609071" y="2453216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V="1">
              <a:off x="474134" y="5378979"/>
              <a:ext cx="4081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1648883" y="3208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1074208" y="35660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1226608" y="41121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8456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1379008" y="29691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845608" y="38835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>
              <a:off x="998008" y="4035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13"/>
            <p:cNvSpPr>
              <a:spLocks noChangeArrowheads="1"/>
            </p:cNvSpPr>
            <p:nvPr/>
          </p:nvSpPr>
          <p:spPr bwMode="auto">
            <a:xfrm>
              <a:off x="1760008" y="3654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utoShape 14"/>
            <p:cNvSpPr>
              <a:spLocks noChangeArrowheads="1"/>
            </p:cNvSpPr>
            <p:nvPr/>
          </p:nvSpPr>
          <p:spPr bwMode="auto">
            <a:xfrm>
              <a:off x="2661708" y="36422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22934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AutoShape 16"/>
            <p:cNvSpPr>
              <a:spLocks noChangeArrowheads="1"/>
            </p:cNvSpPr>
            <p:nvPr/>
          </p:nvSpPr>
          <p:spPr bwMode="auto">
            <a:xfrm>
              <a:off x="3284008" y="45693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1975908" y="50900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2598208" y="39597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19"/>
            <p:cNvSpPr>
              <a:spLocks noChangeArrowheads="1"/>
            </p:cNvSpPr>
            <p:nvPr/>
          </p:nvSpPr>
          <p:spPr bwMode="auto">
            <a:xfrm>
              <a:off x="1975908" y="44042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AutoShape 20"/>
            <p:cNvSpPr>
              <a:spLocks noChangeArrowheads="1"/>
            </p:cNvSpPr>
            <p:nvPr/>
          </p:nvSpPr>
          <p:spPr bwMode="auto">
            <a:xfrm>
              <a:off x="2674408" y="47979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21"/>
            <p:cNvSpPr>
              <a:spLocks noChangeArrowheads="1"/>
            </p:cNvSpPr>
            <p:nvPr/>
          </p:nvSpPr>
          <p:spPr bwMode="auto">
            <a:xfrm>
              <a:off x="3360208" y="3883554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921808" y="2435754"/>
              <a:ext cx="2438400" cy="2667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utoShape 23"/>
            <p:cNvSpPr>
              <a:spLocks noChangeArrowheads="1"/>
            </p:cNvSpPr>
            <p:nvPr/>
          </p:nvSpPr>
          <p:spPr bwMode="auto">
            <a:xfrm>
              <a:off x="1845733" y="23706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24"/>
            <p:cNvSpPr>
              <a:spLocks noChangeArrowheads="1"/>
            </p:cNvSpPr>
            <p:nvPr/>
          </p:nvSpPr>
          <p:spPr bwMode="auto">
            <a:xfrm>
              <a:off x="2455333" y="2446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AutoShape 25"/>
            <p:cNvSpPr>
              <a:spLocks noChangeArrowheads="1"/>
            </p:cNvSpPr>
            <p:nvPr/>
          </p:nvSpPr>
          <p:spPr bwMode="auto">
            <a:xfrm>
              <a:off x="3522133" y="3208866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770ADC2-B29F-6FC7-CE27-31C53C14AA27}"/>
              </a:ext>
            </a:extLst>
          </p:cNvPr>
          <p:cNvGrpSpPr/>
          <p:nvPr/>
        </p:nvGrpSpPr>
        <p:grpSpPr>
          <a:xfrm>
            <a:off x="6886589" y="1967972"/>
            <a:ext cx="4081462" cy="3124200"/>
            <a:chOff x="3995738" y="2743200"/>
            <a:chExt cx="4081462" cy="3124200"/>
          </a:xfrm>
        </p:grpSpPr>
        <p:sp>
          <p:nvSpPr>
            <p:cNvPr id="33" name="Line 4">
              <a:extLst>
                <a:ext uri="{FF2B5EF4-FFF2-40B4-BE49-F238E27FC236}">
                  <a16:creationId xmlns:a16="http://schemas.microsoft.com/office/drawing/2014/main" id="{6C681059-05A5-AFE9-E737-822FB6629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0675" y="282575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5">
              <a:extLst>
                <a:ext uri="{FF2B5EF4-FFF2-40B4-BE49-F238E27FC236}">
                  <a16:creationId xmlns:a16="http://schemas.microsoft.com/office/drawing/2014/main" id="{E6A011B5-D81D-37B2-D53E-4E86984F01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5738" y="575151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utoShape 6">
              <a:extLst>
                <a:ext uri="{FF2B5EF4-FFF2-40B4-BE49-F238E27FC236}">
                  <a16:creationId xmlns:a16="http://schemas.microsoft.com/office/drawing/2014/main" id="{5CCEAC12-7E76-A457-F1EA-C357FC689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488" y="3581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AutoShape 7">
              <a:extLst>
                <a:ext uri="{FF2B5EF4-FFF2-40B4-BE49-F238E27FC236}">
                  <a16:creationId xmlns:a16="http://schemas.microsoft.com/office/drawing/2014/main" id="{E499E1DA-F8B7-BFAB-3914-C71DF2644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3938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AutoShape 8">
              <a:extLst>
                <a:ext uri="{FF2B5EF4-FFF2-40B4-BE49-F238E27FC236}">
                  <a16:creationId xmlns:a16="http://schemas.microsoft.com/office/drawing/2014/main" id="{3BD03CA7-EABA-6773-5513-34A8E1640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8213" y="4484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AutoShape 9">
              <a:extLst>
                <a:ext uri="{FF2B5EF4-FFF2-40B4-BE49-F238E27FC236}">
                  <a16:creationId xmlns:a16="http://schemas.microsoft.com/office/drawing/2014/main" id="{3E590143-87B5-F434-D90A-7BF22451D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AutoShape 10">
              <a:extLst>
                <a:ext uri="{FF2B5EF4-FFF2-40B4-BE49-F238E27FC236}">
                  <a16:creationId xmlns:a16="http://schemas.microsoft.com/office/drawing/2014/main" id="{F8DFD9D9-03C3-FAC0-007D-C5775F67C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0613" y="3341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utoShape 11">
              <a:extLst>
                <a:ext uri="{FF2B5EF4-FFF2-40B4-BE49-F238E27FC236}">
                  <a16:creationId xmlns:a16="http://schemas.microsoft.com/office/drawing/2014/main" id="{FE0AC748-5F90-4464-8B41-9BE30C40D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7213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AutoShape 12">
              <a:extLst>
                <a:ext uri="{FF2B5EF4-FFF2-40B4-BE49-F238E27FC236}">
                  <a16:creationId xmlns:a16="http://schemas.microsoft.com/office/drawing/2014/main" id="{FD0D623B-E914-AF50-EC4B-EAF100B0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613" y="4408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AutoShape 13">
              <a:extLst>
                <a:ext uri="{FF2B5EF4-FFF2-40B4-BE49-F238E27FC236}">
                  <a16:creationId xmlns:a16="http://schemas.microsoft.com/office/drawing/2014/main" id="{3A9E6ED3-0BCC-CFB4-BF8C-E6EAF9E64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13" y="4027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AutoShape 14">
              <a:extLst>
                <a:ext uri="{FF2B5EF4-FFF2-40B4-BE49-F238E27FC236}">
                  <a16:creationId xmlns:a16="http://schemas.microsoft.com/office/drawing/2014/main" id="{5260EEE1-0BC7-3B14-6CFC-AEA377A73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3313" y="4014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AutoShape 15">
              <a:extLst>
                <a:ext uri="{FF2B5EF4-FFF2-40B4-BE49-F238E27FC236}">
                  <a16:creationId xmlns:a16="http://schemas.microsoft.com/office/drawing/2014/main" id="{FDCE73BA-9A27-0CC1-DCFB-D1616E32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AutoShape 16">
              <a:extLst>
                <a:ext uri="{FF2B5EF4-FFF2-40B4-BE49-F238E27FC236}">
                  <a16:creationId xmlns:a16="http://schemas.microsoft.com/office/drawing/2014/main" id="{61A4B3A0-4FD6-F3DD-9662-6B2097E57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5613" y="49418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AutoShape 17">
              <a:extLst>
                <a:ext uri="{FF2B5EF4-FFF2-40B4-BE49-F238E27FC236}">
                  <a16:creationId xmlns:a16="http://schemas.microsoft.com/office/drawing/2014/main" id="{428B4314-2968-AFE7-5E39-63813698F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5462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AutoShape 18">
              <a:extLst>
                <a:ext uri="{FF2B5EF4-FFF2-40B4-BE49-F238E27FC236}">
                  <a16:creationId xmlns:a16="http://schemas.microsoft.com/office/drawing/2014/main" id="{99F6D2BD-883F-35B7-A74D-6197B0470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813" y="43322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AutoShape 19">
              <a:extLst>
                <a:ext uri="{FF2B5EF4-FFF2-40B4-BE49-F238E27FC236}">
                  <a16:creationId xmlns:a16="http://schemas.microsoft.com/office/drawing/2014/main" id="{13784BD9-3B96-F438-0FFA-2E447930F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4776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AutoShape 20">
              <a:extLst>
                <a:ext uri="{FF2B5EF4-FFF2-40B4-BE49-F238E27FC236}">
                  <a16:creationId xmlns:a16="http://schemas.microsoft.com/office/drawing/2014/main" id="{B86D6560-850F-8581-CF7F-B6905E832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6013" y="517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AutoShape 21">
              <a:extLst>
                <a:ext uri="{FF2B5EF4-FFF2-40B4-BE49-F238E27FC236}">
                  <a16:creationId xmlns:a16="http://schemas.microsoft.com/office/drawing/2014/main" id="{078FF566-E34A-E103-2FAA-825F283B1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1813" y="42560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22">
              <a:extLst>
                <a:ext uri="{FF2B5EF4-FFF2-40B4-BE49-F238E27FC236}">
                  <a16:creationId xmlns:a16="http://schemas.microsoft.com/office/drawing/2014/main" id="{0E314DF1-9128-DB9F-ED23-19EC15DA11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3414" y="3048000"/>
              <a:ext cx="2676525" cy="2427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utoShape 23">
              <a:extLst>
                <a:ext uri="{FF2B5EF4-FFF2-40B4-BE49-F238E27FC236}">
                  <a16:creationId xmlns:a16="http://schemas.microsoft.com/office/drawing/2014/main" id="{706011A2-313B-F8A9-DA9B-DBAD65BC3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338" y="27432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AutoShape 24">
              <a:extLst>
                <a:ext uri="{FF2B5EF4-FFF2-40B4-BE49-F238E27FC236}">
                  <a16:creationId xmlns:a16="http://schemas.microsoft.com/office/drawing/2014/main" id="{C60F1725-A9BC-F1DE-E7D0-2E15A100F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6938" y="2819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AutoShape 25">
              <a:extLst>
                <a:ext uri="{FF2B5EF4-FFF2-40B4-BE49-F238E27FC236}">
                  <a16:creationId xmlns:a16="http://schemas.microsoft.com/office/drawing/2014/main" id="{36C1190E-1442-B6A3-EF02-4CE00B32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3738" y="35814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33E6215F-3965-F5D2-58E5-73AE86266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5814" y="274320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617DA491-77BE-40A8-1F42-D3E8076FE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338" y="3048000"/>
              <a:ext cx="2971800" cy="22860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9">
              <a:extLst>
                <a:ext uri="{FF2B5EF4-FFF2-40B4-BE49-F238E27FC236}">
                  <a16:creationId xmlns:a16="http://schemas.microsoft.com/office/drawing/2014/main" id="{AC4C25AC-C063-0B04-2A44-B2C03CE50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7738" y="2819400"/>
              <a:ext cx="1828800" cy="2895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30">
              <a:extLst>
                <a:ext uri="{FF2B5EF4-FFF2-40B4-BE49-F238E27FC236}">
                  <a16:creationId xmlns:a16="http://schemas.microsoft.com/office/drawing/2014/main" id="{1A6EAEA1-91D9-C58E-ADBF-5967830DEE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9138" y="2743200"/>
              <a:ext cx="1828800" cy="28956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31">
              <a:extLst>
                <a:ext uri="{FF2B5EF4-FFF2-40B4-BE49-F238E27FC236}">
                  <a16:creationId xmlns:a16="http://schemas.microsoft.com/office/drawing/2014/main" id="{B99B031D-EB43-15E6-FD15-24C03D2330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738" y="2895600"/>
              <a:ext cx="2667000" cy="259080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01A8FDD-F494-A243-3EF5-BF316BB502E6}"/>
                  </a:ext>
                </a:extLst>
              </p:cNvPr>
              <p:cNvSpPr txBox="1"/>
              <p:nvPr/>
            </p:nvSpPr>
            <p:spPr>
              <a:xfrm>
                <a:off x="3503612" y="2133072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01A8FDD-F494-A243-3EF5-BF316BB50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612" y="2133072"/>
                <a:ext cx="1468607" cy="313291"/>
              </a:xfrm>
              <a:prstGeom prst="rect">
                <a:avLst/>
              </a:prstGeom>
              <a:blipFill>
                <a:blip r:embed="rId7"/>
                <a:stretch>
                  <a:fillRect l="-2075" t="-3922" r="-2905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97A494D-F88E-90CA-FAEA-F3FD04091AB0}"/>
                  </a:ext>
                </a:extLst>
              </p:cNvPr>
              <p:cNvSpPr txBox="1"/>
              <p:nvPr/>
            </p:nvSpPr>
            <p:spPr>
              <a:xfrm>
                <a:off x="945542" y="2227725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97A494D-F88E-90CA-FAEA-F3FD04091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42" y="2227725"/>
                <a:ext cx="1468607" cy="313291"/>
              </a:xfrm>
              <a:prstGeom prst="rect">
                <a:avLst/>
              </a:prstGeom>
              <a:blipFill>
                <a:blip r:embed="rId8"/>
                <a:stretch>
                  <a:fillRect l="-2075" t="-1923" r="-3320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2FAD12E-2AD3-D170-0423-F79E7B1A477A}"/>
                  </a:ext>
                </a:extLst>
              </p:cNvPr>
              <p:cNvSpPr txBox="1"/>
              <p:nvPr/>
            </p:nvSpPr>
            <p:spPr>
              <a:xfrm>
                <a:off x="3166106" y="4439710"/>
                <a:ext cx="1468607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000" b="1" i="1" smtClean="0">
                              <a:solidFill>
                                <a:srgbClr val="1D41D5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000" b="1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000" b="0" i="1" smtClean="0">
                          <a:solidFill>
                            <a:srgbClr val="1D41D5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zh-CN" altLang="en-US" sz="2000" dirty="0">
                  <a:solidFill>
                    <a:srgbClr val="1D41D5"/>
                  </a:solidFill>
                </a:endParaRP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62FAD12E-2AD3-D170-0423-F79E7B1A4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106" y="4439710"/>
                <a:ext cx="1468607" cy="313291"/>
              </a:xfrm>
              <a:prstGeom prst="rect">
                <a:avLst/>
              </a:prstGeom>
              <a:blipFill>
                <a:blip r:embed="rId9"/>
                <a:stretch>
                  <a:fillRect l="-2075" t="-1923" r="-3320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963" name="文本框 165962">
                <a:extLst>
                  <a:ext uri="{FF2B5EF4-FFF2-40B4-BE49-F238E27FC236}">
                    <a16:creationId xmlns:a16="http://schemas.microsoft.com/office/drawing/2014/main" id="{5A881A6E-5821-594D-549D-AC8C1E7CB7C9}"/>
                  </a:ext>
                </a:extLst>
              </p:cNvPr>
              <p:cNvSpPr txBox="1"/>
              <p:nvPr/>
            </p:nvSpPr>
            <p:spPr>
              <a:xfrm>
                <a:off x="244624" y="5151148"/>
                <a:ext cx="5146376" cy="6819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线性分类模型 </a:t>
                </a:r>
                <a:br>
                  <a:rPr lang="en-US" altLang="zh-CN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𝑦</m:t>
                      </m:r>
                      <m:r>
                        <a:rPr lang="en-US" altLang="zh-CN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sign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5963" name="文本框 165962">
                <a:extLst>
                  <a:ext uri="{FF2B5EF4-FFF2-40B4-BE49-F238E27FC236}">
                    <a16:creationId xmlns:a16="http://schemas.microsoft.com/office/drawing/2014/main" id="{5A881A6E-5821-594D-549D-AC8C1E7CB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4" y="5151148"/>
                <a:ext cx="5146376" cy="681982"/>
              </a:xfrm>
              <a:prstGeom prst="rect">
                <a:avLst/>
              </a:prstGeom>
              <a:blipFill>
                <a:blip r:embed="rId10"/>
                <a:stretch>
                  <a:fillRect t="-4464" b="-4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964" name="文本框 165963">
            <a:extLst>
              <a:ext uri="{FF2B5EF4-FFF2-40B4-BE49-F238E27FC236}">
                <a16:creationId xmlns:a16="http://schemas.microsoft.com/office/drawing/2014/main" id="{E144A8BE-5D0B-C477-DA3C-0688225B576C}"/>
              </a:ext>
            </a:extLst>
          </p:cNvPr>
          <p:cNvSpPr txBox="1"/>
          <p:nvPr/>
        </p:nvSpPr>
        <p:spPr>
          <a:xfrm>
            <a:off x="6437476" y="5151148"/>
            <a:ext cx="5146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符合条件的超平面中，哪个才是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最好的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b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首先什么是“好的”超平面？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42123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1" grpId="0"/>
      <p:bldP spid="32" grpId="0"/>
      <p:bldP spid="63" grpId="0"/>
      <p:bldP spid="165963" grpId="0"/>
      <p:bldP spid="16596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8AE3-56FE-67AA-16EF-C2948F4B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051F8B8-7341-87FB-9D93-9444AA43F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点到平面的距离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BD118-914F-702E-D590-7BD3E7665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27/36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004BB1-1F95-ACEE-F1F9-381C833C498A}"/>
                  </a:ext>
                </a:extLst>
              </p:cNvPr>
              <p:cNvSpPr txBox="1"/>
              <p:nvPr/>
            </p:nvSpPr>
            <p:spPr>
              <a:xfrm>
                <a:off x="3035995" y="1200150"/>
                <a:ext cx="49198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004BB1-1F95-ACEE-F1F9-381C833C4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995" y="1200150"/>
                <a:ext cx="4919873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B96AB59-8591-5A11-3E7F-E6B64C31B940}"/>
              </a:ext>
            </a:extLst>
          </p:cNvPr>
          <p:cNvSpPr txBox="1"/>
          <p:nvPr/>
        </p:nvSpPr>
        <p:spPr>
          <a:xfrm>
            <a:off x="222250" y="1200150"/>
            <a:ext cx="237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/>
              <a:t>定义一个平面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FE239E3-9B2E-ECEE-8359-20FD0DC22A4F}"/>
              </a:ext>
            </a:extLst>
          </p:cNvPr>
          <p:cNvCxnSpPr>
            <a:cxnSpLocks/>
          </p:cNvCxnSpPr>
          <p:nvPr/>
        </p:nvCxnSpPr>
        <p:spPr>
          <a:xfrm>
            <a:off x="1085850" y="3568700"/>
            <a:ext cx="391795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9493162-6708-E58A-9E36-BAC4A1734B22}"/>
              </a:ext>
            </a:extLst>
          </p:cNvPr>
          <p:cNvCxnSpPr>
            <a:cxnSpLocks/>
          </p:cNvCxnSpPr>
          <p:nvPr/>
        </p:nvCxnSpPr>
        <p:spPr>
          <a:xfrm>
            <a:off x="3035995" y="2098993"/>
            <a:ext cx="0" cy="3120707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D69D98F-182F-8501-0A74-A05C4F8C1D44}"/>
              </a:ext>
            </a:extLst>
          </p:cNvPr>
          <p:cNvCxnSpPr>
            <a:cxnSpLocks/>
          </p:cNvCxnSpPr>
          <p:nvPr/>
        </p:nvCxnSpPr>
        <p:spPr>
          <a:xfrm flipV="1">
            <a:off x="2597150" y="1981200"/>
            <a:ext cx="2794000" cy="28829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B7E8F40F-55F4-A775-903B-1C31AF939B05}"/>
              </a:ext>
            </a:extLst>
          </p:cNvPr>
          <p:cNvSpPr/>
          <p:nvPr/>
        </p:nvSpPr>
        <p:spPr>
          <a:xfrm>
            <a:off x="3422650" y="3954781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2C26D05-37A4-D311-829B-998628F1FF9F}"/>
              </a:ext>
            </a:extLst>
          </p:cNvPr>
          <p:cNvCxnSpPr>
            <a:endCxn id="25" idx="4"/>
          </p:cNvCxnSpPr>
          <p:nvPr/>
        </p:nvCxnSpPr>
        <p:spPr>
          <a:xfrm>
            <a:off x="3035995" y="3568700"/>
            <a:ext cx="409515" cy="4318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77A7C97-2B43-995D-2091-8B8346883555}"/>
                  </a:ext>
                </a:extLst>
              </p:cNvPr>
              <p:cNvSpPr txBox="1"/>
              <p:nvPr/>
            </p:nvSpPr>
            <p:spPr>
              <a:xfrm>
                <a:off x="2655691" y="3754726"/>
                <a:ext cx="3308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77A7C97-2B43-995D-2091-8B8346883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1" y="3754726"/>
                <a:ext cx="330893" cy="461665"/>
              </a:xfrm>
              <a:prstGeom prst="rect">
                <a:avLst/>
              </a:prstGeom>
              <a:blipFill>
                <a:blip r:embed="rId6"/>
                <a:stretch>
                  <a:fillRect r="-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2D92004-92E1-8E45-C512-F9F07F43E786}"/>
                  </a:ext>
                </a:extLst>
              </p:cNvPr>
              <p:cNvSpPr txBox="1"/>
              <p:nvPr/>
            </p:nvSpPr>
            <p:spPr>
              <a:xfrm>
                <a:off x="3600282" y="3863658"/>
                <a:ext cx="3308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2D92004-92E1-8E45-C512-F9F07F43E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282" y="3863658"/>
                <a:ext cx="330893" cy="461665"/>
              </a:xfrm>
              <a:prstGeom prst="rect">
                <a:avLst/>
              </a:prstGeom>
              <a:blipFill>
                <a:blip r:embed="rId7"/>
                <a:stretch>
                  <a:fillRect r="-3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椭圆 29">
            <a:extLst>
              <a:ext uri="{FF2B5EF4-FFF2-40B4-BE49-F238E27FC236}">
                <a16:creationId xmlns:a16="http://schemas.microsoft.com/office/drawing/2014/main" id="{AFAFC6FD-E7FD-EB75-C48D-214798F075FE}"/>
              </a:ext>
            </a:extLst>
          </p:cNvPr>
          <p:cNvSpPr/>
          <p:nvPr/>
        </p:nvSpPr>
        <p:spPr>
          <a:xfrm flipH="1" flipV="1">
            <a:off x="3728719" y="2514599"/>
            <a:ext cx="113024" cy="92706"/>
          </a:xfrm>
          <a:prstGeom prst="ellipse">
            <a:avLst/>
          </a:prstGeom>
          <a:solidFill>
            <a:srgbClr val="FF9966"/>
          </a:solidFill>
          <a:ln>
            <a:solidFill>
              <a:srgbClr val="FF99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408BE8D-A3E2-B91D-C7B2-0E3416DB59F2}"/>
                  </a:ext>
                </a:extLst>
              </p:cNvPr>
              <p:cNvSpPr txBox="1"/>
              <p:nvPr/>
            </p:nvSpPr>
            <p:spPr>
              <a:xfrm>
                <a:off x="3388996" y="2372181"/>
                <a:ext cx="3308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rgbClr val="FF996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rgbClr val="FF9966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408BE8D-A3E2-B91D-C7B2-0E3416DB5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996" y="2372181"/>
                <a:ext cx="33089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24DBB8F-E703-B207-51B3-19F69C5E05EA}"/>
              </a:ext>
            </a:extLst>
          </p:cNvPr>
          <p:cNvCxnSpPr>
            <a:stCxn id="25" idx="7"/>
            <a:endCxn id="30" idx="0"/>
          </p:cNvCxnSpPr>
          <p:nvPr/>
        </p:nvCxnSpPr>
        <p:spPr>
          <a:xfrm flipV="1">
            <a:off x="3461674" y="2607305"/>
            <a:ext cx="323557" cy="135417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182B447-C18C-0325-F6C8-A440DA2EB9E8}"/>
              </a:ext>
            </a:extLst>
          </p:cNvPr>
          <p:cNvCxnSpPr>
            <a:cxnSpLocks/>
          </p:cNvCxnSpPr>
          <p:nvPr/>
        </p:nvCxnSpPr>
        <p:spPr>
          <a:xfrm flipH="1" flipV="1">
            <a:off x="3617942" y="2341265"/>
            <a:ext cx="1461885" cy="1543645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59BB2E5-DB03-A5C4-C352-199C21DC8041}"/>
                  </a:ext>
                </a:extLst>
              </p:cNvPr>
              <p:cNvSpPr txBox="1"/>
              <p:nvPr/>
            </p:nvSpPr>
            <p:spPr>
              <a:xfrm>
                <a:off x="5829995" y="4524396"/>
                <a:ext cx="4646144" cy="1071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zh-CN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CN" sz="32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zh-CN" altLang="en-US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59BB2E5-DB03-A5C4-C352-199C21DC8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995" y="4524396"/>
                <a:ext cx="4646144" cy="10714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57EA747-4B5E-9C33-D093-1B57ECDE3A2D}"/>
              </a:ext>
            </a:extLst>
          </p:cNvPr>
          <p:cNvCxnSpPr>
            <a:cxnSpLocks/>
            <a:endCxn id="30" idx="3"/>
          </p:cNvCxnSpPr>
          <p:nvPr/>
        </p:nvCxnSpPr>
        <p:spPr>
          <a:xfrm flipH="1" flipV="1">
            <a:off x="3825191" y="2528175"/>
            <a:ext cx="523693" cy="584912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46ECD76-E381-D48F-314C-4D0E79E988C8}"/>
                  </a:ext>
                </a:extLst>
              </p:cNvPr>
              <p:cNvSpPr txBox="1"/>
              <p:nvPr/>
            </p:nvSpPr>
            <p:spPr>
              <a:xfrm>
                <a:off x="5943600" y="1828800"/>
                <a:ext cx="5205265" cy="71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2"/>
                    </a:solidFill>
                  </a:rPr>
                  <a:t>虚线的方向（单位向量）</a:t>
                </a:r>
                <a:r>
                  <a:rPr lang="en-US" altLang="zh-CN" sz="2800" dirty="0">
                    <a:solidFill>
                      <a:schemeClr val="tx2"/>
                    </a:solidFill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zh-CN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46ECD76-E381-D48F-314C-4D0E79E9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828800"/>
                <a:ext cx="5205265" cy="718915"/>
              </a:xfrm>
              <a:prstGeom prst="rect">
                <a:avLst/>
              </a:prstGeom>
              <a:blipFill>
                <a:blip r:embed="rId10"/>
                <a:stretch>
                  <a:fillRect l="-2342" t="-5085" b="-4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51AB2DF-0E09-EA2C-F70C-600AB4E15F07}"/>
                  </a:ext>
                </a:extLst>
              </p:cNvPr>
              <p:cNvSpPr txBox="1"/>
              <p:nvPr/>
            </p:nvSpPr>
            <p:spPr>
              <a:xfrm>
                <a:off x="5661773" y="2993799"/>
                <a:ext cx="58800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0" dirty="0">
                    <a:solidFill>
                      <a:schemeClr val="tx2"/>
                    </a:solidFill>
                  </a:rPr>
                  <a:t>距离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2"/>
                    </a:solidFill>
                  </a:rPr>
                  <a:t> 在虚线的方向的投影</a:t>
                </a: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51AB2DF-0E09-EA2C-F70C-600AB4E15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1773" y="2993799"/>
                <a:ext cx="5880027" cy="523220"/>
              </a:xfrm>
              <a:prstGeom prst="rect">
                <a:avLst/>
              </a:prstGeom>
              <a:blipFill>
                <a:blip r:embed="rId11"/>
                <a:stretch>
                  <a:fillRect l="-2178" t="-17442" b="-25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47799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C8AE3-56FE-67AA-16EF-C2948F4B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3051F8B8-7341-87FB-9D93-9444AA43F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分类间隔与支持向量（</a:t>
            </a:r>
            <a:r>
              <a:rPr lang="en-US" altLang="zh-CN" dirty="0"/>
              <a:t>Support Vector</a:t>
            </a:r>
            <a:r>
              <a:rPr lang="zh-CN" altLang="en-US" dirty="0"/>
              <a:t>）</a:t>
            </a:r>
            <a:endParaRPr lang="en-US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E078F7F-1E85-B17C-C975-C518E6A2B870}"/>
              </a:ext>
            </a:extLst>
          </p:cNvPr>
          <p:cNvGrpSpPr/>
          <p:nvPr/>
        </p:nvGrpSpPr>
        <p:grpSpPr>
          <a:xfrm>
            <a:off x="776289" y="2164430"/>
            <a:ext cx="4081462" cy="3305175"/>
            <a:chOff x="4052888" y="3076575"/>
            <a:chExt cx="4081462" cy="3305175"/>
          </a:xfrm>
        </p:grpSpPr>
        <p:sp>
          <p:nvSpPr>
            <p:cNvPr id="207876" name="Line 4">
              <a:extLst>
                <a:ext uri="{FF2B5EF4-FFF2-40B4-BE49-F238E27FC236}">
                  <a16:creationId xmlns:a16="http://schemas.microsoft.com/office/drawing/2014/main" id="{4138E682-F550-6BCC-E041-5E31C7012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7825" y="334010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7" name="Line 5">
              <a:extLst>
                <a:ext uri="{FF2B5EF4-FFF2-40B4-BE49-F238E27FC236}">
                  <a16:creationId xmlns:a16="http://schemas.microsoft.com/office/drawing/2014/main" id="{02F46437-4B64-300C-AF90-0E85857A2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2888" y="626586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878" name="AutoShape 6">
              <a:extLst>
                <a:ext uri="{FF2B5EF4-FFF2-40B4-BE49-F238E27FC236}">
                  <a16:creationId xmlns:a16="http://schemas.microsoft.com/office/drawing/2014/main" id="{B51D98C7-3700-FE86-99D0-5BBBFB2BF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638" y="4095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9" name="AutoShape 7">
              <a:extLst>
                <a:ext uri="{FF2B5EF4-FFF2-40B4-BE49-F238E27FC236}">
                  <a16:creationId xmlns:a16="http://schemas.microsoft.com/office/drawing/2014/main" id="{A48A6C1A-F38B-5E1B-8E0C-761F45694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963" y="4452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0" name="AutoShape 8">
              <a:extLst>
                <a:ext uri="{FF2B5EF4-FFF2-40B4-BE49-F238E27FC236}">
                  <a16:creationId xmlns:a16="http://schemas.microsoft.com/office/drawing/2014/main" id="{8B19E53A-4F0E-B77B-DA47-CE4C1A971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363" y="4999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1" name="AutoShape 9">
              <a:extLst>
                <a:ext uri="{FF2B5EF4-FFF2-40B4-BE49-F238E27FC236}">
                  <a16:creationId xmlns:a16="http://schemas.microsoft.com/office/drawing/2014/main" id="{B7C38234-87CC-6E94-B34C-65B4D5AC4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3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2" name="AutoShape 10">
              <a:extLst>
                <a:ext uri="{FF2B5EF4-FFF2-40B4-BE49-F238E27FC236}">
                  <a16:creationId xmlns:a16="http://schemas.microsoft.com/office/drawing/2014/main" id="{C7993828-5583-95B6-4645-91C60AA19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763" y="38560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3" name="AutoShape 11">
              <a:extLst>
                <a:ext uri="{FF2B5EF4-FFF2-40B4-BE49-F238E27FC236}">
                  <a16:creationId xmlns:a16="http://schemas.microsoft.com/office/drawing/2014/main" id="{2C4C2C0E-9AD1-8776-9843-30CE58309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4363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4" name="AutoShape 12">
              <a:extLst>
                <a:ext uri="{FF2B5EF4-FFF2-40B4-BE49-F238E27FC236}">
                  <a16:creationId xmlns:a16="http://schemas.microsoft.com/office/drawing/2014/main" id="{FD84BE8E-6B55-C6D1-CB06-EE8E95219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763" y="4922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5" name="AutoShape 13">
              <a:extLst>
                <a:ext uri="{FF2B5EF4-FFF2-40B4-BE49-F238E27FC236}">
                  <a16:creationId xmlns:a16="http://schemas.microsoft.com/office/drawing/2014/main" id="{CFA3CD07-F1A5-98DA-DCF8-737DB5E61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8763" y="4541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6" name="AutoShape 14">
              <a:extLst>
                <a:ext uri="{FF2B5EF4-FFF2-40B4-BE49-F238E27FC236}">
                  <a16:creationId xmlns:a16="http://schemas.microsoft.com/office/drawing/2014/main" id="{5E482E8B-D6A7-15D2-DDA4-D8C14DC5A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0463" y="45291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7" name="AutoShape 15">
              <a:extLst>
                <a:ext uri="{FF2B5EF4-FFF2-40B4-BE49-F238E27FC236}">
                  <a16:creationId xmlns:a16="http://schemas.microsoft.com/office/drawing/2014/main" id="{1C5A01B8-ECE2-F9EF-6AF3-100E96B15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1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8" name="AutoShape 16">
              <a:extLst>
                <a:ext uri="{FF2B5EF4-FFF2-40B4-BE49-F238E27FC236}">
                  <a16:creationId xmlns:a16="http://schemas.microsoft.com/office/drawing/2014/main" id="{80E36557-CFD4-0D0E-7914-58965DB34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2763" y="54562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89" name="AutoShape 17">
              <a:extLst>
                <a:ext uri="{FF2B5EF4-FFF2-40B4-BE49-F238E27FC236}">
                  <a16:creationId xmlns:a16="http://schemas.microsoft.com/office/drawing/2014/main" id="{39669322-CCF8-8B5D-4C48-E54739AF0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663" y="59769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0" name="AutoShape 18">
              <a:extLst>
                <a:ext uri="{FF2B5EF4-FFF2-40B4-BE49-F238E27FC236}">
                  <a16:creationId xmlns:a16="http://schemas.microsoft.com/office/drawing/2014/main" id="{455A2F87-5BBF-8C50-16B7-0BCE79E31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6963" y="48466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1" name="AutoShape 19">
              <a:extLst>
                <a:ext uri="{FF2B5EF4-FFF2-40B4-BE49-F238E27FC236}">
                  <a16:creationId xmlns:a16="http://schemas.microsoft.com/office/drawing/2014/main" id="{1C51C107-1B90-608C-7BF1-39D2C2293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8638" y="53403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2" name="AutoShape 20">
              <a:extLst>
                <a:ext uri="{FF2B5EF4-FFF2-40B4-BE49-F238E27FC236}">
                  <a16:creationId xmlns:a16="http://schemas.microsoft.com/office/drawing/2014/main" id="{2471F4C5-87EF-F960-5848-62F414C0C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3163" y="56848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3" name="AutoShape 21">
              <a:extLst>
                <a:ext uri="{FF2B5EF4-FFF2-40B4-BE49-F238E27FC236}">
                  <a16:creationId xmlns:a16="http://schemas.microsoft.com/office/drawing/2014/main" id="{C203396A-3D22-0297-39CE-FEE200AFC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963" y="477043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5" name="AutoShape 23">
              <a:extLst>
                <a:ext uri="{FF2B5EF4-FFF2-40B4-BE49-F238E27FC236}">
                  <a16:creationId xmlns:a16="http://schemas.microsoft.com/office/drawing/2014/main" id="{A93864DB-EE11-5750-0820-FC93E8BC1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4488" y="32575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6" name="AutoShape 24">
              <a:extLst>
                <a:ext uri="{FF2B5EF4-FFF2-40B4-BE49-F238E27FC236}">
                  <a16:creationId xmlns:a16="http://schemas.microsoft.com/office/drawing/2014/main" id="{4385B2A0-1547-F3CA-59B5-FD2FD5E9D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4088" y="3333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7" name="AutoShape 25">
              <a:extLst>
                <a:ext uri="{FF2B5EF4-FFF2-40B4-BE49-F238E27FC236}">
                  <a16:creationId xmlns:a16="http://schemas.microsoft.com/office/drawing/2014/main" id="{DDC50ACB-99DF-7C8A-39ED-8DA51AC57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0888" y="409575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8" name="Line 26">
              <a:extLst>
                <a:ext uri="{FF2B5EF4-FFF2-40B4-BE49-F238E27FC236}">
                  <a16:creationId xmlns:a16="http://schemas.microsoft.com/office/drawing/2014/main" id="{6EE14252-C379-4660-A3B0-F0BC2F91C9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2964" y="325755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5" name="Line 33">
              <a:extLst>
                <a:ext uri="{FF2B5EF4-FFF2-40B4-BE49-F238E27FC236}">
                  <a16:creationId xmlns:a16="http://schemas.microsoft.com/office/drawing/2014/main" id="{8A90D785-FF12-DF35-BBB5-8CA2E5CAD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5450" y="3340100"/>
              <a:ext cx="762000" cy="615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6" name="Line 34">
              <a:extLst>
                <a:ext uri="{FF2B5EF4-FFF2-40B4-BE49-F238E27FC236}">
                  <a16:creationId xmlns:a16="http://schemas.microsoft.com/office/drawing/2014/main" id="{0CA9F53D-0272-9B8D-FAE5-6EB8B20744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88050" y="4362450"/>
              <a:ext cx="25400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9" name="Text Box 37">
              <a:extLst>
                <a:ext uri="{FF2B5EF4-FFF2-40B4-BE49-F238E27FC236}">
                  <a16:creationId xmlns:a16="http://schemas.microsoft.com/office/drawing/2014/main" id="{216F5A41-1AE8-2228-4254-41EEAC9F7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0225" y="3476625"/>
              <a:ext cx="4953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i="1"/>
                <a:t>r</a:t>
              </a:r>
            </a:p>
          </p:txBody>
        </p:sp>
        <p:sp>
          <p:nvSpPr>
            <p:cNvPr id="207910" name="Oval 38">
              <a:extLst>
                <a:ext uri="{FF2B5EF4-FFF2-40B4-BE49-F238E27FC236}">
                  <a16:creationId xmlns:a16="http://schemas.microsoft.com/office/drawing/2014/main" id="{53D920E7-7AF7-4D50-AE29-5425A0BEE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150" y="4476751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1" name="Oval 39">
              <a:extLst>
                <a:ext uri="{FF2B5EF4-FFF2-40B4-BE49-F238E27FC236}">
                  <a16:creationId xmlns:a16="http://schemas.microsoft.com/office/drawing/2014/main" id="{78442FFA-EDAD-FF3C-54C9-DBDEADD5D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200" y="5272089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2" name="Oval 40">
              <a:extLst>
                <a:ext uri="{FF2B5EF4-FFF2-40B4-BE49-F238E27FC236}">
                  <a16:creationId xmlns:a16="http://schemas.microsoft.com/office/drawing/2014/main" id="{24E7532D-C821-6802-F1D2-B7C2DF149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3" y="4459289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3" name="Line 41">
              <a:extLst>
                <a:ext uri="{FF2B5EF4-FFF2-40B4-BE49-F238E27FC236}">
                  <a16:creationId xmlns:a16="http://schemas.microsoft.com/office/drawing/2014/main" id="{6CE4BF3E-E289-BDA7-3F72-25E8258D0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64164" y="5176839"/>
              <a:ext cx="244475" cy="174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4" name="Line 42">
              <a:extLst>
                <a:ext uri="{FF2B5EF4-FFF2-40B4-BE49-F238E27FC236}">
                  <a16:creationId xmlns:a16="http://schemas.microsoft.com/office/drawing/2014/main" id="{B15605D2-6FD8-0FFF-DAB8-B67B199C9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6550" y="4614864"/>
              <a:ext cx="234950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5" name="Line 43">
              <a:extLst>
                <a:ext uri="{FF2B5EF4-FFF2-40B4-BE49-F238E27FC236}">
                  <a16:creationId xmlns:a16="http://schemas.microsoft.com/office/drawing/2014/main" id="{C52BC8BB-CBE3-5F2C-C37F-E24EB71282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1114" y="3438525"/>
              <a:ext cx="2009775" cy="26939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6" name="Line 44">
              <a:extLst>
                <a:ext uri="{FF2B5EF4-FFF2-40B4-BE49-F238E27FC236}">
                  <a16:creationId xmlns:a16="http://schemas.microsoft.com/office/drawing/2014/main" id="{38DC651B-1CF6-91C3-9453-A4EC01799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3414" y="3076575"/>
              <a:ext cx="2066925" cy="27701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7" name="Line 45">
              <a:extLst>
                <a:ext uri="{FF2B5EF4-FFF2-40B4-BE49-F238E27FC236}">
                  <a16:creationId xmlns:a16="http://schemas.microsoft.com/office/drawing/2014/main" id="{5506EFF4-42A9-1B93-FEB3-10ADF0E2F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7950" y="3143250"/>
              <a:ext cx="552450" cy="41910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18" name="Text Box 46">
              <a:extLst>
                <a:ext uri="{FF2B5EF4-FFF2-40B4-BE49-F238E27FC236}">
                  <a16:creationId xmlns:a16="http://schemas.microsoft.com/office/drawing/2014/main" id="{D9A00C97-279D-BF91-A65E-6C6D19BBC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9363" y="3119438"/>
              <a:ext cx="1143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i="1" dirty="0"/>
                <a:t>ρ</a:t>
              </a:r>
              <a:endParaRPr lang="en-US" altLang="en-US" i="1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BD118-914F-702E-D590-7BD3E7665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28/36</a:t>
            </a:r>
            <a:endParaRPr lang="zh-CN" altLang="en-US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6D5AD13-DCA6-A397-8F5F-68BFFF61B87B}"/>
              </a:ext>
            </a:extLst>
          </p:cNvPr>
          <p:cNvSpPr txBox="1"/>
          <p:nvPr/>
        </p:nvSpPr>
        <p:spPr>
          <a:xfrm>
            <a:off x="381242" y="1050462"/>
            <a:ext cx="5751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</a:rPr>
              <a:t>想法：所有样本点尽量远离分类超平面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en-CN" altLang="zh-CN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21E60940-4977-08F8-687F-CFAEF096FDA3}"/>
                  </a:ext>
                </a:extLst>
              </p:cNvPr>
              <p:cNvSpPr txBox="1"/>
              <p:nvPr/>
            </p:nvSpPr>
            <p:spPr>
              <a:xfrm>
                <a:off x="4616986" y="1945124"/>
                <a:ext cx="7323654" cy="3636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样本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到超平面的距离为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分类超平面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 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是齐次的，可以要求所有的样本满足</a:t>
                </a:r>
                <a:br>
                  <a:rPr lang="en-US" altLang="zh-CN" dirty="0">
                    <a:solidFill>
                      <a:schemeClr val="tx2"/>
                    </a:solidFill>
                  </a:rPr>
                </a:b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≥+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=+1;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≤−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思考：为什么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直接取 </a:t>
                </a:r>
                <a:r>
                  <a:rPr lang="en-US" altLang="zh-CN" dirty="0">
                    <a:solidFill>
                      <a:schemeClr val="tx2"/>
                    </a:solidFill>
                  </a:rPr>
                  <a:t>1 </a:t>
                </a:r>
                <a:r>
                  <a:rPr lang="zh-CN" altLang="en-US" dirty="0">
                    <a:solidFill>
                      <a:schemeClr val="tx2"/>
                    </a:solidFill>
                  </a:rPr>
                  <a:t>不影响结果（变量代换）？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此时使得等号成立的样本被称为“支持向量”</a:t>
                </a:r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两个异类支持向量到超平面的距离之和称为“间隔”，等于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dirty="0">
                    <a:solidFill>
                      <a:schemeClr val="tx2"/>
                    </a:solidFill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chemeClr val="tx2"/>
                    </a:solidFill>
                  </a:rPr>
                  <a:t>最终得到优化问题：</a:t>
                </a:r>
                <a:endParaRPr lang="en-CN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21E60940-4977-08F8-687F-CFAEF096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986" y="1945124"/>
                <a:ext cx="7323654" cy="3636637"/>
              </a:xfrm>
              <a:prstGeom prst="rect">
                <a:avLst/>
              </a:prstGeom>
              <a:blipFill>
                <a:blip r:embed="rId4"/>
                <a:stretch>
                  <a:fillRect l="-499" r="-666" b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3FEB5FB-D272-DF9E-263F-D3A4E1177A5E}"/>
                  </a:ext>
                </a:extLst>
              </p:cNvPr>
              <p:cNvSpPr txBox="1"/>
              <p:nvPr/>
            </p:nvSpPr>
            <p:spPr>
              <a:xfrm>
                <a:off x="6133138" y="5212712"/>
                <a:ext cx="6096000" cy="926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den>
                          </m:f>
                        </m:e>
                      </m:func>
                    </m:oMath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    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≥1,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3FEB5FB-D272-DF9E-263F-D3A4E1177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138" y="5212712"/>
                <a:ext cx="6096000" cy="926920"/>
              </a:xfrm>
              <a:prstGeom prst="rect">
                <a:avLst/>
              </a:prstGeom>
              <a:blipFill>
                <a:blip r:embed="rId5"/>
                <a:stretch>
                  <a:fillRect b="-4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F942D9-86A1-D9F9-EF18-FBF59C23074C}"/>
                  </a:ext>
                </a:extLst>
              </p:cNvPr>
              <p:cNvSpPr txBox="1"/>
              <p:nvPr/>
            </p:nvSpPr>
            <p:spPr>
              <a:xfrm>
                <a:off x="8610072" y="1264137"/>
                <a:ext cx="3514195" cy="764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zh-CN" altLang="en-US" sz="1400" dirty="0">
                    <a:solidFill>
                      <a:schemeClr val="tx1"/>
                    </a:solidFill>
                  </a:rPr>
                  <a:t>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</a:rPr>
                  <a:t> 到直线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𝐵𝑦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</a:rPr>
                  <a:t> 的距离 </a:t>
                </a:r>
                <a:br>
                  <a:rPr lang="en-US" altLang="zh-CN" sz="1400" dirty="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1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F942D9-86A1-D9F9-EF18-FBF59C230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072" y="1264137"/>
                <a:ext cx="3514195" cy="764568"/>
              </a:xfrm>
              <a:prstGeom prst="rect">
                <a:avLst/>
              </a:prstGeom>
              <a:blipFill>
                <a:blip r:embed="rId8"/>
                <a:stretch>
                  <a:fillRect l="-520" t="-2381" b="-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E7386D3C-7340-B308-FA01-E3AE788DF77D}"/>
              </a:ext>
            </a:extLst>
          </p:cNvPr>
          <p:cNvCxnSpPr>
            <a:endCxn id="3" idx="2"/>
          </p:cNvCxnSpPr>
          <p:nvPr/>
        </p:nvCxnSpPr>
        <p:spPr>
          <a:xfrm flipV="1">
            <a:off x="9011707" y="2028705"/>
            <a:ext cx="1355463" cy="392900"/>
          </a:xfrm>
          <a:prstGeom prst="curvedConnector2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47355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9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C599-100E-2FB1-BC37-CE9E50DC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32" name="文本框 207931">
            <a:extLst>
              <a:ext uri="{FF2B5EF4-FFF2-40B4-BE49-F238E27FC236}">
                <a16:creationId xmlns:a16="http://schemas.microsoft.com/office/drawing/2014/main" id="{F8E4DACB-3258-F410-A93F-13B80A8EF8BA}"/>
              </a:ext>
            </a:extLst>
          </p:cNvPr>
          <p:cNvSpPr txBox="1"/>
          <p:nvPr/>
        </p:nvSpPr>
        <p:spPr>
          <a:xfrm>
            <a:off x="5372894" y="1957098"/>
            <a:ext cx="6096000" cy="171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引入</a:t>
            </a:r>
            <a:r>
              <a:rPr lang="zh-CN" altLang="en-US" dirty="0"/>
              <a:t>松弛变量</a:t>
            </a:r>
            <a:r>
              <a:rPr lang="zh-CN" altLang="en-US" dirty="0">
                <a:solidFill>
                  <a:schemeClr val="tx2"/>
                </a:solidFill>
              </a:rPr>
              <a:t>后的优化问题为</a:t>
            </a:r>
            <a:endParaRPr lang="en-US" altLang="zh-CN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6EB5D20F-422D-E325-9BB7-9169B1AEB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硬间隔与软间隔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4D1FA-9366-BF88-252D-75B65330F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29/36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F3EC13C6-B7E7-C1ED-9C91-064460C045B4}"/>
                  </a:ext>
                </a:extLst>
              </p:cNvPr>
              <p:cNvSpPr txBox="1"/>
              <p:nvPr/>
            </p:nvSpPr>
            <p:spPr>
              <a:xfrm>
                <a:off x="381242" y="1050462"/>
                <a:ext cx="594117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tx1"/>
                    </a:solidFill>
                  </a:rPr>
                  <a:t>硬间隔：样本点满足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>
                    <a:solidFill>
                      <a:schemeClr val="tx1"/>
                    </a:solidFill>
                  </a:rPr>
                  <a:t>软间隔：样本点满足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≥1−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CN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F3EC13C6-B7E7-C1ED-9C91-064460C04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1050462"/>
                <a:ext cx="5941178" cy="830997"/>
              </a:xfrm>
              <a:prstGeom prst="rect">
                <a:avLst/>
              </a:prstGeom>
              <a:blipFill>
                <a:blip r:embed="rId6"/>
                <a:stretch>
                  <a:fillRect l="-1643" t="-8759" b="-11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1">
            <a:extLst>
              <a:ext uri="{FF2B5EF4-FFF2-40B4-BE49-F238E27FC236}">
                <a16:creationId xmlns:a16="http://schemas.microsoft.com/office/drawing/2014/main" id="{09D370CE-38B5-2ADD-C72E-26BDAF6FF0E2}"/>
              </a:ext>
            </a:extLst>
          </p:cNvPr>
          <p:cNvGrpSpPr/>
          <p:nvPr/>
        </p:nvGrpSpPr>
        <p:grpSpPr>
          <a:xfrm>
            <a:off x="772319" y="2163488"/>
            <a:ext cx="4081462" cy="3305175"/>
            <a:chOff x="2395538" y="2524125"/>
            <a:chExt cx="4081462" cy="3305175"/>
          </a:xfrm>
        </p:grpSpPr>
        <p:sp>
          <p:nvSpPr>
            <p:cNvPr id="48" name="Line 4">
              <a:extLst>
                <a:ext uri="{FF2B5EF4-FFF2-40B4-BE49-F238E27FC236}">
                  <a16:creationId xmlns:a16="http://schemas.microsoft.com/office/drawing/2014/main" id="{7DA12B7B-451F-6B61-51A3-A20C2040C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30475" y="2787650"/>
              <a:ext cx="0" cy="3041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5">
              <a:extLst>
                <a:ext uri="{FF2B5EF4-FFF2-40B4-BE49-F238E27FC236}">
                  <a16:creationId xmlns:a16="http://schemas.microsoft.com/office/drawing/2014/main" id="{6B376F26-E1F2-5AEE-7423-1ECF865D06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5538" y="5713413"/>
              <a:ext cx="40814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AutoShape 6">
              <a:extLst>
                <a:ext uri="{FF2B5EF4-FFF2-40B4-BE49-F238E27FC236}">
                  <a16:creationId xmlns:a16="http://schemas.microsoft.com/office/drawing/2014/main" id="{5E1F8B00-F508-A286-14BE-F4CF761C0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288" y="35433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AutoShape 7">
              <a:extLst>
                <a:ext uri="{FF2B5EF4-FFF2-40B4-BE49-F238E27FC236}">
                  <a16:creationId xmlns:a16="http://schemas.microsoft.com/office/drawing/2014/main" id="{173AAD62-4BDD-9374-3FFC-ADE64A510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613" y="3900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AutoShape 8">
              <a:extLst>
                <a:ext uri="{FF2B5EF4-FFF2-40B4-BE49-F238E27FC236}">
                  <a16:creationId xmlns:a16="http://schemas.microsoft.com/office/drawing/2014/main" id="{1CAFA2FC-C79E-479D-2DEF-131258C6B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013" y="4446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AutoShape 9">
              <a:extLst>
                <a:ext uri="{FF2B5EF4-FFF2-40B4-BE49-F238E27FC236}">
                  <a16:creationId xmlns:a16="http://schemas.microsoft.com/office/drawing/2014/main" id="{89D077CB-8F2E-90DD-572A-A75B21E7D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013" y="4903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AutoShape 10">
              <a:extLst>
                <a:ext uri="{FF2B5EF4-FFF2-40B4-BE49-F238E27FC236}">
                  <a16:creationId xmlns:a16="http://schemas.microsoft.com/office/drawing/2014/main" id="{10B59E9B-6389-FACB-8055-10078A273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0413" y="33035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AutoShape 11">
              <a:extLst>
                <a:ext uri="{FF2B5EF4-FFF2-40B4-BE49-F238E27FC236}">
                  <a16:creationId xmlns:a16="http://schemas.microsoft.com/office/drawing/2014/main" id="{D27B16B3-3792-0D78-8821-1E0EBDDB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013" y="4217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AutoShape 12">
              <a:extLst>
                <a:ext uri="{FF2B5EF4-FFF2-40B4-BE49-F238E27FC236}">
                  <a16:creationId xmlns:a16="http://schemas.microsoft.com/office/drawing/2014/main" id="{129FE5F0-1373-7809-7A2D-0469AC8DA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9413" y="4370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AutoShape 13">
              <a:extLst>
                <a:ext uri="{FF2B5EF4-FFF2-40B4-BE49-F238E27FC236}">
                  <a16:creationId xmlns:a16="http://schemas.microsoft.com/office/drawing/2014/main" id="{C8E3DE53-4D2D-1E32-03C2-08251CDD4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3989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AutoShape 14">
              <a:extLst>
                <a:ext uri="{FF2B5EF4-FFF2-40B4-BE49-F238E27FC236}">
                  <a16:creationId xmlns:a16="http://schemas.microsoft.com/office/drawing/2014/main" id="{24514B37-1A45-40E9-ABA0-B7352CCA7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113" y="39766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AutoShape 15">
              <a:extLst>
                <a:ext uri="{FF2B5EF4-FFF2-40B4-BE49-F238E27FC236}">
                  <a16:creationId xmlns:a16="http://schemas.microsoft.com/office/drawing/2014/main" id="{4480A3A1-0648-F155-D3A6-C3E976763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813" y="4903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AutoShape 16">
              <a:extLst>
                <a:ext uri="{FF2B5EF4-FFF2-40B4-BE49-F238E27FC236}">
                  <a16:creationId xmlns:a16="http://schemas.microsoft.com/office/drawing/2014/main" id="{F678BBEA-FFA1-91E1-6559-910B45F63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413" y="49037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AutoShape 17">
              <a:extLst>
                <a:ext uri="{FF2B5EF4-FFF2-40B4-BE49-F238E27FC236}">
                  <a16:creationId xmlns:a16="http://schemas.microsoft.com/office/drawing/2014/main" id="{0944F04B-4F0B-3862-9311-3C8C9757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313" y="5424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AutoShape 18">
              <a:extLst>
                <a:ext uri="{FF2B5EF4-FFF2-40B4-BE49-F238E27FC236}">
                  <a16:creationId xmlns:a16="http://schemas.microsoft.com/office/drawing/2014/main" id="{FA300BE8-B3CE-1EFC-3BB5-2097EF89F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613" y="42941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AutoShape 19">
              <a:extLst>
                <a:ext uri="{FF2B5EF4-FFF2-40B4-BE49-F238E27FC236}">
                  <a16:creationId xmlns:a16="http://schemas.microsoft.com/office/drawing/2014/main" id="{3ED29321-E744-D328-AE9B-39EEE9AE9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1288" y="47879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2" name="AutoShape 20">
              <a:extLst>
                <a:ext uri="{FF2B5EF4-FFF2-40B4-BE49-F238E27FC236}">
                  <a16:creationId xmlns:a16="http://schemas.microsoft.com/office/drawing/2014/main" id="{950FFCA9-387F-C732-4F32-7A9921AFE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51323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3" name="AutoShape 21">
              <a:extLst>
                <a:ext uri="{FF2B5EF4-FFF2-40B4-BE49-F238E27FC236}">
                  <a16:creationId xmlns:a16="http://schemas.microsoft.com/office/drawing/2014/main" id="{DDFEF637-BC2F-BB3B-591C-1746294CB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613" y="42179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75" name="AutoShape 22">
              <a:extLst>
                <a:ext uri="{FF2B5EF4-FFF2-40B4-BE49-F238E27FC236}">
                  <a16:creationId xmlns:a16="http://schemas.microsoft.com/office/drawing/2014/main" id="{21AD1D7F-A568-2594-0438-0AFCECFE1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7138" y="27051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4" name="AutoShape 23">
              <a:extLst>
                <a:ext uri="{FF2B5EF4-FFF2-40B4-BE49-F238E27FC236}">
                  <a16:creationId xmlns:a16="http://schemas.microsoft.com/office/drawing/2014/main" id="{347DDFE7-A226-DA98-EF42-334BA0916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738" y="27813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99" name="AutoShape 24">
              <a:extLst>
                <a:ext uri="{FF2B5EF4-FFF2-40B4-BE49-F238E27FC236}">
                  <a16:creationId xmlns:a16="http://schemas.microsoft.com/office/drawing/2014/main" id="{45E1EDCE-7519-AAB3-046D-970E16CCE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38" y="35433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0" name="AutoShape 25">
              <a:extLst>
                <a:ext uri="{FF2B5EF4-FFF2-40B4-BE49-F238E27FC236}">
                  <a16:creationId xmlns:a16="http://schemas.microsoft.com/office/drawing/2014/main" id="{EADFB8C5-C970-20A1-9623-F564A7464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963" y="3987800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0000FF"/>
            </a:solidFill>
            <a:ln w="9525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2" name="AutoShape 27">
              <a:extLst>
                <a:ext uri="{FF2B5EF4-FFF2-40B4-BE49-F238E27FC236}">
                  <a16:creationId xmlns:a16="http://schemas.microsoft.com/office/drawing/2014/main" id="{6683831D-5D29-2CE9-4D27-A8C4F4DEB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725" y="3773488"/>
              <a:ext cx="88900" cy="88900"/>
            </a:xfrm>
            <a:prstGeom prst="octagon">
              <a:avLst>
                <a:gd name="adj" fmla="val 29287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3" name="Line 28">
              <a:extLst>
                <a:ext uri="{FF2B5EF4-FFF2-40B4-BE49-F238E27FC236}">
                  <a16:creationId xmlns:a16="http://schemas.microsoft.com/office/drawing/2014/main" id="{044DE632-730E-C9B3-452A-C66634DB9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5613" y="2705100"/>
              <a:ext cx="2143125" cy="2884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4" name="Line 29">
              <a:extLst>
                <a:ext uri="{FF2B5EF4-FFF2-40B4-BE49-F238E27FC236}">
                  <a16:creationId xmlns:a16="http://schemas.microsoft.com/office/drawing/2014/main" id="{CA021B14-BA39-F149-0870-46F96CD60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0700" y="3810000"/>
              <a:ext cx="25400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07" name="Oval 30">
              <a:extLst>
                <a:ext uri="{FF2B5EF4-FFF2-40B4-BE49-F238E27FC236}">
                  <a16:creationId xmlns:a16="http://schemas.microsoft.com/office/drawing/2014/main" id="{B4E9216F-E7DE-2AAF-654F-D0F342137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800" y="3924300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08" name="Oval 31">
              <a:extLst>
                <a:ext uri="{FF2B5EF4-FFF2-40B4-BE49-F238E27FC236}">
                  <a16:creationId xmlns:a16="http://schemas.microsoft.com/office/drawing/2014/main" id="{92253D86-6775-3431-F32C-78FE4A7E4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850" y="4719638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19" name="Oval 32">
              <a:extLst>
                <a:ext uri="{FF2B5EF4-FFF2-40B4-BE49-F238E27FC236}">
                  <a16:creationId xmlns:a16="http://schemas.microsoft.com/office/drawing/2014/main" id="{BE6364A4-60BA-6C18-A73C-F0D73674E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263" y="3906838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20" name="Line 33">
              <a:extLst>
                <a:ext uri="{FF2B5EF4-FFF2-40B4-BE49-F238E27FC236}">
                  <a16:creationId xmlns:a16="http://schemas.microsoft.com/office/drawing/2014/main" id="{FD892B0E-87EA-2AF0-8819-3E6A3FC2CE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06813" y="4624388"/>
              <a:ext cx="244475" cy="174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1" name="Line 34">
              <a:extLst>
                <a:ext uri="{FF2B5EF4-FFF2-40B4-BE49-F238E27FC236}">
                  <a16:creationId xmlns:a16="http://schemas.microsoft.com/office/drawing/2014/main" id="{4FCC03EF-3D8D-57AB-ABF9-1A95DBEC9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59200" y="4062413"/>
              <a:ext cx="234950" cy="179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2" name="Line 35">
              <a:extLst>
                <a:ext uri="{FF2B5EF4-FFF2-40B4-BE49-F238E27FC236}">
                  <a16:creationId xmlns:a16="http://schemas.microsoft.com/office/drawing/2014/main" id="{DCD394BE-B6C9-5328-3306-4DAFFAC762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3763" y="2886075"/>
              <a:ext cx="2009775" cy="26939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3" name="Line 36">
              <a:extLst>
                <a:ext uri="{FF2B5EF4-FFF2-40B4-BE49-F238E27FC236}">
                  <a16:creationId xmlns:a16="http://schemas.microsoft.com/office/drawing/2014/main" id="{E820EAA3-059C-17C0-2707-1C96A0F62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6063" y="2524125"/>
              <a:ext cx="2066925" cy="2770188"/>
            </a:xfrm>
            <a:prstGeom prst="line">
              <a:avLst/>
            </a:prstGeom>
            <a:noFill/>
            <a:ln w="9525" cap="rnd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4" name="Line 37">
              <a:extLst>
                <a:ext uri="{FF2B5EF4-FFF2-40B4-BE49-F238E27FC236}">
                  <a16:creationId xmlns:a16="http://schemas.microsoft.com/office/drawing/2014/main" id="{AF79B63E-4594-BE06-F472-CD292CB65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5938" y="3208338"/>
              <a:ext cx="841375" cy="5826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5" name="Line 38">
              <a:extLst>
                <a:ext uri="{FF2B5EF4-FFF2-40B4-BE49-F238E27FC236}">
                  <a16:creationId xmlns:a16="http://schemas.microsoft.com/office/drawing/2014/main" id="{6E721C26-1EE2-6C3E-C517-DEF092F75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925" y="4064000"/>
              <a:ext cx="809625" cy="57785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926" name="Text Box 39">
              <a:extLst>
                <a:ext uri="{FF2B5EF4-FFF2-40B4-BE49-F238E27FC236}">
                  <a16:creationId xmlns:a16="http://schemas.microsoft.com/office/drawing/2014/main" id="{5D007EE6-CC0E-E898-A1D7-D75D4E9A0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488" y="3603625"/>
              <a:ext cx="704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sz="2000" i="1">
                  <a:cs typeface="Times New Roman" panose="02020603050405020304" pitchFamily="18" charset="0"/>
                </a:rPr>
                <a:t>ξ</a:t>
              </a:r>
              <a:r>
                <a:rPr lang="en-US" altLang="en-US" sz="2000" i="1" baseline="-25000"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07927" name="Text Box 40">
              <a:extLst>
                <a:ext uri="{FF2B5EF4-FFF2-40B4-BE49-F238E27FC236}">
                  <a16:creationId xmlns:a16="http://schemas.microsoft.com/office/drawing/2014/main" id="{A346BD0B-2C02-A569-5D53-AE37D6B45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7550" y="4067175"/>
              <a:ext cx="7048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l-GR" altLang="en-US" sz="2000" i="1">
                  <a:cs typeface="Times New Roman" panose="02020603050405020304" pitchFamily="18" charset="0"/>
                </a:rPr>
                <a:t>ξ</a:t>
              </a:r>
              <a:r>
                <a:rPr lang="en-US" altLang="en-US" sz="2000" i="1" baseline="-25000"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07928" name="Oval 41">
              <a:extLst>
                <a:ext uri="{FF2B5EF4-FFF2-40B4-BE49-F238E27FC236}">
                  <a16:creationId xmlns:a16="http://schemas.microsoft.com/office/drawing/2014/main" id="{EEE86DCE-1B1C-23DD-8622-3DC4B7676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700" y="3708400"/>
              <a:ext cx="228600" cy="219075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29" name="Oval 42">
              <a:extLst>
                <a:ext uri="{FF2B5EF4-FFF2-40B4-BE49-F238E27FC236}">
                  <a16:creationId xmlns:a16="http://schemas.microsoft.com/office/drawing/2014/main" id="{3E8651C1-C933-BC2D-5C4C-5688FF5D3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525" y="3916363"/>
              <a:ext cx="228600" cy="219075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7930" name="文本框 207929">
                <a:extLst>
                  <a:ext uri="{FF2B5EF4-FFF2-40B4-BE49-F238E27FC236}">
                    <a16:creationId xmlns:a16="http://schemas.microsoft.com/office/drawing/2014/main" id="{C6B27641-203E-AC06-6773-14B053A4C606}"/>
                  </a:ext>
                </a:extLst>
              </p:cNvPr>
              <p:cNvSpPr txBox="1"/>
              <p:nvPr/>
            </p:nvSpPr>
            <p:spPr>
              <a:xfrm>
                <a:off x="5555456" y="2307816"/>
                <a:ext cx="6096000" cy="1438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  <m:oMath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   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≥0,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7930" name="文本框 207929">
                <a:extLst>
                  <a:ext uri="{FF2B5EF4-FFF2-40B4-BE49-F238E27FC236}">
                    <a16:creationId xmlns:a16="http://schemas.microsoft.com/office/drawing/2014/main" id="{C6B27641-203E-AC06-6773-14B053A4C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456" y="2307816"/>
                <a:ext cx="6096000" cy="1438214"/>
              </a:xfrm>
              <a:prstGeom prst="rect">
                <a:avLst/>
              </a:prstGeom>
              <a:blipFill>
                <a:blip r:embed="rId7"/>
                <a:stretch>
                  <a:fillRect b="-2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934" name="文本框 207933">
                <a:extLst>
                  <a:ext uri="{FF2B5EF4-FFF2-40B4-BE49-F238E27FC236}">
                    <a16:creationId xmlns:a16="http://schemas.microsoft.com/office/drawing/2014/main" id="{9834AEC3-37F4-5257-6733-E176664A1F9D}"/>
                  </a:ext>
                </a:extLst>
              </p:cNvPr>
              <p:cNvSpPr txBox="1"/>
              <p:nvPr/>
            </p:nvSpPr>
            <p:spPr>
              <a:xfrm>
                <a:off x="5739054" y="4119896"/>
                <a:ext cx="50805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讨论：常数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 的不同取值会带来什么不同结果？ </a:t>
                </a:r>
                <a:br>
                  <a:rPr lang="en-US" altLang="zh-CN" dirty="0"/>
                </a:br>
                <a:r>
                  <a:rPr lang="en-US" altLang="zh-CN" dirty="0"/>
                  <a:t>            </a:t>
                </a:r>
                <a:r>
                  <a:rPr lang="zh-CN" altLang="en-US" dirty="0"/>
                  <a:t>特别地，当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lang="zh-CN" altLang="en-US" dirty="0"/>
                  <a:t> 时会怎么样？</a:t>
                </a:r>
              </a:p>
            </p:txBody>
          </p:sp>
        </mc:Choice>
        <mc:Fallback xmlns="">
          <p:sp>
            <p:nvSpPr>
              <p:cNvPr id="207934" name="文本框 207933">
                <a:extLst>
                  <a:ext uri="{FF2B5EF4-FFF2-40B4-BE49-F238E27FC236}">
                    <a16:creationId xmlns:a16="http://schemas.microsoft.com/office/drawing/2014/main" id="{9834AEC3-37F4-5257-6733-E176664A1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054" y="4119896"/>
                <a:ext cx="5080552" cy="646331"/>
              </a:xfrm>
              <a:prstGeom prst="rect">
                <a:avLst/>
              </a:prstGeom>
              <a:blipFill>
                <a:blip r:embed="rId8"/>
                <a:stretch>
                  <a:fillRect l="-959" t="-8491" r="-120" b="-11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60F50CF1-D3F4-AEE5-2DE5-2DF72E1FC8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442818" y="1562268"/>
            <a:ext cx="255298" cy="496094"/>
          </a:xfrm>
          <a:prstGeom prst="curved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87EF1CD-3A18-52E9-70E0-5BF52CA8B102}"/>
              </a:ext>
            </a:extLst>
          </p:cNvPr>
          <p:cNvSpPr txBox="1"/>
          <p:nvPr/>
        </p:nvSpPr>
        <p:spPr>
          <a:xfrm>
            <a:off x="1400175" y="5417864"/>
            <a:ext cx="230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如果线性不可分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AA18B8-0835-61A5-E397-8915FFED7AB0}"/>
              </a:ext>
            </a:extLst>
          </p:cNvPr>
          <p:cNvSpPr txBox="1"/>
          <p:nvPr/>
        </p:nvSpPr>
        <p:spPr>
          <a:xfrm>
            <a:off x="5739054" y="5417864"/>
            <a:ext cx="508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思考：如何克服线性不可分的困难？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157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7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32" grpId="0" uiExpand="1" build="p"/>
      <p:bldP spid="207874" grpId="0"/>
      <p:bldP spid="6" grpId="0"/>
      <p:bldP spid="207930" grpId="0"/>
      <p:bldP spid="207934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diagram of a triangle&#10;&#10;AI-generated content may be incorrect.">
            <a:extLst>
              <a:ext uri="{FF2B5EF4-FFF2-40B4-BE49-F238E27FC236}">
                <a16:creationId xmlns:a16="http://schemas.microsoft.com/office/drawing/2014/main" id="{AA405872-609C-0A22-8E11-47079424D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144" y="1305396"/>
            <a:ext cx="4732228" cy="26487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960D8D-A29A-2BB9-6037-32791582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拓展</a:t>
            </a:r>
            <a:r>
              <a:rPr lang="zh-CN" altLang="en-US" dirty="0"/>
              <a:t>：</a:t>
            </a:r>
            <a:r>
              <a:rPr lang="en-CN" dirty="0"/>
              <a:t>核函数支持向量机</a:t>
            </a:r>
            <a:r>
              <a:rPr lang="zh-CN" altLang="en-US" dirty="0"/>
              <a:t>（</a:t>
            </a:r>
            <a:r>
              <a:rPr lang="en-US" altLang="zh-CN" dirty="0"/>
              <a:t>Kernel</a:t>
            </a:r>
            <a:r>
              <a:rPr lang="zh-CN" altLang="en-US" dirty="0"/>
              <a:t> </a:t>
            </a:r>
            <a:r>
              <a:rPr lang="en-US" altLang="zh-CN" dirty="0"/>
              <a:t>SVM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6E750-307E-AB8F-911C-9309F1549C8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想法：低维下线性不可分的问题，可以映射到更高维变成线性可分问题。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DDA35-79D5-C222-6BA4-EB0013805A08}"/>
              </a:ext>
            </a:extLst>
          </p:cNvPr>
          <p:cNvSpPr txBox="1"/>
          <p:nvPr/>
        </p:nvSpPr>
        <p:spPr>
          <a:xfrm>
            <a:off x="1322174" y="6418723"/>
            <a:ext cx="8785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https://</a:t>
            </a:r>
            <a:r>
              <a:rPr lang="en-US" sz="1600" dirty="0" err="1">
                <a:solidFill>
                  <a:schemeClr val="bg1"/>
                </a:solidFill>
              </a:rPr>
              <a:t>medium.com</a:t>
            </a:r>
            <a:r>
              <a:rPr lang="en-US" sz="1600" dirty="0">
                <a:solidFill>
                  <a:schemeClr val="bg1"/>
                </a:solidFill>
              </a:rPr>
              <a:t>/@abhishekjainindore24/svm-kernels-and-its-type-dfc3d5f2dcd8</a:t>
            </a:r>
            <a:endParaRPr lang="en-CN" sz="1600" dirty="0">
              <a:solidFill>
                <a:schemeClr val="bg1"/>
              </a:solidFill>
            </a:endParaRP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71B66093-6EB5-0887-2BD2-133CA5D46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85" y="4089422"/>
            <a:ext cx="5264402" cy="2216590"/>
          </a:xfrm>
          <a:prstGeom prst="rect">
            <a:avLst/>
          </a:prstGeom>
        </p:spPr>
      </p:pic>
      <p:pic>
        <p:nvPicPr>
          <p:cNvPr id="11" name="Picture 10" descr="A graph of a sphere with a pointy object&#10;&#10;AI-generated content may be incorrect.">
            <a:extLst>
              <a:ext uri="{FF2B5EF4-FFF2-40B4-BE49-F238E27FC236}">
                <a16:creationId xmlns:a16="http://schemas.microsoft.com/office/drawing/2014/main" id="{38669EC3-0D00-25CA-7A66-B57498978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798" y="3954129"/>
            <a:ext cx="5232921" cy="2050092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60AF719B-DB96-B811-CE89-FB767E1DA8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0"/>
          <a:stretch/>
        </p:blipFill>
        <p:spPr>
          <a:xfrm>
            <a:off x="789210" y="1501642"/>
            <a:ext cx="5264401" cy="225623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E09B4-29ED-0BB4-87F4-EBB41910C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30/36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271B27-9BC4-7503-40F0-F8FABFAB41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29" y="1421424"/>
            <a:ext cx="4672914" cy="46729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328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130E-07D1-F7E5-5095-3C1EC47B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6ED59BD-FA2F-EF6C-BFF2-91ACF319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内容小结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CE68F9-B4E3-E5B4-F121-57D296ED046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最小二乘法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CN" altLang="zh-CN" dirty="0"/>
              <a:t>线性判别分析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</a:t>
            </a:r>
            <a:endParaRPr lang="en-US" altLang="zh-CN" sz="2400" b="1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支持向量机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3323-E858-D586-32E3-71D3B29A31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31/36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8996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F2D9-8211-DFA9-7195-05164E3E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非作业思考题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/>
            <p:txBody>
              <a:bodyPr>
                <a:normAutofit/>
              </a:bodyPr>
              <a:lstStyle/>
              <a:p>
                <a:pPr marL="342900" lvl="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，采用线性模型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𝑤𝑥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来拟合这个数据集，并且选择误差函数为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  <m:sSub>
                                  <m:sSubPr>
                                    <m:ctrlP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。请求出使得误差函数取得最小值的参数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，并且说明这样参数是否是唯一存在的。</a:t>
                </a:r>
                <a:br>
                  <a:rPr lang="en-US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600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b="1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b="1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，采用线性模型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，并且选择误差函数为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600" b="1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00" b="1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1600" b="1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1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6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是事先取定的超参数。请求出使得误差函数取得最小值的参数 </a:t>
                </a:r>
                <a14:m>
                  <m:oMath xmlns:m="http://schemas.openxmlformats.org/officeDocument/2006/math">
                    <m:r>
                      <a:rPr lang="en-US" altLang="zh-CN" sz="1600" b="1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，并且说明这样参数是否是唯一存在的，以及讨论参数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1600" kern="1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  <a:t>的作用。</a:t>
                </a:r>
                <a:br>
                  <a:rPr lang="en-US" altLang="zh-CN" sz="1600" kern="100" dirty="0">
                    <a:effectLst/>
                    <a:latin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600" kern="100" dirty="0">
                  <a:effectLst/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，设样本均值向量为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−2,1</m:t>
                        </m: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=(2,−1)</m:t>
                    </m:r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，样本协方差矩阵为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𝚺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6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16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zh-CN" sz="1600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，请按照线性判别分析（</a:t>
                </a:r>
                <a: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LDA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）的步骤计算出二维向量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，并尝试给出几何解释。</a:t>
                </a:r>
                <a:b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6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3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1,0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,−1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3,3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,+1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0,4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,−1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3,−2</m:t>
                                </m:r>
                              </m:e>
                            </m:d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,+1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，请根据支持向量机的几何解释直接给出分类边界直线，并简单说明理由。</a:t>
                </a:r>
                <a:endParaRPr lang="en-US" altLang="zh-CN" sz="16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 algn="l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endParaRPr lang="zh-CN" altLang="zh-CN" sz="16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054880A-54A3-41A7-EB67-8849B0837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4"/>
                <a:stretch>
                  <a:fillRect t="-2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D5973-E736-765A-CC53-5663226D9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32/36</a:t>
            </a:r>
          </a:p>
        </p:txBody>
      </p:sp>
    </p:spTree>
    <p:extLst>
      <p:ext uri="{BB962C8B-B14F-4D97-AF65-F5344CB8AC3E}">
        <p14:creationId xmlns:p14="http://schemas.microsoft.com/office/powerpoint/2010/main" val="3531258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6723-8396-A86C-5F67-DDCBB72D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AABC-C3AF-7A94-3BEC-32A0C287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非作业思考题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2CBE88-5B78-CCBC-2477-70E94FB7182E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381242" y="927100"/>
                <a:ext cx="11429758" cy="5390900"/>
              </a:xfrm>
            </p:spPr>
            <p:txBody>
              <a:bodyPr>
                <a:normAutofit/>
              </a:bodyPr>
              <a:lstStyle/>
              <a:p>
                <a:pPr marL="342900" lvl="0" indent="-342900">
                  <a:lnSpc>
                    <a:spcPct val="115000"/>
                  </a:lnSpc>
                  <a:buFont typeface="+mj-lt"/>
                  <a:buAutoNum type="arabicPeriod" startAt="5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给定数据集合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，采用逻辑回归模型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进行分类任务，其中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Sigmoid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函数。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的反函数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与导函数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;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注意到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的值域为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，因此通常把逻辑回归模型的输入解释成后验概率估计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=1|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，即给定样本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后其类别为</a:t>
                </a:r>
                <a:r>
                  <a:rPr lang="en-US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1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的概率。请验证关系式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=1|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=0|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假设样本之间都是独立的，那么模型将会认为观察到这组数据的联合概率为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16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Π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bSup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，我们希望选择合适的参数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使得这个概率尽可能大，因此定义“对数似然函数”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d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  <m:e>
                        <m:func>
                          <m:funcPr>
                            <m:ctrlPr>
                              <a:rPr lang="en-US" altLang="zh-CN" sz="16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1600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1600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6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。请将其整理为关于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的具体表达式，并讨论“取对数”的作用；</a:t>
                </a:r>
                <a:endParaRPr lang="zh-CN" altLang="zh-CN" sz="16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lphaLcParenR"/>
                </a:pP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计算 </a:t>
                </a:r>
                <a14:m>
                  <m:oMath xmlns:m="http://schemas.openxmlformats.org/officeDocument/2006/math"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altLang="zh-CN" sz="1600" kern="100" dirty="0"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600" kern="1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的一阶导数，并结合梯度下降法的过程，尝试给出表达式的几何直观解释。</a:t>
                </a:r>
                <a:endParaRPr lang="en-CN" altLang="zh-CN" sz="1600" dirty="0"/>
              </a:p>
              <a:p>
                <a:pPr marL="34290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endParaRPr lang="zh-CN" altLang="zh-CN" sz="1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+mj-lt"/>
                  <a:buAutoNum type="arabicPeriod" startAt="4"/>
                </a:pPr>
                <a:endParaRPr lang="en-US" altLang="zh-CN" sz="1600" kern="1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2CBE88-5B78-CCBC-2477-70E94FB71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381242" y="927100"/>
                <a:ext cx="11429758" cy="5390900"/>
              </a:xfrm>
              <a:blipFill>
                <a:blip r:embed="rId4"/>
                <a:stretch>
                  <a:fillRect r="-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05162-D39B-3822-2AB6-D8CAB6516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33/36</a:t>
            </a:r>
          </a:p>
        </p:txBody>
      </p:sp>
    </p:spTree>
    <p:extLst>
      <p:ext uri="{BB962C8B-B14F-4D97-AF65-F5344CB8AC3E}">
        <p14:creationId xmlns:p14="http://schemas.microsoft.com/office/powerpoint/2010/main" val="3680401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28C6-61AC-A696-7205-63048480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6717C30-E0BC-9F8A-FCBE-09827649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上机练习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386681-6E78-7BD0-D734-17BDBDD0D9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CN" altLang="zh-CN" dirty="0"/>
              <a:t>线性判别分析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支持向量机与核函数</a:t>
            </a:r>
            <a:endParaRPr lang="en-US" altLang="zh-CN" sz="24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9584-D5D6-CF25-567A-4765CE3FB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34/36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5944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2BE08-45B5-A173-6D53-7670D898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A6FA88-7EBB-4A70-928E-1AA7F638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监督学习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A8FA2-F41E-217E-F26A-E1C3E7D7185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446E59-2C43-1FED-F88D-BC7099C56E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36/36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3B12225-74D4-17C5-40BA-737BA7264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972532"/>
              </p:ext>
            </p:extLst>
          </p:nvPr>
        </p:nvGraphicFramePr>
        <p:xfrm>
          <a:off x="333632" y="927100"/>
          <a:ext cx="11609172" cy="5334001"/>
        </p:xfrm>
        <a:graphic>
          <a:graphicData uri="http://schemas.openxmlformats.org/drawingml/2006/table">
            <a:tbl>
              <a:tblPr/>
              <a:tblGrid>
                <a:gridCol w="1284145">
                  <a:extLst>
                    <a:ext uri="{9D8B030D-6E8A-4147-A177-3AD203B41FA5}">
                      <a16:colId xmlns:a16="http://schemas.microsoft.com/office/drawing/2014/main" val="1886781907"/>
                    </a:ext>
                  </a:extLst>
                </a:gridCol>
                <a:gridCol w="2557918">
                  <a:extLst>
                    <a:ext uri="{9D8B030D-6E8A-4147-A177-3AD203B41FA5}">
                      <a16:colId xmlns:a16="http://schemas.microsoft.com/office/drawing/2014/main" val="1055528941"/>
                    </a:ext>
                  </a:extLst>
                </a:gridCol>
                <a:gridCol w="3454602">
                  <a:extLst>
                    <a:ext uri="{9D8B030D-6E8A-4147-A177-3AD203B41FA5}">
                      <a16:colId xmlns:a16="http://schemas.microsoft.com/office/drawing/2014/main" val="2479328374"/>
                    </a:ext>
                  </a:extLst>
                </a:gridCol>
                <a:gridCol w="1969849">
                  <a:extLst>
                    <a:ext uri="{9D8B030D-6E8A-4147-A177-3AD203B41FA5}">
                      <a16:colId xmlns:a16="http://schemas.microsoft.com/office/drawing/2014/main" val="1349513873"/>
                    </a:ext>
                  </a:extLst>
                </a:gridCol>
                <a:gridCol w="2342658">
                  <a:extLst>
                    <a:ext uri="{9D8B030D-6E8A-4147-A177-3AD203B41FA5}">
                      <a16:colId xmlns:a16="http://schemas.microsoft.com/office/drawing/2014/main" val="2876101137"/>
                    </a:ext>
                  </a:extLst>
                </a:gridCol>
              </a:tblGrid>
              <a:tr h="35806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算法名称</a:t>
                      </a:r>
                    </a:p>
                  </a:txBody>
                  <a:tcPr marL="52486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任务类型与模型特性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核心思想与适用场景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优点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1" dirty="0">
                          <a:effectLst/>
                          <a:latin typeface="quote-cjk-patch"/>
                        </a:rPr>
                        <a:t>缺点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46381"/>
                  </a:ext>
                </a:extLst>
              </a:tr>
              <a:tr h="91208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最小二乘法</a:t>
                      </a:r>
                      <a:endParaRPr lang="zh-CN" altLang="en-US" sz="1400" b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52486" marR="58317" marT="36448" marB="364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回归</a:t>
                      </a:r>
                      <a:b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</a:b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参数模型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线性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全局拟合</a:t>
                      </a:r>
                    </a:p>
                  </a:txBody>
                  <a:tcPr marL="58317" marR="58317" marT="36448" marB="36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最小化预测值与真实值的平方误差，适用于特征与目标呈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线性关系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的连续值预测。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简单、可解释强、计算快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对异常值敏感、要求线性假设</a:t>
                      </a:r>
                    </a:p>
                  </a:txBody>
                  <a:tcPr marL="58317" marR="52486" marT="36448" marB="3644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1979"/>
                  </a:ext>
                </a:extLst>
              </a:tr>
              <a:tr h="105058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逻辑回归模型</a:t>
                      </a:r>
                      <a:endParaRPr lang="zh-CN" altLang="en-US" sz="1400" b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52486" marR="58317" marT="36448" marB="364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分类</a:t>
                      </a:r>
                      <a:b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</a:b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参数模型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线性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概率输出</a:t>
                      </a:r>
                    </a:p>
                  </a:txBody>
                  <a:tcPr marL="58317" marR="58317" marT="36448" marB="36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通过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Sigmoid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函数将线性组合映射为概率，适用于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二分类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问题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，特征与对数几率呈线性关系。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输出概率、可解释、高效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无法直接处理复杂非线性模式</a:t>
                      </a:r>
                    </a:p>
                  </a:txBody>
                  <a:tcPr marL="58317" marR="52486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140424"/>
                  </a:ext>
                </a:extLst>
              </a:tr>
              <a:tr h="91208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线性判别分析</a:t>
                      </a:r>
                      <a:endParaRPr lang="zh-CN" altLang="en-US" sz="1400" b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52486" marR="58317" marT="36448" marB="364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分类</a:t>
                      </a:r>
                      <a:b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</a:b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参数模型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线性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生成式</a:t>
                      </a:r>
                    </a:p>
                  </a:txBody>
                  <a:tcPr marL="58317" marR="58317" marT="36448" marB="36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假设各类数据服从相同协方差的正态分布，通过最大化类间差异进行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投影与分类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。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可自然处理多分类、具降维能力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正态性假设较强、对非线性数据效果有限</a:t>
                      </a:r>
                    </a:p>
                  </a:txBody>
                  <a:tcPr marL="58317" marR="52486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731679"/>
                  </a:ext>
                </a:extLst>
              </a:tr>
              <a:tr h="105058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决策树</a:t>
                      </a:r>
                      <a:endParaRPr lang="zh-CN" altLang="en-US" sz="1400" b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52486" marR="58317" marT="36448" marB="364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分类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回归</a:t>
                      </a:r>
                      <a:b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</a:b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非参数模型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非线性 </a:t>
                      </a:r>
                      <a: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· 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树形结构</a:t>
                      </a:r>
                    </a:p>
                  </a:txBody>
                  <a:tcPr marL="58317" marR="58317" marT="36448" marB="36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递归地选择特征进行划分，以最大化“纯度”或最小化误差，适用于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需要直观解释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的非线性问题。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直观、无需特征缩放、能处理非线性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易过拟合、对训练数据敏感</a:t>
                      </a:r>
                    </a:p>
                  </a:txBody>
                  <a:tcPr marL="58317" marR="52486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378073"/>
                  </a:ext>
                </a:extLst>
              </a:tr>
              <a:tr h="105058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支持向量机</a:t>
                      </a:r>
                      <a:endParaRPr lang="zh-CN" altLang="en-US" sz="1400" b="0" dirty="0">
                        <a:solidFill>
                          <a:schemeClr val="tx2"/>
                        </a:solidFill>
                        <a:effectLst/>
                        <a:latin typeface="quote-cjk-patch"/>
                      </a:endParaRPr>
                    </a:p>
                  </a:txBody>
                  <a:tcPr marL="52486" marR="58317" marT="36448" marB="364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分类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回归</a:t>
                      </a:r>
                      <a:b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</a:b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本质为线性模型，</a:t>
                      </a:r>
                      <a:br>
                        <a:rPr lang="en-US" altLang="zh-CN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</a:b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通过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核技巧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处理非线性</a:t>
                      </a:r>
                    </a:p>
                  </a:txBody>
                  <a:tcPr marL="58317" marR="58317" marT="36448" marB="36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寻找使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间隔最大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的超平面，通过核函数隐式映射到高维空间以处理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非线性可分</a:t>
                      </a: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数据。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泛化能力强、适合小样本高维数据、核技巧灵活</a:t>
                      </a:r>
                    </a:p>
                  </a:txBody>
                  <a:tcPr marL="58317" marR="58317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chemeClr val="tx2"/>
                          </a:solidFill>
                          <a:effectLst/>
                          <a:latin typeface="quote-cjk-patch"/>
                        </a:rPr>
                        <a:t>大规模数据训练慢、核函数与参数选择需技巧</a:t>
                      </a:r>
                    </a:p>
                  </a:txBody>
                  <a:tcPr marL="58317" marR="52486" marT="36448" marB="36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07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9251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7.7|33.5|12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2|19.5|3.9|17|1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3.4|17.6|91.8|7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1.7|5.2|19.4|8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54.7|15.3|5.4|54.3|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1.7|21.8|38.6|22.8|3.4|2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11.7|5.7|8|11.2|5.1|8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|17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0.8|6.7|13.4|7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27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9.4|39.8|32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31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10.2|16.4|2.8|39.4|17.6|23.7|3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27.1|29.7|2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11.7|20.6|15.8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19988</TotalTime>
  <Words>3661</Words>
  <Application>Microsoft Office PowerPoint</Application>
  <PresentationFormat>宽屏</PresentationFormat>
  <Paragraphs>361</Paragraphs>
  <Slides>35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quote-cjk-patch</vt:lpstr>
      <vt:lpstr>等线</vt:lpstr>
      <vt:lpstr>Microsoft YaHei</vt:lpstr>
      <vt:lpstr>Microsoft YaHei</vt:lpstr>
      <vt:lpstr>Arial</vt:lpstr>
      <vt:lpstr>Book Antiqua</vt:lpstr>
      <vt:lpstr>Calibri</vt:lpstr>
      <vt:lpstr>Cambria Math</vt:lpstr>
      <vt:lpstr>Times New Roman</vt:lpstr>
      <vt:lpstr>Wingdings</vt:lpstr>
      <vt:lpstr>1_自定义设计方案</vt:lpstr>
      <vt:lpstr>传统机器学习 – 监督学习</vt:lpstr>
      <vt:lpstr>目录</vt:lpstr>
      <vt:lpstr>目录</vt:lpstr>
      <vt:lpstr>机器学习可以做什么？</vt:lpstr>
      <vt:lpstr>监督学习</vt:lpstr>
      <vt:lpstr>目录</vt:lpstr>
      <vt:lpstr>回归问题：最小二乘法</vt:lpstr>
      <vt:lpstr>回归问题：最小二乘法</vt:lpstr>
      <vt:lpstr>回归问题：最小二乘法</vt:lpstr>
      <vt:lpstr>示例：最小二乘法手算练习</vt:lpstr>
      <vt:lpstr>示例：最小二乘法结果</vt:lpstr>
      <vt:lpstr>分类问题：二分类问题</vt:lpstr>
      <vt:lpstr>逻辑回归（Logistic Regression，LR）</vt:lpstr>
      <vt:lpstr>线性判别分析（Linear Discriminant Analysis，LDA）</vt:lpstr>
      <vt:lpstr>示例：LDA 投影后的均值与方差计算</vt:lpstr>
      <vt:lpstr>示例：LDA 投影计算求解</vt:lpstr>
      <vt:lpstr>示例：LDA 投影可视化</vt:lpstr>
      <vt:lpstr>多分类学习</vt:lpstr>
      <vt:lpstr>目录</vt:lpstr>
      <vt:lpstr>决策树的基本流程</vt:lpstr>
      <vt:lpstr>决策树的基本流程</vt:lpstr>
      <vt:lpstr>剪枝处理</vt:lpstr>
      <vt:lpstr>多变量决策树</vt:lpstr>
      <vt:lpstr>目录</vt:lpstr>
      <vt:lpstr>分类问题：二分类问题</vt:lpstr>
      <vt:lpstr>点到平面的距离</vt:lpstr>
      <vt:lpstr>分类间隔与支持向量（Support Vector）</vt:lpstr>
      <vt:lpstr>硬间隔与软间隔</vt:lpstr>
      <vt:lpstr>拓展：核函数支持向量机（Kernel SVM）</vt:lpstr>
      <vt:lpstr>内容小结</vt:lpstr>
      <vt:lpstr>非作业思考题</vt:lpstr>
      <vt:lpstr>非作业思考题</vt:lpstr>
      <vt:lpstr>上机练习</vt:lpstr>
      <vt:lpstr>PowerPoint 演示文稿</vt:lpstr>
      <vt:lpstr>监督学习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645</cp:revision>
  <dcterms:created xsi:type="dcterms:W3CDTF">2020-06-05T07:59:00Z</dcterms:created>
  <dcterms:modified xsi:type="dcterms:W3CDTF">2026-08-05T13:12:49Z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