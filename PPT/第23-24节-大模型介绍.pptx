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9" r:id="rId3"/>
    <p:sldMasterId id="2147483685" r:id="rId4"/>
  </p:sldMasterIdLst>
  <p:notesMasterIdLst>
    <p:notesMasterId r:id="rId101"/>
  </p:notesMasterIdLst>
  <p:sldIdLst>
    <p:sldId id="10409" r:id="rId5"/>
    <p:sldId id="10354" r:id="rId6"/>
    <p:sldId id="10817" r:id="rId7"/>
    <p:sldId id="10361" r:id="rId8"/>
    <p:sldId id="10364" r:id="rId9"/>
    <p:sldId id="10362" r:id="rId10"/>
    <p:sldId id="10824" r:id="rId11"/>
    <p:sldId id="10821" r:id="rId12"/>
    <p:sldId id="10392" r:id="rId13"/>
    <p:sldId id="10374" r:id="rId14"/>
    <p:sldId id="10395" r:id="rId15"/>
    <p:sldId id="10375" r:id="rId16"/>
    <p:sldId id="10377" r:id="rId17"/>
    <p:sldId id="10376" r:id="rId18"/>
    <p:sldId id="10378" r:id="rId19"/>
    <p:sldId id="10396" r:id="rId20"/>
    <p:sldId id="10379" r:id="rId21"/>
    <p:sldId id="10380" r:id="rId22"/>
    <p:sldId id="10407" r:id="rId23"/>
    <p:sldId id="10381" r:id="rId24"/>
    <p:sldId id="10754" r:id="rId25"/>
    <p:sldId id="10382" r:id="rId26"/>
    <p:sldId id="10387" r:id="rId27"/>
    <p:sldId id="10413" r:id="rId28"/>
    <p:sldId id="10414" r:id="rId29"/>
    <p:sldId id="10383" r:id="rId30"/>
    <p:sldId id="10384" r:id="rId31"/>
    <p:sldId id="10385" r:id="rId32"/>
    <p:sldId id="10388" r:id="rId33"/>
    <p:sldId id="10822" r:id="rId34"/>
    <p:sldId id="10823" r:id="rId35"/>
    <p:sldId id="259" r:id="rId36"/>
    <p:sldId id="260" r:id="rId37"/>
    <p:sldId id="10818" r:id="rId38"/>
    <p:sldId id="10465" r:id="rId39"/>
    <p:sldId id="10393" r:id="rId40"/>
    <p:sldId id="10394" r:id="rId41"/>
    <p:sldId id="10815" r:id="rId42"/>
    <p:sldId id="10542" r:id="rId43"/>
    <p:sldId id="10372" r:id="rId44"/>
    <p:sldId id="10369" r:id="rId45"/>
    <p:sldId id="10370" r:id="rId46"/>
    <p:sldId id="1553" r:id="rId47"/>
    <p:sldId id="10371" r:id="rId48"/>
    <p:sldId id="10373" r:id="rId49"/>
    <p:sldId id="10819" r:id="rId50"/>
    <p:sldId id="258" r:id="rId51"/>
    <p:sldId id="277" r:id="rId52"/>
    <p:sldId id="314" r:id="rId53"/>
    <p:sldId id="274" r:id="rId54"/>
    <p:sldId id="311" r:id="rId55"/>
    <p:sldId id="312" r:id="rId56"/>
    <p:sldId id="261" r:id="rId57"/>
    <p:sldId id="267" r:id="rId58"/>
    <p:sldId id="310" r:id="rId59"/>
    <p:sldId id="320" r:id="rId60"/>
    <p:sldId id="262" r:id="rId61"/>
    <p:sldId id="10707" r:id="rId62"/>
    <p:sldId id="10820" r:id="rId63"/>
    <p:sldId id="10648" r:id="rId64"/>
    <p:sldId id="10649" r:id="rId65"/>
    <p:sldId id="10645" r:id="rId66"/>
    <p:sldId id="10651" r:id="rId67"/>
    <p:sldId id="10652" r:id="rId68"/>
    <p:sldId id="10646" r:id="rId69"/>
    <p:sldId id="10339" r:id="rId70"/>
    <p:sldId id="10743" r:id="rId71"/>
    <p:sldId id="10744" r:id="rId72"/>
    <p:sldId id="10745" r:id="rId73"/>
    <p:sldId id="10746" r:id="rId74"/>
    <p:sldId id="10747" r:id="rId75"/>
    <p:sldId id="10748" r:id="rId76"/>
    <p:sldId id="10676" r:id="rId77"/>
    <p:sldId id="10677" r:id="rId78"/>
    <p:sldId id="10749" r:id="rId79"/>
    <p:sldId id="10750" r:id="rId80"/>
    <p:sldId id="10751" r:id="rId81"/>
    <p:sldId id="10752" r:id="rId82"/>
    <p:sldId id="10753" r:id="rId83"/>
    <p:sldId id="10514" r:id="rId84"/>
    <p:sldId id="10515" r:id="rId85"/>
    <p:sldId id="10524" r:id="rId86"/>
    <p:sldId id="10703" r:id="rId87"/>
    <p:sldId id="10704" r:id="rId88"/>
    <p:sldId id="10705" r:id="rId89"/>
    <p:sldId id="10706" r:id="rId90"/>
    <p:sldId id="10742" r:id="rId91"/>
    <p:sldId id="10737" r:id="rId92"/>
    <p:sldId id="10738" r:id="rId93"/>
    <p:sldId id="10722" r:id="rId94"/>
    <p:sldId id="10532" r:id="rId95"/>
    <p:sldId id="10534" r:id="rId96"/>
    <p:sldId id="10544" r:id="rId97"/>
    <p:sldId id="10702" r:id="rId98"/>
    <p:sldId id="10816" r:id="rId99"/>
    <p:sldId id="10700" r:id="rId10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与目录" id="{E16E27CC-1BBC-AC4E-922C-7D48AA8F4D76}">
          <p14:sldIdLst>
            <p14:sldId id="10409"/>
            <p14:sldId id="10354"/>
            <p14:sldId id="10817"/>
            <p14:sldId id="10361"/>
            <p14:sldId id="10364"/>
            <p14:sldId id="10362"/>
            <p14:sldId id="10824"/>
            <p14:sldId id="10821"/>
            <p14:sldId id="10392"/>
            <p14:sldId id="10374"/>
            <p14:sldId id="10395"/>
            <p14:sldId id="10375"/>
            <p14:sldId id="10377"/>
            <p14:sldId id="10376"/>
            <p14:sldId id="10378"/>
            <p14:sldId id="10396"/>
            <p14:sldId id="10379"/>
            <p14:sldId id="10380"/>
            <p14:sldId id="10407"/>
            <p14:sldId id="10381"/>
            <p14:sldId id="10754"/>
            <p14:sldId id="10382"/>
            <p14:sldId id="10387"/>
            <p14:sldId id="10413"/>
            <p14:sldId id="10414"/>
            <p14:sldId id="10383"/>
            <p14:sldId id="10384"/>
            <p14:sldId id="10385"/>
            <p14:sldId id="10388"/>
            <p14:sldId id="10822"/>
            <p14:sldId id="10823"/>
            <p14:sldId id="259"/>
            <p14:sldId id="260"/>
            <p14:sldId id="10818"/>
            <p14:sldId id="10465"/>
            <p14:sldId id="10393"/>
            <p14:sldId id="10394"/>
            <p14:sldId id="10815"/>
            <p14:sldId id="10542"/>
            <p14:sldId id="10372"/>
            <p14:sldId id="10369"/>
            <p14:sldId id="10370"/>
            <p14:sldId id="1553"/>
            <p14:sldId id="10371"/>
            <p14:sldId id="10373"/>
            <p14:sldId id="10819"/>
            <p14:sldId id="258"/>
            <p14:sldId id="277"/>
            <p14:sldId id="314"/>
            <p14:sldId id="274"/>
            <p14:sldId id="311"/>
            <p14:sldId id="312"/>
            <p14:sldId id="261"/>
            <p14:sldId id="267"/>
            <p14:sldId id="310"/>
            <p14:sldId id="320"/>
            <p14:sldId id="262"/>
            <p14:sldId id="10707"/>
            <p14:sldId id="10820"/>
            <p14:sldId id="10648"/>
            <p14:sldId id="10649"/>
            <p14:sldId id="10645"/>
            <p14:sldId id="10651"/>
            <p14:sldId id="10652"/>
            <p14:sldId id="10646"/>
            <p14:sldId id="10339"/>
            <p14:sldId id="10743"/>
            <p14:sldId id="10744"/>
            <p14:sldId id="10745"/>
            <p14:sldId id="10746"/>
            <p14:sldId id="10747"/>
            <p14:sldId id="10748"/>
            <p14:sldId id="10676"/>
            <p14:sldId id="10677"/>
            <p14:sldId id="10749"/>
            <p14:sldId id="10750"/>
            <p14:sldId id="10751"/>
            <p14:sldId id="10752"/>
            <p14:sldId id="10753"/>
            <p14:sldId id="10514"/>
            <p14:sldId id="10515"/>
            <p14:sldId id="10524"/>
            <p14:sldId id="10703"/>
            <p14:sldId id="10704"/>
            <p14:sldId id="10705"/>
            <p14:sldId id="10706"/>
            <p14:sldId id="10742"/>
            <p14:sldId id="10737"/>
            <p14:sldId id="10738"/>
            <p14:sldId id="10722"/>
            <p14:sldId id="10532"/>
            <p14:sldId id="10534"/>
            <p14:sldId id="10544"/>
            <p14:sldId id="10702"/>
            <p14:sldId id="10816"/>
            <p14:sldId id="10700"/>
          </p14:sldIdLst>
        </p14:section>
        <p14:section name="第二节" id="{3878EE42-64CB-7341-ACAD-31EAB31AC43E}">
          <p14:sldIdLst/>
        </p14:section>
        <p14:section name="总结" id="{BEF27FA2-F71C-194E-BD4E-FCE88338B7C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516"/>
    <a:srgbClr val="A6A6A6"/>
    <a:srgbClr val="000000"/>
    <a:srgbClr val="EE7D2F"/>
    <a:srgbClr val="5B9CD5"/>
    <a:srgbClr val="1D41D5"/>
    <a:srgbClr val="070707"/>
    <a:srgbClr val="002B7F"/>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96338" autoAdjust="0"/>
  </p:normalViewPr>
  <p:slideViewPr>
    <p:cSldViewPr snapToGrid="0">
      <p:cViewPr varScale="1">
        <p:scale>
          <a:sx n="81" d="100"/>
          <a:sy n="81" d="100"/>
        </p:scale>
        <p:origin x="609" y="45"/>
      </p:cViewPr>
      <p:guideLst/>
    </p:cSldViewPr>
  </p:slideViewPr>
  <p:notesTextViewPr>
    <p:cViewPr>
      <p:scale>
        <a:sx n="3" d="2"/>
        <a:sy n="3" d="2"/>
      </p:scale>
      <p:origin x="0" y="0"/>
    </p:cViewPr>
  </p:notesTextViewPr>
  <p:sorterViewPr>
    <p:cViewPr varScale="1">
      <p:scale>
        <a:sx n="50" d="100"/>
        <a:sy n="50" d="100"/>
      </p:scale>
      <p:origin x="0" y="-791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commentAuthors" Target="commentAuthor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2026/8/9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44</a:t>
            </a:fld>
            <a:endParaRPr lang="zh-CN" altLang="en-US"/>
          </a:p>
        </p:txBody>
      </p:sp>
    </p:spTree>
    <p:extLst>
      <p:ext uri="{BB962C8B-B14F-4D97-AF65-F5344CB8AC3E}">
        <p14:creationId xmlns:p14="http://schemas.microsoft.com/office/powerpoint/2010/main" val="2696891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00472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3127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9B6C-C719-6FD0-97F9-3188BCEF07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FFAF22-CD30-CD2D-F9E9-A9C3545951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0AE2CD-92D2-CB4E-E60C-102F8C816C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7F6C29-46CB-7FD2-6837-C12B35B0C6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34303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22835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564357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3F96-E0CA-5AE8-3157-462A52C576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4A00F1-9F3B-F504-E9E5-1427535DC0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DDED69-5939-F7D7-8A64-3678DD23AB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A7C000-B71C-EA43-3C2B-8418E5E834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069449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8EA8E-E254-2A3D-4065-70B313D8C1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BDBFB1-EF13-01B6-6BE7-691016EFA2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240166-218F-633A-D4D5-5BC632C9AFD6}"/>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FF7CF83B-9BAF-BC26-4D60-E073DF9D4E0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D19160C-948E-45C5-BCA7-2A0179836EA9}" type="slidenum">
              <a:rPr kumimoji="0" lang="en-US" altLang="zh-CN" sz="12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 name="页脚占位符 4">
            <a:extLst>
              <a:ext uri="{FF2B5EF4-FFF2-40B4-BE49-F238E27FC236}">
                <a16:creationId xmlns:a16="http://schemas.microsoft.com/office/drawing/2014/main" id="{5DC7F1BB-65BF-36D2-A18A-60193BDBD3AA}"/>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1778570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B8516-866A-A310-D9F4-5498BA51B4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E70DA0-A788-3D96-841B-1520F30A2D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5C3610-BA54-8C64-66F6-F5DF755EB65B}"/>
              </a:ext>
            </a:extLst>
          </p:cNvPr>
          <p:cNvSpPr>
            <a:spLocks noGrp="1"/>
          </p:cNvSpPr>
          <p:nvPr>
            <p:ph type="body" idx="1"/>
          </p:nvPr>
        </p:nvSpPr>
        <p:spPr/>
        <p:txBody>
          <a:bodyPr/>
          <a:lstStyle/>
          <a:p>
            <a:endParaRPr lang="en-US" dirty="0"/>
          </a:p>
        </p:txBody>
      </p:sp>
      <p:sp>
        <p:nvSpPr>
          <p:cNvPr id="4" name="灯片编号占位符 3">
            <a:extLst>
              <a:ext uri="{FF2B5EF4-FFF2-40B4-BE49-F238E27FC236}">
                <a16:creationId xmlns:a16="http://schemas.microsoft.com/office/drawing/2014/main" id="{8821E650-8BEF-FF3B-7F5F-DDCDB895324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D19160C-948E-45C5-BCA7-2A0179836EA9}" type="slidenum">
              <a:rPr kumimoji="0" lang="en-US" altLang="zh-CN" sz="12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 name="页脚占位符 4">
            <a:extLst>
              <a:ext uri="{FF2B5EF4-FFF2-40B4-BE49-F238E27FC236}">
                <a16:creationId xmlns:a16="http://schemas.microsoft.com/office/drawing/2014/main" id="{AFDEFAE9-715B-EC1B-42B3-40953E745CB7}"/>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1270727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48DA-555A-3510-D7CA-FA0518A9FB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BCD791-8F69-54FB-0CDA-A4412E86FE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6E85B9-DEFC-9B24-CD2B-7755375619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284FDE6-D877-B348-3647-ACCC6B55C8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页脚占位符 4">
            <a:extLst>
              <a:ext uri="{FF2B5EF4-FFF2-40B4-BE49-F238E27FC236}">
                <a16:creationId xmlns:a16="http://schemas.microsoft.com/office/drawing/2014/main" id="{3F8914DF-94B0-402E-AAC6-E1977E10F811}"/>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1864944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F7C4-EA34-79CD-968B-5EB7DBF0A6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997ABE-8260-DE82-FECA-893B94F647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267D1E-74FB-919D-B756-F4EED242A41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9F0A782-4899-DE76-AF8A-ABDD24C673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页脚占位符 4">
            <a:extLst>
              <a:ext uri="{FF2B5EF4-FFF2-40B4-BE49-F238E27FC236}">
                <a16:creationId xmlns:a16="http://schemas.microsoft.com/office/drawing/2014/main" id="{FBF26B74-7162-B062-71AA-50DF0EB6D777}"/>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1270638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EF66B-5B3D-EB7A-9ADB-5E5AA4F247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5D4C98-7647-6D30-F86E-99C449AE63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B21A1C-B2B4-62D3-5808-B076197247F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8166607-66AD-1DC1-5069-701BA9F4A0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页脚占位符 4">
            <a:extLst>
              <a:ext uri="{FF2B5EF4-FFF2-40B4-BE49-F238E27FC236}">
                <a16:creationId xmlns:a16="http://schemas.microsoft.com/office/drawing/2014/main" id="{853B7F7C-07A3-0C06-8C78-246823AFF626}"/>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1383144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AA04-0CCE-03DC-2CCE-44D1B771AC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36B31-1410-FC1B-D57C-B352161A6F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029CFE-C6D6-E87E-1BBE-387A848B925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9B30A4-9165-DE79-1F22-66E8403350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页脚占位符 4">
            <a:extLst>
              <a:ext uri="{FF2B5EF4-FFF2-40B4-BE49-F238E27FC236}">
                <a16:creationId xmlns:a16="http://schemas.microsoft.com/office/drawing/2014/main" id="{959C60AF-5345-6AD4-A63E-D4ECA8D1CE51}"/>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353507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A7B4-B1BF-3931-332B-FBC97755FA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AC887F-2800-49AF-FF90-B12564C8C5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80AA47-4AA5-6682-F760-CB60F2E8841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308471A-3D34-F102-138A-8264182FF1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0D5545-95D4-489F-B8ED-7EAFA774B5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页脚占位符 4">
            <a:extLst>
              <a:ext uri="{FF2B5EF4-FFF2-40B4-BE49-F238E27FC236}">
                <a16:creationId xmlns:a16="http://schemas.microsoft.com/office/drawing/2014/main" id="{92D066A7-65C1-056A-3A8A-68AB94CE0D7C}"/>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8538020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6.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 Id="rId4"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19655"/>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334118" y="3717192"/>
            <a:ext cx="11523764"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2898913" y="5387513"/>
            <a:ext cx="63941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236843" y="6229835"/>
            <a:ext cx="5718314" cy="457188"/>
          </a:xfrm>
          <a:prstGeom prst="rect">
            <a:avLst/>
          </a:prstGeom>
        </p:spPr>
        <p:txBody>
          <a:bodyPr/>
          <a:lstStyle>
            <a:lvl1pPr algn="ctr">
              <a:defRPr sz="2400">
                <a:solidFill>
                  <a:schemeClr val="bg1"/>
                </a:solidFill>
              </a:defRPr>
            </a:lvl1pPr>
          </a:lstStyle>
          <a:p>
            <a:endParaRPr lang="zh-CN" altLang="en-US" dirty="0"/>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r>
              <a:rPr lang="en-US" altLang="zh-CN" dirty="0"/>
              <a:t>/xx</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r>
              <a:rPr lang="en-US" altLang="zh-CN" dirty="0"/>
              <a:t>/xx</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437E-93F6-1045-30BB-E70861E9E254}"/>
              </a:ext>
            </a:extLst>
          </p:cNvPr>
          <p:cNvSpPr>
            <a:spLocks noGrp="1"/>
          </p:cNvSpPr>
          <p:nvPr>
            <p:ph type="title" hasCustomPrompt="1"/>
          </p:nvPr>
        </p:nvSpPr>
        <p:spPr/>
        <p:txBody>
          <a:bodyPr/>
          <a:lstStyle/>
          <a:p>
            <a:r>
              <a:rPr lang="en-US" dirty="0" err="1"/>
              <a:t>页面标题</a:t>
            </a:r>
            <a:endParaRPr lang="en-CN" dirty="0"/>
          </a:p>
        </p:txBody>
      </p:sp>
      <p:sp>
        <p:nvSpPr>
          <p:cNvPr id="3" name="Footer Placeholder 2">
            <a:extLst>
              <a:ext uri="{FF2B5EF4-FFF2-40B4-BE49-F238E27FC236}">
                <a16:creationId xmlns:a16="http://schemas.microsoft.com/office/drawing/2014/main" id="{F643F575-2B35-BD81-72E3-40F667AEDDCD}"/>
              </a:ext>
            </a:extLst>
          </p:cNvPr>
          <p:cNvSpPr>
            <a:spLocks noGrp="1"/>
          </p:cNvSpPr>
          <p:nvPr>
            <p:ph type="ftr" sz="quarter" idx="10"/>
          </p:nvPr>
        </p:nvSpPr>
        <p:spPr/>
        <p:txBody>
          <a:bodyPr/>
          <a:lstStyle/>
          <a:p>
            <a:endParaRPr lang="zh-CN" altLang="en-US"/>
          </a:p>
        </p:txBody>
      </p:sp>
      <p:sp>
        <p:nvSpPr>
          <p:cNvPr id="4" name="Slide Number Placeholder 3">
            <a:extLst>
              <a:ext uri="{FF2B5EF4-FFF2-40B4-BE49-F238E27FC236}">
                <a16:creationId xmlns:a16="http://schemas.microsoft.com/office/drawing/2014/main" id="{508C267D-6A4F-FA05-FC69-0D34F123D03C}"/>
              </a:ext>
            </a:extLst>
          </p:cNvPr>
          <p:cNvSpPr>
            <a:spLocks noGrp="1"/>
          </p:cNvSpPr>
          <p:nvPr>
            <p:ph type="sldNum" sz="quarter" idx="11"/>
          </p:nvPr>
        </p:nvSpPr>
        <p:spPr/>
        <p:txBody>
          <a:bodyPr/>
          <a:lstStyle/>
          <a:p>
            <a:fld id="{66E0AC87-F9B6-4F7A-AB3A-6863E2A5800B}" type="slidenum">
              <a:rPr lang="zh-CN" altLang="en-US" smtClean="0"/>
              <a:t>‹#›</a:t>
            </a:fld>
            <a:r>
              <a:rPr lang="en-US" altLang="zh-CN" dirty="0"/>
              <a:t>/xx</a:t>
            </a:r>
            <a:endParaRPr lang="zh-CN" altLang="en-US" dirty="0"/>
          </a:p>
        </p:txBody>
      </p:sp>
      <p:sp>
        <p:nvSpPr>
          <p:cNvPr id="6" name="Content Placeholder 5">
            <a:extLst>
              <a:ext uri="{FF2B5EF4-FFF2-40B4-BE49-F238E27FC236}">
                <a16:creationId xmlns:a16="http://schemas.microsoft.com/office/drawing/2014/main" id="{E7FB01B7-8796-3FAB-148C-D82F1FB7975B}"/>
              </a:ext>
            </a:extLst>
          </p:cNvPr>
          <p:cNvSpPr>
            <a:spLocks noGrp="1"/>
          </p:cNvSpPr>
          <p:nvPr>
            <p:ph sz="quarter" idx="12" hasCustomPrompt="1"/>
          </p:nvPr>
        </p:nvSpPr>
        <p:spPr>
          <a:xfrm>
            <a:off x="381242" y="927100"/>
            <a:ext cx="11429758" cy="5218113"/>
          </a:xfrm>
        </p:spPr>
        <p:txBody>
          <a:bodyPr/>
          <a:lstStyle/>
          <a:p>
            <a:pPr lvl="0"/>
            <a:r>
              <a:rPr lang="en-US" dirty="0" err="1"/>
              <a:t>一级标题内容</a:t>
            </a:r>
            <a:endParaRPr lang="en-US" dirty="0"/>
          </a:p>
          <a:p>
            <a:pPr lvl="1"/>
            <a:r>
              <a:rPr lang="en-US" dirty="0" err="1"/>
              <a:t>二级标题内容</a:t>
            </a:r>
            <a:endParaRPr lang="en-US" dirty="0"/>
          </a:p>
          <a:p>
            <a:pPr lvl="2"/>
            <a:r>
              <a:rPr lang="en-US" dirty="0" err="1"/>
              <a:t>三级标题内容</a:t>
            </a:r>
            <a:endParaRPr lang="en-US" dirty="0"/>
          </a:p>
        </p:txBody>
      </p:sp>
    </p:spTree>
    <p:extLst>
      <p:ext uri="{BB962C8B-B14F-4D97-AF65-F5344CB8AC3E}">
        <p14:creationId xmlns:p14="http://schemas.microsoft.com/office/powerpoint/2010/main" val="268903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538388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2026/8/9</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946664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2026/8/9</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230005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135891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8740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041424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162409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1" indent="0">
              <a:buNone/>
              <a:defRPr sz="2667">
                <a:solidFill>
                  <a:schemeClr val="tx1">
                    <a:tint val="75000"/>
                  </a:schemeClr>
                </a:solidFill>
              </a:defRPr>
            </a:lvl2pPr>
            <a:lvl3pPr marL="1219203" indent="0">
              <a:buNone/>
              <a:defRPr sz="2400">
                <a:solidFill>
                  <a:schemeClr val="tx1">
                    <a:tint val="75000"/>
                  </a:schemeClr>
                </a:solidFill>
              </a:defRPr>
            </a:lvl3pPr>
            <a:lvl4pPr marL="1828804" indent="0">
              <a:buNone/>
              <a:defRPr sz="2134">
                <a:solidFill>
                  <a:schemeClr val="tx1">
                    <a:tint val="75000"/>
                  </a:schemeClr>
                </a:solidFill>
              </a:defRPr>
            </a:lvl4pPr>
            <a:lvl5pPr marL="2438404" indent="0">
              <a:buNone/>
              <a:defRPr sz="2134">
                <a:solidFill>
                  <a:schemeClr val="tx1">
                    <a:tint val="75000"/>
                  </a:schemeClr>
                </a:solidFill>
              </a:defRPr>
            </a:lvl5pPr>
            <a:lvl6pPr marL="3048006" indent="0">
              <a:buNone/>
              <a:defRPr sz="2134">
                <a:solidFill>
                  <a:schemeClr val="tx1">
                    <a:tint val="75000"/>
                  </a:schemeClr>
                </a:solidFill>
              </a:defRPr>
            </a:lvl6pPr>
            <a:lvl7pPr marL="3657607" indent="0">
              <a:buNone/>
              <a:defRPr sz="2134">
                <a:solidFill>
                  <a:schemeClr val="tx1">
                    <a:tint val="75000"/>
                  </a:schemeClr>
                </a:solidFill>
              </a:defRPr>
            </a:lvl7pPr>
            <a:lvl8pPr marL="4267207" indent="0">
              <a:buNone/>
              <a:defRPr sz="2134">
                <a:solidFill>
                  <a:schemeClr val="tx1">
                    <a:tint val="75000"/>
                  </a:schemeClr>
                </a:solidFill>
              </a:defRPr>
            </a:lvl8pPr>
            <a:lvl9pPr marL="4876809" indent="0">
              <a:buNone/>
              <a:defRPr sz="2134">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pPr/>
              <a:t>2026/8/9</a:t>
            </a:fld>
            <a:endParaRPr lang="zh-CN" altLang="en-US"/>
          </a:p>
        </p:txBody>
      </p:sp>
      <p:pic>
        <p:nvPicPr>
          <p:cNvPr id="9" name="图片 8"/>
          <p:cNvPicPr>
            <a:picLocks noChangeAspect="1"/>
          </p:cNvPicPr>
          <p:nvPr/>
        </p:nvPicPr>
        <p:blipFill rotWithShape="1">
          <a:blip r:embed="rId2" cstate="print">
            <a:extLst>
              <a:ext uri="{28A0092B-C50C-407E-A947-70E740481C1C}">
                <a14:useLocalDpi xmlns:a14="http://schemas.microsoft.com/office/drawing/2010/main"/>
              </a:ext>
            </a:extLst>
          </a:blip>
          <a:srcRect b="37632"/>
          <a:stretch/>
        </p:blipFill>
        <p:spPr>
          <a:xfrm>
            <a:off x="0" y="-14"/>
            <a:ext cx="12192000" cy="3409347"/>
          </a:xfrm>
          <a:prstGeom prst="rect">
            <a:avLst/>
          </a:prstGeom>
        </p:spPr>
      </p:pic>
    </p:spTree>
    <p:extLst>
      <p:ext uri="{BB962C8B-B14F-4D97-AF65-F5344CB8AC3E}">
        <p14:creationId xmlns:p14="http://schemas.microsoft.com/office/powerpoint/2010/main" val="2730475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pPr/>
              <a:t>2026/8/9</a:t>
            </a:fld>
            <a:endParaRPr lang="zh-CN" altLang="en-US"/>
          </a:p>
        </p:txBody>
      </p:sp>
      <p:pic>
        <p:nvPicPr>
          <p:cNvPr id="9" name="图片 8"/>
          <p:cNvPicPr>
            <a:picLocks noChangeAspect="1"/>
          </p:cNvPicPr>
          <p:nvPr/>
        </p:nvPicPr>
        <p:blipFill rotWithShape="1">
          <a:blip r:embed="rId2" cstate="print">
            <a:extLst>
              <a:ext uri="{28A0092B-C50C-407E-A947-70E740481C1C}">
                <a14:useLocalDpi xmlns:a14="http://schemas.microsoft.com/office/drawing/2010/main"/>
              </a:ext>
            </a:extLst>
          </a:blip>
          <a:srcRect b="37632"/>
          <a:stretch/>
        </p:blipFill>
        <p:spPr>
          <a:xfrm>
            <a:off x="0" y="-14"/>
            <a:ext cx="12192000" cy="3409347"/>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114818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124118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pPr/>
              <a:t>‹#›</a:t>
            </a:fld>
            <a:endParaRPr lang="zh-CN" altLang="en-US"/>
          </a:p>
        </p:txBody>
      </p:sp>
    </p:spTree>
    <p:extLst>
      <p:ext uri="{BB962C8B-B14F-4D97-AF65-F5344CB8AC3E}">
        <p14:creationId xmlns:p14="http://schemas.microsoft.com/office/powerpoint/2010/main" val="25952969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pPr/>
              <a:t>‹#›</a:t>
            </a:fld>
            <a:endParaRPr lang="zh-CN" altLang="en-US"/>
          </a:p>
        </p:txBody>
      </p:sp>
    </p:spTree>
    <p:extLst>
      <p:ext uri="{BB962C8B-B14F-4D97-AF65-F5344CB8AC3E}">
        <p14:creationId xmlns:p14="http://schemas.microsoft.com/office/powerpoint/2010/main" val="23368766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pPr/>
              <a:t>‹#›</a:t>
            </a:fld>
            <a:endParaRPr lang="zh-CN" altLang="en-US"/>
          </a:p>
        </p:txBody>
      </p:sp>
    </p:spTree>
    <p:extLst>
      <p:ext uri="{BB962C8B-B14F-4D97-AF65-F5344CB8AC3E}">
        <p14:creationId xmlns:p14="http://schemas.microsoft.com/office/powerpoint/2010/main" val="27959940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81242" y="0"/>
            <a:ext cx="11429516" cy="761979"/>
          </a:xfrm>
        </p:spPr>
        <p:txBody>
          <a:bodyPr/>
          <a:lstStyle/>
          <a:p>
            <a:r>
              <a:rPr lang="zh-CN" altLang="en-US" dirty="0"/>
              <a:t>页面标题</a:t>
            </a:r>
          </a:p>
        </p:txBody>
      </p:sp>
      <p:sp>
        <p:nvSpPr>
          <p:cNvPr id="3" name="内容占位符 2"/>
          <p:cNvSpPr>
            <a:spLocks noGrp="1"/>
          </p:cNvSpPr>
          <p:nvPr>
            <p:ph sz="half" idx="1" hasCustomPrompt="1"/>
          </p:nvPr>
        </p:nvSpPr>
        <p:spPr>
          <a:xfrm>
            <a:off x="381242" y="981343"/>
            <a:ext cx="5524266" cy="5333856"/>
          </a:xfrm>
        </p:spPr>
        <p:txBody>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4" name="内容占位符 3"/>
          <p:cNvSpPr>
            <a:spLocks noGrp="1"/>
          </p:cNvSpPr>
          <p:nvPr>
            <p:ph sz="half" idx="2" hasCustomPrompt="1"/>
          </p:nvPr>
        </p:nvSpPr>
        <p:spPr>
          <a:xfrm>
            <a:off x="6286492" y="981343"/>
            <a:ext cx="5524266" cy="5333856"/>
          </a:xfrm>
        </p:spPr>
        <p:txBody>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E0AC87-F9B6-4F7A-AB3A-6863E2A5800B}" type="slidenum">
              <a:rPr lang="zh-CN" altLang="en-US" smtClean="0"/>
              <a:pPr/>
              <a:t>‹#›</a:t>
            </a:fld>
            <a:endParaRPr lang="zh-CN" altLang="en-US"/>
          </a:p>
        </p:txBody>
      </p:sp>
    </p:spTree>
    <p:extLst>
      <p:ext uri="{BB962C8B-B14F-4D97-AF65-F5344CB8AC3E}">
        <p14:creationId xmlns:p14="http://schemas.microsoft.com/office/powerpoint/2010/main" val="16979325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81242" y="1"/>
            <a:ext cx="11429516" cy="761979"/>
          </a:xfrm>
        </p:spPr>
        <p:txBody>
          <a:bodyPr/>
          <a:lstStyle/>
          <a:p>
            <a:r>
              <a:rPr lang="zh-CN" altLang="en-US" dirty="0"/>
              <a:t>页面标题</a:t>
            </a:r>
          </a:p>
        </p:txBody>
      </p:sp>
      <p:sp>
        <p:nvSpPr>
          <p:cNvPr id="3" name="文本占位符 2"/>
          <p:cNvSpPr>
            <a:spLocks noGrp="1"/>
          </p:cNvSpPr>
          <p:nvPr>
            <p:ph type="body" idx="1" hasCustomPrompt="1"/>
          </p:nvPr>
        </p:nvSpPr>
        <p:spPr>
          <a:xfrm>
            <a:off x="381242" y="963895"/>
            <a:ext cx="5524266" cy="571485"/>
          </a:xfrm>
        </p:spPr>
        <p:txBody>
          <a:bodyPr anchor="ctr" anchorCtr="0">
            <a:normAutofit/>
          </a:bodyPr>
          <a:lstStyle>
            <a:lvl1pPr marL="0" indent="0" algn="ctr">
              <a:buNone/>
              <a:defRPr sz="2963" b="1"/>
            </a:lvl1pPr>
            <a:lvl2pPr marL="609601" indent="0">
              <a:buNone/>
              <a:defRPr sz="2667" b="1"/>
            </a:lvl2pPr>
            <a:lvl3pPr marL="1219203" indent="0">
              <a:buNone/>
              <a:defRPr sz="2400" b="1"/>
            </a:lvl3pPr>
            <a:lvl4pPr marL="1828804" indent="0">
              <a:buNone/>
              <a:defRPr sz="2134" b="1"/>
            </a:lvl4pPr>
            <a:lvl5pPr marL="2438404" indent="0">
              <a:buNone/>
              <a:defRPr sz="2134" b="1"/>
            </a:lvl5pPr>
            <a:lvl6pPr marL="3048006" indent="0">
              <a:buNone/>
              <a:defRPr sz="2134" b="1"/>
            </a:lvl6pPr>
            <a:lvl7pPr marL="3657607" indent="0">
              <a:buNone/>
              <a:defRPr sz="2134" b="1"/>
            </a:lvl7pPr>
            <a:lvl8pPr marL="4267207" indent="0">
              <a:buNone/>
              <a:defRPr sz="2134" b="1"/>
            </a:lvl8pPr>
            <a:lvl9pPr marL="4876809" indent="0">
              <a:buNone/>
              <a:defRPr sz="2134" b="1"/>
            </a:lvl9pPr>
          </a:lstStyle>
          <a:p>
            <a:pPr lvl="0"/>
            <a:r>
              <a:rPr lang="zh-CN" altLang="en-US" dirty="0"/>
              <a:t>栏目标题</a:t>
            </a:r>
          </a:p>
        </p:txBody>
      </p:sp>
      <p:sp>
        <p:nvSpPr>
          <p:cNvPr id="4" name="内容占位符 3"/>
          <p:cNvSpPr>
            <a:spLocks noGrp="1"/>
          </p:cNvSpPr>
          <p:nvPr>
            <p:ph sz="half" idx="2" hasCustomPrompt="1"/>
          </p:nvPr>
        </p:nvSpPr>
        <p:spPr>
          <a:xfrm>
            <a:off x="381242" y="1737295"/>
            <a:ext cx="5524266" cy="4571877"/>
          </a:xfrm>
        </p:spPr>
        <p:txBody>
          <a:bodyPr>
            <a:normAutofit/>
          </a:bodyPr>
          <a:lstStyle>
            <a:lvl1pPr>
              <a:defRPr sz="2540"/>
            </a:lvl1pPr>
            <a:lvl2pPr>
              <a:defRPr sz="2117"/>
            </a:lvl2pPr>
            <a:lvl3pPr>
              <a:defRPr sz="1482"/>
            </a:lvl3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文本占位符 4"/>
          <p:cNvSpPr>
            <a:spLocks noGrp="1"/>
          </p:cNvSpPr>
          <p:nvPr>
            <p:ph type="body" sz="quarter" idx="3" hasCustomPrompt="1"/>
          </p:nvPr>
        </p:nvSpPr>
        <p:spPr>
          <a:xfrm>
            <a:off x="6286492" y="963895"/>
            <a:ext cx="5524266" cy="571485"/>
          </a:xfrm>
        </p:spPr>
        <p:txBody>
          <a:bodyPr anchor="ctr" anchorCtr="0">
            <a:normAutofit/>
          </a:bodyPr>
          <a:lstStyle>
            <a:lvl1pPr marL="0" indent="0" algn="ctr">
              <a:buNone/>
              <a:defRPr sz="2963" b="1"/>
            </a:lvl1pPr>
            <a:lvl2pPr marL="609601" indent="0">
              <a:buNone/>
              <a:defRPr sz="2667" b="1"/>
            </a:lvl2pPr>
            <a:lvl3pPr marL="1219203" indent="0">
              <a:buNone/>
              <a:defRPr sz="2400" b="1"/>
            </a:lvl3pPr>
            <a:lvl4pPr marL="1828804" indent="0">
              <a:buNone/>
              <a:defRPr sz="2134" b="1"/>
            </a:lvl4pPr>
            <a:lvl5pPr marL="2438404" indent="0">
              <a:buNone/>
              <a:defRPr sz="2134" b="1"/>
            </a:lvl5pPr>
            <a:lvl6pPr marL="3048006" indent="0">
              <a:buNone/>
              <a:defRPr sz="2134" b="1"/>
            </a:lvl6pPr>
            <a:lvl7pPr marL="3657607" indent="0">
              <a:buNone/>
              <a:defRPr sz="2134" b="1"/>
            </a:lvl7pPr>
            <a:lvl8pPr marL="4267207" indent="0">
              <a:buNone/>
              <a:defRPr sz="2134" b="1"/>
            </a:lvl8pPr>
            <a:lvl9pPr marL="4876809" indent="0">
              <a:buNone/>
              <a:defRPr sz="2134" b="1"/>
            </a:lvl9pPr>
          </a:lstStyle>
          <a:p>
            <a:pPr lvl="0"/>
            <a:r>
              <a:rPr lang="zh-CN" altLang="en-US" dirty="0"/>
              <a:t>栏目标题</a:t>
            </a:r>
          </a:p>
        </p:txBody>
      </p:sp>
      <p:sp>
        <p:nvSpPr>
          <p:cNvPr id="6" name="内容占位符 5"/>
          <p:cNvSpPr>
            <a:spLocks noGrp="1"/>
          </p:cNvSpPr>
          <p:nvPr>
            <p:ph sz="quarter" idx="4" hasCustomPrompt="1"/>
          </p:nvPr>
        </p:nvSpPr>
        <p:spPr>
          <a:xfrm>
            <a:off x="6286492" y="1737295"/>
            <a:ext cx="5524266" cy="4571877"/>
          </a:xfrm>
        </p:spPr>
        <p:txBody>
          <a:bodyPr>
            <a:normAutofit/>
          </a:bodyPr>
          <a:lstStyle>
            <a:lvl1pPr>
              <a:defRPr sz="2540"/>
            </a:lvl1pPr>
            <a:lvl2pPr>
              <a:defRPr sz="2117"/>
            </a:lvl2pPr>
            <a:lvl3pPr>
              <a:defRPr sz="1482"/>
            </a:lvl3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E0AC87-F9B6-4F7A-AB3A-6863E2A5800B}" type="slidenum">
              <a:rPr lang="zh-CN" altLang="en-US" smtClean="0"/>
              <a:pPr/>
              <a:t>‹#›</a:t>
            </a:fld>
            <a:endParaRPr lang="zh-CN" altLang="en-US"/>
          </a:p>
        </p:txBody>
      </p:sp>
    </p:spTree>
    <p:extLst>
      <p:ext uri="{BB962C8B-B14F-4D97-AF65-F5344CB8AC3E}">
        <p14:creationId xmlns:p14="http://schemas.microsoft.com/office/powerpoint/2010/main" val="10952791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竖排文字占位符 2"/>
          <p:cNvSpPr>
            <a:spLocks noGrp="1"/>
          </p:cNvSpPr>
          <p:nvPr>
            <p:ph type="body" orient="vert" idx="1" hasCustomPrompt="1"/>
          </p:nvPr>
        </p:nvSpPr>
        <p:spPr/>
        <p:txBody>
          <a:bodyPr vert="eaVert"/>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E0AC87-F9B6-4F7A-AB3A-6863E2A5800B}" type="slidenum">
              <a:rPr lang="zh-CN" altLang="en-US" smtClean="0"/>
              <a:pPr/>
              <a:t>‹#›</a:t>
            </a:fld>
            <a:endParaRPr lang="zh-CN" altLang="en-US"/>
          </a:p>
        </p:txBody>
      </p:sp>
    </p:spTree>
    <p:extLst>
      <p:ext uri="{BB962C8B-B14F-4D97-AF65-F5344CB8AC3E}">
        <p14:creationId xmlns:p14="http://schemas.microsoft.com/office/powerpoint/2010/main" val="35442434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825417"/>
      </p:ext>
    </p:extLst>
  </p:cSld>
  <p:clrMapOvr>
    <a:masterClrMapping/>
  </p:clrMapOvr>
  <p:extLst>
    <p:ext uri="{DCECCB84-F9BA-43D5-87BE-67443E8EF086}">
      <p15:sldGuideLst xmlns:p15="http://schemas.microsoft.com/office/powerpoint/2012/main">
        <p15:guide id="1" pos="6614">
          <p15:clr>
            <a:srgbClr val="FBAE40"/>
          </p15:clr>
        </p15:guide>
        <p15:guide id="2" pos="24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423104438"/>
      </p:ext>
    </p:extLst>
  </p:cSld>
  <p:clrMapOvr>
    <a:masterClrMapping/>
  </p:clrMapOvr>
  <p:transition>
    <p:fade/>
  </p:transition>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纯标题">
    <p:spTree>
      <p:nvGrpSpPr>
        <p:cNvPr id="1" name=""/>
        <p:cNvGrpSpPr/>
        <p:nvPr/>
      </p:nvGrpSpPr>
      <p:grpSpPr>
        <a:xfrm>
          <a:off x="0" y="0"/>
          <a:ext cx="0" cy="0"/>
          <a:chOff x="0" y="0"/>
          <a:chExt cx="0" cy="0"/>
        </a:xfrm>
      </p:grpSpPr>
      <p:pic>
        <p:nvPicPr>
          <p:cNvPr id="3" name="图片 3">
            <a:extLst>
              <a:ext uri="{FF2B5EF4-FFF2-40B4-BE49-F238E27FC236}">
                <a16:creationId xmlns:a16="http://schemas.microsoft.com/office/drawing/2014/main" id="{B376E1FF-C903-4528-AFB1-762675B4E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7">
            <a:extLst>
              <a:ext uri="{FF2B5EF4-FFF2-40B4-BE49-F238E27FC236}">
                <a16:creationId xmlns:a16="http://schemas.microsoft.com/office/drawing/2014/main" id="{2AE9DC11-4AE6-4BFA-A924-B7DB455D6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14">
            <a:extLst>
              <a:ext uri="{FF2B5EF4-FFF2-40B4-BE49-F238E27FC236}">
                <a16:creationId xmlns:a16="http://schemas.microsoft.com/office/drawing/2014/main" id="{B9713252-3ABE-46C2-860F-567E2BD5AA3E}"/>
              </a:ext>
            </a:extLst>
          </p:cNvPr>
          <p:cNvSpPr/>
          <p:nvPr/>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pic>
        <p:nvPicPr>
          <p:cNvPr id="7" name="图片 5">
            <a:extLst>
              <a:ext uri="{FF2B5EF4-FFF2-40B4-BE49-F238E27FC236}">
                <a16:creationId xmlns:a16="http://schemas.microsoft.com/office/drawing/2014/main" id="{BDF4C648-FB70-4521-B3EC-29CF3CACB4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6">
            <a:extLst>
              <a:ext uri="{FF2B5EF4-FFF2-40B4-BE49-F238E27FC236}">
                <a16:creationId xmlns:a16="http://schemas.microsoft.com/office/drawing/2014/main" id="{F4248120-6333-4151-A4BA-8C48963272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D6EF0BAC-124E-4AC7-BC4E-A0E914DA556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72493D8E-99C6-4B35-A603-6C1BF1F0B907}"/>
              </a:ext>
            </a:extLst>
          </p:cNvPr>
          <p:cNvSpPr/>
          <p:nvPr userDrawn="1"/>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pic>
        <p:nvPicPr>
          <p:cNvPr id="11" name="图片 10">
            <a:extLst>
              <a:ext uri="{FF2B5EF4-FFF2-40B4-BE49-F238E27FC236}">
                <a16:creationId xmlns:a16="http://schemas.microsoft.com/office/drawing/2014/main" id="{02E02BEB-69DE-4E8F-97DB-22F6343C2D4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4"/>
          <p:cNvSpPr>
            <a:spLocks noGrp="1"/>
          </p:cNvSpPr>
          <p:nvPr>
            <p:ph type="title"/>
          </p:nvPr>
        </p:nvSpPr>
        <p:spPr>
          <a:xfrm>
            <a:off x="658702" y="975603"/>
            <a:ext cx="11162884" cy="574183"/>
          </a:xfrm>
          <a:prstGeom prst="rect">
            <a:avLst/>
          </a:prstGeom>
        </p:spPr>
        <p:txBody>
          <a:bodyPr/>
          <a:lstStyle>
            <a:lvl1pPr>
              <a:defRPr sz="3200" b="1">
                <a:solidFill>
                  <a:schemeClr val="accent1"/>
                </a:solidFill>
              </a:defRPr>
            </a:lvl1pPr>
          </a:lstStyle>
          <a:p>
            <a:r>
              <a:rPr lang="zh-CN" altLang="en-US"/>
              <a:t>单击此处编辑母版标题样式</a:t>
            </a:r>
          </a:p>
        </p:txBody>
      </p:sp>
    </p:spTree>
    <p:extLst>
      <p:ext uri="{BB962C8B-B14F-4D97-AF65-F5344CB8AC3E}">
        <p14:creationId xmlns:p14="http://schemas.microsoft.com/office/powerpoint/2010/main" val="37834317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内页">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BDD0C6C-F76A-4A1F-B5E4-1CA59526C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7">
            <a:extLst>
              <a:ext uri="{FF2B5EF4-FFF2-40B4-BE49-F238E27FC236}">
                <a16:creationId xmlns:a16="http://schemas.microsoft.com/office/drawing/2014/main" id="{D348E222-2979-4CF1-9D52-E26DE672B4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4">
            <a:extLst>
              <a:ext uri="{FF2B5EF4-FFF2-40B4-BE49-F238E27FC236}">
                <a16:creationId xmlns:a16="http://schemas.microsoft.com/office/drawing/2014/main" id="{088F89D5-D3F9-4479-A50C-6EF89AD80F8B}"/>
              </a:ext>
            </a:extLst>
          </p:cNvPr>
          <p:cNvSpPr/>
          <p:nvPr/>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pic>
        <p:nvPicPr>
          <p:cNvPr id="8" name="图片 6">
            <a:extLst>
              <a:ext uri="{FF2B5EF4-FFF2-40B4-BE49-F238E27FC236}">
                <a16:creationId xmlns:a16="http://schemas.microsoft.com/office/drawing/2014/main" id="{A24F9927-4F84-412E-BB17-44D313E6F1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51CF0843-AF41-4C68-B87F-304B89CF126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89DD5A76-0F69-4B30-908B-85A21D961DE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F3500664-3544-4A6B-BC82-F3052814D2A7}"/>
              </a:ext>
            </a:extLst>
          </p:cNvPr>
          <p:cNvSpPr/>
          <p:nvPr userDrawn="1"/>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pic>
        <p:nvPicPr>
          <p:cNvPr id="12" name="图片 11">
            <a:extLst>
              <a:ext uri="{FF2B5EF4-FFF2-40B4-BE49-F238E27FC236}">
                <a16:creationId xmlns:a16="http://schemas.microsoft.com/office/drawing/2014/main" id="{2C648A80-15A7-463E-BF6E-6C256EA71691}"/>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sz="quarter" idx="10"/>
          </p:nvPr>
        </p:nvSpPr>
        <p:spPr>
          <a:xfrm>
            <a:off x="658702" y="1685678"/>
            <a:ext cx="11162884"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标题 4"/>
          <p:cNvSpPr>
            <a:spLocks noGrp="1"/>
          </p:cNvSpPr>
          <p:nvPr>
            <p:ph type="title"/>
          </p:nvPr>
        </p:nvSpPr>
        <p:spPr>
          <a:xfrm>
            <a:off x="658699" y="974280"/>
            <a:ext cx="11162884" cy="574183"/>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8934411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其他常规样式（1）">
    <p:spTree>
      <p:nvGrpSpPr>
        <p:cNvPr id="1" name=""/>
        <p:cNvGrpSpPr/>
        <p:nvPr/>
      </p:nvGrpSpPr>
      <p:grpSpPr>
        <a:xfrm>
          <a:off x="0" y="0"/>
          <a:ext cx="0" cy="0"/>
          <a:chOff x="0" y="0"/>
          <a:chExt cx="0" cy="0"/>
        </a:xfrm>
      </p:grpSpPr>
      <p:sp>
        <p:nvSpPr>
          <p:cNvPr id="18" name="平行四边形 17"/>
          <p:cNvSpPr/>
          <p:nvPr userDrawn="1"/>
        </p:nvSpPr>
        <p:spPr>
          <a:xfrm>
            <a:off x="0" y="1"/>
            <a:ext cx="12191483" cy="830940"/>
          </a:xfrm>
          <a:prstGeom prst="parallelogram">
            <a:avLst>
              <a:gd name="adj"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文本占位符 31"/>
          <p:cNvSpPr>
            <a:spLocks noGrp="1"/>
          </p:cNvSpPr>
          <p:nvPr>
            <p:ph type="body" sz="quarter" idx="11"/>
          </p:nvPr>
        </p:nvSpPr>
        <p:spPr>
          <a:xfrm>
            <a:off x="563076" y="125299"/>
            <a:ext cx="9774619"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17" name="文本占位符 16"/>
          <p:cNvSpPr>
            <a:spLocks noGrp="1"/>
          </p:cNvSpPr>
          <p:nvPr>
            <p:ph type="body" sz="quarter" idx="14" hasCustomPrompt="1"/>
          </p:nvPr>
        </p:nvSpPr>
        <p:spPr>
          <a:xfrm>
            <a:off x="537677" y="1190091"/>
            <a:ext cx="11174255" cy="4765791"/>
          </a:xfrm>
          <a:prstGeom prst="rect">
            <a:avLst/>
          </a:prstGeom>
        </p:spPr>
        <p:txBody>
          <a:bodyPr/>
          <a:lstStyle>
            <a:lvl1pPr marL="342900" indent="-342900">
              <a:lnSpc>
                <a:spcPct val="130000"/>
              </a:lnSpc>
              <a:buClr>
                <a:schemeClr val="accent1">
                  <a:lumMod val="75000"/>
                </a:schemeClr>
              </a:buClr>
              <a:buFont typeface="Wingdings" panose="05000000000000000000" pitchFamily="2" charset="2"/>
              <a:buChar char="p"/>
              <a:defRPr sz="2400" b="1" spc="300">
                <a:solidFill>
                  <a:schemeClr val="accent2">
                    <a:lumMod val="50000"/>
                  </a:schemeClr>
                </a:solidFill>
              </a:defRPr>
            </a:lvl1pPr>
            <a:lvl2pPr marL="685800" indent="-228600">
              <a:lnSpc>
                <a:spcPct val="130000"/>
              </a:lnSpc>
              <a:buClr>
                <a:schemeClr val="accent1">
                  <a:lumMod val="60000"/>
                  <a:lumOff val="40000"/>
                </a:schemeClr>
              </a:buClr>
              <a:buFont typeface="Arial" panose="020B0604020202020204" pitchFamily="34" charset="0"/>
              <a:buChar char="•"/>
              <a:defRPr sz="2400" spc="300">
                <a:solidFill>
                  <a:schemeClr val="accent2">
                    <a:lumMod val="50000"/>
                  </a:schemeClr>
                </a:solidFill>
              </a:defRPr>
            </a:lvl2pPr>
            <a:lvl3pPr marL="1143000" indent="-228600">
              <a:lnSpc>
                <a:spcPct val="130000"/>
              </a:lnSpc>
              <a:buClr>
                <a:schemeClr val="accent1">
                  <a:lumMod val="60000"/>
                  <a:lumOff val="40000"/>
                </a:schemeClr>
              </a:buClr>
              <a:buFont typeface="Arial" panose="020B0604020202020204" pitchFamily="34" charset="0"/>
              <a:buChar char="•"/>
              <a:defRPr sz="2000" spc="300">
                <a:solidFill>
                  <a:schemeClr val="accent2">
                    <a:lumMod val="50000"/>
                  </a:schemeClr>
                </a:solidFill>
              </a:defRPr>
            </a:lvl3pPr>
            <a:lvl4pPr marL="1600200" indent="-228600">
              <a:lnSpc>
                <a:spcPct val="130000"/>
              </a:lnSpc>
              <a:buClr>
                <a:schemeClr val="accent1">
                  <a:lumMod val="60000"/>
                  <a:lumOff val="40000"/>
                </a:schemeClr>
              </a:buClr>
              <a:buFont typeface="Arial" panose="020B0604020202020204" pitchFamily="34" charset="0"/>
              <a:buChar char="•"/>
              <a:defRPr sz="1800" spc="300">
                <a:solidFill>
                  <a:schemeClr val="accent2">
                    <a:lumMod val="50000"/>
                  </a:schemeClr>
                </a:solidFill>
              </a:defRPr>
            </a:lvl4pPr>
            <a:lvl5pPr marL="2057400" indent="-228600">
              <a:lnSpc>
                <a:spcPct val="130000"/>
              </a:lnSpc>
              <a:buClr>
                <a:schemeClr val="accent1">
                  <a:lumMod val="60000"/>
                  <a:lumOff val="40000"/>
                </a:schemeClr>
              </a:buClr>
              <a:buFont typeface="Arial" panose="020B0604020202020204" pitchFamily="34" charset="0"/>
              <a:buChar char="•"/>
              <a:defRPr sz="1800" spc="300">
                <a:solidFill>
                  <a:schemeClr val="accent2">
                    <a:lumMod val="50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等腰三角形 12"/>
          <p:cNvSpPr/>
          <p:nvPr userDrawn="1"/>
        </p:nvSpPr>
        <p:spPr>
          <a:xfrm rot="5400000">
            <a:off x="213384" y="331410"/>
            <a:ext cx="322490" cy="186267"/>
          </a:xfrm>
          <a:prstGeom prst="triangle">
            <a:avLst/>
          </a:prstGeom>
          <a:solidFill>
            <a:srgbClr val="CC9B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5" name="图片 14"/>
          <p:cNvPicPr>
            <a:picLocks noChangeAspect="1"/>
          </p:cNvPicPr>
          <p:nvPr userDrawn="1"/>
        </p:nvPicPr>
        <p:blipFill rotWithShape="1">
          <a:blip r:embed="rId2" cstate="screen">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20000" contrast="20000"/>
                    </a14:imgEffect>
                    <a14:imgEffect>
                      <a14:saturation sat="0"/>
                    </a14:imgEffect>
                  </a14:imgLayer>
                </a14:imgProps>
              </a:ext>
            </a:extLst>
          </a:blip>
          <a:srcRect t="-39299"/>
          <a:stretch>
            <a:fillRect/>
          </a:stretch>
        </p:blipFill>
        <p:spPr>
          <a:xfrm>
            <a:off x="9299011" y="144759"/>
            <a:ext cx="2626311" cy="455772"/>
          </a:xfrm>
          <a:prstGeom prst="rect">
            <a:avLst/>
          </a:prstGeom>
        </p:spPr>
      </p:pic>
      <p:sp>
        <p:nvSpPr>
          <p:cNvPr id="10" name="矩形: 剪去单角 9"/>
          <p:cNvSpPr/>
          <p:nvPr userDrawn="1"/>
        </p:nvSpPr>
        <p:spPr>
          <a:xfrm rot="5400000" flipV="1">
            <a:off x="6038491" y="-1346684"/>
            <a:ext cx="110323" cy="16262271"/>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350"/>
          </a:p>
        </p:txBody>
      </p:sp>
      <p:sp>
        <p:nvSpPr>
          <p:cNvPr id="11" name="平行四边形 10"/>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userDrawn="1"/>
        </p:nvSpPr>
        <p:spPr>
          <a:xfrm>
            <a:off x="1008248" y="6663471"/>
            <a:ext cx="732893" cy="219291"/>
          </a:xfrm>
          <a:prstGeom prst="rect">
            <a:avLst/>
          </a:prstGeom>
        </p:spPr>
        <p:txBody>
          <a:bodyPr wrap="none">
            <a:spAutoFit/>
          </a:bodyPr>
          <a:lstStyle/>
          <a:p>
            <a:pPr lvl="0" algn="dist"/>
            <a:r>
              <a:rPr lang="en-US" altLang="zh-CN" sz="825" b="0" i="1" spc="600" dirty="0">
                <a:solidFill>
                  <a:schemeClr val="bg1"/>
                </a:solidFill>
                <a:effectLst>
                  <a:outerShdw blurRad="38100" dist="38100" dir="2700000" algn="tl">
                    <a:srgbClr val="000000">
                      <a:alpha val="43137"/>
                    </a:srgbClr>
                  </a:outerShdw>
                </a:effectLst>
              </a:rPr>
              <a:t>SJTU</a:t>
            </a:r>
            <a:endParaRPr lang="zh-CN" altLang="en-US" sz="825" b="0" i="1" spc="600" dirty="0">
              <a:solidFill>
                <a:schemeClr val="bg1"/>
              </a:solidFill>
              <a:effectLst>
                <a:outerShdw blurRad="38100" dist="38100" dir="2700000" algn="tl">
                  <a:srgbClr val="000000">
                    <a:alpha val="43137"/>
                  </a:srgbClr>
                </a:outerShdw>
              </a:effectLst>
            </a:endParaRPr>
          </a:p>
        </p:txBody>
      </p:sp>
      <p:sp>
        <p:nvSpPr>
          <p:cNvPr id="9" name="灯片编号占位符 5"/>
          <p:cNvSpPr>
            <a:spLocks noGrp="1"/>
          </p:cNvSpPr>
          <p:nvPr>
            <p:ph type="sldNum" sz="quarter" idx="4"/>
          </p:nvPr>
        </p:nvSpPr>
        <p:spPr>
          <a:xfrm>
            <a:off x="11044705" y="6353481"/>
            <a:ext cx="1037231" cy="342900"/>
          </a:xfrm>
          <a:prstGeom prst="rect">
            <a:avLst/>
          </a:prstGeom>
        </p:spPr>
        <p:txBody>
          <a:bodyPr vert="horz" lIns="91440" tIns="45720" rIns="91440" bIns="45720" rtlCol="0" anchor="ctr"/>
          <a:lstStyle>
            <a:lvl1pPr algn="r">
              <a:defRPr sz="2400">
                <a:solidFill>
                  <a:schemeClr val="tx1"/>
                </a:solidFill>
              </a:defRPr>
            </a:lvl1pPr>
          </a:lstStyle>
          <a:p>
            <a:fld id="{548644C6-89F0-466C-949F-E70AD72679A8}" type="slidenum">
              <a:rPr lang="zh-CN" altLang="en-US" smtClean="0"/>
              <a:t>‹#›</a:t>
            </a:fld>
            <a:endParaRPr lang="zh-CN" altLang="en-US" dirty="0"/>
          </a:p>
        </p:txBody>
      </p:sp>
    </p:spTree>
    <p:extLst>
      <p:ext uri="{BB962C8B-B14F-4D97-AF65-F5344CB8AC3E}">
        <p14:creationId xmlns:p14="http://schemas.microsoft.com/office/powerpoint/2010/main" val="31397648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35153797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4867868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1789113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19074769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3100411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1349255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81242" y="0"/>
            <a:ext cx="11429516" cy="761979"/>
          </a:xfrm>
        </p:spPr>
        <p:txBody>
          <a:bodyPr/>
          <a:lstStyle/>
          <a:p>
            <a:r>
              <a:rPr lang="zh-CN" altLang="en-US" dirty="0"/>
              <a:t>页面标题</a:t>
            </a:r>
          </a:p>
        </p:txBody>
      </p:sp>
      <p:sp>
        <p:nvSpPr>
          <p:cNvPr id="3" name="内容占位符 2"/>
          <p:cNvSpPr>
            <a:spLocks noGrp="1"/>
          </p:cNvSpPr>
          <p:nvPr>
            <p:ph sz="half" idx="1" hasCustomPrompt="1"/>
          </p:nvPr>
        </p:nvSpPr>
        <p:spPr>
          <a:xfrm>
            <a:off x="381242" y="981343"/>
            <a:ext cx="5524266" cy="5333856"/>
          </a:xfrm>
        </p:spPr>
        <p:txBody>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4" name="内容占位符 3"/>
          <p:cNvSpPr>
            <a:spLocks noGrp="1"/>
          </p:cNvSpPr>
          <p:nvPr>
            <p:ph sz="half" idx="2" hasCustomPrompt="1"/>
          </p:nvPr>
        </p:nvSpPr>
        <p:spPr>
          <a:xfrm>
            <a:off x="6286492" y="981343"/>
            <a:ext cx="5524266" cy="5333856"/>
          </a:xfrm>
        </p:spPr>
        <p:txBody>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18869119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81242" y="1"/>
            <a:ext cx="11429516" cy="761979"/>
          </a:xfrm>
        </p:spPr>
        <p:txBody>
          <a:bodyPr/>
          <a:lstStyle/>
          <a:p>
            <a:r>
              <a:rPr lang="zh-CN" altLang="en-US" dirty="0"/>
              <a:t>页面标题</a:t>
            </a:r>
          </a:p>
        </p:txBody>
      </p:sp>
      <p:sp>
        <p:nvSpPr>
          <p:cNvPr id="3" name="文本占位符 2"/>
          <p:cNvSpPr>
            <a:spLocks noGrp="1"/>
          </p:cNvSpPr>
          <p:nvPr>
            <p:ph type="body" idx="1" hasCustomPrompt="1"/>
          </p:nvPr>
        </p:nvSpPr>
        <p:spPr>
          <a:xfrm>
            <a:off x="381242" y="963895"/>
            <a:ext cx="5524266" cy="571485"/>
          </a:xfrm>
        </p:spPr>
        <p:txBody>
          <a:bodyPr anchor="ctr" anchorCtr="0">
            <a:normAutofit/>
          </a:bodyPr>
          <a:lstStyle>
            <a:lvl1pPr marL="0" indent="0" algn="ctr">
              <a:buNone/>
              <a:defRPr sz="2965"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dirty="0"/>
              <a:t>栏目标题</a:t>
            </a:r>
          </a:p>
        </p:txBody>
      </p:sp>
      <p:sp>
        <p:nvSpPr>
          <p:cNvPr id="4" name="内容占位符 3"/>
          <p:cNvSpPr>
            <a:spLocks noGrp="1"/>
          </p:cNvSpPr>
          <p:nvPr>
            <p:ph sz="half" idx="2" hasCustomPrompt="1"/>
          </p:nvPr>
        </p:nvSpPr>
        <p:spPr>
          <a:xfrm>
            <a:off x="381242" y="1737295"/>
            <a:ext cx="5524266" cy="4571877"/>
          </a:xfrm>
        </p:spPr>
        <p:txBody>
          <a:bodyPr>
            <a:normAutofit/>
          </a:bodyPr>
          <a:lstStyle>
            <a:lvl1pPr>
              <a:defRPr sz="2540"/>
            </a:lvl1pPr>
            <a:lvl2pPr>
              <a:defRPr sz="2115"/>
            </a:lvl2pPr>
            <a:lvl3pPr>
              <a:defRPr sz="1480"/>
            </a:lvl3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文本占位符 4"/>
          <p:cNvSpPr>
            <a:spLocks noGrp="1"/>
          </p:cNvSpPr>
          <p:nvPr>
            <p:ph type="body" sz="quarter" idx="3" hasCustomPrompt="1"/>
          </p:nvPr>
        </p:nvSpPr>
        <p:spPr>
          <a:xfrm>
            <a:off x="6286492" y="963895"/>
            <a:ext cx="5524266" cy="571485"/>
          </a:xfrm>
        </p:spPr>
        <p:txBody>
          <a:bodyPr anchor="ctr" anchorCtr="0">
            <a:normAutofit/>
          </a:bodyPr>
          <a:lstStyle>
            <a:lvl1pPr marL="0" indent="0" algn="ctr">
              <a:buNone/>
              <a:defRPr sz="2965"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dirty="0"/>
              <a:t>栏目标题</a:t>
            </a:r>
          </a:p>
        </p:txBody>
      </p:sp>
      <p:sp>
        <p:nvSpPr>
          <p:cNvPr id="6" name="内容占位符 5"/>
          <p:cNvSpPr>
            <a:spLocks noGrp="1"/>
          </p:cNvSpPr>
          <p:nvPr>
            <p:ph sz="quarter" idx="4" hasCustomPrompt="1"/>
          </p:nvPr>
        </p:nvSpPr>
        <p:spPr>
          <a:xfrm>
            <a:off x="6286492" y="1737295"/>
            <a:ext cx="5524266" cy="4571877"/>
          </a:xfrm>
        </p:spPr>
        <p:txBody>
          <a:bodyPr>
            <a:normAutofit/>
          </a:bodyPr>
          <a:lstStyle>
            <a:lvl1pPr>
              <a:defRPr sz="2540"/>
            </a:lvl1pPr>
            <a:lvl2pPr>
              <a:defRPr sz="2115"/>
            </a:lvl2pPr>
            <a:lvl3pPr>
              <a:defRPr sz="1480"/>
            </a:lvl3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40679851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竖排文字占位符 2"/>
          <p:cNvSpPr>
            <a:spLocks noGrp="1"/>
          </p:cNvSpPr>
          <p:nvPr>
            <p:ph type="body" orient="vert" idx="1" hasCustomPrompt="1"/>
          </p:nvPr>
        </p:nvSpPr>
        <p:spPr/>
        <p:txBody>
          <a:bodyPr vert="eaVert"/>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6546342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4537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404633134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14" name="图片 13" descr="图片包含 建筑物, 圆屋顶, 地板&#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1" cy="6858000"/>
          </a:xfrm>
          <a:prstGeom prst="rect">
            <a:avLst/>
          </a:prstGeom>
        </p:spPr>
      </p:pic>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pic>
        <p:nvPicPr>
          <p:cNvPr id="4" name="图片 3"/>
          <p:cNvPicPr>
            <a:picLocks noChangeAspect="1"/>
          </p:cNvPicPr>
          <p:nvPr userDrawn="1"/>
        </p:nvPicPr>
        <p:blipFill rotWithShape="1">
          <a:blip r:embed="rId3" cstate="print"/>
          <a:srcRect r="1346"/>
          <a:stretch>
            <a:fillRect/>
          </a:stretch>
        </p:blipFill>
        <p:spPr>
          <a:xfrm>
            <a:off x="516" y="6041797"/>
            <a:ext cx="12166903" cy="411617"/>
          </a:xfrm>
          <a:prstGeom prst="rect">
            <a:avLst/>
          </a:prstGeom>
        </p:spPr>
      </p:pic>
      <p:sp>
        <p:nvSpPr>
          <p:cNvPr id="9" name="文本占位符 31"/>
          <p:cNvSpPr>
            <a:spLocks noGrp="1"/>
          </p:cNvSpPr>
          <p:nvPr>
            <p:ph type="body" sz="quarter" idx="12"/>
          </p:nvPr>
        </p:nvSpPr>
        <p:spPr>
          <a:xfrm>
            <a:off x="319056"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0" name="文本占位符 31"/>
          <p:cNvSpPr>
            <a:spLocks noGrp="1"/>
          </p:cNvSpPr>
          <p:nvPr>
            <p:ph type="body" sz="quarter" idx="13"/>
          </p:nvPr>
        </p:nvSpPr>
        <p:spPr>
          <a:xfrm>
            <a:off x="4788940"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9" name="平行四边形 18"/>
          <p:cNvSpPr/>
          <p:nvPr userDrawn="1"/>
        </p:nvSpPr>
        <p:spPr>
          <a:xfrm>
            <a:off x="0" y="1"/>
            <a:ext cx="12191483" cy="685800"/>
          </a:xfrm>
          <a:prstGeom prst="parallelogram">
            <a:avLst>
              <a:gd name="adj" fmla="val 430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descr="图片包含 户外, 标牌, 黑色&#10;&#10;自动生成的说明"/>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19056" y="73482"/>
            <a:ext cx="538838" cy="538838"/>
          </a:xfrm>
          <a:prstGeom prst="rect">
            <a:avLst/>
          </a:prstGeom>
        </p:spPr>
      </p:pic>
      <p:sp>
        <p:nvSpPr>
          <p:cNvPr id="21" name="文本占位符 31"/>
          <p:cNvSpPr>
            <a:spLocks noGrp="1"/>
          </p:cNvSpPr>
          <p:nvPr>
            <p:ph type="body" sz="quarter" idx="14"/>
          </p:nvPr>
        </p:nvSpPr>
        <p:spPr>
          <a:xfrm>
            <a:off x="1075351" y="43657"/>
            <a:ext cx="7081677"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11" name="平行四边形 10"/>
          <p:cNvSpPr/>
          <p:nvPr userDrawn="1"/>
        </p:nvSpPr>
        <p:spPr>
          <a:xfrm>
            <a:off x="11428834" y="119857"/>
            <a:ext cx="473565" cy="242093"/>
          </a:xfrm>
          <a:prstGeom prst="parallelogram">
            <a:avLst>
              <a:gd name="adj" fmla="val 44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平行四边形 11"/>
          <p:cNvSpPr/>
          <p:nvPr userDrawn="1"/>
        </p:nvSpPr>
        <p:spPr>
          <a:xfrm>
            <a:off x="11016782" y="322602"/>
            <a:ext cx="473565" cy="242093"/>
          </a:xfrm>
          <a:prstGeom prst="parallelogram">
            <a:avLst>
              <a:gd name="adj" fmla="val 44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672384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纯标题">
    <p:spTree>
      <p:nvGrpSpPr>
        <p:cNvPr id="1" name=""/>
        <p:cNvGrpSpPr/>
        <p:nvPr/>
      </p:nvGrpSpPr>
      <p:grpSpPr>
        <a:xfrm>
          <a:off x="0" y="0"/>
          <a:ext cx="0" cy="0"/>
          <a:chOff x="0" y="0"/>
          <a:chExt cx="0" cy="0"/>
        </a:xfrm>
      </p:grpSpPr>
      <p:pic>
        <p:nvPicPr>
          <p:cNvPr id="3"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14"/>
          <p:cNvSpPr/>
          <p:nvPr/>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pic>
        <p:nvPicPr>
          <p:cNvPr id="7"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userDrawn="1"/>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pic>
        <p:nvPicPr>
          <p:cNvPr id="11" name="图片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4"/>
          <p:cNvSpPr>
            <a:spLocks noGrp="1"/>
          </p:cNvSpPr>
          <p:nvPr>
            <p:ph type="title"/>
          </p:nvPr>
        </p:nvSpPr>
        <p:spPr>
          <a:xfrm>
            <a:off x="658702" y="975603"/>
            <a:ext cx="11162884" cy="574183"/>
          </a:xfrm>
          <a:prstGeom prst="rect">
            <a:avLst/>
          </a:prstGeom>
        </p:spPr>
        <p:txBody>
          <a:bodyPr/>
          <a:lstStyle>
            <a:lvl1pPr>
              <a:defRPr sz="3200" b="1">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4022189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其他常规样式（1）">
    <p:spTree>
      <p:nvGrpSpPr>
        <p:cNvPr id="1" name=""/>
        <p:cNvGrpSpPr/>
        <p:nvPr/>
      </p:nvGrpSpPr>
      <p:grpSpPr>
        <a:xfrm>
          <a:off x="0" y="0"/>
          <a:ext cx="0" cy="0"/>
          <a:chOff x="0" y="0"/>
          <a:chExt cx="0" cy="0"/>
        </a:xfrm>
      </p:grpSpPr>
      <p:sp>
        <p:nvSpPr>
          <p:cNvPr id="18" name="平行四边形 17"/>
          <p:cNvSpPr/>
          <p:nvPr userDrawn="1"/>
        </p:nvSpPr>
        <p:spPr>
          <a:xfrm>
            <a:off x="0" y="1"/>
            <a:ext cx="12191483" cy="830940"/>
          </a:xfrm>
          <a:prstGeom prst="parallelogram">
            <a:avLst>
              <a:gd name="adj"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占位符 31"/>
          <p:cNvSpPr>
            <a:spLocks noGrp="1"/>
          </p:cNvSpPr>
          <p:nvPr>
            <p:ph type="body" sz="quarter" idx="11"/>
          </p:nvPr>
        </p:nvSpPr>
        <p:spPr>
          <a:xfrm>
            <a:off x="563076" y="125299"/>
            <a:ext cx="9774619"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17" name="文本占位符 16"/>
          <p:cNvSpPr>
            <a:spLocks noGrp="1"/>
          </p:cNvSpPr>
          <p:nvPr>
            <p:ph type="body" sz="quarter" idx="14" hasCustomPrompt="1"/>
          </p:nvPr>
        </p:nvSpPr>
        <p:spPr>
          <a:xfrm>
            <a:off x="537676" y="1190090"/>
            <a:ext cx="11174254" cy="4765791"/>
          </a:xfrm>
          <a:prstGeom prst="rect">
            <a:avLst/>
          </a:prstGeom>
        </p:spPr>
        <p:txBody>
          <a:bodyPr/>
          <a:lstStyle>
            <a:lvl1pPr marL="342900" indent="-342900">
              <a:lnSpc>
                <a:spcPct val="130000"/>
              </a:lnSpc>
              <a:buClr>
                <a:schemeClr val="accent1">
                  <a:lumMod val="75000"/>
                </a:schemeClr>
              </a:buClr>
              <a:buFont typeface="Wingdings" panose="05000000000000000000" pitchFamily="2" charset="2"/>
              <a:buChar char="p"/>
              <a:defRPr sz="2400" b="1" spc="300">
                <a:solidFill>
                  <a:schemeClr val="accent2">
                    <a:lumMod val="50000"/>
                  </a:schemeClr>
                </a:solidFill>
              </a:defRPr>
            </a:lvl1pPr>
            <a:lvl2pPr marL="685800" indent="-228600">
              <a:lnSpc>
                <a:spcPct val="130000"/>
              </a:lnSpc>
              <a:buClr>
                <a:schemeClr val="accent1">
                  <a:lumMod val="60000"/>
                  <a:lumOff val="40000"/>
                </a:schemeClr>
              </a:buClr>
              <a:buFont typeface="Arial" panose="020B0604020202020204" pitchFamily="34" charset="0"/>
              <a:buChar char="•"/>
              <a:defRPr sz="2400" spc="300">
                <a:solidFill>
                  <a:schemeClr val="accent2">
                    <a:lumMod val="50000"/>
                  </a:schemeClr>
                </a:solidFill>
              </a:defRPr>
            </a:lvl2pPr>
            <a:lvl3pPr marL="1143000" indent="-228600">
              <a:lnSpc>
                <a:spcPct val="130000"/>
              </a:lnSpc>
              <a:buClr>
                <a:schemeClr val="accent1">
                  <a:lumMod val="60000"/>
                  <a:lumOff val="40000"/>
                </a:schemeClr>
              </a:buClr>
              <a:buFont typeface="Arial" panose="020B0604020202020204" pitchFamily="34" charset="0"/>
              <a:buChar char="•"/>
              <a:defRPr sz="2000" spc="300">
                <a:solidFill>
                  <a:schemeClr val="accent2">
                    <a:lumMod val="50000"/>
                  </a:schemeClr>
                </a:solidFill>
              </a:defRPr>
            </a:lvl3pPr>
            <a:lvl4pPr marL="1600200" indent="-228600">
              <a:lnSpc>
                <a:spcPct val="130000"/>
              </a:lnSpc>
              <a:buClr>
                <a:schemeClr val="accent1">
                  <a:lumMod val="60000"/>
                  <a:lumOff val="40000"/>
                </a:schemeClr>
              </a:buClr>
              <a:buFont typeface="Arial" panose="020B0604020202020204" pitchFamily="34" charset="0"/>
              <a:buChar char="•"/>
              <a:defRPr sz="1800" spc="300">
                <a:solidFill>
                  <a:schemeClr val="accent2">
                    <a:lumMod val="50000"/>
                  </a:schemeClr>
                </a:solidFill>
              </a:defRPr>
            </a:lvl4pPr>
            <a:lvl5pPr marL="2057400" indent="-228600">
              <a:lnSpc>
                <a:spcPct val="130000"/>
              </a:lnSpc>
              <a:buClr>
                <a:schemeClr val="accent1">
                  <a:lumMod val="60000"/>
                  <a:lumOff val="40000"/>
                </a:schemeClr>
              </a:buClr>
              <a:buFont typeface="Arial" panose="020B0604020202020204" pitchFamily="34" charset="0"/>
              <a:buChar char="•"/>
              <a:defRPr sz="1800" spc="300">
                <a:solidFill>
                  <a:schemeClr val="accent2">
                    <a:lumMod val="50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等腰三角形 12"/>
          <p:cNvSpPr/>
          <p:nvPr userDrawn="1"/>
        </p:nvSpPr>
        <p:spPr>
          <a:xfrm rot="5400000">
            <a:off x="159636" y="354693"/>
            <a:ext cx="429986" cy="139700"/>
          </a:xfrm>
          <a:prstGeom prst="triangle">
            <a:avLst/>
          </a:prstGeom>
          <a:solidFill>
            <a:srgbClr val="CC9B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rotWithShape="1">
          <a:blip r:embed="rId2" cstate="screen">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20000" contrast="20000"/>
                    </a14:imgEffect>
                    <a14:imgEffect>
                      <a14:saturation sat="0"/>
                    </a14:imgEffect>
                  </a14:imgLayer>
                </a14:imgProps>
              </a:ext>
            </a:extLst>
          </a:blip>
          <a:srcRect t="-39299"/>
          <a:stretch>
            <a:fillRect/>
          </a:stretch>
        </p:blipFill>
        <p:spPr>
          <a:xfrm>
            <a:off x="9299011" y="144759"/>
            <a:ext cx="2626310" cy="455772"/>
          </a:xfrm>
          <a:prstGeom prst="rect">
            <a:avLst/>
          </a:prstGeom>
        </p:spPr>
      </p:pic>
      <p:sp>
        <p:nvSpPr>
          <p:cNvPr id="10" name="矩形: 剪去单角 9"/>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1" name="平行四边形 10"/>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951341" y="6663471"/>
            <a:ext cx="846707" cy="261610"/>
          </a:xfrm>
          <a:prstGeom prst="rect">
            <a:avLst/>
          </a:prstGeom>
        </p:spPr>
        <p:txBody>
          <a:bodyPr wrap="none">
            <a:spAutoFit/>
          </a:bodyPr>
          <a:lstStyle/>
          <a:p>
            <a:pPr lvl="0" algn="dist"/>
            <a:r>
              <a:rPr lang="en-US" altLang="zh-CN" sz="1100" b="0" i="1" spc="600" dirty="0">
                <a:solidFill>
                  <a:schemeClr val="bg1"/>
                </a:solidFill>
                <a:effectLst>
                  <a:outerShdw blurRad="38100" dist="38100" dir="2700000" algn="tl">
                    <a:srgbClr val="000000">
                      <a:alpha val="43137"/>
                    </a:srgbClr>
                  </a:outerShdw>
                </a:effectLst>
              </a:rPr>
              <a:t>SJTU</a:t>
            </a:r>
            <a:endParaRPr lang="zh-CN" altLang="en-US" sz="1100" b="0" i="1" spc="600" dirty="0">
              <a:solidFill>
                <a:schemeClr val="bg1"/>
              </a:solidFill>
              <a:effectLst>
                <a:outerShdw blurRad="38100" dist="38100" dir="2700000" algn="tl">
                  <a:srgbClr val="000000">
                    <a:alpha val="43137"/>
                  </a:srgbClr>
                </a:outerShdw>
              </a:effectLst>
            </a:endParaRPr>
          </a:p>
        </p:txBody>
      </p:sp>
      <p:sp>
        <p:nvSpPr>
          <p:cNvPr id="9" name="灯片编号占位符 5"/>
          <p:cNvSpPr>
            <a:spLocks noGrp="1"/>
          </p:cNvSpPr>
          <p:nvPr>
            <p:ph type="sldNum" sz="quarter" idx="4"/>
          </p:nvPr>
        </p:nvSpPr>
        <p:spPr>
          <a:xfrm>
            <a:off x="11078570" y="6613626"/>
            <a:ext cx="1037230" cy="342900"/>
          </a:xfrm>
          <a:prstGeom prst="rect">
            <a:avLst/>
          </a:prstGeom>
        </p:spPr>
        <p:txBody>
          <a:bodyPr vert="horz" lIns="91440" tIns="45720" rIns="91440" bIns="45720" rtlCol="0" anchor="ctr"/>
          <a:lstStyle>
            <a:lvl1pPr algn="r">
              <a:defRPr sz="1200">
                <a:solidFill>
                  <a:schemeClr val="tx1"/>
                </a:solidFill>
              </a:defRPr>
            </a:lvl1pPr>
          </a:lstStyle>
          <a:p>
            <a:fld id="{548644C6-89F0-466C-949F-E70AD72679A8}" type="slidenum">
              <a:rPr lang="zh-CN" altLang="en-US" smtClean="0"/>
              <a:t>‹#›</a:t>
            </a:fld>
            <a:endParaRPr lang="zh-CN" altLang="en-US"/>
          </a:p>
        </p:txBody>
      </p:sp>
    </p:spTree>
    <p:extLst>
      <p:ext uri="{BB962C8B-B14F-4D97-AF65-F5344CB8AC3E}">
        <p14:creationId xmlns:p14="http://schemas.microsoft.com/office/powerpoint/2010/main" val="232648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7.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2.png"/><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image" Target="../media/image7.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image" Target="../media/image2.png"/><Relationship Id="rId2" Type="http://schemas.openxmlformats.org/officeDocument/2006/relationships/slideLayout" Target="../slideLayouts/slideLayout29.xml"/><Relationship Id="rId16"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9"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1362214"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r>
              <a:rPr lang="en-US" altLang="zh-CN" dirty="0"/>
              <a:t>/xx</a:t>
            </a:r>
            <a:endParaRPr lang="zh-CN" altLang="en-US" dirty="0"/>
          </a:p>
        </p:txBody>
      </p:sp>
      <p:pic>
        <p:nvPicPr>
          <p:cNvPr id="12" name="图片 1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8" r:id="rId5"/>
    <p:sldLayoutId id="2147483657" r:id="rId6"/>
    <p:sldLayoutId id="2147483659" r:id="rId7"/>
  </p:sldLayoutIdLst>
  <p:hf sldNum="0" hdr="0" ftr="0"/>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8"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34814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6" cstate="print"/>
          <a:srcRect r="1346"/>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3">
                <a:solidFill>
                  <a:schemeClr val="bg1"/>
                </a:solidFill>
              </a:defRPr>
            </a:lvl1pPr>
          </a:lstStyle>
          <a:p>
            <a:fld id="{66E0AC87-F9B6-4F7A-AB3A-6863E2A5800B}" type="slidenum">
              <a:rPr lang="zh-CN" altLang="en-US" smtClean="0"/>
              <a:pPr/>
              <a:t>‹#›</a:t>
            </a:fld>
            <a:endParaRPr lang="zh-CN" altLang="en-US"/>
          </a:p>
        </p:txBody>
      </p:sp>
      <p:pic>
        <p:nvPicPr>
          <p:cNvPr id="12" name="图片 11"/>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687330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Lst>
  <p:txStyles>
    <p:titleStyle>
      <a:lvl1pPr algn="l" defTabSz="1219203"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381372" indent="-381372" algn="just" defTabSz="1219203" rtl="0" eaLnBrk="1" latinLnBrk="0" hangingPunct="1">
        <a:lnSpc>
          <a:spcPct val="120000"/>
        </a:lnSpc>
        <a:spcBef>
          <a:spcPts val="0"/>
        </a:spcBef>
        <a:spcAft>
          <a:spcPts val="635"/>
        </a:spcAft>
        <a:buSzPct val="80000"/>
        <a:buFontTx/>
        <a:buBlip>
          <a:blip r:embed="rId18"/>
        </a:buBlip>
        <a:defRPr sz="2400" b="1" kern="1200">
          <a:solidFill>
            <a:schemeClr val="tx2"/>
          </a:solidFill>
          <a:latin typeface="微软雅黑" panose="020B0503020204020204" pitchFamily="34" charset="-122"/>
          <a:ea typeface="微软雅黑" panose="020B0503020204020204" pitchFamily="34" charset="-122"/>
          <a:cs typeface="+mn-cs"/>
        </a:defRPr>
      </a:lvl1pPr>
      <a:lvl2pPr marL="914401" indent="-304800" algn="just" defTabSz="1219203" rtl="0" eaLnBrk="1" latinLnBrk="0" hangingPunct="1">
        <a:lnSpc>
          <a:spcPct val="120000"/>
        </a:lnSpc>
        <a:spcBef>
          <a:spcPts val="0"/>
        </a:spcBef>
        <a:spcAft>
          <a:spcPts val="635"/>
        </a:spcAft>
        <a:buSzPct val="70000"/>
        <a:buFontTx/>
        <a:buBlip>
          <a:blip r:embed="rId18"/>
        </a:buBlip>
        <a:defRPr sz="2000" b="1" kern="1200">
          <a:solidFill>
            <a:schemeClr val="tx2"/>
          </a:solidFill>
          <a:latin typeface="微软雅黑" panose="020B0503020204020204" pitchFamily="34" charset="-122"/>
          <a:ea typeface="微软雅黑" panose="020B0503020204020204" pitchFamily="34" charset="-122"/>
          <a:cs typeface="+mn-cs"/>
        </a:defRPr>
      </a:lvl2pPr>
      <a:lvl3pPr marL="1524003" indent="-304800" algn="just" defTabSz="1219203" rtl="0" eaLnBrk="1" latinLnBrk="0" hangingPunct="1">
        <a:lnSpc>
          <a:spcPct val="120000"/>
        </a:lnSpc>
        <a:spcBef>
          <a:spcPts val="0"/>
        </a:spcBef>
        <a:spcAft>
          <a:spcPts val="635"/>
        </a:spcAft>
        <a:buSzPct val="60000"/>
        <a:buFontTx/>
        <a:buBlip>
          <a:blip r:embed="rId18"/>
        </a:buBlip>
        <a:defRPr sz="1800" b="1" kern="1200">
          <a:solidFill>
            <a:schemeClr val="tx2"/>
          </a:solidFill>
          <a:latin typeface="微软雅黑" panose="020B0503020204020204" pitchFamily="34" charset="-122"/>
          <a:ea typeface="微软雅黑" panose="020B0503020204020204" pitchFamily="34" charset="-122"/>
          <a:cs typeface="+mn-cs"/>
        </a:defRPr>
      </a:lvl3pPr>
      <a:lvl4pPr marL="2133604" indent="-304800" algn="l" defTabSz="1219203" rtl="0" eaLnBrk="1" latinLnBrk="0" hangingPunct="1">
        <a:lnSpc>
          <a:spcPct val="90000"/>
        </a:lnSpc>
        <a:spcBef>
          <a:spcPts val="667"/>
        </a:spcBef>
        <a:buFont typeface="Arial" panose="020B0604020202020204" pitchFamily="34" charset="0"/>
        <a:buChar char="•"/>
        <a:defRPr sz="2400" kern="1200">
          <a:solidFill>
            <a:schemeClr val="bg2"/>
          </a:solidFill>
          <a:latin typeface="+mn-lt"/>
          <a:ea typeface="+mn-ea"/>
          <a:cs typeface="+mn-cs"/>
        </a:defRPr>
      </a:lvl4pPr>
      <a:lvl5pPr marL="2743205" indent="-304800" algn="l" defTabSz="1219203" rtl="0" eaLnBrk="1" latinLnBrk="0" hangingPunct="1">
        <a:lnSpc>
          <a:spcPct val="90000"/>
        </a:lnSpc>
        <a:spcBef>
          <a:spcPts val="667"/>
        </a:spcBef>
        <a:buFont typeface="Arial" panose="020B0604020202020204" pitchFamily="34" charset="0"/>
        <a:buChar char="•"/>
        <a:defRPr sz="2400" kern="1200">
          <a:solidFill>
            <a:schemeClr val="bg2"/>
          </a:solidFill>
          <a:latin typeface="+mn-lt"/>
          <a:ea typeface="+mn-ea"/>
          <a:cs typeface="+mn-cs"/>
        </a:defRPr>
      </a:lvl5pPr>
      <a:lvl6pPr marL="3352807" indent="-304800" algn="l" defTabSz="1219203"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407" indent="-304800" algn="l" defTabSz="1219203"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2007" indent="-304800" algn="l" defTabSz="1219203"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609" indent="-304800" algn="l" defTabSz="1219203"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3" rtl="0" eaLnBrk="1" latinLnBrk="0" hangingPunct="1">
        <a:defRPr sz="2400" kern="1200">
          <a:solidFill>
            <a:schemeClr val="tx1"/>
          </a:solidFill>
          <a:latin typeface="+mn-lt"/>
          <a:ea typeface="+mn-ea"/>
          <a:cs typeface="+mn-cs"/>
        </a:defRPr>
      </a:lvl1pPr>
      <a:lvl2pPr marL="609601" algn="l" defTabSz="1219203" rtl="0" eaLnBrk="1" latinLnBrk="0" hangingPunct="1">
        <a:defRPr sz="2400" kern="1200">
          <a:solidFill>
            <a:schemeClr val="tx1"/>
          </a:solidFill>
          <a:latin typeface="+mn-lt"/>
          <a:ea typeface="+mn-ea"/>
          <a:cs typeface="+mn-cs"/>
        </a:defRPr>
      </a:lvl2pPr>
      <a:lvl3pPr marL="1219203" algn="l" defTabSz="1219203" rtl="0" eaLnBrk="1" latinLnBrk="0" hangingPunct="1">
        <a:defRPr sz="2400" kern="1200">
          <a:solidFill>
            <a:schemeClr val="tx1"/>
          </a:solidFill>
          <a:latin typeface="+mn-lt"/>
          <a:ea typeface="+mn-ea"/>
          <a:cs typeface="+mn-cs"/>
        </a:defRPr>
      </a:lvl3pPr>
      <a:lvl4pPr marL="1828804" algn="l" defTabSz="1219203" rtl="0" eaLnBrk="1" latinLnBrk="0" hangingPunct="1">
        <a:defRPr sz="2400" kern="1200">
          <a:solidFill>
            <a:schemeClr val="tx1"/>
          </a:solidFill>
          <a:latin typeface="+mn-lt"/>
          <a:ea typeface="+mn-ea"/>
          <a:cs typeface="+mn-cs"/>
        </a:defRPr>
      </a:lvl4pPr>
      <a:lvl5pPr marL="2438404" algn="l" defTabSz="1219203" rtl="0" eaLnBrk="1" latinLnBrk="0" hangingPunct="1">
        <a:defRPr sz="2400" kern="1200">
          <a:solidFill>
            <a:schemeClr val="tx1"/>
          </a:solidFill>
          <a:latin typeface="+mn-lt"/>
          <a:ea typeface="+mn-ea"/>
          <a:cs typeface="+mn-cs"/>
        </a:defRPr>
      </a:lvl5pPr>
      <a:lvl6pPr marL="3048006" algn="l" defTabSz="1219203" rtl="0" eaLnBrk="1" latinLnBrk="0" hangingPunct="1">
        <a:defRPr sz="2400" kern="1200">
          <a:solidFill>
            <a:schemeClr val="tx1"/>
          </a:solidFill>
          <a:latin typeface="+mn-lt"/>
          <a:ea typeface="+mn-ea"/>
          <a:cs typeface="+mn-cs"/>
        </a:defRPr>
      </a:lvl6pPr>
      <a:lvl7pPr marL="3657607" algn="l" defTabSz="1219203" rtl="0" eaLnBrk="1" latinLnBrk="0" hangingPunct="1">
        <a:defRPr sz="2400" kern="1200">
          <a:solidFill>
            <a:schemeClr val="tx1"/>
          </a:solidFill>
          <a:latin typeface="+mn-lt"/>
          <a:ea typeface="+mn-ea"/>
          <a:cs typeface="+mn-cs"/>
        </a:defRPr>
      </a:lvl7pPr>
      <a:lvl8pPr marL="4267207" algn="l" defTabSz="1219203" rtl="0" eaLnBrk="1" latinLnBrk="0" hangingPunct="1">
        <a:defRPr sz="2400" kern="1200">
          <a:solidFill>
            <a:schemeClr val="tx1"/>
          </a:solidFill>
          <a:latin typeface="+mn-lt"/>
          <a:ea typeface="+mn-ea"/>
          <a:cs typeface="+mn-cs"/>
        </a:defRPr>
      </a:lvl8pPr>
      <a:lvl9pPr marL="4876809" algn="l" defTabSz="121920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90">
          <p15:clr>
            <a:srgbClr val="F26B43"/>
          </p15:clr>
        </p15:guide>
        <p15:guide id="2" orient="horz" pos="1929">
          <p15:clr>
            <a:srgbClr val="F26B43"/>
          </p15:clr>
        </p15:guide>
        <p15:guide id="3" orient="horz" pos="673">
          <p15:clr>
            <a:srgbClr val="F26B43"/>
          </p15:clr>
        </p15:guide>
        <p15:guide id="4" orient="horz" pos="552">
          <p15:clr>
            <a:srgbClr val="F26B43"/>
          </p15:clr>
        </p15:guide>
        <p15:guide id="5" pos="3429">
          <p15:clr>
            <a:srgbClr val="F26B43"/>
          </p15:clr>
        </p15:guide>
        <p15:guide id="6" pos="188">
          <p15:clr>
            <a:srgbClr val="F26B43"/>
          </p15:clr>
        </p15:guide>
        <p15:guide id="7" pos="6669">
          <p15:clr>
            <a:srgbClr val="F26B43"/>
          </p15:clr>
        </p15:guide>
        <p15:guide id="8" orient="horz" pos="35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6"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430939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hf hdr="0" ftr="0" dt="0"/>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charset="-122"/>
          <a:ea typeface="微软雅黑" panose="020B0503020204020204" charset="-122"/>
          <a:cs typeface="+mj-cs"/>
        </a:defRPr>
      </a:lvl1pPr>
    </p:titleStyle>
    <p:bodyStyle>
      <a:lvl1pPr marL="381635" indent="-381635" algn="just" defTabSz="1219200" rtl="0" eaLnBrk="1" latinLnBrk="0" hangingPunct="1">
        <a:lnSpc>
          <a:spcPct val="120000"/>
        </a:lnSpc>
        <a:spcBef>
          <a:spcPts val="0"/>
        </a:spcBef>
        <a:spcAft>
          <a:spcPts val="635"/>
        </a:spcAft>
        <a:buSzPct val="80000"/>
        <a:buFontTx/>
        <a:buBlip>
          <a:blip r:embed="rId18"/>
        </a:buBlip>
        <a:defRPr sz="2400" b="1" kern="1200">
          <a:solidFill>
            <a:schemeClr val="tx2"/>
          </a:solidFill>
          <a:latin typeface="微软雅黑" panose="020B0503020204020204" charset="-122"/>
          <a:ea typeface="微软雅黑" panose="020B0503020204020204" charset="-122"/>
          <a:cs typeface="+mn-cs"/>
        </a:defRPr>
      </a:lvl1pPr>
      <a:lvl2pPr marL="914400" indent="-304800" algn="just" defTabSz="1219200" rtl="0" eaLnBrk="1" latinLnBrk="0" hangingPunct="1">
        <a:lnSpc>
          <a:spcPct val="120000"/>
        </a:lnSpc>
        <a:spcBef>
          <a:spcPts val="0"/>
        </a:spcBef>
        <a:spcAft>
          <a:spcPts val="635"/>
        </a:spcAft>
        <a:buSzPct val="70000"/>
        <a:buFontTx/>
        <a:buBlip>
          <a:blip r:embed="rId18"/>
        </a:buBlip>
        <a:defRPr sz="2000" b="1" kern="1200">
          <a:solidFill>
            <a:schemeClr val="tx2"/>
          </a:solidFill>
          <a:latin typeface="微软雅黑" panose="020B0503020204020204" charset="-122"/>
          <a:ea typeface="微软雅黑" panose="020B0503020204020204" charset="-122"/>
          <a:cs typeface="+mn-cs"/>
        </a:defRPr>
      </a:lvl2pPr>
      <a:lvl3pPr marL="1524000" indent="-304800" algn="just" defTabSz="1219200" rtl="0" eaLnBrk="1" latinLnBrk="0" hangingPunct="1">
        <a:lnSpc>
          <a:spcPct val="120000"/>
        </a:lnSpc>
        <a:spcBef>
          <a:spcPts val="0"/>
        </a:spcBef>
        <a:spcAft>
          <a:spcPts val="635"/>
        </a:spcAft>
        <a:buSzPct val="60000"/>
        <a:buFontTx/>
        <a:buBlip>
          <a:blip r:embed="rId18"/>
        </a:buBlip>
        <a:defRPr sz="1800" b="1" kern="1200">
          <a:solidFill>
            <a:schemeClr val="tx2"/>
          </a:solidFill>
          <a:latin typeface="微软雅黑" panose="020B0503020204020204" charset="-122"/>
          <a:ea typeface="微软雅黑" panose="020B050302020402020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130.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290.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7" Type="http://schemas.openxmlformats.org/officeDocument/2006/relationships/image" Target="../media/image360.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350.png"/><Relationship Id="rId5" Type="http://schemas.openxmlformats.org/officeDocument/2006/relationships/image" Target="../media/image340.png"/></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 Id="rId5" Type="http://schemas.openxmlformats.org/officeDocument/2006/relationships/image" Target="../media/image1310.png"/></Relationships>
</file>

<file path=ppt/slides/_rels/slide3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tags" Target="../tags/tag3.xml"/><Relationship Id="rId7" Type="http://schemas.openxmlformats.org/officeDocument/2006/relationships/image" Target="../media/image5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52.png"/><Relationship Id="rId5" Type="http://schemas.openxmlformats.org/officeDocument/2006/relationships/slideLayout" Target="../slideLayouts/slideLayout4.xml"/><Relationship Id="rId4" Type="http://schemas.openxmlformats.org/officeDocument/2006/relationships/tags" Target="../tags/tag4.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3.xml"/><Relationship Id="rId1" Type="http://schemas.openxmlformats.org/officeDocument/2006/relationships/tags" Target="../tags/tag5.xml"/><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3.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snake.html" TargetMode="External"/><Relationship Id="rId1" Type="http://schemas.openxmlformats.org/officeDocument/2006/relationships/slideLayout" Target="../slideLayouts/slideLayout33.xml"/></Relationships>
</file>

<file path=ppt/slides/_rels/slide5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3.xml"/></Relationships>
</file>

<file path=ppt/slides/_rels/slide5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33.xml"/></Relationships>
</file>

<file path=ppt/slides/_rels/slide5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33.xml"/></Relationships>
</file>

<file path=ppt/slides/_rels/slide55.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33.xml"/></Relationships>
</file>

<file path=ppt/slides/_rels/slide56.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33.xml"/></Relationships>
</file>

<file path=ppt/slides/_rels/slide57.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6.xml"/><Relationship Id="rId5" Type="http://schemas.openxmlformats.org/officeDocument/2006/relationships/image" Target="../media/image71.png"/><Relationship Id="rId4" Type="http://schemas.openxmlformats.org/officeDocument/2006/relationships/slideLayout" Target="../slideLayouts/slideLayout33.xml"/></Relationships>
</file>

<file path=ppt/slides/_rels/slide58.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3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4" Type="http://schemas.openxmlformats.org/officeDocument/2006/relationships/image" Target="../media/image9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650.png"/></Relationships>
</file>

<file path=ppt/slides/_rels/slide70.xml.rels><?xml version="1.0" encoding="UTF-8" standalone="yes"?>
<Relationships xmlns="http://schemas.openxmlformats.org/package/2006/relationships"><Relationship Id="rId8" Type="http://schemas.openxmlformats.org/officeDocument/2006/relationships/image" Target="../media/image76.png"/><Relationship Id="rId7" Type="http://schemas.openxmlformats.org/officeDocument/2006/relationships/image" Target="../media/image7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61.png"/><Relationship Id="rId5" Type="http://schemas.openxmlformats.org/officeDocument/2006/relationships/image" Target="../media/image650.png"/><Relationship Id="rId9" Type="http://schemas.openxmlformats.org/officeDocument/2006/relationships/image" Target="../media/image77.png"/></Relationships>
</file>

<file path=ppt/slides/_rels/slide71.xml.rels><?xml version="1.0" encoding="UTF-8" standalone="yes"?>
<Relationships xmlns="http://schemas.openxmlformats.org/package/2006/relationships"><Relationship Id="rId7" Type="http://schemas.openxmlformats.org/officeDocument/2006/relationships/image" Target="../media/image310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1.png"/><Relationship Id="rId5" Type="http://schemas.openxmlformats.org/officeDocument/2006/relationships/image" Target="../media/image650.png"/></Relationships>
</file>

<file path=ppt/slides/_rels/slide72.xml.rels><?xml version="1.0" encoding="UTF-8" standalone="yes"?>
<Relationships xmlns="http://schemas.openxmlformats.org/package/2006/relationships"><Relationship Id="rId8" Type="http://schemas.openxmlformats.org/officeDocument/2006/relationships/image" Target="../media/image3100.png"/><Relationship Id="rId3" Type="http://schemas.openxmlformats.org/officeDocument/2006/relationships/notesSlide" Target="../notesSlides/notesSlide9.xml"/><Relationship Id="rId7" Type="http://schemas.openxmlformats.org/officeDocument/2006/relationships/image" Target="../media/image661.png"/><Relationship Id="rId2" Type="http://schemas.openxmlformats.org/officeDocument/2006/relationships/slideLayout" Target="../slideLayouts/slideLayout12.xml"/><Relationship Id="rId1" Type="http://schemas.openxmlformats.org/officeDocument/2006/relationships/tags" Target="../tags/tag7.xml"/><Relationship Id="rId6" Type="http://schemas.openxmlformats.org/officeDocument/2006/relationships/image" Target="../media/image650.png"/><Relationship Id="rId9" Type="http://schemas.openxmlformats.org/officeDocument/2006/relationships/image" Target="../media/image78.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740.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190.png"/></Relationships>
</file>

<file path=ppt/slides/_rels/slide75.xml.rels><?xml version="1.0" encoding="UTF-8" standalone="yes"?>
<Relationships xmlns="http://schemas.openxmlformats.org/package/2006/relationships"><Relationship Id="rId8" Type="http://schemas.openxmlformats.org/officeDocument/2006/relationships/image" Target="../media/image590.png"/><Relationship Id="rId2" Type="http://schemas.openxmlformats.org/officeDocument/2006/relationships/notesSlide" Target="../notesSlides/notesSlide12.xml"/><Relationship Id="rId1" Type="http://schemas.openxmlformats.org/officeDocument/2006/relationships/slideLayout" Target="../slideLayouts/slideLayout12.xml"/><Relationship Id="rId11" Type="http://schemas.openxmlformats.org/officeDocument/2006/relationships/image" Target="../media/image571.png"/><Relationship Id="rId10" Type="http://schemas.openxmlformats.org/officeDocument/2006/relationships/image" Target="../media/image660.png"/><Relationship Id="rId9" Type="http://schemas.openxmlformats.org/officeDocument/2006/relationships/image" Target="../media/image651.png"/></Relationships>
</file>

<file path=ppt/slides/_rels/slide76.xml.rels><?xml version="1.0" encoding="UTF-8" standalone="yes"?>
<Relationships xmlns="http://schemas.openxmlformats.org/package/2006/relationships"><Relationship Id="rId8" Type="http://schemas.openxmlformats.org/officeDocument/2006/relationships/image" Target="../media/image580.png"/><Relationship Id="rId7" Type="http://schemas.openxmlformats.org/officeDocument/2006/relationships/image" Target="../media/image57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60.png"/><Relationship Id="rId5" Type="http://schemas.openxmlformats.org/officeDocument/2006/relationships/image" Target="../media/image651.png"/></Relationships>
</file>

<file path=ppt/slides/_rels/slide77.xml.rels><?xml version="1.0" encoding="UTF-8" standalone="yes"?>
<Relationships xmlns="http://schemas.openxmlformats.org/package/2006/relationships"><Relationship Id="rId8" Type="http://schemas.openxmlformats.org/officeDocument/2006/relationships/image" Target="../media/image601.png"/><Relationship Id="rId7" Type="http://schemas.openxmlformats.org/officeDocument/2006/relationships/image" Target="../media/image57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660.png"/><Relationship Id="rId5" Type="http://schemas.openxmlformats.org/officeDocument/2006/relationships/image" Target="../media/image651.png"/></Relationships>
</file>

<file path=ppt/slides/_rels/slide78.xml.rels><?xml version="1.0" encoding="UTF-8" standalone="yes"?>
<Relationships xmlns="http://schemas.openxmlformats.org/package/2006/relationships"><Relationship Id="rId8" Type="http://schemas.openxmlformats.org/officeDocument/2006/relationships/image" Target="../media/image610.png"/><Relationship Id="rId7" Type="http://schemas.openxmlformats.org/officeDocument/2006/relationships/image" Target="../media/image57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60.png"/><Relationship Id="rId5" Type="http://schemas.openxmlformats.org/officeDocument/2006/relationships/image" Target="../media/image651.png"/></Relationships>
</file>

<file path=ppt/slides/_rels/slide79.xml.rels><?xml version="1.0" encoding="UTF-8" standalone="yes"?>
<Relationships xmlns="http://schemas.openxmlformats.org/package/2006/relationships"><Relationship Id="rId8" Type="http://schemas.openxmlformats.org/officeDocument/2006/relationships/image" Target="../media/image620.png"/><Relationship Id="rId7" Type="http://schemas.openxmlformats.org/officeDocument/2006/relationships/image" Target="../media/image571.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660.png"/><Relationship Id="rId5" Type="http://schemas.openxmlformats.org/officeDocument/2006/relationships/image" Target="../media/image65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9.png"/><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79.png"/><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9.xml"/><Relationship Id="rId5" Type="http://schemas.openxmlformats.org/officeDocument/2006/relationships/image" Target="../media/image64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 Id="rId5" Type="http://schemas.openxmlformats.org/officeDocument/2006/relationships/image" Target="../media/image550.png"/><Relationship Id="rId4" Type="http://schemas.openxmlformats.org/officeDocument/2006/relationships/image" Target="../media/image54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8" Type="http://schemas.openxmlformats.org/officeDocument/2006/relationships/image" Target="../media/image680.png"/><Relationship Id="rId3" Type="http://schemas.openxmlformats.org/officeDocument/2006/relationships/image" Target="../media/image84.png"/><Relationship Id="rId7" Type="http://schemas.openxmlformats.org/officeDocument/2006/relationships/image" Target="../media/image670.png"/><Relationship Id="rId2" Type="http://schemas.openxmlformats.org/officeDocument/2006/relationships/image" Target="../media/image83.png"/><Relationship Id="rId1" Type="http://schemas.openxmlformats.org/officeDocument/2006/relationships/slideLayout" Target="../slideLayouts/slideLayout18.xml"/><Relationship Id="rId6" Type="http://schemas.openxmlformats.org/officeDocument/2006/relationships/image" Target="../media/image66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2"/>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lang="zh-CN" altLang="en-US" sz="5400" dirty="0">
                <a:solidFill>
                  <a:schemeClr val="bg1"/>
                </a:solidFill>
                <a:latin typeface="微软雅黑" panose="020B0503020204020204" pitchFamily="34" charset="-122"/>
                <a:ea typeface="微软雅黑" panose="020B0503020204020204" pitchFamily="34" charset="-122"/>
              </a:rPr>
              <a:t>大模型介绍</a:t>
            </a:r>
            <a:endParaRPr lang="en-US" altLang="zh-CN" sz="54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2026年8月9日星期日</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057247"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一、大模型的发展</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二、大模型中的一些现象</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3057247"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三、大模型的应用</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3161058"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四、大模型的推理</a:t>
            </a:r>
          </a:p>
        </p:txBody>
      </p:sp>
      <p:sp>
        <p:nvSpPr>
          <p:cNvPr id="7" name="文本框 6">
            <a:extLst>
              <a:ext uri="{FF2B5EF4-FFF2-40B4-BE49-F238E27FC236}">
                <a16:creationId xmlns:a16="http://schemas.microsoft.com/office/drawing/2014/main" id="{79DD7FDB-25FF-6185-9FE7-D16019A87C7B}"/>
              </a:ext>
            </a:extLst>
          </p:cNvPr>
          <p:cNvSpPr txBox="1"/>
          <p:nvPr/>
        </p:nvSpPr>
        <p:spPr>
          <a:xfrm>
            <a:off x="92764" y="6374296"/>
            <a:ext cx="3075189" cy="246221"/>
          </a:xfrm>
          <a:prstGeom prst="rect">
            <a:avLst/>
          </a:prstGeom>
          <a:noFill/>
        </p:spPr>
        <p:txBody>
          <a:bodyPr wrap="square" rtlCol="0">
            <a:spAutoFit/>
          </a:bodyPr>
          <a:lstStyle/>
          <a:p>
            <a:pPr algn="l"/>
            <a:r>
              <a:rPr lang="en-US" altLang="zh-CN" sz="1000" dirty="0">
                <a:solidFill>
                  <a:schemeClr val="bg1"/>
                </a:solidFill>
              </a:rPr>
              <a:t>PPT</a:t>
            </a:r>
            <a:r>
              <a:rPr lang="zh-CN" altLang="en-US" sz="1000" dirty="0">
                <a:solidFill>
                  <a:schemeClr val="bg1"/>
                </a:solidFill>
              </a:rPr>
              <a:t>主要贡献：许志钦</a:t>
            </a:r>
          </a:p>
        </p:txBody>
      </p:sp>
      <p:sp>
        <p:nvSpPr>
          <p:cNvPr id="8" name="文本框 7">
            <a:extLst>
              <a:ext uri="{FF2B5EF4-FFF2-40B4-BE49-F238E27FC236}">
                <a16:creationId xmlns:a16="http://schemas.microsoft.com/office/drawing/2014/main" id="{C38F0869-8284-E9DE-6270-2E32F1502E88}"/>
              </a:ext>
            </a:extLst>
          </p:cNvPr>
          <p:cNvSpPr txBox="1"/>
          <p:nvPr/>
        </p:nvSpPr>
        <p:spPr>
          <a:xfrm>
            <a:off x="2839468" y="5309012"/>
            <a:ext cx="8353486" cy="400110"/>
          </a:xfrm>
          <a:prstGeom prst="rect">
            <a:avLst/>
          </a:prstGeom>
          <a:noFill/>
        </p:spPr>
        <p:txBody>
          <a:bodyPr wrap="square" rtlCol="0">
            <a:spAutoFit/>
          </a:bodyPr>
          <a:lstStyle/>
          <a:p>
            <a:pPr algn="l"/>
            <a:r>
              <a:rPr lang="zh-CN" altLang="en-US" sz="2000" dirty="0">
                <a:solidFill>
                  <a:schemeClr val="tx2"/>
                </a:solidFill>
              </a:rPr>
              <a:t>大模型的发展速度非常快，同学们可通过其它渠道掌握最新进展！</a:t>
            </a:r>
          </a:p>
        </p:txBody>
      </p:sp>
    </p:spTree>
    <p:extLst>
      <p:ext uri="{BB962C8B-B14F-4D97-AF65-F5344CB8AC3E}">
        <p14:creationId xmlns:p14="http://schemas.microsoft.com/office/powerpoint/2010/main" val="328333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057247"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一、大模型的发展</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二、大模型中的一些现象</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3057247"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三、大模型的应用</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316105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四、大模型的推理</a:t>
            </a:r>
          </a:p>
        </p:txBody>
      </p:sp>
    </p:spTree>
    <p:extLst>
      <p:ext uri="{BB962C8B-B14F-4D97-AF65-F5344CB8AC3E}">
        <p14:creationId xmlns:p14="http://schemas.microsoft.com/office/powerpoint/2010/main" val="38835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什么是大模型？</a:t>
            </a:r>
          </a:p>
        </p:txBody>
      </p:sp>
      <p:sp>
        <p:nvSpPr>
          <p:cNvPr id="14" name="文本框 13"/>
          <p:cNvSpPr txBox="1"/>
          <p:nvPr/>
        </p:nvSpPr>
        <p:spPr>
          <a:xfrm>
            <a:off x="141253" y="949301"/>
            <a:ext cx="11757236" cy="4108817"/>
          </a:xfrm>
          <a:prstGeom prst="rect">
            <a:avLst/>
          </a:prstGeom>
          <a:noFill/>
        </p:spPr>
        <p:txBody>
          <a:bodyPr wrap="square">
            <a:spAutoFit/>
          </a:bodyPr>
          <a:lstStyle>
            <a:defPPr>
              <a:defRPr lang="zh-CN"/>
            </a:defPPr>
            <a:lvl1pPr>
              <a:lnSpc>
                <a:spcPct val="150000"/>
              </a:lnSpc>
              <a:defRPr sz="2400">
                <a:solidFill>
                  <a:srgbClr val="070707"/>
                </a:solidFill>
                <a:latin typeface="微软雅黑" panose="020B0503020204020204" pitchFamily="34" charset="-122"/>
                <a:ea typeface="微软雅黑" panose="020B0503020204020204" pitchFamily="34" charset="-122"/>
              </a:defRPr>
            </a:lvl1pPr>
          </a:lstStyle>
          <a:p>
            <a:pPr marL="457200" indent="-457200">
              <a:buFont typeface="Wingdings" pitchFamily="2" charset="2"/>
              <a:buChar char="p"/>
            </a:pPr>
            <a:r>
              <a:rPr lang="zh-CN" altLang="en-US" dirty="0">
                <a:solidFill>
                  <a:srgbClr val="202122"/>
                </a:solidFill>
                <a:latin typeface="Times New Roman" panose="02020603050405020304" pitchFamily="18" charset="0"/>
              </a:rPr>
              <a:t>我们通常所说大模型，又称基础模型（</a:t>
            </a:r>
            <a:r>
              <a:rPr lang="en-US" altLang="zh-CN" dirty="0">
                <a:solidFill>
                  <a:srgbClr val="202122"/>
                </a:solidFill>
                <a:latin typeface="Times New Roman" panose="02020603050405020304" pitchFamily="18" charset="0"/>
              </a:rPr>
              <a:t>Foundation</a:t>
            </a:r>
            <a:r>
              <a:rPr lang="zh-CN" altLang="en-US" dirty="0">
                <a:solidFill>
                  <a:srgbClr val="202122"/>
                </a:solidFill>
                <a:latin typeface="Times New Roman" panose="02020603050405020304" pitchFamily="18" charset="0"/>
              </a:rPr>
              <a:t> </a:t>
            </a:r>
            <a:r>
              <a:rPr lang="en-US" altLang="zh-CN" dirty="0">
                <a:solidFill>
                  <a:srgbClr val="202122"/>
                </a:solidFill>
                <a:latin typeface="Times New Roman" panose="02020603050405020304" pitchFamily="18" charset="0"/>
              </a:rPr>
              <a:t>model</a:t>
            </a:r>
            <a:r>
              <a:rPr lang="zh-CN" altLang="en-US" dirty="0">
                <a:solidFill>
                  <a:srgbClr val="202122"/>
                </a:solidFill>
                <a:latin typeface="Times New Roman" panose="02020603050405020304" pitchFamily="18" charset="0"/>
              </a:rPr>
              <a:t>）</a:t>
            </a:r>
            <a:endParaRPr lang="en-US" altLang="zh-CN" dirty="0">
              <a:solidFill>
                <a:srgbClr val="202122"/>
              </a:solidFill>
              <a:latin typeface="Times New Roman" panose="02020603050405020304" pitchFamily="18" charset="0"/>
            </a:endParaRPr>
          </a:p>
          <a:p>
            <a:pPr marL="800100" lvl="1" indent="-342900">
              <a:lnSpc>
                <a:spcPct val="150000"/>
              </a:lnSpc>
              <a:buFont typeface="Wingdings" pitchFamily="2" charset="2"/>
              <a:buChar char="p"/>
            </a:pPr>
            <a:r>
              <a:rPr lang="zh-CN" altLang="en-US" sz="2400" dirty="0">
                <a:solidFill>
                  <a:srgbClr val="202122"/>
                </a:solidFill>
                <a:latin typeface="Times New Roman" panose="02020603050405020304" pitchFamily="18" charset="0"/>
                <a:ea typeface="微软雅黑" panose="020B0503020204020204" pitchFamily="34" charset="-122"/>
              </a:rPr>
              <a:t>参数量很大（例如</a:t>
            </a:r>
            <a:r>
              <a:rPr lang="en-US" altLang="zh-CN" sz="2400" dirty="0">
                <a:solidFill>
                  <a:srgbClr val="202122"/>
                </a:solidFill>
                <a:latin typeface="Times New Roman" panose="02020603050405020304" pitchFamily="18" charset="0"/>
                <a:ea typeface="微软雅黑" panose="020B0503020204020204" pitchFamily="34" charset="-122"/>
              </a:rPr>
              <a:t>100</a:t>
            </a:r>
            <a:r>
              <a:rPr lang="zh-CN" altLang="en-US" sz="2400" dirty="0">
                <a:solidFill>
                  <a:srgbClr val="202122"/>
                </a:solidFill>
                <a:latin typeface="Times New Roman" panose="02020603050405020304" pitchFamily="18" charset="0"/>
                <a:ea typeface="微软雅黑" panose="020B0503020204020204" pitchFamily="34" charset="-122"/>
              </a:rPr>
              <a:t>亿以上）</a:t>
            </a:r>
            <a:endParaRPr lang="en-US" altLang="zh-CN" sz="2400" dirty="0">
              <a:solidFill>
                <a:srgbClr val="202122"/>
              </a:solidFill>
              <a:latin typeface="Times New Roman" panose="02020603050405020304" pitchFamily="18" charset="0"/>
              <a:ea typeface="微软雅黑" panose="020B0503020204020204" pitchFamily="34" charset="-122"/>
            </a:endParaRPr>
          </a:p>
          <a:p>
            <a:pPr marL="800100" lvl="1" indent="-342900">
              <a:lnSpc>
                <a:spcPct val="150000"/>
              </a:lnSpc>
              <a:buFont typeface="Wingdings" pitchFamily="2" charset="2"/>
              <a:buChar char="p"/>
            </a:pPr>
            <a:r>
              <a:rPr lang="zh-CN" altLang="en-US" sz="2400" dirty="0">
                <a:solidFill>
                  <a:srgbClr val="202122"/>
                </a:solidFill>
                <a:latin typeface="Times New Roman" panose="02020603050405020304" pitchFamily="18" charset="0"/>
                <a:ea typeface="微软雅黑" panose="020B0503020204020204" pitchFamily="34" charset="-122"/>
              </a:rPr>
              <a:t>经过大规模数据训练</a:t>
            </a:r>
            <a:endParaRPr lang="en-US" altLang="zh-CN" sz="2400" dirty="0">
              <a:solidFill>
                <a:srgbClr val="202122"/>
              </a:solidFill>
              <a:latin typeface="Times New Roman" panose="02020603050405020304" pitchFamily="18" charset="0"/>
              <a:ea typeface="微软雅黑" panose="020B0503020204020204" pitchFamily="34" charset="-122"/>
            </a:endParaRPr>
          </a:p>
          <a:p>
            <a:pPr marL="800100" lvl="1" indent="-342900">
              <a:lnSpc>
                <a:spcPct val="150000"/>
              </a:lnSpc>
              <a:buFont typeface="Wingdings" pitchFamily="2" charset="2"/>
              <a:buChar char="p"/>
            </a:pPr>
            <a:r>
              <a:rPr lang="zh-CN" altLang="en-US" sz="2400" dirty="0">
                <a:solidFill>
                  <a:srgbClr val="202122"/>
                </a:solidFill>
                <a:latin typeface="Times New Roman" panose="02020603050405020304" pitchFamily="18" charset="0"/>
                <a:ea typeface="微软雅黑" panose="020B0503020204020204" pitchFamily="34" charset="-122"/>
              </a:rPr>
              <a:t>适应各种下游任务</a:t>
            </a:r>
            <a:endParaRPr lang="en-US" altLang="zh-CN" sz="2400" dirty="0">
              <a:solidFill>
                <a:srgbClr val="202122"/>
              </a:solidFill>
              <a:latin typeface="Times New Roman" panose="02020603050405020304" pitchFamily="18" charset="0"/>
              <a:ea typeface="微软雅黑" panose="020B0503020204020204" pitchFamily="34" charset="-122"/>
            </a:endParaRPr>
          </a:p>
          <a:p>
            <a:pPr marL="342900" indent="-342900">
              <a:buFont typeface="Wingdings" pitchFamily="2" charset="2"/>
              <a:buChar char="p"/>
            </a:pPr>
            <a:r>
              <a:rPr lang="zh-CN" altLang="en-US" sz="3000" dirty="0">
                <a:solidFill>
                  <a:srgbClr val="202122"/>
                </a:solidFill>
                <a:latin typeface="Times New Roman" panose="02020603050405020304" pitchFamily="18" charset="0"/>
                <a:ea typeface="微软雅黑" panose="020B0503020204020204" pitchFamily="34" charset="-122"/>
              </a:rPr>
              <a:t>大语言模型</a:t>
            </a:r>
            <a:r>
              <a:rPr lang="en-US" altLang="zh-CN" sz="3000" dirty="0">
                <a:solidFill>
                  <a:srgbClr val="202122"/>
                </a:solidFill>
                <a:latin typeface="Times New Roman" panose="02020603050405020304" pitchFamily="18" charset="0"/>
              </a:rPr>
              <a:t> (Large Language Model)</a:t>
            </a:r>
          </a:p>
          <a:p>
            <a:pPr marL="800100" lvl="1" indent="-342900">
              <a:buFont typeface="Wingdings" pitchFamily="2" charset="2"/>
              <a:buChar char="p"/>
            </a:pPr>
            <a:r>
              <a:rPr lang="zh-CN" altLang="en-US" sz="2400" dirty="0">
                <a:solidFill>
                  <a:srgbClr val="202122"/>
                </a:solidFill>
                <a:latin typeface="Times New Roman" panose="02020603050405020304" pitchFamily="18" charset="0"/>
                <a:ea typeface="微软雅黑" panose="020B0503020204020204" pitchFamily="34" charset="-122"/>
              </a:rPr>
              <a:t>最早展现出通用智能的大模型</a:t>
            </a:r>
            <a:endParaRPr lang="en-US" altLang="zh-CN" sz="2400" dirty="0">
              <a:solidFill>
                <a:srgbClr val="202122"/>
              </a:solidFill>
              <a:latin typeface="Times New Roman" panose="02020603050405020304" pitchFamily="18" charset="0"/>
              <a:ea typeface="微软雅黑" panose="020B0503020204020204" pitchFamily="34" charset="-122"/>
            </a:endParaRPr>
          </a:p>
          <a:p>
            <a:pPr marL="800100" lvl="1" indent="-342900">
              <a:buFont typeface="Wingdings" pitchFamily="2" charset="2"/>
              <a:buChar char="p"/>
            </a:pPr>
            <a:r>
              <a:rPr lang="zh-CN" altLang="en-US" sz="2400" dirty="0">
                <a:solidFill>
                  <a:srgbClr val="202122"/>
                </a:solidFill>
                <a:latin typeface="Times New Roman" panose="02020603050405020304" pitchFamily="18" charset="0"/>
                <a:ea typeface="微软雅黑" panose="020B0503020204020204" pitchFamily="34" charset="-122"/>
              </a:rPr>
              <a:t>许多模态的数据也类似语言进行词元化</a:t>
            </a:r>
            <a:endParaRPr lang="en-US" altLang="zh-CN" sz="2400" dirty="0">
              <a:solidFill>
                <a:srgbClr val="202122"/>
              </a:solidFill>
              <a:latin typeface="Times New Roman" panose="02020603050405020304" pitchFamily="18" charset="0"/>
              <a:ea typeface="微软雅黑" panose="020B0503020204020204" pitchFamily="34" charset="-122"/>
            </a:endParaRPr>
          </a:p>
          <a:p>
            <a:pPr marL="800100" lvl="1" indent="-342900">
              <a:buFont typeface="Wingdings" pitchFamily="2" charset="2"/>
              <a:buChar char="p"/>
            </a:pPr>
            <a:r>
              <a:rPr lang="zh-CN" altLang="en-US" sz="2400" dirty="0">
                <a:solidFill>
                  <a:srgbClr val="202122"/>
                </a:solidFill>
                <a:latin typeface="Times New Roman" panose="02020603050405020304" pitchFamily="18" charset="0"/>
                <a:ea typeface="微软雅黑" panose="020B0503020204020204" pitchFamily="34" charset="-122"/>
              </a:rPr>
              <a:t>大模型常常默认是大语言模型</a:t>
            </a:r>
            <a:endParaRPr lang="en-US" altLang="zh-CN" sz="2400" dirty="0">
              <a:solidFill>
                <a:srgbClr val="202122"/>
              </a:solidFill>
              <a:latin typeface="Times New Roman" panose="02020603050405020304" pitchFamily="18" charset="0"/>
              <a:ea typeface="微软雅黑" panose="020B0503020204020204" pitchFamily="34" charset="-122"/>
            </a:endParaRPr>
          </a:p>
        </p:txBody>
      </p:sp>
      <p:sp>
        <p:nvSpPr>
          <p:cNvPr id="7" name="文本框 6">
            <a:extLst>
              <a:ext uri="{FF2B5EF4-FFF2-40B4-BE49-F238E27FC236}">
                <a16:creationId xmlns:a16="http://schemas.microsoft.com/office/drawing/2014/main" id="{FA82A278-183F-B8D3-DB7B-076E5567D296}"/>
              </a:ext>
            </a:extLst>
          </p:cNvPr>
          <p:cNvSpPr txBox="1"/>
          <p:nvPr/>
        </p:nvSpPr>
        <p:spPr>
          <a:xfrm>
            <a:off x="141253" y="6334780"/>
            <a:ext cx="6097656" cy="523220"/>
          </a:xfrm>
          <a:prstGeom prst="rect">
            <a:avLst/>
          </a:prstGeom>
          <a:noFill/>
        </p:spPr>
        <p:txBody>
          <a:bodyPr wrap="square">
            <a:spAutoFit/>
          </a:bodyPr>
          <a:lstStyle/>
          <a:p>
            <a:r>
              <a:rPr lang="zh-CN" altLang="en-US" sz="1400" dirty="0">
                <a:solidFill>
                  <a:schemeClr val="bg1"/>
                </a:solidFill>
              </a:rPr>
              <a:t>https://en.wikipedia.org/wiki/Foundation_model</a:t>
            </a:r>
            <a:endParaRPr lang="en-US" altLang="zh-CN" sz="1400" dirty="0">
              <a:solidFill>
                <a:schemeClr val="bg1"/>
              </a:solidFill>
            </a:endParaRPr>
          </a:p>
          <a:p>
            <a:r>
              <a:rPr lang="en" altLang="zh-CN" sz="1400" dirty="0">
                <a:solidFill>
                  <a:schemeClr val="bg1"/>
                </a:solidFill>
              </a:rPr>
              <a:t>Pic: https://</a:t>
            </a:r>
            <a:r>
              <a:rPr lang="en" altLang="zh-CN" sz="1400" dirty="0" err="1">
                <a:solidFill>
                  <a:schemeClr val="bg1"/>
                </a:solidFill>
              </a:rPr>
              <a:t>serokell.io</a:t>
            </a:r>
            <a:r>
              <a:rPr lang="en" altLang="zh-CN" sz="1400" dirty="0">
                <a:solidFill>
                  <a:schemeClr val="bg1"/>
                </a:solidFill>
              </a:rPr>
              <a:t>/blog/guide-to-foundation-models</a:t>
            </a:r>
            <a:endParaRPr lang="zh-CN" altLang="en-US" sz="1400" dirty="0">
              <a:solidFill>
                <a:schemeClr val="bg1"/>
              </a:solidFill>
            </a:endParaRPr>
          </a:p>
        </p:txBody>
      </p:sp>
      <p:pic>
        <p:nvPicPr>
          <p:cNvPr id="9" name="图片 8">
            <a:extLst>
              <a:ext uri="{FF2B5EF4-FFF2-40B4-BE49-F238E27FC236}">
                <a16:creationId xmlns:a16="http://schemas.microsoft.com/office/drawing/2014/main" id="{D3899316-9028-3465-C9D4-F58C7D3F184C}"/>
              </a:ext>
            </a:extLst>
          </p:cNvPr>
          <p:cNvPicPr>
            <a:picLocks noChangeAspect="1"/>
          </p:cNvPicPr>
          <p:nvPr/>
        </p:nvPicPr>
        <p:blipFill>
          <a:blip r:embed="rId2"/>
          <a:stretch>
            <a:fillRect/>
          </a:stretch>
        </p:blipFill>
        <p:spPr>
          <a:xfrm>
            <a:off x="6840022" y="2021598"/>
            <a:ext cx="5132280" cy="30793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A12642E-0B88-561A-A7A7-655557A8CF95}"/>
              </a:ext>
            </a:extLst>
          </p:cNvPr>
          <p:cNvSpPr txBox="1"/>
          <p:nvPr/>
        </p:nvSpPr>
        <p:spPr>
          <a:xfrm>
            <a:off x="256032" y="2804160"/>
            <a:ext cx="11935968" cy="830997"/>
          </a:xfrm>
          <a:prstGeom prst="rect">
            <a:avLst/>
          </a:prstGeom>
          <a:noFill/>
        </p:spPr>
        <p:txBody>
          <a:bodyPr wrap="square" rtlCol="0">
            <a:spAutoFit/>
          </a:bodyPr>
          <a:lstStyle/>
          <a:p>
            <a:pPr algn="ctr"/>
            <a:r>
              <a:rPr kumimoji="1" lang="zh-CN" altLang="en-US" sz="4800" b="1" dirty="0">
                <a:ea typeface="微软雅黑" panose="020B0503020204020204" pitchFamily="34" charset="-122"/>
              </a:rPr>
              <a:t>大模型是怎样发展到现在的？</a:t>
            </a:r>
          </a:p>
        </p:txBody>
      </p:sp>
    </p:spTree>
    <p:extLst>
      <p:ext uri="{BB962C8B-B14F-4D97-AF65-F5344CB8AC3E}">
        <p14:creationId xmlns:p14="http://schemas.microsoft.com/office/powerpoint/2010/main" val="3144328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29B5EB-4C0B-CA88-72CB-366084C0107B}"/>
              </a:ext>
            </a:extLst>
          </p:cNvPr>
          <p:cNvSpPr>
            <a:spLocks noGrp="1"/>
          </p:cNvSpPr>
          <p:nvPr>
            <p:ph type="title"/>
          </p:nvPr>
        </p:nvSpPr>
        <p:spPr/>
        <p:txBody>
          <a:bodyPr/>
          <a:lstStyle/>
          <a:p>
            <a:r>
              <a:rPr kumimoji="1" lang="zh-CN" altLang="en-US" dirty="0"/>
              <a:t>大语言模型发展历史的概括</a:t>
            </a:r>
          </a:p>
        </p:txBody>
      </p:sp>
      <p:pic>
        <p:nvPicPr>
          <p:cNvPr id="5" name="内容占位符 4" descr="图示&#10;&#10;描述已自动生成">
            <a:extLst>
              <a:ext uri="{FF2B5EF4-FFF2-40B4-BE49-F238E27FC236}">
                <a16:creationId xmlns:a16="http://schemas.microsoft.com/office/drawing/2014/main" id="{FDD73115-4F3C-EE90-63C7-1DB964239B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3950" y="761979"/>
            <a:ext cx="6982214" cy="5447533"/>
          </a:xfrm>
        </p:spPr>
      </p:pic>
      <p:sp>
        <p:nvSpPr>
          <p:cNvPr id="7" name="文本框 6">
            <a:extLst>
              <a:ext uri="{FF2B5EF4-FFF2-40B4-BE49-F238E27FC236}">
                <a16:creationId xmlns:a16="http://schemas.microsoft.com/office/drawing/2014/main" id="{0E054127-8654-B9B6-4BA6-05E118493505}"/>
              </a:ext>
            </a:extLst>
          </p:cNvPr>
          <p:cNvSpPr txBox="1"/>
          <p:nvPr/>
        </p:nvSpPr>
        <p:spPr>
          <a:xfrm>
            <a:off x="0" y="6400513"/>
            <a:ext cx="8520320" cy="307777"/>
          </a:xfrm>
          <a:prstGeom prst="rect">
            <a:avLst/>
          </a:prstGeom>
          <a:noFill/>
        </p:spPr>
        <p:txBody>
          <a:bodyPr wrap="square">
            <a:spAutoFit/>
          </a:bodyPr>
          <a:lstStyle/>
          <a:p>
            <a:r>
              <a:rPr lang="zh-CN" altLang="en-US" sz="1400" dirty="0">
                <a:solidFill>
                  <a:schemeClr val="bg1"/>
                </a:solidFill>
              </a:rPr>
              <a:t>https://github.com/Mooler0410/LLMsPracticalGuide?tab=readme-ov-file</a:t>
            </a:r>
          </a:p>
        </p:txBody>
      </p:sp>
      <p:sp>
        <p:nvSpPr>
          <p:cNvPr id="3" name="文本框 2">
            <a:extLst>
              <a:ext uri="{FF2B5EF4-FFF2-40B4-BE49-F238E27FC236}">
                <a16:creationId xmlns:a16="http://schemas.microsoft.com/office/drawing/2014/main" id="{CDD0A94C-55E8-ED6B-44CF-EB0B98CAE8AD}"/>
              </a:ext>
            </a:extLst>
          </p:cNvPr>
          <p:cNvSpPr txBox="1"/>
          <p:nvPr/>
        </p:nvSpPr>
        <p:spPr>
          <a:xfrm>
            <a:off x="180573" y="817795"/>
            <a:ext cx="2033263" cy="707886"/>
          </a:xfrm>
          <a:prstGeom prst="rect">
            <a:avLst/>
          </a:prstGeom>
          <a:noFill/>
        </p:spPr>
        <p:txBody>
          <a:bodyPr wrap="square" rtlCol="0">
            <a:spAutoFit/>
          </a:bodyPr>
          <a:lstStyle/>
          <a:p>
            <a:pPr algn="l"/>
            <a:r>
              <a:rPr lang="zh-CN" altLang="en-US" sz="2000" dirty="0"/>
              <a:t>发展过程中有各种不同的路线</a:t>
            </a:r>
          </a:p>
        </p:txBody>
      </p:sp>
      <p:sp>
        <p:nvSpPr>
          <p:cNvPr id="4" name="文本框 3">
            <a:extLst>
              <a:ext uri="{FF2B5EF4-FFF2-40B4-BE49-F238E27FC236}">
                <a16:creationId xmlns:a16="http://schemas.microsoft.com/office/drawing/2014/main" id="{32B8D930-A8F9-6025-CBFC-CA6596114372}"/>
              </a:ext>
            </a:extLst>
          </p:cNvPr>
          <p:cNvSpPr txBox="1"/>
          <p:nvPr/>
        </p:nvSpPr>
        <p:spPr>
          <a:xfrm>
            <a:off x="180573" y="1581497"/>
            <a:ext cx="2424177" cy="1015663"/>
          </a:xfrm>
          <a:prstGeom prst="rect">
            <a:avLst/>
          </a:prstGeom>
          <a:noFill/>
        </p:spPr>
        <p:txBody>
          <a:bodyPr wrap="square" rtlCol="0">
            <a:spAutoFit/>
          </a:bodyPr>
          <a:lstStyle/>
          <a:p>
            <a:pPr algn="l"/>
            <a:r>
              <a:rPr kumimoji="1" lang="en-US" altLang="zh-CN" sz="2000" dirty="0"/>
              <a:t>Encoder-only:</a:t>
            </a:r>
            <a:r>
              <a:rPr kumimoji="1" lang="zh-CN" altLang="en-US" sz="2000" dirty="0"/>
              <a:t> </a:t>
            </a:r>
            <a:endParaRPr kumimoji="1" lang="en-US" altLang="zh-CN" sz="2000" dirty="0"/>
          </a:p>
          <a:p>
            <a:pPr algn="l"/>
            <a:r>
              <a:rPr kumimoji="1" lang="en-US" altLang="zh-CN" sz="2000" dirty="0"/>
              <a:t>Encoder-Decoder</a:t>
            </a:r>
          </a:p>
          <a:p>
            <a:pPr algn="l"/>
            <a:r>
              <a:rPr kumimoji="1" lang="en-US" altLang="zh-CN" sz="2000" dirty="0"/>
              <a:t>Decoder-only</a:t>
            </a:r>
            <a:endParaRPr kumimoji="1" lang="zh-CN" altLang="en-US" sz="2000" dirty="0"/>
          </a:p>
        </p:txBody>
      </p:sp>
    </p:spTree>
    <p:extLst>
      <p:ext uri="{BB962C8B-B14F-4D97-AF65-F5344CB8AC3E}">
        <p14:creationId xmlns:p14="http://schemas.microsoft.com/office/powerpoint/2010/main" val="3505756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1A347-5E77-798C-9383-045AB784E2B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4D2D558-0D87-3ED8-F4D3-7277EE885D8F}"/>
              </a:ext>
            </a:extLst>
          </p:cNvPr>
          <p:cNvSpPr>
            <a:spLocks noGrp="1"/>
          </p:cNvSpPr>
          <p:nvPr>
            <p:ph type="title"/>
          </p:nvPr>
        </p:nvSpPr>
        <p:spPr/>
        <p:txBody>
          <a:bodyPr/>
          <a:lstStyle/>
          <a:p>
            <a:r>
              <a:rPr kumimoji="1" lang="zh-CN" altLang="en-US" dirty="0"/>
              <a:t>大语言模型发展历史的概括</a:t>
            </a:r>
          </a:p>
        </p:txBody>
      </p:sp>
      <p:sp>
        <p:nvSpPr>
          <p:cNvPr id="7" name="文本框 6">
            <a:extLst>
              <a:ext uri="{FF2B5EF4-FFF2-40B4-BE49-F238E27FC236}">
                <a16:creationId xmlns:a16="http://schemas.microsoft.com/office/drawing/2014/main" id="{69E39FEF-EC28-BD2E-B59F-0AEA80502A38}"/>
              </a:ext>
            </a:extLst>
          </p:cNvPr>
          <p:cNvSpPr txBox="1"/>
          <p:nvPr/>
        </p:nvSpPr>
        <p:spPr>
          <a:xfrm>
            <a:off x="0" y="6400513"/>
            <a:ext cx="8520320" cy="307777"/>
          </a:xfrm>
          <a:prstGeom prst="rect">
            <a:avLst/>
          </a:prstGeom>
          <a:noFill/>
        </p:spPr>
        <p:txBody>
          <a:bodyPr wrap="square">
            <a:spAutoFit/>
          </a:bodyPr>
          <a:lstStyle/>
          <a:p>
            <a:r>
              <a:rPr lang="en-US" altLang="zh-CN" sz="1400" dirty="0">
                <a:solidFill>
                  <a:schemeClr val="bg1"/>
                </a:solidFill>
              </a:rPr>
              <a:t>arXiv:2402.06196</a:t>
            </a:r>
            <a:endParaRPr lang="zh-CN" altLang="en-US" sz="1400" dirty="0">
              <a:solidFill>
                <a:schemeClr val="bg1"/>
              </a:solidFill>
            </a:endParaRPr>
          </a:p>
        </p:txBody>
      </p:sp>
      <p:sp>
        <p:nvSpPr>
          <p:cNvPr id="4" name="文本框 3">
            <a:extLst>
              <a:ext uri="{FF2B5EF4-FFF2-40B4-BE49-F238E27FC236}">
                <a16:creationId xmlns:a16="http://schemas.microsoft.com/office/drawing/2014/main" id="{49DD864A-F81F-9C1C-EAD9-173AC6D6BF30}"/>
              </a:ext>
            </a:extLst>
          </p:cNvPr>
          <p:cNvSpPr txBox="1"/>
          <p:nvPr/>
        </p:nvSpPr>
        <p:spPr>
          <a:xfrm>
            <a:off x="180573" y="1581497"/>
            <a:ext cx="2424177" cy="1015663"/>
          </a:xfrm>
          <a:prstGeom prst="rect">
            <a:avLst/>
          </a:prstGeom>
          <a:noFill/>
        </p:spPr>
        <p:txBody>
          <a:bodyPr wrap="square" rtlCol="0">
            <a:spAutoFit/>
          </a:bodyPr>
          <a:lstStyle/>
          <a:p>
            <a:pPr algn="l"/>
            <a:r>
              <a:rPr kumimoji="1" lang="en-US" altLang="zh-CN" sz="2000" dirty="0"/>
              <a:t>Encoder-only:</a:t>
            </a:r>
            <a:r>
              <a:rPr kumimoji="1" lang="zh-CN" altLang="en-US" sz="2000" dirty="0"/>
              <a:t> </a:t>
            </a:r>
            <a:endParaRPr kumimoji="1" lang="en-US" altLang="zh-CN" sz="2000" dirty="0"/>
          </a:p>
          <a:p>
            <a:pPr algn="l"/>
            <a:r>
              <a:rPr kumimoji="1" lang="en-US" altLang="zh-CN" sz="2000" dirty="0"/>
              <a:t>Encoder-Decoder</a:t>
            </a:r>
          </a:p>
          <a:p>
            <a:pPr algn="l"/>
            <a:r>
              <a:rPr kumimoji="1" lang="en-US" altLang="zh-CN" sz="2000" dirty="0"/>
              <a:t>Decoder-only</a:t>
            </a:r>
            <a:endParaRPr kumimoji="1" lang="zh-CN" altLang="en-US" sz="2000" dirty="0"/>
          </a:p>
        </p:txBody>
      </p:sp>
      <p:pic>
        <p:nvPicPr>
          <p:cNvPr id="10" name="图片 9">
            <a:extLst>
              <a:ext uri="{FF2B5EF4-FFF2-40B4-BE49-F238E27FC236}">
                <a16:creationId xmlns:a16="http://schemas.microsoft.com/office/drawing/2014/main" id="{1725F3BF-F307-C984-F04C-4E708FA9819C}"/>
              </a:ext>
            </a:extLst>
          </p:cNvPr>
          <p:cNvPicPr>
            <a:picLocks noChangeAspect="1"/>
          </p:cNvPicPr>
          <p:nvPr/>
        </p:nvPicPr>
        <p:blipFill>
          <a:blip r:embed="rId2"/>
          <a:stretch>
            <a:fillRect/>
          </a:stretch>
        </p:blipFill>
        <p:spPr>
          <a:xfrm>
            <a:off x="0" y="1090352"/>
            <a:ext cx="12192000" cy="4677295"/>
          </a:xfrm>
          <a:prstGeom prst="rect">
            <a:avLst/>
          </a:prstGeom>
        </p:spPr>
      </p:pic>
    </p:spTree>
    <p:extLst>
      <p:ext uri="{BB962C8B-B14F-4D97-AF65-F5344CB8AC3E}">
        <p14:creationId xmlns:p14="http://schemas.microsoft.com/office/powerpoint/2010/main" val="3905277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5E4EE9-5A47-04E0-CCB8-784EB06D358C}"/>
              </a:ext>
            </a:extLst>
          </p:cNvPr>
          <p:cNvSpPr>
            <a:spLocks noGrp="1"/>
          </p:cNvSpPr>
          <p:nvPr>
            <p:ph type="title"/>
          </p:nvPr>
        </p:nvSpPr>
        <p:spPr/>
        <p:txBody>
          <a:bodyPr/>
          <a:lstStyle/>
          <a:p>
            <a:r>
              <a:rPr kumimoji="1" lang="zh-CN" altLang="en-US" dirty="0"/>
              <a:t>任务与结构</a:t>
            </a:r>
          </a:p>
        </p:txBody>
      </p:sp>
      <p:sp>
        <p:nvSpPr>
          <p:cNvPr id="3" name="内容占位符 2">
            <a:extLst>
              <a:ext uri="{FF2B5EF4-FFF2-40B4-BE49-F238E27FC236}">
                <a16:creationId xmlns:a16="http://schemas.microsoft.com/office/drawing/2014/main" id="{E30069FA-E757-21E4-972D-F209F94DF0A8}"/>
              </a:ext>
            </a:extLst>
          </p:cNvPr>
          <p:cNvSpPr>
            <a:spLocks noGrp="1"/>
          </p:cNvSpPr>
          <p:nvPr>
            <p:ph idx="1"/>
          </p:nvPr>
        </p:nvSpPr>
        <p:spPr/>
        <p:txBody>
          <a:bodyPr/>
          <a:lstStyle/>
          <a:p>
            <a:pPr marL="342900" indent="-342900">
              <a:buFont typeface="Arial" panose="020B0604020202020204" pitchFamily="34" charset="0"/>
              <a:buChar char="•"/>
            </a:pPr>
            <a:r>
              <a:rPr kumimoji="1" lang="zh-CN" altLang="en-US" dirty="0"/>
              <a:t>训练翻译任务：</a:t>
            </a:r>
            <a:endParaRPr kumimoji="1" lang="en-US" altLang="zh-CN" dirty="0"/>
          </a:p>
          <a:p>
            <a:pPr marL="952500" lvl="1" indent="-342900">
              <a:buFont typeface="Arial" panose="020B0604020202020204" pitchFamily="34" charset="0"/>
              <a:buChar char="•"/>
            </a:pPr>
            <a:r>
              <a:rPr kumimoji="1" lang="zh-CN" altLang="en-US" dirty="0"/>
              <a:t>处理原文时，原文的每个词都能看到原文里的所有其它词。</a:t>
            </a:r>
            <a:endParaRPr kumimoji="1" lang="en-US" altLang="zh-CN" dirty="0"/>
          </a:p>
          <a:p>
            <a:pPr marL="952500" lvl="1" indent="-342900">
              <a:buFont typeface="Arial" panose="020B0604020202020204" pitchFamily="34" charset="0"/>
              <a:buChar char="•"/>
            </a:pPr>
            <a:r>
              <a:rPr kumimoji="1" lang="zh-CN" altLang="en-US" dirty="0"/>
              <a:t>生成译文时，每个词只能看到自己及前面的词，后面的词要当作还没生成，不能利用</a:t>
            </a:r>
            <a:endParaRPr kumimoji="1" lang="en-US" altLang="zh-CN" dirty="0"/>
          </a:p>
          <a:p>
            <a:pPr marL="342900" indent="-342900">
              <a:buFont typeface="Arial" panose="020B0604020202020204" pitchFamily="34" charset="0"/>
              <a:buChar char="•"/>
            </a:pPr>
            <a:r>
              <a:rPr kumimoji="1" lang="zh-CN" altLang="en-US" dirty="0"/>
              <a:t>下一个词预测任务：</a:t>
            </a:r>
            <a:endParaRPr kumimoji="1" lang="en-US" altLang="zh-CN" dirty="0"/>
          </a:p>
          <a:p>
            <a:pPr marL="952500" lvl="1" indent="-342900">
              <a:buFont typeface="Arial" panose="020B0604020202020204" pitchFamily="34" charset="0"/>
              <a:buChar char="•"/>
            </a:pPr>
            <a:r>
              <a:rPr kumimoji="1" lang="zh-CN" altLang="en-US" dirty="0"/>
              <a:t>每个词都只能看到自己及前面的词，后面的词要当作还没生成，不能利用</a:t>
            </a:r>
            <a:endParaRPr kumimoji="1" lang="en-US" altLang="zh-CN" dirty="0"/>
          </a:p>
          <a:p>
            <a:pPr marL="342900" indent="-342900">
              <a:buFont typeface="Arial" panose="020B0604020202020204" pitchFamily="34" charset="0"/>
              <a:buChar char="•"/>
            </a:pPr>
            <a:r>
              <a:rPr kumimoji="1" lang="zh-CN" altLang="en-US" dirty="0"/>
              <a:t>完形填空任务：</a:t>
            </a:r>
            <a:endParaRPr kumimoji="1" lang="en-US" altLang="zh-CN" dirty="0"/>
          </a:p>
          <a:p>
            <a:pPr marL="952500" lvl="1" indent="-342900">
              <a:buFont typeface="Arial" panose="020B0604020202020204" pitchFamily="34" charset="0"/>
              <a:buChar char="•"/>
            </a:pPr>
            <a:r>
              <a:rPr kumimoji="1" lang="zh-CN" altLang="en-US" dirty="0"/>
              <a:t>每个词都要利用上下文的词来预测</a:t>
            </a:r>
            <a:endParaRPr kumimoji="1" lang="en-US" altLang="zh-CN" dirty="0"/>
          </a:p>
          <a:p>
            <a:pPr marL="342900" indent="-342900">
              <a:buFont typeface="Arial" panose="020B0604020202020204" pitchFamily="34" charset="0"/>
              <a:buChar char="•"/>
            </a:pPr>
            <a:r>
              <a:rPr kumimoji="1" lang="zh-CN" altLang="en-US" dirty="0"/>
              <a:t>模型结构：</a:t>
            </a:r>
            <a:endParaRPr kumimoji="1" lang="en-US" altLang="zh-CN" dirty="0"/>
          </a:p>
          <a:p>
            <a:pPr marL="952500" lvl="1" indent="-342900">
              <a:buFont typeface="Arial" panose="020B0604020202020204" pitchFamily="34" charset="0"/>
              <a:buChar char="•"/>
            </a:pPr>
            <a:r>
              <a:rPr kumimoji="1" lang="zh-CN" altLang="en-US" dirty="0"/>
              <a:t>编码器：能看到上下文的词</a:t>
            </a:r>
            <a:endParaRPr kumimoji="1" lang="en-US" altLang="zh-CN" dirty="0"/>
          </a:p>
          <a:p>
            <a:pPr marL="952500" lvl="1" indent="-342900">
              <a:buFont typeface="Arial" panose="020B0604020202020204" pitchFamily="34" charset="0"/>
              <a:buChar char="•"/>
            </a:pPr>
            <a:r>
              <a:rPr kumimoji="1" lang="zh-CN" altLang="en-US" dirty="0"/>
              <a:t>解码器：只能看到自己及前文</a:t>
            </a:r>
            <a:endParaRPr kumimoji="1" lang="en-US" altLang="zh-CN" dirty="0"/>
          </a:p>
          <a:p>
            <a:endParaRPr kumimoji="1" lang="zh-CN" altLang="en-US" dirty="0"/>
          </a:p>
        </p:txBody>
      </p:sp>
    </p:spTree>
    <p:extLst>
      <p:ext uri="{BB962C8B-B14F-4D97-AF65-F5344CB8AC3E}">
        <p14:creationId xmlns:p14="http://schemas.microsoft.com/office/powerpoint/2010/main" val="345036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54207-0664-EBC4-A1FB-A246BB2552F0}"/>
              </a:ext>
            </a:extLst>
          </p:cNvPr>
          <p:cNvSpPr>
            <a:spLocks noGrp="1"/>
          </p:cNvSpPr>
          <p:nvPr>
            <p:ph type="title"/>
          </p:nvPr>
        </p:nvSpPr>
        <p:spPr/>
        <p:txBody>
          <a:bodyPr/>
          <a:lstStyle/>
          <a:p>
            <a:r>
              <a:rPr kumimoji="1" lang="zh-CN" altLang="en-US" dirty="0"/>
              <a:t>编码器与解码器的区别</a:t>
            </a: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1194DFB8-7744-F0E2-161D-D04BF174D90E}"/>
                  </a:ext>
                </a:extLst>
              </p:cNvPr>
              <p:cNvGraphicFramePr>
                <a:graphicFrameLocks noGrp="1"/>
              </p:cNvGraphicFramePr>
              <p:nvPr>
                <p:extLst>
                  <p:ext uri="{D42A27DB-BD31-4B8C-83A1-F6EECF244321}">
                    <p14:modId xmlns:p14="http://schemas.microsoft.com/office/powerpoint/2010/main" val="2394740472"/>
                  </p:ext>
                </p:extLst>
              </p:nvPr>
            </p:nvGraphicFramePr>
            <p:xfrm>
              <a:off x="572831" y="2970435"/>
              <a:ext cx="4342676" cy="2585007"/>
            </p:xfrm>
            <a:graphic>
              <a:graphicData uri="http://schemas.openxmlformats.org/drawingml/2006/table">
                <a:tbl>
                  <a:tblPr>
                    <a:tableStyleId>{2D5ABB26-0587-4C30-8999-92F81FD0307C}</a:tableStyleId>
                  </a:tblPr>
                  <a:tblGrid>
                    <a:gridCol w="1085669">
                      <a:extLst>
                        <a:ext uri="{9D8B030D-6E8A-4147-A177-3AD203B41FA5}">
                          <a16:colId xmlns:a16="http://schemas.microsoft.com/office/drawing/2014/main" val="4048564531"/>
                        </a:ext>
                      </a:extLst>
                    </a:gridCol>
                    <a:gridCol w="1085669">
                      <a:extLst>
                        <a:ext uri="{9D8B030D-6E8A-4147-A177-3AD203B41FA5}">
                          <a16:colId xmlns:a16="http://schemas.microsoft.com/office/drawing/2014/main" val="4203968518"/>
                        </a:ext>
                      </a:extLst>
                    </a:gridCol>
                    <a:gridCol w="1085669">
                      <a:extLst>
                        <a:ext uri="{9D8B030D-6E8A-4147-A177-3AD203B41FA5}">
                          <a16:colId xmlns:a16="http://schemas.microsoft.com/office/drawing/2014/main" val="3558645082"/>
                        </a:ext>
                      </a:extLst>
                    </a:gridCol>
                    <a:gridCol w="1085669">
                      <a:extLst>
                        <a:ext uri="{9D8B030D-6E8A-4147-A177-3AD203B41FA5}">
                          <a16:colId xmlns:a16="http://schemas.microsoft.com/office/drawing/2014/main" val="1057495298"/>
                        </a:ext>
                      </a:extLst>
                    </a:gridCol>
                  </a:tblGrid>
                  <a:tr h="659050">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1</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1</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1</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2</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1</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𝑛</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33292538"/>
                      </a:ext>
                    </a:extLst>
                  </a:tr>
                  <a:tr h="659050">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2</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1</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2</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2</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2</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𝑛</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247934399"/>
                      </a:ext>
                    </a:extLst>
                  </a:tr>
                  <a:tr h="628998">
                    <a:tc>
                      <a:txBody>
                        <a:bodyPr/>
                        <a:lstStyle/>
                        <a:p>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119059596"/>
                      </a:ext>
                    </a:extLst>
                  </a:tr>
                  <a:tr h="637909">
                    <a:tc>
                      <a:txBody>
                        <a:bodyPr/>
                        <a:lstStyle/>
                        <a:p>
                          <a:pPr/>
                          <a14:m>
                            <m:oMathPara xmlns:m="http://schemas.openxmlformats.org/officeDocument/2006/math">
                              <m:oMathParaPr>
                                <m:jc m:val="center"/>
                              </m:oMathParaPr>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𝑛</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1</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𝑛</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2</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𝑛</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𝑛</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021970893"/>
                      </a:ext>
                    </a:extLst>
                  </a:tr>
                </a:tbl>
              </a:graphicData>
            </a:graphic>
          </p:graphicFrame>
        </mc:Choice>
        <mc:Fallback xmlns="">
          <p:graphicFrame>
            <p:nvGraphicFramePr>
              <p:cNvPr id="6" name="表格 5">
                <a:extLst>
                  <a:ext uri="{FF2B5EF4-FFF2-40B4-BE49-F238E27FC236}">
                    <a16:creationId xmlns:a16="http://schemas.microsoft.com/office/drawing/2014/main" id="{1194DFB8-7744-F0E2-161D-D04BF174D90E}"/>
                  </a:ext>
                </a:extLst>
              </p:cNvPr>
              <p:cNvGraphicFramePr>
                <a:graphicFrameLocks noGrp="1"/>
              </p:cNvGraphicFramePr>
              <p:nvPr>
                <p:extLst>
                  <p:ext uri="{D42A27DB-BD31-4B8C-83A1-F6EECF244321}">
                    <p14:modId xmlns:p14="http://schemas.microsoft.com/office/powerpoint/2010/main" val="2394740472"/>
                  </p:ext>
                </p:extLst>
              </p:nvPr>
            </p:nvGraphicFramePr>
            <p:xfrm>
              <a:off x="572831" y="2970435"/>
              <a:ext cx="4342676" cy="2585007"/>
            </p:xfrm>
            <a:graphic>
              <a:graphicData uri="http://schemas.openxmlformats.org/drawingml/2006/table">
                <a:tbl>
                  <a:tblPr>
                    <a:tableStyleId>{2D5ABB26-0587-4C30-8999-92F81FD0307C}</a:tableStyleId>
                  </a:tblPr>
                  <a:tblGrid>
                    <a:gridCol w="1085669">
                      <a:extLst>
                        <a:ext uri="{9D8B030D-6E8A-4147-A177-3AD203B41FA5}">
                          <a16:colId xmlns:a16="http://schemas.microsoft.com/office/drawing/2014/main" val="4048564531"/>
                        </a:ext>
                      </a:extLst>
                    </a:gridCol>
                    <a:gridCol w="1085669">
                      <a:extLst>
                        <a:ext uri="{9D8B030D-6E8A-4147-A177-3AD203B41FA5}">
                          <a16:colId xmlns:a16="http://schemas.microsoft.com/office/drawing/2014/main" val="4203968518"/>
                        </a:ext>
                      </a:extLst>
                    </a:gridCol>
                    <a:gridCol w="1085669">
                      <a:extLst>
                        <a:ext uri="{9D8B030D-6E8A-4147-A177-3AD203B41FA5}">
                          <a16:colId xmlns:a16="http://schemas.microsoft.com/office/drawing/2014/main" val="3558645082"/>
                        </a:ext>
                      </a:extLst>
                    </a:gridCol>
                    <a:gridCol w="1085669">
                      <a:extLst>
                        <a:ext uri="{9D8B030D-6E8A-4147-A177-3AD203B41FA5}">
                          <a16:colId xmlns:a16="http://schemas.microsoft.com/office/drawing/2014/main" val="1057495298"/>
                        </a:ext>
                      </a:extLst>
                    </a:gridCol>
                  </a:tblGrid>
                  <a:tr h="659050">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163" r="-300000" b="-296154"/>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01163" r="-200000" b="-296154"/>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203529" r="-102353" b="-296154"/>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300000" r="-1163" b="-296154"/>
                          </a:stretch>
                        </a:blipFill>
                      </a:tcPr>
                    </a:tc>
                    <a:extLst>
                      <a:ext uri="{0D108BD9-81ED-4DB2-BD59-A6C34878D82A}">
                        <a16:rowId xmlns:a16="http://schemas.microsoft.com/office/drawing/2014/main" val="2833292538"/>
                      </a:ext>
                    </a:extLst>
                  </a:tr>
                  <a:tr h="659050">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163" t="-98113" r="-300000" b="-190566"/>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01163" t="-98113" r="-200000" b="-190566"/>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203529" t="-98113" r="-102353" b="-190566"/>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300000" t="-98113" r="-1163" b="-190566"/>
                          </a:stretch>
                        </a:blipFill>
                      </a:tcPr>
                    </a:tc>
                    <a:extLst>
                      <a:ext uri="{0D108BD9-81ED-4DB2-BD59-A6C34878D82A}">
                        <a16:rowId xmlns:a16="http://schemas.microsoft.com/office/drawing/2014/main" val="3247934399"/>
                      </a:ext>
                    </a:extLst>
                  </a:tr>
                  <a:tr h="628998">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163" t="-214286" r="-300000" b="-106122"/>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01163" t="-214286" r="-200000" b="-106122"/>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203529" t="-214286" r="-102353" b="-106122"/>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300000" t="-214286" r="-1163" b="-106122"/>
                          </a:stretch>
                        </a:blipFill>
                      </a:tcPr>
                    </a:tc>
                    <a:extLst>
                      <a:ext uri="{0D108BD9-81ED-4DB2-BD59-A6C34878D82A}">
                        <a16:rowId xmlns:a16="http://schemas.microsoft.com/office/drawing/2014/main" val="3119059596"/>
                      </a:ext>
                    </a:extLst>
                  </a:tr>
                  <a:tr h="637909">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163" t="-301961" r="-300000" b="-1961"/>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101163" t="-301961" r="-200000" b="-1961"/>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203529" t="-301961" r="-102353" b="-1961"/>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4"/>
                          <a:stretch>
                            <a:fillRect l="-300000" t="-301961" r="-1163" b="-1961"/>
                          </a:stretch>
                        </a:blipFill>
                      </a:tcPr>
                    </a:tc>
                    <a:extLst>
                      <a:ext uri="{0D108BD9-81ED-4DB2-BD59-A6C34878D82A}">
                        <a16:rowId xmlns:a16="http://schemas.microsoft.com/office/drawing/2014/main" val="4021970893"/>
                      </a:ext>
                    </a:extLst>
                  </a:tr>
                </a:tbl>
              </a:graphicData>
            </a:graphic>
          </p:graphicFrame>
        </mc:Fallback>
      </mc:AlternateContent>
      <p:sp>
        <p:nvSpPr>
          <p:cNvPr id="7" name="文本框 6">
            <a:extLst>
              <a:ext uri="{FF2B5EF4-FFF2-40B4-BE49-F238E27FC236}">
                <a16:creationId xmlns:a16="http://schemas.microsoft.com/office/drawing/2014/main" id="{359BB1E0-B950-D88E-0BB5-AEAF322770CB}"/>
              </a:ext>
            </a:extLst>
          </p:cNvPr>
          <p:cNvSpPr txBox="1"/>
          <p:nvPr/>
        </p:nvSpPr>
        <p:spPr>
          <a:xfrm>
            <a:off x="5895703" y="950025"/>
            <a:ext cx="6130835" cy="1693028"/>
          </a:xfrm>
          <a:prstGeom prst="rect">
            <a:avLst/>
          </a:prstGeom>
          <a:noFill/>
        </p:spPr>
        <p:txBody>
          <a:bodyPr wrap="square" rtlCol="0">
            <a:spAutoFit/>
          </a:bodyPr>
          <a:lstStyle/>
          <a:p>
            <a:pPr algn="l">
              <a:lnSpc>
                <a:spcPct val="150000"/>
              </a:lnSpc>
            </a:pPr>
            <a:r>
              <a:rPr kumimoji="1" lang="zh-CN" altLang="en-US" sz="2400" dirty="0">
                <a:solidFill>
                  <a:schemeClr val="tx2"/>
                </a:solidFill>
                <a:latin typeface="Times New Roman" panose="02020603050405020304" pitchFamily="18" charset="0"/>
                <a:ea typeface="微软雅黑" panose="020B0503020204020204" pitchFamily="34" charset="-122"/>
              </a:rPr>
              <a:t>解码器：</a:t>
            </a:r>
            <a:r>
              <a:rPr lang="zh-CN" altLang="en-US" sz="2400" dirty="0">
                <a:solidFill>
                  <a:schemeClr val="tx2"/>
                </a:solidFill>
                <a:latin typeface="Times New Roman" panose="02020603050405020304" pitchFamily="18" charset="0"/>
                <a:ea typeface="微软雅黑" panose="020B0503020204020204" pitchFamily="34" charset="-122"/>
              </a:rPr>
              <a:t>将上三角部分掩码（</a:t>
            </a:r>
            <a:r>
              <a:rPr lang="en-US" altLang="zh-CN" sz="2400" dirty="0">
                <a:solidFill>
                  <a:srgbClr val="C00000"/>
                </a:solidFill>
                <a:latin typeface="Times New Roman" panose="02020603050405020304" pitchFamily="18" charset="0"/>
                <a:ea typeface="微软雅黑" panose="020B0503020204020204" pitchFamily="34" charset="-122"/>
              </a:rPr>
              <a:t>causal</a:t>
            </a:r>
            <a:r>
              <a:rPr lang="zh-CN" altLang="en-US" sz="2400" dirty="0">
                <a:solidFill>
                  <a:srgbClr val="C00000"/>
                </a:solidFill>
                <a:latin typeface="Times New Roman" panose="02020603050405020304" pitchFamily="18" charset="0"/>
                <a:ea typeface="微软雅黑" panose="020B0503020204020204" pitchFamily="34" charset="-122"/>
              </a:rPr>
              <a:t> </a:t>
            </a:r>
            <a:r>
              <a:rPr lang="en-US" altLang="zh-CN" sz="2400" dirty="0">
                <a:solidFill>
                  <a:srgbClr val="C00000"/>
                </a:solidFill>
                <a:latin typeface="Times New Roman" panose="02020603050405020304" pitchFamily="18" charset="0"/>
                <a:ea typeface="微软雅黑" panose="020B0503020204020204" pitchFamily="34" charset="-122"/>
              </a:rPr>
              <a:t>mask</a:t>
            </a:r>
            <a:r>
              <a:rPr lang="zh-CN" altLang="en-US" sz="2400" dirty="0">
                <a:solidFill>
                  <a:schemeClr val="tx2"/>
                </a:solidFill>
                <a:latin typeface="Times New Roman" panose="02020603050405020304" pitchFamily="18" charset="0"/>
                <a:ea typeface="微软雅黑" panose="020B0503020204020204" pitchFamily="34" charset="-122"/>
              </a:rPr>
              <a:t>），所以模型只能关注到前边的信息，保证了因果相关性，再按行进行</a:t>
            </a:r>
            <a:r>
              <a:rPr lang="en-US" altLang="zh-CN" sz="2400" dirty="0" err="1">
                <a:solidFill>
                  <a:schemeClr val="tx2"/>
                </a:solidFill>
                <a:latin typeface="Times New Roman" panose="02020603050405020304" pitchFamily="18" charset="0"/>
                <a:ea typeface="微软雅黑" panose="020B0503020204020204" pitchFamily="34" charset="-122"/>
              </a:rPr>
              <a:t>softmax</a:t>
            </a:r>
            <a:r>
              <a:rPr lang="zh-CN" altLang="en-US" sz="2400" dirty="0">
                <a:solidFill>
                  <a:schemeClr val="tx2"/>
                </a:solidFill>
                <a:latin typeface="Times New Roman" panose="02020603050405020304" pitchFamily="18" charset="0"/>
                <a:ea typeface="微软雅黑" panose="020B0503020204020204" pitchFamily="34" charset="-122"/>
              </a:rPr>
              <a:t>操作</a:t>
            </a:r>
            <a:r>
              <a:rPr lang="zh-CN" altLang="en-US" sz="2000" dirty="0">
                <a:solidFill>
                  <a:schemeClr val="tx2"/>
                </a:solidFill>
                <a:latin typeface="Times New Roman" panose="02020603050405020304" pitchFamily="18" charset="0"/>
                <a:ea typeface="微软雅黑" panose="020B0503020204020204" pitchFamily="34" charset="-122"/>
              </a:rPr>
              <a:t>。</a:t>
            </a:r>
            <a:endParaRPr kumimoji="1" lang="zh-CN" altLang="en-US" sz="2000" dirty="0">
              <a:solidFill>
                <a:schemeClr val="tx2"/>
              </a:solidFill>
              <a:latin typeface="Times New Roman" panose="02020603050405020304" pitchFamily="18" charset="0"/>
              <a:ea typeface="微软雅黑" panose="020B0503020204020204" pitchFamily="34" charset="-122"/>
            </a:endParaRPr>
          </a:p>
        </p:txBody>
      </p:sp>
      <p:sp>
        <p:nvSpPr>
          <p:cNvPr id="9" name="文本框 8">
            <a:extLst>
              <a:ext uri="{FF2B5EF4-FFF2-40B4-BE49-F238E27FC236}">
                <a16:creationId xmlns:a16="http://schemas.microsoft.com/office/drawing/2014/main" id="{B178EE58-8AFF-D9CF-E82D-7BEA6BC27641}"/>
              </a:ext>
            </a:extLst>
          </p:cNvPr>
          <p:cNvSpPr txBox="1"/>
          <p:nvPr/>
        </p:nvSpPr>
        <p:spPr>
          <a:xfrm>
            <a:off x="269965" y="1093307"/>
            <a:ext cx="4136572" cy="1139030"/>
          </a:xfrm>
          <a:prstGeom prst="rect">
            <a:avLst/>
          </a:prstGeom>
          <a:noFill/>
        </p:spPr>
        <p:txBody>
          <a:bodyPr wrap="square">
            <a:spAutoFit/>
          </a:bodyPr>
          <a:lstStyle/>
          <a:p>
            <a:pPr>
              <a:lnSpc>
                <a:spcPct val="150000"/>
              </a:lnSpc>
            </a:pPr>
            <a:r>
              <a:rPr kumimoji="1" lang="zh-CN" altLang="en-US" sz="2400" dirty="0">
                <a:solidFill>
                  <a:schemeClr val="tx2"/>
                </a:solidFill>
                <a:latin typeface="Times New Roman" panose="02020603050405020304" pitchFamily="18" charset="0"/>
                <a:ea typeface="微软雅黑" panose="020B0503020204020204" pitchFamily="34" charset="-122"/>
              </a:rPr>
              <a:t>编码器：对</a:t>
            </a:r>
            <a:r>
              <a:rPr kumimoji="1" lang="en-US" altLang="zh-CN" sz="2400" dirty="0">
                <a:solidFill>
                  <a:schemeClr val="tx2"/>
                </a:solidFill>
                <a:latin typeface="Times New Roman" panose="02020603050405020304" pitchFamily="18" charset="0"/>
                <a:ea typeface="微软雅黑" panose="020B0503020204020204" pitchFamily="34" charset="-122"/>
              </a:rPr>
              <a:t>attention</a:t>
            </a:r>
            <a:r>
              <a:rPr kumimoji="1" lang="zh-CN" altLang="en-US" sz="2400" dirty="0">
                <a:solidFill>
                  <a:schemeClr val="tx2"/>
                </a:solidFill>
                <a:latin typeface="Times New Roman" panose="02020603050405020304" pitchFamily="18" charset="0"/>
                <a:ea typeface="微软雅黑" panose="020B0503020204020204" pitchFamily="34" charset="-122"/>
              </a:rPr>
              <a:t>矩阵直接按行进行</a:t>
            </a:r>
            <a:r>
              <a:rPr kumimoji="1" lang="en-US" altLang="zh-CN" sz="2400" dirty="0" err="1">
                <a:solidFill>
                  <a:schemeClr val="tx2"/>
                </a:solidFill>
                <a:latin typeface="Times New Roman" panose="02020603050405020304" pitchFamily="18" charset="0"/>
                <a:ea typeface="微软雅黑" panose="020B0503020204020204" pitchFamily="34" charset="-122"/>
              </a:rPr>
              <a:t>softmax</a:t>
            </a:r>
            <a:r>
              <a:rPr kumimoji="1" lang="zh-CN" altLang="en-US" sz="2400" dirty="0">
                <a:solidFill>
                  <a:schemeClr val="tx2"/>
                </a:solidFill>
                <a:latin typeface="Times New Roman" panose="02020603050405020304" pitchFamily="18" charset="0"/>
                <a:ea typeface="微软雅黑" panose="020B0503020204020204" pitchFamily="34" charset="-122"/>
              </a:rPr>
              <a:t>操作。</a:t>
            </a:r>
            <a:endParaRPr kumimoji="1" lang="en-US" altLang="zh-CN" sz="2400" dirty="0">
              <a:solidFill>
                <a:schemeClr val="tx2"/>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09FD50A1-D6A3-9105-4D4E-DC8040E5266B}"/>
                  </a:ext>
                </a:extLst>
              </p:cNvPr>
              <p:cNvGraphicFramePr>
                <a:graphicFrameLocks noGrp="1"/>
              </p:cNvGraphicFramePr>
              <p:nvPr>
                <p:extLst>
                  <p:ext uri="{D42A27DB-BD31-4B8C-83A1-F6EECF244321}">
                    <p14:modId xmlns:p14="http://schemas.microsoft.com/office/powerpoint/2010/main" val="4178886849"/>
                  </p:ext>
                </p:extLst>
              </p:nvPr>
            </p:nvGraphicFramePr>
            <p:xfrm>
              <a:off x="7143447" y="2970435"/>
              <a:ext cx="4342676" cy="2585007"/>
            </p:xfrm>
            <a:graphic>
              <a:graphicData uri="http://schemas.openxmlformats.org/drawingml/2006/table">
                <a:tbl>
                  <a:tblPr>
                    <a:tableStyleId>{2D5ABB26-0587-4C30-8999-92F81FD0307C}</a:tableStyleId>
                  </a:tblPr>
                  <a:tblGrid>
                    <a:gridCol w="1085669">
                      <a:extLst>
                        <a:ext uri="{9D8B030D-6E8A-4147-A177-3AD203B41FA5}">
                          <a16:colId xmlns:a16="http://schemas.microsoft.com/office/drawing/2014/main" val="4048564531"/>
                        </a:ext>
                      </a:extLst>
                    </a:gridCol>
                    <a:gridCol w="1085669">
                      <a:extLst>
                        <a:ext uri="{9D8B030D-6E8A-4147-A177-3AD203B41FA5}">
                          <a16:colId xmlns:a16="http://schemas.microsoft.com/office/drawing/2014/main" val="4203968518"/>
                        </a:ext>
                      </a:extLst>
                    </a:gridCol>
                    <a:gridCol w="1085669">
                      <a:extLst>
                        <a:ext uri="{9D8B030D-6E8A-4147-A177-3AD203B41FA5}">
                          <a16:colId xmlns:a16="http://schemas.microsoft.com/office/drawing/2014/main" val="3558645082"/>
                        </a:ext>
                      </a:extLst>
                    </a:gridCol>
                    <a:gridCol w="1085669">
                      <a:extLst>
                        <a:ext uri="{9D8B030D-6E8A-4147-A177-3AD203B41FA5}">
                          <a16:colId xmlns:a16="http://schemas.microsoft.com/office/drawing/2014/main" val="1057495298"/>
                        </a:ext>
                      </a:extLst>
                    </a:gridCol>
                  </a:tblGrid>
                  <a:tr h="659050">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1</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1</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r>
                                  <a:rPr lang="en-US" altLang="zh-CN" b="0" i="1" smtClean="0">
                                    <a:solidFill>
                                      <a:schemeClr val="tx2"/>
                                    </a:solidFill>
                                    <a:latin typeface="Cambria Math" panose="02040503050406030204" pitchFamily="18" charset="0"/>
                                  </a:rPr>
                                  <m:t>−∞</m:t>
                                </m:r>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i="1"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r>
                                  <a:rPr lang="en-US" altLang="zh-CN" b="0" i="1" smtClean="0">
                                    <a:solidFill>
                                      <a:schemeClr val="tx2"/>
                                    </a:solidFill>
                                    <a:latin typeface="Cambria Math" panose="02040503050406030204" pitchFamily="18" charset="0"/>
                                  </a:rPr>
                                  <m:t>−∞</m:t>
                                </m:r>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33292538"/>
                      </a:ext>
                    </a:extLst>
                  </a:tr>
                  <a:tr h="659050">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2</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1</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2</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2</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i="1"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r>
                                  <a:rPr lang="en-US" altLang="zh-CN" b="0" i="1" smtClean="0">
                                    <a:solidFill>
                                      <a:schemeClr val="tx2"/>
                                    </a:solidFill>
                                    <a:latin typeface="Cambria Math" panose="02040503050406030204" pitchFamily="18" charset="0"/>
                                  </a:rPr>
                                  <m:t>−∞</m:t>
                                </m:r>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247934399"/>
                      </a:ext>
                    </a:extLst>
                  </a:tr>
                  <a:tr h="628998">
                    <a:tc>
                      <a:txBody>
                        <a:bodyPr/>
                        <a:lstStyle/>
                        <a:p>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i="1"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119059596"/>
                      </a:ext>
                    </a:extLst>
                  </a:tr>
                  <a:tr h="637909">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𝑛</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1</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𝑛</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2</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altLang="zh-CN" b="0" smtClean="0">
                                    <a:solidFill>
                                      <a:schemeClr val="tx2"/>
                                    </a:solidFill>
                                    <a:latin typeface="Cambria Math" panose="02040503050406030204" pitchFamily="18" charset="0"/>
                                  </a:rPr>
                                  <m:t>⋯</m:t>
                                </m:r>
                              </m:oMath>
                            </m:oMathPara>
                          </a14:m>
                          <a:endParaRPr lang="en-US" altLang="zh-CN" b="0"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14:m>
                            <m:oMathPara xmlns:m="http://schemas.openxmlformats.org/officeDocument/2006/math">
                              <m:oMath>
                                <m:sSubSup>
                                  <m:sSubSupPr>
                                    <m:ctrlPr>
                                      <a:rPr lang="en-US" altLang="zh-CN" b="0" smtClean="0">
                                        <a:solidFill>
                                          <a:schemeClr val="tx2"/>
                                        </a:solidFill>
                                        <a:latin typeface="Cambria Math" panose="02040503050406030204" pitchFamily="18" charset="0"/>
                                      </a:rPr>
                                    </m:ctrlPr>
                                  </m:sSubSupPr>
                                  <m:e>
                                    <m:r>
                                      <a:rPr lang="en-US" altLang="zh-CN" b="0" smtClean="0">
                                        <a:solidFill>
                                          <a:schemeClr val="tx2"/>
                                        </a:solidFill>
                                        <a:latin typeface="Cambria Math" panose="02040503050406030204" pitchFamily="18" charset="0"/>
                                      </a:rPr>
                                      <m:t>𝑞</m:t>
                                    </m:r>
                                  </m:e>
                                  <m:sub>
                                    <m:r>
                                      <a:rPr lang="en-US" altLang="zh-CN" b="0" smtClean="0">
                                        <a:solidFill>
                                          <a:schemeClr val="tx2"/>
                                        </a:solidFill>
                                        <a:latin typeface="Cambria Math" panose="02040503050406030204" pitchFamily="18" charset="0"/>
                                      </a:rPr>
                                      <m:t>𝑛</m:t>
                                    </m:r>
                                  </m:sub>
                                  <m:sup>
                                    <m:r>
                                      <a:rPr lang="en-US" altLang="zh-CN" b="0" smtClean="0">
                                        <a:solidFill>
                                          <a:schemeClr val="tx2"/>
                                        </a:solidFill>
                                        <a:latin typeface="Cambria Math" panose="02040503050406030204" pitchFamily="18" charset="0"/>
                                      </a:rPr>
                                      <m:t>𝑇</m:t>
                                    </m:r>
                                  </m:sup>
                                </m:sSubSup>
                                <m:sSub>
                                  <m:sSubPr>
                                    <m:ctrlPr>
                                      <a:rPr lang="en-US" altLang="zh-CN" b="0" smtClean="0">
                                        <a:solidFill>
                                          <a:schemeClr val="tx2"/>
                                        </a:solidFill>
                                        <a:latin typeface="Cambria Math" panose="02040503050406030204" pitchFamily="18" charset="0"/>
                                      </a:rPr>
                                    </m:ctrlPr>
                                  </m:sSubPr>
                                  <m:e>
                                    <m:r>
                                      <a:rPr lang="en-US" altLang="zh-CN" b="0" smtClean="0">
                                        <a:solidFill>
                                          <a:schemeClr val="tx2"/>
                                        </a:solidFill>
                                        <a:latin typeface="Cambria Math" panose="02040503050406030204" pitchFamily="18" charset="0"/>
                                      </a:rPr>
                                      <m:t>𝑘</m:t>
                                    </m:r>
                                  </m:e>
                                  <m:sub>
                                    <m:r>
                                      <a:rPr lang="en-US" altLang="zh-CN" b="0" smtClean="0">
                                        <a:solidFill>
                                          <a:schemeClr val="tx2"/>
                                        </a:solidFill>
                                        <a:latin typeface="Cambria Math" panose="02040503050406030204" pitchFamily="18" charset="0"/>
                                      </a:rPr>
                                      <m:t>𝑛</m:t>
                                    </m:r>
                                  </m:sub>
                                </m:sSub>
                              </m:oMath>
                            </m:oMathPara>
                          </a14:m>
                          <a:endParaRPr lang="zh-CN" altLang="en-US" dirty="0">
                            <a:solidFill>
                              <a:schemeClr val="tx2"/>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021970893"/>
                      </a:ext>
                    </a:extLst>
                  </a:tr>
                </a:tbl>
              </a:graphicData>
            </a:graphic>
          </p:graphicFrame>
        </mc:Choice>
        <mc:Fallback xmlns="">
          <p:graphicFrame>
            <p:nvGraphicFramePr>
              <p:cNvPr id="11" name="表格 10">
                <a:extLst>
                  <a:ext uri="{FF2B5EF4-FFF2-40B4-BE49-F238E27FC236}">
                    <a16:creationId xmlns:a16="http://schemas.microsoft.com/office/drawing/2014/main" id="{09FD50A1-D6A3-9105-4D4E-DC8040E5266B}"/>
                  </a:ext>
                </a:extLst>
              </p:cNvPr>
              <p:cNvGraphicFramePr>
                <a:graphicFrameLocks noGrp="1"/>
              </p:cNvGraphicFramePr>
              <p:nvPr>
                <p:extLst>
                  <p:ext uri="{D42A27DB-BD31-4B8C-83A1-F6EECF244321}">
                    <p14:modId xmlns:p14="http://schemas.microsoft.com/office/powerpoint/2010/main" val="4178886849"/>
                  </p:ext>
                </p:extLst>
              </p:nvPr>
            </p:nvGraphicFramePr>
            <p:xfrm>
              <a:off x="7143447" y="2970435"/>
              <a:ext cx="4342676" cy="2585007"/>
            </p:xfrm>
            <a:graphic>
              <a:graphicData uri="http://schemas.openxmlformats.org/drawingml/2006/table">
                <a:tbl>
                  <a:tblPr>
                    <a:tableStyleId>{2D5ABB26-0587-4C30-8999-92F81FD0307C}</a:tableStyleId>
                  </a:tblPr>
                  <a:tblGrid>
                    <a:gridCol w="1085669">
                      <a:extLst>
                        <a:ext uri="{9D8B030D-6E8A-4147-A177-3AD203B41FA5}">
                          <a16:colId xmlns:a16="http://schemas.microsoft.com/office/drawing/2014/main" val="4048564531"/>
                        </a:ext>
                      </a:extLst>
                    </a:gridCol>
                    <a:gridCol w="1085669">
                      <a:extLst>
                        <a:ext uri="{9D8B030D-6E8A-4147-A177-3AD203B41FA5}">
                          <a16:colId xmlns:a16="http://schemas.microsoft.com/office/drawing/2014/main" val="4203968518"/>
                        </a:ext>
                      </a:extLst>
                    </a:gridCol>
                    <a:gridCol w="1085669">
                      <a:extLst>
                        <a:ext uri="{9D8B030D-6E8A-4147-A177-3AD203B41FA5}">
                          <a16:colId xmlns:a16="http://schemas.microsoft.com/office/drawing/2014/main" val="3558645082"/>
                        </a:ext>
                      </a:extLst>
                    </a:gridCol>
                    <a:gridCol w="1085669">
                      <a:extLst>
                        <a:ext uri="{9D8B030D-6E8A-4147-A177-3AD203B41FA5}">
                          <a16:colId xmlns:a16="http://schemas.microsoft.com/office/drawing/2014/main" val="1057495298"/>
                        </a:ext>
                      </a:extLst>
                    </a:gridCol>
                  </a:tblGrid>
                  <a:tr h="659050">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559" t="-926" r="-300000" b="-295370"/>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101124" t="-926" r="-201685" b="-295370"/>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200000" t="-926" r="-100559" b="-295370"/>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301685" t="-926" r="-1124" b="-295370"/>
                          </a:stretch>
                        </a:blipFill>
                      </a:tcPr>
                    </a:tc>
                    <a:extLst>
                      <a:ext uri="{0D108BD9-81ED-4DB2-BD59-A6C34878D82A}">
                        <a16:rowId xmlns:a16="http://schemas.microsoft.com/office/drawing/2014/main" val="2833292538"/>
                      </a:ext>
                    </a:extLst>
                  </a:tr>
                  <a:tr h="659050">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559" t="-100000" r="-300000" b="-192661"/>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101124" t="-100000" r="-201685" b="-192661"/>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200000" t="-100000" r="-100559" b="-192661"/>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301685" t="-100000" r="-1124" b="-192661"/>
                          </a:stretch>
                        </a:blipFill>
                      </a:tcPr>
                    </a:tc>
                    <a:extLst>
                      <a:ext uri="{0D108BD9-81ED-4DB2-BD59-A6C34878D82A}">
                        <a16:rowId xmlns:a16="http://schemas.microsoft.com/office/drawing/2014/main" val="3247934399"/>
                      </a:ext>
                    </a:extLst>
                  </a:tr>
                  <a:tr h="628998">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559" t="-211650" r="-300000" b="-103883"/>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101124" t="-211650" r="-201685" b="-103883"/>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200000" t="-211650" r="-100559" b="-103883"/>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301685" t="-211650" r="-1124" b="-103883"/>
                          </a:stretch>
                        </a:blipFill>
                      </a:tcPr>
                    </a:tc>
                    <a:extLst>
                      <a:ext uri="{0D108BD9-81ED-4DB2-BD59-A6C34878D82A}">
                        <a16:rowId xmlns:a16="http://schemas.microsoft.com/office/drawing/2014/main" val="3119059596"/>
                      </a:ext>
                    </a:extLst>
                  </a:tr>
                  <a:tr h="637909">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559" t="-305714" r="-300000" b="-1905"/>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101124" t="-305714" r="-201685" b="-1905"/>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200000" t="-305714" r="-100559" b="-1905"/>
                          </a:stretch>
                        </a:blipFill>
                      </a:tcPr>
                    </a:tc>
                    <a:tc>
                      <a:txBody>
                        <a:bodyPr/>
                        <a:lstStyle/>
                        <a:p>
                          <a:endParaRPr lang="zh-CN"/>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blipFill>
                          <a:blip r:embed="rId5"/>
                          <a:stretch>
                            <a:fillRect l="-301685" t="-305714" r="-1124" b="-1905"/>
                          </a:stretch>
                        </a:blipFill>
                      </a:tcPr>
                    </a:tc>
                    <a:extLst>
                      <a:ext uri="{0D108BD9-81ED-4DB2-BD59-A6C34878D82A}">
                        <a16:rowId xmlns:a16="http://schemas.microsoft.com/office/drawing/2014/main" val="4021970893"/>
                      </a:ext>
                    </a:extLst>
                  </a:tr>
                </a:tbl>
              </a:graphicData>
            </a:graphic>
          </p:graphicFrame>
        </mc:Fallback>
      </mc:AlternateContent>
    </p:spTree>
    <p:extLst>
      <p:ext uri="{BB962C8B-B14F-4D97-AF65-F5344CB8AC3E}">
        <p14:creationId xmlns:p14="http://schemas.microsoft.com/office/powerpoint/2010/main" val="41734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FF925-9181-ABD3-A3B8-05C3A28BA77A}"/>
              </a:ext>
            </a:extLst>
          </p:cNvPr>
          <p:cNvSpPr>
            <a:spLocks noGrp="1"/>
          </p:cNvSpPr>
          <p:nvPr>
            <p:ph type="title"/>
          </p:nvPr>
        </p:nvSpPr>
        <p:spPr/>
        <p:txBody>
          <a:bodyPr/>
          <a:lstStyle/>
          <a:p>
            <a:r>
              <a:rPr kumimoji="1" lang="en-US" altLang="zh-CN" dirty="0"/>
              <a:t>Word2Vec</a:t>
            </a:r>
            <a:endParaRPr kumimoji="1" lang="zh-CN" altLang="en-US" dirty="0"/>
          </a:p>
        </p:txBody>
      </p:sp>
      <p:sp>
        <p:nvSpPr>
          <p:cNvPr id="3" name="内容占位符 2">
            <a:extLst>
              <a:ext uri="{FF2B5EF4-FFF2-40B4-BE49-F238E27FC236}">
                <a16:creationId xmlns:a16="http://schemas.microsoft.com/office/drawing/2014/main" id="{6AC7B1F0-7AB3-2DAC-B8BB-45B51BD52643}"/>
              </a:ext>
            </a:extLst>
          </p:cNvPr>
          <p:cNvSpPr>
            <a:spLocks noGrp="1"/>
          </p:cNvSpPr>
          <p:nvPr>
            <p:ph idx="1"/>
          </p:nvPr>
        </p:nvSpPr>
        <p:spPr/>
        <p:txBody>
          <a:bodyPr/>
          <a:lstStyle/>
          <a:p>
            <a:pPr marL="342900" indent="-342900">
              <a:buFont typeface="Wingdings" pitchFamily="2" charset="2"/>
              <a:buChar char="p"/>
            </a:pPr>
            <a:r>
              <a:rPr kumimoji="1" lang="zh-CN" altLang="en-US" b="0" dirty="0">
                <a:latin typeface="Times New Roman" panose="02020603050405020304" pitchFamily="18" charset="0"/>
              </a:rPr>
              <a:t>将自然语言中的词语转变为向量，向量在学习下变成有语言含义的向量。</a:t>
            </a:r>
            <a:endParaRPr kumimoji="1" lang="en-US" altLang="zh-CN" b="0" dirty="0">
              <a:latin typeface="Times New Roman" panose="02020603050405020304" pitchFamily="18" charset="0"/>
            </a:endParaRPr>
          </a:p>
          <a:p>
            <a:pPr marL="342900" indent="-342900">
              <a:buFont typeface="Wingdings" pitchFamily="2" charset="2"/>
              <a:buChar char="p"/>
            </a:pPr>
            <a:r>
              <a:rPr kumimoji="1" lang="zh-CN" altLang="en-US" b="0" dirty="0">
                <a:latin typeface="Times New Roman" panose="02020603050405020304" pitchFamily="18" charset="0"/>
              </a:rPr>
              <a:t>代表方法有</a:t>
            </a:r>
            <a:r>
              <a:rPr kumimoji="1" lang="en-US" altLang="zh-CN" b="0" dirty="0">
                <a:latin typeface="Times New Roman" panose="02020603050405020304" pitchFamily="18" charset="0"/>
              </a:rPr>
              <a:t>:</a:t>
            </a: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endParaRPr kumimoji="1" lang="en-US" altLang="zh-CN" b="0" dirty="0">
              <a:latin typeface="Times New Roman" panose="02020603050405020304" pitchFamily="18" charset="0"/>
            </a:endParaRPr>
          </a:p>
          <a:p>
            <a:pPr marL="342900" indent="-342900">
              <a:buFont typeface="Wingdings" pitchFamily="2" charset="2"/>
              <a:buChar char="p"/>
            </a:pPr>
            <a:r>
              <a:rPr kumimoji="1" lang="zh-CN" altLang="en-US" b="0" dirty="0">
                <a:latin typeface="Times New Roman" panose="02020603050405020304" pitchFamily="18" charset="0"/>
              </a:rPr>
              <a:t>现在的大语言模型中通常会变为可学习的嵌入向量，参与后面的训练</a:t>
            </a:r>
            <a:endParaRPr kumimoji="1" lang="en-US" altLang="zh-CN" b="0" dirty="0">
              <a:latin typeface="Times New Roman" panose="02020603050405020304" pitchFamily="18" charset="0"/>
            </a:endParaRPr>
          </a:p>
        </p:txBody>
      </p:sp>
      <p:pic>
        <p:nvPicPr>
          <p:cNvPr id="4" name="图片 3">
            <a:extLst>
              <a:ext uri="{FF2B5EF4-FFF2-40B4-BE49-F238E27FC236}">
                <a16:creationId xmlns:a16="http://schemas.microsoft.com/office/drawing/2014/main" id="{9458BA7C-6B22-C969-3867-591AC0FE7E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549891" y="1624869"/>
            <a:ext cx="6186755" cy="3614544"/>
          </a:xfrm>
          <a:prstGeom prst="rect">
            <a:avLst/>
          </a:prstGeom>
        </p:spPr>
      </p:pic>
      <p:sp>
        <p:nvSpPr>
          <p:cNvPr id="7" name="文本框 6">
            <a:extLst>
              <a:ext uri="{FF2B5EF4-FFF2-40B4-BE49-F238E27FC236}">
                <a16:creationId xmlns:a16="http://schemas.microsoft.com/office/drawing/2014/main" id="{360AD8B6-5749-1D8B-DD38-C94DB3A6317C}"/>
              </a:ext>
            </a:extLst>
          </p:cNvPr>
          <p:cNvSpPr txBox="1"/>
          <p:nvPr/>
        </p:nvSpPr>
        <p:spPr>
          <a:xfrm>
            <a:off x="-246758" y="2063032"/>
            <a:ext cx="5943365" cy="3170099"/>
          </a:xfrm>
          <a:prstGeom prst="rect">
            <a:avLst/>
          </a:prstGeom>
          <a:noFill/>
        </p:spPr>
        <p:txBody>
          <a:bodyPr wrap="square" rtlCol="0">
            <a:spAutoFit/>
          </a:bodyPr>
          <a:lstStyle/>
          <a:p>
            <a:pPr marL="952500" lvl="1" indent="-342900">
              <a:lnSpc>
                <a:spcPct val="150000"/>
              </a:lnSpc>
              <a:buFont typeface="Wingdings" pitchFamily="2" charset="2"/>
              <a:buChar char="p"/>
            </a:pPr>
            <a:r>
              <a:rPr kumimoji="1" lang="en" altLang="zh-CN" sz="2400" b="0" dirty="0">
                <a:solidFill>
                  <a:schemeClr val="tx2"/>
                </a:solidFill>
                <a:latin typeface="Times New Roman" panose="02020603050405020304" pitchFamily="18" charset="0"/>
              </a:rPr>
              <a:t>Skip-gram </a:t>
            </a:r>
            <a:r>
              <a:rPr kumimoji="1" lang="zh-CN" altLang="en-US" sz="2400" b="0" dirty="0">
                <a:solidFill>
                  <a:schemeClr val="tx2"/>
                </a:solidFill>
                <a:latin typeface="Times New Roman" panose="02020603050405020304" pitchFamily="18" charset="0"/>
              </a:rPr>
              <a:t>模型：以一个词作为输入，预测其上下文</a:t>
            </a:r>
            <a:endParaRPr kumimoji="1" lang="en-US" altLang="zh-CN" sz="2400" b="0" dirty="0">
              <a:solidFill>
                <a:schemeClr val="tx2"/>
              </a:solidFill>
              <a:latin typeface="Times New Roman" panose="02020603050405020304" pitchFamily="18" charset="0"/>
            </a:endParaRPr>
          </a:p>
          <a:p>
            <a:pPr marL="952500" lvl="1" indent="-342900">
              <a:lnSpc>
                <a:spcPct val="150000"/>
              </a:lnSpc>
              <a:buFont typeface="Wingdings" pitchFamily="2" charset="2"/>
              <a:buChar char="p"/>
            </a:pPr>
            <a:r>
              <a:rPr kumimoji="1" lang="en-US" altLang="zh-CN" sz="2400" b="0" dirty="0">
                <a:solidFill>
                  <a:schemeClr val="tx2"/>
                </a:solidFill>
                <a:latin typeface="Times New Roman" panose="02020603050405020304" pitchFamily="18" charset="0"/>
              </a:rPr>
              <a:t>CBOW </a:t>
            </a:r>
            <a:r>
              <a:rPr kumimoji="1" lang="zh-CN" altLang="en-US" sz="2400" b="0" dirty="0">
                <a:solidFill>
                  <a:schemeClr val="tx2"/>
                </a:solidFill>
                <a:latin typeface="Times New Roman" panose="02020603050405020304" pitchFamily="18" charset="0"/>
              </a:rPr>
              <a:t>模型：以一个词的上下文作为输入，预测这个词语本身</a:t>
            </a:r>
            <a:endParaRPr kumimoji="1" lang="en-US" altLang="zh-CN" sz="2400" b="0" dirty="0">
              <a:solidFill>
                <a:schemeClr val="tx2"/>
              </a:solidFill>
              <a:latin typeface="Times New Roman" panose="02020603050405020304" pitchFamily="18" charset="0"/>
            </a:endParaRPr>
          </a:p>
          <a:p>
            <a:pPr marL="952500" lvl="1" indent="-342900">
              <a:lnSpc>
                <a:spcPct val="150000"/>
              </a:lnSpc>
              <a:buFont typeface="Wingdings" pitchFamily="2" charset="2"/>
              <a:buChar char="p"/>
            </a:pPr>
            <a:r>
              <a:rPr kumimoji="1" lang="en-US" altLang="zh-CN" sz="2400" b="0" dirty="0">
                <a:solidFill>
                  <a:schemeClr val="tx2"/>
                </a:solidFill>
                <a:latin typeface="Times New Roman" panose="02020603050405020304" pitchFamily="18" charset="0"/>
              </a:rPr>
              <a:t>W(t)</a:t>
            </a:r>
            <a:r>
              <a:rPr kumimoji="1" lang="zh-CN" altLang="en-US" sz="2400" b="0" dirty="0">
                <a:solidFill>
                  <a:schemeClr val="tx2"/>
                </a:solidFill>
                <a:latin typeface="Times New Roman" panose="02020603050405020304" pitchFamily="18" charset="0"/>
              </a:rPr>
              <a:t> 是一个 </a:t>
            </a:r>
            <a:r>
              <a:rPr kumimoji="1" lang="en-US" altLang="zh-CN" sz="2400" b="0" dirty="0">
                <a:solidFill>
                  <a:schemeClr val="tx2"/>
                </a:solidFill>
                <a:latin typeface="Times New Roman" panose="02020603050405020304" pitchFamily="18" charset="0"/>
              </a:rPr>
              <a:t>one</a:t>
            </a:r>
            <a:r>
              <a:rPr kumimoji="1" lang="en-US" altLang="zh-CN" sz="2400" dirty="0">
                <a:solidFill>
                  <a:schemeClr val="tx2"/>
                </a:solidFill>
                <a:latin typeface="Times New Roman" panose="02020603050405020304" pitchFamily="18" charset="0"/>
              </a:rPr>
              <a:t>-</a:t>
            </a:r>
            <a:r>
              <a:rPr kumimoji="1" lang="en-US" altLang="zh-CN" sz="2400" b="0" dirty="0">
                <a:solidFill>
                  <a:schemeClr val="tx2"/>
                </a:solidFill>
                <a:latin typeface="Times New Roman" panose="02020603050405020304" pitchFamily="18" charset="0"/>
              </a:rPr>
              <a:t>hot</a:t>
            </a:r>
            <a:r>
              <a:rPr kumimoji="1" lang="zh-CN" altLang="en-US" sz="2400" b="0" dirty="0">
                <a:solidFill>
                  <a:schemeClr val="tx2"/>
                </a:solidFill>
                <a:latin typeface="Times New Roman" panose="02020603050405020304" pitchFamily="18" charset="0"/>
              </a:rPr>
              <a:t> 向量</a:t>
            </a:r>
            <a:endParaRPr kumimoji="1" lang="en-US" altLang="zh-CN" sz="2400" b="0" dirty="0">
              <a:solidFill>
                <a:schemeClr val="tx2"/>
              </a:solidFill>
              <a:latin typeface="Times New Roman" panose="02020603050405020304" pitchFamily="18" charset="0"/>
            </a:endParaRPr>
          </a:p>
          <a:p>
            <a:pPr algn="l"/>
            <a:endParaRPr kumimoji="1" lang="zh-CN" altLang="en-US" sz="2000" dirty="0"/>
          </a:p>
        </p:txBody>
      </p:sp>
      <p:sp>
        <p:nvSpPr>
          <p:cNvPr id="5" name="文本框 4">
            <a:extLst>
              <a:ext uri="{FF2B5EF4-FFF2-40B4-BE49-F238E27FC236}">
                <a16:creationId xmlns:a16="http://schemas.microsoft.com/office/drawing/2014/main" id="{E28C76D6-3F7E-230D-2117-D0A8F9AF5A9C}"/>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368201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756E23-4740-B0A2-2D30-F2299851A5C6}"/>
              </a:ext>
            </a:extLst>
          </p:cNvPr>
          <p:cNvSpPr>
            <a:spLocks noGrp="1"/>
          </p:cNvSpPr>
          <p:nvPr>
            <p:ph type="title"/>
          </p:nvPr>
        </p:nvSpPr>
        <p:spPr/>
        <p:txBody>
          <a:bodyPr/>
          <a:lstStyle/>
          <a:p>
            <a:r>
              <a:rPr kumimoji="1" lang="en-US" altLang="zh-CN" dirty="0"/>
              <a:t>Seq2Seq</a:t>
            </a:r>
            <a:r>
              <a:rPr kumimoji="1" lang="zh-CN" altLang="en-US" dirty="0"/>
              <a:t> </a:t>
            </a:r>
            <a:r>
              <a:rPr kumimoji="1" lang="en-US" altLang="zh-CN" dirty="0"/>
              <a:t>model</a:t>
            </a:r>
            <a:endParaRPr kumimoji="1" lang="zh-CN" altLang="en-US" dirty="0"/>
          </a:p>
        </p:txBody>
      </p:sp>
      <p:pic>
        <p:nvPicPr>
          <p:cNvPr id="2050" name="Picture 2" descr="undefined">
            <a:extLst>
              <a:ext uri="{FF2B5EF4-FFF2-40B4-BE49-F238E27FC236}">
                <a16:creationId xmlns:a16="http://schemas.microsoft.com/office/drawing/2014/main" id="{D7023B7F-D64C-BD60-6B70-75986C41CA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32416" y="1304577"/>
            <a:ext cx="6778342" cy="3440009"/>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B59BC45-5A1D-A103-52D1-8309BAEA2F21}"/>
              </a:ext>
            </a:extLst>
          </p:cNvPr>
          <p:cNvSpPr txBox="1"/>
          <p:nvPr/>
        </p:nvSpPr>
        <p:spPr>
          <a:xfrm>
            <a:off x="269966" y="1304577"/>
            <a:ext cx="4437501" cy="2801023"/>
          </a:xfrm>
          <a:prstGeom prst="rect">
            <a:avLst/>
          </a:prstGeom>
          <a:noFill/>
        </p:spPr>
        <p:txBody>
          <a:bodyPr wrap="square" rtlCol="0">
            <a:spAutoFit/>
          </a:bodyPr>
          <a:lstStyle/>
          <a:p>
            <a:pPr marL="342900" indent="-342900" algn="l">
              <a:lnSpc>
                <a:spcPct val="150000"/>
              </a:lnSpc>
              <a:buFont typeface="Wingdings" pitchFamily="2" charset="2"/>
              <a:buChar char="p"/>
            </a:pPr>
            <a:r>
              <a:rPr kumimoji="1" lang="en-US" altLang="zh-CN" sz="2400" dirty="0">
                <a:solidFill>
                  <a:schemeClr val="tx2"/>
                </a:solidFill>
                <a:latin typeface="Times New Roman" panose="02020603050405020304" pitchFamily="18" charset="0"/>
                <a:ea typeface="微软雅黑" panose="020B0503020204020204" pitchFamily="34" charset="-122"/>
              </a:rPr>
              <a:t>Seq2Seq</a:t>
            </a:r>
            <a:r>
              <a:rPr kumimoji="1" lang="zh-CN" altLang="en-US" sz="2400" dirty="0">
                <a:solidFill>
                  <a:schemeClr val="tx2"/>
                </a:solidFill>
                <a:latin typeface="Times New Roman" panose="02020603050405020304" pitchFamily="18" charset="0"/>
                <a:ea typeface="微软雅黑" panose="020B0503020204020204" pitchFamily="34" charset="-122"/>
              </a:rPr>
              <a:t> </a:t>
            </a:r>
            <a:r>
              <a:rPr kumimoji="1" lang="en-US" altLang="zh-CN" sz="2400" dirty="0">
                <a:solidFill>
                  <a:schemeClr val="tx2"/>
                </a:solidFill>
                <a:latin typeface="Times New Roman" panose="02020603050405020304" pitchFamily="18" charset="0"/>
                <a:ea typeface="微软雅黑" panose="020B0503020204020204" pitchFamily="34" charset="-122"/>
              </a:rPr>
              <a:t>model</a:t>
            </a:r>
            <a:r>
              <a:rPr kumimoji="1" lang="zh-CN" altLang="en-US" sz="2400" dirty="0">
                <a:solidFill>
                  <a:schemeClr val="tx2"/>
                </a:solidFill>
                <a:latin typeface="Times New Roman" panose="02020603050405020304" pitchFamily="18" charset="0"/>
                <a:ea typeface="微软雅黑" panose="020B0503020204020204" pitchFamily="34" charset="-122"/>
              </a:rPr>
              <a:t> 通常是通过</a:t>
            </a:r>
            <a:r>
              <a:rPr kumimoji="1" lang="en-US" altLang="zh-CN" sz="2400" dirty="0">
                <a:solidFill>
                  <a:schemeClr val="tx2"/>
                </a:solidFill>
                <a:latin typeface="Times New Roman" panose="02020603050405020304" pitchFamily="18" charset="0"/>
                <a:ea typeface="微软雅黑" panose="020B0503020204020204" pitchFamily="34" charset="-122"/>
              </a:rPr>
              <a:t>encoder </a:t>
            </a:r>
            <a:r>
              <a:rPr kumimoji="1" lang="zh-CN" altLang="en-US" sz="2400" dirty="0">
                <a:solidFill>
                  <a:schemeClr val="tx2"/>
                </a:solidFill>
                <a:latin typeface="Times New Roman" panose="02020603050405020304" pitchFamily="18" charset="0"/>
                <a:ea typeface="微软雅黑" panose="020B0503020204020204" pitchFamily="34" charset="-122"/>
              </a:rPr>
              <a:t>模型和</a:t>
            </a:r>
            <a:r>
              <a:rPr kumimoji="1" lang="en-US" altLang="zh-CN" sz="2400" dirty="0">
                <a:solidFill>
                  <a:schemeClr val="tx2"/>
                </a:solidFill>
                <a:latin typeface="Times New Roman" panose="02020603050405020304" pitchFamily="18" charset="0"/>
                <a:ea typeface="微软雅黑" panose="020B0503020204020204" pitchFamily="34" charset="-122"/>
              </a:rPr>
              <a:t> decoder </a:t>
            </a:r>
            <a:r>
              <a:rPr kumimoji="1" lang="zh-CN" altLang="en-US" sz="2400" dirty="0">
                <a:solidFill>
                  <a:schemeClr val="tx2"/>
                </a:solidFill>
                <a:latin typeface="Times New Roman" panose="02020603050405020304" pitchFamily="18" charset="0"/>
                <a:ea typeface="微软雅黑" panose="020B0503020204020204" pitchFamily="34" charset="-122"/>
              </a:rPr>
              <a:t>模型完成机器翻译，在</a:t>
            </a:r>
            <a:r>
              <a:rPr kumimoji="1" lang="en-US" altLang="zh-CN" sz="2400" dirty="0">
                <a:solidFill>
                  <a:schemeClr val="tx2"/>
                </a:solidFill>
                <a:latin typeface="Times New Roman" panose="02020603050405020304" pitchFamily="18" charset="0"/>
                <a:ea typeface="微软雅黑" panose="020B0503020204020204" pitchFamily="34" charset="-122"/>
              </a:rPr>
              <a:t>2017</a:t>
            </a:r>
            <a:r>
              <a:rPr kumimoji="1" lang="zh-CN" altLang="en-US" sz="2400" dirty="0">
                <a:solidFill>
                  <a:schemeClr val="tx2"/>
                </a:solidFill>
                <a:latin typeface="Times New Roman" panose="02020603050405020304" pitchFamily="18" charset="0"/>
                <a:ea typeface="微软雅黑" panose="020B0503020204020204" pitchFamily="34" charset="-122"/>
              </a:rPr>
              <a:t>年之前这些</a:t>
            </a:r>
            <a:r>
              <a:rPr kumimoji="1" lang="en-US" altLang="zh-CN" sz="2400" dirty="0">
                <a:solidFill>
                  <a:schemeClr val="tx2"/>
                </a:solidFill>
                <a:latin typeface="Times New Roman" panose="02020603050405020304" pitchFamily="18" charset="0"/>
                <a:ea typeface="微软雅黑" panose="020B0503020204020204" pitchFamily="34" charset="-122"/>
              </a:rPr>
              <a:t>encoder </a:t>
            </a:r>
            <a:r>
              <a:rPr kumimoji="1" lang="zh-CN" altLang="en-US" sz="2400" dirty="0">
                <a:solidFill>
                  <a:schemeClr val="tx2"/>
                </a:solidFill>
                <a:latin typeface="Times New Roman" panose="02020603050405020304" pitchFamily="18" charset="0"/>
                <a:ea typeface="微软雅黑" panose="020B0503020204020204" pitchFamily="34" charset="-122"/>
              </a:rPr>
              <a:t>和</a:t>
            </a:r>
            <a:r>
              <a:rPr kumimoji="1" lang="en-US" altLang="zh-CN" sz="2400" dirty="0">
                <a:solidFill>
                  <a:schemeClr val="tx2"/>
                </a:solidFill>
                <a:latin typeface="Times New Roman" panose="02020603050405020304" pitchFamily="18" charset="0"/>
                <a:ea typeface="微软雅黑" panose="020B0503020204020204" pitchFamily="34" charset="-122"/>
              </a:rPr>
              <a:t> decoder </a:t>
            </a:r>
            <a:r>
              <a:rPr kumimoji="1" lang="zh-CN" altLang="en-US" sz="2400" dirty="0">
                <a:solidFill>
                  <a:schemeClr val="tx2"/>
                </a:solidFill>
                <a:latin typeface="Times New Roman" panose="02020603050405020304" pitchFamily="18" charset="0"/>
                <a:ea typeface="微软雅黑" panose="020B0503020204020204" pitchFamily="34" charset="-122"/>
              </a:rPr>
              <a:t>一般为</a:t>
            </a:r>
            <a:r>
              <a:rPr kumimoji="1" lang="en-US" altLang="zh-CN" sz="2400" b="1" dirty="0">
                <a:latin typeface="Times New Roman" panose="02020603050405020304" pitchFamily="18" charset="0"/>
                <a:ea typeface="微软雅黑" panose="020B0503020204020204" pitchFamily="34" charset="-122"/>
              </a:rPr>
              <a:t>LSTM</a:t>
            </a:r>
            <a:r>
              <a:rPr kumimoji="1" lang="zh-CN" altLang="en-US" sz="2400" dirty="0">
                <a:solidFill>
                  <a:schemeClr val="tx2"/>
                </a:solidFill>
                <a:latin typeface="Times New Roman" panose="02020603050405020304" pitchFamily="18" charset="0"/>
                <a:ea typeface="微软雅黑" panose="020B0503020204020204" pitchFamily="34" charset="-122"/>
              </a:rPr>
              <a:t>模型。</a:t>
            </a:r>
          </a:p>
        </p:txBody>
      </p:sp>
      <p:sp>
        <p:nvSpPr>
          <p:cNvPr id="6" name="文本框 5">
            <a:extLst>
              <a:ext uri="{FF2B5EF4-FFF2-40B4-BE49-F238E27FC236}">
                <a16:creationId xmlns:a16="http://schemas.microsoft.com/office/drawing/2014/main" id="{DE3D34BA-0D2C-AEC9-FD7D-9F16686E50EB}"/>
              </a:ext>
            </a:extLst>
          </p:cNvPr>
          <p:cNvSpPr txBox="1"/>
          <p:nvPr/>
        </p:nvSpPr>
        <p:spPr>
          <a:xfrm>
            <a:off x="102187" y="6401902"/>
            <a:ext cx="6096000" cy="307777"/>
          </a:xfrm>
          <a:prstGeom prst="rect">
            <a:avLst/>
          </a:prstGeom>
          <a:noFill/>
        </p:spPr>
        <p:txBody>
          <a:bodyPr wrap="square">
            <a:spAutoFit/>
          </a:bodyPr>
          <a:lstStyle/>
          <a:p>
            <a:r>
              <a:rPr lang="zh-CN" altLang="en-US" sz="1400" dirty="0">
                <a:solidFill>
                  <a:schemeClr val="bg1"/>
                </a:solidFill>
              </a:rPr>
              <a:t>https://en.wikipedia.org/wiki/Seq2seq</a:t>
            </a:r>
          </a:p>
        </p:txBody>
      </p:sp>
    </p:spTree>
    <p:extLst>
      <p:ext uri="{BB962C8B-B14F-4D97-AF65-F5344CB8AC3E}">
        <p14:creationId xmlns:p14="http://schemas.microsoft.com/office/powerpoint/2010/main" val="3631770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26B58-AF79-FAE3-9C31-E093046AF333}"/>
              </a:ext>
            </a:extLst>
          </p:cNvPr>
          <p:cNvSpPr>
            <a:spLocks noGrp="1"/>
          </p:cNvSpPr>
          <p:nvPr>
            <p:ph type="title"/>
          </p:nvPr>
        </p:nvSpPr>
        <p:spPr/>
        <p:txBody>
          <a:bodyPr/>
          <a:lstStyle/>
          <a:p>
            <a:r>
              <a:rPr kumimoji="1" lang="en-US" altLang="zh-CN" dirty="0"/>
              <a:t>Transformer</a:t>
            </a:r>
            <a:endParaRPr kumimoji="1" lang="zh-CN" altLang="en-US" dirty="0"/>
          </a:p>
        </p:txBody>
      </p:sp>
      <p:pic>
        <p:nvPicPr>
          <p:cNvPr id="4" name="内容占位符 3">
            <a:extLst>
              <a:ext uri="{FF2B5EF4-FFF2-40B4-BE49-F238E27FC236}">
                <a16:creationId xmlns:a16="http://schemas.microsoft.com/office/drawing/2014/main" id="{2AD69F31-D5E3-5147-ABE0-7C9C4D375863}"/>
              </a:ext>
            </a:extLst>
          </p:cNvPr>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381242" y="443586"/>
            <a:ext cx="4186362" cy="5730770"/>
          </a:xfrm>
          <a:prstGeom prst="rect">
            <a:avLst/>
          </a:prstGeom>
        </p:spPr>
      </p:pic>
      <p:sp>
        <p:nvSpPr>
          <p:cNvPr id="6" name="文本框 5">
            <a:extLst>
              <a:ext uri="{FF2B5EF4-FFF2-40B4-BE49-F238E27FC236}">
                <a16:creationId xmlns:a16="http://schemas.microsoft.com/office/drawing/2014/main" id="{59C69AC9-B9E0-EA77-519F-00C2B398C0ED}"/>
              </a:ext>
            </a:extLst>
          </p:cNvPr>
          <p:cNvSpPr txBox="1"/>
          <p:nvPr/>
        </p:nvSpPr>
        <p:spPr>
          <a:xfrm>
            <a:off x="126124" y="6337179"/>
            <a:ext cx="9159482" cy="523220"/>
          </a:xfrm>
          <a:prstGeom prst="rect">
            <a:avLst/>
          </a:prstGeom>
          <a:noFill/>
        </p:spPr>
        <p:txBody>
          <a:bodyPr wrap="square">
            <a:spAutoFit/>
          </a:bodyPr>
          <a:lstStyle/>
          <a:p>
            <a:r>
              <a:rPr lang="en" altLang="zh-CN" sz="1400" dirty="0">
                <a:solidFill>
                  <a:schemeClr val="bg1"/>
                </a:solidFill>
              </a:rPr>
              <a:t>Vaswani, A.</a:t>
            </a:r>
            <a:r>
              <a:rPr lang="zh-CN" altLang="en-US" sz="1400" dirty="0">
                <a:solidFill>
                  <a:schemeClr val="bg1"/>
                </a:solidFill>
              </a:rPr>
              <a:t> </a:t>
            </a:r>
            <a:r>
              <a:rPr lang="en-US" altLang="zh-CN" sz="1400" dirty="0">
                <a:solidFill>
                  <a:schemeClr val="bg1"/>
                </a:solidFill>
              </a:rPr>
              <a:t>et</a:t>
            </a:r>
            <a:r>
              <a:rPr lang="zh-CN" altLang="en-US" sz="1400" dirty="0">
                <a:solidFill>
                  <a:schemeClr val="bg1"/>
                </a:solidFill>
              </a:rPr>
              <a:t> </a:t>
            </a:r>
            <a:r>
              <a:rPr lang="en-US" altLang="zh-CN" sz="1400" dirty="0">
                <a:solidFill>
                  <a:schemeClr val="bg1"/>
                </a:solidFill>
              </a:rPr>
              <a:t>al.</a:t>
            </a:r>
            <a:r>
              <a:rPr lang="en" altLang="zh-CN" sz="1400" dirty="0">
                <a:solidFill>
                  <a:schemeClr val="bg1"/>
                </a:solidFill>
              </a:rPr>
              <a:t> "Attention is all you need." </a:t>
            </a:r>
            <a:r>
              <a:rPr lang="en" altLang="zh-CN" sz="1400" i="1" dirty="0">
                <a:solidFill>
                  <a:schemeClr val="bg1"/>
                </a:solidFill>
              </a:rPr>
              <a:t>Advances in Neural Information Processing Systems</a:t>
            </a:r>
            <a:r>
              <a:rPr lang="en" altLang="zh-CN" sz="1400" dirty="0">
                <a:solidFill>
                  <a:schemeClr val="bg1"/>
                </a:solidFill>
              </a:rPr>
              <a:t> (2017).</a:t>
            </a:r>
          </a:p>
          <a:p>
            <a:r>
              <a:rPr lang="en" altLang="zh-CN" sz="1400" dirty="0">
                <a:solidFill>
                  <a:schemeClr val="bg1"/>
                </a:solidFill>
              </a:rPr>
              <a:t>https://</a:t>
            </a:r>
            <a:r>
              <a:rPr lang="en" altLang="zh-CN" sz="1400" dirty="0" err="1">
                <a:solidFill>
                  <a:schemeClr val="bg1"/>
                </a:solidFill>
              </a:rPr>
              <a:t>www.wired.com</a:t>
            </a:r>
            <a:r>
              <a:rPr lang="en" altLang="zh-CN" sz="1400" dirty="0">
                <a:solidFill>
                  <a:schemeClr val="bg1"/>
                </a:solidFill>
              </a:rPr>
              <a:t>/story/what-</a:t>
            </a:r>
            <a:r>
              <a:rPr lang="en" altLang="zh-CN" sz="1400" dirty="0" err="1">
                <a:solidFill>
                  <a:schemeClr val="bg1"/>
                </a:solidFill>
              </a:rPr>
              <a:t>openai</a:t>
            </a:r>
            <a:r>
              <a:rPr lang="en" altLang="zh-CN" sz="1400" dirty="0">
                <a:solidFill>
                  <a:schemeClr val="bg1"/>
                </a:solidFill>
              </a:rPr>
              <a:t>-really-wants/</a:t>
            </a:r>
            <a:endParaRPr lang="zh-CN" altLang="en-US" sz="1400" dirty="0">
              <a:solidFill>
                <a:schemeClr val="bg1"/>
              </a:solidFill>
            </a:endParaRPr>
          </a:p>
        </p:txBody>
      </p:sp>
      <p:sp>
        <p:nvSpPr>
          <p:cNvPr id="7" name="文本框 6">
            <a:extLst>
              <a:ext uri="{FF2B5EF4-FFF2-40B4-BE49-F238E27FC236}">
                <a16:creationId xmlns:a16="http://schemas.microsoft.com/office/drawing/2014/main" id="{E94CE8ED-40CB-132D-1B23-36939D9D786D}"/>
              </a:ext>
            </a:extLst>
          </p:cNvPr>
          <p:cNvSpPr txBox="1"/>
          <p:nvPr/>
        </p:nvSpPr>
        <p:spPr>
          <a:xfrm>
            <a:off x="5607386" y="703929"/>
            <a:ext cx="5784427" cy="1693028"/>
          </a:xfrm>
          <a:prstGeom prst="rect">
            <a:avLst/>
          </a:prstGeom>
          <a:noFill/>
        </p:spPr>
        <p:txBody>
          <a:bodyPr wrap="square" rtlCol="0">
            <a:spAutoFit/>
          </a:bodyPr>
          <a:lstStyle/>
          <a:p>
            <a:pPr algn="l">
              <a:lnSpc>
                <a:spcPct val="150000"/>
              </a:lnSpc>
            </a:pPr>
            <a:r>
              <a:rPr kumimoji="1" lang="en-US" altLang="zh-CN" sz="2400" dirty="0">
                <a:solidFill>
                  <a:schemeClr val="tx2"/>
                </a:solidFill>
                <a:latin typeface="Times New Roman" panose="02020603050405020304" pitchFamily="18" charset="0"/>
                <a:ea typeface="微软雅黑" panose="020B0503020204020204" pitchFamily="34" charset="-122"/>
              </a:rPr>
              <a:t>Transformer </a:t>
            </a:r>
            <a:r>
              <a:rPr kumimoji="1" lang="zh-CN" altLang="en-US" sz="2400" dirty="0">
                <a:solidFill>
                  <a:schemeClr val="tx2"/>
                </a:solidFill>
                <a:latin typeface="Times New Roman" panose="02020603050405020304" pitchFamily="18" charset="0"/>
                <a:ea typeface="微软雅黑" panose="020B0503020204020204" pitchFamily="34" charset="-122"/>
              </a:rPr>
              <a:t>模型中有两个主要的部分：</a:t>
            </a:r>
            <a:endParaRPr kumimoji="1" lang="en-US" altLang="zh-CN" sz="2400" dirty="0">
              <a:solidFill>
                <a:schemeClr val="tx2"/>
              </a:solidFill>
              <a:latin typeface="Times New Roman" panose="02020603050405020304" pitchFamily="18" charset="0"/>
              <a:ea typeface="微软雅黑" panose="020B0503020204020204" pitchFamily="34" charset="-122"/>
            </a:endParaRPr>
          </a:p>
          <a:p>
            <a:pPr marL="342900" indent="-342900" algn="l">
              <a:lnSpc>
                <a:spcPct val="150000"/>
              </a:lnSpc>
              <a:buFont typeface="Arial" panose="020B0604020202020204" pitchFamily="34" charset="0"/>
              <a:buChar char="•"/>
            </a:pPr>
            <a:r>
              <a:rPr kumimoji="1" lang="zh-CN" altLang="en-US" sz="2400" dirty="0">
                <a:solidFill>
                  <a:schemeClr val="tx2"/>
                </a:solidFill>
                <a:latin typeface="Times New Roman" panose="02020603050405020304" pitchFamily="18" charset="0"/>
                <a:ea typeface="微软雅黑" panose="020B0503020204020204" pitchFamily="34" charset="-122"/>
              </a:rPr>
              <a:t>编码器</a:t>
            </a:r>
            <a:r>
              <a:rPr kumimoji="1" lang="en-US" altLang="zh-CN" sz="2400" dirty="0">
                <a:solidFill>
                  <a:schemeClr val="tx2"/>
                </a:solidFill>
                <a:latin typeface="Times New Roman" panose="02020603050405020304" pitchFamily="18" charset="0"/>
                <a:ea typeface="微软雅黑" panose="020B0503020204020204" pitchFamily="34" charset="-122"/>
              </a:rPr>
              <a:t> (Encoder)</a:t>
            </a:r>
            <a:r>
              <a:rPr kumimoji="1" lang="zh-CN" altLang="en-US" sz="2400" dirty="0">
                <a:solidFill>
                  <a:schemeClr val="tx2"/>
                </a:solidFill>
                <a:latin typeface="Times New Roman" panose="02020603050405020304" pitchFamily="18" charset="0"/>
                <a:ea typeface="微软雅黑" panose="020B0503020204020204" pitchFamily="34" charset="-122"/>
              </a:rPr>
              <a:t> </a:t>
            </a:r>
            <a:endParaRPr kumimoji="1" lang="en-US" altLang="zh-CN" sz="2400" dirty="0">
              <a:solidFill>
                <a:schemeClr val="tx2"/>
              </a:solidFill>
              <a:latin typeface="Times New Roman" panose="02020603050405020304" pitchFamily="18" charset="0"/>
              <a:ea typeface="微软雅黑" panose="020B0503020204020204" pitchFamily="34" charset="-122"/>
            </a:endParaRPr>
          </a:p>
          <a:p>
            <a:pPr marL="342900" indent="-342900" algn="l">
              <a:lnSpc>
                <a:spcPct val="150000"/>
              </a:lnSpc>
              <a:buFont typeface="Arial" panose="020B0604020202020204" pitchFamily="34" charset="0"/>
              <a:buChar char="•"/>
            </a:pPr>
            <a:r>
              <a:rPr kumimoji="1" lang="zh-CN" altLang="en-US" sz="2400" dirty="0">
                <a:solidFill>
                  <a:schemeClr val="tx2"/>
                </a:solidFill>
                <a:latin typeface="Times New Roman" panose="02020603050405020304" pitchFamily="18" charset="0"/>
                <a:ea typeface="微软雅黑" panose="020B0503020204020204" pitchFamily="34" charset="-122"/>
              </a:rPr>
              <a:t>解码器 </a:t>
            </a:r>
            <a:r>
              <a:rPr kumimoji="1" lang="en-US" altLang="zh-CN" sz="2400" dirty="0">
                <a:solidFill>
                  <a:schemeClr val="tx2"/>
                </a:solidFill>
                <a:latin typeface="Times New Roman" panose="02020603050405020304" pitchFamily="18" charset="0"/>
                <a:ea typeface="微软雅黑" panose="020B0503020204020204" pitchFamily="34" charset="-122"/>
              </a:rPr>
              <a:t>(Decoder)</a:t>
            </a:r>
            <a:endParaRPr kumimoji="1" lang="zh-CN" altLang="en-US" sz="2400" dirty="0">
              <a:solidFill>
                <a:schemeClr val="tx2"/>
              </a:solidFill>
              <a:latin typeface="Times New Roman" panose="02020603050405020304" pitchFamily="18" charset="0"/>
              <a:ea typeface="微软雅黑" panose="020B0503020204020204" pitchFamily="34" charset="-122"/>
            </a:endParaRPr>
          </a:p>
        </p:txBody>
      </p:sp>
      <p:sp>
        <p:nvSpPr>
          <p:cNvPr id="3" name="文本框 2">
            <a:extLst>
              <a:ext uri="{FF2B5EF4-FFF2-40B4-BE49-F238E27FC236}">
                <a16:creationId xmlns:a16="http://schemas.microsoft.com/office/drawing/2014/main" id="{2DC01CAC-9865-9234-207D-17348A202D3B}"/>
              </a:ext>
            </a:extLst>
          </p:cNvPr>
          <p:cNvSpPr txBox="1"/>
          <p:nvPr/>
        </p:nvSpPr>
        <p:spPr>
          <a:xfrm>
            <a:off x="5607386" y="2559780"/>
            <a:ext cx="5976884" cy="2251129"/>
          </a:xfrm>
          <a:prstGeom prst="rect">
            <a:avLst/>
          </a:prstGeom>
          <a:noFill/>
        </p:spPr>
        <p:txBody>
          <a:bodyPr wrap="square" rtlCol="0">
            <a:spAutoFit/>
          </a:bodyPr>
          <a:lstStyle/>
          <a:p>
            <a:pPr marL="342900" indent="-342900" algn="l">
              <a:lnSpc>
                <a:spcPct val="150000"/>
              </a:lnSpc>
              <a:buFont typeface="Wingdings" pitchFamily="2" charset="2"/>
              <a:buChar char="p"/>
            </a:pPr>
            <a:r>
              <a:rPr lang="en-US" altLang="zh-CN" sz="2400" dirty="0">
                <a:solidFill>
                  <a:schemeClr val="tx2"/>
                </a:solidFill>
              </a:rPr>
              <a:t>(OpenAI) </a:t>
            </a:r>
            <a:r>
              <a:rPr lang="en" altLang="zh-CN" sz="2400" dirty="0">
                <a:solidFill>
                  <a:schemeClr val="tx2"/>
                </a:solidFill>
              </a:rPr>
              <a:t>Radford began experimenting with the transformer architecture. “I made more progress in two weeks than I did over the past two years,” he says.</a:t>
            </a:r>
            <a:endParaRPr kumimoji="1" lang="zh-CN" altLang="en-US" sz="2400" dirty="0">
              <a:solidFill>
                <a:schemeClr val="tx2"/>
              </a:solidFill>
              <a:latin typeface="Times New Roman" panose="02020603050405020304" pitchFamily="18" charset="0"/>
              <a:ea typeface="微软雅黑" panose="020B0503020204020204" pitchFamily="34" charset="-122"/>
            </a:endParaRPr>
          </a:p>
        </p:txBody>
      </p:sp>
      <p:sp>
        <p:nvSpPr>
          <p:cNvPr id="5" name="文本框 4">
            <a:extLst>
              <a:ext uri="{FF2B5EF4-FFF2-40B4-BE49-F238E27FC236}">
                <a16:creationId xmlns:a16="http://schemas.microsoft.com/office/drawing/2014/main" id="{051C70EF-57C7-BD87-1041-92132745EAEE}"/>
              </a:ext>
            </a:extLst>
          </p:cNvPr>
          <p:cNvSpPr txBox="1"/>
          <p:nvPr/>
        </p:nvSpPr>
        <p:spPr>
          <a:xfrm>
            <a:off x="5493878" y="4912075"/>
            <a:ext cx="6011442" cy="646331"/>
          </a:xfrm>
          <a:prstGeom prst="rect">
            <a:avLst/>
          </a:prstGeom>
          <a:noFill/>
        </p:spPr>
        <p:txBody>
          <a:bodyPr wrap="square" rtlCol="0">
            <a:spAutoFit/>
          </a:bodyPr>
          <a:lstStyle/>
          <a:p>
            <a:pPr algn="l"/>
            <a:r>
              <a:rPr lang="en-US" altLang="zh-CN" dirty="0"/>
              <a:t>2023</a:t>
            </a:r>
            <a:r>
              <a:rPr lang="zh-CN" altLang="en-US" dirty="0"/>
              <a:t>年提出结合</a:t>
            </a:r>
            <a:r>
              <a:rPr lang="en-US" altLang="zh-CN" dirty="0"/>
              <a:t>Attention </a:t>
            </a:r>
            <a:r>
              <a:rPr lang="zh-CN" altLang="en-US" dirty="0"/>
              <a:t>和 </a:t>
            </a:r>
            <a:r>
              <a:rPr lang="en-US" altLang="zh-CN" dirty="0"/>
              <a:t>RNN</a:t>
            </a:r>
            <a:r>
              <a:rPr lang="zh-CN" altLang="en-US" dirty="0"/>
              <a:t>的新架构</a:t>
            </a:r>
            <a:r>
              <a:rPr lang="en-US" altLang="zh-CN" dirty="0"/>
              <a:t>Mamba</a:t>
            </a:r>
          </a:p>
          <a:p>
            <a:r>
              <a:rPr lang="en-US" altLang="zh-CN" dirty="0"/>
              <a:t>https://arxiv.org/abs/2312.00752</a:t>
            </a:r>
            <a:endParaRPr lang="zh-CN" altLang="en-US" dirty="0"/>
          </a:p>
        </p:txBody>
      </p:sp>
      <p:sp>
        <p:nvSpPr>
          <p:cNvPr id="9" name="文本框 8">
            <a:extLst>
              <a:ext uri="{FF2B5EF4-FFF2-40B4-BE49-F238E27FC236}">
                <a16:creationId xmlns:a16="http://schemas.microsoft.com/office/drawing/2014/main" id="{05E3A034-EC2C-A701-79F3-BB609A85E71B}"/>
              </a:ext>
            </a:extLst>
          </p:cNvPr>
          <p:cNvSpPr txBox="1"/>
          <p:nvPr/>
        </p:nvSpPr>
        <p:spPr>
          <a:xfrm>
            <a:off x="5547828" y="5659572"/>
            <a:ext cx="6096000" cy="369332"/>
          </a:xfrm>
          <a:prstGeom prst="rect">
            <a:avLst/>
          </a:prstGeom>
          <a:noFill/>
        </p:spPr>
        <p:txBody>
          <a:bodyPr wrap="square">
            <a:spAutoFit/>
          </a:bodyPr>
          <a:lstStyle/>
          <a:p>
            <a:r>
              <a:rPr kumimoji="1" lang="zh-CN" altLang="en-US" sz="1800" dirty="0">
                <a:solidFill>
                  <a:schemeClr val="tx2"/>
                </a:solidFill>
                <a:latin typeface="Times New Roman" panose="02020603050405020304" pitchFamily="18" charset="0"/>
                <a:ea typeface="微软雅黑" panose="020B0503020204020204" pitchFamily="34" charset="-122"/>
              </a:rPr>
              <a:t>在</a:t>
            </a:r>
            <a:r>
              <a:rPr kumimoji="1" lang="en-US" altLang="zh-CN" sz="1800" dirty="0">
                <a:solidFill>
                  <a:schemeClr val="tx2"/>
                </a:solidFill>
                <a:latin typeface="Times New Roman" panose="02020603050405020304" pitchFamily="18" charset="0"/>
                <a:ea typeface="微软雅黑" panose="020B0503020204020204" pitchFamily="34" charset="-122"/>
              </a:rPr>
              <a:t>2017</a:t>
            </a:r>
            <a:r>
              <a:rPr kumimoji="1" lang="zh-CN" altLang="en-US" sz="1800" dirty="0">
                <a:solidFill>
                  <a:schemeClr val="tx2"/>
                </a:solidFill>
                <a:latin typeface="Times New Roman" panose="02020603050405020304" pitchFamily="18" charset="0"/>
                <a:ea typeface="微软雅黑" panose="020B0503020204020204" pitchFamily="34" charset="-122"/>
              </a:rPr>
              <a:t>年之前这些</a:t>
            </a:r>
            <a:r>
              <a:rPr kumimoji="1" lang="en-US" altLang="zh-CN" sz="1800" dirty="0">
                <a:solidFill>
                  <a:schemeClr val="tx2"/>
                </a:solidFill>
                <a:latin typeface="Times New Roman" panose="02020603050405020304" pitchFamily="18" charset="0"/>
                <a:ea typeface="微软雅黑" panose="020B0503020204020204" pitchFamily="34" charset="-122"/>
              </a:rPr>
              <a:t>encoder </a:t>
            </a:r>
            <a:r>
              <a:rPr kumimoji="1" lang="zh-CN" altLang="en-US" sz="1800" dirty="0">
                <a:solidFill>
                  <a:schemeClr val="tx2"/>
                </a:solidFill>
                <a:latin typeface="Times New Roman" panose="02020603050405020304" pitchFamily="18" charset="0"/>
                <a:ea typeface="微软雅黑" panose="020B0503020204020204" pitchFamily="34" charset="-122"/>
              </a:rPr>
              <a:t>和</a:t>
            </a:r>
            <a:r>
              <a:rPr kumimoji="1" lang="en-US" altLang="zh-CN" sz="1800" dirty="0">
                <a:solidFill>
                  <a:schemeClr val="tx2"/>
                </a:solidFill>
                <a:latin typeface="Times New Roman" panose="02020603050405020304" pitchFamily="18" charset="0"/>
                <a:ea typeface="微软雅黑" panose="020B0503020204020204" pitchFamily="34" charset="-122"/>
              </a:rPr>
              <a:t> decoder </a:t>
            </a:r>
            <a:r>
              <a:rPr kumimoji="1" lang="zh-CN" altLang="en-US" sz="1800" dirty="0">
                <a:solidFill>
                  <a:schemeClr val="tx2"/>
                </a:solidFill>
                <a:latin typeface="Times New Roman" panose="02020603050405020304" pitchFamily="18" charset="0"/>
                <a:ea typeface="微软雅黑" panose="020B0503020204020204" pitchFamily="34" charset="-122"/>
              </a:rPr>
              <a:t>一般为</a:t>
            </a:r>
            <a:r>
              <a:rPr kumimoji="1" lang="en-US" altLang="zh-CN" sz="1800" b="1" dirty="0">
                <a:latin typeface="Times New Roman" panose="02020603050405020304" pitchFamily="18" charset="0"/>
                <a:ea typeface="微软雅黑" panose="020B0503020204020204" pitchFamily="34" charset="-122"/>
              </a:rPr>
              <a:t>LSTM</a:t>
            </a:r>
            <a:r>
              <a:rPr kumimoji="1" lang="zh-CN" altLang="en-US" sz="1800" dirty="0">
                <a:solidFill>
                  <a:schemeClr val="tx2"/>
                </a:solidFill>
                <a:latin typeface="Times New Roman" panose="02020603050405020304" pitchFamily="18" charset="0"/>
                <a:ea typeface="微软雅黑" panose="020B0503020204020204" pitchFamily="34" charset="-122"/>
              </a:rPr>
              <a:t>模型。</a:t>
            </a:r>
            <a:endParaRPr lang="zh-CN" altLang="en-US" dirty="0"/>
          </a:p>
        </p:txBody>
      </p:sp>
    </p:spTree>
    <p:extLst>
      <p:ext uri="{BB962C8B-B14F-4D97-AF65-F5344CB8AC3E}">
        <p14:creationId xmlns:p14="http://schemas.microsoft.com/office/powerpoint/2010/main" val="3873284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DD753F-F973-172E-F1D7-CD5ACF651E5E}"/>
              </a:ext>
            </a:extLst>
          </p:cNvPr>
          <p:cNvSpPr>
            <a:spLocks noGrp="1"/>
          </p:cNvSpPr>
          <p:nvPr>
            <p:ph type="title"/>
          </p:nvPr>
        </p:nvSpPr>
        <p:spPr/>
        <p:txBody>
          <a:bodyPr/>
          <a:lstStyle/>
          <a:p>
            <a:r>
              <a:rPr kumimoji="1" lang="en-US" altLang="zh-CN" dirty="0"/>
              <a:t>Encoder-Decoder</a:t>
            </a:r>
            <a:endParaRPr kumimoji="1" lang="zh-CN" altLang="en-US" dirty="0"/>
          </a:p>
        </p:txBody>
      </p:sp>
      <p:sp>
        <p:nvSpPr>
          <p:cNvPr id="3" name="内容占位符 2">
            <a:extLst>
              <a:ext uri="{FF2B5EF4-FFF2-40B4-BE49-F238E27FC236}">
                <a16:creationId xmlns:a16="http://schemas.microsoft.com/office/drawing/2014/main" id="{B7F02665-018F-88D6-38FF-0C34E73C9FEB}"/>
              </a:ext>
            </a:extLst>
          </p:cNvPr>
          <p:cNvSpPr>
            <a:spLocks noGrp="1"/>
          </p:cNvSpPr>
          <p:nvPr>
            <p:ph idx="1"/>
          </p:nvPr>
        </p:nvSpPr>
        <p:spPr>
          <a:xfrm>
            <a:off x="381242" y="981154"/>
            <a:ext cx="4453225" cy="5333856"/>
          </a:xfrm>
        </p:spPr>
        <p:txBody>
          <a:bodyPr/>
          <a:lstStyle/>
          <a:p>
            <a:pPr marL="342900" indent="-342900">
              <a:buFont typeface="Wingdings" pitchFamily="2" charset="2"/>
              <a:buChar char="p"/>
            </a:pPr>
            <a:r>
              <a:rPr kumimoji="1" lang="en-US" altLang="zh-CN" b="0" dirty="0">
                <a:latin typeface="Times New Roman" panose="02020603050405020304" pitchFamily="18" charset="0"/>
              </a:rPr>
              <a:t>BART</a:t>
            </a:r>
            <a:r>
              <a:rPr kumimoji="1" lang="zh-CN" altLang="en-US" b="0" dirty="0">
                <a:latin typeface="Times New Roman" panose="02020603050405020304" pitchFamily="18" charset="0"/>
              </a:rPr>
              <a:t>模型</a:t>
            </a:r>
            <a:r>
              <a:rPr kumimoji="1" lang="en-US" altLang="zh-CN" b="0" dirty="0">
                <a:latin typeface="Times New Roman" panose="02020603050405020304" pitchFamily="18" charset="0"/>
              </a:rPr>
              <a:t> (2019)</a:t>
            </a:r>
            <a:r>
              <a:rPr kumimoji="1" lang="zh-CN" altLang="en-US" b="0" dirty="0">
                <a:latin typeface="Times New Roman" panose="02020603050405020304" pitchFamily="18" charset="0"/>
              </a:rPr>
              <a:t>、</a:t>
            </a:r>
            <a:r>
              <a:rPr kumimoji="1" lang="en-US" altLang="zh-CN" b="0" dirty="0">
                <a:latin typeface="Times New Roman" panose="02020603050405020304" pitchFamily="18" charset="0"/>
              </a:rPr>
              <a:t>T5</a:t>
            </a:r>
            <a:r>
              <a:rPr kumimoji="1" lang="zh-CN" altLang="en-US" b="0" dirty="0">
                <a:latin typeface="Times New Roman" panose="02020603050405020304" pitchFamily="18" charset="0"/>
              </a:rPr>
              <a:t>模型</a:t>
            </a:r>
            <a:r>
              <a:rPr kumimoji="1" lang="en-US" altLang="zh-CN" b="0" dirty="0">
                <a:latin typeface="Times New Roman" panose="02020603050405020304" pitchFamily="18" charset="0"/>
              </a:rPr>
              <a:t> (2019) </a:t>
            </a:r>
            <a:r>
              <a:rPr kumimoji="1" lang="zh-CN" altLang="en-US" b="0" dirty="0">
                <a:latin typeface="Times New Roman" panose="02020603050405020304" pitchFamily="18" charset="0"/>
              </a:rPr>
              <a:t>采用</a:t>
            </a:r>
            <a:r>
              <a:rPr kumimoji="1" lang="en-US" altLang="zh-CN" b="0" dirty="0">
                <a:latin typeface="Times New Roman" panose="02020603050405020304" pitchFamily="18" charset="0"/>
              </a:rPr>
              <a:t>Encoder-Decoder</a:t>
            </a:r>
            <a:r>
              <a:rPr kumimoji="1" lang="zh-CN" altLang="en-US" b="0" dirty="0">
                <a:latin typeface="Times New Roman" panose="02020603050405020304" pitchFamily="18" charset="0"/>
              </a:rPr>
              <a:t>的模型架构</a:t>
            </a:r>
            <a:endParaRPr kumimoji="1" lang="en-US" altLang="zh-CN" b="0" dirty="0">
              <a:latin typeface="Times New Roman" panose="02020603050405020304" pitchFamily="18" charset="0"/>
            </a:endParaRPr>
          </a:p>
          <a:p>
            <a:pPr marL="342900" indent="-342900">
              <a:buFont typeface="Wingdings" pitchFamily="2" charset="2"/>
              <a:buChar char="p"/>
            </a:pPr>
            <a:endParaRPr kumimoji="1" lang="zh-CN" altLang="en-US" b="0" dirty="0">
              <a:latin typeface="Times New Roman" panose="02020603050405020304" pitchFamily="18" charset="0"/>
              <a:ea typeface="+mn-ea"/>
            </a:endParaRPr>
          </a:p>
        </p:txBody>
      </p:sp>
      <p:sp>
        <p:nvSpPr>
          <p:cNvPr id="10" name="文本框 9">
            <a:extLst>
              <a:ext uri="{FF2B5EF4-FFF2-40B4-BE49-F238E27FC236}">
                <a16:creationId xmlns:a16="http://schemas.microsoft.com/office/drawing/2014/main" id="{E2C4B9C6-2E64-5ECD-418B-381DFDA370E0}"/>
              </a:ext>
            </a:extLst>
          </p:cNvPr>
          <p:cNvSpPr txBox="1"/>
          <p:nvPr/>
        </p:nvSpPr>
        <p:spPr>
          <a:xfrm>
            <a:off x="126124" y="6337179"/>
            <a:ext cx="9159482" cy="523220"/>
          </a:xfrm>
          <a:prstGeom prst="rect">
            <a:avLst/>
          </a:prstGeom>
          <a:noFill/>
        </p:spPr>
        <p:txBody>
          <a:bodyPr wrap="square">
            <a:spAutoFit/>
          </a:bodyPr>
          <a:lstStyle/>
          <a:p>
            <a:r>
              <a:rPr lang="en-US" altLang="zh-CN" sz="1400" dirty="0">
                <a:solidFill>
                  <a:schemeClr val="bg1"/>
                </a:solidFill>
              </a:rPr>
              <a:t>Raffel  et al., Exploring the Limits of Transfer Learning with a Unified Text-to-Text Transformer,</a:t>
            </a:r>
            <a:r>
              <a:rPr lang="zh-CN" altLang="en-US" sz="1400" dirty="0">
                <a:solidFill>
                  <a:schemeClr val="bg1"/>
                </a:solidFill>
              </a:rPr>
              <a:t> </a:t>
            </a:r>
            <a:r>
              <a:rPr lang="en-US" altLang="zh-CN" sz="1400" dirty="0">
                <a:solidFill>
                  <a:schemeClr val="bg1"/>
                </a:solidFill>
              </a:rPr>
              <a:t>JMLR</a:t>
            </a:r>
            <a:r>
              <a:rPr lang="zh-CN" altLang="en-US" sz="1400" dirty="0">
                <a:solidFill>
                  <a:schemeClr val="bg1"/>
                </a:solidFill>
              </a:rPr>
              <a:t> </a:t>
            </a:r>
            <a:r>
              <a:rPr lang="en-US" altLang="zh-CN" sz="1400" dirty="0">
                <a:solidFill>
                  <a:schemeClr val="bg1"/>
                </a:solidFill>
              </a:rPr>
              <a:t>2020</a:t>
            </a:r>
          </a:p>
          <a:p>
            <a:r>
              <a:rPr lang="en" altLang="zh-CN" sz="1400" dirty="0">
                <a:solidFill>
                  <a:schemeClr val="bg1"/>
                </a:solidFill>
              </a:rPr>
              <a:t>Vaswani, A.</a:t>
            </a:r>
            <a:r>
              <a:rPr lang="zh-CN" altLang="en-US" sz="1400" dirty="0">
                <a:solidFill>
                  <a:schemeClr val="bg1"/>
                </a:solidFill>
              </a:rPr>
              <a:t> </a:t>
            </a:r>
            <a:r>
              <a:rPr lang="en-US" altLang="zh-CN" sz="1400" dirty="0">
                <a:solidFill>
                  <a:schemeClr val="bg1"/>
                </a:solidFill>
              </a:rPr>
              <a:t>et</a:t>
            </a:r>
            <a:r>
              <a:rPr lang="zh-CN" altLang="en-US" sz="1400" dirty="0">
                <a:solidFill>
                  <a:schemeClr val="bg1"/>
                </a:solidFill>
              </a:rPr>
              <a:t> </a:t>
            </a:r>
            <a:r>
              <a:rPr lang="en-US" altLang="zh-CN" sz="1400" dirty="0">
                <a:solidFill>
                  <a:schemeClr val="bg1"/>
                </a:solidFill>
              </a:rPr>
              <a:t>al.</a:t>
            </a:r>
            <a:r>
              <a:rPr lang="en" altLang="zh-CN" sz="1400" dirty="0">
                <a:solidFill>
                  <a:schemeClr val="bg1"/>
                </a:solidFill>
              </a:rPr>
              <a:t> "Attention is all you need." </a:t>
            </a:r>
            <a:r>
              <a:rPr lang="en" altLang="zh-CN" sz="1400" i="1" dirty="0">
                <a:solidFill>
                  <a:schemeClr val="bg1"/>
                </a:solidFill>
              </a:rPr>
              <a:t>Advances in Neural Information Processing Systems</a:t>
            </a:r>
            <a:r>
              <a:rPr lang="en" altLang="zh-CN" sz="1400" dirty="0">
                <a:solidFill>
                  <a:schemeClr val="bg1"/>
                </a:solidFill>
              </a:rPr>
              <a:t> (2017).</a:t>
            </a:r>
          </a:p>
        </p:txBody>
      </p:sp>
      <p:pic>
        <p:nvPicPr>
          <p:cNvPr id="12" name="图片 11">
            <a:extLst>
              <a:ext uri="{FF2B5EF4-FFF2-40B4-BE49-F238E27FC236}">
                <a16:creationId xmlns:a16="http://schemas.microsoft.com/office/drawing/2014/main" id="{C904D106-145E-D9DA-21A1-623C9126C9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90735" y="677312"/>
            <a:ext cx="3763789" cy="5157379"/>
          </a:xfrm>
          <a:prstGeom prst="rect">
            <a:avLst/>
          </a:prstGeom>
        </p:spPr>
      </p:pic>
    </p:spTree>
    <p:extLst>
      <p:ext uri="{BB962C8B-B14F-4D97-AF65-F5344CB8AC3E}">
        <p14:creationId xmlns:p14="http://schemas.microsoft.com/office/powerpoint/2010/main" val="916909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857715-B57E-3B86-3F23-BA6651A9CAB8}"/>
              </a:ext>
            </a:extLst>
          </p:cNvPr>
          <p:cNvSpPr>
            <a:spLocks noGrp="1"/>
          </p:cNvSpPr>
          <p:nvPr>
            <p:ph type="title"/>
          </p:nvPr>
        </p:nvSpPr>
        <p:spPr/>
        <p:txBody>
          <a:bodyPr/>
          <a:lstStyle/>
          <a:p>
            <a:r>
              <a:rPr kumimoji="1" lang="en-US" altLang="zh-CN" dirty="0"/>
              <a:t>Encoder-Only</a:t>
            </a:r>
            <a:r>
              <a:rPr kumimoji="1" lang="zh-CN" altLang="en-US" dirty="0"/>
              <a:t> </a:t>
            </a:r>
          </a:p>
        </p:txBody>
      </p:sp>
      <p:sp>
        <p:nvSpPr>
          <p:cNvPr id="3" name="内容占位符 2">
            <a:extLst>
              <a:ext uri="{FF2B5EF4-FFF2-40B4-BE49-F238E27FC236}">
                <a16:creationId xmlns:a16="http://schemas.microsoft.com/office/drawing/2014/main" id="{9A31FD1E-F8B6-C997-81AD-3418A0B5707F}"/>
              </a:ext>
            </a:extLst>
          </p:cNvPr>
          <p:cNvSpPr>
            <a:spLocks noGrp="1"/>
          </p:cNvSpPr>
          <p:nvPr>
            <p:ph idx="1"/>
          </p:nvPr>
        </p:nvSpPr>
        <p:spPr>
          <a:xfrm>
            <a:off x="381241" y="981154"/>
            <a:ext cx="5974954" cy="5333856"/>
          </a:xfrm>
        </p:spPr>
        <p:txBody>
          <a:bodyPr/>
          <a:lstStyle/>
          <a:p>
            <a:pPr marL="342900" indent="-342900">
              <a:lnSpc>
                <a:spcPct val="150000"/>
              </a:lnSpc>
              <a:buFont typeface="Wingdings" pitchFamily="2" charset="2"/>
              <a:buChar char="p"/>
            </a:pPr>
            <a:r>
              <a:rPr kumimoji="1" lang="en-US" altLang="zh-CN" b="0" dirty="0">
                <a:latin typeface="Times New Roman" panose="02020603050405020304" pitchFamily="18" charset="0"/>
              </a:rPr>
              <a:t>BERT</a:t>
            </a:r>
            <a:r>
              <a:rPr kumimoji="1" lang="zh-CN" altLang="en-US" b="0" dirty="0">
                <a:latin typeface="Times New Roman" panose="02020603050405020304" pitchFamily="18" charset="0"/>
              </a:rPr>
              <a:t> 模型</a:t>
            </a:r>
            <a:r>
              <a:rPr kumimoji="1" lang="en-US" altLang="zh-CN" b="0" dirty="0">
                <a:latin typeface="Times New Roman" panose="02020603050405020304" pitchFamily="18" charset="0"/>
              </a:rPr>
              <a:t> (2018) </a:t>
            </a:r>
            <a:r>
              <a:rPr kumimoji="1" lang="zh-CN" altLang="en-US" b="0" dirty="0">
                <a:latin typeface="Times New Roman" panose="02020603050405020304" pitchFamily="18" charset="0"/>
              </a:rPr>
              <a:t>完全采用 </a:t>
            </a:r>
            <a:r>
              <a:rPr kumimoji="1" lang="en-US" altLang="zh-CN" b="0" dirty="0">
                <a:latin typeface="Times New Roman" panose="02020603050405020304" pitchFamily="18" charset="0"/>
              </a:rPr>
              <a:t>Transformer</a:t>
            </a:r>
            <a:r>
              <a:rPr kumimoji="1" lang="zh-CN" altLang="en-US" b="0" dirty="0">
                <a:latin typeface="Times New Roman" panose="02020603050405020304" pitchFamily="18" charset="0"/>
              </a:rPr>
              <a:t> 中的 </a:t>
            </a:r>
            <a:r>
              <a:rPr kumimoji="1" lang="en-US" altLang="zh-CN" b="0" dirty="0">
                <a:latin typeface="Times New Roman" panose="02020603050405020304" pitchFamily="18" charset="0"/>
              </a:rPr>
              <a:t>Encoder</a:t>
            </a:r>
            <a:r>
              <a:rPr kumimoji="1" lang="zh-CN" altLang="en-US" b="0" dirty="0">
                <a:latin typeface="Times New Roman" panose="02020603050405020304" pitchFamily="18" charset="0"/>
              </a:rPr>
              <a:t> 层，但在训练过程中会随机</a:t>
            </a:r>
            <a:r>
              <a:rPr kumimoji="1" lang="en-US" altLang="zh-CN" b="0" dirty="0">
                <a:latin typeface="Times New Roman" panose="02020603050405020304" pitchFamily="18" charset="0"/>
              </a:rPr>
              <a:t>mask</a:t>
            </a:r>
            <a:r>
              <a:rPr kumimoji="1" lang="zh-CN" altLang="en-US" b="0" dirty="0">
                <a:latin typeface="Times New Roman" panose="02020603050405020304" pitchFamily="18" charset="0"/>
              </a:rPr>
              <a:t> 句子中一些词让模型预测。</a:t>
            </a:r>
            <a:endParaRPr kumimoji="1" lang="en-US" altLang="zh-CN" b="0" dirty="0">
              <a:latin typeface="Times New Roman" panose="02020603050405020304" pitchFamily="18" charset="0"/>
            </a:endParaRPr>
          </a:p>
          <a:p>
            <a:pPr marL="342900" indent="-342900">
              <a:lnSpc>
                <a:spcPct val="150000"/>
              </a:lnSpc>
              <a:buFont typeface="Wingdings" pitchFamily="2" charset="2"/>
              <a:buChar char="p"/>
            </a:pPr>
            <a:r>
              <a:rPr kumimoji="1" lang="zh-CN" altLang="en-US" b="0" dirty="0">
                <a:latin typeface="Times New Roman" panose="02020603050405020304" pitchFamily="18" charset="0"/>
              </a:rPr>
              <a:t>预训练的模型用来做为下游任务微调的模型</a:t>
            </a:r>
          </a:p>
        </p:txBody>
      </p:sp>
      <p:pic>
        <p:nvPicPr>
          <p:cNvPr id="1026" name="Picture 2" descr="undefined">
            <a:extLst>
              <a:ext uri="{FF2B5EF4-FFF2-40B4-BE49-F238E27FC236}">
                <a16:creationId xmlns:a16="http://schemas.microsoft.com/office/drawing/2014/main" id="{06B95553-62AE-68B4-82FD-580A67523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7839" y="1735317"/>
            <a:ext cx="9335589" cy="463497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042F2163-08EB-D563-7F52-0B2EBA0E6DA3}"/>
              </a:ext>
            </a:extLst>
          </p:cNvPr>
          <p:cNvSpPr txBox="1"/>
          <p:nvPr/>
        </p:nvSpPr>
        <p:spPr>
          <a:xfrm>
            <a:off x="82282" y="6425571"/>
            <a:ext cx="7145832" cy="307777"/>
          </a:xfrm>
          <a:prstGeom prst="rect">
            <a:avLst/>
          </a:prstGeom>
          <a:noFill/>
        </p:spPr>
        <p:txBody>
          <a:bodyPr wrap="square">
            <a:spAutoFit/>
          </a:bodyPr>
          <a:lstStyle/>
          <a:p>
            <a:r>
              <a:rPr lang="zh-CN" altLang="en-US" sz="1400" dirty="0">
                <a:solidFill>
                  <a:schemeClr val="bg1"/>
                </a:solidFill>
              </a:rPr>
              <a:t>https://en.wikipedia.org/wiki/BERT_(language_model)#/</a:t>
            </a:r>
          </a:p>
        </p:txBody>
      </p:sp>
    </p:spTree>
    <p:extLst>
      <p:ext uri="{BB962C8B-B14F-4D97-AF65-F5344CB8AC3E}">
        <p14:creationId xmlns:p14="http://schemas.microsoft.com/office/powerpoint/2010/main" val="55031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6C7832-6F10-5B9D-EDD6-EF280E031660}"/>
              </a:ext>
            </a:extLst>
          </p:cNvPr>
          <p:cNvSpPr>
            <a:spLocks noGrp="1"/>
          </p:cNvSpPr>
          <p:nvPr>
            <p:ph type="title"/>
          </p:nvPr>
        </p:nvSpPr>
        <p:spPr/>
        <p:txBody>
          <a:bodyPr/>
          <a:lstStyle/>
          <a:p>
            <a:r>
              <a:rPr kumimoji="1" lang="en-US" altLang="zh-CN" dirty="0"/>
              <a:t>Decoder-Only</a:t>
            </a:r>
            <a:endParaRPr kumimoji="1" lang="zh-CN" altLang="en-US" dirty="0"/>
          </a:p>
        </p:txBody>
      </p:sp>
      <p:sp>
        <p:nvSpPr>
          <p:cNvPr id="29" name="文本框 28">
            <a:extLst>
              <a:ext uri="{FF2B5EF4-FFF2-40B4-BE49-F238E27FC236}">
                <a16:creationId xmlns:a16="http://schemas.microsoft.com/office/drawing/2014/main" id="{44493A12-E62E-6E43-C259-5A0155824194}"/>
              </a:ext>
            </a:extLst>
          </p:cNvPr>
          <p:cNvSpPr txBox="1"/>
          <p:nvPr/>
        </p:nvSpPr>
        <p:spPr>
          <a:xfrm>
            <a:off x="381242" y="1199377"/>
            <a:ext cx="6166625" cy="1687963"/>
          </a:xfrm>
          <a:prstGeom prst="rect">
            <a:avLst/>
          </a:prstGeom>
          <a:noFill/>
        </p:spPr>
        <p:txBody>
          <a:bodyPr wrap="square" rtlCol="0">
            <a:spAutoFit/>
          </a:bodyPr>
          <a:lstStyle/>
          <a:p>
            <a:pPr marL="342900" indent="-342900" algn="l">
              <a:lnSpc>
                <a:spcPct val="150000"/>
              </a:lnSpc>
              <a:buFont typeface="Wingdings" pitchFamily="2" charset="2"/>
              <a:buChar char="p"/>
            </a:pPr>
            <a:r>
              <a:rPr kumimoji="1" lang="en-US" altLang="zh-CN" sz="2400" dirty="0">
                <a:solidFill>
                  <a:schemeClr val="tx2"/>
                </a:solidFill>
                <a:latin typeface="Times New Roman" panose="02020603050405020304" pitchFamily="18" charset="0"/>
                <a:ea typeface="微软雅黑" panose="020B0503020204020204" pitchFamily="34" charset="-122"/>
              </a:rPr>
              <a:t>GPT</a:t>
            </a:r>
            <a:r>
              <a:rPr kumimoji="1" lang="zh-CN" altLang="en-US" sz="2400">
                <a:solidFill>
                  <a:schemeClr val="tx2"/>
                </a:solidFill>
                <a:latin typeface="Times New Roman" panose="02020603050405020304" pitchFamily="18" charset="0"/>
                <a:ea typeface="微软雅黑" panose="020B0503020204020204" pitchFamily="34" charset="-122"/>
              </a:rPr>
              <a:t> 系列</a:t>
            </a:r>
            <a:r>
              <a:rPr kumimoji="1" lang="zh-CN" altLang="en-US" sz="2400" dirty="0">
                <a:solidFill>
                  <a:schemeClr val="tx2"/>
                </a:solidFill>
                <a:latin typeface="Times New Roman" panose="02020603050405020304" pitchFamily="18" charset="0"/>
                <a:ea typeface="微软雅黑" panose="020B0503020204020204" pitchFamily="34" charset="-122"/>
              </a:rPr>
              <a:t>、</a:t>
            </a:r>
            <a:r>
              <a:rPr kumimoji="1" lang="en-US" altLang="zh-CN" sz="2400" dirty="0">
                <a:solidFill>
                  <a:schemeClr val="tx2"/>
                </a:solidFill>
                <a:latin typeface="Times New Roman" panose="02020603050405020304" pitchFamily="18" charset="0"/>
                <a:ea typeface="微软雅黑" panose="020B0503020204020204" pitchFamily="34" charset="-122"/>
              </a:rPr>
              <a:t>Llama</a:t>
            </a:r>
            <a:r>
              <a:rPr kumimoji="1" lang="zh-CN" altLang="en-US" sz="2400" dirty="0">
                <a:solidFill>
                  <a:schemeClr val="tx2"/>
                </a:solidFill>
                <a:latin typeface="Times New Roman" panose="02020603050405020304" pitchFamily="18" charset="0"/>
                <a:ea typeface="微软雅黑" panose="020B0503020204020204" pitchFamily="34" charset="-122"/>
              </a:rPr>
              <a:t> 系列、</a:t>
            </a:r>
            <a:r>
              <a:rPr kumimoji="1" lang="en-US" altLang="zh-CN" sz="2400" dirty="0" err="1">
                <a:solidFill>
                  <a:schemeClr val="tx2"/>
                </a:solidFill>
                <a:latin typeface="Times New Roman" panose="02020603050405020304" pitchFamily="18" charset="0"/>
                <a:ea typeface="微软雅黑" panose="020B0503020204020204" pitchFamily="34" charset="-122"/>
              </a:rPr>
              <a:t>Deepseek</a:t>
            </a:r>
            <a:r>
              <a:rPr kumimoji="1" lang="zh-CN" altLang="en-US" sz="2400" dirty="0">
                <a:solidFill>
                  <a:schemeClr val="tx2"/>
                </a:solidFill>
                <a:latin typeface="Times New Roman" panose="02020603050405020304" pitchFamily="18" charset="0"/>
                <a:ea typeface="微软雅黑" panose="020B0503020204020204" pitchFamily="34" charset="-122"/>
              </a:rPr>
              <a:t> 系列等等大模型均采用 </a:t>
            </a:r>
            <a:r>
              <a:rPr kumimoji="1" lang="en-US" altLang="zh-CN" sz="2400" dirty="0">
                <a:solidFill>
                  <a:schemeClr val="tx2"/>
                </a:solidFill>
                <a:latin typeface="Times New Roman" panose="02020603050405020304" pitchFamily="18" charset="0"/>
                <a:ea typeface="微软雅黑" panose="020B0503020204020204" pitchFamily="34" charset="-122"/>
              </a:rPr>
              <a:t>Decoder-Only</a:t>
            </a:r>
            <a:r>
              <a:rPr kumimoji="1" lang="zh-CN" altLang="en-US" sz="2400" dirty="0">
                <a:solidFill>
                  <a:schemeClr val="tx2"/>
                </a:solidFill>
                <a:latin typeface="Times New Roman" panose="02020603050405020304" pitchFamily="18" charset="0"/>
                <a:ea typeface="微软雅黑" panose="020B0503020204020204" pitchFamily="34" charset="-122"/>
              </a:rPr>
              <a:t> 结构的模型</a:t>
            </a:r>
            <a:endParaRPr kumimoji="1" lang="en-US" altLang="zh-CN" sz="2400" dirty="0">
              <a:solidFill>
                <a:schemeClr val="tx2"/>
              </a:solidFill>
              <a:latin typeface="Times New Roman" panose="02020603050405020304" pitchFamily="18" charset="0"/>
              <a:ea typeface="微软雅黑" panose="020B0503020204020204" pitchFamily="34" charset="-122"/>
            </a:endParaRPr>
          </a:p>
          <a:p>
            <a:pPr marL="342900" indent="-342900" algn="l">
              <a:lnSpc>
                <a:spcPct val="150000"/>
              </a:lnSpc>
              <a:buFont typeface="Wingdings" pitchFamily="2" charset="2"/>
              <a:buChar char="p"/>
            </a:pPr>
            <a:endParaRPr kumimoji="1" lang="zh-CN" altLang="en-US" sz="2400" dirty="0">
              <a:solidFill>
                <a:schemeClr val="tx2"/>
              </a:solidFill>
              <a:latin typeface="Times New Roman" panose="02020603050405020304" pitchFamily="18" charset="0"/>
              <a:ea typeface="微软雅黑" panose="020B0503020204020204" pitchFamily="34" charset="-122"/>
            </a:endParaRPr>
          </a:p>
        </p:txBody>
      </p:sp>
      <p:sp>
        <p:nvSpPr>
          <p:cNvPr id="31" name="文本框 30">
            <a:extLst>
              <a:ext uri="{FF2B5EF4-FFF2-40B4-BE49-F238E27FC236}">
                <a16:creationId xmlns:a16="http://schemas.microsoft.com/office/drawing/2014/main" id="{64B2BC4D-F32D-C12B-CBE6-1C2919CB082B}"/>
              </a:ext>
            </a:extLst>
          </p:cNvPr>
          <p:cNvSpPr txBox="1"/>
          <p:nvPr/>
        </p:nvSpPr>
        <p:spPr>
          <a:xfrm>
            <a:off x="11307" y="6336785"/>
            <a:ext cx="11340634" cy="523220"/>
          </a:xfrm>
          <a:prstGeom prst="rect">
            <a:avLst/>
          </a:prstGeom>
          <a:noFill/>
        </p:spPr>
        <p:txBody>
          <a:bodyPr wrap="square">
            <a:spAutoFit/>
          </a:bodyPr>
          <a:lstStyle/>
          <a:p>
            <a:r>
              <a:rPr lang="en" altLang="zh-CN" sz="1400" dirty="0" err="1">
                <a:solidFill>
                  <a:schemeClr val="bg1"/>
                </a:solidFill>
              </a:rPr>
              <a:t>Raffel</a:t>
            </a:r>
            <a:r>
              <a:rPr lang="en" altLang="zh-CN" sz="1400" dirty="0">
                <a:solidFill>
                  <a:schemeClr val="bg1"/>
                </a:solidFill>
              </a:rPr>
              <a:t>, Colin, Noam </a:t>
            </a:r>
            <a:r>
              <a:rPr lang="en" altLang="zh-CN" sz="1400" dirty="0" err="1">
                <a:solidFill>
                  <a:schemeClr val="bg1"/>
                </a:solidFill>
              </a:rPr>
              <a:t>Shazeer</a:t>
            </a:r>
            <a:r>
              <a:rPr lang="en" altLang="zh-CN" sz="1400" dirty="0">
                <a:solidFill>
                  <a:schemeClr val="bg1"/>
                </a:solidFill>
              </a:rPr>
              <a:t>, Adam Roberts, Katherine Lee, Sharan Narang, Michael </a:t>
            </a:r>
            <a:r>
              <a:rPr lang="en" altLang="zh-CN" sz="1400" dirty="0" err="1">
                <a:solidFill>
                  <a:schemeClr val="bg1"/>
                </a:solidFill>
              </a:rPr>
              <a:t>Matena</a:t>
            </a:r>
            <a:r>
              <a:rPr lang="en" altLang="zh-CN" sz="1400" dirty="0">
                <a:solidFill>
                  <a:schemeClr val="bg1"/>
                </a:solidFill>
              </a:rPr>
              <a:t>, Yanqi Zhou, Wei Li, and Peter J. Liu. "Exploring the limits of transfer learning with a unified text-to-text transformer." </a:t>
            </a:r>
            <a:r>
              <a:rPr lang="en" altLang="zh-CN" sz="1400" i="1" dirty="0">
                <a:solidFill>
                  <a:schemeClr val="bg1"/>
                </a:solidFill>
              </a:rPr>
              <a:t>Journal of machine learning research</a:t>
            </a:r>
            <a:r>
              <a:rPr lang="en" altLang="zh-CN" sz="1400" dirty="0">
                <a:solidFill>
                  <a:schemeClr val="bg1"/>
                </a:solidFill>
              </a:rPr>
              <a:t> 21, no. 140 (2020): 1-67.</a:t>
            </a:r>
            <a:endParaRPr lang="zh-CN" altLang="en-US" sz="1400" dirty="0">
              <a:solidFill>
                <a:schemeClr val="bg1"/>
              </a:solidFill>
            </a:endParaRPr>
          </a:p>
        </p:txBody>
      </p:sp>
      <p:pic>
        <p:nvPicPr>
          <p:cNvPr id="4" name="图片 3">
            <a:extLst>
              <a:ext uri="{FF2B5EF4-FFF2-40B4-BE49-F238E27FC236}">
                <a16:creationId xmlns:a16="http://schemas.microsoft.com/office/drawing/2014/main" id="{0C9566AD-94D8-D3AC-FB50-4289CC2D7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949" y="3032613"/>
            <a:ext cx="10795819" cy="2626010"/>
          </a:xfrm>
          <a:prstGeom prst="rect">
            <a:avLst/>
          </a:prstGeom>
        </p:spPr>
      </p:pic>
    </p:spTree>
    <p:extLst>
      <p:ext uri="{BB962C8B-B14F-4D97-AF65-F5344CB8AC3E}">
        <p14:creationId xmlns:p14="http://schemas.microsoft.com/office/powerpoint/2010/main" val="416344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976DC3-8670-3FA6-F8DF-FADDD19923D3}"/>
              </a:ext>
            </a:extLst>
          </p:cNvPr>
          <p:cNvSpPr>
            <a:spLocks noGrp="1"/>
          </p:cNvSpPr>
          <p:nvPr>
            <p:ph type="title"/>
          </p:nvPr>
        </p:nvSpPr>
        <p:spPr/>
        <p:txBody>
          <a:bodyPr/>
          <a:lstStyle/>
          <a:p>
            <a:r>
              <a:rPr kumimoji="1" lang="en-US" altLang="zh-CN" dirty="0"/>
              <a:t>Encoder only</a:t>
            </a:r>
            <a:r>
              <a:rPr kumimoji="1" lang="zh-CN" altLang="en-US" dirty="0"/>
              <a:t>与</a:t>
            </a:r>
            <a:r>
              <a:rPr kumimoji="1" lang="en-US" altLang="zh-CN" dirty="0"/>
              <a:t>decoder</a:t>
            </a:r>
            <a:r>
              <a:rPr kumimoji="1" lang="zh-CN" altLang="en-US" dirty="0"/>
              <a:t> </a:t>
            </a:r>
            <a:r>
              <a:rPr kumimoji="1" lang="en-US" altLang="zh-CN" dirty="0"/>
              <a:t>only</a:t>
            </a:r>
            <a:r>
              <a:rPr kumimoji="1" lang="zh-CN" altLang="en-US" dirty="0"/>
              <a:t>模型对比</a:t>
            </a:r>
          </a:p>
        </p:txBody>
      </p:sp>
      <p:graphicFrame>
        <p:nvGraphicFramePr>
          <p:cNvPr id="4" name="内容占位符 3">
            <a:extLst>
              <a:ext uri="{FF2B5EF4-FFF2-40B4-BE49-F238E27FC236}">
                <a16:creationId xmlns:a16="http://schemas.microsoft.com/office/drawing/2014/main" id="{CD42D7E0-104F-061C-600D-9C1E15C86B68}"/>
              </a:ext>
            </a:extLst>
          </p:cNvPr>
          <p:cNvGraphicFramePr>
            <a:graphicFrameLocks noGrp="1"/>
          </p:cNvGraphicFramePr>
          <p:nvPr>
            <p:ph idx="1"/>
            <p:extLst>
              <p:ext uri="{D42A27DB-BD31-4B8C-83A1-F6EECF244321}">
                <p14:modId xmlns:p14="http://schemas.microsoft.com/office/powerpoint/2010/main" val="1005486559"/>
              </p:ext>
            </p:extLst>
          </p:nvPr>
        </p:nvGraphicFramePr>
        <p:xfrm>
          <a:off x="381000" y="981075"/>
          <a:ext cx="11430000" cy="210312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67173414"/>
                    </a:ext>
                  </a:extLst>
                </a:gridCol>
                <a:gridCol w="2857500">
                  <a:extLst>
                    <a:ext uri="{9D8B030D-6E8A-4147-A177-3AD203B41FA5}">
                      <a16:colId xmlns:a16="http://schemas.microsoft.com/office/drawing/2014/main" val="921075288"/>
                    </a:ext>
                  </a:extLst>
                </a:gridCol>
                <a:gridCol w="2857500">
                  <a:extLst>
                    <a:ext uri="{9D8B030D-6E8A-4147-A177-3AD203B41FA5}">
                      <a16:colId xmlns:a16="http://schemas.microsoft.com/office/drawing/2014/main" val="779682973"/>
                    </a:ext>
                  </a:extLst>
                </a:gridCol>
                <a:gridCol w="2857500">
                  <a:extLst>
                    <a:ext uri="{9D8B030D-6E8A-4147-A177-3AD203B41FA5}">
                      <a16:colId xmlns:a16="http://schemas.microsoft.com/office/drawing/2014/main" val="1622335826"/>
                    </a:ext>
                  </a:extLst>
                </a:gridCol>
              </a:tblGrid>
              <a:tr h="370840">
                <a:tc>
                  <a:txBody>
                    <a:bodyPr/>
                    <a:lstStyle/>
                    <a:p>
                      <a:r>
                        <a:rPr lang="zh-CN" altLang="en-US" baseline="0" dirty="0">
                          <a:latin typeface="Times New Roman" panose="02020603050405020304" pitchFamily="18" charset="0"/>
                          <a:ea typeface="微软雅黑" panose="020B0503020204020204" pitchFamily="34" charset="-122"/>
                        </a:rPr>
                        <a:t>模型类型</a:t>
                      </a:r>
                    </a:p>
                  </a:txBody>
                  <a:tcPr/>
                </a:tc>
                <a:tc>
                  <a:txBody>
                    <a:bodyPr/>
                    <a:lstStyle/>
                    <a:p>
                      <a:r>
                        <a:rPr lang="en-US" altLang="zh-CN" baseline="0" dirty="0">
                          <a:latin typeface="Times New Roman" panose="02020603050405020304" pitchFamily="18" charset="0"/>
                          <a:ea typeface="微软雅黑" panose="020B0503020204020204" pitchFamily="34" charset="-122"/>
                        </a:rPr>
                        <a:t>Attention</a:t>
                      </a:r>
                      <a:r>
                        <a:rPr lang="zh-CN" altLang="en-US" baseline="0" dirty="0">
                          <a:latin typeface="Times New Roman" panose="02020603050405020304" pitchFamily="18" charset="0"/>
                          <a:ea typeface="微软雅黑" panose="020B0503020204020204" pitchFamily="34" charset="-122"/>
                        </a:rPr>
                        <a:t> </a:t>
                      </a:r>
                      <a:r>
                        <a:rPr lang="en-US" altLang="zh-CN" baseline="0" dirty="0">
                          <a:latin typeface="Times New Roman" panose="02020603050405020304" pitchFamily="18" charset="0"/>
                          <a:ea typeface="微软雅黑" panose="020B0503020204020204" pitchFamily="34" charset="-122"/>
                        </a:rPr>
                        <a:t>mask</a:t>
                      </a:r>
                      <a:endParaRPr lang="zh-CN" altLang="en-US" baseline="0" dirty="0">
                        <a:latin typeface="Times New Roman" panose="02020603050405020304" pitchFamily="18" charset="0"/>
                        <a:ea typeface="微软雅黑" panose="020B0503020204020204" pitchFamily="34" charset="-122"/>
                      </a:endParaRPr>
                    </a:p>
                  </a:txBody>
                  <a:tcPr/>
                </a:tc>
                <a:tc>
                  <a:txBody>
                    <a:bodyPr/>
                    <a:lstStyle/>
                    <a:p>
                      <a:r>
                        <a:rPr lang="zh-CN" altLang="en-US" baseline="0" dirty="0">
                          <a:latin typeface="Times New Roman" panose="02020603050405020304" pitchFamily="18" charset="0"/>
                          <a:ea typeface="微软雅黑" panose="020B0503020204020204" pitchFamily="34" charset="-122"/>
                        </a:rPr>
                        <a:t>关注范围</a:t>
                      </a:r>
                    </a:p>
                  </a:txBody>
                  <a:tcPr/>
                </a:tc>
                <a:tc>
                  <a:txBody>
                    <a:bodyPr/>
                    <a:lstStyle/>
                    <a:p>
                      <a:r>
                        <a:rPr lang="zh-CN" altLang="en-US" baseline="0" dirty="0">
                          <a:latin typeface="Times New Roman" panose="02020603050405020304" pitchFamily="18" charset="0"/>
                          <a:ea typeface="微软雅黑" panose="020B0503020204020204" pitchFamily="34" charset="-122"/>
                        </a:rPr>
                        <a:t>适用任务</a:t>
                      </a:r>
                    </a:p>
                  </a:txBody>
                  <a:tcPr/>
                </a:tc>
                <a:extLst>
                  <a:ext uri="{0D108BD9-81ED-4DB2-BD59-A6C34878D82A}">
                    <a16:rowId xmlns:a16="http://schemas.microsoft.com/office/drawing/2014/main" val="4294535186"/>
                  </a:ext>
                </a:extLst>
              </a:tr>
              <a:tr h="370840">
                <a:tc>
                  <a:txBody>
                    <a:bodyPr/>
                    <a:lstStyle/>
                    <a:p>
                      <a:r>
                        <a:rPr lang="en-US" altLang="zh-CN" baseline="0" dirty="0">
                          <a:solidFill>
                            <a:schemeClr val="tx2"/>
                          </a:solidFill>
                          <a:latin typeface="Times New Roman" panose="02020603050405020304" pitchFamily="18" charset="0"/>
                          <a:ea typeface="微软雅黑" panose="020B0503020204020204" pitchFamily="34" charset="-122"/>
                        </a:rPr>
                        <a:t>Encoder</a:t>
                      </a:r>
                      <a:r>
                        <a:rPr lang="zh-CN" altLang="en-US" baseline="0" dirty="0">
                          <a:solidFill>
                            <a:schemeClr val="tx2"/>
                          </a:solidFill>
                          <a:latin typeface="Times New Roman" panose="02020603050405020304" pitchFamily="18" charset="0"/>
                          <a:ea typeface="微软雅黑" panose="020B0503020204020204" pitchFamily="34" charset="-122"/>
                        </a:rPr>
                        <a:t> </a:t>
                      </a:r>
                      <a:r>
                        <a:rPr lang="en-US" altLang="zh-CN" baseline="0" dirty="0">
                          <a:solidFill>
                            <a:schemeClr val="tx2"/>
                          </a:solidFill>
                          <a:latin typeface="Times New Roman" panose="02020603050405020304" pitchFamily="18" charset="0"/>
                          <a:ea typeface="微软雅黑" panose="020B0503020204020204" pitchFamily="34" charset="-122"/>
                        </a:rPr>
                        <a:t>Only</a:t>
                      </a:r>
                      <a:endParaRPr lang="zh-CN" altLang="en-US" baseline="0" dirty="0">
                        <a:solidFill>
                          <a:schemeClr val="tx2"/>
                        </a:solidFill>
                        <a:latin typeface="Times New Roman" panose="02020603050405020304" pitchFamily="18" charset="0"/>
                        <a:ea typeface="微软雅黑" panose="020B0503020204020204" pitchFamily="34" charset="-122"/>
                      </a:endParaRPr>
                    </a:p>
                  </a:txBody>
                  <a:tcPr/>
                </a:tc>
                <a:tc>
                  <a:txBody>
                    <a:bodyPr/>
                    <a:lstStyle/>
                    <a:p>
                      <a:r>
                        <a:rPr lang="zh-CN" altLang="en-US" baseline="0" dirty="0">
                          <a:solidFill>
                            <a:schemeClr val="tx2"/>
                          </a:solidFill>
                          <a:latin typeface="Times New Roman" panose="02020603050405020304" pitchFamily="18" charset="0"/>
                          <a:ea typeface="微软雅黑" panose="020B0503020204020204" pitchFamily="34" charset="-122"/>
                        </a:rPr>
                        <a:t>全局双向 无</a:t>
                      </a:r>
                      <a:r>
                        <a:rPr lang="en" altLang="zh-CN" baseline="0" dirty="0">
                          <a:solidFill>
                            <a:schemeClr val="tx2"/>
                          </a:solidFill>
                          <a:latin typeface="Times New Roman" panose="02020603050405020304" pitchFamily="18" charset="0"/>
                          <a:ea typeface="微软雅黑" panose="020B0503020204020204" pitchFamily="34" charset="-122"/>
                        </a:rPr>
                        <a:t>Mask</a:t>
                      </a:r>
                      <a:endParaRPr lang="zh-CN" altLang="en-US" baseline="0" dirty="0">
                        <a:solidFill>
                          <a:schemeClr val="tx2"/>
                        </a:solidFill>
                        <a:latin typeface="Times New Roman" panose="02020603050405020304" pitchFamily="18" charset="0"/>
                        <a:ea typeface="微软雅黑" panose="020B0503020204020204" pitchFamily="34" charset="-122"/>
                      </a:endParaRPr>
                    </a:p>
                  </a:txBody>
                  <a:tcPr/>
                </a:tc>
                <a:tc>
                  <a:txBody>
                    <a:bodyPr/>
                    <a:lstStyle/>
                    <a:p>
                      <a:r>
                        <a:rPr lang="zh-CN" altLang="en-US" baseline="0" dirty="0">
                          <a:solidFill>
                            <a:schemeClr val="tx2"/>
                          </a:solidFill>
                          <a:latin typeface="Times New Roman" panose="02020603050405020304" pitchFamily="18" charset="0"/>
                          <a:ea typeface="微软雅黑" panose="020B0503020204020204" pitchFamily="34" charset="-122"/>
                        </a:rPr>
                        <a:t>前后文所有 </a:t>
                      </a:r>
                      <a:r>
                        <a:rPr lang="en" altLang="zh-CN" baseline="0" dirty="0">
                          <a:solidFill>
                            <a:schemeClr val="tx2"/>
                          </a:solidFill>
                          <a:latin typeface="Times New Roman" panose="02020603050405020304" pitchFamily="18" charset="0"/>
                          <a:ea typeface="微软雅黑" panose="020B0503020204020204" pitchFamily="34" charset="-122"/>
                        </a:rPr>
                        <a:t>token</a:t>
                      </a:r>
                      <a:endParaRPr lang="zh-CN" altLang="en-US" baseline="0" dirty="0">
                        <a:solidFill>
                          <a:schemeClr val="tx2"/>
                        </a:solidFill>
                        <a:latin typeface="Times New Roman" panose="02020603050405020304" pitchFamily="18" charset="0"/>
                        <a:ea typeface="微软雅黑" panose="020B0503020204020204" pitchFamily="34" charset="-122"/>
                      </a:endParaRPr>
                    </a:p>
                  </a:txBody>
                  <a:tcPr/>
                </a:tc>
                <a:tc>
                  <a:txBody>
                    <a:bodyPr/>
                    <a:lstStyle/>
                    <a:p>
                      <a:r>
                        <a:rPr lang="zh-CN" altLang="en-US" baseline="0" dirty="0">
                          <a:solidFill>
                            <a:schemeClr val="tx2"/>
                          </a:solidFill>
                          <a:latin typeface="Times New Roman" panose="02020603050405020304" pitchFamily="18" charset="0"/>
                          <a:ea typeface="微软雅黑" panose="020B0503020204020204" pitchFamily="34" charset="-122"/>
                        </a:rPr>
                        <a:t>理解任务（</a:t>
                      </a:r>
                      <a:r>
                        <a:rPr lang="en" altLang="zh-CN" baseline="0" dirty="0">
                          <a:solidFill>
                            <a:schemeClr val="tx2"/>
                          </a:solidFill>
                          <a:latin typeface="Times New Roman" panose="02020603050405020304" pitchFamily="18" charset="0"/>
                          <a:ea typeface="微软雅黑" panose="020B0503020204020204" pitchFamily="34" charset="-122"/>
                        </a:rPr>
                        <a:t>NLP </a:t>
                      </a:r>
                      <a:r>
                        <a:rPr lang="zh-CN" altLang="en-US" baseline="0" dirty="0">
                          <a:solidFill>
                            <a:schemeClr val="tx2"/>
                          </a:solidFill>
                          <a:latin typeface="Times New Roman" panose="02020603050405020304" pitchFamily="18" charset="0"/>
                          <a:ea typeface="微软雅黑" panose="020B0503020204020204" pitchFamily="34" charset="-122"/>
                        </a:rPr>
                        <a:t>分析）</a:t>
                      </a:r>
                    </a:p>
                  </a:txBody>
                  <a:tcPr/>
                </a:tc>
                <a:extLst>
                  <a:ext uri="{0D108BD9-81ED-4DB2-BD59-A6C34878D82A}">
                    <a16:rowId xmlns:a16="http://schemas.microsoft.com/office/drawing/2014/main" val="2826997401"/>
                  </a:ext>
                </a:extLst>
              </a:tr>
              <a:tr h="370840">
                <a:tc>
                  <a:txBody>
                    <a:bodyPr/>
                    <a:lstStyle/>
                    <a:p>
                      <a:r>
                        <a:rPr lang="en-US" altLang="zh-CN" baseline="0" dirty="0">
                          <a:solidFill>
                            <a:schemeClr val="tx2"/>
                          </a:solidFill>
                          <a:latin typeface="Times New Roman" panose="02020603050405020304" pitchFamily="18" charset="0"/>
                          <a:ea typeface="微软雅黑" panose="020B0503020204020204" pitchFamily="34" charset="-122"/>
                        </a:rPr>
                        <a:t>Decoder</a:t>
                      </a:r>
                      <a:r>
                        <a:rPr lang="zh-CN" altLang="en-US" baseline="0" dirty="0">
                          <a:solidFill>
                            <a:schemeClr val="tx2"/>
                          </a:solidFill>
                          <a:latin typeface="Times New Roman" panose="02020603050405020304" pitchFamily="18" charset="0"/>
                          <a:ea typeface="微软雅黑" panose="020B0503020204020204" pitchFamily="34" charset="-122"/>
                        </a:rPr>
                        <a:t> </a:t>
                      </a:r>
                      <a:r>
                        <a:rPr lang="en-US" altLang="zh-CN" baseline="0" dirty="0">
                          <a:solidFill>
                            <a:schemeClr val="tx2"/>
                          </a:solidFill>
                          <a:latin typeface="Times New Roman" panose="02020603050405020304" pitchFamily="18" charset="0"/>
                          <a:ea typeface="微软雅黑" panose="020B0503020204020204" pitchFamily="34" charset="-122"/>
                        </a:rPr>
                        <a:t>Only</a:t>
                      </a:r>
                      <a:endParaRPr lang="zh-CN" altLang="en-US" baseline="0" dirty="0">
                        <a:solidFill>
                          <a:schemeClr val="tx2"/>
                        </a:solidFill>
                        <a:latin typeface="Times New Roman" panose="02020603050405020304" pitchFamily="18" charset="0"/>
                        <a:ea typeface="微软雅黑" panose="020B0503020204020204" pitchFamily="34" charset="-122"/>
                      </a:endParaRPr>
                    </a:p>
                  </a:txBody>
                  <a:tcPr/>
                </a:tc>
                <a:tc>
                  <a:txBody>
                    <a:bodyPr/>
                    <a:lstStyle/>
                    <a:p>
                      <a:r>
                        <a:rPr lang="en" altLang="zh-CN" baseline="0" dirty="0">
                          <a:solidFill>
                            <a:schemeClr val="tx2"/>
                          </a:solidFill>
                          <a:latin typeface="Times New Roman" panose="02020603050405020304" pitchFamily="18" charset="0"/>
                          <a:ea typeface="微软雅黑" panose="020B0503020204020204" pitchFamily="34" charset="-122"/>
                        </a:rPr>
                        <a:t>Causal Mask</a:t>
                      </a:r>
                      <a:endParaRPr lang="zh-CN" altLang="en-US" baseline="0" dirty="0">
                        <a:solidFill>
                          <a:schemeClr val="tx2"/>
                        </a:solidFill>
                        <a:latin typeface="Times New Roman" panose="02020603050405020304" pitchFamily="18" charset="0"/>
                        <a:ea typeface="微软雅黑" panose="020B0503020204020204" pitchFamily="34" charset="-122"/>
                      </a:endParaRPr>
                    </a:p>
                  </a:txBody>
                  <a:tcPr/>
                </a:tc>
                <a:tc>
                  <a:txBody>
                    <a:bodyPr/>
                    <a:lstStyle/>
                    <a:p>
                      <a:r>
                        <a:rPr lang="zh-CN" altLang="en-US" baseline="0" dirty="0">
                          <a:solidFill>
                            <a:schemeClr val="tx2"/>
                          </a:solidFill>
                          <a:latin typeface="Times New Roman" panose="02020603050405020304" pitchFamily="18" charset="0"/>
                          <a:ea typeface="微软雅黑" panose="020B0503020204020204" pitchFamily="34" charset="-122"/>
                        </a:rPr>
                        <a:t>当前 </a:t>
                      </a:r>
                      <a:r>
                        <a:rPr lang="en" altLang="zh-CN" baseline="0" dirty="0">
                          <a:solidFill>
                            <a:schemeClr val="tx2"/>
                          </a:solidFill>
                          <a:latin typeface="Times New Roman" panose="02020603050405020304" pitchFamily="18" charset="0"/>
                          <a:ea typeface="微软雅黑" panose="020B0503020204020204" pitchFamily="34" charset="-122"/>
                        </a:rPr>
                        <a:t>token </a:t>
                      </a:r>
                      <a:r>
                        <a:rPr lang="zh-CN" altLang="en-US" baseline="0" dirty="0">
                          <a:solidFill>
                            <a:schemeClr val="tx2"/>
                          </a:solidFill>
                          <a:latin typeface="Times New Roman" panose="02020603050405020304" pitchFamily="18" charset="0"/>
                          <a:ea typeface="微软雅黑" panose="020B0503020204020204" pitchFamily="34" charset="-122"/>
                        </a:rPr>
                        <a:t>及之前的 </a:t>
                      </a:r>
                      <a:r>
                        <a:rPr lang="en" altLang="zh-CN" baseline="0" dirty="0">
                          <a:solidFill>
                            <a:schemeClr val="tx2"/>
                          </a:solidFill>
                          <a:latin typeface="Times New Roman" panose="02020603050405020304" pitchFamily="18" charset="0"/>
                          <a:ea typeface="微软雅黑" panose="020B0503020204020204" pitchFamily="34" charset="-122"/>
                        </a:rPr>
                        <a:t>token</a:t>
                      </a:r>
                      <a:endParaRPr lang="zh-CN" altLang="en-US" baseline="0" dirty="0">
                        <a:solidFill>
                          <a:schemeClr val="tx2"/>
                        </a:solidFill>
                        <a:latin typeface="Times New Roman" panose="02020603050405020304" pitchFamily="18" charset="0"/>
                        <a:ea typeface="微软雅黑" panose="020B0503020204020204" pitchFamily="34" charset="-122"/>
                      </a:endParaRPr>
                    </a:p>
                  </a:txBody>
                  <a:tcPr/>
                </a:tc>
                <a:tc>
                  <a:txBody>
                    <a:bodyPr/>
                    <a:lstStyle/>
                    <a:p>
                      <a:r>
                        <a:rPr lang="zh-CN" altLang="en-US" baseline="0" dirty="0">
                          <a:solidFill>
                            <a:schemeClr val="tx2"/>
                          </a:solidFill>
                          <a:latin typeface="Times New Roman" panose="02020603050405020304" pitchFamily="18" charset="0"/>
                          <a:ea typeface="微软雅黑" panose="020B0503020204020204" pitchFamily="34" charset="-122"/>
                        </a:rPr>
                        <a:t>生成任务（文本生成）</a:t>
                      </a:r>
                    </a:p>
                  </a:txBody>
                  <a:tcPr/>
                </a:tc>
                <a:extLst>
                  <a:ext uri="{0D108BD9-81ED-4DB2-BD59-A6C34878D82A}">
                    <a16:rowId xmlns:a16="http://schemas.microsoft.com/office/drawing/2014/main" val="1675453837"/>
                  </a:ext>
                </a:extLst>
              </a:tr>
            </a:tbl>
          </a:graphicData>
        </a:graphic>
      </p:graphicFrame>
      <p:sp>
        <p:nvSpPr>
          <p:cNvPr id="5" name="文本框 4">
            <a:extLst>
              <a:ext uri="{FF2B5EF4-FFF2-40B4-BE49-F238E27FC236}">
                <a16:creationId xmlns:a16="http://schemas.microsoft.com/office/drawing/2014/main" id="{6837A895-54AA-3FAE-78C9-5E2DDEF29182}"/>
              </a:ext>
            </a:extLst>
          </p:cNvPr>
          <p:cNvSpPr txBox="1"/>
          <p:nvPr/>
        </p:nvSpPr>
        <p:spPr>
          <a:xfrm>
            <a:off x="381000" y="3635298"/>
            <a:ext cx="5096107" cy="1693028"/>
          </a:xfrm>
          <a:prstGeom prst="rect">
            <a:avLst/>
          </a:prstGeom>
          <a:noFill/>
        </p:spPr>
        <p:txBody>
          <a:bodyPr wrap="square" rtlCol="0">
            <a:spAutoFit/>
          </a:bodyPr>
          <a:lstStyle/>
          <a:p>
            <a:pPr marL="342900" indent="-342900" algn="l">
              <a:lnSpc>
                <a:spcPct val="150000"/>
              </a:lnSpc>
              <a:buFont typeface="Wingdings" pitchFamily="2" charset="2"/>
              <a:buChar char="p"/>
            </a:pPr>
            <a:r>
              <a:rPr kumimoji="1" lang="zh-CN" altLang="en-US" sz="2400" dirty="0">
                <a:solidFill>
                  <a:schemeClr val="tx2"/>
                </a:solidFill>
                <a:latin typeface="Times New Roman" panose="02020603050405020304" pitchFamily="18" charset="0"/>
                <a:ea typeface="微软雅黑" panose="020B0503020204020204" pitchFamily="34" charset="-122"/>
              </a:rPr>
              <a:t>目前的大语言模型主要都是以生成内容为主，因此</a:t>
            </a:r>
            <a:r>
              <a:rPr kumimoji="1" lang="en-US" altLang="zh-CN" sz="2400" dirty="0">
                <a:solidFill>
                  <a:schemeClr val="tx2"/>
                </a:solidFill>
                <a:latin typeface="Times New Roman" panose="02020603050405020304" pitchFamily="18" charset="0"/>
                <a:ea typeface="微软雅黑" panose="020B0503020204020204" pitchFamily="34" charset="-122"/>
              </a:rPr>
              <a:t>Decoder-Only</a:t>
            </a:r>
            <a:r>
              <a:rPr kumimoji="1" lang="zh-CN" altLang="en-US" sz="2400" dirty="0">
                <a:solidFill>
                  <a:schemeClr val="tx2"/>
                </a:solidFill>
                <a:latin typeface="Times New Roman" panose="02020603050405020304" pitchFamily="18" charset="0"/>
                <a:ea typeface="微软雅黑" panose="020B0503020204020204" pitchFamily="34" charset="-122"/>
              </a:rPr>
              <a:t>的模型占据主导。</a:t>
            </a:r>
          </a:p>
        </p:txBody>
      </p:sp>
    </p:spTree>
    <p:extLst>
      <p:ext uri="{BB962C8B-B14F-4D97-AF65-F5344CB8AC3E}">
        <p14:creationId xmlns:p14="http://schemas.microsoft.com/office/powerpoint/2010/main" val="1375525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4BF326-9E6A-C49C-3EBD-F0FE8FCDE602}"/>
              </a:ext>
            </a:extLst>
          </p:cNvPr>
          <p:cNvSpPr>
            <a:spLocks noGrp="1"/>
          </p:cNvSpPr>
          <p:nvPr>
            <p:ph type="title"/>
          </p:nvPr>
        </p:nvSpPr>
        <p:spPr/>
        <p:txBody>
          <a:bodyPr/>
          <a:lstStyle/>
          <a:p>
            <a:r>
              <a:rPr kumimoji="1" lang="en-US" altLang="zh-CN" dirty="0" err="1"/>
              <a:t>ViT</a:t>
            </a:r>
            <a:r>
              <a:rPr kumimoji="1" lang="en-US" altLang="zh-CN" dirty="0"/>
              <a:t> (Vision Transformer)</a:t>
            </a:r>
            <a:endParaRPr kumimoji="1" lang="zh-CN" altLang="en-US" dirty="0"/>
          </a:p>
        </p:txBody>
      </p:sp>
      <p:pic>
        <p:nvPicPr>
          <p:cNvPr id="4" name="内容占位符 3">
            <a:extLst>
              <a:ext uri="{FF2B5EF4-FFF2-40B4-BE49-F238E27FC236}">
                <a16:creationId xmlns:a16="http://schemas.microsoft.com/office/drawing/2014/main" id="{278434F0-F8A8-7330-0017-AF1C36BC0BFD}"/>
              </a:ext>
            </a:extLst>
          </p:cNvPr>
          <p:cNvPicPr>
            <a:picLocks noGrp="1" noChangeAspect="1"/>
          </p:cNvPicPr>
          <p:nvPr>
            <p:ph idx="1"/>
          </p:nvPr>
        </p:nvPicPr>
        <p:blipFill>
          <a:blip r:embed="rId2"/>
          <a:stretch>
            <a:fillRect/>
          </a:stretch>
        </p:blipFill>
        <p:spPr>
          <a:xfrm>
            <a:off x="4318000" y="901158"/>
            <a:ext cx="7874000" cy="4229100"/>
          </a:xfrm>
          <a:prstGeom prst="rect">
            <a:avLst/>
          </a:prstGeom>
        </p:spPr>
      </p:pic>
      <p:sp>
        <p:nvSpPr>
          <p:cNvPr id="5" name="文本框 4">
            <a:extLst>
              <a:ext uri="{FF2B5EF4-FFF2-40B4-BE49-F238E27FC236}">
                <a16:creationId xmlns:a16="http://schemas.microsoft.com/office/drawing/2014/main" id="{26B68DD0-8BD2-04FA-899E-65EF7F615703}"/>
              </a:ext>
            </a:extLst>
          </p:cNvPr>
          <p:cNvSpPr txBox="1"/>
          <p:nvPr/>
        </p:nvSpPr>
        <p:spPr>
          <a:xfrm>
            <a:off x="229840" y="1457609"/>
            <a:ext cx="4427033" cy="3355021"/>
          </a:xfrm>
          <a:prstGeom prst="rect">
            <a:avLst/>
          </a:prstGeom>
          <a:noFill/>
        </p:spPr>
        <p:txBody>
          <a:bodyPr wrap="square" rtlCol="0">
            <a:spAutoFit/>
          </a:bodyPr>
          <a:lstStyle/>
          <a:p>
            <a:pPr marL="342900" indent="-342900" algn="l">
              <a:lnSpc>
                <a:spcPct val="150000"/>
              </a:lnSpc>
              <a:buFont typeface="Wingdings" pitchFamily="2" charset="2"/>
              <a:buChar char="p"/>
            </a:pPr>
            <a:r>
              <a:rPr kumimoji="1" lang="zh-CN" altLang="en-US" sz="2400" dirty="0">
                <a:solidFill>
                  <a:schemeClr val="tx2"/>
                </a:solidFill>
                <a:latin typeface="Times New Roman" panose="02020603050405020304" pitchFamily="18" charset="0"/>
                <a:ea typeface="微软雅黑" panose="020B0503020204020204" pitchFamily="34" charset="-122"/>
              </a:rPr>
              <a:t>将图片切分为小块，然后和自然语言一由让 </a:t>
            </a:r>
            <a:r>
              <a:rPr kumimoji="1" lang="en-US" altLang="zh-CN" sz="2400" dirty="0">
                <a:solidFill>
                  <a:schemeClr val="tx2"/>
                </a:solidFill>
                <a:latin typeface="Times New Roman" panose="02020603050405020304" pitchFamily="18" charset="0"/>
                <a:ea typeface="微软雅黑" panose="020B0503020204020204" pitchFamily="34" charset="-122"/>
              </a:rPr>
              <a:t>transformer</a:t>
            </a:r>
            <a:r>
              <a:rPr kumimoji="1" lang="zh-CN" altLang="en-US" sz="2400" dirty="0">
                <a:solidFill>
                  <a:schemeClr val="tx2"/>
                </a:solidFill>
                <a:latin typeface="Times New Roman" panose="02020603050405020304" pitchFamily="18" charset="0"/>
                <a:ea typeface="微软雅黑" panose="020B0503020204020204" pitchFamily="34" charset="-122"/>
              </a:rPr>
              <a:t> </a:t>
            </a:r>
            <a:r>
              <a:rPr kumimoji="1" lang="en-US" altLang="zh-CN" sz="2400" dirty="0">
                <a:solidFill>
                  <a:schemeClr val="tx2"/>
                </a:solidFill>
                <a:latin typeface="Times New Roman" panose="02020603050405020304" pitchFamily="18" charset="0"/>
                <a:ea typeface="微软雅黑" panose="020B0503020204020204" pitchFamily="34" charset="-122"/>
              </a:rPr>
              <a:t>encoder</a:t>
            </a:r>
            <a:r>
              <a:rPr kumimoji="1" lang="zh-CN" altLang="en-US" sz="2400" dirty="0">
                <a:solidFill>
                  <a:schemeClr val="tx2"/>
                </a:solidFill>
                <a:latin typeface="Times New Roman" panose="02020603050405020304" pitchFamily="18" charset="0"/>
                <a:ea typeface="微软雅黑" panose="020B0503020204020204" pitchFamily="34" charset="-122"/>
              </a:rPr>
              <a:t> 处理</a:t>
            </a:r>
            <a:endParaRPr kumimoji="1" lang="en-US" altLang="zh-CN" sz="2400" dirty="0">
              <a:solidFill>
                <a:schemeClr val="tx2"/>
              </a:solidFill>
              <a:latin typeface="Times New Roman" panose="02020603050405020304" pitchFamily="18" charset="0"/>
              <a:ea typeface="微软雅黑" panose="020B0503020204020204" pitchFamily="34" charset="-122"/>
            </a:endParaRPr>
          </a:p>
          <a:p>
            <a:pPr marL="342900" indent="-342900" algn="l">
              <a:lnSpc>
                <a:spcPct val="150000"/>
              </a:lnSpc>
              <a:buFont typeface="Wingdings" pitchFamily="2" charset="2"/>
              <a:buChar char="p"/>
            </a:pPr>
            <a:r>
              <a:rPr kumimoji="1" lang="zh-CN" altLang="en-US" sz="2400" dirty="0">
                <a:solidFill>
                  <a:schemeClr val="tx2"/>
                </a:solidFill>
                <a:latin typeface="Times New Roman" panose="02020603050405020304" pitchFamily="18" charset="0"/>
                <a:ea typeface="微软雅黑" panose="020B0503020204020204" pitchFamily="34" charset="-122"/>
              </a:rPr>
              <a:t>在 </a:t>
            </a:r>
            <a:r>
              <a:rPr kumimoji="1" lang="en-US" altLang="zh-CN" sz="2400" dirty="0">
                <a:solidFill>
                  <a:schemeClr val="tx2"/>
                </a:solidFill>
                <a:latin typeface="Times New Roman" panose="02020603050405020304" pitchFamily="18" charset="0"/>
                <a:ea typeface="微软雅黑" panose="020B0503020204020204" pitchFamily="34" charset="-122"/>
              </a:rPr>
              <a:t>ImageNet</a:t>
            </a:r>
            <a:r>
              <a:rPr kumimoji="1" lang="zh-CN" altLang="en-US" sz="2400" dirty="0">
                <a:solidFill>
                  <a:schemeClr val="tx2"/>
                </a:solidFill>
                <a:latin typeface="Times New Roman" panose="02020603050405020304" pitchFamily="18" charset="0"/>
                <a:ea typeface="微软雅黑" panose="020B0503020204020204" pitchFamily="34" charset="-122"/>
              </a:rPr>
              <a:t> 上可以达到比</a:t>
            </a:r>
            <a:r>
              <a:rPr kumimoji="1" lang="en-US" altLang="zh-CN" sz="2400" dirty="0">
                <a:solidFill>
                  <a:schemeClr val="tx2"/>
                </a:solidFill>
                <a:latin typeface="Times New Roman" panose="02020603050405020304" pitchFamily="18" charset="0"/>
                <a:ea typeface="微软雅黑" panose="020B0503020204020204" pitchFamily="34" charset="-122"/>
              </a:rPr>
              <a:t>Resnet152</a:t>
            </a:r>
            <a:r>
              <a:rPr kumimoji="1" lang="zh-CN" altLang="en-US" sz="2400" dirty="0">
                <a:solidFill>
                  <a:schemeClr val="tx2"/>
                </a:solidFill>
                <a:latin typeface="Times New Roman" panose="02020603050405020304" pitchFamily="18" charset="0"/>
                <a:ea typeface="微软雅黑" panose="020B0503020204020204" pitchFamily="34" charset="-122"/>
              </a:rPr>
              <a:t>效果更好且训练时间更短。</a:t>
            </a:r>
          </a:p>
        </p:txBody>
      </p:sp>
      <p:sp>
        <p:nvSpPr>
          <p:cNvPr id="8" name="文本框 7">
            <a:extLst>
              <a:ext uri="{FF2B5EF4-FFF2-40B4-BE49-F238E27FC236}">
                <a16:creationId xmlns:a16="http://schemas.microsoft.com/office/drawing/2014/main" id="{054306A3-1A3B-79ED-9E3B-7C363504CF62}"/>
              </a:ext>
            </a:extLst>
          </p:cNvPr>
          <p:cNvSpPr txBox="1"/>
          <p:nvPr/>
        </p:nvSpPr>
        <p:spPr>
          <a:xfrm>
            <a:off x="0" y="6289851"/>
            <a:ext cx="9944787" cy="523220"/>
          </a:xfrm>
          <a:prstGeom prst="rect">
            <a:avLst/>
          </a:prstGeom>
          <a:noFill/>
        </p:spPr>
        <p:txBody>
          <a:bodyPr wrap="square">
            <a:spAutoFit/>
          </a:bodyPr>
          <a:lstStyle/>
          <a:p>
            <a:r>
              <a:rPr lang="en" altLang="zh-CN" sz="1400" dirty="0">
                <a:solidFill>
                  <a:schemeClr val="bg1"/>
                </a:solidFill>
              </a:rPr>
              <a:t>Alexey, </a:t>
            </a:r>
            <a:r>
              <a:rPr lang="en" altLang="zh-CN" sz="1400" dirty="0" err="1">
                <a:solidFill>
                  <a:schemeClr val="bg1"/>
                </a:solidFill>
              </a:rPr>
              <a:t>Dosovitskiy</a:t>
            </a:r>
            <a:r>
              <a:rPr lang="en-US" altLang="zh-CN" sz="1400" dirty="0">
                <a:solidFill>
                  <a:schemeClr val="bg1"/>
                </a:solidFill>
              </a:rPr>
              <a:t>, et al</a:t>
            </a:r>
            <a:r>
              <a:rPr lang="en" altLang="zh-CN" sz="1400" dirty="0">
                <a:solidFill>
                  <a:schemeClr val="bg1"/>
                </a:solidFill>
              </a:rPr>
              <a:t>. "An image is worth 16x16 words: Transformers for image recognition at scale." </a:t>
            </a:r>
            <a:r>
              <a:rPr lang="en" altLang="zh-CN" sz="1400" i="1" dirty="0" err="1">
                <a:solidFill>
                  <a:schemeClr val="bg1"/>
                </a:solidFill>
              </a:rPr>
              <a:t>arXiv</a:t>
            </a:r>
            <a:r>
              <a:rPr lang="en" altLang="zh-CN" sz="1400" i="1" dirty="0">
                <a:solidFill>
                  <a:schemeClr val="bg1"/>
                </a:solidFill>
              </a:rPr>
              <a:t> preprint </a:t>
            </a:r>
            <a:r>
              <a:rPr lang="en" altLang="zh-CN" sz="1400" i="1" dirty="0" err="1">
                <a:solidFill>
                  <a:schemeClr val="bg1"/>
                </a:solidFill>
              </a:rPr>
              <a:t>arXiv</a:t>
            </a:r>
            <a:r>
              <a:rPr lang="en" altLang="zh-CN" sz="1400" i="1" dirty="0">
                <a:solidFill>
                  <a:schemeClr val="bg1"/>
                </a:solidFill>
              </a:rPr>
              <a:t>: 2010.11929</a:t>
            </a:r>
            <a:r>
              <a:rPr lang="en" altLang="zh-CN" sz="1400" dirty="0">
                <a:solidFill>
                  <a:schemeClr val="bg1"/>
                </a:solidFill>
              </a:rPr>
              <a:t> (2020).</a:t>
            </a:r>
            <a:endParaRPr lang="zh-CN" altLang="en-US" sz="1400" dirty="0">
              <a:solidFill>
                <a:schemeClr val="bg1"/>
              </a:solidFill>
            </a:endParaRPr>
          </a:p>
        </p:txBody>
      </p:sp>
    </p:spTree>
    <p:extLst>
      <p:ext uri="{BB962C8B-B14F-4D97-AF65-F5344CB8AC3E}">
        <p14:creationId xmlns:p14="http://schemas.microsoft.com/office/powerpoint/2010/main" val="570041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6836E4-2B9D-B816-9328-C2477B6C44D2}"/>
              </a:ext>
            </a:extLst>
          </p:cNvPr>
          <p:cNvSpPr>
            <a:spLocks noGrp="1"/>
          </p:cNvSpPr>
          <p:nvPr>
            <p:ph type="title"/>
          </p:nvPr>
        </p:nvSpPr>
        <p:spPr/>
        <p:txBody>
          <a:bodyPr/>
          <a:lstStyle/>
          <a:p>
            <a:r>
              <a:rPr kumimoji="1" lang="zh-CN" altLang="en-US" dirty="0"/>
              <a:t>多模态模型</a:t>
            </a:r>
          </a:p>
        </p:txBody>
      </p:sp>
      <p:sp>
        <p:nvSpPr>
          <p:cNvPr id="3" name="内容占位符 2">
            <a:extLst>
              <a:ext uri="{FF2B5EF4-FFF2-40B4-BE49-F238E27FC236}">
                <a16:creationId xmlns:a16="http://schemas.microsoft.com/office/drawing/2014/main" id="{AE6424A7-6082-C724-B097-9D4747C32BEE}"/>
              </a:ext>
            </a:extLst>
          </p:cNvPr>
          <p:cNvSpPr>
            <a:spLocks noGrp="1"/>
          </p:cNvSpPr>
          <p:nvPr>
            <p:ph idx="1"/>
          </p:nvPr>
        </p:nvSpPr>
        <p:spPr/>
        <p:txBody>
          <a:bodyPr/>
          <a:lstStyle/>
          <a:p>
            <a:r>
              <a:rPr kumimoji="1" lang="en-US" altLang="zh-CN" dirty="0">
                <a:latin typeface="Times New Roman" panose="02020603050405020304" pitchFamily="18" charset="0"/>
              </a:rPr>
              <a:t>Clip</a:t>
            </a:r>
            <a:r>
              <a:rPr kumimoji="1" lang="zh-CN" altLang="en-US" dirty="0">
                <a:latin typeface="Times New Roman" panose="02020603050405020304" pitchFamily="18" charset="0"/>
              </a:rPr>
              <a:t> </a:t>
            </a:r>
            <a:r>
              <a:rPr kumimoji="1" lang="en-US" altLang="zh-CN" dirty="0">
                <a:latin typeface="Times New Roman" panose="02020603050405020304" pitchFamily="18" charset="0"/>
              </a:rPr>
              <a:t>model (</a:t>
            </a:r>
            <a:r>
              <a:rPr lang="en" altLang="zh-CN" dirty="0">
                <a:latin typeface="Times New Roman" panose="02020603050405020304" pitchFamily="18" charset="0"/>
              </a:rPr>
              <a:t>Contrastive Language-Image Pre-training</a:t>
            </a:r>
            <a:r>
              <a:rPr kumimoji="1" lang="en-US" altLang="zh-CN" dirty="0">
                <a:latin typeface="Times New Roman" panose="02020603050405020304" pitchFamily="18" charset="0"/>
              </a:rPr>
              <a:t>)</a:t>
            </a:r>
            <a:endParaRPr kumimoji="1" lang="zh-CN" altLang="en-US" dirty="0">
              <a:latin typeface="Times New Roman" panose="02020603050405020304" pitchFamily="18" charset="0"/>
            </a:endParaRPr>
          </a:p>
          <a:p>
            <a:endParaRPr kumimoji="1" lang="zh-CN" altLang="en-US" dirty="0">
              <a:latin typeface="Times New Roman" panose="02020603050405020304" pitchFamily="18" charset="0"/>
            </a:endParaRPr>
          </a:p>
        </p:txBody>
      </p:sp>
      <p:pic>
        <p:nvPicPr>
          <p:cNvPr id="4" name="图片 3">
            <a:extLst>
              <a:ext uri="{FF2B5EF4-FFF2-40B4-BE49-F238E27FC236}">
                <a16:creationId xmlns:a16="http://schemas.microsoft.com/office/drawing/2014/main" id="{AC0E34EB-0325-ACB4-D145-1DF55017755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74127" y="1583934"/>
            <a:ext cx="6556015" cy="4446259"/>
          </a:xfrm>
          <a:prstGeom prst="rect">
            <a:avLst/>
          </a:prstGeom>
        </p:spPr>
      </p:pic>
      <p:sp>
        <p:nvSpPr>
          <p:cNvPr id="6" name="文本框 5">
            <a:extLst>
              <a:ext uri="{FF2B5EF4-FFF2-40B4-BE49-F238E27FC236}">
                <a16:creationId xmlns:a16="http://schemas.microsoft.com/office/drawing/2014/main" id="{FD82C81A-38C7-2A03-BFCD-E56FCA8E5530}"/>
              </a:ext>
            </a:extLst>
          </p:cNvPr>
          <p:cNvSpPr txBox="1"/>
          <p:nvPr/>
        </p:nvSpPr>
        <p:spPr>
          <a:xfrm>
            <a:off x="0" y="6334780"/>
            <a:ext cx="10981509" cy="523220"/>
          </a:xfrm>
          <a:prstGeom prst="rect">
            <a:avLst/>
          </a:prstGeom>
          <a:noFill/>
        </p:spPr>
        <p:txBody>
          <a:bodyPr wrap="square">
            <a:spAutoFit/>
          </a:bodyPr>
          <a:lstStyle/>
          <a:p>
            <a:r>
              <a:rPr lang="en" altLang="zh-CN" sz="1400" dirty="0">
                <a:solidFill>
                  <a:schemeClr val="bg1"/>
                </a:solidFill>
              </a:rPr>
              <a:t>Radford, Alec, Jong </a:t>
            </a:r>
            <a:r>
              <a:rPr lang="en" altLang="zh-CN" sz="1400" dirty="0" err="1">
                <a:solidFill>
                  <a:schemeClr val="bg1"/>
                </a:solidFill>
              </a:rPr>
              <a:t>Wook</a:t>
            </a:r>
            <a:r>
              <a:rPr lang="en" altLang="zh-CN" sz="1400" dirty="0">
                <a:solidFill>
                  <a:schemeClr val="bg1"/>
                </a:solidFill>
              </a:rPr>
              <a:t> Kim, Chris </a:t>
            </a:r>
            <a:r>
              <a:rPr lang="en" altLang="zh-CN" sz="1400" dirty="0" err="1">
                <a:solidFill>
                  <a:schemeClr val="bg1"/>
                </a:solidFill>
              </a:rPr>
              <a:t>Hallacy</a:t>
            </a:r>
            <a:r>
              <a:rPr lang="en" altLang="zh-CN" sz="1400" dirty="0">
                <a:solidFill>
                  <a:schemeClr val="bg1"/>
                </a:solidFill>
              </a:rPr>
              <a:t>, Aditya Ramesh, Gabriel Goh, </a:t>
            </a:r>
            <a:r>
              <a:rPr lang="en" altLang="zh-CN" sz="1400" dirty="0" err="1">
                <a:solidFill>
                  <a:schemeClr val="bg1"/>
                </a:solidFill>
              </a:rPr>
              <a:t>Sandhini</a:t>
            </a:r>
            <a:r>
              <a:rPr lang="en" altLang="zh-CN" sz="1400" dirty="0">
                <a:solidFill>
                  <a:schemeClr val="bg1"/>
                </a:solidFill>
              </a:rPr>
              <a:t> Agarwal, Girish Sastry et al. "Learning transferable visual models from natural language supervision." In </a:t>
            </a:r>
            <a:r>
              <a:rPr lang="en" altLang="zh-CN" sz="1400" i="1" dirty="0">
                <a:solidFill>
                  <a:schemeClr val="bg1"/>
                </a:solidFill>
              </a:rPr>
              <a:t>International conference on machine learning</a:t>
            </a:r>
            <a:r>
              <a:rPr lang="en" altLang="zh-CN" sz="1400" dirty="0">
                <a:solidFill>
                  <a:schemeClr val="bg1"/>
                </a:solidFill>
              </a:rPr>
              <a:t>, pp. 8748-8763. PMLR, 2021.</a:t>
            </a:r>
            <a:endParaRPr lang="zh-CN" altLang="en-US" sz="1400" dirty="0">
              <a:solidFill>
                <a:schemeClr val="bg1"/>
              </a:solidFill>
            </a:endParaRPr>
          </a:p>
        </p:txBody>
      </p:sp>
      <p:sp>
        <p:nvSpPr>
          <p:cNvPr id="7" name="文本框 6">
            <a:extLst>
              <a:ext uri="{FF2B5EF4-FFF2-40B4-BE49-F238E27FC236}">
                <a16:creationId xmlns:a16="http://schemas.microsoft.com/office/drawing/2014/main" id="{CD8CD79D-FF19-4CE5-E586-43D3143DC3CB}"/>
              </a:ext>
            </a:extLst>
          </p:cNvPr>
          <p:cNvSpPr txBox="1"/>
          <p:nvPr/>
        </p:nvSpPr>
        <p:spPr>
          <a:xfrm>
            <a:off x="8109131" y="1766016"/>
            <a:ext cx="3329336" cy="2251322"/>
          </a:xfrm>
          <a:prstGeom prst="rect">
            <a:avLst/>
          </a:prstGeom>
          <a:noFill/>
        </p:spPr>
        <p:txBody>
          <a:bodyPr wrap="square" rtlCol="0">
            <a:spAutoFit/>
          </a:bodyPr>
          <a:lstStyle/>
          <a:p>
            <a:pPr marL="342900" indent="-342900" algn="l">
              <a:lnSpc>
                <a:spcPct val="150000"/>
              </a:lnSpc>
              <a:buFont typeface="Wingdings" pitchFamily="2" charset="2"/>
              <a:buChar char="p"/>
            </a:pPr>
            <a:r>
              <a:rPr kumimoji="1" lang="zh-CN" altLang="en-US" sz="2400" dirty="0">
                <a:solidFill>
                  <a:schemeClr val="tx2"/>
                </a:solidFill>
                <a:ea typeface="微软雅黑" panose="020B0503020204020204" pitchFamily="34" charset="-122"/>
              </a:rPr>
              <a:t>文本和图片分别进行编码，再将编码对齐</a:t>
            </a:r>
            <a:endParaRPr kumimoji="1" lang="en-US" altLang="zh-CN" sz="2400" dirty="0">
              <a:solidFill>
                <a:schemeClr val="tx2"/>
              </a:solidFill>
              <a:ea typeface="微软雅黑" panose="020B0503020204020204" pitchFamily="34" charset="-122"/>
            </a:endParaRPr>
          </a:p>
          <a:p>
            <a:pPr marL="342900" indent="-342900" algn="l">
              <a:lnSpc>
                <a:spcPct val="150000"/>
              </a:lnSpc>
              <a:buFont typeface="Wingdings" pitchFamily="2" charset="2"/>
              <a:buChar char="p"/>
            </a:pPr>
            <a:r>
              <a:rPr kumimoji="1" lang="zh-CN" altLang="en-US" sz="2400" dirty="0">
                <a:solidFill>
                  <a:schemeClr val="tx2"/>
                </a:solidFill>
                <a:ea typeface="微软雅黑" panose="020B0503020204020204" pitchFamily="34" charset="-122"/>
              </a:rPr>
              <a:t>对比学习，匹配的相似度高，非匹配的低</a:t>
            </a:r>
          </a:p>
        </p:txBody>
      </p:sp>
    </p:spTree>
    <p:extLst>
      <p:ext uri="{BB962C8B-B14F-4D97-AF65-F5344CB8AC3E}">
        <p14:creationId xmlns:p14="http://schemas.microsoft.com/office/powerpoint/2010/main" val="3909390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A12642E-0B88-561A-A7A7-655557A8CF95}"/>
              </a:ext>
            </a:extLst>
          </p:cNvPr>
          <p:cNvSpPr txBox="1"/>
          <p:nvPr/>
        </p:nvSpPr>
        <p:spPr>
          <a:xfrm>
            <a:off x="256032" y="2804160"/>
            <a:ext cx="11935968" cy="830997"/>
          </a:xfrm>
          <a:prstGeom prst="rect">
            <a:avLst/>
          </a:prstGeom>
          <a:noFill/>
        </p:spPr>
        <p:txBody>
          <a:bodyPr wrap="square" rtlCol="0">
            <a:spAutoFit/>
          </a:bodyPr>
          <a:lstStyle/>
          <a:p>
            <a:pPr algn="ctr"/>
            <a:r>
              <a:rPr kumimoji="1" lang="zh-CN" altLang="en-US" sz="4800" b="1" dirty="0">
                <a:ea typeface="微软雅黑" panose="020B0503020204020204" pitchFamily="34" charset="-122"/>
              </a:rPr>
              <a:t>在训练模型的过程中有哪些技术？</a:t>
            </a:r>
          </a:p>
        </p:txBody>
      </p:sp>
    </p:spTree>
    <p:extLst>
      <p:ext uri="{BB962C8B-B14F-4D97-AF65-F5344CB8AC3E}">
        <p14:creationId xmlns:p14="http://schemas.microsoft.com/office/powerpoint/2010/main" val="2037897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118158-D37E-9209-BCD0-ACECB1757D5C}"/>
              </a:ext>
            </a:extLst>
          </p:cNvPr>
          <p:cNvSpPr>
            <a:spLocks noGrp="1"/>
          </p:cNvSpPr>
          <p:nvPr>
            <p:ph type="title"/>
          </p:nvPr>
        </p:nvSpPr>
        <p:spPr/>
        <p:txBody>
          <a:bodyPr/>
          <a:lstStyle/>
          <a:p>
            <a:r>
              <a:rPr kumimoji="1" lang="zh-CN" altLang="en-US" dirty="0"/>
              <a:t>预训练（</a:t>
            </a:r>
            <a:r>
              <a:rPr kumimoji="1" lang="en-US" altLang="zh-CN" dirty="0"/>
              <a:t>Pretrain</a:t>
            </a:r>
            <a:r>
              <a:rPr kumimoji="1" lang="zh-CN" altLang="en-US" dirty="0"/>
              <a:t>）</a:t>
            </a:r>
          </a:p>
        </p:txBody>
      </p:sp>
      <p:sp>
        <p:nvSpPr>
          <p:cNvPr id="3" name="内容占位符 2">
            <a:extLst>
              <a:ext uri="{FF2B5EF4-FFF2-40B4-BE49-F238E27FC236}">
                <a16:creationId xmlns:a16="http://schemas.microsoft.com/office/drawing/2014/main" id="{362EF188-FFD4-9641-9D22-3C53076A23CB}"/>
              </a:ext>
            </a:extLst>
          </p:cNvPr>
          <p:cNvSpPr>
            <a:spLocks noGrp="1"/>
          </p:cNvSpPr>
          <p:nvPr>
            <p:ph idx="1"/>
          </p:nvPr>
        </p:nvSpPr>
        <p:spPr>
          <a:xfrm>
            <a:off x="381242" y="981154"/>
            <a:ext cx="11429516" cy="5233215"/>
          </a:xfrm>
        </p:spPr>
        <p:txBody>
          <a:bodyPr/>
          <a:lstStyle/>
          <a:p>
            <a:pPr marL="342900" indent="-342900">
              <a:buFont typeface="Wingdings" pitchFamily="2" charset="2"/>
              <a:buChar char="p"/>
            </a:pPr>
            <a:r>
              <a:rPr lang="en-US" altLang="zh-CN" dirty="0">
                <a:latin typeface="微软雅黑" panose="020B0503020204020204" charset="-122"/>
                <a:ea typeface="微软雅黑" panose="020B0503020204020204" charset="-122"/>
              </a:rPr>
              <a:t>Next Token Prediction</a:t>
            </a:r>
            <a:r>
              <a:rPr lang="zh-CN" altLang="en-US" dirty="0">
                <a:latin typeface="微软雅黑" panose="020B0503020204020204" charset="-122"/>
                <a:ea typeface="微软雅黑" panose="020B0503020204020204" charset="-122"/>
              </a:rPr>
              <a:t>框架</a:t>
            </a:r>
            <a:endParaRPr kumimoji="1" lang="zh-CN" altLang="en-US" dirty="0"/>
          </a:p>
        </p:txBody>
      </p:sp>
      <p:pic>
        <p:nvPicPr>
          <p:cNvPr id="17" name="图片 16">
            <a:extLst>
              <a:ext uri="{FF2B5EF4-FFF2-40B4-BE49-F238E27FC236}">
                <a16:creationId xmlns:a16="http://schemas.microsoft.com/office/drawing/2014/main" id="{00FD5DA7-9CEB-F0CA-8399-BC1925C75555}"/>
              </a:ext>
            </a:extLst>
          </p:cNvPr>
          <p:cNvPicPr>
            <a:picLocks noChangeAspect="1"/>
          </p:cNvPicPr>
          <p:nvPr/>
        </p:nvPicPr>
        <p:blipFill>
          <a:blip r:embed="rId2">
            <a:clrChange>
              <a:clrFrom>
                <a:srgbClr val="FFFFFF">
                  <a:alpha val="100000"/>
                </a:srgbClr>
              </a:clrFrom>
              <a:clrTo>
                <a:srgbClr val="FFFFFF">
                  <a:alpha val="100000"/>
                  <a:alpha val="0"/>
                </a:srgbClr>
              </a:clrTo>
            </a:clrChange>
          </a:blip>
          <a:srcRect r="4342"/>
          <a:stretch>
            <a:fillRect/>
          </a:stretch>
        </p:blipFill>
        <p:spPr>
          <a:xfrm>
            <a:off x="880110" y="1655445"/>
            <a:ext cx="2797810" cy="2014855"/>
          </a:xfrm>
          <a:prstGeom prst="rect">
            <a:avLst/>
          </a:prstGeom>
          <a:ln>
            <a:noFill/>
          </a:ln>
        </p:spPr>
      </p:pic>
      <p:pic>
        <p:nvPicPr>
          <p:cNvPr id="18" name="图片 17">
            <a:extLst>
              <a:ext uri="{FF2B5EF4-FFF2-40B4-BE49-F238E27FC236}">
                <a16:creationId xmlns:a16="http://schemas.microsoft.com/office/drawing/2014/main" id="{2ACD659D-5A09-E5D0-073F-606F41566762}"/>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8109585" y="1655445"/>
            <a:ext cx="2857500" cy="1936750"/>
          </a:xfrm>
          <a:prstGeom prst="rect">
            <a:avLst/>
          </a:prstGeom>
          <a:ln>
            <a:noFill/>
          </a:ln>
        </p:spPr>
      </p:pic>
      <p:sp>
        <p:nvSpPr>
          <p:cNvPr id="19" name="圆角矩形 18">
            <a:extLst>
              <a:ext uri="{FF2B5EF4-FFF2-40B4-BE49-F238E27FC236}">
                <a16:creationId xmlns:a16="http://schemas.microsoft.com/office/drawing/2014/main" id="{389CECD2-BE7E-94BE-18CA-8E403F05DC78}"/>
              </a:ext>
            </a:extLst>
          </p:cNvPr>
          <p:cNvSpPr/>
          <p:nvPr/>
        </p:nvSpPr>
        <p:spPr>
          <a:xfrm>
            <a:off x="5055870" y="2010410"/>
            <a:ext cx="1675765" cy="1304925"/>
          </a:xfrm>
          <a:prstGeom prst="roundRect">
            <a:avLst/>
          </a:prstGeom>
          <a:solidFill>
            <a:schemeClr val="accent6">
              <a:lumMod val="40000"/>
              <a:lumOff val="60000"/>
            </a:schemeClr>
          </a:solidFill>
          <a:ln w="12700" cap="flat" cmpd="sng" algn="ctr">
            <a:solidFill>
              <a:schemeClr val="tx2"/>
            </a:solidFill>
            <a:prstDash val="solid"/>
            <a:miter lim="800000"/>
          </a:ln>
        </p:spPr>
        <p:txBody>
          <a:bodyPr rtlCol="0" anchor="ctr"/>
          <a:lstStyle/>
          <a:p>
            <a:pPr algn="ctr"/>
            <a:r>
              <a:rPr lang="zh-CN" altLang="en-US" dirty="0">
                <a:solidFill>
                  <a:schemeClr val="tx2"/>
                </a:solidFill>
              </a:rPr>
              <a:t>语言模型</a:t>
            </a:r>
          </a:p>
        </p:txBody>
      </p:sp>
      <p:sp>
        <p:nvSpPr>
          <p:cNvPr id="20" name="右箭头 19">
            <a:extLst>
              <a:ext uri="{FF2B5EF4-FFF2-40B4-BE49-F238E27FC236}">
                <a16:creationId xmlns:a16="http://schemas.microsoft.com/office/drawing/2014/main" id="{C42359A9-48CD-3686-D989-C2B6014AB842}"/>
              </a:ext>
            </a:extLst>
          </p:cNvPr>
          <p:cNvSpPr/>
          <p:nvPr/>
        </p:nvSpPr>
        <p:spPr>
          <a:xfrm>
            <a:off x="3854450" y="2464435"/>
            <a:ext cx="979170" cy="318770"/>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endParaRPr>
          </a:p>
        </p:txBody>
      </p:sp>
      <p:sp>
        <p:nvSpPr>
          <p:cNvPr id="21" name="右箭头 20">
            <a:extLst>
              <a:ext uri="{FF2B5EF4-FFF2-40B4-BE49-F238E27FC236}">
                <a16:creationId xmlns:a16="http://schemas.microsoft.com/office/drawing/2014/main" id="{C0BD3A2C-AD12-AF1C-6F34-BAEA2DF34AAE}"/>
              </a:ext>
            </a:extLst>
          </p:cNvPr>
          <p:cNvSpPr/>
          <p:nvPr/>
        </p:nvSpPr>
        <p:spPr>
          <a:xfrm>
            <a:off x="6953885" y="2464435"/>
            <a:ext cx="979170" cy="318770"/>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endParaRPr>
          </a:p>
        </p:txBody>
      </p:sp>
      <p:sp>
        <p:nvSpPr>
          <p:cNvPr id="22" name="文本框 21">
            <a:extLst>
              <a:ext uri="{FF2B5EF4-FFF2-40B4-BE49-F238E27FC236}">
                <a16:creationId xmlns:a16="http://schemas.microsoft.com/office/drawing/2014/main" id="{76E68077-744F-E6BD-C323-FB2A3CFA7858}"/>
              </a:ext>
            </a:extLst>
          </p:cNvPr>
          <p:cNvSpPr txBox="1"/>
          <p:nvPr/>
        </p:nvSpPr>
        <p:spPr>
          <a:xfrm>
            <a:off x="2874645" y="1844675"/>
            <a:ext cx="837565" cy="306705"/>
          </a:xfrm>
          <a:prstGeom prst="rect">
            <a:avLst/>
          </a:prstGeom>
          <a:noFill/>
          <a:ln>
            <a:noFill/>
          </a:ln>
        </p:spPr>
        <p:txBody>
          <a:bodyPr wrap="square" rtlCol="0">
            <a:spAutoFit/>
          </a:bodyPr>
          <a:lstStyle/>
          <a:p>
            <a:r>
              <a:rPr lang="zh-CN" altLang="en-US" sz="1400">
                <a:solidFill>
                  <a:schemeClr val="tx2"/>
                </a:solidFill>
              </a:rPr>
              <a:t>句长</a:t>
            </a:r>
          </a:p>
        </p:txBody>
      </p:sp>
      <p:sp>
        <p:nvSpPr>
          <p:cNvPr id="23" name="文本框 22">
            <a:extLst>
              <a:ext uri="{FF2B5EF4-FFF2-40B4-BE49-F238E27FC236}">
                <a16:creationId xmlns:a16="http://schemas.microsoft.com/office/drawing/2014/main" id="{4A21AA03-2FAF-64D6-CD9F-FC0511803E5F}"/>
              </a:ext>
            </a:extLst>
          </p:cNvPr>
          <p:cNvSpPr txBox="1"/>
          <p:nvPr/>
        </p:nvSpPr>
        <p:spPr>
          <a:xfrm>
            <a:off x="2631440" y="3206750"/>
            <a:ext cx="2424430" cy="306705"/>
          </a:xfrm>
          <a:prstGeom prst="rect">
            <a:avLst/>
          </a:prstGeom>
          <a:noFill/>
          <a:ln>
            <a:noFill/>
          </a:ln>
        </p:spPr>
        <p:txBody>
          <a:bodyPr wrap="square" rtlCol="0">
            <a:spAutoFit/>
          </a:bodyPr>
          <a:lstStyle/>
          <a:p>
            <a:r>
              <a:rPr lang="zh-CN" altLang="en-US" sz="1400" dirty="0">
                <a:solidFill>
                  <a:schemeClr val="tx2"/>
                </a:solidFill>
              </a:rPr>
              <a:t>每个</a:t>
            </a:r>
            <a:r>
              <a:rPr lang="en-US" altLang="zh-CN" sz="1400" dirty="0">
                <a:solidFill>
                  <a:schemeClr val="tx2"/>
                </a:solidFill>
              </a:rPr>
              <a:t>Token</a:t>
            </a:r>
            <a:r>
              <a:rPr lang="zh-CN" altLang="en-US" sz="1400" dirty="0">
                <a:solidFill>
                  <a:schemeClr val="tx2"/>
                </a:solidFill>
              </a:rPr>
              <a:t>的表示向量维度</a:t>
            </a:r>
          </a:p>
        </p:txBody>
      </p:sp>
      <p:cxnSp>
        <p:nvCxnSpPr>
          <p:cNvPr id="24" name="直接箭头连接符 15">
            <a:extLst>
              <a:ext uri="{FF2B5EF4-FFF2-40B4-BE49-F238E27FC236}">
                <a16:creationId xmlns:a16="http://schemas.microsoft.com/office/drawing/2014/main" id="{2ACDD7D1-BF80-5EC4-CA96-503334D4A4DF}"/>
              </a:ext>
            </a:extLst>
          </p:cNvPr>
          <p:cNvCxnSpPr/>
          <p:nvPr/>
        </p:nvCxnSpPr>
        <p:spPr>
          <a:xfrm>
            <a:off x="3202305" y="2151380"/>
            <a:ext cx="80010" cy="24130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16">
            <a:extLst>
              <a:ext uri="{FF2B5EF4-FFF2-40B4-BE49-F238E27FC236}">
                <a16:creationId xmlns:a16="http://schemas.microsoft.com/office/drawing/2014/main" id="{6F83EEA0-4C0E-D796-57BC-A7E0F76E886D}"/>
              </a:ext>
            </a:extLst>
          </p:cNvPr>
          <p:cNvCxnSpPr/>
          <p:nvPr/>
        </p:nvCxnSpPr>
        <p:spPr>
          <a:xfrm flipH="1" flipV="1">
            <a:off x="3589020" y="2691130"/>
            <a:ext cx="169545" cy="474345"/>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sp>
        <p:nvSpPr>
          <p:cNvPr id="26" name="文本框 25">
            <a:extLst>
              <a:ext uri="{FF2B5EF4-FFF2-40B4-BE49-F238E27FC236}">
                <a16:creationId xmlns:a16="http://schemas.microsoft.com/office/drawing/2014/main" id="{989EEBE6-8349-83BB-D9B4-6B92546F1AF3}"/>
              </a:ext>
            </a:extLst>
          </p:cNvPr>
          <p:cNvSpPr txBox="1"/>
          <p:nvPr/>
        </p:nvSpPr>
        <p:spPr>
          <a:xfrm>
            <a:off x="381635" y="3869690"/>
            <a:ext cx="5577840" cy="1753235"/>
          </a:xfrm>
          <a:prstGeom prst="rect">
            <a:avLst/>
          </a:prstGeom>
          <a:noFill/>
        </p:spPr>
        <p:txBody>
          <a:bodyPr wrap="square" rtlCol="0">
            <a:spAutoFit/>
          </a:bodyPr>
          <a:lstStyle/>
          <a:p>
            <a:pPr indent="0" fontAlgn="auto">
              <a:lnSpc>
                <a:spcPct val="150000"/>
              </a:lnSpc>
            </a:pPr>
            <a:r>
              <a:rPr lang="zh-CN" altLang="en-US" dirty="0">
                <a:solidFill>
                  <a:schemeClr val="tx2"/>
                </a:solidFill>
                <a:latin typeface="Times New Roman" panose="02020603050405020304" pitchFamily="18" charset="0"/>
                <a:ea typeface="微软雅黑" panose="020B0503020204020204" pitchFamily="34" charset="-122"/>
              </a:rPr>
              <a:t>假设输入为：</a:t>
            </a:r>
          </a:p>
          <a:p>
            <a:pPr indent="0" fontAlgn="auto">
              <a:lnSpc>
                <a:spcPct val="150000"/>
              </a:lnSpc>
            </a:pPr>
            <a:r>
              <a:rPr lang="zh-CN" altLang="en-US" dirty="0">
                <a:solidFill>
                  <a:schemeClr val="tx2"/>
                </a:solidFill>
                <a:latin typeface="Times New Roman" panose="02020603050405020304" pitchFamily="18" charset="0"/>
                <a:ea typeface="微软雅黑" panose="020B0503020204020204" pitchFamily="34" charset="-122"/>
              </a:rPr>
              <a:t>模型的预测输出为：</a:t>
            </a:r>
          </a:p>
          <a:p>
            <a:pPr indent="0" fontAlgn="auto">
              <a:lnSpc>
                <a:spcPct val="150000"/>
              </a:lnSpc>
            </a:pPr>
            <a:r>
              <a:rPr lang="zh-CN" altLang="en-US" dirty="0">
                <a:solidFill>
                  <a:schemeClr val="tx2"/>
                </a:solidFill>
                <a:latin typeface="Times New Roman" panose="02020603050405020304" pitchFamily="18" charset="0"/>
                <a:ea typeface="微软雅黑" panose="020B0503020204020204" pitchFamily="34" charset="-122"/>
              </a:rPr>
              <a:t>根据</a:t>
            </a:r>
            <a:r>
              <a:rPr lang="en-US" altLang="zh-CN" dirty="0">
                <a:solidFill>
                  <a:schemeClr val="tx2"/>
                </a:solidFill>
                <a:latin typeface="Times New Roman" panose="02020603050405020304" pitchFamily="18" charset="0"/>
                <a:ea typeface="微软雅黑" panose="020B0503020204020204" pitchFamily="34" charset="-122"/>
              </a:rPr>
              <a:t>Next Token Prediction</a:t>
            </a:r>
            <a:r>
              <a:rPr lang="zh-CN" altLang="en-US" dirty="0">
                <a:solidFill>
                  <a:schemeClr val="tx2"/>
                </a:solidFill>
                <a:latin typeface="Times New Roman" panose="02020603050405020304" pitchFamily="18" charset="0"/>
                <a:ea typeface="微软雅黑" panose="020B0503020204020204" pitchFamily="34" charset="-122"/>
              </a:rPr>
              <a:t>，我们期望它的输出为：</a:t>
            </a:r>
          </a:p>
          <a:p>
            <a:pPr indent="0" fontAlgn="auto">
              <a:lnSpc>
                <a:spcPct val="150000"/>
              </a:lnSpc>
            </a:pPr>
            <a:r>
              <a:rPr lang="zh-CN" altLang="en-US" dirty="0">
                <a:solidFill>
                  <a:schemeClr val="tx2"/>
                </a:solidFill>
                <a:latin typeface="Times New Roman" panose="02020603050405020304" pitchFamily="18" charset="0"/>
                <a:ea typeface="微软雅黑" panose="020B0503020204020204" pitchFamily="34" charset="-122"/>
              </a:rPr>
              <a:t>于是可以对其计算交叉熵损失：</a:t>
            </a:r>
          </a:p>
        </p:txBody>
      </p:sp>
      <p:pic>
        <p:nvPicPr>
          <p:cNvPr id="27" name="图片 26">
            <a:extLst>
              <a:ext uri="{FF2B5EF4-FFF2-40B4-BE49-F238E27FC236}">
                <a16:creationId xmlns:a16="http://schemas.microsoft.com/office/drawing/2014/main" id="{17D90952-0250-6B1C-2533-68C7532B631F}"/>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1895475" y="4020820"/>
            <a:ext cx="2459355" cy="325120"/>
          </a:xfrm>
          <a:prstGeom prst="rect">
            <a:avLst/>
          </a:prstGeom>
        </p:spPr>
      </p:pic>
      <p:pic>
        <p:nvPicPr>
          <p:cNvPr id="28" name="图片 27">
            <a:extLst>
              <a:ext uri="{FF2B5EF4-FFF2-40B4-BE49-F238E27FC236}">
                <a16:creationId xmlns:a16="http://schemas.microsoft.com/office/drawing/2014/main" id="{82E7FF72-6937-2B50-2F55-CB82C6423557}"/>
              </a:ext>
            </a:extLst>
          </p:cNvPr>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5668645" y="4832985"/>
            <a:ext cx="2833370" cy="317500"/>
          </a:xfrm>
          <a:prstGeom prst="rect">
            <a:avLst/>
          </a:prstGeom>
        </p:spPr>
      </p:pic>
      <p:pic>
        <p:nvPicPr>
          <p:cNvPr id="29" name="图片 28">
            <a:extLst>
              <a:ext uri="{FF2B5EF4-FFF2-40B4-BE49-F238E27FC236}">
                <a16:creationId xmlns:a16="http://schemas.microsoft.com/office/drawing/2014/main" id="{86BB16D7-3B31-10A4-7AF6-A15289DA2367}"/>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2548890" y="4403090"/>
            <a:ext cx="2747010" cy="342265"/>
          </a:xfrm>
          <a:prstGeom prst="rect">
            <a:avLst/>
          </a:prstGeom>
        </p:spPr>
      </p:pic>
      <p:pic>
        <p:nvPicPr>
          <p:cNvPr id="30" name="图片 29">
            <a:extLst>
              <a:ext uri="{FF2B5EF4-FFF2-40B4-BE49-F238E27FC236}">
                <a16:creationId xmlns:a16="http://schemas.microsoft.com/office/drawing/2014/main" id="{0559CD9F-C6EB-4584-5233-073565C2A121}"/>
              </a:ext>
            </a:extLst>
          </p:cNvPr>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4392295" y="5377115"/>
            <a:ext cx="3540760" cy="766445"/>
          </a:xfrm>
          <a:prstGeom prst="rect">
            <a:avLst/>
          </a:prstGeom>
        </p:spPr>
      </p:pic>
    </p:spTree>
    <p:extLst>
      <p:ext uri="{BB962C8B-B14F-4D97-AF65-F5344CB8AC3E}">
        <p14:creationId xmlns:p14="http://schemas.microsoft.com/office/powerpoint/2010/main" val="1818076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7EF3A-838E-EF40-AB57-C1C9A4397A41}"/>
              </a:ext>
            </a:extLst>
          </p:cNvPr>
          <p:cNvSpPr>
            <a:spLocks noGrp="1"/>
          </p:cNvSpPr>
          <p:nvPr>
            <p:ph type="title"/>
          </p:nvPr>
        </p:nvSpPr>
        <p:spPr/>
        <p:txBody>
          <a:bodyPr/>
          <a:lstStyle/>
          <a:p>
            <a:r>
              <a:rPr lang="zh-CN" altLang="en-US" dirty="0"/>
              <a:t>预训练很贵！</a:t>
            </a:r>
          </a:p>
        </p:txBody>
      </p:sp>
      <p:sp>
        <p:nvSpPr>
          <p:cNvPr id="3" name="内容占位符 2">
            <a:extLst>
              <a:ext uri="{FF2B5EF4-FFF2-40B4-BE49-F238E27FC236}">
                <a16:creationId xmlns:a16="http://schemas.microsoft.com/office/drawing/2014/main" id="{5CB89313-CB7F-2CF3-2F1B-73521251A286}"/>
              </a:ext>
            </a:extLst>
          </p:cNvPr>
          <p:cNvSpPr>
            <a:spLocks noGrp="1"/>
          </p:cNvSpPr>
          <p:nvPr>
            <p:ph idx="1"/>
          </p:nvPr>
        </p:nvSpPr>
        <p:spPr/>
        <p:txBody>
          <a:bodyPr/>
          <a:lstStyle/>
          <a:p>
            <a:endParaRPr lang="zh-CN" altLang="en-US" dirty="0"/>
          </a:p>
        </p:txBody>
      </p:sp>
      <p:pic>
        <p:nvPicPr>
          <p:cNvPr id="1026" name="Picture 2" descr="A screenshot of Ilya Sutskever’s talk. He is on the left, and on the right the slide says: pre training as we know it will end. Compute is growing, better hardware, better algorithms, larger clusters. Data is not growing, we have but one internet, the fossil fuel of AI.">
            <a:extLst>
              <a:ext uri="{FF2B5EF4-FFF2-40B4-BE49-F238E27FC236}">
                <a16:creationId xmlns:a16="http://schemas.microsoft.com/office/drawing/2014/main" id="{6F3736DE-935C-3814-8895-829BFDDAF2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313"/>
          <a:stretch>
            <a:fillRect/>
          </a:stretch>
        </p:blipFill>
        <p:spPr bwMode="auto">
          <a:xfrm>
            <a:off x="1092200" y="766588"/>
            <a:ext cx="9912350" cy="554842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 screenshot of Ilya Sutskever’s talk. He is on the left, and on the right the slide says: pre training as we know it will end. Compute is growing, better hardware, better algorithms, larger clusters. Data is not growing, we have but one internet, the fossil fuel of AI.">
            <a:extLst>
              <a:ext uri="{FF2B5EF4-FFF2-40B4-BE49-F238E27FC236}">
                <a16:creationId xmlns:a16="http://schemas.microsoft.com/office/drawing/2014/main" id="{BEE8C2F3-6A14-62D1-F201-D6653966B60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458" r="59739"/>
          <a:stretch>
            <a:fillRect/>
          </a:stretch>
        </p:blipFill>
        <p:spPr bwMode="auto">
          <a:xfrm>
            <a:off x="6883400" y="2638360"/>
            <a:ext cx="4121150" cy="33909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9F5A0117-E5A9-D264-B3C6-4E53DBB37844}"/>
              </a:ext>
            </a:extLst>
          </p:cNvPr>
          <p:cNvSpPr txBox="1"/>
          <p:nvPr/>
        </p:nvSpPr>
        <p:spPr>
          <a:xfrm>
            <a:off x="1771650" y="5594350"/>
            <a:ext cx="2692400" cy="400110"/>
          </a:xfrm>
          <a:prstGeom prst="rect">
            <a:avLst/>
          </a:prstGeom>
          <a:noFill/>
        </p:spPr>
        <p:txBody>
          <a:bodyPr wrap="square" rtlCol="0">
            <a:spAutoFit/>
          </a:bodyPr>
          <a:lstStyle/>
          <a:p>
            <a:pPr algn="l"/>
            <a:r>
              <a:rPr lang="en-US" altLang="zh-CN" sz="2000" dirty="0"/>
              <a:t>2024NeurIPS</a:t>
            </a:r>
            <a:endParaRPr lang="zh-CN" altLang="en-US" sz="2000" dirty="0"/>
          </a:p>
        </p:txBody>
      </p:sp>
    </p:spTree>
    <p:extLst>
      <p:ext uri="{BB962C8B-B14F-4D97-AF65-F5344CB8AC3E}">
        <p14:creationId xmlns:p14="http://schemas.microsoft.com/office/powerpoint/2010/main" val="12415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27406-6C9A-5D66-509B-BDA8EB0FB452}"/>
              </a:ext>
            </a:extLst>
          </p:cNvPr>
          <p:cNvSpPr>
            <a:spLocks noGrp="1"/>
          </p:cNvSpPr>
          <p:nvPr>
            <p:ph type="title"/>
          </p:nvPr>
        </p:nvSpPr>
        <p:spPr/>
        <p:txBody>
          <a:bodyPr/>
          <a:lstStyle/>
          <a:p>
            <a:r>
              <a:rPr kumimoji="1" lang="zh-CN" altLang="en-US" dirty="0"/>
              <a:t>微调（</a:t>
            </a:r>
            <a:r>
              <a:rPr kumimoji="1" lang="en-US" altLang="zh-CN" dirty="0"/>
              <a:t>Fine</a:t>
            </a:r>
            <a:r>
              <a:rPr kumimoji="1" lang="zh-CN" altLang="en-US" dirty="0"/>
              <a:t> </a:t>
            </a:r>
            <a:r>
              <a:rPr kumimoji="1" lang="en-US" altLang="zh-CN" dirty="0"/>
              <a:t>tuning</a:t>
            </a:r>
            <a:r>
              <a:rPr kumimoji="1" lang="zh-CN" altLang="en-US" dirty="0"/>
              <a:t>）</a:t>
            </a:r>
          </a:p>
        </p:txBody>
      </p:sp>
      <p:sp>
        <p:nvSpPr>
          <p:cNvPr id="3" name="内容占位符 2">
            <a:extLst>
              <a:ext uri="{FF2B5EF4-FFF2-40B4-BE49-F238E27FC236}">
                <a16:creationId xmlns:a16="http://schemas.microsoft.com/office/drawing/2014/main" id="{E57CB761-B4A9-585F-1FA6-3C3E9EF49AED}"/>
              </a:ext>
            </a:extLst>
          </p:cNvPr>
          <p:cNvSpPr>
            <a:spLocks noGrp="1"/>
          </p:cNvSpPr>
          <p:nvPr>
            <p:ph idx="1"/>
          </p:nvPr>
        </p:nvSpPr>
        <p:spPr/>
        <p:txBody>
          <a:bodyPr>
            <a:normAutofit/>
          </a:bodyPr>
          <a:lstStyle/>
          <a:p>
            <a:pPr marL="342900" indent="-342900">
              <a:lnSpc>
                <a:spcPct val="150000"/>
              </a:lnSpc>
              <a:buFont typeface="Wingdings" pitchFamily="2" charset="2"/>
              <a:buChar char="p"/>
            </a:pPr>
            <a:r>
              <a:rPr kumimoji="1" lang="zh-CN" altLang="en-US" dirty="0">
                <a:latin typeface="Times New Roman" panose="02020603050405020304" pitchFamily="18" charset="0"/>
              </a:rPr>
              <a:t>在预训练的模型上通过特定的数据集继续进行训练</a:t>
            </a:r>
            <a:endParaRPr kumimoji="1" lang="en-US" altLang="zh-CN" dirty="0">
              <a:latin typeface="Times New Roman" panose="02020603050405020304" pitchFamily="18" charset="0"/>
            </a:endParaRPr>
          </a:p>
          <a:p>
            <a:pPr marL="342900" indent="-342900">
              <a:lnSpc>
                <a:spcPct val="150000"/>
              </a:lnSpc>
              <a:buFont typeface="Wingdings" pitchFamily="2" charset="2"/>
              <a:buChar char="p"/>
            </a:pPr>
            <a:r>
              <a:rPr kumimoji="1" lang="zh-CN" altLang="en-US" dirty="0">
                <a:latin typeface="Times New Roman" panose="02020603050405020304" pitchFamily="18" charset="0"/>
              </a:rPr>
              <a:t>在特定任务上可以达到更好的效果</a:t>
            </a:r>
            <a:endParaRPr kumimoji="1" lang="en-US" altLang="zh-CN" dirty="0">
              <a:latin typeface="Times New Roman" panose="02020603050405020304" pitchFamily="18" charset="0"/>
            </a:endParaRPr>
          </a:p>
          <a:p>
            <a:pPr marL="342900" indent="-342900">
              <a:lnSpc>
                <a:spcPct val="150000"/>
              </a:lnSpc>
              <a:buFont typeface="Wingdings" pitchFamily="2" charset="2"/>
              <a:buChar char="p"/>
            </a:pPr>
            <a:endParaRPr kumimoji="1" lang="en-US" altLang="zh-CN" dirty="0">
              <a:latin typeface="Times New Roman" panose="02020603050405020304" pitchFamily="18" charset="0"/>
            </a:endParaRPr>
          </a:p>
          <a:p>
            <a:pPr marL="342900" indent="-342900">
              <a:lnSpc>
                <a:spcPct val="150000"/>
              </a:lnSpc>
              <a:buFont typeface="Wingdings" pitchFamily="2" charset="2"/>
              <a:buChar char="l"/>
            </a:pPr>
            <a:r>
              <a:rPr kumimoji="1" lang="zh-CN" altLang="en-US" dirty="0">
                <a:latin typeface="Times New Roman" panose="02020603050405020304" pitchFamily="18" charset="0"/>
              </a:rPr>
              <a:t>直接进行微调：直接更新</a:t>
            </a:r>
            <a:r>
              <a:rPr kumimoji="1" lang="zh-CN" altLang="en-US" dirty="0">
                <a:solidFill>
                  <a:srgbClr val="5B9CD5"/>
                </a:solidFill>
                <a:latin typeface="Times New Roman" panose="02020603050405020304" pitchFamily="18" charset="0"/>
              </a:rPr>
              <a:t>蓝色部分</a:t>
            </a:r>
            <a:r>
              <a:rPr kumimoji="1" lang="zh-CN" altLang="en-US" dirty="0">
                <a:latin typeface="Times New Roman" panose="02020603050405020304" pitchFamily="18" charset="0"/>
              </a:rPr>
              <a:t>预训练参数</a:t>
            </a:r>
            <a:r>
              <a:rPr kumimoji="1" lang="en-US" altLang="zh-CN" dirty="0">
                <a:latin typeface="Times New Roman" panose="02020603050405020304" pitchFamily="18" charset="0"/>
              </a:rPr>
              <a:t> </a:t>
            </a:r>
            <a:r>
              <a:rPr kumimoji="1" lang="en-US" altLang="zh-CN" dirty="0">
                <a:solidFill>
                  <a:srgbClr val="5B9CD5"/>
                </a:solidFill>
                <a:latin typeface="Times New Roman" panose="02020603050405020304" pitchFamily="18" charset="0"/>
              </a:rPr>
              <a:t>W</a:t>
            </a:r>
          </a:p>
          <a:p>
            <a:pPr marL="342900" indent="-342900">
              <a:lnSpc>
                <a:spcPct val="150000"/>
              </a:lnSpc>
              <a:buFont typeface="Wingdings" pitchFamily="2" charset="2"/>
              <a:buChar char="l"/>
            </a:pPr>
            <a:r>
              <a:rPr kumimoji="1" lang="en-US" altLang="zh-CN" dirty="0" err="1">
                <a:latin typeface="Times New Roman" panose="02020603050405020304" pitchFamily="18" charset="0"/>
              </a:rPr>
              <a:t>LoRA</a:t>
            </a:r>
            <a:r>
              <a:rPr kumimoji="1" lang="en-US" altLang="zh-CN" dirty="0">
                <a:latin typeface="Times New Roman" panose="02020603050405020304" pitchFamily="18" charset="0"/>
              </a:rPr>
              <a:t> (Low Rank Adaption): </a:t>
            </a:r>
            <a:r>
              <a:rPr kumimoji="1" lang="zh-CN" altLang="en-US" dirty="0">
                <a:latin typeface="Times New Roman" panose="02020603050405020304" pitchFamily="18" charset="0"/>
              </a:rPr>
              <a:t>更新</a:t>
            </a:r>
            <a:r>
              <a:rPr kumimoji="1" lang="zh-CN" altLang="en-US" dirty="0">
                <a:solidFill>
                  <a:srgbClr val="EE7D2F"/>
                </a:solidFill>
                <a:latin typeface="Times New Roman" panose="02020603050405020304" pitchFamily="18" charset="0"/>
              </a:rPr>
              <a:t>橙色部分</a:t>
            </a:r>
            <a:r>
              <a:rPr kumimoji="1" lang="zh-CN" altLang="en-US" dirty="0">
                <a:latin typeface="Times New Roman" panose="02020603050405020304" pitchFamily="18" charset="0"/>
              </a:rPr>
              <a:t>参数</a:t>
            </a:r>
            <a:r>
              <a:rPr kumimoji="1" lang="en-US" altLang="zh-CN" dirty="0">
                <a:latin typeface="Times New Roman" panose="02020603050405020304" pitchFamily="18" charset="0"/>
              </a:rPr>
              <a:t> </a:t>
            </a:r>
            <a:r>
              <a:rPr kumimoji="1" lang="en-US" altLang="zh-CN" dirty="0">
                <a:solidFill>
                  <a:srgbClr val="EE7D2F"/>
                </a:solidFill>
                <a:latin typeface="Times New Roman" panose="02020603050405020304" pitchFamily="18" charset="0"/>
              </a:rPr>
              <a:t>AB</a:t>
            </a:r>
          </a:p>
          <a:p>
            <a:pPr marL="342900" indent="-342900">
              <a:lnSpc>
                <a:spcPct val="150000"/>
              </a:lnSpc>
              <a:buFont typeface="Wingdings" pitchFamily="2" charset="2"/>
              <a:buChar char="l"/>
            </a:pPr>
            <a:endParaRPr kumimoji="1" lang="en-US" altLang="zh-CN" dirty="0">
              <a:solidFill>
                <a:srgbClr val="EE7D2F"/>
              </a:solidFill>
              <a:latin typeface="Times New Roman" panose="02020603050405020304" pitchFamily="18" charset="0"/>
            </a:endParaRPr>
          </a:p>
          <a:p>
            <a:pPr marL="342900" indent="-342900">
              <a:lnSpc>
                <a:spcPct val="150000"/>
              </a:lnSpc>
              <a:buFont typeface="Wingdings" pitchFamily="2" charset="2"/>
              <a:buChar char="l"/>
            </a:pPr>
            <a:endParaRPr kumimoji="1" lang="en-US" altLang="zh-CN" dirty="0">
              <a:solidFill>
                <a:srgbClr val="EE7D2F"/>
              </a:solidFill>
              <a:latin typeface="Times New Roman" panose="02020603050405020304" pitchFamily="18" charset="0"/>
            </a:endParaRPr>
          </a:p>
          <a:p>
            <a:pPr marL="342900" indent="-342900">
              <a:lnSpc>
                <a:spcPct val="150000"/>
              </a:lnSpc>
              <a:buFont typeface="Wingdings" pitchFamily="2" charset="2"/>
              <a:buChar char="l"/>
            </a:pPr>
            <a:r>
              <a:rPr kumimoji="1" lang="zh-CN" altLang="en-US" dirty="0">
                <a:latin typeface="Times New Roman" panose="02020603050405020304" pitchFamily="18" charset="0"/>
              </a:rPr>
              <a:t>微调通常是通过监督学习的方式完成，此时也被称为</a:t>
            </a:r>
            <a:r>
              <a:rPr kumimoji="1" lang="en-US" altLang="zh-CN" dirty="0">
                <a:latin typeface="Times New Roman" panose="02020603050405020304" pitchFamily="18" charset="0"/>
              </a:rPr>
              <a:t> SFT (supervised fine tuning)</a:t>
            </a:r>
          </a:p>
        </p:txBody>
      </p:sp>
      <p:pic>
        <p:nvPicPr>
          <p:cNvPr id="4" name="图片 3">
            <a:extLst>
              <a:ext uri="{FF2B5EF4-FFF2-40B4-BE49-F238E27FC236}">
                <a16:creationId xmlns:a16="http://schemas.microsoft.com/office/drawing/2014/main" id="{0B6619DF-AD5B-1BF4-B87A-CB9351CDBC2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138177" y="782932"/>
            <a:ext cx="3672581" cy="3344980"/>
          </a:xfrm>
          <a:prstGeom prst="rect">
            <a:avLst/>
          </a:prstGeom>
        </p:spPr>
      </p:pic>
      <p:sp>
        <p:nvSpPr>
          <p:cNvPr id="6" name="文本框 5">
            <a:extLst>
              <a:ext uri="{FF2B5EF4-FFF2-40B4-BE49-F238E27FC236}">
                <a16:creationId xmlns:a16="http://schemas.microsoft.com/office/drawing/2014/main" id="{FD3DF24B-C74D-7BBD-0617-63413B03BF4C}"/>
              </a:ext>
            </a:extLst>
          </p:cNvPr>
          <p:cNvSpPr txBox="1"/>
          <p:nvPr/>
        </p:nvSpPr>
        <p:spPr>
          <a:xfrm>
            <a:off x="-1" y="6315010"/>
            <a:ext cx="10354733" cy="523220"/>
          </a:xfrm>
          <a:prstGeom prst="rect">
            <a:avLst/>
          </a:prstGeom>
          <a:noFill/>
        </p:spPr>
        <p:txBody>
          <a:bodyPr wrap="square">
            <a:spAutoFit/>
          </a:bodyPr>
          <a:lstStyle/>
          <a:p>
            <a:r>
              <a:rPr lang="en" altLang="zh-CN" sz="1400" dirty="0">
                <a:solidFill>
                  <a:schemeClr val="bg1"/>
                </a:solidFill>
              </a:rPr>
              <a:t>Hu, Edward J., </a:t>
            </a:r>
            <a:r>
              <a:rPr lang="en" altLang="zh-CN" sz="1400" dirty="0" err="1">
                <a:solidFill>
                  <a:schemeClr val="bg1"/>
                </a:solidFill>
              </a:rPr>
              <a:t>Yelong</a:t>
            </a:r>
            <a:r>
              <a:rPr lang="en" altLang="zh-CN" sz="1400" dirty="0">
                <a:solidFill>
                  <a:schemeClr val="bg1"/>
                </a:solidFill>
              </a:rPr>
              <a:t> Shen, Phillip Wallis, </a:t>
            </a:r>
            <a:r>
              <a:rPr lang="en" altLang="zh-CN" sz="1400" dirty="0" err="1">
                <a:solidFill>
                  <a:schemeClr val="bg1"/>
                </a:solidFill>
              </a:rPr>
              <a:t>Zeyuan</a:t>
            </a:r>
            <a:r>
              <a:rPr lang="en" altLang="zh-CN" sz="1400" dirty="0">
                <a:solidFill>
                  <a:schemeClr val="bg1"/>
                </a:solidFill>
              </a:rPr>
              <a:t> Allen-Zhu, </a:t>
            </a:r>
            <a:r>
              <a:rPr lang="en" altLang="zh-CN" sz="1400" dirty="0" err="1">
                <a:solidFill>
                  <a:schemeClr val="bg1"/>
                </a:solidFill>
              </a:rPr>
              <a:t>Yuanzhi</a:t>
            </a:r>
            <a:r>
              <a:rPr lang="en" altLang="zh-CN" sz="1400" dirty="0">
                <a:solidFill>
                  <a:schemeClr val="bg1"/>
                </a:solidFill>
              </a:rPr>
              <a:t> Li, </a:t>
            </a:r>
            <a:r>
              <a:rPr lang="en" altLang="zh-CN" sz="1400" dirty="0" err="1">
                <a:solidFill>
                  <a:schemeClr val="bg1"/>
                </a:solidFill>
              </a:rPr>
              <a:t>Shean</a:t>
            </a:r>
            <a:r>
              <a:rPr lang="en" altLang="zh-CN" sz="1400" dirty="0">
                <a:solidFill>
                  <a:schemeClr val="bg1"/>
                </a:solidFill>
              </a:rPr>
              <a:t> Wang, Lu Wang, and </a:t>
            </a:r>
            <a:r>
              <a:rPr lang="en" altLang="zh-CN" sz="1400" dirty="0" err="1">
                <a:solidFill>
                  <a:schemeClr val="bg1"/>
                </a:solidFill>
              </a:rPr>
              <a:t>Weizhu</a:t>
            </a:r>
            <a:r>
              <a:rPr lang="en" altLang="zh-CN" sz="1400" dirty="0">
                <a:solidFill>
                  <a:schemeClr val="bg1"/>
                </a:solidFill>
              </a:rPr>
              <a:t> Chen. "Lora: Low-rank adaptation of large language models." </a:t>
            </a:r>
            <a:r>
              <a:rPr lang="en" altLang="zh-CN" sz="1400" i="1" dirty="0" err="1">
                <a:solidFill>
                  <a:schemeClr val="bg1"/>
                </a:solidFill>
              </a:rPr>
              <a:t>arXiv</a:t>
            </a:r>
            <a:r>
              <a:rPr lang="en" altLang="zh-CN" sz="1400" i="1" dirty="0">
                <a:solidFill>
                  <a:schemeClr val="bg1"/>
                </a:solidFill>
              </a:rPr>
              <a:t> preprint arXiv:2106.09685</a:t>
            </a:r>
            <a:r>
              <a:rPr lang="en" altLang="zh-CN" sz="1400" dirty="0">
                <a:solidFill>
                  <a:schemeClr val="bg1"/>
                </a:solidFill>
              </a:rPr>
              <a:t> (2021).</a:t>
            </a:r>
            <a:endParaRPr lang="zh-CN" altLang="en-US" sz="1400" dirty="0">
              <a:solidFill>
                <a:schemeClr val="bg1"/>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615D7D0-E4C7-E090-5673-6969F636498D}"/>
                  </a:ext>
                </a:extLst>
              </p:cNvPr>
              <p:cNvSpPr txBox="1"/>
              <p:nvPr/>
            </p:nvSpPr>
            <p:spPr>
              <a:xfrm>
                <a:off x="-248217" y="4321354"/>
                <a:ext cx="10508357" cy="563937"/>
              </a:xfrm>
              <a:prstGeom prst="rect">
                <a:avLst/>
              </a:prstGeom>
              <a:noFill/>
            </p:spPr>
            <p:txBody>
              <a:bodyPr wrap="square" lIns="0" tIns="0" rIns="0" bIns="0" rtlCol="0">
                <a:spAutoFit/>
              </a:bodyPr>
              <a:lstStyle/>
              <a:p>
                <a:pPr algn="l"/>
                <a14:m>
                  <m:oMathPara xmlns:m="http://schemas.openxmlformats.org/officeDocument/2006/math">
                    <m:oMath>
                      <m:r>
                        <a:rPr kumimoji="1" lang="en-US" altLang="zh-CN" sz="3600" b="0" i="1" smtClean="0">
                          <a:solidFill>
                            <a:srgbClr val="000000"/>
                          </a:solidFill>
                          <a:latin typeface="Cambria Math" panose="02040503050406030204" pitchFamily="18" charset="0"/>
                        </a:rPr>
                        <m:t>ℎ</m:t>
                      </m:r>
                      <m:r>
                        <a:rPr kumimoji="1" lang="en-US" altLang="zh-CN" sz="3600" b="0" i="1" smtClean="0">
                          <a:solidFill>
                            <a:srgbClr val="000000"/>
                          </a:solidFill>
                          <a:latin typeface="Cambria Math" panose="02040503050406030204" pitchFamily="18" charset="0"/>
                        </a:rPr>
                        <m:t>=</m:t>
                      </m:r>
                      <m:r>
                        <a:rPr kumimoji="1" lang="en-US" altLang="zh-CN" sz="3600" b="0" i="1" smtClean="0">
                          <a:solidFill>
                            <a:srgbClr val="5B9CD5"/>
                          </a:solidFill>
                          <a:latin typeface="Cambria Math" panose="02040503050406030204" pitchFamily="18" charset="0"/>
                        </a:rPr>
                        <m:t>𝑊</m:t>
                      </m:r>
                      <m:r>
                        <a:rPr kumimoji="1" lang="en-US" altLang="zh-CN" sz="3600" b="0" i="1" smtClean="0">
                          <a:solidFill>
                            <a:srgbClr val="000000"/>
                          </a:solidFill>
                          <a:latin typeface="Cambria Math" panose="02040503050406030204" pitchFamily="18" charset="0"/>
                        </a:rPr>
                        <m:t>𝑥</m:t>
                      </m:r>
                      <m:r>
                        <a:rPr kumimoji="1" lang="en-US" altLang="zh-CN" sz="3600" b="0" i="1" smtClean="0">
                          <a:solidFill>
                            <a:srgbClr val="000000"/>
                          </a:solidFill>
                          <a:latin typeface="Cambria Math" panose="02040503050406030204" pitchFamily="18" charset="0"/>
                        </a:rPr>
                        <m:t>+</m:t>
                      </m:r>
                      <m:r>
                        <a:rPr kumimoji="1" lang="en-US" altLang="zh-CN" sz="3600" b="0" i="1" smtClean="0">
                          <a:solidFill>
                            <a:srgbClr val="EE7D2F"/>
                          </a:solidFill>
                          <a:latin typeface="Cambria Math" panose="02040503050406030204" pitchFamily="18" charset="0"/>
                        </a:rPr>
                        <m:t>𝐵𝐴</m:t>
                      </m:r>
                      <m:r>
                        <a:rPr kumimoji="1" lang="en-US" altLang="zh-CN" sz="3600" b="0" i="1" smtClean="0">
                          <a:solidFill>
                            <a:srgbClr val="000000"/>
                          </a:solidFill>
                          <a:latin typeface="Cambria Math" panose="02040503050406030204" pitchFamily="18" charset="0"/>
                        </a:rPr>
                        <m:t>𝑥</m:t>
                      </m:r>
                      <m:r>
                        <a:rPr kumimoji="1" lang="en-US" altLang="zh-CN" sz="3600" b="0" i="1" smtClean="0">
                          <a:solidFill>
                            <a:srgbClr val="000000"/>
                          </a:solidFill>
                          <a:latin typeface="Cambria Math" panose="02040503050406030204" pitchFamily="18" charset="0"/>
                        </a:rPr>
                        <m:t>     </m:t>
                      </m:r>
                      <m:r>
                        <a:rPr kumimoji="1" lang="en-US" altLang="zh-CN" sz="3600" b="0" i="0" smtClean="0">
                          <a:solidFill>
                            <a:srgbClr val="000000"/>
                          </a:solidFill>
                          <a:latin typeface="Cambria Math" panose="02040503050406030204" pitchFamily="18" charset="0"/>
                        </a:rPr>
                        <m:t>     </m:t>
                      </m:r>
                      <m:r>
                        <a:rPr kumimoji="1" lang="en-US" altLang="zh-CN" sz="3600" b="0" i="1" smtClean="0">
                          <a:solidFill>
                            <a:srgbClr val="000000"/>
                          </a:solidFill>
                          <a:latin typeface="Cambria Math" panose="02040503050406030204" pitchFamily="18" charset="0"/>
                        </a:rPr>
                        <m:t>𝐴</m:t>
                      </m:r>
                      <m:r>
                        <a:rPr kumimoji="1" lang="en-US" altLang="zh-CN" sz="3600" b="0" i="1" smtClean="0">
                          <a:solidFill>
                            <a:srgbClr val="000000"/>
                          </a:solidFill>
                          <a:latin typeface="Cambria Math" panose="02040503050406030204" pitchFamily="18" charset="0"/>
                        </a:rPr>
                        <m:t>∈</m:t>
                      </m:r>
                      <m:sSup>
                        <m:sSupPr>
                          <m:ctrlPr>
                            <a:rPr kumimoji="1" lang="en-US" altLang="zh-CN" sz="3600" b="0" i="1" smtClean="0">
                              <a:solidFill>
                                <a:srgbClr val="000000"/>
                              </a:solidFill>
                              <a:latin typeface="Cambria Math" panose="02040503050406030204" pitchFamily="18" charset="0"/>
                            </a:rPr>
                          </m:ctrlPr>
                        </m:sSupPr>
                        <m:e>
                          <m:r>
                            <a:rPr kumimoji="1" lang="en-US" altLang="zh-CN" sz="3600" b="0" i="1" smtClean="0">
                              <a:solidFill>
                                <a:srgbClr val="000000"/>
                              </a:solidFill>
                              <a:latin typeface="Cambria Math" panose="02040503050406030204" pitchFamily="18" charset="0"/>
                            </a:rPr>
                            <m:t>𝑅</m:t>
                          </m:r>
                        </m:e>
                        <m:sup>
                          <m:r>
                            <a:rPr kumimoji="1" lang="en-US" altLang="zh-CN" sz="3600" b="0" i="1" smtClean="0">
                              <a:solidFill>
                                <a:srgbClr val="000000"/>
                              </a:solidFill>
                              <a:latin typeface="Cambria Math" panose="02040503050406030204" pitchFamily="18" charset="0"/>
                            </a:rPr>
                            <m:t>𝑟</m:t>
                          </m:r>
                          <m:r>
                            <a:rPr kumimoji="1" lang="en-US" altLang="zh-CN" sz="3600" b="0" i="1" smtClean="0">
                              <a:solidFill>
                                <a:srgbClr val="000000"/>
                              </a:solidFill>
                              <a:latin typeface="Cambria Math" panose="02040503050406030204" pitchFamily="18" charset="0"/>
                            </a:rPr>
                            <m:t>×</m:t>
                          </m:r>
                          <m:r>
                            <a:rPr kumimoji="1" lang="en-US" altLang="zh-CN" sz="3600" b="0" i="1" smtClean="0">
                              <a:solidFill>
                                <a:srgbClr val="000000"/>
                              </a:solidFill>
                              <a:latin typeface="Cambria Math" panose="02040503050406030204" pitchFamily="18" charset="0"/>
                            </a:rPr>
                            <m:t>𝑑</m:t>
                          </m:r>
                        </m:sup>
                      </m:sSup>
                      <m:r>
                        <a:rPr kumimoji="1" lang="en-US" altLang="zh-CN" sz="3600" b="0" i="1" smtClean="0">
                          <a:solidFill>
                            <a:srgbClr val="000000"/>
                          </a:solidFill>
                          <a:latin typeface="Cambria Math" panose="02040503050406030204" pitchFamily="18" charset="0"/>
                        </a:rPr>
                        <m:t> </m:t>
                      </m:r>
                      <m:r>
                        <a:rPr kumimoji="1" lang="en-US" altLang="zh-CN" sz="3600" b="0" i="1" smtClean="0">
                          <a:solidFill>
                            <a:srgbClr val="000000"/>
                          </a:solidFill>
                          <a:latin typeface="Cambria Math" panose="02040503050406030204" pitchFamily="18" charset="0"/>
                        </a:rPr>
                        <m:t>𝐵</m:t>
                      </m:r>
                      <m:r>
                        <a:rPr kumimoji="1" lang="en-US" altLang="zh-CN" sz="3600" b="0" i="1" smtClean="0">
                          <a:solidFill>
                            <a:srgbClr val="000000"/>
                          </a:solidFill>
                          <a:latin typeface="Cambria Math" panose="02040503050406030204" pitchFamily="18" charset="0"/>
                        </a:rPr>
                        <m:t>∈</m:t>
                      </m:r>
                      <m:sSup>
                        <m:sSupPr>
                          <m:ctrlPr>
                            <a:rPr kumimoji="1" lang="en-US" altLang="zh-CN" sz="3600" b="0" i="1" smtClean="0">
                              <a:solidFill>
                                <a:srgbClr val="000000"/>
                              </a:solidFill>
                              <a:latin typeface="Cambria Math" panose="02040503050406030204" pitchFamily="18" charset="0"/>
                            </a:rPr>
                          </m:ctrlPr>
                        </m:sSupPr>
                        <m:e>
                          <m:r>
                            <a:rPr kumimoji="1" lang="en-US" altLang="zh-CN" sz="3600" b="0" i="1" smtClean="0">
                              <a:solidFill>
                                <a:srgbClr val="000000"/>
                              </a:solidFill>
                              <a:latin typeface="Cambria Math" panose="02040503050406030204" pitchFamily="18" charset="0"/>
                            </a:rPr>
                            <m:t>𝑅</m:t>
                          </m:r>
                        </m:e>
                        <m:sup>
                          <m:r>
                            <a:rPr kumimoji="1" lang="en-US" altLang="zh-CN" sz="3600" b="0" i="1" smtClean="0">
                              <a:solidFill>
                                <a:srgbClr val="000000"/>
                              </a:solidFill>
                              <a:latin typeface="Cambria Math" panose="02040503050406030204" pitchFamily="18" charset="0"/>
                            </a:rPr>
                            <m:t>𝑑</m:t>
                          </m:r>
                          <m:r>
                            <a:rPr kumimoji="1" lang="en-US" altLang="zh-CN" sz="3600" b="0" i="1" smtClean="0">
                              <a:solidFill>
                                <a:srgbClr val="000000"/>
                              </a:solidFill>
                              <a:latin typeface="Cambria Math" panose="02040503050406030204" pitchFamily="18" charset="0"/>
                            </a:rPr>
                            <m:t>×</m:t>
                          </m:r>
                          <m:r>
                            <a:rPr kumimoji="1" lang="en-US" altLang="zh-CN" sz="3600" b="0" i="1" smtClean="0">
                              <a:solidFill>
                                <a:srgbClr val="000000"/>
                              </a:solidFill>
                              <a:latin typeface="Cambria Math" panose="02040503050406030204" pitchFamily="18" charset="0"/>
                            </a:rPr>
                            <m:t>𝑟</m:t>
                          </m:r>
                        </m:sup>
                      </m:sSup>
                      <m:r>
                        <a:rPr kumimoji="1" lang="en-US" altLang="zh-CN" sz="3600" b="0" i="1" smtClean="0">
                          <a:solidFill>
                            <a:srgbClr val="000000"/>
                          </a:solidFill>
                          <a:latin typeface="Cambria Math" panose="02040503050406030204" pitchFamily="18" charset="0"/>
                        </a:rPr>
                        <m:t>, </m:t>
                      </m:r>
                      <m:r>
                        <a:rPr kumimoji="1" lang="en-US" altLang="zh-CN" sz="3600" b="0" i="1" smtClean="0">
                          <a:solidFill>
                            <a:srgbClr val="C00000"/>
                          </a:solidFill>
                          <a:latin typeface="Cambria Math" panose="02040503050406030204" pitchFamily="18" charset="0"/>
                        </a:rPr>
                        <m:t>𝑟</m:t>
                      </m:r>
                      <m:r>
                        <a:rPr kumimoji="1" lang="en-US" altLang="zh-CN" sz="3600" b="0" i="1" smtClean="0">
                          <a:solidFill>
                            <a:srgbClr val="C00000"/>
                          </a:solidFill>
                          <a:latin typeface="Cambria Math" panose="02040503050406030204" pitchFamily="18" charset="0"/>
                        </a:rPr>
                        <m:t>&lt;</m:t>
                      </m:r>
                      <m:r>
                        <a:rPr kumimoji="1" lang="en-US" altLang="zh-CN" sz="3600" b="0" i="1" smtClean="0">
                          <a:solidFill>
                            <a:srgbClr val="C00000"/>
                          </a:solidFill>
                          <a:latin typeface="Cambria Math" panose="02040503050406030204" pitchFamily="18" charset="0"/>
                        </a:rPr>
                        <m:t>𝑑</m:t>
                      </m:r>
                      <m:r>
                        <a:rPr kumimoji="1" lang="zh-CN" altLang="en-US" sz="3600" b="0" i="1" smtClean="0">
                          <a:solidFill>
                            <a:srgbClr val="C00000"/>
                          </a:solidFill>
                          <a:latin typeface="Cambria Math" panose="02040503050406030204" pitchFamily="18" charset="0"/>
                        </a:rPr>
                        <m:t> </m:t>
                      </m:r>
                    </m:oMath>
                  </m:oMathPara>
                </a14:m>
                <a:endParaRPr kumimoji="1" lang="zh-CN" altLang="en-US" sz="3600" dirty="0">
                  <a:solidFill>
                    <a:srgbClr val="000000"/>
                  </a:solidFill>
                </a:endParaRPr>
              </a:p>
            </p:txBody>
          </p:sp>
        </mc:Choice>
        <mc:Fallback xmlns="">
          <p:sp>
            <p:nvSpPr>
              <p:cNvPr id="8" name="文本框 7">
                <a:extLst>
                  <a:ext uri="{FF2B5EF4-FFF2-40B4-BE49-F238E27FC236}">
                    <a16:creationId xmlns:a16="http://schemas.microsoft.com/office/drawing/2014/main" id="{E615D7D0-E4C7-E090-5673-6969F636498D}"/>
                  </a:ext>
                </a:extLst>
              </p:cNvPr>
              <p:cNvSpPr txBox="1">
                <a:spLocks noRot="1" noChangeAspect="1" noMove="1" noResize="1" noEditPoints="1" noAdjustHandles="1" noChangeArrowheads="1" noChangeShapeType="1" noTextEdit="1"/>
              </p:cNvSpPr>
              <p:nvPr/>
            </p:nvSpPr>
            <p:spPr>
              <a:xfrm>
                <a:off x="-248217" y="4321354"/>
                <a:ext cx="10508357" cy="563937"/>
              </a:xfrm>
              <a:prstGeom prst="rect">
                <a:avLst/>
              </a:prstGeom>
              <a:blipFill>
                <a:blip r:embed="rId5"/>
                <a:stretch>
                  <a:fillRect t="-6667" b="-3777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614C143E-5859-BFFD-EF17-449AFD9C3797}"/>
              </a:ext>
            </a:extLst>
          </p:cNvPr>
          <p:cNvSpPr txBox="1"/>
          <p:nvPr/>
        </p:nvSpPr>
        <p:spPr>
          <a:xfrm>
            <a:off x="94198" y="5945678"/>
            <a:ext cx="9187130" cy="369332"/>
          </a:xfrm>
          <a:prstGeom prst="rect">
            <a:avLst/>
          </a:prstGeom>
          <a:noFill/>
        </p:spPr>
        <p:txBody>
          <a:bodyPr wrap="none" rtlCol="0">
            <a:spAutoFit/>
          </a:bodyPr>
          <a:lstStyle/>
          <a:p>
            <a:r>
              <a:rPr lang="zh-CN" altLang="en-US" dirty="0"/>
              <a:t>微调模型有时很尴尬：因为基础模型能力提升后，经常比微调过的旧模型能力要强很多。</a:t>
            </a:r>
          </a:p>
        </p:txBody>
      </p:sp>
      <p:sp>
        <p:nvSpPr>
          <p:cNvPr id="7" name="文本框 6">
            <a:extLst>
              <a:ext uri="{FF2B5EF4-FFF2-40B4-BE49-F238E27FC236}">
                <a16:creationId xmlns:a16="http://schemas.microsoft.com/office/drawing/2014/main" id="{3B1F3617-47C1-9265-A891-49E606BFACB4}"/>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226416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61DFA-289F-3C04-FDF5-676843547781}"/>
              </a:ext>
            </a:extLst>
          </p:cNvPr>
          <p:cNvSpPr>
            <a:spLocks noGrp="1"/>
          </p:cNvSpPr>
          <p:nvPr>
            <p:ph type="title"/>
          </p:nvPr>
        </p:nvSpPr>
        <p:spPr/>
        <p:txBody>
          <a:bodyPr/>
          <a:lstStyle/>
          <a:p>
            <a:r>
              <a:rPr kumimoji="1" lang="zh-CN" altLang="en-US" dirty="0"/>
              <a:t>微调与预训练的区别</a:t>
            </a:r>
          </a:p>
        </p:txBody>
      </p:sp>
      <p:pic>
        <p:nvPicPr>
          <p:cNvPr id="3074" name="Picture 2">
            <a:extLst>
              <a:ext uri="{FF2B5EF4-FFF2-40B4-BE49-F238E27FC236}">
                <a16:creationId xmlns:a16="http://schemas.microsoft.com/office/drawing/2014/main" id="{F80573E0-B7C8-F694-7AE5-EBCD8B0F54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2163" y="867088"/>
            <a:ext cx="8910204" cy="53340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9112F0FF-E502-581F-698A-967F8861650C}"/>
              </a:ext>
            </a:extLst>
          </p:cNvPr>
          <p:cNvSpPr txBox="1"/>
          <p:nvPr/>
        </p:nvSpPr>
        <p:spPr>
          <a:xfrm>
            <a:off x="166712" y="6422575"/>
            <a:ext cx="8262394" cy="307777"/>
          </a:xfrm>
          <a:prstGeom prst="rect">
            <a:avLst/>
          </a:prstGeom>
          <a:noFill/>
        </p:spPr>
        <p:txBody>
          <a:bodyPr wrap="square">
            <a:spAutoFit/>
          </a:bodyPr>
          <a:lstStyle/>
          <a:p>
            <a:r>
              <a:rPr lang="zh-CN" altLang="en-US" sz="1400" dirty="0">
                <a:solidFill>
                  <a:schemeClr val="bg1"/>
                </a:solidFill>
              </a:rPr>
              <a:t>https://medium.com/@prasadmahamulkar/fine-tuning-phi-2-a-step-by-step-guide-e672e7f1d009</a:t>
            </a:r>
          </a:p>
        </p:txBody>
      </p:sp>
    </p:spTree>
    <p:extLst>
      <p:ext uri="{BB962C8B-B14F-4D97-AF65-F5344CB8AC3E}">
        <p14:creationId xmlns:p14="http://schemas.microsoft.com/office/powerpoint/2010/main" val="2929351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8C2039-7DF2-F304-39AF-7B9044B33140}"/>
              </a:ext>
            </a:extLst>
          </p:cNvPr>
          <p:cNvSpPr>
            <a:spLocks noGrp="1"/>
          </p:cNvSpPr>
          <p:nvPr>
            <p:ph type="title"/>
          </p:nvPr>
        </p:nvSpPr>
        <p:spPr/>
        <p:txBody>
          <a:bodyPr/>
          <a:lstStyle/>
          <a:p>
            <a:r>
              <a:rPr kumimoji="1" lang="zh-CN" altLang="en-US" dirty="0"/>
              <a:t>强化学习后训练：</a:t>
            </a:r>
            <a:r>
              <a:rPr kumimoji="1" lang="en-US" altLang="zh-CN" dirty="0"/>
              <a:t> </a:t>
            </a:r>
            <a:r>
              <a:rPr kumimoji="1" lang="zh-CN" altLang="en-US" dirty="0"/>
              <a:t>增强模型推理能力</a:t>
            </a:r>
          </a:p>
        </p:txBody>
      </p:sp>
      <p:sp>
        <p:nvSpPr>
          <p:cNvPr id="3" name="内容占位符 2">
            <a:extLst>
              <a:ext uri="{FF2B5EF4-FFF2-40B4-BE49-F238E27FC236}">
                <a16:creationId xmlns:a16="http://schemas.microsoft.com/office/drawing/2014/main" id="{CEBEB396-FF3E-2ACB-7A3C-9197DEB6DD61}"/>
              </a:ext>
            </a:extLst>
          </p:cNvPr>
          <p:cNvSpPr>
            <a:spLocks noGrp="1"/>
          </p:cNvSpPr>
          <p:nvPr>
            <p:ph idx="1"/>
          </p:nvPr>
        </p:nvSpPr>
        <p:spPr/>
        <p:txBody>
          <a:bodyPr/>
          <a:lstStyle/>
          <a:p>
            <a:pPr marL="342900" indent="-342900">
              <a:buFont typeface="Wingdings" pitchFamily="2" charset="2"/>
              <a:buChar char="p"/>
            </a:pPr>
            <a:r>
              <a:rPr kumimoji="1" lang="zh-CN" altLang="en-US" dirty="0"/>
              <a:t>通过</a:t>
            </a:r>
            <a:r>
              <a:rPr kumimoji="1" lang="zh-CN" altLang="en-US" dirty="0">
                <a:solidFill>
                  <a:srgbClr val="C00000"/>
                </a:solidFill>
              </a:rPr>
              <a:t>强化学习</a:t>
            </a:r>
            <a:r>
              <a:rPr kumimoji="1" lang="zh-CN" altLang="en-US" dirty="0"/>
              <a:t>的方法在预训练模型基础上</a:t>
            </a:r>
            <a:r>
              <a:rPr kumimoji="1" lang="zh-CN" altLang="en-US" dirty="0">
                <a:solidFill>
                  <a:srgbClr val="C00000"/>
                </a:solidFill>
              </a:rPr>
              <a:t>增强模型推理能力</a:t>
            </a:r>
            <a:endParaRPr kumimoji="1" lang="en-US" altLang="zh-CN" dirty="0">
              <a:solidFill>
                <a:srgbClr val="C00000"/>
              </a:solidFill>
            </a:endParaRPr>
          </a:p>
          <a:p>
            <a:pPr marL="342900" indent="-342900">
              <a:buFont typeface="Wingdings" pitchFamily="2" charset="2"/>
              <a:buChar char="p"/>
            </a:pPr>
            <a:endParaRPr kumimoji="1" lang="zh-CN" altLang="en-US" dirty="0">
              <a:solidFill>
                <a:srgbClr val="C00000"/>
              </a:solidFill>
            </a:endParaRPr>
          </a:p>
        </p:txBody>
      </p:sp>
      <p:pic>
        <p:nvPicPr>
          <p:cNvPr id="4" name="图片 3">
            <a:extLst>
              <a:ext uri="{FF2B5EF4-FFF2-40B4-BE49-F238E27FC236}">
                <a16:creationId xmlns:a16="http://schemas.microsoft.com/office/drawing/2014/main" id="{3043089A-434C-0969-21DC-9A99A3B09C53}"/>
              </a:ext>
            </a:extLst>
          </p:cNvPr>
          <p:cNvPicPr>
            <a:picLocks noChangeAspect="1"/>
          </p:cNvPicPr>
          <p:nvPr/>
        </p:nvPicPr>
        <p:blipFill>
          <a:blip r:embed="rId2"/>
          <a:stretch>
            <a:fillRect/>
          </a:stretch>
        </p:blipFill>
        <p:spPr>
          <a:xfrm>
            <a:off x="552202" y="2048232"/>
            <a:ext cx="4195338" cy="2565248"/>
          </a:xfrm>
          <a:prstGeom prst="rect">
            <a:avLst/>
          </a:prstGeom>
        </p:spPr>
      </p:pic>
      <p:sp>
        <p:nvSpPr>
          <p:cNvPr id="5" name="文本框 4">
            <a:extLst>
              <a:ext uri="{FF2B5EF4-FFF2-40B4-BE49-F238E27FC236}">
                <a16:creationId xmlns:a16="http://schemas.microsoft.com/office/drawing/2014/main" id="{9A629DFF-D4E4-9AFA-35E8-57D23DA02A81}"/>
              </a:ext>
            </a:extLst>
          </p:cNvPr>
          <p:cNvSpPr txBox="1"/>
          <p:nvPr/>
        </p:nvSpPr>
        <p:spPr>
          <a:xfrm>
            <a:off x="552203" y="4752896"/>
            <a:ext cx="4790462" cy="1422697"/>
          </a:xfrm>
          <a:prstGeom prst="rect">
            <a:avLst/>
          </a:prstGeom>
          <a:noFill/>
        </p:spPr>
        <p:txBody>
          <a:bodyPr wrap="square" rtlCol="0">
            <a:spAutoFit/>
          </a:bodyPr>
          <a:lstStyle/>
          <a:p>
            <a:pPr algn="l">
              <a:lnSpc>
                <a:spcPct val="150000"/>
              </a:lnSpc>
            </a:pPr>
            <a:r>
              <a:rPr kumimoji="1" lang="en-US" altLang="zh-CN" sz="2000" dirty="0">
                <a:solidFill>
                  <a:schemeClr val="tx2"/>
                </a:solidFill>
                <a:latin typeface="Times New Roman" panose="02020603050405020304" pitchFamily="18" charset="0"/>
                <a:ea typeface="微软雅黑" panose="020B0503020204020204" pitchFamily="34" charset="-122"/>
              </a:rPr>
              <a:t>Deepseek-R1-Zero </a:t>
            </a:r>
            <a:r>
              <a:rPr kumimoji="1" lang="zh-CN" altLang="en-US" sz="2000" dirty="0">
                <a:solidFill>
                  <a:schemeClr val="tx2"/>
                </a:solidFill>
                <a:latin typeface="Times New Roman" panose="02020603050405020304" pitchFamily="18" charset="0"/>
                <a:ea typeface="微软雅黑" panose="020B0503020204020204" pitchFamily="34" charset="-122"/>
              </a:rPr>
              <a:t>模型直接在</a:t>
            </a:r>
            <a:r>
              <a:rPr kumimoji="1" lang="en-US" altLang="zh-CN" sz="2000" dirty="0">
                <a:solidFill>
                  <a:schemeClr val="tx2"/>
                </a:solidFill>
                <a:latin typeface="Times New Roman" panose="02020603050405020304" pitchFamily="18" charset="0"/>
                <a:ea typeface="微软雅黑" panose="020B0503020204020204" pitchFamily="34" charset="-122"/>
              </a:rPr>
              <a:t>Deepseek-V3</a:t>
            </a:r>
            <a:r>
              <a:rPr kumimoji="1" lang="zh-CN" altLang="en-US" sz="2000" dirty="0">
                <a:solidFill>
                  <a:schemeClr val="tx2"/>
                </a:solidFill>
                <a:latin typeface="Times New Roman" panose="02020603050405020304" pitchFamily="18" charset="0"/>
                <a:ea typeface="微软雅黑" panose="020B0503020204020204" pitchFamily="34" charset="-122"/>
              </a:rPr>
              <a:t>预训练模型的基础上通过强化学习逐渐增强推理能力</a:t>
            </a:r>
          </a:p>
        </p:txBody>
      </p:sp>
      <p:pic>
        <p:nvPicPr>
          <p:cNvPr id="6" name="图片 5">
            <a:extLst>
              <a:ext uri="{FF2B5EF4-FFF2-40B4-BE49-F238E27FC236}">
                <a16:creationId xmlns:a16="http://schemas.microsoft.com/office/drawing/2014/main" id="{11D3536F-1DC1-CAE2-79EE-706123BC16D6}"/>
              </a:ext>
            </a:extLst>
          </p:cNvPr>
          <p:cNvPicPr>
            <a:picLocks noChangeAspect="1"/>
          </p:cNvPicPr>
          <p:nvPr/>
        </p:nvPicPr>
        <p:blipFill>
          <a:blip r:embed="rId3"/>
          <a:stretch>
            <a:fillRect/>
          </a:stretch>
        </p:blipFill>
        <p:spPr>
          <a:xfrm>
            <a:off x="6808081" y="2048232"/>
            <a:ext cx="4195338" cy="2567686"/>
          </a:xfrm>
          <a:prstGeom prst="rect">
            <a:avLst/>
          </a:prstGeom>
        </p:spPr>
      </p:pic>
      <p:sp>
        <p:nvSpPr>
          <p:cNvPr id="7" name="文本框 6">
            <a:extLst>
              <a:ext uri="{FF2B5EF4-FFF2-40B4-BE49-F238E27FC236}">
                <a16:creationId xmlns:a16="http://schemas.microsoft.com/office/drawing/2014/main" id="{384A98C1-792C-B74B-7508-2C7EA58760AA}"/>
              </a:ext>
            </a:extLst>
          </p:cNvPr>
          <p:cNvSpPr txBox="1"/>
          <p:nvPr/>
        </p:nvSpPr>
        <p:spPr>
          <a:xfrm>
            <a:off x="6849336" y="4776379"/>
            <a:ext cx="4790462" cy="960328"/>
          </a:xfrm>
          <a:prstGeom prst="rect">
            <a:avLst/>
          </a:prstGeom>
          <a:noFill/>
        </p:spPr>
        <p:txBody>
          <a:bodyPr wrap="square" rtlCol="0">
            <a:spAutoFit/>
          </a:bodyPr>
          <a:lstStyle/>
          <a:p>
            <a:pPr algn="l">
              <a:lnSpc>
                <a:spcPct val="150000"/>
              </a:lnSpc>
            </a:pPr>
            <a:r>
              <a:rPr kumimoji="1" lang="en-US" altLang="zh-CN" sz="2000" dirty="0">
                <a:solidFill>
                  <a:schemeClr val="tx2"/>
                </a:solidFill>
                <a:latin typeface="Times New Roman" panose="02020603050405020304" pitchFamily="18" charset="0"/>
                <a:ea typeface="微软雅黑" panose="020B0503020204020204" pitchFamily="34" charset="-122"/>
              </a:rPr>
              <a:t>Deepseek-R1-Zero </a:t>
            </a:r>
            <a:r>
              <a:rPr kumimoji="1" lang="zh-CN" altLang="en-US" sz="2000" dirty="0">
                <a:solidFill>
                  <a:schemeClr val="tx2"/>
                </a:solidFill>
                <a:latin typeface="Times New Roman" panose="02020603050405020304" pitchFamily="18" charset="0"/>
                <a:ea typeface="微软雅黑" panose="020B0503020204020204" pitchFamily="34" charset="-122"/>
              </a:rPr>
              <a:t>模型生成的文本长度逐渐增长</a:t>
            </a:r>
          </a:p>
        </p:txBody>
      </p:sp>
      <p:sp>
        <p:nvSpPr>
          <p:cNvPr id="9" name="文本框 8">
            <a:extLst>
              <a:ext uri="{FF2B5EF4-FFF2-40B4-BE49-F238E27FC236}">
                <a16:creationId xmlns:a16="http://schemas.microsoft.com/office/drawing/2014/main" id="{916B7898-4AE7-995C-9BC1-3AEF92974DF7}"/>
              </a:ext>
            </a:extLst>
          </p:cNvPr>
          <p:cNvSpPr txBox="1"/>
          <p:nvPr/>
        </p:nvSpPr>
        <p:spPr>
          <a:xfrm>
            <a:off x="75341" y="6419495"/>
            <a:ext cx="9344397" cy="307777"/>
          </a:xfrm>
          <a:prstGeom prst="rect">
            <a:avLst/>
          </a:prstGeom>
          <a:noFill/>
        </p:spPr>
        <p:txBody>
          <a:bodyPr wrap="square">
            <a:spAutoFit/>
          </a:bodyPr>
          <a:lstStyle/>
          <a:p>
            <a:r>
              <a:rPr lang="zh-CN" altLang="en-US" sz="1400" dirty="0">
                <a:solidFill>
                  <a:schemeClr val="bg1"/>
                </a:solidFill>
              </a:rPr>
              <a:t>https://github.com/deepseek-ai/DeepSeek-R1/blob/main/DeepSeek_R1.pdf</a:t>
            </a:r>
          </a:p>
        </p:txBody>
      </p:sp>
    </p:spTree>
    <p:extLst>
      <p:ext uri="{BB962C8B-B14F-4D97-AF65-F5344CB8AC3E}">
        <p14:creationId xmlns:p14="http://schemas.microsoft.com/office/powerpoint/2010/main" val="236019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E97C61-FC86-3805-C99C-1833AFE7E9FE}"/>
              </a:ext>
            </a:extLst>
          </p:cNvPr>
          <p:cNvSpPr>
            <a:spLocks noGrp="1"/>
          </p:cNvSpPr>
          <p:nvPr>
            <p:ph type="title"/>
          </p:nvPr>
        </p:nvSpPr>
        <p:spPr/>
        <p:txBody>
          <a:bodyPr/>
          <a:lstStyle/>
          <a:p>
            <a:r>
              <a:rPr kumimoji="1" lang="zh-CN" altLang="en-US" dirty="0"/>
              <a:t>强化学习后训练：</a:t>
            </a:r>
            <a:r>
              <a:rPr kumimoji="1" lang="en-US" altLang="zh-CN" dirty="0"/>
              <a:t> </a:t>
            </a:r>
            <a:r>
              <a:rPr kumimoji="1" lang="zh-CN" altLang="en-US" dirty="0"/>
              <a:t>增强模型推理能力</a:t>
            </a:r>
          </a:p>
        </p:txBody>
      </p:sp>
      <p:pic>
        <p:nvPicPr>
          <p:cNvPr id="4" name="内容占位符 3">
            <a:extLst>
              <a:ext uri="{FF2B5EF4-FFF2-40B4-BE49-F238E27FC236}">
                <a16:creationId xmlns:a16="http://schemas.microsoft.com/office/drawing/2014/main" id="{7EE970FB-574A-37BA-51EA-0647E4A0262D}"/>
              </a:ext>
            </a:extLst>
          </p:cNvPr>
          <p:cNvPicPr>
            <a:picLocks noGrp="1" noChangeAspect="1"/>
          </p:cNvPicPr>
          <p:nvPr>
            <p:ph idx="1"/>
          </p:nvPr>
        </p:nvPicPr>
        <p:blipFill>
          <a:blip r:embed="rId2"/>
          <a:stretch>
            <a:fillRect/>
          </a:stretch>
        </p:blipFill>
        <p:spPr>
          <a:xfrm>
            <a:off x="2413000" y="948995"/>
            <a:ext cx="7366000" cy="4127500"/>
          </a:xfrm>
          <a:prstGeom prst="rect">
            <a:avLst/>
          </a:prstGeom>
        </p:spPr>
      </p:pic>
      <p:sp>
        <p:nvSpPr>
          <p:cNvPr id="5" name="文本框 4">
            <a:extLst>
              <a:ext uri="{FF2B5EF4-FFF2-40B4-BE49-F238E27FC236}">
                <a16:creationId xmlns:a16="http://schemas.microsoft.com/office/drawing/2014/main" id="{B9C98022-E30C-61B6-02A8-7C2402F67AE0}"/>
              </a:ext>
            </a:extLst>
          </p:cNvPr>
          <p:cNvSpPr txBox="1"/>
          <p:nvPr/>
        </p:nvSpPr>
        <p:spPr>
          <a:xfrm>
            <a:off x="994264" y="5263511"/>
            <a:ext cx="8549408" cy="499367"/>
          </a:xfrm>
          <a:prstGeom prst="rect">
            <a:avLst/>
          </a:prstGeom>
          <a:noFill/>
        </p:spPr>
        <p:txBody>
          <a:bodyPr wrap="square" rtlCol="0">
            <a:spAutoFit/>
          </a:bodyPr>
          <a:lstStyle/>
          <a:p>
            <a:pPr algn="l">
              <a:lnSpc>
                <a:spcPct val="150000"/>
              </a:lnSpc>
            </a:pPr>
            <a:r>
              <a:rPr kumimoji="1" lang="en-US" altLang="zh-CN" sz="2000" dirty="0">
                <a:solidFill>
                  <a:schemeClr val="tx2"/>
                </a:solidFill>
                <a:latin typeface="Times New Roman" panose="02020603050405020304" pitchFamily="18" charset="0"/>
                <a:ea typeface="微软雅黑" panose="020B0503020204020204" pitchFamily="34" charset="-122"/>
              </a:rPr>
              <a:t>Deepseek-R1-Zero </a:t>
            </a:r>
            <a:r>
              <a:rPr kumimoji="1" lang="zh-CN" altLang="en-US" sz="2000" dirty="0">
                <a:solidFill>
                  <a:schemeClr val="tx2"/>
                </a:solidFill>
                <a:latin typeface="Times New Roman" panose="02020603050405020304" pitchFamily="18" charset="0"/>
                <a:ea typeface="微软雅黑" panose="020B0503020204020204" pitchFamily="34" charset="-122"/>
              </a:rPr>
              <a:t>模型会自发的出现自我反思的情况</a:t>
            </a:r>
          </a:p>
        </p:txBody>
      </p:sp>
      <p:sp>
        <p:nvSpPr>
          <p:cNvPr id="6" name="文本框 5">
            <a:extLst>
              <a:ext uri="{FF2B5EF4-FFF2-40B4-BE49-F238E27FC236}">
                <a16:creationId xmlns:a16="http://schemas.microsoft.com/office/drawing/2014/main" id="{EA449104-E2CE-0876-9EE5-48888477E0D6}"/>
              </a:ext>
            </a:extLst>
          </p:cNvPr>
          <p:cNvSpPr txBox="1"/>
          <p:nvPr/>
        </p:nvSpPr>
        <p:spPr>
          <a:xfrm>
            <a:off x="75341" y="6419495"/>
            <a:ext cx="9344397" cy="307777"/>
          </a:xfrm>
          <a:prstGeom prst="rect">
            <a:avLst/>
          </a:prstGeom>
          <a:noFill/>
        </p:spPr>
        <p:txBody>
          <a:bodyPr wrap="square">
            <a:spAutoFit/>
          </a:bodyPr>
          <a:lstStyle/>
          <a:p>
            <a:r>
              <a:rPr lang="zh-CN" altLang="en-US" sz="1400" dirty="0">
                <a:solidFill>
                  <a:schemeClr val="bg1"/>
                </a:solidFill>
              </a:rPr>
              <a:t>https://github.com/deepseek-ai/DeepSeek-R1/blob/main/DeepSeek_R1.pdf</a:t>
            </a:r>
          </a:p>
        </p:txBody>
      </p:sp>
    </p:spTree>
    <p:extLst>
      <p:ext uri="{BB962C8B-B14F-4D97-AF65-F5344CB8AC3E}">
        <p14:creationId xmlns:p14="http://schemas.microsoft.com/office/powerpoint/2010/main" val="1839383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FCA93-D5C3-2A14-49E3-3D1BCB1EE164}"/>
              </a:ext>
            </a:extLst>
          </p:cNvPr>
          <p:cNvSpPr>
            <a:spLocks noGrp="1"/>
          </p:cNvSpPr>
          <p:nvPr>
            <p:ph type="title"/>
          </p:nvPr>
        </p:nvSpPr>
        <p:spPr/>
        <p:txBody>
          <a:bodyPr/>
          <a:lstStyle/>
          <a:p>
            <a:r>
              <a:rPr kumimoji="1" lang="zh-CN" altLang="en-US" dirty="0"/>
              <a:t>强化学习后训练：对齐</a:t>
            </a:r>
            <a:r>
              <a:rPr kumimoji="1" lang="en-US" altLang="zh-CN" dirty="0"/>
              <a:t> (Alignment)</a:t>
            </a:r>
            <a:endParaRPr kumimoji="1" lang="zh-CN" altLang="en-US" dirty="0"/>
          </a:p>
        </p:txBody>
      </p:sp>
      <p:sp>
        <p:nvSpPr>
          <p:cNvPr id="3" name="内容占位符 2">
            <a:extLst>
              <a:ext uri="{FF2B5EF4-FFF2-40B4-BE49-F238E27FC236}">
                <a16:creationId xmlns:a16="http://schemas.microsoft.com/office/drawing/2014/main" id="{658A0891-A05F-3959-3B12-5D7200AC641D}"/>
              </a:ext>
            </a:extLst>
          </p:cNvPr>
          <p:cNvSpPr>
            <a:spLocks noGrp="1"/>
          </p:cNvSpPr>
          <p:nvPr>
            <p:ph idx="1"/>
          </p:nvPr>
        </p:nvSpPr>
        <p:spPr>
          <a:xfrm>
            <a:off x="3879401" y="2748178"/>
            <a:ext cx="6900091" cy="1361643"/>
          </a:xfrm>
        </p:spPr>
        <p:txBody>
          <a:bodyPr>
            <a:noAutofit/>
          </a:bodyPr>
          <a:lstStyle/>
          <a:p>
            <a:pPr>
              <a:lnSpc>
                <a:spcPct val="170000"/>
              </a:lnSpc>
            </a:pPr>
            <a:r>
              <a:rPr lang="zh-CN" altLang="en-US" b="0" i="0" u="none" strike="noStrike" dirty="0">
                <a:solidFill>
                  <a:srgbClr val="000000"/>
                </a:solidFill>
                <a:effectLst/>
                <a:latin typeface="Segoe UI Web (West European)"/>
              </a:rPr>
              <a:t>我们需要构建的智能不是纯粹的智能，而是可证明与人类价值观相一致的智能。</a:t>
            </a:r>
            <a:endParaRPr kumimoji="1" lang="zh-CN" altLang="en-US" dirty="0">
              <a:latin typeface="Times New Roman" panose="02020603050405020304" pitchFamily="18" charset="0"/>
            </a:endParaRPr>
          </a:p>
        </p:txBody>
      </p:sp>
      <p:pic>
        <p:nvPicPr>
          <p:cNvPr id="5122" name="Picture 2">
            <a:extLst>
              <a:ext uri="{FF2B5EF4-FFF2-40B4-BE49-F238E27FC236}">
                <a16:creationId xmlns:a16="http://schemas.microsoft.com/office/drawing/2014/main" id="{B0935396-424E-1BB3-A58A-A7DC9692CD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226" y="2356758"/>
            <a:ext cx="1675742" cy="2429264"/>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655F43B-D572-A4E7-9C45-9D7ED7A7BEFD}"/>
              </a:ext>
            </a:extLst>
          </p:cNvPr>
          <p:cNvSpPr txBox="1"/>
          <p:nvPr/>
        </p:nvSpPr>
        <p:spPr>
          <a:xfrm>
            <a:off x="579921" y="5151149"/>
            <a:ext cx="2219417" cy="707886"/>
          </a:xfrm>
          <a:prstGeom prst="rect">
            <a:avLst/>
          </a:prstGeom>
          <a:noFill/>
        </p:spPr>
        <p:txBody>
          <a:bodyPr wrap="square" rtlCol="0">
            <a:spAutoFit/>
          </a:bodyPr>
          <a:lstStyle/>
          <a:p>
            <a:r>
              <a:rPr lang="en" altLang="zh-CN" sz="2000" b="1" dirty="0">
                <a:solidFill>
                  <a:schemeClr val="tx2"/>
                </a:solidFill>
              </a:rPr>
              <a:t>Stuart J. Russell</a:t>
            </a:r>
          </a:p>
          <a:p>
            <a:pPr algn="l"/>
            <a:endParaRPr kumimoji="1" lang="zh-CN" altLang="en-US" sz="2000" dirty="0"/>
          </a:p>
        </p:txBody>
      </p:sp>
      <p:sp>
        <p:nvSpPr>
          <p:cNvPr id="6" name="文本框 5">
            <a:extLst>
              <a:ext uri="{FF2B5EF4-FFF2-40B4-BE49-F238E27FC236}">
                <a16:creationId xmlns:a16="http://schemas.microsoft.com/office/drawing/2014/main" id="{B7AD8D2A-367F-E14E-6ADA-35A2A1E6F365}"/>
              </a:ext>
            </a:extLst>
          </p:cNvPr>
          <p:cNvSpPr txBox="1"/>
          <p:nvPr/>
        </p:nvSpPr>
        <p:spPr>
          <a:xfrm>
            <a:off x="14656" y="6380541"/>
            <a:ext cx="6098958" cy="307777"/>
          </a:xfrm>
          <a:prstGeom prst="rect">
            <a:avLst/>
          </a:prstGeom>
          <a:noFill/>
        </p:spPr>
        <p:txBody>
          <a:bodyPr wrap="square">
            <a:spAutoFit/>
          </a:bodyPr>
          <a:lstStyle/>
          <a:p>
            <a:r>
              <a:rPr lang="zh-CN" altLang="en-US" sz="1400" dirty="0">
                <a:solidFill>
                  <a:schemeClr val="bg1"/>
                </a:solidFill>
              </a:rPr>
              <a:t>http://edge.org/conversation/the-myth-of-ai#2601</a:t>
            </a:r>
            <a:r>
              <a:rPr lang="en-US" altLang="zh-CN" sz="1400" dirty="0">
                <a:solidFill>
                  <a:schemeClr val="bg1"/>
                </a:solidFill>
              </a:rPr>
              <a:t>5</a:t>
            </a:r>
            <a:endParaRPr lang="zh-CN" altLang="en-US" sz="1400" dirty="0">
              <a:solidFill>
                <a:schemeClr val="bg1"/>
              </a:solidFill>
            </a:endParaRPr>
          </a:p>
        </p:txBody>
      </p:sp>
      <p:sp>
        <p:nvSpPr>
          <p:cNvPr id="7" name="文本框 6">
            <a:extLst>
              <a:ext uri="{FF2B5EF4-FFF2-40B4-BE49-F238E27FC236}">
                <a16:creationId xmlns:a16="http://schemas.microsoft.com/office/drawing/2014/main" id="{0DF48C2E-F389-5B77-420B-1FEE7ABCD822}"/>
              </a:ext>
            </a:extLst>
          </p:cNvPr>
          <p:cNvSpPr txBox="1"/>
          <p:nvPr/>
        </p:nvSpPr>
        <p:spPr>
          <a:xfrm>
            <a:off x="745226" y="1299438"/>
            <a:ext cx="9694174" cy="461665"/>
          </a:xfrm>
          <a:prstGeom prst="rect">
            <a:avLst/>
          </a:prstGeom>
          <a:noFill/>
        </p:spPr>
        <p:txBody>
          <a:bodyPr wrap="square" rtlCol="0">
            <a:spAutoFit/>
          </a:bodyPr>
          <a:lstStyle/>
          <a:p>
            <a:pPr marL="342900" indent="-342900" algn="l">
              <a:buFont typeface="Wingdings" pitchFamily="2" charset="2"/>
              <a:buChar char="p"/>
            </a:pPr>
            <a:r>
              <a:rPr kumimoji="1" lang="zh-CN" altLang="en-US" sz="2400" b="1" dirty="0">
                <a:solidFill>
                  <a:schemeClr val="tx2"/>
                </a:solidFill>
                <a:ea typeface="微软雅黑" panose="020B0503020204020204" pitchFamily="34" charset="-122"/>
              </a:rPr>
              <a:t>目标：通过</a:t>
            </a:r>
            <a:r>
              <a:rPr kumimoji="1" lang="zh-CN" altLang="en-US" sz="2400" b="1" dirty="0">
                <a:solidFill>
                  <a:srgbClr val="C00000"/>
                </a:solidFill>
                <a:ea typeface="微软雅黑" panose="020B0503020204020204" pitchFamily="34" charset="-122"/>
              </a:rPr>
              <a:t>强化学习</a:t>
            </a:r>
            <a:r>
              <a:rPr kumimoji="1" lang="zh-CN" altLang="en-US" sz="2400" b="1" dirty="0">
                <a:solidFill>
                  <a:schemeClr val="tx2"/>
                </a:solidFill>
                <a:ea typeface="微软雅黑" panose="020B0503020204020204" pitchFamily="34" charset="-122"/>
              </a:rPr>
              <a:t>的方法，让大模型的输出与人类价值观相符合。</a:t>
            </a:r>
          </a:p>
        </p:txBody>
      </p:sp>
    </p:spTree>
    <p:extLst>
      <p:ext uri="{BB962C8B-B14F-4D97-AF65-F5344CB8AC3E}">
        <p14:creationId xmlns:p14="http://schemas.microsoft.com/office/powerpoint/2010/main" val="223397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15BCA1-6F9E-D26A-49BE-A7B3DF6299C0}"/>
              </a:ext>
            </a:extLst>
          </p:cNvPr>
          <p:cNvSpPr>
            <a:spLocks noGrp="1"/>
          </p:cNvSpPr>
          <p:nvPr>
            <p:ph type="title"/>
          </p:nvPr>
        </p:nvSpPr>
        <p:spPr/>
        <p:txBody>
          <a:bodyPr/>
          <a:lstStyle/>
          <a:p>
            <a:r>
              <a:rPr kumimoji="1" lang="zh-CN" altLang="en-US" dirty="0"/>
              <a:t>提示词工程（</a:t>
            </a:r>
            <a:r>
              <a:rPr kumimoji="1" lang="en-US" altLang="zh-CN" dirty="0"/>
              <a:t>prompt</a:t>
            </a:r>
            <a:r>
              <a:rPr kumimoji="1" lang="zh-CN" altLang="en-US" dirty="0"/>
              <a:t> </a:t>
            </a:r>
            <a:r>
              <a:rPr kumimoji="1" lang="en-US" altLang="zh-CN" dirty="0"/>
              <a:t>engineering</a:t>
            </a:r>
            <a:r>
              <a:rPr kumimoji="1" lang="zh-CN" altLang="en-US" dirty="0"/>
              <a:t>）</a:t>
            </a:r>
          </a:p>
        </p:txBody>
      </p:sp>
      <p:sp>
        <p:nvSpPr>
          <p:cNvPr id="3" name="内容占位符 2">
            <a:extLst>
              <a:ext uri="{FF2B5EF4-FFF2-40B4-BE49-F238E27FC236}">
                <a16:creationId xmlns:a16="http://schemas.microsoft.com/office/drawing/2014/main" id="{35A562FB-34C2-5A95-7FC8-89B82B7F82F5}"/>
              </a:ext>
            </a:extLst>
          </p:cNvPr>
          <p:cNvSpPr>
            <a:spLocks noGrp="1"/>
          </p:cNvSpPr>
          <p:nvPr>
            <p:ph idx="1"/>
          </p:nvPr>
        </p:nvSpPr>
        <p:spPr>
          <a:xfrm>
            <a:off x="381242" y="981154"/>
            <a:ext cx="4802218" cy="2447846"/>
          </a:xfrm>
        </p:spPr>
        <p:txBody>
          <a:bodyPr>
            <a:normAutofit/>
          </a:bodyPr>
          <a:lstStyle/>
          <a:p>
            <a:pPr marL="342900" indent="-342900">
              <a:lnSpc>
                <a:spcPct val="150000"/>
              </a:lnSpc>
              <a:buFont typeface="Wingdings" pitchFamily="2" charset="2"/>
              <a:buChar char="p"/>
            </a:pPr>
            <a:r>
              <a:rPr kumimoji="1" lang="zh-CN" altLang="en-US" dirty="0">
                <a:latin typeface="Times New Roman" panose="02020603050405020304" pitchFamily="18" charset="0"/>
              </a:rPr>
              <a:t>提示词：使用者输入给大模型的</a:t>
            </a:r>
            <a:r>
              <a:rPr kumimoji="1" lang="zh-CN" altLang="en-US" dirty="0">
                <a:solidFill>
                  <a:srgbClr val="B61516"/>
                </a:solidFill>
                <a:latin typeface="Times New Roman" panose="02020603050405020304" pitchFamily="18" charset="0"/>
              </a:rPr>
              <a:t>提示词</a:t>
            </a:r>
            <a:r>
              <a:rPr kumimoji="1" lang="zh-CN" altLang="en-US" dirty="0">
                <a:latin typeface="Times New Roman" panose="02020603050405020304" pitchFamily="18" charset="0"/>
              </a:rPr>
              <a:t>。</a:t>
            </a:r>
            <a:endParaRPr kumimoji="1" lang="en-US" altLang="zh-CN" dirty="0">
              <a:latin typeface="Times New Roman" panose="02020603050405020304" pitchFamily="18" charset="0"/>
            </a:endParaRPr>
          </a:p>
          <a:p>
            <a:pPr marL="342900" indent="-342900">
              <a:lnSpc>
                <a:spcPct val="150000"/>
              </a:lnSpc>
              <a:buFont typeface="Wingdings" pitchFamily="2" charset="2"/>
              <a:buChar char="p"/>
            </a:pPr>
            <a:r>
              <a:rPr kumimoji="1" lang="zh-CN" altLang="en-US" dirty="0">
                <a:latin typeface="Times New Roman" panose="02020603050405020304" pitchFamily="18" charset="0"/>
              </a:rPr>
              <a:t>目标：设计提示词使得模型生成更好的回答。</a:t>
            </a:r>
          </a:p>
          <a:p>
            <a:pPr marL="342900" indent="-342900">
              <a:lnSpc>
                <a:spcPct val="150000"/>
              </a:lnSpc>
              <a:buFont typeface="Wingdings" pitchFamily="2" charset="2"/>
              <a:buChar char="p"/>
            </a:pPr>
            <a:endParaRPr kumimoji="1" lang="zh-CN" altLang="en-US" dirty="0">
              <a:latin typeface="Times New Roman" panose="02020603050405020304" pitchFamily="18" charset="0"/>
            </a:endParaRPr>
          </a:p>
        </p:txBody>
      </p:sp>
      <p:sp>
        <p:nvSpPr>
          <p:cNvPr id="5" name="文本框 4">
            <a:extLst>
              <a:ext uri="{FF2B5EF4-FFF2-40B4-BE49-F238E27FC236}">
                <a16:creationId xmlns:a16="http://schemas.microsoft.com/office/drawing/2014/main" id="{596CDFEA-2FC8-9432-6005-32BBCA08E1EC}"/>
              </a:ext>
            </a:extLst>
          </p:cNvPr>
          <p:cNvSpPr txBox="1"/>
          <p:nvPr/>
        </p:nvSpPr>
        <p:spPr>
          <a:xfrm>
            <a:off x="561005" y="3429000"/>
            <a:ext cx="4112699" cy="170835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dirty="0">
                <a:solidFill>
                  <a:schemeClr val="tx2"/>
                </a:solidFill>
                <a:ea typeface="微软雅黑" panose="020B0503020204020204" pitchFamily="34" charset="-122"/>
              </a:rPr>
              <a:t>直接提问：</a:t>
            </a:r>
            <a:endParaRPr lang="en-US" altLang="zh-CN" dirty="0">
              <a:solidFill>
                <a:schemeClr val="tx2"/>
              </a:solidFill>
              <a:ea typeface="微软雅黑" panose="020B0503020204020204" pitchFamily="34" charset="-122"/>
            </a:endParaRPr>
          </a:p>
          <a:p>
            <a:pPr>
              <a:lnSpc>
                <a:spcPct val="150000"/>
              </a:lnSpc>
            </a:pPr>
            <a:r>
              <a:rPr lang="en-US" altLang="zh-CN" dirty="0">
                <a:solidFill>
                  <a:schemeClr val="tx2"/>
                </a:solidFill>
                <a:ea typeface="微软雅黑" panose="020B0503020204020204" pitchFamily="34" charset="-122"/>
              </a:rPr>
              <a:t>Q</a:t>
            </a:r>
            <a:r>
              <a:rPr lang="zh-CN" altLang="en-US" dirty="0">
                <a:solidFill>
                  <a:schemeClr val="tx2"/>
                </a:solidFill>
                <a:ea typeface="微软雅黑" panose="020B0503020204020204" pitchFamily="34" charset="-122"/>
              </a:rPr>
              <a:t>：当我6岁时，我的妹妹是我的一半年龄。现在我70岁了，我的妹妹多大？</a:t>
            </a:r>
            <a:endParaRPr lang="en-US" altLang="zh-CN" dirty="0">
              <a:solidFill>
                <a:schemeClr val="tx2"/>
              </a:solidFill>
              <a:ea typeface="微软雅黑" panose="020B0503020204020204" pitchFamily="34" charset="-122"/>
            </a:endParaRPr>
          </a:p>
          <a:p>
            <a:pPr>
              <a:lnSpc>
                <a:spcPct val="150000"/>
              </a:lnSpc>
            </a:pPr>
            <a:r>
              <a:rPr lang="en-US" altLang="zh-CN" dirty="0">
                <a:solidFill>
                  <a:schemeClr val="tx2"/>
                </a:solidFill>
                <a:ea typeface="微软雅黑" panose="020B0503020204020204" pitchFamily="34" charset="-122"/>
              </a:rPr>
              <a:t>A</a:t>
            </a:r>
            <a:r>
              <a:rPr lang="zh-CN" altLang="en-US" dirty="0">
                <a:solidFill>
                  <a:schemeClr val="tx2"/>
                </a:solidFill>
                <a:ea typeface="微软雅黑" panose="020B0503020204020204" pitchFamily="34" charset="-122"/>
              </a:rPr>
              <a:t>：</a:t>
            </a:r>
            <a:r>
              <a:rPr lang="en-US" altLang="zh-CN" dirty="0">
                <a:solidFill>
                  <a:schemeClr val="tx2"/>
                </a:solidFill>
                <a:effectLst/>
                <a:ea typeface="微软雅黑" panose="020B0503020204020204" pitchFamily="34" charset="-122"/>
              </a:rPr>
              <a:t>35</a:t>
            </a:r>
            <a:r>
              <a:rPr lang="zh-CN" altLang="en-US" dirty="0">
                <a:solidFill>
                  <a:schemeClr val="tx2"/>
                </a:solidFill>
                <a:effectLst/>
                <a:ea typeface="微软雅黑" panose="020B0503020204020204" pitchFamily="34" charset="-122"/>
              </a:rPr>
              <a:t>               </a:t>
            </a:r>
            <a:r>
              <a:rPr lang="zh-CN" altLang="en-US" dirty="0">
                <a:solidFill>
                  <a:srgbClr val="B61516"/>
                </a:solidFill>
                <a:effectLst/>
                <a:ea typeface="微软雅黑" panose="020B0503020204020204" pitchFamily="34" charset="-122"/>
              </a:rPr>
              <a:t>回答错误！</a:t>
            </a:r>
            <a:endParaRPr lang="en-US" altLang="zh-CN" dirty="0">
              <a:solidFill>
                <a:srgbClr val="B61516"/>
              </a:solidFill>
              <a:effectLst/>
              <a:ea typeface="微软雅黑" panose="020B0503020204020204" pitchFamily="34" charset="-122"/>
            </a:endParaRPr>
          </a:p>
        </p:txBody>
      </p:sp>
      <p:sp>
        <p:nvSpPr>
          <p:cNvPr id="7" name="文本框 6">
            <a:extLst>
              <a:ext uri="{FF2B5EF4-FFF2-40B4-BE49-F238E27FC236}">
                <a16:creationId xmlns:a16="http://schemas.microsoft.com/office/drawing/2014/main" id="{A9F0C1A1-7BDB-C47A-E346-FDD47576327A}"/>
              </a:ext>
            </a:extLst>
          </p:cNvPr>
          <p:cNvSpPr txBox="1"/>
          <p:nvPr/>
        </p:nvSpPr>
        <p:spPr>
          <a:xfrm>
            <a:off x="5334002" y="981154"/>
            <a:ext cx="6757638" cy="503234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kumimoji="1" lang="zh-CN" altLang="en" dirty="0">
                <a:solidFill>
                  <a:schemeClr val="tx2"/>
                </a:solidFill>
                <a:latin typeface="Times New Roman" panose="02020603050405020304" pitchFamily="18" charset="0"/>
                <a:ea typeface="微软雅黑" panose="020B0503020204020204" pitchFamily="34" charset="-122"/>
              </a:rPr>
              <a:t>先</a:t>
            </a:r>
            <a:r>
              <a:rPr kumimoji="1" lang="zh-CN" altLang="en-US" dirty="0">
                <a:solidFill>
                  <a:schemeClr val="tx2"/>
                </a:solidFill>
                <a:latin typeface="Times New Roman" panose="02020603050405020304" pitchFamily="18" charset="0"/>
                <a:ea typeface="微软雅黑" panose="020B0503020204020204" pitchFamily="34" charset="-122"/>
              </a:rPr>
              <a:t>举几个例子再提问：</a:t>
            </a:r>
            <a:endParaRPr kumimoji="1" lang="en" altLang="zh-CN" dirty="0">
              <a:solidFill>
                <a:schemeClr val="tx2"/>
              </a:solidFill>
              <a:latin typeface="Times New Roman" panose="02020603050405020304" pitchFamily="18" charset="0"/>
              <a:ea typeface="微软雅黑" panose="020B0503020204020204" pitchFamily="34" charset="-122"/>
            </a:endParaRPr>
          </a:p>
          <a:p>
            <a:pPr>
              <a:lnSpc>
                <a:spcPct val="150000"/>
              </a:lnSpc>
            </a:pPr>
            <a:r>
              <a:rPr kumimoji="1" lang="en" altLang="zh-CN" dirty="0">
                <a:solidFill>
                  <a:schemeClr val="tx2"/>
                </a:solidFill>
                <a:latin typeface="Times New Roman" panose="02020603050405020304" pitchFamily="18" charset="0"/>
                <a:ea typeface="微软雅黑" panose="020B0503020204020204" pitchFamily="34" charset="-122"/>
              </a:rPr>
              <a:t>Q</a:t>
            </a:r>
            <a:r>
              <a:rPr kumimoji="1" lang="zh-CN" altLang="en" dirty="0">
                <a:solidFill>
                  <a:schemeClr val="tx2"/>
                </a:solidFill>
                <a:latin typeface="Times New Roman" panose="02020603050405020304" pitchFamily="18" charset="0"/>
                <a:ea typeface="微软雅黑" panose="020B0503020204020204" pitchFamily="34" charset="-122"/>
              </a:rPr>
              <a:t>：</a:t>
            </a:r>
            <a:r>
              <a:rPr kumimoji="1" lang="zh-CN" altLang="en-US" dirty="0">
                <a:solidFill>
                  <a:schemeClr val="tx2"/>
                </a:solidFill>
                <a:latin typeface="Times New Roman" panose="02020603050405020304" pitchFamily="18" charset="0"/>
                <a:ea typeface="微软雅黑" panose="020B0503020204020204" pitchFamily="34" charset="-122"/>
              </a:rPr>
              <a:t>林中有</a:t>
            </a:r>
            <a:r>
              <a:rPr kumimoji="1" lang="en-US" altLang="zh-CN" dirty="0">
                <a:solidFill>
                  <a:schemeClr val="tx2"/>
                </a:solidFill>
                <a:latin typeface="Times New Roman" panose="02020603050405020304" pitchFamily="18" charset="0"/>
                <a:ea typeface="微软雅黑" panose="020B0503020204020204" pitchFamily="34" charset="-122"/>
              </a:rPr>
              <a:t>15</a:t>
            </a:r>
            <a:r>
              <a:rPr kumimoji="1" lang="zh-CN" altLang="en-US" dirty="0">
                <a:solidFill>
                  <a:schemeClr val="tx2"/>
                </a:solidFill>
                <a:latin typeface="Times New Roman" panose="02020603050405020304" pitchFamily="18" charset="0"/>
                <a:ea typeface="微软雅黑" panose="020B0503020204020204" pitchFamily="34" charset="-122"/>
              </a:rPr>
              <a:t>棵树。林业工人今天将在林中种树。完成后，将有</a:t>
            </a:r>
            <a:r>
              <a:rPr kumimoji="1" lang="en-US" altLang="zh-CN" dirty="0">
                <a:solidFill>
                  <a:schemeClr val="tx2"/>
                </a:solidFill>
                <a:latin typeface="Times New Roman" panose="02020603050405020304" pitchFamily="18" charset="0"/>
                <a:ea typeface="微软雅黑" panose="020B0503020204020204" pitchFamily="34" charset="-122"/>
              </a:rPr>
              <a:t>21</a:t>
            </a:r>
            <a:r>
              <a:rPr kumimoji="1" lang="zh-CN" altLang="en-US" dirty="0">
                <a:solidFill>
                  <a:schemeClr val="tx2"/>
                </a:solidFill>
                <a:latin typeface="Times New Roman" panose="02020603050405020304" pitchFamily="18" charset="0"/>
                <a:ea typeface="微软雅黑" panose="020B0503020204020204" pitchFamily="34" charset="-122"/>
              </a:rPr>
              <a:t>棵树。林业工人今天种了多少棵树？</a:t>
            </a:r>
          </a:p>
          <a:p>
            <a:pPr>
              <a:lnSpc>
                <a:spcPct val="150000"/>
              </a:lnSpc>
            </a:pPr>
            <a:r>
              <a:rPr kumimoji="1" lang="en" altLang="zh-CN" dirty="0">
                <a:solidFill>
                  <a:schemeClr val="tx2"/>
                </a:solidFill>
                <a:latin typeface="Times New Roman" panose="02020603050405020304" pitchFamily="18" charset="0"/>
                <a:ea typeface="微软雅黑" panose="020B0503020204020204" pitchFamily="34" charset="-122"/>
              </a:rPr>
              <a:t>A</a:t>
            </a:r>
            <a:r>
              <a:rPr kumimoji="1" lang="zh-CN" altLang="en" dirty="0">
                <a:solidFill>
                  <a:schemeClr val="tx2"/>
                </a:solidFill>
                <a:latin typeface="Times New Roman" panose="02020603050405020304" pitchFamily="18" charset="0"/>
                <a:ea typeface="微软雅黑" panose="020B0503020204020204" pitchFamily="34" charset="-122"/>
              </a:rPr>
              <a:t>：</a:t>
            </a:r>
            <a:r>
              <a:rPr kumimoji="1" lang="zh-CN" altLang="en-US" dirty="0">
                <a:solidFill>
                  <a:schemeClr val="tx2"/>
                </a:solidFill>
                <a:latin typeface="Times New Roman" panose="02020603050405020304" pitchFamily="18" charset="0"/>
                <a:ea typeface="微软雅黑" panose="020B0503020204020204" pitchFamily="34" charset="-122"/>
              </a:rPr>
              <a:t>我们从</a:t>
            </a:r>
            <a:r>
              <a:rPr kumimoji="1" lang="en-US" altLang="zh-CN" dirty="0">
                <a:solidFill>
                  <a:schemeClr val="tx2"/>
                </a:solidFill>
                <a:latin typeface="Times New Roman" panose="02020603050405020304" pitchFamily="18" charset="0"/>
                <a:ea typeface="微软雅黑" panose="020B0503020204020204" pitchFamily="34" charset="-122"/>
              </a:rPr>
              <a:t>15</a:t>
            </a:r>
            <a:r>
              <a:rPr kumimoji="1" lang="zh-CN" altLang="en-US" dirty="0">
                <a:solidFill>
                  <a:schemeClr val="tx2"/>
                </a:solidFill>
                <a:latin typeface="Times New Roman" panose="02020603050405020304" pitchFamily="18" charset="0"/>
                <a:ea typeface="微软雅黑" panose="020B0503020204020204" pitchFamily="34" charset="-122"/>
              </a:rPr>
              <a:t>棵树开始。后来我们有</a:t>
            </a:r>
            <a:r>
              <a:rPr kumimoji="1" lang="en-US" altLang="zh-CN" dirty="0">
                <a:solidFill>
                  <a:schemeClr val="tx2"/>
                </a:solidFill>
                <a:latin typeface="Times New Roman" panose="02020603050405020304" pitchFamily="18" charset="0"/>
                <a:ea typeface="微软雅黑" panose="020B0503020204020204" pitchFamily="34" charset="-122"/>
              </a:rPr>
              <a:t>21</a:t>
            </a:r>
            <a:r>
              <a:rPr kumimoji="1" lang="zh-CN" altLang="en-US" dirty="0">
                <a:solidFill>
                  <a:schemeClr val="tx2"/>
                </a:solidFill>
                <a:latin typeface="Times New Roman" panose="02020603050405020304" pitchFamily="18" charset="0"/>
                <a:ea typeface="微软雅黑" panose="020B0503020204020204" pitchFamily="34" charset="-122"/>
              </a:rPr>
              <a:t>棵树。差异必须是他们种树的数量。因此，他们必须种了</a:t>
            </a:r>
            <a:r>
              <a:rPr kumimoji="1" lang="en-US" altLang="zh-CN" dirty="0">
                <a:solidFill>
                  <a:schemeClr val="tx2"/>
                </a:solidFill>
                <a:latin typeface="Times New Roman" panose="02020603050405020304" pitchFamily="18" charset="0"/>
                <a:ea typeface="微软雅黑" panose="020B0503020204020204" pitchFamily="34" charset="-122"/>
              </a:rPr>
              <a:t>21-15 = 6</a:t>
            </a:r>
            <a:r>
              <a:rPr kumimoji="1" lang="zh-CN" altLang="en-US" dirty="0">
                <a:solidFill>
                  <a:schemeClr val="tx2"/>
                </a:solidFill>
                <a:latin typeface="Times New Roman" panose="02020603050405020304" pitchFamily="18" charset="0"/>
                <a:ea typeface="微软雅黑" panose="020B0503020204020204" pitchFamily="34" charset="-122"/>
              </a:rPr>
              <a:t>棵树。答案是</a:t>
            </a:r>
            <a:r>
              <a:rPr kumimoji="1" lang="en-US" altLang="zh-CN" dirty="0">
                <a:solidFill>
                  <a:schemeClr val="tx2"/>
                </a:solidFill>
                <a:latin typeface="Times New Roman" panose="02020603050405020304" pitchFamily="18" charset="0"/>
                <a:ea typeface="微软雅黑" panose="020B0503020204020204" pitchFamily="34" charset="-122"/>
              </a:rPr>
              <a:t>6</a:t>
            </a:r>
            <a:r>
              <a:rPr kumimoji="1" lang="zh-CN" altLang="en-US" dirty="0">
                <a:solidFill>
                  <a:schemeClr val="tx2"/>
                </a:solidFill>
                <a:latin typeface="Times New Roman" panose="02020603050405020304" pitchFamily="18" charset="0"/>
                <a:ea typeface="微软雅黑" panose="020B0503020204020204" pitchFamily="34" charset="-122"/>
              </a:rPr>
              <a:t>。</a:t>
            </a:r>
          </a:p>
          <a:p>
            <a:pPr>
              <a:lnSpc>
                <a:spcPct val="150000"/>
              </a:lnSpc>
            </a:pPr>
            <a:r>
              <a:rPr kumimoji="1" lang="en" altLang="zh-CN" dirty="0">
                <a:solidFill>
                  <a:schemeClr val="tx2"/>
                </a:solidFill>
                <a:latin typeface="Times New Roman" panose="02020603050405020304" pitchFamily="18" charset="0"/>
                <a:ea typeface="微软雅黑" panose="020B0503020204020204" pitchFamily="34" charset="-122"/>
              </a:rPr>
              <a:t>Q</a:t>
            </a:r>
            <a:r>
              <a:rPr kumimoji="1" lang="zh-CN" altLang="en" dirty="0">
                <a:solidFill>
                  <a:schemeClr val="tx2"/>
                </a:solidFill>
                <a:latin typeface="Times New Roman" panose="02020603050405020304" pitchFamily="18" charset="0"/>
                <a:ea typeface="微软雅黑" panose="020B0503020204020204" pitchFamily="34" charset="-122"/>
              </a:rPr>
              <a:t>：</a:t>
            </a:r>
            <a:r>
              <a:rPr kumimoji="1" lang="zh-CN" altLang="en-US" dirty="0">
                <a:solidFill>
                  <a:schemeClr val="tx2"/>
                </a:solidFill>
                <a:latin typeface="Times New Roman" panose="02020603050405020304" pitchFamily="18" charset="0"/>
                <a:ea typeface="微软雅黑" panose="020B0503020204020204" pitchFamily="34" charset="-122"/>
              </a:rPr>
              <a:t>停车场有</a:t>
            </a:r>
            <a:r>
              <a:rPr kumimoji="1" lang="en-US" altLang="zh-CN" dirty="0">
                <a:solidFill>
                  <a:schemeClr val="tx2"/>
                </a:solidFill>
                <a:latin typeface="Times New Roman" panose="02020603050405020304" pitchFamily="18" charset="0"/>
                <a:ea typeface="微软雅黑" panose="020B0503020204020204" pitchFamily="34" charset="-122"/>
              </a:rPr>
              <a:t>3</a:t>
            </a:r>
            <a:r>
              <a:rPr kumimoji="1" lang="zh-CN" altLang="en-US" dirty="0">
                <a:solidFill>
                  <a:schemeClr val="tx2"/>
                </a:solidFill>
                <a:latin typeface="Times New Roman" panose="02020603050405020304" pitchFamily="18" charset="0"/>
                <a:ea typeface="微软雅黑" panose="020B0503020204020204" pitchFamily="34" charset="-122"/>
              </a:rPr>
              <a:t>辆汽车，又来了</a:t>
            </a:r>
            <a:r>
              <a:rPr kumimoji="1" lang="en-US" altLang="zh-CN" dirty="0">
                <a:solidFill>
                  <a:schemeClr val="tx2"/>
                </a:solidFill>
                <a:latin typeface="Times New Roman" panose="02020603050405020304" pitchFamily="18" charset="0"/>
                <a:ea typeface="微软雅黑" panose="020B0503020204020204" pitchFamily="34" charset="-122"/>
              </a:rPr>
              <a:t>2</a:t>
            </a:r>
            <a:r>
              <a:rPr kumimoji="1" lang="zh-CN" altLang="en-US" dirty="0">
                <a:solidFill>
                  <a:schemeClr val="tx2"/>
                </a:solidFill>
                <a:latin typeface="Times New Roman" panose="02020603050405020304" pitchFamily="18" charset="0"/>
                <a:ea typeface="微软雅黑" panose="020B0503020204020204" pitchFamily="34" charset="-122"/>
              </a:rPr>
              <a:t>辆汽车，停车场有多少辆汽车？</a:t>
            </a:r>
          </a:p>
          <a:p>
            <a:pPr>
              <a:lnSpc>
                <a:spcPct val="150000"/>
              </a:lnSpc>
            </a:pPr>
            <a:r>
              <a:rPr kumimoji="1" lang="en" altLang="zh-CN" dirty="0">
                <a:solidFill>
                  <a:schemeClr val="tx2"/>
                </a:solidFill>
                <a:latin typeface="Times New Roman" panose="02020603050405020304" pitchFamily="18" charset="0"/>
                <a:ea typeface="微软雅黑" panose="020B0503020204020204" pitchFamily="34" charset="-122"/>
              </a:rPr>
              <a:t>A</a:t>
            </a:r>
            <a:r>
              <a:rPr kumimoji="1" lang="zh-CN" altLang="en" dirty="0">
                <a:solidFill>
                  <a:schemeClr val="tx2"/>
                </a:solidFill>
                <a:latin typeface="Times New Roman" panose="02020603050405020304" pitchFamily="18" charset="0"/>
                <a:ea typeface="微软雅黑" panose="020B0503020204020204" pitchFamily="34" charset="-122"/>
              </a:rPr>
              <a:t>：</a:t>
            </a:r>
            <a:r>
              <a:rPr kumimoji="1" lang="zh-CN" altLang="en-US" dirty="0">
                <a:solidFill>
                  <a:schemeClr val="tx2"/>
                </a:solidFill>
                <a:latin typeface="Times New Roman" panose="02020603050405020304" pitchFamily="18" charset="0"/>
                <a:ea typeface="微软雅黑" panose="020B0503020204020204" pitchFamily="34" charset="-122"/>
              </a:rPr>
              <a:t>停车场已经有</a:t>
            </a:r>
            <a:r>
              <a:rPr kumimoji="1" lang="en-US" altLang="zh-CN" dirty="0">
                <a:solidFill>
                  <a:schemeClr val="tx2"/>
                </a:solidFill>
                <a:latin typeface="Times New Roman" panose="02020603050405020304" pitchFamily="18" charset="0"/>
                <a:ea typeface="微软雅黑" panose="020B0503020204020204" pitchFamily="34" charset="-122"/>
              </a:rPr>
              <a:t>3</a:t>
            </a:r>
            <a:r>
              <a:rPr kumimoji="1" lang="zh-CN" altLang="en-US" dirty="0">
                <a:solidFill>
                  <a:schemeClr val="tx2"/>
                </a:solidFill>
                <a:latin typeface="Times New Roman" panose="02020603050405020304" pitchFamily="18" charset="0"/>
                <a:ea typeface="微软雅黑" panose="020B0503020204020204" pitchFamily="34" charset="-122"/>
              </a:rPr>
              <a:t>辆汽车。又来了</a:t>
            </a:r>
            <a:r>
              <a:rPr kumimoji="1" lang="en-US" altLang="zh-CN" dirty="0">
                <a:solidFill>
                  <a:schemeClr val="tx2"/>
                </a:solidFill>
                <a:latin typeface="Times New Roman" panose="02020603050405020304" pitchFamily="18" charset="0"/>
                <a:ea typeface="微软雅黑" panose="020B0503020204020204" pitchFamily="34" charset="-122"/>
              </a:rPr>
              <a:t>2</a:t>
            </a:r>
            <a:r>
              <a:rPr kumimoji="1" lang="zh-CN" altLang="en-US" dirty="0">
                <a:solidFill>
                  <a:schemeClr val="tx2"/>
                </a:solidFill>
                <a:latin typeface="Times New Roman" panose="02020603050405020304" pitchFamily="18" charset="0"/>
                <a:ea typeface="微软雅黑" panose="020B0503020204020204" pitchFamily="34" charset="-122"/>
              </a:rPr>
              <a:t>辆。现在有</a:t>
            </a:r>
            <a:r>
              <a:rPr kumimoji="1" lang="en-US" altLang="zh-CN" dirty="0">
                <a:solidFill>
                  <a:schemeClr val="tx2"/>
                </a:solidFill>
                <a:latin typeface="Times New Roman" panose="02020603050405020304" pitchFamily="18" charset="0"/>
                <a:ea typeface="微软雅黑" panose="020B0503020204020204" pitchFamily="34" charset="-122"/>
              </a:rPr>
              <a:t>3 + 2 = 5</a:t>
            </a:r>
            <a:r>
              <a:rPr kumimoji="1" lang="zh-CN" altLang="en-US" dirty="0">
                <a:solidFill>
                  <a:schemeClr val="tx2"/>
                </a:solidFill>
                <a:latin typeface="Times New Roman" panose="02020603050405020304" pitchFamily="18" charset="0"/>
                <a:ea typeface="微软雅黑" panose="020B0503020204020204" pitchFamily="34" charset="-122"/>
              </a:rPr>
              <a:t>辆汽车。答案是</a:t>
            </a:r>
            <a:r>
              <a:rPr kumimoji="1" lang="en-US" altLang="zh-CN" dirty="0">
                <a:solidFill>
                  <a:schemeClr val="tx2"/>
                </a:solidFill>
                <a:latin typeface="Times New Roman" panose="02020603050405020304" pitchFamily="18" charset="0"/>
                <a:ea typeface="微软雅黑" panose="020B0503020204020204" pitchFamily="34" charset="-122"/>
              </a:rPr>
              <a:t>5</a:t>
            </a:r>
            <a:r>
              <a:rPr kumimoji="1" lang="zh-CN" altLang="en-US" dirty="0">
                <a:solidFill>
                  <a:schemeClr val="tx2"/>
                </a:solidFill>
                <a:latin typeface="Times New Roman" panose="02020603050405020304" pitchFamily="18" charset="0"/>
                <a:ea typeface="微软雅黑" panose="020B0503020204020204" pitchFamily="34" charset="-122"/>
              </a:rPr>
              <a:t>。</a:t>
            </a:r>
            <a:endParaRPr kumimoji="1" lang="en-US" altLang="zh-CN" dirty="0">
              <a:solidFill>
                <a:schemeClr val="tx2"/>
              </a:solidFill>
              <a:latin typeface="Times New Roman" panose="02020603050405020304" pitchFamily="18" charset="0"/>
              <a:ea typeface="微软雅黑" panose="020B0503020204020204" pitchFamily="34" charset="-122"/>
            </a:endParaRPr>
          </a:p>
          <a:p>
            <a:pPr>
              <a:lnSpc>
                <a:spcPct val="150000"/>
              </a:lnSpc>
            </a:pPr>
            <a:r>
              <a:rPr lang="en" altLang="zh-CN" dirty="0">
                <a:solidFill>
                  <a:schemeClr val="tx2"/>
                </a:solidFill>
                <a:effectLst/>
                <a:ea typeface="微软雅黑" panose="020B0503020204020204" pitchFamily="34" charset="-122"/>
              </a:rPr>
              <a:t>Q</a:t>
            </a:r>
            <a:r>
              <a:rPr lang="zh-CN" altLang="en" dirty="0">
                <a:solidFill>
                  <a:schemeClr val="tx2"/>
                </a:solidFill>
                <a:effectLst/>
                <a:ea typeface="微软雅黑" panose="020B0503020204020204" pitchFamily="34" charset="-122"/>
              </a:rPr>
              <a:t>：</a:t>
            </a:r>
            <a:r>
              <a:rPr lang="zh-CN" altLang="en-US" dirty="0">
                <a:solidFill>
                  <a:schemeClr val="tx2"/>
                </a:solidFill>
                <a:effectLst/>
                <a:ea typeface="微软雅黑" panose="020B0503020204020204" pitchFamily="34" charset="-122"/>
              </a:rPr>
              <a:t>当我</a:t>
            </a:r>
            <a:r>
              <a:rPr lang="en-US" altLang="zh-CN" dirty="0">
                <a:solidFill>
                  <a:schemeClr val="tx2"/>
                </a:solidFill>
                <a:effectLst/>
                <a:ea typeface="微软雅黑" panose="020B0503020204020204" pitchFamily="34" charset="-122"/>
              </a:rPr>
              <a:t>6</a:t>
            </a:r>
            <a:r>
              <a:rPr lang="zh-CN" altLang="en-US" dirty="0">
                <a:solidFill>
                  <a:schemeClr val="tx2"/>
                </a:solidFill>
                <a:effectLst/>
                <a:ea typeface="微软雅黑" panose="020B0503020204020204" pitchFamily="34" charset="-122"/>
              </a:rPr>
              <a:t>岁时，我的妹妹是我的一半年龄。现在我</a:t>
            </a:r>
            <a:r>
              <a:rPr lang="en-US" altLang="zh-CN" dirty="0">
                <a:solidFill>
                  <a:schemeClr val="tx2"/>
                </a:solidFill>
                <a:effectLst/>
                <a:ea typeface="微软雅黑" panose="020B0503020204020204" pitchFamily="34" charset="-122"/>
              </a:rPr>
              <a:t>70</a:t>
            </a:r>
            <a:r>
              <a:rPr lang="zh-CN" altLang="en-US" dirty="0">
                <a:solidFill>
                  <a:schemeClr val="tx2"/>
                </a:solidFill>
                <a:effectLst/>
                <a:ea typeface="微软雅黑" panose="020B0503020204020204" pitchFamily="34" charset="-122"/>
              </a:rPr>
              <a:t>岁了，我的妹妹多大？</a:t>
            </a:r>
            <a:endParaRPr lang="en-US" altLang="zh-CN" dirty="0">
              <a:solidFill>
                <a:schemeClr val="tx2"/>
              </a:solidFill>
              <a:effectLst/>
              <a:ea typeface="微软雅黑" panose="020B0503020204020204" pitchFamily="34" charset="-122"/>
            </a:endParaRPr>
          </a:p>
          <a:p>
            <a:pPr>
              <a:lnSpc>
                <a:spcPct val="150000"/>
              </a:lnSpc>
            </a:pPr>
            <a:r>
              <a:rPr kumimoji="1" lang="en-US" altLang="zh-CN" dirty="0">
                <a:solidFill>
                  <a:schemeClr val="tx2"/>
                </a:solidFill>
                <a:latin typeface="Times New Roman" panose="02020603050405020304" pitchFamily="18" charset="0"/>
                <a:ea typeface="微软雅黑" panose="020B0503020204020204" pitchFamily="34" charset="-122"/>
              </a:rPr>
              <a:t>A</a:t>
            </a:r>
            <a:r>
              <a:rPr kumimoji="1" lang="zh-CN" altLang="en-US" dirty="0">
                <a:solidFill>
                  <a:schemeClr val="tx2"/>
                </a:solidFill>
                <a:latin typeface="Times New Roman" panose="02020603050405020304" pitchFamily="18" charset="0"/>
                <a:ea typeface="微软雅黑" panose="020B0503020204020204" pitchFamily="34" charset="-122"/>
              </a:rPr>
              <a:t>：</a:t>
            </a:r>
            <a:r>
              <a:rPr lang="zh-CN" altLang="en-US" dirty="0">
                <a:solidFill>
                  <a:schemeClr val="tx2"/>
                </a:solidFill>
                <a:effectLst/>
                <a:ea typeface="微软雅黑" panose="020B0503020204020204" pitchFamily="34" charset="-122"/>
              </a:rPr>
              <a:t>当我</a:t>
            </a:r>
            <a:r>
              <a:rPr lang="en-US" altLang="zh-CN" dirty="0">
                <a:solidFill>
                  <a:schemeClr val="tx2"/>
                </a:solidFill>
                <a:effectLst/>
                <a:ea typeface="微软雅黑" panose="020B0503020204020204" pitchFamily="34" charset="-122"/>
              </a:rPr>
              <a:t>6</a:t>
            </a:r>
            <a:r>
              <a:rPr lang="zh-CN" altLang="en-US" dirty="0">
                <a:solidFill>
                  <a:schemeClr val="tx2"/>
                </a:solidFill>
                <a:effectLst/>
                <a:ea typeface="微软雅黑" panose="020B0503020204020204" pitchFamily="34" charset="-122"/>
              </a:rPr>
              <a:t>岁时，我的妹妹是我的一半年龄，也就是</a:t>
            </a:r>
            <a:r>
              <a:rPr lang="en-US" altLang="zh-CN" dirty="0">
                <a:solidFill>
                  <a:schemeClr val="tx2"/>
                </a:solidFill>
                <a:effectLst/>
                <a:ea typeface="微软雅黑" panose="020B0503020204020204" pitchFamily="34" charset="-122"/>
              </a:rPr>
              <a:t>3</a:t>
            </a:r>
            <a:r>
              <a:rPr lang="zh-CN" altLang="en-US" dirty="0">
                <a:solidFill>
                  <a:schemeClr val="tx2"/>
                </a:solidFill>
                <a:effectLst/>
                <a:ea typeface="微软雅黑" panose="020B0503020204020204" pitchFamily="34" charset="-122"/>
              </a:rPr>
              <a:t>岁。现在我</a:t>
            </a:r>
            <a:r>
              <a:rPr lang="en-US" altLang="zh-CN" dirty="0">
                <a:solidFill>
                  <a:schemeClr val="tx2"/>
                </a:solidFill>
                <a:effectLst/>
                <a:ea typeface="微软雅黑" panose="020B0503020204020204" pitchFamily="34" charset="-122"/>
              </a:rPr>
              <a:t>70</a:t>
            </a:r>
            <a:r>
              <a:rPr lang="zh-CN" altLang="en-US" dirty="0">
                <a:solidFill>
                  <a:schemeClr val="tx2"/>
                </a:solidFill>
                <a:effectLst/>
                <a:ea typeface="微软雅黑" panose="020B0503020204020204" pitchFamily="34" charset="-122"/>
              </a:rPr>
              <a:t>岁了，所以她是</a:t>
            </a:r>
            <a:r>
              <a:rPr lang="en-US" altLang="zh-CN" dirty="0">
                <a:solidFill>
                  <a:schemeClr val="tx2"/>
                </a:solidFill>
                <a:effectLst/>
                <a:ea typeface="微软雅黑" panose="020B0503020204020204" pitchFamily="34" charset="-122"/>
              </a:rPr>
              <a:t>70-3 = 67</a:t>
            </a:r>
            <a:r>
              <a:rPr lang="zh-CN" altLang="en-US" dirty="0">
                <a:solidFill>
                  <a:schemeClr val="tx2"/>
                </a:solidFill>
                <a:effectLst/>
                <a:ea typeface="微软雅黑" panose="020B0503020204020204" pitchFamily="34" charset="-122"/>
              </a:rPr>
              <a:t>岁。答案是</a:t>
            </a:r>
            <a:r>
              <a:rPr lang="en-US" altLang="zh-CN" dirty="0">
                <a:solidFill>
                  <a:schemeClr val="tx2"/>
                </a:solidFill>
                <a:effectLst/>
                <a:ea typeface="微软雅黑" panose="020B0503020204020204" pitchFamily="34" charset="-122"/>
              </a:rPr>
              <a:t>67</a:t>
            </a:r>
            <a:r>
              <a:rPr lang="zh-CN" altLang="en-US" dirty="0">
                <a:solidFill>
                  <a:schemeClr val="tx2"/>
                </a:solidFill>
                <a:effectLst/>
                <a:ea typeface="微软雅黑" panose="020B0503020204020204" pitchFamily="34" charset="-122"/>
              </a:rPr>
              <a:t>。      </a:t>
            </a:r>
            <a:r>
              <a:rPr lang="zh-CN" altLang="en-US" dirty="0">
                <a:solidFill>
                  <a:srgbClr val="B61516"/>
                </a:solidFill>
                <a:effectLst/>
                <a:ea typeface="微软雅黑" panose="020B0503020204020204" pitchFamily="34" charset="-122"/>
              </a:rPr>
              <a:t>回答正确！</a:t>
            </a:r>
            <a:endParaRPr kumimoji="1" lang="zh-CN" altLang="en-US" dirty="0">
              <a:solidFill>
                <a:schemeClr val="tx2"/>
              </a:solidFill>
              <a:latin typeface="Times New Roman" panose="02020603050405020304" pitchFamily="18" charset="0"/>
              <a:ea typeface="微软雅黑" panose="020B0503020204020204" pitchFamily="34" charset="-122"/>
            </a:endParaRPr>
          </a:p>
        </p:txBody>
      </p:sp>
      <p:sp>
        <p:nvSpPr>
          <p:cNvPr id="9" name="文本框 8">
            <a:extLst>
              <a:ext uri="{FF2B5EF4-FFF2-40B4-BE49-F238E27FC236}">
                <a16:creationId xmlns:a16="http://schemas.microsoft.com/office/drawing/2014/main" id="{83C6AD7F-C06F-5F92-76BF-959B24C5E49A}"/>
              </a:ext>
            </a:extLst>
          </p:cNvPr>
          <p:cNvSpPr txBox="1"/>
          <p:nvPr/>
        </p:nvSpPr>
        <p:spPr>
          <a:xfrm>
            <a:off x="94785" y="6368322"/>
            <a:ext cx="7064297" cy="307777"/>
          </a:xfrm>
          <a:prstGeom prst="rect">
            <a:avLst/>
          </a:prstGeom>
          <a:noFill/>
        </p:spPr>
        <p:txBody>
          <a:bodyPr wrap="square">
            <a:spAutoFit/>
          </a:bodyPr>
          <a:lstStyle/>
          <a:p>
            <a:r>
              <a:rPr lang="zh-CN" altLang="en-US" sz="1400" dirty="0">
                <a:solidFill>
                  <a:schemeClr val="bg1"/>
                </a:solidFill>
              </a:rPr>
              <a:t>https://www.promptingguide.ai/zh/techniques/consistency</a:t>
            </a:r>
          </a:p>
        </p:txBody>
      </p:sp>
      <p:sp>
        <p:nvSpPr>
          <p:cNvPr id="4" name="文本框 3">
            <a:extLst>
              <a:ext uri="{FF2B5EF4-FFF2-40B4-BE49-F238E27FC236}">
                <a16:creationId xmlns:a16="http://schemas.microsoft.com/office/drawing/2014/main" id="{9AB41CEC-3FDB-6F0E-25A6-D415C5F9C6E1}"/>
              </a:ext>
            </a:extLst>
          </p:cNvPr>
          <p:cNvSpPr txBox="1"/>
          <p:nvPr/>
        </p:nvSpPr>
        <p:spPr>
          <a:xfrm>
            <a:off x="425954" y="5280458"/>
            <a:ext cx="4577899" cy="830997"/>
          </a:xfrm>
          <a:prstGeom prst="rect">
            <a:avLst/>
          </a:prstGeom>
          <a:noFill/>
        </p:spPr>
        <p:txBody>
          <a:bodyPr wrap="square" rtlCol="0">
            <a:spAutoFit/>
          </a:bodyPr>
          <a:lstStyle/>
          <a:p>
            <a:pPr algn="l"/>
            <a:r>
              <a:rPr kumimoji="1" lang="zh-CN" altLang="en-US" sz="2400" b="1" dirty="0">
                <a:ea typeface="微软雅黑" panose="020B0503020204020204" pitchFamily="34" charset="-122"/>
              </a:rPr>
              <a:t>不同提示词对回答影响很大</a:t>
            </a:r>
            <a:r>
              <a:rPr kumimoji="1" lang="zh-CN" altLang="en-US" sz="2400" dirty="0">
                <a:ea typeface="微软雅黑" panose="020B0503020204020204" pitchFamily="34" charset="-122"/>
              </a:rPr>
              <a:t>！</a:t>
            </a:r>
            <a:endParaRPr kumimoji="1" lang="en-US" altLang="zh-CN" sz="2400" dirty="0">
              <a:ea typeface="微软雅黑" panose="020B0503020204020204" pitchFamily="34" charset="-122"/>
            </a:endParaRPr>
          </a:p>
          <a:p>
            <a:pPr algn="l"/>
            <a:r>
              <a:rPr kumimoji="1" lang="zh-CN" altLang="en-US" sz="2400" dirty="0">
                <a:ea typeface="微软雅黑" panose="020B0503020204020204" pitchFamily="34" charset="-122"/>
              </a:rPr>
              <a:t>但现在的大模型正做得越来越好。</a:t>
            </a:r>
          </a:p>
        </p:txBody>
      </p:sp>
    </p:spTree>
    <p:extLst>
      <p:ext uri="{BB962C8B-B14F-4D97-AF65-F5344CB8AC3E}">
        <p14:creationId xmlns:p14="http://schemas.microsoft.com/office/powerpoint/2010/main" val="3312573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ADD1A2-4383-CE0E-5991-227D6F9CF908}"/>
              </a:ext>
            </a:extLst>
          </p:cNvPr>
          <p:cNvSpPr>
            <a:spLocks noGrp="1"/>
          </p:cNvSpPr>
          <p:nvPr>
            <p:ph type="title"/>
          </p:nvPr>
        </p:nvSpPr>
        <p:spPr/>
        <p:txBody>
          <a:bodyPr/>
          <a:lstStyle/>
          <a:p>
            <a:r>
              <a:rPr kumimoji="1" lang="zh-CN" altLang="en-US" dirty="0"/>
              <a:t>知识蒸馏</a:t>
            </a:r>
          </a:p>
        </p:txBody>
      </p:sp>
      <p:pic>
        <p:nvPicPr>
          <p:cNvPr id="4" name="图片 3">
            <a:extLst>
              <a:ext uri="{FF2B5EF4-FFF2-40B4-BE49-F238E27FC236}">
                <a16:creationId xmlns:a16="http://schemas.microsoft.com/office/drawing/2014/main" id="{666D3DB5-C77C-3982-5788-72C4D6DE8B4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419600" y="761979"/>
            <a:ext cx="7772400" cy="382014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3DBF9F5-3E8D-6094-94C8-BEEEA0DFAC21}"/>
                  </a:ext>
                </a:extLst>
              </p:cNvPr>
              <p:cNvSpPr txBox="1"/>
              <p:nvPr/>
            </p:nvSpPr>
            <p:spPr>
              <a:xfrm>
                <a:off x="4139455" y="3941058"/>
                <a:ext cx="5275478" cy="2275944"/>
              </a:xfrm>
              <a:prstGeom prst="rect">
                <a:avLst/>
              </a:prstGeom>
              <a:noFill/>
            </p:spPr>
            <p:txBody>
              <a:bodyPr wrap="square" lIns="0" tIns="0" rIns="0" bIns="0" rtlCol="0">
                <a:spAutoFit/>
              </a:bodyPr>
              <a:lstStyle/>
              <a:p>
                <a:pPr algn="l"/>
                <a14:m>
                  <m:oMathPara xmlns:m="http://schemas.openxmlformats.org/officeDocument/2006/math">
                    <m:oMath>
                      <m:r>
                        <m:rPr>
                          <m:sty m:val="p"/>
                        </m:rPr>
                        <a:rPr kumimoji="1" lang="en-US" altLang="zh-CN" sz="2400" i="1" smtClean="0">
                          <a:solidFill>
                            <a:schemeClr val="tx2"/>
                          </a:solidFill>
                          <a:latin typeface="Cambria Math" panose="02040503050406030204" pitchFamily="18" charset="0"/>
                        </a:rPr>
                        <m:t>Soft</m:t>
                      </m:r>
                      <m:r>
                        <a:rPr kumimoji="1" lang="en-US" altLang="zh-CN" sz="2400" b="0" i="1" smtClean="0">
                          <a:solidFill>
                            <a:schemeClr val="tx2"/>
                          </a:solidFill>
                          <a:latin typeface="Cambria Math" panose="02040503050406030204" pitchFamily="18" charset="0"/>
                        </a:rPr>
                        <m:t>𝑚𝑎𝑥</m:t>
                      </m:r>
                      <m:r>
                        <a:rPr kumimoji="1" lang="en-US" altLang="zh-CN" sz="2400" b="0" i="1" smtClean="0">
                          <a:solidFill>
                            <a:schemeClr val="tx2"/>
                          </a:solidFill>
                          <a:latin typeface="Cambria Math" panose="02040503050406030204" pitchFamily="18" charset="0"/>
                        </a:rPr>
                        <m:t> </m:t>
                      </m:r>
                      <m:d>
                        <m:dPr>
                          <m:ctrlPr>
                            <a:rPr kumimoji="1" lang="en-US" altLang="zh-CN" sz="2400" b="0" i="1" smtClean="0">
                              <a:solidFill>
                                <a:schemeClr val="tx2"/>
                              </a:solidFill>
                              <a:latin typeface="Cambria Math" panose="02040503050406030204" pitchFamily="18" charset="0"/>
                            </a:rPr>
                          </m:ctrlPr>
                        </m:dPr>
                        <m:e>
                          <m:r>
                            <a:rPr kumimoji="1" lang="en-US" altLang="zh-CN" sz="2400" b="0" i="1" smtClean="0">
                              <a:solidFill>
                                <a:schemeClr val="tx2"/>
                              </a:solidFill>
                              <a:latin typeface="Cambria Math" panose="02040503050406030204" pitchFamily="18" charset="0"/>
                            </a:rPr>
                            <m:t>𝑇</m:t>
                          </m:r>
                          <m:r>
                            <a:rPr kumimoji="1" lang="en-US" altLang="zh-CN" sz="2400" b="0" i="1" smtClean="0">
                              <a:solidFill>
                                <a:schemeClr val="tx2"/>
                              </a:solidFill>
                              <a:latin typeface="Cambria Math" panose="02040503050406030204" pitchFamily="18" charset="0"/>
                            </a:rPr>
                            <m:t>=</m:t>
                          </m:r>
                          <m:r>
                            <a:rPr kumimoji="1" lang="en-US" altLang="zh-CN" sz="2400" b="0" i="1" smtClean="0">
                              <a:solidFill>
                                <a:schemeClr val="tx2"/>
                              </a:solidFill>
                              <a:latin typeface="Cambria Math" panose="02040503050406030204" pitchFamily="18" charset="0"/>
                            </a:rPr>
                            <m:t>𝑡</m:t>
                          </m:r>
                        </m:e>
                      </m:d>
                      <m:r>
                        <a:rPr kumimoji="1" lang="en-US" altLang="zh-CN" sz="2400" b="0" i="1" smtClean="0">
                          <a:solidFill>
                            <a:schemeClr val="tx2"/>
                          </a:solidFill>
                          <a:latin typeface="Cambria Math" panose="02040503050406030204" pitchFamily="18" charset="0"/>
                        </a:rPr>
                        <m:t>: </m:t>
                      </m:r>
                      <m:f>
                        <m:fPr>
                          <m:ctrlPr>
                            <a:rPr kumimoji="1" lang="en-US" altLang="zh-CN" sz="2400" b="0" i="0" smtClean="0">
                              <a:solidFill>
                                <a:schemeClr val="tx2"/>
                              </a:solidFill>
                              <a:latin typeface="Cambria Math" panose="02040503050406030204" pitchFamily="18" charset="0"/>
                            </a:rPr>
                          </m:ctrlPr>
                        </m:fPr>
                        <m:num>
                          <m:r>
                            <m:rPr>
                              <m:sty m:val="p"/>
                            </m:rPr>
                            <a:rPr kumimoji="1" lang="en-US" altLang="zh-CN" sz="2400" b="0" i="0" smtClean="0">
                              <a:solidFill>
                                <a:schemeClr val="tx2"/>
                              </a:solidFill>
                              <a:latin typeface="Cambria Math" panose="02040503050406030204" pitchFamily="18" charset="0"/>
                            </a:rPr>
                            <m:t>exp</m:t>
                          </m:r>
                          <m:r>
                            <a:rPr kumimoji="1" lang="en-US" altLang="zh-CN" sz="2400" b="0" i="1" smtClean="0">
                              <a:solidFill>
                                <a:schemeClr val="tx2"/>
                              </a:solidFill>
                              <a:latin typeface="Cambria Math" panose="02040503050406030204" pitchFamily="18" charset="0"/>
                            </a:rPr>
                            <m:t>⁡(</m:t>
                          </m:r>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𝑧</m:t>
                              </m:r>
                            </m:e>
                            <m:sub>
                              <m:r>
                                <a:rPr kumimoji="1" lang="en-US" altLang="zh-CN" sz="2400" b="0" i="1" smtClean="0">
                                  <a:solidFill>
                                    <a:schemeClr val="tx2"/>
                                  </a:solidFill>
                                  <a:latin typeface="Cambria Math" panose="02040503050406030204" pitchFamily="18" charset="0"/>
                                </a:rPr>
                                <m:t>𝑖</m:t>
                              </m:r>
                            </m:sub>
                          </m:sSub>
                          <m:r>
                            <a:rPr kumimoji="1" lang="en-US" altLang="zh-CN" sz="2400" b="0" i="1" smtClean="0">
                              <a:solidFill>
                                <a:schemeClr val="tx2"/>
                              </a:solidFill>
                              <a:latin typeface="Cambria Math" panose="02040503050406030204" pitchFamily="18" charset="0"/>
                            </a:rPr>
                            <m:t>/</m:t>
                          </m:r>
                          <m:r>
                            <a:rPr kumimoji="1" lang="en-US" altLang="zh-CN" sz="2400" b="0" i="1" smtClean="0">
                              <a:solidFill>
                                <a:schemeClr val="tx2"/>
                              </a:solidFill>
                              <a:latin typeface="Cambria Math" panose="02040503050406030204" pitchFamily="18" charset="0"/>
                            </a:rPr>
                            <m:t>𝑇</m:t>
                          </m:r>
                          <m:r>
                            <a:rPr kumimoji="1" lang="en-US" altLang="zh-CN" sz="2400" b="0" i="1" smtClean="0">
                              <a:solidFill>
                                <a:schemeClr val="tx2"/>
                              </a:solidFill>
                              <a:latin typeface="Cambria Math" panose="02040503050406030204" pitchFamily="18" charset="0"/>
                            </a:rPr>
                            <m:t>)</m:t>
                          </m:r>
                        </m:num>
                        <m:den>
                          <m:r>
                            <a:rPr kumimoji="1" lang="en-US" altLang="zh-CN" sz="2400" b="0" i="1" smtClean="0">
                              <a:solidFill>
                                <a:schemeClr val="tx2"/>
                              </a:solidFill>
                              <a:latin typeface="Cambria Math" panose="02040503050406030204" pitchFamily="18" charset="0"/>
                            </a:rPr>
                            <m:t>∑</m:t>
                          </m:r>
                          <m:r>
                            <m:rPr>
                              <m:sty m:val="p"/>
                            </m:rPr>
                            <a:rPr kumimoji="1" lang="en-US" altLang="zh-CN" sz="2400" b="0" i="0" smtClean="0">
                              <a:solidFill>
                                <a:schemeClr val="tx2"/>
                              </a:solidFill>
                              <a:latin typeface="Cambria Math" panose="02040503050406030204" pitchFamily="18" charset="0"/>
                            </a:rPr>
                            <m:t>exp</m:t>
                          </m:r>
                          <m:r>
                            <a:rPr kumimoji="1" lang="en-US" altLang="zh-CN" sz="2400" b="0" i="1" smtClean="0">
                              <a:solidFill>
                                <a:schemeClr val="tx2"/>
                              </a:solidFill>
                              <a:latin typeface="Cambria Math" panose="02040503050406030204" pitchFamily="18" charset="0"/>
                            </a:rPr>
                            <m:t>⁡(</m:t>
                          </m:r>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𝑧</m:t>
                              </m:r>
                            </m:e>
                            <m:sub>
                              <m:r>
                                <a:rPr kumimoji="1" lang="en-US" altLang="zh-CN" sz="2400" b="0" i="1" smtClean="0">
                                  <a:solidFill>
                                    <a:schemeClr val="tx2"/>
                                  </a:solidFill>
                                  <a:latin typeface="Cambria Math" panose="02040503050406030204" pitchFamily="18" charset="0"/>
                                </a:rPr>
                                <m:t>𝑖</m:t>
                              </m:r>
                            </m:sub>
                          </m:sSub>
                          <m:r>
                            <a:rPr kumimoji="1" lang="en-US" altLang="zh-CN" sz="2400" b="0" i="1" smtClean="0">
                              <a:solidFill>
                                <a:schemeClr val="tx2"/>
                              </a:solidFill>
                              <a:latin typeface="Cambria Math" panose="02040503050406030204" pitchFamily="18" charset="0"/>
                            </a:rPr>
                            <m:t>/</m:t>
                          </m:r>
                          <m:r>
                            <a:rPr kumimoji="1" lang="en-US" altLang="zh-CN" sz="2400" b="0" i="1" smtClean="0">
                              <a:solidFill>
                                <a:schemeClr val="tx2"/>
                              </a:solidFill>
                              <a:latin typeface="Cambria Math" panose="02040503050406030204" pitchFamily="18" charset="0"/>
                            </a:rPr>
                            <m:t>𝑇</m:t>
                          </m:r>
                          <m:r>
                            <a:rPr kumimoji="1" lang="en-US" altLang="zh-CN" sz="2400" b="0" i="1" smtClean="0">
                              <a:solidFill>
                                <a:schemeClr val="tx2"/>
                              </a:solidFill>
                              <a:latin typeface="Cambria Math" panose="02040503050406030204" pitchFamily="18" charset="0"/>
                            </a:rPr>
                            <m:t>)</m:t>
                          </m:r>
                        </m:den>
                      </m:f>
                    </m:oMath>
                  </m:oMathPara>
                </a14:m>
                <a:endParaRPr kumimoji="1" lang="en-US" altLang="zh-CN" sz="2400" dirty="0">
                  <a:solidFill>
                    <a:schemeClr val="tx2"/>
                  </a:solidFill>
                </a:endParaRPr>
              </a:p>
              <a:p>
                <a:pPr algn="l"/>
                <a:endParaRPr kumimoji="1" lang="en-US" altLang="zh-CN" sz="2400" dirty="0">
                  <a:solidFill>
                    <a:schemeClr val="tx2"/>
                  </a:solidFill>
                </a:endParaRPr>
              </a:p>
              <a:p>
                <a:pPr algn="l"/>
                <a14:m>
                  <m:oMathPara xmlns:m="http://schemas.openxmlformats.org/officeDocument/2006/math">
                    <m:oMath>
                      <m:r>
                        <a:rPr kumimoji="1" lang="en-US" altLang="zh-CN" sz="2400" b="0" i="1" smtClean="0">
                          <a:solidFill>
                            <a:schemeClr val="tx2"/>
                          </a:solidFill>
                          <a:latin typeface="Cambria Math" panose="02040503050406030204" pitchFamily="18" charset="0"/>
                        </a:rPr>
                        <m:t>𝐿</m:t>
                      </m:r>
                      <m:r>
                        <a:rPr kumimoji="1" lang="en-US" altLang="zh-CN" sz="2400" b="0" i="1" smtClean="0">
                          <a:solidFill>
                            <a:schemeClr val="tx2"/>
                          </a:solidFill>
                          <a:latin typeface="Cambria Math" panose="02040503050406030204" pitchFamily="18" charset="0"/>
                        </a:rPr>
                        <m:t>=</m:t>
                      </m:r>
                      <m:r>
                        <a:rPr kumimoji="1" lang="en-US" altLang="zh-CN" sz="2400" b="0" i="1" smtClean="0">
                          <a:solidFill>
                            <a:schemeClr val="tx2"/>
                          </a:solidFill>
                          <a:latin typeface="Cambria Math" panose="02040503050406030204" pitchFamily="18" charset="0"/>
                        </a:rPr>
                        <m:t>𝛼</m:t>
                      </m:r>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𝐿</m:t>
                          </m:r>
                        </m:e>
                        <m:sub>
                          <m:r>
                            <a:rPr kumimoji="1" lang="en-US" altLang="zh-CN" sz="2400" b="0" i="1" smtClean="0">
                              <a:solidFill>
                                <a:schemeClr val="tx2"/>
                              </a:solidFill>
                              <a:latin typeface="Cambria Math" panose="02040503050406030204" pitchFamily="18" charset="0"/>
                            </a:rPr>
                            <m:t>𝑠𝑜𝑓𝑡</m:t>
                          </m:r>
                        </m:sub>
                      </m:sSub>
                      <m:r>
                        <a:rPr kumimoji="1" lang="en-US" altLang="zh-CN" sz="2400" b="0" i="1" smtClean="0">
                          <a:solidFill>
                            <a:schemeClr val="tx2"/>
                          </a:solidFill>
                          <a:latin typeface="Cambria Math" panose="02040503050406030204" pitchFamily="18" charset="0"/>
                        </a:rPr>
                        <m:t>+</m:t>
                      </m:r>
                      <m:r>
                        <a:rPr kumimoji="1" lang="en-US" altLang="zh-CN" sz="2400" b="0" i="1" smtClean="0">
                          <a:solidFill>
                            <a:schemeClr val="tx2"/>
                          </a:solidFill>
                          <a:latin typeface="Cambria Math" panose="02040503050406030204" pitchFamily="18" charset="0"/>
                        </a:rPr>
                        <m:t>𝛽</m:t>
                      </m:r>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𝐿</m:t>
                          </m:r>
                        </m:e>
                        <m:sub>
                          <m:r>
                            <a:rPr kumimoji="1" lang="en-US" altLang="zh-CN" sz="2400" b="0" i="1" smtClean="0">
                              <a:solidFill>
                                <a:schemeClr val="tx2"/>
                              </a:solidFill>
                              <a:latin typeface="Cambria Math" panose="02040503050406030204" pitchFamily="18" charset="0"/>
                            </a:rPr>
                            <m:t>ℎ𝑎𝑟𝑑</m:t>
                          </m:r>
                        </m:sub>
                      </m:sSub>
                    </m:oMath>
                  </m:oMathPara>
                </a14:m>
                <a:endParaRPr kumimoji="1" lang="en-US" altLang="zh-CN" sz="2400" dirty="0">
                  <a:solidFill>
                    <a:schemeClr val="tx2"/>
                  </a:solidFill>
                </a:endParaRPr>
              </a:p>
              <a:p>
                <a:pPr algn="l"/>
                <a:endParaRPr kumimoji="1" lang="en-US" altLang="zh-CN" sz="2400" dirty="0">
                  <a:solidFill>
                    <a:schemeClr val="tx2"/>
                  </a:solidFill>
                </a:endParaRPr>
              </a:p>
              <a:p>
                <a:pPr algn="l"/>
                <a14:m>
                  <m:oMathPara xmlns:m="http://schemas.openxmlformats.org/officeDocument/2006/math">
                    <m:oMath>
                      <m:r>
                        <a:rPr kumimoji="1" lang="en-US" altLang="zh-CN" sz="2400" b="0" i="1" smtClean="0">
                          <a:solidFill>
                            <a:schemeClr val="tx2"/>
                          </a:solidFill>
                          <a:latin typeface="Cambria Math" panose="02040503050406030204" pitchFamily="18" charset="0"/>
                        </a:rPr>
                        <m:t>𝛼</m:t>
                      </m:r>
                      <m:r>
                        <a:rPr kumimoji="1" lang="en-US" altLang="zh-CN" sz="2400" b="0" i="1" smtClean="0">
                          <a:solidFill>
                            <a:schemeClr val="tx2"/>
                          </a:solidFill>
                          <a:latin typeface="Cambria Math" panose="02040503050406030204" pitchFamily="18" charset="0"/>
                        </a:rPr>
                        <m:t>, </m:t>
                      </m:r>
                      <m:r>
                        <a:rPr kumimoji="1" lang="en-US" altLang="zh-CN" sz="2400" b="0" i="1" smtClean="0">
                          <a:solidFill>
                            <a:schemeClr val="tx2"/>
                          </a:solidFill>
                          <a:latin typeface="Cambria Math" panose="02040503050406030204" pitchFamily="18" charset="0"/>
                        </a:rPr>
                        <m:t>𝛽</m:t>
                      </m:r>
                      <m:r>
                        <a:rPr kumimoji="1" lang="en-US" altLang="zh-CN" sz="2400" b="0" i="1" smtClean="0">
                          <a:solidFill>
                            <a:schemeClr val="tx2"/>
                          </a:solidFill>
                          <a:latin typeface="Cambria Math" panose="02040503050406030204" pitchFamily="18" charset="0"/>
                        </a:rPr>
                        <m:t> 为超参数</m:t>
                      </m:r>
                    </m:oMath>
                  </m:oMathPara>
                </a14:m>
                <a:endParaRPr kumimoji="1" lang="zh-CN" altLang="en-US" sz="2400" dirty="0">
                  <a:solidFill>
                    <a:schemeClr val="tx2"/>
                  </a:solidFill>
                </a:endParaRPr>
              </a:p>
            </p:txBody>
          </p:sp>
        </mc:Choice>
        <mc:Fallback xmlns="">
          <p:sp>
            <p:nvSpPr>
              <p:cNvPr id="5" name="文本框 4">
                <a:extLst>
                  <a:ext uri="{FF2B5EF4-FFF2-40B4-BE49-F238E27FC236}">
                    <a16:creationId xmlns:a16="http://schemas.microsoft.com/office/drawing/2014/main" id="{E3DBF9F5-3E8D-6094-94C8-BEEEA0DFAC21}"/>
                  </a:ext>
                </a:extLst>
              </p:cNvPr>
              <p:cNvSpPr txBox="1">
                <a:spLocks noRot="1" noChangeAspect="1" noMove="1" noResize="1" noEditPoints="1" noAdjustHandles="1" noChangeArrowheads="1" noChangeShapeType="1" noTextEdit="1"/>
              </p:cNvSpPr>
              <p:nvPr/>
            </p:nvSpPr>
            <p:spPr>
              <a:xfrm>
                <a:off x="4139455" y="3941058"/>
                <a:ext cx="5275478" cy="2275944"/>
              </a:xfrm>
              <a:prstGeom prst="rect">
                <a:avLst/>
              </a:prstGeom>
              <a:blipFill>
                <a:blip r:embed="rId5"/>
                <a:stretch>
                  <a:fillRect t="-2222" b="-5000"/>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179AA784-7551-605D-C8D8-6EAC3A102149}"/>
              </a:ext>
            </a:extLst>
          </p:cNvPr>
          <p:cNvSpPr txBox="1"/>
          <p:nvPr/>
        </p:nvSpPr>
        <p:spPr>
          <a:xfrm>
            <a:off x="177055" y="6401670"/>
            <a:ext cx="7297942" cy="307777"/>
          </a:xfrm>
          <a:prstGeom prst="rect">
            <a:avLst/>
          </a:prstGeom>
          <a:noFill/>
        </p:spPr>
        <p:txBody>
          <a:bodyPr wrap="square">
            <a:spAutoFit/>
          </a:bodyPr>
          <a:lstStyle/>
          <a:p>
            <a:r>
              <a:rPr lang="zh-CN" altLang="en-US" sz="1400" dirty="0">
                <a:solidFill>
                  <a:schemeClr val="bg1"/>
                </a:solidFill>
              </a:rPr>
              <a:t>https://intellabs.github.io/distiller/knowledge_distillation.html</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25C31BD-1524-C736-F373-578010C5E7F8}"/>
                  </a:ext>
                </a:extLst>
              </p:cNvPr>
              <p:cNvSpPr txBox="1"/>
              <p:nvPr/>
            </p:nvSpPr>
            <p:spPr>
              <a:xfrm>
                <a:off x="4426997" y="3479393"/>
                <a:ext cx="6096000" cy="461665"/>
              </a:xfrm>
              <a:prstGeom prst="rect">
                <a:avLst/>
              </a:prstGeom>
              <a:noFill/>
            </p:spPr>
            <p:txBody>
              <a:bodyPr wrap="square">
                <a:spAutoFit/>
              </a:bodyPr>
              <a:lstStyle/>
              <a:p>
                <a:pPr algn="l"/>
                <a14:m>
                  <m:oMath xmlns:m="http://schemas.openxmlformats.org/officeDocument/2006/math">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𝑧</m:t>
                        </m:r>
                      </m:e>
                      <m:sub>
                        <m:r>
                          <a:rPr kumimoji="1" lang="en-US" altLang="zh-CN" sz="2400" b="0" i="1" smtClean="0">
                            <a:solidFill>
                              <a:schemeClr val="tx2"/>
                            </a:solidFill>
                            <a:latin typeface="Cambria Math" panose="02040503050406030204" pitchFamily="18" charset="0"/>
                          </a:rPr>
                          <m:t>𝑖</m:t>
                        </m:r>
                      </m:sub>
                    </m:sSub>
                  </m:oMath>
                </a14:m>
                <a:r>
                  <a:rPr kumimoji="1" lang="zh-CN" altLang="en-US" sz="2400" i="1" dirty="0">
                    <a:solidFill>
                      <a:schemeClr val="tx2"/>
                    </a:solidFill>
                    <a:latin typeface="Cambria Math" panose="02040503050406030204" pitchFamily="18" charset="0"/>
                  </a:rPr>
                  <a:t> </a:t>
                </a:r>
                <a:r>
                  <a:rPr kumimoji="1" lang="zh-CN" altLang="en-US" sz="2400" dirty="0">
                    <a:solidFill>
                      <a:schemeClr val="tx2"/>
                    </a:solidFill>
                    <a:latin typeface="Cambria Math" panose="02040503050406030204" pitchFamily="18" charset="0"/>
                  </a:rPr>
                  <a:t>：是模型输出的未过</a:t>
                </a:r>
                <a:r>
                  <a:rPr kumimoji="1" lang="en-US" altLang="zh-CN" sz="2400" dirty="0" err="1">
                    <a:solidFill>
                      <a:schemeClr val="tx2"/>
                    </a:solidFill>
                    <a:latin typeface="Cambria Math" panose="02040503050406030204" pitchFamily="18" charset="0"/>
                  </a:rPr>
                  <a:t>softmax</a:t>
                </a:r>
                <a:r>
                  <a:rPr kumimoji="1" lang="zh-CN" altLang="en-US" sz="2400" dirty="0">
                    <a:solidFill>
                      <a:schemeClr val="tx2"/>
                    </a:solidFill>
                    <a:latin typeface="Cambria Math" panose="02040503050406030204" pitchFamily="18" charset="0"/>
                  </a:rPr>
                  <a:t>的</a:t>
                </a:r>
                <a:r>
                  <a:rPr kumimoji="1" lang="en-US" altLang="zh-CN" sz="2400" dirty="0">
                    <a:solidFill>
                      <a:schemeClr val="tx2"/>
                    </a:solidFill>
                    <a:latin typeface="Cambria Math" panose="02040503050406030204" pitchFamily="18" charset="0"/>
                  </a:rPr>
                  <a:t>logits</a:t>
                </a:r>
              </a:p>
            </p:txBody>
          </p:sp>
        </mc:Choice>
        <mc:Fallback xmlns="">
          <p:sp>
            <p:nvSpPr>
              <p:cNvPr id="6" name="文本框 5">
                <a:extLst>
                  <a:ext uri="{FF2B5EF4-FFF2-40B4-BE49-F238E27FC236}">
                    <a16:creationId xmlns:a16="http://schemas.microsoft.com/office/drawing/2014/main" id="{625C31BD-1524-C736-F373-578010C5E7F8}"/>
                  </a:ext>
                </a:extLst>
              </p:cNvPr>
              <p:cNvSpPr txBox="1">
                <a:spLocks noRot="1" noChangeAspect="1" noMove="1" noResize="1" noEditPoints="1" noAdjustHandles="1" noChangeArrowheads="1" noChangeShapeType="1" noTextEdit="1"/>
              </p:cNvSpPr>
              <p:nvPr/>
            </p:nvSpPr>
            <p:spPr>
              <a:xfrm>
                <a:off x="4426997" y="3479393"/>
                <a:ext cx="6096000" cy="461665"/>
              </a:xfrm>
              <a:prstGeom prst="rect">
                <a:avLst/>
              </a:prstGeom>
              <a:blipFill>
                <a:blip r:embed="rId6"/>
                <a:stretch>
                  <a:fillRect t="-18919" b="-29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3A91D71-C1F9-14AE-CE1D-8612FFE7620E}"/>
                  </a:ext>
                </a:extLst>
              </p:cNvPr>
              <p:cNvSpPr txBox="1"/>
              <p:nvPr/>
            </p:nvSpPr>
            <p:spPr>
              <a:xfrm>
                <a:off x="160870" y="1083733"/>
                <a:ext cx="4411130" cy="3949286"/>
              </a:xfrm>
              <a:prstGeom prst="rect">
                <a:avLst/>
              </a:prstGeom>
              <a:noFill/>
            </p:spPr>
            <p:txBody>
              <a:bodyPr wrap="square" rtlCol="0">
                <a:spAutoFit/>
              </a:bodyPr>
              <a:lstStyle/>
              <a:p>
                <a:pPr marL="342900" indent="-342900" algn="l">
                  <a:lnSpc>
                    <a:spcPct val="150000"/>
                  </a:lnSpc>
                  <a:buFont typeface="Wingdings" pitchFamily="2" charset="2"/>
                  <a:buChar char="p"/>
                </a:pPr>
                <a:r>
                  <a:rPr lang="zh-CN" altLang="en-US" sz="2400" dirty="0">
                    <a:solidFill>
                      <a:schemeClr val="tx2"/>
                    </a:solidFill>
                    <a:latin typeface="Times New Roman" panose="02020603050405020304" pitchFamily="18" charset="0"/>
                    <a:ea typeface="微软雅黑" panose="020B0503020204020204" pitchFamily="34" charset="-122"/>
                  </a:rPr>
                  <a:t>知识蒸馏是将已经训练好的模型包含的知识</a:t>
                </a:r>
                <a:r>
                  <a:rPr lang="zh-CN" altLang="en" sz="2400" dirty="0">
                    <a:solidFill>
                      <a:schemeClr val="tx2"/>
                    </a:solidFill>
                    <a:latin typeface="Times New Roman" panose="02020603050405020304" pitchFamily="18" charset="0"/>
                    <a:ea typeface="微软雅黑" panose="020B0503020204020204" pitchFamily="34" charset="-122"/>
                  </a:rPr>
                  <a:t>，</a:t>
                </a:r>
                <a:r>
                  <a:rPr lang="zh-CN" altLang="en-US" sz="2400" dirty="0">
                    <a:solidFill>
                      <a:schemeClr val="tx2"/>
                    </a:solidFill>
                    <a:latin typeface="Times New Roman" panose="02020603050405020304" pitchFamily="18" charset="0"/>
                    <a:ea typeface="微软雅黑" panose="020B0503020204020204" pitchFamily="34" charset="-122"/>
                  </a:rPr>
                  <a:t>蒸馏提取到另一个模型里面去，这一步主要由</a:t>
                </a:r>
                <a14:m>
                  <m:oMath xmlns:m="http://schemas.openxmlformats.org/officeDocument/2006/math">
                    <m:r>
                      <a:rPr lang="en-US" altLang="zh-CN" sz="2400" b="0" i="0" smtClean="0">
                        <a:solidFill>
                          <a:schemeClr val="tx2"/>
                        </a:solidFill>
                        <a:latin typeface="Cambria Math" panose="02040503050406030204" pitchFamily="18" charset="0"/>
                      </a:rPr>
                      <m:t> </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𝐿</m:t>
                        </m:r>
                      </m:e>
                      <m:sub>
                        <m:r>
                          <a:rPr lang="en-US" altLang="zh-CN" sz="2400" b="0" i="1" smtClean="0">
                            <a:solidFill>
                              <a:schemeClr val="tx2"/>
                            </a:solidFill>
                            <a:latin typeface="Cambria Math" panose="02040503050406030204" pitchFamily="18" charset="0"/>
                          </a:rPr>
                          <m:t>𝑠𝑜𝑓𝑡</m:t>
                        </m:r>
                      </m:sub>
                    </m:sSub>
                  </m:oMath>
                </a14:m>
                <a:r>
                  <a:rPr kumimoji="1" lang="en-US" altLang="zh-CN" sz="2400" dirty="0">
                    <a:solidFill>
                      <a:schemeClr val="tx2"/>
                    </a:solidFill>
                    <a:latin typeface="Times New Roman" panose="02020603050405020304" pitchFamily="18" charset="0"/>
                    <a:ea typeface="微软雅黑" panose="020B0503020204020204" pitchFamily="34" charset="-122"/>
                  </a:rPr>
                  <a:t> </a:t>
                </a:r>
                <a:r>
                  <a:rPr kumimoji="1" lang="zh-CN" altLang="en-US" sz="2400" dirty="0">
                    <a:solidFill>
                      <a:schemeClr val="tx2"/>
                    </a:solidFill>
                    <a:latin typeface="Times New Roman" panose="02020603050405020304" pitchFamily="18" charset="0"/>
                    <a:ea typeface="微软雅黑" panose="020B0503020204020204" pitchFamily="34" charset="-122"/>
                  </a:rPr>
                  <a:t>完成，其监督标签是</a:t>
                </a:r>
                <a:r>
                  <a:rPr kumimoji="1" lang="en-US" altLang="zh-CN" sz="2400" dirty="0">
                    <a:solidFill>
                      <a:schemeClr val="tx2"/>
                    </a:solidFill>
                    <a:latin typeface="Times New Roman" panose="02020603050405020304" pitchFamily="18" charset="0"/>
                    <a:ea typeface="微软雅黑" panose="020B0503020204020204" pitchFamily="34" charset="-122"/>
                  </a:rPr>
                  <a:t>Teacher</a:t>
                </a:r>
                <a:r>
                  <a:rPr kumimoji="1" lang="zh-CN" altLang="en-US" sz="2400" dirty="0">
                    <a:solidFill>
                      <a:schemeClr val="tx2"/>
                    </a:solidFill>
                    <a:latin typeface="Times New Roman" panose="02020603050405020304" pitchFamily="18" charset="0"/>
                    <a:ea typeface="微软雅黑" panose="020B0503020204020204" pitchFamily="34" charset="-122"/>
                  </a:rPr>
                  <a:t> </a:t>
                </a:r>
                <a:r>
                  <a:rPr kumimoji="1" lang="en-US" altLang="zh-CN" sz="2400" dirty="0">
                    <a:solidFill>
                      <a:schemeClr val="tx2"/>
                    </a:solidFill>
                    <a:latin typeface="Times New Roman" panose="02020603050405020304" pitchFamily="18" charset="0"/>
                    <a:ea typeface="微软雅黑" panose="020B0503020204020204" pitchFamily="34" charset="-122"/>
                  </a:rPr>
                  <a:t>model</a:t>
                </a:r>
                <a:r>
                  <a:rPr kumimoji="1" lang="zh-CN" altLang="en-US" sz="2400" dirty="0">
                    <a:solidFill>
                      <a:schemeClr val="tx2"/>
                    </a:solidFill>
                    <a:latin typeface="Times New Roman" panose="02020603050405020304" pitchFamily="18" charset="0"/>
                    <a:ea typeface="微软雅黑" panose="020B0503020204020204" pitchFamily="34" charset="-122"/>
                  </a:rPr>
                  <a:t>的输出。</a:t>
                </a:r>
                <a:endParaRPr kumimoji="1" lang="en-US" altLang="zh-CN" sz="2400" dirty="0">
                  <a:solidFill>
                    <a:schemeClr val="tx2"/>
                  </a:solidFill>
                  <a:latin typeface="Times New Roman" panose="02020603050405020304" pitchFamily="18" charset="0"/>
                  <a:ea typeface="微软雅黑" panose="020B0503020204020204" pitchFamily="34" charset="-122"/>
                </a:endParaRPr>
              </a:p>
              <a:p>
                <a:pPr marL="342900" indent="-342900" algn="l">
                  <a:lnSpc>
                    <a:spcPct val="150000"/>
                  </a:lnSpc>
                  <a:buFont typeface="Wingdings" pitchFamily="2" charset="2"/>
                  <a:buChar char="p"/>
                </a:pPr>
                <a:r>
                  <a:rPr kumimoji="1" lang="zh-CN" altLang="en-US" sz="2400" dirty="0">
                    <a:solidFill>
                      <a:schemeClr val="tx2"/>
                    </a:solidFill>
                    <a:latin typeface="Times New Roman" panose="02020603050405020304" pitchFamily="18" charset="0"/>
                    <a:ea typeface="微软雅黑" panose="020B0503020204020204" pitchFamily="34" charset="-122"/>
                  </a:rPr>
                  <a:t>另一部分标签就是</a:t>
                </a:r>
                <a:r>
                  <a:rPr kumimoji="1" lang="zh-CN" altLang="en-US" sz="2400">
                    <a:solidFill>
                      <a:schemeClr val="tx2"/>
                    </a:solidFill>
                    <a:latin typeface="Times New Roman" panose="02020603050405020304" pitchFamily="18" charset="0"/>
                    <a:ea typeface="微软雅黑" panose="020B0503020204020204" pitchFamily="34" charset="-122"/>
                  </a:rPr>
                  <a:t>真实的目标，</a:t>
                </a:r>
                <a:r>
                  <a:rPr kumimoji="1" lang="zh-CN" altLang="en-US" sz="2400" dirty="0">
                    <a:solidFill>
                      <a:schemeClr val="tx2"/>
                    </a:solidFill>
                    <a:latin typeface="Times New Roman" panose="02020603050405020304" pitchFamily="18" charset="0"/>
                    <a:ea typeface="微软雅黑" panose="020B0503020204020204" pitchFamily="34" charset="-122"/>
                  </a:rPr>
                  <a:t>由 </a:t>
                </a:r>
                <a14:m>
                  <m:oMath xmlns:m="http://schemas.openxmlformats.org/officeDocument/2006/math">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𝐿</m:t>
                        </m:r>
                      </m:e>
                      <m:sub>
                        <m:r>
                          <a:rPr kumimoji="1" lang="en-US" altLang="zh-CN" sz="2400" b="0" i="1" smtClean="0">
                            <a:solidFill>
                              <a:schemeClr val="tx2"/>
                            </a:solidFill>
                            <a:latin typeface="Cambria Math" panose="02040503050406030204" pitchFamily="18" charset="0"/>
                          </a:rPr>
                          <m:t>ℎ𝑎𝑟𝑑</m:t>
                        </m:r>
                      </m:sub>
                    </m:sSub>
                  </m:oMath>
                </a14:m>
                <a:r>
                  <a:rPr kumimoji="1" lang="en-US" altLang="zh-CN" sz="2400" dirty="0">
                    <a:solidFill>
                      <a:schemeClr val="tx2"/>
                    </a:solidFill>
                    <a:latin typeface="Times New Roman" panose="02020603050405020304" pitchFamily="18" charset="0"/>
                    <a:ea typeface="微软雅黑" panose="020B0503020204020204" pitchFamily="34" charset="-122"/>
                  </a:rPr>
                  <a:t> </a:t>
                </a:r>
                <a:r>
                  <a:rPr kumimoji="1" lang="zh-CN" altLang="en-US" sz="2400" dirty="0">
                    <a:solidFill>
                      <a:schemeClr val="tx2"/>
                    </a:solidFill>
                    <a:latin typeface="Times New Roman" panose="02020603050405020304" pitchFamily="18" charset="0"/>
                    <a:ea typeface="微软雅黑" panose="020B0503020204020204" pitchFamily="34" charset="-122"/>
                  </a:rPr>
                  <a:t>完成。</a:t>
                </a:r>
              </a:p>
            </p:txBody>
          </p:sp>
        </mc:Choice>
        <mc:Fallback xmlns="">
          <p:sp>
            <p:nvSpPr>
              <p:cNvPr id="7" name="文本框 6">
                <a:extLst>
                  <a:ext uri="{FF2B5EF4-FFF2-40B4-BE49-F238E27FC236}">
                    <a16:creationId xmlns:a16="http://schemas.microsoft.com/office/drawing/2014/main" id="{C3A91D71-C1F9-14AE-CE1D-8612FFE7620E}"/>
                  </a:ext>
                </a:extLst>
              </p:cNvPr>
              <p:cNvSpPr txBox="1">
                <a:spLocks noRot="1" noChangeAspect="1" noMove="1" noResize="1" noEditPoints="1" noAdjustHandles="1" noChangeArrowheads="1" noChangeShapeType="1" noTextEdit="1"/>
              </p:cNvSpPr>
              <p:nvPr/>
            </p:nvSpPr>
            <p:spPr>
              <a:xfrm>
                <a:off x="160870" y="1083733"/>
                <a:ext cx="4411130" cy="3949286"/>
              </a:xfrm>
              <a:prstGeom prst="rect">
                <a:avLst/>
              </a:prstGeom>
              <a:blipFill>
                <a:blip r:embed="rId7"/>
                <a:stretch>
                  <a:fillRect l="-1724" r="-3448" b="-25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546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532B90-CEE3-B0A8-9C97-CF5371D34A78}"/>
              </a:ext>
            </a:extLst>
          </p:cNvPr>
          <p:cNvSpPr>
            <a:spLocks noGrp="1"/>
          </p:cNvSpPr>
          <p:nvPr>
            <p:ph type="title"/>
          </p:nvPr>
        </p:nvSpPr>
        <p:spPr/>
        <p:txBody>
          <a:bodyPr/>
          <a:lstStyle/>
          <a:p>
            <a:r>
              <a:rPr kumimoji="1" lang="zh-CN" altLang="en-US" dirty="0"/>
              <a:t>知识蒸馏</a:t>
            </a:r>
          </a:p>
        </p:txBody>
      </p:sp>
      <p:pic>
        <p:nvPicPr>
          <p:cNvPr id="4" name="内容占位符 3">
            <a:extLst>
              <a:ext uri="{FF2B5EF4-FFF2-40B4-BE49-F238E27FC236}">
                <a16:creationId xmlns:a16="http://schemas.microsoft.com/office/drawing/2014/main" id="{DAECABBD-ED46-80FB-42AB-EEEBC0A64C72}"/>
              </a:ext>
            </a:extLst>
          </p:cNvPr>
          <p:cNvPicPr>
            <a:picLocks noGrp="1" noChangeAspect="1"/>
          </p:cNvPicPr>
          <p:nvPr>
            <p:ph idx="1"/>
          </p:nvPr>
        </p:nvPicPr>
        <p:blipFill>
          <a:blip r:embed="rId2"/>
          <a:stretch>
            <a:fillRect/>
          </a:stretch>
        </p:blipFill>
        <p:spPr>
          <a:xfrm>
            <a:off x="568993" y="2209738"/>
            <a:ext cx="10925998" cy="1957917"/>
          </a:xfrm>
          <a:prstGeom prst="rect">
            <a:avLst/>
          </a:prstGeom>
        </p:spPr>
      </p:pic>
      <p:sp>
        <p:nvSpPr>
          <p:cNvPr id="5" name="文本框 4">
            <a:extLst>
              <a:ext uri="{FF2B5EF4-FFF2-40B4-BE49-F238E27FC236}">
                <a16:creationId xmlns:a16="http://schemas.microsoft.com/office/drawing/2014/main" id="{5669CAF8-7258-8EAC-0FD1-75DD70E395AC}"/>
              </a:ext>
            </a:extLst>
          </p:cNvPr>
          <p:cNvSpPr txBox="1"/>
          <p:nvPr/>
        </p:nvSpPr>
        <p:spPr>
          <a:xfrm>
            <a:off x="807864" y="1150414"/>
            <a:ext cx="9250535" cy="670889"/>
          </a:xfrm>
          <a:prstGeom prst="rect">
            <a:avLst/>
          </a:prstGeom>
          <a:noFill/>
        </p:spPr>
        <p:txBody>
          <a:bodyPr wrap="square" rtlCol="0">
            <a:spAutoFit/>
          </a:bodyPr>
          <a:lstStyle/>
          <a:p>
            <a:pPr algn="l">
              <a:lnSpc>
                <a:spcPct val="150000"/>
              </a:lnSpc>
            </a:pPr>
            <a:r>
              <a:rPr kumimoji="1" lang="zh-CN" altLang="en-US" sz="2800" b="1" dirty="0">
                <a:solidFill>
                  <a:schemeClr val="tx2"/>
                </a:solidFill>
                <a:ea typeface="微软雅黑" panose="020B0503020204020204" pitchFamily="34" charset="-122"/>
              </a:rPr>
              <a:t>目的：让小模型也可以完成大模型（贵）所做的事。</a:t>
            </a:r>
          </a:p>
        </p:txBody>
      </p:sp>
      <p:sp>
        <p:nvSpPr>
          <p:cNvPr id="7" name="文本框 6">
            <a:extLst>
              <a:ext uri="{FF2B5EF4-FFF2-40B4-BE49-F238E27FC236}">
                <a16:creationId xmlns:a16="http://schemas.microsoft.com/office/drawing/2014/main" id="{DC42F04C-7235-1BD5-E690-EF9293D879DE}"/>
              </a:ext>
            </a:extLst>
          </p:cNvPr>
          <p:cNvSpPr txBox="1"/>
          <p:nvPr/>
        </p:nvSpPr>
        <p:spPr>
          <a:xfrm>
            <a:off x="75460" y="6387596"/>
            <a:ext cx="8251794" cy="307777"/>
          </a:xfrm>
          <a:prstGeom prst="rect">
            <a:avLst/>
          </a:prstGeom>
          <a:noFill/>
        </p:spPr>
        <p:txBody>
          <a:bodyPr wrap="square">
            <a:spAutoFit/>
          </a:bodyPr>
          <a:lstStyle/>
          <a:p>
            <a:r>
              <a:rPr lang="zh-CN" altLang="en-US" sz="1400" dirty="0">
                <a:solidFill>
                  <a:schemeClr val="bg1"/>
                </a:solidFill>
              </a:rPr>
              <a:t>https://github.com/deepseek-ai/DeepSeek-R1/blob/main/DeepSeek_R1.pdf</a:t>
            </a:r>
          </a:p>
        </p:txBody>
      </p:sp>
      <p:sp>
        <p:nvSpPr>
          <p:cNvPr id="3" name="文本框 2">
            <a:extLst>
              <a:ext uri="{FF2B5EF4-FFF2-40B4-BE49-F238E27FC236}">
                <a16:creationId xmlns:a16="http://schemas.microsoft.com/office/drawing/2014/main" id="{ECC2662D-FA11-0783-9D80-8D39D5F4BD1A}"/>
              </a:ext>
            </a:extLst>
          </p:cNvPr>
          <p:cNvSpPr txBox="1"/>
          <p:nvPr/>
        </p:nvSpPr>
        <p:spPr>
          <a:xfrm>
            <a:off x="7264158" y="4783040"/>
            <a:ext cx="4546600" cy="1418915"/>
          </a:xfrm>
          <a:prstGeom prst="rect">
            <a:avLst/>
          </a:prstGeom>
          <a:noFill/>
        </p:spPr>
        <p:txBody>
          <a:bodyPr wrap="square" rtlCol="0">
            <a:spAutoFit/>
          </a:bodyPr>
          <a:lstStyle/>
          <a:p>
            <a:pPr marL="342900" indent="-342900" algn="l">
              <a:lnSpc>
                <a:spcPct val="150000"/>
              </a:lnSpc>
              <a:buFont typeface="Wingdings" pitchFamily="2" charset="2"/>
              <a:buChar char="p"/>
            </a:pPr>
            <a:r>
              <a:rPr kumimoji="1" lang="en-US" altLang="zh-CN" sz="2000" dirty="0" err="1">
                <a:solidFill>
                  <a:schemeClr val="tx2"/>
                </a:solidFill>
                <a:latin typeface="Times New Roman" panose="02020603050405020304" pitchFamily="18" charset="0"/>
                <a:ea typeface="微软雅黑" panose="020B0503020204020204" pitchFamily="34" charset="-122"/>
              </a:rPr>
              <a:t>QwQ</a:t>
            </a:r>
            <a:r>
              <a:rPr kumimoji="1" lang="zh-CN" altLang="en-US" sz="2000" dirty="0">
                <a:solidFill>
                  <a:schemeClr val="tx2"/>
                </a:solidFill>
                <a:latin typeface="Times New Roman" panose="02020603050405020304" pitchFamily="18" charset="0"/>
                <a:ea typeface="微软雅黑" panose="020B0503020204020204" pitchFamily="34" charset="-122"/>
              </a:rPr>
              <a:t> 是 </a:t>
            </a:r>
            <a:r>
              <a:rPr kumimoji="1" lang="en-US" altLang="zh-CN" sz="2000" dirty="0" err="1">
                <a:solidFill>
                  <a:schemeClr val="tx2"/>
                </a:solidFill>
                <a:latin typeface="Times New Roman" panose="02020603050405020304" pitchFamily="18" charset="0"/>
                <a:ea typeface="微软雅黑" panose="020B0503020204020204" pitchFamily="34" charset="-122"/>
              </a:rPr>
              <a:t>Qwen</a:t>
            </a:r>
            <a:r>
              <a:rPr kumimoji="1" lang="zh-CN" altLang="en-US" sz="2000" dirty="0">
                <a:solidFill>
                  <a:schemeClr val="tx2"/>
                </a:solidFill>
                <a:latin typeface="Times New Roman" panose="02020603050405020304" pitchFamily="18" charset="0"/>
                <a:ea typeface="微软雅黑" panose="020B0503020204020204" pitchFamily="34" charset="-122"/>
              </a:rPr>
              <a:t> 推出的推理模型，其性能不及相同参数量下由</a:t>
            </a:r>
            <a:r>
              <a:rPr kumimoji="1" lang="en-US" altLang="zh-CN" sz="2000" dirty="0">
                <a:solidFill>
                  <a:schemeClr val="tx2"/>
                </a:solidFill>
                <a:latin typeface="Times New Roman" panose="02020603050405020304" pitchFamily="18" charset="0"/>
                <a:ea typeface="微软雅黑" panose="020B0503020204020204" pitchFamily="34" charset="-122"/>
              </a:rPr>
              <a:t>Deepseek-R1</a:t>
            </a:r>
            <a:r>
              <a:rPr kumimoji="1" lang="zh-CN" altLang="en-US" sz="2000" dirty="0">
                <a:solidFill>
                  <a:schemeClr val="tx2"/>
                </a:solidFill>
                <a:latin typeface="Times New Roman" panose="02020603050405020304" pitchFamily="18" charset="0"/>
                <a:ea typeface="微软雅黑" panose="020B0503020204020204" pitchFamily="34" charset="-122"/>
              </a:rPr>
              <a:t>蒸馏得到的模型</a:t>
            </a:r>
          </a:p>
        </p:txBody>
      </p:sp>
      <p:sp>
        <p:nvSpPr>
          <p:cNvPr id="6" name="文本框 5">
            <a:extLst>
              <a:ext uri="{FF2B5EF4-FFF2-40B4-BE49-F238E27FC236}">
                <a16:creationId xmlns:a16="http://schemas.microsoft.com/office/drawing/2014/main" id="{11F09782-665B-6FD1-B575-A39BEBF79739}"/>
              </a:ext>
            </a:extLst>
          </p:cNvPr>
          <p:cNvSpPr txBox="1"/>
          <p:nvPr/>
        </p:nvSpPr>
        <p:spPr>
          <a:xfrm>
            <a:off x="1122002" y="4075237"/>
            <a:ext cx="1667444" cy="400110"/>
          </a:xfrm>
          <a:prstGeom prst="rect">
            <a:avLst/>
          </a:prstGeom>
          <a:noFill/>
        </p:spPr>
        <p:txBody>
          <a:bodyPr wrap="none" rtlCol="0">
            <a:spAutoFit/>
          </a:bodyPr>
          <a:lstStyle/>
          <a:p>
            <a:pPr algn="l"/>
            <a:r>
              <a:rPr kumimoji="1" lang="en-US" altLang="zh-CN" sz="2000" dirty="0"/>
              <a:t>Deepseek-R1</a:t>
            </a:r>
            <a:endParaRPr kumimoji="1" lang="zh-CN" altLang="en-US" sz="2000" dirty="0"/>
          </a:p>
        </p:txBody>
      </p:sp>
      <p:sp>
        <p:nvSpPr>
          <p:cNvPr id="8" name="文本框 7">
            <a:extLst>
              <a:ext uri="{FF2B5EF4-FFF2-40B4-BE49-F238E27FC236}">
                <a16:creationId xmlns:a16="http://schemas.microsoft.com/office/drawing/2014/main" id="{D0249C34-D9CA-8941-2274-B87560D020C6}"/>
              </a:ext>
            </a:extLst>
          </p:cNvPr>
          <p:cNvSpPr txBox="1"/>
          <p:nvPr/>
        </p:nvSpPr>
        <p:spPr>
          <a:xfrm>
            <a:off x="4290620" y="4100993"/>
            <a:ext cx="633507" cy="400110"/>
          </a:xfrm>
          <a:prstGeom prst="rect">
            <a:avLst/>
          </a:prstGeom>
          <a:noFill/>
        </p:spPr>
        <p:txBody>
          <a:bodyPr wrap="none" rtlCol="0">
            <a:spAutoFit/>
          </a:bodyPr>
          <a:lstStyle/>
          <a:p>
            <a:pPr algn="l"/>
            <a:r>
              <a:rPr kumimoji="1" lang="en-US" altLang="zh-CN" sz="2000" dirty="0"/>
              <a:t>79.8</a:t>
            </a:r>
            <a:endParaRPr kumimoji="1" lang="zh-CN" altLang="en-US" sz="2000" dirty="0"/>
          </a:p>
        </p:txBody>
      </p:sp>
      <p:sp>
        <p:nvSpPr>
          <p:cNvPr id="9" name="文本框 8">
            <a:extLst>
              <a:ext uri="{FF2B5EF4-FFF2-40B4-BE49-F238E27FC236}">
                <a16:creationId xmlns:a16="http://schemas.microsoft.com/office/drawing/2014/main" id="{A0F1D4BA-20C1-5E35-9C56-885064584C7E}"/>
              </a:ext>
            </a:extLst>
          </p:cNvPr>
          <p:cNvSpPr txBox="1"/>
          <p:nvPr/>
        </p:nvSpPr>
        <p:spPr>
          <a:xfrm>
            <a:off x="6508711" y="4100993"/>
            <a:ext cx="633507" cy="400110"/>
          </a:xfrm>
          <a:prstGeom prst="rect">
            <a:avLst/>
          </a:prstGeom>
          <a:noFill/>
        </p:spPr>
        <p:txBody>
          <a:bodyPr wrap="none" rtlCol="0">
            <a:spAutoFit/>
          </a:bodyPr>
          <a:lstStyle/>
          <a:p>
            <a:pPr algn="l"/>
            <a:r>
              <a:rPr kumimoji="1" lang="en-US" altLang="zh-CN" sz="2000" dirty="0"/>
              <a:t>97.3</a:t>
            </a:r>
            <a:endParaRPr kumimoji="1" lang="zh-CN" altLang="en-US" sz="2000" dirty="0"/>
          </a:p>
        </p:txBody>
      </p:sp>
      <p:sp>
        <p:nvSpPr>
          <p:cNvPr id="10" name="文本框 9">
            <a:extLst>
              <a:ext uri="{FF2B5EF4-FFF2-40B4-BE49-F238E27FC236}">
                <a16:creationId xmlns:a16="http://schemas.microsoft.com/office/drawing/2014/main" id="{6C4523E0-2E50-B108-95C6-496291836FC1}"/>
              </a:ext>
            </a:extLst>
          </p:cNvPr>
          <p:cNvSpPr txBox="1"/>
          <p:nvPr/>
        </p:nvSpPr>
        <p:spPr>
          <a:xfrm>
            <a:off x="8159711" y="4079112"/>
            <a:ext cx="633507" cy="400110"/>
          </a:xfrm>
          <a:prstGeom prst="rect">
            <a:avLst/>
          </a:prstGeom>
          <a:noFill/>
        </p:spPr>
        <p:txBody>
          <a:bodyPr wrap="none" rtlCol="0">
            <a:spAutoFit/>
          </a:bodyPr>
          <a:lstStyle/>
          <a:p>
            <a:pPr algn="l"/>
            <a:r>
              <a:rPr kumimoji="1" lang="en-US" altLang="zh-CN" sz="2000" dirty="0"/>
              <a:t>71.5</a:t>
            </a:r>
            <a:endParaRPr kumimoji="1" lang="zh-CN" altLang="en-US" sz="2000" dirty="0"/>
          </a:p>
        </p:txBody>
      </p:sp>
      <p:sp>
        <p:nvSpPr>
          <p:cNvPr id="11" name="文本框 10">
            <a:extLst>
              <a:ext uri="{FF2B5EF4-FFF2-40B4-BE49-F238E27FC236}">
                <a16:creationId xmlns:a16="http://schemas.microsoft.com/office/drawing/2014/main" id="{78C7F9D0-C4FE-11FF-323F-8A3792530FD1}"/>
              </a:ext>
            </a:extLst>
          </p:cNvPr>
          <p:cNvSpPr txBox="1"/>
          <p:nvPr/>
        </p:nvSpPr>
        <p:spPr>
          <a:xfrm>
            <a:off x="10058399" y="4096045"/>
            <a:ext cx="633507" cy="400110"/>
          </a:xfrm>
          <a:prstGeom prst="rect">
            <a:avLst/>
          </a:prstGeom>
          <a:noFill/>
        </p:spPr>
        <p:txBody>
          <a:bodyPr wrap="none" rtlCol="0">
            <a:spAutoFit/>
          </a:bodyPr>
          <a:lstStyle/>
          <a:p>
            <a:pPr algn="l"/>
            <a:r>
              <a:rPr kumimoji="1" lang="en-US" altLang="zh-CN" sz="2000" dirty="0"/>
              <a:t>65.9</a:t>
            </a:r>
            <a:endParaRPr kumimoji="1" lang="zh-CN" altLang="en-US" sz="2000" dirty="0"/>
          </a:p>
        </p:txBody>
      </p:sp>
    </p:spTree>
    <p:extLst>
      <p:ext uri="{BB962C8B-B14F-4D97-AF65-F5344CB8AC3E}">
        <p14:creationId xmlns:p14="http://schemas.microsoft.com/office/powerpoint/2010/main" val="624799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大语言模型的相关技术</a:t>
            </a:r>
          </a:p>
        </p:txBody>
      </p:sp>
      <p:sp>
        <p:nvSpPr>
          <p:cNvPr id="3" name="内容占位符 2"/>
          <p:cNvSpPr>
            <a:spLocks noGrp="1"/>
          </p:cNvSpPr>
          <p:nvPr>
            <p:ph idx="1"/>
          </p:nvPr>
        </p:nvSpPr>
        <p:spPr/>
        <p:txBody>
          <a:bodyPr/>
          <a:lstStyle/>
          <a:p>
            <a:pPr indent="457200"/>
            <a:r>
              <a:rPr lang="zh-CN" altLang="en-US" dirty="0"/>
              <a:t>除大语言模型本体外，人们还通过</a:t>
            </a:r>
            <a:r>
              <a:rPr lang="en-US" altLang="zh-CN" dirty="0"/>
              <a:t>Harness, Skill, MCP</a:t>
            </a:r>
            <a:r>
              <a:rPr lang="zh-CN" altLang="en-US" dirty="0"/>
              <a:t>、</a:t>
            </a:r>
            <a:r>
              <a:rPr lang="en-US" altLang="zh-CN" dirty="0"/>
              <a:t>AI Agent</a:t>
            </a:r>
            <a:r>
              <a:rPr lang="zh-CN" altLang="en-US" dirty="0"/>
              <a:t>、</a:t>
            </a:r>
            <a:r>
              <a:rPr lang="en-US" altLang="zh-CN" dirty="0"/>
              <a:t>RAG </a:t>
            </a:r>
            <a:r>
              <a:rPr lang="zh-CN" altLang="en-US" dirty="0"/>
              <a:t>等技术手段，进一步提升模型在各类任务中的表现，使其更好地服务人类需求。</a:t>
            </a:r>
          </a:p>
        </p:txBody>
      </p:sp>
      <p:pic>
        <p:nvPicPr>
          <p:cNvPr id="4" name="图片 3" descr="提升大语言模型表现能力"/>
          <p:cNvPicPr>
            <a:picLocks noChangeAspect="1"/>
          </p:cNvPicPr>
          <p:nvPr/>
        </p:nvPicPr>
        <p:blipFill>
          <a:blip r:embed="rId2"/>
          <a:srcRect b="10065"/>
          <a:stretch>
            <a:fillRect/>
          </a:stretch>
        </p:blipFill>
        <p:spPr>
          <a:xfrm>
            <a:off x="3973195" y="2179320"/>
            <a:ext cx="4087495" cy="36766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MCP</a:t>
            </a:r>
          </a:p>
        </p:txBody>
      </p:sp>
      <p:sp>
        <p:nvSpPr>
          <p:cNvPr id="3" name="内容占位符 2"/>
          <p:cNvSpPr>
            <a:spLocks noGrp="1"/>
          </p:cNvSpPr>
          <p:nvPr>
            <p:ph idx="1"/>
          </p:nvPr>
        </p:nvSpPr>
        <p:spPr/>
        <p:txBody>
          <a:bodyPr>
            <a:normAutofit/>
          </a:bodyPr>
          <a:lstStyle/>
          <a:p>
            <a:pPr marL="342900" indent="-342900" fontAlgn="auto">
              <a:lnSpc>
                <a:spcPct val="150000"/>
              </a:lnSpc>
              <a:spcAft>
                <a:spcPts val="600"/>
              </a:spcAft>
              <a:buFont typeface="Arial" panose="020B0604020202090204" pitchFamily="34" charset="0"/>
              <a:buChar char="•"/>
            </a:pPr>
            <a:r>
              <a:rPr lang="en-US" altLang="zh-CN">
                <a:sym typeface="+mn-ea"/>
              </a:rPr>
              <a:t>MCP</a:t>
            </a:r>
            <a:r>
              <a:rPr lang="zh-CN" altLang="en-US">
                <a:sym typeface="+mn-ea"/>
              </a:rPr>
              <a:t>（</a:t>
            </a:r>
            <a:r>
              <a:rPr lang="en-US" altLang="zh-CN">
                <a:sym typeface="+mn-ea"/>
              </a:rPr>
              <a:t>Model Context Protocol</a:t>
            </a:r>
            <a:r>
              <a:rPr lang="zh-CN" altLang="en-US">
                <a:sym typeface="+mn-ea"/>
              </a:rPr>
              <a:t>，模型上下文协议）</a:t>
            </a:r>
            <a:endParaRPr lang="zh-CN" altLang="en-US"/>
          </a:p>
          <a:p>
            <a:pPr marL="457200" lvl="1" fontAlgn="auto">
              <a:lnSpc>
                <a:spcPct val="150000"/>
              </a:lnSpc>
              <a:spcAft>
                <a:spcPts val="600"/>
              </a:spcAft>
              <a:buFont typeface="Arial" panose="020B0604020202090204" pitchFamily="34" charset="0"/>
            </a:pPr>
            <a:r>
              <a:rPr lang="en-US" altLang="zh-CN" sz="2400">
                <a:sym typeface="+mn-ea"/>
              </a:rPr>
              <a:t>2024</a:t>
            </a:r>
            <a:r>
              <a:rPr lang="zh-CN" altLang="en-US" sz="2400">
                <a:sym typeface="+mn-ea"/>
              </a:rPr>
              <a:t>年</a:t>
            </a:r>
            <a:r>
              <a:rPr lang="en-US" altLang="zh-CN" sz="2400">
                <a:sym typeface="+mn-ea"/>
              </a:rPr>
              <a:t>11</a:t>
            </a:r>
            <a:r>
              <a:rPr lang="zh-CN" altLang="en-US" sz="2400">
                <a:sym typeface="+mn-ea"/>
              </a:rPr>
              <a:t>月底由</a:t>
            </a:r>
            <a:r>
              <a:rPr lang="en-US" altLang="zh-CN" sz="2400">
                <a:sym typeface="+mn-ea"/>
              </a:rPr>
              <a:t> Anthropic </a:t>
            </a:r>
            <a:r>
              <a:rPr lang="zh-CN" altLang="en-US" sz="2400">
                <a:sym typeface="+mn-ea"/>
              </a:rPr>
              <a:t>推出的一种开放标准，旨在统一大模型与外部数据源和工具之间的通信协议。</a:t>
            </a:r>
            <a:r>
              <a:rPr lang="en-US" altLang="zh-CN" sz="2400">
                <a:sym typeface="+mn-ea"/>
              </a:rPr>
              <a:t>MCP </a:t>
            </a:r>
            <a:r>
              <a:rPr lang="zh-CN" altLang="en-US" sz="2400">
                <a:sym typeface="+mn-ea"/>
              </a:rPr>
              <a:t>的主要目的在于解决当前</a:t>
            </a:r>
            <a:r>
              <a:rPr lang="en-US" altLang="zh-CN" sz="2400">
                <a:sym typeface="+mn-ea"/>
              </a:rPr>
              <a:t> AI </a:t>
            </a:r>
            <a:r>
              <a:rPr lang="zh-CN" altLang="en-US" sz="2400">
                <a:sym typeface="+mn-ea"/>
              </a:rPr>
              <a:t>模型因数据孤岛限制而无法充分发挥潜力的难题</a:t>
            </a:r>
            <a:r>
              <a:rPr lang="en-US" altLang="zh-CN" sz="2400">
                <a:sym typeface="+mn-ea"/>
              </a:rPr>
              <a:t>。</a:t>
            </a:r>
            <a:endParaRPr lang="en-US" altLang="zh-CN"/>
          </a:p>
          <a:p>
            <a:pPr marL="342900" indent="-342900" fontAlgn="auto">
              <a:lnSpc>
                <a:spcPct val="150000"/>
              </a:lnSpc>
              <a:spcAft>
                <a:spcPts val="600"/>
              </a:spcAft>
              <a:buFont typeface="Arial" panose="020B0604020202090204" pitchFamily="34" charset="0"/>
              <a:buChar char="•"/>
            </a:pPr>
            <a:endParaRPr lang="zh-CN" altLang="en-US"/>
          </a:p>
          <a:p>
            <a:pPr marL="342900" indent="-342900" fontAlgn="auto">
              <a:lnSpc>
                <a:spcPct val="150000"/>
              </a:lnSpc>
              <a:spcAft>
                <a:spcPts val="600"/>
              </a:spcAft>
              <a:buFont typeface="Arial" panose="020B0604020202090204" pitchFamily="34" charset="0"/>
              <a:buChar char="•"/>
            </a:pPr>
            <a:endParaRPr lang="en-US" altLang="zh-CN" dirty="0"/>
          </a:p>
          <a:p>
            <a:pPr marL="342900" indent="-342900" fontAlgn="auto">
              <a:lnSpc>
                <a:spcPct val="150000"/>
              </a:lnSpc>
              <a:spcAft>
                <a:spcPts val="600"/>
              </a:spcAft>
              <a:buFont typeface="Arial" panose="020B0604020202090204" pitchFamily="34" charset="0"/>
              <a:buChar char="•"/>
            </a:pPr>
            <a:endParaRPr lang="zh-CN" altLang="en-US" dirty="0"/>
          </a:p>
        </p:txBody>
      </p:sp>
      <p:pic>
        <p:nvPicPr>
          <p:cNvPr id="6" name="图片 5"/>
          <p:cNvPicPr>
            <a:picLocks noChangeAspect="1"/>
          </p:cNvPicPr>
          <p:nvPr/>
        </p:nvPicPr>
        <p:blipFill>
          <a:blip r:embed="rId2"/>
          <a:stretch>
            <a:fillRect/>
          </a:stretch>
        </p:blipFill>
        <p:spPr>
          <a:xfrm>
            <a:off x="5971540" y="2917190"/>
            <a:ext cx="5443855" cy="3110230"/>
          </a:xfrm>
          <a:prstGeom prst="rect">
            <a:avLst/>
          </a:prstGeom>
        </p:spPr>
      </p:pic>
      <p:sp>
        <p:nvSpPr>
          <p:cNvPr id="5" name="文本框 4">
            <a:extLst>
              <a:ext uri="{FF2B5EF4-FFF2-40B4-BE49-F238E27FC236}">
                <a16:creationId xmlns:a16="http://schemas.microsoft.com/office/drawing/2014/main" id="{01066444-3FC9-F62A-B69C-50C107226831}"/>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AI Agent</a:t>
            </a:r>
          </a:p>
        </p:txBody>
      </p:sp>
      <p:sp>
        <p:nvSpPr>
          <p:cNvPr id="3" name="内容占位符 2"/>
          <p:cNvSpPr>
            <a:spLocks noGrp="1"/>
          </p:cNvSpPr>
          <p:nvPr>
            <p:ph idx="1"/>
          </p:nvPr>
        </p:nvSpPr>
        <p:spPr/>
        <p:txBody>
          <a:bodyPr/>
          <a:lstStyle/>
          <a:p>
            <a:pPr marL="342900" indent="-342900" fontAlgn="auto">
              <a:lnSpc>
                <a:spcPct val="150000"/>
              </a:lnSpc>
              <a:spcAft>
                <a:spcPts val="600"/>
              </a:spcAft>
              <a:buFont typeface="Arial" panose="020B0604020202090204" pitchFamily="34" charset="0"/>
              <a:buChar char="•"/>
            </a:pPr>
            <a:r>
              <a:rPr lang="en-US" altLang="zh-CN" sz="2400" dirty="0">
                <a:sym typeface="+mn-ea"/>
              </a:rPr>
              <a:t>AI Agent</a:t>
            </a:r>
            <a:endParaRPr lang="en-US" altLang="zh-CN" sz="2400" dirty="0"/>
          </a:p>
          <a:p>
            <a:pPr marL="800100" lvl="1" indent="-342900" fontAlgn="auto">
              <a:lnSpc>
                <a:spcPct val="150000"/>
              </a:lnSpc>
              <a:spcAft>
                <a:spcPts val="600"/>
              </a:spcAft>
              <a:buFont typeface="Arial" panose="020B0604020202090204" pitchFamily="34" charset="0"/>
              <a:buChar char="•"/>
            </a:pPr>
            <a:r>
              <a:rPr lang="en-US" altLang="zh-CN" sz="2400" dirty="0"/>
              <a:t>AI Agent = LLM</a:t>
            </a:r>
            <a:r>
              <a:rPr lang="zh-CN" altLang="en-US" sz="2400" dirty="0"/>
              <a:t>（大脑） </a:t>
            </a:r>
            <a:r>
              <a:rPr lang="en-US" altLang="zh-CN" sz="2400" dirty="0"/>
              <a:t>+ </a:t>
            </a:r>
            <a:r>
              <a:rPr lang="zh-CN" altLang="en-US" sz="2400" dirty="0"/>
              <a:t>规划 </a:t>
            </a:r>
            <a:r>
              <a:rPr lang="en-US" altLang="zh-CN" sz="2400" dirty="0"/>
              <a:t>+ </a:t>
            </a:r>
            <a:r>
              <a:rPr lang="zh-CN" altLang="en-US" sz="2400" dirty="0"/>
              <a:t>记忆 </a:t>
            </a:r>
            <a:r>
              <a:rPr lang="en-US" altLang="zh-CN" sz="2400" dirty="0"/>
              <a:t>+ </a:t>
            </a:r>
            <a:r>
              <a:rPr lang="zh-CN" altLang="en-US" sz="2400" dirty="0"/>
              <a:t>工具调用，能理解目标、拆分任务、调用资源并自主执行，最终输出可落地结果。 </a:t>
            </a:r>
            <a:endParaRPr lang="en-US" altLang="zh-CN" sz="2400" dirty="0"/>
          </a:p>
          <a:p>
            <a:pPr marL="800100" lvl="1" indent="-342900" fontAlgn="auto">
              <a:lnSpc>
                <a:spcPct val="150000"/>
              </a:lnSpc>
              <a:spcAft>
                <a:spcPts val="600"/>
              </a:spcAft>
              <a:buFont typeface="Arial" panose="020B0604020202090204" pitchFamily="34" charset="0"/>
              <a:buChar char="•"/>
            </a:pPr>
            <a:endParaRPr lang="zh-CN" altLang="en-US" sz="2400" dirty="0">
              <a:sym typeface="+mn-ea"/>
            </a:endParaRPr>
          </a:p>
        </p:txBody>
      </p:sp>
      <p:sp>
        <p:nvSpPr>
          <p:cNvPr id="4" name="文本框 3">
            <a:extLst>
              <a:ext uri="{FF2B5EF4-FFF2-40B4-BE49-F238E27FC236}">
                <a16:creationId xmlns:a16="http://schemas.microsoft.com/office/drawing/2014/main" id="{E5CB70D6-A63B-C438-FCC6-61CE1765E3B4}"/>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RAG</a:t>
            </a:r>
          </a:p>
        </p:txBody>
      </p:sp>
      <p:sp>
        <p:nvSpPr>
          <p:cNvPr id="3" name="内容占位符 2"/>
          <p:cNvSpPr>
            <a:spLocks noGrp="1"/>
          </p:cNvSpPr>
          <p:nvPr>
            <p:ph idx="1"/>
          </p:nvPr>
        </p:nvSpPr>
        <p:spPr/>
        <p:txBody>
          <a:bodyPr/>
          <a:lstStyle/>
          <a:p>
            <a:pPr marL="342900" indent="-342900" fontAlgn="auto">
              <a:lnSpc>
                <a:spcPct val="150000"/>
              </a:lnSpc>
              <a:spcAft>
                <a:spcPts val="600"/>
              </a:spcAft>
              <a:buFont typeface="Arial" panose="020B0604020202090204" pitchFamily="34" charset="0"/>
              <a:buChar char="•"/>
            </a:pPr>
            <a:r>
              <a:rPr lang="en-US" altLang="zh-CN" sz="2400">
                <a:sym typeface="+mn-ea"/>
              </a:rPr>
              <a:t>RAG（Retrieval Augmented Generation，</a:t>
            </a:r>
            <a:r>
              <a:rPr lang="zh-CN" altLang="en-US" sz="2400">
                <a:sym typeface="+mn-ea"/>
              </a:rPr>
              <a:t>检索增强生成</a:t>
            </a:r>
            <a:r>
              <a:rPr lang="en-US" altLang="zh-CN" sz="2400">
                <a:sym typeface="+mn-ea"/>
              </a:rPr>
              <a:t>）</a:t>
            </a:r>
            <a:endParaRPr lang="en-US" altLang="zh-CN" sz="2400"/>
          </a:p>
          <a:p>
            <a:pPr marL="457200" lvl="1" fontAlgn="auto">
              <a:lnSpc>
                <a:spcPct val="150000"/>
              </a:lnSpc>
              <a:spcAft>
                <a:spcPts val="600"/>
              </a:spcAft>
              <a:buFont typeface="Arial" panose="020B0604020202090204" pitchFamily="34" charset="0"/>
            </a:pPr>
            <a:r>
              <a:rPr lang="en-US" altLang="zh-CN" sz="2400">
                <a:sym typeface="+mn-ea"/>
              </a:rPr>
              <a:t>RAG</a:t>
            </a:r>
            <a:r>
              <a:rPr lang="zh-CN" altLang="en-US" sz="2400">
                <a:sym typeface="+mn-ea"/>
              </a:rPr>
              <a:t>是指结合了基于检索的模型和生成模型的能力，以提高生成文本的质量和相关性。</a:t>
            </a:r>
            <a:endParaRPr lang="zh-CN" altLang="en-US"/>
          </a:p>
        </p:txBody>
      </p:sp>
      <p:pic>
        <p:nvPicPr>
          <p:cNvPr id="4" name="图片 3"/>
          <p:cNvPicPr>
            <a:picLocks noChangeAspect="1"/>
          </p:cNvPicPr>
          <p:nvPr/>
        </p:nvPicPr>
        <p:blipFill>
          <a:blip r:embed="rId2"/>
          <a:stretch>
            <a:fillRect/>
          </a:stretch>
        </p:blipFill>
        <p:spPr>
          <a:xfrm>
            <a:off x="3133725" y="2458085"/>
            <a:ext cx="6537325" cy="3651250"/>
          </a:xfrm>
          <a:prstGeom prst="rect">
            <a:avLst/>
          </a:prstGeom>
        </p:spPr>
      </p:pic>
      <p:sp>
        <p:nvSpPr>
          <p:cNvPr id="5" name="文本框 4">
            <a:extLst>
              <a:ext uri="{FF2B5EF4-FFF2-40B4-BE49-F238E27FC236}">
                <a16:creationId xmlns:a16="http://schemas.microsoft.com/office/drawing/2014/main" id="{B1EB72F1-CA85-B2F3-18F8-923F71A49286}"/>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057247"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一、大模型的发展</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二、大模型中的一些现象</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3057247"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三、大模型的应用</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316105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四、大模型的推理</a:t>
            </a:r>
          </a:p>
        </p:txBody>
      </p:sp>
    </p:spTree>
    <p:extLst>
      <p:ext uri="{BB962C8B-B14F-4D97-AF65-F5344CB8AC3E}">
        <p14:creationId xmlns:p14="http://schemas.microsoft.com/office/powerpoint/2010/main" val="3056289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37234-AF59-3A6D-3DD5-8B83F91F46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4EE2E9-EFF1-0633-62B1-7B54273F01CD}"/>
              </a:ext>
            </a:extLst>
          </p:cNvPr>
          <p:cNvSpPr>
            <a:spLocks noGrp="1"/>
          </p:cNvSpPr>
          <p:nvPr>
            <p:ph type="title"/>
          </p:nvPr>
        </p:nvSpPr>
        <p:spPr/>
        <p:txBody>
          <a:bodyPr/>
          <a:lstStyle/>
          <a:p>
            <a:r>
              <a:rPr lang="en-US" altLang="zh-CN" dirty="0"/>
              <a:t>Scaling</a:t>
            </a:r>
            <a:r>
              <a:rPr lang="zh-CN" altLang="en-US" dirty="0"/>
              <a:t> </a:t>
            </a:r>
            <a:r>
              <a:rPr lang="en-US" altLang="zh-CN" dirty="0"/>
              <a:t>law</a:t>
            </a:r>
            <a:endParaRPr kumimoji="1" lang="zh-CN" altLang="en-US" dirty="0"/>
          </a:p>
        </p:txBody>
      </p:sp>
      <p:sp>
        <p:nvSpPr>
          <p:cNvPr id="5" name="内容占位符 4">
            <a:extLst>
              <a:ext uri="{FF2B5EF4-FFF2-40B4-BE49-F238E27FC236}">
                <a16:creationId xmlns:a16="http://schemas.microsoft.com/office/drawing/2014/main" id="{1BBF52F2-F4B4-F9E8-F36F-F232384674C4}"/>
              </a:ext>
            </a:extLst>
          </p:cNvPr>
          <p:cNvSpPr>
            <a:spLocks noGrp="1"/>
          </p:cNvSpPr>
          <p:nvPr>
            <p:ph idx="1"/>
          </p:nvPr>
        </p:nvSpPr>
        <p:spPr>
          <a:xfrm>
            <a:off x="381242" y="981154"/>
            <a:ext cx="5714757" cy="5333856"/>
          </a:xfrm>
        </p:spPr>
        <p:txBody>
          <a:bodyPr/>
          <a:lstStyle/>
          <a:p>
            <a:pPr marL="342900" indent="-342900">
              <a:lnSpc>
                <a:spcPct val="150000"/>
              </a:lnSpc>
              <a:buFont typeface="Wingdings" pitchFamily="2" charset="2"/>
              <a:buChar char="p"/>
            </a:pPr>
            <a:r>
              <a:rPr kumimoji="1" lang="zh-CN" altLang="en-US" dirty="0"/>
              <a:t>在一定范围内，</a:t>
            </a:r>
            <a:r>
              <a:rPr lang="zh-CN" altLang="en-US" dirty="0"/>
              <a:t>其他因素不受制约的情况下，模型（非嵌入层）参数规模，与模型测试损失之间存在幂律关系</a:t>
            </a:r>
          </a:p>
        </p:txBody>
      </p:sp>
      <p:pic>
        <p:nvPicPr>
          <p:cNvPr id="7" name="图片 6">
            <a:extLst>
              <a:ext uri="{FF2B5EF4-FFF2-40B4-BE49-F238E27FC236}">
                <a16:creationId xmlns:a16="http://schemas.microsoft.com/office/drawing/2014/main" id="{7E097366-11E2-ABD1-2B4A-CA9AC2A3DD9B}"/>
              </a:ext>
            </a:extLst>
          </p:cNvPr>
          <p:cNvPicPr>
            <a:picLocks noChangeAspect="1"/>
          </p:cNvPicPr>
          <p:nvPr/>
        </p:nvPicPr>
        <p:blipFill rotWithShape="1">
          <a:blip r:embed="rId2"/>
          <a:srcRect r="5450"/>
          <a:stretch/>
        </p:blipFill>
        <p:spPr>
          <a:xfrm>
            <a:off x="1314510" y="3429000"/>
            <a:ext cx="3751806" cy="1642836"/>
          </a:xfrm>
          <a:prstGeom prst="rect">
            <a:avLst/>
          </a:prstGeom>
        </p:spPr>
      </p:pic>
      <p:pic>
        <p:nvPicPr>
          <p:cNvPr id="8" name="图片 7">
            <a:extLst>
              <a:ext uri="{FF2B5EF4-FFF2-40B4-BE49-F238E27FC236}">
                <a16:creationId xmlns:a16="http://schemas.microsoft.com/office/drawing/2014/main" id="{8E644ECA-D6CE-9236-50B6-04D560A28CF7}"/>
              </a:ext>
            </a:extLst>
          </p:cNvPr>
          <p:cNvPicPr>
            <a:picLocks/>
          </p:cNvPicPr>
          <p:nvPr/>
        </p:nvPicPr>
        <p:blipFill>
          <a:blip r:embed="rId3"/>
          <a:stretch>
            <a:fillRect/>
          </a:stretch>
        </p:blipFill>
        <p:spPr>
          <a:xfrm>
            <a:off x="6621700" y="1653914"/>
            <a:ext cx="4406538" cy="4222932"/>
          </a:xfrm>
          <a:prstGeom prst="rect">
            <a:avLst/>
          </a:prstGeom>
        </p:spPr>
      </p:pic>
      <p:sp>
        <p:nvSpPr>
          <p:cNvPr id="4" name="文本框 3">
            <a:extLst>
              <a:ext uri="{FF2B5EF4-FFF2-40B4-BE49-F238E27FC236}">
                <a16:creationId xmlns:a16="http://schemas.microsoft.com/office/drawing/2014/main" id="{442D0C49-523B-6E28-EFD1-402065F43752}"/>
              </a:ext>
            </a:extLst>
          </p:cNvPr>
          <p:cNvSpPr txBox="1"/>
          <p:nvPr/>
        </p:nvSpPr>
        <p:spPr>
          <a:xfrm>
            <a:off x="-1" y="6315010"/>
            <a:ext cx="9902283" cy="523220"/>
          </a:xfrm>
          <a:prstGeom prst="rect">
            <a:avLst/>
          </a:prstGeom>
          <a:noFill/>
        </p:spPr>
        <p:txBody>
          <a:bodyPr wrap="square">
            <a:spAutoFit/>
          </a:bodyPr>
          <a:lstStyle/>
          <a:p>
            <a:r>
              <a:rPr lang="en" altLang="zh-CN" sz="1400" dirty="0">
                <a:solidFill>
                  <a:schemeClr val="bg1"/>
                </a:solidFill>
              </a:rPr>
              <a:t>Kaplan, Jared, Sam </a:t>
            </a:r>
            <a:r>
              <a:rPr lang="en" altLang="zh-CN" sz="1400" dirty="0" err="1">
                <a:solidFill>
                  <a:schemeClr val="bg1"/>
                </a:solidFill>
              </a:rPr>
              <a:t>McCandlish</a:t>
            </a:r>
            <a:r>
              <a:rPr lang="en" altLang="zh-CN" sz="1400" dirty="0">
                <a:solidFill>
                  <a:schemeClr val="bg1"/>
                </a:solidFill>
              </a:rPr>
              <a:t>, Tom </a:t>
            </a:r>
            <a:r>
              <a:rPr lang="en" altLang="zh-CN" sz="1400" dirty="0" err="1">
                <a:solidFill>
                  <a:schemeClr val="bg1"/>
                </a:solidFill>
              </a:rPr>
              <a:t>Henighan</a:t>
            </a:r>
            <a:r>
              <a:rPr lang="en" altLang="zh-CN" sz="1400" dirty="0">
                <a:solidFill>
                  <a:schemeClr val="bg1"/>
                </a:solidFill>
              </a:rPr>
              <a:t>, Tom B. Brown, Benjamin Chess, Rewon Child, Scott Gray, Alec Radford, Jeffrey Wu, and Dario </a:t>
            </a:r>
            <a:r>
              <a:rPr lang="en" altLang="zh-CN" sz="1400" dirty="0" err="1">
                <a:solidFill>
                  <a:schemeClr val="bg1"/>
                </a:solidFill>
              </a:rPr>
              <a:t>Amodei</a:t>
            </a:r>
            <a:r>
              <a:rPr lang="en" altLang="zh-CN" sz="1400" dirty="0">
                <a:solidFill>
                  <a:schemeClr val="bg1"/>
                </a:solidFill>
              </a:rPr>
              <a:t>. "Scaling laws for neural language models." </a:t>
            </a:r>
            <a:r>
              <a:rPr lang="en" altLang="zh-CN" sz="1400" i="1" dirty="0" err="1">
                <a:solidFill>
                  <a:schemeClr val="bg1"/>
                </a:solidFill>
              </a:rPr>
              <a:t>arXiv</a:t>
            </a:r>
            <a:r>
              <a:rPr lang="en" altLang="zh-CN" sz="1400" i="1" dirty="0">
                <a:solidFill>
                  <a:schemeClr val="bg1"/>
                </a:solidFill>
              </a:rPr>
              <a:t> preprint arXiv:2001.08361</a:t>
            </a:r>
            <a:r>
              <a:rPr lang="en" altLang="zh-CN" sz="1400" dirty="0">
                <a:solidFill>
                  <a:schemeClr val="bg1"/>
                </a:solidFill>
              </a:rPr>
              <a:t> (2020).</a:t>
            </a:r>
            <a:endParaRPr lang="zh-CN" altLang="en-US" sz="1400" dirty="0">
              <a:solidFill>
                <a:schemeClr val="bg1"/>
              </a:solidFill>
            </a:endParaRPr>
          </a:p>
        </p:txBody>
      </p:sp>
    </p:spTree>
    <p:extLst>
      <p:ext uri="{BB962C8B-B14F-4D97-AF65-F5344CB8AC3E}">
        <p14:creationId xmlns:p14="http://schemas.microsoft.com/office/powerpoint/2010/main" val="2961838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B1E858-6DF7-35F9-F6D2-4A961A9912C2}"/>
              </a:ext>
            </a:extLst>
          </p:cNvPr>
          <p:cNvSpPr>
            <a:spLocks noGrp="1"/>
          </p:cNvSpPr>
          <p:nvPr>
            <p:ph type="title"/>
          </p:nvPr>
        </p:nvSpPr>
        <p:spPr/>
        <p:txBody>
          <a:bodyPr/>
          <a:lstStyle/>
          <a:p>
            <a:r>
              <a:rPr lang="en-US" altLang="zh-CN" dirty="0"/>
              <a:t>Scaling</a:t>
            </a:r>
            <a:r>
              <a:rPr lang="zh-CN" altLang="en-US" dirty="0"/>
              <a:t> </a:t>
            </a:r>
            <a:r>
              <a:rPr lang="en-US" altLang="zh-CN" dirty="0"/>
              <a:t>law</a:t>
            </a:r>
            <a:endParaRPr kumimoji="1" lang="zh-CN" altLang="en-US" dirty="0"/>
          </a:p>
        </p:txBody>
      </p:sp>
      <p:sp>
        <p:nvSpPr>
          <p:cNvPr id="3" name="内容占位符 2">
            <a:extLst>
              <a:ext uri="{FF2B5EF4-FFF2-40B4-BE49-F238E27FC236}">
                <a16:creationId xmlns:a16="http://schemas.microsoft.com/office/drawing/2014/main" id="{62910E69-291D-EE9E-AA8C-031FC712F852}"/>
              </a:ext>
            </a:extLst>
          </p:cNvPr>
          <p:cNvSpPr>
            <a:spLocks noGrp="1"/>
          </p:cNvSpPr>
          <p:nvPr>
            <p:ph idx="1"/>
          </p:nvPr>
        </p:nvSpPr>
        <p:spPr>
          <a:xfrm>
            <a:off x="381241" y="981154"/>
            <a:ext cx="5630091" cy="5333856"/>
          </a:xfrm>
        </p:spPr>
        <p:txBody>
          <a:bodyPr/>
          <a:lstStyle/>
          <a:p>
            <a:pPr marL="342900" indent="-342900">
              <a:lnSpc>
                <a:spcPct val="150000"/>
              </a:lnSpc>
              <a:buFont typeface="Wingdings" pitchFamily="2" charset="2"/>
              <a:buChar char="p"/>
            </a:pPr>
            <a:r>
              <a:rPr kumimoji="1" lang="zh-CN" altLang="en-US" dirty="0"/>
              <a:t>在一定范围内，</a:t>
            </a:r>
            <a:r>
              <a:rPr lang="zh-CN" altLang="en-US" dirty="0"/>
              <a:t>其他因素不受制约的情况下，</a:t>
            </a:r>
            <a:r>
              <a:rPr kumimoji="1" lang="zh-CN" altLang="en-US" dirty="0"/>
              <a:t>给定模型规模下，数据量越大，模型的</a:t>
            </a:r>
            <a:r>
              <a:rPr lang="zh-CN" altLang="en-US" dirty="0"/>
              <a:t>测试损失</a:t>
            </a:r>
            <a:r>
              <a:rPr kumimoji="1" lang="zh-CN" altLang="en-US" dirty="0"/>
              <a:t>也会呈现出一种幂律关系</a:t>
            </a:r>
          </a:p>
        </p:txBody>
      </p:sp>
      <p:pic>
        <p:nvPicPr>
          <p:cNvPr id="4" name="图片 3">
            <a:extLst>
              <a:ext uri="{FF2B5EF4-FFF2-40B4-BE49-F238E27FC236}">
                <a16:creationId xmlns:a16="http://schemas.microsoft.com/office/drawing/2014/main" id="{C78C3E12-B461-E7BF-01AA-049777E9B010}"/>
              </a:ext>
            </a:extLst>
          </p:cNvPr>
          <p:cNvPicPr>
            <a:picLocks noChangeAspect="1"/>
          </p:cNvPicPr>
          <p:nvPr/>
        </p:nvPicPr>
        <p:blipFill>
          <a:blip r:embed="rId2"/>
          <a:stretch>
            <a:fillRect/>
          </a:stretch>
        </p:blipFill>
        <p:spPr>
          <a:xfrm>
            <a:off x="1230260" y="3182632"/>
            <a:ext cx="3932051" cy="1741714"/>
          </a:xfrm>
          <a:prstGeom prst="rect">
            <a:avLst/>
          </a:prstGeom>
        </p:spPr>
      </p:pic>
      <p:pic>
        <p:nvPicPr>
          <p:cNvPr id="5" name="图片 4">
            <a:extLst>
              <a:ext uri="{FF2B5EF4-FFF2-40B4-BE49-F238E27FC236}">
                <a16:creationId xmlns:a16="http://schemas.microsoft.com/office/drawing/2014/main" id="{1A8B3A9E-BB8B-BA1B-3A81-F2A07600E441}"/>
              </a:ext>
            </a:extLst>
          </p:cNvPr>
          <p:cNvPicPr>
            <a:picLocks noChangeAspect="1"/>
          </p:cNvPicPr>
          <p:nvPr/>
        </p:nvPicPr>
        <p:blipFill rotWithShape="1">
          <a:blip r:embed="rId3"/>
          <a:srcRect l="2151"/>
          <a:stretch/>
        </p:blipFill>
        <p:spPr>
          <a:xfrm>
            <a:off x="6753284" y="1767664"/>
            <a:ext cx="4410000" cy="4227737"/>
          </a:xfrm>
          <a:prstGeom prst="rect">
            <a:avLst/>
          </a:prstGeom>
        </p:spPr>
      </p:pic>
      <p:sp>
        <p:nvSpPr>
          <p:cNvPr id="6" name="文本框 5">
            <a:extLst>
              <a:ext uri="{FF2B5EF4-FFF2-40B4-BE49-F238E27FC236}">
                <a16:creationId xmlns:a16="http://schemas.microsoft.com/office/drawing/2014/main" id="{3B12B3C9-4FC4-5C55-0FDB-58C6C80C3F26}"/>
              </a:ext>
            </a:extLst>
          </p:cNvPr>
          <p:cNvSpPr txBox="1"/>
          <p:nvPr/>
        </p:nvSpPr>
        <p:spPr>
          <a:xfrm>
            <a:off x="-1" y="6315010"/>
            <a:ext cx="9902283" cy="523220"/>
          </a:xfrm>
          <a:prstGeom prst="rect">
            <a:avLst/>
          </a:prstGeom>
          <a:noFill/>
        </p:spPr>
        <p:txBody>
          <a:bodyPr wrap="square">
            <a:spAutoFit/>
          </a:bodyPr>
          <a:lstStyle/>
          <a:p>
            <a:r>
              <a:rPr lang="en" altLang="zh-CN" sz="1400" dirty="0">
                <a:solidFill>
                  <a:schemeClr val="bg1"/>
                </a:solidFill>
              </a:rPr>
              <a:t>Kaplan, Jared, Sam </a:t>
            </a:r>
            <a:r>
              <a:rPr lang="en" altLang="zh-CN" sz="1400" dirty="0" err="1">
                <a:solidFill>
                  <a:schemeClr val="bg1"/>
                </a:solidFill>
              </a:rPr>
              <a:t>McCandlish</a:t>
            </a:r>
            <a:r>
              <a:rPr lang="en" altLang="zh-CN" sz="1400" dirty="0">
                <a:solidFill>
                  <a:schemeClr val="bg1"/>
                </a:solidFill>
              </a:rPr>
              <a:t>, Tom </a:t>
            </a:r>
            <a:r>
              <a:rPr lang="en" altLang="zh-CN" sz="1400" dirty="0" err="1">
                <a:solidFill>
                  <a:schemeClr val="bg1"/>
                </a:solidFill>
              </a:rPr>
              <a:t>Henighan</a:t>
            </a:r>
            <a:r>
              <a:rPr lang="en" altLang="zh-CN" sz="1400" dirty="0">
                <a:solidFill>
                  <a:schemeClr val="bg1"/>
                </a:solidFill>
              </a:rPr>
              <a:t>, Tom B. Brown, Benjamin Chess, Rewon Child, Scott Gray, Alec Radford, Jeffrey Wu, and Dario </a:t>
            </a:r>
            <a:r>
              <a:rPr lang="en" altLang="zh-CN" sz="1400" dirty="0" err="1">
                <a:solidFill>
                  <a:schemeClr val="bg1"/>
                </a:solidFill>
              </a:rPr>
              <a:t>Amodei</a:t>
            </a:r>
            <a:r>
              <a:rPr lang="en" altLang="zh-CN" sz="1400" dirty="0">
                <a:solidFill>
                  <a:schemeClr val="bg1"/>
                </a:solidFill>
              </a:rPr>
              <a:t>. "Scaling laws for neural language models." </a:t>
            </a:r>
            <a:r>
              <a:rPr lang="en" altLang="zh-CN" sz="1400" i="1" dirty="0" err="1">
                <a:solidFill>
                  <a:schemeClr val="bg1"/>
                </a:solidFill>
              </a:rPr>
              <a:t>arXiv</a:t>
            </a:r>
            <a:r>
              <a:rPr lang="en" altLang="zh-CN" sz="1400" i="1" dirty="0">
                <a:solidFill>
                  <a:schemeClr val="bg1"/>
                </a:solidFill>
              </a:rPr>
              <a:t> preprint arXiv:2001.08361</a:t>
            </a:r>
            <a:r>
              <a:rPr lang="en" altLang="zh-CN" sz="1400" dirty="0">
                <a:solidFill>
                  <a:schemeClr val="bg1"/>
                </a:solidFill>
              </a:rPr>
              <a:t> (2020).</a:t>
            </a:r>
            <a:endParaRPr lang="zh-CN" altLang="en-US" sz="1400" dirty="0">
              <a:solidFill>
                <a:schemeClr val="bg1"/>
              </a:solidFill>
            </a:endParaRPr>
          </a:p>
        </p:txBody>
      </p:sp>
    </p:spTree>
    <p:extLst>
      <p:ext uri="{BB962C8B-B14F-4D97-AF65-F5344CB8AC3E}">
        <p14:creationId xmlns:p14="http://schemas.microsoft.com/office/powerpoint/2010/main" val="2375160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74F7D1-3C1E-8992-0095-5D508C646297}"/>
              </a:ext>
            </a:extLst>
          </p:cNvPr>
          <p:cNvSpPr>
            <a:spLocks noGrp="1"/>
          </p:cNvSpPr>
          <p:nvPr>
            <p:ph type="title"/>
          </p:nvPr>
        </p:nvSpPr>
        <p:spPr/>
        <p:txBody>
          <a:bodyPr/>
          <a:lstStyle/>
          <a:p>
            <a:r>
              <a:rPr lang="en-US" altLang="zh-CN" dirty="0"/>
              <a:t>Scaling</a:t>
            </a:r>
            <a:r>
              <a:rPr lang="zh-CN" altLang="en-US" dirty="0"/>
              <a:t> </a:t>
            </a:r>
            <a:r>
              <a:rPr lang="en-US" altLang="zh-CN" dirty="0"/>
              <a:t>law</a:t>
            </a:r>
            <a:endParaRPr kumimoji="1" lang="zh-CN" altLang="en-US" dirty="0"/>
          </a:p>
        </p:txBody>
      </p:sp>
      <p:sp>
        <p:nvSpPr>
          <p:cNvPr id="3" name="内容占位符 2">
            <a:extLst>
              <a:ext uri="{FF2B5EF4-FFF2-40B4-BE49-F238E27FC236}">
                <a16:creationId xmlns:a16="http://schemas.microsoft.com/office/drawing/2014/main" id="{6C5D73E5-BEE4-802E-01D3-FC40FAFA186C}"/>
              </a:ext>
            </a:extLst>
          </p:cNvPr>
          <p:cNvSpPr>
            <a:spLocks noGrp="1"/>
          </p:cNvSpPr>
          <p:nvPr>
            <p:ph idx="1"/>
          </p:nvPr>
        </p:nvSpPr>
        <p:spPr>
          <a:xfrm>
            <a:off x="381242" y="981154"/>
            <a:ext cx="5875625" cy="5333856"/>
          </a:xfrm>
        </p:spPr>
        <p:txBody>
          <a:bodyPr/>
          <a:lstStyle/>
          <a:p>
            <a:pPr marL="342900" indent="-342900">
              <a:lnSpc>
                <a:spcPct val="150000"/>
              </a:lnSpc>
              <a:buFont typeface="Wingdings" pitchFamily="2" charset="2"/>
              <a:buChar char="p"/>
            </a:pPr>
            <a:r>
              <a:rPr kumimoji="1" lang="zh-CN" altLang="en-US" dirty="0"/>
              <a:t>在一定范围内，</a:t>
            </a:r>
            <a:r>
              <a:rPr lang="zh-CN" altLang="en-US" dirty="0"/>
              <a:t>其他因素不受制约的情况下，计算量越大模型的测试损失也会呈现出幂律关系</a:t>
            </a:r>
          </a:p>
          <a:p>
            <a:pPr marL="342900" indent="-342900">
              <a:buFont typeface="Wingdings" pitchFamily="2" charset="2"/>
              <a:buChar char="p"/>
            </a:pPr>
            <a:endParaRPr kumimoji="1" lang="zh-CN" altLang="en-US" dirty="0"/>
          </a:p>
        </p:txBody>
      </p:sp>
      <p:pic>
        <p:nvPicPr>
          <p:cNvPr id="4" name="图片 3">
            <a:extLst>
              <a:ext uri="{FF2B5EF4-FFF2-40B4-BE49-F238E27FC236}">
                <a16:creationId xmlns:a16="http://schemas.microsoft.com/office/drawing/2014/main" id="{27194373-F638-CD70-A891-AD02C97FBB68}"/>
              </a:ext>
            </a:extLst>
          </p:cNvPr>
          <p:cNvPicPr>
            <a:picLocks noChangeAspect="1"/>
          </p:cNvPicPr>
          <p:nvPr/>
        </p:nvPicPr>
        <p:blipFill>
          <a:blip r:embed="rId2"/>
          <a:stretch>
            <a:fillRect/>
          </a:stretch>
        </p:blipFill>
        <p:spPr>
          <a:xfrm>
            <a:off x="740396" y="2776528"/>
            <a:ext cx="4412245" cy="1982718"/>
          </a:xfrm>
          <a:prstGeom prst="rect">
            <a:avLst/>
          </a:prstGeom>
        </p:spPr>
      </p:pic>
      <p:pic>
        <p:nvPicPr>
          <p:cNvPr id="5" name="图片 4">
            <a:extLst>
              <a:ext uri="{FF2B5EF4-FFF2-40B4-BE49-F238E27FC236}">
                <a16:creationId xmlns:a16="http://schemas.microsoft.com/office/drawing/2014/main" id="{CAA6F88A-FF5A-7010-9DCA-49F1025047F3}"/>
              </a:ext>
            </a:extLst>
          </p:cNvPr>
          <p:cNvPicPr>
            <a:picLocks/>
          </p:cNvPicPr>
          <p:nvPr/>
        </p:nvPicPr>
        <p:blipFill>
          <a:blip r:embed="rId3"/>
          <a:stretch>
            <a:fillRect/>
          </a:stretch>
        </p:blipFill>
        <p:spPr>
          <a:xfrm>
            <a:off x="6710723" y="1534882"/>
            <a:ext cx="4410000" cy="4226400"/>
          </a:xfrm>
          <a:prstGeom prst="rect">
            <a:avLst/>
          </a:prstGeom>
        </p:spPr>
      </p:pic>
      <p:sp>
        <p:nvSpPr>
          <p:cNvPr id="6" name="文本框 5">
            <a:extLst>
              <a:ext uri="{FF2B5EF4-FFF2-40B4-BE49-F238E27FC236}">
                <a16:creationId xmlns:a16="http://schemas.microsoft.com/office/drawing/2014/main" id="{18F24320-863D-9484-6E77-82DBCCB4BC9C}"/>
              </a:ext>
            </a:extLst>
          </p:cNvPr>
          <p:cNvSpPr txBox="1"/>
          <p:nvPr/>
        </p:nvSpPr>
        <p:spPr>
          <a:xfrm>
            <a:off x="-1" y="6315010"/>
            <a:ext cx="9902283" cy="523220"/>
          </a:xfrm>
          <a:prstGeom prst="rect">
            <a:avLst/>
          </a:prstGeom>
          <a:noFill/>
        </p:spPr>
        <p:txBody>
          <a:bodyPr wrap="square">
            <a:spAutoFit/>
          </a:bodyPr>
          <a:lstStyle/>
          <a:p>
            <a:r>
              <a:rPr lang="en" altLang="zh-CN" sz="1400" dirty="0">
                <a:solidFill>
                  <a:schemeClr val="bg1"/>
                </a:solidFill>
              </a:rPr>
              <a:t>Kaplan, Jared, Sam </a:t>
            </a:r>
            <a:r>
              <a:rPr lang="en" altLang="zh-CN" sz="1400" dirty="0" err="1">
                <a:solidFill>
                  <a:schemeClr val="bg1"/>
                </a:solidFill>
              </a:rPr>
              <a:t>McCandlish</a:t>
            </a:r>
            <a:r>
              <a:rPr lang="en" altLang="zh-CN" sz="1400" dirty="0">
                <a:solidFill>
                  <a:schemeClr val="bg1"/>
                </a:solidFill>
              </a:rPr>
              <a:t>, Tom </a:t>
            </a:r>
            <a:r>
              <a:rPr lang="en" altLang="zh-CN" sz="1400" dirty="0" err="1">
                <a:solidFill>
                  <a:schemeClr val="bg1"/>
                </a:solidFill>
              </a:rPr>
              <a:t>Henighan</a:t>
            </a:r>
            <a:r>
              <a:rPr lang="en" altLang="zh-CN" sz="1400" dirty="0">
                <a:solidFill>
                  <a:schemeClr val="bg1"/>
                </a:solidFill>
              </a:rPr>
              <a:t>, Tom B. Brown, Benjamin Chess, Rewon Child, Scott Gray, Alec Radford, Jeffrey Wu, and Dario </a:t>
            </a:r>
            <a:r>
              <a:rPr lang="en" altLang="zh-CN" sz="1400" dirty="0" err="1">
                <a:solidFill>
                  <a:schemeClr val="bg1"/>
                </a:solidFill>
              </a:rPr>
              <a:t>Amodei</a:t>
            </a:r>
            <a:r>
              <a:rPr lang="en" altLang="zh-CN" sz="1400" dirty="0">
                <a:solidFill>
                  <a:schemeClr val="bg1"/>
                </a:solidFill>
              </a:rPr>
              <a:t>. "Scaling laws for neural language models." </a:t>
            </a:r>
            <a:r>
              <a:rPr lang="en" altLang="zh-CN" sz="1400" i="1" dirty="0" err="1">
                <a:solidFill>
                  <a:schemeClr val="bg1"/>
                </a:solidFill>
              </a:rPr>
              <a:t>arXiv</a:t>
            </a:r>
            <a:r>
              <a:rPr lang="en" altLang="zh-CN" sz="1400" i="1" dirty="0">
                <a:solidFill>
                  <a:schemeClr val="bg1"/>
                </a:solidFill>
              </a:rPr>
              <a:t> preprint arXiv:2001.08361</a:t>
            </a:r>
            <a:r>
              <a:rPr lang="en" altLang="zh-CN" sz="1400" dirty="0">
                <a:solidFill>
                  <a:schemeClr val="bg1"/>
                </a:solidFill>
              </a:rPr>
              <a:t> (2020).</a:t>
            </a:r>
            <a:endParaRPr lang="zh-CN" altLang="en-US" sz="1400" dirty="0">
              <a:solidFill>
                <a:schemeClr val="bg1"/>
              </a:solidFill>
            </a:endParaRPr>
          </a:p>
        </p:txBody>
      </p:sp>
    </p:spTree>
    <p:extLst>
      <p:ext uri="{BB962C8B-B14F-4D97-AF65-F5344CB8AC3E}">
        <p14:creationId xmlns:p14="http://schemas.microsoft.com/office/powerpoint/2010/main" val="2281983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B8EBB-C66E-AF3A-1E78-AA6AE6850F1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E7C4AC-07D4-9331-DF2B-ACB2836A2597}"/>
              </a:ext>
            </a:extLst>
          </p:cNvPr>
          <p:cNvSpPr>
            <a:spLocks noGrp="1"/>
          </p:cNvSpPr>
          <p:nvPr>
            <p:ph type="title"/>
          </p:nvPr>
        </p:nvSpPr>
        <p:spPr/>
        <p:txBody>
          <a:bodyPr/>
          <a:lstStyle/>
          <a:p>
            <a:r>
              <a:rPr lang="en-US" altLang="zh-CN" dirty="0">
                <a:solidFill>
                  <a:schemeClr val="tx2"/>
                </a:solidFill>
              </a:rPr>
              <a:t>Power law/Scaling law</a:t>
            </a:r>
            <a:endParaRPr lang="zh-CN" altLang="en-US" dirty="0"/>
          </a:p>
        </p:txBody>
      </p:sp>
      <p:sp>
        <p:nvSpPr>
          <p:cNvPr id="10" name="文本框 9">
            <a:extLst>
              <a:ext uri="{FF2B5EF4-FFF2-40B4-BE49-F238E27FC236}">
                <a16:creationId xmlns:a16="http://schemas.microsoft.com/office/drawing/2014/main" id="{E617182D-BA6A-D5D9-3FBD-1D126B3EA91F}"/>
              </a:ext>
            </a:extLst>
          </p:cNvPr>
          <p:cNvSpPr txBox="1"/>
          <p:nvPr/>
        </p:nvSpPr>
        <p:spPr>
          <a:xfrm>
            <a:off x="380999" y="1012121"/>
            <a:ext cx="11811001" cy="499624"/>
          </a:xfrm>
          <a:prstGeom prst="rect">
            <a:avLst/>
          </a:prstGeom>
          <a:noFill/>
        </p:spPr>
        <p:txBody>
          <a:bodyPr wrap="square" rtlCol="0">
            <a:spAutoFit/>
          </a:bodyPr>
          <a:lstStyle/>
          <a:p>
            <a:pPr indent="0" fontAlgn="auto">
              <a:lnSpc>
                <a:spcPct val="150000"/>
              </a:lnSpc>
            </a:pPr>
            <a:r>
              <a:rPr lang="en-US" altLang="zh-CN" sz="2000" b="1" dirty="0">
                <a:solidFill>
                  <a:schemeClr val="tx2"/>
                </a:solidFill>
                <a:latin typeface="微软雅黑" panose="020B0503020204020204" pitchFamily="34" charset="-122"/>
                <a:ea typeface="微软雅黑" panose="020B0503020204020204" pitchFamily="34" charset="-122"/>
              </a:rPr>
              <a:t>Power law/Scaling law</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dirty="0">
                <a:solidFill>
                  <a:schemeClr val="tx2"/>
                </a:solidFill>
                <a:latin typeface="微软雅黑" panose="020B0503020204020204" pitchFamily="34" charset="-122"/>
                <a:ea typeface="微软雅黑" panose="020B0503020204020204" pitchFamily="34" charset="-122"/>
              </a:rPr>
              <a:t>幂级数衰减可以理解为有无穷多个半衰期的指数衰减的和</a:t>
            </a:r>
          </a:p>
        </p:txBody>
      </p:sp>
      <p:pic>
        <p:nvPicPr>
          <p:cNvPr id="7" name="图片 6">
            <a:extLst>
              <a:ext uri="{FF2B5EF4-FFF2-40B4-BE49-F238E27FC236}">
                <a16:creationId xmlns:a16="http://schemas.microsoft.com/office/drawing/2014/main" id="{1AC1C181-1B1F-5918-5188-3F11C697EA6B}"/>
              </a:ext>
            </a:extLst>
          </p:cNvPr>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909320" y="3608798"/>
            <a:ext cx="10373360" cy="2743200"/>
          </a:xfrm>
          <a:prstGeom prst="rect">
            <a:avLst/>
          </a:prstGeom>
        </p:spPr>
      </p:pic>
      <p:sp>
        <p:nvSpPr>
          <p:cNvPr id="5" name="文本框 4">
            <a:extLst>
              <a:ext uri="{FF2B5EF4-FFF2-40B4-BE49-F238E27FC236}">
                <a16:creationId xmlns:a16="http://schemas.microsoft.com/office/drawing/2014/main" id="{465726DD-5630-17CA-7FB5-4E80C2C1C7CA}"/>
              </a:ext>
            </a:extLst>
          </p:cNvPr>
          <p:cNvSpPr txBox="1"/>
          <p:nvPr/>
        </p:nvSpPr>
        <p:spPr>
          <a:xfrm>
            <a:off x="101059" y="6351998"/>
            <a:ext cx="9639572" cy="377283"/>
          </a:xfrm>
          <a:prstGeom prst="rect">
            <a:avLst/>
          </a:prstGeom>
          <a:noFill/>
        </p:spPr>
        <p:txBody>
          <a:bodyPr wrap="square" rtlCol="0">
            <a:spAutoFit/>
          </a:bodyPr>
          <a:lstStyle/>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深度学习现象导论</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许志钦、张耀宇 </a:t>
            </a:r>
            <a:r>
              <a:rPr lang="en-US" altLang="zh-CN" sz="1400" dirty="0">
                <a:solidFill>
                  <a:schemeClr val="bg1"/>
                </a:solidFill>
                <a:latin typeface="Times New Roman" panose="02020603050405020304" pitchFamily="18" charset="0"/>
                <a:cs typeface="Times New Roman" panose="02020603050405020304" pitchFamily="18" charset="0"/>
              </a:rPr>
              <a:t>https://github.com/xuzhiqin1990/understanding_dl</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19D1858-6830-38E8-AE88-A5678C3DCA81}"/>
                  </a:ext>
                </a:extLst>
              </p:cNvPr>
              <p:cNvSpPr txBox="1"/>
              <p:nvPr/>
            </p:nvSpPr>
            <p:spPr>
              <a:xfrm>
                <a:off x="2624667" y="1973410"/>
                <a:ext cx="6032500" cy="758349"/>
              </a:xfrm>
              <a:prstGeom prst="rect">
                <a:avLst/>
              </a:prstGeom>
              <a:noFill/>
            </p:spPr>
            <p:txBody>
              <a:bodyPr wrap="square" rtlCol="0">
                <a:spAutoFit/>
              </a:bodyPr>
              <a:lstStyle/>
              <a:p>
                <a:pPr algn="l"/>
                <a14:m>
                  <m:oMathPara xmlns:m="http://schemas.openxmlformats.org/officeDocument/2006/math">
                    <m:oMath>
                      <m:nary>
                        <m:naryPr>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m:t>
                          </m:r>
                        </m:sup>
                        <m:e>
                          <m:func>
                            <m:funcPr>
                              <m:ctrlPr>
                                <a:rPr lang="en-US" altLang="zh-CN" sz="2000" b="0" i="0" smtClean="0">
                                  <a:latin typeface="Cambria Math" panose="02040503050406030204" pitchFamily="18" charset="0"/>
                                </a:rPr>
                              </m:ctrlPr>
                            </m:funcPr>
                            <m:fName>
                              <m:r>
                                <m:rPr>
                                  <m:sty m:val="p"/>
                                </m:rPr>
                                <a:rPr lang="en-US" altLang="zh-CN" sz="2000" b="0" i="0" smtClean="0">
                                  <a:latin typeface="Cambria Math" panose="02040503050406030204" pitchFamily="18" charset="0"/>
                                </a:rPr>
                                <m:t>exp</m:t>
                              </m:r>
                            </m:fName>
                            <m:e>
                              <m:d>
                                <m:dPr>
                                  <m:ctrlPr>
                                    <a:rPr lang="en-US" altLang="zh-CN" sz="2000" b="0" i="1" smtClean="0">
                                      <a:latin typeface="Cambria Math" panose="02040503050406030204" pitchFamily="18" charset="0"/>
                                    </a:rPr>
                                  </m:ctrlPr>
                                </m:dPr>
                                <m:e>
                                  <m:r>
                                    <m:rPr>
                                      <m:lit/>
                                    </m:rP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𝛼</m:t>
                                  </m:r>
                                  <m:r>
                                    <a:rPr lang="en-US" altLang="zh-CN" sz="2000" b="0" i="1" smtClean="0">
                                      <a:latin typeface="Cambria Math" panose="02040503050406030204" pitchFamily="18" charset="0"/>
                                    </a:rPr>
                                    <m:t>𝑡</m:t>
                                  </m:r>
                                </m:e>
                              </m:d>
                              <m:r>
                                <a:rPr lang="en-US" altLang="zh-CN" sz="2000" b="0" i="1" smtClean="0">
                                  <a:latin typeface="Cambria Math" panose="02040503050406030204" pitchFamily="18" charset="0"/>
                                </a:rPr>
                                <m:t>𝑑</m:t>
                              </m:r>
                              <m:r>
                                <a:rPr lang="en-US" altLang="zh-CN" sz="2000" b="0" i="1" smtClean="0">
                                  <a:latin typeface="Cambria Math" panose="02040503050406030204" pitchFamily="18" charset="0"/>
                                </a:rPr>
                                <m:t>𝛼</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𝑡</m:t>
                                  </m:r>
                                </m:den>
                              </m:f>
                            </m:e>
                          </m:func>
                        </m:e>
                      </m:nary>
                    </m:oMath>
                  </m:oMathPara>
                </a14:m>
                <a:endParaRPr lang="zh-CN" altLang="en-US" sz="2000" dirty="0"/>
              </a:p>
            </p:txBody>
          </p:sp>
        </mc:Choice>
        <mc:Fallback xmlns="">
          <p:sp>
            <p:nvSpPr>
              <p:cNvPr id="2" name="文本框 1">
                <a:extLst>
                  <a:ext uri="{FF2B5EF4-FFF2-40B4-BE49-F238E27FC236}">
                    <a16:creationId xmlns:a16="http://schemas.microsoft.com/office/drawing/2014/main" id="{F19D1858-6830-38E8-AE88-A5678C3DCA81}"/>
                  </a:ext>
                </a:extLst>
              </p:cNvPr>
              <p:cNvSpPr txBox="1">
                <a:spLocks noRot="1" noChangeAspect="1" noMove="1" noResize="1" noEditPoints="1" noAdjustHandles="1" noChangeArrowheads="1" noChangeShapeType="1" noTextEdit="1"/>
              </p:cNvSpPr>
              <p:nvPr/>
            </p:nvSpPr>
            <p:spPr>
              <a:xfrm>
                <a:off x="2624667" y="1973410"/>
                <a:ext cx="6032500" cy="758349"/>
              </a:xfrm>
              <a:prstGeom prst="rect">
                <a:avLst/>
              </a:prstGeom>
              <a:blipFill>
                <a:blip r:embed="rId5"/>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C3385D96-7189-F7D9-CDA5-F02950C11EED}"/>
              </a:ext>
            </a:extLst>
          </p:cNvPr>
          <p:cNvSpPr txBox="1"/>
          <p:nvPr/>
        </p:nvSpPr>
        <p:spPr>
          <a:xfrm>
            <a:off x="380999" y="2647509"/>
            <a:ext cx="11811001" cy="961289"/>
          </a:xfrm>
          <a:prstGeom prst="rect">
            <a:avLst/>
          </a:prstGeom>
          <a:noFill/>
        </p:spPr>
        <p:txBody>
          <a:bodyPr wrap="square" rtlCol="0">
            <a:spAutoFit/>
          </a:bodyPr>
          <a:lstStyle/>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有无穷慢衰减的成分！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当系统有多个子系统时，容易出现</a:t>
            </a:r>
          </a:p>
        </p:txBody>
      </p:sp>
    </p:spTree>
    <p:extLst>
      <p:ext uri="{BB962C8B-B14F-4D97-AF65-F5344CB8AC3E}">
        <p14:creationId xmlns:p14="http://schemas.microsoft.com/office/powerpoint/2010/main" val="23230875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C1EEB-2FFD-C898-159B-8A41F0D550E5}"/>
              </a:ext>
            </a:extLst>
          </p:cNvPr>
          <p:cNvSpPr>
            <a:spLocks noGrp="1"/>
          </p:cNvSpPr>
          <p:nvPr>
            <p:ph type="title"/>
          </p:nvPr>
        </p:nvSpPr>
        <p:spPr/>
        <p:txBody>
          <a:bodyPr/>
          <a:lstStyle/>
          <a:p>
            <a:r>
              <a:rPr lang="en-US" altLang="zh-CN" dirty="0"/>
              <a:t>Scaling Law</a:t>
            </a:r>
            <a:endParaRPr lang="zh-CN" altLang="en-US" dirty="0"/>
          </a:p>
        </p:txBody>
      </p:sp>
      <p:grpSp>
        <p:nvGrpSpPr>
          <p:cNvPr id="34" name="Group 92">
            <a:extLst>
              <a:ext uri="{FF2B5EF4-FFF2-40B4-BE49-F238E27FC236}">
                <a16:creationId xmlns:a16="http://schemas.microsoft.com/office/drawing/2014/main" id="{24FB7688-E018-10C2-E02C-99D20E45950A}"/>
              </a:ext>
            </a:extLst>
          </p:cNvPr>
          <p:cNvGrpSpPr/>
          <p:nvPr/>
        </p:nvGrpSpPr>
        <p:grpSpPr>
          <a:xfrm>
            <a:off x="4481442" y="1613930"/>
            <a:ext cx="3312000" cy="246222"/>
            <a:chOff x="808681" y="1311522"/>
            <a:chExt cx="4572000" cy="131319"/>
          </a:xfrm>
        </p:grpSpPr>
        <p:cxnSp>
          <p:nvCxnSpPr>
            <p:cNvPr id="35" name="直接连接符 45">
              <a:extLst>
                <a:ext uri="{FF2B5EF4-FFF2-40B4-BE49-F238E27FC236}">
                  <a16:creationId xmlns:a16="http://schemas.microsoft.com/office/drawing/2014/main" id="{FFAD6F9D-936F-E5A6-DC72-4E734550B9E0}"/>
                </a:ext>
              </a:extLst>
            </p:cNvPr>
            <p:cNvCxnSpPr/>
            <p:nvPr/>
          </p:nvCxnSpPr>
          <p:spPr bwMode="auto">
            <a:xfrm>
              <a:off x="808681" y="1377182"/>
              <a:ext cx="4572000" cy="0"/>
            </a:xfrm>
            <a:prstGeom prst="line">
              <a:avLst/>
            </a:prstGeom>
            <a:solidFill>
              <a:srgbClr val="4874CB"/>
            </a:solidFill>
            <a:ln w="0" cap="flat" cmpd="sng" algn="ctr">
              <a:solidFill>
                <a:sysClr val="window" lastClr="FFFFFF">
                  <a:lumMod val="50000"/>
                </a:sysClr>
              </a:solidFill>
              <a:prstDash val="solid"/>
              <a:round/>
              <a:headEnd type="none" w="med" len="med"/>
              <a:tailEnd type="none" w="med" len="med"/>
            </a:ln>
          </p:spPr>
        </p:cxnSp>
        <p:sp>
          <p:nvSpPr>
            <p:cNvPr id="36" name="文本框 39">
              <a:extLst>
                <a:ext uri="{FF2B5EF4-FFF2-40B4-BE49-F238E27FC236}">
                  <a16:creationId xmlns:a16="http://schemas.microsoft.com/office/drawing/2014/main" id="{D812511B-0F9B-2C78-7F2A-F27EA998711A}"/>
                </a:ext>
              </a:extLst>
            </p:cNvPr>
            <p:cNvSpPr txBox="1"/>
            <p:nvPr/>
          </p:nvSpPr>
          <p:spPr>
            <a:xfrm>
              <a:off x="2271721" y="1311522"/>
              <a:ext cx="1645920" cy="131319"/>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E54C5E"/>
                  </a:solidFill>
                  <a:effectLst/>
                  <a:uLnTx/>
                  <a:uFillTx/>
                  <a:latin typeface="Calibri"/>
                  <a:ea typeface="宋体"/>
                  <a:cs typeface="+mn-ea"/>
                  <a:sym typeface="+mn-lt"/>
                </a:rPr>
                <a:t>数据</a:t>
              </a:r>
            </a:p>
          </p:txBody>
        </p:sp>
      </p:grpSp>
      <p:grpSp>
        <p:nvGrpSpPr>
          <p:cNvPr id="37" name="Group 95">
            <a:extLst>
              <a:ext uri="{FF2B5EF4-FFF2-40B4-BE49-F238E27FC236}">
                <a16:creationId xmlns:a16="http://schemas.microsoft.com/office/drawing/2014/main" id="{EDC6181C-8AE0-2FBA-A7BE-FFC0BD2889CD}"/>
              </a:ext>
            </a:extLst>
          </p:cNvPr>
          <p:cNvGrpSpPr/>
          <p:nvPr/>
        </p:nvGrpSpPr>
        <p:grpSpPr>
          <a:xfrm>
            <a:off x="8306357" y="1613930"/>
            <a:ext cx="3312000" cy="246222"/>
            <a:chOff x="808681" y="1311522"/>
            <a:chExt cx="4572000" cy="131319"/>
          </a:xfrm>
        </p:grpSpPr>
        <p:cxnSp>
          <p:nvCxnSpPr>
            <p:cNvPr id="38" name="直接连接符 45">
              <a:extLst>
                <a:ext uri="{FF2B5EF4-FFF2-40B4-BE49-F238E27FC236}">
                  <a16:creationId xmlns:a16="http://schemas.microsoft.com/office/drawing/2014/main" id="{A2D1084E-06D9-AAB5-65AE-A5E72FCFB864}"/>
                </a:ext>
              </a:extLst>
            </p:cNvPr>
            <p:cNvCxnSpPr/>
            <p:nvPr/>
          </p:nvCxnSpPr>
          <p:spPr bwMode="auto">
            <a:xfrm>
              <a:off x="808681" y="1377182"/>
              <a:ext cx="4572000" cy="0"/>
            </a:xfrm>
            <a:prstGeom prst="line">
              <a:avLst/>
            </a:prstGeom>
            <a:solidFill>
              <a:srgbClr val="4874CB"/>
            </a:solidFill>
            <a:ln w="0" cap="flat" cmpd="sng" algn="ctr">
              <a:solidFill>
                <a:sysClr val="window" lastClr="FFFFFF">
                  <a:lumMod val="50000"/>
                </a:sysClr>
              </a:solidFill>
              <a:prstDash val="solid"/>
              <a:round/>
              <a:headEnd type="none" w="med" len="med"/>
              <a:tailEnd type="none" w="med" len="med"/>
            </a:ln>
          </p:spPr>
        </p:cxnSp>
        <p:sp>
          <p:nvSpPr>
            <p:cNvPr id="39" name="文本框 39">
              <a:extLst>
                <a:ext uri="{FF2B5EF4-FFF2-40B4-BE49-F238E27FC236}">
                  <a16:creationId xmlns:a16="http://schemas.microsoft.com/office/drawing/2014/main" id="{03F3B9E3-AB32-3D7D-283F-CABCFD03C00E}"/>
                </a:ext>
              </a:extLst>
            </p:cNvPr>
            <p:cNvSpPr txBox="1"/>
            <p:nvPr/>
          </p:nvSpPr>
          <p:spPr>
            <a:xfrm>
              <a:off x="2271721" y="1311522"/>
              <a:ext cx="1645920" cy="131319"/>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E54C5E"/>
                  </a:solidFill>
                  <a:effectLst/>
                  <a:uLnTx/>
                  <a:uFillTx/>
                  <a:latin typeface="Calibri"/>
                  <a:ea typeface="宋体"/>
                  <a:cs typeface="+mn-ea"/>
                  <a:sym typeface="+mn-lt"/>
                </a:rPr>
                <a:t>参数</a:t>
              </a:r>
            </a:p>
          </p:txBody>
        </p:sp>
      </p:grpSp>
      <p:grpSp>
        <p:nvGrpSpPr>
          <p:cNvPr id="40" name="Group 88">
            <a:extLst>
              <a:ext uri="{FF2B5EF4-FFF2-40B4-BE49-F238E27FC236}">
                <a16:creationId xmlns:a16="http://schemas.microsoft.com/office/drawing/2014/main" id="{0DF0A0FC-6C02-46F1-7B5F-953CFB528572}"/>
              </a:ext>
            </a:extLst>
          </p:cNvPr>
          <p:cNvGrpSpPr/>
          <p:nvPr/>
        </p:nvGrpSpPr>
        <p:grpSpPr>
          <a:xfrm>
            <a:off x="774440" y="1596857"/>
            <a:ext cx="3312000" cy="246222"/>
            <a:chOff x="808681" y="1311522"/>
            <a:chExt cx="4572000" cy="131319"/>
          </a:xfrm>
        </p:grpSpPr>
        <p:cxnSp>
          <p:nvCxnSpPr>
            <p:cNvPr id="41" name="直接连接符 45">
              <a:extLst>
                <a:ext uri="{FF2B5EF4-FFF2-40B4-BE49-F238E27FC236}">
                  <a16:creationId xmlns:a16="http://schemas.microsoft.com/office/drawing/2014/main" id="{A67EBCA1-CAB5-A5F5-AE30-6668FCDDE369}"/>
                </a:ext>
              </a:extLst>
            </p:cNvPr>
            <p:cNvCxnSpPr/>
            <p:nvPr/>
          </p:nvCxnSpPr>
          <p:spPr bwMode="auto">
            <a:xfrm>
              <a:off x="808681" y="1377182"/>
              <a:ext cx="4572000" cy="0"/>
            </a:xfrm>
            <a:prstGeom prst="line">
              <a:avLst/>
            </a:prstGeom>
            <a:solidFill>
              <a:srgbClr val="4874CB"/>
            </a:solidFill>
            <a:ln w="0" cap="flat" cmpd="sng" algn="ctr">
              <a:solidFill>
                <a:sysClr val="window" lastClr="FFFFFF">
                  <a:lumMod val="50000"/>
                </a:sysClr>
              </a:solidFill>
              <a:prstDash val="solid"/>
              <a:round/>
              <a:headEnd type="none" w="med" len="med"/>
              <a:tailEnd type="none" w="med" len="med"/>
            </a:ln>
          </p:spPr>
        </p:cxnSp>
        <p:sp>
          <p:nvSpPr>
            <p:cNvPr id="42" name="文本框 39">
              <a:extLst>
                <a:ext uri="{FF2B5EF4-FFF2-40B4-BE49-F238E27FC236}">
                  <a16:creationId xmlns:a16="http://schemas.microsoft.com/office/drawing/2014/main" id="{DF0AAE99-8E0A-8617-B0A3-8CC9BADA5C0E}"/>
                </a:ext>
              </a:extLst>
            </p:cNvPr>
            <p:cNvSpPr txBox="1"/>
            <p:nvPr/>
          </p:nvSpPr>
          <p:spPr>
            <a:xfrm>
              <a:off x="2271721" y="1311522"/>
              <a:ext cx="1645920" cy="131319"/>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E54C5E"/>
                  </a:solidFill>
                  <a:effectLst/>
                  <a:uLnTx/>
                  <a:uFillTx/>
                  <a:latin typeface="Calibri"/>
                  <a:ea typeface="宋体"/>
                  <a:cs typeface="+mn-ea"/>
                  <a:sym typeface="+mn-lt"/>
                </a:rPr>
                <a:t>算力</a:t>
              </a:r>
            </a:p>
          </p:txBody>
        </p:sp>
      </p:grpSp>
      <p:sp>
        <p:nvSpPr>
          <p:cNvPr id="43" name="Manual Input 31">
            <a:extLst>
              <a:ext uri="{FF2B5EF4-FFF2-40B4-BE49-F238E27FC236}">
                <a16:creationId xmlns:a16="http://schemas.microsoft.com/office/drawing/2014/main" id="{0E0A6B11-0DB8-8EB0-5568-ECBB4F6AA2CF}"/>
              </a:ext>
            </a:extLst>
          </p:cNvPr>
          <p:cNvSpPr/>
          <p:nvPr/>
        </p:nvSpPr>
        <p:spPr>
          <a:xfrm>
            <a:off x="799777" y="2828768"/>
            <a:ext cx="10592445" cy="15509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4674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4674 h 10000"/>
              <a:gd name="connsiteX0-11" fmla="*/ 0 w 10000"/>
              <a:gd name="connsiteY0-12" fmla="*/ 66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67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6675"/>
                </a:moveTo>
                <a:lnTo>
                  <a:pt x="10000" y="0"/>
                </a:lnTo>
                <a:lnTo>
                  <a:pt x="10000" y="10000"/>
                </a:lnTo>
                <a:lnTo>
                  <a:pt x="0" y="10000"/>
                </a:lnTo>
                <a:lnTo>
                  <a:pt x="0" y="6675"/>
                </a:lnTo>
                <a:close/>
              </a:path>
            </a:pathLst>
          </a:custGeom>
          <a:solidFill>
            <a:srgbClr val="E54C5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Calibri"/>
              <a:ea typeface="宋体"/>
              <a:cs typeface="+mn-ea"/>
              <a:sym typeface="+mn-lt"/>
            </a:endParaRPr>
          </a:p>
        </p:txBody>
      </p:sp>
      <p:sp>
        <p:nvSpPr>
          <p:cNvPr id="44" name="Rounded Rectangle">
            <a:extLst>
              <a:ext uri="{FF2B5EF4-FFF2-40B4-BE49-F238E27FC236}">
                <a16:creationId xmlns:a16="http://schemas.microsoft.com/office/drawing/2014/main" id="{A5416917-E843-C916-8D0A-9336198FEB56}"/>
              </a:ext>
            </a:extLst>
          </p:cNvPr>
          <p:cNvSpPr/>
          <p:nvPr/>
        </p:nvSpPr>
        <p:spPr>
          <a:xfrm>
            <a:off x="4420128" y="4314872"/>
            <a:ext cx="3346718" cy="136800"/>
          </a:xfrm>
          <a:prstGeom prst="roundRect">
            <a:avLst>
              <a:gd name="adj" fmla="val 50000"/>
            </a:avLst>
          </a:prstGeom>
          <a:solidFill>
            <a:srgbClr val="F7F5F6"/>
          </a:solidFill>
          <a:ln w="12700" cap="flat">
            <a:noFill/>
            <a:miter lim="400000"/>
          </a:ln>
          <a:effectLst/>
        </p:spPr>
        <p:txBody>
          <a:bodyPr wrap="square" lIns="0" tIns="0" rIns="0" bIns="0" numCol="1" anchor="ctr">
            <a:noAutofit/>
          </a:bodyPr>
          <a:lstStyle/>
          <a:p>
            <a:pPr>
              <a:defRPr/>
            </a:pPr>
            <a:endParaRPr sz="1200">
              <a:solidFill>
                <a:prstClr val="black"/>
              </a:solidFill>
              <a:latin typeface="Calibri"/>
              <a:ea typeface="宋体"/>
              <a:cs typeface="+mn-ea"/>
              <a:sym typeface="+mn-lt"/>
            </a:endParaRPr>
          </a:p>
        </p:txBody>
      </p:sp>
      <p:sp>
        <p:nvSpPr>
          <p:cNvPr id="45" name="Rounded Rectangle">
            <a:extLst>
              <a:ext uri="{FF2B5EF4-FFF2-40B4-BE49-F238E27FC236}">
                <a16:creationId xmlns:a16="http://schemas.microsoft.com/office/drawing/2014/main" id="{4D924E3F-5EB9-F521-B5C2-59D4DF355324}"/>
              </a:ext>
            </a:extLst>
          </p:cNvPr>
          <p:cNvSpPr/>
          <p:nvPr/>
        </p:nvSpPr>
        <p:spPr>
          <a:xfrm>
            <a:off x="8047749" y="4314872"/>
            <a:ext cx="3346719" cy="136800"/>
          </a:xfrm>
          <a:prstGeom prst="roundRect">
            <a:avLst>
              <a:gd name="adj" fmla="val 50000"/>
            </a:avLst>
          </a:prstGeom>
          <a:solidFill>
            <a:srgbClr val="F7F5F6"/>
          </a:solidFill>
          <a:ln w="12700" cap="flat">
            <a:noFill/>
            <a:miter lim="400000"/>
          </a:ln>
          <a:effectLst/>
        </p:spPr>
        <p:txBody>
          <a:bodyPr wrap="square" lIns="0" tIns="0" rIns="0" bIns="0" numCol="1" anchor="ctr">
            <a:noAutofit/>
          </a:bodyPr>
          <a:lstStyle/>
          <a:p>
            <a:pPr>
              <a:defRPr/>
            </a:pPr>
            <a:endParaRPr sz="1200">
              <a:solidFill>
                <a:prstClr val="black"/>
              </a:solidFill>
              <a:latin typeface="Calibri"/>
              <a:ea typeface="宋体"/>
              <a:cs typeface="+mn-ea"/>
              <a:sym typeface="+mn-lt"/>
            </a:endParaRPr>
          </a:p>
        </p:txBody>
      </p:sp>
      <p:sp>
        <p:nvSpPr>
          <p:cNvPr id="46" name="Rounded Rectangle">
            <a:extLst>
              <a:ext uri="{FF2B5EF4-FFF2-40B4-BE49-F238E27FC236}">
                <a16:creationId xmlns:a16="http://schemas.microsoft.com/office/drawing/2014/main" id="{D4E83005-B390-7723-E024-E5CD3180EB93}"/>
              </a:ext>
            </a:extLst>
          </p:cNvPr>
          <p:cNvSpPr/>
          <p:nvPr/>
        </p:nvSpPr>
        <p:spPr>
          <a:xfrm>
            <a:off x="792507" y="4314872"/>
            <a:ext cx="3346718" cy="136800"/>
          </a:xfrm>
          <a:prstGeom prst="roundRect">
            <a:avLst>
              <a:gd name="adj" fmla="val 50000"/>
            </a:avLst>
          </a:prstGeom>
          <a:solidFill>
            <a:srgbClr val="F7F5F6"/>
          </a:solidFill>
          <a:ln w="12700" cap="flat">
            <a:noFill/>
            <a:miter lim="400000"/>
          </a:ln>
          <a:effectLst/>
        </p:spPr>
        <p:txBody>
          <a:bodyPr wrap="square" lIns="0" tIns="0" rIns="0" bIns="0" numCol="1" anchor="ctr">
            <a:noAutofit/>
          </a:bodyPr>
          <a:lstStyle/>
          <a:p>
            <a:pPr>
              <a:defRPr/>
            </a:pPr>
            <a:endParaRPr sz="1200">
              <a:solidFill>
                <a:prstClr val="black"/>
              </a:solidFill>
              <a:latin typeface="Calibri"/>
              <a:ea typeface="宋体"/>
              <a:cs typeface="+mn-ea"/>
              <a:sym typeface="+mn-lt"/>
            </a:endParaRPr>
          </a:p>
        </p:txBody>
      </p:sp>
      <p:cxnSp>
        <p:nvCxnSpPr>
          <p:cNvPr id="47" name="直接连接符 374">
            <a:extLst>
              <a:ext uri="{FF2B5EF4-FFF2-40B4-BE49-F238E27FC236}">
                <a16:creationId xmlns:a16="http://schemas.microsoft.com/office/drawing/2014/main" id="{74B60735-361D-A30C-498D-0378B38037D8}"/>
              </a:ext>
            </a:extLst>
          </p:cNvPr>
          <p:cNvCxnSpPr/>
          <p:nvPr/>
        </p:nvCxnSpPr>
        <p:spPr>
          <a:xfrm flipH="1">
            <a:off x="2381175" y="3814236"/>
            <a:ext cx="1" cy="484303"/>
          </a:xfrm>
          <a:prstGeom prst="line">
            <a:avLst/>
          </a:prstGeom>
          <a:solidFill>
            <a:sysClr val="window" lastClr="FFFFFF"/>
          </a:solidFill>
          <a:ln w="12700" cap="flat" cmpd="sng" algn="ctr">
            <a:solidFill>
              <a:sysClr val="windowText" lastClr="000000">
                <a:lumMod val="75000"/>
                <a:lumOff val="25000"/>
              </a:sysClr>
            </a:solidFill>
            <a:prstDash val="solid"/>
            <a:miter lim="800000"/>
          </a:ln>
          <a:effectLst/>
        </p:spPr>
      </p:cxnSp>
      <p:sp>
        <p:nvSpPr>
          <p:cNvPr id="48" name="椭圆 356">
            <a:extLst>
              <a:ext uri="{FF2B5EF4-FFF2-40B4-BE49-F238E27FC236}">
                <a16:creationId xmlns:a16="http://schemas.microsoft.com/office/drawing/2014/main" id="{AC71383D-624E-46F6-6991-C72EFD0A6B1B}"/>
              </a:ext>
            </a:extLst>
          </p:cNvPr>
          <p:cNvSpPr/>
          <p:nvPr/>
        </p:nvSpPr>
        <p:spPr>
          <a:xfrm>
            <a:off x="2309175" y="4298539"/>
            <a:ext cx="144000" cy="144000"/>
          </a:xfrm>
          <a:prstGeom prst="ellipse">
            <a:avLst/>
          </a:prstGeom>
          <a:solidFill>
            <a:srgbClr val="E54C5E"/>
          </a:solidFill>
          <a:ln w="57150" cap="flat" cmpd="sng" algn="ctr">
            <a:solidFill>
              <a:srgbClr val="E54C5E">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lumMod val="75000"/>
                  <a:lumOff val="25000"/>
                </a:prstClr>
              </a:solidFill>
              <a:effectLst/>
              <a:uLnTx/>
              <a:uFillTx/>
              <a:latin typeface="Calibri"/>
              <a:ea typeface="宋体"/>
              <a:cs typeface="+mn-ea"/>
              <a:sym typeface="+mn-lt"/>
            </a:endParaRPr>
          </a:p>
        </p:txBody>
      </p:sp>
      <p:sp>
        <p:nvSpPr>
          <p:cNvPr id="49" name="矩形 308">
            <a:extLst>
              <a:ext uri="{FF2B5EF4-FFF2-40B4-BE49-F238E27FC236}">
                <a16:creationId xmlns:a16="http://schemas.microsoft.com/office/drawing/2014/main" id="{E44F88F8-0B5F-E4A8-09F7-446A58DD4854}"/>
              </a:ext>
            </a:extLst>
          </p:cNvPr>
          <p:cNvSpPr/>
          <p:nvPr/>
        </p:nvSpPr>
        <p:spPr>
          <a:xfrm>
            <a:off x="910184" y="2042043"/>
            <a:ext cx="3097196" cy="1974394"/>
          </a:xfrm>
          <a:prstGeom prst="rect">
            <a:avLst/>
          </a:prstGeom>
          <a:solidFill>
            <a:srgbClr val="DEF4FF"/>
          </a:solidFill>
          <a:ln w="12700" cap="flat" cmpd="sng" algn="ctr">
            <a:solidFill>
              <a:srgbClr val="E54C5E"/>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219393"/>
              </a:buClr>
              <a:buSzPct val="100000"/>
              <a:buFontTx/>
              <a:buNone/>
              <a:tabLst/>
              <a:defRPr/>
            </a:pPr>
            <a:endParaRPr kumimoji="0" lang="zh-CN" altLang="en-US" sz="1400" b="0" i="0" u="none" strike="noStrike" kern="0" cap="none" spc="0" normalizeH="0" baseline="0" noProof="0" dirty="0">
              <a:ln>
                <a:noFill/>
              </a:ln>
              <a:solidFill>
                <a:srgbClr val="000000"/>
              </a:solidFill>
              <a:effectLst/>
              <a:uLnTx/>
              <a:uFillTx/>
              <a:latin typeface="Calibri"/>
              <a:ea typeface="宋体"/>
              <a:cs typeface="+mn-ea"/>
              <a:sym typeface="+mn-lt"/>
            </a:endParaRPr>
          </a:p>
        </p:txBody>
      </p:sp>
      <p:sp>
        <p:nvSpPr>
          <p:cNvPr id="50" name="文本框 49">
            <a:extLst>
              <a:ext uri="{FF2B5EF4-FFF2-40B4-BE49-F238E27FC236}">
                <a16:creationId xmlns:a16="http://schemas.microsoft.com/office/drawing/2014/main" id="{479F159F-DD66-08AF-829D-33387114D9C8}"/>
              </a:ext>
            </a:extLst>
          </p:cNvPr>
          <p:cNvSpPr txBox="1"/>
          <p:nvPr/>
        </p:nvSpPr>
        <p:spPr>
          <a:xfrm>
            <a:off x="3551369" y="2604869"/>
            <a:ext cx="502060" cy="921967"/>
          </a:xfrm>
          <a:prstGeom prst="rect">
            <a:avLst/>
          </a:prstGeom>
          <a:noFill/>
        </p:spPr>
        <p:txBody>
          <a:bodyPr wrap="square" rtlCol="0">
            <a:noAutofit/>
          </a:bodyPr>
          <a:lstStyle/>
          <a:p>
            <a:pPr algn="ctr"/>
            <a:r>
              <a:rPr lang="zh-CN" altLang="en-US" sz="1400" b="1" dirty="0">
                <a:solidFill>
                  <a:prstClr val="black"/>
                </a:solidFill>
                <a:latin typeface="华文楷体" panose="02010600040101010101" pitchFamily="2" charset="-122"/>
                <a:ea typeface="华文楷体" panose="02010600040101010101" pitchFamily="2" charset="-122"/>
                <a:cs typeface="微软雅黑" panose="020B0503020204020204" charset="-122"/>
              </a:rPr>
              <a:t>计算量</a:t>
            </a:r>
          </a:p>
        </p:txBody>
      </p:sp>
      <p:sp>
        <p:nvSpPr>
          <p:cNvPr id="51" name="文本框 50">
            <a:extLst>
              <a:ext uri="{FF2B5EF4-FFF2-40B4-BE49-F238E27FC236}">
                <a16:creationId xmlns:a16="http://schemas.microsoft.com/office/drawing/2014/main" id="{1E68A2CE-B7D1-40F8-AAA1-6054A56C8611}"/>
              </a:ext>
            </a:extLst>
          </p:cNvPr>
          <p:cNvSpPr txBox="1"/>
          <p:nvPr>
            <p:custDataLst>
              <p:tags r:id="rId2"/>
            </p:custDataLst>
          </p:nvPr>
        </p:nvSpPr>
        <p:spPr>
          <a:xfrm>
            <a:off x="960676" y="2508386"/>
            <a:ext cx="275590" cy="1198880"/>
          </a:xfrm>
          <a:prstGeom prst="rect">
            <a:avLst/>
          </a:prstGeom>
          <a:noFill/>
        </p:spPr>
        <p:txBody>
          <a:bodyPr wrap="square" rtlCol="0">
            <a:noAutofit/>
          </a:bodyPr>
          <a:lstStyle/>
          <a:p>
            <a:pPr algn="ctr"/>
            <a:r>
              <a:rPr lang="zh-CN" altLang="en-US" sz="1400" b="1" dirty="0">
                <a:solidFill>
                  <a:prstClr val="black"/>
                </a:solidFill>
                <a:latin typeface="华文楷体" panose="02010600040101010101" pitchFamily="2" charset="-122"/>
                <a:ea typeface="华文楷体" panose="02010600040101010101" pitchFamily="2" charset="-122"/>
                <a:cs typeface="微软雅黑" panose="020B0503020204020204" charset="-122"/>
              </a:rPr>
              <a:t>模型误差</a:t>
            </a:r>
          </a:p>
        </p:txBody>
      </p:sp>
      <p:pic>
        <p:nvPicPr>
          <p:cNvPr id="52" name="图片 51" descr="upload_post_object_v2_1521047222">
            <a:extLst>
              <a:ext uri="{FF2B5EF4-FFF2-40B4-BE49-F238E27FC236}">
                <a16:creationId xmlns:a16="http://schemas.microsoft.com/office/drawing/2014/main" id="{559DFB4C-B72C-8FDF-6668-78EA1714F661}"/>
              </a:ext>
            </a:extLst>
          </p:cNvPr>
          <p:cNvPicPr>
            <a:picLocks noChangeAspect="1"/>
          </p:cNvPicPr>
          <p:nvPr/>
        </p:nvPicPr>
        <p:blipFill>
          <a:blip r:embed="rId6"/>
          <a:stretch>
            <a:fillRect/>
          </a:stretch>
        </p:blipFill>
        <p:spPr>
          <a:xfrm>
            <a:off x="1300201" y="2121445"/>
            <a:ext cx="2305948" cy="1798790"/>
          </a:xfrm>
          <a:prstGeom prst="rect">
            <a:avLst/>
          </a:prstGeom>
        </p:spPr>
      </p:pic>
      <p:cxnSp>
        <p:nvCxnSpPr>
          <p:cNvPr id="53" name="直接连接符 374">
            <a:extLst>
              <a:ext uri="{FF2B5EF4-FFF2-40B4-BE49-F238E27FC236}">
                <a16:creationId xmlns:a16="http://schemas.microsoft.com/office/drawing/2014/main" id="{649F1BDF-9DB1-9FFC-F9C5-2C801A0BCA35}"/>
              </a:ext>
            </a:extLst>
          </p:cNvPr>
          <p:cNvCxnSpPr/>
          <p:nvPr/>
        </p:nvCxnSpPr>
        <p:spPr>
          <a:xfrm flipH="1">
            <a:off x="5982471" y="3823213"/>
            <a:ext cx="1" cy="484303"/>
          </a:xfrm>
          <a:prstGeom prst="line">
            <a:avLst/>
          </a:prstGeom>
          <a:solidFill>
            <a:sysClr val="window" lastClr="FFFFFF"/>
          </a:solidFill>
          <a:ln w="12700" cap="flat" cmpd="sng" algn="ctr">
            <a:solidFill>
              <a:sysClr val="windowText" lastClr="000000">
                <a:lumMod val="75000"/>
                <a:lumOff val="25000"/>
              </a:sysClr>
            </a:solidFill>
            <a:prstDash val="solid"/>
            <a:miter lim="800000"/>
          </a:ln>
          <a:effectLst/>
        </p:spPr>
      </p:cxnSp>
      <p:sp>
        <p:nvSpPr>
          <p:cNvPr id="54" name="椭圆 356">
            <a:extLst>
              <a:ext uri="{FF2B5EF4-FFF2-40B4-BE49-F238E27FC236}">
                <a16:creationId xmlns:a16="http://schemas.microsoft.com/office/drawing/2014/main" id="{53295308-BA1C-EC9A-414F-B3242CEEC334}"/>
              </a:ext>
            </a:extLst>
          </p:cNvPr>
          <p:cNvSpPr/>
          <p:nvPr/>
        </p:nvSpPr>
        <p:spPr>
          <a:xfrm>
            <a:off x="5910471" y="4307516"/>
            <a:ext cx="144000" cy="144000"/>
          </a:xfrm>
          <a:prstGeom prst="ellipse">
            <a:avLst/>
          </a:prstGeom>
          <a:solidFill>
            <a:srgbClr val="E54C5E"/>
          </a:solidFill>
          <a:ln w="57150" cap="flat" cmpd="sng" algn="ctr">
            <a:solidFill>
              <a:srgbClr val="E54C5E">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lumMod val="75000"/>
                  <a:lumOff val="25000"/>
                </a:prstClr>
              </a:solidFill>
              <a:effectLst/>
              <a:uLnTx/>
              <a:uFillTx/>
              <a:latin typeface="Calibri"/>
              <a:ea typeface="宋体"/>
              <a:cs typeface="+mn-ea"/>
              <a:sym typeface="+mn-lt"/>
            </a:endParaRPr>
          </a:p>
        </p:txBody>
      </p:sp>
      <p:sp>
        <p:nvSpPr>
          <p:cNvPr id="55" name="矩形 308">
            <a:extLst>
              <a:ext uri="{FF2B5EF4-FFF2-40B4-BE49-F238E27FC236}">
                <a16:creationId xmlns:a16="http://schemas.microsoft.com/office/drawing/2014/main" id="{72B789F8-423C-2CCC-9110-9354E22D61CF}"/>
              </a:ext>
            </a:extLst>
          </p:cNvPr>
          <p:cNvSpPr/>
          <p:nvPr/>
        </p:nvSpPr>
        <p:spPr>
          <a:xfrm>
            <a:off x="4511480" y="2051020"/>
            <a:ext cx="3097196" cy="1974394"/>
          </a:xfrm>
          <a:prstGeom prst="rect">
            <a:avLst/>
          </a:prstGeom>
          <a:solidFill>
            <a:srgbClr val="DEF4FF"/>
          </a:solidFill>
          <a:ln w="12700" cap="flat" cmpd="sng" algn="ctr">
            <a:solidFill>
              <a:srgbClr val="E54C5E"/>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219393"/>
              </a:buClr>
              <a:buSzPct val="100000"/>
              <a:buFontTx/>
              <a:buNone/>
              <a:tabLst/>
              <a:defRPr/>
            </a:pPr>
            <a:endParaRPr kumimoji="0" lang="zh-CN" altLang="en-US" sz="1400" b="0" i="0" u="none" strike="noStrike" kern="0" cap="none" spc="0" normalizeH="0" baseline="0" noProof="0" dirty="0">
              <a:ln>
                <a:noFill/>
              </a:ln>
              <a:solidFill>
                <a:srgbClr val="000000"/>
              </a:solidFill>
              <a:effectLst/>
              <a:uLnTx/>
              <a:uFillTx/>
              <a:latin typeface="Calibri"/>
              <a:ea typeface="宋体"/>
              <a:cs typeface="+mn-ea"/>
              <a:sym typeface="+mn-lt"/>
            </a:endParaRPr>
          </a:p>
        </p:txBody>
      </p:sp>
      <p:sp>
        <p:nvSpPr>
          <p:cNvPr id="56" name="文本框 55">
            <a:extLst>
              <a:ext uri="{FF2B5EF4-FFF2-40B4-BE49-F238E27FC236}">
                <a16:creationId xmlns:a16="http://schemas.microsoft.com/office/drawing/2014/main" id="{199E185D-4D49-7298-457F-5DFC5F747ECA}"/>
              </a:ext>
            </a:extLst>
          </p:cNvPr>
          <p:cNvSpPr txBox="1"/>
          <p:nvPr/>
        </p:nvSpPr>
        <p:spPr>
          <a:xfrm>
            <a:off x="7152665" y="2613846"/>
            <a:ext cx="502060" cy="921967"/>
          </a:xfrm>
          <a:prstGeom prst="rect">
            <a:avLst/>
          </a:prstGeom>
          <a:noFill/>
        </p:spPr>
        <p:txBody>
          <a:bodyPr wrap="square" rtlCol="0">
            <a:noAutofit/>
          </a:bodyPr>
          <a:lstStyle/>
          <a:p>
            <a:pPr algn="ctr"/>
            <a:r>
              <a:rPr lang="zh-CN" altLang="en-US" sz="1400" b="1" dirty="0">
                <a:solidFill>
                  <a:prstClr val="black"/>
                </a:solidFill>
                <a:latin typeface="华文楷体" panose="02010600040101010101" pitchFamily="2" charset="-122"/>
                <a:ea typeface="华文楷体" panose="02010600040101010101" pitchFamily="2" charset="-122"/>
                <a:cs typeface="微软雅黑" panose="020B0503020204020204" charset="-122"/>
              </a:rPr>
              <a:t>数据量</a:t>
            </a:r>
          </a:p>
        </p:txBody>
      </p:sp>
      <p:sp>
        <p:nvSpPr>
          <p:cNvPr id="57" name="文本框 56">
            <a:extLst>
              <a:ext uri="{FF2B5EF4-FFF2-40B4-BE49-F238E27FC236}">
                <a16:creationId xmlns:a16="http://schemas.microsoft.com/office/drawing/2014/main" id="{BADDD40A-33CE-0813-A30A-DF91171172C7}"/>
              </a:ext>
            </a:extLst>
          </p:cNvPr>
          <p:cNvSpPr txBox="1"/>
          <p:nvPr>
            <p:custDataLst>
              <p:tags r:id="rId3"/>
            </p:custDataLst>
          </p:nvPr>
        </p:nvSpPr>
        <p:spPr>
          <a:xfrm>
            <a:off x="4561972" y="2517363"/>
            <a:ext cx="275590" cy="1198880"/>
          </a:xfrm>
          <a:prstGeom prst="rect">
            <a:avLst/>
          </a:prstGeom>
          <a:noFill/>
        </p:spPr>
        <p:txBody>
          <a:bodyPr wrap="square" rtlCol="0">
            <a:noAutofit/>
          </a:bodyPr>
          <a:lstStyle/>
          <a:p>
            <a:pPr algn="ctr"/>
            <a:r>
              <a:rPr lang="zh-CN" altLang="en-US" sz="1400" b="1" dirty="0">
                <a:solidFill>
                  <a:prstClr val="black"/>
                </a:solidFill>
                <a:latin typeface="华文楷体" panose="02010600040101010101" pitchFamily="2" charset="-122"/>
                <a:ea typeface="华文楷体" panose="02010600040101010101" pitchFamily="2" charset="-122"/>
                <a:cs typeface="微软雅黑" panose="020B0503020204020204" charset="-122"/>
              </a:rPr>
              <a:t>模型误差</a:t>
            </a:r>
          </a:p>
        </p:txBody>
      </p:sp>
      <p:pic>
        <p:nvPicPr>
          <p:cNvPr id="58" name="图片 57" descr="upload_post_object_v2_1091796486">
            <a:extLst>
              <a:ext uri="{FF2B5EF4-FFF2-40B4-BE49-F238E27FC236}">
                <a16:creationId xmlns:a16="http://schemas.microsoft.com/office/drawing/2014/main" id="{36A0E91B-5805-B6C5-0BD7-CBDDB96E534C}"/>
              </a:ext>
            </a:extLst>
          </p:cNvPr>
          <p:cNvPicPr>
            <a:picLocks noChangeAspect="1"/>
          </p:cNvPicPr>
          <p:nvPr/>
        </p:nvPicPr>
        <p:blipFill>
          <a:blip r:embed="rId7"/>
          <a:stretch>
            <a:fillRect/>
          </a:stretch>
        </p:blipFill>
        <p:spPr>
          <a:xfrm>
            <a:off x="4855591" y="2148911"/>
            <a:ext cx="2397759" cy="1768839"/>
          </a:xfrm>
          <a:prstGeom prst="rect">
            <a:avLst/>
          </a:prstGeom>
        </p:spPr>
      </p:pic>
      <p:cxnSp>
        <p:nvCxnSpPr>
          <p:cNvPr id="59" name="直接连接符 374">
            <a:extLst>
              <a:ext uri="{FF2B5EF4-FFF2-40B4-BE49-F238E27FC236}">
                <a16:creationId xmlns:a16="http://schemas.microsoft.com/office/drawing/2014/main" id="{82AD2C8D-C6EB-51F7-792C-905E595D5DCC}"/>
              </a:ext>
            </a:extLst>
          </p:cNvPr>
          <p:cNvCxnSpPr/>
          <p:nvPr/>
        </p:nvCxnSpPr>
        <p:spPr>
          <a:xfrm flipH="1">
            <a:off x="9631874" y="3810388"/>
            <a:ext cx="1" cy="484303"/>
          </a:xfrm>
          <a:prstGeom prst="line">
            <a:avLst/>
          </a:prstGeom>
          <a:solidFill>
            <a:sysClr val="window" lastClr="FFFFFF"/>
          </a:solidFill>
          <a:ln w="12700" cap="flat" cmpd="sng" algn="ctr">
            <a:solidFill>
              <a:sysClr val="windowText" lastClr="000000">
                <a:lumMod val="75000"/>
                <a:lumOff val="25000"/>
              </a:sysClr>
            </a:solidFill>
            <a:prstDash val="solid"/>
            <a:miter lim="800000"/>
          </a:ln>
          <a:effectLst/>
        </p:spPr>
      </p:cxnSp>
      <p:sp>
        <p:nvSpPr>
          <p:cNvPr id="60" name="椭圆 356">
            <a:extLst>
              <a:ext uri="{FF2B5EF4-FFF2-40B4-BE49-F238E27FC236}">
                <a16:creationId xmlns:a16="http://schemas.microsoft.com/office/drawing/2014/main" id="{00F093F9-042B-EED1-88D0-AF1EFEE21284}"/>
              </a:ext>
            </a:extLst>
          </p:cNvPr>
          <p:cNvSpPr/>
          <p:nvPr/>
        </p:nvSpPr>
        <p:spPr>
          <a:xfrm>
            <a:off x="9559874" y="4294691"/>
            <a:ext cx="144000" cy="144000"/>
          </a:xfrm>
          <a:prstGeom prst="ellipse">
            <a:avLst/>
          </a:prstGeom>
          <a:solidFill>
            <a:srgbClr val="E54C5E"/>
          </a:solidFill>
          <a:ln w="57150" cap="flat" cmpd="sng" algn="ctr">
            <a:solidFill>
              <a:srgbClr val="E54C5E">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lumMod val="75000"/>
                  <a:lumOff val="25000"/>
                </a:prstClr>
              </a:solidFill>
              <a:effectLst/>
              <a:uLnTx/>
              <a:uFillTx/>
              <a:latin typeface="Calibri"/>
              <a:ea typeface="宋体"/>
              <a:cs typeface="+mn-ea"/>
              <a:sym typeface="+mn-lt"/>
            </a:endParaRPr>
          </a:p>
        </p:txBody>
      </p:sp>
      <p:sp>
        <p:nvSpPr>
          <p:cNvPr id="61" name="矩形 308">
            <a:extLst>
              <a:ext uri="{FF2B5EF4-FFF2-40B4-BE49-F238E27FC236}">
                <a16:creationId xmlns:a16="http://schemas.microsoft.com/office/drawing/2014/main" id="{C06D59BD-2908-DC7F-01FE-CD0970320AC7}"/>
              </a:ext>
            </a:extLst>
          </p:cNvPr>
          <p:cNvSpPr/>
          <p:nvPr/>
        </p:nvSpPr>
        <p:spPr>
          <a:xfrm>
            <a:off x="8160883" y="2038195"/>
            <a:ext cx="3097196" cy="1974394"/>
          </a:xfrm>
          <a:prstGeom prst="rect">
            <a:avLst/>
          </a:prstGeom>
          <a:solidFill>
            <a:srgbClr val="DEF4FF"/>
          </a:solidFill>
          <a:ln w="12700" cap="flat" cmpd="sng" algn="ctr">
            <a:solidFill>
              <a:srgbClr val="E54C5E"/>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219393"/>
              </a:buClr>
              <a:buSzPct val="100000"/>
              <a:buFontTx/>
              <a:buNone/>
              <a:tabLst/>
              <a:defRPr/>
            </a:pPr>
            <a:endParaRPr kumimoji="0" lang="zh-CN" altLang="en-US" sz="1400" b="0" i="0" u="none" strike="noStrike" kern="0" cap="none" spc="0" normalizeH="0" baseline="0" noProof="0" dirty="0">
              <a:ln>
                <a:noFill/>
              </a:ln>
              <a:solidFill>
                <a:srgbClr val="000000"/>
              </a:solidFill>
              <a:effectLst/>
              <a:uLnTx/>
              <a:uFillTx/>
              <a:latin typeface="Calibri"/>
              <a:ea typeface="宋体"/>
              <a:cs typeface="+mn-ea"/>
              <a:sym typeface="+mn-lt"/>
            </a:endParaRPr>
          </a:p>
        </p:txBody>
      </p:sp>
      <p:sp>
        <p:nvSpPr>
          <p:cNvPr id="62" name="文本框 61">
            <a:extLst>
              <a:ext uri="{FF2B5EF4-FFF2-40B4-BE49-F238E27FC236}">
                <a16:creationId xmlns:a16="http://schemas.microsoft.com/office/drawing/2014/main" id="{359A080F-51C3-73FC-B57F-27E552A9196F}"/>
              </a:ext>
            </a:extLst>
          </p:cNvPr>
          <p:cNvSpPr txBox="1"/>
          <p:nvPr/>
        </p:nvSpPr>
        <p:spPr>
          <a:xfrm>
            <a:off x="10802068" y="2601021"/>
            <a:ext cx="502060" cy="921967"/>
          </a:xfrm>
          <a:prstGeom prst="rect">
            <a:avLst/>
          </a:prstGeom>
          <a:noFill/>
        </p:spPr>
        <p:txBody>
          <a:bodyPr wrap="square" rtlCol="0">
            <a:noAutofit/>
          </a:bodyPr>
          <a:lstStyle/>
          <a:p>
            <a:pPr algn="ctr"/>
            <a:r>
              <a:rPr lang="zh-CN" altLang="en-US" sz="1400" b="1" dirty="0">
                <a:solidFill>
                  <a:prstClr val="black"/>
                </a:solidFill>
                <a:latin typeface="华文楷体" panose="02010600040101010101" pitchFamily="2" charset="-122"/>
                <a:ea typeface="华文楷体" panose="02010600040101010101" pitchFamily="2" charset="-122"/>
                <a:cs typeface="微软雅黑" panose="020B0503020204020204" charset="-122"/>
              </a:rPr>
              <a:t>参数量</a:t>
            </a:r>
          </a:p>
        </p:txBody>
      </p:sp>
      <p:sp>
        <p:nvSpPr>
          <p:cNvPr id="63" name="文本框 62">
            <a:extLst>
              <a:ext uri="{FF2B5EF4-FFF2-40B4-BE49-F238E27FC236}">
                <a16:creationId xmlns:a16="http://schemas.microsoft.com/office/drawing/2014/main" id="{29BCCBCF-1B8B-EE80-BD09-736672486A37}"/>
              </a:ext>
            </a:extLst>
          </p:cNvPr>
          <p:cNvSpPr txBox="1"/>
          <p:nvPr>
            <p:custDataLst>
              <p:tags r:id="rId4"/>
            </p:custDataLst>
          </p:nvPr>
        </p:nvSpPr>
        <p:spPr>
          <a:xfrm>
            <a:off x="8211375" y="2504538"/>
            <a:ext cx="275590" cy="1198880"/>
          </a:xfrm>
          <a:prstGeom prst="rect">
            <a:avLst/>
          </a:prstGeom>
          <a:noFill/>
        </p:spPr>
        <p:txBody>
          <a:bodyPr wrap="square" rtlCol="0">
            <a:noAutofit/>
          </a:bodyPr>
          <a:lstStyle/>
          <a:p>
            <a:pPr algn="ctr"/>
            <a:r>
              <a:rPr lang="zh-CN" altLang="en-US" sz="1400" b="1" dirty="0">
                <a:solidFill>
                  <a:prstClr val="black"/>
                </a:solidFill>
                <a:latin typeface="华文楷体" panose="02010600040101010101" pitchFamily="2" charset="-122"/>
                <a:ea typeface="华文楷体" panose="02010600040101010101" pitchFamily="2" charset="-122"/>
                <a:cs typeface="微软雅黑" panose="020B0503020204020204" charset="-122"/>
              </a:rPr>
              <a:t>模型误差</a:t>
            </a:r>
          </a:p>
        </p:txBody>
      </p:sp>
      <p:pic>
        <p:nvPicPr>
          <p:cNvPr id="64" name="图片 63" descr="upload_post_object_v2_3637475459">
            <a:extLst>
              <a:ext uri="{FF2B5EF4-FFF2-40B4-BE49-F238E27FC236}">
                <a16:creationId xmlns:a16="http://schemas.microsoft.com/office/drawing/2014/main" id="{79EEC8DB-2CD9-A536-0D38-4EC3E9227434}"/>
              </a:ext>
            </a:extLst>
          </p:cNvPr>
          <p:cNvPicPr>
            <a:picLocks noChangeAspect="1"/>
          </p:cNvPicPr>
          <p:nvPr/>
        </p:nvPicPr>
        <p:blipFill>
          <a:blip r:embed="rId8"/>
          <a:stretch>
            <a:fillRect/>
          </a:stretch>
        </p:blipFill>
        <p:spPr>
          <a:xfrm>
            <a:off x="8563865" y="2103598"/>
            <a:ext cx="2395449" cy="1802219"/>
          </a:xfrm>
          <a:prstGeom prst="rect">
            <a:avLst/>
          </a:prstGeom>
        </p:spPr>
      </p:pic>
      <p:sp>
        <p:nvSpPr>
          <p:cNvPr id="65" name="文本框 64">
            <a:extLst>
              <a:ext uri="{FF2B5EF4-FFF2-40B4-BE49-F238E27FC236}">
                <a16:creationId xmlns:a16="http://schemas.microsoft.com/office/drawing/2014/main" id="{6CA0B9B2-1EE2-9F81-2824-F45C264A4FE1}"/>
              </a:ext>
            </a:extLst>
          </p:cNvPr>
          <p:cNvSpPr txBox="1"/>
          <p:nvPr/>
        </p:nvSpPr>
        <p:spPr>
          <a:xfrm>
            <a:off x="524107" y="5497551"/>
            <a:ext cx="2096430" cy="400110"/>
          </a:xfrm>
          <a:prstGeom prst="rect">
            <a:avLst/>
          </a:prstGeom>
          <a:noFill/>
        </p:spPr>
        <p:txBody>
          <a:bodyPr wrap="square" rtlCol="0">
            <a:spAutoFit/>
          </a:bodyPr>
          <a:lstStyle/>
          <a:p>
            <a:pPr algn="l"/>
            <a:r>
              <a:rPr kumimoji="1" lang="en-US" altLang="zh-CN" sz="2000" dirty="0" err="1"/>
              <a:t>OpenAI</a:t>
            </a:r>
            <a:r>
              <a:rPr kumimoji="1" lang="en-US" altLang="zh-CN" sz="2000" dirty="0"/>
              <a:t>, 2020</a:t>
            </a:r>
            <a:endParaRPr kumimoji="1" lang="zh-CN" altLang="en-US" sz="2000" dirty="0"/>
          </a:p>
        </p:txBody>
      </p:sp>
    </p:spTree>
    <p:custDataLst>
      <p:tags r:id="rId1"/>
    </p:custDataLst>
    <p:extLst>
      <p:ext uri="{BB962C8B-B14F-4D97-AF65-F5344CB8AC3E}">
        <p14:creationId xmlns:p14="http://schemas.microsoft.com/office/powerpoint/2010/main" val="1344029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规模增大后，能力显著提升</a:t>
            </a:r>
          </a:p>
        </p:txBody>
      </p:sp>
      <p:pic>
        <p:nvPicPr>
          <p:cNvPr id="3" name="图片 2">
            <a:extLst>
              <a:ext uri="{FF2B5EF4-FFF2-40B4-BE49-F238E27FC236}">
                <a16:creationId xmlns:a16="http://schemas.microsoft.com/office/drawing/2014/main" id="{386C4B24-C90C-14D5-F26F-A47A4D88A1A8}"/>
              </a:ext>
            </a:extLst>
          </p:cNvPr>
          <p:cNvPicPr>
            <a:picLocks noChangeAspect="1"/>
          </p:cNvPicPr>
          <p:nvPr/>
        </p:nvPicPr>
        <p:blipFill>
          <a:blip r:embed="rId2"/>
          <a:stretch>
            <a:fillRect/>
          </a:stretch>
        </p:blipFill>
        <p:spPr>
          <a:xfrm>
            <a:off x="908957" y="951026"/>
            <a:ext cx="8066314" cy="5194706"/>
          </a:xfrm>
          <a:prstGeom prst="rect">
            <a:avLst/>
          </a:prstGeom>
        </p:spPr>
      </p:pic>
      <p:sp>
        <p:nvSpPr>
          <p:cNvPr id="7" name="文本框 6">
            <a:extLst>
              <a:ext uri="{FF2B5EF4-FFF2-40B4-BE49-F238E27FC236}">
                <a16:creationId xmlns:a16="http://schemas.microsoft.com/office/drawing/2014/main" id="{7CB394A2-3EC0-6C06-6B94-66579BE039D6}"/>
              </a:ext>
            </a:extLst>
          </p:cNvPr>
          <p:cNvSpPr txBox="1"/>
          <p:nvPr/>
        </p:nvSpPr>
        <p:spPr>
          <a:xfrm>
            <a:off x="76200" y="6334780"/>
            <a:ext cx="8762758" cy="523220"/>
          </a:xfrm>
          <a:prstGeom prst="rect">
            <a:avLst/>
          </a:prstGeom>
          <a:noFill/>
        </p:spPr>
        <p:txBody>
          <a:bodyPr wrap="square">
            <a:spAutoFit/>
          </a:bodyPr>
          <a:lstStyle/>
          <a:p>
            <a:r>
              <a:rPr lang="en" altLang="zh-CN" sz="1400" dirty="0">
                <a:solidFill>
                  <a:schemeClr val="bg1"/>
                </a:solidFill>
              </a:rPr>
              <a:t>Wei, Jason, Yi Tay, Rishi </a:t>
            </a:r>
            <a:r>
              <a:rPr lang="en" altLang="zh-CN" sz="1400" dirty="0" err="1">
                <a:solidFill>
                  <a:schemeClr val="bg1"/>
                </a:solidFill>
              </a:rPr>
              <a:t>Bommasani</a:t>
            </a:r>
            <a:r>
              <a:rPr lang="en" altLang="zh-CN" sz="1400" dirty="0">
                <a:solidFill>
                  <a:schemeClr val="bg1"/>
                </a:solidFill>
              </a:rPr>
              <a:t>, Colin </a:t>
            </a:r>
            <a:r>
              <a:rPr lang="en" altLang="zh-CN" sz="1400" dirty="0" err="1">
                <a:solidFill>
                  <a:schemeClr val="bg1"/>
                </a:solidFill>
              </a:rPr>
              <a:t>Raffel</a:t>
            </a:r>
            <a:r>
              <a:rPr lang="en" altLang="zh-CN" sz="1400" dirty="0">
                <a:solidFill>
                  <a:schemeClr val="bg1"/>
                </a:solidFill>
              </a:rPr>
              <a:t>, Barret </a:t>
            </a:r>
            <a:r>
              <a:rPr lang="en" altLang="zh-CN" sz="1400" dirty="0" err="1">
                <a:solidFill>
                  <a:schemeClr val="bg1"/>
                </a:solidFill>
              </a:rPr>
              <a:t>Zoph</a:t>
            </a:r>
            <a:r>
              <a:rPr lang="en" altLang="zh-CN" sz="1400" dirty="0">
                <a:solidFill>
                  <a:schemeClr val="bg1"/>
                </a:solidFill>
              </a:rPr>
              <a:t>, Sebastian Borgeaud, Dani </a:t>
            </a:r>
            <a:r>
              <a:rPr lang="en" altLang="zh-CN" sz="1400" dirty="0" err="1">
                <a:solidFill>
                  <a:schemeClr val="bg1"/>
                </a:solidFill>
              </a:rPr>
              <a:t>Yogatama</a:t>
            </a:r>
            <a:r>
              <a:rPr lang="en" altLang="zh-CN" sz="1400" dirty="0">
                <a:solidFill>
                  <a:schemeClr val="bg1"/>
                </a:solidFill>
              </a:rPr>
              <a:t> et al. "Emergent abilities of large language models." </a:t>
            </a:r>
            <a:r>
              <a:rPr lang="en" altLang="zh-CN" sz="1400" i="1" dirty="0" err="1">
                <a:solidFill>
                  <a:schemeClr val="bg1"/>
                </a:solidFill>
              </a:rPr>
              <a:t>arXiv</a:t>
            </a:r>
            <a:r>
              <a:rPr lang="en" altLang="zh-CN" sz="1400" i="1" dirty="0">
                <a:solidFill>
                  <a:schemeClr val="bg1"/>
                </a:solidFill>
              </a:rPr>
              <a:t> preprint arXiv:2206.07682</a:t>
            </a:r>
            <a:r>
              <a:rPr lang="en" altLang="zh-CN" sz="1400" dirty="0">
                <a:solidFill>
                  <a:schemeClr val="bg1"/>
                </a:solidFill>
              </a:rPr>
              <a:t> (2022).</a:t>
            </a:r>
            <a:endParaRPr lang="zh-CN" altLang="en-US" sz="1400" dirty="0">
              <a:solidFill>
                <a:schemeClr val="bg1"/>
              </a:solidFill>
            </a:endParaRPr>
          </a:p>
        </p:txBody>
      </p:sp>
      <p:sp>
        <p:nvSpPr>
          <p:cNvPr id="9" name="文本框 8">
            <a:extLst>
              <a:ext uri="{FF2B5EF4-FFF2-40B4-BE49-F238E27FC236}">
                <a16:creationId xmlns:a16="http://schemas.microsoft.com/office/drawing/2014/main" id="{F281F36F-47FC-C676-3E77-D05C1EE9F488}"/>
              </a:ext>
            </a:extLst>
          </p:cNvPr>
          <p:cNvSpPr txBox="1"/>
          <p:nvPr/>
        </p:nvSpPr>
        <p:spPr>
          <a:xfrm>
            <a:off x="9065380" y="1204685"/>
            <a:ext cx="2948819" cy="2353208"/>
          </a:xfrm>
          <a:prstGeom prst="rect">
            <a:avLst/>
          </a:prstGeom>
          <a:noFill/>
        </p:spPr>
        <p:txBody>
          <a:bodyPr wrap="square" rtlCol="0">
            <a:spAutoFit/>
          </a:bodyPr>
          <a:lstStyle/>
          <a:p>
            <a:pPr marL="342900" indent="-342900">
              <a:lnSpc>
                <a:spcPct val="150000"/>
              </a:lnSpc>
              <a:buFont typeface="Wingdings" pitchFamily="2" charset="2"/>
              <a:buChar char="p"/>
            </a:pPr>
            <a:r>
              <a:rPr kumimoji="1" lang="zh-CN" altLang="en-US" sz="2000" dirty="0">
                <a:solidFill>
                  <a:schemeClr val="tx2"/>
                </a:solidFill>
                <a:ea typeface="微软雅黑" panose="020B0503020204020204" pitchFamily="34" charset="-122"/>
              </a:rPr>
              <a:t>随着模型规模增大，模型在某些数据集上的评分</a:t>
            </a:r>
            <a:r>
              <a:rPr lang="zh-CN" altLang="en-US" sz="2000" dirty="0">
                <a:ea typeface="微软雅黑" panose="020B0503020204020204" pitchFamily="34" charset="-122"/>
              </a:rPr>
              <a:t>从接近随机水平到显著高于随机水平</a:t>
            </a:r>
            <a:r>
              <a:rPr kumimoji="1" lang="zh-CN" altLang="en-US" sz="2000" dirty="0">
                <a:solidFill>
                  <a:schemeClr val="tx2"/>
                </a:solidFill>
                <a:ea typeface="微软雅黑" panose="020B0503020204020204" pitchFamily="34" charset="-122"/>
              </a:rPr>
              <a:t>。</a:t>
            </a:r>
            <a:endParaRPr kumimoji="1" lang="en-US" altLang="zh-CN" sz="2000" dirty="0">
              <a:solidFill>
                <a:schemeClr val="tx2"/>
              </a:solidFill>
              <a:ea typeface="微软雅黑" panose="020B0503020204020204" pitchFamily="34" charset="-122"/>
            </a:endParaRPr>
          </a:p>
        </p:txBody>
      </p:sp>
    </p:spTree>
    <p:extLst>
      <p:ext uri="{BB962C8B-B14F-4D97-AF65-F5344CB8AC3E}">
        <p14:creationId xmlns:p14="http://schemas.microsoft.com/office/powerpoint/2010/main" val="2419448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97EFAC-C671-A99A-F2BF-E596100771AE}"/>
              </a:ext>
            </a:extLst>
          </p:cNvPr>
          <p:cNvSpPr>
            <a:spLocks noGrp="1"/>
          </p:cNvSpPr>
          <p:nvPr>
            <p:ph type="title"/>
          </p:nvPr>
        </p:nvSpPr>
        <p:spPr/>
        <p:txBody>
          <a:bodyPr/>
          <a:lstStyle/>
          <a:p>
            <a:r>
              <a:rPr lang="zh-CN" altLang="en-US" dirty="0"/>
              <a:t>上下文学习 </a:t>
            </a:r>
            <a:r>
              <a:rPr lang="en-US" altLang="zh-CN" dirty="0"/>
              <a:t>In-context learning</a:t>
            </a:r>
            <a:endParaRPr kumimoji="1" lang="zh-CN" altLang="en-US" dirty="0"/>
          </a:p>
        </p:txBody>
      </p:sp>
      <p:pic>
        <p:nvPicPr>
          <p:cNvPr id="4" name="内容占位符 3">
            <a:extLst>
              <a:ext uri="{FF2B5EF4-FFF2-40B4-BE49-F238E27FC236}">
                <a16:creationId xmlns:a16="http://schemas.microsoft.com/office/drawing/2014/main" id="{B027CDF3-F805-D8C1-3020-8753399A2DD2}"/>
              </a:ext>
            </a:extLst>
          </p:cNvPr>
          <p:cNvPicPr>
            <a:picLocks noGrp="1" noChangeAspect="1"/>
          </p:cNvPicPr>
          <p:nvPr>
            <p:ph idx="1"/>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a:ext>
            </a:extLst>
          </a:blip>
          <a:srcRect l="12802"/>
          <a:stretch/>
        </p:blipFill>
        <p:spPr>
          <a:xfrm>
            <a:off x="4337825" y="1378513"/>
            <a:ext cx="8010294" cy="3783574"/>
          </a:xfrm>
          <a:prstGeom prst="rect">
            <a:avLst/>
          </a:prstGeom>
        </p:spPr>
      </p:pic>
      <p:sp>
        <p:nvSpPr>
          <p:cNvPr id="6" name="文本框 5">
            <a:extLst>
              <a:ext uri="{FF2B5EF4-FFF2-40B4-BE49-F238E27FC236}">
                <a16:creationId xmlns:a16="http://schemas.microsoft.com/office/drawing/2014/main" id="{A4749625-F900-7633-11E2-563DE4E623EC}"/>
              </a:ext>
            </a:extLst>
          </p:cNvPr>
          <p:cNvSpPr txBox="1"/>
          <p:nvPr/>
        </p:nvSpPr>
        <p:spPr>
          <a:xfrm>
            <a:off x="0" y="6334780"/>
            <a:ext cx="9546771" cy="523220"/>
          </a:xfrm>
          <a:prstGeom prst="rect">
            <a:avLst/>
          </a:prstGeom>
          <a:noFill/>
        </p:spPr>
        <p:txBody>
          <a:bodyPr wrap="square">
            <a:spAutoFit/>
          </a:bodyPr>
          <a:lstStyle/>
          <a:p>
            <a:r>
              <a:rPr lang="en" altLang="zh-CN" sz="1400" dirty="0">
                <a:solidFill>
                  <a:schemeClr val="bg1"/>
                </a:solidFill>
              </a:rPr>
              <a:t>Dong, </a:t>
            </a:r>
            <a:r>
              <a:rPr lang="en" altLang="zh-CN" sz="1400" dirty="0" err="1">
                <a:solidFill>
                  <a:schemeClr val="bg1"/>
                </a:solidFill>
              </a:rPr>
              <a:t>Qingxiu</a:t>
            </a:r>
            <a:r>
              <a:rPr lang="en" altLang="zh-CN" sz="1400" dirty="0">
                <a:solidFill>
                  <a:schemeClr val="bg1"/>
                </a:solidFill>
              </a:rPr>
              <a:t>, Lei Li, </a:t>
            </a:r>
            <a:r>
              <a:rPr lang="en" altLang="zh-CN" sz="1400" dirty="0" err="1">
                <a:solidFill>
                  <a:schemeClr val="bg1"/>
                </a:solidFill>
              </a:rPr>
              <a:t>Damai</a:t>
            </a:r>
            <a:r>
              <a:rPr lang="en" altLang="zh-CN" sz="1400" dirty="0">
                <a:solidFill>
                  <a:schemeClr val="bg1"/>
                </a:solidFill>
              </a:rPr>
              <a:t> Dai, Ce Zheng, </a:t>
            </a:r>
            <a:r>
              <a:rPr lang="en" altLang="zh-CN" sz="1400" dirty="0" err="1">
                <a:solidFill>
                  <a:schemeClr val="bg1"/>
                </a:solidFill>
              </a:rPr>
              <a:t>Jingyuan</a:t>
            </a:r>
            <a:r>
              <a:rPr lang="en" altLang="zh-CN" sz="1400" dirty="0">
                <a:solidFill>
                  <a:schemeClr val="bg1"/>
                </a:solidFill>
              </a:rPr>
              <a:t> Ma, Rui Li, Heming Xia et al. "A survey on in-context learning." In </a:t>
            </a:r>
            <a:r>
              <a:rPr lang="en" altLang="zh-CN" sz="1400" i="1" dirty="0">
                <a:solidFill>
                  <a:schemeClr val="bg1"/>
                </a:solidFill>
              </a:rPr>
              <a:t>Proceedings of the 2024 Conference on Empirical Methods in Natural Language Processing</a:t>
            </a:r>
            <a:r>
              <a:rPr lang="en" altLang="zh-CN" sz="1400" dirty="0">
                <a:solidFill>
                  <a:schemeClr val="bg1"/>
                </a:solidFill>
              </a:rPr>
              <a:t>, pp. 1107-1128. 2024.</a:t>
            </a:r>
            <a:endParaRPr lang="zh-CN" altLang="en-US" sz="1400" dirty="0">
              <a:solidFill>
                <a:schemeClr val="bg1"/>
              </a:solidFill>
            </a:endParaRPr>
          </a:p>
        </p:txBody>
      </p:sp>
      <p:sp>
        <p:nvSpPr>
          <p:cNvPr id="5" name="文本框 4">
            <a:extLst>
              <a:ext uri="{FF2B5EF4-FFF2-40B4-BE49-F238E27FC236}">
                <a16:creationId xmlns:a16="http://schemas.microsoft.com/office/drawing/2014/main" id="{601A6A5A-D74C-EE93-90C9-62B65BFB5C41}"/>
              </a:ext>
            </a:extLst>
          </p:cNvPr>
          <p:cNvSpPr txBox="1"/>
          <p:nvPr/>
        </p:nvSpPr>
        <p:spPr>
          <a:xfrm>
            <a:off x="309033" y="1025436"/>
            <a:ext cx="3694255" cy="2801023"/>
          </a:xfrm>
          <a:prstGeom prst="rect">
            <a:avLst/>
          </a:prstGeom>
          <a:noFill/>
        </p:spPr>
        <p:txBody>
          <a:bodyPr wrap="square">
            <a:spAutoFit/>
          </a:bodyPr>
          <a:lstStyle/>
          <a:p>
            <a:pPr marL="342900" indent="-342900">
              <a:lnSpc>
                <a:spcPct val="150000"/>
              </a:lnSpc>
              <a:buFont typeface="Wingdings" pitchFamily="2" charset="2"/>
              <a:buChar char="p"/>
            </a:pPr>
            <a:r>
              <a:rPr lang="zh-CN" altLang="en-US" sz="2400" b="0" i="0" u="none" strike="noStrike" dirty="0">
                <a:solidFill>
                  <a:srgbClr val="000000"/>
                </a:solidFill>
                <a:effectLst/>
                <a:latin typeface="Segoe UI Web (West European)"/>
                <a:ea typeface="微软雅黑" panose="020B0503020204020204" pitchFamily="34" charset="-122"/>
              </a:rPr>
              <a:t>模型能够仅通过给定的任务描述和少量示例，就能快速适应并执行新的任务，无需额外调整模型权重进行学习。</a:t>
            </a:r>
            <a:endParaRPr lang="zh-CN" altLang="en-US" sz="2400" dirty="0">
              <a:ea typeface="微软雅黑" panose="020B0503020204020204" pitchFamily="34" charset="-122"/>
            </a:endParaRPr>
          </a:p>
        </p:txBody>
      </p:sp>
    </p:spTree>
    <p:extLst>
      <p:ext uri="{BB962C8B-B14F-4D97-AF65-F5344CB8AC3E}">
        <p14:creationId xmlns:p14="http://schemas.microsoft.com/office/powerpoint/2010/main" val="618508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97EFAC-C671-A99A-F2BF-E596100771AE}"/>
              </a:ext>
            </a:extLst>
          </p:cNvPr>
          <p:cNvSpPr>
            <a:spLocks noGrp="1"/>
          </p:cNvSpPr>
          <p:nvPr>
            <p:ph type="title"/>
          </p:nvPr>
        </p:nvSpPr>
        <p:spPr/>
        <p:txBody>
          <a:bodyPr/>
          <a:lstStyle/>
          <a:p>
            <a:r>
              <a:rPr lang="zh-CN" altLang="en-US" dirty="0"/>
              <a:t>上下文学习 </a:t>
            </a:r>
            <a:r>
              <a:rPr lang="en-US" altLang="zh-CN" dirty="0"/>
              <a:t>In-context learning</a:t>
            </a:r>
            <a:endParaRPr kumimoji="1" lang="zh-CN" altLang="en-US" dirty="0"/>
          </a:p>
        </p:txBody>
      </p:sp>
      <p:sp>
        <p:nvSpPr>
          <p:cNvPr id="6" name="文本框 5">
            <a:extLst>
              <a:ext uri="{FF2B5EF4-FFF2-40B4-BE49-F238E27FC236}">
                <a16:creationId xmlns:a16="http://schemas.microsoft.com/office/drawing/2014/main" id="{A4749625-F900-7633-11E2-563DE4E623EC}"/>
              </a:ext>
            </a:extLst>
          </p:cNvPr>
          <p:cNvSpPr txBox="1"/>
          <p:nvPr/>
        </p:nvSpPr>
        <p:spPr>
          <a:xfrm>
            <a:off x="0" y="6334780"/>
            <a:ext cx="9546771" cy="523220"/>
          </a:xfrm>
          <a:prstGeom prst="rect">
            <a:avLst/>
          </a:prstGeom>
          <a:noFill/>
        </p:spPr>
        <p:txBody>
          <a:bodyPr wrap="square">
            <a:spAutoFit/>
          </a:bodyPr>
          <a:lstStyle/>
          <a:p>
            <a:r>
              <a:rPr lang="en" altLang="zh-CN" sz="1400" dirty="0">
                <a:solidFill>
                  <a:schemeClr val="bg1"/>
                </a:solidFill>
              </a:rPr>
              <a:t>Dong, </a:t>
            </a:r>
            <a:r>
              <a:rPr lang="en" altLang="zh-CN" sz="1400" dirty="0" err="1">
                <a:solidFill>
                  <a:schemeClr val="bg1"/>
                </a:solidFill>
              </a:rPr>
              <a:t>Qingxiu</a:t>
            </a:r>
            <a:r>
              <a:rPr lang="en" altLang="zh-CN" sz="1400" dirty="0">
                <a:solidFill>
                  <a:schemeClr val="bg1"/>
                </a:solidFill>
              </a:rPr>
              <a:t>, Lei Li, </a:t>
            </a:r>
            <a:r>
              <a:rPr lang="en" altLang="zh-CN" sz="1400" dirty="0" err="1">
                <a:solidFill>
                  <a:schemeClr val="bg1"/>
                </a:solidFill>
              </a:rPr>
              <a:t>Damai</a:t>
            </a:r>
            <a:r>
              <a:rPr lang="en" altLang="zh-CN" sz="1400" dirty="0">
                <a:solidFill>
                  <a:schemeClr val="bg1"/>
                </a:solidFill>
              </a:rPr>
              <a:t> Dai, Ce Zheng, </a:t>
            </a:r>
            <a:r>
              <a:rPr lang="en" altLang="zh-CN" sz="1400" dirty="0" err="1">
                <a:solidFill>
                  <a:schemeClr val="bg1"/>
                </a:solidFill>
              </a:rPr>
              <a:t>Jingyuan</a:t>
            </a:r>
            <a:r>
              <a:rPr lang="en" altLang="zh-CN" sz="1400" dirty="0">
                <a:solidFill>
                  <a:schemeClr val="bg1"/>
                </a:solidFill>
              </a:rPr>
              <a:t> Ma, Rui Li, Heming Xia et al. "A survey on in-context learning." In </a:t>
            </a:r>
            <a:r>
              <a:rPr lang="en" altLang="zh-CN" sz="1400" i="1" dirty="0">
                <a:solidFill>
                  <a:schemeClr val="bg1"/>
                </a:solidFill>
              </a:rPr>
              <a:t>Proceedings of the 2024 Conference on Empirical Methods in Natural Language Processing</a:t>
            </a:r>
            <a:r>
              <a:rPr lang="en" altLang="zh-CN" sz="1400" dirty="0">
                <a:solidFill>
                  <a:schemeClr val="bg1"/>
                </a:solidFill>
              </a:rPr>
              <a:t>, pp. 1107-1128. 2024.</a:t>
            </a:r>
            <a:endParaRPr lang="zh-CN" altLang="en-US" sz="1400" dirty="0">
              <a:solidFill>
                <a:schemeClr val="bg1"/>
              </a:solidFill>
            </a:endParaRPr>
          </a:p>
        </p:txBody>
      </p:sp>
      <p:pic>
        <p:nvPicPr>
          <p:cNvPr id="9" name="内容占位符 8">
            <a:extLst>
              <a:ext uri="{FF2B5EF4-FFF2-40B4-BE49-F238E27FC236}">
                <a16:creationId xmlns:a16="http://schemas.microsoft.com/office/drawing/2014/main" id="{358C0289-6142-A9CD-7C2E-047339AE379B}"/>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rcRect/>
          <a:stretch/>
        </p:blipFill>
        <p:spPr>
          <a:xfrm>
            <a:off x="1902285" y="881379"/>
            <a:ext cx="8387429" cy="5334000"/>
          </a:xfrm>
          <a:prstGeom prst="rect">
            <a:avLst/>
          </a:prstGeom>
        </p:spPr>
      </p:pic>
    </p:spTree>
    <p:extLst>
      <p:ext uri="{BB962C8B-B14F-4D97-AF65-F5344CB8AC3E}">
        <p14:creationId xmlns:p14="http://schemas.microsoft.com/office/powerpoint/2010/main" val="2612684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思维链 </a:t>
            </a:r>
            <a:r>
              <a:rPr lang="en-US" altLang="zh-CN" dirty="0"/>
              <a:t>Chain</a:t>
            </a:r>
            <a:r>
              <a:rPr lang="zh-CN" altLang="en-US" dirty="0"/>
              <a:t> </a:t>
            </a:r>
            <a:r>
              <a:rPr lang="en-US" altLang="zh-CN" dirty="0"/>
              <a:t>of Thought</a:t>
            </a:r>
            <a:endParaRPr lang="zh-CN" altLang="en-US" dirty="0"/>
          </a:p>
        </p:txBody>
      </p:sp>
      <p:pic>
        <p:nvPicPr>
          <p:cNvPr id="4" name="图片 3">
            <a:extLst>
              <a:ext uri="{FF2B5EF4-FFF2-40B4-BE49-F238E27FC236}">
                <a16:creationId xmlns:a16="http://schemas.microsoft.com/office/drawing/2014/main" id="{E3965256-7B10-500E-E225-BB5E638E2AE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440404" y="1025436"/>
            <a:ext cx="7496619" cy="3819706"/>
          </a:xfrm>
          <a:prstGeom prst="rect">
            <a:avLst/>
          </a:prstGeom>
        </p:spPr>
      </p:pic>
      <p:sp>
        <p:nvSpPr>
          <p:cNvPr id="5" name="文本框 4">
            <a:extLst>
              <a:ext uri="{FF2B5EF4-FFF2-40B4-BE49-F238E27FC236}">
                <a16:creationId xmlns:a16="http://schemas.microsoft.com/office/drawing/2014/main" id="{1AF6B5D0-C56A-EAA2-C25D-FE210A574C68}"/>
              </a:ext>
            </a:extLst>
          </p:cNvPr>
          <p:cNvSpPr txBox="1"/>
          <p:nvPr/>
        </p:nvSpPr>
        <p:spPr>
          <a:xfrm>
            <a:off x="0" y="6293508"/>
            <a:ext cx="10276114" cy="523220"/>
          </a:xfrm>
          <a:prstGeom prst="rect">
            <a:avLst/>
          </a:prstGeom>
          <a:noFill/>
        </p:spPr>
        <p:txBody>
          <a:bodyPr wrap="square">
            <a:spAutoFit/>
          </a:bodyPr>
          <a:lstStyle/>
          <a:p>
            <a:r>
              <a:rPr lang="en" altLang="zh-CN" sz="1400" dirty="0">
                <a:solidFill>
                  <a:schemeClr val="bg1"/>
                </a:solidFill>
              </a:rPr>
              <a:t>Wei, Jason, </a:t>
            </a:r>
            <a:r>
              <a:rPr lang="en" altLang="zh-CN" sz="1400" dirty="0" err="1">
                <a:solidFill>
                  <a:schemeClr val="bg1"/>
                </a:solidFill>
              </a:rPr>
              <a:t>Xuezhi</a:t>
            </a:r>
            <a:r>
              <a:rPr lang="en" altLang="zh-CN" sz="1400" dirty="0">
                <a:solidFill>
                  <a:schemeClr val="bg1"/>
                </a:solidFill>
              </a:rPr>
              <a:t> Wang, Dale Schuurmans, Maarten </a:t>
            </a:r>
            <a:r>
              <a:rPr lang="en" altLang="zh-CN" sz="1400" dirty="0" err="1">
                <a:solidFill>
                  <a:schemeClr val="bg1"/>
                </a:solidFill>
              </a:rPr>
              <a:t>Bosma</a:t>
            </a:r>
            <a:r>
              <a:rPr lang="en" altLang="zh-CN" sz="1400" dirty="0">
                <a:solidFill>
                  <a:schemeClr val="bg1"/>
                </a:solidFill>
              </a:rPr>
              <a:t>, Fei Xia, Ed Chi, Quoc V. Le, and Denny Zhou. "Chain-of-thought prompting elicits reasoning in large language models." </a:t>
            </a:r>
            <a:r>
              <a:rPr lang="en" altLang="zh-CN" sz="1400" i="1" dirty="0">
                <a:solidFill>
                  <a:schemeClr val="bg1"/>
                </a:solidFill>
              </a:rPr>
              <a:t>Advances in neural information processing systems</a:t>
            </a:r>
            <a:r>
              <a:rPr lang="en" altLang="zh-CN" sz="1400" dirty="0">
                <a:solidFill>
                  <a:schemeClr val="bg1"/>
                </a:solidFill>
              </a:rPr>
              <a:t> 35 (2022): 24824-24837.</a:t>
            </a:r>
            <a:endParaRPr lang="zh-CN" altLang="en-US" sz="1400" dirty="0">
              <a:solidFill>
                <a:schemeClr val="bg1"/>
              </a:solidFill>
            </a:endParaRPr>
          </a:p>
        </p:txBody>
      </p:sp>
      <p:sp>
        <p:nvSpPr>
          <p:cNvPr id="3" name="文本框 2">
            <a:extLst>
              <a:ext uri="{FF2B5EF4-FFF2-40B4-BE49-F238E27FC236}">
                <a16:creationId xmlns:a16="http://schemas.microsoft.com/office/drawing/2014/main" id="{CF45B3FE-03C9-A65F-992E-84E1EF49B8B2}"/>
              </a:ext>
            </a:extLst>
          </p:cNvPr>
          <p:cNvSpPr txBox="1"/>
          <p:nvPr/>
        </p:nvSpPr>
        <p:spPr>
          <a:xfrm>
            <a:off x="309033" y="1025436"/>
            <a:ext cx="3694255" cy="3355021"/>
          </a:xfrm>
          <a:prstGeom prst="rect">
            <a:avLst/>
          </a:prstGeom>
          <a:noFill/>
        </p:spPr>
        <p:txBody>
          <a:bodyPr wrap="square">
            <a:spAutoFit/>
          </a:bodyPr>
          <a:lstStyle/>
          <a:p>
            <a:pPr marL="342900" indent="-342900">
              <a:lnSpc>
                <a:spcPct val="150000"/>
              </a:lnSpc>
              <a:buFont typeface="Wingdings" pitchFamily="2" charset="2"/>
              <a:buChar char="p"/>
            </a:pPr>
            <a:r>
              <a:rPr lang="zh-CN" altLang="en-US" sz="2400" b="0" i="0" u="none" strike="noStrike" dirty="0">
                <a:solidFill>
                  <a:srgbClr val="000000"/>
                </a:solidFill>
                <a:effectLst/>
                <a:latin typeface="Segoe UI Web (West European)"/>
                <a:ea typeface="微软雅黑" panose="020B0503020204020204" pitchFamily="34" charset="-122"/>
              </a:rPr>
              <a:t>思维链是指通过引导模型生成中间推理步骤，而不是直接给出问题答案的方法，这种方法能够显著提高模型在复杂任务中的表现。</a:t>
            </a:r>
            <a:endParaRPr lang="zh-CN" altLang="en-US" sz="2400" dirty="0">
              <a:ea typeface="微软雅黑" panose="020B0503020204020204" pitchFamily="34" charset="-122"/>
            </a:endParaRPr>
          </a:p>
        </p:txBody>
      </p:sp>
    </p:spTree>
    <p:extLst>
      <p:ext uri="{BB962C8B-B14F-4D97-AF65-F5344CB8AC3E}">
        <p14:creationId xmlns:p14="http://schemas.microsoft.com/office/powerpoint/2010/main" val="490722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9F0AE-52F6-C409-A7B1-60C80F031D2B}"/>
              </a:ext>
            </a:extLst>
          </p:cNvPr>
          <p:cNvSpPr>
            <a:spLocks noGrp="1"/>
          </p:cNvSpPr>
          <p:nvPr>
            <p:ph type="title"/>
          </p:nvPr>
        </p:nvSpPr>
        <p:spPr/>
        <p:txBody>
          <a:bodyPr/>
          <a:lstStyle/>
          <a:p>
            <a:r>
              <a:rPr kumimoji="1" lang="zh-CN" altLang="en-US"/>
              <a:t>大模型幻觉</a:t>
            </a:r>
            <a:endParaRPr kumimoji="1" lang="zh-CN" altLang="en-US" dirty="0"/>
          </a:p>
        </p:txBody>
      </p:sp>
      <p:sp>
        <p:nvSpPr>
          <p:cNvPr id="3" name="内容占位符 2">
            <a:extLst>
              <a:ext uri="{FF2B5EF4-FFF2-40B4-BE49-F238E27FC236}">
                <a16:creationId xmlns:a16="http://schemas.microsoft.com/office/drawing/2014/main" id="{5D13A27A-20D3-C2A4-F024-4D0C0D5F7FDA}"/>
              </a:ext>
            </a:extLst>
          </p:cNvPr>
          <p:cNvSpPr>
            <a:spLocks noGrp="1"/>
          </p:cNvSpPr>
          <p:nvPr>
            <p:ph idx="1"/>
          </p:nvPr>
        </p:nvSpPr>
        <p:spPr/>
        <p:txBody>
          <a:bodyPr/>
          <a:lstStyle/>
          <a:p>
            <a:pPr marL="342900" indent="-342900">
              <a:buFont typeface="Wingdings" pitchFamily="2" charset="2"/>
              <a:buChar char="p"/>
            </a:pPr>
            <a:r>
              <a:rPr kumimoji="1" lang="zh-CN" altLang="en-US" dirty="0">
                <a:latin typeface="Times New Roman" panose="02020603050405020304" pitchFamily="18" charset="0"/>
              </a:rPr>
              <a:t>幻觉（</a:t>
            </a:r>
            <a:r>
              <a:rPr kumimoji="1" lang="en" altLang="zh-CN" dirty="0">
                <a:latin typeface="Times New Roman" panose="02020603050405020304" pitchFamily="18" charset="0"/>
              </a:rPr>
              <a:t>hallucination</a:t>
            </a:r>
            <a:r>
              <a:rPr kumimoji="1" lang="zh-CN" altLang="en-US" dirty="0">
                <a:latin typeface="Times New Roman" panose="02020603050405020304" pitchFamily="18" charset="0"/>
              </a:rPr>
              <a:t>）是由人工智能生成的一种回答，它含有貌似事实的虚假或误导性资讯。</a:t>
            </a:r>
          </a:p>
        </p:txBody>
      </p:sp>
      <p:pic>
        <p:nvPicPr>
          <p:cNvPr id="1032" name="Picture 8">
            <a:extLst>
              <a:ext uri="{FF2B5EF4-FFF2-40B4-BE49-F238E27FC236}">
                <a16:creationId xmlns:a16="http://schemas.microsoft.com/office/drawing/2014/main" id="{B8FD9473-5318-3740-6BDC-AC25891D7E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852"/>
          <a:stretch/>
        </p:blipFill>
        <p:spPr bwMode="auto">
          <a:xfrm>
            <a:off x="1270863" y="1927234"/>
            <a:ext cx="9650274" cy="365665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9B70B435-1B83-E28F-687C-616CDB94A961}"/>
              </a:ext>
            </a:extLst>
          </p:cNvPr>
          <p:cNvSpPr txBox="1"/>
          <p:nvPr/>
        </p:nvSpPr>
        <p:spPr>
          <a:xfrm>
            <a:off x="110970" y="6430419"/>
            <a:ext cx="9201705" cy="307777"/>
          </a:xfrm>
          <a:prstGeom prst="rect">
            <a:avLst/>
          </a:prstGeom>
          <a:noFill/>
        </p:spPr>
        <p:txBody>
          <a:bodyPr wrap="square">
            <a:spAutoFit/>
          </a:bodyPr>
          <a:lstStyle/>
          <a:p>
            <a:r>
              <a:rPr lang="zh-CN" altLang="en-US" sz="1400" dirty="0">
                <a:solidFill>
                  <a:schemeClr val="bg1"/>
                </a:solidFill>
              </a:rPr>
              <a:t>https://profile.caotouchan.tech/the-mirage-of-knowledge-hallucination-in-llms-2b5b79bda467</a:t>
            </a:r>
          </a:p>
        </p:txBody>
      </p:sp>
    </p:spTree>
    <p:extLst>
      <p:ext uri="{BB962C8B-B14F-4D97-AF65-F5344CB8AC3E}">
        <p14:creationId xmlns:p14="http://schemas.microsoft.com/office/powerpoint/2010/main" val="928925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9F0AE-52F6-C409-A7B1-60C80F031D2B}"/>
              </a:ext>
            </a:extLst>
          </p:cNvPr>
          <p:cNvSpPr>
            <a:spLocks noGrp="1"/>
          </p:cNvSpPr>
          <p:nvPr>
            <p:ph type="title"/>
          </p:nvPr>
        </p:nvSpPr>
        <p:spPr/>
        <p:txBody>
          <a:bodyPr/>
          <a:lstStyle/>
          <a:p>
            <a:r>
              <a:rPr kumimoji="1" lang="zh-CN" altLang="en-US" dirty="0"/>
              <a:t>大模型的偏见</a:t>
            </a:r>
          </a:p>
        </p:txBody>
      </p:sp>
      <p:sp>
        <p:nvSpPr>
          <p:cNvPr id="3" name="内容占位符 2">
            <a:extLst>
              <a:ext uri="{FF2B5EF4-FFF2-40B4-BE49-F238E27FC236}">
                <a16:creationId xmlns:a16="http://schemas.microsoft.com/office/drawing/2014/main" id="{5D13A27A-20D3-C2A4-F024-4D0C0D5F7FDA}"/>
              </a:ext>
            </a:extLst>
          </p:cNvPr>
          <p:cNvSpPr>
            <a:spLocks noGrp="1"/>
          </p:cNvSpPr>
          <p:nvPr>
            <p:ph idx="1"/>
          </p:nvPr>
        </p:nvSpPr>
        <p:spPr/>
        <p:txBody>
          <a:bodyPr/>
          <a:lstStyle/>
          <a:p>
            <a:pPr marL="342900" indent="-342900">
              <a:buFont typeface="Wingdings" pitchFamily="2" charset="2"/>
              <a:buChar char="p"/>
            </a:pPr>
            <a:r>
              <a:rPr kumimoji="1" lang="zh-CN" altLang="en-US" dirty="0"/>
              <a:t>大模型会在预测时有一些自有的偏见</a:t>
            </a:r>
            <a:endParaRPr kumimoji="1" lang="en-US" altLang="zh-CN" dirty="0"/>
          </a:p>
          <a:p>
            <a:endParaRPr kumimoji="1" lang="zh-CN" altLang="en-US" dirty="0"/>
          </a:p>
        </p:txBody>
      </p:sp>
      <p:sp>
        <p:nvSpPr>
          <p:cNvPr id="5" name="文本框 4">
            <a:extLst>
              <a:ext uri="{FF2B5EF4-FFF2-40B4-BE49-F238E27FC236}">
                <a16:creationId xmlns:a16="http://schemas.microsoft.com/office/drawing/2014/main" id="{9B70B435-1B83-E28F-687C-616CDB94A961}"/>
              </a:ext>
            </a:extLst>
          </p:cNvPr>
          <p:cNvSpPr txBox="1"/>
          <p:nvPr/>
        </p:nvSpPr>
        <p:spPr>
          <a:xfrm>
            <a:off x="0" y="6334780"/>
            <a:ext cx="10169372" cy="523220"/>
          </a:xfrm>
          <a:prstGeom prst="rect">
            <a:avLst/>
          </a:prstGeom>
          <a:noFill/>
        </p:spPr>
        <p:txBody>
          <a:bodyPr wrap="square">
            <a:spAutoFit/>
          </a:bodyPr>
          <a:lstStyle/>
          <a:p>
            <a:r>
              <a:rPr lang="en" altLang="zh-CN" sz="1400" dirty="0">
                <a:solidFill>
                  <a:schemeClr val="bg1"/>
                </a:solidFill>
              </a:rPr>
              <a:t>Gallegos, Isabel O., Ryan A. Rossi, Joe Barrow, Md </a:t>
            </a:r>
            <a:r>
              <a:rPr lang="en" altLang="zh-CN" sz="1400" dirty="0" err="1">
                <a:solidFill>
                  <a:schemeClr val="bg1"/>
                </a:solidFill>
              </a:rPr>
              <a:t>Mehrab</a:t>
            </a:r>
            <a:r>
              <a:rPr lang="en" altLang="zh-CN" sz="1400" dirty="0">
                <a:solidFill>
                  <a:schemeClr val="bg1"/>
                </a:solidFill>
              </a:rPr>
              <a:t> </a:t>
            </a:r>
            <a:r>
              <a:rPr lang="en" altLang="zh-CN" sz="1400" dirty="0" err="1">
                <a:solidFill>
                  <a:schemeClr val="bg1"/>
                </a:solidFill>
              </a:rPr>
              <a:t>Tanjim</a:t>
            </a:r>
            <a:r>
              <a:rPr lang="en" altLang="zh-CN" sz="1400" dirty="0">
                <a:solidFill>
                  <a:schemeClr val="bg1"/>
                </a:solidFill>
              </a:rPr>
              <a:t>, </a:t>
            </a:r>
            <a:r>
              <a:rPr lang="en" altLang="zh-CN" sz="1400" dirty="0" err="1">
                <a:solidFill>
                  <a:schemeClr val="bg1"/>
                </a:solidFill>
              </a:rPr>
              <a:t>Sungchul</a:t>
            </a:r>
            <a:r>
              <a:rPr lang="en" altLang="zh-CN" sz="1400" dirty="0">
                <a:solidFill>
                  <a:schemeClr val="bg1"/>
                </a:solidFill>
              </a:rPr>
              <a:t> Kim, Franck </a:t>
            </a:r>
            <a:r>
              <a:rPr lang="en" altLang="zh-CN" sz="1400" dirty="0" err="1">
                <a:solidFill>
                  <a:schemeClr val="bg1"/>
                </a:solidFill>
              </a:rPr>
              <a:t>Dernoncourt</a:t>
            </a:r>
            <a:r>
              <a:rPr lang="en" altLang="zh-CN" sz="1400" dirty="0">
                <a:solidFill>
                  <a:schemeClr val="bg1"/>
                </a:solidFill>
              </a:rPr>
              <a:t>, Tong Yu, </a:t>
            </a:r>
            <a:r>
              <a:rPr lang="en" altLang="zh-CN" sz="1400" dirty="0" err="1">
                <a:solidFill>
                  <a:schemeClr val="bg1"/>
                </a:solidFill>
              </a:rPr>
              <a:t>Ruiyi</a:t>
            </a:r>
            <a:r>
              <a:rPr lang="en" altLang="zh-CN" sz="1400" dirty="0">
                <a:solidFill>
                  <a:schemeClr val="bg1"/>
                </a:solidFill>
              </a:rPr>
              <a:t> Zhang, and </a:t>
            </a:r>
            <a:r>
              <a:rPr lang="en" altLang="zh-CN" sz="1400" dirty="0" err="1">
                <a:solidFill>
                  <a:schemeClr val="bg1"/>
                </a:solidFill>
              </a:rPr>
              <a:t>Nesreen</a:t>
            </a:r>
            <a:r>
              <a:rPr lang="en" altLang="zh-CN" sz="1400" dirty="0">
                <a:solidFill>
                  <a:schemeClr val="bg1"/>
                </a:solidFill>
              </a:rPr>
              <a:t> K. Ahmed. "Bias and fairness in large language models: A survey." </a:t>
            </a:r>
            <a:r>
              <a:rPr lang="en" altLang="zh-CN" sz="1400" i="1" dirty="0">
                <a:solidFill>
                  <a:schemeClr val="bg1"/>
                </a:solidFill>
              </a:rPr>
              <a:t>Computational Linguistics</a:t>
            </a:r>
            <a:r>
              <a:rPr lang="en" altLang="zh-CN" sz="1400" dirty="0">
                <a:solidFill>
                  <a:schemeClr val="bg1"/>
                </a:solidFill>
              </a:rPr>
              <a:t> (2024): 1-79.</a:t>
            </a:r>
            <a:endParaRPr lang="zh-CN" altLang="en-US" sz="1400" dirty="0">
              <a:solidFill>
                <a:schemeClr val="bg1"/>
              </a:solidFill>
            </a:endParaRPr>
          </a:p>
        </p:txBody>
      </p:sp>
      <p:pic>
        <p:nvPicPr>
          <p:cNvPr id="4" name="图片 3">
            <a:extLst>
              <a:ext uri="{FF2B5EF4-FFF2-40B4-BE49-F238E27FC236}">
                <a16:creationId xmlns:a16="http://schemas.microsoft.com/office/drawing/2014/main" id="{A940ACE4-0F2B-2EB5-873B-0C77CAC1D491}"/>
              </a:ext>
            </a:extLst>
          </p:cNvPr>
          <p:cNvPicPr>
            <a:picLocks noChangeAspect="1"/>
          </p:cNvPicPr>
          <p:nvPr/>
        </p:nvPicPr>
        <p:blipFill>
          <a:blip r:embed="rId2"/>
          <a:stretch>
            <a:fillRect/>
          </a:stretch>
        </p:blipFill>
        <p:spPr>
          <a:xfrm>
            <a:off x="316265" y="2005713"/>
            <a:ext cx="10995860" cy="3284738"/>
          </a:xfrm>
          <a:prstGeom prst="rect">
            <a:avLst/>
          </a:prstGeom>
        </p:spPr>
      </p:pic>
    </p:spTree>
    <p:extLst>
      <p:ext uri="{BB962C8B-B14F-4D97-AF65-F5344CB8AC3E}">
        <p14:creationId xmlns:p14="http://schemas.microsoft.com/office/powerpoint/2010/main" val="3363861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057247"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一、大模型的发展</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二、大模型中的一些现象</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3057247"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三、大模型的应用</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316105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四、大模型的推理</a:t>
            </a:r>
          </a:p>
        </p:txBody>
      </p:sp>
    </p:spTree>
    <p:extLst>
      <p:ext uri="{BB962C8B-B14F-4D97-AF65-F5344CB8AC3E}">
        <p14:creationId xmlns:p14="http://schemas.microsoft.com/office/powerpoint/2010/main" val="4164647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EEC7A54A-F5E6-F9C5-8430-1D22D9CBC77E}"/>
              </a:ext>
            </a:extLst>
          </p:cNvPr>
          <p:cNvSpPr>
            <a:spLocks noGrp="1"/>
          </p:cNvSpPr>
          <p:nvPr>
            <p:ph idx="1"/>
          </p:nvPr>
        </p:nvSpPr>
        <p:spPr/>
        <p:txBody>
          <a:bodyPr/>
          <a:lstStyle/>
          <a:p>
            <a:endParaRPr lang="zh-CN" altLang="en-US" dirty="0"/>
          </a:p>
        </p:txBody>
      </p:sp>
      <p:sp>
        <p:nvSpPr>
          <p:cNvPr id="2" name="标题 1"/>
          <p:cNvSpPr>
            <a:spLocks noGrp="1"/>
          </p:cNvSpPr>
          <p:nvPr>
            <p:ph type="title"/>
          </p:nvPr>
        </p:nvSpPr>
        <p:spPr/>
        <p:txBody>
          <a:bodyPr/>
          <a:lstStyle/>
          <a:p>
            <a:r>
              <a:rPr kumimoji="1" lang="zh-CN" altLang="en-US" dirty="0"/>
              <a:t>大语言模型的应用</a:t>
            </a:r>
          </a:p>
        </p:txBody>
      </p:sp>
      <p:sp>
        <p:nvSpPr>
          <p:cNvPr id="18" name="文本框 17"/>
          <p:cNvSpPr txBox="1"/>
          <p:nvPr/>
        </p:nvSpPr>
        <p:spPr>
          <a:xfrm>
            <a:off x="1266548" y="1303559"/>
            <a:ext cx="2155811" cy="1015663"/>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文本生成</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代码生成</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p:txBody>
      </p:sp>
      <p:sp>
        <p:nvSpPr>
          <p:cNvPr id="19" name="文本框 18"/>
          <p:cNvSpPr txBox="1"/>
          <p:nvPr/>
        </p:nvSpPr>
        <p:spPr>
          <a:xfrm>
            <a:off x="5018094" y="1244144"/>
            <a:ext cx="2155811" cy="1015663"/>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文本翻译</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问答对话</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p:txBody>
      </p:sp>
      <p:sp>
        <p:nvSpPr>
          <p:cNvPr id="20" name="文本框 19"/>
          <p:cNvSpPr txBox="1"/>
          <p:nvPr/>
        </p:nvSpPr>
        <p:spPr>
          <a:xfrm>
            <a:off x="8769640" y="1230434"/>
            <a:ext cx="2155811" cy="1139030"/>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文档分析</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等等</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p:txBody>
      </p:sp>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pic>
        <p:nvPicPr>
          <p:cNvPr id="6" name="图片 5">
            <a:extLst>
              <a:ext uri="{FF2B5EF4-FFF2-40B4-BE49-F238E27FC236}">
                <a16:creationId xmlns:a16="http://schemas.microsoft.com/office/drawing/2014/main" id="{CBD1C4B2-E3B5-DB48-A20E-26500F91BAD4}"/>
              </a:ext>
            </a:extLst>
          </p:cNvPr>
          <p:cNvPicPr>
            <a:picLocks noChangeAspect="1"/>
          </p:cNvPicPr>
          <p:nvPr/>
        </p:nvPicPr>
        <p:blipFill>
          <a:blip r:embed="rId2"/>
          <a:stretch>
            <a:fillRect/>
          </a:stretch>
        </p:blipFill>
        <p:spPr>
          <a:xfrm>
            <a:off x="2999543" y="2877004"/>
            <a:ext cx="5132280" cy="307936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大模型</a:t>
            </a:r>
            <a:r>
              <a:rPr lang="en-US" altLang="zh-CN"/>
              <a:t>：</a:t>
            </a:r>
            <a:r>
              <a:rPr lang="zh-CN" altLang="en-US"/>
              <a:t>解决应用题</a:t>
            </a:r>
          </a:p>
        </p:txBody>
      </p:sp>
      <p:sp>
        <p:nvSpPr>
          <p:cNvPr id="6" name="内容占位符 5"/>
          <p:cNvSpPr>
            <a:spLocks noGrp="1"/>
          </p:cNvSpPr>
          <p:nvPr>
            <p:ph idx="1"/>
          </p:nvPr>
        </p:nvSpPr>
        <p:spPr>
          <a:xfrm>
            <a:off x="381000" y="1217295"/>
            <a:ext cx="5641340" cy="4646295"/>
          </a:xfrm>
        </p:spPr>
        <p:txBody>
          <a:bodyPr/>
          <a:lstStyle/>
          <a:p>
            <a:pPr marL="342900" indent="-342900">
              <a:buFont typeface="Wingdings" panose="05000000000000000000" charset="0"/>
              <a:buChar char=""/>
            </a:pPr>
            <a:r>
              <a:rPr lang="zh-CN" altLang="en-US"/>
              <a:t>提问</a:t>
            </a:r>
            <a:r>
              <a:rPr lang="en-US" altLang="zh-CN"/>
              <a:t>：</a:t>
            </a:r>
            <a:r>
              <a:rPr lang="zh-CN" altLang="en-US"/>
              <a:t>锯一根</a:t>
            </a:r>
            <a:r>
              <a:rPr lang="en-US" altLang="zh-CN"/>
              <a:t>10</a:t>
            </a:r>
            <a:r>
              <a:rPr lang="zh-CN" altLang="en-US"/>
              <a:t>米长的木棒，每锯一段要</a:t>
            </a:r>
            <a:r>
              <a:rPr lang="en-US" altLang="zh-CN"/>
              <a:t>2</a:t>
            </a:r>
            <a:r>
              <a:rPr lang="zh-CN" altLang="en-US"/>
              <a:t>分钟。如果把这根木棒锯成相等的</a:t>
            </a:r>
            <a:r>
              <a:rPr lang="en-US" altLang="zh-CN"/>
              <a:t>5</a:t>
            </a:r>
            <a:r>
              <a:rPr lang="zh-CN" altLang="en-US"/>
              <a:t>段，一共要</a:t>
            </a:r>
            <a:r>
              <a:rPr lang="en-US" altLang="zh-CN"/>
              <a:t>( )</a:t>
            </a:r>
            <a:r>
              <a:rPr lang="zh-CN" altLang="en-US"/>
              <a:t>分钟。</a:t>
            </a:r>
          </a:p>
        </p:txBody>
      </p:sp>
      <p:pic>
        <p:nvPicPr>
          <p:cNvPr id="3" name="图片 2"/>
          <p:cNvPicPr>
            <a:picLocks noChangeAspect="1"/>
          </p:cNvPicPr>
          <p:nvPr/>
        </p:nvPicPr>
        <p:blipFill>
          <a:blip r:embed="rId4"/>
          <a:srcRect r="11330"/>
          <a:stretch>
            <a:fillRect/>
          </a:stretch>
        </p:blipFill>
        <p:spPr>
          <a:xfrm>
            <a:off x="6629400" y="1419860"/>
            <a:ext cx="4974590" cy="4018915"/>
          </a:xfrm>
          <a:prstGeom prst="rect">
            <a:avLst/>
          </a:prstGeom>
        </p:spPr>
      </p:pic>
      <p:sp>
        <p:nvSpPr>
          <p:cNvPr id="4" name="灯片编号占位符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大模型</a:t>
            </a:r>
            <a:r>
              <a:rPr lang="en-US" altLang="zh-CN"/>
              <a:t>：</a:t>
            </a:r>
            <a:r>
              <a:rPr lang="zh-CN" altLang="en-US"/>
              <a:t>举一反三</a:t>
            </a:r>
          </a:p>
        </p:txBody>
      </p:sp>
      <p:sp>
        <p:nvSpPr>
          <p:cNvPr id="3" name="内容占位符 2"/>
          <p:cNvSpPr>
            <a:spLocks noGrp="1"/>
          </p:cNvSpPr>
          <p:nvPr>
            <p:ph idx="1"/>
          </p:nvPr>
        </p:nvSpPr>
        <p:spPr>
          <a:xfrm>
            <a:off x="381000" y="981075"/>
            <a:ext cx="3783330" cy="5334000"/>
          </a:xfrm>
        </p:spPr>
        <p:txBody>
          <a:bodyPr/>
          <a:lstStyle/>
          <a:p>
            <a:pPr marL="342900" indent="-342900">
              <a:buFont typeface="Wingdings" panose="05000000000000000000" charset="0"/>
              <a:buChar char=""/>
            </a:pPr>
            <a:r>
              <a:rPr lang="zh-CN" altLang="en-US"/>
              <a:t>假如前面一题回答错了</a:t>
            </a:r>
            <a:r>
              <a:rPr lang="en-US" altLang="zh-CN"/>
              <a:t>，</a:t>
            </a:r>
            <a:r>
              <a:rPr lang="zh-CN" altLang="en-US"/>
              <a:t>让大模型出一些类似的题帮助理解</a:t>
            </a:r>
            <a:r>
              <a:rPr lang="en-US" altLang="zh-CN"/>
              <a:t>。</a:t>
            </a:r>
          </a:p>
        </p:txBody>
      </p:sp>
      <p:pic>
        <p:nvPicPr>
          <p:cNvPr id="4" name="图片 3"/>
          <p:cNvPicPr>
            <a:picLocks noChangeAspect="1"/>
          </p:cNvPicPr>
          <p:nvPr/>
        </p:nvPicPr>
        <p:blipFill>
          <a:blip r:embed="rId2"/>
          <a:srcRect r="3874"/>
          <a:stretch>
            <a:fillRect/>
          </a:stretch>
        </p:blipFill>
        <p:spPr>
          <a:xfrm>
            <a:off x="4225925" y="1358265"/>
            <a:ext cx="7765415" cy="4142105"/>
          </a:xfrm>
          <a:prstGeom prst="rect">
            <a:avLst/>
          </a:prstGeom>
        </p:spPr>
      </p:pic>
      <p:sp>
        <p:nvSpPr>
          <p:cNvPr id="5" name="灯片编号占位符 4"/>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大模型生成贪吃蛇代码</a:t>
            </a:r>
          </a:p>
        </p:txBody>
      </p:sp>
      <p:sp>
        <p:nvSpPr>
          <p:cNvPr id="3" name="内容占位符 2"/>
          <p:cNvSpPr>
            <a:spLocks noGrp="1"/>
          </p:cNvSpPr>
          <p:nvPr>
            <p:ph idx="1"/>
          </p:nvPr>
        </p:nvSpPr>
        <p:spPr>
          <a:xfrm>
            <a:off x="464820" y="2795905"/>
            <a:ext cx="5279390" cy="1125220"/>
          </a:xfrm>
        </p:spPr>
        <p:txBody>
          <a:bodyPr>
            <a:noAutofit/>
          </a:bodyPr>
          <a:lstStyle/>
          <a:p>
            <a:pPr algn="ctr"/>
            <a:r>
              <a:rPr lang="zh-CN" altLang="en-US" sz="2800" dirty="0">
                <a:hlinkClick r:id="rId2" action="ppaction://hlinkfile"/>
              </a:rPr>
              <a:t>由</a:t>
            </a:r>
            <a:r>
              <a:rPr lang="en-US" altLang="zh-CN" sz="2800" dirty="0">
                <a:hlinkClick r:id="rId2" action="ppaction://hlinkfile"/>
              </a:rPr>
              <a:t>Qwen3</a:t>
            </a:r>
            <a:r>
              <a:rPr lang="zh-CN" altLang="en-US" sz="2800" dirty="0">
                <a:hlinkClick r:id="rId2" action="ppaction://hlinkfile"/>
              </a:rPr>
              <a:t>生成的网页版简易贪吃蛇游戏</a:t>
            </a:r>
            <a:endParaRPr lang="zh-CN" altLang="en-US" sz="2800" dirty="0"/>
          </a:p>
          <a:p>
            <a:pPr algn="ctr"/>
            <a:endParaRPr lang="zh-CN" altLang="en-US" sz="800" dirty="0"/>
          </a:p>
        </p:txBody>
      </p:sp>
      <p:pic>
        <p:nvPicPr>
          <p:cNvPr id="4" name="图片 3"/>
          <p:cNvPicPr>
            <a:picLocks noChangeAspect="1"/>
          </p:cNvPicPr>
          <p:nvPr/>
        </p:nvPicPr>
        <p:blipFill>
          <a:blip r:embed="rId3"/>
          <a:stretch>
            <a:fillRect/>
          </a:stretch>
        </p:blipFill>
        <p:spPr>
          <a:xfrm>
            <a:off x="6729730" y="1089025"/>
            <a:ext cx="4267200" cy="5086350"/>
          </a:xfrm>
          <a:prstGeom prst="rect">
            <a:avLst/>
          </a:prstGeom>
        </p:spPr>
      </p:pic>
      <p:sp>
        <p:nvSpPr>
          <p:cNvPr id="5" name="灯片编号占位符 4"/>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大模型的高考成绩 </a:t>
            </a:r>
            <a:r>
              <a:rPr lang="en-US" altLang="zh-CN" dirty="0"/>
              <a:t>2025</a:t>
            </a:r>
            <a:endParaRPr lang="zh-CN" altLang="en-US" dirty="0"/>
          </a:p>
        </p:txBody>
      </p:sp>
      <p:pic>
        <p:nvPicPr>
          <p:cNvPr id="4" name="内容占位符 3" descr="61e92dcfedac24a14f1145b842b024f81751019601100"/>
          <p:cNvPicPr>
            <a:picLocks noGrp="1" noChangeAspect="1"/>
          </p:cNvPicPr>
          <p:nvPr>
            <p:ph idx="1"/>
          </p:nvPr>
        </p:nvPicPr>
        <p:blipFill>
          <a:blip r:embed="rId2"/>
          <a:stretch>
            <a:fillRect/>
          </a:stretch>
        </p:blipFill>
        <p:spPr>
          <a:xfrm>
            <a:off x="951865" y="2190115"/>
            <a:ext cx="10287000" cy="2914650"/>
          </a:xfrm>
          <a:prstGeom prst="rect">
            <a:avLst/>
          </a:prstGeom>
        </p:spPr>
      </p:pic>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大模型的竞赛成绩</a:t>
            </a:r>
          </a:p>
        </p:txBody>
      </p:sp>
      <p:pic>
        <p:nvPicPr>
          <p:cNvPr id="4" name="内容占位符 3" descr="1429-74aa9971e72b87cfd591b14e00d3b05d"/>
          <p:cNvPicPr>
            <a:picLocks noGrp="1" noChangeAspect="1"/>
          </p:cNvPicPr>
          <p:nvPr>
            <p:ph idx="1"/>
          </p:nvPr>
        </p:nvPicPr>
        <p:blipFill>
          <a:blip r:embed="rId2"/>
          <a:stretch>
            <a:fillRect/>
          </a:stretch>
        </p:blipFill>
        <p:spPr>
          <a:xfrm>
            <a:off x="748665" y="1602740"/>
            <a:ext cx="10693400" cy="4089400"/>
          </a:xfrm>
          <a:prstGeom prst="rect">
            <a:avLst/>
          </a:prstGeom>
        </p:spPr>
      </p:pic>
      <p:sp>
        <p:nvSpPr>
          <p:cNvPr id="5" name="文本框 4"/>
          <p:cNvSpPr txBox="1"/>
          <p:nvPr/>
        </p:nvSpPr>
        <p:spPr>
          <a:xfrm>
            <a:off x="1927860" y="5877560"/>
            <a:ext cx="1706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高中数学竞赛</a:t>
            </a:r>
          </a:p>
        </p:txBody>
      </p:sp>
      <p:sp>
        <p:nvSpPr>
          <p:cNvPr id="6" name="文本框 5"/>
          <p:cNvSpPr txBox="1"/>
          <p:nvPr/>
        </p:nvSpPr>
        <p:spPr>
          <a:xfrm>
            <a:off x="5644515" y="5877560"/>
            <a:ext cx="1706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代码能力测试</a:t>
            </a:r>
          </a:p>
        </p:txBody>
      </p:sp>
      <p:sp>
        <p:nvSpPr>
          <p:cNvPr id="7" name="文本框 6"/>
          <p:cNvSpPr txBox="1"/>
          <p:nvPr/>
        </p:nvSpPr>
        <p:spPr>
          <a:xfrm>
            <a:off x="8406765" y="5877560"/>
            <a:ext cx="2722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博士水平科学问题回答</a:t>
            </a:r>
          </a:p>
        </p:txBody>
      </p:sp>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AI</a:t>
            </a:r>
            <a:r>
              <a:rPr kumimoji="1" lang="zh-CN" altLang="en-US" dirty="0"/>
              <a:t>应用：文生图</a:t>
            </a:r>
          </a:p>
        </p:txBody>
      </p:sp>
      <p:sp>
        <p:nvSpPr>
          <p:cNvPr id="6" name="文本框 5"/>
          <p:cNvSpPr txBox="1"/>
          <p:nvPr/>
        </p:nvSpPr>
        <p:spPr>
          <a:xfrm>
            <a:off x="724829" y="1304693"/>
            <a:ext cx="4683512" cy="3415030"/>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Stable diffusion</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a:t>
            </a:r>
            <a:r>
              <a:rPr kumimoji="1" lang="en-US" altLang="zh-CN" sz="2400" b="1" i="0" u="none" strike="noStrike" kern="1200" cap="none" spc="0" normalizeH="0" baseline="0" noProof="0" dirty="0" err="1">
                <a:ln>
                  <a:noFill/>
                </a:ln>
                <a:solidFill>
                  <a:srgbClr val="242C2D"/>
                </a:solidFill>
                <a:effectLst/>
                <a:uLnTx/>
                <a:uFillTx/>
                <a:latin typeface="Times New Roman" panose="02020503050405090304" pitchFamily="18" charset="0"/>
                <a:ea typeface="微软雅黑" charset="-122"/>
                <a:cs typeface="+mn-cs"/>
              </a:rPr>
              <a:t>Midjourney</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等可以进行文生图的操作。</a:t>
            </a:r>
            <a:endPar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右图提示词：秋日的森林，满山红叶，金桂飘香，小径蜿蜒，光影斑驳，温暖的色调</a:t>
            </a:r>
            <a:r>
              <a:rPr kumimoji="1" lang="zh-CN" altLang="en-GB"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下</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由</a:t>
            </a:r>
            <a:r>
              <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Stable</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 </a:t>
            </a:r>
            <a:r>
              <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diffusion</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生成。</a:t>
            </a:r>
          </a:p>
        </p:txBody>
      </p:sp>
      <p:pic>
        <p:nvPicPr>
          <p:cNvPr id="4" name="内容占位符 3" descr="6e988c24-0d98-412a-9602-6109a186c5cb"/>
          <p:cNvPicPr>
            <a:picLocks noGrp="1" noChangeAspect="1"/>
          </p:cNvPicPr>
          <p:nvPr>
            <p:ph idx="1"/>
          </p:nvPr>
        </p:nvPicPr>
        <p:blipFill>
          <a:blip r:embed="rId2"/>
          <a:stretch>
            <a:fillRect/>
          </a:stretch>
        </p:blipFill>
        <p:spPr>
          <a:xfrm>
            <a:off x="6946265" y="1156970"/>
            <a:ext cx="4723765" cy="4723765"/>
          </a:xfrm>
          <a:prstGeom prst="rect">
            <a:avLst/>
          </a:prstGeom>
        </p:spPr>
      </p:pic>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sym typeface="+mn-ea"/>
              </a:rPr>
              <a:t>AI</a:t>
            </a:r>
            <a:r>
              <a:rPr kumimoji="1" lang="zh-CN" altLang="en-US" dirty="0">
                <a:sym typeface="+mn-ea"/>
              </a:rPr>
              <a:t>应用：文生图</a:t>
            </a:r>
            <a:endParaRPr lang="zh-CN" altLang="en-US"/>
          </a:p>
        </p:txBody>
      </p:sp>
      <p:pic>
        <p:nvPicPr>
          <p:cNvPr id="4" name="内容占位符 3" descr="1c32f40a-b737-4add-a871-63b95e0247dd"/>
          <p:cNvPicPr>
            <a:picLocks noGrp="1" noChangeAspect="1"/>
          </p:cNvPicPr>
          <p:nvPr>
            <p:ph idx="1"/>
          </p:nvPr>
        </p:nvPicPr>
        <p:blipFill>
          <a:blip r:embed="rId2"/>
          <a:stretch>
            <a:fillRect/>
          </a:stretch>
        </p:blipFill>
        <p:spPr>
          <a:xfrm>
            <a:off x="3952875" y="1288415"/>
            <a:ext cx="3600000" cy="3600000"/>
          </a:xfrm>
          <a:prstGeom prst="rect">
            <a:avLst/>
          </a:prstGeom>
        </p:spPr>
      </p:pic>
      <p:pic>
        <p:nvPicPr>
          <p:cNvPr id="6" name="图片 5" descr="3964990e-bd29-46db-80b6-46afd3980ab8"/>
          <p:cNvPicPr>
            <a:picLocks noChangeAspect="1"/>
          </p:cNvPicPr>
          <p:nvPr/>
        </p:nvPicPr>
        <p:blipFill>
          <a:blip r:embed="rId3"/>
          <a:stretch>
            <a:fillRect/>
          </a:stretch>
        </p:blipFill>
        <p:spPr>
          <a:xfrm>
            <a:off x="8426450" y="1287780"/>
            <a:ext cx="3600000" cy="3600000"/>
          </a:xfrm>
          <a:prstGeom prst="rect">
            <a:avLst/>
          </a:prstGeom>
        </p:spPr>
      </p:pic>
      <p:sp>
        <p:nvSpPr>
          <p:cNvPr id="7" name="文本框 6"/>
          <p:cNvSpPr txBox="1"/>
          <p:nvPr/>
        </p:nvSpPr>
        <p:spPr>
          <a:xfrm>
            <a:off x="4794885" y="5178425"/>
            <a:ext cx="1706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模拟电影风格</a:t>
            </a:r>
          </a:p>
        </p:txBody>
      </p:sp>
      <p:sp>
        <p:nvSpPr>
          <p:cNvPr id="8" name="文本框 7"/>
          <p:cNvSpPr txBox="1"/>
          <p:nvPr/>
        </p:nvSpPr>
        <p:spPr>
          <a:xfrm>
            <a:off x="9627235" y="5178425"/>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漫画风格</a:t>
            </a:r>
          </a:p>
        </p:txBody>
      </p:sp>
      <p:sp>
        <p:nvSpPr>
          <p:cNvPr id="9" name="文本框 8"/>
          <p:cNvSpPr txBox="1"/>
          <p:nvPr/>
        </p:nvSpPr>
        <p:spPr>
          <a:xfrm>
            <a:off x="226060" y="1287780"/>
            <a:ext cx="3319780" cy="2306955"/>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用相同的提示词</a:t>
            </a:r>
            <a:r>
              <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再选用不同的风格</a:t>
            </a:r>
            <a:r>
              <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a:t>
            </a:r>
            <a:r>
              <a:rPr kumimoji="1"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可以生成不同风格的图片</a:t>
            </a:r>
            <a:r>
              <a:rPr kumimoji="1" lang="en-US" altLang="zh-CN"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charset="-122"/>
                <a:cs typeface="+mn-cs"/>
              </a:rPr>
              <a:t>。</a:t>
            </a:r>
          </a:p>
        </p:txBody>
      </p:sp>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AI</a:t>
            </a:r>
            <a:r>
              <a:rPr lang="zh-CN" altLang="en-US"/>
              <a:t>绘画获奖</a:t>
            </a:r>
          </a:p>
        </p:txBody>
      </p:sp>
      <p:sp>
        <p:nvSpPr>
          <p:cNvPr id="7" name="内容占位符 2"/>
          <p:cNvSpPr txBox="1"/>
          <p:nvPr/>
        </p:nvSpPr>
        <p:spPr>
          <a:xfrm>
            <a:off x="713105" y="1224915"/>
            <a:ext cx="10058400" cy="3931920"/>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89992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275"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499995"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900"/>
              </a:spcBef>
              <a:spcAft>
                <a:spcPts val="0"/>
              </a:spcAft>
              <a:buClr>
                <a:sysClr val="windowText" lastClr="000000">
                  <a:lumMod val="85000"/>
                  <a:lumOff val="15000"/>
                </a:sysClr>
              </a:buClr>
              <a:buSzTx/>
              <a:buFont typeface="Garamond" pitchFamily="18" charset="0"/>
              <a:buChar char="◦"/>
              <a:tabLst/>
              <a:defRPr/>
            </a:pPr>
            <a:r>
              <a:rPr kumimoji="0" lang="zh-CN" altLang="en-US" sz="2400" b="0" i="0" u="none" strike="noStrike" kern="1200" cap="none" spc="0" normalizeH="0" baseline="0" noProof="0" dirty="0">
                <a:ln>
                  <a:noFill/>
                </a:ln>
                <a:solidFill>
                  <a:sysClr val="windowText" lastClr="000000"/>
                </a:solidFill>
                <a:effectLst/>
                <a:uLnTx/>
                <a:uFillTx/>
                <a:latin typeface="黑体"/>
                <a:ea typeface="黑体"/>
                <a:cs typeface="+mn-cs"/>
              </a:rPr>
              <a:t>人工智能在数字艺术大赛获奖，</a:t>
            </a:r>
            <a:r>
              <a:rPr kumimoji="0" lang="en-US" altLang="zh-CN" sz="2400" b="0" i="0" u="none" strike="noStrike" kern="1200" cap="none" spc="0" normalizeH="0" baseline="0" noProof="0" dirty="0">
                <a:ln>
                  <a:noFill/>
                </a:ln>
                <a:solidFill>
                  <a:sysClr val="windowText" lastClr="000000"/>
                </a:solidFill>
                <a:effectLst/>
                <a:uLnTx/>
                <a:uFillTx/>
                <a:latin typeface="黑体"/>
                <a:ea typeface="黑体"/>
                <a:cs typeface="+mn-cs"/>
              </a:rPr>
              <a:t>2022</a:t>
            </a:r>
            <a:r>
              <a:rPr kumimoji="0" lang="zh-CN" altLang="en-US" sz="2400" b="0" i="0" u="none" strike="noStrike" kern="1200" cap="none" spc="0" normalizeH="0" baseline="0" noProof="0" dirty="0">
                <a:ln>
                  <a:noFill/>
                </a:ln>
                <a:solidFill>
                  <a:sysClr val="windowText" lastClr="000000"/>
                </a:solidFill>
                <a:effectLst/>
                <a:uLnTx/>
                <a:uFillTx/>
                <a:latin typeface="黑体"/>
                <a:ea typeface="黑体"/>
                <a:cs typeface="+mn-cs"/>
              </a:rPr>
              <a:t>年</a:t>
            </a:r>
            <a:r>
              <a:rPr kumimoji="0" lang="en-US" altLang="zh-CN" sz="2400" b="0" i="0" u="none" strike="noStrike" kern="1200" cap="none" spc="0" normalizeH="0" baseline="0" noProof="0" dirty="0">
                <a:ln>
                  <a:noFill/>
                </a:ln>
                <a:solidFill>
                  <a:sysClr val="windowText" lastClr="000000"/>
                </a:solidFill>
                <a:effectLst/>
                <a:uLnTx/>
                <a:uFillTx/>
                <a:latin typeface="黑体"/>
                <a:ea typeface="黑体"/>
                <a:cs typeface="+mn-cs"/>
              </a:rPr>
              <a:t>8</a:t>
            </a:r>
            <a:r>
              <a:rPr kumimoji="0" lang="zh-CN" altLang="en-US" sz="2400" b="0" i="0" u="none" strike="noStrike" kern="1200" cap="none" spc="0" normalizeH="0" baseline="0" noProof="0" dirty="0">
                <a:ln>
                  <a:noFill/>
                </a:ln>
                <a:solidFill>
                  <a:sysClr val="windowText" lastClr="000000"/>
                </a:solidFill>
                <a:effectLst/>
                <a:uLnTx/>
                <a:uFillTx/>
                <a:latin typeface="黑体"/>
                <a:ea typeface="黑体"/>
                <a:cs typeface="+mn-cs"/>
              </a:rPr>
              <a:t>月美国</a:t>
            </a:r>
            <a:r>
              <a:rPr kumimoji="0" lang="zh-CN" altLang="en-US" sz="2400" b="0" i="0" u="none" strike="noStrike" kern="1200" cap="none" spc="0" normalizeH="0" baseline="0" noProof="0" dirty="0">
                <a:ln>
                  <a:noFill/>
                </a:ln>
                <a:solidFill>
                  <a:srgbClr val="3E3E3E"/>
                </a:solidFill>
                <a:effectLst/>
                <a:uLnTx/>
                <a:uFillTx/>
                <a:latin typeface="黑体"/>
                <a:ea typeface="黑体"/>
                <a:cs typeface="+mn-cs"/>
              </a:rPr>
              <a:t>科罗拉多州博览会</a:t>
            </a:r>
            <a:endParaRPr kumimoji="0" lang="zh-CN" altLang="en-US" sz="2400" b="0" i="0" u="none" strike="noStrike" kern="1200" cap="none" spc="0" normalizeH="0" baseline="0" noProof="0" dirty="0">
              <a:ln>
                <a:noFill/>
              </a:ln>
              <a:solidFill>
                <a:sysClr val="windowText" lastClr="000000"/>
              </a:solidFill>
              <a:effectLst/>
              <a:uLnTx/>
              <a:uFillTx/>
              <a:latin typeface="黑体"/>
              <a:ea typeface="黑体"/>
              <a:cs typeface="+mn-cs"/>
            </a:endParaRPr>
          </a:p>
        </p:txBody>
      </p:sp>
      <p:pic>
        <p:nvPicPr>
          <p:cNvPr id="8" name="Picture 2" descr="https://p3-sign.toutiaoimg.com/tos-cn-i-qvj2lq49k0/cb118ea9e4c94fa9865465fa75c18c4e~noop.image?_iz=58558&amp;from=article.pc_detail&amp;x-expires=1663033578&amp;x-signature=jhu%2Fq8c%2BuJm86y%2FCestIdzLOo1Q%3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615" y="2256998"/>
            <a:ext cx="6317552" cy="340593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8037195" y="2256790"/>
            <a:ext cx="2551430" cy="1938020"/>
          </a:xfrm>
          <a:prstGeom prst="rect">
            <a:avLst/>
          </a:prstGeom>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3E3E3E"/>
                </a:solidFill>
                <a:effectLst/>
                <a:uLnTx/>
                <a:uFillTx/>
                <a:latin typeface="Book Antiqua"/>
                <a:ea typeface="黑体"/>
                <a:cs typeface="+mn-lt"/>
              </a:rPr>
              <a:t>Jason Allen</a:t>
            </a:r>
            <a:r>
              <a:rPr kumimoji="0" lang="zh-CN" altLang="en-US" sz="2000" b="0" i="0" u="none" strike="noStrike" kern="1200" cap="none" spc="0" normalizeH="0" baseline="0" noProof="0" dirty="0">
                <a:ln>
                  <a:noFill/>
                </a:ln>
                <a:solidFill>
                  <a:srgbClr val="3E3E3E"/>
                </a:solidFill>
                <a:effectLst/>
                <a:uLnTx/>
                <a:uFillTx/>
                <a:latin typeface="Book Antiqua"/>
                <a:ea typeface="黑体"/>
                <a:cs typeface="+mn-lt"/>
              </a:rPr>
              <a:t>自己在</a:t>
            </a:r>
            <a:r>
              <a:rPr kumimoji="0" lang="en-US" altLang="zh-CN" sz="2000" b="0" i="0" u="none" strike="noStrike" kern="1200" cap="none" spc="0" normalizeH="0" baseline="0" noProof="0" dirty="0">
                <a:ln>
                  <a:noFill/>
                </a:ln>
                <a:solidFill>
                  <a:srgbClr val="3E3E3E"/>
                </a:solidFill>
                <a:effectLst/>
                <a:uLnTx/>
                <a:uFillTx/>
                <a:latin typeface="Book Antiqua"/>
                <a:ea typeface="黑体"/>
                <a:cs typeface="+mn-lt"/>
              </a:rPr>
              <a:t>Discord</a:t>
            </a:r>
            <a:r>
              <a:rPr kumimoji="0" lang="zh-CN" altLang="en-US" sz="2000" b="0" i="0" u="none" strike="noStrike" kern="1200" cap="none" spc="0" normalizeH="0" baseline="0" noProof="0" dirty="0">
                <a:ln>
                  <a:noFill/>
                </a:ln>
                <a:solidFill>
                  <a:srgbClr val="3E3E3E"/>
                </a:solidFill>
                <a:effectLst/>
                <a:uLnTx/>
                <a:uFillTx/>
                <a:latin typeface="Book Antiqua"/>
                <a:ea typeface="黑体"/>
                <a:cs typeface="+mn-lt"/>
              </a:rPr>
              <a:t>论坛上自曝，这组画是他用人工智能</a:t>
            </a:r>
            <a:r>
              <a:rPr kumimoji="0" lang="en-US" altLang="zh-CN" sz="2000" b="0" i="0" u="none" strike="noStrike" kern="1200" cap="none" spc="0" normalizeH="0" baseline="0" noProof="0" dirty="0" err="1">
                <a:ln>
                  <a:noFill/>
                </a:ln>
                <a:solidFill>
                  <a:srgbClr val="3E3E3E"/>
                </a:solidFill>
                <a:effectLst/>
                <a:uLnTx/>
                <a:uFillTx/>
                <a:latin typeface="Book Antiqua"/>
                <a:ea typeface="黑体"/>
                <a:cs typeface="+mn-lt"/>
              </a:rPr>
              <a:t>Midjourney</a:t>
            </a:r>
            <a:r>
              <a:rPr kumimoji="0" lang="zh-CN" altLang="en-US" sz="2000" b="0" i="0" u="none" strike="noStrike" kern="1200" cap="none" spc="0" normalizeH="0" baseline="0" noProof="0" dirty="0">
                <a:ln>
                  <a:noFill/>
                </a:ln>
                <a:solidFill>
                  <a:srgbClr val="3E3E3E"/>
                </a:solidFill>
                <a:effectLst/>
                <a:uLnTx/>
                <a:uFillTx/>
                <a:latin typeface="Book Antiqua"/>
                <a:ea typeface="黑体"/>
                <a:cs typeface="+mn-lt"/>
              </a:rPr>
              <a:t>画的。</a:t>
            </a:r>
            <a:endParaRPr kumimoji="0" lang="zh-CN" altLang="en-US" sz="2000" b="0" i="0" u="none" strike="noStrike" kern="1200" cap="none" spc="0" normalizeH="0" baseline="0" noProof="0" dirty="0">
              <a:ln>
                <a:noFill/>
              </a:ln>
              <a:solidFill>
                <a:prstClr val="black"/>
              </a:solidFill>
              <a:effectLst/>
              <a:uLnTx/>
              <a:uFillTx/>
              <a:latin typeface="Book Antiqua"/>
              <a:ea typeface="黑体"/>
              <a:cs typeface="+mn-lt"/>
            </a:endParaRPr>
          </a:p>
        </p:txBody>
      </p:sp>
      <p:sp>
        <p:nvSpPr>
          <p:cNvPr id="3" name="灯片编号占位符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AI</a:t>
            </a:r>
            <a:r>
              <a:rPr lang="zh-CN" altLang="en-US"/>
              <a:t>绘画拍卖</a:t>
            </a:r>
          </a:p>
        </p:txBody>
      </p:sp>
      <p:pic>
        <p:nvPicPr>
          <p:cNvPr id="5" name="内容占位符 4" descr="v2-4b1ef11a829063f7db80dd692320b2c7_r"/>
          <p:cNvPicPr>
            <a:picLocks noGrp="1" noChangeAspect="1"/>
          </p:cNvPicPr>
          <p:nvPr>
            <p:ph idx="1"/>
          </p:nvPr>
        </p:nvPicPr>
        <p:blipFill>
          <a:blip r:embed="rId2"/>
          <a:stretch>
            <a:fillRect/>
          </a:stretch>
        </p:blipFill>
        <p:spPr>
          <a:xfrm>
            <a:off x="573405" y="873125"/>
            <a:ext cx="7111365" cy="5334000"/>
          </a:xfrm>
          <a:prstGeom prst="rect">
            <a:avLst/>
          </a:prstGeom>
        </p:spPr>
      </p:pic>
      <p:sp>
        <p:nvSpPr>
          <p:cNvPr id="4" name="灯片编号占位符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
        <p:nvSpPr>
          <p:cNvPr id="6" name="文本框 5"/>
          <p:cNvSpPr txBox="1"/>
          <p:nvPr/>
        </p:nvSpPr>
        <p:spPr>
          <a:xfrm>
            <a:off x="8036560" y="1260475"/>
            <a:ext cx="4067175" cy="3634740"/>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金色边框的由</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 AI </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创作的画作《</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Edmond de Belamy</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》被一位通过电话竞拍的神秘买家以</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 43.25 </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万美元（约合</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 300 </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万人民币）的高价拍下，而此前佳士得对这幅画的估价仅在</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 7000 </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美元至</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 10000 </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美元之间，溢价达</a:t>
            </a:r>
            <a:r>
              <a:rPr kumimoji="0" lang="en-US" altLang="zh-CN" sz="2000" b="0" i="0" u="none" strike="noStrike" kern="1200" cap="none" spc="0" normalizeH="0" baseline="0" noProof="0" dirty="0">
                <a:ln>
                  <a:noFill/>
                </a:ln>
                <a:solidFill>
                  <a:srgbClr val="242C2D"/>
                </a:solidFill>
                <a:effectLst/>
                <a:uLnTx/>
                <a:uFillTx/>
                <a:latin typeface="Book Antiqua"/>
                <a:ea typeface="黑体"/>
                <a:cs typeface="+mn-cs"/>
              </a:rPr>
              <a:t> 40 </a:t>
            </a:r>
            <a:r>
              <a:rPr kumimoji="0" lang="zh-CN" altLang="en-US" sz="2000" b="0" i="0" u="none" strike="noStrike" kern="1200" cap="none" spc="0" normalizeH="0" baseline="0" noProof="0" dirty="0">
                <a:ln>
                  <a:noFill/>
                </a:ln>
                <a:solidFill>
                  <a:srgbClr val="242C2D"/>
                </a:solidFill>
                <a:effectLst/>
                <a:uLnTx/>
                <a:uFillTx/>
                <a:latin typeface="Book Antiqua"/>
                <a:ea typeface="黑体"/>
                <a:cs typeface="+mn-cs"/>
              </a:rPr>
              <a:t>倍之多。</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B61616"/>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B61616"/>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B61616"/>
              </a:solidFill>
              <a:effectLst/>
              <a:uLnTx/>
              <a:uFillTx/>
              <a:latin typeface="Book Antiqua"/>
              <a:ea typeface="黑体"/>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AI</a:t>
            </a:r>
            <a:r>
              <a:rPr kumimoji="1" lang="zh-CN" altLang="en-US" dirty="0"/>
              <a:t>应用：文生视频</a:t>
            </a:r>
          </a:p>
        </p:txBody>
      </p:sp>
      <p:sp>
        <p:nvSpPr>
          <p:cNvPr id="4" name="内容占位符 3"/>
          <p:cNvSpPr>
            <a:spLocks noGrp="1"/>
          </p:cNvSpPr>
          <p:nvPr>
            <p:ph idx="1"/>
          </p:nvPr>
        </p:nvSpPr>
        <p:spPr>
          <a:xfrm>
            <a:off x="381243" y="1317585"/>
            <a:ext cx="4597158" cy="3133646"/>
          </a:xfrm>
        </p:spPr>
        <p:txBody>
          <a:bodyPr>
            <a:normAutofit/>
          </a:bodyPr>
          <a:lstStyle/>
          <a:p>
            <a:pPr marL="342900" indent="-342900">
              <a:lnSpc>
                <a:spcPct val="150000"/>
              </a:lnSpc>
              <a:buFont typeface="Wingdings" panose="05000000000000000000" pitchFamily="2" charset="2"/>
              <a:buChar char="p"/>
            </a:pPr>
            <a:r>
              <a:rPr lang="zh-CN" altLang="en-US" sz="2000" dirty="0">
                <a:latin typeface="Times New Roman" panose="02020503050405090304" pitchFamily="18" charset="0"/>
              </a:rPr>
              <a:t>提示词：一家棕熊围坐在桌子旁，用筷子享用三文鱼刺身。桌上摆着芥末和其他调料。熊爸爸和熊妈妈与他们的两只小熊崽一起，愉快地品尝寿司。</a:t>
            </a:r>
            <a:r>
              <a:rPr lang="en-US" altLang="zh-CN" sz="2000" dirty="0">
                <a:latin typeface="Times New Roman" panose="02020503050405090304" pitchFamily="18" charset="0"/>
              </a:rPr>
              <a:t>（</a:t>
            </a:r>
            <a:r>
              <a:rPr lang="zh-CN" altLang="en-US" sz="2000" dirty="0">
                <a:latin typeface="Times New Roman" panose="02020503050405090304" pitchFamily="18" charset="0"/>
              </a:rPr>
              <a:t>翻译</a:t>
            </a:r>
            <a:r>
              <a:rPr lang="en-US" altLang="zh-CN" sz="2000" dirty="0">
                <a:latin typeface="Times New Roman" panose="02020503050405090304" pitchFamily="18" charset="0"/>
              </a:rPr>
              <a:t>） </a:t>
            </a:r>
          </a:p>
          <a:p>
            <a:pPr marL="342900" indent="-342900">
              <a:lnSpc>
                <a:spcPct val="150000"/>
              </a:lnSpc>
              <a:buFont typeface="Wingdings" panose="05000000000000000000" pitchFamily="2" charset="2"/>
              <a:buChar char="p"/>
            </a:pPr>
            <a:r>
              <a:rPr lang="zh-CN" altLang="en-US" sz="2000" dirty="0">
                <a:latin typeface="Times New Roman" panose="02020503050405090304" pitchFamily="18" charset="0"/>
              </a:rPr>
              <a:t>由 </a:t>
            </a:r>
            <a:r>
              <a:rPr lang="en-US" altLang="zh-CN" sz="2000" dirty="0">
                <a:latin typeface="Times New Roman" panose="02020503050405090304" pitchFamily="18" charset="0"/>
              </a:rPr>
              <a:t>Sora</a:t>
            </a:r>
            <a:r>
              <a:rPr lang="zh-CN" altLang="en-US" sz="2000" dirty="0">
                <a:latin typeface="Times New Roman" panose="02020503050405090304" pitchFamily="18" charset="0"/>
              </a:rPr>
              <a:t> 生成</a:t>
            </a:r>
            <a:endParaRPr lang="en-US" altLang="zh-CN" sz="2000" dirty="0">
              <a:latin typeface="Times New Roman" panose="02020503050405090304" pitchFamily="18" charset="0"/>
            </a:endParaRPr>
          </a:p>
        </p:txBody>
      </p:sp>
      <p:pic>
        <p:nvPicPr>
          <p:cNvPr id="3" name="021-20241207_0322_Bears_ Sushi Feast_storyboard_01jegdnrn2e5p8m4mew6q6215b.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5"/>
          <a:stretch>
            <a:fillRect/>
          </a:stretch>
        </p:blipFill>
        <p:spPr>
          <a:xfrm>
            <a:off x="6461264" y="1059052"/>
            <a:ext cx="4739895" cy="4739895"/>
          </a:xfrm>
          <a:prstGeom prst="rect">
            <a:avLst/>
          </a:prstGeom>
        </p:spPr>
      </p:pic>
      <p:sp>
        <p:nvSpPr>
          <p:cNvPr id="5" name="灯片编号占位符 4"/>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AI</a:t>
            </a:r>
            <a:r>
              <a:rPr lang="zh-CN" altLang="en-US" dirty="0">
                <a:sym typeface="+mn-ea"/>
              </a:rPr>
              <a:t>让绘画动起来</a:t>
            </a:r>
            <a:endParaRPr lang="zh-CN" altLang="en-US" dirty="0"/>
          </a:p>
        </p:txBody>
      </p:sp>
      <p:pic>
        <p:nvPicPr>
          <p:cNvPr id="5" name="内容占位符 4" descr="640 (3)"/>
          <p:cNvPicPr>
            <a:picLocks noGrp="1" noChangeAspect="1"/>
          </p:cNvPicPr>
          <p:nvPr>
            <p:ph idx="1"/>
          </p:nvPr>
        </p:nvPicPr>
        <p:blipFill>
          <a:blip r:embed="rId2"/>
          <a:stretch>
            <a:fillRect/>
          </a:stretch>
        </p:blipFill>
        <p:spPr>
          <a:xfrm>
            <a:off x="3047365" y="1976120"/>
            <a:ext cx="6096000" cy="3343275"/>
          </a:xfrm>
          <a:prstGeom prst="rect">
            <a:avLst/>
          </a:prstGeom>
        </p:spPr>
      </p:pic>
      <p:sp>
        <p:nvSpPr>
          <p:cNvPr id="4" name="灯片编号占位符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sp>
        <p:nvSpPr>
          <p:cNvPr id="7" name="文本框 6"/>
          <p:cNvSpPr txBox="1"/>
          <p:nvPr/>
        </p:nvSpPr>
        <p:spPr>
          <a:xfrm>
            <a:off x="714375" y="1019175"/>
            <a:ext cx="1960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梵高</a:t>
            </a:r>
            <a:r>
              <a:rPr kumimoji="0" lang="en-US" altLang="zh-CN" sz="2000" b="0" i="0" u="none" strike="noStrike" kern="1200" cap="none" spc="0" normalizeH="0" baseline="0" noProof="0" dirty="0">
                <a:ln>
                  <a:noFill/>
                </a:ln>
                <a:solidFill>
                  <a:srgbClr val="B61616"/>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蒙娜丽莎</a:t>
            </a:r>
          </a:p>
        </p:txBody>
      </p:sp>
      <p:sp>
        <p:nvSpPr>
          <p:cNvPr id="3" name="文本框 2"/>
          <p:cNvSpPr txBox="1"/>
          <p:nvPr/>
        </p:nvSpPr>
        <p:spPr>
          <a:xfrm>
            <a:off x="740410" y="6304598"/>
            <a:ext cx="5080000" cy="583565"/>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Book Antiqua"/>
                <a:ea typeface="黑体"/>
                <a:cs typeface="+mn-cs"/>
              </a:rPr>
              <a:t>https://youtu.be/cXn1O4zNK4Q</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Book Antiqua"/>
                <a:ea typeface="黑体"/>
                <a:cs typeface="+mn-cs"/>
              </a:rPr>
              <a:t>https://youtu.be/0otyrdbCTPk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057247"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一、大模型的发展</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二、大模型中的一些现象</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3057247"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三、大模型的应用</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3161058"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四、大模型的推理</a:t>
            </a:r>
          </a:p>
        </p:txBody>
      </p:sp>
    </p:spTree>
    <p:extLst>
      <p:ext uri="{BB962C8B-B14F-4D97-AF65-F5344CB8AC3E}">
        <p14:creationId xmlns:p14="http://schemas.microsoft.com/office/powerpoint/2010/main" val="3857515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BD08F-6C1B-A750-82B9-25F61E74D8E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CF298BD-620F-3C74-96E5-291BB79709CE}"/>
              </a:ext>
            </a:extLst>
          </p:cNvPr>
          <p:cNvSpPr>
            <a:spLocks noGrp="1"/>
          </p:cNvSpPr>
          <p:nvPr>
            <p:ph type="title"/>
          </p:nvPr>
        </p:nvSpPr>
        <p:spPr/>
        <p:txBody>
          <a:bodyPr/>
          <a:lstStyle/>
          <a:p>
            <a:r>
              <a:rPr lang="zh-CN" altLang="en-US" dirty="0"/>
              <a:t>大模型推理的基础概念</a:t>
            </a:r>
          </a:p>
        </p:txBody>
      </p:sp>
      <p:sp>
        <p:nvSpPr>
          <p:cNvPr id="8" name="文本框 7">
            <a:extLst>
              <a:ext uri="{FF2B5EF4-FFF2-40B4-BE49-F238E27FC236}">
                <a16:creationId xmlns:a16="http://schemas.microsoft.com/office/drawing/2014/main" id="{4380B3B6-A514-E20A-698E-81602D1EC50C}"/>
              </a:ext>
            </a:extLst>
          </p:cNvPr>
          <p:cNvSpPr txBox="1"/>
          <p:nvPr/>
        </p:nvSpPr>
        <p:spPr>
          <a:xfrm>
            <a:off x="381242" y="1086053"/>
            <a:ext cx="5915386" cy="113505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mn-cs"/>
              </a:rPr>
              <a:t>推理能力：模型从输入数据中提取信息、进行逻辑推断并生成合理输出的能力。</a:t>
            </a:r>
            <a:endPar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742A3F69-5CAB-5F5C-07D3-110CD9010A9F}"/>
              </a:ext>
            </a:extLst>
          </p:cNvPr>
          <p:cNvSpPr txBox="1"/>
          <p:nvPr/>
        </p:nvSpPr>
        <p:spPr>
          <a:xfrm>
            <a:off x="682184" y="3561853"/>
            <a:ext cx="4619021" cy="1173526"/>
          </a:xfrm>
          <a:prstGeom prst="rect">
            <a:avLst/>
          </a:prstGeom>
          <a:noFill/>
        </p:spPr>
        <p:txBody>
          <a:bodyPr wrap="square">
            <a:spAutoFit/>
          </a:bodyPr>
          <a:lstStyle/>
          <a:p>
            <a:pPr marL="0" marR="0" lvl="0" indent="0" algn="ctr" defTabSz="914400" rtl="0" eaLnBrk="1" fontAlgn="auto" latinLnBrk="0" hangingPunct="1">
              <a:lnSpc>
                <a:spcPct val="150000"/>
              </a:lnSpc>
              <a:spcBef>
                <a:spcPts val="300"/>
              </a:spcBef>
              <a:spcAft>
                <a:spcPts val="0"/>
              </a:spcAft>
              <a:buClrTx/>
              <a:buSzTx/>
              <a:buFontTx/>
              <a:buNone/>
              <a:tabLst/>
              <a:defRPr/>
            </a:pPr>
            <a:r>
              <a:rPr kumimoji="0" lang="zh-CN" altLang="en-US" sz="24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mn-cs"/>
              </a:rPr>
              <a:t>类比人类思维</a:t>
            </a:r>
            <a:endParaRPr kumimoji="0" lang="en-US" altLang="zh-CN" sz="2400" b="1"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300"/>
              </a:spcBef>
              <a:spcAft>
                <a:spcPts val="0"/>
              </a:spcAft>
              <a:buClrTx/>
              <a:buSzTx/>
              <a:buFontTx/>
              <a:buNone/>
              <a:tabLst/>
              <a:defRPr/>
            </a:pPr>
            <a:r>
              <a:rPr kumimoji="0" lang="zh-CN" altLang="en-US" sz="2400" b="0" i="0" u="none" strike="noStrike" kern="1200" cap="none" spc="0" normalizeH="0" baseline="0" noProof="0" dirty="0">
                <a:ln>
                  <a:noFill/>
                </a:ln>
                <a:solidFill>
                  <a:srgbClr val="404040"/>
                </a:solidFill>
                <a:effectLst/>
                <a:uLnTx/>
                <a:uFillTx/>
                <a:latin typeface="微软雅黑" panose="020B0503020204020204" pitchFamily="34" charset="-122"/>
                <a:ea typeface="微软雅黑" panose="020B0503020204020204" pitchFamily="34" charset="-122"/>
                <a:cs typeface="+mn-cs"/>
              </a:rPr>
              <a:t>假设验证、逻辑推导、归纳总结。</a:t>
            </a:r>
          </a:p>
        </p:txBody>
      </p:sp>
      <p:pic>
        <p:nvPicPr>
          <p:cNvPr id="12" name="图片 11">
            <a:extLst>
              <a:ext uri="{FF2B5EF4-FFF2-40B4-BE49-F238E27FC236}">
                <a16:creationId xmlns:a16="http://schemas.microsoft.com/office/drawing/2014/main" id="{0834177B-ECB9-269D-C25B-BB9A047657ED}"/>
              </a:ext>
            </a:extLst>
          </p:cNvPr>
          <p:cNvPicPr>
            <a:picLocks noChangeAspect="1"/>
          </p:cNvPicPr>
          <p:nvPr/>
        </p:nvPicPr>
        <p:blipFill>
          <a:blip r:embed="rId2"/>
          <a:srcRect r="31055"/>
          <a:stretch/>
        </p:blipFill>
        <p:spPr>
          <a:xfrm>
            <a:off x="8177514" y="1179377"/>
            <a:ext cx="3854369" cy="4764951"/>
          </a:xfrm>
          <a:prstGeom prst="rect">
            <a:avLst/>
          </a:prstGeom>
        </p:spPr>
      </p:pic>
      <p:sp>
        <p:nvSpPr>
          <p:cNvPr id="13" name="对话气泡: 圆角矩形 12">
            <a:extLst>
              <a:ext uri="{FF2B5EF4-FFF2-40B4-BE49-F238E27FC236}">
                <a16:creationId xmlns:a16="http://schemas.microsoft.com/office/drawing/2014/main" id="{A4370852-421B-824F-6B0D-D4C4204E7248}"/>
              </a:ext>
            </a:extLst>
          </p:cNvPr>
          <p:cNvSpPr/>
          <p:nvPr/>
        </p:nvSpPr>
        <p:spPr>
          <a:xfrm>
            <a:off x="5960963" y="1249449"/>
            <a:ext cx="2095018" cy="3387445"/>
          </a:xfrm>
          <a:prstGeom prst="wedgeRoundRectCallout">
            <a:avLst>
              <a:gd name="adj1" fmla="val 44417"/>
              <a:gd name="adj2" fmla="val 63696"/>
              <a:gd name="adj3" fmla="val 16667"/>
            </a:avLst>
          </a:prstGeom>
          <a:solidFill>
            <a:schemeClr val="accent6">
              <a:lumMod val="20000"/>
              <a:lumOff val="80000"/>
            </a:schemeClr>
          </a:solidFill>
          <a:ln/>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Book Antiqua"/>
              <a:ea typeface="黑体"/>
              <a:cs typeface="+mn-cs"/>
            </a:endParaRPr>
          </a:p>
        </p:txBody>
      </p:sp>
      <p:sp>
        <p:nvSpPr>
          <p:cNvPr id="14" name="文本框 13">
            <a:extLst>
              <a:ext uri="{FF2B5EF4-FFF2-40B4-BE49-F238E27FC236}">
                <a16:creationId xmlns:a16="http://schemas.microsoft.com/office/drawing/2014/main" id="{595A8203-33B1-E12E-F8CC-6CDFDBB45968}"/>
              </a:ext>
            </a:extLst>
          </p:cNvPr>
          <p:cNvSpPr txBox="1"/>
          <p:nvPr/>
        </p:nvSpPr>
        <p:spPr>
          <a:xfrm>
            <a:off x="6083728" y="1350994"/>
            <a:ext cx="1849488" cy="328590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甲乙丙三个人</a:t>
            </a:r>
            <a:r>
              <a:rPr kumimoji="0" lang="zh-CN" altLang="en-US" sz="1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其中一个是小偷 </a:t>
            </a:r>
            <a:endParaRPr kumimoji="0" lang="en-US" altLang="zh-CN" sz="1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甲说：乙是小偷 </a:t>
            </a:r>
            <a:endParaRPr kumimoji="0" lang="en-US" altLang="zh-CN"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乙说：我不是小偷 </a:t>
            </a:r>
            <a:endParaRPr kumimoji="0" lang="en-US" altLang="zh-CN"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丙说：我也不是小偷 </a:t>
            </a:r>
            <a:endParaRPr kumimoji="0" lang="en-US" altLang="zh-CN"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三个人</a:t>
            </a:r>
            <a:r>
              <a:rPr kumimoji="0" lang="zh-CN" altLang="en-US" sz="1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只有一个人说的是真话</a:t>
            </a: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！请问甲乙丙谁是小偷</a:t>
            </a:r>
          </a:p>
        </p:txBody>
      </p:sp>
      <p:sp>
        <p:nvSpPr>
          <p:cNvPr id="15" name="文本框 14">
            <a:extLst>
              <a:ext uri="{FF2B5EF4-FFF2-40B4-BE49-F238E27FC236}">
                <a16:creationId xmlns:a16="http://schemas.microsoft.com/office/drawing/2014/main" id="{6AE661D1-FEC1-0EBE-9A35-143C55C27A75}"/>
              </a:ext>
            </a:extLst>
          </p:cNvPr>
          <p:cNvSpPr txBox="1"/>
          <p:nvPr/>
        </p:nvSpPr>
        <p:spPr>
          <a:xfrm>
            <a:off x="9109276" y="819674"/>
            <a:ext cx="168828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Book Antiqua"/>
                <a:ea typeface="黑体"/>
                <a:cs typeface="+mn-cs"/>
              </a:rPr>
              <a:t>ChatGPT O1</a:t>
            </a:r>
            <a:endParaRPr kumimoji="0" lang="zh-CN" altLang="en-US" sz="2000" b="1" i="0" u="none" strike="noStrike" kern="1200" cap="none" spc="0" normalizeH="0" baseline="0" noProof="0" dirty="0">
              <a:ln>
                <a:noFill/>
              </a:ln>
              <a:solidFill>
                <a:srgbClr val="242C2D"/>
              </a:solidFill>
              <a:effectLst/>
              <a:uLnTx/>
              <a:uFillTx/>
              <a:latin typeface="Book Antiqua"/>
              <a:ea typeface="黑体"/>
              <a:cs typeface="+mn-cs"/>
            </a:endParaRPr>
          </a:p>
        </p:txBody>
      </p:sp>
    </p:spTree>
    <p:extLst>
      <p:ext uri="{BB962C8B-B14F-4D97-AF65-F5344CB8AC3E}">
        <p14:creationId xmlns:p14="http://schemas.microsoft.com/office/powerpoint/2010/main" val="36914298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01B91-FF7D-9AC3-3111-2FC0974F673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8BB3FD5-E614-F87B-602D-304E92F46CBD}"/>
              </a:ext>
            </a:extLst>
          </p:cNvPr>
          <p:cNvSpPr>
            <a:spLocks noGrp="1"/>
          </p:cNvSpPr>
          <p:nvPr>
            <p:ph type="title"/>
          </p:nvPr>
        </p:nvSpPr>
        <p:spPr/>
        <p:txBody>
          <a:bodyPr/>
          <a:lstStyle/>
          <a:p>
            <a:r>
              <a:rPr lang="zh-CN" altLang="en-US" dirty="0"/>
              <a:t>推理任务的四大类型</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65B26C1-4E27-571E-4EEB-6C38DC4623F4}"/>
                  </a:ext>
                </a:extLst>
              </p:cNvPr>
              <p:cNvSpPr txBox="1"/>
              <p:nvPr/>
            </p:nvSpPr>
            <p:spPr>
              <a:xfrm>
                <a:off x="381242" y="1120148"/>
                <a:ext cx="11187654" cy="4459041"/>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逻辑推理：</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示例：三段论推理（若</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 → B</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B → C</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，则</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 → C</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数学推理：</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示例：求解方程 </a:t>
                </a:r>
                <a14:m>
                  <m:oMath xmlns:m="http://schemas.openxmlformats.org/officeDocument/2006/math">
                    <m:r>
                      <a:rPr kumimoji="0" lang="en-US" altLang="zh-CN" sz="2400" b="0" i="1" u="none" strike="noStrike" kern="1200" cap="none" spc="0" normalizeH="0" baseline="0" noProof="0" dirty="0" smtClean="0">
                        <a:ln>
                          <a:noFill/>
                        </a:ln>
                        <a:solidFill>
                          <a:srgbClr val="242C2D"/>
                        </a:solidFill>
                        <a:effectLst/>
                        <a:uLnTx/>
                        <a:uFillTx/>
                        <a:latin typeface="Cambria Math" panose="02040503050406030204" pitchFamily="18" charset="0"/>
                        <a:ea typeface="微软雅黑" panose="020B0503020204020204" pitchFamily="34" charset="-122"/>
                        <a:cs typeface="+mn-cs"/>
                      </a:rPr>
                      <m:t>2</m:t>
                    </m:r>
                    <m:r>
                      <a:rPr kumimoji="0" lang="en-US" altLang="zh-CN" sz="2400" b="0" i="1" u="none" strike="noStrike" kern="1200" cap="none" spc="0" normalizeH="0" baseline="0" noProof="0" dirty="0" smtClean="0">
                        <a:ln>
                          <a:noFill/>
                        </a:ln>
                        <a:solidFill>
                          <a:srgbClr val="242C2D"/>
                        </a:solidFill>
                        <a:effectLst/>
                        <a:uLnTx/>
                        <a:uFillTx/>
                        <a:latin typeface="Cambria Math" panose="02040503050406030204" pitchFamily="18" charset="0"/>
                        <a:ea typeface="微软雅黑" panose="020B0503020204020204" pitchFamily="34" charset="-122"/>
                        <a:cs typeface="+mn-cs"/>
                      </a:rPr>
                      <m:t>𝑥</m:t>
                    </m:r>
                    <m:r>
                      <a:rPr kumimoji="0" lang="en-US" altLang="zh-CN" sz="2400" b="0" i="1" u="none" strike="noStrike" kern="1200" cap="none" spc="0" normalizeH="0" baseline="0" noProof="0" dirty="0" smtClean="0">
                        <a:ln>
                          <a:noFill/>
                        </a:ln>
                        <a:solidFill>
                          <a:srgbClr val="242C2D"/>
                        </a:solidFill>
                        <a:effectLst/>
                        <a:uLnTx/>
                        <a:uFillTx/>
                        <a:latin typeface="Cambria Math" panose="02040503050406030204" pitchFamily="18" charset="0"/>
                        <a:ea typeface="微软雅黑" panose="020B0503020204020204" pitchFamily="34" charset="-122"/>
                        <a:cs typeface="+mn-cs"/>
                      </a:rPr>
                      <m:t> + 3 = 11</m:t>
                    </m:r>
                  </m:oMath>
                </a14:m>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常识推理：</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示例：问答“为什么天空是蓝色的？”（需物理常识）。</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因果推理：</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示例：分析“吸烟是否导致肺癌？”（因果链推断）。</a:t>
                </a:r>
              </a:p>
            </p:txBody>
          </p:sp>
        </mc:Choice>
        <mc:Fallback xmlns="">
          <p:sp>
            <p:nvSpPr>
              <p:cNvPr id="5" name="文本框 4">
                <a:extLst>
                  <a:ext uri="{FF2B5EF4-FFF2-40B4-BE49-F238E27FC236}">
                    <a16:creationId xmlns:a16="http://schemas.microsoft.com/office/drawing/2014/main" id="{465B26C1-4E27-571E-4EEB-6C38DC4623F4}"/>
                  </a:ext>
                </a:extLst>
              </p:cNvPr>
              <p:cNvSpPr txBox="1">
                <a:spLocks noRot="1" noChangeAspect="1" noMove="1" noResize="1" noEditPoints="1" noAdjustHandles="1" noChangeArrowheads="1" noChangeShapeType="1" noTextEdit="1"/>
              </p:cNvSpPr>
              <p:nvPr/>
            </p:nvSpPr>
            <p:spPr>
              <a:xfrm>
                <a:off x="381242" y="1120148"/>
                <a:ext cx="11187654" cy="4459041"/>
              </a:xfrm>
              <a:prstGeom prst="rect">
                <a:avLst/>
              </a:prstGeom>
              <a:blipFill>
                <a:blip r:embed="rId4"/>
                <a:stretch>
                  <a:fillRect l="-763" b="-23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89097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D7F7A-8021-89C1-C3A9-A48442EEC8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BD536F-5097-1201-5522-172A38D3A79E}"/>
              </a:ext>
            </a:extLst>
          </p:cNvPr>
          <p:cNvSpPr>
            <a:spLocks noGrp="1"/>
          </p:cNvSpPr>
          <p:nvPr>
            <p:ph type="title"/>
          </p:nvPr>
        </p:nvSpPr>
        <p:spPr/>
        <p:txBody>
          <a:bodyPr/>
          <a:lstStyle/>
          <a:p>
            <a:r>
              <a:rPr lang="zh-CN" altLang="en-US" dirty="0"/>
              <a:t>推理能力的评估方法</a:t>
            </a:r>
          </a:p>
        </p:txBody>
      </p:sp>
      <p:sp>
        <p:nvSpPr>
          <p:cNvPr id="9" name="文本框 8">
            <a:extLst>
              <a:ext uri="{FF2B5EF4-FFF2-40B4-BE49-F238E27FC236}">
                <a16:creationId xmlns:a16="http://schemas.microsoft.com/office/drawing/2014/main" id="{6840B234-2FB6-F262-D277-D7AA09FAFD3A}"/>
              </a:ext>
            </a:extLst>
          </p:cNvPr>
          <p:cNvSpPr txBox="1"/>
          <p:nvPr/>
        </p:nvSpPr>
        <p:spPr>
          <a:xfrm>
            <a:off x="381242" y="1221869"/>
            <a:ext cx="10406363" cy="4746941"/>
          </a:xfrm>
          <a:prstGeom prst="rect">
            <a:avLst/>
          </a:prstGeom>
          <a:noFill/>
        </p:spPr>
        <p:txBody>
          <a:bodyPr wrap="square">
            <a:spAutoFit/>
          </a:bodyPr>
          <a:lstStyle/>
          <a:p>
            <a:pPr marL="0" marR="0" lvl="0" indent="0" algn="l" defTabSz="914400" rtl="0" eaLnBrk="1" fontAlgn="auto" latinLnBrk="0" hangingPunct="1">
              <a:lnSpc>
                <a:spcPct val="150000"/>
              </a:lnSpc>
              <a:spcBef>
                <a:spcPts val="180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标准基准测试</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1800"/>
              </a:spcBef>
              <a:spcAft>
                <a:spcPts val="0"/>
              </a:spcAft>
              <a:buClrTx/>
              <a:buSzTx/>
              <a:buFont typeface="Wingdings" panose="05000000000000000000" pitchFamily="2" charset="2"/>
              <a:buChar char="p"/>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MMLU</a:t>
            </a: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（多任务语言理解）</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MMLU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是一个综合性的基准测试，涵盖了 </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57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个不同领域的多项选择题，旨在评估模型在多种知识领域的语言理解和推理能力。</a:t>
            </a:r>
            <a:endPar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180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举例（中译，大学化学题目）：</a:t>
            </a:r>
            <a:endParaRPr kumimoji="0" lang="en-US" altLang="zh-CN"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关于镧系元素，下列说法中哪一项是不正确的？</a:t>
            </a:r>
            <a:endPar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）镧系元素最常见的氧化态是 </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+ 3</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B</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）镧系配合物通常具有较高的配位数（</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&gt;6</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C</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）所有镧系元素都能与酸溶液反应释放出氢气。</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D</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）镧系元素的原子半径从 </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La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到 </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Lu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随着周期的推进而增大。</a:t>
            </a:r>
            <a:endPar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951298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3260-0406-BA4D-BE9A-CA9A1786B4E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970E12-8F1E-6CA8-42D1-D2F4D6738FA1}"/>
              </a:ext>
            </a:extLst>
          </p:cNvPr>
          <p:cNvSpPr>
            <a:spLocks noGrp="1"/>
          </p:cNvSpPr>
          <p:nvPr>
            <p:ph type="title"/>
          </p:nvPr>
        </p:nvSpPr>
        <p:spPr/>
        <p:txBody>
          <a:bodyPr/>
          <a:lstStyle/>
          <a:p>
            <a:r>
              <a:rPr lang="zh-CN" altLang="en-US" dirty="0"/>
              <a:t>推理能力的评估方法</a:t>
            </a:r>
          </a:p>
        </p:txBody>
      </p:sp>
      <p:sp>
        <p:nvSpPr>
          <p:cNvPr id="9" name="文本框 8">
            <a:extLst>
              <a:ext uri="{FF2B5EF4-FFF2-40B4-BE49-F238E27FC236}">
                <a16:creationId xmlns:a16="http://schemas.microsoft.com/office/drawing/2014/main" id="{26124964-8BA8-7FB0-723C-0B58826DCDD9}"/>
              </a:ext>
            </a:extLst>
          </p:cNvPr>
          <p:cNvSpPr txBox="1"/>
          <p:nvPr/>
        </p:nvSpPr>
        <p:spPr>
          <a:xfrm>
            <a:off x="381242" y="1221869"/>
            <a:ext cx="10406363" cy="3823611"/>
          </a:xfrm>
          <a:prstGeom prst="rect">
            <a:avLst/>
          </a:prstGeom>
          <a:noFill/>
        </p:spPr>
        <p:txBody>
          <a:bodyPr wrap="square">
            <a:spAutoFit/>
          </a:bodyPr>
          <a:lstStyle/>
          <a:p>
            <a:pPr marL="0" marR="0" lvl="0" indent="0" algn="l" defTabSz="914400" rtl="0" eaLnBrk="1" fontAlgn="auto" latinLnBrk="0" hangingPunct="1">
              <a:lnSpc>
                <a:spcPct val="150000"/>
              </a:lnSpc>
              <a:spcBef>
                <a:spcPts val="180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标准基准测试</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1800"/>
              </a:spcBef>
              <a:spcAft>
                <a:spcPts val="0"/>
              </a:spcAft>
              <a:buClrTx/>
              <a:buSzTx/>
              <a:buFont typeface="Wingdings" panose="05000000000000000000" pitchFamily="2" charset="2"/>
              <a:buChar char="p"/>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GSM8K</a:t>
            </a: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（数学推理）</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GSM8K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专注于数学推理能力的评估，包含 </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8000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个高质量的小学数学文字问题，模型需要通过逻辑推理和数学计算来解决这些问题。</a:t>
            </a:r>
            <a:endPar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180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举例（中译）：</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问题：林夫人每天给奶牛挤两次奶。昨天早上，她挤了</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68</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加仑牛奶，晚上挤了</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82</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加仑。今天早上，她挤的牛奶比昨天早上少</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18</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加仑。下午卖掉一些牛奶后，林夫人只剩下</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24</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加仑。如果每加仑牛奶售价</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3.50</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美元，她卖牛奶的收入是多少？</a:t>
            </a:r>
          </a:p>
          <a:p>
            <a:pPr marL="457200" marR="0" lvl="1"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878759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3E4F0-57B7-7113-9E05-42FB958161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25F2A6-5F0D-A82F-E161-AA9BBE44C33F}"/>
              </a:ext>
            </a:extLst>
          </p:cNvPr>
          <p:cNvSpPr>
            <a:spLocks noGrp="1"/>
          </p:cNvSpPr>
          <p:nvPr>
            <p:ph type="title"/>
          </p:nvPr>
        </p:nvSpPr>
        <p:spPr/>
        <p:txBody>
          <a:bodyPr/>
          <a:lstStyle/>
          <a:p>
            <a:r>
              <a:rPr lang="zh-CN" altLang="en-US" dirty="0"/>
              <a:t>推理能力的评估方法</a:t>
            </a:r>
          </a:p>
        </p:txBody>
      </p:sp>
      <p:sp>
        <p:nvSpPr>
          <p:cNvPr id="9" name="文本框 8">
            <a:extLst>
              <a:ext uri="{FF2B5EF4-FFF2-40B4-BE49-F238E27FC236}">
                <a16:creationId xmlns:a16="http://schemas.microsoft.com/office/drawing/2014/main" id="{7CDE188A-5962-1C91-CF8B-83AE17FADD64}"/>
              </a:ext>
            </a:extLst>
          </p:cNvPr>
          <p:cNvSpPr txBox="1"/>
          <p:nvPr/>
        </p:nvSpPr>
        <p:spPr>
          <a:xfrm>
            <a:off x="381242" y="1221869"/>
            <a:ext cx="10406363" cy="5208605"/>
          </a:xfrm>
          <a:prstGeom prst="rect">
            <a:avLst/>
          </a:prstGeom>
          <a:noFill/>
        </p:spPr>
        <p:txBody>
          <a:bodyPr wrap="square">
            <a:spAutoFit/>
          </a:bodyPr>
          <a:lstStyle/>
          <a:p>
            <a:pPr marL="0" marR="0" lvl="0" indent="0" algn="l" defTabSz="914400" rtl="0" eaLnBrk="1" fontAlgn="auto" latinLnBrk="0" hangingPunct="1">
              <a:lnSpc>
                <a:spcPct val="150000"/>
              </a:lnSpc>
              <a:spcBef>
                <a:spcPts val="180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标准基准测试</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1800"/>
              </a:spcBef>
              <a:spcAft>
                <a:spcPts val="0"/>
              </a:spcAft>
              <a:buClrTx/>
              <a:buSzTx/>
              <a:buFont typeface="Wingdings" panose="05000000000000000000" pitchFamily="2" charset="2"/>
              <a:buChar char="p"/>
              <a:tabLst/>
              <a:defRPr/>
            </a:pPr>
            <a:r>
              <a:rPr kumimoji="0" lang="en-US" altLang="zh-CN" sz="2000" b="1" i="0" u="none" strike="noStrike" kern="1200" cap="none" spc="0" normalizeH="0" baseline="0" noProof="0" dirty="0" err="1">
                <a:ln>
                  <a:noFill/>
                </a:ln>
                <a:solidFill>
                  <a:srgbClr val="242C2D"/>
                </a:solidFill>
                <a:effectLst/>
                <a:uLnTx/>
                <a:uFillTx/>
                <a:latin typeface="微软雅黑" panose="020B0503020204020204" pitchFamily="34" charset="-122"/>
                <a:ea typeface="微软雅黑" panose="020B0503020204020204" pitchFamily="34" charset="-122"/>
                <a:cs typeface="+mn-cs"/>
              </a:rPr>
              <a:t>HumanEval</a:t>
            </a: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（编程任务）</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err="1">
                <a:ln>
                  <a:noFill/>
                </a:ln>
                <a:solidFill>
                  <a:srgbClr val="242C2D"/>
                </a:solidFill>
                <a:effectLst/>
                <a:uLnTx/>
                <a:uFillTx/>
                <a:latin typeface="微软雅黑" panose="020B0503020204020204" pitchFamily="34" charset="-122"/>
                <a:ea typeface="微软雅黑" panose="020B0503020204020204" pitchFamily="34" charset="-122"/>
                <a:cs typeface="+mn-cs"/>
              </a:rPr>
              <a:t>HumanEval</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是用于评估模型编程能力的基准测试，包含一系列编程问题，模型需要编写能正确运行的代码来完成这些任务。</a:t>
            </a:r>
            <a:endPar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180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举例：</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def multiply(a, b):</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"""Complete the function that takes two integers and returns the product of their unit digits. Assume the input is always valid.</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Examples:</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multiply(148, 412) should return 16.</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multiply(19, 28) should return 72.</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257546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26EE5-CE99-8877-6B26-C75917C888D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2BC3F85-2945-3B4F-6B21-688AE29BCA7E}"/>
              </a:ext>
            </a:extLst>
          </p:cNvPr>
          <p:cNvSpPr>
            <a:spLocks noGrp="1"/>
          </p:cNvSpPr>
          <p:nvPr>
            <p:ph type="title"/>
          </p:nvPr>
        </p:nvSpPr>
        <p:spPr/>
        <p:txBody>
          <a:bodyPr/>
          <a:lstStyle/>
          <a:p>
            <a:r>
              <a:rPr lang="zh-CN" altLang="en-US" dirty="0"/>
              <a:t>推理能力的评估方法</a:t>
            </a:r>
          </a:p>
        </p:txBody>
      </p:sp>
      <p:sp>
        <p:nvSpPr>
          <p:cNvPr id="9" name="文本框 8">
            <a:extLst>
              <a:ext uri="{FF2B5EF4-FFF2-40B4-BE49-F238E27FC236}">
                <a16:creationId xmlns:a16="http://schemas.microsoft.com/office/drawing/2014/main" id="{79FBCFBD-B1FA-798B-BC2F-79704190B594}"/>
              </a:ext>
            </a:extLst>
          </p:cNvPr>
          <p:cNvSpPr txBox="1"/>
          <p:nvPr/>
        </p:nvSpPr>
        <p:spPr>
          <a:xfrm>
            <a:off x="381242" y="1493874"/>
            <a:ext cx="10406363" cy="3658822"/>
          </a:xfrm>
          <a:prstGeom prst="rect">
            <a:avLst/>
          </a:prstGeom>
          <a:noFill/>
        </p:spPr>
        <p:txBody>
          <a:bodyPr wrap="square">
            <a:spAutoFit/>
          </a:bodyPr>
          <a:lstStyle/>
          <a:p>
            <a:pPr marL="0" marR="0" lvl="0" indent="0" algn="l" defTabSz="914400" rtl="0" eaLnBrk="1" fontAlgn="auto" latinLnBrk="0" hangingPunct="1">
              <a:lnSpc>
                <a:spcPct val="150000"/>
              </a:lnSpc>
              <a:spcBef>
                <a:spcPts val="120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人工评估</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1200"/>
              </a:spcBef>
              <a:spcAft>
                <a:spcPts val="0"/>
              </a:spcAft>
              <a:buClrTx/>
              <a:buSzTx/>
              <a:buFont typeface="Wingdings" panose="05000000000000000000" pitchFamily="2" charset="2"/>
              <a:buChar char="p"/>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解释人工评估是通过人类专家或专业人员对模型的推理结果进行评分，以衡量模型推理质量的方法。强调人类评分可以从多个维度进行，如推理的准确性、逻辑性、合理性等。</a:t>
            </a:r>
            <a:endPar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1200"/>
              </a:spcBef>
              <a:spcAft>
                <a:spcPts val="0"/>
              </a:spcAft>
              <a:buClrTx/>
              <a:buSzTx/>
              <a:buFont typeface="Wingdings" panose="05000000000000000000" pitchFamily="2" charset="2"/>
              <a:buChar char="p"/>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展示人工评估的流程示意图，从收集模型推理结果到人类专家进行评分，最后汇总评分数据得出评估结论。</a:t>
            </a:r>
          </a:p>
        </p:txBody>
      </p:sp>
    </p:spTree>
    <p:extLst>
      <p:ext uri="{BB962C8B-B14F-4D97-AF65-F5344CB8AC3E}">
        <p14:creationId xmlns:p14="http://schemas.microsoft.com/office/powerpoint/2010/main" val="3630405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8FFA-1261-A399-551C-3941795A3795}"/>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C729226A-AB09-13D0-BAE0-4D245D1C447C}"/>
              </a:ext>
            </a:extLst>
          </p:cNvPr>
          <p:cNvSpPr txBox="1"/>
          <p:nvPr/>
        </p:nvSpPr>
        <p:spPr>
          <a:xfrm>
            <a:off x="2002577" y="2551837"/>
            <a:ext cx="8186857"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参数初始化对模型推理能力影响的例子</a:t>
            </a:r>
          </a:p>
        </p:txBody>
      </p:sp>
    </p:spTree>
    <p:extLst>
      <p:ext uri="{BB962C8B-B14F-4D97-AF65-F5344CB8AC3E}">
        <p14:creationId xmlns:p14="http://schemas.microsoft.com/office/powerpoint/2010/main" val="41668583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729880" y="1766169"/>
            <a:ext cx="11289297" cy="434321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11" name="文本框 10">
            <a:extLst>
              <a:ext uri="{FF2B5EF4-FFF2-40B4-BE49-F238E27FC236}">
                <a16:creationId xmlns:a16="http://schemas.microsoft.com/office/drawing/2014/main" id="{AE217B06-03DC-A6A7-5E77-8A76282D4FF2}"/>
              </a:ext>
            </a:extLst>
          </p:cNvPr>
          <p:cNvSpPr txBox="1"/>
          <p:nvPr/>
        </p:nvSpPr>
        <p:spPr>
          <a:xfrm rot="5400000">
            <a:off x="6046345" y="5499332"/>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3" name="文本框 2">
            <a:extLst>
              <a:ext uri="{FF2B5EF4-FFF2-40B4-BE49-F238E27FC236}">
                <a16:creationId xmlns:a16="http://schemas.microsoft.com/office/drawing/2014/main" id="{389E3FC8-7C65-2D43-7775-37F1EC11BAE6}"/>
              </a:ext>
            </a:extLst>
          </p:cNvPr>
          <p:cNvSpPr txBox="1"/>
          <p:nvPr/>
        </p:nvSpPr>
        <p:spPr>
          <a:xfrm>
            <a:off x="2068301" y="1017555"/>
            <a:ext cx="9094156" cy="523220"/>
          </a:xfrm>
          <a:prstGeom prst="rect">
            <a:avLst/>
          </a:prstGeom>
          <a:noFill/>
        </p:spPr>
        <p:txBody>
          <a:bodyPr wrap="none" rtlCol="0">
            <a:spAutoFit/>
          </a:bodyPr>
          <a:lstStyle/>
          <a:p>
            <a:pPr lvl="0">
              <a:defRPr/>
            </a:pPr>
            <a:r>
              <a:rPr lang="zh-CN" altLang="en-US" sz="2800" b="1" dirty="0">
                <a:solidFill>
                  <a:srgbClr val="242C2D"/>
                </a:solidFill>
                <a:latin typeface="微软雅黑" panose="020B0503020204020204" pitchFamily="34" charset="-122"/>
                <a:ea typeface="微软雅黑" panose="020B0503020204020204" pitchFamily="34" charset="-122"/>
              </a:rPr>
              <a:t>试着记住这些方程，并做测试，例如</a:t>
            </a:r>
            <a:r>
              <a:rPr lang="en-US" altLang="zh-CN" sz="2800" b="1" dirty="0">
                <a:solidFill>
                  <a:srgbClr val="242C2D"/>
                </a:solidFill>
                <a:latin typeface="微软雅黑" panose="020B0503020204020204" pitchFamily="34" charset="-122"/>
                <a:ea typeface="微软雅黑" panose="020B0503020204020204" pitchFamily="34" charset="-122"/>
              </a:rPr>
              <a:t>, </a:t>
            </a:r>
            <a:r>
              <a:rPr kumimoji="0" lang="zh-CN" altLang="en-US"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2</a:t>
            </a:r>
            <a:r>
              <a:rPr kumimoji="0" lang="zh-CN" altLang="en-US"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1</a:t>
            </a:r>
            <a:r>
              <a:rPr kumimoji="0" lang="zh-CN" altLang="en-US"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50</a:t>
            </a:r>
            <a:r>
              <a:rPr kumimoji="0" lang="zh-CN" altLang="en-US"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p>
        </p:txBody>
      </p:sp>
      <p:sp>
        <p:nvSpPr>
          <p:cNvPr id="5" name="文本框 4">
            <a:extLst>
              <a:ext uri="{FF2B5EF4-FFF2-40B4-BE49-F238E27FC236}">
                <a16:creationId xmlns:a16="http://schemas.microsoft.com/office/drawing/2014/main" id="{4766DF08-FDDC-B704-4DBD-A4A180E41228}"/>
              </a:ext>
            </a:extLst>
          </p:cNvPr>
          <p:cNvSpPr txBox="1"/>
          <p:nvPr/>
        </p:nvSpPr>
        <p:spPr>
          <a:xfrm>
            <a:off x="1051491" y="1766169"/>
            <a:ext cx="10759267" cy="420179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 , (2, 1, 50) = 56,  (1, 2, 31) = 37 , (1,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 , (4,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  (3,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7,   (2,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 , (2,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(1, 2,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7 , (1,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  (3,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19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(4, 2,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7</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71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70,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5</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47</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(1,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7</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8)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48</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 (2, 2,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(3,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 , (4, 4,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2</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1</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58) = 42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p:sp>
        <p:nvSpPr>
          <p:cNvPr id="12" name="标题 1">
            <a:extLst>
              <a:ext uri="{FF2B5EF4-FFF2-40B4-BE49-F238E27FC236}">
                <a16:creationId xmlns:a16="http://schemas.microsoft.com/office/drawing/2014/main" id="{8B41ECA9-7F4C-523D-F29F-77533478FEAB}"/>
              </a:ext>
            </a:extLst>
          </p:cNvPr>
          <p:cNvSpPr>
            <a:spLocks noGrp="1"/>
          </p:cNvSpPr>
          <p:nvPr>
            <p:ph type="title"/>
          </p:nvPr>
        </p:nvSpPr>
        <p:spPr/>
        <p:txBody>
          <a:bodyPr/>
          <a:lstStyle/>
          <a:p>
            <a:r>
              <a:rPr lang="zh-CN" altLang="en-US" dirty="0"/>
              <a:t>推理与记忆的例子</a:t>
            </a:r>
          </a:p>
        </p:txBody>
      </p:sp>
      <p:sp>
        <p:nvSpPr>
          <p:cNvPr id="2" name="文本框 1">
            <a:extLst>
              <a:ext uri="{FF2B5EF4-FFF2-40B4-BE49-F238E27FC236}">
                <a16:creationId xmlns:a16="http://schemas.microsoft.com/office/drawing/2014/main" id="{E2526428-DAAE-5B5F-CEB7-E9E992A69C6D}"/>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32523880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8" name="文本框 7"/>
          <p:cNvSpPr txBox="1"/>
          <p:nvPr/>
        </p:nvSpPr>
        <p:spPr>
          <a:xfrm rot="5400000">
            <a:off x="9782272" y="5673942"/>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5" name="文本框 4">
            <a:extLst>
              <a:ext uri="{FF2B5EF4-FFF2-40B4-BE49-F238E27FC236}">
                <a16:creationId xmlns:a16="http://schemas.microsoft.com/office/drawing/2014/main" id="{00865D93-A2C3-E4A8-F50D-279541A949B6}"/>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11" name="文本框 10">
            <a:extLst>
              <a:ext uri="{FF2B5EF4-FFF2-40B4-BE49-F238E27FC236}">
                <a16:creationId xmlns:a16="http://schemas.microsoft.com/office/drawing/2014/main" id="{281B4C34-8D55-F05A-898D-A6A333F43F7B}"/>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p:sp>
        <p:nvSpPr>
          <p:cNvPr id="12" name="标题 1">
            <a:extLst>
              <a:ext uri="{FF2B5EF4-FFF2-40B4-BE49-F238E27FC236}">
                <a16:creationId xmlns:a16="http://schemas.microsoft.com/office/drawing/2014/main" id="{A4F5BA3C-7629-00E7-90FB-130C26F4DB08}"/>
              </a:ext>
            </a:extLst>
          </p:cNvPr>
          <p:cNvSpPr>
            <a:spLocks noGrp="1"/>
          </p:cNvSpPr>
          <p:nvPr>
            <p:ph type="title"/>
          </p:nvPr>
        </p:nvSpPr>
        <p:spPr/>
        <p:txBody>
          <a:bodyPr/>
          <a:lstStyle/>
          <a:p>
            <a:r>
              <a:rPr lang="zh-CN" altLang="en-US" dirty="0"/>
              <a:t>推理与记忆的例子</a:t>
            </a:r>
          </a:p>
        </p:txBody>
      </p:sp>
      <p:sp>
        <p:nvSpPr>
          <p:cNvPr id="2" name="文本框 1">
            <a:extLst>
              <a:ext uri="{FF2B5EF4-FFF2-40B4-BE49-F238E27FC236}">
                <a16:creationId xmlns:a16="http://schemas.microsoft.com/office/drawing/2014/main" id="{EF00A7C9-F5E4-A9B4-8910-332757ECDADF}"/>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
        <p:nvSpPr>
          <p:cNvPr id="3" name="文本框 2">
            <a:extLst>
              <a:ext uri="{FF2B5EF4-FFF2-40B4-BE49-F238E27FC236}">
                <a16:creationId xmlns:a16="http://schemas.microsoft.com/office/drawing/2014/main" id="{DD257BFF-BA78-E989-2B1C-1AEBE22033A5}"/>
              </a:ext>
            </a:extLst>
          </p:cNvPr>
          <p:cNvSpPr txBox="1"/>
          <p:nvPr/>
        </p:nvSpPr>
        <p:spPr>
          <a:xfrm>
            <a:off x="3641385" y="2182999"/>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34537A9E-A1F1-6D3F-E85C-8AD9887F1B5C}"/>
                  </a:ext>
                </a:extLst>
              </p:cNvPr>
              <p:cNvSpPr txBox="1"/>
              <p:nvPr/>
            </p:nvSpPr>
            <p:spPr>
              <a:xfrm>
                <a:off x="3259204" y="2671217"/>
                <a:ext cx="329088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32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(1, 2, </m:t>
                    </m:r>
                    <m:r>
                      <a:rPr kumimoji="0" lang="en-US" altLang="zh-CN"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32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32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p:sp>
            <p:nvSpPr>
              <p:cNvPr id="4" name="文本框 3">
                <a:extLst>
                  <a:ext uri="{FF2B5EF4-FFF2-40B4-BE49-F238E27FC236}">
                    <a16:creationId xmlns:a16="http://schemas.microsoft.com/office/drawing/2014/main" id="{34537A9E-A1F1-6D3F-E85C-8AD9887F1B5C}"/>
                  </a:ext>
                </a:extLst>
              </p:cNvPr>
              <p:cNvSpPr txBox="1">
                <a:spLocks noRot="1" noChangeAspect="1" noMove="1" noResize="1" noEditPoints="1" noAdjustHandles="1" noChangeArrowheads="1" noChangeShapeType="1" noTextEdit="1"/>
              </p:cNvSpPr>
              <p:nvPr/>
            </p:nvSpPr>
            <p:spPr>
              <a:xfrm>
                <a:off x="3259204" y="2671217"/>
                <a:ext cx="3290887" cy="584775"/>
              </a:xfrm>
              <a:prstGeom prst="rect">
                <a:avLst/>
              </a:prstGeom>
              <a:blipFill>
                <a:blip r:embed="rId3"/>
                <a:stretch>
                  <a:fillRect/>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8B6F7EFD-B647-780A-A55B-6C28AD21760E}"/>
              </a:ext>
            </a:extLst>
          </p:cNvPr>
          <p:cNvCxnSpPr>
            <a:cxnSpLocks/>
          </p:cNvCxnSpPr>
          <p:nvPr/>
        </p:nvCxnSpPr>
        <p:spPr>
          <a:xfrm flipV="1">
            <a:off x="2762250" y="3175000"/>
            <a:ext cx="838200" cy="11747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18E61103-ACA0-89A7-D1BD-750995A234C0}"/>
              </a:ext>
            </a:extLst>
          </p:cNvPr>
          <p:cNvCxnSpPr>
            <a:cxnSpLocks/>
          </p:cNvCxnSpPr>
          <p:nvPr/>
        </p:nvCxnSpPr>
        <p:spPr>
          <a:xfrm flipH="1" flipV="1">
            <a:off x="4016380" y="3175000"/>
            <a:ext cx="777870" cy="10731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4F2D4A97-B12B-9A8C-641C-E3F48E580176}"/>
              </a:ext>
            </a:extLst>
          </p:cNvPr>
          <p:cNvSpPr txBox="1"/>
          <p:nvPr/>
        </p:nvSpPr>
        <p:spPr>
          <a:xfrm>
            <a:off x="2171769" y="4313595"/>
            <a:ext cx="1252266" cy="400110"/>
          </a:xfrm>
          <a:prstGeom prst="rect">
            <a:avLst/>
          </a:prstGeom>
          <a:noFill/>
        </p:spPr>
        <p:txBody>
          <a:bodyPr wrap="none" rtlCol="0">
            <a:spAutoFit/>
          </a:bodyPr>
          <a:lstStyle/>
          <a:p>
            <a:pPr algn="l"/>
            <a:r>
              <a:rPr lang="en-US" altLang="zh-CN" sz="2000" dirty="0"/>
              <a:t>{1, 2, 3, 4}</a:t>
            </a:r>
            <a:endParaRPr lang="zh-CN" altLang="en-US" sz="2000" dirty="0"/>
          </a:p>
        </p:txBody>
      </p:sp>
      <p:sp>
        <p:nvSpPr>
          <p:cNvPr id="13" name="文本框 12">
            <a:extLst>
              <a:ext uri="{FF2B5EF4-FFF2-40B4-BE49-F238E27FC236}">
                <a16:creationId xmlns:a16="http://schemas.microsoft.com/office/drawing/2014/main" id="{F65FE103-E239-4FAC-EC39-B70225785B7E}"/>
              </a:ext>
            </a:extLst>
          </p:cNvPr>
          <p:cNvSpPr txBox="1"/>
          <p:nvPr/>
        </p:nvSpPr>
        <p:spPr>
          <a:xfrm>
            <a:off x="4206604" y="4272920"/>
            <a:ext cx="1252266" cy="400110"/>
          </a:xfrm>
          <a:prstGeom prst="rect">
            <a:avLst/>
          </a:prstGeom>
          <a:noFill/>
        </p:spPr>
        <p:txBody>
          <a:bodyPr wrap="none" rtlCol="0">
            <a:spAutoFit/>
          </a:bodyPr>
          <a:lstStyle/>
          <a:p>
            <a:pPr algn="l"/>
            <a:r>
              <a:rPr lang="en-US" altLang="zh-CN" sz="2000"/>
              <a:t>{1, 2, 3, 4}</a:t>
            </a:r>
            <a:endParaRPr lang="zh-CN" altLang="en-US" sz="2000" dirty="0"/>
          </a:p>
        </p:txBody>
      </p:sp>
    </p:spTree>
    <p:extLst>
      <p:ext uri="{BB962C8B-B14F-4D97-AF65-F5344CB8AC3E}">
        <p14:creationId xmlns:p14="http://schemas.microsoft.com/office/powerpoint/2010/main" val="289385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A5942-1AB1-979A-F5C2-1DE4472A7EE3}"/>
            </a:ext>
          </a:extLst>
        </p:cNvPr>
        <p:cNvGrpSpPr/>
        <p:nvPr/>
      </p:nvGrpSpPr>
      <p:grpSpPr>
        <a:xfrm>
          <a:off x="0" y="0"/>
          <a:ext cx="0" cy="0"/>
          <a:chOff x="0" y="0"/>
          <a:chExt cx="0" cy="0"/>
        </a:xfrm>
      </p:grpSpPr>
      <p:sp>
        <p:nvSpPr>
          <p:cNvPr id="14" name="标题 1">
            <a:extLst>
              <a:ext uri="{FF2B5EF4-FFF2-40B4-BE49-F238E27FC236}">
                <a16:creationId xmlns:a16="http://schemas.microsoft.com/office/drawing/2014/main" id="{7E0A02A7-BDED-6D92-4AD4-A9AB89A31423}"/>
              </a:ext>
            </a:extLst>
          </p:cNvPr>
          <p:cNvSpPr>
            <a:spLocks noGrp="1"/>
          </p:cNvSpPr>
          <p:nvPr>
            <p:ph type="title"/>
          </p:nvPr>
        </p:nvSpPr>
        <p:spPr/>
        <p:txBody>
          <a:bodyPr/>
          <a:lstStyle/>
          <a:p>
            <a:r>
              <a:rPr lang="zh-CN" altLang="en-US" dirty="0"/>
              <a:t>推理与记忆的例子</a:t>
            </a:r>
          </a:p>
        </p:txBody>
      </p:sp>
      <p:sp>
        <p:nvSpPr>
          <p:cNvPr id="10" name="矩形: 圆角 9">
            <a:extLst>
              <a:ext uri="{FF2B5EF4-FFF2-40B4-BE49-F238E27FC236}">
                <a16:creationId xmlns:a16="http://schemas.microsoft.com/office/drawing/2014/main" id="{906864BD-15B9-06DF-7F23-50B8B1D4D81E}"/>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4" name="矩形: 圆角 3">
            <a:extLst>
              <a:ext uri="{FF2B5EF4-FFF2-40B4-BE49-F238E27FC236}">
                <a16:creationId xmlns:a16="http://schemas.microsoft.com/office/drawing/2014/main" id="{062223F7-FC62-09E9-D4DB-4B8761FC0D8D}"/>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5" name="文本框 4">
            <a:extLst>
              <a:ext uri="{FF2B5EF4-FFF2-40B4-BE49-F238E27FC236}">
                <a16:creationId xmlns:a16="http://schemas.microsoft.com/office/drawing/2014/main" id="{D63DF53B-82B7-2F96-FFDC-9133FE397147}"/>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6" name="文本框 5">
            <a:extLst>
              <a:ext uri="{FF2B5EF4-FFF2-40B4-BE49-F238E27FC236}">
                <a16:creationId xmlns:a16="http://schemas.microsoft.com/office/drawing/2014/main" id="{E3D5C62E-0AFC-EACA-8AB7-DFBF273A9765}"/>
              </a:ext>
            </a:extLst>
          </p:cNvPr>
          <p:cNvSpPr txBox="1"/>
          <p:nvPr/>
        </p:nvSpPr>
        <p:spPr>
          <a:xfrm>
            <a:off x="6282255" y="436901"/>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7" name="矩形: 圆角 6">
            <a:extLst>
              <a:ext uri="{FF2B5EF4-FFF2-40B4-BE49-F238E27FC236}">
                <a16:creationId xmlns:a16="http://schemas.microsoft.com/office/drawing/2014/main" id="{20538E5A-CD69-E593-B602-356930506515}"/>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9" name="文本框 8">
            <a:extLst>
              <a:ext uri="{FF2B5EF4-FFF2-40B4-BE49-F238E27FC236}">
                <a16:creationId xmlns:a16="http://schemas.microsoft.com/office/drawing/2014/main" id="{773E7AE0-F655-BD9D-3170-3B42EF747B25}"/>
              </a:ext>
            </a:extLst>
          </p:cNvPr>
          <p:cNvSpPr txBox="1"/>
          <p:nvPr/>
        </p:nvSpPr>
        <p:spPr>
          <a:xfrm rot="5400000">
            <a:off x="9782272" y="5673942"/>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11" name="文本框 10">
            <a:extLst>
              <a:ext uri="{FF2B5EF4-FFF2-40B4-BE49-F238E27FC236}">
                <a16:creationId xmlns:a16="http://schemas.microsoft.com/office/drawing/2014/main" id="{5BBEDB4E-2F76-42CE-4C25-394778B847B4}"/>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D3EF876-8836-3EA7-23BC-07C25CF35EEE}"/>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16" name="文本框 15">
                <a:extLst>
                  <a:ext uri="{FF2B5EF4-FFF2-40B4-BE49-F238E27FC236}">
                    <a16:creationId xmlns:a16="http://schemas.microsoft.com/office/drawing/2014/main" id="{FD3EF876-8836-3EA7-23BC-07C25CF35EEE}"/>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E11FA64-C24D-1697-B4A5-42D7E3DF1694}"/>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5947475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7" name="文本框 6">
            <a:extLst>
              <a:ext uri="{FF2B5EF4-FFF2-40B4-BE49-F238E27FC236}">
                <a16:creationId xmlns:a16="http://schemas.microsoft.com/office/drawing/2014/main" id="{85FA46A3-9CA9-8F50-B6CB-A2B3A8E5C988}"/>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11" name="矩形: 圆角 10">
            <a:extLst>
              <a:ext uri="{FF2B5EF4-FFF2-40B4-BE49-F238E27FC236}">
                <a16:creationId xmlns:a16="http://schemas.microsoft.com/office/drawing/2014/main" id="{C458EABE-91DE-6D2C-C709-F5F7CEB3DB7F}"/>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13" name="矩形: 圆角 12">
            <a:extLst>
              <a:ext uri="{FF2B5EF4-FFF2-40B4-BE49-F238E27FC236}">
                <a16:creationId xmlns:a16="http://schemas.microsoft.com/office/drawing/2014/main" id="{18CC7694-0B92-7E03-2B66-8293D177A689}"/>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15" name="文本框 14">
            <a:extLst>
              <a:ext uri="{FF2B5EF4-FFF2-40B4-BE49-F238E27FC236}">
                <a16:creationId xmlns:a16="http://schemas.microsoft.com/office/drawing/2014/main" id="{E25DD30F-ACA2-89FB-1668-72EDA9C96969}"/>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18" name="矩形: 圆角 17">
            <a:extLst>
              <a:ext uri="{FF2B5EF4-FFF2-40B4-BE49-F238E27FC236}">
                <a16:creationId xmlns:a16="http://schemas.microsoft.com/office/drawing/2014/main" id="{4B3F9EF5-2D46-FD34-6942-EFF1C69EAD21}"/>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19" name="文本框 18">
            <a:extLst>
              <a:ext uri="{FF2B5EF4-FFF2-40B4-BE49-F238E27FC236}">
                <a16:creationId xmlns:a16="http://schemas.microsoft.com/office/drawing/2014/main" id="{842FC229-28C5-F4D3-380E-B5D492097678}"/>
              </a:ext>
            </a:extLst>
          </p:cNvPr>
          <p:cNvSpPr txBox="1"/>
          <p:nvPr/>
        </p:nvSpPr>
        <p:spPr>
          <a:xfrm rot="5400000">
            <a:off x="9782272" y="5673942"/>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20" name="文本框 19">
            <a:extLst>
              <a:ext uri="{FF2B5EF4-FFF2-40B4-BE49-F238E27FC236}">
                <a16:creationId xmlns:a16="http://schemas.microsoft.com/office/drawing/2014/main" id="{983C7B1D-3E23-9023-7845-F1CF849C6B8D}"/>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3607BC1-180F-6B89-EAD6-6B902CB5EAF7}"/>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21" name="文本框 20">
                <a:extLst>
                  <a:ext uri="{FF2B5EF4-FFF2-40B4-BE49-F238E27FC236}">
                    <a16:creationId xmlns:a16="http://schemas.microsoft.com/office/drawing/2014/main" id="{E3607BC1-180F-6B89-EAD6-6B902CB5EAF7}"/>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9A3DF052-BC64-7A7F-C1DC-AFB8C14965ED}"/>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22" name="文本框 21">
                <a:extLst>
                  <a:ext uri="{FF2B5EF4-FFF2-40B4-BE49-F238E27FC236}">
                    <a16:creationId xmlns:a16="http://schemas.microsoft.com/office/drawing/2014/main" id="{9A3DF052-BC64-7A7F-C1DC-AFB8C14965ED}"/>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6"/>
                <a:stretch>
                  <a:fillRect l="-598"/>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972C5C30-2A64-A1FE-7D03-3A9DEFE5F07C}"/>
              </a:ext>
            </a:extLst>
          </p:cNvPr>
          <p:cNvSpPr>
            <a:spLocks noGrp="1"/>
          </p:cNvSpPr>
          <p:nvPr>
            <p:ph type="title"/>
          </p:nvPr>
        </p:nvSpPr>
        <p:spPr/>
        <p:txBody>
          <a:bodyPr/>
          <a:lstStyle/>
          <a:p>
            <a:r>
              <a:rPr lang="zh-CN" altLang="en-US" dirty="0"/>
              <a:t>推理与记忆的例子</a:t>
            </a:r>
          </a:p>
        </p:txBody>
      </p:sp>
      <p:sp>
        <p:nvSpPr>
          <p:cNvPr id="2" name="文本框 1">
            <a:extLst>
              <a:ext uri="{FF2B5EF4-FFF2-40B4-BE49-F238E27FC236}">
                <a16:creationId xmlns:a16="http://schemas.microsoft.com/office/drawing/2014/main" id="{8C058532-0E5D-6672-3BA0-09879A9468FD}"/>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
        <p:nvSpPr>
          <p:cNvPr id="8" name="文本框 7">
            <a:extLst>
              <a:ext uri="{FF2B5EF4-FFF2-40B4-BE49-F238E27FC236}">
                <a16:creationId xmlns:a16="http://schemas.microsoft.com/office/drawing/2014/main" id="{B1DE2D4B-D61F-1161-F3C0-02CD7425AC3C}"/>
              </a:ext>
            </a:extLst>
          </p:cNvPr>
          <p:cNvSpPr txBox="1"/>
          <p:nvPr/>
        </p:nvSpPr>
        <p:spPr>
          <a:xfrm>
            <a:off x="6282255" y="436901"/>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10" name="文本框 9">
            <a:extLst>
              <a:ext uri="{FF2B5EF4-FFF2-40B4-BE49-F238E27FC236}">
                <a16:creationId xmlns:a16="http://schemas.microsoft.com/office/drawing/2014/main" id="{11DC1AFC-E164-BE47-34A9-8AEA047C60F1}"/>
              </a:ext>
            </a:extLst>
          </p:cNvPr>
          <p:cNvSpPr txBox="1"/>
          <p:nvPr/>
        </p:nvSpPr>
        <p:spPr>
          <a:xfrm>
            <a:off x="2604209" y="1490335"/>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复合规则</a:t>
            </a:r>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23FF1EA4-01D9-B37A-F89D-193D2FC3DFF6}"/>
                  </a:ext>
                </a:extLst>
              </p:cNvPr>
              <p:cNvSpPr txBox="1"/>
              <p:nvPr/>
            </p:nvSpPr>
            <p:spPr>
              <a:xfrm>
                <a:off x="1087435" y="850087"/>
                <a:ext cx="329088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32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(1, 2, </m:t>
                    </m:r>
                    <m:r>
                      <a:rPr kumimoji="0" lang="en-US" altLang="zh-CN"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32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32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32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p:sp>
            <p:nvSpPr>
              <p:cNvPr id="12" name="文本框 11">
                <a:extLst>
                  <a:ext uri="{FF2B5EF4-FFF2-40B4-BE49-F238E27FC236}">
                    <a16:creationId xmlns:a16="http://schemas.microsoft.com/office/drawing/2014/main" id="{23FF1EA4-01D9-B37A-F89D-193D2FC3DFF6}"/>
                  </a:ext>
                </a:extLst>
              </p:cNvPr>
              <p:cNvSpPr txBox="1">
                <a:spLocks noRot="1" noChangeAspect="1" noMove="1" noResize="1" noEditPoints="1" noAdjustHandles="1" noChangeArrowheads="1" noChangeShapeType="1" noTextEdit="1"/>
              </p:cNvSpPr>
              <p:nvPr/>
            </p:nvSpPr>
            <p:spPr>
              <a:xfrm>
                <a:off x="1087435" y="850087"/>
                <a:ext cx="3290887" cy="584775"/>
              </a:xfrm>
              <a:prstGeom prst="rect">
                <a:avLst/>
              </a:prstGeom>
              <a:blipFill>
                <a:blip r:embed="rId7"/>
                <a:stretch>
                  <a:fillRect/>
                </a:stretch>
              </a:blipFill>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4BA13AE8-CD0B-0D84-4E72-1D68DEA9A543}"/>
              </a:ext>
            </a:extLst>
          </p:cNvPr>
          <p:cNvCxnSpPr>
            <a:cxnSpLocks/>
          </p:cNvCxnSpPr>
          <p:nvPr/>
        </p:nvCxnSpPr>
        <p:spPr>
          <a:xfrm flipV="1">
            <a:off x="1087435" y="1353870"/>
            <a:ext cx="341246" cy="60555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81E317C5-F8BC-39A1-181F-D8C5D08AF928}"/>
              </a:ext>
            </a:extLst>
          </p:cNvPr>
          <p:cNvCxnSpPr>
            <a:cxnSpLocks/>
          </p:cNvCxnSpPr>
          <p:nvPr/>
        </p:nvCxnSpPr>
        <p:spPr>
          <a:xfrm flipH="1" flipV="1">
            <a:off x="1844611" y="1353870"/>
            <a:ext cx="554946" cy="53657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6C6FEDDD-0079-45AA-3164-C310963825B7}"/>
                  </a:ext>
                </a:extLst>
              </p:cNvPr>
              <p:cNvSpPr txBox="1"/>
              <p:nvPr/>
            </p:nvSpPr>
            <p:spPr>
              <a:xfrm>
                <a:off x="66860" y="1959429"/>
                <a:ext cx="1818831" cy="400110"/>
              </a:xfrm>
              <a:prstGeom prst="rect">
                <a:avLst/>
              </a:prstGeom>
              <a:noFill/>
            </p:spPr>
            <p:txBody>
              <a:bodyPr wrap="none" rtlCol="0">
                <a:spAutoFit/>
              </a:bodyPr>
              <a:lstStyle/>
              <a:p>
                <a:pPr algn="l"/>
                <a14:m>
                  <m:oMathPara xmlns:m="http://schemas.openxmlformats.org/officeDocument/2006/math">
                    <m:o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𝒇</m:t>
                          </m:r>
                        </m:e>
                        <m:sub>
                          <m:r>
                            <a:rPr lang="en-US" altLang="zh-CN" sz="2000" b="1" i="1" smtClean="0">
                              <a:latin typeface="Cambria Math" panose="02040503050406030204" pitchFamily="18" charset="0"/>
                            </a:rPr>
                            <m:t>𝟏</m:t>
                          </m:r>
                        </m:sub>
                      </m:sSub>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𝟓</m:t>
                      </m:r>
                    </m:oMath>
                  </m:oMathPara>
                </a14:m>
                <a:endParaRPr lang="zh-CN" altLang="en-US" sz="2000" b="1" dirty="0"/>
              </a:p>
            </p:txBody>
          </p:sp>
        </mc:Choice>
        <mc:Fallback>
          <p:sp>
            <p:nvSpPr>
              <p:cNvPr id="23" name="文本框 22">
                <a:extLst>
                  <a:ext uri="{FF2B5EF4-FFF2-40B4-BE49-F238E27FC236}">
                    <a16:creationId xmlns:a16="http://schemas.microsoft.com/office/drawing/2014/main" id="{6C6FEDDD-0079-45AA-3164-C310963825B7}"/>
                  </a:ext>
                </a:extLst>
              </p:cNvPr>
              <p:cNvSpPr txBox="1">
                <a:spLocks noRot="1" noChangeAspect="1" noMove="1" noResize="1" noEditPoints="1" noAdjustHandles="1" noChangeArrowheads="1" noChangeShapeType="1" noTextEdit="1"/>
              </p:cNvSpPr>
              <p:nvPr/>
            </p:nvSpPr>
            <p:spPr>
              <a:xfrm>
                <a:off x="66860" y="1959429"/>
                <a:ext cx="1818831" cy="400110"/>
              </a:xfrm>
              <a:prstGeom prst="rect">
                <a:avLst/>
              </a:prstGeom>
              <a:blipFill>
                <a:blip r:embed="rId8"/>
                <a:stretch>
                  <a:fillRect b="-136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a:extLst>
                  <a:ext uri="{FF2B5EF4-FFF2-40B4-BE49-F238E27FC236}">
                    <a16:creationId xmlns:a16="http://schemas.microsoft.com/office/drawing/2014/main" id="{115A3FE0-ABD7-39B9-228B-4EDEFC3EC0A5}"/>
                  </a:ext>
                </a:extLst>
              </p:cNvPr>
              <p:cNvSpPr txBox="1"/>
              <p:nvPr/>
            </p:nvSpPr>
            <p:spPr>
              <a:xfrm>
                <a:off x="2080065" y="1932711"/>
                <a:ext cx="1818831" cy="400110"/>
              </a:xfrm>
              <a:prstGeom prst="rect">
                <a:avLst/>
              </a:prstGeom>
              <a:noFill/>
            </p:spPr>
            <p:txBody>
              <a:bodyPr wrap="none" rtlCol="0">
                <a:spAutoFit/>
              </a:bodyPr>
              <a:lstStyle/>
              <a:p>
                <a:pPr/>
                <a14:m>
                  <m:oMathPara xmlns:m="http://schemas.openxmlformats.org/officeDocument/2006/math">
                    <m:oMath>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𝒇</m:t>
                          </m:r>
                        </m:e>
                        <m:sub>
                          <m:r>
                            <a:rPr lang="en-US" altLang="zh-CN" sz="2000" b="1" i="1" smtClean="0">
                              <a:latin typeface="Cambria Math" panose="02040503050406030204" pitchFamily="18" charset="0"/>
                            </a:rPr>
                            <m:t>𝟐</m:t>
                          </m:r>
                        </m:sub>
                      </m:sSub>
                      <m:d>
                        <m:dPr>
                          <m:ctrlPr>
                            <a:rPr lang="en-US" altLang="zh-CN" sz="2000" b="1" i="1">
                              <a:latin typeface="Cambria Math" panose="02040503050406030204" pitchFamily="18" charset="0"/>
                            </a:rPr>
                          </m:ctrlPr>
                        </m:dPr>
                        <m:e>
                          <m:r>
                            <a:rPr lang="en-US" altLang="zh-CN" sz="2000" b="1" i="1">
                              <a:latin typeface="Cambria Math" panose="02040503050406030204" pitchFamily="18" charset="0"/>
                            </a:rPr>
                            <m:t>𝒙</m:t>
                          </m:r>
                        </m:e>
                      </m:d>
                      <m:r>
                        <a:rPr lang="en-US" altLang="zh-CN" sz="2000" b="1" i="1">
                          <a:latin typeface="Cambria Math" panose="02040503050406030204" pitchFamily="18" charset="0"/>
                        </a:rPr>
                        <m:t>=</m:t>
                      </m:r>
                      <m:r>
                        <a:rPr lang="en-US" altLang="zh-CN" sz="2000" b="1" i="1">
                          <a:latin typeface="Cambria Math" panose="02040503050406030204" pitchFamily="18" charset="0"/>
                        </a:rPr>
                        <m:t>𝒙</m:t>
                      </m:r>
                      <m:r>
                        <a:rPr lang="en-US" altLang="zh-CN" sz="2000" b="1" i="1">
                          <a:latin typeface="Cambria Math" panose="02040503050406030204" pitchFamily="18" charset="0"/>
                        </a:rPr>
                        <m:t>+</m:t>
                      </m:r>
                      <m:r>
                        <a:rPr lang="en-US" altLang="zh-CN" sz="2000" b="1" i="1" smtClean="0">
                          <a:latin typeface="Cambria Math" panose="02040503050406030204" pitchFamily="18" charset="0"/>
                        </a:rPr>
                        <m:t>𝟏</m:t>
                      </m:r>
                    </m:oMath>
                  </m:oMathPara>
                </a14:m>
                <a:endParaRPr lang="zh-CN" altLang="en-US" sz="2000" b="1" dirty="0"/>
              </a:p>
            </p:txBody>
          </p:sp>
        </mc:Choice>
        <mc:Fallback>
          <p:sp>
            <p:nvSpPr>
              <p:cNvPr id="24" name="文本框 23">
                <a:extLst>
                  <a:ext uri="{FF2B5EF4-FFF2-40B4-BE49-F238E27FC236}">
                    <a16:creationId xmlns:a16="http://schemas.microsoft.com/office/drawing/2014/main" id="{115A3FE0-ABD7-39B9-228B-4EDEFC3EC0A5}"/>
                  </a:ext>
                </a:extLst>
              </p:cNvPr>
              <p:cNvSpPr txBox="1">
                <a:spLocks noRot="1" noChangeAspect="1" noMove="1" noResize="1" noEditPoints="1" noAdjustHandles="1" noChangeArrowheads="1" noChangeShapeType="1" noTextEdit="1"/>
              </p:cNvSpPr>
              <p:nvPr/>
            </p:nvSpPr>
            <p:spPr>
              <a:xfrm>
                <a:off x="2080065" y="1932711"/>
                <a:ext cx="1818831" cy="400110"/>
              </a:xfrm>
              <a:prstGeom prst="rect">
                <a:avLst/>
              </a:prstGeom>
              <a:blipFill>
                <a:blip r:embed="rId9"/>
                <a:stretch>
                  <a:fillRect b="-136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25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23" grpId="0"/>
      <p:bldP spid="2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20">
            <a:extLst>
              <a:ext uri="{FF2B5EF4-FFF2-40B4-BE49-F238E27FC236}">
                <a16:creationId xmlns:a16="http://schemas.microsoft.com/office/drawing/2014/main" id="{B966D9E9-7CD0-F2F5-C03D-521952067E82}"/>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2" name="文本框 21">
            <a:extLst>
              <a:ext uri="{FF2B5EF4-FFF2-40B4-BE49-F238E27FC236}">
                <a16:creationId xmlns:a16="http://schemas.microsoft.com/office/drawing/2014/main" id="{AB0A249F-C5A1-63EE-5891-46C43722E3F2}"/>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3" name="矩形: 圆角 22">
            <a:extLst>
              <a:ext uri="{FF2B5EF4-FFF2-40B4-BE49-F238E27FC236}">
                <a16:creationId xmlns:a16="http://schemas.microsoft.com/office/drawing/2014/main" id="{933BBBAF-C5E2-52BD-D4DA-0CDAD87939A7}"/>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4" name="矩形: 圆角 23">
            <a:extLst>
              <a:ext uri="{FF2B5EF4-FFF2-40B4-BE49-F238E27FC236}">
                <a16:creationId xmlns:a16="http://schemas.microsoft.com/office/drawing/2014/main" id="{02BC6E7B-772B-528C-3E74-01DB03ADA41A}"/>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5" name="文本框 24">
            <a:extLst>
              <a:ext uri="{FF2B5EF4-FFF2-40B4-BE49-F238E27FC236}">
                <a16:creationId xmlns:a16="http://schemas.microsoft.com/office/drawing/2014/main" id="{BAF2D77B-592C-61D4-4DC2-AAC96CB0D428}"/>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27" name="矩形: 圆角 26">
            <a:extLst>
              <a:ext uri="{FF2B5EF4-FFF2-40B4-BE49-F238E27FC236}">
                <a16:creationId xmlns:a16="http://schemas.microsoft.com/office/drawing/2014/main" id="{C329979C-66B6-1995-C6B8-7CD9488CED88}"/>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8" name="文本框 27">
            <a:extLst>
              <a:ext uri="{FF2B5EF4-FFF2-40B4-BE49-F238E27FC236}">
                <a16:creationId xmlns:a16="http://schemas.microsoft.com/office/drawing/2014/main" id="{52D2BF54-D5C5-8B31-C882-A76C934148C0}"/>
              </a:ext>
            </a:extLst>
          </p:cNvPr>
          <p:cNvSpPr txBox="1"/>
          <p:nvPr/>
        </p:nvSpPr>
        <p:spPr>
          <a:xfrm rot="5400000">
            <a:off x="9782272" y="5673942"/>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29" name="文本框 28">
            <a:extLst>
              <a:ext uri="{FF2B5EF4-FFF2-40B4-BE49-F238E27FC236}">
                <a16:creationId xmlns:a16="http://schemas.microsoft.com/office/drawing/2014/main" id="{8C5B1A09-A7D8-5955-1D78-019BF601B3A2}"/>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D5346A4B-794C-9770-DA1D-3E0060E25304}"/>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D5346A4B-794C-9770-DA1D-3E0060E25304}"/>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B6DBDD57-E040-023E-B996-AF0965019B3D}"/>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B6DBDD57-E040-023E-B996-AF0965019B3D}"/>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6"/>
                <a:stretch>
                  <a:fillRect l="-598"/>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3A4685D5-9C17-0477-8DF6-F5FB9C7DF8C5}"/>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11" name="矩形: 圆角 10">
                <a:extLst>
                  <a:ext uri="{FF2B5EF4-FFF2-40B4-BE49-F238E27FC236}">
                    <a16:creationId xmlns:a16="http://schemas.microsoft.com/office/drawing/2014/main" id="{F1C47E5B-650A-1D08-90FF-D5A9A148FF69}"/>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11" name="矩形: 圆角 10">
                <a:extLst>
                  <a:ext uri="{FF2B5EF4-FFF2-40B4-BE49-F238E27FC236}">
                    <a16:creationId xmlns:a16="http://schemas.microsoft.com/office/drawing/2014/main" id="{F1C47E5B-650A-1D08-90FF-D5A9A148FF69}"/>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7"/>
                <a:stretch>
                  <a:fillRect b="-5023"/>
                </a:stretch>
              </a:blipFill>
              <a:ln>
                <a:noFill/>
              </a:ln>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13DFA52C-9F80-BE7F-AEDE-17BBCF5DAFAE}"/>
              </a:ext>
            </a:extLst>
          </p:cNvPr>
          <p:cNvSpPr>
            <a:spLocks noGrp="1"/>
          </p:cNvSpPr>
          <p:nvPr>
            <p:ph type="title"/>
          </p:nvPr>
        </p:nvSpPr>
        <p:spPr/>
        <p:txBody>
          <a:bodyPr/>
          <a:lstStyle/>
          <a:p>
            <a:r>
              <a:rPr lang="zh-CN" altLang="en-US" dirty="0"/>
              <a:t>推理与记忆的例子</a:t>
            </a:r>
          </a:p>
        </p:txBody>
      </p:sp>
      <p:sp>
        <p:nvSpPr>
          <p:cNvPr id="2" name="文本框 1">
            <a:extLst>
              <a:ext uri="{FF2B5EF4-FFF2-40B4-BE49-F238E27FC236}">
                <a16:creationId xmlns:a16="http://schemas.microsoft.com/office/drawing/2014/main" id="{39C49EDB-13ED-B62D-F0AE-9D87DD6B7F93}"/>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
        <p:nvSpPr>
          <p:cNvPr id="4" name="文本框 3">
            <a:extLst>
              <a:ext uri="{FF2B5EF4-FFF2-40B4-BE49-F238E27FC236}">
                <a16:creationId xmlns:a16="http://schemas.microsoft.com/office/drawing/2014/main" id="{E34388CA-73A4-F09C-EF60-C1692A53EB75}"/>
              </a:ext>
            </a:extLst>
          </p:cNvPr>
          <p:cNvSpPr txBox="1"/>
          <p:nvPr/>
        </p:nvSpPr>
        <p:spPr>
          <a:xfrm>
            <a:off x="6282255" y="436901"/>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Tree>
    <p:extLst>
      <p:ext uri="{BB962C8B-B14F-4D97-AF65-F5344CB8AC3E}">
        <p14:creationId xmlns:p14="http://schemas.microsoft.com/office/powerpoint/2010/main" val="31109878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3C593-270F-8E9F-7998-F49BBB0C7FBD}"/>
            </a:ext>
          </a:extLst>
        </p:cNvPr>
        <p:cNvGrpSpPr/>
        <p:nvPr/>
      </p:nvGrpSpPr>
      <p:grpSpPr>
        <a:xfrm>
          <a:off x="0" y="0"/>
          <a:ext cx="0" cy="0"/>
          <a:chOff x="0" y="0"/>
          <a:chExt cx="0" cy="0"/>
        </a:xfrm>
      </p:grpSpPr>
      <p:sp>
        <p:nvSpPr>
          <p:cNvPr id="21" name="矩形: 圆角 20">
            <a:extLst>
              <a:ext uri="{FF2B5EF4-FFF2-40B4-BE49-F238E27FC236}">
                <a16:creationId xmlns:a16="http://schemas.microsoft.com/office/drawing/2014/main" id="{883B3B39-5315-DEE5-1263-FE00BB8976A7}"/>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2" name="文本框 21">
            <a:extLst>
              <a:ext uri="{FF2B5EF4-FFF2-40B4-BE49-F238E27FC236}">
                <a16:creationId xmlns:a16="http://schemas.microsoft.com/office/drawing/2014/main" id="{696FCA09-AA82-9991-AFEB-FB1F6A4AE27D}"/>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3" name="矩形: 圆角 22">
            <a:extLst>
              <a:ext uri="{FF2B5EF4-FFF2-40B4-BE49-F238E27FC236}">
                <a16:creationId xmlns:a16="http://schemas.microsoft.com/office/drawing/2014/main" id="{A3FB196D-54DB-593C-40E0-C5F101B609C7}"/>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4" name="矩形: 圆角 23">
            <a:extLst>
              <a:ext uri="{FF2B5EF4-FFF2-40B4-BE49-F238E27FC236}">
                <a16:creationId xmlns:a16="http://schemas.microsoft.com/office/drawing/2014/main" id="{EECAE8AD-C277-7460-2EA8-8C12EA882E4B}"/>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5" name="文本框 24">
            <a:extLst>
              <a:ext uri="{FF2B5EF4-FFF2-40B4-BE49-F238E27FC236}">
                <a16:creationId xmlns:a16="http://schemas.microsoft.com/office/drawing/2014/main" id="{1ED49C29-7E5E-A3A1-6187-A76C2823C3E0}"/>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27" name="矩形: 圆角 26">
            <a:extLst>
              <a:ext uri="{FF2B5EF4-FFF2-40B4-BE49-F238E27FC236}">
                <a16:creationId xmlns:a16="http://schemas.microsoft.com/office/drawing/2014/main" id="{F48A5977-2126-80A0-0698-A2E2E0AF13D6}"/>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8" name="文本框 27">
            <a:extLst>
              <a:ext uri="{FF2B5EF4-FFF2-40B4-BE49-F238E27FC236}">
                <a16:creationId xmlns:a16="http://schemas.microsoft.com/office/drawing/2014/main" id="{6A62D003-556A-4EF5-8DC2-7E9CA0BFA5B6}"/>
              </a:ext>
            </a:extLst>
          </p:cNvPr>
          <p:cNvSpPr txBox="1"/>
          <p:nvPr/>
        </p:nvSpPr>
        <p:spPr>
          <a:xfrm rot="5400000">
            <a:off x="9782272" y="5673942"/>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29" name="文本框 28">
            <a:extLst>
              <a:ext uri="{FF2B5EF4-FFF2-40B4-BE49-F238E27FC236}">
                <a16:creationId xmlns:a16="http://schemas.microsoft.com/office/drawing/2014/main" id="{79BF7FE7-66B5-7462-D6EF-38237C3355C5}"/>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AB0BB2AF-C36C-DDE0-5F7B-56D55AEA137E}"/>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D5346A4B-794C-9770-DA1D-3E0060E25304}"/>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6"/>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2E4E7F0-39D4-DD1B-A5B1-48EE8985E466}"/>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B6DBDD57-E040-023E-B996-AF0965019B3D}"/>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7"/>
                <a:stretch>
                  <a:fillRect l="-598"/>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C3481B8E-E3D8-9DFE-7090-D37226EE7978}"/>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11" name="矩形: 圆角 10">
                <a:extLst>
                  <a:ext uri="{FF2B5EF4-FFF2-40B4-BE49-F238E27FC236}">
                    <a16:creationId xmlns:a16="http://schemas.microsoft.com/office/drawing/2014/main" id="{9030091C-8AAB-423C-65E6-B4F3F544E669}"/>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11" name="矩形: 圆角 10">
                <a:extLst>
                  <a:ext uri="{FF2B5EF4-FFF2-40B4-BE49-F238E27FC236}">
                    <a16:creationId xmlns:a16="http://schemas.microsoft.com/office/drawing/2014/main" id="{F1C47E5B-650A-1D08-90FF-D5A9A148FF69}"/>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8"/>
                <a:stretch>
                  <a:fillRect b="-5023"/>
                </a:stretch>
              </a:blipFill>
              <a:ln>
                <a:noFill/>
              </a:ln>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F42E35A9-95CB-DF23-7F99-05672312A68F}"/>
              </a:ext>
            </a:extLst>
          </p:cNvPr>
          <p:cNvSpPr txBox="1"/>
          <p:nvPr/>
        </p:nvSpPr>
        <p:spPr>
          <a:xfrm rot="20874879">
            <a:off x="3971321" y="344701"/>
            <a:ext cx="2577387"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133984">
                    <a:lumMod val="60000"/>
                    <a:lumOff val="40000"/>
                  </a:srgbClr>
                </a:solidFill>
                <a:effectLst/>
                <a:uLnTx/>
                <a:uFillTx/>
                <a:latin typeface="Book Antiqua" panose="02040602050305030304"/>
                <a:ea typeface="黑体" panose="02010609060101010101" charset="-122"/>
                <a:cs typeface="+mn-cs"/>
              </a:rPr>
              <a:t>Memory Complexity</a:t>
            </a:r>
            <a:endParaRPr kumimoji="0" lang="zh-CN" altLang="en-US" sz="3200" b="1" i="0" u="none" strike="noStrike" kern="1200" cap="none" spc="0" normalizeH="0" baseline="0" noProof="0" dirty="0">
              <a:ln>
                <a:noFill/>
              </a:ln>
              <a:solidFill>
                <a:srgbClr val="133984">
                  <a:lumMod val="60000"/>
                  <a:lumOff val="40000"/>
                </a:srgbClr>
              </a:solidFill>
              <a:effectLst/>
              <a:uLnTx/>
              <a:uFillTx/>
              <a:latin typeface="Book Antiqua" panose="02040602050305030304"/>
              <a:ea typeface="黑体" panose="02010609060101010101" charset="-122"/>
              <a:cs typeface="+mn-cs"/>
            </a:endParaRPr>
          </a:p>
        </p:txBody>
      </p:sp>
      <p:pic>
        <p:nvPicPr>
          <p:cNvPr id="5" name="图片 4">
            <a:extLst>
              <a:ext uri="{FF2B5EF4-FFF2-40B4-BE49-F238E27FC236}">
                <a16:creationId xmlns:a16="http://schemas.microsoft.com/office/drawing/2014/main" id="{EE0D6609-09AD-B41D-8A1C-E8ED0A8A4F46}"/>
              </a:ext>
            </a:extLst>
          </p:cNvPr>
          <p:cNvPicPr>
            <a:picLocks noChangeAspect="1"/>
          </p:cNvPicPr>
          <p:nvPr/>
        </p:nvPicPr>
        <p:blipFill>
          <a:blip r:embed="rId9">
            <a:duotone>
              <a:prstClr val="black"/>
              <a:schemeClr val="accent2">
                <a:tint val="45000"/>
                <a:satMod val="400000"/>
              </a:schemeClr>
            </a:duotone>
            <a:alphaModFix amt="50000"/>
          </a:blip>
          <a:stretch>
            <a:fillRect/>
          </a:stretch>
        </p:blipFill>
        <p:spPr>
          <a:xfrm rot="21236887">
            <a:off x="440544" y="1096731"/>
            <a:ext cx="8519951" cy="1467334"/>
          </a:xfrm>
          <a:prstGeom prst="rect">
            <a:avLst/>
          </a:prstGeom>
        </p:spPr>
      </p:pic>
      <p:pic>
        <p:nvPicPr>
          <p:cNvPr id="6" name="图片 5">
            <a:extLst>
              <a:ext uri="{FF2B5EF4-FFF2-40B4-BE49-F238E27FC236}">
                <a16:creationId xmlns:a16="http://schemas.microsoft.com/office/drawing/2014/main" id="{FA7A2E85-6E18-62BB-1550-81180DD50098}"/>
              </a:ext>
            </a:extLst>
          </p:cNvPr>
          <p:cNvPicPr>
            <a:picLocks noChangeAspect="1"/>
          </p:cNvPicPr>
          <p:nvPr/>
        </p:nvPicPr>
        <p:blipFill>
          <a:blip r:embed="rId9">
            <a:duotone>
              <a:prstClr val="black"/>
              <a:schemeClr val="accent1">
                <a:tint val="45000"/>
                <a:satMod val="400000"/>
              </a:schemeClr>
            </a:duotone>
            <a:alphaModFix amt="50000"/>
          </a:blip>
          <a:stretch>
            <a:fillRect/>
          </a:stretch>
        </p:blipFill>
        <p:spPr>
          <a:xfrm rot="11171838" flipV="1">
            <a:off x="1359964" y="989674"/>
            <a:ext cx="6482511" cy="1256382"/>
          </a:xfrm>
          <a:prstGeom prst="rect">
            <a:avLst/>
          </a:prstGeom>
        </p:spPr>
      </p:pic>
      <p:sp>
        <p:nvSpPr>
          <p:cNvPr id="7" name="文本框 6">
            <a:extLst>
              <a:ext uri="{FF2B5EF4-FFF2-40B4-BE49-F238E27FC236}">
                <a16:creationId xmlns:a16="http://schemas.microsoft.com/office/drawing/2014/main" id="{91F8CCAE-FD02-ABAA-377E-08EEAFF6537B}"/>
              </a:ext>
            </a:extLst>
          </p:cNvPr>
          <p:cNvSpPr txBox="1"/>
          <p:nvPr/>
        </p:nvSpPr>
        <p:spPr>
          <a:xfrm rot="633369">
            <a:off x="828170" y="1099161"/>
            <a:ext cx="2682479"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C00000"/>
                </a:solidFill>
                <a:effectLst/>
                <a:uLnTx/>
                <a:uFillTx/>
                <a:latin typeface="Book Antiqua" panose="02040602050305030304"/>
                <a:ea typeface="黑体" panose="02010609060101010101" charset="-122"/>
                <a:cs typeface="+mn-cs"/>
              </a:rPr>
              <a:t>Reasoning Complexity</a:t>
            </a:r>
            <a:endParaRPr kumimoji="0" lang="zh-CN" altLang="en-US" sz="3200" b="1" i="0" u="none" strike="noStrike" kern="1200" cap="none" spc="0" normalizeH="0" baseline="0" noProof="0" dirty="0">
              <a:ln>
                <a:noFill/>
              </a:ln>
              <a:solidFill>
                <a:srgbClr val="C00000"/>
              </a:solidFill>
              <a:effectLst/>
              <a:uLnTx/>
              <a:uFillTx/>
              <a:latin typeface="Book Antiqua" panose="02040602050305030304"/>
              <a:ea typeface="黑体" panose="02010609060101010101" charset="-122"/>
              <a:cs typeface="+mn-cs"/>
            </a:endParaRPr>
          </a:p>
        </p:txBody>
      </p:sp>
      <p:sp>
        <p:nvSpPr>
          <p:cNvPr id="20" name="文本框 19">
            <a:extLst>
              <a:ext uri="{FF2B5EF4-FFF2-40B4-BE49-F238E27FC236}">
                <a16:creationId xmlns:a16="http://schemas.microsoft.com/office/drawing/2014/main" id="{D894FA21-66A3-9379-3E45-9942323947A3}"/>
              </a:ext>
            </a:extLst>
          </p:cNvPr>
          <p:cNvSpPr txBox="1"/>
          <p:nvPr/>
        </p:nvSpPr>
        <p:spPr>
          <a:xfrm>
            <a:off x="4170272" y="-1500"/>
            <a:ext cx="3826690"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altLang="zh-CN"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How will LLM do?</a:t>
            </a:r>
            <a:endPar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
        <p:nvSpPr>
          <p:cNvPr id="4" name="标题 1">
            <a:extLst>
              <a:ext uri="{FF2B5EF4-FFF2-40B4-BE49-F238E27FC236}">
                <a16:creationId xmlns:a16="http://schemas.microsoft.com/office/drawing/2014/main" id="{BCCA1DEA-4019-6C28-1B76-EF27A48F1561}"/>
              </a:ext>
            </a:extLst>
          </p:cNvPr>
          <p:cNvSpPr>
            <a:spLocks noGrp="1"/>
          </p:cNvSpPr>
          <p:nvPr>
            <p:ph type="title"/>
          </p:nvPr>
        </p:nvSpPr>
        <p:spPr/>
        <p:txBody>
          <a:bodyPr/>
          <a:lstStyle/>
          <a:p>
            <a:r>
              <a:rPr lang="zh-CN" altLang="en-US" dirty="0"/>
              <a:t>推理与记忆的例子</a:t>
            </a:r>
          </a:p>
        </p:txBody>
      </p:sp>
      <p:sp>
        <p:nvSpPr>
          <p:cNvPr id="2" name="文本框 1">
            <a:extLst>
              <a:ext uri="{FF2B5EF4-FFF2-40B4-BE49-F238E27FC236}">
                <a16:creationId xmlns:a16="http://schemas.microsoft.com/office/drawing/2014/main" id="{A8165A37-6DFC-4E58-D790-A223F092B78B}"/>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
        <p:nvSpPr>
          <p:cNvPr id="9" name="文本框 8">
            <a:extLst>
              <a:ext uri="{FF2B5EF4-FFF2-40B4-BE49-F238E27FC236}">
                <a16:creationId xmlns:a16="http://schemas.microsoft.com/office/drawing/2014/main" id="{6580D61F-9CA1-D602-76A2-80F6C5FE6AFF}"/>
              </a:ext>
            </a:extLst>
          </p:cNvPr>
          <p:cNvSpPr txBox="1"/>
          <p:nvPr/>
        </p:nvSpPr>
        <p:spPr>
          <a:xfrm>
            <a:off x="6282255" y="436901"/>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Tree>
    <p:custDataLst>
      <p:tags r:id="rId1"/>
    </p:custDataLst>
    <p:extLst>
      <p:ext uri="{BB962C8B-B14F-4D97-AF65-F5344CB8AC3E}">
        <p14:creationId xmlns:p14="http://schemas.microsoft.com/office/powerpoint/2010/main" val="117703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barn(inVertical)">
                                      <p:cBhvr>
                                        <p:cTn id="1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2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FCC8F-A137-6B2A-0627-8B8E6B411A0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9D79C38E-FEF2-0AFD-9C01-3D2AC572DBD8}"/>
                  </a:ext>
                </a:extLst>
              </p:cNvPr>
              <p:cNvSpPr>
                <a:spLocks noGrp="1"/>
              </p:cNvSpPr>
              <p:nvPr>
                <p:ph type="title"/>
              </p:nvPr>
            </p:nvSpPr>
            <p:spPr>
              <a:xfrm>
                <a:off x="559042" y="2825771"/>
                <a:ext cx="11429516" cy="761979"/>
              </a:xfrm>
            </p:spPr>
            <p:txBody>
              <a:bodyPr/>
              <a:lstStyle/>
              <a:p>
                <a:pPr algn="ctr"/>
                <a:r>
                  <a:rPr lang="zh-CN" altLang="en-US" sz="4000" dirty="0">
                    <a:solidFill>
                      <a:schemeClr val="tx2"/>
                    </a:solidFill>
                  </a:rPr>
                  <a:t>一个关键的超参数：</a:t>
                </a:r>
                <a14:m>
                  <m:oMath xmlns:m="http://schemas.openxmlformats.org/officeDocument/2006/math">
                    <m:r>
                      <a:rPr lang="en-US" sz="4000" b="1" i="1" smtClean="0">
                        <a:solidFill>
                          <a:schemeClr val="tx2"/>
                        </a:solidFill>
                        <a:latin typeface="Cambria Math" panose="02040503050406030204" pitchFamily="18" charset="0"/>
                      </a:rPr>
                      <m:t>𝜸</m:t>
                    </m:r>
                  </m:oMath>
                </a14:m>
                <a:endParaRPr lang="en-US" sz="4000" dirty="0">
                  <a:solidFill>
                    <a:schemeClr val="tx2"/>
                  </a:solidFill>
                </a:endParaRPr>
              </a:p>
            </p:txBody>
          </p:sp>
        </mc:Choice>
        <mc:Fallback xmlns="">
          <p:sp>
            <p:nvSpPr>
              <p:cNvPr id="2" name="标题 1">
                <a:extLst>
                  <a:ext uri="{FF2B5EF4-FFF2-40B4-BE49-F238E27FC236}">
                    <a16:creationId xmlns:a16="http://schemas.microsoft.com/office/drawing/2014/main" id="{9D79C38E-FEF2-0AFD-9C01-3D2AC572DBD8}"/>
                  </a:ext>
                </a:extLst>
              </p:cNvPr>
              <p:cNvSpPr>
                <a:spLocks noGrp="1" noRot="1" noChangeAspect="1" noMove="1" noResize="1" noEditPoints="1" noAdjustHandles="1" noChangeArrowheads="1" noChangeShapeType="1" noTextEdit="1"/>
              </p:cNvSpPr>
              <p:nvPr>
                <p:ph type="title"/>
              </p:nvPr>
            </p:nvSpPr>
            <p:spPr>
              <a:xfrm>
                <a:off x="559042" y="2825771"/>
                <a:ext cx="11429516" cy="761979"/>
              </a:xfrm>
              <a:blipFill>
                <a:blip r:embed="rId5"/>
                <a:stretch>
                  <a:fillRect b="-39344"/>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EE1C18A0-0FDC-A2A7-914B-E0831115B81B}"/>
              </a:ext>
            </a:extLst>
          </p:cNvPr>
          <p:cNvSpPr>
            <a:spLocks noGrp="1"/>
          </p:cNvSpPr>
          <p:nvPr>
            <p:ph type="sldNum" sz="quarter" idx="12"/>
          </p:nvPr>
        </p:nvSpPr>
        <p:spPr/>
        <p:txBody>
          <a:bodyPr/>
          <a:lstStyle/>
          <a:p>
            <a:fld id="{66E0AC87-F9B6-4F7A-AB3A-6863E2A5800B}" type="slidenum">
              <a:rPr lang="zh-CN" altLang="en-US" smtClean="0"/>
              <a:pPr/>
              <a:t>73</a:t>
            </a:fld>
            <a:endParaRPr lang="zh-CN" altLang="en-US"/>
          </a:p>
        </p:txBody>
      </p:sp>
    </p:spTree>
    <p:extLst>
      <p:ext uri="{BB962C8B-B14F-4D97-AF65-F5344CB8AC3E}">
        <p14:creationId xmlns:p14="http://schemas.microsoft.com/office/powerpoint/2010/main" val="44976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B8B5-4AE4-890A-1ECB-A6A322D61F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220AFC48-C0F9-504C-316A-BB6BB7700486}"/>
                  </a:ext>
                </a:extLst>
              </p:cNvPr>
              <p:cNvSpPr>
                <a:spLocks noGrp="1"/>
              </p:cNvSpPr>
              <p:nvPr>
                <p:ph type="title"/>
              </p:nvPr>
            </p:nvSpPr>
            <p:spPr>
              <a:xfrm>
                <a:off x="584442" y="2851150"/>
                <a:ext cx="11429516" cy="761979"/>
              </a:xfrm>
            </p:spPr>
            <p:txBody>
              <a:bodyPr/>
              <a:lstStyle/>
              <a:p>
                <a:pPr algn="ctr"/>
                <a:r>
                  <a:rPr lang="zh-CN" altLang="en-US" sz="4000" dirty="0">
                    <a:solidFill>
                      <a:schemeClr val="tx2"/>
                    </a:solidFill>
                  </a:rPr>
                  <a:t>现在</a:t>
                </a:r>
                <a:r>
                  <a:rPr lang="en-US" sz="4000" dirty="0">
                    <a:solidFill>
                      <a:schemeClr val="tx2"/>
                    </a:solidFill>
                  </a:rPr>
                  <a:t>, </a:t>
                </a:r>
                <a:r>
                  <a:rPr lang="zh-CN" altLang="en-US" sz="4000" dirty="0">
                    <a:solidFill>
                      <a:schemeClr val="tx2"/>
                    </a:solidFill>
                  </a:rPr>
                  <a:t>且把</a:t>
                </a:r>
                <a:r>
                  <a:rPr lang="en-US" sz="4000" dirty="0">
                    <a:solidFill>
                      <a:schemeClr val="tx2"/>
                    </a:solidFill>
                  </a:rPr>
                  <a:t> </a:t>
                </a:r>
                <a14:m>
                  <m:oMath xmlns:m="http://schemas.openxmlformats.org/officeDocument/2006/math">
                    <m:r>
                      <a:rPr lang="en-US" sz="4000" b="1" i="1" smtClean="0">
                        <a:solidFill>
                          <a:schemeClr val="tx2"/>
                        </a:solidFill>
                        <a:latin typeface="Cambria Math" panose="02040503050406030204" pitchFamily="18" charset="0"/>
                      </a:rPr>
                      <m:t>𝜸</m:t>
                    </m:r>
                  </m:oMath>
                </a14:m>
                <a:r>
                  <a:rPr lang="en-US" sz="4000" dirty="0">
                    <a:solidFill>
                      <a:schemeClr val="tx2"/>
                    </a:solidFill>
                  </a:rPr>
                  <a:t> </a:t>
                </a:r>
                <a:r>
                  <a:rPr lang="zh-CN" altLang="en-US" sz="4000" dirty="0">
                    <a:solidFill>
                      <a:schemeClr val="tx2"/>
                    </a:solidFill>
                  </a:rPr>
                  <a:t>当作是一个基因</a:t>
                </a:r>
                <a:r>
                  <a:rPr lang="en-US" altLang="zh-CN" sz="4000" dirty="0">
                    <a:solidFill>
                      <a:schemeClr val="tx2"/>
                    </a:solidFill>
                  </a:rPr>
                  <a:t>!</a:t>
                </a:r>
                <a:endParaRPr lang="en-US" sz="4000" dirty="0">
                  <a:solidFill>
                    <a:schemeClr val="tx2"/>
                  </a:solidFill>
                </a:endParaRPr>
              </a:p>
            </p:txBody>
          </p:sp>
        </mc:Choice>
        <mc:Fallback xmlns="">
          <p:sp>
            <p:nvSpPr>
              <p:cNvPr id="2" name="标题 1">
                <a:extLst>
                  <a:ext uri="{FF2B5EF4-FFF2-40B4-BE49-F238E27FC236}">
                    <a16:creationId xmlns:a16="http://schemas.microsoft.com/office/drawing/2014/main" id="{220AFC48-C0F9-504C-316A-BB6BB7700486}"/>
                  </a:ext>
                </a:extLst>
              </p:cNvPr>
              <p:cNvSpPr>
                <a:spLocks noGrp="1" noRot="1" noChangeAspect="1" noMove="1" noResize="1" noEditPoints="1" noAdjustHandles="1" noChangeArrowheads="1" noChangeShapeType="1" noTextEdit="1"/>
              </p:cNvSpPr>
              <p:nvPr>
                <p:ph type="title"/>
              </p:nvPr>
            </p:nvSpPr>
            <p:spPr>
              <a:xfrm>
                <a:off x="584442" y="2851150"/>
                <a:ext cx="11429516" cy="761979"/>
              </a:xfrm>
              <a:blipFill>
                <a:blip r:embed="rId5"/>
                <a:stretch>
                  <a:fillRect t="-800" b="-40000"/>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F645BB9F-B211-1033-D9F4-23D9B750F73F}"/>
              </a:ext>
            </a:extLst>
          </p:cNvPr>
          <p:cNvSpPr>
            <a:spLocks noGrp="1"/>
          </p:cNvSpPr>
          <p:nvPr>
            <p:ph type="sldNum" sz="quarter" idx="12"/>
          </p:nvPr>
        </p:nvSpPr>
        <p:spPr/>
        <p:txBody>
          <a:bodyPr/>
          <a:lstStyle/>
          <a:p>
            <a:fld id="{66E0AC87-F9B6-4F7A-AB3A-6863E2A5800B}" type="slidenum">
              <a:rPr lang="zh-CN" altLang="en-US" smtClean="0"/>
              <a:pPr/>
              <a:t>74</a:t>
            </a:fld>
            <a:endParaRPr lang="zh-CN" altLang="en-US"/>
          </a:p>
        </p:txBody>
      </p:sp>
    </p:spTree>
    <p:extLst>
      <p:ext uri="{BB962C8B-B14F-4D97-AF65-F5344CB8AC3E}">
        <p14:creationId xmlns:p14="http://schemas.microsoft.com/office/powerpoint/2010/main" val="9247449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3F3CD-B9FF-83F9-3322-1073B5A3B0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0E614A-0333-C300-DA9E-C55F95AB7860}"/>
              </a:ext>
            </a:extLst>
          </p:cNvPr>
          <p:cNvSpPr>
            <a:spLocks noGrp="1"/>
          </p:cNvSpPr>
          <p:nvPr>
            <p:ph type="title"/>
          </p:nvPr>
        </p:nvSpPr>
        <p:spPr/>
        <p:txBody>
          <a:bodyPr/>
          <a:lstStyle/>
          <a:p>
            <a:r>
              <a:rPr lang="zh-CN" altLang="en-US" dirty="0"/>
              <a:t>推理与记忆的例子</a:t>
            </a:r>
          </a:p>
        </p:txBody>
      </p:sp>
      <p:sp>
        <p:nvSpPr>
          <p:cNvPr id="6" name="灯片编号占位符 5">
            <a:extLst>
              <a:ext uri="{FF2B5EF4-FFF2-40B4-BE49-F238E27FC236}">
                <a16:creationId xmlns:a16="http://schemas.microsoft.com/office/drawing/2014/main" id="{9C70139D-C19D-EBB0-F806-7CDAF617432E}"/>
              </a:ext>
            </a:extLst>
          </p:cNvPr>
          <p:cNvSpPr>
            <a:spLocks noGrp="1"/>
          </p:cNvSpPr>
          <p:nvPr>
            <p:ph type="sldNum" sz="quarter" idx="12"/>
          </p:nvPr>
        </p:nvSpPr>
        <p:spPr/>
        <p:txBody>
          <a:bodyPr/>
          <a:lstStyle/>
          <a:p>
            <a:fld id="{66E0AC87-F9B6-4F7A-AB3A-6863E2A5800B}" type="slidenum">
              <a:rPr lang="zh-CN" altLang="en-US" smtClean="0"/>
              <a:pPr/>
              <a:t>75</a:t>
            </a:fld>
            <a:endParaRPr lang="zh-CN" altLang="en-US"/>
          </a:p>
        </p:txBody>
      </p:sp>
      <p:sp>
        <p:nvSpPr>
          <p:cNvPr id="13" name="文本框 12">
            <a:extLst>
              <a:ext uri="{FF2B5EF4-FFF2-40B4-BE49-F238E27FC236}">
                <a16:creationId xmlns:a16="http://schemas.microsoft.com/office/drawing/2014/main" id="{27EF6CF5-B728-B805-B6D7-B987F53907AF}"/>
              </a:ext>
            </a:extLst>
          </p:cNvPr>
          <p:cNvSpPr txBox="1"/>
          <p:nvPr/>
        </p:nvSpPr>
        <p:spPr>
          <a:xfrm>
            <a:off x="0" y="6334780"/>
            <a:ext cx="988213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Zhongwang Zhang,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Pengxiao</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Lin,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Zhiwei</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Wang, Yaoyu Zhang, Zhi-Qin John Xu*, Initialization is Critical to Whether Transformers Fit Composite Functions by Inference or Memorizing,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NeurIPS</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2024</a:t>
            </a:r>
            <a:endParaRPr kumimoji="0" lang="zh-CN" altLang="en-US" sz="1400" b="0" i="0" u="none" strike="noStrike" kern="1200" cap="none" spc="0" normalizeH="0" baseline="0" noProof="0" dirty="0">
              <a:ln>
                <a:noFill/>
              </a:ln>
              <a:solidFill>
                <a:srgbClr val="FFFFFF"/>
              </a:solidFill>
              <a:effectLst/>
              <a:uLnTx/>
              <a:uFillTx/>
              <a:latin typeface="Book Antiqua" panose="02040602050305030304"/>
              <a:ea typeface="黑体" panose="02010609060101010101" charset="-122"/>
              <a:cs typeface="+mn-cs"/>
            </a:endParaRPr>
          </a:p>
        </p:txBody>
      </p:sp>
      <p:sp>
        <p:nvSpPr>
          <p:cNvPr id="20" name="文本框 19">
            <a:extLst>
              <a:ext uri="{FF2B5EF4-FFF2-40B4-BE49-F238E27FC236}">
                <a16:creationId xmlns:a16="http://schemas.microsoft.com/office/drawing/2014/main" id="{9A3C5319-B185-5A9F-1ABC-56614D2D7D63}"/>
              </a:ext>
            </a:extLst>
          </p:cNvPr>
          <p:cNvSpPr txBox="1"/>
          <p:nvPr/>
        </p:nvSpPr>
        <p:spPr>
          <a:xfrm>
            <a:off x="4252832" y="-1500"/>
            <a:ext cx="3661579"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大语言模型怎么做</a:t>
            </a:r>
            <a:r>
              <a:rPr kumimoji="0" lang="en-US" altLang="zh-CN"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a:t>
            </a:r>
            <a:endPar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
        <p:nvSpPr>
          <p:cNvPr id="18" name="矩形 17">
            <a:extLst>
              <a:ext uri="{FF2B5EF4-FFF2-40B4-BE49-F238E27FC236}">
                <a16:creationId xmlns:a16="http://schemas.microsoft.com/office/drawing/2014/main" id="{3F43414D-9E22-FD76-4089-9F9A19624571}"/>
              </a:ext>
            </a:extLst>
          </p:cNvPr>
          <p:cNvSpPr/>
          <p:nvPr/>
        </p:nvSpPr>
        <p:spPr>
          <a:xfrm>
            <a:off x="0" y="6223020"/>
            <a:ext cx="12191999" cy="62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srgbClr val="FFFFFF"/>
                </a:solidFill>
              </a:ln>
              <a:solidFill>
                <a:srgbClr val="FFFFF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17" name="箭头: 左 16">
                <a:extLst>
                  <a:ext uri="{FF2B5EF4-FFF2-40B4-BE49-F238E27FC236}">
                    <a16:creationId xmlns:a16="http://schemas.microsoft.com/office/drawing/2014/main" id="{7317556D-B554-40E8-385C-3E2A7ADEB3A3}"/>
                  </a:ext>
                </a:extLst>
              </p:cNvPr>
              <p:cNvSpPr/>
              <p:nvPr/>
            </p:nvSpPr>
            <p:spPr>
              <a:xfrm>
                <a:off x="10269411" y="5849599"/>
                <a:ext cx="1717991" cy="1135584"/>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3200" b="1" i="1" u="none" strike="noStrike" kern="1200" cap="none" spc="0" normalizeH="0" baseline="0" noProof="0">
                        <a:ln>
                          <a:noFill/>
                        </a:ln>
                        <a:solidFill>
                          <a:srgbClr val="FFFFFF"/>
                        </a:solidFill>
                        <a:effectLst/>
                        <a:uLnTx/>
                        <a:uFillTx/>
                        <a:latin typeface="Cambria Math" panose="02040503050406030204" pitchFamily="18" charset="0"/>
                        <a:cs typeface="+mn-cs"/>
                      </a:rPr>
                      <m:t>𝜸</m:t>
                    </m:r>
                  </m:oMath>
                </a14:m>
                <a:r>
                  <a:rPr kumimoji="0" lang="zh-CN" altLang="en-US" sz="3200" b="0" i="0" u="none" strike="noStrike" kern="1200" cap="none" spc="0" normalizeH="0" baseline="0" noProof="0" dirty="0">
                    <a:ln>
                      <a:noFill/>
                    </a:ln>
                    <a:solidFill>
                      <a:srgbClr val="FFFFFF"/>
                    </a:solidFill>
                    <a:effectLst/>
                    <a:uLnTx/>
                    <a:uFillTx/>
                    <a:latin typeface="Book Antiqua"/>
                    <a:ea typeface="黑体"/>
                    <a:cs typeface="+mn-cs"/>
                  </a:rPr>
                  <a:t> 很小</a:t>
                </a:r>
              </a:p>
            </p:txBody>
          </p:sp>
        </mc:Choice>
        <mc:Fallback xmlns="">
          <p:sp>
            <p:nvSpPr>
              <p:cNvPr id="17" name="箭头: 左 16">
                <a:extLst>
                  <a:ext uri="{FF2B5EF4-FFF2-40B4-BE49-F238E27FC236}">
                    <a16:creationId xmlns:a16="http://schemas.microsoft.com/office/drawing/2014/main" id="{7317556D-B554-40E8-385C-3E2A7ADEB3A3}"/>
                  </a:ext>
                </a:extLst>
              </p:cNvPr>
              <p:cNvSpPr>
                <a:spLocks noRot="1" noChangeAspect="1" noMove="1" noResize="1" noEditPoints="1" noAdjustHandles="1" noChangeArrowheads="1" noChangeShapeType="1" noTextEdit="1"/>
              </p:cNvSpPr>
              <p:nvPr/>
            </p:nvSpPr>
            <p:spPr>
              <a:xfrm>
                <a:off x="10269411" y="5849599"/>
                <a:ext cx="1717991" cy="1135584"/>
              </a:xfrm>
              <a:prstGeom prst="leftArrow">
                <a:avLst/>
              </a:prstGeom>
              <a:blipFill>
                <a:blip r:embed="rId8"/>
                <a:stretch>
                  <a:fillRect r="-7117"/>
                </a:stretch>
              </a:blipFill>
              <a:ln>
                <a:noFill/>
              </a:ln>
            </p:spPr>
            <p:txBody>
              <a:bodyPr/>
              <a:lstStyle/>
              <a:p>
                <a:r>
                  <a:rPr lang="zh-CN" altLang="en-US">
                    <a:noFill/>
                  </a:rPr>
                  <a:t> </a:t>
                </a:r>
              </a:p>
            </p:txBody>
          </p:sp>
        </mc:Fallback>
      </mc:AlternateContent>
      <p:sp>
        <p:nvSpPr>
          <p:cNvPr id="15" name="矩形: 圆角 14">
            <a:extLst>
              <a:ext uri="{FF2B5EF4-FFF2-40B4-BE49-F238E27FC236}">
                <a16:creationId xmlns:a16="http://schemas.microsoft.com/office/drawing/2014/main" id="{FC2E11C0-C05D-A139-9760-CC0DF49371C4}"/>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4" name="文本框 23">
            <a:extLst>
              <a:ext uri="{FF2B5EF4-FFF2-40B4-BE49-F238E27FC236}">
                <a16:creationId xmlns:a16="http://schemas.microsoft.com/office/drawing/2014/main" id="{85F64395-B6E0-21F0-2386-A142C45EAF9B}"/>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5" name="矩形: 圆角 24">
            <a:extLst>
              <a:ext uri="{FF2B5EF4-FFF2-40B4-BE49-F238E27FC236}">
                <a16:creationId xmlns:a16="http://schemas.microsoft.com/office/drawing/2014/main" id="{38DE210C-57B6-C92B-5B5C-0ADF3616A1C0}"/>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6" name="矩形: 圆角 25">
            <a:extLst>
              <a:ext uri="{FF2B5EF4-FFF2-40B4-BE49-F238E27FC236}">
                <a16:creationId xmlns:a16="http://schemas.microsoft.com/office/drawing/2014/main" id="{D7CFCC7C-4EB1-0876-DB18-C3BABC3E171F}"/>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7" name="文本框 26">
            <a:extLst>
              <a:ext uri="{FF2B5EF4-FFF2-40B4-BE49-F238E27FC236}">
                <a16:creationId xmlns:a16="http://schemas.microsoft.com/office/drawing/2014/main" id="{3B0BA581-A2F1-7EA7-53E5-F9E627AFB6B5}"/>
              </a:ext>
            </a:extLst>
          </p:cNvPr>
          <p:cNvSpPr txBox="1"/>
          <p:nvPr/>
        </p:nvSpPr>
        <p:spPr>
          <a:xfrm>
            <a:off x="5563404" y="52573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28" name="矩形: 圆角 27">
            <a:extLst>
              <a:ext uri="{FF2B5EF4-FFF2-40B4-BE49-F238E27FC236}">
                <a16:creationId xmlns:a16="http://schemas.microsoft.com/office/drawing/2014/main" id="{CEDAA9DF-B3D8-0730-C139-696E8B5C1674}"/>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9" name="文本框 28">
            <a:extLst>
              <a:ext uri="{FF2B5EF4-FFF2-40B4-BE49-F238E27FC236}">
                <a16:creationId xmlns:a16="http://schemas.microsoft.com/office/drawing/2014/main" id="{2CC0591D-C16B-F4AD-72A2-39146E87128D}"/>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8A57E47-710A-E82C-0F96-8F192F5576BB}"/>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18A57E47-710A-E82C-0F96-8F192F5576BB}"/>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9"/>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E93CDE64-4F11-F5D0-8945-6CD9B207B08D}"/>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E93CDE64-4F11-F5D0-8945-6CD9B207B08D}"/>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10"/>
                <a:stretch>
                  <a:fillRect l="-598"/>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41AEE9B5-16BE-F3DA-8A09-EC4D21E7AC63}"/>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33" name="文本框 32">
            <a:extLst>
              <a:ext uri="{FF2B5EF4-FFF2-40B4-BE49-F238E27FC236}">
                <a16:creationId xmlns:a16="http://schemas.microsoft.com/office/drawing/2014/main" id="{02EE9EBC-D337-8A35-109A-6F78C715CB1E}"/>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A33DFB64-1DF0-1018-132E-2F0E8D0E951A}"/>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34" name="矩形: 圆角 33">
                <a:extLst>
                  <a:ext uri="{FF2B5EF4-FFF2-40B4-BE49-F238E27FC236}">
                    <a16:creationId xmlns:a16="http://schemas.microsoft.com/office/drawing/2014/main" id="{A33DFB64-1DF0-1018-132E-2F0E8D0E951A}"/>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11"/>
                <a:stretch>
                  <a:fillRect b="-502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4907783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74E8B-E719-14B7-53E2-2F6EDF310F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828E7D-D3F5-ABC9-E24F-6A624240C3C2}"/>
              </a:ext>
            </a:extLst>
          </p:cNvPr>
          <p:cNvSpPr>
            <a:spLocks noGrp="1"/>
          </p:cNvSpPr>
          <p:nvPr>
            <p:ph type="title"/>
          </p:nvPr>
        </p:nvSpPr>
        <p:spPr/>
        <p:txBody>
          <a:bodyPr/>
          <a:lstStyle/>
          <a:p>
            <a:r>
              <a:rPr lang="zh-CN" altLang="en-US" dirty="0"/>
              <a:t>推理与记忆的例子</a:t>
            </a:r>
          </a:p>
        </p:txBody>
      </p:sp>
      <p:sp>
        <p:nvSpPr>
          <p:cNvPr id="7" name="灯片编号占位符 6">
            <a:extLst>
              <a:ext uri="{FF2B5EF4-FFF2-40B4-BE49-F238E27FC236}">
                <a16:creationId xmlns:a16="http://schemas.microsoft.com/office/drawing/2014/main" id="{182B196F-F4EB-AC16-CA7F-1761E75AE25B}"/>
              </a:ext>
            </a:extLst>
          </p:cNvPr>
          <p:cNvSpPr>
            <a:spLocks noGrp="1"/>
          </p:cNvSpPr>
          <p:nvPr>
            <p:ph type="sldNum" sz="quarter" idx="12"/>
          </p:nvPr>
        </p:nvSpPr>
        <p:spPr/>
        <p:txBody>
          <a:bodyPr/>
          <a:lstStyle/>
          <a:p>
            <a:fld id="{66E0AC87-F9B6-4F7A-AB3A-6863E2A5800B}" type="slidenum">
              <a:rPr lang="zh-CN" altLang="en-US" smtClean="0"/>
              <a:pPr/>
              <a:t>76</a:t>
            </a:fld>
            <a:endParaRPr lang="zh-CN" altLang="en-US"/>
          </a:p>
        </p:txBody>
      </p:sp>
      <p:sp>
        <p:nvSpPr>
          <p:cNvPr id="13" name="文本框 12">
            <a:extLst>
              <a:ext uri="{FF2B5EF4-FFF2-40B4-BE49-F238E27FC236}">
                <a16:creationId xmlns:a16="http://schemas.microsoft.com/office/drawing/2014/main" id="{20B21724-EA4C-67CA-1DA2-B2BED81F11C7}"/>
              </a:ext>
            </a:extLst>
          </p:cNvPr>
          <p:cNvSpPr txBox="1"/>
          <p:nvPr/>
        </p:nvSpPr>
        <p:spPr>
          <a:xfrm>
            <a:off x="0" y="6334780"/>
            <a:ext cx="988213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Zhongwang Zhang,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Pengxiao</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Lin,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Zhiwei</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Wang, Yaoyu Zhang, Zhi-Qin John Xu*, Initialization is Critical to Whether Transformers Fit Composite Functions by Inference or Memorizing,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NeurIPS</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2024</a:t>
            </a:r>
            <a:endParaRPr kumimoji="0" lang="zh-CN" altLang="en-US" sz="1400" b="0" i="0" u="none" strike="noStrike" kern="1200" cap="none" spc="0" normalizeH="0" baseline="0" noProof="0" dirty="0">
              <a:ln>
                <a:noFill/>
              </a:ln>
              <a:solidFill>
                <a:srgbClr val="FFFFFF"/>
              </a:solidFill>
              <a:effectLst/>
              <a:uLnTx/>
              <a:uFillTx/>
              <a:latin typeface="Book Antiqua" panose="02040602050305030304"/>
              <a:ea typeface="黑体" panose="02010609060101010101" charset="-122"/>
              <a:cs typeface="+mn-cs"/>
            </a:endParaRPr>
          </a:p>
        </p:txBody>
      </p:sp>
      <p:sp>
        <p:nvSpPr>
          <p:cNvPr id="20" name="文本框 19">
            <a:extLst>
              <a:ext uri="{FF2B5EF4-FFF2-40B4-BE49-F238E27FC236}">
                <a16:creationId xmlns:a16="http://schemas.microsoft.com/office/drawing/2014/main" id="{EF6E0B80-6842-C534-EFAB-E650816A92DA}"/>
              </a:ext>
            </a:extLst>
          </p:cNvPr>
          <p:cNvSpPr txBox="1"/>
          <p:nvPr/>
        </p:nvSpPr>
        <p:spPr>
          <a:xfrm>
            <a:off x="4252832" y="-1500"/>
            <a:ext cx="3661579"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大语言模型怎么做</a:t>
            </a:r>
            <a:r>
              <a:rPr kumimoji="0" lang="en-US" altLang="zh-CN"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a:t>
            </a:r>
            <a:endPar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
        <p:nvSpPr>
          <p:cNvPr id="18" name="矩形 17">
            <a:extLst>
              <a:ext uri="{FF2B5EF4-FFF2-40B4-BE49-F238E27FC236}">
                <a16:creationId xmlns:a16="http://schemas.microsoft.com/office/drawing/2014/main" id="{AD5C214A-A83F-97CB-117E-49DE5F920146}"/>
              </a:ext>
            </a:extLst>
          </p:cNvPr>
          <p:cNvSpPr/>
          <p:nvPr/>
        </p:nvSpPr>
        <p:spPr>
          <a:xfrm>
            <a:off x="0" y="6223020"/>
            <a:ext cx="12191999" cy="62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srgbClr val="FFFFFF"/>
                </a:solidFill>
              </a:ln>
              <a:solidFill>
                <a:srgbClr val="FFFFFF"/>
              </a:solidFill>
              <a:effectLst/>
              <a:uLnTx/>
              <a:uFillTx/>
              <a:latin typeface="Book Antiqua"/>
              <a:ea typeface="黑体"/>
              <a:cs typeface="+mn-cs"/>
            </a:endParaRPr>
          </a:p>
        </p:txBody>
      </p:sp>
      <p:sp>
        <p:nvSpPr>
          <p:cNvPr id="15" name="矩形: 圆角 14">
            <a:extLst>
              <a:ext uri="{FF2B5EF4-FFF2-40B4-BE49-F238E27FC236}">
                <a16:creationId xmlns:a16="http://schemas.microsoft.com/office/drawing/2014/main" id="{33968162-D52B-921C-685A-1A2AF1EABE46}"/>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4" name="文本框 23">
            <a:extLst>
              <a:ext uri="{FF2B5EF4-FFF2-40B4-BE49-F238E27FC236}">
                <a16:creationId xmlns:a16="http://schemas.microsoft.com/office/drawing/2014/main" id="{3F98D84E-6DDC-C918-AD1C-20EE2C21099F}"/>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5" name="矩形: 圆角 24">
            <a:extLst>
              <a:ext uri="{FF2B5EF4-FFF2-40B4-BE49-F238E27FC236}">
                <a16:creationId xmlns:a16="http://schemas.microsoft.com/office/drawing/2014/main" id="{8E1F775C-2671-C694-0944-ADA59F58C5F4}"/>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6" name="矩形: 圆角 25">
            <a:extLst>
              <a:ext uri="{FF2B5EF4-FFF2-40B4-BE49-F238E27FC236}">
                <a16:creationId xmlns:a16="http://schemas.microsoft.com/office/drawing/2014/main" id="{A885D931-AC17-DABF-BD3A-EF7F7A40150D}"/>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7" name="文本框 26">
            <a:extLst>
              <a:ext uri="{FF2B5EF4-FFF2-40B4-BE49-F238E27FC236}">
                <a16:creationId xmlns:a16="http://schemas.microsoft.com/office/drawing/2014/main" id="{A6834511-E104-7C97-D06B-03F24D75BE25}"/>
              </a:ext>
            </a:extLst>
          </p:cNvPr>
          <p:cNvSpPr txBox="1"/>
          <p:nvPr/>
        </p:nvSpPr>
        <p:spPr>
          <a:xfrm>
            <a:off x="5563404" y="52573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28" name="矩形: 圆角 27">
            <a:extLst>
              <a:ext uri="{FF2B5EF4-FFF2-40B4-BE49-F238E27FC236}">
                <a16:creationId xmlns:a16="http://schemas.microsoft.com/office/drawing/2014/main" id="{10A4CC4C-A716-EFF0-9005-340768AFE9DA}"/>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9" name="文本框 28">
            <a:extLst>
              <a:ext uri="{FF2B5EF4-FFF2-40B4-BE49-F238E27FC236}">
                <a16:creationId xmlns:a16="http://schemas.microsoft.com/office/drawing/2014/main" id="{AF64C8EF-44AF-27B5-EFA9-316E2270543C}"/>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69B88CE2-78E0-F1EE-8F32-2CC2997624CE}"/>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69B88CE2-78E0-F1EE-8F32-2CC2997624CE}"/>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26CFE32C-F58B-8092-6075-CC34ACBB6E56}"/>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26CFE32C-F58B-8092-6075-CC34ACBB6E56}"/>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6"/>
                <a:stretch>
                  <a:fillRect l="-598"/>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07AEB3CE-32CE-5359-3803-8DDEE8B8C643}"/>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33" name="文本框 32">
            <a:extLst>
              <a:ext uri="{FF2B5EF4-FFF2-40B4-BE49-F238E27FC236}">
                <a16:creationId xmlns:a16="http://schemas.microsoft.com/office/drawing/2014/main" id="{6E4B6848-3FA1-3A62-D5AB-25C9F0368662}"/>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457EB423-5CE9-A86A-06D1-B12BC6DF55CB}"/>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34" name="矩形: 圆角 33">
                <a:extLst>
                  <a:ext uri="{FF2B5EF4-FFF2-40B4-BE49-F238E27FC236}">
                    <a16:creationId xmlns:a16="http://schemas.microsoft.com/office/drawing/2014/main" id="{457EB423-5CE9-A86A-06D1-B12BC6DF55CB}"/>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7"/>
                <a:stretch>
                  <a:fillRect b="-50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箭头: 左 2">
                <a:extLst>
                  <a:ext uri="{FF2B5EF4-FFF2-40B4-BE49-F238E27FC236}">
                    <a16:creationId xmlns:a16="http://schemas.microsoft.com/office/drawing/2014/main" id="{E49A428F-0037-F132-D15D-7907ECA7CC28}"/>
                  </a:ext>
                </a:extLst>
              </p:cNvPr>
              <p:cNvSpPr/>
              <p:nvPr/>
            </p:nvSpPr>
            <p:spPr>
              <a:xfrm>
                <a:off x="5781259" y="5849599"/>
                <a:ext cx="6206143" cy="1135584"/>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3200" b="1" i="1" u="none" strike="noStrike" kern="1200" cap="none" spc="0" normalizeH="0" baseline="0" noProof="0">
                        <a:ln>
                          <a:noFill/>
                        </a:ln>
                        <a:solidFill>
                          <a:srgbClr val="FFFFFF"/>
                        </a:solidFill>
                        <a:effectLst/>
                        <a:uLnTx/>
                        <a:uFillTx/>
                        <a:latin typeface="Cambria Math" panose="02040503050406030204" pitchFamily="18" charset="0"/>
                        <a:cs typeface="+mn-cs"/>
                      </a:rPr>
                      <m:t>𝜸</m:t>
                    </m:r>
                  </m:oMath>
                </a14:m>
                <a:r>
                  <a:rPr kumimoji="0" lang="zh-CN" altLang="en-US" sz="3200" b="0" i="0" u="none" strike="noStrike" kern="1200" cap="none" spc="0" normalizeH="0" baseline="0" noProof="0" dirty="0">
                    <a:ln>
                      <a:noFill/>
                    </a:ln>
                    <a:solidFill>
                      <a:srgbClr val="FFFFFF"/>
                    </a:solidFill>
                    <a:effectLst/>
                    <a:uLnTx/>
                    <a:uFillTx/>
                    <a:latin typeface="Book Antiqua"/>
                    <a:ea typeface="黑体"/>
                    <a:cs typeface="+mn-cs"/>
                  </a:rPr>
                  <a:t> 增大</a:t>
                </a:r>
              </a:p>
            </p:txBody>
          </p:sp>
        </mc:Choice>
        <mc:Fallback xmlns="">
          <p:sp>
            <p:nvSpPr>
              <p:cNvPr id="3" name="箭头: 左 2">
                <a:extLst>
                  <a:ext uri="{FF2B5EF4-FFF2-40B4-BE49-F238E27FC236}">
                    <a16:creationId xmlns:a16="http://schemas.microsoft.com/office/drawing/2014/main" id="{E49A428F-0037-F132-D15D-7907ECA7CC28}"/>
                  </a:ext>
                </a:extLst>
              </p:cNvPr>
              <p:cNvSpPr>
                <a:spLocks noRot="1" noChangeAspect="1" noMove="1" noResize="1" noEditPoints="1" noAdjustHandles="1" noChangeArrowheads="1" noChangeShapeType="1" noTextEdit="1"/>
              </p:cNvSpPr>
              <p:nvPr/>
            </p:nvSpPr>
            <p:spPr>
              <a:xfrm>
                <a:off x="5781259" y="5849599"/>
                <a:ext cx="6206143" cy="1135584"/>
              </a:xfrm>
              <a:prstGeom prst="leftArrow">
                <a:avLst/>
              </a:prstGeom>
              <a:blipFill>
                <a:blip r:embed="rId8"/>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4719557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6D5E1-0215-8DEF-8204-4ADDA195609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51ADB6-7CFC-545B-3463-1D2CF009570A}"/>
              </a:ext>
            </a:extLst>
          </p:cNvPr>
          <p:cNvSpPr>
            <a:spLocks noGrp="1"/>
          </p:cNvSpPr>
          <p:nvPr>
            <p:ph type="title"/>
          </p:nvPr>
        </p:nvSpPr>
        <p:spPr/>
        <p:txBody>
          <a:bodyPr/>
          <a:lstStyle/>
          <a:p>
            <a:r>
              <a:rPr lang="zh-CN" altLang="en-US" dirty="0"/>
              <a:t>推理与记忆的例子</a:t>
            </a:r>
          </a:p>
        </p:txBody>
      </p:sp>
      <p:sp>
        <p:nvSpPr>
          <p:cNvPr id="7" name="灯片编号占位符 6">
            <a:extLst>
              <a:ext uri="{FF2B5EF4-FFF2-40B4-BE49-F238E27FC236}">
                <a16:creationId xmlns:a16="http://schemas.microsoft.com/office/drawing/2014/main" id="{FEB809CF-38E1-C3C2-4AC5-DA3779DA29A6}"/>
              </a:ext>
            </a:extLst>
          </p:cNvPr>
          <p:cNvSpPr>
            <a:spLocks noGrp="1"/>
          </p:cNvSpPr>
          <p:nvPr>
            <p:ph type="sldNum" sz="quarter" idx="12"/>
          </p:nvPr>
        </p:nvSpPr>
        <p:spPr/>
        <p:txBody>
          <a:bodyPr/>
          <a:lstStyle/>
          <a:p>
            <a:fld id="{66E0AC87-F9B6-4F7A-AB3A-6863E2A5800B}" type="slidenum">
              <a:rPr lang="zh-CN" altLang="en-US" smtClean="0"/>
              <a:pPr/>
              <a:t>77</a:t>
            </a:fld>
            <a:endParaRPr lang="zh-CN" altLang="en-US"/>
          </a:p>
        </p:txBody>
      </p:sp>
      <p:sp>
        <p:nvSpPr>
          <p:cNvPr id="13" name="文本框 12">
            <a:extLst>
              <a:ext uri="{FF2B5EF4-FFF2-40B4-BE49-F238E27FC236}">
                <a16:creationId xmlns:a16="http://schemas.microsoft.com/office/drawing/2014/main" id="{E434BAF1-C72B-6B29-70CB-29582820539C}"/>
              </a:ext>
            </a:extLst>
          </p:cNvPr>
          <p:cNvSpPr txBox="1"/>
          <p:nvPr/>
        </p:nvSpPr>
        <p:spPr>
          <a:xfrm>
            <a:off x="0" y="6334780"/>
            <a:ext cx="988213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Zhongwang Zhang,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Pengxiao</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Lin,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Zhiwei</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Wang, Yaoyu Zhang, Zhi-Qin John Xu*, Initialization is Critical to Whether Transformers Fit Composite Functions by Inference or Memorizing,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NeurIPS</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2024</a:t>
            </a:r>
            <a:endParaRPr kumimoji="0" lang="zh-CN" altLang="en-US" sz="1400" b="0" i="0" u="none" strike="noStrike" kern="1200" cap="none" spc="0" normalizeH="0" baseline="0" noProof="0" dirty="0">
              <a:ln>
                <a:noFill/>
              </a:ln>
              <a:solidFill>
                <a:srgbClr val="FFFFFF"/>
              </a:solidFill>
              <a:effectLst/>
              <a:uLnTx/>
              <a:uFillTx/>
              <a:latin typeface="Book Antiqua" panose="02040602050305030304"/>
              <a:ea typeface="黑体" panose="02010609060101010101" charset="-122"/>
              <a:cs typeface="+mn-cs"/>
            </a:endParaRPr>
          </a:p>
        </p:txBody>
      </p:sp>
      <p:sp>
        <p:nvSpPr>
          <p:cNvPr id="20" name="文本框 19">
            <a:extLst>
              <a:ext uri="{FF2B5EF4-FFF2-40B4-BE49-F238E27FC236}">
                <a16:creationId xmlns:a16="http://schemas.microsoft.com/office/drawing/2014/main" id="{F5B2560B-CE84-B94C-EE7D-68CAC63A703D}"/>
              </a:ext>
            </a:extLst>
          </p:cNvPr>
          <p:cNvSpPr txBox="1"/>
          <p:nvPr/>
        </p:nvSpPr>
        <p:spPr>
          <a:xfrm>
            <a:off x="4252832" y="-1500"/>
            <a:ext cx="3661579"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大语言模型怎么做</a:t>
            </a:r>
            <a:r>
              <a:rPr kumimoji="0" lang="en-US" altLang="zh-CN"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a:t>
            </a:r>
            <a:endPar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
        <p:nvSpPr>
          <p:cNvPr id="18" name="矩形 17">
            <a:extLst>
              <a:ext uri="{FF2B5EF4-FFF2-40B4-BE49-F238E27FC236}">
                <a16:creationId xmlns:a16="http://schemas.microsoft.com/office/drawing/2014/main" id="{415FE563-08ED-5055-791F-E6F5658BFCEA}"/>
              </a:ext>
            </a:extLst>
          </p:cNvPr>
          <p:cNvSpPr/>
          <p:nvPr/>
        </p:nvSpPr>
        <p:spPr>
          <a:xfrm>
            <a:off x="0" y="6223020"/>
            <a:ext cx="12191999" cy="62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srgbClr val="FFFFFF"/>
                </a:solidFill>
              </a:ln>
              <a:solidFill>
                <a:srgbClr val="FFFFFF"/>
              </a:solidFill>
              <a:effectLst/>
              <a:uLnTx/>
              <a:uFillTx/>
              <a:latin typeface="Book Antiqua"/>
              <a:ea typeface="黑体"/>
              <a:cs typeface="+mn-cs"/>
            </a:endParaRPr>
          </a:p>
        </p:txBody>
      </p:sp>
      <p:sp>
        <p:nvSpPr>
          <p:cNvPr id="15" name="矩形: 圆角 14">
            <a:extLst>
              <a:ext uri="{FF2B5EF4-FFF2-40B4-BE49-F238E27FC236}">
                <a16:creationId xmlns:a16="http://schemas.microsoft.com/office/drawing/2014/main" id="{B994503F-4A5C-ED0B-CCD8-ADC5B88C9C7C}"/>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4" name="文本框 23">
            <a:extLst>
              <a:ext uri="{FF2B5EF4-FFF2-40B4-BE49-F238E27FC236}">
                <a16:creationId xmlns:a16="http://schemas.microsoft.com/office/drawing/2014/main" id="{87671D43-39AC-4D66-CE12-3C2E67FC40CC}"/>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5" name="矩形: 圆角 24">
            <a:extLst>
              <a:ext uri="{FF2B5EF4-FFF2-40B4-BE49-F238E27FC236}">
                <a16:creationId xmlns:a16="http://schemas.microsoft.com/office/drawing/2014/main" id="{43537C10-644A-DCDA-F84F-A135BD032F4E}"/>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6" name="矩形: 圆角 25">
            <a:extLst>
              <a:ext uri="{FF2B5EF4-FFF2-40B4-BE49-F238E27FC236}">
                <a16:creationId xmlns:a16="http://schemas.microsoft.com/office/drawing/2014/main" id="{5357C94F-DF26-C21A-20BD-100BB5F4356D}"/>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7" name="文本框 26">
            <a:extLst>
              <a:ext uri="{FF2B5EF4-FFF2-40B4-BE49-F238E27FC236}">
                <a16:creationId xmlns:a16="http://schemas.microsoft.com/office/drawing/2014/main" id="{D48B216D-525E-A6BC-89DA-C75C236D0035}"/>
              </a:ext>
            </a:extLst>
          </p:cNvPr>
          <p:cNvSpPr txBox="1"/>
          <p:nvPr/>
        </p:nvSpPr>
        <p:spPr>
          <a:xfrm>
            <a:off x="5563404" y="52573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28" name="矩形: 圆角 27">
            <a:extLst>
              <a:ext uri="{FF2B5EF4-FFF2-40B4-BE49-F238E27FC236}">
                <a16:creationId xmlns:a16="http://schemas.microsoft.com/office/drawing/2014/main" id="{0B359B11-C3D4-5D56-565F-9CD63B9D620D}"/>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9" name="文本框 28">
            <a:extLst>
              <a:ext uri="{FF2B5EF4-FFF2-40B4-BE49-F238E27FC236}">
                <a16:creationId xmlns:a16="http://schemas.microsoft.com/office/drawing/2014/main" id="{2623B376-D008-ED9D-B38F-AC554AE36D0A}"/>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BC92DB65-54D0-FB74-738F-49B2F7D3696C}"/>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BC92DB65-54D0-FB74-738F-49B2F7D3696C}"/>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62DBDDC-88E1-BD96-BB39-CAE20BC88666}"/>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462DBDDC-88E1-BD96-BB39-CAE20BC88666}"/>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6"/>
                <a:stretch>
                  <a:fillRect l="-598"/>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CBC6CD8B-E357-5461-534C-FC409B050DAF}"/>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33" name="文本框 32">
            <a:extLst>
              <a:ext uri="{FF2B5EF4-FFF2-40B4-BE49-F238E27FC236}">
                <a16:creationId xmlns:a16="http://schemas.microsoft.com/office/drawing/2014/main" id="{2372436D-D43C-3AE8-7FF7-009AA1AE4F95}"/>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4EF4CEE2-060B-D55C-CB4A-39A208EB942A}"/>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34" name="矩形: 圆角 33">
                <a:extLst>
                  <a:ext uri="{FF2B5EF4-FFF2-40B4-BE49-F238E27FC236}">
                    <a16:creationId xmlns:a16="http://schemas.microsoft.com/office/drawing/2014/main" id="{4EF4CEE2-060B-D55C-CB4A-39A208EB942A}"/>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7"/>
                <a:stretch>
                  <a:fillRect b="-50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箭头: 左 2">
                <a:extLst>
                  <a:ext uri="{FF2B5EF4-FFF2-40B4-BE49-F238E27FC236}">
                    <a16:creationId xmlns:a16="http://schemas.microsoft.com/office/drawing/2014/main" id="{35021069-3967-7873-6C74-667CACC3CDA5}"/>
                  </a:ext>
                </a:extLst>
              </p:cNvPr>
              <p:cNvSpPr/>
              <p:nvPr/>
            </p:nvSpPr>
            <p:spPr>
              <a:xfrm>
                <a:off x="2712027" y="5849599"/>
                <a:ext cx="9275375" cy="1135584"/>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3200" b="1" i="1" u="none" strike="noStrike" kern="1200" cap="none" spc="0" normalizeH="0" baseline="0" noProof="0">
                        <a:ln>
                          <a:noFill/>
                        </a:ln>
                        <a:solidFill>
                          <a:srgbClr val="FFFFFF"/>
                        </a:solidFill>
                        <a:effectLst/>
                        <a:uLnTx/>
                        <a:uFillTx/>
                        <a:latin typeface="Cambria Math" panose="02040503050406030204" pitchFamily="18" charset="0"/>
                        <a:cs typeface="+mn-cs"/>
                      </a:rPr>
                      <m:t>𝜸</m:t>
                    </m:r>
                  </m:oMath>
                </a14:m>
                <a:r>
                  <a:rPr kumimoji="0" lang="zh-CN" altLang="en-US" sz="3200" b="0" i="0" u="none" strike="noStrike" kern="1200" cap="none" spc="0" normalizeH="0" baseline="0" noProof="0" dirty="0">
                    <a:ln>
                      <a:noFill/>
                    </a:ln>
                    <a:solidFill>
                      <a:srgbClr val="FFFFFF"/>
                    </a:solidFill>
                    <a:effectLst/>
                    <a:uLnTx/>
                    <a:uFillTx/>
                    <a:latin typeface="Book Antiqua"/>
                    <a:ea typeface="黑体"/>
                    <a:cs typeface="+mn-cs"/>
                  </a:rPr>
                  <a:t> 较大</a:t>
                </a:r>
              </a:p>
            </p:txBody>
          </p:sp>
        </mc:Choice>
        <mc:Fallback xmlns="">
          <p:sp>
            <p:nvSpPr>
              <p:cNvPr id="3" name="箭头: 左 2">
                <a:extLst>
                  <a:ext uri="{FF2B5EF4-FFF2-40B4-BE49-F238E27FC236}">
                    <a16:creationId xmlns:a16="http://schemas.microsoft.com/office/drawing/2014/main" id="{35021069-3967-7873-6C74-667CACC3CDA5}"/>
                  </a:ext>
                </a:extLst>
              </p:cNvPr>
              <p:cNvSpPr>
                <a:spLocks noRot="1" noChangeAspect="1" noMove="1" noResize="1" noEditPoints="1" noAdjustHandles="1" noChangeArrowheads="1" noChangeShapeType="1" noTextEdit="1"/>
              </p:cNvSpPr>
              <p:nvPr/>
            </p:nvSpPr>
            <p:spPr>
              <a:xfrm>
                <a:off x="2712027" y="5849599"/>
                <a:ext cx="9275375" cy="1135584"/>
              </a:xfrm>
              <a:prstGeom prst="leftArrow">
                <a:avLst/>
              </a:prstGeom>
              <a:blipFill>
                <a:blip r:embed="rId8"/>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2002955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9F772-BD15-E5E1-636F-2C044AF951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F873BEF-7C96-4BFD-8A8F-2BFDFDBA0F3A}"/>
              </a:ext>
            </a:extLst>
          </p:cNvPr>
          <p:cNvSpPr>
            <a:spLocks noGrp="1"/>
          </p:cNvSpPr>
          <p:nvPr>
            <p:ph type="title"/>
          </p:nvPr>
        </p:nvSpPr>
        <p:spPr/>
        <p:txBody>
          <a:bodyPr/>
          <a:lstStyle/>
          <a:p>
            <a:r>
              <a:rPr lang="zh-CN" altLang="en-US" dirty="0"/>
              <a:t>推理与记忆的例子</a:t>
            </a:r>
          </a:p>
        </p:txBody>
      </p:sp>
      <p:sp>
        <p:nvSpPr>
          <p:cNvPr id="7" name="灯片编号占位符 6">
            <a:extLst>
              <a:ext uri="{FF2B5EF4-FFF2-40B4-BE49-F238E27FC236}">
                <a16:creationId xmlns:a16="http://schemas.microsoft.com/office/drawing/2014/main" id="{EB96A700-1F55-68E3-4A9D-6391872A7809}"/>
              </a:ext>
            </a:extLst>
          </p:cNvPr>
          <p:cNvSpPr>
            <a:spLocks noGrp="1"/>
          </p:cNvSpPr>
          <p:nvPr>
            <p:ph type="sldNum" sz="quarter" idx="12"/>
          </p:nvPr>
        </p:nvSpPr>
        <p:spPr/>
        <p:txBody>
          <a:bodyPr/>
          <a:lstStyle/>
          <a:p>
            <a:fld id="{66E0AC87-F9B6-4F7A-AB3A-6863E2A5800B}" type="slidenum">
              <a:rPr lang="zh-CN" altLang="en-US" smtClean="0"/>
              <a:pPr/>
              <a:t>78</a:t>
            </a:fld>
            <a:endParaRPr lang="zh-CN" altLang="en-US"/>
          </a:p>
        </p:txBody>
      </p:sp>
      <p:sp>
        <p:nvSpPr>
          <p:cNvPr id="13" name="文本框 12">
            <a:extLst>
              <a:ext uri="{FF2B5EF4-FFF2-40B4-BE49-F238E27FC236}">
                <a16:creationId xmlns:a16="http://schemas.microsoft.com/office/drawing/2014/main" id="{6C8B3923-0850-4FD5-F6E9-58CDC2614610}"/>
              </a:ext>
            </a:extLst>
          </p:cNvPr>
          <p:cNvSpPr txBox="1"/>
          <p:nvPr/>
        </p:nvSpPr>
        <p:spPr>
          <a:xfrm>
            <a:off x="0" y="6334780"/>
            <a:ext cx="988213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Zhongwang Zhang,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Pengxiao</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Lin,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Zhiwei</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Wang, Yaoyu Zhang, Zhi-Qin John Xu*, Initialization is Critical to Whether Transformers Fit Composite Functions by Inference or Memorizing,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NeurIPS</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2024</a:t>
            </a:r>
            <a:endParaRPr kumimoji="0" lang="zh-CN" altLang="en-US" sz="1400" b="0" i="0" u="none" strike="noStrike" kern="1200" cap="none" spc="0" normalizeH="0" baseline="0" noProof="0" dirty="0">
              <a:ln>
                <a:noFill/>
              </a:ln>
              <a:solidFill>
                <a:srgbClr val="FFFFFF"/>
              </a:solidFill>
              <a:effectLst/>
              <a:uLnTx/>
              <a:uFillTx/>
              <a:latin typeface="Book Antiqua" panose="02040602050305030304"/>
              <a:ea typeface="黑体" panose="02010609060101010101" charset="-122"/>
              <a:cs typeface="+mn-cs"/>
            </a:endParaRPr>
          </a:p>
        </p:txBody>
      </p:sp>
      <p:sp>
        <p:nvSpPr>
          <p:cNvPr id="20" name="文本框 19">
            <a:extLst>
              <a:ext uri="{FF2B5EF4-FFF2-40B4-BE49-F238E27FC236}">
                <a16:creationId xmlns:a16="http://schemas.microsoft.com/office/drawing/2014/main" id="{F9462706-ABAE-9FF9-1D7C-F93C9D065169}"/>
              </a:ext>
            </a:extLst>
          </p:cNvPr>
          <p:cNvSpPr txBox="1"/>
          <p:nvPr/>
        </p:nvSpPr>
        <p:spPr>
          <a:xfrm>
            <a:off x="4252832" y="-1500"/>
            <a:ext cx="3661579"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大语言模型怎么做</a:t>
            </a:r>
            <a:r>
              <a:rPr kumimoji="0" lang="en-US" altLang="zh-CN"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a:t>
            </a:r>
            <a:endPar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
        <p:nvSpPr>
          <p:cNvPr id="18" name="矩形 17">
            <a:extLst>
              <a:ext uri="{FF2B5EF4-FFF2-40B4-BE49-F238E27FC236}">
                <a16:creationId xmlns:a16="http://schemas.microsoft.com/office/drawing/2014/main" id="{C70BE0E1-EC03-2D1A-097C-603200244AC8}"/>
              </a:ext>
            </a:extLst>
          </p:cNvPr>
          <p:cNvSpPr/>
          <p:nvPr/>
        </p:nvSpPr>
        <p:spPr>
          <a:xfrm>
            <a:off x="0" y="6223020"/>
            <a:ext cx="12191999" cy="62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srgbClr val="FFFFFF"/>
                </a:solidFill>
              </a:ln>
              <a:solidFill>
                <a:srgbClr val="FFFFFF"/>
              </a:solidFill>
              <a:effectLst/>
              <a:uLnTx/>
              <a:uFillTx/>
              <a:latin typeface="Book Antiqua"/>
              <a:ea typeface="黑体"/>
              <a:cs typeface="+mn-cs"/>
            </a:endParaRPr>
          </a:p>
        </p:txBody>
      </p:sp>
      <p:sp>
        <p:nvSpPr>
          <p:cNvPr id="15" name="矩形: 圆角 14">
            <a:extLst>
              <a:ext uri="{FF2B5EF4-FFF2-40B4-BE49-F238E27FC236}">
                <a16:creationId xmlns:a16="http://schemas.microsoft.com/office/drawing/2014/main" id="{4496EAC5-0EA5-BF63-2C0C-7913B4700811}"/>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4" name="文本框 23">
            <a:extLst>
              <a:ext uri="{FF2B5EF4-FFF2-40B4-BE49-F238E27FC236}">
                <a16:creationId xmlns:a16="http://schemas.microsoft.com/office/drawing/2014/main" id="{F4482CAB-9DB4-40D1-6D8B-352D323C7A89}"/>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5" name="矩形: 圆角 24">
            <a:extLst>
              <a:ext uri="{FF2B5EF4-FFF2-40B4-BE49-F238E27FC236}">
                <a16:creationId xmlns:a16="http://schemas.microsoft.com/office/drawing/2014/main" id="{F177A98D-BD3B-E64B-4DF3-47803F199977}"/>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6" name="矩形: 圆角 25">
            <a:extLst>
              <a:ext uri="{FF2B5EF4-FFF2-40B4-BE49-F238E27FC236}">
                <a16:creationId xmlns:a16="http://schemas.microsoft.com/office/drawing/2014/main" id="{6FF994DF-798E-956A-B4E9-ED9AADB8E17A}"/>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7" name="文本框 26">
            <a:extLst>
              <a:ext uri="{FF2B5EF4-FFF2-40B4-BE49-F238E27FC236}">
                <a16:creationId xmlns:a16="http://schemas.microsoft.com/office/drawing/2014/main" id="{5031F5FA-2F7E-D481-97EF-167723CBD13E}"/>
              </a:ext>
            </a:extLst>
          </p:cNvPr>
          <p:cNvSpPr txBox="1"/>
          <p:nvPr/>
        </p:nvSpPr>
        <p:spPr>
          <a:xfrm>
            <a:off x="5563404" y="52573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28" name="矩形: 圆角 27">
            <a:extLst>
              <a:ext uri="{FF2B5EF4-FFF2-40B4-BE49-F238E27FC236}">
                <a16:creationId xmlns:a16="http://schemas.microsoft.com/office/drawing/2014/main" id="{5ABEE781-33A9-6D65-68C0-66C5E2A427B5}"/>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9" name="文本框 28">
            <a:extLst>
              <a:ext uri="{FF2B5EF4-FFF2-40B4-BE49-F238E27FC236}">
                <a16:creationId xmlns:a16="http://schemas.microsoft.com/office/drawing/2014/main" id="{CFC93CD3-18E6-41A5-99AE-C47EF830A8E2}"/>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398C51BA-A5D3-9FFB-2C36-610A52DEF444}"/>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398C51BA-A5D3-9FFB-2C36-610A52DEF444}"/>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7CEA95D-D49D-25B5-58A7-43359B531999}"/>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07CEA95D-D49D-25B5-58A7-43359B531999}"/>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6"/>
                <a:stretch>
                  <a:fillRect l="-598"/>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01662476-7646-225C-0CCA-8AF7FEB1612E}"/>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33" name="文本框 32">
            <a:extLst>
              <a:ext uri="{FF2B5EF4-FFF2-40B4-BE49-F238E27FC236}">
                <a16:creationId xmlns:a16="http://schemas.microsoft.com/office/drawing/2014/main" id="{0C7C627B-E656-FEA9-5306-81FDFC641DE0}"/>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CA05D48A-B917-7DC2-7323-4406AD7AE492}"/>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34" name="矩形: 圆角 33">
                <a:extLst>
                  <a:ext uri="{FF2B5EF4-FFF2-40B4-BE49-F238E27FC236}">
                    <a16:creationId xmlns:a16="http://schemas.microsoft.com/office/drawing/2014/main" id="{CA05D48A-B917-7DC2-7323-4406AD7AE492}"/>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7"/>
                <a:stretch>
                  <a:fillRect b="-50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箭头: 左 2">
                <a:extLst>
                  <a:ext uri="{FF2B5EF4-FFF2-40B4-BE49-F238E27FC236}">
                    <a16:creationId xmlns:a16="http://schemas.microsoft.com/office/drawing/2014/main" id="{36BD4D12-EC0A-01F7-28DE-7CD777B13021}"/>
                  </a:ext>
                </a:extLst>
              </p:cNvPr>
              <p:cNvSpPr/>
              <p:nvPr/>
            </p:nvSpPr>
            <p:spPr>
              <a:xfrm>
                <a:off x="-93517" y="5849599"/>
                <a:ext cx="12080920" cy="1135584"/>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3200" b="1" i="1" u="none" strike="noStrike" kern="1200" cap="none" spc="0" normalizeH="0" baseline="0" noProof="0">
                        <a:ln>
                          <a:noFill/>
                        </a:ln>
                        <a:solidFill>
                          <a:srgbClr val="FFFFFF"/>
                        </a:solidFill>
                        <a:effectLst/>
                        <a:uLnTx/>
                        <a:uFillTx/>
                        <a:latin typeface="Cambria Math" panose="02040503050406030204" pitchFamily="18" charset="0"/>
                        <a:cs typeface="+mn-cs"/>
                      </a:rPr>
                      <m:t>𝜸</m:t>
                    </m:r>
                  </m:oMath>
                </a14:m>
                <a:r>
                  <a:rPr kumimoji="0" lang="zh-CN" altLang="en-US" sz="3200" b="0" i="0" u="none" strike="noStrike" kern="1200" cap="none" spc="0" normalizeH="0" baseline="0" noProof="0" dirty="0">
                    <a:ln>
                      <a:noFill/>
                    </a:ln>
                    <a:solidFill>
                      <a:srgbClr val="FFFFFF"/>
                    </a:solidFill>
                    <a:effectLst/>
                    <a:uLnTx/>
                    <a:uFillTx/>
                    <a:latin typeface="Book Antiqua"/>
                    <a:ea typeface="黑体"/>
                    <a:cs typeface="+mn-cs"/>
                  </a:rPr>
                  <a:t> 很大</a:t>
                </a:r>
              </a:p>
            </p:txBody>
          </p:sp>
        </mc:Choice>
        <mc:Fallback xmlns="">
          <p:sp>
            <p:nvSpPr>
              <p:cNvPr id="3" name="箭头: 左 2">
                <a:extLst>
                  <a:ext uri="{FF2B5EF4-FFF2-40B4-BE49-F238E27FC236}">
                    <a16:creationId xmlns:a16="http://schemas.microsoft.com/office/drawing/2014/main" id="{36BD4D12-EC0A-01F7-28DE-7CD777B13021}"/>
                  </a:ext>
                </a:extLst>
              </p:cNvPr>
              <p:cNvSpPr>
                <a:spLocks noRot="1" noChangeAspect="1" noMove="1" noResize="1" noEditPoints="1" noAdjustHandles="1" noChangeArrowheads="1" noChangeShapeType="1" noTextEdit="1"/>
              </p:cNvSpPr>
              <p:nvPr/>
            </p:nvSpPr>
            <p:spPr>
              <a:xfrm>
                <a:off x="-93517" y="5849599"/>
                <a:ext cx="12080920" cy="1135584"/>
              </a:xfrm>
              <a:prstGeom prst="leftArrow">
                <a:avLst/>
              </a:prstGeom>
              <a:blipFill>
                <a:blip r:embed="rId8"/>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3599543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D2A84-0133-B4CC-8633-0DB281FC2C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5EEB1E-8DD0-147B-9037-ECECB787BE1E}"/>
              </a:ext>
            </a:extLst>
          </p:cNvPr>
          <p:cNvSpPr>
            <a:spLocks noGrp="1"/>
          </p:cNvSpPr>
          <p:nvPr>
            <p:ph type="title"/>
          </p:nvPr>
        </p:nvSpPr>
        <p:spPr/>
        <p:txBody>
          <a:bodyPr/>
          <a:lstStyle/>
          <a:p>
            <a:r>
              <a:rPr lang="zh-CN" altLang="en-US" dirty="0"/>
              <a:t>推理与记忆的例子</a:t>
            </a:r>
          </a:p>
        </p:txBody>
      </p:sp>
      <p:sp>
        <p:nvSpPr>
          <p:cNvPr id="7" name="灯片编号占位符 6">
            <a:extLst>
              <a:ext uri="{FF2B5EF4-FFF2-40B4-BE49-F238E27FC236}">
                <a16:creationId xmlns:a16="http://schemas.microsoft.com/office/drawing/2014/main" id="{FE1F33C4-D890-9AAF-8426-86207CCDCFE6}"/>
              </a:ext>
            </a:extLst>
          </p:cNvPr>
          <p:cNvSpPr>
            <a:spLocks noGrp="1"/>
          </p:cNvSpPr>
          <p:nvPr>
            <p:ph type="sldNum" sz="quarter" idx="12"/>
          </p:nvPr>
        </p:nvSpPr>
        <p:spPr/>
        <p:txBody>
          <a:bodyPr/>
          <a:lstStyle/>
          <a:p>
            <a:fld id="{66E0AC87-F9B6-4F7A-AB3A-6863E2A5800B}" type="slidenum">
              <a:rPr lang="zh-CN" altLang="en-US" smtClean="0"/>
              <a:pPr/>
              <a:t>79</a:t>
            </a:fld>
            <a:endParaRPr lang="zh-CN" altLang="en-US"/>
          </a:p>
        </p:txBody>
      </p:sp>
      <p:sp>
        <p:nvSpPr>
          <p:cNvPr id="13" name="文本框 12">
            <a:extLst>
              <a:ext uri="{FF2B5EF4-FFF2-40B4-BE49-F238E27FC236}">
                <a16:creationId xmlns:a16="http://schemas.microsoft.com/office/drawing/2014/main" id="{D122AE0C-BD10-E536-4785-363991492125}"/>
              </a:ext>
            </a:extLst>
          </p:cNvPr>
          <p:cNvSpPr txBox="1"/>
          <p:nvPr/>
        </p:nvSpPr>
        <p:spPr>
          <a:xfrm>
            <a:off x="0" y="6334780"/>
            <a:ext cx="988213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Zhongwang Zhang,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Pengxiao</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Lin,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Zhiwei</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Wang, Yaoyu Zhang, Zhi-Qin John Xu*, Initialization is Critical to Whether Transformers Fit Composite Functions by Inference or Memorizing, </a:t>
            </a:r>
            <a:r>
              <a:rPr kumimoji="0" lang="en-US" altLang="zh-CN" sz="1400" b="0" i="0" u="none" strike="noStrike" kern="1200" cap="none" spc="0" normalizeH="0" baseline="0" noProof="0" dirty="0" err="1">
                <a:ln>
                  <a:noFill/>
                </a:ln>
                <a:solidFill>
                  <a:srgbClr val="FFFFFF"/>
                </a:solidFill>
                <a:effectLst/>
                <a:uLnTx/>
                <a:uFillTx/>
                <a:latin typeface="Georgia" panose="02040502050405020303" pitchFamily="18" charset="0"/>
                <a:ea typeface="黑体" panose="02010609060101010101" charset="-122"/>
                <a:cs typeface="+mn-cs"/>
              </a:rPr>
              <a:t>NeurIPS</a:t>
            </a:r>
            <a:r>
              <a:rPr kumimoji="0" lang="en-US" altLang="zh-CN" sz="1400" b="0" i="0" u="none" strike="noStrike" kern="1200" cap="none" spc="0" normalizeH="0" baseline="0" noProof="0" dirty="0">
                <a:ln>
                  <a:noFill/>
                </a:ln>
                <a:solidFill>
                  <a:srgbClr val="FFFFFF"/>
                </a:solidFill>
                <a:effectLst/>
                <a:uLnTx/>
                <a:uFillTx/>
                <a:latin typeface="Georgia" panose="02040502050405020303" pitchFamily="18" charset="0"/>
                <a:ea typeface="黑体" panose="02010609060101010101" charset="-122"/>
                <a:cs typeface="+mn-cs"/>
              </a:rPr>
              <a:t> 2024</a:t>
            </a:r>
            <a:endParaRPr kumimoji="0" lang="zh-CN" altLang="en-US" sz="1400" b="0" i="0" u="none" strike="noStrike" kern="1200" cap="none" spc="0" normalizeH="0" baseline="0" noProof="0" dirty="0">
              <a:ln>
                <a:noFill/>
              </a:ln>
              <a:solidFill>
                <a:srgbClr val="FFFFFF"/>
              </a:solidFill>
              <a:effectLst/>
              <a:uLnTx/>
              <a:uFillTx/>
              <a:latin typeface="Book Antiqua" panose="02040602050305030304"/>
              <a:ea typeface="黑体" panose="02010609060101010101" charset="-122"/>
              <a:cs typeface="+mn-cs"/>
            </a:endParaRPr>
          </a:p>
        </p:txBody>
      </p:sp>
      <p:sp>
        <p:nvSpPr>
          <p:cNvPr id="20" name="文本框 19">
            <a:extLst>
              <a:ext uri="{FF2B5EF4-FFF2-40B4-BE49-F238E27FC236}">
                <a16:creationId xmlns:a16="http://schemas.microsoft.com/office/drawing/2014/main" id="{AA105E5C-389E-2302-3FBC-2C75533C22F1}"/>
              </a:ext>
            </a:extLst>
          </p:cNvPr>
          <p:cNvSpPr txBox="1"/>
          <p:nvPr/>
        </p:nvSpPr>
        <p:spPr>
          <a:xfrm>
            <a:off x="4252832" y="-1500"/>
            <a:ext cx="3661579"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大语言模型怎么做</a:t>
            </a:r>
            <a:r>
              <a:rPr kumimoji="0" lang="en-US" altLang="zh-CN"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a:t>
            </a:r>
            <a:endParaRPr kumimoji="0" lang="zh-CN" altLang="en-US" sz="3200" b="1"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
        <p:nvSpPr>
          <p:cNvPr id="18" name="矩形 17">
            <a:extLst>
              <a:ext uri="{FF2B5EF4-FFF2-40B4-BE49-F238E27FC236}">
                <a16:creationId xmlns:a16="http://schemas.microsoft.com/office/drawing/2014/main" id="{1604330D-6C38-09C3-B0FF-A520DEE34B6A}"/>
              </a:ext>
            </a:extLst>
          </p:cNvPr>
          <p:cNvSpPr/>
          <p:nvPr/>
        </p:nvSpPr>
        <p:spPr>
          <a:xfrm>
            <a:off x="0" y="6223020"/>
            <a:ext cx="12191999" cy="62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srgbClr val="FFFFFF"/>
                </a:solidFill>
              </a:ln>
              <a:solidFill>
                <a:srgbClr val="FFFFFF"/>
              </a:solidFill>
              <a:effectLst/>
              <a:uLnTx/>
              <a:uFillTx/>
              <a:latin typeface="Book Antiqua"/>
              <a:ea typeface="黑体"/>
              <a:cs typeface="+mn-cs"/>
            </a:endParaRPr>
          </a:p>
        </p:txBody>
      </p:sp>
      <p:sp>
        <p:nvSpPr>
          <p:cNvPr id="15" name="矩形: 圆角 14">
            <a:extLst>
              <a:ext uri="{FF2B5EF4-FFF2-40B4-BE49-F238E27FC236}">
                <a16:creationId xmlns:a16="http://schemas.microsoft.com/office/drawing/2014/main" id="{AA798FAB-BBD5-77F3-0BD2-6C24FD52454B}"/>
              </a:ext>
            </a:extLst>
          </p:cNvPr>
          <p:cNvSpPr/>
          <p:nvPr/>
        </p:nvSpPr>
        <p:spPr>
          <a:xfrm>
            <a:off x="2452987" y="2979022"/>
            <a:ext cx="3010641" cy="3085067"/>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4" name="文本框 23">
            <a:extLst>
              <a:ext uri="{FF2B5EF4-FFF2-40B4-BE49-F238E27FC236}">
                <a16:creationId xmlns:a16="http://schemas.microsoft.com/office/drawing/2014/main" id="{B4AE83BE-1C38-9989-EFEF-04E982CEBE48}"/>
              </a:ext>
            </a:extLst>
          </p:cNvPr>
          <p:cNvSpPr txBox="1"/>
          <p:nvPr/>
        </p:nvSpPr>
        <p:spPr>
          <a:xfrm>
            <a:off x="3205857" y="2479853"/>
            <a:ext cx="95410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对称性</a:t>
            </a:r>
          </a:p>
        </p:txBody>
      </p:sp>
      <p:sp>
        <p:nvSpPr>
          <p:cNvPr id="25" name="矩形: 圆角 24">
            <a:extLst>
              <a:ext uri="{FF2B5EF4-FFF2-40B4-BE49-F238E27FC236}">
                <a16:creationId xmlns:a16="http://schemas.microsoft.com/office/drawing/2014/main" id="{6BECDE48-320F-0925-7296-59DB2B1F8E7B}"/>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6" name="矩形: 圆角 25">
            <a:extLst>
              <a:ext uri="{FF2B5EF4-FFF2-40B4-BE49-F238E27FC236}">
                <a16:creationId xmlns:a16="http://schemas.microsoft.com/office/drawing/2014/main" id="{261D1D03-8865-A343-46B0-A88CAA8018AC}"/>
              </a:ext>
            </a:extLst>
          </p:cNvPr>
          <p:cNvSpPr/>
          <p:nvPr/>
        </p:nvSpPr>
        <p:spPr>
          <a:xfrm>
            <a:off x="5681632" y="948925"/>
            <a:ext cx="2146248" cy="5166823"/>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27" name="文本框 26">
            <a:extLst>
              <a:ext uri="{FF2B5EF4-FFF2-40B4-BE49-F238E27FC236}">
                <a16:creationId xmlns:a16="http://schemas.microsoft.com/office/drawing/2014/main" id="{E42711D0-1CB5-A80F-7765-4AAAE1F9EA93}"/>
              </a:ext>
            </a:extLst>
          </p:cNvPr>
          <p:cNvSpPr txBox="1"/>
          <p:nvPr/>
        </p:nvSpPr>
        <p:spPr>
          <a:xfrm>
            <a:off x="5563404" y="52573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函数关系</a:t>
            </a:r>
          </a:p>
        </p:txBody>
      </p:sp>
      <p:sp>
        <p:nvSpPr>
          <p:cNvPr id="28" name="矩形: 圆角 27">
            <a:extLst>
              <a:ext uri="{FF2B5EF4-FFF2-40B4-BE49-F238E27FC236}">
                <a16:creationId xmlns:a16="http://schemas.microsoft.com/office/drawing/2014/main" id="{40CC9D40-F0FF-25C6-3B40-1B1166F5F543}"/>
              </a:ext>
            </a:extLst>
          </p:cNvPr>
          <p:cNvSpPr/>
          <p:nvPr/>
        </p:nvSpPr>
        <p:spPr>
          <a:xfrm>
            <a:off x="7996962" y="761979"/>
            <a:ext cx="4022215" cy="534740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29" name="文本框 28">
            <a:extLst>
              <a:ext uri="{FF2B5EF4-FFF2-40B4-BE49-F238E27FC236}">
                <a16:creationId xmlns:a16="http://schemas.microsoft.com/office/drawing/2014/main" id="{C72399EC-A9A2-141B-64A1-5AEB2A1BC19C}"/>
              </a:ext>
            </a:extLst>
          </p:cNvPr>
          <p:cNvSpPr txBox="1"/>
          <p:nvPr/>
        </p:nvSpPr>
        <p:spPr>
          <a:xfrm>
            <a:off x="8274830" y="723213"/>
            <a:ext cx="3640137" cy="512512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2, 21) =27,   (2, 1, 29)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1, 50) = 56,  (1, 2, 31)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(1, 3</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16) = 19,  (3, 1, 16)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19</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4, 67) = 64,  (4, 1, 99) = 96</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60)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5</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(2, 3, 50)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(4, 2, 48)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41,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38)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31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(4, 3,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9</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0)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80,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4, 77) =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67</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51) = 61</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(1, 1, 58) = 6</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46) = 4</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8,  </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(2, 2, 35) = 37</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3</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 36) = 32,  (3, 3, 29) = 25</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(4, 4, 46) </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a:t>
            </a:r>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30</a:t>
            </a:r>
            <a:r>
              <a:rPr kumimoji="0" lang="en-US" altLang="zh-CN" sz="2000" b="0" i="0" u="none" strike="noStrike" kern="1200" cap="none" spc="0" normalizeH="0" baseline="0" noProof="0" dirty="0">
                <a:ln>
                  <a:noFill/>
                </a:ln>
                <a:solidFill>
                  <a:srgbClr val="351F0F"/>
                </a:solidFill>
                <a:effectLst/>
                <a:uLnTx/>
                <a:uFillTx/>
                <a:latin typeface="Book Antiqua"/>
                <a:ea typeface="黑体"/>
                <a:cs typeface="+mn-cs"/>
              </a:rPr>
              <a:t>,  (4, 4, 88) = 72</a:t>
            </a:r>
            <a:endParaRPr kumimoji="0" lang="zh-CN" altLang="en-US" sz="2000" b="0" i="0" u="none" strike="noStrike" kern="1200" cap="none" spc="0" normalizeH="0" baseline="0" noProof="0" dirty="0">
              <a:ln>
                <a:noFill/>
              </a:ln>
              <a:solidFill>
                <a:srgbClr val="351F0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C0ABDFC-B308-F640-5581-EB452894C0F7}"/>
                  </a:ext>
                </a:extLst>
              </p:cNvPr>
              <p:cNvSpPr txBox="1"/>
              <p:nvPr/>
            </p:nvSpPr>
            <p:spPr>
              <a:xfrm>
                <a:off x="5714112" y="1023957"/>
                <a:ext cx="2198309"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oMath>
                </a14:m>
                <a:r>
                  <a:rPr kumimoji="0" lang="zh-CN" altLang="en-US" sz="20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20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endParaRPr kumimoji="0" lang="en-US" altLang="zh-CN" sz="20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0" name="文本框 29">
                <a:extLst>
                  <a:ext uri="{FF2B5EF4-FFF2-40B4-BE49-F238E27FC236}">
                    <a16:creationId xmlns:a16="http://schemas.microsoft.com/office/drawing/2014/main" id="{398C51BA-A5D3-9FFB-2C36-610A52DEF444}"/>
                  </a:ext>
                </a:extLst>
              </p:cNvPr>
              <p:cNvSpPr txBox="1">
                <a:spLocks noRot="1" noChangeAspect="1" noMove="1" noResize="1" noEditPoints="1" noAdjustHandles="1" noChangeArrowheads="1" noChangeShapeType="1" noTextEdit="1"/>
              </p:cNvSpPr>
              <p:nvPr/>
            </p:nvSpPr>
            <p:spPr>
              <a:xfrm>
                <a:off x="5714112" y="1023957"/>
                <a:ext cx="2198309" cy="5016758"/>
              </a:xfrm>
              <a:prstGeom prst="rect">
                <a:avLst/>
              </a:prstGeom>
              <a:blipFill>
                <a:blip r:embed="rId5"/>
                <a:stretch>
                  <a:fillRect l="-1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B9E1E0A1-6A87-3175-32E3-8255D6EA9B79}"/>
                  </a:ext>
                </a:extLst>
              </p:cNvPr>
              <p:cNvSpPr txBox="1"/>
              <p:nvPr/>
            </p:nvSpPr>
            <p:spPr>
              <a:xfrm>
                <a:off x="2604209" y="3079577"/>
                <a:ext cx="3060069" cy="2855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+6</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−7</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r>
                        <m:rPr>
                          <m:nor/>
                        </m:rP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m:t>  </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smtClean="0">
                        <a:ln>
                          <a:noFill/>
                        </a:ln>
                        <a:solidFill>
                          <a:srgbClr val="351F0F"/>
                        </a:solidFill>
                        <a:effectLst/>
                        <a:uLnTx/>
                        <a:uFillTx/>
                        <a:latin typeface="Cambria Math" panose="02040503050406030204" pitchFamily="18" charset="0"/>
                        <a:cs typeface="+mn-cs"/>
                      </a:rPr>
                      <m:t>(1, 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+10</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2,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+2</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3</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oMath>
                </a14:m>
                <a:r>
                  <a:rPr kumimoji="0" lang="zh-CN" altLang="en-US" sz="1800" b="0" i="0" u="none" strike="noStrike" kern="1200" cap="none" spc="0" normalizeH="0" baseline="0" noProof="0" dirty="0">
                    <a:ln>
                      <a:noFill/>
                    </a:ln>
                    <a:solidFill>
                      <a:srgbClr val="351F0F"/>
                    </a:solidFill>
                    <a:effectLst/>
                    <a:uLnTx/>
                    <a:uFillTx/>
                    <a:latin typeface="Book Antiqua"/>
                    <a:ea typeface="黑体"/>
                    <a:cs typeface="+mn-cs"/>
                  </a:rPr>
                  <a:t> </a:t>
                </a:r>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d>
                        <m:dPr>
                          <m:ctrlP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 </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e>
                      </m:d>
                      <m:r>
                        <a:rPr kumimoji="0" lang="zh-CN" altLang="en-US"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𝑥</m:t>
                      </m:r>
                      <m:r>
                        <a:rPr kumimoji="0" lang="en-US" altLang="zh-CN" sz="1800" b="0" i="1" u="none" strike="noStrike" kern="1200" cap="none" spc="0" normalizeH="0" baseline="0" noProof="0" dirty="0">
                          <a:ln>
                            <a:noFill/>
                          </a:ln>
                          <a:solidFill>
                            <a:srgbClr val="351F0F"/>
                          </a:solidFill>
                          <a:effectLst/>
                          <a:uLnTx/>
                          <a:uFillTx/>
                          <a:latin typeface="Cambria Math" panose="02040503050406030204" pitchFamily="18" charset="0"/>
                          <a:cs typeface="+mn-cs"/>
                        </a:rPr>
                        <m:t>−16</m:t>
                      </m:r>
                    </m:oMath>
                  </m:oMathPara>
                </a14:m>
                <a:endParaRPr kumimoji="0" lang="en-US" altLang="zh-CN" sz="1800" b="0" i="0" u="none" strike="noStrike" kern="1200" cap="none" spc="0" normalizeH="0" baseline="0" noProof="0" dirty="0">
                  <a:ln>
                    <a:noFill/>
                  </a:ln>
                  <a:solidFill>
                    <a:srgbClr val="351F0F"/>
                  </a:solidFill>
                  <a:effectLst/>
                  <a:uLnTx/>
                  <a:uFillTx/>
                  <a:latin typeface="Book Antiqua"/>
                  <a:ea typeface="黑体"/>
                  <a:cs typeface="+mn-cs"/>
                </a:endParaRPr>
              </a:p>
            </p:txBody>
          </p:sp>
        </mc:Choice>
        <mc:Fallback xmlns="">
          <p:sp>
            <p:nvSpPr>
              <p:cNvPr id="31" name="文本框 30">
                <a:extLst>
                  <a:ext uri="{FF2B5EF4-FFF2-40B4-BE49-F238E27FC236}">
                    <a16:creationId xmlns:a16="http://schemas.microsoft.com/office/drawing/2014/main" id="{07CEA95D-D49D-25B5-58A7-43359B531999}"/>
                  </a:ext>
                </a:extLst>
              </p:cNvPr>
              <p:cNvSpPr txBox="1">
                <a:spLocks noRot="1" noChangeAspect="1" noMove="1" noResize="1" noEditPoints="1" noAdjustHandles="1" noChangeArrowheads="1" noChangeShapeType="1" noTextEdit="1"/>
              </p:cNvSpPr>
              <p:nvPr/>
            </p:nvSpPr>
            <p:spPr>
              <a:xfrm>
                <a:off x="2604209" y="3079577"/>
                <a:ext cx="3060069" cy="2855975"/>
              </a:xfrm>
              <a:prstGeom prst="rect">
                <a:avLst/>
              </a:prstGeom>
              <a:blipFill>
                <a:blip r:embed="rId6"/>
                <a:stretch>
                  <a:fillRect l="-598"/>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EB575055-BC90-F0A6-F624-17F1D86BD99E}"/>
              </a:ext>
            </a:extLst>
          </p:cNvPr>
          <p:cNvSpPr txBox="1"/>
          <p:nvPr/>
        </p:nvSpPr>
        <p:spPr>
          <a:xfrm>
            <a:off x="9369970" y="361869"/>
            <a:ext cx="697627"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记忆</a:t>
            </a:r>
          </a:p>
        </p:txBody>
      </p:sp>
      <p:sp>
        <p:nvSpPr>
          <p:cNvPr id="33" name="文本框 32">
            <a:extLst>
              <a:ext uri="{FF2B5EF4-FFF2-40B4-BE49-F238E27FC236}">
                <a16:creationId xmlns:a16="http://schemas.microsoft.com/office/drawing/2014/main" id="{FEA54D2D-17D9-28FF-B60E-3C5BC9A5EB7F}"/>
              </a:ext>
            </a:extLst>
          </p:cNvPr>
          <p:cNvSpPr txBox="1"/>
          <p:nvPr/>
        </p:nvSpPr>
        <p:spPr>
          <a:xfrm>
            <a:off x="408694" y="4313515"/>
            <a:ext cx="1210588" cy="400110"/>
          </a:xfrm>
          <a:prstGeom prst="rect">
            <a:avLst/>
          </a:prstGeom>
          <a:noFill/>
        </p:spPr>
        <p:txBody>
          <a:bodyPr wrap="none" rtlCol="0">
            <a:spAutoFit/>
          </a:bodyPr>
          <a:lstStyle/>
          <a:p>
            <a:pPr lvl="0">
              <a:defRPr/>
            </a:pPr>
            <a:r>
              <a:rPr lang="zh-CN" altLang="en-US" sz="2000" b="1" dirty="0">
                <a:solidFill>
                  <a:srgbClr val="242C2D"/>
                </a:solidFill>
                <a:latin typeface="微软雅黑" panose="020B0503020204020204" pitchFamily="34" charset="-122"/>
                <a:ea typeface="微软雅黑" panose="020B0503020204020204" pitchFamily="34" charset="-122"/>
              </a:rPr>
              <a:t>复合关系</a:t>
            </a:r>
          </a:p>
        </p:txBody>
      </p: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A7713F9C-51A3-B928-FD0B-65537700144D}"/>
                  </a:ext>
                </a:extLst>
              </p:cNvPr>
              <p:cNvSpPr/>
              <p:nvPr/>
            </p:nvSpPr>
            <p:spPr>
              <a:xfrm>
                <a:off x="247519" y="4730982"/>
                <a:ext cx="2074826" cy="1333107"/>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8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8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8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34" name="矩形: 圆角 33">
                <a:extLst>
                  <a:ext uri="{FF2B5EF4-FFF2-40B4-BE49-F238E27FC236}">
                    <a16:creationId xmlns:a16="http://schemas.microsoft.com/office/drawing/2014/main" id="{CA05D48A-B917-7DC2-7323-4406AD7AE492}"/>
                  </a:ext>
                </a:extLst>
              </p:cNvPr>
              <p:cNvSpPr>
                <a:spLocks noRot="1" noChangeAspect="1" noMove="1" noResize="1" noEditPoints="1" noAdjustHandles="1" noChangeArrowheads="1" noChangeShapeType="1" noTextEdit="1"/>
              </p:cNvSpPr>
              <p:nvPr/>
            </p:nvSpPr>
            <p:spPr>
              <a:xfrm>
                <a:off x="247519" y="4730982"/>
                <a:ext cx="2074826" cy="1333107"/>
              </a:xfrm>
              <a:prstGeom prst="roundRect">
                <a:avLst>
                  <a:gd name="adj" fmla="val 25632"/>
                </a:avLst>
              </a:prstGeom>
              <a:blipFill>
                <a:blip r:embed="rId7"/>
                <a:stretch>
                  <a:fillRect b="-502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箭头: 左 2">
                <a:extLst>
                  <a:ext uri="{FF2B5EF4-FFF2-40B4-BE49-F238E27FC236}">
                    <a16:creationId xmlns:a16="http://schemas.microsoft.com/office/drawing/2014/main" id="{10DE873F-536C-C4A9-5968-19A46442C8BC}"/>
                  </a:ext>
                </a:extLst>
              </p:cNvPr>
              <p:cNvSpPr/>
              <p:nvPr/>
            </p:nvSpPr>
            <p:spPr>
              <a:xfrm>
                <a:off x="-93517" y="5849599"/>
                <a:ext cx="12080920" cy="1135584"/>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3200" b="1" i="1" u="none" strike="noStrike" kern="1200" cap="none" spc="0" normalizeH="0" baseline="0" noProof="0">
                        <a:ln>
                          <a:noFill/>
                        </a:ln>
                        <a:solidFill>
                          <a:srgbClr val="FFFFFF"/>
                        </a:solidFill>
                        <a:effectLst/>
                        <a:uLnTx/>
                        <a:uFillTx/>
                        <a:latin typeface="Cambria Math" panose="02040503050406030204" pitchFamily="18" charset="0"/>
                        <a:cs typeface="+mn-cs"/>
                      </a:rPr>
                      <m:t>𝜸</m:t>
                    </m:r>
                  </m:oMath>
                </a14:m>
                <a:r>
                  <a:rPr kumimoji="0" lang="zh-CN" altLang="en-US" sz="3200" b="0" i="0" u="none" strike="noStrike" kern="1200" cap="none" spc="0" normalizeH="0" baseline="0" noProof="0" dirty="0">
                    <a:ln>
                      <a:noFill/>
                    </a:ln>
                    <a:solidFill>
                      <a:srgbClr val="FFFFFF"/>
                    </a:solidFill>
                    <a:effectLst/>
                    <a:uLnTx/>
                    <a:uFillTx/>
                    <a:latin typeface="Book Antiqua"/>
                    <a:ea typeface="黑体"/>
                    <a:cs typeface="+mn-cs"/>
                  </a:rPr>
                  <a:t> 逐步变大</a:t>
                </a:r>
              </a:p>
            </p:txBody>
          </p:sp>
        </mc:Choice>
        <mc:Fallback xmlns="">
          <p:sp>
            <p:nvSpPr>
              <p:cNvPr id="3" name="箭头: 左 2">
                <a:extLst>
                  <a:ext uri="{FF2B5EF4-FFF2-40B4-BE49-F238E27FC236}">
                    <a16:creationId xmlns:a16="http://schemas.microsoft.com/office/drawing/2014/main" id="{10DE873F-536C-C4A9-5968-19A46442C8BC}"/>
                  </a:ext>
                </a:extLst>
              </p:cNvPr>
              <p:cNvSpPr>
                <a:spLocks noRot="1" noChangeAspect="1" noMove="1" noResize="1" noEditPoints="1" noAdjustHandles="1" noChangeArrowheads="1" noChangeShapeType="1" noTextEdit="1"/>
              </p:cNvSpPr>
              <p:nvPr/>
            </p:nvSpPr>
            <p:spPr>
              <a:xfrm>
                <a:off x="-93517" y="5849599"/>
                <a:ext cx="12080920" cy="1135584"/>
              </a:xfrm>
              <a:prstGeom prst="leftArrow">
                <a:avLst/>
              </a:prstGeom>
              <a:blipFill>
                <a:blip r:embed="rId8"/>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9798363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锚函数</a:t>
            </a:r>
          </a:p>
        </p:txBody>
      </p:sp>
      <p:sp>
        <p:nvSpPr>
          <p:cNvPr id="6" name="文本框 5"/>
          <p:cNvSpPr txBox="1"/>
          <p:nvPr/>
        </p:nvSpPr>
        <p:spPr>
          <a:xfrm>
            <a:off x="309346" y="1472534"/>
            <a:ext cx="28933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指定</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作为</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锚点</a:t>
            </a:r>
            <a:endParaRPr kumimoji="0" lang="zh-CN" altLang="en-US" sz="2400" b="1"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398755" y="1243039"/>
            <a:ext cx="220803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其他</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作为</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关键项</a:t>
            </a:r>
          </a:p>
        </p:txBody>
      </p:sp>
      <p:sp>
        <p:nvSpPr>
          <p:cNvPr id="8" name="矩形 7"/>
          <p:cNvSpPr/>
          <p:nvPr/>
        </p:nvSpPr>
        <p:spPr>
          <a:xfrm>
            <a:off x="4049250" y="2272990"/>
            <a:ext cx="747761" cy="433088"/>
          </a:xfrm>
          <a:prstGeom prst="rect">
            <a:avLst/>
          </a:prstGeom>
          <a:solidFill>
            <a:schemeClr val="tx1">
              <a:lumMod val="20000"/>
              <a:lumOff val="8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5</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11" name="箭头: 右 10"/>
          <p:cNvSpPr/>
          <p:nvPr/>
        </p:nvSpPr>
        <p:spPr>
          <a:xfrm>
            <a:off x="5602514" y="3026229"/>
            <a:ext cx="1444172" cy="319314"/>
          </a:xfrm>
          <a:prstGeom prst="rightArrow">
            <a:avLst>
              <a:gd name="adj1" fmla="val 34164"/>
              <a:gd name="adj2" fmla="val 63196"/>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12" name="文本框 11"/>
          <p:cNvSpPr txBox="1"/>
          <p:nvPr/>
        </p:nvSpPr>
        <p:spPr>
          <a:xfrm>
            <a:off x="7859127" y="1388635"/>
            <a:ext cx="14178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数据集</a:t>
            </a:r>
            <a:endParaRPr kumimoji="0" lang="zh-CN" altLang="en-US" sz="2400" b="1"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7702327" y="1980743"/>
            <a:ext cx="1574643" cy="2951898"/>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21</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27</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29</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35</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50</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56</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29</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3</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3</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25)</a:t>
            </a:r>
            <a:endPar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46</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4</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4</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30</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endPar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27" name="文本框 26"/>
          <p:cNvSpPr txBox="1"/>
          <p:nvPr/>
        </p:nvSpPr>
        <p:spPr>
          <a:xfrm>
            <a:off x="9508540" y="3299951"/>
            <a:ext cx="26834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训练模型预测结果</a:t>
            </a:r>
          </a:p>
        </p:txBody>
      </p:sp>
      <p:sp>
        <p:nvSpPr>
          <p:cNvPr id="13" name="文本框 12"/>
          <p:cNvSpPr txBox="1"/>
          <p:nvPr/>
        </p:nvSpPr>
        <p:spPr>
          <a:xfrm>
            <a:off x="4194997" y="3535913"/>
            <a:ext cx="615553" cy="451406"/>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E2B63"/>
                </a:solidFill>
                <a:effectLst/>
                <a:uLnTx/>
                <a:uFillTx/>
                <a:latin typeface="Book Antiqua"/>
                <a:ea typeface="黑体"/>
                <a:cs typeface="+mn-cs"/>
              </a:rPr>
              <a:t>…</a:t>
            </a:r>
            <a:endParaRPr kumimoji="0" lang="zh-CN" altLang="en-US" sz="2800" b="1" i="0" u="none" strike="noStrike" kern="1200" cap="none" spc="0" normalizeH="0" baseline="0" noProof="0" dirty="0">
              <a:ln>
                <a:noFill/>
              </a:ln>
              <a:solidFill>
                <a:srgbClr val="0E2B63"/>
              </a:solidFill>
              <a:effectLst/>
              <a:uLnTx/>
              <a:uFillTx/>
              <a:latin typeface="Book Antiqua"/>
              <a:ea typeface="黑体"/>
              <a:cs typeface="+mn-cs"/>
            </a:endParaRPr>
          </a:p>
        </p:txBody>
      </p:sp>
      <p:sp>
        <p:nvSpPr>
          <p:cNvPr id="14" name="矩形 13"/>
          <p:cNvSpPr/>
          <p:nvPr/>
        </p:nvSpPr>
        <p:spPr>
          <a:xfrm>
            <a:off x="4055103" y="2922946"/>
            <a:ext cx="747761" cy="433088"/>
          </a:xfrm>
          <a:prstGeom prst="rect">
            <a:avLst/>
          </a:prstGeom>
          <a:solidFill>
            <a:schemeClr val="tx1">
              <a:lumMod val="20000"/>
              <a:lumOff val="8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6</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16" name="矩形 15"/>
          <p:cNvSpPr/>
          <p:nvPr/>
        </p:nvSpPr>
        <p:spPr>
          <a:xfrm>
            <a:off x="4049249" y="4222858"/>
            <a:ext cx="747761" cy="433088"/>
          </a:xfrm>
          <a:prstGeom prst="rect">
            <a:avLst/>
          </a:prstGeom>
          <a:solidFill>
            <a:schemeClr val="tx1">
              <a:lumMod val="20000"/>
              <a:lumOff val="8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100</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18" name="文本框 17"/>
          <p:cNvSpPr txBox="1"/>
          <p:nvPr/>
        </p:nvSpPr>
        <p:spPr>
          <a:xfrm>
            <a:off x="8233819" y="3535913"/>
            <a:ext cx="615553" cy="451406"/>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endParaRPr kumimoji="0" lang="zh-CN" altLang="en-US" sz="2800" b="1"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32" name="文本框 31"/>
          <p:cNvSpPr txBox="1"/>
          <p:nvPr/>
        </p:nvSpPr>
        <p:spPr>
          <a:xfrm>
            <a:off x="8167563" y="5203944"/>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锚点</a:t>
            </a:r>
          </a:p>
        </p:txBody>
      </p:sp>
      <p:cxnSp>
        <p:nvCxnSpPr>
          <p:cNvPr id="34" name="直接箭头连接符 33"/>
          <p:cNvCxnSpPr>
            <a:cxnSpLocks/>
            <a:endCxn id="32" idx="0"/>
          </p:cNvCxnSpPr>
          <p:nvPr/>
        </p:nvCxnSpPr>
        <p:spPr>
          <a:xfrm>
            <a:off x="8370087" y="4878388"/>
            <a:ext cx="146290" cy="32555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cxnSpLocks/>
            <a:endCxn id="32" idx="0"/>
          </p:cNvCxnSpPr>
          <p:nvPr/>
        </p:nvCxnSpPr>
        <p:spPr>
          <a:xfrm flipH="1">
            <a:off x="8516377" y="4878388"/>
            <a:ext cx="132672" cy="32555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267731" y="5190604"/>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关键项</a:t>
            </a:r>
          </a:p>
        </p:txBody>
      </p:sp>
      <p:cxnSp>
        <p:nvCxnSpPr>
          <p:cNvPr id="45" name="直接箭头连接符 44"/>
          <p:cNvCxnSpPr>
            <a:cxnSpLocks/>
            <a:endCxn id="44" idx="0"/>
          </p:cNvCxnSpPr>
          <p:nvPr/>
        </p:nvCxnSpPr>
        <p:spPr>
          <a:xfrm flipH="1">
            <a:off x="7744785" y="4878388"/>
            <a:ext cx="281926" cy="31221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8922866" y="5200129"/>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目标</a:t>
            </a:r>
          </a:p>
        </p:txBody>
      </p:sp>
      <p:cxnSp>
        <p:nvCxnSpPr>
          <p:cNvPr id="54" name="直接箭头连接符 53"/>
          <p:cNvCxnSpPr>
            <a:cxnSpLocks/>
            <a:endCxn id="53" idx="0"/>
          </p:cNvCxnSpPr>
          <p:nvPr/>
        </p:nvCxnSpPr>
        <p:spPr>
          <a:xfrm>
            <a:off x="8985250" y="4878388"/>
            <a:ext cx="286430" cy="32174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653610" y="2272990"/>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solidFill>
                    <a:srgbClr val="D79A00"/>
                  </a:solidFill>
                </a:ln>
                <a:solidFill>
                  <a:srgbClr val="242C2D"/>
                </a:solidFill>
                <a:effectLst/>
                <a:uLnTx/>
                <a:uFillTx/>
                <a:latin typeface="微软雅黑" panose="020B0503020204020204" charset="-122"/>
                <a:ea typeface="微软雅黑" panose="020B0503020204020204" charset="-122"/>
                <a:cs typeface="+mn-cs"/>
              </a:rPr>
              <a:t>1</a:t>
            </a:r>
            <a:endParaRPr kumimoji="0" lang="zh-CN" altLang="en-US" sz="2000" b="1" i="0" u="none" strike="noStrike" kern="1200" cap="none" spc="0" normalizeH="0" baseline="0" noProof="0" dirty="0">
              <a:ln>
                <a:solidFill>
                  <a:srgbClr val="D79A00"/>
                </a:solidFill>
              </a:ln>
              <a:solidFill>
                <a:srgbClr val="242C2D"/>
              </a:solidFill>
              <a:effectLst/>
              <a:uLnTx/>
              <a:uFillTx/>
              <a:latin typeface="微软雅黑" panose="020B0503020204020204" charset="-122"/>
              <a:ea typeface="微软雅黑" panose="020B0503020204020204" charset="-122"/>
              <a:cs typeface="+mn-cs"/>
            </a:endParaRPr>
          </a:p>
        </p:txBody>
      </p:sp>
      <p:sp>
        <p:nvSpPr>
          <p:cNvPr id="60" name="矩形 59"/>
          <p:cNvSpPr/>
          <p:nvPr/>
        </p:nvSpPr>
        <p:spPr>
          <a:xfrm>
            <a:off x="653609" y="2922946"/>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2</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61" name="矩形 60"/>
          <p:cNvSpPr/>
          <p:nvPr/>
        </p:nvSpPr>
        <p:spPr>
          <a:xfrm>
            <a:off x="651971" y="4222858"/>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4</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62" name="矩形 61"/>
          <p:cNvSpPr/>
          <p:nvPr/>
        </p:nvSpPr>
        <p:spPr>
          <a:xfrm>
            <a:off x="651971" y="3572902"/>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3</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63" name="文本框 62"/>
          <p:cNvSpPr txBox="1"/>
          <p:nvPr/>
        </p:nvSpPr>
        <p:spPr>
          <a:xfrm>
            <a:off x="1502982" y="2289479"/>
            <a:ext cx="2584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64" name="文本框 63"/>
          <p:cNvSpPr txBox="1"/>
          <p:nvPr/>
        </p:nvSpPr>
        <p:spPr>
          <a:xfrm>
            <a:off x="1502982" y="2947759"/>
            <a:ext cx="2584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65" name="文本框 64"/>
          <p:cNvSpPr txBox="1"/>
          <p:nvPr/>
        </p:nvSpPr>
        <p:spPr>
          <a:xfrm>
            <a:off x="1497616" y="3572902"/>
            <a:ext cx="2584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66" name="文本框 65"/>
          <p:cNvSpPr txBox="1"/>
          <p:nvPr/>
        </p:nvSpPr>
        <p:spPr>
          <a:xfrm>
            <a:off x="1497616" y="4239347"/>
            <a:ext cx="2584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1" name="矩形 70"/>
          <p:cNvSpPr/>
          <p:nvPr/>
        </p:nvSpPr>
        <p:spPr>
          <a:xfrm>
            <a:off x="1870639" y="2289479"/>
            <a:ext cx="747761" cy="433088"/>
          </a:xfrm>
          <a:prstGeom prst="rect">
            <a:avLst/>
          </a:prstGeom>
          <a:solidFill>
            <a:srgbClr val="DBE9FC"/>
          </a:solidFill>
          <a:ln w="38100">
            <a:solidFill>
              <a:srgbClr val="96AFD2"/>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+5</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2" name="矩形 71"/>
          <p:cNvSpPr/>
          <p:nvPr/>
        </p:nvSpPr>
        <p:spPr>
          <a:xfrm>
            <a:off x="1870638" y="2939435"/>
            <a:ext cx="747761" cy="433088"/>
          </a:xfrm>
          <a:prstGeom prst="rect">
            <a:avLst/>
          </a:prstGeom>
          <a:solidFill>
            <a:srgbClr val="DBE9FC"/>
          </a:solidFill>
          <a:ln w="38100">
            <a:solidFill>
              <a:srgbClr val="96AFD2"/>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+1</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3" name="矩形 72"/>
          <p:cNvSpPr/>
          <p:nvPr/>
        </p:nvSpPr>
        <p:spPr>
          <a:xfrm>
            <a:off x="1869000" y="4239347"/>
            <a:ext cx="747761" cy="433088"/>
          </a:xfrm>
          <a:prstGeom prst="rect">
            <a:avLst/>
          </a:prstGeom>
          <a:solidFill>
            <a:srgbClr val="DBE9FC"/>
          </a:solidFill>
          <a:ln w="38100">
            <a:solidFill>
              <a:srgbClr val="96AFD2"/>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-8</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4" name="矩形 73"/>
          <p:cNvSpPr/>
          <p:nvPr/>
        </p:nvSpPr>
        <p:spPr>
          <a:xfrm>
            <a:off x="1869000" y="3589391"/>
            <a:ext cx="747761" cy="433088"/>
          </a:xfrm>
          <a:prstGeom prst="rect">
            <a:avLst/>
          </a:prstGeom>
          <a:solidFill>
            <a:srgbClr val="DBE9FC"/>
          </a:solidFill>
          <a:ln w="38100">
            <a:solidFill>
              <a:srgbClr val="96AFD2"/>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-2</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3" name="文本框 2">
            <a:extLst>
              <a:ext uri="{FF2B5EF4-FFF2-40B4-BE49-F238E27FC236}">
                <a16:creationId xmlns:a16="http://schemas.microsoft.com/office/drawing/2014/main" id="{6F705784-62E3-BAAB-3067-C0372D3BEFB9}"/>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31130029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矩形: 圆角 91"/>
          <p:cNvSpPr/>
          <p:nvPr/>
        </p:nvSpPr>
        <p:spPr>
          <a:xfrm>
            <a:off x="4256029" y="4661262"/>
            <a:ext cx="4363336" cy="704885"/>
          </a:xfrm>
          <a:prstGeom prst="roundRect">
            <a:avLst/>
          </a:prstGeom>
          <a:solidFill>
            <a:srgbClr val="FFFFFF"/>
          </a:solidFill>
          <a:ln w="38100">
            <a:solidFill>
              <a:schemeClr val="tx2"/>
            </a:solidFill>
            <a:prstDash val="dash"/>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 name="标题 1"/>
          <p:cNvSpPr>
            <a:spLocks noGrp="1"/>
          </p:cNvSpPr>
          <p:nvPr>
            <p:ph type="title"/>
          </p:nvPr>
        </p:nvSpPr>
        <p:spPr/>
        <p:txBody>
          <a:bodyPr/>
          <a:lstStyle/>
          <a:p>
            <a:r>
              <a:rPr lang="zh-CN" altLang="en-US" dirty="0"/>
              <a:t>神经网络学习锚函数</a:t>
            </a:r>
          </a:p>
        </p:txBody>
      </p:sp>
      <p:sp>
        <p:nvSpPr>
          <p:cNvPr id="31" name="椭圆 30"/>
          <p:cNvSpPr/>
          <p:nvPr/>
        </p:nvSpPr>
        <p:spPr>
          <a:xfrm>
            <a:off x="4668918" y="4024474"/>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32" name="椭圆 31"/>
          <p:cNvSpPr/>
          <p:nvPr/>
        </p:nvSpPr>
        <p:spPr>
          <a:xfrm>
            <a:off x="6213946" y="4024474"/>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33" name="椭圆 32"/>
          <p:cNvSpPr/>
          <p:nvPr/>
        </p:nvSpPr>
        <p:spPr>
          <a:xfrm>
            <a:off x="7758974" y="4024474"/>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34" name="椭圆 33"/>
          <p:cNvSpPr/>
          <p:nvPr/>
        </p:nvSpPr>
        <p:spPr>
          <a:xfrm>
            <a:off x="4668917" y="3339971"/>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35" name="椭圆 34"/>
          <p:cNvSpPr/>
          <p:nvPr/>
        </p:nvSpPr>
        <p:spPr>
          <a:xfrm>
            <a:off x="6213945" y="3339971"/>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36" name="椭圆 35"/>
          <p:cNvSpPr/>
          <p:nvPr/>
        </p:nvSpPr>
        <p:spPr>
          <a:xfrm>
            <a:off x="7758973" y="3339971"/>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8" name="直接箭头连接符 37"/>
          <p:cNvCxnSpPr>
            <a:stCxn id="31" idx="0"/>
            <a:endCxn id="34" idx="4"/>
          </p:cNvCxnSpPr>
          <p:nvPr/>
        </p:nvCxnSpPr>
        <p:spPr>
          <a:xfrm flipH="1" flipV="1">
            <a:off x="4898782" y="3799701"/>
            <a:ext cx="1"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0" name="直接箭头连接符 39"/>
          <p:cNvCxnSpPr>
            <a:stCxn id="31" idx="0"/>
            <a:endCxn id="35" idx="4"/>
          </p:cNvCxnSpPr>
          <p:nvPr/>
        </p:nvCxnSpPr>
        <p:spPr>
          <a:xfrm flipV="1">
            <a:off x="4898783" y="3799701"/>
            <a:ext cx="1545027" cy="224773"/>
          </a:xfrm>
          <a:prstGeom prst="straightConnector1">
            <a:avLst/>
          </a:prstGeom>
          <a:ln w="28575" cap="flat">
            <a:solidFill>
              <a:schemeClr val="bg2">
                <a:lumMod val="75000"/>
              </a:schemeClr>
            </a:solidFill>
            <a:headEnd w="lg" len="lg"/>
            <a:tailEnd type="triangle" w="med" len="med"/>
          </a:ln>
        </p:spPr>
        <p:style>
          <a:lnRef idx="1">
            <a:schemeClr val="accent2"/>
          </a:lnRef>
          <a:fillRef idx="0">
            <a:schemeClr val="accent2"/>
          </a:fillRef>
          <a:effectRef idx="0">
            <a:schemeClr val="accent2"/>
          </a:effectRef>
          <a:fontRef idx="minor">
            <a:schemeClr val="tx1"/>
          </a:fontRef>
        </p:style>
      </p:cxnSp>
      <p:cxnSp>
        <p:nvCxnSpPr>
          <p:cNvPr id="43" name="直接箭头连接符 42"/>
          <p:cNvCxnSpPr>
            <a:stCxn id="31" idx="0"/>
            <a:endCxn id="36" idx="4"/>
          </p:cNvCxnSpPr>
          <p:nvPr/>
        </p:nvCxnSpPr>
        <p:spPr>
          <a:xfrm flipV="1">
            <a:off x="4898783" y="3799701"/>
            <a:ext cx="3090055"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6" name="直接箭头连接符 45"/>
          <p:cNvCxnSpPr>
            <a:stCxn id="32" idx="0"/>
            <a:endCxn id="35" idx="4"/>
          </p:cNvCxnSpPr>
          <p:nvPr/>
        </p:nvCxnSpPr>
        <p:spPr>
          <a:xfrm flipH="1" flipV="1">
            <a:off x="6443810" y="3799701"/>
            <a:ext cx="1"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9" name="直接箭头连接符 48"/>
          <p:cNvCxnSpPr>
            <a:stCxn id="32" idx="0"/>
            <a:endCxn id="36" idx="4"/>
          </p:cNvCxnSpPr>
          <p:nvPr/>
        </p:nvCxnSpPr>
        <p:spPr>
          <a:xfrm flipV="1">
            <a:off x="6443811" y="3799701"/>
            <a:ext cx="1545027"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2" name="直接箭头连接符 51"/>
          <p:cNvCxnSpPr>
            <a:stCxn id="33" idx="0"/>
            <a:endCxn id="36" idx="4"/>
          </p:cNvCxnSpPr>
          <p:nvPr/>
        </p:nvCxnSpPr>
        <p:spPr>
          <a:xfrm flipH="1" flipV="1">
            <a:off x="7988838" y="3799701"/>
            <a:ext cx="1"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5" name="直接箭头连接符 54"/>
          <p:cNvCxnSpPr>
            <a:stCxn id="29" idx="0"/>
            <a:endCxn id="32" idx="4"/>
          </p:cNvCxnSpPr>
          <p:nvPr/>
        </p:nvCxnSpPr>
        <p:spPr>
          <a:xfrm flipV="1">
            <a:off x="6440241" y="4484204"/>
            <a:ext cx="3570" cy="321834"/>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8" name="直接箭头连接符 57"/>
          <p:cNvCxnSpPr>
            <a:stCxn id="30" idx="0"/>
          </p:cNvCxnSpPr>
          <p:nvPr/>
        </p:nvCxnSpPr>
        <p:spPr>
          <a:xfrm flipH="1" flipV="1">
            <a:off x="7985056" y="4493082"/>
            <a:ext cx="1" cy="312956"/>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61" name="直接箭头连接符 60"/>
          <p:cNvCxnSpPr/>
          <p:nvPr/>
        </p:nvCxnSpPr>
        <p:spPr>
          <a:xfrm flipV="1">
            <a:off x="4896576" y="4493082"/>
            <a:ext cx="0" cy="312956"/>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64" name="椭圆 63"/>
          <p:cNvSpPr/>
          <p:nvPr/>
        </p:nvSpPr>
        <p:spPr>
          <a:xfrm>
            <a:off x="4668915" y="2409559"/>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65" name="椭圆 64"/>
          <p:cNvSpPr/>
          <p:nvPr/>
        </p:nvSpPr>
        <p:spPr>
          <a:xfrm>
            <a:off x="6213943" y="2409559"/>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66" name="椭圆 65"/>
          <p:cNvSpPr/>
          <p:nvPr/>
        </p:nvSpPr>
        <p:spPr>
          <a:xfrm>
            <a:off x="7758971" y="2409559"/>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67" name="直接箭头连接符 66"/>
          <p:cNvCxnSpPr>
            <a:stCxn id="34" idx="0"/>
            <a:endCxn id="64" idx="4"/>
          </p:cNvCxnSpPr>
          <p:nvPr/>
        </p:nvCxnSpPr>
        <p:spPr>
          <a:xfrm flipH="1" flipV="1">
            <a:off x="4898780" y="2869289"/>
            <a:ext cx="2"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68" name="直接箭头连接符 67"/>
          <p:cNvCxnSpPr>
            <a:stCxn id="34" idx="0"/>
            <a:endCxn id="65" idx="4"/>
          </p:cNvCxnSpPr>
          <p:nvPr/>
        </p:nvCxnSpPr>
        <p:spPr>
          <a:xfrm flipV="1">
            <a:off x="4898782" y="2869289"/>
            <a:ext cx="1545026" cy="470682"/>
          </a:xfrm>
          <a:prstGeom prst="straightConnector1">
            <a:avLst/>
          </a:prstGeom>
          <a:ln w="28575" cap="flat">
            <a:solidFill>
              <a:schemeClr val="bg2">
                <a:lumMod val="75000"/>
              </a:schemeClr>
            </a:solidFill>
            <a:headEnd w="lg" len="lg"/>
            <a:tailEnd type="triangle" w="med" len="med"/>
          </a:ln>
        </p:spPr>
        <p:style>
          <a:lnRef idx="1">
            <a:schemeClr val="accent2"/>
          </a:lnRef>
          <a:fillRef idx="0">
            <a:schemeClr val="accent2"/>
          </a:fillRef>
          <a:effectRef idx="0">
            <a:schemeClr val="accent2"/>
          </a:effectRef>
          <a:fontRef idx="minor">
            <a:schemeClr val="tx1"/>
          </a:fontRef>
        </p:style>
      </p:cxnSp>
      <p:cxnSp>
        <p:nvCxnSpPr>
          <p:cNvPr id="69" name="直接箭头连接符 68"/>
          <p:cNvCxnSpPr>
            <a:stCxn id="34" idx="0"/>
            <a:endCxn id="66" idx="4"/>
          </p:cNvCxnSpPr>
          <p:nvPr/>
        </p:nvCxnSpPr>
        <p:spPr>
          <a:xfrm flipV="1">
            <a:off x="4898782" y="2869289"/>
            <a:ext cx="3090054"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70" name="直接箭头连接符 69"/>
          <p:cNvCxnSpPr>
            <a:stCxn id="35" idx="0"/>
            <a:endCxn id="65" idx="4"/>
          </p:cNvCxnSpPr>
          <p:nvPr/>
        </p:nvCxnSpPr>
        <p:spPr>
          <a:xfrm flipH="1" flipV="1">
            <a:off x="6443808" y="2869289"/>
            <a:ext cx="2"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71" name="直接箭头连接符 70"/>
          <p:cNvCxnSpPr>
            <a:stCxn id="35" idx="0"/>
            <a:endCxn id="66" idx="4"/>
          </p:cNvCxnSpPr>
          <p:nvPr/>
        </p:nvCxnSpPr>
        <p:spPr>
          <a:xfrm flipV="1">
            <a:off x="6443810" y="2869289"/>
            <a:ext cx="1545026"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72" name="直接箭头连接符 71"/>
          <p:cNvCxnSpPr>
            <a:stCxn id="36" idx="0"/>
            <a:endCxn id="66" idx="4"/>
          </p:cNvCxnSpPr>
          <p:nvPr/>
        </p:nvCxnSpPr>
        <p:spPr>
          <a:xfrm flipH="1" flipV="1">
            <a:off x="7988836" y="2869289"/>
            <a:ext cx="2"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85" name="矩形 84"/>
          <p:cNvSpPr/>
          <p:nvPr/>
        </p:nvSpPr>
        <p:spPr>
          <a:xfrm>
            <a:off x="4401574" y="3015739"/>
            <a:ext cx="3982508" cy="17400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dist"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87" name="文本框 86"/>
          <p:cNvSpPr txBox="1"/>
          <p:nvPr/>
        </p:nvSpPr>
        <p:spPr>
          <a:xfrm>
            <a:off x="6037986" y="2748802"/>
            <a:ext cx="799422"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 . .</a:t>
            </a:r>
            <a:endParaRPr kumimoji="0" lang="zh-CN" altLang="en-US" sz="2800" b="1" i="0" u="none" strike="noStrike" kern="1200" cap="none" spc="0" normalizeH="0" baseline="0" noProof="0" dirty="0">
              <a:ln>
                <a:noFill/>
              </a:ln>
              <a:solidFill>
                <a:srgbClr val="242C2D"/>
              </a:solidFill>
              <a:effectLst/>
              <a:uLnTx/>
              <a:uFillTx/>
              <a:latin typeface="Book Antiqua"/>
              <a:ea typeface="黑体"/>
              <a:cs typeface="+mn-cs"/>
            </a:endParaRPr>
          </a:p>
        </p:txBody>
      </p:sp>
      <p:cxnSp>
        <p:nvCxnSpPr>
          <p:cNvPr id="89" name="直接箭头连接符 88"/>
          <p:cNvCxnSpPr>
            <a:stCxn id="66" idx="0"/>
            <a:endCxn id="90" idx="2"/>
          </p:cNvCxnSpPr>
          <p:nvPr/>
        </p:nvCxnSpPr>
        <p:spPr>
          <a:xfrm flipH="1" flipV="1">
            <a:off x="7986867" y="2120975"/>
            <a:ext cx="1969" cy="288584"/>
          </a:xfrm>
          <a:prstGeom prst="straightConnector1">
            <a:avLst/>
          </a:prstGeom>
          <a:ln w="38100">
            <a:solidFill>
              <a:srgbClr val="0E2B63"/>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7638053" y="1720865"/>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输出</a:t>
            </a:r>
          </a:p>
        </p:txBody>
      </p:sp>
      <p:sp>
        <p:nvSpPr>
          <p:cNvPr id="91" name="文本框 90"/>
          <p:cNvSpPr txBox="1"/>
          <p:nvPr/>
        </p:nvSpPr>
        <p:spPr>
          <a:xfrm>
            <a:off x="5832403" y="185100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神经网络</a:t>
            </a:r>
          </a:p>
        </p:txBody>
      </p:sp>
      <p:cxnSp>
        <p:nvCxnSpPr>
          <p:cNvPr id="94" name="连接符: 肘形 93"/>
          <p:cNvCxnSpPr>
            <a:stCxn id="92" idx="3"/>
            <a:endCxn id="96" idx="2"/>
          </p:cNvCxnSpPr>
          <p:nvPr/>
        </p:nvCxnSpPr>
        <p:spPr>
          <a:xfrm flipV="1">
            <a:off x="8619365" y="2120975"/>
            <a:ext cx="438583" cy="2892730"/>
          </a:xfrm>
          <a:prstGeom prst="bentConnector2">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8709134" y="1720865"/>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目标</a:t>
            </a:r>
          </a:p>
        </p:txBody>
      </p:sp>
      <p:sp>
        <p:nvSpPr>
          <p:cNvPr id="97" name="左大括号 96"/>
          <p:cNvSpPr/>
          <p:nvPr/>
        </p:nvSpPr>
        <p:spPr>
          <a:xfrm rot="5400000">
            <a:off x="8384916" y="1095772"/>
            <a:ext cx="267594" cy="1059755"/>
          </a:xfrm>
          <a:prstGeom prst="leftBrace">
            <a:avLst>
              <a:gd name="adj1" fmla="val 39393"/>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B61616"/>
              </a:solidFill>
              <a:effectLst/>
              <a:uLnTx/>
              <a:uFillTx/>
              <a:latin typeface="Book Antiqua"/>
              <a:ea typeface="黑体"/>
              <a:cs typeface="+mn-cs"/>
            </a:endParaRPr>
          </a:p>
        </p:txBody>
      </p:sp>
      <p:sp>
        <p:nvSpPr>
          <p:cNvPr id="112" name="文本框 111"/>
          <p:cNvSpPr txBox="1"/>
          <p:nvPr/>
        </p:nvSpPr>
        <p:spPr>
          <a:xfrm>
            <a:off x="7913419" y="1018272"/>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计算损失</a:t>
            </a:r>
          </a:p>
        </p:txBody>
      </p:sp>
      <p:cxnSp>
        <p:nvCxnSpPr>
          <p:cNvPr id="114" name="直接箭头连接符 113"/>
          <p:cNvCxnSpPr/>
          <p:nvPr/>
        </p:nvCxnSpPr>
        <p:spPr>
          <a:xfrm>
            <a:off x="6673673" y="1405118"/>
            <a:ext cx="1085298" cy="33924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6" name="文本框 115"/>
          <p:cNvSpPr txBox="1"/>
          <p:nvPr/>
        </p:nvSpPr>
        <p:spPr>
          <a:xfrm>
            <a:off x="5443527" y="1001677"/>
            <a:ext cx="249299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损失值仅在此处计算</a:t>
            </a:r>
          </a:p>
        </p:txBody>
      </p:sp>
      <p:sp>
        <p:nvSpPr>
          <p:cNvPr id="16" name="矩形 15"/>
          <p:cNvSpPr/>
          <p:nvPr/>
        </p:nvSpPr>
        <p:spPr>
          <a:xfrm>
            <a:off x="4522695" y="4806038"/>
            <a:ext cx="747761" cy="433088"/>
          </a:xfrm>
          <a:prstGeom prst="rect">
            <a:avLst/>
          </a:prstGeom>
          <a:solidFill>
            <a:schemeClr val="tx1">
              <a:lumMod val="20000"/>
              <a:lumOff val="8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5</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29" name="矩形 28"/>
          <p:cNvSpPr/>
          <p:nvPr/>
        </p:nvSpPr>
        <p:spPr>
          <a:xfrm>
            <a:off x="6066360" y="4806038"/>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solidFill>
                    <a:srgbClr val="D79A00"/>
                  </a:solidFill>
                </a:ln>
                <a:solidFill>
                  <a:srgbClr val="242C2D"/>
                </a:solidFill>
                <a:effectLst/>
                <a:uLnTx/>
                <a:uFillTx/>
                <a:latin typeface="微软雅黑" panose="020B0503020204020204" charset="-122"/>
                <a:ea typeface="微软雅黑" panose="020B0503020204020204" charset="-122"/>
                <a:cs typeface="+mn-cs"/>
              </a:rPr>
              <a:t>1</a:t>
            </a:r>
            <a:endParaRPr kumimoji="0" lang="zh-CN" altLang="en-US" sz="2000" b="1" i="0" u="none" strike="noStrike" kern="1200" cap="none" spc="0" normalizeH="0" baseline="0" noProof="0" dirty="0">
              <a:ln>
                <a:solidFill>
                  <a:srgbClr val="D79A00"/>
                </a:solidFill>
              </a:ln>
              <a:solidFill>
                <a:srgbClr val="242C2D"/>
              </a:solidFill>
              <a:effectLst/>
              <a:uLnTx/>
              <a:uFillTx/>
              <a:latin typeface="微软雅黑" panose="020B0503020204020204" charset="-122"/>
              <a:ea typeface="微软雅黑" panose="020B0503020204020204" charset="-122"/>
              <a:cs typeface="+mn-cs"/>
            </a:endParaRPr>
          </a:p>
        </p:txBody>
      </p:sp>
      <p:sp>
        <p:nvSpPr>
          <p:cNvPr id="30" name="矩形 29"/>
          <p:cNvSpPr/>
          <p:nvPr/>
        </p:nvSpPr>
        <p:spPr>
          <a:xfrm>
            <a:off x="7611176" y="4806038"/>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2</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AC318E99-A26B-E110-5A30-60087819A1B4}"/>
              </a:ext>
            </a:extLst>
          </p:cNvPr>
          <p:cNvSpPr txBox="1"/>
          <p:nvPr/>
        </p:nvSpPr>
        <p:spPr>
          <a:xfrm>
            <a:off x="928612" y="1388635"/>
            <a:ext cx="14178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数据集</a:t>
            </a:r>
            <a:endParaRPr kumimoji="0" lang="zh-CN" altLang="en-US" sz="2400" b="1"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4544CC7D-52E3-5303-3E18-A41315835AEE}"/>
              </a:ext>
            </a:extLst>
          </p:cNvPr>
          <p:cNvSpPr txBox="1"/>
          <p:nvPr/>
        </p:nvSpPr>
        <p:spPr>
          <a:xfrm>
            <a:off x="771812" y="1980743"/>
            <a:ext cx="1574643" cy="2951898"/>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21</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27</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29</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35</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50</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56</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29</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3</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3</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25)</a:t>
            </a:r>
            <a:endPar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18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46</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4</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18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4</a:t>
            </a:r>
            <a:r>
              <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30</a:t>
            </a:r>
            <a:r>
              <a:rPr kumimoji="0" lang="en-US" altLang="zh-CN"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endParaRPr kumimoji="0" lang="zh-CN" altLang="en-US" sz="18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18" name="文本框 17">
            <a:extLst>
              <a:ext uri="{FF2B5EF4-FFF2-40B4-BE49-F238E27FC236}">
                <a16:creationId xmlns:a16="http://schemas.microsoft.com/office/drawing/2014/main" id="{510F7BD3-6C9E-A0F4-0B27-8D164D103F29}"/>
              </a:ext>
            </a:extLst>
          </p:cNvPr>
          <p:cNvSpPr txBox="1"/>
          <p:nvPr/>
        </p:nvSpPr>
        <p:spPr>
          <a:xfrm>
            <a:off x="1303304" y="3535913"/>
            <a:ext cx="615553" cy="451406"/>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endParaRPr kumimoji="0" lang="zh-CN" altLang="en-US" sz="2800" b="1"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19" name="文本框 18">
            <a:extLst>
              <a:ext uri="{FF2B5EF4-FFF2-40B4-BE49-F238E27FC236}">
                <a16:creationId xmlns:a16="http://schemas.microsoft.com/office/drawing/2014/main" id="{E7F1A83A-24EE-4D46-6E96-011AA8701E69}"/>
              </a:ext>
            </a:extLst>
          </p:cNvPr>
          <p:cNvSpPr txBox="1"/>
          <p:nvPr/>
        </p:nvSpPr>
        <p:spPr>
          <a:xfrm>
            <a:off x="1237048" y="5203944"/>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锚点</a:t>
            </a:r>
          </a:p>
        </p:txBody>
      </p:sp>
      <p:cxnSp>
        <p:nvCxnSpPr>
          <p:cNvPr id="20" name="直接箭头连接符 19">
            <a:extLst>
              <a:ext uri="{FF2B5EF4-FFF2-40B4-BE49-F238E27FC236}">
                <a16:creationId xmlns:a16="http://schemas.microsoft.com/office/drawing/2014/main" id="{3BA44FB7-9DFB-C920-0D73-4FA997234189}"/>
              </a:ext>
            </a:extLst>
          </p:cNvPr>
          <p:cNvCxnSpPr>
            <a:cxnSpLocks/>
            <a:endCxn id="19" idx="0"/>
          </p:cNvCxnSpPr>
          <p:nvPr/>
        </p:nvCxnSpPr>
        <p:spPr>
          <a:xfrm>
            <a:off x="1439572" y="4878388"/>
            <a:ext cx="146290" cy="32555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9EF05EFA-59E3-7D48-CACC-E7E43C09916F}"/>
              </a:ext>
            </a:extLst>
          </p:cNvPr>
          <p:cNvCxnSpPr>
            <a:cxnSpLocks/>
            <a:endCxn id="19" idx="0"/>
          </p:cNvCxnSpPr>
          <p:nvPr/>
        </p:nvCxnSpPr>
        <p:spPr>
          <a:xfrm flipH="1">
            <a:off x="1585862" y="4878388"/>
            <a:ext cx="132672" cy="32555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4C87FF8-EC1D-F367-CF70-67DFE1220838}"/>
              </a:ext>
            </a:extLst>
          </p:cNvPr>
          <p:cNvSpPr txBox="1"/>
          <p:nvPr/>
        </p:nvSpPr>
        <p:spPr>
          <a:xfrm>
            <a:off x="337216" y="5190604"/>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关键项</a:t>
            </a:r>
          </a:p>
        </p:txBody>
      </p:sp>
      <p:cxnSp>
        <p:nvCxnSpPr>
          <p:cNvPr id="23" name="直接箭头连接符 22">
            <a:extLst>
              <a:ext uri="{FF2B5EF4-FFF2-40B4-BE49-F238E27FC236}">
                <a16:creationId xmlns:a16="http://schemas.microsoft.com/office/drawing/2014/main" id="{40100E0C-E7EA-020F-6DE1-05116F424BE9}"/>
              </a:ext>
            </a:extLst>
          </p:cNvPr>
          <p:cNvCxnSpPr>
            <a:cxnSpLocks/>
            <a:endCxn id="22" idx="0"/>
          </p:cNvCxnSpPr>
          <p:nvPr/>
        </p:nvCxnSpPr>
        <p:spPr>
          <a:xfrm flipH="1">
            <a:off x="814270" y="4878388"/>
            <a:ext cx="281926" cy="31221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9F5A6DE-FC3B-8BBF-0F49-0FE1860BF67A}"/>
              </a:ext>
            </a:extLst>
          </p:cNvPr>
          <p:cNvSpPr txBox="1"/>
          <p:nvPr/>
        </p:nvSpPr>
        <p:spPr>
          <a:xfrm>
            <a:off x="1992351" y="5200129"/>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目标</a:t>
            </a:r>
          </a:p>
        </p:txBody>
      </p:sp>
      <p:cxnSp>
        <p:nvCxnSpPr>
          <p:cNvPr id="25" name="直接箭头连接符 24">
            <a:extLst>
              <a:ext uri="{FF2B5EF4-FFF2-40B4-BE49-F238E27FC236}">
                <a16:creationId xmlns:a16="http://schemas.microsoft.com/office/drawing/2014/main" id="{B28FB30F-DBC6-FD33-C628-D9413B37A963}"/>
              </a:ext>
            </a:extLst>
          </p:cNvPr>
          <p:cNvCxnSpPr>
            <a:cxnSpLocks/>
            <a:endCxn id="24" idx="0"/>
          </p:cNvCxnSpPr>
          <p:nvPr/>
        </p:nvCxnSpPr>
        <p:spPr>
          <a:xfrm>
            <a:off x="2054735" y="4878388"/>
            <a:ext cx="286430" cy="32174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925C9BAE-D210-C910-91B6-0F5EB2C590F3}"/>
              </a:ext>
            </a:extLst>
          </p:cNvPr>
          <p:cNvSpPr txBox="1"/>
          <p:nvPr/>
        </p:nvSpPr>
        <p:spPr>
          <a:xfrm>
            <a:off x="5941024" y="5636764"/>
            <a:ext cx="28933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指定</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作为</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锚点</a:t>
            </a:r>
            <a:endParaRPr kumimoji="0" lang="zh-CN" altLang="en-US" sz="2400" b="1"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08F2E1FA-2619-48A5-79BB-97FB02003783}"/>
              </a:ext>
            </a:extLst>
          </p:cNvPr>
          <p:cNvSpPr txBox="1"/>
          <p:nvPr/>
        </p:nvSpPr>
        <p:spPr>
          <a:xfrm>
            <a:off x="3887964" y="5410789"/>
            <a:ext cx="220803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其他</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作为</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关键项</a:t>
            </a:r>
          </a:p>
        </p:txBody>
      </p:sp>
      <p:sp>
        <p:nvSpPr>
          <p:cNvPr id="3" name="文本框 2">
            <a:extLst>
              <a:ext uri="{FF2B5EF4-FFF2-40B4-BE49-F238E27FC236}">
                <a16:creationId xmlns:a16="http://schemas.microsoft.com/office/drawing/2014/main" id="{3FD07AE3-622C-85ED-F15A-9B05DFBDEA16}"/>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2528433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锚函数的泛化性</a:t>
            </a:r>
          </a:p>
        </p:txBody>
      </p:sp>
      <p:sp>
        <p:nvSpPr>
          <p:cNvPr id="17" name="文本框 16"/>
          <p:cNvSpPr txBox="1"/>
          <p:nvPr/>
        </p:nvSpPr>
        <p:spPr>
          <a:xfrm>
            <a:off x="6052353" y="1012028"/>
            <a:ext cx="24297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数据泛化性</a:t>
            </a:r>
          </a:p>
        </p:txBody>
      </p:sp>
      <p:sp>
        <p:nvSpPr>
          <p:cNvPr id="18" name="文本框 17"/>
          <p:cNvSpPr txBox="1"/>
          <p:nvPr/>
        </p:nvSpPr>
        <p:spPr>
          <a:xfrm>
            <a:off x="9500281" y="1113390"/>
            <a:ext cx="24297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任务泛化性</a:t>
            </a:r>
          </a:p>
        </p:txBody>
      </p:sp>
      <p:sp>
        <p:nvSpPr>
          <p:cNvPr id="19" name="文本框 18"/>
          <p:cNvSpPr txBox="1"/>
          <p:nvPr/>
        </p:nvSpPr>
        <p:spPr>
          <a:xfrm>
            <a:off x="5527062" y="2651440"/>
            <a:ext cx="3480327" cy="906915"/>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40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21</a:t>
            </a:r>
            <a:r>
              <a:rPr kumimoji="0" lang="en-US" altLang="zh-CN"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40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1</a:t>
            </a:r>
            <a:r>
              <a:rPr kumimoji="0" lang="zh-CN" altLang="en-US"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zh-CN" altLang="en-US" sz="40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2</a:t>
            </a:r>
            <a:r>
              <a:rPr kumimoji="0" lang="en-US" altLang="zh-CN"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p:txBody>
      </p:sp>
      <p:sp>
        <p:nvSpPr>
          <p:cNvPr id="20" name="文本框 19"/>
          <p:cNvSpPr txBox="1"/>
          <p:nvPr/>
        </p:nvSpPr>
        <p:spPr>
          <a:xfrm>
            <a:off x="8897436" y="2589971"/>
            <a:ext cx="3252344" cy="906915"/>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r>
              <a:rPr kumimoji="0" lang="zh-CN" altLang="en-US" sz="4000" b="1" i="0" u="none" strike="noStrike" kern="1200" cap="none" spc="0" normalizeH="0" baseline="0" noProof="0" dirty="0">
                <a:ln>
                  <a:noFill/>
                </a:ln>
                <a:solidFill>
                  <a:srgbClr val="B61616"/>
                </a:solidFill>
                <a:effectLst/>
                <a:uLnTx/>
                <a:uFillTx/>
                <a:latin typeface="微软雅黑" panose="020B0503020204020204" charset="-122"/>
                <a:ea typeface="微软雅黑" panose="020B0503020204020204" charset="-122"/>
                <a:cs typeface="+mn-cs"/>
              </a:rPr>
              <a:t>21</a:t>
            </a:r>
            <a:r>
              <a:rPr kumimoji="0" lang="en-US" altLang="zh-CN"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en-US" altLang="zh-CN" sz="40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4</a:t>
            </a:r>
            <a:r>
              <a:rPr kumimoji="0" lang="zh-CN" altLang="en-US"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 </a:t>
            </a:r>
            <a:r>
              <a:rPr kumimoji="0" lang="en-US" altLang="zh-CN" sz="4000" b="1" i="0" u="none" strike="noStrike" kern="1200" cap="none" spc="0" normalizeH="0" baseline="0" noProof="0" dirty="0">
                <a:ln>
                  <a:noFill/>
                </a:ln>
                <a:solidFill>
                  <a:srgbClr val="EBAA05"/>
                </a:solidFill>
                <a:effectLst/>
                <a:uLnTx/>
                <a:uFillTx/>
                <a:latin typeface="微软雅黑" panose="020B0503020204020204" charset="-122"/>
                <a:ea typeface="微软雅黑" panose="020B0503020204020204" charset="-122"/>
                <a:cs typeface="+mn-cs"/>
              </a:rPr>
              <a:t>3</a:t>
            </a:r>
            <a:r>
              <a:rPr kumimoji="0" lang="en-US" altLang="zh-CN" sz="4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a:t>
            </a:r>
          </a:p>
        </p:txBody>
      </p:sp>
      <p:sp>
        <p:nvSpPr>
          <p:cNvPr id="22" name="文本框 21"/>
          <p:cNvSpPr txBox="1"/>
          <p:nvPr/>
        </p:nvSpPr>
        <p:spPr>
          <a:xfrm>
            <a:off x="5991150" y="1814262"/>
            <a:ext cx="281284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组合在训练中不出现</a:t>
            </a:r>
          </a:p>
        </p:txBody>
      </p:sp>
      <p:sp>
        <p:nvSpPr>
          <p:cNvPr id="23" name="文本框 22"/>
          <p:cNvSpPr txBox="1"/>
          <p:nvPr/>
        </p:nvSpPr>
        <p:spPr>
          <a:xfrm>
            <a:off x="5944383" y="3946941"/>
            <a:ext cx="281284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锚对在训练数据中出现</a:t>
            </a:r>
          </a:p>
        </p:txBody>
      </p:sp>
      <p:sp>
        <p:nvSpPr>
          <p:cNvPr id="24" name="文本框 23"/>
          <p:cNvSpPr txBox="1"/>
          <p:nvPr/>
        </p:nvSpPr>
        <p:spPr>
          <a:xfrm>
            <a:off x="9117188" y="3942538"/>
            <a:ext cx="303259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锚对在训练数据中</a:t>
            </a: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不</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出现</a:t>
            </a:r>
          </a:p>
        </p:txBody>
      </p:sp>
      <p:sp>
        <p:nvSpPr>
          <p:cNvPr id="25" name="文本框 24"/>
          <p:cNvSpPr txBox="1"/>
          <p:nvPr/>
        </p:nvSpPr>
        <p:spPr>
          <a:xfrm>
            <a:off x="6766028" y="5551410"/>
            <a:ext cx="470231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仅锚对</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(4,3) </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和</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(3,4)</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在训练数据中</a:t>
            </a: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不</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出现</a:t>
            </a:r>
          </a:p>
        </p:txBody>
      </p:sp>
      <p:sp>
        <p:nvSpPr>
          <p:cNvPr id="3" name="矩形: 圆角 2">
            <a:extLst>
              <a:ext uri="{FF2B5EF4-FFF2-40B4-BE49-F238E27FC236}">
                <a16:creationId xmlns:a16="http://schemas.microsoft.com/office/drawing/2014/main" id="{9BB6FCAE-2874-946D-8C22-7E82EB28FBA0}"/>
              </a:ext>
            </a:extLst>
          </p:cNvPr>
          <p:cNvSpPr/>
          <p:nvPr/>
        </p:nvSpPr>
        <p:spPr>
          <a:xfrm>
            <a:off x="459697" y="4661262"/>
            <a:ext cx="4363336" cy="704885"/>
          </a:xfrm>
          <a:prstGeom prst="roundRect">
            <a:avLst/>
          </a:prstGeom>
          <a:solidFill>
            <a:srgbClr val="FFFFFF"/>
          </a:solidFill>
          <a:ln w="38100">
            <a:solidFill>
              <a:schemeClr val="tx2"/>
            </a:solidFill>
            <a:prstDash val="dash"/>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 name="椭圆 3">
            <a:extLst>
              <a:ext uri="{FF2B5EF4-FFF2-40B4-BE49-F238E27FC236}">
                <a16:creationId xmlns:a16="http://schemas.microsoft.com/office/drawing/2014/main" id="{E2197E06-AE1A-9649-E74F-E0B9879B31F7}"/>
              </a:ext>
            </a:extLst>
          </p:cNvPr>
          <p:cNvSpPr/>
          <p:nvPr/>
        </p:nvSpPr>
        <p:spPr>
          <a:xfrm>
            <a:off x="872586" y="4024474"/>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5" name="椭圆 4">
            <a:extLst>
              <a:ext uri="{FF2B5EF4-FFF2-40B4-BE49-F238E27FC236}">
                <a16:creationId xmlns:a16="http://schemas.microsoft.com/office/drawing/2014/main" id="{8E2FF055-64F1-7D51-F32D-C385A79ADF50}"/>
              </a:ext>
            </a:extLst>
          </p:cNvPr>
          <p:cNvSpPr/>
          <p:nvPr/>
        </p:nvSpPr>
        <p:spPr>
          <a:xfrm>
            <a:off x="2417614" y="4024474"/>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7" name="椭圆 6">
            <a:extLst>
              <a:ext uri="{FF2B5EF4-FFF2-40B4-BE49-F238E27FC236}">
                <a16:creationId xmlns:a16="http://schemas.microsoft.com/office/drawing/2014/main" id="{FD693597-D8B7-2AEF-2909-B0D13BEAC95E}"/>
              </a:ext>
            </a:extLst>
          </p:cNvPr>
          <p:cNvSpPr/>
          <p:nvPr/>
        </p:nvSpPr>
        <p:spPr>
          <a:xfrm>
            <a:off x="3962642" y="4024474"/>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8" name="椭圆 7">
            <a:extLst>
              <a:ext uri="{FF2B5EF4-FFF2-40B4-BE49-F238E27FC236}">
                <a16:creationId xmlns:a16="http://schemas.microsoft.com/office/drawing/2014/main" id="{C8306D9E-097D-D23F-56A9-96C12446ED98}"/>
              </a:ext>
            </a:extLst>
          </p:cNvPr>
          <p:cNvSpPr/>
          <p:nvPr/>
        </p:nvSpPr>
        <p:spPr>
          <a:xfrm>
            <a:off x="872585" y="3339971"/>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9" name="椭圆 8">
            <a:extLst>
              <a:ext uri="{FF2B5EF4-FFF2-40B4-BE49-F238E27FC236}">
                <a16:creationId xmlns:a16="http://schemas.microsoft.com/office/drawing/2014/main" id="{BF5971B0-4DD5-36AD-5BBD-4467545C4B32}"/>
              </a:ext>
            </a:extLst>
          </p:cNvPr>
          <p:cNvSpPr/>
          <p:nvPr/>
        </p:nvSpPr>
        <p:spPr>
          <a:xfrm>
            <a:off x="2417613" y="3339971"/>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10" name="椭圆 9">
            <a:extLst>
              <a:ext uri="{FF2B5EF4-FFF2-40B4-BE49-F238E27FC236}">
                <a16:creationId xmlns:a16="http://schemas.microsoft.com/office/drawing/2014/main" id="{9B4B8BF1-3B55-6A88-B11E-160AB84BD654}"/>
              </a:ext>
            </a:extLst>
          </p:cNvPr>
          <p:cNvSpPr/>
          <p:nvPr/>
        </p:nvSpPr>
        <p:spPr>
          <a:xfrm>
            <a:off x="3962641" y="3339971"/>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11" name="直接箭头连接符 10">
            <a:extLst>
              <a:ext uri="{FF2B5EF4-FFF2-40B4-BE49-F238E27FC236}">
                <a16:creationId xmlns:a16="http://schemas.microsoft.com/office/drawing/2014/main" id="{D308A612-644F-671E-E1EA-26770778F52C}"/>
              </a:ext>
            </a:extLst>
          </p:cNvPr>
          <p:cNvCxnSpPr>
            <a:stCxn id="4" idx="0"/>
            <a:endCxn id="8" idx="4"/>
          </p:cNvCxnSpPr>
          <p:nvPr/>
        </p:nvCxnSpPr>
        <p:spPr>
          <a:xfrm flipH="1" flipV="1">
            <a:off x="1102450" y="3799701"/>
            <a:ext cx="1"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2" name="直接箭头连接符 11">
            <a:extLst>
              <a:ext uri="{FF2B5EF4-FFF2-40B4-BE49-F238E27FC236}">
                <a16:creationId xmlns:a16="http://schemas.microsoft.com/office/drawing/2014/main" id="{52AF366C-8CB1-F31D-A406-15F5A41D0A1B}"/>
              </a:ext>
            </a:extLst>
          </p:cNvPr>
          <p:cNvCxnSpPr>
            <a:stCxn id="4" idx="0"/>
            <a:endCxn id="9" idx="4"/>
          </p:cNvCxnSpPr>
          <p:nvPr/>
        </p:nvCxnSpPr>
        <p:spPr>
          <a:xfrm flipV="1">
            <a:off x="1102451" y="3799701"/>
            <a:ext cx="1545027" cy="224773"/>
          </a:xfrm>
          <a:prstGeom prst="straightConnector1">
            <a:avLst/>
          </a:prstGeom>
          <a:ln w="28575" cap="flat">
            <a:solidFill>
              <a:schemeClr val="bg2">
                <a:lumMod val="75000"/>
              </a:schemeClr>
            </a:solidFill>
            <a:headEnd w="lg" len="lg"/>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直接箭头连接符 12">
            <a:extLst>
              <a:ext uri="{FF2B5EF4-FFF2-40B4-BE49-F238E27FC236}">
                <a16:creationId xmlns:a16="http://schemas.microsoft.com/office/drawing/2014/main" id="{48796182-A921-43EF-096C-ED31ACFCFF79}"/>
              </a:ext>
            </a:extLst>
          </p:cNvPr>
          <p:cNvCxnSpPr>
            <a:stCxn id="4" idx="0"/>
            <a:endCxn id="10" idx="4"/>
          </p:cNvCxnSpPr>
          <p:nvPr/>
        </p:nvCxnSpPr>
        <p:spPr>
          <a:xfrm flipV="1">
            <a:off x="1102451" y="3799701"/>
            <a:ext cx="3090055"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a:extLst>
              <a:ext uri="{FF2B5EF4-FFF2-40B4-BE49-F238E27FC236}">
                <a16:creationId xmlns:a16="http://schemas.microsoft.com/office/drawing/2014/main" id="{96680883-0987-7F07-5B70-CA590546A9D5}"/>
              </a:ext>
            </a:extLst>
          </p:cNvPr>
          <p:cNvCxnSpPr>
            <a:stCxn id="5" idx="0"/>
            <a:endCxn id="9" idx="4"/>
          </p:cNvCxnSpPr>
          <p:nvPr/>
        </p:nvCxnSpPr>
        <p:spPr>
          <a:xfrm flipH="1" flipV="1">
            <a:off x="2647478" y="3799701"/>
            <a:ext cx="1"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1" name="直接箭头连接符 20">
            <a:extLst>
              <a:ext uri="{FF2B5EF4-FFF2-40B4-BE49-F238E27FC236}">
                <a16:creationId xmlns:a16="http://schemas.microsoft.com/office/drawing/2014/main" id="{869FB3B1-B147-7901-2CEF-F6522D209035}"/>
              </a:ext>
            </a:extLst>
          </p:cNvPr>
          <p:cNvCxnSpPr>
            <a:stCxn id="5" idx="0"/>
            <a:endCxn id="10" idx="4"/>
          </p:cNvCxnSpPr>
          <p:nvPr/>
        </p:nvCxnSpPr>
        <p:spPr>
          <a:xfrm flipV="1">
            <a:off x="2647479" y="3799701"/>
            <a:ext cx="1545027"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6" name="直接箭头连接符 25">
            <a:extLst>
              <a:ext uri="{FF2B5EF4-FFF2-40B4-BE49-F238E27FC236}">
                <a16:creationId xmlns:a16="http://schemas.microsoft.com/office/drawing/2014/main" id="{D2490E3A-6168-680B-41E5-436CDA717377}"/>
              </a:ext>
            </a:extLst>
          </p:cNvPr>
          <p:cNvCxnSpPr>
            <a:stCxn id="7" idx="0"/>
            <a:endCxn id="10" idx="4"/>
          </p:cNvCxnSpPr>
          <p:nvPr/>
        </p:nvCxnSpPr>
        <p:spPr>
          <a:xfrm flipH="1" flipV="1">
            <a:off x="4192506" y="3799701"/>
            <a:ext cx="1" cy="224773"/>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7" name="直接箭头连接符 26">
            <a:extLst>
              <a:ext uri="{FF2B5EF4-FFF2-40B4-BE49-F238E27FC236}">
                <a16:creationId xmlns:a16="http://schemas.microsoft.com/office/drawing/2014/main" id="{87788112-03B1-79E6-57D4-85A10D05B82B}"/>
              </a:ext>
            </a:extLst>
          </p:cNvPr>
          <p:cNvCxnSpPr>
            <a:stCxn id="77" idx="0"/>
            <a:endCxn id="5" idx="4"/>
          </p:cNvCxnSpPr>
          <p:nvPr/>
        </p:nvCxnSpPr>
        <p:spPr>
          <a:xfrm flipV="1">
            <a:off x="2643909" y="4484204"/>
            <a:ext cx="3570" cy="321834"/>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8" name="直接箭头连接符 27">
            <a:extLst>
              <a:ext uri="{FF2B5EF4-FFF2-40B4-BE49-F238E27FC236}">
                <a16:creationId xmlns:a16="http://schemas.microsoft.com/office/drawing/2014/main" id="{18BC622D-201E-620D-A838-A14807049384}"/>
              </a:ext>
            </a:extLst>
          </p:cNvPr>
          <p:cNvCxnSpPr>
            <a:stCxn id="78" idx="0"/>
          </p:cNvCxnSpPr>
          <p:nvPr/>
        </p:nvCxnSpPr>
        <p:spPr>
          <a:xfrm flipH="1" flipV="1">
            <a:off x="4188724" y="4493082"/>
            <a:ext cx="1" cy="312956"/>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7" name="直接箭头连接符 36">
            <a:extLst>
              <a:ext uri="{FF2B5EF4-FFF2-40B4-BE49-F238E27FC236}">
                <a16:creationId xmlns:a16="http://schemas.microsoft.com/office/drawing/2014/main" id="{4A8276D9-460F-7335-8193-00187441DCFA}"/>
              </a:ext>
            </a:extLst>
          </p:cNvPr>
          <p:cNvCxnSpPr/>
          <p:nvPr/>
        </p:nvCxnSpPr>
        <p:spPr>
          <a:xfrm flipV="1">
            <a:off x="1100244" y="4493082"/>
            <a:ext cx="0" cy="312956"/>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39" name="椭圆 38">
            <a:extLst>
              <a:ext uri="{FF2B5EF4-FFF2-40B4-BE49-F238E27FC236}">
                <a16:creationId xmlns:a16="http://schemas.microsoft.com/office/drawing/2014/main" id="{17541FCE-32DA-39CF-E27F-47B20D523E8E}"/>
              </a:ext>
            </a:extLst>
          </p:cNvPr>
          <p:cNvSpPr/>
          <p:nvPr/>
        </p:nvSpPr>
        <p:spPr>
          <a:xfrm>
            <a:off x="872583" y="2409559"/>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1" name="椭圆 40">
            <a:extLst>
              <a:ext uri="{FF2B5EF4-FFF2-40B4-BE49-F238E27FC236}">
                <a16:creationId xmlns:a16="http://schemas.microsoft.com/office/drawing/2014/main" id="{281F0C42-E2B2-91A9-B110-7E1DCA2EC3E0}"/>
              </a:ext>
            </a:extLst>
          </p:cNvPr>
          <p:cNvSpPr/>
          <p:nvPr/>
        </p:nvSpPr>
        <p:spPr>
          <a:xfrm>
            <a:off x="2417611" y="2409559"/>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2" name="椭圆 41">
            <a:extLst>
              <a:ext uri="{FF2B5EF4-FFF2-40B4-BE49-F238E27FC236}">
                <a16:creationId xmlns:a16="http://schemas.microsoft.com/office/drawing/2014/main" id="{89BC0E57-B14B-F1D1-4091-28D7EE224EA9}"/>
              </a:ext>
            </a:extLst>
          </p:cNvPr>
          <p:cNvSpPr/>
          <p:nvPr/>
        </p:nvSpPr>
        <p:spPr>
          <a:xfrm>
            <a:off x="3962639" y="2409559"/>
            <a:ext cx="459730" cy="459730"/>
          </a:xfrm>
          <a:prstGeom prst="ellipse">
            <a:avLst/>
          </a:prstGeom>
          <a:solidFill>
            <a:schemeClr val="bg2">
              <a:lumMod val="40000"/>
              <a:lumOff val="60000"/>
            </a:schemeClr>
          </a:solidFill>
          <a:ln w="38100">
            <a:solidFill>
              <a:schemeClr val="bg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4" name="直接箭头连接符 43">
            <a:extLst>
              <a:ext uri="{FF2B5EF4-FFF2-40B4-BE49-F238E27FC236}">
                <a16:creationId xmlns:a16="http://schemas.microsoft.com/office/drawing/2014/main" id="{37FB1CE5-8ED5-64FC-48BC-9BC6B52687AB}"/>
              </a:ext>
            </a:extLst>
          </p:cNvPr>
          <p:cNvCxnSpPr>
            <a:stCxn id="8" idx="0"/>
            <a:endCxn id="39" idx="4"/>
          </p:cNvCxnSpPr>
          <p:nvPr/>
        </p:nvCxnSpPr>
        <p:spPr>
          <a:xfrm flipH="1" flipV="1">
            <a:off x="1102448" y="2869289"/>
            <a:ext cx="2"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5" name="直接箭头连接符 44">
            <a:extLst>
              <a:ext uri="{FF2B5EF4-FFF2-40B4-BE49-F238E27FC236}">
                <a16:creationId xmlns:a16="http://schemas.microsoft.com/office/drawing/2014/main" id="{BB1666BF-6207-6212-CADF-2406F3155CF3}"/>
              </a:ext>
            </a:extLst>
          </p:cNvPr>
          <p:cNvCxnSpPr>
            <a:stCxn id="8" idx="0"/>
            <a:endCxn id="41" idx="4"/>
          </p:cNvCxnSpPr>
          <p:nvPr/>
        </p:nvCxnSpPr>
        <p:spPr>
          <a:xfrm flipV="1">
            <a:off x="1102450" y="2869289"/>
            <a:ext cx="1545026" cy="470682"/>
          </a:xfrm>
          <a:prstGeom prst="straightConnector1">
            <a:avLst/>
          </a:prstGeom>
          <a:ln w="28575" cap="flat">
            <a:solidFill>
              <a:schemeClr val="bg2">
                <a:lumMod val="75000"/>
              </a:schemeClr>
            </a:solidFill>
            <a:headEnd w="lg" len="lg"/>
            <a:tailEnd type="triangle" w="med" len="med"/>
          </a:ln>
        </p:spPr>
        <p:style>
          <a:lnRef idx="1">
            <a:schemeClr val="accent2"/>
          </a:lnRef>
          <a:fillRef idx="0">
            <a:schemeClr val="accent2"/>
          </a:fillRef>
          <a:effectRef idx="0">
            <a:schemeClr val="accent2"/>
          </a:effectRef>
          <a:fontRef idx="minor">
            <a:schemeClr val="tx1"/>
          </a:fontRef>
        </p:style>
      </p:cxnSp>
      <p:cxnSp>
        <p:nvCxnSpPr>
          <p:cNvPr id="47" name="直接箭头连接符 46">
            <a:extLst>
              <a:ext uri="{FF2B5EF4-FFF2-40B4-BE49-F238E27FC236}">
                <a16:creationId xmlns:a16="http://schemas.microsoft.com/office/drawing/2014/main" id="{464DD98F-251D-BE28-B2AE-2B58CB184BCC}"/>
              </a:ext>
            </a:extLst>
          </p:cNvPr>
          <p:cNvCxnSpPr>
            <a:stCxn id="8" idx="0"/>
            <a:endCxn id="42" idx="4"/>
          </p:cNvCxnSpPr>
          <p:nvPr/>
        </p:nvCxnSpPr>
        <p:spPr>
          <a:xfrm flipV="1">
            <a:off x="1102450" y="2869289"/>
            <a:ext cx="3090054"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48" name="直接箭头连接符 47">
            <a:extLst>
              <a:ext uri="{FF2B5EF4-FFF2-40B4-BE49-F238E27FC236}">
                <a16:creationId xmlns:a16="http://schemas.microsoft.com/office/drawing/2014/main" id="{98B46CF0-624B-DB87-9A62-55E627AC69A5}"/>
              </a:ext>
            </a:extLst>
          </p:cNvPr>
          <p:cNvCxnSpPr>
            <a:stCxn id="9" idx="0"/>
            <a:endCxn id="41" idx="4"/>
          </p:cNvCxnSpPr>
          <p:nvPr/>
        </p:nvCxnSpPr>
        <p:spPr>
          <a:xfrm flipH="1" flipV="1">
            <a:off x="2647476" y="2869289"/>
            <a:ext cx="2"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0" name="直接箭头连接符 49">
            <a:extLst>
              <a:ext uri="{FF2B5EF4-FFF2-40B4-BE49-F238E27FC236}">
                <a16:creationId xmlns:a16="http://schemas.microsoft.com/office/drawing/2014/main" id="{37BED03A-7903-5C0A-2113-2C1D2360366B}"/>
              </a:ext>
            </a:extLst>
          </p:cNvPr>
          <p:cNvCxnSpPr>
            <a:stCxn id="9" idx="0"/>
            <a:endCxn id="42" idx="4"/>
          </p:cNvCxnSpPr>
          <p:nvPr/>
        </p:nvCxnSpPr>
        <p:spPr>
          <a:xfrm flipV="1">
            <a:off x="2647478" y="2869289"/>
            <a:ext cx="1545026"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51" name="直接箭头连接符 50">
            <a:extLst>
              <a:ext uri="{FF2B5EF4-FFF2-40B4-BE49-F238E27FC236}">
                <a16:creationId xmlns:a16="http://schemas.microsoft.com/office/drawing/2014/main" id="{EE65F62E-A1F4-0817-FFC1-428E3D42B984}"/>
              </a:ext>
            </a:extLst>
          </p:cNvPr>
          <p:cNvCxnSpPr>
            <a:stCxn id="10" idx="0"/>
            <a:endCxn id="42" idx="4"/>
          </p:cNvCxnSpPr>
          <p:nvPr/>
        </p:nvCxnSpPr>
        <p:spPr>
          <a:xfrm flipH="1" flipV="1">
            <a:off x="4192504" y="2869289"/>
            <a:ext cx="2" cy="470682"/>
          </a:xfrm>
          <a:prstGeom prst="straightConnector1">
            <a:avLst/>
          </a:prstGeom>
          <a:ln w="28575">
            <a:solidFill>
              <a:schemeClr val="bg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53" name="矩形 52">
            <a:extLst>
              <a:ext uri="{FF2B5EF4-FFF2-40B4-BE49-F238E27FC236}">
                <a16:creationId xmlns:a16="http://schemas.microsoft.com/office/drawing/2014/main" id="{E0225D78-9452-9FC8-EBEC-D484B6E7A5D7}"/>
              </a:ext>
            </a:extLst>
          </p:cNvPr>
          <p:cNvSpPr/>
          <p:nvPr/>
        </p:nvSpPr>
        <p:spPr>
          <a:xfrm>
            <a:off x="605242" y="3015739"/>
            <a:ext cx="3982508" cy="17400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dist"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54" name="文本框 53">
            <a:extLst>
              <a:ext uri="{FF2B5EF4-FFF2-40B4-BE49-F238E27FC236}">
                <a16:creationId xmlns:a16="http://schemas.microsoft.com/office/drawing/2014/main" id="{F493BEE1-33B4-A316-B95E-63A6F3FDC189}"/>
              </a:ext>
            </a:extLst>
          </p:cNvPr>
          <p:cNvSpPr txBox="1"/>
          <p:nvPr/>
        </p:nvSpPr>
        <p:spPr>
          <a:xfrm>
            <a:off x="2241654" y="2748802"/>
            <a:ext cx="799422"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 . .</a:t>
            </a:r>
            <a:endParaRPr kumimoji="0" lang="zh-CN" altLang="en-US" sz="2800" b="1" i="0" u="none" strike="noStrike" kern="1200" cap="none" spc="0" normalizeH="0" baseline="0" noProof="0" dirty="0">
              <a:ln>
                <a:noFill/>
              </a:ln>
              <a:solidFill>
                <a:srgbClr val="242C2D"/>
              </a:solidFill>
              <a:effectLst/>
              <a:uLnTx/>
              <a:uFillTx/>
              <a:latin typeface="Book Antiqua"/>
              <a:ea typeface="黑体"/>
              <a:cs typeface="+mn-cs"/>
            </a:endParaRPr>
          </a:p>
        </p:txBody>
      </p:sp>
      <p:cxnSp>
        <p:nvCxnSpPr>
          <p:cNvPr id="56" name="直接箭头连接符 55">
            <a:extLst>
              <a:ext uri="{FF2B5EF4-FFF2-40B4-BE49-F238E27FC236}">
                <a16:creationId xmlns:a16="http://schemas.microsoft.com/office/drawing/2014/main" id="{45FCAA78-CAD1-02E2-72C7-F1D0287ACC85}"/>
              </a:ext>
            </a:extLst>
          </p:cNvPr>
          <p:cNvCxnSpPr>
            <a:stCxn id="42" idx="0"/>
            <a:endCxn id="57" idx="2"/>
          </p:cNvCxnSpPr>
          <p:nvPr/>
        </p:nvCxnSpPr>
        <p:spPr>
          <a:xfrm flipH="1" flipV="1">
            <a:off x="4190535" y="2120975"/>
            <a:ext cx="1969" cy="288584"/>
          </a:xfrm>
          <a:prstGeom prst="straightConnector1">
            <a:avLst/>
          </a:prstGeom>
          <a:ln w="38100">
            <a:solidFill>
              <a:srgbClr val="0E2B63"/>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3F6CCFA4-3F90-6970-F4E5-3E27914AF4FD}"/>
              </a:ext>
            </a:extLst>
          </p:cNvPr>
          <p:cNvSpPr txBox="1"/>
          <p:nvPr/>
        </p:nvSpPr>
        <p:spPr>
          <a:xfrm>
            <a:off x="3841721" y="1720865"/>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输出</a:t>
            </a:r>
          </a:p>
        </p:txBody>
      </p:sp>
      <p:sp>
        <p:nvSpPr>
          <p:cNvPr id="59" name="文本框 58">
            <a:extLst>
              <a:ext uri="{FF2B5EF4-FFF2-40B4-BE49-F238E27FC236}">
                <a16:creationId xmlns:a16="http://schemas.microsoft.com/office/drawing/2014/main" id="{76E9063E-F56A-B98C-7F39-6A0612CF817F}"/>
              </a:ext>
            </a:extLst>
          </p:cNvPr>
          <p:cNvSpPr txBox="1"/>
          <p:nvPr/>
        </p:nvSpPr>
        <p:spPr>
          <a:xfrm>
            <a:off x="2036071" y="185100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神经网络</a:t>
            </a:r>
          </a:p>
        </p:txBody>
      </p:sp>
      <p:cxnSp>
        <p:nvCxnSpPr>
          <p:cNvPr id="60" name="连接符: 肘形 59">
            <a:extLst>
              <a:ext uri="{FF2B5EF4-FFF2-40B4-BE49-F238E27FC236}">
                <a16:creationId xmlns:a16="http://schemas.microsoft.com/office/drawing/2014/main" id="{6C226A4C-C817-B1CE-20F5-890BA2411335}"/>
              </a:ext>
            </a:extLst>
          </p:cNvPr>
          <p:cNvCxnSpPr>
            <a:stCxn id="3" idx="3"/>
            <a:endCxn id="62" idx="2"/>
          </p:cNvCxnSpPr>
          <p:nvPr/>
        </p:nvCxnSpPr>
        <p:spPr>
          <a:xfrm flipV="1">
            <a:off x="4823033" y="2120975"/>
            <a:ext cx="438583" cy="2892730"/>
          </a:xfrm>
          <a:prstGeom prst="bentConnector2">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665BA4F1-0B47-AFB8-E869-6F51DDE3DFBC}"/>
              </a:ext>
            </a:extLst>
          </p:cNvPr>
          <p:cNvSpPr txBox="1"/>
          <p:nvPr/>
        </p:nvSpPr>
        <p:spPr>
          <a:xfrm>
            <a:off x="4912802" y="1720865"/>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目标</a:t>
            </a:r>
          </a:p>
        </p:txBody>
      </p:sp>
      <p:sp>
        <p:nvSpPr>
          <p:cNvPr id="63" name="左大括号 62">
            <a:extLst>
              <a:ext uri="{FF2B5EF4-FFF2-40B4-BE49-F238E27FC236}">
                <a16:creationId xmlns:a16="http://schemas.microsoft.com/office/drawing/2014/main" id="{FD273F50-7D15-55DA-D68B-5E59675DFD68}"/>
              </a:ext>
            </a:extLst>
          </p:cNvPr>
          <p:cNvSpPr/>
          <p:nvPr/>
        </p:nvSpPr>
        <p:spPr>
          <a:xfrm rot="5400000">
            <a:off x="4588584" y="1095772"/>
            <a:ext cx="267594" cy="1059755"/>
          </a:xfrm>
          <a:prstGeom prst="leftBrace">
            <a:avLst>
              <a:gd name="adj1" fmla="val 39393"/>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B61616"/>
              </a:solidFill>
              <a:effectLst/>
              <a:uLnTx/>
              <a:uFillTx/>
              <a:latin typeface="Book Antiqua"/>
              <a:ea typeface="黑体"/>
              <a:cs typeface="+mn-cs"/>
            </a:endParaRPr>
          </a:p>
        </p:txBody>
      </p:sp>
      <p:sp>
        <p:nvSpPr>
          <p:cNvPr id="73" name="文本框 72">
            <a:extLst>
              <a:ext uri="{FF2B5EF4-FFF2-40B4-BE49-F238E27FC236}">
                <a16:creationId xmlns:a16="http://schemas.microsoft.com/office/drawing/2014/main" id="{7ABCE1ED-5F17-8E68-2100-01E039D444FD}"/>
              </a:ext>
            </a:extLst>
          </p:cNvPr>
          <p:cNvSpPr txBox="1"/>
          <p:nvPr/>
        </p:nvSpPr>
        <p:spPr>
          <a:xfrm>
            <a:off x="4117087" y="1018272"/>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计算损失</a:t>
            </a:r>
          </a:p>
        </p:txBody>
      </p:sp>
      <p:cxnSp>
        <p:nvCxnSpPr>
          <p:cNvPr id="74" name="直接箭头连接符 73">
            <a:extLst>
              <a:ext uri="{FF2B5EF4-FFF2-40B4-BE49-F238E27FC236}">
                <a16:creationId xmlns:a16="http://schemas.microsoft.com/office/drawing/2014/main" id="{36CCCE3A-A5A9-390A-BAD4-453DCC577F96}"/>
              </a:ext>
            </a:extLst>
          </p:cNvPr>
          <p:cNvCxnSpPr/>
          <p:nvPr/>
        </p:nvCxnSpPr>
        <p:spPr>
          <a:xfrm>
            <a:off x="2877341" y="1405118"/>
            <a:ext cx="1085298" cy="33924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87615DCD-EA98-899E-91A7-3A9DB55D3F3E}"/>
              </a:ext>
            </a:extLst>
          </p:cNvPr>
          <p:cNvSpPr txBox="1"/>
          <p:nvPr/>
        </p:nvSpPr>
        <p:spPr>
          <a:xfrm>
            <a:off x="1647195" y="1001677"/>
            <a:ext cx="249299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损失值仅在此处计算</a:t>
            </a:r>
          </a:p>
        </p:txBody>
      </p:sp>
      <p:sp>
        <p:nvSpPr>
          <p:cNvPr id="76" name="矩形 75">
            <a:extLst>
              <a:ext uri="{FF2B5EF4-FFF2-40B4-BE49-F238E27FC236}">
                <a16:creationId xmlns:a16="http://schemas.microsoft.com/office/drawing/2014/main" id="{9600A7EE-5251-1D0F-2AFB-893AAA0EB421}"/>
              </a:ext>
            </a:extLst>
          </p:cNvPr>
          <p:cNvSpPr/>
          <p:nvPr/>
        </p:nvSpPr>
        <p:spPr>
          <a:xfrm>
            <a:off x="726363" y="4806038"/>
            <a:ext cx="747761" cy="433088"/>
          </a:xfrm>
          <a:prstGeom prst="rect">
            <a:avLst/>
          </a:prstGeom>
          <a:solidFill>
            <a:schemeClr val="tx1">
              <a:lumMod val="20000"/>
              <a:lumOff val="8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5</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7" name="矩形 76">
            <a:extLst>
              <a:ext uri="{FF2B5EF4-FFF2-40B4-BE49-F238E27FC236}">
                <a16:creationId xmlns:a16="http://schemas.microsoft.com/office/drawing/2014/main" id="{19ADE3C4-F469-685F-CE4B-E223C2B4FE55}"/>
              </a:ext>
            </a:extLst>
          </p:cNvPr>
          <p:cNvSpPr/>
          <p:nvPr/>
        </p:nvSpPr>
        <p:spPr>
          <a:xfrm>
            <a:off x="2270028" y="4806038"/>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solidFill>
                    <a:srgbClr val="D79A00"/>
                  </a:solidFill>
                </a:ln>
                <a:solidFill>
                  <a:srgbClr val="242C2D"/>
                </a:solidFill>
                <a:effectLst/>
                <a:uLnTx/>
                <a:uFillTx/>
                <a:latin typeface="微软雅黑" panose="020B0503020204020204" charset="-122"/>
                <a:ea typeface="微软雅黑" panose="020B0503020204020204" charset="-122"/>
                <a:cs typeface="+mn-cs"/>
              </a:rPr>
              <a:t>1</a:t>
            </a:r>
            <a:endParaRPr kumimoji="0" lang="zh-CN" altLang="en-US" sz="2000" b="1" i="0" u="none" strike="noStrike" kern="1200" cap="none" spc="0" normalizeH="0" baseline="0" noProof="0" dirty="0">
              <a:ln>
                <a:solidFill>
                  <a:srgbClr val="D79A00"/>
                </a:solidFill>
              </a:ln>
              <a:solidFill>
                <a:srgbClr val="242C2D"/>
              </a:solidFill>
              <a:effectLst/>
              <a:uLnTx/>
              <a:uFillTx/>
              <a:latin typeface="微软雅黑" panose="020B0503020204020204" charset="-122"/>
              <a:ea typeface="微软雅黑" panose="020B0503020204020204" charset="-122"/>
              <a:cs typeface="+mn-cs"/>
            </a:endParaRPr>
          </a:p>
        </p:txBody>
      </p:sp>
      <p:sp>
        <p:nvSpPr>
          <p:cNvPr id="78" name="矩形 77">
            <a:extLst>
              <a:ext uri="{FF2B5EF4-FFF2-40B4-BE49-F238E27FC236}">
                <a16:creationId xmlns:a16="http://schemas.microsoft.com/office/drawing/2014/main" id="{43DC61D4-DAF7-5490-D4DA-C1558F394EEC}"/>
              </a:ext>
            </a:extLst>
          </p:cNvPr>
          <p:cNvSpPr/>
          <p:nvPr/>
        </p:nvSpPr>
        <p:spPr>
          <a:xfrm>
            <a:off x="3814844" y="4806038"/>
            <a:ext cx="747761" cy="433088"/>
          </a:xfrm>
          <a:prstGeom prst="rect">
            <a:avLst/>
          </a:prstGeom>
          <a:solidFill>
            <a:srgbClr val="FFE7CD"/>
          </a:solidFill>
          <a:ln w="38100">
            <a:solidFill>
              <a:srgbClr val="D79A00"/>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rPr>
              <a:t>2</a:t>
            </a:r>
            <a:endParaRPr kumimoji="0" lang="zh-CN" altLang="en-US" sz="2000" b="1" i="0" u="none" strike="noStrike" kern="1200" cap="none" spc="0" normalizeH="0" baseline="0" noProof="0" dirty="0">
              <a:ln>
                <a:noFill/>
              </a:ln>
              <a:solidFill>
                <a:srgbClr val="242C2D"/>
              </a:solidFill>
              <a:effectLst/>
              <a:uLnTx/>
              <a:uFillTx/>
              <a:latin typeface="微软雅黑" panose="020B0503020204020204" charset="-122"/>
              <a:ea typeface="微软雅黑" panose="020B0503020204020204" charset="-122"/>
              <a:cs typeface="+mn-cs"/>
            </a:endParaRPr>
          </a:p>
        </p:txBody>
      </p:sp>
      <p:sp>
        <p:nvSpPr>
          <p:cNvPr id="79" name="文本框 78">
            <a:extLst>
              <a:ext uri="{FF2B5EF4-FFF2-40B4-BE49-F238E27FC236}">
                <a16:creationId xmlns:a16="http://schemas.microsoft.com/office/drawing/2014/main" id="{FDEC18F1-D1F4-9437-1414-0A5368735648}"/>
              </a:ext>
            </a:extLst>
          </p:cNvPr>
          <p:cNvSpPr txBox="1"/>
          <p:nvPr/>
        </p:nvSpPr>
        <p:spPr>
          <a:xfrm>
            <a:off x="2144692" y="5636764"/>
            <a:ext cx="28933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指定</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作为</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锚点</a:t>
            </a:r>
            <a:endParaRPr kumimoji="0" lang="zh-CN" altLang="en-US" sz="2400" b="1"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p:txBody>
      </p:sp>
      <p:sp>
        <p:nvSpPr>
          <p:cNvPr id="80" name="文本框 79">
            <a:extLst>
              <a:ext uri="{FF2B5EF4-FFF2-40B4-BE49-F238E27FC236}">
                <a16:creationId xmlns:a16="http://schemas.microsoft.com/office/drawing/2014/main" id="{763FDF32-6ED7-3F88-1AFA-3654C2DFBB64}"/>
              </a:ext>
            </a:extLst>
          </p:cNvPr>
          <p:cNvSpPr txBox="1"/>
          <p:nvPr/>
        </p:nvSpPr>
        <p:spPr>
          <a:xfrm>
            <a:off x="91632" y="5410789"/>
            <a:ext cx="220803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其他</a:t>
            </a:r>
            <a:r>
              <a:rPr kumimoji="0" lang="en-US" altLang="zh-CN"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2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作为</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关键项</a:t>
            </a:r>
          </a:p>
        </p:txBody>
      </p:sp>
      <p:sp>
        <p:nvSpPr>
          <p:cNvPr id="6" name="文本框 5">
            <a:extLst>
              <a:ext uri="{FF2B5EF4-FFF2-40B4-BE49-F238E27FC236}">
                <a16:creationId xmlns:a16="http://schemas.microsoft.com/office/drawing/2014/main" id="{2CBE9200-CCC7-D753-9E15-EE32E448F927}"/>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2529973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2FC3-CC7B-A3AF-A209-7C5776C1AA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10C8AB-14DD-847F-AAA3-DA18DE86AB1A}"/>
              </a:ext>
            </a:extLst>
          </p:cNvPr>
          <p:cNvSpPr>
            <a:spLocks noGrp="1"/>
          </p:cNvSpPr>
          <p:nvPr>
            <p:ph type="title"/>
          </p:nvPr>
        </p:nvSpPr>
        <p:spPr/>
        <p:txBody>
          <a:bodyPr/>
          <a:lstStyle/>
          <a:p>
            <a:r>
              <a:rPr lang="zh-CN" altLang="en-US" dirty="0"/>
              <a:t>训练中不出现</a:t>
            </a:r>
            <a:r>
              <a:rPr lang="en-US" altLang="zh-CN" dirty="0"/>
              <a:t>34</a:t>
            </a:r>
            <a:r>
              <a:rPr lang="zh-CN" altLang="en-US" dirty="0"/>
              <a:t>和</a:t>
            </a:r>
            <a:r>
              <a:rPr lang="en-US" altLang="zh-CN" dirty="0"/>
              <a:t>43</a:t>
            </a:r>
            <a:r>
              <a:rPr lang="zh-CN" altLang="en-US" dirty="0"/>
              <a:t>两个函数</a:t>
            </a:r>
          </a:p>
        </p:txBody>
      </p:sp>
      <p:pic>
        <p:nvPicPr>
          <p:cNvPr id="16" name="图片 15">
            <a:extLst>
              <a:ext uri="{FF2B5EF4-FFF2-40B4-BE49-F238E27FC236}">
                <a16:creationId xmlns:a16="http://schemas.microsoft.com/office/drawing/2014/main" id="{16452B89-A034-CA1C-EEBB-1365BE875EB3}"/>
              </a:ext>
            </a:extLst>
          </p:cNvPr>
          <p:cNvPicPr>
            <a:picLocks noChangeAspect="1"/>
          </p:cNvPicPr>
          <p:nvPr/>
        </p:nvPicPr>
        <p:blipFill>
          <a:blip r:embed="rId2"/>
          <a:stretch>
            <a:fillRect/>
          </a:stretch>
        </p:blipFill>
        <p:spPr>
          <a:xfrm>
            <a:off x="381241" y="1357149"/>
            <a:ext cx="11429515" cy="4945540"/>
          </a:xfrm>
          <a:prstGeom prst="rect">
            <a:avLst/>
          </a:prstGeom>
        </p:spPr>
      </p:pic>
      <p:sp>
        <p:nvSpPr>
          <p:cNvPr id="17" name="文本框 16">
            <a:extLst>
              <a:ext uri="{FF2B5EF4-FFF2-40B4-BE49-F238E27FC236}">
                <a16:creationId xmlns:a16="http://schemas.microsoft.com/office/drawing/2014/main" id="{72970AFF-AED7-A8EC-F41C-433E0FBC76E9}"/>
              </a:ext>
            </a:extLst>
          </p:cNvPr>
          <p:cNvSpPr txBox="1"/>
          <p:nvPr/>
        </p:nvSpPr>
        <p:spPr>
          <a:xfrm>
            <a:off x="1103970" y="858645"/>
            <a:ext cx="984652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ID: Seen anchors; OOD: unseen anchors</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3" name="矩形 2">
            <a:extLst>
              <a:ext uri="{FF2B5EF4-FFF2-40B4-BE49-F238E27FC236}">
                <a16:creationId xmlns:a16="http://schemas.microsoft.com/office/drawing/2014/main" id="{CAF98A60-A0BC-F5FB-0FB9-03639C37DE34}"/>
              </a:ext>
            </a:extLst>
          </p:cNvPr>
          <p:cNvSpPr/>
          <p:nvPr/>
        </p:nvSpPr>
        <p:spPr>
          <a:xfrm>
            <a:off x="3697357" y="1320310"/>
            <a:ext cx="7253140" cy="1740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 name="矩形 3">
            <a:extLst>
              <a:ext uri="{FF2B5EF4-FFF2-40B4-BE49-F238E27FC236}">
                <a16:creationId xmlns:a16="http://schemas.microsoft.com/office/drawing/2014/main" id="{8D42DA4B-E8FC-F9B8-FFAA-F107FC007FD4}"/>
              </a:ext>
            </a:extLst>
          </p:cNvPr>
          <p:cNvSpPr/>
          <p:nvPr/>
        </p:nvSpPr>
        <p:spPr>
          <a:xfrm>
            <a:off x="2842591" y="3045082"/>
            <a:ext cx="8107906" cy="24926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5" name="矩形: 圆角 4">
            <a:extLst>
              <a:ext uri="{FF2B5EF4-FFF2-40B4-BE49-F238E27FC236}">
                <a16:creationId xmlns:a16="http://schemas.microsoft.com/office/drawing/2014/main" id="{82A02FC8-4FDF-FB7D-65DB-94ECDFFB08C9}"/>
              </a:ext>
            </a:extLst>
          </p:cNvPr>
          <p:cNvSpPr/>
          <p:nvPr/>
        </p:nvSpPr>
        <p:spPr>
          <a:xfrm>
            <a:off x="5873750" y="1352401"/>
            <a:ext cx="2940050" cy="4102249"/>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p:sp>
        <p:nvSpPr>
          <p:cNvPr id="6" name="文本框 5">
            <a:extLst>
              <a:ext uri="{FF2B5EF4-FFF2-40B4-BE49-F238E27FC236}">
                <a16:creationId xmlns:a16="http://schemas.microsoft.com/office/drawing/2014/main" id="{D4692CE6-D9AD-2806-6BC3-3BAB8FFE2F79}"/>
              </a:ext>
            </a:extLst>
          </p:cNvPr>
          <p:cNvSpPr txBox="1"/>
          <p:nvPr/>
        </p:nvSpPr>
        <p:spPr>
          <a:xfrm rot="5400000">
            <a:off x="6967851" y="4965121"/>
            <a:ext cx="92228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2C2D"/>
                </a:solidFill>
                <a:effectLst/>
                <a:uLnTx/>
                <a:uFillTx/>
                <a:latin typeface="Book Antiqua"/>
                <a:ea typeface="黑体"/>
                <a:cs typeface="+mn-cs"/>
              </a:rPr>
              <a:t>…</a:t>
            </a:r>
          </a:p>
        </p:txBody>
      </p:sp>
      <p:sp>
        <p:nvSpPr>
          <p:cNvPr id="11" name="文本框 10">
            <a:extLst>
              <a:ext uri="{FF2B5EF4-FFF2-40B4-BE49-F238E27FC236}">
                <a16:creationId xmlns:a16="http://schemas.microsoft.com/office/drawing/2014/main" id="{AF54CBC4-A2D6-837E-C803-F821CE0F99DC}"/>
              </a:ext>
            </a:extLst>
          </p:cNvPr>
          <p:cNvSpPr txBox="1"/>
          <p:nvPr/>
        </p:nvSpPr>
        <p:spPr>
          <a:xfrm>
            <a:off x="1940295" y="1490003"/>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记忆</a:t>
            </a:r>
          </a:p>
        </p:txBody>
      </p:sp>
      <p:sp>
        <p:nvSpPr>
          <p:cNvPr id="13" name="文本框 12">
            <a:extLst>
              <a:ext uri="{FF2B5EF4-FFF2-40B4-BE49-F238E27FC236}">
                <a16:creationId xmlns:a16="http://schemas.microsoft.com/office/drawing/2014/main" id="{E9467D65-B5B5-3A24-871F-DF3F4A0AD2CB}"/>
              </a:ext>
            </a:extLst>
          </p:cNvPr>
          <p:cNvSpPr txBox="1"/>
          <p:nvPr/>
        </p:nvSpPr>
        <p:spPr>
          <a:xfrm>
            <a:off x="6818570" y="347507"/>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记忆</a:t>
            </a:r>
          </a:p>
        </p:txBody>
      </p:sp>
      <p:sp>
        <p:nvSpPr>
          <p:cNvPr id="8" name="文本框 7">
            <a:extLst>
              <a:ext uri="{FF2B5EF4-FFF2-40B4-BE49-F238E27FC236}">
                <a16:creationId xmlns:a16="http://schemas.microsoft.com/office/drawing/2014/main" id="{0827B127-A06B-F997-608D-D13D43AD6A5D}"/>
              </a:ext>
            </a:extLst>
          </p:cNvPr>
          <p:cNvSpPr txBox="1"/>
          <p:nvPr/>
        </p:nvSpPr>
        <p:spPr>
          <a:xfrm>
            <a:off x="-55156" y="858645"/>
            <a:ext cx="30170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242C2D"/>
                </a:solidFill>
                <a:effectLst/>
                <a:uLnTx/>
                <a:uFillTx/>
                <a:latin typeface="Book Antiqua"/>
                <a:ea typeface="黑体"/>
                <a:cs typeface="+mn-cs"/>
              </a:rPr>
              <a:t>训练集精度：</a:t>
            </a: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100%</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pic>
        <p:nvPicPr>
          <p:cNvPr id="10" name="图片 9">
            <a:extLst>
              <a:ext uri="{FF2B5EF4-FFF2-40B4-BE49-F238E27FC236}">
                <a16:creationId xmlns:a16="http://schemas.microsoft.com/office/drawing/2014/main" id="{E576FA10-A1DA-BEDF-646F-16F3FA3156D7}"/>
              </a:ext>
            </a:extLst>
          </p:cNvPr>
          <p:cNvPicPr>
            <a:picLocks noChangeAspect="1"/>
          </p:cNvPicPr>
          <p:nvPr/>
        </p:nvPicPr>
        <p:blipFill>
          <a:blip r:embed="rId3"/>
          <a:stretch>
            <a:fillRect/>
          </a:stretch>
        </p:blipFill>
        <p:spPr>
          <a:xfrm>
            <a:off x="6024778" y="1352401"/>
            <a:ext cx="2598298" cy="3874330"/>
          </a:xfrm>
          <a:prstGeom prst="rect">
            <a:avLst/>
          </a:prstGeom>
        </p:spPr>
      </p:pic>
      <p:sp>
        <p:nvSpPr>
          <p:cNvPr id="7" name="文本框 6">
            <a:extLst>
              <a:ext uri="{FF2B5EF4-FFF2-40B4-BE49-F238E27FC236}">
                <a16:creationId xmlns:a16="http://schemas.microsoft.com/office/drawing/2014/main" id="{541D74AE-1ED7-2A2B-58E9-30964C9049D4}"/>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8066699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2FC3-CC7B-A3AF-A209-7C5776C1AA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10C8AB-14DD-847F-AAA3-DA18DE86AB1A}"/>
              </a:ext>
            </a:extLst>
          </p:cNvPr>
          <p:cNvSpPr>
            <a:spLocks noGrp="1"/>
          </p:cNvSpPr>
          <p:nvPr>
            <p:ph type="title"/>
          </p:nvPr>
        </p:nvSpPr>
        <p:spPr/>
        <p:txBody>
          <a:bodyPr/>
          <a:lstStyle/>
          <a:p>
            <a:r>
              <a:rPr lang="zh-CN" altLang="en-US" dirty="0"/>
              <a:t>训练中不出现</a:t>
            </a:r>
            <a:r>
              <a:rPr lang="en-US" altLang="zh-CN" dirty="0"/>
              <a:t>34</a:t>
            </a:r>
            <a:r>
              <a:rPr lang="zh-CN" altLang="en-US" dirty="0"/>
              <a:t>和</a:t>
            </a:r>
            <a:r>
              <a:rPr lang="en-US" altLang="zh-CN" dirty="0"/>
              <a:t>43</a:t>
            </a:r>
            <a:r>
              <a:rPr lang="zh-CN" altLang="en-US" dirty="0"/>
              <a:t>两个函数</a:t>
            </a:r>
          </a:p>
        </p:txBody>
      </p:sp>
      <p:pic>
        <p:nvPicPr>
          <p:cNvPr id="16" name="图片 15">
            <a:extLst>
              <a:ext uri="{FF2B5EF4-FFF2-40B4-BE49-F238E27FC236}">
                <a16:creationId xmlns:a16="http://schemas.microsoft.com/office/drawing/2014/main" id="{16452B89-A034-CA1C-EEBB-1365BE875EB3}"/>
              </a:ext>
            </a:extLst>
          </p:cNvPr>
          <p:cNvPicPr>
            <a:picLocks noChangeAspect="1"/>
          </p:cNvPicPr>
          <p:nvPr/>
        </p:nvPicPr>
        <p:blipFill>
          <a:blip r:embed="rId2"/>
          <a:stretch>
            <a:fillRect/>
          </a:stretch>
        </p:blipFill>
        <p:spPr>
          <a:xfrm>
            <a:off x="381241" y="1357149"/>
            <a:ext cx="11429515" cy="4945540"/>
          </a:xfrm>
          <a:prstGeom prst="rect">
            <a:avLst/>
          </a:prstGeom>
        </p:spPr>
      </p:pic>
      <p:sp>
        <p:nvSpPr>
          <p:cNvPr id="17" name="文本框 16">
            <a:extLst>
              <a:ext uri="{FF2B5EF4-FFF2-40B4-BE49-F238E27FC236}">
                <a16:creationId xmlns:a16="http://schemas.microsoft.com/office/drawing/2014/main" id="{72970AFF-AED7-A8EC-F41C-433E0FBC76E9}"/>
              </a:ext>
            </a:extLst>
          </p:cNvPr>
          <p:cNvSpPr txBox="1"/>
          <p:nvPr/>
        </p:nvSpPr>
        <p:spPr>
          <a:xfrm>
            <a:off x="1103970" y="858645"/>
            <a:ext cx="984652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ID: Seen anchors; OOD: unseen anchors</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3" name="矩形 2">
            <a:extLst>
              <a:ext uri="{FF2B5EF4-FFF2-40B4-BE49-F238E27FC236}">
                <a16:creationId xmlns:a16="http://schemas.microsoft.com/office/drawing/2014/main" id="{CAF98A60-A0BC-F5FB-0FB9-03639C37DE34}"/>
              </a:ext>
            </a:extLst>
          </p:cNvPr>
          <p:cNvSpPr/>
          <p:nvPr/>
        </p:nvSpPr>
        <p:spPr>
          <a:xfrm>
            <a:off x="6095999" y="1320310"/>
            <a:ext cx="4854497" cy="1740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 name="矩形 3">
            <a:extLst>
              <a:ext uri="{FF2B5EF4-FFF2-40B4-BE49-F238E27FC236}">
                <a16:creationId xmlns:a16="http://schemas.microsoft.com/office/drawing/2014/main" id="{8D42DA4B-E8FC-F9B8-FFAA-F107FC007FD4}"/>
              </a:ext>
            </a:extLst>
          </p:cNvPr>
          <p:cNvSpPr/>
          <p:nvPr/>
        </p:nvSpPr>
        <p:spPr>
          <a:xfrm>
            <a:off x="5751443" y="3045082"/>
            <a:ext cx="5199054" cy="24926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5" name="矩形: 圆角 4">
            <a:extLst>
              <a:ext uri="{FF2B5EF4-FFF2-40B4-BE49-F238E27FC236}">
                <a16:creationId xmlns:a16="http://schemas.microsoft.com/office/drawing/2014/main" id="{A04DB98D-72EC-BC0E-68CE-38EEF245ABAB}"/>
              </a:ext>
            </a:extLst>
          </p:cNvPr>
          <p:cNvSpPr/>
          <p:nvPr/>
        </p:nvSpPr>
        <p:spPr>
          <a:xfrm>
            <a:off x="5681632" y="1203644"/>
            <a:ext cx="1956629" cy="4388504"/>
          </a:xfrm>
          <a:prstGeom prst="roundRect">
            <a:avLst/>
          </a:prstGeom>
          <a:solidFill>
            <a:srgbClr val="ED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7" name="文本框 6">
            <a:extLst>
              <a:ext uri="{FF2B5EF4-FFF2-40B4-BE49-F238E27FC236}">
                <a16:creationId xmlns:a16="http://schemas.microsoft.com/office/drawing/2014/main" id="{4D9B8BE3-6A38-BF10-054D-207379814D1E}"/>
              </a:ext>
            </a:extLst>
          </p:cNvPr>
          <p:cNvSpPr txBox="1"/>
          <p:nvPr/>
        </p:nvSpPr>
        <p:spPr>
          <a:xfrm>
            <a:off x="6149462" y="500482"/>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函数关系</a:t>
            </a:r>
          </a:p>
        </p:txBody>
      </p:sp>
      <p:sp>
        <p:nvSpPr>
          <p:cNvPr id="10" name="文本框 9">
            <a:extLst>
              <a:ext uri="{FF2B5EF4-FFF2-40B4-BE49-F238E27FC236}">
                <a16:creationId xmlns:a16="http://schemas.microsoft.com/office/drawing/2014/main" id="{E354F5D5-684B-C327-248D-D3938546A7FA}"/>
              </a:ext>
            </a:extLst>
          </p:cNvPr>
          <p:cNvSpPr txBox="1"/>
          <p:nvPr/>
        </p:nvSpPr>
        <p:spPr>
          <a:xfrm>
            <a:off x="3908553" y="1470791"/>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方程关系</a:t>
            </a:r>
          </a:p>
        </p:txBody>
      </p:sp>
      <p:sp>
        <p:nvSpPr>
          <p:cNvPr id="13" name="文本框 12">
            <a:extLst>
              <a:ext uri="{FF2B5EF4-FFF2-40B4-BE49-F238E27FC236}">
                <a16:creationId xmlns:a16="http://schemas.microsoft.com/office/drawing/2014/main" id="{D0ED2590-0D26-7B3D-F126-93DEF7425FE8}"/>
              </a:ext>
            </a:extLst>
          </p:cNvPr>
          <p:cNvSpPr txBox="1"/>
          <p:nvPr/>
        </p:nvSpPr>
        <p:spPr>
          <a:xfrm>
            <a:off x="1940295" y="1490003"/>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记忆</a:t>
            </a:r>
          </a:p>
        </p:txBody>
      </p:sp>
      <p:sp>
        <p:nvSpPr>
          <p:cNvPr id="12" name="文本框 11">
            <a:extLst>
              <a:ext uri="{FF2B5EF4-FFF2-40B4-BE49-F238E27FC236}">
                <a16:creationId xmlns:a16="http://schemas.microsoft.com/office/drawing/2014/main" id="{7D1CCFEE-47EA-7F89-8BE9-776CF0388D33}"/>
              </a:ext>
            </a:extLst>
          </p:cNvPr>
          <p:cNvSpPr txBox="1"/>
          <p:nvPr/>
        </p:nvSpPr>
        <p:spPr>
          <a:xfrm>
            <a:off x="-55156" y="858645"/>
            <a:ext cx="30170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242C2D"/>
                </a:solidFill>
                <a:effectLst/>
                <a:uLnTx/>
                <a:uFillTx/>
                <a:latin typeface="Book Antiqua"/>
                <a:ea typeface="黑体"/>
                <a:cs typeface="+mn-cs"/>
              </a:rPr>
              <a:t>训练集精度：</a:t>
            </a: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100%</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pic>
        <p:nvPicPr>
          <p:cNvPr id="8" name="图片 7">
            <a:extLst>
              <a:ext uri="{FF2B5EF4-FFF2-40B4-BE49-F238E27FC236}">
                <a16:creationId xmlns:a16="http://schemas.microsoft.com/office/drawing/2014/main" id="{43C68447-43AE-6E0A-EF02-A7E2335C5094}"/>
              </a:ext>
            </a:extLst>
          </p:cNvPr>
          <p:cNvPicPr>
            <a:picLocks noChangeAspect="1"/>
          </p:cNvPicPr>
          <p:nvPr/>
        </p:nvPicPr>
        <p:blipFill>
          <a:blip r:embed="rId3"/>
          <a:stretch>
            <a:fillRect/>
          </a:stretch>
        </p:blipFill>
        <p:spPr>
          <a:xfrm>
            <a:off x="5681632" y="1203644"/>
            <a:ext cx="1956629" cy="4399744"/>
          </a:xfrm>
          <a:prstGeom prst="rect">
            <a:avLst/>
          </a:prstGeom>
        </p:spPr>
      </p:pic>
      <p:sp>
        <p:nvSpPr>
          <p:cNvPr id="6" name="文本框 5">
            <a:extLst>
              <a:ext uri="{FF2B5EF4-FFF2-40B4-BE49-F238E27FC236}">
                <a16:creationId xmlns:a16="http://schemas.microsoft.com/office/drawing/2014/main" id="{5D11ED2E-7E1D-5234-2673-6075D3AE27AD}"/>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735075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2FC3-CC7B-A3AF-A209-7C5776C1AA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10C8AB-14DD-847F-AAA3-DA18DE86AB1A}"/>
              </a:ext>
            </a:extLst>
          </p:cNvPr>
          <p:cNvSpPr>
            <a:spLocks noGrp="1"/>
          </p:cNvSpPr>
          <p:nvPr>
            <p:ph type="title"/>
          </p:nvPr>
        </p:nvSpPr>
        <p:spPr/>
        <p:txBody>
          <a:bodyPr/>
          <a:lstStyle/>
          <a:p>
            <a:r>
              <a:rPr lang="zh-CN" altLang="en-US" dirty="0"/>
              <a:t>训练中不出现</a:t>
            </a:r>
            <a:r>
              <a:rPr lang="en-US" altLang="zh-CN" dirty="0"/>
              <a:t>34</a:t>
            </a:r>
            <a:r>
              <a:rPr lang="zh-CN" altLang="en-US" dirty="0"/>
              <a:t>和</a:t>
            </a:r>
            <a:r>
              <a:rPr lang="en-US" altLang="zh-CN" dirty="0"/>
              <a:t>43</a:t>
            </a:r>
            <a:r>
              <a:rPr lang="zh-CN" altLang="en-US" dirty="0"/>
              <a:t>两个函数</a:t>
            </a:r>
          </a:p>
        </p:txBody>
      </p:sp>
      <p:pic>
        <p:nvPicPr>
          <p:cNvPr id="16" name="图片 15">
            <a:extLst>
              <a:ext uri="{FF2B5EF4-FFF2-40B4-BE49-F238E27FC236}">
                <a16:creationId xmlns:a16="http://schemas.microsoft.com/office/drawing/2014/main" id="{16452B89-A034-CA1C-EEBB-1365BE875EB3}"/>
              </a:ext>
            </a:extLst>
          </p:cNvPr>
          <p:cNvPicPr>
            <a:picLocks noChangeAspect="1"/>
          </p:cNvPicPr>
          <p:nvPr/>
        </p:nvPicPr>
        <p:blipFill>
          <a:blip r:embed="rId2"/>
          <a:stretch>
            <a:fillRect/>
          </a:stretch>
        </p:blipFill>
        <p:spPr>
          <a:xfrm>
            <a:off x="381241" y="1357149"/>
            <a:ext cx="11429515" cy="4945540"/>
          </a:xfrm>
          <a:prstGeom prst="rect">
            <a:avLst/>
          </a:prstGeom>
        </p:spPr>
      </p:pic>
      <p:sp>
        <p:nvSpPr>
          <p:cNvPr id="17" name="文本框 16">
            <a:extLst>
              <a:ext uri="{FF2B5EF4-FFF2-40B4-BE49-F238E27FC236}">
                <a16:creationId xmlns:a16="http://schemas.microsoft.com/office/drawing/2014/main" id="{72970AFF-AED7-A8EC-F41C-433E0FBC76E9}"/>
              </a:ext>
            </a:extLst>
          </p:cNvPr>
          <p:cNvSpPr txBox="1"/>
          <p:nvPr/>
        </p:nvSpPr>
        <p:spPr>
          <a:xfrm>
            <a:off x="1103970" y="858645"/>
            <a:ext cx="984652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ID: Seen anchors; OOD: unseen anchors</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3" name="矩形 2">
            <a:extLst>
              <a:ext uri="{FF2B5EF4-FFF2-40B4-BE49-F238E27FC236}">
                <a16:creationId xmlns:a16="http://schemas.microsoft.com/office/drawing/2014/main" id="{CAF98A60-A0BC-F5FB-0FB9-03639C37DE34}"/>
              </a:ext>
            </a:extLst>
          </p:cNvPr>
          <p:cNvSpPr/>
          <p:nvPr/>
        </p:nvSpPr>
        <p:spPr>
          <a:xfrm>
            <a:off x="8348870" y="1320310"/>
            <a:ext cx="2601626" cy="1740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 name="矩形 3">
            <a:extLst>
              <a:ext uri="{FF2B5EF4-FFF2-40B4-BE49-F238E27FC236}">
                <a16:creationId xmlns:a16="http://schemas.microsoft.com/office/drawing/2014/main" id="{8D42DA4B-E8FC-F9B8-FFAA-F107FC007FD4}"/>
              </a:ext>
            </a:extLst>
          </p:cNvPr>
          <p:cNvSpPr/>
          <p:nvPr/>
        </p:nvSpPr>
        <p:spPr>
          <a:xfrm>
            <a:off x="8348869" y="3045082"/>
            <a:ext cx="2601628" cy="24926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5" name="矩形: 圆角 4">
            <a:extLst>
              <a:ext uri="{FF2B5EF4-FFF2-40B4-BE49-F238E27FC236}">
                <a16:creationId xmlns:a16="http://schemas.microsoft.com/office/drawing/2014/main" id="{F6B1365B-14AD-675A-3FBA-F092F2352E10}"/>
              </a:ext>
            </a:extLst>
          </p:cNvPr>
          <p:cNvSpPr/>
          <p:nvPr/>
        </p:nvSpPr>
        <p:spPr>
          <a:xfrm>
            <a:off x="8498057" y="1094173"/>
            <a:ext cx="3010641" cy="2836478"/>
          </a:xfrm>
          <a:prstGeom prst="roundRect">
            <a:avLst/>
          </a:prstGeom>
          <a:solidFill>
            <a:srgbClr val="FC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b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br>
            <a:r>
              <a:rPr kumimoji="0" lang="en-US" altLang="zh-CN" sz="2800" b="1"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p>
        </p:txBody>
      </p:sp>
      <p:sp>
        <p:nvSpPr>
          <p:cNvPr id="7" name="文本框 6">
            <a:extLst>
              <a:ext uri="{FF2B5EF4-FFF2-40B4-BE49-F238E27FC236}">
                <a16:creationId xmlns:a16="http://schemas.microsoft.com/office/drawing/2014/main" id="{34CF5CCB-927B-E398-CD90-ECAC5B768653}"/>
              </a:ext>
            </a:extLst>
          </p:cNvPr>
          <p:cNvSpPr txBox="1"/>
          <p:nvPr/>
        </p:nvSpPr>
        <p:spPr>
          <a:xfrm>
            <a:off x="9532732" y="658590"/>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对称性</a:t>
            </a:r>
          </a:p>
        </p:txBody>
      </p:sp>
      <p:sp>
        <p:nvSpPr>
          <p:cNvPr id="10" name="文本框 9">
            <a:extLst>
              <a:ext uri="{FF2B5EF4-FFF2-40B4-BE49-F238E27FC236}">
                <a16:creationId xmlns:a16="http://schemas.microsoft.com/office/drawing/2014/main" id="{B637137E-3611-4FBE-4110-9004B7F8275B}"/>
              </a:ext>
            </a:extLst>
          </p:cNvPr>
          <p:cNvSpPr txBox="1"/>
          <p:nvPr/>
        </p:nvSpPr>
        <p:spPr>
          <a:xfrm>
            <a:off x="3908553" y="1470791"/>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方程关系</a:t>
            </a:r>
          </a:p>
        </p:txBody>
      </p:sp>
      <p:sp>
        <p:nvSpPr>
          <p:cNvPr id="11" name="文本框 10">
            <a:extLst>
              <a:ext uri="{FF2B5EF4-FFF2-40B4-BE49-F238E27FC236}">
                <a16:creationId xmlns:a16="http://schemas.microsoft.com/office/drawing/2014/main" id="{DB1DDCE2-BBFE-D6A5-6A97-CE1E849E4BEE}"/>
              </a:ext>
            </a:extLst>
          </p:cNvPr>
          <p:cNvSpPr txBox="1"/>
          <p:nvPr/>
        </p:nvSpPr>
        <p:spPr>
          <a:xfrm>
            <a:off x="7156071" y="1475596"/>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对称性</a:t>
            </a:r>
          </a:p>
        </p:txBody>
      </p:sp>
      <p:sp>
        <p:nvSpPr>
          <p:cNvPr id="13" name="文本框 12">
            <a:extLst>
              <a:ext uri="{FF2B5EF4-FFF2-40B4-BE49-F238E27FC236}">
                <a16:creationId xmlns:a16="http://schemas.microsoft.com/office/drawing/2014/main" id="{776BB3F1-01A9-AFEF-4DAF-358A1AF5FEF7}"/>
              </a:ext>
            </a:extLst>
          </p:cNvPr>
          <p:cNvSpPr txBox="1"/>
          <p:nvPr/>
        </p:nvSpPr>
        <p:spPr>
          <a:xfrm>
            <a:off x="1940295" y="1490003"/>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记忆</a:t>
            </a:r>
          </a:p>
        </p:txBody>
      </p:sp>
      <p:sp>
        <p:nvSpPr>
          <p:cNvPr id="14" name="文本框 13">
            <a:extLst>
              <a:ext uri="{FF2B5EF4-FFF2-40B4-BE49-F238E27FC236}">
                <a16:creationId xmlns:a16="http://schemas.microsoft.com/office/drawing/2014/main" id="{5CE89230-1C4C-060A-1398-E7A136B2361D}"/>
              </a:ext>
            </a:extLst>
          </p:cNvPr>
          <p:cNvSpPr txBox="1"/>
          <p:nvPr/>
        </p:nvSpPr>
        <p:spPr>
          <a:xfrm>
            <a:off x="-55156" y="858645"/>
            <a:ext cx="30170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242C2D"/>
                </a:solidFill>
                <a:effectLst/>
                <a:uLnTx/>
                <a:uFillTx/>
                <a:latin typeface="Book Antiqua"/>
                <a:ea typeface="黑体"/>
                <a:cs typeface="+mn-cs"/>
              </a:rPr>
              <a:t>训练集精度：</a:t>
            </a: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100%</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pic>
        <p:nvPicPr>
          <p:cNvPr id="8" name="图片 7">
            <a:extLst>
              <a:ext uri="{FF2B5EF4-FFF2-40B4-BE49-F238E27FC236}">
                <a16:creationId xmlns:a16="http://schemas.microsoft.com/office/drawing/2014/main" id="{41439921-8C6A-9833-9B60-1EDCA478CFC8}"/>
              </a:ext>
            </a:extLst>
          </p:cNvPr>
          <p:cNvPicPr>
            <a:picLocks noChangeAspect="1"/>
          </p:cNvPicPr>
          <p:nvPr/>
        </p:nvPicPr>
        <p:blipFill>
          <a:blip r:embed="rId3"/>
          <a:stretch>
            <a:fillRect/>
          </a:stretch>
        </p:blipFill>
        <p:spPr>
          <a:xfrm>
            <a:off x="8607418" y="1171486"/>
            <a:ext cx="2970955" cy="2759164"/>
          </a:xfrm>
          <a:prstGeom prst="rect">
            <a:avLst/>
          </a:prstGeom>
        </p:spPr>
      </p:pic>
      <p:sp>
        <p:nvSpPr>
          <p:cNvPr id="6" name="文本框 5">
            <a:extLst>
              <a:ext uri="{FF2B5EF4-FFF2-40B4-BE49-F238E27FC236}">
                <a16:creationId xmlns:a16="http://schemas.microsoft.com/office/drawing/2014/main" id="{7CD1EA51-E50E-8CFF-7BEE-4BB9B5FC639C}"/>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3109510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2FC3-CC7B-A3AF-A209-7C5776C1AA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10C8AB-14DD-847F-AAA3-DA18DE86AB1A}"/>
              </a:ext>
            </a:extLst>
          </p:cNvPr>
          <p:cNvSpPr>
            <a:spLocks noGrp="1"/>
          </p:cNvSpPr>
          <p:nvPr>
            <p:ph type="title"/>
          </p:nvPr>
        </p:nvSpPr>
        <p:spPr/>
        <p:txBody>
          <a:bodyPr/>
          <a:lstStyle/>
          <a:p>
            <a:r>
              <a:rPr lang="zh-CN" altLang="en-US" dirty="0"/>
              <a:t>训练中不出现</a:t>
            </a:r>
            <a:r>
              <a:rPr lang="en-US" altLang="zh-CN" dirty="0"/>
              <a:t>34</a:t>
            </a:r>
            <a:r>
              <a:rPr lang="zh-CN" altLang="en-US" dirty="0"/>
              <a:t>和</a:t>
            </a:r>
            <a:r>
              <a:rPr lang="en-US" altLang="zh-CN" dirty="0"/>
              <a:t>43</a:t>
            </a:r>
            <a:r>
              <a:rPr lang="zh-CN" altLang="en-US" dirty="0"/>
              <a:t>两个函数</a:t>
            </a:r>
          </a:p>
        </p:txBody>
      </p:sp>
      <p:pic>
        <p:nvPicPr>
          <p:cNvPr id="16" name="图片 15">
            <a:extLst>
              <a:ext uri="{FF2B5EF4-FFF2-40B4-BE49-F238E27FC236}">
                <a16:creationId xmlns:a16="http://schemas.microsoft.com/office/drawing/2014/main" id="{16452B89-A034-CA1C-EEBB-1365BE875EB3}"/>
              </a:ext>
            </a:extLst>
          </p:cNvPr>
          <p:cNvPicPr>
            <a:picLocks noChangeAspect="1"/>
          </p:cNvPicPr>
          <p:nvPr/>
        </p:nvPicPr>
        <p:blipFill>
          <a:blip r:embed="rId2"/>
          <a:stretch>
            <a:fillRect/>
          </a:stretch>
        </p:blipFill>
        <p:spPr>
          <a:xfrm>
            <a:off x="381241" y="1357149"/>
            <a:ext cx="11429515" cy="4945540"/>
          </a:xfrm>
          <a:prstGeom prst="rect">
            <a:avLst/>
          </a:prstGeom>
        </p:spPr>
      </p:pic>
      <p:sp>
        <p:nvSpPr>
          <p:cNvPr id="17" name="文本框 16">
            <a:extLst>
              <a:ext uri="{FF2B5EF4-FFF2-40B4-BE49-F238E27FC236}">
                <a16:creationId xmlns:a16="http://schemas.microsoft.com/office/drawing/2014/main" id="{72970AFF-AED7-A8EC-F41C-433E0FBC76E9}"/>
              </a:ext>
            </a:extLst>
          </p:cNvPr>
          <p:cNvSpPr txBox="1"/>
          <p:nvPr/>
        </p:nvSpPr>
        <p:spPr>
          <a:xfrm>
            <a:off x="1103970" y="858645"/>
            <a:ext cx="984652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ID: Seen anchors; OOD: unseen anchors</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3" name="矩形 2">
            <a:extLst>
              <a:ext uri="{FF2B5EF4-FFF2-40B4-BE49-F238E27FC236}">
                <a16:creationId xmlns:a16="http://schemas.microsoft.com/office/drawing/2014/main" id="{CAF98A60-A0BC-F5FB-0FB9-03639C37DE34}"/>
              </a:ext>
            </a:extLst>
          </p:cNvPr>
          <p:cNvSpPr/>
          <p:nvPr/>
        </p:nvSpPr>
        <p:spPr>
          <a:xfrm flipH="1">
            <a:off x="10950495" y="1320310"/>
            <a:ext cx="287347" cy="1740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4" name="矩形 3">
            <a:extLst>
              <a:ext uri="{FF2B5EF4-FFF2-40B4-BE49-F238E27FC236}">
                <a16:creationId xmlns:a16="http://schemas.microsoft.com/office/drawing/2014/main" id="{8D42DA4B-E8FC-F9B8-FFAA-F107FC007FD4}"/>
              </a:ext>
            </a:extLst>
          </p:cNvPr>
          <p:cNvSpPr/>
          <p:nvPr/>
        </p:nvSpPr>
        <p:spPr>
          <a:xfrm>
            <a:off x="10931281" y="3045082"/>
            <a:ext cx="45719" cy="24926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mc:AlternateContent xmlns:mc="http://schemas.openxmlformats.org/markup-compatibility/2006" xmlns:a14="http://schemas.microsoft.com/office/drawing/2010/main">
        <mc:Choice Requires="a14">
          <p:sp>
            <p:nvSpPr>
              <p:cNvPr id="5" name="矩形: 圆角 4">
                <a:extLst>
                  <a:ext uri="{FF2B5EF4-FFF2-40B4-BE49-F238E27FC236}">
                    <a16:creationId xmlns:a16="http://schemas.microsoft.com/office/drawing/2014/main" id="{CB2CF4B9-1EBC-6DD0-3D8E-317264941F22}"/>
                  </a:ext>
                </a:extLst>
              </p:cNvPr>
              <p:cNvSpPr/>
              <p:nvPr/>
            </p:nvSpPr>
            <p:spPr>
              <a:xfrm>
                <a:off x="8724213" y="4479097"/>
                <a:ext cx="2048756" cy="1112965"/>
              </a:xfrm>
              <a:prstGeom prst="roundRect">
                <a:avLst>
                  <a:gd name="adj" fmla="val 2563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t>𝑓</m:t>
                          </m:r>
                        </m:e>
                        <m:sub>
                          <m: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d>
                        <m:dPr>
                          <m:ctrlP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ctrlPr>
                        </m:dPr>
                        <m:e>
                          <m: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e>
                      </m:d>
                      <m: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t>𝑥</m:t>
                      </m:r>
                      <m:r>
                        <a:rPr kumimoji="0" lang="en-US" altLang="zh-CN" sz="1600" b="0" i="1" u="none" strike="noStrike" kern="1200" cap="none" spc="0" normalizeH="0" baseline="0" noProof="0">
                          <a:ln>
                            <a:noFill/>
                          </a:ln>
                          <a:solidFill>
                            <a:srgbClr val="242C2D"/>
                          </a:solidFill>
                          <a:effectLst/>
                          <a:uLnTx/>
                          <a:uFillTx/>
                          <a:latin typeface="Cambria Math" panose="02040503050406030204" pitchFamily="18" charset="0"/>
                          <a:cs typeface="+mn-cs"/>
                        </a:rPr>
                        <m:t>+5</m:t>
                      </m:r>
                    </m:oMath>
                  </m:oMathPara>
                </a14:m>
                <a:endParaRPr kumimoji="0" lang="en-US" altLang="zh-CN" sz="16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sub>
                      </m:sSub>
                      <m:d>
                        <m:dPr>
                          <m:ctrlP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+1</m:t>
                      </m:r>
                    </m:oMath>
                  </m:oMathPara>
                </a14:m>
                <a:endParaRPr kumimoji="0" lang="en-US" altLang="zh-CN" sz="16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3</m:t>
                          </m:r>
                        </m:sub>
                      </m:sSub>
                      <m:d>
                        <m:dPr>
                          <m:ctrlP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−2</m:t>
                      </m:r>
                    </m:oMath>
                  </m:oMathPara>
                </a14:m>
                <a:endParaRPr kumimoji="0" lang="en-US" altLang="zh-CN" sz="16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a:p>
                <a:pPr marL="0" marR="0" lvl="0" indent="0" algn="ctr" defTabSz="914400" rtl="0" eaLnBrk="1" fontAlgn="auto" latinLnBrk="0" hangingPunct="1">
                  <a:lnSpc>
                    <a:spcPct val="120000"/>
                  </a:lnSpc>
                  <a:spcBef>
                    <a:spcPts val="600"/>
                  </a:spcBef>
                  <a:spcAft>
                    <a:spcPts val="0"/>
                  </a:spcAft>
                  <a:buClrTx/>
                  <a:buSzTx/>
                  <a:buFontTx/>
                  <a:buNone/>
                  <a:tabLst/>
                  <a:defRPr/>
                </a:pPr>
                <a14:m>
                  <m:oMathPara xmlns:m="http://schemas.openxmlformats.org/officeDocument/2006/math">
                    <m:oMath>
                      <m:sSub>
                        <m:sSubPr>
                          <m:ctrlP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𝑓</m:t>
                          </m:r>
                        </m:e>
                        <m:sub>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4</m:t>
                          </m:r>
                        </m:sub>
                      </m:sSub>
                      <m:d>
                        <m:dPr>
                          <m:ctrlP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dPr>
                        <m:e>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e>
                      </m:d>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m:t>
                      </m:r>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𝑥</m:t>
                      </m:r>
                      <m:r>
                        <a:rPr kumimoji="0" lang="en-US" altLang="zh-CN" sz="16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−8</m:t>
                      </m:r>
                    </m:oMath>
                  </m:oMathPara>
                </a14:m>
                <a:endParaRPr kumimoji="0" lang="zh-CN" altLang="en-US" sz="1600" b="0" i="0" u="none" strike="noStrike" kern="1200" cap="none" spc="0" normalizeH="0" baseline="0" noProof="0" dirty="0">
                  <a:ln>
                    <a:noFill/>
                  </a:ln>
                  <a:solidFill>
                    <a:srgbClr val="242C2D"/>
                  </a:solidFill>
                  <a:effectLst/>
                  <a:uLnTx/>
                  <a:uFillTx/>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5" name="矩形: 圆角 4">
                <a:extLst>
                  <a:ext uri="{FF2B5EF4-FFF2-40B4-BE49-F238E27FC236}">
                    <a16:creationId xmlns:a16="http://schemas.microsoft.com/office/drawing/2014/main" id="{CB2CF4B9-1EBC-6DD0-3D8E-317264941F22}"/>
                  </a:ext>
                </a:extLst>
              </p:cNvPr>
              <p:cNvSpPr>
                <a:spLocks noRot="1" noChangeAspect="1" noMove="1" noResize="1" noEditPoints="1" noAdjustHandles="1" noChangeArrowheads="1" noChangeShapeType="1" noTextEdit="1"/>
              </p:cNvSpPr>
              <p:nvPr/>
            </p:nvSpPr>
            <p:spPr>
              <a:xfrm>
                <a:off x="8724213" y="4479097"/>
                <a:ext cx="2048756" cy="1112965"/>
              </a:xfrm>
              <a:prstGeom prst="roundRect">
                <a:avLst>
                  <a:gd name="adj" fmla="val 25632"/>
                </a:avLst>
              </a:prstGeom>
              <a:blipFill>
                <a:blip r:embed="rId5"/>
                <a:stretch>
                  <a:fillRect b="-8791"/>
                </a:stretch>
              </a:blipFill>
              <a:ln>
                <a:noFill/>
              </a:ln>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16CB4F5D-3BB2-CB90-20AC-DBAC0C2FB830}"/>
              </a:ext>
            </a:extLst>
          </p:cNvPr>
          <p:cNvSpPr txBox="1"/>
          <p:nvPr/>
        </p:nvSpPr>
        <p:spPr>
          <a:xfrm>
            <a:off x="8931107" y="4161452"/>
            <a:ext cx="16738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Composition</a:t>
            </a:r>
            <a:endPar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B0CB68ED-AE79-0863-ABC6-92BFE800B973}"/>
              </a:ext>
            </a:extLst>
          </p:cNvPr>
          <p:cNvSpPr txBox="1"/>
          <p:nvPr/>
        </p:nvSpPr>
        <p:spPr>
          <a:xfrm>
            <a:off x="3908553" y="1470791"/>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方程关系</a:t>
            </a:r>
          </a:p>
        </p:txBody>
      </p:sp>
      <p:sp>
        <p:nvSpPr>
          <p:cNvPr id="10" name="文本框 9">
            <a:extLst>
              <a:ext uri="{FF2B5EF4-FFF2-40B4-BE49-F238E27FC236}">
                <a16:creationId xmlns:a16="http://schemas.microsoft.com/office/drawing/2014/main" id="{27E528DD-76D7-3BED-1E51-B40CDF724DC8}"/>
              </a:ext>
            </a:extLst>
          </p:cNvPr>
          <p:cNvSpPr txBox="1"/>
          <p:nvPr/>
        </p:nvSpPr>
        <p:spPr>
          <a:xfrm>
            <a:off x="7156071" y="1475596"/>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对称性</a:t>
            </a:r>
          </a:p>
        </p:txBody>
      </p:sp>
      <p:sp>
        <p:nvSpPr>
          <p:cNvPr id="11" name="文本框 10">
            <a:extLst>
              <a:ext uri="{FF2B5EF4-FFF2-40B4-BE49-F238E27FC236}">
                <a16:creationId xmlns:a16="http://schemas.microsoft.com/office/drawing/2014/main" id="{F3445C0C-1C18-B043-FBE5-7361732DC61B}"/>
              </a:ext>
            </a:extLst>
          </p:cNvPr>
          <p:cNvSpPr txBox="1"/>
          <p:nvPr/>
        </p:nvSpPr>
        <p:spPr>
          <a:xfrm>
            <a:off x="9220823" y="145598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复合性</a:t>
            </a:r>
          </a:p>
        </p:txBody>
      </p:sp>
      <p:sp>
        <p:nvSpPr>
          <p:cNvPr id="12" name="文本框 11">
            <a:extLst>
              <a:ext uri="{FF2B5EF4-FFF2-40B4-BE49-F238E27FC236}">
                <a16:creationId xmlns:a16="http://schemas.microsoft.com/office/drawing/2014/main" id="{0170CBA4-17D5-5892-0187-735701D19C97}"/>
              </a:ext>
            </a:extLst>
          </p:cNvPr>
          <p:cNvSpPr txBox="1"/>
          <p:nvPr/>
        </p:nvSpPr>
        <p:spPr>
          <a:xfrm>
            <a:off x="1940295" y="1490003"/>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记忆</a:t>
            </a:r>
          </a:p>
        </p:txBody>
      </p:sp>
      <p:sp>
        <p:nvSpPr>
          <p:cNvPr id="14" name="文本框 13">
            <a:extLst>
              <a:ext uri="{FF2B5EF4-FFF2-40B4-BE49-F238E27FC236}">
                <a16:creationId xmlns:a16="http://schemas.microsoft.com/office/drawing/2014/main" id="{38939313-8E17-911C-A0F0-D8A33D5404BF}"/>
              </a:ext>
            </a:extLst>
          </p:cNvPr>
          <p:cNvSpPr txBox="1"/>
          <p:nvPr/>
        </p:nvSpPr>
        <p:spPr>
          <a:xfrm>
            <a:off x="-55156" y="852425"/>
            <a:ext cx="30170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242C2D"/>
                </a:solidFill>
                <a:effectLst/>
                <a:uLnTx/>
                <a:uFillTx/>
                <a:latin typeface="Book Antiqua"/>
                <a:ea typeface="黑体"/>
                <a:cs typeface="+mn-cs"/>
              </a:rPr>
              <a:t>训练集精度：</a:t>
            </a: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100%</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7" name="文本框 6">
            <a:extLst>
              <a:ext uri="{FF2B5EF4-FFF2-40B4-BE49-F238E27FC236}">
                <a16:creationId xmlns:a16="http://schemas.microsoft.com/office/drawing/2014/main" id="{BE7D177A-BA68-29A7-5D5A-FD2867B6E60A}"/>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1065741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DA9B4-795C-A15F-0A04-003BF1C63C5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E446A59-35CF-6AAB-CDB9-70A70A6AC636}"/>
              </a:ext>
            </a:extLst>
          </p:cNvPr>
          <p:cNvSpPr>
            <a:spLocks noGrp="1"/>
          </p:cNvSpPr>
          <p:nvPr>
            <p:ph type="title"/>
          </p:nvPr>
        </p:nvSpPr>
        <p:spPr/>
        <p:txBody>
          <a:bodyPr>
            <a:noAutofit/>
          </a:bodyPr>
          <a:lstStyle/>
          <a:p>
            <a:r>
              <a:rPr lang="zh-CN" altLang="en-US" sz="3600" b="1" dirty="0"/>
              <a:t>关键的超参数</a:t>
            </a:r>
            <a:endParaRPr lang="en-US" sz="3600" b="1"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C197831-A586-7F0C-F154-FA370133ACA0}"/>
                  </a:ext>
                </a:extLst>
              </p:cNvPr>
              <p:cNvSpPr txBox="1"/>
              <p:nvPr/>
            </p:nvSpPr>
            <p:spPr>
              <a:xfrm>
                <a:off x="2730863" y="2772514"/>
                <a:ext cx="6865258" cy="21934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Initialization~</a:t>
                </a:r>
                <a14:m>
                  <m:oMath xmlns:m="http://schemas.openxmlformats.org/officeDocument/2006/math">
                    <m: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𝑁</m:t>
                    </m:r>
                    <m:d>
                      <m:dPr>
                        <m:ctrlP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dPr>
                      <m:e>
                        <m: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t>0,</m:t>
                        </m:r>
                        <m:sSup>
                          <m:sSupPr>
                            <m:ctrlP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sSupPr>
                          <m:e>
                            <m:d>
                              <m:dPr>
                                <m:ctrlP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dPr>
                              <m:e>
                                <m:f>
                                  <m:fPr>
                                    <m:ctrlP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fPr>
                                  <m:num>
                                    <m: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t>1</m:t>
                                    </m:r>
                                  </m:num>
                                  <m:den>
                                    <m:sSubSup>
                                      <m:sSubSupPr>
                                        <m:ctrlPr>
                                          <a:rPr kumimoji="1" lang="en-US" altLang="zh-CN" sz="40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1" lang="en-US" altLang="zh-CN" sz="4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𝑑</m:t>
                                        </m:r>
                                      </m:e>
                                      <m:sub>
                                        <m:r>
                                          <a:rPr kumimoji="1" lang="en-US" altLang="zh-CN" sz="4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𝑖𝑛</m:t>
                                        </m:r>
                                      </m:sub>
                                      <m:sup>
                                        <m:r>
                                          <a:rPr kumimoji="1" lang="en-US" altLang="zh-CN" sz="4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𝛾</m:t>
                                        </m:r>
                                      </m:sup>
                                    </m:sSubSup>
                                  </m:den>
                                </m:f>
                              </m:e>
                            </m:d>
                          </m:e>
                          <m:sup>
                            <m: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t>2</m:t>
                            </m:r>
                          </m:sup>
                        </m:sSup>
                      </m:e>
                    </m:d>
                    <m:r>
                      <a:rPr kumimoji="1" lang="en-US" altLang="zh-CN" sz="4000" b="0" i="1" u="none" strike="noStrike" kern="1200" cap="none" spc="0" normalizeH="0" baseline="0" noProof="0" smtClean="0">
                        <a:ln>
                          <a:noFill/>
                        </a:ln>
                        <a:solidFill>
                          <a:srgbClr val="242C2D"/>
                        </a:solidFill>
                        <a:effectLst/>
                        <a:uLnTx/>
                        <a:uFillTx/>
                        <a:latin typeface="Cambria Math" panose="02040503050406030204" pitchFamily="18" charset="0"/>
                        <a:cs typeface="+mn-cs"/>
                      </a:rPr>
                      <m:t> </m:t>
                    </m:r>
                  </m:oMath>
                </a14:m>
                <a:endParaRPr kumimoji="1" lang="en-US" altLang="zh-CN" sz="3200" b="0"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1" lang="en-US" altLang="zh-CN" sz="32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ctrlPr>
                      </m:sSubPr>
                      <m:e>
                        <m:r>
                          <a:rPr kumimoji="1" lang="en-US" altLang="zh-CN" sz="32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𝑑</m:t>
                        </m:r>
                      </m:e>
                      <m:sub>
                        <m:r>
                          <a:rPr kumimoji="1" lang="en-US" altLang="zh-CN" sz="3200" b="0" i="1" u="none" strike="noStrike" kern="1200" cap="none" spc="0" normalizeH="0" baseline="0" noProof="0" smtClean="0">
                            <a:ln>
                              <a:noFill/>
                            </a:ln>
                            <a:solidFill>
                              <a:srgbClr val="242C2D"/>
                            </a:solidFill>
                            <a:effectLst/>
                            <a:uLnTx/>
                            <a:uFillTx/>
                            <a:latin typeface="Cambria Math" panose="02040503050406030204" pitchFamily="18" charset="0"/>
                            <a:ea typeface="黑体" panose="02010609060101010101" charset="-122"/>
                            <a:cs typeface="+mn-cs"/>
                          </a:rPr>
                          <m:t>𝑖𝑛</m:t>
                        </m:r>
                      </m:sub>
                    </m:sSub>
                  </m:oMath>
                </a14:m>
                <a:r>
                  <a:rPr kumimoji="1" lang="en-US" altLang="zh-CN" sz="3200" b="0"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r>
                  <a:rPr kumimoji="1" lang="zh-CN" altLang="en-US" sz="3200" b="0"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 </a:t>
                </a:r>
                <a:r>
                  <a:rPr kumimoji="1" lang="en-US" altLang="zh-CN" sz="3200" b="0"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rPr>
                  <a:t>neuron # of input layer</a:t>
                </a:r>
                <a:endParaRPr kumimoji="1" lang="zh-CN" altLang="en-US" sz="3200" b="0" i="0" u="none" strike="noStrike" kern="1200" cap="none" spc="0" normalizeH="0" baseline="0" noProof="0" dirty="0">
                  <a:ln>
                    <a:noFill/>
                  </a:ln>
                  <a:solidFill>
                    <a:srgbClr val="242C2D"/>
                  </a:solidFill>
                  <a:effectLst/>
                  <a:uLnTx/>
                  <a:uFillTx/>
                  <a:latin typeface="Book Antiqua" panose="02040602050305030304"/>
                  <a:ea typeface="黑体" panose="02010609060101010101" charset="-122"/>
                  <a:cs typeface="+mn-cs"/>
                </a:endParaRPr>
              </a:p>
            </p:txBody>
          </p:sp>
        </mc:Choice>
        <mc:Fallback xmlns="">
          <p:sp>
            <p:nvSpPr>
              <p:cNvPr id="4" name="文本框 3">
                <a:extLst>
                  <a:ext uri="{FF2B5EF4-FFF2-40B4-BE49-F238E27FC236}">
                    <a16:creationId xmlns:a16="http://schemas.microsoft.com/office/drawing/2014/main" id="{1CA657B1-0584-1D4F-65FC-C37363493B2D}"/>
                  </a:ext>
                </a:extLst>
              </p:cNvPr>
              <p:cNvSpPr txBox="1">
                <a:spLocks noRot="1" noChangeAspect="1" noMove="1" noResize="1" noEditPoints="1" noAdjustHandles="1" noChangeArrowheads="1" noChangeShapeType="1" noTextEdit="1"/>
              </p:cNvSpPr>
              <p:nvPr/>
            </p:nvSpPr>
            <p:spPr>
              <a:xfrm>
                <a:off x="2730863" y="2772514"/>
                <a:ext cx="6865258" cy="2193421"/>
              </a:xfrm>
              <a:prstGeom prst="rect">
                <a:avLst/>
              </a:prstGeom>
              <a:blipFill>
                <a:blip r:embed="rId4"/>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B07F7AF-329F-0657-F1BF-C34184E5D992}"/>
                  </a:ext>
                </a:extLst>
              </p:cNvPr>
              <p:cNvSpPr txBox="1"/>
              <p:nvPr/>
            </p:nvSpPr>
            <p:spPr>
              <a:xfrm>
                <a:off x="3115492" y="1112436"/>
                <a:ext cx="6096000" cy="149239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14:m>
                  <m:oMathPara xmlns:m="http://schemas.openxmlformats.org/officeDocument/2006/math">
                    <m:oMath>
                      <m:r>
                        <a:rPr kumimoji="0" lang="en-US" altLang="zh-CN" sz="3200" b="0" i="1" u="none" strike="noStrike" kern="1200" cap="none" spc="0" normalizeH="0" baseline="0" noProof="0" smtClean="0">
                          <a:ln>
                            <a:noFill/>
                          </a:ln>
                          <a:solidFill>
                            <a:srgbClr val="000000"/>
                          </a:solidFill>
                          <a:effectLst/>
                          <a:uLnTx/>
                          <a:uFillTx/>
                          <a:latin typeface="Cambria Math" panose="02040503050406030204" pitchFamily="18" charset="0"/>
                          <a:cs typeface="+mn-cs"/>
                        </a:rPr>
                        <m:t>ℎ</m:t>
                      </m:r>
                      <m:d>
                        <m:dPr>
                          <m:ctrl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e>
                      </m:d>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nary>
                        <m:naryPr>
                          <m:chr m:val="∑"/>
                          <m:ctrl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brk m:alnAt="23"/>
                            </m:r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up>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𝑚</m:t>
                          </m:r>
                        </m:sup>
                        <m:e>
                          <m:sSub>
                            <m:sSubPr>
                              <m:ctrl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e>
                            <m:sub>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sub>
                          </m:sSub>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𝜎</m:t>
                          </m:r>
                          <m:d>
                            <m:dPr>
                              <m:ctrl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𝑤</m:t>
                                  </m:r>
                                </m:e>
                                <m:sub>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sub>
                              </m:sSub>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𝑏</m:t>
                                  </m:r>
                                </m:e>
                                <m:sub>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𝑗</m:t>
                                  </m:r>
                                </m:sub>
                              </m:sSub>
                            </m:e>
                          </m:d>
                          <m:r>
                            <a:rPr kumimoji="0" lang="en-US" altLang="zh-CN" sz="3200" b="0" i="1" u="none" strike="noStrike" kern="1200" cap="none" spc="0" normalizeH="0" baseline="0" noProof="0">
                              <a:ln>
                                <a:noFill/>
                              </a:ln>
                              <a:solidFill>
                                <a:srgbClr val="000000"/>
                              </a:solidFill>
                              <a:effectLst/>
                              <a:uLnTx/>
                              <a:uFillTx/>
                              <a:latin typeface="Cambria Math" panose="02040503050406030204" pitchFamily="18" charset="0"/>
                              <a:cs typeface="+mn-cs"/>
                            </a:rPr>
                            <m:t>,</m:t>
                          </m:r>
                        </m:e>
                      </m:nary>
                    </m:oMath>
                  </m:oMathPara>
                </a14:m>
                <a:endParaRPr kumimoji="0" lang="en-US" altLang="zh-CN" sz="32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mn-cs"/>
                </a:endParaRPr>
              </a:p>
            </p:txBody>
          </p:sp>
        </mc:Choice>
        <mc:Fallback xmlns="">
          <p:sp>
            <p:nvSpPr>
              <p:cNvPr id="2" name="文本框 1">
                <a:extLst>
                  <a:ext uri="{FF2B5EF4-FFF2-40B4-BE49-F238E27FC236}">
                    <a16:creationId xmlns:a16="http://schemas.microsoft.com/office/drawing/2014/main" id="{1F9F8300-D774-D6A3-F37B-421D42FC9F89}"/>
                  </a:ext>
                </a:extLst>
              </p:cNvPr>
              <p:cNvSpPr txBox="1">
                <a:spLocks noRot="1" noChangeAspect="1" noMove="1" noResize="1" noEditPoints="1" noAdjustHandles="1" noChangeArrowheads="1" noChangeShapeType="1" noTextEdit="1"/>
              </p:cNvSpPr>
              <p:nvPr/>
            </p:nvSpPr>
            <p:spPr>
              <a:xfrm>
                <a:off x="3115492" y="1112436"/>
                <a:ext cx="6096000" cy="1492396"/>
              </a:xfrm>
              <a:prstGeom prst="rect">
                <a:avLst/>
              </a:prstGeom>
              <a:blipFill>
                <a:blip r:embed="rId5"/>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7429440A-C9DD-E37D-1DCA-F4FC09C806A8}"/>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3216067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242" y="2712278"/>
            <a:ext cx="11429516" cy="761979"/>
          </a:xfrm>
        </p:spPr>
        <p:txBody>
          <a:bodyPr/>
          <a:lstStyle/>
          <a:p>
            <a:pPr algn="ctr"/>
            <a:r>
              <a:rPr lang="zh-CN" altLang="en-US" dirty="0"/>
              <a:t>关键现象</a:t>
            </a:r>
            <a:r>
              <a:rPr lang="en-US" altLang="zh-CN" dirty="0"/>
              <a:t>: </a:t>
            </a:r>
            <a:r>
              <a:rPr lang="zh-CN" altLang="en-US" dirty="0"/>
              <a:t>凝聚</a:t>
            </a:r>
            <a:r>
              <a:rPr lang="en-US" altLang="zh-CN" dirty="0"/>
              <a:t>!</a:t>
            </a:r>
            <a:endParaRPr lang="zh-CN" altLang="en-US" dirty="0"/>
          </a:p>
        </p:txBody>
      </p:sp>
      <p:sp>
        <p:nvSpPr>
          <p:cNvPr id="4" name="文本框 3">
            <a:extLst>
              <a:ext uri="{FF2B5EF4-FFF2-40B4-BE49-F238E27FC236}">
                <a16:creationId xmlns:a16="http://schemas.microsoft.com/office/drawing/2014/main" id="{ACE3FA0C-FFFB-A736-74C7-7E36E7E5964F}"/>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extLst>
      <p:ext uri="{BB962C8B-B14F-4D97-AF65-F5344CB8AC3E}">
        <p14:creationId xmlns:p14="http://schemas.microsoft.com/office/powerpoint/2010/main" val="39932916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0DA55-670D-8578-AFEB-64E8A9F0E0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314B2C-F786-403A-50CE-BF64EDB6F4DB}"/>
              </a:ext>
            </a:extLst>
          </p:cNvPr>
          <p:cNvSpPr>
            <a:spLocks noGrp="1"/>
          </p:cNvSpPr>
          <p:nvPr>
            <p:ph type="title"/>
          </p:nvPr>
        </p:nvSpPr>
        <p:spPr/>
        <p:txBody>
          <a:bodyPr/>
          <a:lstStyle/>
          <a:p>
            <a:r>
              <a:rPr lang="zh-CN" altLang="en-US" dirty="0"/>
              <a:t>小初始化的凝聚现象示意图</a:t>
            </a:r>
          </a:p>
        </p:txBody>
      </p:sp>
      <p:grpSp>
        <p:nvGrpSpPr>
          <p:cNvPr id="12" name="组合 11">
            <a:extLst>
              <a:ext uri="{FF2B5EF4-FFF2-40B4-BE49-F238E27FC236}">
                <a16:creationId xmlns:a16="http://schemas.microsoft.com/office/drawing/2014/main" id="{6E3433B9-B00A-F435-5C8F-A72447969A08}"/>
              </a:ext>
            </a:extLst>
          </p:cNvPr>
          <p:cNvGrpSpPr/>
          <p:nvPr/>
        </p:nvGrpSpPr>
        <p:grpSpPr>
          <a:xfrm>
            <a:off x="2406026" y="1307684"/>
            <a:ext cx="7379947" cy="2828657"/>
            <a:chOff x="4270750" y="2989953"/>
            <a:chExt cx="7882206" cy="2997310"/>
          </a:xfrm>
        </p:grpSpPr>
        <p:pic>
          <p:nvPicPr>
            <p:cNvPr id="13" name="图片 12">
              <a:extLst>
                <a:ext uri="{FF2B5EF4-FFF2-40B4-BE49-F238E27FC236}">
                  <a16:creationId xmlns:a16="http://schemas.microsoft.com/office/drawing/2014/main" id="{4107641E-150B-4DA2-35CE-012449E79B8C}"/>
                </a:ext>
              </a:extLst>
            </p:cNvPr>
            <p:cNvPicPr>
              <a:picLocks noChangeAspect="1"/>
            </p:cNvPicPr>
            <p:nvPr/>
          </p:nvPicPr>
          <p:blipFill rotWithShape="1">
            <a:blip r:embed="rId2">
              <a:extLst>
                <a:ext uri="{28A0092B-C50C-407E-A947-70E740481C1C}">
                  <a14:useLocalDpi xmlns:a14="http://schemas.microsoft.com/office/drawing/2010/main" val="0"/>
                </a:ext>
              </a:extLst>
            </a:blip>
            <a:srcRect t="9088"/>
            <a:stretch/>
          </p:blipFill>
          <p:spPr>
            <a:xfrm>
              <a:off x="4270750" y="2989953"/>
              <a:ext cx="7882206" cy="2975796"/>
            </a:xfrm>
            <a:prstGeom prst="rect">
              <a:avLst/>
            </a:prstGeom>
          </p:spPr>
        </p:pic>
        <p:pic>
          <p:nvPicPr>
            <p:cNvPr id="14" name="图片 13">
              <a:extLst>
                <a:ext uri="{FF2B5EF4-FFF2-40B4-BE49-F238E27FC236}">
                  <a16:creationId xmlns:a16="http://schemas.microsoft.com/office/drawing/2014/main" id="{E700C410-3AC1-0DCC-EB83-C2E00CFFF191}"/>
                </a:ext>
              </a:extLst>
            </p:cNvPr>
            <p:cNvPicPr>
              <a:picLocks noChangeAspect="1"/>
            </p:cNvPicPr>
            <p:nvPr/>
          </p:nvPicPr>
          <p:blipFill>
            <a:blip r:embed="rId3"/>
            <a:stretch>
              <a:fillRect/>
            </a:stretch>
          </p:blipFill>
          <p:spPr>
            <a:xfrm>
              <a:off x="10172699" y="5652286"/>
              <a:ext cx="1737086" cy="334977"/>
            </a:xfrm>
            <a:prstGeom prst="rect">
              <a:avLst/>
            </a:prstGeom>
          </p:spPr>
        </p:pic>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3AFC800-FCC7-8D31-FAE2-CCA3CBD7154E}"/>
                  </a:ext>
                </a:extLst>
              </p:cNvPr>
              <p:cNvSpPr txBox="1"/>
              <p:nvPr/>
            </p:nvSpPr>
            <p:spPr>
              <a:xfrm>
                <a:off x="7544709" y="4057256"/>
                <a:ext cx="3321049" cy="12118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𝑓</m:t>
                      </m:r>
                      <m:d>
                        <m:dPr>
                          <m:ctrlP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𝑥</m:t>
                          </m:r>
                        </m:e>
                      </m:d>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oMath>
                  </m:oMathPara>
                </a14:m>
                <a:endParaRPr kumimoji="0" lang="en-US" altLang="zh-CN" sz="2400" b="0" i="1" u="none" strike="noStrike" kern="1200" cap="none" spc="0" normalizeH="0" baseline="0" noProof="0" dirty="0">
                  <a:ln>
                    <a:noFill/>
                  </a:ln>
                  <a:solidFill>
                    <a:srgbClr val="242C2D"/>
                  </a:solidFill>
                  <a:effectLst/>
                  <a:uLnTx/>
                  <a:uFillTx/>
                  <a:latin typeface="Cambria Math" panose="02040503050406030204" pitchFamily="18" charset="0"/>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𝑎</m:t>
                        </m:r>
                      </m:e>
                      <m: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𝑎</m:t>
                        </m:r>
                      </m:e>
                      <m: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2</m:t>
                        </m:r>
                      </m:sub>
                    </m:s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𝜎</m:t>
                    </m:r>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𝑇</m:t>
                        </m:r>
                      </m:sup>
                    </m:sSubSup>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𝒙</m:t>
                    </m:r>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r>
                      <m:rPr>
                        <m:nor/>
                      </m:rPr>
                      <a:rPr kumimoji="0" lang="en-US" altLang="zh-CN" sz="2400" b="0" i="0" u="none" strike="noStrike" kern="1200" cap="none" spc="0" normalizeH="0" baseline="0" noProof="0" dirty="0" smtClean="0">
                        <a:ln>
                          <a:noFill/>
                        </a:ln>
                        <a:solidFill>
                          <a:srgbClr val="242C2D"/>
                        </a:solidFill>
                        <a:effectLst/>
                        <a:uLnTx/>
                        <a:uFillTx/>
                        <a:latin typeface="Cambria Math" panose="02040503050406030204" pitchFamily="18" charset="0"/>
                        <a:ea typeface="黑体"/>
                        <a:cs typeface="+mn-cs"/>
                      </a:rPr>
                      <m:t>+</m:t>
                    </m:r>
                  </m:oMath>
                </a14:m>
                <a:r>
                  <a:rPr kumimoji="0" lang="zh-CN" altLang="en-US" sz="2400" b="0" i="0" u="none" strike="noStrike" kern="1200" cap="none" spc="0" normalizeH="0" baseline="0" noProof="0" dirty="0">
                    <a:ln>
                      <a:noFill/>
                    </a:ln>
                    <a:solidFill>
                      <a:srgbClr val="242C2D"/>
                    </a:solidFill>
                    <a:effectLst/>
                    <a:uLnTx/>
                    <a:uFillTx/>
                    <a:latin typeface="Book Antiqua"/>
                    <a:ea typeface="黑体"/>
                    <a:cs typeface="+mn-cs"/>
                  </a:rPr>
                  <a:t> </a:t>
                </a:r>
                <a14:m>
                  <m:oMath xmlns:m="http://schemas.openxmlformats.org/officeDocument/2006/math">
                    <m:r>
                      <a:rPr kumimoji="0" lang="zh-CN" altLang="en-US"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𝑎</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3</m:t>
                        </m:r>
                      </m:sub>
                    </m:s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𝑎</m:t>
                        </m:r>
                      </m:e>
                      <m: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4</m:t>
                        </m:r>
                      </m:sub>
                    </m:s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
                      <m:sSubPr>
                        <m:ctrlP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𝑎</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5</m:t>
                        </m:r>
                      </m:sub>
                    </m:s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𝜎</m:t>
                    </m:r>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3</m:t>
                        </m:r>
                      </m:sub>
                      <m: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𝑇</m:t>
                        </m:r>
                      </m:sup>
                    </m:sSubSup>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𝒙</m:t>
                    </m:r>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mc:Choice>
        <mc:Fallback xmlns="">
          <p:sp>
            <p:nvSpPr>
              <p:cNvPr id="15" name="文本框 14">
                <a:extLst>
                  <a:ext uri="{FF2B5EF4-FFF2-40B4-BE49-F238E27FC236}">
                    <a16:creationId xmlns:a16="http://schemas.microsoft.com/office/drawing/2014/main" id="{B3AFC800-FCC7-8D31-FAE2-CCA3CBD7154E}"/>
                  </a:ext>
                </a:extLst>
              </p:cNvPr>
              <p:cNvSpPr txBox="1">
                <a:spLocks noRot="1" noChangeAspect="1" noMove="1" noResize="1" noEditPoints="1" noAdjustHandles="1" noChangeArrowheads="1" noChangeShapeType="1" noTextEdit="1"/>
              </p:cNvSpPr>
              <p:nvPr/>
            </p:nvSpPr>
            <p:spPr>
              <a:xfrm>
                <a:off x="7544709" y="4057256"/>
                <a:ext cx="3321049" cy="1211870"/>
              </a:xfrm>
              <a:prstGeom prst="rect">
                <a:avLst/>
              </a:prstGeom>
              <a:blipFill>
                <a:blip r:embed="rId6"/>
                <a:stretch>
                  <a:fillRect l="-1287" r="-551" b="-65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1300E57-51ED-C3C1-293F-7D509953254A}"/>
                  </a:ext>
                </a:extLst>
              </p:cNvPr>
              <p:cNvSpPr txBox="1"/>
              <p:nvPr/>
            </p:nvSpPr>
            <p:spPr>
              <a:xfrm>
                <a:off x="1899046" y="4141012"/>
                <a:ext cx="3071036" cy="11358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𝑓</m:t>
                      </m:r>
                      <m:d>
                        <m:dPr>
                          <m:ctrlP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𝑥</m:t>
                          </m:r>
                        </m:e>
                      </m:d>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nary>
                        <m:naryPr>
                          <m:chr m:val="∑"/>
                          <m:ctrlP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naryPr>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𝑘</m:t>
                          </m:r>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=1</m:t>
                          </m:r>
                        </m:sub>
                        <m:sup>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5</m:t>
                          </m:r>
                        </m:sup>
                        <m:e>
                          <m:sSub>
                            <m:sSubPr>
                              <m:ctrlP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𝑎</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𝑘</m:t>
                              </m:r>
                            </m:sub>
                          </m:sSub>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𝜎</m:t>
                          </m:r>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𝑘</m:t>
                              </m:r>
                            </m:sub>
                            <m:sup>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𝑇</m:t>
                              </m:r>
                            </m:sup>
                          </m:sSubSup>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𝒙</m:t>
                          </m:r>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e>
                      </m:nary>
                    </m:oMath>
                  </m:oMathPara>
                </a14:m>
                <a:endParaRPr kumimoji="0"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mc:Choice>
        <mc:Fallback xmlns="">
          <p:sp>
            <p:nvSpPr>
              <p:cNvPr id="16" name="文本框 15">
                <a:extLst>
                  <a:ext uri="{FF2B5EF4-FFF2-40B4-BE49-F238E27FC236}">
                    <a16:creationId xmlns:a16="http://schemas.microsoft.com/office/drawing/2014/main" id="{F1300E57-51ED-C3C1-293F-7D509953254A}"/>
                  </a:ext>
                </a:extLst>
              </p:cNvPr>
              <p:cNvSpPr txBox="1">
                <a:spLocks noRot="1" noChangeAspect="1" noMove="1" noResize="1" noEditPoints="1" noAdjustHandles="1" noChangeArrowheads="1" noChangeShapeType="1" noTextEdit="1"/>
              </p:cNvSpPr>
              <p:nvPr/>
            </p:nvSpPr>
            <p:spPr>
              <a:xfrm>
                <a:off x="1899046" y="4141012"/>
                <a:ext cx="3071036" cy="113588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3436EDD4-83C3-9389-8416-AE7965B20BCB}"/>
                  </a:ext>
                </a:extLst>
              </p:cNvPr>
              <p:cNvSpPr txBox="1"/>
              <p:nvPr/>
            </p:nvSpPr>
            <p:spPr>
              <a:xfrm>
                <a:off x="5049184" y="4293457"/>
                <a:ext cx="226601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1</m:t>
                          </m:r>
                        </m:sub>
                        <m:sup>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 </m:t>
                          </m:r>
                        </m:sup>
                      </m:sSubSup>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2</m:t>
                          </m:r>
                        </m:sub>
                        <m: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 </m:t>
                          </m:r>
                        </m:sup>
                      </m:sSubSup>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oMath>
                  </m:oMathPara>
                </a14:m>
                <a:endParaRPr kumimoji="0" lang="en-US" altLang="zh-CN" sz="2400" b="0" i="1" u="none" strike="noStrike" kern="1200" cap="none" spc="0" normalizeH="0" baseline="0" noProof="0" dirty="0">
                  <a:ln>
                    <a:noFill/>
                  </a:ln>
                  <a:solidFill>
                    <a:srgbClr val="242C2D"/>
                  </a:solidFill>
                  <a:effectLst/>
                  <a:uLnTx/>
                  <a:uFillTx/>
                  <a:latin typeface="Cambria Math" panose="02040503050406030204" pitchFamily="18" charset="0"/>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ctrlPr>
                        </m:sSubSupPr>
                        <m:e>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 </m:t>
                          </m:r>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3</m:t>
                          </m:r>
                        </m:sub>
                        <m: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 </m:t>
                          </m:r>
                        </m:sup>
                      </m:sSub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m:t>
                      </m:r>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4</m:t>
                          </m:r>
                        </m:sub>
                        <m: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 </m:t>
                          </m:r>
                        </m:sup>
                      </m:sSubSup>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m:t>
                      </m:r>
                      <m:sSubSup>
                        <m:sSubSupPr>
                          <m:ctrlP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ctrlPr>
                        </m:sSubSupPr>
                        <m:e>
                          <m:r>
                            <a:rPr kumimoji="0" lang="en-US" altLang="zh-CN" sz="2400" b="1" i="1" u="none" strike="noStrike" kern="1200" cap="none" spc="0" normalizeH="0" baseline="0" noProof="0">
                              <a:ln>
                                <a:noFill/>
                              </a:ln>
                              <a:solidFill>
                                <a:srgbClr val="242C2D"/>
                              </a:solidFill>
                              <a:effectLst/>
                              <a:uLnTx/>
                              <a:uFillTx/>
                              <a:latin typeface="Cambria Math" panose="02040503050406030204" pitchFamily="18" charset="0"/>
                              <a:cs typeface="+mn-cs"/>
                            </a:rPr>
                            <m:t>𝒘</m:t>
                          </m:r>
                        </m:e>
                        <m:sub>
                          <m:r>
                            <a:rPr kumimoji="0" lang="en-US" altLang="zh-CN" sz="2400" b="0" i="1" u="none" strike="noStrike" kern="1200" cap="none" spc="0" normalizeH="0" baseline="0" noProof="0" smtClean="0">
                              <a:ln>
                                <a:noFill/>
                              </a:ln>
                              <a:solidFill>
                                <a:srgbClr val="242C2D"/>
                              </a:solidFill>
                              <a:effectLst/>
                              <a:uLnTx/>
                              <a:uFillTx/>
                              <a:latin typeface="Cambria Math" panose="02040503050406030204" pitchFamily="18" charset="0"/>
                              <a:cs typeface="+mn-cs"/>
                            </a:rPr>
                            <m:t>5</m:t>
                          </m:r>
                        </m:sub>
                        <m:sup>
                          <m:r>
                            <a:rPr kumimoji="0" lang="en-US" altLang="zh-CN" sz="2400" b="0" i="1" u="none" strike="noStrike" kern="1200" cap="none" spc="0" normalizeH="0" baseline="0" noProof="0">
                              <a:ln>
                                <a:noFill/>
                              </a:ln>
                              <a:solidFill>
                                <a:srgbClr val="242C2D"/>
                              </a:solidFill>
                              <a:effectLst/>
                              <a:uLnTx/>
                              <a:uFillTx/>
                              <a:latin typeface="Cambria Math" panose="02040503050406030204" pitchFamily="18" charset="0"/>
                              <a:cs typeface="+mn-cs"/>
                            </a:rPr>
                            <m:t> </m:t>
                          </m:r>
                        </m:sup>
                      </m:sSubSup>
                    </m:oMath>
                  </m:oMathPara>
                </a14:m>
                <a:endParaRPr kumimoji="0"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mc:Choice>
        <mc:Fallback xmlns="">
          <p:sp>
            <p:nvSpPr>
              <p:cNvPr id="17" name="文本框 16">
                <a:extLst>
                  <a:ext uri="{FF2B5EF4-FFF2-40B4-BE49-F238E27FC236}">
                    <a16:creationId xmlns:a16="http://schemas.microsoft.com/office/drawing/2014/main" id="{3436EDD4-83C3-9389-8416-AE7965B20BCB}"/>
                  </a:ext>
                </a:extLst>
              </p:cNvPr>
              <p:cNvSpPr txBox="1">
                <a:spLocks noRot="1" noChangeAspect="1" noMove="1" noResize="1" noEditPoints="1" noAdjustHandles="1" noChangeArrowheads="1" noChangeShapeType="1" noTextEdit="1"/>
              </p:cNvSpPr>
              <p:nvPr/>
            </p:nvSpPr>
            <p:spPr>
              <a:xfrm>
                <a:off x="5049184" y="4293457"/>
                <a:ext cx="2266014" cy="830997"/>
              </a:xfrm>
              <a:prstGeom prst="rect">
                <a:avLst/>
              </a:prstGeom>
              <a:blipFill>
                <a:blip r:embed="rId8"/>
                <a:stretch>
                  <a:fillRect b="-1460"/>
                </a:stretch>
              </a:blipFill>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33E6C9E7-C880-17F5-EC57-A227AA1E5DD3}"/>
              </a:ext>
            </a:extLst>
          </p:cNvPr>
          <p:cNvSpPr/>
          <p:nvPr/>
        </p:nvSpPr>
        <p:spPr>
          <a:xfrm>
            <a:off x="1707650" y="5468775"/>
            <a:ext cx="1755609" cy="461665"/>
          </a:xfrm>
          <a:prstGeom prst="rect">
            <a:avLst/>
          </a:prstGeom>
        </p:spPr>
        <p:txBody>
          <a:bodyPr wrap="none">
            <a:spAutoFit/>
          </a:bodyPr>
          <a:lstStyle/>
          <a:p>
            <a:pPr marL="0" marR="0" lvl="0" indent="0" algn="l" defTabSz="864235"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黑体"/>
                <a:ea typeface="黑体"/>
                <a:cs typeface="+mn-cs"/>
              </a:rPr>
              <a:t>随机初始化</a:t>
            </a:r>
          </a:p>
        </p:txBody>
      </p:sp>
      <p:sp>
        <p:nvSpPr>
          <p:cNvPr id="19" name="矩形 18">
            <a:extLst>
              <a:ext uri="{FF2B5EF4-FFF2-40B4-BE49-F238E27FC236}">
                <a16:creationId xmlns:a16="http://schemas.microsoft.com/office/drawing/2014/main" id="{4E767ACC-509B-6EE9-74A1-84CC05CD26A9}"/>
              </a:ext>
            </a:extLst>
          </p:cNvPr>
          <p:cNvSpPr/>
          <p:nvPr/>
        </p:nvSpPr>
        <p:spPr>
          <a:xfrm>
            <a:off x="5004735" y="5468774"/>
            <a:ext cx="2539972" cy="830997"/>
          </a:xfrm>
          <a:prstGeom prst="rect">
            <a:avLst/>
          </a:prstGeom>
        </p:spPr>
        <p:txBody>
          <a:bodyPr wrap="square">
            <a:spAutoFit/>
          </a:bodyPr>
          <a:lstStyle/>
          <a:p>
            <a:pPr marL="0" marR="0" lvl="0" indent="0" algn="l" defTabSz="864235"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黑体"/>
                <a:ea typeface="黑体"/>
                <a:cs typeface="+mn-cs"/>
              </a:rPr>
              <a:t>经过训练：达到参数凝聚状态</a:t>
            </a:r>
          </a:p>
        </p:txBody>
      </p:sp>
      <p:sp>
        <p:nvSpPr>
          <p:cNvPr id="20" name="矩形 19">
            <a:extLst>
              <a:ext uri="{FF2B5EF4-FFF2-40B4-BE49-F238E27FC236}">
                <a16:creationId xmlns:a16="http://schemas.microsoft.com/office/drawing/2014/main" id="{2EA183ED-3F21-F53D-2AA6-25264BCEE159}"/>
              </a:ext>
            </a:extLst>
          </p:cNvPr>
          <p:cNvSpPr/>
          <p:nvPr/>
        </p:nvSpPr>
        <p:spPr>
          <a:xfrm>
            <a:off x="8117487" y="5468774"/>
            <a:ext cx="2069797" cy="461665"/>
          </a:xfrm>
          <a:prstGeom prst="rect">
            <a:avLst/>
          </a:prstGeom>
        </p:spPr>
        <p:txBody>
          <a:bodyPr wrap="none">
            <a:spAutoFit/>
          </a:bodyPr>
          <a:lstStyle/>
          <a:p>
            <a:pPr marL="0" marR="0" lvl="0" indent="0" algn="l" defTabSz="864235"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黑体"/>
                <a:ea typeface="黑体"/>
                <a:cs typeface="+mn-cs"/>
              </a:rPr>
              <a:t>等价于小网络</a:t>
            </a:r>
            <a:endParaRPr kumimoji="0" lang="en-US" altLang="zh-CN" sz="2400" b="1" i="0" u="none" strike="noStrike" kern="1200" cap="none" spc="0" normalizeH="0" baseline="0" noProof="0" dirty="0">
              <a:ln>
                <a:noFill/>
              </a:ln>
              <a:solidFill>
                <a:srgbClr val="242C2D"/>
              </a:solidFill>
              <a:effectLst/>
              <a:uLnTx/>
              <a:uFillTx/>
              <a:latin typeface="黑体"/>
              <a:ea typeface="黑体"/>
              <a:cs typeface="+mn-cs"/>
            </a:endParaRPr>
          </a:p>
        </p:txBody>
      </p:sp>
      <p:cxnSp>
        <p:nvCxnSpPr>
          <p:cNvPr id="21" name="直接连接符 20">
            <a:extLst>
              <a:ext uri="{FF2B5EF4-FFF2-40B4-BE49-F238E27FC236}">
                <a16:creationId xmlns:a16="http://schemas.microsoft.com/office/drawing/2014/main" id="{536128A1-39A8-A861-3319-8F82F2AED566}"/>
              </a:ext>
            </a:extLst>
          </p:cNvPr>
          <p:cNvCxnSpPr/>
          <p:nvPr/>
        </p:nvCxnSpPr>
        <p:spPr>
          <a:xfrm>
            <a:off x="4886597" y="4204606"/>
            <a:ext cx="0" cy="1079500"/>
          </a:xfrm>
          <a:prstGeom prst="line">
            <a:avLst/>
          </a:prstGeom>
          <a:ln w="25400">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cxnSp>
        <p:nvCxnSpPr>
          <p:cNvPr id="22" name="直接连接符 21">
            <a:extLst>
              <a:ext uri="{FF2B5EF4-FFF2-40B4-BE49-F238E27FC236}">
                <a16:creationId xmlns:a16="http://schemas.microsoft.com/office/drawing/2014/main" id="{434CEB6C-4BB9-54C5-B1E4-43C8E884AB69}"/>
              </a:ext>
            </a:extLst>
          </p:cNvPr>
          <p:cNvCxnSpPr/>
          <p:nvPr/>
        </p:nvCxnSpPr>
        <p:spPr>
          <a:xfrm>
            <a:off x="7544707" y="4197400"/>
            <a:ext cx="0" cy="1079500"/>
          </a:xfrm>
          <a:prstGeom prst="line">
            <a:avLst/>
          </a:prstGeom>
          <a:ln w="25400">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sp>
        <p:nvSpPr>
          <p:cNvPr id="3" name="文本框 2">
            <a:extLst>
              <a:ext uri="{FF2B5EF4-FFF2-40B4-BE49-F238E27FC236}">
                <a16:creationId xmlns:a16="http://schemas.microsoft.com/office/drawing/2014/main" id="{ECF0DBFD-CFC5-DB08-B847-557D09AE409E}"/>
              </a:ext>
            </a:extLst>
          </p:cNvPr>
          <p:cNvSpPr txBox="1"/>
          <p:nvPr/>
        </p:nvSpPr>
        <p:spPr>
          <a:xfrm>
            <a:off x="0" y="870857"/>
            <a:ext cx="12192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B61616"/>
                </a:solidFill>
                <a:effectLst/>
                <a:uLnTx/>
                <a:uFillTx/>
                <a:latin typeface="Book Antiqua"/>
                <a:ea typeface="黑体"/>
                <a:cs typeface="+mn-cs"/>
              </a:rPr>
              <a:t>凝聚现象：小初始化下，同层神经元会有趋同的偏好。</a:t>
            </a:r>
          </a:p>
        </p:txBody>
      </p:sp>
      <p:sp>
        <p:nvSpPr>
          <p:cNvPr id="4" name="文本框 3">
            <a:extLst>
              <a:ext uri="{FF2B5EF4-FFF2-40B4-BE49-F238E27FC236}">
                <a16:creationId xmlns:a16="http://schemas.microsoft.com/office/drawing/2014/main" id="{484BBF19-3D46-AA72-7449-0CFD5954EAAF}"/>
              </a:ext>
            </a:extLst>
          </p:cNvPr>
          <p:cNvSpPr txBox="1"/>
          <p:nvPr/>
        </p:nvSpPr>
        <p:spPr>
          <a:xfrm>
            <a:off x="63500" y="6435334"/>
            <a:ext cx="792430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Book Antiqua"/>
                <a:ea typeface="黑体"/>
                <a:cs typeface="+mn-cs"/>
              </a:rPr>
              <a:t> </a:t>
            </a:r>
            <a:r>
              <a:rPr kumimoji="0" lang="en-US" altLang="zh-CN" sz="1400" b="0" i="0" u="none" strike="noStrike" kern="1200" cap="none" spc="0" normalizeH="0" baseline="0" noProof="0" dirty="0">
                <a:ln>
                  <a:noFill/>
                </a:ln>
                <a:solidFill>
                  <a:srgbClr val="FFFFFF"/>
                </a:solidFill>
                <a:effectLst/>
                <a:uLnTx/>
                <a:uFillTx/>
                <a:latin typeface="Book Antiqua"/>
                <a:ea typeface="黑体"/>
                <a:cs typeface="+mn-cs"/>
              </a:rPr>
              <a:t>《</a:t>
            </a:r>
            <a:r>
              <a:rPr kumimoji="0" lang="zh-CN" altLang="en-US" sz="1400" b="0" i="0" u="none" strike="noStrike" kern="1200" cap="none" spc="0" normalizeH="0" baseline="0" noProof="0" dirty="0">
                <a:ln>
                  <a:noFill/>
                </a:ln>
                <a:solidFill>
                  <a:srgbClr val="FFFFFF"/>
                </a:solidFill>
                <a:effectLst/>
                <a:uLnTx/>
                <a:uFillTx/>
                <a:latin typeface="Book Antiqua"/>
                <a:ea typeface="黑体"/>
                <a:cs typeface="+mn-cs"/>
              </a:rPr>
              <a:t>深度学习现象导论</a:t>
            </a:r>
            <a:r>
              <a:rPr kumimoji="0" lang="en-US" altLang="zh-CN" sz="1400" b="0" i="0" u="none" strike="noStrike" kern="1200" cap="none" spc="0" normalizeH="0" baseline="0" noProof="0" dirty="0">
                <a:ln>
                  <a:noFill/>
                </a:ln>
                <a:solidFill>
                  <a:srgbClr val="FFFFFF"/>
                </a:solidFill>
                <a:effectLst/>
                <a:uLnTx/>
                <a:uFillTx/>
                <a:latin typeface="Book Antiqua"/>
                <a:ea typeface="黑体"/>
                <a:cs typeface="+mn-cs"/>
              </a:rPr>
              <a:t>》 </a:t>
            </a:r>
            <a:r>
              <a:rPr kumimoji="0" lang="zh-CN" altLang="en-US" sz="1400" b="0" i="0" u="none" strike="noStrike" kern="1200" cap="none" spc="0" normalizeH="0" baseline="0" noProof="0" dirty="0">
                <a:ln>
                  <a:noFill/>
                </a:ln>
                <a:solidFill>
                  <a:srgbClr val="FFFFFF"/>
                </a:solidFill>
                <a:effectLst/>
                <a:uLnTx/>
                <a:uFillTx/>
                <a:latin typeface="Book Antiqua"/>
                <a:ea typeface="黑体"/>
                <a:cs typeface="+mn-cs"/>
              </a:rPr>
              <a:t>许志钦、张耀宇</a:t>
            </a:r>
          </a:p>
        </p:txBody>
      </p:sp>
    </p:spTree>
    <p:extLst>
      <p:ext uri="{BB962C8B-B14F-4D97-AF65-F5344CB8AC3E}">
        <p14:creationId xmlns:p14="http://schemas.microsoft.com/office/powerpoint/2010/main" val="25575945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初始化和凝聚带来的机制理解</a:t>
            </a:r>
          </a:p>
        </p:txBody>
      </p:sp>
      <p:sp>
        <p:nvSpPr>
          <p:cNvPr id="7" name="文本框 6"/>
          <p:cNvSpPr txBox="1"/>
          <p:nvPr/>
        </p:nvSpPr>
        <p:spPr>
          <a:xfrm>
            <a:off x="224968" y="1508033"/>
            <a:ext cx="1918792" cy="591059"/>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小初始化</a:t>
            </a:r>
          </a:p>
        </p:txBody>
      </p:sp>
      <p:sp>
        <p:nvSpPr>
          <p:cNvPr id="3" name="文本框 2"/>
          <p:cNvSpPr txBox="1"/>
          <p:nvPr/>
        </p:nvSpPr>
        <p:spPr>
          <a:xfrm>
            <a:off x="2582088" y="1487593"/>
            <a:ext cx="1637455" cy="591059"/>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 强凝聚</a:t>
            </a:r>
          </a:p>
        </p:txBody>
      </p:sp>
      <p:sp>
        <p:nvSpPr>
          <p:cNvPr id="6" name="文本框 5"/>
          <p:cNvSpPr txBox="1"/>
          <p:nvPr/>
        </p:nvSpPr>
        <p:spPr>
          <a:xfrm>
            <a:off x="4657871" y="1462212"/>
            <a:ext cx="2436952" cy="591059"/>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尽量低复杂度</a:t>
            </a:r>
          </a:p>
        </p:txBody>
      </p:sp>
      <p:sp>
        <p:nvSpPr>
          <p:cNvPr id="16" name="文本框 15"/>
          <p:cNvSpPr txBox="1"/>
          <p:nvPr/>
        </p:nvSpPr>
        <p:spPr>
          <a:xfrm>
            <a:off x="7516827" y="1204076"/>
            <a:ext cx="1943704" cy="1129668"/>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只学四个</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基元函数</a:t>
            </a:r>
          </a:p>
        </p:txBody>
      </p:sp>
      <p:sp>
        <p:nvSpPr>
          <p:cNvPr id="17" name="右箭头 16"/>
          <p:cNvSpPr/>
          <p:nvPr/>
        </p:nvSpPr>
        <p:spPr>
          <a:xfrm>
            <a:off x="2045304" y="1767721"/>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19" name="右箭头 18"/>
          <p:cNvSpPr/>
          <p:nvPr/>
        </p:nvSpPr>
        <p:spPr>
          <a:xfrm>
            <a:off x="4158583" y="1770925"/>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21" name="右箭头 20"/>
          <p:cNvSpPr/>
          <p:nvPr/>
        </p:nvSpPr>
        <p:spPr>
          <a:xfrm>
            <a:off x="6888480" y="1774967"/>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23" name="文本框 22"/>
          <p:cNvSpPr txBox="1"/>
          <p:nvPr/>
        </p:nvSpPr>
        <p:spPr>
          <a:xfrm>
            <a:off x="158438" y="3041733"/>
            <a:ext cx="1985322" cy="58907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稍大初始化</a:t>
            </a:r>
          </a:p>
        </p:txBody>
      </p:sp>
      <p:sp>
        <p:nvSpPr>
          <p:cNvPr id="24" name="文本框 23"/>
          <p:cNvSpPr txBox="1"/>
          <p:nvPr/>
        </p:nvSpPr>
        <p:spPr>
          <a:xfrm>
            <a:off x="2542189" y="2758096"/>
            <a:ext cx="1637455" cy="1129668"/>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轻微</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凝聚</a:t>
            </a:r>
          </a:p>
        </p:txBody>
      </p:sp>
      <p:sp>
        <p:nvSpPr>
          <p:cNvPr id="28" name="文本框 27"/>
          <p:cNvSpPr txBox="1"/>
          <p:nvPr/>
        </p:nvSpPr>
        <p:spPr>
          <a:xfrm>
            <a:off x="4674687" y="3039198"/>
            <a:ext cx="2255035" cy="591059"/>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稍大复杂度</a:t>
            </a:r>
          </a:p>
        </p:txBody>
      </p:sp>
      <p:sp>
        <p:nvSpPr>
          <p:cNvPr id="42" name="文本框 41"/>
          <p:cNvSpPr txBox="1"/>
          <p:nvPr/>
        </p:nvSpPr>
        <p:spPr>
          <a:xfrm>
            <a:off x="7444862" y="2796868"/>
            <a:ext cx="2659739" cy="1129668"/>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容易拟合</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十个函数</a:t>
            </a:r>
          </a:p>
        </p:txBody>
      </p:sp>
      <p:sp>
        <p:nvSpPr>
          <p:cNvPr id="43" name="右箭头 42"/>
          <p:cNvSpPr/>
          <p:nvPr/>
        </p:nvSpPr>
        <p:spPr>
          <a:xfrm>
            <a:off x="2045304" y="3358926"/>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44" name="右箭头 43"/>
          <p:cNvSpPr/>
          <p:nvPr/>
        </p:nvSpPr>
        <p:spPr>
          <a:xfrm>
            <a:off x="4140799" y="3352252"/>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45" name="右箭头 44"/>
          <p:cNvSpPr/>
          <p:nvPr/>
        </p:nvSpPr>
        <p:spPr>
          <a:xfrm>
            <a:off x="6888480" y="3361039"/>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53" name="右箭头 52"/>
          <p:cNvSpPr/>
          <p:nvPr/>
        </p:nvSpPr>
        <p:spPr>
          <a:xfrm>
            <a:off x="9305112" y="1767721"/>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54" name="文本框 53"/>
          <p:cNvSpPr txBox="1"/>
          <p:nvPr/>
        </p:nvSpPr>
        <p:spPr>
          <a:xfrm>
            <a:off x="10137982" y="1205008"/>
            <a:ext cx="2054017" cy="1129668"/>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推理解上</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泛化</a:t>
            </a:r>
          </a:p>
        </p:txBody>
      </p:sp>
      <p:sp>
        <p:nvSpPr>
          <p:cNvPr id="55" name="右箭头 54"/>
          <p:cNvSpPr/>
          <p:nvPr/>
        </p:nvSpPr>
        <p:spPr>
          <a:xfrm>
            <a:off x="9318168" y="3316315"/>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56" name="文本框 55"/>
          <p:cNvSpPr txBox="1"/>
          <p:nvPr/>
        </p:nvSpPr>
        <p:spPr>
          <a:xfrm>
            <a:off x="10104601" y="2796868"/>
            <a:ext cx="2054017" cy="1129668"/>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在对称解上</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泛化</a:t>
            </a:r>
          </a:p>
        </p:txBody>
      </p:sp>
      <p:sp>
        <p:nvSpPr>
          <p:cNvPr id="57" name="文本框 56"/>
          <p:cNvSpPr txBox="1"/>
          <p:nvPr/>
        </p:nvSpPr>
        <p:spPr>
          <a:xfrm>
            <a:off x="57086" y="4700317"/>
            <a:ext cx="1985322" cy="589072"/>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很大初始化</a:t>
            </a:r>
          </a:p>
        </p:txBody>
      </p:sp>
      <p:sp>
        <p:nvSpPr>
          <p:cNvPr id="58" name="文本框 57"/>
          <p:cNvSpPr txBox="1"/>
          <p:nvPr/>
        </p:nvSpPr>
        <p:spPr>
          <a:xfrm>
            <a:off x="2550201" y="4461671"/>
            <a:ext cx="1637455" cy="1129668"/>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完全不</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凝聚</a:t>
            </a:r>
          </a:p>
        </p:txBody>
      </p:sp>
      <p:sp>
        <p:nvSpPr>
          <p:cNvPr id="59" name="文本框 58"/>
          <p:cNvSpPr txBox="1"/>
          <p:nvPr/>
        </p:nvSpPr>
        <p:spPr>
          <a:xfrm>
            <a:off x="4612571" y="4685118"/>
            <a:ext cx="2350329" cy="589072"/>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非常大复杂度</a:t>
            </a:r>
          </a:p>
        </p:txBody>
      </p:sp>
      <p:sp>
        <p:nvSpPr>
          <p:cNvPr id="60" name="文本框 59"/>
          <p:cNvSpPr txBox="1"/>
          <p:nvPr/>
        </p:nvSpPr>
        <p:spPr>
          <a:xfrm>
            <a:off x="7449931" y="4461671"/>
            <a:ext cx="2659739" cy="1129668"/>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轻易拟合</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记住数据</a:t>
            </a:r>
          </a:p>
        </p:txBody>
      </p:sp>
      <p:sp>
        <p:nvSpPr>
          <p:cNvPr id="61" name="右箭头 60"/>
          <p:cNvSpPr/>
          <p:nvPr/>
        </p:nvSpPr>
        <p:spPr>
          <a:xfrm>
            <a:off x="2042408" y="5008588"/>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62" name="右箭头 61"/>
          <p:cNvSpPr/>
          <p:nvPr/>
        </p:nvSpPr>
        <p:spPr>
          <a:xfrm>
            <a:off x="4137903" y="5001914"/>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63" name="右箭头 62"/>
          <p:cNvSpPr/>
          <p:nvPr/>
        </p:nvSpPr>
        <p:spPr>
          <a:xfrm>
            <a:off x="6885584" y="5010701"/>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64" name="右箭头 63"/>
          <p:cNvSpPr/>
          <p:nvPr/>
        </p:nvSpPr>
        <p:spPr>
          <a:xfrm>
            <a:off x="9315272" y="4965977"/>
            <a:ext cx="536784" cy="9144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noFill/>
              <a:effectLst/>
              <a:uLnTx/>
              <a:uFillTx/>
              <a:latin typeface="Book Antiqua" panose="02040602050305030304"/>
              <a:ea typeface="黑体" panose="02010609060101010101" charset="-122"/>
              <a:cs typeface="+mn-cs"/>
            </a:endParaRPr>
          </a:p>
        </p:txBody>
      </p:sp>
      <p:sp>
        <p:nvSpPr>
          <p:cNvPr id="65" name="文本框 64"/>
          <p:cNvSpPr txBox="1"/>
          <p:nvPr/>
        </p:nvSpPr>
        <p:spPr>
          <a:xfrm>
            <a:off x="10137233" y="4467142"/>
            <a:ext cx="2054017" cy="1129668"/>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完全不</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rPr>
              <a:t>泛化</a:t>
            </a:r>
            <a:endParaRPr kumimoji="1" lang="en-US" altLang="zh-CN" sz="2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p:txBody>
      </p:sp>
      <p:sp>
        <p:nvSpPr>
          <p:cNvPr id="5" name="文本框 4">
            <a:extLst>
              <a:ext uri="{FF2B5EF4-FFF2-40B4-BE49-F238E27FC236}">
                <a16:creationId xmlns:a16="http://schemas.microsoft.com/office/drawing/2014/main" id="{2FE13E2D-3477-88A9-B74A-6DA11E9B628B}"/>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Tree>
    <p:custDataLst>
      <p:tags r:id="rId1"/>
    </p:custDataLst>
    <p:extLst>
      <p:ext uri="{BB962C8B-B14F-4D97-AF65-F5344CB8AC3E}">
        <p14:creationId xmlns:p14="http://schemas.microsoft.com/office/powerpoint/2010/main" val="98418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6" grpId="0"/>
      <p:bldP spid="17" grpId="0" animBg="1"/>
      <p:bldP spid="19" grpId="0" animBg="1"/>
      <p:bldP spid="21" grpId="0" animBg="1"/>
      <p:bldP spid="24" grpId="0"/>
      <p:bldP spid="28" grpId="0"/>
      <p:bldP spid="42" grpId="0"/>
      <p:bldP spid="43" grpId="0" animBg="1"/>
      <p:bldP spid="44" grpId="0" animBg="1"/>
      <p:bldP spid="45" grpId="0" animBg="1"/>
      <p:bldP spid="53" grpId="0" animBg="1"/>
      <p:bldP spid="54" grpId="0"/>
      <p:bldP spid="55" grpId="0" animBg="1"/>
      <p:bldP spid="56" grpId="0"/>
      <p:bldP spid="58" grpId="0"/>
      <p:bldP spid="59" grpId="0"/>
      <p:bldP spid="60" grpId="0"/>
      <p:bldP spid="61" grpId="0" animBg="1"/>
      <p:bldP spid="62" grpId="0" animBg="1"/>
      <p:bldP spid="63" grpId="0" animBg="1"/>
      <p:bldP spid="64" grpId="0" animBg="1"/>
      <p:bldP spid="6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242" y="2712278"/>
            <a:ext cx="11429516" cy="761979"/>
          </a:xfrm>
        </p:spPr>
        <p:txBody>
          <a:bodyPr/>
          <a:lstStyle/>
          <a:p>
            <a:pPr algn="ctr"/>
            <a:r>
              <a:rPr lang="zh-CN" altLang="en-US" dirty="0"/>
              <a:t>在更多实验中验证</a:t>
            </a:r>
            <a:r>
              <a:rPr lang="en-US" altLang="zh-CN" dirty="0"/>
              <a:t>!</a:t>
            </a:r>
            <a:endParaRPr lang="zh-CN" altLang="en-US" dirty="0"/>
          </a:p>
        </p:txBody>
      </p:sp>
      <p:sp>
        <p:nvSpPr>
          <p:cNvPr id="3" name="文本框 2">
            <a:extLst>
              <a:ext uri="{FF2B5EF4-FFF2-40B4-BE49-F238E27FC236}">
                <a16:creationId xmlns:a16="http://schemas.microsoft.com/office/drawing/2014/main" id="{1F9D7714-45EC-2151-B622-FA860C52B326}"/>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9091678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Diffusion model</a:t>
            </a:r>
            <a:endParaRPr lang="zh-CN" altLang="en-US" dirty="0"/>
          </a:p>
        </p:txBody>
      </p:sp>
      <p:pic>
        <p:nvPicPr>
          <p:cNvPr id="5" name="图片 4">
            <a:extLst>
              <a:ext uri="{FF2B5EF4-FFF2-40B4-BE49-F238E27FC236}">
                <a16:creationId xmlns:a16="http://schemas.microsoft.com/office/drawing/2014/main" id="{CEE5F413-85B3-CDE5-E0FC-729123CC3E0D}"/>
              </a:ext>
            </a:extLst>
          </p:cNvPr>
          <p:cNvPicPr>
            <a:picLocks noChangeAspect="1"/>
          </p:cNvPicPr>
          <p:nvPr/>
        </p:nvPicPr>
        <p:blipFill rotWithShape="1">
          <a:blip r:embed="rId2"/>
          <a:srcRect r="72217"/>
          <a:stretch/>
        </p:blipFill>
        <p:spPr>
          <a:xfrm>
            <a:off x="589801" y="1718053"/>
            <a:ext cx="2855793" cy="4097508"/>
          </a:xfrm>
          <a:prstGeom prst="rect">
            <a:avLst/>
          </a:prstGeom>
        </p:spPr>
      </p:pic>
      <p:sp>
        <p:nvSpPr>
          <p:cNvPr id="6" name="文本框 5">
            <a:extLst>
              <a:ext uri="{FF2B5EF4-FFF2-40B4-BE49-F238E27FC236}">
                <a16:creationId xmlns:a16="http://schemas.microsoft.com/office/drawing/2014/main" id="{3D330B0E-CDB0-DD47-50AC-DE6FBB60595B}"/>
              </a:ext>
            </a:extLst>
          </p:cNvPr>
          <p:cNvSpPr txBox="1"/>
          <p:nvPr/>
        </p:nvSpPr>
        <p:spPr>
          <a:xfrm>
            <a:off x="5828282" y="5391743"/>
            <a:ext cx="3895493"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B61616"/>
                </a:solidFill>
                <a:effectLst/>
                <a:uLnTx/>
                <a:uFillTx/>
                <a:latin typeface="Helvetica" pitchFamily="2" charset="0"/>
                <a:ea typeface="黑体"/>
                <a:cs typeface="+mn-cs"/>
              </a:rPr>
              <a:t> failure mode</a:t>
            </a:r>
          </a:p>
        </p:txBody>
      </p:sp>
      <p:pic>
        <p:nvPicPr>
          <p:cNvPr id="7" name="图片 6">
            <a:extLst>
              <a:ext uri="{FF2B5EF4-FFF2-40B4-BE49-F238E27FC236}">
                <a16:creationId xmlns:a16="http://schemas.microsoft.com/office/drawing/2014/main" id="{DEE6DD0C-D6DB-2D99-B9F1-F25CB70E411E}"/>
              </a:ext>
            </a:extLst>
          </p:cNvPr>
          <p:cNvPicPr>
            <a:picLocks noChangeAspect="1"/>
          </p:cNvPicPr>
          <p:nvPr/>
        </p:nvPicPr>
        <p:blipFill rotWithShape="1">
          <a:blip r:embed="rId3"/>
          <a:srcRect t="8256" b="46214"/>
          <a:stretch/>
        </p:blipFill>
        <p:spPr>
          <a:xfrm>
            <a:off x="4341972" y="2291681"/>
            <a:ext cx="2377395" cy="2442117"/>
          </a:xfrm>
          <a:prstGeom prst="rect">
            <a:avLst/>
          </a:prstGeom>
        </p:spPr>
      </p:pic>
      <p:pic>
        <p:nvPicPr>
          <p:cNvPr id="8" name="图片 7">
            <a:extLst>
              <a:ext uri="{FF2B5EF4-FFF2-40B4-BE49-F238E27FC236}">
                <a16:creationId xmlns:a16="http://schemas.microsoft.com/office/drawing/2014/main" id="{3B5AB741-CB59-5F57-9EFE-073A4A0F76C1}"/>
              </a:ext>
            </a:extLst>
          </p:cNvPr>
          <p:cNvPicPr>
            <a:picLocks noChangeAspect="1"/>
          </p:cNvPicPr>
          <p:nvPr/>
        </p:nvPicPr>
        <p:blipFill rotWithShape="1">
          <a:blip r:embed="rId3"/>
          <a:srcRect t="54470"/>
          <a:stretch/>
        </p:blipFill>
        <p:spPr>
          <a:xfrm>
            <a:off x="8386148" y="2291681"/>
            <a:ext cx="2377395" cy="2442117"/>
          </a:xfrm>
          <a:prstGeom prst="rect">
            <a:avLst/>
          </a:prstGeom>
        </p:spPr>
      </p:pic>
      <p:sp>
        <p:nvSpPr>
          <p:cNvPr id="9" name="文本框 8">
            <a:extLst>
              <a:ext uri="{FF2B5EF4-FFF2-40B4-BE49-F238E27FC236}">
                <a16:creationId xmlns:a16="http://schemas.microsoft.com/office/drawing/2014/main" id="{60E791AD-9780-5B8E-C2AB-4A8B4F622A07}"/>
              </a:ext>
            </a:extLst>
          </p:cNvPr>
          <p:cNvSpPr txBox="1"/>
          <p:nvPr/>
        </p:nvSpPr>
        <p:spPr>
          <a:xfrm>
            <a:off x="4917351" y="4877300"/>
            <a:ext cx="1226635"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B61616"/>
                </a:solidFill>
                <a:effectLst/>
                <a:uLnTx/>
                <a:uFillTx/>
                <a:latin typeface="Helvetica" pitchFamily="2" charset="0"/>
                <a:ea typeface="黑体"/>
                <a:cs typeface="+mn-cs"/>
              </a:rPr>
              <a:t>011</a:t>
            </a:r>
          </a:p>
        </p:txBody>
      </p:sp>
      <p:sp>
        <p:nvSpPr>
          <p:cNvPr id="10" name="文本框 9">
            <a:extLst>
              <a:ext uri="{FF2B5EF4-FFF2-40B4-BE49-F238E27FC236}">
                <a16:creationId xmlns:a16="http://schemas.microsoft.com/office/drawing/2014/main" id="{3C44F483-2FD4-B338-880F-6E3EA78FCD43}"/>
              </a:ext>
            </a:extLst>
          </p:cNvPr>
          <p:cNvSpPr txBox="1"/>
          <p:nvPr/>
        </p:nvSpPr>
        <p:spPr>
          <a:xfrm>
            <a:off x="9043639" y="4733798"/>
            <a:ext cx="1226635"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srgbClr val="B61616"/>
                </a:solidFill>
                <a:effectLst/>
                <a:uLnTx/>
                <a:uFillTx/>
                <a:latin typeface="Helvetica" pitchFamily="2" charset="0"/>
                <a:ea typeface="黑体"/>
                <a:cs typeface="+mn-cs"/>
              </a:rPr>
              <a:t>010</a:t>
            </a:r>
          </a:p>
        </p:txBody>
      </p:sp>
      <p:sp>
        <p:nvSpPr>
          <p:cNvPr id="12" name="文本框 11">
            <a:extLst>
              <a:ext uri="{FF2B5EF4-FFF2-40B4-BE49-F238E27FC236}">
                <a16:creationId xmlns:a16="http://schemas.microsoft.com/office/drawing/2014/main" id="{CC597E15-026B-C3EE-A10D-5E7C9479B55B}"/>
              </a:ext>
            </a:extLst>
          </p:cNvPr>
          <p:cNvSpPr txBox="1"/>
          <p:nvPr/>
        </p:nvSpPr>
        <p:spPr>
          <a:xfrm>
            <a:off x="8322527" y="5928927"/>
            <a:ext cx="389549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B61616"/>
                </a:solidFill>
                <a:effectLst/>
                <a:uLnTx/>
                <a:uFillTx/>
                <a:latin typeface="Helvetica" pitchFamily="2" charset="0"/>
                <a:ea typeface="黑体"/>
                <a:cs typeface="+mn-cs"/>
              </a:rPr>
              <a:t> Okawa</a:t>
            </a:r>
            <a:r>
              <a:rPr kumimoji="0" lang="zh-CN" altLang="en-US" sz="1800" b="0" i="0" u="none" strike="noStrike" kern="1200" cap="none" spc="0" normalizeH="0" baseline="0" noProof="0" dirty="0">
                <a:ln>
                  <a:noFill/>
                </a:ln>
                <a:solidFill>
                  <a:srgbClr val="B61616"/>
                </a:solidFill>
                <a:effectLst/>
                <a:uLnTx/>
                <a:uFillTx/>
                <a:latin typeface="Helvetica" pitchFamily="2" charset="0"/>
                <a:ea typeface="黑体"/>
                <a:cs typeface="+mn-cs"/>
              </a:rPr>
              <a:t> </a:t>
            </a:r>
            <a:r>
              <a:rPr kumimoji="0" lang="en-US" altLang="zh-CN" sz="1800" b="0" i="0" u="none" strike="noStrike" kern="1200" cap="none" spc="0" normalizeH="0" baseline="0" noProof="0" dirty="0">
                <a:ln>
                  <a:noFill/>
                </a:ln>
                <a:solidFill>
                  <a:srgbClr val="B61616"/>
                </a:solidFill>
                <a:effectLst/>
                <a:uLnTx/>
                <a:uFillTx/>
                <a:latin typeface="Helvetica" pitchFamily="2" charset="0"/>
                <a:ea typeface="黑体"/>
                <a:cs typeface="+mn-cs"/>
              </a:rPr>
              <a:t>2024, </a:t>
            </a:r>
            <a:r>
              <a:rPr kumimoji="0" lang="en-US" altLang="zh-CN" sz="1800" b="0" i="0" u="none" strike="noStrike" kern="1200" cap="none" spc="0" normalizeH="0" baseline="0" noProof="0" dirty="0" err="1">
                <a:ln>
                  <a:noFill/>
                </a:ln>
                <a:solidFill>
                  <a:srgbClr val="B61616"/>
                </a:solidFill>
                <a:effectLst/>
                <a:uLnTx/>
                <a:uFillTx/>
                <a:latin typeface="Helvetica" pitchFamily="2" charset="0"/>
                <a:ea typeface="黑体"/>
                <a:cs typeface="+mn-cs"/>
              </a:rPr>
              <a:t>NeurIPS</a:t>
            </a:r>
            <a:r>
              <a:rPr kumimoji="0" lang="en-US" altLang="zh-CN" sz="1800" b="0" i="0" u="none" strike="noStrike" kern="1200" cap="none" spc="0" normalizeH="0" baseline="0" noProof="0" dirty="0">
                <a:ln>
                  <a:noFill/>
                </a:ln>
                <a:solidFill>
                  <a:srgbClr val="B61616"/>
                </a:solidFill>
                <a:effectLst/>
                <a:uLnTx/>
                <a:uFillTx/>
                <a:latin typeface="Helvetica" pitchFamily="2" charset="0"/>
                <a:ea typeface="黑体"/>
                <a:cs typeface="+mn-cs"/>
              </a:rPr>
              <a:t> 2024</a:t>
            </a:r>
          </a:p>
        </p:txBody>
      </p:sp>
      <p:sp>
        <p:nvSpPr>
          <p:cNvPr id="3" name="文本框 2">
            <a:extLst>
              <a:ext uri="{FF2B5EF4-FFF2-40B4-BE49-F238E27FC236}">
                <a16:creationId xmlns:a16="http://schemas.microsoft.com/office/drawing/2014/main" id="{93896C3A-7BBB-49F0-CEDA-BF9A4FFA6CB7}"/>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p:sp>
        <p:nvSpPr>
          <p:cNvPr id="4" name="文本框 3">
            <a:extLst>
              <a:ext uri="{FF2B5EF4-FFF2-40B4-BE49-F238E27FC236}">
                <a16:creationId xmlns:a16="http://schemas.microsoft.com/office/drawing/2014/main" id="{6A6CB48A-BC28-B0D9-BC26-9FB53AC66168}"/>
              </a:ext>
            </a:extLst>
          </p:cNvPr>
          <p:cNvSpPr txBox="1"/>
          <p:nvPr/>
        </p:nvSpPr>
        <p:spPr>
          <a:xfrm>
            <a:off x="703834" y="743855"/>
            <a:ext cx="11223283" cy="1323439"/>
          </a:xfrm>
          <a:prstGeom prst="rect">
            <a:avLst/>
          </a:prstGeom>
          <a:noFill/>
        </p:spPr>
        <p:txBody>
          <a:bodyPr wrap="square" rtlCol="0">
            <a:spAutoFit/>
          </a:bodyPr>
          <a:lstStyle/>
          <a:p>
            <a:pPr algn="l"/>
            <a:r>
              <a:rPr lang="zh-CN" altLang="en-US" sz="2000" dirty="0"/>
              <a:t>（随机噪音</a:t>
            </a:r>
            <a:r>
              <a:rPr lang="en-US" altLang="zh-CN" sz="2000" dirty="0"/>
              <a:t>+</a:t>
            </a:r>
            <a:r>
              <a:rPr lang="zh-CN" altLang="en-US" sz="2000" dirty="0"/>
              <a:t>三维控制变量）</a:t>
            </a:r>
            <a:r>
              <a:rPr lang="en-US" altLang="zh-CN" sz="2000" dirty="0">
                <a:sym typeface="Wingdings" panose="05000000000000000000" pitchFamily="2" charset="2"/>
              </a:rPr>
              <a:t> </a:t>
            </a:r>
            <a:r>
              <a:rPr lang="zh-CN" altLang="en-US" sz="2000" dirty="0">
                <a:sym typeface="Wingdings" panose="05000000000000000000" pitchFamily="2" charset="2"/>
              </a:rPr>
              <a:t>扩散模型 </a:t>
            </a:r>
            <a:r>
              <a:rPr lang="en-US" altLang="zh-CN" sz="2000" dirty="0">
                <a:sym typeface="Wingdings" panose="05000000000000000000" pitchFamily="2" charset="2"/>
              </a:rPr>
              <a:t> </a:t>
            </a:r>
            <a:r>
              <a:rPr lang="zh-CN" altLang="en-US" sz="2000" dirty="0">
                <a:sym typeface="Wingdings" panose="05000000000000000000" pitchFamily="2" charset="2"/>
              </a:rPr>
              <a:t>图片</a:t>
            </a:r>
            <a:endParaRPr lang="en-US" altLang="zh-CN" sz="2000" dirty="0"/>
          </a:p>
          <a:p>
            <a:pPr algn="l"/>
            <a:r>
              <a:rPr lang="zh-CN" altLang="en-US" sz="2000" dirty="0"/>
              <a:t>扩散模型在生成图片时加入三个控制变量：第一位控制形状，第二位控制大小，第三位控制颜色</a:t>
            </a:r>
            <a:endParaRPr lang="en-US" altLang="zh-CN" sz="2000" dirty="0"/>
          </a:p>
          <a:p>
            <a:pPr algn="l"/>
            <a:r>
              <a:rPr lang="zh-CN" altLang="en-US" sz="2000" dirty="0"/>
              <a:t>训练时，只用标注黑色的四种情况进行训练，用标注灰色的部分进行训练。</a:t>
            </a:r>
            <a:endParaRPr lang="en-US" altLang="zh-CN" sz="2000" dirty="0"/>
          </a:p>
          <a:p>
            <a:pPr algn="l"/>
            <a:r>
              <a:rPr lang="zh-CN" altLang="en-US" sz="2000" dirty="0"/>
              <a:t>该工作发现，经过大量调参，并不能使模型泛化好！并称之为神经网络“失败的模式”</a:t>
            </a:r>
            <a:endParaRPr lang="en-US" altLang="zh-CN" sz="2000" dirty="0"/>
          </a:p>
        </p:txBody>
      </p:sp>
      <p:sp>
        <p:nvSpPr>
          <p:cNvPr id="11" name="文本框 10">
            <a:extLst>
              <a:ext uri="{FF2B5EF4-FFF2-40B4-BE49-F238E27FC236}">
                <a16:creationId xmlns:a16="http://schemas.microsoft.com/office/drawing/2014/main" id="{0BEF1BA5-5200-9EC6-2ED7-B1BEA27FB528}"/>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19829655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Diffusion model</a:t>
            </a:r>
            <a:endParaRPr lang="zh-CN" altLang="en-US" dirty="0"/>
          </a:p>
        </p:txBody>
      </p:sp>
      <p:pic>
        <p:nvPicPr>
          <p:cNvPr id="5" name="图片 4">
            <a:extLst>
              <a:ext uri="{FF2B5EF4-FFF2-40B4-BE49-F238E27FC236}">
                <a16:creationId xmlns:a16="http://schemas.microsoft.com/office/drawing/2014/main" id="{CEE5F413-85B3-CDE5-E0FC-729123CC3E0D}"/>
              </a:ext>
            </a:extLst>
          </p:cNvPr>
          <p:cNvPicPr>
            <a:picLocks noChangeAspect="1"/>
          </p:cNvPicPr>
          <p:nvPr/>
        </p:nvPicPr>
        <p:blipFill>
          <a:blip r:embed="rId2"/>
          <a:stretch>
            <a:fillRect/>
          </a:stretch>
        </p:blipFill>
        <p:spPr>
          <a:xfrm>
            <a:off x="131609" y="1234320"/>
            <a:ext cx="11928781" cy="4755115"/>
          </a:xfrm>
          <a:prstGeom prst="rect">
            <a:avLst/>
          </a:prstGeom>
        </p:spPr>
      </p:pic>
      <p:sp>
        <p:nvSpPr>
          <p:cNvPr id="3" name="文本框 2">
            <a:extLst>
              <a:ext uri="{FF2B5EF4-FFF2-40B4-BE49-F238E27FC236}">
                <a16:creationId xmlns:a16="http://schemas.microsoft.com/office/drawing/2014/main" id="{DE7E0C66-BC33-1C62-38BA-F6B375AB5D72}"/>
              </a:ext>
            </a:extLst>
          </p:cNvPr>
          <p:cNvSpPr txBox="1"/>
          <p:nvPr/>
        </p:nvSpPr>
        <p:spPr>
          <a:xfrm>
            <a:off x="63500" y="6435334"/>
            <a:ext cx="7924309" cy="307777"/>
          </a:xfrm>
          <a:prstGeom prst="rect">
            <a:avLst/>
          </a:prstGeom>
          <a:noFill/>
        </p:spPr>
        <p:txBody>
          <a:bodyPr wrap="square">
            <a:spAutoFit/>
          </a:bodyPr>
          <a:lstStyle/>
          <a:p>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深度学习现象导论</a:t>
            </a:r>
            <a:r>
              <a:rPr lang="en-US" altLang="zh-CN" sz="1400" dirty="0">
                <a:solidFill>
                  <a:schemeClr val="bg1"/>
                </a:solidFill>
              </a:rPr>
              <a:t>》 </a:t>
            </a:r>
            <a:r>
              <a:rPr lang="zh-CN" altLang="en-US" sz="1400" dirty="0">
                <a:solidFill>
                  <a:schemeClr val="bg1"/>
                </a:solidFill>
              </a:rPr>
              <a:t>许志钦、张耀宇</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ACE283A-F55B-88CC-D6FE-FDD1DA5F8AFB}"/>
                  </a:ext>
                </a:extLst>
              </p:cNvPr>
              <p:cNvSpPr txBox="1"/>
              <p:nvPr/>
            </p:nvSpPr>
            <p:spPr>
              <a:xfrm>
                <a:off x="416815" y="868565"/>
                <a:ext cx="11358367" cy="400110"/>
              </a:xfrm>
              <a:prstGeom prst="rect">
                <a:avLst/>
              </a:prstGeom>
              <a:noFill/>
            </p:spPr>
            <p:txBody>
              <a:bodyPr wrap="square" rtlCol="0">
                <a:spAutoFit/>
              </a:bodyPr>
              <a:lstStyle/>
              <a:p>
                <a:pPr algn="l"/>
                <a:r>
                  <a:rPr lang="zh-CN" altLang="en-US" sz="2000" dirty="0"/>
                  <a:t>在作者提供的源代码的基础上，调整初始化的</a:t>
                </a:r>
                <a14:m>
                  <m:oMath xmlns:m="http://schemas.openxmlformats.org/officeDocument/2006/math">
                    <m:r>
                      <a:rPr lang="en-US" altLang="zh-CN" sz="2000" b="0" i="1" smtClean="0">
                        <a:latin typeface="Cambria Math" panose="02040503050406030204" pitchFamily="18" charset="0"/>
                      </a:rPr>
                      <m:t>𝛾</m:t>
                    </m:r>
                  </m:oMath>
                </a14:m>
                <a:r>
                  <a:rPr lang="en-US" altLang="zh-CN" sz="2000" dirty="0"/>
                  <a:t>, </a:t>
                </a:r>
                <a:r>
                  <a:rPr lang="zh-CN" altLang="en-US" sz="2000" dirty="0"/>
                  <a:t>当</a:t>
                </a:r>
                <a14:m>
                  <m:oMath xmlns:m="http://schemas.openxmlformats.org/officeDocument/2006/math">
                    <m:r>
                      <a:rPr lang="en-US" altLang="zh-CN" sz="2000" b="0" i="1" smtClean="0">
                        <a:latin typeface="Cambria Math" panose="02040503050406030204" pitchFamily="18" charset="0"/>
                      </a:rPr>
                      <m:t>𝛾</m:t>
                    </m:r>
                  </m:oMath>
                </a14:m>
                <a:r>
                  <a:rPr lang="zh-CN" altLang="en-US" sz="2000" dirty="0"/>
                  <a:t>变大，也就是初始化尺度变小，模型就能泛化好！</a:t>
                </a:r>
              </a:p>
            </p:txBody>
          </p:sp>
        </mc:Choice>
        <mc:Fallback xmlns="">
          <p:sp>
            <p:nvSpPr>
              <p:cNvPr id="4" name="文本框 3">
                <a:extLst>
                  <a:ext uri="{FF2B5EF4-FFF2-40B4-BE49-F238E27FC236}">
                    <a16:creationId xmlns:a16="http://schemas.microsoft.com/office/drawing/2014/main" id="{4ACE283A-F55B-88CC-D6FE-FDD1DA5F8AFB}"/>
                  </a:ext>
                </a:extLst>
              </p:cNvPr>
              <p:cNvSpPr txBox="1">
                <a:spLocks noRot="1" noChangeAspect="1" noMove="1" noResize="1" noEditPoints="1" noAdjustHandles="1" noChangeArrowheads="1" noChangeShapeType="1" noTextEdit="1"/>
              </p:cNvSpPr>
              <p:nvPr/>
            </p:nvSpPr>
            <p:spPr>
              <a:xfrm>
                <a:off x="416815" y="868565"/>
                <a:ext cx="11358367" cy="400110"/>
              </a:xfrm>
              <a:prstGeom prst="rect">
                <a:avLst/>
              </a:prstGeom>
              <a:blipFill>
                <a:blip r:embed="rId3"/>
                <a:stretch>
                  <a:fillRect l="-536" t="-12121" r="-2736" b="-2878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64E0508-8017-BCCE-76E5-223530E66FA2}"/>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34209562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78DF97-1231-787E-0E8B-9CE5B6E75787}"/>
              </a:ext>
            </a:extLst>
          </p:cNvPr>
          <p:cNvSpPr>
            <a:spLocks noGrp="1"/>
          </p:cNvSpPr>
          <p:nvPr>
            <p:ph idx="1"/>
          </p:nvPr>
        </p:nvSpPr>
        <p:spPr>
          <a:xfrm>
            <a:off x="477794" y="1715211"/>
            <a:ext cx="11429516" cy="3578086"/>
          </a:xfrm>
        </p:spPr>
        <p:txBody>
          <a:bodyPr>
            <a:normAutofit/>
          </a:bodyPr>
          <a:lstStyle/>
          <a:p>
            <a:pPr algn="ctr">
              <a:lnSpc>
                <a:spcPct val="200000"/>
              </a:lnSpc>
            </a:pPr>
            <a:r>
              <a:rPr lang="zh-CN" altLang="en-US" sz="3200" dirty="0"/>
              <a:t>小初始化带来的凝聚本质上是对模型的</a:t>
            </a:r>
            <a:r>
              <a:rPr lang="zh-CN" altLang="en-US" sz="3200" dirty="0">
                <a:solidFill>
                  <a:srgbClr val="FF0000"/>
                </a:solidFill>
              </a:rPr>
              <a:t>复杂度控制</a:t>
            </a:r>
            <a:endParaRPr lang="en-US" altLang="zh-CN" sz="3200" dirty="0">
              <a:solidFill>
                <a:srgbClr val="FF0000"/>
              </a:solidFill>
            </a:endParaRPr>
          </a:p>
          <a:p>
            <a:pPr algn="ctr">
              <a:lnSpc>
                <a:spcPct val="200000"/>
              </a:lnSpc>
            </a:pPr>
            <a:r>
              <a:rPr lang="zh-CN" altLang="en-US" sz="3200" dirty="0"/>
              <a:t>参数模长的惩罚等正则化项也是复杂度控制，带来类似效果</a:t>
            </a:r>
            <a:endParaRPr lang="en-US" altLang="zh-CN" sz="3200" dirty="0"/>
          </a:p>
          <a:p>
            <a:pPr algn="ctr">
              <a:lnSpc>
                <a:spcPct val="200000"/>
              </a:lnSpc>
            </a:pPr>
            <a:r>
              <a:rPr lang="zh-CN" altLang="en-US" sz="3200" dirty="0"/>
              <a:t>通过合理设计实验，研究更多神经网络特征</a:t>
            </a:r>
          </a:p>
        </p:txBody>
      </p:sp>
      <p:sp>
        <p:nvSpPr>
          <p:cNvPr id="5" name="标题 4">
            <a:extLst>
              <a:ext uri="{FF2B5EF4-FFF2-40B4-BE49-F238E27FC236}">
                <a16:creationId xmlns:a16="http://schemas.microsoft.com/office/drawing/2014/main" id="{B13D76F8-E71C-F807-CB73-3191680A7B8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4991350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FEDC6-5B57-8AB7-02E9-A08FF26B6A0D}"/>
              </a:ext>
            </a:extLst>
          </p:cNvPr>
          <p:cNvSpPr>
            <a:spLocks noGrp="1"/>
          </p:cNvSpPr>
          <p:nvPr>
            <p:ph type="title"/>
          </p:nvPr>
        </p:nvSpPr>
        <p:spPr/>
        <p:txBody>
          <a:bodyPr/>
          <a:lstStyle/>
          <a:p>
            <a:r>
              <a:rPr lang="zh-CN" altLang="en-US"/>
              <a:t>非作业思考题</a:t>
            </a:r>
            <a:endParaRPr lang="zh-CN" altLang="en-US" dirty="0"/>
          </a:p>
        </p:txBody>
      </p:sp>
      <p:sp>
        <p:nvSpPr>
          <p:cNvPr id="3" name="内容占位符 2">
            <a:extLst>
              <a:ext uri="{FF2B5EF4-FFF2-40B4-BE49-F238E27FC236}">
                <a16:creationId xmlns:a16="http://schemas.microsoft.com/office/drawing/2014/main" id="{F753F751-1028-24C9-998F-850C66ADF318}"/>
              </a:ext>
            </a:extLst>
          </p:cNvPr>
          <p:cNvSpPr>
            <a:spLocks noGrp="1"/>
          </p:cNvSpPr>
          <p:nvPr>
            <p:ph idx="1"/>
          </p:nvPr>
        </p:nvSpPr>
        <p:spPr/>
        <p:txBody>
          <a:bodyPr/>
          <a:lstStyle/>
          <a:p>
            <a:pPr marL="342900" indent="-342900">
              <a:buFont typeface="Arial" panose="020B0604020202020204" pitchFamily="34" charset="0"/>
              <a:buChar char="•"/>
            </a:pPr>
            <a:r>
              <a:rPr lang="zh-CN" altLang="en-US" dirty="0"/>
              <a:t>大模型的缩放定律是什么？</a:t>
            </a:r>
            <a:endParaRPr lang="en-US" altLang="zh-CN" dirty="0"/>
          </a:p>
          <a:p>
            <a:pPr marL="342900" indent="-342900">
              <a:buFont typeface="Arial" panose="020B0604020202020204" pitchFamily="34" charset="0"/>
              <a:buChar char="•"/>
            </a:pPr>
            <a:r>
              <a:rPr lang="zh-CN" altLang="en-US" dirty="0"/>
              <a:t>大模型的上下文学习指什么？</a:t>
            </a:r>
            <a:endParaRPr lang="en-US" altLang="zh-CN" dirty="0"/>
          </a:p>
          <a:p>
            <a:pPr marL="342900" indent="-342900">
              <a:buFont typeface="Arial" panose="020B0604020202020204" pitchFamily="34" charset="0"/>
              <a:buChar char="•"/>
            </a:pPr>
            <a:r>
              <a:rPr lang="zh-CN" altLang="en-US" dirty="0"/>
              <a:t>大模型的推理链是什么，有什么作用？</a:t>
            </a:r>
            <a:endParaRPr lang="en-US" altLang="zh-CN" dirty="0"/>
          </a:p>
          <a:p>
            <a:pPr marL="342900" indent="-342900">
              <a:buFont typeface="Arial" panose="020B0604020202020204" pitchFamily="34" charset="0"/>
              <a:buChar char="•"/>
            </a:pPr>
            <a:r>
              <a:rPr lang="en-US" altLang="zh-CN" dirty="0"/>
              <a:t>Encoder-only</a:t>
            </a:r>
            <a:r>
              <a:rPr lang="zh-CN" altLang="en-US" dirty="0"/>
              <a:t>架构是否合适做</a:t>
            </a:r>
            <a:r>
              <a:rPr lang="en-US" altLang="zh-CN" dirty="0"/>
              <a:t>next-token prediction</a:t>
            </a:r>
            <a:r>
              <a:rPr lang="zh-CN" altLang="en-US" dirty="0"/>
              <a:t>的训练？为什么？</a:t>
            </a:r>
            <a:endParaRPr lang="en-US" altLang="zh-CN" dirty="0"/>
          </a:p>
          <a:p>
            <a:pPr marL="342900" indent="-342900">
              <a:buFont typeface="Arial" panose="020B0604020202020204" pitchFamily="34" charset="0"/>
              <a:buChar char="•"/>
            </a:pPr>
            <a:r>
              <a:rPr lang="en-US" altLang="zh-CN" dirty="0"/>
              <a:t>Decoder-only</a:t>
            </a:r>
            <a:r>
              <a:rPr lang="zh-CN" altLang="en-US" dirty="0"/>
              <a:t>和</a:t>
            </a:r>
            <a:r>
              <a:rPr lang="en-US" altLang="zh-CN" dirty="0"/>
              <a:t>Encoder-only</a:t>
            </a:r>
            <a:r>
              <a:rPr lang="zh-CN" altLang="en-US" dirty="0"/>
              <a:t>在做下游任务时，有什么差异？</a:t>
            </a:r>
            <a:endParaRPr lang="en-US" altLang="zh-CN" dirty="0"/>
          </a:p>
          <a:p>
            <a:pPr marL="342900" indent="-342900">
              <a:buFont typeface="Arial" panose="020B0604020202020204" pitchFamily="34" charset="0"/>
              <a:buChar char="•"/>
            </a:pPr>
            <a:r>
              <a:rPr lang="zh-CN" altLang="en-US" dirty="0"/>
              <a:t>微调与预训练有什么区别？</a:t>
            </a:r>
            <a:endParaRPr lang="en-US" altLang="zh-CN" dirty="0"/>
          </a:p>
          <a:p>
            <a:pPr marL="342900" indent="-342900">
              <a:buFont typeface="Arial" panose="020B0604020202020204" pitchFamily="34" charset="0"/>
              <a:buChar char="•"/>
            </a:pPr>
            <a:r>
              <a:rPr lang="zh-CN" altLang="en-US" dirty="0"/>
              <a:t>凝聚现象和模型的推理能力有什么联系？</a:t>
            </a:r>
            <a:endParaRPr lang="en-US" altLang="zh-CN" dirty="0"/>
          </a:p>
          <a:p>
            <a:pPr marL="342900" indent="-342900">
              <a:buFont typeface="Arial" panose="020B0604020202020204" pitchFamily="34" charset="0"/>
              <a:buChar char="•"/>
            </a:pPr>
            <a:endParaRPr lang="en-US" altLang="zh-CN" dirty="0"/>
          </a:p>
          <a:p>
            <a:pPr marL="342900" indent="-342900">
              <a:buFont typeface="Arial" panose="020B0604020202020204" pitchFamily="34" charset="0"/>
              <a:buChar char="•"/>
            </a:pPr>
            <a:endParaRPr lang="zh-CN" altLang="en-US" dirty="0"/>
          </a:p>
        </p:txBody>
      </p:sp>
    </p:spTree>
    <p:extLst>
      <p:ext uri="{BB962C8B-B14F-4D97-AF65-F5344CB8AC3E}">
        <p14:creationId xmlns:p14="http://schemas.microsoft.com/office/powerpoint/2010/main" val="14401070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9.2"/>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IMING" val="|6.7"/>
</p:tagLst>
</file>

<file path=ppt/tags/tag6.xml><?xml version="1.0" encoding="utf-8"?>
<p:tagLst xmlns:a="http://schemas.openxmlformats.org/drawingml/2006/main" xmlns:r="http://schemas.openxmlformats.org/officeDocument/2006/relationships" xmlns:p="http://schemas.openxmlformats.org/presentationml/2006/main">
  <p:tag name="TIMING" val="|5.8"/>
</p:tagLst>
</file>

<file path=ppt/tags/tag7.xml><?xml version="1.0" encoding="utf-8"?>
<p:tagLst xmlns:a="http://schemas.openxmlformats.org/drawingml/2006/main" xmlns:r="http://schemas.openxmlformats.org/officeDocument/2006/relationships" xmlns:p="http://schemas.openxmlformats.org/presentationml/2006/main">
  <p:tag name="TIMING" val="|2|4.6|55.3"/>
</p:tagLst>
</file>

<file path=ppt/tags/tag8.xml><?xml version="1.0" encoding="utf-8"?>
<p:tagLst xmlns:a="http://schemas.openxmlformats.org/drawingml/2006/main" xmlns:r="http://schemas.openxmlformats.org/officeDocument/2006/relationships" xmlns:p="http://schemas.openxmlformats.org/presentationml/2006/main">
  <p:tag name="TIMING" val="|1.8|3.3|6.7|5.2|6.7|1.6|4.7|7.4|3.9|2.2|5.2|3.6"/>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8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演示文稿2" id="{22092B66-1410-4472-A2A1-9273F2975C60}" vid="{CD155F2F-A644-4B22-96EF-B0E4D178AC9A}"/>
    </a:ext>
  </a:extLst>
</a:theme>
</file>

<file path=ppt/theme/theme4.xml><?xml version="1.0" encoding="utf-8"?>
<a:theme xmlns:a="http://schemas.openxmlformats.org/drawingml/2006/main" name="3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a:solidFill>
            <a:schemeClr val="tx2"/>
          </a:solidFill>
        </a:ln>
      </a:spPr>
      <a:bodyPr rtlCol="0" anchor="ctr"/>
      <a:lstStyle>
        <a:defPPr algn="ctr">
          <a:defRPr kumimoji="1" dirty="0"/>
        </a:defPPr>
      </a:lstStyle>
      <a:style>
        <a:lnRef idx="3">
          <a:schemeClr val="lt1"/>
        </a:lnRef>
        <a:fillRef idx="1">
          <a:schemeClr val="accent1"/>
        </a:fillRef>
        <a:effectRef idx="1">
          <a:schemeClr val="accent1"/>
        </a:effectRef>
        <a:fontRef idx="minor">
          <a:schemeClr val="lt1"/>
        </a:fontRef>
      </a:style>
    </a:spDef>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4218</TotalTime>
  <Words>12961</Words>
  <Application>Microsoft Office PowerPoint</Application>
  <PresentationFormat>宽屏</PresentationFormat>
  <Paragraphs>1050</Paragraphs>
  <Slides>96</Slides>
  <Notes>16</Notes>
  <HiddenSlides>0</HiddenSlides>
  <MMClips>1</MMClips>
  <ScaleCrop>false</ScaleCrop>
  <HeadingPairs>
    <vt:vector size="6" baseType="variant">
      <vt:variant>
        <vt:lpstr>已用的字体</vt:lpstr>
      </vt:variant>
      <vt:variant>
        <vt:i4>14</vt:i4>
      </vt:variant>
      <vt:variant>
        <vt:lpstr>主题</vt:lpstr>
      </vt:variant>
      <vt:variant>
        <vt:i4>4</vt:i4>
      </vt:variant>
      <vt:variant>
        <vt:lpstr>幻灯片标题</vt:lpstr>
      </vt:variant>
      <vt:variant>
        <vt:i4>96</vt:i4>
      </vt:variant>
    </vt:vector>
  </HeadingPairs>
  <TitlesOfParts>
    <vt:vector size="114" baseType="lpstr">
      <vt:lpstr>Segoe UI Web (West European)</vt:lpstr>
      <vt:lpstr>等线</vt:lpstr>
      <vt:lpstr>黑体</vt:lpstr>
      <vt:lpstr>华文楷体</vt:lpstr>
      <vt:lpstr>微软雅黑</vt:lpstr>
      <vt:lpstr>Arial</vt:lpstr>
      <vt:lpstr>Book Antiqua</vt:lpstr>
      <vt:lpstr>Calibri</vt:lpstr>
      <vt:lpstr>Cambria Math</vt:lpstr>
      <vt:lpstr>Garamond</vt:lpstr>
      <vt:lpstr>Georgia</vt:lpstr>
      <vt:lpstr>Helvetica</vt:lpstr>
      <vt:lpstr>Times New Roman</vt:lpstr>
      <vt:lpstr>Wingdings</vt:lpstr>
      <vt:lpstr>1_自定义设计方案</vt:lpstr>
      <vt:lpstr>2_自定义设计方案</vt:lpstr>
      <vt:lpstr>8_自定义设计方案</vt:lpstr>
      <vt:lpstr>3_自定义设计方案</vt:lpstr>
      <vt:lpstr>PowerPoint 演示文稿</vt:lpstr>
      <vt:lpstr>目录</vt:lpstr>
      <vt:lpstr>目录</vt:lpstr>
      <vt:lpstr>什么是大模型？</vt:lpstr>
      <vt:lpstr>PowerPoint 演示文稿</vt:lpstr>
      <vt:lpstr>大语言模型发展历史的概括</vt:lpstr>
      <vt:lpstr>大语言模型发展历史的概括</vt:lpstr>
      <vt:lpstr>任务与结构</vt:lpstr>
      <vt:lpstr>编码器与解码器的区别</vt:lpstr>
      <vt:lpstr>Word2Vec</vt:lpstr>
      <vt:lpstr>Seq2Seq model</vt:lpstr>
      <vt:lpstr>Transformer</vt:lpstr>
      <vt:lpstr>Encoder-Decoder</vt:lpstr>
      <vt:lpstr>Encoder-Only </vt:lpstr>
      <vt:lpstr>Decoder-Only</vt:lpstr>
      <vt:lpstr>Encoder only与decoder only模型对比</vt:lpstr>
      <vt:lpstr>ViT (Vision Transformer)</vt:lpstr>
      <vt:lpstr>多模态模型</vt:lpstr>
      <vt:lpstr>PowerPoint 演示文稿</vt:lpstr>
      <vt:lpstr>预训练（Pretrain）</vt:lpstr>
      <vt:lpstr>预训练很贵！</vt:lpstr>
      <vt:lpstr>微调（Fine tuning）</vt:lpstr>
      <vt:lpstr>微调与预训练的区别</vt:lpstr>
      <vt:lpstr>强化学习后训练： 增强模型推理能力</vt:lpstr>
      <vt:lpstr>强化学习后训练： 增强模型推理能力</vt:lpstr>
      <vt:lpstr>强化学习后训练：对齐 (Alignment)</vt:lpstr>
      <vt:lpstr>提示词工程（prompt engineering）</vt:lpstr>
      <vt:lpstr>知识蒸馏</vt:lpstr>
      <vt:lpstr>知识蒸馏</vt:lpstr>
      <vt:lpstr>大语言模型的相关技术</vt:lpstr>
      <vt:lpstr>MCP</vt:lpstr>
      <vt:lpstr>AI Agent</vt:lpstr>
      <vt:lpstr>RAG</vt:lpstr>
      <vt:lpstr>目录</vt:lpstr>
      <vt:lpstr>Scaling law</vt:lpstr>
      <vt:lpstr>Scaling law</vt:lpstr>
      <vt:lpstr>Scaling law</vt:lpstr>
      <vt:lpstr>Power law/Scaling law</vt:lpstr>
      <vt:lpstr>Scaling Law</vt:lpstr>
      <vt:lpstr>规模增大后，能力显著提升</vt:lpstr>
      <vt:lpstr>上下文学习 In-context learning</vt:lpstr>
      <vt:lpstr>上下文学习 In-context learning</vt:lpstr>
      <vt:lpstr>思维链 Chain of Thought</vt:lpstr>
      <vt:lpstr>大模型幻觉</vt:lpstr>
      <vt:lpstr>大模型的偏见</vt:lpstr>
      <vt:lpstr>目录</vt:lpstr>
      <vt:lpstr>大语言模型的应用</vt:lpstr>
      <vt:lpstr>大模型：解决应用题</vt:lpstr>
      <vt:lpstr>大模型：举一反三</vt:lpstr>
      <vt:lpstr>大模型生成贪吃蛇代码</vt:lpstr>
      <vt:lpstr>大模型的高考成绩 2025</vt:lpstr>
      <vt:lpstr>大模型的竞赛成绩</vt:lpstr>
      <vt:lpstr>AI应用：文生图</vt:lpstr>
      <vt:lpstr>AI应用：文生图</vt:lpstr>
      <vt:lpstr>AI绘画获奖</vt:lpstr>
      <vt:lpstr>AI绘画拍卖</vt:lpstr>
      <vt:lpstr>AI应用：文生视频</vt:lpstr>
      <vt:lpstr>AI让绘画动起来</vt:lpstr>
      <vt:lpstr>目录</vt:lpstr>
      <vt:lpstr>大模型推理的基础概念</vt:lpstr>
      <vt:lpstr>推理任务的四大类型</vt:lpstr>
      <vt:lpstr>推理能力的评估方法</vt:lpstr>
      <vt:lpstr>推理能力的评估方法</vt:lpstr>
      <vt:lpstr>推理能力的评估方法</vt:lpstr>
      <vt:lpstr>推理能力的评估方法</vt:lpstr>
      <vt:lpstr>PowerPoint 演示文稿</vt:lpstr>
      <vt:lpstr>推理与记忆的例子</vt:lpstr>
      <vt:lpstr>推理与记忆的例子</vt:lpstr>
      <vt:lpstr>推理与记忆的例子</vt:lpstr>
      <vt:lpstr>推理与记忆的例子</vt:lpstr>
      <vt:lpstr>推理与记忆的例子</vt:lpstr>
      <vt:lpstr>推理与记忆的例子</vt:lpstr>
      <vt:lpstr>一个关键的超参数：γ</vt:lpstr>
      <vt:lpstr>现在, 且把 γ 当作是一个基因!</vt:lpstr>
      <vt:lpstr>推理与记忆的例子</vt:lpstr>
      <vt:lpstr>推理与记忆的例子</vt:lpstr>
      <vt:lpstr>推理与记忆的例子</vt:lpstr>
      <vt:lpstr>推理与记忆的例子</vt:lpstr>
      <vt:lpstr>推理与记忆的例子</vt:lpstr>
      <vt:lpstr>锚函数</vt:lpstr>
      <vt:lpstr>神经网络学习锚函数</vt:lpstr>
      <vt:lpstr>锚函数的泛化性</vt:lpstr>
      <vt:lpstr>训练中不出现34和43两个函数</vt:lpstr>
      <vt:lpstr>训练中不出现34和43两个函数</vt:lpstr>
      <vt:lpstr>训练中不出现34和43两个函数</vt:lpstr>
      <vt:lpstr>训练中不出现34和43两个函数</vt:lpstr>
      <vt:lpstr>关键的超参数</vt:lpstr>
      <vt:lpstr>关键现象: 凝聚!</vt:lpstr>
      <vt:lpstr>小初始化的凝聚现象示意图</vt:lpstr>
      <vt:lpstr>初始化和凝聚带来的机制理解</vt:lpstr>
      <vt:lpstr>在更多实验中验证!</vt:lpstr>
      <vt:lpstr>Diffusion model</vt:lpstr>
      <vt:lpstr>Diffusion model</vt:lpstr>
      <vt:lpstr>PowerPoint 演示文稿</vt:lpstr>
      <vt:lpstr>非作业思考题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948</cp:revision>
  <dcterms:created xsi:type="dcterms:W3CDTF">2020-06-05T07:59:00Z</dcterms:created>
  <dcterms:modified xsi:type="dcterms:W3CDTF">2026-08-09T02:00:18Z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0FE3EF06A9C74838A2BB9773EB8F8EE0_12</vt:lpwstr>
  </property>
  <property fmtid="{D5CDD505-2E9C-101B-9397-08002B2CF9AE}" pid="3" name="KSOProductBuildVer">
    <vt:lpwstr>2052-12.1.0.19302</vt:lpwstr>
  </property>
</Properties>
</file>