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6"/>
  </p:notesMasterIdLst>
  <p:sldIdLst>
    <p:sldId id="2314" r:id="rId2"/>
    <p:sldId id="10354" r:id="rId3"/>
    <p:sldId id="10334" r:id="rId4"/>
    <p:sldId id="10333" r:id="rId5"/>
    <p:sldId id="10363" r:id="rId6"/>
    <p:sldId id="10331" r:id="rId7"/>
    <p:sldId id="10335" r:id="rId8"/>
    <p:sldId id="10336" r:id="rId9"/>
    <p:sldId id="10337" r:id="rId10"/>
    <p:sldId id="10338" r:id="rId11"/>
    <p:sldId id="10364" r:id="rId12"/>
    <p:sldId id="10339" r:id="rId13"/>
    <p:sldId id="10340" r:id="rId14"/>
    <p:sldId id="10341" r:id="rId15"/>
    <p:sldId id="10342" r:id="rId16"/>
    <p:sldId id="10358" r:id="rId17"/>
    <p:sldId id="10344" r:id="rId18"/>
    <p:sldId id="10343" r:id="rId19"/>
    <p:sldId id="10345" r:id="rId20"/>
    <p:sldId id="10355" r:id="rId21"/>
    <p:sldId id="10347" r:id="rId22"/>
    <p:sldId id="10346" r:id="rId23"/>
    <p:sldId id="10348" r:id="rId24"/>
    <p:sldId id="10349" r:id="rId25"/>
    <p:sldId id="10356" r:id="rId26"/>
    <p:sldId id="10446" r:id="rId27"/>
    <p:sldId id="10447" r:id="rId28"/>
    <p:sldId id="10351" r:id="rId29"/>
    <p:sldId id="10445" r:id="rId30"/>
    <p:sldId id="10352" r:id="rId31"/>
    <p:sldId id="10357" r:id="rId32"/>
    <p:sldId id="10353" r:id="rId33"/>
    <p:sldId id="10359" r:id="rId34"/>
    <p:sldId id="10320" r:id="rId3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耀宇" initials="张耀宇" lastIdx="1" clrIdx="0"/>
  <p:cmAuthor id="2" name="zhiqin xu" initials="zx"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B61516"/>
    <a:srgbClr val="1D41D5"/>
    <a:srgbClr val="070707"/>
    <a:srgbClr val="002B7F"/>
    <a:srgbClr val="3232FF"/>
    <a:srgbClr val="0000FF"/>
    <a:srgbClr val="FF99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86" autoAdjust="0"/>
    <p:restoredTop sz="89457" autoAdjust="0"/>
  </p:normalViewPr>
  <p:slideViewPr>
    <p:cSldViewPr snapToGrid="0">
      <p:cViewPr varScale="1">
        <p:scale>
          <a:sx n="107" d="100"/>
          <a:sy n="107" d="100"/>
        </p:scale>
        <p:origin x="6042" y="96"/>
      </p:cViewPr>
      <p:guideLst/>
    </p:cSldViewPr>
  </p:slideViewPr>
  <p:notesTextViewPr>
    <p:cViewPr>
      <p:scale>
        <a:sx n="3" d="2"/>
        <a:sy n="3" d="2"/>
      </p:scale>
      <p:origin x="0" y="0"/>
    </p:cViewPr>
  </p:notesTextViewPr>
  <p:sorterViewPr>
    <p:cViewPr>
      <p:scale>
        <a:sx n="50" d="100"/>
        <a:sy n="50" d="100"/>
      </p:scale>
      <p:origin x="0" y="-295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9CCD4-B0A0-4411-AF27-E52F275BA53D}" type="datetimeFigureOut">
              <a:rPr lang="zh-CN" altLang="en-US" smtClean="0"/>
              <a:t>2026/2/23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B6C25-FFE4-4126-ADF1-3137FE8DB2D2}"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3FB6C25-FFE4-4126-ADF1-3137FE8DB2D2}" type="slidenum">
              <a:rPr lang="zh-CN" altLang="en-US" smtClean="0"/>
              <a:t>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2026/2/23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2026/2/23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目录">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3"/>
            <a:ext cx="12192000" cy="665863"/>
          </a:xfrm>
          <a:prstGeom prst="rect">
            <a:avLst/>
          </a:prstGeom>
        </p:spPr>
      </p:pic>
      <p:sp>
        <p:nvSpPr>
          <p:cNvPr id="7" name="矩形 6"/>
          <p:cNvSpPr/>
          <p:nvPr/>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89726" y="6100774"/>
            <a:ext cx="2611396" cy="518469"/>
          </a:xfrm>
          <a:prstGeom prst="rect">
            <a:avLst/>
          </a:prstGeom>
        </p:spPr>
      </p:pic>
      <p:sp>
        <p:nvSpPr>
          <p:cNvPr id="2" name="标题 1"/>
          <p:cNvSpPr>
            <a:spLocks noGrp="1"/>
          </p:cNvSpPr>
          <p:nvPr>
            <p:ph type="title"/>
          </p:nvPr>
        </p:nvSpPr>
        <p:spPr>
          <a:xfrm>
            <a:off x="431802" y="235137"/>
            <a:ext cx="8632687" cy="337358"/>
          </a:xfrm>
          <a:prstGeom prst="rect">
            <a:avLst/>
          </a:prstGeom>
        </p:spPr>
        <p:txBody>
          <a:bodyPr anchor="ctr"/>
          <a:lstStyle>
            <a:lvl1pPr>
              <a:defRPr sz="2000">
                <a:solidFill>
                  <a:schemeClr val="accent1"/>
                </a:solidFill>
                <a:effectLst>
                  <a:glow rad="25400">
                    <a:srgbClr val="BFE2F3"/>
                  </a:glow>
                </a:effectLst>
              </a:defRPr>
            </a:lvl1pPr>
          </a:lstStyle>
          <a:p>
            <a:r>
              <a:rPr lang="zh-CN" altLang="en-US"/>
              <a:t>单击此处编辑母版标题样式</a:t>
            </a:r>
            <a:endParaRPr lang="zh-CN" altLang="en-US" dirty="0"/>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12192000" cy="665863"/>
          </a:xfrm>
          <a:prstGeom prst="rect">
            <a:avLst/>
          </a:prstGeom>
        </p:spPr>
      </p:pic>
      <p:sp>
        <p:nvSpPr>
          <p:cNvPr id="10" name="矩形 9"/>
          <p:cNvSpPr/>
          <p:nvPr userDrawn="1"/>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11" name="图片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94519" y="6100774"/>
            <a:ext cx="2143761" cy="518469"/>
          </a:xfrm>
          <a:prstGeom prst="rect">
            <a:avLst/>
          </a:prstGeom>
        </p:spPr>
      </p:pic>
      <p:pic>
        <p:nvPicPr>
          <p:cNvPr id="12" name="图片 1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spTree>
  </p:cSld>
  <p:clrMapOvr>
    <a:masterClrMapping/>
  </p:clrMapOvr>
  <p:transition>
    <p:fade/>
  </p:transition>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9"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jpeg"/><Relationship Id="rId4" Type="http://schemas.openxmlformats.org/officeDocument/2006/relationships/image" Target="../media/image7.jpe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5.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2.png"/><Relationship Id="rId2" Type="http://schemas.openxmlformats.org/officeDocument/2006/relationships/image" Target="../media/image26.png"/><Relationship Id="rId1" Type="http://schemas.openxmlformats.org/officeDocument/2006/relationships/slideLayout" Target="../slideLayouts/slideLayout6.xml"/><Relationship Id="rId6" Type="http://schemas.openxmlformats.org/officeDocument/2006/relationships/image" Target="../media/image280.png"/><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6.png"/><Relationship Id="rId1" Type="http://schemas.openxmlformats.org/officeDocument/2006/relationships/slideLayout" Target="../slideLayouts/slideLayout6.xml"/><Relationship Id="rId6" Type="http://schemas.openxmlformats.org/officeDocument/2006/relationships/image" Target="../media/image280.png"/><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image" Target="../media/image29.png"/><Relationship Id="rId1" Type="http://schemas.openxmlformats.org/officeDocument/2006/relationships/slideLayout" Target="../slideLayouts/slideLayout6.xml"/><Relationship Id="rId6" Type="http://schemas.openxmlformats.org/officeDocument/2006/relationships/image" Target="../media/image36.png"/><Relationship Id="rId5" Type="http://schemas.openxmlformats.org/officeDocument/2006/relationships/image" Target="../media/image330.png"/><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9.png"/><Relationship Id="rId1" Type="http://schemas.openxmlformats.org/officeDocument/2006/relationships/slideLayout" Target="../slideLayouts/slideLayout6.xml"/><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13" Type="http://schemas.openxmlformats.org/officeDocument/2006/relationships/tags" Target="../tags/tag13.xml"/><Relationship Id="rId18" Type="http://schemas.openxmlformats.org/officeDocument/2006/relationships/tags" Target="../tags/tag18.xml"/><Relationship Id="rId26" Type="http://schemas.openxmlformats.org/officeDocument/2006/relationships/tags" Target="../tags/tag26.xml"/><Relationship Id="rId3" Type="http://schemas.openxmlformats.org/officeDocument/2006/relationships/tags" Target="../tags/tag3.xml"/><Relationship Id="rId21" Type="http://schemas.openxmlformats.org/officeDocument/2006/relationships/tags" Target="../tags/tag21.xml"/><Relationship Id="rId34" Type="http://schemas.openxmlformats.org/officeDocument/2006/relationships/image" Target="../media/image35.png"/><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slideLayout" Target="../slideLayouts/slideLayout6.xml"/><Relationship Id="rId2" Type="http://schemas.openxmlformats.org/officeDocument/2006/relationships/tags" Target="../tags/tag2.xml"/><Relationship Id="rId16" Type="http://schemas.openxmlformats.org/officeDocument/2006/relationships/tags" Target="../tags/tag16.xml"/><Relationship Id="rId20" Type="http://schemas.openxmlformats.org/officeDocument/2006/relationships/tags" Target="../tags/tag20.xml"/><Relationship Id="rId29" Type="http://schemas.openxmlformats.org/officeDocument/2006/relationships/tags" Target="../tags/tag29.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24" Type="http://schemas.openxmlformats.org/officeDocument/2006/relationships/tags" Target="../tags/tag24.xml"/><Relationship Id="rId32" Type="http://schemas.openxmlformats.org/officeDocument/2006/relationships/tags" Target="../tags/tag32.xml"/><Relationship Id="rId5" Type="http://schemas.openxmlformats.org/officeDocument/2006/relationships/tags" Target="../tags/tag5.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image" Target="../media/image41.png"/><Relationship Id="rId10" Type="http://schemas.openxmlformats.org/officeDocument/2006/relationships/tags" Target="../tags/tag10.xml"/><Relationship Id="rId19" Type="http://schemas.openxmlformats.org/officeDocument/2006/relationships/tags" Target="../tags/tag19.xml"/><Relationship Id="rId31" Type="http://schemas.openxmlformats.org/officeDocument/2006/relationships/tags" Target="../tags/tag31.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image" Target="../media/image40.png"/><Relationship Id="rId8"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5.png"/><Relationship Id="rId1" Type="http://schemas.openxmlformats.org/officeDocument/2006/relationships/slideLayout" Target="../slideLayouts/slideLayout6.xml"/><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4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7.png"/><Relationship Id="rId1" Type="http://schemas.openxmlformats.org/officeDocument/2006/relationships/slideLayout" Target="../slideLayouts/slideLayout6.xml"/><Relationship Id="rId5" Type="http://schemas.openxmlformats.org/officeDocument/2006/relationships/image" Target="../media/image52.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8.png"/><Relationship Id="rId1" Type="http://schemas.openxmlformats.org/officeDocument/2006/relationships/slideLayout" Target="../slideLayouts/slideLayout6.xml"/><Relationship Id="rId4" Type="http://schemas.openxmlformats.org/officeDocument/2006/relationships/hyperlink" Target="https://comerciolimited.com.ng/?c=276974516"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6.xml"/><Relationship Id="rId6" Type="http://schemas.openxmlformats.org/officeDocument/2006/relationships/image" Target="../media/image53.png"/><Relationship Id="rId5" Type="http://schemas.openxmlformats.org/officeDocument/2006/relationships/image" Target="../media/image59.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26" Type="http://schemas.openxmlformats.org/officeDocument/2006/relationships/tags" Target="../tags/tag58.xml"/><Relationship Id="rId21" Type="http://schemas.openxmlformats.org/officeDocument/2006/relationships/tags" Target="../tags/tag53.xml"/><Relationship Id="rId42" Type="http://schemas.openxmlformats.org/officeDocument/2006/relationships/tags" Target="../tags/tag74.xml"/><Relationship Id="rId47" Type="http://schemas.openxmlformats.org/officeDocument/2006/relationships/tags" Target="../tags/tag79.xml"/><Relationship Id="rId63" Type="http://schemas.openxmlformats.org/officeDocument/2006/relationships/tags" Target="../tags/tag95.xml"/><Relationship Id="rId68" Type="http://schemas.openxmlformats.org/officeDocument/2006/relationships/tags" Target="../tags/tag100.xml"/><Relationship Id="rId84" Type="http://schemas.openxmlformats.org/officeDocument/2006/relationships/tags" Target="../tags/tag116.xml"/><Relationship Id="rId89" Type="http://schemas.openxmlformats.org/officeDocument/2006/relationships/tags" Target="../tags/tag121.xml"/><Relationship Id="rId16" Type="http://schemas.openxmlformats.org/officeDocument/2006/relationships/tags" Target="../tags/tag48.xml"/><Relationship Id="rId11" Type="http://schemas.openxmlformats.org/officeDocument/2006/relationships/tags" Target="../tags/tag43.xml"/><Relationship Id="rId32" Type="http://schemas.openxmlformats.org/officeDocument/2006/relationships/tags" Target="../tags/tag64.xml"/><Relationship Id="rId37" Type="http://schemas.openxmlformats.org/officeDocument/2006/relationships/tags" Target="../tags/tag69.xml"/><Relationship Id="rId53" Type="http://schemas.openxmlformats.org/officeDocument/2006/relationships/tags" Target="../tags/tag85.xml"/><Relationship Id="rId58" Type="http://schemas.openxmlformats.org/officeDocument/2006/relationships/tags" Target="../tags/tag90.xml"/><Relationship Id="rId74" Type="http://schemas.openxmlformats.org/officeDocument/2006/relationships/tags" Target="../tags/tag106.xml"/><Relationship Id="rId79" Type="http://schemas.openxmlformats.org/officeDocument/2006/relationships/tags" Target="../tags/tag111.xml"/><Relationship Id="rId5" Type="http://schemas.openxmlformats.org/officeDocument/2006/relationships/tags" Target="../tags/tag37.xml"/><Relationship Id="rId90" Type="http://schemas.openxmlformats.org/officeDocument/2006/relationships/tags" Target="../tags/tag122.xml"/><Relationship Id="rId22" Type="http://schemas.openxmlformats.org/officeDocument/2006/relationships/tags" Target="../tags/tag54.xml"/><Relationship Id="rId27" Type="http://schemas.openxmlformats.org/officeDocument/2006/relationships/tags" Target="../tags/tag59.xml"/><Relationship Id="rId43" Type="http://schemas.openxmlformats.org/officeDocument/2006/relationships/tags" Target="../tags/tag75.xml"/><Relationship Id="rId48" Type="http://schemas.openxmlformats.org/officeDocument/2006/relationships/tags" Target="../tags/tag80.xml"/><Relationship Id="rId64" Type="http://schemas.openxmlformats.org/officeDocument/2006/relationships/tags" Target="../tags/tag96.xml"/><Relationship Id="rId69" Type="http://schemas.openxmlformats.org/officeDocument/2006/relationships/tags" Target="../tags/tag101.xml"/><Relationship Id="rId8" Type="http://schemas.openxmlformats.org/officeDocument/2006/relationships/tags" Target="../tags/tag40.xml"/><Relationship Id="rId51" Type="http://schemas.openxmlformats.org/officeDocument/2006/relationships/tags" Target="../tags/tag83.xml"/><Relationship Id="rId72" Type="http://schemas.openxmlformats.org/officeDocument/2006/relationships/tags" Target="../tags/tag104.xml"/><Relationship Id="rId80" Type="http://schemas.openxmlformats.org/officeDocument/2006/relationships/tags" Target="../tags/tag112.xml"/><Relationship Id="rId85" Type="http://schemas.openxmlformats.org/officeDocument/2006/relationships/tags" Target="../tags/tag117.xml"/><Relationship Id="rId93" Type="http://schemas.openxmlformats.org/officeDocument/2006/relationships/image" Target="../media/image62.png"/><Relationship Id="rId3" Type="http://schemas.openxmlformats.org/officeDocument/2006/relationships/tags" Target="../tags/tag35.xml"/><Relationship Id="rId12" Type="http://schemas.openxmlformats.org/officeDocument/2006/relationships/tags" Target="../tags/tag44.xml"/><Relationship Id="rId17" Type="http://schemas.openxmlformats.org/officeDocument/2006/relationships/tags" Target="../tags/tag49.xml"/><Relationship Id="rId25" Type="http://schemas.openxmlformats.org/officeDocument/2006/relationships/tags" Target="../tags/tag57.xml"/><Relationship Id="rId33" Type="http://schemas.openxmlformats.org/officeDocument/2006/relationships/tags" Target="../tags/tag65.xml"/><Relationship Id="rId38" Type="http://schemas.openxmlformats.org/officeDocument/2006/relationships/tags" Target="../tags/tag70.xml"/><Relationship Id="rId46" Type="http://schemas.openxmlformats.org/officeDocument/2006/relationships/tags" Target="../tags/tag78.xml"/><Relationship Id="rId59" Type="http://schemas.openxmlformats.org/officeDocument/2006/relationships/tags" Target="../tags/tag91.xml"/><Relationship Id="rId67" Type="http://schemas.openxmlformats.org/officeDocument/2006/relationships/tags" Target="../tags/tag99.xml"/><Relationship Id="rId20" Type="http://schemas.openxmlformats.org/officeDocument/2006/relationships/tags" Target="../tags/tag52.xml"/><Relationship Id="rId41" Type="http://schemas.openxmlformats.org/officeDocument/2006/relationships/tags" Target="../tags/tag73.xml"/><Relationship Id="rId54" Type="http://schemas.openxmlformats.org/officeDocument/2006/relationships/tags" Target="../tags/tag86.xml"/><Relationship Id="rId62" Type="http://schemas.openxmlformats.org/officeDocument/2006/relationships/tags" Target="../tags/tag94.xml"/><Relationship Id="rId70" Type="http://schemas.openxmlformats.org/officeDocument/2006/relationships/tags" Target="../tags/tag102.xml"/><Relationship Id="rId75" Type="http://schemas.openxmlformats.org/officeDocument/2006/relationships/tags" Target="../tags/tag107.xml"/><Relationship Id="rId83" Type="http://schemas.openxmlformats.org/officeDocument/2006/relationships/tags" Target="../tags/tag115.xml"/><Relationship Id="rId88" Type="http://schemas.openxmlformats.org/officeDocument/2006/relationships/tags" Target="../tags/tag120.xml"/><Relationship Id="rId91" Type="http://schemas.openxmlformats.org/officeDocument/2006/relationships/slideLayout" Target="../slideLayouts/slideLayout6.xml"/><Relationship Id="rId1" Type="http://schemas.openxmlformats.org/officeDocument/2006/relationships/tags" Target="../tags/tag33.xml"/><Relationship Id="rId6" Type="http://schemas.openxmlformats.org/officeDocument/2006/relationships/tags" Target="../tags/tag38.xml"/><Relationship Id="rId15" Type="http://schemas.openxmlformats.org/officeDocument/2006/relationships/tags" Target="../tags/tag47.xml"/><Relationship Id="rId23" Type="http://schemas.openxmlformats.org/officeDocument/2006/relationships/tags" Target="../tags/tag55.xml"/><Relationship Id="rId28" Type="http://schemas.openxmlformats.org/officeDocument/2006/relationships/tags" Target="../tags/tag60.xml"/><Relationship Id="rId36" Type="http://schemas.openxmlformats.org/officeDocument/2006/relationships/tags" Target="../tags/tag68.xml"/><Relationship Id="rId49" Type="http://schemas.openxmlformats.org/officeDocument/2006/relationships/tags" Target="../tags/tag81.xml"/><Relationship Id="rId57" Type="http://schemas.openxmlformats.org/officeDocument/2006/relationships/tags" Target="../tags/tag89.xml"/><Relationship Id="rId10" Type="http://schemas.openxmlformats.org/officeDocument/2006/relationships/tags" Target="../tags/tag42.xml"/><Relationship Id="rId31" Type="http://schemas.openxmlformats.org/officeDocument/2006/relationships/tags" Target="../tags/tag63.xml"/><Relationship Id="rId44" Type="http://schemas.openxmlformats.org/officeDocument/2006/relationships/tags" Target="../tags/tag76.xml"/><Relationship Id="rId52" Type="http://schemas.openxmlformats.org/officeDocument/2006/relationships/tags" Target="../tags/tag84.xml"/><Relationship Id="rId60" Type="http://schemas.openxmlformats.org/officeDocument/2006/relationships/tags" Target="../tags/tag92.xml"/><Relationship Id="rId65" Type="http://schemas.openxmlformats.org/officeDocument/2006/relationships/tags" Target="../tags/tag97.xml"/><Relationship Id="rId73" Type="http://schemas.openxmlformats.org/officeDocument/2006/relationships/tags" Target="../tags/tag105.xml"/><Relationship Id="rId78" Type="http://schemas.openxmlformats.org/officeDocument/2006/relationships/tags" Target="../tags/tag110.xml"/><Relationship Id="rId81" Type="http://schemas.openxmlformats.org/officeDocument/2006/relationships/tags" Target="../tags/tag113.xml"/><Relationship Id="rId86" Type="http://schemas.openxmlformats.org/officeDocument/2006/relationships/tags" Target="../tags/tag118.xml"/><Relationship Id="rId94" Type="http://schemas.openxmlformats.org/officeDocument/2006/relationships/image" Target="../media/image54.png"/><Relationship Id="rId4" Type="http://schemas.openxmlformats.org/officeDocument/2006/relationships/tags" Target="../tags/tag36.xml"/><Relationship Id="rId9" Type="http://schemas.openxmlformats.org/officeDocument/2006/relationships/tags" Target="../tags/tag41.xml"/><Relationship Id="rId13" Type="http://schemas.openxmlformats.org/officeDocument/2006/relationships/tags" Target="../tags/tag45.xml"/><Relationship Id="rId18" Type="http://schemas.openxmlformats.org/officeDocument/2006/relationships/tags" Target="../tags/tag50.xml"/><Relationship Id="rId39" Type="http://schemas.openxmlformats.org/officeDocument/2006/relationships/tags" Target="../tags/tag71.xml"/><Relationship Id="rId34" Type="http://schemas.openxmlformats.org/officeDocument/2006/relationships/tags" Target="../tags/tag66.xml"/><Relationship Id="rId50" Type="http://schemas.openxmlformats.org/officeDocument/2006/relationships/tags" Target="../tags/tag82.xml"/><Relationship Id="rId55" Type="http://schemas.openxmlformats.org/officeDocument/2006/relationships/tags" Target="../tags/tag87.xml"/><Relationship Id="rId76" Type="http://schemas.openxmlformats.org/officeDocument/2006/relationships/tags" Target="../tags/tag108.xml"/><Relationship Id="rId7" Type="http://schemas.openxmlformats.org/officeDocument/2006/relationships/tags" Target="../tags/tag39.xml"/><Relationship Id="rId71" Type="http://schemas.openxmlformats.org/officeDocument/2006/relationships/tags" Target="../tags/tag103.xml"/><Relationship Id="rId92" Type="http://schemas.openxmlformats.org/officeDocument/2006/relationships/image" Target="../media/image61.png"/><Relationship Id="rId2" Type="http://schemas.openxmlformats.org/officeDocument/2006/relationships/tags" Target="../tags/tag34.xml"/><Relationship Id="rId29" Type="http://schemas.openxmlformats.org/officeDocument/2006/relationships/tags" Target="../tags/tag61.xml"/><Relationship Id="rId24" Type="http://schemas.openxmlformats.org/officeDocument/2006/relationships/tags" Target="../tags/tag56.xml"/><Relationship Id="rId40" Type="http://schemas.openxmlformats.org/officeDocument/2006/relationships/tags" Target="../tags/tag72.xml"/><Relationship Id="rId45" Type="http://schemas.openxmlformats.org/officeDocument/2006/relationships/tags" Target="../tags/tag77.xml"/><Relationship Id="rId66" Type="http://schemas.openxmlformats.org/officeDocument/2006/relationships/tags" Target="../tags/tag98.xml"/><Relationship Id="rId87" Type="http://schemas.openxmlformats.org/officeDocument/2006/relationships/tags" Target="../tags/tag119.xml"/><Relationship Id="rId61" Type="http://schemas.openxmlformats.org/officeDocument/2006/relationships/tags" Target="../tags/tag93.xml"/><Relationship Id="rId82" Type="http://schemas.openxmlformats.org/officeDocument/2006/relationships/tags" Target="../tags/tag114.xml"/><Relationship Id="rId19" Type="http://schemas.openxmlformats.org/officeDocument/2006/relationships/tags" Target="../tags/tag51.xml"/><Relationship Id="rId14" Type="http://schemas.openxmlformats.org/officeDocument/2006/relationships/tags" Target="../tags/tag46.xml"/><Relationship Id="rId30" Type="http://schemas.openxmlformats.org/officeDocument/2006/relationships/tags" Target="../tags/tag62.xml"/><Relationship Id="rId35" Type="http://schemas.openxmlformats.org/officeDocument/2006/relationships/tags" Target="../tags/tag67.xml"/><Relationship Id="rId56" Type="http://schemas.openxmlformats.org/officeDocument/2006/relationships/tags" Target="../tags/tag88.xml"/><Relationship Id="rId77" Type="http://schemas.openxmlformats.org/officeDocument/2006/relationships/tags" Target="../tags/tag109.xml"/></Relationships>
</file>

<file path=ppt/slides/_rels/slide2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8.png"/><Relationship Id="rId1" Type="http://schemas.openxmlformats.org/officeDocument/2006/relationships/slideLayout" Target="../slideLayouts/slideLayout6.xml"/><Relationship Id="rId5" Type="http://schemas.openxmlformats.org/officeDocument/2006/relationships/image" Target="../media/image56.png"/><Relationship Id="rId4" Type="http://schemas.openxmlformats.org/officeDocument/2006/relationships/image" Target="../media/image6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50.png"/><Relationship Id="rId7" Type="http://schemas.openxmlformats.org/officeDocument/2006/relationships/image" Target="../media/image65.png"/><Relationship Id="rId2" Type="http://schemas.openxmlformats.org/officeDocument/2006/relationships/image" Target="../media/image57.png"/><Relationship Id="rId1" Type="http://schemas.openxmlformats.org/officeDocument/2006/relationships/slideLayout" Target="../slideLayouts/slideLayout6.xml"/><Relationship Id="rId6" Type="http://schemas.openxmlformats.org/officeDocument/2006/relationships/image" Target="../media/image64.png"/><Relationship Id="rId5" Type="http://schemas.openxmlformats.org/officeDocument/2006/relationships/image" Target="../media/image71.png"/><Relationship Id="rId4" Type="http://schemas.openxmlformats.org/officeDocument/2006/relationships/image" Target="../media/image60.png"/><Relationship Id="rId9" Type="http://schemas.openxmlformats.org/officeDocument/2006/relationships/image" Target="../media/image67.png"/></Relationships>
</file>

<file path=ppt/slides/_rels/slide27.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4.png"/><Relationship Id="rId2"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25.png"/><Relationship Id="rId1" Type="http://schemas.openxmlformats.org/officeDocument/2006/relationships/slideLayout" Target="../slideLayouts/slideLayout6.xml"/><Relationship Id="rId5" Type="http://schemas.openxmlformats.org/officeDocument/2006/relationships/image" Target="../media/image77.png"/><Relationship Id="rId4" Type="http://schemas.openxmlformats.org/officeDocument/2006/relationships/image" Target="../media/image76.jpeg"/></Relationships>
</file>

<file path=ppt/slides/_rels/slide29.xml.rels><?xml version="1.0" encoding="UTF-8" standalone="yes"?>
<Relationships xmlns="http://schemas.openxmlformats.org/package/2006/relationships"><Relationship Id="rId3" Type="http://schemas.openxmlformats.org/officeDocument/2006/relationships/image" Target="../media/image700.png"/><Relationship Id="rId2" Type="http://schemas.openxmlformats.org/officeDocument/2006/relationships/slideLayout" Target="../slideLayouts/slideLayout6.xml"/><Relationship Id="rId1" Type="http://schemas.openxmlformats.org/officeDocument/2006/relationships/tags" Target="../tags/tag123.xml"/></Relationships>
</file>

<file path=ppt/slides/_rels/slide30.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25.png"/><Relationship Id="rId2" Type="http://schemas.openxmlformats.org/officeDocument/2006/relationships/image" Target="../media/image78.png"/><Relationship Id="rId1" Type="http://schemas.openxmlformats.org/officeDocument/2006/relationships/slideLayout" Target="../slideLayouts/slideLayout6.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750.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591" y="3694682"/>
            <a:ext cx="12192000" cy="2769989"/>
          </a:xfrm>
          <a:prstGeom prst="rect">
            <a:avLst/>
          </a:prstGeom>
          <a:noFill/>
        </p:spPr>
        <p:txBody>
          <a:bodyPr wrap="square" rtlCol="0" anchor="ctr">
            <a:spAutoFit/>
          </a:bodyPr>
          <a:lstStyle/>
          <a:p>
            <a:pPr indent="0" algn="ctr" defTabSz="864235" fontAlgn="auto">
              <a:lnSpc>
                <a:spcPct val="100000"/>
              </a:lnSpc>
              <a:spcAft>
                <a:spcPts val="2400"/>
              </a:spcAft>
              <a:defRPr/>
            </a:pPr>
            <a:r>
              <a:rPr lang="zh-CN" altLang="en-US" sz="5400" dirty="0">
                <a:solidFill>
                  <a:schemeClr val="bg1"/>
                </a:solidFill>
                <a:latin typeface="微软雅黑" panose="020B0503020204020204" pitchFamily="34" charset="-122"/>
                <a:ea typeface="微软雅黑" panose="020B0503020204020204" pitchFamily="34" charset="-122"/>
              </a:rPr>
              <a:t>高维数据的性质与维数灾难</a:t>
            </a:r>
            <a:endParaRPr kumimoji="0" lang="zh-CN" altLang="en-US" sz="48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endParaRPr>
          </a:p>
          <a:p>
            <a:pPr indent="0" algn="ctr" defTabSz="864235" fontAlgn="auto">
              <a:lnSpc>
                <a:spcPct val="100000"/>
              </a:lnSpc>
              <a:spcAft>
                <a:spcPts val="2400"/>
              </a:spcAft>
              <a:defRPr/>
            </a:pPr>
            <a:r>
              <a:rPr lang="zh-CN" altLang="en-US" sz="2000" dirty="0">
                <a:solidFill>
                  <a:schemeClr val="bg1"/>
                </a:solidFill>
                <a:latin typeface="微软雅黑" panose="020B0503020204020204" pitchFamily="34" charset="-122"/>
                <a:ea typeface="微软雅黑" panose="020B0503020204020204" pitchFamily="34" charset="-122"/>
              </a:rPr>
              <a:t>上海交通大学</a:t>
            </a:r>
            <a:endParaRPr lang="en-US" altLang="zh-CN" sz="2000" dirty="0">
              <a:solidFill>
                <a:schemeClr val="bg1"/>
              </a:solidFill>
              <a:latin typeface="微软雅黑" panose="020B0503020204020204" pitchFamily="34" charset="-122"/>
              <a:ea typeface="微软雅黑" panose="020B0503020204020204" pitchFamily="34" charset="-122"/>
            </a:endParaRPr>
          </a:p>
          <a:p>
            <a:pPr indent="0" algn="ctr" defTabSz="864235" fontAlgn="auto">
              <a:lnSpc>
                <a:spcPct val="100000"/>
              </a:lnSpc>
              <a:spcAft>
                <a:spcPts val="2400"/>
              </a:spcAft>
              <a:defRPr/>
            </a:pPr>
            <a:r>
              <a:rPr lang="en-US" altLang="zh-CN" sz="2000" dirty="0">
                <a:solidFill>
                  <a:schemeClr val="bg1"/>
                </a:solidFill>
                <a:latin typeface="微软雅黑" panose="020B0503020204020204" pitchFamily="34" charset="-122"/>
                <a:ea typeface="微软雅黑" panose="020B0503020204020204" pitchFamily="34" charset="-122"/>
              </a:rPr>
              <a:t>SJTU AI</a:t>
            </a:r>
            <a:r>
              <a:rPr lang="zh-CN" altLang="en-US" sz="2000" dirty="0">
                <a:solidFill>
                  <a:schemeClr val="bg1"/>
                </a:solidFill>
                <a:latin typeface="微软雅黑" panose="020B0503020204020204" pitchFamily="34" charset="-122"/>
                <a:ea typeface="微软雅黑" panose="020B0503020204020204" pitchFamily="34" charset="-122"/>
              </a:rPr>
              <a:t>大课</a:t>
            </a:r>
          </a:p>
          <a:p>
            <a:pPr marR="0" lvl="0" indent="0" algn="ctr" defTabSz="864235" rtl="0" fontAlgn="auto">
              <a:lnSpc>
                <a:spcPct val="100000"/>
              </a:lnSpc>
              <a:spcBef>
                <a:spcPts val="0"/>
              </a:spcBef>
              <a:spcAft>
                <a:spcPts val="0"/>
              </a:spcAft>
              <a:buClrTx/>
              <a:buSzTx/>
              <a:buFontTx/>
              <a:buNone/>
              <a:defRPr/>
            </a:pPr>
            <a:fld id="{E102F756-3B96-CC46-A2D4-96CC8736307C}" type="datetime3">
              <a:rPr lang="zh-CN" altLang="en-US" sz="2000" smtClean="0">
                <a:solidFill>
                  <a:schemeClr val="bg1"/>
                </a:solidFill>
                <a:latin typeface="微软雅黑" panose="020B0503020204020204" pitchFamily="34" charset="-122"/>
                <a:ea typeface="微软雅黑" panose="020B0503020204020204" pitchFamily="34" charset="-122"/>
              </a:rPr>
              <a:pPr marR="0" lvl="0" indent="0" algn="ctr" defTabSz="864235" rtl="0" fontAlgn="auto">
                <a:lnSpc>
                  <a:spcPct val="100000"/>
                </a:lnSpc>
                <a:spcBef>
                  <a:spcPts val="0"/>
                </a:spcBef>
                <a:spcAft>
                  <a:spcPts val="0"/>
                </a:spcAft>
                <a:buClrTx/>
                <a:buSzTx/>
                <a:buFontTx/>
                <a:buNone/>
                <a:defRPr/>
              </a:pPr>
              <a:t>2026年2月23日星期一</a:t>
            </a:fld>
            <a:endParaRPr lang="zh-CN" altLang="en-US" sz="2000"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B5717-CE55-6CB0-664E-5AFD66CD616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5047FC-9D99-12F9-07A3-1C17B95FC6A8}"/>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59FE3C73-61A8-2693-3468-F320DBE96ADE}"/>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51D382BF-1385-C859-6151-31817A9F99C4}"/>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E9BB8358-CAF0-9647-865B-9028CF4D9677}"/>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F874E5C7-3E8D-BA85-B740-61B45DF9917B}"/>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四、内容小结</a:t>
            </a:r>
          </a:p>
        </p:txBody>
      </p:sp>
      <p:sp>
        <p:nvSpPr>
          <p:cNvPr id="7" name="文本框 1">
            <a:extLst>
              <a:ext uri="{FF2B5EF4-FFF2-40B4-BE49-F238E27FC236}">
                <a16:creationId xmlns:a16="http://schemas.microsoft.com/office/drawing/2014/main" id="{DBB0B221-900C-6139-C2B2-A31841B484EE}"/>
              </a:ext>
            </a:extLst>
          </p:cNvPr>
          <p:cNvSpPr txBox="1"/>
          <p:nvPr/>
        </p:nvSpPr>
        <p:spPr>
          <a:xfrm>
            <a:off x="197780" y="5321092"/>
            <a:ext cx="4515980" cy="400110"/>
          </a:xfrm>
          <a:prstGeom prst="rect">
            <a:avLst/>
          </a:prstGeom>
          <a:noFill/>
        </p:spPr>
        <p:txBody>
          <a:bodyPr wrap="non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zh-CN" altLang="en-US" sz="2000" dirty="0"/>
              <a:t>参考：</a:t>
            </a:r>
            <a:r>
              <a:rPr lang="en-US" altLang="zh-CN" sz="2000" dirty="0"/>
              <a:t>《</a:t>
            </a:r>
            <a:r>
              <a:rPr lang="zh-CN" altLang="en-US" sz="2000" dirty="0"/>
              <a:t>深度学习现象导论</a:t>
            </a:r>
            <a:r>
              <a:rPr lang="en-US" altLang="zh-CN" sz="2000" dirty="0"/>
              <a:t>》</a:t>
            </a:r>
            <a:r>
              <a:rPr lang="zh-CN" altLang="en-US" sz="2000" dirty="0"/>
              <a:t>第二章。</a:t>
            </a:r>
          </a:p>
        </p:txBody>
      </p:sp>
      <p:sp>
        <p:nvSpPr>
          <p:cNvPr id="8" name="文本框 7">
            <a:extLst>
              <a:ext uri="{FF2B5EF4-FFF2-40B4-BE49-F238E27FC236}">
                <a16:creationId xmlns:a16="http://schemas.microsoft.com/office/drawing/2014/main" id="{421725F6-A4C6-5C7A-1373-D8CB9F260BC5}"/>
              </a:ext>
            </a:extLst>
          </p:cNvPr>
          <p:cNvSpPr txBox="1"/>
          <p:nvPr/>
        </p:nvSpPr>
        <p:spPr>
          <a:xfrm>
            <a:off x="92765" y="6374296"/>
            <a:ext cx="2544418" cy="246221"/>
          </a:xfrm>
          <a:prstGeom prst="rect">
            <a:avLst/>
          </a:prstGeom>
          <a:noFill/>
        </p:spPr>
        <p:txBody>
          <a:bodyPr wrap="square" rtlCol="0">
            <a:spAutoFit/>
          </a:bodyPr>
          <a:lstStyle/>
          <a:p>
            <a:pPr algn="l"/>
            <a:r>
              <a:rPr lang="en-US" altLang="zh-CN" sz="1000" dirty="0">
                <a:solidFill>
                  <a:schemeClr val="bg1"/>
                </a:solidFill>
              </a:rPr>
              <a:t>PPT</a:t>
            </a:r>
            <a:r>
              <a:rPr lang="zh-CN" altLang="en-US" sz="1000" dirty="0">
                <a:solidFill>
                  <a:schemeClr val="bg1"/>
                </a:solidFill>
              </a:rPr>
              <a:t>主要贡献：张耀宇</a:t>
            </a:r>
          </a:p>
        </p:txBody>
      </p:sp>
    </p:spTree>
    <p:extLst>
      <p:ext uri="{BB962C8B-B14F-4D97-AF65-F5344CB8AC3E}">
        <p14:creationId xmlns:p14="http://schemas.microsoft.com/office/powerpoint/2010/main" val="3283338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BBF14-9984-EA33-71C0-F749E5D305A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3551818-D57E-0D52-E0E6-3105D17B8232}"/>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A34F6DA2-FA69-249F-ADA6-D4053E279521}"/>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216B68B0-A86F-5A2B-DCE5-0B99A3DFCDA9}"/>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13769A8F-78A0-74C5-CEDD-DE8E29D6CAB9}"/>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E8125BC9-120D-5BBA-5E7B-8FB810866974}"/>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7485395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27CF-2BA5-1BBB-2AE9-BD7A50397AB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1148C04-D319-B596-CA91-549B48476650}"/>
              </a:ext>
            </a:extLst>
          </p:cNvPr>
          <p:cNvSpPr>
            <a:spLocks noGrp="1"/>
          </p:cNvSpPr>
          <p:nvPr>
            <p:ph type="title"/>
          </p:nvPr>
        </p:nvSpPr>
        <p:spPr/>
        <p:txBody>
          <a:bodyPr/>
          <a:lstStyle/>
          <a:p>
            <a:r>
              <a:rPr lang="zh-CN" altLang="en-US" dirty="0"/>
              <a:t>什么是高维数据？</a:t>
            </a:r>
          </a:p>
        </p:txBody>
      </p:sp>
      <p:sp>
        <p:nvSpPr>
          <p:cNvPr id="10" name="文本框 9">
            <a:extLst>
              <a:ext uri="{FF2B5EF4-FFF2-40B4-BE49-F238E27FC236}">
                <a16:creationId xmlns:a16="http://schemas.microsoft.com/office/drawing/2014/main" id="{A276C694-4AA0-258C-11FE-9D29D7FB81DA}"/>
              </a:ext>
            </a:extLst>
          </p:cNvPr>
          <p:cNvSpPr txBox="1"/>
          <p:nvPr/>
        </p:nvSpPr>
        <p:spPr>
          <a:xfrm>
            <a:off x="380999" y="894891"/>
            <a:ext cx="11811001" cy="581057"/>
          </a:xfrm>
          <a:prstGeom prst="rect">
            <a:avLst/>
          </a:prstGeom>
          <a:noFill/>
        </p:spPr>
        <p:txBody>
          <a:bodyPr wrap="square" rtlCol="0">
            <a:spAutoFit/>
          </a:bodyPr>
          <a:lstStyle/>
          <a:p>
            <a:pPr algn="l">
              <a:lnSpc>
                <a:spcPct val="150000"/>
              </a:lnSpc>
            </a:pPr>
            <a:r>
              <a:rPr lang="zh-CN" altLang="en-US" sz="2400" b="1" dirty="0">
                <a:solidFill>
                  <a:srgbClr val="070707"/>
                </a:solidFill>
                <a:latin typeface="微软雅黑" panose="020B0503020204020204" pitchFamily="34" charset="-122"/>
                <a:ea typeface="微软雅黑" panose="020B0503020204020204" pitchFamily="34" charset="-122"/>
              </a:rPr>
              <a:t>定义：</a:t>
            </a:r>
            <a:r>
              <a:rPr lang="zh-CN" altLang="en-US" sz="2400" dirty="0">
                <a:solidFill>
                  <a:srgbClr val="070707"/>
                </a:solidFill>
                <a:latin typeface="微软雅黑" panose="020B0503020204020204" pitchFamily="34" charset="-122"/>
                <a:ea typeface="微软雅黑" panose="020B0503020204020204" pitchFamily="34" charset="-122"/>
              </a:rPr>
              <a:t>高维数据指的是具有</a:t>
            </a:r>
            <a:r>
              <a:rPr lang="zh-CN" altLang="en-US" sz="2400" b="1" dirty="0">
                <a:solidFill>
                  <a:srgbClr val="C00000"/>
                </a:solidFill>
                <a:latin typeface="微软雅黑" panose="020B0503020204020204" pitchFamily="34" charset="-122"/>
                <a:ea typeface="微软雅黑" panose="020B0503020204020204" pitchFamily="34" charset="-122"/>
              </a:rPr>
              <a:t>大量特征（维度）</a:t>
            </a:r>
            <a:r>
              <a:rPr lang="zh-CN" altLang="en-US" sz="2400" dirty="0">
                <a:solidFill>
                  <a:srgbClr val="070707"/>
                </a:solidFill>
                <a:latin typeface="微软雅黑" panose="020B0503020204020204" pitchFamily="34" charset="-122"/>
                <a:ea typeface="微软雅黑" panose="020B0503020204020204" pitchFamily="34" charset="-122"/>
              </a:rPr>
              <a:t>的数据集。假设一个数据点用向量表示：</a:t>
            </a:r>
            <a:endParaRPr lang="zh-CN" altLang="en-US" sz="2400" dirty="0">
              <a:solidFill>
                <a:schemeClr val="bg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BF7FF45B-7F4E-A8B9-207C-1C7EEFFB4803}"/>
                  </a:ext>
                </a:extLst>
              </p:cNvPr>
              <p:cNvSpPr txBox="1"/>
              <p:nvPr/>
            </p:nvSpPr>
            <p:spPr>
              <a:xfrm>
                <a:off x="3229874" y="1726090"/>
                <a:ext cx="4459426" cy="501291"/>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3200" b="0" i="1" smtClean="0">
                          <a:latin typeface="Cambria Math" panose="02040503050406030204" pitchFamily="18" charset="0"/>
                        </a:rPr>
                        <m:t>𝑥</m:t>
                      </m:r>
                      <m:r>
                        <a:rPr kumimoji="1" lang="en-US" altLang="zh-CN" sz="3200" b="0" i="1" smtClean="0">
                          <a:latin typeface="Cambria Math" panose="02040503050406030204" pitchFamily="18" charset="0"/>
                        </a:rPr>
                        <m:t>=</m:t>
                      </m:r>
                      <m:sSup>
                        <m:sSupPr>
                          <m:ctrlPr>
                            <a:rPr kumimoji="1" lang="en-US" altLang="zh-CN" sz="3200" b="0" i="1" smtClean="0">
                              <a:latin typeface="Cambria Math" panose="02040503050406030204" pitchFamily="18" charset="0"/>
                            </a:rPr>
                          </m:ctrlPr>
                        </m:sSupPr>
                        <m:e>
                          <m:d>
                            <m:dPr>
                              <m:begChr m:val="["/>
                              <m:endChr m:val="]"/>
                              <m:ctrlPr>
                                <a:rPr kumimoji="1" lang="en-US" altLang="zh-CN" sz="3200" b="0" i="1" smtClean="0">
                                  <a:latin typeface="Cambria Math" panose="02040503050406030204" pitchFamily="18" charset="0"/>
                                </a:rPr>
                              </m:ctrlPr>
                            </m:dPr>
                            <m:e>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1</m:t>
                                  </m:r>
                                </m:sub>
                              </m:sSub>
                              <m:r>
                                <a:rPr kumimoji="1" lang="en-US" altLang="zh-CN" sz="3200" b="0" i="1" smtClean="0">
                                  <a:latin typeface="Cambria Math" panose="02040503050406030204" pitchFamily="18" charset="0"/>
                                </a:rPr>
                                <m:t>,</m:t>
                              </m:r>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2</m:t>
                                  </m:r>
                                </m:sub>
                              </m:sSub>
                              <m:r>
                                <a:rPr kumimoji="1" lang="en-US" altLang="zh-CN" sz="3200" b="0" i="1" smtClean="0">
                                  <a:latin typeface="Cambria Math" panose="02040503050406030204" pitchFamily="18" charset="0"/>
                                </a:rPr>
                                <m:t>,…,</m:t>
                              </m:r>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𝑑</m:t>
                                  </m:r>
                                </m:sub>
                              </m:sSub>
                            </m:e>
                          </m:d>
                        </m:e>
                        <m:sup>
                          <m:r>
                            <a:rPr kumimoji="1" lang="en-US" altLang="zh-CN" sz="3200" b="0" i="1" smtClean="0">
                              <a:latin typeface="Cambria Math" panose="02040503050406030204" pitchFamily="18" charset="0"/>
                            </a:rPr>
                            <m:t>⊤</m:t>
                          </m:r>
                        </m:sup>
                      </m:sSup>
                      <m:r>
                        <a:rPr kumimoji="1" lang="en-US" altLang="zh-CN" sz="3200" b="0" i="1" smtClean="0">
                          <a:latin typeface="Cambria Math" panose="02040503050406030204" pitchFamily="18" charset="0"/>
                        </a:rPr>
                        <m:t>∈</m:t>
                      </m:r>
                      <m:sSup>
                        <m:sSupPr>
                          <m:ctrlPr>
                            <a:rPr kumimoji="1" lang="en-US" altLang="zh-CN" sz="3200" b="0" i="1" smtClean="0">
                              <a:latin typeface="Cambria Math" panose="02040503050406030204" pitchFamily="18" charset="0"/>
                            </a:rPr>
                          </m:ctrlPr>
                        </m:sSupPr>
                        <m:e>
                          <m:r>
                            <a:rPr kumimoji="1" lang="en-US" altLang="zh-CN" sz="3200" b="0" i="1" smtClean="0">
                              <a:latin typeface="Cambria Math" panose="02040503050406030204" pitchFamily="18" charset="0"/>
                            </a:rPr>
                            <m:t>ℝ</m:t>
                          </m:r>
                        </m:e>
                        <m:sup>
                          <m:r>
                            <a:rPr kumimoji="1" lang="en-US" altLang="zh-CN" sz="3200" b="0" i="1" smtClean="0">
                              <a:latin typeface="Cambria Math" panose="02040503050406030204" pitchFamily="18" charset="0"/>
                            </a:rPr>
                            <m:t>𝑑</m:t>
                          </m:r>
                        </m:sup>
                      </m:sSup>
                    </m:oMath>
                  </m:oMathPara>
                </a14:m>
                <a:endParaRPr kumimoji="1" lang="zh-CN" altLang="en-US" sz="3200" dirty="0"/>
              </a:p>
            </p:txBody>
          </p:sp>
        </mc:Choice>
        <mc:Fallback xmlns="">
          <p:sp>
            <p:nvSpPr>
              <p:cNvPr id="4" name="文本框 3">
                <a:extLst>
                  <a:ext uri="{FF2B5EF4-FFF2-40B4-BE49-F238E27FC236}">
                    <a16:creationId xmlns:a16="http://schemas.microsoft.com/office/drawing/2014/main" id="{BF7FF45B-7F4E-A8B9-207C-1C7EEFFB4803}"/>
                  </a:ext>
                </a:extLst>
              </p:cNvPr>
              <p:cNvSpPr txBox="1">
                <a:spLocks noRot="1" noChangeAspect="1" noMove="1" noResize="1" noEditPoints="1" noAdjustHandles="1" noChangeArrowheads="1" noChangeShapeType="1" noTextEdit="1"/>
              </p:cNvSpPr>
              <p:nvPr/>
            </p:nvSpPr>
            <p:spPr>
              <a:xfrm>
                <a:off x="3229874" y="1726090"/>
                <a:ext cx="4459426" cy="501291"/>
              </a:xfrm>
              <a:prstGeom prst="rect">
                <a:avLst/>
              </a:prstGeom>
              <a:blipFill>
                <a:blip r:embed="rId2"/>
                <a:stretch>
                  <a:fillRect l="-568" t="-2439" b="-1707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E0C9241C-542A-3804-8F7A-C41576FD74B2}"/>
                  </a:ext>
                </a:extLst>
              </p:cNvPr>
              <p:cNvSpPr txBox="1"/>
              <p:nvPr/>
            </p:nvSpPr>
            <p:spPr>
              <a:xfrm>
                <a:off x="234461" y="2477523"/>
                <a:ext cx="8494890" cy="461665"/>
              </a:xfrm>
              <a:prstGeom prst="rect">
                <a:avLst/>
              </a:prstGeom>
              <a:noFill/>
            </p:spPr>
            <p:txBody>
              <a:bodyPr wrap="none" rtlCol="0">
                <a:spAutoFit/>
              </a:bodyPr>
              <a:lstStyle/>
              <a:p>
                <a:pPr algn="l"/>
                <a:r>
                  <a:rPr kumimoji="1" lang="zh-CN" altLang="en-US" sz="2400" dirty="0">
                    <a:solidFill>
                      <a:srgbClr val="070707"/>
                    </a:solidFill>
                    <a:latin typeface="Microsoft YaHei" panose="020B0503020204020204" pitchFamily="34" charset="-122"/>
                    <a:ea typeface="Microsoft YaHei" panose="020B0503020204020204" pitchFamily="34" charset="-122"/>
                  </a:rPr>
                  <a:t>  其中 </a:t>
                </a:r>
                <a14:m>
                  <m:oMath xmlns:m="http://schemas.openxmlformats.org/officeDocument/2006/math">
                    <m:r>
                      <a:rPr kumimoji="1" lang="en-US" altLang="zh-CN" sz="2400" b="0" i="1" smtClean="0">
                        <a:solidFill>
                          <a:srgbClr val="070707"/>
                        </a:solidFill>
                        <a:latin typeface="Cambria Math" panose="02040503050406030204" pitchFamily="18" charset="0"/>
                        <a:ea typeface="Microsoft YaHei" panose="020B0503020204020204" pitchFamily="34" charset="-122"/>
                      </a:rPr>
                      <m:t>𝑑</m:t>
                    </m:r>
                  </m:oMath>
                </a14:m>
                <a:r>
                  <a:rPr kumimoji="1" lang="en" altLang="zh-CN" sz="2400" dirty="0">
                    <a:solidFill>
                      <a:srgbClr val="070707"/>
                    </a:solidFill>
                    <a:latin typeface="Microsoft YaHei" panose="020B0503020204020204" pitchFamily="34" charset="-122"/>
                    <a:ea typeface="Microsoft YaHei" panose="020B0503020204020204" pitchFamily="34" charset="-122"/>
                  </a:rPr>
                  <a:t> </a:t>
                </a:r>
                <a:r>
                  <a:rPr kumimoji="1" lang="zh-CN" altLang="en-US" sz="2400" dirty="0">
                    <a:solidFill>
                      <a:srgbClr val="070707"/>
                    </a:solidFill>
                    <a:latin typeface="Microsoft YaHei" panose="020B0503020204020204" pitchFamily="34" charset="-122"/>
                    <a:ea typeface="Microsoft YaHei" panose="020B0503020204020204" pitchFamily="34" charset="-122"/>
                  </a:rPr>
                  <a:t>是数据的维度。当 </a:t>
                </a:r>
                <a14:m>
                  <m:oMath xmlns:m="http://schemas.openxmlformats.org/officeDocument/2006/math">
                    <m:r>
                      <a:rPr kumimoji="1" lang="en-US" altLang="zh-CN" sz="2400" b="0" i="1" smtClean="0">
                        <a:solidFill>
                          <a:srgbClr val="070707"/>
                        </a:solidFill>
                        <a:latin typeface="Cambria Math" panose="02040503050406030204" pitchFamily="18" charset="0"/>
                        <a:ea typeface="Microsoft YaHei" panose="020B0503020204020204" pitchFamily="34" charset="-122"/>
                      </a:rPr>
                      <m:t>𝑑</m:t>
                    </m:r>
                  </m:oMath>
                </a14:m>
                <a:r>
                  <a:rPr kumimoji="1" lang="en" altLang="zh-CN" sz="2400" dirty="0">
                    <a:solidFill>
                      <a:srgbClr val="070707"/>
                    </a:solidFill>
                    <a:latin typeface="Microsoft YaHei" panose="020B0503020204020204" pitchFamily="34" charset="-122"/>
                    <a:ea typeface="Microsoft YaHei" panose="020B0503020204020204" pitchFamily="34" charset="-122"/>
                  </a:rPr>
                  <a:t> </a:t>
                </a:r>
                <a:r>
                  <a:rPr kumimoji="1" lang="zh-CN" altLang="en-US" sz="2400" dirty="0">
                    <a:solidFill>
                      <a:srgbClr val="070707"/>
                    </a:solidFill>
                    <a:latin typeface="Microsoft YaHei" panose="020B0503020204020204" pitchFamily="34" charset="-122"/>
                    <a:ea typeface="Microsoft YaHei" panose="020B0503020204020204" pitchFamily="34" charset="-122"/>
                  </a:rPr>
                  <a:t>较大时，数据被称为高维数据。</a:t>
                </a:r>
              </a:p>
            </p:txBody>
          </p:sp>
        </mc:Choice>
        <mc:Fallback xmlns="">
          <p:sp>
            <p:nvSpPr>
              <p:cNvPr id="6" name="文本框 5">
                <a:extLst>
                  <a:ext uri="{FF2B5EF4-FFF2-40B4-BE49-F238E27FC236}">
                    <a16:creationId xmlns:a16="http://schemas.microsoft.com/office/drawing/2014/main" id="{E0C9241C-542A-3804-8F7A-C41576FD74B2}"/>
                  </a:ext>
                </a:extLst>
              </p:cNvPr>
              <p:cNvSpPr txBox="1">
                <a:spLocks noRot="1" noChangeAspect="1" noMove="1" noResize="1" noEditPoints="1" noAdjustHandles="1" noChangeArrowheads="1" noChangeShapeType="1" noTextEdit="1"/>
              </p:cNvSpPr>
              <p:nvPr/>
            </p:nvSpPr>
            <p:spPr>
              <a:xfrm>
                <a:off x="234461" y="2477523"/>
                <a:ext cx="8494890" cy="461665"/>
              </a:xfrm>
              <a:prstGeom prst="rect">
                <a:avLst/>
              </a:prstGeom>
              <a:blipFill>
                <a:blip r:embed="rId3"/>
                <a:stretch>
                  <a:fillRect t="-7895" r="-149" b="-28947"/>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11725FE8-8417-A634-F806-394BF6362FB9}"/>
              </a:ext>
            </a:extLst>
          </p:cNvPr>
          <p:cNvSpPr txBox="1"/>
          <p:nvPr/>
        </p:nvSpPr>
        <p:spPr>
          <a:xfrm>
            <a:off x="345830" y="3107269"/>
            <a:ext cx="1107996" cy="461665"/>
          </a:xfrm>
          <a:prstGeom prst="rect">
            <a:avLst/>
          </a:prstGeom>
          <a:noFill/>
        </p:spPr>
        <p:txBody>
          <a:bodyPr wrap="none" rtlCol="0">
            <a:spAutoFit/>
          </a:bodyPr>
          <a:lstStyle/>
          <a:p>
            <a:pPr algn="l"/>
            <a:r>
              <a:rPr kumimoji="1" lang="zh-CN" altLang="en-US" sz="2400" b="1" dirty="0">
                <a:solidFill>
                  <a:srgbClr val="070707"/>
                </a:solidFill>
                <a:latin typeface="Microsoft YaHei" panose="020B0503020204020204" pitchFamily="34" charset="-122"/>
                <a:ea typeface="Microsoft YaHei" panose="020B0503020204020204" pitchFamily="34" charset="-122"/>
              </a:rPr>
              <a:t>例子：</a:t>
            </a:r>
          </a:p>
        </p:txBody>
      </p:sp>
      <p:pic>
        <p:nvPicPr>
          <p:cNvPr id="1026" name="Picture 2" descr="Create Vibrant and Detailed Pixel Art Images of Cats | 16-bit and 8-bit  Designs">
            <a:extLst>
              <a:ext uri="{FF2B5EF4-FFF2-40B4-BE49-F238E27FC236}">
                <a16:creationId xmlns:a16="http://schemas.microsoft.com/office/drawing/2014/main" id="{FC929472-D602-0AE0-5EDC-6EA3327B8C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9233" y="3593728"/>
            <a:ext cx="1809841" cy="1809841"/>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a:extLst>
              <a:ext uri="{FF2B5EF4-FFF2-40B4-BE49-F238E27FC236}">
                <a16:creationId xmlns:a16="http://schemas.microsoft.com/office/drawing/2014/main" id="{E31F8DF4-D474-A875-5597-D448EF13FFDA}"/>
              </a:ext>
            </a:extLst>
          </p:cNvPr>
          <p:cNvSpPr/>
          <p:nvPr/>
        </p:nvSpPr>
        <p:spPr>
          <a:xfrm>
            <a:off x="97478" y="5483784"/>
            <a:ext cx="3419448" cy="701768"/>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图像数据：每张图片可以被表示为一个包含像素值的高维向量。</a:t>
            </a:r>
            <a:endParaRPr kumimoji="1" lang="zh-CN" altLang="en-US" b="1" dirty="0">
              <a:solidFill>
                <a:srgbClr val="C00000"/>
              </a:solidFill>
            </a:endParaRPr>
          </a:p>
        </p:txBody>
      </p:sp>
      <p:sp>
        <p:nvSpPr>
          <p:cNvPr id="12" name="矩形 11">
            <a:extLst>
              <a:ext uri="{FF2B5EF4-FFF2-40B4-BE49-F238E27FC236}">
                <a16:creationId xmlns:a16="http://schemas.microsoft.com/office/drawing/2014/main" id="{1BC2E66B-32EF-CD28-522F-AA2A8D73E281}"/>
              </a:ext>
            </a:extLst>
          </p:cNvPr>
          <p:cNvSpPr/>
          <p:nvPr/>
        </p:nvSpPr>
        <p:spPr>
          <a:xfrm>
            <a:off x="3837140" y="5483784"/>
            <a:ext cx="4601307" cy="695257"/>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文本数据：每个单词可以被表示为高维的 </a:t>
            </a:r>
            <a:r>
              <a:rPr kumimoji="1" lang="en-US" altLang="zh-CN" b="1" dirty="0">
                <a:solidFill>
                  <a:srgbClr val="C00000"/>
                </a:solidFill>
                <a:latin typeface="Microsoft YaHei" panose="020B0503020204020204" pitchFamily="34" charset="-122"/>
                <a:ea typeface="Microsoft YaHei" panose="020B0503020204020204" pitchFamily="34" charset="-122"/>
              </a:rPr>
              <a:t>one-hot </a:t>
            </a:r>
            <a:r>
              <a:rPr kumimoji="1" lang="zh-CN" altLang="en-US" b="1" dirty="0">
                <a:solidFill>
                  <a:srgbClr val="C00000"/>
                </a:solidFill>
                <a:latin typeface="Microsoft YaHei" panose="020B0503020204020204" pitchFamily="34" charset="-122"/>
                <a:ea typeface="Microsoft YaHei" panose="020B0503020204020204" pitchFamily="34" charset="-122"/>
              </a:rPr>
              <a:t>向量或嵌入到高维空间</a:t>
            </a:r>
            <a:endParaRPr kumimoji="1" lang="zh-CN" altLang="en-US" b="1" dirty="0">
              <a:solidFill>
                <a:srgbClr val="C00000"/>
              </a:solidFill>
            </a:endParaRPr>
          </a:p>
        </p:txBody>
      </p:sp>
      <p:pic>
        <p:nvPicPr>
          <p:cNvPr id="1028" name="Picture 4" descr="Eliezer Yudkowsky on AlphaGo's Wins - Future of Life Institute">
            <a:extLst>
              <a:ext uri="{FF2B5EF4-FFF2-40B4-BE49-F238E27FC236}">
                <a16:creationId xmlns:a16="http://schemas.microsoft.com/office/drawing/2014/main" id="{B26EE3BC-D7F3-2BC8-5D99-6450B1CF42A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55526" y="3714646"/>
            <a:ext cx="2358901" cy="1568003"/>
          </a:xfrm>
          <a:prstGeom prst="rect">
            <a:avLst/>
          </a:prstGeom>
          <a:noFill/>
          <a:extLst>
            <a:ext uri="{909E8E84-426E-40DD-AFC4-6F175D3DCCD1}">
              <a14:hiddenFill xmlns:a14="http://schemas.microsoft.com/office/drawing/2010/main">
                <a:solidFill>
                  <a:srgbClr val="FFFFFF"/>
                </a:solidFill>
              </a14:hiddenFill>
            </a:ext>
          </a:extLst>
        </p:spPr>
      </p:pic>
      <p:sp>
        <p:nvSpPr>
          <p:cNvPr id="13" name="矩形 12">
            <a:extLst>
              <a:ext uri="{FF2B5EF4-FFF2-40B4-BE49-F238E27FC236}">
                <a16:creationId xmlns:a16="http://schemas.microsoft.com/office/drawing/2014/main" id="{7915E4A8-90BB-ADF3-B870-B8E42558438F}"/>
              </a:ext>
            </a:extLst>
          </p:cNvPr>
          <p:cNvSpPr/>
          <p:nvPr/>
        </p:nvSpPr>
        <p:spPr>
          <a:xfrm>
            <a:off x="8723492" y="5483784"/>
            <a:ext cx="3419448" cy="701768"/>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围棋：棋盘的每个位置可以用一个维度表示当前的棋子状态</a:t>
            </a:r>
            <a:endParaRPr kumimoji="1" lang="zh-CN" altLang="en-US" b="1" dirty="0">
              <a:solidFill>
                <a:srgbClr val="C00000"/>
              </a:solidFill>
            </a:endParaRPr>
          </a:p>
        </p:txBody>
      </p:sp>
      <p:grpSp>
        <p:nvGrpSpPr>
          <p:cNvPr id="17" name="组合 16">
            <a:extLst>
              <a:ext uri="{FF2B5EF4-FFF2-40B4-BE49-F238E27FC236}">
                <a16:creationId xmlns:a16="http://schemas.microsoft.com/office/drawing/2014/main" id="{4365C651-90BA-1525-E015-3A99FB660D5C}"/>
              </a:ext>
            </a:extLst>
          </p:cNvPr>
          <p:cNvGrpSpPr/>
          <p:nvPr/>
        </p:nvGrpSpPr>
        <p:grpSpPr>
          <a:xfrm>
            <a:off x="3825418" y="3757997"/>
            <a:ext cx="4601308" cy="1385551"/>
            <a:chOff x="3825418" y="3757997"/>
            <a:chExt cx="4601308" cy="1385551"/>
          </a:xfrm>
        </p:grpSpPr>
        <p:pic>
          <p:nvPicPr>
            <p:cNvPr id="11" name="图片 10">
              <a:extLst>
                <a:ext uri="{FF2B5EF4-FFF2-40B4-BE49-F238E27FC236}">
                  <a16:creationId xmlns:a16="http://schemas.microsoft.com/office/drawing/2014/main" id="{A99840D1-DD4C-83C1-D6C6-5A7D13073552}"/>
                </a:ext>
              </a:extLst>
            </p:cNvPr>
            <p:cNvPicPr>
              <a:picLocks noChangeAspect="1"/>
            </p:cNvPicPr>
            <p:nvPr/>
          </p:nvPicPr>
          <p:blipFill>
            <a:blip r:embed="rId6"/>
            <a:stretch>
              <a:fillRect/>
            </a:stretch>
          </p:blipFill>
          <p:spPr>
            <a:xfrm>
              <a:off x="3825418" y="3757997"/>
              <a:ext cx="4601308" cy="1155611"/>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F51D0E78-640E-F08F-27B6-D8E74648A48D}"/>
                    </a:ext>
                  </a:extLst>
                </p:cNvPr>
                <p:cNvSpPr txBox="1"/>
                <p:nvPr/>
              </p:nvSpPr>
              <p:spPr>
                <a:xfrm>
                  <a:off x="6178060"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2" name="文本框 1">
                  <a:extLst>
                    <a:ext uri="{FF2B5EF4-FFF2-40B4-BE49-F238E27FC236}">
                      <a16:creationId xmlns:a16="http://schemas.microsoft.com/office/drawing/2014/main" id="{F51D0E78-640E-F08F-27B6-D8E74648A48D}"/>
                    </a:ext>
                  </a:extLst>
                </p:cNvPr>
                <p:cNvSpPr txBox="1">
                  <a:spLocks noRot="1" noChangeAspect="1" noMove="1" noResize="1" noEditPoints="1" noAdjustHandles="1" noChangeArrowheads="1" noChangeShapeType="1" noTextEdit="1"/>
                </p:cNvSpPr>
                <p:nvPr/>
              </p:nvSpPr>
              <p:spPr>
                <a:xfrm>
                  <a:off x="6178060" y="4835771"/>
                  <a:ext cx="144270" cy="307777"/>
                </a:xfrm>
                <a:prstGeom prst="rect">
                  <a:avLst/>
                </a:prstGeom>
                <a:blipFill>
                  <a:blip r:embed="rId7"/>
                  <a:stretch>
                    <a:fillRect l="-33333" r="-41667"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0481F66F-427C-57B1-28BF-6A32C4847755}"/>
                    </a:ext>
                  </a:extLst>
                </p:cNvPr>
                <p:cNvSpPr txBox="1"/>
                <p:nvPr/>
              </p:nvSpPr>
              <p:spPr>
                <a:xfrm>
                  <a:off x="6670427"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5" name="文本框 4">
                  <a:extLst>
                    <a:ext uri="{FF2B5EF4-FFF2-40B4-BE49-F238E27FC236}">
                      <a16:creationId xmlns:a16="http://schemas.microsoft.com/office/drawing/2014/main" id="{0481F66F-427C-57B1-28BF-6A32C4847755}"/>
                    </a:ext>
                  </a:extLst>
                </p:cNvPr>
                <p:cNvSpPr txBox="1">
                  <a:spLocks noRot="1" noChangeAspect="1" noMove="1" noResize="1" noEditPoints="1" noAdjustHandles="1" noChangeArrowheads="1" noChangeShapeType="1" noTextEdit="1"/>
                </p:cNvSpPr>
                <p:nvPr/>
              </p:nvSpPr>
              <p:spPr>
                <a:xfrm>
                  <a:off x="6670427" y="4835771"/>
                  <a:ext cx="144270" cy="307777"/>
                </a:xfrm>
                <a:prstGeom prst="rect">
                  <a:avLst/>
                </a:prstGeom>
                <a:blipFill>
                  <a:blip r:embed="rId8"/>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64DE5D7B-0BA8-C706-D385-909E8D6DED9A}"/>
                    </a:ext>
                  </a:extLst>
                </p:cNvPr>
                <p:cNvSpPr txBox="1"/>
                <p:nvPr/>
              </p:nvSpPr>
              <p:spPr>
                <a:xfrm>
                  <a:off x="7303475"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8" name="文本框 7">
                  <a:extLst>
                    <a:ext uri="{FF2B5EF4-FFF2-40B4-BE49-F238E27FC236}">
                      <a16:creationId xmlns:a16="http://schemas.microsoft.com/office/drawing/2014/main" id="{64DE5D7B-0BA8-C706-D385-909E8D6DED9A}"/>
                    </a:ext>
                  </a:extLst>
                </p:cNvPr>
                <p:cNvSpPr txBox="1">
                  <a:spLocks noRot="1" noChangeAspect="1" noMove="1" noResize="1" noEditPoints="1" noAdjustHandles="1" noChangeArrowheads="1" noChangeShapeType="1" noTextEdit="1"/>
                </p:cNvSpPr>
                <p:nvPr/>
              </p:nvSpPr>
              <p:spPr>
                <a:xfrm>
                  <a:off x="7303475" y="4835771"/>
                  <a:ext cx="144270" cy="307777"/>
                </a:xfrm>
                <a:prstGeom prst="rect">
                  <a:avLst/>
                </a:prstGeom>
                <a:blipFill>
                  <a:blip r:embed="rId9"/>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178B1D46-E95B-21F2-BEBA-8D5CFAA1E8FB}"/>
                    </a:ext>
                  </a:extLst>
                </p:cNvPr>
                <p:cNvSpPr txBox="1"/>
                <p:nvPr/>
              </p:nvSpPr>
              <p:spPr>
                <a:xfrm>
                  <a:off x="7995136"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4" name="文本框 13">
                  <a:extLst>
                    <a:ext uri="{FF2B5EF4-FFF2-40B4-BE49-F238E27FC236}">
                      <a16:creationId xmlns:a16="http://schemas.microsoft.com/office/drawing/2014/main" id="{178B1D46-E95B-21F2-BEBA-8D5CFAA1E8FB}"/>
                    </a:ext>
                  </a:extLst>
                </p:cNvPr>
                <p:cNvSpPr txBox="1">
                  <a:spLocks noRot="1" noChangeAspect="1" noMove="1" noResize="1" noEditPoints="1" noAdjustHandles="1" noChangeArrowheads="1" noChangeShapeType="1" noTextEdit="1"/>
                </p:cNvSpPr>
                <p:nvPr/>
              </p:nvSpPr>
              <p:spPr>
                <a:xfrm>
                  <a:off x="7995136" y="4835771"/>
                  <a:ext cx="144270" cy="307777"/>
                </a:xfrm>
                <a:prstGeom prst="rect">
                  <a:avLst/>
                </a:prstGeom>
                <a:blipFill>
                  <a:blip r:embed="rId7"/>
                  <a:stretch>
                    <a:fillRect l="-33333" r="-41667"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CC045FEE-5836-D4AD-AF67-E7EB6623E081}"/>
                    </a:ext>
                  </a:extLst>
                </p:cNvPr>
                <p:cNvSpPr txBox="1"/>
                <p:nvPr/>
              </p:nvSpPr>
              <p:spPr>
                <a:xfrm>
                  <a:off x="3938955"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5" name="文本框 14">
                  <a:extLst>
                    <a:ext uri="{FF2B5EF4-FFF2-40B4-BE49-F238E27FC236}">
                      <a16:creationId xmlns:a16="http://schemas.microsoft.com/office/drawing/2014/main" id="{CC045FEE-5836-D4AD-AF67-E7EB6623E081}"/>
                    </a:ext>
                  </a:extLst>
                </p:cNvPr>
                <p:cNvSpPr txBox="1">
                  <a:spLocks noRot="1" noChangeAspect="1" noMove="1" noResize="1" noEditPoints="1" noAdjustHandles="1" noChangeArrowheads="1" noChangeShapeType="1" noTextEdit="1"/>
                </p:cNvSpPr>
                <p:nvPr/>
              </p:nvSpPr>
              <p:spPr>
                <a:xfrm>
                  <a:off x="3938955" y="4835771"/>
                  <a:ext cx="144270" cy="307777"/>
                </a:xfrm>
                <a:prstGeom prst="rect">
                  <a:avLst/>
                </a:prstGeom>
                <a:blipFill>
                  <a:blip r:embed="rId9"/>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4377B0E1-4A9A-66FB-4968-0C4E5FF57993}"/>
                    </a:ext>
                  </a:extLst>
                </p:cNvPr>
                <p:cNvSpPr txBox="1"/>
                <p:nvPr/>
              </p:nvSpPr>
              <p:spPr>
                <a:xfrm>
                  <a:off x="4384430"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6" name="文本框 15">
                  <a:extLst>
                    <a:ext uri="{FF2B5EF4-FFF2-40B4-BE49-F238E27FC236}">
                      <a16:creationId xmlns:a16="http://schemas.microsoft.com/office/drawing/2014/main" id="{4377B0E1-4A9A-66FB-4968-0C4E5FF57993}"/>
                    </a:ext>
                  </a:extLst>
                </p:cNvPr>
                <p:cNvSpPr txBox="1">
                  <a:spLocks noRot="1" noChangeAspect="1" noMove="1" noResize="1" noEditPoints="1" noAdjustHandles="1" noChangeArrowheads="1" noChangeShapeType="1" noTextEdit="1"/>
                </p:cNvSpPr>
                <p:nvPr/>
              </p:nvSpPr>
              <p:spPr>
                <a:xfrm>
                  <a:off x="4384430" y="4835771"/>
                  <a:ext cx="144270" cy="307777"/>
                </a:xfrm>
                <a:prstGeom prst="rect">
                  <a:avLst/>
                </a:prstGeom>
                <a:blipFill>
                  <a:blip r:embed="rId8"/>
                  <a:stretch>
                    <a:fillRect l="-41667" r="-33333" b="-3846"/>
                  </a:stretch>
                </a:blipFill>
              </p:spPr>
              <p:txBody>
                <a:bodyPr/>
                <a:lstStyle/>
                <a:p>
                  <a:r>
                    <a:rPr lang="zh-CN" altLang="en-US">
                      <a:noFill/>
                    </a:rPr>
                    <a:t> </a:t>
                  </a:r>
                </a:p>
              </p:txBody>
            </p:sp>
          </mc:Fallback>
        </mc:AlternateContent>
      </p:grpSp>
      <p:sp>
        <p:nvSpPr>
          <p:cNvPr id="18" name="文本框 17">
            <a:extLst>
              <a:ext uri="{FF2B5EF4-FFF2-40B4-BE49-F238E27FC236}">
                <a16:creationId xmlns:a16="http://schemas.microsoft.com/office/drawing/2014/main" id="{000D1782-90F2-CB08-87E5-9B908896A6AB}"/>
              </a:ext>
            </a:extLst>
          </p:cNvPr>
          <p:cNvSpPr txBox="1"/>
          <p:nvPr/>
        </p:nvSpPr>
        <p:spPr>
          <a:xfrm>
            <a:off x="142354" y="6380648"/>
            <a:ext cx="7343677" cy="461665"/>
          </a:xfrm>
          <a:prstGeom prst="rect">
            <a:avLst/>
          </a:prstGeom>
          <a:noFill/>
        </p:spPr>
        <p:txBody>
          <a:bodyPr wrap="none" rtlCol="0">
            <a:spAutoFit/>
          </a:bodyPr>
          <a:lstStyle/>
          <a:p>
            <a:r>
              <a:rPr kumimoji="1" lang="zh-CN" altLang="en-US" sz="1200" dirty="0">
                <a:solidFill>
                  <a:schemeClr val="bg1"/>
                </a:solidFill>
                <a:latin typeface="Times New Roman" panose="02020603050405020304" pitchFamily="18" charset="0"/>
                <a:cs typeface="Times New Roman" panose="02020603050405020304" pitchFamily="18" charset="0"/>
              </a:rPr>
              <a:t>图片来源：</a:t>
            </a:r>
            <a:r>
              <a:rPr kumimoji="1" lang="en" altLang="zh-CN" sz="1200" dirty="0">
                <a:solidFill>
                  <a:schemeClr val="bg1"/>
                </a:solidFill>
                <a:latin typeface="Times New Roman" panose="02020603050405020304" pitchFamily="18" charset="0"/>
                <a:cs typeface="Times New Roman" panose="02020603050405020304" pitchFamily="18" charset="0"/>
              </a:rPr>
              <a:t>Adorable Feline Friend | Pixel Art Cat</a:t>
            </a:r>
          </a:p>
          <a:p>
            <a:r>
              <a:rPr kumimoji="1" lang="en" altLang="zh-CN" sz="1200" dirty="0">
                <a:solidFill>
                  <a:schemeClr val="bg1"/>
                </a:solidFill>
                <a:latin typeface="Times New Roman" panose="02020603050405020304" pitchFamily="18" charset="0"/>
                <a:cs typeface="Times New Roman" panose="02020603050405020304" pitchFamily="18" charset="0"/>
              </a:rPr>
              <a:t>https://</a:t>
            </a:r>
            <a:r>
              <a:rPr kumimoji="1" lang="en" altLang="zh-CN" sz="1200" dirty="0" err="1">
                <a:solidFill>
                  <a:schemeClr val="bg1"/>
                </a:solidFill>
                <a:latin typeface="Times New Roman" panose="02020603050405020304" pitchFamily="18" charset="0"/>
                <a:cs typeface="Times New Roman" panose="02020603050405020304" pitchFamily="18" charset="0"/>
              </a:rPr>
              <a:t>wenku.csdn.net</a:t>
            </a:r>
            <a:r>
              <a:rPr kumimoji="1" lang="en" altLang="zh-CN" sz="1200" dirty="0">
                <a:solidFill>
                  <a:schemeClr val="bg1"/>
                </a:solidFill>
                <a:latin typeface="Times New Roman" panose="02020603050405020304" pitchFamily="18" charset="0"/>
                <a:cs typeface="Times New Roman" panose="02020603050405020304" pitchFamily="18" charset="0"/>
              </a:rPr>
              <a:t>/column/5vovwujy5c</a:t>
            </a:r>
            <a:r>
              <a:rPr kumimoji="1" lang="zh-CN" altLang="en-US" sz="1200" dirty="0">
                <a:solidFill>
                  <a:schemeClr val="bg1"/>
                </a:solidFill>
                <a:latin typeface="Times New Roman" panose="02020603050405020304" pitchFamily="18" charset="0"/>
                <a:cs typeface="Times New Roman" panose="02020603050405020304" pitchFamily="18" charset="0"/>
              </a:rPr>
              <a:t>、</a:t>
            </a:r>
            <a:r>
              <a:rPr kumimoji="1" lang="en" altLang="zh-CN" sz="1200" dirty="0">
                <a:solidFill>
                  <a:schemeClr val="bg1"/>
                </a:solidFill>
                <a:latin typeface="Times New Roman" panose="02020603050405020304" pitchFamily="18" charset="0"/>
                <a:cs typeface="Times New Roman" panose="02020603050405020304" pitchFamily="18" charset="0"/>
              </a:rPr>
              <a:t>http://www.360doc.com/content/23/0618/12/4162_1085211273.shtml</a:t>
            </a:r>
            <a:endParaRPr kumimoji="1" lang="en-US" altLang="zh-CN" sz="12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462059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B542-68F9-2F63-3F22-D93BAF6845C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D57CD63-1D09-23D5-17D6-46195B04EB56}"/>
              </a:ext>
            </a:extLst>
          </p:cNvPr>
          <p:cNvSpPr>
            <a:spLocks noGrp="1"/>
          </p:cNvSpPr>
          <p:nvPr>
            <p:ph type="title"/>
          </p:nvPr>
        </p:nvSpPr>
        <p:spPr/>
        <p:txBody>
          <a:bodyPr/>
          <a:lstStyle/>
          <a:p>
            <a:r>
              <a:rPr lang="zh-CN" altLang="en-US" dirty="0"/>
              <a:t>讨论：高维数据有什么特点？</a:t>
            </a:r>
            <a:r>
              <a:rPr lang="en-US" altLang="zh-CN" dirty="0"/>
              <a:t>(</a:t>
            </a:r>
            <a:r>
              <a:rPr lang="zh-CN" altLang="en-US" dirty="0"/>
              <a:t>假如我们生活在</a:t>
            </a:r>
            <a:r>
              <a:rPr lang="en-US" altLang="zh-CN" dirty="0"/>
              <a:t>1</a:t>
            </a:r>
            <a:r>
              <a:rPr lang="zh-CN" altLang="en-US" dirty="0"/>
              <a:t>千维的空间中</a:t>
            </a:r>
            <a:r>
              <a:rPr lang="en-US" altLang="zh-CN" dirty="0"/>
              <a:t>)</a:t>
            </a:r>
            <a:endParaRPr lang="zh-CN" altLang="en-US" dirty="0"/>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F1731C74-5967-2EA9-75C6-3785BA165F19}"/>
                  </a:ext>
                </a:extLst>
              </p:cNvPr>
              <p:cNvSpPr txBox="1"/>
              <p:nvPr/>
            </p:nvSpPr>
            <p:spPr>
              <a:xfrm>
                <a:off x="135194" y="1682291"/>
                <a:ext cx="12057049" cy="3917547"/>
              </a:xfrm>
              <a:prstGeom prst="rect">
                <a:avLst/>
              </a:prstGeom>
              <a:noFill/>
            </p:spPr>
            <p:txBody>
              <a:bodyPr wrap="square" rtlCol="0">
                <a:spAutoFit/>
              </a:bodyPr>
              <a:lstStyle/>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1. 100</a:t>
                </a:r>
                <a:r>
                  <a:rPr lang="zh-CN" altLang="en-US" sz="2400" b="1" dirty="0">
                    <a:solidFill>
                      <a:srgbClr val="070707"/>
                    </a:solidFill>
                    <a:latin typeface="微软雅黑" panose="020B0503020204020204" pitchFamily="34" charset="-122"/>
                    <a:ea typeface="微软雅黑" panose="020B0503020204020204" pitchFamily="34" charset="-122"/>
                  </a:rPr>
                  <a:t>万个人生活在</a:t>
                </a:r>
                <a:r>
                  <a:rPr lang="en-US" altLang="zh-CN" sz="2400" b="1" dirty="0">
                    <a:solidFill>
                      <a:srgbClr val="070707"/>
                    </a:solidFill>
                    <a:latin typeface="微软雅黑" panose="020B0503020204020204" pitchFamily="34" charset="-122"/>
                    <a:ea typeface="微软雅黑" panose="020B0503020204020204" pitchFamily="34" charset="-122"/>
                  </a:rPr>
                  <a:t>1000</a:t>
                </a:r>
                <a:r>
                  <a:rPr lang="zh-CN" altLang="en-US" sz="2400" b="1" dirty="0">
                    <a:solidFill>
                      <a:srgbClr val="070707"/>
                    </a:solidFill>
                    <a:latin typeface="微软雅黑" panose="020B0503020204020204" pitchFamily="34" charset="-122"/>
                    <a:ea typeface="微软雅黑" panose="020B0503020204020204" pitchFamily="34" charset="-122"/>
                  </a:rPr>
                  <a:t>维空间</a:t>
                </a:r>
                <a14:m>
                  <m:oMath xmlns:m="http://schemas.openxmlformats.org/officeDocument/2006/math">
                    <m:sSup>
                      <m:sSupPr>
                        <m:ctrlPr>
                          <a:rPr lang="en-US" altLang="zh-CN" sz="2400" b="1" i="1" smtClean="0">
                            <a:solidFill>
                              <a:srgbClr val="070707"/>
                            </a:solidFill>
                            <a:latin typeface="Cambria Math" panose="02040503050406030204" pitchFamily="18" charset="0"/>
                            <a:ea typeface="微软雅黑" panose="020B0503020204020204" pitchFamily="34" charset="-122"/>
                          </a:rPr>
                        </m:ctrlPr>
                      </m:sSupPr>
                      <m:e>
                        <m:d>
                          <m:dPr>
                            <m:begChr m:val="["/>
                            <m:endChr m:val="]"/>
                            <m:ctrlPr>
                              <a:rPr lang="en-US" altLang="zh-CN" sz="2400" b="1" i="1" smtClean="0">
                                <a:solidFill>
                                  <a:srgbClr val="070707"/>
                                </a:solidFill>
                                <a:latin typeface="Cambria Math" panose="02040503050406030204" pitchFamily="18" charset="0"/>
                                <a:ea typeface="微软雅黑" panose="020B0503020204020204" pitchFamily="34" charset="-122"/>
                              </a:rPr>
                            </m:ctrlPr>
                          </m:dPr>
                          <m:e>
                            <m:r>
                              <a:rPr lang="en-US" altLang="zh-CN" sz="2400" b="1" i="1" smtClean="0">
                                <a:solidFill>
                                  <a:srgbClr val="070707"/>
                                </a:solidFill>
                                <a:latin typeface="Cambria Math" panose="02040503050406030204" pitchFamily="18" charset="0"/>
                                <a:ea typeface="微软雅黑" panose="020B0503020204020204" pitchFamily="34" charset="-122"/>
                              </a:rPr>
                              <m:t>𝟎</m:t>
                            </m:r>
                            <m:r>
                              <a:rPr lang="en-US" altLang="zh-CN" sz="2400" b="1" i="1" smtClean="0">
                                <a:solidFill>
                                  <a:srgbClr val="070707"/>
                                </a:solidFill>
                                <a:latin typeface="Cambria Math" panose="02040503050406030204" pitchFamily="18" charset="0"/>
                                <a:ea typeface="微软雅黑" panose="020B0503020204020204" pitchFamily="34" charset="-122"/>
                              </a:rPr>
                              <m:t>,</m:t>
                            </m:r>
                            <m:r>
                              <a:rPr lang="en-US" altLang="zh-CN" sz="2400" b="1" i="1" smtClean="0">
                                <a:solidFill>
                                  <a:srgbClr val="070707"/>
                                </a:solidFill>
                                <a:latin typeface="Cambria Math" panose="02040503050406030204" pitchFamily="18" charset="0"/>
                                <a:ea typeface="微软雅黑" panose="020B0503020204020204" pitchFamily="34" charset="-122"/>
                              </a:rPr>
                              <m:t>𝟏</m:t>
                            </m:r>
                          </m:e>
                        </m:d>
                      </m:e>
                      <m:sup>
                        <m:r>
                          <a:rPr lang="en-US" altLang="zh-CN" sz="2400" b="1" i="1" smtClean="0">
                            <a:solidFill>
                              <a:srgbClr val="070707"/>
                            </a:solidFill>
                            <a:latin typeface="Cambria Math" panose="02040503050406030204" pitchFamily="18" charset="0"/>
                            <a:ea typeface="微软雅黑" panose="020B0503020204020204" pitchFamily="34" charset="-122"/>
                          </a:rPr>
                          <m:t>𝟏𝟎𝟎𝟎</m:t>
                        </m:r>
                      </m:sup>
                    </m:sSup>
                  </m:oMath>
                </a14:m>
                <a:r>
                  <a:rPr lang="zh-CN" altLang="en-US" sz="2400" b="1" dirty="0">
                    <a:solidFill>
                      <a:srgbClr val="070707"/>
                    </a:solidFill>
                    <a:latin typeface="微软雅黑" panose="020B0503020204020204" pitchFamily="34" charset="-122"/>
                    <a:ea typeface="微软雅黑" panose="020B0503020204020204" pitchFamily="34" charset="-122"/>
                  </a:rPr>
                  <a:t>中拥挤吗？</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2. </a:t>
                </a:r>
                <a:r>
                  <a:rPr lang="zh-CN" altLang="en-US" sz="2400" b="1" dirty="0">
                    <a:solidFill>
                      <a:srgbClr val="070707"/>
                    </a:solidFill>
                    <a:latin typeface="微软雅黑" panose="020B0503020204020204" pitchFamily="34" charset="-122"/>
                    <a:ea typeface="微软雅黑" panose="020B0503020204020204" pitchFamily="34" charset="-122"/>
                  </a:rPr>
                  <a:t>你和朋友分配一块直径为</a:t>
                </a:r>
                <a:r>
                  <a:rPr lang="en-US" altLang="zh-CN" sz="2400" b="1" dirty="0">
                    <a:solidFill>
                      <a:srgbClr val="070707"/>
                    </a:solidFill>
                    <a:latin typeface="微软雅黑" panose="020B0503020204020204" pitchFamily="34" charset="-122"/>
                    <a:ea typeface="微软雅黑" panose="020B0503020204020204" pitchFamily="34" charset="-122"/>
                  </a:rPr>
                  <a:t>1</a:t>
                </a:r>
                <a:r>
                  <a:rPr lang="zh-CN" altLang="en-US" sz="2400" b="1" dirty="0">
                    <a:solidFill>
                      <a:srgbClr val="070707"/>
                    </a:solidFill>
                    <a:latin typeface="微软雅黑" panose="020B0503020204020204" pitchFamily="34" charset="-122"/>
                    <a:ea typeface="微软雅黑" panose="020B0503020204020204" pitchFamily="34" charset="-122"/>
                  </a:rPr>
                  <a:t>的球形领地，你选中心直径为</a:t>
                </a:r>
                <a:r>
                  <a:rPr lang="en-US" altLang="zh-CN" sz="2400" b="1" dirty="0">
                    <a:solidFill>
                      <a:srgbClr val="070707"/>
                    </a:solidFill>
                    <a:latin typeface="微软雅黑" panose="020B0503020204020204" pitchFamily="34" charset="-122"/>
                    <a:ea typeface="微软雅黑" panose="020B0503020204020204" pitchFamily="34" charset="-122"/>
                  </a:rPr>
                  <a:t>0.99</a:t>
                </a:r>
                <a:r>
                  <a:rPr lang="zh-CN" altLang="en-US" sz="2400" b="1" dirty="0">
                    <a:solidFill>
                      <a:srgbClr val="070707"/>
                    </a:solidFill>
                    <a:latin typeface="微软雅黑" panose="020B0503020204020204" pitchFamily="34" charset="-122"/>
                    <a:ea typeface="微软雅黑" panose="020B0503020204020204" pitchFamily="34" charset="-122"/>
                  </a:rPr>
                  <a:t>的领地，还是外周领地？</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3. </a:t>
                </a:r>
                <a:r>
                  <a:rPr lang="zh-CN" altLang="en-US" sz="2400" b="1" dirty="0">
                    <a:solidFill>
                      <a:srgbClr val="070707"/>
                    </a:solidFill>
                    <a:latin typeface="微软雅黑" panose="020B0503020204020204" pitchFamily="34" charset="-122"/>
                    <a:ea typeface="微软雅黑" panose="020B0503020204020204" pitchFamily="34" charset="-122"/>
                  </a:rPr>
                  <a:t>你和朋友被分别随机传送到了领地内，你们之间距离多远？夹角有多大？</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4. </a:t>
                </a:r>
                <a:r>
                  <a:rPr lang="zh-CN" altLang="en-US" sz="2400" b="1" dirty="0">
                    <a:solidFill>
                      <a:srgbClr val="070707"/>
                    </a:solidFill>
                    <a:latin typeface="微软雅黑" panose="020B0503020204020204" pitchFamily="34" charset="-122"/>
                    <a:ea typeface="微软雅黑" panose="020B0503020204020204" pitchFamily="34" charset="-122"/>
                  </a:rPr>
                  <a:t>你在探索世界，每天可以探索边长为</a:t>
                </a:r>
                <a:r>
                  <a:rPr lang="en-US" altLang="zh-CN" sz="2400" b="1" dirty="0">
                    <a:solidFill>
                      <a:srgbClr val="070707"/>
                    </a:solidFill>
                    <a:latin typeface="微软雅黑" panose="020B0503020204020204" pitchFamily="34" charset="-122"/>
                    <a:ea typeface="微软雅黑" panose="020B0503020204020204" pitchFamily="34" charset="-122"/>
                  </a:rPr>
                  <a:t>0.5</a:t>
                </a:r>
                <a:r>
                  <a:rPr lang="zh-CN" altLang="en-US" sz="2400" b="1" dirty="0">
                    <a:solidFill>
                      <a:srgbClr val="070707"/>
                    </a:solidFill>
                    <a:latin typeface="微软雅黑" panose="020B0503020204020204" pitchFamily="34" charset="-122"/>
                    <a:ea typeface="微软雅黑" panose="020B0503020204020204" pitchFamily="34" charset="-122"/>
                  </a:rPr>
                  <a:t>的方块区域，需要多少年？</a:t>
                </a:r>
                <a:endParaRPr lang="en-US" altLang="zh-CN" sz="2400" b="1"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10" name="文本框 9">
                <a:extLst>
                  <a:ext uri="{FF2B5EF4-FFF2-40B4-BE49-F238E27FC236}">
                    <a16:creationId xmlns:a16="http://schemas.microsoft.com/office/drawing/2014/main" id="{F1731C74-5967-2EA9-75C6-3785BA165F19}"/>
                  </a:ext>
                </a:extLst>
              </p:cNvPr>
              <p:cNvSpPr txBox="1">
                <a:spLocks noRot="1" noChangeAspect="1" noMove="1" noResize="1" noEditPoints="1" noAdjustHandles="1" noChangeArrowheads="1" noChangeShapeType="1" noTextEdit="1"/>
              </p:cNvSpPr>
              <p:nvPr/>
            </p:nvSpPr>
            <p:spPr>
              <a:xfrm>
                <a:off x="135194" y="1682291"/>
                <a:ext cx="12057049" cy="3917547"/>
              </a:xfrm>
              <a:prstGeom prst="rect">
                <a:avLst/>
              </a:prstGeom>
              <a:blipFill>
                <a:blip r:embed="rId2"/>
                <a:stretch>
                  <a:fillRect l="-758" r="-809" b="-264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12356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5C12C-63F4-83E9-05D2-46ADEB0A7B5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FAA3B93-EC8E-B916-76F4-37DC93023D10}"/>
              </a:ext>
            </a:extLst>
          </p:cNvPr>
          <p:cNvSpPr>
            <a:spLocks noGrp="1"/>
          </p:cNvSpPr>
          <p:nvPr>
            <p:ph type="title"/>
          </p:nvPr>
        </p:nvSpPr>
        <p:spPr/>
        <p:txBody>
          <a:bodyPr/>
          <a:lstStyle/>
          <a:p>
            <a:r>
              <a:rPr lang="zh-CN" altLang="en-US" dirty="0"/>
              <a:t>高维空间中数据的稀疏性</a:t>
            </a:r>
          </a:p>
        </p:txBody>
      </p:sp>
      <p:sp>
        <p:nvSpPr>
          <p:cNvPr id="10" name="文本框 9">
            <a:extLst>
              <a:ext uri="{FF2B5EF4-FFF2-40B4-BE49-F238E27FC236}">
                <a16:creationId xmlns:a16="http://schemas.microsoft.com/office/drawing/2014/main" id="{5781C0BF-1CD8-4C6F-D134-5BF339C98927}"/>
              </a:ext>
            </a:extLst>
          </p:cNvPr>
          <p:cNvSpPr txBox="1"/>
          <p:nvPr/>
        </p:nvSpPr>
        <p:spPr>
          <a:xfrm>
            <a:off x="381242" y="3283501"/>
            <a:ext cx="11811001" cy="581057"/>
          </a:xfrm>
          <a:prstGeom prst="rect">
            <a:avLst/>
          </a:prstGeom>
          <a:noFill/>
        </p:spPr>
        <p:txBody>
          <a:bodyPr wrap="square" rtlCol="0">
            <a:spAutoFit/>
          </a:bodyPr>
          <a:lstStyle/>
          <a:p>
            <a:pPr algn="l">
              <a:lnSpc>
                <a:spcPct val="150000"/>
              </a:lnSpc>
            </a:pPr>
            <a:r>
              <a:rPr lang="zh-CN" altLang="en-US" sz="2400" b="1" dirty="0">
                <a:solidFill>
                  <a:srgbClr val="070707"/>
                </a:solidFill>
                <a:latin typeface="微软雅黑" panose="020B0503020204020204" pitchFamily="34" charset="-122"/>
                <a:ea typeface="微软雅黑" panose="020B0503020204020204" pitchFamily="34" charset="-122"/>
              </a:rPr>
              <a:t>简单的实验</a:t>
            </a:r>
            <a:endParaRPr lang="zh-CN" altLang="en-US" sz="2400" b="1" dirty="0">
              <a:solidFill>
                <a:schemeClr val="bg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398C9973-CBBB-AC25-8DE3-5C06895A8C49}"/>
                  </a:ext>
                </a:extLst>
              </p:cNvPr>
              <p:cNvSpPr txBox="1"/>
              <p:nvPr/>
            </p:nvSpPr>
            <p:spPr>
              <a:xfrm>
                <a:off x="322627" y="873849"/>
                <a:ext cx="10721009" cy="2079737"/>
              </a:xfrm>
              <a:prstGeom prst="rect">
                <a:avLst/>
              </a:prstGeom>
              <a:noFill/>
            </p:spPr>
            <p:txBody>
              <a:bodyPr wrap="square" rtlCol="0">
                <a:spAutoFit/>
              </a:bodyPr>
              <a:lstStyle/>
              <a:p>
                <a:pPr marL="285750" indent="-285750">
                  <a:lnSpc>
                    <a:spcPct val="125000"/>
                  </a:lnSpc>
                  <a:buFont typeface="Wingdings" pitchFamily="2" charset="2"/>
                  <a:buChar char="Ø"/>
                </a:pPr>
                <a:r>
                  <a:rPr kumimoji="1" lang="en" altLang="zh-CN" sz="2000" dirty="0">
                    <a:solidFill>
                      <a:srgbClr val="000000"/>
                    </a:solidFill>
                    <a:latin typeface="Microsoft YaHei" panose="020B0503020204020204" pitchFamily="34" charset="-122"/>
                    <a:ea typeface="Microsoft YaHei" panose="020B0503020204020204" pitchFamily="34" charset="-122"/>
                  </a:rPr>
                  <a:t>d </a:t>
                </a:r>
                <a:r>
                  <a:rPr kumimoji="1" lang="zh-CN" altLang="en-US" sz="2000" dirty="0">
                    <a:solidFill>
                      <a:srgbClr val="000000"/>
                    </a:solidFill>
                    <a:latin typeface="Microsoft YaHei" panose="020B0503020204020204" pitchFamily="34" charset="-122"/>
                    <a:ea typeface="Microsoft YaHei" panose="020B0503020204020204" pitchFamily="34" charset="-122"/>
                  </a:rPr>
                  <a:t>维单位超立方体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d>
                          <m:dPr>
                            <m:begChr m:val="["/>
                            <m:endChr m:val="]"/>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000" b="0" i="1" smtClean="0">
                                <a:solidFill>
                                  <a:srgbClr val="000000"/>
                                </a:solidFill>
                                <a:latin typeface="Cambria Math" panose="02040503050406030204" pitchFamily="18" charset="0"/>
                                <a:ea typeface="Microsoft YaHei" panose="020B0503020204020204" pitchFamily="34" charset="-122"/>
                              </a:rPr>
                              <m:t>0, 1</m:t>
                            </m:r>
                          </m:e>
                        </m:d>
                      </m:e>
                      <m:sup>
                        <m:r>
                          <a:rPr kumimoji="1" lang="en-US" altLang="zh-CN" sz="2000" b="0" i="1" smtClean="0">
                            <a:solidFill>
                              <a:srgbClr val="000000"/>
                            </a:solidFill>
                            <a:latin typeface="Cambria Math" panose="02040503050406030204" pitchFamily="18" charset="0"/>
                            <a:ea typeface="Microsoft YaHei" panose="020B0503020204020204" pitchFamily="34" charset="-122"/>
                          </a:rPr>
                          <m:t>𝑑</m:t>
                        </m:r>
                      </m:sup>
                    </m:sSup>
                  </m:oMath>
                </a14:m>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内随机撒下 </a:t>
                </a:r>
                <a:r>
                  <a:rPr kumimoji="1" lang="en-US" altLang="zh-CN" sz="2000" dirty="0">
                    <a:solidFill>
                      <a:srgbClr val="000000"/>
                    </a:solidFill>
                    <a:latin typeface="Microsoft YaHei" panose="020B0503020204020204" pitchFamily="34" charset="-122"/>
                    <a:ea typeface="Microsoft YaHei" panose="020B0503020204020204" pitchFamily="34" charset="-122"/>
                  </a:rPr>
                  <a:t>n</a:t>
                </a:r>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个点</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划分为 </a:t>
                </a:r>
                <a:r>
                  <a:rPr kumimoji="1" lang="en" altLang="zh-CN" sz="2000" dirty="0">
                    <a:solidFill>
                      <a:srgbClr val="000000"/>
                    </a:solidFill>
                    <a:latin typeface="Microsoft YaHei" panose="020B0503020204020204" pitchFamily="34" charset="-122"/>
                    <a:ea typeface="Microsoft YaHei" panose="020B0503020204020204" pitchFamily="34" charset="-122"/>
                  </a:rPr>
                  <a:t>k </a:t>
                </a:r>
                <a:r>
                  <a:rPr kumimoji="1" lang="zh-CN" altLang="en-US" sz="2000" dirty="0">
                    <a:solidFill>
                      <a:srgbClr val="000000"/>
                    </a:solidFill>
                    <a:latin typeface="Microsoft YaHei" panose="020B0503020204020204" pitchFamily="34" charset="-122"/>
                    <a:ea typeface="Microsoft YaHei" panose="020B0503020204020204" pitchFamily="34" charset="-122"/>
                  </a:rPr>
                  <a:t>个等长的子区间 </a:t>
                </a:r>
                <a14:m>
                  <m:oMath xmlns:m="http://schemas.openxmlformats.org/officeDocument/2006/math">
                    <m:r>
                      <a:rPr kumimoji="1" lang="zh-CN" altLang="en-US" sz="2000" i="1" smtClean="0">
                        <a:solidFill>
                          <a:srgbClr val="000000"/>
                        </a:solidFill>
                        <a:latin typeface="Cambria Math" panose="02040503050406030204" pitchFamily="18" charset="0"/>
                        <a:ea typeface="Microsoft YaHei" panose="020B0503020204020204" pitchFamily="34" charset="-122"/>
                      </a:rPr>
                      <m:t>⟹</m:t>
                    </m:r>
                  </m:oMath>
                </a14:m>
                <a:r>
                  <a:rPr kumimoji="1" lang="en-US"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共分割成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𝑘</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𝑑</m:t>
                        </m:r>
                      </m:sup>
                    </m:sSup>
                  </m:oMath>
                </a14:m>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个小立方体</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确保每个小立方体至少有一个数据点：</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a:lnSpc>
                    <a:spcPct val="125000"/>
                  </a:lnSpc>
                </a:pPr>
                <a14:m>
                  <m:oMathPara xmlns:m="http://schemas.openxmlformats.org/officeDocument/2006/math">
                    <m:oMathParaPr>
                      <m:jc m:val="centerGroup"/>
                    </m:oMathParaPr>
                    <m:oMath xmlns:m="http://schemas.openxmlformats.org/officeDocument/2006/math">
                      <m:r>
                        <a:rPr kumimoji="1" lang="en-US" altLang="zh-CN" sz="2400" b="0" i="1" smtClean="0">
                          <a:solidFill>
                            <a:srgbClr val="000000"/>
                          </a:solidFill>
                          <a:latin typeface="Cambria Math" panose="02040503050406030204" pitchFamily="18" charset="0"/>
                          <a:ea typeface="Microsoft YaHei" panose="020B0503020204020204" pitchFamily="34" charset="-122"/>
                        </a:rPr>
                        <m:t>𝑛</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sSup>
                        <m:sSup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400" b="0" i="1" smtClean="0">
                              <a:solidFill>
                                <a:srgbClr val="000000"/>
                              </a:solidFill>
                              <a:latin typeface="Cambria Math" panose="02040503050406030204" pitchFamily="18" charset="0"/>
                              <a:ea typeface="Microsoft YaHei" panose="020B0503020204020204" pitchFamily="34" charset="-122"/>
                            </a:rPr>
                            <m:t>𝑘</m:t>
                          </m:r>
                        </m:e>
                        <m:sup>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sup>
                      </m:sSup>
                    </m:oMath>
                  </m:oMathPara>
                </a14:m>
                <a:br>
                  <a:rPr kumimoji="1" lang="en-US" altLang="zh-CN" sz="2000" dirty="0">
                    <a:solidFill>
                      <a:srgbClr val="000000"/>
                    </a:solidFill>
                    <a:latin typeface="Microsoft YaHei" panose="020B0503020204020204" pitchFamily="34" charset="-122"/>
                    <a:ea typeface="Microsoft YaHei" panose="020B0503020204020204" pitchFamily="34" charset="-122"/>
                  </a:rPr>
                </a:br>
                <a14:m>
                  <m:oMath xmlns:m="http://schemas.openxmlformats.org/officeDocument/2006/math">
                    <m:r>
                      <a:rPr kumimoji="1" lang="en-US" altLang="zh-CN" sz="2000" i="1" smtClean="0">
                        <a:solidFill>
                          <a:srgbClr val="000000"/>
                        </a:solidFill>
                        <a:latin typeface="Cambria Math" panose="02040503050406030204" pitchFamily="18" charset="0"/>
                        <a:ea typeface="Cambria Math" panose="02040503050406030204" pitchFamily="18" charset="0"/>
                      </a:rPr>
                      <m:t>⟹</m:t>
                    </m:r>
                  </m:oMath>
                </a14:m>
                <a:r>
                  <a:rPr kumimoji="1" lang="zh-CN" altLang="en-US" sz="2000" dirty="0">
                    <a:solidFill>
                      <a:srgbClr val="000000"/>
                    </a:solidFill>
                    <a:latin typeface="Microsoft YaHei" panose="020B0503020204020204" pitchFamily="34" charset="-122"/>
                    <a:ea typeface="Microsoft YaHei" panose="020B0503020204020204" pitchFamily="34" charset="-122"/>
                  </a:rPr>
                  <a:t>样本量 </a:t>
                </a:r>
                <a:r>
                  <a:rPr kumimoji="1" lang="en-US" altLang="zh-CN" sz="2000" dirty="0">
                    <a:solidFill>
                      <a:srgbClr val="000000"/>
                    </a:solidFill>
                    <a:latin typeface="Microsoft YaHei" panose="020B0503020204020204" pitchFamily="34" charset="-122"/>
                    <a:ea typeface="Microsoft YaHei" panose="020B0503020204020204" pitchFamily="34" charset="-122"/>
                  </a:rPr>
                  <a:t>n </a:t>
                </a:r>
                <a:r>
                  <a:rPr kumimoji="1" lang="zh-CN" altLang="en-US" sz="2000" dirty="0">
                    <a:solidFill>
                      <a:srgbClr val="000000"/>
                    </a:solidFill>
                    <a:latin typeface="Microsoft YaHei" panose="020B0503020204020204" pitchFamily="34" charset="-122"/>
                    <a:ea typeface="Microsoft YaHei" panose="020B0503020204020204" pitchFamily="34" charset="-122"/>
                  </a:rPr>
                  <a:t>需要随维数 </a:t>
                </a:r>
                <a:r>
                  <a:rPr kumimoji="1" lang="en-US" altLang="zh-CN" sz="2000" dirty="0">
                    <a:solidFill>
                      <a:srgbClr val="000000"/>
                    </a:solidFill>
                    <a:latin typeface="Microsoft YaHei" panose="020B0503020204020204" pitchFamily="34" charset="-122"/>
                    <a:ea typeface="Microsoft YaHei" panose="020B0503020204020204" pitchFamily="34" charset="-122"/>
                  </a:rPr>
                  <a:t>d </a:t>
                </a:r>
                <a:r>
                  <a:rPr kumimoji="1" lang="zh-CN" altLang="en-US" sz="2000" b="1" dirty="0">
                    <a:solidFill>
                      <a:srgbClr val="000000"/>
                    </a:solidFill>
                    <a:latin typeface="Microsoft YaHei" panose="020B0503020204020204" pitchFamily="34" charset="-122"/>
                    <a:ea typeface="Microsoft YaHei" panose="020B0503020204020204" pitchFamily="34" charset="-122"/>
                  </a:rPr>
                  <a:t>指数级增长</a:t>
                </a:r>
                <a:r>
                  <a:rPr kumimoji="1" lang="zh-CN" altLang="en-US" sz="2000" dirty="0">
                    <a:solidFill>
                      <a:srgbClr val="000000"/>
                    </a:solidFill>
                    <a:latin typeface="Microsoft YaHei" panose="020B0503020204020204" pitchFamily="34" charset="-122"/>
                    <a:ea typeface="Microsoft YaHei" panose="020B0503020204020204" pitchFamily="34" charset="-122"/>
                  </a:rPr>
                  <a:t>。</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398C9973-CBBB-AC25-8DE3-5C06895A8C49}"/>
                  </a:ext>
                </a:extLst>
              </p:cNvPr>
              <p:cNvSpPr txBox="1">
                <a:spLocks noRot="1" noChangeAspect="1" noMove="1" noResize="1" noEditPoints="1" noAdjustHandles="1" noChangeArrowheads="1" noChangeShapeType="1" noTextEdit="1"/>
              </p:cNvSpPr>
              <p:nvPr/>
            </p:nvSpPr>
            <p:spPr>
              <a:xfrm>
                <a:off x="322627" y="873849"/>
                <a:ext cx="10721009" cy="2079737"/>
              </a:xfrm>
              <a:prstGeom prst="rect">
                <a:avLst/>
              </a:prstGeom>
              <a:blipFill>
                <a:blip r:embed="rId2"/>
                <a:stretch>
                  <a:fillRect l="-473" b="-4242"/>
                </a:stretch>
              </a:blipFill>
            </p:spPr>
            <p:txBody>
              <a:bodyPr/>
              <a:lstStyle/>
              <a:p>
                <a:r>
                  <a:rPr lang="zh-CN" altLang="en-US">
                    <a:noFill/>
                  </a:rPr>
                  <a:t> </a:t>
                </a:r>
              </a:p>
            </p:txBody>
          </p:sp>
        </mc:Fallback>
      </mc:AlternateContent>
      <p:pic>
        <p:nvPicPr>
          <p:cNvPr id="3074" name="Picture 2" descr="The Curse of Dimensionality (part 1) – m0nads">
            <a:extLst>
              <a:ext uri="{FF2B5EF4-FFF2-40B4-BE49-F238E27FC236}">
                <a16:creationId xmlns:a16="http://schemas.microsoft.com/office/drawing/2014/main" id="{ECB86F0E-4194-100C-8268-66CC90393D1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13" t="14872" r="8122" b="5366"/>
          <a:stretch/>
        </p:blipFill>
        <p:spPr bwMode="auto">
          <a:xfrm>
            <a:off x="8904298" y="761979"/>
            <a:ext cx="2718453" cy="2131842"/>
          </a:xfrm>
          <a:prstGeom prst="rect">
            <a:avLst/>
          </a:prstGeom>
          <a:noFill/>
          <a:extLst>
            <a:ext uri="{909E8E84-426E-40DD-AFC4-6F175D3DCCD1}">
              <a14:hiddenFill xmlns:a14="http://schemas.microsoft.com/office/drawing/2010/main">
                <a:solidFill>
                  <a:srgbClr val="FFFFFF"/>
                </a:solidFill>
              </a14:hiddenFill>
            </a:ext>
          </a:extLst>
        </p:spPr>
      </p:pic>
      <p:sp>
        <p:nvSpPr>
          <p:cNvPr id="6" name="矩形 5">
            <a:extLst>
              <a:ext uri="{FF2B5EF4-FFF2-40B4-BE49-F238E27FC236}">
                <a16:creationId xmlns:a16="http://schemas.microsoft.com/office/drawing/2014/main" id="{14C20A06-8921-1134-A146-2894E3848EDE}"/>
              </a:ext>
            </a:extLst>
          </p:cNvPr>
          <p:cNvSpPr/>
          <p:nvPr/>
        </p:nvSpPr>
        <p:spPr>
          <a:xfrm>
            <a:off x="9197810" y="2768705"/>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立方体内随机采样</a:t>
            </a:r>
          </a:p>
        </p:txBody>
      </p:sp>
      <p:pic>
        <p:nvPicPr>
          <p:cNvPr id="7" name="图片 6">
            <a:extLst>
              <a:ext uri="{FF2B5EF4-FFF2-40B4-BE49-F238E27FC236}">
                <a16:creationId xmlns:a16="http://schemas.microsoft.com/office/drawing/2014/main" id="{E9A5C5DC-214D-7C84-B7E4-BB806A1CB291}"/>
              </a:ext>
            </a:extLst>
          </p:cNvPr>
          <p:cNvPicPr>
            <a:picLocks noChangeAspect="1"/>
          </p:cNvPicPr>
          <p:nvPr/>
        </p:nvPicPr>
        <p:blipFill>
          <a:blip r:embed="rId4"/>
          <a:stretch>
            <a:fillRect/>
          </a:stretch>
        </p:blipFill>
        <p:spPr>
          <a:xfrm>
            <a:off x="8490858" y="3283501"/>
            <a:ext cx="3546894" cy="2990932"/>
          </a:xfrm>
          <a:prstGeom prst="rect">
            <a:avLst/>
          </a:prstGeom>
        </p:spPr>
      </p:pic>
      <p:sp>
        <p:nvSpPr>
          <p:cNvPr id="9" name="文本框 8">
            <a:extLst>
              <a:ext uri="{FF2B5EF4-FFF2-40B4-BE49-F238E27FC236}">
                <a16:creationId xmlns:a16="http://schemas.microsoft.com/office/drawing/2014/main" id="{5FA001F0-01BC-5C76-1DF3-73C3532F9997}"/>
              </a:ext>
            </a:extLst>
          </p:cNvPr>
          <p:cNvSpPr txBox="1"/>
          <p:nvPr/>
        </p:nvSpPr>
        <p:spPr>
          <a:xfrm>
            <a:off x="322627" y="4442511"/>
            <a:ext cx="4773402" cy="1422890"/>
          </a:xfrm>
          <a:prstGeom prst="rect">
            <a:avLst/>
          </a:prstGeom>
          <a:noFill/>
        </p:spPr>
        <p:txBody>
          <a:bodyPr wrap="square" rtlCol="0">
            <a:spAutoFit/>
          </a:bodyPr>
          <a:lstStyle/>
          <a:p>
            <a:pPr algn="l">
              <a:lnSpc>
                <a:spcPct val="150000"/>
              </a:lnSpc>
            </a:pPr>
            <a:r>
              <a:rPr kumimoji="1" lang="zh-CN" altLang="en-US" sz="2000" b="1" dirty="0">
                <a:latin typeface="Microsoft YaHei" panose="020B0503020204020204" pitchFamily="34" charset="-122"/>
                <a:ea typeface="Microsoft YaHei" panose="020B0503020204020204" pitchFamily="34" charset="-122"/>
              </a:rPr>
              <a:t>高维空间几乎是“空的”：</a:t>
            </a:r>
            <a:endParaRPr kumimoji="1" lang="en-US" altLang="zh-CN" sz="2000" b="1" dirty="0">
              <a:latin typeface="Microsoft YaHei" panose="020B0503020204020204" pitchFamily="34" charset="-122"/>
              <a:ea typeface="Microsoft YaHei" panose="020B0503020204020204" pitchFamily="34" charset="-122"/>
            </a:endParaRPr>
          </a:p>
          <a:p>
            <a:pPr algn="l">
              <a:lnSpc>
                <a:spcPct val="150000"/>
              </a:lnSpc>
            </a:pPr>
            <a:r>
              <a:rPr kumimoji="1" lang="zh-CN" altLang="en-US" sz="2000" b="1" dirty="0">
                <a:solidFill>
                  <a:srgbClr val="000000"/>
                </a:solidFill>
                <a:latin typeface="Microsoft YaHei" panose="020B0503020204020204" pitchFamily="34" charset="-122"/>
                <a:ea typeface="Microsoft YaHei" panose="020B0503020204020204" pitchFamily="34" charset="-122"/>
              </a:rPr>
              <a:t>一旦空间的维数变得足够高，在实际应用中采集到的数据点几乎可以忽略不计</a:t>
            </a:r>
          </a:p>
        </p:txBody>
      </p:sp>
      <p:sp>
        <p:nvSpPr>
          <p:cNvPr id="11" name="椭圆形标注 10">
            <a:extLst>
              <a:ext uri="{FF2B5EF4-FFF2-40B4-BE49-F238E27FC236}">
                <a16:creationId xmlns:a16="http://schemas.microsoft.com/office/drawing/2014/main" id="{A6B6374F-6552-D50B-D5BC-18F23CDE0603}"/>
              </a:ext>
            </a:extLst>
          </p:cNvPr>
          <p:cNvSpPr/>
          <p:nvPr/>
        </p:nvSpPr>
        <p:spPr>
          <a:xfrm>
            <a:off x="4847208" y="3950563"/>
            <a:ext cx="2749106" cy="682434"/>
          </a:xfrm>
          <a:prstGeom prst="wedgeEllipseCallout">
            <a:avLst>
              <a:gd name="adj1" fmla="val 136518"/>
              <a:gd name="adj2" fmla="val 6515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CN" sz="1600" b="1" dirty="0">
                <a:solidFill>
                  <a:srgbClr val="C00000"/>
                </a:solidFill>
                <a:latin typeface="Microsoft YaHei" panose="020B0503020204020204" pitchFamily="34" charset="-122"/>
                <a:ea typeface="Microsoft YaHei" panose="020B0503020204020204" pitchFamily="34" charset="-122"/>
              </a:rPr>
              <a:t>10000 </a:t>
            </a:r>
            <a:r>
              <a:rPr kumimoji="1" lang="zh-CN" altLang="en-US" sz="1600" b="1" dirty="0">
                <a:solidFill>
                  <a:srgbClr val="C00000"/>
                </a:solidFill>
                <a:latin typeface="Microsoft YaHei" panose="020B0503020204020204" pitchFamily="34" charset="-122"/>
                <a:ea typeface="Microsoft YaHei" panose="020B0503020204020204" pitchFamily="34" charset="-122"/>
              </a:rPr>
              <a:t>个样本</a:t>
            </a:r>
            <a:r>
              <a:rPr kumimoji="1" lang="en-US" altLang="zh-CN" sz="1600" b="1" dirty="0">
                <a:solidFill>
                  <a:srgbClr val="C00000"/>
                </a:solidFill>
                <a:latin typeface="Microsoft YaHei" panose="020B0503020204020204" pitchFamily="34" charset="-122"/>
                <a:ea typeface="Microsoft YaHei" panose="020B0503020204020204" pitchFamily="34" charset="-122"/>
              </a:rPr>
              <a:t>20</a:t>
            </a:r>
            <a:r>
              <a:rPr kumimoji="1" lang="zh-CN" altLang="en-US" sz="1600" b="1" dirty="0">
                <a:solidFill>
                  <a:srgbClr val="C00000"/>
                </a:solidFill>
                <a:latin typeface="Microsoft YaHei" panose="020B0503020204020204" pitchFamily="34" charset="-122"/>
                <a:ea typeface="Microsoft YaHei" panose="020B0503020204020204" pitchFamily="34" charset="-122"/>
              </a:rPr>
              <a:t>维空间中极度稀疏</a:t>
            </a:r>
          </a:p>
        </p:txBody>
      </p:sp>
      <p:sp>
        <p:nvSpPr>
          <p:cNvPr id="2" name="文本框 1">
            <a:extLst>
              <a:ext uri="{FF2B5EF4-FFF2-40B4-BE49-F238E27FC236}">
                <a16:creationId xmlns:a16="http://schemas.microsoft.com/office/drawing/2014/main" id="{EF0A29E0-4E79-DF7B-4B3E-11E2A9DFEE77}"/>
              </a:ext>
            </a:extLst>
          </p:cNvPr>
          <p:cNvSpPr txBox="1"/>
          <p:nvPr/>
        </p:nvSpPr>
        <p:spPr>
          <a:xfrm>
            <a:off x="4962919" y="5691579"/>
            <a:ext cx="3940783" cy="400110"/>
          </a:xfrm>
          <a:prstGeom prst="rect">
            <a:avLst/>
          </a:prstGeom>
          <a:noFill/>
        </p:spPr>
        <p:txBody>
          <a:bodyPr wrap="square" rtlCol="0">
            <a:spAutoFit/>
          </a:bodyPr>
          <a:lstStyle/>
          <a:p>
            <a:pPr algn="l"/>
            <a:r>
              <a:rPr lang="zh-CN" altLang="en-US" sz="2000" dirty="0"/>
              <a:t>思考：为什么这阶段比例不下降？</a:t>
            </a:r>
          </a:p>
        </p:txBody>
      </p:sp>
      <p:sp>
        <p:nvSpPr>
          <p:cNvPr id="5" name="箭头: 右 4">
            <a:extLst>
              <a:ext uri="{FF2B5EF4-FFF2-40B4-BE49-F238E27FC236}">
                <a16:creationId xmlns:a16="http://schemas.microsoft.com/office/drawing/2014/main" id="{2640F189-6185-31BC-2AA9-6CE752494B00}"/>
              </a:ext>
            </a:extLst>
          </p:cNvPr>
          <p:cNvSpPr/>
          <p:nvPr/>
        </p:nvSpPr>
        <p:spPr>
          <a:xfrm rot="19373411">
            <a:off x="7562852" y="4635948"/>
            <a:ext cx="3015982" cy="1443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15203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C7089-9A62-CCE9-986E-718E5F4A8BC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6CBAADD-5FE5-51FE-A8BC-A09261F5EB2A}"/>
              </a:ext>
            </a:extLst>
          </p:cNvPr>
          <p:cNvSpPr>
            <a:spLocks noGrp="1"/>
          </p:cNvSpPr>
          <p:nvPr>
            <p:ph type="title"/>
          </p:nvPr>
        </p:nvSpPr>
        <p:spPr/>
        <p:txBody>
          <a:bodyPr/>
          <a:lstStyle/>
          <a:p>
            <a:r>
              <a:rPr lang="zh-CN" altLang="en-US" dirty="0"/>
              <a:t>数据的稀疏性：在高维图像空间中采样</a:t>
            </a:r>
          </a:p>
        </p:txBody>
      </p:sp>
      <p:sp>
        <p:nvSpPr>
          <p:cNvPr id="4" name="文本框 3">
            <a:extLst>
              <a:ext uri="{FF2B5EF4-FFF2-40B4-BE49-F238E27FC236}">
                <a16:creationId xmlns:a16="http://schemas.microsoft.com/office/drawing/2014/main" id="{D9A200CC-579A-A06A-553D-6C4BC7C2ED84}"/>
              </a:ext>
            </a:extLst>
          </p:cNvPr>
          <p:cNvSpPr txBox="1"/>
          <p:nvPr/>
        </p:nvSpPr>
        <p:spPr>
          <a:xfrm>
            <a:off x="241292" y="881702"/>
            <a:ext cx="11429516" cy="499560"/>
          </a:xfrm>
          <a:prstGeom prst="rect">
            <a:avLst/>
          </a:prstGeom>
          <a:noFill/>
        </p:spPr>
        <p:txBody>
          <a:bodyPr wrap="square" rtlCol="0">
            <a:spAutoFit/>
          </a:bodyPr>
          <a:lstStyle/>
          <a:p>
            <a:pPr marL="285750" indent="-285750" algn="l">
              <a:lnSpc>
                <a:spcPct val="150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图像数据位于非常高维的空间：一张 </a:t>
            </a:r>
            <a:r>
              <a:rPr kumimoji="1" lang="en-US" altLang="zh-CN" sz="2000" dirty="0">
                <a:solidFill>
                  <a:srgbClr val="000000"/>
                </a:solidFill>
                <a:latin typeface="Microsoft YaHei" panose="020B0503020204020204" pitchFamily="34" charset="-122"/>
                <a:ea typeface="Microsoft YaHei" panose="020B0503020204020204" pitchFamily="34" charset="-122"/>
              </a:rPr>
              <a:t>256x256</a:t>
            </a:r>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的灰度图像可以看作是一个</a:t>
            </a:r>
            <a:r>
              <a:rPr kumimoji="1" lang="en-US" altLang="zh-CN" sz="2000" dirty="0">
                <a:solidFill>
                  <a:srgbClr val="000000"/>
                </a:solidFill>
                <a:latin typeface="Microsoft YaHei" panose="020B0503020204020204" pitchFamily="34" charset="-122"/>
                <a:ea typeface="Microsoft YaHei" panose="020B0503020204020204" pitchFamily="34" charset="-122"/>
              </a:rPr>
              <a:t> 65536 </a:t>
            </a:r>
            <a:r>
              <a:rPr kumimoji="1" lang="zh-CN" altLang="en-US" sz="2000" dirty="0">
                <a:solidFill>
                  <a:srgbClr val="000000"/>
                </a:solidFill>
                <a:latin typeface="Microsoft YaHei" panose="020B0503020204020204" pitchFamily="34" charset="-122"/>
                <a:ea typeface="Microsoft YaHei" panose="020B0503020204020204" pitchFamily="34" charset="-122"/>
              </a:rPr>
              <a:t>维的向量</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p:txBody>
      </p:sp>
      <p:pic>
        <p:nvPicPr>
          <p:cNvPr id="6" name="图片 5">
            <a:extLst>
              <a:ext uri="{FF2B5EF4-FFF2-40B4-BE49-F238E27FC236}">
                <a16:creationId xmlns:a16="http://schemas.microsoft.com/office/drawing/2014/main" id="{C5221F0A-3C8F-0DDA-8F18-9CA1FCA6F4E8}"/>
              </a:ext>
            </a:extLst>
          </p:cNvPr>
          <p:cNvPicPr>
            <a:picLocks noChangeAspect="1"/>
          </p:cNvPicPr>
          <p:nvPr/>
        </p:nvPicPr>
        <p:blipFill>
          <a:blip r:embed="rId2"/>
          <a:stretch>
            <a:fillRect/>
          </a:stretch>
        </p:blipFill>
        <p:spPr>
          <a:xfrm>
            <a:off x="1077683" y="1696467"/>
            <a:ext cx="2826856" cy="3170995"/>
          </a:xfrm>
          <a:prstGeom prst="rect">
            <a:avLst/>
          </a:prstGeom>
        </p:spPr>
      </p:pic>
      <p:pic>
        <p:nvPicPr>
          <p:cNvPr id="7" name="Picture 4" descr="How to Create Consistent Characters with DALL-E 3">
            <a:extLst>
              <a:ext uri="{FF2B5EF4-FFF2-40B4-BE49-F238E27FC236}">
                <a16:creationId xmlns:a16="http://schemas.microsoft.com/office/drawing/2014/main" id="{6B462315-3641-4C3A-5A76-DD0F33B0C1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0129" y="1696467"/>
            <a:ext cx="3011377" cy="3011377"/>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DC71ADF-134C-6882-0123-915656E8A0C2}"/>
              </a:ext>
            </a:extLst>
          </p:cNvPr>
          <p:cNvSpPr txBox="1"/>
          <p:nvPr/>
        </p:nvSpPr>
        <p:spPr>
          <a:xfrm>
            <a:off x="6904383" y="6175512"/>
            <a:ext cx="2160079" cy="412934"/>
          </a:xfrm>
          <a:prstGeom prst="rect">
            <a:avLst/>
          </a:prstGeom>
          <a:noFill/>
        </p:spPr>
        <p:txBody>
          <a:bodyPr wrap="none" rtlCol="0">
            <a:spAutoFit/>
          </a:bodyPr>
          <a:lstStyle/>
          <a:p>
            <a:pPr algn="l">
              <a:lnSpc>
                <a:spcPct val="125000"/>
              </a:lnSpc>
            </a:pPr>
            <a:r>
              <a:rPr kumimoji="1" lang="en-US" altLang="zh-CN" dirty="0">
                <a:ea typeface="Microsoft YaHei" panose="020B0503020204020204" pitchFamily="34" charset="-122"/>
              </a:rPr>
              <a:t>Generated by DALL-E</a:t>
            </a:r>
            <a:endParaRPr kumimoji="1" lang="zh-CN" altLang="en-US" dirty="0">
              <a:ea typeface="Microsoft YaHei" panose="020B0503020204020204" pitchFamily="34" charset="-122"/>
            </a:endParaRPr>
          </a:p>
        </p:txBody>
      </p:sp>
      <p:sp>
        <p:nvSpPr>
          <p:cNvPr id="9" name="矩形 8">
            <a:extLst>
              <a:ext uri="{FF2B5EF4-FFF2-40B4-BE49-F238E27FC236}">
                <a16:creationId xmlns:a16="http://schemas.microsoft.com/office/drawing/2014/main" id="{ADBAB3CD-8663-0054-9B3F-DC48566CF3D8}"/>
              </a:ext>
            </a:extLst>
          </p:cNvPr>
          <p:cNvSpPr/>
          <p:nvPr/>
        </p:nvSpPr>
        <p:spPr>
          <a:xfrm>
            <a:off x="1060702" y="5161533"/>
            <a:ext cx="2456905" cy="761979"/>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高维图像空间中随机采样：“雪花图”</a:t>
            </a:r>
          </a:p>
        </p:txBody>
      </p:sp>
      <p:sp>
        <p:nvSpPr>
          <p:cNvPr id="11" name="矩形 10">
            <a:extLst>
              <a:ext uri="{FF2B5EF4-FFF2-40B4-BE49-F238E27FC236}">
                <a16:creationId xmlns:a16="http://schemas.microsoft.com/office/drawing/2014/main" id="{76347704-9F6E-8DED-31B9-F8829047154B}"/>
              </a:ext>
            </a:extLst>
          </p:cNvPr>
          <p:cNvSpPr/>
          <p:nvPr/>
        </p:nvSpPr>
        <p:spPr>
          <a:xfrm>
            <a:off x="5355771" y="5161533"/>
            <a:ext cx="5191125" cy="761979"/>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特殊的算法和模型设计</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zh-CN" altLang="en-US" b="1" dirty="0">
                <a:solidFill>
                  <a:srgbClr val="C00000"/>
                </a:solidFill>
                <a:latin typeface="Microsoft YaHei" panose="020B0503020204020204" pitchFamily="34" charset="-122"/>
                <a:ea typeface="Microsoft YaHei" panose="020B0503020204020204" pitchFamily="34" charset="-122"/>
              </a:rPr>
              <a:t>例如生成对抗网络</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en" altLang="zh-CN" b="1" dirty="0">
                <a:solidFill>
                  <a:srgbClr val="C00000"/>
                </a:solidFill>
                <a:latin typeface="Microsoft YaHei" panose="020B0503020204020204" pitchFamily="34" charset="-122"/>
                <a:ea typeface="Microsoft YaHei" panose="020B0503020204020204" pitchFamily="34" charset="-122"/>
              </a:rPr>
              <a:t>GAN)</a:t>
            </a:r>
            <a:r>
              <a:rPr kumimoji="1" lang="zh-CN" altLang="en-US" b="1" dirty="0">
                <a:solidFill>
                  <a:srgbClr val="C00000"/>
                </a:solidFill>
                <a:latin typeface="Microsoft YaHei" panose="020B0503020204020204" pitchFamily="34" charset="-122"/>
                <a:ea typeface="Microsoft YaHei" panose="020B0503020204020204" pitchFamily="34" charset="-122"/>
              </a:rPr>
              <a:t>和扩散模型</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en" altLang="zh-CN" b="1" dirty="0">
                <a:solidFill>
                  <a:srgbClr val="C00000"/>
                </a:solidFill>
                <a:latin typeface="Microsoft YaHei" panose="020B0503020204020204" pitchFamily="34" charset="-122"/>
                <a:ea typeface="Microsoft YaHei" panose="020B0503020204020204" pitchFamily="34" charset="-122"/>
              </a:rPr>
              <a:t>Diffusion Model)</a:t>
            </a:r>
            <a:r>
              <a:rPr kumimoji="1" lang="zh-CN" altLang="en" b="1" dirty="0">
                <a:solidFill>
                  <a:srgbClr val="C00000"/>
                </a:solidFill>
                <a:latin typeface="Microsoft YaHei" panose="020B0503020204020204" pitchFamily="34" charset="-122"/>
                <a:ea typeface="Microsoft YaHei" panose="020B0503020204020204" pitchFamily="34" charset="-122"/>
              </a:rPr>
              <a:t>生成</a:t>
            </a:r>
            <a:r>
              <a:rPr kumimoji="1" lang="zh-CN" altLang="en-US" b="1" dirty="0">
                <a:solidFill>
                  <a:srgbClr val="C00000"/>
                </a:solidFill>
                <a:latin typeface="Microsoft YaHei" panose="020B0503020204020204" pitchFamily="34" charset="-122"/>
                <a:ea typeface="Microsoft YaHei" panose="020B0503020204020204" pitchFamily="34" charset="-122"/>
              </a:rPr>
              <a:t>的图像</a:t>
            </a:r>
          </a:p>
        </p:txBody>
      </p:sp>
    </p:spTree>
    <p:extLst>
      <p:ext uri="{BB962C8B-B14F-4D97-AF65-F5344CB8AC3E}">
        <p14:creationId xmlns:p14="http://schemas.microsoft.com/office/powerpoint/2010/main" val="27306396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5610D-9745-FBFE-481A-AE4DADA6281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59E5383-E537-E421-39BC-6B6BA46D5D5D}"/>
              </a:ext>
            </a:extLst>
          </p:cNvPr>
          <p:cNvSpPr>
            <a:spLocks noGrp="1"/>
          </p:cNvSpPr>
          <p:nvPr>
            <p:ph type="title"/>
          </p:nvPr>
        </p:nvSpPr>
        <p:spPr/>
        <p:txBody>
          <a:bodyPr/>
          <a:lstStyle/>
          <a:p>
            <a:r>
              <a:rPr lang="zh-CN" altLang="en-US" b="1" dirty="0">
                <a:latin typeface="Microsoft YaHei" panose="020B0503020204020204" pitchFamily="34" charset="-122"/>
                <a:ea typeface="Microsoft YaHei" panose="020B0503020204020204" pitchFamily="34" charset="-122"/>
              </a:rPr>
              <a:t>体积集中在表面的特性</a:t>
            </a:r>
            <a:endParaRPr lang="zh-CN" altLang="en-US" dirty="0">
              <a:latin typeface="Microsoft YaHei" panose="020B0503020204020204" pitchFamily="34" charset="-122"/>
              <a:ea typeface="Microsoft YaHei" panose="020B0503020204020204" pitchFamily="34" charset="-122"/>
            </a:endParaRPr>
          </a:p>
        </p:txBody>
      </p:sp>
      <p:sp>
        <p:nvSpPr>
          <p:cNvPr id="12" name="文本框 11">
            <a:extLst>
              <a:ext uri="{FF2B5EF4-FFF2-40B4-BE49-F238E27FC236}">
                <a16:creationId xmlns:a16="http://schemas.microsoft.com/office/drawing/2014/main" id="{1D6AD865-7A7A-B71C-CBFC-BCAB5186006A}"/>
              </a:ext>
            </a:extLst>
          </p:cNvPr>
          <p:cNvSpPr txBox="1"/>
          <p:nvPr/>
        </p:nvSpPr>
        <p:spPr>
          <a:xfrm>
            <a:off x="247870" y="1025299"/>
            <a:ext cx="11009940" cy="1451679"/>
          </a:xfrm>
          <a:prstGeom prst="rect">
            <a:avLst/>
          </a:prstGeom>
          <a:noFill/>
        </p:spPr>
        <p:txBody>
          <a:bodyPr wrap="square" rtlCol="0">
            <a:spAutoFit/>
          </a:bodyPr>
          <a:lstStyle/>
          <a:p>
            <a:pPr marL="285750" indent="-285750" algn="l">
              <a:lnSpc>
                <a:spcPct val="125000"/>
              </a:lnSpc>
              <a:buFont typeface="Wingdings" pitchFamily="2" charset="2"/>
              <a:buChar char="Ø"/>
            </a:pPr>
            <a:r>
              <a:rPr kumimoji="1" lang="zh-CN" altLang="en-US" dirty="0">
                <a:solidFill>
                  <a:srgbClr val="000000"/>
                </a:solidFill>
                <a:latin typeface="Microsoft YaHei" panose="020B0503020204020204" pitchFamily="34" charset="-122"/>
                <a:ea typeface="Microsoft YaHei" panose="020B0503020204020204" pitchFamily="34" charset="-122"/>
              </a:rPr>
              <a:t>考虑一个位于 </a:t>
            </a:r>
            <a:r>
              <a:rPr kumimoji="1" lang="en" altLang="zh-CN" b="1" dirty="0">
                <a:solidFill>
                  <a:srgbClr val="C00000"/>
                </a:solidFill>
                <a:latin typeface="Microsoft YaHei" panose="020B0503020204020204" pitchFamily="34" charset="-122"/>
                <a:ea typeface="Microsoft YaHei" panose="020B0503020204020204" pitchFamily="34" charset="-122"/>
              </a:rPr>
              <a:t>d </a:t>
            </a:r>
            <a:r>
              <a:rPr kumimoji="1" lang="zh-CN" altLang="en-US" b="1" dirty="0">
                <a:solidFill>
                  <a:srgbClr val="C00000"/>
                </a:solidFill>
                <a:latin typeface="Microsoft YaHei" panose="020B0503020204020204" pitchFamily="34" charset="-122"/>
                <a:ea typeface="Microsoft YaHei" panose="020B0503020204020204" pitchFamily="34" charset="-122"/>
              </a:rPr>
              <a:t>维</a:t>
            </a:r>
            <a:r>
              <a:rPr kumimoji="1" lang="zh-CN" altLang="en-US" dirty="0">
                <a:solidFill>
                  <a:srgbClr val="000000"/>
                </a:solidFill>
                <a:latin typeface="Microsoft YaHei" panose="020B0503020204020204" pitchFamily="34" charset="-122"/>
                <a:ea typeface="Microsoft YaHei" panose="020B0503020204020204" pitchFamily="34" charset="-122"/>
              </a:rPr>
              <a:t>欧氏空间中的对象 </a:t>
            </a:r>
            <a:r>
              <a:rPr kumimoji="1" lang="el-GR" altLang="zh-CN" dirty="0">
                <a:solidFill>
                  <a:srgbClr val="000000"/>
                </a:solidFill>
                <a:latin typeface="Microsoft YaHei" panose="020B0503020204020204" pitchFamily="34" charset="-122"/>
                <a:ea typeface="Microsoft YaHei" panose="020B0503020204020204" pitchFamily="34" charset="-122"/>
              </a:rPr>
              <a:t>Ω</a:t>
            </a:r>
            <a:r>
              <a:rPr kumimoji="1" lang="zh-CN" altLang="en-US" dirty="0">
                <a:solidFill>
                  <a:srgbClr val="000000"/>
                </a:solidFill>
                <a:latin typeface="Microsoft YaHei" panose="020B0503020204020204" pitchFamily="34" charset="-122"/>
                <a:ea typeface="Microsoft YaHei" panose="020B0503020204020204" pitchFamily="34" charset="-122"/>
              </a:rPr>
              <a:t>，将对象 </a:t>
            </a:r>
            <a:r>
              <a:rPr kumimoji="1" lang="el-GR" altLang="zh-CN" dirty="0">
                <a:solidFill>
                  <a:srgbClr val="000000"/>
                </a:solidFill>
                <a:latin typeface="Microsoft YaHei" panose="020B0503020204020204" pitchFamily="34" charset="-122"/>
                <a:ea typeface="Microsoft YaHei" panose="020B0503020204020204" pitchFamily="34" charset="-122"/>
              </a:rPr>
              <a:t>Ω </a:t>
            </a:r>
            <a:r>
              <a:rPr kumimoji="1" lang="zh-CN" altLang="en-US" dirty="0">
                <a:solidFill>
                  <a:srgbClr val="000000"/>
                </a:solidFill>
                <a:latin typeface="Microsoft YaHei" panose="020B0503020204020204" pitchFamily="34" charset="-122"/>
                <a:ea typeface="Microsoft YaHei" panose="020B0503020204020204" pitchFamily="34" charset="-122"/>
              </a:rPr>
              <a:t>的</a:t>
            </a:r>
            <a:r>
              <a:rPr kumimoji="1" lang="zh-CN" altLang="en-US" b="1" dirty="0">
                <a:solidFill>
                  <a:srgbClr val="C00000"/>
                </a:solidFill>
                <a:latin typeface="Microsoft YaHei" panose="020B0503020204020204" pitchFamily="34" charset="-122"/>
                <a:ea typeface="Microsoft YaHei" panose="020B0503020204020204" pitchFamily="34" charset="-122"/>
              </a:rPr>
              <a:t>每个维度缩小一个微小的比例 </a:t>
            </a:r>
            <a:r>
              <a:rPr kumimoji="1" lang="el-GR" altLang="zh-CN" b="1" dirty="0">
                <a:solidFill>
                  <a:srgbClr val="C00000"/>
                </a:solidFill>
                <a:latin typeface="Microsoft YaHei" panose="020B0503020204020204" pitchFamily="34" charset="-122"/>
                <a:ea typeface="Microsoft YaHei" panose="020B0503020204020204" pitchFamily="34" charset="-122"/>
              </a:rPr>
              <a:t>ε</a:t>
            </a:r>
            <a:r>
              <a:rPr kumimoji="1" lang="el-GR" altLang="zh-CN" dirty="0">
                <a:solidFill>
                  <a:srgbClr val="000000"/>
                </a:solidFill>
                <a:latin typeface="Microsoft YaHei" panose="020B0503020204020204" pitchFamily="34" charset="-122"/>
                <a:ea typeface="Microsoft YaHei" panose="020B0503020204020204" pitchFamily="34" charset="-122"/>
              </a:rPr>
              <a:t>, </a:t>
            </a:r>
            <a:r>
              <a:rPr kumimoji="1" lang="zh-CN" altLang="en-US" dirty="0">
                <a:solidFill>
                  <a:srgbClr val="000000"/>
                </a:solidFill>
                <a:latin typeface="Microsoft YaHei" panose="020B0503020204020204" pitchFamily="34" charset="-122"/>
                <a:ea typeface="Microsoft YaHei" panose="020B0503020204020204" pitchFamily="34" charset="-122"/>
              </a:rPr>
              <a:t>得到一个新的内部对象 </a:t>
            </a:r>
            <a:r>
              <a:rPr kumimoji="1" lang="en-US" altLang="zh-CN" dirty="0">
                <a:solidFill>
                  <a:srgbClr val="000000"/>
                </a:solidFill>
                <a:latin typeface="Microsoft YaHei" panose="020B0503020204020204" pitchFamily="34" charset="-122"/>
                <a:ea typeface="Microsoft YaHei" panose="020B0503020204020204" pitchFamily="34" charset="-122"/>
              </a:rPr>
              <a:t>(1 − </a:t>
            </a:r>
            <a:r>
              <a:rPr kumimoji="1" lang="el-GR" altLang="zh-CN" dirty="0">
                <a:solidFill>
                  <a:srgbClr val="000000"/>
                </a:solidFill>
                <a:latin typeface="Microsoft YaHei" panose="020B0503020204020204" pitchFamily="34" charset="-122"/>
                <a:ea typeface="Microsoft YaHei" panose="020B0503020204020204" pitchFamily="34" charset="-122"/>
              </a:rPr>
              <a:t>ε)Ω,</a:t>
            </a:r>
            <a:endParaRPr kumimoji="1"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gn="l">
              <a:lnSpc>
                <a:spcPct val="125000"/>
              </a:lnSpc>
              <a:buFont typeface="Wingdings" pitchFamily="2" charset="2"/>
              <a:buChar char="Ø"/>
            </a:pPr>
            <a:r>
              <a:rPr kumimoji="1" lang="zh-CN" altLang="en-US" dirty="0">
                <a:solidFill>
                  <a:srgbClr val="000000"/>
                </a:solidFill>
                <a:latin typeface="Microsoft YaHei" panose="020B0503020204020204" pitchFamily="34" charset="-122"/>
                <a:ea typeface="Microsoft YaHei" panose="020B0503020204020204" pitchFamily="34" charset="-122"/>
              </a:rPr>
              <a:t>两个对象的体积之比满足</a:t>
            </a:r>
            <a:r>
              <a:rPr kumimoji="1" lang="en-US" altLang="zh-CN" dirty="0">
                <a:solidFill>
                  <a:srgbClr val="000000"/>
                </a:solidFill>
                <a:latin typeface="Microsoft YaHei" panose="020B0503020204020204" pitchFamily="34" charset="-122"/>
                <a:ea typeface="Microsoft YaHei" panose="020B0503020204020204" pitchFamily="34" charset="-122"/>
              </a:rPr>
              <a:t>: </a:t>
            </a: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13" name="图片 12">
            <a:extLst>
              <a:ext uri="{FF2B5EF4-FFF2-40B4-BE49-F238E27FC236}">
                <a16:creationId xmlns:a16="http://schemas.microsoft.com/office/drawing/2014/main" id="{794A2BF9-2D49-69E3-5015-C3D31E6B36F3}"/>
              </a:ext>
            </a:extLst>
          </p:cNvPr>
          <p:cNvPicPr>
            <a:picLocks noChangeAspect="1"/>
          </p:cNvPicPr>
          <p:nvPr/>
        </p:nvPicPr>
        <p:blipFill>
          <a:blip r:embed="rId2"/>
          <a:stretch>
            <a:fillRect/>
          </a:stretch>
        </p:blipFill>
        <p:spPr>
          <a:xfrm>
            <a:off x="1714947" y="2199507"/>
            <a:ext cx="2621967" cy="795109"/>
          </a:xfrm>
          <a:prstGeom prst="rect">
            <a:avLst/>
          </a:prstGeom>
        </p:spPr>
      </p:pic>
      <p:pic>
        <p:nvPicPr>
          <p:cNvPr id="14" name="图片 13">
            <a:extLst>
              <a:ext uri="{FF2B5EF4-FFF2-40B4-BE49-F238E27FC236}">
                <a16:creationId xmlns:a16="http://schemas.microsoft.com/office/drawing/2014/main" id="{EB26BA2E-E168-E151-84CA-16E5FCD710A6}"/>
              </a:ext>
            </a:extLst>
          </p:cNvPr>
          <p:cNvPicPr>
            <a:picLocks noChangeAspect="1"/>
          </p:cNvPicPr>
          <p:nvPr/>
        </p:nvPicPr>
        <p:blipFill>
          <a:blip r:embed="rId3"/>
          <a:stretch>
            <a:fillRect/>
          </a:stretch>
        </p:blipFill>
        <p:spPr>
          <a:xfrm>
            <a:off x="4598484" y="2290540"/>
            <a:ext cx="3321080" cy="697623"/>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A1334846-DEB8-8929-55B3-3F6CA43FB80C}"/>
                  </a:ext>
                </a:extLst>
              </p:cNvPr>
              <p:cNvSpPr txBox="1"/>
              <p:nvPr/>
            </p:nvSpPr>
            <p:spPr>
              <a:xfrm>
                <a:off x="284346" y="3108220"/>
                <a:ext cx="11429516" cy="753220"/>
              </a:xfrm>
              <a:prstGeom prst="rect">
                <a:avLst/>
              </a:prstGeom>
              <a:noFill/>
            </p:spPr>
            <p:txBody>
              <a:bodyPr wrap="square" rtlCol="0">
                <a:spAutoFit/>
              </a:bodyPr>
              <a:lstStyle/>
              <a:p>
                <a:pPr marL="285750" indent="-285750" algn="l">
                  <a:lnSpc>
                    <a:spcPct val="125000"/>
                  </a:lnSpc>
                  <a:buFont typeface="Wingdings" pitchFamily="2" charset="2"/>
                  <a:buChar char="Ø"/>
                </a:pPr>
                <a14:m>
                  <m:oMath xmlns:m="http://schemas.openxmlformats.org/officeDocument/2006/math">
                    <m:r>
                      <a:rPr kumimoji="1" lang="zh-CN" altLang="en-US" i="1" smtClean="0">
                        <a:solidFill>
                          <a:srgbClr val="000000"/>
                        </a:solidFill>
                        <a:latin typeface="Cambria Math" panose="02040503050406030204" pitchFamily="18" charset="0"/>
                        <a:ea typeface="Microsoft YaHei" panose="020B0503020204020204" pitchFamily="34" charset="-122"/>
                      </a:rPr>
                      <m:t>⟹</m:t>
                    </m:r>
                  </m:oMath>
                </a14:m>
                <a:r>
                  <a:rPr kumimoji="1" lang="zh-CN" altLang="en-US" dirty="0">
                    <a:solidFill>
                      <a:srgbClr val="000000"/>
                    </a:solidFill>
                    <a:latin typeface="Microsoft YaHei" panose="020B0503020204020204" pitchFamily="34" charset="-122"/>
                    <a:ea typeface="Microsoft YaHei" panose="020B0503020204020204" pitchFamily="34" charset="-122"/>
                  </a:rPr>
                  <a:t> 当维数 </a:t>
                </a:r>
                <a:r>
                  <a:rPr kumimoji="1" lang="en" altLang="zh-CN" dirty="0">
                    <a:solidFill>
                      <a:srgbClr val="000000"/>
                    </a:solidFill>
                    <a:latin typeface="Microsoft YaHei" panose="020B0503020204020204" pitchFamily="34" charset="-122"/>
                    <a:ea typeface="Microsoft YaHei" panose="020B0503020204020204" pitchFamily="34" charset="-122"/>
                  </a:rPr>
                  <a:t>d </a:t>
                </a:r>
                <a:r>
                  <a:rPr kumimoji="1" lang="zh-CN" altLang="en-US" dirty="0">
                    <a:solidFill>
                      <a:srgbClr val="000000"/>
                    </a:solidFill>
                    <a:latin typeface="Microsoft YaHei" panose="020B0503020204020204" pitchFamily="34" charset="-122"/>
                    <a:ea typeface="Microsoft YaHei" panose="020B0503020204020204" pitchFamily="34" charset="-122"/>
                  </a:rPr>
                  <a:t>足够大时</a:t>
                </a:r>
                <a:r>
                  <a:rPr kumimoji="1" lang="en-US" altLang="zh-CN" dirty="0">
                    <a:solidFill>
                      <a:srgbClr val="000000"/>
                    </a:solidFill>
                    <a:latin typeface="Microsoft YaHei" panose="020B0503020204020204" pitchFamily="34" charset="-122"/>
                    <a:ea typeface="Microsoft YaHei" panose="020B0503020204020204" pitchFamily="34" charset="-122"/>
                  </a:rPr>
                  <a:t>, </a:t>
                </a:r>
                <a:r>
                  <a:rPr kumimoji="1" lang="zh-CN" altLang="en-US" dirty="0">
                    <a:solidFill>
                      <a:srgbClr val="000000"/>
                    </a:solidFill>
                    <a:latin typeface="Microsoft YaHei" panose="020B0503020204020204" pitchFamily="34" charset="-122"/>
                    <a:ea typeface="Microsoft YaHei" panose="020B0503020204020204" pitchFamily="34" charset="-122"/>
                  </a:rPr>
                  <a:t>几乎所有的体积都集中在 </a:t>
                </a:r>
                <a:r>
                  <a:rPr kumimoji="1" lang="el-GR" altLang="zh-CN" dirty="0">
                    <a:solidFill>
                      <a:srgbClr val="000000"/>
                    </a:solidFill>
                    <a:latin typeface="Microsoft YaHei" panose="020B0503020204020204" pitchFamily="34" charset="-122"/>
                    <a:ea typeface="Microsoft YaHei" panose="020B0503020204020204" pitchFamily="34" charset="-122"/>
                  </a:rPr>
                  <a:t>Ω </a:t>
                </a:r>
                <a:r>
                  <a:rPr kumimoji="1" lang="zh-CN" altLang="en-US" dirty="0">
                    <a:solidFill>
                      <a:srgbClr val="000000"/>
                    </a:solidFill>
                    <a:latin typeface="Microsoft YaHei" panose="020B0503020204020204" pitchFamily="34" charset="-122"/>
                    <a:ea typeface="Microsoft YaHei" panose="020B0503020204020204" pitchFamily="34" charset="-122"/>
                  </a:rPr>
                  <a:t>的</a:t>
                </a:r>
                <a:r>
                  <a:rPr kumimoji="1" lang="zh-CN" altLang="en-US" b="1" dirty="0">
                    <a:solidFill>
                      <a:srgbClr val="B61516"/>
                    </a:solidFill>
                    <a:latin typeface="Microsoft YaHei" panose="020B0503020204020204" pitchFamily="34" charset="-122"/>
                    <a:ea typeface="Microsoft YaHei" panose="020B0503020204020204" pitchFamily="34" charset="-122"/>
                  </a:rPr>
                  <a:t>表面附近的薄层区域 </a:t>
                </a:r>
                <a:r>
                  <a:rPr kumimoji="1" lang="el-GR" altLang="zh-CN" dirty="0">
                    <a:solidFill>
                      <a:srgbClr val="000000"/>
                    </a:solidFill>
                    <a:latin typeface="Microsoft YaHei" panose="020B0503020204020204" pitchFamily="34" charset="-122"/>
                    <a:ea typeface="Microsoft YaHei" panose="020B0503020204020204" pitchFamily="34" charset="-122"/>
                  </a:rPr>
                  <a:t>Ω \ (1 − ε)Ω </a:t>
                </a:r>
                <a:r>
                  <a:rPr kumimoji="1" lang="zh-CN" altLang="en-US" dirty="0">
                    <a:solidFill>
                      <a:srgbClr val="000000"/>
                    </a:solidFill>
                    <a:latin typeface="Microsoft YaHei" panose="020B0503020204020204" pitchFamily="34" charset="-122"/>
                    <a:ea typeface="Microsoft YaHei" panose="020B0503020204020204" pitchFamily="34" charset="-122"/>
                  </a:rPr>
                  <a:t>内</a:t>
                </a:r>
                <a:r>
                  <a:rPr kumimoji="1" lang="zh-CN" altLang="en-US" dirty="0">
                    <a:solidFill>
                      <a:srgbClr val="000000"/>
                    </a:solidFill>
                    <a:latin typeface="微软雅黑" panose="020B0503020204020204" pitchFamily="34" charset="-122"/>
                    <a:ea typeface="微软雅黑" panose="020B0503020204020204" pitchFamily="34" charset="-122"/>
                  </a:rPr>
                  <a:t>，</a:t>
                </a:r>
                <a14:m>
                  <m:oMath xmlns:m="http://schemas.openxmlformats.org/officeDocument/2006/math">
                    <m:r>
                      <a:rPr kumimoji="1" lang="en-US" altLang="zh-CN" b="0" i="1" smtClean="0">
                        <a:solidFill>
                          <a:srgbClr val="000000"/>
                        </a:solidFill>
                        <a:latin typeface="Cambria Math" panose="02040503050406030204" pitchFamily="18" charset="0"/>
                        <a:ea typeface="Microsoft YaHei" panose="020B0503020204020204" pitchFamily="34" charset="-122"/>
                      </a:rPr>
                      <m:t>𝜖</m:t>
                    </m:r>
                    <m:r>
                      <a:rPr kumimoji="1" lang="en-US" altLang="zh-CN" b="0" i="1" smtClean="0">
                        <a:solidFill>
                          <a:srgbClr val="000000"/>
                        </a:solidFill>
                        <a:latin typeface="Cambria Math" panose="02040503050406030204" pitchFamily="18" charset="0"/>
                        <a:ea typeface="Microsoft YaHei" panose="020B0503020204020204" pitchFamily="34" charset="-122"/>
                      </a:rPr>
                      <m:t>=0.01</m:t>
                    </m:r>
                  </m:oMath>
                </a14:m>
                <a:r>
                  <a:rPr kumimoji="1" lang="zh-CN" altLang="en-US" dirty="0">
                    <a:solidFill>
                      <a:srgbClr val="000000"/>
                    </a:solidFill>
                    <a:latin typeface="微软雅黑" panose="020B0503020204020204" pitchFamily="34" charset="-122"/>
                    <a:ea typeface="微软雅黑" panose="020B0503020204020204" pitchFamily="34" charset="-122"/>
                  </a:rPr>
                  <a:t>时：</a:t>
                </a: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A1334846-DEB8-8929-55B3-3F6CA43FB80C}"/>
                  </a:ext>
                </a:extLst>
              </p:cNvPr>
              <p:cNvSpPr txBox="1">
                <a:spLocks noRot="1" noChangeAspect="1" noMove="1" noResize="1" noEditPoints="1" noAdjustHandles="1" noChangeArrowheads="1" noChangeShapeType="1" noTextEdit="1"/>
              </p:cNvSpPr>
              <p:nvPr/>
            </p:nvSpPr>
            <p:spPr>
              <a:xfrm>
                <a:off x="284346" y="3108220"/>
                <a:ext cx="11429516" cy="753220"/>
              </a:xfrm>
              <a:prstGeom prst="rect">
                <a:avLst/>
              </a:prstGeom>
              <a:blipFill>
                <a:blip r:embed="rId4"/>
                <a:stretch>
                  <a:fillRect l="-373"/>
                </a:stretch>
              </a:blipFill>
            </p:spPr>
            <p:txBody>
              <a:bodyPr/>
              <a:lstStyle/>
              <a:p>
                <a:r>
                  <a:rPr lang="zh-CN" altLang="en-US">
                    <a:noFill/>
                  </a:rPr>
                  <a:t> </a:t>
                </a:r>
              </a:p>
            </p:txBody>
          </p:sp>
        </mc:Fallback>
      </mc:AlternateContent>
      <p:pic>
        <p:nvPicPr>
          <p:cNvPr id="16" name="图片 15">
            <a:extLst>
              <a:ext uri="{FF2B5EF4-FFF2-40B4-BE49-F238E27FC236}">
                <a16:creationId xmlns:a16="http://schemas.microsoft.com/office/drawing/2014/main" id="{5F17880A-AD51-9708-2B07-A596C58282AB}"/>
              </a:ext>
            </a:extLst>
          </p:cNvPr>
          <p:cNvPicPr>
            <a:picLocks noChangeAspect="1"/>
          </p:cNvPicPr>
          <p:nvPr/>
        </p:nvPicPr>
        <p:blipFill>
          <a:blip r:embed="rId5"/>
          <a:stretch>
            <a:fillRect/>
          </a:stretch>
        </p:blipFill>
        <p:spPr>
          <a:xfrm>
            <a:off x="1650311" y="3651186"/>
            <a:ext cx="8725128" cy="1710631"/>
          </a:xfrm>
          <a:prstGeom prst="rect">
            <a:avLst/>
          </a:prstGeom>
        </p:spPr>
      </p:pic>
      <p:sp>
        <p:nvSpPr>
          <p:cNvPr id="19" name="椭圆形标注 18">
            <a:extLst>
              <a:ext uri="{FF2B5EF4-FFF2-40B4-BE49-F238E27FC236}">
                <a16:creationId xmlns:a16="http://schemas.microsoft.com/office/drawing/2014/main" id="{FD814E02-13E5-5E46-1079-7CD7E493C65D}"/>
              </a:ext>
            </a:extLst>
          </p:cNvPr>
          <p:cNvSpPr/>
          <p:nvPr/>
        </p:nvSpPr>
        <p:spPr>
          <a:xfrm>
            <a:off x="10094026" y="4388517"/>
            <a:ext cx="2097974" cy="973300"/>
          </a:xfrm>
          <a:prstGeom prst="wedgeEllipseCallout">
            <a:avLst>
              <a:gd name="adj1" fmla="val -152962"/>
              <a:gd name="adj2" fmla="val 88143"/>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b="1" dirty="0">
                <a:solidFill>
                  <a:srgbClr val="C00000"/>
                </a:solidFill>
                <a:latin typeface="Microsoft YaHei" panose="020B0503020204020204" pitchFamily="34" charset="-122"/>
                <a:ea typeface="Microsoft YaHei" panose="020B0503020204020204" pitchFamily="34" charset="-122"/>
              </a:rPr>
              <a:t>体积集中在表面会对采样有什么影响？</a:t>
            </a:r>
            <a:endParaRPr kumimoji="1" lang="zh-CN" altLang="en-US" sz="1600" dirty="0">
              <a:solidFill>
                <a:srgbClr val="C00000"/>
              </a:solidFill>
            </a:endParaRPr>
          </a:p>
        </p:txBody>
      </p:sp>
      <p:sp>
        <p:nvSpPr>
          <p:cNvPr id="17" name="文本框 16">
            <a:extLst>
              <a:ext uri="{FF2B5EF4-FFF2-40B4-BE49-F238E27FC236}">
                <a16:creationId xmlns:a16="http://schemas.microsoft.com/office/drawing/2014/main" id="{997FED19-68DB-AAD1-C07F-47E151D758EF}"/>
              </a:ext>
            </a:extLst>
          </p:cNvPr>
          <p:cNvSpPr txBox="1"/>
          <p:nvPr/>
        </p:nvSpPr>
        <p:spPr>
          <a:xfrm>
            <a:off x="372305" y="5497812"/>
            <a:ext cx="7680308" cy="406971"/>
          </a:xfrm>
          <a:prstGeom prst="rect">
            <a:avLst/>
          </a:prstGeom>
          <a:noFill/>
        </p:spPr>
        <p:txBody>
          <a:bodyPr wrap="none" rtlCol="0">
            <a:spAutoFit/>
          </a:bodyPr>
          <a:lstStyle/>
          <a:p>
            <a:pPr marL="285750" indent="-285750">
              <a:lnSpc>
                <a:spcPct val="125000"/>
              </a:lnSpc>
              <a:buFont typeface="Wingdings" pitchFamily="2" charset="2"/>
              <a:buChar char="Ø"/>
            </a:pPr>
            <a:r>
              <a:rPr lang="en-US" altLang="zh-CN" sz="1800" b="1" dirty="0">
                <a:solidFill>
                  <a:srgbClr val="C00000"/>
                </a:solidFill>
                <a:effectLst/>
                <a:latin typeface="Microsoft YaHei" panose="020B0503020204020204" pitchFamily="34" charset="-122"/>
                <a:ea typeface="Microsoft YaHei" panose="020B0503020204020204" pitchFamily="34" charset="-122"/>
              </a:rPr>
              <a:t>1000</a:t>
            </a:r>
            <a:r>
              <a:rPr lang="zh-CN" altLang="en-US" sz="1800" b="1" dirty="0">
                <a:solidFill>
                  <a:srgbClr val="C00000"/>
                </a:solidFill>
                <a:effectLst/>
                <a:latin typeface="Microsoft YaHei" panose="020B0503020204020204" pitchFamily="34" charset="-122"/>
                <a:ea typeface="Microsoft YaHei" panose="020B0503020204020204" pitchFamily="34" charset="-122"/>
              </a:rPr>
              <a:t>维空间中，半径为 </a:t>
            </a:r>
            <a:r>
              <a:rPr lang="en-US" altLang="zh-CN" sz="1800" b="1" dirty="0">
                <a:solidFill>
                  <a:srgbClr val="C00000"/>
                </a:solidFill>
                <a:effectLst/>
                <a:latin typeface="Microsoft YaHei" panose="020B0503020204020204" pitchFamily="34" charset="-122"/>
                <a:ea typeface="Microsoft YaHei" panose="020B0503020204020204" pitchFamily="34" charset="-122"/>
              </a:rPr>
              <a:t>0.99 </a:t>
            </a:r>
            <a:r>
              <a:rPr lang="zh-CN" altLang="en-US" sz="1800" b="1" dirty="0">
                <a:solidFill>
                  <a:srgbClr val="C00000"/>
                </a:solidFill>
                <a:effectLst/>
                <a:latin typeface="Microsoft YaHei" panose="020B0503020204020204" pitchFamily="34" charset="-122"/>
                <a:ea typeface="Microsoft YaHei" panose="020B0503020204020204" pitchFamily="34" charset="-122"/>
              </a:rPr>
              <a:t>的内部球仅占单位球体积的不到 </a:t>
            </a:r>
            <a:r>
              <a:rPr lang="en-US" altLang="zh-CN" sz="1800" b="1" dirty="0">
                <a:solidFill>
                  <a:srgbClr val="C00000"/>
                </a:solidFill>
                <a:effectLst/>
                <a:latin typeface="Microsoft YaHei" panose="020B0503020204020204" pitchFamily="34" charset="-122"/>
                <a:ea typeface="Microsoft YaHei" panose="020B0503020204020204" pitchFamily="34" charset="-122"/>
              </a:rPr>
              <a:t>0.01% !</a:t>
            </a:r>
            <a:endParaRPr lang="zh-CN" altLang="en-US" b="1" dirty="0">
              <a:solidFill>
                <a:srgbClr val="C00000"/>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656636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661C4-5CA7-5A68-9936-669801DDBA2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B24FCC9-6AF8-1AFF-7810-3CC7CCB31083}"/>
              </a:ext>
            </a:extLst>
          </p:cNvPr>
          <p:cNvSpPr>
            <a:spLocks noGrp="1"/>
          </p:cNvSpPr>
          <p:nvPr>
            <p:ph type="title"/>
          </p:nvPr>
        </p:nvSpPr>
        <p:spPr/>
        <p:txBody>
          <a:bodyPr/>
          <a:lstStyle/>
          <a:p>
            <a:r>
              <a:rPr lang="zh-CN" altLang="en-US" b="1" dirty="0">
                <a:latin typeface="Microsoft YaHei" panose="020B0503020204020204" pitchFamily="34" charset="-122"/>
                <a:ea typeface="Microsoft YaHei" panose="020B0503020204020204" pitchFamily="34" charset="-122"/>
              </a:rPr>
              <a:t>体积集中在表面：随机采样采不到内部</a:t>
            </a:r>
            <a:endParaRPr lang="zh-CN" altLang="en-US"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1DBBDBE0-9BDD-FBBF-29D9-C68E4975E033}"/>
                  </a:ext>
                </a:extLst>
              </p:cNvPr>
              <p:cNvSpPr txBox="1"/>
              <p:nvPr/>
            </p:nvSpPr>
            <p:spPr>
              <a:xfrm>
                <a:off x="283685" y="761979"/>
                <a:ext cx="11348570" cy="1479572"/>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US" altLang="zh-CN" sz="1800" dirty="0">
                    <a:solidFill>
                      <a:srgbClr val="000000"/>
                    </a:solidFill>
                    <a:effectLst/>
                    <a:latin typeface="Microsoft YaHei" panose="020B0503020204020204" pitchFamily="34" charset="-122"/>
                    <a:ea typeface="Microsoft YaHei" panose="020B0503020204020204" pitchFamily="34" charset="-122"/>
                  </a:rPr>
                  <a:t>100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 </a:t>
                </a:r>
                <a:r>
                  <a:rPr lang="en-US" altLang="zh-CN" sz="1800" dirty="0">
                    <a:solidFill>
                      <a:srgbClr val="000000"/>
                    </a:solidFill>
                    <a:effectLst/>
                    <a:latin typeface="Microsoft YaHei" panose="020B0503020204020204" pitchFamily="34" charset="-122"/>
                    <a:ea typeface="Microsoft YaHei" panose="020B0503020204020204" pitchFamily="34" charset="-122"/>
                  </a:rPr>
                  <a:t>10000 </a:t>
                </a:r>
                <a:r>
                  <a:rPr lang="zh-CN" altLang="en-US" sz="1800" dirty="0">
                    <a:solidFill>
                      <a:srgbClr val="000000"/>
                    </a:solidFill>
                    <a:effectLst/>
                    <a:latin typeface="Microsoft YaHei" panose="020B0503020204020204" pitchFamily="34" charset="-122"/>
                    <a:ea typeface="Microsoft YaHei" panose="020B0503020204020204" pitchFamily="34" charset="-122"/>
                  </a:rPr>
                  <a:t>个数据点 </a:t>
                </a:r>
                <a14:m>
                  <m:oMath xmlns:m="http://schemas.openxmlformats.org/officeDocument/2006/math">
                    <m:r>
                      <m:rPr>
                        <m:lit/>
                      </m:rPr>
                      <a:rPr lang="en-US" altLang="zh-CN" sz="1800" b="0" i="1" smtClean="0">
                        <a:solidFill>
                          <a:srgbClr val="000000"/>
                        </a:solidFill>
                        <a:effectLst/>
                        <a:latin typeface="Cambria Math" panose="02040503050406030204" pitchFamily="18" charset="0"/>
                      </a:rPr>
                      <m:t>{</m:t>
                    </m:r>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𝑥</m:t>
                        </m:r>
                      </m:e>
                      <m:sub>
                        <m:r>
                          <a:rPr lang="en-US" altLang="zh-CN" sz="1800" b="0" i="1" smtClean="0">
                            <a:solidFill>
                              <a:srgbClr val="000000"/>
                            </a:solidFill>
                            <a:effectLst/>
                            <a:latin typeface="Cambria Math" panose="02040503050406030204" pitchFamily="18" charset="0"/>
                          </a:rPr>
                          <m:t>𝑖</m:t>
                        </m:r>
                      </m:sub>
                    </m:sSub>
                    <m:r>
                      <a:rPr lang="en-US" altLang="zh-CN" sz="1800" b="0" i="1" smtClean="0">
                        <a:solidFill>
                          <a:srgbClr val="000000"/>
                        </a:solidFill>
                        <a:effectLst/>
                        <a:latin typeface="Cambria Math" panose="02040503050406030204" pitchFamily="18" charset="0"/>
                      </a:rPr>
                      <m:t>, </m:t>
                    </m:r>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𝑦</m:t>
                        </m:r>
                      </m:e>
                      <m:sub>
                        <m:r>
                          <a:rPr lang="en-US" altLang="zh-CN" sz="1800" b="0" i="1" smtClean="0">
                            <a:solidFill>
                              <a:srgbClr val="000000"/>
                            </a:solidFill>
                            <a:effectLst/>
                            <a:latin typeface="Cambria Math" panose="02040503050406030204" pitchFamily="18" charset="0"/>
                          </a:rPr>
                          <m:t>𝑖</m:t>
                        </m:r>
                      </m:sub>
                    </m:sSub>
                    <m:sSubSup>
                      <m:sSubSupPr>
                        <m:ctrlPr>
                          <a:rPr lang="en-US" altLang="zh-CN" sz="1800" b="0" i="1" smtClean="0">
                            <a:solidFill>
                              <a:srgbClr val="000000"/>
                            </a:solidFill>
                            <a:effectLst/>
                            <a:latin typeface="Cambria Math" panose="02040503050406030204" pitchFamily="18" charset="0"/>
                          </a:rPr>
                        </m:ctrlPr>
                      </m:sSubSupPr>
                      <m:e>
                        <m:r>
                          <m:rPr>
                            <m:lit/>
                          </m:rPr>
                          <a:rPr lang="en-US" altLang="zh-CN" sz="1800" b="0" i="1" smtClean="0">
                            <a:solidFill>
                              <a:srgbClr val="000000"/>
                            </a:solidFill>
                            <a:effectLst/>
                            <a:latin typeface="Cambria Math" panose="02040503050406030204" pitchFamily="18" charset="0"/>
                          </a:rPr>
                          <m:t>}</m:t>
                        </m:r>
                      </m:e>
                      <m:sub>
                        <m:r>
                          <a:rPr lang="en-US" altLang="zh-CN" sz="1800" b="0" i="1" smtClean="0">
                            <a:solidFill>
                              <a:srgbClr val="000000"/>
                            </a:solidFill>
                            <a:effectLst/>
                            <a:latin typeface="Cambria Math" panose="02040503050406030204" pitchFamily="18" charset="0"/>
                          </a:rPr>
                          <m:t>𝑖</m:t>
                        </m:r>
                        <m:r>
                          <a:rPr lang="en-US" altLang="zh-CN" sz="1800" b="0" i="1" smtClean="0">
                            <a:solidFill>
                              <a:srgbClr val="000000"/>
                            </a:solidFill>
                            <a:effectLst/>
                            <a:latin typeface="Cambria Math" panose="02040503050406030204" pitchFamily="18" charset="0"/>
                          </a:rPr>
                          <m:t>=1</m:t>
                        </m:r>
                      </m:sub>
                      <m:sup>
                        <m:r>
                          <a:rPr lang="en-US" altLang="zh-CN" sz="1800" b="0" i="1" smtClean="0">
                            <a:solidFill>
                              <a:srgbClr val="000000"/>
                            </a:solidFill>
                            <a:effectLst/>
                            <a:latin typeface="Cambria Math" panose="02040503050406030204" pitchFamily="18" charset="0"/>
                          </a:rPr>
                          <m:t>𝑛</m:t>
                        </m:r>
                      </m:sup>
                    </m:sSubSup>
                  </m:oMath>
                </a14:m>
                <a:r>
                  <a:rPr lang="en" altLang="zh-CN" dirty="0">
                    <a:solidFill>
                      <a:srgbClr val="000000"/>
                    </a:solidFill>
                    <a:latin typeface="Microsoft YaHei" panose="020B0503020204020204" pitchFamily="34" charset="-122"/>
                    <a:ea typeface="Microsoft YaHei" panose="020B0503020204020204" pitchFamily="34" charset="-122"/>
                  </a:rPr>
                  <a:t>, </a:t>
                </a:r>
                <a:r>
                  <a:rPr lang="zh-CN" altLang="en" dirty="0">
                    <a:solidFill>
                      <a:srgbClr val="000000"/>
                    </a:solidFill>
                    <a:latin typeface="Microsoft YaHei" panose="020B0503020204020204" pitchFamily="34" charset="-122"/>
                    <a:ea typeface="Microsoft YaHei" panose="020B0503020204020204" pitchFamily="34" charset="-122"/>
                  </a:rPr>
                  <a:t>其中</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𝑦</m:t>
                        </m:r>
                      </m:e>
                      <m:sub>
                        <m:r>
                          <a:rPr lang="en-US" altLang="zh-CN" b="0" i="1" smtClean="0">
                            <a:solidFill>
                              <a:srgbClr val="000000"/>
                            </a:solidFill>
                            <a:latin typeface="Cambria Math" panose="02040503050406030204" pitchFamily="18" charset="0"/>
                          </a:rPr>
                          <m:t>𝑖</m:t>
                        </m:r>
                      </m:sub>
                    </m:sSub>
                    <m:r>
                      <a:rPr lang="en-US" altLang="zh-CN" b="0" i="1" smtClean="0">
                        <a:solidFill>
                          <a:srgbClr val="000000"/>
                        </a:solidFill>
                        <a:latin typeface="Cambria Math" panose="02040503050406030204" pitchFamily="18" charset="0"/>
                      </a:rPr>
                      <m:t>=</m:t>
                    </m:r>
                    <m:sSubSup>
                      <m:sSubSupPr>
                        <m:ctrlPr>
                          <a:rPr lang="en-US" altLang="zh-CN" b="0" i="1" smtClean="0">
                            <a:solidFill>
                              <a:srgbClr val="000000"/>
                            </a:solidFill>
                            <a:latin typeface="Cambria Math" panose="02040503050406030204" pitchFamily="18" charset="0"/>
                          </a:rPr>
                        </m:ctrlPr>
                      </m:sSubSupPr>
                      <m:e>
                        <m:d>
                          <m:dPr>
                            <m:begChr m:val="|"/>
                            <m:endChr m:val="|"/>
                            <m:ctrlPr>
                              <a:rPr lang="en-US" altLang="zh-CN" b="0" i="1" smtClean="0">
                                <a:solidFill>
                                  <a:srgbClr val="000000"/>
                                </a:solidFill>
                                <a:latin typeface="Cambria Math" panose="02040503050406030204" pitchFamily="18" charset="0"/>
                              </a:rPr>
                            </m:ctrlPr>
                          </m:dPr>
                          <m:e>
                            <m:d>
                              <m:dPr>
                                <m:begChr m:val="|"/>
                                <m:endChr m:val="|"/>
                                <m:ctrlPr>
                                  <a:rPr lang="en-US" altLang="zh-CN" b="0" i="1" smtClean="0">
                                    <a:solidFill>
                                      <a:srgbClr val="000000"/>
                                    </a:solidFill>
                                    <a:latin typeface="Cambria Math" panose="02040503050406030204" pitchFamily="18" charset="0"/>
                                  </a:rPr>
                                </m:ctrlPr>
                              </m:dPr>
                              <m:e>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𝑖</m:t>
                                    </m:r>
                                  </m:sub>
                                </m:sSub>
                              </m:e>
                            </m:d>
                          </m:e>
                        </m:d>
                      </m:e>
                      <m:sub>
                        <m:r>
                          <a:rPr lang="en-US" altLang="zh-CN" b="0" i="1" smtClean="0">
                            <a:solidFill>
                              <a:srgbClr val="000000"/>
                            </a:solidFill>
                            <a:latin typeface="Cambria Math" panose="02040503050406030204" pitchFamily="18" charset="0"/>
                          </a:rPr>
                          <m:t>2</m:t>
                        </m:r>
                      </m:sub>
                      <m:sup>
                        <m:r>
                          <a:rPr lang="en-US" altLang="zh-CN" b="0" i="1" smtClean="0">
                            <a:solidFill>
                              <a:srgbClr val="000000"/>
                            </a:solidFill>
                            <a:latin typeface="Cambria Math" panose="02040503050406030204" pitchFamily="18" charset="0"/>
                          </a:rPr>
                          <m:t>2</m:t>
                        </m:r>
                      </m:sup>
                    </m:sSubSup>
                  </m:oMath>
                </a14:m>
                <a:endParaRPr lang="en"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用一个两层的 </a:t>
                </a:r>
                <a:r>
                  <a:rPr lang="en" altLang="zh-CN" sz="1800" dirty="0">
                    <a:solidFill>
                      <a:srgbClr val="000000"/>
                    </a:solidFill>
                    <a:effectLst/>
                    <a:latin typeface="Microsoft YaHei" panose="020B0503020204020204" pitchFamily="34" charset="-122"/>
                    <a:ea typeface="Microsoft YaHei" panose="020B0503020204020204" pitchFamily="34" charset="-122"/>
                  </a:rPr>
                  <a:t>ReLU </a:t>
                </a:r>
                <a:r>
                  <a:rPr lang="zh-CN" altLang="en-US" sz="1800" dirty="0">
                    <a:solidFill>
                      <a:srgbClr val="000000"/>
                    </a:solidFill>
                    <a:effectLst/>
                    <a:latin typeface="Microsoft YaHei" panose="020B0503020204020204" pitchFamily="34" charset="-122"/>
                    <a:ea typeface="Microsoft YaHei" panose="020B0503020204020204" pitchFamily="34" charset="-122"/>
                  </a:rPr>
                  <a:t>神经网络来拟合这些数据点。（解决方案：目标函数有重要信息的区域，应该设计局部增强采样）</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2" name="文本框 1">
                <a:extLst>
                  <a:ext uri="{FF2B5EF4-FFF2-40B4-BE49-F238E27FC236}">
                    <a16:creationId xmlns:a16="http://schemas.microsoft.com/office/drawing/2014/main" id="{1DBBDBE0-9BDD-FBBF-29D9-C68E4975E033}"/>
                  </a:ext>
                </a:extLst>
              </p:cNvPr>
              <p:cNvSpPr txBox="1">
                <a:spLocks noRot="1" noChangeAspect="1" noMove="1" noResize="1" noEditPoints="1" noAdjustHandles="1" noChangeArrowheads="1" noChangeShapeType="1" noTextEdit="1"/>
              </p:cNvSpPr>
              <p:nvPr/>
            </p:nvSpPr>
            <p:spPr>
              <a:xfrm>
                <a:off x="283685" y="761979"/>
                <a:ext cx="11348570" cy="1479572"/>
              </a:xfrm>
              <a:prstGeom prst="rect">
                <a:avLst/>
              </a:prstGeom>
              <a:blipFill>
                <a:blip r:embed="rId2"/>
                <a:stretch>
                  <a:fillRect l="-376" b="-5350"/>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AAEEB241-370D-0E62-2C0E-B856FEDFC1CF}"/>
              </a:ext>
            </a:extLst>
          </p:cNvPr>
          <p:cNvPicPr>
            <a:picLocks noChangeAspect="1"/>
          </p:cNvPicPr>
          <p:nvPr/>
        </p:nvPicPr>
        <p:blipFill>
          <a:blip r:embed="rId3"/>
          <a:stretch>
            <a:fillRect/>
          </a:stretch>
        </p:blipFill>
        <p:spPr>
          <a:xfrm>
            <a:off x="538305" y="2779608"/>
            <a:ext cx="10370433" cy="3550627"/>
          </a:xfrm>
          <a:prstGeom prst="rect">
            <a:avLst/>
          </a:prstGeom>
        </p:spPr>
      </p:pic>
      <p:pic>
        <p:nvPicPr>
          <p:cNvPr id="5" name="图片 4">
            <a:extLst>
              <a:ext uri="{FF2B5EF4-FFF2-40B4-BE49-F238E27FC236}">
                <a16:creationId xmlns:a16="http://schemas.microsoft.com/office/drawing/2014/main" id="{635791BC-7937-3772-D472-3761358763AC}"/>
              </a:ext>
            </a:extLst>
          </p:cNvPr>
          <p:cNvPicPr>
            <a:picLocks noChangeAspect="1"/>
          </p:cNvPicPr>
          <p:nvPr/>
        </p:nvPicPr>
        <p:blipFill>
          <a:blip r:embed="rId4"/>
          <a:stretch>
            <a:fillRect/>
          </a:stretch>
        </p:blipFill>
        <p:spPr>
          <a:xfrm>
            <a:off x="7170484" y="1848911"/>
            <a:ext cx="3980128" cy="1035765"/>
          </a:xfrm>
          <a:prstGeom prst="rect">
            <a:avLst/>
          </a:prstGeom>
        </p:spPr>
      </p:pic>
      <p:sp>
        <p:nvSpPr>
          <p:cNvPr id="19" name="椭圆形标注 18">
            <a:extLst>
              <a:ext uri="{FF2B5EF4-FFF2-40B4-BE49-F238E27FC236}">
                <a16:creationId xmlns:a16="http://schemas.microsoft.com/office/drawing/2014/main" id="{38181F88-1700-F2B7-9C0D-A22AE1A9BBBD}"/>
              </a:ext>
            </a:extLst>
          </p:cNvPr>
          <p:cNvSpPr/>
          <p:nvPr/>
        </p:nvSpPr>
        <p:spPr>
          <a:xfrm>
            <a:off x="2731325" y="2161309"/>
            <a:ext cx="3511052" cy="723367"/>
          </a:xfrm>
          <a:prstGeom prst="wedgeEllipseCallout">
            <a:avLst>
              <a:gd name="adj1" fmla="val 36890"/>
              <a:gd name="adj2" fmla="val 15193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边界处的泛化误差很小，内部的泛化误差很大</a:t>
            </a:r>
            <a:endParaRPr kumimoji="1" lang="zh-CN" altLang="en-US" b="1" dirty="0">
              <a:solidFill>
                <a:srgbClr val="C00000"/>
              </a:solidFill>
            </a:endParaRPr>
          </a:p>
        </p:txBody>
      </p:sp>
    </p:spTree>
    <p:extLst>
      <p:ext uri="{BB962C8B-B14F-4D97-AF65-F5344CB8AC3E}">
        <p14:creationId xmlns:p14="http://schemas.microsoft.com/office/powerpoint/2010/main" val="3738537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295EC-EF71-01D2-6F17-E2ABC97279A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04A470B-0CD5-61D0-168C-5783C974CDD8}"/>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距离的集中效应</a:t>
            </a:r>
          </a:p>
        </p:txBody>
      </p:sp>
      <p:pic>
        <p:nvPicPr>
          <p:cNvPr id="6" name="图片 5">
            <a:extLst>
              <a:ext uri="{FF2B5EF4-FFF2-40B4-BE49-F238E27FC236}">
                <a16:creationId xmlns:a16="http://schemas.microsoft.com/office/drawing/2014/main" id="{C73B73F2-2EE0-CDFB-8AA3-BE28BDD80A24}"/>
              </a:ext>
            </a:extLst>
          </p:cNvPr>
          <p:cNvPicPr>
            <a:picLocks noChangeAspect="1"/>
          </p:cNvPicPr>
          <p:nvPr/>
        </p:nvPicPr>
        <p:blipFill>
          <a:blip r:embed="rId2"/>
          <a:stretch>
            <a:fillRect/>
          </a:stretch>
        </p:blipFill>
        <p:spPr>
          <a:xfrm>
            <a:off x="265043" y="2653188"/>
            <a:ext cx="9223514" cy="3149493"/>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ACD6B8B7-992B-DF08-D326-E41838CFA337}"/>
                  </a:ext>
                </a:extLst>
              </p:cNvPr>
              <p:cNvSpPr txBox="1"/>
              <p:nvPr/>
            </p:nvSpPr>
            <p:spPr>
              <a:xfrm>
                <a:off x="265043" y="1001355"/>
                <a:ext cx="12021689" cy="520079"/>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a:t>
                </a:r>
                <a:r>
                  <a:rPr lang="zh-CN" altLang="en-US" dirty="0">
                    <a:solidFill>
                      <a:srgbClr val="000000"/>
                    </a:solidFill>
                    <a:latin typeface="Microsoft YaHei" panose="020B0503020204020204" pitchFamily="34" charset="-122"/>
                    <a:ea typeface="Microsoft YaHei" panose="020B0503020204020204" pitchFamily="34" charset="-122"/>
                  </a:rPr>
                  <a:t>（均匀随机，概率</a:t>
                </a:r>
                <a14:m>
                  <m:oMath xmlns:m="http://schemas.openxmlformats.org/officeDocument/2006/math">
                    <m:r>
                      <a:rPr lang="zh-CN" altLang="en-US" b="0" i="1" dirty="0" smtClean="0">
                        <a:solidFill>
                          <a:srgbClr val="000000"/>
                        </a:solidFill>
                        <a:latin typeface="Cambria Math" panose="02040503050406030204" pitchFamily="18" charset="0"/>
                        <a:ea typeface="Microsoft YaHei" panose="020B0503020204020204" pitchFamily="34" charset="-122"/>
                      </a:rPr>
                      <m:t>密度</m:t>
                    </m:r>
                    <m:r>
                      <a:rPr lang="en-US" altLang="zh-CN" b="0" i="1" smtClean="0">
                        <a:solidFill>
                          <a:srgbClr val="000000"/>
                        </a:solidFill>
                        <a:latin typeface="Cambria Math" panose="02040503050406030204" pitchFamily="18" charset="0"/>
                        <a:ea typeface="Microsoft YaHei" panose="020B0503020204020204" pitchFamily="34" charset="-122"/>
                      </a:rPr>
                      <m:t>𝜌</m:t>
                    </m:r>
                    <m:d>
                      <m:dPr>
                        <m:ctrlPr>
                          <a:rPr lang="en-US" altLang="zh-CN" b="0" i="1" smtClean="0">
                            <a:solidFill>
                              <a:srgbClr val="000000"/>
                            </a:solidFill>
                            <a:latin typeface="Cambria Math" panose="02040503050406030204" pitchFamily="18" charset="0"/>
                            <a:ea typeface="Microsoft YaHei" panose="020B0503020204020204" pitchFamily="34" charset="-122"/>
                          </a:rPr>
                        </m:ctrlPr>
                      </m:dPr>
                      <m:e>
                        <m:r>
                          <a:rPr lang="en-US" altLang="zh-CN" b="0" i="1" smtClean="0">
                            <a:solidFill>
                              <a:srgbClr val="000000"/>
                            </a:solidFill>
                            <a:latin typeface="Cambria Math" panose="02040503050406030204" pitchFamily="18" charset="0"/>
                            <a:ea typeface="Microsoft YaHei" panose="020B0503020204020204" pitchFamily="34" charset="-122"/>
                          </a:rPr>
                          <m:t>𝑥</m:t>
                        </m:r>
                      </m:e>
                    </m:d>
                    <m:r>
                      <a:rPr lang="en-US" altLang="zh-CN" b="0" i="1" smtClean="0">
                        <a:solidFill>
                          <a:srgbClr val="000000"/>
                        </a:solidFill>
                        <a:latin typeface="Cambria Math" panose="02040503050406030204" pitchFamily="18" charset="0"/>
                        <a:ea typeface="Microsoft YaHei" panose="020B0503020204020204" pitchFamily="34" charset="-122"/>
                      </a:rPr>
                      <m:t>=</m:t>
                    </m:r>
                    <m:f>
                      <m:fPr>
                        <m:ctrlPr>
                          <a:rPr lang="en-US" altLang="zh-CN" b="0" i="1" smtClean="0">
                            <a:solidFill>
                              <a:srgbClr val="000000"/>
                            </a:solidFill>
                            <a:latin typeface="Cambria Math" panose="02040503050406030204" pitchFamily="18" charset="0"/>
                            <a:ea typeface="Microsoft YaHei" panose="020B0503020204020204" pitchFamily="34" charset="-122"/>
                          </a:rPr>
                        </m:ctrlPr>
                      </m:fPr>
                      <m:num>
                        <m:r>
                          <a:rPr lang="en-US" altLang="zh-CN" b="0" i="1" smtClean="0">
                            <a:solidFill>
                              <a:srgbClr val="000000"/>
                            </a:solidFill>
                            <a:latin typeface="Cambria Math" panose="02040503050406030204" pitchFamily="18" charset="0"/>
                            <a:ea typeface="Microsoft YaHei" panose="020B0503020204020204" pitchFamily="34" charset="-122"/>
                          </a:rPr>
                          <m:t>1</m:t>
                        </m:r>
                      </m:num>
                      <m:den>
                        <m:sSub>
                          <m:sSubPr>
                            <m:ctrlPr>
                              <a:rPr lang="en-US" altLang="zh-CN" b="0" i="1" smtClean="0">
                                <a:solidFill>
                                  <a:srgbClr val="000000"/>
                                </a:solidFill>
                                <a:latin typeface="Cambria Math" panose="02040503050406030204" pitchFamily="18" charset="0"/>
                                <a:ea typeface="Microsoft YaHei" panose="020B0503020204020204" pitchFamily="34" charset="-122"/>
                              </a:rPr>
                            </m:ctrlPr>
                          </m:sSubPr>
                          <m:e>
                            <m:r>
                              <a:rPr lang="en-US" altLang="zh-CN" b="0" i="1" smtClean="0">
                                <a:solidFill>
                                  <a:srgbClr val="000000"/>
                                </a:solidFill>
                                <a:latin typeface="Cambria Math" panose="02040503050406030204" pitchFamily="18" charset="0"/>
                                <a:ea typeface="Microsoft YaHei" panose="020B0503020204020204" pitchFamily="34" charset="-122"/>
                              </a:rPr>
                              <m:t>𝑉</m:t>
                            </m:r>
                          </m:e>
                          <m:sub>
                            <m:r>
                              <a:rPr lang="en-US" altLang="zh-CN" b="0" i="1" smtClean="0">
                                <a:solidFill>
                                  <a:srgbClr val="000000"/>
                                </a:solidFill>
                                <a:latin typeface="Cambria Math" panose="02040503050406030204" pitchFamily="18" charset="0"/>
                                <a:ea typeface="Microsoft YaHei" panose="020B0503020204020204" pitchFamily="34" charset="-122"/>
                              </a:rPr>
                              <m:t>𝑑</m:t>
                            </m:r>
                          </m:sub>
                        </m:sSub>
                      </m:den>
                    </m:f>
                    <m:r>
                      <a:rPr lang="en-US" altLang="zh-CN" b="0" i="0" smtClean="0">
                        <a:solidFill>
                          <a:srgbClr val="000000"/>
                        </a:solidFill>
                        <a:latin typeface="Cambria Math" panose="02040503050406030204" pitchFamily="18" charset="0"/>
                        <a:ea typeface="Microsoft YaHei" panose="020B0503020204020204" pitchFamily="34" charset="-122"/>
                      </a:rPr>
                      <m:t>,</m:t>
                    </m:r>
                    <m:r>
                      <m:rPr>
                        <m:sty m:val="p"/>
                      </m:rPr>
                      <a:rPr lang="en-US" altLang="zh-CN" b="0" i="0" smtClean="0">
                        <a:solidFill>
                          <a:srgbClr val="000000"/>
                        </a:solidFill>
                        <a:latin typeface="Cambria Math" panose="02040503050406030204" pitchFamily="18" charset="0"/>
                        <a:ea typeface="Microsoft YaHei" panose="020B0503020204020204" pitchFamily="34" charset="-122"/>
                      </a:rPr>
                      <m:t>x</m:t>
                    </m:r>
                    <m:r>
                      <a:rPr lang="en-US" altLang="zh-CN" b="0" i="1" smtClean="0">
                        <a:solidFill>
                          <a:srgbClr val="000000"/>
                        </a:solidFill>
                        <a:latin typeface="Cambria Math" panose="02040503050406030204" pitchFamily="18" charset="0"/>
                        <a:ea typeface="Microsoft YaHei" panose="020B0503020204020204" pitchFamily="34" charset="-122"/>
                      </a:rPr>
                      <m:t>∈</m:t>
                    </m:r>
                    <m:r>
                      <m:rPr>
                        <m:sty m:val="p"/>
                      </m:rPr>
                      <a:rPr lang="en-US" altLang="zh-CN" b="0" i="0" smtClean="0">
                        <a:solidFill>
                          <a:srgbClr val="000000"/>
                        </a:solidFill>
                        <a:latin typeface="Cambria Math" panose="02040503050406030204" pitchFamily="18" charset="0"/>
                        <a:ea typeface="Microsoft YaHei" panose="020B0503020204020204" pitchFamily="34" charset="-122"/>
                      </a:rPr>
                      <m:t>Ω</m:t>
                    </m:r>
                  </m:oMath>
                </a14:m>
                <a:r>
                  <a:rPr lang="zh-CN" altLang="en-US" dirty="0">
                    <a:solidFill>
                      <a:srgbClr val="000000"/>
                    </a:solidFill>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它们之间的欧氏距离可以表示为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7" name="文本框 6">
                <a:extLst>
                  <a:ext uri="{FF2B5EF4-FFF2-40B4-BE49-F238E27FC236}">
                    <a16:creationId xmlns:a16="http://schemas.microsoft.com/office/drawing/2014/main" id="{ACD6B8B7-992B-DF08-D326-E41838CFA337}"/>
                  </a:ext>
                </a:extLst>
              </p:cNvPr>
              <p:cNvSpPr txBox="1">
                <a:spLocks noRot="1" noChangeAspect="1" noMove="1" noResize="1" noEditPoints="1" noAdjustHandles="1" noChangeArrowheads="1" noChangeShapeType="1" noTextEdit="1"/>
              </p:cNvSpPr>
              <p:nvPr/>
            </p:nvSpPr>
            <p:spPr>
              <a:xfrm>
                <a:off x="265043" y="1001355"/>
                <a:ext cx="12021689" cy="520079"/>
              </a:xfrm>
              <a:prstGeom prst="rect">
                <a:avLst/>
              </a:prstGeom>
              <a:blipFill>
                <a:blip r:embed="rId3"/>
                <a:stretch>
                  <a:fillRect l="-405"/>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B82525D0-ADA2-8551-6050-4073ACFABBD5}"/>
              </a:ext>
            </a:extLst>
          </p:cNvPr>
          <p:cNvPicPr>
            <a:picLocks noChangeAspect="1"/>
          </p:cNvPicPr>
          <p:nvPr/>
        </p:nvPicPr>
        <p:blipFill>
          <a:blip r:embed="rId4"/>
          <a:stretch>
            <a:fillRect/>
          </a:stretch>
        </p:blipFill>
        <p:spPr>
          <a:xfrm>
            <a:off x="2629937" y="1503111"/>
            <a:ext cx="4013200" cy="1168400"/>
          </a:xfrm>
          <a:prstGeom prst="rect">
            <a:avLst/>
          </a:prstGeom>
        </p:spPr>
      </p:pic>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ED18A89A-C8FF-749D-ADA1-1562855EF9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90747" y="1383532"/>
            <a:ext cx="1641040" cy="1726166"/>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D1BD9EF0-566C-DC2D-BF0E-39CB08AC48DA}"/>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1EE18C08-48B7-F2CD-1D51-44EA208F90E5}"/>
                  </a:ext>
                </a:extLst>
              </p:cNvPr>
              <p:cNvSpPr/>
              <p:nvPr/>
            </p:nvSpPr>
            <p:spPr>
              <a:xfrm>
                <a:off x="9362224" y="4799182"/>
                <a:ext cx="2802705" cy="679783"/>
              </a:xfrm>
              <a:prstGeom prst="wedgeEllipseCallout">
                <a:avLst>
                  <a:gd name="adj1" fmla="val -85843"/>
                  <a:gd name="adj2" fmla="val -17792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𝟐</m:t>
                    </m:r>
                  </m:oMath>
                </a14:m>
                <a:endParaRPr kumimoji="1" lang="zh-CN" altLang="en-US" b="1" dirty="0">
                  <a:solidFill>
                    <a:srgbClr val="C00000"/>
                  </a:solidFill>
                </a:endParaRPr>
              </a:p>
            </p:txBody>
          </p:sp>
        </mc:Choice>
        <mc:Fallback xmlns="">
          <p:sp>
            <p:nvSpPr>
              <p:cNvPr id="12" name="椭圆形标注 11">
                <a:extLst>
                  <a:ext uri="{FF2B5EF4-FFF2-40B4-BE49-F238E27FC236}">
                    <a16:creationId xmlns:a16="http://schemas.microsoft.com/office/drawing/2014/main" id="{1EE18C08-48B7-F2CD-1D51-44EA208F90E5}"/>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85843"/>
                  <a:gd name="adj2" fmla="val -177924"/>
                </a:avLst>
              </a:prstGeom>
              <a:blipFill>
                <a:blip r:embed="rId6"/>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EA6D9A0D-2082-52F1-7DDA-2DC1242FC11F}"/>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3" name="文本框 12">
                <a:extLst>
                  <a:ext uri="{FF2B5EF4-FFF2-40B4-BE49-F238E27FC236}">
                    <a16:creationId xmlns:a16="http://schemas.microsoft.com/office/drawing/2014/main" id="{EA6D9A0D-2082-52F1-7DDA-2DC1242FC11F}"/>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7"/>
                <a:stretch>
                  <a:fillRect l="-1026" r="-2051" b="-19231"/>
                </a:stretch>
              </a:blipFill>
            </p:spPr>
            <p:txBody>
              <a:bodyPr/>
              <a:lstStyle/>
              <a:p>
                <a:r>
                  <a:rPr lang="zh-CN" altLang="en-US">
                    <a:noFill/>
                  </a:rPr>
                  <a:t> </a:t>
                </a:r>
              </a:p>
            </p:txBody>
          </p:sp>
        </mc:Fallback>
      </mc:AlternateContent>
      <p:sp>
        <p:nvSpPr>
          <p:cNvPr id="2" name="文本框 1">
            <a:extLst>
              <a:ext uri="{FF2B5EF4-FFF2-40B4-BE49-F238E27FC236}">
                <a16:creationId xmlns:a16="http://schemas.microsoft.com/office/drawing/2014/main" id="{D679A1A4-CAFF-02DF-7761-E35D6B052E7D}"/>
              </a:ext>
            </a:extLst>
          </p:cNvPr>
          <p:cNvSpPr txBox="1"/>
          <p:nvPr/>
        </p:nvSpPr>
        <p:spPr>
          <a:xfrm>
            <a:off x="662589" y="5802681"/>
            <a:ext cx="8392511" cy="400110"/>
          </a:xfrm>
          <a:prstGeom prst="rect">
            <a:avLst/>
          </a:prstGeom>
          <a:noFill/>
        </p:spPr>
        <p:txBody>
          <a:bodyPr wrap="square" rtlCol="0">
            <a:spAutoFit/>
          </a:bodyPr>
          <a:lstStyle/>
          <a:p>
            <a:pPr algn="l"/>
            <a:r>
              <a:rPr lang="zh-CN" altLang="en-US" sz="2000" dirty="0"/>
              <a:t>思考：距离都一样，那会带来什么问题？</a:t>
            </a:r>
          </a:p>
        </p:txBody>
      </p:sp>
    </p:spTree>
    <p:extLst>
      <p:ext uri="{BB962C8B-B14F-4D97-AF65-F5344CB8AC3E}">
        <p14:creationId xmlns:p14="http://schemas.microsoft.com/office/powerpoint/2010/main" val="219623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C3255-8CCD-8539-8DE2-8534BFA8F29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3A01E3B-260C-5F35-035C-7D702F2B89F7}"/>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距离的集中效应</a:t>
            </a:r>
          </a:p>
        </p:txBody>
      </p:sp>
      <p:pic>
        <p:nvPicPr>
          <p:cNvPr id="6" name="图片 5">
            <a:extLst>
              <a:ext uri="{FF2B5EF4-FFF2-40B4-BE49-F238E27FC236}">
                <a16:creationId xmlns:a16="http://schemas.microsoft.com/office/drawing/2014/main" id="{9CA29C14-FF1A-FD07-7EE9-65DEEB1F4E37}"/>
              </a:ext>
            </a:extLst>
          </p:cNvPr>
          <p:cNvPicPr>
            <a:picLocks noChangeAspect="1"/>
          </p:cNvPicPr>
          <p:nvPr/>
        </p:nvPicPr>
        <p:blipFill>
          <a:blip r:embed="rId2"/>
          <a:stretch>
            <a:fillRect/>
          </a:stretch>
        </p:blipFill>
        <p:spPr>
          <a:xfrm>
            <a:off x="265043" y="2653188"/>
            <a:ext cx="9223514" cy="3149493"/>
          </a:xfrm>
          <a:prstGeom prst="rect">
            <a:avLst/>
          </a:prstGeom>
        </p:spPr>
      </p:pic>
      <p:sp>
        <p:nvSpPr>
          <p:cNvPr id="7" name="文本框 6">
            <a:extLst>
              <a:ext uri="{FF2B5EF4-FFF2-40B4-BE49-F238E27FC236}">
                <a16:creationId xmlns:a16="http://schemas.microsoft.com/office/drawing/2014/main" id="{7FA339A6-F43B-43AF-4377-1284210DFAC3}"/>
              </a:ext>
            </a:extLst>
          </p:cNvPr>
          <p:cNvSpPr txBox="1"/>
          <p:nvPr/>
        </p:nvSpPr>
        <p:spPr>
          <a:xfrm>
            <a:off x="265043" y="1001355"/>
            <a:ext cx="7685565" cy="369332"/>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它们之间的欧氏距离可以表示为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8" name="图片 7">
            <a:extLst>
              <a:ext uri="{FF2B5EF4-FFF2-40B4-BE49-F238E27FC236}">
                <a16:creationId xmlns:a16="http://schemas.microsoft.com/office/drawing/2014/main" id="{77CAC3C7-B734-6C21-394C-25A5E412C6D6}"/>
              </a:ext>
            </a:extLst>
          </p:cNvPr>
          <p:cNvPicPr>
            <a:picLocks noChangeAspect="1"/>
          </p:cNvPicPr>
          <p:nvPr/>
        </p:nvPicPr>
        <p:blipFill>
          <a:blip r:embed="rId3"/>
          <a:stretch>
            <a:fillRect/>
          </a:stretch>
        </p:blipFill>
        <p:spPr>
          <a:xfrm>
            <a:off x="2596772" y="1347669"/>
            <a:ext cx="4013200" cy="1168400"/>
          </a:xfrm>
          <a:prstGeom prst="rect">
            <a:avLst/>
          </a:prstGeom>
        </p:spPr>
      </p:pic>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093FFCF0-813F-7867-C340-4C511C33F1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16398" y="841218"/>
            <a:ext cx="2094360" cy="220300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21FD0342-C5C3-3413-69DA-B1B2BEBD5574}"/>
                  </a:ext>
                </a:extLst>
              </p:cNvPr>
              <p:cNvSpPr txBox="1"/>
              <p:nvPr/>
            </p:nvSpPr>
            <p:spPr>
              <a:xfrm>
                <a:off x="644710" y="5835032"/>
                <a:ext cx="7888698" cy="413190"/>
              </a:xfrm>
              <a:prstGeom prst="rect">
                <a:avLst/>
              </a:prstGeom>
              <a:noFill/>
            </p:spPr>
            <p:txBody>
              <a:bodyPr wrap="none" rtlCol="0">
                <a:spAutoFit/>
              </a:bodyPr>
              <a:lstStyle/>
              <a:p>
                <a:pPr algn="l">
                  <a:lnSpc>
                    <a:spcPct val="125000"/>
                  </a:lnSpc>
                </a:pPr>
                <a14:m>
                  <m:oMath xmlns:m="http://schemas.openxmlformats.org/officeDocument/2006/math">
                    <m:r>
                      <a:rPr kumimoji="1" lang="zh-CN" altLang="en-US" b="1" i="1" smtClean="0">
                        <a:solidFill>
                          <a:srgbClr val="B61516"/>
                        </a:solidFill>
                        <a:latin typeface="Cambria Math" panose="02040503050406030204" pitchFamily="18" charset="0"/>
                        <a:ea typeface="Microsoft YaHei" panose="020B0503020204020204" pitchFamily="34" charset="-122"/>
                      </a:rPr>
                      <m:t>⟹</m:t>
                    </m:r>
                  </m:oMath>
                </a14:m>
                <a:r>
                  <a:rPr kumimoji="1" lang="zh-CN" altLang="en-US" b="1" dirty="0">
                    <a:solidFill>
                      <a:srgbClr val="B61516"/>
                    </a:solidFill>
                    <a:latin typeface="Microsoft YaHei" panose="020B0503020204020204" pitchFamily="34" charset="-122"/>
                    <a:ea typeface="Microsoft YaHei" panose="020B0503020204020204" pitchFamily="34" charset="-122"/>
                  </a:rPr>
                  <a:t> 一些基于距离的机器学习算法在高维很可能失效，例如 </a:t>
                </a:r>
                <a:r>
                  <a:rPr kumimoji="1" lang="en-US" altLang="zh-CN" b="1" dirty="0">
                    <a:solidFill>
                      <a:srgbClr val="B61516"/>
                    </a:solidFill>
                    <a:latin typeface="Microsoft YaHei" panose="020B0503020204020204" pitchFamily="34" charset="-122"/>
                    <a:ea typeface="Microsoft YaHei" panose="020B0503020204020204" pitchFamily="34" charset="-122"/>
                  </a:rPr>
                  <a:t>KNN</a:t>
                </a:r>
                <a:r>
                  <a:rPr kumimoji="1" lang="zh-CN" altLang="en-US" b="1" dirty="0">
                    <a:solidFill>
                      <a:srgbClr val="B61516"/>
                    </a:solidFill>
                    <a:latin typeface="Microsoft YaHei" panose="020B0503020204020204" pitchFamily="34" charset="-122"/>
                    <a:ea typeface="Microsoft YaHei" panose="020B0503020204020204" pitchFamily="34" charset="-122"/>
                  </a:rPr>
                  <a:t> 最近邻方法</a:t>
                </a:r>
              </a:p>
            </p:txBody>
          </p:sp>
        </mc:Choice>
        <mc:Fallback xmlns="">
          <p:sp>
            <p:nvSpPr>
              <p:cNvPr id="10" name="文本框 9">
                <a:extLst>
                  <a:ext uri="{FF2B5EF4-FFF2-40B4-BE49-F238E27FC236}">
                    <a16:creationId xmlns:a16="http://schemas.microsoft.com/office/drawing/2014/main" id="{E559ABDD-FE45-FAC8-0D4E-C37FCC6E12DF}"/>
                  </a:ext>
                </a:extLst>
              </p:cNvPr>
              <p:cNvSpPr txBox="1">
                <a:spLocks noRot="1" noChangeAspect="1" noMove="1" noResize="1" noEditPoints="1" noAdjustHandles="1" noChangeArrowheads="1" noChangeShapeType="1" noTextEdit="1"/>
              </p:cNvSpPr>
              <p:nvPr/>
            </p:nvSpPr>
            <p:spPr>
              <a:xfrm>
                <a:off x="644710" y="5835032"/>
                <a:ext cx="7888698" cy="413190"/>
              </a:xfrm>
              <a:prstGeom prst="rect">
                <a:avLst/>
              </a:prstGeom>
              <a:blipFill>
                <a:blip r:embed="rId5"/>
                <a:stretch>
                  <a:fillRect b="-17647"/>
                </a:stretch>
              </a:blipFill>
            </p:spPr>
            <p:txBody>
              <a:bodyPr/>
              <a:lstStyle/>
              <a:p>
                <a:r>
                  <a:rPr lang="zh-CN" altLang="en-US">
                    <a:noFill/>
                  </a:rPr>
                  <a:t> </a:t>
                </a:r>
              </a:p>
            </p:txBody>
          </p:sp>
        </mc:Fallback>
      </mc:AlternateContent>
      <p:sp>
        <p:nvSpPr>
          <p:cNvPr id="11" name="矩形 10">
            <a:extLst>
              <a:ext uri="{FF2B5EF4-FFF2-40B4-BE49-F238E27FC236}">
                <a16:creationId xmlns:a16="http://schemas.microsoft.com/office/drawing/2014/main" id="{88854DD3-BB89-7316-7673-247910395E1B}"/>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7467BDC6-1E33-9A34-AA56-026A980DE47F}"/>
                  </a:ext>
                </a:extLst>
              </p:cNvPr>
              <p:cNvSpPr/>
              <p:nvPr/>
            </p:nvSpPr>
            <p:spPr>
              <a:xfrm>
                <a:off x="9362224" y="4799182"/>
                <a:ext cx="2802705" cy="679783"/>
              </a:xfrm>
              <a:prstGeom prst="wedgeEllipseCallout">
                <a:avLst>
                  <a:gd name="adj1" fmla="val -85843"/>
                  <a:gd name="adj2" fmla="val -17792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𝟐</m:t>
                    </m:r>
                  </m:oMath>
                </a14:m>
                <a:endParaRPr kumimoji="1" lang="zh-CN" altLang="en-US" b="1" dirty="0">
                  <a:solidFill>
                    <a:srgbClr val="C00000"/>
                  </a:solidFill>
                </a:endParaRPr>
              </a:p>
            </p:txBody>
          </p:sp>
        </mc:Choice>
        <mc:Fallback xmlns="">
          <p:sp>
            <p:nvSpPr>
              <p:cNvPr id="12" name="椭圆形标注 11">
                <a:extLst>
                  <a:ext uri="{FF2B5EF4-FFF2-40B4-BE49-F238E27FC236}">
                    <a16:creationId xmlns:a16="http://schemas.microsoft.com/office/drawing/2014/main" id="{1EE18C08-48B7-F2CD-1D51-44EA208F90E5}"/>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85843"/>
                  <a:gd name="adj2" fmla="val -177924"/>
                </a:avLst>
              </a:prstGeom>
              <a:blipFill>
                <a:blip r:embed="rId6"/>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E7CB484C-70CA-1856-AD36-EB9F99A6548E}"/>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3" name="文本框 12">
                <a:extLst>
                  <a:ext uri="{FF2B5EF4-FFF2-40B4-BE49-F238E27FC236}">
                    <a16:creationId xmlns:a16="http://schemas.microsoft.com/office/drawing/2014/main" id="{EA6D9A0D-2082-52F1-7DDA-2DC1242FC11F}"/>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7"/>
                <a:stretch>
                  <a:fillRect l="-1026" r="-2051" b="-1923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113651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AA441-0398-A08D-1AED-EAB912864A8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015D67E-DF7B-0ADB-4C26-5FC2E6F3F01B}"/>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角度的集中效应</a:t>
            </a:r>
            <a:r>
              <a:rPr lang="en-US" altLang="zh-CN" dirty="0">
                <a:latin typeface="Microsoft YaHei" panose="020B0503020204020204" pitchFamily="34" charset="-122"/>
                <a:ea typeface="Microsoft YaHei" panose="020B0503020204020204" pitchFamily="34" charset="-122"/>
              </a:rPr>
              <a:t>—</a:t>
            </a:r>
            <a:r>
              <a:rPr lang="zh-CN" altLang="en-US" dirty="0">
                <a:latin typeface="Microsoft YaHei" panose="020B0503020204020204" pitchFamily="34" charset="-122"/>
                <a:ea typeface="Microsoft YaHei" panose="020B0503020204020204" pitchFamily="34" charset="-122"/>
              </a:rPr>
              <a:t>正交性</a:t>
            </a:r>
          </a:p>
        </p:txBody>
      </p:sp>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5B08BAA3-7539-9230-26B3-9106294B41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398" y="841218"/>
            <a:ext cx="2094360" cy="2203001"/>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9B1E72FF-7B8E-99E6-1BC5-248A185D5EA9}"/>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p:pic>
        <p:nvPicPr>
          <p:cNvPr id="2" name="图片 1">
            <a:extLst>
              <a:ext uri="{FF2B5EF4-FFF2-40B4-BE49-F238E27FC236}">
                <a16:creationId xmlns:a16="http://schemas.microsoft.com/office/drawing/2014/main" id="{1479F234-CCB2-D353-F7B1-0A7DDAFB53DA}"/>
              </a:ext>
            </a:extLst>
          </p:cNvPr>
          <p:cNvPicPr>
            <a:picLocks noChangeAspect="1"/>
          </p:cNvPicPr>
          <p:nvPr/>
        </p:nvPicPr>
        <p:blipFill>
          <a:blip r:embed="rId3"/>
          <a:stretch>
            <a:fillRect/>
          </a:stretch>
        </p:blipFill>
        <p:spPr>
          <a:xfrm>
            <a:off x="79019" y="2466351"/>
            <a:ext cx="9526411" cy="3159980"/>
          </a:xfrm>
          <a:prstGeom prst="rect">
            <a:avLst/>
          </a:prstGeom>
        </p:spPr>
      </p:pic>
      <p:sp>
        <p:nvSpPr>
          <p:cNvPr id="4" name="文本框 3">
            <a:extLst>
              <a:ext uri="{FF2B5EF4-FFF2-40B4-BE49-F238E27FC236}">
                <a16:creationId xmlns:a16="http://schemas.microsoft.com/office/drawing/2014/main" id="{B3643BF7-FF55-C54F-93BF-0E87349DC1C6}"/>
              </a:ext>
            </a:extLst>
          </p:cNvPr>
          <p:cNvSpPr txBox="1"/>
          <p:nvPr/>
        </p:nvSpPr>
        <p:spPr>
          <a:xfrm>
            <a:off x="331676" y="841218"/>
            <a:ext cx="8201732" cy="753220"/>
          </a:xfrm>
          <a:prstGeom prst="rect">
            <a:avLst/>
          </a:prstGeom>
          <a:noFill/>
        </p:spPr>
        <p:txBody>
          <a:bodyPr wrap="none" rtlCol="0">
            <a:spAutoFit/>
          </a:bodyPr>
          <a:lstStyle/>
          <a:p>
            <a:pPr>
              <a:lnSpc>
                <a:spcPct val="125000"/>
              </a:lnSpc>
            </a:pPr>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 们之间的夹角 </a:t>
            </a:r>
            <a:r>
              <a:rPr lang="el-GR" altLang="zh-CN" sz="1800" dirty="0">
                <a:solidFill>
                  <a:srgbClr val="000000"/>
                </a:solidFill>
                <a:effectLst/>
                <a:latin typeface="Microsoft YaHei" panose="020B0503020204020204" pitchFamily="34" charset="-122"/>
                <a:ea typeface="Microsoft YaHei" panose="020B0503020204020204" pitchFamily="34" charset="-122"/>
              </a:rPr>
              <a:t>θ </a:t>
            </a:r>
            <a:r>
              <a:rPr lang="zh-CN" altLang="en-US" sz="1800" dirty="0">
                <a:solidFill>
                  <a:srgbClr val="000000"/>
                </a:solidFill>
                <a:effectLst/>
                <a:latin typeface="Microsoft YaHei" panose="020B0503020204020204" pitchFamily="34" charset="-122"/>
                <a:ea typeface="Microsoft YaHei" panose="020B0503020204020204" pitchFamily="34" charset="-122"/>
              </a:rPr>
              <a:t>可以通过点积计算</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5" name="图片 4">
            <a:extLst>
              <a:ext uri="{FF2B5EF4-FFF2-40B4-BE49-F238E27FC236}">
                <a16:creationId xmlns:a16="http://schemas.microsoft.com/office/drawing/2014/main" id="{645C28A1-E782-BA82-B582-0699E4733066}"/>
              </a:ext>
            </a:extLst>
          </p:cNvPr>
          <p:cNvPicPr>
            <a:picLocks noChangeAspect="1"/>
          </p:cNvPicPr>
          <p:nvPr/>
        </p:nvPicPr>
        <p:blipFill>
          <a:blip r:embed="rId4"/>
          <a:stretch>
            <a:fillRect/>
          </a:stretch>
        </p:blipFill>
        <p:spPr>
          <a:xfrm>
            <a:off x="2451846" y="1203924"/>
            <a:ext cx="2781300" cy="1054100"/>
          </a:xfrm>
          <a:prstGeom prst="rect">
            <a:avLst/>
          </a:prstGeom>
        </p:spPr>
      </p:pic>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DB2141E6-85BF-AB63-41B0-93DCD9C372DB}"/>
                  </a:ext>
                </a:extLst>
              </p:cNvPr>
              <p:cNvSpPr/>
              <p:nvPr/>
            </p:nvSpPr>
            <p:spPr>
              <a:xfrm>
                <a:off x="9362224" y="4799182"/>
                <a:ext cx="2802705" cy="679783"/>
              </a:xfrm>
              <a:prstGeom prst="wedgeEllipseCallout">
                <a:avLst>
                  <a:gd name="adj1" fmla="val -93470"/>
                  <a:gd name="adj2" fmla="val -28274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角度集中在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𝟗𝟎</m:t>
                    </m:r>
                  </m:oMath>
                </a14:m>
                <a:r>
                  <a:rPr kumimoji="1" lang="zh-CN" altLang="en-US" b="1" dirty="0">
                    <a:solidFill>
                      <a:srgbClr val="C00000"/>
                    </a:solidFill>
                    <a:latin typeface="Microsoft YaHei" panose="020B0503020204020204" pitchFamily="34" charset="-122"/>
                    <a:ea typeface="Microsoft YaHei" panose="020B0503020204020204" pitchFamily="34" charset="-122"/>
                  </a:rPr>
                  <a:t> 度</a:t>
                </a:r>
              </a:p>
            </p:txBody>
          </p:sp>
        </mc:Choice>
        <mc:Fallback xmlns="">
          <p:sp>
            <p:nvSpPr>
              <p:cNvPr id="12" name="椭圆形标注 11">
                <a:extLst>
                  <a:ext uri="{FF2B5EF4-FFF2-40B4-BE49-F238E27FC236}">
                    <a16:creationId xmlns:a16="http://schemas.microsoft.com/office/drawing/2014/main" id="{DB2141E6-85BF-AB63-41B0-93DCD9C372DB}"/>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93470"/>
                  <a:gd name="adj2" fmla="val -282740"/>
                </a:avLst>
              </a:prstGeom>
              <a:blipFill>
                <a:blip r:embed="rId5"/>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B93606C8-88D4-13FF-CC8C-FA72B2F7FB6B}"/>
                  </a:ext>
                </a:extLst>
              </p:cNvPr>
              <p:cNvSpPr txBox="1"/>
              <p:nvPr/>
            </p:nvSpPr>
            <p:spPr>
              <a:xfrm>
                <a:off x="180454" y="5806658"/>
                <a:ext cx="11143372" cy="369332"/>
              </a:xfrm>
              <a:prstGeom prst="rect">
                <a:avLst/>
              </a:prstGeom>
              <a:noFill/>
            </p:spPr>
            <p:txBody>
              <a:bodyPr wrap="none" rtlCol="0">
                <a:spAutoFit/>
              </a:bodyPr>
              <a:lstStyle/>
              <a:p>
                <a14:m>
                  <m:oMath xmlns:m="http://schemas.openxmlformats.org/officeDocument/2006/math">
                    <m:r>
                      <a:rPr lang="zh-CN" altLang="en-US" sz="1800" b="1" i="1" smtClean="0">
                        <a:solidFill>
                          <a:srgbClr val="B61516"/>
                        </a:solidFill>
                        <a:effectLst/>
                        <a:latin typeface="Cambria Math" panose="02040503050406030204" pitchFamily="18" charset="0"/>
                        <a:ea typeface="Microsoft YaHei" panose="020B0503020204020204" pitchFamily="34" charset="-122"/>
                      </a:rPr>
                      <m:t>⟹</m:t>
                    </m:r>
                  </m:oMath>
                </a14:m>
                <a:r>
                  <a:rPr lang="zh-CN" altLang="en-US" sz="1800" b="1" dirty="0">
                    <a:solidFill>
                      <a:srgbClr val="B61516"/>
                    </a:solidFill>
                    <a:effectLst/>
                    <a:latin typeface="Microsoft YaHei" panose="020B0503020204020204" pitchFamily="34" charset="-122"/>
                    <a:ea typeface="Microsoft YaHei" panose="020B0503020204020204" pitchFamily="34" charset="-122"/>
                  </a:rPr>
                  <a:t> 当我们做随机投影时（</a:t>
                </a:r>
                <a:r>
                  <a:rPr lang="zh-CN" altLang="en-US" b="1" dirty="0">
                    <a:solidFill>
                      <a:srgbClr val="B61516"/>
                    </a:solidFill>
                    <a:latin typeface="Microsoft YaHei" panose="020B0503020204020204" pitchFamily="34" charset="-122"/>
                    <a:ea typeface="Microsoft YaHei" panose="020B0503020204020204" pitchFamily="34" charset="-122"/>
                  </a:rPr>
                  <a:t>如</a:t>
                </a:r>
                <a:r>
                  <a:rPr lang="zh-CN" altLang="en-US" sz="1800" b="1" dirty="0">
                    <a:solidFill>
                      <a:srgbClr val="B61516"/>
                    </a:solidFill>
                    <a:effectLst/>
                    <a:latin typeface="Microsoft YaHei" panose="020B0503020204020204" pitchFamily="34" charset="-122"/>
                    <a:ea typeface="Microsoft YaHei" panose="020B0503020204020204" pitchFamily="34" charset="-122"/>
                  </a:rPr>
                  <a:t>自然语言处理中的</a:t>
                </a:r>
                <a:r>
                  <a:rPr lang="en-US" altLang="zh-CN" sz="1800" b="1" dirty="0">
                    <a:solidFill>
                      <a:srgbClr val="B61516"/>
                    </a:solidFill>
                    <a:effectLst/>
                    <a:latin typeface="Microsoft YaHei" panose="020B0503020204020204" pitchFamily="34" charset="-122"/>
                    <a:ea typeface="Microsoft YaHei" panose="020B0503020204020204" pitchFamily="34" charset="-122"/>
                  </a:rPr>
                  <a:t>Embedding</a:t>
                </a:r>
                <a:r>
                  <a:rPr lang="zh-CN" altLang="en-US" sz="1800" b="1" dirty="0">
                    <a:solidFill>
                      <a:srgbClr val="B61516"/>
                    </a:solidFill>
                    <a:effectLst/>
                    <a:latin typeface="Microsoft YaHei" panose="020B0503020204020204" pitchFamily="34" charset="-122"/>
                    <a:ea typeface="Microsoft YaHei" panose="020B0503020204020204" pitchFamily="34" charset="-122"/>
                  </a:rPr>
                  <a:t> 层）</a:t>
                </a:r>
                <a:r>
                  <a:rPr lang="en-US"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随机选取的投影向量很可能是近似正交的</a:t>
                </a:r>
                <a:r>
                  <a:rPr lang="en-US" altLang="zh-CN" sz="1800" b="1" dirty="0">
                    <a:solidFill>
                      <a:srgbClr val="B61516"/>
                    </a:solidFill>
                    <a:effectLst/>
                    <a:latin typeface="Microsoft YaHei" panose="020B0503020204020204" pitchFamily="34" charset="-122"/>
                    <a:ea typeface="Microsoft YaHei" panose="020B0503020204020204" pitchFamily="34" charset="-122"/>
                  </a:rPr>
                  <a:t> </a:t>
                </a:r>
                <a:endParaRPr lang="zh-CN" altLang="en-US" b="1" dirty="0">
                  <a:solidFill>
                    <a:srgbClr val="B61516"/>
                  </a:solidFill>
                  <a:effectLst/>
                  <a:latin typeface="Microsoft YaHei" panose="020B0503020204020204" pitchFamily="34" charset="-122"/>
                  <a:ea typeface="Microsoft YaHei" panose="020B0503020204020204" pitchFamily="34" charset="-122"/>
                </a:endParaRPr>
              </a:p>
            </p:txBody>
          </p:sp>
        </mc:Choice>
        <mc:Fallback xmlns="">
          <p:sp>
            <p:nvSpPr>
              <p:cNvPr id="13" name="文本框 12">
                <a:extLst>
                  <a:ext uri="{FF2B5EF4-FFF2-40B4-BE49-F238E27FC236}">
                    <a16:creationId xmlns:a16="http://schemas.microsoft.com/office/drawing/2014/main" id="{B93606C8-88D4-13FF-CC8C-FA72B2F7FB6B}"/>
                  </a:ext>
                </a:extLst>
              </p:cNvPr>
              <p:cNvSpPr txBox="1">
                <a:spLocks noRot="1" noChangeAspect="1" noMove="1" noResize="1" noEditPoints="1" noAdjustHandles="1" noChangeArrowheads="1" noChangeShapeType="1" noTextEdit="1"/>
              </p:cNvSpPr>
              <p:nvPr/>
            </p:nvSpPr>
            <p:spPr>
              <a:xfrm>
                <a:off x="180454" y="5806658"/>
                <a:ext cx="11143372" cy="369332"/>
              </a:xfrm>
              <a:prstGeom prst="rect">
                <a:avLst/>
              </a:prstGeom>
              <a:blipFill>
                <a:blip r:embed="rId6"/>
                <a:stretch>
                  <a:fillRect t="-6667" b="-2000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D4C3A196-D6A7-DEE5-9DDD-67F0D9F75F17}"/>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4" name="文本框 13">
                <a:extLst>
                  <a:ext uri="{FF2B5EF4-FFF2-40B4-BE49-F238E27FC236}">
                    <a16:creationId xmlns:a16="http://schemas.microsoft.com/office/drawing/2014/main" id="{D4C3A196-D6A7-DEE5-9DDD-67F0D9F75F17}"/>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7"/>
                <a:stretch>
                  <a:fillRect l="-1026" r="-2051" b="-1923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591541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9BBA7-B90B-0823-17F9-A7011D3C8758}"/>
            </a:ext>
          </a:extLst>
        </p:cNvPr>
        <p:cNvGrpSpPr/>
        <p:nvPr/>
      </p:nvGrpSpPr>
      <p:grpSpPr>
        <a:xfrm>
          <a:off x="0" y="0"/>
          <a:ext cx="0" cy="0"/>
          <a:chOff x="0" y="0"/>
          <a:chExt cx="0" cy="0"/>
        </a:xfrm>
      </p:grpSpPr>
      <p:pic>
        <p:nvPicPr>
          <p:cNvPr id="6" name="图片 5">
            <a:extLst>
              <a:ext uri="{FF2B5EF4-FFF2-40B4-BE49-F238E27FC236}">
                <a16:creationId xmlns:a16="http://schemas.microsoft.com/office/drawing/2014/main" id="{A053F916-DAAF-D91A-AE2F-043757D0CD1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526038" y="3288304"/>
            <a:ext cx="8132868" cy="3048724"/>
          </a:xfrm>
          <a:prstGeom prst="rect">
            <a:avLst/>
          </a:prstGeom>
        </p:spPr>
      </p:pic>
      <p:sp>
        <p:nvSpPr>
          <p:cNvPr id="3" name="标题 2">
            <a:extLst>
              <a:ext uri="{FF2B5EF4-FFF2-40B4-BE49-F238E27FC236}">
                <a16:creationId xmlns:a16="http://schemas.microsoft.com/office/drawing/2014/main" id="{85FB7AF7-A2A6-0E38-48E4-6A107A0CC80C}"/>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理解距离和角度的集中效应</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DF836471-3FCC-8C7B-CBEF-3DB08C061737}"/>
                  </a:ext>
                </a:extLst>
              </p:cNvPr>
              <p:cNvSpPr txBox="1"/>
              <p:nvPr/>
            </p:nvSpPr>
            <p:spPr>
              <a:xfrm>
                <a:off x="288794" y="828963"/>
                <a:ext cx="11521964" cy="2507418"/>
              </a:xfrm>
              <a:prstGeom prst="rect">
                <a:avLst/>
              </a:prstGeom>
              <a:noFill/>
            </p:spPr>
            <p:txBody>
              <a:bodyPr wrap="square" rtlCol="0">
                <a:spAutoFit/>
              </a:bodyPr>
              <a:lstStyle/>
              <a:p>
                <a:pPr marL="285750" indent="-285750">
                  <a:lnSpc>
                    <a:spcPct val="125000"/>
                  </a:lnSpc>
                  <a:buFont typeface="Wingdings" pitchFamily="2" charset="2"/>
                  <a:buChar char="p"/>
                </a:pPr>
                <a:r>
                  <a:rPr lang="zh-CN" altLang="en-US" b="1" dirty="0">
                    <a:solidFill>
                      <a:srgbClr val="000000"/>
                    </a:solidFill>
                    <a:latin typeface="Microsoft YaHei" panose="020B0503020204020204" pitchFamily="34" charset="-122"/>
                    <a:ea typeface="Microsoft YaHei" panose="020B0503020204020204" pitchFamily="34" charset="-122"/>
                  </a:rPr>
                  <a:t>体积集中在表面：</a:t>
                </a:r>
                <a:r>
                  <a:rPr lang="zh-CN" altLang="en-US" sz="1800" dirty="0">
                    <a:solidFill>
                      <a:srgbClr val="000000"/>
                    </a:solidFill>
                    <a:effectLst/>
                    <a:latin typeface="Microsoft YaHei" panose="020B0503020204020204" pitchFamily="34" charset="-122"/>
                    <a:ea typeface="Microsoft YaHei" panose="020B0503020204020204" pitchFamily="34" charset="-122"/>
                  </a:rPr>
                  <a:t>至少有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1−</m:t>
                    </m:r>
                    <m:sSup>
                      <m:sSupPr>
                        <m:ctrlPr>
                          <a:rPr lang="en-US" altLang="zh-CN" b="0" i="1" smtClean="0">
                            <a:solidFill>
                              <a:srgbClr val="000000"/>
                            </a:solidFill>
                            <a:latin typeface="Cambria Math" panose="02040503050406030204" pitchFamily="18" charset="0"/>
                            <a:ea typeface="Microsoft YaHei" panose="020B0503020204020204" pitchFamily="34" charset="-122"/>
                          </a:rPr>
                        </m:ctrlPr>
                      </m:sSupPr>
                      <m:e>
                        <m:r>
                          <m:rPr>
                            <m:sty m:val="p"/>
                          </m:rPr>
                          <a:rPr lang="en-US" altLang="zh-CN" i="1">
                            <a:solidFill>
                              <a:srgbClr val="000000"/>
                            </a:solidFill>
                            <a:latin typeface="Cambria Math" panose="02040503050406030204" pitchFamily="18" charset="0"/>
                            <a:ea typeface="Microsoft YaHei" panose="020B0503020204020204" pitchFamily="34" charset="-122"/>
                          </a:rPr>
                          <m:t>e</m:t>
                        </m:r>
                      </m:e>
                      <m:sup>
                        <m:r>
                          <a:rPr lang="en-US" altLang="zh-CN" b="0" i="1" smtClean="0">
                            <a:solidFill>
                              <a:srgbClr val="000000"/>
                            </a:solidFill>
                            <a:latin typeface="Cambria Math" panose="02040503050406030204" pitchFamily="18" charset="0"/>
                            <a:ea typeface="Microsoft YaHei" panose="020B0503020204020204" pitchFamily="34" charset="-122"/>
                          </a:rPr>
                          <m:t>−</m:t>
                        </m:r>
                        <m:r>
                          <a:rPr lang="en-US" altLang="zh-CN" b="0" i="1" smtClean="0">
                            <a:solidFill>
                              <a:srgbClr val="000000"/>
                            </a:solidFill>
                            <a:latin typeface="Cambria Math" panose="02040503050406030204" pitchFamily="18" charset="0"/>
                            <a:ea typeface="Microsoft YaHei" panose="020B0503020204020204" pitchFamily="34" charset="-122"/>
                          </a:rPr>
                          <m:t>𝜀</m:t>
                        </m:r>
                        <m:r>
                          <a:rPr lang="en-US" altLang="zh-CN" b="0" i="1" smtClean="0">
                            <a:solidFill>
                              <a:srgbClr val="000000"/>
                            </a:solidFill>
                            <a:latin typeface="Cambria Math" panose="02040503050406030204" pitchFamily="18" charset="0"/>
                            <a:ea typeface="Microsoft YaHei" panose="020B0503020204020204" pitchFamily="34" charset="-122"/>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比例的体积集中在单位球的边缘一小块厚度为 </a:t>
                </a:r>
                <a:r>
                  <a:rPr lang="el-GR" altLang="zh-CN" sz="1800" dirty="0">
                    <a:solidFill>
                      <a:srgbClr val="000000"/>
                    </a:solidFill>
                    <a:effectLst/>
                    <a:latin typeface="Microsoft YaHei" panose="020B0503020204020204" pitchFamily="34" charset="-122"/>
                    <a:ea typeface="Microsoft YaHei" panose="020B0503020204020204" pitchFamily="34" charset="-122"/>
                  </a:rPr>
                  <a:t>ε </a:t>
                </a:r>
                <a:r>
                  <a:rPr lang="zh-CN" altLang="en-US" sz="1800" dirty="0">
                    <a:solidFill>
                      <a:srgbClr val="000000"/>
                    </a:solidFill>
                    <a:effectLst/>
                    <a:latin typeface="Microsoft YaHei" panose="020B0503020204020204" pitchFamily="34" charset="-122"/>
                    <a:ea typeface="Microsoft YaHei" panose="020B0503020204020204" pitchFamily="34" charset="-122"/>
                  </a:rPr>
                  <a:t>的球壳中</a:t>
                </a:r>
                <a:endParaRPr lang="en-US" altLang="zh-CN" dirty="0">
                  <a:solidFill>
                    <a:srgbClr val="000000"/>
                  </a:solidFill>
                  <a:latin typeface="Microsoft YaHei" panose="020B0503020204020204" pitchFamily="34" charset="-122"/>
                  <a:ea typeface="Microsoft YaHei" panose="020B0503020204020204" pitchFamily="34" charset="-122"/>
                </a:endParaRPr>
              </a:p>
              <a:p>
                <a:pPr>
                  <a:lnSpc>
                    <a:spcPct val="125000"/>
                  </a:lnSpc>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高维单位球的大部分体积集中在接近边界的</a:t>
                </a:r>
                <a:r>
                  <a:rPr lang="zh-CN" altLang="en-US" b="1" dirty="0">
                    <a:solidFill>
                      <a:srgbClr val="B61516"/>
                    </a:solidFill>
                    <a:latin typeface="Microsoft YaHei" panose="020B0503020204020204" pitchFamily="34" charset="-122"/>
                    <a:ea typeface="Microsoft YaHei" panose="020B0503020204020204" pitchFamily="34" charset="-122"/>
                  </a:rPr>
                  <a:t>厚</a:t>
                </a:r>
                <a:r>
                  <a:rPr lang="zh-CN" altLang="en-US" sz="1800" b="1" dirty="0">
                    <a:solidFill>
                      <a:srgbClr val="B61516"/>
                    </a:solidFill>
                    <a:effectLst/>
                    <a:latin typeface="Microsoft YaHei" panose="020B0503020204020204" pitchFamily="34" charset="-122"/>
                    <a:ea typeface="Microsoft YaHei" panose="020B0503020204020204" pitchFamily="34" charset="-122"/>
                  </a:rPr>
                  <a:t>度约为 </a:t>
                </a:r>
                <a:r>
                  <a:rPr lang="en" altLang="zh-CN" sz="1800" b="1" dirty="0">
                    <a:solidFill>
                      <a:srgbClr val="B61516"/>
                    </a:solidFill>
                    <a:effectLst/>
                    <a:latin typeface="Microsoft YaHei" panose="020B0503020204020204" pitchFamily="34" charset="-122"/>
                    <a:ea typeface="Microsoft YaHei" panose="020B0503020204020204" pitchFamily="34" charset="-122"/>
                  </a:rPr>
                  <a:t>1/d </a:t>
                </a:r>
                <a:r>
                  <a:rPr lang="zh-CN" altLang="en-US" sz="1800" b="1" dirty="0">
                    <a:solidFill>
                      <a:srgbClr val="B61516"/>
                    </a:solidFill>
                    <a:effectLst/>
                    <a:latin typeface="Microsoft YaHei" panose="020B0503020204020204" pitchFamily="34" charset="-122"/>
                    <a:ea typeface="Microsoft YaHei" panose="020B0503020204020204" pitchFamily="34" charset="-122"/>
                  </a:rPr>
                  <a:t>的球壳</a:t>
                </a:r>
                <a:r>
                  <a:rPr lang="zh-CN" altLang="en-US" sz="1800" dirty="0">
                    <a:solidFill>
                      <a:srgbClr val="000000"/>
                    </a:solidFill>
                    <a:effectLst/>
                    <a:latin typeface="Microsoft YaHei" panose="020B0503020204020204" pitchFamily="34" charset="-122"/>
                    <a:ea typeface="Microsoft YaHei" panose="020B0503020204020204" pitchFamily="34" charset="-122"/>
                  </a:rPr>
                  <a:t>中 </a:t>
                </a:r>
                <a:endParaRPr lang="en-US" altLang="zh-CN"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p"/>
                </a:pPr>
                <a:r>
                  <a:rPr lang="zh-CN" altLang="en-US" b="1" dirty="0">
                    <a:solidFill>
                      <a:srgbClr val="000000"/>
                    </a:solidFill>
                    <a:latin typeface="Microsoft YaHei" panose="020B0503020204020204" pitchFamily="34" charset="-122"/>
                    <a:ea typeface="Microsoft YaHei" panose="020B0503020204020204" pitchFamily="34" charset="-122"/>
                  </a:rPr>
                  <a:t>体积集中在“赤道”：</a:t>
                </a:r>
                <a:r>
                  <a:rPr lang="zh-CN" altLang="en-US" sz="1800" dirty="0">
                    <a:solidFill>
                      <a:srgbClr val="000000"/>
                    </a:solidFill>
                    <a:effectLst/>
                    <a:latin typeface="Microsoft YaHei" panose="020B0503020204020204" pitchFamily="34" charset="-122"/>
                    <a:ea typeface="Microsoft YaHei" panose="020B0503020204020204" pitchFamily="34" charset="-122"/>
                  </a:rPr>
                  <a:t>对于单位球面上的任何</a:t>
                </a:r>
                <a:r>
                  <a:rPr lang="zh-CN" altLang="en-US" dirty="0">
                    <a:solidFill>
                      <a:srgbClr val="000000"/>
                    </a:solidFill>
                    <a:latin typeface="Microsoft YaHei" panose="020B0503020204020204" pitchFamily="34" charset="-122"/>
                    <a:ea typeface="Microsoft YaHei" panose="020B0503020204020204" pitchFamily="34" charset="-122"/>
                  </a:rPr>
                  <a:t>固定</a:t>
                </a:r>
                <a:r>
                  <a:rPr lang="zh-CN" altLang="en-US" sz="1800" dirty="0">
                    <a:solidFill>
                      <a:srgbClr val="000000"/>
                    </a:solidFill>
                    <a:effectLst/>
                    <a:latin typeface="Microsoft YaHei" panose="020B0503020204020204" pitchFamily="34" charset="-122"/>
                    <a:ea typeface="Microsoft YaHei" panose="020B0503020204020204" pitchFamily="34" charset="-122"/>
                  </a:rPr>
                  <a:t>向量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𝑣</m:t>
                    </m:r>
                  </m:oMath>
                </a14:m>
                <a:r>
                  <a:rPr lang="zh-CN" altLang="en-US" dirty="0">
                    <a:solidFill>
                      <a:srgbClr val="000000"/>
                    </a:solidFill>
                    <a:latin typeface="Microsoft YaHei" panose="020B0503020204020204" pitchFamily="34" charset="-122"/>
                    <a:ea typeface="Microsoft YaHei" panose="020B0503020204020204" pitchFamily="34" charset="-122"/>
                  </a:rPr>
                  <a:t>，</a:t>
                </a:r>
                <a:r>
                  <a:rPr lang="zh-CN" altLang="en" dirty="0">
                    <a:solidFill>
                      <a:srgbClr val="000000"/>
                    </a:solidFill>
                    <a:latin typeface="Microsoft YaHei" panose="020B0503020204020204" pitchFamily="34" charset="-122"/>
                    <a:ea typeface="Microsoft YaHei" panose="020B0503020204020204" pitchFamily="34" charset="-122"/>
                  </a:rPr>
                  <a:t>不妨</a:t>
                </a:r>
                <a:r>
                  <a:rPr lang="zh-CN" altLang="en-US" dirty="0">
                    <a:solidFill>
                      <a:srgbClr val="000000"/>
                    </a:solidFill>
                    <a:latin typeface="Microsoft YaHei" panose="020B0503020204020204" pitchFamily="34" charset="-122"/>
                    <a:ea typeface="Microsoft YaHei" panose="020B0503020204020204" pitchFamily="34" charset="-122"/>
                  </a:rPr>
                  <a:t>设其为 </a:t>
                </a:r>
                <a14:m>
                  <m:oMath xmlns:m="http://schemas.openxmlformats.org/officeDocument/2006/math">
                    <m:r>
                      <a:rPr lang="en-US" altLang="zh-CN" b="0" i="1" smtClean="0">
                        <a:solidFill>
                          <a:srgbClr val="000000"/>
                        </a:solidFill>
                        <a:latin typeface="Cambria Math" panose="02040503050406030204" pitchFamily="18" charset="0"/>
                        <a:ea typeface="Microsoft YaHei" panose="020B0503020204020204" pitchFamily="34" charset="-122"/>
                      </a:rPr>
                      <m:t>𝑣</m:t>
                    </m:r>
                    <m:r>
                      <a:rPr lang="en-US" altLang="zh-CN" b="0" i="1" smtClean="0">
                        <a:solidFill>
                          <a:srgbClr val="000000"/>
                        </a:solidFill>
                        <a:latin typeface="Cambria Math" panose="02040503050406030204" pitchFamily="18" charset="0"/>
                        <a:ea typeface="Microsoft YaHei" panose="020B0503020204020204" pitchFamily="34" charset="-122"/>
                      </a:rPr>
                      <m:t>=</m:t>
                    </m:r>
                    <m:sSup>
                      <m:sSupPr>
                        <m:ctrlPr>
                          <a:rPr lang="en-US" altLang="zh-CN" b="0" i="1" smtClean="0">
                            <a:solidFill>
                              <a:srgbClr val="000000"/>
                            </a:solidFill>
                            <a:latin typeface="Cambria Math" panose="02040503050406030204" pitchFamily="18" charset="0"/>
                            <a:ea typeface="Microsoft YaHei" panose="020B0503020204020204" pitchFamily="34" charset="-122"/>
                          </a:rPr>
                        </m:ctrlPr>
                      </m:sSupPr>
                      <m:e>
                        <m:d>
                          <m:dPr>
                            <m:begChr m:val="["/>
                            <m:endChr m:val="]"/>
                            <m:ctrlPr>
                              <a:rPr lang="en-US" altLang="zh-CN" b="0" i="1" smtClean="0">
                                <a:solidFill>
                                  <a:srgbClr val="000000"/>
                                </a:solidFill>
                                <a:latin typeface="Cambria Math" panose="02040503050406030204" pitchFamily="18" charset="0"/>
                                <a:ea typeface="Microsoft YaHei" panose="020B0503020204020204" pitchFamily="34" charset="-122"/>
                              </a:rPr>
                            </m:ctrlPr>
                          </m:dPr>
                          <m:e>
                            <m:r>
                              <a:rPr lang="en-US" altLang="zh-CN" b="0" i="1" smtClean="0">
                                <a:solidFill>
                                  <a:srgbClr val="000000"/>
                                </a:solidFill>
                                <a:latin typeface="Cambria Math" panose="02040503050406030204" pitchFamily="18" charset="0"/>
                                <a:ea typeface="Microsoft YaHei" panose="020B0503020204020204" pitchFamily="34" charset="-122"/>
                              </a:rPr>
                              <m:t>1, 0, ⋯,0</m:t>
                            </m:r>
                          </m:e>
                        </m:d>
                      </m:e>
                      <m:sup>
                        <m:r>
                          <a:rPr lang="en-US" altLang="zh-CN" b="0" i="1" smtClean="0">
                            <a:solidFill>
                              <a:srgbClr val="000000"/>
                            </a:solidFill>
                            <a:latin typeface="Cambria Math" panose="02040503050406030204" pitchFamily="18" charset="0"/>
                            <a:ea typeface="Microsoft YaHei" panose="020B0503020204020204" pitchFamily="34" charset="-122"/>
                          </a:rPr>
                          <m:t>⊤</m:t>
                        </m:r>
                      </m:sup>
                    </m:sSup>
                    <m:r>
                      <a:rPr lang="en-US" altLang="zh-CN" b="0" i="1" smtClean="0">
                        <a:solidFill>
                          <a:srgbClr val="000000"/>
                        </a:solidFill>
                        <a:latin typeface="Cambria Math" panose="02040503050406030204" pitchFamily="18" charset="0"/>
                        <a:ea typeface="Microsoft YaHei" panose="020B0503020204020204" pitchFamily="34" charset="-122"/>
                      </a:rPr>
                      <m:t>,</m:t>
                    </m:r>
                  </m:oMath>
                </a14:m>
                <a:r>
                  <a:rPr lang="en-US"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球面上点 </a:t>
                </a:r>
                <a14:m>
                  <m:oMath xmlns:m="http://schemas.openxmlformats.org/officeDocument/2006/math">
                    <m:r>
                      <a:rPr lang="en-US" altLang="zh-CN" b="0" i="1" smtClean="0">
                        <a:solidFill>
                          <a:srgbClr val="000000"/>
                        </a:solidFill>
                        <a:latin typeface="Cambria Math" panose="02040503050406030204" pitchFamily="18" charset="0"/>
                      </a:rPr>
                      <m:t>𝑥</m:t>
                    </m:r>
                  </m:oMath>
                </a14:m>
                <a:r>
                  <a:rPr lang="en"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在该方向上的投影为 </a:t>
                </a:r>
                <a14:m>
                  <m:oMath xmlns:m="http://schemas.openxmlformats.org/officeDocument/2006/math">
                    <m:r>
                      <a:rPr lang="en-US" altLang="zh-CN" b="0" i="0"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𝑥</m:t>
                    </m:r>
                    <m:r>
                      <a:rPr lang="en-US" altLang="zh-CN" b="0" i="1"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𝑣</m:t>
                    </m:r>
                    <m:r>
                      <a:rPr lang="en-US" altLang="zh-CN" b="0" i="1" smtClean="0">
                        <a:solidFill>
                          <a:srgbClr val="000000"/>
                        </a:solidFill>
                        <a:latin typeface="Cambria Math" panose="02040503050406030204" pitchFamily="18" charset="0"/>
                      </a:rPr>
                      <m:t>|=</m:t>
                    </m:r>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1</m:t>
                        </m:r>
                      </m:sub>
                    </m:sSub>
                    <m:r>
                      <a:rPr lang="en-US" altLang="zh-CN" b="0" i="1" smtClean="0">
                        <a:solidFill>
                          <a:srgbClr val="000000"/>
                        </a:solidFill>
                        <a:latin typeface="Cambria Math" panose="02040503050406030204" pitchFamily="18" charset="0"/>
                      </a:rPr>
                      <m:t>|</m:t>
                    </m:r>
                  </m:oMath>
                </a14:m>
                <a:r>
                  <a:rPr lang="en" altLang="zh-CN" dirty="0">
                    <a:solidFill>
                      <a:srgbClr val="000000"/>
                    </a:solidFill>
                    <a:latin typeface="Microsoft YaHei" panose="020B0503020204020204" pitchFamily="34" charset="-122"/>
                    <a:ea typeface="Microsoft YaHei" panose="020B0503020204020204" pitchFamily="34" charset="-122"/>
                  </a:rPr>
                  <a:t>​</a:t>
                </a:r>
                <a:endParaRPr lang="en-US" altLang="zh-CN" dirty="0">
                  <a:solidFill>
                    <a:srgbClr val="000000"/>
                  </a:solidFill>
                  <a:latin typeface="Microsoft YaHei" panose="020B0503020204020204" pitchFamily="34" charset="-122"/>
                  <a:ea typeface="Microsoft YaHei" panose="020B0503020204020204" pitchFamily="34" charset="-122"/>
                </a:endParaRPr>
              </a:p>
              <a:p>
                <a:pPr marL="742950" lvl="1" indent="-285750">
                  <a:lnSpc>
                    <a:spcPct val="125000"/>
                  </a:lnSpc>
                  <a:buFont typeface="Wingdings" pitchFamily="2" charset="2"/>
                  <a:buChar char="p"/>
                </a:pPr>
                <a:r>
                  <a:rPr lang="zh-CN" altLang="en-US" dirty="0">
                    <a:solidFill>
                      <a:srgbClr val="000000"/>
                    </a:solidFill>
                    <a:latin typeface="Microsoft YaHei" panose="020B0503020204020204" pitchFamily="34" charset="-122"/>
                    <a:ea typeface="Microsoft YaHei" panose="020B0503020204020204" pitchFamily="34" charset="-122"/>
                  </a:rPr>
                  <a:t>单位球面满足 </a:t>
                </a:r>
                <a14:m>
                  <m:oMath xmlns:m="http://schemas.openxmlformats.org/officeDocument/2006/math">
                    <m:sSubSup>
                      <m:sSubSupPr>
                        <m:ctrlPr>
                          <a:rPr lang="en-US" altLang="zh-CN" b="0" i="1" smtClean="0">
                            <a:solidFill>
                              <a:srgbClr val="000000"/>
                            </a:solidFill>
                            <a:latin typeface="Cambria Math" panose="02040503050406030204" pitchFamily="18" charset="0"/>
                          </a:rPr>
                        </m:ctrlPr>
                      </m:sSubSup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1</m:t>
                        </m:r>
                      </m:sub>
                      <m:sup>
                        <m:r>
                          <a:rPr lang="en-US" altLang="zh-CN" b="0" i="1" smtClean="0">
                            <a:solidFill>
                              <a:srgbClr val="000000"/>
                            </a:solidFill>
                            <a:latin typeface="Cambria Math" panose="02040503050406030204" pitchFamily="18" charset="0"/>
                          </a:rPr>
                          <m:t>2</m:t>
                        </m:r>
                      </m:sup>
                    </m:sSubSup>
                    <m:r>
                      <a:rPr lang="en-US" altLang="zh-CN" b="0" i="1" smtClean="0">
                        <a:solidFill>
                          <a:srgbClr val="000000"/>
                        </a:solidFill>
                        <a:latin typeface="Cambria Math" panose="02040503050406030204" pitchFamily="18" charset="0"/>
                      </a:rPr>
                      <m:t>+⋯+</m:t>
                    </m:r>
                    <m:sSubSup>
                      <m:sSubSupPr>
                        <m:ctrlPr>
                          <a:rPr lang="en-US" altLang="zh-CN" b="0" i="1" smtClean="0">
                            <a:solidFill>
                              <a:srgbClr val="000000"/>
                            </a:solidFill>
                            <a:latin typeface="Cambria Math" panose="02040503050406030204" pitchFamily="18" charset="0"/>
                          </a:rPr>
                        </m:ctrlPr>
                      </m:sSubSup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𝑑</m:t>
                        </m:r>
                      </m:sub>
                      <m:sup>
                        <m:r>
                          <a:rPr lang="en-US" altLang="zh-CN" b="0" i="1" smtClean="0">
                            <a:solidFill>
                              <a:srgbClr val="000000"/>
                            </a:solidFill>
                            <a:latin typeface="Cambria Math" panose="02040503050406030204" pitchFamily="18" charset="0"/>
                          </a:rPr>
                          <m:t>2</m:t>
                        </m:r>
                      </m:sup>
                    </m:sSubSup>
                    <m:r>
                      <a:rPr lang="en-US" altLang="zh-CN" b="0" i="1" smtClean="0">
                        <a:solidFill>
                          <a:srgbClr val="000000"/>
                        </a:solidFill>
                        <a:latin typeface="Cambria Math" panose="02040503050406030204" pitchFamily="18" charset="0"/>
                      </a:rPr>
                      <m:t>=1</m:t>
                    </m:r>
                  </m:oMath>
                </a14:m>
                <a:r>
                  <a:rPr lang="en-US"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由对称性，每个分量的方差近似为 </a:t>
                </a:r>
                <a14:m>
                  <m:oMath xmlns:m="http://schemas.openxmlformats.org/officeDocument/2006/math">
                    <m:f>
                      <m:fPr>
                        <m:ctrlPr>
                          <a:rPr lang="en-US" altLang="zh-CN" b="0" i="1" smtClean="0">
                            <a:solidFill>
                              <a:srgbClr val="000000"/>
                            </a:solidFill>
                            <a:latin typeface="Cambria Math" panose="02040503050406030204" pitchFamily="18" charset="0"/>
                            <a:ea typeface="Microsoft YaHei" panose="020B0503020204020204" pitchFamily="34" charset="-122"/>
                          </a:rPr>
                        </m:ctrlPr>
                      </m:fPr>
                      <m:num>
                        <m:r>
                          <a:rPr lang="en-US" altLang="zh-CN" b="0" i="1" smtClean="0">
                            <a:solidFill>
                              <a:srgbClr val="000000"/>
                            </a:solidFill>
                            <a:latin typeface="Cambria Math" panose="02040503050406030204" pitchFamily="18" charset="0"/>
                            <a:ea typeface="Microsoft YaHei" panose="020B0503020204020204" pitchFamily="34" charset="-122"/>
                          </a:rPr>
                          <m:t>1</m:t>
                        </m:r>
                      </m:num>
                      <m:den>
                        <m:r>
                          <a:rPr lang="en-US" altLang="zh-CN" b="0" i="1" smtClean="0">
                            <a:solidFill>
                              <a:srgbClr val="000000"/>
                            </a:solidFill>
                            <a:latin typeface="Cambria Math" panose="02040503050406030204" pitchFamily="18" charset="0"/>
                            <a:ea typeface="Microsoft YaHei" panose="020B0503020204020204" pitchFamily="34" charset="-122"/>
                          </a:rPr>
                          <m:t>𝑑</m:t>
                        </m:r>
                      </m:den>
                    </m:f>
                  </m:oMath>
                </a14:m>
                <a:endParaRPr lang="en-US" altLang="zh-CN" dirty="0">
                  <a:solidFill>
                    <a:srgbClr val="000000"/>
                  </a:solidFill>
                  <a:latin typeface="Microsoft YaHei" panose="020B0503020204020204" pitchFamily="34" charset="-122"/>
                  <a:ea typeface="Microsoft YaHei" panose="020B0503020204020204" pitchFamily="34" charset="-122"/>
                </a:endParaRPr>
              </a:p>
              <a:p>
                <a:pPr marL="742950" lvl="1" indent="-285750">
                  <a:lnSpc>
                    <a:spcPct val="125000"/>
                  </a:lnSpc>
                  <a:buFont typeface="Wingdings" pitchFamily="2" charset="2"/>
                  <a:buChar char="p"/>
                </a:pPr>
                <a:r>
                  <a:rPr lang="zh-CN" altLang="en-US" b="1" dirty="0">
                    <a:solidFill>
                      <a:srgbClr val="B61516"/>
                    </a:solidFill>
                    <a:latin typeface="Microsoft YaHei" panose="020B0503020204020204" pitchFamily="34" charset="-122"/>
                    <a:ea typeface="Microsoft YaHei" panose="020B0503020204020204" pitchFamily="34" charset="-122"/>
                  </a:rPr>
                  <a:t>单位球面上随机采样得到的 </a:t>
                </a:r>
                <a14:m>
                  <m:oMath xmlns:m="http://schemas.openxmlformats.org/officeDocument/2006/math">
                    <m:r>
                      <a:rPr lang="en-US" altLang="zh-CN" b="1" i="1" smtClean="0">
                        <a:solidFill>
                          <a:srgbClr val="B61516"/>
                        </a:solidFill>
                        <a:latin typeface="Cambria Math" panose="02040503050406030204" pitchFamily="18" charset="0"/>
                        <a:ea typeface="Microsoft YaHei" panose="020B0503020204020204" pitchFamily="34" charset="-122"/>
                      </a:rPr>
                      <m:t>𝒙</m:t>
                    </m:r>
                  </m:oMath>
                </a14:m>
                <a:r>
                  <a:rPr lang="en-US"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与该向量内积约为 </a:t>
                </a:r>
                <a14:m>
                  <m:oMath xmlns:m="http://schemas.openxmlformats.org/officeDocument/2006/math">
                    <m:f>
                      <m:fPr>
                        <m:ctrlPr>
                          <a:rPr lang="en-US" altLang="zh-CN" b="1" i="1" smtClean="0">
                            <a:solidFill>
                              <a:srgbClr val="B61516"/>
                            </a:solidFill>
                            <a:latin typeface="Cambria Math" panose="02040503050406030204" pitchFamily="18" charset="0"/>
                            <a:ea typeface="Microsoft YaHei" panose="020B0503020204020204" pitchFamily="34" charset="-122"/>
                          </a:rPr>
                        </m:ctrlPr>
                      </m:fPr>
                      <m:num>
                        <m:r>
                          <a:rPr lang="en-US" altLang="zh-CN" b="1" i="1" smtClean="0">
                            <a:solidFill>
                              <a:srgbClr val="B61516"/>
                            </a:solidFill>
                            <a:latin typeface="Cambria Math" panose="02040503050406030204" pitchFamily="18" charset="0"/>
                            <a:ea typeface="Microsoft YaHei" panose="020B0503020204020204" pitchFamily="34" charset="-122"/>
                          </a:rPr>
                          <m:t>𝟏</m:t>
                        </m:r>
                      </m:num>
                      <m:den>
                        <m:r>
                          <a:rPr lang="en-US" altLang="zh-CN" b="1" i="1" smtClean="0">
                            <a:solidFill>
                              <a:srgbClr val="B61516"/>
                            </a:solidFill>
                            <a:latin typeface="Cambria Math" panose="02040503050406030204" pitchFamily="18" charset="0"/>
                            <a:ea typeface="Microsoft YaHei" panose="020B0503020204020204" pitchFamily="34" charset="-122"/>
                          </a:rPr>
                          <m:t>√</m:t>
                        </m:r>
                        <m:r>
                          <a:rPr lang="en-US" altLang="zh-CN" b="1" i="1" smtClean="0">
                            <a:solidFill>
                              <a:srgbClr val="B61516"/>
                            </a:solidFill>
                            <a:latin typeface="Cambria Math" panose="02040503050406030204" pitchFamily="18" charset="0"/>
                            <a:ea typeface="Microsoft YaHei" panose="020B0503020204020204" pitchFamily="34" charset="-122"/>
                          </a:rPr>
                          <m:t>𝒅</m:t>
                        </m:r>
                      </m:den>
                    </m:f>
                    <m:r>
                      <a:rPr lang="en-US" altLang="zh-CN" b="1" i="1" smtClean="0">
                        <a:solidFill>
                          <a:srgbClr val="B61516"/>
                        </a:solidFill>
                        <a:latin typeface="Cambria Math" panose="02040503050406030204" pitchFamily="18" charset="0"/>
                        <a:ea typeface="Microsoft YaHei" panose="020B0503020204020204" pitchFamily="34" charset="-122"/>
                      </a:rPr>
                      <m:t> </m:t>
                    </m:r>
                  </m:oMath>
                </a14:m>
                <a:r>
                  <a:rPr lang="zh-CN" altLang="en-US" b="1" dirty="0">
                    <a:solidFill>
                      <a:srgbClr val="B61516"/>
                    </a:solidFill>
                    <a:latin typeface="Microsoft YaHei" panose="020B0503020204020204" pitchFamily="34" charset="-122"/>
                    <a:ea typeface="Microsoft YaHei" panose="020B0503020204020204" pitchFamily="34" charset="-122"/>
                  </a:rPr>
                  <a:t>，当 </a:t>
                </a:r>
                <a14:m>
                  <m:oMath xmlns:m="http://schemas.openxmlformats.org/officeDocument/2006/math">
                    <m:r>
                      <a:rPr lang="en-US" altLang="zh-CN" b="1" i="1" smtClean="0">
                        <a:solidFill>
                          <a:srgbClr val="B61516"/>
                        </a:solidFill>
                        <a:latin typeface="Cambria Math" panose="02040503050406030204" pitchFamily="18" charset="0"/>
                        <a:ea typeface="Microsoft YaHei" panose="020B0503020204020204" pitchFamily="34" charset="-122"/>
                      </a:rPr>
                      <m:t>𝒅</m:t>
                    </m:r>
                    <m:r>
                      <a:rPr lang="en-US" altLang="zh-CN" b="1" i="1" smtClean="0">
                        <a:solidFill>
                          <a:srgbClr val="B61516"/>
                        </a:solidFill>
                        <a:latin typeface="Cambria Math" panose="02040503050406030204" pitchFamily="18" charset="0"/>
                        <a:ea typeface="Microsoft YaHei" panose="020B0503020204020204" pitchFamily="34" charset="-122"/>
                      </a:rPr>
                      <m:t>→∞</m:t>
                    </m:r>
                    <m:r>
                      <a:rPr lang="en-US" altLang="zh-CN" b="1" i="0" smtClean="0">
                        <a:solidFill>
                          <a:srgbClr val="B61516"/>
                        </a:solidFill>
                        <a:latin typeface="Cambria Math" panose="02040503050406030204" pitchFamily="18" charset="0"/>
                        <a:ea typeface="Microsoft YaHei" panose="020B0503020204020204" pitchFamily="34" charset="-122"/>
                      </a:rPr>
                      <m:t> </m:t>
                    </m:r>
                  </m:oMath>
                </a14:m>
                <a:r>
                  <a:rPr lang="en-US"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内积趋于零 ⟹ 正交</a:t>
                </a:r>
              </a:p>
            </p:txBody>
          </p:sp>
        </mc:Choice>
        <mc:Fallback xmlns="">
          <p:sp>
            <p:nvSpPr>
              <p:cNvPr id="7" name="文本框 6">
                <a:extLst>
                  <a:ext uri="{FF2B5EF4-FFF2-40B4-BE49-F238E27FC236}">
                    <a16:creationId xmlns:a16="http://schemas.microsoft.com/office/drawing/2014/main" id="{DF836471-3FCC-8C7B-CBEF-3DB08C061737}"/>
                  </a:ext>
                </a:extLst>
              </p:cNvPr>
              <p:cNvSpPr txBox="1">
                <a:spLocks noRot="1" noChangeAspect="1" noMove="1" noResize="1" noEditPoints="1" noAdjustHandles="1" noChangeArrowheads="1" noChangeShapeType="1" noTextEdit="1"/>
              </p:cNvSpPr>
              <p:nvPr/>
            </p:nvSpPr>
            <p:spPr>
              <a:xfrm>
                <a:off x="288794" y="828963"/>
                <a:ext cx="11521964" cy="2507418"/>
              </a:xfrm>
              <a:prstGeom prst="rect">
                <a:avLst/>
              </a:prstGeom>
              <a:blipFill>
                <a:blip r:embed="rId3"/>
                <a:stretch>
                  <a:fillRect l="-330"/>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107C5647-C824-1E94-F7A6-29D94FEA505E}"/>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87427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05F1-DF60-BA32-9B54-077544E1405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BC68676-CD00-EF73-1837-1BB09F277A62}"/>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高斯环带定理</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A88C71B9-A167-4468-CB63-97712970A27C}"/>
                  </a:ext>
                </a:extLst>
              </p:cNvPr>
              <p:cNvSpPr txBox="1"/>
              <p:nvPr/>
            </p:nvSpPr>
            <p:spPr>
              <a:xfrm>
                <a:off x="526021" y="927686"/>
                <a:ext cx="9170504" cy="369332"/>
              </a:xfrm>
              <a:prstGeom prst="rect">
                <a:avLst/>
              </a:prstGeom>
              <a:noFill/>
            </p:spPr>
            <p:txBody>
              <a:bodyPr wrap="square">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考虑一个具有单位协方差的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维高斯分布 </a:t>
                </a:r>
                <a14:m>
                  <m:oMath xmlns:m="http://schemas.openxmlformats.org/officeDocument/2006/math">
                    <m:r>
                      <m:rPr>
                        <m:sty m:val="p"/>
                      </m:rPr>
                      <a:rPr lang="en-US" altLang="zh-CN" i="1" dirty="0">
                        <a:solidFill>
                          <a:srgbClr val="000000"/>
                        </a:solidFill>
                        <a:latin typeface="Cambria Math" panose="02040503050406030204" pitchFamily="18" charset="0"/>
                        <a:ea typeface="Microsoft YaHei" panose="020B0503020204020204" pitchFamily="34" charset="-122"/>
                      </a:rPr>
                      <m:t>N</m:t>
                    </m:r>
                    <m:r>
                      <a:rPr lang="en-US" altLang="zh-CN" b="0" i="1" dirty="0" smtClean="0">
                        <a:solidFill>
                          <a:srgbClr val="000000"/>
                        </a:solidFill>
                        <a:latin typeface="Cambria Math" panose="02040503050406030204" pitchFamily="18" charset="0"/>
                        <a:ea typeface="Microsoft YaHei" panose="020B0503020204020204" pitchFamily="34" charset="-122"/>
                      </a:rPr>
                      <m:t>(0, </m:t>
                    </m:r>
                    <m:sSub>
                      <m:sSubPr>
                        <m:ctrlPr>
                          <a:rPr lang="en-US" altLang="zh-CN" b="0" i="1" dirty="0" smtClean="0">
                            <a:solidFill>
                              <a:srgbClr val="000000"/>
                            </a:solidFill>
                            <a:latin typeface="Cambria Math" panose="02040503050406030204" pitchFamily="18" charset="0"/>
                            <a:ea typeface="Microsoft YaHei" panose="020B0503020204020204" pitchFamily="34" charset="-122"/>
                          </a:rPr>
                        </m:ctrlPr>
                      </m:sSubPr>
                      <m:e>
                        <m:r>
                          <a:rPr lang="en-US" altLang="zh-CN" b="0" i="1" dirty="0" smtClean="0">
                            <a:solidFill>
                              <a:srgbClr val="000000"/>
                            </a:solidFill>
                            <a:latin typeface="Cambria Math" panose="02040503050406030204" pitchFamily="18" charset="0"/>
                            <a:ea typeface="Microsoft YaHei" panose="020B0503020204020204" pitchFamily="34" charset="-122"/>
                          </a:rPr>
                          <m:t>𝐼</m:t>
                        </m:r>
                      </m:e>
                      <m:sub>
                        <m:r>
                          <a:rPr lang="en-US" altLang="zh-CN" b="0" i="1" dirty="0" smtClean="0">
                            <a:solidFill>
                              <a:srgbClr val="000000"/>
                            </a:solidFill>
                            <a:latin typeface="Cambria Math" panose="02040503050406030204" pitchFamily="18" charset="0"/>
                            <a:ea typeface="Microsoft YaHei" panose="020B0503020204020204" pitchFamily="34" charset="-122"/>
                          </a:rPr>
                          <m:t>𝑑</m:t>
                        </m:r>
                      </m:sub>
                    </m:sSub>
                    <m:r>
                      <a:rPr lang="en-US" altLang="zh-CN" b="0" i="1" dirty="0" smtClean="0">
                        <a:solidFill>
                          <a:srgbClr val="000000"/>
                        </a:solidFill>
                        <a:latin typeface="Cambria Math" panose="02040503050406030204" pitchFamily="18" charset="0"/>
                        <a:ea typeface="Microsoft YaHei" panose="020B0503020204020204" pitchFamily="34" charset="-122"/>
                      </a:rPr>
                      <m:t>)</m:t>
                    </m:r>
                  </m:oMath>
                </a14:m>
                <a:r>
                  <a:rPr lang="zh-CN" altLang="en" sz="1800" dirty="0">
                    <a:solidFill>
                      <a:srgbClr val="000000"/>
                    </a:solidFill>
                    <a:effectLst/>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其概率密度函数为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2" name="文本框 1">
                <a:extLst>
                  <a:ext uri="{FF2B5EF4-FFF2-40B4-BE49-F238E27FC236}">
                    <a16:creationId xmlns:a16="http://schemas.microsoft.com/office/drawing/2014/main" id="{A88C71B9-A167-4468-CB63-97712970A27C}"/>
                  </a:ext>
                </a:extLst>
              </p:cNvPr>
              <p:cNvSpPr txBox="1">
                <a:spLocks noRot="1" noChangeAspect="1" noMove="1" noResize="1" noEditPoints="1" noAdjustHandles="1" noChangeArrowheads="1" noChangeShapeType="1" noTextEdit="1"/>
              </p:cNvSpPr>
              <p:nvPr/>
            </p:nvSpPr>
            <p:spPr>
              <a:xfrm>
                <a:off x="526021" y="927686"/>
                <a:ext cx="9170504" cy="369332"/>
              </a:xfrm>
              <a:prstGeom prst="rect">
                <a:avLst/>
              </a:prstGeom>
              <a:blipFill>
                <a:blip r:embed="rId2"/>
                <a:stretch>
                  <a:fillRect l="-553" t="-3226" b="-19355"/>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5B2214EB-C7D6-1A2B-285C-F9817E21CB51}"/>
              </a:ext>
            </a:extLst>
          </p:cNvPr>
          <p:cNvPicPr>
            <a:picLocks noChangeAspect="1"/>
          </p:cNvPicPr>
          <p:nvPr/>
        </p:nvPicPr>
        <p:blipFill>
          <a:blip r:embed="rId3"/>
          <a:stretch>
            <a:fillRect/>
          </a:stretch>
        </p:blipFill>
        <p:spPr>
          <a:xfrm>
            <a:off x="3249895" y="1460892"/>
            <a:ext cx="4597400" cy="1193800"/>
          </a:xfrm>
          <a:prstGeom prst="rect">
            <a:avLst/>
          </a:prstGeom>
        </p:spPr>
      </p:pic>
      <p:pic>
        <p:nvPicPr>
          <p:cNvPr id="5" name="图片 4">
            <a:extLst>
              <a:ext uri="{FF2B5EF4-FFF2-40B4-BE49-F238E27FC236}">
                <a16:creationId xmlns:a16="http://schemas.microsoft.com/office/drawing/2014/main" id="{624FE144-8991-D8E7-93C3-8430F1BEC44F}"/>
              </a:ext>
            </a:extLst>
          </p:cNvPr>
          <p:cNvPicPr>
            <a:picLocks noChangeAspect="1"/>
          </p:cNvPicPr>
          <p:nvPr/>
        </p:nvPicPr>
        <p:blipFill>
          <a:blip r:embed="rId4"/>
          <a:stretch>
            <a:fillRect/>
          </a:stretch>
        </p:blipFill>
        <p:spPr>
          <a:xfrm>
            <a:off x="888954" y="3326072"/>
            <a:ext cx="9808535" cy="2898454"/>
          </a:xfrm>
          <a:prstGeom prst="rect">
            <a:avLst/>
          </a:prstGeom>
        </p:spPr>
      </p:pic>
      <p:sp>
        <p:nvSpPr>
          <p:cNvPr id="9" name="文本框 8">
            <a:extLst>
              <a:ext uri="{FF2B5EF4-FFF2-40B4-BE49-F238E27FC236}">
                <a16:creationId xmlns:a16="http://schemas.microsoft.com/office/drawing/2014/main" id="{86071D96-5247-A6A2-3F67-45E44364E46D}"/>
              </a:ext>
            </a:extLst>
          </p:cNvPr>
          <p:cNvSpPr txBox="1"/>
          <p:nvPr/>
        </p:nvSpPr>
        <p:spPr>
          <a:xfrm>
            <a:off x="526021" y="2788465"/>
            <a:ext cx="8584401" cy="369332"/>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从 </a:t>
            </a:r>
            <a:r>
              <a:rPr lang="en-US" altLang="zh-CN" sz="1800" dirty="0">
                <a:solidFill>
                  <a:srgbClr val="000000"/>
                </a:solidFill>
                <a:effectLst/>
                <a:latin typeface="Microsoft YaHei" panose="020B0503020204020204" pitchFamily="34" charset="-122"/>
                <a:ea typeface="Microsoft YaHei" panose="020B0503020204020204" pitchFamily="34" charset="-122"/>
              </a:rPr>
              <a:t>1 </a:t>
            </a:r>
            <a:r>
              <a:rPr lang="zh-CN" altLang="en-US" sz="1800" dirty="0">
                <a:solidFill>
                  <a:srgbClr val="000000"/>
                </a:solidFill>
                <a:effectLst/>
                <a:latin typeface="Microsoft YaHei" panose="020B0503020204020204" pitchFamily="34" charset="-122"/>
                <a:ea typeface="Microsoft YaHei" panose="020B0503020204020204" pitchFamily="34" charset="-122"/>
              </a:rPr>
              <a:t>维、</a:t>
            </a:r>
            <a:r>
              <a:rPr lang="en-US" altLang="zh-CN" sz="1800" dirty="0">
                <a:solidFill>
                  <a:srgbClr val="000000"/>
                </a:solidFill>
                <a:effectLst/>
                <a:latin typeface="Microsoft YaHei" panose="020B0503020204020204" pitchFamily="34" charset="-122"/>
                <a:ea typeface="Microsoft YaHei" panose="020B0503020204020204" pitchFamily="34" charset="-122"/>
              </a:rPr>
              <a:t>10 </a:t>
            </a:r>
            <a:r>
              <a:rPr lang="zh-CN" altLang="en-US" sz="1800" dirty="0">
                <a:solidFill>
                  <a:srgbClr val="000000"/>
                </a:solidFill>
                <a:effectLst/>
                <a:latin typeface="Microsoft YaHei" panose="020B0503020204020204" pitchFamily="34" charset="-122"/>
                <a:ea typeface="Microsoft YaHei" panose="020B0503020204020204" pitchFamily="34" charset="-122"/>
              </a:rPr>
              <a:t>维和 </a:t>
            </a:r>
            <a:r>
              <a:rPr lang="en-US" altLang="zh-CN" sz="1800" dirty="0">
                <a:solidFill>
                  <a:srgbClr val="000000"/>
                </a:solidFill>
                <a:effectLst/>
                <a:latin typeface="Microsoft YaHei" panose="020B0503020204020204" pitchFamily="34" charset="-122"/>
                <a:ea typeface="Microsoft YaHei" panose="020B0503020204020204" pitchFamily="34" charset="-122"/>
              </a:rPr>
              <a:t>1000 </a:t>
            </a:r>
            <a:r>
              <a:rPr lang="zh-CN" altLang="en-US" sz="1800" dirty="0">
                <a:solidFill>
                  <a:srgbClr val="000000"/>
                </a:solidFill>
                <a:effectLst/>
                <a:latin typeface="Microsoft YaHei" panose="020B0503020204020204" pitchFamily="34" charset="-122"/>
                <a:ea typeface="Microsoft YaHei" panose="020B0503020204020204" pitchFamily="34" charset="-122"/>
              </a:rPr>
              <a:t>维高斯分布中采样的 </a:t>
            </a:r>
            <a:r>
              <a:rPr lang="en-US" altLang="zh-CN" sz="1800" dirty="0">
                <a:solidFill>
                  <a:srgbClr val="000000"/>
                </a:solidFill>
                <a:effectLst/>
                <a:latin typeface="Microsoft YaHei" panose="020B0503020204020204" pitchFamily="34" charset="-122"/>
                <a:ea typeface="Microsoft YaHei" panose="020B0503020204020204" pitchFamily="34" charset="-122"/>
              </a:rPr>
              <a:t>10000 </a:t>
            </a:r>
            <a:r>
              <a:rPr lang="zh-CN" altLang="en-US" sz="1800" dirty="0">
                <a:solidFill>
                  <a:srgbClr val="000000"/>
                </a:solidFill>
                <a:effectLst/>
                <a:latin typeface="Microsoft YaHei" panose="020B0503020204020204" pitchFamily="34" charset="-122"/>
                <a:ea typeface="Microsoft YaHei" panose="020B0503020204020204" pitchFamily="34" charset="-122"/>
              </a:rPr>
              <a:t>个数据点距离原点的距离分布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10" name="椭圆形标注 9">
                <a:extLst>
                  <a:ext uri="{FF2B5EF4-FFF2-40B4-BE49-F238E27FC236}">
                    <a16:creationId xmlns:a16="http://schemas.microsoft.com/office/drawing/2014/main" id="{1DBF9C20-B187-5272-07B7-D3BF5F704024}"/>
                  </a:ext>
                </a:extLst>
              </p:cNvPr>
              <p:cNvSpPr/>
              <p:nvPr/>
            </p:nvSpPr>
            <p:spPr>
              <a:xfrm>
                <a:off x="9296136" y="1971653"/>
                <a:ext cx="2802705" cy="679783"/>
              </a:xfrm>
              <a:prstGeom prst="wedgeEllipseCallout">
                <a:avLst>
                  <a:gd name="adj1" fmla="val -48557"/>
                  <a:gd name="adj2" fmla="val 32868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𝒅</m:t>
                    </m:r>
                  </m:oMath>
                </a14:m>
                <a:endParaRPr kumimoji="1" lang="zh-CN" altLang="en-US" b="1" dirty="0">
                  <a:solidFill>
                    <a:srgbClr val="C00000"/>
                  </a:solidFill>
                  <a:latin typeface="Microsoft YaHei" panose="020B0503020204020204" pitchFamily="34" charset="-122"/>
                  <a:ea typeface="Microsoft YaHei" panose="020B0503020204020204" pitchFamily="34" charset="-122"/>
                </a:endParaRPr>
              </a:p>
            </p:txBody>
          </p:sp>
        </mc:Choice>
        <mc:Fallback xmlns="">
          <p:sp>
            <p:nvSpPr>
              <p:cNvPr id="10" name="椭圆形标注 9">
                <a:extLst>
                  <a:ext uri="{FF2B5EF4-FFF2-40B4-BE49-F238E27FC236}">
                    <a16:creationId xmlns:a16="http://schemas.microsoft.com/office/drawing/2014/main" id="{1DBF9C20-B187-5272-07B7-D3BF5F704024}"/>
                  </a:ext>
                </a:extLst>
              </p:cNvPr>
              <p:cNvSpPr>
                <a:spLocks noRot="1" noChangeAspect="1" noMove="1" noResize="1" noEditPoints="1" noAdjustHandles="1" noChangeArrowheads="1" noChangeShapeType="1" noTextEdit="1"/>
              </p:cNvSpPr>
              <p:nvPr/>
            </p:nvSpPr>
            <p:spPr>
              <a:xfrm>
                <a:off x="9296136" y="1971653"/>
                <a:ext cx="2802705" cy="679783"/>
              </a:xfrm>
              <a:prstGeom prst="wedgeEllipseCallout">
                <a:avLst>
                  <a:gd name="adj1" fmla="val -48557"/>
                  <a:gd name="adj2" fmla="val 328685"/>
                </a:avLst>
              </a:prstGeom>
              <a:blipFill>
                <a:blip r:embed="rId5"/>
                <a:stretch>
                  <a:fillRect/>
                </a:stretch>
              </a:blipFill>
              <a:ln>
                <a:noFill/>
              </a:ln>
            </p:spPr>
            <p:txBody>
              <a:bodyPr/>
              <a:lstStyle/>
              <a:p>
                <a:r>
                  <a:rPr lang="zh-CN" altLang="en-US">
                    <a:noFill/>
                  </a:rPr>
                  <a:t> </a:t>
                </a:r>
              </a:p>
            </p:txBody>
          </p:sp>
        </mc:Fallback>
      </mc:AlternateContent>
    </p:spTree>
    <p:extLst>
      <p:ext uri="{BB962C8B-B14F-4D97-AF65-F5344CB8AC3E}">
        <p14:creationId xmlns:p14="http://schemas.microsoft.com/office/powerpoint/2010/main" val="339130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95740-D433-C16F-3182-DA656BAF729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AD7753B-9FBD-E025-F257-86F440D1E7BF}"/>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理解高斯环带定理</a:t>
            </a:r>
          </a:p>
        </p:txBody>
      </p:sp>
      <p:sp>
        <p:nvSpPr>
          <p:cNvPr id="8" name="文本框 7">
            <a:extLst>
              <a:ext uri="{FF2B5EF4-FFF2-40B4-BE49-F238E27FC236}">
                <a16:creationId xmlns:a16="http://schemas.microsoft.com/office/drawing/2014/main" id="{72B059AA-6370-D587-9BD8-314B3CCEF021}"/>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12819B81-CCF1-67DB-B85B-C0F393A6C22C}"/>
              </a:ext>
            </a:extLst>
          </p:cNvPr>
          <p:cNvSpPr txBox="1"/>
          <p:nvPr/>
        </p:nvSpPr>
        <p:spPr>
          <a:xfrm>
            <a:off x="288842" y="1828085"/>
            <a:ext cx="11555896" cy="961225"/>
          </a:xfrm>
          <a:prstGeom prst="rect">
            <a:avLst/>
          </a:prstGeom>
          <a:noFill/>
        </p:spPr>
        <p:txBody>
          <a:bodyPr wrap="square" rtlCol="0">
            <a:spAutoFit/>
          </a:bodyPr>
          <a:lstStyle/>
          <a:p>
            <a:pPr marL="285750" indent="-285750">
              <a:lnSpc>
                <a:spcPct val="150000"/>
              </a:lnSpc>
              <a:buFont typeface="Wingdings" pitchFamily="2" charset="2"/>
              <a:buChar char="p"/>
            </a:pPr>
            <a:r>
              <a:rPr kumimoji="1" lang="zh-CN" altLang="en-US" sz="2000" dirty="0">
                <a:solidFill>
                  <a:srgbClr val="000000"/>
                </a:solidFill>
                <a:ea typeface="Microsoft YaHei" panose="020B0503020204020204" pitchFamily="34" charset="-122"/>
              </a:rPr>
              <a:t>但高维空间中原点附近实际上包含的体积极小</a:t>
            </a:r>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p"/>
            </a:pPr>
            <a:r>
              <a:rPr lang="en" altLang="zh-CN" sz="2000" dirty="0">
                <a:solidFill>
                  <a:srgbClr val="000000"/>
                </a:solidFill>
                <a:effectLst/>
                <a:latin typeface="Microsoft YaHei" panose="020B0503020204020204" pitchFamily="34" charset="-122"/>
                <a:ea typeface="Microsoft YaHei" panose="020B0503020204020204" pitchFamily="34" charset="-122"/>
              </a:rPr>
              <a:t>d </a:t>
            </a:r>
            <a:r>
              <a:rPr lang="zh-CN" altLang="en-US" sz="2000" dirty="0">
                <a:solidFill>
                  <a:srgbClr val="000000"/>
                </a:solidFill>
                <a:effectLst/>
                <a:latin typeface="Microsoft YaHei" panose="020B0503020204020204" pitchFamily="34" charset="-122"/>
                <a:ea typeface="Microsoft YaHei" panose="020B0503020204020204" pitchFamily="34" charset="-122"/>
              </a:rPr>
              <a:t>维</a:t>
            </a:r>
            <a:r>
              <a:rPr lang="zh-CN" altLang="en-US" sz="2000" b="1" dirty="0">
                <a:solidFill>
                  <a:srgbClr val="000000"/>
                </a:solidFill>
                <a:effectLst/>
                <a:latin typeface="Microsoft YaHei" panose="020B0503020204020204" pitchFamily="34" charset="-122"/>
                <a:ea typeface="Microsoft YaHei" panose="020B0503020204020204" pitchFamily="34" charset="-122"/>
              </a:rPr>
              <a:t>单位球的体积 </a:t>
            </a:r>
            <a:r>
              <a:rPr lang="en" altLang="zh-CN" sz="2000" dirty="0">
                <a:solidFill>
                  <a:srgbClr val="000000"/>
                </a:solidFill>
                <a:effectLst/>
                <a:latin typeface="Microsoft YaHei" panose="020B0503020204020204" pitchFamily="34" charset="-122"/>
                <a:ea typeface="Microsoft YaHei" panose="020B0503020204020204" pitchFamily="34" charset="-122"/>
              </a:rPr>
              <a:t>V (d) </a:t>
            </a:r>
            <a:r>
              <a:rPr lang="zh-CN" altLang="en-US" sz="2000" dirty="0">
                <a:solidFill>
                  <a:srgbClr val="000000"/>
                </a:solidFill>
                <a:effectLst/>
                <a:latin typeface="Microsoft YaHei" panose="020B0503020204020204" pitchFamily="34" charset="-122"/>
                <a:ea typeface="Microsoft YaHei" panose="020B0503020204020204" pitchFamily="34" charset="-122"/>
              </a:rPr>
              <a:t>可以用以下公式表示</a:t>
            </a:r>
            <a:r>
              <a:rPr lang="en-US" altLang="zh-CN" sz="2000" dirty="0">
                <a:solidFill>
                  <a:srgbClr val="000000"/>
                </a:solidFill>
                <a:effectLst/>
                <a:latin typeface="Microsoft YaHei" panose="020B0503020204020204" pitchFamily="34" charset="-122"/>
                <a:ea typeface="Microsoft YaHei" panose="020B0503020204020204" pitchFamily="34" charset="-122"/>
              </a:rPr>
              <a:t>: </a:t>
            </a:r>
            <a:endParaRPr lang="zh-CN" altLang="en-US" sz="2000" dirty="0">
              <a:solidFill>
                <a:srgbClr val="000000"/>
              </a:solidFill>
              <a:latin typeface="Microsoft YaHei" panose="020B0503020204020204" pitchFamily="34" charset="-122"/>
              <a:ea typeface="Microsoft YaHei" panose="020B0503020204020204" pitchFamily="34" charset="-122"/>
            </a:endParaRPr>
          </a:p>
        </p:txBody>
      </p:sp>
      <p:pic>
        <p:nvPicPr>
          <p:cNvPr id="12" name="图片 11">
            <a:extLst>
              <a:ext uri="{FF2B5EF4-FFF2-40B4-BE49-F238E27FC236}">
                <a16:creationId xmlns:a16="http://schemas.microsoft.com/office/drawing/2014/main" id="{EC99CFB3-5566-F3A8-48E6-713B89F82532}"/>
              </a:ext>
            </a:extLst>
          </p:cNvPr>
          <p:cNvPicPr>
            <a:picLocks noChangeAspect="1"/>
          </p:cNvPicPr>
          <p:nvPr/>
        </p:nvPicPr>
        <p:blipFill>
          <a:blip r:embed="rId34"/>
          <a:stretch>
            <a:fillRect/>
          </a:stretch>
        </p:blipFill>
        <p:spPr>
          <a:xfrm>
            <a:off x="8458100" y="850377"/>
            <a:ext cx="3459802" cy="898402"/>
          </a:xfrm>
          <a:prstGeom prst="rect">
            <a:avLst/>
          </a:prstGeom>
        </p:spPr>
      </p:pic>
      <p:pic>
        <p:nvPicPr>
          <p:cNvPr id="13" name="图片 12">
            <a:extLst>
              <a:ext uri="{FF2B5EF4-FFF2-40B4-BE49-F238E27FC236}">
                <a16:creationId xmlns:a16="http://schemas.microsoft.com/office/drawing/2014/main" id="{69D07633-9814-127A-D967-532C93519BF7}"/>
              </a:ext>
            </a:extLst>
          </p:cNvPr>
          <p:cNvPicPr>
            <a:picLocks noChangeAspect="1"/>
          </p:cNvPicPr>
          <p:nvPr/>
        </p:nvPicPr>
        <p:blipFill>
          <a:blip r:embed="rId35"/>
          <a:stretch>
            <a:fillRect/>
          </a:stretch>
        </p:blipFill>
        <p:spPr>
          <a:xfrm>
            <a:off x="8916385" y="1634658"/>
            <a:ext cx="3016262" cy="2321132"/>
          </a:xfrm>
          <a:prstGeom prst="rect">
            <a:avLst/>
          </a:prstGeom>
        </p:spPr>
      </p:pic>
      <p:sp>
        <p:nvSpPr>
          <p:cNvPr id="14" name="文本框 13">
            <a:extLst>
              <a:ext uri="{FF2B5EF4-FFF2-40B4-BE49-F238E27FC236}">
                <a16:creationId xmlns:a16="http://schemas.microsoft.com/office/drawing/2014/main" id="{9926095F-D7AB-E441-DF8C-0E4583A5CEA2}"/>
              </a:ext>
            </a:extLst>
          </p:cNvPr>
          <p:cNvSpPr txBox="1"/>
          <p:nvPr/>
        </p:nvSpPr>
        <p:spPr>
          <a:xfrm>
            <a:off x="288842" y="930246"/>
            <a:ext cx="8154513" cy="968150"/>
          </a:xfrm>
          <a:prstGeom prst="rect">
            <a:avLst/>
          </a:prstGeom>
          <a:noFill/>
        </p:spPr>
        <p:txBody>
          <a:bodyPr wrap="square">
            <a:spAutoFit/>
          </a:bodyPr>
          <a:lstStyle/>
          <a:p>
            <a:pPr marL="285750" indent="-285750">
              <a:lnSpc>
                <a:spcPct val="150000"/>
              </a:lnSpc>
              <a:buFont typeface="Wingdings" pitchFamily="2" charset="2"/>
              <a:buChar char="p"/>
            </a:pPr>
            <a:r>
              <a:rPr kumimoji="1" lang="zh-CN" altLang="en-US" sz="2000" dirty="0">
                <a:solidFill>
                  <a:srgbClr val="000000"/>
                </a:solidFill>
                <a:ea typeface="Microsoft YaHei" panose="020B0503020204020204" pitchFamily="34" charset="-122"/>
              </a:rPr>
              <a:t>概率密度函数在原点 </a:t>
            </a:r>
            <a:r>
              <a:rPr kumimoji="1" lang="en" altLang="zh-CN" sz="2000" dirty="0">
                <a:solidFill>
                  <a:srgbClr val="000000"/>
                </a:solidFill>
                <a:ea typeface="Microsoft YaHei" panose="020B0503020204020204" pitchFamily="34" charset="-122"/>
              </a:rPr>
              <a:t>x = 0 </a:t>
            </a:r>
            <a:r>
              <a:rPr kumimoji="1" lang="zh-CN" altLang="en-US" sz="2000" dirty="0">
                <a:solidFill>
                  <a:srgbClr val="000000"/>
                </a:solidFill>
                <a:ea typeface="Microsoft YaHei" panose="020B0503020204020204" pitchFamily="34" charset="-122"/>
              </a:rPr>
              <a:t>处达到最大值 ⟹ 一维高斯分布集中在原点附近</a:t>
            </a:r>
            <a:endParaRPr lang="zh-CN" altLang="en-US" sz="2000" dirty="0">
              <a:solidFill>
                <a:srgbClr val="000000"/>
              </a:solidFill>
            </a:endParaRPr>
          </a:p>
        </p:txBody>
      </p:sp>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CAC3F1D8-9B00-F292-3E00-EF33336DE8F5}"/>
                  </a:ext>
                </a:extLst>
              </p:cNvPr>
              <p:cNvSpPr txBox="1"/>
              <p:nvPr/>
            </p:nvSpPr>
            <p:spPr>
              <a:xfrm>
                <a:off x="288842" y="4355879"/>
                <a:ext cx="11966827" cy="1892826"/>
              </a:xfrm>
              <a:prstGeom prst="rect">
                <a:avLst/>
              </a:prstGeom>
              <a:noFill/>
            </p:spPr>
            <p:txBody>
              <a:bodyPr wrap="square">
                <a:spAutoFit/>
              </a:bodyPr>
              <a:lstStyle/>
              <a:p>
                <a:pPr marL="285750" indent="-285750" algn="l">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对单位球体积进行积分</a:t>
                </a:r>
                <a:r>
                  <a:rPr kumimoji="1" lang="zh-CN" altLang="en-US" sz="2000" dirty="0">
                    <a:solidFill>
                      <a:srgbClr val="C00000"/>
                    </a:solidFill>
                    <a:latin typeface="Microsoft YaHei" panose="020B0503020204020204" pitchFamily="34" charset="-122"/>
                    <a:ea typeface="Microsoft YaHei" panose="020B0503020204020204" pitchFamily="34" charset="-122"/>
                  </a:rPr>
                  <a:t>：</a:t>
                </a:r>
                <a:r>
                  <a:rPr kumimoji="1" lang="zh-CN" altLang="en-US" sz="2000" dirty="0">
                    <a:solidFill>
                      <a:srgbClr val="000000"/>
                    </a:solidFill>
                    <a:latin typeface="Microsoft YaHei" panose="020B0503020204020204" pitchFamily="34" charset="-122"/>
                    <a:ea typeface="Microsoft YaHei" panose="020B0503020204020204" pitchFamily="34" charset="-122"/>
                  </a:rPr>
                  <a:t>由于单位球的体积随维数增加而快速减小，概率质量几乎为零</a:t>
                </a:r>
              </a:p>
              <a:p>
                <a:pPr marL="285750" indent="-285750">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增大积分的区域：</a:t>
                </a:r>
                <a:r>
                  <a:rPr kumimoji="1" lang="zh-CN" altLang="en-US" sz="2000" dirty="0">
                    <a:solidFill>
                      <a:srgbClr val="000000"/>
                    </a:solidFill>
                    <a:latin typeface="Microsoft YaHei" panose="020B0503020204020204" pitchFamily="34" charset="-122"/>
                    <a:ea typeface="Microsoft YaHei" panose="020B0503020204020204" pitchFamily="34" charset="-122"/>
                  </a:rPr>
                  <a:t>考虑半径为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球</a:t>
                </a:r>
                <a:r>
                  <a:rPr lang="zh-CN" altLang="en-US" sz="2000" dirty="0">
                    <a:solidFill>
                      <a:srgbClr val="000000"/>
                    </a:solidFill>
                    <a:latin typeface="Microsoft YaHei" panose="020B0503020204020204" pitchFamily="34" charset="-122"/>
                    <a:ea typeface="Microsoft YaHei" panose="020B0503020204020204" pitchFamily="34" charset="-122"/>
                  </a:rPr>
                  <a:t>壳附近</a:t>
                </a:r>
                <a:r>
                  <a:rPr lang="zh-CN" altLang="en-US" sz="2000" dirty="0">
                    <a:solidFill>
                      <a:srgbClr val="000000"/>
                    </a:solidFill>
                    <a:effectLst/>
                    <a:latin typeface="Microsoft YaHei" panose="020B0503020204020204" pitchFamily="34" charset="-122"/>
                    <a:ea typeface="Microsoft YaHei" panose="020B0503020204020204" pitchFamily="34" charset="-122"/>
                  </a:rPr>
                  <a:t>，体积变得相对可观，球壳体积 </a:t>
                </a:r>
                <a14:m>
                  <m:oMath xmlns:m="http://schemas.openxmlformats.org/officeDocument/2006/math">
                    <m:sSub>
                      <m:sSubPr>
                        <m:ctrlPr>
                          <a:rPr lang="en-US" altLang="zh-CN" sz="2000" b="0" i="1" smtClean="0">
                            <a:solidFill>
                              <a:srgbClr val="000000"/>
                            </a:solidFill>
                            <a:effectLst/>
                            <a:latin typeface="Cambria Math" panose="02040503050406030204" pitchFamily="18" charset="0"/>
                            <a:ea typeface="Microsoft YaHei" panose="020B0503020204020204" pitchFamily="34" charset="-122"/>
                          </a:rPr>
                        </m:ctrlPr>
                      </m:sSubPr>
                      <m:e>
                        <m:r>
                          <a:rPr lang="en-US" altLang="zh-CN" sz="2000" b="0" i="1" smtClean="0">
                            <a:solidFill>
                              <a:srgbClr val="000000"/>
                            </a:solidFill>
                            <a:effectLst/>
                            <a:latin typeface="Cambria Math" panose="02040503050406030204" pitchFamily="18" charset="0"/>
                            <a:ea typeface="Microsoft YaHei" panose="020B0503020204020204" pitchFamily="34" charset="-122"/>
                          </a:rPr>
                          <m:t>𝑉</m:t>
                        </m:r>
                      </m:e>
                      <m:sub>
                        <m:r>
                          <a:rPr lang="en-US" altLang="zh-CN" sz="2000" b="0" i="1" smtClean="0">
                            <a:solidFill>
                              <a:srgbClr val="000000"/>
                            </a:solidFill>
                            <a:effectLst/>
                            <a:latin typeface="Cambria Math" panose="02040503050406030204" pitchFamily="18" charset="0"/>
                            <a:ea typeface="Microsoft YaHei" panose="020B0503020204020204" pitchFamily="34" charset="-122"/>
                          </a:rPr>
                          <m:t>𝑆</m:t>
                        </m:r>
                      </m:sub>
                    </m:sSub>
                    <m:r>
                      <a:rPr lang="en-US" altLang="zh-CN" sz="2000" b="0" i="1" smtClean="0">
                        <a:solidFill>
                          <a:srgbClr val="000000"/>
                        </a:solidFill>
                        <a:effectLst/>
                        <a:latin typeface="Cambria Math" panose="02040503050406030204" pitchFamily="18" charset="0"/>
                        <a:ea typeface="Microsoft YaHei" panose="020B0503020204020204" pitchFamily="34" charset="-122"/>
                      </a:rPr>
                      <m:t>∝</m:t>
                    </m:r>
                    <m:sSup>
                      <m:sSupPr>
                        <m:ctrlPr>
                          <a:rPr lang="en-US" altLang="zh-CN" sz="2000" b="0" i="1" smtClean="0">
                            <a:solidFill>
                              <a:srgbClr val="000000"/>
                            </a:solidFill>
                            <a:effectLst/>
                            <a:latin typeface="Cambria Math" panose="02040503050406030204" pitchFamily="18" charset="0"/>
                            <a:ea typeface="Microsoft YaHei" panose="020B0503020204020204" pitchFamily="34" charset="-122"/>
                          </a:rPr>
                        </m:ctrlPr>
                      </m:sSupPr>
                      <m:e>
                        <m:r>
                          <a:rPr lang="en-US" altLang="zh-CN" sz="2000" b="0" i="1" smtClean="0">
                            <a:solidFill>
                              <a:srgbClr val="000000"/>
                            </a:solidFill>
                            <a:effectLst/>
                            <a:latin typeface="Cambria Math" panose="02040503050406030204" pitchFamily="18" charset="0"/>
                            <a:ea typeface="Microsoft YaHei" panose="020B0503020204020204" pitchFamily="34" charset="-122"/>
                          </a:rPr>
                          <m:t>𝑟</m:t>
                        </m:r>
                      </m:e>
                      <m:sup>
                        <m:r>
                          <a:rPr lang="en-US" altLang="zh-CN" sz="2000" b="0" i="1" smtClean="0">
                            <a:solidFill>
                              <a:srgbClr val="000000"/>
                            </a:solidFill>
                            <a:effectLst/>
                            <a:latin typeface="Cambria Math" panose="02040503050406030204" pitchFamily="18" charset="0"/>
                            <a:ea typeface="Microsoft YaHei" panose="020B0503020204020204" pitchFamily="34" charset="-122"/>
                          </a:rPr>
                          <m:t>𝑑</m:t>
                        </m:r>
                        <m:r>
                          <a:rPr lang="en-US" altLang="zh-CN" sz="2000" b="0" i="1" smtClean="0">
                            <a:solidFill>
                              <a:srgbClr val="000000"/>
                            </a:solidFill>
                            <a:effectLst/>
                            <a:latin typeface="Cambria Math" panose="02040503050406030204" pitchFamily="18" charset="0"/>
                            <a:ea typeface="Microsoft YaHei" panose="020B0503020204020204" pitchFamily="34" charset="-122"/>
                          </a:rPr>
                          <m:t>−1</m:t>
                        </m:r>
                      </m:sup>
                    </m:sSup>
                  </m:oMath>
                </a14:m>
                <a:endParaRPr lang="en-US" altLang="zh-CN" sz="2000" b="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折中效果：</a:t>
                </a:r>
                <a:r>
                  <a:rPr kumimoji="1" lang="zh-CN" altLang="en-US" sz="2000" dirty="0">
                    <a:solidFill>
                      <a:srgbClr val="000000"/>
                    </a:solidFill>
                    <a:latin typeface="Microsoft YaHei" panose="020B0503020204020204" pitchFamily="34" charset="-122"/>
                    <a:ea typeface="Microsoft YaHei" panose="020B0503020204020204" pitchFamily="34" charset="-122"/>
                  </a:rPr>
                  <a:t>虽然概率密度 </a:t>
                </a:r>
                <a:r>
                  <a:rPr kumimoji="1" lang="en-US" altLang="zh-CN" sz="2000" dirty="0">
                    <a:solidFill>
                      <a:srgbClr val="000000"/>
                    </a:solidFill>
                    <a:latin typeface="Microsoft YaHei" panose="020B0503020204020204" pitchFamily="34" charset="-122"/>
                    <a:ea typeface="Microsoft YaHei" panose="020B0503020204020204" pitchFamily="34" charset="-122"/>
                  </a:rPr>
                  <a:t>p(x) </a:t>
                </a:r>
                <a:r>
                  <a:rPr kumimoji="1" lang="zh-CN" altLang="en-US" sz="2000" dirty="0">
                    <a:solidFill>
                      <a:srgbClr val="000000"/>
                    </a:solidFill>
                    <a:latin typeface="Microsoft YaHei" panose="020B0503020204020204" pitchFamily="34" charset="-122"/>
                    <a:ea typeface="Microsoft YaHei" panose="020B0503020204020204" pitchFamily="34" charset="-122"/>
                  </a:rPr>
                  <a:t>随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增大而快速衰减，但球壳的体积增长会抵消这种衰减，从而概率质量集中在某个特定的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附近。</a:t>
                </a:r>
                <a:r>
                  <a:rPr kumimoji="1" lang="en-US" altLang="zh-CN" sz="2000" b="1" dirty="0">
                    <a:solidFill>
                      <a:srgbClr val="B61516"/>
                    </a:solidFill>
                    <a:latin typeface="Microsoft YaHei" panose="020B0503020204020204" pitchFamily="34" charset="-122"/>
                    <a:ea typeface="Microsoft YaHei" panose="020B0503020204020204" pitchFamily="34" charset="-122"/>
                  </a:rPr>
                  <a:t> </a:t>
                </a:r>
                <a:endParaRPr kumimoji="1" lang="zh-CN" altLang="en-US" sz="2000" b="1"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CAC3F1D8-9B00-F292-3E00-EF33336DE8F5}"/>
                  </a:ext>
                </a:extLst>
              </p:cNvPr>
              <p:cNvSpPr txBox="1">
                <a:spLocks noRot="1" noChangeAspect="1" noMove="1" noResize="1" noEditPoints="1" noAdjustHandles="1" noChangeArrowheads="1" noChangeShapeType="1" noTextEdit="1"/>
              </p:cNvSpPr>
              <p:nvPr/>
            </p:nvSpPr>
            <p:spPr>
              <a:xfrm>
                <a:off x="288842" y="4355879"/>
                <a:ext cx="11966827" cy="1892826"/>
              </a:xfrm>
              <a:prstGeom prst="rect">
                <a:avLst/>
              </a:prstGeom>
              <a:blipFill>
                <a:blip r:embed="rId36"/>
                <a:stretch>
                  <a:fillRect l="-424" b="-4667"/>
                </a:stretch>
              </a:blipFill>
            </p:spPr>
            <p:txBody>
              <a:bodyPr/>
              <a:lstStyle/>
              <a:p>
                <a:r>
                  <a:rPr lang="zh-CN" altLang="en-US">
                    <a:noFill/>
                  </a:rPr>
                  <a:t> </a:t>
                </a:r>
              </a:p>
            </p:txBody>
          </p:sp>
        </mc:Fallback>
      </mc:AlternateContent>
      <p:grpSp>
        <p:nvGrpSpPr>
          <p:cNvPr id="45" name="组合 44" descr="\documentclass{article}&#10;\usepackage{amsmath}&#10;\pagestyle{empty}&#10;\begin{document}&#10;&#10;$$&#10;V(d)=\frac{2 \pi^{\frac{d}{2}}}{d \Gamma\left(\frac{d}{2}\right)} \quad \lim _{d \rightarrow \infty} V(d)=0 .&#10;$$&#10;&#10;&#10;&#10;\end{document}" title="IguanaTex Vector Display">
            <a:extLst>
              <a:ext uri="{FF2B5EF4-FFF2-40B4-BE49-F238E27FC236}">
                <a16:creationId xmlns:a16="http://schemas.microsoft.com/office/drawing/2014/main" id="{5183F9F9-F8D2-C441-FC13-FBE516D4CEA9}"/>
              </a:ext>
            </a:extLst>
          </p:cNvPr>
          <p:cNvGrpSpPr>
            <a:grpSpLocks noChangeAspect="1"/>
          </p:cNvGrpSpPr>
          <p:nvPr>
            <p:custDataLst>
              <p:tags r:id="rId1"/>
            </p:custDataLst>
          </p:nvPr>
        </p:nvGrpSpPr>
        <p:grpSpPr>
          <a:xfrm>
            <a:off x="593970" y="2948169"/>
            <a:ext cx="5997466" cy="1147444"/>
            <a:chOff x="6285368" y="3945637"/>
            <a:chExt cx="3183767" cy="609123"/>
          </a:xfrm>
        </p:grpSpPr>
        <p:sp>
          <p:nvSpPr>
            <p:cNvPr id="6" name="任意形状 5">
              <a:extLst>
                <a:ext uri="{FF2B5EF4-FFF2-40B4-BE49-F238E27FC236}">
                  <a16:creationId xmlns:a16="http://schemas.microsoft.com/office/drawing/2014/main" id="{2D588807-744B-B411-44E4-E8BA1EE24790}"/>
                </a:ext>
              </a:extLst>
            </p:cNvPr>
            <p:cNvSpPr/>
            <p:nvPr>
              <p:custDataLst>
                <p:tags r:id="rId2"/>
              </p:custDataLst>
            </p:nvPr>
          </p:nvSpPr>
          <p:spPr>
            <a:xfrm>
              <a:off x="6285368" y="4159058"/>
              <a:ext cx="162382" cy="154826"/>
            </a:xfrm>
            <a:custGeom>
              <a:avLst/>
              <a:gdLst>
                <a:gd name="connsiteX0" fmla="*/ 130434 w 162382"/>
                <a:gd name="connsiteY0" fmla="*/ 25116 h 154826"/>
                <a:gd name="connsiteX1" fmla="*/ 159585 w 162382"/>
                <a:gd name="connsiteY1" fmla="*/ 6888 h 154826"/>
                <a:gd name="connsiteX2" fmla="*/ 162546 w 162382"/>
                <a:gd name="connsiteY2" fmla="*/ 2716 h 154826"/>
                <a:gd name="connsiteX3" fmla="*/ 159585 w 162382"/>
                <a:gd name="connsiteY3" fmla="*/ 80 h 154826"/>
                <a:gd name="connsiteX4" fmla="*/ 140910 w 162382"/>
                <a:gd name="connsiteY4" fmla="*/ 739 h 154826"/>
                <a:gd name="connsiteX5" fmla="*/ 118363 w 162382"/>
                <a:gd name="connsiteY5" fmla="*/ 80 h 154826"/>
                <a:gd name="connsiteX6" fmla="*/ 114036 w 162382"/>
                <a:gd name="connsiteY6" fmla="*/ 4253 h 154826"/>
                <a:gd name="connsiteX7" fmla="*/ 117680 w 162382"/>
                <a:gd name="connsiteY7" fmla="*/ 6888 h 154826"/>
                <a:gd name="connsiteX8" fmla="*/ 128157 w 162382"/>
                <a:gd name="connsiteY8" fmla="*/ 14135 h 154826"/>
                <a:gd name="connsiteX9" fmla="*/ 124740 w 162382"/>
                <a:gd name="connsiteY9" fmla="*/ 22481 h 154826"/>
                <a:gd name="connsiteX10" fmla="*/ 54822 w 162382"/>
                <a:gd name="connsiteY10" fmla="*/ 129651 h 154826"/>
                <a:gd name="connsiteX11" fmla="*/ 39336 w 162382"/>
                <a:gd name="connsiteY11" fmla="*/ 13477 h 154826"/>
                <a:gd name="connsiteX12" fmla="*/ 55050 w 162382"/>
                <a:gd name="connsiteY12" fmla="*/ 6888 h 154826"/>
                <a:gd name="connsiteX13" fmla="*/ 60744 w 162382"/>
                <a:gd name="connsiteY13" fmla="*/ 2496 h 154826"/>
                <a:gd name="connsiteX14" fmla="*/ 57555 w 162382"/>
                <a:gd name="connsiteY14" fmla="*/ 80 h 154826"/>
                <a:gd name="connsiteX15" fmla="*/ 29315 w 162382"/>
                <a:gd name="connsiteY15" fmla="*/ 739 h 154826"/>
                <a:gd name="connsiteX16" fmla="*/ 16789 w 162382"/>
                <a:gd name="connsiteY16" fmla="*/ 519 h 154826"/>
                <a:gd name="connsiteX17" fmla="*/ 4490 w 162382"/>
                <a:gd name="connsiteY17" fmla="*/ 80 h 154826"/>
                <a:gd name="connsiteX18" fmla="*/ 163 w 162382"/>
                <a:gd name="connsiteY18" fmla="*/ 4253 h 154826"/>
                <a:gd name="connsiteX19" fmla="*/ 5857 w 162382"/>
                <a:gd name="connsiteY19" fmla="*/ 6888 h 154826"/>
                <a:gd name="connsiteX20" fmla="*/ 19522 w 162382"/>
                <a:gd name="connsiteY20" fmla="*/ 14355 h 154826"/>
                <a:gd name="connsiteX21" fmla="*/ 37514 w 162382"/>
                <a:gd name="connsiteY21" fmla="*/ 149856 h 154826"/>
                <a:gd name="connsiteX22" fmla="*/ 42069 w 162382"/>
                <a:gd name="connsiteY22" fmla="*/ 154907 h 154826"/>
                <a:gd name="connsiteX23" fmla="*/ 48445 w 162382"/>
                <a:gd name="connsiteY23" fmla="*/ 150954 h 154826"/>
                <a:gd name="connsiteX24" fmla="*/ 130434 w 162382"/>
                <a:gd name="connsiteY24" fmla="*/ 25116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62382" h="154826">
                  <a:moveTo>
                    <a:pt x="130434" y="25116"/>
                  </a:moveTo>
                  <a:cubicBezTo>
                    <a:pt x="141594" y="7986"/>
                    <a:pt x="151159" y="7327"/>
                    <a:pt x="159585" y="6888"/>
                  </a:cubicBezTo>
                  <a:cubicBezTo>
                    <a:pt x="162318" y="6669"/>
                    <a:pt x="162546" y="2935"/>
                    <a:pt x="162546" y="2716"/>
                  </a:cubicBezTo>
                  <a:cubicBezTo>
                    <a:pt x="162546" y="959"/>
                    <a:pt x="161407" y="80"/>
                    <a:pt x="159585" y="80"/>
                  </a:cubicBezTo>
                  <a:cubicBezTo>
                    <a:pt x="153664" y="80"/>
                    <a:pt x="147059" y="739"/>
                    <a:pt x="140910" y="739"/>
                  </a:cubicBezTo>
                  <a:cubicBezTo>
                    <a:pt x="133395" y="739"/>
                    <a:pt x="125651" y="80"/>
                    <a:pt x="118363" y="80"/>
                  </a:cubicBezTo>
                  <a:cubicBezTo>
                    <a:pt x="116997" y="80"/>
                    <a:pt x="114036" y="80"/>
                    <a:pt x="114036" y="4253"/>
                  </a:cubicBezTo>
                  <a:cubicBezTo>
                    <a:pt x="114036" y="6669"/>
                    <a:pt x="116086" y="6888"/>
                    <a:pt x="117680" y="6888"/>
                  </a:cubicBezTo>
                  <a:cubicBezTo>
                    <a:pt x="123829" y="7327"/>
                    <a:pt x="128157" y="9524"/>
                    <a:pt x="128157" y="14135"/>
                  </a:cubicBezTo>
                  <a:cubicBezTo>
                    <a:pt x="128157" y="17430"/>
                    <a:pt x="124740" y="22261"/>
                    <a:pt x="124740" y="22481"/>
                  </a:cubicBezTo>
                  <a:lnTo>
                    <a:pt x="54822" y="129651"/>
                  </a:lnTo>
                  <a:lnTo>
                    <a:pt x="39336" y="13477"/>
                  </a:lnTo>
                  <a:cubicBezTo>
                    <a:pt x="39336" y="9743"/>
                    <a:pt x="44574" y="6888"/>
                    <a:pt x="55050" y="6888"/>
                  </a:cubicBezTo>
                  <a:cubicBezTo>
                    <a:pt x="58238" y="6888"/>
                    <a:pt x="60744" y="6888"/>
                    <a:pt x="60744" y="2496"/>
                  </a:cubicBezTo>
                  <a:cubicBezTo>
                    <a:pt x="60744" y="519"/>
                    <a:pt x="58922" y="80"/>
                    <a:pt x="57555" y="80"/>
                  </a:cubicBezTo>
                  <a:cubicBezTo>
                    <a:pt x="48445" y="80"/>
                    <a:pt x="38652" y="739"/>
                    <a:pt x="29315" y="739"/>
                  </a:cubicBezTo>
                  <a:cubicBezTo>
                    <a:pt x="25215" y="739"/>
                    <a:pt x="20888" y="519"/>
                    <a:pt x="16789" y="519"/>
                  </a:cubicBezTo>
                  <a:cubicBezTo>
                    <a:pt x="12689" y="519"/>
                    <a:pt x="8362" y="80"/>
                    <a:pt x="4490" y="80"/>
                  </a:cubicBezTo>
                  <a:cubicBezTo>
                    <a:pt x="2896" y="80"/>
                    <a:pt x="163" y="80"/>
                    <a:pt x="163" y="4253"/>
                  </a:cubicBezTo>
                  <a:cubicBezTo>
                    <a:pt x="163" y="6888"/>
                    <a:pt x="2213" y="6888"/>
                    <a:pt x="5857" y="6888"/>
                  </a:cubicBezTo>
                  <a:cubicBezTo>
                    <a:pt x="18611" y="6888"/>
                    <a:pt x="18838" y="8865"/>
                    <a:pt x="19522" y="14355"/>
                  </a:cubicBezTo>
                  <a:lnTo>
                    <a:pt x="37514" y="149856"/>
                  </a:lnTo>
                  <a:cubicBezTo>
                    <a:pt x="38197" y="154248"/>
                    <a:pt x="39108" y="154907"/>
                    <a:pt x="42069" y="154907"/>
                  </a:cubicBezTo>
                  <a:cubicBezTo>
                    <a:pt x="45712" y="154907"/>
                    <a:pt x="46623" y="153809"/>
                    <a:pt x="48445" y="150954"/>
                  </a:cubicBezTo>
                  <a:lnTo>
                    <a:pt x="130434" y="25116"/>
                  </a:lnTo>
                  <a:close/>
                </a:path>
              </a:pathLst>
            </a:custGeom>
            <a:solidFill>
              <a:srgbClr val="000000"/>
            </a:solidFill>
            <a:ln w="22833" cap="flat">
              <a:noFill/>
              <a:prstDash val="solid"/>
              <a:miter/>
            </a:ln>
          </p:spPr>
          <p:txBody>
            <a:bodyPr rtlCol="0" anchor="ctr"/>
            <a:lstStyle/>
            <a:p>
              <a:endParaRPr lang="zh-CN" altLang="en-US"/>
            </a:p>
          </p:txBody>
        </p:sp>
        <p:sp>
          <p:nvSpPr>
            <p:cNvPr id="7" name="任意形状 6">
              <a:extLst>
                <a:ext uri="{FF2B5EF4-FFF2-40B4-BE49-F238E27FC236}">
                  <a16:creationId xmlns:a16="http://schemas.microsoft.com/office/drawing/2014/main" id="{C47AB42D-31B1-18AB-8B1C-EF9E059F2525}"/>
                </a:ext>
              </a:extLst>
            </p:cNvPr>
            <p:cNvSpPr/>
            <p:nvPr>
              <p:custDataLst>
                <p:tags r:id="rId3"/>
              </p:custDataLst>
            </p:nvPr>
          </p:nvSpPr>
          <p:spPr>
            <a:xfrm>
              <a:off x="6478624" y="4144344"/>
              <a:ext cx="52837" cy="219612"/>
            </a:xfrm>
            <a:custGeom>
              <a:avLst/>
              <a:gdLst>
                <a:gd name="connsiteX0" fmla="*/ 53008 w 52837"/>
                <a:gd name="connsiteY0" fmla="*/ 217496 h 219612"/>
                <a:gd name="connsiteX1" fmla="*/ 49137 w 52837"/>
                <a:gd name="connsiteY1" fmla="*/ 212665 h 219612"/>
                <a:gd name="connsiteX2" fmla="*/ 13381 w 52837"/>
                <a:gd name="connsiteY2" fmla="*/ 109886 h 219612"/>
                <a:gd name="connsiteX3" fmla="*/ 50048 w 52837"/>
                <a:gd name="connsiteY3" fmla="*/ 6010 h 219612"/>
                <a:gd name="connsiteX4" fmla="*/ 53008 w 52837"/>
                <a:gd name="connsiteY4" fmla="*/ 2276 h 219612"/>
                <a:gd name="connsiteX5" fmla="*/ 50731 w 52837"/>
                <a:gd name="connsiteY5" fmla="*/ 80 h 219612"/>
                <a:gd name="connsiteX6" fmla="*/ 14519 w 52837"/>
                <a:gd name="connsiteY6" fmla="*/ 42905 h 219612"/>
                <a:gd name="connsiteX7" fmla="*/ 171 w 52837"/>
                <a:gd name="connsiteY7" fmla="*/ 109886 h 219612"/>
                <a:gd name="connsiteX8" fmla="*/ 15203 w 52837"/>
                <a:gd name="connsiteY8" fmla="*/ 178405 h 219612"/>
                <a:gd name="connsiteX9" fmla="*/ 50731 w 52837"/>
                <a:gd name="connsiteY9" fmla="*/ 219692 h 219612"/>
                <a:gd name="connsiteX10" fmla="*/ 53008 w 52837"/>
                <a:gd name="connsiteY10" fmla="*/ 21749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008" y="217496"/>
                  </a:moveTo>
                  <a:cubicBezTo>
                    <a:pt x="53008" y="216837"/>
                    <a:pt x="53008" y="216398"/>
                    <a:pt x="49137" y="212665"/>
                  </a:cubicBezTo>
                  <a:cubicBezTo>
                    <a:pt x="20668" y="184994"/>
                    <a:pt x="13381" y="143487"/>
                    <a:pt x="13381" y="109886"/>
                  </a:cubicBezTo>
                  <a:cubicBezTo>
                    <a:pt x="13381" y="71674"/>
                    <a:pt x="22035" y="33461"/>
                    <a:pt x="50048" y="6010"/>
                  </a:cubicBezTo>
                  <a:cubicBezTo>
                    <a:pt x="53008" y="3374"/>
                    <a:pt x="53008" y="2935"/>
                    <a:pt x="53008" y="2276"/>
                  </a:cubicBezTo>
                  <a:cubicBezTo>
                    <a:pt x="53008" y="739"/>
                    <a:pt x="52097" y="80"/>
                    <a:pt x="50731" y="80"/>
                  </a:cubicBezTo>
                  <a:cubicBezTo>
                    <a:pt x="48453" y="80"/>
                    <a:pt x="27956" y="15014"/>
                    <a:pt x="14519" y="42905"/>
                  </a:cubicBezTo>
                  <a:cubicBezTo>
                    <a:pt x="2904" y="67062"/>
                    <a:pt x="171" y="91439"/>
                    <a:pt x="171" y="109886"/>
                  </a:cubicBezTo>
                  <a:cubicBezTo>
                    <a:pt x="171" y="127016"/>
                    <a:pt x="2677" y="153589"/>
                    <a:pt x="15203" y="178405"/>
                  </a:cubicBezTo>
                  <a:cubicBezTo>
                    <a:pt x="28867" y="205418"/>
                    <a:pt x="48453" y="219692"/>
                    <a:pt x="50731" y="219692"/>
                  </a:cubicBezTo>
                  <a:cubicBezTo>
                    <a:pt x="52097" y="219692"/>
                    <a:pt x="53008" y="219034"/>
                    <a:pt x="53008" y="217496"/>
                  </a:cubicBezTo>
                  <a:close/>
                </a:path>
              </a:pathLst>
            </a:custGeom>
            <a:solidFill>
              <a:srgbClr val="000000"/>
            </a:solidFill>
            <a:ln w="22833" cap="flat">
              <a:noFill/>
              <a:prstDash val="solid"/>
              <a:miter/>
            </a:ln>
          </p:spPr>
          <p:txBody>
            <a:bodyPr rtlCol="0" anchor="ctr"/>
            <a:lstStyle/>
            <a:p>
              <a:endParaRPr lang="zh-CN" altLang="en-US"/>
            </a:p>
          </p:txBody>
        </p:sp>
        <p:sp>
          <p:nvSpPr>
            <p:cNvPr id="16" name="任意形状 15">
              <a:extLst>
                <a:ext uri="{FF2B5EF4-FFF2-40B4-BE49-F238E27FC236}">
                  <a16:creationId xmlns:a16="http://schemas.microsoft.com/office/drawing/2014/main" id="{E647099F-44D6-BA57-A5EC-63A898E6590C}"/>
                </a:ext>
              </a:extLst>
            </p:cNvPr>
            <p:cNvSpPr/>
            <p:nvPr>
              <p:custDataLst>
                <p:tags r:id="rId4"/>
              </p:custDataLst>
            </p:nvPr>
          </p:nvSpPr>
          <p:spPr>
            <a:xfrm>
              <a:off x="6553755" y="4156642"/>
              <a:ext cx="108407" cy="154826"/>
            </a:xfrm>
            <a:custGeom>
              <a:avLst/>
              <a:gdLst>
                <a:gd name="connsiteX0" fmla="*/ 108582 w 108407"/>
                <a:gd name="connsiteY0" fmla="*/ 2496 h 154826"/>
                <a:gd name="connsiteX1" fmla="*/ 105622 w 108407"/>
                <a:gd name="connsiteY1" fmla="*/ 80 h 154826"/>
                <a:gd name="connsiteX2" fmla="*/ 76698 w 108407"/>
                <a:gd name="connsiteY2" fmla="*/ 2496 h 154826"/>
                <a:gd name="connsiteX3" fmla="*/ 73509 w 108407"/>
                <a:gd name="connsiteY3" fmla="*/ 6669 h 154826"/>
                <a:gd name="connsiteX4" fmla="*/ 78975 w 108407"/>
                <a:gd name="connsiteY4" fmla="*/ 9304 h 154826"/>
                <a:gd name="connsiteX5" fmla="*/ 90363 w 108407"/>
                <a:gd name="connsiteY5" fmla="*/ 13037 h 154826"/>
                <a:gd name="connsiteX6" fmla="*/ 89679 w 108407"/>
                <a:gd name="connsiteY6" fmla="*/ 17430 h 154826"/>
                <a:gd name="connsiteX7" fmla="*/ 76015 w 108407"/>
                <a:gd name="connsiteY7" fmla="*/ 69478 h 154826"/>
                <a:gd name="connsiteX8" fmla="*/ 55062 w 108407"/>
                <a:gd name="connsiteY8" fmla="*/ 55423 h 154826"/>
                <a:gd name="connsiteX9" fmla="*/ 175 w 108407"/>
                <a:gd name="connsiteY9" fmla="*/ 119769 h 154826"/>
                <a:gd name="connsiteX10" fmla="*/ 30465 w 108407"/>
                <a:gd name="connsiteY10" fmla="*/ 154907 h 154826"/>
                <a:gd name="connsiteX11" fmla="*/ 60072 w 108407"/>
                <a:gd name="connsiteY11" fmla="*/ 138436 h 154826"/>
                <a:gd name="connsiteX12" fmla="*/ 80797 w 108407"/>
                <a:gd name="connsiteY12" fmla="*/ 154907 h 154826"/>
                <a:gd name="connsiteX13" fmla="*/ 97650 w 108407"/>
                <a:gd name="connsiteY13" fmla="*/ 142828 h 154826"/>
                <a:gd name="connsiteX14" fmla="*/ 104483 w 108407"/>
                <a:gd name="connsiteY14" fmla="*/ 121087 h 154826"/>
                <a:gd name="connsiteX15" fmla="*/ 101750 w 108407"/>
                <a:gd name="connsiteY15" fmla="*/ 118890 h 154826"/>
                <a:gd name="connsiteX16" fmla="*/ 98561 w 108407"/>
                <a:gd name="connsiteY16" fmla="*/ 122843 h 154826"/>
                <a:gd name="connsiteX17" fmla="*/ 81253 w 108407"/>
                <a:gd name="connsiteY17" fmla="*/ 150075 h 154826"/>
                <a:gd name="connsiteX18" fmla="*/ 74420 w 108407"/>
                <a:gd name="connsiteY18" fmla="*/ 139973 h 154826"/>
                <a:gd name="connsiteX19" fmla="*/ 75787 w 108407"/>
                <a:gd name="connsiteY19" fmla="*/ 129432 h 154826"/>
                <a:gd name="connsiteX20" fmla="*/ 108582 w 108407"/>
                <a:gd name="connsiteY20" fmla="*/ 2496 h 154826"/>
                <a:gd name="connsiteX21" fmla="*/ 61211 w 108407"/>
                <a:gd name="connsiteY21" fmla="*/ 126357 h 154826"/>
                <a:gd name="connsiteX22" fmla="*/ 56656 w 108407"/>
                <a:gd name="connsiteY22" fmla="*/ 134483 h 154826"/>
                <a:gd name="connsiteX23" fmla="*/ 30921 w 108407"/>
                <a:gd name="connsiteY23" fmla="*/ 150075 h 154826"/>
                <a:gd name="connsiteX24" fmla="*/ 16345 w 108407"/>
                <a:gd name="connsiteY24" fmla="*/ 129432 h 154826"/>
                <a:gd name="connsiteX25" fmla="*/ 28871 w 108407"/>
                <a:gd name="connsiteY25" fmla="*/ 81337 h 154826"/>
                <a:gd name="connsiteX26" fmla="*/ 55290 w 108407"/>
                <a:gd name="connsiteY26" fmla="*/ 60254 h 154826"/>
                <a:gd name="connsiteX27" fmla="*/ 73282 w 108407"/>
                <a:gd name="connsiteY27" fmla="*/ 79580 h 154826"/>
                <a:gd name="connsiteX28" fmla="*/ 72598 w 108407"/>
                <a:gd name="connsiteY28" fmla="*/ 83313 h 154826"/>
                <a:gd name="connsiteX29" fmla="*/ 61211 w 108407"/>
                <a:gd name="connsiteY29" fmla="*/ 126357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582" y="2496"/>
                  </a:moveTo>
                  <a:cubicBezTo>
                    <a:pt x="108582" y="2276"/>
                    <a:pt x="108582" y="80"/>
                    <a:pt x="105622" y="80"/>
                  </a:cubicBezTo>
                  <a:cubicBezTo>
                    <a:pt x="102205" y="80"/>
                    <a:pt x="80570" y="2057"/>
                    <a:pt x="76698" y="2496"/>
                  </a:cubicBezTo>
                  <a:cubicBezTo>
                    <a:pt x="74876" y="2716"/>
                    <a:pt x="73509" y="3814"/>
                    <a:pt x="73509" y="6669"/>
                  </a:cubicBezTo>
                  <a:cubicBezTo>
                    <a:pt x="73509" y="9304"/>
                    <a:pt x="75559" y="9304"/>
                    <a:pt x="78975" y="9304"/>
                  </a:cubicBezTo>
                  <a:cubicBezTo>
                    <a:pt x="89907" y="9304"/>
                    <a:pt x="90363" y="10841"/>
                    <a:pt x="90363" y="13037"/>
                  </a:cubicBezTo>
                  <a:lnTo>
                    <a:pt x="89679" y="17430"/>
                  </a:lnTo>
                  <a:lnTo>
                    <a:pt x="76015" y="69478"/>
                  </a:lnTo>
                  <a:cubicBezTo>
                    <a:pt x="71915" y="61352"/>
                    <a:pt x="65311" y="55423"/>
                    <a:pt x="55062" y="55423"/>
                  </a:cubicBezTo>
                  <a:cubicBezTo>
                    <a:pt x="28416" y="55423"/>
                    <a:pt x="175" y="87706"/>
                    <a:pt x="175" y="119769"/>
                  </a:cubicBezTo>
                  <a:cubicBezTo>
                    <a:pt x="175" y="140412"/>
                    <a:pt x="12701" y="154907"/>
                    <a:pt x="30465" y="154907"/>
                  </a:cubicBezTo>
                  <a:cubicBezTo>
                    <a:pt x="35020" y="154907"/>
                    <a:pt x="46408" y="154028"/>
                    <a:pt x="60072" y="138436"/>
                  </a:cubicBezTo>
                  <a:cubicBezTo>
                    <a:pt x="61894" y="147660"/>
                    <a:pt x="69865" y="154907"/>
                    <a:pt x="80797" y="154907"/>
                  </a:cubicBezTo>
                  <a:cubicBezTo>
                    <a:pt x="88768" y="154907"/>
                    <a:pt x="94006" y="149856"/>
                    <a:pt x="97650" y="142828"/>
                  </a:cubicBezTo>
                  <a:cubicBezTo>
                    <a:pt x="101522" y="134922"/>
                    <a:pt x="104483" y="121526"/>
                    <a:pt x="104483" y="121087"/>
                  </a:cubicBezTo>
                  <a:cubicBezTo>
                    <a:pt x="104483" y="118890"/>
                    <a:pt x="102433" y="118890"/>
                    <a:pt x="101750" y="118890"/>
                  </a:cubicBezTo>
                  <a:cubicBezTo>
                    <a:pt x="99472" y="118890"/>
                    <a:pt x="99245" y="119769"/>
                    <a:pt x="98561" y="122843"/>
                  </a:cubicBezTo>
                  <a:cubicBezTo>
                    <a:pt x="94690" y="137118"/>
                    <a:pt x="90590" y="150075"/>
                    <a:pt x="81253" y="150075"/>
                  </a:cubicBezTo>
                  <a:cubicBezTo>
                    <a:pt x="75104" y="150075"/>
                    <a:pt x="74420" y="144365"/>
                    <a:pt x="74420" y="139973"/>
                  </a:cubicBezTo>
                  <a:cubicBezTo>
                    <a:pt x="74420" y="134703"/>
                    <a:pt x="74876" y="133165"/>
                    <a:pt x="75787" y="129432"/>
                  </a:cubicBezTo>
                  <a:lnTo>
                    <a:pt x="108582" y="2496"/>
                  </a:lnTo>
                  <a:close/>
                  <a:moveTo>
                    <a:pt x="61211" y="126357"/>
                  </a:moveTo>
                  <a:cubicBezTo>
                    <a:pt x="60072" y="130310"/>
                    <a:pt x="60072" y="130750"/>
                    <a:pt x="56656" y="134483"/>
                  </a:cubicBezTo>
                  <a:cubicBezTo>
                    <a:pt x="46635" y="146562"/>
                    <a:pt x="37298" y="150075"/>
                    <a:pt x="30921" y="150075"/>
                  </a:cubicBezTo>
                  <a:cubicBezTo>
                    <a:pt x="19534" y="150075"/>
                    <a:pt x="16345" y="137997"/>
                    <a:pt x="16345" y="129432"/>
                  </a:cubicBezTo>
                  <a:cubicBezTo>
                    <a:pt x="16345" y="118451"/>
                    <a:pt x="23633" y="91439"/>
                    <a:pt x="28871" y="81337"/>
                  </a:cubicBezTo>
                  <a:cubicBezTo>
                    <a:pt x="35931" y="68380"/>
                    <a:pt x="46180" y="60254"/>
                    <a:pt x="55290" y="60254"/>
                  </a:cubicBezTo>
                  <a:cubicBezTo>
                    <a:pt x="70093" y="60254"/>
                    <a:pt x="73282" y="78262"/>
                    <a:pt x="73282" y="79580"/>
                  </a:cubicBezTo>
                  <a:cubicBezTo>
                    <a:pt x="73282" y="80898"/>
                    <a:pt x="72826" y="82215"/>
                    <a:pt x="72598" y="83313"/>
                  </a:cubicBezTo>
                  <a:lnTo>
                    <a:pt x="61211" y="126357"/>
                  </a:lnTo>
                  <a:close/>
                </a:path>
              </a:pathLst>
            </a:custGeom>
            <a:solidFill>
              <a:srgbClr val="000000"/>
            </a:solidFill>
            <a:ln w="22833" cap="flat">
              <a:noFill/>
              <a:prstDash val="solid"/>
              <a:miter/>
            </a:ln>
          </p:spPr>
          <p:txBody>
            <a:bodyPr rtlCol="0" anchor="ctr"/>
            <a:lstStyle/>
            <a:p>
              <a:endParaRPr lang="zh-CN" altLang="en-US"/>
            </a:p>
          </p:txBody>
        </p:sp>
        <p:sp>
          <p:nvSpPr>
            <p:cNvPr id="17" name="任意形状 16">
              <a:extLst>
                <a:ext uri="{FF2B5EF4-FFF2-40B4-BE49-F238E27FC236}">
                  <a16:creationId xmlns:a16="http://schemas.microsoft.com/office/drawing/2014/main" id="{9BE52C5E-2E45-03BD-9559-D7AC71988289}"/>
                </a:ext>
              </a:extLst>
            </p:cNvPr>
            <p:cNvSpPr/>
            <p:nvPr>
              <p:custDataLst>
                <p:tags r:id="rId5"/>
              </p:custDataLst>
            </p:nvPr>
          </p:nvSpPr>
          <p:spPr>
            <a:xfrm>
              <a:off x="6676165" y="4144344"/>
              <a:ext cx="52837" cy="219612"/>
            </a:xfrm>
            <a:custGeom>
              <a:avLst/>
              <a:gdLst>
                <a:gd name="connsiteX0" fmla="*/ 53017 w 52837"/>
                <a:gd name="connsiteY0" fmla="*/ 109886 h 219612"/>
                <a:gd name="connsiteX1" fmla="*/ 37986 w 52837"/>
                <a:gd name="connsiteY1" fmla="*/ 41367 h 219612"/>
                <a:gd name="connsiteX2" fmla="*/ 2458 w 52837"/>
                <a:gd name="connsiteY2" fmla="*/ 80 h 219612"/>
                <a:gd name="connsiteX3" fmla="*/ 180 w 52837"/>
                <a:gd name="connsiteY3" fmla="*/ 2276 h 219612"/>
                <a:gd name="connsiteX4" fmla="*/ 4508 w 52837"/>
                <a:gd name="connsiteY4" fmla="*/ 7327 h 219612"/>
                <a:gd name="connsiteX5" fmla="*/ 39808 w 52837"/>
                <a:gd name="connsiteY5" fmla="*/ 109886 h 219612"/>
                <a:gd name="connsiteX6" fmla="*/ 3141 w 52837"/>
                <a:gd name="connsiteY6" fmla="*/ 213763 h 219612"/>
                <a:gd name="connsiteX7" fmla="*/ 180 w 52837"/>
                <a:gd name="connsiteY7" fmla="*/ 217496 h 219612"/>
                <a:gd name="connsiteX8" fmla="*/ 2458 w 52837"/>
                <a:gd name="connsiteY8" fmla="*/ 219692 h 219612"/>
                <a:gd name="connsiteX9" fmla="*/ 38669 w 52837"/>
                <a:gd name="connsiteY9" fmla="*/ 176868 h 219612"/>
                <a:gd name="connsiteX10" fmla="*/ 53017 w 52837"/>
                <a:gd name="connsiteY10" fmla="*/ 10988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017" y="109886"/>
                  </a:moveTo>
                  <a:cubicBezTo>
                    <a:pt x="53017" y="92757"/>
                    <a:pt x="50512" y="66184"/>
                    <a:pt x="37986" y="41367"/>
                  </a:cubicBezTo>
                  <a:cubicBezTo>
                    <a:pt x="24321" y="14355"/>
                    <a:pt x="4735" y="80"/>
                    <a:pt x="2458" y="80"/>
                  </a:cubicBezTo>
                  <a:cubicBezTo>
                    <a:pt x="1091" y="80"/>
                    <a:pt x="180" y="959"/>
                    <a:pt x="180" y="2276"/>
                  </a:cubicBezTo>
                  <a:cubicBezTo>
                    <a:pt x="180" y="2935"/>
                    <a:pt x="180" y="3374"/>
                    <a:pt x="4508" y="7327"/>
                  </a:cubicBezTo>
                  <a:cubicBezTo>
                    <a:pt x="26827" y="29069"/>
                    <a:pt x="39808" y="63987"/>
                    <a:pt x="39808" y="109886"/>
                  </a:cubicBezTo>
                  <a:cubicBezTo>
                    <a:pt x="39808" y="147440"/>
                    <a:pt x="31382" y="186092"/>
                    <a:pt x="3141" y="213763"/>
                  </a:cubicBezTo>
                  <a:cubicBezTo>
                    <a:pt x="180" y="216398"/>
                    <a:pt x="180" y="216837"/>
                    <a:pt x="180" y="217496"/>
                  </a:cubicBezTo>
                  <a:cubicBezTo>
                    <a:pt x="180" y="218814"/>
                    <a:pt x="1091" y="219692"/>
                    <a:pt x="2458" y="219692"/>
                  </a:cubicBezTo>
                  <a:cubicBezTo>
                    <a:pt x="4735" y="219692"/>
                    <a:pt x="25232" y="204759"/>
                    <a:pt x="38669" y="176868"/>
                  </a:cubicBezTo>
                  <a:cubicBezTo>
                    <a:pt x="50284" y="152711"/>
                    <a:pt x="53017" y="128334"/>
                    <a:pt x="53017" y="109886"/>
                  </a:cubicBezTo>
                  <a:close/>
                </a:path>
              </a:pathLst>
            </a:custGeom>
            <a:solidFill>
              <a:srgbClr val="000000"/>
            </a:solidFill>
            <a:ln w="22833" cap="flat">
              <a:noFill/>
              <a:prstDash val="solid"/>
              <a:miter/>
            </a:ln>
          </p:spPr>
          <p:txBody>
            <a:bodyPr rtlCol="0" anchor="ctr"/>
            <a:lstStyle/>
            <a:p>
              <a:endParaRPr lang="zh-CN" altLang="en-US"/>
            </a:p>
          </p:txBody>
        </p:sp>
        <p:sp>
          <p:nvSpPr>
            <p:cNvPr id="18" name="任意形状 17">
              <a:extLst>
                <a:ext uri="{FF2B5EF4-FFF2-40B4-BE49-F238E27FC236}">
                  <a16:creationId xmlns:a16="http://schemas.microsoft.com/office/drawing/2014/main" id="{3DBFF9DE-85F5-D002-348F-70BB17A35E7A}"/>
                </a:ext>
              </a:extLst>
            </p:cNvPr>
            <p:cNvSpPr/>
            <p:nvPr>
              <p:custDataLst>
                <p:tags r:id="rId6"/>
              </p:custDataLst>
            </p:nvPr>
          </p:nvSpPr>
          <p:spPr>
            <a:xfrm>
              <a:off x="6827767" y="4228455"/>
              <a:ext cx="151451" cy="51389"/>
            </a:xfrm>
            <a:custGeom>
              <a:avLst/>
              <a:gdLst>
                <a:gd name="connsiteX0" fmla="*/ 143895 w 151451"/>
                <a:gd name="connsiteY0" fmla="*/ 8865 h 51389"/>
                <a:gd name="connsiteX1" fmla="*/ 151638 w 151451"/>
                <a:gd name="connsiteY1" fmla="*/ 4473 h 51389"/>
                <a:gd name="connsiteX2" fmla="*/ 144122 w 151451"/>
                <a:gd name="connsiteY2" fmla="*/ 80 h 51389"/>
                <a:gd name="connsiteX3" fmla="*/ 7703 w 151451"/>
                <a:gd name="connsiteY3" fmla="*/ 80 h 51389"/>
                <a:gd name="connsiteX4" fmla="*/ 187 w 151451"/>
                <a:gd name="connsiteY4" fmla="*/ 4473 h 51389"/>
                <a:gd name="connsiteX5" fmla="*/ 7930 w 151451"/>
                <a:gd name="connsiteY5" fmla="*/ 8865 h 51389"/>
                <a:gd name="connsiteX6" fmla="*/ 143895 w 151451"/>
                <a:gd name="connsiteY6" fmla="*/ 8865 h 51389"/>
                <a:gd name="connsiteX7" fmla="*/ 144122 w 151451"/>
                <a:gd name="connsiteY7" fmla="*/ 51470 h 51389"/>
                <a:gd name="connsiteX8" fmla="*/ 151638 w 151451"/>
                <a:gd name="connsiteY8" fmla="*/ 47077 h 51389"/>
                <a:gd name="connsiteX9" fmla="*/ 143895 w 151451"/>
                <a:gd name="connsiteY9" fmla="*/ 42685 h 51389"/>
                <a:gd name="connsiteX10" fmla="*/ 7930 w 151451"/>
                <a:gd name="connsiteY10" fmla="*/ 42685 h 51389"/>
                <a:gd name="connsiteX11" fmla="*/ 187 w 151451"/>
                <a:gd name="connsiteY11" fmla="*/ 47077 h 51389"/>
                <a:gd name="connsiteX12" fmla="*/ 7703 w 151451"/>
                <a:gd name="connsiteY12" fmla="*/ 51470 h 51389"/>
                <a:gd name="connsiteX13" fmla="*/ 144122 w 151451"/>
                <a:gd name="connsiteY13" fmla="*/ 51470 h 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51" h="51389">
                  <a:moveTo>
                    <a:pt x="143895" y="8865"/>
                  </a:moveTo>
                  <a:cubicBezTo>
                    <a:pt x="147311" y="8865"/>
                    <a:pt x="151638" y="8865"/>
                    <a:pt x="151638" y="4473"/>
                  </a:cubicBezTo>
                  <a:cubicBezTo>
                    <a:pt x="151638" y="80"/>
                    <a:pt x="147311" y="80"/>
                    <a:pt x="144122" y="80"/>
                  </a:cubicBezTo>
                  <a:lnTo>
                    <a:pt x="7703" y="80"/>
                  </a:lnTo>
                  <a:cubicBezTo>
                    <a:pt x="4514" y="80"/>
                    <a:pt x="187" y="80"/>
                    <a:pt x="187" y="4473"/>
                  </a:cubicBezTo>
                  <a:cubicBezTo>
                    <a:pt x="187" y="8865"/>
                    <a:pt x="4514" y="8865"/>
                    <a:pt x="7930" y="8865"/>
                  </a:cubicBezTo>
                  <a:lnTo>
                    <a:pt x="143895" y="8865"/>
                  </a:lnTo>
                  <a:close/>
                  <a:moveTo>
                    <a:pt x="144122" y="51470"/>
                  </a:moveTo>
                  <a:cubicBezTo>
                    <a:pt x="147311" y="51470"/>
                    <a:pt x="151638" y="51470"/>
                    <a:pt x="151638" y="47077"/>
                  </a:cubicBezTo>
                  <a:cubicBezTo>
                    <a:pt x="151638" y="42685"/>
                    <a:pt x="147311" y="42685"/>
                    <a:pt x="143895" y="42685"/>
                  </a:cubicBezTo>
                  <a:lnTo>
                    <a:pt x="7930" y="42685"/>
                  </a:lnTo>
                  <a:cubicBezTo>
                    <a:pt x="4514" y="42685"/>
                    <a:pt x="187" y="42685"/>
                    <a:pt x="187" y="47077"/>
                  </a:cubicBezTo>
                  <a:cubicBezTo>
                    <a:pt x="187" y="51470"/>
                    <a:pt x="4514" y="51470"/>
                    <a:pt x="7703" y="51470"/>
                  </a:cubicBezTo>
                  <a:lnTo>
                    <a:pt x="144122" y="51470"/>
                  </a:lnTo>
                  <a:close/>
                </a:path>
              </a:pathLst>
            </a:custGeom>
            <a:solidFill>
              <a:srgbClr val="000000"/>
            </a:solidFill>
            <a:ln w="22833" cap="flat">
              <a:noFill/>
              <a:prstDash val="solid"/>
              <a:miter/>
            </a:ln>
          </p:spPr>
          <p:txBody>
            <a:bodyPr rtlCol="0" anchor="ctr"/>
            <a:lstStyle/>
            <a:p>
              <a:endParaRPr lang="zh-CN" altLang="en-US"/>
            </a:p>
          </p:txBody>
        </p:sp>
        <p:sp>
          <p:nvSpPr>
            <p:cNvPr id="19" name="任意形状 18">
              <a:extLst>
                <a:ext uri="{FF2B5EF4-FFF2-40B4-BE49-F238E27FC236}">
                  <a16:creationId xmlns:a16="http://schemas.microsoft.com/office/drawing/2014/main" id="{FC99B21C-141A-F172-BCC7-BAAE3DCD0A83}"/>
                </a:ext>
              </a:extLst>
            </p:cNvPr>
            <p:cNvSpPr/>
            <p:nvPr>
              <p:custDataLst>
                <p:tags r:id="rId7"/>
              </p:custDataLst>
            </p:nvPr>
          </p:nvSpPr>
          <p:spPr>
            <a:xfrm>
              <a:off x="7221592" y="4014222"/>
              <a:ext cx="90870" cy="146261"/>
            </a:xfrm>
            <a:custGeom>
              <a:avLst/>
              <a:gdLst>
                <a:gd name="connsiteX0" fmla="*/ 17741 w 90870"/>
                <a:gd name="connsiteY0" fmla="*/ 129425 h 146261"/>
                <a:gd name="connsiteX1" fmla="*/ 41882 w 90870"/>
                <a:gd name="connsiteY1" fmla="*/ 106805 h 146261"/>
                <a:gd name="connsiteX2" fmla="*/ 91075 w 90870"/>
                <a:gd name="connsiteY2" fmla="*/ 42678 h 146261"/>
                <a:gd name="connsiteX3" fmla="*/ 42793 w 90870"/>
                <a:gd name="connsiteY3" fmla="*/ 74 h 146261"/>
                <a:gd name="connsiteX4" fmla="*/ 204 w 90870"/>
                <a:gd name="connsiteY4" fmla="*/ 39823 h 146261"/>
                <a:gd name="connsiteX5" fmla="*/ 12275 w 90870"/>
                <a:gd name="connsiteY5" fmla="*/ 52122 h 146261"/>
                <a:gd name="connsiteX6" fmla="*/ 24118 w 90870"/>
                <a:gd name="connsiteY6" fmla="*/ 40482 h 146261"/>
                <a:gd name="connsiteX7" fmla="*/ 12047 w 90870"/>
                <a:gd name="connsiteY7" fmla="*/ 29062 h 146261"/>
                <a:gd name="connsiteX8" fmla="*/ 9086 w 90870"/>
                <a:gd name="connsiteY8" fmla="*/ 29282 h 146261"/>
                <a:gd name="connsiteX9" fmla="*/ 39832 w 90870"/>
                <a:gd name="connsiteY9" fmla="*/ 6881 h 146261"/>
                <a:gd name="connsiteX10" fmla="*/ 70350 w 90870"/>
                <a:gd name="connsiteY10" fmla="*/ 42678 h 146261"/>
                <a:gd name="connsiteX11" fmla="*/ 46437 w 90870"/>
                <a:gd name="connsiteY11" fmla="*/ 91213 h 146261"/>
                <a:gd name="connsiteX12" fmla="*/ 2710 w 90870"/>
                <a:gd name="connsiteY12" fmla="*/ 138210 h 146261"/>
                <a:gd name="connsiteX13" fmla="*/ 204 w 90870"/>
                <a:gd name="connsiteY13" fmla="*/ 146335 h 146261"/>
                <a:gd name="connsiteX14" fmla="*/ 84698 w 90870"/>
                <a:gd name="connsiteY14" fmla="*/ 146335 h 146261"/>
                <a:gd name="connsiteX15" fmla="*/ 91075 w 90870"/>
                <a:gd name="connsiteY15" fmla="*/ 108123 h 146261"/>
                <a:gd name="connsiteX16" fmla="*/ 85381 w 90870"/>
                <a:gd name="connsiteY16" fmla="*/ 108123 h 146261"/>
                <a:gd name="connsiteX17" fmla="*/ 80371 w 90870"/>
                <a:gd name="connsiteY17" fmla="*/ 127668 h 146261"/>
                <a:gd name="connsiteX18" fmla="*/ 58735 w 90870"/>
                <a:gd name="connsiteY18" fmla="*/ 129425 h 146261"/>
                <a:gd name="connsiteX19" fmla="*/ 17741 w 90870"/>
                <a:gd name="connsiteY19" fmla="*/ 129425 h 146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0870" h="146261">
                  <a:moveTo>
                    <a:pt x="17741" y="129425"/>
                  </a:moveTo>
                  <a:lnTo>
                    <a:pt x="41882" y="106805"/>
                  </a:lnTo>
                  <a:cubicBezTo>
                    <a:pt x="77410" y="76499"/>
                    <a:pt x="91075" y="64639"/>
                    <a:pt x="91075" y="42678"/>
                  </a:cubicBezTo>
                  <a:cubicBezTo>
                    <a:pt x="91075" y="17642"/>
                    <a:pt x="70578" y="74"/>
                    <a:pt x="42793" y="74"/>
                  </a:cubicBezTo>
                  <a:cubicBezTo>
                    <a:pt x="17057" y="74"/>
                    <a:pt x="204" y="20278"/>
                    <a:pt x="204" y="39823"/>
                  </a:cubicBezTo>
                  <a:cubicBezTo>
                    <a:pt x="204" y="52122"/>
                    <a:pt x="11592" y="52122"/>
                    <a:pt x="12275" y="52122"/>
                  </a:cubicBezTo>
                  <a:cubicBezTo>
                    <a:pt x="16147" y="52122"/>
                    <a:pt x="24118" y="49486"/>
                    <a:pt x="24118" y="40482"/>
                  </a:cubicBezTo>
                  <a:cubicBezTo>
                    <a:pt x="24118" y="34772"/>
                    <a:pt x="20018" y="29062"/>
                    <a:pt x="12047" y="29062"/>
                  </a:cubicBezTo>
                  <a:cubicBezTo>
                    <a:pt x="10225" y="29062"/>
                    <a:pt x="9770" y="29062"/>
                    <a:pt x="9086" y="29282"/>
                  </a:cubicBezTo>
                  <a:cubicBezTo>
                    <a:pt x="14325" y="15007"/>
                    <a:pt x="26623" y="6881"/>
                    <a:pt x="39832" y="6881"/>
                  </a:cubicBezTo>
                  <a:cubicBezTo>
                    <a:pt x="60557" y="6881"/>
                    <a:pt x="70350" y="24670"/>
                    <a:pt x="70350" y="42678"/>
                  </a:cubicBezTo>
                  <a:cubicBezTo>
                    <a:pt x="70350" y="60247"/>
                    <a:pt x="58963" y="77597"/>
                    <a:pt x="46437" y="91213"/>
                  </a:cubicBezTo>
                  <a:lnTo>
                    <a:pt x="2710" y="138210"/>
                  </a:lnTo>
                  <a:cubicBezTo>
                    <a:pt x="204" y="140625"/>
                    <a:pt x="204" y="141065"/>
                    <a:pt x="204" y="146335"/>
                  </a:cubicBezTo>
                  <a:lnTo>
                    <a:pt x="84698" y="146335"/>
                  </a:lnTo>
                  <a:lnTo>
                    <a:pt x="91075" y="108123"/>
                  </a:lnTo>
                  <a:lnTo>
                    <a:pt x="85381" y="108123"/>
                  </a:lnTo>
                  <a:cubicBezTo>
                    <a:pt x="84243" y="114711"/>
                    <a:pt x="82648" y="124374"/>
                    <a:pt x="80371" y="127668"/>
                  </a:cubicBezTo>
                  <a:cubicBezTo>
                    <a:pt x="78777" y="129425"/>
                    <a:pt x="63745" y="129425"/>
                    <a:pt x="58735" y="129425"/>
                  </a:cubicBezTo>
                  <a:lnTo>
                    <a:pt x="17741" y="129425"/>
                  </a:lnTo>
                  <a:close/>
                </a:path>
              </a:pathLst>
            </a:custGeom>
            <a:solidFill>
              <a:srgbClr val="000000"/>
            </a:solidFill>
            <a:ln w="22833" cap="flat">
              <a:noFill/>
              <a:prstDash val="solid"/>
              <a:miter/>
            </a:ln>
          </p:spPr>
          <p:txBody>
            <a:bodyPr rtlCol="0" anchor="ctr"/>
            <a:lstStyle/>
            <a:p>
              <a:endParaRPr lang="zh-CN" altLang="en-US"/>
            </a:p>
          </p:txBody>
        </p:sp>
        <p:sp>
          <p:nvSpPr>
            <p:cNvPr id="20" name="任意形状 19">
              <a:extLst>
                <a:ext uri="{FF2B5EF4-FFF2-40B4-BE49-F238E27FC236}">
                  <a16:creationId xmlns:a16="http://schemas.microsoft.com/office/drawing/2014/main" id="{539D8272-DAE5-7F53-86E6-7B054E9AA18B}"/>
                </a:ext>
              </a:extLst>
            </p:cNvPr>
            <p:cNvSpPr/>
            <p:nvPr>
              <p:custDataLst>
                <p:tags r:id="rId8"/>
              </p:custDataLst>
            </p:nvPr>
          </p:nvSpPr>
          <p:spPr>
            <a:xfrm>
              <a:off x="7330227" y="4065831"/>
              <a:ext cx="122982" cy="97068"/>
            </a:xfrm>
            <a:custGeom>
              <a:avLst/>
              <a:gdLst>
                <a:gd name="connsiteX0" fmla="*/ 54413 w 122982"/>
                <a:gd name="connsiteY0" fmla="*/ 12811 h 97068"/>
                <a:gd name="connsiteX1" fmla="*/ 80148 w 122982"/>
                <a:gd name="connsiteY1" fmla="*/ 12811 h 97068"/>
                <a:gd name="connsiteX2" fmla="*/ 70583 w 122982"/>
                <a:gd name="connsiteY2" fmla="*/ 69471 h 97068"/>
                <a:gd name="connsiteX3" fmla="*/ 72405 w 122982"/>
                <a:gd name="connsiteY3" fmla="*/ 86161 h 97068"/>
                <a:gd name="connsiteX4" fmla="*/ 80604 w 122982"/>
                <a:gd name="connsiteY4" fmla="*/ 97142 h 97068"/>
                <a:gd name="connsiteX5" fmla="*/ 89941 w 122982"/>
                <a:gd name="connsiteY5" fmla="*/ 88797 h 97068"/>
                <a:gd name="connsiteX6" fmla="*/ 88575 w 122982"/>
                <a:gd name="connsiteY6" fmla="*/ 83965 h 97068"/>
                <a:gd name="connsiteX7" fmla="*/ 81970 w 122982"/>
                <a:gd name="connsiteY7" fmla="*/ 47729 h 97068"/>
                <a:gd name="connsiteX8" fmla="*/ 86070 w 122982"/>
                <a:gd name="connsiteY8" fmla="*/ 12811 h 97068"/>
                <a:gd name="connsiteX9" fmla="*/ 112033 w 122982"/>
                <a:gd name="connsiteY9" fmla="*/ 12811 h 97068"/>
                <a:gd name="connsiteX10" fmla="*/ 123192 w 122982"/>
                <a:gd name="connsiteY10" fmla="*/ 5344 h 97068"/>
                <a:gd name="connsiteX11" fmla="*/ 114082 w 122982"/>
                <a:gd name="connsiteY11" fmla="*/ 74 h 97068"/>
                <a:gd name="connsiteX12" fmla="*/ 37787 w 122982"/>
                <a:gd name="connsiteY12" fmla="*/ 74 h 97068"/>
                <a:gd name="connsiteX13" fmla="*/ 14102 w 122982"/>
                <a:gd name="connsiteY13" fmla="*/ 10395 h 97068"/>
                <a:gd name="connsiteX14" fmla="*/ 209 w 122982"/>
                <a:gd name="connsiteY14" fmla="*/ 30160 h 97068"/>
                <a:gd name="connsiteX15" fmla="*/ 2942 w 122982"/>
                <a:gd name="connsiteY15" fmla="*/ 32357 h 97068"/>
                <a:gd name="connsiteX16" fmla="*/ 6586 w 122982"/>
                <a:gd name="connsiteY16" fmla="*/ 29721 h 97068"/>
                <a:gd name="connsiteX17" fmla="*/ 35510 w 122982"/>
                <a:gd name="connsiteY17" fmla="*/ 12811 h 97068"/>
                <a:gd name="connsiteX18" fmla="*/ 48491 w 122982"/>
                <a:gd name="connsiteY18" fmla="*/ 12811 h 97068"/>
                <a:gd name="connsiteX19" fmla="*/ 19340 w 122982"/>
                <a:gd name="connsiteY19" fmla="*/ 85942 h 97068"/>
                <a:gd name="connsiteX20" fmla="*/ 17518 w 122982"/>
                <a:gd name="connsiteY20" fmla="*/ 91213 h 97068"/>
                <a:gd name="connsiteX21" fmla="*/ 24123 w 122982"/>
                <a:gd name="connsiteY21" fmla="*/ 97142 h 97068"/>
                <a:gd name="connsiteX22" fmla="*/ 35510 w 122982"/>
                <a:gd name="connsiteY22" fmla="*/ 82867 h 97068"/>
                <a:gd name="connsiteX23" fmla="*/ 41659 w 122982"/>
                <a:gd name="connsiteY23" fmla="*/ 61345 h 97068"/>
                <a:gd name="connsiteX24" fmla="*/ 54413 w 122982"/>
                <a:gd name="connsiteY24" fmla="*/ 12811 h 97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22982" h="97068">
                  <a:moveTo>
                    <a:pt x="54413" y="12811"/>
                  </a:moveTo>
                  <a:lnTo>
                    <a:pt x="80148" y="12811"/>
                  </a:lnTo>
                  <a:cubicBezTo>
                    <a:pt x="72633" y="45314"/>
                    <a:pt x="70583" y="54757"/>
                    <a:pt x="70583" y="69471"/>
                  </a:cubicBezTo>
                  <a:cubicBezTo>
                    <a:pt x="70583" y="72765"/>
                    <a:pt x="70583" y="78695"/>
                    <a:pt x="72405" y="86161"/>
                  </a:cubicBezTo>
                  <a:cubicBezTo>
                    <a:pt x="74682" y="95824"/>
                    <a:pt x="77187" y="97142"/>
                    <a:pt x="80604" y="97142"/>
                  </a:cubicBezTo>
                  <a:cubicBezTo>
                    <a:pt x="85159" y="97142"/>
                    <a:pt x="89941" y="93189"/>
                    <a:pt x="89941" y="88797"/>
                  </a:cubicBezTo>
                  <a:cubicBezTo>
                    <a:pt x="89941" y="87479"/>
                    <a:pt x="89941" y="87040"/>
                    <a:pt x="88575" y="83965"/>
                  </a:cubicBezTo>
                  <a:cubicBezTo>
                    <a:pt x="81970" y="68153"/>
                    <a:pt x="81970" y="53879"/>
                    <a:pt x="81970" y="47729"/>
                  </a:cubicBezTo>
                  <a:cubicBezTo>
                    <a:pt x="81970" y="36090"/>
                    <a:pt x="83564" y="24231"/>
                    <a:pt x="86070" y="12811"/>
                  </a:cubicBezTo>
                  <a:lnTo>
                    <a:pt x="112033" y="12811"/>
                  </a:lnTo>
                  <a:cubicBezTo>
                    <a:pt x="114993" y="12811"/>
                    <a:pt x="123192" y="12811"/>
                    <a:pt x="123192" y="5344"/>
                  </a:cubicBezTo>
                  <a:cubicBezTo>
                    <a:pt x="123192" y="74"/>
                    <a:pt x="118409" y="74"/>
                    <a:pt x="114082" y="74"/>
                  </a:cubicBezTo>
                  <a:lnTo>
                    <a:pt x="37787" y="74"/>
                  </a:lnTo>
                  <a:cubicBezTo>
                    <a:pt x="32777" y="74"/>
                    <a:pt x="24123" y="74"/>
                    <a:pt x="14102" y="10395"/>
                  </a:cubicBezTo>
                  <a:cubicBezTo>
                    <a:pt x="6131" y="18960"/>
                    <a:pt x="209" y="29062"/>
                    <a:pt x="209" y="30160"/>
                  </a:cubicBezTo>
                  <a:cubicBezTo>
                    <a:pt x="209" y="30380"/>
                    <a:pt x="209" y="32357"/>
                    <a:pt x="2942" y="32357"/>
                  </a:cubicBezTo>
                  <a:cubicBezTo>
                    <a:pt x="4764" y="32357"/>
                    <a:pt x="5220" y="31478"/>
                    <a:pt x="6586" y="29721"/>
                  </a:cubicBezTo>
                  <a:cubicBezTo>
                    <a:pt x="17746" y="12811"/>
                    <a:pt x="30955" y="12811"/>
                    <a:pt x="35510" y="12811"/>
                  </a:cubicBezTo>
                  <a:lnTo>
                    <a:pt x="48491" y="12811"/>
                  </a:lnTo>
                  <a:cubicBezTo>
                    <a:pt x="41204" y="39384"/>
                    <a:pt x="28905" y="65957"/>
                    <a:pt x="19340" y="85942"/>
                  </a:cubicBezTo>
                  <a:cubicBezTo>
                    <a:pt x="17518" y="89236"/>
                    <a:pt x="17518" y="89675"/>
                    <a:pt x="17518" y="91213"/>
                  </a:cubicBezTo>
                  <a:cubicBezTo>
                    <a:pt x="17518" y="95385"/>
                    <a:pt x="21162" y="97142"/>
                    <a:pt x="24123" y="97142"/>
                  </a:cubicBezTo>
                  <a:cubicBezTo>
                    <a:pt x="30955" y="97142"/>
                    <a:pt x="32777" y="90993"/>
                    <a:pt x="35510" y="82867"/>
                  </a:cubicBezTo>
                  <a:cubicBezTo>
                    <a:pt x="38698" y="72765"/>
                    <a:pt x="38698" y="72326"/>
                    <a:pt x="41659" y="61345"/>
                  </a:cubicBezTo>
                  <a:lnTo>
                    <a:pt x="54413" y="12811"/>
                  </a:lnTo>
                  <a:close/>
                </a:path>
              </a:pathLst>
            </a:custGeom>
            <a:solidFill>
              <a:srgbClr val="000000"/>
            </a:solidFill>
            <a:ln w="22833" cap="flat">
              <a:noFill/>
              <a:prstDash val="solid"/>
              <a:miter/>
            </a:ln>
          </p:spPr>
          <p:txBody>
            <a:bodyPr rtlCol="0" anchor="ctr"/>
            <a:lstStyle/>
            <a:p>
              <a:endParaRPr lang="zh-CN" altLang="en-US"/>
            </a:p>
          </p:txBody>
        </p:sp>
        <p:sp>
          <p:nvSpPr>
            <p:cNvPr id="21" name="任意形状 20">
              <a:extLst>
                <a:ext uri="{FF2B5EF4-FFF2-40B4-BE49-F238E27FC236}">
                  <a16:creationId xmlns:a16="http://schemas.microsoft.com/office/drawing/2014/main" id="{8306313E-5D10-340D-4BBF-9F793F7F52B3}"/>
                </a:ext>
              </a:extLst>
            </p:cNvPr>
            <p:cNvSpPr/>
            <p:nvPr>
              <p:custDataLst>
                <p:tags r:id="rId9"/>
              </p:custDataLst>
            </p:nvPr>
          </p:nvSpPr>
          <p:spPr>
            <a:xfrm>
              <a:off x="7501356" y="3945637"/>
              <a:ext cx="65932" cy="77342"/>
            </a:xfrm>
            <a:custGeom>
              <a:avLst/>
              <a:gdLst>
                <a:gd name="connsiteX0" fmla="*/ 63644 w 65932"/>
                <a:gd name="connsiteY0" fmla="*/ 4169 h 77342"/>
                <a:gd name="connsiteX1" fmla="*/ 64099 w 65932"/>
                <a:gd name="connsiteY1" fmla="*/ 1863 h 77342"/>
                <a:gd name="connsiteX2" fmla="*/ 60569 w 65932"/>
                <a:gd name="connsiteY2" fmla="*/ 106 h 77342"/>
                <a:gd name="connsiteX3" fmla="*/ 46563 w 65932"/>
                <a:gd name="connsiteY3" fmla="*/ 1094 h 77342"/>
                <a:gd name="connsiteX4" fmla="*/ 43830 w 65932"/>
                <a:gd name="connsiteY4" fmla="*/ 1753 h 77342"/>
                <a:gd name="connsiteX5" fmla="*/ 43033 w 65932"/>
                <a:gd name="connsiteY5" fmla="*/ 4279 h 77342"/>
                <a:gd name="connsiteX6" fmla="*/ 46449 w 65932"/>
                <a:gd name="connsiteY6" fmla="*/ 6145 h 77342"/>
                <a:gd name="connsiteX7" fmla="*/ 50321 w 65932"/>
                <a:gd name="connsiteY7" fmla="*/ 6365 h 77342"/>
                <a:gd name="connsiteX8" fmla="*/ 52598 w 65932"/>
                <a:gd name="connsiteY8" fmla="*/ 7792 h 77342"/>
                <a:gd name="connsiteX9" fmla="*/ 51232 w 65932"/>
                <a:gd name="connsiteY9" fmla="*/ 13612 h 77342"/>
                <a:gd name="connsiteX10" fmla="*/ 45880 w 65932"/>
                <a:gd name="connsiteY10" fmla="*/ 34256 h 77342"/>
                <a:gd name="connsiteX11" fmla="*/ 32215 w 65932"/>
                <a:gd name="connsiteY11" fmla="*/ 27667 h 77342"/>
                <a:gd name="connsiteX12" fmla="*/ 217 w 65932"/>
                <a:gd name="connsiteY12" fmla="*/ 58303 h 77342"/>
                <a:gd name="connsiteX13" fmla="*/ 20144 w 65932"/>
                <a:gd name="connsiteY13" fmla="*/ 77409 h 77342"/>
                <a:gd name="connsiteX14" fmla="*/ 38136 w 65932"/>
                <a:gd name="connsiteY14" fmla="*/ 69723 h 77342"/>
                <a:gd name="connsiteX15" fmla="*/ 51573 w 65932"/>
                <a:gd name="connsiteY15" fmla="*/ 77409 h 77342"/>
                <a:gd name="connsiteX16" fmla="*/ 61594 w 65932"/>
                <a:gd name="connsiteY16" fmla="*/ 71260 h 77342"/>
                <a:gd name="connsiteX17" fmla="*/ 66149 w 65932"/>
                <a:gd name="connsiteY17" fmla="*/ 60389 h 77342"/>
                <a:gd name="connsiteX18" fmla="*/ 63758 w 65932"/>
                <a:gd name="connsiteY18" fmla="*/ 58852 h 77342"/>
                <a:gd name="connsiteX19" fmla="*/ 61025 w 65932"/>
                <a:gd name="connsiteY19" fmla="*/ 61268 h 77342"/>
                <a:gd name="connsiteX20" fmla="*/ 52029 w 65932"/>
                <a:gd name="connsiteY20" fmla="*/ 73676 h 77342"/>
                <a:gd name="connsiteX21" fmla="*/ 47474 w 65932"/>
                <a:gd name="connsiteY21" fmla="*/ 67856 h 77342"/>
                <a:gd name="connsiteX22" fmla="*/ 47929 w 65932"/>
                <a:gd name="connsiteY22" fmla="*/ 64342 h 77342"/>
                <a:gd name="connsiteX23" fmla="*/ 63644 w 65932"/>
                <a:gd name="connsiteY23" fmla="*/ 4169 h 77342"/>
                <a:gd name="connsiteX24" fmla="*/ 38819 w 65932"/>
                <a:gd name="connsiteY24" fmla="*/ 61597 h 77342"/>
                <a:gd name="connsiteX25" fmla="*/ 36314 w 65932"/>
                <a:gd name="connsiteY25" fmla="*/ 65660 h 77342"/>
                <a:gd name="connsiteX26" fmla="*/ 20486 w 65932"/>
                <a:gd name="connsiteY26" fmla="*/ 73676 h 77342"/>
                <a:gd name="connsiteX27" fmla="*/ 10465 w 65932"/>
                <a:gd name="connsiteY27" fmla="*/ 62476 h 77342"/>
                <a:gd name="connsiteX28" fmla="*/ 17184 w 65932"/>
                <a:gd name="connsiteY28" fmla="*/ 40185 h 77342"/>
                <a:gd name="connsiteX29" fmla="*/ 32215 w 65932"/>
                <a:gd name="connsiteY29" fmla="*/ 31401 h 77342"/>
                <a:gd name="connsiteX30" fmla="*/ 44058 w 65932"/>
                <a:gd name="connsiteY30" fmla="*/ 40954 h 77342"/>
                <a:gd name="connsiteX31" fmla="*/ 38819 w 65932"/>
                <a:gd name="connsiteY31" fmla="*/ 61597 h 77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5932" h="77342">
                  <a:moveTo>
                    <a:pt x="63644" y="4169"/>
                  </a:moveTo>
                  <a:cubicBezTo>
                    <a:pt x="64099" y="2631"/>
                    <a:pt x="64099" y="2412"/>
                    <a:pt x="64099" y="1863"/>
                  </a:cubicBezTo>
                  <a:cubicBezTo>
                    <a:pt x="64099" y="-4"/>
                    <a:pt x="62391" y="-4"/>
                    <a:pt x="60569" y="106"/>
                  </a:cubicBezTo>
                  <a:lnTo>
                    <a:pt x="46563" y="1094"/>
                  </a:lnTo>
                  <a:cubicBezTo>
                    <a:pt x="44627" y="1204"/>
                    <a:pt x="44399" y="1314"/>
                    <a:pt x="43830" y="1753"/>
                  </a:cubicBezTo>
                  <a:cubicBezTo>
                    <a:pt x="43374" y="2302"/>
                    <a:pt x="43033" y="3620"/>
                    <a:pt x="43033" y="4279"/>
                  </a:cubicBezTo>
                  <a:cubicBezTo>
                    <a:pt x="43033" y="6145"/>
                    <a:pt x="44855" y="6145"/>
                    <a:pt x="46449" y="6145"/>
                  </a:cubicBezTo>
                  <a:cubicBezTo>
                    <a:pt x="46563" y="6145"/>
                    <a:pt x="48613" y="6145"/>
                    <a:pt x="50321" y="6365"/>
                  </a:cubicBezTo>
                  <a:cubicBezTo>
                    <a:pt x="52484" y="6584"/>
                    <a:pt x="52598" y="6914"/>
                    <a:pt x="52598" y="7792"/>
                  </a:cubicBezTo>
                  <a:cubicBezTo>
                    <a:pt x="52598" y="8341"/>
                    <a:pt x="51687" y="11636"/>
                    <a:pt x="51232" y="13612"/>
                  </a:cubicBezTo>
                  <a:lnTo>
                    <a:pt x="45880" y="34256"/>
                  </a:lnTo>
                  <a:cubicBezTo>
                    <a:pt x="43716" y="31401"/>
                    <a:pt x="39389" y="27667"/>
                    <a:pt x="32215" y="27667"/>
                  </a:cubicBezTo>
                  <a:cubicBezTo>
                    <a:pt x="16159" y="27667"/>
                    <a:pt x="217" y="42711"/>
                    <a:pt x="217" y="58303"/>
                  </a:cubicBezTo>
                  <a:cubicBezTo>
                    <a:pt x="217" y="69503"/>
                    <a:pt x="8757" y="77409"/>
                    <a:pt x="20144" y="77409"/>
                  </a:cubicBezTo>
                  <a:cubicBezTo>
                    <a:pt x="29482" y="77409"/>
                    <a:pt x="36770" y="71041"/>
                    <a:pt x="38136" y="69723"/>
                  </a:cubicBezTo>
                  <a:cubicBezTo>
                    <a:pt x="40186" y="75103"/>
                    <a:pt x="46449" y="77409"/>
                    <a:pt x="51573" y="77409"/>
                  </a:cubicBezTo>
                  <a:cubicBezTo>
                    <a:pt x="56128" y="77409"/>
                    <a:pt x="59203" y="74884"/>
                    <a:pt x="61594" y="71260"/>
                  </a:cubicBezTo>
                  <a:cubicBezTo>
                    <a:pt x="64555" y="66978"/>
                    <a:pt x="66149" y="61158"/>
                    <a:pt x="66149" y="60389"/>
                  </a:cubicBezTo>
                  <a:cubicBezTo>
                    <a:pt x="66149" y="58852"/>
                    <a:pt x="64213" y="58852"/>
                    <a:pt x="63758" y="58852"/>
                  </a:cubicBezTo>
                  <a:cubicBezTo>
                    <a:pt x="61708" y="58852"/>
                    <a:pt x="61594" y="59511"/>
                    <a:pt x="61025" y="61268"/>
                  </a:cubicBezTo>
                  <a:cubicBezTo>
                    <a:pt x="58975" y="69394"/>
                    <a:pt x="56014" y="73676"/>
                    <a:pt x="52029" y="73676"/>
                  </a:cubicBezTo>
                  <a:cubicBezTo>
                    <a:pt x="48840" y="73676"/>
                    <a:pt x="47474" y="71260"/>
                    <a:pt x="47474" y="67856"/>
                  </a:cubicBezTo>
                  <a:cubicBezTo>
                    <a:pt x="47474" y="66648"/>
                    <a:pt x="47588" y="65441"/>
                    <a:pt x="47929" y="64342"/>
                  </a:cubicBezTo>
                  <a:lnTo>
                    <a:pt x="63644" y="4169"/>
                  </a:lnTo>
                  <a:close/>
                  <a:moveTo>
                    <a:pt x="38819" y="61597"/>
                  </a:moveTo>
                  <a:cubicBezTo>
                    <a:pt x="38364" y="63244"/>
                    <a:pt x="38364" y="63464"/>
                    <a:pt x="36314" y="65660"/>
                  </a:cubicBezTo>
                  <a:cubicBezTo>
                    <a:pt x="32101" y="70272"/>
                    <a:pt x="26180" y="73676"/>
                    <a:pt x="20486" y="73676"/>
                  </a:cubicBezTo>
                  <a:cubicBezTo>
                    <a:pt x="16500" y="73676"/>
                    <a:pt x="10465" y="71590"/>
                    <a:pt x="10465" y="62476"/>
                  </a:cubicBezTo>
                  <a:cubicBezTo>
                    <a:pt x="10465" y="57425"/>
                    <a:pt x="13198" y="45895"/>
                    <a:pt x="17184" y="40185"/>
                  </a:cubicBezTo>
                  <a:cubicBezTo>
                    <a:pt x="21625" y="34146"/>
                    <a:pt x="27432" y="31401"/>
                    <a:pt x="32215" y="31401"/>
                  </a:cubicBezTo>
                  <a:cubicBezTo>
                    <a:pt x="37339" y="31401"/>
                    <a:pt x="42236" y="34365"/>
                    <a:pt x="44058" y="40954"/>
                  </a:cubicBezTo>
                  <a:lnTo>
                    <a:pt x="38819" y="61597"/>
                  </a:lnTo>
                  <a:close/>
                </a:path>
              </a:pathLst>
            </a:custGeom>
            <a:solidFill>
              <a:srgbClr val="000000"/>
            </a:solidFill>
            <a:ln w="22833" cap="flat">
              <a:noFill/>
              <a:prstDash val="solid"/>
              <a:miter/>
            </a:ln>
          </p:spPr>
          <p:txBody>
            <a:bodyPr rtlCol="0" anchor="ctr"/>
            <a:lstStyle/>
            <a:p>
              <a:endParaRPr lang="zh-CN" altLang="en-US"/>
            </a:p>
          </p:txBody>
        </p:sp>
        <p:sp>
          <p:nvSpPr>
            <p:cNvPr id="22" name="任意形状 21">
              <a:extLst>
                <a:ext uri="{FF2B5EF4-FFF2-40B4-BE49-F238E27FC236}">
                  <a16:creationId xmlns:a16="http://schemas.microsoft.com/office/drawing/2014/main" id="{888FA8C9-852E-37B2-C97D-FD9B854A5EDB}"/>
                </a:ext>
              </a:extLst>
            </p:cNvPr>
            <p:cNvSpPr/>
            <p:nvPr>
              <p:custDataLst>
                <p:tags r:id="rId10"/>
              </p:custDataLst>
            </p:nvPr>
          </p:nvSpPr>
          <p:spPr>
            <a:xfrm>
              <a:off x="7489400" y="4038623"/>
              <a:ext cx="84232" cy="7466"/>
            </a:xfrm>
            <a:custGeom>
              <a:avLst/>
              <a:gdLst>
                <a:gd name="connsiteX0" fmla="*/ 0 w 84232"/>
                <a:gd name="connsiteY0" fmla="*/ 0 h 7466"/>
                <a:gd name="connsiteX1" fmla="*/ 84232 w 84232"/>
                <a:gd name="connsiteY1" fmla="*/ 0 h 7466"/>
                <a:gd name="connsiteX2" fmla="*/ 84232 w 84232"/>
                <a:gd name="connsiteY2" fmla="*/ 7466 h 7466"/>
                <a:gd name="connsiteX3" fmla="*/ 0 w 84232"/>
                <a:gd name="connsiteY3" fmla="*/ 7466 h 7466"/>
              </a:gdLst>
              <a:ahLst/>
              <a:cxnLst>
                <a:cxn ang="0">
                  <a:pos x="connsiteX0" y="connsiteY0"/>
                </a:cxn>
                <a:cxn ang="0">
                  <a:pos x="connsiteX1" y="connsiteY1"/>
                </a:cxn>
                <a:cxn ang="0">
                  <a:pos x="connsiteX2" y="connsiteY2"/>
                </a:cxn>
                <a:cxn ang="0">
                  <a:pos x="connsiteX3" y="connsiteY3"/>
                </a:cxn>
              </a:cxnLst>
              <a:rect l="l" t="t" r="r" b="b"/>
              <a:pathLst>
                <a:path w="84232" h="7466">
                  <a:moveTo>
                    <a:pt x="0" y="0"/>
                  </a:moveTo>
                  <a:lnTo>
                    <a:pt x="84232" y="0"/>
                  </a:lnTo>
                  <a:lnTo>
                    <a:pt x="84232" y="7466"/>
                  </a:lnTo>
                  <a:lnTo>
                    <a:pt x="0" y="7466"/>
                  </a:lnTo>
                  <a:close/>
                </a:path>
              </a:pathLst>
            </a:custGeom>
            <a:solidFill>
              <a:srgbClr val="000000"/>
            </a:solidFill>
            <a:ln w="22833" cap="flat">
              <a:noFill/>
              <a:prstDash val="solid"/>
              <a:miter/>
            </a:ln>
          </p:spPr>
          <p:txBody>
            <a:bodyPr rtlCol="0" anchor="ctr"/>
            <a:lstStyle/>
            <a:p>
              <a:endParaRPr lang="zh-CN" altLang="en-US"/>
            </a:p>
          </p:txBody>
        </p:sp>
        <p:sp>
          <p:nvSpPr>
            <p:cNvPr id="23" name="任意形状 22">
              <a:extLst>
                <a:ext uri="{FF2B5EF4-FFF2-40B4-BE49-F238E27FC236}">
                  <a16:creationId xmlns:a16="http://schemas.microsoft.com/office/drawing/2014/main" id="{02CC2469-0309-C5D8-C6A7-39294EBB8DA6}"/>
                </a:ext>
              </a:extLst>
            </p:cNvPr>
            <p:cNvSpPr/>
            <p:nvPr>
              <p:custDataLst>
                <p:tags r:id="rId11"/>
              </p:custDataLst>
            </p:nvPr>
          </p:nvSpPr>
          <p:spPr>
            <a:xfrm>
              <a:off x="7503129" y="4060573"/>
              <a:ext cx="56708" cy="73130"/>
            </a:xfrm>
            <a:custGeom>
              <a:avLst/>
              <a:gdLst>
                <a:gd name="connsiteX0" fmla="*/ 56925 w 56708"/>
                <a:gd name="connsiteY0" fmla="*/ 52011 h 73130"/>
                <a:gd name="connsiteX1" fmla="*/ 52143 w 56708"/>
                <a:gd name="connsiteY1" fmla="*/ 52011 h 73130"/>
                <a:gd name="connsiteX2" fmla="*/ 48840 w 56708"/>
                <a:gd name="connsiteY2" fmla="*/ 62003 h 73130"/>
                <a:gd name="connsiteX3" fmla="*/ 36656 w 56708"/>
                <a:gd name="connsiteY3" fmla="*/ 62662 h 73130"/>
                <a:gd name="connsiteX4" fmla="*/ 14337 w 56708"/>
                <a:gd name="connsiteY4" fmla="*/ 62662 h 73130"/>
                <a:gd name="connsiteX5" fmla="*/ 37112 w 56708"/>
                <a:gd name="connsiteY5" fmla="*/ 46740 h 73130"/>
                <a:gd name="connsiteX6" fmla="*/ 56925 w 56708"/>
                <a:gd name="connsiteY6" fmla="*/ 21924 h 73130"/>
                <a:gd name="connsiteX7" fmla="*/ 26863 w 56708"/>
                <a:gd name="connsiteY7" fmla="*/ 72 h 73130"/>
                <a:gd name="connsiteX8" fmla="*/ 217 w 56708"/>
                <a:gd name="connsiteY8" fmla="*/ 19398 h 73130"/>
                <a:gd name="connsiteX9" fmla="*/ 6821 w 56708"/>
                <a:gd name="connsiteY9" fmla="*/ 26096 h 73130"/>
                <a:gd name="connsiteX10" fmla="*/ 13540 w 56708"/>
                <a:gd name="connsiteY10" fmla="*/ 19618 h 73130"/>
                <a:gd name="connsiteX11" fmla="*/ 7049 w 56708"/>
                <a:gd name="connsiteY11" fmla="*/ 13139 h 73130"/>
                <a:gd name="connsiteX12" fmla="*/ 24472 w 56708"/>
                <a:gd name="connsiteY12" fmla="*/ 4904 h 73130"/>
                <a:gd name="connsiteX13" fmla="*/ 44741 w 56708"/>
                <a:gd name="connsiteY13" fmla="*/ 22034 h 73130"/>
                <a:gd name="connsiteX14" fmla="*/ 29368 w 56708"/>
                <a:gd name="connsiteY14" fmla="*/ 45422 h 73130"/>
                <a:gd name="connsiteX15" fmla="*/ 1583 w 56708"/>
                <a:gd name="connsiteY15" fmla="*/ 68152 h 73130"/>
                <a:gd name="connsiteX16" fmla="*/ 217 w 56708"/>
                <a:gd name="connsiteY16" fmla="*/ 69909 h 73130"/>
                <a:gd name="connsiteX17" fmla="*/ 217 w 56708"/>
                <a:gd name="connsiteY17" fmla="*/ 73203 h 73130"/>
                <a:gd name="connsiteX18" fmla="*/ 53168 w 56708"/>
                <a:gd name="connsiteY18" fmla="*/ 73203 h 73130"/>
                <a:gd name="connsiteX19" fmla="*/ 56925 w 56708"/>
                <a:gd name="connsiteY19" fmla="*/ 52011 h 73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6708" h="73130">
                  <a:moveTo>
                    <a:pt x="56925" y="52011"/>
                  </a:moveTo>
                  <a:lnTo>
                    <a:pt x="52143" y="52011"/>
                  </a:lnTo>
                  <a:cubicBezTo>
                    <a:pt x="51801" y="54097"/>
                    <a:pt x="50662" y="60905"/>
                    <a:pt x="48840" y="62003"/>
                  </a:cubicBezTo>
                  <a:cubicBezTo>
                    <a:pt x="47929" y="62662"/>
                    <a:pt x="38364" y="62662"/>
                    <a:pt x="36656" y="62662"/>
                  </a:cubicBezTo>
                  <a:lnTo>
                    <a:pt x="14337" y="62662"/>
                  </a:lnTo>
                  <a:cubicBezTo>
                    <a:pt x="21853" y="57281"/>
                    <a:pt x="30279" y="51132"/>
                    <a:pt x="37112" y="46740"/>
                  </a:cubicBezTo>
                  <a:cubicBezTo>
                    <a:pt x="47360" y="39932"/>
                    <a:pt x="56925" y="33563"/>
                    <a:pt x="56925" y="21924"/>
                  </a:cubicBezTo>
                  <a:cubicBezTo>
                    <a:pt x="56925" y="7869"/>
                    <a:pt x="43147" y="72"/>
                    <a:pt x="26863" y="72"/>
                  </a:cubicBezTo>
                  <a:cubicBezTo>
                    <a:pt x="11490" y="72"/>
                    <a:pt x="217" y="8637"/>
                    <a:pt x="217" y="19398"/>
                  </a:cubicBezTo>
                  <a:cubicBezTo>
                    <a:pt x="217" y="25108"/>
                    <a:pt x="5227" y="26096"/>
                    <a:pt x="6821" y="26096"/>
                  </a:cubicBezTo>
                  <a:cubicBezTo>
                    <a:pt x="9896" y="26096"/>
                    <a:pt x="13540" y="24120"/>
                    <a:pt x="13540" y="19618"/>
                  </a:cubicBezTo>
                  <a:cubicBezTo>
                    <a:pt x="13540" y="15665"/>
                    <a:pt x="10579" y="13469"/>
                    <a:pt x="7049" y="13139"/>
                  </a:cubicBezTo>
                  <a:cubicBezTo>
                    <a:pt x="10237" y="8198"/>
                    <a:pt x="16842" y="4904"/>
                    <a:pt x="24472" y="4904"/>
                  </a:cubicBezTo>
                  <a:cubicBezTo>
                    <a:pt x="35517" y="4904"/>
                    <a:pt x="44741" y="11273"/>
                    <a:pt x="44741" y="22034"/>
                  </a:cubicBezTo>
                  <a:cubicBezTo>
                    <a:pt x="44741" y="31257"/>
                    <a:pt x="38136" y="38285"/>
                    <a:pt x="29368" y="45422"/>
                  </a:cubicBezTo>
                  <a:lnTo>
                    <a:pt x="1583" y="68152"/>
                  </a:lnTo>
                  <a:cubicBezTo>
                    <a:pt x="444" y="69140"/>
                    <a:pt x="331" y="69140"/>
                    <a:pt x="217" y="69909"/>
                  </a:cubicBezTo>
                  <a:lnTo>
                    <a:pt x="217" y="73203"/>
                  </a:lnTo>
                  <a:lnTo>
                    <a:pt x="53168" y="73203"/>
                  </a:lnTo>
                  <a:lnTo>
                    <a:pt x="56925" y="52011"/>
                  </a:lnTo>
                  <a:close/>
                </a:path>
              </a:pathLst>
            </a:custGeom>
            <a:solidFill>
              <a:srgbClr val="000000"/>
            </a:solidFill>
            <a:ln w="22833" cap="flat">
              <a:noFill/>
              <a:prstDash val="solid"/>
              <a:miter/>
            </a:ln>
          </p:spPr>
          <p:txBody>
            <a:bodyPr rtlCol="0" anchor="ctr"/>
            <a:lstStyle/>
            <a:p>
              <a:endParaRPr lang="zh-CN" altLang="en-US"/>
            </a:p>
          </p:txBody>
        </p:sp>
        <p:sp>
          <p:nvSpPr>
            <p:cNvPr id="24" name="任意形状 23">
              <a:extLst>
                <a:ext uri="{FF2B5EF4-FFF2-40B4-BE49-F238E27FC236}">
                  <a16:creationId xmlns:a16="http://schemas.microsoft.com/office/drawing/2014/main" id="{9AD652FE-D7A5-5B2A-2985-4DAB17B36103}"/>
                </a:ext>
              </a:extLst>
            </p:cNvPr>
            <p:cNvSpPr/>
            <p:nvPr>
              <p:custDataLst>
                <p:tags r:id="rId12"/>
              </p:custDataLst>
            </p:nvPr>
          </p:nvSpPr>
          <p:spPr>
            <a:xfrm>
              <a:off x="7082740" y="4249758"/>
              <a:ext cx="657071" cy="8784"/>
            </a:xfrm>
            <a:custGeom>
              <a:avLst/>
              <a:gdLst>
                <a:gd name="connsiteX0" fmla="*/ 0 w 657071"/>
                <a:gd name="connsiteY0" fmla="*/ 0 h 8784"/>
                <a:gd name="connsiteX1" fmla="*/ 657072 w 657071"/>
                <a:gd name="connsiteY1" fmla="*/ 0 h 8784"/>
                <a:gd name="connsiteX2" fmla="*/ 657072 w 657071"/>
                <a:gd name="connsiteY2" fmla="*/ 8784 h 8784"/>
                <a:gd name="connsiteX3" fmla="*/ 0 w 657071"/>
                <a:gd name="connsiteY3" fmla="*/ 8784 h 8784"/>
              </a:gdLst>
              <a:ahLst/>
              <a:cxnLst>
                <a:cxn ang="0">
                  <a:pos x="connsiteX0" y="connsiteY0"/>
                </a:cxn>
                <a:cxn ang="0">
                  <a:pos x="connsiteX1" y="connsiteY1"/>
                </a:cxn>
                <a:cxn ang="0">
                  <a:pos x="connsiteX2" y="connsiteY2"/>
                </a:cxn>
                <a:cxn ang="0">
                  <a:pos x="connsiteX3" y="connsiteY3"/>
                </a:cxn>
              </a:cxnLst>
              <a:rect l="l" t="t" r="r" b="b"/>
              <a:pathLst>
                <a:path w="657071" h="8784">
                  <a:moveTo>
                    <a:pt x="0" y="0"/>
                  </a:moveTo>
                  <a:lnTo>
                    <a:pt x="657072" y="0"/>
                  </a:lnTo>
                  <a:lnTo>
                    <a:pt x="657072" y="8784"/>
                  </a:lnTo>
                  <a:lnTo>
                    <a:pt x="0" y="8784"/>
                  </a:lnTo>
                  <a:close/>
                </a:path>
              </a:pathLst>
            </a:custGeom>
            <a:solidFill>
              <a:srgbClr val="000000"/>
            </a:solidFill>
            <a:ln w="22833" cap="flat">
              <a:noFill/>
              <a:prstDash val="solid"/>
              <a:miter/>
            </a:ln>
          </p:spPr>
          <p:txBody>
            <a:bodyPr rtlCol="0" anchor="ctr"/>
            <a:lstStyle/>
            <a:p>
              <a:endParaRPr lang="zh-CN" altLang="en-US"/>
            </a:p>
          </p:txBody>
        </p:sp>
        <p:sp>
          <p:nvSpPr>
            <p:cNvPr id="25" name="任意形状 24">
              <a:extLst>
                <a:ext uri="{FF2B5EF4-FFF2-40B4-BE49-F238E27FC236}">
                  <a16:creationId xmlns:a16="http://schemas.microsoft.com/office/drawing/2014/main" id="{39975560-CF00-9870-EE67-AAFAC41839A3}"/>
                </a:ext>
              </a:extLst>
            </p:cNvPr>
            <p:cNvSpPr/>
            <p:nvPr>
              <p:custDataLst>
                <p:tags r:id="rId13"/>
              </p:custDataLst>
            </p:nvPr>
          </p:nvSpPr>
          <p:spPr>
            <a:xfrm>
              <a:off x="7091850" y="4325707"/>
              <a:ext cx="108407" cy="154826"/>
            </a:xfrm>
            <a:custGeom>
              <a:avLst/>
              <a:gdLst>
                <a:gd name="connsiteX0" fmla="*/ 108606 w 108407"/>
                <a:gd name="connsiteY0" fmla="*/ 2504 h 154826"/>
                <a:gd name="connsiteX1" fmla="*/ 105645 w 108407"/>
                <a:gd name="connsiteY1" fmla="*/ 88 h 154826"/>
                <a:gd name="connsiteX2" fmla="*/ 76721 w 108407"/>
                <a:gd name="connsiteY2" fmla="*/ 2504 h 154826"/>
                <a:gd name="connsiteX3" fmla="*/ 73533 w 108407"/>
                <a:gd name="connsiteY3" fmla="*/ 6676 h 154826"/>
                <a:gd name="connsiteX4" fmla="*/ 78999 w 108407"/>
                <a:gd name="connsiteY4" fmla="*/ 9312 h 154826"/>
                <a:gd name="connsiteX5" fmla="*/ 90386 w 108407"/>
                <a:gd name="connsiteY5" fmla="*/ 13045 h 154826"/>
                <a:gd name="connsiteX6" fmla="*/ 89703 w 108407"/>
                <a:gd name="connsiteY6" fmla="*/ 17437 h 154826"/>
                <a:gd name="connsiteX7" fmla="*/ 76038 w 108407"/>
                <a:gd name="connsiteY7" fmla="*/ 69485 h 154826"/>
                <a:gd name="connsiteX8" fmla="*/ 55085 w 108407"/>
                <a:gd name="connsiteY8" fmla="*/ 55430 h 154826"/>
                <a:gd name="connsiteX9" fmla="*/ 199 w 108407"/>
                <a:gd name="connsiteY9" fmla="*/ 119777 h 154826"/>
                <a:gd name="connsiteX10" fmla="*/ 30489 w 108407"/>
                <a:gd name="connsiteY10" fmla="*/ 154915 h 154826"/>
                <a:gd name="connsiteX11" fmla="*/ 60096 w 108407"/>
                <a:gd name="connsiteY11" fmla="*/ 138444 h 154826"/>
                <a:gd name="connsiteX12" fmla="*/ 80821 w 108407"/>
                <a:gd name="connsiteY12" fmla="*/ 154915 h 154826"/>
                <a:gd name="connsiteX13" fmla="*/ 97674 w 108407"/>
                <a:gd name="connsiteY13" fmla="*/ 142836 h 154826"/>
                <a:gd name="connsiteX14" fmla="*/ 104506 w 108407"/>
                <a:gd name="connsiteY14" fmla="*/ 121094 h 154826"/>
                <a:gd name="connsiteX15" fmla="*/ 101773 w 108407"/>
                <a:gd name="connsiteY15" fmla="*/ 118898 h 154826"/>
                <a:gd name="connsiteX16" fmla="*/ 98585 w 108407"/>
                <a:gd name="connsiteY16" fmla="*/ 122851 h 154826"/>
                <a:gd name="connsiteX17" fmla="*/ 81276 w 108407"/>
                <a:gd name="connsiteY17" fmla="*/ 150083 h 154826"/>
                <a:gd name="connsiteX18" fmla="*/ 74444 w 108407"/>
                <a:gd name="connsiteY18" fmla="*/ 139981 h 154826"/>
                <a:gd name="connsiteX19" fmla="*/ 75810 w 108407"/>
                <a:gd name="connsiteY19" fmla="*/ 129439 h 154826"/>
                <a:gd name="connsiteX20" fmla="*/ 108606 w 108407"/>
                <a:gd name="connsiteY20" fmla="*/ 2504 h 154826"/>
                <a:gd name="connsiteX21" fmla="*/ 61235 w 108407"/>
                <a:gd name="connsiteY21" fmla="*/ 126365 h 154826"/>
                <a:gd name="connsiteX22" fmla="*/ 56680 w 108407"/>
                <a:gd name="connsiteY22" fmla="*/ 134491 h 154826"/>
                <a:gd name="connsiteX23" fmla="*/ 30944 w 108407"/>
                <a:gd name="connsiteY23" fmla="*/ 150083 h 154826"/>
                <a:gd name="connsiteX24" fmla="*/ 16369 w 108407"/>
                <a:gd name="connsiteY24" fmla="*/ 129439 h 154826"/>
                <a:gd name="connsiteX25" fmla="*/ 28895 w 108407"/>
                <a:gd name="connsiteY25" fmla="*/ 81344 h 154826"/>
                <a:gd name="connsiteX26" fmla="*/ 55313 w 108407"/>
                <a:gd name="connsiteY26" fmla="*/ 60262 h 154826"/>
                <a:gd name="connsiteX27" fmla="*/ 73305 w 108407"/>
                <a:gd name="connsiteY27" fmla="*/ 79588 h 154826"/>
                <a:gd name="connsiteX28" fmla="*/ 72622 w 108407"/>
                <a:gd name="connsiteY28" fmla="*/ 83321 h 154826"/>
                <a:gd name="connsiteX29" fmla="*/ 61235 w 108407"/>
                <a:gd name="connsiteY29" fmla="*/ 126365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606" y="2504"/>
                  </a:moveTo>
                  <a:cubicBezTo>
                    <a:pt x="108606" y="2284"/>
                    <a:pt x="108606" y="88"/>
                    <a:pt x="105645" y="88"/>
                  </a:cubicBezTo>
                  <a:cubicBezTo>
                    <a:pt x="102229" y="88"/>
                    <a:pt x="80593" y="2064"/>
                    <a:pt x="76721" y="2504"/>
                  </a:cubicBezTo>
                  <a:cubicBezTo>
                    <a:pt x="74899" y="2723"/>
                    <a:pt x="73533" y="3821"/>
                    <a:pt x="73533" y="6676"/>
                  </a:cubicBezTo>
                  <a:cubicBezTo>
                    <a:pt x="73533" y="9312"/>
                    <a:pt x="75583" y="9312"/>
                    <a:pt x="78999" y="9312"/>
                  </a:cubicBezTo>
                  <a:cubicBezTo>
                    <a:pt x="89931" y="9312"/>
                    <a:pt x="90386" y="10849"/>
                    <a:pt x="90386" y="13045"/>
                  </a:cubicBezTo>
                  <a:lnTo>
                    <a:pt x="89703" y="17437"/>
                  </a:lnTo>
                  <a:lnTo>
                    <a:pt x="76038" y="69485"/>
                  </a:lnTo>
                  <a:cubicBezTo>
                    <a:pt x="71939" y="61360"/>
                    <a:pt x="65334" y="55430"/>
                    <a:pt x="55085" y="55430"/>
                  </a:cubicBezTo>
                  <a:cubicBezTo>
                    <a:pt x="28439" y="55430"/>
                    <a:pt x="199" y="87713"/>
                    <a:pt x="199" y="119777"/>
                  </a:cubicBezTo>
                  <a:cubicBezTo>
                    <a:pt x="199" y="140420"/>
                    <a:pt x="12725" y="154915"/>
                    <a:pt x="30489" y="154915"/>
                  </a:cubicBezTo>
                  <a:cubicBezTo>
                    <a:pt x="35044" y="154915"/>
                    <a:pt x="46431" y="154036"/>
                    <a:pt x="60096" y="138444"/>
                  </a:cubicBezTo>
                  <a:cubicBezTo>
                    <a:pt x="61918" y="147667"/>
                    <a:pt x="69889" y="154915"/>
                    <a:pt x="80821" y="154915"/>
                  </a:cubicBezTo>
                  <a:cubicBezTo>
                    <a:pt x="88792" y="154915"/>
                    <a:pt x="94030" y="149863"/>
                    <a:pt x="97674" y="142836"/>
                  </a:cubicBezTo>
                  <a:cubicBezTo>
                    <a:pt x="101546" y="134930"/>
                    <a:pt x="104506" y="121533"/>
                    <a:pt x="104506" y="121094"/>
                  </a:cubicBezTo>
                  <a:cubicBezTo>
                    <a:pt x="104506" y="118898"/>
                    <a:pt x="102457" y="118898"/>
                    <a:pt x="101773" y="118898"/>
                  </a:cubicBezTo>
                  <a:cubicBezTo>
                    <a:pt x="99496" y="118898"/>
                    <a:pt x="99268" y="119777"/>
                    <a:pt x="98585" y="122851"/>
                  </a:cubicBezTo>
                  <a:cubicBezTo>
                    <a:pt x="94713" y="137126"/>
                    <a:pt x="90614" y="150083"/>
                    <a:pt x="81276" y="150083"/>
                  </a:cubicBezTo>
                  <a:cubicBezTo>
                    <a:pt x="75127" y="150083"/>
                    <a:pt x="74444" y="144373"/>
                    <a:pt x="74444" y="139981"/>
                  </a:cubicBezTo>
                  <a:cubicBezTo>
                    <a:pt x="74444" y="134710"/>
                    <a:pt x="74899" y="133173"/>
                    <a:pt x="75810" y="129439"/>
                  </a:cubicBezTo>
                  <a:lnTo>
                    <a:pt x="108606" y="2504"/>
                  </a:lnTo>
                  <a:close/>
                  <a:moveTo>
                    <a:pt x="61235" y="126365"/>
                  </a:moveTo>
                  <a:cubicBezTo>
                    <a:pt x="60096" y="130318"/>
                    <a:pt x="60096" y="130757"/>
                    <a:pt x="56680" y="134491"/>
                  </a:cubicBezTo>
                  <a:cubicBezTo>
                    <a:pt x="46659" y="146569"/>
                    <a:pt x="37321" y="150083"/>
                    <a:pt x="30944" y="150083"/>
                  </a:cubicBezTo>
                  <a:cubicBezTo>
                    <a:pt x="19557" y="150083"/>
                    <a:pt x="16369" y="138004"/>
                    <a:pt x="16369" y="129439"/>
                  </a:cubicBezTo>
                  <a:cubicBezTo>
                    <a:pt x="16369" y="118459"/>
                    <a:pt x="23657" y="91447"/>
                    <a:pt x="28895" y="81344"/>
                  </a:cubicBezTo>
                  <a:cubicBezTo>
                    <a:pt x="35955" y="68387"/>
                    <a:pt x="46203" y="60262"/>
                    <a:pt x="55313" y="60262"/>
                  </a:cubicBezTo>
                  <a:cubicBezTo>
                    <a:pt x="70117" y="60262"/>
                    <a:pt x="73305" y="78270"/>
                    <a:pt x="73305" y="79588"/>
                  </a:cubicBezTo>
                  <a:cubicBezTo>
                    <a:pt x="73305" y="80905"/>
                    <a:pt x="72850" y="82223"/>
                    <a:pt x="72622" y="83321"/>
                  </a:cubicBezTo>
                  <a:lnTo>
                    <a:pt x="61235" y="126365"/>
                  </a:lnTo>
                  <a:close/>
                </a:path>
              </a:pathLst>
            </a:custGeom>
            <a:solidFill>
              <a:srgbClr val="000000"/>
            </a:solidFill>
            <a:ln w="22833" cap="flat">
              <a:noFill/>
              <a:prstDash val="solid"/>
              <a:miter/>
            </a:ln>
          </p:spPr>
          <p:txBody>
            <a:bodyPr rtlCol="0" anchor="ctr"/>
            <a:lstStyle/>
            <a:p>
              <a:endParaRPr lang="zh-CN" altLang="en-US"/>
            </a:p>
          </p:txBody>
        </p:sp>
        <p:sp>
          <p:nvSpPr>
            <p:cNvPr id="26" name="任意形状 25">
              <a:extLst>
                <a:ext uri="{FF2B5EF4-FFF2-40B4-BE49-F238E27FC236}">
                  <a16:creationId xmlns:a16="http://schemas.microsoft.com/office/drawing/2014/main" id="{73CBD5D1-A1A4-DFDD-20A9-B10272E373F5}"/>
                </a:ext>
              </a:extLst>
            </p:cNvPr>
            <p:cNvSpPr/>
            <p:nvPr>
              <p:custDataLst>
                <p:tags r:id="rId14"/>
              </p:custDataLst>
            </p:nvPr>
          </p:nvSpPr>
          <p:spPr>
            <a:xfrm>
              <a:off x="7208795" y="4328781"/>
              <a:ext cx="125032" cy="149336"/>
            </a:xfrm>
            <a:custGeom>
              <a:avLst/>
              <a:gdLst>
                <a:gd name="connsiteX0" fmla="*/ 118860 w 125032"/>
                <a:gd name="connsiteY0" fmla="*/ 88 h 149336"/>
                <a:gd name="connsiteX1" fmla="*/ 204 w 125032"/>
                <a:gd name="connsiteY1" fmla="*/ 88 h 149336"/>
                <a:gd name="connsiteX2" fmla="*/ 204 w 125032"/>
                <a:gd name="connsiteY2" fmla="*/ 6896 h 149336"/>
                <a:gd name="connsiteX3" fmla="*/ 5670 w 125032"/>
                <a:gd name="connsiteY3" fmla="*/ 6896 h 149336"/>
                <a:gd name="connsiteX4" fmla="*/ 23662 w 125032"/>
                <a:gd name="connsiteY4" fmla="*/ 17218 h 149336"/>
                <a:gd name="connsiteX5" fmla="*/ 23662 w 125032"/>
                <a:gd name="connsiteY5" fmla="*/ 132294 h 149336"/>
                <a:gd name="connsiteX6" fmla="*/ 5670 w 125032"/>
                <a:gd name="connsiteY6" fmla="*/ 142616 h 149336"/>
                <a:gd name="connsiteX7" fmla="*/ 204 w 125032"/>
                <a:gd name="connsiteY7" fmla="*/ 142616 h 149336"/>
                <a:gd name="connsiteX8" fmla="*/ 204 w 125032"/>
                <a:gd name="connsiteY8" fmla="*/ 149424 h 149336"/>
                <a:gd name="connsiteX9" fmla="*/ 34821 w 125032"/>
                <a:gd name="connsiteY9" fmla="*/ 148765 h 149336"/>
                <a:gd name="connsiteX10" fmla="*/ 73083 w 125032"/>
                <a:gd name="connsiteY10" fmla="*/ 149424 h 149336"/>
                <a:gd name="connsiteX11" fmla="*/ 73083 w 125032"/>
                <a:gd name="connsiteY11" fmla="*/ 142616 h 149336"/>
                <a:gd name="connsiteX12" fmla="*/ 65567 w 125032"/>
                <a:gd name="connsiteY12" fmla="*/ 142616 h 149336"/>
                <a:gd name="connsiteX13" fmla="*/ 43931 w 125032"/>
                <a:gd name="connsiteY13" fmla="*/ 132075 h 149336"/>
                <a:gd name="connsiteX14" fmla="*/ 43931 w 125032"/>
                <a:gd name="connsiteY14" fmla="*/ 15680 h 149336"/>
                <a:gd name="connsiteX15" fmla="*/ 55091 w 125032"/>
                <a:gd name="connsiteY15" fmla="*/ 6896 h 149336"/>
                <a:gd name="connsiteX16" fmla="*/ 78549 w 125032"/>
                <a:gd name="connsiteY16" fmla="*/ 6896 h 149336"/>
                <a:gd name="connsiteX17" fmla="*/ 119543 w 125032"/>
                <a:gd name="connsiteY17" fmla="*/ 49501 h 149336"/>
                <a:gd name="connsiteX18" fmla="*/ 125236 w 125032"/>
                <a:gd name="connsiteY18" fmla="*/ 49501 h 149336"/>
                <a:gd name="connsiteX19" fmla="*/ 118860 w 125032"/>
                <a:gd name="connsiteY19" fmla="*/ 88 h 14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5032" h="149336">
                  <a:moveTo>
                    <a:pt x="118860" y="88"/>
                  </a:moveTo>
                  <a:lnTo>
                    <a:pt x="204" y="88"/>
                  </a:lnTo>
                  <a:lnTo>
                    <a:pt x="204" y="6896"/>
                  </a:lnTo>
                  <a:lnTo>
                    <a:pt x="5670" y="6896"/>
                  </a:lnTo>
                  <a:cubicBezTo>
                    <a:pt x="23206" y="6896"/>
                    <a:pt x="23662" y="9312"/>
                    <a:pt x="23662" y="17218"/>
                  </a:cubicBezTo>
                  <a:lnTo>
                    <a:pt x="23662" y="132294"/>
                  </a:lnTo>
                  <a:cubicBezTo>
                    <a:pt x="23662" y="140200"/>
                    <a:pt x="23206" y="142616"/>
                    <a:pt x="5670" y="142616"/>
                  </a:cubicBezTo>
                  <a:lnTo>
                    <a:pt x="204" y="142616"/>
                  </a:lnTo>
                  <a:lnTo>
                    <a:pt x="204" y="149424"/>
                  </a:lnTo>
                  <a:cubicBezTo>
                    <a:pt x="8175" y="148765"/>
                    <a:pt x="25939" y="148765"/>
                    <a:pt x="34821" y="148765"/>
                  </a:cubicBezTo>
                  <a:cubicBezTo>
                    <a:pt x="44159" y="148765"/>
                    <a:pt x="64884" y="148765"/>
                    <a:pt x="73083" y="149424"/>
                  </a:cubicBezTo>
                  <a:lnTo>
                    <a:pt x="73083" y="142616"/>
                  </a:lnTo>
                  <a:lnTo>
                    <a:pt x="65567" y="142616"/>
                  </a:lnTo>
                  <a:cubicBezTo>
                    <a:pt x="43931" y="142616"/>
                    <a:pt x="43931" y="139761"/>
                    <a:pt x="43931" y="132075"/>
                  </a:cubicBezTo>
                  <a:lnTo>
                    <a:pt x="43931" y="15680"/>
                  </a:lnTo>
                  <a:cubicBezTo>
                    <a:pt x="43931" y="8433"/>
                    <a:pt x="44387" y="6896"/>
                    <a:pt x="55091" y="6896"/>
                  </a:cubicBezTo>
                  <a:lnTo>
                    <a:pt x="78549" y="6896"/>
                  </a:lnTo>
                  <a:cubicBezTo>
                    <a:pt x="111116" y="6896"/>
                    <a:pt x="115899" y="19853"/>
                    <a:pt x="119543" y="49501"/>
                  </a:cubicBezTo>
                  <a:lnTo>
                    <a:pt x="125236" y="49501"/>
                  </a:lnTo>
                  <a:lnTo>
                    <a:pt x="118860" y="88"/>
                  </a:lnTo>
                  <a:close/>
                </a:path>
              </a:pathLst>
            </a:custGeom>
            <a:solidFill>
              <a:srgbClr val="000000"/>
            </a:solidFill>
            <a:ln w="22833" cap="flat">
              <a:noFill/>
              <a:prstDash val="solid"/>
              <a:miter/>
            </a:ln>
          </p:spPr>
          <p:txBody>
            <a:bodyPr rtlCol="0" anchor="ctr"/>
            <a:lstStyle/>
            <a:p>
              <a:endParaRPr lang="zh-CN" altLang="en-US"/>
            </a:p>
          </p:txBody>
        </p:sp>
        <p:sp>
          <p:nvSpPr>
            <p:cNvPr id="27" name="任意形状 26">
              <a:extLst>
                <a:ext uri="{FF2B5EF4-FFF2-40B4-BE49-F238E27FC236}">
                  <a16:creationId xmlns:a16="http://schemas.microsoft.com/office/drawing/2014/main" id="{892EB76C-BE84-4C23-B09C-90CF6AF2DD37}"/>
                </a:ext>
              </a:extLst>
            </p:cNvPr>
            <p:cNvSpPr/>
            <p:nvPr>
              <p:custDataLst>
                <p:tags r:id="rId15"/>
              </p:custDataLst>
            </p:nvPr>
          </p:nvSpPr>
          <p:spPr>
            <a:xfrm>
              <a:off x="7416195" y="4291446"/>
              <a:ext cx="59441" cy="263314"/>
            </a:xfrm>
            <a:custGeom>
              <a:avLst/>
              <a:gdLst>
                <a:gd name="connsiteX0" fmla="*/ 59653 w 59441"/>
                <a:gd name="connsiteY0" fmla="*/ 261199 h 263314"/>
                <a:gd name="connsiteX1" fmla="*/ 58743 w 59441"/>
                <a:gd name="connsiteY1" fmla="*/ 259222 h 263314"/>
                <a:gd name="connsiteX2" fmla="*/ 23214 w 59441"/>
                <a:gd name="connsiteY2" fmla="*/ 194876 h 263314"/>
                <a:gd name="connsiteX3" fmla="*/ 15926 w 59441"/>
                <a:gd name="connsiteY3" fmla="*/ 131847 h 263314"/>
                <a:gd name="connsiteX4" fmla="*/ 57604 w 59441"/>
                <a:gd name="connsiteY4" fmla="*/ 5131 h 263314"/>
                <a:gd name="connsiteX5" fmla="*/ 59653 w 59441"/>
                <a:gd name="connsiteY5" fmla="*/ 2276 h 263314"/>
                <a:gd name="connsiteX6" fmla="*/ 56921 w 59441"/>
                <a:gd name="connsiteY6" fmla="*/ 80 h 263314"/>
                <a:gd name="connsiteX7" fmla="*/ 38245 w 59441"/>
                <a:gd name="connsiteY7" fmla="*/ 16551 h 263314"/>
                <a:gd name="connsiteX8" fmla="*/ 212 w 59441"/>
                <a:gd name="connsiteY8" fmla="*/ 131628 h 263314"/>
                <a:gd name="connsiteX9" fmla="*/ 35740 w 59441"/>
                <a:gd name="connsiteY9" fmla="*/ 244069 h 263314"/>
                <a:gd name="connsiteX10" fmla="*/ 56921 w 59441"/>
                <a:gd name="connsiteY10" fmla="*/ 263395 h 263314"/>
                <a:gd name="connsiteX11" fmla="*/ 59653 w 59441"/>
                <a:gd name="connsiteY11" fmla="*/ 261199 h 263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9441" h="263314">
                  <a:moveTo>
                    <a:pt x="59653" y="261199"/>
                  </a:moveTo>
                  <a:cubicBezTo>
                    <a:pt x="59653" y="260320"/>
                    <a:pt x="59198" y="259881"/>
                    <a:pt x="58743" y="259222"/>
                  </a:cubicBezTo>
                  <a:cubicBezTo>
                    <a:pt x="48266" y="248461"/>
                    <a:pt x="32779" y="230673"/>
                    <a:pt x="23214" y="194876"/>
                  </a:cubicBezTo>
                  <a:cubicBezTo>
                    <a:pt x="17976" y="174891"/>
                    <a:pt x="15926" y="152271"/>
                    <a:pt x="15926" y="131847"/>
                  </a:cubicBezTo>
                  <a:cubicBezTo>
                    <a:pt x="15926" y="74089"/>
                    <a:pt x="30274" y="33681"/>
                    <a:pt x="57604" y="5131"/>
                  </a:cubicBezTo>
                  <a:cubicBezTo>
                    <a:pt x="59653" y="3154"/>
                    <a:pt x="59653" y="2715"/>
                    <a:pt x="59653" y="2276"/>
                  </a:cubicBezTo>
                  <a:cubicBezTo>
                    <a:pt x="59653" y="80"/>
                    <a:pt x="57832" y="80"/>
                    <a:pt x="56921" y="80"/>
                  </a:cubicBezTo>
                  <a:cubicBezTo>
                    <a:pt x="53504" y="80"/>
                    <a:pt x="41206" y="13257"/>
                    <a:pt x="38245" y="16551"/>
                  </a:cubicBezTo>
                  <a:cubicBezTo>
                    <a:pt x="15015" y="43124"/>
                    <a:pt x="212" y="82654"/>
                    <a:pt x="212" y="131628"/>
                  </a:cubicBezTo>
                  <a:cubicBezTo>
                    <a:pt x="212" y="162812"/>
                    <a:pt x="5905" y="206955"/>
                    <a:pt x="35740" y="244069"/>
                  </a:cubicBezTo>
                  <a:cubicBezTo>
                    <a:pt x="38018" y="246704"/>
                    <a:pt x="52821" y="263395"/>
                    <a:pt x="56921" y="263395"/>
                  </a:cubicBezTo>
                  <a:cubicBezTo>
                    <a:pt x="57832" y="263395"/>
                    <a:pt x="59653" y="263395"/>
                    <a:pt x="59653" y="261199"/>
                  </a:cubicBezTo>
                  <a:close/>
                </a:path>
              </a:pathLst>
            </a:custGeom>
            <a:solidFill>
              <a:srgbClr val="000000"/>
            </a:solidFill>
            <a:ln w="22833" cap="flat">
              <a:noFill/>
              <a:prstDash val="solid"/>
              <a:miter/>
            </a:ln>
          </p:spPr>
          <p:txBody>
            <a:bodyPr rtlCol="0" anchor="ctr"/>
            <a:lstStyle/>
            <a:p>
              <a:endParaRPr lang="zh-CN" altLang="en-US"/>
            </a:p>
          </p:txBody>
        </p:sp>
        <p:sp>
          <p:nvSpPr>
            <p:cNvPr id="28" name="任意形状 27">
              <a:extLst>
                <a:ext uri="{FF2B5EF4-FFF2-40B4-BE49-F238E27FC236}">
                  <a16:creationId xmlns:a16="http://schemas.microsoft.com/office/drawing/2014/main" id="{E6C4AF59-4CEA-47B2-6257-F81280A2F2C0}"/>
                </a:ext>
              </a:extLst>
            </p:cNvPr>
            <p:cNvSpPr/>
            <p:nvPr>
              <p:custDataLst>
                <p:tags r:id="rId16"/>
              </p:custDataLst>
            </p:nvPr>
          </p:nvSpPr>
          <p:spPr>
            <a:xfrm>
              <a:off x="7523016" y="4284962"/>
              <a:ext cx="81942" cy="108224"/>
            </a:xfrm>
            <a:custGeom>
              <a:avLst/>
              <a:gdLst>
                <a:gd name="connsiteX0" fmla="*/ 81523 w 81942"/>
                <a:gd name="connsiteY0" fmla="*/ 4696 h 108224"/>
                <a:gd name="connsiteX1" fmla="*/ 82161 w 81942"/>
                <a:gd name="connsiteY1" fmla="*/ 2236 h 108224"/>
                <a:gd name="connsiteX2" fmla="*/ 79610 w 81942"/>
                <a:gd name="connsiteY2" fmla="*/ 84 h 108224"/>
                <a:gd name="connsiteX3" fmla="*/ 59204 w 81942"/>
                <a:gd name="connsiteY3" fmla="*/ 1621 h 108224"/>
                <a:gd name="connsiteX4" fmla="*/ 55696 w 81942"/>
                <a:gd name="connsiteY4" fmla="*/ 5157 h 108224"/>
                <a:gd name="connsiteX5" fmla="*/ 59841 w 81942"/>
                <a:gd name="connsiteY5" fmla="*/ 7309 h 108224"/>
                <a:gd name="connsiteX6" fmla="*/ 67494 w 81942"/>
                <a:gd name="connsiteY6" fmla="*/ 9615 h 108224"/>
                <a:gd name="connsiteX7" fmla="*/ 66856 w 81942"/>
                <a:gd name="connsiteY7" fmla="*/ 12997 h 108224"/>
                <a:gd name="connsiteX8" fmla="*/ 57769 w 81942"/>
                <a:gd name="connsiteY8" fmla="*/ 48047 h 108224"/>
                <a:gd name="connsiteX9" fmla="*/ 41348 w 81942"/>
                <a:gd name="connsiteY9" fmla="*/ 38977 h 108224"/>
                <a:gd name="connsiteX10" fmla="*/ 218 w 81942"/>
                <a:gd name="connsiteY10" fmla="*/ 82790 h 108224"/>
                <a:gd name="connsiteX11" fmla="*/ 24290 w 81942"/>
                <a:gd name="connsiteY11" fmla="*/ 108309 h 108224"/>
                <a:gd name="connsiteX12" fmla="*/ 46928 w 81942"/>
                <a:gd name="connsiteY12" fmla="*/ 97548 h 108224"/>
                <a:gd name="connsiteX13" fmla="*/ 63349 w 81942"/>
                <a:gd name="connsiteY13" fmla="*/ 108309 h 108224"/>
                <a:gd name="connsiteX14" fmla="*/ 75943 w 81942"/>
                <a:gd name="connsiteY14" fmla="*/ 100161 h 108224"/>
                <a:gd name="connsiteX15" fmla="*/ 81523 w 81942"/>
                <a:gd name="connsiteY15" fmla="*/ 84788 h 108224"/>
                <a:gd name="connsiteX16" fmla="*/ 78972 w 81942"/>
                <a:gd name="connsiteY16" fmla="*/ 82790 h 108224"/>
                <a:gd name="connsiteX17" fmla="*/ 75465 w 81942"/>
                <a:gd name="connsiteY17" fmla="*/ 87556 h 108224"/>
                <a:gd name="connsiteX18" fmla="*/ 63827 w 81942"/>
                <a:gd name="connsiteY18" fmla="*/ 104004 h 108224"/>
                <a:gd name="connsiteX19" fmla="*/ 58566 w 81942"/>
                <a:gd name="connsiteY19" fmla="*/ 96472 h 108224"/>
                <a:gd name="connsiteX20" fmla="*/ 59363 w 81942"/>
                <a:gd name="connsiteY20" fmla="*/ 90169 h 108224"/>
                <a:gd name="connsiteX21" fmla="*/ 81523 w 81942"/>
                <a:gd name="connsiteY21" fmla="*/ 4696 h 108224"/>
                <a:gd name="connsiteX22" fmla="*/ 47566 w 81942"/>
                <a:gd name="connsiteY22" fmla="*/ 87556 h 108224"/>
                <a:gd name="connsiteX23" fmla="*/ 39435 w 81942"/>
                <a:gd name="connsiteY23" fmla="*/ 97855 h 108224"/>
                <a:gd name="connsiteX24" fmla="*/ 24769 w 81942"/>
                <a:gd name="connsiteY24" fmla="*/ 104004 h 108224"/>
                <a:gd name="connsiteX25" fmla="*/ 13131 w 81942"/>
                <a:gd name="connsiteY25" fmla="*/ 89093 h 108224"/>
                <a:gd name="connsiteX26" fmla="*/ 21421 w 81942"/>
                <a:gd name="connsiteY26" fmla="*/ 57886 h 108224"/>
                <a:gd name="connsiteX27" fmla="*/ 41348 w 81942"/>
                <a:gd name="connsiteY27" fmla="*/ 43282 h 108224"/>
                <a:gd name="connsiteX28" fmla="*/ 55537 w 81942"/>
                <a:gd name="connsiteY28" fmla="*/ 56656 h 108224"/>
                <a:gd name="connsiteX29" fmla="*/ 55059 w 81942"/>
                <a:gd name="connsiteY29" fmla="*/ 58808 h 108224"/>
                <a:gd name="connsiteX30" fmla="*/ 47566 w 81942"/>
                <a:gd name="connsiteY30" fmla="*/ 87556 h 108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1942" h="108224">
                  <a:moveTo>
                    <a:pt x="81523" y="4696"/>
                  </a:moveTo>
                  <a:cubicBezTo>
                    <a:pt x="81682" y="4388"/>
                    <a:pt x="82161" y="2390"/>
                    <a:pt x="82161" y="2236"/>
                  </a:cubicBezTo>
                  <a:cubicBezTo>
                    <a:pt x="82161" y="1468"/>
                    <a:pt x="81523" y="84"/>
                    <a:pt x="79610" y="84"/>
                  </a:cubicBezTo>
                  <a:cubicBezTo>
                    <a:pt x="76421" y="84"/>
                    <a:pt x="63189" y="1314"/>
                    <a:pt x="59204" y="1621"/>
                  </a:cubicBezTo>
                  <a:cubicBezTo>
                    <a:pt x="57928" y="1775"/>
                    <a:pt x="55696" y="1929"/>
                    <a:pt x="55696" y="5157"/>
                  </a:cubicBezTo>
                  <a:cubicBezTo>
                    <a:pt x="55696" y="7309"/>
                    <a:pt x="57928" y="7309"/>
                    <a:pt x="59841" y="7309"/>
                  </a:cubicBezTo>
                  <a:cubicBezTo>
                    <a:pt x="67494" y="7309"/>
                    <a:pt x="67494" y="8385"/>
                    <a:pt x="67494" y="9615"/>
                  </a:cubicBezTo>
                  <a:cubicBezTo>
                    <a:pt x="67494" y="10691"/>
                    <a:pt x="67175" y="11614"/>
                    <a:pt x="66856" y="12997"/>
                  </a:cubicBezTo>
                  <a:lnTo>
                    <a:pt x="57769" y="48047"/>
                  </a:lnTo>
                  <a:cubicBezTo>
                    <a:pt x="54421" y="42974"/>
                    <a:pt x="49001" y="38977"/>
                    <a:pt x="41348" y="38977"/>
                  </a:cubicBezTo>
                  <a:cubicBezTo>
                    <a:pt x="20942" y="38977"/>
                    <a:pt x="218" y="60653"/>
                    <a:pt x="218" y="82790"/>
                  </a:cubicBezTo>
                  <a:cubicBezTo>
                    <a:pt x="218" y="97702"/>
                    <a:pt x="10580" y="108309"/>
                    <a:pt x="24290" y="108309"/>
                  </a:cubicBezTo>
                  <a:cubicBezTo>
                    <a:pt x="32899" y="108309"/>
                    <a:pt x="40551" y="103543"/>
                    <a:pt x="46928" y="97548"/>
                  </a:cubicBezTo>
                  <a:cubicBezTo>
                    <a:pt x="49957" y="106772"/>
                    <a:pt x="59204" y="108309"/>
                    <a:pt x="63349" y="108309"/>
                  </a:cubicBezTo>
                  <a:cubicBezTo>
                    <a:pt x="69088" y="108309"/>
                    <a:pt x="73073" y="104927"/>
                    <a:pt x="75943" y="100161"/>
                  </a:cubicBezTo>
                  <a:cubicBezTo>
                    <a:pt x="79450" y="94166"/>
                    <a:pt x="81523" y="85403"/>
                    <a:pt x="81523" y="84788"/>
                  </a:cubicBezTo>
                  <a:cubicBezTo>
                    <a:pt x="81523" y="82790"/>
                    <a:pt x="79450" y="82790"/>
                    <a:pt x="78972" y="82790"/>
                  </a:cubicBezTo>
                  <a:cubicBezTo>
                    <a:pt x="76740" y="82790"/>
                    <a:pt x="76581" y="83405"/>
                    <a:pt x="75465" y="87556"/>
                  </a:cubicBezTo>
                  <a:cubicBezTo>
                    <a:pt x="73552" y="94935"/>
                    <a:pt x="70523" y="104004"/>
                    <a:pt x="63827" y="104004"/>
                  </a:cubicBezTo>
                  <a:cubicBezTo>
                    <a:pt x="59682" y="104004"/>
                    <a:pt x="58566" y="100622"/>
                    <a:pt x="58566" y="96472"/>
                  </a:cubicBezTo>
                  <a:cubicBezTo>
                    <a:pt x="58566" y="93551"/>
                    <a:pt x="58885" y="92167"/>
                    <a:pt x="59363" y="90169"/>
                  </a:cubicBezTo>
                  <a:lnTo>
                    <a:pt x="81523" y="4696"/>
                  </a:lnTo>
                  <a:close/>
                  <a:moveTo>
                    <a:pt x="47566" y="87556"/>
                  </a:moveTo>
                  <a:cubicBezTo>
                    <a:pt x="46450" y="91860"/>
                    <a:pt x="42943" y="94935"/>
                    <a:pt x="39435" y="97855"/>
                  </a:cubicBezTo>
                  <a:cubicBezTo>
                    <a:pt x="38001" y="99085"/>
                    <a:pt x="31624" y="104004"/>
                    <a:pt x="24769" y="104004"/>
                  </a:cubicBezTo>
                  <a:cubicBezTo>
                    <a:pt x="18870" y="104004"/>
                    <a:pt x="13131" y="100008"/>
                    <a:pt x="13131" y="89093"/>
                  </a:cubicBezTo>
                  <a:cubicBezTo>
                    <a:pt x="13131" y="80945"/>
                    <a:pt x="17754" y="64035"/>
                    <a:pt x="21421" y="57886"/>
                  </a:cubicBezTo>
                  <a:cubicBezTo>
                    <a:pt x="28754" y="45588"/>
                    <a:pt x="36885" y="43282"/>
                    <a:pt x="41348" y="43282"/>
                  </a:cubicBezTo>
                  <a:cubicBezTo>
                    <a:pt x="52508" y="43282"/>
                    <a:pt x="55537" y="54965"/>
                    <a:pt x="55537" y="56656"/>
                  </a:cubicBezTo>
                  <a:cubicBezTo>
                    <a:pt x="55537" y="57271"/>
                    <a:pt x="55218" y="58347"/>
                    <a:pt x="55059" y="58808"/>
                  </a:cubicBezTo>
                  <a:lnTo>
                    <a:pt x="47566" y="87556"/>
                  </a:lnTo>
                  <a:close/>
                </a:path>
              </a:pathLst>
            </a:custGeom>
            <a:solidFill>
              <a:srgbClr val="000000"/>
            </a:solidFill>
            <a:ln w="22833" cap="flat">
              <a:noFill/>
              <a:prstDash val="solid"/>
              <a:miter/>
            </a:ln>
          </p:spPr>
          <p:txBody>
            <a:bodyPr rtlCol="0" anchor="ctr"/>
            <a:lstStyle/>
            <a:p>
              <a:endParaRPr lang="zh-CN" altLang="en-US"/>
            </a:p>
          </p:txBody>
        </p:sp>
        <p:sp>
          <p:nvSpPr>
            <p:cNvPr id="29" name="任意形状 28">
              <a:extLst>
                <a:ext uri="{FF2B5EF4-FFF2-40B4-BE49-F238E27FC236}">
                  <a16:creationId xmlns:a16="http://schemas.microsoft.com/office/drawing/2014/main" id="{9CDA449B-66A6-2874-1024-279E25ED49D5}"/>
                </a:ext>
              </a:extLst>
            </p:cNvPr>
            <p:cNvSpPr/>
            <p:nvPr>
              <p:custDataLst>
                <p:tags r:id="rId17"/>
              </p:custDataLst>
            </p:nvPr>
          </p:nvSpPr>
          <p:spPr>
            <a:xfrm>
              <a:off x="7513291" y="4418823"/>
              <a:ext cx="94807" cy="8784"/>
            </a:xfrm>
            <a:custGeom>
              <a:avLst/>
              <a:gdLst>
                <a:gd name="connsiteX0" fmla="*/ 0 w 94807"/>
                <a:gd name="connsiteY0" fmla="*/ 0 h 8784"/>
                <a:gd name="connsiteX1" fmla="*/ 94808 w 94807"/>
                <a:gd name="connsiteY1" fmla="*/ 0 h 8784"/>
                <a:gd name="connsiteX2" fmla="*/ 94808 w 94807"/>
                <a:gd name="connsiteY2" fmla="*/ 8784 h 8784"/>
                <a:gd name="connsiteX3" fmla="*/ 0 w 94807"/>
                <a:gd name="connsiteY3" fmla="*/ 8784 h 8784"/>
              </a:gdLst>
              <a:ahLst/>
              <a:cxnLst>
                <a:cxn ang="0">
                  <a:pos x="connsiteX0" y="connsiteY0"/>
                </a:cxn>
                <a:cxn ang="0">
                  <a:pos x="connsiteX1" y="connsiteY1"/>
                </a:cxn>
                <a:cxn ang="0">
                  <a:pos x="connsiteX2" y="connsiteY2"/>
                </a:cxn>
                <a:cxn ang="0">
                  <a:pos x="connsiteX3" y="connsiteY3"/>
                </a:cxn>
              </a:cxnLst>
              <a:rect l="l" t="t" r="r" b="b"/>
              <a:pathLst>
                <a:path w="94807" h="8784">
                  <a:moveTo>
                    <a:pt x="0" y="0"/>
                  </a:moveTo>
                  <a:lnTo>
                    <a:pt x="94808" y="0"/>
                  </a:lnTo>
                  <a:lnTo>
                    <a:pt x="94808" y="8784"/>
                  </a:lnTo>
                  <a:lnTo>
                    <a:pt x="0" y="8784"/>
                  </a:lnTo>
                  <a:close/>
                </a:path>
              </a:pathLst>
            </a:custGeom>
            <a:solidFill>
              <a:srgbClr val="000000"/>
            </a:solidFill>
            <a:ln w="22833" cap="flat">
              <a:noFill/>
              <a:prstDash val="solid"/>
              <a:miter/>
            </a:ln>
          </p:spPr>
          <p:txBody>
            <a:bodyPr rtlCol="0" anchor="ctr"/>
            <a:lstStyle/>
            <a:p>
              <a:endParaRPr lang="zh-CN" altLang="en-US"/>
            </a:p>
          </p:txBody>
        </p:sp>
        <p:sp>
          <p:nvSpPr>
            <p:cNvPr id="30" name="任意形状 29">
              <a:extLst>
                <a:ext uri="{FF2B5EF4-FFF2-40B4-BE49-F238E27FC236}">
                  <a16:creationId xmlns:a16="http://schemas.microsoft.com/office/drawing/2014/main" id="{3A212E1B-0A10-AB46-FE65-907BF1A898C7}"/>
                </a:ext>
              </a:extLst>
            </p:cNvPr>
            <p:cNvSpPr/>
            <p:nvPr>
              <p:custDataLst>
                <p:tags r:id="rId18"/>
              </p:custDataLst>
            </p:nvPr>
          </p:nvSpPr>
          <p:spPr>
            <a:xfrm>
              <a:off x="7525348" y="4451773"/>
              <a:ext cx="70464" cy="102075"/>
            </a:xfrm>
            <a:custGeom>
              <a:avLst/>
              <a:gdLst>
                <a:gd name="connsiteX0" fmla="*/ 70682 w 70464"/>
                <a:gd name="connsiteY0" fmla="*/ 74189 h 102075"/>
                <a:gd name="connsiteX1" fmla="*/ 65262 w 70464"/>
                <a:gd name="connsiteY1" fmla="*/ 74189 h 102075"/>
                <a:gd name="connsiteX2" fmla="*/ 61117 w 70464"/>
                <a:gd name="connsiteY2" fmla="*/ 88178 h 102075"/>
                <a:gd name="connsiteX3" fmla="*/ 45334 w 70464"/>
                <a:gd name="connsiteY3" fmla="*/ 89100 h 102075"/>
                <a:gd name="connsiteX4" fmla="*/ 16000 w 70464"/>
                <a:gd name="connsiteY4" fmla="*/ 89100 h 102075"/>
                <a:gd name="connsiteX5" fmla="*/ 47885 w 70464"/>
                <a:gd name="connsiteY5" fmla="*/ 63274 h 102075"/>
                <a:gd name="connsiteX6" fmla="*/ 70682 w 70464"/>
                <a:gd name="connsiteY6" fmla="*/ 30068 h 102075"/>
                <a:gd name="connsiteX7" fmla="*/ 33377 w 70464"/>
                <a:gd name="connsiteY7" fmla="*/ 91 h 102075"/>
                <a:gd name="connsiteX8" fmla="*/ 218 w 70464"/>
                <a:gd name="connsiteY8" fmla="*/ 27609 h 102075"/>
                <a:gd name="connsiteX9" fmla="*/ 8667 w 70464"/>
                <a:gd name="connsiteY9" fmla="*/ 36218 h 102075"/>
                <a:gd name="connsiteX10" fmla="*/ 17116 w 70464"/>
                <a:gd name="connsiteY10" fmla="*/ 28070 h 102075"/>
                <a:gd name="connsiteX11" fmla="*/ 7710 w 70464"/>
                <a:gd name="connsiteY11" fmla="*/ 19922 h 102075"/>
                <a:gd name="connsiteX12" fmla="*/ 30986 w 70464"/>
                <a:gd name="connsiteY12" fmla="*/ 5626 h 102075"/>
                <a:gd name="connsiteX13" fmla="*/ 55218 w 70464"/>
                <a:gd name="connsiteY13" fmla="*/ 30068 h 102075"/>
                <a:gd name="connsiteX14" fmla="*/ 40233 w 70464"/>
                <a:gd name="connsiteY14" fmla="*/ 59584 h 102075"/>
                <a:gd name="connsiteX15" fmla="*/ 1812 w 70464"/>
                <a:gd name="connsiteY15" fmla="*/ 96172 h 102075"/>
                <a:gd name="connsiteX16" fmla="*/ 218 w 70464"/>
                <a:gd name="connsiteY16" fmla="*/ 102167 h 102075"/>
                <a:gd name="connsiteX17" fmla="*/ 65900 w 70464"/>
                <a:gd name="connsiteY17" fmla="*/ 102167 h 102075"/>
                <a:gd name="connsiteX18" fmla="*/ 70682 w 70464"/>
                <a:gd name="connsiteY18" fmla="*/ 74189 h 10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0464" h="102075">
                  <a:moveTo>
                    <a:pt x="70682" y="74189"/>
                  </a:moveTo>
                  <a:lnTo>
                    <a:pt x="65262" y="74189"/>
                  </a:lnTo>
                  <a:cubicBezTo>
                    <a:pt x="64784" y="77571"/>
                    <a:pt x="63189" y="86641"/>
                    <a:pt x="61117" y="88178"/>
                  </a:cubicBezTo>
                  <a:cubicBezTo>
                    <a:pt x="59842" y="89100"/>
                    <a:pt x="47566" y="89100"/>
                    <a:pt x="45334" y="89100"/>
                  </a:cubicBezTo>
                  <a:lnTo>
                    <a:pt x="16000" y="89100"/>
                  </a:lnTo>
                  <a:cubicBezTo>
                    <a:pt x="32740" y="74803"/>
                    <a:pt x="38320" y="70499"/>
                    <a:pt x="47885" y="63274"/>
                  </a:cubicBezTo>
                  <a:cubicBezTo>
                    <a:pt x="59682" y="54204"/>
                    <a:pt x="70682" y="44673"/>
                    <a:pt x="70682" y="30068"/>
                  </a:cubicBezTo>
                  <a:cubicBezTo>
                    <a:pt x="70682" y="11467"/>
                    <a:pt x="53783" y="91"/>
                    <a:pt x="33377" y="91"/>
                  </a:cubicBezTo>
                  <a:cubicBezTo>
                    <a:pt x="13609" y="91"/>
                    <a:pt x="218" y="13466"/>
                    <a:pt x="218" y="27609"/>
                  </a:cubicBezTo>
                  <a:cubicBezTo>
                    <a:pt x="218" y="35449"/>
                    <a:pt x="7073" y="36218"/>
                    <a:pt x="8667" y="36218"/>
                  </a:cubicBezTo>
                  <a:cubicBezTo>
                    <a:pt x="12493" y="36218"/>
                    <a:pt x="17116" y="33604"/>
                    <a:pt x="17116" y="28070"/>
                  </a:cubicBezTo>
                  <a:cubicBezTo>
                    <a:pt x="17116" y="25303"/>
                    <a:pt x="16000" y="19922"/>
                    <a:pt x="7710" y="19922"/>
                  </a:cubicBezTo>
                  <a:cubicBezTo>
                    <a:pt x="12653" y="9008"/>
                    <a:pt x="23493" y="5626"/>
                    <a:pt x="30986" y="5626"/>
                  </a:cubicBezTo>
                  <a:cubicBezTo>
                    <a:pt x="46928" y="5626"/>
                    <a:pt x="55218" y="17616"/>
                    <a:pt x="55218" y="30068"/>
                  </a:cubicBezTo>
                  <a:cubicBezTo>
                    <a:pt x="55218" y="43443"/>
                    <a:pt x="45334" y="54050"/>
                    <a:pt x="40233" y="59584"/>
                  </a:cubicBezTo>
                  <a:lnTo>
                    <a:pt x="1812" y="96172"/>
                  </a:lnTo>
                  <a:cubicBezTo>
                    <a:pt x="218" y="97555"/>
                    <a:pt x="218" y="97863"/>
                    <a:pt x="218" y="102167"/>
                  </a:cubicBezTo>
                  <a:lnTo>
                    <a:pt x="65900" y="102167"/>
                  </a:lnTo>
                  <a:lnTo>
                    <a:pt x="70682" y="74189"/>
                  </a:lnTo>
                  <a:close/>
                </a:path>
              </a:pathLst>
            </a:custGeom>
            <a:solidFill>
              <a:srgbClr val="000000"/>
            </a:solidFill>
            <a:ln w="22833" cap="flat">
              <a:noFill/>
              <a:prstDash val="solid"/>
              <a:miter/>
            </a:ln>
          </p:spPr>
          <p:txBody>
            <a:bodyPr rtlCol="0" anchor="ctr"/>
            <a:lstStyle/>
            <a:p>
              <a:endParaRPr lang="zh-CN" altLang="en-US"/>
            </a:p>
          </p:txBody>
        </p:sp>
        <p:sp>
          <p:nvSpPr>
            <p:cNvPr id="31" name="任意形状 30">
              <a:extLst>
                <a:ext uri="{FF2B5EF4-FFF2-40B4-BE49-F238E27FC236}">
                  <a16:creationId xmlns:a16="http://schemas.microsoft.com/office/drawing/2014/main" id="{3119DF70-1E11-8143-F768-991BF373F8CC}"/>
                </a:ext>
              </a:extLst>
            </p:cNvPr>
            <p:cNvSpPr/>
            <p:nvPr>
              <p:custDataLst>
                <p:tags r:id="rId19"/>
              </p:custDataLst>
            </p:nvPr>
          </p:nvSpPr>
          <p:spPr>
            <a:xfrm>
              <a:off x="7645449" y="4291446"/>
              <a:ext cx="59441" cy="263314"/>
            </a:xfrm>
            <a:custGeom>
              <a:avLst/>
              <a:gdLst>
                <a:gd name="connsiteX0" fmla="*/ 59665 w 59441"/>
                <a:gd name="connsiteY0" fmla="*/ 131847 h 263314"/>
                <a:gd name="connsiteX1" fmla="*/ 24136 w 59441"/>
                <a:gd name="connsiteY1" fmla="*/ 19406 h 263314"/>
                <a:gd name="connsiteX2" fmla="*/ 2956 w 59441"/>
                <a:gd name="connsiteY2" fmla="*/ 80 h 263314"/>
                <a:gd name="connsiteX3" fmla="*/ 223 w 59441"/>
                <a:gd name="connsiteY3" fmla="*/ 2276 h 263314"/>
                <a:gd name="connsiteX4" fmla="*/ 1589 w 59441"/>
                <a:gd name="connsiteY4" fmla="*/ 4472 h 263314"/>
                <a:gd name="connsiteX5" fmla="*/ 36662 w 59441"/>
                <a:gd name="connsiteY5" fmla="*/ 68599 h 263314"/>
                <a:gd name="connsiteX6" fmla="*/ 43950 w 59441"/>
                <a:gd name="connsiteY6" fmla="*/ 131628 h 263314"/>
                <a:gd name="connsiteX7" fmla="*/ 35979 w 59441"/>
                <a:gd name="connsiteY7" fmla="*/ 197731 h 263314"/>
                <a:gd name="connsiteX8" fmla="*/ 2273 w 59441"/>
                <a:gd name="connsiteY8" fmla="*/ 258344 h 263314"/>
                <a:gd name="connsiteX9" fmla="*/ 223 w 59441"/>
                <a:gd name="connsiteY9" fmla="*/ 261199 h 263314"/>
                <a:gd name="connsiteX10" fmla="*/ 2956 w 59441"/>
                <a:gd name="connsiteY10" fmla="*/ 263395 h 263314"/>
                <a:gd name="connsiteX11" fmla="*/ 21631 w 59441"/>
                <a:gd name="connsiteY11" fmla="*/ 246924 h 263314"/>
                <a:gd name="connsiteX12" fmla="*/ 59665 w 59441"/>
                <a:gd name="connsiteY12" fmla="*/ 131847 h 263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9441" h="263314">
                  <a:moveTo>
                    <a:pt x="59665" y="131847"/>
                  </a:moveTo>
                  <a:cubicBezTo>
                    <a:pt x="59665" y="100662"/>
                    <a:pt x="53971" y="56520"/>
                    <a:pt x="24136" y="19406"/>
                  </a:cubicBezTo>
                  <a:cubicBezTo>
                    <a:pt x="21859" y="16770"/>
                    <a:pt x="7055" y="80"/>
                    <a:pt x="2956" y="80"/>
                  </a:cubicBezTo>
                  <a:cubicBezTo>
                    <a:pt x="1817" y="80"/>
                    <a:pt x="223" y="519"/>
                    <a:pt x="223" y="2276"/>
                  </a:cubicBezTo>
                  <a:cubicBezTo>
                    <a:pt x="223" y="3154"/>
                    <a:pt x="678" y="3813"/>
                    <a:pt x="1589" y="4472"/>
                  </a:cubicBezTo>
                  <a:cubicBezTo>
                    <a:pt x="12521" y="15892"/>
                    <a:pt x="27325" y="33681"/>
                    <a:pt x="36662" y="68599"/>
                  </a:cubicBezTo>
                  <a:cubicBezTo>
                    <a:pt x="41900" y="88584"/>
                    <a:pt x="43950" y="111204"/>
                    <a:pt x="43950" y="131628"/>
                  </a:cubicBezTo>
                  <a:cubicBezTo>
                    <a:pt x="43950" y="153808"/>
                    <a:pt x="41900" y="176209"/>
                    <a:pt x="35979" y="197731"/>
                  </a:cubicBezTo>
                  <a:cubicBezTo>
                    <a:pt x="27325" y="228477"/>
                    <a:pt x="13888" y="246045"/>
                    <a:pt x="2273" y="258344"/>
                  </a:cubicBezTo>
                  <a:cubicBezTo>
                    <a:pt x="223" y="260320"/>
                    <a:pt x="223" y="260760"/>
                    <a:pt x="223" y="261199"/>
                  </a:cubicBezTo>
                  <a:cubicBezTo>
                    <a:pt x="223" y="262956"/>
                    <a:pt x="1817" y="263395"/>
                    <a:pt x="2956" y="263395"/>
                  </a:cubicBezTo>
                  <a:cubicBezTo>
                    <a:pt x="6372" y="263395"/>
                    <a:pt x="18898" y="249999"/>
                    <a:pt x="21631" y="246924"/>
                  </a:cubicBezTo>
                  <a:cubicBezTo>
                    <a:pt x="44861" y="220351"/>
                    <a:pt x="59665" y="180821"/>
                    <a:pt x="59665" y="131847"/>
                  </a:cubicBezTo>
                  <a:close/>
                </a:path>
              </a:pathLst>
            </a:custGeom>
            <a:solidFill>
              <a:srgbClr val="000000"/>
            </a:solidFill>
            <a:ln w="22833" cap="flat">
              <a:noFill/>
              <a:prstDash val="solid"/>
              <a:miter/>
            </a:ln>
          </p:spPr>
          <p:txBody>
            <a:bodyPr rtlCol="0" anchor="ctr"/>
            <a:lstStyle/>
            <a:p>
              <a:endParaRPr lang="zh-CN" altLang="en-US"/>
            </a:p>
          </p:txBody>
        </p:sp>
        <p:sp>
          <p:nvSpPr>
            <p:cNvPr id="32" name="任意形状 31">
              <a:extLst>
                <a:ext uri="{FF2B5EF4-FFF2-40B4-BE49-F238E27FC236}">
                  <a16:creationId xmlns:a16="http://schemas.microsoft.com/office/drawing/2014/main" id="{BB89AF2D-A451-9415-8282-854F43B4BAFD}"/>
                </a:ext>
              </a:extLst>
            </p:cNvPr>
            <p:cNvSpPr/>
            <p:nvPr>
              <p:custDataLst>
                <p:tags r:id="rId20"/>
              </p:custDataLst>
            </p:nvPr>
          </p:nvSpPr>
          <p:spPr>
            <a:xfrm>
              <a:off x="8111172" y="4156642"/>
              <a:ext cx="50559" cy="152410"/>
            </a:xfrm>
            <a:custGeom>
              <a:avLst/>
              <a:gdLst>
                <a:gd name="connsiteX0" fmla="*/ 33039 w 50559"/>
                <a:gd name="connsiteY0" fmla="*/ 80 h 152410"/>
                <a:gd name="connsiteX1" fmla="*/ 243 w 50559"/>
                <a:gd name="connsiteY1" fmla="*/ 2496 h 152410"/>
                <a:gd name="connsiteX2" fmla="*/ 243 w 50559"/>
                <a:gd name="connsiteY2" fmla="*/ 9304 h 152410"/>
                <a:gd name="connsiteX3" fmla="*/ 18008 w 50559"/>
                <a:gd name="connsiteY3" fmla="*/ 21602 h 152410"/>
                <a:gd name="connsiteX4" fmla="*/ 18008 w 50559"/>
                <a:gd name="connsiteY4" fmla="*/ 135801 h 152410"/>
                <a:gd name="connsiteX5" fmla="*/ 243 w 50559"/>
                <a:gd name="connsiteY5" fmla="*/ 145683 h 152410"/>
                <a:gd name="connsiteX6" fmla="*/ 243 w 50559"/>
                <a:gd name="connsiteY6" fmla="*/ 152491 h 152410"/>
                <a:gd name="connsiteX7" fmla="*/ 25523 w 50559"/>
                <a:gd name="connsiteY7" fmla="*/ 151832 h 152410"/>
                <a:gd name="connsiteX8" fmla="*/ 50803 w 50559"/>
                <a:gd name="connsiteY8" fmla="*/ 152491 h 152410"/>
                <a:gd name="connsiteX9" fmla="*/ 50803 w 50559"/>
                <a:gd name="connsiteY9" fmla="*/ 145683 h 152410"/>
                <a:gd name="connsiteX10" fmla="*/ 33039 w 50559"/>
                <a:gd name="connsiteY10" fmla="*/ 135801 h 152410"/>
                <a:gd name="connsiteX11" fmla="*/ 33039 w 50559"/>
                <a:gd name="connsiteY11" fmla="*/ 80 h 152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559" h="152410">
                  <a:moveTo>
                    <a:pt x="33039" y="80"/>
                  </a:moveTo>
                  <a:lnTo>
                    <a:pt x="243" y="2496"/>
                  </a:lnTo>
                  <a:lnTo>
                    <a:pt x="243" y="9304"/>
                  </a:lnTo>
                  <a:cubicBezTo>
                    <a:pt x="16186" y="9304"/>
                    <a:pt x="18008" y="10841"/>
                    <a:pt x="18008" y="21602"/>
                  </a:cubicBezTo>
                  <a:lnTo>
                    <a:pt x="18008" y="135801"/>
                  </a:lnTo>
                  <a:cubicBezTo>
                    <a:pt x="18008" y="145683"/>
                    <a:pt x="15502" y="145683"/>
                    <a:pt x="243" y="145683"/>
                  </a:cubicBezTo>
                  <a:lnTo>
                    <a:pt x="243" y="152491"/>
                  </a:lnTo>
                  <a:cubicBezTo>
                    <a:pt x="7759" y="152271"/>
                    <a:pt x="19830" y="151832"/>
                    <a:pt x="25523" y="151832"/>
                  </a:cubicBezTo>
                  <a:cubicBezTo>
                    <a:pt x="31217" y="151832"/>
                    <a:pt x="42376" y="152271"/>
                    <a:pt x="50803" y="152491"/>
                  </a:cubicBezTo>
                  <a:lnTo>
                    <a:pt x="50803" y="145683"/>
                  </a:lnTo>
                  <a:cubicBezTo>
                    <a:pt x="35544" y="145683"/>
                    <a:pt x="33039" y="145683"/>
                    <a:pt x="33039" y="135801"/>
                  </a:cubicBezTo>
                  <a:lnTo>
                    <a:pt x="33039" y="80"/>
                  </a:lnTo>
                  <a:close/>
                </a:path>
              </a:pathLst>
            </a:custGeom>
            <a:solidFill>
              <a:srgbClr val="000000"/>
            </a:solidFill>
            <a:ln w="22833" cap="flat">
              <a:noFill/>
              <a:prstDash val="solid"/>
              <a:miter/>
            </a:ln>
          </p:spPr>
          <p:txBody>
            <a:bodyPr rtlCol="0" anchor="ctr"/>
            <a:lstStyle/>
            <a:p>
              <a:endParaRPr lang="zh-CN" altLang="en-US"/>
            </a:p>
          </p:txBody>
        </p:sp>
        <p:sp>
          <p:nvSpPr>
            <p:cNvPr id="33" name="任意形状 32">
              <a:extLst>
                <a:ext uri="{FF2B5EF4-FFF2-40B4-BE49-F238E27FC236}">
                  <a16:creationId xmlns:a16="http://schemas.microsoft.com/office/drawing/2014/main" id="{ABA91652-50A5-7197-5E91-5A65107CB835}"/>
                </a:ext>
              </a:extLst>
            </p:cNvPr>
            <p:cNvSpPr/>
            <p:nvPr>
              <p:custDataLst>
                <p:tags r:id="rId21"/>
              </p:custDataLst>
            </p:nvPr>
          </p:nvSpPr>
          <p:spPr>
            <a:xfrm>
              <a:off x="8174435" y="4162132"/>
              <a:ext cx="48737" cy="146920"/>
            </a:xfrm>
            <a:custGeom>
              <a:avLst/>
              <a:gdLst>
                <a:gd name="connsiteX0" fmla="*/ 33042 w 48737"/>
                <a:gd name="connsiteY0" fmla="*/ 49932 h 146920"/>
                <a:gd name="connsiteX1" fmla="*/ 1157 w 48737"/>
                <a:gd name="connsiteY1" fmla="*/ 52348 h 146920"/>
                <a:gd name="connsiteX2" fmla="*/ 1157 w 48737"/>
                <a:gd name="connsiteY2" fmla="*/ 59156 h 146920"/>
                <a:gd name="connsiteX3" fmla="*/ 18010 w 48737"/>
                <a:gd name="connsiteY3" fmla="*/ 71235 h 146920"/>
                <a:gd name="connsiteX4" fmla="*/ 18010 w 48737"/>
                <a:gd name="connsiteY4" fmla="*/ 130310 h 146920"/>
                <a:gd name="connsiteX5" fmla="*/ 246 w 48737"/>
                <a:gd name="connsiteY5" fmla="*/ 140193 h 146920"/>
                <a:gd name="connsiteX6" fmla="*/ 246 w 48737"/>
                <a:gd name="connsiteY6" fmla="*/ 147001 h 146920"/>
                <a:gd name="connsiteX7" fmla="*/ 25298 w 48737"/>
                <a:gd name="connsiteY7" fmla="*/ 146342 h 146920"/>
                <a:gd name="connsiteX8" fmla="*/ 48984 w 48737"/>
                <a:gd name="connsiteY8" fmla="*/ 147001 h 146920"/>
                <a:gd name="connsiteX9" fmla="*/ 48984 w 48737"/>
                <a:gd name="connsiteY9" fmla="*/ 140193 h 146920"/>
                <a:gd name="connsiteX10" fmla="*/ 33042 w 48737"/>
                <a:gd name="connsiteY10" fmla="*/ 130530 h 146920"/>
                <a:gd name="connsiteX11" fmla="*/ 33042 w 48737"/>
                <a:gd name="connsiteY11" fmla="*/ 49932 h 146920"/>
                <a:gd name="connsiteX12" fmla="*/ 33953 w 48737"/>
                <a:gd name="connsiteY12" fmla="*/ 11720 h 146920"/>
                <a:gd name="connsiteX13" fmla="*/ 21882 w 48737"/>
                <a:gd name="connsiteY13" fmla="*/ 80 h 146920"/>
                <a:gd name="connsiteX14" fmla="*/ 9811 w 48737"/>
                <a:gd name="connsiteY14" fmla="*/ 11720 h 146920"/>
                <a:gd name="connsiteX15" fmla="*/ 21882 w 48737"/>
                <a:gd name="connsiteY15" fmla="*/ 23359 h 146920"/>
                <a:gd name="connsiteX16" fmla="*/ 33953 w 48737"/>
                <a:gd name="connsiteY16" fmla="*/ 11720 h 146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737" h="146920">
                  <a:moveTo>
                    <a:pt x="33042" y="49932"/>
                  </a:moveTo>
                  <a:lnTo>
                    <a:pt x="1157" y="52348"/>
                  </a:lnTo>
                  <a:lnTo>
                    <a:pt x="1157" y="59156"/>
                  </a:lnTo>
                  <a:cubicBezTo>
                    <a:pt x="15961" y="59156"/>
                    <a:pt x="18010" y="60474"/>
                    <a:pt x="18010" y="71235"/>
                  </a:cubicBezTo>
                  <a:lnTo>
                    <a:pt x="18010" y="130310"/>
                  </a:lnTo>
                  <a:cubicBezTo>
                    <a:pt x="18010" y="140193"/>
                    <a:pt x="15505" y="140193"/>
                    <a:pt x="246" y="140193"/>
                  </a:cubicBezTo>
                  <a:lnTo>
                    <a:pt x="246" y="147001"/>
                  </a:lnTo>
                  <a:cubicBezTo>
                    <a:pt x="7534" y="146781"/>
                    <a:pt x="19832" y="146342"/>
                    <a:pt x="25298" y="146342"/>
                  </a:cubicBezTo>
                  <a:cubicBezTo>
                    <a:pt x="33269" y="146342"/>
                    <a:pt x="41240" y="146781"/>
                    <a:pt x="48984" y="147001"/>
                  </a:cubicBezTo>
                  <a:lnTo>
                    <a:pt x="48984" y="140193"/>
                  </a:lnTo>
                  <a:cubicBezTo>
                    <a:pt x="33953" y="140193"/>
                    <a:pt x="33042" y="139095"/>
                    <a:pt x="33042" y="130530"/>
                  </a:cubicBezTo>
                  <a:lnTo>
                    <a:pt x="33042" y="49932"/>
                  </a:lnTo>
                  <a:close/>
                  <a:moveTo>
                    <a:pt x="33953" y="11720"/>
                  </a:moveTo>
                  <a:cubicBezTo>
                    <a:pt x="33953" y="4692"/>
                    <a:pt x="28259" y="80"/>
                    <a:pt x="21882" y="80"/>
                  </a:cubicBezTo>
                  <a:cubicBezTo>
                    <a:pt x="14822" y="80"/>
                    <a:pt x="9811" y="6010"/>
                    <a:pt x="9811" y="11720"/>
                  </a:cubicBezTo>
                  <a:cubicBezTo>
                    <a:pt x="9811" y="17649"/>
                    <a:pt x="14822" y="23359"/>
                    <a:pt x="21882" y="23359"/>
                  </a:cubicBezTo>
                  <a:cubicBezTo>
                    <a:pt x="28259" y="23359"/>
                    <a:pt x="33953" y="18747"/>
                    <a:pt x="33953" y="11720"/>
                  </a:cubicBezTo>
                  <a:close/>
                </a:path>
              </a:pathLst>
            </a:custGeom>
            <a:solidFill>
              <a:srgbClr val="000000"/>
            </a:solidFill>
            <a:ln w="22833" cap="flat">
              <a:noFill/>
              <a:prstDash val="solid"/>
              <a:miter/>
            </a:ln>
          </p:spPr>
          <p:txBody>
            <a:bodyPr rtlCol="0" anchor="ctr"/>
            <a:lstStyle/>
            <a:p>
              <a:endParaRPr lang="zh-CN" altLang="en-US"/>
            </a:p>
          </p:txBody>
        </p:sp>
        <p:sp>
          <p:nvSpPr>
            <p:cNvPr id="34" name="任意形状 33">
              <a:extLst>
                <a:ext uri="{FF2B5EF4-FFF2-40B4-BE49-F238E27FC236}">
                  <a16:creationId xmlns:a16="http://schemas.microsoft.com/office/drawing/2014/main" id="{E37259CA-A778-D19E-E979-D9868AFAFEC4}"/>
                </a:ext>
              </a:extLst>
            </p:cNvPr>
            <p:cNvSpPr/>
            <p:nvPr>
              <p:custDataLst>
                <p:tags r:id="rId22"/>
              </p:custDataLst>
            </p:nvPr>
          </p:nvSpPr>
          <p:spPr>
            <a:xfrm>
              <a:off x="8237470" y="4211984"/>
              <a:ext cx="177869" cy="97068"/>
            </a:xfrm>
            <a:custGeom>
              <a:avLst/>
              <a:gdLst>
                <a:gd name="connsiteX0" fmla="*/ 18013 w 177869"/>
                <a:gd name="connsiteY0" fmla="*/ 21602 h 97068"/>
                <a:gd name="connsiteX1" fmla="*/ 18013 w 177869"/>
                <a:gd name="connsiteY1" fmla="*/ 80458 h 97068"/>
                <a:gd name="connsiteX2" fmla="*/ 249 w 177869"/>
                <a:gd name="connsiteY2" fmla="*/ 90341 h 97068"/>
                <a:gd name="connsiteX3" fmla="*/ 249 w 177869"/>
                <a:gd name="connsiteY3" fmla="*/ 97149 h 97068"/>
                <a:gd name="connsiteX4" fmla="*/ 25984 w 177869"/>
                <a:gd name="connsiteY4" fmla="*/ 96490 h 97068"/>
                <a:gd name="connsiteX5" fmla="*/ 51492 w 177869"/>
                <a:gd name="connsiteY5" fmla="*/ 97149 h 97068"/>
                <a:gd name="connsiteX6" fmla="*/ 51492 w 177869"/>
                <a:gd name="connsiteY6" fmla="*/ 90341 h 97068"/>
                <a:gd name="connsiteX7" fmla="*/ 33728 w 177869"/>
                <a:gd name="connsiteY7" fmla="*/ 80458 h 97068"/>
                <a:gd name="connsiteX8" fmla="*/ 33728 w 177869"/>
                <a:gd name="connsiteY8" fmla="*/ 40050 h 97068"/>
                <a:gd name="connsiteX9" fmla="*/ 64473 w 177869"/>
                <a:gd name="connsiteY9" fmla="*/ 4912 h 97068"/>
                <a:gd name="connsiteX10" fmla="*/ 81326 w 177869"/>
                <a:gd name="connsiteY10" fmla="*/ 29289 h 97068"/>
                <a:gd name="connsiteX11" fmla="*/ 81326 w 177869"/>
                <a:gd name="connsiteY11" fmla="*/ 80458 h 97068"/>
                <a:gd name="connsiteX12" fmla="*/ 63562 w 177869"/>
                <a:gd name="connsiteY12" fmla="*/ 90341 h 97068"/>
                <a:gd name="connsiteX13" fmla="*/ 63562 w 177869"/>
                <a:gd name="connsiteY13" fmla="*/ 97149 h 97068"/>
                <a:gd name="connsiteX14" fmla="*/ 89298 w 177869"/>
                <a:gd name="connsiteY14" fmla="*/ 96490 h 97068"/>
                <a:gd name="connsiteX15" fmla="*/ 114805 w 177869"/>
                <a:gd name="connsiteY15" fmla="*/ 97149 h 97068"/>
                <a:gd name="connsiteX16" fmla="*/ 114805 w 177869"/>
                <a:gd name="connsiteY16" fmla="*/ 90341 h 97068"/>
                <a:gd name="connsiteX17" fmla="*/ 97041 w 177869"/>
                <a:gd name="connsiteY17" fmla="*/ 80458 h 97068"/>
                <a:gd name="connsiteX18" fmla="*/ 97041 w 177869"/>
                <a:gd name="connsiteY18" fmla="*/ 40050 h 97068"/>
                <a:gd name="connsiteX19" fmla="*/ 127787 w 177869"/>
                <a:gd name="connsiteY19" fmla="*/ 4912 h 97068"/>
                <a:gd name="connsiteX20" fmla="*/ 144640 w 177869"/>
                <a:gd name="connsiteY20" fmla="*/ 29289 h 97068"/>
                <a:gd name="connsiteX21" fmla="*/ 144640 w 177869"/>
                <a:gd name="connsiteY21" fmla="*/ 80458 h 97068"/>
                <a:gd name="connsiteX22" fmla="*/ 126876 w 177869"/>
                <a:gd name="connsiteY22" fmla="*/ 90341 h 97068"/>
                <a:gd name="connsiteX23" fmla="*/ 126876 w 177869"/>
                <a:gd name="connsiteY23" fmla="*/ 97149 h 97068"/>
                <a:gd name="connsiteX24" fmla="*/ 152611 w 177869"/>
                <a:gd name="connsiteY24" fmla="*/ 96490 h 97068"/>
                <a:gd name="connsiteX25" fmla="*/ 178119 w 177869"/>
                <a:gd name="connsiteY25" fmla="*/ 97149 h 97068"/>
                <a:gd name="connsiteX26" fmla="*/ 178119 w 177869"/>
                <a:gd name="connsiteY26" fmla="*/ 90341 h 97068"/>
                <a:gd name="connsiteX27" fmla="*/ 160354 w 177869"/>
                <a:gd name="connsiteY27" fmla="*/ 83753 h 97068"/>
                <a:gd name="connsiteX28" fmla="*/ 160354 w 177869"/>
                <a:gd name="connsiteY28" fmla="*/ 41807 h 97068"/>
                <a:gd name="connsiteX29" fmla="*/ 153294 w 177869"/>
                <a:gd name="connsiteY29" fmla="*/ 8206 h 97068"/>
                <a:gd name="connsiteX30" fmla="*/ 129381 w 177869"/>
                <a:gd name="connsiteY30" fmla="*/ 80 h 97068"/>
                <a:gd name="connsiteX31" fmla="*/ 96358 w 177869"/>
                <a:gd name="connsiteY31" fmla="*/ 21602 h 97068"/>
                <a:gd name="connsiteX32" fmla="*/ 66068 w 177869"/>
                <a:gd name="connsiteY32" fmla="*/ 80 h 97068"/>
                <a:gd name="connsiteX33" fmla="*/ 32361 w 177869"/>
                <a:gd name="connsiteY33" fmla="*/ 23140 h 97068"/>
                <a:gd name="connsiteX34" fmla="*/ 32361 w 177869"/>
                <a:gd name="connsiteY34" fmla="*/ 80 h 97068"/>
                <a:gd name="connsiteX35" fmla="*/ 249 w 177869"/>
                <a:gd name="connsiteY35" fmla="*/ 2496 h 97068"/>
                <a:gd name="connsiteX36" fmla="*/ 249 w 177869"/>
                <a:gd name="connsiteY36" fmla="*/ 9304 h 97068"/>
                <a:gd name="connsiteX37" fmla="*/ 18013 w 177869"/>
                <a:gd name="connsiteY37" fmla="*/ 21602 h 97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77869" h="97068">
                  <a:moveTo>
                    <a:pt x="18013" y="21602"/>
                  </a:moveTo>
                  <a:lnTo>
                    <a:pt x="18013" y="80458"/>
                  </a:lnTo>
                  <a:cubicBezTo>
                    <a:pt x="18013" y="90341"/>
                    <a:pt x="15508" y="90341"/>
                    <a:pt x="249" y="90341"/>
                  </a:cubicBezTo>
                  <a:lnTo>
                    <a:pt x="249" y="97149"/>
                  </a:lnTo>
                  <a:cubicBezTo>
                    <a:pt x="8220" y="96929"/>
                    <a:pt x="19835" y="96490"/>
                    <a:pt x="25984" y="96490"/>
                  </a:cubicBezTo>
                  <a:cubicBezTo>
                    <a:pt x="31906" y="96490"/>
                    <a:pt x="43748" y="96929"/>
                    <a:pt x="51492" y="97149"/>
                  </a:cubicBezTo>
                  <a:lnTo>
                    <a:pt x="51492" y="90341"/>
                  </a:lnTo>
                  <a:cubicBezTo>
                    <a:pt x="36233" y="90341"/>
                    <a:pt x="33728" y="90341"/>
                    <a:pt x="33728" y="80458"/>
                  </a:cubicBezTo>
                  <a:lnTo>
                    <a:pt x="33728" y="40050"/>
                  </a:lnTo>
                  <a:cubicBezTo>
                    <a:pt x="33728" y="17210"/>
                    <a:pt x="49898" y="4912"/>
                    <a:pt x="64473" y="4912"/>
                  </a:cubicBezTo>
                  <a:cubicBezTo>
                    <a:pt x="78821" y="4912"/>
                    <a:pt x="81326" y="16771"/>
                    <a:pt x="81326" y="29289"/>
                  </a:cubicBezTo>
                  <a:lnTo>
                    <a:pt x="81326" y="80458"/>
                  </a:lnTo>
                  <a:cubicBezTo>
                    <a:pt x="81326" y="90341"/>
                    <a:pt x="78821" y="90341"/>
                    <a:pt x="63562" y="90341"/>
                  </a:cubicBezTo>
                  <a:lnTo>
                    <a:pt x="63562" y="97149"/>
                  </a:lnTo>
                  <a:cubicBezTo>
                    <a:pt x="71533" y="96929"/>
                    <a:pt x="83148" y="96490"/>
                    <a:pt x="89298" y="96490"/>
                  </a:cubicBezTo>
                  <a:cubicBezTo>
                    <a:pt x="95219" y="96490"/>
                    <a:pt x="107062" y="96929"/>
                    <a:pt x="114805" y="97149"/>
                  </a:cubicBezTo>
                  <a:lnTo>
                    <a:pt x="114805" y="90341"/>
                  </a:lnTo>
                  <a:cubicBezTo>
                    <a:pt x="99546" y="90341"/>
                    <a:pt x="97041" y="90341"/>
                    <a:pt x="97041" y="80458"/>
                  </a:cubicBezTo>
                  <a:lnTo>
                    <a:pt x="97041" y="40050"/>
                  </a:lnTo>
                  <a:cubicBezTo>
                    <a:pt x="97041" y="17210"/>
                    <a:pt x="113211" y="4912"/>
                    <a:pt x="127787" y="4912"/>
                  </a:cubicBezTo>
                  <a:cubicBezTo>
                    <a:pt x="142135" y="4912"/>
                    <a:pt x="144640" y="16771"/>
                    <a:pt x="144640" y="29289"/>
                  </a:cubicBezTo>
                  <a:lnTo>
                    <a:pt x="144640" y="80458"/>
                  </a:lnTo>
                  <a:cubicBezTo>
                    <a:pt x="144640" y="90341"/>
                    <a:pt x="142135" y="90341"/>
                    <a:pt x="126876" y="90341"/>
                  </a:cubicBezTo>
                  <a:lnTo>
                    <a:pt x="126876" y="97149"/>
                  </a:lnTo>
                  <a:cubicBezTo>
                    <a:pt x="134847" y="96929"/>
                    <a:pt x="146462" y="96490"/>
                    <a:pt x="152611" y="96490"/>
                  </a:cubicBezTo>
                  <a:cubicBezTo>
                    <a:pt x="158532" y="96490"/>
                    <a:pt x="170375" y="96929"/>
                    <a:pt x="178119" y="97149"/>
                  </a:cubicBezTo>
                  <a:lnTo>
                    <a:pt x="178119" y="90341"/>
                  </a:lnTo>
                  <a:cubicBezTo>
                    <a:pt x="166276" y="90341"/>
                    <a:pt x="160582" y="90341"/>
                    <a:pt x="160354" y="83753"/>
                  </a:cubicBezTo>
                  <a:lnTo>
                    <a:pt x="160354" y="41807"/>
                  </a:lnTo>
                  <a:cubicBezTo>
                    <a:pt x="160354" y="22920"/>
                    <a:pt x="160354" y="16112"/>
                    <a:pt x="153294" y="8206"/>
                  </a:cubicBezTo>
                  <a:cubicBezTo>
                    <a:pt x="150106" y="4473"/>
                    <a:pt x="142590" y="80"/>
                    <a:pt x="129381" y="80"/>
                  </a:cubicBezTo>
                  <a:cubicBezTo>
                    <a:pt x="110250" y="80"/>
                    <a:pt x="100229" y="13257"/>
                    <a:pt x="96358" y="21602"/>
                  </a:cubicBezTo>
                  <a:cubicBezTo>
                    <a:pt x="93169" y="2496"/>
                    <a:pt x="76316" y="80"/>
                    <a:pt x="66068" y="80"/>
                  </a:cubicBezTo>
                  <a:cubicBezTo>
                    <a:pt x="49442" y="80"/>
                    <a:pt x="38738" y="9524"/>
                    <a:pt x="32361" y="23140"/>
                  </a:cubicBezTo>
                  <a:lnTo>
                    <a:pt x="32361" y="80"/>
                  </a:lnTo>
                  <a:lnTo>
                    <a:pt x="249" y="2496"/>
                  </a:lnTo>
                  <a:lnTo>
                    <a:pt x="249" y="9304"/>
                  </a:lnTo>
                  <a:cubicBezTo>
                    <a:pt x="16191" y="9304"/>
                    <a:pt x="18013" y="10841"/>
                    <a:pt x="18013" y="21602"/>
                  </a:cubicBezTo>
                  <a:close/>
                </a:path>
              </a:pathLst>
            </a:custGeom>
            <a:solidFill>
              <a:srgbClr val="000000"/>
            </a:solidFill>
            <a:ln w="22833" cap="flat">
              <a:noFill/>
              <a:prstDash val="solid"/>
              <a:miter/>
            </a:ln>
          </p:spPr>
          <p:txBody>
            <a:bodyPr rtlCol="0" anchor="ctr"/>
            <a:lstStyle/>
            <a:p>
              <a:endParaRPr lang="zh-CN" altLang="en-US"/>
            </a:p>
          </p:txBody>
        </p:sp>
        <p:sp>
          <p:nvSpPr>
            <p:cNvPr id="35" name="任意形状 34">
              <a:extLst>
                <a:ext uri="{FF2B5EF4-FFF2-40B4-BE49-F238E27FC236}">
                  <a16:creationId xmlns:a16="http://schemas.microsoft.com/office/drawing/2014/main" id="{60182A4A-83EC-D347-CC20-7E24E9EFA14E}"/>
                </a:ext>
              </a:extLst>
            </p:cNvPr>
            <p:cNvSpPr/>
            <p:nvPr>
              <p:custDataLst>
                <p:tags r:id="rId23"/>
              </p:custDataLst>
            </p:nvPr>
          </p:nvSpPr>
          <p:spPr>
            <a:xfrm>
              <a:off x="8042569" y="4345723"/>
              <a:ext cx="81942" cy="108224"/>
            </a:xfrm>
            <a:custGeom>
              <a:avLst/>
              <a:gdLst>
                <a:gd name="connsiteX0" fmla="*/ 81546 w 81942"/>
                <a:gd name="connsiteY0" fmla="*/ 4699 h 108224"/>
                <a:gd name="connsiteX1" fmla="*/ 82183 w 81942"/>
                <a:gd name="connsiteY1" fmla="*/ 2239 h 108224"/>
                <a:gd name="connsiteX2" fmla="*/ 79633 w 81942"/>
                <a:gd name="connsiteY2" fmla="*/ 87 h 108224"/>
                <a:gd name="connsiteX3" fmla="*/ 59226 w 81942"/>
                <a:gd name="connsiteY3" fmla="*/ 1624 h 108224"/>
                <a:gd name="connsiteX4" fmla="*/ 55719 w 81942"/>
                <a:gd name="connsiteY4" fmla="*/ 5160 h 108224"/>
                <a:gd name="connsiteX5" fmla="*/ 59864 w 81942"/>
                <a:gd name="connsiteY5" fmla="*/ 7312 h 108224"/>
                <a:gd name="connsiteX6" fmla="*/ 67516 w 81942"/>
                <a:gd name="connsiteY6" fmla="*/ 9618 h 108224"/>
                <a:gd name="connsiteX7" fmla="*/ 66879 w 81942"/>
                <a:gd name="connsiteY7" fmla="*/ 13000 h 108224"/>
                <a:gd name="connsiteX8" fmla="*/ 57792 w 81942"/>
                <a:gd name="connsiteY8" fmla="*/ 48050 h 108224"/>
                <a:gd name="connsiteX9" fmla="*/ 41371 w 81942"/>
                <a:gd name="connsiteY9" fmla="*/ 38980 h 108224"/>
                <a:gd name="connsiteX10" fmla="*/ 240 w 81942"/>
                <a:gd name="connsiteY10" fmla="*/ 82793 h 108224"/>
                <a:gd name="connsiteX11" fmla="*/ 24313 w 81942"/>
                <a:gd name="connsiteY11" fmla="*/ 108312 h 108224"/>
                <a:gd name="connsiteX12" fmla="*/ 46951 w 81942"/>
                <a:gd name="connsiteY12" fmla="*/ 97551 h 108224"/>
                <a:gd name="connsiteX13" fmla="*/ 63371 w 81942"/>
                <a:gd name="connsiteY13" fmla="*/ 108312 h 108224"/>
                <a:gd name="connsiteX14" fmla="*/ 75966 w 81942"/>
                <a:gd name="connsiteY14" fmla="*/ 100164 h 108224"/>
                <a:gd name="connsiteX15" fmla="*/ 81546 w 81942"/>
                <a:gd name="connsiteY15" fmla="*/ 84791 h 108224"/>
                <a:gd name="connsiteX16" fmla="*/ 78995 w 81942"/>
                <a:gd name="connsiteY16" fmla="*/ 82793 h 108224"/>
                <a:gd name="connsiteX17" fmla="*/ 75488 w 81942"/>
                <a:gd name="connsiteY17" fmla="*/ 87558 h 108224"/>
                <a:gd name="connsiteX18" fmla="*/ 63850 w 81942"/>
                <a:gd name="connsiteY18" fmla="*/ 104007 h 108224"/>
                <a:gd name="connsiteX19" fmla="*/ 58589 w 81942"/>
                <a:gd name="connsiteY19" fmla="*/ 96475 h 108224"/>
                <a:gd name="connsiteX20" fmla="*/ 59386 w 81942"/>
                <a:gd name="connsiteY20" fmla="*/ 90172 h 108224"/>
                <a:gd name="connsiteX21" fmla="*/ 81546 w 81942"/>
                <a:gd name="connsiteY21" fmla="*/ 4699 h 108224"/>
                <a:gd name="connsiteX22" fmla="*/ 47589 w 81942"/>
                <a:gd name="connsiteY22" fmla="*/ 87558 h 108224"/>
                <a:gd name="connsiteX23" fmla="*/ 39458 w 81942"/>
                <a:gd name="connsiteY23" fmla="*/ 97858 h 108224"/>
                <a:gd name="connsiteX24" fmla="*/ 24791 w 81942"/>
                <a:gd name="connsiteY24" fmla="*/ 104007 h 108224"/>
                <a:gd name="connsiteX25" fmla="*/ 13153 w 81942"/>
                <a:gd name="connsiteY25" fmla="*/ 89096 h 108224"/>
                <a:gd name="connsiteX26" fmla="*/ 21443 w 81942"/>
                <a:gd name="connsiteY26" fmla="*/ 57889 h 108224"/>
                <a:gd name="connsiteX27" fmla="*/ 41371 w 81942"/>
                <a:gd name="connsiteY27" fmla="*/ 43284 h 108224"/>
                <a:gd name="connsiteX28" fmla="*/ 55560 w 81942"/>
                <a:gd name="connsiteY28" fmla="*/ 56659 h 108224"/>
                <a:gd name="connsiteX29" fmla="*/ 55081 w 81942"/>
                <a:gd name="connsiteY29" fmla="*/ 58811 h 108224"/>
                <a:gd name="connsiteX30" fmla="*/ 47589 w 81942"/>
                <a:gd name="connsiteY30" fmla="*/ 87558 h 108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1942" h="108224">
                  <a:moveTo>
                    <a:pt x="81546" y="4699"/>
                  </a:moveTo>
                  <a:cubicBezTo>
                    <a:pt x="81705" y="4391"/>
                    <a:pt x="82183" y="2393"/>
                    <a:pt x="82183" y="2239"/>
                  </a:cubicBezTo>
                  <a:cubicBezTo>
                    <a:pt x="82183" y="1470"/>
                    <a:pt x="81546" y="87"/>
                    <a:pt x="79633" y="87"/>
                  </a:cubicBezTo>
                  <a:cubicBezTo>
                    <a:pt x="76444" y="87"/>
                    <a:pt x="63212" y="1317"/>
                    <a:pt x="59226" y="1624"/>
                  </a:cubicBezTo>
                  <a:cubicBezTo>
                    <a:pt x="57951" y="1778"/>
                    <a:pt x="55719" y="1932"/>
                    <a:pt x="55719" y="5160"/>
                  </a:cubicBezTo>
                  <a:cubicBezTo>
                    <a:pt x="55719" y="7312"/>
                    <a:pt x="57951" y="7312"/>
                    <a:pt x="59864" y="7312"/>
                  </a:cubicBezTo>
                  <a:cubicBezTo>
                    <a:pt x="67516" y="7312"/>
                    <a:pt x="67516" y="8388"/>
                    <a:pt x="67516" y="9618"/>
                  </a:cubicBezTo>
                  <a:cubicBezTo>
                    <a:pt x="67516" y="10694"/>
                    <a:pt x="67198" y="11616"/>
                    <a:pt x="66879" y="13000"/>
                  </a:cubicBezTo>
                  <a:lnTo>
                    <a:pt x="57792" y="48050"/>
                  </a:lnTo>
                  <a:cubicBezTo>
                    <a:pt x="54444" y="42977"/>
                    <a:pt x="49023" y="38980"/>
                    <a:pt x="41371" y="38980"/>
                  </a:cubicBezTo>
                  <a:cubicBezTo>
                    <a:pt x="20965" y="38980"/>
                    <a:pt x="240" y="60656"/>
                    <a:pt x="240" y="82793"/>
                  </a:cubicBezTo>
                  <a:cubicBezTo>
                    <a:pt x="240" y="97704"/>
                    <a:pt x="10603" y="108312"/>
                    <a:pt x="24313" y="108312"/>
                  </a:cubicBezTo>
                  <a:cubicBezTo>
                    <a:pt x="32922" y="108312"/>
                    <a:pt x="40574" y="103546"/>
                    <a:pt x="46951" y="97551"/>
                  </a:cubicBezTo>
                  <a:cubicBezTo>
                    <a:pt x="49980" y="106774"/>
                    <a:pt x="59226" y="108312"/>
                    <a:pt x="63371" y="108312"/>
                  </a:cubicBezTo>
                  <a:cubicBezTo>
                    <a:pt x="69111" y="108312"/>
                    <a:pt x="73096" y="104930"/>
                    <a:pt x="75966" y="100164"/>
                  </a:cubicBezTo>
                  <a:cubicBezTo>
                    <a:pt x="79473" y="94169"/>
                    <a:pt x="81546" y="85406"/>
                    <a:pt x="81546" y="84791"/>
                  </a:cubicBezTo>
                  <a:cubicBezTo>
                    <a:pt x="81546" y="82793"/>
                    <a:pt x="79473" y="82793"/>
                    <a:pt x="78995" y="82793"/>
                  </a:cubicBezTo>
                  <a:cubicBezTo>
                    <a:pt x="76763" y="82793"/>
                    <a:pt x="76603" y="83408"/>
                    <a:pt x="75488" y="87558"/>
                  </a:cubicBezTo>
                  <a:cubicBezTo>
                    <a:pt x="73574" y="94937"/>
                    <a:pt x="70545" y="104007"/>
                    <a:pt x="63850" y="104007"/>
                  </a:cubicBezTo>
                  <a:cubicBezTo>
                    <a:pt x="59705" y="104007"/>
                    <a:pt x="58589" y="100625"/>
                    <a:pt x="58589" y="96475"/>
                  </a:cubicBezTo>
                  <a:cubicBezTo>
                    <a:pt x="58589" y="93554"/>
                    <a:pt x="58908" y="92170"/>
                    <a:pt x="59386" y="90172"/>
                  </a:cubicBezTo>
                  <a:lnTo>
                    <a:pt x="81546" y="4699"/>
                  </a:lnTo>
                  <a:close/>
                  <a:moveTo>
                    <a:pt x="47589" y="87558"/>
                  </a:moveTo>
                  <a:cubicBezTo>
                    <a:pt x="46473" y="91863"/>
                    <a:pt x="42965" y="94937"/>
                    <a:pt x="39458" y="97858"/>
                  </a:cubicBezTo>
                  <a:cubicBezTo>
                    <a:pt x="38023" y="99088"/>
                    <a:pt x="31646" y="104007"/>
                    <a:pt x="24791" y="104007"/>
                  </a:cubicBezTo>
                  <a:cubicBezTo>
                    <a:pt x="18893" y="104007"/>
                    <a:pt x="13153" y="100010"/>
                    <a:pt x="13153" y="89096"/>
                  </a:cubicBezTo>
                  <a:cubicBezTo>
                    <a:pt x="13153" y="80948"/>
                    <a:pt x="17777" y="64038"/>
                    <a:pt x="21443" y="57889"/>
                  </a:cubicBezTo>
                  <a:cubicBezTo>
                    <a:pt x="28777" y="45590"/>
                    <a:pt x="36907" y="43284"/>
                    <a:pt x="41371" y="43284"/>
                  </a:cubicBezTo>
                  <a:cubicBezTo>
                    <a:pt x="52531" y="43284"/>
                    <a:pt x="55560" y="54968"/>
                    <a:pt x="55560" y="56659"/>
                  </a:cubicBezTo>
                  <a:cubicBezTo>
                    <a:pt x="55560" y="57274"/>
                    <a:pt x="55241" y="58350"/>
                    <a:pt x="55081" y="58811"/>
                  </a:cubicBezTo>
                  <a:lnTo>
                    <a:pt x="47589" y="87558"/>
                  </a:lnTo>
                  <a:close/>
                </a:path>
              </a:pathLst>
            </a:custGeom>
            <a:solidFill>
              <a:srgbClr val="000000"/>
            </a:solidFill>
            <a:ln w="22833" cap="flat">
              <a:noFill/>
              <a:prstDash val="solid"/>
              <a:miter/>
            </a:ln>
          </p:spPr>
          <p:txBody>
            <a:bodyPr rtlCol="0" anchor="ctr"/>
            <a:lstStyle/>
            <a:p>
              <a:endParaRPr lang="zh-CN" altLang="en-US"/>
            </a:p>
          </p:txBody>
        </p:sp>
        <p:sp>
          <p:nvSpPr>
            <p:cNvPr id="36" name="任意形状 35">
              <a:extLst>
                <a:ext uri="{FF2B5EF4-FFF2-40B4-BE49-F238E27FC236}">
                  <a16:creationId xmlns:a16="http://schemas.microsoft.com/office/drawing/2014/main" id="{6742996B-90D0-2E5C-A23A-DC7964193C24}"/>
                </a:ext>
              </a:extLst>
            </p:cNvPr>
            <p:cNvSpPr/>
            <p:nvPr>
              <p:custDataLst>
                <p:tags r:id="rId24"/>
              </p:custDataLst>
            </p:nvPr>
          </p:nvSpPr>
          <p:spPr>
            <a:xfrm>
              <a:off x="8139928" y="4373394"/>
              <a:ext cx="156871" cy="81014"/>
            </a:xfrm>
            <a:custGeom>
              <a:avLst/>
              <a:gdLst>
                <a:gd name="connsiteX0" fmla="*/ 134637 w 156871"/>
                <a:gd name="connsiteY0" fmla="*/ 44361 h 81014"/>
                <a:gd name="connsiteX1" fmla="*/ 111840 w 156871"/>
                <a:gd name="connsiteY1" fmla="*/ 78796 h 81014"/>
                <a:gd name="connsiteX2" fmla="*/ 115666 w 156871"/>
                <a:gd name="connsiteY2" fmla="*/ 81102 h 81014"/>
                <a:gd name="connsiteX3" fmla="*/ 119811 w 156871"/>
                <a:gd name="connsiteY3" fmla="*/ 78488 h 81014"/>
                <a:gd name="connsiteX4" fmla="*/ 131608 w 156871"/>
                <a:gd name="connsiteY4" fmla="*/ 56351 h 81014"/>
                <a:gd name="connsiteX5" fmla="*/ 155522 w 156871"/>
                <a:gd name="connsiteY5" fmla="*/ 42670 h 81014"/>
                <a:gd name="connsiteX6" fmla="*/ 157116 w 156871"/>
                <a:gd name="connsiteY6" fmla="*/ 40671 h 81014"/>
                <a:gd name="connsiteX7" fmla="*/ 154087 w 156871"/>
                <a:gd name="connsiteY7" fmla="*/ 38211 h 81014"/>
                <a:gd name="connsiteX8" fmla="*/ 119652 w 156871"/>
                <a:gd name="connsiteY8" fmla="*/ 1931 h 81014"/>
                <a:gd name="connsiteX9" fmla="*/ 115666 w 156871"/>
                <a:gd name="connsiteY9" fmla="*/ 87 h 81014"/>
                <a:gd name="connsiteX10" fmla="*/ 111840 w 156871"/>
                <a:gd name="connsiteY10" fmla="*/ 2393 h 81014"/>
                <a:gd name="connsiteX11" fmla="*/ 121246 w 156871"/>
                <a:gd name="connsiteY11" fmla="*/ 23607 h 81014"/>
                <a:gd name="connsiteX12" fmla="*/ 134637 w 156871"/>
                <a:gd name="connsiteY12" fmla="*/ 36828 h 81014"/>
                <a:gd name="connsiteX13" fmla="*/ 6621 w 156871"/>
                <a:gd name="connsiteY13" fmla="*/ 36828 h 81014"/>
                <a:gd name="connsiteX14" fmla="*/ 244 w 156871"/>
                <a:gd name="connsiteY14" fmla="*/ 40517 h 81014"/>
                <a:gd name="connsiteX15" fmla="*/ 6621 w 156871"/>
                <a:gd name="connsiteY15" fmla="*/ 44361 h 81014"/>
                <a:gd name="connsiteX16" fmla="*/ 134637 w 156871"/>
                <a:gd name="connsiteY16" fmla="*/ 44361 h 8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6871" h="81014">
                  <a:moveTo>
                    <a:pt x="134637" y="44361"/>
                  </a:moveTo>
                  <a:cubicBezTo>
                    <a:pt x="114550" y="58504"/>
                    <a:pt x="111840" y="78642"/>
                    <a:pt x="111840" y="78796"/>
                  </a:cubicBezTo>
                  <a:cubicBezTo>
                    <a:pt x="111840" y="81102"/>
                    <a:pt x="113434" y="81102"/>
                    <a:pt x="115666" y="81102"/>
                  </a:cubicBezTo>
                  <a:cubicBezTo>
                    <a:pt x="118536" y="81102"/>
                    <a:pt x="119014" y="81102"/>
                    <a:pt x="119811" y="78488"/>
                  </a:cubicBezTo>
                  <a:cubicBezTo>
                    <a:pt x="120768" y="74645"/>
                    <a:pt x="123318" y="64806"/>
                    <a:pt x="131608" y="56351"/>
                  </a:cubicBezTo>
                  <a:cubicBezTo>
                    <a:pt x="140855" y="46974"/>
                    <a:pt x="148826" y="44668"/>
                    <a:pt x="155522" y="42670"/>
                  </a:cubicBezTo>
                  <a:cubicBezTo>
                    <a:pt x="156478" y="42362"/>
                    <a:pt x="157116" y="41440"/>
                    <a:pt x="157116" y="40671"/>
                  </a:cubicBezTo>
                  <a:cubicBezTo>
                    <a:pt x="157116" y="39134"/>
                    <a:pt x="156159" y="38826"/>
                    <a:pt x="154087" y="38211"/>
                  </a:cubicBezTo>
                  <a:cubicBezTo>
                    <a:pt x="131130" y="31140"/>
                    <a:pt x="122999" y="15460"/>
                    <a:pt x="119652" y="1931"/>
                  </a:cubicBezTo>
                  <a:cubicBezTo>
                    <a:pt x="119014" y="87"/>
                    <a:pt x="117898" y="87"/>
                    <a:pt x="115666" y="87"/>
                  </a:cubicBezTo>
                  <a:cubicBezTo>
                    <a:pt x="113434" y="87"/>
                    <a:pt x="111840" y="87"/>
                    <a:pt x="111840" y="2393"/>
                  </a:cubicBezTo>
                  <a:cubicBezTo>
                    <a:pt x="111840" y="2700"/>
                    <a:pt x="113434" y="13000"/>
                    <a:pt x="121246" y="23607"/>
                  </a:cubicBezTo>
                  <a:cubicBezTo>
                    <a:pt x="124913" y="28834"/>
                    <a:pt x="129376" y="33138"/>
                    <a:pt x="134637" y="36828"/>
                  </a:cubicBezTo>
                  <a:lnTo>
                    <a:pt x="6621" y="36828"/>
                  </a:lnTo>
                  <a:cubicBezTo>
                    <a:pt x="4071" y="36828"/>
                    <a:pt x="244" y="36828"/>
                    <a:pt x="244" y="40517"/>
                  </a:cubicBezTo>
                  <a:cubicBezTo>
                    <a:pt x="244" y="44361"/>
                    <a:pt x="3911" y="44361"/>
                    <a:pt x="6621" y="44361"/>
                  </a:cubicBezTo>
                  <a:lnTo>
                    <a:pt x="134637" y="44361"/>
                  </a:lnTo>
                  <a:close/>
                </a:path>
              </a:pathLst>
            </a:custGeom>
            <a:solidFill>
              <a:srgbClr val="000000"/>
            </a:solidFill>
            <a:ln w="22833" cap="flat">
              <a:noFill/>
              <a:prstDash val="solid"/>
              <a:miter/>
            </a:ln>
          </p:spPr>
          <p:txBody>
            <a:bodyPr rtlCol="0" anchor="ctr"/>
            <a:lstStyle/>
            <a:p>
              <a:endParaRPr lang="zh-CN" altLang="en-US"/>
            </a:p>
          </p:txBody>
        </p:sp>
        <p:sp>
          <p:nvSpPr>
            <p:cNvPr id="37" name="任意形状 36">
              <a:extLst>
                <a:ext uri="{FF2B5EF4-FFF2-40B4-BE49-F238E27FC236}">
                  <a16:creationId xmlns:a16="http://schemas.microsoft.com/office/drawing/2014/main" id="{971DADC7-322F-091C-614A-30736B341DE4}"/>
                </a:ext>
              </a:extLst>
            </p:cNvPr>
            <p:cNvSpPr/>
            <p:nvPr>
              <p:custDataLst>
                <p:tags r:id="rId25"/>
              </p:custDataLst>
            </p:nvPr>
          </p:nvSpPr>
          <p:spPr>
            <a:xfrm>
              <a:off x="8321493" y="4384616"/>
              <a:ext cx="156871" cy="69331"/>
            </a:xfrm>
            <a:custGeom>
              <a:avLst/>
              <a:gdLst>
                <a:gd name="connsiteX0" fmla="*/ 80123 w 156871"/>
                <a:gd name="connsiteY0" fmla="*/ 25759 h 69331"/>
                <a:gd name="connsiteX1" fmla="*/ 63065 w 156871"/>
                <a:gd name="connsiteY1" fmla="*/ 9464 h 69331"/>
                <a:gd name="connsiteX2" fmla="*/ 34369 w 156871"/>
                <a:gd name="connsiteY2" fmla="*/ 87 h 69331"/>
                <a:gd name="connsiteX3" fmla="*/ 252 w 156871"/>
                <a:gd name="connsiteY3" fmla="*/ 34829 h 69331"/>
                <a:gd name="connsiteX4" fmla="*/ 33890 w 156871"/>
                <a:gd name="connsiteY4" fmla="*/ 69418 h 69331"/>
                <a:gd name="connsiteX5" fmla="*/ 77253 w 156871"/>
                <a:gd name="connsiteY5" fmla="*/ 43746 h 69331"/>
                <a:gd name="connsiteX6" fmla="*/ 94311 w 156871"/>
                <a:gd name="connsiteY6" fmla="*/ 60041 h 69331"/>
                <a:gd name="connsiteX7" fmla="*/ 123007 w 156871"/>
                <a:gd name="connsiteY7" fmla="*/ 69418 h 69331"/>
                <a:gd name="connsiteX8" fmla="*/ 157124 w 156871"/>
                <a:gd name="connsiteY8" fmla="*/ 34676 h 69331"/>
                <a:gd name="connsiteX9" fmla="*/ 123486 w 156871"/>
                <a:gd name="connsiteY9" fmla="*/ 87 h 69331"/>
                <a:gd name="connsiteX10" fmla="*/ 80123 w 156871"/>
                <a:gd name="connsiteY10" fmla="*/ 25759 h 69331"/>
                <a:gd name="connsiteX11" fmla="*/ 85224 w 156871"/>
                <a:gd name="connsiteY11" fmla="*/ 31447 h 69331"/>
                <a:gd name="connsiteX12" fmla="*/ 124921 w 156871"/>
                <a:gd name="connsiteY12" fmla="*/ 5928 h 69331"/>
                <a:gd name="connsiteX13" fmla="*/ 152660 w 156871"/>
                <a:gd name="connsiteY13" fmla="*/ 34676 h 69331"/>
                <a:gd name="connsiteX14" fmla="*/ 125558 w 156871"/>
                <a:gd name="connsiteY14" fmla="*/ 60963 h 69331"/>
                <a:gd name="connsiteX15" fmla="*/ 85224 w 156871"/>
                <a:gd name="connsiteY15" fmla="*/ 31447 h 69331"/>
                <a:gd name="connsiteX16" fmla="*/ 72152 w 156871"/>
                <a:gd name="connsiteY16" fmla="*/ 38058 h 69331"/>
                <a:gd name="connsiteX17" fmla="*/ 32456 w 156871"/>
                <a:gd name="connsiteY17" fmla="*/ 63577 h 69331"/>
                <a:gd name="connsiteX18" fmla="*/ 4716 w 156871"/>
                <a:gd name="connsiteY18" fmla="*/ 34829 h 69331"/>
                <a:gd name="connsiteX19" fmla="*/ 31818 w 156871"/>
                <a:gd name="connsiteY19" fmla="*/ 8542 h 69331"/>
                <a:gd name="connsiteX20" fmla="*/ 72152 w 156871"/>
                <a:gd name="connsiteY20" fmla="*/ 38058 h 6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6871" h="69331">
                  <a:moveTo>
                    <a:pt x="80123" y="25759"/>
                  </a:moveTo>
                  <a:cubicBezTo>
                    <a:pt x="71674" y="16228"/>
                    <a:pt x="69123" y="13615"/>
                    <a:pt x="63065" y="9464"/>
                  </a:cubicBezTo>
                  <a:cubicBezTo>
                    <a:pt x="53340" y="2700"/>
                    <a:pt x="43137" y="87"/>
                    <a:pt x="34369" y="87"/>
                  </a:cubicBezTo>
                  <a:cubicBezTo>
                    <a:pt x="14600" y="87"/>
                    <a:pt x="252" y="16382"/>
                    <a:pt x="252" y="34829"/>
                  </a:cubicBezTo>
                  <a:cubicBezTo>
                    <a:pt x="252" y="52816"/>
                    <a:pt x="13963" y="69418"/>
                    <a:pt x="33890" y="69418"/>
                  </a:cubicBezTo>
                  <a:cubicBezTo>
                    <a:pt x="56050" y="69418"/>
                    <a:pt x="71514" y="51893"/>
                    <a:pt x="77253" y="43746"/>
                  </a:cubicBezTo>
                  <a:cubicBezTo>
                    <a:pt x="85703" y="53277"/>
                    <a:pt x="88253" y="55890"/>
                    <a:pt x="94311" y="60041"/>
                  </a:cubicBezTo>
                  <a:cubicBezTo>
                    <a:pt x="104036" y="66805"/>
                    <a:pt x="114239" y="69418"/>
                    <a:pt x="123007" y="69418"/>
                  </a:cubicBezTo>
                  <a:cubicBezTo>
                    <a:pt x="142776" y="69418"/>
                    <a:pt x="157124" y="53123"/>
                    <a:pt x="157124" y="34676"/>
                  </a:cubicBezTo>
                  <a:cubicBezTo>
                    <a:pt x="157124" y="16689"/>
                    <a:pt x="143413" y="87"/>
                    <a:pt x="123486" y="87"/>
                  </a:cubicBezTo>
                  <a:cubicBezTo>
                    <a:pt x="101326" y="87"/>
                    <a:pt x="85862" y="17612"/>
                    <a:pt x="80123" y="25759"/>
                  </a:cubicBezTo>
                  <a:close/>
                  <a:moveTo>
                    <a:pt x="85224" y="31447"/>
                  </a:moveTo>
                  <a:cubicBezTo>
                    <a:pt x="91601" y="21455"/>
                    <a:pt x="105471" y="5928"/>
                    <a:pt x="124921" y="5928"/>
                  </a:cubicBezTo>
                  <a:cubicBezTo>
                    <a:pt x="141341" y="5928"/>
                    <a:pt x="152660" y="19918"/>
                    <a:pt x="152660" y="34676"/>
                  </a:cubicBezTo>
                  <a:cubicBezTo>
                    <a:pt x="152660" y="49434"/>
                    <a:pt x="140225" y="60963"/>
                    <a:pt x="125558" y="60963"/>
                  </a:cubicBezTo>
                  <a:cubicBezTo>
                    <a:pt x="110732" y="60963"/>
                    <a:pt x="100529" y="49280"/>
                    <a:pt x="85224" y="31447"/>
                  </a:cubicBezTo>
                  <a:close/>
                  <a:moveTo>
                    <a:pt x="72152" y="38058"/>
                  </a:moveTo>
                  <a:cubicBezTo>
                    <a:pt x="65775" y="48050"/>
                    <a:pt x="51905" y="63577"/>
                    <a:pt x="32456" y="63577"/>
                  </a:cubicBezTo>
                  <a:cubicBezTo>
                    <a:pt x="16035" y="63577"/>
                    <a:pt x="4716" y="49587"/>
                    <a:pt x="4716" y="34829"/>
                  </a:cubicBezTo>
                  <a:cubicBezTo>
                    <a:pt x="4716" y="20071"/>
                    <a:pt x="17151" y="8542"/>
                    <a:pt x="31818" y="8542"/>
                  </a:cubicBezTo>
                  <a:cubicBezTo>
                    <a:pt x="46644" y="8542"/>
                    <a:pt x="56847" y="20225"/>
                    <a:pt x="72152" y="38058"/>
                  </a:cubicBezTo>
                  <a:close/>
                </a:path>
              </a:pathLst>
            </a:custGeom>
            <a:solidFill>
              <a:srgbClr val="000000"/>
            </a:solidFill>
            <a:ln w="22833" cap="flat">
              <a:noFill/>
              <a:prstDash val="solid"/>
              <a:miter/>
            </a:ln>
          </p:spPr>
          <p:txBody>
            <a:bodyPr rtlCol="0" anchor="ctr"/>
            <a:lstStyle/>
            <a:p>
              <a:endParaRPr lang="zh-CN" altLang="en-US"/>
            </a:p>
          </p:txBody>
        </p:sp>
        <p:sp>
          <p:nvSpPr>
            <p:cNvPr id="38" name="任意形状 37">
              <a:extLst>
                <a:ext uri="{FF2B5EF4-FFF2-40B4-BE49-F238E27FC236}">
                  <a16:creationId xmlns:a16="http://schemas.microsoft.com/office/drawing/2014/main" id="{986D4C2A-208A-323B-D4FE-0BF8AFF34013}"/>
                </a:ext>
              </a:extLst>
            </p:cNvPr>
            <p:cNvSpPr/>
            <p:nvPr>
              <p:custDataLst>
                <p:tags r:id="rId26"/>
              </p:custDataLst>
            </p:nvPr>
          </p:nvSpPr>
          <p:spPr>
            <a:xfrm>
              <a:off x="8541492" y="4159058"/>
              <a:ext cx="162382" cy="154826"/>
            </a:xfrm>
            <a:custGeom>
              <a:avLst/>
              <a:gdLst>
                <a:gd name="connsiteX0" fmla="*/ 130533 w 162382"/>
                <a:gd name="connsiteY0" fmla="*/ 25116 h 154826"/>
                <a:gd name="connsiteX1" fmla="*/ 159684 w 162382"/>
                <a:gd name="connsiteY1" fmla="*/ 6888 h 154826"/>
                <a:gd name="connsiteX2" fmla="*/ 162645 w 162382"/>
                <a:gd name="connsiteY2" fmla="*/ 2716 h 154826"/>
                <a:gd name="connsiteX3" fmla="*/ 159684 w 162382"/>
                <a:gd name="connsiteY3" fmla="*/ 80 h 154826"/>
                <a:gd name="connsiteX4" fmla="*/ 141009 w 162382"/>
                <a:gd name="connsiteY4" fmla="*/ 739 h 154826"/>
                <a:gd name="connsiteX5" fmla="*/ 118462 w 162382"/>
                <a:gd name="connsiteY5" fmla="*/ 80 h 154826"/>
                <a:gd name="connsiteX6" fmla="*/ 114135 w 162382"/>
                <a:gd name="connsiteY6" fmla="*/ 4253 h 154826"/>
                <a:gd name="connsiteX7" fmla="*/ 117779 w 162382"/>
                <a:gd name="connsiteY7" fmla="*/ 6888 h 154826"/>
                <a:gd name="connsiteX8" fmla="*/ 128255 w 162382"/>
                <a:gd name="connsiteY8" fmla="*/ 14135 h 154826"/>
                <a:gd name="connsiteX9" fmla="*/ 124839 w 162382"/>
                <a:gd name="connsiteY9" fmla="*/ 22481 h 154826"/>
                <a:gd name="connsiteX10" fmla="*/ 54921 w 162382"/>
                <a:gd name="connsiteY10" fmla="*/ 129651 h 154826"/>
                <a:gd name="connsiteX11" fmla="*/ 39434 w 162382"/>
                <a:gd name="connsiteY11" fmla="*/ 13477 h 154826"/>
                <a:gd name="connsiteX12" fmla="*/ 55149 w 162382"/>
                <a:gd name="connsiteY12" fmla="*/ 6888 h 154826"/>
                <a:gd name="connsiteX13" fmla="*/ 60842 w 162382"/>
                <a:gd name="connsiteY13" fmla="*/ 2496 h 154826"/>
                <a:gd name="connsiteX14" fmla="*/ 57654 w 162382"/>
                <a:gd name="connsiteY14" fmla="*/ 80 h 154826"/>
                <a:gd name="connsiteX15" fmla="*/ 29413 w 162382"/>
                <a:gd name="connsiteY15" fmla="*/ 739 h 154826"/>
                <a:gd name="connsiteX16" fmla="*/ 16887 w 162382"/>
                <a:gd name="connsiteY16" fmla="*/ 519 h 154826"/>
                <a:gd name="connsiteX17" fmla="*/ 4589 w 162382"/>
                <a:gd name="connsiteY17" fmla="*/ 80 h 154826"/>
                <a:gd name="connsiteX18" fmla="*/ 262 w 162382"/>
                <a:gd name="connsiteY18" fmla="*/ 4253 h 154826"/>
                <a:gd name="connsiteX19" fmla="*/ 5956 w 162382"/>
                <a:gd name="connsiteY19" fmla="*/ 6888 h 154826"/>
                <a:gd name="connsiteX20" fmla="*/ 19620 w 162382"/>
                <a:gd name="connsiteY20" fmla="*/ 14355 h 154826"/>
                <a:gd name="connsiteX21" fmla="*/ 37612 w 162382"/>
                <a:gd name="connsiteY21" fmla="*/ 149856 h 154826"/>
                <a:gd name="connsiteX22" fmla="*/ 42167 w 162382"/>
                <a:gd name="connsiteY22" fmla="*/ 154907 h 154826"/>
                <a:gd name="connsiteX23" fmla="*/ 48544 w 162382"/>
                <a:gd name="connsiteY23" fmla="*/ 150954 h 154826"/>
                <a:gd name="connsiteX24" fmla="*/ 130533 w 162382"/>
                <a:gd name="connsiteY24" fmla="*/ 25116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62382" h="154826">
                  <a:moveTo>
                    <a:pt x="130533" y="25116"/>
                  </a:moveTo>
                  <a:cubicBezTo>
                    <a:pt x="141692" y="7986"/>
                    <a:pt x="151258" y="7327"/>
                    <a:pt x="159684" y="6888"/>
                  </a:cubicBezTo>
                  <a:cubicBezTo>
                    <a:pt x="162417" y="6669"/>
                    <a:pt x="162645" y="2935"/>
                    <a:pt x="162645" y="2716"/>
                  </a:cubicBezTo>
                  <a:cubicBezTo>
                    <a:pt x="162645" y="959"/>
                    <a:pt x="161506" y="80"/>
                    <a:pt x="159684" y="80"/>
                  </a:cubicBezTo>
                  <a:cubicBezTo>
                    <a:pt x="153763" y="80"/>
                    <a:pt x="147158" y="739"/>
                    <a:pt x="141009" y="739"/>
                  </a:cubicBezTo>
                  <a:cubicBezTo>
                    <a:pt x="133493" y="739"/>
                    <a:pt x="125750" y="80"/>
                    <a:pt x="118462" y="80"/>
                  </a:cubicBezTo>
                  <a:cubicBezTo>
                    <a:pt x="117096" y="80"/>
                    <a:pt x="114135" y="80"/>
                    <a:pt x="114135" y="4253"/>
                  </a:cubicBezTo>
                  <a:cubicBezTo>
                    <a:pt x="114135" y="6669"/>
                    <a:pt x="116185" y="6888"/>
                    <a:pt x="117779" y="6888"/>
                  </a:cubicBezTo>
                  <a:cubicBezTo>
                    <a:pt x="123928" y="7327"/>
                    <a:pt x="128255" y="9524"/>
                    <a:pt x="128255" y="14135"/>
                  </a:cubicBezTo>
                  <a:cubicBezTo>
                    <a:pt x="128255" y="17430"/>
                    <a:pt x="124839" y="22261"/>
                    <a:pt x="124839" y="22481"/>
                  </a:cubicBezTo>
                  <a:lnTo>
                    <a:pt x="54921" y="129651"/>
                  </a:lnTo>
                  <a:lnTo>
                    <a:pt x="39434" y="13477"/>
                  </a:lnTo>
                  <a:cubicBezTo>
                    <a:pt x="39434" y="9743"/>
                    <a:pt x="44672" y="6888"/>
                    <a:pt x="55149" y="6888"/>
                  </a:cubicBezTo>
                  <a:cubicBezTo>
                    <a:pt x="58337" y="6888"/>
                    <a:pt x="60842" y="6888"/>
                    <a:pt x="60842" y="2496"/>
                  </a:cubicBezTo>
                  <a:cubicBezTo>
                    <a:pt x="60842" y="519"/>
                    <a:pt x="59020" y="80"/>
                    <a:pt x="57654" y="80"/>
                  </a:cubicBezTo>
                  <a:cubicBezTo>
                    <a:pt x="48544" y="80"/>
                    <a:pt x="38751" y="739"/>
                    <a:pt x="29413" y="739"/>
                  </a:cubicBezTo>
                  <a:cubicBezTo>
                    <a:pt x="25314" y="739"/>
                    <a:pt x="20987" y="519"/>
                    <a:pt x="16887" y="519"/>
                  </a:cubicBezTo>
                  <a:cubicBezTo>
                    <a:pt x="12788" y="519"/>
                    <a:pt x="8461" y="80"/>
                    <a:pt x="4589" y="80"/>
                  </a:cubicBezTo>
                  <a:cubicBezTo>
                    <a:pt x="2995" y="80"/>
                    <a:pt x="262" y="80"/>
                    <a:pt x="262" y="4253"/>
                  </a:cubicBezTo>
                  <a:cubicBezTo>
                    <a:pt x="262" y="6888"/>
                    <a:pt x="2312" y="6888"/>
                    <a:pt x="5956" y="6888"/>
                  </a:cubicBezTo>
                  <a:cubicBezTo>
                    <a:pt x="18709" y="6888"/>
                    <a:pt x="18937" y="8865"/>
                    <a:pt x="19620" y="14355"/>
                  </a:cubicBezTo>
                  <a:lnTo>
                    <a:pt x="37612" y="149856"/>
                  </a:lnTo>
                  <a:cubicBezTo>
                    <a:pt x="38296" y="154248"/>
                    <a:pt x="39207" y="154907"/>
                    <a:pt x="42167" y="154907"/>
                  </a:cubicBezTo>
                  <a:cubicBezTo>
                    <a:pt x="45811" y="154907"/>
                    <a:pt x="46722" y="153809"/>
                    <a:pt x="48544" y="150954"/>
                  </a:cubicBezTo>
                  <a:lnTo>
                    <a:pt x="130533" y="25116"/>
                  </a:lnTo>
                  <a:close/>
                </a:path>
              </a:pathLst>
            </a:custGeom>
            <a:solidFill>
              <a:srgbClr val="000000"/>
            </a:solidFill>
            <a:ln w="22833" cap="flat">
              <a:noFill/>
              <a:prstDash val="solid"/>
              <a:miter/>
            </a:ln>
          </p:spPr>
          <p:txBody>
            <a:bodyPr rtlCol="0" anchor="ctr"/>
            <a:lstStyle/>
            <a:p>
              <a:endParaRPr lang="zh-CN" altLang="en-US"/>
            </a:p>
          </p:txBody>
        </p:sp>
        <p:sp>
          <p:nvSpPr>
            <p:cNvPr id="39" name="任意形状 38">
              <a:extLst>
                <a:ext uri="{FF2B5EF4-FFF2-40B4-BE49-F238E27FC236}">
                  <a16:creationId xmlns:a16="http://schemas.microsoft.com/office/drawing/2014/main" id="{87644F29-30A5-9490-BCA1-907951D21710}"/>
                </a:ext>
              </a:extLst>
            </p:cNvPr>
            <p:cNvSpPr/>
            <p:nvPr>
              <p:custDataLst>
                <p:tags r:id="rId27"/>
              </p:custDataLst>
            </p:nvPr>
          </p:nvSpPr>
          <p:spPr>
            <a:xfrm>
              <a:off x="8734748" y="4144344"/>
              <a:ext cx="52837" cy="219612"/>
            </a:xfrm>
            <a:custGeom>
              <a:avLst/>
              <a:gdLst>
                <a:gd name="connsiteX0" fmla="*/ 53107 w 52837"/>
                <a:gd name="connsiteY0" fmla="*/ 217496 h 219612"/>
                <a:gd name="connsiteX1" fmla="*/ 49235 w 52837"/>
                <a:gd name="connsiteY1" fmla="*/ 212665 h 219612"/>
                <a:gd name="connsiteX2" fmla="*/ 13479 w 52837"/>
                <a:gd name="connsiteY2" fmla="*/ 109886 h 219612"/>
                <a:gd name="connsiteX3" fmla="*/ 50146 w 52837"/>
                <a:gd name="connsiteY3" fmla="*/ 6010 h 219612"/>
                <a:gd name="connsiteX4" fmla="*/ 53107 w 52837"/>
                <a:gd name="connsiteY4" fmla="*/ 2276 h 219612"/>
                <a:gd name="connsiteX5" fmla="*/ 50830 w 52837"/>
                <a:gd name="connsiteY5" fmla="*/ 80 h 219612"/>
                <a:gd name="connsiteX6" fmla="*/ 14618 w 52837"/>
                <a:gd name="connsiteY6" fmla="*/ 42905 h 219612"/>
                <a:gd name="connsiteX7" fmla="*/ 270 w 52837"/>
                <a:gd name="connsiteY7" fmla="*/ 109886 h 219612"/>
                <a:gd name="connsiteX8" fmla="*/ 15301 w 52837"/>
                <a:gd name="connsiteY8" fmla="*/ 178405 h 219612"/>
                <a:gd name="connsiteX9" fmla="*/ 50830 w 52837"/>
                <a:gd name="connsiteY9" fmla="*/ 219692 h 219612"/>
                <a:gd name="connsiteX10" fmla="*/ 53107 w 52837"/>
                <a:gd name="connsiteY10" fmla="*/ 21749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107" y="217496"/>
                  </a:moveTo>
                  <a:cubicBezTo>
                    <a:pt x="53107" y="216837"/>
                    <a:pt x="53107" y="216398"/>
                    <a:pt x="49235" y="212665"/>
                  </a:cubicBezTo>
                  <a:cubicBezTo>
                    <a:pt x="20767" y="184994"/>
                    <a:pt x="13479" y="143487"/>
                    <a:pt x="13479" y="109886"/>
                  </a:cubicBezTo>
                  <a:cubicBezTo>
                    <a:pt x="13479" y="71674"/>
                    <a:pt x="22134" y="33461"/>
                    <a:pt x="50146" y="6010"/>
                  </a:cubicBezTo>
                  <a:cubicBezTo>
                    <a:pt x="53107" y="3374"/>
                    <a:pt x="53107" y="2935"/>
                    <a:pt x="53107" y="2276"/>
                  </a:cubicBezTo>
                  <a:cubicBezTo>
                    <a:pt x="53107" y="739"/>
                    <a:pt x="52196" y="80"/>
                    <a:pt x="50830" y="80"/>
                  </a:cubicBezTo>
                  <a:cubicBezTo>
                    <a:pt x="48552" y="80"/>
                    <a:pt x="28055" y="15014"/>
                    <a:pt x="14618" y="42905"/>
                  </a:cubicBezTo>
                  <a:cubicBezTo>
                    <a:pt x="3003" y="67062"/>
                    <a:pt x="270" y="91439"/>
                    <a:pt x="270" y="109886"/>
                  </a:cubicBezTo>
                  <a:cubicBezTo>
                    <a:pt x="270" y="127016"/>
                    <a:pt x="2775" y="153589"/>
                    <a:pt x="15301" y="178405"/>
                  </a:cubicBezTo>
                  <a:cubicBezTo>
                    <a:pt x="28966" y="205418"/>
                    <a:pt x="48552" y="219692"/>
                    <a:pt x="50830" y="219692"/>
                  </a:cubicBezTo>
                  <a:cubicBezTo>
                    <a:pt x="52196" y="219692"/>
                    <a:pt x="53107" y="219034"/>
                    <a:pt x="53107" y="217496"/>
                  </a:cubicBezTo>
                  <a:close/>
                </a:path>
              </a:pathLst>
            </a:custGeom>
            <a:solidFill>
              <a:srgbClr val="000000"/>
            </a:solidFill>
            <a:ln w="22833" cap="flat">
              <a:noFill/>
              <a:prstDash val="solid"/>
              <a:miter/>
            </a:ln>
          </p:spPr>
          <p:txBody>
            <a:bodyPr rtlCol="0" anchor="ctr"/>
            <a:lstStyle/>
            <a:p>
              <a:endParaRPr lang="zh-CN" altLang="en-US"/>
            </a:p>
          </p:txBody>
        </p:sp>
        <p:sp>
          <p:nvSpPr>
            <p:cNvPr id="40" name="任意形状 39">
              <a:extLst>
                <a:ext uri="{FF2B5EF4-FFF2-40B4-BE49-F238E27FC236}">
                  <a16:creationId xmlns:a16="http://schemas.microsoft.com/office/drawing/2014/main" id="{86BD3AD7-3A6C-2DF7-EBC7-4902245D9AB7}"/>
                </a:ext>
              </a:extLst>
            </p:cNvPr>
            <p:cNvSpPr/>
            <p:nvPr>
              <p:custDataLst>
                <p:tags r:id="rId28"/>
              </p:custDataLst>
            </p:nvPr>
          </p:nvSpPr>
          <p:spPr>
            <a:xfrm>
              <a:off x="8809879" y="4156642"/>
              <a:ext cx="108407" cy="154826"/>
            </a:xfrm>
            <a:custGeom>
              <a:avLst/>
              <a:gdLst>
                <a:gd name="connsiteX0" fmla="*/ 108681 w 108407"/>
                <a:gd name="connsiteY0" fmla="*/ 2496 h 154826"/>
                <a:gd name="connsiteX1" fmla="*/ 105720 w 108407"/>
                <a:gd name="connsiteY1" fmla="*/ 80 h 154826"/>
                <a:gd name="connsiteX2" fmla="*/ 76797 w 108407"/>
                <a:gd name="connsiteY2" fmla="*/ 2496 h 154826"/>
                <a:gd name="connsiteX3" fmla="*/ 73608 w 108407"/>
                <a:gd name="connsiteY3" fmla="*/ 6669 h 154826"/>
                <a:gd name="connsiteX4" fmla="*/ 79074 w 108407"/>
                <a:gd name="connsiteY4" fmla="*/ 9304 h 154826"/>
                <a:gd name="connsiteX5" fmla="*/ 90461 w 108407"/>
                <a:gd name="connsiteY5" fmla="*/ 13037 h 154826"/>
                <a:gd name="connsiteX6" fmla="*/ 89778 w 108407"/>
                <a:gd name="connsiteY6" fmla="*/ 17430 h 154826"/>
                <a:gd name="connsiteX7" fmla="*/ 76113 w 108407"/>
                <a:gd name="connsiteY7" fmla="*/ 69478 h 154826"/>
                <a:gd name="connsiteX8" fmla="*/ 55161 w 108407"/>
                <a:gd name="connsiteY8" fmla="*/ 55423 h 154826"/>
                <a:gd name="connsiteX9" fmla="*/ 274 w 108407"/>
                <a:gd name="connsiteY9" fmla="*/ 119769 h 154826"/>
                <a:gd name="connsiteX10" fmla="*/ 30564 w 108407"/>
                <a:gd name="connsiteY10" fmla="*/ 154907 h 154826"/>
                <a:gd name="connsiteX11" fmla="*/ 60171 w 108407"/>
                <a:gd name="connsiteY11" fmla="*/ 138436 h 154826"/>
                <a:gd name="connsiteX12" fmla="*/ 80896 w 108407"/>
                <a:gd name="connsiteY12" fmla="*/ 154907 h 154826"/>
                <a:gd name="connsiteX13" fmla="*/ 97749 w 108407"/>
                <a:gd name="connsiteY13" fmla="*/ 142828 h 154826"/>
                <a:gd name="connsiteX14" fmla="*/ 104582 w 108407"/>
                <a:gd name="connsiteY14" fmla="*/ 121087 h 154826"/>
                <a:gd name="connsiteX15" fmla="*/ 101849 w 108407"/>
                <a:gd name="connsiteY15" fmla="*/ 118890 h 154826"/>
                <a:gd name="connsiteX16" fmla="*/ 98660 w 108407"/>
                <a:gd name="connsiteY16" fmla="*/ 122843 h 154826"/>
                <a:gd name="connsiteX17" fmla="*/ 81351 w 108407"/>
                <a:gd name="connsiteY17" fmla="*/ 150075 h 154826"/>
                <a:gd name="connsiteX18" fmla="*/ 74519 w 108407"/>
                <a:gd name="connsiteY18" fmla="*/ 139973 h 154826"/>
                <a:gd name="connsiteX19" fmla="*/ 75886 w 108407"/>
                <a:gd name="connsiteY19" fmla="*/ 129432 h 154826"/>
                <a:gd name="connsiteX20" fmla="*/ 108681 w 108407"/>
                <a:gd name="connsiteY20" fmla="*/ 2496 h 154826"/>
                <a:gd name="connsiteX21" fmla="*/ 61310 w 108407"/>
                <a:gd name="connsiteY21" fmla="*/ 126357 h 154826"/>
                <a:gd name="connsiteX22" fmla="*/ 56755 w 108407"/>
                <a:gd name="connsiteY22" fmla="*/ 134483 h 154826"/>
                <a:gd name="connsiteX23" fmla="*/ 31020 w 108407"/>
                <a:gd name="connsiteY23" fmla="*/ 150075 h 154826"/>
                <a:gd name="connsiteX24" fmla="*/ 16444 w 108407"/>
                <a:gd name="connsiteY24" fmla="*/ 129432 h 154826"/>
                <a:gd name="connsiteX25" fmla="*/ 28970 w 108407"/>
                <a:gd name="connsiteY25" fmla="*/ 81337 h 154826"/>
                <a:gd name="connsiteX26" fmla="*/ 55388 w 108407"/>
                <a:gd name="connsiteY26" fmla="*/ 60254 h 154826"/>
                <a:gd name="connsiteX27" fmla="*/ 73380 w 108407"/>
                <a:gd name="connsiteY27" fmla="*/ 79580 h 154826"/>
                <a:gd name="connsiteX28" fmla="*/ 72697 w 108407"/>
                <a:gd name="connsiteY28" fmla="*/ 83313 h 154826"/>
                <a:gd name="connsiteX29" fmla="*/ 61310 w 108407"/>
                <a:gd name="connsiteY29" fmla="*/ 126357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681" y="2496"/>
                  </a:moveTo>
                  <a:cubicBezTo>
                    <a:pt x="108681" y="2276"/>
                    <a:pt x="108681" y="80"/>
                    <a:pt x="105720" y="80"/>
                  </a:cubicBezTo>
                  <a:cubicBezTo>
                    <a:pt x="102304" y="80"/>
                    <a:pt x="80668" y="2057"/>
                    <a:pt x="76797" y="2496"/>
                  </a:cubicBezTo>
                  <a:cubicBezTo>
                    <a:pt x="74975" y="2716"/>
                    <a:pt x="73608" y="3814"/>
                    <a:pt x="73608" y="6669"/>
                  </a:cubicBezTo>
                  <a:cubicBezTo>
                    <a:pt x="73608" y="9304"/>
                    <a:pt x="75658" y="9304"/>
                    <a:pt x="79074" y="9304"/>
                  </a:cubicBezTo>
                  <a:cubicBezTo>
                    <a:pt x="90006" y="9304"/>
                    <a:pt x="90461" y="10841"/>
                    <a:pt x="90461" y="13037"/>
                  </a:cubicBezTo>
                  <a:lnTo>
                    <a:pt x="89778" y="17430"/>
                  </a:lnTo>
                  <a:lnTo>
                    <a:pt x="76113" y="69478"/>
                  </a:lnTo>
                  <a:cubicBezTo>
                    <a:pt x="72014" y="61352"/>
                    <a:pt x="65409" y="55423"/>
                    <a:pt x="55161" y="55423"/>
                  </a:cubicBezTo>
                  <a:cubicBezTo>
                    <a:pt x="28514" y="55423"/>
                    <a:pt x="274" y="87706"/>
                    <a:pt x="274" y="119769"/>
                  </a:cubicBezTo>
                  <a:cubicBezTo>
                    <a:pt x="274" y="140412"/>
                    <a:pt x="12800" y="154907"/>
                    <a:pt x="30564" y="154907"/>
                  </a:cubicBezTo>
                  <a:cubicBezTo>
                    <a:pt x="35119" y="154907"/>
                    <a:pt x="46506" y="154028"/>
                    <a:pt x="60171" y="138436"/>
                  </a:cubicBezTo>
                  <a:cubicBezTo>
                    <a:pt x="61993" y="147660"/>
                    <a:pt x="69964" y="154907"/>
                    <a:pt x="80896" y="154907"/>
                  </a:cubicBezTo>
                  <a:cubicBezTo>
                    <a:pt x="88867" y="154907"/>
                    <a:pt x="94105" y="149856"/>
                    <a:pt x="97749" y="142828"/>
                  </a:cubicBezTo>
                  <a:cubicBezTo>
                    <a:pt x="101621" y="134922"/>
                    <a:pt x="104582" y="121526"/>
                    <a:pt x="104582" y="121087"/>
                  </a:cubicBezTo>
                  <a:cubicBezTo>
                    <a:pt x="104582" y="118890"/>
                    <a:pt x="102532" y="118890"/>
                    <a:pt x="101849" y="118890"/>
                  </a:cubicBezTo>
                  <a:cubicBezTo>
                    <a:pt x="99571" y="118890"/>
                    <a:pt x="99343" y="119769"/>
                    <a:pt x="98660" y="122843"/>
                  </a:cubicBezTo>
                  <a:cubicBezTo>
                    <a:pt x="94788" y="137118"/>
                    <a:pt x="90689" y="150075"/>
                    <a:pt x="81351" y="150075"/>
                  </a:cubicBezTo>
                  <a:cubicBezTo>
                    <a:pt x="75202" y="150075"/>
                    <a:pt x="74519" y="144365"/>
                    <a:pt x="74519" y="139973"/>
                  </a:cubicBezTo>
                  <a:cubicBezTo>
                    <a:pt x="74519" y="134703"/>
                    <a:pt x="74975" y="133165"/>
                    <a:pt x="75886" y="129432"/>
                  </a:cubicBezTo>
                  <a:lnTo>
                    <a:pt x="108681" y="2496"/>
                  </a:lnTo>
                  <a:close/>
                  <a:moveTo>
                    <a:pt x="61310" y="126357"/>
                  </a:moveTo>
                  <a:cubicBezTo>
                    <a:pt x="60171" y="130310"/>
                    <a:pt x="60171" y="130750"/>
                    <a:pt x="56755" y="134483"/>
                  </a:cubicBezTo>
                  <a:cubicBezTo>
                    <a:pt x="46734" y="146562"/>
                    <a:pt x="37396" y="150075"/>
                    <a:pt x="31020" y="150075"/>
                  </a:cubicBezTo>
                  <a:cubicBezTo>
                    <a:pt x="19632" y="150075"/>
                    <a:pt x="16444" y="137997"/>
                    <a:pt x="16444" y="129432"/>
                  </a:cubicBezTo>
                  <a:cubicBezTo>
                    <a:pt x="16444" y="118451"/>
                    <a:pt x="23732" y="91439"/>
                    <a:pt x="28970" y="81337"/>
                  </a:cubicBezTo>
                  <a:cubicBezTo>
                    <a:pt x="36030" y="68380"/>
                    <a:pt x="46279" y="60254"/>
                    <a:pt x="55388" y="60254"/>
                  </a:cubicBezTo>
                  <a:cubicBezTo>
                    <a:pt x="70192" y="60254"/>
                    <a:pt x="73380" y="78262"/>
                    <a:pt x="73380" y="79580"/>
                  </a:cubicBezTo>
                  <a:cubicBezTo>
                    <a:pt x="73380" y="80898"/>
                    <a:pt x="72925" y="82215"/>
                    <a:pt x="72697" y="83313"/>
                  </a:cubicBezTo>
                  <a:lnTo>
                    <a:pt x="61310" y="126357"/>
                  </a:lnTo>
                  <a:close/>
                </a:path>
              </a:pathLst>
            </a:custGeom>
            <a:solidFill>
              <a:srgbClr val="000000"/>
            </a:solidFill>
            <a:ln w="22833" cap="flat">
              <a:noFill/>
              <a:prstDash val="solid"/>
              <a:miter/>
            </a:ln>
          </p:spPr>
          <p:txBody>
            <a:bodyPr rtlCol="0" anchor="ctr"/>
            <a:lstStyle/>
            <a:p>
              <a:endParaRPr lang="zh-CN" altLang="en-US"/>
            </a:p>
          </p:txBody>
        </p:sp>
        <p:sp>
          <p:nvSpPr>
            <p:cNvPr id="41" name="任意形状 40">
              <a:extLst>
                <a:ext uri="{FF2B5EF4-FFF2-40B4-BE49-F238E27FC236}">
                  <a16:creationId xmlns:a16="http://schemas.microsoft.com/office/drawing/2014/main" id="{BFF79266-9C03-16E6-8CF9-E9F26FC0B3F5}"/>
                </a:ext>
              </a:extLst>
            </p:cNvPr>
            <p:cNvSpPr/>
            <p:nvPr>
              <p:custDataLst>
                <p:tags r:id="rId29"/>
              </p:custDataLst>
            </p:nvPr>
          </p:nvSpPr>
          <p:spPr>
            <a:xfrm>
              <a:off x="8932289" y="4144344"/>
              <a:ext cx="52837" cy="219612"/>
            </a:xfrm>
            <a:custGeom>
              <a:avLst/>
              <a:gdLst>
                <a:gd name="connsiteX0" fmla="*/ 53116 w 52837"/>
                <a:gd name="connsiteY0" fmla="*/ 109886 h 219612"/>
                <a:gd name="connsiteX1" fmla="*/ 38085 w 52837"/>
                <a:gd name="connsiteY1" fmla="*/ 41367 h 219612"/>
                <a:gd name="connsiteX2" fmla="*/ 2557 w 52837"/>
                <a:gd name="connsiteY2" fmla="*/ 80 h 219612"/>
                <a:gd name="connsiteX3" fmla="*/ 279 w 52837"/>
                <a:gd name="connsiteY3" fmla="*/ 2276 h 219612"/>
                <a:gd name="connsiteX4" fmla="*/ 4606 w 52837"/>
                <a:gd name="connsiteY4" fmla="*/ 7327 h 219612"/>
                <a:gd name="connsiteX5" fmla="*/ 39907 w 52837"/>
                <a:gd name="connsiteY5" fmla="*/ 109886 h 219612"/>
                <a:gd name="connsiteX6" fmla="*/ 3240 w 52837"/>
                <a:gd name="connsiteY6" fmla="*/ 213763 h 219612"/>
                <a:gd name="connsiteX7" fmla="*/ 279 w 52837"/>
                <a:gd name="connsiteY7" fmla="*/ 217496 h 219612"/>
                <a:gd name="connsiteX8" fmla="*/ 2557 w 52837"/>
                <a:gd name="connsiteY8" fmla="*/ 219692 h 219612"/>
                <a:gd name="connsiteX9" fmla="*/ 38768 w 52837"/>
                <a:gd name="connsiteY9" fmla="*/ 176868 h 219612"/>
                <a:gd name="connsiteX10" fmla="*/ 53116 w 52837"/>
                <a:gd name="connsiteY10" fmla="*/ 10988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116" y="109886"/>
                  </a:moveTo>
                  <a:cubicBezTo>
                    <a:pt x="53116" y="92757"/>
                    <a:pt x="50611" y="66184"/>
                    <a:pt x="38085" y="41367"/>
                  </a:cubicBezTo>
                  <a:cubicBezTo>
                    <a:pt x="24420" y="14355"/>
                    <a:pt x="4834" y="80"/>
                    <a:pt x="2557" y="80"/>
                  </a:cubicBezTo>
                  <a:cubicBezTo>
                    <a:pt x="1190" y="80"/>
                    <a:pt x="279" y="959"/>
                    <a:pt x="279" y="2276"/>
                  </a:cubicBezTo>
                  <a:cubicBezTo>
                    <a:pt x="279" y="2935"/>
                    <a:pt x="279" y="3374"/>
                    <a:pt x="4606" y="7327"/>
                  </a:cubicBezTo>
                  <a:cubicBezTo>
                    <a:pt x="26925" y="29069"/>
                    <a:pt x="39907" y="63987"/>
                    <a:pt x="39907" y="109886"/>
                  </a:cubicBezTo>
                  <a:cubicBezTo>
                    <a:pt x="39907" y="147440"/>
                    <a:pt x="31480" y="186092"/>
                    <a:pt x="3240" y="213763"/>
                  </a:cubicBezTo>
                  <a:cubicBezTo>
                    <a:pt x="279" y="216398"/>
                    <a:pt x="279" y="216837"/>
                    <a:pt x="279" y="217496"/>
                  </a:cubicBezTo>
                  <a:cubicBezTo>
                    <a:pt x="279" y="218814"/>
                    <a:pt x="1190" y="219692"/>
                    <a:pt x="2557" y="219692"/>
                  </a:cubicBezTo>
                  <a:cubicBezTo>
                    <a:pt x="4834" y="219692"/>
                    <a:pt x="25331" y="204759"/>
                    <a:pt x="38768" y="176868"/>
                  </a:cubicBezTo>
                  <a:cubicBezTo>
                    <a:pt x="50383" y="152711"/>
                    <a:pt x="53116" y="128334"/>
                    <a:pt x="53116" y="109886"/>
                  </a:cubicBezTo>
                  <a:close/>
                </a:path>
              </a:pathLst>
            </a:custGeom>
            <a:solidFill>
              <a:srgbClr val="000000"/>
            </a:solidFill>
            <a:ln w="22833" cap="flat">
              <a:noFill/>
              <a:prstDash val="solid"/>
              <a:miter/>
            </a:ln>
          </p:spPr>
          <p:txBody>
            <a:bodyPr rtlCol="0" anchor="ctr"/>
            <a:lstStyle/>
            <a:p>
              <a:endParaRPr lang="zh-CN" altLang="en-US"/>
            </a:p>
          </p:txBody>
        </p:sp>
        <p:sp>
          <p:nvSpPr>
            <p:cNvPr id="42" name="任意形状 41">
              <a:extLst>
                <a:ext uri="{FF2B5EF4-FFF2-40B4-BE49-F238E27FC236}">
                  <a16:creationId xmlns:a16="http://schemas.microsoft.com/office/drawing/2014/main" id="{579E9C47-C15C-E09A-F082-8BF9D15F8AA2}"/>
                </a:ext>
              </a:extLst>
            </p:cNvPr>
            <p:cNvSpPr/>
            <p:nvPr>
              <p:custDataLst>
                <p:tags r:id="rId30"/>
              </p:custDataLst>
            </p:nvPr>
          </p:nvSpPr>
          <p:spPr>
            <a:xfrm>
              <a:off x="9083891" y="4228455"/>
              <a:ext cx="151451" cy="51389"/>
            </a:xfrm>
            <a:custGeom>
              <a:avLst/>
              <a:gdLst>
                <a:gd name="connsiteX0" fmla="*/ 143993 w 151451"/>
                <a:gd name="connsiteY0" fmla="*/ 8865 h 51389"/>
                <a:gd name="connsiteX1" fmla="*/ 151737 w 151451"/>
                <a:gd name="connsiteY1" fmla="*/ 4473 h 51389"/>
                <a:gd name="connsiteX2" fmla="*/ 144221 w 151451"/>
                <a:gd name="connsiteY2" fmla="*/ 80 h 51389"/>
                <a:gd name="connsiteX3" fmla="*/ 7801 w 151451"/>
                <a:gd name="connsiteY3" fmla="*/ 80 h 51389"/>
                <a:gd name="connsiteX4" fmla="*/ 286 w 151451"/>
                <a:gd name="connsiteY4" fmla="*/ 4473 h 51389"/>
                <a:gd name="connsiteX5" fmla="*/ 8029 w 151451"/>
                <a:gd name="connsiteY5" fmla="*/ 8865 h 51389"/>
                <a:gd name="connsiteX6" fmla="*/ 143993 w 151451"/>
                <a:gd name="connsiteY6" fmla="*/ 8865 h 51389"/>
                <a:gd name="connsiteX7" fmla="*/ 144221 w 151451"/>
                <a:gd name="connsiteY7" fmla="*/ 51470 h 51389"/>
                <a:gd name="connsiteX8" fmla="*/ 151737 w 151451"/>
                <a:gd name="connsiteY8" fmla="*/ 47077 h 51389"/>
                <a:gd name="connsiteX9" fmla="*/ 143993 w 151451"/>
                <a:gd name="connsiteY9" fmla="*/ 42685 h 51389"/>
                <a:gd name="connsiteX10" fmla="*/ 8029 w 151451"/>
                <a:gd name="connsiteY10" fmla="*/ 42685 h 51389"/>
                <a:gd name="connsiteX11" fmla="*/ 286 w 151451"/>
                <a:gd name="connsiteY11" fmla="*/ 47077 h 51389"/>
                <a:gd name="connsiteX12" fmla="*/ 7801 w 151451"/>
                <a:gd name="connsiteY12" fmla="*/ 51470 h 51389"/>
                <a:gd name="connsiteX13" fmla="*/ 144221 w 151451"/>
                <a:gd name="connsiteY13" fmla="*/ 51470 h 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51" h="51389">
                  <a:moveTo>
                    <a:pt x="143993" y="8865"/>
                  </a:moveTo>
                  <a:cubicBezTo>
                    <a:pt x="147410" y="8865"/>
                    <a:pt x="151737" y="8865"/>
                    <a:pt x="151737" y="4473"/>
                  </a:cubicBezTo>
                  <a:cubicBezTo>
                    <a:pt x="151737" y="80"/>
                    <a:pt x="147410" y="80"/>
                    <a:pt x="144221" y="80"/>
                  </a:cubicBezTo>
                  <a:lnTo>
                    <a:pt x="7801" y="80"/>
                  </a:lnTo>
                  <a:cubicBezTo>
                    <a:pt x="4613" y="80"/>
                    <a:pt x="286" y="80"/>
                    <a:pt x="286" y="4473"/>
                  </a:cubicBezTo>
                  <a:cubicBezTo>
                    <a:pt x="286" y="8865"/>
                    <a:pt x="4613" y="8865"/>
                    <a:pt x="8029" y="8865"/>
                  </a:cubicBezTo>
                  <a:lnTo>
                    <a:pt x="143993" y="8865"/>
                  </a:lnTo>
                  <a:close/>
                  <a:moveTo>
                    <a:pt x="144221" y="51470"/>
                  </a:moveTo>
                  <a:cubicBezTo>
                    <a:pt x="147410" y="51470"/>
                    <a:pt x="151737" y="51470"/>
                    <a:pt x="151737" y="47077"/>
                  </a:cubicBezTo>
                  <a:cubicBezTo>
                    <a:pt x="151737" y="42685"/>
                    <a:pt x="147410" y="42685"/>
                    <a:pt x="143993" y="42685"/>
                  </a:cubicBezTo>
                  <a:lnTo>
                    <a:pt x="8029" y="42685"/>
                  </a:lnTo>
                  <a:cubicBezTo>
                    <a:pt x="4613" y="42685"/>
                    <a:pt x="286" y="42685"/>
                    <a:pt x="286" y="47077"/>
                  </a:cubicBezTo>
                  <a:cubicBezTo>
                    <a:pt x="286" y="51470"/>
                    <a:pt x="4613" y="51470"/>
                    <a:pt x="7801" y="51470"/>
                  </a:cubicBezTo>
                  <a:lnTo>
                    <a:pt x="144221" y="51470"/>
                  </a:lnTo>
                  <a:close/>
                </a:path>
              </a:pathLst>
            </a:custGeom>
            <a:solidFill>
              <a:srgbClr val="000000"/>
            </a:solidFill>
            <a:ln w="22833" cap="flat">
              <a:noFill/>
              <a:prstDash val="solid"/>
              <a:miter/>
            </a:ln>
          </p:spPr>
          <p:txBody>
            <a:bodyPr rtlCol="0" anchor="ctr"/>
            <a:lstStyle/>
            <a:p>
              <a:endParaRPr lang="zh-CN" altLang="en-US"/>
            </a:p>
          </p:txBody>
        </p:sp>
        <p:sp>
          <p:nvSpPr>
            <p:cNvPr id="43" name="任意形状 42">
              <a:extLst>
                <a:ext uri="{FF2B5EF4-FFF2-40B4-BE49-F238E27FC236}">
                  <a16:creationId xmlns:a16="http://schemas.microsoft.com/office/drawing/2014/main" id="{051A23DA-E083-7DD2-07DD-B5A966FDE934}"/>
                </a:ext>
              </a:extLst>
            </p:cNvPr>
            <p:cNvSpPr/>
            <p:nvPr>
              <p:custDataLst>
                <p:tags r:id="rId31"/>
              </p:custDataLst>
            </p:nvPr>
          </p:nvSpPr>
          <p:spPr>
            <a:xfrm>
              <a:off x="9320417" y="4162791"/>
              <a:ext cx="95881" cy="151093"/>
            </a:xfrm>
            <a:custGeom>
              <a:avLst/>
              <a:gdLst>
                <a:gd name="connsiteX0" fmla="*/ 96177 w 95881"/>
                <a:gd name="connsiteY0" fmla="*/ 76066 h 151093"/>
                <a:gd name="connsiteX1" fmla="*/ 87067 w 95881"/>
                <a:gd name="connsiteY1" fmla="*/ 24677 h 151093"/>
                <a:gd name="connsiteX2" fmla="*/ 48351 w 95881"/>
                <a:gd name="connsiteY2" fmla="*/ 80 h 151093"/>
                <a:gd name="connsiteX3" fmla="*/ 8723 w 95881"/>
                <a:gd name="connsiteY3" fmla="*/ 26214 h 151093"/>
                <a:gd name="connsiteX4" fmla="*/ 296 w 95881"/>
                <a:gd name="connsiteY4" fmla="*/ 76066 h 151093"/>
                <a:gd name="connsiteX5" fmla="*/ 10545 w 95881"/>
                <a:gd name="connsiteY5" fmla="*/ 128993 h 151093"/>
                <a:gd name="connsiteX6" fmla="*/ 48123 w 95881"/>
                <a:gd name="connsiteY6" fmla="*/ 151173 h 151093"/>
                <a:gd name="connsiteX7" fmla="*/ 87751 w 95881"/>
                <a:gd name="connsiteY7" fmla="*/ 125698 h 151093"/>
                <a:gd name="connsiteX8" fmla="*/ 96177 w 95881"/>
                <a:gd name="connsiteY8" fmla="*/ 76066 h 151093"/>
                <a:gd name="connsiteX9" fmla="*/ 48123 w 95881"/>
                <a:gd name="connsiteY9" fmla="*/ 146342 h 151093"/>
                <a:gd name="connsiteX10" fmla="*/ 21704 w 95881"/>
                <a:gd name="connsiteY10" fmla="*/ 119769 h 151093"/>
                <a:gd name="connsiteX11" fmla="*/ 19199 w 95881"/>
                <a:gd name="connsiteY11" fmla="*/ 73431 h 151093"/>
                <a:gd name="connsiteX12" fmla="*/ 21021 w 95881"/>
                <a:gd name="connsiteY12" fmla="*/ 33022 h 151093"/>
                <a:gd name="connsiteX13" fmla="*/ 48123 w 95881"/>
                <a:gd name="connsiteY13" fmla="*/ 4912 h 151093"/>
                <a:gd name="connsiteX14" fmla="*/ 74997 w 95881"/>
                <a:gd name="connsiteY14" fmla="*/ 30606 h 151093"/>
                <a:gd name="connsiteX15" fmla="*/ 77274 w 95881"/>
                <a:gd name="connsiteY15" fmla="*/ 73431 h 151093"/>
                <a:gd name="connsiteX16" fmla="*/ 74769 w 95881"/>
                <a:gd name="connsiteY16" fmla="*/ 118890 h 151093"/>
                <a:gd name="connsiteX17" fmla="*/ 48123 w 95881"/>
                <a:gd name="connsiteY17" fmla="*/ 146342 h 151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5881" h="151093">
                  <a:moveTo>
                    <a:pt x="96177" y="76066"/>
                  </a:moveTo>
                  <a:cubicBezTo>
                    <a:pt x="96177" y="58497"/>
                    <a:pt x="95039" y="40928"/>
                    <a:pt x="87067" y="24677"/>
                  </a:cubicBezTo>
                  <a:cubicBezTo>
                    <a:pt x="76591" y="3594"/>
                    <a:pt x="57916" y="80"/>
                    <a:pt x="48351" y="80"/>
                  </a:cubicBezTo>
                  <a:cubicBezTo>
                    <a:pt x="34686" y="80"/>
                    <a:pt x="18060" y="5790"/>
                    <a:pt x="8723" y="26214"/>
                  </a:cubicBezTo>
                  <a:cubicBezTo>
                    <a:pt x="1435" y="41367"/>
                    <a:pt x="296" y="58497"/>
                    <a:pt x="296" y="76066"/>
                  </a:cubicBezTo>
                  <a:cubicBezTo>
                    <a:pt x="296" y="92537"/>
                    <a:pt x="1207" y="112302"/>
                    <a:pt x="10545" y="128993"/>
                  </a:cubicBezTo>
                  <a:cubicBezTo>
                    <a:pt x="20338" y="146781"/>
                    <a:pt x="36963" y="151173"/>
                    <a:pt x="48123" y="151173"/>
                  </a:cubicBezTo>
                  <a:cubicBezTo>
                    <a:pt x="60421" y="151173"/>
                    <a:pt x="77730" y="146562"/>
                    <a:pt x="87751" y="125698"/>
                  </a:cubicBezTo>
                  <a:cubicBezTo>
                    <a:pt x="95039" y="110545"/>
                    <a:pt x="96177" y="93415"/>
                    <a:pt x="96177" y="76066"/>
                  </a:cubicBezTo>
                  <a:close/>
                  <a:moveTo>
                    <a:pt x="48123" y="146342"/>
                  </a:moveTo>
                  <a:cubicBezTo>
                    <a:pt x="39241" y="146342"/>
                    <a:pt x="25804" y="140852"/>
                    <a:pt x="21704" y="119769"/>
                  </a:cubicBezTo>
                  <a:cubicBezTo>
                    <a:pt x="19199" y="106592"/>
                    <a:pt x="19199" y="86388"/>
                    <a:pt x="19199" y="73431"/>
                  </a:cubicBezTo>
                  <a:cubicBezTo>
                    <a:pt x="19199" y="59376"/>
                    <a:pt x="19199" y="44881"/>
                    <a:pt x="21021" y="33022"/>
                  </a:cubicBezTo>
                  <a:cubicBezTo>
                    <a:pt x="25348" y="6888"/>
                    <a:pt x="42429" y="4912"/>
                    <a:pt x="48123" y="4912"/>
                  </a:cubicBezTo>
                  <a:cubicBezTo>
                    <a:pt x="55638" y="4912"/>
                    <a:pt x="70670" y="8865"/>
                    <a:pt x="74997" y="30606"/>
                  </a:cubicBezTo>
                  <a:cubicBezTo>
                    <a:pt x="77274" y="42905"/>
                    <a:pt x="77274" y="59595"/>
                    <a:pt x="77274" y="73431"/>
                  </a:cubicBezTo>
                  <a:cubicBezTo>
                    <a:pt x="77274" y="89902"/>
                    <a:pt x="77274" y="104835"/>
                    <a:pt x="74769" y="118890"/>
                  </a:cubicBezTo>
                  <a:cubicBezTo>
                    <a:pt x="71353" y="139754"/>
                    <a:pt x="58371" y="146342"/>
                    <a:pt x="48123" y="146342"/>
                  </a:cubicBezTo>
                  <a:close/>
                </a:path>
              </a:pathLst>
            </a:custGeom>
            <a:solidFill>
              <a:srgbClr val="000000"/>
            </a:solidFill>
            <a:ln w="22833" cap="flat">
              <a:noFill/>
              <a:prstDash val="solid"/>
              <a:miter/>
            </a:ln>
          </p:spPr>
          <p:txBody>
            <a:bodyPr rtlCol="0" anchor="ctr"/>
            <a:lstStyle/>
            <a:p>
              <a:endParaRPr lang="zh-CN" altLang="en-US"/>
            </a:p>
          </p:txBody>
        </p:sp>
        <p:sp>
          <p:nvSpPr>
            <p:cNvPr id="44" name="任意形状 43">
              <a:extLst>
                <a:ext uri="{FF2B5EF4-FFF2-40B4-BE49-F238E27FC236}">
                  <a16:creationId xmlns:a16="http://schemas.microsoft.com/office/drawing/2014/main" id="{8E7E69E5-1C91-CB29-05AE-997438B1ED45}"/>
                </a:ext>
              </a:extLst>
            </p:cNvPr>
            <p:cNvSpPr/>
            <p:nvPr>
              <p:custDataLst>
                <p:tags r:id="rId32"/>
              </p:custDataLst>
            </p:nvPr>
          </p:nvSpPr>
          <p:spPr>
            <a:xfrm>
              <a:off x="9444994" y="4285774"/>
              <a:ext cx="24141" cy="23278"/>
            </a:xfrm>
            <a:custGeom>
              <a:avLst/>
              <a:gdLst>
                <a:gd name="connsiteX0" fmla="*/ 24442 w 24141"/>
                <a:gd name="connsiteY0" fmla="*/ 11720 h 23278"/>
                <a:gd name="connsiteX1" fmla="*/ 12372 w 24141"/>
                <a:gd name="connsiteY1" fmla="*/ 80 h 23278"/>
                <a:gd name="connsiteX2" fmla="*/ 301 w 24141"/>
                <a:gd name="connsiteY2" fmla="*/ 11720 h 23278"/>
                <a:gd name="connsiteX3" fmla="*/ 12372 w 24141"/>
                <a:gd name="connsiteY3" fmla="*/ 23359 h 23278"/>
                <a:gd name="connsiteX4" fmla="*/ 24442 w 24141"/>
                <a:gd name="connsiteY4" fmla="*/ 11720 h 232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141" h="23278">
                  <a:moveTo>
                    <a:pt x="24442" y="11720"/>
                  </a:moveTo>
                  <a:cubicBezTo>
                    <a:pt x="24442" y="5351"/>
                    <a:pt x="18976" y="80"/>
                    <a:pt x="12372" y="80"/>
                  </a:cubicBezTo>
                  <a:cubicBezTo>
                    <a:pt x="5767" y="80"/>
                    <a:pt x="301" y="5351"/>
                    <a:pt x="301" y="11720"/>
                  </a:cubicBezTo>
                  <a:cubicBezTo>
                    <a:pt x="301" y="18088"/>
                    <a:pt x="5767" y="23359"/>
                    <a:pt x="12372" y="23359"/>
                  </a:cubicBezTo>
                  <a:cubicBezTo>
                    <a:pt x="18976" y="23359"/>
                    <a:pt x="24442" y="18088"/>
                    <a:pt x="24442" y="11720"/>
                  </a:cubicBezTo>
                  <a:close/>
                </a:path>
              </a:pathLst>
            </a:custGeom>
            <a:solidFill>
              <a:srgbClr val="000000"/>
            </a:solidFill>
            <a:ln w="22833" cap="flat">
              <a:noFill/>
              <a:prstDash val="solid"/>
              <a:miter/>
            </a:ln>
          </p:spPr>
          <p:txBody>
            <a:bodyPr rtlCol="0" anchor="ctr"/>
            <a:lstStyle/>
            <a:p>
              <a:endParaRPr lang="zh-CN" altLang="en-US"/>
            </a:p>
          </p:txBody>
        </p:sp>
      </p:grpSp>
    </p:spTree>
    <p:extLst>
      <p:ext uri="{BB962C8B-B14F-4D97-AF65-F5344CB8AC3E}">
        <p14:creationId xmlns:p14="http://schemas.microsoft.com/office/powerpoint/2010/main" val="3009717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0421C-7A4E-1820-959E-6A7F0B2204A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F133731-ABC4-C91C-B877-0483F1755501}"/>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理解高斯环带定理</a:t>
            </a:r>
          </a:p>
        </p:txBody>
      </p:sp>
      <p:sp>
        <p:nvSpPr>
          <p:cNvPr id="8" name="文本框 7">
            <a:extLst>
              <a:ext uri="{FF2B5EF4-FFF2-40B4-BE49-F238E27FC236}">
                <a16:creationId xmlns:a16="http://schemas.microsoft.com/office/drawing/2014/main" id="{195F2C9A-58D7-0A3E-5205-974361F52DA3}"/>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pic>
        <p:nvPicPr>
          <p:cNvPr id="12" name="图片 11">
            <a:extLst>
              <a:ext uri="{FF2B5EF4-FFF2-40B4-BE49-F238E27FC236}">
                <a16:creationId xmlns:a16="http://schemas.microsoft.com/office/drawing/2014/main" id="{12964920-955A-0155-879D-7D8D09E3F370}"/>
              </a:ext>
            </a:extLst>
          </p:cNvPr>
          <p:cNvPicPr>
            <a:picLocks noChangeAspect="1"/>
          </p:cNvPicPr>
          <p:nvPr/>
        </p:nvPicPr>
        <p:blipFill>
          <a:blip r:embed="rId2"/>
          <a:stretch>
            <a:fillRect/>
          </a:stretch>
        </p:blipFill>
        <p:spPr>
          <a:xfrm>
            <a:off x="8743921" y="841337"/>
            <a:ext cx="3459802" cy="898402"/>
          </a:xfrm>
          <a:prstGeom prst="rect">
            <a:avLst/>
          </a:prstGeom>
        </p:spPr>
      </p:pic>
      <p:pic>
        <p:nvPicPr>
          <p:cNvPr id="13" name="图片 12">
            <a:extLst>
              <a:ext uri="{FF2B5EF4-FFF2-40B4-BE49-F238E27FC236}">
                <a16:creationId xmlns:a16="http://schemas.microsoft.com/office/drawing/2014/main" id="{9B4112BC-47DA-7D2C-5B9E-52729F537F84}"/>
              </a:ext>
            </a:extLst>
          </p:cNvPr>
          <p:cNvPicPr>
            <a:picLocks noChangeAspect="1"/>
          </p:cNvPicPr>
          <p:nvPr/>
        </p:nvPicPr>
        <p:blipFill>
          <a:blip r:embed="rId3"/>
          <a:stretch>
            <a:fillRect/>
          </a:stretch>
        </p:blipFill>
        <p:spPr>
          <a:xfrm>
            <a:off x="8604212" y="1819097"/>
            <a:ext cx="3553061" cy="273422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209E88BC-362B-AFCB-4DBA-599C581F57BC}"/>
                  </a:ext>
                </a:extLst>
              </p:cNvPr>
              <p:cNvSpPr txBox="1"/>
              <p:nvPr/>
            </p:nvSpPr>
            <p:spPr>
              <a:xfrm>
                <a:off x="259353" y="946418"/>
                <a:ext cx="8813467" cy="5146345"/>
              </a:xfrm>
              <a:prstGeom prst="rect">
                <a:avLst/>
              </a:prstGeom>
              <a:noFill/>
            </p:spPr>
            <p:txBody>
              <a:bodyPr wrap="square">
                <a:spAutoFit/>
              </a:bodyPr>
              <a:lstStyle/>
              <a:p>
                <a:pPr marL="285750" indent="-285750">
                  <a:lnSpc>
                    <a:spcPct val="150000"/>
                  </a:lnSpc>
                  <a:buFont typeface="Wingdings" pitchFamily="2" charset="2"/>
                  <a:buChar char="Ø"/>
                </a:pPr>
                <a:r>
                  <a:rPr kumimoji="1" lang="zh-CN" altLang="en-US" sz="2400" b="1" dirty="0">
                    <a:solidFill>
                      <a:srgbClr val="000000"/>
                    </a:solidFill>
                    <a:latin typeface="Microsoft YaHei" panose="020B0503020204020204" pitchFamily="34" charset="-122"/>
                    <a:ea typeface="Microsoft YaHei" panose="020B0503020204020204" pitchFamily="34" charset="-122"/>
                  </a:rPr>
                  <a:t>折中效果：</a:t>
                </a:r>
                <a:r>
                  <a:rPr kumimoji="1" lang="zh-CN" altLang="en-US" sz="2400" dirty="0">
                    <a:solidFill>
                      <a:srgbClr val="000000"/>
                    </a:solidFill>
                    <a:latin typeface="Microsoft YaHei" panose="020B0503020204020204" pitchFamily="34" charset="-122"/>
                    <a:ea typeface="Microsoft YaHei" panose="020B0503020204020204" pitchFamily="34" charset="-122"/>
                  </a:rPr>
                  <a:t>虽然概率密度 </a:t>
                </a:r>
                <a:r>
                  <a:rPr kumimoji="1" lang="en-US" altLang="zh-CN" sz="2400" dirty="0">
                    <a:solidFill>
                      <a:srgbClr val="000000"/>
                    </a:solidFill>
                    <a:latin typeface="Microsoft YaHei" panose="020B0503020204020204" pitchFamily="34" charset="-122"/>
                    <a:ea typeface="Microsoft YaHei" panose="020B0503020204020204" pitchFamily="34" charset="-122"/>
                  </a:rPr>
                  <a:t>p(x) </a:t>
                </a:r>
                <a:r>
                  <a:rPr kumimoji="1" lang="zh-CN" altLang="en-US" sz="2400" dirty="0">
                    <a:solidFill>
                      <a:srgbClr val="000000"/>
                    </a:solidFill>
                    <a:latin typeface="Microsoft YaHei" panose="020B0503020204020204" pitchFamily="34" charset="-122"/>
                    <a:ea typeface="Microsoft YaHei" panose="020B0503020204020204" pitchFamily="34" charset="-122"/>
                  </a:rPr>
                  <a:t>随 </a:t>
                </a:r>
                <a:r>
                  <a:rPr kumimoji="1" lang="en-US"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增大而快速衰减，但球壳的体积增长会抵消这种衰减，从而概率质量集中在某个特定的 </a:t>
                </a:r>
                <a:r>
                  <a:rPr kumimoji="1" lang="en-US"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附近。</a:t>
                </a:r>
                <a:r>
                  <a:rPr kumimoji="1" lang="en-US" altLang="zh-CN" sz="2400" b="1" dirty="0">
                    <a:solidFill>
                      <a:srgbClr val="B61516"/>
                    </a:solidFill>
                    <a:latin typeface="Microsoft YaHei" panose="020B0503020204020204" pitchFamily="34" charset="-122"/>
                    <a:ea typeface="Microsoft YaHei" panose="020B0503020204020204" pitchFamily="34" charset="-122"/>
                  </a:rPr>
                  <a:t> </a:t>
                </a:r>
              </a:p>
              <a:p>
                <a:pPr marL="285750" indent="-285750">
                  <a:lnSpc>
                    <a:spcPct val="150000"/>
                  </a:lnSpc>
                  <a:buFont typeface="Wingdings" pitchFamily="2" charset="2"/>
                  <a:buChar char="Ø"/>
                </a:pPr>
                <a:r>
                  <a:rPr kumimoji="1" lang="zh-CN" altLang="en-US" sz="2400" b="1" dirty="0">
                    <a:solidFill>
                      <a:srgbClr val="000000"/>
                    </a:solidFill>
                    <a:latin typeface="Microsoft YaHei" panose="020B0503020204020204" pitchFamily="34" charset="-122"/>
                    <a:ea typeface="Microsoft YaHei" panose="020B0503020204020204" pitchFamily="34" charset="-122"/>
                  </a:rPr>
                  <a:t>具体计算：</a:t>
                </a:r>
                <a:endParaRPr kumimoji="1" lang="en-US"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400" b="1" dirty="0">
                    <a:solidFill>
                      <a:srgbClr val="B61516"/>
                    </a:solidFill>
                    <a:latin typeface="Microsoft YaHei" panose="020B0503020204020204" pitchFamily="34" charset="-122"/>
                    <a:ea typeface="Microsoft YaHei" panose="020B0503020204020204" pitchFamily="34" charset="-122"/>
                  </a:rPr>
                  <a:t>概率质量</a:t>
                </a:r>
                <a:r>
                  <a:rPr kumimoji="1" lang="en-US" altLang="zh-CN" sz="2400" b="1" dirty="0">
                    <a:solidFill>
                      <a:srgbClr val="B61516"/>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1" i="1" smtClean="0">
                        <a:solidFill>
                          <a:srgbClr val="B61516"/>
                        </a:solidFill>
                        <a:latin typeface="Cambria Math" panose="02040503050406030204" pitchFamily="18" charset="0"/>
                        <a:ea typeface="Microsoft YaHei" panose="020B0503020204020204" pitchFamily="34" charset="-122"/>
                      </a:rPr>
                      <m:t>𝑭</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0" smtClean="0">
                        <a:solidFill>
                          <a:srgbClr val="B61516"/>
                        </a:solidFill>
                        <a:latin typeface="Cambria Math" panose="02040503050406030204" pitchFamily="18" charset="0"/>
                        <a:ea typeface="Microsoft YaHei" panose="020B0503020204020204" pitchFamily="34" charset="-122"/>
                      </a:rPr>
                      <m:t>𝐞𝐱𝐩</m:t>
                    </m:r>
                    <m:d>
                      <m:d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dPr>
                      <m:e>
                        <m:r>
                          <a:rPr kumimoji="1" lang="en-US" altLang="zh-CN" sz="2400" b="1" i="1" smtClean="0">
                            <a:solidFill>
                              <a:srgbClr val="B61516"/>
                            </a:solidFill>
                            <a:latin typeface="Cambria Math" panose="02040503050406030204" pitchFamily="18" charset="0"/>
                            <a:ea typeface="Microsoft YaHei" panose="020B0503020204020204" pitchFamily="34" charset="-122"/>
                          </a:rPr>
                          <m:t>−</m:t>
                        </m:r>
                        <m:f>
                          <m:f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fPr>
                          <m:num>
                            <m:sSup>
                              <m:sSup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sSupPr>
                              <m:e>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e>
                              <m:sup>
                                <m:r>
                                  <a:rPr kumimoji="1" lang="en-US" altLang="zh-CN" sz="2400" b="1" i="1" smtClean="0">
                                    <a:solidFill>
                                      <a:srgbClr val="B61516"/>
                                    </a:solidFill>
                                    <a:latin typeface="Cambria Math" panose="02040503050406030204" pitchFamily="18" charset="0"/>
                                    <a:ea typeface="Microsoft YaHei" panose="020B0503020204020204" pitchFamily="34" charset="-122"/>
                                  </a:rPr>
                                  <m:t>𝟐</m:t>
                                </m:r>
                              </m:sup>
                            </m:sSup>
                          </m:num>
                          <m:den>
                            <m:r>
                              <a:rPr kumimoji="1" lang="en-US" altLang="zh-CN" sz="2400" b="1" i="1" smtClean="0">
                                <a:solidFill>
                                  <a:srgbClr val="B61516"/>
                                </a:solidFill>
                                <a:latin typeface="Cambria Math" panose="02040503050406030204" pitchFamily="18" charset="0"/>
                                <a:ea typeface="Microsoft YaHei" panose="020B0503020204020204" pitchFamily="34" charset="-122"/>
                              </a:rPr>
                              <m:t>𝟐</m:t>
                            </m:r>
                          </m:den>
                        </m:f>
                      </m:e>
                    </m:d>
                    <m:sSup>
                      <m:sSup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sSupPr>
                      <m:e>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e>
                      <m:sup>
                        <m:r>
                          <a:rPr kumimoji="1" lang="en-US" altLang="zh-CN" sz="2400" b="1" i="1" smtClean="0">
                            <a:solidFill>
                              <a:srgbClr val="B61516"/>
                            </a:solidFill>
                            <a:latin typeface="Cambria Math" panose="02040503050406030204" pitchFamily="18" charset="0"/>
                            <a:ea typeface="Microsoft YaHei" panose="020B0503020204020204" pitchFamily="34" charset="-122"/>
                          </a:rPr>
                          <m:t>𝒅</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𝟏</m:t>
                        </m:r>
                      </m:sup>
                    </m:sSup>
                  </m:oMath>
                </a14:m>
                <a:r>
                  <a:rPr kumimoji="1" lang="en-US" altLang="zh-CN" sz="2400" b="1" dirty="0">
                    <a:solidFill>
                      <a:srgbClr val="B61516"/>
                    </a:solidFill>
                    <a:latin typeface="Microsoft YaHei" panose="020B0503020204020204" pitchFamily="34" charset="-122"/>
                    <a:ea typeface="Microsoft YaHei" panose="020B0503020204020204" pitchFamily="34" charset="-122"/>
                  </a:rPr>
                  <a:t> </a:t>
                </a:r>
                <a:endParaRPr kumimoji="1" lang="en"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400" dirty="0">
                    <a:solidFill>
                      <a:srgbClr val="000000"/>
                    </a:solidFill>
                    <a:latin typeface="Microsoft YaHei" panose="020B0503020204020204" pitchFamily="34" charset="-122"/>
                    <a:ea typeface="Microsoft YaHei" panose="020B0503020204020204" pitchFamily="34" charset="-122"/>
                  </a:rPr>
                  <a:t>为了找到概率质量的集中位置，取对数并对 </a:t>
                </a:r>
                <a:r>
                  <a:rPr kumimoji="1" lang="en"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求导：</a:t>
                </a:r>
                <a14:m>
                  <m:oMath xmlns:m="http://schemas.openxmlformats.org/officeDocument/2006/math">
                    <m:r>
                      <m:rPr>
                        <m:sty m:val="p"/>
                      </m:rPr>
                      <a:rPr kumimoji="1" lang="en-US" altLang="zh-CN" sz="2400" b="0" i="1" smtClean="0">
                        <a:solidFill>
                          <a:srgbClr val="000000"/>
                        </a:solidFill>
                        <a:latin typeface="Cambria Math" panose="02040503050406030204" pitchFamily="18" charset="0"/>
                        <a:ea typeface="Microsoft YaHei" panose="020B0503020204020204" pitchFamily="34" charset="-122"/>
                      </a:rPr>
                      <m:t>ln</m:t>
                    </m:r>
                    <m:r>
                      <a:rPr kumimoji="1" lang="en-US" altLang="zh-CN" sz="2400" b="0" i="1" smtClean="0">
                        <a:solidFill>
                          <a:srgbClr val="000000"/>
                        </a:solidFill>
                        <a:latin typeface="Cambria Math" panose="02040503050406030204" pitchFamily="18" charset="0"/>
                        <a:ea typeface="Microsoft YaHei" panose="020B0503020204020204" pitchFamily="34" charset="-122"/>
                      </a:rPr>
                      <m:t>𝐹</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d>
                    <m:r>
                      <a:rPr kumimoji="1" lang="en-US" altLang="zh-CN" sz="2400" b="0" i="1" smtClean="0">
                        <a:solidFill>
                          <a:srgbClr val="000000"/>
                        </a:solidFill>
                        <a:latin typeface="Cambria Math" panose="02040503050406030204" pitchFamily="18" charset="0"/>
                        <a:ea typeface="Microsoft YaHei" panose="020B0503020204020204" pitchFamily="34" charset="-122"/>
                      </a:rPr>
                      <m:t>= −</m:t>
                    </m:r>
                    <m:f>
                      <m:f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fPr>
                      <m:num>
                        <m:sSup>
                          <m:sSup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sup>
                            <m:r>
                              <a:rPr kumimoji="1" lang="en-US" altLang="zh-CN" sz="2400" b="0" i="1" smtClean="0">
                                <a:solidFill>
                                  <a:srgbClr val="000000"/>
                                </a:solidFill>
                                <a:latin typeface="Cambria Math" panose="02040503050406030204" pitchFamily="18" charset="0"/>
                                <a:ea typeface="Microsoft YaHei" panose="020B0503020204020204" pitchFamily="34" charset="-122"/>
                              </a:rPr>
                              <m:t>2</m:t>
                            </m:r>
                          </m:sup>
                        </m:sSup>
                      </m:num>
                      <m:den>
                        <m:r>
                          <a:rPr kumimoji="1" lang="en-US" altLang="zh-CN" sz="2400" b="0" i="1" smtClean="0">
                            <a:solidFill>
                              <a:srgbClr val="000000"/>
                            </a:solidFill>
                            <a:latin typeface="Cambria Math" panose="02040503050406030204" pitchFamily="18" charset="0"/>
                            <a:ea typeface="Microsoft YaHei" panose="020B0503020204020204" pitchFamily="34" charset="-122"/>
                          </a:rPr>
                          <m:t>2</m:t>
                        </m:r>
                      </m:den>
                    </m:f>
                    <m:r>
                      <a:rPr kumimoji="1" lang="en-US" altLang="zh-CN" sz="2400" b="0" i="1" smtClean="0">
                        <a:solidFill>
                          <a:srgbClr val="000000"/>
                        </a:solidFill>
                        <a:latin typeface="Cambria Math" panose="02040503050406030204" pitchFamily="18" charset="0"/>
                        <a:ea typeface="Microsoft YaHei" panose="020B0503020204020204" pitchFamily="34" charset="-122"/>
                      </a:rPr>
                      <m:t>+</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r>
                          <a:rPr kumimoji="1" lang="en-US" altLang="zh-CN" sz="2400" b="0" i="1" smtClean="0">
                            <a:solidFill>
                              <a:srgbClr val="000000"/>
                            </a:solidFill>
                            <a:latin typeface="Cambria Math" panose="02040503050406030204" pitchFamily="18" charset="0"/>
                            <a:ea typeface="Microsoft YaHei" panose="020B0503020204020204" pitchFamily="34" charset="-122"/>
                          </a:rPr>
                          <m:t>−1</m:t>
                        </m:r>
                      </m:e>
                    </m:d>
                    <m:r>
                      <m:rPr>
                        <m:sty m:val="p"/>
                      </m:rPr>
                      <a:rPr kumimoji="1" lang="en-US" altLang="zh-CN" sz="2400" b="0" i="1" smtClean="0">
                        <a:solidFill>
                          <a:srgbClr val="000000"/>
                        </a:solidFill>
                        <a:latin typeface="Cambria Math" panose="02040503050406030204" pitchFamily="18" charset="0"/>
                        <a:ea typeface="Microsoft YaHei" panose="020B0503020204020204" pitchFamily="34" charset="-122"/>
                      </a:rPr>
                      <m:t>ln</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d>
                  </m:oMath>
                </a14:m>
                <a:r>
                  <a:rPr kumimoji="1" lang="en-US" altLang="zh-CN" sz="2400"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0" i="0" smtClean="0">
                        <a:solidFill>
                          <a:srgbClr val="000000"/>
                        </a:solidFill>
                        <a:latin typeface="Cambria Math" panose="02040503050406030204" pitchFamily="18" charset="0"/>
                        <a:ea typeface="Microsoft YaHei" panose="020B0503020204020204" pitchFamily="34" charset="-122"/>
                      </a:rPr>
                      <m:t> </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f>
                      <m:f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fPr>
                      <m:num>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r>
                          <a:rPr kumimoji="1" lang="en-US" altLang="zh-CN" sz="2400" b="0" i="1" smtClean="0">
                            <a:solidFill>
                              <a:srgbClr val="000000"/>
                            </a:solidFill>
                            <a:latin typeface="Cambria Math" panose="02040503050406030204" pitchFamily="18" charset="0"/>
                            <a:ea typeface="Microsoft YaHei" panose="020B0503020204020204" pitchFamily="34" charset="-122"/>
                          </a:rPr>
                          <m:t>−1</m:t>
                        </m:r>
                      </m:num>
                      <m:den>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den>
                    </m:f>
                    <m:r>
                      <a:rPr kumimoji="1" lang="en-US" altLang="zh-CN" sz="2400" b="0" i="1" smtClean="0">
                        <a:solidFill>
                          <a:srgbClr val="000000"/>
                        </a:solidFill>
                        <a:latin typeface="Cambria Math" panose="02040503050406030204" pitchFamily="18" charset="0"/>
                        <a:ea typeface="Microsoft YaHei" panose="020B0503020204020204" pitchFamily="34" charset="-122"/>
                      </a:rPr>
                      <m:t>=0</m:t>
                    </m:r>
                  </m:oMath>
                </a14:m>
                <a:r>
                  <a:rPr kumimoji="1" lang="en" altLang="zh-CN" sz="2400" dirty="0">
                    <a:solidFill>
                      <a:srgbClr val="000000"/>
                    </a:solidFill>
                    <a:latin typeface="Microsoft YaHei" panose="020B0503020204020204" pitchFamily="34" charset="-122"/>
                    <a:ea typeface="Microsoft YaHei" panose="020B0503020204020204" pitchFamily="34" charset="-122"/>
                  </a:rPr>
                  <a:t>.</a:t>
                </a:r>
              </a:p>
              <a:p>
                <a:pPr marL="285750" indent="-285750">
                  <a:lnSpc>
                    <a:spcPct val="150000"/>
                  </a:lnSpc>
                  <a:buFont typeface="Wingdings" pitchFamily="2" charset="2"/>
                  <a:buChar char="Ø"/>
                </a:pPr>
                <a:r>
                  <a:rPr kumimoji="1" lang="en-US" altLang="zh-CN" sz="2400" dirty="0">
                    <a:solidFill>
                      <a:srgbClr val="000000"/>
                    </a:solidFill>
                    <a:latin typeface="Microsoft YaHei" panose="020B0503020204020204" pitchFamily="34" charset="-122"/>
                    <a:ea typeface="Microsoft YaHei" panose="020B0503020204020204" pitchFamily="34" charset="-122"/>
                  </a:rPr>
                  <a:t>⟹ </a:t>
                </a:r>
                <a:r>
                  <a:rPr kumimoji="1" lang="zh-CN" altLang="en-US" sz="2400" b="1" dirty="0">
                    <a:solidFill>
                      <a:srgbClr val="B61516"/>
                    </a:solidFill>
                    <a:latin typeface="Microsoft YaHei" panose="020B0503020204020204" pitchFamily="34" charset="-122"/>
                    <a:ea typeface="Microsoft YaHei" panose="020B0503020204020204" pitchFamily="34" charset="-122"/>
                  </a:rPr>
                  <a:t>概率质量集中在 </a:t>
                </a:r>
                <a14:m>
                  <m:oMath xmlns:m="http://schemas.openxmlformats.org/officeDocument/2006/math">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𝒅</m:t>
                    </m:r>
                  </m:oMath>
                </a14:m>
                <a:r>
                  <a:rPr kumimoji="1" lang="en" altLang="zh-CN" sz="2400" b="1" dirty="0">
                    <a:solidFill>
                      <a:srgbClr val="B61516"/>
                    </a:solidFill>
                    <a:latin typeface="Microsoft YaHei" panose="020B0503020204020204" pitchFamily="34" charset="-122"/>
                    <a:ea typeface="Microsoft YaHei" panose="020B0503020204020204" pitchFamily="34" charset="-122"/>
                  </a:rPr>
                  <a:t>​ </a:t>
                </a:r>
                <a:r>
                  <a:rPr kumimoji="1" lang="zh-CN" altLang="en-US" sz="2400" b="1" dirty="0">
                    <a:solidFill>
                      <a:srgbClr val="B61516"/>
                    </a:solidFill>
                    <a:latin typeface="Microsoft YaHei" panose="020B0503020204020204" pitchFamily="34" charset="-122"/>
                    <a:ea typeface="Microsoft YaHei" panose="020B0503020204020204" pitchFamily="34" charset="-122"/>
                  </a:rPr>
                  <a:t>附近，</a:t>
                </a:r>
                <a:r>
                  <a:rPr kumimoji="1" lang="zh-CN" altLang="en-US" sz="2400" b="1" dirty="0">
                    <a:solidFill>
                      <a:srgbClr val="C00000"/>
                    </a:solidFill>
                    <a:latin typeface="Microsoft YaHei" panose="020B0503020204020204" pitchFamily="34" charset="-122"/>
                    <a:ea typeface="Microsoft YaHei" panose="020B0503020204020204" pitchFamily="34" charset="-122"/>
                  </a:rPr>
                  <a:t>在</a:t>
                </a:r>
                <a:r>
                  <a:rPr kumimoji="1" lang="en-US" altLang="zh-CN" sz="2400"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1" i="1" smtClean="0">
                        <a:solidFill>
                          <a:srgbClr val="C00000"/>
                        </a:solidFill>
                        <a:latin typeface="Cambria Math" panose="02040503050406030204" pitchFamily="18" charset="0"/>
                        <a:ea typeface="Microsoft YaHei" panose="020B0503020204020204" pitchFamily="34" charset="-122"/>
                      </a:rPr>
                      <m:t>𝒅</m:t>
                    </m:r>
                    <m:r>
                      <a:rPr kumimoji="1" lang="en-US" altLang="zh-CN" sz="2400" b="1" i="1" smtClean="0">
                        <a:solidFill>
                          <a:srgbClr val="C00000"/>
                        </a:solidFill>
                        <a:latin typeface="Cambria Math" panose="02040503050406030204" pitchFamily="18" charset="0"/>
                        <a:ea typeface="Microsoft YaHei" panose="020B0503020204020204" pitchFamily="34" charset="-122"/>
                      </a:rPr>
                      <m:t>→∞</m:t>
                    </m:r>
                  </m:oMath>
                </a14:m>
                <a:r>
                  <a:rPr kumimoji="1" lang="zh-CN" altLang="en-US" sz="2400" b="1" dirty="0">
                    <a:solidFill>
                      <a:srgbClr val="C00000"/>
                    </a:solidFill>
                    <a:latin typeface="Microsoft YaHei" panose="020B0503020204020204" pitchFamily="34" charset="-122"/>
                    <a:ea typeface="Microsoft YaHei" panose="020B0503020204020204" pitchFamily="34" charset="-122"/>
                  </a:rPr>
                  <a:t> 的渐近意义下</a:t>
                </a:r>
                <a:endParaRPr kumimoji="1" lang="zh-CN" altLang="en-US" sz="2400" b="1"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209E88BC-362B-AFCB-4DBA-599C581F57BC}"/>
                  </a:ext>
                </a:extLst>
              </p:cNvPr>
              <p:cNvSpPr txBox="1">
                <a:spLocks noRot="1" noChangeAspect="1" noMove="1" noResize="1" noEditPoints="1" noAdjustHandles="1" noChangeArrowheads="1" noChangeShapeType="1" noTextEdit="1"/>
              </p:cNvSpPr>
              <p:nvPr/>
            </p:nvSpPr>
            <p:spPr>
              <a:xfrm>
                <a:off x="259353" y="946418"/>
                <a:ext cx="8813467" cy="5146345"/>
              </a:xfrm>
              <a:prstGeom prst="rect">
                <a:avLst/>
              </a:prstGeom>
              <a:blipFill>
                <a:blip r:embed="rId4"/>
                <a:stretch>
                  <a:fillRect l="-1007" b="-172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052119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EDF7-A1CE-FCE1-2413-2A5000FE673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A506131-9C66-988A-7571-2C2F2AF117DA}"/>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B041A14E-3EF1-8AF3-BA2E-8C5EB0D97061}"/>
                  </a:ext>
                </a:extLst>
              </p:cNvPr>
              <p:cNvSpPr txBox="1"/>
              <p:nvPr/>
            </p:nvSpPr>
            <p:spPr>
              <a:xfrm>
                <a:off x="129873" y="727216"/>
                <a:ext cx="11794434" cy="1705403"/>
              </a:xfrm>
              <a:prstGeom prst="rect">
                <a:avLst/>
              </a:prstGeom>
              <a:noFill/>
            </p:spPr>
            <p:txBody>
              <a:bodyPr wrap="square">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 altLang="zh-CN" sz="1800" b="1" dirty="0">
                    <a:solidFill>
                      <a:srgbClr val="000000"/>
                    </a:solidFill>
                    <a:effectLst/>
                    <a:latin typeface="Microsoft YaHei" panose="020B0503020204020204" pitchFamily="34" charset="-122"/>
                    <a:ea typeface="Microsoft YaHei" panose="020B0503020204020204" pitchFamily="34" charset="-122"/>
                  </a:rPr>
                  <a:t>n </a:t>
                </a:r>
                <a:r>
                  <a:rPr lang="zh-CN" altLang="en-US" sz="1800" b="1" dirty="0">
                    <a:solidFill>
                      <a:srgbClr val="000000"/>
                    </a:solidFill>
                    <a:effectLst/>
                    <a:latin typeface="Microsoft YaHei" panose="020B0503020204020204" pitchFamily="34" charset="-122"/>
                    <a:ea typeface="Microsoft YaHei" panose="020B0503020204020204" pitchFamily="34" charset="-122"/>
                  </a:rPr>
                  <a:t>个数据点</a:t>
                </a:r>
                <a:r>
                  <a:rPr lang="zh-CN" altLang="en-US" sz="1800" dirty="0">
                    <a:solidFill>
                      <a:srgbClr val="000000"/>
                    </a:solidFill>
                    <a:effectLst/>
                    <a:latin typeface="Microsoft YaHei" panose="020B0503020204020204" pitchFamily="34" charset="-122"/>
                    <a:ea typeface="Microsoft YaHei" panose="020B0503020204020204" pitchFamily="34" charset="-122"/>
                  </a:rPr>
                  <a:t>的数据集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每个数据点都位于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en-US" altLang="zh-CN" b="1" dirty="0">
                    <a:solidFill>
                      <a:srgbClr val="000000"/>
                    </a:solidFill>
                    <a:latin typeface="Microsoft YaHei" panose="020B0503020204020204" pitchFamily="34" charset="-122"/>
                    <a:ea typeface="Microsoft YaHei" panose="020B0503020204020204" pitchFamily="34" charset="-122"/>
                  </a:rPr>
                  <a:t>d</a:t>
                </a:r>
                <a:r>
                  <a:rPr lang="zh-CN" altLang="en-US" b="1" dirty="0">
                    <a:solidFill>
                      <a:srgbClr val="000000"/>
                    </a:solidFill>
                    <a:latin typeface="Microsoft YaHei" panose="020B0503020204020204" pitchFamily="34" charset="-122"/>
                    <a:ea typeface="Microsoft YaHei" panose="020B0503020204020204" pitchFamily="34" charset="-122"/>
                  </a:rPr>
                  <a:t> 非常大：</a:t>
                </a:r>
                <a:r>
                  <a:rPr lang="zh-CN" altLang="en-US" sz="1800" dirty="0">
                    <a:solidFill>
                      <a:srgbClr val="000000"/>
                    </a:solidFill>
                    <a:effectLst/>
                    <a:latin typeface="Microsoft YaHei" panose="020B0503020204020204" pitchFamily="34" charset="-122"/>
                    <a:ea typeface="Microsoft YaHei" panose="020B0503020204020204" pitchFamily="34" charset="-122"/>
                  </a:rPr>
                  <a:t>直接在原始高维空间中对数据进行分析和处理会带来较高的存储和计算负担</a:t>
                </a:r>
                <a:endParaRPr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例：自然语言</a:t>
                </a:r>
                <a:r>
                  <a:rPr lang="zh-CN" altLang="en-US" dirty="0">
                    <a:solidFill>
                      <a:srgbClr val="000000"/>
                    </a:solidFill>
                    <a:latin typeface="Microsoft YaHei" panose="020B0503020204020204" pitchFamily="34" charset="-122"/>
                    <a:ea typeface="Microsoft YaHei" panose="020B0503020204020204" pitchFamily="34" charset="-122"/>
                  </a:rPr>
                  <a:t>任务</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字典大小为 </a:t>
                </a:r>
                <a:r>
                  <a:rPr lang="en-US" altLang="zh-CN" dirty="0">
                    <a:solidFill>
                      <a:srgbClr val="000000"/>
                    </a:solidFill>
                    <a:latin typeface="Microsoft YaHei" panose="020B0503020204020204" pitchFamily="34" charset="-122"/>
                    <a:ea typeface="Microsoft YaHei" panose="020B0503020204020204" pitchFamily="34" charset="-122"/>
                  </a:rPr>
                  <a:t>1,000,000</a:t>
                </a:r>
                <a:r>
                  <a:rPr lang="zh-CN" altLang="en-US" dirty="0">
                    <a:solidFill>
                      <a:srgbClr val="000000"/>
                    </a:solidFill>
                    <a:latin typeface="Microsoft YaHei" panose="020B0503020204020204" pitchFamily="34" charset="-122"/>
                    <a:ea typeface="Microsoft YaHei" panose="020B0503020204020204" pitchFamily="34" charset="-122"/>
                  </a:rPr>
                  <a:t>，若每个单词都</a:t>
                </a:r>
                <a:r>
                  <a:rPr lang="zh-CN" altLang="en-US" sz="1800" dirty="0">
                    <a:solidFill>
                      <a:srgbClr val="000000"/>
                    </a:solidFill>
                    <a:effectLst/>
                    <a:latin typeface="Microsoft YaHei" panose="020B0503020204020204" pitchFamily="34" charset="-122"/>
                    <a:ea typeface="Microsoft YaHei" panose="020B0503020204020204" pitchFamily="34" charset="-122"/>
                  </a:rPr>
                  <a:t>使用 </a:t>
                </a:r>
                <a:r>
                  <a:rPr lang="en-US" altLang="zh-CN" sz="1800" dirty="0">
                    <a:solidFill>
                      <a:srgbClr val="000000"/>
                    </a:solidFill>
                    <a:effectLst/>
                    <a:latin typeface="Microsoft YaHei" panose="020B0503020204020204" pitchFamily="34" charset="-122"/>
                    <a:ea typeface="Microsoft YaHei" panose="020B0503020204020204" pitchFamily="34" charset="-122"/>
                  </a:rPr>
                  <a:t>1,000,000 </a:t>
                </a:r>
                <a:r>
                  <a:rPr lang="zh-CN" altLang="en-US" sz="1800" dirty="0">
                    <a:solidFill>
                      <a:srgbClr val="000000"/>
                    </a:solidFill>
                    <a:effectLst/>
                    <a:latin typeface="Microsoft YaHei" panose="020B0503020204020204" pitchFamily="34" charset="-122"/>
                    <a:ea typeface="Microsoft YaHei" panose="020B0503020204020204" pitchFamily="34" charset="-122"/>
                  </a:rPr>
                  <a:t>维的 </a:t>
                </a:r>
                <a:r>
                  <a:rPr lang="en-US" altLang="zh-CN" sz="1800" dirty="0">
                    <a:solidFill>
                      <a:srgbClr val="000000"/>
                    </a:solidFill>
                    <a:effectLst/>
                    <a:latin typeface="Microsoft YaHei" panose="020B0503020204020204" pitchFamily="34" charset="-122"/>
                    <a:ea typeface="Microsoft YaHei" panose="020B0503020204020204" pitchFamily="34" charset="-122"/>
                  </a:rPr>
                  <a:t>one-hot </a:t>
                </a:r>
                <a:r>
                  <a:rPr lang="zh-CN" altLang="en-US" sz="1800" dirty="0">
                    <a:solidFill>
                      <a:srgbClr val="000000"/>
                    </a:solidFill>
                    <a:effectLst/>
                    <a:latin typeface="Microsoft YaHei" panose="020B0503020204020204" pitchFamily="34" charset="-122"/>
                    <a:ea typeface="Microsoft YaHei" panose="020B0503020204020204" pitchFamily="34" charset="-122"/>
                  </a:rPr>
                  <a:t>词向量表示</a:t>
                </a:r>
                <a:r>
                  <a:rPr lang="zh-CN" altLang="en-US" dirty="0">
                    <a:solidFill>
                      <a:srgbClr val="000000"/>
                    </a:solidFill>
                    <a:latin typeface="Microsoft YaHei" panose="020B0503020204020204" pitchFamily="34" charset="-122"/>
                    <a:ea typeface="Microsoft YaHei" panose="020B0503020204020204" pitchFamily="34" charset="-122"/>
                  </a:rPr>
                  <a:t>，非常高维</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降维</a:t>
                </a: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US" altLang="zh-CN" sz="1800" dirty="0">
                    <a:solidFill>
                      <a:srgbClr val="000000"/>
                    </a:solidFill>
                    <a:effectLst/>
                    <a:latin typeface="Microsoft YaHei" panose="020B0503020204020204" pitchFamily="34" charset="-122"/>
                    <a:ea typeface="Microsoft YaHei" panose="020B0503020204020204" pitchFamily="34" charset="-122"/>
                  </a:rPr>
                  <a:t>word embedding</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6" name="文本框 5">
                <a:extLst>
                  <a:ext uri="{FF2B5EF4-FFF2-40B4-BE49-F238E27FC236}">
                    <a16:creationId xmlns:a16="http://schemas.microsoft.com/office/drawing/2014/main" id="{B041A14E-3EF1-8AF3-BA2E-8C5EB0D97061}"/>
                  </a:ext>
                </a:extLst>
              </p:cNvPr>
              <p:cNvSpPr txBox="1">
                <a:spLocks noRot="1" noChangeAspect="1" noMove="1" noResize="1" noEditPoints="1" noAdjustHandles="1" noChangeArrowheads="1" noChangeShapeType="1" noTextEdit="1"/>
              </p:cNvSpPr>
              <p:nvPr/>
            </p:nvSpPr>
            <p:spPr>
              <a:xfrm>
                <a:off x="129873" y="727216"/>
                <a:ext cx="11794434" cy="1705403"/>
              </a:xfrm>
              <a:prstGeom prst="rect">
                <a:avLst/>
              </a:prstGeom>
              <a:blipFill>
                <a:blip r:embed="rId2"/>
                <a:stretch>
                  <a:fillRect l="-323" b="-5185"/>
                </a:stretch>
              </a:blipFill>
            </p:spPr>
            <p:txBody>
              <a:bodyPr/>
              <a:lstStyle/>
              <a:p>
                <a:r>
                  <a:rPr lang="zh-CN" altLang="en-US">
                    <a:noFill/>
                  </a:rPr>
                  <a:t> </a:t>
                </a:r>
              </a:p>
            </p:txBody>
          </p:sp>
        </mc:Fallback>
      </mc:AlternateContent>
      <p:pic>
        <p:nvPicPr>
          <p:cNvPr id="7" name="Picture 2" descr="A Guide to Word Embedding. What are they? How are they more useful… | by  Shraddha Anala | Towards Data Science">
            <a:extLst>
              <a:ext uri="{FF2B5EF4-FFF2-40B4-BE49-F238E27FC236}">
                <a16:creationId xmlns:a16="http://schemas.microsoft.com/office/drawing/2014/main" id="{13C3CD6A-9AE6-2F4F-FA1F-E60D272491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151" b="7910"/>
          <a:stretch/>
        </p:blipFill>
        <p:spPr bwMode="auto">
          <a:xfrm>
            <a:off x="1073426" y="2558045"/>
            <a:ext cx="8839200" cy="2733476"/>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6437F31F-7F3A-5363-93B0-01CFA9305AC6}"/>
              </a:ext>
            </a:extLst>
          </p:cNvPr>
          <p:cNvSpPr txBox="1"/>
          <p:nvPr/>
        </p:nvSpPr>
        <p:spPr>
          <a:xfrm>
            <a:off x="198783" y="5329503"/>
            <a:ext cx="11794434" cy="874407"/>
          </a:xfrm>
          <a:prstGeom prst="rect">
            <a:avLst/>
          </a:prstGeom>
          <a:noFill/>
        </p:spPr>
        <p:txBody>
          <a:bodyPr wrap="square" rtlCol="0">
            <a:spAutoFit/>
          </a:bodyPr>
          <a:lstStyle/>
          <a:p>
            <a:pPr marL="285750" indent="-285750">
              <a:lnSpc>
                <a:spcPct val="150000"/>
              </a:lnSpc>
              <a:buFont typeface="Wingdings" pitchFamily="2" charset="2"/>
              <a:buChar char="Ø"/>
            </a:pPr>
            <a:r>
              <a:rPr lang="en" altLang="zh-CN" sz="1800" b="1" dirty="0">
                <a:solidFill>
                  <a:srgbClr val="B61516"/>
                </a:solidFill>
                <a:effectLst/>
                <a:latin typeface="Microsoft YaHei" panose="020B0503020204020204" pitchFamily="34" charset="-122"/>
                <a:ea typeface="Microsoft YaHei" panose="020B0503020204020204" pitchFamily="34" charset="-122"/>
              </a:rPr>
              <a:t>Johnson-</a:t>
            </a:r>
            <a:r>
              <a:rPr lang="en" altLang="zh-CN" sz="1800" b="1" dirty="0" err="1">
                <a:solidFill>
                  <a:srgbClr val="B61516"/>
                </a:solidFill>
                <a:effectLst/>
                <a:latin typeface="Microsoft YaHei" panose="020B0503020204020204" pitchFamily="34" charset="-122"/>
                <a:ea typeface="Microsoft YaHei" panose="020B0503020204020204" pitchFamily="34" charset="-122"/>
              </a:rPr>
              <a:t>Lindenstrauss</a:t>
            </a:r>
            <a:r>
              <a:rPr lang="en"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引理：</a:t>
            </a:r>
            <a:r>
              <a:rPr lang="zh-CN" altLang="en-US" sz="1800" b="1" dirty="0">
                <a:solidFill>
                  <a:srgbClr val="000000"/>
                </a:solidFill>
                <a:effectLst/>
                <a:latin typeface="Microsoft YaHei" panose="020B0503020204020204" pitchFamily="34" charset="-122"/>
                <a:ea typeface="Microsoft YaHei" panose="020B0503020204020204" pitchFamily="34" charset="-122"/>
              </a:rPr>
              <a:t>可以通过随机线性映射嵌入到一个通常远低于原始维数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的 </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 </a:t>
            </a:r>
            <a:r>
              <a:rPr lang="en-US" altLang="zh-CN" sz="1800" b="1" dirty="0">
                <a:solidFill>
                  <a:srgbClr val="000000"/>
                </a:solidFill>
                <a:effectLst/>
                <a:latin typeface="Microsoft YaHei" panose="020B0503020204020204" pitchFamily="34" charset="-122"/>
                <a:ea typeface="Microsoft YaHei" panose="020B0503020204020204" pitchFamily="34" charset="-122"/>
              </a:rPr>
              <a:t>(</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依赖于 </a:t>
            </a:r>
            <a:r>
              <a:rPr lang="en" altLang="zh-CN" sz="1800" b="1" dirty="0">
                <a:solidFill>
                  <a:srgbClr val="000000"/>
                </a:solidFill>
                <a:effectLst/>
                <a:latin typeface="Microsoft YaHei" panose="020B0503020204020204" pitchFamily="34" charset="-122"/>
                <a:ea typeface="Microsoft YaHei" panose="020B0503020204020204" pitchFamily="34" charset="-122"/>
              </a:rPr>
              <a:t>log n)</a:t>
            </a:r>
            <a:r>
              <a:rPr lang="zh-CN" altLang="en-US" sz="1800" b="1" dirty="0">
                <a:solidFill>
                  <a:srgbClr val="000000"/>
                </a:solidFill>
                <a:effectLst/>
                <a:latin typeface="Microsoft YaHei" panose="020B0503020204020204" pitchFamily="34" charset="-122"/>
                <a:ea typeface="Microsoft YaHei" panose="020B0503020204020204" pitchFamily="34" charset="-122"/>
              </a:rPr>
              <a:t>中</a:t>
            </a:r>
            <a:r>
              <a:rPr lang="en-US"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且点与点之间的距离可以近似得以保持。</a:t>
            </a:r>
            <a:endParaRPr lang="zh-CN" altLang="en-US" b="1" dirty="0">
              <a:solidFill>
                <a:srgbClr val="000000"/>
              </a:solidFill>
              <a:effectLst/>
              <a:latin typeface="Microsoft YaHei" panose="020B0503020204020204" pitchFamily="34" charset="-122"/>
              <a:ea typeface="Microsoft YaHei" panose="020B0503020204020204" pitchFamily="34" charset="-122"/>
            </a:endParaRPr>
          </a:p>
        </p:txBody>
      </p:sp>
      <p:sp>
        <p:nvSpPr>
          <p:cNvPr id="11" name="椭圆形标注 10">
            <a:extLst>
              <a:ext uri="{FF2B5EF4-FFF2-40B4-BE49-F238E27FC236}">
                <a16:creationId xmlns:a16="http://schemas.microsoft.com/office/drawing/2014/main" id="{5AD78B22-9DEB-F197-2003-253D9E33EA6D}"/>
              </a:ext>
            </a:extLst>
          </p:cNvPr>
          <p:cNvSpPr/>
          <p:nvPr/>
        </p:nvSpPr>
        <p:spPr>
          <a:xfrm>
            <a:off x="9912626" y="2411040"/>
            <a:ext cx="2279374" cy="679783"/>
          </a:xfrm>
          <a:prstGeom prst="wedgeEllipseCallout">
            <a:avLst>
              <a:gd name="adj1" fmla="val -75836"/>
              <a:gd name="adj2" fmla="val 1208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思考：应该降到几维？</a:t>
            </a:r>
          </a:p>
        </p:txBody>
      </p:sp>
      <p:sp>
        <p:nvSpPr>
          <p:cNvPr id="2" name="文本框 1">
            <a:extLst>
              <a:ext uri="{FF2B5EF4-FFF2-40B4-BE49-F238E27FC236}">
                <a16:creationId xmlns:a16="http://schemas.microsoft.com/office/drawing/2014/main" id="{9CB3FC08-6C35-9CF3-0074-1D9CB45BF8A3}"/>
              </a:ext>
            </a:extLst>
          </p:cNvPr>
          <p:cNvSpPr txBox="1"/>
          <p:nvPr/>
        </p:nvSpPr>
        <p:spPr>
          <a:xfrm>
            <a:off x="198783" y="6416325"/>
            <a:ext cx="7522059" cy="338554"/>
          </a:xfrm>
          <a:prstGeom prst="rect">
            <a:avLst/>
          </a:prstGeom>
          <a:noFill/>
        </p:spPr>
        <p:txBody>
          <a:bodyPr wrap="none" rtlCol="0">
            <a:spAutoFit/>
          </a:bodyPr>
          <a:lstStyle/>
          <a:p>
            <a:r>
              <a:rPr lang="zh-CN" altLang="e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图片</a:t>
            </a:r>
            <a:r>
              <a:rPr lang="zh-CN" altLang="en-US"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来源：</a:t>
            </a:r>
            <a:r>
              <a:rPr lang="en" altLang="zh-C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A Technical Intro to Embeddings: The approach to data powering modern AI</a:t>
            </a:r>
          </a:p>
        </p:txBody>
      </p:sp>
    </p:spTree>
    <p:extLst>
      <p:ext uri="{BB962C8B-B14F-4D97-AF65-F5344CB8AC3E}">
        <p14:creationId xmlns:p14="http://schemas.microsoft.com/office/powerpoint/2010/main" val="6182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5E2C3-F1FC-0D22-8ADC-E695A8FDD7E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1E79B83-53E7-9CC7-63DA-E5BAF1E0737B}"/>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2E63E602-A857-3435-4E85-57D893309F83}"/>
                  </a:ext>
                </a:extLst>
              </p:cNvPr>
              <p:cNvSpPr txBox="1"/>
              <p:nvPr/>
            </p:nvSpPr>
            <p:spPr>
              <a:xfrm>
                <a:off x="368105" y="1075542"/>
                <a:ext cx="11223391" cy="1243995"/>
              </a:xfrm>
              <a:prstGeom prst="rect">
                <a:avLst/>
              </a:prstGeom>
              <a:noFill/>
            </p:spPr>
            <p:txBody>
              <a:bodyPr wrap="square" rtlCol="0">
                <a:spAutoFit/>
              </a:bodyPr>
              <a:lstStyle/>
              <a:p>
                <a:pPr>
                  <a:lnSpc>
                    <a:spcPct val="125000"/>
                  </a:lnSpc>
                </a:pPr>
                <a:r>
                  <a:rPr lang="en" altLang="zh-CN" b="1" dirty="0">
                    <a:solidFill>
                      <a:srgbClr val="B61516"/>
                    </a:solidFill>
                    <a:latin typeface="Microsoft YaHei" panose="020B0503020204020204" pitchFamily="34" charset="-122"/>
                    <a:ea typeface="Microsoft YaHei" panose="020B0503020204020204" pitchFamily="34" charset="-122"/>
                  </a:rPr>
                  <a:t>Johnson-</a:t>
                </a:r>
                <a:r>
                  <a:rPr lang="en" altLang="zh-CN" b="1" dirty="0" err="1">
                    <a:solidFill>
                      <a:srgbClr val="B61516"/>
                    </a:solidFill>
                    <a:latin typeface="Microsoft YaHei" panose="020B0503020204020204" pitchFamily="34" charset="-122"/>
                    <a:ea typeface="Microsoft YaHei" panose="020B0503020204020204" pitchFamily="34" charset="-122"/>
                  </a:rPr>
                  <a:t>Lindenstrauss</a:t>
                </a:r>
                <a:r>
                  <a:rPr lang="en"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引理：</a:t>
                </a:r>
                <a:r>
                  <a:rPr lang="zh-CN" altLang="en-US" sz="1800" dirty="0">
                    <a:solidFill>
                      <a:srgbClr val="000000"/>
                    </a:solidFill>
                    <a:effectLst/>
                    <a:latin typeface="Microsoft YaHei" panose="020B0503020204020204" pitchFamily="34" charset="-122"/>
                    <a:ea typeface="Microsoft YaHei" panose="020B0503020204020204" pitchFamily="34" charset="-122"/>
                  </a:rPr>
                  <a:t>对于 </a:t>
                </a:r>
                <a14:m>
                  <m:oMath xmlns:m="http://schemas.openxmlformats.org/officeDocument/2006/math">
                    <m:sSup>
                      <m:sSupPr>
                        <m:ctrlPr>
                          <a:rPr lang="en-US" altLang="zh-CN" b="0" i="1" dirty="0" smtClean="0">
                            <a:solidFill>
                              <a:srgbClr val="000000"/>
                            </a:solidFill>
                            <a:latin typeface="Cambria Math" panose="02040503050406030204" pitchFamily="18" charset="0"/>
                          </a:rPr>
                        </m:ctrlPr>
                      </m:sSupPr>
                      <m:e>
                        <m:r>
                          <m:rPr>
                            <m:sty m:val="p"/>
                          </m:rPr>
                          <a:rPr lang="en-US" altLang="zh-CN" i="1" dirty="0">
                            <a:solidFill>
                              <a:srgbClr val="000000"/>
                            </a:solidFill>
                            <a:latin typeface="Cambria Math" panose="02040503050406030204" pitchFamily="18" charset="0"/>
                          </a:rPr>
                          <m:t>R</m:t>
                        </m:r>
                      </m:e>
                      <m:sup>
                        <m:r>
                          <a:rPr lang="en-US" altLang="zh-CN" b="0" i="1" dirty="0" smtClean="0">
                            <a:solidFill>
                              <a:srgbClr val="000000"/>
                            </a:solidFill>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中任意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个点的集合</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存在一个映射</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𝑓</m:t>
                        </m:r>
                        <m:r>
                          <a:rPr lang="en-US" altLang="zh-CN" sz="1800" b="0" i="1" smtClean="0">
                            <a:solidFill>
                              <a:srgbClr val="000000"/>
                            </a:solidFill>
                            <a:effectLst/>
                            <a:latin typeface="Cambria Math" panose="02040503050406030204" pitchFamily="18" charset="0"/>
                          </a:rPr>
                          <m:t>: </m:t>
                        </m:r>
                        <m:r>
                          <a:rPr lang="en-US" altLang="zh-CN" sz="1800" b="0" i="1" smtClean="0">
                            <a:solidFill>
                              <a:srgbClr val="000000"/>
                            </a:solidFill>
                            <a:effectLst/>
                            <a:latin typeface="Cambria Math" panose="02040503050406030204" pitchFamily="18" charset="0"/>
                          </a:rPr>
                          <m:t>𝑅</m:t>
                        </m:r>
                      </m:e>
                      <m:sup>
                        <m:r>
                          <a:rPr lang="en-US" altLang="zh-CN" sz="1800" b="0" i="1" smtClean="0">
                            <a:solidFill>
                              <a:srgbClr val="000000"/>
                            </a:solidFill>
                            <a:effectLst/>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𝑅</m:t>
                        </m:r>
                      </m:e>
                      <m:sup>
                        <m:r>
                          <a:rPr lang="en-US" altLang="zh-CN" sz="1800" b="0" i="1" smtClean="0">
                            <a:solidFill>
                              <a:srgbClr val="000000"/>
                            </a:solidFill>
                            <a:effectLst/>
                            <a:latin typeface="Cambria Math" panose="02040503050406030204" pitchFamily="18" charset="0"/>
                          </a:rPr>
                          <m:t>𝑘</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其中</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m:rPr>
                        <m:sty m:val="p"/>
                      </m:rPr>
                      <a:rPr lang="en-US" altLang="zh-CN" b="0" i="0" smtClean="0">
                        <a:solidFill>
                          <a:srgbClr val="000000"/>
                        </a:solidFill>
                        <a:latin typeface="Cambria Math" panose="02040503050406030204" pitchFamily="18" charset="0"/>
                      </a:rPr>
                      <m:t>k</m:t>
                    </m:r>
                    <m:r>
                      <a:rPr lang="en-US" altLang="zh-CN" b="0" i="0" smtClean="0">
                        <a:solidFill>
                          <a:srgbClr val="000000"/>
                        </a:solidFill>
                        <a:latin typeface="Cambria Math" panose="02040503050406030204" pitchFamily="18" charset="0"/>
                      </a:rPr>
                      <m:t>= </m:t>
                    </m:r>
                    <m:r>
                      <m:rPr>
                        <m:sty m:val="p"/>
                      </m:rPr>
                      <a:rPr lang="en-US" altLang="zh-CN">
                        <a:solidFill>
                          <a:srgbClr val="000000"/>
                        </a:solidFill>
                        <a:latin typeface="Cambria Math" panose="02040503050406030204" pitchFamily="18" charset="0"/>
                      </a:rPr>
                      <m:t>O</m:t>
                    </m:r>
                    <m:r>
                      <a:rPr lang="en-US" altLang="zh-CN" b="0" i="0" smtClean="0">
                        <a:solidFill>
                          <a:srgbClr val="000000"/>
                        </a:solidFill>
                        <a:latin typeface="Cambria Math" panose="02040503050406030204" pitchFamily="18" charset="0"/>
                      </a:rPr>
                      <m:t>(</m:t>
                    </m:r>
                    <m:f>
                      <m:fPr>
                        <m:ctrlPr>
                          <a:rPr lang="en-US" altLang="zh-CN" sz="1800" b="0" i="1" smtClean="0">
                            <a:solidFill>
                              <a:srgbClr val="000000"/>
                            </a:solidFill>
                            <a:effectLst/>
                            <a:latin typeface="Cambria Math" panose="02040503050406030204" pitchFamily="18" charset="0"/>
                          </a:rPr>
                        </m:ctrlPr>
                      </m:fPr>
                      <m:num>
                        <m:r>
                          <a:rPr lang="en-US" altLang="zh-CN" sz="1800" b="0" i="1" smtClean="0">
                            <a:solidFill>
                              <a:srgbClr val="000000"/>
                            </a:solidFill>
                            <a:effectLst/>
                            <a:latin typeface="Cambria Math" panose="02040503050406030204" pitchFamily="18" charset="0"/>
                          </a:rPr>
                          <m:t>1</m:t>
                        </m:r>
                      </m:num>
                      <m:den>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𝜀</m:t>
                            </m:r>
                          </m:e>
                          <m:sup>
                            <m:r>
                              <a:rPr lang="en-US" altLang="zh-CN" sz="1800" b="0" i="1" smtClean="0">
                                <a:solidFill>
                                  <a:srgbClr val="000000"/>
                                </a:solidFill>
                                <a:effectLst/>
                                <a:latin typeface="Cambria Math" panose="02040503050406030204" pitchFamily="18" charset="0"/>
                              </a:rPr>
                              <m:t>2</m:t>
                            </m:r>
                          </m:sup>
                        </m:sSup>
                      </m:den>
                    </m:f>
                    <m:func>
                      <m:funcPr>
                        <m:ctrlPr>
                          <a:rPr lang="en-US" altLang="zh-CN" sz="1800" b="0" i="1" smtClean="0">
                            <a:solidFill>
                              <a:srgbClr val="000000"/>
                            </a:solidFill>
                            <a:effectLst/>
                            <a:latin typeface="Cambria Math" panose="02040503050406030204" pitchFamily="18" charset="0"/>
                          </a:rPr>
                        </m:ctrlPr>
                      </m:funcPr>
                      <m:fName>
                        <m:r>
                          <m:rPr>
                            <m:sty m:val="p"/>
                          </m:rPr>
                          <a:rPr lang="en-US" altLang="zh-CN" sz="1800" b="0" i="0" smtClean="0">
                            <a:solidFill>
                              <a:srgbClr val="000000"/>
                            </a:solidFill>
                            <a:effectLst/>
                            <a:latin typeface="Cambria Math" panose="02040503050406030204" pitchFamily="18" charset="0"/>
                          </a:rPr>
                          <m:t>log</m:t>
                        </m:r>
                      </m:fName>
                      <m:e>
                        <m:r>
                          <a:rPr lang="en-US" altLang="zh-CN" sz="1800" b="0" i="1" smtClean="0">
                            <a:solidFill>
                              <a:srgbClr val="000000"/>
                            </a:solidFill>
                            <a:effectLst/>
                            <a:latin typeface="Cambria Math" panose="02040503050406030204" pitchFamily="18" charset="0"/>
                          </a:rPr>
                          <m:t>𝑛</m:t>
                        </m:r>
                        <m:r>
                          <a:rPr lang="en-US" altLang="zh-CN" sz="1800" b="0" i="1" smtClean="0">
                            <a:solidFill>
                              <a:srgbClr val="000000"/>
                            </a:solidFill>
                            <a:effectLst/>
                            <a:latin typeface="Cambria Math" panose="02040503050406030204" pitchFamily="18" charset="0"/>
                          </a:rPr>
                          <m:t>)</m:t>
                        </m:r>
                      </m:e>
                    </m:func>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使得对于任意的两个点</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en" altLang="zh-CN" sz="1800" dirty="0">
                    <a:solidFill>
                      <a:srgbClr val="000000"/>
                    </a:solidFill>
                    <a:effectLst/>
                    <a:latin typeface="Microsoft YaHei" panose="020B0503020204020204" pitchFamily="34" charset="-122"/>
                    <a:ea typeface="Microsoft YaHei" panose="020B0503020204020204" pitchFamily="34" charset="-122"/>
                  </a:rPr>
                  <a:t>u, v,</a:t>
                </a:r>
                <a:r>
                  <a:rPr lang="zh-CN" altLang="en-US" sz="1800" dirty="0">
                    <a:solidFill>
                      <a:srgbClr val="000000"/>
                    </a:solidFill>
                    <a:effectLst/>
                    <a:latin typeface="Microsoft YaHei" panose="020B0503020204020204" pitchFamily="34" charset="-122"/>
                    <a:ea typeface="Microsoft YaHei" panose="020B0503020204020204" pitchFamily="34" charset="-122"/>
                  </a:rPr>
                  <a:t>有</a:t>
                </a:r>
                <a:r>
                  <a:rPr lang="el-GR" altLang="zh-CN" sz="1800" dirty="0">
                    <a:solidFill>
                      <a:srgbClr val="000000"/>
                    </a:solidFill>
                    <a:effectLst/>
                    <a:latin typeface="Microsoft YaHei" panose="020B0503020204020204" pitchFamily="34" charset="-122"/>
                    <a:ea typeface="Microsoft YaHei" panose="020B0503020204020204" pitchFamily="34" charset="-122"/>
                  </a:rPr>
                  <a:t> </a:t>
                </a:r>
                <a:endParaRPr lang="el-GR" altLang="zh-CN" dirty="0">
                  <a:solidFill>
                    <a:srgbClr val="000000"/>
                  </a:solidFill>
                  <a:latin typeface="Microsoft YaHei" panose="020B0503020204020204" pitchFamily="34" charset="-122"/>
                  <a:ea typeface="Microsoft YaHei" panose="020B0503020204020204" pitchFamily="34" charset="-122"/>
                </a:endParaRPr>
              </a:p>
              <a:p>
                <a:pPr>
                  <a:lnSpc>
                    <a:spcPct val="125000"/>
                  </a:lnSpc>
                </a:pPr>
                <a:endParaRPr lang="zh-CN" altLang="en-US" sz="18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12" name="文本框 11">
                <a:extLst>
                  <a:ext uri="{FF2B5EF4-FFF2-40B4-BE49-F238E27FC236}">
                    <a16:creationId xmlns:a16="http://schemas.microsoft.com/office/drawing/2014/main" id="{2E63E602-A857-3435-4E85-57D893309F83}"/>
                  </a:ext>
                </a:extLst>
              </p:cNvPr>
              <p:cNvSpPr txBox="1">
                <a:spLocks noRot="1" noChangeAspect="1" noMove="1" noResize="1" noEditPoints="1" noAdjustHandles="1" noChangeArrowheads="1" noChangeShapeType="1" noTextEdit="1"/>
              </p:cNvSpPr>
              <p:nvPr/>
            </p:nvSpPr>
            <p:spPr>
              <a:xfrm>
                <a:off x="368105" y="1075542"/>
                <a:ext cx="11223391" cy="1243995"/>
              </a:xfrm>
              <a:prstGeom prst="rect">
                <a:avLst/>
              </a:prstGeom>
              <a:blipFill>
                <a:blip r:embed="rId2"/>
                <a:stretch>
                  <a:fillRect l="-452"/>
                </a:stretch>
              </a:blipFill>
            </p:spPr>
            <p:txBody>
              <a:bodyPr/>
              <a:lstStyle/>
              <a:p>
                <a:r>
                  <a:rPr lang="zh-CN" altLang="en-US">
                    <a:noFill/>
                  </a:rPr>
                  <a:t> </a:t>
                </a:r>
              </a:p>
            </p:txBody>
          </p:sp>
        </mc:Fallback>
      </mc:AlternateContent>
      <p:pic>
        <p:nvPicPr>
          <p:cNvPr id="13" name="图片 12">
            <a:extLst>
              <a:ext uri="{FF2B5EF4-FFF2-40B4-BE49-F238E27FC236}">
                <a16:creationId xmlns:a16="http://schemas.microsoft.com/office/drawing/2014/main" id="{41AE925E-30C5-4725-0E0F-105840343194}"/>
              </a:ext>
            </a:extLst>
          </p:cNvPr>
          <p:cNvPicPr>
            <a:picLocks noChangeAspect="1"/>
          </p:cNvPicPr>
          <p:nvPr/>
        </p:nvPicPr>
        <p:blipFill>
          <a:blip r:embed="rId3"/>
          <a:stretch>
            <a:fillRect/>
          </a:stretch>
        </p:blipFill>
        <p:spPr>
          <a:xfrm>
            <a:off x="2093600" y="1946686"/>
            <a:ext cx="7320744" cy="742385"/>
          </a:xfrm>
          <a:prstGeom prst="rect">
            <a:avLst/>
          </a:prstGeom>
        </p:spPr>
      </p:pic>
      <p:pic>
        <p:nvPicPr>
          <p:cNvPr id="14" name="图片 13">
            <a:extLst>
              <a:ext uri="{FF2B5EF4-FFF2-40B4-BE49-F238E27FC236}">
                <a16:creationId xmlns:a16="http://schemas.microsoft.com/office/drawing/2014/main" id="{769DC471-B7C1-F5DD-B915-28232B9C2ADD}"/>
              </a:ext>
            </a:extLst>
          </p:cNvPr>
          <p:cNvPicPr>
            <a:picLocks noChangeAspect="1"/>
          </p:cNvPicPr>
          <p:nvPr/>
        </p:nvPicPr>
        <p:blipFill>
          <a:blip r:embed="rId4"/>
          <a:stretch>
            <a:fillRect/>
          </a:stretch>
        </p:blipFill>
        <p:spPr>
          <a:xfrm>
            <a:off x="2590246" y="3248948"/>
            <a:ext cx="4546600" cy="213360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03F4D666-F8F7-E209-42A9-92D386482FA3}"/>
                  </a:ext>
                </a:extLst>
              </p:cNvPr>
              <p:cNvSpPr txBox="1"/>
              <p:nvPr/>
            </p:nvSpPr>
            <p:spPr>
              <a:xfrm>
                <a:off x="381242" y="5638378"/>
                <a:ext cx="11429517" cy="391646"/>
              </a:xfrm>
              <a:prstGeom prst="rect">
                <a:avLst/>
              </a:prstGeom>
              <a:noFill/>
            </p:spPr>
            <p:txBody>
              <a:bodyPr wrap="squar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其中 </a:t>
                </a:r>
                <a14:m>
                  <m:oMath xmlns:m="http://schemas.openxmlformats.org/officeDocument/2006/math">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𝑟</m:t>
                        </m:r>
                      </m:e>
                      <m:sub>
                        <m:r>
                          <a:rPr lang="en-US" altLang="zh-CN" sz="1800" b="0" i="1" smtClean="0">
                            <a:solidFill>
                              <a:srgbClr val="000000"/>
                            </a:solidFill>
                            <a:effectLst/>
                            <a:latin typeface="Cambria Math" panose="02040503050406030204" pitchFamily="18" charset="0"/>
                          </a:rPr>
                          <m:t>𝑖𝑗</m:t>
                        </m:r>
                      </m:sub>
                    </m:sSub>
                  </m:oMath>
                </a14:m>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是独立同分布的高斯随机变量</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均值为 </a:t>
                </a:r>
                <a:r>
                  <a:rPr lang="en-US" altLang="zh-CN" sz="1800" dirty="0">
                    <a:solidFill>
                      <a:srgbClr val="000000"/>
                    </a:solidFill>
                    <a:effectLst/>
                    <a:latin typeface="Microsoft YaHei" panose="020B0503020204020204" pitchFamily="34" charset="-122"/>
                    <a:ea typeface="Microsoft YaHei" panose="020B0503020204020204" pitchFamily="34" charset="-122"/>
                  </a:rPr>
                  <a:t>0, </a:t>
                </a:r>
                <a:r>
                  <a:rPr lang="zh-CN" altLang="en-US" sz="1800" dirty="0">
                    <a:solidFill>
                      <a:srgbClr val="000000"/>
                    </a:solidFill>
                    <a:effectLst/>
                    <a:latin typeface="Microsoft YaHei" panose="020B0503020204020204" pitchFamily="34" charset="-122"/>
                    <a:ea typeface="Microsoft YaHei" panose="020B0503020204020204" pitchFamily="34" charset="-122"/>
                  </a:rPr>
                  <a:t>方差为 </a:t>
                </a:r>
                <a:r>
                  <a:rPr lang="en-US" altLang="zh-CN" sz="1800" dirty="0">
                    <a:solidFill>
                      <a:srgbClr val="000000"/>
                    </a:solidFill>
                    <a:effectLst/>
                    <a:latin typeface="Microsoft YaHei" panose="020B0503020204020204" pitchFamily="34" charset="-122"/>
                    <a:ea typeface="Microsoft YaHei" panose="020B0503020204020204" pitchFamily="34" charset="-122"/>
                  </a:rPr>
                  <a:t>1</a:t>
                </a: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03F4D666-F8F7-E209-42A9-92D386482FA3}"/>
                  </a:ext>
                </a:extLst>
              </p:cNvPr>
              <p:cNvSpPr txBox="1">
                <a:spLocks noRot="1" noChangeAspect="1" noMove="1" noResize="1" noEditPoints="1" noAdjustHandles="1" noChangeArrowheads="1" noChangeShapeType="1" noTextEdit="1"/>
              </p:cNvSpPr>
              <p:nvPr/>
            </p:nvSpPr>
            <p:spPr>
              <a:xfrm>
                <a:off x="381242" y="5638378"/>
                <a:ext cx="11429517" cy="391646"/>
              </a:xfrm>
              <a:prstGeom prst="rect">
                <a:avLst/>
              </a:prstGeom>
              <a:blipFill>
                <a:blip r:embed="rId5"/>
                <a:stretch>
                  <a:fillRect l="-556" t="-9677" b="-19355"/>
                </a:stretch>
              </a:blipFill>
            </p:spPr>
            <p:txBody>
              <a:bodyPr/>
              <a:lstStyle/>
              <a:p>
                <a:r>
                  <a:rPr lang="zh-CN" altLang="en-US">
                    <a:noFill/>
                  </a:rPr>
                  <a:t> </a:t>
                </a:r>
              </a:p>
            </p:txBody>
          </p:sp>
        </mc:Fallback>
      </mc:AlternateContent>
      <p:sp>
        <p:nvSpPr>
          <p:cNvPr id="16" name="文本框 15">
            <a:extLst>
              <a:ext uri="{FF2B5EF4-FFF2-40B4-BE49-F238E27FC236}">
                <a16:creationId xmlns:a16="http://schemas.microsoft.com/office/drawing/2014/main" id="{1046896C-351C-E185-328C-5A3C0AE71E39}"/>
              </a:ext>
            </a:extLst>
          </p:cNvPr>
          <p:cNvSpPr txBox="1"/>
          <p:nvPr/>
        </p:nvSpPr>
        <p:spPr>
          <a:xfrm>
            <a:off x="381242" y="2786501"/>
            <a:ext cx="1800493" cy="412292"/>
          </a:xfrm>
          <a:prstGeom prst="rect">
            <a:avLst/>
          </a:prstGeom>
          <a:noFill/>
        </p:spPr>
        <p:txBody>
          <a:bodyPr wrap="none" rtlCol="0">
            <a:spAutoFit/>
          </a:bodyPr>
          <a:lstStyle/>
          <a:p>
            <a:pPr algn="l">
              <a:lnSpc>
                <a:spcPct val="125000"/>
              </a:lnSpc>
            </a:pPr>
            <a:r>
              <a:rPr kumimoji="1" lang="zh-CN" altLang="en-US" b="1" dirty="0">
                <a:solidFill>
                  <a:srgbClr val="B61516"/>
                </a:solidFill>
                <a:ea typeface="Microsoft YaHei" panose="020B0503020204020204" pitchFamily="34" charset="-122"/>
              </a:rPr>
              <a:t>随机投影矩阵：</a:t>
            </a:r>
          </a:p>
        </p:txBody>
      </p:sp>
      <p:sp>
        <p:nvSpPr>
          <p:cNvPr id="17" name="文本框 16">
            <a:extLst>
              <a:ext uri="{FF2B5EF4-FFF2-40B4-BE49-F238E27FC236}">
                <a16:creationId xmlns:a16="http://schemas.microsoft.com/office/drawing/2014/main" id="{7EDF48A0-600E-AFD2-405E-B96F3175B68A}"/>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
        <p:nvSpPr>
          <p:cNvPr id="18" name="椭圆形标注 17">
            <a:extLst>
              <a:ext uri="{FF2B5EF4-FFF2-40B4-BE49-F238E27FC236}">
                <a16:creationId xmlns:a16="http://schemas.microsoft.com/office/drawing/2014/main" id="{C05E296D-16CB-BF0F-9955-8E35F5FFC74B}"/>
              </a:ext>
            </a:extLst>
          </p:cNvPr>
          <p:cNvSpPr/>
          <p:nvPr/>
        </p:nvSpPr>
        <p:spPr>
          <a:xfrm>
            <a:off x="7931219" y="2702914"/>
            <a:ext cx="3110862" cy="1110898"/>
          </a:xfrm>
          <a:prstGeom prst="wedgeEllipseCallout">
            <a:avLst>
              <a:gd name="adj1" fmla="val -82326"/>
              <a:gd name="adj2" fmla="val 5879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这个映射 </a:t>
            </a:r>
            <a:r>
              <a:rPr kumimoji="1" lang="en-US" altLang="zh-CN" b="1" dirty="0">
                <a:solidFill>
                  <a:srgbClr val="C00000"/>
                </a:solidFill>
                <a:latin typeface="Microsoft YaHei" panose="020B0503020204020204" pitchFamily="34" charset="-122"/>
                <a:ea typeface="Microsoft YaHei" panose="020B0503020204020204" pitchFamily="34" charset="-122"/>
              </a:rPr>
              <a:t>f </a:t>
            </a:r>
            <a:r>
              <a:rPr kumimoji="1" lang="zh-CN" altLang="en-US" b="1" dirty="0">
                <a:solidFill>
                  <a:srgbClr val="C00000"/>
                </a:solidFill>
                <a:latin typeface="Microsoft YaHei" panose="020B0503020204020204" pitchFamily="34" charset="-122"/>
                <a:ea typeface="Microsoft YaHei" panose="020B0503020204020204" pitchFamily="34" charset="-122"/>
              </a:rPr>
              <a:t>只需要取随机投影即可</a:t>
            </a:r>
          </a:p>
        </p:txBody>
      </p:sp>
    </p:spTree>
    <p:extLst>
      <p:ext uri="{BB962C8B-B14F-4D97-AF65-F5344CB8AC3E}">
        <p14:creationId xmlns:p14="http://schemas.microsoft.com/office/powerpoint/2010/main" val="2210449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6C65B-50BE-4F54-1E27-BDAA24627EC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AE0627E-0004-5F35-22D2-7A81E88007EA}"/>
              </a:ext>
            </a:extLst>
          </p:cNvPr>
          <p:cNvSpPr>
            <a:spLocks noGrp="1"/>
          </p:cNvSpPr>
          <p:nvPr>
            <p:ph type="title"/>
          </p:nvPr>
        </p:nvSpPr>
        <p:spPr/>
        <p:txBody>
          <a:bodyPr/>
          <a:lstStyle/>
          <a:p>
            <a:r>
              <a:rPr lang="zh-CN" altLang="en-US" dirty="0"/>
              <a:t>高维空间中数据的线性可分性</a:t>
            </a:r>
          </a:p>
        </p:txBody>
      </p:sp>
      <p:sp>
        <p:nvSpPr>
          <p:cNvPr id="10" name="文本框 9">
            <a:extLst>
              <a:ext uri="{FF2B5EF4-FFF2-40B4-BE49-F238E27FC236}">
                <a16:creationId xmlns:a16="http://schemas.microsoft.com/office/drawing/2014/main" id="{62A84D60-2095-7261-7C3A-95B34EF42C54}"/>
              </a:ext>
            </a:extLst>
          </p:cNvPr>
          <p:cNvSpPr txBox="1"/>
          <p:nvPr/>
        </p:nvSpPr>
        <p:spPr>
          <a:xfrm>
            <a:off x="380999" y="837301"/>
            <a:ext cx="11811001" cy="961225"/>
          </a:xfrm>
          <a:prstGeom prst="rect">
            <a:avLst/>
          </a:prstGeom>
          <a:noFill/>
        </p:spPr>
        <p:txBody>
          <a:bodyPr wrap="square" rtlCol="0">
            <a:spAutoFit/>
          </a:bodyPr>
          <a:lstStyle/>
          <a:p>
            <a:pPr algn="l">
              <a:lnSpc>
                <a:spcPct val="150000"/>
              </a:lnSpc>
            </a:pPr>
            <a:r>
              <a:rPr lang="zh-CN" altLang="en-US" sz="2000" b="1" dirty="0">
                <a:solidFill>
                  <a:srgbClr val="B61516"/>
                </a:solidFill>
                <a:latin typeface="微软雅黑" panose="020B0503020204020204" pitchFamily="34" charset="-122"/>
                <a:ea typeface="微软雅黑" panose="020B0503020204020204" pitchFamily="34" charset="-122"/>
              </a:rPr>
              <a:t>线性可分性</a:t>
            </a:r>
            <a:r>
              <a:rPr lang="zh-CN" altLang="en-US" sz="2000" dirty="0">
                <a:solidFill>
                  <a:srgbClr val="070707"/>
                </a:solidFill>
                <a:latin typeface="微软雅黑" panose="020B0503020204020204" pitchFamily="34" charset="-122"/>
                <a:ea typeface="微软雅黑" panose="020B0503020204020204" pitchFamily="34" charset="-122"/>
              </a:rPr>
              <a:t>指的是在空间中存在一个超平面（在二维中是一条直线，在三维中是一个平面），能够将不同类别的数据点完全分开。</a:t>
            </a:r>
            <a:endParaRPr lang="zh-CN" altLang="en-US" sz="2400" dirty="0">
              <a:solidFill>
                <a:schemeClr val="bg2"/>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05C4EAE4-F815-5FF4-2A93-53FF46A847AC}"/>
              </a:ext>
            </a:extLst>
          </p:cNvPr>
          <p:cNvSpPr txBox="1"/>
          <p:nvPr/>
        </p:nvSpPr>
        <p:spPr>
          <a:xfrm>
            <a:off x="126998" y="4580325"/>
            <a:ext cx="11811001" cy="1549591"/>
          </a:xfrm>
          <a:prstGeom prst="rect">
            <a:avLst/>
          </a:prstGeom>
          <a:noFill/>
        </p:spPr>
        <p:txBody>
          <a:bodyPr wrap="square" rtlCol="0">
            <a:spAutoFit/>
          </a:bodyPr>
          <a:lstStyle/>
          <a:p>
            <a:pPr marL="342900" indent="-342900">
              <a:lnSpc>
                <a:spcPct val="135000"/>
              </a:lnSpc>
              <a:buFont typeface="Wingdings" pitchFamily="2" charset="2"/>
              <a:buChar char="p"/>
            </a:pPr>
            <a:r>
              <a:rPr lang="zh-CN" altLang="en-US" b="1" dirty="0">
                <a:solidFill>
                  <a:srgbClr val="B61516"/>
                </a:solidFill>
                <a:effectLst/>
                <a:latin typeface="Microsoft YaHei" panose="020B0503020204020204" pitchFamily="34" charset="-122"/>
                <a:ea typeface="Microsoft YaHei" panose="020B0503020204020204" pitchFamily="34" charset="-122"/>
              </a:rPr>
              <a:t>核方法</a:t>
            </a:r>
            <a:r>
              <a:rPr lang="zh-CN" altLang="en-US" dirty="0">
                <a:solidFill>
                  <a:srgbClr val="000000"/>
                </a:solidFill>
                <a:effectLst/>
                <a:latin typeface="Microsoft YaHei" panose="020B0503020204020204" pitchFamily="34" charset="-122"/>
                <a:ea typeface="Microsoft YaHei" panose="020B0503020204020204" pitchFamily="34" charset="-122"/>
              </a:rPr>
              <a:t>通过将原始低维数据进行非线性映射，使其嵌入到一个高维空间中。在这个高维空间里，应用线性分类器，如支持向量机（</a:t>
            </a:r>
            <a:r>
              <a:rPr lang="en" altLang="zh-CN" dirty="0">
                <a:solidFill>
                  <a:srgbClr val="000000"/>
                </a:solidFill>
                <a:effectLst/>
                <a:latin typeface="Microsoft YaHei" panose="020B0503020204020204" pitchFamily="34" charset="-122"/>
                <a:ea typeface="Microsoft YaHei" panose="020B0503020204020204" pitchFamily="34" charset="-122"/>
              </a:rPr>
              <a:t>SVM</a:t>
            </a:r>
            <a:r>
              <a:rPr lang="zh-CN" altLang="en" dirty="0">
                <a:solidFill>
                  <a:srgbClr val="000000"/>
                </a:solidFill>
                <a:effectLst/>
                <a:latin typeface="Microsoft YaHei" panose="020B0503020204020204" pitchFamily="34" charset="-122"/>
                <a:ea typeface="Microsoft YaHei" panose="020B0503020204020204" pitchFamily="34" charset="-122"/>
              </a:rPr>
              <a:t>）。</a:t>
            </a:r>
            <a:endParaRPr kumimoji="1" lang="en-US" altLang="zh-CN"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35000"/>
              </a:lnSpc>
              <a:buFont typeface="Wingdings" pitchFamily="2" charset="2"/>
              <a:buChar char="p"/>
            </a:pPr>
            <a:r>
              <a:rPr lang="zh-CN" altLang="en-US" b="1" dirty="0">
                <a:solidFill>
                  <a:srgbClr val="B61516"/>
                </a:solidFill>
                <a:effectLst/>
                <a:latin typeface="Microsoft YaHei" panose="020B0503020204020204" pitchFamily="34" charset="-122"/>
                <a:ea typeface="Microsoft YaHei" panose="020B0503020204020204" pitchFamily="34" charset="-122"/>
              </a:rPr>
              <a:t>神经网络</a:t>
            </a:r>
            <a:r>
              <a:rPr lang="zh-CN" altLang="en-US" dirty="0">
                <a:solidFill>
                  <a:srgbClr val="000000"/>
                </a:solidFill>
                <a:effectLst/>
                <a:latin typeface="Microsoft YaHei" panose="020B0503020204020204" pitchFamily="34" charset="-122"/>
                <a:ea typeface="Microsoft YaHei" panose="020B0503020204020204" pitchFamily="34" charset="-122"/>
              </a:rPr>
              <a:t>可以看作是一系列复杂的非线性变换堆叠在一起，其目标是在网络的倒数第二层将数据变得线性可分，然后通过最后一层的线性分类器进行分类。</a:t>
            </a:r>
            <a:endParaRPr lang="zh-CN" altLang="en" dirty="0">
              <a:solidFill>
                <a:srgbClr val="000000"/>
              </a:solidFill>
              <a:effectLst/>
              <a:latin typeface="Microsoft YaHei" panose="020B0503020204020204" pitchFamily="34" charset="-122"/>
              <a:ea typeface="Microsoft YaHei" panose="020B0503020204020204" pitchFamily="34" charset="-122"/>
            </a:endParaRPr>
          </a:p>
        </p:txBody>
      </p:sp>
      <p:sp>
        <p:nvSpPr>
          <p:cNvPr id="2" name="文本框 1">
            <a:extLst>
              <a:ext uri="{FF2B5EF4-FFF2-40B4-BE49-F238E27FC236}">
                <a16:creationId xmlns:a16="http://schemas.microsoft.com/office/drawing/2014/main" id="{4C45548B-D949-C0D5-AE43-56D02846A10C}"/>
              </a:ext>
            </a:extLst>
          </p:cNvPr>
          <p:cNvSpPr txBox="1"/>
          <p:nvPr/>
        </p:nvSpPr>
        <p:spPr>
          <a:xfrm>
            <a:off x="190831" y="6464410"/>
            <a:ext cx="7255256" cy="276999"/>
          </a:xfrm>
          <a:prstGeom prst="rect">
            <a:avLst/>
          </a:prstGeom>
          <a:noFill/>
        </p:spPr>
        <p:txBody>
          <a:bodyPr wrap="none" rtlCol="0">
            <a:spAutoFit/>
          </a:bodyPr>
          <a:lstStyle/>
          <a:p>
            <a:pPr algn="l"/>
            <a:r>
              <a:rPr kumimoji="1" lang="zh-CN" altLang="en-US" sz="1200" dirty="0">
                <a:solidFill>
                  <a:schemeClr val="bg1"/>
                </a:solidFill>
                <a:latin typeface="Times New Roman" panose="02020603050405020304" pitchFamily="18" charset="0"/>
                <a:cs typeface="Times New Roman" panose="02020603050405020304" pitchFamily="18" charset="0"/>
              </a:rPr>
              <a:t>图片来源：</a:t>
            </a:r>
            <a:r>
              <a:rPr kumimoji="1" lang="en" altLang="zh-CN" sz="1200" dirty="0">
                <a:solidFill>
                  <a:schemeClr val="bg1"/>
                </a:solidFill>
                <a:latin typeface="Times New Roman" panose="02020603050405020304" pitchFamily="18" charset="0"/>
                <a:cs typeface="Times New Roman" panose="02020603050405020304" pitchFamily="18" charset="0"/>
              </a:rPr>
              <a:t>https://</a:t>
            </a:r>
            <a:r>
              <a:rPr kumimoji="1" lang="en" altLang="zh-CN" sz="1200" dirty="0" err="1">
                <a:solidFill>
                  <a:schemeClr val="bg1"/>
                </a:solidFill>
                <a:latin typeface="Times New Roman" panose="02020603050405020304" pitchFamily="18" charset="0"/>
                <a:cs typeface="Times New Roman" panose="02020603050405020304" pitchFamily="18" charset="0"/>
              </a:rPr>
              <a:t>stackoverflow.com</a:t>
            </a:r>
            <a:r>
              <a:rPr kumimoji="1" lang="en" altLang="zh-CN" sz="1200" dirty="0">
                <a:solidFill>
                  <a:schemeClr val="bg1"/>
                </a:solidFill>
                <a:latin typeface="Times New Roman" panose="02020603050405020304" pitchFamily="18" charset="0"/>
                <a:cs typeface="Times New Roman" panose="02020603050405020304" pitchFamily="18" charset="0"/>
              </a:rPr>
              <a:t>/questions/3997454/help-me-understand-linear-separability-in-a-binary-</a:t>
            </a:r>
            <a:r>
              <a:rPr kumimoji="1" lang="en" altLang="zh-CN" sz="1200" dirty="0" err="1">
                <a:solidFill>
                  <a:schemeClr val="bg1"/>
                </a:solidFill>
                <a:latin typeface="Times New Roman" panose="02020603050405020304" pitchFamily="18" charset="0"/>
                <a:cs typeface="Times New Roman" panose="02020603050405020304" pitchFamily="18" charset="0"/>
              </a:rPr>
              <a:t>svm</a:t>
            </a:r>
            <a:endParaRPr kumimoji="1" lang="zh-CN" altLang="en-US" sz="1200" dirty="0">
              <a:solidFill>
                <a:schemeClr val="bg1"/>
              </a:solidFill>
              <a:latin typeface="Times New Roman" panose="02020603050405020304" pitchFamily="18" charset="0"/>
              <a:cs typeface="Times New Roman" panose="02020603050405020304" pitchFamily="18" charset="0"/>
            </a:endParaRPr>
          </a:p>
        </p:txBody>
      </p:sp>
      <p:pic>
        <p:nvPicPr>
          <p:cNvPr id="5" name="图片 4">
            <a:extLst>
              <a:ext uri="{FF2B5EF4-FFF2-40B4-BE49-F238E27FC236}">
                <a16:creationId xmlns:a16="http://schemas.microsoft.com/office/drawing/2014/main" id="{22908E5C-8466-EB34-A10A-FA98FE5006C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63060" y="1798526"/>
            <a:ext cx="5488857" cy="2816271"/>
          </a:xfrm>
          <a:prstGeom prst="rect">
            <a:avLst/>
          </a:prstGeom>
        </p:spPr>
      </p:pic>
      <p:sp>
        <p:nvSpPr>
          <p:cNvPr id="8" name="椭圆形标注 7">
            <a:extLst>
              <a:ext uri="{FF2B5EF4-FFF2-40B4-BE49-F238E27FC236}">
                <a16:creationId xmlns:a16="http://schemas.microsoft.com/office/drawing/2014/main" id="{E2E4B997-4435-A52B-A2E2-01A3F9AA68BD}"/>
              </a:ext>
            </a:extLst>
          </p:cNvPr>
          <p:cNvSpPr/>
          <p:nvPr/>
        </p:nvSpPr>
        <p:spPr>
          <a:xfrm>
            <a:off x="7785717" y="2277676"/>
            <a:ext cx="4152281" cy="964288"/>
          </a:xfrm>
          <a:prstGeom prst="wedgeEllipseCallout">
            <a:avLst>
              <a:gd name="adj1" fmla="val -112428"/>
              <a:gd name="adj2" fmla="val -9101"/>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b="1" dirty="0">
                <a:solidFill>
                  <a:srgbClr val="C00000"/>
                </a:solidFill>
                <a:latin typeface="Microsoft YaHei" panose="020B0503020204020204" pitchFamily="34" charset="-122"/>
                <a:ea typeface="Microsoft YaHei" panose="020B0503020204020204" pitchFamily="34" charset="-122"/>
              </a:rPr>
              <a:t>通过增加新的维度，模型为数据点提供了额外的“活动空间”</a:t>
            </a:r>
          </a:p>
        </p:txBody>
      </p:sp>
    </p:spTree>
    <p:extLst>
      <p:ext uri="{BB962C8B-B14F-4D97-AF65-F5344CB8AC3E}">
        <p14:creationId xmlns:p14="http://schemas.microsoft.com/office/powerpoint/2010/main" val="3589203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43269-48C2-FCBB-853C-02960442140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52A583-8EF6-3DCF-147C-6B1E35E34314}"/>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090ECB42-1CA1-B978-0E96-395AF48C14AB}"/>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E1A57910-0A6E-C9A2-B3A5-4F5464417E3E}"/>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1AAA5DB1-0668-D127-D27D-EEE72B2A6B86}"/>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16C0241D-B080-4051-5953-6D7667D596B5}"/>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3226025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8BE73-5E9A-F0FD-6ED6-82623251C42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B74B525-4465-FEC0-9BF5-9ABC84709783}"/>
              </a:ext>
            </a:extLst>
          </p:cNvPr>
          <p:cNvSpPr>
            <a:spLocks noGrp="1"/>
          </p:cNvSpPr>
          <p:nvPr>
            <p:ph type="title"/>
          </p:nvPr>
        </p:nvSpPr>
        <p:spPr/>
        <p:txBody>
          <a:bodyPr/>
          <a:lstStyle/>
          <a:p>
            <a:r>
              <a:rPr lang="zh-CN" altLang="en-US" dirty="0"/>
              <a:t>什么是维数灾难？</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DFEA7884-7622-8328-5BF5-91278394A926}"/>
                  </a:ext>
                </a:extLst>
              </p:cNvPr>
              <p:cNvSpPr txBox="1"/>
              <p:nvPr/>
            </p:nvSpPr>
            <p:spPr>
              <a:xfrm>
                <a:off x="278297" y="988072"/>
                <a:ext cx="11171583" cy="1962012"/>
              </a:xfrm>
              <a:prstGeom prst="rect">
                <a:avLst/>
              </a:prstGeom>
              <a:noFill/>
            </p:spPr>
            <p:txBody>
              <a:bodyPr wrap="square" rtlCol="0">
                <a:spAutoFit/>
              </a:bodyPr>
              <a:lstStyle/>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机器学习的核心目标：如何学习一个未知函数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r>
                      <a:rPr kumimoji="1" lang="zh-CN" altLang="en-US" sz="2000" b="0" i="0" smtClean="0">
                        <a:solidFill>
                          <a:srgbClr val="000000"/>
                        </a:solidFill>
                        <a:latin typeface="Cambria Math" panose="02040503050406030204" pitchFamily="18" charset="0"/>
                        <a:ea typeface="Microsoft YaHei" panose="020B0503020204020204" pitchFamily="34" charset="-122"/>
                      </a:rPr>
                      <m:t>？</m:t>
                    </m:r>
                  </m:oMath>
                </a14:m>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这通常可以描述为一个</a:t>
                </a:r>
                <a:r>
                  <a:rPr kumimoji="1" lang="zh-CN" altLang="en-US" sz="2000" b="1" dirty="0">
                    <a:solidFill>
                      <a:srgbClr val="000000"/>
                    </a:solidFill>
                    <a:ea typeface="Microsoft YaHei" panose="020B0503020204020204" pitchFamily="34" charset="-122"/>
                  </a:rPr>
                  <a:t>函数逼近</a:t>
                </a:r>
                <a:r>
                  <a:rPr kumimoji="1" lang="zh-CN" altLang="en-US" sz="2000" dirty="0">
                    <a:solidFill>
                      <a:srgbClr val="000000"/>
                    </a:solidFill>
                    <a:ea typeface="Microsoft YaHei" panose="020B0503020204020204" pitchFamily="34" charset="-122"/>
                  </a:rPr>
                  <a:t>问题</a:t>
                </a:r>
                <a:r>
                  <a:rPr kumimoji="1" lang="en-US"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已知一个数据集 </a:t>
                </a:r>
                <a14:m>
                  <m:oMath xmlns:m="http://schemas.openxmlformats.org/officeDocument/2006/math">
                    <m:r>
                      <m:rPr>
                        <m:lit/>
                      </m:rPr>
                      <a:rPr kumimoji="1" lang="en-US" altLang="zh-CN" sz="2000" b="0" i="1" smtClean="0">
                        <a:solidFill>
                          <a:srgbClr val="000000"/>
                        </a:solidFill>
                        <a:latin typeface="Cambria Math" panose="02040503050406030204" pitchFamily="18" charset="0"/>
                        <a:ea typeface="Microsoft YaHei" panose="020B0503020204020204" pitchFamily="34" charset="-122"/>
                      </a:rPr>
                      <m:t>{</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1" i="1" smtClean="0">
                            <a:solidFill>
                              <a:srgbClr val="000000"/>
                            </a:solidFill>
                            <a:latin typeface="Cambria Math" panose="02040503050406030204" pitchFamily="18" charset="0"/>
                            <a:ea typeface="Microsoft YaHei" panose="020B0503020204020204" pitchFamily="34" charset="-122"/>
                          </a:rPr>
                          <m:t>(</m:t>
                        </m:r>
                        <m:r>
                          <a:rPr kumimoji="1" lang="en-US" altLang="zh-CN" sz="2000" b="1" i="1" smtClean="0">
                            <a:solidFill>
                              <a:srgbClr val="000000"/>
                            </a:solidFill>
                            <a:latin typeface="Cambria Math" panose="02040503050406030204" pitchFamily="18" charset="0"/>
                            <a:ea typeface="Microsoft YaHei" panose="020B0503020204020204" pitchFamily="34" charset="-122"/>
                          </a:rPr>
                          <m:t>𝒙</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 </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0" i="1" smtClean="0">
                            <a:solidFill>
                              <a:srgbClr val="000000"/>
                            </a:solidFill>
                            <a:latin typeface="Cambria Math" panose="02040503050406030204" pitchFamily="18" charset="0"/>
                            <a:ea typeface="Microsoft YaHei" panose="020B0503020204020204" pitchFamily="34" charset="-122"/>
                          </a:rPr>
                          <m:t>𝑦</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sSubSup>
                      <m:sSub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SupPr>
                      <m:e>
                        <m:r>
                          <m:rPr>
                            <m:lit/>
                          </m:rPr>
                          <a:rPr kumimoji="1" lang="en-US" altLang="zh-CN" sz="2000" b="0" i="1" smtClean="0">
                            <a:solidFill>
                              <a:srgbClr val="000000"/>
                            </a:solidFill>
                            <a:latin typeface="Cambria Math" panose="02040503050406030204" pitchFamily="18" charset="0"/>
                            <a:ea typeface="Microsoft YaHei" panose="020B0503020204020204" pitchFamily="34" charset="-122"/>
                          </a:rPr>
                          <m:t>}</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r>
                          <a:rPr kumimoji="1" lang="en-US" altLang="zh-CN" sz="2000" b="0" i="1" smtClean="0">
                            <a:solidFill>
                              <a:srgbClr val="000000"/>
                            </a:solidFill>
                            <a:latin typeface="Cambria Math" panose="02040503050406030204" pitchFamily="18" charset="0"/>
                            <a:ea typeface="Microsoft YaHei" panose="020B0503020204020204" pitchFamily="34" charset="-122"/>
                          </a:rPr>
                          <m:t>=1</m:t>
                        </m:r>
                      </m:sub>
                      <m:sup>
                        <m:r>
                          <a:rPr kumimoji="1" lang="en-US" altLang="zh-CN" sz="2000" b="0" i="1" smtClean="0">
                            <a:solidFill>
                              <a:srgbClr val="000000"/>
                            </a:solidFill>
                            <a:latin typeface="Cambria Math" panose="02040503050406030204" pitchFamily="18" charset="0"/>
                            <a:ea typeface="Microsoft YaHei" panose="020B0503020204020204" pitchFamily="34" charset="-122"/>
                          </a:rPr>
                          <m:t>𝑛</m:t>
                        </m:r>
                      </m:sup>
                    </m:sSubSup>
                  </m:oMath>
                </a14:m>
                <a:r>
                  <a:rPr kumimoji="1" lang="en" altLang="zh-CN" sz="2000" dirty="0">
                    <a:solidFill>
                      <a:srgbClr val="000000"/>
                    </a:solidFill>
                    <a:ea typeface="Microsoft YaHei" panose="020B0503020204020204" pitchFamily="34" charset="-122"/>
                  </a:rPr>
                  <a:t> , </a:t>
                </a:r>
                <a:r>
                  <a:rPr kumimoji="1" lang="zh-CN" altLang="en-US" sz="2000" dirty="0">
                    <a:solidFill>
                      <a:srgbClr val="000000"/>
                    </a:solidFill>
                    <a:ea typeface="Microsoft YaHei" panose="020B0503020204020204" pitchFamily="34" charset="-122"/>
                  </a:rPr>
                  <a:t>其中 </a:t>
                </a:r>
                <a14:m>
                  <m:oMath xmlns:m="http://schemas.openxmlformats.org/officeDocument/2006/math">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0" i="1" smtClean="0">
                            <a:solidFill>
                              <a:srgbClr val="000000"/>
                            </a:solidFill>
                            <a:latin typeface="Cambria Math" panose="02040503050406030204" pitchFamily="18" charset="0"/>
                            <a:ea typeface="Microsoft YaHei" panose="020B0503020204020204" pitchFamily="34" charset="-122"/>
                          </a:rPr>
                          <m:t>𝑦</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1" i="1" smtClean="0">
                            <a:solidFill>
                              <a:srgbClr val="000000"/>
                            </a:solidFill>
                            <a:latin typeface="Cambria Math" panose="02040503050406030204" pitchFamily="18" charset="0"/>
                            <a:ea typeface="Microsoft YaHei" panose="020B0503020204020204" pitchFamily="34" charset="-122"/>
                          </a:rPr>
                          <m:t>𝒙</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oMath>
                </a14:m>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我们希望基于这些数据来找到一个函数 </a:t>
                </a:r>
                <a14:m>
                  <m:oMath xmlns:m="http://schemas.openxmlformats.org/officeDocument/2006/math">
                    <m:acc>
                      <m:accPr>
                        <m:chr m:val="̂"/>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acc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acc>
                  </m:oMath>
                </a14:m>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尽可能逼近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oMath>
                </a14:m>
                <a:r>
                  <a:rPr kumimoji="1" lang="zh-CN" altLang="en" sz="2000" dirty="0">
                    <a:solidFill>
                      <a:srgbClr val="000000"/>
                    </a:solidFill>
                    <a:ea typeface="Microsoft YaHei" panose="020B0503020204020204" pitchFamily="34" charset="-122"/>
                  </a:rPr>
                  <a:t>。</a:t>
                </a:r>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高维： “</a:t>
                </a:r>
                <a:r>
                  <a:rPr kumimoji="1" lang="zh-CN" altLang="en-US" sz="2000" b="1" dirty="0">
                    <a:solidFill>
                      <a:srgbClr val="000000"/>
                    </a:solidFill>
                    <a:ea typeface="Microsoft YaHei" panose="020B0503020204020204" pitchFamily="34" charset="-122"/>
                  </a:rPr>
                  <a:t>维数灾难</a:t>
                </a:r>
                <a:r>
                  <a:rPr kumimoji="1" lang="zh-CN" altLang="en-US" sz="2000" dirty="0">
                    <a:solidFill>
                      <a:srgbClr val="000000"/>
                    </a:solidFill>
                    <a:ea typeface="Microsoft YaHei" panose="020B0503020204020204" pitchFamily="34" charset="-122"/>
                  </a:rPr>
                  <a:t>”</a:t>
                </a:r>
                <a:r>
                  <a:rPr kumimoji="1" lang="en-US" altLang="zh-CN" sz="2000" dirty="0">
                    <a:solidFill>
                      <a:srgbClr val="000000"/>
                    </a:solidFill>
                    <a:ea typeface="Microsoft YaHei" panose="020B0503020204020204" pitchFamily="34" charset="-122"/>
                  </a:rPr>
                  <a:t>(</a:t>
                </a:r>
                <a:r>
                  <a:rPr kumimoji="1" lang="en" altLang="zh-CN" sz="2000" dirty="0">
                    <a:solidFill>
                      <a:srgbClr val="000000"/>
                    </a:solidFill>
                    <a:ea typeface="Microsoft YaHei" panose="020B0503020204020204" pitchFamily="34" charset="-122"/>
                  </a:rPr>
                  <a:t>curse of dimensionality</a:t>
                </a:r>
                <a:r>
                  <a:rPr kumimoji="1" lang="zh-CN" altLang="en" sz="2000" dirty="0">
                    <a:solidFill>
                      <a:srgbClr val="000000"/>
                    </a:solidFill>
                    <a:ea typeface="Microsoft YaHei" panose="020B0503020204020204" pitchFamily="34" charset="-122"/>
                  </a:rPr>
                  <a:t>，</a:t>
                </a:r>
                <a:r>
                  <a:rPr kumimoji="1" lang="en" altLang="zh-CN" sz="2000" dirty="0" err="1">
                    <a:solidFill>
                      <a:srgbClr val="000000"/>
                    </a:solidFill>
                    <a:ea typeface="Microsoft YaHei" panose="020B0503020204020204" pitchFamily="34" charset="-122"/>
                  </a:rPr>
                  <a:t>CoD</a:t>
                </a:r>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 </a:t>
                </a:r>
                <a:endParaRPr kumimoji="1" lang="en-US" altLang="zh-CN" sz="2000" dirty="0">
                  <a:solidFill>
                    <a:srgbClr val="000000"/>
                  </a:solidFill>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DFEA7884-7622-8328-5BF5-91278394A926}"/>
                  </a:ext>
                </a:extLst>
              </p:cNvPr>
              <p:cNvSpPr txBox="1">
                <a:spLocks noRot="1" noChangeAspect="1" noMove="1" noResize="1" noEditPoints="1" noAdjustHandles="1" noChangeArrowheads="1" noChangeShapeType="1" noTextEdit="1"/>
              </p:cNvSpPr>
              <p:nvPr/>
            </p:nvSpPr>
            <p:spPr>
              <a:xfrm>
                <a:off x="278297" y="988072"/>
                <a:ext cx="11171583" cy="1962012"/>
              </a:xfrm>
              <a:prstGeom prst="rect">
                <a:avLst/>
              </a:prstGeom>
              <a:blipFill>
                <a:blip r:embed="rId2"/>
                <a:stretch>
                  <a:fillRect l="-491" b="-2795"/>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E099FF0E-B97E-930E-9E2F-8112CD9D7269}"/>
              </a:ext>
            </a:extLst>
          </p:cNvPr>
          <p:cNvSpPr txBox="1"/>
          <p:nvPr/>
        </p:nvSpPr>
        <p:spPr>
          <a:xfrm>
            <a:off x="381242" y="4834304"/>
            <a:ext cx="6639338" cy="968150"/>
          </a:xfrm>
          <a:prstGeom prst="rect">
            <a:avLst/>
          </a:prstGeom>
          <a:noFill/>
        </p:spPr>
        <p:txBody>
          <a:bodyPr wrap="square" rtlCol="0">
            <a:spAutoFit/>
          </a:bodyPr>
          <a:lstStyle/>
          <a:p>
            <a:pPr>
              <a:lnSpc>
                <a:spcPct val="150000"/>
              </a:lnSpc>
            </a:pPr>
            <a:r>
              <a:rPr kumimoji="1" lang="zh-CN" altLang="en" sz="2000" dirty="0">
                <a:solidFill>
                  <a:srgbClr val="000000"/>
                </a:solidFill>
                <a:ea typeface="Microsoft YaHei" panose="020B0503020204020204" pitchFamily="34" charset="-122"/>
              </a:rPr>
              <a:t>最初</a:t>
            </a:r>
            <a:r>
              <a:rPr kumimoji="1" lang="en" altLang="zh-CN" sz="2000" dirty="0">
                <a:solidFill>
                  <a:srgbClr val="000000"/>
                </a:solidFill>
                <a:ea typeface="Microsoft YaHei" panose="020B0503020204020204" pitchFamily="34" charset="-122"/>
              </a:rPr>
              <a:t>Richard Bellman</a:t>
            </a:r>
            <a:r>
              <a:rPr kumimoji="1" lang="en-US" altLang="zh-CN" sz="2000" dirty="0">
                <a:solidFill>
                  <a:srgbClr val="000000"/>
                </a:solidFill>
                <a:ea typeface="Microsoft YaHei" panose="020B0503020204020204" pitchFamily="34" charset="-122"/>
              </a:rPr>
              <a:t>20</a:t>
            </a:r>
            <a:r>
              <a:rPr kumimoji="1" lang="zh-CN" altLang="en-US" sz="2000" dirty="0">
                <a:solidFill>
                  <a:srgbClr val="000000"/>
                </a:solidFill>
                <a:ea typeface="Microsoft YaHei" panose="020B0503020204020204" pitchFamily="34" charset="-122"/>
              </a:rPr>
              <a:t>世纪</a:t>
            </a:r>
            <a:r>
              <a:rPr kumimoji="1" lang="en-US" altLang="zh-CN" sz="2000" dirty="0">
                <a:solidFill>
                  <a:srgbClr val="000000"/>
                </a:solidFill>
                <a:ea typeface="Microsoft YaHei" panose="020B0503020204020204" pitchFamily="34" charset="-122"/>
              </a:rPr>
              <a:t>50</a:t>
            </a:r>
            <a:r>
              <a:rPr kumimoji="1" lang="zh-CN" altLang="en-US" sz="2000" dirty="0">
                <a:solidFill>
                  <a:srgbClr val="000000"/>
                </a:solidFill>
                <a:ea typeface="Microsoft YaHei" panose="020B0503020204020204" pitchFamily="34" charset="-122"/>
              </a:rPr>
              <a:t>年代提出：描述动态规划中状态变量维数增加导致计算复杂度呈</a:t>
            </a:r>
            <a:r>
              <a:rPr kumimoji="1" lang="zh-CN" altLang="en-US" sz="2000" b="1" dirty="0">
                <a:solidFill>
                  <a:srgbClr val="000000"/>
                </a:solidFill>
                <a:ea typeface="Microsoft YaHei" panose="020B0503020204020204" pitchFamily="34" charset="-122"/>
              </a:rPr>
              <a:t>指数级增长</a:t>
            </a:r>
            <a:r>
              <a:rPr kumimoji="1" lang="zh-CN" altLang="en-US" sz="2000" dirty="0">
                <a:solidFill>
                  <a:srgbClr val="000000"/>
                </a:solidFill>
                <a:ea typeface="Microsoft YaHei" panose="020B0503020204020204" pitchFamily="34" charset="-122"/>
              </a:rPr>
              <a:t>的现象</a:t>
            </a:r>
          </a:p>
        </p:txBody>
      </p:sp>
      <p:sp>
        <p:nvSpPr>
          <p:cNvPr id="7" name="圆角矩形 6">
            <a:extLst>
              <a:ext uri="{FF2B5EF4-FFF2-40B4-BE49-F238E27FC236}">
                <a16:creationId xmlns:a16="http://schemas.microsoft.com/office/drawing/2014/main" id="{86C837FA-799D-3C09-D4A2-27C21535EBA3}"/>
              </a:ext>
            </a:extLst>
          </p:cNvPr>
          <p:cNvSpPr/>
          <p:nvPr/>
        </p:nvSpPr>
        <p:spPr>
          <a:xfrm>
            <a:off x="414991" y="3344944"/>
            <a:ext cx="6222670" cy="1121548"/>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r>
              <a:rPr kumimoji="1" lang="zh-CN" altLang="en-US" sz="2000" b="1" dirty="0">
                <a:solidFill>
                  <a:srgbClr val="C00000"/>
                </a:solidFill>
                <a:ea typeface="Microsoft YaHei" panose="020B0503020204020204" pitchFamily="34" charset="-122"/>
              </a:rPr>
              <a:t>维数灾难：</a:t>
            </a:r>
            <a:r>
              <a:rPr kumimoji="1" lang="zh-CN" altLang="en-US" sz="2000" b="1" dirty="0">
                <a:solidFill>
                  <a:schemeClr val="tx2"/>
                </a:solidFill>
                <a:ea typeface="Microsoft YaHei" panose="020B0503020204020204" pitchFamily="34" charset="-122"/>
              </a:rPr>
              <a:t>当数据的维数增高时</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 为了保持模型的精度</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 算法所需的数据量</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计算量随维数</a:t>
            </a:r>
            <a:r>
              <a:rPr kumimoji="1" lang="zh-CN" altLang="en-US" sz="2000" b="1" dirty="0">
                <a:solidFill>
                  <a:schemeClr val="tx1"/>
                </a:solidFill>
                <a:ea typeface="Microsoft YaHei" panose="020B0503020204020204" pitchFamily="34" charset="-122"/>
              </a:rPr>
              <a:t>呈指数级</a:t>
            </a:r>
            <a:r>
              <a:rPr kumimoji="1" lang="zh-CN" altLang="en-US" sz="2000" b="1" dirty="0">
                <a:solidFill>
                  <a:schemeClr val="tx2"/>
                </a:solidFill>
                <a:ea typeface="Microsoft YaHei" panose="020B0503020204020204" pitchFamily="34" charset="-122"/>
              </a:rPr>
              <a:t>增长。</a:t>
            </a:r>
            <a:endParaRPr kumimoji="1" lang="en-US" altLang="zh-CN" sz="2000" b="1" dirty="0">
              <a:solidFill>
                <a:schemeClr val="tx2"/>
              </a:solidFill>
              <a:ea typeface="Microsoft YaHei" panose="020B0503020204020204" pitchFamily="34" charset="-122"/>
            </a:endParaRPr>
          </a:p>
        </p:txBody>
      </p:sp>
      <p:pic>
        <p:nvPicPr>
          <p:cNvPr id="14338" name="Picture 2" descr="Curse of shop dimensionality neural network">
            <a:extLst>
              <a:ext uri="{FF2B5EF4-FFF2-40B4-BE49-F238E27FC236}">
                <a16:creationId xmlns:a16="http://schemas.microsoft.com/office/drawing/2014/main" id="{05CCD4A4-A7EA-95F8-6C61-79F4F7BA60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3803"/>
          <a:stretch/>
        </p:blipFill>
        <p:spPr bwMode="auto">
          <a:xfrm>
            <a:off x="7259781" y="2294338"/>
            <a:ext cx="4932219" cy="2448737"/>
          </a:xfrm>
          <a:prstGeom prst="rect">
            <a:avLst/>
          </a:prstGeom>
          <a:noFill/>
          <a:extLst>
            <a:ext uri="{909E8E84-426E-40DD-AFC4-6F175D3DCCD1}">
              <a14:hiddenFill xmlns:a14="http://schemas.microsoft.com/office/drawing/2010/main">
                <a:solidFill>
                  <a:srgbClr val="FFFFFF"/>
                </a:solidFill>
              </a14:hiddenFill>
            </a:ext>
          </a:extLst>
        </p:spPr>
      </p:pic>
      <p:sp>
        <p:nvSpPr>
          <p:cNvPr id="8" name="椭圆形标注 7">
            <a:extLst>
              <a:ext uri="{FF2B5EF4-FFF2-40B4-BE49-F238E27FC236}">
                <a16:creationId xmlns:a16="http://schemas.microsoft.com/office/drawing/2014/main" id="{82D66C35-C159-B4DC-4047-B24014B02CCF}"/>
              </a:ext>
            </a:extLst>
          </p:cNvPr>
          <p:cNvSpPr/>
          <p:nvPr/>
        </p:nvSpPr>
        <p:spPr>
          <a:xfrm>
            <a:off x="7259781" y="5318379"/>
            <a:ext cx="4550977" cy="484075"/>
          </a:xfrm>
          <a:prstGeom prst="wedgeEllipseCallout">
            <a:avLst>
              <a:gd name="adj1" fmla="val 9851"/>
              <a:gd name="adj2" fmla="val -23460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训练样本需要随维数指数增加</a:t>
            </a:r>
          </a:p>
        </p:txBody>
      </p:sp>
      <p:sp>
        <p:nvSpPr>
          <p:cNvPr id="2" name="文本框 1">
            <a:extLst>
              <a:ext uri="{FF2B5EF4-FFF2-40B4-BE49-F238E27FC236}">
                <a16:creationId xmlns:a16="http://schemas.microsoft.com/office/drawing/2014/main" id="{7E489866-BCF8-B9E8-1C4C-A445AC95D39C}"/>
              </a:ext>
            </a:extLst>
          </p:cNvPr>
          <p:cNvSpPr txBox="1"/>
          <p:nvPr/>
        </p:nvSpPr>
        <p:spPr>
          <a:xfrm>
            <a:off x="126998" y="6297766"/>
            <a:ext cx="6798656" cy="584775"/>
          </a:xfrm>
          <a:prstGeom prst="rect">
            <a:avLst/>
          </a:prstGeom>
          <a:noFill/>
        </p:spPr>
        <p:txBody>
          <a:bodyPr wrap="none" rtlCol="0">
            <a:spAutoFit/>
          </a:bodyPr>
          <a:lstStyle/>
          <a:p>
            <a:r>
              <a:rPr lang="zh-CN" altLang="en" sz="1600" dirty="0">
                <a:solidFill>
                  <a:schemeClr val="bg1"/>
                </a:solidFill>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图片</a:t>
            </a:r>
            <a:r>
              <a:rPr lang="zh-CN" altLang="en-US" sz="1600" dirty="0">
                <a:solidFill>
                  <a:schemeClr val="bg1"/>
                </a:solidFill>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来源：</a:t>
            </a:r>
            <a:r>
              <a:rPr lang="en" altLang="zh-CN" sz="1600" b="0" i="0" strike="noStrike" dirty="0">
                <a:solidFill>
                  <a:schemeClr val="bg1"/>
                </a:solidFill>
                <a:effectLst/>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Curse of shop dimensionality neural network</a:t>
            </a:r>
          </a:p>
          <a:p>
            <a:r>
              <a:rPr lang="en" altLang="zh-CN" sz="1600" b="0" i="0" strike="noStrike" dirty="0">
                <a:solidFill>
                  <a:schemeClr val="bg1"/>
                </a:solidFill>
                <a:effectLst/>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Christopher M Bishop: Pattem Recognition \&amp; Machine Leaning, 2006 Springer</a:t>
            </a:r>
          </a:p>
        </p:txBody>
      </p:sp>
    </p:spTree>
    <p:extLst>
      <p:ext uri="{BB962C8B-B14F-4D97-AF65-F5344CB8AC3E}">
        <p14:creationId xmlns:p14="http://schemas.microsoft.com/office/powerpoint/2010/main" val="42863864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409A7-229C-973A-B685-50BD99B2DC9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84F5A14-1506-CA82-231F-FA3D97FC4C07}"/>
              </a:ext>
            </a:extLst>
          </p:cNvPr>
          <p:cNvSpPr>
            <a:spLocks noGrp="1"/>
          </p:cNvSpPr>
          <p:nvPr>
            <p:ph type="title"/>
          </p:nvPr>
        </p:nvSpPr>
        <p:spPr/>
        <p:txBody>
          <a:bodyPr/>
          <a:lstStyle/>
          <a:p>
            <a:r>
              <a:rPr lang="zh-CN" altLang="en-US" dirty="0"/>
              <a:t>维数灾难的例子：数值积分</a:t>
            </a:r>
          </a:p>
        </p:txBody>
      </p:sp>
      <p:pic>
        <p:nvPicPr>
          <p:cNvPr id="9" name="图片 8">
            <a:extLst>
              <a:ext uri="{FF2B5EF4-FFF2-40B4-BE49-F238E27FC236}">
                <a16:creationId xmlns:a16="http://schemas.microsoft.com/office/drawing/2014/main" id="{34BCC715-2E6A-999A-53F5-B7D359C98C44}"/>
              </a:ext>
            </a:extLst>
          </p:cNvPr>
          <p:cNvPicPr>
            <a:picLocks noChangeAspect="1"/>
          </p:cNvPicPr>
          <p:nvPr/>
        </p:nvPicPr>
        <p:blipFill>
          <a:blip r:embed="rId2"/>
          <a:stretch>
            <a:fillRect/>
          </a:stretch>
        </p:blipFill>
        <p:spPr>
          <a:xfrm>
            <a:off x="4100443" y="792568"/>
            <a:ext cx="2946400" cy="1104900"/>
          </a:xfrm>
          <a:prstGeom prst="rect">
            <a:avLst/>
          </a:prstGeom>
        </p:spPr>
      </p:pic>
      <p:sp>
        <p:nvSpPr>
          <p:cNvPr id="11" name="文本框 10">
            <a:extLst>
              <a:ext uri="{FF2B5EF4-FFF2-40B4-BE49-F238E27FC236}">
                <a16:creationId xmlns:a16="http://schemas.microsoft.com/office/drawing/2014/main" id="{E935C846-C4A0-A4DC-9686-3413D5F2A61A}"/>
              </a:ext>
            </a:extLst>
          </p:cNvPr>
          <p:cNvSpPr txBox="1"/>
          <p:nvPr/>
        </p:nvSpPr>
        <p:spPr>
          <a:xfrm>
            <a:off x="381242" y="1872282"/>
            <a:ext cx="11429516" cy="369332"/>
          </a:xfrm>
          <a:prstGeom prst="rect">
            <a:avLst/>
          </a:prstGeom>
          <a:noFill/>
        </p:spPr>
        <p:txBody>
          <a:bodyPr wrap="square" rtlCol="0">
            <a:spAutoFit/>
          </a:bodyPr>
          <a:lstStyle/>
          <a:p>
            <a:r>
              <a:rPr lang="en-US" altLang="zh-CN" dirty="0">
                <a:solidFill>
                  <a:srgbClr val="000000"/>
                </a:solidFill>
                <a:latin typeface="Microsoft YaHei" panose="020B0503020204020204" pitchFamily="34" charset="-122"/>
                <a:ea typeface="Microsoft YaHei" panose="020B0503020204020204" pitchFamily="34" charset="-122"/>
              </a:rPr>
              <a:t>1</a:t>
            </a:r>
            <a:r>
              <a:rPr lang="zh-CN" altLang="en-US" dirty="0">
                <a:solidFill>
                  <a:srgbClr val="000000"/>
                </a:solidFill>
                <a:latin typeface="Microsoft YaHei" panose="020B0503020204020204" pitchFamily="34" charset="-122"/>
                <a:ea typeface="Microsoft YaHei" panose="020B0503020204020204" pitchFamily="34" charset="-122"/>
              </a:rPr>
              <a:t>维时：</a:t>
            </a:r>
            <a:r>
              <a:rPr lang="zh-CN" altLang="en-US" sz="1800" dirty="0">
                <a:solidFill>
                  <a:srgbClr val="000000"/>
                </a:solidFill>
                <a:effectLst/>
                <a:latin typeface="Microsoft YaHei" panose="020B0503020204020204" pitchFamily="34" charset="-122"/>
                <a:ea typeface="Microsoft YaHei" panose="020B0503020204020204" pitchFamily="34" charset="-122"/>
              </a:rPr>
              <a:t>通过将 </a:t>
            </a:r>
            <a:r>
              <a:rPr lang="en-US" altLang="zh-CN" sz="1800" dirty="0">
                <a:solidFill>
                  <a:srgbClr val="000000"/>
                </a:solidFill>
                <a:effectLst/>
                <a:latin typeface="Microsoft YaHei" panose="020B0503020204020204" pitchFamily="34" charset="-122"/>
                <a:ea typeface="Microsoft YaHei" panose="020B0503020204020204" pitchFamily="34" charset="-122"/>
              </a:rPr>
              <a:t>[0, 1] </a:t>
            </a:r>
            <a:r>
              <a:rPr lang="zh-CN" altLang="en-US" sz="1800" dirty="0">
                <a:solidFill>
                  <a:srgbClr val="000000"/>
                </a:solidFill>
                <a:effectLst/>
                <a:latin typeface="Microsoft YaHei" panose="020B0503020204020204" pitchFamily="34" charset="-122"/>
                <a:ea typeface="Microsoft YaHei" panose="020B0503020204020204" pitchFamily="34" charset="-122"/>
              </a:rPr>
              <a:t>区间划分为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个小区间</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复合梯形法则</a:t>
            </a:r>
            <a:r>
              <a:rPr lang="zh-CN" altLang="en-US" sz="1800" dirty="0">
                <a:solidFill>
                  <a:srgbClr val="000000"/>
                </a:solidFill>
                <a:effectLst/>
                <a:latin typeface="Microsoft YaHei" panose="020B0503020204020204" pitchFamily="34" charset="-122"/>
                <a:ea typeface="Microsoft YaHei" panose="020B0503020204020204" pitchFamily="34" charset="-122"/>
              </a:rPr>
              <a:t>可以将积分近似为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12" name="图片 11">
            <a:extLst>
              <a:ext uri="{FF2B5EF4-FFF2-40B4-BE49-F238E27FC236}">
                <a16:creationId xmlns:a16="http://schemas.microsoft.com/office/drawing/2014/main" id="{56775630-6F15-E1DF-D8E5-287BB2F90316}"/>
              </a:ext>
            </a:extLst>
          </p:cNvPr>
          <p:cNvPicPr>
            <a:picLocks noChangeAspect="1"/>
          </p:cNvPicPr>
          <p:nvPr/>
        </p:nvPicPr>
        <p:blipFill>
          <a:blip r:embed="rId3"/>
          <a:stretch>
            <a:fillRect/>
          </a:stretch>
        </p:blipFill>
        <p:spPr>
          <a:xfrm>
            <a:off x="1306286" y="2359582"/>
            <a:ext cx="5308600" cy="1130300"/>
          </a:xfrm>
          <a:prstGeom prst="rect">
            <a:avLst/>
          </a:prstGeom>
        </p:spPr>
      </p:pic>
      <p:pic>
        <p:nvPicPr>
          <p:cNvPr id="14" name="图片 13">
            <a:extLst>
              <a:ext uri="{FF2B5EF4-FFF2-40B4-BE49-F238E27FC236}">
                <a16:creationId xmlns:a16="http://schemas.microsoft.com/office/drawing/2014/main" id="{D38C9515-DBCF-F0FA-E907-47C73305734F}"/>
              </a:ext>
            </a:extLst>
          </p:cNvPr>
          <p:cNvPicPr>
            <a:picLocks noChangeAspect="1"/>
          </p:cNvPicPr>
          <p:nvPr/>
        </p:nvPicPr>
        <p:blipFill>
          <a:blip r:embed="rId4"/>
          <a:stretch>
            <a:fillRect/>
          </a:stretch>
        </p:blipFill>
        <p:spPr>
          <a:xfrm>
            <a:off x="1575122" y="4075914"/>
            <a:ext cx="5359400" cy="116840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A57184B6-35BB-63D8-09A6-08EB92AC2C42}"/>
                  </a:ext>
                </a:extLst>
              </p:cNvPr>
              <p:cNvSpPr txBox="1"/>
              <p:nvPr/>
            </p:nvSpPr>
            <p:spPr>
              <a:xfrm>
                <a:off x="239679" y="3648764"/>
                <a:ext cx="8850115" cy="688907"/>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维的情况下</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我们需要在一个 </a:t>
                </a:r>
                <a:r>
                  <a:rPr lang="en" altLang="zh-CN" sz="1800" dirty="0">
                    <a:solidFill>
                      <a:srgbClr val="000000"/>
                    </a:solidFill>
                    <a:effectLst/>
                    <a:latin typeface="Microsoft YaHei" panose="020B0503020204020204" pitchFamily="34" charset="-122"/>
                    <a:ea typeface="Microsoft YaHei" panose="020B0503020204020204" pitchFamily="34" charset="-122"/>
                  </a:rPr>
                  <a:t>n × n × ··· × n </a:t>
                </a:r>
                <a:r>
                  <a:rPr lang="zh-CN" altLang="en-US" sz="1800" dirty="0">
                    <a:solidFill>
                      <a:srgbClr val="000000"/>
                    </a:solidFill>
                    <a:effectLst/>
                    <a:latin typeface="Microsoft YaHei" panose="020B0503020204020204" pitchFamily="34" charset="-122"/>
                    <a:ea typeface="Microsoft YaHei" panose="020B0503020204020204" pitchFamily="34" charset="-122"/>
                  </a:rPr>
                  <a:t>的网格上采样</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总共需要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𝑛</m:t>
                        </m:r>
                      </m:e>
                      <m:sup>
                        <m:r>
                          <a:rPr lang="en-US" altLang="zh-CN" sz="1800" b="0" i="1" smtClean="0">
                            <a:solidFill>
                              <a:srgbClr val="000000"/>
                            </a:solidFill>
                            <a:effectLst/>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个节点 </a:t>
                </a:r>
                <a:endParaRPr lang="zh-CN" altLang="en-US" dirty="0">
                  <a:solidFill>
                    <a:srgbClr val="000000"/>
                  </a:solidFill>
                  <a:effectLst/>
                  <a:latin typeface="Microsoft YaHei" panose="020B0503020204020204" pitchFamily="34" charset="-122"/>
                  <a:ea typeface="Microsoft YaHei" panose="020B0503020204020204" pitchFamily="34" charset="-122"/>
                </a:endParaRP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A57184B6-35BB-63D8-09A6-08EB92AC2C42}"/>
                  </a:ext>
                </a:extLst>
              </p:cNvPr>
              <p:cNvSpPr txBox="1">
                <a:spLocks noRot="1" noChangeAspect="1" noMove="1" noResize="1" noEditPoints="1" noAdjustHandles="1" noChangeArrowheads="1" noChangeShapeType="1" noTextEdit="1"/>
              </p:cNvSpPr>
              <p:nvPr/>
            </p:nvSpPr>
            <p:spPr>
              <a:xfrm>
                <a:off x="239679" y="3648764"/>
                <a:ext cx="8850115" cy="688907"/>
              </a:xfrm>
              <a:prstGeom prst="rect">
                <a:avLst/>
              </a:prstGeom>
              <a:blipFill>
                <a:blip r:embed="rId5"/>
                <a:stretch>
                  <a:fillRect l="-573" t="-1818"/>
                </a:stretch>
              </a:blipFill>
            </p:spPr>
            <p:txBody>
              <a:bodyPr/>
              <a:lstStyle/>
              <a:p>
                <a:r>
                  <a:rPr lang="zh-CN" altLang="en-US">
                    <a:noFill/>
                  </a:rPr>
                  <a:t> </a:t>
                </a:r>
              </a:p>
            </p:txBody>
          </p:sp>
        </mc:Fallback>
      </mc:AlternateContent>
      <p:pic>
        <p:nvPicPr>
          <p:cNvPr id="17" name="图片 16">
            <a:extLst>
              <a:ext uri="{FF2B5EF4-FFF2-40B4-BE49-F238E27FC236}">
                <a16:creationId xmlns:a16="http://schemas.microsoft.com/office/drawing/2014/main" id="{7DA22125-8953-CD2A-0017-0C83A3E5FDDB}"/>
              </a:ext>
            </a:extLst>
          </p:cNvPr>
          <p:cNvPicPr>
            <a:picLocks noChangeAspect="1"/>
          </p:cNvPicPr>
          <p:nvPr/>
        </p:nvPicPr>
        <p:blipFill>
          <a:blip r:embed="rId6"/>
          <a:stretch>
            <a:fillRect/>
          </a:stretch>
        </p:blipFill>
        <p:spPr>
          <a:xfrm>
            <a:off x="8374928" y="1296323"/>
            <a:ext cx="3435830" cy="2193559"/>
          </a:xfrm>
          <a:prstGeom prst="rect">
            <a:avLst/>
          </a:prstGeom>
        </p:spPr>
      </p:pic>
      <p:sp>
        <p:nvSpPr>
          <p:cNvPr id="18" name="椭圆形标注 17">
            <a:extLst>
              <a:ext uri="{FF2B5EF4-FFF2-40B4-BE49-F238E27FC236}">
                <a16:creationId xmlns:a16="http://schemas.microsoft.com/office/drawing/2014/main" id="{CAAECF98-D82D-29E9-FD58-11757CCCA544}"/>
              </a:ext>
            </a:extLst>
          </p:cNvPr>
          <p:cNvSpPr/>
          <p:nvPr/>
        </p:nvSpPr>
        <p:spPr>
          <a:xfrm>
            <a:off x="6210795" y="5415147"/>
            <a:ext cx="5599963" cy="650285"/>
          </a:xfrm>
          <a:prstGeom prst="wedgeEllipseCallout">
            <a:avLst>
              <a:gd name="adj1" fmla="val -18070"/>
              <a:gd name="adj2" fmla="val -26741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800" b="1" dirty="0">
                <a:solidFill>
                  <a:srgbClr val="C00000"/>
                </a:solidFill>
                <a:ea typeface="Microsoft YaHei" panose="020B0503020204020204" pitchFamily="34" charset="-122"/>
              </a:rPr>
              <a:t>为了保持精度，需要的节点数随维数指数增加</a:t>
            </a:r>
            <a:r>
              <a:rPr kumimoji="1" lang="en-US" altLang="zh-CN" sz="1800" b="1" dirty="0">
                <a:solidFill>
                  <a:srgbClr val="C00000"/>
                </a:solidFill>
                <a:ea typeface="Microsoft YaHei" panose="020B0503020204020204" pitchFamily="34" charset="-122"/>
              </a:rPr>
              <a:t>——</a:t>
            </a:r>
            <a:r>
              <a:rPr kumimoji="1" lang="zh-CN" altLang="en-US" sz="1800" b="1" dirty="0">
                <a:solidFill>
                  <a:srgbClr val="C00000"/>
                </a:solidFill>
                <a:ea typeface="Microsoft YaHei" panose="020B0503020204020204" pitchFamily="34" charset="-122"/>
              </a:rPr>
              <a:t>维数灾难！</a:t>
            </a:r>
          </a:p>
        </p:txBody>
      </p:sp>
    </p:spTree>
    <p:extLst>
      <p:ext uri="{BB962C8B-B14F-4D97-AF65-F5344CB8AC3E}">
        <p14:creationId xmlns:p14="http://schemas.microsoft.com/office/powerpoint/2010/main" val="15615458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AB3E3-9075-F767-30A5-510E6D62EFE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5278BF7-A3B9-58CE-EDA8-F687CD1978C3}"/>
              </a:ext>
            </a:extLst>
          </p:cNvPr>
          <p:cNvSpPr>
            <a:spLocks noGrp="1"/>
          </p:cNvSpPr>
          <p:nvPr>
            <p:ph type="title"/>
          </p:nvPr>
        </p:nvSpPr>
        <p:spPr/>
        <p:txBody>
          <a:bodyPr/>
          <a:lstStyle/>
          <a:p>
            <a:r>
              <a:rPr lang="zh-CN" altLang="en-US" dirty="0"/>
              <a:t>维数灾难的例子：偏微分方程数值解</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C6D66BFD-6409-92D0-CC7A-03E99E70AB54}"/>
                  </a:ext>
                </a:extLst>
              </p:cNvPr>
              <p:cNvSpPr txBox="1"/>
              <p:nvPr/>
            </p:nvSpPr>
            <p:spPr>
              <a:xfrm>
                <a:off x="125219" y="4484153"/>
                <a:ext cx="11477316" cy="379784"/>
              </a:xfrm>
              <a:prstGeom prst="rect">
                <a:avLst/>
              </a:prstGeom>
              <a:noFill/>
            </p:spPr>
            <p:txBody>
              <a:bodyPr wrap="square" rtlCol="0">
                <a:spAutoFit/>
              </a:bodyPr>
              <a:lstStyle/>
              <a:p>
                <a:r>
                  <a:rPr lang="en-US" altLang="zh-CN" dirty="0">
                    <a:solidFill>
                      <a:srgbClr val="000000"/>
                    </a:solidFill>
                    <a:latin typeface="Microsoft YaHei" panose="020B0503020204020204" pitchFamily="34" charset="-122"/>
                    <a:ea typeface="Microsoft YaHei" panose="020B0503020204020204" pitchFamily="34" charset="-122"/>
                  </a:rPr>
                  <a:t>d </a:t>
                </a:r>
                <a:r>
                  <a:rPr lang="zh-CN" altLang="en-US" dirty="0">
                    <a:solidFill>
                      <a:srgbClr val="000000"/>
                    </a:solidFill>
                    <a:latin typeface="Microsoft YaHei" panose="020B0503020204020204" pitchFamily="34" charset="-122"/>
                    <a:ea typeface="Microsoft YaHei" panose="020B0503020204020204" pitchFamily="34" charset="-122"/>
                  </a:rPr>
                  <a:t>维</a:t>
                </a:r>
                <a:r>
                  <a:rPr lang="zh-CN" altLang="en-US" sz="1800" dirty="0">
                    <a:solidFill>
                      <a:srgbClr val="000000"/>
                    </a:solidFill>
                    <a:effectLst/>
                    <a:latin typeface="Microsoft YaHei" panose="020B0503020204020204" pitchFamily="34" charset="-122"/>
                    <a:ea typeface="Microsoft YaHei" panose="020B0503020204020204" pitchFamily="34" charset="-122"/>
                  </a:rPr>
                  <a:t>有限差分方法：在每个坐标方向上均匀剖分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个网格，那么离散后方程的未知量 </a:t>
                </a:r>
                <a:r>
                  <a:rPr lang="en" altLang="zh-CN" sz="1800" dirty="0">
                    <a:solidFill>
                      <a:srgbClr val="000000"/>
                    </a:solidFill>
                    <a:effectLst/>
                    <a:latin typeface="Microsoft YaHei" panose="020B0503020204020204" pitchFamily="34" charset="-122"/>
                    <a:ea typeface="Microsoft YaHei" panose="020B0503020204020204" pitchFamily="34" charset="-122"/>
                  </a:rPr>
                  <a:t>u </a:t>
                </a:r>
                <a:r>
                  <a:rPr lang="zh-CN" altLang="en-US" sz="1800" dirty="0">
                    <a:solidFill>
                      <a:srgbClr val="000000"/>
                    </a:solidFill>
                    <a:effectLst/>
                    <a:latin typeface="Microsoft YaHei" panose="020B0503020204020204" pitchFamily="34" charset="-122"/>
                    <a:ea typeface="Microsoft YaHei" panose="020B0503020204020204" pitchFamily="34" charset="-122"/>
                  </a:rPr>
                  <a:t>将有 </a:t>
                </a:r>
                <a:r>
                  <a:rPr lang="en" altLang="zh-CN" sz="1800" b="1" dirty="0">
                    <a:solidFill>
                      <a:srgbClr val="000000"/>
                    </a:solidFill>
                    <a:effectLst/>
                    <a:latin typeface="Microsoft YaHei" panose="020B0503020204020204" pitchFamily="34" charset="-122"/>
                    <a:ea typeface="Microsoft YaHei" panose="020B0503020204020204" pitchFamily="34" charset="-122"/>
                  </a:rPr>
                  <a:t>N = </a:t>
                </a:r>
                <a14:m>
                  <m:oMath xmlns:m="http://schemas.openxmlformats.org/officeDocument/2006/math">
                    <m:sSup>
                      <m:sSupPr>
                        <m:ctrlPr>
                          <a:rPr lang="en-US" altLang="zh-CN" sz="1800" b="1" i="1" smtClean="0">
                            <a:solidFill>
                              <a:srgbClr val="000000"/>
                            </a:solidFill>
                            <a:effectLst/>
                            <a:latin typeface="Cambria Math" panose="02040503050406030204" pitchFamily="18" charset="0"/>
                            <a:ea typeface="Microsoft YaHei" panose="020B0503020204020204" pitchFamily="34" charset="-122"/>
                          </a:rPr>
                        </m:ctrlPr>
                      </m:sSupPr>
                      <m:e>
                        <m:r>
                          <a:rPr lang="en-US" altLang="zh-CN" sz="1800" b="1" i="1" smtClean="0">
                            <a:solidFill>
                              <a:srgbClr val="000000"/>
                            </a:solidFill>
                            <a:effectLst/>
                            <a:latin typeface="Cambria Math" panose="02040503050406030204" pitchFamily="18" charset="0"/>
                            <a:ea typeface="Microsoft YaHei" panose="020B0503020204020204" pitchFamily="34" charset="-122"/>
                          </a:rPr>
                          <m:t>𝒏</m:t>
                        </m:r>
                      </m:e>
                      <m:sup>
                        <m:r>
                          <a:rPr lang="en-US" altLang="zh-CN" sz="1800" b="1" i="1" smtClean="0">
                            <a:solidFill>
                              <a:srgbClr val="000000"/>
                            </a:solidFill>
                            <a:effectLst/>
                            <a:latin typeface="Cambria Math" panose="02040503050406030204" pitchFamily="18" charset="0"/>
                            <a:ea typeface="Microsoft YaHei" panose="020B0503020204020204" pitchFamily="34" charset="-122"/>
                          </a:rPr>
                          <m:t>𝒅</m:t>
                        </m:r>
                      </m:sup>
                    </m:sSup>
                  </m:oMath>
                </a14:m>
                <a:r>
                  <a:rPr lang="en"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个自由度</a:t>
                </a:r>
                <a:r>
                  <a:rPr lang="zh-CN" altLang="en-US" sz="1800" dirty="0">
                    <a:solidFill>
                      <a:srgbClr val="000000"/>
                    </a:solidFill>
                    <a:effectLst/>
                    <a:latin typeface="Microsoft YaHei" panose="020B0503020204020204" pitchFamily="34" charset="-122"/>
                    <a:ea typeface="Microsoft YaHei" panose="020B0503020204020204" pitchFamily="34" charset="-122"/>
                  </a:rPr>
                  <a:t>。</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C6D66BFD-6409-92D0-CC7A-03E99E70AB54}"/>
                  </a:ext>
                </a:extLst>
              </p:cNvPr>
              <p:cNvSpPr txBox="1">
                <a:spLocks noRot="1" noChangeAspect="1" noMove="1" noResize="1" noEditPoints="1" noAdjustHandles="1" noChangeArrowheads="1" noChangeShapeType="1" noTextEdit="1"/>
              </p:cNvSpPr>
              <p:nvPr/>
            </p:nvSpPr>
            <p:spPr>
              <a:xfrm>
                <a:off x="125219" y="4484153"/>
                <a:ext cx="11477316" cy="379784"/>
              </a:xfrm>
              <a:prstGeom prst="rect">
                <a:avLst/>
              </a:prstGeom>
              <a:blipFill>
                <a:blip r:embed="rId92"/>
                <a:stretch>
                  <a:fillRect l="-553" t="-6452" r="-332" b="-1935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1E769762-80D0-79CF-490A-5234C28E33FA}"/>
                  </a:ext>
                </a:extLst>
              </p:cNvPr>
              <p:cNvSpPr txBox="1"/>
              <p:nvPr/>
            </p:nvSpPr>
            <p:spPr>
              <a:xfrm>
                <a:off x="252541" y="1159315"/>
                <a:ext cx="6207148" cy="406393"/>
              </a:xfrm>
              <a:prstGeom prst="rect">
                <a:avLst/>
              </a:prstGeom>
              <a:noFill/>
            </p:spPr>
            <p:txBody>
              <a:bodyPr wrap="none" rtlCol="0">
                <a:spAutoFit/>
              </a:bodyPr>
              <a:lstStyle/>
              <a:p>
                <a:pPr>
                  <a:lnSpc>
                    <a:spcPct val="125000"/>
                  </a:lnSpc>
                </a:pPr>
                <a:r>
                  <a:rPr lang="en" altLang="zh-CN" dirty="0">
                    <a:solidFill>
                      <a:srgbClr val="000000"/>
                    </a:solidFill>
                    <a:latin typeface="Microsoft YaHei" panose="020B0503020204020204" pitchFamily="34" charset="-122"/>
                    <a:ea typeface="Microsoft YaHei" panose="020B0503020204020204" pitchFamily="34" charset="-122"/>
                  </a:rPr>
                  <a:t>2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维单位立方体 </a:t>
                </a:r>
                <a:r>
                  <a:rPr lang="el-GR" altLang="zh-CN" sz="1800" dirty="0">
                    <a:solidFill>
                      <a:srgbClr val="000000"/>
                    </a:solidFill>
                    <a:effectLst/>
                    <a:latin typeface="Microsoft YaHei" panose="020B0503020204020204" pitchFamily="34" charset="-122"/>
                    <a:ea typeface="Microsoft YaHei" panose="020B0503020204020204" pitchFamily="34" charset="-122"/>
                  </a:rPr>
                  <a:t>Ω = </a:t>
                </a:r>
                <a14:m>
                  <m:oMath xmlns:m="http://schemas.openxmlformats.org/officeDocument/2006/math">
                    <m:sSup>
                      <m:sSup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pPr>
                      <m:e>
                        <m:d>
                          <m:dPr>
                            <m:begChr m:val="["/>
                            <m:endChr m:val="]"/>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dPr>
                          <m:e>
                            <m:r>
                              <a:rPr lang="en-US" altLang="zh-CN" sz="1800" b="0" i="1" smtClean="0">
                                <a:solidFill>
                                  <a:srgbClr val="000000"/>
                                </a:solidFill>
                                <a:effectLst/>
                                <a:latin typeface="Cambria Math" panose="02040503050406030204" pitchFamily="18" charset="0"/>
                                <a:ea typeface="Microsoft YaHei" panose="020B0503020204020204" pitchFamily="34" charset="-122"/>
                              </a:rPr>
                              <m:t>0, 1</m:t>
                            </m:r>
                          </m:e>
                        </m:d>
                      </m:e>
                      <m:sup>
                        <m:r>
                          <a:rPr lang="en-US" altLang="zh-CN" sz="1800" b="0" i="1" smtClean="0">
                            <a:solidFill>
                              <a:srgbClr val="000000"/>
                            </a:solidFill>
                            <a:effectLst/>
                            <a:latin typeface="Cambria Math" panose="02040503050406030204" pitchFamily="18" charset="0"/>
                            <a:ea typeface="Microsoft YaHei" panose="020B0503020204020204" pitchFamily="34" charset="-122"/>
                          </a:rPr>
                          <m:t>2</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上的一个简单的 </a:t>
                </a:r>
                <a:r>
                  <a:rPr lang="en" altLang="zh-CN" sz="1800" dirty="0">
                    <a:solidFill>
                      <a:srgbClr val="000000"/>
                    </a:solidFill>
                    <a:effectLst/>
                    <a:latin typeface="Microsoft YaHei" panose="020B0503020204020204" pitchFamily="34" charset="-122"/>
                    <a:ea typeface="Microsoft YaHei" panose="020B0503020204020204" pitchFamily="34" charset="-122"/>
                  </a:rPr>
                  <a:t>Poisson </a:t>
                </a:r>
                <a:r>
                  <a:rPr lang="zh-CN" altLang="en-US" sz="1800" dirty="0">
                    <a:solidFill>
                      <a:srgbClr val="000000"/>
                    </a:solidFill>
                    <a:effectLst/>
                    <a:latin typeface="Microsoft YaHei" panose="020B0503020204020204" pitchFamily="34" charset="-122"/>
                    <a:ea typeface="Microsoft YaHei" panose="020B0503020204020204" pitchFamily="34" charset="-122"/>
                  </a:rPr>
                  <a:t>方程</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5" name="文本框 4">
                <a:extLst>
                  <a:ext uri="{FF2B5EF4-FFF2-40B4-BE49-F238E27FC236}">
                    <a16:creationId xmlns:a16="http://schemas.microsoft.com/office/drawing/2014/main" id="{1E769762-80D0-79CF-490A-5234C28E33FA}"/>
                  </a:ext>
                </a:extLst>
              </p:cNvPr>
              <p:cNvSpPr txBox="1">
                <a:spLocks noRot="1" noChangeAspect="1" noMove="1" noResize="1" noEditPoints="1" noAdjustHandles="1" noChangeArrowheads="1" noChangeShapeType="1" noTextEdit="1"/>
              </p:cNvSpPr>
              <p:nvPr/>
            </p:nvSpPr>
            <p:spPr>
              <a:xfrm>
                <a:off x="252541" y="1159315"/>
                <a:ext cx="6207148" cy="406393"/>
              </a:xfrm>
              <a:prstGeom prst="rect">
                <a:avLst/>
              </a:prstGeom>
              <a:blipFill>
                <a:blip r:embed="rId93"/>
                <a:stretch>
                  <a:fillRect l="-816" b="-21212"/>
                </a:stretch>
              </a:blipFill>
            </p:spPr>
            <p:txBody>
              <a:bodyPr/>
              <a:lstStyle/>
              <a:p>
                <a:r>
                  <a:rPr lang="zh-CN" altLang="en-US">
                    <a:noFill/>
                  </a:rPr>
                  <a:t> </a:t>
                </a:r>
              </a:p>
            </p:txBody>
          </p:sp>
        </mc:Fallback>
      </mc:AlternateContent>
      <p:grpSp>
        <p:nvGrpSpPr>
          <p:cNvPr id="16599" name="组合 16598" descr="\documentclass{article}&#10;\usepackage{amsmath}&#10;\pagestyle{empty}&#10;\begin{document}&#10;&#10;$$&#10;\frac{u_{i+1, j}-2 u_{i, j}+u_{i-1, j}}{\Delta x^2}+\frac{u_{i, j+1}-2 u_{i, j}+u_{i, j-1}}{\Delta y^2}+f=0&#10;$$&#10;&#10;\end{document}" title="IguanaTex Vector Display">
            <a:extLst>
              <a:ext uri="{FF2B5EF4-FFF2-40B4-BE49-F238E27FC236}">
                <a16:creationId xmlns:a16="http://schemas.microsoft.com/office/drawing/2014/main" id="{10FDFCA1-7781-97D6-2973-90EEBFE25F16}"/>
              </a:ext>
            </a:extLst>
          </p:cNvPr>
          <p:cNvGrpSpPr>
            <a:grpSpLocks noChangeAspect="1"/>
          </p:cNvGrpSpPr>
          <p:nvPr>
            <p:custDataLst>
              <p:tags r:id="rId1"/>
            </p:custDataLst>
          </p:nvPr>
        </p:nvGrpSpPr>
        <p:grpSpPr>
          <a:xfrm>
            <a:off x="292100" y="3646542"/>
            <a:ext cx="7140610" cy="627986"/>
            <a:chOff x="3642366" y="5401740"/>
            <a:chExt cx="7140610" cy="627986"/>
          </a:xfrm>
        </p:grpSpPr>
        <p:sp>
          <p:nvSpPr>
            <p:cNvPr id="16548" name="任意形状 16547">
              <a:extLst>
                <a:ext uri="{FF2B5EF4-FFF2-40B4-BE49-F238E27FC236}">
                  <a16:creationId xmlns:a16="http://schemas.microsoft.com/office/drawing/2014/main" id="{C9ACA5DE-CF5A-AFC9-7648-CE19ED47485A}"/>
                </a:ext>
              </a:extLst>
            </p:cNvPr>
            <p:cNvSpPr/>
            <p:nvPr>
              <p:custDataLst>
                <p:tags r:id="rId40"/>
              </p:custDataLst>
            </p:nvPr>
          </p:nvSpPr>
          <p:spPr>
            <a:xfrm>
              <a:off x="3650908" y="5464723"/>
              <a:ext cx="151404" cy="127370"/>
            </a:xfrm>
            <a:custGeom>
              <a:avLst/>
              <a:gdLst>
                <a:gd name="connsiteX0" fmla="*/ 94667 w 151404"/>
                <a:gd name="connsiteY0" fmla="*/ 108603 h 127370"/>
                <a:gd name="connsiteX1" fmla="*/ 120883 w 151404"/>
                <a:gd name="connsiteY1" fmla="*/ 127441 h 127370"/>
                <a:gd name="connsiteX2" fmla="*/ 142681 w 151404"/>
                <a:gd name="connsiteY2" fmla="*/ 111977 h 127370"/>
                <a:gd name="connsiteX3" fmla="*/ 151518 w 151404"/>
                <a:gd name="connsiteY3" fmla="*/ 84141 h 127370"/>
                <a:gd name="connsiteX4" fmla="*/ 147983 w 151404"/>
                <a:gd name="connsiteY4" fmla="*/ 81329 h 127370"/>
                <a:gd name="connsiteX5" fmla="*/ 143859 w 151404"/>
                <a:gd name="connsiteY5" fmla="*/ 86390 h 127370"/>
                <a:gd name="connsiteX6" fmla="*/ 121767 w 151404"/>
                <a:gd name="connsiteY6" fmla="*/ 121255 h 127370"/>
                <a:gd name="connsiteX7" fmla="*/ 112636 w 151404"/>
                <a:gd name="connsiteY7" fmla="*/ 108321 h 127370"/>
                <a:gd name="connsiteX8" fmla="*/ 118527 w 151404"/>
                <a:gd name="connsiteY8" fmla="*/ 79080 h 127370"/>
                <a:gd name="connsiteX9" fmla="*/ 126775 w 151404"/>
                <a:gd name="connsiteY9" fmla="*/ 48713 h 127370"/>
                <a:gd name="connsiteX10" fmla="*/ 131782 w 151404"/>
                <a:gd name="connsiteY10" fmla="*/ 29593 h 127370"/>
                <a:gd name="connsiteX11" fmla="*/ 136200 w 151404"/>
                <a:gd name="connsiteY11" fmla="*/ 10755 h 127370"/>
                <a:gd name="connsiteX12" fmla="*/ 127658 w 151404"/>
                <a:gd name="connsiteY12" fmla="*/ 3163 h 127370"/>
                <a:gd name="connsiteX13" fmla="*/ 116170 w 151404"/>
                <a:gd name="connsiteY13" fmla="*/ 13004 h 127370"/>
                <a:gd name="connsiteX14" fmla="*/ 94078 w 151404"/>
                <a:gd name="connsiteY14" fmla="*/ 97637 h 127370"/>
                <a:gd name="connsiteX15" fmla="*/ 60498 w 151404"/>
                <a:gd name="connsiteY15" fmla="*/ 121255 h 127370"/>
                <a:gd name="connsiteX16" fmla="*/ 42235 w 151404"/>
                <a:gd name="connsiteY16" fmla="*/ 98199 h 127370"/>
                <a:gd name="connsiteX17" fmla="*/ 58142 w 151404"/>
                <a:gd name="connsiteY17" fmla="*/ 40840 h 127370"/>
                <a:gd name="connsiteX18" fmla="*/ 63149 w 151404"/>
                <a:gd name="connsiteY18" fmla="*/ 23126 h 127370"/>
                <a:gd name="connsiteX19" fmla="*/ 38995 w 151404"/>
                <a:gd name="connsiteY19" fmla="*/ 70 h 127370"/>
                <a:gd name="connsiteX20" fmla="*/ 113 w 151404"/>
                <a:gd name="connsiteY20" fmla="*/ 43371 h 127370"/>
                <a:gd name="connsiteX21" fmla="*/ 3648 w 151404"/>
                <a:gd name="connsiteY21" fmla="*/ 46182 h 127370"/>
                <a:gd name="connsiteX22" fmla="*/ 8361 w 151404"/>
                <a:gd name="connsiteY22" fmla="*/ 41121 h 127370"/>
                <a:gd name="connsiteX23" fmla="*/ 38112 w 151404"/>
                <a:gd name="connsiteY23" fmla="*/ 6256 h 127370"/>
                <a:gd name="connsiteX24" fmla="*/ 45476 w 151404"/>
                <a:gd name="connsiteY24" fmla="*/ 15535 h 127370"/>
                <a:gd name="connsiteX25" fmla="*/ 40468 w 151404"/>
                <a:gd name="connsiteY25" fmla="*/ 34654 h 127370"/>
                <a:gd name="connsiteX26" fmla="*/ 23384 w 151404"/>
                <a:gd name="connsiteY26" fmla="*/ 93700 h 127370"/>
                <a:gd name="connsiteX27" fmla="*/ 59615 w 151404"/>
                <a:gd name="connsiteY27" fmla="*/ 127441 h 127370"/>
                <a:gd name="connsiteX28" fmla="*/ 9466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667" y="108603"/>
                  </a:moveTo>
                  <a:cubicBezTo>
                    <a:pt x="97908" y="120131"/>
                    <a:pt x="108217" y="127441"/>
                    <a:pt x="120883" y="127441"/>
                  </a:cubicBezTo>
                  <a:cubicBezTo>
                    <a:pt x="131193" y="127441"/>
                    <a:pt x="137968" y="120974"/>
                    <a:pt x="142681" y="111977"/>
                  </a:cubicBezTo>
                  <a:cubicBezTo>
                    <a:pt x="147688" y="101854"/>
                    <a:pt x="151518" y="84703"/>
                    <a:pt x="151518" y="84141"/>
                  </a:cubicBezTo>
                  <a:cubicBezTo>
                    <a:pt x="151518" y="81329"/>
                    <a:pt x="148867" y="81329"/>
                    <a:pt x="147983" y="81329"/>
                  </a:cubicBezTo>
                  <a:cubicBezTo>
                    <a:pt x="145037" y="81329"/>
                    <a:pt x="144743" y="82454"/>
                    <a:pt x="143859" y="86390"/>
                  </a:cubicBezTo>
                  <a:cubicBezTo>
                    <a:pt x="139735" y="102136"/>
                    <a:pt x="134139" y="121255"/>
                    <a:pt x="121767" y="121255"/>
                  </a:cubicBezTo>
                  <a:cubicBezTo>
                    <a:pt x="115581" y="121255"/>
                    <a:pt x="112636" y="117600"/>
                    <a:pt x="112636" y="108321"/>
                  </a:cubicBezTo>
                  <a:cubicBezTo>
                    <a:pt x="112636" y="102136"/>
                    <a:pt x="116170" y="88921"/>
                    <a:pt x="118527" y="79080"/>
                  </a:cubicBezTo>
                  <a:lnTo>
                    <a:pt x="126775" y="48713"/>
                  </a:lnTo>
                  <a:cubicBezTo>
                    <a:pt x="127658" y="44495"/>
                    <a:pt x="130604" y="33811"/>
                    <a:pt x="131782" y="29593"/>
                  </a:cubicBezTo>
                  <a:cubicBezTo>
                    <a:pt x="133255" y="23126"/>
                    <a:pt x="136200" y="12442"/>
                    <a:pt x="136200" y="10755"/>
                  </a:cubicBezTo>
                  <a:cubicBezTo>
                    <a:pt x="136200" y="5694"/>
                    <a:pt x="132077" y="3163"/>
                    <a:pt x="127658" y="3163"/>
                  </a:cubicBezTo>
                  <a:cubicBezTo>
                    <a:pt x="126185" y="3163"/>
                    <a:pt x="118527" y="3444"/>
                    <a:pt x="116170" y="13004"/>
                  </a:cubicBezTo>
                  <a:cubicBezTo>
                    <a:pt x="110574" y="33530"/>
                    <a:pt x="97613" y="82735"/>
                    <a:pt x="94078" y="97637"/>
                  </a:cubicBezTo>
                  <a:cubicBezTo>
                    <a:pt x="93784" y="98762"/>
                    <a:pt x="82001" y="121255"/>
                    <a:pt x="60498" y="121255"/>
                  </a:cubicBezTo>
                  <a:cubicBezTo>
                    <a:pt x="45181" y="121255"/>
                    <a:pt x="42235" y="108603"/>
                    <a:pt x="42235" y="98199"/>
                  </a:cubicBezTo>
                  <a:cubicBezTo>
                    <a:pt x="42235" y="82454"/>
                    <a:pt x="50483" y="60241"/>
                    <a:pt x="58142" y="40840"/>
                  </a:cubicBezTo>
                  <a:cubicBezTo>
                    <a:pt x="61677" y="32405"/>
                    <a:pt x="63149" y="28469"/>
                    <a:pt x="63149" y="23126"/>
                  </a:cubicBezTo>
                  <a:cubicBezTo>
                    <a:pt x="63149" y="10474"/>
                    <a:pt x="53723" y="70"/>
                    <a:pt x="38995" y="70"/>
                  </a:cubicBezTo>
                  <a:cubicBezTo>
                    <a:pt x="11012" y="70"/>
                    <a:pt x="113" y="40840"/>
                    <a:pt x="113" y="43371"/>
                  </a:cubicBezTo>
                  <a:cubicBezTo>
                    <a:pt x="113" y="46182"/>
                    <a:pt x="3059" y="46182"/>
                    <a:pt x="3648" y="46182"/>
                  </a:cubicBezTo>
                  <a:cubicBezTo>
                    <a:pt x="6594" y="46182"/>
                    <a:pt x="6888" y="45620"/>
                    <a:pt x="8361" y="41121"/>
                  </a:cubicBezTo>
                  <a:cubicBezTo>
                    <a:pt x="15725" y="16659"/>
                    <a:pt x="26918" y="6256"/>
                    <a:pt x="38112" y="6256"/>
                  </a:cubicBezTo>
                  <a:cubicBezTo>
                    <a:pt x="40763" y="6256"/>
                    <a:pt x="45476" y="6537"/>
                    <a:pt x="45476" y="15535"/>
                  </a:cubicBezTo>
                  <a:cubicBezTo>
                    <a:pt x="45476" y="22283"/>
                    <a:pt x="42235" y="30437"/>
                    <a:pt x="40468" y="34654"/>
                  </a:cubicBezTo>
                  <a:cubicBezTo>
                    <a:pt x="29569" y="62490"/>
                    <a:pt x="23384" y="79923"/>
                    <a:pt x="23384" y="93700"/>
                  </a:cubicBezTo>
                  <a:cubicBezTo>
                    <a:pt x="23384" y="120412"/>
                    <a:pt x="43708" y="127441"/>
                    <a:pt x="59615" y="127441"/>
                  </a:cubicBezTo>
                  <a:cubicBezTo>
                    <a:pt x="79056" y="127441"/>
                    <a:pt x="89660" y="114788"/>
                    <a:pt x="9466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49" name="任意形状 16548">
              <a:extLst>
                <a:ext uri="{FF2B5EF4-FFF2-40B4-BE49-F238E27FC236}">
                  <a16:creationId xmlns:a16="http://schemas.microsoft.com/office/drawing/2014/main" id="{77E153C7-E3A7-3334-6189-515964AA3D67}"/>
                </a:ext>
              </a:extLst>
            </p:cNvPr>
            <p:cNvSpPr/>
            <p:nvPr>
              <p:custDataLst>
                <p:tags r:id="rId41"/>
              </p:custDataLst>
            </p:nvPr>
          </p:nvSpPr>
          <p:spPr>
            <a:xfrm>
              <a:off x="3820681" y="5500684"/>
              <a:ext cx="62476" cy="132460"/>
            </a:xfrm>
            <a:custGeom>
              <a:avLst/>
              <a:gdLst>
                <a:gd name="connsiteX0" fmla="*/ 57234 w 62476"/>
                <a:gd name="connsiteY0" fmla="*/ 7551 h 132460"/>
                <a:gd name="connsiteX1" fmla="*/ 48987 w 62476"/>
                <a:gd name="connsiteY1" fmla="*/ 72 h 132460"/>
                <a:gd name="connsiteX2" fmla="*/ 37440 w 62476"/>
                <a:gd name="connsiteY2" fmla="*/ 10897 h 132460"/>
                <a:gd name="connsiteX3" fmla="*/ 45688 w 62476"/>
                <a:gd name="connsiteY3" fmla="*/ 18376 h 132460"/>
                <a:gd name="connsiteX4" fmla="*/ 57234 w 62476"/>
                <a:gd name="connsiteY4" fmla="*/ 7551 h 132460"/>
                <a:gd name="connsiteX5" fmla="*/ 15171 w 62476"/>
                <a:gd name="connsiteY5" fmla="*/ 107536 h 132460"/>
                <a:gd name="connsiteX6" fmla="*/ 13315 w 62476"/>
                <a:gd name="connsiteY6" fmla="*/ 115802 h 132460"/>
                <a:gd name="connsiteX7" fmla="*/ 32904 w 62476"/>
                <a:gd name="connsiteY7" fmla="*/ 132532 h 132460"/>
                <a:gd name="connsiteX8" fmla="*/ 62595 w 62476"/>
                <a:gd name="connsiteY8" fmla="*/ 102418 h 132460"/>
                <a:gd name="connsiteX9" fmla="*/ 59296 w 62476"/>
                <a:gd name="connsiteY9" fmla="*/ 99860 h 132460"/>
                <a:gd name="connsiteX10" fmla="*/ 55379 w 62476"/>
                <a:gd name="connsiteY10" fmla="*/ 103206 h 132460"/>
                <a:gd name="connsiteX11" fmla="*/ 33522 w 62476"/>
                <a:gd name="connsiteY11" fmla="*/ 127021 h 132460"/>
                <a:gd name="connsiteX12" fmla="*/ 28367 w 62476"/>
                <a:gd name="connsiteY12" fmla="*/ 120132 h 132460"/>
                <a:gd name="connsiteX13" fmla="*/ 31666 w 62476"/>
                <a:gd name="connsiteY13" fmla="*/ 107536 h 132460"/>
                <a:gd name="connsiteX14" fmla="*/ 38265 w 62476"/>
                <a:gd name="connsiteY14" fmla="*/ 91790 h 132460"/>
                <a:gd name="connsiteX15" fmla="*/ 48368 w 62476"/>
                <a:gd name="connsiteY15" fmla="*/ 66794 h 132460"/>
                <a:gd name="connsiteX16" fmla="*/ 49605 w 62476"/>
                <a:gd name="connsiteY16" fmla="*/ 60496 h 132460"/>
                <a:gd name="connsiteX17" fmla="*/ 30017 w 62476"/>
                <a:gd name="connsiteY17" fmla="*/ 43766 h 132460"/>
                <a:gd name="connsiteX18" fmla="*/ 119 w 62476"/>
                <a:gd name="connsiteY18" fmla="*/ 73879 h 132460"/>
                <a:gd name="connsiteX19" fmla="*/ 3624 w 62476"/>
                <a:gd name="connsiteY19" fmla="*/ 76438 h 132460"/>
                <a:gd name="connsiteX20" fmla="*/ 7336 w 62476"/>
                <a:gd name="connsiteY20" fmla="*/ 73289 h 132460"/>
                <a:gd name="connsiteX21" fmla="*/ 29398 w 62476"/>
                <a:gd name="connsiteY21" fmla="*/ 49277 h 132460"/>
                <a:gd name="connsiteX22" fmla="*/ 34553 w 62476"/>
                <a:gd name="connsiteY22" fmla="*/ 56165 h 132460"/>
                <a:gd name="connsiteX23" fmla="*/ 28161 w 62476"/>
                <a:gd name="connsiteY23" fmla="*/ 75848 h 132460"/>
                <a:gd name="connsiteX24" fmla="*/ 15171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234" y="7551"/>
                  </a:moveTo>
                  <a:cubicBezTo>
                    <a:pt x="57234" y="4402"/>
                    <a:pt x="54760" y="72"/>
                    <a:pt x="48987" y="72"/>
                  </a:cubicBezTo>
                  <a:cubicBezTo>
                    <a:pt x="43419" y="72"/>
                    <a:pt x="37440" y="5189"/>
                    <a:pt x="37440" y="10897"/>
                  </a:cubicBezTo>
                  <a:cubicBezTo>
                    <a:pt x="37440" y="14243"/>
                    <a:pt x="40120" y="18376"/>
                    <a:pt x="45688" y="18376"/>
                  </a:cubicBezTo>
                  <a:cubicBezTo>
                    <a:pt x="51667" y="18376"/>
                    <a:pt x="57234" y="12865"/>
                    <a:pt x="57234" y="7551"/>
                  </a:cubicBezTo>
                  <a:close/>
                  <a:moveTo>
                    <a:pt x="15171" y="107536"/>
                  </a:moveTo>
                  <a:cubicBezTo>
                    <a:pt x="14346" y="110094"/>
                    <a:pt x="13315" y="112456"/>
                    <a:pt x="13315" y="115802"/>
                  </a:cubicBezTo>
                  <a:cubicBezTo>
                    <a:pt x="13315" y="125053"/>
                    <a:pt x="21563" y="132532"/>
                    <a:pt x="32904" y="132532"/>
                  </a:cubicBezTo>
                  <a:cubicBezTo>
                    <a:pt x="53523" y="132532"/>
                    <a:pt x="62595" y="105371"/>
                    <a:pt x="62595" y="102418"/>
                  </a:cubicBezTo>
                  <a:cubicBezTo>
                    <a:pt x="62595" y="99860"/>
                    <a:pt x="59915" y="99860"/>
                    <a:pt x="59296" y="99860"/>
                  </a:cubicBezTo>
                  <a:cubicBezTo>
                    <a:pt x="56410" y="99860"/>
                    <a:pt x="56203" y="101041"/>
                    <a:pt x="55379" y="103206"/>
                  </a:cubicBezTo>
                  <a:cubicBezTo>
                    <a:pt x="50636" y="118951"/>
                    <a:pt x="41564" y="127021"/>
                    <a:pt x="33522" y="127021"/>
                  </a:cubicBezTo>
                  <a:cubicBezTo>
                    <a:pt x="29398" y="127021"/>
                    <a:pt x="28367" y="124462"/>
                    <a:pt x="28367" y="120132"/>
                  </a:cubicBezTo>
                  <a:cubicBezTo>
                    <a:pt x="28367" y="115605"/>
                    <a:pt x="29811" y="111866"/>
                    <a:pt x="31666" y="107536"/>
                  </a:cubicBezTo>
                  <a:cubicBezTo>
                    <a:pt x="33728" y="102221"/>
                    <a:pt x="35996" y="96907"/>
                    <a:pt x="38265" y="91790"/>
                  </a:cubicBezTo>
                  <a:cubicBezTo>
                    <a:pt x="40120" y="87066"/>
                    <a:pt x="47543" y="69156"/>
                    <a:pt x="48368" y="66794"/>
                  </a:cubicBezTo>
                  <a:cubicBezTo>
                    <a:pt x="48987" y="64826"/>
                    <a:pt x="49605" y="62464"/>
                    <a:pt x="49605" y="60496"/>
                  </a:cubicBezTo>
                  <a:cubicBezTo>
                    <a:pt x="49605" y="51245"/>
                    <a:pt x="41358" y="43766"/>
                    <a:pt x="30017" y="43766"/>
                  </a:cubicBezTo>
                  <a:cubicBezTo>
                    <a:pt x="9604" y="43766"/>
                    <a:pt x="119" y="70533"/>
                    <a:pt x="119" y="73879"/>
                  </a:cubicBezTo>
                  <a:cubicBezTo>
                    <a:pt x="119" y="76438"/>
                    <a:pt x="3006" y="76438"/>
                    <a:pt x="3624" y="76438"/>
                  </a:cubicBezTo>
                  <a:cubicBezTo>
                    <a:pt x="6511" y="76438"/>
                    <a:pt x="6717" y="75454"/>
                    <a:pt x="7336" y="73289"/>
                  </a:cubicBezTo>
                  <a:cubicBezTo>
                    <a:pt x="12697" y="56362"/>
                    <a:pt x="21769" y="49277"/>
                    <a:pt x="29398" y="49277"/>
                  </a:cubicBezTo>
                  <a:cubicBezTo>
                    <a:pt x="32697" y="49277"/>
                    <a:pt x="34553" y="50851"/>
                    <a:pt x="34553" y="56165"/>
                  </a:cubicBezTo>
                  <a:cubicBezTo>
                    <a:pt x="34553" y="60692"/>
                    <a:pt x="33316" y="63645"/>
                    <a:pt x="28161" y="75848"/>
                  </a:cubicBezTo>
                  <a:lnTo>
                    <a:pt x="15171"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0" name="任意形状 16549">
              <a:extLst>
                <a:ext uri="{FF2B5EF4-FFF2-40B4-BE49-F238E27FC236}">
                  <a16:creationId xmlns:a16="http://schemas.microsoft.com/office/drawing/2014/main" id="{23C9D9C5-2019-23DF-7664-FEBBB0CCDC5E}"/>
                </a:ext>
              </a:extLst>
            </p:cNvPr>
            <p:cNvSpPr/>
            <p:nvPr>
              <p:custDataLst>
                <p:tags r:id="rId42"/>
              </p:custDataLst>
            </p:nvPr>
          </p:nvSpPr>
          <p:spPr>
            <a:xfrm>
              <a:off x="3908763" y="5509344"/>
              <a:ext cx="151757" cy="145056"/>
            </a:xfrm>
            <a:custGeom>
              <a:avLst/>
              <a:gdLst>
                <a:gd name="connsiteX0" fmla="*/ 81156 w 151757"/>
                <a:gd name="connsiteY0" fmla="*/ 77422 h 145056"/>
                <a:gd name="connsiteX1" fmla="*/ 144251 w 151757"/>
                <a:gd name="connsiteY1" fmla="*/ 77422 h 145056"/>
                <a:gd name="connsiteX2" fmla="*/ 151880 w 151757"/>
                <a:gd name="connsiteY2" fmla="*/ 72698 h 145056"/>
                <a:gd name="connsiteX3" fmla="*/ 144251 w 151757"/>
                <a:gd name="connsiteY3" fmla="*/ 67778 h 145056"/>
                <a:gd name="connsiteX4" fmla="*/ 81156 w 151757"/>
                <a:gd name="connsiteY4" fmla="*/ 67778 h 145056"/>
                <a:gd name="connsiteX5" fmla="*/ 81156 w 151757"/>
                <a:gd name="connsiteY5" fmla="*/ 7354 h 145056"/>
                <a:gd name="connsiteX6" fmla="*/ 76207 w 151757"/>
                <a:gd name="connsiteY6" fmla="*/ 72 h 145056"/>
                <a:gd name="connsiteX7" fmla="*/ 71052 w 151757"/>
                <a:gd name="connsiteY7" fmla="*/ 7354 h 145056"/>
                <a:gd name="connsiteX8" fmla="*/ 71052 w 151757"/>
                <a:gd name="connsiteY8" fmla="*/ 67778 h 145056"/>
                <a:gd name="connsiteX9" fmla="*/ 7751 w 151757"/>
                <a:gd name="connsiteY9" fmla="*/ 67778 h 145056"/>
                <a:gd name="connsiteX10" fmla="*/ 122 w 151757"/>
                <a:gd name="connsiteY10" fmla="*/ 72502 h 145056"/>
                <a:gd name="connsiteX11" fmla="*/ 7751 w 151757"/>
                <a:gd name="connsiteY11" fmla="*/ 77422 h 145056"/>
                <a:gd name="connsiteX12" fmla="*/ 71052 w 151757"/>
                <a:gd name="connsiteY12" fmla="*/ 77422 h 145056"/>
                <a:gd name="connsiteX13" fmla="*/ 71052 w 151757"/>
                <a:gd name="connsiteY13" fmla="*/ 137846 h 145056"/>
                <a:gd name="connsiteX14" fmla="*/ 76001 w 151757"/>
                <a:gd name="connsiteY14" fmla="*/ 145128 h 145056"/>
                <a:gd name="connsiteX15" fmla="*/ 81156 w 151757"/>
                <a:gd name="connsiteY15" fmla="*/ 137846 h 145056"/>
                <a:gd name="connsiteX16" fmla="*/ 81156 w 151757"/>
                <a:gd name="connsiteY16" fmla="*/ 77422 h 14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757" h="145056">
                  <a:moveTo>
                    <a:pt x="81156" y="77422"/>
                  </a:moveTo>
                  <a:lnTo>
                    <a:pt x="144251" y="77422"/>
                  </a:lnTo>
                  <a:cubicBezTo>
                    <a:pt x="146931" y="77422"/>
                    <a:pt x="151880" y="77422"/>
                    <a:pt x="151880" y="72698"/>
                  </a:cubicBezTo>
                  <a:cubicBezTo>
                    <a:pt x="151880" y="67778"/>
                    <a:pt x="147137" y="67778"/>
                    <a:pt x="144251" y="67778"/>
                  </a:cubicBezTo>
                  <a:lnTo>
                    <a:pt x="81156" y="67778"/>
                  </a:lnTo>
                  <a:lnTo>
                    <a:pt x="81156" y="7354"/>
                  </a:lnTo>
                  <a:cubicBezTo>
                    <a:pt x="81156" y="4795"/>
                    <a:pt x="81156" y="72"/>
                    <a:pt x="76207" y="72"/>
                  </a:cubicBezTo>
                  <a:cubicBezTo>
                    <a:pt x="71052" y="72"/>
                    <a:pt x="71052" y="4599"/>
                    <a:pt x="71052" y="7354"/>
                  </a:cubicBezTo>
                  <a:lnTo>
                    <a:pt x="71052" y="67778"/>
                  </a:lnTo>
                  <a:lnTo>
                    <a:pt x="7751" y="67778"/>
                  </a:lnTo>
                  <a:cubicBezTo>
                    <a:pt x="5070" y="67778"/>
                    <a:pt x="122" y="67778"/>
                    <a:pt x="122" y="72502"/>
                  </a:cubicBezTo>
                  <a:cubicBezTo>
                    <a:pt x="122" y="77422"/>
                    <a:pt x="4864" y="77422"/>
                    <a:pt x="7751" y="77422"/>
                  </a:cubicBezTo>
                  <a:lnTo>
                    <a:pt x="71052" y="77422"/>
                  </a:lnTo>
                  <a:lnTo>
                    <a:pt x="71052" y="137846"/>
                  </a:lnTo>
                  <a:cubicBezTo>
                    <a:pt x="71052" y="140405"/>
                    <a:pt x="71052" y="145128"/>
                    <a:pt x="76001" y="145128"/>
                  </a:cubicBezTo>
                  <a:cubicBezTo>
                    <a:pt x="81156" y="145128"/>
                    <a:pt x="81156" y="140601"/>
                    <a:pt x="81156" y="137846"/>
                  </a:cubicBezTo>
                  <a:lnTo>
                    <a:pt x="81156" y="77422"/>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1" name="任意形状 16550">
              <a:extLst>
                <a:ext uri="{FF2B5EF4-FFF2-40B4-BE49-F238E27FC236}">
                  <a16:creationId xmlns:a16="http://schemas.microsoft.com/office/drawing/2014/main" id="{2D96D475-A492-448F-5783-9C96B195F7A3}"/>
                </a:ext>
              </a:extLst>
            </p:cNvPr>
            <p:cNvSpPr/>
            <p:nvPr>
              <p:custDataLst>
                <p:tags r:id="rId43"/>
              </p:custDataLst>
            </p:nvPr>
          </p:nvSpPr>
          <p:spPr>
            <a:xfrm>
              <a:off x="4097634" y="5500487"/>
              <a:ext cx="75054" cy="130688"/>
            </a:xfrm>
            <a:custGeom>
              <a:avLst/>
              <a:gdLst>
                <a:gd name="connsiteX0" fmla="*/ 46727 w 75054"/>
                <a:gd name="connsiteY0" fmla="*/ 5583 h 130688"/>
                <a:gd name="connsiteX1" fmla="*/ 40542 w 75054"/>
                <a:gd name="connsiteY1" fmla="*/ 72 h 130688"/>
                <a:gd name="connsiteX2" fmla="*/ 128 w 75054"/>
                <a:gd name="connsiteY2" fmla="*/ 12668 h 130688"/>
                <a:gd name="connsiteX3" fmla="*/ 128 w 75054"/>
                <a:gd name="connsiteY3" fmla="*/ 19754 h 130688"/>
                <a:gd name="connsiteX4" fmla="*/ 30026 w 75054"/>
                <a:gd name="connsiteY4" fmla="*/ 14243 h 130688"/>
                <a:gd name="connsiteX5" fmla="*/ 30026 w 75054"/>
                <a:gd name="connsiteY5" fmla="*/ 114621 h 130688"/>
                <a:gd name="connsiteX6" fmla="*/ 9407 w 75054"/>
                <a:gd name="connsiteY6" fmla="*/ 123675 h 130688"/>
                <a:gd name="connsiteX7" fmla="*/ 1571 w 75054"/>
                <a:gd name="connsiteY7" fmla="*/ 123675 h 130688"/>
                <a:gd name="connsiteX8" fmla="*/ 1571 w 75054"/>
                <a:gd name="connsiteY8" fmla="*/ 130760 h 130688"/>
                <a:gd name="connsiteX9" fmla="*/ 38274 w 75054"/>
                <a:gd name="connsiteY9" fmla="*/ 129973 h 130688"/>
                <a:gd name="connsiteX10" fmla="*/ 75182 w 75054"/>
                <a:gd name="connsiteY10" fmla="*/ 130760 h 130688"/>
                <a:gd name="connsiteX11" fmla="*/ 75182 w 75054"/>
                <a:gd name="connsiteY11" fmla="*/ 123675 h 130688"/>
                <a:gd name="connsiteX12" fmla="*/ 67347 w 75054"/>
                <a:gd name="connsiteY12" fmla="*/ 123675 h 130688"/>
                <a:gd name="connsiteX13" fmla="*/ 46727 w 75054"/>
                <a:gd name="connsiteY13" fmla="*/ 114621 h 130688"/>
                <a:gd name="connsiteX14" fmla="*/ 46727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727" y="5583"/>
                  </a:moveTo>
                  <a:cubicBezTo>
                    <a:pt x="46727" y="268"/>
                    <a:pt x="46315" y="72"/>
                    <a:pt x="40542" y="72"/>
                  </a:cubicBezTo>
                  <a:cubicBezTo>
                    <a:pt x="27345" y="12471"/>
                    <a:pt x="8582" y="12668"/>
                    <a:pt x="128" y="12668"/>
                  </a:cubicBezTo>
                  <a:lnTo>
                    <a:pt x="128" y="19754"/>
                  </a:lnTo>
                  <a:cubicBezTo>
                    <a:pt x="5077" y="19754"/>
                    <a:pt x="18685" y="19754"/>
                    <a:pt x="30026" y="14243"/>
                  </a:cubicBezTo>
                  <a:lnTo>
                    <a:pt x="30026" y="114621"/>
                  </a:lnTo>
                  <a:cubicBezTo>
                    <a:pt x="30026" y="121116"/>
                    <a:pt x="30026" y="123675"/>
                    <a:pt x="9407" y="123675"/>
                  </a:cubicBezTo>
                  <a:lnTo>
                    <a:pt x="1571" y="123675"/>
                  </a:lnTo>
                  <a:lnTo>
                    <a:pt x="1571" y="130760"/>
                  </a:lnTo>
                  <a:cubicBezTo>
                    <a:pt x="5283" y="130564"/>
                    <a:pt x="30644" y="129973"/>
                    <a:pt x="38274" y="129973"/>
                  </a:cubicBezTo>
                  <a:cubicBezTo>
                    <a:pt x="44666" y="129973"/>
                    <a:pt x="70646" y="130564"/>
                    <a:pt x="75182" y="130760"/>
                  </a:cubicBezTo>
                  <a:lnTo>
                    <a:pt x="75182" y="123675"/>
                  </a:lnTo>
                  <a:lnTo>
                    <a:pt x="67347" y="123675"/>
                  </a:lnTo>
                  <a:cubicBezTo>
                    <a:pt x="46727" y="123675"/>
                    <a:pt x="46727" y="121116"/>
                    <a:pt x="46727" y="114621"/>
                  </a:cubicBezTo>
                  <a:lnTo>
                    <a:pt x="46727"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2" name="任意形状 16551">
              <a:extLst>
                <a:ext uri="{FF2B5EF4-FFF2-40B4-BE49-F238E27FC236}">
                  <a16:creationId xmlns:a16="http://schemas.microsoft.com/office/drawing/2014/main" id="{1F2C62A4-1113-BC1A-E790-6B582FFA8AA0}"/>
                </a:ext>
              </a:extLst>
            </p:cNvPr>
            <p:cNvSpPr/>
            <p:nvPr>
              <p:custDataLst>
                <p:tags r:id="rId44"/>
              </p:custDataLst>
            </p:nvPr>
          </p:nvSpPr>
          <p:spPr>
            <a:xfrm>
              <a:off x="4215668" y="5608542"/>
              <a:ext cx="26186" cy="60620"/>
            </a:xfrm>
            <a:custGeom>
              <a:avLst/>
              <a:gdLst>
                <a:gd name="connsiteX0" fmla="*/ 20545 w 26186"/>
                <a:gd name="connsiteY0" fmla="*/ 19557 h 60620"/>
                <a:gd name="connsiteX1" fmla="*/ 4462 w 26186"/>
                <a:gd name="connsiteY1" fmla="*/ 55575 h 60620"/>
                <a:gd name="connsiteX2" fmla="*/ 3019 w 26186"/>
                <a:gd name="connsiteY2" fmla="*/ 57937 h 60620"/>
                <a:gd name="connsiteX3" fmla="*/ 5905 w 26186"/>
                <a:gd name="connsiteY3" fmla="*/ 60692 h 60620"/>
                <a:gd name="connsiteX4" fmla="*/ 26318 w 26186"/>
                <a:gd name="connsiteY4" fmla="*/ 21525 h 60620"/>
                <a:gd name="connsiteX5" fmla="*/ 11885 w 26186"/>
                <a:gd name="connsiteY5" fmla="*/ 72 h 60620"/>
                <a:gd name="connsiteX6" fmla="*/ 132 w 26186"/>
                <a:gd name="connsiteY6" fmla="*/ 11290 h 60620"/>
                <a:gd name="connsiteX7" fmla="*/ 12091 w 26186"/>
                <a:gd name="connsiteY7" fmla="*/ 22706 h 60620"/>
                <a:gd name="connsiteX8" fmla="*/ 20545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545" y="19557"/>
                  </a:moveTo>
                  <a:cubicBezTo>
                    <a:pt x="20545" y="30382"/>
                    <a:pt x="18483" y="42979"/>
                    <a:pt x="4462" y="55575"/>
                  </a:cubicBezTo>
                  <a:cubicBezTo>
                    <a:pt x="3637" y="56362"/>
                    <a:pt x="3019" y="56953"/>
                    <a:pt x="3019" y="57937"/>
                  </a:cubicBezTo>
                  <a:cubicBezTo>
                    <a:pt x="3019" y="59315"/>
                    <a:pt x="4668" y="60692"/>
                    <a:pt x="5905" y="60692"/>
                  </a:cubicBezTo>
                  <a:cubicBezTo>
                    <a:pt x="8792" y="60692"/>
                    <a:pt x="26318" y="44947"/>
                    <a:pt x="26318" y="21525"/>
                  </a:cubicBezTo>
                  <a:cubicBezTo>
                    <a:pt x="26318" y="9322"/>
                    <a:pt x="21370" y="72"/>
                    <a:pt x="11885" y="72"/>
                  </a:cubicBezTo>
                  <a:cubicBezTo>
                    <a:pt x="5080" y="72"/>
                    <a:pt x="132" y="5189"/>
                    <a:pt x="132" y="11290"/>
                  </a:cubicBezTo>
                  <a:cubicBezTo>
                    <a:pt x="132" y="17589"/>
                    <a:pt x="4874" y="22706"/>
                    <a:pt x="12091" y="22706"/>
                  </a:cubicBezTo>
                  <a:cubicBezTo>
                    <a:pt x="17040" y="22706"/>
                    <a:pt x="20339" y="19557"/>
                    <a:pt x="20545"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3" name="任意形状 16552">
              <a:extLst>
                <a:ext uri="{FF2B5EF4-FFF2-40B4-BE49-F238E27FC236}">
                  <a16:creationId xmlns:a16="http://schemas.microsoft.com/office/drawing/2014/main" id="{8D409177-7E3F-2F03-D380-39195904B96F}"/>
                </a:ext>
              </a:extLst>
            </p:cNvPr>
            <p:cNvSpPr/>
            <p:nvPr>
              <p:custDataLst>
                <p:tags r:id="rId45"/>
              </p:custDataLst>
            </p:nvPr>
          </p:nvSpPr>
          <p:spPr>
            <a:xfrm>
              <a:off x="4262533" y="5500684"/>
              <a:ext cx="90518" cy="170643"/>
            </a:xfrm>
            <a:custGeom>
              <a:avLst/>
              <a:gdLst>
                <a:gd name="connsiteX0" fmla="*/ 90653 w 90518"/>
                <a:gd name="connsiteY0" fmla="*/ 7551 h 170643"/>
                <a:gd name="connsiteX1" fmla="*/ 82405 w 90518"/>
                <a:gd name="connsiteY1" fmla="*/ 72 h 170643"/>
                <a:gd name="connsiteX2" fmla="*/ 70858 w 90518"/>
                <a:gd name="connsiteY2" fmla="*/ 10897 h 170643"/>
                <a:gd name="connsiteX3" fmla="*/ 79106 w 90518"/>
                <a:gd name="connsiteY3" fmla="*/ 18376 h 170643"/>
                <a:gd name="connsiteX4" fmla="*/ 90653 w 90518"/>
                <a:gd name="connsiteY4" fmla="*/ 7551 h 170643"/>
                <a:gd name="connsiteX5" fmla="*/ 46940 w 90518"/>
                <a:gd name="connsiteY5" fmla="*/ 140208 h 170643"/>
                <a:gd name="connsiteX6" fmla="*/ 20341 w 90518"/>
                <a:gd name="connsiteY6" fmla="*/ 165204 h 170643"/>
                <a:gd name="connsiteX7" fmla="*/ 12918 w 90518"/>
                <a:gd name="connsiteY7" fmla="*/ 164023 h 170643"/>
                <a:gd name="connsiteX8" fmla="*/ 19929 w 90518"/>
                <a:gd name="connsiteY8" fmla="*/ 153985 h 170643"/>
                <a:gd name="connsiteX9" fmla="*/ 11887 w 90518"/>
                <a:gd name="connsiteY9" fmla="*/ 146703 h 170643"/>
                <a:gd name="connsiteX10" fmla="*/ 134 w 90518"/>
                <a:gd name="connsiteY10" fmla="*/ 158315 h 170643"/>
                <a:gd name="connsiteX11" fmla="*/ 20547 w 90518"/>
                <a:gd name="connsiteY11" fmla="*/ 170715 h 170643"/>
                <a:gd name="connsiteX12" fmla="*/ 63435 w 90518"/>
                <a:gd name="connsiteY12" fmla="*/ 139617 h 170643"/>
                <a:gd name="connsiteX13" fmla="*/ 81993 w 90518"/>
                <a:gd name="connsiteY13" fmla="*/ 69156 h 170643"/>
                <a:gd name="connsiteX14" fmla="*/ 83024 w 90518"/>
                <a:gd name="connsiteY14" fmla="*/ 62267 h 170643"/>
                <a:gd name="connsiteX15" fmla="*/ 60961 w 90518"/>
                <a:gd name="connsiteY15" fmla="*/ 43766 h 170643"/>
                <a:gd name="connsiteX16" fmla="*/ 24877 w 90518"/>
                <a:gd name="connsiteY16" fmla="*/ 73879 h 170643"/>
                <a:gd name="connsiteX17" fmla="*/ 28383 w 90518"/>
                <a:gd name="connsiteY17" fmla="*/ 76438 h 170643"/>
                <a:gd name="connsiteX18" fmla="*/ 32507 w 90518"/>
                <a:gd name="connsiteY18" fmla="*/ 72895 h 170643"/>
                <a:gd name="connsiteX19" fmla="*/ 60343 w 90518"/>
                <a:gd name="connsiteY19" fmla="*/ 49277 h 170643"/>
                <a:gd name="connsiteX20" fmla="*/ 67353 w 90518"/>
                <a:gd name="connsiteY20" fmla="*/ 58921 h 170643"/>
                <a:gd name="connsiteX21" fmla="*/ 66735 w 90518"/>
                <a:gd name="connsiteY21" fmla="*/ 64826 h 170643"/>
                <a:gd name="connsiteX22" fmla="*/ 46940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653" y="7551"/>
                  </a:moveTo>
                  <a:cubicBezTo>
                    <a:pt x="90653" y="4205"/>
                    <a:pt x="87972" y="72"/>
                    <a:pt x="82405" y="72"/>
                  </a:cubicBezTo>
                  <a:cubicBezTo>
                    <a:pt x="76426" y="72"/>
                    <a:pt x="70858" y="5583"/>
                    <a:pt x="70858" y="10897"/>
                  </a:cubicBezTo>
                  <a:cubicBezTo>
                    <a:pt x="70858" y="14046"/>
                    <a:pt x="73333" y="18376"/>
                    <a:pt x="79106" y="18376"/>
                  </a:cubicBezTo>
                  <a:cubicBezTo>
                    <a:pt x="84673" y="18376"/>
                    <a:pt x="90653" y="13259"/>
                    <a:pt x="90653" y="7551"/>
                  </a:cubicBezTo>
                  <a:close/>
                  <a:moveTo>
                    <a:pt x="46940" y="140208"/>
                  </a:moveTo>
                  <a:cubicBezTo>
                    <a:pt x="43435" y="153788"/>
                    <a:pt x="32507" y="165204"/>
                    <a:pt x="20341" y="165204"/>
                  </a:cubicBezTo>
                  <a:cubicBezTo>
                    <a:pt x="17661" y="165204"/>
                    <a:pt x="15186" y="164810"/>
                    <a:pt x="12918" y="164023"/>
                  </a:cubicBezTo>
                  <a:cubicBezTo>
                    <a:pt x="18279" y="161661"/>
                    <a:pt x="19929" y="156938"/>
                    <a:pt x="19929" y="153985"/>
                  </a:cubicBezTo>
                  <a:cubicBezTo>
                    <a:pt x="19929" y="149262"/>
                    <a:pt x="16011" y="146703"/>
                    <a:pt x="11887" y="146703"/>
                  </a:cubicBezTo>
                  <a:cubicBezTo>
                    <a:pt x="5495" y="146703"/>
                    <a:pt x="134" y="152017"/>
                    <a:pt x="134" y="158315"/>
                  </a:cubicBezTo>
                  <a:cubicBezTo>
                    <a:pt x="134" y="165794"/>
                    <a:pt x="8176" y="170715"/>
                    <a:pt x="20547" y="170715"/>
                  </a:cubicBezTo>
                  <a:cubicBezTo>
                    <a:pt x="32919" y="170715"/>
                    <a:pt x="57043" y="163629"/>
                    <a:pt x="63435" y="139617"/>
                  </a:cubicBezTo>
                  <a:lnTo>
                    <a:pt x="81993" y="69156"/>
                  </a:lnTo>
                  <a:cubicBezTo>
                    <a:pt x="82611" y="66991"/>
                    <a:pt x="83024" y="65219"/>
                    <a:pt x="83024" y="62267"/>
                  </a:cubicBezTo>
                  <a:cubicBezTo>
                    <a:pt x="83024" y="51442"/>
                    <a:pt x="73333" y="43766"/>
                    <a:pt x="60961" y="43766"/>
                  </a:cubicBezTo>
                  <a:cubicBezTo>
                    <a:pt x="38074" y="43766"/>
                    <a:pt x="24877" y="71124"/>
                    <a:pt x="24877" y="73879"/>
                  </a:cubicBezTo>
                  <a:cubicBezTo>
                    <a:pt x="24877" y="76438"/>
                    <a:pt x="27764" y="76438"/>
                    <a:pt x="28383" y="76438"/>
                  </a:cubicBezTo>
                  <a:cubicBezTo>
                    <a:pt x="30857" y="76438"/>
                    <a:pt x="31063" y="75848"/>
                    <a:pt x="32507" y="72895"/>
                  </a:cubicBezTo>
                  <a:cubicBezTo>
                    <a:pt x="37661" y="61480"/>
                    <a:pt x="48383" y="49277"/>
                    <a:pt x="60343" y="49277"/>
                  </a:cubicBezTo>
                  <a:cubicBezTo>
                    <a:pt x="65497" y="49277"/>
                    <a:pt x="67353" y="52623"/>
                    <a:pt x="67353" y="58921"/>
                  </a:cubicBezTo>
                  <a:cubicBezTo>
                    <a:pt x="67353" y="61086"/>
                    <a:pt x="66941" y="63841"/>
                    <a:pt x="66735" y="64826"/>
                  </a:cubicBezTo>
                  <a:lnTo>
                    <a:pt x="46940"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4" name="任意形状 16553">
              <a:extLst>
                <a:ext uri="{FF2B5EF4-FFF2-40B4-BE49-F238E27FC236}">
                  <a16:creationId xmlns:a16="http://schemas.microsoft.com/office/drawing/2014/main" id="{37FCB617-36DD-2A05-A7FB-153E01F12784}"/>
                </a:ext>
              </a:extLst>
            </p:cNvPr>
            <p:cNvSpPr/>
            <p:nvPr>
              <p:custDataLst>
                <p:tags r:id="rId46"/>
              </p:custDataLst>
            </p:nvPr>
          </p:nvSpPr>
          <p:spPr>
            <a:xfrm>
              <a:off x="4476552" y="5513084"/>
              <a:ext cx="179976" cy="11246"/>
            </a:xfrm>
            <a:custGeom>
              <a:avLst/>
              <a:gdLst>
                <a:gd name="connsiteX0" fmla="*/ 169808 w 179976"/>
                <a:gd name="connsiteY0" fmla="*/ 11317 h 11246"/>
                <a:gd name="connsiteX1" fmla="*/ 180117 w 179976"/>
                <a:gd name="connsiteY1" fmla="*/ 5694 h 11246"/>
                <a:gd name="connsiteX2" fmla="*/ 169808 w 179976"/>
                <a:gd name="connsiteY2" fmla="*/ 70 h 11246"/>
                <a:gd name="connsiteX3" fmla="*/ 10450 w 179976"/>
                <a:gd name="connsiteY3" fmla="*/ 70 h 11246"/>
                <a:gd name="connsiteX4" fmla="*/ 141 w 179976"/>
                <a:gd name="connsiteY4" fmla="*/ 5694 h 11246"/>
                <a:gd name="connsiteX5" fmla="*/ 10450 w 179976"/>
                <a:gd name="connsiteY5" fmla="*/ 11317 h 11246"/>
                <a:gd name="connsiteX6" fmla="*/ 169808 w 179976"/>
                <a:gd name="connsiteY6" fmla="*/ 11317 h 11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976" h="11246">
                  <a:moveTo>
                    <a:pt x="169808" y="11317"/>
                  </a:moveTo>
                  <a:cubicBezTo>
                    <a:pt x="174815" y="11317"/>
                    <a:pt x="180117" y="11317"/>
                    <a:pt x="180117" y="5694"/>
                  </a:cubicBezTo>
                  <a:cubicBezTo>
                    <a:pt x="180117" y="70"/>
                    <a:pt x="174815" y="70"/>
                    <a:pt x="169808" y="70"/>
                  </a:cubicBezTo>
                  <a:lnTo>
                    <a:pt x="10450" y="70"/>
                  </a:lnTo>
                  <a:cubicBezTo>
                    <a:pt x="5443" y="70"/>
                    <a:pt x="141" y="70"/>
                    <a:pt x="141" y="5694"/>
                  </a:cubicBezTo>
                  <a:cubicBezTo>
                    <a:pt x="141" y="11317"/>
                    <a:pt x="5443" y="11317"/>
                    <a:pt x="10450" y="11317"/>
                  </a:cubicBezTo>
                  <a:lnTo>
                    <a:pt x="169808" y="11317"/>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5" name="任意形状 16554">
              <a:extLst>
                <a:ext uri="{FF2B5EF4-FFF2-40B4-BE49-F238E27FC236}">
                  <a16:creationId xmlns:a16="http://schemas.microsoft.com/office/drawing/2014/main" id="{0091636E-D9B4-4A71-B96F-F98B49F18277}"/>
                </a:ext>
              </a:extLst>
            </p:cNvPr>
            <p:cNvSpPr/>
            <p:nvPr>
              <p:custDataLst>
                <p:tags r:id="rId47"/>
              </p:custDataLst>
            </p:nvPr>
          </p:nvSpPr>
          <p:spPr>
            <a:xfrm>
              <a:off x="4761392" y="5401740"/>
              <a:ext cx="117529" cy="187260"/>
            </a:xfrm>
            <a:custGeom>
              <a:avLst/>
              <a:gdLst>
                <a:gd name="connsiteX0" fmla="*/ 22832 w 117529"/>
                <a:gd name="connsiteY0" fmla="*/ 165680 h 187260"/>
                <a:gd name="connsiteX1" fmla="*/ 54055 w 117529"/>
                <a:gd name="connsiteY1" fmla="*/ 136720 h 187260"/>
                <a:gd name="connsiteX2" fmla="*/ 117680 w 117529"/>
                <a:gd name="connsiteY2" fmla="*/ 54618 h 187260"/>
                <a:gd name="connsiteX3" fmla="*/ 55234 w 117529"/>
                <a:gd name="connsiteY3" fmla="*/ 70 h 187260"/>
                <a:gd name="connsiteX4" fmla="*/ 151 w 117529"/>
                <a:gd name="connsiteY4" fmla="*/ 50962 h 187260"/>
                <a:gd name="connsiteX5" fmla="*/ 15762 w 117529"/>
                <a:gd name="connsiteY5" fmla="*/ 66708 h 187260"/>
                <a:gd name="connsiteX6" fmla="*/ 31080 w 117529"/>
                <a:gd name="connsiteY6" fmla="*/ 51806 h 187260"/>
                <a:gd name="connsiteX7" fmla="*/ 15468 w 117529"/>
                <a:gd name="connsiteY7" fmla="*/ 37185 h 187260"/>
                <a:gd name="connsiteX8" fmla="*/ 11639 w 117529"/>
                <a:gd name="connsiteY8" fmla="*/ 37466 h 187260"/>
                <a:gd name="connsiteX9" fmla="*/ 51404 w 117529"/>
                <a:gd name="connsiteY9" fmla="*/ 8787 h 187260"/>
                <a:gd name="connsiteX10" fmla="*/ 90875 w 117529"/>
                <a:gd name="connsiteY10" fmla="*/ 54618 h 187260"/>
                <a:gd name="connsiteX11" fmla="*/ 59947 w 117529"/>
                <a:gd name="connsiteY11" fmla="*/ 116757 h 187260"/>
                <a:gd name="connsiteX12" fmla="*/ 3391 w 117529"/>
                <a:gd name="connsiteY12" fmla="*/ 176927 h 187260"/>
                <a:gd name="connsiteX13" fmla="*/ 151 w 117529"/>
                <a:gd name="connsiteY13" fmla="*/ 187331 h 187260"/>
                <a:gd name="connsiteX14" fmla="*/ 109433 w 117529"/>
                <a:gd name="connsiteY14" fmla="*/ 187331 h 187260"/>
                <a:gd name="connsiteX15" fmla="*/ 117680 w 117529"/>
                <a:gd name="connsiteY15" fmla="*/ 138407 h 187260"/>
                <a:gd name="connsiteX16" fmla="*/ 110316 w 117529"/>
                <a:gd name="connsiteY16" fmla="*/ 138407 h 187260"/>
                <a:gd name="connsiteX17" fmla="*/ 103836 w 117529"/>
                <a:gd name="connsiteY17" fmla="*/ 163431 h 187260"/>
                <a:gd name="connsiteX18" fmla="*/ 75853 w 117529"/>
                <a:gd name="connsiteY18" fmla="*/ 165680 h 187260"/>
                <a:gd name="connsiteX19" fmla="*/ 22832 w 117529"/>
                <a:gd name="connsiteY19" fmla="*/ 165680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7529" h="187260">
                  <a:moveTo>
                    <a:pt x="22832" y="165680"/>
                  </a:moveTo>
                  <a:lnTo>
                    <a:pt x="54055" y="136720"/>
                  </a:lnTo>
                  <a:cubicBezTo>
                    <a:pt x="100007" y="97918"/>
                    <a:pt x="117680" y="82735"/>
                    <a:pt x="117680" y="54618"/>
                  </a:cubicBezTo>
                  <a:cubicBezTo>
                    <a:pt x="117680" y="22564"/>
                    <a:pt x="91170" y="70"/>
                    <a:pt x="55234" y="70"/>
                  </a:cubicBezTo>
                  <a:cubicBezTo>
                    <a:pt x="21948" y="70"/>
                    <a:pt x="151" y="25938"/>
                    <a:pt x="151" y="50962"/>
                  </a:cubicBezTo>
                  <a:cubicBezTo>
                    <a:pt x="151" y="66708"/>
                    <a:pt x="14879" y="66708"/>
                    <a:pt x="15762" y="66708"/>
                  </a:cubicBezTo>
                  <a:cubicBezTo>
                    <a:pt x="20770" y="66708"/>
                    <a:pt x="31080" y="63334"/>
                    <a:pt x="31080" y="51806"/>
                  </a:cubicBezTo>
                  <a:cubicBezTo>
                    <a:pt x="31080" y="44495"/>
                    <a:pt x="25777" y="37185"/>
                    <a:pt x="15468" y="37185"/>
                  </a:cubicBezTo>
                  <a:cubicBezTo>
                    <a:pt x="13111" y="37185"/>
                    <a:pt x="12522" y="37185"/>
                    <a:pt x="11639" y="37466"/>
                  </a:cubicBezTo>
                  <a:cubicBezTo>
                    <a:pt x="18413" y="19190"/>
                    <a:pt x="34320" y="8787"/>
                    <a:pt x="51404" y="8787"/>
                  </a:cubicBezTo>
                  <a:cubicBezTo>
                    <a:pt x="78209" y="8787"/>
                    <a:pt x="90875" y="31561"/>
                    <a:pt x="90875" y="54618"/>
                  </a:cubicBezTo>
                  <a:cubicBezTo>
                    <a:pt x="90875" y="77111"/>
                    <a:pt x="76147" y="99324"/>
                    <a:pt x="59947" y="116757"/>
                  </a:cubicBezTo>
                  <a:lnTo>
                    <a:pt x="3391" y="176927"/>
                  </a:lnTo>
                  <a:cubicBezTo>
                    <a:pt x="151" y="180020"/>
                    <a:pt x="151" y="180583"/>
                    <a:pt x="151" y="187331"/>
                  </a:cubicBezTo>
                  <a:lnTo>
                    <a:pt x="109433" y="187331"/>
                  </a:lnTo>
                  <a:lnTo>
                    <a:pt x="117680" y="138407"/>
                  </a:lnTo>
                  <a:lnTo>
                    <a:pt x="110316" y="138407"/>
                  </a:lnTo>
                  <a:cubicBezTo>
                    <a:pt x="108844" y="146842"/>
                    <a:pt x="106782" y="159214"/>
                    <a:pt x="103836" y="163431"/>
                  </a:cubicBezTo>
                  <a:cubicBezTo>
                    <a:pt x="101774" y="165680"/>
                    <a:pt x="82333" y="165680"/>
                    <a:pt x="75853" y="165680"/>
                  </a:cubicBezTo>
                  <a:lnTo>
                    <a:pt x="22832" y="165680"/>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6" name="任意形状 16555">
              <a:extLst>
                <a:ext uri="{FF2B5EF4-FFF2-40B4-BE49-F238E27FC236}">
                  <a16:creationId xmlns:a16="http://schemas.microsoft.com/office/drawing/2014/main" id="{8AF1E166-0D07-3639-83BA-2D9084D419D8}"/>
                </a:ext>
              </a:extLst>
            </p:cNvPr>
            <p:cNvSpPr/>
            <p:nvPr>
              <p:custDataLst>
                <p:tags r:id="rId48"/>
              </p:custDataLst>
            </p:nvPr>
          </p:nvSpPr>
          <p:spPr>
            <a:xfrm>
              <a:off x="4902487" y="5464723"/>
              <a:ext cx="151404" cy="127370"/>
            </a:xfrm>
            <a:custGeom>
              <a:avLst/>
              <a:gdLst>
                <a:gd name="connsiteX0" fmla="*/ 94710 w 151404"/>
                <a:gd name="connsiteY0" fmla="*/ 108603 h 127370"/>
                <a:gd name="connsiteX1" fmla="*/ 120926 w 151404"/>
                <a:gd name="connsiteY1" fmla="*/ 127441 h 127370"/>
                <a:gd name="connsiteX2" fmla="*/ 142723 w 151404"/>
                <a:gd name="connsiteY2" fmla="*/ 111977 h 127370"/>
                <a:gd name="connsiteX3" fmla="*/ 151560 w 151404"/>
                <a:gd name="connsiteY3" fmla="*/ 84141 h 127370"/>
                <a:gd name="connsiteX4" fmla="*/ 148025 w 151404"/>
                <a:gd name="connsiteY4" fmla="*/ 81329 h 127370"/>
                <a:gd name="connsiteX5" fmla="*/ 143901 w 151404"/>
                <a:gd name="connsiteY5" fmla="*/ 86390 h 127370"/>
                <a:gd name="connsiteX6" fmla="*/ 121809 w 151404"/>
                <a:gd name="connsiteY6" fmla="*/ 121255 h 127370"/>
                <a:gd name="connsiteX7" fmla="*/ 112678 w 151404"/>
                <a:gd name="connsiteY7" fmla="*/ 108321 h 127370"/>
                <a:gd name="connsiteX8" fmla="*/ 118569 w 151404"/>
                <a:gd name="connsiteY8" fmla="*/ 79080 h 127370"/>
                <a:gd name="connsiteX9" fmla="*/ 126817 w 151404"/>
                <a:gd name="connsiteY9" fmla="*/ 48713 h 127370"/>
                <a:gd name="connsiteX10" fmla="*/ 131824 w 151404"/>
                <a:gd name="connsiteY10" fmla="*/ 29593 h 127370"/>
                <a:gd name="connsiteX11" fmla="*/ 136243 w 151404"/>
                <a:gd name="connsiteY11" fmla="*/ 10755 h 127370"/>
                <a:gd name="connsiteX12" fmla="*/ 127701 w 151404"/>
                <a:gd name="connsiteY12" fmla="*/ 3163 h 127370"/>
                <a:gd name="connsiteX13" fmla="*/ 116213 w 151404"/>
                <a:gd name="connsiteY13" fmla="*/ 13004 h 127370"/>
                <a:gd name="connsiteX14" fmla="*/ 94121 w 151404"/>
                <a:gd name="connsiteY14" fmla="*/ 97637 h 127370"/>
                <a:gd name="connsiteX15" fmla="*/ 60541 w 151404"/>
                <a:gd name="connsiteY15" fmla="*/ 121255 h 127370"/>
                <a:gd name="connsiteX16" fmla="*/ 42278 w 151404"/>
                <a:gd name="connsiteY16" fmla="*/ 98199 h 127370"/>
                <a:gd name="connsiteX17" fmla="*/ 58184 w 151404"/>
                <a:gd name="connsiteY17" fmla="*/ 40840 h 127370"/>
                <a:gd name="connsiteX18" fmla="*/ 63192 w 151404"/>
                <a:gd name="connsiteY18" fmla="*/ 23126 h 127370"/>
                <a:gd name="connsiteX19" fmla="*/ 39038 w 151404"/>
                <a:gd name="connsiteY19" fmla="*/ 70 h 127370"/>
                <a:gd name="connsiteX20" fmla="*/ 156 w 151404"/>
                <a:gd name="connsiteY20" fmla="*/ 43371 h 127370"/>
                <a:gd name="connsiteX21" fmla="*/ 3690 w 151404"/>
                <a:gd name="connsiteY21" fmla="*/ 46182 h 127370"/>
                <a:gd name="connsiteX22" fmla="*/ 8403 w 151404"/>
                <a:gd name="connsiteY22" fmla="*/ 41121 h 127370"/>
                <a:gd name="connsiteX23" fmla="*/ 38154 w 151404"/>
                <a:gd name="connsiteY23" fmla="*/ 6256 h 127370"/>
                <a:gd name="connsiteX24" fmla="*/ 45518 w 151404"/>
                <a:gd name="connsiteY24" fmla="*/ 15535 h 127370"/>
                <a:gd name="connsiteX25" fmla="*/ 40510 w 151404"/>
                <a:gd name="connsiteY25" fmla="*/ 34654 h 127370"/>
                <a:gd name="connsiteX26" fmla="*/ 23426 w 151404"/>
                <a:gd name="connsiteY26" fmla="*/ 93700 h 127370"/>
                <a:gd name="connsiteX27" fmla="*/ 59657 w 151404"/>
                <a:gd name="connsiteY27" fmla="*/ 127441 h 127370"/>
                <a:gd name="connsiteX28" fmla="*/ 94710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10" y="108603"/>
                  </a:moveTo>
                  <a:cubicBezTo>
                    <a:pt x="97950" y="120131"/>
                    <a:pt x="108259" y="127441"/>
                    <a:pt x="120926" y="127441"/>
                  </a:cubicBezTo>
                  <a:cubicBezTo>
                    <a:pt x="131235" y="127441"/>
                    <a:pt x="138010" y="120974"/>
                    <a:pt x="142723" y="111977"/>
                  </a:cubicBezTo>
                  <a:cubicBezTo>
                    <a:pt x="147731" y="101854"/>
                    <a:pt x="151560" y="84703"/>
                    <a:pt x="151560" y="84141"/>
                  </a:cubicBezTo>
                  <a:cubicBezTo>
                    <a:pt x="151560" y="81329"/>
                    <a:pt x="148909" y="81329"/>
                    <a:pt x="148025" y="81329"/>
                  </a:cubicBezTo>
                  <a:cubicBezTo>
                    <a:pt x="145080" y="81329"/>
                    <a:pt x="144785" y="82454"/>
                    <a:pt x="143901" y="86390"/>
                  </a:cubicBezTo>
                  <a:cubicBezTo>
                    <a:pt x="139778" y="102136"/>
                    <a:pt x="134181" y="121255"/>
                    <a:pt x="121809" y="121255"/>
                  </a:cubicBezTo>
                  <a:cubicBezTo>
                    <a:pt x="115624" y="121255"/>
                    <a:pt x="112678" y="117600"/>
                    <a:pt x="112678" y="108321"/>
                  </a:cubicBezTo>
                  <a:cubicBezTo>
                    <a:pt x="112678" y="102136"/>
                    <a:pt x="116213" y="88921"/>
                    <a:pt x="118569" y="79080"/>
                  </a:cubicBezTo>
                  <a:lnTo>
                    <a:pt x="126817" y="48713"/>
                  </a:lnTo>
                  <a:cubicBezTo>
                    <a:pt x="127701" y="44495"/>
                    <a:pt x="130646" y="33811"/>
                    <a:pt x="131824" y="29593"/>
                  </a:cubicBezTo>
                  <a:cubicBezTo>
                    <a:pt x="133297" y="23126"/>
                    <a:pt x="136243" y="12442"/>
                    <a:pt x="136243" y="10755"/>
                  </a:cubicBezTo>
                  <a:cubicBezTo>
                    <a:pt x="136243" y="5694"/>
                    <a:pt x="132119" y="3163"/>
                    <a:pt x="127701" y="3163"/>
                  </a:cubicBezTo>
                  <a:cubicBezTo>
                    <a:pt x="126228" y="3163"/>
                    <a:pt x="118569" y="3444"/>
                    <a:pt x="116213" y="13004"/>
                  </a:cubicBezTo>
                  <a:cubicBezTo>
                    <a:pt x="110616" y="33530"/>
                    <a:pt x="97655" y="82735"/>
                    <a:pt x="94121" y="97637"/>
                  </a:cubicBezTo>
                  <a:cubicBezTo>
                    <a:pt x="93826" y="98762"/>
                    <a:pt x="82044" y="121255"/>
                    <a:pt x="60541" y="121255"/>
                  </a:cubicBezTo>
                  <a:cubicBezTo>
                    <a:pt x="45223" y="121255"/>
                    <a:pt x="42278" y="108603"/>
                    <a:pt x="42278" y="98199"/>
                  </a:cubicBezTo>
                  <a:cubicBezTo>
                    <a:pt x="42278" y="82454"/>
                    <a:pt x="50526" y="60241"/>
                    <a:pt x="58184" y="40840"/>
                  </a:cubicBezTo>
                  <a:cubicBezTo>
                    <a:pt x="61719" y="32405"/>
                    <a:pt x="63192" y="28469"/>
                    <a:pt x="63192" y="23126"/>
                  </a:cubicBezTo>
                  <a:cubicBezTo>
                    <a:pt x="63192" y="10474"/>
                    <a:pt x="53766" y="70"/>
                    <a:pt x="39038" y="70"/>
                  </a:cubicBezTo>
                  <a:cubicBezTo>
                    <a:pt x="11054" y="70"/>
                    <a:pt x="156" y="40840"/>
                    <a:pt x="156" y="43371"/>
                  </a:cubicBezTo>
                  <a:cubicBezTo>
                    <a:pt x="156" y="46182"/>
                    <a:pt x="3101" y="46182"/>
                    <a:pt x="3690" y="46182"/>
                  </a:cubicBezTo>
                  <a:cubicBezTo>
                    <a:pt x="6636" y="46182"/>
                    <a:pt x="6930" y="45620"/>
                    <a:pt x="8403" y="41121"/>
                  </a:cubicBezTo>
                  <a:cubicBezTo>
                    <a:pt x="15767" y="16659"/>
                    <a:pt x="26961" y="6256"/>
                    <a:pt x="38154" y="6256"/>
                  </a:cubicBezTo>
                  <a:cubicBezTo>
                    <a:pt x="40805" y="6256"/>
                    <a:pt x="45518" y="6537"/>
                    <a:pt x="45518" y="15535"/>
                  </a:cubicBezTo>
                  <a:cubicBezTo>
                    <a:pt x="45518" y="22283"/>
                    <a:pt x="42278" y="30437"/>
                    <a:pt x="40510" y="34654"/>
                  </a:cubicBezTo>
                  <a:cubicBezTo>
                    <a:pt x="29612" y="62490"/>
                    <a:pt x="23426" y="79923"/>
                    <a:pt x="23426" y="93700"/>
                  </a:cubicBezTo>
                  <a:cubicBezTo>
                    <a:pt x="23426" y="120412"/>
                    <a:pt x="43751" y="127441"/>
                    <a:pt x="59657" y="127441"/>
                  </a:cubicBezTo>
                  <a:cubicBezTo>
                    <a:pt x="79098" y="127441"/>
                    <a:pt x="89702" y="114788"/>
                    <a:pt x="94710"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7" name="任意形状 16556">
              <a:extLst>
                <a:ext uri="{FF2B5EF4-FFF2-40B4-BE49-F238E27FC236}">
                  <a16:creationId xmlns:a16="http://schemas.microsoft.com/office/drawing/2014/main" id="{ACEE460C-A35B-1949-2CAD-72E59E2FC66D}"/>
                </a:ext>
              </a:extLst>
            </p:cNvPr>
            <p:cNvSpPr/>
            <p:nvPr>
              <p:custDataLst>
                <p:tags r:id="rId49"/>
              </p:custDataLst>
            </p:nvPr>
          </p:nvSpPr>
          <p:spPr>
            <a:xfrm>
              <a:off x="5072260" y="5500684"/>
              <a:ext cx="62476" cy="132460"/>
            </a:xfrm>
            <a:custGeom>
              <a:avLst/>
              <a:gdLst>
                <a:gd name="connsiteX0" fmla="*/ 57277 w 62476"/>
                <a:gd name="connsiteY0" fmla="*/ 7551 h 132460"/>
                <a:gd name="connsiteX1" fmla="*/ 49029 w 62476"/>
                <a:gd name="connsiteY1" fmla="*/ 72 h 132460"/>
                <a:gd name="connsiteX2" fmla="*/ 37482 w 62476"/>
                <a:gd name="connsiteY2" fmla="*/ 10897 h 132460"/>
                <a:gd name="connsiteX3" fmla="*/ 45730 w 62476"/>
                <a:gd name="connsiteY3" fmla="*/ 18376 h 132460"/>
                <a:gd name="connsiteX4" fmla="*/ 57277 w 62476"/>
                <a:gd name="connsiteY4" fmla="*/ 7551 h 132460"/>
                <a:gd name="connsiteX5" fmla="*/ 15213 w 62476"/>
                <a:gd name="connsiteY5" fmla="*/ 107536 h 132460"/>
                <a:gd name="connsiteX6" fmla="*/ 13358 w 62476"/>
                <a:gd name="connsiteY6" fmla="*/ 115802 h 132460"/>
                <a:gd name="connsiteX7" fmla="*/ 32946 w 62476"/>
                <a:gd name="connsiteY7" fmla="*/ 132532 h 132460"/>
                <a:gd name="connsiteX8" fmla="*/ 62638 w 62476"/>
                <a:gd name="connsiteY8" fmla="*/ 102418 h 132460"/>
                <a:gd name="connsiteX9" fmla="*/ 59339 w 62476"/>
                <a:gd name="connsiteY9" fmla="*/ 99860 h 132460"/>
                <a:gd name="connsiteX10" fmla="*/ 55421 w 62476"/>
                <a:gd name="connsiteY10" fmla="*/ 103206 h 132460"/>
                <a:gd name="connsiteX11" fmla="*/ 33565 w 62476"/>
                <a:gd name="connsiteY11" fmla="*/ 127021 h 132460"/>
                <a:gd name="connsiteX12" fmla="*/ 28410 w 62476"/>
                <a:gd name="connsiteY12" fmla="*/ 120132 h 132460"/>
                <a:gd name="connsiteX13" fmla="*/ 31709 w 62476"/>
                <a:gd name="connsiteY13" fmla="*/ 107536 h 132460"/>
                <a:gd name="connsiteX14" fmla="*/ 38307 w 62476"/>
                <a:gd name="connsiteY14" fmla="*/ 91790 h 132460"/>
                <a:gd name="connsiteX15" fmla="*/ 48410 w 62476"/>
                <a:gd name="connsiteY15" fmla="*/ 66794 h 132460"/>
                <a:gd name="connsiteX16" fmla="*/ 49648 w 62476"/>
                <a:gd name="connsiteY16" fmla="*/ 60496 h 132460"/>
                <a:gd name="connsiteX17" fmla="*/ 30059 w 62476"/>
                <a:gd name="connsiteY17" fmla="*/ 43766 h 132460"/>
                <a:gd name="connsiteX18" fmla="*/ 161 w 62476"/>
                <a:gd name="connsiteY18" fmla="*/ 73879 h 132460"/>
                <a:gd name="connsiteX19" fmla="*/ 3667 w 62476"/>
                <a:gd name="connsiteY19" fmla="*/ 76438 h 132460"/>
                <a:gd name="connsiteX20" fmla="*/ 7378 w 62476"/>
                <a:gd name="connsiteY20" fmla="*/ 73289 h 132460"/>
                <a:gd name="connsiteX21" fmla="*/ 29441 w 62476"/>
                <a:gd name="connsiteY21" fmla="*/ 49277 h 132460"/>
                <a:gd name="connsiteX22" fmla="*/ 34595 w 62476"/>
                <a:gd name="connsiteY22" fmla="*/ 56165 h 132460"/>
                <a:gd name="connsiteX23" fmla="*/ 28204 w 62476"/>
                <a:gd name="connsiteY23" fmla="*/ 75848 h 132460"/>
                <a:gd name="connsiteX24" fmla="*/ 15213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277" y="7551"/>
                  </a:moveTo>
                  <a:cubicBezTo>
                    <a:pt x="57277" y="4402"/>
                    <a:pt x="54802" y="72"/>
                    <a:pt x="49029" y="72"/>
                  </a:cubicBezTo>
                  <a:cubicBezTo>
                    <a:pt x="43462" y="72"/>
                    <a:pt x="37482" y="5189"/>
                    <a:pt x="37482" y="10897"/>
                  </a:cubicBezTo>
                  <a:cubicBezTo>
                    <a:pt x="37482" y="14243"/>
                    <a:pt x="40163" y="18376"/>
                    <a:pt x="45730" y="18376"/>
                  </a:cubicBezTo>
                  <a:cubicBezTo>
                    <a:pt x="51709" y="18376"/>
                    <a:pt x="57277" y="12865"/>
                    <a:pt x="57277" y="7551"/>
                  </a:cubicBezTo>
                  <a:close/>
                  <a:moveTo>
                    <a:pt x="15213" y="107536"/>
                  </a:moveTo>
                  <a:cubicBezTo>
                    <a:pt x="14389" y="110094"/>
                    <a:pt x="13358" y="112456"/>
                    <a:pt x="13358" y="115802"/>
                  </a:cubicBezTo>
                  <a:cubicBezTo>
                    <a:pt x="13358" y="125053"/>
                    <a:pt x="21605" y="132532"/>
                    <a:pt x="32946" y="132532"/>
                  </a:cubicBezTo>
                  <a:cubicBezTo>
                    <a:pt x="53565" y="132532"/>
                    <a:pt x="62638" y="105371"/>
                    <a:pt x="62638" y="102418"/>
                  </a:cubicBezTo>
                  <a:cubicBezTo>
                    <a:pt x="62638" y="99860"/>
                    <a:pt x="59957" y="99860"/>
                    <a:pt x="59339" y="99860"/>
                  </a:cubicBezTo>
                  <a:cubicBezTo>
                    <a:pt x="56452" y="99860"/>
                    <a:pt x="56246" y="101041"/>
                    <a:pt x="55421" y="103206"/>
                  </a:cubicBezTo>
                  <a:cubicBezTo>
                    <a:pt x="50679" y="118951"/>
                    <a:pt x="41606" y="127021"/>
                    <a:pt x="33565" y="127021"/>
                  </a:cubicBezTo>
                  <a:cubicBezTo>
                    <a:pt x="29441" y="127021"/>
                    <a:pt x="28410" y="124462"/>
                    <a:pt x="28410" y="120132"/>
                  </a:cubicBezTo>
                  <a:cubicBezTo>
                    <a:pt x="28410" y="115605"/>
                    <a:pt x="29853" y="111866"/>
                    <a:pt x="31709" y="107536"/>
                  </a:cubicBezTo>
                  <a:cubicBezTo>
                    <a:pt x="33771" y="102221"/>
                    <a:pt x="36039" y="96907"/>
                    <a:pt x="38307" y="91790"/>
                  </a:cubicBezTo>
                  <a:cubicBezTo>
                    <a:pt x="40163" y="87066"/>
                    <a:pt x="47586" y="69156"/>
                    <a:pt x="48410" y="66794"/>
                  </a:cubicBezTo>
                  <a:cubicBezTo>
                    <a:pt x="49029" y="64826"/>
                    <a:pt x="49648" y="62464"/>
                    <a:pt x="49648" y="60496"/>
                  </a:cubicBezTo>
                  <a:cubicBezTo>
                    <a:pt x="49648" y="51245"/>
                    <a:pt x="41400" y="43766"/>
                    <a:pt x="30059" y="43766"/>
                  </a:cubicBezTo>
                  <a:cubicBezTo>
                    <a:pt x="9646" y="43766"/>
                    <a:pt x="161" y="70533"/>
                    <a:pt x="161" y="73879"/>
                  </a:cubicBezTo>
                  <a:cubicBezTo>
                    <a:pt x="161" y="76438"/>
                    <a:pt x="3048" y="76438"/>
                    <a:pt x="3667" y="76438"/>
                  </a:cubicBezTo>
                  <a:cubicBezTo>
                    <a:pt x="6553" y="76438"/>
                    <a:pt x="6759" y="75454"/>
                    <a:pt x="7378" y="73289"/>
                  </a:cubicBezTo>
                  <a:cubicBezTo>
                    <a:pt x="12739" y="56362"/>
                    <a:pt x="21812" y="49277"/>
                    <a:pt x="29441" y="49277"/>
                  </a:cubicBezTo>
                  <a:cubicBezTo>
                    <a:pt x="32740" y="49277"/>
                    <a:pt x="34595" y="50851"/>
                    <a:pt x="34595" y="56165"/>
                  </a:cubicBezTo>
                  <a:cubicBezTo>
                    <a:pt x="34595" y="60692"/>
                    <a:pt x="33358" y="63645"/>
                    <a:pt x="28204" y="75848"/>
                  </a:cubicBezTo>
                  <a:lnTo>
                    <a:pt x="15213"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8" name="任意形状 16557">
              <a:extLst>
                <a:ext uri="{FF2B5EF4-FFF2-40B4-BE49-F238E27FC236}">
                  <a16:creationId xmlns:a16="http://schemas.microsoft.com/office/drawing/2014/main" id="{577AA9D2-CEC1-76B8-893D-1CC9DAE41161}"/>
                </a:ext>
              </a:extLst>
            </p:cNvPr>
            <p:cNvSpPr/>
            <p:nvPr>
              <p:custDataLst>
                <p:tags r:id="rId50"/>
              </p:custDataLst>
            </p:nvPr>
          </p:nvSpPr>
          <p:spPr>
            <a:xfrm>
              <a:off x="5169003" y="5608542"/>
              <a:ext cx="26186" cy="60620"/>
            </a:xfrm>
            <a:custGeom>
              <a:avLst/>
              <a:gdLst>
                <a:gd name="connsiteX0" fmla="*/ 20577 w 26186"/>
                <a:gd name="connsiteY0" fmla="*/ 19557 h 60620"/>
                <a:gd name="connsiteX1" fmla="*/ 4494 w 26186"/>
                <a:gd name="connsiteY1" fmla="*/ 55575 h 60620"/>
                <a:gd name="connsiteX2" fmla="*/ 3051 w 26186"/>
                <a:gd name="connsiteY2" fmla="*/ 57937 h 60620"/>
                <a:gd name="connsiteX3" fmla="*/ 5938 w 26186"/>
                <a:gd name="connsiteY3" fmla="*/ 60692 h 60620"/>
                <a:gd name="connsiteX4" fmla="*/ 26351 w 26186"/>
                <a:gd name="connsiteY4" fmla="*/ 21525 h 60620"/>
                <a:gd name="connsiteX5" fmla="*/ 11917 w 26186"/>
                <a:gd name="connsiteY5" fmla="*/ 72 h 60620"/>
                <a:gd name="connsiteX6" fmla="*/ 164 w 26186"/>
                <a:gd name="connsiteY6" fmla="*/ 11290 h 60620"/>
                <a:gd name="connsiteX7" fmla="*/ 12123 w 26186"/>
                <a:gd name="connsiteY7" fmla="*/ 22706 h 60620"/>
                <a:gd name="connsiteX8" fmla="*/ 20577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577" y="19557"/>
                  </a:moveTo>
                  <a:cubicBezTo>
                    <a:pt x="20577" y="30382"/>
                    <a:pt x="18515" y="42979"/>
                    <a:pt x="4494" y="55575"/>
                  </a:cubicBezTo>
                  <a:cubicBezTo>
                    <a:pt x="3669" y="56362"/>
                    <a:pt x="3051" y="56953"/>
                    <a:pt x="3051" y="57937"/>
                  </a:cubicBezTo>
                  <a:cubicBezTo>
                    <a:pt x="3051" y="59315"/>
                    <a:pt x="4700" y="60692"/>
                    <a:pt x="5938" y="60692"/>
                  </a:cubicBezTo>
                  <a:cubicBezTo>
                    <a:pt x="8824" y="60692"/>
                    <a:pt x="26351" y="44947"/>
                    <a:pt x="26351" y="21525"/>
                  </a:cubicBezTo>
                  <a:cubicBezTo>
                    <a:pt x="26351" y="9322"/>
                    <a:pt x="21402" y="72"/>
                    <a:pt x="11917" y="72"/>
                  </a:cubicBezTo>
                  <a:cubicBezTo>
                    <a:pt x="5113" y="72"/>
                    <a:pt x="164" y="5189"/>
                    <a:pt x="164" y="11290"/>
                  </a:cubicBezTo>
                  <a:cubicBezTo>
                    <a:pt x="164" y="17589"/>
                    <a:pt x="4907" y="22706"/>
                    <a:pt x="12123" y="22706"/>
                  </a:cubicBezTo>
                  <a:cubicBezTo>
                    <a:pt x="17072" y="22706"/>
                    <a:pt x="20371" y="19557"/>
                    <a:pt x="20577"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9" name="任意形状 16558">
              <a:extLst>
                <a:ext uri="{FF2B5EF4-FFF2-40B4-BE49-F238E27FC236}">
                  <a16:creationId xmlns:a16="http://schemas.microsoft.com/office/drawing/2014/main" id="{7B589526-0A19-98F1-35C3-3DEE7E0E3523}"/>
                </a:ext>
              </a:extLst>
            </p:cNvPr>
            <p:cNvSpPr/>
            <p:nvPr>
              <p:custDataLst>
                <p:tags r:id="rId51"/>
              </p:custDataLst>
            </p:nvPr>
          </p:nvSpPr>
          <p:spPr>
            <a:xfrm>
              <a:off x="5215868" y="5500684"/>
              <a:ext cx="90518" cy="170643"/>
            </a:xfrm>
            <a:custGeom>
              <a:avLst/>
              <a:gdLst>
                <a:gd name="connsiteX0" fmla="*/ 90685 w 90518"/>
                <a:gd name="connsiteY0" fmla="*/ 7551 h 170643"/>
                <a:gd name="connsiteX1" fmla="*/ 82437 w 90518"/>
                <a:gd name="connsiteY1" fmla="*/ 72 h 170643"/>
                <a:gd name="connsiteX2" fmla="*/ 70891 w 90518"/>
                <a:gd name="connsiteY2" fmla="*/ 10897 h 170643"/>
                <a:gd name="connsiteX3" fmla="*/ 79138 w 90518"/>
                <a:gd name="connsiteY3" fmla="*/ 18376 h 170643"/>
                <a:gd name="connsiteX4" fmla="*/ 90685 w 90518"/>
                <a:gd name="connsiteY4" fmla="*/ 7551 h 170643"/>
                <a:gd name="connsiteX5" fmla="*/ 46972 w 90518"/>
                <a:gd name="connsiteY5" fmla="*/ 140208 h 170643"/>
                <a:gd name="connsiteX6" fmla="*/ 20373 w 90518"/>
                <a:gd name="connsiteY6" fmla="*/ 165204 h 170643"/>
                <a:gd name="connsiteX7" fmla="*/ 12950 w 90518"/>
                <a:gd name="connsiteY7" fmla="*/ 164023 h 170643"/>
                <a:gd name="connsiteX8" fmla="*/ 19961 w 90518"/>
                <a:gd name="connsiteY8" fmla="*/ 153985 h 170643"/>
                <a:gd name="connsiteX9" fmla="*/ 11919 w 90518"/>
                <a:gd name="connsiteY9" fmla="*/ 146703 h 170643"/>
                <a:gd name="connsiteX10" fmla="*/ 166 w 90518"/>
                <a:gd name="connsiteY10" fmla="*/ 158315 h 170643"/>
                <a:gd name="connsiteX11" fmla="*/ 20580 w 90518"/>
                <a:gd name="connsiteY11" fmla="*/ 170715 h 170643"/>
                <a:gd name="connsiteX12" fmla="*/ 63468 w 90518"/>
                <a:gd name="connsiteY12" fmla="*/ 139617 h 170643"/>
                <a:gd name="connsiteX13" fmla="*/ 82025 w 90518"/>
                <a:gd name="connsiteY13" fmla="*/ 69156 h 170643"/>
                <a:gd name="connsiteX14" fmla="*/ 83056 w 90518"/>
                <a:gd name="connsiteY14" fmla="*/ 62267 h 170643"/>
                <a:gd name="connsiteX15" fmla="*/ 60993 w 90518"/>
                <a:gd name="connsiteY15" fmla="*/ 43766 h 170643"/>
                <a:gd name="connsiteX16" fmla="*/ 24910 w 90518"/>
                <a:gd name="connsiteY16" fmla="*/ 73879 h 170643"/>
                <a:gd name="connsiteX17" fmla="*/ 28415 w 90518"/>
                <a:gd name="connsiteY17" fmla="*/ 76438 h 170643"/>
                <a:gd name="connsiteX18" fmla="*/ 32539 w 90518"/>
                <a:gd name="connsiteY18" fmla="*/ 72895 h 170643"/>
                <a:gd name="connsiteX19" fmla="*/ 60375 w 90518"/>
                <a:gd name="connsiteY19" fmla="*/ 49277 h 170643"/>
                <a:gd name="connsiteX20" fmla="*/ 67385 w 90518"/>
                <a:gd name="connsiteY20" fmla="*/ 58921 h 170643"/>
                <a:gd name="connsiteX21" fmla="*/ 66767 w 90518"/>
                <a:gd name="connsiteY21" fmla="*/ 64826 h 170643"/>
                <a:gd name="connsiteX22" fmla="*/ 46972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685" y="7551"/>
                  </a:moveTo>
                  <a:cubicBezTo>
                    <a:pt x="90685" y="4205"/>
                    <a:pt x="88005" y="72"/>
                    <a:pt x="82437" y="72"/>
                  </a:cubicBezTo>
                  <a:cubicBezTo>
                    <a:pt x="76458" y="72"/>
                    <a:pt x="70891" y="5583"/>
                    <a:pt x="70891" y="10897"/>
                  </a:cubicBezTo>
                  <a:cubicBezTo>
                    <a:pt x="70891" y="14046"/>
                    <a:pt x="73365" y="18376"/>
                    <a:pt x="79138" y="18376"/>
                  </a:cubicBezTo>
                  <a:cubicBezTo>
                    <a:pt x="84706" y="18376"/>
                    <a:pt x="90685" y="13259"/>
                    <a:pt x="90685" y="7551"/>
                  </a:cubicBezTo>
                  <a:close/>
                  <a:moveTo>
                    <a:pt x="46972" y="140208"/>
                  </a:moveTo>
                  <a:cubicBezTo>
                    <a:pt x="43467" y="153788"/>
                    <a:pt x="32539" y="165204"/>
                    <a:pt x="20373" y="165204"/>
                  </a:cubicBezTo>
                  <a:cubicBezTo>
                    <a:pt x="17693" y="165204"/>
                    <a:pt x="15219" y="164810"/>
                    <a:pt x="12950" y="164023"/>
                  </a:cubicBezTo>
                  <a:cubicBezTo>
                    <a:pt x="18311" y="161661"/>
                    <a:pt x="19961" y="156938"/>
                    <a:pt x="19961" y="153985"/>
                  </a:cubicBezTo>
                  <a:cubicBezTo>
                    <a:pt x="19961" y="149262"/>
                    <a:pt x="16043" y="146703"/>
                    <a:pt x="11919" y="146703"/>
                  </a:cubicBezTo>
                  <a:cubicBezTo>
                    <a:pt x="5527" y="146703"/>
                    <a:pt x="166" y="152017"/>
                    <a:pt x="166" y="158315"/>
                  </a:cubicBezTo>
                  <a:cubicBezTo>
                    <a:pt x="166" y="165794"/>
                    <a:pt x="8208" y="170715"/>
                    <a:pt x="20580" y="170715"/>
                  </a:cubicBezTo>
                  <a:cubicBezTo>
                    <a:pt x="32951" y="170715"/>
                    <a:pt x="57076" y="163629"/>
                    <a:pt x="63468" y="139617"/>
                  </a:cubicBezTo>
                  <a:lnTo>
                    <a:pt x="82025" y="69156"/>
                  </a:lnTo>
                  <a:cubicBezTo>
                    <a:pt x="82644" y="66991"/>
                    <a:pt x="83056" y="65219"/>
                    <a:pt x="83056" y="62267"/>
                  </a:cubicBezTo>
                  <a:cubicBezTo>
                    <a:pt x="83056" y="51442"/>
                    <a:pt x="73365" y="43766"/>
                    <a:pt x="60993" y="43766"/>
                  </a:cubicBezTo>
                  <a:cubicBezTo>
                    <a:pt x="38106" y="43766"/>
                    <a:pt x="24910" y="71124"/>
                    <a:pt x="24910" y="73879"/>
                  </a:cubicBezTo>
                  <a:cubicBezTo>
                    <a:pt x="24910" y="76438"/>
                    <a:pt x="27796" y="76438"/>
                    <a:pt x="28415" y="76438"/>
                  </a:cubicBezTo>
                  <a:cubicBezTo>
                    <a:pt x="30889" y="76438"/>
                    <a:pt x="31095" y="75848"/>
                    <a:pt x="32539" y="72895"/>
                  </a:cubicBezTo>
                  <a:cubicBezTo>
                    <a:pt x="37694" y="61480"/>
                    <a:pt x="48416" y="49277"/>
                    <a:pt x="60375" y="49277"/>
                  </a:cubicBezTo>
                  <a:cubicBezTo>
                    <a:pt x="65530" y="49277"/>
                    <a:pt x="67385" y="52623"/>
                    <a:pt x="67385" y="58921"/>
                  </a:cubicBezTo>
                  <a:cubicBezTo>
                    <a:pt x="67385" y="61086"/>
                    <a:pt x="66973" y="63841"/>
                    <a:pt x="66767" y="64826"/>
                  </a:cubicBezTo>
                  <a:lnTo>
                    <a:pt x="46972"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0" name="任意形状 16559">
              <a:extLst>
                <a:ext uri="{FF2B5EF4-FFF2-40B4-BE49-F238E27FC236}">
                  <a16:creationId xmlns:a16="http://schemas.microsoft.com/office/drawing/2014/main" id="{F9D408A2-F8BC-EFD1-6D8A-C1E784BE7B45}"/>
                </a:ext>
              </a:extLst>
            </p:cNvPr>
            <p:cNvSpPr/>
            <p:nvPr>
              <p:custDataLst>
                <p:tags r:id="rId52"/>
              </p:custDataLst>
            </p:nvPr>
          </p:nvSpPr>
          <p:spPr>
            <a:xfrm>
              <a:off x="5421934" y="5425078"/>
              <a:ext cx="195883" cy="187260"/>
            </a:xfrm>
            <a:custGeom>
              <a:avLst/>
              <a:gdLst>
                <a:gd name="connsiteX0" fmla="*/ 104153 w 195883"/>
                <a:gd name="connsiteY0" fmla="*/ 99324 h 187260"/>
                <a:gd name="connsiteX1" fmla="*/ 186335 w 195883"/>
                <a:gd name="connsiteY1" fmla="*/ 99324 h 187260"/>
                <a:gd name="connsiteX2" fmla="*/ 196056 w 195883"/>
                <a:gd name="connsiteY2" fmla="*/ 93700 h 187260"/>
                <a:gd name="connsiteX3" fmla="*/ 186335 w 195883"/>
                <a:gd name="connsiteY3" fmla="*/ 88077 h 187260"/>
                <a:gd name="connsiteX4" fmla="*/ 104153 w 195883"/>
                <a:gd name="connsiteY4" fmla="*/ 88077 h 187260"/>
                <a:gd name="connsiteX5" fmla="*/ 104153 w 195883"/>
                <a:gd name="connsiteY5" fmla="*/ 9349 h 187260"/>
                <a:gd name="connsiteX6" fmla="*/ 98262 w 195883"/>
                <a:gd name="connsiteY6" fmla="*/ 70 h 187260"/>
                <a:gd name="connsiteX7" fmla="*/ 92371 w 195883"/>
                <a:gd name="connsiteY7" fmla="*/ 9349 h 187260"/>
                <a:gd name="connsiteX8" fmla="*/ 92371 w 195883"/>
                <a:gd name="connsiteY8" fmla="*/ 88077 h 187260"/>
                <a:gd name="connsiteX9" fmla="*/ 9893 w 195883"/>
                <a:gd name="connsiteY9" fmla="*/ 88077 h 187260"/>
                <a:gd name="connsiteX10" fmla="*/ 173 w 195883"/>
                <a:gd name="connsiteY10" fmla="*/ 93700 h 187260"/>
                <a:gd name="connsiteX11" fmla="*/ 9893 w 195883"/>
                <a:gd name="connsiteY11" fmla="*/ 99324 h 187260"/>
                <a:gd name="connsiteX12" fmla="*/ 92371 w 195883"/>
                <a:gd name="connsiteY12" fmla="*/ 99324 h 187260"/>
                <a:gd name="connsiteX13" fmla="*/ 92371 w 195883"/>
                <a:gd name="connsiteY13" fmla="*/ 178052 h 187260"/>
                <a:gd name="connsiteX14" fmla="*/ 98262 w 195883"/>
                <a:gd name="connsiteY14" fmla="*/ 187331 h 187260"/>
                <a:gd name="connsiteX15" fmla="*/ 104153 w 195883"/>
                <a:gd name="connsiteY15" fmla="*/ 178052 h 187260"/>
                <a:gd name="connsiteX16" fmla="*/ 104153 w 195883"/>
                <a:gd name="connsiteY16" fmla="*/ 99324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153" y="99324"/>
                  </a:moveTo>
                  <a:lnTo>
                    <a:pt x="186335" y="99324"/>
                  </a:lnTo>
                  <a:cubicBezTo>
                    <a:pt x="190459" y="99324"/>
                    <a:pt x="196056" y="99324"/>
                    <a:pt x="196056" y="93700"/>
                  </a:cubicBezTo>
                  <a:cubicBezTo>
                    <a:pt x="196056" y="88077"/>
                    <a:pt x="190459" y="88077"/>
                    <a:pt x="186335" y="88077"/>
                  </a:cubicBezTo>
                  <a:lnTo>
                    <a:pt x="104153" y="88077"/>
                  </a:lnTo>
                  <a:lnTo>
                    <a:pt x="104153" y="9349"/>
                  </a:lnTo>
                  <a:cubicBezTo>
                    <a:pt x="104153" y="5412"/>
                    <a:pt x="104153" y="70"/>
                    <a:pt x="98262" y="70"/>
                  </a:cubicBezTo>
                  <a:cubicBezTo>
                    <a:pt x="92371" y="70"/>
                    <a:pt x="92371" y="5412"/>
                    <a:pt x="92371" y="9349"/>
                  </a:cubicBezTo>
                  <a:lnTo>
                    <a:pt x="92371" y="88077"/>
                  </a:lnTo>
                  <a:lnTo>
                    <a:pt x="9893" y="88077"/>
                  </a:lnTo>
                  <a:cubicBezTo>
                    <a:pt x="5770" y="88077"/>
                    <a:pt x="173" y="88077"/>
                    <a:pt x="173" y="93700"/>
                  </a:cubicBezTo>
                  <a:cubicBezTo>
                    <a:pt x="173" y="99324"/>
                    <a:pt x="5770" y="99324"/>
                    <a:pt x="9893" y="99324"/>
                  </a:cubicBezTo>
                  <a:lnTo>
                    <a:pt x="92371" y="99324"/>
                  </a:lnTo>
                  <a:lnTo>
                    <a:pt x="92371" y="178052"/>
                  </a:lnTo>
                  <a:cubicBezTo>
                    <a:pt x="92371" y="181988"/>
                    <a:pt x="92371" y="187331"/>
                    <a:pt x="98262" y="187331"/>
                  </a:cubicBezTo>
                  <a:cubicBezTo>
                    <a:pt x="104153" y="187331"/>
                    <a:pt x="104153" y="181988"/>
                    <a:pt x="104153" y="178052"/>
                  </a:cubicBezTo>
                  <a:lnTo>
                    <a:pt x="104153" y="9932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1" name="任意形状 16560">
              <a:extLst>
                <a:ext uri="{FF2B5EF4-FFF2-40B4-BE49-F238E27FC236}">
                  <a16:creationId xmlns:a16="http://schemas.microsoft.com/office/drawing/2014/main" id="{2E0792E8-82A7-6076-E360-6C145C39E4BF}"/>
                </a:ext>
              </a:extLst>
            </p:cNvPr>
            <p:cNvSpPr/>
            <p:nvPr>
              <p:custDataLst>
                <p:tags r:id="rId53"/>
              </p:custDataLst>
            </p:nvPr>
          </p:nvSpPr>
          <p:spPr>
            <a:xfrm>
              <a:off x="5708541" y="5464723"/>
              <a:ext cx="151404" cy="127370"/>
            </a:xfrm>
            <a:custGeom>
              <a:avLst/>
              <a:gdLst>
                <a:gd name="connsiteX0" fmla="*/ 94737 w 151404"/>
                <a:gd name="connsiteY0" fmla="*/ 108603 h 127370"/>
                <a:gd name="connsiteX1" fmla="*/ 120953 w 151404"/>
                <a:gd name="connsiteY1" fmla="*/ 127441 h 127370"/>
                <a:gd name="connsiteX2" fmla="*/ 142750 w 151404"/>
                <a:gd name="connsiteY2" fmla="*/ 111977 h 127370"/>
                <a:gd name="connsiteX3" fmla="*/ 151587 w 151404"/>
                <a:gd name="connsiteY3" fmla="*/ 84141 h 127370"/>
                <a:gd name="connsiteX4" fmla="*/ 148053 w 151404"/>
                <a:gd name="connsiteY4" fmla="*/ 81329 h 127370"/>
                <a:gd name="connsiteX5" fmla="*/ 143929 w 151404"/>
                <a:gd name="connsiteY5" fmla="*/ 86390 h 127370"/>
                <a:gd name="connsiteX6" fmla="*/ 121837 w 151404"/>
                <a:gd name="connsiteY6" fmla="*/ 121255 h 127370"/>
                <a:gd name="connsiteX7" fmla="*/ 112705 w 151404"/>
                <a:gd name="connsiteY7" fmla="*/ 108321 h 127370"/>
                <a:gd name="connsiteX8" fmla="*/ 118596 w 151404"/>
                <a:gd name="connsiteY8" fmla="*/ 79080 h 127370"/>
                <a:gd name="connsiteX9" fmla="*/ 126844 w 151404"/>
                <a:gd name="connsiteY9" fmla="*/ 48713 h 127370"/>
                <a:gd name="connsiteX10" fmla="*/ 131852 w 151404"/>
                <a:gd name="connsiteY10" fmla="*/ 29593 h 127370"/>
                <a:gd name="connsiteX11" fmla="*/ 136270 w 151404"/>
                <a:gd name="connsiteY11" fmla="*/ 10755 h 127370"/>
                <a:gd name="connsiteX12" fmla="*/ 127728 w 151404"/>
                <a:gd name="connsiteY12" fmla="*/ 3163 h 127370"/>
                <a:gd name="connsiteX13" fmla="*/ 116240 w 151404"/>
                <a:gd name="connsiteY13" fmla="*/ 13004 h 127370"/>
                <a:gd name="connsiteX14" fmla="*/ 94148 w 151404"/>
                <a:gd name="connsiteY14" fmla="*/ 97637 h 127370"/>
                <a:gd name="connsiteX15" fmla="*/ 60568 w 151404"/>
                <a:gd name="connsiteY15" fmla="*/ 121255 h 127370"/>
                <a:gd name="connsiteX16" fmla="*/ 42305 w 151404"/>
                <a:gd name="connsiteY16" fmla="*/ 98199 h 127370"/>
                <a:gd name="connsiteX17" fmla="*/ 58211 w 151404"/>
                <a:gd name="connsiteY17" fmla="*/ 40840 h 127370"/>
                <a:gd name="connsiteX18" fmla="*/ 63219 w 151404"/>
                <a:gd name="connsiteY18" fmla="*/ 23126 h 127370"/>
                <a:gd name="connsiteX19" fmla="*/ 39065 w 151404"/>
                <a:gd name="connsiteY19" fmla="*/ 70 h 127370"/>
                <a:gd name="connsiteX20" fmla="*/ 183 w 151404"/>
                <a:gd name="connsiteY20" fmla="*/ 43371 h 127370"/>
                <a:gd name="connsiteX21" fmla="*/ 3718 w 151404"/>
                <a:gd name="connsiteY21" fmla="*/ 46182 h 127370"/>
                <a:gd name="connsiteX22" fmla="*/ 8431 w 151404"/>
                <a:gd name="connsiteY22" fmla="*/ 41121 h 127370"/>
                <a:gd name="connsiteX23" fmla="*/ 38181 w 151404"/>
                <a:gd name="connsiteY23" fmla="*/ 6256 h 127370"/>
                <a:gd name="connsiteX24" fmla="*/ 45545 w 151404"/>
                <a:gd name="connsiteY24" fmla="*/ 15535 h 127370"/>
                <a:gd name="connsiteX25" fmla="*/ 40538 w 151404"/>
                <a:gd name="connsiteY25" fmla="*/ 34654 h 127370"/>
                <a:gd name="connsiteX26" fmla="*/ 23453 w 151404"/>
                <a:gd name="connsiteY26" fmla="*/ 93700 h 127370"/>
                <a:gd name="connsiteX27" fmla="*/ 59684 w 151404"/>
                <a:gd name="connsiteY27" fmla="*/ 127441 h 127370"/>
                <a:gd name="connsiteX28" fmla="*/ 9473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37" y="108603"/>
                  </a:moveTo>
                  <a:cubicBezTo>
                    <a:pt x="97977" y="120131"/>
                    <a:pt x="108287" y="127441"/>
                    <a:pt x="120953" y="127441"/>
                  </a:cubicBezTo>
                  <a:cubicBezTo>
                    <a:pt x="131263" y="127441"/>
                    <a:pt x="138037" y="120974"/>
                    <a:pt x="142750" y="111977"/>
                  </a:cubicBezTo>
                  <a:cubicBezTo>
                    <a:pt x="147758" y="101854"/>
                    <a:pt x="151587" y="84703"/>
                    <a:pt x="151587" y="84141"/>
                  </a:cubicBezTo>
                  <a:cubicBezTo>
                    <a:pt x="151587" y="81329"/>
                    <a:pt x="148936" y="81329"/>
                    <a:pt x="148053" y="81329"/>
                  </a:cubicBezTo>
                  <a:cubicBezTo>
                    <a:pt x="145107" y="81329"/>
                    <a:pt x="144812" y="82454"/>
                    <a:pt x="143929" y="86390"/>
                  </a:cubicBezTo>
                  <a:cubicBezTo>
                    <a:pt x="139805" y="102136"/>
                    <a:pt x="134208" y="121255"/>
                    <a:pt x="121837" y="121255"/>
                  </a:cubicBezTo>
                  <a:cubicBezTo>
                    <a:pt x="115651" y="121255"/>
                    <a:pt x="112705" y="117600"/>
                    <a:pt x="112705" y="108321"/>
                  </a:cubicBezTo>
                  <a:cubicBezTo>
                    <a:pt x="112705" y="102136"/>
                    <a:pt x="116240" y="88921"/>
                    <a:pt x="118596" y="79080"/>
                  </a:cubicBezTo>
                  <a:lnTo>
                    <a:pt x="126844" y="48713"/>
                  </a:lnTo>
                  <a:cubicBezTo>
                    <a:pt x="127728" y="44495"/>
                    <a:pt x="130673" y="33811"/>
                    <a:pt x="131852" y="29593"/>
                  </a:cubicBezTo>
                  <a:cubicBezTo>
                    <a:pt x="133324" y="23126"/>
                    <a:pt x="136270" y="12442"/>
                    <a:pt x="136270" y="10755"/>
                  </a:cubicBezTo>
                  <a:cubicBezTo>
                    <a:pt x="136270" y="5694"/>
                    <a:pt x="132146" y="3163"/>
                    <a:pt x="127728" y="3163"/>
                  </a:cubicBezTo>
                  <a:cubicBezTo>
                    <a:pt x="126255" y="3163"/>
                    <a:pt x="118596" y="3444"/>
                    <a:pt x="116240" y="13004"/>
                  </a:cubicBezTo>
                  <a:cubicBezTo>
                    <a:pt x="110643" y="33530"/>
                    <a:pt x="97683" y="82735"/>
                    <a:pt x="94148" y="97637"/>
                  </a:cubicBezTo>
                  <a:cubicBezTo>
                    <a:pt x="93853" y="98762"/>
                    <a:pt x="82071" y="121255"/>
                    <a:pt x="60568" y="121255"/>
                  </a:cubicBezTo>
                  <a:cubicBezTo>
                    <a:pt x="45251" y="121255"/>
                    <a:pt x="42305" y="108603"/>
                    <a:pt x="42305" y="98199"/>
                  </a:cubicBezTo>
                  <a:cubicBezTo>
                    <a:pt x="42305" y="82454"/>
                    <a:pt x="50553" y="60241"/>
                    <a:pt x="58211" y="40840"/>
                  </a:cubicBezTo>
                  <a:cubicBezTo>
                    <a:pt x="61746" y="32405"/>
                    <a:pt x="63219" y="28469"/>
                    <a:pt x="63219" y="23126"/>
                  </a:cubicBezTo>
                  <a:cubicBezTo>
                    <a:pt x="63219" y="10474"/>
                    <a:pt x="53793" y="70"/>
                    <a:pt x="39065" y="70"/>
                  </a:cubicBezTo>
                  <a:cubicBezTo>
                    <a:pt x="11082" y="70"/>
                    <a:pt x="183" y="40840"/>
                    <a:pt x="183" y="43371"/>
                  </a:cubicBezTo>
                  <a:cubicBezTo>
                    <a:pt x="183" y="46182"/>
                    <a:pt x="3128" y="46182"/>
                    <a:pt x="3718" y="46182"/>
                  </a:cubicBezTo>
                  <a:cubicBezTo>
                    <a:pt x="6663" y="46182"/>
                    <a:pt x="6958" y="45620"/>
                    <a:pt x="8431" y="41121"/>
                  </a:cubicBezTo>
                  <a:cubicBezTo>
                    <a:pt x="15795" y="16659"/>
                    <a:pt x="26988" y="6256"/>
                    <a:pt x="38181" y="6256"/>
                  </a:cubicBezTo>
                  <a:cubicBezTo>
                    <a:pt x="40832" y="6256"/>
                    <a:pt x="45545" y="6537"/>
                    <a:pt x="45545" y="15535"/>
                  </a:cubicBezTo>
                  <a:cubicBezTo>
                    <a:pt x="45545" y="22283"/>
                    <a:pt x="42305" y="30437"/>
                    <a:pt x="40538" y="34654"/>
                  </a:cubicBezTo>
                  <a:cubicBezTo>
                    <a:pt x="29639" y="62490"/>
                    <a:pt x="23453" y="79923"/>
                    <a:pt x="23453" y="93700"/>
                  </a:cubicBezTo>
                  <a:cubicBezTo>
                    <a:pt x="23453" y="120412"/>
                    <a:pt x="43778" y="127441"/>
                    <a:pt x="59684" y="127441"/>
                  </a:cubicBezTo>
                  <a:cubicBezTo>
                    <a:pt x="79125" y="127441"/>
                    <a:pt x="89729" y="114788"/>
                    <a:pt x="9473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2" name="任意形状 16561">
              <a:extLst>
                <a:ext uri="{FF2B5EF4-FFF2-40B4-BE49-F238E27FC236}">
                  <a16:creationId xmlns:a16="http://schemas.microsoft.com/office/drawing/2014/main" id="{CA76DB01-01E7-E050-F40C-034A7E20309F}"/>
                </a:ext>
              </a:extLst>
            </p:cNvPr>
            <p:cNvSpPr/>
            <p:nvPr>
              <p:custDataLst>
                <p:tags r:id="rId54"/>
              </p:custDataLst>
            </p:nvPr>
          </p:nvSpPr>
          <p:spPr>
            <a:xfrm>
              <a:off x="5878314" y="5500684"/>
              <a:ext cx="62476" cy="132460"/>
            </a:xfrm>
            <a:custGeom>
              <a:avLst/>
              <a:gdLst>
                <a:gd name="connsiteX0" fmla="*/ 57304 w 62476"/>
                <a:gd name="connsiteY0" fmla="*/ 7551 h 132460"/>
                <a:gd name="connsiteX1" fmla="*/ 49056 w 62476"/>
                <a:gd name="connsiteY1" fmla="*/ 72 h 132460"/>
                <a:gd name="connsiteX2" fmla="*/ 37509 w 62476"/>
                <a:gd name="connsiteY2" fmla="*/ 10897 h 132460"/>
                <a:gd name="connsiteX3" fmla="*/ 45757 w 62476"/>
                <a:gd name="connsiteY3" fmla="*/ 18376 h 132460"/>
                <a:gd name="connsiteX4" fmla="*/ 57304 w 62476"/>
                <a:gd name="connsiteY4" fmla="*/ 7551 h 132460"/>
                <a:gd name="connsiteX5" fmla="*/ 15241 w 62476"/>
                <a:gd name="connsiteY5" fmla="*/ 107536 h 132460"/>
                <a:gd name="connsiteX6" fmla="*/ 13385 w 62476"/>
                <a:gd name="connsiteY6" fmla="*/ 115802 h 132460"/>
                <a:gd name="connsiteX7" fmla="*/ 32973 w 62476"/>
                <a:gd name="connsiteY7" fmla="*/ 132532 h 132460"/>
                <a:gd name="connsiteX8" fmla="*/ 62665 w 62476"/>
                <a:gd name="connsiteY8" fmla="*/ 102418 h 132460"/>
                <a:gd name="connsiteX9" fmla="*/ 59366 w 62476"/>
                <a:gd name="connsiteY9" fmla="*/ 99860 h 132460"/>
                <a:gd name="connsiteX10" fmla="*/ 55448 w 62476"/>
                <a:gd name="connsiteY10" fmla="*/ 103206 h 132460"/>
                <a:gd name="connsiteX11" fmla="*/ 33592 w 62476"/>
                <a:gd name="connsiteY11" fmla="*/ 127021 h 132460"/>
                <a:gd name="connsiteX12" fmla="*/ 28437 w 62476"/>
                <a:gd name="connsiteY12" fmla="*/ 120132 h 132460"/>
                <a:gd name="connsiteX13" fmla="*/ 31736 w 62476"/>
                <a:gd name="connsiteY13" fmla="*/ 107536 h 132460"/>
                <a:gd name="connsiteX14" fmla="*/ 38334 w 62476"/>
                <a:gd name="connsiteY14" fmla="*/ 91790 h 132460"/>
                <a:gd name="connsiteX15" fmla="*/ 48438 w 62476"/>
                <a:gd name="connsiteY15" fmla="*/ 66794 h 132460"/>
                <a:gd name="connsiteX16" fmla="*/ 49675 w 62476"/>
                <a:gd name="connsiteY16" fmla="*/ 60496 h 132460"/>
                <a:gd name="connsiteX17" fmla="*/ 30087 w 62476"/>
                <a:gd name="connsiteY17" fmla="*/ 43766 h 132460"/>
                <a:gd name="connsiteX18" fmla="*/ 189 w 62476"/>
                <a:gd name="connsiteY18" fmla="*/ 73879 h 132460"/>
                <a:gd name="connsiteX19" fmla="*/ 3694 w 62476"/>
                <a:gd name="connsiteY19" fmla="*/ 76438 h 132460"/>
                <a:gd name="connsiteX20" fmla="*/ 7405 w 62476"/>
                <a:gd name="connsiteY20" fmla="*/ 73289 h 132460"/>
                <a:gd name="connsiteX21" fmla="*/ 29468 w 62476"/>
                <a:gd name="connsiteY21" fmla="*/ 49277 h 132460"/>
                <a:gd name="connsiteX22" fmla="*/ 34623 w 62476"/>
                <a:gd name="connsiteY22" fmla="*/ 56165 h 132460"/>
                <a:gd name="connsiteX23" fmla="*/ 28231 w 62476"/>
                <a:gd name="connsiteY23" fmla="*/ 75848 h 132460"/>
                <a:gd name="connsiteX24" fmla="*/ 15241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04" y="7551"/>
                  </a:moveTo>
                  <a:cubicBezTo>
                    <a:pt x="57304" y="4402"/>
                    <a:pt x="54830" y="72"/>
                    <a:pt x="49056" y="72"/>
                  </a:cubicBezTo>
                  <a:cubicBezTo>
                    <a:pt x="43489" y="72"/>
                    <a:pt x="37509" y="5189"/>
                    <a:pt x="37509" y="10897"/>
                  </a:cubicBezTo>
                  <a:cubicBezTo>
                    <a:pt x="37509" y="14243"/>
                    <a:pt x="40190" y="18376"/>
                    <a:pt x="45757" y="18376"/>
                  </a:cubicBezTo>
                  <a:cubicBezTo>
                    <a:pt x="51737" y="18376"/>
                    <a:pt x="57304" y="12865"/>
                    <a:pt x="57304" y="7551"/>
                  </a:cubicBezTo>
                  <a:close/>
                  <a:moveTo>
                    <a:pt x="15241" y="107536"/>
                  </a:moveTo>
                  <a:cubicBezTo>
                    <a:pt x="14416" y="110094"/>
                    <a:pt x="13385" y="112456"/>
                    <a:pt x="13385" y="115802"/>
                  </a:cubicBezTo>
                  <a:cubicBezTo>
                    <a:pt x="13385" y="125053"/>
                    <a:pt x="21633" y="132532"/>
                    <a:pt x="32973" y="132532"/>
                  </a:cubicBezTo>
                  <a:cubicBezTo>
                    <a:pt x="53592" y="132532"/>
                    <a:pt x="62665" y="105371"/>
                    <a:pt x="62665" y="102418"/>
                  </a:cubicBezTo>
                  <a:cubicBezTo>
                    <a:pt x="62665" y="99860"/>
                    <a:pt x="59984" y="99860"/>
                    <a:pt x="59366" y="99860"/>
                  </a:cubicBezTo>
                  <a:cubicBezTo>
                    <a:pt x="56479" y="99860"/>
                    <a:pt x="56273" y="101041"/>
                    <a:pt x="55448" y="103206"/>
                  </a:cubicBezTo>
                  <a:cubicBezTo>
                    <a:pt x="50706" y="118951"/>
                    <a:pt x="41633" y="127021"/>
                    <a:pt x="33592" y="127021"/>
                  </a:cubicBezTo>
                  <a:cubicBezTo>
                    <a:pt x="29468" y="127021"/>
                    <a:pt x="28437" y="124462"/>
                    <a:pt x="28437" y="120132"/>
                  </a:cubicBezTo>
                  <a:cubicBezTo>
                    <a:pt x="28437" y="115605"/>
                    <a:pt x="29880" y="111866"/>
                    <a:pt x="31736" y="107536"/>
                  </a:cubicBezTo>
                  <a:cubicBezTo>
                    <a:pt x="33798" y="102221"/>
                    <a:pt x="36066" y="96907"/>
                    <a:pt x="38334" y="91790"/>
                  </a:cubicBezTo>
                  <a:cubicBezTo>
                    <a:pt x="40190" y="87066"/>
                    <a:pt x="47613" y="69156"/>
                    <a:pt x="48438" y="66794"/>
                  </a:cubicBezTo>
                  <a:cubicBezTo>
                    <a:pt x="49056" y="64826"/>
                    <a:pt x="49675" y="62464"/>
                    <a:pt x="49675" y="60496"/>
                  </a:cubicBezTo>
                  <a:cubicBezTo>
                    <a:pt x="49675" y="51245"/>
                    <a:pt x="41427" y="43766"/>
                    <a:pt x="30087" y="43766"/>
                  </a:cubicBezTo>
                  <a:cubicBezTo>
                    <a:pt x="9673" y="43766"/>
                    <a:pt x="189" y="70533"/>
                    <a:pt x="189" y="73879"/>
                  </a:cubicBezTo>
                  <a:cubicBezTo>
                    <a:pt x="189" y="76438"/>
                    <a:pt x="3075" y="76438"/>
                    <a:pt x="3694" y="76438"/>
                  </a:cubicBezTo>
                  <a:cubicBezTo>
                    <a:pt x="6581" y="76438"/>
                    <a:pt x="6787" y="75454"/>
                    <a:pt x="7405" y="73289"/>
                  </a:cubicBezTo>
                  <a:cubicBezTo>
                    <a:pt x="12766" y="56362"/>
                    <a:pt x="21839" y="49277"/>
                    <a:pt x="29468" y="49277"/>
                  </a:cubicBezTo>
                  <a:cubicBezTo>
                    <a:pt x="32767" y="49277"/>
                    <a:pt x="34623" y="50851"/>
                    <a:pt x="34623" y="56165"/>
                  </a:cubicBezTo>
                  <a:cubicBezTo>
                    <a:pt x="34623" y="60692"/>
                    <a:pt x="33386" y="63645"/>
                    <a:pt x="28231" y="75848"/>
                  </a:cubicBezTo>
                  <a:lnTo>
                    <a:pt x="15241"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3" name="任意形状 16562">
              <a:extLst>
                <a:ext uri="{FF2B5EF4-FFF2-40B4-BE49-F238E27FC236}">
                  <a16:creationId xmlns:a16="http://schemas.microsoft.com/office/drawing/2014/main" id="{60AF568C-AAEB-288E-2674-5CDDC019B712}"/>
                </a:ext>
              </a:extLst>
            </p:cNvPr>
            <p:cNvSpPr/>
            <p:nvPr>
              <p:custDataLst>
                <p:tags r:id="rId55"/>
              </p:custDataLst>
            </p:nvPr>
          </p:nvSpPr>
          <p:spPr>
            <a:xfrm>
              <a:off x="5974232" y="5577051"/>
              <a:ext cx="139386" cy="9644"/>
            </a:xfrm>
            <a:custGeom>
              <a:avLst/>
              <a:gdLst>
                <a:gd name="connsiteX0" fmla="*/ 131330 w 139386"/>
                <a:gd name="connsiteY0" fmla="*/ 9716 h 9644"/>
                <a:gd name="connsiteX1" fmla="*/ 139578 w 139386"/>
                <a:gd name="connsiteY1" fmla="*/ 4992 h 9644"/>
                <a:gd name="connsiteX2" fmla="*/ 131330 w 139386"/>
                <a:gd name="connsiteY2" fmla="*/ 72 h 9644"/>
                <a:gd name="connsiteX3" fmla="*/ 8439 w 139386"/>
                <a:gd name="connsiteY3" fmla="*/ 72 h 9644"/>
                <a:gd name="connsiteX4" fmla="*/ 191 w 139386"/>
                <a:gd name="connsiteY4" fmla="*/ 4795 h 9644"/>
                <a:gd name="connsiteX5" fmla="*/ 8439 w 139386"/>
                <a:gd name="connsiteY5" fmla="*/ 9716 h 9644"/>
                <a:gd name="connsiteX6" fmla="*/ 131330 w 139386"/>
                <a:gd name="connsiteY6" fmla="*/ 9716 h 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386" h="9644">
                  <a:moveTo>
                    <a:pt x="131330" y="9716"/>
                  </a:moveTo>
                  <a:cubicBezTo>
                    <a:pt x="134629" y="9716"/>
                    <a:pt x="139578" y="9716"/>
                    <a:pt x="139578" y="4992"/>
                  </a:cubicBezTo>
                  <a:cubicBezTo>
                    <a:pt x="139578" y="72"/>
                    <a:pt x="134835" y="72"/>
                    <a:pt x="131330" y="72"/>
                  </a:cubicBezTo>
                  <a:lnTo>
                    <a:pt x="8439" y="72"/>
                  </a:lnTo>
                  <a:cubicBezTo>
                    <a:pt x="5140" y="72"/>
                    <a:pt x="191" y="72"/>
                    <a:pt x="191" y="4795"/>
                  </a:cubicBezTo>
                  <a:cubicBezTo>
                    <a:pt x="191" y="9716"/>
                    <a:pt x="4934" y="9716"/>
                    <a:pt x="8439" y="9716"/>
                  </a:cubicBezTo>
                  <a:lnTo>
                    <a:pt x="131330" y="971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4" name="任意形状 16563">
              <a:extLst>
                <a:ext uri="{FF2B5EF4-FFF2-40B4-BE49-F238E27FC236}">
                  <a16:creationId xmlns:a16="http://schemas.microsoft.com/office/drawing/2014/main" id="{9406D405-9FBE-BEF8-33BB-201915E3CEEE}"/>
                </a:ext>
              </a:extLst>
            </p:cNvPr>
            <p:cNvSpPr/>
            <p:nvPr>
              <p:custDataLst>
                <p:tags r:id="rId56"/>
              </p:custDataLst>
            </p:nvPr>
          </p:nvSpPr>
          <p:spPr>
            <a:xfrm>
              <a:off x="6158539" y="5500487"/>
              <a:ext cx="75054" cy="130688"/>
            </a:xfrm>
            <a:custGeom>
              <a:avLst/>
              <a:gdLst>
                <a:gd name="connsiteX0" fmla="*/ 46797 w 75054"/>
                <a:gd name="connsiteY0" fmla="*/ 5583 h 130688"/>
                <a:gd name="connsiteX1" fmla="*/ 40611 w 75054"/>
                <a:gd name="connsiteY1" fmla="*/ 72 h 130688"/>
                <a:gd name="connsiteX2" fmla="*/ 198 w 75054"/>
                <a:gd name="connsiteY2" fmla="*/ 12668 h 130688"/>
                <a:gd name="connsiteX3" fmla="*/ 198 w 75054"/>
                <a:gd name="connsiteY3" fmla="*/ 19754 h 130688"/>
                <a:gd name="connsiteX4" fmla="*/ 30096 w 75054"/>
                <a:gd name="connsiteY4" fmla="*/ 14243 h 130688"/>
                <a:gd name="connsiteX5" fmla="*/ 30096 w 75054"/>
                <a:gd name="connsiteY5" fmla="*/ 114621 h 130688"/>
                <a:gd name="connsiteX6" fmla="*/ 9476 w 75054"/>
                <a:gd name="connsiteY6" fmla="*/ 123675 h 130688"/>
                <a:gd name="connsiteX7" fmla="*/ 1641 w 75054"/>
                <a:gd name="connsiteY7" fmla="*/ 123675 h 130688"/>
                <a:gd name="connsiteX8" fmla="*/ 1641 w 75054"/>
                <a:gd name="connsiteY8" fmla="*/ 130760 h 130688"/>
                <a:gd name="connsiteX9" fmla="*/ 38343 w 75054"/>
                <a:gd name="connsiteY9" fmla="*/ 129973 h 130688"/>
                <a:gd name="connsiteX10" fmla="*/ 75252 w 75054"/>
                <a:gd name="connsiteY10" fmla="*/ 130760 h 130688"/>
                <a:gd name="connsiteX11" fmla="*/ 75252 w 75054"/>
                <a:gd name="connsiteY11" fmla="*/ 123675 h 130688"/>
                <a:gd name="connsiteX12" fmla="*/ 67416 w 75054"/>
                <a:gd name="connsiteY12" fmla="*/ 123675 h 130688"/>
                <a:gd name="connsiteX13" fmla="*/ 46797 w 75054"/>
                <a:gd name="connsiteY13" fmla="*/ 114621 h 130688"/>
                <a:gd name="connsiteX14" fmla="*/ 46797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797" y="5583"/>
                  </a:moveTo>
                  <a:cubicBezTo>
                    <a:pt x="46797" y="268"/>
                    <a:pt x="46385" y="72"/>
                    <a:pt x="40611" y="72"/>
                  </a:cubicBezTo>
                  <a:cubicBezTo>
                    <a:pt x="27415" y="12471"/>
                    <a:pt x="8652" y="12668"/>
                    <a:pt x="198" y="12668"/>
                  </a:cubicBezTo>
                  <a:lnTo>
                    <a:pt x="198" y="19754"/>
                  </a:lnTo>
                  <a:cubicBezTo>
                    <a:pt x="5146" y="19754"/>
                    <a:pt x="18755" y="19754"/>
                    <a:pt x="30096" y="14243"/>
                  </a:cubicBezTo>
                  <a:lnTo>
                    <a:pt x="30096" y="114621"/>
                  </a:lnTo>
                  <a:cubicBezTo>
                    <a:pt x="30096" y="121116"/>
                    <a:pt x="30096" y="123675"/>
                    <a:pt x="9476" y="123675"/>
                  </a:cubicBezTo>
                  <a:lnTo>
                    <a:pt x="1641" y="123675"/>
                  </a:lnTo>
                  <a:lnTo>
                    <a:pt x="1641" y="130760"/>
                  </a:lnTo>
                  <a:cubicBezTo>
                    <a:pt x="5352" y="130564"/>
                    <a:pt x="30714" y="129973"/>
                    <a:pt x="38343" y="129973"/>
                  </a:cubicBezTo>
                  <a:cubicBezTo>
                    <a:pt x="44735" y="129973"/>
                    <a:pt x="70716" y="130564"/>
                    <a:pt x="75252" y="130760"/>
                  </a:cubicBezTo>
                  <a:lnTo>
                    <a:pt x="75252" y="123675"/>
                  </a:lnTo>
                  <a:lnTo>
                    <a:pt x="67416" y="123675"/>
                  </a:lnTo>
                  <a:cubicBezTo>
                    <a:pt x="46797" y="123675"/>
                    <a:pt x="46797" y="121116"/>
                    <a:pt x="46797" y="114621"/>
                  </a:cubicBezTo>
                  <a:lnTo>
                    <a:pt x="46797"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5" name="任意形状 16564">
              <a:extLst>
                <a:ext uri="{FF2B5EF4-FFF2-40B4-BE49-F238E27FC236}">
                  <a16:creationId xmlns:a16="http://schemas.microsoft.com/office/drawing/2014/main" id="{B154F202-3D61-42ED-E8A9-FD7D7841B4E7}"/>
                </a:ext>
              </a:extLst>
            </p:cNvPr>
            <p:cNvSpPr/>
            <p:nvPr>
              <p:custDataLst>
                <p:tags r:id="rId57"/>
              </p:custDataLst>
            </p:nvPr>
          </p:nvSpPr>
          <p:spPr>
            <a:xfrm>
              <a:off x="6276574" y="5608542"/>
              <a:ext cx="26186" cy="60620"/>
            </a:xfrm>
            <a:custGeom>
              <a:avLst/>
              <a:gdLst>
                <a:gd name="connsiteX0" fmla="*/ 20615 w 26186"/>
                <a:gd name="connsiteY0" fmla="*/ 19557 h 60620"/>
                <a:gd name="connsiteX1" fmla="*/ 4532 w 26186"/>
                <a:gd name="connsiteY1" fmla="*/ 55575 h 60620"/>
                <a:gd name="connsiteX2" fmla="*/ 3088 w 26186"/>
                <a:gd name="connsiteY2" fmla="*/ 57937 h 60620"/>
                <a:gd name="connsiteX3" fmla="*/ 5975 w 26186"/>
                <a:gd name="connsiteY3" fmla="*/ 60692 h 60620"/>
                <a:gd name="connsiteX4" fmla="*/ 26388 w 26186"/>
                <a:gd name="connsiteY4" fmla="*/ 21525 h 60620"/>
                <a:gd name="connsiteX5" fmla="*/ 11955 w 26186"/>
                <a:gd name="connsiteY5" fmla="*/ 72 h 60620"/>
                <a:gd name="connsiteX6" fmla="*/ 202 w 26186"/>
                <a:gd name="connsiteY6" fmla="*/ 11290 h 60620"/>
                <a:gd name="connsiteX7" fmla="*/ 12161 w 26186"/>
                <a:gd name="connsiteY7" fmla="*/ 22706 h 60620"/>
                <a:gd name="connsiteX8" fmla="*/ 20615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15" y="19557"/>
                  </a:moveTo>
                  <a:cubicBezTo>
                    <a:pt x="20615" y="30382"/>
                    <a:pt x="18553" y="42979"/>
                    <a:pt x="4532" y="55575"/>
                  </a:cubicBezTo>
                  <a:cubicBezTo>
                    <a:pt x="3707" y="56362"/>
                    <a:pt x="3088" y="56953"/>
                    <a:pt x="3088" y="57937"/>
                  </a:cubicBezTo>
                  <a:cubicBezTo>
                    <a:pt x="3088" y="59315"/>
                    <a:pt x="4738" y="60692"/>
                    <a:pt x="5975" y="60692"/>
                  </a:cubicBezTo>
                  <a:cubicBezTo>
                    <a:pt x="8862" y="60692"/>
                    <a:pt x="26388" y="44947"/>
                    <a:pt x="26388" y="21525"/>
                  </a:cubicBezTo>
                  <a:cubicBezTo>
                    <a:pt x="26388" y="9322"/>
                    <a:pt x="21439" y="72"/>
                    <a:pt x="11955" y="72"/>
                  </a:cubicBezTo>
                  <a:cubicBezTo>
                    <a:pt x="5150" y="72"/>
                    <a:pt x="202" y="5189"/>
                    <a:pt x="202" y="11290"/>
                  </a:cubicBezTo>
                  <a:cubicBezTo>
                    <a:pt x="202" y="17589"/>
                    <a:pt x="4944" y="22706"/>
                    <a:pt x="12161" y="22706"/>
                  </a:cubicBezTo>
                  <a:cubicBezTo>
                    <a:pt x="17109" y="22706"/>
                    <a:pt x="20408" y="19557"/>
                    <a:pt x="20615"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6" name="任意形状 16565">
              <a:extLst>
                <a:ext uri="{FF2B5EF4-FFF2-40B4-BE49-F238E27FC236}">
                  <a16:creationId xmlns:a16="http://schemas.microsoft.com/office/drawing/2014/main" id="{B0646DA0-0608-FA2B-2D93-B00C7980CB49}"/>
                </a:ext>
              </a:extLst>
            </p:cNvPr>
            <p:cNvSpPr/>
            <p:nvPr>
              <p:custDataLst>
                <p:tags r:id="rId58"/>
              </p:custDataLst>
            </p:nvPr>
          </p:nvSpPr>
          <p:spPr>
            <a:xfrm>
              <a:off x="6323439" y="5500684"/>
              <a:ext cx="90518" cy="170643"/>
            </a:xfrm>
            <a:custGeom>
              <a:avLst/>
              <a:gdLst>
                <a:gd name="connsiteX0" fmla="*/ 90723 w 90518"/>
                <a:gd name="connsiteY0" fmla="*/ 7551 h 170643"/>
                <a:gd name="connsiteX1" fmla="*/ 82475 w 90518"/>
                <a:gd name="connsiteY1" fmla="*/ 72 h 170643"/>
                <a:gd name="connsiteX2" fmla="*/ 70928 w 90518"/>
                <a:gd name="connsiteY2" fmla="*/ 10897 h 170643"/>
                <a:gd name="connsiteX3" fmla="*/ 79176 w 90518"/>
                <a:gd name="connsiteY3" fmla="*/ 18376 h 170643"/>
                <a:gd name="connsiteX4" fmla="*/ 90723 w 90518"/>
                <a:gd name="connsiteY4" fmla="*/ 7551 h 170643"/>
                <a:gd name="connsiteX5" fmla="*/ 47010 w 90518"/>
                <a:gd name="connsiteY5" fmla="*/ 140208 h 170643"/>
                <a:gd name="connsiteX6" fmla="*/ 20411 w 90518"/>
                <a:gd name="connsiteY6" fmla="*/ 165204 h 170643"/>
                <a:gd name="connsiteX7" fmla="*/ 12988 w 90518"/>
                <a:gd name="connsiteY7" fmla="*/ 164023 h 170643"/>
                <a:gd name="connsiteX8" fmla="*/ 19998 w 90518"/>
                <a:gd name="connsiteY8" fmla="*/ 153985 h 170643"/>
                <a:gd name="connsiteX9" fmla="*/ 11957 w 90518"/>
                <a:gd name="connsiteY9" fmla="*/ 146703 h 170643"/>
                <a:gd name="connsiteX10" fmla="*/ 204 w 90518"/>
                <a:gd name="connsiteY10" fmla="*/ 158315 h 170643"/>
                <a:gd name="connsiteX11" fmla="*/ 20617 w 90518"/>
                <a:gd name="connsiteY11" fmla="*/ 170715 h 170643"/>
                <a:gd name="connsiteX12" fmla="*/ 63505 w 90518"/>
                <a:gd name="connsiteY12" fmla="*/ 139617 h 170643"/>
                <a:gd name="connsiteX13" fmla="*/ 82062 w 90518"/>
                <a:gd name="connsiteY13" fmla="*/ 69156 h 170643"/>
                <a:gd name="connsiteX14" fmla="*/ 83093 w 90518"/>
                <a:gd name="connsiteY14" fmla="*/ 62267 h 170643"/>
                <a:gd name="connsiteX15" fmla="*/ 61031 w 90518"/>
                <a:gd name="connsiteY15" fmla="*/ 43766 h 170643"/>
                <a:gd name="connsiteX16" fmla="*/ 24947 w 90518"/>
                <a:gd name="connsiteY16" fmla="*/ 73879 h 170643"/>
                <a:gd name="connsiteX17" fmla="*/ 28452 w 90518"/>
                <a:gd name="connsiteY17" fmla="*/ 76438 h 170643"/>
                <a:gd name="connsiteX18" fmla="*/ 32576 w 90518"/>
                <a:gd name="connsiteY18" fmla="*/ 72895 h 170643"/>
                <a:gd name="connsiteX19" fmla="*/ 60412 w 90518"/>
                <a:gd name="connsiteY19" fmla="*/ 49277 h 170643"/>
                <a:gd name="connsiteX20" fmla="*/ 67423 w 90518"/>
                <a:gd name="connsiteY20" fmla="*/ 58921 h 170643"/>
                <a:gd name="connsiteX21" fmla="*/ 66804 w 90518"/>
                <a:gd name="connsiteY21" fmla="*/ 64826 h 170643"/>
                <a:gd name="connsiteX22" fmla="*/ 47010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23" y="7551"/>
                  </a:moveTo>
                  <a:cubicBezTo>
                    <a:pt x="90723" y="4205"/>
                    <a:pt x="88042" y="72"/>
                    <a:pt x="82475" y="72"/>
                  </a:cubicBezTo>
                  <a:cubicBezTo>
                    <a:pt x="76495" y="72"/>
                    <a:pt x="70928" y="5583"/>
                    <a:pt x="70928" y="10897"/>
                  </a:cubicBezTo>
                  <a:cubicBezTo>
                    <a:pt x="70928" y="14046"/>
                    <a:pt x="73402" y="18376"/>
                    <a:pt x="79176" y="18376"/>
                  </a:cubicBezTo>
                  <a:cubicBezTo>
                    <a:pt x="84743" y="18376"/>
                    <a:pt x="90723" y="13259"/>
                    <a:pt x="90723" y="7551"/>
                  </a:cubicBezTo>
                  <a:close/>
                  <a:moveTo>
                    <a:pt x="47010" y="140208"/>
                  </a:moveTo>
                  <a:cubicBezTo>
                    <a:pt x="43504" y="153788"/>
                    <a:pt x="32576" y="165204"/>
                    <a:pt x="20411" y="165204"/>
                  </a:cubicBezTo>
                  <a:cubicBezTo>
                    <a:pt x="17730" y="165204"/>
                    <a:pt x="15256" y="164810"/>
                    <a:pt x="12988" y="164023"/>
                  </a:cubicBezTo>
                  <a:cubicBezTo>
                    <a:pt x="18349" y="161661"/>
                    <a:pt x="19998" y="156938"/>
                    <a:pt x="19998" y="153985"/>
                  </a:cubicBezTo>
                  <a:cubicBezTo>
                    <a:pt x="19998" y="149262"/>
                    <a:pt x="16081" y="146703"/>
                    <a:pt x="11957" y="146703"/>
                  </a:cubicBezTo>
                  <a:cubicBezTo>
                    <a:pt x="5565" y="146703"/>
                    <a:pt x="204" y="152017"/>
                    <a:pt x="204" y="158315"/>
                  </a:cubicBezTo>
                  <a:cubicBezTo>
                    <a:pt x="204" y="165794"/>
                    <a:pt x="8245" y="170715"/>
                    <a:pt x="20617" y="170715"/>
                  </a:cubicBezTo>
                  <a:cubicBezTo>
                    <a:pt x="32989" y="170715"/>
                    <a:pt x="57113" y="163629"/>
                    <a:pt x="63505" y="139617"/>
                  </a:cubicBezTo>
                  <a:lnTo>
                    <a:pt x="82062" y="69156"/>
                  </a:lnTo>
                  <a:cubicBezTo>
                    <a:pt x="82681" y="66991"/>
                    <a:pt x="83093" y="65219"/>
                    <a:pt x="83093" y="62267"/>
                  </a:cubicBezTo>
                  <a:cubicBezTo>
                    <a:pt x="83093" y="51442"/>
                    <a:pt x="73402" y="43766"/>
                    <a:pt x="61031" y="43766"/>
                  </a:cubicBezTo>
                  <a:cubicBezTo>
                    <a:pt x="38143" y="43766"/>
                    <a:pt x="24947" y="71124"/>
                    <a:pt x="24947" y="73879"/>
                  </a:cubicBezTo>
                  <a:cubicBezTo>
                    <a:pt x="24947" y="76438"/>
                    <a:pt x="27834" y="76438"/>
                    <a:pt x="28452" y="76438"/>
                  </a:cubicBezTo>
                  <a:cubicBezTo>
                    <a:pt x="30927" y="76438"/>
                    <a:pt x="31133" y="75848"/>
                    <a:pt x="32576" y="72895"/>
                  </a:cubicBezTo>
                  <a:cubicBezTo>
                    <a:pt x="37731" y="61480"/>
                    <a:pt x="48453" y="49277"/>
                    <a:pt x="60412" y="49277"/>
                  </a:cubicBezTo>
                  <a:cubicBezTo>
                    <a:pt x="65567" y="49277"/>
                    <a:pt x="67423" y="52623"/>
                    <a:pt x="67423" y="58921"/>
                  </a:cubicBezTo>
                  <a:cubicBezTo>
                    <a:pt x="67423" y="61086"/>
                    <a:pt x="67010" y="63841"/>
                    <a:pt x="66804" y="64826"/>
                  </a:cubicBezTo>
                  <a:lnTo>
                    <a:pt x="47010"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7" name="任意形状 16566">
              <a:extLst>
                <a:ext uri="{FF2B5EF4-FFF2-40B4-BE49-F238E27FC236}">
                  <a16:creationId xmlns:a16="http://schemas.microsoft.com/office/drawing/2014/main" id="{8382D9BB-2210-6157-07F1-EFDF9CCE6694}"/>
                </a:ext>
              </a:extLst>
            </p:cNvPr>
            <p:cNvSpPr/>
            <p:nvPr>
              <p:custDataLst>
                <p:tags r:id="rId59"/>
              </p:custDataLst>
            </p:nvPr>
          </p:nvSpPr>
          <p:spPr>
            <a:xfrm>
              <a:off x="3642366" y="5703299"/>
              <a:ext cx="2805186" cy="11246"/>
            </a:xfrm>
            <a:custGeom>
              <a:avLst/>
              <a:gdLst>
                <a:gd name="connsiteX0" fmla="*/ 0 w 2805186"/>
                <a:gd name="connsiteY0" fmla="*/ 0 h 11246"/>
                <a:gd name="connsiteX1" fmla="*/ 2805187 w 2805186"/>
                <a:gd name="connsiteY1" fmla="*/ 0 h 11246"/>
                <a:gd name="connsiteX2" fmla="*/ 2805187 w 2805186"/>
                <a:gd name="connsiteY2" fmla="*/ 11246 h 11246"/>
                <a:gd name="connsiteX3" fmla="*/ 0 w 2805186"/>
                <a:gd name="connsiteY3" fmla="*/ 11246 h 11246"/>
              </a:gdLst>
              <a:ahLst/>
              <a:cxnLst>
                <a:cxn ang="0">
                  <a:pos x="connsiteX0" y="connsiteY0"/>
                </a:cxn>
                <a:cxn ang="0">
                  <a:pos x="connsiteX1" y="connsiteY1"/>
                </a:cxn>
                <a:cxn ang="0">
                  <a:pos x="connsiteX2" y="connsiteY2"/>
                </a:cxn>
                <a:cxn ang="0">
                  <a:pos x="connsiteX3" y="connsiteY3"/>
                </a:cxn>
              </a:cxnLst>
              <a:rect l="l" t="t" r="r" b="b"/>
              <a:pathLst>
                <a:path w="2805186" h="11246">
                  <a:moveTo>
                    <a:pt x="0" y="0"/>
                  </a:moveTo>
                  <a:lnTo>
                    <a:pt x="2805187" y="0"/>
                  </a:lnTo>
                  <a:lnTo>
                    <a:pt x="2805187" y="11246"/>
                  </a:lnTo>
                  <a:lnTo>
                    <a:pt x="0" y="1124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8" name="任意形状 16567">
              <a:extLst>
                <a:ext uri="{FF2B5EF4-FFF2-40B4-BE49-F238E27FC236}">
                  <a16:creationId xmlns:a16="http://schemas.microsoft.com/office/drawing/2014/main" id="{26D3057C-694E-DB83-8D80-2F34C2988A02}"/>
                </a:ext>
              </a:extLst>
            </p:cNvPr>
            <p:cNvSpPr/>
            <p:nvPr>
              <p:custDataLst>
                <p:tags r:id="rId60"/>
              </p:custDataLst>
            </p:nvPr>
          </p:nvSpPr>
          <p:spPr>
            <a:xfrm>
              <a:off x="4785822" y="5770766"/>
              <a:ext cx="217386" cy="201319"/>
            </a:xfrm>
            <a:custGeom>
              <a:avLst/>
              <a:gdLst>
                <a:gd name="connsiteX0" fmla="*/ 116503 w 217386"/>
                <a:gd name="connsiteY0" fmla="*/ 5145 h 201319"/>
                <a:gd name="connsiteX1" fmla="*/ 108844 w 217386"/>
                <a:gd name="connsiteY1" fmla="*/ 84 h 201319"/>
                <a:gd name="connsiteX2" fmla="*/ 101186 w 217386"/>
                <a:gd name="connsiteY2" fmla="*/ 5145 h 201319"/>
                <a:gd name="connsiteX3" fmla="*/ 1624 w 217386"/>
                <a:gd name="connsiteY3" fmla="*/ 195779 h 201319"/>
                <a:gd name="connsiteX4" fmla="*/ 151 w 217386"/>
                <a:gd name="connsiteY4" fmla="*/ 199154 h 201319"/>
                <a:gd name="connsiteX5" fmla="*/ 6632 w 217386"/>
                <a:gd name="connsiteY5" fmla="*/ 201403 h 201319"/>
                <a:gd name="connsiteX6" fmla="*/ 211057 w 217386"/>
                <a:gd name="connsiteY6" fmla="*/ 201403 h 201319"/>
                <a:gd name="connsiteX7" fmla="*/ 217538 w 217386"/>
                <a:gd name="connsiteY7" fmla="*/ 199154 h 201319"/>
                <a:gd name="connsiteX8" fmla="*/ 216065 w 217386"/>
                <a:gd name="connsiteY8" fmla="*/ 195779 h 201319"/>
                <a:gd name="connsiteX9" fmla="*/ 116503 w 217386"/>
                <a:gd name="connsiteY9" fmla="*/ 5145 h 201319"/>
                <a:gd name="connsiteX10" fmla="*/ 99419 w 217386"/>
                <a:gd name="connsiteY10" fmla="*/ 28201 h 201319"/>
                <a:gd name="connsiteX11" fmla="*/ 178655 w 217386"/>
                <a:gd name="connsiteY11" fmla="*/ 180034 h 201319"/>
                <a:gd name="connsiteX12" fmla="*/ 19887 w 217386"/>
                <a:gd name="connsiteY12" fmla="*/ 180034 h 201319"/>
                <a:gd name="connsiteX13" fmla="*/ 99419 w 217386"/>
                <a:gd name="connsiteY13" fmla="*/ 28201 h 201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7386" h="201319">
                  <a:moveTo>
                    <a:pt x="116503" y="5145"/>
                  </a:moveTo>
                  <a:cubicBezTo>
                    <a:pt x="114441" y="1490"/>
                    <a:pt x="113852" y="84"/>
                    <a:pt x="108844" y="84"/>
                  </a:cubicBezTo>
                  <a:cubicBezTo>
                    <a:pt x="103837" y="84"/>
                    <a:pt x="103248" y="1490"/>
                    <a:pt x="101186" y="5145"/>
                  </a:cubicBezTo>
                  <a:lnTo>
                    <a:pt x="1624" y="195779"/>
                  </a:lnTo>
                  <a:cubicBezTo>
                    <a:pt x="151" y="198310"/>
                    <a:pt x="151" y="198872"/>
                    <a:pt x="151" y="199154"/>
                  </a:cubicBezTo>
                  <a:cubicBezTo>
                    <a:pt x="151" y="201403"/>
                    <a:pt x="1919" y="201403"/>
                    <a:pt x="6632" y="201403"/>
                  </a:cubicBezTo>
                  <a:lnTo>
                    <a:pt x="211057" y="201403"/>
                  </a:lnTo>
                  <a:cubicBezTo>
                    <a:pt x="215770" y="201403"/>
                    <a:pt x="217538" y="201403"/>
                    <a:pt x="217538" y="199154"/>
                  </a:cubicBezTo>
                  <a:cubicBezTo>
                    <a:pt x="217538" y="198872"/>
                    <a:pt x="217538" y="198310"/>
                    <a:pt x="216065" y="195779"/>
                  </a:cubicBezTo>
                  <a:lnTo>
                    <a:pt x="116503" y="5145"/>
                  </a:lnTo>
                  <a:close/>
                  <a:moveTo>
                    <a:pt x="99419" y="28201"/>
                  </a:moveTo>
                  <a:lnTo>
                    <a:pt x="178655" y="180034"/>
                  </a:lnTo>
                  <a:lnTo>
                    <a:pt x="19887" y="180034"/>
                  </a:lnTo>
                  <a:lnTo>
                    <a:pt x="99419" y="2820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9" name="任意形状 16568">
              <a:extLst>
                <a:ext uri="{FF2B5EF4-FFF2-40B4-BE49-F238E27FC236}">
                  <a16:creationId xmlns:a16="http://schemas.microsoft.com/office/drawing/2014/main" id="{2BADABCD-4FFF-7C23-8293-D628E5F596BF}"/>
                </a:ext>
              </a:extLst>
            </p:cNvPr>
            <p:cNvSpPr/>
            <p:nvPr>
              <p:custDataLst>
                <p:tags r:id="rId61"/>
              </p:custDataLst>
            </p:nvPr>
          </p:nvSpPr>
          <p:spPr>
            <a:xfrm>
              <a:off x="5025989" y="5847808"/>
              <a:ext cx="146691" cy="127370"/>
            </a:xfrm>
            <a:custGeom>
              <a:avLst/>
              <a:gdLst>
                <a:gd name="connsiteX0" fmla="*/ 90001 w 146691"/>
                <a:gd name="connsiteY0" fmla="*/ 39448 h 127370"/>
                <a:gd name="connsiteX1" fmla="*/ 119162 w 146691"/>
                <a:gd name="connsiteY1" fmla="*/ 6270 h 127370"/>
                <a:gd name="connsiteX2" fmla="*/ 133890 w 146691"/>
                <a:gd name="connsiteY2" fmla="*/ 9925 h 127370"/>
                <a:gd name="connsiteX3" fmla="*/ 119752 w 146691"/>
                <a:gd name="connsiteY3" fmla="*/ 25108 h 127370"/>
                <a:gd name="connsiteX4" fmla="*/ 130945 w 146691"/>
                <a:gd name="connsiteY4" fmla="*/ 34949 h 127370"/>
                <a:gd name="connsiteX5" fmla="*/ 146851 w 146691"/>
                <a:gd name="connsiteY5" fmla="*/ 18641 h 127370"/>
                <a:gd name="connsiteX6" fmla="*/ 119457 w 146691"/>
                <a:gd name="connsiteY6" fmla="*/ 84 h 127370"/>
                <a:gd name="connsiteX7" fmla="*/ 88528 w 146691"/>
                <a:gd name="connsiteY7" fmla="*/ 21453 h 127370"/>
                <a:gd name="connsiteX8" fmla="*/ 56715 w 146691"/>
                <a:gd name="connsiteY8" fmla="*/ 84 h 127370"/>
                <a:gd name="connsiteX9" fmla="*/ 9291 w 146691"/>
                <a:gd name="connsiteY9" fmla="*/ 43384 h 127370"/>
                <a:gd name="connsiteX10" fmla="*/ 12826 w 146691"/>
                <a:gd name="connsiteY10" fmla="*/ 46196 h 127370"/>
                <a:gd name="connsiteX11" fmla="*/ 16655 w 146691"/>
                <a:gd name="connsiteY11" fmla="*/ 43103 h 127370"/>
                <a:gd name="connsiteX12" fmla="*/ 56126 w 146691"/>
                <a:gd name="connsiteY12" fmla="*/ 6270 h 127370"/>
                <a:gd name="connsiteX13" fmla="*/ 72033 w 146691"/>
                <a:gd name="connsiteY13" fmla="*/ 25108 h 127370"/>
                <a:gd name="connsiteX14" fmla="*/ 56126 w 146691"/>
                <a:gd name="connsiteY14" fmla="*/ 92027 h 127370"/>
                <a:gd name="connsiteX15" fmla="*/ 28143 w 146691"/>
                <a:gd name="connsiteY15" fmla="*/ 121269 h 127370"/>
                <a:gd name="connsiteX16" fmla="*/ 13415 w 146691"/>
                <a:gd name="connsiteY16" fmla="*/ 117614 h 127370"/>
                <a:gd name="connsiteX17" fmla="*/ 27259 w 146691"/>
                <a:gd name="connsiteY17" fmla="*/ 102430 h 127370"/>
                <a:gd name="connsiteX18" fmla="*/ 16361 w 146691"/>
                <a:gd name="connsiteY18" fmla="*/ 92589 h 127370"/>
                <a:gd name="connsiteX19" fmla="*/ 160 w 146691"/>
                <a:gd name="connsiteY19" fmla="*/ 108897 h 127370"/>
                <a:gd name="connsiteX20" fmla="*/ 27849 w 146691"/>
                <a:gd name="connsiteY20" fmla="*/ 127455 h 127370"/>
                <a:gd name="connsiteX21" fmla="*/ 58777 w 146691"/>
                <a:gd name="connsiteY21" fmla="*/ 106086 h 127370"/>
                <a:gd name="connsiteX22" fmla="*/ 90590 w 146691"/>
                <a:gd name="connsiteY22" fmla="*/ 127455 h 127370"/>
                <a:gd name="connsiteX23" fmla="*/ 137720 w 146691"/>
                <a:gd name="connsiteY23" fmla="*/ 84154 h 127370"/>
                <a:gd name="connsiteX24" fmla="*/ 134185 w 146691"/>
                <a:gd name="connsiteY24" fmla="*/ 81342 h 127370"/>
                <a:gd name="connsiteX25" fmla="*/ 130356 w 146691"/>
                <a:gd name="connsiteY25" fmla="*/ 84435 h 127370"/>
                <a:gd name="connsiteX26" fmla="*/ 91179 w 146691"/>
                <a:gd name="connsiteY26" fmla="*/ 121269 h 127370"/>
                <a:gd name="connsiteX27" fmla="*/ 74978 w 146691"/>
                <a:gd name="connsiteY27" fmla="*/ 102712 h 127370"/>
                <a:gd name="connsiteX28" fmla="*/ 79986 w 146691"/>
                <a:gd name="connsiteY28" fmla="*/ 77968 h 127370"/>
                <a:gd name="connsiteX29" fmla="*/ 90001 w 146691"/>
                <a:gd name="connsiteY29" fmla="*/ 39448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46691" h="127370">
                  <a:moveTo>
                    <a:pt x="90001" y="39448"/>
                  </a:moveTo>
                  <a:cubicBezTo>
                    <a:pt x="91768" y="32137"/>
                    <a:pt x="98543" y="6270"/>
                    <a:pt x="119162" y="6270"/>
                  </a:cubicBezTo>
                  <a:cubicBezTo>
                    <a:pt x="120635" y="6270"/>
                    <a:pt x="127705" y="6270"/>
                    <a:pt x="133890" y="9925"/>
                  </a:cubicBezTo>
                  <a:cubicBezTo>
                    <a:pt x="125643" y="11331"/>
                    <a:pt x="119752" y="18360"/>
                    <a:pt x="119752" y="25108"/>
                  </a:cubicBezTo>
                  <a:cubicBezTo>
                    <a:pt x="119752" y="29607"/>
                    <a:pt x="122992" y="34949"/>
                    <a:pt x="130945" y="34949"/>
                  </a:cubicBezTo>
                  <a:cubicBezTo>
                    <a:pt x="137425" y="34949"/>
                    <a:pt x="146851" y="29888"/>
                    <a:pt x="146851" y="18641"/>
                  </a:cubicBezTo>
                  <a:cubicBezTo>
                    <a:pt x="146851" y="4020"/>
                    <a:pt x="129472" y="84"/>
                    <a:pt x="119457" y="84"/>
                  </a:cubicBezTo>
                  <a:cubicBezTo>
                    <a:pt x="102372" y="84"/>
                    <a:pt x="92063" y="14986"/>
                    <a:pt x="88528" y="21453"/>
                  </a:cubicBezTo>
                  <a:cubicBezTo>
                    <a:pt x="81164" y="2895"/>
                    <a:pt x="65258" y="84"/>
                    <a:pt x="56715" y="84"/>
                  </a:cubicBezTo>
                  <a:cubicBezTo>
                    <a:pt x="26081" y="84"/>
                    <a:pt x="9291" y="36355"/>
                    <a:pt x="9291" y="43384"/>
                  </a:cubicBezTo>
                  <a:cubicBezTo>
                    <a:pt x="9291" y="46196"/>
                    <a:pt x="12237" y="46196"/>
                    <a:pt x="12826" y="46196"/>
                  </a:cubicBezTo>
                  <a:cubicBezTo>
                    <a:pt x="15182" y="46196"/>
                    <a:pt x="16066" y="45634"/>
                    <a:pt x="16655" y="43103"/>
                  </a:cubicBezTo>
                  <a:cubicBezTo>
                    <a:pt x="26670" y="13299"/>
                    <a:pt x="46111" y="6270"/>
                    <a:pt x="56126" y="6270"/>
                  </a:cubicBezTo>
                  <a:cubicBezTo>
                    <a:pt x="61723" y="6270"/>
                    <a:pt x="72033" y="8800"/>
                    <a:pt x="72033" y="25108"/>
                  </a:cubicBezTo>
                  <a:cubicBezTo>
                    <a:pt x="72033" y="33824"/>
                    <a:pt x="67025" y="52663"/>
                    <a:pt x="56126" y="92027"/>
                  </a:cubicBezTo>
                  <a:cubicBezTo>
                    <a:pt x="51413" y="109460"/>
                    <a:pt x="41104" y="121269"/>
                    <a:pt x="28143" y="121269"/>
                  </a:cubicBezTo>
                  <a:cubicBezTo>
                    <a:pt x="26376" y="121269"/>
                    <a:pt x="19601" y="121269"/>
                    <a:pt x="13415" y="117614"/>
                  </a:cubicBezTo>
                  <a:cubicBezTo>
                    <a:pt x="20779" y="116208"/>
                    <a:pt x="27259" y="110303"/>
                    <a:pt x="27259" y="102430"/>
                  </a:cubicBezTo>
                  <a:cubicBezTo>
                    <a:pt x="27259" y="94839"/>
                    <a:pt x="20779" y="92589"/>
                    <a:pt x="16361" y="92589"/>
                  </a:cubicBezTo>
                  <a:cubicBezTo>
                    <a:pt x="7524" y="92589"/>
                    <a:pt x="160" y="99900"/>
                    <a:pt x="160" y="108897"/>
                  </a:cubicBezTo>
                  <a:cubicBezTo>
                    <a:pt x="160" y="121831"/>
                    <a:pt x="14888" y="127455"/>
                    <a:pt x="27849" y="127455"/>
                  </a:cubicBezTo>
                  <a:cubicBezTo>
                    <a:pt x="47290" y="127455"/>
                    <a:pt x="57894" y="107773"/>
                    <a:pt x="58777" y="106086"/>
                  </a:cubicBezTo>
                  <a:cubicBezTo>
                    <a:pt x="62312" y="116489"/>
                    <a:pt x="72916" y="127455"/>
                    <a:pt x="90590" y="127455"/>
                  </a:cubicBezTo>
                  <a:cubicBezTo>
                    <a:pt x="120930" y="127455"/>
                    <a:pt x="137720" y="91183"/>
                    <a:pt x="137720" y="84154"/>
                  </a:cubicBezTo>
                  <a:cubicBezTo>
                    <a:pt x="137720" y="81342"/>
                    <a:pt x="135069" y="81342"/>
                    <a:pt x="134185" y="81342"/>
                  </a:cubicBezTo>
                  <a:cubicBezTo>
                    <a:pt x="131534" y="81342"/>
                    <a:pt x="130945" y="82467"/>
                    <a:pt x="130356" y="84435"/>
                  </a:cubicBezTo>
                  <a:cubicBezTo>
                    <a:pt x="120635" y="114521"/>
                    <a:pt x="100605" y="121269"/>
                    <a:pt x="91179" y="121269"/>
                  </a:cubicBezTo>
                  <a:cubicBezTo>
                    <a:pt x="79691" y="121269"/>
                    <a:pt x="74978" y="112271"/>
                    <a:pt x="74978" y="102712"/>
                  </a:cubicBezTo>
                  <a:cubicBezTo>
                    <a:pt x="74978" y="96526"/>
                    <a:pt x="76746" y="90340"/>
                    <a:pt x="79986" y="77968"/>
                  </a:cubicBezTo>
                  <a:lnTo>
                    <a:pt x="90001" y="394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0" name="任意形状 16569">
              <a:extLst>
                <a:ext uri="{FF2B5EF4-FFF2-40B4-BE49-F238E27FC236}">
                  <a16:creationId xmlns:a16="http://schemas.microsoft.com/office/drawing/2014/main" id="{BA3B9FBC-FBF0-B08D-C8A0-4AA2B0941B80}"/>
                </a:ext>
              </a:extLst>
            </p:cNvPr>
            <p:cNvSpPr/>
            <p:nvPr>
              <p:custDataLst>
                <p:tags r:id="rId62"/>
              </p:custDataLst>
            </p:nvPr>
          </p:nvSpPr>
          <p:spPr>
            <a:xfrm>
              <a:off x="5198787" y="5760169"/>
              <a:ext cx="91137" cy="130688"/>
            </a:xfrm>
            <a:custGeom>
              <a:avLst/>
              <a:gdLst>
                <a:gd name="connsiteX0" fmla="*/ 91303 w 91137"/>
                <a:gd name="connsiteY0" fmla="*/ 94948 h 130688"/>
                <a:gd name="connsiteX1" fmla="*/ 84292 w 91137"/>
                <a:gd name="connsiteY1" fmla="*/ 94948 h 130688"/>
                <a:gd name="connsiteX2" fmla="*/ 78931 w 91137"/>
                <a:gd name="connsiteY2" fmla="*/ 112859 h 130688"/>
                <a:gd name="connsiteX3" fmla="*/ 58518 w 91137"/>
                <a:gd name="connsiteY3" fmla="*/ 114040 h 130688"/>
                <a:gd name="connsiteX4" fmla="*/ 20579 w 91137"/>
                <a:gd name="connsiteY4" fmla="*/ 114040 h 130688"/>
                <a:gd name="connsiteX5" fmla="*/ 61817 w 91137"/>
                <a:gd name="connsiteY5" fmla="*/ 80974 h 130688"/>
                <a:gd name="connsiteX6" fmla="*/ 91303 w 91137"/>
                <a:gd name="connsiteY6" fmla="*/ 38461 h 130688"/>
                <a:gd name="connsiteX7" fmla="*/ 43054 w 91137"/>
                <a:gd name="connsiteY7" fmla="*/ 81 h 130688"/>
                <a:gd name="connsiteX8" fmla="*/ 165 w 91137"/>
                <a:gd name="connsiteY8" fmla="*/ 35312 h 130688"/>
                <a:gd name="connsiteX9" fmla="*/ 11094 w 91137"/>
                <a:gd name="connsiteY9" fmla="*/ 46334 h 130688"/>
                <a:gd name="connsiteX10" fmla="*/ 22022 w 91137"/>
                <a:gd name="connsiteY10" fmla="*/ 35902 h 130688"/>
                <a:gd name="connsiteX11" fmla="*/ 9857 w 91137"/>
                <a:gd name="connsiteY11" fmla="*/ 25471 h 130688"/>
                <a:gd name="connsiteX12" fmla="*/ 39961 w 91137"/>
                <a:gd name="connsiteY12" fmla="*/ 7166 h 130688"/>
                <a:gd name="connsiteX13" fmla="*/ 71302 w 91137"/>
                <a:gd name="connsiteY13" fmla="*/ 38461 h 130688"/>
                <a:gd name="connsiteX14" fmla="*/ 51920 w 91137"/>
                <a:gd name="connsiteY14" fmla="*/ 76250 h 130688"/>
                <a:gd name="connsiteX15" fmla="*/ 2227 w 91137"/>
                <a:gd name="connsiteY15" fmla="*/ 123094 h 130688"/>
                <a:gd name="connsiteX16" fmla="*/ 165 w 91137"/>
                <a:gd name="connsiteY16" fmla="*/ 130770 h 130688"/>
                <a:gd name="connsiteX17" fmla="*/ 85117 w 91137"/>
                <a:gd name="connsiteY17" fmla="*/ 130770 h 130688"/>
                <a:gd name="connsiteX18" fmla="*/ 91303 w 91137"/>
                <a:gd name="connsiteY18" fmla="*/ 94948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137" h="130688">
                  <a:moveTo>
                    <a:pt x="91303" y="94948"/>
                  </a:moveTo>
                  <a:lnTo>
                    <a:pt x="84292" y="94948"/>
                  </a:lnTo>
                  <a:cubicBezTo>
                    <a:pt x="83674" y="99278"/>
                    <a:pt x="81612" y="110891"/>
                    <a:pt x="78931" y="112859"/>
                  </a:cubicBezTo>
                  <a:cubicBezTo>
                    <a:pt x="77282" y="114040"/>
                    <a:pt x="61405" y="114040"/>
                    <a:pt x="58518" y="114040"/>
                  </a:cubicBezTo>
                  <a:lnTo>
                    <a:pt x="20579" y="114040"/>
                  </a:lnTo>
                  <a:cubicBezTo>
                    <a:pt x="42229" y="95736"/>
                    <a:pt x="49446" y="90225"/>
                    <a:pt x="61817" y="80974"/>
                  </a:cubicBezTo>
                  <a:cubicBezTo>
                    <a:pt x="77075" y="69362"/>
                    <a:pt x="91303" y="57159"/>
                    <a:pt x="91303" y="38461"/>
                  </a:cubicBezTo>
                  <a:cubicBezTo>
                    <a:pt x="91303" y="14646"/>
                    <a:pt x="69446" y="81"/>
                    <a:pt x="43054" y="81"/>
                  </a:cubicBezTo>
                  <a:cubicBezTo>
                    <a:pt x="17486" y="81"/>
                    <a:pt x="165" y="17204"/>
                    <a:pt x="165" y="35312"/>
                  </a:cubicBezTo>
                  <a:cubicBezTo>
                    <a:pt x="165" y="45350"/>
                    <a:pt x="9032" y="46334"/>
                    <a:pt x="11094" y="46334"/>
                  </a:cubicBezTo>
                  <a:cubicBezTo>
                    <a:pt x="16042" y="46334"/>
                    <a:pt x="22022" y="42988"/>
                    <a:pt x="22022" y="35902"/>
                  </a:cubicBezTo>
                  <a:cubicBezTo>
                    <a:pt x="22022" y="32359"/>
                    <a:pt x="20579" y="25471"/>
                    <a:pt x="9857" y="25471"/>
                  </a:cubicBezTo>
                  <a:cubicBezTo>
                    <a:pt x="16249" y="11496"/>
                    <a:pt x="30270" y="7166"/>
                    <a:pt x="39961" y="7166"/>
                  </a:cubicBezTo>
                  <a:cubicBezTo>
                    <a:pt x="60580" y="7166"/>
                    <a:pt x="71302" y="22518"/>
                    <a:pt x="71302" y="38461"/>
                  </a:cubicBezTo>
                  <a:cubicBezTo>
                    <a:pt x="71302" y="55584"/>
                    <a:pt x="58518" y="69165"/>
                    <a:pt x="51920" y="76250"/>
                  </a:cubicBezTo>
                  <a:lnTo>
                    <a:pt x="2227" y="123094"/>
                  </a:lnTo>
                  <a:cubicBezTo>
                    <a:pt x="165" y="124865"/>
                    <a:pt x="165" y="125259"/>
                    <a:pt x="165" y="130770"/>
                  </a:cubicBezTo>
                  <a:lnTo>
                    <a:pt x="85117" y="130770"/>
                  </a:lnTo>
                  <a:lnTo>
                    <a:pt x="91303" y="949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1" name="任意形状 16570">
              <a:extLst>
                <a:ext uri="{FF2B5EF4-FFF2-40B4-BE49-F238E27FC236}">
                  <a16:creationId xmlns:a16="http://schemas.microsoft.com/office/drawing/2014/main" id="{51979CF7-91CC-5B30-6DDB-D09F14533385}"/>
                </a:ext>
              </a:extLst>
            </p:cNvPr>
            <p:cNvSpPr/>
            <p:nvPr>
              <p:custDataLst>
                <p:tags r:id="rId63"/>
              </p:custDataLst>
            </p:nvPr>
          </p:nvSpPr>
          <p:spPr>
            <a:xfrm>
              <a:off x="6564851" y="5615292"/>
              <a:ext cx="195883" cy="187260"/>
            </a:xfrm>
            <a:custGeom>
              <a:avLst/>
              <a:gdLst>
                <a:gd name="connsiteX0" fmla="*/ 104192 w 195883"/>
                <a:gd name="connsiteY0" fmla="*/ 99331 h 187260"/>
                <a:gd name="connsiteX1" fmla="*/ 186374 w 195883"/>
                <a:gd name="connsiteY1" fmla="*/ 99331 h 187260"/>
                <a:gd name="connsiteX2" fmla="*/ 196095 w 195883"/>
                <a:gd name="connsiteY2" fmla="*/ 93707 h 187260"/>
                <a:gd name="connsiteX3" fmla="*/ 186374 w 195883"/>
                <a:gd name="connsiteY3" fmla="*/ 88084 h 187260"/>
                <a:gd name="connsiteX4" fmla="*/ 104192 w 195883"/>
                <a:gd name="connsiteY4" fmla="*/ 88084 h 187260"/>
                <a:gd name="connsiteX5" fmla="*/ 104192 w 195883"/>
                <a:gd name="connsiteY5" fmla="*/ 9356 h 187260"/>
                <a:gd name="connsiteX6" fmla="*/ 98300 w 195883"/>
                <a:gd name="connsiteY6" fmla="*/ 77 h 187260"/>
                <a:gd name="connsiteX7" fmla="*/ 92409 w 195883"/>
                <a:gd name="connsiteY7" fmla="*/ 9356 h 187260"/>
                <a:gd name="connsiteX8" fmla="*/ 92409 w 195883"/>
                <a:gd name="connsiteY8" fmla="*/ 88084 h 187260"/>
                <a:gd name="connsiteX9" fmla="*/ 9932 w 195883"/>
                <a:gd name="connsiteY9" fmla="*/ 88084 h 187260"/>
                <a:gd name="connsiteX10" fmla="*/ 212 w 195883"/>
                <a:gd name="connsiteY10" fmla="*/ 93707 h 187260"/>
                <a:gd name="connsiteX11" fmla="*/ 9932 w 195883"/>
                <a:gd name="connsiteY11" fmla="*/ 99331 h 187260"/>
                <a:gd name="connsiteX12" fmla="*/ 92409 w 195883"/>
                <a:gd name="connsiteY12" fmla="*/ 99331 h 187260"/>
                <a:gd name="connsiteX13" fmla="*/ 92409 w 195883"/>
                <a:gd name="connsiteY13" fmla="*/ 178059 h 187260"/>
                <a:gd name="connsiteX14" fmla="*/ 98300 w 195883"/>
                <a:gd name="connsiteY14" fmla="*/ 187337 h 187260"/>
                <a:gd name="connsiteX15" fmla="*/ 104192 w 195883"/>
                <a:gd name="connsiteY15" fmla="*/ 178059 h 187260"/>
                <a:gd name="connsiteX16" fmla="*/ 104192 w 195883"/>
                <a:gd name="connsiteY16" fmla="*/ 99331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192" y="99331"/>
                  </a:moveTo>
                  <a:lnTo>
                    <a:pt x="186374" y="99331"/>
                  </a:lnTo>
                  <a:cubicBezTo>
                    <a:pt x="190498" y="99331"/>
                    <a:pt x="196095" y="99331"/>
                    <a:pt x="196095" y="93707"/>
                  </a:cubicBezTo>
                  <a:cubicBezTo>
                    <a:pt x="196095" y="88084"/>
                    <a:pt x="190498" y="88084"/>
                    <a:pt x="186374" y="88084"/>
                  </a:cubicBezTo>
                  <a:lnTo>
                    <a:pt x="104192" y="88084"/>
                  </a:lnTo>
                  <a:lnTo>
                    <a:pt x="104192" y="9356"/>
                  </a:lnTo>
                  <a:cubicBezTo>
                    <a:pt x="104192" y="5419"/>
                    <a:pt x="104192" y="77"/>
                    <a:pt x="98300" y="77"/>
                  </a:cubicBezTo>
                  <a:cubicBezTo>
                    <a:pt x="92409" y="77"/>
                    <a:pt x="92409" y="5419"/>
                    <a:pt x="92409" y="9356"/>
                  </a:cubicBezTo>
                  <a:lnTo>
                    <a:pt x="92409" y="88084"/>
                  </a:lnTo>
                  <a:lnTo>
                    <a:pt x="9932" y="88084"/>
                  </a:lnTo>
                  <a:cubicBezTo>
                    <a:pt x="5808" y="88084"/>
                    <a:pt x="212" y="88084"/>
                    <a:pt x="212" y="93707"/>
                  </a:cubicBezTo>
                  <a:cubicBezTo>
                    <a:pt x="212" y="99331"/>
                    <a:pt x="5808" y="99331"/>
                    <a:pt x="9932" y="99331"/>
                  </a:cubicBezTo>
                  <a:lnTo>
                    <a:pt x="92409" y="99331"/>
                  </a:lnTo>
                  <a:lnTo>
                    <a:pt x="92409" y="178059"/>
                  </a:lnTo>
                  <a:cubicBezTo>
                    <a:pt x="92409" y="181995"/>
                    <a:pt x="92409" y="187337"/>
                    <a:pt x="98300" y="187337"/>
                  </a:cubicBezTo>
                  <a:cubicBezTo>
                    <a:pt x="104192" y="187337"/>
                    <a:pt x="104192" y="181995"/>
                    <a:pt x="104192" y="178059"/>
                  </a:cubicBezTo>
                  <a:lnTo>
                    <a:pt x="104192" y="9933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2" name="任意形状 16571">
              <a:extLst>
                <a:ext uri="{FF2B5EF4-FFF2-40B4-BE49-F238E27FC236}">
                  <a16:creationId xmlns:a16="http://schemas.microsoft.com/office/drawing/2014/main" id="{454F5612-4443-C28C-DF56-BECF465C162F}"/>
                </a:ext>
              </a:extLst>
            </p:cNvPr>
            <p:cNvSpPr/>
            <p:nvPr>
              <p:custDataLst>
                <p:tags r:id="rId64"/>
              </p:custDataLst>
            </p:nvPr>
          </p:nvSpPr>
          <p:spPr>
            <a:xfrm>
              <a:off x="6886806" y="5464723"/>
              <a:ext cx="151404" cy="127370"/>
            </a:xfrm>
            <a:custGeom>
              <a:avLst/>
              <a:gdLst>
                <a:gd name="connsiteX0" fmla="*/ 94777 w 151404"/>
                <a:gd name="connsiteY0" fmla="*/ 108603 h 127370"/>
                <a:gd name="connsiteX1" fmla="*/ 120993 w 151404"/>
                <a:gd name="connsiteY1" fmla="*/ 127441 h 127370"/>
                <a:gd name="connsiteX2" fmla="*/ 142790 w 151404"/>
                <a:gd name="connsiteY2" fmla="*/ 111977 h 127370"/>
                <a:gd name="connsiteX3" fmla="*/ 151627 w 151404"/>
                <a:gd name="connsiteY3" fmla="*/ 84141 h 127370"/>
                <a:gd name="connsiteX4" fmla="*/ 148092 w 151404"/>
                <a:gd name="connsiteY4" fmla="*/ 81329 h 127370"/>
                <a:gd name="connsiteX5" fmla="*/ 143968 w 151404"/>
                <a:gd name="connsiteY5" fmla="*/ 86390 h 127370"/>
                <a:gd name="connsiteX6" fmla="*/ 121876 w 151404"/>
                <a:gd name="connsiteY6" fmla="*/ 121255 h 127370"/>
                <a:gd name="connsiteX7" fmla="*/ 112745 w 151404"/>
                <a:gd name="connsiteY7" fmla="*/ 108321 h 127370"/>
                <a:gd name="connsiteX8" fmla="*/ 118636 w 151404"/>
                <a:gd name="connsiteY8" fmla="*/ 79080 h 127370"/>
                <a:gd name="connsiteX9" fmla="*/ 126884 w 151404"/>
                <a:gd name="connsiteY9" fmla="*/ 48713 h 127370"/>
                <a:gd name="connsiteX10" fmla="*/ 131892 w 151404"/>
                <a:gd name="connsiteY10" fmla="*/ 29593 h 127370"/>
                <a:gd name="connsiteX11" fmla="*/ 136310 w 151404"/>
                <a:gd name="connsiteY11" fmla="*/ 10755 h 127370"/>
                <a:gd name="connsiteX12" fmla="*/ 127768 w 151404"/>
                <a:gd name="connsiteY12" fmla="*/ 3163 h 127370"/>
                <a:gd name="connsiteX13" fmla="*/ 116280 w 151404"/>
                <a:gd name="connsiteY13" fmla="*/ 13004 h 127370"/>
                <a:gd name="connsiteX14" fmla="*/ 94188 w 151404"/>
                <a:gd name="connsiteY14" fmla="*/ 97637 h 127370"/>
                <a:gd name="connsiteX15" fmla="*/ 60608 w 151404"/>
                <a:gd name="connsiteY15" fmla="*/ 121255 h 127370"/>
                <a:gd name="connsiteX16" fmla="*/ 42345 w 151404"/>
                <a:gd name="connsiteY16" fmla="*/ 98199 h 127370"/>
                <a:gd name="connsiteX17" fmla="*/ 58251 w 151404"/>
                <a:gd name="connsiteY17" fmla="*/ 40840 h 127370"/>
                <a:gd name="connsiteX18" fmla="*/ 63259 w 151404"/>
                <a:gd name="connsiteY18" fmla="*/ 23126 h 127370"/>
                <a:gd name="connsiteX19" fmla="*/ 39105 w 151404"/>
                <a:gd name="connsiteY19" fmla="*/ 70 h 127370"/>
                <a:gd name="connsiteX20" fmla="*/ 223 w 151404"/>
                <a:gd name="connsiteY20" fmla="*/ 43371 h 127370"/>
                <a:gd name="connsiteX21" fmla="*/ 3757 w 151404"/>
                <a:gd name="connsiteY21" fmla="*/ 46182 h 127370"/>
                <a:gd name="connsiteX22" fmla="*/ 8470 w 151404"/>
                <a:gd name="connsiteY22" fmla="*/ 41121 h 127370"/>
                <a:gd name="connsiteX23" fmla="*/ 38221 w 151404"/>
                <a:gd name="connsiteY23" fmla="*/ 6256 h 127370"/>
                <a:gd name="connsiteX24" fmla="*/ 45585 w 151404"/>
                <a:gd name="connsiteY24" fmla="*/ 15535 h 127370"/>
                <a:gd name="connsiteX25" fmla="*/ 40578 w 151404"/>
                <a:gd name="connsiteY25" fmla="*/ 34654 h 127370"/>
                <a:gd name="connsiteX26" fmla="*/ 23493 w 151404"/>
                <a:gd name="connsiteY26" fmla="*/ 93700 h 127370"/>
                <a:gd name="connsiteX27" fmla="*/ 59724 w 151404"/>
                <a:gd name="connsiteY27" fmla="*/ 127441 h 127370"/>
                <a:gd name="connsiteX28" fmla="*/ 9477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77" y="108603"/>
                  </a:moveTo>
                  <a:cubicBezTo>
                    <a:pt x="98017" y="120131"/>
                    <a:pt x="108327" y="127441"/>
                    <a:pt x="120993" y="127441"/>
                  </a:cubicBezTo>
                  <a:cubicBezTo>
                    <a:pt x="131302" y="127441"/>
                    <a:pt x="138077" y="120974"/>
                    <a:pt x="142790" y="111977"/>
                  </a:cubicBezTo>
                  <a:cubicBezTo>
                    <a:pt x="147798" y="101854"/>
                    <a:pt x="151627" y="84703"/>
                    <a:pt x="151627" y="84141"/>
                  </a:cubicBezTo>
                  <a:cubicBezTo>
                    <a:pt x="151627" y="81329"/>
                    <a:pt x="148976" y="81329"/>
                    <a:pt x="148092" y="81329"/>
                  </a:cubicBezTo>
                  <a:cubicBezTo>
                    <a:pt x="145147" y="81329"/>
                    <a:pt x="144852" y="82454"/>
                    <a:pt x="143968" y="86390"/>
                  </a:cubicBezTo>
                  <a:cubicBezTo>
                    <a:pt x="139845" y="102136"/>
                    <a:pt x="134248" y="121255"/>
                    <a:pt x="121876" y="121255"/>
                  </a:cubicBezTo>
                  <a:cubicBezTo>
                    <a:pt x="115691" y="121255"/>
                    <a:pt x="112745" y="117600"/>
                    <a:pt x="112745" y="108321"/>
                  </a:cubicBezTo>
                  <a:cubicBezTo>
                    <a:pt x="112745" y="102136"/>
                    <a:pt x="116280" y="88921"/>
                    <a:pt x="118636" y="79080"/>
                  </a:cubicBezTo>
                  <a:lnTo>
                    <a:pt x="126884" y="48713"/>
                  </a:lnTo>
                  <a:cubicBezTo>
                    <a:pt x="127768" y="44495"/>
                    <a:pt x="130713" y="33811"/>
                    <a:pt x="131892" y="29593"/>
                  </a:cubicBezTo>
                  <a:cubicBezTo>
                    <a:pt x="133364" y="23126"/>
                    <a:pt x="136310" y="12442"/>
                    <a:pt x="136310" y="10755"/>
                  </a:cubicBezTo>
                  <a:cubicBezTo>
                    <a:pt x="136310" y="5694"/>
                    <a:pt x="132186" y="3163"/>
                    <a:pt x="127768" y="3163"/>
                  </a:cubicBezTo>
                  <a:cubicBezTo>
                    <a:pt x="126295" y="3163"/>
                    <a:pt x="118636" y="3444"/>
                    <a:pt x="116280" y="13004"/>
                  </a:cubicBezTo>
                  <a:cubicBezTo>
                    <a:pt x="110683" y="33530"/>
                    <a:pt x="97722" y="82735"/>
                    <a:pt x="94188" y="97637"/>
                  </a:cubicBezTo>
                  <a:cubicBezTo>
                    <a:pt x="93893" y="98762"/>
                    <a:pt x="82111" y="121255"/>
                    <a:pt x="60608" y="121255"/>
                  </a:cubicBezTo>
                  <a:cubicBezTo>
                    <a:pt x="45291" y="121255"/>
                    <a:pt x="42345" y="108603"/>
                    <a:pt x="42345" y="98199"/>
                  </a:cubicBezTo>
                  <a:cubicBezTo>
                    <a:pt x="42345" y="82454"/>
                    <a:pt x="50593" y="60241"/>
                    <a:pt x="58251" y="40840"/>
                  </a:cubicBezTo>
                  <a:cubicBezTo>
                    <a:pt x="61786" y="32405"/>
                    <a:pt x="63259" y="28469"/>
                    <a:pt x="63259" y="23126"/>
                  </a:cubicBezTo>
                  <a:cubicBezTo>
                    <a:pt x="63259" y="10474"/>
                    <a:pt x="53833" y="70"/>
                    <a:pt x="39105" y="70"/>
                  </a:cubicBezTo>
                  <a:cubicBezTo>
                    <a:pt x="11121" y="70"/>
                    <a:pt x="223" y="40840"/>
                    <a:pt x="223" y="43371"/>
                  </a:cubicBezTo>
                  <a:cubicBezTo>
                    <a:pt x="223" y="46182"/>
                    <a:pt x="3168" y="46182"/>
                    <a:pt x="3757" y="46182"/>
                  </a:cubicBezTo>
                  <a:cubicBezTo>
                    <a:pt x="6703" y="46182"/>
                    <a:pt x="6998" y="45620"/>
                    <a:pt x="8470" y="41121"/>
                  </a:cubicBezTo>
                  <a:cubicBezTo>
                    <a:pt x="15834" y="16659"/>
                    <a:pt x="27028" y="6256"/>
                    <a:pt x="38221" y="6256"/>
                  </a:cubicBezTo>
                  <a:cubicBezTo>
                    <a:pt x="40872" y="6256"/>
                    <a:pt x="45585" y="6537"/>
                    <a:pt x="45585" y="15535"/>
                  </a:cubicBezTo>
                  <a:cubicBezTo>
                    <a:pt x="45585" y="22283"/>
                    <a:pt x="42345" y="30437"/>
                    <a:pt x="40578" y="34654"/>
                  </a:cubicBezTo>
                  <a:cubicBezTo>
                    <a:pt x="29679" y="62490"/>
                    <a:pt x="23493" y="79923"/>
                    <a:pt x="23493" y="93700"/>
                  </a:cubicBezTo>
                  <a:cubicBezTo>
                    <a:pt x="23493" y="120412"/>
                    <a:pt x="43818" y="127441"/>
                    <a:pt x="59724" y="127441"/>
                  </a:cubicBezTo>
                  <a:cubicBezTo>
                    <a:pt x="79165" y="127441"/>
                    <a:pt x="89769" y="114788"/>
                    <a:pt x="9477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3" name="任意形状 16572">
              <a:extLst>
                <a:ext uri="{FF2B5EF4-FFF2-40B4-BE49-F238E27FC236}">
                  <a16:creationId xmlns:a16="http://schemas.microsoft.com/office/drawing/2014/main" id="{7696FC8A-72A7-CE46-118F-E0660C728A92}"/>
                </a:ext>
              </a:extLst>
            </p:cNvPr>
            <p:cNvSpPr/>
            <p:nvPr>
              <p:custDataLst>
                <p:tags r:id="rId65"/>
              </p:custDataLst>
            </p:nvPr>
          </p:nvSpPr>
          <p:spPr>
            <a:xfrm>
              <a:off x="7056578" y="5500684"/>
              <a:ext cx="62476" cy="132460"/>
            </a:xfrm>
            <a:custGeom>
              <a:avLst/>
              <a:gdLst>
                <a:gd name="connsiteX0" fmla="*/ 57344 w 62476"/>
                <a:gd name="connsiteY0" fmla="*/ 7551 h 132460"/>
                <a:gd name="connsiteX1" fmla="*/ 49096 w 62476"/>
                <a:gd name="connsiteY1" fmla="*/ 72 h 132460"/>
                <a:gd name="connsiteX2" fmla="*/ 37549 w 62476"/>
                <a:gd name="connsiteY2" fmla="*/ 10897 h 132460"/>
                <a:gd name="connsiteX3" fmla="*/ 45797 w 62476"/>
                <a:gd name="connsiteY3" fmla="*/ 18376 h 132460"/>
                <a:gd name="connsiteX4" fmla="*/ 57344 w 62476"/>
                <a:gd name="connsiteY4" fmla="*/ 7551 h 132460"/>
                <a:gd name="connsiteX5" fmla="*/ 15280 w 62476"/>
                <a:gd name="connsiteY5" fmla="*/ 107536 h 132460"/>
                <a:gd name="connsiteX6" fmla="*/ 13425 w 62476"/>
                <a:gd name="connsiteY6" fmla="*/ 115802 h 132460"/>
                <a:gd name="connsiteX7" fmla="*/ 33013 w 62476"/>
                <a:gd name="connsiteY7" fmla="*/ 132532 h 132460"/>
                <a:gd name="connsiteX8" fmla="*/ 62705 w 62476"/>
                <a:gd name="connsiteY8" fmla="*/ 102418 h 132460"/>
                <a:gd name="connsiteX9" fmla="*/ 59406 w 62476"/>
                <a:gd name="connsiteY9" fmla="*/ 99860 h 132460"/>
                <a:gd name="connsiteX10" fmla="*/ 55488 w 62476"/>
                <a:gd name="connsiteY10" fmla="*/ 103206 h 132460"/>
                <a:gd name="connsiteX11" fmla="*/ 33632 w 62476"/>
                <a:gd name="connsiteY11" fmla="*/ 127021 h 132460"/>
                <a:gd name="connsiteX12" fmla="*/ 28477 w 62476"/>
                <a:gd name="connsiteY12" fmla="*/ 120132 h 132460"/>
                <a:gd name="connsiteX13" fmla="*/ 31776 w 62476"/>
                <a:gd name="connsiteY13" fmla="*/ 107536 h 132460"/>
                <a:gd name="connsiteX14" fmla="*/ 38374 w 62476"/>
                <a:gd name="connsiteY14" fmla="*/ 91790 h 132460"/>
                <a:gd name="connsiteX15" fmla="*/ 48478 w 62476"/>
                <a:gd name="connsiteY15" fmla="*/ 66794 h 132460"/>
                <a:gd name="connsiteX16" fmla="*/ 49715 w 62476"/>
                <a:gd name="connsiteY16" fmla="*/ 60496 h 132460"/>
                <a:gd name="connsiteX17" fmla="*/ 30126 w 62476"/>
                <a:gd name="connsiteY17" fmla="*/ 43766 h 132460"/>
                <a:gd name="connsiteX18" fmla="*/ 228 w 62476"/>
                <a:gd name="connsiteY18" fmla="*/ 73879 h 132460"/>
                <a:gd name="connsiteX19" fmla="*/ 3734 w 62476"/>
                <a:gd name="connsiteY19" fmla="*/ 76438 h 132460"/>
                <a:gd name="connsiteX20" fmla="*/ 7445 w 62476"/>
                <a:gd name="connsiteY20" fmla="*/ 73289 h 132460"/>
                <a:gd name="connsiteX21" fmla="*/ 29508 w 62476"/>
                <a:gd name="connsiteY21" fmla="*/ 49277 h 132460"/>
                <a:gd name="connsiteX22" fmla="*/ 34663 w 62476"/>
                <a:gd name="connsiteY22" fmla="*/ 56165 h 132460"/>
                <a:gd name="connsiteX23" fmla="*/ 28271 w 62476"/>
                <a:gd name="connsiteY23" fmla="*/ 75848 h 132460"/>
                <a:gd name="connsiteX24" fmla="*/ 15280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44" y="7551"/>
                  </a:moveTo>
                  <a:cubicBezTo>
                    <a:pt x="57344" y="4402"/>
                    <a:pt x="54870" y="72"/>
                    <a:pt x="49096" y="72"/>
                  </a:cubicBezTo>
                  <a:cubicBezTo>
                    <a:pt x="43529" y="72"/>
                    <a:pt x="37549" y="5189"/>
                    <a:pt x="37549" y="10897"/>
                  </a:cubicBezTo>
                  <a:cubicBezTo>
                    <a:pt x="37549" y="14243"/>
                    <a:pt x="40230" y="18376"/>
                    <a:pt x="45797" y="18376"/>
                  </a:cubicBezTo>
                  <a:cubicBezTo>
                    <a:pt x="51777" y="18376"/>
                    <a:pt x="57344" y="12865"/>
                    <a:pt x="57344" y="7551"/>
                  </a:cubicBezTo>
                  <a:close/>
                  <a:moveTo>
                    <a:pt x="15280" y="107536"/>
                  </a:moveTo>
                  <a:cubicBezTo>
                    <a:pt x="14456" y="110094"/>
                    <a:pt x="13425" y="112456"/>
                    <a:pt x="13425" y="115802"/>
                  </a:cubicBezTo>
                  <a:cubicBezTo>
                    <a:pt x="13425" y="125053"/>
                    <a:pt x="21672" y="132532"/>
                    <a:pt x="33013" y="132532"/>
                  </a:cubicBezTo>
                  <a:cubicBezTo>
                    <a:pt x="53632" y="132532"/>
                    <a:pt x="62705" y="105371"/>
                    <a:pt x="62705" y="102418"/>
                  </a:cubicBezTo>
                  <a:cubicBezTo>
                    <a:pt x="62705" y="99860"/>
                    <a:pt x="60024" y="99860"/>
                    <a:pt x="59406" y="99860"/>
                  </a:cubicBezTo>
                  <a:cubicBezTo>
                    <a:pt x="56519" y="99860"/>
                    <a:pt x="56313" y="101041"/>
                    <a:pt x="55488" y="103206"/>
                  </a:cubicBezTo>
                  <a:cubicBezTo>
                    <a:pt x="50746" y="118951"/>
                    <a:pt x="41673" y="127021"/>
                    <a:pt x="33632" y="127021"/>
                  </a:cubicBezTo>
                  <a:cubicBezTo>
                    <a:pt x="29508" y="127021"/>
                    <a:pt x="28477" y="124462"/>
                    <a:pt x="28477" y="120132"/>
                  </a:cubicBezTo>
                  <a:cubicBezTo>
                    <a:pt x="28477" y="115605"/>
                    <a:pt x="29920" y="111866"/>
                    <a:pt x="31776" y="107536"/>
                  </a:cubicBezTo>
                  <a:cubicBezTo>
                    <a:pt x="33838" y="102221"/>
                    <a:pt x="36106" y="96907"/>
                    <a:pt x="38374" y="91790"/>
                  </a:cubicBezTo>
                  <a:cubicBezTo>
                    <a:pt x="40230" y="87066"/>
                    <a:pt x="47653" y="69156"/>
                    <a:pt x="48478" y="66794"/>
                  </a:cubicBezTo>
                  <a:cubicBezTo>
                    <a:pt x="49096" y="64826"/>
                    <a:pt x="49715" y="62464"/>
                    <a:pt x="49715" y="60496"/>
                  </a:cubicBezTo>
                  <a:cubicBezTo>
                    <a:pt x="49715" y="51245"/>
                    <a:pt x="41467" y="43766"/>
                    <a:pt x="30126" y="43766"/>
                  </a:cubicBezTo>
                  <a:cubicBezTo>
                    <a:pt x="9713" y="43766"/>
                    <a:pt x="228" y="70533"/>
                    <a:pt x="228" y="73879"/>
                  </a:cubicBezTo>
                  <a:cubicBezTo>
                    <a:pt x="228" y="76438"/>
                    <a:pt x="3115" y="76438"/>
                    <a:pt x="3734" y="76438"/>
                  </a:cubicBezTo>
                  <a:cubicBezTo>
                    <a:pt x="6620" y="76438"/>
                    <a:pt x="6827" y="75454"/>
                    <a:pt x="7445" y="73289"/>
                  </a:cubicBezTo>
                  <a:cubicBezTo>
                    <a:pt x="12806" y="56362"/>
                    <a:pt x="21879" y="49277"/>
                    <a:pt x="29508" y="49277"/>
                  </a:cubicBezTo>
                  <a:cubicBezTo>
                    <a:pt x="32807" y="49277"/>
                    <a:pt x="34663" y="50851"/>
                    <a:pt x="34663" y="56165"/>
                  </a:cubicBezTo>
                  <a:cubicBezTo>
                    <a:pt x="34663" y="60692"/>
                    <a:pt x="33425" y="63645"/>
                    <a:pt x="28271" y="75848"/>
                  </a:cubicBezTo>
                  <a:lnTo>
                    <a:pt x="15280"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4" name="任意形状 16573">
              <a:extLst>
                <a:ext uri="{FF2B5EF4-FFF2-40B4-BE49-F238E27FC236}">
                  <a16:creationId xmlns:a16="http://schemas.microsoft.com/office/drawing/2014/main" id="{39786323-6D08-5ED4-2124-4715095AAD8C}"/>
                </a:ext>
              </a:extLst>
            </p:cNvPr>
            <p:cNvSpPr/>
            <p:nvPr>
              <p:custDataLst>
                <p:tags r:id="rId66"/>
              </p:custDataLst>
            </p:nvPr>
          </p:nvSpPr>
          <p:spPr>
            <a:xfrm>
              <a:off x="7153321" y="5608542"/>
              <a:ext cx="26186" cy="60620"/>
            </a:xfrm>
            <a:custGeom>
              <a:avLst/>
              <a:gdLst>
                <a:gd name="connsiteX0" fmla="*/ 20644 w 26186"/>
                <a:gd name="connsiteY0" fmla="*/ 19557 h 60620"/>
                <a:gd name="connsiteX1" fmla="*/ 4561 w 26186"/>
                <a:gd name="connsiteY1" fmla="*/ 55575 h 60620"/>
                <a:gd name="connsiteX2" fmla="*/ 3118 w 26186"/>
                <a:gd name="connsiteY2" fmla="*/ 57937 h 60620"/>
                <a:gd name="connsiteX3" fmla="*/ 6005 w 26186"/>
                <a:gd name="connsiteY3" fmla="*/ 60692 h 60620"/>
                <a:gd name="connsiteX4" fmla="*/ 26418 w 26186"/>
                <a:gd name="connsiteY4" fmla="*/ 21525 h 60620"/>
                <a:gd name="connsiteX5" fmla="*/ 11984 w 26186"/>
                <a:gd name="connsiteY5" fmla="*/ 72 h 60620"/>
                <a:gd name="connsiteX6" fmla="*/ 231 w 26186"/>
                <a:gd name="connsiteY6" fmla="*/ 11290 h 60620"/>
                <a:gd name="connsiteX7" fmla="*/ 12190 w 26186"/>
                <a:gd name="connsiteY7" fmla="*/ 22706 h 60620"/>
                <a:gd name="connsiteX8" fmla="*/ 20644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44" y="19557"/>
                  </a:moveTo>
                  <a:cubicBezTo>
                    <a:pt x="20644" y="30382"/>
                    <a:pt x="18582" y="42979"/>
                    <a:pt x="4561" y="55575"/>
                  </a:cubicBezTo>
                  <a:cubicBezTo>
                    <a:pt x="3736" y="56362"/>
                    <a:pt x="3118" y="56953"/>
                    <a:pt x="3118" y="57937"/>
                  </a:cubicBezTo>
                  <a:cubicBezTo>
                    <a:pt x="3118" y="59315"/>
                    <a:pt x="4767" y="60692"/>
                    <a:pt x="6005" y="60692"/>
                  </a:cubicBezTo>
                  <a:cubicBezTo>
                    <a:pt x="8891" y="60692"/>
                    <a:pt x="26418" y="44947"/>
                    <a:pt x="26418" y="21525"/>
                  </a:cubicBezTo>
                  <a:cubicBezTo>
                    <a:pt x="26418" y="9322"/>
                    <a:pt x="21469" y="72"/>
                    <a:pt x="11984" y="72"/>
                  </a:cubicBezTo>
                  <a:cubicBezTo>
                    <a:pt x="5180" y="72"/>
                    <a:pt x="231" y="5189"/>
                    <a:pt x="231" y="11290"/>
                  </a:cubicBezTo>
                  <a:cubicBezTo>
                    <a:pt x="231" y="17589"/>
                    <a:pt x="4974" y="22706"/>
                    <a:pt x="12190" y="22706"/>
                  </a:cubicBezTo>
                  <a:cubicBezTo>
                    <a:pt x="17139" y="22706"/>
                    <a:pt x="20438" y="19557"/>
                    <a:pt x="20644"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5" name="任意形状 16574">
              <a:extLst>
                <a:ext uri="{FF2B5EF4-FFF2-40B4-BE49-F238E27FC236}">
                  <a16:creationId xmlns:a16="http://schemas.microsoft.com/office/drawing/2014/main" id="{50B30683-7377-07ED-D057-30426E415E96}"/>
                </a:ext>
              </a:extLst>
            </p:cNvPr>
            <p:cNvSpPr/>
            <p:nvPr>
              <p:custDataLst>
                <p:tags r:id="rId67"/>
              </p:custDataLst>
            </p:nvPr>
          </p:nvSpPr>
          <p:spPr>
            <a:xfrm>
              <a:off x="7200186" y="5500684"/>
              <a:ext cx="90518" cy="170643"/>
            </a:xfrm>
            <a:custGeom>
              <a:avLst/>
              <a:gdLst>
                <a:gd name="connsiteX0" fmla="*/ 90752 w 90518"/>
                <a:gd name="connsiteY0" fmla="*/ 7551 h 170643"/>
                <a:gd name="connsiteX1" fmla="*/ 82504 w 90518"/>
                <a:gd name="connsiteY1" fmla="*/ 72 h 170643"/>
                <a:gd name="connsiteX2" fmla="*/ 70958 w 90518"/>
                <a:gd name="connsiteY2" fmla="*/ 10897 h 170643"/>
                <a:gd name="connsiteX3" fmla="*/ 79205 w 90518"/>
                <a:gd name="connsiteY3" fmla="*/ 18376 h 170643"/>
                <a:gd name="connsiteX4" fmla="*/ 90752 w 90518"/>
                <a:gd name="connsiteY4" fmla="*/ 7551 h 170643"/>
                <a:gd name="connsiteX5" fmla="*/ 47039 w 90518"/>
                <a:gd name="connsiteY5" fmla="*/ 140208 h 170643"/>
                <a:gd name="connsiteX6" fmla="*/ 20440 w 90518"/>
                <a:gd name="connsiteY6" fmla="*/ 165204 h 170643"/>
                <a:gd name="connsiteX7" fmla="*/ 13018 w 90518"/>
                <a:gd name="connsiteY7" fmla="*/ 164023 h 170643"/>
                <a:gd name="connsiteX8" fmla="*/ 20028 w 90518"/>
                <a:gd name="connsiteY8" fmla="*/ 153985 h 170643"/>
                <a:gd name="connsiteX9" fmla="*/ 11987 w 90518"/>
                <a:gd name="connsiteY9" fmla="*/ 146703 h 170643"/>
                <a:gd name="connsiteX10" fmla="*/ 234 w 90518"/>
                <a:gd name="connsiteY10" fmla="*/ 158315 h 170643"/>
                <a:gd name="connsiteX11" fmla="*/ 20647 w 90518"/>
                <a:gd name="connsiteY11" fmla="*/ 170715 h 170643"/>
                <a:gd name="connsiteX12" fmla="*/ 63535 w 90518"/>
                <a:gd name="connsiteY12" fmla="*/ 139617 h 170643"/>
                <a:gd name="connsiteX13" fmla="*/ 82092 w 90518"/>
                <a:gd name="connsiteY13" fmla="*/ 69156 h 170643"/>
                <a:gd name="connsiteX14" fmla="*/ 83123 w 90518"/>
                <a:gd name="connsiteY14" fmla="*/ 62267 h 170643"/>
                <a:gd name="connsiteX15" fmla="*/ 61060 w 90518"/>
                <a:gd name="connsiteY15" fmla="*/ 43766 h 170643"/>
                <a:gd name="connsiteX16" fmla="*/ 24977 w 90518"/>
                <a:gd name="connsiteY16" fmla="*/ 73879 h 170643"/>
                <a:gd name="connsiteX17" fmla="*/ 28482 w 90518"/>
                <a:gd name="connsiteY17" fmla="*/ 76438 h 170643"/>
                <a:gd name="connsiteX18" fmla="*/ 32606 w 90518"/>
                <a:gd name="connsiteY18" fmla="*/ 72895 h 170643"/>
                <a:gd name="connsiteX19" fmla="*/ 60442 w 90518"/>
                <a:gd name="connsiteY19" fmla="*/ 49277 h 170643"/>
                <a:gd name="connsiteX20" fmla="*/ 67452 w 90518"/>
                <a:gd name="connsiteY20" fmla="*/ 58921 h 170643"/>
                <a:gd name="connsiteX21" fmla="*/ 66834 w 90518"/>
                <a:gd name="connsiteY21" fmla="*/ 64826 h 170643"/>
                <a:gd name="connsiteX22" fmla="*/ 47039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52" y="7551"/>
                  </a:moveTo>
                  <a:cubicBezTo>
                    <a:pt x="90752" y="4205"/>
                    <a:pt x="88072" y="72"/>
                    <a:pt x="82504" y="72"/>
                  </a:cubicBezTo>
                  <a:cubicBezTo>
                    <a:pt x="76525" y="72"/>
                    <a:pt x="70958" y="5583"/>
                    <a:pt x="70958" y="10897"/>
                  </a:cubicBezTo>
                  <a:cubicBezTo>
                    <a:pt x="70958" y="14046"/>
                    <a:pt x="73432" y="18376"/>
                    <a:pt x="79205" y="18376"/>
                  </a:cubicBezTo>
                  <a:cubicBezTo>
                    <a:pt x="84773" y="18376"/>
                    <a:pt x="90752" y="13259"/>
                    <a:pt x="90752" y="7551"/>
                  </a:cubicBezTo>
                  <a:close/>
                  <a:moveTo>
                    <a:pt x="47039" y="140208"/>
                  </a:moveTo>
                  <a:cubicBezTo>
                    <a:pt x="43534" y="153788"/>
                    <a:pt x="32606" y="165204"/>
                    <a:pt x="20440" y="165204"/>
                  </a:cubicBezTo>
                  <a:cubicBezTo>
                    <a:pt x="17760" y="165204"/>
                    <a:pt x="15286" y="164810"/>
                    <a:pt x="13018" y="164023"/>
                  </a:cubicBezTo>
                  <a:cubicBezTo>
                    <a:pt x="18379" y="161661"/>
                    <a:pt x="20028" y="156938"/>
                    <a:pt x="20028" y="153985"/>
                  </a:cubicBezTo>
                  <a:cubicBezTo>
                    <a:pt x="20028" y="149262"/>
                    <a:pt x="16110" y="146703"/>
                    <a:pt x="11987" y="146703"/>
                  </a:cubicBezTo>
                  <a:cubicBezTo>
                    <a:pt x="5595" y="146703"/>
                    <a:pt x="234" y="152017"/>
                    <a:pt x="234" y="158315"/>
                  </a:cubicBezTo>
                  <a:cubicBezTo>
                    <a:pt x="234" y="165794"/>
                    <a:pt x="8275" y="170715"/>
                    <a:pt x="20647" y="170715"/>
                  </a:cubicBezTo>
                  <a:cubicBezTo>
                    <a:pt x="33018" y="170715"/>
                    <a:pt x="57143" y="163629"/>
                    <a:pt x="63535" y="139617"/>
                  </a:cubicBezTo>
                  <a:lnTo>
                    <a:pt x="82092" y="69156"/>
                  </a:lnTo>
                  <a:cubicBezTo>
                    <a:pt x="82711" y="66991"/>
                    <a:pt x="83123" y="65219"/>
                    <a:pt x="83123" y="62267"/>
                  </a:cubicBezTo>
                  <a:cubicBezTo>
                    <a:pt x="83123" y="51442"/>
                    <a:pt x="73432" y="43766"/>
                    <a:pt x="61060" y="43766"/>
                  </a:cubicBezTo>
                  <a:cubicBezTo>
                    <a:pt x="38173" y="43766"/>
                    <a:pt x="24977" y="71124"/>
                    <a:pt x="24977" y="73879"/>
                  </a:cubicBezTo>
                  <a:cubicBezTo>
                    <a:pt x="24977" y="76438"/>
                    <a:pt x="27863" y="76438"/>
                    <a:pt x="28482" y="76438"/>
                  </a:cubicBezTo>
                  <a:cubicBezTo>
                    <a:pt x="30956" y="76438"/>
                    <a:pt x="31163" y="75848"/>
                    <a:pt x="32606" y="72895"/>
                  </a:cubicBezTo>
                  <a:cubicBezTo>
                    <a:pt x="37761" y="61480"/>
                    <a:pt x="48483" y="49277"/>
                    <a:pt x="60442" y="49277"/>
                  </a:cubicBezTo>
                  <a:cubicBezTo>
                    <a:pt x="65597" y="49277"/>
                    <a:pt x="67452" y="52623"/>
                    <a:pt x="67452" y="58921"/>
                  </a:cubicBezTo>
                  <a:cubicBezTo>
                    <a:pt x="67452" y="61086"/>
                    <a:pt x="67040" y="63841"/>
                    <a:pt x="66834" y="64826"/>
                  </a:cubicBezTo>
                  <a:lnTo>
                    <a:pt x="47039"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6" name="任意形状 16575">
              <a:extLst>
                <a:ext uri="{FF2B5EF4-FFF2-40B4-BE49-F238E27FC236}">
                  <a16:creationId xmlns:a16="http://schemas.microsoft.com/office/drawing/2014/main" id="{9D36EECC-59C3-8A04-3208-DF7DE0E767DF}"/>
                </a:ext>
              </a:extLst>
            </p:cNvPr>
            <p:cNvSpPr/>
            <p:nvPr>
              <p:custDataLst>
                <p:tags r:id="rId68"/>
              </p:custDataLst>
            </p:nvPr>
          </p:nvSpPr>
          <p:spPr>
            <a:xfrm>
              <a:off x="7324006" y="5509344"/>
              <a:ext cx="151757" cy="145056"/>
            </a:xfrm>
            <a:custGeom>
              <a:avLst/>
              <a:gdLst>
                <a:gd name="connsiteX0" fmla="*/ 81271 w 151757"/>
                <a:gd name="connsiteY0" fmla="*/ 77422 h 145056"/>
                <a:gd name="connsiteX1" fmla="*/ 144366 w 151757"/>
                <a:gd name="connsiteY1" fmla="*/ 77422 h 145056"/>
                <a:gd name="connsiteX2" fmla="*/ 151995 w 151757"/>
                <a:gd name="connsiteY2" fmla="*/ 72698 h 145056"/>
                <a:gd name="connsiteX3" fmla="*/ 144366 w 151757"/>
                <a:gd name="connsiteY3" fmla="*/ 67778 h 145056"/>
                <a:gd name="connsiteX4" fmla="*/ 81271 w 151757"/>
                <a:gd name="connsiteY4" fmla="*/ 67778 h 145056"/>
                <a:gd name="connsiteX5" fmla="*/ 81271 w 151757"/>
                <a:gd name="connsiteY5" fmla="*/ 7354 h 145056"/>
                <a:gd name="connsiteX6" fmla="*/ 76322 w 151757"/>
                <a:gd name="connsiteY6" fmla="*/ 72 h 145056"/>
                <a:gd name="connsiteX7" fmla="*/ 71168 w 151757"/>
                <a:gd name="connsiteY7" fmla="*/ 7354 h 145056"/>
                <a:gd name="connsiteX8" fmla="*/ 71168 w 151757"/>
                <a:gd name="connsiteY8" fmla="*/ 67778 h 145056"/>
                <a:gd name="connsiteX9" fmla="*/ 7866 w 151757"/>
                <a:gd name="connsiteY9" fmla="*/ 67778 h 145056"/>
                <a:gd name="connsiteX10" fmla="*/ 237 w 151757"/>
                <a:gd name="connsiteY10" fmla="*/ 72502 h 145056"/>
                <a:gd name="connsiteX11" fmla="*/ 7866 w 151757"/>
                <a:gd name="connsiteY11" fmla="*/ 77422 h 145056"/>
                <a:gd name="connsiteX12" fmla="*/ 71168 w 151757"/>
                <a:gd name="connsiteY12" fmla="*/ 77422 h 145056"/>
                <a:gd name="connsiteX13" fmla="*/ 71168 w 151757"/>
                <a:gd name="connsiteY13" fmla="*/ 137846 h 145056"/>
                <a:gd name="connsiteX14" fmla="*/ 76116 w 151757"/>
                <a:gd name="connsiteY14" fmla="*/ 145128 h 145056"/>
                <a:gd name="connsiteX15" fmla="*/ 81271 w 151757"/>
                <a:gd name="connsiteY15" fmla="*/ 137846 h 145056"/>
                <a:gd name="connsiteX16" fmla="*/ 81271 w 151757"/>
                <a:gd name="connsiteY16" fmla="*/ 77422 h 14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757" h="145056">
                  <a:moveTo>
                    <a:pt x="81271" y="77422"/>
                  </a:moveTo>
                  <a:lnTo>
                    <a:pt x="144366" y="77422"/>
                  </a:lnTo>
                  <a:cubicBezTo>
                    <a:pt x="147047" y="77422"/>
                    <a:pt x="151995" y="77422"/>
                    <a:pt x="151995" y="72698"/>
                  </a:cubicBezTo>
                  <a:cubicBezTo>
                    <a:pt x="151995" y="67778"/>
                    <a:pt x="147253" y="67778"/>
                    <a:pt x="144366" y="67778"/>
                  </a:cubicBezTo>
                  <a:lnTo>
                    <a:pt x="81271" y="67778"/>
                  </a:lnTo>
                  <a:lnTo>
                    <a:pt x="81271" y="7354"/>
                  </a:lnTo>
                  <a:cubicBezTo>
                    <a:pt x="81271" y="4795"/>
                    <a:pt x="81271" y="72"/>
                    <a:pt x="76322" y="72"/>
                  </a:cubicBezTo>
                  <a:cubicBezTo>
                    <a:pt x="71168" y="72"/>
                    <a:pt x="71168" y="4599"/>
                    <a:pt x="71168" y="7354"/>
                  </a:cubicBezTo>
                  <a:lnTo>
                    <a:pt x="71168" y="67778"/>
                  </a:lnTo>
                  <a:lnTo>
                    <a:pt x="7866" y="67778"/>
                  </a:lnTo>
                  <a:cubicBezTo>
                    <a:pt x="5186" y="67778"/>
                    <a:pt x="237" y="67778"/>
                    <a:pt x="237" y="72502"/>
                  </a:cubicBezTo>
                  <a:cubicBezTo>
                    <a:pt x="237" y="77422"/>
                    <a:pt x="4980" y="77422"/>
                    <a:pt x="7866" y="77422"/>
                  </a:cubicBezTo>
                  <a:lnTo>
                    <a:pt x="71168" y="77422"/>
                  </a:lnTo>
                  <a:lnTo>
                    <a:pt x="71168" y="137846"/>
                  </a:lnTo>
                  <a:cubicBezTo>
                    <a:pt x="71168" y="140405"/>
                    <a:pt x="71168" y="145128"/>
                    <a:pt x="76116" y="145128"/>
                  </a:cubicBezTo>
                  <a:cubicBezTo>
                    <a:pt x="81271" y="145128"/>
                    <a:pt x="81271" y="140601"/>
                    <a:pt x="81271" y="137846"/>
                  </a:cubicBezTo>
                  <a:lnTo>
                    <a:pt x="81271" y="77422"/>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7" name="任意形状 16576">
              <a:extLst>
                <a:ext uri="{FF2B5EF4-FFF2-40B4-BE49-F238E27FC236}">
                  <a16:creationId xmlns:a16="http://schemas.microsoft.com/office/drawing/2014/main" id="{8F2AEE01-A1CE-22EC-2186-8830FA97A1BC}"/>
                </a:ext>
              </a:extLst>
            </p:cNvPr>
            <p:cNvSpPr/>
            <p:nvPr>
              <p:custDataLst>
                <p:tags r:id="rId69"/>
              </p:custDataLst>
            </p:nvPr>
          </p:nvSpPr>
          <p:spPr>
            <a:xfrm>
              <a:off x="7512877" y="5500487"/>
              <a:ext cx="75054" cy="130688"/>
            </a:xfrm>
            <a:custGeom>
              <a:avLst/>
              <a:gdLst>
                <a:gd name="connsiteX0" fmla="*/ 46843 w 75054"/>
                <a:gd name="connsiteY0" fmla="*/ 5583 h 130688"/>
                <a:gd name="connsiteX1" fmla="*/ 40657 w 75054"/>
                <a:gd name="connsiteY1" fmla="*/ 72 h 130688"/>
                <a:gd name="connsiteX2" fmla="*/ 243 w 75054"/>
                <a:gd name="connsiteY2" fmla="*/ 12668 h 130688"/>
                <a:gd name="connsiteX3" fmla="*/ 243 w 75054"/>
                <a:gd name="connsiteY3" fmla="*/ 19754 h 130688"/>
                <a:gd name="connsiteX4" fmla="*/ 30141 w 75054"/>
                <a:gd name="connsiteY4" fmla="*/ 14243 h 130688"/>
                <a:gd name="connsiteX5" fmla="*/ 30141 w 75054"/>
                <a:gd name="connsiteY5" fmla="*/ 114621 h 130688"/>
                <a:gd name="connsiteX6" fmla="*/ 9522 w 75054"/>
                <a:gd name="connsiteY6" fmla="*/ 123675 h 130688"/>
                <a:gd name="connsiteX7" fmla="*/ 1687 w 75054"/>
                <a:gd name="connsiteY7" fmla="*/ 123675 h 130688"/>
                <a:gd name="connsiteX8" fmla="*/ 1687 w 75054"/>
                <a:gd name="connsiteY8" fmla="*/ 130760 h 130688"/>
                <a:gd name="connsiteX9" fmla="*/ 38389 w 75054"/>
                <a:gd name="connsiteY9" fmla="*/ 129973 h 130688"/>
                <a:gd name="connsiteX10" fmla="*/ 75298 w 75054"/>
                <a:gd name="connsiteY10" fmla="*/ 130760 h 130688"/>
                <a:gd name="connsiteX11" fmla="*/ 75298 w 75054"/>
                <a:gd name="connsiteY11" fmla="*/ 123675 h 130688"/>
                <a:gd name="connsiteX12" fmla="*/ 67462 w 75054"/>
                <a:gd name="connsiteY12" fmla="*/ 123675 h 130688"/>
                <a:gd name="connsiteX13" fmla="*/ 46843 w 75054"/>
                <a:gd name="connsiteY13" fmla="*/ 114621 h 130688"/>
                <a:gd name="connsiteX14" fmla="*/ 46843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843" y="5583"/>
                  </a:moveTo>
                  <a:cubicBezTo>
                    <a:pt x="46843" y="268"/>
                    <a:pt x="46431" y="72"/>
                    <a:pt x="40657" y="72"/>
                  </a:cubicBezTo>
                  <a:cubicBezTo>
                    <a:pt x="27461" y="12471"/>
                    <a:pt x="8697" y="12668"/>
                    <a:pt x="243" y="12668"/>
                  </a:cubicBezTo>
                  <a:lnTo>
                    <a:pt x="243" y="19754"/>
                  </a:lnTo>
                  <a:cubicBezTo>
                    <a:pt x="5192" y="19754"/>
                    <a:pt x="18801" y="19754"/>
                    <a:pt x="30141" y="14243"/>
                  </a:cubicBezTo>
                  <a:lnTo>
                    <a:pt x="30141" y="114621"/>
                  </a:lnTo>
                  <a:cubicBezTo>
                    <a:pt x="30141" y="121116"/>
                    <a:pt x="30141" y="123675"/>
                    <a:pt x="9522" y="123675"/>
                  </a:cubicBezTo>
                  <a:lnTo>
                    <a:pt x="1687" y="123675"/>
                  </a:lnTo>
                  <a:lnTo>
                    <a:pt x="1687" y="130760"/>
                  </a:lnTo>
                  <a:cubicBezTo>
                    <a:pt x="5398" y="130564"/>
                    <a:pt x="30760" y="129973"/>
                    <a:pt x="38389" y="129973"/>
                  </a:cubicBezTo>
                  <a:cubicBezTo>
                    <a:pt x="44781" y="129973"/>
                    <a:pt x="70761" y="130564"/>
                    <a:pt x="75298" y="130760"/>
                  </a:cubicBezTo>
                  <a:lnTo>
                    <a:pt x="75298" y="123675"/>
                  </a:lnTo>
                  <a:lnTo>
                    <a:pt x="67462" y="123675"/>
                  </a:lnTo>
                  <a:cubicBezTo>
                    <a:pt x="46843" y="123675"/>
                    <a:pt x="46843" y="121116"/>
                    <a:pt x="46843" y="114621"/>
                  </a:cubicBezTo>
                  <a:lnTo>
                    <a:pt x="46843"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8" name="任意形状 16577">
              <a:extLst>
                <a:ext uri="{FF2B5EF4-FFF2-40B4-BE49-F238E27FC236}">
                  <a16:creationId xmlns:a16="http://schemas.microsoft.com/office/drawing/2014/main" id="{9D9DE13E-3D15-43F4-9020-3B6B696F68FB}"/>
                </a:ext>
              </a:extLst>
            </p:cNvPr>
            <p:cNvSpPr/>
            <p:nvPr>
              <p:custDataLst>
                <p:tags r:id="rId70"/>
              </p:custDataLst>
            </p:nvPr>
          </p:nvSpPr>
          <p:spPr>
            <a:xfrm>
              <a:off x="7712450" y="5513084"/>
              <a:ext cx="179976" cy="11246"/>
            </a:xfrm>
            <a:custGeom>
              <a:avLst/>
              <a:gdLst>
                <a:gd name="connsiteX0" fmla="*/ 169917 w 179976"/>
                <a:gd name="connsiteY0" fmla="*/ 11317 h 11246"/>
                <a:gd name="connsiteX1" fmla="*/ 180227 w 179976"/>
                <a:gd name="connsiteY1" fmla="*/ 5694 h 11246"/>
                <a:gd name="connsiteX2" fmla="*/ 169917 w 179976"/>
                <a:gd name="connsiteY2" fmla="*/ 70 h 11246"/>
                <a:gd name="connsiteX3" fmla="*/ 10560 w 179976"/>
                <a:gd name="connsiteY3" fmla="*/ 70 h 11246"/>
                <a:gd name="connsiteX4" fmla="*/ 250 w 179976"/>
                <a:gd name="connsiteY4" fmla="*/ 5694 h 11246"/>
                <a:gd name="connsiteX5" fmla="*/ 10560 w 179976"/>
                <a:gd name="connsiteY5" fmla="*/ 11317 h 11246"/>
                <a:gd name="connsiteX6" fmla="*/ 169917 w 179976"/>
                <a:gd name="connsiteY6" fmla="*/ 11317 h 11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976" h="11246">
                  <a:moveTo>
                    <a:pt x="169917" y="11317"/>
                  </a:moveTo>
                  <a:cubicBezTo>
                    <a:pt x="174925" y="11317"/>
                    <a:pt x="180227" y="11317"/>
                    <a:pt x="180227" y="5694"/>
                  </a:cubicBezTo>
                  <a:cubicBezTo>
                    <a:pt x="180227" y="70"/>
                    <a:pt x="174925" y="70"/>
                    <a:pt x="169917" y="70"/>
                  </a:cubicBezTo>
                  <a:lnTo>
                    <a:pt x="10560" y="70"/>
                  </a:lnTo>
                  <a:cubicBezTo>
                    <a:pt x="5552" y="70"/>
                    <a:pt x="250" y="70"/>
                    <a:pt x="250" y="5694"/>
                  </a:cubicBezTo>
                  <a:cubicBezTo>
                    <a:pt x="250" y="11317"/>
                    <a:pt x="5552" y="11317"/>
                    <a:pt x="10560" y="11317"/>
                  </a:cubicBezTo>
                  <a:lnTo>
                    <a:pt x="169917" y="11317"/>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9" name="任意形状 16578">
              <a:extLst>
                <a:ext uri="{FF2B5EF4-FFF2-40B4-BE49-F238E27FC236}">
                  <a16:creationId xmlns:a16="http://schemas.microsoft.com/office/drawing/2014/main" id="{97159E5D-0101-3D47-FD42-24EFB6248988}"/>
                </a:ext>
              </a:extLst>
            </p:cNvPr>
            <p:cNvSpPr/>
            <p:nvPr>
              <p:custDataLst>
                <p:tags r:id="rId71"/>
              </p:custDataLst>
            </p:nvPr>
          </p:nvSpPr>
          <p:spPr>
            <a:xfrm>
              <a:off x="7997289" y="5401740"/>
              <a:ext cx="117529" cy="187260"/>
            </a:xfrm>
            <a:custGeom>
              <a:avLst/>
              <a:gdLst>
                <a:gd name="connsiteX0" fmla="*/ 22941 w 117529"/>
                <a:gd name="connsiteY0" fmla="*/ 165680 h 187260"/>
                <a:gd name="connsiteX1" fmla="*/ 54165 w 117529"/>
                <a:gd name="connsiteY1" fmla="*/ 136720 h 187260"/>
                <a:gd name="connsiteX2" fmla="*/ 117790 w 117529"/>
                <a:gd name="connsiteY2" fmla="*/ 54618 h 187260"/>
                <a:gd name="connsiteX3" fmla="*/ 55343 w 117529"/>
                <a:gd name="connsiteY3" fmla="*/ 70 h 187260"/>
                <a:gd name="connsiteX4" fmla="*/ 260 w 117529"/>
                <a:gd name="connsiteY4" fmla="*/ 50962 h 187260"/>
                <a:gd name="connsiteX5" fmla="*/ 15872 w 117529"/>
                <a:gd name="connsiteY5" fmla="*/ 66708 h 187260"/>
                <a:gd name="connsiteX6" fmla="*/ 31189 w 117529"/>
                <a:gd name="connsiteY6" fmla="*/ 51806 h 187260"/>
                <a:gd name="connsiteX7" fmla="*/ 15577 w 117529"/>
                <a:gd name="connsiteY7" fmla="*/ 37185 h 187260"/>
                <a:gd name="connsiteX8" fmla="*/ 11748 w 117529"/>
                <a:gd name="connsiteY8" fmla="*/ 37466 h 187260"/>
                <a:gd name="connsiteX9" fmla="*/ 51514 w 117529"/>
                <a:gd name="connsiteY9" fmla="*/ 8787 h 187260"/>
                <a:gd name="connsiteX10" fmla="*/ 90985 w 117529"/>
                <a:gd name="connsiteY10" fmla="*/ 54618 h 187260"/>
                <a:gd name="connsiteX11" fmla="*/ 60056 w 117529"/>
                <a:gd name="connsiteY11" fmla="*/ 116757 h 187260"/>
                <a:gd name="connsiteX12" fmla="*/ 3500 w 117529"/>
                <a:gd name="connsiteY12" fmla="*/ 176927 h 187260"/>
                <a:gd name="connsiteX13" fmla="*/ 260 w 117529"/>
                <a:gd name="connsiteY13" fmla="*/ 187331 h 187260"/>
                <a:gd name="connsiteX14" fmla="*/ 109542 w 117529"/>
                <a:gd name="connsiteY14" fmla="*/ 187331 h 187260"/>
                <a:gd name="connsiteX15" fmla="*/ 117790 w 117529"/>
                <a:gd name="connsiteY15" fmla="*/ 138407 h 187260"/>
                <a:gd name="connsiteX16" fmla="*/ 110426 w 117529"/>
                <a:gd name="connsiteY16" fmla="*/ 138407 h 187260"/>
                <a:gd name="connsiteX17" fmla="*/ 103946 w 117529"/>
                <a:gd name="connsiteY17" fmla="*/ 163431 h 187260"/>
                <a:gd name="connsiteX18" fmla="*/ 75962 w 117529"/>
                <a:gd name="connsiteY18" fmla="*/ 165680 h 187260"/>
                <a:gd name="connsiteX19" fmla="*/ 22941 w 117529"/>
                <a:gd name="connsiteY19" fmla="*/ 165680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7529" h="187260">
                  <a:moveTo>
                    <a:pt x="22941" y="165680"/>
                  </a:moveTo>
                  <a:lnTo>
                    <a:pt x="54165" y="136720"/>
                  </a:lnTo>
                  <a:cubicBezTo>
                    <a:pt x="100116" y="97918"/>
                    <a:pt x="117790" y="82735"/>
                    <a:pt x="117790" y="54618"/>
                  </a:cubicBezTo>
                  <a:cubicBezTo>
                    <a:pt x="117790" y="22564"/>
                    <a:pt x="91279" y="70"/>
                    <a:pt x="55343" y="70"/>
                  </a:cubicBezTo>
                  <a:cubicBezTo>
                    <a:pt x="22058" y="70"/>
                    <a:pt x="260" y="25938"/>
                    <a:pt x="260" y="50962"/>
                  </a:cubicBezTo>
                  <a:cubicBezTo>
                    <a:pt x="260" y="66708"/>
                    <a:pt x="14988" y="66708"/>
                    <a:pt x="15872" y="66708"/>
                  </a:cubicBezTo>
                  <a:cubicBezTo>
                    <a:pt x="20879" y="66708"/>
                    <a:pt x="31189" y="63334"/>
                    <a:pt x="31189" y="51806"/>
                  </a:cubicBezTo>
                  <a:cubicBezTo>
                    <a:pt x="31189" y="44495"/>
                    <a:pt x="25887" y="37185"/>
                    <a:pt x="15577" y="37185"/>
                  </a:cubicBezTo>
                  <a:cubicBezTo>
                    <a:pt x="13221" y="37185"/>
                    <a:pt x="12632" y="37185"/>
                    <a:pt x="11748" y="37466"/>
                  </a:cubicBezTo>
                  <a:cubicBezTo>
                    <a:pt x="18523" y="19190"/>
                    <a:pt x="34429" y="8787"/>
                    <a:pt x="51514" y="8787"/>
                  </a:cubicBezTo>
                  <a:cubicBezTo>
                    <a:pt x="78319" y="8787"/>
                    <a:pt x="90985" y="31561"/>
                    <a:pt x="90985" y="54618"/>
                  </a:cubicBezTo>
                  <a:cubicBezTo>
                    <a:pt x="90985" y="77111"/>
                    <a:pt x="76257" y="99324"/>
                    <a:pt x="60056" y="116757"/>
                  </a:cubicBezTo>
                  <a:lnTo>
                    <a:pt x="3500" y="176927"/>
                  </a:lnTo>
                  <a:cubicBezTo>
                    <a:pt x="260" y="180020"/>
                    <a:pt x="260" y="180583"/>
                    <a:pt x="260" y="187331"/>
                  </a:cubicBezTo>
                  <a:lnTo>
                    <a:pt x="109542" y="187331"/>
                  </a:lnTo>
                  <a:lnTo>
                    <a:pt x="117790" y="138407"/>
                  </a:lnTo>
                  <a:lnTo>
                    <a:pt x="110426" y="138407"/>
                  </a:lnTo>
                  <a:cubicBezTo>
                    <a:pt x="108953" y="146842"/>
                    <a:pt x="106891" y="159214"/>
                    <a:pt x="103946" y="163431"/>
                  </a:cubicBezTo>
                  <a:cubicBezTo>
                    <a:pt x="101884" y="165680"/>
                    <a:pt x="82443" y="165680"/>
                    <a:pt x="75962" y="165680"/>
                  </a:cubicBezTo>
                  <a:lnTo>
                    <a:pt x="22941" y="165680"/>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0" name="任意形状 16579">
              <a:extLst>
                <a:ext uri="{FF2B5EF4-FFF2-40B4-BE49-F238E27FC236}">
                  <a16:creationId xmlns:a16="http://schemas.microsoft.com/office/drawing/2014/main" id="{51915758-EF1D-61CE-FE36-6DE576C2C992}"/>
                </a:ext>
              </a:extLst>
            </p:cNvPr>
            <p:cNvSpPr/>
            <p:nvPr>
              <p:custDataLst>
                <p:tags r:id="rId72"/>
              </p:custDataLst>
            </p:nvPr>
          </p:nvSpPr>
          <p:spPr>
            <a:xfrm>
              <a:off x="8138385" y="5464723"/>
              <a:ext cx="151404" cy="127370"/>
            </a:xfrm>
            <a:custGeom>
              <a:avLst/>
              <a:gdLst>
                <a:gd name="connsiteX0" fmla="*/ 94819 w 151404"/>
                <a:gd name="connsiteY0" fmla="*/ 108603 h 127370"/>
                <a:gd name="connsiteX1" fmla="*/ 121035 w 151404"/>
                <a:gd name="connsiteY1" fmla="*/ 127441 h 127370"/>
                <a:gd name="connsiteX2" fmla="*/ 142833 w 151404"/>
                <a:gd name="connsiteY2" fmla="*/ 111977 h 127370"/>
                <a:gd name="connsiteX3" fmla="*/ 151669 w 151404"/>
                <a:gd name="connsiteY3" fmla="*/ 84141 h 127370"/>
                <a:gd name="connsiteX4" fmla="*/ 148135 w 151404"/>
                <a:gd name="connsiteY4" fmla="*/ 81329 h 127370"/>
                <a:gd name="connsiteX5" fmla="*/ 144011 w 151404"/>
                <a:gd name="connsiteY5" fmla="*/ 86390 h 127370"/>
                <a:gd name="connsiteX6" fmla="*/ 121919 w 151404"/>
                <a:gd name="connsiteY6" fmla="*/ 121255 h 127370"/>
                <a:gd name="connsiteX7" fmla="*/ 112787 w 151404"/>
                <a:gd name="connsiteY7" fmla="*/ 108321 h 127370"/>
                <a:gd name="connsiteX8" fmla="*/ 118679 w 151404"/>
                <a:gd name="connsiteY8" fmla="*/ 79080 h 127370"/>
                <a:gd name="connsiteX9" fmla="*/ 126926 w 151404"/>
                <a:gd name="connsiteY9" fmla="*/ 48713 h 127370"/>
                <a:gd name="connsiteX10" fmla="*/ 131934 w 151404"/>
                <a:gd name="connsiteY10" fmla="*/ 29593 h 127370"/>
                <a:gd name="connsiteX11" fmla="*/ 136352 w 151404"/>
                <a:gd name="connsiteY11" fmla="*/ 10755 h 127370"/>
                <a:gd name="connsiteX12" fmla="*/ 127810 w 151404"/>
                <a:gd name="connsiteY12" fmla="*/ 3163 h 127370"/>
                <a:gd name="connsiteX13" fmla="*/ 116322 w 151404"/>
                <a:gd name="connsiteY13" fmla="*/ 13004 h 127370"/>
                <a:gd name="connsiteX14" fmla="*/ 94230 w 151404"/>
                <a:gd name="connsiteY14" fmla="*/ 97637 h 127370"/>
                <a:gd name="connsiteX15" fmla="*/ 60650 w 151404"/>
                <a:gd name="connsiteY15" fmla="*/ 121255 h 127370"/>
                <a:gd name="connsiteX16" fmla="*/ 42387 w 151404"/>
                <a:gd name="connsiteY16" fmla="*/ 98199 h 127370"/>
                <a:gd name="connsiteX17" fmla="*/ 58294 w 151404"/>
                <a:gd name="connsiteY17" fmla="*/ 40840 h 127370"/>
                <a:gd name="connsiteX18" fmla="*/ 63301 w 151404"/>
                <a:gd name="connsiteY18" fmla="*/ 23126 h 127370"/>
                <a:gd name="connsiteX19" fmla="*/ 39147 w 151404"/>
                <a:gd name="connsiteY19" fmla="*/ 70 h 127370"/>
                <a:gd name="connsiteX20" fmla="*/ 265 w 151404"/>
                <a:gd name="connsiteY20" fmla="*/ 43371 h 127370"/>
                <a:gd name="connsiteX21" fmla="*/ 3800 w 151404"/>
                <a:gd name="connsiteY21" fmla="*/ 46182 h 127370"/>
                <a:gd name="connsiteX22" fmla="*/ 8513 w 151404"/>
                <a:gd name="connsiteY22" fmla="*/ 41121 h 127370"/>
                <a:gd name="connsiteX23" fmla="*/ 38263 w 151404"/>
                <a:gd name="connsiteY23" fmla="*/ 6256 h 127370"/>
                <a:gd name="connsiteX24" fmla="*/ 45627 w 151404"/>
                <a:gd name="connsiteY24" fmla="*/ 15535 h 127370"/>
                <a:gd name="connsiteX25" fmla="*/ 40620 w 151404"/>
                <a:gd name="connsiteY25" fmla="*/ 34654 h 127370"/>
                <a:gd name="connsiteX26" fmla="*/ 23535 w 151404"/>
                <a:gd name="connsiteY26" fmla="*/ 93700 h 127370"/>
                <a:gd name="connsiteX27" fmla="*/ 59766 w 151404"/>
                <a:gd name="connsiteY27" fmla="*/ 127441 h 127370"/>
                <a:gd name="connsiteX28" fmla="*/ 94819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819" y="108603"/>
                  </a:moveTo>
                  <a:cubicBezTo>
                    <a:pt x="98059" y="120131"/>
                    <a:pt x="108369" y="127441"/>
                    <a:pt x="121035" y="127441"/>
                  </a:cubicBezTo>
                  <a:cubicBezTo>
                    <a:pt x="131345" y="127441"/>
                    <a:pt x="138120" y="120974"/>
                    <a:pt x="142833" y="111977"/>
                  </a:cubicBezTo>
                  <a:cubicBezTo>
                    <a:pt x="147840" y="101854"/>
                    <a:pt x="151669" y="84703"/>
                    <a:pt x="151669" y="84141"/>
                  </a:cubicBezTo>
                  <a:cubicBezTo>
                    <a:pt x="151669" y="81329"/>
                    <a:pt x="149018" y="81329"/>
                    <a:pt x="148135" y="81329"/>
                  </a:cubicBezTo>
                  <a:cubicBezTo>
                    <a:pt x="145189" y="81329"/>
                    <a:pt x="144895" y="82454"/>
                    <a:pt x="144011" y="86390"/>
                  </a:cubicBezTo>
                  <a:cubicBezTo>
                    <a:pt x="139887" y="102136"/>
                    <a:pt x="134290" y="121255"/>
                    <a:pt x="121919" y="121255"/>
                  </a:cubicBezTo>
                  <a:cubicBezTo>
                    <a:pt x="115733" y="121255"/>
                    <a:pt x="112787" y="117600"/>
                    <a:pt x="112787" y="108321"/>
                  </a:cubicBezTo>
                  <a:cubicBezTo>
                    <a:pt x="112787" y="102136"/>
                    <a:pt x="116322" y="88921"/>
                    <a:pt x="118679" y="79080"/>
                  </a:cubicBezTo>
                  <a:lnTo>
                    <a:pt x="126926" y="48713"/>
                  </a:lnTo>
                  <a:cubicBezTo>
                    <a:pt x="127810" y="44495"/>
                    <a:pt x="130756" y="33811"/>
                    <a:pt x="131934" y="29593"/>
                  </a:cubicBezTo>
                  <a:cubicBezTo>
                    <a:pt x="133407" y="23126"/>
                    <a:pt x="136352" y="12442"/>
                    <a:pt x="136352" y="10755"/>
                  </a:cubicBezTo>
                  <a:cubicBezTo>
                    <a:pt x="136352" y="5694"/>
                    <a:pt x="132228" y="3163"/>
                    <a:pt x="127810" y="3163"/>
                  </a:cubicBezTo>
                  <a:cubicBezTo>
                    <a:pt x="126337" y="3163"/>
                    <a:pt x="118679" y="3444"/>
                    <a:pt x="116322" y="13004"/>
                  </a:cubicBezTo>
                  <a:cubicBezTo>
                    <a:pt x="110725" y="33530"/>
                    <a:pt x="97765" y="82735"/>
                    <a:pt x="94230" y="97637"/>
                  </a:cubicBezTo>
                  <a:cubicBezTo>
                    <a:pt x="93935" y="98762"/>
                    <a:pt x="82153" y="121255"/>
                    <a:pt x="60650" y="121255"/>
                  </a:cubicBezTo>
                  <a:cubicBezTo>
                    <a:pt x="45333" y="121255"/>
                    <a:pt x="42387" y="108603"/>
                    <a:pt x="42387" y="98199"/>
                  </a:cubicBezTo>
                  <a:cubicBezTo>
                    <a:pt x="42387" y="82454"/>
                    <a:pt x="50635" y="60241"/>
                    <a:pt x="58294" y="40840"/>
                  </a:cubicBezTo>
                  <a:cubicBezTo>
                    <a:pt x="61828" y="32405"/>
                    <a:pt x="63301" y="28469"/>
                    <a:pt x="63301" y="23126"/>
                  </a:cubicBezTo>
                  <a:cubicBezTo>
                    <a:pt x="63301" y="10474"/>
                    <a:pt x="53875" y="70"/>
                    <a:pt x="39147" y="70"/>
                  </a:cubicBezTo>
                  <a:cubicBezTo>
                    <a:pt x="11164" y="70"/>
                    <a:pt x="265" y="40840"/>
                    <a:pt x="265" y="43371"/>
                  </a:cubicBezTo>
                  <a:cubicBezTo>
                    <a:pt x="265" y="46182"/>
                    <a:pt x="3211" y="46182"/>
                    <a:pt x="3800" y="46182"/>
                  </a:cubicBezTo>
                  <a:cubicBezTo>
                    <a:pt x="6745" y="46182"/>
                    <a:pt x="7040" y="45620"/>
                    <a:pt x="8513" y="41121"/>
                  </a:cubicBezTo>
                  <a:cubicBezTo>
                    <a:pt x="15877" y="16659"/>
                    <a:pt x="27070" y="6256"/>
                    <a:pt x="38263" y="6256"/>
                  </a:cubicBezTo>
                  <a:cubicBezTo>
                    <a:pt x="40914" y="6256"/>
                    <a:pt x="45627" y="6537"/>
                    <a:pt x="45627" y="15535"/>
                  </a:cubicBezTo>
                  <a:cubicBezTo>
                    <a:pt x="45627" y="22283"/>
                    <a:pt x="42387" y="30437"/>
                    <a:pt x="40620" y="34654"/>
                  </a:cubicBezTo>
                  <a:cubicBezTo>
                    <a:pt x="29721" y="62490"/>
                    <a:pt x="23535" y="79923"/>
                    <a:pt x="23535" y="93700"/>
                  </a:cubicBezTo>
                  <a:cubicBezTo>
                    <a:pt x="23535" y="120412"/>
                    <a:pt x="43860" y="127441"/>
                    <a:pt x="59766" y="127441"/>
                  </a:cubicBezTo>
                  <a:cubicBezTo>
                    <a:pt x="79207" y="127441"/>
                    <a:pt x="89812" y="114788"/>
                    <a:pt x="94819"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1" name="任意形状 16580">
              <a:extLst>
                <a:ext uri="{FF2B5EF4-FFF2-40B4-BE49-F238E27FC236}">
                  <a16:creationId xmlns:a16="http://schemas.microsoft.com/office/drawing/2014/main" id="{E8D56D94-315E-7E81-BD49-CD15F355268C}"/>
                </a:ext>
              </a:extLst>
            </p:cNvPr>
            <p:cNvSpPr/>
            <p:nvPr>
              <p:custDataLst>
                <p:tags r:id="rId73"/>
              </p:custDataLst>
            </p:nvPr>
          </p:nvSpPr>
          <p:spPr>
            <a:xfrm>
              <a:off x="8308157" y="5500684"/>
              <a:ext cx="62476" cy="132460"/>
            </a:xfrm>
            <a:custGeom>
              <a:avLst/>
              <a:gdLst>
                <a:gd name="connsiteX0" fmla="*/ 57386 w 62476"/>
                <a:gd name="connsiteY0" fmla="*/ 7551 h 132460"/>
                <a:gd name="connsiteX1" fmla="*/ 49138 w 62476"/>
                <a:gd name="connsiteY1" fmla="*/ 72 h 132460"/>
                <a:gd name="connsiteX2" fmla="*/ 37592 w 62476"/>
                <a:gd name="connsiteY2" fmla="*/ 10897 h 132460"/>
                <a:gd name="connsiteX3" fmla="*/ 45839 w 62476"/>
                <a:gd name="connsiteY3" fmla="*/ 18376 h 132460"/>
                <a:gd name="connsiteX4" fmla="*/ 57386 w 62476"/>
                <a:gd name="connsiteY4" fmla="*/ 7551 h 132460"/>
                <a:gd name="connsiteX5" fmla="*/ 15323 w 62476"/>
                <a:gd name="connsiteY5" fmla="*/ 107536 h 132460"/>
                <a:gd name="connsiteX6" fmla="*/ 13467 w 62476"/>
                <a:gd name="connsiteY6" fmla="*/ 115802 h 132460"/>
                <a:gd name="connsiteX7" fmla="*/ 33055 w 62476"/>
                <a:gd name="connsiteY7" fmla="*/ 132532 h 132460"/>
                <a:gd name="connsiteX8" fmla="*/ 62747 w 62476"/>
                <a:gd name="connsiteY8" fmla="*/ 102418 h 132460"/>
                <a:gd name="connsiteX9" fmla="*/ 59448 w 62476"/>
                <a:gd name="connsiteY9" fmla="*/ 99860 h 132460"/>
                <a:gd name="connsiteX10" fmla="*/ 55530 w 62476"/>
                <a:gd name="connsiteY10" fmla="*/ 103206 h 132460"/>
                <a:gd name="connsiteX11" fmla="*/ 33674 w 62476"/>
                <a:gd name="connsiteY11" fmla="*/ 127021 h 132460"/>
                <a:gd name="connsiteX12" fmla="*/ 28519 w 62476"/>
                <a:gd name="connsiteY12" fmla="*/ 120132 h 132460"/>
                <a:gd name="connsiteX13" fmla="*/ 31818 w 62476"/>
                <a:gd name="connsiteY13" fmla="*/ 107536 h 132460"/>
                <a:gd name="connsiteX14" fmla="*/ 38416 w 62476"/>
                <a:gd name="connsiteY14" fmla="*/ 91790 h 132460"/>
                <a:gd name="connsiteX15" fmla="*/ 48520 w 62476"/>
                <a:gd name="connsiteY15" fmla="*/ 66794 h 132460"/>
                <a:gd name="connsiteX16" fmla="*/ 49757 w 62476"/>
                <a:gd name="connsiteY16" fmla="*/ 60496 h 132460"/>
                <a:gd name="connsiteX17" fmla="*/ 30169 w 62476"/>
                <a:gd name="connsiteY17" fmla="*/ 43766 h 132460"/>
                <a:gd name="connsiteX18" fmla="*/ 271 w 62476"/>
                <a:gd name="connsiteY18" fmla="*/ 73879 h 132460"/>
                <a:gd name="connsiteX19" fmla="*/ 3776 w 62476"/>
                <a:gd name="connsiteY19" fmla="*/ 76438 h 132460"/>
                <a:gd name="connsiteX20" fmla="*/ 7488 w 62476"/>
                <a:gd name="connsiteY20" fmla="*/ 73289 h 132460"/>
                <a:gd name="connsiteX21" fmla="*/ 29550 w 62476"/>
                <a:gd name="connsiteY21" fmla="*/ 49277 h 132460"/>
                <a:gd name="connsiteX22" fmla="*/ 34705 w 62476"/>
                <a:gd name="connsiteY22" fmla="*/ 56165 h 132460"/>
                <a:gd name="connsiteX23" fmla="*/ 28313 w 62476"/>
                <a:gd name="connsiteY23" fmla="*/ 75848 h 132460"/>
                <a:gd name="connsiteX24" fmla="*/ 15323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86" y="7551"/>
                  </a:moveTo>
                  <a:cubicBezTo>
                    <a:pt x="57386" y="4402"/>
                    <a:pt x="54912" y="72"/>
                    <a:pt x="49138" y="72"/>
                  </a:cubicBezTo>
                  <a:cubicBezTo>
                    <a:pt x="43571" y="72"/>
                    <a:pt x="37592" y="5189"/>
                    <a:pt x="37592" y="10897"/>
                  </a:cubicBezTo>
                  <a:cubicBezTo>
                    <a:pt x="37592" y="14243"/>
                    <a:pt x="40272" y="18376"/>
                    <a:pt x="45839" y="18376"/>
                  </a:cubicBezTo>
                  <a:cubicBezTo>
                    <a:pt x="51819" y="18376"/>
                    <a:pt x="57386" y="12865"/>
                    <a:pt x="57386" y="7551"/>
                  </a:cubicBezTo>
                  <a:close/>
                  <a:moveTo>
                    <a:pt x="15323" y="107536"/>
                  </a:moveTo>
                  <a:cubicBezTo>
                    <a:pt x="14498" y="110094"/>
                    <a:pt x="13467" y="112456"/>
                    <a:pt x="13467" y="115802"/>
                  </a:cubicBezTo>
                  <a:cubicBezTo>
                    <a:pt x="13467" y="125053"/>
                    <a:pt x="21715" y="132532"/>
                    <a:pt x="33055" y="132532"/>
                  </a:cubicBezTo>
                  <a:cubicBezTo>
                    <a:pt x="53675" y="132532"/>
                    <a:pt x="62747" y="105371"/>
                    <a:pt x="62747" y="102418"/>
                  </a:cubicBezTo>
                  <a:cubicBezTo>
                    <a:pt x="62747" y="99860"/>
                    <a:pt x="60067" y="99860"/>
                    <a:pt x="59448" y="99860"/>
                  </a:cubicBezTo>
                  <a:cubicBezTo>
                    <a:pt x="56561" y="99860"/>
                    <a:pt x="56355" y="101041"/>
                    <a:pt x="55530" y="103206"/>
                  </a:cubicBezTo>
                  <a:cubicBezTo>
                    <a:pt x="50788" y="118951"/>
                    <a:pt x="41715" y="127021"/>
                    <a:pt x="33674" y="127021"/>
                  </a:cubicBezTo>
                  <a:cubicBezTo>
                    <a:pt x="29550" y="127021"/>
                    <a:pt x="28519" y="124462"/>
                    <a:pt x="28519" y="120132"/>
                  </a:cubicBezTo>
                  <a:cubicBezTo>
                    <a:pt x="28519" y="115605"/>
                    <a:pt x="29962" y="111866"/>
                    <a:pt x="31818" y="107536"/>
                  </a:cubicBezTo>
                  <a:cubicBezTo>
                    <a:pt x="33880" y="102221"/>
                    <a:pt x="36148" y="96907"/>
                    <a:pt x="38416" y="91790"/>
                  </a:cubicBezTo>
                  <a:cubicBezTo>
                    <a:pt x="40272" y="87066"/>
                    <a:pt x="47695" y="69156"/>
                    <a:pt x="48520" y="66794"/>
                  </a:cubicBezTo>
                  <a:cubicBezTo>
                    <a:pt x="49138" y="64826"/>
                    <a:pt x="49757" y="62464"/>
                    <a:pt x="49757" y="60496"/>
                  </a:cubicBezTo>
                  <a:cubicBezTo>
                    <a:pt x="49757" y="51245"/>
                    <a:pt x="41509" y="43766"/>
                    <a:pt x="30169" y="43766"/>
                  </a:cubicBezTo>
                  <a:cubicBezTo>
                    <a:pt x="9756" y="43766"/>
                    <a:pt x="271" y="70533"/>
                    <a:pt x="271" y="73879"/>
                  </a:cubicBezTo>
                  <a:cubicBezTo>
                    <a:pt x="271" y="76438"/>
                    <a:pt x="3157" y="76438"/>
                    <a:pt x="3776" y="76438"/>
                  </a:cubicBezTo>
                  <a:cubicBezTo>
                    <a:pt x="6663" y="76438"/>
                    <a:pt x="6869" y="75454"/>
                    <a:pt x="7488" y="73289"/>
                  </a:cubicBezTo>
                  <a:cubicBezTo>
                    <a:pt x="12849" y="56362"/>
                    <a:pt x="21921" y="49277"/>
                    <a:pt x="29550" y="49277"/>
                  </a:cubicBezTo>
                  <a:cubicBezTo>
                    <a:pt x="32849" y="49277"/>
                    <a:pt x="34705" y="50851"/>
                    <a:pt x="34705" y="56165"/>
                  </a:cubicBezTo>
                  <a:cubicBezTo>
                    <a:pt x="34705" y="60692"/>
                    <a:pt x="33468" y="63645"/>
                    <a:pt x="28313" y="75848"/>
                  </a:cubicBezTo>
                  <a:lnTo>
                    <a:pt x="15323"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2" name="任意形状 16581">
              <a:extLst>
                <a:ext uri="{FF2B5EF4-FFF2-40B4-BE49-F238E27FC236}">
                  <a16:creationId xmlns:a16="http://schemas.microsoft.com/office/drawing/2014/main" id="{E04C1538-C16F-9FB1-77E7-A326F5C0D404}"/>
                </a:ext>
              </a:extLst>
            </p:cNvPr>
            <p:cNvSpPr/>
            <p:nvPr>
              <p:custDataLst>
                <p:tags r:id="rId74"/>
              </p:custDataLst>
            </p:nvPr>
          </p:nvSpPr>
          <p:spPr>
            <a:xfrm>
              <a:off x="8404900" y="5608542"/>
              <a:ext cx="26186" cy="60620"/>
            </a:xfrm>
            <a:custGeom>
              <a:avLst/>
              <a:gdLst>
                <a:gd name="connsiteX0" fmla="*/ 20687 w 26186"/>
                <a:gd name="connsiteY0" fmla="*/ 19557 h 60620"/>
                <a:gd name="connsiteX1" fmla="*/ 4604 w 26186"/>
                <a:gd name="connsiteY1" fmla="*/ 55575 h 60620"/>
                <a:gd name="connsiteX2" fmla="*/ 3160 w 26186"/>
                <a:gd name="connsiteY2" fmla="*/ 57937 h 60620"/>
                <a:gd name="connsiteX3" fmla="*/ 6047 w 26186"/>
                <a:gd name="connsiteY3" fmla="*/ 60692 h 60620"/>
                <a:gd name="connsiteX4" fmla="*/ 26460 w 26186"/>
                <a:gd name="connsiteY4" fmla="*/ 21525 h 60620"/>
                <a:gd name="connsiteX5" fmla="*/ 12027 w 26186"/>
                <a:gd name="connsiteY5" fmla="*/ 72 h 60620"/>
                <a:gd name="connsiteX6" fmla="*/ 274 w 26186"/>
                <a:gd name="connsiteY6" fmla="*/ 11290 h 60620"/>
                <a:gd name="connsiteX7" fmla="*/ 12233 w 26186"/>
                <a:gd name="connsiteY7" fmla="*/ 22706 h 60620"/>
                <a:gd name="connsiteX8" fmla="*/ 20687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87" y="19557"/>
                  </a:moveTo>
                  <a:cubicBezTo>
                    <a:pt x="20687" y="30382"/>
                    <a:pt x="18625" y="42979"/>
                    <a:pt x="4604" y="55575"/>
                  </a:cubicBezTo>
                  <a:cubicBezTo>
                    <a:pt x="3779" y="56362"/>
                    <a:pt x="3160" y="56953"/>
                    <a:pt x="3160" y="57937"/>
                  </a:cubicBezTo>
                  <a:cubicBezTo>
                    <a:pt x="3160" y="59315"/>
                    <a:pt x="4810" y="60692"/>
                    <a:pt x="6047" y="60692"/>
                  </a:cubicBezTo>
                  <a:cubicBezTo>
                    <a:pt x="8934" y="60692"/>
                    <a:pt x="26460" y="44947"/>
                    <a:pt x="26460" y="21525"/>
                  </a:cubicBezTo>
                  <a:cubicBezTo>
                    <a:pt x="26460" y="9322"/>
                    <a:pt x="21511" y="72"/>
                    <a:pt x="12027" y="72"/>
                  </a:cubicBezTo>
                  <a:cubicBezTo>
                    <a:pt x="5222" y="72"/>
                    <a:pt x="274" y="5189"/>
                    <a:pt x="274" y="11290"/>
                  </a:cubicBezTo>
                  <a:cubicBezTo>
                    <a:pt x="274" y="17589"/>
                    <a:pt x="5016" y="22706"/>
                    <a:pt x="12233" y="22706"/>
                  </a:cubicBezTo>
                  <a:cubicBezTo>
                    <a:pt x="17181" y="22706"/>
                    <a:pt x="20480" y="19557"/>
                    <a:pt x="20687"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3" name="任意形状 16582">
              <a:extLst>
                <a:ext uri="{FF2B5EF4-FFF2-40B4-BE49-F238E27FC236}">
                  <a16:creationId xmlns:a16="http://schemas.microsoft.com/office/drawing/2014/main" id="{3BFF244B-D816-B5D6-C0E5-32E061ACCA2C}"/>
                </a:ext>
              </a:extLst>
            </p:cNvPr>
            <p:cNvSpPr/>
            <p:nvPr>
              <p:custDataLst>
                <p:tags r:id="rId75"/>
              </p:custDataLst>
            </p:nvPr>
          </p:nvSpPr>
          <p:spPr>
            <a:xfrm>
              <a:off x="8451765" y="5500684"/>
              <a:ext cx="90518" cy="170643"/>
            </a:xfrm>
            <a:custGeom>
              <a:avLst/>
              <a:gdLst>
                <a:gd name="connsiteX0" fmla="*/ 90795 w 90518"/>
                <a:gd name="connsiteY0" fmla="*/ 7551 h 170643"/>
                <a:gd name="connsiteX1" fmla="*/ 82547 w 90518"/>
                <a:gd name="connsiteY1" fmla="*/ 72 h 170643"/>
                <a:gd name="connsiteX2" fmla="*/ 71000 w 90518"/>
                <a:gd name="connsiteY2" fmla="*/ 10897 h 170643"/>
                <a:gd name="connsiteX3" fmla="*/ 79248 w 90518"/>
                <a:gd name="connsiteY3" fmla="*/ 18376 h 170643"/>
                <a:gd name="connsiteX4" fmla="*/ 90795 w 90518"/>
                <a:gd name="connsiteY4" fmla="*/ 7551 h 170643"/>
                <a:gd name="connsiteX5" fmla="*/ 47082 w 90518"/>
                <a:gd name="connsiteY5" fmla="*/ 140208 h 170643"/>
                <a:gd name="connsiteX6" fmla="*/ 20483 w 90518"/>
                <a:gd name="connsiteY6" fmla="*/ 165204 h 170643"/>
                <a:gd name="connsiteX7" fmla="*/ 13060 w 90518"/>
                <a:gd name="connsiteY7" fmla="*/ 164023 h 170643"/>
                <a:gd name="connsiteX8" fmla="*/ 20070 w 90518"/>
                <a:gd name="connsiteY8" fmla="*/ 153985 h 170643"/>
                <a:gd name="connsiteX9" fmla="*/ 12029 w 90518"/>
                <a:gd name="connsiteY9" fmla="*/ 146703 h 170643"/>
                <a:gd name="connsiteX10" fmla="*/ 276 w 90518"/>
                <a:gd name="connsiteY10" fmla="*/ 158315 h 170643"/>
                <a:gd name="connsiteX11" fmla="*/ 20689 w 90518"/>
                <a:gd name="connsiteY11" fmla="*/ 170715 h 170643"/>
                <a:gd name="connsiteX12" fmla="*/ 63577 w 90518"/>
                <a:gd name="connsiteY12" fmla="*/ 139617 h 170643"/>
                <a:gd name="connsiteX13" fmla="*/ 82134 w 90518"/>
                <a:gd name="connsiteY13" fmla="*/ 69156 h 170643"/>
                <a:gd name="connsiteX14" fmla="*/ 83165 w 90518"/>
                <a:gd name="connsiteY14" fmla="*/ 62267 h 170643"/>
                <a:gd name="connsiteX15" fmla="*/ 61103 w 90518"/>
                <a:gd name="connsiteY15" fmla="*/ 43766 h 170643"/>
                <a:gd name="connsiteX16" fmla="*/ 25019 w 90518"/>
                <a:gd name="connsiteY16" fmla="*/ 73879 h 170643"/>
                <a:gd name="connsiteX17" fmla="*/ 28524 w 90518"/>
                <a:gd name="connsiteY17" fmla="*/ 76438 h 170643"/>
                <a:gd name="connsiteX18" fmla="*/ 32648 w 90518"/>
                <a:gd name="connsiteY18" fmla="*/ 72895 h 170643"/>
                <a:gd name="connsiteX19" fmla="*/ 60484 w 90518"/>
                <a:gd name="connsiteY19" fmla="*/ 49277 h 170643"/>
                <a:gd name="connsiteX20" fmla="*/ 67495 w 90518"/>
                <a:gd name="connsiteY20" fmla="*/ 58921 h 170643"/>
                <a:gd name="connsiteX21" fmla="*/ 66876 w 90518"/>
                <a:gd name="connsiteY21" fmla="*/ 64826 h 170643"/>
                <a:gd name="connsiteX22" fmla="*/ 47082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95" y="7551"/>
                  </a:moveTo>
                  <a:cubicBezTo>
                    <a:pt x="90795" y="4205"/>
                    <a:pt x="88114" y="72"/>
                    <a:pt x="82547" y="72"/>
                  </a:cubicBezTo>
                  <a:cubicBezTo>
                    <a:pt x="76567" y="72"/>
                    <a:pt x="71000" y="5583"/>
                    <a:pt x="71000" y="10897"/>
                  </a:cubicBezTo>
                  <a:cubicBezTo>
                    <a:pt x="71000" y="14046"/>
                    <a:pt x="73474" y="18376"/>
                    <a:pt x="79248" y="18376"/>
                  </a:cubicBezTo>
                  <a:cubicBezTo>
                    <a:pt x="84815" y="18376"/>
                    <a:pt x="90795" y="13259"/>
                    <a:pt x="90795" y="7551"/>
                  </a:cubicBezTo>
                  <a:close/>
                  <a:moveTo>
                    <a:pt x="47082" y="140208"/>
                  </a:moveTo>
                  <a:cubicBezTo>
                    <a:pt x="43576" y="153788"/>
                    <a:pt x="32648" y="165204"/>
                    <a:pt x="20483" y="165204"/>
                  </a:cubicBezTo>
                  <a:cubicBezTo>
                    <a:pt x="17802" y="165204"/>
                    <a:pt x="15328" y="164810"/>
                    <a:pt x="13060" y="164023"/>
                  </a:cubicBezTo>
                  <a:cubicBezTo>
                    <a:pt x="18421" y="161661"/>
                    <a:pt x="20070" y="156938"/>
                    <a:pt x="20070" y="153985"/>
                  </a:cubicBezTo>
                  <a:cubicBezTo>
                    <a:pt x="20070" y="149262"/>
                    <a:pt x="16153" y="146703"/>
                    <a:pt x="12029" y="146703"/>
                  </a:cubicBezTo>
                  <a:cubicBezTo>
                    <a:pt x="5637" y="146703"/>
                    <a:pt x="276" y="152017"/>
                    <a:pt x="276" y="158315"/>
                  </a:cubicBezTo>
                  <a:cubicBezTo>
                    <a:pt x="276" y="165794"/>
                    <a:pt x="8317" y="170715"/>
                    <a:pt x="20689" y="170715"/>
                  </a:cubicBezTo>
                  <a:cubicBezTo>
                    <a:pt x="33061" y="170715"/>
                    <a:pt x="57185" y="163629"/>
                    <a:pt x="63577" y="139617"/>
                  </a:cubicBezTo>
                  <a:lnTo>
                    <a:pt x="82134" y="69156"/>
                  </a:lnTo>
                  <a:cubicBezTo>
                    <a:pt x="82753" y="66991"/>
                    <a:pt x="83165" y="65219"/>
                    <a:pt x="83165" y="62267"/>
                  </a:cubicBezTo>
                  <a:cubicBezTo>
                    <a:pt x="83165" y="51442"/>
                    <a:pt x="73474" y="43766"/>
                    <a:pt x="61103" y="43766"/>
                  </a:cubicBezTo>
                  <a:cubicBezTo>
                    <a:pt x="38215" y="43766"/>
                    <a:pt x="25019" y="71124"/>
                    <a:pt x="25019" y="73879"/>
                  </a:cubicBezTo>
                  <a:cubicBezTo>
                    <a:pt x="25019" y="76438"/>
                    <a:pt x="27906" y="76438"/>
                    <a:pt x="28524" y="76438"/>
                  </a:cubicBezTo>
                  <a:cubicBezTo>
                    <a:pt x="30999" y="76438"/>
                    <a:pt x="31205" y="75848"/>
                    <a:pt x="32648" y="72895"/>
                  </a:cubicBezTo>
                  <a:cubicBezTo>
                    <a:pt x="37803" y="61480"/>
                    <a:pt x="48525" y="49277"/>
                    <a:pt x="60484" y="49277"/>
                  </a:cubicBezTo>
                  <a:cubicBezTo>
                    <a:pt x="65639" y="49277"/>
                    <a:pt x="67495" y="52623"/>
                    <a:pt x="67495" y="58921"/>
                  </a:cubicBezTo>
                  <a:cubicBezTo>
                    <a:pt x="67495" y="61086"/>
                    <a:pt x="67082" y="63841"/>
                    <a:pt x="66876" y="64826"/>
                  </a:cubicBezTo>
                  <a:lnTo>
                    <a:pt x="47082"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4" name="任意形状 16583">
              <a:extLst>
                <a:ext uri="{FF2B5EF4-FFF2-40B4-BE49-F238E27FC236}">
                  <a16:creationId xmlns:a16="http://schemas.microsoft.com/office/drawing/2014/main" id="{7D9D88CB-881A-DA8B-1A69-674CA8F0C528}"/>
                </a:ext>
              </a:extLst>
            </p:cNvPr>
            <p:cNvSpPr/>
            <p:nvPr>
              <p:custDataLst>
                <p:tags r:id="rId76"/>
              </p:custDataLst>
            </p:nvPr>
          </p:nvSpPr>
          <p:spPr>
            <a:xfrm>
              <a:off x="8657831" y="5425078"/>
              <a:ext cx="195883" cy="187260"/>
            </a:xfrm>
            <a:custGeom>
              <a:avLst/>
              <a:gdLst>
                <a:gd name="connsiteX0" fmla="*/ 104262 w 195883"/>
                <a:gd name="connsiteY0" fmla="*/ 99324 h 187260"/>
                <a:gd name="connsiteX1" fmla="*/ 186445 w 195883"/>
                <a:gd name="connsiteY1" fmla="*/ 99324 h 187260"/>
                <a:gd name="connsiteX2" fmla="*/ 196165 w 195883"/>
                <a:gd name="connsiteY2" fmla="*/ 93700 h 187260"/>
                <a:gd name="connsiteX3" fmla="*/ 186445 w 195883"/>
                <a:gd name="connsiteY3" fmla="*/ 88077 h 187260"/>
                <a:gd name="connsiteX4" fmla="*/ 104262 w 195883"/>
                <a:gd name="connsiteY4" fmla="*/ 88077 h 187260"/>
                <a:gd name="connsiteX5" fmla="*/ 104262 w 195883"/>
                <a:gd name="connsiteY5" fmla="*/ 9349 h 187260"/>
                <a:gd name="connsiteX6" fmla="*/ 98371 w 195883"/>
                <a:gd name="connsiteY6" fmla="*/ 70 h 187260"/>
                <a:gd name="connsiteX7" fmla="*/ 92480 w 195883"/>
                <a:gd name="connsiteY7" fmla="*/ 9349 h 187260"/>
                <a:gd name="connsiteX8" fmla="*/ 92480 w 195883"/>
                <a:gd name="connsiteY8" fmla="*/ 88077 h 187260"/>
                <a:gd name="connsiteX9" fmla="*/ 10003 w 195883"/>
                <a:gd name="connsiteY9" fmla="*/ 88077 h 187260"/>
                <a:gd name="connsiteX10" fmla="*/ 282 w 195883"/>
                <a:gd name="connsiteY10" fmla="*/ 93700 h 187260"/>
                <a:gd name="connsiteX11" fmla="*/ 10003 w 195883"/>
                <a:gd name="connsiteY11" fmla="*/ 99324 h 187260"/>
                <a:gd name="connsiteX12" fmla="*/ 92480 w 195883"/>
                <a:gd name="connsiteY12" fmla="*/ 99324 h 187260"/>
                <a:gd name="connsiteX13" fmla="*/ 92480 w 195883"/>
                <a:gd name="connsiteY13" fmla="*/ 178052 h 187260"/>
                <a:gd name="connsiteX14" fmla="*/ 98371 w 195883"/>
                <a:gd name="connsiteY14" fmla="*/ 187331 h 187260"/>
                <a:gd name="connsiteX15" fmla="*/ 104262 w 195883"/>
                <a:gd name="connsiteY15" fmla="*/ 178052 h 187260"/>
                <a:gd name="connsiteX16" fmla="*/ 104262 w 195883"/>
                <a:gd name="connsiteY16" fmla="*/ 99324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262" y="99324"/>
                  </a:moveTo>
                  <a:lnTo>
                    <a:pt x="186445" y="99324"/>
                  </a:lnTo>
                  <a:cubicBezTo>
                    <a:pt x="190569" y="99324"/>
                    <a:pt x="196165" y="99324"/>
                    <a:pt x="196165" y="93700"/>
                  </a:cubicBezTo>
                  <a:cubicBezTo>
                    <a:pt x="196165" y="88077"/>
                    <a:pt x="190569" y="88077"/>
                    <a:pt x="186445" y="88077"/>
                  </a:cubicBezTo>
                  <a:lnTo>
                    <a:pt x="104262" y="88077"/>
                  </a:lnTo>
                  <a:lnTo>
                    <a:pt x="104262" y="9349"/>
                  </a:lnTo>
                  <a:cubicBezTo>
                    <a:pt x="104262" y="5412"/>
                    <a:pt x="104262" y="70"/>
                    <a:pt x="98371" y="70"/>
                  </a:cubicBezTo>
                  <a:cubicBezTo>
                    <a:pt x="92480" y="70"/>
                    <a:pt x="92480" y="5412"/>
                    <a:pt x="92480" y="9349"/>
                  </a:cubicBezTo>
                  <a:lnTo>
                    <a:pt x="92480" y="88077"/>
                  </a:lnTo>
                  <a:lnTo>
                    <a:pt x="10003" y="88077"/>
                  </a:lnTo>
                  <a:cubicBezTo>
                    <a:pt x="5879" y="88077"/>
                    <a:pt x="282" y="88077"/>
                    <a:pt x="282" y="93700"/>
                  </a:cubicBezTo>
                  <a:cubicBezTo>
                    <a:pt x="282" y="99324"/>
                    <a:pt x="5879" y="99324"/>
                    <a:pt x="10003" y="99324"/>
                  </a:cubicBezTo>
                  <a:lnTo>
                    <a:pt x="92480" y="99324"/>
                  </a:lnTo>
                  <a:lnTo>
                    <a:pt x="92480" y="178052"/>
                  </a:lnTo>
                  <a:cubicBezTo>
                    <a:pt x="92480" y="181988"/>
                    <a:pt x="92480" y="187331"/>
                    <a:pt x="98371" y="187331"/>
                  </a:cubicBezTo>
                  <a:cubicBezTo>
                    <a:pt x="104262" y="187331"/>
                    <a:pt x="104262" y="181988"/>
                    <a:pt x="104262" y="178052"/>
                  </a:cubicBezTo>
                  <a:lnTo>
                    <a:pt x="104262" y="9932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5" name="任意形状 16584">
              <a:extLst>
                <a:ext uri="{FF2B5EF4-FFF2-40B4-BE49-F238E27FC236}">
                  <a16:creationId xmlns:a16="http://schemas.microsoft.com/office/drawing/2014/main" id="{D2532E6E-59FD-28E2-C000-1BD3B3F6AF08}"/>
                </a:ext>
              </a:extLst>
            </p:cNvPr>
            <p:cNvSpPr/>
            <p:nvPr>
              <p:custDataLst>
                <p:tags r:id="rId77"/>
              </p:custDataLst>
            </p:nvPr>
          </p:nvSpPr>
          <p:spPr>
            <a:xfrm>
              <a:off x="8944438" y="5464723"/>
              <a:ext cx="151404" cy="127370"/>
            </a:xfrm>
            <a:custGeom>
              <a:avLst/>
              <a:gdLst>
                <a:gd name="connsiteX0" fmla="*/ 94846 w 151404"/>
                <a:gd name="connsiteY0" fmla="*/ 108603 h 127370"/>
                <a:gd name="connsiteX1" fmla="*/ 121062 w 151404"/>
                <a:gd name="connsiteY1" fmla="*/ 127441 h 127370"/>
                <a:gd name="connsiteX2" fmla="*/ 142860 w 151404"/>
                <a:gd name="connsiteY2" fmla="*/ 111977 h 127370"/>
                <a:gd name="connsiteX3" fmla="*/ 151697 w 151404"/>
                <a:gd name="connsiteY3" fmla="*/ 84141 h 127370"/>
                <a:gd name="connsiteX4" fmla="*/ 148162 w 151404"/>
                <a:gd name="connsiteY4" fmla="*/ 81329 h 127370"/>
                <a:gd name="connsiteX5" fmla="*/ 144038 w 151404"/>
                <a:gd name="connsiteY5" fmla="*/ 86390 h 127370"/>
                <a:gd name="connsiteX6" fmla="*/ 121946 w 151404"/>
                <a:gd name="connsiteY6" fmla="*/ 121255 h 127370"/>
                <a:gd name="connsiteX7" fmla="*/ 112815 w 151404"/>
                <a:gd name="connsiteY7" fmla="*/ 108321 h 127370"/>
                <a:gd name="connsiteX8" fmla="*/ 118706 w 151404"/>
                <a:gd name="connsiteY8" fmla="*/ 79080 h 127370"/>
                <a:gd name="connsiteX9" fmla="*/ 126954 w 151404"/>
                <a:gd name="connsiteY9" fmla="*/ 48713 h 127370"/>
                <a:gd name="connsiteX10" fmla="*/ 131961 w 151404"/>
                <a:gd name="connsiteY10" fmla="*/ 29593 h 127370"/>
                <a:gd name="connsiteX11" fmla="*/ 136379 w 151404"/>
                <a:gd name="connsiteY11" fmla="*/ 10755 h 127370"/>
                <a:gd name="connsiteX12" fmla="*/ 127837 w 151404"/>
                <a:gd name="connsiteY12" fmla="*/ 3163 h 127370"/>
                <a:gd name="connsiteX13" fmla="*/ 116349 w 151404"/>
                <a:gd name="connsiteY13" fmla="*/ 13004 h 127370"/>
                <a:gd name="connsiteX14" fmla="*/ 94257 w 151404"/>
                <a:gd name="connsiteY14" fmla="*/ 97637 h 127370"/>
                <a:gd name="connsiteX15" fmla="*/ 60677 w 151404"/>
                <a:gd name="connsiteY15" fmla="*/ 121255 h 127370"/>
                <a:gd name="connsiteX16" fmla="*/ 42415 w 151404"/>
                <a:gd name="connsiteY16" fmla="*/ 98199 h 127370"/>
                <a:gd name="connsiteX17" fmla="*/ 58321 w 151404"/>
                <a:gd name="connsiteY17" fmla="*/ 40840 h 127370"/>
                <a:gd name="connsiteX18" fmla="*/ 63328 w 151404"/>
                <a:gd name="connsiteY18" fmla="*/ 23126 h 127370"/>
                <a:gd name="connsiteX19" fmla="*/ 39174 w 151404"/>
                <a:gd name="connsiteY19" fmla="*/ 70 h 127370"/>
                <a:gd name="connsiteX20" fmla="*/ 292 w 151404"/>
                <a:gd name="connsiteY20" fmla="*/ 43371 h 127370"/>
                <a:gd name="connsiteX21" fmla="*/ 3827 w 151404"/>
                <a:gd name="connsiteY21" fmla="*/ 46182 h 127370"/>
                <a:gd name="connsiteX22" fmla="*/ 8540 w 151404"/>
                <a:gd name="connsiteY22" fmla="*/ 41121 h 127370"/>
                <a:gd name="connsiteX23" fmla="*/ 38291 w 151404"/>
                <a:gd name="connsiteY23" fmla="*/ 6256 h 127370"/>
                <a:gd name="connsiteX24" fmla="*/ 45655 w 151404"/>
                <a:gd name="connsiteY24" fmla="*/ 15535 h 127370"/>
                <a:gd name="connsiteX25" fmla="*/ 40647 w 151404"/>
                <a:gd name="connsiteY25" fmla="*/ 34654 h 127370"/>
                <a:gd name="connsiteX26" fmla="*/ 23563 w 151404"/>
                <a:gd name="connsiteY26" fmla="*/ 93700 h 127370"/>
                <a:gd name="connsiteX27" fmla="*/ 59794 w 151404"/>
                <a:gd name="connsiteY27" fmla="*/ 127441 h 127370"/>
                <a:gd name="connsiteX28" fmla="*/ 94846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846" y="108603"/>
                  </a:moveTo>
                  <a:cubicBezTo>
                    <a:pt x="98087" y="120131"/>
                    <a:pt x="108396" y="127441"/>
                    <a:pt x="121062" y="127441"/>
                  </a:cubicBezTo>
                  <a:cubicBezTo>
                    <a:pt x="131372" y="127441"/>
                    <a:pt x="138147" y="120974"/>
                    <a:pt x="142860" y="111977"/>
                  </a:cubicBezTo>
                  <a:cubicBezTo>
                    <a:pt x="147867" y="101854"/>
                    <a:pt x="151697" y="84703"/>
                    <a:pt x="151697" y="84141"/>
                  </a:cubicBezTo>
                  <a:cubicBezTo>
                    <a:pt x="151697" y="81329"/>
                    <a:pt x="149046" y="81329"/>
                    <a:pt x="148162" y="81329"/>
                  </a:cubicBezTo>
                  <a:cubicBezTo>
                    <a:pt x="145216" y="81329"/>
                    <a:pt x="144922" y="82454"/>
                    <a:pt x="144038" y="86390"/>
                  </a:cubicBezTo>
                  <a:cubicBezTo>
                    <a:pt x="139914" y="102136"/>
                    <a:pt x="134318" y="121255"/>
                    <a:pt x="121946" y="121255"/>
                  </a:cubicBezTo>
                  <a:cubicBezTo>
                    <a:pt x="115760" y="121255"/>
                    <a:pt x="112815" y="117600"/>
                    <a:pt x="112815" y="108321"/>
                  </a:cubicBezTo>
                  <a:cubicBezTo>
                    <a:pt x="112815" y="102136"/>
                    <a:pt x="116349" y="88921"/>
                    <a:pt x="118706" y="79080"/>
                  </a:cubicBezTo>
                  <a:lnTo>
                    <a:pt x="126954" y="48713"/>
                  </a:lnTo>
                  <a:cubicBezTo>
                    <a:pt x="127837" y="44495"/>
                    <a:pt x="130783" y="33811"/>
                    <a:pt x="131961" y="29593"/>
                  </a:cubicBezTo>
                  <a:cubicBezTo>
                    <a:pt x="133434" y="23126"/>
                    <a:pt x="136379" y="12442"/>
                    <a:pt x="136379" y="10755"/>
                  </a:cubicBezTo>
                  <a:cubicBezTo>
                    <a:pt x="136379" y="5694"/>
                    <a:pt x="132256" y="3163"/>
                    <a:pt x="127837" y="3163"/>
                  </a:cubicBezTo>
                  <a:cubicBezTo>
                    <a:pt x="126364" y="3163"/>
                    <a:pt x="118706" y="3444"/>
                    <a:pt x="116349" y="13004"/>
                  </a:cubicBezTo>
                  <a:cubicBezTo>
                    <a:pt x="110753" y="33530"/>
                    <a:pt x="97792" y="82735"/>
                    <a:pt x="94257" y="97637"/>
                  </a:cubicBezTo>
                  <a:cubicBezTo>
                    <a:pt x="93963" y="98762"/>
                    <a:pt x="82180" y="121255"/>
                    <a:pt x="60677" y="121255"/>
                  </a:cubicBezTo>
                  <a:cubicBezTo>
                    <a:pt x="45360" y="121255"/>
                    <a:pt x="42415" y="108603"/>
                    <a:pt x="42415" y="98199"/>
                  </a:cubicBezTo>
                  <a:cubicBezTo>
                    <a:pt x="42415" y="82454"/>
                    <a:pt x="50662" y="60241"/>
                    <a:pt x="58321" y="40840"/>
                  </a:cubicBezTo>
                  <a:cubicBezTo>
                    <a:pt x="61856" y="32405"/>
                    <a:pt x="63328" y="28469"/>
                    <a:pt x="63328" y="23126"/>
                  </a:cubicBezTo>
                  <a:cubicBezTo>
                    <a:pt x="63328" y="10474"/>
                    <a:pt x="53902" y="70"/>
                    <a:pt x="39174" y="70"/>
                  </a:cubicBezTo>
                  <a:cubicBezTo>
                    <a:pt x="11191" y="70"/>
                    <a:pt x="292" y="40840"/>
                    <a:pt x="292" y="43371"/>
                  </a:cubicBezTo>
                  <a:cubicBezTo>
                    <a:pt x="292" y="46182"/>
                    <a:pt x="3238" y="46182"/>
                    <a:pt x="3827" y="46182"/>
                  </a:cubicBezTo>
                  <a:cubicBezTo>
                    <a:pt x="6773" y="46182"/>
                    <a:pt x="7067" y="45620"/>
                    <a:pt x="8540" y="41121"/>
                  </a:cubicBezTo>
                  <a:cubicBezTo>
                    <a:pt x="15904" y="16659"/>
                    <a:pt x="27097" y="6256"/>
                    <a:pt x="38291" y="6256"/>
                  </a:cubicBezTo>
                  <a:cubicBezTo>
                    <a:pt x="40942" y="6256"/>
                    <a:pt x="45655" y="6537"/>
                    <a:pt x="45655" y="15535"/>
                  </a:cubicBezTo>
                  <a:cubicBezTo>
                    <a:pt x="45655" y="22283"/>
                    <a:pt x="42415" y="30437"/>
                    <a:pt x="40647" y="34654"/>
                  </a:cubicBezTo>
                  <a:cubicBezTo>
                    <a:pt x="29748" y="62490"/>
                    <a:pt x="23563" y="79923"/>
                    <a:pt x="23563" y="93700"/>
                  </a:cubicBezTo>
                  <a:cubicBezTo>
                    <a:pt x="23563" y="120412"/>
                    <a:pt x="43887" y="127441"/>
                    <a:pt x="59794" y="127441"/>
                  </a:cubicBezTo>
                  <a:cubicBezTo>
                    <a:pt x="79235" y="127441"/>
                    <a:pt x="89839" y="114788"/>
                    <a:pt x="94846"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6" name="任意形状 16585">
              <a:extLst>
                <a:ext uri="{FF2B5EF4-FFF2-40B4-BE49-F238E27FC236}">
                  <a16:creationId xmlns:a16="http://schemas.microsoft.com/office/drawing/2014/main" id="{FEB85741-4C03-E9B6-DCA0-BF56523DAE4D}"/>
                </a:ext>
              </a:extLst>
            </p:cNvPr>
            <p:cNvSpPr/>
            <p:nvPr>
              <p:custDataLst>
                <p:tags r:id="rId78"/>
              </p:custDataLst>
            </p:nvPr>
          </p:nvSpPr>
          <p:spPr>
            <a:xfrm>
              <a:off x="9114211" y="5500684"/>
              <a:ext cx="62476" cy="132460"/>
            </a:xfrm>
            <a:custGeom>
              <a:avLst/>
              <a:gdLst>
                <a:gd name="connsiteX0" fmla="*/ 57413 w 62476"/>
                <a:gd name="connsiteY0" fmla="*/ 7551 h 132460"/>
                <a:gd name="connsiteX1" fmla="*/ 49166 w 62476"/>
                <a:gd name="connsiteY1" fmla="*/ 72 h 132460"/>
                <a:gd name="connsiteX2" fmla="*/ 37619 w 62476"/>
                <a:gd name="connsiteY2" fmla="*/ 10897 h 132460"/>
                <a:gd name="connsiteX3" fmla="*/ 45867 w 62476"/>
                <a:gd name="connsiteY3" fmla="*/ 18376 h 132460"/>
                <a:gd name="connsiteX4" fmla="*/ 57413 w 62476"/>
                <a:gd name="connsiteY4" fmla="*/ 7551 h 132460"/>
                <a:gd name="connsiteX5" fmla="*/ 15350 w 62476"/>
                <a:gd name="connsiteY5" fmla="*/ 107536 h 132460"/>
                <a:gd name="connsiteX6" fmla="*/ 13494 w 62476"/>
                <a:gd name="connsiteY6" fmla="*/ 115802 h 132460"/>
                <a:gd name="connsiteX7" fmla="*/ 33083 w 62476"/>
                <a:gd name="connsiteY7" fmla="*/ 132532 h 132460"/>
                <a:gd name="connsiteX8" fmla="*/ 62774 w 62476"/>
                <a:gd name="connsiteY8" fmla="*/ 102418 h 132460"/>
                <a:gd name="connsiteX9" fmla="*/ 59475 w 62476"/>
                <a:gd name="connsiteY9" fmla="*/ 99860 h 132460"/>
                <a:gd name="connsiteX10" fmla="*/ 55558 w 62476"/>
                <a:gd name="connsiteY10" fmla="*/ 103206 h 132460"/>
                <a:gd name="connsiteX11" fmla="*/ 33701 w 62476"/>
                <a:gd name="connsiteY11" fmla="*/ 127021 h 132460"/>
                <a:gd name="connsiteX12" fmla="*/ 28546 w 62476"/>
                <a:gd name="connsiteY12" fmla="*/ 120132 h 132460"/>
                <a:gd name="connsiteX13" fmla="*/ 31846 w 62476"/>
                <a:gd name="connsiteY13" fmla="*/ 107536 h 132460"/>
                <a:gd name="connsiteX14" fmla="*/ 38444 w 62476"/>
                <a:gd name="connsiteY14" fmla="*/ 91790 h 132460"/>
                <a:gd name="connsiteX15" fmla="*/ 48547 w 62476"/>
                <a:gd name="connsiteY15" fmla="*/ 66794 h 132460"/>
                <a:gd name="connsiteX16" fmla="*/ 49784 w 62476"/>
                <a:gd name="connsiteY16" fmla="*/ 60496 h 132460"/>
                <a:gd name="connsiteX17" fmla="*/ 30196 w 62476"/>
                <a:gd name="connsiteY17" fmla="*/ 43766 h 132460"/>
                <a:gd name="connsiteX18" fmla="*/ 298 w 62476"/>
                <a:gd name="connsiteY18" fmla="*/ 73879 h 132460"/>
                <a:gd name="connsiteX19" fmla="*/ 3803 w 62476"/>
                <a:gd name="connsiteY19" fmla="*/ 76438 h 132460"/>
                <a:gd name="connsiteX20" fmla="*/ 7515 w 62476"/>
                <a:gd name="connsiteY20" fmla="*/ 73289 h 132460"/>
                <a:gd name="connsiteX21" fmla="*/ 29577 w 62476"/>
                <a:gd name="connsiteY21" fmla="*/ 49277 h 132460"/>
                <a:gd name="connsiteX22" fmla="*/ 34732 w 62476"/>
                <a:gd name="connsiteY22" fmla="*/ 56165 h 132460"/>
                <a:gd name="connsiteX23" fmla="*/ 28340 w 62476"/>
                <a:gd name="connsiteY23" fmla="*/ 75848 h 132460"/>
                <a:gd name="connsiteX24" fmla="*/ 15350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413" y="7551"/>
                  </a:moveTo>
                  <a:cubicBezTo>
                    <a:pt x="57413" y="4402"/>
                    <a:pt x="54939" y="72"/>
                    <a:pt x="49166" y="72"/>
                  </a:cubicBezTo>
                  <a:cubicBezTo>
                    <a:pt x="43598" y="72"/>
                    <a:pt x="37619" y="5189"/>
                    <a:pt x="37619" y="10897"/>
                  </a:cubicBezTo>
                  <a:cubicBezTo>
                    <a:pt x="37619" y="14243"/>
                    <a:pt x="40299" y="18376"/>
                    <a:pt x="45867" y="18376"/>
                  </a:cubicBezTo>
                  <a:cubicBezTo>
                    <a:pt x="51846" y="18376"/>
                    <a:pt x="57413" y="12865"/>
                    <a:pt x="57413" y="7551"/>
                  </a:cubicBezTo>
                  <a:close/>
                  <a:moveTo>
                    <a:pt x="15350" y="107536"/>
                  </a:moveTo>
                  <a:cubicBezTo>
                    <a:pt x="14525" y="110094"/>
                    <a:pt x="13494" y="112456"/>
                    <a:pt x="13494" y="115802"/>
                  </a:cubicBezTo>
                  <a:cubicBezTo>
                    <a:pt x="13494" y="125053"/>
                    <a:pt x="21742" y="132532"/>
                    <a:pt x="33083" y="132532"/>
                  </a:cubicBezTo>
                  <a:cubicBezTo>
                    <a:pt x="53702" y="132532"/>
                    <a:pt x="62774" y="105371"/>
                    <a:pt x="62774" y="102418"/>
                  </a:cubicBezTo>
                  <a:cubicBezTo>
                    <a:pt x="62774" y="99860"/>
                    <a:pt x="60094" y="99860"/>
                    <a:pt x="59475" y="99860"/>
                  </a:cubicBezTo>
                  <a:cubicBezTo>
                    <a:pt x="56589" y="99860"/>
                    <a:pt x="56382" y="101041"/>
                    <a:pt x="55558" y="103206"/>
                  </a:cubicBezTo>
                  <a:cubicBezTo>
                    <a:pt x="50815" y="118951"/>
                    <a:pt x="41743" y="127021"/>
                    <a:pt x="33701" y="127021"/>
                  </a:cubicBezTo>
                  <a:cubicBezTo>
                    <a:pt x="29577" y="127021"/>
                    <a:pt x="28546" y="124462"/>
                    <a:pt x="28546" y="120132"/>
                  </a:cubicBezTo>
                  <a:cubicBezTo>
                    <a:pt x="28546" y="115605"/>
                    <a:pt x="29990" y="111866"/>
                    <a:pt x="31846" y="107536"/>
                  </a:cubicBezTo>
                  <a:cubicBezTo>
                    <a:pt x="33907" y="102221"/>
                    <a:pt x="36176" y="96907"/>
                    <a:pt x="38444" y="91790"/>
                  </a:cubicBezTo>
                  <a:cubicBezTo>
                    <a:pt x="40299" y="87066"/>
                    <a:pt x="47722" y="69156"/>
                    <a:pt x="48547" y="66794"/>
                  </a:cubicBezTo>
                  <a:cubicBezTo>
                    <a:pt x="49166" y="64826"/>
                    <a:pt x="49784" y="62464"/>
                    <a:pt x="49784" y="60496"/>
                  </a:cubicBezTo>
                  <a:cubicBezTo>
                    <a:pt x="49784" y="51245"/>
                    <a:pt x="41537" y="43766"/>
                    <a:pt x="30196" y="43766"/>
                  </a:cubicBezTo>
                  <a:cubicBezTo>
                    <a:pt x="9783" y="43766"/>
                    <a:pt x="298" y="70533"/>
                    <a:pt x="298" y="73879"/>
                  </a:cubicBezTo>
                  <a:cubicBezTo>
                    <a:pt x="298" y="76438"/>
                    <a:pt x="3185" y="76438"/>
                    <a:pt x="3803" y="76438"/>
                  </a:cubicBezTo>
                  <a:cubicBezTo>
                    <a:pt x="6690" y="76438"/>
                    <a:pt x="6896" y="75454"/>
                    <a:pt x="7515" y="73289"/>
                  </a:cubicBezTo>
                  <a:cubicBezTo>
                    <a:pt x="12876" y="56362"/>
                    <a:pt x="21948" y="49277"/>
                    <a:pt x="29577" y="49277"/>
                  </a:cubicBezTo>
                  <a:cubicBezTo>
                    <a:pt x="32876" y="49277"/>
                    <a:pt x="34732" y="50851"/>
                    <a:pt x="34732" y="56165"/>
                  </a:cubicBezTo>
                  <a:cubicBezTo>
                    <a:pt x="34732" y="60692"/>
                    <a:pt x="33495" y="63645"/>
                    <a:pt x="28340" y="75848"/>
                  </a:cubicBezTo>
                  <a:lnTo>
                    <a:pt x="15350"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7" name="任意形状 16586">
              <a:extLst>
                <a:ext uri="{FF2B5EF4-FFF2-40B4-BE49-F238E27FC236}">
                  <a16:creationId xmlns:a16="http://schemas.microsoft.com/office/drawing/2014/main" id="{56864F56-06C8-BAE8-0B12-326BD12A8FEC}"/>
                </a:ext>
              </a:extLst>
            </p:cNvPr>
            <p:cNvSpPr/>
            <p:nvPr>
              <p:custDataLst>
                <p:tags r:id="rId79"/>
              </p:custDataLst>
            </p:nvPr>
          </p:nvSpPr>
          <p:spPr>
            <a:xfrm>
              <a:off x="9210954" y="5608542"/>
              <a:ext cx="26186" cy="60620"/>
            </a:xfrm>
            <a:custGeom>
              <a:avLst/>
              <a:gdLst>
                <a:gd name="connsiteX0" fmla="*/ 20714 w 26186"/>
                <a:gd name="connsiteY0" fmla="*/ 19557 h 60620"/>
                <a:gd name="connsiteX1" fmla="*/ 4631 w 26186"/>
                <a:gd name="connsiteY1" fmla="*/ 55575 h 60620"/>
                <a:gd name="connsiteX2" fmla="*/ 3188 w 26186"/>
                <a:gd name="connsiteY2" fmla="*/ 57937 h 60620"/>
                <a:gd name="connsiteX3" fmla="*/ 6074 w 26186"/>
                <a:gd name="connsiteY3" fmla="*/ 60692 h 60620"/>
                <a:gd name="connsiteX4" fmla="*/ 26487 w 26186"/>
                <a:gd name="connsiteY4" fmla="*/ 21525 h 60620"/>
                <a:gd name="connsiteX5" fmla="*/ 12054 w 26186"/>
                <a:gd name="connsiteY5" fmla="*/ 72 h 60620"/>
                <a:gd name="connsiteX6" fmla="*/ 301 w 26186"/>
                <a:gd name="connsiteY6" fmla="*/ 11290 h 60620"/>
                <a:gd name="connsiteX7" fmla="*/ 12260 w 26186"/>
                <a:gd name="connsiteY7" fmla="*/ 22706 h 60620"/>
                <a:gd name="connsiteX8" fmla="*/ 20714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714" y="19557"/>
                  </a:moveTo>
                  <a:cubicBezTo>
                    <a:pt x="20714" y="30382"/>
                    <a:pt x="18652" y="42979"/>
                    <a:pt x="4631" y="55575"/>
                  </a:cubicBezTo>
                  <a:cubicBezTo>
                    <a:pt x="3806" y="56362"/>
                    <a:pt x="3188" y="56953"/>
                    <a:pt x="3188" y="57937"/>
                  </a:cubicBezTo>
                  <a:cubicBezTo>
                    <a:pt x="3188" y="59315"/>
                    <a:pt x="4837" y="60692"/>
                    <a:pt x="6074" y="60692"/>
                  </a:cubicBezTo>
                  <a:cubicBezTo>
                    <a:pt x="8961" y="60692"/>
                    <a:pt x="26487" y="44947"/>
                    <a:pt x="26487" y="21525"/>
                  </a:cubicBezTo>
                  <a:cubicBezTo>
                    <a:pt x="26487" y="9322"/>
                    <a:pt x="21539" y="72"/>
                    <a:pt x="12054" y="72"/>
                  </a:cubicBezTo>
                  <a:cubicBezTo>
                    <a:pt x="5249" y="72"/>
                    <a:pt x="301" y="5189"/>
                    <a:pt x="301" y="11290"/>
                  </a:cubicBezTo>
                  <a:cubicBezTo>
                    <a:pt x="301" y="17589"/>
                    <a:pt x="5043" y="22706"/>
                    <a:pt x="12260" y="22706"/>
                  </a:cubicBezTo>
                  <a:cubicBezTo>
                    <a:pt x="17209" y="22706"/>
                    <a:pt x="20508" y="19557"/>
                    <a:pt x="20714"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8" name="任意形状 16587">
              <a:extLst>
                <a:ext uri="{FF2B5EF4-FFF2-40B4-BE49-F238E27FC236}">
                  <a16:creationId xmlns:a16="http://schemas.microsoft.com/office/drawing/2014/main" id="{83A0A283-645B-4241-CE29-8B8B484FB99B}"/>
                </a:ext>
              </a:extLst>
            </p:cNvPr>
            <p:cNvSpPr/>
            <p:nvPr>
              <p:custDataLst>
                <p:tags r:id="rId80"/>
              </p:custDataLst>
            </p:nvPr>
          </p:nvSpPr>
          <p:spPr>
            <a:xfrm>
              <a:off x="9257819" y="5500684"/>
              <a:ext cx="90518" cy="170643"/>
            </a:xfrm>
            <a:custGeom>
              <a:avLst/>
              <a:gdLst>
                <a:gd name="connsiteX0" fmla="*/ 90822 w 90518"/>
                <a:gd name="connsiteY0" fmla="*/ 7551 h 170643"/>
                <a:gd name="connsiteX1" fmla="*/ 82574 w 90518"/>
                <a:gd name="connsiteY1" fmla="*/ 72 h 170643"/>
                <a:gd name="connsiteX2" fmla="*/ 71027 w 90518"/>
                <a:gd name="connsiteY2" fmla="*/ 10897 h 170643"/>
                <a:gd name="connsiteX3" fmla="*/ 79275 w 90518"/>
                <a:gd name="connsiteY3" fmla="*/ 18376 h 170643"/>
                <a:gd name="connsiteX4" fmla="*/ 90822 w 90518"/>
                <a:gd name="connsiteY4" fmla="*/ 7551 h 170643"/>
                <a:gd name="connsiteX5" fmla="*/ 47109 w 90518"/>
                <a:gd name="connsiteY5" fmla="*/ 140208 h 170643"/>
                <a:gd name="connsiteX6" fmla="*/ 20510 w 90518"/>
                <a:gd name="connsiteY6" fmla="*/ 165204 h 170643"/>
                <a:gd name="connsiteX7" fmla="*/ 13087 w 90518"/>
                <a:gd name="connsiteY7" fmla="*/ 164023 h 170643"/>
                <a:gd name="connsiteX8" fmla="*/ 20098 w 90518"/>
                <a:gd name="connsiteY8" fmla="*/ 153985 h 170643"/>
                <a:gd name="connsiteX9" fmla="*/ 12056 w 90518"/>
                <a:gd name="connsiteY9" fmla="*/ 146703 h 170643"/>
                <a:gd name="connsiteX10" fmla="*/ 303 w 90518"/>
                <a:gd name="connsiteY10" fmla="*/ 158315 h 170643"/>
                <a:gd name="connsiteX11" fmla="*/ 20716 w 90518"/>
                <a:gd name="connsiteY11" fmla="*/ 170715 h 170643"/>
                <a:gd name="connsiteX12" fmla="*/ 63604 w 90518"/>
                <a:gd name="connsiteY12" fmla="*/ 139617 h 170643"/>
                <a:gd name="connsiteX13" fmla="*/ 82162 w 90518"/>
                <a:gd name="connsiteY13" fmla="*/ 69156 h 170643"/>
                <a:gd name="connsiteX14" fmla="*/ 83193 w 90518"/>
                <a:gd name="connsiteY14" fmla="*/ 62267 h 170643"/>
                <a:gd name="connsiteX15" fmla="*/ 61130 w 90518"/>
                <a:gd name="connsiteY15" fmla="*/ 43766 h 170643"/>
                <a:gd name="connsiteX16" fmla="*/ 25046 w 90518"/>
                <a:gd name="connsiteY16" fmla="*/ 73879 h 170643"/>
                <a:gd name="connsiteX17" fmla="*/ 28552 w 90518"/>
                <a:gd name="connsiteY17" fmla="*/ 76438 h 170643"/>
                <a:gd name="connsiteX18" fmla="*/ 32675 w 90518"/>
                <a:gd name="connsiteY18" fmla="*/ 72895 h 170643"/>
                <a:gd name="connsiteX19" fmla="*/ 60511 w 90518"/>
                <a:gd name="connsiteY19" fmla="*/ 49277 h 170643"/>
                <a:gd name="connsiteX20" fmla="*/ 67522 w 90518"/>
                <a:gd name="connsiteY20" fmla="*/ 58921 h 170643"/>
                <a:gd name="connsiteX21" fmla="*/ 66903 w 90518"/>
                <a:gd name="connsiteY21" fmla="*/ 64826 h 170643"/>
                <a:gd name="connsiteX22" fmla="*/ 47109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822" y="7551"/>
                  </a:moveTo>
                  <a:cubicBezTo>
                    <a:pt x="90822" y="4205"/>
                    <a:pt x="88141" y="72"/>
                    <a:pt x="82574" y="72"/>
                  </a:cubicBezTo>
                  <a:cubicBezTo>
                    <a:pt x="76595" y="72"/>
                    <a:pt x="71027" y="5583"/>
                    <a:pt x="71027" y="10897"/>
                  </a:cubicBezTo>
                  <a:cubicBezTo>
                    <a:pt x="71027" y="14046"/>
                    <a:pt x="73502" y="18376"/>
                    <a:pt x="79275" y="18376"/>
                  </a:cubicBezTo>
                  <a:cubicBezTo>
                    <a:pt x="84842" y="18376"/>
                    <a:pt x="90822" y="13259"/>
                    <a:pt x="90822" y="7551"/>
                  </a:cubicBezTo>
                  <a:close/>
                  <a:moveTo>
                    <a:pt x="47109" y="140208"/>
                  </a:moveTo>
                  <a:cubicBezTo>
                    <a:pt x="43604" y="153788"/>
                    <a:pt x="32675" y="165204"/>
                    <a:pt x="20510" y="165204"/>
                  </a:cubicBezTo>
                  <a:cubicBezTo>
                    <a:pt x="17830" y="165204"/>
                    <a:pt x="15355" y="164810"/>
                    <a:pt x="13087" y="164023"/>
                  </a:cubicBezTo>
                  <a:cubicBezTo>
                    <a:pt x="18448" y="161661"/>
                    <a:pt x="20098" y="156938"/>
                    <a:pt x="20098" y="153985"/>
                  </a:cubicBezTo>
                  <a:cubicBezTo>
                    <a:pt x="20098" y="149262"/>
                    <a:pt x="16180" y="146703"/>
                    <a:pt x="12056" y="146703"/>
                  </a:cubicBezTo>
                  <a:cubicBezTo>
                    <a:pt x="5664" y="146703"/>
                    <a:pt x="303" y="152017"/>
                    <a:pt x="303" y="158315"/>
                  </a:cubicBezTo>
                  <a:cubicBezTo>
                    <a:pt x="303" y="165794"/>
                    <a:pt x="8345" y="170715"/>
                    <a:pt x="20716" y="170715"/>
                  </a:cubicBezTo>
                  <a:cubicBezTo>
                    <a:pt x="33088" y="170715"/>
                    <a:pt x="57212" y="163629"/>
                    <a:pt x="63604" y="139617"/>
                  </a:cubicBezTo>
                  <a:lnTo>
                    <a:pt x="82162" y="69156"/>
                  </a:lnTo>
                  <a:cubicBezTo>
                    <a:pt x="82780" y="66991"/>
                    <a:pt x="83193" y="65219"/>
                    <a:pt x="83193" y="62267"/>
                  </a:cubicBezTo>
                  <a:cubicBezTo>
                    <a:pt x="83193" y="51442"/>
                    <a:pt x="73502" y="43766"/>
                    <a:pt x="61130" y="43766"/>
                  </a:cubicBezTo>
                  <a:cubicBezTo>
                    <a:pt x="38243" y="43766"/>
                    <a:pt x="25046" y="71124"/>
                    <a:pt x="25046" y="73879"/>
                  </a:cubicBezTo>
                  <a:cubicBezTo>
                    <a:pt x="25046" y="76438"/>
                    <a:pt x="27933" y="76438"/>
                    <a:pt x="28552" y="76438"/>
                  </a:cubicBezTo>
                  <a:cubicBezTo>
                    <a:pt x="31026" y="76438"/>
                    <a:pt x="31232" y="75848"/>
                    <a:pt x="32675" y="72895"/>
                  </a:cubicBezTo>
                  <a:cubicBezTo>
                    <a:pt x="37830" y="61480"/>
                    <a:pt x="48552" y="49277"/>
                    <a:pt x="60511" y="49277"/>
                  </a:cubicBezTo>
                  <a:cubicBezTo>
                    <a:pt x="65666" y="49277"/>
                    <a:pt x="67522" y="52623"/>
                    <a:pt x="67522" y="58921"/>
                  </a:cubicBezTo>
                  <a:cubicBezTo>
                    <a:pt x="67522" y="61086"/>
                    <a:pt x="67110" y="63841"/>
                    <a:pt x="66903" y="64826"/>
                  </a:cubicBezTo>
                  <a:lnTo>
                    <a:pt x="47109"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9" name="任意形状 16588">
              <a:extLst>
                <a:ext uri="{FF2B5EF4-FFF2-40B4-BE49-F238E27FC236}">
                  <a16:creationId xmlns:a16="http://schemas.microsoft.com/office/drawing/2014/main" id="{EC70D843-380D-9309-0158-2D58BA7D4530}"/>
                </a:ext>
              </a:extLst>
            </p:cNvPr>
            <p:cNvSpPr/>
            <p:nvPr>
              <p:custDataLst>
                <p:tags r:id="rId81"/>
              </p:custDataLst>
            </p:nvPr>
          </p:nvSpPr>
          <p:spPr>
            <a:xfrm>
              <a:off x="9389475" y="5577051"/>
              <a:ext cx="139386" cy="9644"/>
            </a:xfrm>
            <a:custGeom>
              <a:avLst/>
              <a:gdLst>
                <a:gd name="connsiteX0" fmla="*/ 131445 w 139386"/>
                <a:gd name="connsiteY0" fmla="*/ 9716 h 9644"/>
                <a:gd name="connsiteX1" fmla="*/ 139693 w 139386"/>
                <a:gd name="connsiteY1" fmla="*/ 4992 h 9644"/>
                <a:gd name="connsiteX2" fmla="*/ 131445 w 139386"/>
                <a:gd name="connsiteY2" fmla="*/ 72 h 9644"/>
                <a:gd name="connsiteX3" fmla="*/ 8555 w 139386"/>
                <a:gd name="connsiteY3" fmla="*/ 72 h 9644"/>
                <a:gd name="connsiteX4" fmla="*/ 307 w 139386"/>
                <a:gd name="connsiteY4" fmla="*/ 4795 h 9644"/>
                <a:gd name="connsiteX5" fmla="*/ 8555 w 139386"/>
                <a:gd name="connsiteY5" fmla="*/ 9716 h 9644"/>
                <a:gd name="connsiteX6" fmla="*/ 131445 w 139386"/>
                <a:gd name="connsiteY6" fmla="*/ 9716 h 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386" h="9644">
                  <a:moveTo>
                    <a:pt x="131445" y="9716"/>
                  </a:moveTo>
                  <a:cubicBezTo>
                    <a:pt x="134745" y="9716"/>
                    <a:pt x="139693" y="9716"/>
                    <a:pt x="139693" y="4992"/>
                  </a:cubicBezTo>
                  <a:cubicBezTo>
                    <a:pt x="139693" y="72"/>
                    <a:pt x="134951" y="72"/>
                    <a:pt x="131445" y="72"/>
                  </a:cubicBezTo>
                  <a:lnTo>
                    <a:pt x="8555" y="72"/>
                  </a:lnTo>
                  <a:cubicBezTo>
                    <a:pt x="5256" y="72"/>
                    <a:pt x="307" y="72"/>
                    <a:pt x="307" y="4795"/>
                  </a:cubicBezTo>
                  <a:cubicBezTo>
                    <a:pt x="307" y="9716"/>
                    <a:pt x="5049" y="9716"/>
                    <a:pt x="8555" y="9716"/>
                  </a:cubicBezTo>
                  <a:lnTo>
                    <a:pt x="131445" y="971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0" name="任意形状 16589">
              <a:extLst>
                <a:ext uri="{FF2B5EF4-FFF2-40B4-BE49-F238E27FC236}">
                  <a16:creationId xmlns:a16="http://schemas.microsoft.com/office/drawing/2014/main" id="{3C6E11A6-0518-284C-77D2-E81A564593E6}"/>
                </a:ext>
              </a:extLst>
            </p:cNvPr>
            <p:cNvSpPr/>
            <p:nvPr>
              <p:custDataLst>
                <p:tags r:id="rId82"/>
              </p:custDataLst>
            </p:nvPr>
          </p:nvSpPr>
          <p:spPr>
            <a:xfrm>
              <a:off x="9573782" y="5500487"/>
              <a:ext cx="75054" cy="130688"/>
            </a:xfrm>
            <a:custGeom>
              <a:avLst/>
              <a:gdLst>
                <a:gd name="connsiteX0" fmla="*/ 46913 w 75054"/>
                <a:gd name="connsiteY0" fmla="*/ 5583 h 130688"/>
                <a:gd name="connsiteX1" fmla="*/ 40727 w 75054"/>
                <a:gd name="connsiteY1" fmla="*/ 72 h 130688"/>
                <a:gd name="connsiteX2" fmla="*/ 313 w 75054"/>
                <a:gd name="connsiteY2" fmla="*/ 12668 h 130688"/>
                <a:gd name="connsiteX3" fmla="*/ 313 w 75054"/>
                <a:gd name="connsiteY3" fmla="*/ 19754 h 130688"/>
                <a:gd name="connsiteX4" fmla="*/ 30211 w 75054"/>
                <a:gd name="connsiteY4" fmla="*/ 14243 h 130688"/>
                <a:gd name="connsiteX5" fmla="*/ 30211 w 75054"/>
                <a:gd name="connsiteY5" fmla="*/ 114621 h 130688"/>
                <a:gd name="connsiteX6" fmla="*/ 9592 w 75054"/>
                <a:gd name="connsiteY6" fmla="*/ 123675 h 130688"/>
                <a:gd name="connsiteX7" fmla="*/ 1756 w 75054"/>
                <a:gd name="connsiteY7" fmla="*/ 123675 h 130688"/>
                <a:gd name="connsiteX8" fmla="*/ 1756 w 75054"/>
                <a:gd name="connsiteY8" fmla="*/ 130760 h 130688"/>
                <a:gd name="connsiteX9" fmla="*/ 38459 w 75054"/>
                <a:gd name="connsiteY9" fmla="*/ 129973 h 130688"/>
                <a:gd name="connsiteX10" fmla="*/ 75367 w 75054"/>
                <a:gd name="connsiteY10" fmla="*/ 130760 h 130688"/>
                <a:gd name="connsiteX11" fmla="*/ 75367 w 75054"/>
                <a:gd name="connsiteY11" fmla="*/ 123675 h 130688"/>
                <a:gd name="connsiteX12" fmla="*/ 67532 w 75054"/>
                <a:gd name="connsiteY12" fmla="*/ 123675 h 130688"/>
                <a:gd name="connsiteX13" fmla="*/ 46913 w 75054"/>
                <a:gd name="connsiteY13" fmla="*/ 114621 h 130688"/>
                <a:gd name="connsiteX14" fmla="*/ 46913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913" y="5583"/>
                  </a:moveTo>
                  <a:cubicBezTo>
                    <a:pt x="46913" y="268"/>
                    <a:pt x="46500" y="72"/>
                    <a:pt x="40727" y="72"/>
                  </a:cubicBezTo>
                  <a:cubicBezTo>
                    <a:pt x="27531" y="12471"/>
                    <a:pt x="8767" y="12668"/>
                    <a:pt x="313" y="12668"/>
                  </a:cubicBezTo>
                  <a:lnTo>
                    <a:pt x="313" y="19754"/>
                  </a:lnTo>
                  <a:cubicBezTo>
                    <a:pt x="5262" y="19754"/>
                    <a:pt x="18870" y="19754"/>
                    <a:pt x="30211" y="14243"/>
                  </a:cubicBezTo>
                  <a:lnTo>
                    <a:pt x="30211" y="114621"/>
                  </a:lnTo>
                  <a:cubicBezTo>
                    <a:pt x="30211" y="121116"/>
                    <a:pt x="30211" y="123675"/>
                    <a:pt x="9592" y="123675"/>
                  </a:cubicBezTo>
                  <a:lnTo>
                    <a:pt x="1756" y="123675"/>
                  </a:lnTo>
                  <a:lnTo>
                    <a:pt x="1756" y="130760"/>
                  </a:lnTo>
                  <a:cubicBezTo>
                    <a:pt x="5468" y="130564"/>
                    <a:pt x="30830" y="129973"/>
                    <a:pt x="38459" y="129973"/>
                  </a:cubicBezTo>
                  <a:cubicBezTo>
                    <a:pt x="44851" y="129973"/>
                    <a:pt x="70831" y="130564"/>
                    <a:pt x="75367" y="130760"/>
                  </a:cubicBezTo>
                  <a:lnTo>
                    <a:pt x="75367" y="123675"/>
                  </a:lnTo>
                  <a:lnTo>
                    <a:pt x="67532" y="123675"/>
                  </a:lnTo>
                  <a:cubicBezTo>
                    <a:pt x="46913" y="123675"/>
                    <a:pt x="46913" y="121116"/>
                    <a:pt x="46913" y="114621"/>
                  </a:cubicBezTo>
                  <a:lnTo>
                    <a:pt x="46913"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1" name="任意形状 16590">
              <a:extLst>
                <a:ext uri="{FF2B5EF4-FFF2-40B4-BE49-F238E27FC236}">
                  <a16:creationId xmlns:a16="http://schemas.microsoft.com/office/drawing/2014/main" id="{38B821BF-905D-D99E-A4DE-6BB6F60F10AD}"/>
                </a:ext>
              </a:extLst>
            </p:cNvPr>
            <p:cNvSpPr/>
            <p:nvPr>
              <p:custDataLst>
                <p:tags r:id="rId83"/>
              </p:custDataLst>
            </p:nvPr>
          </p:nvSpPr>
          <p:spPr>
            <a:xfrm>
              <a:off x="6878263" y="5703299"/>
              <a:ext cx="2805186" cy="11246"/>
            </a:xfrm>
            <a:custGeom>
              <a:avLst/>
              <a:gdLst>
                <a:gd name="connsiteX0" fmla="*/ 0 w 2805186"/>
                <a:gd name="connsiteY0" fmla="*/ 0 h 11246"/>
                <a:gd name="connsiteX1" fmla="*/ 2805187 w 2805186"/>
                <a:gd name="connsiteY1" fmla="*/ 0 h 11246"/>
                <a:gd name="connsiteX2" fmla="*/ 2805187 w 2805186"/>
                <a:gd name="connsiteY2" fmla="*/ 11246 h 11246"/>
                <a:gd name="connsiteX3" fmla="*/ 1 w 2805186"/>
                <a:gd name="connsiteY3" fmla="*/ 11246 h 11246"/>
              </a:gdLst>
              <a:ahLst/>
              <a:cxnLst>
                <a:cxn ang="0">
                  <a:pos x="connsiteX0" y="connsiteY0"/>
                </a:cxn>
                <a:cxn ang="0">
                  <a:pos x="connsiteX1" y="connsiteY1"/>
                </a:cxn>
                <a:cxn ang="0">
                  <a:pos x="connsiteX2" y="connsiteY2"/>
                </a:cxn>
                <a:cxn ang="0">
                  <a:pos x="connsiteX3" y="connsiteY3"/>
                </a:cxn>
              </a:cxnLst>
              <a:rect l="l" t="t" r="r" b="b"/>
              <a:pathLst>
                <a:path w="2805186" h="11246">
                  <a:moveTo>
                    <a:pt x="0" y="0"/>
                  </a:moveTo>
                  <a:lnTo>
                    <a:pt x="2805187" y="0"/>
                  </a:lnTo>
                  <a:lnTo>
                    <a:pt x="2805187" y="11246"/>
                  </a:lnTo>
                  <a:lnTo>
                    <a:pt x="1" y="1124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2" name="任意形状 16591">
              <a:extLst>
                <a:ext uri="{FF2B5EF4-FFF2-40B4-BE49-F238E27FC236}">
                  <a16:creationId xmlns:a16="http://schemas.microsoft.com/office/drawing/2014/main" id="{6810CB00-C0C2-7750-6629-274EDBAD30E8}"/>
                </a:ext>
              </a:extLst>
            </p:cNvPr>
            <p:cNvSpPr/>
            <p:nvPr>
              <p:custDataLst>
                <p:tags r:id="rId84"/>
              </p:custDataLst>
            </p:nvPr>
          </p:nvSpPr>
          <p:spPr>
            <a:xfrm>
              <a:off x="8028402" y="5770766"/>
              <a:ext cx="217386" cy="201319"/>
            </a:xfrm>
            <a:custGeom>
              <a:avLst/>
              <a:gdLst>
                <a:gd name="connsiteX0" fmla="*/ 116613 w 217386"/>
                <a:gd name="connsiteY0" fmla="*/ 5145 h 201319"/>
                <a:gd name="connsiteX1" fmla="*/ 108954 w 217386"/>
                <a:gd name="connsiteY1" fmla="*/ 84 h 201319"/>
                <a:gd name="connsiteX2" fmla="*/ 101296 w 217386"/>
                <a:gd name="connsiteY2" fmla="*/ 5145 h 201319"/>
                <a:gd name="connsiteX3" fmla="*/ 1734 w 217386"/>
                <a:gd name="connsiteY3" fmla="*/ 195779 h 201319"/>
                <a:gd name="connsiteX4" fmla="*/ 261 w 217386"/>
                <a:gd name="connsiteY4" fmla="*/ 199154 h 201319"/>
                <a:gd name="connsiteX5" fmla="*/ 6741 w 217386"/>
                <a:gd name="connsiteY5" fmla="*/ 201403 h 201319"/>
                <a:gd name="connsiteX6" fmla="*/ 211167 w 217386"/>
                <a:gd name="connsiteY6" fmla="*/ 201403 h 201319"/>
                <a:gd name="connsiteX7" fmla="*/ 217647 w 217386"/>
                <a:gd name="connsiteY7" fmla="*/ 199154 h 201319"/>
                <a:gd name="connsiteX8" fmla="*/ 216174 w 217386"/>
                <a:gd name="connsiteY8" fmla="*/ 195779 h 201319"/>
                <a:gd name="connsiteX9" fmla="*/ 116613 w 217386"/>
                <a:gd name="connsiteY9" fmla="*/ 5145 h 201319"/>
                <a:gd name="connsiteX10" fmla="*/ 99528 w 217386"/>
                <a:gd name="connsiteY10" fmla="*/ 28201 h 201319"/>
                <a:gd name="connsiteX11" fmla="*/ 178765 w 217386"/>
                <a:gd name="connsiteY11" fmla="*/ 180034 h 201319"/>
                <a:gd name="connsiteX12" fmla="*/ 19997 w 217386"/>
                <a:gd name="connsiteY12" fmla="*/ 180034 h 201319"/>
                <a:gd name="connsiteX13" fmla="*/ 99528 w 217386"/>
                <a:gd name="connsiteY13" fmla="*/ 28201 h 201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7386" h="201319">
                  <a:moveTo>
                    <a:pt x="116613" y="5145"/>
                  </a:moveTo>
                  <a:cubicBezTo>
                    <a:pt x="114551" y="1490"/>
                    <a:pt x="113962" y="84"/>
                    <a:pt x="108954" y="84"/>
                  </a:cubicBezTo>
                  <a:cubicBezTo>
                    <a:pt x="103947" y="84"/>
                    <a:pt x="103358" y="1490"/>
                    <a:pt x="101296" y="5145"/>
                  </a:cubicBezTo>
                  <a:lnTo>
                    <a:pt x="1734" y="195779"/>
                  </a:lnTo>
                  <a:cubicBezTo>
                    <a:pt x="261" y="198310"/>
                    <a:pt x="261" y="198872"/>
                    <a:pt x="261" y="199154"/>
                  </a:cubicBezTo>
                  <a:cubicBezTo>
                    <a:pt x="261" y="201403"/>
                    <a:pt x="2029" y="201403"/>
                    <a:pt x="6741" y="201403"/>
                  </a:cubicBezTo>
                  <a:lnTo>
                    <a:pt x="211167" y="201403"/>
                  </a:lnTo>
                  <a:cubicBezTo>
                    <a:pt x="215880" y="201403"/>
                    <a:pt x="217647" y="201403"/>
                    <a:pt x="217647" y="199154"/>
                  </a:cubicBezTo>
                  <a:cubicBezTo>
                    <a:pt x="217647" y="198872"/>
                    <a:pt x="217647" y="198310"/>
                    <a:pt x="216174" y="195779"/>
                  </a:cubicBezTo>
                  <a:lnTo>
                    <a:pt x="116613" y="5145"/>
                  </a:lnTo>
                  <a:close/>
                  <a:moveTo>
                    <a:pt x="99528" y="28201"/>
                  </a:moveTo>
                  <a:lnTo>
                    <a:pt x="178765" y="180034"/>
                  </a:lnTo>
                  <a:lnTo>
                    <a:pt x="19997" y="180034"/>
                  </a:lnTo>
                  <a:lnTo>
                    <a:pt x="99528" y="2820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3" name="任意形状 16592">
              <a:extLst>
                <a:ext uri="{FF2B5EF4-FFF2-40B4-BE49-F238E27FC236}">
                  <a16:creationId xmlns:a16="http://schemas.microsoft.com/office/drawing/2014/main" id="{10F577CF-EE76-973E-0432-CA7E2C63BD73}"/>
                </a:ext>
              </a:extLst>
            </p:cNvPr>
            <p:cNvSpPr/>
            <p:nvPr>
              <p:custDataLst>
                <p:tags r:id="rId85"/>
              </p:custDataLst>
            </p:nvPr>
          </p:nvSpPr>
          <p:spPr>
            <a:xfrm>
              <a:off x="8268568" y="5847808"/>
              <a:ext cx="135792" cy="181918"/>
            </a:xfrm>
            <a:custGeom>
              <a:avLst/>
              <a:gdLst>
                <a:gd name="connsiteX0" fmla="*/ 134884 w 135792"/>
                <a:gd name="connsiteY0" fmla="*/ 17235 h 181918"/>
                <a:gd name="connsiteX1" fmla="*/ 136062 w 135792"/>
                <a:gd name="connsiteY1" fmla="*/ 10768 h 181918"/>
                <a:gd name="connsiteX2" fmla="*/ 127520 w 135792"/>
                <a:gd name="connsiteY2" fmla="*/ 3177 h 181918"/>
                <a:gd name="connsiteX3" fmla="*/ 117210 w 135792"/>
                <a:gd name="connsiteY3" fmla="*/ 9081 h 181918"/>
                <a:gd name="connsiteX4" fmla="*/ 113086 w 135792"/>
                <a:gd name="connsiteY4" fmla="*/ 24265 h 181918"/>
                <a:gd name="connsiteX5" fmla="*/ 107195 w 135792"/>
                <a:gd name="connsiteY5" fmla="*/ 46758 h 181918"/>
                <a:gd name="connsiteX6" fmla="*/ 93940 w 135792"/>
                <a:gd name="connsiteY6" fmla="*/ 97369 h 181918"/>
                <a:gd name="connsiteX7" fmla="*/ 60654 w 135792"/>
                <a:gd name="connsiteY7" fmla="*/ 121269 h 181918"/>
                <a:gd name="connsiteX8" fmla="*/ 42392 w 135792"/>
                <a:gd name="connsiteY8" fmla="*/ 98494 h 181918"/>
                <a:gd name="connsiteX9" fmla="*/ 57414 w 135792"/>
                <a:gd name="connsiteY9" fmla="*/ 43384 h 181918"/>
                <a:gd name="connsiteX10" fmla="*/ 63306 w 135792"/>
                <a:gd name="connsiteY10" fmla="*/ 23140 h 181918"/>
                <a:gd name="connsiteX11" fmla="*/ 39151 w 135792"/>
                <a:gd name="connsiteY11" fmla="*/ 84 h 181918"/>
                <a:gd name="connsiteX12" fmla="*/ 269 w 135792"/>
                <a:gd name="connsiteY12" fmla="*/ 43384 h 181918"/>
                <a:gd name="connsiteX13" fmla="*/ 3804 w 135792"/>
                <a:gd name="connsiteY13" fmla="*/ 46196 h 181918"/>
                <a:gd name="connsiteX14" fmla="*/ 8517 w 135792"/>
                <a:gd name="connsiteY14" fmla="*/ 41135 h 181918"/>
                <a:gd name="connsiteX15" fmla="*/ 38268 w 135792"/>
                <a:gd name="connsiteY15" fmla="*/ 6270 h 181918"/>
                <a:gd name="connsiteX16" fmla="*/ 45632 w 135792"/>
                <a:gd name="connsiteY16" fmla="*/ 15267 h 181918"/>
                <a:gd name="connsiteX17" fmla="*/ 40624 w 135792"/>
                <a:gd name="connsiteY17" fmla="*/ 34949 h 181918"/>
                <a:gd name="connsiteX18" fmla="*/ 23540 w 135792"/>
                <a:gd name="connsiteY18" fmla="*/ 93995 h 181918"/>
                <a:gd name="connsiteX19" fmla="*/ 59476 w 135792"/>
                <a:gd name="connsiteY19" fmla="*/ 127455 h 181918"/>
                <a:gd name="connsiteX20" fmla="*/ 89227 w 135792"/>
                <a:gd name="connsiteY20" fmla="*/ 114802 h 181918"/>
                <a:gd name="connsiteX21" fmla="*/ 70080 w 135792"/>
                <a:gd name="connsiteY21" fmla="*/ 158102 h 181918"/>
                <a:gd name="connsiteX22" fmla="*/ 37679 w 135792"/>
                <a:gd name="connsiteY22" fmla="*/ 175816 h 181918"/>
                <a:gd name="connsiteX23" fmla="*/ 15292 w 135792"/>
                <a:gd name="connsiteY23" fmla="*/ 164007 h 181918"/>
                <a:gd name="connsiteX24" fmla="*/ 27958 w 135792"/>
                <a:gd name="connsiteY24" fmla="*/ 160633 h 181918"/>
                <a:gd name="connsiteX25" fmla="*/ 33849 w 135792"/>
                <a:gd name="connsiteY25" fmla="*/ 149105 h 181918"/>
                <a:gd name="connsiteX26" fmla="*/ 22951 w 135792"/>
                <a:gd name="connsiteY26" fmla="*/ 139264 h 181918"/>
                <a:gd name="connsiteX27" fmla="*/ 6455 w 135792"/>
                <a:gd name="connsiteY27" fmla="*/ 157540 h 181918"/>
                <a:gd name="connsiteX28" fmla="*/ 37679 w 135792"/>
                <a:gd name="connsiteY28" fmla="*/ 182002 h 181918"/>
                <a:gd name="connsiteX29" fmla="*/ 106606 w 135792"/>
                <a:gd name="connsiteY29" fmla="*/ 124643 h 181918"/>
                <a:gd name="connsiteX30" fmla="*/ 134884 w 135792"/>
                <a:gd name="connsiteY30" fmla="*/ 17235 h 18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35792" h="181918">
                  <a:moveTo>
                    <a:pt x="134884" y="17235"/>
                  </a:moveTo>
                  <a:cubicBezTo>
                    <a:pt x="136062" y="13299"/>
                    <a:pt x="136062" y="12737"/>
                    <a:pt x="136062" y="10768"/>
                  </a:cubicBezTo>
                  <a:cubicBezTo>
                    <a:pt x="136062" y="5707"/>
                    <a:pt x="131938" y="3177"/>
                    <a:pt x="127520" y="3177"/>
                  </a:cubicBezTo>
                  <a:cubicBezTo>
                    <a:pt x="124574" y="3177"/>
                    <a:pt x="119861" y="4864"/>
                    <a:pt x="117210" y="9081"/>
                  </a:cubicBezTo>
                  <a:cubicBezTo>
                    <a:pt x="116621" y="10487"/>
                    <a:pt x="114265" y="19203"/>
                    <a:pt x="113086" y="24265"/>
                  </a:cubicBezTo>
                  <a:cubicBezTo>
                    <a:pt x="111024" y="31575"/>
                    <a:pt x="108962" y="39167"/>
                    <a:pt x="107195" y="46758"/>
                  </a:cubicBezTo>
                  <a:lnTo>
                    <a:pt x="93940" y="97369"/>
                  </a:lnTo>
                  <a:cubicBezTo>
                    <a:pt x="92762" y="101587"/>
                    <a:pt x="80095" y="121269"/>
                    <a:pt x="60654" y="121269"/>
                  </a:cubicBezTo>
                  <a:cubicBezTo>
                    <a:pt x="45632" y="121269"/>
                    <a:pt x="42392" y="108897"/>
                    <a:pt x="42392" y="98494"/>
                  </a:cubicBezTo>
                  <a:cubicBezTo>
                    <a:pt x="42392" y="85560"/>
                    <a:pt x="47399" y="68127"/>
                    <a:pt x="57414" y="43384"/>
                  </a:cubicBezTo>
                  <a:cubicBezTo>
                    <a:pt x="62127" y="31856"/>
                    <a:pt x="63306" y="28763"/>
                    <a:pt x="63306" y="23140"/>
                  </a:cubicBezTo>
                  <a:cubicBezTo>
                    <a:pt x="63306" y="10487"/>
                    <a:pt x="53880" y="84"/>
                    <a:pt x="39151" y="84"/>
                  </a:cubicBezTo>
                  <a:cubicBezTo>
                    <a:pt x="11168" y="84"/>
                    <a:pt x="269" y="40854"/>
                    <a:pt x="269" y="43384"/>
                  </a:cubicBezTo>
                  <a:cubicBezTo>
                    <a:pt x="269" y="46196"/>
                    <a:pt x="3215" y="46196"/>
                    <a:pt x="3804" y="46196"/>
                  </a:cubicBezTo>
                  <a:cubicBezTo>
                    <a:pt x="6750" y="46196"/>
                    <a:pt x="7044" y="45634"/>
                    <a:pt x="8517" y="41135"/>
                  </a:cubicBezTo>
                  <a:cubicBezTo>
                    <a:pt x="16470" y="14705"/>
                    <a:pt x="28253" y="6270"/>
                    <a:pt x="38268" y="6270"/>
                  </a:cubicBezTo>
                  <a:cubicBezTo>
                    <a:pt x="40624" y="6270"/>
                    <a:pt x="45632" y="6270"/>
                    <a:pt x="45632" y="15267"/>
                  </a:cubicBezTo>
                  <a:cubicBezTo>
                    <a:pt x="45632" y="22296"/>
                    <a:pt x="42686" y="29607"/>
                    <a:pt x="40624" y="34949"/>
                  </a:cubicBezTo>
                  <a:cubicBezTo>
                    <a:pt x="28842" y="64753"/>
                    <a:pt x="23540" y="80780"/>
                    <a:pt x="23540" y="93995"/>
                  </a:cubicBezTo>
                  <a:cubicBezTo>
                    <a:pt x="23540" y="119020"/>
                    <a:pt x="42097" y="127455"/>
                    <a:pt x="59476" y="127455"/>
                  </a:cubicBezTo>
                  <a:cubicBezTo>
                    <a:pt x="70964" y="127455"/>
                    <a:pt x="80979" y="122675"/>
                    <a:pt x="89227" y="114802"/>
                  </a:cubicBezTo>
                  <a:cubicBezTo>
                    <a:pt x="85398" y="129423"/>
                    <a:pt x="81863" y="143200"/>
                    <a:pt x="70080" y="158102"/>
                  </a:cubicBezTo>
                  <a:cubicBezTo>
                    <a:pt x="62422" y="167662"/>
                    <a:pt x="51228" y="175816"/>
                    <a:pt x="37679" y="175816"/>
                  </a:cubicBezTo>
                  <a:cubicBezTo>
                    <a:pt x="33555" y="175816"/>
                    <a:pt x="20300" y="174973"/>
                    <a:pt x="15292" y="164007"/>
                  </a:cubicBezTo>
                  <a:cubicBezTo>
                    <a:pt x="20005" y="164007"/>
                    <a:pt x="23834" y="164007"/>
                    <a:pt x="27958" y="160633"/>
                  </a:cubicBezTo>
                  <a:cubicBezTo>
                    <a:pt x="30904" y="158102"/>
                    <a:pt x="33849" y="154447"/>
                    <a:pt x="33849" y="149105"/>
                  </a:cubicBezTo>
                  <a:cubicBezTo>
                    <a:pt x="33849" y="140389"/>
                    <a:pt x="25896" y="139264"/>
                    <a:pt x="22951" y="139264"/>
                  </a:cubicBezTo>
                  <a:cubicBezTo>
                    <a:pt x="16176" y="139264"/>
                    <a:pt x="6455" y="143763"/>
                    <a:pt x="6455" y="157540"/>
                  </a:cubicBezTo>
                  <a:cubicBezTo>
                    <a:pt x="6455" y="171599"/>
                    <a:pt x="19416" y="182002"/>
                    <a:pt x="37679" y="182002"/>
                  </a:cubicBezTo>
                  <a:cubicBezTo>
                    <a:pt x="68018" y="182002"/>
                    <a:pt x="98358" y="156415"/>
                    <a:pt x="106606" y="124643"/>
                  </a:cubicBezTo>
                  <a:lnTo>
                    <a:pt x="134884" y="17235"/>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4" name="任意形状 16593">
              <a:extLst>
                <a:ext uri="{FF2B5EF4-FFF2-40B4-BE49-F238E27FC236}">
                  <a16:creationId xmlns:a16="http://schemas.microsoft.com/office/drawing/2014/main" id="{463EB0BC-19B6-3306-C809-D5B5BB0CEF7F}"/>
                </a:ext>
              </a:extLst>
            </p:cNvPr>
            <p:cNvSpPr/>
            <p:nvPr>
              <p:custDataLst>
                <p:tags r:id="rId86"/>
              </p:custDataLst>
            </p:nvPr>
          </p:nvSpPr>
          <p:spPr>
            <a:xfrm>
              <a:off x="8428002" y="5760169"/>
              <a:ext cx="91137" cy="130688"/>
            </a:xfrm>
            <a:custGeom>
              <a:avLst/>
              <a:gdLst>
                <a:gd name="connsiteX0" fmla="*/ 91412 w 91137"/>
                <a:gd name="connsiteY0" fmla="*/ 94948 h 130688"/>
                <a:gd name="connsiteX1" fmla="*/ 84401 w 91137"/>
                <a:gd name="connsiteY1" fmla="*/ 94948 h 130688"/>
                <a:gd name="connsiteX2" fmla="*/ 79040 w 91137"/>
                <a:gd name="connsiteY2" fmla="*/ 112859 h 130688"/>
                <a:gd name="connsiteX3" fmla="*/ 58627 w 91137"/>
                <a:gd name="connsiteY3" fmla="*/ 114040 h 130688"/>
                <a:gd name="connsiteX4" fmla="*/ 20688 w 91137"/>
                <a:gd name="connsiteY4" fmla="*/ 114040 h 130688"/>
                <a:gd name="connsiteX5" fmla="*/ 61926 w 91137"/>
                <a:gd name="connsiteY5" fmla="*/ 80974 h 130688"/>
                <a:gd name="connsiteX6" fmla="*/ 91412 w 91137"/>
                <a:gd name="connsiteY6" fmla="*/ 38461 h 130688"/>
                <a:gd name="connsiteX7" fmla="*/ 43163 w 91137"/>
                <a:gd name="connsiteY7" fmla="*/ 81 h 130688"/>
                <a:gd name="connsiteX8" fmla="*/ 275 w 91137"/>
                <a:gd name="connsiteY8" fmla="*/ 35312 h 130688"/>
                <a:gd name="connsiteX9" fmla="*/ 11203 w 91137"/>
                <a:gd name="connsiteY9" fmla="*/ 46334 h 130688"/>
                <a:gd name="connsiteX10" fmla="*/ 22131 w 91137"/>
                <a:gd name="connsiteY10" fmla="*/ 35902 h 130688"/>
                <a:gd name="connsiteX11" fmla="*/ 9966 w 91137"/>
                <a:gd name="connsiteY11" fmla="*/ 25471 h 130688"/>
                <a:gd name="connsiteX12" fmla="*/ 40070 w 91137"/>
                <a:gd name="connsiteY12" fmla="*/ 7166 h 130688"/>
                <a:gd name="connsiteX13" fmla="*/ 71411 w 91137"/>
                <a:gd name="connsiteY13" fmla="*/ 38461 h 130688"/>
                <a:gd name="connsiteX14" fmla="*/ 52029 w 91137"/>
                <a:gd name="connsiteY14" fmla="*/ 76250 h 130688"/>
                <a:gd name="connsiteX15" fmla="*/ 2337 w 91137"/>
                <a:gd name="connsiteY15" fmla="*/ 123094 h 130688"/>
                <a:gd name="connsiteX16" fmla="*/ 275 w 91137"/>
                <a:gd name="connsiteY16" fmla="*/ 130770 h 130688"/>
                <a:gd name="connsiteX17" fmla="*/ 85226 w 91137"/>
                <a:gd name="connsiteY17" fmla="*/ 130770 h 130688"/>
                <a:gd name="connsiteX18" fmla="*/ 91412 w 91137"/>
                <a:gd name="connsiteY18" fmla="*/ 94948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137" h="130688">
                  <a:moveTo>
                    <a:pt x="91412" y="94948"/>
                  </a:moveTo>
                  <a:lnTo>
                    <a:pt x="84401" y="94948"/>
                  </a:lnTo>
                  <a:cubicBezTo>
                    <a:pt x="83783" y="99278"/>
                    <a:pt x="81721" y="110891"/>
                    <a:pt x="79040" y="112859"/>
                  </a:cubicBezTo>
                  <a:cubicBezTo>
                    <a:pt x="77391" y="114040"/>
                    <a:pt x="61514" y="114040"/>
                    <a:pt x="58627" y="114040"/>
                  </a:cubicBezTo>
                  <a:lnTo>
                    <a:pt x="20688" y="114040"/>
                  </a:lnTo>
                  <a:cubicBezTo>
                    <a:pt x="42338" y="95736"/>
                    <a:pt x="49555" y="90225"/>
                    <a:pt x="61926" y="80974"/>
                  </a:cubicBezTo>
                  <a:cubicBezTo>
                    <a:pt x="77185" y="69362"/>
                    <a:pt x="91412" y="57159"/>
                    <a:pt x="91412" y="38461"/>
                  </a:cubicBezTo>
                  <a:cubicBezTo>
                    <a:pt x="91412" y="14646"/>
                    <a:pt x="69555" y="81"/>
                    <a:pt x="43163" y="81"/>
                  </a:cubicBezTo>
                  <a:cubicBezTo>
                    <a:pt x="17595" y="81"/>
                    <a:pt x="275" y="17204"/>
                    <a:pt x="275" y="35312"/>
                  </a:cubicBezTo>
                  <a:cubicBezTo>
                    <a:pt x="275" y="45350"/>
                    <a:pt x="9141" y="46334"/>
                    <a:pt x="11203" y="46334"/>
                  </a:cubicBezTo>
                  <a:cubicBezTo>
                    <a:pt x="16152" y="46334"/>
                    <a:pt x="22131" y="42988"/>
                    <a:pt x="22131" y="35902"/>
                  </a:cubicBezTo>
                  <a:cubicBezTo>
                    <a:pt x="22131" y="32359"/>
                    <a:pt x="20688" y="25471"/>
                    <a:pt x="9966" y="25471"/>
                  </a:cubicBezTo>
                  <a:cubicBezTo>
                    <a:pt x="16358" y="11496"/>
                    <a:pt x="30379" y="7166"/>
                    <a:pt x="40070" y="7166"/>
                  </a:cubicBezTo>
                  <a:cubicBezTo>
                    <a:pt x="60689" y="7166"/>
                    <a:pt x="71411" y="22518"/>
                    <a:pt x="71411" y="38461"/>
                  </a:cubicBezTo>
                  <a:cubicBezTo>
                    <a:pt x="71411" y="55584"/>
                    <a:pt x="58627" y="69165"/>
                    <a:pt x="52029" y="76250"/>
                  </a:cubicBezTo>
                  <a:lnTo>
                    <a:pt x="2337" y="123094"/>
                  </a:lnTo>
                  <a:cubicBezTo>
                    <a:pt x="275" y="124865"/>
                    <a:pt x="275" y="125259"/>
                    <a:pt x="275" y="130770"/>
                  </a:cubicBezTo>
                  <a:lnTo>
                    <a:pt x="85226" y="130770"/>
                  </a:lnTo>
                  <a:lnTo>
                    <a:pt x="91412" y="949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5" name="任意形状 16594">
              <a:extLst>
                <a:ext uri="{FF2B5EF4-FFF2-40B4-BE49-F238E27FC236}">
                  <a16:creationId xmlns:a16="http://schemas.microsoft.com/office/drawing/2014/main" id="{0B86BA13-8319-A1EE-87BF-BD6BAF9750CE}"/>
                </a:ext>
              </a:extLst>
            </p:cNvPr>
            <p:cNvSpPr/>
            <p:nvPr>
              <p:custDataLst>
                <p:tags r:id="rId87"/>
              </p:custDataLst>
            </p:nvPr>
          </p:nvSpPr>
          <p:spPr>
            <a:xfrm>
              <a:off x="9800748" y="5615292"/>
              <a:ext cx="195883" cy="187260"/>
            </a:xfrm>
            <a:custGeom>
              <a:avLst/>
              <a:gdLst>
                <a:gd name="connsiteX0" fmla="*/ 104301 w 195883"/>
                <a:gd name="connsiteY0" fmla="*/ 99331 h 187260"/>
                <a:gd name="connsiteX1" fmla="*/ 186484 w 195883"/>
                <a:gd name="connsiteY1" fmla="*/ 99331 h 187260"/>
                <a:gd name="connsiteX2" fmla="*/ 196204 w 195883"/>
                <a:gd name="connsiteY2" fmla="*/ 93707 h 187260"/>
                <a:gd name="connsiteX3" fmla="*/ 186484 w 195883"/>
                <a:gd name="connsiteY3" fmla="*/ 88084 h 187260"/>
                <a:gd name="connsiteX4" fmla="*/ 104301 w 195883"/>
                <a:gd name="connsiteY4" fmla="*/ 88084 h 187260"/>
                <a:gd name="connsiteX5" fmla="*/ 104301 w 195883"/>
                <a:gd name="connsiteY5" fmla="*/ 9356 h 187260"/>
                <a:gd name="connsiteX6" fmla="*/ 98410 w 195883"/>
                <a:gd name="connsiteY6" fmla="*/ 77 h 187260"/>
                <a:gd name="connsiteX7" fmla="*/ 92519 w 195883"/>
                <a:gd name="connsiteY7" fmla="*/ 9356 h 187260"/>
                <a:gd name="connsiteX8" fmla="*/ 92519 w 195883"/>
                <a:gd name="connsiteY8" fmla="*/ 88084 h 187260"/>
                <a:gd name="connsiteX9" fmla="*/ 10042 w 195883"/>
                <a:gd name="connsiteY9" fmla="*/ 88084 h 187260"/>
                <a:gd name="connsiteX10" fmla="*/ 321 w 195883"/>
                <a:gd name="connsiteY10" fmla="*/ 93707 h 187260"/>
                <a:gd name="connsiteX11" fmla="*/ 10042 w 195883"/>
                <a:gd name="connsiteY11" fmla="*/ 99331 h 187260"/>
                <a:gd name="connsiteX12" fmla="*/ 92519 w 195883"/>
                <a:gd name="connsiteY12" fmla="*/ 99331 h 187260"/>
                <a:gd name="connsiteX13" fmla="*/ 92519 w 195883"/>
                <a:gd name="connsiteY13" fmla="*/ 178059 h 187260"/>
                <a:gd name="connsiteX14" fmla="*/ 98410 w 195883"/>
                <a:gd name="connsiteY14" fmla="*/ 187337 h 187260"/>
                <a:gd name="connsiteX15" fmla="*/ 104301 w 195883"/>
                <a:gd name="connsiteY15" fmla="*/ 178059 h 187260"/>
                <a:gd name="connsiteX16" fmla="*/ 104301 w 195883"/>
                <a:gd name="connsiteY16" fmla="*/ 99331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301" y="99331"/>
                  </a:moveTo>
                  <a:lnTo>
                    <a:pt x="186484" y="99331"/>
                  </a:lnTo>
                  <a:cubicBezTo>
                    <a:pt x="190607" y="99331"/>
                    <a:pt x="196204" y="99331"/>
                    <a:pt x="196204" y="93707"/>
                  </a:cubicBezTo>
                  <a:cubicBezTo>
                    <a:pt x="196204" y="88084"/>
                    <a:pt x="190607" y="88084"/>
                    <a:pt x="186484" y="88084"/>
                  </a:cubicBezTo>
                  <a:lnTo>
                    <a:pt x="104301" y="88084"/>
                  </a:lnTo>
                  <a:lnTo>
                    <a:pt x="104301" y="9356"/>
                  </a:lnTo>
                  <a:cubicBezTo>
                    <a:pt x="104301" y="5419"/>
                    <a:pt x="104301" y="77"/>
                    <a:pt x="98410" y="77"/>
                  </a:cubicBezTo>
                  <a:cubicBezTo>
                    <a:pt x="92519" y="77"/>
                    <a:pt x="92519" y="5419"/>
                    <a:pt x="92519" y="9356"/>
                  </a:cubicBezTo>
                  <a:lnTo>
                    <a:pt x="92519" y="88084"/>
                  </a:lnTo>
                  <a:lnTo>
                    <a:pt x="10042" y="88084"/>
                  </a:lnTo>
                  <a:cubicBezTo>
                    <a:pt x="5918" y="88084"/>
                    <a:pt x="321" y="88084"/>
                    <a:pt x="321" y="93707"/>
                  </a:cubicBezTo>
                  <a:cubicBezTo>
                    <a:pt x="321" y="99331"/>
                    <a:pt x="5918" y="99331"/>
                    <a:pt x="10042" y="99331"/>
                  </a:cubicBezTo>
                  <a:lnTo>
                    <a:pt x="92519" y="99331"/>
                  </a:lnTo>
                  <a:lnTo>
                    <a:pt x="92519" y="178059"/>
                  </a:lnTo>
                  <a:cubicBezTo>
                    <a:pt x="92519" y="181995"/>
                    <a:pt x="92519" y="187337"/>
                    <a:pt x="98410" y="187337"/>
                  </a:cubicBezTo>
                  <a:cubicBezTo>
                    <a:pt x="104301" y="187337"/>
                    <a:pt x="104301" y="181995"/>
                    <a:pt x="104301" y="178059"/>
                  </a:cubicBezTo>
                  <a:lnTo>
                    <a:pt x="104301" y="9933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6" name="任意形状 16595">
              <a:extLst>
                <a:ext uri="{FF2B5EF4-FFF2-40B4-BE49-F238E27FC236}">
                  <a16:creationId xmlns:a16="http://schemas.microsoft.com/office/drawing/2014/main" id="{89F3590C-B387-849D-69B9-E46BCDE405AB}"/>
                </a:ext>
              </a:extLst>
            </p:cNvPr>
            <p:cNvSpPr/>
            <p:nvPr>
              <p:custDataLst>
                <p:tags r:id="rId88"/>
              </p:custDataLst>
            </p:nvPr>
          </p:nvSpPr>
          <p:spPr>
            <a:xfrm>
              <a:off x="10094425" y="5580989"/>
              <a:ext cx="146985" cy="255866"/>
            </a:xfrm>
            <a:custGeom>
              <a:avLst/>
              <a:gdLst>
                <a:gd name="connsiteX0" fmla="*/ 92823 w 146985"/>
                <a:gd name="connsiteY0" fmla="*/ 85834 h 255866"/>
                <a:gd name="connsiteX1" fmla="*/ 118155 w 146985"/>
                <a:gd name="connsiteY1" fmla="*/ 85834 h 255866"/>
                <a:gd name="connsiteX2" fmla="*/ 126992 w 146985"/>
                <a:gd name="connsiteY2" fmla="*/ 80211 h 255866"/>
                <a:gd name="connsiteX3" fmla="*/ 119039 w 146985"/>
                <a:gd name="connsiteY3" fmla="*/ 77118 h 255866"/>
                <a:gd name="connsiteX4" fmla="*/ 94591 w 146985"/>
                <a:gd name="connsiteY4" fmla="*/ 77118 h 255866"/>
                <a:gd name="connsiteX5" fmla="*/ 100776 w 146985"/>
                <a:gd name="connsiteY5" fmla="*/ 45064 h 255866"/>
                <a:gd name="connsiteX6" fmla="*/ 107846 w 146985"/>
                <a:gd name="connsiteY6" fmla="*/ 15823 h 255866"/>
                <a:gd name="connsiteX7" fmla="*/ 121690 w 146985"/>
                <a:gd name="connsiteY7" fmla="*/ 6263 h 255866"/>
                <a:gd name="connsiteX8" fmla="*/ 136124 w 146985"/>
                <a:gd name="connsiteY8" fmla="*/ 11324 h 255866"/>
                <a:gd name="connsiteX9" fmla="*/ 120217 w 146985"/>
                <a:gd name="connsiteY9" fmla="*/ 26507 h 255866"/>
                <a:gd name="connsiteX10" fmla="*/ 131116 w 146985"/>
                <a:gd name="connsiteY10" fmla="*/ 36348 h 255866"/>
                <a:gd name="connsiteX11" fmla="*/ 147317 w 146985"/>
                <a:gd name="connsiteY11" fmla="*/ 19478 h 255866"/>
                <a:gd name="connsiteX12" fmla="*/ 121690 w 146985"/>
                <a:gd name="connsiteY12" fmla="*/ 77 h 255866"/>
                <a:gd name="connsiteX13" fmla="*/ 84281 w 146985"/>
                <a:gd name="connsiteY13" fmla="*/ 32974 h 255866"/>
                <a:gd name="connsiteX14" fmla="*/ 74560 w 146985"/>
                <a:gd name="connsiteY14" fmla="*/ 77118 h 255866"/>
                <a:gd name="connsiteX15" fmla="*/ 54236 w 146985"/>
                <a:gd name="connsiteY15" fmla="*/ 77118 h 255866"/>
                <a:gd name="connsiteX16" fmla="*/ 45399 w 146985"/>
                <a:gd name="connsiteY16" fmla="*/ 82460 h 255866"/>
                <a:gd name="connsiteX17" fmla="*/ 53647 w 146985"/>
                <a:gd name="connsiteY17" fmla="*/ 85834 h 255866"/>
                <a:gd name="connsiteX18" fmla="*/ 73088 w 146985"/>
                <a:gd name="connsiteY18" fmla="*/ 85834 h 255866"/>
                <a:gd name="connsiteX19" fmla="*/ 50995 w 146985"/>
                <a:gd name="connsiteY19" fmla="*/ 196897 h 255866"/>
                <a:gd name="connsiteX20" fmla="*/ 25369 w 146985"/>
                <a:gd name="connsiteY20" fmla="*/ 249758 h 255866"/>
                <a:gd name="connsiteX21" fmla="*/ 11230 w 146985"/>
                <a:gd name="connsiteY21" fmla="*/ 244697 h 255866"/>
                <a:gd name="connsiteX22" fmla="*/ 27431 w 146985"/>
                <a:gd name="connsiteY22" fmla="*/ 229513 h 255866"/>
                <a:gd name="connsiteX23" fmla="*/ 16532 w 146985"/>
                <a:gd name="connsiteY23" fmla="*/ 219672 h 255866"/>
                <a:gd name="connsiteX24" fmla="*/ 331 w 146985"/>
                <a:gd name="connsiteY24" fmla="*/ 236543 h 255866"/>
                <a:gd name="connsiteX25" fmla="*/ 25369 w 146985"/>
                <a:gd name="connsiteY25" fmla="*/ 255943 h 255866"/>
                <a:gd name="connsiteX26" fmla="*/ 58654 w 146985"/>
                <a:gd name="connsiteY26" fmla="*/ 228670 h 255866"/>
                <a:gd name="connsiteX27" fmla="*/ 75149 w 146985"/>
                <a:gd name="connsiteY27" fmla="*/ 174966 h 255866"/>
                <a:gd name="connsiteX28" fmla="*/ 92823 w 146985"/>
                <a:gd name="connsiteY28" fmla="*/ 85834 h 255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46985" h="255866">
                  <a:moveTo>
                    <a:pt x="92823" y="85834"/>
                  </a:moveTo>
                  <a:lnTo>
                    <a:pt x="118155" y="85834"/>
                  </a:lnTo>
                  <a:cubicBezTo>
                    <a:pt x="124047" y="85834"/>
                    <a:pt x="126992" y="85834"/>
                    <a:pt x="126992" y="80211"/>
                  </a:cubicBezTo>
                  <a:cubicBezTo>
                    <a:pt x="126992" y="77118"/>
                    <a:pt x="124047" y="77118"/>
                    <a:pt x="119039" y="77118"/>
                  </a:cubicBezTo>
                  <a:lnTo>
                    <a:pt x="94591" y="77118"/>
                  </a:lnTo>
                  <a:lnTo>
                    <a:pt x="100776" y="45064"/>
                  </a:lnTo>
                  <a:cubicBezTo>
                    <a:pt x="101955" y="39160"/>
                    <a:pt x="106078" y="19197"/>
                    <a:pt x="107846" y="15823"/>
                  </a:cubicBezTo>
                  <a:cubicBezTo>
                    <a:pt x="110497" y="10480"/>
                    <a:pt x="115504" y="6263"/>
                    <a:pt x="121690" y="6263"/>
                  </a:cubicBezTo>
                  <a:cubicBezTo>
                    <a:pt x="122868" y="6263"/>
                    <a:pt x="130527" y="6263"/>
                    <a:pt x="136124" y="11324"/>
                  </a:cubicBezTo>
                  <a:cubicBezTo>
                    <a:pt x="123163" y="12448"/>
                    <a:pt x="120217" y="22290"/>
                    <a:pt x="120217" y="26507"/>
                  </a:cubicBezTo>
                  <a:cubicBezTo>
                    <a:pt x="120217" y="32974"/>
                    <a:pt x="125519" y="36348"/>
                    <a:pt x="131116" y="36348"/>
                  </a:cubicBezTo>
                  <a:cubicBezTo>
                    <a:pt x="138775" y="36348"/>
                    <a:pt x="147317" y="30162"/>
                    <a:pt x="147317" y="19478"/>
                  </a:cubicBezTo>
                  <a:cubicBezTo>
                    <a:pt x="147317" y="6544"/>
                    <a:pt x="133767" y="77"/>
                    <a:pt x="121690" y="77"/>
                  </a:cubicBezTo>
                  <a:cubicBezTo>
                    <a:pt x="111675" y="77"/>
                    <a:pt x="93118" y="5138"/>
                    <a:pt x="84281" y="32974"/>
                  </a:cubicBezTo>
                  <a:cubicBezTo>
                    <a:pt x="82514" y="38879"/>
                    <a:pt x="81630" y="41690"/>
                    <a:pt x="74560" y="77118"/>
                  </a:cubicBezTo>
                  <a:lnTo>
                    <a:pt x="54236" y="77118"/>
                  </a:lnTo>
                  <a:cubicBezTo>
                    <a:pt x="48639" y="77118"/>
                    <a:pt x="45399" y="77118"/>
                    <a:pt x="45399" y="82460"/>
                  </a:cubicBezTo>
                  <a:cubicBezTo>
                    <a:pt x="45399" y="85834"/>
                    <a:pt x="48050" y="85834"/>
                    <a:pt x="53647" y="85834"/>
                  </a:cubicBezTo>
                  <a:lnTo>
                    <a:pt x="73088" y="85834"/>
                  </a:lnTo>
                  <a:lnTo>
                    <a:pt x="50995" y="196897"/>
                  </a:lnTo>
                  <a:cubicBezTo>
                    <a:pt x="45693" y="224171"/>
                    <a:pt x="40686" y="249758"/>
                    <a:pt x="25369" y="249758"/>
                  </a:cubicBezTo>
                  <a:cubicBezTo>
                    <a:pt x="24190" y="249758"/>
                    <a:pt x="16826" y="249758"/>
                    <a:pt x="11230" y="244697"/>
                  </a:cubicBezTo>
                  <a:cubicBezTo>
                    <a:pt x="24780" y="243853"/>
                    <a:pt x="27431" y="233731"/>
                    <a:pt x="27431" y="229513"/>
                  </a:cubicBezTo>
                  <a:cubicBezTo>
                    <a:pt x="27431" y="223046"/>
                    <a:pt x="22128" y="219672"/>
                    <a:pt x="16532" y="219672"/>
                  </a:cubicBezTo>
                  <a:cubicBezTo>
                    <a:pt x="8873" y="219672"/>
                    <a:pt x="331" y="225858"/>
                    <a:pt x="331" y="236543"/>
                  </a:cubicBezTo>
                  <a:cubicBezTo>
                    <a:pt x="331" y="249195"/>
                    <a:pt x="13292" y="255943"/>
                    <a:pt x="25369" y="255943"/>
                  </a:cubicBezTo>
                  <a:cubicBezTo>
                    <a:pt x="41570" y="255943"/>
                    <a:pt x="53352" y="239354"/>
                    <a:pt x="58654" y="228670"/>
                  </a:cubicBezTo>
                  <a:cubicBezTo>
                    <a:pt x="68080" y="210956"/>
                    <a:pt x="74855" y="176934"/>
                    <a:pt x="75149" y="174966"/>
                  </a:cubicBezTo>
                  <a:lnTo>
                    <a:pt x="92823" y="8583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7" name="任意形状 16596">
              <a:extLst>
                <a:ext uri="{FF2B5EF4-FFF2-40B4-BE49-F238E27FC236}">
                  <a16:creationId xmlns:a16="http://schemas.microsoft.com/office/drawing/2014/main" id="{8568FA7A-2EFF-287F-88F3-A0644D9C6613}"/>
                </a:ext>
              </a:extLst>
            </p:cNvPr>
            <p:cNvSpPr/>
            <p:nvPr>
              <p:custDataLst>
                <p:tags r:id="rId89"/>
              </p:custDataLst>
            </p:nvPr>
          </p:nvSpPr>
          <p:spPr>
            <a:xfrm>
              <a:off x="10353049" y="5676026"/>
              <a:ext cx="195883" cy="65794"/>
            </a:xfrm>
            <a:custGeom>
              <a:avLst/>
              <a:gdLst>
                <a:gd name="connsiteX0" fmla="*/ 186208 w 195883"/>
                <a:gd name="connsiteY0" fmla="*/ 11324 h 65794"/>
                <a:gd name="connsiteX1" fmla="*/ 196223 w 195883"/>
                <a:gd name="connsiteY1" fmla="*/ 5700 h 65794"/>
                <a:gd name="connsiteX2" fmla="*/ 186502 w 195883"/>
                <a:gd name="connsiteY2" fmla="*/ 77 h 65794"/>
                <a:gd name="connsiteX3" fmla="*/ 10060 w 195883"/>
                <a:gd name="connsiteY3" fmla="*/ 77 h 65794"/>
                <a:gd name="connsiteX4" fmla="*/ 340 w 195883"/>
                <a:gd name="connsiteY4" fmla="*/ 5700 h 65794"/>
                <a:gd name="connsiteX5" fmla="*/ 10355 w 195883"/>
                <a:gd name="connsiteY5" fmla="*/ 11324 h 65794"/>
                <a:gd name="connsiteX6" fmla="*/ 186208 w 195883"/>
                <a:gd name="connsiteY6" fmla="*/ 11324 h 65794"/>
                <a:gd name="connsiteX7" fmla="*/ 186502 w 195883"/>
                <a:gd name="connsiteY7" fmla="*/ 65871 h 65794"/>
                <a:gd name="connsiteX8" fmla="*/ 196223 w 195883"/>
                <a:gd name="connsiteY8" fmla="*/ 60248 h 65794"/>
                <a:gd name="connsiteX9" fmla="*/ 186208 w 195883"/>
                <a:gd name="connsiteY9" fmla="*/ 54624 h 65794"/>
                <a:gd name="connsiteX10" fmla="*/ 10355 w 195883"/>
                <a:gd name="connsiteY10" fmla="*/ 54624 h 65794"/>
                <a:gd name="connsiteX11" fmla="*/ 340 w 195883"/>
                <a:gd name="connsiteY11" fmla="*/ 60248 h 65794"/>
                <a:gd name="connsiteX12" fmla="*/ 10060 w 195883"/>
                <a:gd name="connsiteY12" fmla="*/ 65871 h 65794"/>
                <a:gd name="connsiteX13" fmla="*/ 186502 w 195883"/>
                <a:gd name="connsiteY13" fmla="*/ 65871 h 65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5883" h="65794">
                  <a:moveTo>
                    <a:pt x="186208" y="11324"/>
                  </a:moveTo>
                  <a:cubicBezTo>
                    <a:pt x="190626" y="11324"/>
                    <a:pt x="196223" y="11324"/>
                    <a:pt x="196223" y="5700"/>
                  </a:cubicBezTo>
                  <a:cubicBezTo>
                    <a:pt x="196223" y="77"/>
                    <a:pt x="190626" y="77"/>
                    <a:pt x="186502" y="77"/>
                  </a:cubicBezTo>
                  <a:lnTo>
                    <a:pt x="10060" y="77"/>
                  </a:lnTo>
                  <a:cubicBezTo>
                    <a:pt x="5936" y="77"/>
                    <a:pt x="340" y="77"/>
                    <a:pt x="340" y="5700"/>
                  </a:cubicBezTo>
                  <a:cubicBezTo>
                    <a:pt x="340" y="11324"/>
                    <a:pt x="5936" y="11324"/>
                    <a:pt x="10355" y="11324"/>
                  </a:cubicBezTo>
                  <a:lnTo>
                    <a:pt x="186208" y="11324"/>
                  </a:lnTo>
                  <a:close/>
                  <a:moveTo>
                    <a:pt x="186502" y="65871"/>
                  </a:moveTo>
                  <a:cubicBezTo>
                    <a:pt x="190626" y="65871"/>
                    <a:pt x="196223" y="65871"/>
                    <a:pt x="196223" y="60248"/>
                  </a:cubicBezTo>
                  <a:cubicBezTo>
                    <a:pt x="196223" y="54624"/>
                    <a:pt x="190626" y="54624"/>
                    <a:pt x="186208" y="54624"/>
                  </a:cubicBezTo>
                  <a:lnTo>
                    <a:pt x="10355" y="54624"/>
                  </a:lnTo>
                  <a:cubicBezTo>
                    <a:pt x="5936" y="54624"/>
                    <a:pt x="340" y="54624"/>
                    <a:pt x="340" y="60248"/>
                  </a:cubicBezTo>
                  <a:cubicBezTo>
                    <a:pt x="340" y="65871"/>
                    <a:pt x="5936" y="65871"/>
                    <a:pt x="10060" y="65871"/>
                  </a:cubicBezTo>
                  <a:lnTo>
                    <a:pt x="186502" y="6587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8" name="任意形状 16597">
              <a:extLst>
                <a:ext uri="{FF2B5EF4-FFF2-40B4-BE49-F238E27FC236}">
                  <a16:creationId xmlns:a16="http://schemas.microsoft.com/office/drawing/2014/main" id="{1451ACB6-5EFF-7EB9-FDED-623B55929443}"/>
                </a:ext>
              </a:extLst>
            </p:cNvPr>
            <p:cNvSpPr/>
            <p:nvPr>
              <p:custDataLst>
                <p:tags r:id="rId90"/>
              </p:custDataLst>
            </p:nvPr>
          </p:nvSpPr>
          <p:spPr>
            <a:xfrm>
              <a:off x="10658966" y="5591955"/>
              <a:ext cx="124010" cy="193446"/>
            </a:xfrm>
            <a:custGeom>
              <a:avLst/>
              <a:gdLst>
                <a:gd name="connsiteX0" fmla="*/ 124360 w 124010"/>
                <a:gd name="connsiteY0" fmla="*/ 97362 h 193446"/>
                <a:gd name="connsiteX1" fmla="*/ 112578 w 124010"/>
                <a:gd name="connsiteY1" fmla="*/ 31568 h 193446"/>
                <a:gd name="connsiteX2" fmla="*/ 62503 w 124010"/>
                <a:gd name="connsiteY2" fmla="*/ 77 h 193446"/>
                <a:gd name="connsiteX3" fmla="*/ 11249 w 124010"/>
                <a:gd name="connsiteY3" fmla="*/ 33536 h 193446"/>
                <a:gd name="connsiteX4" fmla="*/ 350 w 124010"/>
                <a:gd name="connsiteY4" fmla="*/ 97362 h 193446"/>
                <a:gd name="connsiteX5" fmla="*/ 13605 w 124010"/>
                <a:gd name="connsiteY5" fmla="*/ 165125 h 193446"/>
                <a:gd name="connsiteX6" fmla="*/ 62208 w 124010"/>
                <a:gd name="connsiteY6" fmla="*/ 193523 h 193446"/>
                <a:gd name="connsiteX7" fmla="*/ 113462 w 124010"/>
                <a:gd name="connsiteY7" fmla="*/ 160907 h 193446"/>
                <a:gd name="connsiteX8" fmla="*/ 124360 w 124010"/>
                <a:gd name="connsiteY8" fmla="*/ 97362 h 193446"/>
                <a:gd name="connsiteX9" fmla="*/ 62208 w 124010"/>
                <a:gd name="connsiteY9" fmla="*/ 187337 h 193446"/>
                <a:gd name="connsiteX10" fmla="*/ 28039 w 124010"/>
                <a:gd name="connsiteY10" fmla="*/ 153316 h 193446"/>
                <a:gd name="connsiteX11" fmla="*/ 24799 w 124010"/>
                <a:gd name="connsiteY11" fmla="*/ 93988 h 193446"/>
                <a:gd name="connsiteX12" fmla="*/ 27155 w 124010"/>
                <a:gd name="connsiteY12" fmla="*/ 42253 h 193446"/>
                <a:gd name="connsiteX13" fmla="*/ 62208 w 124010"/>
                <a:gd name="connsiteY13" fmla="*/ 6263 h 193446"/>
                <a:gd name="connsiteX14" fmla="*/ 96966 w 124010"/>
                <a:gd name="connsiteY14" fmla="*/ 39160 h 193446"/>
                <a:gd name="connsiteX15" fmla="*/ 99912 w 124010"/>
                <a:gd name="connsiteY15" fmla="*/ 93988 h 193446"/>
                <a:gd name="connsiteX16" fmla="*/ 96672 w 124010"/>
                <a:gd name="connsiteY16" fmla="*/ 152191 h 193446"/>
                <a:gd name="connsiteX17" fmla="*/ 62208 w 124010"/>
                <a:gd name="connsiteY17" fmla="*/ 187337 h 193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4010" h="193446">
                  <a:moveTo>
                    <a:pt x="124360" y="97362"/>
                  </a:moveTo>
                  <a:cubicBezTo>
                    <a:pt x="124360" y="74869"/>
                    <a:pt x="122888" y="52375"/>
                    <a:pt x="112578" y="31568"/>
                  </a:cubicBezTo>
                  <a:cubicBezTo>
                    <a:pt x="99028" y="4576"/>
                    <a:pt x="74874" y="77"/>
                    <a:pt x="62503" y="77"/>
                  </a:cubicBezTo>
                  <a:cubicBezTo>
                    <a:pt x="44829" y="77"/>
                    <a:pt x="23326" y="7387"/>
                    <a:pt x="11249" y="33536"/>
                  </a:cubicBezTo>
                  <a:cubicBezTo>
                    <a:pt x="1823" y="52937"/>
                    <a:pt x="350" y="74869"/>
                    <a:pt x="350" y="97362"/>
                  </a:cubicBezTo>
                  <a:cubicBezTo>
                    <a:pt x="350" y="118450"/>
                    <a:pt x="1528" y="143756"/>
                    <a:pt x="13605" y="165125"/>
                  </a:cubicBezTo>
                  <a:cubicBezTo>
                    <a:pt x="26272" y="187900"/>
                    <a:pt x="47775" y="193523"/>
                    <a:pt x="62208" y="193523"/>
                  </a:cubicBezTo>
                  <a:cubicBezTo>
                    <a:pt x="78114" y="193523"/>
                    <a:pt x="100501" y="187619"/>
                    <a:pt x="113462" y="160907"/>
                  </a:cubicBezTo>
                  <a:cubicBezTo>
                    <a:pt x="122888" y="141506"/>
                    <a:pt x="124360" y="119575"/>
                    <a:pt x="124360" y="97362"/>
                  </a:cubicBezTo>
                  <a:close/>
                  <a:moveTo>
                    <a:pt x="62208" y="187337"/>
                  </a:moveTo>
                  <a:cubicBezTo>
                    <a:pt x="50720" y="187337"/>
                    <a:pt x="33341" y="180308"/>
                    <a:pt x="28039" y="153316"/>
                  </a:cubicBezTo>
                  <a:cubicBezTo>
                    <a:pt x="24799" y="136445"/>
                    <a:pt x="24799" y="110577"/>
                    <a:pt x="24799" y="93988"/>
                  </a:cubicBezTo>
                  <a:cubicBezTo>
                    <a:pt x="24799" y="75993"/>
                    <a:pt x="24799" y="57436"/>
                    <a:pt x="27155" y="42253"/>
                  </a:cubicBezTo>
                  <a:cubicBezTo>
                    <a:pt x="32752" y="8793"/>
                    <a:pt x="54844" y="6263"/>
                    <a:pt x="62208" y="6263"/>
                  </a:cubicBezTo>
                  <a:cubicBezTo>
                    <a:pt x="71929" y="6263"/>
                    <a:pt x="91370" y="11324"/>
                    <a:pt x="96966" y="39160"/>
                  </a:cubicBezTo>
                  <a:cubicBezTo>
                    <a:pt x="99912" y="54905"/>
                    <a:pt x="99912" y="76275"/>
                    <a:pt x="99912" y="93988"/>
                  </a:cubicBezTo>
                  <a:cubicBezTo>
                    <a:pt x="99912" y="115076"/>
                    <a:pt x="99912" y="134196"/>
                    <a:pt x="96672" y="152191"/>
                  </a:cubicBezTo>
                  <a:cubicBezTo>
                    <a:pt x="92253" y="178902"/>
                    <a:pt x="75463" y="187337"/>
                    <a:pt x="62208" y="18733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grpSp>
      <p:sp>
        <p:nvSpPr>
          <p:cNvPr id="16502" name="椭圆形标注 16501">
            <a:extLst>
              <a:ext uri="{FF2B5EF4-FFF2-40B4-BE49-F238E27FC236}">
                <a16:creationId xmlns:a16="http://schemas.microsoft.com/office/drawing/2014/main" id="{DFA3EED0-7E68-2B3F-3E40-8726E85DDC8F}"/>
              </a:ext>
            </a:extLst>
          </p:cNvPr>
          <p:cNvSpPr/>
          <p:nvPr/>
        </p:nvSpPr>
        <p:spPr>
          <a:xfrm>
            <a:off x="4977707" y="5545015"/>
            <a:ext cx="6833051" cy="725155"/>
          </a:xfrm>
          <a:prstGeom prst="wedgeEllipseCallout">
            <a:avLst>
              <a:gd name="adj1" fmla="val 24526"/>
              <a:gd name="adj2" fmla="val -14801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为了保持精度，离散方程的规模 </a:t>
            </a:r>
            <a:r>
              <a:rPr lang="en" altLang="zh-CN" sz="1800" b="1" dirty="0">
                <a:solidFill>
                  <a:srgbClr val="C00000"/>
                </a:solidFill>
                <a:effectLst/>
                <a:latin typeface="Microsoft YaHei" panose="020B0503020204020204" pitchFamily="34" charset="-122"/>
                <a:ea typeface="Microsoft YaHei" panose="020B0503020204020204" pitchFamily="34" charset="-122"/>
              </a:rPr>
              <a:t>N </a:t>
            </a:r>
            <a:r>
              <a:rPr lang="zh-CN" altLang="en-US" sz="1800" b="1" dirty="0">
                <a:solidFill>
                  <a:srgbClr val="C00000"/>
                </a:solidFill>
                <a:effectLst/>
                <a:latin typeface="Microsoft YaHei" panose="020B0503020204020204" pitchFamily="34" charset="-122"/>
                <a:ea typeface="Microsoft YaHei" panose="020B0503020204020204" pitchFamily="34" charset="-122"/>
              </a:rPr>
              <a:t>会随着空间维数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呈指数增长</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维数灾难！</a:t>
            </a:r>
            <a:endParaRPr kumimoji="1" lang="zh-CN" altLang="en-US" sz="1800" b="1" dirty="0">
              <a:solidFill>
                <a:srgbClr val="C00000"/>
              </a:solidFill>
              <a:ea typeface="Microsoft YaHei" panose="020B0503020204020204" pitchFamily="34" charset="-122"/>
            </a:endParaRPr>
          </a:p>
        </p:txBody>
      </p:sp>
      <p:grpSp>
        <p:nvGrpSpPr>
          <p:cNvPr id="16543" name="组合 16542" descr="\documentclass{article}&#10;\usepackage{amsmath}&#10;\pagestyle{empty}&#10;\begin{document}&#10;&#10;$$&#10;\begin{cases}-\Delta u = -\frac{\partial^2 u}{\partial x^2} -\frac{\partial^2 u}{\partial y^2} =f, &amp; x \in \Omega, \\ u=0, &amp; x \in \partial \Omega .\end{cases}&#10;$$&#10;&#10;\end{document}" title="IguanaTex Vector Display">
            <a:extLst>
              <a:ext uri="{FF2B5EF4-FFF2-40B4-BE49-F238E27FC236}">
                <a16:creationId xmlns:a16="http://schemas.microsoft.com/office/drawing/2014/main" id="{068FED8E-7895-934C-4259-E96AFC3DA39D}"/>
              </a:ext>
            </a:extLst>
          </p:cNvPr>
          <p:cNvGrpSpPr>
            <a:grpSpLocks noChangeAspect="1"/>
          </p:cNvGrpSpPr>
          <p:nvPr>
            <p:custDataLst>
              <p:tags r:id="rId2"/>
            </p:custDataLst>
          </p:nvPr>
        </p:nvGrpSpPr>
        <p:grpSpPr>
          <a:xfrm>
            <a:off x="455324" y="1888719"/>
            <a:ext cx="5423321" cy="1031227"/>
            <a:chOff x="5291467" y="3673668"/>
            <a:chExt cx="2793789" cy="531230"/>
          </a:xfrm>
        </p:grpSpPr>
        <p:sp>
          <p:nvSpPr>
            <p:cNvPr id="16506" name="任意形状 16505">
              <a:extLst>
                <a:ext uri="{FF2B5EF4-FFF2-40B4-BE49-F238E27FC236}">
                  <a16:creationId xmlns:a16="http://schemas.microsoft.com/office/drawing/2014/main" id="{2493797A-2C34-5078-F69E-F174A7C7B1A2}"/>
                </a:ext>
              </a:extLst>
            </p:cNvPr>
            <p:cNvSpPr/>
            <p:nvPr>
              <p:custDataLst>
                <p:tags r:id="rId3"/>
              </p:custDataLst>
            </p:nvPr>
          </p:nvSpPr>
          <p:spPr>
            <a:xfrm>
              <a:off x="5291467" y="3673668"/>
              <a:ext cx="91579" cy="531230"/>
            </a:xfrm>
            <a:custGeom>
              <a:avLst/>
              <a:gdLst>
                <a:gd name="connsiteX0" fmla="*/ 54534 w 91579"/>
                <a:gd name="connsiteY0" fmla="*/ 330777 h 531230"/>
                <a:gd name="connsiteX1" fmla="*/ 10250 w 91579"/>
                <a:gd name="connsiteY1" fmla="*/ 265768 h 531230"/>
                <a:gd name="connsiteX2" fmla="*/ 54357 w 91579"/>
                <a:gd name="connsiteY2" fmla="*/ 201645 h 531230"/>
                <a:gd name="connsiteX3" fmla="*/ 54534 w 91579"/>
                <a:gd name="connsiteY3" fmla="*/ 200582 h 531230"/>
                <a:gd name="connsiteX4" fmla="*/ 54534 w 91579"/>
                <a:gd name="connsiteY4" fmla="*/ 77827 h 531230"/>
                <a:gd name="connsiteX5" fmla="*/ 55951 w 91579"/>
                <a:gd name="connsiteY5" fmla="*/ 53382 h 531230"/>
                <a:gd name="connsiteX6" fmla="*/ 90138 w 91579"/>
                <a:gd name="connsiteY6" fmla="*/ 8390 h 531230"/>
                <a:gd name="connsiteX7" fmla="*/ 91733 w 91579"/>
                <a:gd name="connsiteY7" fmla="*/ 4138 h 531230"/>
                <a:gd name="connsiteX8" fmla="*/ 87658 w 91579"/>
                <a:gd name="connsiteY8" fmla="*/ 64 h 531230"/>
                <a:gd name="connsiteX9" fmla="*/ 79333 w 91579"/>
                <a:gd name="connsiteY9" fmla="*/ 2898 h 531230"/>
                <a:gd name="connsiteX10" fmla="*/ 37352 w 91579"/>
                <a:gd name="connsiteY10" fmla="*/ 64542 h 531230"/>
                <a:gd name="connsiteX11" fmla="*/ 37352 w 91579"/>
                <a:gd name="connsiteY11" fmla="*/ 190485 h 531230"/>
                <a:gd name="connsiteX12" fmla="*/ 28141 w 91579"/>
                <a:gd name="connsiteY12" fmla="*/ 233883 h 531230"/>
                <a:gd name="connsiteX13" fmla="*/ 2810 w 91579"/>
                <a:gd name="connsiteY13" fmla="*/ 260808 h 531230"/>
                <a:gd name="connsiteX14" fmla="*/ 153 w 91579"/>
                <a:gd name="connsiteY14" fmla="*/ 265591 h 531230"/>
                <a:gd name="connsiteX15" fmla="*/ 1748 w 91579"/>
                <a:gd name="connsiteY15" fmla="*/ 269842 h 531230"/>
                <a:gd name="connsiteX16" fmla="*/ 36820 w 91579"/>
                <a:gd name="connsiteY16" fmla="*/ 324400 h 531230"/>
                <a:gd name="connsiteX17" fmla="*/ 37352 w 91579"/>
                <a:gd name="connsiteY17" fmla="*/ 330777 h 531230"/>
                <a:gd name="connsiteX18" fmla="*/ 37352 w 91579"/>
                <a:gd name="connsiteY18" fmla="*/ 466817 h 531230"/>
                <a:gd name="connsiteX19" fmla="*/ 80396 w 91579"/>
                <a:gd name="connsiteY19" fmla="*/ 528992 h 531230"/>
                <a:gd name="connsiteX20" fmla="*/ 87658 w 91579"/>
                <a:gd name="connsiteY20" fmla="*/ 531294 h 531230"/>
                <a:gd name="connsiteX21" fmla="*/ 91733 w 91579"/>
                <a:gd name="connsiteY21" fmla="*/ 527220 h 531230"/>
                <a:gd name="connsiteX22" fmla="*/ 90847 w 91579"/>
                <a:gd name="connsiteY22" fmla="*/ 523500 h 531230"/>
                <a:gd name="connsiteX23" fmla="*/ 55243 w 91579"/>
                <a:gd name="connsiteY23" fmla="*/ 473902 h 531230"/>
                <a:gd name="connsiteX24" fmla="*/ 54534 w 91579"/>
                <a:gd name="connsiteY24" fmla="*/ 466640 h 531230"/>
                <a:gd name="connsiteX25" fmla="*/ 54534 w 91579"/>
                <a:gd name="connsiteY25" fmla="*/ 330777 h 531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91579" h="531230">
                  <a:moveTo>
                    <a:pt x="54534" y="330777"/>
                  </a:moveTo>
                  <a:cubicBezTo>
                    <a:pt x="54534" y="311292"/>
                    <a:pt x="41072" y="281356"/>
                    <a:pt x="10250" y="265768"/>
                  </a:cubicBezTo>
                  <a:cubicBezTo>
                    <a:pt x="29381" y="255494"/>
                    <a:pt x="52231" y="234769"/>
                    <a:pt x="54357" y="201645"/>
                  </a:cubicBezTo>
                  <a:lnTo>
                    <a:pt x="54534" y="200582"/>
                  </a:lnTo>
                  <a:lnTo>
                    <a:pt x="54534" y="77827"/>
                  </a:lnTo>
                  <a:cubicBezTo>
                    <a:pt x="54534" y="63302"/>
                    <a:pt x="54534" y="60113"/>
                    <a:pt x="55951" y="53382"/>
                  </a:cubicBezTo>
                  <a:cubicBezTo>
                    <a:pt x="59140" y="39211"/>
                    <a:pt x="67642" y="21675"/>
                    <a:pt x="90138" y="8390"/>
                  </a:cubicBezTo>
                  <a:cubicBezTo>
                    <a:pt x="91555" y="7504"/>
                    <a:pt x="91733" y="7327"/>
                    <a:pt x="91733" y="4138"/>
                  </a:cubicBezTo>
                  <a:cubicBezTo>
                    <a:pt x="91733" y="241"/>
                    <a:pt x="91555" y="64"/>
                    <a:pt x="87658" y="64"/>
                  </a:cubicBezTo>
                  <a:cubicBezTo>
                    <a:pt x="84470" y="64"/>
                    <a:pt x="84116" y="64"/>
                    <a:pt x="79333" y="2898"/>
                  </a:cubicBezTo>
                  <a:cubicBezTo>
                    <a:pt x="39655" y="25395"/>
                    <a:pt x="37352" y="58342"/>
                    <a:pt x="37352" y="64542"/>
                  </a:cubicBezTo>
                  <a:lnTo>
                    <a:pt x="37352" y="190485"/>
                  </a:lnTo>
                  <a:cubicBezTo>
                    <a:pt x="37352" y="203239"/>
                    <a:pt x="37352" y="217587"/>
                    <a:pt x="28141" y="233883"/>
                  </a:cubicBezTo>
                  <a:cubicBezTo>
                    <a:pt x="19993" y="248408"/>
                    <a:pt x="10427" y="255671"/>
                    <a:pt x="2810" y="260808"/>
                  </a:cubicBezTo>
                  <a:cubicBezTo>
                    <a:pt x="330" y="262402"/>
                    <a:pt x="153" y="262579"/>
                    <a:pt x="153" y="265591"/>
                  </a:cubicBezTo>
                  <a:cubicBezTo>
                    <a:pt x="153" y="268779"/>
                    <a:pt x="330" y="268956"/>
                    <a:pt x="1748" y="269842"/>
                  </a:cubicBezTo>
                  <a:cubicBezTo>
                    <a:pt x="16804" y="279762"/>
                    <a:pt x="32923" y="295527"/>
                    <a:pt x="36820" y="324400"/>
                  </a:cubicBezTo>
                  <a:cubicBezTo>
                    <a:pt x="37352" y="328297"/>
                    <a:pt x="37352" y="328651"/>
                    <a:pt x="37352" y="330777"/>
                  </a:cubicBezTo>
                  <a:lnTo>
                    <a:pt x="37352" y="466817"/>
                  </a:lnTo>
                  <a:cubicBezTo>
                    <a:pt x="37352" y="481165"/>
                    <a:pt x="46209" y="510924"/>
                    <a:pt x="80396" y="528992"/>
                  </a:cubicBezTo>
                  <a:cubicBezTo>
                    <a:pt x="84470" y="531294"/>
                    <a:pt x="84824" y="531294"/>
                    <a:pt x="87658" y="531294"/>
                  </a:cubicBezTo>
                  <a:cubicBezTo>
                    <a:pt x="91555" y="531294"/>
                    <a:pt x="91733" y="531117"/>
                    <a:pt x="91733" y="527220"/>
                  </a:cubicBezTo>
                  <a:cubicBezTo>
                    <a:pt x="91733" y="524032"/>
                    <a:pt x="91555" y="523855"/>
                    <a:pt x="90847" y="523500"/>
                  </a:cubicBezTo>
                  <a:cubicBezTo>
                    <a:pt x="83230" y="518718"/>
                    <a:pt x="60025" y="504724"/>
                    <a:pt x="55243" y="473902"/>
                  </a:cubicBezTo>
                  <a:cubicBezTo>
                    <a:pt x="54534" y="469297"/>
                    <a:pt x="54534" y="468942"/>
                    <a:pt x="54534" y="466640"/>
                  </a:cubicBezTo>
                  <a:lnTo>
                    <a:pt x="54534" y="330777"/>
                  </a:lnTo>
                  <a:close/>
                </a:path>
              </a:pathLst>
            </a:custGeom>
            <a:solidFill>
              <a:srgbClr val="000000"/>
            </a:solidFill>
            <a:ln w="17732" cap="flat">
              <a:noFill/>
              <a:prstDash val="solid"/>
              <a:miter/>
            </a:ln>
          </p:spPr>
          <p:txBody>
            <a:bodyPr rtlCol="0" anchor="ctr"/>
            <a:lstStyle/>
            <a:p>
              <a:endParaRPr lang="zh-CN" altLang="en-US"/>
            </a:p>
          </p:txBody>
        </p:sp>
        <p:sp>
          <p:nvSpPr>
            <p:cNvPr id="16507" name="任意形状 16506">
              <a:extLst>
                <a:ext uri="{FF2B5EF4-FFF2-40B4-BE49-F238E27FC236}">
                  <a16:creationId xmlns:a16="http://schemas.microsoft.com/office/drawing/2014/main" id="{D6A3D899-27BA-2B1F-BC19-27AAE34F5C07}"/>
                </a:ext>
              </a:extLst>
            </p:cNvPr>
            <p:cNvSpPr/>
            <p:nvPr>
              <p:custDataLst>
                <p:tags r:id="rId4"/>
              </p:custDataLst>
            </p:nvPr>
          </p:nvSpPr>
          <p:spPr>
            <a:xfrm>
              <a:off x="5423354" y="3811552"/>
              <a:ext cx="108229" cy="7085"/>
            </a:xfrm>
            <a:custGeom>
              <a:avLst/>
              <a:gdLst>
                <a:gd name="connsiteX0" fmla="*/ 102192 w 108229"/>
                <a:gd name="connsiteY0" fmla="*/ 7160 h 7085"/>
                <a:gd name="connsiteX1" fmla="*/ 108391 w 108229"/>
                <a:gd name="connsiteY1" fmla="*/ 3617 h 7085"/>
                <a:gd name="connsiteX2" fmla="*/ 102192 w 108229"/>
                <a:gd name="connsiteY2" fmla="*/ 74 h 7085"/>
                <a:gd name="connsiteX3" fmla="*/ 6361 w 108229"/>
                <a:gd name="connsiteY3" fmla="*/ 74 h 7085"/>
                <a:gd name="connsiteX4" fmla="*/ 161 w 108229"/>
                <a:gd name="connsiteY4" fmla="*/ 3617 h 7085"/>
                <a:gd name="connsiteX5" fmla="*/ 6361 w 108229"/>
                <a:gd name="connsiteY5" fmla="*/ 7160 h 7085"/>
                <a:gd name="connsiteX6" fmla="*/ 102192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192" y="7160"/>
                  </a:moveTo>
                  <a:cubicBezTo>
                    <a:pt x="105203" y="7160"/>
                    <a:pt x="108391" y="7160"/>
                    <a:pt x="108391" y="3617"/>
                  </a:cubicBezTo>
                  <a:cubicBezTo>
                    <a:pt x="108391" y="74"/>
                    <a:pt x="105203" y="74"/>
                    <a:pt x="102192" y="74"/>
                  </a:cubicBezTo>
                  <a:lnTo>
                    <a:pt x="6361" y="74"/>
                  </a:lnTo>
                  <a:cubicBezTo>
                    <a:pt x="3350" y="74"/>
                    <a:pt x="161" y="74"/>
                    <a:pt x="161" y="3617"/>
                  </a:cubicBezTo>
                  <a:cubicBezTo>
                    <a:pt x="161" y="7160"/>
                    <a:pt x="3350" y="7160"/>
                    <a:pt x="6361" y="7160"/>
                  </a:cubicBezTo>
                  <a:lnTo>
                    <a:pt x="102192" y="7160"/>
                  </a:lnTo>
                  <a:close/>
                </a:path>
              </a:pathLst>
            </a:custGeom>
            <a:solidFill>
              <a:srgbClr val="000000"/>
            </a:solidFill>
            <a:ln w="17732" cap="flat">
              <a:noFill/>
              <a:prstDash val="solid"/>
              <a:miter/>
            </a:ln>
          </p:spPr>
          <p:txBody>
            <a:bodyPr rtlCol="0" anchor="ctr"/>
            <a:lstStyle/>
            <a:p>
              <a:endParaRPr lang="zh-CN" altLang="en-US"/>
            </a:p>
          </p:txBody>
        </p:sp>
        <p:sp>
          <p:nvSpPr>
            <p:cNvPr id="16508" name="任意形状 16507">
              <a:extLst>
                <a:ext uri="{FF2B5EF4-FFF2-40B4-BE49-F238E27FC236}">
                  <a16:creationId xmlns:a16="http://schemas.microsoft.com/office/drawing/2014/main" id="{033F0327-2063-4E8E-B6D4-B7B3AE5237FF}"/>
                </a:ext>
              </a:extLst>
            </p:cNvPr>
            <p:cNvSpPr/>
            <p:nvPr>
              <p:custDataLst>
                <p:tags r:id="rId5"/>
              </p:custDataLst>
            </p:nvPr>
          </p:nvSpPr>
          <p:spPr>
            <a:xfrm>
              <a:off x="5554750" y="3732549"/>
              <a:ext cx="130726" cy="126829"/>
            </a:xfrm>
            <a:custGeom>
              <a:avLst/>
              <a:gdLst>
                <a:gd name="connsiteX0" fmla="*/ 70138 w 130726"/>
                <a:gd name="connsiteY0" fmla="*/ 3263 h 126829"/>
                <a:gd name="connsiteX1" fmla="*/ 65532 w 130726"/>
                <a:gd name="connsiteY1" fmla="*/ 74 h 126829"/>
                <a:gd name="connsiteX2" fmla="*/ 60927 w 130726"/>
                <a:gd name="connsiteY2" fmla="*/ 3263 h 126829"/>
                <a:gd name="connsiteX3" fmla="*/ 1055 w 130726"/>
                <a:gd name="connsiteY3" fmla="*/ 123361 h 126829"/>
                <a:gd name="connsiteX4" fmla="*/ 169 w 130726"/>
                <a:gd name="connsiteY4" fmla="*/ 125486 h 126829"/>
                <a:gd name="connsiteX5" fmla="*/ 4066 w 130726"/>
                <a:gd name="connsiteY5" fmla="*/ 126903 h 126829"/>
                <a:gd name="connsiteX6" fmla="*/ 126998 w 130726"/>
                <a:gd name="connsiteY6" fmla="*/ 126903 h 126829"/>
                <a:gd name="connsiteX7" fmla="*/ 130895 w 130726"/>
                <a:gd name="connsiteY7" fmla="*/ 125486 h 126829"/>
                <a:gd name="connsiteX8" fmla="*/ 130010 w 130726"/>
                <a:gd name="connsiteY8" fmla="*/ 123361 h 126829"/>
                <a:gd name="connsiteX9" fmla="*/ 70138 w 130726"/>
                <a:gd name="connsiteY9" fmla="*/ 3263 h 126829"/>
                <a:gd name="connsiteX10" fmla="*/ 59864 w 130726"/>
                <a:gd name="connsiteY10" fmla="*/ 17788 h 126829"/>
                <a:gd name="connsiteX11" fmla="*/ 107513 w 130726"/>
                <a:gd name="connsiteY11" fmla="*/ 113441 h 126829"/>
                <a:gd name="connsiteX12" fmla="*/ 12037 w 130726"/>
                <a:gd name="connsiteY12" fmla="*/ 113441 h 126829"/>
                <a:gd name="connsiteX13" fmla="*/ 59864 w 130726"/>
                <a:gd name="connsiteY13" fmla="*/ 17788 h 12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0726" h="126829">
                  <a:moveTo>
                    <a:pt x="70138" y="3263"/>
                  </a:moveTo>
                  <a:cubicBezTo>
                    <a:pt x="68898" y="960"/>
                    <a:pt x="68543" y="74"/>
                    <a:pt x="65532" y="74"/>
                  </a:cubicBezTo>
                  <a:cubicBezTo>
                    <a:pt x="62521" y="74"/>
                    <a:pt x="62167" y="960"/>
                    <a:pt x="60927" y="3263"/>
                  </a:cubicBezTo>
                  <a:lnTo>
                    <a:pt x="1055" y="123361"/>
                  </a:lnTo>
                  <a:cubicBezTo>
                    <a:pt x="169" y="124955"/>
                    <a:pt x="169" y="125309"/>
                    <a:pt x="169" y="125486"/>
                  </a:cubicBezTo>
                  <a:cubicBezTo>
                    <a:pt x="169" y="126903"/>
                    <a:pt x="1232" y="126903"/>
                    <a:pt x="4066" y="126903"/>
                  </a:cubicBezTo>
                  <a:lnTo>
                    <a:pt x="126998" y="126903"/>
                  </a:lnTo>
                  <a:cubicBezTo>
                    <a:pt x="129832" y="126903"/>
                    <a:pt x="130895" y="126903"/>
                    <a:pt x="130895" y="125486"/>
                  </a:cubicBezTo>
                  <a:cubicBezTo>
                    <a:pt x="130895" y="125309"/>
                    <a:pt x="130895" y="124955"/>
                    <a:pt x="130010" y="123361"/>
                  </a:cubicBezTo>
                  <a:lnTo>
                    <a:pt x="70138" y="3263"/>
                  </a:lnTo>
                  <a:close/>
                  <a:moveTo>
                    <a:pt x="59864" y="17788"/>
                  </a:moveTo>
                  <a:lnTo>
                    <a:pt x="107513" y="113441"/>
                  </a:lnTo>
                  <a:lnTo>
                    <a:pt x="12037" y="113441"/>
                  </a:lnTo>
                  <a:lnTo>
                    <a:pt x="59864" y="17788"/>
                  </a:lnTo>
                  <a:close/>
                </a:path>
              </a:pathLst>
            </a:custGeom>
            <a:solidFill>
              <a:srgbClr val="000000"/>
            </a:solidFill>
            <a:ln w="17732" cap="flat">
              <a:noFill/>
              <a:prstDash val="solid"/>
              <a:miter/>
            </a:ln>
          </p:spPr>
          <p:txBody>
            <a:bodyPr rtlCol="0" anchor="ctr"/>
            <a:lstStyle/>
            <a:p>
              <a:endParaRPr lang="zh-CN" altLang="en-US"/>
            </a:p>
          </p:txBody>
        </p:sp>
        <p:sp>
          <p:nvSpPr>
            <p:cNvPr id="16509" name="任意形状 16508">
              <a:extLst>
                <a:ext uri="{FF2B5EF4-FFF2-40B4-BE49-F238E27FC236}">
                  <a16:creationId xmlns:a16="http://schemas.microsoft.com/office/drawing/2014/main" id="{FD38D112-C4CB-8159-133F-632F5744DF9B}"/>
                </a:ext>
              </a:extLst>
            </p:cNvPr>
            <p:cNvSpPr/>
            <p:nvPr>
              <p:custDataLst>
                <p:tags r:id="rId6"/>
              </p:custDataLst>
            </p:nvPr>
          </p:nvSpPr>
          <p:spPr>
            <a:xfrm>
              <a:off x="5699175" y="3781085"/>
              <a:ext cx="91047" cy="80242"/>
            </a:xfrm>
            <a:custGeom>
              <a:avLst/>
              <a:gdLst>
                <a:gd name="connsiteX0" fmla="*/ 57038 w 91047"/>
                <a:gd name="connsiteY0" fmla="*/ 68449 h 80242"/>
                <a:gd name="connsiteX1" fmla="*/ 72803 w 91047"/>
                <a:gd name="connsiteY1" fmla="*/ 80317 h 80242"/>
                <a:gd name="connsiteX2" fmla="*/ 85911 w 91047"/>
                <a:gd name="connsiteY2" fmla="*/ 70574 h 80242"/>
                <a:gd name="connsiteX3" fmla="*/ 91225 w 91047"/>
                <a:gd name="connsiteY3" fmla="*/ 53038 h 80242"/>
                <a:gd name="connsiteX4" fmla="*/ 89100 w 91047"/>
                <a:gd name="connsiteY4" fmla="*/ 51266 h 80242"/>
                <a:gd name="connsiteX5" fmla="*/ 86620 w 91047"/>
                <a:gd name="connsiteY5" fmla="*/ 54455 h 80242"/>
                <a:gd name="connsiteX6" fmla="*/ 73334 w 91047"/>
                <a:gd name="connsiteY6" fmla="*/ 76420 h 80242"/>
                <a:gd name="connsiteX7" fmla="*/ 67843 w 91047"/>
                <a:gd name="connsiteY7" fmla="*/ 68271 h 80242"/>
                <a:gd name="connsiteX8" fmla="*/ 71386 w 91047"/>
                <a:gd name="connsiteY8" fmla="*/ 49849 h 80242"/>
                <a:gd name="connsiteX9" fmla="*/ 76346 w 91047"/>
                <a:gd name="connsiteY9" fmla="*/ 30719 h 80242"/>
                <a:gd name="connsiteX10" fmla="*/ 79357 w 91047"/>
                <a:gd name="connsiteY10" fmla="*/ 18673 h 80242"/>
                <a:gd name="connsiteX11" fmla="*/ 82014 w 91047"/>
                <a:gd name="connsiteY11" fmla="*/ 6805 h 80242"/>
                <a:gd name="connsiteX12" fmla="*/ 76877 w 91047"/>
                <a:gd name="connsiteY12" fmla="*/ 2023 h 80242"/>
                <a:gd name="connsiteX13" fmla="*/ 69969 w 91047"/>
                <a:gd name="connsiteY13" fmla="*/ 8222 h 80242"/>
                <a:gd name="connsiteX14" fmla="*/ 56684 w 91047"/>
                <a:gd name="connsiteY14" fmla="*/ 61540 h 80242"/>
                <a:gd name="connsiteX15" fmla="*/ 36490 w 91047"/>
                <a:gd name="connsiteY15" fmla="*/ 76420 h 80242"/>
                <a:gd name="connsiteX16" fmla="*/ 25508 w 91047"/>
                <a:gd name="connsiteY16" fmla="*/ 61895 h 80242"/>
                <a:gd name="connsiteX17" fmla="*/ 35073 w 91047"/>
                <a:gd name="connsiteY17" fmla="*/ 25759 h 80242"/>
                <a:gd name="connsiteX18" fmla="*/ 38084 w 91047"/>
                <a:gd name="connsiteY18" fmla="*/ 14599 h 80242"/>
                <a:gd name="connsiteX19" fmla="*/ 23559 w 91047"/>
                <a:gd name="connsiteY19" fmla="*/ 74 h 80242"/>
                <a:gd name="connsiteX20" fmla="*/ 177 w 91047"/>
                <a:gd name="connsiteY20" fmla="*/ 27353 h 80242"/>
                <a:gd name="connsiteX21" fmla="*/ 2303 w 91047"/>
                <a:gd name="connsiteY21" fmla="*/ 29124 h 80242"/>
                <a:gd name="connsiteX22" fmla="*/ 5137 w 91047"/>
                <a:gd name="connsiteY22" fmla="*/ 25936 h 80242"/>
                <a:gd name="connsiteX23" fmla="*/ 23028 w 91047"/>
                <a:gd name="connsiteY23" fmla="*/ 3971 h 80242"/>
                <a:gd name="connsiteX24" fmla="*/ 27456 w 91047"/>
                <a:gd name="connsiteY24" fmla="*/ 9817 h 80242"/>
                <a:gd name="connsiteX25" fmla="*/ 24445 w 91047"/>
                <a:gd name="connsiteY25" fmla="*/ 21862 h 80242"/>
                <a:gd name="connsiteX26" fmla="*/ 14171 w 91047"/>
                <a:gd name="connsiteY26" fmla="*/ 59060 h 80242"/>
                <a:gd name="connsiteX27" fmla="*/ 35959 w 91047"/>
                <a:gd name="connsiteY27" fmla="*/ 80317 h 80242"/>
                <a:gd name="connsiteX28" fmla="*/ 57038 w 91047"/>
                <a:gd name="connsiteY28" fmla="*/ 68449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1047" h="80242">
                  <a:moveTo>
                    <a:pt x="57038" y="68449"/>
                  </a:moveTo>
                  <a:cubicBezTo>
                    <a:pt x="58986" y="75711"/>
                    <a:pt x="65186" y="80317"/>
                    <a:pt x="72803" y="80317"/>
                  </a:cubicBezTo>
                  <a:cubicBezTo>
                    <a:pt x="79003" y="80317"/>
                    <a:pt x="83077" y="76243"/>
                    <a:pt x="85911" y="70574"/>
                  </a:cubicBezTo>
                  <a:cubicBezTo>
                    <a:pt x="88922" y="64197"/>
                    <a:pt x="91225" y="53392"/>
                    <a:pt x="91225" y="53038"/>
                  </a:cubicBezTo>
                  <a:cubicBezTo>
                    <a:pt x="91225" y="51266"/>
                    <a:pt x="89631" y="51266"/>
                    <a:pt x="89100" y="51266"/>
                  </a:cubicBezTo>
                  <a:cubicBezTo>
                    <a:pt x="87328" y="51266"/>
                    <a:pt x="87151" y="51975"/>
                    <a:pt x="86620" y="54455"/>
                  </a:cubicBezTo>
                  <a:cubicBezTo>
                    <a:pt x="84140" y="64374"/>
                    <a:pt x="80774" y="76420"/>
                    <a:pt x="73334" y="76420"/>
                  </a:cubicBezTo>
                  <a:cubicBezTo>
                    <a:pt x="69615" y="76420"/>
                    <a:pt x="67843" y="74117"/>
                    <a:pt x="67843" y="68271"/>
                  </a:cubicBezTo>
                  <a:cubicBezTo>
                    <a:pt x="67843" y="64374"/>
                    <a:pt x="69969" y="56049"/>
                    <a:pt x="71386" y="49849"/>
                  </a:cubicBezTo>
                  <a:lnTo>
                    <a:pt x="76346" y="30719"/>
                  </a:lnTo>
                  <a:cubicBezTo>
                    <a:pt x="76877" y="28062"/>
                    <a:pt x="78649" y="21331"/>
                    <a:pt x="79357" y="18673"/>
                  </a:cubicBezTo>
                  <a:cubicBezTo>
                    <a:pt x="80243" y="14599"/>
                    <a:pt x="82014" y="7868"/>
                    <a:pt x="82014" y="6805"/>
                  </a:cubicBezTo>
                  <a:cubicBezTo>
                    <a:pt x="82014" y="3617"/>
                    <a:pt x="79534" y="2023"/>
                    <a:pt x="76877" y="2023"/>
                  </a:cubicBezTo>
                  <a:cubicBezTo>
                    <a:pt x="75991" y="2023"/>
                    <a:pt x="71386" y="2200"/>
                    <a:pt x="69969" y="8222"/>
                  </a:cubicBezTo>
                  <a:cubicBezTo>
                    <a:pt x="66603" y="21153"/>
                    <a:pt x="58809" y="52152"/>
                    <a:pt x="56684" y="61540"/>
                  </a:cubicBezTo>
                  <a:cubicBezTo>
                    <a:pt x="56507" y="62249"/>
                    <a:pt x="49421" y="76420"/>
                    <a:pt x="36490" y="76420"/>
                  </a:cubicBezTo>
                  <a:cubicBezTo>
                    <a:pt x="27279" y="76420"/>
                    <a:pt x="25508" y="68449"/>
                    <a:pt x="25508" y="61895"/>
                  </a:cubicBezTo>
                  <a:cubicBezTo>
                    <a:pt x="25508" y="51975"/>
                    <a:pt x="30468" y="37981"/>
                    <a:pt x="35073" y="25759"/>
                  </a:cubicBezTo>
                  <a:cubicBezTo>
                    <a:pt x="37199" y="20445"/>
                    <a:pt x="38084" y="17965"/>
                    <a:pt x="38084" y="14599"/>
                  </a:cubicBezTo>
                  <a:cubicBezTo>
                    <a:pt x="38084" y="6628"/>
                    <a:pt x="32416" y="74"/>
                    <a:pt x="23559" y="74"/>
                  </a:cubicBezTo>
                  <a:cubicBezTo>
                    <a:pt x="6731" y="74"/>
                    <a:pt x="177" y="25759"/>
                    <a:pt x="177" y="27353"/>
                  </a:cubicBezTo>
                  <a:cubicBezTo>
                    <a:pt x="177" y="29124"/>
                    <a:pt x="1949" y="29124"/>
                    <a:pt x="2303" y="29124"/>
                  </a:cubicBezTo>
                  <a:cubicBezTo>
                    <a:pt x="4074" y="29124"/>
                    <a:pt x="4252" y="28770"/>
                    <a:pt x="5137" y="25936"/>
                  </a:cubicBezTo>
                  <a:cubicBezTo>
                    <a:pt x="9566" y="10525"/>
                    <a:pt x="16297" y="3971"/>
                    <a:pt x="23028" y="3971"/>
                  </a:cubicBezTo>
                  <a:cubicBezTo>
                    <a:pt x="24622" y="3971"/>
                    <a:pt x="27456" y="4148"/>
                    <a:pt x="27456" y="9817"/>
                  </a:cubicBezTo>
                  <a:cubicBezTo>
                    <a:pt x="27456" y="14068"/>
                    <a:pt x="25508" y="19205"/>
                    <a:pt x="24445" y="21862"/>
                  </a:cubicBezTo>
                  <a:cubicBezTo>
                    <a:pt x="17891" y="39398"/>
                    <a:pt x="14171" y="50381"/>
                    <a:pt x="14171" y="59060"/>
                  </a:cubicBezTo>
                  <a:cubicBezTo>
                    <a:pt x="14171" y="75888"/>
                    <a:pt x="26393" y="80317"/>
                    <a:pt x="35959" y="80317"/>
                  </a:cubicBezTo>
                  <a:cubicBezTo>
                    <a:pt x="47650" y="80317"/>
                    <a:pt x="54027" y="72346"/>
                    <a:pt x="57038" y="68449"/>
                  </a:cubicBezTo>
                  <a:close/>
                </a:path>
              </a:pathLst>
            </a:custGeom>
            <a:solidFill>
              <a:srgbClr val="000000"/>
            </a:solidFill>
            <a:ln w="17732" cap="flat">
              <a:noFill/>
              <a:prstDash val="solid"/>
              <a:miter/>
            </a:ln>
          </p:spPr>
          <p:txBody>
            <a:bodyPr rtlCol="0" anchor="ctr"/>
            <a:lstStyle/>
            <a:p>
              <a:endParaRPr lang="zh-CN" altLang="en-US"/>
            </a:p>
          </p:txBody>
        </p:sp>
        <p:sp>
          <p:nvSpPr>
            <p:cNvPr id="16510" name="任意形状 16509">
              <a:extLst>
                <a:ext uri="{FF2B5EF4-FFF2-40B4-BE49-F238E27FC236}">
                  <a16:creationId xmlns:a16="http://schemas.microsoft.com/office/drawing/2014/main" id="{DBA04B3C-A6C9-F619-5323-4B2DC8179354}"/>
                </a:ext>
              </a:extLst>
            </p:cNvPr>
            <p:cNvSpPr/>
            <p:nvPr>
              <p:custDataLst>
                <p:tags r:id="rId7"/>
              </p:custDataLst>
            </p:nvPr>
          </p:nvSpPr>
          <p:spPr>
            <a:xfrm>
              <a:off x="5854564" y="3794370"/>
              <a:ext cx="117795" cy="41449"/>
            </a:xfrm>
            <a:custGeom>
              <a:avLst/>
              <a:gdLst>
                <a:gd name="connsiteX0" fmla="*/ 111959 w 117795"/>
                <a:gd name="connsiteY0" fmla="*/ 7160 h 41449"/>
                <a:gd name="connsiteX1" fmla="*/ 117981 w 117795"/>
                <a:gd name="connsiteY1" fmla="*/ 3617 h 41449"/>
                <a:gd name="connsiteX2" fmla="*/ 112136 w 117795"/>
                <a:gd name="connsiteY2" fmla="*/ 74 h 41449"/>
                <a:gd name="connsiteX3" fmla="*/ 6031 w 117795"/>
                <a:gd name="connsiteY3" fmla="*/ 74 h 41449"/>
                <a:gd name="connsiteX4" fmla="*/ 186 w 117795"/>
                <a:gd name="connsiteY4" fmla="*/ 3617 h 41449"/>
                <a:gd name="connsiteX5" fmla="*/ 6208 w 117795"/>
                <a:gd name="connsiteY5" fmla="*/ 7160 h 41449"/>
                <a:gd name="connsiteX6" fmla="*/ 111959 w 117795"/>
                <a:gd name="connsiteY6" fmla="*/ 7160 h 41449"/>
                <a:gd name="connsiteX7" fmla="*/ 112136 w 117795"/>
                <a:gd name="connsiteY7" fmla="*/ 41524 h 41449"/>
                <a:gd name="connsiteX8" fmla="*/ 117981 w 117795"/>
                <a:gd name="connsiteY8" fmla="*/ 37981 h 41449"/>
                <a:gd name="connsiteX9" fmla="*/ 111959 w 117795"/>
                <a:gd name="connsiteY9" fmla="*/ 34439 h 41449"/>
                <a:gd name="connsiteX10" fmla="*/ 6208 w 117795"/>
                <a:gd name="connsiteY10" fmla="*/ 34439 h 41449"/>
                <a:gd name="connsiteX11" fmla="*/ 186 w 117795"/>
                <a:gd name="connsiteY11" fmla="*/ 37981 h 41449"/>
                <a:gd name="connsiteX12" fmla="*/ 6031 w 117795"/>
                <a:gd name="connsiteY12" fmla="*/ 41524 h 41449"/>
                <a:gd name="connsiteX13" fmla="*/ 112136 w 117795"/>
                <a:gd name="connsiteY13" fmla="*/ 41524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1959" y="7160"/>
                  </a:moveTo>
                  <a:cubicBezTo>
                    <a:pt x="114616" y="7160"/>
                    <a:pt x="117981" y="7160"/>
                    <a:pt x="117981" y="3617"/>
                  </a:cubicBezTo>
                  <a:cubicBezTo>
                    <a:pt x="117981" y="74"/>
                    <a:pt x="114616" y="74"/>
                    <a:pt x="112136" y="74"/>
                  </a:cubicBezTo>
                  <a:lnTo>
                    <a:pt x="6031" y="74"/>
                  </a:lnTo>
                  <a:cubicBezTo>
                    <a:pt x="3551" y="74"/>
                    <a:pt x="186" y="74"/>
                    <a:pt x="186" y="3617"/>
                  </a:cubicBezTo>
                  <a:cubicBezTo>
                    <a:pt x="186" y="7160"/>
                    <a:pt x="3551" y="7160"/>
                    <a:pt x="6208" y="7160"/>
                  </a:cubicBezTo>
                  <a:lnTo>
                    <a:pt x="111959" y="7160"/>
                  </a:lnTo>
                  <a:close/>
                  <a:moveTo>
                    <a:pt x="112136" y="41524"/>
                  </a:moveTo>
                  <a:cubicBezTo>
                    <a:pt x="114616" y="41524"/>
                    <a:pt x="117981" y="41524"/>
                    <a:pt x="117981" y="37981"/>
                  </a:cubicBezTo>
                  <a:cubicBezTo>
                    <a:pt x="117981" y="34439"/>
                    <a:pt x="114616" y="34439"/>
                    <a:pt x="111959" y="34439"/>
                  </a:cubicBezTo>
                  <a:lnTo>
                    <a:pt x="6208" y="34439"/>
                  </a:lnTo>
                  <a:cubicBezTo>
                    <a:pt x="3551" y="34439"/>
                    <a:pt x="186" y="34439"/>
                    <a:pt x="186" y="37981"/>
                  </a:cubicBezTo>
                  <a:cubicBezTo>
                    <a:pt x="186" y="41524"/>
                    <a:pt x="3551" y="41524"/>
                    <a:pt x="6031" y="41524"/>
                  </a:cubicBezTo>
                  <a:lnTo>
                    <a:pt x="112136" y="41524"/>
                  </a:lnTo>
                  <a:close/>
                </a:path>
              </a:pathLst>
            </a:custGeom>
            <a:solidFill>
              <a:srgbClr val="000000"/>
            </a:solidFill>
            <a:ln w="17732" cap="flat">
              <a:noFill/>
              <a:prstDash val="solid"/>
              <a:miter/>
            </a:ln>
          </p:spPr>
          <p:txBody>
            <a:bodyPr rtlCol="0" anchor="ctr"/>
            <a:lstStyle/>
            <a:p>
              <a:endParaRPr lang="zh-CN" altLang="en-US"/>
            </a:p>
          </p:txBody>
        </p:sp>
        <p:sp>
          <p:nvSpPr>
            <p:cNvPr id="16511" name="任意形状 16510">
              <a:extLst>
                <a:ext uri="{FF2B5EF4-FFF2-40B4-BE49-F238E27FC236}">
                  <a16:creationId xmlns:a16="http://schemas.microsoft.com/office/drawing/2014/main" id="{9D8932A3-FE59-F297-8F92-C59B38EDC6C5}"/>
                </a:ext>
              </a:extLst>
            </p:cNvPr>
            <p:cNvSpPr/>
            <p:nvPr>
              <p:custDataLst>
                <p:tags r:id="rId8"/>
              </p:custDataLst>
            </p:nvPr>
          </p:nvSpPr>
          <p:spPr>
            <a:xfrm>
              <a:off x="6046323" y="3811552"/>
              <a:ext cx="108229" cy="7085"/>
            </a:xfrm>
            <a:custGeom>
              <a:avLst/>
              <a:gdLst>
                <a:gd name="connsiteX0" fmla="*/ 102227 w 108229"/>
                <a:gd name="connsiteY0" fmla="*/ 7160 h 7085"/>
                <a:gd name="connsiteX1" fmla="*/ 108426 w 108229"/>
                <a:gd name="connsiteY1" fmla="*/ 3617 h 7085"/>
                <a:gd name="connsiteX2" fmla="*/ 102227 w 108229"/>
                <a:gd name="connsiteY2" fmla="*/ 74 h 7085"/>
                <a:gd name="connsiteX3" fmla="*/ 6396 w 108229"/>
                <a:gd name="connsiteY3" fmla="*/ 74 h 7085"/>
                <a:gd name="connsiteX4" fmla="*/ 196 w 108229"/>
                <a:gd name="connsiteY4" fmla="*/ 3617 h 7085"/>
                <a:gd name="connsiteX5" fmla="*/ 6396 w 108229"/>
                <a:gd name="connsiteY5" fmla="*/ 7160 h 7085"/>
                <a:gd name="connsiteX6" fmla="*/ 102227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227" y="7160"/>
                  </a:moveTo>
                  <a:cubicBezTo>
                    <a:pt x="105238" y="7160"/>
                    <a:pt x="108426" y="7160"/>
                    <a:pt x="108426" y="3617"/>
                  </a:cubicBezTo>
                  <a:cubicBezTo>
                    <a:pt x="108426" y="74"/>
                    <a:pt x="105238" y="74"/>
                    <a:pt x="102227" y="74"/>
                  </a:cubicBezTo>
                  <a:lnTo>
                    <a:pt x="6396" y="74"/>
                  </a:lnTo>
                  <a:cubicBezTo>
                    <a:pt x="3385" y="74"/>
                    <a:pt x="196" y="74"/>
                    <a:pt x="196" y="3617"/>
                  </a:cubicBezTo>
                  <a:cubicBezTo>
                    <a:pt x="196" y="7160"/>
                    <a:pt x="3385" y="7160"/>
                    <a:pt x="6396" y="7160"/>
                  </a:cubicBezTo>
                  <a:lnTo>
                    <a:pt x="102227" y="7160"/>
                  </a:lnTo>
                  <a:close/>
                </a:path>
              </a:pathLst>
            </a:custGeom>
            <a:solidFill>
              <a:srgbClr val="000000"/>
            </a:solidFill>
            <a:ln w="17732" cap="flat">
              <a:noFill/>
              <a:prstDash val="solid"/>
              <a:miter/>
            </a:ln>
          </p:spPr>
          <p:txBody>
            <a:bodyPr rtlCol="0" anchor="ctr"/>
            <a:lstStyle/>
            <a:p>
              <a:endParaRPr lang="zh-CN" altLang="en-US"/>
            </a:p>
          </p:txBody>
        </p:sp>
        <p:sp>
          <p:nvSpPr>
            <p:cNvPr id="16512" name="任意形状 16511">
              <a:extLst>
                <a:ext uri="{FF2B5EF4-FFF2-40B4-BE49-F238E27FC236}">
                  <a16:creationId xmlns:a16="http://schemas.microsoft.com/office/drawing/2014/main" id="{0F0AAD0D-CC55-5880-D413-57242FDA2DBF}"/>
                </a:ext>
              </a:extLst>
            </p:cNvPr>
            <p:cNvSpPr/>
            <p:nvPr>
              <p:custDataLst>
                <p:tags r:id="rId9"/>
              </p:custDataLst>
            </p:nvPr>
          </p:nvSpPr>
          <p:spPr>
            <a:xfrm>
              <a:off x="6198089" y="3701102"/>
              <a:ext cx="71173" cy="91012"/>
            </a:xfrm>
            <a:custGeom>
              <a:avLst/>
              <a:gdLst>
                <a:gd name="connsiteX0" fmla="*/ 57863 w 71173"/>
                <a:gd name="connsiteY0" fmla="*/ 46692 h 91012"/>
                <a:gd name="connsiteX1" fmla="*/ 38892 w 71173"/>
                <a:gd name="connsiteY1" fmla="*/ 32061 h 91012"/>
                <a:gd name="connsiteX2" fmla="*/ 2685 w 71173"/>
                <a:gd name="connsiteY2" fmla="*/ 56240 h 91012"/>
                <a:gd name="connsiteX3" fmla="*/ 205 w 71173"/>
                <a:gd name="connsiteY3" fmla="*/ 68392 h 91012"/>
                <a:gd name="connsiteX4" fmla="*/ 26244 w 71173"/>
                <a:gd name="connsiteY4" fmla="*/ 91083 h 91012"/>
                <a:gd name="connsiteX5" fmla="*/ 71378 w 71173"/>
                <a:gd name="connsiteY5" fmla="*/ 33425 h 91012"/>
                <a:gd name="connsiteX6" fmla="*/ 40876 w 71173"/>
                <a:gd name="connsiteY6" fmla="*/ 70 h 91012"/>
                <a:gd name="connsiteX7" fmla="*/ 15085 w 71173"/>
                <a:gd name="connsiteY7" fmla="*/ 20033 h 91012"/>
                <a:gd name="connsiteX8" fmla="*/ 20045 w 71173"/>
                <a:gd name="connsiteY8" fmla="*/ 24497 h 91012"/>
                <a:gd name="connsiteX9" fmla="*/ 26988 w 71173"/>
                <a:gd name="connsiteY9" fmla="*/ 17678 h 91012"/>
                <a:gd name="connsiteX10" fmla="*/ 22152 w 71173"/>
                <a:gd name="connsiteY10" fmla="*/ 12966 h 91012"/>
                <a:gd name="connsiteX11" fmla="*/ 40628 w 71173"/>
                <a:gd name="connsiteY11" fmla="*/ 3666 h 91012"/>
                <a:gd name="connsiteX12" fmla="*/ 60963 w 71173"/>
                <a:gd name="connsiteY12" fmla="*/ 27101 h 91012"/>
                <a:gd name="connsiteX13" fmla="*/ 57987 w 71173"/>
                <a:gd name="connsiteY13" fmla="*/ 46692 h 91012"/>
                <a:gd name="connsiteX14" fmla="*/ 57863 w 71173"/>
                <a:gd name="connsiteY14" fmla="*/ 46692 h 91012"/>
                <a:gd name="connsiteX15" fmla="*/ 26492 w 71173"/>
                <a:gd name="connsiteY15" fmla="*/ 87115 h 91012"/>
                <a:gd name="connsiteX16" fmla="*/ 10869 w 71173"/>
                <a:gd name="connsiteY16" fmla="*/ 72731 h 91012"/>
                <a:gd name="connsiteX17" fmla="*/ 15457 w 71173"/>
                <a:gd name="connsiteY17" fmla="*/ 52644 h 91012"/>
                <a:gd name="connsiteX18" fmla="*/ 39388 w 71173"/>
                <a:gd name="connsiteY18" fmla="*/ 35533 h 91012"/>
                <a:gd name="connsiteX19" fmla="*/ 55383 w 71173"/>
                <a:gd name="connsiteY19" fmla="*/ 52396 h 91012"/>
                <a:gd name="connsiteX20" fmla="*/ 26492 w 71173"/>
                <a:gd name="connsiteY20" fmla="*/ 87115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63" y="46692"/>
                  </a:moveTo>
                  <a:cubicBezTo>
                    <a:pt x="56127" y="39501"/>
                    <a:pt x="50547" y="32061"/>
                    <a:pt x="38892" y="32061"/>
                  </a:cubicBezTo>
                  <a:cubicBezTo>
                    <a:pt x="21532" y="32061"/>
                    <a:pt x="7149" y="45080"/>
                    <a:pt x="2685" y="56240"/>
                  </a:cubicBezTo>
                  <a:cubicBezTo>
                    <a:pt x="1941" y="58348"/>
                    <a:pt x="205" y="63432"/>
                    <a:pt x="205" y="68392"/>
                  </a:cubicBezTo>
                  <a:cubicBezTo>
                    <a:pt x="205" y="76947"/>
                    <a:pt x="6901" y="91083"/>
                    <a:pt x="26244" y="91083"/>
                  </a:cubicBezTo>
                  <a:cubicBezTo>
                    <a:pt x="58359" y="91083"/>
                    <a:pt x="71378" y="51032"/>
                    <a:pt x="71378" y="33425"/>
                  </a:cubicBezTo>
                  <a:cubicBezTo>
                    <a:pt x="71378" y="12222"/>
                    <a:pt x="57491" y="70"/>
                    <a:pt x="40876" y="70"/>
                  </a:cubicBezTo>
                  <a:cubicBezTo>
                    <a:pt x="20665" y="70"/>
                    <a:pt x="15085" y="16190"/>
                    <a:pt x="15085" y="20033"/>
                  </a:cubicBezTo>
                  <a:cubicBezTo>
                    <a:pt x="15085" y="21025"/>
                    <a:pt x="15705" y="24497"/>
                    <a:pt x="20045" y="24497"/>
                  </a:cubicBezTo>
                  <a:cubicBezTo>
                    <a:pt x="24384" y="24497"/>
                    <a:pt x="26988" y="20653"/>
                    <a:pt x="26988" y="17678"/>
                  </a:cubicBezTo>
                  <a:cubicBezTo>
                    <a:pt x="26988" y="14330"/>
                    <a:pt x="24508" y="13214"/>
                    <a:pt x="22152" y="12966"/>
                  </a:cubicBezTo>
                  <a:cubicBezTo>
                    <a:pt x="28352" y="3666"/>
                    <a:pt x="38520" y="3666"/>
                    <a:pt x="40628" y="3666"/>
                  </a:cubicBezTo>
                  <a:cubicBezTo>
                    <a:pt x="49927" y="3666"/>
                    <a:pt x="60963" y="9494"/>
                    <a:pt x="60963" y="27101"/>
                  </a:cubicBezTo>
                  <a:cubicBezTo>
                    <a:pt x="60963" y="32433"/>
                    <a:pt x="60343" y="36773"/>
                    <a:pt x="57987" y="46692"/>
                  </a:cubicBezTo>
                  <a:lnTo>
                    <a:pt x="57863" y="46692"/>
                  </a:lnTo>
                  <a:close/>
                  <a:moveTo>
                    <a:pt x="26492" y="87115"/>
                  </a:moveTo>
                  <a:cubicBezTo>
                    <a:pt x="12481" y="87115"/>
                    <a:pt x="10869" y="76575"/>
                    <a:pt x="10869" y="72731"/>
                  </a:cubicBezTo>
                  <a:cubicBezTo>
                    <a:pt x="10869" y="67896"/>
                    <a:pt x="14217" y="55744"/>
                    <a:pt x="15457" y="52644"/>
                  </a:cubicBezTo>
                  <a:cubicBezTo>
                    <a:pt x="17689" y="46940"/>
                    <a:pt x="25376" y="35533"/>
                    <a:pt x="39388" y="35533"/>
                  </a:cubicBezTo>
                  <a:cubicBezTo>
                    <a:pt x="51415" y="35533"/>
                    <a:pt x="55383" y="44956"/>
                    <a:pt x="55383" y="52396"/>
                  </a:cubicBezTo>
                  <a:cubicBezTo>
                    <a:pt x="55383" y="60704"/>
                    <a:pt x="47323" y="87115"/>
                    <a:pt x="26492" y="87115"/>
                  </a:cubicBezTo>
                  <a:close/>
                </a:path>
              </a:pathLst>
            </a:custGeom>
            <a:solidFill>
              <a:srgbClr val="000000"/>
            </a:solidFill>
            <a:ln w="17732" cap="flat">
              <a:noFill/>
              <a:prstDash val="solid"/>
              <a:miter/>
            </a:ln>
          </p:spPr>
          <p:txBody>
            <a:bodyPr rtlCol="0" anchor="ctr"/>
            <a:lstStyle/>
            <a:p>
              <a:endParaRPr lang="zh-CN" altLang="en-US"/>
            </a:p>
          </p:txBody>
        </p:sp>
        <p:sp>
          <p:nvSpPr>
            <p:cNvPr id="16513" name="任意形状 16512">
              <a:extLst>
                <a:ext uri="{FF2B5EF4-FFF2-40B4-BE49-F238E27FC236}">
                  <a16:creationId xmlns:a16="http://schemas.microsoft.com/office/drawing/2014/main" id="{EC945601-0216-9ABE-7945-65C2D59BD244}"/>
                </a:ext>
              </a:extLst>
            </p:cNvPr>
            <p:cNvSpPr/>
            <p:nvPr>
              <p:custDataLst>
                <p:tags r:id="rId10"/>
              </p:custDataLst>
            </p:nvPr>
          </p:nvSpPr>
          <p:spPr>
            <a:xfrm>
              <a:off x="6281981" y="3677193"/>
              <a:ext cx="44106" cy="58986"/>
            </a:xfrm>
            <a:custGeom>
              <a:avLst/>
              <a:gdLst>
                <a:gd name="connsiteX0" fmla="*/ 44317 w 44106"/>
                <a:gd name="connsiteY0" fmla="*/ 41960 h 58986"/>
                <a:gd name="connsiteX1" fmla="*/ 40597 w 44106"/>
                <a:gd name="connsiteY1" fmla="*/ 41960 h 58986"/>
                <a:gd name="connsiteX2" fmla="*/ 38028 w 44106"/>
                <a:gd name="connsiteY2" fmla="*/ 50020 h 58986"/>
                <a:gd name="connsiteX3" fmla="*/ 28552 w 44106"/>
                <a:gd name="connsiteY3" fmla="*/ 50551 h 58986"/>
                <a:gd name="connsiteX4" fmla="*/ 11192 w 44106"/>
                <a:gd name="connsiteY4" fmla="*/ 50551 h 58986"/>
                <a:gd name="connsiteX5" fmla="*/ 28906 w 44106"/>
                <a:gd name="connsiteY5" fmla="*/ 37709 h 58986"/>
                <a:gd name="connsiteX6" fmla="*/ 44317 w 44106"/>
                <a:gd name="connsiteY6" fmla="*/ 17692 h 58986"/>
                <a:gd name="connsiteX7" fmla="*/ 20935 w 44106"/>
                <a:gd name="connsiteY7" fmla="*/ 67 h 58986"/>
                <a:gd name="connsiteX8" fmla="*/ 210 w 44106"/>
                <a:gd name="connsiteY8" fmla="*/ 15655 h 58986"/>
                <a:gd name="connsiteX9" fmla="*/ 5347 w 44106"/>
                <a:gd name="connsiteY9" fmla="*/ 21058 h 58986"/>
                <a:gd name="connsiteX10" fmla="*/ 10572 w 44106"/>
                <a:gd name="connsiteY10" fmla="*/ 15832 h 58986"/>
                <a:gd name="connsiteX11" fmla="*/ 5524 w 44106"/>
                <a:gd name="connsiteY11" fmla="*/ 10607 h 58986"/>
                <a:gd name="connsiteX12" fmla="*/ 19075 w 44106"/>
                <a:gd name="connsiteY12" fmla="*/ 3964 h 58986"/>
                <a:gd name="connsiteX13" fmla="*/ 34840 w 44106"/>
                <a:gd name="connsiteY13" fmla="*/ 17781 h 58986"/>
                <a:gd name="connsiteX14" fmla="*/ 22883 w 44106"/>
                <a:gd name="connsiteY14" fmla="*/ 36646 h 58986"/>
                <a:gd name="connsiteX15" fmla="*/ 1273 w 44106"/>
                <a:gd name="connsiteY15" fmla="*/ 54979 h 58986"/>
                <a:gd name="connsiteX16" fmla="*/ 210 w 44106"/>
                <a:gd name="connsiteY16" fmla="*/ 56396 h 58986"/>
                <a:gd name="connsiteX17" fmla="*/ 210 w 44106"/>
                <a:gd name="connsiteY17" fmla="*/ 59053 h 58986"/>
                <a:gd name="connsiteX18" fmla="*/ 41394 w 44106"/>
                <a:gd name="connsiteY18" fmla="*/ 59053 h 58986"/>
                <a:gd name="connsiteX19" fmla="*/ 44317 w 44106"/>
                <a:gd name="connsiteY19" fmla="*/ 41960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17" y="41960"/>
                  </a:moveTo>
                  <a:lnTo>
                    <a:pt x="40597" y="41960"/>
                  </a:lnTo>
                  <a:cubicBezTo>
                    <a:pt x="40331" y="43643"/>
                    <a:pt x="39446" y="49134"/>
                    <a:pt x="38028" y="50020"/>
                  </a:cubicBezTo>
                  <a:cubicBezTo>
                    <a:pt x="37320" y="50551"/>
                    <a:pt x="29880" y="50551"/>
                    <a:pt x="28552" y="50551"/>
                  </a:cubicBezTo>
                  <a:lnTo>
                    <a:pt x="11192" y="50551"/>
                  </a:lnTo>
                  <a:cubicBezTo>
                    <a:pt x="17038" y="46211"/>
                    <a:pt x="23592" y="41251"/>
                    <a:pt x="28906" y="37709"/>
                  </a:cubicBezTo>
                  <a:cubicBezTo>
                    <a:pt x="36877" y="32217"/>
                    <a:pt x="44317" y="27080"/>
                    <a:pt x="44317" y="17692"/>
                  </a:cubicBezTo>
                  <a:cubicBezTo>
                    <a:pt x="44317" y="6356"/>
                    <a:pt x="33600" y="67"/>
                    <a:pt x="20935" y="67"/>
                  </a:cubicBezTo>
                  <a:cubicBezTo>
                    <a:pt x="8978" y="67"/>
                    <a:pt x="210" y="6976"/>
                    <a:pt x="210" y="15655"/>
                  </a:cubicBezTo>
                  <a:cubicBezTo>
                    <a:pt x="210" y="20261"/>
                    <a:pt x="4107" y="21058"/>
                    <a:pt x="5347" y="21058"/>
                  </a:cubicBezTo>
                  <a:cubicBezTo>
                    <a:pt x="7738" y="21058"/>
                    <a:pt x="10572" y="19464"/>
                    <a:pt x="10572" y="15832"/>
                  </a:cubicBezTo>
                  <a:cubicBezTo>
                    <a:pt x="10572" y="12644"/>
                    <a:pt x="8270" y="10873"/>
                    <a:pt x="5524" y="10607"/>
                  </a:cubicBezTo>
                  <a:cubicBezTo>
                    <a:pt x="8004" y="6621"/>
                    <a:pt x="13141" y="3964"/>
                    <a:pt x="19075" y="3964"/>
                  </a:cubicBezTo>
                  <a:cubicBezTo>
                    <a:pt x="27666" y="3964"/>
                    <a:pt x="34840" y="9101"/>
                    <a:pt x="34840" y="17781"/>
                  </a:cubicBezTo>
                  <a:cubicBezTo>
                    <a:pt x="34840" y="25221"/>
                    <a:pt x="29703" y="30889"/>
                    <a:pt x="22883" y="36646"/>
                  </a:cubicBezTo>
                  <a:lnTo>
                    <a:pt x="1273" y="54979"/>
                  </a:lnTo>
                  <a:cubicBezTo>
                    <a:pt x="387" y="55776"/>
                    <a:pt x="299" y="55776"/>
                    <a:pt x="210" y="56396"/>
                  </a:cubicBezTo>
                  <a:lnTo>
                    <a:pt x="210" y="59053"/>
                  </a:lnTo>
                  <a:lnTo>
                    <a:pt x="41394" y="59053"/>
                  </a:lnTo>
                  <a:lnTo>
                    <a:pt x="44317" y="41960"/>
                  </a:lnTo>
                  <a:close/>
                </a:path>
              </a:pathLst>
            </a:custGeom>
            <a:solidFill>
              <a:srgbClr val="000000"/>
            </a:solidFill>
            <a:ln w="17732" cap="flat">
              <a:noFill/>
              <a:prstDash val="solid"/>
              <a:miter/>
            </a:ln>
          </p:spPr>
          <p:txBody>
            <a:bodyPr rtlCol="0" anchor="ctr"/>
            <a:lstStyle/>
            <a:p>
              <a:endParaRPr lang="zh-CN" altLang="en-US"/>
            </a:p>
          </p:txBody>
        </p:sp>
        <p:sp>
          <p:nvSpPr>
            <p:cNvPr id="16514" name="任意形状 16513">
              <a:extLst>
                <a:ext uri="{FF2B5EF4-FFF2-40B4-BE49-F238E27FC236}">
                  <a16:creationId xmlns:a16="http://schemas.microsoft.com/office/drawing/2014/main" id="{E1859B53-641C-7CF7-552C-C3F408066DCF}"/>
                </a:ext>
              </a:extLst>
            </p:cNvPr>
            <p:cNvSpPr/>
            <p:nvPr>
              <p:custDataLst>
                <p:tags r:id="rId11"/>
              </p:custDataLst>
            </p:nvPr>
          </p:nvSpPr>
          <p:spPr>
            <a:xfrm>
              <a:off x="6348883" y="3734953"/>
              <a:ext cx="72041" cy="55921"/>
            </a:xfrm>
            <a:custGeom>
              <a:avLst/>
              <a:gdLst>
                <a:gd name="connsiteX0" fmla="*/ 46836 w 72041"/>
                <a:gd name="connsiteY0" fmla="*/ 34665 h 55921"/>
                <a:gd name="connsiteX1" fmla="*/ 44852 w 72041"/>
                <a:gd name="connsiteY1" fmla="*/ 41981 h 55921"/>
                <a:gd name="connsiteX2" fmla="*/ 29849 w 72041"/>
                <a:gd name="connsiteY2" fmla="*/ 52520 h 55921"/>
                <a:gd name="connsiteX3" fmla="*/ 21293 w 72041"/>
                <a:gd name="connsiteY3" fmla="*/ 42229 h 55921"/>
                <a:gd name="connsiteX4" fmla="*/ 28237 w 72041"/>
                <a:gd name="connsiteY4" fmla="*/ 17058 h 55921"/>
                <a:gd name="connsiteX5" fmla="*/ 29973 w 72041"/>
                <a:gd name="connsiteY5" fmla="*/ 10734 h 55921"/>
                <a:gd name="connsiteX6" fmla="*/ 18193 w 72041"/>
                <a:gd name="connsiteY6" fmla="*/ 70 h 55921"/>
                <a:gd name="connsiteX7" fmla="*/ 214 w 72041"/>
                <a:gd name="connsiteY7" fmla="*/ 19042 h 55921"/>
                <a:gd name="connsiteX8" fmla="*/ 2322 w 72041"/>
                <a:gd name="connsiteY8" fmla="*/ 20653 h 55921"/>
                <a:gd name="connsiteX9" fmla="*/ 4554 w 72041"/>
                <a:gd name="connsiteY9" fmla="*/ 18670 h 55921"/>
                <a:gd name="connsiteX10" fmla="*/ 17821 w 72041"/>
                <a:gd name="connsiteY10" fmla="*/ 3542 h 55921"/>
                <a:gd name="connsiteX11" fmla="*/ 20921 w 72041"/>
                <a:gd name="connsiteY11" fmla="*/ 7882 h 55921"/>
                <a:gd name="connsiteX12" fmla="*/ 18689 w 72041"/>
                <a:gd name="connsiteY12" fmla="*/ 16190 h 55921"/>
                <a:gd name="connsiteX13" fmla="*/ 11993 w 72041"/>
                <a:gd name="connsiteY13" fmla="*/ 40245 h 55921"/>
                <a:gd name="connsiteX14" fmla="*/ 16581 w 72041"/>
                <a:gd name="connsiteY14" fmla="*/ 52024 h 55921"/>
                <a:gd name="connsiteX15" fmla="*/ 29353 w 72041"/>
                <a:gd name="connsiteY15" fmla="*/ 55992 h 55921"/>
                <a:gd name="connsiteX16" fmla="*/ 45472 w 72041"/>
                <a:gd name="connsiteY16" fmla="*/ 47808 h 55921"/>
                <a:gd name="connsiteX17" fmla="*/ 57996 w 72041"/>
                <a:gd name="connsiteY17" fmla="*/ 55992 h 55921"/>
                <a:gd name="connsiteX18" fmla="*/ 67791 w 72041"/>
                <a:gd name="connsiteY18" fmla="*/ 49420 h 55921"/>
                <a:gd name="connsiteX19" fmla="*/ 72255 w 72041"/>
                <a:gd name="connsiteY19" fmla="*/ 37021 h 55921"/>
                <a:gd name="connsiteX20" fmla="*/ 70147 w 72041"/>
                <a:gd name="connsiteY20" fmla="*/ 35409 h 55921"/>
                <a:gd name="connsiteX21" fmla="*/ 67419 w 72041"/>
                <a:gd name="connsiteY21" fmla="*/ 39253 h 55921"/>
                <a:gd name="connsiteX22" fmla="*/ 58368 w 72041"/>
                <a:gd name="connsiteY22" fmla="*/ 52520 h 55921"/>
                <a:gd name="connsiteX23" fmla="*/ 54276 w 72041"/>
                <a:gd name="connsiteY23" fmla="*/ 46444 h 55921"/>
                <a:gd name="connsiteX24" fmla="*/ 56136 w 72041"/>
                <a:gd name="connsiteY24" fmla="*/ 36649 h 55921"/>
                <a:gd name="connsiteX25" fmla="*/ 58864 w 72041"/>
                <a:gd name="connsiteY25" fmla="*/ 25489 h 55921"/>
                <a:gd name="connsiteX26" fmla="*/ 61715 w 72041"/>
                <a:gd name="connsiteY26" fmla="*/ 14454 h 55921"/>
                <a:gd name="connsiteX27" fmla="*/ 63823 w 72041"/>
                <a:gd name="connsiteY27" fmla="*/ 5278 h 55921"/>
                <a:gd name="connsiteX28" fmla="*/ 59732 w 72041"/>
                <a:gd name="connsiteY28" fmla="*/ 1310 h 55921"/>
                <a:gd name="connsiteX29" fmla="*/ 53284 w 72041"/>
                <a:gd name="connsiteY29" fmla="*/ 8874 h 55921"/>
                <a:gd name="connsiteX30" fmla="*/ 46836 w 72041"/>
                <a:gd name="connsiteY30" fmla="*/ 34665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041" h="55921">
                  <a:moveTo>
                    <a:pt x="46836" y="34665"/>
                  </a:moveTo>
                  <a:cubicBezTo>
                    <a:pt x="46216" y="37145"/>
                    <a:pt x="45100" y="41857"/>
                    <a:pt x="44852" y="41981"/>
                  </a:cubicBezTo>
                  <a:cubicBezTo>
                    <a:pt x="42496" y="45824"/>
                    <a:pt x="37536" y="52520"/>
                    <a:pt x="29849" y="52520"/>
                  </a:cubicBezTo>
                  <a:cubicBezTo>
                    <a:pt x="21293" y="52520"/>
                    <a:pt x="21293" y="44461"/>
                    <a:pt x="21293" y="42229"/>
                  </a:cubicBezTo>
                  <a:cubicBezTo>
                    <a:pt x="21293" y="34913"/>
                    <a:pt x="24765" y="26109"/>
                    <a:pt x="28237" y="17058"/>
                  </a:cubicBezTo>
                  <a:cubicBezTo>
                    <a:pt x="29229" y="14578"/>
                    <a:pt x="29973" y="12718"/>
                    <a:pt x="29973" y="10734"/>
                  </a:cubicBezTo>
                  <a:cubicBezTo>
                    <a:pt x="29973" y="4286"/>
                    <a:pt x="24517" y="70"/>
                    <a:pt x="18193" y="70"/>
                  </a:cubicBezTo>
                  <a:cubicBezTo>
                    <a:pt x="5794" y="70"/>
                    <a:pt x="214" y="17058"/>
                    <a:pt x="214" y="19042"/>
                  </a:cubicBezTo>
                  <a:cubicBezTo>
                    <a:pt x="214" y="20653"/>
                    <a:pt x="1950" y="20653"/>
                    <a:pt x="2322" y="20653"/>
                  </a:cubicBezTo>
                  <a:cubicBezTo>
                    <a:pt x="4058" y="20653"/>
                    <a:pt x="4182" y="20033"/>
                    <a:pt x="4554" y="18670"/>
                  </a:cubicBezTo>
                  <a:cubicBezTo>
                    <a:pt x="7530" y="8502"/>
                    <a:pt x="12985" y="3542"/>
                    <a:pt x="17821" y="3542"/>
                  </a:cubicBezTo>
                  <a:cubicBezTo>
                    <a:pt x="19929" y="3542"/>
                    <a:pt x="20921" y="4906"/>
                    <a:pt x="20921" y="7882"/>
                  </a:cubicBezTo>
                  <a:cubicBezTo>
                    <a:pt x="20921" y="10734"/>
                    <a:pt x="19929" y="13338"/>
                    <a:pt x="18689" y="16190"/>
                  </a:cubicBezTo>
                  <a:cubicBezTo>
                    <a:pt x="11993" y="33301"/>
                    <a:pt x="11993" y="36897"/>
                    <a:pt x="11993" y="40245"/>
                  </a:cubicBezTo>
                  <a:cubicBezTo>
                    <a:pt x="11993" y="42353"/>
                    <a:pt x="11993" y="48056"/>
                    <a:pt x="16581" y="52024"/>
                  </a:cubicBezTo>
                  <a:cubicBezTo>
                    <a:pt x="20177" y="55000"/>
                    <a:pt x="25013" y="55992"/>
                    <a:pt x="29353" y="55992"/>
                  </a:cubicBezTo>
                  <a:cubicBezTo>
                    <a:pt x="37164" y="55992"/>
                    <a:pt x="41380" y="51776"/>
                    <a:pt x="45472" y="47808"/>
                  </a:cubicBezTo>
                  <a:cubicBezTo>
                    <a:pt x="48200" y="55744"/>
                    <a:pt x="56508" y="55992"/>
                    <a:pt x="57996" y="55992"/>
                  </a:cubicBezTo>
                  <a:cubicBezTo>
                    <a:pt x="62211" y="55992"/>
                    <a:pt x="65435" y="53512"/>
                    <a:pt x="67791" y="49420"/>
                  </a:cubicBezTo>
                  <a:cubicBezTo>
                    <a:pt x="70519" y="44584"/>
                    <a:pt x="72255" y="37393"/>
                    <a:pt x="72255" y="37021"/>
                  </a:cubicBezTo>
                  <a:cubicBezTo>
                    <a:pt x="72255" y="35409"/>
                    <a:pt x="70519" y="35409"/>
                    <a:pt x="70147" y="35409"/>
                  </a:cubicBezTo>
                  <a:cubicBezTo>
                    <a:pt x="68411" y="35409"/>
                    <a:pt x="68287" y="35905"/>
                    <a:pt x="67419" y="39253"/>
                  </a:cubicBezTo>
                  <a:cubicBezTo>
                    <a:pt x="65931" y="45080"/>
                    <a:pt x="63575" y="52520"/>
                    <a:pt x="58368" y="52520"/>
                  </a:cubicBezTo>
                  <a:cubicBezTo>
                    <a:pt x="55144" y="52520"/>
                    <a:pt x="54276" y="49668"/>
                    <a:pt x="54276" y="46444"/>
                  </a:cubicBezTo>
                  <a:cubicBezTo>
                    <a:pt x="54276" y="44337"/>
                    <a:pt x="55268" y="39873"/>
                    <a:pt x="56136" y="36649"/>
                  </a:cubicBezTo>
                  <a:cubicBezTo>
                    <a:pt x="57004" y="33301"/>
                    <a:pt x="58244" y="28217"/>
                    <a:pt x="58864" y="25489"/>
                  </a:cubicBezTo>
                  <a:lnTo>
                    <a:pt x="61715" y="14454"/>
                  </a:lnTo>
                  <a:cubicBezTo>
                    <a:pt x="62459" y="11354"/>
                    <a:pt x="63823" y="5898"/>
                    <a:pt x="63823" y="5278"/>
                  </a:cubicBezTo>
                  <a:cubicBezTo>
                    <a:pt x="63823" y="2798"/>
                    <a:pt x="61839" y="1310"/>
                    <a:pt x="59732" y="1310"/>
                  </a:cubicBezTo>
                  <a:cubicBezTo>
                    <a:pt x="55144" y="1310"/>
                    <a:pt x="54276" y="4906"/>
                    <a:pt x="53284" y="8874"/>
                  </a:cubicBezTo>
                  <a:lnTo>
                    <a:pt x="46836" y="34665"/>
                  </a:lnTo>
                  <a:close/>
                </a:path>
              </a:pathLst>
            </a:custGeom>
            <a:solidFill>
              <a:srgbClr val="000000"/>
            </a:solidFill>
            <a:ln w="17732" cap="flat">
              <a:noFill/>
              <a:prstDash val="solid"/>
              <a:miter/>
            </a:ln>
          </p:spPr>
          <p:txBody>
            <a:bodyPr rtlCol="0" anchor="ctr"/>
            <a:lstStyle/>
            <a:p>
              <a:endParaRPr lang="zh-CN" altLang="en-US"/>
            </a:p>
          </p:txBody>
        </p:sp>
        <p:sp>
          <p:nvSpPr>
            <p:cNvPr id="16515" name="任意形状 16514">
              <a:extLst>
                <a:ext uri="{FF2B5EF4-FFF2-40B4-BE49-F238E27FC236}">
                  <a16:creationId xmlns:a16="http://schemas.microsoft.com/office/drawing/2014/main" id="{8307DED1-7F55-014C-A354-9AD6CABEA7FB}"/>
                </a:ext>
              </a:extLst>
            </p:cNvPr>
            <p:cNvSpPr/>
            <p:nvPr>
              <p:custDataLst>
                <p:tags r:id="rId12"/>
              </p:custDataLst>
            </p:nvPr>
          </p:nvSpPr>
          <p:spPr>
            <a:xfrm>
              <a:off x="6190649" y="3811552"/>
              <a:ext cx="236156" cy="7085"/>
            </a:xfrm>
            <a:custGeom>
              <a:avLst/>
              <a:gdLst>
                <a:gd name="connsiteX0" fmla="*/ 0 w 236156"/>
                <a:gd name="connsiteY0" fmla="*/ 0 h 7085"/>
                <a:gd name="connsiteX1" fmla="*/ 236156 w 236156"/>
                <a:gd name="connsiteY1" fmla="*/ 0 h 7085"/>
                <a:gd name="connsiteX2" fmla="*/ 236156 w 236156"/>
                <a:gd name="connsiteY2" fmla="*/ 7085 h 7085"/>
                <a:gd name="connsiteX3" fmla="*/ 0 w 236156"/>
                <a:gd name="connsiteY3" fmla="*/ 7085 h 7085"/>
              </a:gdLst>
              <a:ahLst/>
              <a:cxnLst>
                <a:cxn ang="0">
                  <a:pos x="connsiteX0" y="connsiteY0"/>
                </a:cxn>
                <a:cxn ang="0">
                  <a:pos x="connsiteX1" y="connsiteY1"/>
                </a:cxn>
                <a:cxn ang="0">
                  <a:pos x="connsiteX2" y="connsiteY2"/>
                </a:cxn>
                <a:cxn ang="0">
                  <a:pos x="connsiteX3" y="connsiteY3"/>
                </a:cxn>
              </a:cxnLst>
              <a:rect l="l" t="t" r="r" b="b"/>
              <a:pathLst>
                <a:path w="236156" h="7085">
                  <a:moveTo>
                    <a:pt x="0" y="0"/>
                  </a:moveTo>
                  <a:lnTo>
                    <a:pt x="236156" y="0"/>
                  </a:lnTo>
                  <a:lnTo>
                    <a:pt x="236156" y="7085"/>
                  </a:lnTo>
                  <a:lnTo>
                    <a:pt x="0" y="7085"/>
                  </a:lnTo>
                  <a:close/>
                </a:path>
              </a:pathLst>
            </a:custGeom>
            <a:solidFill>
              <a:srgbClr val="000000"/>
            </a:solidFill>
            <a:ln w="17732" cap="flat">
              <a:noFill/>
              <a:prstDash val="solid"/>
              <a:miter/>
            </a:ln>
          </p:spPr>
          <p:txBody>
            <a:bodyPr rtlCol="0" anchor="ctr"/>
            <a:lstStyle/>
            <a:p>
              <a:endParaRPr lang="zh-CN" altLang="en-US"/>
            </a:p>
          </p:txBody>
        </p:sp>
        <p:sp>
          <p:nvSpPr>
            <p:cNvPr id="16516" name="任意形状 16515">
              <a:extLst>
                <a:ext uri="{FF2B5EF4-FFF2-40B4-BE49-F238E27FC236}">
                  <a16:creationId xmlns:a16="http://schemas.microsoft.com/office/drawing/2014/main" id="{31E11ACA-A253-D3B1-07F4-70CC92236DD4}"/>
                </a:ext>
              </a:extLst>
            </p:cNvPr>
            <p:cNvSpPr/>
            <p:nvPr>
              <p:custDataLst>
                <p:tags r:id="rId13"/>
              </p:custDataLst>
            </p:nvPr>
          </p:nvSpPr>
          <p:spPr>
            <a:xfrm>
              <a:off x="6199801" y="3831930"/>
              <a:ext cx="71173" cy="91012"/>
            </a:xfrm>
            <a:custGeom>
              <a:avLst/>
              <a:gdLst>
                <a:gd name="connsiteX0" fmla="*/ 57863 w 71173"/>
                <a:gd name="connsiteY0" fmla="*/ 46700 h 91012"/>
                <a:gd name="connsiteX1" fmla="*/ 38892 w 71173"/>
                <a:gd name="connsiteY1" fmla="*/ 32068 h 91012"/>
                <a:gd name="connsiteX2" fmla="*/ 2685 w 71173"/>
                <a:gd name="connsiteY2" fmla="*/ 56247 h 91012"/>
                <a:gd name="connsiteX3" fmla="*/ 205 w 71173"/>
                <a:gd name="connsiteY3" fmla="*/ 68399 h 91012"/>
                <a:gd name="connsiteX4" fmla="*/ 26244 w 71173"/>
                <a:gd name="connsiteY4" fmla="*/ 91090 h 91012"/>
                <a:gd name="connsiteX5" fmla="*/ 71379 w 71173"/>
                <a:gd name="connsiteY5" fmla="*/ 33432 h 91012"/>
                <a:gd name="connsiteX6" fmla="*/ 40876 w 71173"/>
                <a:gd name="connsiteY6" fmla="*/ 78 h 91012"/>
                <a:gd name="connsiteX7" fmla="*/ 15085 w 71173"/>
                <a:gd name="connsiteY7" fmla="*/ 20041 h 91012"/>
                <a:gd name="connsiteX8" fmla="*/ 20045 w 71173"/>
                <a:gd name="connsiteY8" fmla="*/ 24505 h 91012"/>
                <a:gd name="connsiteX9" fmla="*/ 26988 w 71173"/>
                <a:gd name="connsiteY9" fmla="*/ 17685 h 91012"/>
                <a:gd name="connsiteX10" fmla="*/ 22153 w 71173"/>
                <a:gd name="connsiteY10" fmla="*/ 12973 h 91012"/>
                <a:gd name="connsiteX11" fmla="*/ 40628 w 71173"/>
                <a:gd name="connsiteY11" fmla="*/ 3674 h 91012"/>
                <a:gd name="connsiteX12" fmla="*/ 60963 w 71173"/>
                <a:gd name="connsiteY12" fmla="*/ 27109 h 91012"/>
                <a:gd name="connsiteX13" fmla="*/ 57987 w 71173"/>
                <a:gd name="connsiteY13" fmla="*/ 46700 h 91012"/>
                <a:gd name="connsiteX14" fmla="*/ 57863 w 71173"/>
                <a:gd name="connsiteY14" fmla="*/ 46700 h 91012"/>
                <a:gd name="connsiteX15" fmla="*/ 26492 w 71173"/>
                <a:gd name="connsiteY15" fmla="*/ 87122 h 91012"/>
                <a:gd name="connsiteX16" fmla="*/ 10869 w 71173"/>
                <a:gd name="connsiteY16" fmla="*/ 72739 h 91012"/>
                <a:gd name="connsiteX17" fmla="*/ 15457 w 71173"/>
                <a:gd name="connsiteY17" fmla="*/ 52652 h 91012"/>
                <a:gd name="connsiteX18" fmla="*/ 39388 w 71173"/>
                <a:gd name="connsiteY18" fmla="*/ 35540 h 91012"/>
                <a:gd name="connsiteX19" fmla="*/ 55383 w 71173"/>
                <a:gd name="connsiteY19" fmla="*/ 52404 h 91012"/>
                <a:gd name="connsiteX20" fmla="*/ 26492 w 71173"/>
                <a:gd name="connsiteY20" fmla="*/ 87122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63" y="46700"/>
                  </a:moveTo>
                  <a:cubicBezTo>
                    <a:pt x="56127" y="39508"/>
                    <a:pt x="50547" y="32068"/>
                    <a:pt x="38892" y="32068"/>
                  </a:cubicBezTo>
                  <a:cubicBezTo>
                    <a:pt x="21533" y="32068"/>
                    <a:pt x="7149" y="45088"/>
                    <a:pt x="2685" y="56247"/>
                  </a:cubicBezTo>
                  <a:cubicBezTo>
                    <a:pt x="1941" y="58355"/>
                    <a:pt x="205" y="63439"/>
                    <a:pt x="205" y="68399"/>
                  </a:cubicBezTo>
                  <a:cubicBezTo>
                    <a:pt x="205" y="76955"/>
                    <a:pt x="6901" y="91090"/>
                    <a:pt x="26244" y="91090"/>
                  </a:cubicBezTo>
                  <a:cubicBezTo>
                    <a:pt x="58359" y="91090"/>
                    <a:pt x="71379" y="51040"/>
                    <a:pt x="71379" y="33432"/>
                  </a:cubicBezTo>
                  <a:cubicBezTo>
                    <a:pt x="71379" y="12229"/>
                    <a:pt x="57491" y="78"/>
                    <a:pt x="40876" y="78"/>
                  </a:cubicBezTo>
                  <a:cubicBezTo>
                    <a:pt x="20665" y="78"/>
                    <a:pt x="15085" y="16197"/>
                    <a:pt x="15085" y="20041"/>
                  </a:cubicBezTo>
                  <a:cubicBezTo>
                    <a:pt x="15085" y="21033"/>
                    <a:pt x="15705" y="24505"/>
                    <a:pt x="20045" y="24505"/>
                  </a:cubicBezTo>
                  <a:cubicBezTo>
                    <a:pt x="24384" y="24505"/>
                    <a:pt x="26988" y="20661"/>
                    <a:pt x="26988" y="17685"/>
                  </a:cubicBezTo>
                  <a:cubicBezTo>
                    <a:pt x="26988" y="14337"/>
                    <a:pt x="24508" y="13221"/>
                    <a:pt x="22153" y="12973"/>
                  </a:cubicBezTo>
                  <a:cubicBezTo>
                    <a:pt x="28352" y="3674"/>
                    <a:pt x="38520" y="3674"/>
                    <a:pt x="40628" y="3674"/>
                  </a:cubicBezTo>
                  <a:cubicBezTo>
                    <a:pt x="49927" y="3674"/>
                    <a:pt x="60963" y="9501"/>
                    <a:pt x="60963" y="27109"/>
                  </a:cubicBezTo>
                  <a:cubicBezTo>
                    <a:pt x="60963" y="32440"/>
                    <a:pt x="60343" y="36780"/>
                    <a:pt x="57987" y="46700"/>
                  </a:cubicBezTo>
                  <a:lnTo>
                    <a:pt x="57863" y="46700"/>
                  </a:lnTo>
                  <a:close/>
                  <a:moveTo>
                    <a:pt x="26492" y="87122"/>
                  </a:moveTo>
                  <a:cubicBezTo>
                    <a:pt x="12481" y="87122"/>
                    <a:pt x="10869" y="76583"/>
                    <a:pt x="10869" y="72739"/>
                  </a:cubicBezTo>
                  <a:cubicBezTo>
                    <a:pt x="10869" y="67903"/>
                    <a:pt x="14217" y="55751"/>
                    <a:pt x="15457" y="52652"/>
                  </a:cubicBezTo>
                  <a:cubicBezTo>
                    <a:pt x="17689" y="46948"/>
                    <a:pt x="25376" y="35540"/>
                    <a:pt x="39388" y="35540"/>
                  </a:cubicBezTo>
                  <a:cubicBezTo>
                    <a:pt x="51415" y="35540"/>
                    <a:pt x="55383" y="44964"/>
                    <a:pt x="55383" y="52404"/>
                  </a:cubicBezTo>
                  <a:cubicBezTo>
                    <a:pt x="55383" y="60711"/>
                    <a:pt x="47324" y="87122"/>
                    <a:pt x="26492" y="87122"/>
                  </a:cubicBezTo>
                  <a:close/>
                </a:path>
              </a:pathLst>
            </a:custGeom>
            <a:solidFill>
              <a:srgbClr val="000000"/>
            </a:solidFill>
            <a:ln w="17732" cap="flat">
              <a:noFill/>
              <a:prstDash val="solid"/>
              <a:miter/>
            </a:ln>
          </p:spPr>
          <p:txBody>
            <a:bodyPr rtlCol="0" anchor="ctr"/>
            <a:lstStyle/>
            <a:p>
              <a:endParaRPr lang="zh-CN" altLang="en-US"/>
            </a:p>
          </p:txBody>
        </p:sp>
        <p:sp>
          <p:nvSpPr>
            <p:cNvPr id="16517" name="任意形状 16516">
              <a:extLst>
                <a:ext uri="{FF2B5EF4-FFF2-40B4-BE49-F238E27FC236}">
                  <a16:creationId xmlns:a16="http://schemas.microsoft.com/office/drawing/2014/main" id="{794F70FD-A068-C5F4-3DFD-D894121FADCB}"/>
                </a:ext>
              </a:extLst>
            </p:cNvPr>
            <p:cNvSpPr/>
            <p:nvPr>
              <p:custDataLst>
                <p:tags r:id="rId14"/>
              </p:custDataLst>
            </p:nvPr>
          </p:nvSpPr>
          <p:spPr>
            <a:xfrm>
              <a:off x="6281586" y="3865780"/>
              <a:ext cx="66337" cy="55921"/>
            </a:xfrm>
            <a:custGeom>
              <a:avLst/>
              <a:gdLst>
                <a:gd name="connsiteX0" fmla="*/ 25133 w 66337"/>
                <a:gd name="connsiteY0" fmla="*/ 41616 h 55921"/>
                <a:gd name="connsiteX1" fmla="*/ 13478 w 66337"/>
                <a:gd name="connsiteY1" fmla="*/ 52528 h 55921"/>
                <a:gd name="connsiteX2" fmla="*/ 6782 w 66337"/>
                <a:gd name="connsiteY2" fmla="*/ 50792 h 55921"/>
                <a:gd name="connsiteX3" fmla="*/ 12238 w 66337"/>
                <a:gd name="connsiteY3" fmla="*/ 43972 h 55921"/>
                <a:gd name="connsiteX4" fmla="*/ 7278 w 66337"/>
                <a:gd name="connsiteY4" fmla="*/ 39384 h 55921"/>
                <a:gd name="connsiteX5" fmla="*/ 210 w 66337"/>
                <a:gd name="connsiteY5" fmla="*/ 46948 h 55921"/>
                <a:gd name="connsiteX6" fmla="*/ 13230 w 66337"/>
                <a:gd name="connsiteY6" fmla="*/ 55999 h 55921"/>
                <a:gd name="connsiteX7" fmla="*/ 27117 w 66337"/>
                <a:gd name="connsiteY7" fmla="*/ 47196 h 55921"/>
                <a:gd name="connsiteX8" fmla="*/ 41872 w 66337"/>
                <a:gd name="connsiteY8" fmla="*/ 55999 h 55921"/>
                <a:gd name="connsiteX9" fmla="*/ 63696 w 66337"/>
                <a:gd name="connsiteY9" fmla="*/ 37028 h 55921"/>
                <a:gd name="connsiteX10" fmla="*/ 61712 w 66337"/>
                <a:gd name="connsiteY10" fmla="*/ 35416 h 55921"/>
                <a:gd name="connsiteX11" fmla="*/ 59356 w 66337"/>
                <a:gd name="connsiteY11" fmla="*/ 37524 h 55921"/>
                <a:gd name="connsiteX12" fmla="*/ 42368 w 66337"/>
                <a:gd name="connsiteY12" fmla="*/ 52528 h 55921"/>
                <a:gd name="connsiteX13" fmla="*/ 34805 w 66337"/>
                <a:gd name="connsiteY13" fmla="*/ 44468 h 55921"/>
                <a:gd name="connsiteX14" fmla="*/ 41252 w 66337"/>
                <a:gd name="connsiteY14" fmla="*/ 16197 h 55921"/>
                <a:gd name="connsiteX15" fmla="*/ 53404 w 66337"/>
                <a:gd name="connsiteY15" fmla="*/ 3550 h 55921"/>
                <a:gd name="connsiteX16" fmla="*/ 60100 w 66337"/>
                <a:gd name="connsiteY16" fmla="*/ 5285 h 55921"/>
                <a:gd name="connsiteX17" fmla="*/ 54644 w 66337"/>
                <a:gd name="connsiteY17" fmla="*/ 12105 h 55921"/>
                <a:gd name="connsiteX18" fmla="*/ 59604 w 66337"/>
                <a:gd name="connsiteY18" fmla="*/ 16693 h 55921"/>
                <a:gd name="connsiteX19" fmla="*/ 66547 w 66337"/>
                <a:gd name="connsiteY19" fmla="*/ 9129 h 55921"/>
                <a:gd name="connsiteX20" fmla="*/ 53652 w 66337"/>
                <a:gd name="connsiteY20" fmla="*/ 78 h 55921"/>
                <a:gd name="connsiteX21" fmla="*/ 39765 w 66337"/>
                <a:gd name="connsiteY21" fmla="*/ 8881 h 55921"/>
                <a:gd name="connsiteX22" fmla="*/ 24885 w 66337"/>
                <a:gd name="connsiteY22" fmla="*/ 78 h 55921"/>
                <a:gd name="connsiteX23" fmla="*/ 3062 w 66337"/>
                <a:gd name="connsiteY23" fmla="*/ 19049 h 55921"/>
                <a:gd name="connsiteX24" fmla="*/ 5170 w 66337"/>
                <a:gd name="connsiteY24" fmla="*/ 20661 h 55921"/>
                <a:gd name="connsiteX25" fmla="*/ 7526 w 66337"/>
                <a:gd name="connsiteY25" fmla="*/ 18553 h 55921"/>
                <a:gd name="connsiteX26" fmla="*/ 24513 w 66337"/>
                <a:gd name="connsiteY26" fmla="*/ 3550 h 55921"/>
                <a:gd name="connsiteX27" fmla="*/ 31953 w 66337"/>
                <a:gd name="connsiteY27" fmla="*/ 11733 h 55921"/>
                <a:gd name="connsiteX28" fmla="*/ 29349 w 66337"/>
                <a:gd name="connsiteY28" fmla="*/ 24629 h 55921"/>
                <a:gd name="connsiteX29" fmla="*/ 25133 w 66337"/>
                <a:gd name="connsiteY29" fmla="*/ 41616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66337" h="55921">
                  <a:moveTo>
                    <a:pt x="25133" y="41616"/>
                  </a:moveTo>
                  <a:cubicBezTo>
                    <a:pt x="23893" y="45832"/>
                    <a:pt x="19801" y="52528"/>
                    <a:pt x="13478" y="52528"/>
                  </a:cubicBezTo>
                  <a:cubicBezTo>
                    <a:pt x="13106" y="52528"/>
                    <a:pt x="9386" y="52528"/>
                    <a:pt x="6782" y="50792"/>
                  </a:cubicBezTo>
                  <a:cubicBezTo>
                    <a:pt x="11866" y="49180"/>
                    <a:pt x="12238" y="44716"/>
                    <a:pt x="12238" y="43972"/>
                  </a:cubicBezTo>
                  <a:cubicBezTo>
                    <a:pt x="12238" y="41244"/>
                    <a:pt x="10130" y="39384"/>
                    <a:pt x="7278" y="39384"/>
                  </a:cubicBezTo>
                  <a:cubicBezTo>
                    <a:pt x="3806" y="39384"/>
                    <a:pt x="210" y="42360"/>
                    <a:pt x="210" y="46948"/>
                  </a:cubicBezTo>
                  <a:cubicBezTo>
                    <a:pt x="210" y="53148"/>
                    <a:pt x="7154" y="55999"/>
                    <a:pt x="13230" y="55999"/>
                  </a:cubicBezTo>
                  <a:cubicBezTo>
                    <a:pt x="18933" y="55999"/>
                    <a:pt x="24017" y="52404"/>
                    <a:pt x="27117" y="47196"/>
                  </a:cubicBezTo>
                  <a:cubicBezTo>
                    <a:pt x="30093" y="53767"/>
                    <a:pt x="36913" y="55999"/>
                    <a:pt x="41872" y="55999"/>
                  </a:cubicBezTo>
                  <a:cubicBezTo>
                    <a:pt x="56132" y="55999"/>
                    <a:pt x="63696" y="40500"/>
                    <a:pt x="63696" y="37028"/>
                  </a:cubicBezTo>
                  <a:cubicBezTo>
                    <a:pt x="63696" y="35416"/>
                    <a:pt x="62084" y="35416"/>
                    <a:pt x="61712" y="35416"/>
                  </a:cubicBezTo>
                  <a:cubicBezTo>
                    <a:pt x="59976" y="35416"/>
                    <a:pt x="59852" y="36036"/>
                    <a:pt x="59356" y="37524"/>
                  </a:cubicBezTo>
                  <a:cubicBezTo>
                    <a:pt x="56752" y="46080"/>
                    <a:pt x="49312" y="52528"/>
                    <a:pt x="42368" y="52528"/>
                  </a:cubicBezTo>
                  <a:cubicBezTo>
                    <a:pt x="37409" y="52528"/>
                    <a:pt x="34805" y="49180"/>
                    <a:pt x="34805" y="44468"/>
                  </a:cubicBezTo>
                  <a:cubicBezTo>
                    <a:pt x="34805" y="41244"/>
                    <a:pt x="37781" y="29960"/>
                    <a:pt x="41252" y="16197"/>
                  </a:cubicBezTo>
                  <a:cubicBezTo>
                    <a:pt x="43732" y="6649"/>
                    <a:pt x="49312" y="3550"/>
                    <a:pt x="53404" y="3550"/>
                  </a:cubicBezTo>
                  <a:cubicBezTo>
                    <a:pt x="53652" y="3550"/>
                    <a:pt x="57496" y="3550"/>
                    <a:pt x="60100" y="5285"/>
                  </a:cubicBezTo>
                  <a:cubicBezTo>
                    <a:pt x="56132" y="6401"/>
                    <a:pt x="54644" y="9873"/>
                    <a:pt x="54644" y="12105"/>
                  </a:cubicBezTo>
                  <a:cubicBezTo>
                    <a:pt x="54644" y="14833"/>
                    <a:pt x="56752" y="16693"/>
                    <a:pt x="59604" y="16693"/>
                  </a:cubicBezTo>
                  <a:cubicBezTo>
                    <a:pt x="62456" y="16693"/>
                    <a:pt x="66547" y="14337"/>
                    <a:pt x="66547" y="9129"/>
                  </a:cubicBezTo>
                  <a:cubicBezTo>
                    <a:pt x="66547" y="2186"/>
                    <a:pt x="58612" y="78"/>
                    <a:pt x="53652" y="78"/>
                  </a:cubicBezTo>
                  <a:cubicBezTo>
                    <a:pt x="47452" y="78"/>
                    <a:pt x="42492" y="4169"/>
                    <a:pt x="39765" y="8881"/>
                  </a:cubicBezTo>
                  <a:cubicBezTo>
                    <a:pt x="37533" y="3797"/>
                    <a:pt x="31829" y="78"/>
                    <a:pt x="24885" y="78"/>
                  </a:cubicBezTo>
                  <a:cubicBezTo>
                    <a:pt x="10998" y="78"/>
                    <a:pt x="3062" y="15329"/>
                    <a:pt x="3062" y="19049"/>
                  </a:cubicBezTo>
                  <a:cubicBezTo>
                    <a:pt x="3062" y="20661"/>
                    <a:pt x="4798" y="20661"/>
                    <a:pt x="5170" y="20661"/>
                  </a:cubicBezTo>
                  <a:cubicBezTo>
                    <a:pt x="6782" y="20661"/>
                    <a:pt x="6906" y="20165"/>
                    <a:pt x="7526" y="18553"/>
                  </a:cubicBezTo>
                  <a:cubicBezTo>
                    <a:pt x="10626" y="8881"/>
                    <a:pt x="18437" y="3550"/>
                    <a:pt x="24513" y="3550"/>
                  </a:cubicBezTo>
                  <a:cubicBezTo>
                    <a:pt x="28605" y="3550"/>
                    <a:pt x="31953" y="5781"/>
                    <a:pt x="31953" y="11733"/>
                  </a:cubicBezTo>
                  <a:cubicBezTo>
                    <a:pt x="31953" y="14213"/>
                    <a:pt x="30465" y="20413"/>
                    <a:pt x="29349" y="24629"/>
                  </a:cubicBezTo>
                  <a:lnTo>
                    <a:pt x="25133" y="41616"/>
                  </a:lnTo>
                  <a:close/>
                </a:path>
              </a:pathLst>
            </a:custGeom>
            <a:solidFill>
              <a:srgbClr val="000000"/>
            </a:solidFill>
            <a:ln w="17732" cap="flat">
              <a:noFill/>
              <a:prstDash val="solid"/>
              <a:miter/>
            </a:ln>
          </p:spPr>
          <p:txBody>
            <a:bodyPr rtlCol="0" anchor="ctr"/>
            <a:lstStyle/>
            <a:p>
              <a:endParaRPr lang="zh-CN" altLang="en-US"/>
            </a:p>
          </p:txBody>
        </p:sp>
        <p:sp>
          <p:nvSpPr>
            <p:cNvPr id="16518" name="任意形状 16517">
              <a:extLst>
                <a:ext uri="{FF2B5EF4-FFF2-40B4-BE49-F238E27FC236}">
                  <a16:creationId xmlns:a16="http://schemas.microsoft.com/office/drawing/2014/main" id="{0E83F788-A841-2C4F-277B-D934D0506065}"/>
                </a:ext>
              </a:extLst>
            </p:cNvPr>
            <p:cNvSpPr/>
            <p:nvPr>
              <p:custDataLst>
                <p:tags r:id="rId15"/>
              </p:custDataLst>
            </p:nvPr>
          </p:nvSpPr>
          <p:spPr>
            <a:xfrm>
              <a:off x="6364020" y="3826049"/>
              <a:ext cx="44106" cy="58986"/>
            </a:xfrm>
            <a:custGeom>
              <a:avLst/>
              <a:gdLst>
                <a:gd name="connsiteX0" fmla="*/ 44321 w 44106"/>
                <a:gd name="connsiteY0" fmla="*/ 41968 h 58986"/>
                <a:gd name="connsiteX1" fmla="*/ 40602 w 44106"/>
                <a:gd name="connsiteY1" fmla="*/ 41968 h 58986"/>
                <a:gd name="connsiteX2" fmla="*/ 38033 w 44106"/>
                <a:gd name="connsiteY2" fmla="*/ 50028 h 58986"/>
                <a:gd name="connsiteX3" fmla="*/ 28556 w 44106"/>
                <a:gd name="connsiteY3" fmla="*/ 50559 h 58986"/>
                <a:gd name="connsiteX4" fmla="*/ 11197 w 44106"/>
                <a:gd name="connsiteY4" fmla="*/ 50559 h 58986"/>
                <a:gd name="connsiteX5" fmla="*/ 28911 w 44106"/>
                <a:gd name="connsiteY5" fmla="*/ 37717 h 58986"/>
                <a:gd name="connsiteX6" fmla="*/ 44321 w 44106"/>
                <a:gd name="connsiteY6" fmla="*/ 17701 h 58986"/>
                <a:gd name="connsiteX7" fmla="*/ 20940 w 44106"/>
                <a:gd name="connsiteY7" fmla="*/ 76 h 58986"/>
                <a:gd name="connsiteX8" fmla="*/ 215 w 44106"/>
                <a:gd name="connsiteY8" fmla="*/ 15664 h 58986"/>
                <a:gd name="connsiteX9" fmla="*/ 5352 w 44106"/>
                <a:gd name="connsiteY9" fmla="*/ 21066 h 58986"/>
                <a:gd name="connsiteX10" fmla="*/ 10577 w 44106"/>
                <a:gd name="connsiteY10" fmla="*/ 15841 h 58986"/>
                <a:gd name="connsiteX11" fmla="*/ 5529 w 44106"/>
                <a:gd name="connsiteY11" fmla="*/ 10615 h 58986"/>
                <a:gd name="connsiteX12" fmla="*/ 19080 w 44106"/>
                <a:gd name="connsiteY12" fmla="*/ 3973 h 58986"/>
                <a:gd name="connsiteX13" fmla="*/ 34845 w 44106"/>
                <a:gd name="connsiteY13" fmla="*/ 17789 h 58986"/>
                <a:gd name="connsiteX14" fmla="*/ 22888 w 44106"/>
                <a:gd name="connsiteY14" fmla="*/ 36654 h 58986"/>
                <a:gd name="connsiteX15" fmla="*/ 1277 w 44106"/>
                <a:gd name="connsiteY15" fmla="*/ 54988 h 58986"/>
                <a:gd name="connsiteX16" fmla="*/ 215 w 44106"/>
                <a:gd name="connsiteY16" fmla="*/ 56405 h 58986"/>
                <a:gd name="connsiteX17" fmla="*/ 215 w 44106"/>
                <a:gd name="connsiteY17" fmla="*/ 59062 h 58986"/>
                <a:gd name="connsiteX18" fmla="*/ 41399 w 44106"/>
                <a:gd name="connsiteY18" fmla="*/ 59062 h 58986"/>
                <a:gd name="connsiteX19" fmla="*/ 44321 w 44106"/>
                <a:gd name="connsiteY19" fmla="*/ 41968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21" y="41968"/>
                  </a:moveTo>
                  <a:lnTo>
                    <a:pt x="40602" y="41968"/>
                  </a:lnTo>
                  <a:cubicBezTo>
                    <a:pt x="40336" y="43651"/>
                    <a:pt x="39450" y="49142"/>
                    <a:pt x="38033" y="50028"/>
                  </a:cubicBezTo>
                  <a:cubicBezTo>
                    <a:pt x="37325" y="50559"/>
                    <a:pt x="29885" y="50559"/>
                    <a:pt x="28556" y="50559"/>
                  </a:cubicBezTo>
                  <a:lnTo>
                    <a:pt x="11197" y="50559"/>
                  </a:lnTo>
                  <a:cubicBezTo>
                    <a:pt x="17043" y="46220"/>
                    <a:pt x="23597" y="41260"/>
                    <a:pt x="28911" y="37717"/>
                  </a:cubicBezTo>
                  <a:cubicBezTo>
                    <a:pt x="36882" y="32226"/>
                    <a:pt x="44321" y="27089"/>
                    <a:pt x="44321" y="17701"/>
                  </a:cubicBezTo>
                  <a:cubicBezTo>
                    <a:pt x="44321" y="6364"/>
                    <a:pt x="33605" y="76"/>
                    <a:pt x="20940" y="76"/>
                  </a:cubicBezTo>
                  <a:cubicBezTo>
                    <a:pt x="8983" y="76"/>
                    <a:pt x="215" y="6984"/>
                    <a:pt x="215" y="15664"/>
                  </a:cubicBezTo>
                  <a:cubicBezTo>
                    <a:pt x="215" y="20269"/>
                    <a:pt x="4112" y="21066"/>
                    <a:pt x="5352" y="21066"/>
                  </a:cubicBezTo>
                  <a:cubicBezTo>
                    <a:pt x="7743" y="21066"/>
                    <a:pt x="10577" y="19472"/>
                    <a:pt x="10577" y="15841"/>
                  </a:cubicBezTo>
                  <a:cubicBezTo>
                    <a:pt x="10577" y="12652"/>
                    <a:pt x="8274" y="10881"/>
                    <a:pt x="5529" y="10615"/>
                  </a:cubicBezTo>
                  <a:cubicBezTo>
                    <a:pt x="8009" y="6630"/>
                    <a:pt x="13146" y="3973"/>
                    <a:pt x="19080" y="3973"/>
                  </a:cubicBezTo>
                  <a:cubicBezTo>
                    <a:pt x="27671" y="3973"/>
                    <a:pt x="34845" y="9110"/>
                    <a:pt x="34845" y="17789"/>
                  </a:cubicBezTo>
                  <a:cubicBezTo>
                    <a:pt x="34845" y="25229"/>
                    <a:pt x="29708" y="30897"/>
                    <a:pt x="22888" y="36654"/>
                  </a:cubicBezTo>
                  <a:lnTo>
                    <a:pt x="1277" y="54988"/>
                  </a:lnTo>
                  <a:cubicBezTo>
                    <a:pt x="392" y="55785"/>
                    <a:pt x="303" y="55785"/>
                    <a:pt x="215" y="56405"/>
                  </a:cubicBezTo>
                  <a:lnTo>
                    <a:pt x="215" y="59062"/>
                  </a:lnTo>
                  <a:lnTo>
                    <a:pt x="41399" y="59062"/>
                  </a:lnTo>
                  <a:lnTo>
                    <a:pt x="44321" y="41968"/>
                  </a:lnTo>
                  <a:close/>
                </a:path>
              </a:pathLst>
            </a:custGeom>
            <a:solidFill>
              <a:srgbClr val="000000"/>
            </a:solidFill>
            <a:ln w="17732" cap="flat">
              <a:noFill/>
              <a:prstDash val="solid"/>
              <a:miter/>
            </a:ln>
          </p:spPr>
          <p:txBody>
            <a:bodyPr rtlCol="0" anchor="ctr"/>
            <a:lstStyle/>
            <a:p>
              <a:endParaRPr lang="zh-CN" altLang="en-US"/>
            </a:p>
          </p:txBody>
        </p:sp>
        <p:sp>
          <p:nvSpPr>
            <p:cNvPr id="16519" name="任意形状 16518">
              <a:extLst>
                <a:ext uri="{FF2B5EF4-FFF2-40B4-BE49-F238E27FC236}">
                  <a16:creationId xmlns:a16="http://schemas.microsoft.com/office/drawing/2014/main" id="{49468AD1-8A05-604E-1364-340DF51C311C}"/>
                </a:ext>
              </a:extLst>
            </p:cNvPr>
            <p:cNvSpPr/>
            <p:nvPr>
              <p:custDataLst>
                <p:tags r:id="rId16"/>
              </p:custDataLst>
            </p:nvPr>
          </p:nvSpPr>
          <p:spPr>
            <a:xfrm>
              <a:off x="6502126" y="3811552"/>
              <a:ext cx="108229" cy="7085"/>
            </a:xfrm>
            <a:custGeom>
              <a:avLst/>
              <a:gdLst>
                <a:gd name="connsiteX0" fmla="*/ 102252 w 108229"/>
                <a:gd name="connsiteY0" fmla="*/ 7160 h 7085"/>
                <a:gd name="connsiteX1" fmla="*/ 108452 w 108229"/>
                <a:gd name="connsiteY1" fmla="*/ 3617 h 7085"/>
                <a:gd name="connsiteX2" fmla="*/ 102252 w 108229"/>
                <a:gd name="connsiteY2" fmla="*/ 74 h 7085"/>
                <a:gd name="connsiteX3" fmla="*/ 6422 w 108229"/>
                <a:gd name="connsiteY3" fmla="*/ 74 h 7085"/>
                <a:gd name="connsiteX4" fmla="*/ 222 w 108229"/>
                <a:gd name="connsiteY4" fmla="*/ 3617 h 7085"/>
                <a:gd name="connsiteX5" fmla="*/ 6422 w 108229"/>
                <a:gd name="connsiteY5" fmla="*/ 7160 h 7085"/>
                <a:gd name="connsiteX6" fmla="*/ 102252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252" y="7160"/>
                  </a:moveTo>
                  <a:cubicBezTo>
                    <a:pt x="105264" y="7160"/>
                    <a:pt x="108452" y="7160"/>
                    <a:pt x="108452" y="3617"/>
                  </a:cubicBezTo>
                  <a:cubicBezTo>
                    <a:pt x="108452" y="74"/>
                    <a:pt x="105264" y="74"/>
                    <a:pt x="102252" y="74"/>
                  </a:cubicBezTo>
                  <a:lnTo>
                    <a:pt x="6422" y="74"/>
                  </a:lnTo>
                  <a:cubicBezTo>
                    <a:pt x="3410" y="74"/>
                    <a:pt x="222" y="74"/>
                    <a:pt x="222" y="3617"/>
                  </a:cubicBezTo>
                  <a:cubicBezTo>
                    <a:pt x="222" y="7160"/>
                    <a:pt x="3410" y="7160"/>
                    <a:pt x="6422" y="7160"/>
                  </a:cubicBezTo>
                  <a:lnTo>
                    <a:pt x="102252" y="7160"/>
                  </a:lnTo>
                  <a:close/>
                </a:path>
              </a:pathLst>
            </a:custGeom>
            <a:solidFill>
              <a:srgbClr val="000000"/>
            </a:solidFill>
            <a:ln w="17732" cap="flat">
              <a:noFill/>
              <a:prstDash val="solid"/>
              <a:miter/>
            </a:ln>
          </p:spPr>
          <p:txBody>
            <a:bodyPr rtlCol="0" anchor="ctr"/>
            <a:lstStyle/>
            <a:p>
              <a:endParaRPr lang="zh-CN" altLang="en-US"/>
            </a:p>
          </p:txBody>
        </p:sp>
        <p:sp>
          <p:nvSpPr>
            <p:cNvPr id="16520" name="任意形状 16519">
              <a:extLst>
                <a:ext uri="{FF2B5EF4-FFF2-40B4-BE49-F238E27FC236}">
                  <a16:creationId xmlns:a16="http://schemas.microsoft.com/office/drawing/2014/main" id="{782A74F0-E828-03BE-8C54-34CF4B3D3634}"/>
                </a:ext>
              </a:extLst>
            </p:cNvPr>
            <p:cNvSpPr/>
            <p:nvPr>
              <p:custDataLst>
                <p:tags r:id="rId17"/>
              </p:custDataLst>
            </p:nvPr>
          </p:nvSpPr>
          <p:spPr>
            <a:xfrm>
              <a:off x="6693255" y="3701102"/>
              <a:ext cx="71173" cy="91012"/>
            </a:xfrm>
            <a:custGeom>
              <a:avLst/>
              <a:gdLst>
                <a:gd name="connsiteX0" fmla="*/ 57891 w 71173"/>
                <a:gd name="connsiteY0" fmla="*/ 46692 h 91012"/>
                <a:gd name="connsiteX1" fmla="*/ 38920 w 71173"/>
                <a:gd name="connsiteY1" fmla="*/ 32061 h 91012"/>
                <a:gd name="connsiteX2" fmla="*/ 2713 w 71173"/>
                <a:gd name="connsiteY2" fmla="*/ 56240 h 91012"/>
                <a:gd name="connsiteX3" fmla="*/ 233 w 71173"/>
                <a:gd name="connsiteY3" fmla="*/ 68392 h 91012"/>
                <a:gd name="connsiteX4" fmla="*/ 26272 w 71173"/>
                <a:gd name="connsiteY4" fmla="*/ 91083 h 91012"/>
                <a:gd name="connsiteX5" fmla="*/ 71406 w 71173"/>
                <a:gd name="connsiteY5" fmla="*/ 33425 h 91012"/>
                <a:gd name="connsiteX6" fmla="*/ 40904 w 71173"/>
                <a:gd name="connsiteY6" fmla="*/ 70 h 91012"/>
                <a:gd name="connsiteX7" fmla="*/ 15113 w 71173"/>
                <a:gd name="connsiteY7" fmla="*/ 20033 h 91012"/>
                <a:gd name="connsiteX8" fmla="*/ 20072 w 71173"/>
                <a:gd name="connsiteY8" fmla="*/ 24497 h 91012"/>
                <a:gd name="connsiteX9" fmla="*/ 27016 w 71173"/>
                <a:gd name="connsiteY9" fmla="*/ 17678 h 91012"/>
                <a:gd name="connsiteX10" fmla="*/ 22180 w 71173"/>
                <a:gd name="connsiteY10" fmla="*/ 12966 h 91012"/>
                <a:gd name="connsiteX11" fmla="*/ 40656 w 71173"/>
                <a:gd name="connsiteY11" fmla="*/ 3666 h 91012"/>
                <a:gd name="connsiteX12" fmla="*/ 60991 w 71173"/>
                <a:gd name="connsiteY12" fmla="*/ 27101 h 91012"/>
                <a:gd name="connsiteX13" fmla="*/ 58015 w 71173"/>
                <a:gd name="connsiteY13" fmla="*/ 46692 h 91012"/>
                <a:gd name="connsiteX14" fmla="*/ 57891 w 71173"/>
                <a:gd name="connsiteY14" fmla="*/ 46692 h 91012"/>
                <a:gd name="connsiteX15" fmla="*/ 26520 w 71173"/>
                <a:gd name="connsiteY15" fmla="*/ 87115 h 91012"/>
                <a:gd name="connsiteX16" fmla="*/ 10897 w 71173"/>
                <a:gd name="connsiteY16" fmla="*/ 72731 h 91012"/>
                <a:gd name="connsiteX17" fmla="*/ 15485 w 71173"/>
                <a:gd name="connsiteY17" fmla="*/ 52644 h 91012"/>
                <a:gd name="connsiteX18" fmla="*/ 39416 w 71173"/>
                <a:gd name="connsiteY18" fmla="*/ 35533 h 91012"/>
                <a:gd name="connsiteX19" fmla="*/ 55411 w 71173"/>
                <a:gd name="connsiteY19" fmla="*/ 52396 h 91012"/>
                <a:gd name="connsiteX20" fmla="*/ 26520 w 71173"/>
                <a:gd name="connsiteY20" fmla="*/ 87115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91" y="46692"/>
                  </a:moveTo>
                  <a:cubicBezTo>
                    <a:pt x="56155" y="39501"/>
                    <a:pt x="50575" y="32061"/>
                    <a:pt x="38920" y="32061"/>
                  </a:cubicBezTo>
                  <a:cubicBezTo>
                    <a:pt x="21560" y="32061"/>
                    <a:pt x="7177" y="45080"/>
                    <a:pt x="2713" y="56240"/>
                  </a:cubicBezTo>
                  <a:cubicBezTo>
                    <a:pt x="1969" y="58348"/>
                    <a:pt x="233" y="63432"/>
                    <a:pt x="233" y="68392"/>
                  </a:cubicBezTo>
                  <a:cubicBezTo>
                    <a:pt x="233" y="76947"/>
                    <a:pt x="6929" y="91083"/>
                    <a:pt x="26272" y="91083"/>
                  </a:cubicBezTo>
                  <a:cubicBezTo>
                    <a:pt x="58387" y="91083"/>
                    <a:pt x="71406" y="51032"/>
                    <a:pt x="71406" y="33425"/>
                  </a:cubicBezTo>
                  <a:cubicBezTo>
                    <a:pt x="71406" y="12222"/>
                    <a:pt x="57519" y="70"/>
                    <a:pt x="40904" y="70"/>
                  </a:cubicBezTo>
                  <a:cubicBezTo>
                    <a:pt x="20692" y="70"/>
                    <a:pt x="15113" y="16190"/>
                    <a:pt x="15113" y="20033"/>
                  </a:cubicBezTo>
                  <a:cubicBezTo>
                    <a:pt x="15113" y="21025"/>
                    <a:pt x="15733" y="24497"/>
                    <a:pt x="20072" y="24497"/>
                  </a:cubicBezTo>
                  <a:cubicBezTo>
                    <a:pt x="24412" y="24497"/>
                    <a:pt x="27016" y="20653"/>
                    <a:pt x="27016" y="17678"/>
                  </a:cubicBezTo>
                  <a:cubicBezTo>
                    <a:pt x="27016" y="14330"/>
                    <a:pt x="24536" y="13214"/>
                    <a:pt x="22180" y="12966"/>
                  </a:cubicBezTo>
                  <a:cubicBezTo>
                    <a:pt x="28380" y="3666"/>
                    <a:pt x="38548" y="3666"/>
                    <a:pt x="40656" y="3666"/>
                  </a:cubicBezTo>
                  <a:cubicBezTo>
                    <a:pt x="49955" y="3666"/>
                    <a:pt x="60991" y="9494"/>
                    <a:pt x="60991" y="27101"/>
                  </a:cubicBezTo>
                  <a:cubicBezTo>
                    <a:pt x="60991" y="32433"/>
                    <a:pt x="60371" y="36773"/>
                    <a:pt x="58015" y="46692"/>
                  </a:cubicBezTo>
                  <a:lnTo>
                    <a:pt x="57891" y="46692"/>
                  </a:lnTo>
                  <a:close/>
                  <a:moveTo>
                    <a:pt x="26520" y="87115"/>
                  </a:moveTo>
                  <a:cubicBezTo>
                    <a:pt x="12509" y="87115"/>
                    <a:pt x="10897" y="76575"/>
                    <a:pt x="10897" y="72731"/>
                  </a:cubicBezTo>
                  <a:cubicBezTo>
                    <a:pt x="10897" y="67896"/>
                    <a:pt x="14245" y="55744"/>
                    <a:pt x="15485" y="52644"/>
                  </a:cubicBezTo>
                  <a:cubicBezTo>
                    <a:pt x="17716" y="46940"/>
                    <a:pt x="25404" y="35533"/>
                    <a:pt x="39416" y="35533"/>
                  </a:cubicBezTo>
                  <a:cubicBezTo>
                    <a:pt x="51443" y="35533"/>
                    <a:pt x="55411" y="44956"/>
                    <a:pt x="55411" y="52396"/>
                  </a:cubicBezTo>
                  <a:cubicBezTo>
                    <a:pt x="55411" y="60704"/>
                    <a:pt x="47351" y="87115"/>
                    <a:pt x="26520" y="87115"/>
                  </a:cubicBezTo>
                  <a:close/>
                </a:path>
              </a:pathLst>
            </a:custGeom>
            <a:solidFill>
              <a:srgbClr val="000000"/>
            </a:solidFill>
            <a:ln w="17732" cap="flat">
              <a:noFill/>
              <a:prstDash val="solid"/>
              <a:miter/>
            </a:ln>
          </p:spPr>
          <p:txBody>
            <a:bodyPr rtlCol="0" anchor="ctr"/>
            <a:lstStyle/>
            <a:p>
              <a:endParaRPr lang="zh-CN" altLang="en-US"/>
            </a:p>
          </p:txBody>
        </p:sp>
        <p:sp>
          <p:nvSpPr>
            <p:cNvPr id="16521" name="任意形状 16520">
              <a:extLst>
                <a:ext uri="{FF2B5EF4-FFF2-40B4-BE49-F238E27FC236}">
                  <a16:creationId xmlns:a16="http://schemas.microsoft.com/office/drawing/2014/main" id="{8833852C-162D-621F-0602-D8554FB40869}"/>
                </a:ext>
              </a:extLst>
            </p:cNvPr>
            <p:cNvSpPr/>
            <p:nvPr>
              <p:custDataLst>
                <p:tags r:id="rId18"/>
              </p:custDataLst>
            </p:nvPr>
          </p:nvSpPr>
          <p:spPr>
            <a:xfrm>
              <a:off x="6777148" y="3677193"/>
              <a:ext cx="44106" cy="58986"/>
            </a:xfrm>
            <a:custGeom>
              <a:avLst/>
              <a:gdLst>
                <a:gd name="connsiteX0" fmla="*/ 44345 w 44106"/>
                <a:gd name="connsiteY0" fmla="*/ 41960 h 58986"/>
                <a:gd name="connsiteX1" fmla="*/ 40625 w 44106"/>
                <a:gd name="connsiteY1" fmla="*/ 41960 h 58986"/>
                <a:gd name="connsiteX2" fmla="*/ 38056 w 44106"/>
                <a:gd name="connsiteY2" fmla="*/ 50020 h 58986"/>
                <a:gd name="connsiteX3" fmla="*/ 28580 w 44106"/>
                <a:gd name="connsiteY3" fmla="*/ 50551 h 58986"/>
                <a:gd name="connsiteX4" fmla="*/ 11220 w 44106"/>
                <a:gd name="connsiteY4" fmla="*/ 50551 h 58986"/>
                <a:gd name="connsiteX5" fmla="*/ 28934 w 44106"/>
                <a:gd name="connsiteY5" fmla="*/ 37709 h 58986"/>
                <a:gd name="connsiteX6" fmla="*/ 44345 w 44106"/>
                <a:gd name="connsiteY6" fmla="*/ 17692 h 58986"/>
                <a:gd name="connsiteX7" fmla="*/ 20963 w 44106"/>
                <a:gd name="connsiteY7" fmla="*/ 67 h 58986"/>
                <a:gd name="connsiteX8" fmla="*/ 238 w 44106"/>
                <a:gd name="connsiteY8" fmla="*/ 15655 h 58986"/>
                <a:gd name="connsiteX9" fmla="*/ 5375 w 44106"/>
                <a:gd name="connsiteY9" fmla="*/ 21058 h 58986"/>
                <a:gd name="connsiteX10" fmla="*/ 10600 w 44106"/>
                <a:gd name="connsiteY10" fmla="*/ 15832 h 58986"/>
                <a:gd name="connsiteX11" fmla="*/ 5552 w 44106"/>
                <a:gd name="connsiteY11" fmla="*/ 10607 h 58986"/>
                <a:gd name="connsiteX12" fmla="*/ 19103 w 44106"/>
                <a:gd name="connsiteY12" fmla="*/ 3964 h 58986"/>
                <a:gd name="connsiteX13" fmla="*/ 34868 w 44106"/>
                <a:gd name="connsiteY13" fmla="*/ 17781 h 58986"/>
                <a:gd name="connsiteX14" fmla="*/ 22911 w 44106"/>
                <a:gd name="connsiteY14" fmla="*/ 36646 h 58986"/>
                <a:gd name="connsiteX15" fmla="*/ 1301 w 44106"/>
                <a:gd name="connsiteY15" fmla="*/ 54979 h 58986"/>
                <a:gd name="connsiteX16" fmla="*/ 238 w 44106"/>
                <a:gd name="connsiteY16" fmla="*/ 56396 h 58986"/>
                <a:gd name="connsiteX17" fmla="*/ 238 w 44106"/>
                <a:gd name="connsiteY17" fmla="*/ 59053 h 58986"/>
                <a:gd name="connsiteX18" fmla="*/ 41422 w 44106"/>
                <a:gd name="connsiteY18" fmla="*/ 59053 h 58986"/>
                <a:gd name="connsiteX19" fmla="*/ 44345 w 44106"/>
                <a:gd name="connsiteY19" fmla="*/ 41960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45" y="41960"/>
                  </a:moveTo>
                  <a:lnTo>
                    <a:pt x="40625" y="41960"/>
                  </a:lnTo>
                  <a:cubicBezTo>
                    <a:pt x="40359" y="43643"/>
                    <a:pt x="39473" y="49134"/>
                    <a:pt x="38056" y="50020"/>
                  </a:cubicBezTo>
                  <a:cubicBezTo>
                    <a:pt x="37348" y="50551"/>
                    <a:pt x="29908" y="50551"/>
                    <a:pt x="28580" y="50551"/>
                  </a:cubicBezTo>
                  <a:lnTo>
                    <a:pt x="11220" y="50551"/>
                  </a:lnTo>
                  <a:cubicBezTo>
                    <a:pt x="17066" y="46211"/>
                    <a:pt x="23620" y="41251"/>
                    <a:pt x="28934" y="37709"/>
                  </a:cubicBezTo>
                  <a:cubicBezTo>
                    <a:pt x="36905" y="32217"/>
                    <a:pt x="44345" y="27080"/>
                    <a:pt x="44345" y="17692"/>
                  </a:cubicBezTo>
                  <a:cubicBezTo>
                    <a:pt x="44345" y="6356"/>
                    <a:pt x="33628" y="67"/>
                    <a:pt x="20963" y="67"/>
                  </a:cubicBezTo>
                  <a:cubicBezTo>
                    <a:pt x="9006" y="67"/>
                    <a:pt x="238" y="6976"/>
                    <a:pt x="238" y="15655"/>
                  </a:cubicBezTo>
                  <a:cubicBezTo>
                    <a:pt x="238" y="20261"/>
                    <a:pt x="4135" y="21058"/>
                    <a:pt x="5375" y="21058"/>
                  </a:cubicBezTo>
                  <a:cubicBezTo>
                    <a:pt x="7766" y="21058"/>
                    <a:pt x="10600" y="19464"/>
                    <a:pt x="10600" y="15832"/>
                  </a:cubicBezTo>
                  <a:cubicBezTo>
                    <a:pt x="10600" y="12644"/>
                    <a:pt x="8298" y="10873"/>
                    <a:pt x="5552" y="10607"/>
                  </a:cubicBezTo>
                  <a:cubicBezTo>
                    <a:pt x="8032" y="6621"/>
                    <a:pt x="13169" y="3964"/>
                    <a:pt x="19103" y="3964"/>
                  </a:cubicBezTo>
                  <a:cubicBezTo>
                    <a:pt x="27694" y="3964"/>
                    <a:pt x="34868" y="9101"/>
                    <a:pt x="34868" y="17781"/>
                  </a:cubicBezTo>
                  <a:cubicBezTo>
                    <a:pt x="34868" y="25221"/>
                    <a:pt x="29731" y="30889"/>
                    <a:pt x="22911" y="36646"/>
                  </a:cubicBezTo>
                  <a:lnTo>
                    <a:pt x="1301" y="54979"/>
                  </a:lnTo>
                  <a:cubicBezTo>
                    <a:pt x="415" y="55776"/>
                    <a:pt x="326" y="55776"/>
                    <a:pt x="238" y="56396"/>
                  </a:cubicBezTo>
                  <a:lnTo>
                    <a:pt x="238" y="59053"/>
                  </a:lnTo>
                  <a:lnTo>
                    <a:pt x="41422" y="59053"/>
                  </a:lnTo>
                  <a:lnTo>
                    <a:pt x="44345" y="41960"/>
                  </a:lnTo>
                  <a:close/>
                </a:path>
              </a:pathLst>
            </a:custGeom>
            <a:solidFill>
              <a:srgbClr val="000000"/>
            </a:solidFill>
            <a:ln w="17732" cap="flat">
              <a:noFill/>
              <a:prstDash val="solid"/>
              <a:miter/>
            </a:ln>
          </p:spPr>
          <p:txBody>
            <a:bodyPr rtlCol="0" anchor="ctr"/>
            <a:lstStyle/>
            <a:p>
              <a:endParaRPr lang="zh-CN" altLang="en-US"/>
            </a:p>
          </p:txBody>
        </p:sp>
        <p:sp>
          <p:nvSpPr>
            <p:cNvPr id="16522" name="任意形状 16521">
              <a:extLst>
                <a:ext uri="{FF2B5EF4-FFF2-40B4-BE49-F238E27FC236}">
                  <a16:creationId xmlns:a16="http://schemas.microsoft.com/office/drawing/2014/main" id="{F05CBD51-EC07-83CC-8D00-B8B07CBA02D9}"/>
                </a:ext>
              </a:extLst>
            </p:cNvPr>
            <p:cNvSpPr/>
            <p:nvPr>
              <p:custDataLst>
                <p:tags r:id="rId19"/>
              </p:custDataLst>
            </p:nvPr>
          </p:nvSpPr>
          <p:spPr>
            <a:xfrm>
              <a:off x="6844049" y="3734953"/>
              <a:ext cx="72041" cy="55921"/>
            </a:xfrm>
            <a:custGeom>
              <a:avLst/>
              <a:gdLst>
                <a:gd name="connsiteX0" fmla="*/ 46864 w 72041"/>
                <a:gd name="connsiteY0" fmla="*/ 34665 h 55921"/>
                <a:gd name="connsiteX1" fmla="*/ 44880 w 72041"/>
                <a:gd name="connsiteY1" fmla="*/ 41981 h 55921"/>
                <a:gd name="connsiteX2" fmla="*/ 29877 w 72041"/>
                <a:gd name="connsiteY2" fmla="*/ 52520 h 55921"/>
                <a:gd name="connsiteX3" fmla="*/ 21321 w 72041"/>
                <a:gd name="connsiteY3" fmla="*/ 42229 h 55921"/>
                <a:gd name="connsiteX4" fmla="*/ 28265 w 72041"/>
                <a:gd name="connsiteY4" fmla="*/ 17058 h 55921"/>
                <a:gd name="connsiteX5" fmla="*/ 30001 w 72041"/>
                <a:gd name="connsiteY5" fmla="*/ 10734 h 55921"/>
                <a:gd name="connsiteX6" fmla="*/ 18221 w 72041"/>
                <a:gd name="connsiteY6" fmla="*/ 70 h 55921"/>
                <a:gd name="connsiteX7" fmla="*/ 242 w 72041"/>
                <a:gd name="connsiteY7" fmla="*/ 19042 h 55921"/>
                <a:gd name="connsiteX8" fmla="*/ 2350 w 72041"/>
                <a:gd name="connsiteY8" fmla="*/ 20653 h 55921"/>
                <a:gd name="connsiteX9" fmla="*/ 4582 w 72041"/>
                <a:gd name="connsiteY9" fmla="*/ 18670 h 55921"/>
                <a:gd name="connsiteX10" fmla="*/ 17849 w 72041"/>
                <a:gd name="connsiteY10" fmla="*/ 3542 h 55921"/>
                <a:gd name="connsiteX11" fmla="*/ 20949 w 72041"/>
                <a:gd name="connsiteY11" fmla="*/ 7882 h 55921"/>
                <a:gd name="connsiteX12" fmla="*/ 18717 w 72041"/>
                <a:gd name="connsiteY12" fmla="*/ 16190 h 55921"/>
                <a:gd name="connsiteX13" fmla="*/ 12021 w 72041"/>
                <a:gd name="connsiteY13" fmla="*/ 40245 h 55921"/>
                <a:gd name="connsiteX14" fmla="*/ 16609 w 72041"/>
                <a:gd name="connsiteY14" fmla="*/ 52024 h 55921"/>
                <a:gd name="connsiteX15" fmla="*/ 29381 w 72041"/>
                <a:gd name="connsiteY15" fmla="*/ 55992 h 55921"/>
                <a:gd name="connsiteX16" fmla="*/ 45500 w 72041"/>
                <a:gd name="connsiteY16" fmla="*/ 47808 h 55921"/>
                <a:gd name="connsiteX17" fmla="*/ 58023 w 72041"/>
                <a:gd name="connsiteY17" fmla="*/ 55992 h 55921"/>
                <a:gd name="connsiteX18" fmla="*/ 67819 w 72041"/>
                <a:gd name="connsiteY18" fmla="*/ 49420 h 55921"/>
                <a:gd name="connsiteX19" fmla="*/ 72283 w 72041"/>
                <a:gd name="connsiteY19" fmla="*/ 37021 h 55921"/>
                <a:gd name="connsiteX20" fmla="*/ 70175 w 72041"/>
                <a:gd name="connsiteY20" fmla="*/ 35409 h 55921"/>
                <a:gd name="connsiteX21" fmla="*/ 67447 w 72041"/>
                <a:gd name="connsiteY21" fmla="*/ 39253 h 55921"/>
                <a:gd name="connsiteX22" fmla="*/ 58395 w 72041"/>
                <a:gd name="connsiteY22" fmla="*/ 52520 h 55921"/>
                <a:gd name="connsiteX23" fmla="*/ 54304 w 72041"/>
                <a:gd name="connsiteY23" fmla="*/ 46444 h 55921"/>
                <a:gd name="connsiteX24" fmla="*/ 56163 w 72041"/>
                <a:gd name="connsiteY24" fmla="*/ 36649 h 55921"/>
                <a:gd name="connsiteX25" fmla="*/ 58891 w 72041"/>
                <a:gd name="connsiteY25" fmla="*/ 25489 h 55921"/>
                <a:gd name="connsiteX26" fmla="*/ 61743 w 72041"/>
                <a:gd name="connsiteY26" fmla="*/ 14454 h 55921"/>
                <a:gd name="connsiteX27" fmla="*/ 63851 w 72041"/>
                <a:gd name="connsiteY27" fmla="*/ 5278 h 55921"/>
                <a:gd name="connsiteX28" fmla="*/ 59759 w 72041"/>
                <a:gd name="connsiteY28" fmla="*/ 1310 h 55921"/>
                <a:gd name="connsiteX29" fmla="*/ 53312 w 72041"/>
                <a:gd name="connsiteY29" fmla="*/ 8874 h 55921"/>
                <a:gd name="connsiteX30" fmla="*/ 46864 w 72041"/>
                <a:gd name="connsiteY30" fmla="*/ 34665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041" h="55921">
                  <a:moveTo>
                    <a:pt x="46864" y="34665"/>
                  </a:moveTo>
                  <a:cubicBezTo>
                    <a:pt x="46244" y="37145"/>
                    <a:pt x="45128" y="41857"/>
                    <a:pt x="44880" y="41981"/>
                  </a:cubicBezTo>
                  <a:cubicBezTo>
                    <a:pt x="42524" y="45824"/>
                    <a:pt x="37564" y="52520"/>
                    <a:pt x="29877" y="52520"/>
                  </a:cubicBezTo>
                  <a:cubicBezTo>
                    <a:pt x="21321" y="52520"/>
                    <a:pt x="21321" y="44461"/>
                    <a:pt x="21321" y="42229"/>
                  </a:cubicBezTo>
                  <a:cubicBezTo>
                    <a:pt x="21321" y="34913"/>
                    <a:pt x="24793" y="26109"/>
                    <a:pt x="28265" y="17058"/>
                  </a:cubicBezTo>
                  <a:cubicBezTo>
                    <a:pt x="29257" y="14578"/>
                    <a:pt x="30001" y="12718"/>
                    <a:pt x="30001" y="10734"/>
                  </a:cubicBezTo>
                  <a:cubicBezTo>
                    <a:pt x="30001" y="4286"/>
                    <a:pt x="24545" y="70"/>
                    <a:pt x="18221" y="70"/>
                  </a:cubicBezTo>
                  <a:cubicBezTo>
                    <a:pt x="5822" y="70"/>
                    <a:pt x="242" y="17058"/>
                    <a:pt x="242" y="19042"/>
                  </a:cubicBezTo>
                  <a:cubicBezTo>
                    <a:pt x="242" y="20653"/>
                    <a:pt x="1978" y="20653"/>
                    <a:pt x="2350" y="20653"/>
                  </a:cubicBezTo>
                  <a:cubicBezTo>
                    <a:pt x="4086" y="20653"/>
                    <a:pt x="4210" y="20033"/>
                    <a:pt x="4582" y="18670"/>
                  </a:cubicBezTo>
                  <a:cubicBezTo>
                    <a:pt x="7557" y="8502"/>
                    <a:pt x="13013" y="3542"/>
                    <a:pt x="17849" y="3542"/>
                  </a:cubicBezTo>
                  <a:cubicBezTo>
                    <a:pt x="19957" y="3542"/>
                    <a:pt x="20949" y="4906"/>
                    <a:pt x="20949" y="7882"/>
                  </a:cubicBezTo>
                  <a:cubicBezTo>
                    <a:pt x="20949" y="10734"/>
                    <a:pt x="19957" y="13338"/>
                    <a:pt x="18717" y="16190"/>
                  </a:cubicBezTo>
                  <a:cubicBezTo>
                    <a:pt x="12021" y="33301"/>
                    <a:pt x="12021" y="36897"/>
                    <a:pt x="12021" y="40245"/>
                  </a:cubicBezTo>
                  <a:cubicBezTo>
                    <a:pt x="12021" y="42353"/>
                    <a:pt x="12021" y="48056"/>
                    <a:pt x="16609" y="52024"/>
                  </a:cubicBezTo>
                  <a:cubicBezTo>
                    <a:pt x="20205" y="55000"/>
                    <a:pt x="25041" y="55992"/>
                    <a:pt x="29381" y="55992"/>
                  </a:cubicBezTo>
                  <a:cubicBezTo>
                    <a:pt x="37192" y="55992"/>
                    <a:pt x="41408" y="51776"/>
                    <a:pt x="45500" y="47808"/>
                  </a:cubicBezTo>
                  <a:cubicBezTo>
                    <a:pt x="48228" y="55744"/>
                    <a:pt x="56535" y="55992"/>
                    <a:pt x="58023" y="55992"/>
                  </a:cubicBezTo>
                  <a:cubicBezTo>
                    <a:pt x="62239" y="55992"/>
                    <a:pt x="65463" y="53512"/>
                    <a:pt x="67819" y="49420"/>
                  </a:cubicBezTo>
                  <a:cubicBezTo>
                    <a:pt x="70547" y="44584"/>
                    <a:pt x="72283" y="37393"/>
                    <a:pt x="72283" y="37021"/>
                  </a:cubicBezTo>
                  <a:cubicBezTo>
                    <a:pt x="72283" y="35409"/>
                    <a:pt x="70547" y="35409"/>
                    <a:pt x="70175" y="35409"/>
                  </a:cubicBezTo>
                  <a:cubicBezTo>
                    <a:pt x="68439" y="35409"/>
                    <a:pt x="68315" y="35905"/>
                    <a:pt x="67447" y="39253"/>
                  </a:cubicBezTo>
                  <a:cubicBezTo>
                    <a:pt x="65959" y="45080"/>
                    <a:pt x="63603" y="52520"/>
                    <a:pt x="58395" y="52520"/>
                  </a:cubicBezTo>
                  <a:cubicBezTo>
                    <a:pt x="55172" y="52520"/>
                    <a:pt x="54304" y="49668"/>
                    <a:pt x="54304" y="46444"/>
                  </a:cubicBezTo>
                  <a:cubicBezTo>
                    <a:pt x="54304" y="44337"/>
                    <a:pt x="55296" y="39873"/>
                    <a:pt x="56163" y="36649"/>
                  </a:cubicBezTo>
                  <a:cubicBezTo>
                    <a:pt x="57031" y="33301"/>
                    <a:pt x="58271" y="28217"/>
                    <a:pt x="58891" y="25489"/>
                  </a:cubicBezTo>
                  <a:lnTo>
                    <a:pt x="61743" y="14454"/>
                  </a:lnTo>
                  <a:cubicBezTo>
                    <a:pt x="62487" y="11354"/>
                    <a:pt x="63851" y="5898"/>
                    <a:pt x="63851" y="5278"/>
                  </a:cubicBezTo>
                  <a:cubicBezTo>
                    <a:pt x="63851" y="2798"/>
                    <a:pt x="61867" y="1310"/>
                    <a:pt x="59759" y="1310"/>
                  </a:cubicBezTo>
                  <a:cubicBezTo>
                    <a:pt x="55172" y="1310"/>
                    <a:pt x="54304" y="4906"/>
                    <a:pt x="53312" y="8874"/>
                  </a:cubicBezTo>
                  <a:lnTo>
                    <a:pt x="46864" y="34665"/>
                  </a:lnTo>
                  <a:close/>
                </a:path>
              </a:pathLst>
            </a:custGeom>
            <a:solidFill>
              <a:srgbClr val="000000"/>
            </a:solidFill>
            <a:ln w="17732" cap="flat">
              <a:noFill/>
              <a:prstDash val="solid"/>
              <a:miter/>
            </a:ln>
          </p:spPr>
          <p:txBody>
            <a:bodyPr rtlCol="0" anchor="ctr"/>
            <a:lstStyle/>
            <a:p>
              <a:endParaRPr lang="zh-CN" altLang="en-US"/>
            </a:p>
          </p:txBody>
        </p:sp>
        <p:sp>
          <p:nvSpPr>
            <p:cNvPr id="16523" name="任意形状 16522">
              <a:extLst>
                <a:ext uri="{FF2B5EF4-FFF2-40B4-BE49-F238E27FC236}">
                  <a16:creationId xmlns:a16="http://schemas.microsoft.com/office/drawing/2014/main" id="{5D3F870F-40F1-3F85-08ED-D57781F2330C}"/>
                </a:ext>
              </a:extLst>
            </p:cNvPr>
            <p:cNvSpPr/>
            <p:nvPr>
              <p:custDataLst>
                <p:tags r:id="rId20"/>
              </p:custDataLst>
            </p:nvPr>
          </p:nvSpPr>
          <p:spPr>
            <a:xfrm>
              <a:off x="6685816" y="3811552"/>
              <a:ext cx="236156" cy="7085"/>
            </a:xfrm>
            <a:custGeom>
              <a:avLst/>
              <a:gdLst>
                <a:gd name="connsiteX0" fmla="*/ 0 w 236156"/>
                <a:gd name="connsiteY0" fmla="*/ 0 h 7085"/>
                <a:gd name="connsiteX1" fmla="*/ 236156 w 236156"/>
                <a:gd name="connsiteY1" fmla="*/ 0 h 7085"/>
                <a:gd name="connsiteX2" fmla="*/ 236156 w 236156"/>
                <a:gd name="connsiteY2" fmla="*/ 7085 h 7085"/>
                <a:gd name="connsiteX3" fmla="*/ 0 w 236156"/>
                <a:gd name="connsiteY3" fmla="*/ 7085 h 7085"/>
              </a:gdLst>
              <a:ahLst/>
              <a:cxnLst>
                <a:cxn ang="0">
                  <a:pos x="connsiteX0" y="connsiteY0"/>
                </a:cxn>
                <a:cxn ang="0">
                  <a:pos x="connsiteX1" y="connsiteY1"/>
                </a:cxn>
                <a:cxn ang="0">
                  <a:pos x="connsiteX2" y="connsiteY2"/>
                </a:cxn>
                <a:cxn ang="0">
                  <a:pos x="connsiteX3" y="connsiteY3"/>
                </a:cxn>
              </a:cxnLst>
              <a:rect l="l" t="t" r="r" b="b"/>
              <a:pathLst>
                <a:path w="236156" h="7085">
                  <a:moveTo>
                    <a:pt x="0" y="0"/>
                  </a:moveTo>
                  <a:lnTo>
                    <a:pt x="236156" y="0"/>
                  </a:lnTo>
                  <a:lnTo>
                    <a:pt x="236156" y="7085"/>
                  </a:lnTo>
                  <a:lnTo>
                    <a:pt x="0" y="7085"/>
                  </a:lnTo>
                  <a:close/>
                </a:path>
              </a:pathLst>
            </a:custGeom>
            <a:solidFill>
              <a:srgbClr val="000000"/>
            </a:solidFill>
            <a:ln w="17732" cap="flat">
              <a:noFill/>
              <a:prstDash val="solid"/>
              <a:miter/>
            </a:ln>
          </p:spPr>
          <p:txBody>
            <a:bodyPr rtlCol="0" anchor="ctr"/>
            <a:lstStyle/>
            <a:p>
              <a:endParaRPr lang="zh-CN" altLang="en-US"/>
            </a:p>
          </p:txBody>
        </p:sp>
        <p:sp>
          <p:nvSpPr>
            <p:cNvPr id="16524" name="任意形状 16523">
              <a:extLst>
                <a:ext uri="{FF2B5EF4-FFF2-40B4-BE49-F238E27FC236}">
                  <a16:creationId xmlns:a16="http://schemas.microsoft.com/office/drawing/2014/main" id="{D6DD8788-C3CE-ABE8-D52C-3EB32CC0373E}"/>
                </a:ext>
              </a:extLst>
            </p:cNvPr>
            <p:cNvSpPr/>
            <p:nvPr>
              <p:custDataLst>
                <p:tags r:id="rId21"/>
              </p:custDataLst>
            </p:nvPr>
          </p:nvSpPr>
          <p:spPr>
            <a:xfrm>
              <a:off x="6696987" y="3831930"/>
              <a:ext cx="71173" cy="91012"/>
            </a:xfrm>
            <a:custGeom>
              <a:avLst/>
              <a:gdLst>
                <a:gd name="connsiteX0" fmla="*/ 57891 w 71173"/>
                <a:gd name="connsiteY0" fmla="*/ 46700 h 91012"/>
                <a:gd name="connsiteX1" fmla="*/ 38920 w 71173"/>
                <a:gd name="connsiteY1" fmla="*/ 32068 h 91012"/>
                <a:gd name="connsiteX2" fmla="*/ 2713 w 71173"/>
                <a:gd name="connsiteY2" fmla="*/ 56247 h 91012"/>
                <a:gd name="connsiteX3" fmla="*/ 233 w 71173"/>
                <a:gd name="connsiteY3" fmla="*/ 68399 h 91012"/>
                <a:gd name="connsiteX4" fmla="*/ 26272 w 71173"/>
                <a:gd name="connsiteY4" fmla="*/ 91090 h 91012"/>
                <a:gd name="connsiteX5" fmla="*/ 71407 w 71173"/>
                <a:gd name="connsiteY5" fmla="*/ 33432 h 91012"/>
                <a:gd name="connsiteX6" fmla="*/ 40904 w 71173"/>
                <a:gd name="connsiteY6" fmla="*/ 78 h 91012"/>
                <a:gd name="connsiteX7" fmla="*/ 15113 w 71173"/>
                <a:gd name="connsiteY7" fmla="*/ 20041 h 91012"/>
                <a:gd name="connsiteX8" fmla="*/ 20073 w 71173"/>
                <a:gd name="connsiteY8" fmla="*/ 24505 h 91012"/>
                <a:gd name="connsiteX9" fmla="*/ 27016 w 71173"/>
                <a:gd name="connsiteY9" fmla="*/ 17685 h 91012"/>
                <a:gd name="connsiteX10" fmla="*/ 22180 w 71173"/>
                <a:gd name="connsiteY10" fmla="*/ 12973 h 91012"/>
                <a:gd name="connsiteX11" fmla="*/ 40656 w 71173"/>
                <a:gd name="connsiteY11" fmla="*/ 3674 h 91012"/>
                <a:gd name="connsiteX12" fmla="*/ 60991 w 71173"/>
                <a:gd name="connsiteY12" fmla="*/ 27109 h 91012"/>
                <a:gd name="connsiteX13" fmla="*/ 58015 w 71173"/>
                <a:gd name="connsiteY13" fmla="*/ 46700 h 91012"/>
                <a:gd name="connsiteX14" fmla="*/ 57891 w 71173"/>
                <a:gd name="connsiteY14" fmla="*/ 46700 h 91012"/>
                <a:gd name="connsiteX15" fmla="*/ 26520 w 71173"/>
                <a:gd name="connsiteY15" fmla="*/ 87122 h 91012"/>
                <a:gd name="connsiteX16" fmla="*/ 10897 w 71173"/>
                <a:gd name="connsiteY16" fmla="*/ 72739 h 91012"/>
                <a:gd name="connsiteX17" fmla="*/ 15485 w 71173"/>
                <a:gd name="connsiteY17" fmla="*/ 52652 h 91012"/>
                <a:gd name="connsiteX18" fmla="*/ 39416 w 71173"/>
                <a:gd name="connsiteY18" fmla="*/ 35540 h 91012"/>
                <a:gd name="connsiteX19" fmla="*/ 55411 w 71173"/>
                <a:gd name="connsiteY19" fmla="*/ 52404 h 91012"/>
                <a:gd name="connsiteX20" fmla="*/ 26520 w 71173"/>
                <a:gd name="connsiteY20" fmla="*/ 87122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91" y="46700"/>
                  </a:moveTo>
                  <a:cubicBezTo>
                    <a:pt x="56155" y="39508"/>
                    <a:pt x="50575" y="32068"/>
                    <a:pt x="38920" y="32068"/>
                  </a:cubicBezTo>
                  <a:cubicBezTo>
                    <a:pt x="21561" y="32068"/>
                    <a:pt x="7177" y="45088"/>
                    <a:pt x="2713" y="56247"/>
                  </a:cubicBezTo>
                  <a:cubicBezTo>
                    <a:pt x="1969" y="58355"/>
                    <a:pt x="233" y="63439"/>
                    <a:pt x="233" y="68399"/>
                  </a:cubicBezTo>
                  <a:cubicBezTo>
                    <a:pt x="233" y="76955"/>
                    <a:pt x="6929" y="91090"/>
                    <a:pt x="26272" y="91090"/>
                  </a:cubicBezTo>
                  <a:cubicBezTo>
                    <a:pt x="58387" y="91090"/>
                    <a:pt x="71407" y="51040"/>
                    <a:pt x="71407" y="33432"/>
                  </a:cubicBezTo>
                  <a:cubicBezTo>
                    <a:pt x="71407" y="12229"/>
                    <a:pt x="57519" y="78"/>
                    <a:pt x="40904" y="78"/>
                  </a:cubicBezTo>
                  <a:cubicBezTo>
                    <a:pt x="20693" y="78"/>
                    <a:pt x="15113" y="16197"/>
                    <a:pt x="15113" y="20041"/>
                  </a:cubicBezTo>
                  <a:cubicBezTo>
                    <a:pt x="15113" y="21033"/>
                    <a:pt x="15733" y="24505"/>
                    <a:pt x="20073" y="24505"/>
                  </a:cubicBezTo>
                  <a:cubicBezTo>
                    <a:pt x="24412" y="24505"/>
                    <a:pt x="27016" y="20661"/>
                    <a:pt x="27016" y="17685"/>
                  </a:cubicBezTo>
                  <a:cubicBezTo>
                    <a:pt x="27016" y="14337"/>
                    <a:pt x="24536" y="13221"/>
                    <a:pt x="22180" y="12973"/>
                  </a:cubicBezTo>
                  <a:cubicBezTo>
                    <a:pt x="28380" y="3674"/>
                    <a:pt x="38548" y="3674"/>
                    <a:pt x="40656" y="3674"/>
                  </a:cubicBezTo>
                  <a:cubicBezTo>
                    <a:pt x="49955" y="3674"/>
                    <a:pt x="60991" y="9501"/>
                    <a:pt x="60991" y="27109"/>
                  </a:cubicBezTo>
                  <a:cubicBezTo>
                    <a:pt x="60991" y="32440"/>
                    <a:pt x="60371" y="36780"/>
                    <a:pt x="58015" y="46700"/>
                  </a:cubicBezTo>
                  <a:lnTo>
                    <a:pt x="57891" y="46700"/>
                  </a:lnTo>
                  <a:close/>
                  <a:moveTo>
                    <a:pt x="26520" y="87122"/>
                  </a:moveTo>
                  <a:cubicBezTo>
                    <a:pt x="12509" y="87122"/>
                    <a:pt x="10897" y="76583"/>
                    <a:pt x="10897" y="72739"/>
                  </a:cubicBezTo>
                  <a:cubicBezTo>
                    <a:pt x="10897" y="67903"/>
                    <a:pt x="14245" y="55751"/>
                    <a:pt x="15485" y="52652"/>
                  </a:cubicBezTo>
                  <a:cubicBezTo>
                    <a:pt x="17717" y="46948"/>
                    <a:pt x="25404" y="35540"/>
                    <a:pt x="39416" y="35540"/>
                  </a:cubicBezTo>
                  <a:cubicBezTo>
                    <a:pt x="51443" y="35540"/>
                    <a:pt x="55411" y="44964"/>
                    <a:pt x="55411" y="52404"/>
                  </a:cubicBezTo>
                  <a:cubicBezTo>
                    <a:pt x="55411" y="60711"/>
                    <a:pt x="47351" y="87122"/>
                    <a:pt x="26520" y="87122"/>
                  </a:cubicBezTo>
                  <a:close/>
                </a:path>
              </a:pathLst>
            </a:custGeom>
            <a:solidFill>
              <a:srgbClr val="000000"/>
            </a:solidFill>
            <a:ln w="17732" cap="flat">
              <a:noFill/>
              <a:prstDash val="solid"/>
              <a:miter/>
            </a:ln>
          </p:spPr>
          <p:txBody>
            <a:bodyPr rtlCol="0" anchor="ctr"/>
            <a:lstStyle/>
            <a:p>
              <a:endParaRPr lang="zh-CN" altLang="en-US"/>
            </a:p>
          </p:txBody>
        </p:sp>
        <p:sp>
          <p:nvSpPr>
            <p:cNvPr id="16525" name="任意形状 16524">
              <a:extLst>
                <a:ext uri="{FF2B5EF4-FFF2-40B4-BE49-F238E27FC236}">
                  <a16:creationId xmlns:a16="http://schemas.microsoft.com/office/drawing/2014/main" id="{AF3A80C4-CBC2-4726-B9AB-5AC1F032D584}"/>
                </a:ext>
              </a:extLst>
            </p:cNvPr>
            <p:cNvSpPr/>
            <p:nvPr>
              <p:custDataLst>
                <p:tags r:id="rId22"/>
              </p:custDataLst>
            </p:nvPr>
          </p:nvSpPr>
          <p:spPr>
            <a:xfrm>
              <a:off x="6778647" y="3865780"/>
              <a:ext cx="63609" cy="79976"/>
            </a:xfrm>
            <a:custGeom>
              <a:avLst/>
              <a:gdLst>
                <a:gd name="connsiteX0" fmla="*/ 63352 w 63609"/>
                <a:gd name="connsiteY0" fmla="*/ 8013 h 79976"/>
                <a:gd name="connsiteX1" fmla="*/ 63848 w 63609"/>
                <a:gd name="connsiteY1" fmla="*/ 5285 h 79976"/>
                <a:gd name="connsiteX2" fmla="*/ 59756 w 63609"/>
                <a:gd name="connsiteY2" fmla="*/ 1318 h 79976"/>
                <a:gd name="connsiteX3" fmla="*/ 54672 w 63609"/>
                <a:gd name="connsiteY3" fmla="*/ 4293 h 79976"/>
                <a:gd name="connsiteX4" fmla="*/ 52688 w 63609"/>
                <a:gd name="connsiteY4" fmla="*/ 11485 h 79976"/>
                <a:gd name="connsiteX5" fmla="*/ 50084 w 63609"/>
                <a:gd name="connsiteY5" fmla="*/ 21777 h 79976"/>
                <a:gd name="connsiteX6" fmla="*/ 45124 w 63609"/>
                <a:gd name="connsiteY6" fmla="*/ 41740 h 79976"/>
                <a:gd name="connsiteX7" fmla="*/ 29873 w 63609"/>
                <a:gd name="connsiteY7" fmla="*/ 52528 h 79976"/>
                <a:gd name="connsiteX8" fmla="*/ 21441 w 63609"/>
                <a:gd name="connsiteY8" fmla="*/ 42236 h 79976"/>
                <a:gd name="connsiteX9" fmla="*/ 28013 w 63609"/>
                <a:gd name="connsiteY9" fmla="*/ 18181 h 79976"/>
                <a:gd name="connsiteX10" fmla="*/ 30121 w 63609"/>
                <a:gd name="connsiteY10" fmla="*/ 10617 h 79976"/>
                <a:gd name="connsiteX11" fmla="*/ 18341 w 63609"/>
                <a:gd name="connsiteY11" fmla="*/ 78 h 79976"/>
                <a:gd name="connsiteX12" fmla="*/ 238 w 63609"/>
                <a:gd name="connsiteY12" fmla="*/ 19049 h 79976"/>
                <a:gd name="connsiteX13" fmla="*/ 2346 w 63609"/>
                <a:gd name="connsiteY13" fmla="*/ 20661 h 79976"/>
                <a:gd name="connsiteX14" fmla="*/ 4578 w 63609"/>
                <a:gd name="connsiteY14" fmla="*/ 18677 h 79976"/>
                <a:gd name="connsiteX15" fmla="*/ 17969 w 63609"/>
                <a:gd name="connsiteY15" fmla="*/ 3550 h 79976"/>
                <a:gd name="connsiteX16" fmla="*/ 21069 w 63609"/>
                <a:gd name="connsiteY16" fmla="*/ 7889 h 79976"/>
                <a:gd name="connsiteX17" fmla="*/ 19333 w 63609"/>
                <a:gd name="connsiteY17" fmla="*/ 15081 h 79976"/>
                <a:gd name="connsiteX18" fmla="*/ 12142 w 63609"/>
                <a:gd name="connsiteY18" fmla="*/ 40252 h 79976"/>
                <a:gd name="connsiteX19" fmla="*/ 16977 w 63609"/>
                <a:gd name="connsiteY19" fmla="*/ 52156 h 79976"/>
                <a:gd name="connsiteX20" fmla="*/ 29377 w 63609"/>
                <a:gd name="connsiteY20" fmla="*/ 55999 h 79976"/>
                <a:gd name="connsiteX21" fmla="*/ 42892 w 63609"/>
                <a:gd name="connsiteY21" fmla="*/ 50420 h 79976"/>
                <a:gd name="connsiteX22" fmla="*/ 34709 w 63609"/>
                <a:gd name="connsiteY22" fmla="*/ 68647 h 79976"/>
                <a:gd name="connsiteX23" fmla="*/ 19829 w 63609"/>
                <a:gd name="connsiteY23" fmla="*/ 76583 h 79976"/>
                <a:gd name="connsiteX24" fmla="*/ 10530 w 63609"/>
                <a:gd name="connsiteY24" fmla="*/ 72491 h 79976"/>
                <a:gd name="connsiteX25" fmla="*/ 17225 w 63609"/>
                <a:gd name="connsiteY25" fmla="*/ 65671 h 79976"/>
                <a:gd name="connsiteX26" fmla="*/ 12390 w 63609"/>
                <a:gd name="connsiteY26" fmla="*/ 60959 h 79976"/>
                <a:gd name="connsiteX27" fmla="*/ 5198 w 63609"/>
                <a:gd name="connsiteY27" fmla="*/ 69143 h 79976"/>
                <a:gd name="connsiteX28" fmla="*/ 19953 w 63609"/>
                <a:gd name="connsiteY28" fmla="*/ 80054 h 79976"/>
                <a:gd name="connsiteX29" fmla="*/ 51572 w 63609"/>
                <a:gd name="connsiteY29" fmla="*/ 54883 h 79976"/>
                <a:gd name="connsiteX30" fmla="*/ 63352 w 63609"/>
                <a:gd name="connsiteY30" fmla="*/ 8013 h 79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609" h="79976">
                  <a:moveTo>
                    <a:pt x="63352" y="8013"/>
                  </a:moveTo>
                  <a:cubicBezTo>
                    <a:pt x="63848" y="6277"/>
                    <a:pt x="63848" y="6029"/>
                    <a:pt x="63848" y="5285"/>
                  </a:cubicBezTo>
                  <a:cubicBezTo>
                    <a:pt x="63848" y="2806"/>
                    <a:pt x="61864" y="1318"/>
                    <a:pt x="59756" y="1318"/>
                  </a:cubicBezTo>
                  <a:cubicBezTo>
                    <a:pt x="58392" y="1318"/>
                    <a:pt x="56036" y="1938"/>
                    <a:pt x="54672" y="4293"/>
                  </a:cubicBezTo>
                  <a:cubicBezTo>
                    <a:pt x="54300" y="5037"/>
                    <a:pt x="53308" y="9005"/>
                    <a:pt x="52688" y="11485"/>
                  </a:cubicBezTo>
                  <a:lnTo>
                    <a:pt x="50084" y="21777"/>
                  </a:lnTo>
                  <a:cubicBezTo>
                    <a:pt x="49340" y="24753"/>
                    <a:pt x="45496" y="40376"/>
                    <a:pt x="45124" y="41740"/>
                  </a:cubicBezTo>
                  <a:cubicBezTo>
                    <a:pt x="45000" y="41740"/>
                    <a:pt x="39544" y="52528"/>
                    <a:pt x="29873" y="52528"/>
                  </a:cubicBezTo>
                  <a:cubicBezTo>
                    <a:pt x="21441" y="52528"/>
                    <a:pt x="21441" y="44468"/>
                    <a:pt x="21441" y="42236"/>
                  </a:cubicBezTo>
                  <a:cubicBezTo>
                    <a:pt x="21441" y="35540"/>
                    <a:pt x="24293" y="27729"/>
                    <a:pt x="28013" y="18181"/>
                  </a:cubicBezTo>
                  <a:cubicBezTo>
                    <a:pt x="29501" y="14213"/>
                    <a:pt x="30121" y="12725"/>
                    <a:pt x="30121" y="10617"/>
                  </a:cubicBezTo>
                  <a:cubicBezTo>
                    <a:pt x="30121" y="4665"/>
                    <a:pt x="25037" y="78"/>
                    <a:pt x="18341" y="78"/>
                  </a:cubicBezTo>
                  <a:cubicBezTo>
                    <a:pt x="5818" y="78"/>
                    <a:pt x="238" y="16941"/>
                    <a:pt x="238" y="19049"/>
                  </a:cubicBezTo>
                  <a:cubicBezTo>
                    <a:pt x="238" y="20661"/>
                    <a:pt x="1974" y="20661"/>
                    <a:pt x="2346" y="20661"/>
                  </a:cubicBezTo>
                  <a:cubicBezTo>
                    <a:pt x="4082" y="20661"/>
                    <a:pt x="4206" y="20041"/>
                    <a:pt x="4578" y="18677"/>
                  </a:cubicBezTo>
                  <a:cubicBezTo>
                    <a:pt x="7678" y="8385"/>
                    <a:pt x="13010" y="3550"/>
                    <a:pt x="17969" y="3550"/>
                  </a:cubicBezTo>
                  <a:cubicBezTo>
                    <a:pt x="20077" y="3550"/>
                    <a:pt x="21069" y="4913"/>
                    <a:pt x="21069" y="7889"/>
                  </a:cubicBezTo>
                  <a:cubicBezTo>
                    <a:pt x="21069" y="10741"/>
                    <a:pt x="19953" y="13469"/>
                    <a:pt x="19333" y="15081"/>
                  </a:cubicBezTo>
                  <a:cubicBezTo>
                    <a:pt x="13382" y="30208"/>
                    <a:pt x="12142" y="34796"/>
                    <a:pt x="12142" y="40252"/>
                  </a:cubicBezTo>
                  <a:cubicBezTo>
                    <a:pt x="12142" y="42360"/>
                    <a:pt x="12142" y="48188"/>
                    <a:pt x="16977" y="52156"/>
                  </a:cubicBezTo>
                  <a:cubicBezTo>
                    <a:pt x="20821" y="55379"/>
                    <a:pt x="26029" y="55999"/>
                    <a:pt x="29377" y="55999"/>
                  </a:cubicBezTo>
                  <a:cubicBezTo>
                    <a:pt x="34337" y="55999"/>
                    <a:pt x="38801" y="54139"/>
                    <a:pt x="42892" y="50420"/>
                  </a:cubicBezTo>
                  <a:cubicBezTo>
                    <a:pt x="41280" y="57239"/>
                    <a:pt x="39916" y="62447"/>
                    <a:pt x="34709" y="68647"/>
                  </a:cubicBezTo>
                  <a:cubicBezTo>
                    <a:pt x="31361" y="72491"/>
                    <a:pt x="26401" y="76583"/>
                    <a:pt x="19829" y="76583"/>
                  </a:cubicBezTo>
                  <a:cubicBezTo>
                    <a:pt x="18961" y="76583"/>
                    <a:pt x="13134" y="76583"/>
                    <a:pt x="10530" y="72491"/>
                  </a:cubicBezTo>
                  <a:cubicBezTo>
                    <a:pt x="17225" y="71747"/>
                    <a:pt x="17225" y="65795"/>
                    <a:pt x="17225" y="65671"/>
                  </a:cubicBezTo>
                  <a:cubicBezTo>
                    <a:pt x="17225" y="61703"/>
                    <a:pt x="13630" y="60959"/>
                    <a:pt x="12390" y="60959"/>
                  </a:cubicBezTo>
                  <a:cubicBezTo>
                    <a:pt x="9290" y="60959"/>
                    <a:pt x="5198" y="63439"/>
                    <a:pt x="5198" y="69143"/>
                  </a:cubicBezTo>
                  <a:cubicBezTo>
                    <a:pt x="5198" y="75467"/>
                    <a:pt x="11150" y="80054"/>
                    <a:pt x="19953" y="80054"/>
                  </a:cubicBezTo>
                  <a:cubicBezTo>
                    <a:pt x="32477" y="80054"/>
                    <a:pt x="47728" y="70383"/>
                    <a:pt x="51572" y="54883"/>
                  </a:cubicBezTo>
                  <a:lnTo>
                    <a:pt x="63352" y="8013"/>
                  </a:lnTo>
                  <a:close/>
                </a:path>
              </a:pathLst>
            </a:custGeom>
            <a:solidFill>
              <a:srgbClr val="000000"/>
            </a:solidFill>
            <a:ln w="17732" cap="flat">
              <a:noFill/>
              <a:prstDash val="solid"/>
              <a:miter/>
            </a:ln>
          </p:spPr>
          <p:txBody>
            <a:bodyPr rtlCol="0" anchor="ctr"/>
            <a:lstStyle/>
            <a:p>
              <a:endParaRPr lang="zh-CN" altLang="en-US"/>
            </a:p>
          </p:txBody>
        </p:sp>
        <p:sp>
          <p:nvSpPr>
            <p:cNvPr id="16526" name="任意形状 16525">
              <a:extLst>
                <a:ext uri="{FF2B5EF4-FFF2-40B4-BE49-F238E27FC236}">
                  <a16:creationId xmlns:a16="http://schemas.microsoft.com/office/drawing/2014/main" id="{AEB27446-B73C-F39B-9FE0-D9E4E8DF35E8}"/>
                </a:ext>
              </a:extLst>
            </p:cNvPr>
            <p:cNvSpPr/>
            <p:nvPr>
              <p:custDataLst>
                <p:tags r:id="rId23"/>
              </p:custDataLst>
            </p:nvPr>
          </p:nvSpPr>
          <p:spPr>
            <a:xfrm>
              <a:off x="6857167" y="3826049"/>
              <a:ext cx="44106" cy="58986"/>
            </a:xfrm>
            <a:custGeom>
              <a:avLst/>
              <a:gdLst>
                <a:gd name="connsiteX0" fmla="*/ 44349 w 44106"/>
                <a:gd name="connsiteY0" fmla="*/ 41968 h 58986"/>
                <a:gd name="connsiteX1" fmla="*/ 40629 w 44106"/>
                <a:gd name="connsiteY1" fmla="*/ 41968 h 58986"/>
                <a:gd name="connsiteX2" fmla="*/ 38061 w 44106"/>
                <a:gd name="connsiteY2" fmla="*/ 50028 h 58986"/>
                <a:gd name="connsiteX3" fmla="*/ 28584 w 44106"/>
                <a:gd name="connsiteY3" fmla="*/ 50559 h 58986"/>
                <a:gd name="connsiteX4" fmla="*/ 11225 w 44106"/>
                <a:gd name="connsiteY4" fmla="*/ 50559 h 58986"/>
                <a:gd name="connsiteX5" fmla="*/ 28938 w 44106"/>
                <a:gd name="connsiteY5" fmla="*/ 37717 h 58986"/>
                <a:gd name="connsiteX6" fmla="*/ 44349 w 44106"/>
                <a:gd name="connsiteY6" fmla="*/ 17701 h 58986"/>
                <a:gd name="connsiteX7" fmla="*/ 20967 w 44106"/>
                <a:gd name="connsiteY7" fmla="*/ 76 h 58986"/>
                <a:gd name="connsiteX8" fmla="*/ 242 w 44106"/>
                <a:gd name="connsiteY8" fmla="*/ 15664 h 58986"/>
                <a:gd name="connsiteX9" fmla="*/ 5379 w 44106"/>
                <a:gd name="connsiteY9" fmla="*/ 21066 h 58986"/>
                <a:gd name="connsiteX10" fmla="*/ 10605 w 44106"/>
                <a:gd name="connsiteY10" fmla="*/ 15841 h 58986"/>
                <a:gd name="connsiteX11" fmla="*/ 5556 w 44106"/>
                <a:gd name="connsiteY11" fmla="*/ 10615 h 58986"/>
                <a:gd name="connsiteX12" fmla="*/ 19107 w 44106"/>
                <a:gd name="connsiteY12" fmla="*/ 3973 h 58986"/>
                <a:gd name="connsiteX13" fmla="*/ 34872 w 44106"/>
                <a:gd name="connsiteY13" fmla="*/ 17789 h 58986"/>
                <a:gd name="connsiteX14" fmla="*/ 22916 w 44106"/>
                <a:gd name="connsiteY14" fmla="*/ 36654 h 58986"/>
                <a:gd name="connsiteX15" fmla="*/ 1305 w 44106"/>
                <a:gd name="connsiteY15" fmla="*/ 54988 h 58986"/>
                <a:gd name="connsiteX16" fmla="*/ 242 w 44106"/>
                <a:gd name="connsiteY16" fmla="*/ 56405 h 58986"/>
                <a:gd name="connsiteX17" fmla="*/ 242 w 44106"/>
                <a:gd name="connsiteY17" fmla="*/ 59062 h 58986"/>
                <a:gd name="connsiteX18" fmla="*/ 41426 w 44106"/>
                <a:gd name="connsiteY18" fmla="*/ 59062 h 58986"/>
                <a:gd name="connsiteX19" fmla="*/ 44349 w 44106"/>
                <a:gd name="connsiteY19" fmla="*/ 41968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49" y="41968"/>
                  </a:moveTo>
                  <a:lnTo>
                    <a:pt x="40629" y="41968"/>
                  </a:lnTo>
                  <a:cubicBezTo>
                    <a:pt x="40364" y="43651"/>
                    <a:pt x="39478" y="49142"/>
                    <a:pt x="38061" y="50028"/>
                  </a:cubicBezTo>
                  <a:cubicBezTo>
                    <a:pt x="37352" y="50559"/>
                    <a:pt x="29913" y="50559"/>
                    <a:pt x="28584" y="50559"/>
                  </a:cubicBezTo>
                  <a:lnTo>
                    <a:pt x="11225" y="50559"/>
                  </a:lnTo>
                  <a:cubicBezTo>
                    <a:pt x="17070" y="46220"/>
                    <a:pt x="23624" y="41260"/>
                    <a:pt x="28938" y="37717"/>
                  </a:cubicBezTo>
                  <a:cubicBezTo>
                    <a:pt x="36909" y="32226"/>
                    <a:pt x="44349" y="27089"/>
                    <a:pt x="44349" y="17701"/>
                  </a:cubicBezTo>
                  <a:cubicBezTo>
                    <a:pt x="44349" y="6364"/>
                    <a:pt x="33632" y="76"/>
                    <a:pt x="20967" y="76"/>
                  </a:cubicBezTo>
                  <a:cubicBezTo>
                    <a:pt x="9011" y="76"/>
                    <a:pt x="242" y="6984"/>
                    <a:pt x="242" y="15664"/>
                  </a:cubicBezTo>
                  <a:cubicBezTo>
                    <a:pt x="242" y="20269"/>
                    <a:pt x="4139" y="21066"/>
                    <a:pt x="5379" y="21066"/>
                  </a:cubicBezTo>
                  <a:cubicBezTo>
                    <a:pt x="7771" y="21066"/>
                    <a:pt x="10605" y="19472"/>
                    <a:pt x="10605" y="15841"/>
                  </a:cubicBezTo>
                  <a:cubicBezTo>
                    <a:pt x="10605" y="12652"/>
                    <a:pt x="8302" y="10881"/>
                    <a:pt x="5556" y="10615"/>
                  </a:cubicBezTo>
                  <a:cubicBezTo>
                    <a:pt x="8036" y="6630"/>
                    <a:pt x="13173" y="3973"/>
                    <a:pt x="19107" y="3973"/>
                  </a:cubicBezTo>
                  <a:cubicBezTo>
                    <a:pt x="27698" y="3973"/>
                    <a:pt x="34872" y="9110"/>
                    <a:pt x="34872" y="17789"/>
                  </a:cubicBezTo>
                  <a:cubicBezTo>
                    <a:pt x="34872" y="25229"/>
                    <a:pt x="29735" y="30897"/>
                    <a:pt x="22916" y="36654"/>
                  </a:cubicBezTo>
                  <a:lnTo>
                    <a:pt x="1305" y="54988"/>
                  </a:lnTo>
                  <a:cubicBezTo>
                    <a:pt x="419" y="55785"/>
                    <a:pt x="331" y="55785"/>
                    <a:pt x="242" y="56405"/>
                  </a:cubicBezTo>
                  <a:lnTo>
                    <a:pt x="242" y="59062"/>
                  </a:lnTo>
                  <a:lnTo>
                    <a:pt x="41426" y="59062"/>
                  </a:lnTo>
                  <a:lnTo>
                    <a:pt x="44349" y="41968"/>
                  </a:lnTo>
                  <a:close/>
                </a:path>
              </a:pathLst>
            </a:custGeom>
            <a:solidFill>
              <a:srgbClr val="000000"/>
            </a:solidFill>
            <a:ln w="17732" cap="flat">
              <a:noFill/>
              <a:prstDash val="solid"/>
              <a:miter/>
            </a:ln>
          </p:spPr>
          <p:txBody>
            <a:bodyPr rtlCol="0" anchor="ctr"/>
            <a:lstStyle/>
            <a:p>
              <a:endParaRPr lang="zh-CN" altLang="en-US"/>
            </a:p>
          </p:txBody>
        </p:sp>
        <p:sp>
          <p:nvSpPr>
            <p:cNvPr id="16527" name="任意形状 16526">
              <a:extLst>
                <a:ext uri="{FF2B5EF4-FFF2-40B4-BE49-F238E27FC236}">
                  <a16:creationId xmlns:a16="http://schemas.microsoft.com/office/drawing/2014/main" id="{5EC11EF7-CDA0-5F2F-9606-978903C8CD2E}"/>
                </a:ext>
              </a:extLst>
            </p:cNvPr>
            <p:cNvSpPr/>
            <p:nvPr>
              <p:custDataLst>
                <p:tags r:id="rId24"/>
              </p:custDataLst>
            </p:nvPr>
          </p:nvSpPr>
          <p:spPr>
            <a:xfrm>
              <a:off x="7002351" y="3794370"/>
              <a:ext cx="117795" cy="41449"/>
            </a:xfrm>
            <a:custGeom>
              <a:avLst/>
              <a:gdLst>
                <a:gd name="connsiteX0" fmla="*/ 112023 w 117795"/>
                <a:gd name="connsiteY0" fmla="*/ 7160 h 41449"/>
                <a:gd name="connsiteX1" fmla="*/ 118046 w 117795"/>
                <a:gd name="connsiteY1" fmla="*/ 3617 h 41449"/>
                <a:gd name="connsiteX2" fmla="*/ 112200 w 117795"/>
                <a:gd name="connsiteY2" fmla="*/ 74 h 41449"/>
                <a:gd name="connsiteX3" fmla="*/ 6096 w 117795"/>
                <a:gd name="connsiteY3" fmla="*/ 74 h 41449"/>
                <a:gd name="connsiteX4" fmla="*/ 250 w 117795"/>
                <a:gd name="connsiteY4" fmla="*/ 3617 h 41449"/>
                <a:gd name="connsiteX5" fmla="*/ 6273 w 117795"/>
                <a:gd name="connsiteY5" fmla="*/ 7160 h 41449"/>
                <a:gd name="connsiteX6" fmla="*/ 112023 w 117795"/>
                <a:gd name="connsiteY6" fmla="*/ 7160 h 41449"/>
                <a:gd name="connsiteX7" fmla="*/ 112200 w 117795"/>
                <a:gd name="connsiteY7" fmla="*/ 41524 h 41449"/>
                <a:gd name="connsiteX8" fmla="*/ 118046 w 117795"/>
                <a:gd name="connsiteY8" fmla="*/ 37981 h 41449"/>
                <a:gd name="connsiteX9" fmla="*/ 112023 w 117795"/>
                <a:gd name="connsiteY9" fmla="*/ 34439 h 41449"/>
                <a:gd name="connsiteX10" fmla="*/ 6273 w 117795"/>
                <a:gd name="connsiteY10" fmla="*/ 34439 h 41449"/>
                <a:gd name="connsiteX11" fmla="*/ 250 w 117795"/>
                <a:gd name="connsiteY11" fmla="*/ 37981 h 41449"/>
                <a:gd name="connsiteX12" fmla="*/ 6096 w 117795"/>
                <a:gd name="connsiteY12" fmla="*/ 41524 h 41449"/>
                <a:gd name="connsiteX13" fmla="*/ 112200 w 117795"/>
                <a:gd name="connsiteY13" fmla="*/ 41524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2023" y="7160"/>
                  </a:moveTo>
                  <a:cubicBezTo>
                    <a:pt x="114680" y="7160"/>
                    <a:pt x="118046" y="7160"/>
                    <a:pt x="118046" y="3617"/>
                  </a:cubicBezTo>
                  <a:cubicBezTo>
                    <a:pt x="118046" y="74"/>
                    <a:pt x="114680" y="74"/>
                    <a:pt x="112200" y="74"/>
                  </a:cubicBezTo>
                  <a:lnTo>
                    <a:pt x="6096" y="74"/>
                  </a:lnTo>
                  <a:cubicBezTo>
                    <a:pt x="3616" y="74"/>
                    <a:pt x="250" y="74"/>
                    <a:pt x="250" y="3617"/>
                  </a:cubicBezTo>
                  <a:cubicBezTo>
                    <a:pt x="250" y="7160"/>
                    <a:pt x="3616" y="7160"/>
                    <a:pt x="6273" y="7160"/>
                  </a:cubicBezTo>
                  <a:lnTo>
                    <a:pt x="112023" y="7160"/>
                  </a:lnTo>
                  <a:close/>
                  <a:moveTo>
                    <a:pt x="112200" y="41524"/>
                  </a:moveTo>
                  <a:cubicBezTo>
                    <a:pt x="114680" y="41524"/>
                    <a:pt x="118046" y="41524"/>
                    <a:pt x="118046" y="37981"/>
                  </a:cubicBezTo>
                  <a:cubicBezTo>
                    <a:pt x="118046" y="34439"/>
                    <a:pt x="114680" y="34439"/>
                    <a:pt x="112023" y="34439"/>
                  </a:cubicBezTo>
                  <a:lnTo>
                    <a:pt x="6273" y="34439"/>
                  </a:lnTo>
                  <a:cubicBezTo>
                    <a:pt x="3616" y="34439"/>
                    <a:pt x="250" y="34439"/>
                    <a:pt x="250" y="37981"/>
                  </a:cubicBezTo>
                  <a:cubicBezTo>
                    <a:pt x="250" y="41524"/>
                    <a:pt x="3616" y="41524"/>
                    <a:pt x="6096" y="41524"/>
                  </a:cubicBezTo>
                  <a:lnTo>
                    <a:pt x="112200" y="41524"/>
                  </a:lnTo>
                  <a:close/>
                </a:path>
              </a:pathLst>
            </a:custGeom>
            <a:solidFill>
              <a:srgbClr val="000000"/>
            </a:solidFill>
            <a:ln w="17732" cap="flat">
              <a:noFill/>
              <a:prstDash val="solid"/>
              <a:miter/>
            </a:ln>
          </p:spPr>
          <p:txBody>
            <a:bodyPr rtlCol="0" anchor="ctr"/>
            <a:lstStyle/>
            <a:p>
              <a:endParaRPr lang="zh-CN" altLang="en-US"/>
            </a:p>
          </p:txBody>
        </p:sp>
        <p:sp>
          <p:nvSpPr>
            <p:cNvPr id="16528" name="任意形状 16527">
              <a:extLst>
                <a:ext uri="{FF2B5EF4-FFF2-40B4-BE49-F238E27FC236}">
                  <a16:creationId xmlns:a16="http://schemas.microsoft.com/office/drawing/2014/main" id="{F0F8AD9E-C0CA-CEC0-A659-43A0FAD3508C}"/>
                </a:ext>
              </a:extLst>
            </p:cNvPr>
            <p:cNvSpPr/>
            <p:nvPr>
              <p:custDataLst>
                <p:tags r:id="rId25"/>
              </p:custDataLst>
            </p:nvPr>
          </p:nvSpPr>
          <p:spPr>
            <a:xfrm>
              <a:off x="7188795" y="3734498"/>
              <a:ext cx="88390" cy="161193"/>
            </a:xfrm>
            <a:custGeom>
              <a:avLst/>
              <a:gdLst>
                <a:gd name="connsiteX0" fmla="*/ 55882 w 88390"/>
                <a:gd name="connsiteY0" fmla="*/ 54101 h 161193"/>
                <a:gd name="connsiteX1" fmla="*/ 71115 w 88390"/>
                <a:gd name="connsiteY1" fmla="*/ 54101 h 161193"/>
                <a:gd name="connsiteX2" fmla="*/ 76429 w 88390"/>
                <a:gd name="connsiteY2" fmla="*/ 50558 h 161193"/>
                <a:gd name="connsiteX3" fmla="*/ 71647 w 88390"/>
                <a:gd name="connsiteY3" fmla="*/ 48609 h 161193"/>
                <a:gd name="connsiteX4" fmla="*/ 56944 w 88390"/>
                <a:gd name="connsiteY4" fmla="*/ 48609 h 161193"/>
                <a:gd name="connsiteX5" fmla="*/ 60664 w 88390"/>
                <a:gd name="connsiteY5" fmla="*/ 28416 h 161193"/>
                <a:gd name="connsiteX6" fmla="*/ 64915 w 88390"/>
                <a:gd name="connsiteY6" fmla="*/ 9994 h 161193"/>
                <a:gd name="connsiteX7" fmla="*/ 73241 w 88390"/>
                <a:gd name="connsiteY7" fmla="*/ 3971 h 161193"/>
                <a:gd name="connsiteX8" fmla="*/ 81921 w 88390"/>
                <a:gd name="connsiteY8" fmla="*/ 7160 h 161193"/>
                <a:gd name="connsiteX9" fmla="*/ 72355 w 88390"/>
                <a:gd name="connsiteY9" fmla="*/ 16725 h 161193"/>
                <a:gd name="connsiteX10" fmla="*/ 78909 w 88390"/>
                <a:gd name="connsiteY10" fmla="*/ 22925 h 161193"/>
                <a:gd name="connsiteX11" fmla="*/ 88652 w 88390"/>
                <a:gd name="connsiteY11" fmla="*/ 12297 h 161193"/>
                <a:gd name="connsiteX12" fmla="*/ 73241 w 88390"/>
                <a:gd name="connsiteY12" fmla="*/ 74 h 161193"/>
                <a:gd name="connsiteX13" fmla="*/ 50745 w 88390"/>
                <a:gd name="connsiteY13" fmla="*/ 20799 h 161193"/>
                <a:gd name="connsiteX14" fmla="*/ 44899 w 88390"/>
                <a:gd name="connsiteY14" fmla="*/ 48609 h 161193"/>
                <a:gd name="connsiteX15" fmla="*/ 32677 w 88390"/>
                <a:gd name="connsiteY15" fmla="*/ 48609 h 161193"/>
                <a:gd name="connsiteX16" fmla="*/ 27363 w 88390"/>
                <a:gd name="connsiteY16" fmla="*/ 51975 h 161193"/>
                <a:gd name="connsiteX17" fmla="*/ 32323 w 88390"/>
                <a:gd name="connsiteY17" fmla="*/ 54101 h 161193"/>
                <a:gd name="connsiteX18" fmla="*/ 44013 w 88390"/>
                <a:gd name="connsiteY18" fmla="*/ 54101 h 161193"/>
                <a:gd name="connsiteX19" fmla="*/ 30728 w 88390"/>
                <a:gd name="connsiteY19" fmla="*/ 124069 h 161193"/>
                <a:gd name="connsiteX20" fmla="*/ 15317 w 88390"/>
                <a:gd name="connsiteY20" fmla="*/ 157371 h 161193"/>
                <a:gd name="connsiteX21" fmla="*/ 6815 w 88390"/>
                <a:gd name="connsiteY21" fmla="*/ 154182 h 161193"/>
                <a:gd name="connsiteX22" fmla="*/ 16557 w 88390"/>
                <a:gd name="connsiteY22" fmla="*/ 144617 h 161193"/>
                <a:gd name="connsiteX23" fmla="*/ 10003 w 88390"/>
                <a:gd name="connsiteY23" fmla="*/ 138417 h 161193"/>
                <a:gd name="connsiteX24" fmla="*/ 261 w 88390"/>
                <a:gd name="connsiteY24" fmla="*/ 149045 h 161193"/>
                <a:gd name="connsiteX25" fmla="*/ 15317 w 88390"/>
                <a:gd name="connsiteY25" fmla="*/ 161268 h 161193"/>
                <a:gd name="connsiteX26" fmla="*/ 35334 w 88390"/>
                <a:gd name="connsiteY26" fmla="*/ 144086 h 161193"/>
                <a:gd name="connsiteX27" fmla="*/ 45253 w 88390"/>
                <a:gd name="connsiteY27" fmla="*/ 110253 h 161193"/>
                <a:gd name="connsiteX28" fmla="*/ 55882 w 88390"/>
                <a:gd name="connsiteY28" fmla="*/ 54101 h 161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88390" h="161193">
                  <a:moveTo>
                    <a:pt x="55882" y="54101"/>
                  </a:moveTo>
                  <a:lnTo>
                    <a:pt x="71115" y="54101"/>
                  </a:lnTo>
                  <a:cubicBezTo>
                    <a:pt x="74658" y="54101"/>
                    <a:pt x="76429" y="54101"/>
                    <a:pt x="76429" y="50558"/>
                  </a:cubicBezTo>
                  <a:cubicBezTo>
                    <a:pt x="76429" y="48609"/>
                    <a:pt x="74658" y="48609"/>
                    <a:pt x="71647" y="48609"/>
                  </a:cubicBezTo>
                  <a:lnTo>
                    <a:pt x="56944" y="48609"/>
                  </a:lnTo>
                  <a:lnTo>
                    <a:pt x="60664" y="28416"/>
                  </a:lnTo>
                  <a:cubicBezTo>
                    <a:pt x="61373" y="24696"/>
                    <a:pt x="63853" y="12119"/>
                    <a:pt x="64915" y="9994"/>
                  </a:cubicBezTo>
                  <a:cubicBezTo>
                    <a:pt x="66510" y="6628"/>
                    <a:pt x="69521" y="3971"/>
                    <a:pt x="73241" y="3971"/>
                  </a:cubicBezTo>
                  <a:cubicBezTo>
                    <a:pt x="73949" y="3971"/>
                    <a:pt x="78555" y="3971"/>
                    <a:pt x="81921" y="7160"/>
                  </a:cubicBezTo>
                  <a:cubicBezTo>
                    <a:pt x="74127" y="7868"/>
                    <a:pt x="72355" y="14068"/>
                    <a:pt x="72355" y="16725"/>
                  </a:cubicBezTo>
                  <a:cubicBezTo>
                    <a:pt x="72355" y="20799"/>
                    <a:pt x="75544" y="22925"/>
                    <a:pt x="78909" y="22925"/>
                  </a:cubicBezTo>
                  <a:cubicBezTo>
                    <a:pt x="83515" y="22925"/>
                    <a:pt x="88652" y="19028"/>
                    <a:pt x="88652" y="12297"/>
                  </a:cubicBezTo>
                  <a:cubicBezTo>
                    <a:pt x="88652" y="4148"/>
                    <a:pt x="80503" y="74"/>
                    <a:pt x="73241" y="74"/>
                  </a:cubicBezTo>
                  <a:cubicBezTo>
                    <a:pt x="67218" y="74"/>
                    <a:pt x="56059" y="3263"/>
                    <a:pt x="50745" y="20799"/>
                  </a:cubicBezTo>
                  <a:cubicBezTo>
                    <a:pt x="49682" y="24519"/>
                    <a:pt x="49150" y="26290"/>
                    <a:pt x="44899" y="48609"/>
                  </a:cubicBezTo>
                  <a:lnTo>
                    <a:pt x="32677" y="48609"/>
                  </a:lnTo>
                  <a:cubicBezTo>
                    <a:pt x="29311" y="48609"/>
                    <a:pt x="27363" y="48609"/>
                    <a:pt x="27363" y="51975"/>
                  </a:cubicBezTo>
                  <a:cubicBezTo>
                    <a:pt x="27363" y="54101"/>
                    <a:pt x="28957" y="54101"/>
                    <a:pt x="32323" y="54101"/>
                  </a:cubicBezTo>
                  <a:lnTo>
                    <a:pt x="44013" y="54101"/>
                  </a:lnTo>
                  <a:lnTo>
                    <a:pt x="30728" y="124069"/>
                  </a:lnTo>
                  <a:cubicBezTo>
                    <a:pt x="27540" y="141251"/>
                    <a:pt x="24529" y="157371"/>
                    <a:pt x="15317" y="157371"/>
                  </a:cubicBezTo>
                  <a:cubicBezTo>
                    <a:pt x="14609" y="157371"/>
                    <a:pt x="10181" y="157371"/>
                    <a:pt x="6815" y="154182"/>
                  </a:cubicBezTo>
                  <a:cubicBezTo>
                    <a:pt x="14963" y="153651"/>
                    <a:pt x="16557" y="147274"/>
                    <a:pt x="16557" y="144617"/>
                  </a:cubicBezTo>
                  <a:cubicBezTo>
                    <a:pt x="16557" y="140543"/>
                    <a:pt x="13369" y="138417"/>
                    <a:pt x="10003" y="138417"/>
                  </a:cubicBezTo>
                  <a:cubicBezTo>
                    <a:pt x="5398" y="138417"/>
                    <a:pt x="261" y="142314"/>
                    <a:pt x="261" y="149045"/>
                  </a:cubicBezTo>
                  <a:cubicBezTo>
                    <a:pt x="261" y="157016"/>
                    <a:pt x="8055" y="161268"/>
                    <a:pt x="15317" y="161268"/>
                  </a:cubicBezTo>
                  <a:cubicBezTo>
                    <a:pt x="25060" y="161268"/>
                    <a:pt x="32145" y="150817"/>
                    <a:pt x="35334" y="144086"/>
                  </a:cubicBezTo>
                  <a:cubicBezTo>
                    <a:pt x="41002" y="132926"/>
                    <a:pt x="45076" y="111493"/>
                    <a:pt x="45253" y="110253"/>
                  </a:cubicBezTo>
                  <a:lnTo>
                    <a:pt x="55882" y="54101"/>
                  </a:lnTo>
                  <a:close/>
                </a:path>
              </a:pathLst>
            </a:custGeom>
            <a:solidFill>
              <a:srgbClr val="000000"/>
            </a:solidFill>
            <a:ln w="17732" cap="flat">
              <a:noFill/>
              <a:prstDash val="solid"/>
              <a:miter/>
            </a:ln>
          </p:spPr>
          <p:txBody>
            <a:bodyPr rtlCol="0" anchor="ctr"/>
            <a:lstStyle/>
            <a:p>
              <a:endParaRPr lang="zh-CN" altLang="en-US"/>
            </a:p>
          </p:txBody>
        </p:sp>
        <p:sp>
          <p:nvSpPr>
            <p:cNvPr id="16529" name="任意形状 16528">
              <a:extLst>
                <a:ext uri="{FF2B5EF4-FFF2-40B4-BE49-F238E27FC236}">
                  <a16:creationId xmlns:a16="http://schemas.microsoft.com/office/drawing/2014/main" id="{A0689D67-0A8F-ED66-DE9E-36101633560E}"/>
                </a:ext>
              </a:extLst>
            </p:cNvPr>
            <p:cNvSpPr/>
            <p:nvPr>
              <p:custDataLst>
                <p:tags r:id="rId26"/>
              </p:custDataLst>
            </p:nvPr>
          </p:nvSpPr>
          <p:spPr>
            <a:xfrm>
              <a:off x="7290590" y="3840602"/>
              <a:ext cx="20724" cy="52963"/>
            </a:xfrm>
            <a:custGeom>
              <a:avLst/>
              <a:gdLst>
                <a:gd name="connsiteX0" fmla="*/ 20991 w 20724"/>
                <a:gd name="connsiteY0" fmla="*/ 18673 h 52963"/>
                <a:gd name="connsiteX1" fmla="*/ 9655 w 20724"/>
                <a:gd name="connsiteY1" fmla="*/ 74 h 52963"/>
                <a:gd name="connsiteX2" fmla="*/ 266 w 20724"/>
                <a:gd name="connsiteY2" fmla="*/ 9462 h 52963"/>
                <a:gd name="connsiteX3" fmla="*/ 9655 w 20724"/>
                <a:gd name="connsiteY3" fmla="*/ 18851 h 52963"/>
                <a:gd name="connsiteX4" fmla="*/ 15854 w 20724"/>
                <a:gd name="connsiteY4" fmla="*/ 16548 h 52963"/>
                <a:gd name="connsiteX5" fmla="*/ 16740 w 20724"/>
                <a:gd name="connsiteY5" fmla="*/ 16016 h 52963"/>
                <a:gd name="connsiteX6" fmla="*/ 17094 w 20724"/>
                <a:gd name="connsiteY6" fmla="*/ 18673 h 52963"/>
                <a:gd name="connsiteX7" fmla="*/ 5049 w 20724"/>
                <a:gd name="connsiteY7" fmla="*/ 48255 h 52963"/>
                <a:gd name="connsiteX8" fmla="*/ 3100 w 20724"/>
                <a:gd name="connsiteY8" fmla="*/ 51089 h 52963"/>
                <a:gd name="connsiteX9" fmla="*/ 4872 w 20724"/>
                <a:gd name="connsiteY9" fmla="*/ 53038 h 52963"/>
                <a:gd name="connsiteX10" fmla="*/ 20991 w 20724"/>
                <a:gd name="connsiteY10" fmla="*/ 18673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0991" y="18673"/>
                  </a:moveTo>
                  <a:cubicBezTo>
                    <a:pt x="20991" y="6983"/>
                    <a:pt x="16563" y="74"/>
                    <a:pt x="9655" y="74"/>
                  </a:cubicBezTo>
                  <a:cubicBezTo>
                    <a:pt x="3809" y="74"/>
                    <a:pt x="266" y="4503"/>
                    <a:pt x="266" y="9462"/>
                  </a:cubicBezTo>
                  <a:cubicBezTo>
                    <a:pt x="266" y="14245"/>
                    <a:pt x="3809" y="18851"/>
                    <a:pt x="9655" y="18851"/>
                  </a:cubicBezTo>
                  <a:cubicBezTo>
                    <a:pt x="11780" y="18851"/>
                    <a:pt x="14083" y="18142"/>
                    <a:pt x="15854" y="16548"/>
                  </a:cubicBezTo>
                  <a:cubicBezTo>
                    <a:pt x="16386" y="16194"/>
                    <a:pt x="16563" y="16016"/>
                    <a:pt x="16740" y="16016"/>
                  </a:cubicBezTo>
                  <a:cubicBezTo>
                    <a:pt x="16917" y="16016"/>
                    <a:pt x="17094" y="16194"/>
                    <a:pt x="17094" y="18673"/>
                  </a:cubicBezTo>
                  <a:cubicBezTo>
                    <a:pt x="17094" y="31782"/>
                    <a:pt x="10894" y="42410"/>
                    <a:pt x="5049" y="48255"/>
                  </a:cubicBezTo>
                  <a:cubicBezTo>
                    <a:pt x="3100" y="50204"/>
                    <a:pt x="3100" y="50558"/>
                    <a:pt x="3100" y="51089"/>
                  </a:cubicBezTo>
                  <a:cubicBezTo>
                    <a:pt x="3100" y="52329"/>
                    <a:pt x="3986" y="53038"/>
                    <a:pt x="4872" y="53038"/>
                  </a:cubicBezTo>
                  <a:cubicBezTo>
                    <a:pt x="6820" y="53038"/>
                    <a:pt x="20991" y="39398"/>
                    <a:pt x="20991" y="18673"/>
                  </a:cubicBezTo>
                  <a:close/>
                </a:path>
              </a:pathLst>
            </a:custGeom>
            <a:solidFill>
              <a:srgbClr val="000000"/>
            </a:solidFill>
            <a:ln w="17732" cap="flat">
              <a:noFill/>
              <a:prstDash val="solid"/>
              <a:miter/>
            </a:ln>
          </p:spPr>
          <p:txBody>
            <a:bodyPr rtlCol="0" anchor="ctr"/>
            <a:lstStyle/>
            <a:p>
              <a:endParaRPr lang="zh-CN" altLang="en-US"/>
            </a:p>
          </p:txBody>
        </p:sp>
        <p:sp>
          <p:nvSpPr>
            <p:cNvPr id="16530" name="任意形状 16529">
              <a:extLst>
                <a:ext uri="{FF2B5EF4-FFF2-40B4-BE49-F238E27FC236}">
                  <a16:creationId xmlns:a16="http://schemas.microsoft.com/office/drawing/2014/main" id="{5B2BEBE7-66B2-B8B1-F5B3-F60E5A0A7CFA}"/>
                </a:ext>
              </a:extLst>
            </p:cNvPr>
            <p:cNvSpPr/>
            <p:nvPr>
              <p:custDataLst>
                <p:tags r:id="rId27"/>
              </p:custDataLst>
            </p:nvPr>
          </p:nvSpPr>
          <p:spPr>
            <a:xfrm>
              <a:off x="7506833" y="3781085"/>
              <a:ext cx="88213" cy="80242"/>
            </a:xfrm>
            <a:custGeom>
              <a:avLst/>
              <a:gdLst>
                <a:gd name="connsiteX0" fmla="*/ 54305 w 88213"/>
                <a:gd name="connsiteY0" fmla="*/ 24873 h 80242"/>
                <a:gd name="connsiteX1" fmla="*/ 71842 w 88213"/>
                <a:gd name="connsiteY1" fmla="*/ 3971 h 80242"/>
                <a:gd name="connsiteX2" fmla="*/ 80699 w 88213"/>
                <a:gd name="connsiteY2" fmla="*/ 6274 h 80242"/>
                <a:gd name="connsiteX3" fmla="*/ 72196 w 88213"/>
                <a:gd name="connsiteY3" fmla="*/ 15839 h 80242"/>
                <a:gd name="connsiteX4" fmla="*/ 78927 w 88213"/>
                <a:gd name="connsiteY4" fmla="*/ 22039 h 80242"/>
                <a:gd name="connsiteX5" fmla="*/ 88493 w 88213"/>
                <a:gd name="connsiteY5" fmla="*/ 11765 h 80242"/>
                <a:gd name="connsiteX6" fmla="*/ 72019 w 88213"/>
                <a:gd name="connsiteY6" fmla="*/ 74 h 80242"/>
                <a:gd name="connsiteX7" fmla="*/ 53420 w 88213"/>
                <a:gd name="connsiteY7" fmla="*/ 13537 h 80242"/>
                <a:gd name="connsiteX8" fmla="*/ 34289 w 88213"/>
                <a:gd name="connsiteY8" fmla="*/ 74 h 80242"/>
                <a:gd name="connsiteX9" fmla="*/ 5770 w 88213"/>
                <a:gd name="connsiteY9" fmla="*/ 27353 h 80242"/>
                <a:gd name="connsiteX10" fmla="*/ 7896 w 88213"/>
                <a:gd name="connsiteY10" fmla="*/ 29124 h 80242"/>
                <a:gd name="connsiteX11" fmla="*/ 10199 w 88213"/>
                <a:gd name="connsiteY11" fmla="*/ 27176 h 80242"/>
                <a:gd name="connsiteX12" fmla="*/ 33935 w 88213"/>
                <a:gd name="connsiteY12" fmla="*/ 3971 h 80242"/>
                <a:gd name="connsiteX13" fmla="*/ 43500 w 88213"/>
                <a:gd name="connsiteY13" fmla="*/ 15839 h 80242"/>
                <a:gd name="connsiteX14" fmla="*/ 33935 w 88213"/>
                <a:gd name="connsiteY14" fmla="*/ 57998 h 80242"/>
                <a:gd name="connsiteX15" fmla="*/ 17107 w 88213"/>
                <a:gd name="connsiteY15" fmla="*/ 76420 h 80242"/>
                <a:gd name="connsiteX16" fmla="*/ 8250 w 88213"/>
                <a:gd name="connsiteY16" fmla="*/ 74117 h 80242"/>
                <a:gd name="connsiteX17" fmla="*/ 16576 w 88213"/>
                <a:gd name="connsiteY17" fmla="*/ 64552 h 80242"/>
                <a:gd name="connsiteX18" fmla="*/ 10022 w 88213"/>
                <a:gd name="connsiteY18" fmla="*/ 58352 h 80242"/>
                <a:gd name="connsiteX19" fmla="*/ 279 w 88213"/>
                <a:gd name="connsiteY19" fmla="*/ 68626 h 80242"/>
                <a:gd name="connsiteX20" fmla="*/ 16930 w 88213"/>
                <a:gd name="connsiteY20" fmla="*/ 80317 h 80242"/>
                <a:gd name="connsiteX21" fmla="*/ 35529 w 88213"/>
                <a:gd name="connsiteY21" fmla="*/ 66854 h 80242"/>
                <a:gd name="connsiteX22" fmla="*/ 54660 w 88213"/>
                <a:gd name="connsiteY22" fmla="*/ 80317 h 80242"/>
                <a:gd name="connsiteX23" fmla="*/ 83001 w 88213"/>
                <a:gd name="connsiteY23" fmla="*/ 53038 h 80242"/>
                <a:gd name="connsiteX24" fmla="*/ 80876 w 88213"/>
                <a:gd name="connsiteY24" fmla="*/ 51266 h 80242"/>
                <a:gd name="connsiteX25" fmla="*/ 78573 w 88213"/>
                <a:gd name="connsiteY25" fmla="*/ 53215 h 80242"/>
                <a:gd name="connsiteX26" fmla="*/ 55014 w 88213"/>
                <a:gd name="connsiteY26" fmla="*/ 76420 h 80242"/>
                <a:gd name="connsiteX27" fmla="*/ 45272 w 88213"/>
                <a:gd name="connsiteY27" fmla="*/ 64729 h 80242"/>
                <a:gd name="connsiteX28" fmla="*/ 48283 w 88213"/>
                <a:gd name="connsiteY28" fmla="*/ 49141 h 80242"/>
                <a:gd name="connsiteX29" fmla="*/ 54305 w 88213"/>
                <a:gd name="connsiteY29" fmla="*/ 24873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8213" h="80242">
                  <a:moveTo>
                    <a:pt x="54305" y="24873"/>
                  </a:moveTo>
                  <a:cubicBezTo>
                    <a:pt x="55368" y="20268"/>
                    <a:pt x="59442" y="3971"/>
                    <a:pt x="71842" y="3971"/>
                  </a:cubicBezTo>
                  <a:cubicBezTo>
                    <a:pt x="72728" y="3971"/>
                    <a:pt x="76979" y="3971"/>
                    <a:pt x="80699" y="6274"/>
                  </a:cubicBezTo>
                  <a:cubicBezTo>
                    <a:pt x="75739" y="7160"/>
                    <a:pt x="72196" y="11588"/>
                    <a:pt x="72196" y="15839"/>
                  </a:cubicBezTo>
                  <a:cubicBezTo>
                    <a:pt x="72196" y="18673"/>
                    <a:pt x="74145" y="22039"/>
                    <a:pt x="78927" y="22039"/>
                  </a:cubicBezTo>
                  <a:cubicBezTo>
                    <a:pt x="82824" y="22039"/>
                    <a:pt x="88493" y="18851"/>
                    <a:pt x="88493" y="11765"/>
                  </a:cubicBezTo>
                  <a:cubicBezTo>
                    <a:pt x="88493" y="2554"/>
                    <a:pt x="78042" y="74"/>
                    <a:pt x="72019" y="74"/>
                  </a:cubicBezTo>
                  <a:cubicBezTo>
                    <a:pt x="61745" y="74"/>
                    <a:pt x="55545" y="9462"/>
                    <a:pt x="53420" y="13537"/>
                  </a:cubicBezTo>
                  <a:cubicBezTo>
                    <a:pt x="48991" y="1846"/>
                    <a:pt x="39426" y="74"/>
                    <a:pt x="34289" y="74"/>
                  </a:cubicBezTo>
                  <a:cubicBezTo>
                    <a:pt x="15867" y="74"/>
                    <a:pt x="5770" y="22925"/>
                    <a:pt x="5770" y="27353"/>
                  </a:cubicBezTo>
                  <a:cubicBezTo>
                    <a:pt x="5770" y="29124"/>
                    <a:pt x="7542" y="29124"/>
                    <a:pt x="7896" y="29124"/>
                  </a:cubicBezTo>
                  <a:cubicBezTo>
                    <a:pt x="9313" y="29124"/>
                    <a:pt x="9844" y="28770"/>
                    <a:pt x="10199" y="27176"/>
                  </a:cubicBezTo>
                  <a:cubicBezTo>
                    <a:pt x="16221" y="8400"/>
                    <a:pt x="27912" y="3971"/>
                    <a:pt x="33935" y="3971"/>
                  </a:cubicBezTo>
                  <a:cubicBezTo>
                    <a:pt x="37300" y="3971"/>
                    <a:pt x="43500" y="5565"/>
                    <a:pt x="43500" y="15839"/>
                  </a:cubicBezTo>
                  <a:cubicBezTo>
                    <a:pt x="43500" y="21331"/>
                    <a:pt x="40489" y="33199"/>
                    <a:pt x="33935" y="57998"/>
                  </a:cubicBezTo>
                  <a:cubicBezTo>
                    <a:pt x="31101" y="68980"/>
                    <a:pt x="24901" y="76420"/>
                    <a:pt x="17107" y="76420"/>
                  </a:cubicBezTo>
                  <a:cubicBezTo>
                    <a:pt x="16044" y="76420"/>
                    <a:pt x="11970" y="76420"/>
                    <a:pt x="8250" y="74117"/>
                  </a:cubicBezTo>
                  <a:cubicBezTo>
                    <a:pt x="12679" y="73231"/>
                    <a:pt x="16576" y="69511"/>
                    <a:pt x="16576" y="64552"/>
                  </a:cubicBezTo>
                  <a:cubicBezTo>
                    <a:pt x="16576" y="59769"/>
                    <a:pt x="12679" y="58352"/>
                    <a:pt x="10022" y="58352"/>
                  </a:cubicBezTo>
                  <a:cubicBezTo>
                    <a:pt x="4707" y="58352"/>
                    <a:pt x="279" y="62957"/>
                    <a:pt x="279" y="68626"/>
                  </a:cubicBezTo>
                  <a:cubicBezTo>
                    <a:pt x="279" y="76774"/>
                    <a:pt x="9136" y="80317"/>
                    <a:pt x="16930" y="80317"/>
                  </a:cubicBezTo>
                  <a:cubicBezTo>
                    <a:pt x="28621" y="80317"/>
                    <a:pt x="34998" y="67917"/>
                    <a:pt x="35529" y="66854"/>
                  </a:cubicBezTo>
                  <a:cubicBezTo>
                    <a:pt x="37655" y="73408"/>
                    <a:pt x="44032" y="80317"/>
                    <a:pt x="54660" y="80317"/>
                  </a:cubicBezTo>
                  <a:cubicBezTo>
                    <a:pt x="72905" y="80317"/>
                    <a:pt x="83001" y="57466"/>
                    <a:pt x="83001" y="53038"/>
                  </a:cubicBezTo>
                  <a:cubicBezTo>
                    <a:pt x="83001" y="51266"/>
                    <a:pt x="81407" y="51266"/>
                    <a:pt x="80876" y="51266"/>
                  </a:cubicBezTo>
                  <a:cubicBezTo>
                    <a:pt x="79282" y="51266"/>
                    <a:pt x="78927" y="51975"/>
                    <a:pt x="78573" y="53215"/>
                  </a:cubicBezTo>
                  <a:cubicBezTo>
                    <a:pt x="72728" y="72168"/>
                    <a:pt x="60682" y="76420"/>
                    <a:pt x="55014" y="76420"/>
                  </a:cubicBezTo>
                  <a:cubicBezTo>
                    <a:pt x="48106" y="76420"/>
                    <a:pt x="45272" y="70751"/>
                    <a:pt x="45272" y="64729"/>
                  </a:cubicBezTo>
                  <a:cubicBezTo>
                    <a:pt x="45272" y="60832"/>
                    <a:pt x="46334" y="56935"/>
                    <a:pt x="48283" y="49141"/>
                  </a:cubicBezTo>
                  <a:lnTo>
                    <a:pt x="54305" y="24873"/>
                  </a:lnTo>
                  <a:close/>
                </a:path>
              </a:pathLst>
            </a:custGeom>
            <a:solidFill>
              <a:srgbClr val="000000"/>
            </a:solidFill>
            <a:ln w="17732" cap="flat">
              <a:noFill/>
              <a:prstDash val="solid"/>
              <a:miter/>
            </a:ln>
          </p:spPr>
          <p:txBody>
            <a:bodyPr rtlCol="0" anchor="ctr"/>
            <a:lstStyle/>
            <a:p>
              <a:endParaRPr lang="zh-CN" altLang="en-US"/>
            </a:p>
          </p:txBody>
        </p:sp>
        <p:sp>
          <p:nvSpPr>
            <p:cNvPr id="16531" name="任意形状 16530">
              <a:extLst>
                <a:ext uri="{FF2B5EF4-FFF2-40B4-BE49-F238E27FC236}">
                  <a16:creationId xmlns:a16="http://schemas.microsoft.com/office/drawing/2014/main" id="{919CAA7A-9764-2195-6731-7A20E2146AC4}"/>
                </a:ext>
              </a:extLst>
            </p:cNvPr>
            <p:cNvSpPr/>
            <p:nvPr>
              <p:custDataLst>
                <p:tags r:id="rId28"/>
              </p:custDataLst>
            </p:nvPr>
          </p:nvSpPr>
          <p:spPr>
            <a:xfrm>
              <a:off x="7666840" y="3763725"/>
              <a:ext cx="88567" cy="102738"/>
            </a:xfrm>
            <a:custGeom>
              <a:avLst/>
              <a:gdLst>
                <a:gd name="connsiteX0" fmla="*/ 82656 w 88567"/>
                <a:gd name="connsiteY0" fmla="*/ 54986 h 102738"/>
                <a:gd name="connsiteX1" fmla="*/ 88855 w 88567"/>
                <a:gd name="connsiteY1" fmla="*/ 51444 h 102738"/>
                <a:gd name="connsiteX2" fmla="*/ 82656 w 88567"/>
                <a:gd name="connsiteY2" fmla="*/ 47901 h 102738"/>
                <a:gd name="connsiteX3" fmla="*/ 7550 w 88567"/>
                <a:gd name="connsiteY3" fmla="*/ 47901 h 102738"/>
                <a:gd name="connsiteX4" fmla="*/ 55022 w 88567"/>
                <a:gd name="connsiteY4" fmla="*/ 7160 h 102738"/>
                <a:gd name="connsiteX5" fmla="*/ 82656 w 88567"/>
                <a:gd name="connsiteY5" fmla="*/ 7160 h 102738"/>
                <a:gd name="connsiteX6" fmla="*/ 88855 w 88567"/>
                <a:gd name="connsiteY6" fmla="*/ 3617 h 102738"/>
                <a:gd name="connsiteX7" fmla="*/ 82656 w 88567"/>
                <a:gd name="connsiteY7" fmla="*/ 74 h 102738"/>
                <a:gd name="connsiteX8" fmla="*/ 54668 w 88567"/>
                <a:gd name="connsiteY8" fmla="*/ 74 h 102738"/>
                <a:gd name="connsiteX9" fmla="*/ 288 w 88567"/>
                <a:gd name="connsiteY9" fmla="*/ 51444 h 102738"/>
                <a:gd name="connsiteX10" fmla="*/ 54668 w 88567"/>
                <a:gd name="connsiteY10" fmla="*/ 102813 h 102738"/>
                <a:gd name="connsiteX11" fmla="*/ 82656 w 88567"/>
                <a:gd name="connsiteY11" fmla="*/ 102813 h 102738"/>
                <a:gd name="connsiteX12" fmla="*/ 88855 w 88567"/>
                <a:gd name="connsiteY12" fmla="*/ 99270 h 102738"/>
                <a:gd name="connsiteX13" fmla="*/ 82656 w 88567"/>
                <a:gd name="connsiteY13" fmla="*/ 95728 h 102738"/>
                <a:gd name="connsiteX14" fmla="*/ 55022 w 88567"/>
                <a:gd name="connsiteY14" fmla="*/ 95728 h 102738"/>
                <a:gd name="connsiteX15" fmla="*/ 7550 w 88567"/>
                <a:gd name="connsiteY15" fmla="*/ 54986 h 102738"/>
                <a:gd name="connsiteX16" fmla="*/ 82656 w 88567"/>
                <a:gd name="connsiteY16" fmla="*/ 54986 h 102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8567" h="102738">
                  <a:moveTo>
                    <a:pt x="82656" y="54986"/>
                  </a:moveTo>
                  <a:cubicBezTo>
                    <a:pt x="85667" y="54986"/>
                    <a:pt x="88855" y="54986"/>
                    <a:pt x="88855" y="51444"/>
                  </a:cubicBezTo>
                  <a:cubicBezTo>
                    <a:pt x="88855" y="47901"/>
                    <a:pt x="85667" y="47901"/>
                    <a:pt x="82656" y="47901"/>
                  </a:cubicBezTo>
                  <a:lnTo>
                    <a:pt x="7550" y="47901"/>
                  </a:lnTo>
                  <a:cubicBezTo>
                    <a:pt x="9676" y="24165"/>
                    <a:pt x="30046" y="7160"/>
                    <a:pt x="55022" y="7160"/>
                  </a:cubicBezTo>
                  <a:lnTo>
                    <a:pt x="82656" y="7160"/>
                  </a:lnTo>
                  <a:cubicBezTo>
                    <a:pt x="85667" y="7160"/>
                    <a:pt x="88855" y="7160"/>
                    <a:pt x="88855" y="3617"/>
                  </a:cubicBezTo>
                  <a:cubicBezTo>
                    <a:pt x="88855" y="74"/>
                    <a:pt x="85667" y="74"/>
                    <a:pt x="82656" y="74"/>
                  </a:cubicBezTo>
                  <a:lnTo>
                    <a:pt x="54668" y="74"/>
                  </a:lnTo>
                  <a:cubicBezTo>
                    <a:pt x="24378" y="74"/>
                    <a:pt x="288" y="23102"/>
                    <a:pt x="288" y="51444"/>
                  </a:cubicBezTo>
                  <a:cubicBezTo>
                    <a:pt x="288" y="79785"/>
                    <a:pt x="24378" y="102813"/>
                    <a:pt x="54668" y="102813"/>
                  </a:cubicBezTo>
                  <a:lnTo>
                    <a:pt x="82656" y="102813"/>
                  </a:lnTo>
                  <a:cubicBezTo>
                    <a:pt x="85667" y="102813"/>
                    <a:pt x="88855" y="102813"/>
                    <a:pt x="88855" y="99270"/>
                  </a:cubicBezTo>
                  <a:cubicBezTo>
                    <a:pt x="88855" y="95728"/>
                    <a:pt x="85667" y="95728"/>
                    <a:pt x="82656" y="95728"/>
                  </a:cubicBezTo>
                  <a:lnTo>
                    <a:pt x="55022" y="95728"/>
                  </a:lnTo>
                  <a:cubicBezTo>
                    <a:pt x="30046" y="95728"/>
                    <a:pt x="9676" y="78722"/>
                    <a:pt x="7550" y="54986"/>
                  </a:cubicBezTo>
                  <a:lnTo>
                    <a:pt x="82656" y="54986"/>
                  </a:lnTo>
                  <a:close/>
                </a:path>
              </a:pathLst>
            </a:custGeom>
            <a:solidFill>
              <a:srgbClr val="000000"/>
            </a:solidFill>
            <a:ln w="17732" cap="flat">
              <a:noFill/>
              <a:prstDash val="solid"/>
              <a:miter/>
            </a:ln>
          </p:spPr>
          <p:txBody>
            <a:bodyPr rtlCol="0" anchor="ctr"/>
            <a:lstStyle/>
            <a:p>
              <a:endParaRPr lang="zh-CN" altLang="en-US"/>
            </a:p>
          </p:txBody>
        </p:sp>
        <p:sp>
          <p:nvSpPr>
            <p:cNvPr id="16532" name="任意形状 16531">
              <a:extLst>
                <a:ext uri="{FF2B5EF4-FFF2-40B4-BE49-F238E27FC236}">
                  <a16:creationId xmlns:a16="http://schemas.microsoft.com/office/drawing/2014/main" id="{8BA5AB5C-9F94-2F54-24D1-8A84948BDD2A}"/>
                </a:ext>
              </a:extLst>
            </p:cNvPr>
            <p:cNvSpPr/>
            <p:nvPr>
              <p:custDataLst>
                <p:tags r:id="rId29"/>
              </p:custDataLst>
            </p:nvPr>
          </p:nvSpPr>
          <p:spPr>
            <a:xfrm>
              <a:off x="7827226" y="3734498"/>
              <a:ext cx="112126" cy="124880"/>
            </a:xfrm>
            <a:custGeom>
              <a:avLst/>
              <a:gdLst>
                <a:gd name="connsiteX0" fmla="*/ 112424 w 112126"/>
                <a:gd name="connsiteY0" fmla="*/ 96259 h 124880"/>
                <a:gd name="connsiteX1" fmla="*/ 107995 w 112126"/>
                <a:gd name="connsiteY1" fmla="*/ 96259 h 124880"/>
                <a:gd name="connsiteX2" fmla="*/ 104807 w 112126"/>
                <a:gd name="connsiteY2" fmla="*/ 109190 h 124880"/>
                <a:gd name="connsiteX3" fmla="*/ 93116 w 112126"/>
                <a:gd name="connsiteY3" fmla="*/ 113441 h 124880"/>
                <a:gd name="connsiteX4" fmla="*/ 78945 w 112126"/>
                <a:gd name="connsiteY4" fmla="*/ 113441 h 124880"/>
                <a:gd name="connsiteX5" fmla="*/ 94710 w 112126"/>
                <a:gd name="connsiteY5" fmla="*/ 83328 h 124880"/>
                <a:gd name="connsiteX6" fmla="*/ 110298 w 112126"/>
                <a:gd name="connsiteY6" fmla="*/ 44535 h 124880"/>
                <a:gd name="connsiteX7" fmla="*/ 56449 w 112126"/>
                <a:gd name="connsiteY7" fmla="*/ 74 h 124880"/>
                <a:gd name="connsiteX8" fmla="*/ 2423 w 112126"/>
                <a:gd name="connsiteY8" fmla="*/ 44535 h 124880"/>
                <a:gd name="connsiteX9" fmla="*/ 18011 w 112126"/>
                <a:gd name="connsiteY9" fmla="*/ 83328 h 124880"/>
                <a:gd name="connsiteX10" fmla="*/ 33776 w 112126"/>
                <a:gd name="connsiteY10" fmla="*/ 113441 h 124880"/>
                <a:gd name="connsiteX11" fmla="*/ 19605 w 112126"/>
                <a:gd name="connsiteY11" fmla="*/ 113441 h 124880"/>
                <a:gd name="connsiteX12" fmla="*/ 7914 w 112126"/>
                <a:gd name="connsiteY12" fmla="*/ 109367 h 124880"/>
                <a:gd name="connsiteX13" fmla="*/ 4725 w 112126"/>
                <a:gd name="connsiteY13" fmla="*/ 96259 h 124880"/>
                <a:gd name="connsiteX14" fmla="*/ 297 w 112126"/>
                <a:gd name="connsiteY14" fmla="*/ 96259 h 124880"/>
                <a:gd name="connsiteX15" fmla="*/ 6142 w 112126"/>
                <a:gd name="connsiteY15" fmla="*/ 124955 h 124880"/>
                <a:gd name="connsiteX16" fmla="*/ 34484 w 112126"/>
                <a:gd name="connsiteY16" fmla="*/ 124955 h 124880"/>
                <a:gd name="connsiteX17" fmla="*/ 38913 w 112126"/>
                <a:gd name="connsiteY17" fmla="*/ 121235 h 124880"/>
                <a:gd name="connsiteX18" fmla="*/ 29347 w 112126"/>
                <a:gd name="connsiteY18" fmla="*/ 81911 h 124880"/>
                <a:gd name="connsiteX19" fmla="*/ 20668 w 112126"/>
                <a:gd name="connsiteY19" fmla="*/ 44358 h 124880"/>
                <a:gd name="connsiteX20" fmla="*/ 56272 w 112126"/>
                <a:gd name="connsiteY20" fmla="*/ 3971 h 124880"/>
                <a:gd name="connsiteX21" fmla="*/ 92053 w 112126"/>
                <a:gd name="connsiteY21" fmla="*/ 44358 h 124880"/>
                <a:gd name="connsiteX22" fmla="*/ 82134 w 112126"/>
                <a:gd name="connsiteY22" fmla="*/ 85631 h 124880"/>
                <a:gd name="connsiteX23" fmla="*/ 73808 w 112126"/>
                <a:gd name="connsiteY23" fmla="*/ 121235 h 124880"/>
                <a:gd name="connsiteX24" fmla="*/ 78414 w 112126"/>
                <a:gd name="connsiteY24" fmla="*/ 124955 h 124880"/>
                <a:gd name="connsiteX25" fmla="*/ 106578 w 112126"/>
                <a:gd name="connsiteY25" fmla="*/ 124955 h 124880"/>
                <a:gd name="connsiteX26" fmla="*/ 112424 w 112126"/>
                <a:gd name="connsiteY26" fmla="*/ 96259 h 124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126" h="124880">
                  <a:moveTo>
                    <a:pt x="112424" y="96259"/>
                  </a:moveTo>
                  <a:lnTo>
                    <a:pt x="107995" y="96259"/>
                  </a:lnTo>
                  <a:cubicBezTo>
                    <a:pt x="107110" y="100864"/>
                    <a:pt x="106401" y="104939"/>
                    <a:pt x="104807" y="109190"/>
                  </a:cubicBezTo>
                  <a:cubicBezTo>
                    <a:pt x="103921" y="112024"/>
                    <a:pt x="103390" y="113441"/>
                    <a:pt x="93116" y="113441"/>
                  </a:cubicBezTo>
                  <a:lnTo>
                    <a:pt x="78945" y="113441"/>
                  </a:lnTo>
                  <a:cubicBezTo>
                    <a:pt x="81248" y="103521"/>
                    <a:pt x="86739" y="95019"/>
                    <a:pt x="94710" y="83328"/>
                  </a:cubicBezTo>
                  <a:cubicBezTo>
                    <a:pt x="103036" y="70751"/>
                    <a:pt x="110298" y="58529"/>
                    <a:pt x="110298" y="44535"/>
                  </a:cubicBezTo>
                  <a:cubicBezTo>
                    <a:pt x="110298" y="19913"/>
                    <a:pt x="86385" y="74"/>
                    <a:pt x="56449" y="74"/>
                  </a:cubicBezTo>
                  <a:cubicBezTo>
                    <a:pt x="25982" y="74"/>
                    <a:pt x="2423" y="20268"/>
                    <a:pt x="2423" y="44535"/>
                  </a:cubicBezTo>
                  <a:cubicBezTo>
                    <a:pt x="2423" y="58529"/>
                    <a:pt x="9685" y="70751"/>
                    <a:pt x="18011" y="83328"/>
                  </a:cubicBezTo>
                  <a:cubicBezTo>
                    <a:pt x="25804" y="95019"/>
                    <a:pt x="31473" y="103521"/>
                    <a:pt x="33776" y="113441"/>
                  </a:cubicBezTo>
                  <a:lnTo>
                    <a:pt x="19605" y="113441"/>
                  </a:lnTo>
                  <a:cubicBezTo>
                    <a:pt x="9331" y="113441"/>
                    <a:pt x="8799" y="112024"/>
                    <a:pt x="7914" y="109367"/>
                  </a:cubicBezTo>
                  <a:cubicBezTo>
                    <a:pt x="6497" y="105293"/>
                    <a:pt x="5611" y="100687"/>
                    <a:pt x="4725" y="96259"/>
                  </a:cubicBezTo>
                  <a:lnTo>
                    <a:pt x="297" y="96259"/>
                  </a:lnTo>
                  <a:lnTo>
                    <a:pt x="6142" y="124955"/>
                  </a:lnTo>
                  <a:lnTo>
                    <a:pt x="34484" y="124955"/>
                  </a:lnTo>
                  <a:cubicBezTo>
                    <a:pt x="38381" y="124955"/>
                    <a:pt x="38913" y="124955"/>
                    <a:pt x="38913" y="121235"/>
                  </a:cubicBezTo>
                  <a:cubicBezTo>
                    <a:pt x="38913" y="108836"/>
                    <a:pt x="33421" y="93248"/>
                    <a:pt x="29347" y="81911"/>
                  </a:cubicBezTo>
                  <a:cubicBezTo>
                    <a:pt x="25627" y="71637"/>
                    <a:pt x="20668" y="57643"/>
                    <a:pt x="20668" y="44358"/>
                  </a:cubicBezTo>
                  <a:cubicBezTo>
                    <a:pt x="20668" y="16016"/>
                    <a:pt x="40152" y="3971"/>
                    <a:pt x="56272" y="3971"/>
                  </a:cubicBezTo>
                  <a:cubicBezTo>
                    <a:pt x="73277" y="3971"/>
                    <a:pt x="92053" y="16725"/>
                    <a:pt x="92053" y="44358"/>
                  </a:cubicBezTo>
                  <a:cubicBezTo>
                    <a:pt x="92053" y="57643"/>
                    <a:pt x="87271" y="71106"/>
                    <a:pt x="82134" y="85631"/>
                  </a:cubicBezTo>
                  <a:cubicBezTo>
                    <a:pt x="79477" y="93070"/>
                    <a:pt x="73808" y="109013"/>
                    <a:pt x="73808" y="121235"/>
                  </a:cubicBezTo>
                  <a:cubicBezTo>
                    <a:pt x="73808" y="124955"/>
                    <a:pt x="74340" y="124955"/>
                    <a:pt x="78414" y="124955"/>
                  </a:cubicBezTo>
                  <a:lnTo>
                    <a:pt x="106578" y="124955"/>
                  </a:lnTo>
                  <a:lnTo>
                    <a:pt x="112424" y="96259"/>
                  </a:lnTo>
                  <a:close/>
                </a:path>
              </a:pathLst>
            </a:custGeom>
            <a:solidFill>
              <a:srgbClr val="000000"/>
            </a:solidFill>
            <a:ln w="17732" cap="flat">
              <a:noFill/>
              <a:prstDash val="solid"/>
              <a:miter/>
            </a:ln>
          </p:spPr>
          <p:txBody>
            <a:bodyPr rtlCol="0" anchor="ctr"/>
            <a:lstStyle/>
            <a:p>
              <a:endParaRPr lang="zh-CN" altLang="en-US"/>
            </a:p>
          </p:txBody>
        </p:sp>
        <p:sp>
          <p:nvSpPr>
            <p:cNvPr id="16533" name="任意形状 16532">
              <a:extLst>
                <a:ext uri="{FF2B5EF4-FFF2-40B4-BE49-F238E27FC236}">
                  <a16:creationId xmlns:a16="http://schemas.microsoft.com/office/drawing/2014/main" id="{6061D554-18E5-2094-1B05-692E60CF127A}"/>
                </a:ext>
              </a:extLst>
            </p:cNvPr>
            <p:cNvSpPr/>
            <p:nvPr>
              <p:custDataLst>
                <p:tags r:id="rId30"/>
              </p:custDataLst>
            </p:nvPr>
          </p:nvSpPr>
          <p:spPr>
            <a:xfrm>
              <a:off x="7962597" y="3840602"/>
              <a:ext cx="20724" cy="52963"/>
            </a:xfrm>
            <a:custGeom>
              <a:avLst/>
              <a:gdLst>
                <a:gd name="connsiteX0" fmla="*/ 21029 w 20724"/>
                <a:gd name="connsiteY0" fmla="*/ 18673 h 52963"/>
                <a:gd name="connsiteX1" fmla="*/ 9692 w 20724"/>
                <a:gd name="connsiteY1" fmla="*/ 74 h 52963"/>
                <a:gd name="connsiteX2" fmla="*/ 304 w 20724"/>
                <a:gd name="connsiteY2" fmla="*/ 9462 h 52963"/>
                <a:gd name="connsiteX3" fmla="*/ 9692 w 20724"/>
                <a:gd name="connsiteY3" fmla="*/ 18851 h 52963"/>
                <a:gd name="connsiteX4" fmla="*/ 15892 w 20724"/>
                <a:gd name="connsiteY4" fmla="*/ 16548 h 52963"/>
                <a:gd name="connsiteX5" fmla="*/ 16778 w 20724"/>
                <a:gd name="connsiteY5" fmla="*/ 16016 h 52963"/>
                <a:gd name="connsiteX6" fmla="*/ 17132 w 20724"/>
                <a:gd name="connsiteY6" fmla="*/ 18673 h 52963"/>
                <a:gd name="connsiteX7" fmla="*/ 5087 w 20724"/>
                <a:gd name="connsiteY7" fmla="*/ 48255 h 52963"/>
                <a:gd name="connsiteX8" fmla="*/ 3138 w 20724"/>
                <a:gd name="connsiteY8" fmla="*/ 51089 h 52963"/>
                <a:gd name="connsiteX9" fmla="*/ 4910 w 20724"/>
                <a:gd name="connsiteY9" fmla="*/ 53038 h 52963"/>
                <a:gd name="connsiteX10" fmla="*/ 21029 w 20724"/>
                <a:gd name="connsiteY10" fmla="*/ 18673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1029" y="18673"/>
                  </a:moveTo>
                  <a:cubicBezTo>
                    <a:pt x="21029" y="6983"/>
                    <a:pt x="16601" y="74"/>
                    <a:pt x="9692" y="74"/>
                  </a:cubicBezTo>
                  <a:cubicBezTo>
                    <a:pt x="3847" y="74"/>
                    <a:pt x="304" y="4503"/>
                    <a:pt x="304" y="9462"/>
                  </a:cubicBezTo>
                  <a:cubicBezTo>
                    <a:pt x="304" y="14245"/>
                    <a:pt x="3847" y="18851"/>
                    <a:pt x="9692" y="18851"/>
                  </a:cubicBezTo>
                  <a:cubicBezTo>
                    <a:pt x="11818" y="18851"/>
                    <a:pt x="14121" y="18142"/>
                    <a:pt x="15892" y="16548"/>
                  </a:cubicBezTo>
                  <a:cubicBezTo>
                    <a:pt x="16423" y="16194"/>
                    <a:pt x="16601" y="16016"/>
                    <a:pt x="16778" y="16016"/>
                  </a:cubicBezTo>
                  <a:cubicBezTo>
                    <a:pt x="16955" y="16016"/>
                    <a:pt x="17132" y="16194"/>
                    <a:pt x="17132" y="18673"/>
                  </a:cubicBezTo>
                  <a:cubicBezTo>
                    <a:pt x="17132" y="31782"/>
                    <a:pt x="10932" y="42410"/>
                    <a:pt x="5087" y="48255"/>
                  </a:cubicBezTo>
                  <a:cubicBezTo>
                    <a:pt x="3138" y="50204"/>
                    <a:pt x="3138" y="50558"/>
                    <a:pt x="3138" y="51089"/>
                  </a:cubicBezTo>
                  <a:cubicBezTo>
                    <a:pt x="3138" y="52329"/>
                    <a:pt x="4024" y="53038"/>
                    <a:pt x="4910" y="53038"/>
                  </a:cubicBezTo>
                  <a:cubicBezTo>
                    <a:pt x="6858" y="53038"/>
                    <a:pt x="21029" y="39398"/>
                    <a:pt x="21029" y="18673"/>
                  </a:cubicBezTo>
                  <a:close/>
                </a:path>
              </a:pathLst>
            </a:custGeom>
            <a:solidFill>
              <a:srgbClr val="000000"/>
            </a:solidFill>
            <a:ln w="17732" cap="flat">
              <a:noFill/>
              <a:prstDash val="solid"/>
              <a:miter/>
            </a:ln>
          </p:spPr>
          <p:txBody>
            <a:bodyPr rtlCol="0" anchor="ctr"/>
            <a:lstStyle/>
            <a:p>
              <a:endParaRPr lang="zh-CN" altLang="en-US"/>
            </a:p>
          </p:txBody>
        </p:sp>
        <p:sp>
          <p:nvSpPr>
            <p:cNvPr id="16534" name="任意形状 16533">
              <a:extLst>
                <a:ext uri="{FF2B5EF4-FFF2-40B4-BE49-F238E27FC236}">
                  <a16:creationId xmlns:a16="http://schemas.microsoft.com/office/drawing/2014/main" id="{5CEFEF20-F38B-11F5-F8A9-CE02E35E9634}"/>
                </a:ext>
              </a:extLst>
            </p:cNvPr>
            <p:cNvSpPr/>
            <p:nvPr>
              <p:custDataLst>
                <p:tags r:id="rId31"/>
              </p:custDataLst>
            </p:nvPr>
          </p:nvSpPr>
          <p:spPr>
            <a:xfrm>
              <a:off x="5413789" y="4044830"/>
              <a:ext cx="91047" cy="80242"/>
            </a:xfrm>
            <a:custGeom>
              <a:avLst/>
              <a:gdLst>
                <a:gd name="connsiteX0" fmla="*/ 57022 w 91047"/>
                <a:gd name="connsiteY0" fmla="*/ 68463 h 80242"/>
                <a:gd name="connsiteX1" fmla="*/ 72787 w 91047"/>
                <a:gd name="connsiteY1" fmla="*/ 80332 h 80242"/>
                <a:gd name="connsiteX2" fmla="*/ 85895 w 91047"/>
                <a:gd name="connsiteY2" fmla="*/ 70589 h 80242"/>
                <a:gd name="connsiteX3" fmla="*/ 91209 w 91047"/>
                <a:gd name="connsiteY3" fmla="*/ 53053 h 80242"/>
                <a:gd name="connsiteX4" fmla="*/ 89083 w 91047"/>
                <a:gd name="connsiteY4" fmla="*/ 51281 h 80242"/>
                <a:gd name="connsiteX5" fmla="*/ 86604 w 91047"/>
                <a:gd name="connsiteY5" fmla="*/ 54470 h 80242"/>
                <a:gd name="connsiteX6" fmla="*/ 73318 w 91047"/>
                <a:gd name="connsiteY6" fmla="*/ 76435 h 80242"/>
                <a:gd name="connsiteX7" fmla="*/ 67827 w 91047"/>
                <a:gd name="connsiteY7" fmla="*/ 68286 h 80242"/>
                <a:gd name="connsiteX8" fmla="*/ 71370 w 91047"/>
                <a:gd name="connsiteY8" fmla="*/ 49864 h 80242"/>
                <a:gd name="connsiteX9" fmla="*/ 76330 w 91047"/>
                <a:gd name="connsiteY9" fmla="*/ 30734 h 80242"/>
                <a:gd name="connsiteX10" fmla="*/ 79341 w 91047"/>
                <a:gd name="connsiteY10" fmla="*/ 18688 h 80242"/>
                <a:gd name="connsiteX11" fmla="*/ 81998 w 91047"/>
                <a:gd name="connsiteY11" fmla="*/ 6820 h 80242"/>
                <a:gd name="connsiteX12" fmla="*/ 76861 w 91047"/>
                <a:gd name="connsiteY12" fmla="*/ 2038 h 80242"/>
                <a:gd name="connsiteX13" fmla="*/ 69953 w 91047"/>
                <a:gd name="connsiteY13" fmla="*/ 8237 h 80242"/>
                <a:gd name="connsiteX14" fmla="*/ 56668 w 91047"/>
                <a:gd name="connsiteY14" fmla="*/ 61555 h 80242"/>
                <a:gd name="connsiteX15" fmla="*/ 36474 w 91047"/>
                <a:gd name="connsiteY15" fmla="*/ 76435 h 80242"/>
                <a:gd name="connsiteX16" fmla="*/ 25492 w 91047"/>
                <a:gd name="connsiteY16" fmla="*/ 61909 h 80242"/>
                <a:gd name="connsiteX17" fmla="*/ 35057 w 91047"/>
                <a:gd name="connsiteY17" fmla="*/ 25774 h 80242"/>
                <a:gd name="connsiteX18" fmla="*/ 38068 w 91047"/>
                <a:gd name="connsiteY18" fmla="*/ 14614 h 80242"/>
                <a:gd name="connsiteX19" fmla="*/ 23543 w 91047"/>
                <a:gd name="connsiteY19" fmla="*/ 89 h 80242"/>
                <a:gd name="connsiteX20" fmla="*/ 161 w 91047"/>
                <a:gd name="connsiteY20" fmla="*/ 27368 h 80242"/>
                <a:gd name="connsiteX21" fmla="*/ 2287 w 91047"/>
                <a:gd name="connsiteY21" fmla="*/ 29139 h 80242"/>
                <a:gd name="connsiteX22" fmla="*/ 5121 w 91047"/>
                <a:gd name="connsiteY22" fmla="*/ 25951 h 80242"/>
                <a:gd name="connsiteX23" fmla="*/ 23012 w 91047"/>
                <a:gd name="connsiteY23" fmla="*/ 3986 h 80242"/>
                <a:gd name="connsiteX24" fmla="*/ 27440 w 91047"/>
                <a:gd name="connsiteY24" fmla="*/ 9832 h 80242"/>
                <a:gd name="connsiteX25" fmla="*/ 24429 w 91047"/>
                <a:gd name="connsiteY25" fmla="*/ 21877 h 80242"/>
                <a:gd name="connsiteX26" fmla="*/ 14155 w 91047"/>
                <a:gd name="connsiteY26" fmla="*/ 59075 h 80242"/>
                <a:gd name="connsiteX27" fmla="*/ 35943 w 91047"/>
                <a:gd name="connsiteY27" fmla="*/ 80332 h 80242"/>
                <a:gd name="connsiteX28" fmla="*/ 57022 w 91047"/>
                <a:gd name="connsiteY28" fmla="*/ 68463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1047" h="80242">
                  <a:moveTo>
                    <a:pt x="57022" y="68463"/>
                  </a:moveTo>
                  <a:cubicBezTo>
                    <a:pt x="58970" y="75726"/>
                    <a:pt x="65170" y="80332"/>
                    <a:pt x="72787" y="80332"/>
                  </a:cubicBezTo>
                  <a:cubicBezTo>
                    <a:pt x="78987" y="80332"/>
                    <a:pt x="83061" y="76257"/>
                    <a:pt x="85895" y="70589"/>
                  </a:cubicBezTo>
                  <a:cubicBezTo>
                    <a:pt x="88906" y="64212"/>
                    <a:pt x="91209" y="53407"/>
                    <a:pt x="91209" y="53053"/>
                  </a:cubicBezTo>
                  <a:cubicBezTo>
                    <a:pt x="91209" y="51281"/>
                    <a:pt x="89615" y="51281"/>
                    <a:pt x="89083" y="51281"/>
                  </a:cubicBezTo>
                  <a:cubicBezTo>
                    <a:pt x="87312" y="51281"/>
                    <a:pt x="87135" y="51990"/>
                    <a:pt x="86604" y="54470"/>
                  </a:cubicBezTo>
                  <a:cubicBezTo>
                    <a:pt x="84124" y="64389"/>
                    <a:pt x="80758" y="76435"/>
                    <a:pt x="73318" y="76435"/>
                  </a:cubicBezTo>
                  <a:cubicBezTo>
                    <a:pt x="69599" y="76435"/>
                    <a:pt x="67827" y="74132"/>
                    <a:pt x="67827" y="68286"/>
                  </a:cubicBezTo>
                  <a:cubicBezTo>
                    <a:pt x="67827" y="64389"/>
                    <a:pt x="69953" y="56064"/>
                    <a:pt x="71370" y="49864"/>
                  </a:cubicBezTo>
                  <a:lnTo>
                    <a:pt x="76330" y="30734"/>
                  </a:lnTo>
                  <a:cubicBezTo>
                    <a:pt x="76861" y="28076"/>
                    <a:pt x="78632" y="21345"/>
                    <a:pt x="79341" y="18688"/>
                  </a:cubicBezTo>
                  <a:cubicBezTo>
                    <a:pt x="80227" y="14614"/>
                    <a:pt x="81998" y="7883"/>
                    <a:pt x="81998" y="6820"/>
                  </a:cubicBezTo>
                  <a:cubicBezTo>
                    <a:pt x="81998" y="3632"/>
                    <a:pt x="79518" y="2038"/>
                    <a:pt x="76861" y="2038"/>
                  </a:cubicBezTo>
                  <a:cubicBezTo>
                    <a:pt x="75975" y="2038"/>
                    <a:pt x="71370" y="2215"/>
                    <a:pt x="69953" y="8237"/>
                  </a:cubicBezTo>
                  <a:cubicBezTo>
                    <a:pt x="66587" y="21168"/>
                    <a:pt x="58793" y="52167"/>
                    <a:pt x="56668" y="61555"/>
                  </a:cubicBezTo>
                  <a:cubicBezTo>
                    <a:pt x="56490" y="62264"/>
                    <a:pt x="49405" y="76435"/>
                    <a:pt x="36474" y="76435"/>
                  </a:cubicBezTo>
                  <a:cubicBezTo>
                    <a:pt x="27263" y="76435"/>
                    <a:pt x="25492" y="68463"/>
                    <a:pt x="25492" y="61909"/>
                  </a:cubicBezTo>
                  <a:cubicBezTo>
                    <a:pt x="25492" y="51990"/>
                    <a:pt x="30452" y="37996"/>
                    <a:pt x="35057" y="25774"/>
                  </a:cubicBezTo>
                  <a:cubicBezTo>
                    <a:pt x="37183" y="20460"/>
                    <a:pt x="38068" y="17980"/>
                    <a:pt x="38068" y="14614"/>
                  </a:cubicBezTo>
                  <a:cubicBezTo>
                    <a:pt x="38068" y="6643"/>
                    <a:pt x="32400" y="89"/>
                    <a:pt x="23543" y="89"/>
                  </a:cubicBezTo>
                  <a:cubicBezTo>
                    <a:pt x="6715" y="89"/>
                    <a:pt x="161" y="25774"/>
                    <a:pt x="161" y="27368"/>
                  </a:cubicBezTo>
                  <a:cubicBezTo>
                    <a:pt x="161" y="29139"/>
                    <a:pt x="1933" y="29139"/>
                    <a:pt x="2287" y="29139"/>
                  </a:cubicBezTo>
                  <a:cubicBezTo>
                    <a:pt x="4058" y="29139"/>
                    <a:pt x="4235" y="28785"/>
                    <a:pt x="5121" y="25951"/>
                  </a:cubicBezTo>
                  <a:cubicBezTo>
                    <a:pt x="9550" y="10540"/>
                    <a:pt x="16281" y="3986"/>
                    <a:pt x="23012" y="3986"/>
                  </a:cubicBezTo>
                  <a:cubicBezTo>
                    <a:pt x="24606" y="3986"/>
                    <a:pt x="27440" y="4163"/>
                    <a:pt x="27440" y="9832"/>
                  </a:cubicBezTo>
                  <a:cubicBezTo>
                    <a:pt x="27440" y="14083"/>
                    <a:pt x="25492" y="19220"/>
                    <a:pt x="24429" y="21877"/>
                  </a:cubicBezTo>
                  <a:cubicBezTo>
                    <a:pt x="17875" y="39413"/>
                    <a:pt x="14155" y="50396"/>
                    <a:pt x="14155" y="59075"/>
                  </a:cubicBezTo>
                  <a:cubicBezTo>
                    <a:pt x="14155" y="75903"/>
                    <a:pt x="26377" y="80332"/>
                    <a:pt x="35943" y="80332"/>
                  </a:cubicBezTo>
                  <a:cubicBezTo>
                    <a:pt x="47634" y="80332"/>
                    <a:pt x="54011" y="72360"/>
                    <a:pt x="57022" y="68463"/>
                  </a:cubicBezTo>
                  <a:close/>
                </a:path>
              </a:pathLst>
            </a:custGeom>
            <a:solidFill>
              <a:srgbClr val="000000"/>
            </a:solidFill>
            <a:ln w="17732" cap="flat">
              <a:noFill/>
              <a:prstDash val="solid"/>
              <a:miter/>
            </a:ln>
          </p:spPr>
          <p:txBody>
            <a:bodyPr rtlCol="0" anchor="ctr"/>
            <a:lstStyle/>
            <a:p>
              <a:endParaRPr lang="zh-CN" altLang="en-US"/>
            </a:p>
          </p:txBody>
        </p:sp>
        <p:sp>
          <p:nvSpPr>
            <p:cNvPr id="16535" name="任意形状 16534">
              <a:extLst>
                <a:ext uri="{FF2B5EF4-FFF2-40B4-BE49-F238E27FC236}">
                  <a16:creationId xmlns:a16="http://schemas.microsoft.com/office/drawing/2014/main" id="{B3287775-2FA2-17B7-7069-69FB9BBB5E9E}"/>
                </a:ext>
              </a:extLst>
            </p:cNvPr>
            <p:cNvSpPr/>
            <p:nvPr>
              <p:custDataLst>
                <p:tags r:id="rId32"/>
              </p:custDataLst>
            </p:nvPr>
          </p:nvSpPr>
          <p:spPr>
            <a:xfrm>
              <a:off x="5569178" y="4058115"/>
              <a:ext cx="117795" cy="41449"/>
            </a:xfrm>
            <a:custGeom>
              <a:avLst/>
              <a:gdLst>
                <a:gd name="connsiteX0" fmla="*/ 111942 w 117795"/>
                <a:gd name="connsiteY0" fmla="*/ 7174 h 41449"/>
                <a:gd name="connsiteX1" fmla="*/ 117965 w 117795"/>
                <a:gd name="connsiteY1" fmla="*/ 3632 h 41449"/>
                <a:gd name="connsiteX2" fmla="*/ 112120 w 117795"/>
                <a:gd name="connsiteY2" fmla="*/ 89 h 41449"/>
                <a:gd name="connsiteX3" fmla="*/ 6015 w 117795"/>
                <a:gd name="connsiteY3" fmla="*/ 89 h 41449"/>
                <a:gd name="connsiteX4" fmla="*/ 170 w 117795"/>
                <a:gd name="connsiteY4" fmla="*/ 3632 h 41449"/>
                <a:gd name="connsiteX5" fmla="*/ 6192 w 117795"/>
                <a:gd name="connsiteY5" fmla="*/ 7174 h 41449"/>
                <a:gd name="connsiteX6" fmla="*/ 111942 w 117795"/>
                <a:gd name="connsiteY6" fmla="*/ 7174 h 41449"/>
                <a:gd name="connsiteX7" fmla="*/ 112120 w 117795"/>
                <a:gd name="connsiteY7" fmla="*/ 41539 h 41449"/>
                <a:gd name="connsiteX8" fmla="*/ 117965 w 117795"/>
                <a:gd name="connsiteY8" fmla="*/ 37996 h 41449"/>
                <a:gd name="connsiteX9" fmla="*/ 111942 w 117795"/>
                <a:gd name="connsiteY9" fmla="*/ 34453 h 41449"/>
                <a:gd name="connsiteX10" fmla="*/ 6192 w 117795"/>
                <a:gd name="connsiteY10" fmla="*/ 34453 h 41449"/>
                <a:gd name="connsiteX11" fmla="*/ 170 w 117795"/>
                <a:gd name="connsiteY11" fmla="*/ 37996 h 41449"/>
                <a:gd name="connsiteX12" fmla="*/ 6015 w 117795"/>
                <a:gd name="connsiteY12" fmla="*/ 41539 h 41449"/>
                <a:gd name="connsiteX13" fmla="*/ 112120 w 117795"/>
                <a:gd name="connsiteY13" fmla="*/ 41539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1942" y="7174"/>
                  </a:moveTo>
                  <a:cubicBezTo>
                    <a:pt x="114599" y="7174"/>
                    <a:pt x="117965" y="7174"/>
                    <a:pt x="117965" y="3632"/>
                  </a:cubicBezTo>
                  <a:cubicBezTo>
                    <a:pt x="117965" y="89"/>
                    <a:pt x="114599" y="89"/>
                    <a:pt x="112120" y="89"/>
                  </a:cubicBezTo>
                  <a:lnTo>
                    <a:pt x="6015" y="89"/>
                  </a:lnTo>
                  <a:cubicBezTo>
                    <a:pt x="3535" y="89"/>
                    <a:pt x="170" y="89"/>
                    <a:pt x="170" y="3632"/>
                  </a:cubicBezTo>
                  <a:cubicBezTo>
                    <a:pt x="170" y="7174"/>
                    <a:pt x="3535" y="7174"/>
                    <a:pt x="6192" y="7174"/>
                  </a:cubicBezTo>
                  <a:lnTo>
                    <a:pt x="111942" y="7174"/>
                  </a:lnTo>
                  <a:close/>
                  <a:moveTo>
                    <a:pt x="112120" y="41539"/>
                  </a:moveTo>
                  <a:cubicBezTo>
                    <a:pt x="114599" y="41539"/>
                    <a:pt x="117965" y="41539"/>
                    <a:pt x="117965" y="37996"/>
                  </a:cubicBezTo>
                  <a:cubicBezTo>
                    <a:pt x="117965" y="34453"/>
                    <a:pt x="114599" y="34453"/>
                    <a:pt x="111942" y="34453"/>
                  </a:cubicBezTo>
                  <a:lnTo>
                    <a:pt x="6192" y="34453"/>
                  </a:lnTo>
                  <a:cubicBezTo>
                    <a:pt x="3535" y="34453"/>
                    <a:pt x="170" y="34453"/>
                    <a:pt x="170" y="37996"/>
                  </a:cubicBezTo>
                  <a:cubicBezTo>
                    <a:pt x="170" y="41539"/>
                    <a:pt x="3535" y="41539"/>
                    <a:pt x="6015" y="41539"/>
                  </a:cubicBezTo>
                  <a:lnTo>
                    <a:pt x="112120" y="41539"/>
                  </a:lnTo>
                  <a:close/>
                </a:path>
              </a:pathLst>
            </a:custGeom>
            <a:solidFill>
              <a:srgbClr val="000000"/>
            </a:solidFill>
            <a:ln w="17732" cap="flat">
              <a:noFill/>
              <a:prstDash val="solid"/>
              <a:miter/>
            </a:ln>
          </p:spPr>
          <p:txBody>
            <a:bodyPr rtlCol="0" anchor="ctr"/>
            <a:lstStyle/>
            <a:p>
              <a:endParaRPr lang="zh-CN" altLang="en-US"/>
            </a:p>
          </p:txBody>
        </p:sp>
        <p:sp>
          <p:nvSpPr>
            <p:cNvPr id="16536" name="任意形状 16535">
              <a:extLst>
                <a:ext uri="{FF2B5EF4-FFF2-40B4-BE49-F238E27FC236}">
                  <a16:creationId xmlns:a16="http://schemas.microsoft.com/office/drawing/2014/main" id="{A502D82E-391A-19C9-21CA-2A028ED8FD55}"/>
                </a:ext>
              </a:extLst>
            </p:cNvPr>
            <p:cNvSpPr/>
            <p:nvPr>
              <p:custDataLst>
                <p:tags r:id="rId33"/>
              </p:custDataLst>
            </p:nvPr>
          </p:nvSpPr>
          <p:spPr>
            <a:xfrm>
              <a:off x="5753142" y="4005151"/>
              <a:ext cx="74574" cy="121869"/>
            </a:xfrm>
            <a:custGeom>
              <a:avLst/>
              <a:gdLst>
                <a:gd name="connsiteX0" fmla="*/ 74754 w 74574"/>
                <a:gd name="connsiteY0" fmla="*/ 61378 h 121869"/>
                <a:gd name="connsiteX1" fmla="*/ 67669 w 74574"/>
                <a:gd name="connsiteY1" fmla="*/ 19928 h 121869"/>
                <a:gd name="connsiteX2" fmla="*/ 37556 w 74574"/>
                <a:gd name="connsiteY2" fmla="*/ 89 h 121869"/>
                <a:gd name="connsiteX3" fmla="*/ 6734 w 74574"/>
                <a:gd name="connsiteY3" fmla="*/ 21168 h 121869"/>
                <a:gd name="connsiteX4" fmla="*/ 180 w 74574"/>
                <a:gd name="connsiteY4" fmla="*/ 61378 h 121869"/>
                <a:gd name="connsiteX5" fmla="*/ 8151 w 74574"/>
                <a:gd name="connsiteY5" fmla="*/ 104068 h 121869"/>
                <a:gd name="connsiteX6" fmla="*/ 37379 w 74574"/>
                <a:gd name="connsiteY6" fmla="*/ 121958 h 121869"/>
                <a:gd name="connsiteX7" fmla="*/ 68200 w 74574"/>
                <a:gd name="connsiteY7" fmla="*/ 101411 h 121869"/>
                <a:gd name="connsiteX8" fmla="*/ 74754 w 74574"/>
                <a:gd name="connsiteY8" fmla="*/ 61378 h 121869"/>
                <a:gd name="connsiteX9" fmla="*/ 37379 w 74574"/>
                <a:gd name="connsiteY9" fmla="*/ 118061 h 121869"/>
                <a:gd name="connsiteX10" fmla="*/ 16831 w 74574"/>
                <a:gd name="connsiteY10" fmla="*/ 96628 h 121869"/>
                <a:gd name="connsiteX11" fmla="*/ 14883 w 74574"/>
                <a:gd name="connsiteY11" fmla="*/ 59252 h 121869"/>
                <a:gd name="connsiteX12" fmla="*/ 16300 w 74574"/>
                <a:gd name="connsiteY12" fmla="*/ 26659 h 121869"/>
                <a:gd name="connsiteX13" fmla="*/ 37379 w 74574"/>
                <a:gd name="connsiteY13" fmla="*/ 3986 h 121869"/>
                <a:gd name="connsiteX14" fmla="*/ 58281 w 74574"/>
                <a:gd name="connsiteY14" fmla="*/ 24711 h 121869"/>
                <a:gd name="connsiteX15" fmla="*/ 60052 w 74574"/>
                <a:gd name="connsiteY15" fmla="*/ 59252 h 121869"/>
                <a:gd name="connsiteX16" fmla="*/ 58104 w 74574"/>
                <a:gd name="connsiteY16" fmla="*/ 95919 h 121869"/>
                <a:gd name="connsiteX17" fmla="*/ 37379 w 74574"/>
                <a:gd name="connsiteY17" fmla="*/ 118061 h 121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4574" h="121869">
                  <a:moveTo>
                    <a:pt x="74754" y="61378"/>
                  </a:moveTo>
                  <a:cubicBezTo>
                    <a:pt x="74754" y="47207"/>
                    <a:pt x="73869" y="33036"/>
                    <a:pt x="67669" y="19928"/>
                  </a:cubicBezTo>
                  <a:cubicBezTo>
                    <a:pt x="59521" y="2923"/>
                    <a:pt x="44996" y="89"/>
                    <a:pt x="37556" y="89"/>
                  </a:cubicBezTo>
                  <a:cubicBezTo>
                    <a:pt x="26928" y="89"/>
                    <a:pt x="13997" y="4695"/>
                    <a:pt x="6734" y="21168"/>
                  </a:cubicBezTo>
                  <a:cubicBezTo>
                    <a:pt x="1066" y="33391"/>
                    <a:pt x="180" y="47207"/>
                    <a:pt x="180" y="61378"/>
                  </a:cubicBezTo>
                  <a:cubicBezTo>
                    <a:pt x="180" y="74663"/>
                    <a:pt x="889" y="90605"/>
                    <a:pt x="8151" y="104068"/>
                  </a:cubicBezTo>
                  <a:cubicBezTo>
                    <a:pt x="15768" y="118416"/>
                    <a:pt x="28699" y="121958"/>
                    <a:pt x="37379" y="121958"/>
                  </a:cubicBezTo>
                  <a:cubicBezTo>
                    <a:pt x="46944" y="121958"/>
                    <a:pt x="60406" y="118239"/>
                    <a:pt x="68200" y="101411"/>
                  </a:cubicBezTo>
                  <a:cubicBezTo>
                    <a:pt x="73869" y="89188"/>
                    <a:pt x="74754" y="75372"/>
                    <a:pt x="74754" y="61378"/>
                  </a:cubicBezTo>
                  <a:close/>
                  <a:moveTo>
                    <a:pt x="37379" y="118061"/>
                  </a:moveTo>
                  <a:cubicBezTo>
                    <a:pt x="30471" y="118061"/>
                    <a:pt x="20020" y="113633"/>
                    <a:pt x="16831" y="96628"/>
                  </a:cubicBezTo>
                  <a:cubicBezTo>
                    <a:pt x="14883" y="86000"/>
                    <a:pt x="14883" y="69703"/>
                    <a:pt x="14883" y="59252"/>
                  </a:cubicBezTo>
                  <a:cubicBezTo>
                    <a:pt x="14883" y="47916"/>
                    <a:pt x="14883" y="36225"/>
                    <a:pt x="16300" y="26659"/>
                  </a:cubicBezTo>
                  <a:cubicBezTo>
                    <a:pt x="19665" y="5580"/>
                    <a:pt x="32950" y="3986"/>
                    <a:pt x="37379" y="3986"/>
                  </a:cubicBezTo>
                  <a:cubicBezTo>
                    <a:pt x="43224" y="3986"/>
                    <a:pt x="54915" y="7174"/>
                    <a:pt x="58281" y="24711"/>
                  </a:cubicBezTo>
                  <a:cubicBezTo>
                    <a:pt x="60052" y="34631"/>
                    <a:pt x="60052" y="48093"/>
                    <a:pt x="60052" y="59252"/>
                  </a:cubicBezTo>
                  <a:cubicBezTo>
                    <a:pt x="60052" y="72538"/>
                    <a:pt x="60052" y="84583"/>
                    <a:pt x="58104" y="95919"/>
                  </a:cubicBezTo>
                  <a:cubicBezTo>
                    <a:pt x="55447" y="112747"/>
                    <a:pt x="45350" y="118061"/>
                    <a:pt x="37379" y="118061"/>
                  </a:cubicBezTo>
                  <a:close/>
                </a:path>
              </a:pathLst>
            </a:custGeom>
            <a:solidFill>
              <a:srgbClr val="000000"/>
            </a:solidFill>
            <a:ln w="17732" cap="flat">
              <a:noFill/>
              <a:prstDash val="solid"/>
              <a:miter/>
            </a:ln>
          </p:spPr>
          <p:txBody>
            <a:bodyPr rtlCol="0" anchor="ctr"/>
            <a:lstStyle/>
            <a:p>
              <a:endParaRPr lang="zh-CN" altLang="en-US"/>
            </a:p>
          </p:txBody>
        </p:sp>
        <p:sp>
          <p:nvSpPr>
            <p:cNvPr id="16537" name="任意形状 16536">
              <a:extLst>
                <a:ext uri="{FF2B5EF4-FFF2-40B4-BE49-F238E27FC236}">
                  <a16:creationId xmlns:a16="http://schemas.microsoft.com/office/drawing/2014/main" id="{2CF63DA2-4D43-A66C-64C6-FE7367139F5E}"/>
                </a:ext>
              </a:extLst>
            </p:cNvPr>
            <p:cNvSpPr/>
            <p:nvPr>
              <p:custDataLst>
                <p:tags r:id="rId34"/>
              </p:custDataLst>
            </p:nvPr>
          </p:nvSpPr>
          <p:spPr>
            <a:xfrm>
              <a:off x="5850036" y="4104347"/>
              <a:ext cx="20724" cy="52963"/>
            </a:xfrm>
            <a:custGeom>
              <a:avLst/>
              <a:gdLst>
                <a:gd name="connsiteX0" fmla="*/ 20910 w 20724"/>
                <a:gd name="connsiteY0" fmla="*/ 18688 h 52963"/>
                <a:gd name="connsiteX1" fmla="*/ 9574 w 20724"/>
                <a:gd name="connsiteY1" fmla="*/ 89 h 52963"/>
                <a:gd name="connsiteX2" fmla="*/ 185 w 20724"/>
                <a:gd name="connsiteY2" fmla="*/ 9477 h 52963"/>
                <a:gd name="connsiteX3" fmla="*/ 9574 w 20724"/>
                <a:gd name="connsiteY3" fmla="*/ 18865 h 52963"/>
                <a:gd name="connsiteX4" fmla="*/ 15773 w 20724"/>
                <a:gd name="connsiteY4" fmla="*/ 16563 h 52963"/>
                <a:gd name="connsiteX5" fmla="*/ 16659 w 20724"/>
                <a:gd name="connsiteY5" fmla="*/ 16031 h 52963"/>
                <a:gd name="connsiteX6" fmla="*/ 17013 w 20724"/>
                <a:gd name="connsiteY6" fmla="*/ 18688 h 52963"/>
                <a:gd name="connsiteX7" fmla="*/ 4968 w 20724"/>
                <a:gd name="connsiteY7" fmla="*/ 48270 h 52963"/>
                <a:gd name="connsiteX8" fmla="*/ 3019 w 20724"/>
                <a:gd name="connsiteY8" fmla="*/ 51104 h 52963"/>
                <a:gd name="connsiteX9" fmla="*/ 4791 w 20724"/>
                <a:gd name="connsiteY9" fmla="*/ 53053 h 52963"/>
                <a:gd name="connsiteX10" fmla="*/ 20910 w 20724"/>
                <a:gd name="connsiteY10" fmla="*/ 18688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0910" y="18688"/>
                  </a:moveTo>
                  <a:cubicBezTo>
                    <a:pt x="20910" y="6997"/>
                    <a:pt x="16482" y="89"/>
                    <a:pt x="9574" y="89"/>
                  </a:cubicBezTo>
                  <a:cubicBezTo>
                    <a:pt x="3728" y="89"/>
                    <a:pt x="185" y="4517"/>
                    <a:pt x="185" y="9477"/>
                  </a:cubicBezTo>
                  <a:cubicBezTo>
                    <a:pt x="185" y="14260"/>
                    <a:pt x="3728" y="18865"/>
                    <a:pt x="9574" y="18865"/>
                  </a:cubicBezTo>
                  <a:cubicBezTo>
                    <a:pt x="11699" y="18865"/>
                    <a:pt x="14002" y="18157"/>
                    <a:pt x="15773" y="16563"/>
                  </a:cubicBezTo>
                  <a:cubicBezTo>
                    <a:pt x="16305" y="16208"/>
                    <a:pt x="16482" y="16031"/>
                    <a:pt x="16659" y="16031"/>
                  </a:cubicBezTo>
                  <a:cubicBezTo>
                    <a:pt x="16836" y="16031"/>
                    <a:pt x="17013" y="16208"/>
                    <a:pt x="17013" y="18688"/>
                  </a:cubicBezTo>
                  <a:cubicBezTo>
                    <a:pt x="17013" y="31796"/>
                    <a:pt x="10813" y="42424"/>
                    <a:pt x="4968" y="48270"/>
                  </a:cubicBezTo>
                  <a:cubicBezTo>
                    <a:pt x="3019" y="50218"/>
                    <a:pt x="3019" y="50573"/>
                    <a:pt x="3019" y="51104"/>
                  </a:cubicBezTo>
                  <a:cubicBezTo>
                    <a:pt x="3019" y="52344"/>
                    <a:pt x="3905" y="53053"/>
                    <a:pt x="4791" y="53053"/>
                  </a:cubicBezTo>
                  <a:cubicBezTo>
                    <a:pt x="6739" y="53053"/>
                    <a:pt x="20910" y="39413"/>
                    <a:pt x="20910" y="18688"/>
                  </a:cubicBezTo>
                  <a:close/>
                </a:path>
              </a:pathLst>
            </a:custGeom>
            <a:solidFill>
              <a:srgbClr val="000000"/>
            </a:solidFill>
            <a:ln w="17732" cap="flat">
              <a:noFill/>
              <a:prstDash val="solid"/>
              <a:miter/>
            </a:ln>
          </p:spPr>
          <p:txBody>
            <a:bodyPr rtlCol="0" anchor="ctr"/>
            <a:lstStyle/>
            <a:p>
              <a:endParaRPr lang="zh-CN" altLang="en-US"/>
            </a:p>
          </p:txBody>
        </p:sp>
        <p:sp>
          <p:nvSpPr>
            <p:cNvPr id="16538" name="任意形状 16537">
              <a:extLst>
                <a:ext uri="{FF2B5EF4-FFF2-40B4-BE49-F238E27FC236}">
                  <a16:creationId xmlns:a16="http://schemas.microsoft.com/office/drawing/2014/main" id="{8B8805E7-0A32-AAAD-1845-F10D34D85BCD}"/>
                </a:ext>
              </a:extLst>
            </p:cNvPr>
            <p:cNvSpPr/>
            <p:nvPr>
              <p:custDataLst>
                <p:tags r:id="rId35"/>
              </p:custDataLst>
            </p:nvPr>
          </p:nvSpPr>
          <p:spPr>
            <a:xfrm>
              <a:off x="7506833" y="4044830"/>
              <a:ext cx="88213" cy="80242"/>
            </a:xfrm>
            <a:custGeom>
              <a:avLst/>
              <a:gdLst>
                <a:gd name="connsiteX0" fmla="*/ 54305 w 88213"/>
                <a:gd name="connsiteY0" fmla="*/ 24888 h 80242"/>
                <a:gd name="connsiteX1" fmla="*/ 71842 w 88213"/>
                <a:gd name="connsiteY1" fmla="*/ 3986 h 80242"/>
                <a:gd name="connsiteX2" fmla="*/ 80699 w 88213"/>
                <a:gd name="connsiteY2" fmla="*/ 6289 h 80242"/>
                <a:gd name="connsiteX3" fmla="*/ 72196 w 88213"/>
                <a:gd name="connsiteY3" fmla="*/ 15854 h 80242"/>
                <a:gd name="connsiteX4" fmla="*/ 78927 w 88213"/>
                <a:gd name="connsiteY4" fmla="*/ 22054 h 80242"/>
                <a:gd name="connsiteX5" fmla="*/ 88493 w 88213"/>
                <a:gd name="connsiteY5" fmla="*/ 11780 h 80242"/>
                <a:gd name="connsiteX6" fmla="*/ 72019 w 88213"/>
                <a:gd name="connsiteY6" fmla="*/ 89 h 80242"/>
                <a:gd name="connsiteX7" fmla="*/ 53420 w 88213"/>
                <a:gd name="connsiteY7" fmla="*/ 13551 h 80242"/>
                <a:gd name="connsiteX8" fmla="*/ 34289 w 88213"/>
                <a:gd name="connsiteY8" fmla="*/ 89 h 80242"/>
                <a:gd name="connsiteX9" fmla="*/ 5770 w 88213"/>
                <a:gd name="connsiteY9" fmla="*/ 27368 h 80242"/>
                <a:gd name="connsiteX10" fmla="*/ 7896 w 88213"/>
                <a:gd name="connsiteY10" fmla="*/ 29139 h 80242"/>
                <a:gd name="connsiteX11" fmla="*/ 10199 w 88213"/>
                <a:gd name="connsiteY11" fmla="*/ 27191 h 80242"/>
                <a:gd name="connsiteX12" fmla="*/ 33935 w 88213"/>
                <a:gd name="connsiteY12" fmla="*/ 3986 h 80242"/>
                <a:gd name="connsiteX13" fmla="*/ 43500 w 88213"/>
                <a:gd name="connsiteY13" fmla="*/ 15854 h 80242"/>
                <a:gd name="connsiteX14" fmla="*/ 33935 w 88213"/>
                <a:gd name="connsiteY14" fmla="*/ 58012 h 80242"/>
                <a:gd name="connsiteX15" fmla="*/ 17107 w 88213"/>
                <a:gd name="connsiteY15" fmla="*/ 76435 h 80242"/>
                <a:gd name="connsiteX16" fmla="*/ 8250 w 88213"/>
                <a:gd name="connsiteY16" fmla="*/ 74132 h 80242"/>
                <a:gd name="connsiteX17" fmla="*/ 16576 w 88213"/>
                <a:gd name="connsiteY17" fmla="*/ 64566 h 80242"/>
                <a:gd name="connsiteX18" fmla="*/ 10022 w 88213"/>
                <a:gd name="connsiteY18" fmla="*/ 58367 h 80242"/>
                <a:gd name="connsiteX19" fmla="*/ 279 w 88213"/>
                <a:gd name="connsiteY19" fmla="*/ 68641 h 80242"/>
                <a:gd name="connsiteX20" fmla="*/ 16930 w 88213"/>
                <a:gd name="connsiteY20" fmla="*/ 80332 h 80242"/>
                <a:gd name="connsiteX21" fmla="*/ 35529 w 88213"/>
                <a:gd name="connsiteY21" fmla="*/ 66869 h 80242"/>
                <a:gd name="connsiteX22" fmla="*/ 54660 w 88213"/>
                <a:gd name="connsiteY22" fmla="*/ 80332 h 80242"/>
                <a:gd name="connsiteX23" fmla="*/ 83001 w 88213"/>
                <a:gd name="connsiteY23" fmla="*/ 53053 h 80242"/>
                <a:gd name="connsiteX24" fmla="*/ 80876 w 88213"/>
                <a:gd name="connsiteY24" fmla="*/ 51281 h 80242"/>
                <a:gd name="connsiteX25" fmla="*/ 78573 w 88213"/>
                <a:gd name="connsiteY25" fmla="*/ 53230 h 80242"/>
                <a:gd name="connsiteX26" fmla="*/ 55014 w 88213"/>
                <a:gd name="connsiteY26" fmla="*/ 76435 h 80242"/>
                <a:gd name="connsiteX27" fmla="*/ 45272 w 88213"/>
                <a:gd name="connsiteY27" fmla="*/ 64744 h 80242"/>
                <a:gd name="connsiteX28" fmla="*/ 48283 w 88213"/>
                <a:gd name="connsiteY28" fmla="*/ 49156 h 80242"/>
                <a:gd name="connsiteX29" fmla="*/ 54305 w 88213"/>
                <a:gd name="connsiteY29" fmla="*/ 24888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8213" h="80242">
                  <a:moveTo>
                    <a:pt x="54305" y="24888"/>
                  </a:moveTo>
                  <a:cubicBezTo>
                    <a:pt x="55368" y="20283"/>
                    <a:pt x="59442" y="3986"/>
                    <a:pt x="71842" y="3986"/>
                  </a:cubicBezTo>
                  <a:cubicBezTo>
                    <a:pt x="72728" y="3986"/>
                    <a:pt x="76979" y="3986"/>
                    <a:pt x="80699" y="6289"/>
                  </a:cubicBezTo>
                  <a:cubicBezTo>
                    <a:pt x="75739" y="7174"/>
                    <a:pt x="72196" y="11603"/>
                    <a:pt x="72196" y="15854"/>
                  </a:cubicBezTo>
                  <a:cubicBezTo>
                    <a:pt x="72196" y="18688"/>
                    <a:pt x="74145" y="22054"/>
                    <a:pt x="78927" y="22054"/>
                  </a:cubicBezTo>
                  <a:cubicBezTo>
                    <a:pt x="82824" y="22054"/>
                    <a:pt x="88493" y="18865"/>
                    <a:pt x="88493" y="11780"/>
                  </a:cubicBezTo>
                  <a:cubicBezTo>
                    <a:pt x="88493" y="2569"/>
                    <a:pt x="78042" y="89"/>
                    <a:pt x="72019" y="89"/>
                  </a:cubicBezTo>
                  <a:cubicBezTo>
                    <a:pt x="61745" y="89"/>
                    <a:pt x="55545" y="9477"/>
                    <a:pt x="53420" y="13551"/>
                  </a:cubicBezTo>
                  <a:cubicBezTo>
                    <a:pt x="48991" y="1860"/>
                    <a:pt x="39426" y="89"/>
                    <a:pt x="34289" y="89"/>
                  </a:cubicBezTo>
                  <a:cubicBezTo>
                    <a:pt x="15867" y="89"/>
                    <a:pt x="5770" y="22940"/>
                    <a:pt x="5770" y="27368"/>
                  </a:cubicBezTo>
                  <a:cubicBezTo>
                    <a:pt x="5770" y="29139"/>
                    <a:pt x="7542" y="29139"/>
                    <a:pt x="7896" y="29139"/>
                  </a:cubicBezTo>
                  <a:cubicBezTo>
                    <a:pt x="9313" y="29139"/>
                    <a:pt x="9844" y="28785"/>
                    <a:pt x="10199" y="27191"/>
                  </a:cubicBezTo>
                  <a:cubicBezTo>
                    <a:pt x="16221" y="8414"/>
                    <a:pt x="27912" y="3986"/>
                    <a:pt x="33935" y="3986"/>
                  </a:cubicBezTo>
                  <a:cubicBezTo>
                    <a:pt x="37300" y="3986"/>
                    <a:pt x="43500" y="5580"/>
                    <a:pt x="43500" y="15854"/>
                  </a:cubicBezTo>
                  <a:cubicBezTo>
                    <a:pt x="43500" y="21345"/>
                    <a:pt x="40489" y="33213"/>
                    <a:pt x="33935" y="58012"/>
                  </a:cubicBezTo>
                  <a:cubicBezTo>
                    <a:pt x="31101" y="68995"/>
                    <a:pt x="24901" y="76435"/>
                    <a:pt x="17107" y="76435"/>
                  </a:cubicBezTo>
                  <a:cubicBezTo>
                    <a:pt x="16044" y="76435"/>
                    <a:pt x="11970" y="76435"/>
                    <a:pt x="8250" y="74132"/>
                  </a:cubicBezTo>
                  <a:cubicBezTo>
                    <a:pt x="12679" y="73246"/>
                    <a:pt x="16576" y="69526"/>
                    <a:pt x="16576" y="64566"/>
                  </a:cubicBezTo>
                  <a:cubicBezTo>
                    <a:pt x="16576" y="59784"/>
                    <a:pt x="12679" y="58367"/>
                    <a:pt x="10022" y="58367"/>
                  </a:cubicBezTo>
                  <a:cubicBezTo>
                    <a:pt x="4707" y="58367"/>
                    <a:pt x="279" y="62972"/>
                    <a:pt x="279" y="68641"/>
                  </a:cubicBezTo>
                  <a:cubicBezTo>
                    <a:pt x="279" y="76789"/>
                    <a:pt x="9136" y="80332"/>
                    <a:pt x="16930" y="80332"/>
                  </a:cubicBezTo>
                  <a:cubicBezTo>
                    <a:pt x="28621" y="80332"/>
                    <a:pt x="34998" y="67932"/>
                    <a:pt x="35529" y="66869"/>
                  </a:cubicBezTo>
                  <a:cubicBezTo>
                    <a:pt x="37655" y="73423"/>
                    <a:pt x="44032" y="80332"/>
                    <a:pt x="54660" y="80332"/>
                  </a:cubicBezTo>
                  <a:cubicBezTo>
                    <a:pt x="72905" y="80332"/>
                    <a:pt x="83001" y="57481"/>
                    <a:pt x="83001" y="53053"/>
                  </a:cubicBezTo>
                  <a:cubicBezTo>
                    <a:pt x="83001" y="51281"/>
                    <a:pt x="81407" y="51281"/>
                    <a:pt x="80876" y="51281"/>
                  </a:cubicBezTo>
                  <a:cubicBezTo>
                    <a:pt x="79282" y="51281"/>
                    <a:pt x="78927" y="51990"/>
                    <a:pt x="78573" y="53230"/>
                  </a:cubicBezTo>
                  <a:cubicBezTo>
                    <a:pt x="72728" y="72183"/>
                    <a:pt x="60682" y="76435"/>
                    <a:pt x="55014" y="76435"/>
                  </a:cubicBezTo>
                  <a:cubicBezTo>
                    <a:pt x="48106" y="76435"/>
                    <a:pt x="45272" y="70766"/>
                    <a:pt x="45272" y="64744"/>
                  </a:cubicBezTo>
                  <a:cubicBezTo>
                    <a:pt x="45272" y="60847"/>
                    <a:pt x="46334" y="56950"/>
                    <a:pt x="48283" y="49156"/>
                  </a:cubicBezTo>
                  <a:lnTo>
                    <a:pt x="54305" y="24888"/>
                  </a:lnTo>
                  <a:close/>
                </a:path>
              </a:pathLst>
            </a:custGeom>
            <a:solidFill>
              <a:srgbClr val="000000"/>
            </a:solidFill>
            <a:ln w="17732" cap="flat">
              <a:noFill/>
              <a:prstDash val="solid"/>
              <a:miter/>
            </a:ln>
          </p:spPr>
          <p:txBody>
            <a:bodyPr rtlCol="0" anchor="ctr"/>
            <a:lstStyle/>
            <a:p>
              <a:endParaRPr lang="zh-CN" altLang="en-US"/>
            </a:p>
          </p:txBody>
        </p:sp>
        <p:sp>
          <p:nvSpPr>
            <p:cNvPr id="16539" name="任意形状 16538">
              <a:extLst>
                <a:ext uri="{FF2B5EF4-FFF2-40B4-BE49-F238E27FC236}">
                  <a16:creationId xmlns:a16="http://schemas.microsoft.com/office/drawing/2014/main" id="{75B5D623-56DA-96D6-9943-8AFD963668A2}"/>
                </a:ext>
              </a:extLst>
            </p:cNvPr>
            <p:cNvSpPr/>
            <p:nvPr>
              <p:custDataLst>
                <p:tags r:id="rId36"/>
              </p:custDataLst>
            </p:nvPr>
          </p:nvSpPr>
          <p:spPr>
            <a:xfrm>
              <a:off x="7666840" y="4027470"/>
              <a:ext cx="88567" cy="102738"/>
            </a:xfrm>
            <a:custGeom>
              <a:avLst/>
              <a:gdLst>
                <a:gd name="connsiteX0" fmla="*/ 82656 w 88567"/>
                <a:gd name="connsiteY0" fmla="*/ 55001 h 102738"/>
                <a:gd name="connsiteX1" fmla="*/ 88855 w 88567"/>
                <a:gd name="connsiteY1" fmla="*/ 51458 h 102738"/>
                <a:gd name="connsiteX2" fmla="*/ 82656 w 88567"/>
                <a:gd name="connsiteY2" fmla="*/ 47916 h 102738"/>
                <a:gd name="connsiteX3" fmla="*/ 7550 w 88567"/>
                <a:gd name="connsiteY3" fmla="*/ 47916 h 102738"/>
                <a:gd name="connsiteX4" fmla="*/ 55022 w 88567"/>
                <a:gd name="connsiteY4" fmla="*/ 7174 h 102738"/>
                <a:gd name="connsiteX5" fmla="*/ 82656 w 88567"/>
                <a:gd name="connsiteY5" fmla="*/ 7174 h 102738"/>
                <a:gd name="connsiteX6" fmla="*/ 88855 w 88567"/>
                <a:gd name="connsiteY6" fmla="*/ 3632 h 102738"/>
                <a:gd name="connsiteX7" fmla="*/ 82656 w 88567"/>
                <a:gd name="connsiteY7" fmla="*/ 89 h 102738"/>
                <a:gd name="connsiteX8" fmla="*/ 54668 w 88567"/>
                <a:gd name="connsiteY8" fmla="*/ 89 h 102738"/>
                <a:gd name="connsiteX9" fmla="*/ 288 w 88567"/>
                <a:gd name="connsiteY9" fmla="*/ 51458 h 102738"/>
                <a:gd name="connsiteX10" fmla="*/ 54668 w 88567"/>
                <a:gd name="connsiteY10" fmla="*/ 102828 h 102738"/>
                <a:gd name="connsiteX11" fmla="*/ 82656 w 88567"/>
                <a:gd name="connsiteY11" fmla="*/ 102828 h 102738"/>
                <a:gd name="connsiteX12" fmla="*/ 88855 w 88567"/>
                <a:gd name="connsiteY12" fmla="*/ 99285 h 102738"/>
                <a:gd name="connsiteX13" fmla="*/ 82656 w 88567"/>
                <a:gd name="connsiteY13" fmla="*/ 95742 h 102738"/>
                <a:gd name="connsiteX14" fmla="*/ 55022 w 88567"/>
                <a:gd name="connsiteY14" fmla="*/ 95742 h 102738"/>
                <a:gd name="connsiteX15" fmla="*/ 7550 w 88567"/>
                <a:gd name="connsiteY15" fmla="*/ 55001 h 102738"/>
                <a:gd name="connsiteX16" fmla="*/ 82656 w 88567"/>
                <a:gd name="connsiteY16" fmla="*/ 55001 h 102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8567" h="102738">
                  <a:moveTo>
                    <a:pt x="82656" y="55001"/>
                  </a:moveTo>
                  <a:cubicBezTo>
                    <a:pt x="85667" y="55001"/>
                    <a:pt x="88855" y="55001"/>
                    <a:pt x="88855" y="51458"/>
                  </a:cubicBezTo>
                  <a:cubicBezTo>
                    <a:pt x="88855" y="47916"/>
                    <a:pt x="85667" y="47916"/>
                    <a:pt x="82656" y="47916"/>
                  </a:cubicBezTo>
                  <a:lnTo>
                    <a:pt x="7550" y="47916"/>
                  </a:lnTo>
                  <a:cubicBezTo>
                    <a:pt x="9676" y="24179"/>
                    <a:pt x="30046" y="7174"/>
                    <a:pt x="55022" y="7174"/>
                  </a:cubicBezTo>
                  <a:lnTo>
                    <a:pt x="82656" y="7174"/>
                  </a:lnTo>
                  <a:cubicBezTo>
                    <a:pt x="85667" y="7174"/>
                    <a:pt x="88855" y="7174"/>
                    <a:pt x="88855" y="3632"/>
                  </a:cubicBezTo>
                  <a:cubicBezTo>
                    <a:pt x="88855" y="89"/>
                    <a:pt x="85667" y="89"/>
                    <a:pt x="82656" y="89"/>
                  </a:cubicBezTo>
                  <a:lnTo>
                    <a:pt x="54668" y="89"/>
                  </a:lnTo>
                  <a:cubicBezTo>
                    <a:pt x="24378" y="89"/>
                    <a:pt x="288" y="23117"/>
                    <a:pt x="288" y="51458"/>
                  </a:cubicBezTo>
                  <a:cubicBezTo>
                    <a:pt x="288" y="79800"/>
                    <a:pt x="24378" y="102828"/>
                    <a:pt x="54668" y="102828"/>
                  </a:cubicBezTo>
                  <a:lnTo>
                    <a:pt x="82656" y="102828"/>
                  </a:lnTo>
                  <a:cubicBezTo>
                    <a:pt x="85667" y="102828"/>
                    <a:pt x="88855" y="102828"/>
                    <a:pt x="88855" y="99285"/>
                  </a:cubicBezTo>
                  <a:cubicBezTo>
                    <a:pt x="88855" y="95742"/>
                    <a:pt x="85667" y="95742"/>
                    <a:pt x="82656" y="95742"/>
                  </a:cubicBezTo>
                  <a:lnTo>
                    <a:pt x="55022" y="95742"/>
                  </a:lnTo>
                  <a:cubicBezTo>
                    <a:pt x="30046" y="95742"/>
                    <a:pt x="9676" y="78737"/>
                    <a:pt x="7550" y="55001"/>
                  </a:cubicBezTo>
                  <a:lnTo>
                    <a:pt x="82656" y="55001"/>
                  </a:lnTo>
                  <a:close/>
                </a:path>
              </a:pathLst>
            </a:custGeom>
            <a:solidFill>
              <a:srgbClr val="000000"/>
            </a:solidFill>
            <a:ln w="17732" cap="flat">
              <a:noFill/>
              <a:prstDash val="solid"/>
              <a:miter/>
            </a:ln>
          </p:spPr>
          <p:txBody>
            <a:bodyPr rtlCol="0" anchor="ctr"/>
            <a:lstStyle/>
            <a:p>
              <a:endParaRPr lang="zh-CN" altLang="en-US"/>
            </a:p>
          </p:txBody>
        </p:sp>
        <p:sp>
          <p:nvSpPr>
            <p:cNvPr id="16540" name="任意形状 16539">
              <a:extLst>
                <a:ext uri="{FF2B5EF4-FFF2-40B4-BE49-F238E27FC236}">
                  <a16:creationId xmlns:a16="http://schemas.microsoft.com/office/drawing/2014/main" id="{7ADBE4D8-FAF9-BEFB-EB2A-D436ED5921E8}"/>
                </a:ext>
              </a:extLst>
            </p:cNvPr>
            <p:cNvSpPr/>
            <p:nvPr>
              <p:custDataLst>
                <p:tags r:id="rId37"/>
              </p:custDataLst>
            </p:nvPr>
          </p:nvSpPr>
          <p:spPr>
            <a:xfrm>
              <a:off x="7826517" y="3996295"/>
              <a:ext cx="93173" cy="130726"/>
            </a:xfrm>
            <a:custGeom>
              <a:avLst/>
              <a:gdLst>
                <a:gd name="connsiteX0" fmla="*/ 75225 w 93173"/>
                <a:gd name="connsiteY0" fmla="*/ 66869 h 130726"/>
                <a:gd name="connsiteX1" fmla="*/ 52375 w 93173"/>
                <a:gd name="connsiteY1" fmla="*/ 45967 h 130726"/>
                <a:gd name="connsiteX2" fmla="*/ 16239 w 93173"/>
                <a:gd name="connsiteY2" fmla="*/ 62618 h 130726"/>
                <a:gd name="connsiteX3" fmla="*/ 297 w 93173"/>
                <a:gd name="connsiteY3" fmla="*/ 99285 h 130726"/>
                <a:gd name="connsiteX4" fmla="*/ 32890 w 93173"/>
                <a:gd name="connsiteY4" fmla="*/ 130815 h 130726"/>
                <a:gd name="connsiteX5" fmla="*/ 93470 w 93173"/>
                <a:gd name="connsiteY5" fmla="*/ 45967 h 130726"/>
                <a:gd name="connsiteX6" fmla="*/ 55209 w 93173"/>
                <a:gd name="connsiteY6" fmla="*/ 89 h 130726"/>
                <a:gd name="connsiteX7" fmla="*/ 21376 w 93173"/>
                <a:gd name="connsiteY7" fmla="*/ 28076 h 130726"/>
                <a:gd name="connsiteX8" fmla="*/ 28107 w 93173"/>
                <a:gd name="connsiteY8" fmla="*/ 34276 h 130726"/>
                <a:gd name="connsiteX9" fmla="*/ 37673 w 93173"/>
                <a:gd name="connsiteY9" fmla="*/ 24888 h 130726"/>
                <a:gd name="connsiteX10" fmla="*/ 29347 w 93173"/>
                <a:gd name="connsiteY10" fmla="*/ 18688 h 130726"/>
                <a:gd name="connsiteX11" fmla="*/ 54855 w 93173"/>
                <a:gd name="connsiteY11" fmla="*/ 4517 h 130726"/>
                <a:gd name="connsiteX12" fmla="*/ 80185 w 93173"/>
                <a:gd name="connsiteY12" fmla="*/ 36579 h 130726"/>
                <a:gd name="connsiteX13" fmla="*/ 75402 w 93173"/>
                <a:gd name="connsiteY13" fmla="*/ 66869 h 130726"/>
                <a:gd name="connsiteX14" fmla="*/ 75225 w 93173"/>
                <a:gd name="connsiteY14" fmla="*/ 66869 h 130726"/>
                <a:gd name="connsiteX15" fmla="*/ 33421 w 93173"/>
                <a:gd name="connsiteY15" fmla="*/ 125855 h 130726"/>
                <a:gd name="connsiteX16" fmla="*/ 13936 w 93173"/>
                <a:gd name="connsiteY16" fmla="*/ 105839 h 130726"/>
                <a:gd name="connsiteX17" fmla="*/ 25627 w 93173"/>
                <a:gd name="connsiteY17" fmla="*/ 65629 h 130726"/>
                <a:gd name="connsiteX18" fmla="*/ 52375 w 93173"/>
                <a:gd name="connsiteY18" fmla="*/ 49864 h 130726"/>
                <a:gd name="connsiteX19" fmla="*/ 72037 w 93173"/>
                <a:gd name="connsiteY19" fmla="*/ 73246 h 130726"/>
                <a:gd name="connsiteX20" fmla="*/ 33421 w 93173"/>
                <a:gd name="connsiteY20" fmla="*/ 125855 h 130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3173" h="130726">
                  <a:moveTo>
                    <a:pt x="75225" y="66869"/>
                  </a:moveTo>
                  <a:cubicBezTo>
                    <a:pt x="73454" y="55887"/>
                    <a:pt x="66191" y="45967"/>
                    <a:pt x="52375" y="45967"/>
                  </a:cubicBezTo>
                  <a:cubicBezTo>
                    <a:pt x="41570" y="45967"/>
                    <a:pt x="30056" y="48801"/>
                    <a:pt x="16239" y="62618"/>
                  </a:cubicBezTo>
                  <a:cubicBezTo>
                    <a:pt x="1537" y="77320"/>
                    <a:pt x="297" y="93794"/>
                    <a:pt x="297" y="99285"/>
                  </a:cubicBezTo>
                  <a:cubicBezTo>
                    <a:pt x="297" y="110267"/>
                    <a:pt x="8091" y="130815"/>
                    <a:pt x="32890" y="130815"/>
                  </a:cubicBezTo>
                  <a:cubicBezTo>
                    <a:pt x="75048" y="130815"/>
                    <a:pt x="93470" y="71298"/>
                    <a:pt x="93470" y="45967"/>
                  </a:cubicBezTo>
                  <a:cubicBezTo>
                    <a:pt x="93470" y="17803"/>
                    <a:pt x="76997" y="89"/>
                    <a:pt x="55209" y="89"/>
                  </a:cubicBezTo>
                  <a:cubicBezTo>
                    <a:pt x="29524" y="89"/>
                    <a:pt x="21376" y="23117"/>
                    <a:pt x="21376" y="28076"/>
                  </a:cubicBezTo>
                  <a:cubicBezTo>
                    <a:pt x="21376" y="30556"/>
                    <a:pt x="22793" y="34276"/>
                    <a:pt x="28107" y="34276"/>
                  </a:cubicBezTo>
                  <a:cubicBezTo>
                    <a:pt x="33953" y="34276"/>
                    <a:pt x="37673" y="28962"/>
                    <a:pt x="37673" y="24888"/>
                  </a:cubicBezTo>
                  <a:cubicBezTo>
                    <a:pt x="37673" y="18688"/>
                    <a:pt x="32181" y="18688"/>
                    <a:pt x="29347" y="18688"/>
                  </a:cubicBezTo>
                  <a:cubicBezTo>
                    <a:pt x="37141" y="5580"/>
                    <a:pt x="49718" y="4517"/>
                    <a:pt x="54855" y="4517"/>
                  </a:cubicBezTo>
                  <a:cubicBezTo>
                    <a:pt x="67786" y="4517"/>
                    <a:pt x="80185" y="13728"/>
                    <a:pt x="80185" y="36579"/>
                  </a:cubicBezTo>
                  <a:cubicBezTo>
                    <a:pt x="80185" y="43487"/>
                    <a:pt x="79122" y="52521"/>
                    <a:pt x="75402" y="66869"/>
                  </a:cubicBezTo>
                  <a:lnTo>
                    <a:pt x="75225" y="66869"/>
                  </a:lnTo>
                  <a:close/>
                  <a:moveTo>
                    <a:pt x="33421" y="125855"/>
                  </a:moveTo>
                  <a:cubicBezTo>
                    <a:pt x="13936" y="125855"/>
                    <a:pt x="13936" y="107610"/>
                    <a:pt x="13936" y="105839"/>
                  </a:cubicBezTo>
                  <a:cubicBezTo>
                    <a:pt x="13936" y="101056"/>
                    <a:pt x="18365" y="76257"/>
                    <a:pt x="25627" y="65629"/>
                  </a:cubicBezTo>
                  <a:cubicBezTo>
                    <a:pt x="32713" y="55533"/>
                    <a:pt x="41392" y="49864"/>
                    <a:pt x="52375" y="49864"/>
                  </a:cubicBezTo>
                  <a:cubicBezTo>
                    <a:pt x="71683" y="49864"/>
                    <a:pt x="72037" y="69703"/>
                    <a:pt x="72037" y="73246"/>
                  </a:cubicBezTo>
                  <a:cubicBezTo>
                    <a:pt x="72037" y="86000"/>
                    <a:pt x="60700" y="125855"/>
                    <a:pt x="33421" y="125855"/>
                  </a:cubicBezTo>
                  <a:close/>
                </a:path>
              </a:pathLst>
            </a:custGeom>
            <a:solidFill>
              <a:srgbClr val="000000"/>
            </a:solidFill>
            <a:ln w="17732" cap="flat">
              <a:noFill/>
              <a:prstDash val="solid"/>
              <a:miter/>
            </a:ln>
          </p:spPr>
          <p:txBody>
            <a:bodyPr rtlCol="0" anchor="ctr"/>
            <a:lstStyle/>
            <a:p>
              <a:endParaRPr lang="zh-CN" altLang="en-US"/>
            </a:p>
          </p:txBody>
        </p:sp>
        <p:sp>
          <p:nvSpPr>
            <p:cNvPr id="16541" name="任意形状 16540">
              <a:extLst>
                <a:ext uri="{FF2B5EF4-FFF2-40B4-BE49-F238E27FC236}">
                  <a16:creationId xmlns:a16="http://schemas.microsoft.com/office/drawing/2014/main" id="{89699C68-3029-3F2C-522E-5A90C5CBFB06}"/>
                </a:ext>
              </a:extLst>
            </p:cNvPr>
            <p:cNvSpPr/>
            <p:nvPr>
              <p:custDataLst>
                <p:tags r:id="rId38"/>
              </p:custDataLst>
            </p:nvPr>
          </p:nvSpPr>
          <p:spPr>
            <a:xfrm>
              <a:off x="7931108" y="3998243"/>
              <a:ext cx="112126" cy="124880"/>
            </a:xfrm>
            <a:custGeom>
              <a:avLst/>
              <a:gdLst>
                <a:gd name="connsiteX0" fmla="*/ 112430 w 112126"/>
                <a:gd name="connsiteY0" fmla="*/ 96274 h 124880"/>
                <a:gd name="connsiteX1" fmla="*/ 108001 w 112126"/>
                <a:gd name="connsiteY1" fmla="*/ 96274 h 124880"/>
                <a:gd name="connsiteX2" fmla="*/ 104813 w 112126"/>
                <a:gd name="connsiteY2" fmla="*/ 109205 h 124880"/>
                <a:gd name="connsiteX3" fmla="*/ 93122 w 112126"/>
                <a:gd name="connsiteY3" fmla="*/ 113456 h 124880"/>
                <a:gd name="connsiteX4" fmla="*/ 78951 w 112126"/>
                <a:gd name="connsiteY4" fmla="*/ 113456 h 124880"/>
                <a:gd name="connsiteX5" fmla="*/ 94716 w 112126"/>
                <a:gd name="connsiteY5" fmla="*/ 83343 h 124880"/>
                <a:gd name="connsiteX6" fmla="*/ 110304 w 112126"/>
                <a:gd name="connsiteY6" fmla="*/ 44550 h 124880"/>
                <a:gd name="connsiteX7" fmla="*/ 56455 w 112126"/>
                <a:gd name="connsiteY7" fmla="*/ 89 h 124880"/>
                <a:gd name="connsiteX8" fmla="*/ 2428 w 112126"/>
                <a:gd name="connsiteY8" fmla="*/ 44550 h 124880"/>
                <a:gd name="connsiteX9" fmla="*/ 18016 w 112126"/>
                <a:gd name="connsiteY9" fmla="*/ 83343 h 124880"/>
                <a:gd name="connsiteX10" fmla="*/ 33781 w 112126"/>
                <a:gd name="connsiteY10" fmla="*/ 113456 h 124880"/>
                <a:gd name="connsiteX11" fmla="*/ 19611 w 112126"/>
                <a:gd name="connsiteY11" fmla="*/ 113456 h 124880"/>
                <a:gd name="connsiteX12" fmla="*/ 7920 w 112126"/>
                <a:gd name="connsiteY12" fmla="*/ 109382 h 124880"/>
                <a:gd name="connsiteX13" fmla="*/ 4731 w 112126"/>
                <a:gd name="connsiteY13" fmla="*/ 96274 h 124880"/>
                <a:gd name="connsiteX14" fmla="*/ 303 w 112126"/>
                <a:gd name="connsiteY14" fmla="*/ 96274 h 124880"/>
                <a:gd name="connsiteX15" fmla="*/ 6148 w 112126"/>
                <a:gd name="connsiteY15" fmla="*/ 124970 h 124880"/>
                <a:gd name="connsiteX16" fmla="*/ 34490 w 112126"/>
                <a:gd name="connsiteY16" fmla="*/ 124970 h 124880"/>
                <a:gd name="connsiteX17" fmla="*/ 38918 w 112126"/>
                <a:gd name="connsiteY17" fmla="*/ 121250 h 124880"/>
                <a:gd name="connsiteX18" fmla="*/ 29353 w 112126"/>
                <a:gd name="connsiteY18" fmla="*/ 81926 h 124880"/>
                <a:gd name="connsiteX19" fmla="*/ 20673 w 112126"/>
                <a:gd name="connsiteY19" fmla="*/ 44373 h 124880"/>
                <a:gd name="connsiteX20" fmla="*/ 56278 w 112126"/>
                <a:gd name="connsiteY20" fmla="*/ 3986 h 124880"/>
                <a:gd name="connsiteX21" fmla="*/ 92059 w 112126"/>
                <a:gd name="connsiteY21" fmla="*/ 44373 h 124880"/>
                <a:gd name="connsiteX22" fmla="*/ 82139 w 112126"/>
                <a:gd name="connsiteY22" fmla="*/ 85646 h 124880"/>
                <a:gd name="connsiteX23" fmla="*/ 73814 w 112126"/>
                <a:gd name="connsiteY23" fmla="*/ 121250 h 124880"/>
                <a:gd name="connsiteX24" fmla="*/ 78420 w 112126"/>
                <a:gd name="connsiteY24" fmla="*/ 124970 h 124880"/>
                <a:gd name="connsiteX25" fmla="*/ 106584 w 112126"/>
                <a:gd name="connsiteY25" fmla="*/ 124970 h 124880"/>
                <a:gd name="connsiteX26" fmla="*/ 112430 w 112126"/>
                <a:gd name="connsiteY26" fmla="*/ 96274 h 124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126" h="124880">
                  <a:moveTo>
                    <a:pt x="112430" y="96274"/>
                  </a:moveTo>
                  <a:lnTo>
                    <a:pt x="108001" y="96274"/>
                  </a:lnTo>
                  <a:cubicBezTo>
                    <a:pt x="107116" y="100879"/>
                    <a:pt x="106407" y="104953"/>
                    <a:pt x="104813" y="109205"/>
                  </a:cubicBezTo>
                  <a:cubicBezTo>
                    <a:pt x="103927" y="112039"/>
                    <a:pt x="103396" y="113456"/>
                    <a:pt x="93122" y="113456"/>
                  </a:cubicBezTo>
                  <a:lnTo>
                    <a:pt x="78951" y="113456"/>
                  </a:lnTo>
                  <a:cubicBezTo>
                    <a:pt x="81254" y="103536"/>
                    <a:pt x="86745" y="95034"/>
                    <a:pt x="94716" y="83343"/>
                  </a:cubicBezTo>
                  <a:cubicBezTo>
                    <a:pt x="103042" y="70766"/>
                    <a:pt x="110304" y="58544"/>
                    <a:pt x="110304" y="44550"/>
                  </a:cubicBezTo>
                  <a:cubicBezTo>
                    <a:pt x="110304" y="19928"/>
                    <a:pt x="86391" y="89"/>
                    <a:pt x="56455" y="89"/>
                  </a:cubicBezTo>
                  <a:cubicBezTo>
                    <a:pt x="25987" y="89"/>
                    <a:pt x="2428" y="20283"/>
                    <a:pt x="2428" y="44550"/>
                  </a:cubicBezTo>
                  <a:cubicBezTo>
                    <a:pt x="2428" y="58544"/>
                    <a:pt x="9691" y="70766"/>
                    <a:pt x="18016" y="83343"/>
                  </a:cubicBezTo>
                  <a:cubicBezTo>
                    <a:pt x="25810" y="95034"/>
                    <a:pt x="31479" y="103536"/>
                    <a:pt x="33781" y="113456"/>
                  </a:cubicBezTo>
                  <a:lnTo>
                    <a:pt x="19611" y="113456"/>
                  </a:lnTo>
                  <a:cubicBezTo>
                    <a:pt x="9337" y="113456"/>
                    <a:pt x="8805" y="112039"/>
                    <a:pt x="7920" y="109382"/>
                  </a:cubicBezTo>
                  <a:cubicBezTo>
                    <a:pt x="6503" y="105308"/>
                    <a:pt x="5617" y="100702"/>
                    <a:pt x="4731" y="96274"/>
                  </a:cubicBezTo>
                  <a:lnTo>
                    <a:pt x="303" y="96274"/>
                  </a:lnTo>
                  <a:lnTo>
                    <a:pt x="6148" y="124970"/>
                  </a:lnTo>
                  <a:lnTo>
                    <a:pt x="34490" y="124970"/>
                  </a:lnTo>
                  <a:cubicBezTo>
                    <a:pt x="38387" y="124970"/>
                    <a:pt x="38918" y="124970"/>
                    <a:pt x="38918" y="121250"/>
                  </a:cubicBezTo>
                  <a:cubicBezTo>
                    <a:pt x="38918" y="108850"/>
                    <a:pt x="33427" y="93262"/>
                    <a:pt x="29353" y="81926"/>
                  </a:cubicBezTo>
                  <a:cubicBezTo>
                    <a:pt x="25633" y="71652"/>
                    <a:pt x="20673" y="57658"/>
                    <a:pt x="20673" y="44373"/>
                  </a:cubicBezTo>
                  <a:cubicBezTo>
                    <a:pt x="20673" y="16031"/>
                    <a:pt x="40158" y="3986"/>
                    <a:pt x="56278" y="3986"/>
                  </a:cubicBezTo>
                  <a:cubicBezTo>
                    <a:pt x="73283" y="3986"/>
                    <a:pt x="92059" y="16740"/>
                    <a:pt x="92059" y="44373"/>
                  </a:cubicBezTo>
                  <a:cubicBezTo>
                    <a:pt x="92059" y="57658"/>
                    <a:pt x="87276" y="71120"/>
                    <a:pt x="82139" y="85646"/>
                  </a:cubicBezTo>
                  <a:cubicBezTo>
                    <a:pt x="79482" y="93085"/>
                    <a:pt x="73814" y="109028"/>
                    <a:pt x="73814" y="121250"/>
                  </a:cubicBezTo>
                  <a:cubicBezTo>
                    <a:pt x="73814" y="124970"/>
                    <a:pt x="74346" y="124970"/>
                    <a:pt x="78420" y="124970"/>
                  </a:cubicBezTo>
                  <a:lnTo>
                    <a:pt x="106584" y="124970"/>
                  </a:lnTo>
                  <a:lnTo>
                    <a:pt x="112430" y="96274"/>
                  </a:lnTo>
                  <a:close/>
                </a:path>
              </a:pathLst>
            </a:custGeom>
            <a:solidFill>
              <a:srgbClr val="000000"/>
            </a:solidFill>
            <a:ln w="17732" cap="flat">
              <a:noFill/>
              <a:prstDash val="solid"/>
              <a:miter/>
            </a:ln>
          </p:spPr>
          <p:txBody>
            <a:bodyPr rtlCol="0" anchor="ctr"/>
            <a:lstStyle/>
            <a:p>
              <a:endParaRPr lang="zh-CN" altLang="en-US"/>
            </a:p>
          </p:txBody>
        </p:sp>
        <p:sp>
          <p:nvSpPr>
            <p:cNvPr id="16542" name="任意形状 16541">
              <a:extLst>
                <a:ext uri="{FF2B5EF4-FFF2-40B4-BE49-F238E27FC236}">
                  <a16:creationId xmlns:a16="http://schemas.microsoft.com/office/drawing/2014/main" id="{E8E180DA-F588-077A-E8DD-457B6F013612}"/>
                </a:ext>
              </a:extLst>
            </p:cNvPr>
            <p:cNvSpPr/>
            <p:nvPr>
              <p:custDataLst>
                <p:tags r:id="rId39"/>
              </p:custDataLst>
            </p:nvPr>
          </p:nvSpPr>
          <p:spPr>
            <a:xfrm>
              <a:off x="8066480" y="4104347"/>
              <a:ext cx="18776" cy="18776"/>
            </a:xfrm>
            <a:custGeom>
              <a:avLst/>
              <a:gdLst>
                <a:gd name="connsiteX0" fmla="*/ 19086 w 18776"/>
                <a:gd name="connsiteY0" fmla="*/ 9477 h 18776"/>
                <a:gd name="connsiteX1" fmla="*/ 9698 w 18776"/>
                <a:gd name="connsiteY1" fmla="*/ 89 h 18776"/>
                <a:gd name="connsiteX2" fmla="*/ 310 w 18776"/>
                <a:gd name="connsiteY2" fmla="*/ 9477 h 18776"/>
                <a:gd name="connsiteX3" fmla="*/ 9698 w 18776"/>
                <a:gd name="connsiteY3" fmla="*/ 18865 h 18776"/>
                <a:gd name="connsiteX4" fmla="*/ 19086 w 18776"/>
                <a:gd name="connsiteY4" fmla="*/ 9477 h 187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776" h="18776">
                  <a:moveTo>
                    <a:pt x="19086" y="9477"/>
                  </a:moveTo>
                  <a:cubicBezTo>
                    <a:pt x="19086" y="4340"/>
                    <a:pt x="14835" y="89"/>
                    <a:pt x="9698" y="89"/>
                  </a:cubicBezTo>
                  <a:cubicBezTo>
                    <a:pt x="4561" y="89"/>
                    <a:pt x="310" y="4340"/>
                    <a:pt x="310" y="9477"/>
                  </a:cubicBezTo>
                  <a:cubicBezTo>
                    <a:pt x="310" y="14614"/>
                    <a:pt x="4561" y="18865"/>
                    <a:pt x="9698" y="18865"/>
                  </a:cubicBezTo>
                  <a:cubicBezTo>
                    <a:pt x="14835" y="18865"/>
                    <a:pt x="19086" y="14614"/>
                    <a:pt x="19086" y="9477"/>
                  </a:cubicBezTo>
                  <a:close/>
                </a:path>
              </a:pathLst>
            </a:custGeom>
            <a:solidFill>
              <a:srgbClr val="000000"/>
            </a:solidFill>
            <a:ln w="17732" cap="flat">
              <a:noFill/>
              <a:prstDash val="solid"/>
              <a:miter/>
            </a:ln>
          </p:spPr>
          <p:txBody>
            <a:bodyPr rtlCol="0" anchor="ctr"/>
            <a:lstStyle/>
            <a:p>
              <a:endParaRPr lang="zh-CN" altLang="en-US"/>
            </a:p>
          </p:txBody>
        </p:sp>
      </p:grpSp>
      <p:sp>
        <p:nvSpPr>
          <p:cNvPr id="16544" name="文本框 16543">
            <a:extLst>
              <a:ext uri="{FF2B5EF4-FFF2-40B4-BE49-F238E27FC236}">
                <a16:creationId xmlns:a16="http://schemas.microsoft.com/office/drawing/2014/main" id="{09F52594-48C4-D8FD-A617-E12BA9D7554F}"/>
              </a:ext>
            </a:extLst>
          </p:cNvPr>
          <p:cNvSpPr txBox="1"/>
          <p:nvPr/>
        </p:nvSpPr>
        <p:spPr>
          <a:xfrm>
            <a:off x="252541" y="3038121"/>
            <a:ext cx="5150769" cy="400110"/>
          </a:xfrm>
          <a:prstGeom prst="rect">
            <a:avLst/>
          </a:prstGeom>
          <a:noFill/>
        </p:spPr>
        <p:txBody>
          <a:bodyPr wrap="none" rtlCol="0">
            <a:spAutoFit/>
          </a:bodyPr>
          <a:lstStyle/>
          <a:p>
            <a:pPr algn="l"/>
            <a:r>
              <a:rPr kumimoji="1" lang="zh-CN" altLang="en-US" sz="2000" b="1" dirty="0">
                <a:latin typeface="Microsoft YaHei" panose="020B0503020204020204" pitchFamily="34" charset="-122"/>
                <a:ea typeface="Microsoft YaHei" panose="020B0503020204020204" pitchFamily="34" charset="-122"/>
              </a:rPr>
              <a:t>有限差分法：在 </a:t>
            </a:r>
            <a:r>
              <a:rPr kumimoji="1" lang="en-US" altLang="zh-CN" sz="2000" b="1" dirty="0">
                <a:latin typeface="Microsoft YaHei" panose="020B0503020204020204" pitchFamily="34" charset="-122"/>
                <a:ea typeface="Microsoft YaHei" panose="020B0503020204020204" pitchFamily="34" charset="-122"/>
              </a:rPr>
              <a:t>x </a:t>
            </a:r>
            <a:r>
              <a:rPr kumimoji="1" lang="zh-CN" altLang="en-US" sz="2000" b="1" dirty="0">
                <a:latin typeface="Microsoft YaHei" panose="020B0503020204020204" pitchFamily="34" charset="-122"/>
                <a:ea typeface="Microsoft YaHei" panose="020B0503020204020204" pitchFamily="34" charset="-122"/>
              </a:rPr>
              <a:t>和 </a:t>
            </a:r>
            <a:r>
              <a:rPr kumimoji="1" lang="en-US" altLang="zh-CN" sz="2000" b="1" dirty="0">
                <a:latin typeface="Microsoft YaHei" panose="020B0503020204020204" pitchFamily="34" charset="-122"/>
                <a:ea typeface="Microsoft YaHei" panose="020B0503020204020204" pitchFamily="34" charset="-122"/>
              </a:rPr>
              <a:t>y </a:t>
            </a:r>
            <a:r>
              <a:rPr kumimoji="1" lang="zh-CN" altLang="en-US" sz="2000" b="1" dirty="0">
                <a:latin typeface="Microsoft YaHei" panose="020B0503020204020204" pitchFamily="34" charset="-122"/>
                <a:ea typeface="Microsoft YaHei" panose="020B0503020204020204" pitchFamily="34" charset="-122"/>
              </a:rPr>
              <a:t>两个维度上剖分网格</a:t>
            </a:r>
          </a:p>
        </p:txBody>
      </p:sp>
      <p:pic>
        <p:nvPicPr>
          <p:cNvPr id="16653" name="图片 16652">
            <a:extLst>
              <a:ext uri="{FF2B5EF4-FFF2-40B4-BE49-F238E27FC236}">
                <a16:creationId xmlns:a16="http://schemas.microsoft.com/office/drawing/2014/main" id="{D684CEE0-6F41-17FD-8427-12B2B2A805AA}"/>
              </a:ext>
            </a:extLst>
          </p:cNvPr>
          <p:cNvPicPr>
            <a:picLocks noChangeAspect="1"/>
          </p:cNvPicPr>
          <p:nvPr/>
        </p:nvPicPr>
        <p:blipFill>
          <a:blip r:embed="rId94"/>
          <a:stretch>
            <a:fillRect/>
          </a:stretch>
        </p:blipFill>
        <p:spPr>
          <a:xfrm>
            <a:off x="6441346" y="1038999"/>
            <a:ext cx="5750654" cy="2390001"/>
          </a:xfrm>
          <a:prstGeom prst="rect">
            <a:avLst/>
          </a:prstGeom>
        </p:spPr>
      </p:pic>
      <p:sp>
        <p:nvSpPr>
          <p:cNvPr id="2" name="文本框 1">
            <a:extLst>
              <a:ext uri="{FF2B5EF4-FFF2-40B4-BE49-F238E27FC236}">
                <a16:creationId xmlns:a16="http://schemas.microsoft.com/office/drawing/2014/main" id="{D08F3F18-E6CB-E5C2-F78E-177C513B7A92}"/>
              </a:ext>
            </a:extLst>
          </p:cNvPr>
          <p:cNvSpPr txBox="1"/>
          <p:nvPr/>
        </p:nvSpPr>
        <p:spPr>
          <a:xfrm>
            <a:off x="126998" y="6453238"/>
            <a:ext cx="6429965" cy="307777"/>
          </a:xfrm>
          <a:prstGeom prst="rect">
            <a:avLst/>
          </a:prstGeom>
          <a:noFill/>
        </p:spPr>
        <p:txBody>
          <a:bodyPr wrap="none" rtlCol="0">
            <a:spAutoFit/>
          </a:bodyPr>
          <a:lstStyle/>
          <a:p>
            <a:pPr algn="l"/>
            <a:r>
              <a:rPr kumimoji="1" lang="zh-CN" altLang="en" sz="1400" dirty="0">
                <a:solidFill>
                  <a:schemeClr val="bg1"/>
                </a:solidFill>
                <a:latin typeface="Times New Roman" panose="02020603050405020304" pitchFamily="18" charset="0"/>
                <a:cs typeface="Times New Roman" panose="02020603050405020304" pitchFamily="18" charset="0"/>
              </a:rPr>
              <a:t>图片</a:t>
            </a:r>
            <a:r>
              <a:rPr kumimoji="1" lang="zh-CN" altLang="en-US" sz="1400" dirty="0">
                <a:solidFill>
                  <a:schemeClr val="bg1"/>
                </a:solidFill>
                <a:latin typeface="Times New Roman" panose="02020603050405020304" pitchFamily="18" charset="0"/>
                <a:cs typeface="Times New Roman" panose="02020603050405020304" pitchFamily="18" charset="0"/>
              </a:rPr>
              <a:t>来源：</a:t>
            </a:r>
            <a:r>
              <a:rPr kumimoji="1" lang="en" altLang="zh-CN" sz="1400" dirty="0">
                <a:solidFill>
                  <a:schemeClr val="bg1"/>
                </a:solidFill>
                <a:latin typeface="Times New Roman" panose="02020603050405020304" pitchFamily="18" charset="0"/>
                <a:cs typeface="Times New Roman" panose="02020603050405020304" pitchFamily="18" charset="0"/>
              </a:rPr>
              <a:t>What is the Curse of Dimensionality in Machine Learning (with Example)</a:t>
            </a:r>
          </a:p>
        </p:txBody>
      </p:sp>
    </p:spTree>
    <p:extLst>
      <p:ext uri="{BB962C8B-B14F-4D97-AF65-F5344CB8AC3E}">
        <p14:creationId xmlns:p14="http://schemas.microsoft.com/office/powerpoint/2010/main" val="42635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512D3-E974-771E-23AD-FACA3007C39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DBF056F-7565-6B0A-01D9-F89FE0F472A7}"/>
              </a:ext>
            </a:extLst>
          </p:cNvPr>
          <p:cNvSpPr>
            <a:spLocks noGrp="1"/>
          </p:cNvSpPr>
          <p:nvPr>
            <p:ph type="title"/>
          </p:nvPr>
        </p:nvSpPr>
        <p:spPr/>
        <p:txBody>
          <a:bodyPr/>
          <a:lstStyle/>
          <a:p>
            <a:r>
              <a:rPr lang="zh-CN" altLang="en-US" dirty="0"/>
              <a:t>维数灾难的例子：函数逼近</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08D2C3A2-F7C7-1AAC-9288-B365377D1FA4}"/>
                  </a:ext>
                </a:extLst>
              </p:cNvPr>
              <p:cNvSpPr txBox="1"/>
              <p:nvPr/>
            </p:nvSpPr>
            <p:spPr>
              <a:xfrm>
                <a:off x="257025" y="863962"/>
                <a:ext cx="11553733" cy="1422890"/>
              </a:xfrm>
              <a:prstGeom prst="rect">
                <a:avLst/>
              </a:prstGeom>
              <a:noFill/>
            </p:spPr>
            <p:txBody>
              <a:bodyPr wrap="square" rtlCol="0">
                <a:spAutoFit/>
              </a:bodyPr>
              <a:lstStyle/>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如果我们有一个目标函数</a:t>
                </a:r>
                <a14:m>
                  <m:oMath xmlns:m="http://schemas.openxmlformats.org/officeDocument/2006/math">
                    <m:r>
                      <a:rPr lang="en-US" altLang="zh-CN" sz="2000" b="0" i="0" smtClean="0">
                        <a:solidFill>
                          <a:srgbClr val="000000"/>
                        </a:solidFill>
                        <a:effectLst/>
                        <a:latin typeface="Cambria Math" panose="02040503050406030204" pitchFamily="18" charset="0"/>
                      </a:rPr>
                      <m:t> </m:t>
                    </m:r>
                    <m:sSup>
                      <m:sSupPr>
                        <m:ctrlPr>
                          <a:rPr lang="en-US" altLang="zh-CN" sz="2000" b="0" i="1" smtClean="0">
                            <a:solidFill>
                              <a:srgbClr val="000000"/>
                            </a:solidFill>
                            <a:effectLst/>
                            <a:latin typeface="Cambria Math" panose="02040503050406030204" pitchFamily="18" charset="0"/>
                          </a:rPr>
                        </m:ctrlPr>
                      </m:sSupPr>
                      <m:e>
                        <m:r>
                          <a:rPr lang="en-US" altLang="zh-CN" sz="2000" b="0" i="1" smtClean="0">
                            <a:solidFill>
                              <a:srgbClr val="000000"/>
                            </a:solidFill>
                            <a:effectLst/>
                            <a:latin typeface="Cambria Math" panose="02040503050406030204" pitchFamily="18" charset="0"/>
                          </a:rPr>
                          <m:t>𝑓</m:t>
                        </m:r>
                      </m:e>
                      <m:sup>
                        <m:r>
                          <a:rPr lang="en-US" altLang="zh-CN" sz="2000" b="0" i="1" smtClean="0">
                            <a:solidFill>
                              <a:srgbClr val="000000"/>
                            </a:solidFill>
                            <a:effectLst/>
                            <a:latin typeface="Cambria Math" panose="02040503050406030204" pitchFamily="18" charset="0"/>
                          </a:rPr>
                          <m:t>∗</m:t>
                        </m:r>
                      </m:sup>
                    </m:sSup>
                  </m:oMath>
                </a14:m>
                <a:r>
                  <a:rPr lang="zh-CN" altLang="en" sz="2000" dirty="0">
                    <a:solidFill>
                      <a:srgbClr val="000000"/>
                    </a:solidFill>
                    <a:effectLst/>
                    <a:latin typeface="Microsoft YaHei" panose="020B0503020204020204" pitchFamily="34" charset="-122"/>
                    <a:ea typeface="Microsoft YaHei" panose="020B0503020204020204" pitchFamily="34" charset="-122"/>
                  </a:rPr>
                  <a:t>，</a:t>
                </a:r>
                <a:r>
                  <a:rPr lang="zh-CN" altLang="en-US" sz="2000" dirty="0">
                    <a:solidFill>
                      <a:srgbClr val="000000"/>
                    </a:solidFill>
                    <a:effectLst/>
                    <a:latin typeface="Microsoft YaHei" panose="020B0503020204020204" pitchFamily="34" charset="-122"/>
                    <a:ea typeface="Microsoft YaHei" panose="020B0503020204020204" pitchFamily="34" charset="-122"/>
                  </a:rPr>
                  <a:t>并且我们通过采样 </a:t>
                </a:r>
                <a:r>
                  <a:rPr lang="en" altLang="zh-CN" sz="2000" dirty="0">
                    <a:solidFill>
                      <a:srgbClr val="000000"/>
                    </a:solidFill>
                    <a:effectLst/>
                    <a:latin typeface="Microsoft YaHei" panose="020B0503020204020204" pitchFamily="34" charset="-122"/>
                    <a:ea typeface="Microsoft YaHei" panose="020B0503020204020204" pitchFamily="34" charset="-122"/>
                  </a:rPr>
                  <a:t>n </a:t>
                </a:r>
                <a:r>
                  <a:rPr lang="zh-CN" altLang="en-US" sz="2000" dirty="0">
                    <a:solidFill>
                      <a:srgbClr val="000000"/>
                    </a:solidFill>
                    <a:effectLst/>
                    <a:latin typeface="Microsoft YaHei" panose="020B0503020204020204" pitchFamily="34" charset="-122"/>
                    <a:ea typeface="Microsoft YaHei" panose="020B0503020204020204" pitchFamily="34" charset="-122"/>
                  </a:rPr>
                  <a:t>个样本点来逼近它。</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那么在高维空间中，</a:t>
                </a:r>
                <a:r>
                  <a:rPr lang="zh-CN" altLang="en-US" sz="2000" b="1" dirty="0">
                    <a:solidFill>
                      <a:srgbClr val="B61516"/>
                    </a:solidFill>
                    <a:effectLst/>
                    <a:latin typeface="Microsoft YaHei" panose="020B0503020204020204" pitchFamily="34" charset="-122"/>
                    <a:ea typeface="Microsoft YaHei" panose="020B0503020204020204" pitchFamily="34" charset="-122"/>
                  </a:rPr>
                  <a:t>逼近误差 </a:t>
                </a:r>
                <a:r>
                  <a:rPr lang="el-GR" altLang="zh-CN" sz="2000" b="1" dirty="0">
                    <a:solidFill>
                      <a:srgbClr val="B61516"/>
                    </a:solidFill>
                    <a:effectLst/>
                    <a:latin typeface="Microsoft YaHei" panose="020B0503020204020204" pitchFamily="34" charset="-122"/>
                    <a:ea typeface="Microsoft YaHei" panose="020B0503020204020204" pitchFamily="34" charset="-122"/>
                  </a:rPr>
                  <a:t>ε</a:t>
                </a:r>
                <a:r>
                  <a:rPr lang="zh-CN" altLang="el-GR" sz="2000" b="1" dirty="0">
                    <a:solidFill>
                      <a:srgbClr val="B61516"/>
                    </a:solidFill>
                    <a:effectLst/>
                    <a:latin typeface="Microsoft YaHei" panose="020B0503020204020204" pitchFamily="34" charset="-122"/>
                    <a:ea typeface="Microsoft YaHei" panose="020B0503020204020204" pitchFamily="34" charset="-122"/>
                  </a:rPr>
                  <a:t>（</a:t>
                </a:r>
                <a:r>
                  <a:rPr lang="zh-CN" altLang="en-US" sz="2000" b="1" dirty="0">
                    <a:solidFill>
                      <a:srgbClr val="B61516"/>
                    </a:solidFill>
                    <a:effectLst/>
                    <a:latin typeface="Microsoft YaHei" panose="020B0503020204020204" pitchFamily="34" charset="-122"/>
                    <a:ea typeface="Microsoft YaHei" panose="020B0503020204020204" pitchFamily="34" charset="-122"/>
                  </a:rPr>
                  <a:t>即逼近函数和真实目标函数之间的差距）</a:t>
                </a:r>
                <a:r>
                  <a:rPr lang="zh-CN" altLang="en-US" sz="2000" dirty="0">
                    <a:solidFill>
                      <a:srgbClr val="000000"/>
                    </a:solidFill>
                    <a:effectLst/>
                    <a:latin typeface="Microsoft YaHei" panose="020B0503020204020204" pitchFamily="34" charset="-122"/>
                    <a:ea typeface="Microsoft YaHei" panose="020B0503020204020204" pitchFamily="34" charset="-122"/>
                  </a:rPr>
                  <a:t>大致遵循如下规律</a:t>
                </a:r>
                <a:r>
                  <a:rPr lang="en-US" altLang="zh-CN" sz="2000" dirty="0">
                    <a:solidFill>
                      <a:srgbClr val="000000"/>
                    </a:solidFill>
                    <a:effectLst/>
                    <a:latin typeface="Microsoft YaHei" panose="020B0503020204020204" pitchFamily="34" charset="-122"/>
                    <a:ea typeface="Microsoft YaHei" panose="020B0503020204020204" pitchFamily="34" charset="-122"/>
                  </a:rPr>
                  <a:t>(</a:t>
                </a:r>
                <a:r>
                  <a:rPr lang="en" altLang="zh-CN" sz="2000" dirty="0">
                    <a:solidFill>
                      <a:srgbClr val="000000"/>
                    </a:solidFill>
                    <a:effectLst/>
                    <a:latin typeface="Microsoft YaHei" panose="020B0503020204020204" pitchFamily="34" charset="-122"/>
                    <a:ea typeface="Microsoft YaHei" panose="020B0503020204020204" pitchFamily="34" charset="-122"/>
                  </a:rPr>
                  <a:t>DeVore 1998)</a:t>
                </a:r>
                <a:r>
                  <a:rPr lang="zh-CN" altLang="en" sz="2000" dirty="0">
                    <a:solidFill>
                      <a:srgbClr val="000000"/>
                    </a:solidFill>
                    <a:effectLst/>
                    <a:latin typeface="Microsoft YaHei" panose="020B0503020204020204" pitchFamily="34" charset="-122"/>
                    <a:ea typeface="Microsoft YaHei" panose="020B0503020204020204" pitchFamily="34" charset="-122"/>
                  </a:rPr>
                  <a:t>：</a:t>
                </a:r>
              </a:p>
            </p:txBody>
          </p:sp>
        </mc:Choice>
        <mc:Fallback xmlns="">
          <p:sp>
            <p:nvSpPr>
              <p:cNvPr id="6" name="文本框 5">
                <a:extLst>
                  <a:ext uri="{FF2B5EF4-FFF2-40B4-BE49-F238E27FC236}">
                    <a16:creationId xmlns:a16="http://schemas.microsoft.com/office/drawing/2014/main" id="{08D2C3A2-F7C7-1AAC-9288-B365377D1FA4}"/>
                  </a:ext>
                </a:extLst>
              </p:cNvPr>
              <p:cNvSpPr txBox="1">
                <a:spLocks noRot="1" noChangeAspect="1" noMove="1" noResize="1" noEditPoints="1" noAdjustHandles="1" noChangeArrowheads="1" noChangeShapeType="1" noTextEdit="1"/>
              </p:cNvSpPr>
              <p:nvPr/>
            </p:nvSpPr>
            <p:spPr>
              <a:xfrm>
                <a:off x="257025" y="863962"/>
                <a:ext cx="11553733" cy="1422890"/>
              </a:xfrm>
              <a:prstGeom prst="rect">
                <a:avLst/>
              </a:prstGeom>
              <a:blipFill>
                <a:blip r:embed="rId2"/>
                <a:stretch>
                  <a:fillRect l="-440" b="-7143"/>
                </a:stretch>
              </a:blipFill>
            </p:spPr>
            <p:txBody>
              <a:bodyPr/>
              <a:lstStyle/>
              <a:p>
                <a:r>
                  <a:rPr lang="zh-CN" altLang="en-US">
                    <a:noFill/>
                  </a:rPr>
                  <a:t> </a:t>
                </a:r>
              </a:p>
            </p:txBody>
          </p:sp>
        </mc:Fallback>
      </mc:AlternateContent>
      <p:pic>
        <p:nvPicPr>
          <p:cNvPr id="10" name="图片 9">
            <a:extLst>
              <a:ext uri="{FF2B5EF4-FFF2-40B4-BE49-F238E27FC236}">
                <a16:creationId xmlns:a16="http://schemas.microsoft.com/office/drawing/2014/main" id="{F8D140F2-71D0-315C-D49D-10A66A85AEC8}"/>
              </a:ext>
            </a:extLst>
          </p:cNvPr>
          <p:cNvPicPr>
            <a:picLocks noChangeAspect="1"/>
          </p:cNvPicPr>
          <p:nvPr/>
        </p:nvPicPr>
        <p:blipFill>
          <a:blip r:embed="rId3"/>
          <a:stretch>
            <a:fillRect/>
          </a:stretch>
        </p:blipFill>
        <p:spPr>
          <a:xfrm>
            <a:off x="4361521" y="2053291"/>
            <a:ext cx="2491592" cy="1020652"/>
          </a:xfrm>
          <a:prstGeom prst="rect">
            <a:avLst/>
          </a:prstGeom>
        </p:spPr>
      </p:pic>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44308690-8700-145E-2D14-085A667EEB9C}"/>
                  </a:ext>
                </a:extLst>
              </p:cNvPr>
              <p:cNvSpPr txBox="1"/>
              <p:nvPr/>
            </p:nvSpPr>
            <p:spPr>
              <a:xfrm>
                <a:off x="376295" y="3429000"/>
                <a:ext cx="7651424" cy="1510798"/>
              </a:xfrm>
              <a:prstGeom prst="rect">
                <a:avLst/>
              </a:prstGeom>
              <a:noFill/>
            </p:spPr>
            <p:txBody>
              <a:bodyPr wrap="square" rtlCol="0">
                <a:spAutoFit/>
              </a:bodyPr>
              <a:lstStyle/>
              <a:p>
                <a:pPr marL="342900" indent="-342900">
                  <a:lnSpc>
                    <a:spcPct val="150000"/>
                  </a:lnSpc>
                  <a:buFont typeface="Wingdings" pitchFamily="2" charset="2"/>
                  <a:buChar char="p"/>
                </a:pPr>
                <a:r>
                  <a:rPr lang="en" altLang="zh-CN" sz="2000" b="1" dirty="0">
                    <a:solidFill>
                      <a:srgbClr val="000000"/>
                    </a:solidFill>
                    <a:effectLst/>
                    <a:latin typeface="Microsoft YaHei" panose="020B0503020204020204" pitchFamily="34" charset="-122"/>
                    <a:ea typeface="Microsoft YaHei" panose="020B0503020204020204" pitchFamily="34" charset="-122"/>
                  </a:rPr>
                  <a:t>s </a:t>
                </a:r>
                <a:r>
                  <a:rPr lang="zh-CN" altLang="en-US" sz="2000" b="1" dirty="0">
                    <a:solidFill>
                      <a:srgbClr val="000000"/>
                    </a:solidFill>
                    <a:effectLst/>
                    <a:latin typeface="Microsoft YaHei" panose="020B0503020204020204" pitchFamily="34" charset="-122"/>
                    <a:ea typeface="Microsoft YaHei" panose="020B0503020204020204" pitchFamily="34" charset="-122"/>
                  </a:rPr>
                  <a:t>是目标函数的光滑程度，</a:t>
                </a:r>
                <a:r>
                  <a:rPr lang="en" altLang="zh-CN" sz="2000" b="1" dirty="0">
                    <a:solidFill>
                      <a:srgbClr val="000000"/>
                    </a:solidFill>
                    <a:effectLst/>
                    <a:latin typeface="Microsoft YaHei" panose="020B0503020204020204" pitchFamily="34" charset="-122"/>
                    <a:ea typeface="Microsoft YaHei" panose="020B0503020204020204" pitchFamily="34" charset="-122"/>
                  </a:rPr>
                  <a:t>d </a:t>
                </a:r>
                <a:r>
                  <a:rPr lang="zh-CN" altLang="en-US" sz="2000" b="1" dirty="0">
                    <a:solidFill>
                      <a:srgbClr val="000000"/>
                    </a:solidFill>
                    <a:effectLst/>
                    <a:latin typeface="Microsoft YaHei" panose="020B0503020204020204" pitchFamily="34" charset="-122"/>
                    <a:ea typeface="Microsoft YaHei" panose="020B0503020204020204" pitchFamily="34" charset="-122"/>
                  </a:rPr>
                  <a:t>是数据的维度，</a:t>
                </a:r>
                <a:r>
                  <a:rPr lang="en" altLang="zh-CN" sz="2000" b="1" dirty="0">
                    <a:solidFill>
                      <a:srgbClr val="000000"/>
                    </a:solidFill>
                    <a:effectLst/>
                    <a:latin typeface="Microsoft YaHei" panose="020B0503020204020204" pitchFamily="34" charset="-122"/>
                    <a:ea typeface="Microsoft YaHei" panose="020B0503020204020204" pitchFamily="34" charset="-122"/>
                  </a:rPr>
                  <a:t>n </a:t>
                </a:r>
                <a:r>
                  <a:rPr lang="zh-CN" altLang="en-US" sz="2000" b="1" dirty="0">
                    <a:solidFill>
                      <a:srgbClr val="000000"/>
                    </a:solidFill>
                    <a:effectLst/>
                    <a:latin typeface="Microsoft YaHei" panose="020B0503020204020204" pitchFamily="34" charset="-122"/>
                    <a:ea typeface="Microsoft YaHei" panose="020B0503020204020204" pitchFamily="34" charset="-122"/>
                  </a:rPr>
                  <a:t>是样本数量</a:t>
                </a:r>
                <a:endParaRPr lang="en-US" altLang="zh-CN" sz="2000" b="1"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随着维度</a:t>
                </a:r>
                <a:r>
                  <a:rPr lang="en-US" altLang="zh-CN" sz="2000" dirty="0">
                    <a:solidFill>
                      <a:srgbClr val="000000"/>
                    </a:solidFill>
                    <a:effectLst/>
                    <a:latin typeface="Microsoft YaHei" panose="020B0503020204020204" pitchFamily="34" charset="-122"/>
                    <a:ea typeface="Microsoft YaHei" panose="020B0503020204020204" pitchFamily="34" charset="-122"/>
                  </a:rPr>
                  <a:t> </a:t>
                </a:r>
                <a:r>
                  <a:rPr lang="en" altLang="zh-CN" sz="2000" dirty="0">
                    <a:solidFill>
                      <a:srgbClr val="000000"/>
                    </a:solidFill>
                    <a:effectLst/>
                    <a:latin typeface="Microsoft YaHei" panose="020B0503020204020204" pitchFamily="34" charset="-122"/>
                    <a:ea typeface="Microsoft YaHei" panose="020B0503020204020204" pitchFamily="34" charset="-122"/>
                  </a:rPr>
                  <a:t>d </a:t>
                </a:r>
                <a:r>
                  <a:rPr lang="zh-CN" altLang="en-US" sz="2000" dirty="0">
                    <a:solidFill>
                      <a:srgbClr val="000000"/>
                    </a:solidFill>
                    <a:effectLst/>
                    <a:latin typeface="Microsoft YaHei" panose="020B0503020204020204" pitchFamily="34" charset="-122"/>
                    <a:ea typeface="Microsoft YaHei" panose="020B0503020204020204" pitchFamily="34" charset="-122"/>
                  </a:rPr>
                  <a:t>的增加，样本数量 </a:t>
                </a:r>
                <a:r>
                  <a:rPr lang="en" altLang="zh-CN" sz="2000" dirty="0">
                    <a:solidFill>
                      <a:srgbClr val="000000"/>
                    </a:solidFill>
                    <a:effectLst/>
                    <a:latin typeface="Microsoft YaHei" panose="020B0503020204020204" pitchFamily="34" charset="-122"/>
                    <a:ea typeface="Microsoft YaHei" panose="020B0503020204020204" pitchFamily="34" charset="-122"/>
                  </a:rPr>
                  <a:t>n </a:t>
                </a:r>
                <a:r>
                  <a:rPr lang="zh-CN" altLang="en-US" sz="2000" dirty="0">
                    <a:solidFill>
                      <a:srgbClr val="000000"/>
                    </a:solidFill>
                    <a:effectLst/>
                    <a:latin typeface="Microsoft YaHei" panose="020B0503020204020204" pitchFamily="34" charset="-122"/>
                    <a:ea typeface="Microsoft YaHei" panose="020B0503020204020204" pitchFamily="34" charset="-122"/>
                  </a:rPr>
                  <a:t>必须指数增加，才能保持相同的逼近误差</a:t>
                </a:r>
                <a:r>
                  <a:rPr lang="en-US" altLang="zh-CN" sz="2000" dirty="0">
                    <a:solidFill>
                      <a:srgbClr val="000000"/>
                    </a:solidFill>
                    <a:effectLst/>
                    <a:latin typeface="Microsoft YaHei" panose="020B0503020204020204" pitchFamily="34" charset="-122"/>
                    <a:ea typeface="Microsoft YaHei" panose="020B0503020204020204" pitchFamily="34" charset="-122"/>
                  </a:rPr>
                  <a:t>: </a:t>
                </a:r>
                <a14:m>
                  <m:oMath xmlns:m="http://schemas.openxmlformats.org/officeDocument/2006/math">
                    <m:r>
                      <a:rPr lang="en-US" altLang="zh-CN" sz="2400" b="0" i="1" smtClean="0">
                        <a:solidFill>
                          <a:srgbClr val="C00000"/>
                        </a:solidFill>
                        <a:effectLst/>
                        <a:latin typeface="Cambria Math" panose="02040503050406030204" pitchFamily="18" charset="0"/>
                        <a:ea typeface="Microsoft YaHei" panose="020B0503020204020204" pitchFamily="34" charset="-122"/>
                      </a:rPr>
                      <m:t>𝑛</m:t>
                    </m:r>
                    <m:r>
                      <a:rPr lang="en-US" altLang="zh-CN" sz="2400" b="0" i="1" smtClean="0">
                        <a:solidFill>
                          <a:srgbClr val="C00000"/>
                        </a:solidFill>
                        <a:effectLst/>
                        <a:latin typeface="Cambria Math" panose="02040503050406030204" pitchFamily="18" charset="0"/>
                        <a:ea typeface="Microsoft YaHei" panose="020B0503020204020204" pitchFamily="34" charset="-122"/>
                      </a:rPr>
                      <m:t>≥</m:t>
                    </m:r>
                    <m:sSup>
                      <m:sSupPr>
                        <m:ctrlPr>
                          <a:rPr lang="en-US" altLang="zh-CN" sz="2400" b="0" i="1" smtClean="0">
                            <a:solidFill>
                              <a:srgbClr val="C00000"/>
                            </a:solidFill>
                            <a:effectLst/>
                            <a:latin typeface="Cambria Math" panose="02040503050406030204" pitchFamily="18" charset="0"/>
                            <a:ea typeface="Microsoft YaHei" panose="020B0503020204020204" pitchFamily="34" charset="-122"/>
                          </a:rPr>
                        </m:ctrlPr>
                      </m:sSupPr>
                      <m:e>
                        <m:r>
                          <a:rPr lang="en-US" altLang="zh-CN" sz="2400" b="0" i="1" smtClean="0">
                            <a:solidFill>
                              <a:srgbClr val="C00000"/>
                            </a:solidFill>
                            <a:effectLst/>
                            <a:latin typeface="Cambria Math" panose="02040503050406030204" pitchFamily="18" charset="0"/>
                            <a:ea typeface="Microsoft YaHei" panose="020B0503020204020204" pitchFamily="34" charset="-122"/>
                          </a:rPr>
                          <m:t>𝐶</m:t>
                        </m:r>
                      </m:e>
                      <m:sup>
                        <m:r>
                          <a:rPr lang="en-US" altLang="zh-CN" sz="2400" b="0" i="1" smtClean="0">
                            <a:solidFill>
                              <a:srgbClr val="C00000"/>
                            </a:solidFill>
                            <a:effectLst/>
                            <a:latin typeface="Cambria Math" panose="02040503050406030204" pitchFamily="18" charset="0"/>
                            <a:ea typeface="Microsoft YaHei" panose="020B0503020204020204" pitchFamily="34" charset="-122"/>
                          </a:rPr>
                          <m:t>𝑑</m:t>
                        </m:r>
                      </m:sup>
                    </m:sSup>
                  </m:oMath>
                </a14:m>
                <a:endParaRPr lang="zh-CN" altLang="en-US" sz="20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11" name="文本框 10">
                <a:extLst>
                  <a:ext uri="{FF2B5EF4-FFF2-40B4-BE49-F238E27FC236}">
                    <a16:creationId xmlns:a16="http://schemas.microsoft.com/office/drawing/2014/main" id="{44308690-8700-145E-2D14-085A667EEB9C}"/>
                  </a:ext>
                </a:extLst>
              </p:cNvPr>
              <p:cNvSpPr txBox="1">
                <a:spLocks noRot="1" noChangeAspect="1" noMove="1" noResize="1" noEditPoints="1" noAdjustHandles="1" noChangeArrowheads="1" noChangeShapeType="1" noTextEdit="1"/>
              </p:cNvSpPr>
              <p:nvPr/>
            </p:nvSpPr>
            <p:spPr>
              <a:xfrm>
                <a:off x="376295" y="3429000"/>
                <a:ext cx="7651424" cy="1510798"/>
              </a:xfrm>
              <a:prstGeom prst="rect">
                <a:avLst/>
              </a:prstGeom>
              <a:blipFill>
                <a:blip r:embed="rId4"/>
                <a:stretch>
                  <a:fillRect l="-662" b="-5882"/>
                </a:stretch>
              </a:blipFill>
            </p:spPr>
            <p:txBody>
              <a:bodyPr/>
              <a:lstStyle/>
              <a:p>
                <a:r>
                  <a:rPr lang="zh-CN" altLang="en-US">
                    <a:noFill/>
                  </a:rPr>
                  <a:t> </a:t>
                </a:r>
              </a:p>
            </p:txBody>
          </p:sp>
        </mc:Fallback>
      </mc:AlternateContent>
      <p:pic>
        <p:nvPicPr>
          <p:cNvPr id="17410" name="Picture 2" descr="A Gentle Introduction To Approximation - MachineLearningMastery.com">
            <a:extLst>
              <a:ext uri="{FF2B5EF4-FFF2-40B4-BE49-F238E27FC236}">
                <a16:creationId xmlns:a16="http://schemas.microsoft.com/office/drawing/2014/main" id="{40694F1B-72D7-5833-A93D-7ECB1E42C39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021618" y="2017891"/>
            <a:ext cx="3991328" cy="2993496"/>
          </a:xfrm>
          <a:prstGeom prst="rect">
            <a:avLst/>
          </a:prstGeom>
          <a:noFill/>
          <a:extLst>
            <a:ext uri="{909E8E84-426E-40DD-AFC4-6F175D3DCCD1}">
              <a14:hiddenFill xmlns:a14="http://schemas.microsoft.com/office/drawing/2010/main">
                <a:solidFill>
                  <a:srgbClr val="FFFFFF"/>
                </a:solidFill>
              </a14:hiddenFill>
            </a:ext>
          </a:extLst>
        </p:spPr>
      </p:pic>
      <p:sp>
        <p:nvSpPr>
          <p:cNvPr id="12" name="文本框 11">
            <a:extLst>
              <a:ext uri="{FF2B5EF4-FFF2-40B4-BE49-F238E27FC236}">
                <a16:creationId xmlns:a16="http://schemas.microsoft.com/office/drawing/2014/main" id="{BC5BCBD4-0635-89DF-E533-F0DA1CFE5AED}"/>
              </a:ext>
            </a:extLst>
          </p:cNvPr>
          <p:cNvSpPr txBox="1"/>
          <p:nvPr/>
        </p:nvSpPr>
        <p:spPr>
          <a:xfrm>
            <a:off x="118478" y="6422264"/>
            <a:ext cx="5676939" cy="307777"/>
          </a:xfrm>
          <a:prstGeom prst="rect">
            <a:avLst/>
          </a:prstGeom>
          <a:noFill/>
        </p:spPr>
        <p:txBody>
          <a:bodyPr wrap="none" rtlCol="0">
            <a:spAutoFit/>
          </a:bodyPr>
          <a:lstStyle/>
          <a:p>
            <a:r>
              <a:rPr lang="en" altLang="zh-CN" sz="1400" dirty="0">
                <a:solidFill>
                  <a:schemeClr val="bg1"/>
                </a:solidFill>
                <a:effectLst/>
                <a:latin typeface="Times New Roman" panose="02020603050405020304" pitchFamily="18" charset="0"/>
                <a:cs typeface="Times New Roman" panose="02020603050405020304" pitchFamily="18" charset="0"/>
              </a:rPr>
              <a:t>DeVore, R. A. (1998), ‘Nonlinear approximation’, Acta </a:t>
            </a:r>
            <a:r>
              <a:rPr lang="en" altLang="zh-CN" sz="1400" dirty="0" err="1">
                <a:solidFill>
                  <a:schemeClr val="bg1"/>
                </a:solidFill>
                <a:effectLst/>
                <a:latin typeface="Times New Roman" panose="02020603050405020304" pitchFamily="18" charset="0"/>
                <a:cs typeface="Times New Roman" panose="02020603050405020304" pitchFamily="18" charset="0"/>
              </a:rPr>
              <a:t>numerica</a:t>
            </a:r>
            <a:r>
              <a:rPr lang="en" altLang="zh-CN" sz="1400" dirty="0">
                <a:solidFill>
                  <a:schemeClr val="bg1"/>
                </a:solidFill>
                <a:effectLst/>
                <a:latin typeface="Times New Roman" panose="02020603050405020304" pitchFamily="18" charset="0"/>
                <a:cs typeface="Times New Roman" panose="02020603050405020304" pitchFamily="18" charset="0"/>
              </a:rPr>
              <a:t> 7, 51–150.</a:t>
            </a:r>
          </a:p>
        </p:txBody>
      </p:sp>
      <p:sp>
        <p:nvSpPr>
          <p:cNvPr id="13" name="椭圆形标注 12">
            <a:extLst>
              <a:ext uri="{FF2B5EF4-FFF2-40B4-BE49-F238E27FC236}">
                <a16:creationId xmlns:a16="http://schemas.microsoft.com/office/drawing/2014/main" id="{F9FE20C5-66D7-B943-B939-0F6AAECA3054}"/>
              </a:ext>
            </a:extLst>
          </p:cNvPr>
          <p:cNvSpPr/>
          <p:nvPr/>
        </p:nvSpPr>
        <p:spPr>
          <a:xfrm>
            <a:off x="4821382" y="5366445"/>
            <a:ext cx="6650181" cy="715502"/>
          </a:xfrm>
          <a:prstGeom prst="wedgeEllipseCallout">
            <a:avLst>
              <a:gd name="adj1" fmla="val -76300"/>
              <a:gd name="adj2" fmla="val -13046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为了保持精度，</a:t>
            </a:r>
            <a:r>
              <a:rPr lang="zh-CN" altLang="en-US" b="1" dirty="0">
                <a:solidFill>
                  <a:srgbClr val="C00000"/>
                </a:solidFill>
                <a:latin typeface="Microsoft YaHei" panose="020B0503020204020204" pitchFamily="34" charset="-122"/>
                <a:ea typeface="Microsoft YaHei" panose="020B0503020204020204" pitchFamily="34" charset="-122"/>
              </a:rPr>
              <a:t>所需的样本数</a:t>
            </a:r>
            <a:r>
              <a:rPr lang="zh-CN" altLang="en-US" sz="1800" b="1" dirty="0">
                <a:solidFill>
                  <a:srgbClr val="C00000"/>
                </a:solidFill>
                <a:effectLst/>
                <a:latin typeface="Microsoft YaHei" panose="020B0503020204020204" pitchFamily="34" charset="-122"/>
                <a:ea typeface="Microsoft YaHei" panose="020B0503020204020204" pitchFamily="34" charset="-122"/>
              </a:rPr>
              <a:t>会随着空间维数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呈指数增长</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维数灾难！</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p:sp>
        <p:nvSpPr>
          <p:cNvPr id="2" name="文本框 1">
            <a:extLst>
              <a:ext uri="{FF2B5EF4-FFF2-40B4-BE49-F238E27FC236}">
                <a16:creationId xmlns:a16="http://schemas.microsoft.com/office/drawing/2014/main" id="{70F418E9-2606-BBB6-93F6-911551292155}"/>
              </a:ext>
            </a:extLst>
          </p:cNvPr>
          <p:cNvSpPr txBox="1"/>
          <p:nvPr/>
        </p:nvSpPr>
        <p:spPr>
          <a:xfrm>
            <a:off x="5795417" y="6437652"/>
            <a:ext cx="4529510" cy="276999"/>
          </a:xfrm>
          <a:prstGeom prst="rect">
            <a:avLst/>
          </a:prstGeom>
          <a:noFill/>
        </p:spPr>
        <p:txBody>
          <a:bodyPr wrap="none" rtlCol="0">
            <a:spAutoFit/>
          </a:bodyPr>
          <a:lstStyle/>
          <a:p>
            <a:pPr algn="l"/>
            <a:r>
              <a:rPr kumimoji="1" lang="zh-CN" altLang="en" sz="1200" dirty="0">
                <a:solidFill>
                  <a:schemeClr val="bg1"/>
                </a:solidFill>
                <a:latin typeface="Times New Roman" panose="02020603050405020304" pitchFamily="18" charset="0"/>
                <a:cs typeface="Times New Roman" panose="02020603050405020304" pitchFamily="18" charset="0"/>
              </a:rPr>
              <a:t>图片</a:t>
            </a:r>
            <a:r>
              <a:rPr kumimoji="1" lang="zh-CN" altLang="en-US" sz="1200" dirty="0">
                <a:solidFill>
                  <a:schemeClr val="bg1"/>
                </a:solidFill>
                <a:latin typeface="Times New Roman" panose="02020603050405020304" pitchFamily="18" charset="0"/>
                <a:cs typeface="Times New Roman" panose="02020603050405020304" pitchFamily="18" charset="0"/>
              </a:rPr>
              <a:t>来源：</a:t>
            </a:r>
            <a:r>
              <a:rPr kumimoji="1" lang="en" altLang="zh-CN" sz="1200" dirty="0">
                <a:solidFill>
                  <a:schemeClr val="bg1"/>
                </a:solidFill>
                <a:latin typeface="Times New Roman" panose="02020603050405020304" pitchFamily="18" charset="0"/>
                <a:cs typeface="Times New Roman" panose="02020603050405020304" pitchFamily="18" charset="0"/>
              </a:rPr>
              <a:t>Neural Networks are Function Approximation Algorithms</a:t>
            </a:r>
          </a:p>
        </p:txBody>
      </p:sp>
      <p:sp>
        <p:nvSpPr>
          <p:cNvPr id="5" name="文本框 4">
            <a:extLst>
              <a:ext uri="{FF2B5EF4-FFF2-40B4-BE49-F238E27FC236}">
                <a16:creationId xmlns:a16="http://schemas.microsoft.com/office/drawing/2014/main" id="{1B2106C6-444C-4EEB-6F51-880D9E14434F}"/>
              </a:ext>
            </a:extLst>
          </p:cNvPr>
          <p:cNvSpPr txBox="1"/>
          <p:nvPr/>
        </p:nvSpPr>
        <p:spPr>
          <a:xfrm>
            <a:off x="9194800" y="2641910"/>
            <a:ext cx="2019300" cy="369332"/>
          </a:xfrm>
          <a:prstGeom prst="rect">
            <a:avLst/>
          </a:prstGeom>
          <a:noFill/>
        </p:spPr>
        <p:txBody>
          <a:bodyPr wrap="square">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一维逼近的例子</a:t>
            </a:r>
            <a:endParaRPr lang="zh-CN" altLang="en-US" dirty="0"/>
          </a:p>
        </p:txBody>
      </p:sp>
    </p:spTree>
    <p:extLst>
      <p:ext uri="{BB962C8B-B14F-4D97-AF65-F5344CB8AC3E}">
        <p14:creationId xmlns:p14="http://schemas.microsoft.com/office/powerpoint/2010/main" val="33656022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ACB48-8090-8869-9970-F21FC719AE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AA9EA78-8B53-D2B8-E637-1A822C97FD56}"/>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D9395055-4D9D-51ED-49BA-24175E352C12}"/>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22DB6A1B-E96A-BE99-74EA-FCA65037628B}"/>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30EC49C4-A0BB-88A6-1D63-9E99C181E1AA}"/>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D046C7E8-FA15-A4CB-9E32-01EC9314D1FA}"/>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35680554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89F44-79E0-4C53-E399-B4C8B7A5A4C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855441D-D48C-0158-CAC1-DE0E377396DC}"/>
              </a:ext>
            </a:extLst>
          </p:cNvPr>
          <p:cNvSpPr>
            <a:spLocks noGrp="1"/>
          </p:cNvSpPr>
          <p:nvPr>
            <p:ph type="title"/>
          </p:nvPr>
        </p:nvSpPr>
        <p:spPr/>
        <p:txBody>
          <a:bodyPr/>
          <a:lstStyle/>
          <a:p>
            <a:r>
              <a:rPr lang="zh-CN" altLang="en-US" dirty="0"/>
              <a:t>克服维数灾难的方法</a:t>
            </a:r>
            <a:r>
              <a:rPr lang="en-US" altLang="zh-CN" dirty="0"/>
              <a:t>—</a:t>
            </a:r>
            <a:r>
              <a:rPr lang="zh-CN" altLang="en-US" dirty="0"/>
              <a:t>蒙特卡洛采样</a:t>
            </a:r>
          </a:p>
        </p:txBody>
      </p:sp>
      <p:pic>
        <p:nvPicPr>
          <p:cNvPr id="2" name="图片 1">
            <a:extLst>
              <a:ext uri="{FF2B5EF4-FFF2-40B4-BE49-F238E27FC236}">
                <a16:creationId xmlns:a16="http://schemas.microsoft.com/office/drawing/2014/main" id="{2B44D4EF-024F-8F67-69BF-FDF9005C80F5}"/>
              </a:ext>
            </a:extLst>
          </p:cNvPr>
          <p:cNvPicPr>
            <a:picLocks noChangeAspect="1"/>
          </p:cNvPicPr>
          <p:nvPr/>
        </p:nvPicPr>
        <p:blipFill>
          <a:blip r:embed="rId2"/>
          <a:stretch>
            <a:fillRect/>
          </a:stretch>
        </p:blipFill>
        <p:spPr>
          <a:xfrm>
            <a:off x="3159816" y="875024"/>
            <a:ext cx="3619500" cy="1130300"/>
          </a:xfrm>
          <a:prstGeom prst="rect">
            <a:avLst/>
          </a:prstGeom>
        </p:spPr>
      </p:pic>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7DF6EB99-5A6C-C2AA-4199-1CC7B756DBB4}"/>
                  </a:ext>
                </a:extLst>
              </p:cNvPr>
              <p:cNvSpPr txBox="1"/>
              <p:nvPr/>
            </p:nvSpPr>
            <p:spPr>
              <a:xfrm>
                <a:off x="452658" y="1953178"/>
                <a:ext cx="10622297" cy="881844"/>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用均匀采样的</a:t>
                </a:r>
                <a:r>
                  <a:rPr lang="zh-CN" altLang="en-US" sz="1800" b="1" dirty="0">
                    <a:solidFill>
                      <a:srgbClr val="000000"/>
                    </a:solidFill>
                    <a:effectLst/>
                    <a:latin typeface="Microsoft YaHei" panose="020B0503020204020204" pitchFamily="34" charset="-122"/>
                    <a:ea typeface="Microsoft YaHei" panose="020B0503020204020204" pitchFamily="34" charset="-122"/>
                  </a:rPr>
                  <a:t>蒙特卡洛方法</a:t>
                </a:r>
                <a:r>
                  <a:rPr lang="zh-CN" altLang="en-US" sz="1800" dirty="0">
                    <a:solidFill>
                      <a:srgbClr val="000000"/>
                    </a:solidFill>
                    <a:effectLst/>
                    <a:latin typeface="Microsoft YaHei" panose="020B0503020204020204" pitchFamily="34" charset="-122"/>
                    <a:ea typeface="Microsoft YaHei" panose="020B0503020204020204" pitchFamily="34" charset="-122"/>
                  </a:rPr>
                  <a:t>来估计这个积分，即从 </a:t>
                </a:r>
                <a14:m>
                  <m:oMath xmlns:m="http://schemas.openxmlformats.org/officeDocument/2006/math">
                    <m:sSup>
                      <m:sSup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pPr>
                      <m:e>
                        <m:d>
                          <m:dPr>
                            <m:begChr m:val="["/>
                            <m:endChr m:val="]"/>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dPr>
                          <m:e>
                            <m:r>
                              <a:rPr lang="en-US" altLang="zh-CN" sz="1800" b="0" i="1" smtClean="0">
                                <a:solidFill>
                                  <a:srgbClr val="000000"/>
                                </a:solidFill>
                                <a:effectLst/>
                                <a:latin typeface="Cambria Math" panose="02040503050406030204" pitchFamily="18" charset="0"/>
                                <a:ea typeface="Microsoft YaHei" panose="020B0503020204020204" pitchFamily="34" charset="-122"/>
                              </a:rPr>
                              <m:t>0, 1</m:t>
                            </m:r>
                          </m:e>
                        </m:d>
                      </m:e>
                      <m:sup>
                        <m:r>
                          <a:rPr lang="en-US" altLang="zh-CN" sz="1800" b="0" i="1" smtClean="0">
                            <a:solidFill>
                              <a:srgbClr val="000000"/>
                            </a:solidFill>
                            <a:effectLst/>
                            <a:latin typeface="Cambria Math" panose="02040503050406030204" pitchFamily="18" charset="0"/>
                            <a:ea typeface="Microsoft YaHei" panose="020B0503020204020204" pitchFamily="34" charset="-122"/>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r>
                  <a:rPr lang="zh-CN" altLang="en-US" sz="1800" b="1" dirty="0">
                    <a:solidFill>
                      <a:srgbClr val="000000"/>
                    </a:solidFill>
                    <a:effectLst/>
                    <a:latin typeface="Microsoft YaHei" panose="020B0503020204020204" pitchFamily="34" charset="-122"/>
                    <a:ea typeface="Microsoft YaHei" panose="020B0503020204020204" pitchFamily="34" charset="-122"/>
                  </a:rPr>
                  <a:t>独立地随机</a:t>
                </a:r>
                <a:r>
                  <a:rPr lang="zh-CN" altLang="en-US" sz="1800" dirty="0">
                    <a:solidFill>
                      <a:srgbClr val="000000"/>
                    </a:solidFill>
                    <a:effectLst/>
                    <a:latin typeface="Microsoft YaHei" panose="020B0503020204020204" pitchFamily="34" charset="-122"/>
                    <a:ea typeface="Microsoft YaHei" panose="020B0503020204020204" pitchFamily="34" charset="-122"/>
                  </a:rPr>
                  <a:t>抽取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个样本点</a:t>
                </a:r>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 sz="1800" dirty="0">
                    <a:solidFill>
                      <a:srgbClr val="000000"/>
                    </a:solidFill>
                    <a:effectLst/>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然后用样本均值来近似积分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44B7F60E-8845-692A-B978-597A0048751E}"/>
                  </a:ext>
                </a:extLst>
              </p:cNvPr>
              <p:cNvSpPr txBox="1">
                <a:spLocks noRot="1" noChangeAspect="1" noMove="1" noResize="1" noEditPoints="1" noAdjustHandles="1" noChangeArrowheads="1" noChangeShapeType="1" noTextEdit="1"/>
              </p:cNvSpPr>
              <p:nvPr/>
            </p:nvSpPr>
            <p:spPr>
              <a:xfrm>
                <a:off x="452658" y="1953178"/>
                <a:ext cx="10622297" cy="881844"/>
              </a:xfrm>
              <a:prstGeom prst="rect">
                <a:avLst/>
              </a:prstGeom>
              <a:blipFill>
                <a:blip r:embed="rId3"/>
                <a:stretch>
                  <a:fillRect l="-358" b="-8451"/>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A9E2E1BD-C435-FA82-AEB0-2817E4082F7A}"/>
              </a:ext>
            </a:extLst>
          </p:cNvPr>
          <p:cNvPicPr>
            <a:picLocks noChangeAspect="1"/>
          </p:cNvPicPr>
          <p:nvPr/>
        </p:nvPicPr>
        <p:blipFill>
          <a:blip r:embed="rId4"/>
          <a:stretch>
            <a:fillRect/>
          </a:stretch>
        </p:blipFill>
        <p:spPr>
          <a:xfrm>
            <a:off x="3553516" y="2690438"/>
            <a:ext cx="2832100" cy="1066800"/>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31E3FC35-6CFC-40F9-30B4-0D9563C8234A}"/>
                  </a:ext>
                </a:extLst>
              </p:cNvPr>
              <p:cNvSpPr txBox="1"/>
              <p:nvPr/>
            </p:nvSpPr>
            <p:spPr>
              <a:xfrm>
                <a:off x="554934" y="3828620"/>
                <a:ext cx="2598596" cy="406971"/>
              </a:xfrm>
              <a:prstGeom prst="rect">
                <a:avLst/>
              </a:prstGeom>
              <a:noFill/>
            </p:spPr>
            <p:txBody>
              <a:bodyPr wrap="none" rtlCol="0">
                <a:spAutoFit/>
              </a:bodyPr>
              <a:lstStyle/>
              <a:p>
                <a:pPr>
                  <a:lnSpc>
                    <a:spcPct val="125000"/>
                  </a:lnSpc>
                </a:pPr>
                <a14:m>
                  <m:oMath xmlns:m="http://schemas.openxmlformats.org/officeDocument/2006/math">
                    <m:sSub>
                      <m:sSub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bPr>
                      <m:e>
                        <m:r>
                          <a:rPr lang="en-US" altLang="zh-CN" sz="1800" b="0" i="1" smtClean="0">
                            <a:solidFill>
                              <a:srgbClr val="000000"/>
                            </a:solidFill>
                            <a:effectLst/>
                            <a:latin typeface="Cambria Math" panose="02040503050406030204" pitchFamily="18" charset="0"/>
                            <a:ea typeface="Microsoft YaHei" panose="020B0503020204020204" pitchFamily="34" charset="-122"/>
                          </a:rPr>
                          <m:t>𝐼</m:t>
                        </m:r>
                      </m:e>
                      <m:sub>
                        <m:r>
                          <a:rPr lang="en-US" altLang="zh-CN" sz="1800" b="0" i="1" smtClean="0">
                            <a:solidFill>
                              <a:srgbClr val="000000"/>
                            </a:solidFill>
                            <a:effectLst/>
                            <a:latin typeface="Cambria Math" panose="02040503050406030204" pitchFamily="18" charset="0"/>
                            <a:ea typeface="Microsoft YaHei" panose="020B0503020204020204" pitchFamily="34" charset="-122"/>
                          </a:rPr>
                          <m:t>𝑛</m:t>
                        </m:r>
                      </m:sub>
                    </m:sSub>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是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𝐼</m:t>
                    </m:r>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的无偏估计，即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7" name="文本框 6">
                <a:extLst>
                  <a:ext uri="{FF2B5EF4-FFF2-40B4-BE49-F238E27FC236}">
                    <a16:creationId xmlns:a16="http://schemas.microsoft.com/office/drawing/2014/main" id="{EFEB02C9-F215-5EEA-48F0-5688211F27E5}"/>
                  </a:ext>
                </a:extLst>
              </p:cNvPr>
              <p:cNvSpPr txBox="1">
                <a:spLocks noRot="1" noChangeAspect="1" noMove="1" noResize="1" noEditPoints="1" noAdjustHandles="1" noChangeArrowheads="1" noChangeShapeType="1" noTextEdit="1"/>
              </p:cNvSpPr>
              <p:nvPr/>
            </p:nvSpPr>
            <p:spPr>
              <a:xfrm>
                <a:off x="554934" y="3828620"/>
                <a:ext cx="2598596" cy="406971"/>
              </a:xfrm>
              <a:prstGeom prst="rect">
                <a:avLst/>
              </a:prstGeom>
              <a:blipFill>
                <a:blip r:embed="rId5"/>
                <a:stretch>
                  <a:fillRect b="-21212"/>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BC6EEC5C-20F8-3E9A-CE66-A316D05A9AC7}"/>
              </a:ext>
            </a:extLst>
          </p:cNvPr>
          <p:cNvPicPr>
            <a:picLocks noChangeAspect="1"/>
          </p:cNvPicPr>
          <p:nvPr/>
        </p:nvPicPr>
        <p:blipFill>
          <a:blip r:embed="rId6"/>
          <a:stretch>
            <a:fillRect/>
          </a:stretch>
        </p:blipFill>
        <p:spPr>
          <a:xfrm>
            <a:off x="3035100" y="3764550"/>
            <a:ext cx="1371600" cy="533400"/>
          </a:xfrm>
          <a:prstGeom prst="rect">
            <a:avLst/>
          </a:prstGeom>
        </p:spPr>
      </p:pic>
      <p:pic>
        <p:nvPicPr>
          <p:cNvPr id="13" name="图片 12">
            <a:extLst>
              <a:ext uri="{FF2B5EF4-FFF2-40B4-BE49-F238E27FC236}">
                <a16:creationId xmlns:a16="http://schemas.microsoft.com/office/drawing/2014/main" id="{FB6CA7B1-72F3-AE0A-EA79-4B9DAA869B1D}"/>
              </a:ext>
            </a:extLst>
          </p:cNvPr>
          <p:cNvPicPr>
            <a:picLocks noChangeAspect="1"/>
          </p:cNvPicPr>
          <p:nvPr/>
        </p:nvPicPr>
        <p:blipFill>
          <a:blip r:embed="rId7"/>
          <a:stretch>
            <a:fillRect/>
          </a:stretch>
        </p:blipFill>
        <p:spPr>
          <a:xfrm>
            <a:off x="6096000" y="3593100"/>
            <a:ext cx="2857500" cy="876300"/>
          </a:xfrm>
          <a:prstGeom prst="rect">
            <a:avLst/>
          </a:prstGeom>
        </p:spPr>
      </p:pic>
      <p:pic>
        <p:nvPicPr>
          <p:cNvPr id="14" name="图片 13">
            <a:extLst>
              <a:ext uri="{FF2B5EF4-FFF2-40B4-BE49-F238E27FC236}">
                <a16:creationId xmlns:a16="http://schemas.microsoft.com/office/drawing/2014/main" id="{361A5A9B-7D3A-6A79-4629-B4C9E0E09CA9}"/>
              </a:ext>
            </a:extLst>
          </p:cNvPr>
          <p:cNvPicPr>
            <a:picLocks noChangeAspect="1"/>
          </p:cNvPicPr>
          <p:nvPr/>
        </p:nvPicPr>
        <p:blipFill>
          <a:blip r:embed="rId8"/>
          <a:stretch>
            <a:fillRect/>
          </a:stretch>
        </p:blipFill>
        <p:spPr>
          <a:xfrm>
            <a:off x="3553516" y="4478474"/>
            <a:ext cx="3581400" cy="838200"/>
          </a:xfrm>
          <a:prstGeom prst="rect">
            <a:avLst/>
          </a:prstGeom>
        </p:spPr>
      </p:pic>
      <p:sp>
        <p:nvSpPr>
          <p:cNvPr id="15" name="文本框 14">
            <a:extLst>
              <a:ext uri="{FF2B5EF4-FFF2-40B4-BE49-F238E27FC236}">
                <a16:creationId xmlns:a16="http://schemas.microsoft.com/office/drawing/2014/main" id="{DF369D07-9EF7-ADE1-F3BF-4822D29F99C7}"/>
              </a:ext>
            </a:extLst>
          </p:cNvPr>
          <p:cNvSpPr txBox="1"/>
          <p:nvPr/>
        </p:nvSpPr>
        <p:spPr>
          <a:xfrm>
            <a:off x="452658" y="5228190"/>
            <a:ext cx="9667256" cy="458908"/>
          </a:xfrm>
          <a:prstGeom prst="rect">
            <a:avLst/>
          </a:prstGeom>
          <a:noFill/>
        </p:spPr>
        <p:txBody>
          <a:bodyPr wrap="square" rtlCol="0">
            <a:spAutoFit/>
          </a:bodyPr>
          <a:lstStyle/>
          <a:p>
            <a:pPr>
              <a:lnSpc>
                <a:spcPct val="150000"/>
              </a:lnSpc>
            </a:pPr>
            <a:r>
              <a:rPr lang="zh-CN" altLang="en-US" sz="1800" b="1" dirty="0">
                <a:solidFill>
                  <a:srgbClr val="B61516"/>
                </a:solidFill>
                <a:effectLst/>
                <a:latin typeface="Microsoft YaHei" panose="020B0503020204020204" pitchFamily="34" charset="-122"/>
                <a:ea typeface="Microsoft YaHei" panose="020B0503020204020204" pitchFamily="34" charset="-122"/>
              </a:rPr>
              <a:t>误差仅依赖于样本数 </a:t>
            </a:r>
            <a:r>
              <a:rPr lang="en" altLang="zh-CN" sz="1800" b="1" dirty="0">
                <a:solidFill>
                  <a:srgbClr val="B61516"/>
                </a:solidFill>
                <a:effectLst/>
                <a:latin typeface="Microsoft YaHei" panose="020B0503020204020204" pitchFamily="34" charset="-122"/>
                <a:ea typeface="Microsoft YaHei" panose="020B0503020204020204" pitchFamily="34" charset="-122"/>
              </a:rPr>
              <a:t>n </a:t>
            </a:r>
            <a:r>
              <a:rPr lang="zh-CN" altLang="en-US" sz="1800" b="1" dirty="0">
                <a:solidFill>
                  <a:srgbClr val="B61516"/>
                </a:solidFill>
                <a:effectLst/>
                <a:latin typeface="Microsoft YaHei" panose="020B0503020204020204" pitchFamily="34" charset="-122"/>
                <a:ea typeface="Microsoft YaHei" panose="020B0503020204020204" pitchFamily="34" charset="-122"/>
              </a:rPr>
              <a:t>和被积函数的方差，而与维数 </a:t>
            </a:r>
            <a:r>
              <a:rPr lang="en" altLang="zh-CN" sz="1800" b="1" dirty="0">
                <a:solidFill>
                  <a:srgbClr val="B61516"/>
                </a:solidFill>
                <a:effectLst/>
                <a:latin typeface="Microsoft YaHei" panose="020B0503020204020204" pitchFamily="34" charset="-122"/>
                <a:ea typeface="Microsoft YaHei" panose="020B0503020204020204" pitchFamily="34" charset="-122"/>
              </a:rPr>
              <a:t>d </a:t>
            </a:r>
            <a:r>
              <a:rPr lang="zh-CN" altLang="en-US" sz="1800" b="1" dirty="0">
                <a:solidFill>
                  <a:srgbClr val="B61516"/>
                </a:solidFill>
                <a:effectLst/>
                <a:latin typeface="Microsoft YaHei" panose="020B0503020204020204" pitchFamily="34" charset="-122"/>
                <a:ea typeface="Microsoft YaHei" panose="020B0503020204020204" pitchFamily="34" charset="-122"/>
              </a:rPr>
              <a:t>无关</a:t>
            </a:r>
            <a:r>
              <a:rPr lang="en-US" altLang="zh-CN" sz="1800" b="1" dirty="0">
                <a:solidFill>
                  <a:srgbClr val="B61516"/>
                </a:solidFill>
                <a:effectLst/>
                <a:latin typeface="Microsoft YaHei" panose="020B0503020204020204" pitchFamily="34" charset="-122"/>
                <a:ea typeface="Microsoft YaHei" panose="020B0503020204020204" pitchFamily="34" charset="-122"/>
              </a:rPr>
              <a:t>——</a:t>
            </a:r>
            <a:r>
              <a:rPr lang="zh-CN" altLang="en-US" sz="1800" b="1" dirty="0">
                <a:solidFill>
                  <a:srgbClr val="B61516"/>
                </a:solidFill>
                <a:effectLst/>
                <a:latin typeface="Microsoft YaHei" panose="020B0503020204020204" pitchFamily="34" charset="-122"/>
                <a:ea typeface="Microsoft YaHei" panose="020B0503020204020204" pitchFamily="34" charset="-122"/>
              </a:rPr>
              <a:t>克服维数灾难！</a:t>
            </a:r>
            <a:endParaRPr lang="en-US" altLang="zh-CN" b="1" dirty="0">
              <a:solidFill>
                <a:srgbClr val="B61516"/>
              </a:solidFill>
              <a:latin typeface="Microsoft YaHei" panose="020B0503020204020204" pitchFamily="34" charset="-122"/>
              <a:ea typeface="Microsoft YaHei" panose="020B0503020204020204" pitchFamily="34" charset="-122"/>
            </a:endParaRPr>
          </a:p>
        </p:txBody>
      </p:sp>
      <p:sp>
        <p:nvSpPr>
          <p:cNvPr id="16" name="文本框 15">
            <a:extLst>
              <a:ext uri="{FF2B5EF4-FFF2-40B4-BE49-F238E27FC236}">
                <a16:creationId xmlns:a16="http://schemas.microsoft.com/office/drawing/2014/main" id="{B28B1424-7DB0-2990-587D-D2FC6BB88F2F}"/>
              </a:ext>
            </a:extLst>
          </p:cNvPr>
          <p:cNvSpPr txBox="1"/>
          <p:nvPr/>
        </p:nvSpPr>
        <p:spPr>
          <a:xfrm>
            <a:off x="5558868" y="3803947"/>
            <a:ext cx="646331" cy="411651"/>
          </a:xfrm>
          <a:prstGeom prst="rect">
            <a:avLst/>
          </a:prstGeom>
          <a:noFill/>
        </p:spPr>
        <p:txBody>
          <a:bodyPr wrap="none" rtlCol="0">
            <a:spAutoFit/>
          </a:bodyPr>
          <a:lstStyle/>
          <a:p>
            <a:pPr algn="l">
              <a:lnSpc>
                <a:spcPct val="125000"/>
              </a:lnSpc>
            </a:pPr>
            <a:r>
              <a:rPr kumimoji="1" lang="zh-CN" altLang="en-US" dirty="0">
                <a:solidFill>
                  <a:srgbClr val="000000"/>
                </a:solidFill>
                <a:ea typeface="Microsoft YaHei" panose="020B0503020204020204" pitchFamily="34" charset="-122"/>
              </a:rPr>
              <a:t>方差</a:t>
            </a:r>
          </a:p>
        </p:txBody>
      </p:sp>
      <p:sp>
        <p:nvSpPr>
          <p:cNvPr id="17" name="文本框 16">
            <a:extLst>
              <a:ext uri="{FF2B5EF4-FFF2-40B4-BE49-F238E27FC236}">
                <a16:creationId xmlns:a16="http://schemas.microsoft.com/office/drawing/2014/main" id="{CEAEDB2C-8BD4-38C9-069A-20DCB9BCD71B}"/>
              </a:ext>
            </a:extLst>
          </p:cNvPr>
          <p:cNvSpPr txBox="1"/>
          <p:nvPr/>
        </p:nvSpPr>
        <p:spPr>
          <a:xfrm>
            <a:off x="452658" y="4714039"/>
            <a:ext cx="2954655" cy="411651"/>
          </a:xfrm>
          <a:prstGeom prst="rect">
            <a:avLst/>
          </a:prstGeom>
          <a:noFill/>
        </p:spPr>
        <p:txBody>
          <a:bodyPr wrap="none" rtlCol="0">
            <a:spAutoFit/>
          </a:bodyPr>
          <a:lstStyle/>
          <a:p>
            <a:pPr algn="l">
              <a:lnSpc>
                <a:spcPct val="125000"/>
              </a:lnSpc>
            </a:pPr>
            <a:r>
              <a:rPr kumimoji="1" lang="zh-CN" altLang="en-US" dirty="0">
                <a:solidFill>
                  <a:srgbClr val="000000"/>
                </a:solidFill>
                <a:ea typeface="Microsoft YaHei" panose="020B0503020204020204" pitchFamily="34" charset="-122"/>
              </a:rPr>
              <a:t>蒙特卡洛得到的</a:t>
            </a:r>
            <a:r>
              <a:rPr kumimoji="1" lang="zh-CN" altLang="en-US" b="1" dirty="0">
                <a:solidFill>
                  <a:srgbClr val="000000"/>
                </a:solidFill>
                <a:ea typeface="Microsoft YaHei" panose="020B0503020204020204" pitchFamily="34" charset="-122"/>
              </a:rPr>
              <a:t>误差估计：</a:t>
            </a:r>
          </a:p>
        </p:txBody>
      </p:sp>
      <mc:AlternateContent xmlns:mc="http://schemas.openxmlformats.org/markup-compatibility/2006" xmlns:a14="http://schemas.microsoft.com/office/drawing/2010/main">
        <mc:Choice Requires="a14">
          <p:sp>
            <p:nvSpPr>
              <p:cNvPr id="18" name="椭圆形标注 17">
                <a:extLst>
                  <a:ext uri="{FF2B5EF4-FFF2-40B4-BE49-F238E27FC236}">
                    <a16:creationId xmlns:a16="http://schemas.microsoft.com/office/drawing/2014/main" id="{D93DA067-47D5-BD85-5184-BB27B9283C23}"/>
                  </a:ext>
                </a:extLst>
              </p:cNvPr>
              <p:cNvSpPr/>
              <p:nvPr/>
            </p:nvSpPr>
            <p:spPr>
              <a:xfrm>
                <a:off x="8440615" y="4022979"/>
                <a:ext cx="3751386" cy="1302769"/>
              </a:xfrm>
              <a:prstGeom prst="wedgeEllipseCallout">
                <a:avLst>
                  <a:gd name="adj1" fmla="val -94793"/>
                  <a:gd name="adj2" fmla="val 1250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不管问题的维数有多高，蒙特卡洛方法都</a:t>
                </a:r>
                <a:r>
                  <a:rPr lang="zh-CN" altLang="en-US" b="1" dirty="0">
                    <a:solidFill>
                      <a:srgbClr val="C00000"/>
                    </a:solidFill>
                    <a:latin typeface="Microsoft YaHei" panose="020B0503020204020204" pitchFamily="34" charset="-122"/>
                    <a:ea typeface="Microsoft YaHei" panose="020B0503020204020204" pitchFamily="34" charset="-122"/>
                  </a:rPr>
                  <a:t>有</a:t>
                </a:r>
                <a:r>
                  <a:rPr lang="zh-CN" altLang="en-US" sz="1800" b="1" dirty="0">
                    <a:solidFill>
                      <a:srgbClr val="C00000"/>
                    </a:solidFill>
                    <a:effectLst/>
                    <a:latin typeface="Microsoft YaHei" panose="020B0503020204020204" pitchFamily="34" charset="-122"/>
                    <a:ea typeface="Microsoft YaHei" panose="020B0503020204020204" pitchFamily="34" charset="-122"/>
                  </a:rPr>
                  <a:t> </a:t>
                </a:r>
                <a14:m>
                  <m:oMath xmlns:m="http://schemas.openxmlformats.org/officeDocument/2006/math">
                    <m:r>
                      <a:rPr lang="en" altLang="zh-CN" sz="1800" b="1" i="1" dirty="0" smtClean="0">
                        <a:solidFill>
                          <a:srgbClr val="C00000"/>
                        </a:solidFill>
                        <a:effectLst/>
                        <a:latin typeface="Cambria Math" panose="02040503050406030204" pitchFamily="18" charset="0"/>
                        <a:ea typeface="Microsoft YaHei" panose="020B0503020204020204" pitchFamily="34" charset="-122"/>
                      </a:rPr>
                      <m:t>𝑶</m:t>
                    </m:r>
                    <m:r>
                      <a:rPr lang="en" altLang="zh-CN" sz="1800" b="1" i="1" dirty="0" smtClean="0">
                        <a:solidFill>
                          <a:srgbClr val="C00000"/>
                        </a:solidFill>
                        <a:effectLst/>
                        <a:latin typeface="Cambria Math" panose="02040503050406030204" pitchFamily="18" charset="0"/>
                        <a:ea typeface="Microsoft YaHei" panose="020B0503020204020204" pitchFamily="34" charset="-122"/>
                      </a:rPr>
                      <m:t>(</m:t>
                    </m:r>
                    <m:f>
                      <m:fPr>
                        <m:ctrlPr>
                          <a:rPr lang="en-US" altLang="zh-CN" sz="1800" b="1" i="1" dirty="0" smtClean="0">
                            <a:solidFill>
                              <a:srgbClr val="C00000"/>
                            </a:solidFill>
                            <a:effectLst/>
                            <a:latin typeface="Cambria Math" panose="02040503050406030204" pitchFamily="18" charset="0"/>
                            <a:ea typeface="Microsoft YaHei" panose="020B0503020204020204" pitchFamily="34" charset="-122"/>
                          </a:rPr>
                        </m:ctrlPr>
                      </m:fPr>
                      <m:num>
                        <m:r>
                          <a:rPr lang="en-US" altLang="zh-CN" sz="1800" b="1" i="1" dirty="0" smtClean="0">
                            <a:solidFill>
                              <a:srgbClr val="C00000"/>
                            </a:solidFill>
                            <a:effectLst/>
                            <a:latin typeface="Cambria Math" panose="02040503050406030204" pitchFamily="18" charset="0"/>
                            <a:ea typeface="Microsoft YaHei" panose="020B0503020204020204" pitchFamily="34" charset="-122"/>
                          </a:rPr>
                          <m:t>𝟏</m:t>
                        </m:r>
                      </m:num>
                      <m:den>
                        <m:r>
                          <a:rPr lang="en-US" altLang="zh-CN" sz="1800" b="1" i="1" dirty="0" smtClean="0">
                            <a:solidFill>
                              <a:srgbClr val="C00000"/>
                            </a:solidFill>
                            <a:effectLst/>
                            <a:latin typeface="Cambria Math" panose="02040503050406030204" pitchFamily="18" charset="0"/>
                            <a:ea typeface="Microsoft YaHei" panose="020B0503020204020204" pitchFamily="34" charset="-122"/>
                          </a:rPr>
                          <m:t>√</m:t>
                        </m:r>
                        <m:r>
                          <a:rPr lang="en-US" altLang="zh-CN" sz="1800" b="1" i="1" dirty="0" smtClean="0">
                            <a:solidFill>
                              <a:srgbClr val="C00000"/>
                            </a:solidFill>
                            <a:effectLst/>
                            <a:latin typeface="Cambria Math" panose="02040503050406030204" pitchFamily="18" charset="0"/>
                            <a:ea typeface="Microsoft YaHei" panose="020B0503020204020204" pitchFamily="34" charset="-122"/>
                          </a:rPr>
                          <m:t>𝒏</m:t>
                        </m:r>
                      </m:den>
                    </m:f>
                    <m:r>
                      <a:rPr lang="en" altLang="zh-CN" sz="1800" b="1" i="1" dirty="0" smtClean="0">
                        <a:solidFill>
                          <a:srgbClr val="C00000"/>
                        </a:solidFill>
                        <a:effectLst/>
                        <a:latin typeface="Cambria Math" panose="02040503050406030204" pitchFamily="18" charset="0"/>
                        <a:ea typeface="Microsoft YaHei" panose="020B0503020204020204" pitchFamily="34" charset="-122"/>
                      </a:rPr>
                      <m:t>)</m:t>
                    </m:r>
                  </m:oMath>
                </a14:m>
                <a:r>
                  <a:rPr lang="en"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的收敛速度</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mc:Choice>
        <mc:Fallback xmlns="">
          <p:sp>
            <p:nvSpPr>
              <p:cNvPr id="18" name="椭圆形标注 17">
                <a:extLst>
                  <a:ext uri="{FF2B5EF4-FFF2-40B4-BE49-F238E27FC236}">
                    <a16:creationId xmlns:a16="http://schemas.microsoft.com/office/drawing/2014/main" id="{D93DA067-47D5-BD85-5184-BB27B9283C23}"/>
                  </a:ext>
                </a:extLst>
              </p:cNvPr>
              <p:cNvSpPr>
                <a:spLocks noRot="1" noChangeAspect="1" noMove="1" noResize="1" noEditPoints="1" noAdjustHandles="1" noChangeArrowheads="1" noChangeShapeType="1" noTextEdit="1"/>
              </p:cNvSpPr>
              <p:nvPr/>
            </p:nvSpPr>
            <p:spPr>
              <a:xfrm>
                <a:off x="8440615" y="4022979"/>
                <a:ext cx="3751386" cy="1302769"/>
              </a:xfrm>
              <a:prstGeom prst="wedgeEllipseCallout">
                <a:avLst>
                  <a:gd name="adj1" fmla="val -94793"/>
                  <a:gd name="adj2" fmla="val 12506"/>
                </a:avLst>
              </a:prstGeom>
              <a:blipFill>
                <a:blip r:embed="rId9"/>
                <a:stretch>
                  <a:fillRect/>
                </a:stretch>
              </a:blipFill>
              <a:ln>
                <a:noFill/>
              </a:ln>
            </p:spPr>
            <p:txBody>
              <a:bodyPr/>
              <a:lstStyle/>
              <a:p>
                <a:r>
                  <a:rPr lang="zh-CN" altLang="en-US">
                    <a:noFill/>
                  </a:rPr>
                  <a:t> </a:t>
                </a:r>
              </a:p>
            </p:txBody>
          </p:sp>
        </mc:Fallback>
      </mc:AlternateContent>
    </p:spTree>
    <p:extLst>
      <p:ext uri="{BB962C8B-B14F-4D97-AF65-F5344CB8AC3E}">
        <p14:creationId xmlns:p14="http://schemas.microsoft.com/office/powerpoint/2010/main" val="763821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B233A-9913-657C-D78E-85ABF2B5DE0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28E9BCB-F11F-DBE0-D9A8-4A19281E50A1}"/>
              </a:ext>
            </a:extLst>
          </p:cNvPr>
          <p:cNvSpPr>
            <a:spLocks noGrp="1"/>
          </p:cNvSpPr>
          <p:nvPr>
            <p:ph type="title"/>
          </p:nvPr>
        </p:nvSpPr>
        <p:spPr/>
        <p:txBody>
          <a:bodyPr/>
          <a:lstStyle/>
          <a:p>
            <a:r>
              <a:rPr lang="zh-CN" altLang="en-US" dirty="0"/>
              <a:t>克服维数灾难的方法</a:t>
            </a:r>
            <a:r>
              <a:rPr lang="en-US" altLang="zh-CN" dirty="0"/>
              <a:t>—</a:t>
            </a:r>
            <a:r>
              <a:rPr lang="zh-CN" altLang="en-US" dirty="0"/>
              <a:t>蒙特卡洛采样（例子）</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D850B26C-BBF3-1216-6BF5-2B86EFDCF2D7}"/>
                  </a:ext>
                </a:extLst>
              </p:cNvPr>
              <p:cNvSpPr txBox="1"/>
              <p:nvPr/>
            </p:nvSpPr>
            <p:spPr>
              <a:xfrm>
                <a:off x="2558099" y="870616"/>
                <a:ext cx="4461350" cy="424860"/>
              </a:xfrm>
              <a:prstGeom prst="rect">
                <a:avLst/>
              </a:prstGeom>
              <a:noFill/>
            </p:spPr>
            <p:txBody>
              <a:bodyPr wrap="none" rtlCol="0">
                <a:spAutoFit/>
              </a:bodyPr>
              <a:lstStyle/>
              <a:p>
                <a:r>
                  <a:rPr kumimoji="1" lang="zh-CN" altLang="en-US" sz="2000" dirty="0"/>
                  <a:t>高维函数：</a:t>
                </a:r>
                <a14:m>
                  <m:oMath xmlns:m="http://schemas.openxmlformats.org/officeDocument/2006/math">
                    <m:r>
                      <a:rPr kumimoji="1" lang="en" altLang="zh-CN" sz="2000" i="1" smtClean="0">
                        <a:solidFill>
                          <a:srgbClr val="000000"/>
                        </a:solidFill>
                        <a:latin typeface="Cambria Math" panose="02040503050406030204" pitchFamily="18" charset="0"/>
                      </a:rPr>
                      <m:t>𝑓</m:t>
                    </m:r>
                    <m:d>
                      <m:dPr>
                        <m:ctrlPr>
                          <a:rPr kumimoji="1" lang="en" altLang="zh-CN" sz="2000" i="1">
                            <a:solidFill>
                              <a:srgbClr val="000000"/>
                            </a:solidFill>
                            <a:latin typeface="Cambria Math" panose="02040503050406030204" pitchFamily="18" charset="0"/>
                          </a:rPr>
                        </m:ctrlPr>
                      </m:dPr>
                      <m:e>
                        <m:r>
                          <a:rPr kumimoji="1" lang="en-US" altLang="zh-CN" sz="2000" b="1" i="1" smtClean="0">
                            <a:solidFill>
                              <a:srgbClr val="000000"/>
                            </a:solidFill>
                            <a:latin typeface="Cambria Math" panose="02040503050406030204" pitchFamily="18" charset="0"/>
                          </a:rPr>
                          <m:t>𝒙</m:t>
                        </m:r>
                      </m:e>
                    </m:d>
                    <m:r>
                      <a:rPr kumimoji="1" lang="en" altLang="zh-CN" sz="2000" i="1">
                        <a:solidFill>
                          <a:srgbClr val="000000"/>
                        </a:solidFill>
                        <a:latin typeface="Cambria Math" panose="02040503050406030204" pitchFamily="18" charset="0"/>
                      </a:rPr>
                      <m:t>=</m:t>
                    </m:r>
                    <m:nary>
                      <m:naryPr>
                        <m:chr m:val="∑"/>
                        <m:ctrlPr>
                          <a:rPr kumimoji="1" lang="en-US" altLang="zh-CN" sz="2000" b="0" i="1" smtClean="0">
                            <a:solidFill>
                              <a:srgbClr val="000000"/>
                            </a:solidFill>
                            <a:latin typeface="Cambria Math" panose="02040503050406030204" pitchFamily="18" charset="0"/>
                          </a:rPr>
                        </m:ctrlPr>
                      </m:naryPr>
                      <m:sub>
                        <m:r>
                          <a:rPr kumimoji="1" lang="en-US" altLang="zh-CN" sz="2000" b="0" i="1" smtClean="0">
                            <a:solidFill>
                              <a:srgbClr val="000000"/>
                            </a:solidFill>
                            <a:latin typeface="Cambria Math" panose="02040503050406030204" pitchFamily="18" charset="0"/>
                          </a:rPr>
                          <m:t>𝑖</m:t>
                        </m:r>
                        <m:r>
                          <a:rPr kumimoji="1" lang="en-US" altLang="zh-CN" sz="2000" b="0" i="1" smtClean="0">
                            <a:solidFill>
                              <a:srgbClr val="000000"/>
                            </a:solidFill>
                            <a:latin typeface="Cambria Math" panose="02040503050406030204" pitchFamily="18" charset="0"/>
                          </a:rPr>
                          <m:t>=1</m:t>
                        </m:r>
                      </m:sub>
                      <m:sup>
                        <m:r>
                          <a:rPr kumimoji="1" lang="en-US" altLang="zh-CN" sz="2000" b="0" i="1" smtClean="0">
                            <a:solidFill>
                              <a:srgbClr val="000000"/>
                            </a:solidFill>
                            <a:latin typeface="Cambria Math" panose="02040503050406030204" pitchFamily="18" charset="0"/>
                          </a:rPr>
                          <m:t>𝑑</m:t>
                        </m:r>
                      </m:sup>
                      <m:e>
                        <m:sSubSup>
                          <m:sSubSupPr>
                            <m:ctrlPr>
                              <a:rPr kumimoji="1" lang="en-US" altLang="zh-CN" sz="2000" b="0" i="1" smtClean="0">
                                <a:solidFill>
                                  <a:srgbClr val="000000"/>
                                </a:solidFill>
                                <a:latin typeface="Cambria Math" panose="02040503050406030204" pitchFamily="18" charset="0"/>
                              </a:rPr>
                            </m:ctrlPr>
                          </m:sSubSupPr>
                          <m:e>
                            <m:r>
                              <a:rPr kumimoji="1" lang="en-US" altLang="zh-CN" sz="2000" b="0" i="1" smtClean="0">
                                <a:solidFill>
                                  <a:srgbClr val="000000"/>
                                </a:solidFill>
                                <a:latin typeface="Cambria Math" panose="02040503050406030204" pitchFamily="18" charset="0"/>
                              </a:rPr>
                              <m:t>𝑥</m:t>
                            </m:r>
                          </m:e>
                          <m:sub>
                            <m:r>
                              <a:rPr kumimoji="1" lang="en-US" altLang="zh-CN" sz="2000" b="0" i="1" smtClean="0">
                                <a:solidFill>
                                  <a:srgbClr val="000000"/>
                                </a:solidFill>
                                <a:latin typeface="Cambria Math" panose="02040503050406030204" pitchFamily="18" charset="0"/>
                              </a:rPr>
                              <m:t>𝑖</m:t>
                            </m:r>
                          </m:sub>
                          <m:sup>
                            <m:r>
                              <a:rPr kumimoji="1" lang="en-US" altLang="zh-CN" sz="2000" b="0" i="1" smtClean="0">
                                <a:solidFill>
                                  <a:srgbClr val="000000"/>
                                </a:solidFill>
                                <a:latin typeface="Cambria Math" panose="02040503050406030204" pitchFamily="18" charset="0"/>
                              </a:rPr>
                              <m:t>2</m:t>
                            </m:r>
                          </m:sup>
                        </m:sSubSup>
                      </m:e>
                    </m:nary>
                    <m:r>
                      <a:rPr kumimoji="1" lang="en-US" altLang="zh-CN" sz="2000" b="0" i="1" smtClean="0">
                        <a:solidFill>
                          <a:srgbClr val="000000"/>
                        </a:solidFill>
                        <a:latin typeface="Cambria Math" panose="02040503050406030204" pitchFamily="18" charset="0"/>
                      </a:rPr>
                      <m:t>, </m:t>
                    </m:r>
                    <m:r>
                      <a:rPr kumimoji="1" lang="en-US" altLang="zh-CN" sz="2000" b="0" i="1" smtClean="0">
                        <a:solidFill>
                          <a:srgbClr val="000000"/>
                        </a:solidFill>
                        <a:latin typeface="Cambria Math" panose="02040503050406030204" pitchFamily="18" charset="0"/>
                      </a:rPr>
                      <m:t>𝑥</m:t>
                    </m:r>
                    <m:r>
                      <a:rPr kumimoji="1" lang="en-US" altLang="zh-CN" sz="2000" b="0" i="1" smtClean="0">
                        <a:solidFill>
                          <a:srgbClr val="000000"/>
                        </a:solidFill>
                        <a:latin typeface="Cambria Math" panose="02040503050406030204" pitchFamily="18" charset="0"/>
                      </a:rPr>
                      <m:t>∈</m:t>
                    </m:r>
                    <m:sSup>
                      <m:sSupPr>
                        <m:ctrlPr>
                          <a:rPr kumimoji="1" lang="en-US" altLang="zh-CN" sz="2000" b="0" i="1" smtClean="0">
                            <a:solidFill>
                              <a:srgbClr val="000000"/>
                            </a:solidFill>
                            <a:latin typeface="Cambria Math" panose="02040503050406030204" pitchFamily="18" charset="0"/>
                          </a:rPr>
                        </m:ctrlPr>
                      </m:sSupPr>
                      <m:e>
                        <m:d>
                          <m:dPr>
                            <m:begChr m:val="["/>
                            <m:endChr m:val="]"/>
                            <m:ctrlPr>
                              <a:rPr kumimoji="1" lang="en-US" altLang="zh-CN" sz="2000" b="0" i="1" smtClean="0">
                                <a:solidFill>
                                  <a:srgbClr val="000000"/>
                                </a:solidFill>
                                <a:latin typeface="Cambria Math" panose="02040503050406030204" pitchFamily="18" charset="0"/>
                              </a:rPr>
                            </m:ctrlPr>
                          </m:dPr>
                          <m:e>
                            <m:r>
                              <a:rPr kumimoji="1" lang="en-US" altLang="zh-CN" sz="2000" b="0" i="1" smtClean="0">
                                <a:solidFill>
                                  <a:srgbClr val="000000"/>
                                </a:solidFill>
                                <a:latin typeface="Cambria Math" panose="02040503050406030204" pitchFamily="18" charset="0"/>
                              </a:rPr>
                              <m:t>0, 1</m:t>
                            </m:r>
                          </m:e>
                        </m:d>
                      </m:e>
                      <m:sup>
                        <m:r>
                          <a:rPr kumimoji="1" lang="en-US" altLang="zh-CN" sz="2000" b="0" i="1" smtClean="0">
                            <a:solidFill>
                              <a:srgbClr val="000000"/>
                            </a:solidFill>
                            <a:latin typeface="Cambria Math" panose="02040503050406030204" pitchFamily="18" charset="0"/>
                          </a:rPr>
                          <m:t>𝑑</m:t>
                        </m:r>
                      </m:sup>
                    </m:sSup>
                    <m:r>
                      <a:rPr kumimoji="1" lang="zh-CN" altLang="en-US" sz="2000" b="0" i="1" smtClean="0">
                        <a:solidFill>
                          <a:srgbClr val="000000"/>
                        </a:solidFill>
                        <a:latin typeface="Cambria Math" panose="02040503050406030204" pitchFamily="18" charset="0"/>
                      </a:rPr>
                      <m:t> </m:t>
                    </m:r>
                  </m:oMath>
                </a14:m>
                <a:endParaRPr kumimoji="1" lang="zh-CN" altLang="en-US" sz="2000" dirty="0"/>
              </a:p>
            </p:txBody>
          </p:sp>
        </mc:Choice>
        <mc:Fallback xmlns="">
          <p:sp>
            <p:nvSpPr>
              <p:cNvPr id="10" name="文本框 9">
                <a:extLst>
                  <a:ext uri="{FF2B5EF4-FFF2-40B4-BE49-F238E27FC236}">
                    <a16:creationId xmlns:a16="http://schemas.microsoft.com/office/drawing/2014/main" id="{D850B26C-BBF3-1216-6BF5-2B86EFDCF2D7}"/>
                  </a:ext>
                </a:extLst>
              </p:cNvPr>
              <p:cNvSpPr txBox="1">
                <a:spLocks noRot="1" noChangeAspect="1" noMove="1" noResize="1" noEditPoints="1" noAdjustHandles="1" noChangeArrowheads="1" noChangeShapeType="1" noTextEdit="1"/>
              </p:cNvSpPr>
              <p:nvPr/>
            </p:nvSpPr>
            <p:spPr>
              <a:xfrm>
                <a:off x="2558099" y="870616"/>
                <a:ext cx="4461350" cy="424860"/>
              </a:xfrm>
              <a:prstGeom prst="rect">
                <a:avLst/>
              </a:prstGeom>
              <a:blipFill>
                <a:blip r:embed="rId2"/>
                <a:stretch>
                  <a:fillRect l="-1420" t="-100000" b="-162857"/>
                </a:stretch>
              </a:blipFill>
            </p:spPr>
            <p:txBody>
              <a:bodyPr/>
              <a:lstStyle/>
              <a:p>
                <a:r>
                  <a:rPr lang="zh-CN" altLang="en-US">
                    <a:noFill/>
                  </a:rPr>
                  <a:t> </a:t>
                </a:r>
              </a:p>
            </p:txBody>
          </p:sp>
        </mc:Fallback>
      </mc:AlternateContent>
      <p:sp>
        <p:nvSpPr>
          <p:cNvPr id="12" name="文本框 11">
            <a:extLst>
              <a:ext uri="{FF2B5EF4-FFF2-40B4-BE49-F238E27FC236}">
                <a16:creationId xmlns:a16="http://schemas.microsoft.com/office/drawing/2014/main" id="{4C04BD47-A84A-5D3C-0B82-1BE506E06B98}"/>
              </a:ext>
            </a:extLst>
          </p:cNvPr>
          <p:cNvSpPr txBox="1"/>
          <p:nvPr/>
        </p:nvSpPr>
        <p:spPr>
          <a:xfrm>
            <a:off x="2599197" y="1662481"/>
            <a:ext cx="954107" cy="400110"/>
          </a:xfrm>
          <a:prstGeom prst="rect">
            <a:avLst/>
          </a:prstGeom>
          <a:noFill/>
        </p:spPr>
        <p:txBody>
          <a:bodyPr wrap="none" rtlCol="0">
            <a:spAutoFit/>
          </a:bodyPr>
          <a:lstStyle/>
          <a:p>
            <a:pPr algn="l"/>
            <a:r>
              <a:rPr kumimoji="1" lang="zh-CN" altLang="en-US" sz="2000" dirty="0"/>
              <a:t>积分：</a:t>
            </a:r>
          </a:p>
        </p:txBody>
      </p:sp>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id="{79C71FD9-87A2-A89C-FB84-430995D58D4C}"/>
                  </a:ext>
                </a:extLst>
              </p:cNvPr>
              <p:cNvSpPr txBox="1"/>
              <p:nvPr/>
            </p:nvSpPr>
            <p:spPr>
              <a:xfrm>
                <a:off x="627731" y="2257403"/>
                <a:ext cx="10742633" cy="535596"/>
              </a:xfrm>
              <a:prstGeom prst="rect">
                <a:avLst/>
              </a:prstGeom>
              <a:noFill/>
            </p:spPr>
            <p:txBody>
              <a:bodyPr wrap="square" rtlCol="0">
                <a:spAutoFit/>
              </a:bodyPr>
              <a:lstStyle/>
              <a:p>
                <a:r>
                  <a:rPr kumimoji="1" lang="zh-CN" altLang="en-US" sz="2000" dirty="0"/>
                  <a:t>每个维度下，计算网格法和蒙特卡洛方法随采样点数 </a:t>
                </a:r>
                <a:r>
                  <a:rPr kumimoji="1" lang="en-US" altLang="zh-CN" sz="2000" i="1" dirty="0"/>
                  <a:t>n</a:t>
                </a:r>
                <a:r>
                  <a:rPr kumimoji="1" lang="zh-CN" altLang="en-US" sz="2000" i="1" dirty="0"/>
                  <a:t> </a:t>
                </a:r>
                <a:r>
                  <a:rPr kumimoji="1" lang="zh-CN" altLang="en-US" sz="2000" dirty="0"/>
                  <a:t>增多的误差：</a:t>
                </a:r>
                <a14:m>
                  <m:oMath xmlns:m="http://schemas.openxmlformats.org/officeDocument/2006/math">
                    <m:r>
                      <m:rPr>
                        <m:sty m:val="p"/>
                      </m:rPr>
                      <a:rPr kumimoji="1" lang="en-US" altLang="zh-CN" sz="2000" b="0" i="0" dirty="0" smtClean="0">
                        <a:latin typeface="Cambria Math" panose="02040503050406030204" pitchFamily="18" charset="0"/>
                      </a:rPr>
                      <m:t>Errror</m:t>
                    </m:r>
                    <m:r>
                      <a:rPr kumimoji="1" lang="en-US" altLang="zh-CN" sz="2000" b="0" i="0" dirty="0" smtClean="0">
                        <a:latin typeface="Cambria Math" panose="02040503050406030204" pitchFamily="18" charset="0"/>
                      </a:rPr>
                      <m:t>=</m:t>
                    </m:r>
                    <m:r>
                      <a:rPr kumimoji="1" lang="en-US" altLang="zh-CN" sz="2000" b="0" i="1" dirty="0" smtClean="0">
                        <a:latin typeface="Cambria Math" panose="02040503050406030204" pitchFamily="18" charset="0"/>
                      </a:rPr>
                      <m:t>|</m:t>
                    </m:r>
                    <m:sSub>
                      <m:sSubPr>
                        <m:ctrlPr>
                          <a:rPr kumimoji="1" lang="en-US" altLang="zh-CN" sz="2000" b="0" i="1" dirty="0" smtClean="0">
                            <a:latin typeface="Cambria Math" panose="02040503050406030204" pitchFamily="18" charset="0"/>
                          </a:rPr>
                        </m:ctrlPr>
                      </m:sSubPr>
                      <m:e>
                        <m:acc>
                          <m:accPr>
                            <m:chr m:val="̂"/>
                            <m:ctrlPr>
                              <a:rPr kumimoji="1" lang="en-US" altLang="zh-CN" sz="2000" b="0" i="1" dirty="0" smtClean="0">
                                <a:latin typeface="Cambria Math" panose="02040503050406030204" pitchFamily="18" charset="0"/>
                              </a:rPr>
                            </m:ctrlPr>
                          </m:accPr>
                          <m:e>
                            <m:r>
                              <a:rPr kumimoji="1" lang="en-US" altLang="zh-CN" sz="2000" b="0" i="1" dirty="0" smtClean="0">
                                <a:latin typeface="Cambria Math" panose="02040503050406030204" pitchFamily="18" charset="0"/>
                              </a:rPr>
                              <m:t>𝐼</m:t>
                            </m:r>
                          </m:e>
                        </m:acc>
                      </m:e>
                      <m:sub>
                        <m:r>
                          <a:rPr kumimoji="1" lang="en-US" altLang="zh-CN" sz="2000" b="0" i="1" dirty="0" smtClean="0">
                            <a:latin typeface="Cambria Math" panose="02040503050406030204" pitchFamily="18" charset="0"/>
                          </a:rPr>
                          <m:t>𝑑</m:t>
                        </m:r>
                      </m:sub>
                    </m:sSub>
                    <m:r>
                      <a:rPr kumimoji="1" lang="en-US" altLang="zh-CN" sz="2000" b="0" i="1" dirty="0" smtClean="0">
                        <a:latin typeface="Cambria Math" panose="02040503050406030204" pitchFamily="18" charset="0"/>
                      </a:rPr>
                      <m:t>(</m:t>
                    </m:r>
                    <m:r>
                      <a:rPr kumimoji="1" lang="en-US" altLang="zh-CN" sz="2000" b="0" i="1" dirty="0" smtClean="0">
                        <a:latin typeface="Cambria Math" panose="02040503050406030204" pitchFamily="18" charset="0"/>
                      </a:rPr>
                      <m:t>𝑛</m:t>
                    </m:r>
                    <m:r>
                      <a:rPr kumimoji="1" lang="en-US" altLang="zh-CN" sz="2000" b="0" i="1" dirty="0" smtClean="0">
                        <a:latin typeface="Cambria Math" panose="02040503050406030204" pitchFamily="18" charset="0"/>
                      </a:rPr>
                      <m:t>)−</m:t>
                    </m:r>
                    <m:f>
                      <m:fPr>
                        <m:ctrlPr>
                          <a:rPr kumimoji="1" lang="en-US" altLang="zh-CN" sz="2000" b="0" i="1" dirty="0" smtClean="0">
                            <a:latin typeface="Cambria Math" panose="02040503050406030204" pitchFamily="18" charset="0"/>
                          </a:rPr>
                        </m:ctrlPr>
                      </m:fPr>
                      <m:num>
                        <m:r>
                          <a:rPr kumimoji="1" lang="en-US" altLang="zh-CN" sz="2000" b="0" i="1" dirty="0" smtClean="0">
                            <a:latin typeface="Cambria Math" panose="02040503050406030204" pitchFamily="18" charset="0"/>
                          </a:rPr>
                          <m:t>𝑑</m:t>
                        </m:r>
                      </m:num>
                      <m:den>
                        <m:r>
                          <a:rPr kumimoji="1" lang="en-US" altLang="zh-CN" sz="2000" b="0" i="1" dirty="0" smtClean="0">
                            <a:latin typeface="Cambria Math" panose="02040503050406030204" pitchFamily="18" charset="0"/>
                          </a:rPr>
                          <m:t>3</m:t>
                        </m:r>
                      </m:den>
                    </m:f>
                    <m:r>
                      <a:rPr kumimoji="1" lang="en-US" altLang="zh-CN" sz="2000" b="0" i="1" dirty="0" smtClean="0">
                        <a:latin typeface="Cambria Math" panose="02040503050406030204" pitchFamily="18" charset="0"/>
                      </a:rPr>
                      <m:t>|</m:t>
                    </m:r>
                  </m:oMath>
                </a14:m>
                <a:endParaRPr kumimoji="1" lang="zh-CN" altLang="en-US" sz="2000" dirty="0"/>
              </a:p>
            </p:txBody>
          </p:sp>
        </mc:Choice>
        <mc:Fallback xmlns="">
          <p:sp>
            <p:nvSpPr>
              <p:cNvPr id="19" name="文本框 18">
                <a:extLst>
                  <a:ext uri="{FF2B5EF4-FFF2-40B4-BE49-F238E27FC236}">
                    <a16:creationId xmlns:a16="http://schemas.microsoft.com/office/drawing/2014/main" id="{79C71FD9-87A2-A89C-FB84-430995D58D4C}"/>
                  </a:ext>
                </a:extLst>
              </p:cNvPr>
              <p:cNvSpPr txBox="1">
                <a:spLocks noRot="1" noChangeAspect="1" noMove="1" noResize="1" noEditPoints="1" noAdjustHandles="1" noChangeArrowheads="1" noChangeShapeType="1" noTextEdit="1"/>
              </p:cNvSpPr>
              <p:nvPr/>
            </p:nvSpPr>
            <p:spPr>
              <a:xfrm>
                <a:off x="627731" y="2257403"/>
                <a:ext cx="10742633" cy="535596"/>
              </a:xfrm>
              <a:prstGeom prst="rect">
                <a:avLst/>
              </a:prstGeom>
              <a:blipFill>
                <a:blip r:embed="rId3"/>
                <a:stretch>
                  <a:fillRect l="-590" b="-930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72E47FF0-FF93-A734-2BB2-50D3B0C623FE}"/>
                  </a:ext>
                </a:extLst>
              </p:cNvPr>
              <p:cNvSpPr txBox="1"/>
              <p:nvPr/>
            </p:nvSpPr>
            <p:spPr>
              <a:xfrm>
                <a:off x="3449937" y="1385690"/>
                <a:ext cx="2803523" cy="87171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
                        <m:sSubPr>
                          <m:ctrlPr>
                            <a:rPr kumimoji="1" lang="en-US" altLang="zh-CN" sz="2000" b="0" i="1" smtClean="0">
                              <a:solidFill>
                                <a:srgbClr val="000000"/>
                              </a:solidFill>
                              <a:latin typeface="Cambria Math" panose="02040503050406030204" pitchFamily="18" charset="0"/>
                            </a:rPr>
                          </m:ctrlPr>
                        </m:sSubPr>
                        <m:e>
                          <m:r>
                            <a:rPr kumimoji="1" lang="en-US" altLang="zh-CN" sz="2000" b="0" i="1" smtClean="0">
                              <a:solidFill>
                                <a:srgbClr val="000000"/>
                              </a:solidFill>
                              <a:latin typeface="Cambria Math" panose="02040503050406030204" pitchFamily="18" charset="0"/>
                            </a:rPr>
                            <m:t>𝐼</m:t>
                          </m:r>
                        </m:e>
                        <m:sub>
                          <m:r>
                            <a:rPr kumimoji="1" lang="en-US" altLang="zh-CN" sz="2000" b="0" i="1" smtClean="0">
                              <a:solidFill>
                                <a:srgbClr val="000000"/>
                              </a:solidFill>
                              <a:latin typeface="Cambria Math" panose="02040503050406030204" pitchFamily="18" charset="0"/>
                            </a:rPr>
                            <m:t>𝑑</m:t>
                          </m:r>
                        </m:sub>
                      </m:sSub>
                      <m:r>
                        <a:rPr kumimoji="1" lang="en-US" altLang="zh-CN" sz="2000" b="0" i="1" smtClean="0">
                          <a:solidFill>
                            <a:srgbClr val="000000"/>
                          </a:solidFill>
                          <a:latin typeface="Cambria Math" panose="02040503050406030204" pitchFamily="18" charset="0"/>
                        </a:rPr>
                        <m:t>=</m:t>
                      </m:r>
                      <m:nary>
                        <m:naryPr>
                          <m:supHide m:val="on"/>
                          <m:ctrlPr>
                            <a:rPr kumimoji="1" lang="en-US" altLang="zh-CN" sz="2000" b="0" i="1" smtClean="0">
                              <a:solidFill>
                                <a:srgbClr val="000000"/>
                              </a:solidFill>
                              <a:latin typeface="Cambria Math" panose="02040503050406030204" pitchFamily="18" charset="0"/>
                            </a:rPr>
                          </m:ctrlPr>
                        </m:naryPr>
                        <m:sub>
                          <m:sSup>
                            <m:sSupPr>
                              <m:ctrlPr>
                                <a:rPr kumimoji="1" lang="en-US" altLang="zh-CN" sz="2000" b="0" i="1" smtClean="0">
                                  <a:solidFill>
                                    <a:srgbClr val="000000"/>
                                  </a:solidFill>
                                  <a:latin typeface="Cambria Math" panose="02040503050406030204" pitchFamily="18" charset="0"/>
                                </a:rPr>
                              </m:ctrlPr>
                            </m:sSupPr>
                            <m:e>
                              <m:d>
                                <m:dPr>
                                  <m:begChr m:val="["/>
                                  <m:endChr m:val="]"/>
                                  <m:ctrlPr>
                                    <a:rPr kumimoji="1" lang="en-US" altLang="zh-CN" sz="2000" b="0" i="1" smtClean="0">
                                      <a:solidFill>
                                        <a:srgbClr val="000000"/>
                                      </a:solidFill>
                                      <a:latin typeface="Cambria Math" panose="02040503050406030204" pitchFamily="18" charset="0"/>
                                    </a:rPr>
                                  </m:ctrlPr>
                                </m:dPr>
                                <m:e>
                                  <m:r>
                                    <m:rPr>
                                      <m:brk m:alnAt="7"/>
                                    </m:rPr>
                                    <a:rPr kumimoji="1" lang="en-US" altLang="zh-CN" sz="2000" b="0" i="1" smtClean="0">
                                      <a:solidFill>
                                        <a:srgbClr val="000000"/>
                                      </a:solidFill>
                                      <a:latin typeface="Cambria Math" panose="02040503050406030204" pitchFamily="18" charset="0"/>
                                    </a:rPr>
                                    <m:t>0</m:t>
                                  </m:r>
                                  <m:r>
                                    <a:rPr kumimoji="1" lang="en-US" altLang="zh-CN" sz="2000" b="0" i="1" smtClean="0">
                                      <a:solidFill>
                                        <a:srgbClr val="000000"/>
                                      </a:solidFill>
                                      <a:latin typeface="Cambria Math" panose="02040503050406030204" pitchFamily="18" charset="0"/>
                                    </a:rPr>
                                    <m:t>, 1</m:t>
                                  </m:r>
                                </m:e>
                              </m:d>
                            </m:e>
                            <m:sup>
                              <m:r>
                                <m:rPr>
                                  <m:brk m:alnAt="7"/>
                                </m:rPr>
                                <a:rPr kumimoji="1" lang="en-US" altLang="zh-CN" sz="2000" b="0" i="1" smtClean="0">
                                  <a:solidFill>
                                    <a:srgbClr val="000000"/>
                                  </a:solidFill>
                                  <a:latin typeface="Cambria Math" panose="02040503050406030204" pitchFamily="18" charset="0"/>
                                </a:rPr>
                                <m:t>𝑑</m:t>
                              </m:r>
                            </m:sup>
                          </m:sSup>
                        </m:sub>
                        <m:sup/>
                        <m:e>
                          <m:nary>
                            <m:naryPr>
                              <m:chr m:val="∑"/>
                              <m:ctrlPr>
                                <a:rPr kumimoji="1" lang="en-US" altLang="zh-CN" sz="2000" b="0" i="1" smtClean="0">
                                  <a:solidFill>
                                    <a:srgbClr val="000000"/>
                                  </a:solidFill>
                                  <a:latin typeface="Cambria Math" panose="02040503050406030204" pitchFamily="18" charset="0"/>
                                </a:rPr>
                              </m:ctrlPr>
                            </m:naryPr>
                            <m:sub>
                              <m:r>
                                <a:rPr kumimoji="1" lang="en-US" altLang="zh-CN" sz="2000" b="0" i="1" smtClean="0">
                                  <a:solidFill>
                                    <a:srgbClr val="000000"/>
                                  </a:solidFill>
                                  <a:latin typeface="Cambria Math" panose="02040503050406030204" pitchFamily="18" charset="0"/>
                                </a:rPr>
                                <m:t>𝑖</m:t>
                              </m:r>
                              <m:r>
                                <a:rPr kumimoji="1" lang="en-US" altLang="zh-CN" sz="2000" b="0" i="1" smtClean="0">
                                  <a:solidFill>
                                    <a:srgbClr val="000000"/>
                                  </a:solidFill>
                                  <a:latin typeface="Cambria Math" panose="02040503050406030204" pitchFamily="18" charset="0"/>
                                </a:rPr>
                                <m:t>=1</m:t>
                              </m:r>
                            </m:sub>
                            <m:sup>
                              <m:r>
                                <a:rPr kumimoji="1" lang="en-US" altLang="zh-CN" sz="2000" b="0" i="1" smtClean="0">
                                  <a:solidFill>
                                    <a:srgbClr val="000000"/>
                                  </a:solidFill>
                                  <a:latin typeface="Cambria Math" panose="02040503050406030204" pitchFamily="18" charset="0"/>
                                </a:rPr>
                                <m:t>𝑑</m:t>
                              </m:r>
                            </m:sup>
                            <m:e>
                              <m:sSubSup>
                                <m:sSubSupPr>
                                  <m:ctrlPr>
                                    <a:rPr kumimoji="1" lang="en-US" altLang="zh-CN" sz="2000" b="0" i="1" smtClean="0">
                                      <a:solidFill>
                                        <a:srgbClr val="000000"/>
                                      </a:solidFill>
                                      <a:latin typeface="Cambria Math" panose="02040503050406030204" pitchFamily="18" charset="0"/>
                                    </a:rPr>
                                  </m:ctrlPr>
                                </m:sSubSupPr>
                                <m:e>
                                  <m:r>
                                    <a:rPr kumimoji="1" lang="en-US" altLang="zh-CN" sz="2000" b="0" i="1" smtClean="0">
                                      <a:solidFill>
                                        <a:srgbClr val="000000"/>
                                      </a:solidFill>
                                      <a:latin typeface="Cambria Math" panose="02040503050406030204" pitchFamily="18" charset="0"/>
                                    </a:rPr>
                                    <m:t>𝑥</m:t>
                                  </m:r>
                                </m:e>
                                <m:sub>
                                  <m:r>
                                    <a:rPr kumimoji="1" lang="en-US" altLang="zh-CN" sz="2000" b="0" i="1" smtClean="0">
                                      <a:solidFill>
                                        <a:srgbClr val="000000"/>
                                      </a:solidFill>
                                      <a:latin typeface="Cambria Math" panose="02040503050406030204" pitchFamily="18" charset="0"/>
                                    </a:rPr>
                                    <m:t>𝑖</m:t>
                                  </m:r>
                                </m:sub>
                                <m:sup>
                                  <m:r>
                                    <a:rPr kumimoji="1" lang="en-US" altLang="zh-CN" sz="2000" b="0" i="1" smtClean="0">
                                      <a:solidFill>
                                        <a:srgbClr val="000000"/>
                                      </a:solidFill>
                                      <a:latin typeface="Cambria Math" panose="02040503050406030204" pitchFamily="18" charset="0"/>
                                    </a:rPr>
                                    <m:t>2</m:t>
                                  </m:r>
                                </m:sup>
                              </m:sSubSup>
                            </m:e>
                          </m:nary>
                          <m:r>
                            <a:rPr kumimoji="1" lang="en-US" altLang="zh-CN" sz="2000" b="0" i="1" smtClean="0">
                              <a:solidFill>
                                <a:srgbClr val="000000"/>
                              </a:solidFill>
                              <a:latin typeface="Cambria Math" panose="02040503050406030204" pitchFamily="18" charset="0"/>
                            </a:rPr>
                            <m:t> </m:t>
                          </m:r>
                          <m:r>
                            <m:rPr>
                              <m:sty m:val="p"/>
                            </m:rPr>
                            <a:rPr kumimoji="1" lang="en-US" altLang="zh-CN" sz="2000" b="0" i="1" smtClean="0">
                              <a:solidFill>
                                <a:srgbClr val="000000"/>
                              </a:solidFill>
                              <a:latin typeface="Cambria Math" panose="02040503050406030204" pitchFamily="18" charset="0"/>
                            </a:rPr>
                            <m:t>d</m:t>
                          </m:r>
                          <m:r>
                            <a:rPr kumimoji="1" lang="en-US" altLang="zh-CN" sz="2000" b="0" i="1" smtClean="0">
                              <a:solidFill>
                                <a:srgbClr val="000000"/>
                              </a:solidFill>
                              <a:latin typeface="Cambria Math" panose="02040503050406030204" pitchFamily="18" charset="0"/>
                            </a:rPr>
                            <m:t>𝑥</m:t>
                          </m:r>
                        </m:e>
                      </m:nary>
                      <m:r>
                        <a:rPr kumimoji="1" lang="en-US" altLang="zh-CN" sz="2000" b="0" i="1" smtClean="0">
                          <a:solidFill>
                            <a:srgbClr val="000000"/>
                          </a:solidFill>
                          <a:latin typeface="Cambria Math" panose="02040503050406030204" pitchFamily="18" charset="0"/>
                        </a:rPr>
                        <m:t>=</m:t>
                      </m:r>
                      <m:f>
                        <m:fPr>
                          <m:ctrlPr>
                            <a:rPr kumimoji="1" lang="en-US" altLang="zh-CN" sz="2000" b="0" i="1" smtClean="0">
                              <a:solidFill>
                                <a:srgbClr val="000000"/>
                              </a:solidFill>
                              <a:latin typeface="Cambria Math" panose="02040503050406030204" pitchFamily="18" charset="0"/>
                            </a:rPr>
                          </m:ctrlPr>
                        </m:fPr>
                        <m:num>
                          <m:r>
                            <a:rPr kumimoji="1" lang="en-US" altLang="zh-CN" sz="2000" b="0" i="1" smtClean="0">
                              <a:solidFill>
                                <a:srgbClr val="000000"/>
                              </a:solidFill>
                              <a:latin typeface="Cambria Math" panose="02040503050406030204" pitchFamily="18" charset="0"/>
                            </a:rPr>
                            <m:t>𝑑</m:t>
                          </m:r>
                        </m:num>
                        <m:den>
                          <m:r>
                            <a:rPr kumimoji="1" lang="en-US" altLang="zh-CN" sz="2000" b="0" i="1" smtClean="0">
                              <a:solidFill>
                                <a:srgbClr val="000000"/>
                              </a:solidFill>
                              <a:latin typeface="Cambria Math" panose="02040503050406030204" pitchFamily="18" charset="0"/>
                            </a:rPr>
                            <m:t>3</m:t>
                          </m:r>
                        </m:den>
                      </m:f>
                    </m:oMath>
                  </m:oMathPara>
                </a14:m>
                <a:endParaRPr kumimoji="1" lang="zh-CN" altLang="en-US" sz="2000" dirty="0">
                  <a:solidFill>
                    <a:srgbClr val="000000"/>
                  </a:solidFill>
                </a:endParaRPr>
              </a:p>
            </p:txBody>
          </p:sp>
        </mc:Choice>
        <mc:Fallback xmlns="">
          <p:sp>
            <p:nvSpPr>
              <p:cNvPr id="2" name="文本框 1">
                <a:extLst>
                  <a:ext uri="{FF2B5EF4-FFF2-40B4-BE49-F238E27FC236}">
                    <a16:creationId xmlns:a16="http://schemas.microsoft.com/office/drawing/2014/main" id="{72E47FF0-FF93-A734-2BB2-50D3B0C623FE}"/>
                  </a:ext>
                </a:extLst>
              </p:cNvPr>
              <p:cNvSpPr txBox="1">
                <a:spLocks noRot="1" noChangeAspect="1" noMove="1" noResize="1" noEditPoints="1" noAdjustHandles="1" noChangeArrowheads="1" noChangeShapeType="1" noTextEdit="1"/>
              </p:cNvSpPr>
              <p:nvPr/>
            </p:nvSpPr>
            <p:spPr>
              <a:xfrm>
                <a:off x="3449937" y="1385690"/>
                <a:ext cx="2803523" cy="871713"/>
              </a:xfrm>
              <a:prstGeom prst="rect">
                <a:avLst/>
              </a:prstGeom>
              <a:blipFill>
                <a:blip r:embed="rId4"/>
                <a:stretch>
                  <a:fillRect l="-17568" t="-131429" r="-1351" b="-20142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B40C061E-7B4A-E6F1-820B-E9537ED17418}"/>
                  </a:ext>
                </a:extLst>
              </p:cNvPr>
              <p:cNvSpPr txBox="1"/>
              <p:nvPr/>
            </p:nvSpPr>
            <p:spPr>
              <a:xfrm>
                <a:off x="10233329" y="3358195"/>
                <a:ext cx="1723549" cy="866776"/>
              </a:xfrm>
              <a:prstGeom prst="rect">
                <a:avLst/>
              </a:prstGeom>
              <a:noFill/>
            </p:spPr>
            <p:txBody>
              <a:bodyPr wrap="none" rtlCol="0">
                <a:spAutoFit/>
              </a:bodyPr>
              <a:lstStyle/>
              <a:p>
                <a:pPr algn="l"/>
                <a:r>
                  <a:rPr kumimoji="1" lang="zh-CN" altLang="en-US" sz="2000" dirty="0">
                    <a:solidFill>
                      <a:srgbClr val="000000"/>
                    </a:solidFill>
                  </a:rPr>
                  <a:t>蒙特卡洛方法</a:t>
                </a:r>
                <a:endParaRPr kumimoji="1" lang="en-US" altLang="zh-CN" sz="2000" dirty="0">
                  <a:solidFill>
                    <a:srgbClr val="000000"/>
                  </a:solidFill>
                </a:endParaRPr>
              </a:p>
              <a:p>
                <a:pPr algn="l"/>
                <a:r>
                  <a:rPr kumimoji="1" lang="en-US" altLang="zh-CN" sz="2000" dirty="0">
                    <a:solidFill>
                      <a:srgbClr val="000000"/>
                    </a:solidFill>
                  </a:rPr>
                  <a:t>Error = </a:t>
                </a:r>
                <a14:m>
                  <m:oMath xmlns:m="http://schemas.openxmlformats.org/officeDocument/2006/math">
                    <m:r>
                      <a:rPr kumimoji="1" lang="en-US" altLang="zh-CN" sz="2000" b="0" i="1" smtClean="0">
                        <a:solidFill>
                          <a:srgbClr val="000000"/>
                        </a:solidFill>
                        <a:latin typeface="Cambria Math" panose="02040503050406030204" pitchFamily="18" charset="0"/>
                      </a:rPr>
                      <m:t>𝑂</m:t>
                    </m:r>
                    <m:r>
                      <a:rPr kumimoji="1" lang="en-US" altLang="zh-CN" sz="2000" b="0" i="1" smtClean="0">
                        <a:solidFill>
                          <a:srgbClr val="000000"/>
                        </a:solidFill>
                        <a:latin typeface="Cambria Math" panose="02040503050406030204" pitchFamily="18" charset="0"/>
                      </a:rPr>
                      <m:t>(</m:t>
                    </m:r>
                    <m:f>
                      <m:fPr>
                        <m:ctrlPr>
                          <a:rPr kumimoji="1" lang="en-US" altLang="zh-CN" sz="2000" b="0" i="1" smtClean="0">
                            <a:solidFill>
                              <a:srgbClr val="000000"/>
                            </a:solidFill>
                            <a:latin typeface="Cambria Math" panose="02040503050406030204" pitchFamily="18" charset="0"/>
                          </a:rPr>
                        </m:ctrlPr>
                      </m:fPr>
                      <m:num>
                        <m:r>
                          <a:rPr kumimoji="1" lang="en-US" altLang="zh-CN" sz="2000" b="0" i="1" smtClean="0">
                            <a:solidFill>
                              <a:srgbClr val="000000"/>
                            </a:solidFill>
                            <a:latin typeface="Cambria Math" panose="02040503050406030204" pitchFamily="18" charset="0"/>
                          </a:rPr>
                          <m:t>1</m:t>
                        </m:r>
                      </m:num>
                      <m:den>
                        <m:rad>
                          <m:radPr>
                            <m:degHide m:val="on"/>
                            <m:ctrlPr>
                              <a:rPr kumimoji="1" lang="en-US" altLang="zh-CN" sz="2000" b="0" i="1" smtClean="0">
                                <a:solidFill>
                                  <a:srgbClr val="000000"/>
                                </a:solidFill>
                                <a:latin typeface="Cambria Math" panose="02040503050406030204" pitchFamily="18" charset="0"/>
                              </a:rPr>
                            </m:ctrlPr>
                          </m:radPr>
                          <m:deg/>
                          <m:e>
                            <m:r>
                              <a:rPr kumimoji="1" lang="en-US" altLang="zh-CN" sz="2000" b="0" i="1" smtClean="0">
                                <a:solidFill>
                                  <a:srgbClr val="000000"/>
                                </a:solidFill>
                                <a:latin typeface="Cambria Math" panose="02040503050406030204" pitchFamily="18" charset="0"/>
                              </a:rPr>
                              <m:t>𝑛</m:t>
                            </m:r>
                          </m:e>
                        </m:rad>
                      </m:den>
                    </m:f>
                    <m:r>
                      <a:rPr kumimoji="1" lang="en-US" altLang="zh-CN" sz="2000" b="0" i="1" smtClean="0">
                        <a:solidFill>
                          <a:srgbClr val="000000"/>
                        </a:solidFill>
                        <a:latin typeface="Cambria Math" panose="02040503050406030204" pitchFamily="18" charset="0"/>
                      </a:rPr>
                      <m:t>)</m:t>
                    </m:r>
                  </m:oMath>
                </a14:m>
                <a:endParaRPr kumimoji="1" lang="zh-CN" altLang="en-US" sz="2000" dirty="0">
                  <a:solidFill>
                    <a:srgbClr val="000000"/>
                  </a:solidFill>
                </a:endParaRPr>
              </a:p>
            </p:txBody>
          </p:sp>
        </mc:Choice>
        <mc:Fallback xmlns="">
          <p:sp>
            <p:nvSpPr>
              <p:cNvPr id="5" name="文本框 4">
                <a:extLst>
                  <a:ext uri="{FF2B5EF4-FFF2-40B4-BE49-F238E27FC236}">
                    <a16:creationId xmlns:a16="http://schemas.microsoft.com/office/drawing/2014/main" id="{B40C061E-7B4A-E6F1-820B-E9537ED17418}"/>
                  </a:ext>
                </a:extLst>
              </p:cNvPr>
              <p:cNvSpPr txBox="1">
                <a:spLocks noRot="1" noChangeAspect="1" noMove="1" noResize="1" noEditPoints="1" noAdjustHandles="1" noChangeArrowheads="1" noChangeShapeType="1" noTextEdit="1"/>
              </p:cNvSpPr>
              <p:nvPr/>
            </p:nvSpPr>
            <p:spPr>
              <a:xfrm>
                <a:off x="10233329" y="3358195"/>
                <a:ext cx="1723549" cy="866776"/>
              </a:xfrm>
              <a:prstGeom prst="rect">
                <a:avLst/>
              </a:prstGeom>
              <a:blipFill>
                <a:blip r:embed="rId5"/>
                <a:stretch>
                  <a:fillRect l="-3650" t="-7246" r="-2920" b="-1449"/>
                </a:stretch>
              </a:blipFill>
            </p:spPr>
            <p:txBody>
              <a:bodyPr/>
              <a:lstStyle/>
              <a:p>
                <a:r>
                  <a:rPr lang="zh-CN" altLang="en-US">
                    <a:noFill/>
                  </a:rPr>
                  <a:t> </a:t>
                </a:r>
              </a:p>
            </p:txBody>
          </p:sp>
        </mc:Fallback>
      </mc:AlternateContent>
      <p:pic>
        <p:nvPicPr>
          <p:cNvPr id="6" name="图片 5">
            <a:extLst>
              <a:ext uri="{FF2B5EF4-FFF2-40B4-BE49-F238E27FC236}">
                <a16:creationId xmlns:a16="http://schemas.microsoft.com/office/drawing/2014/main" id="{67EF3A33-EF70-E451-E542-3905288FB4D3}"/>
              </a:ext>
            </a:extLst>
          </p:cNvPr>
          <p:cNvPicPr>
            <a:picLocks noChangeAspect="1"/>
          </p:cNvPicPr>
          <p:nvPr/>
        </p:nvPicPr>
        <p:blipFill>
          <a:blip r:embed="rId6"/>
          <a:stretch>
            <a:fillRect/>
          </a:stretch>
        </p:blipFill>
        <p:spPr>
          <a:xfrm>
            <a:off x="2162092" y="2790900"/>
            <a:ext cx="8010163" cy="3291848"/>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D5D528DE-BB71-A1DC-43FF-6DF9ACCBB62E}"/>
                  </a:ext>
                </a:extLst>
              </p:cNvPr>
              <p:cNvSpPr txBox="1"/>
              <p:nvPr/>
            </p:nvSpPr>
            <p:spPr>
              <a:xfrm>
                <a:off x="0" y="3088879"/>
                <a:ext cx="2230560" cy="1880258"/>
              </a:xfrm>
              <a:prstGeom prst="rect">
                <a:avLst/>
              </a:prstGeom>
              <a:noFill/>
            </p:spPr>
            <p:txBody>
              <a:bodyPr wrap="square" rtlCol="0">
                <a:spAutoFit/>
              </a:bodyPr>
              <a:lstStyle/>
              <a:p>
                <a:pPr algn="l"/>
                <a:r>
                  <a:rPr kumimoji="1" lang="zh-CN" altLang="en-US" dirty="0">
                    <a:solidFill>
                      <a:srgbClr val="000000"/>
                    </a:solidFill>
                  </a:rPr>
                  <a:t>每一维网格个数：</a:t>
                </a:r>
                <a14:m>
                  <m:oMath xmlns:m="http://schemas.openxmlformats.org/officeDocument/2006/math">
                    <m:r>
                      <a:rPr kumimoji="1" lang="en-US" altLang="zh-CN" b="0" i="1" smtClean="0">
                        <a:solidFill>
                          <a:srgbClr val="000000"/>
                        </a:solidFill>
                        <a:latin typeface="Cambria Math" panose="02040503050406030204" pitchFamily="18" charset="0"/>
                      </a:rPr>
                      <m:t>𝑘</m:t>
                    </m:r>
                    <m:r>
                      <a:rPr kumimoji="1" lang="en-US" altLang="zh-CN" b="0" i="1" smtClean="0">
                        <a:solidFill>
                          <a:srgbClr val="000000"/>
                        </a:solidFill>
                        <a:latin typeface="Cambria Math" panose="02040503050406030204" pitchFamily="18" charset="0"/>
                      </a:rPr>
                      <m:t>=</m:t>
                    </m:r>
                    <m:sSup>
                      <m:sSupPr>
                        <m:ctrlPr>
                          <a:rPr kumimoji="1" lang="en-US" altLang="zh-CN" b="0" i="1" smtClean="0">
                            <a:solidFill>
                              <a:srgbClr val="000000"/>
                            </a:solidFill>
                            <a:latin typeface="Cambria Math" panose="02040503050406030204" pitchFamily="18" charset="0"/>
                          </a:rPr>
                        </m:ctrlPr>
                      </m:sSupPr>
                      <m:e>
                        <m:r>
                          <a:rPr kumimoji="1" lang="en-US" altLang="zh-CN" b="0" i="1" smtClean="0">
                            <a:solidFill>
                              <a:srgbClr val="000000"/>
                            </a:solidFill>
                            <a:latin typeface="Cambria Math" panose="02040503050406030204" pitchFamily="18" charset="0"/>
                          </a:rPr>
                          <m:t>𝑛</m:t>
                        </m:r>
                      </m:e>
                      <m:sup>
                        <m:r>
                          <a:rPr kumimoji="1" lang="en-US" altLang="zh-CN" b="0" i="1" smtClean="0">
                            <a:solidFill>
                              <a:srgbClr val="000000"/>
                            </a:solidFill>
                            <a:latin typeface="Cambria Math" panose="02040503050406030204" pitchFamily="18" charset="0"/>
                          </a:rPr>
                          <m:t>1/</m:t>
                        </m:r>
                        <m:r>
                          <a:rPr kumimoji="1" lang="en-US" altLang="zh-CN" b="0" i="1" smtClean="0">
                            <a:solidFill>
                              <a:srgbClr val="000000"/>
                            </a:solidFill>
                            <a:latin typeface="Cambria Math" panose="02040503050406030204" pitchFamily="18" charset="0"/>
                          </a:rPr>
                          <m:t>𝑑</m:t>
                        </m:r>
                      </m:sup>
                    </m:sSup>
                  </m:oMath>
                </a14:m>
                <a:endParaRPr kumimoji="1" lang="en-US" altLang="zh-CN" dirty="0">
                  <a:solidFill>
                    <a:srgbClr val="000000"/>
                  </a:solidFill>
                </a:endParaRPr>
              </a:p>
              <a:p>
                <a:pPr algn="l"/>
                <a:r>
                  <a:rPr kumimoji="1" lang="zh-CN" altLang="en-US" dirty="0">
                    <a:solidFill>
                      <a:srgbClr val="000000"/>
                    </a:solidFill>
                  </a:rPr>
                  <a:t>中点法二次函数积分误差：</a:t>
                </a:r>
                <a14:m>
                  <m:oMath xmlns:m="http://schemas.openxmlformats.org/officeDocument/2006/math">
                    <m:r>
                      <a:rPr kumimoji="1" lang="en-US" altLang="zh-CN" b="0" i="1" smtClean="0">
                        <a:solidFill>
                          <a:srgbClr val="000000"/>
                        </a:solidFill>
                        <a:latin typeface="Cambria Math" panose="02040503050406030204" pitchFamily="18" charset="0"/>
                      </a:rPr>
                      <m:t>𝑂</m:t>
                    </m:r>
                    <m:r>
                      <a:rPr kumimoji="1" lang="en-US" altLang="zh-CN" b="0" i="1" smtClean="0">
                        <a:solidFill>
                          <a:srgbClr val="000000"/>
                        </a:solidFill>
                        <a:latin typeface="Cambria Math" panose="02040503050406030204" pitchFamily="18" charset="0"/>
                      </a:rPr>
                      <m:t>(</m:t>
                    </m:r>
                    <m:sSup>
                      <m:sSupPr>
                        <m:ctrlPr>
                          <a:rPr kumimoji="1" lang="en-US" altLang="zh-CN" b="0" i="1" smtClean="0">
                            <a:solidFill>
                              <a:srgbClr val="000000"/>
                            </a:solidFill>
                            <a:latin typeface="Cambria Math" panose="02040503050406030204" pitchFamily="18" charset="0"/>
                          </a:rPr>
                        </m:ctrlPr>
                      </m:sSupPr>
                      <m:e>
                        <m:d>
                          <m:dPr>
                            <m:ctrlPr>
                              <a:rPr kumimoji="1" lang="en-US" altLang="zh-CN" b="0" i="1" smtClean="0">
                                <a:solidFill>
                                  <a:srgbClr val="000000"/>
                                </a:solidFill>
                                <a:latin typeface="Cambria Math" panose="02040503050406030204" pitchFamily="18" charset="0"/>
                              </a:rPr>
                            </m:ctrlPr>
                          </m:dPr>
                          <m:e>
                            <m:r>
                              <a:rPr kumimoji="1" lang="en-US" altLang="zh-CN" b="0" i="1" smtClean="0">
                                <a:solidFill>
                                  <a:srgbClr val="000000"/>
                                </a:solidFill>
                                <a:latin typeface="Cambria Math" panose="02040503050406030204" pitchFamily="18" charset="0"/>
                              </a:rPr>
                              <m:t>1/</m:t>
                            </m:r>
                            <m:r>
                              <a:rPr kumimoji="1" lang="en-US" altLang="zh-CN" b="0" i="1" smtClean="0">
                                <a:solidFill>
                                  <a:srgbClr val="000000"/>
                                </a:solidFill>
                                <a:latin typeface="Cambria Math" panose="02040503050406030204" pitchFamily="18" charset="0"/>
                              </a:rPr>
                              <m:t>𝑘</m:t>
                            </m:r>
                          </m:e>
                        </m:d>
                      </m:e>
                      <m:sup>
                        <m:r>
                          <a:rPr kumimoji="1" lang="en-US" altLang="zh-CN" b="0" i="1" smtClean="0">
                            <a:solidFill>
                              <a:srgbClr val="000000"/>
                            </a:solidFill>
                            <a:latin typeface="Cambria Math" panose="02040503050406030204" pitchFamily="18" charset="0"/>
                          </a:rPr>
                          <m:t>2</m:t>
                        </m:r>
                      </m:sup>
                    </m:sSup>
                    <m:r>
                      <a:rPr kumimoji="1" lang="en-US" altLang="zh-CN" b="0" i="1" smtClean="0">
                        <a:solidFill>
                          <a:srgbClr val="000000"/>
                        </a:solidFill>
                        <a:latin typeface="Cambria Math" panose="02040503050406030204" pitchFamily="18" charset="0"/>
                      </a:rPr>
                      <m:t>)</m:t>
                    </m:r>
                  </m:oMath>
                </a14:m>
                <a:endParaRPr kumimoji="1" lang="en-US" altLang="zh-CN" dirty="0">
                  <a:solidFill>
                    <a:srgbClr val="000000"/>
                  </a:solidFill>
                </a:endParaRPr>
              </a:p>
              <a:p>
                <a:pPr algn="l"/>
                <a:r>
                  <a:rPr kumimoji="1" lang="zh-CN" altLang="en-US" dirty="0">
                    <a:solidFill>
                      <a:srgbClr val="000000"/>
                    </a:solidFill>
                  </a:rPr>
                  <a:t>网格方法</a:t>
                </a:r>
                <a:endParaRPr kumimoji="1" lang="en-US" altLang="zh-CN" dirty="0">
                  <a:solidFill>
                    <a:srgbClr val="000000"/>
                  </a:solidFill>
                </a:endParaRPr>
              </a:p>
              <a:p>
                <a:pPr algn="l"/>
                <a:r>
                  <a:rPr kumimoji="1" lang="en-US" altLang="zh-CN" dirty="0">
                    <a:solidFill>
                      <a:srgbClr val="000000"/>
                    </a:solidFill>
                  </a:rPr>
                  <a:t>Error = </a:t>
                </a:r>
                <a14:m>
                  <m:oMath xmlns:m="http://schemas.openxmlformats.org/officeDocument/2006/math">
                    <m:r>
                      <a:rPr kumimoji="1" lang="en-US" altLang="zh-CN" b="0" i="1" smtClean="0">
                        <a:solidFill>
                          <a:srgbClr val="000000"/>
                        </a:solidFill>
                        <a:latin typeface="Cambria Math" panose="02040503050406030204" pitchFamily="18" charset="0"/>
                      </a:rPr>
                      <m:t>𝑂</m:t>
                    </m:r>
                    <m:r>
                      <a:rPr kumimoji="1" lang="en-US" altLang="zh-CN" b="0" i="1" smtClean="0">
                        <a:solidFill>
                          <a:srgbClr val="000000"/>
                        </a:solidFill>
                        <a:latin typeface="Cambria Math" panose="02040503050406030204" pitchFamily="18" charset="0"/>
                      </a:rPr>
                      <m:t>(</m:t>
                    </m:r>
                    <m:f>
                      <m:fPr>
                        <m:ctrlPr>
                          <a:rPr kumimoji="1" lang="en-US" altLang="zh-CN" b="0" i="1" smtClean="0">
                            <a:solidFill>
                              <a:srgbClr val="000000"/>
                            </a:solidFill>
                            <a:latin typeface="Cambria Math" panose="02040503050406030204" pitchFamily="18" charset="0"/>
                          </a:rPr>
                        </m:ctrlPr>
                      </m:fPr>
                      <m:num>
                        <m:r>
                          <a:rPr kumimoji="1" lang="en-US" altLang="zh-CN" b="0" i="1" smtClean="0">
                            <a:solidFill>
                              <a:srgbClr val="000000"/>
                            </a:solidFill>
                            <a:latin typeface="Cambria Math" panose="02040503050406030204" pitchFamily="18" charset="0"/>
                          </a:rPr>
                          <m:t>1</m:t>
                        </m:r>
                      </m:num>
                      <m:den>
                        <m:sSup>
                          <m:sSupPr>
                            <m:ctrlPr>
                              <a:rPr kumimoji="1" lang="en-US" altLang="zh-CN" b="0" i="1" smtClean="0">
                                <a:solidFill>
                                  <a:srgbClr val="000000"/>
                                </a:solidFill>
                                <a:latin typeface="Cambria Math" panose="02040503050406030204" pitchFamily="18" charset="0"/>
                              </a:rPr>
                            </m:ctrlPr>
                          </m:sSupPr>
                          <m:e>
                            <m:r>
                              <a:rPr kumimoji="1" lang="en-US" altLang="zh-CN" b="0" i="1" smtClean="0">
                                <a:solidFill>
                                  <a:srgbClr val="000000"/>
                                </a:solidFill>
                                <a:latin typeface="Cambria Math" panose="02040503050406030204" pitchFamily="18" charset="0"/>
                              </a:rPr>
                              <m:t>𝑛</m:t>
                            </m:r>
                          </m:e>
                          <m:sup>
                            <m:r>
                              <a:rPr kumimoji="1" lang="en-US" altLang="zh-CN" b="0" i="1" smtClean="0">
                                <a:solidFill>
                                  <a:srgbClr val="000000"/>
                                </a:solidFill>
                                <a:latin typeface="Cambria Math" panose="02040503050406030204" pitchFamily="18" charset="0"/>
                              </a:rPr>
                              <m:t>2/</m:t>
                            </m:r>
                            <m:r>
                              <a:rPr kumimoji="1" lang="en-US" altLang="zh-CN" b="0" i="1" smtClean="0">
                                <a:solidFill>
                                  <a:srgbClr val="000000"/>
                                </a:solidFill>
                                <a:latin typeface="Cambria Math" panose="02040503050406030204" pitchFamily="18" charset="0"/>
                              </a:rPr>
                              <m:t>𝑑</m:t>
                            </m:r>
                          </m:sup>
                        </m:sSup>
                      </m:den>
                    </m:f>
                    <m:r>
                      <a:rPr kumimoji="1" lang="en-US" altLang="zh-CN" b="0" i="1" smtClean="0">
                        <a:solidFill>
                          <a:srgbClr val="000000"/>
                        </a:solidFill>
                        <a:latin typeface="Cambria Math" panose="02040503050406030204" pitchFamily="18" charset="0"/>
                      </a:rPr>
                      <m:t>)</m:t>
                    </m:r>
                  </m:oMath>
                </a14:m>
                <a:endParaRPr kumimoji="1" lang="zh-CN" altLang="en-US" dirty="0">
                  <a:solidFill>
                    <a:srgbClr val="000000"/>
                  </a:solidFill>
                </a:endParaRPr>
              </a:p>
            </p:txBody>
          </p:sp>
        </mc:Choice>
        <mc:Fallback xmlns="">
          <p:sp>
            <p:nvSpPr>
              <p:cNvPr id="7" name="文本框 6">
                <a:extLst>
                  <a:ext uri="{FF2B5EF4-FFF2-40B4-BE49-F238E27FC236}">
                    <a16:creationId xmlns:a16="http://schemas.microsoft.com/office/drawing/2014/main" id="{D5D528DE-BB71-A1DC-43FF-6DF9ACCBB62E}"/>
                  </a:ext>
                </a:extLst>
              </p:cNvPr>
              <p:cNvSpPr txBox="1">
                <a:spLocks noRot="1" noChangeAspect="1" noMove="1" noResize="1" noEditPoints="1" noAdjustHandles="1" noChangeArrowheads="1" noChangeShapeType="1" noTextEdit="1"/>
              </p:cNvSpPr>
              <p:nvPr/>
            </p:nvSpPr>
            <p:spPr>
              <a:xfrm>
                <a:off x="0" y="3088879"/>
                <a:ext cx="2230560" cy="1880258"/>
              </a:xfrm>
              <a:prstGeom prst="rect">
                <a:avLst/>
              </a:prstGeom>
              <a:blipFill>
                <a:blip r:embed="rId7"/>
                <a:stretch>
                  <a:fillRect l="-2273" t="-2013" b="-1342"/>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825B76F6-1ED6-3EF2-9700-FB386AF30B57}"/>
              </a:ext>
            </a:extLst>
          </p:cNvPr>
          <p:cNvSpPr txBox="1"/>
          <p:nvPr/>
        </p:nvSpPr>
        <p:spPr>
          <a:xfrm>
            <a:off x="0" y="5119899"/>
            <a:ext cx="2230560" cy="646331"/>
          </a:xfrm>
          <a:prstGeom prst="rect">
            <a:avLst/>
          </a:prstGeom>
          <a:noFill/>
        </p:spPr>
        <p:txBody>
          <a:bodyPr wrap="square" rtlCol="0">
            <a:spAutoFit/>
          </a:bodyPr>
          <a:lstStyle/>
          <a:p>
            <a:pPr algn="l"/>
            <a:r>
              <a:rPr kumimoji="1" lang="zh-CN" altLang="en-US" dirty="0"/>
              <a:t>随 </a:t>
            </a:r>
            <a:r>
              <a:rPr kumimoji="1" lang="en-US" altLang="zh-CN" dirty="0"/>
              <a:t>d</a:t>
            </a:r>
            <a:r>
              <a:rPr kumimoji="1" lang="zh-CN" altLang="en-US" dirty="0"/>
              <a:t> 增加，衰减速率指数变慢</a:t>
            </a:r>
          </a:p>
        </p:txBody>
      </p:sp>
      <p:sp>
        <p:nvSpPr>
          <p:cNvPr id="9" name="文本框 8">
            <a:extLst>
              <a:ext uri="{FF2B5EF4-FFF2-40B4-BE49-F238E27FC236}">
                <a16:creationId xmlns:a16="http://schemas.microsoft.com/office/drawing/2014/main" id="{718B65C4-FFF7-3515-3883-E62E1B1E75C7}"/>
              </a:ext>
            </a:extLst>
          </p:cNvPr>
          <p:cNvSpPr txBox="1"/>
          <p:nvPr/>
        </p:nvSpPr>
        <p:spPr>
          <a:xfrm>
            <a:off x="10339346" y="4939140"/>
            <a:ext cx="1852654" cy="646331"/>
          </a:xfrm>
          <a:prstGeom prst="rect">
            <a:avLst/>
          </a:prstGeom>
          <a:noFill/>
        </p:spPr>
        <p:txBody>
          <a:bodyPr wrap="square" rtlCol="0">
            <a:spAutoFit/>
          </a:bodyPr>
          <a:lstStyle/>
          <a:p>
            <a:pPr algn="l"/>
            <a:r>
              <a:rPr kumimoji="1" lang="zh-CN" altLang="en-US" dirty="0"/>
              <a:t>随 </a:t>
            </a:r>
            <a:r>
              <a:rPr kumimoji="1" lang="en-US" altLang="zh-CN" dirty="0"/>
              <a:t>d</a:t>
            </a:r>
            <a:r>
              <a:rPr kumimoji="1" lang="zh-CN" altLang="en-US" dirty="0"/>
              <a:t> 增加，衰减速率保持不变</a:t>
            </a:r>
          </a:p>
        </p:txBody>
      </p:sp>
    </p:spTree>
    <p:extLst>
      <p:ext uri="{BB962C8B-B14F-4D97-AF65-F5344CB8AC3E}">
        <p14:creationId xmlns:p14="http://schemas.microsoft.com/office/powerpoint/2010/main" val="41336167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7D2A-FB2B-B7BE-12B7-24307DB18D5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5AE1426-0664-8D56-C8C0-05C850FD5831}"/>
              </a:ext>
            </a:extLst>
          </p:cNvPr>
          <p:cNvSpPr>
            <a:spLocks noGrp="1"/>
          </p:cNvSpPr>
          <p:nvPr>
            <p:ph type="title"/>
          </p:nvPr>
        </p:nvSpPr>
        <p:spPr/>
        <p:txBody>
          <a:bodyPr/>
          <a:lstStyle/>
          <a:p>
            <a:r>
              <a:rPr lang="zh-CN" altLang="en-US" dirty="0"/>
              <a:t>克服维数灾难的方法</a:t>
            </a:r>
            <a:r>
              <a:rPr lang="en-US" altLang="zh-CN" dirty="0"/>
              <a:t>—</a:t>
            </a:r>
            <a:r>
              <a:rPr lang="zh-CN" altLang="en-US" dirty="0"/>
              <a:t>神经网络</a:t>
            </a:r>
          </a:p>
        </p:txBody>
      </p:sp>
      <p:sp>
        <p:nvSpPr>
          <p:cNvPr id="6" name="文本框 5">
            <a:extLst>
              <a:ext uri="{FF2B5EF4-FFF2-40B4-BE49-F238E27FC236}">
                <a16:creationId xmlns:a16="http://schemas.microsoft.com/office/drawing/2014/main" id="{B136839E-83C7-B824-163E-F2E8A4E45E94}"/>
              </a:ext>
            </a:extLst>
          </p:cNvPr>
          <p:cNvSpPr txBox="1"/>
          <p:nvPr/>
        </p:nvSpPr>
        <p:spPr>
          <a:xfrm>
            <a:off x="199901" y="950026"/>
            <a:ext cx="11792198" cy="1884555"/>
          </a:xfrm>
          <a:prstGeom prst="rect">
            <a:avLst/>
          </a:prstGeom>
          <a:noFill/>
        </p:spPr>
        <p:txBody>
          <a:bodyPr wrap="square" rtlCol="0">
            <a:spAutoFit/>
          </a:bodyPr>
          <a:lstStyle/>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近年来，深度学习因其卓越的表示能力和灵活的结构，为克服维数灾难带来了新希望</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实验结果显示，深度神经网络在处理</a:t>
            </a:r>
            <a:r>
              <a:rPr lang="zh-CN" altLang="en-US" sz="2000" b="1" dirty="0">
                <a:solidFill>
                  <a:srgbClr val="C00000"/>
                </a:solidFill>
                <a:effectLst/>
                <a:latin typeface="Microsoft YaHei" panose="020B0503020204020204" pitchFamily="34" charset="-122"/>
                <a:ea typeface="Microsoft YaHei" panose="020B0503020204020204" pitchFamily="34" charset="-122"/>
              </a:rPr>
              <a:t>高维数据（如自然图像、自然语言、围棋等）</a:t>
            </a:r>
            <a:r>
              <a:rPr lang="zh-CN" altLang="en-US" sz="2000" dirty="0">
                <a:solidFill>
                  <a:srgbClr val="000000"/>
                </a:solidFill>
                <a:effectLst/>
                <a:latin typeface="Microsoft YaHei" panose="020B0503020204020204" pitchFamily="34" charset="-122"/>
                <a:ea typeface="Microsoft YaHei" panose="020B0503020204020204" pitchFamily="34" charset="-122"/>
              </a:rPr>
              <a:t>方面远超过传统方法，成功解决了多个具有挑战性的高维问题</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但深度学习到底是如何胜任这些任务的呢？</a:t>
            </a:r>
            <a:r>
              <a:rPr lang="zh-CN" altLang="en-US" sz="2000" b="1" dirty="0">
                <a:solidFill>
                  <a:srgbClr val="B61516"/>
                </a:solidFill>
                <a:effectLst/>
                <a:latin typeface="Microsoft YaHei" panose="020B0503020204020204" pitchFamily="34" charset="-122"/>
                <a:ea typeface="Microsoft YaHei" panose="020B0503020204020204" pitchFamily="34" charset="-122"/>
              </a:rPr>
              <a:t>在何种意义下它能克服维数灾难？</a:t>
            </a:r>
          </a:p>
        </p:txBody>
      </p:sp>
      <p:pic>
        <p:nvPicPr>
          <p:cNvPr id="9" name="图片 8">
            <a:extLst>
              <a:ext uri="{FF2B5EF4-FFF2-40B4-BE49-F238E27FC236}">
                <a16:creationId xmlns:a16="http://schemas.microsoft.com/office/drawing/2014/main" id="{2308A026-B8CF-C804-1315-5EBA4A12012D}"/>
              </a:ext>
            </a:extLst>
          </p:cNvPr>
          <p:cNvPicPr>
            <a:picLocks noChangeAspect="1"/>
          </p:cNvPicPr>
          <p:nvPr/>
        </p:nvPicPr>
        <p:blipFill>
          <a:blip r:embed="rId2"/>
          <a:stretch>
            <a:fillRect/>
          </a:stretch>
        </p:blipFill>
        <p:spPr>
          <a:xfrm>
            <a:off x="8211872" y="3551347"/>
            <a:ext cx="3980128" cy="1035765"/>
          </a:xfrm>
          <a:prstGeom prst="rect">
            <a:avLst/>
          </a:prstGeom>
        </p:spPr>
      </p:pic>
      <p:sp>
        <p:nvSpPr>
          <p:cNvPr id="10" name="矩形 9">
            <a:extLst>
              <a:ext uri="{FF2B5EF4-FFF2-40B4-BE49-F238E27FC236}">
                <a16:creationId xmlns:a16="http://schemas.microsoft.com/office/drawing/2014/main" id="{29D83099-F28C-9094-9832-ECFBEF83D2F3}"/>
              </a:ext>
            </a:extLst>
          </p:cNvPr>
          <p:cNvSpPr/>
          <p:nvPr/>
        </p:nvSpPr>
        <p:spPr>
          <a:xfrm>
            <a:off x="8885501" y="4688354"/>
            <a:ext cx="2769030" cy="591625"/>
          </a:xfrm>
          <a:prstGeom prst="rect">
            <a:avLst/>
          </a:prstGeom>
          <a:solidFill>
            <a:srgbClr val="B61516"/>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dirty="0">
                <a:solidFill>
                  <a:schemeClr val="bg1"/>
                </a:solidFill>
                <a:latin typeface="Microsoft YaHei" panose="020B0503020204020204" pitchFamily="34" charset="-122"/>
                <a:ea typeface="Microsoft YaHei" panose="020B0503020204020204" pitchFamily="34" charset="-122"/>
              </a:rPr>
              <a:t>两层神经网络数学表达式</a:t>
            </a:r>
          </a:p>
        </p:txBody>
      </p:sp>
      <p:sp>
        <p:nvSpPr>
          <p:cNvPr id="2" name="文本框 1">
            <a:extLst>
              <a:ext uri="{FF2B5EF4-FFF2-40B4-BE49-F238E27FC236}">
                <a16:creationId xmlns:a16="http://schemas.microsoft.com/office/drawing/2014/main" id="{5BF1C8D2-C9BF-E902-B734-44BEAA30BD41}"/>
              </a:ext>
            </a:extLst>
          </p:cNvPr>
          <p:cNvSpPr txBox="1"/>
          <p:nvPr/>
        </p:nvSpPr>
        <p:spPr>
          <a:xfrm>
            <a:off x="199901" y="6422461"/>
            <a:ext cx="5662127" cy="276999"/>
          </a:xfrm>
          <a:prstGeom prst="rect">
            <a:avLst/>
          </a:prstGeom>
          <a:noFill/>
        </p:spPr>
        <p:txBody>
          <a:bodyPr wrap="none" rtlCol="0">
            <a:spAutoFit/>
          </a:bodyPr>
          <a:lstStyle/>
          <a:p>
            <a:r>
              <a:rPr lang="zh-CN" altLang="en" sz="1200" i="0" dirty="0">
                <a:solidFill>
                  <a:srgbClr val="FFFFFF"/>
                </a:solidFill>
                <a:effectLst/>
                <a:latin typeface="Times New Roman" panose="02020603050405020304" pitchFamily="18" charset="0"/>
                <a:cs typeface="Times New Roman" panose="02020603050405020304" pitchFamily="18" charset="0"/>
              </a:rPr>
              <a:t>图片</a:t>
            </a:r>
            <a:r>
              <a:rPr lang="zh-CN" altLang="en-US" sz="1200" i="0" dirty="0">
                <a:solidFill>
                  <a:srgbClr val="FFFFFF"/>
                </a:solidFill>
                <a:effectLst/>
                <a:latin typeface="Times New Roman" panose="02020603050405020304" pitchFamily="18" charset="0"/>
                <a:cs typeface="Times New Roman" panose="02020603050405020304" pitchFamily="18" charset="0"/>
              </a:rPr>
              <a:t>来源：</a:t>
            </a:r>
            <a:r>
              <a:rPr lang="en" altLang="zh-CN" sz="1200" i="0" dirty="0">
                <a:solidFill>
                  <a:srgbClr val="FFFFFF"/>
                </a:solidFill>
                <a:effectLst/>
                <a:latin typeface="Times New Roman" panose="02020603050405020304" pitchFamily="18" charset="0"/>
                <a:cs typeface="Times New Roman" panose="02020603050405020304" pitchFamily="18" charset="0"/>
              </a:rPr>
              <a:t>https://</a:t>
            </a:r>
            <a:r>
              <a:rPr lang="en" altLang="zh-CN" sz="1200" i="0" dirty="0" err="1">
                <a:solidFill>
                  <a:srgbClr val="FFFFFF"/>
                </a:solidFill>
                <a:effectLst/>
                <a:latin typeface="Times New Roman" panose="02020603050405020304" pitchFamily="18" charset="0"/>
                <a:cs typeface="Times New Roman" panose="02020603050405020304" pitchFamily="18" charset="0"/>
              </a:rPr>
              <a:t>blogs.novita.ai</a:t>
            </a:r>
            <a:r>
              <a:rPr lang="en" altLang="zh-CN" sz="1200" i="0" dirty="0">
                <a:solidFill>
                  <a:srgbClr val="FFFFFF"/>
                </a:solidFill>
                <a:effectLst/>
                <a:latin typeface="Times New Roman" panose="02020603050405020304" pitchFamily="18" charset="0"/>
                <a:cs typeface="Times New Roman" panose="02020603050405020304" pitchFamily="18" charset="0"/>
              </a:rPr>
              <a:t>/a-comprehensive-understanding-what-is-an-ai-model/</a:t>
            </a:r>
          </a:p>
        </p:txBody>
      </p:sp>
      <p:pic>
        <p:nvPicPr>
          <p:cNvPr id="4" name="图片 3">
            <a:extLst>
              <a:ext uri="{FF2B5EF4-FFF2-40B4-BE49-F238E27FC236}">
                <a16:creationId xmlns:a16="http://schemas.microsoft.com/office/drawing/2014/main" id="{53D7DEE0-7050-3FB8-3142-79A429CDE242}"/>
              </a:ext>
            </a:extLst>
          </p:cNvPr>
          <p:cNvPicPr>
            <a:picLocks noChangeAspect="1"/>
          </p:cNvPicPr>
          <p:nvPr/>
        </p:nvPicPr>
        <p:blipFill>
          <a:blip r:embed="rId3"/>
          <a:stretch>
            <a:fillRect/>
          </a:stretch>
        </p:blipFill>
        <p:spPr>
          <a:xfrm>
            <a:off x="268765" y="3362588"/>
            <a:ext cx="2437806" cy="1811426"/>
          </a:xfrm>
          <a:prstGeom prst="rect">
            <a:avLst/>
          </a:prstGeom>
          <a:noFill/>
          <a:ln w="25400">
            <a:solidFill>
              <a:srgbClr val="000000"/>
            </a:solidFill>
            <a:miter lim="800000"/>
            <a:headEnd/>
            <a:tailEnd/>
          </a:ln>
        </p:spPr>
      </p:pic>
      <p:sp>
        <p:nvSpPr>
          <p:cNvPr id="5" name="文本框 4">
            <a:extLst>
              <a:ext uri="{FF2B5EF4-FFF2-40B4-BE49-F238E27FC236}">
                <a16:creationId xmlns:a16="http://schemas.microsoft.com/office/drawing/2014/main" id="{64023F94-6588-605C-AC9E-697BD3947DAB}"/>
              </a:ext>
            </a:extLst>
          </p:cNvPr>
          <p:cNvSpPr txBox="1"/>
          <p:nvPr/>
        </p:nvSpPr>
        <p:spPr>
          <a:xfrm>
            <a:off x="577156" y="5259736"/>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图像识别</a:t>
            </a:r>
            <a:endParaRPr lang="zh-CN" altLang="en-US" sz="2400"/>
          </a:p>
        </p:txBody>
      </p:sp>
      <p:pic>
        <p:nvPicPr>
          <p:cNvPr id="7" name="Picture 2" descr="alpha goçåçæå°çµæ">
            <a:extLst>
              <a:ext uri="{FF2B5EF4-FFF2-40B4-BE49-F238E27FC236}">
                <a16:creationId xmlns:a16="http://schemas.microsoft.com/office/drawing/2014/main" id="{7231A208-8F2D-B38C-49EB-DB8AFBAB5B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08" t="1389" r="471" b="271"/>
          <a:stretch>
            <a:fillRect/>
          </a:stretch>
        </p:blipFill>
        <p:spPr bwMode="auto">
          <a:xfrm>
            <a:off x="6582539" y="3193246"/>
            <a:ext cx="1624314" cy="2015580"/>
          </a:xfrm>
          <a:prstGeom prst="rect">
            <a:avLst/>
          </a:prstGeom>
          <a:noFill/>
          <a:ln w="25400">
            <a:solidFill>
              <a:srgbClr val="000000"/>
            </a:solidFill>
            <a:miter lim="800000"/>
            <a:headEnd/>
            <a:tailEnd/>
          </a:ln>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DC8BC8C3-ED96-888F-3151-0493F151B173}"/>
              </a:ext>
            </a:extLst>
          </p:cNvPr>
          <p:cNvSpPr txBox="1"/>
          <p:nvPr/>
        </p:nvSpPr>
        <p:spPr>
          <a:xfrm>
            <a:off x="6413560" y="5279979"/>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下围棋</a:t>
            </a:r>
            <a:endParaRPr lang="zh-CN" altLang="en-US" sz="2400"/>
          </a:p>
        </p:txBody>
      </p:sp>
      <p:pic>
        <p:nvPicPr>
          <p:cNvPr id="11" name="Picture 2" descr="What are large language models?. In the rapidly evolving landscape of… | by  RandomResearchAI | Medium">
            <a:extLst>
              <a:ext uri="{FF2B5EF4-FFF2-40B4-BE49-F238E27FC236}">
                <a16:creationId xmlns:a16="http://schemas.microsoft.com/office/drawing/2014/main" id="{3ADF7BE4-1DAB-886F-7F0E-6E62A5F7CEE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40106" y="3364011"/>
            <a:ext cx="3039919" cy="1824572"/>
          </a:xfrm>
          <a:prstGeom prst="rect">
            <a:avLst/>
          </a:prstGeom>
          <a:noFill/>
          <a:ln w="25400">
            <a:solidFill>
              <a:srgbClr val="000000"/>
            </a:solidFill>
            <a:miter lim="800000"/>
            <a:headEnd/>
            <a:tailEnd/>
          </a:ln>
          <a:extLst>
            <a:ext uri="{909E8E84-426E-40DD-AFC4-6F175D3DCCD1}">
              <a14:hiddenFill xmlns:a14="http://schemas.microsoft.com/office/drawing/2010/main">
                <a:solidFill>
                  <a:srgbClr val="FFFFFF"/>
                </a:solidFill>
              </a14:hiddenFill>
            </a:ext>
          </a:extLst>
        </p:spPr>
      </p:pic>
      <p:sp>
        <p:nvSpPr>
          <p:cNvPr id="12" name="文本框 11">
            <a:extLst>
              <a:ext uri="{FF2B5EF4-FFF2-40B4-BE49-F238E27FC236}">
                <a16:creationId xmlns:a16="http://schemas.microsoft.com/office/drawing/2014/main" id="{67B3AB9F-FB07-1AED-978D-34E572A0A782}"/>
              </a:ext>
            </a:extLst>
          </p:cNvPr>
          <p:cNvSpPr txBox="1"/>
          <p:nvPr/>
        </p:nvSpPr>
        <p:spPr>
          <a:xfrm>
            <a:off x="3578929" y="5267900"/>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大语言模型</a:t>
            </a:r>
            <a:endParaRPr lang="zh-CN" altLang="en-US" sz="2400"/>
          </a:p>
        </p:txBody>
      </p:sp>
    </p:spTree>
    <p:extLst>
      <p:ext uri="{BB962C8B-B14F-4D97-AF65-F5344CB8AC3E}">
        <p14:creationId xmlns:p14="http://schemas.microsoft.com/office/powerpoint/2010/main" val="36068843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96B4A-23BF-BFDB-CFE7-C05C5A04D79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61BF9EE-DC8B-6C80-590A-1083ADE2AEC7}"/>
              </a:ext>
            </a:extLst>
          </p:cNvPr>
          <p:cNvSpPr>
            <a:spLocks noGrp="1"/>
          </p:cNvSpPr>
          <p:nvPr>
            <p:ph type="title"/>
          </p:nvPr>
        </p:nvSpPr>
        <p:spPr/>
        <p:txBody>
          <a:bodyPr/>
          <a:lstStyle/>
          <a:p>
            <a:pPr>
              <a:spcBef>
                <a:spcPts val="0"/>
              </a:spcBef>
              <a:buSzPct val="100000"/>
            </a:pPr>
            <a:r>
              <a:rPr lang="zh-CN" altLang="en-US" dirty="0"/>
              <a:t>神经网络克服维数灾难的理解*</a:t>
            </a:r>
            <a:endPar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endParaRPr>
          </a:p>
        </p:txBody>
      </p:sp>
      <p:sp>
        <p:nvSpPr>
          <p:cNvPr id="17" name="文本框 16">
            <a:extLst>
              <a:ext uri="{FF2B5EF4-FFF2-40B4-BE49-F238E27FC236}">
                <a16:creationId xmlns:a16="http://schemas.microsoft.com/office/drawing/2014/main" id="{5C928A1B-4AC2-EF31-4893-C8BAEB4B1E48}"/>
              </a:ext>
            </a:extLst>
          </p:cNvPr>
          <p:cNvSpPr txBox="1"/>
          <p:nvPr>
            <p:custDataLst>
              <p:tags r:id="rId1"/>
            </p:custDataLst>
          </p:nvPr>
        </p:nvSpPr>
        <p:spPr>
          <a:xfrm>
            <a:off x="630674" y="1144448"/>
            <a:ext cx="6172200" cy="461665"/>
          </a:xfrm>
          <a:prstGeom prst="rect">
            <a:avLst/>
          </a:prstGeom>
          <a:noFill/>
        </p:spPr>
        <p:txBody>
          <a:bodyPr wrap="square">
            <a:spAutoFit/>
          </a:bodyPr>
          <a:lstStyle/>
          <a:p>
            <a:pPr marL="285750" indent="-285750">
              <a:buFont typeface="Arial" panose="020B0604020202020204" pitchFamily="34" charset="0"/>
              <a:buChar char="•"/>
            </a:pPr>
            <a:r>
              <a:rPr lang="zh-CN" altLang="en-US" sz="2400" b="1" dirty="0"/>
              <a:t>函数空间的 </a:t>
            </a:r>
            <a:r>
              <a:rPr lang="en-US" altLang="zh-CN" sz="2400" b="1" dirty="0"/>
              <a:t>Monte-Carlo </a:t>
            </a:r>
            <a:r>
              <a:rPr lang="zh-CN" altLang="en-US" sz="2400" b="1" dirty="0"/>
              <a:t>采样</a:t>
            </a:r>
            <a:r>
              <a:rPr lang="zh-CN" altLang="en-US" sz="2400" dirty="0"/>
              <a:t> </a:t>
            </a:r>
            <a:endParaRPr lang="zh-CN" altLang="en-US" sz="2400" dirty="0">
              <a:solidFill>
                <a:schemeClr val="tx2"/>
              </a:solidFill>
            </a:endParaRPr>
          </a:p>
        </p:txBody>
      </p:sp>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F4804C46-DB1F-9C51-574C-8CFEB7AEC7DE}"/>
                  </a:ext>
                </a:extLst>
              </p:cNvPr>
              <p:cNvSpPr txBox="1"/>
              <p:nvPr/>
            </p:nvSpPr>
            <p:spPr>
              <a:xfrm>
                <a:off x="3304081" y="2237271"/>
                <a:ext cx="6096000" cy="131734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𝑓</m:t>
                          </m:r>
                        </m:e>
                        <m:sub>
                          <m:r>
                            <a:rPr lang="en-US" altLang="zh-CN" sz="2800" b="0" i="1" smtClean="0">
                              <a:latin typeface="Cambria Math" panose="02040503050406030204" pitchFamily="18" charset="0"/>
                            </a:rPr>
                            <m:t>𝜃</m:t>
                          </m:r>
                        </m:sub>
                      </m:sSub>
                      <m:d>
                        <m:dPr>
                          <m:ctrlPr>
                            <a:rPr lang="en-US" altLang="zh-CN" sz="2800" b="0" i="1" smtClean="0">
                              <a:latin typeface="Cambria Math" panose="02040503050406030204" pitchFamily="18" charset="0"/>
                            </a:rPr>
                          </m:ctrlPr>
                        </m:dPr>
                        <m:e>
                          <m:r>
                            <a:rPr lang="en-US" altLang="zh-CN" sz="2800" b="0" i="1" smtClean="0">
                              <a:latin typeface="Cambria Math" panose="02040503050406030204" pitchFamily="18" charset="0"/>
                            </a:rPr>
                            <m:t>𝑥</m:t>
                          </m:r>
                        </m:e>
                      </m:d>
                      <m:r>
                        <a:rPr lang="en-US" altLang="zh-CN" sz="2800" b="0" i="1" smtClean="0">
                          <a:latin typeface="Cambria Math" panose="02040503050406030204" pitchFamily="18" charset="0"/>
                        </a:rPr>
                        <m:t>=</m:t>
                      </m:r>
                      <m:f>
                        <m:fPr>
                          <m:ctrlPr>
                            <a:rPr lang="en-US" altLang="zh-CN" sz="2800" b="0" i="1" smtClean="0">
                              <a:solidFill>
                                <a:schemeClr val="bg2"/>
                              </a:solidFill>
                              <a:latin typeface="Cambria Math" panose="02040503050406030204" pitchFamily="18" charset="0"/>
                            </a:rPr>
                          </m:ctrlPr>
                        </m:fPr>
                        <m:num>
                          <m:r>
                            <a:rPr lang="en-US" altLang="zh-CN" sz="2800" b="0" i="1" smtClean="0">
                              <a:solidFill>
                                <a:schemeClr val="bg2"/>
                              </a:solidFill>
                              <a:latin typeface="Cambria Math" panose="02040503050406030204" pitchFamily="18" charset="0"/>
                            </a:rPr>
                            <m:t>1</m:t>
                          </m:r>
                        </m:num>
                        <m:den>
                          <m:r>
                            <a:rPr lang="en-US" altLang="zh-CN" sz="2800" b="0" i="1" smtClean="0">
                              <a:solidFill>
                                <a:schemeClr val="bg2"/>
                              </a:solidFill>
                              <a:latin typeface="Cambria Math" panose="02040503050406030204" pitchFamily="18" charset="0"/>
                            </a:rPr>
                            <m:t>𝑚</m:t>
                          </m:r>
                        </m:den>
                      </m:f>
                      <m:nary>
                        <m:naryPr>
                          <m:chr m:val="∑"/>
                          <m:ctrlPr>
                            <a:rPr lang="en-US" altLang="zh-CN" sz="2800" b="0" i="1" smtClean="0">
                              <a:solidFill>
                                <a:schemeClr val="bg2"/>
                              </a:solidFill>
                              <a:latin typeface="Cambria Math" panose="02040503050406030204" pitchFamily="18" charset="0"/>
                            </a:rPr>
                          </m:ctrlPr>
                        </m:naryPr>
                        <m:sub>
                          <m:r>
                            <m:rPr>
                              <m:brk m:alnAt="23"/>
                            </m:rPr>
                            <a:rPr lang="en-US" altLang="zh-CN" sz="2800" b="0" i="1" smtClean="0">
                              <a:solidFill>
                                <a:schemeClr val="bg2"/>
                              </a:solidFill>
                              <a:latin typeface="Cambria Math" panose="02040503050406030204" pitchFamily="18" charset="0"/>
                            </a:rPr>
                            <m:t>𝑗</m:t>
                          </m:r>
                          <m:r>
                            <a:rPr lang="en-US" altLang="zh-CN" sz="2800" b="0" i="1" smtClean="0">
                              <a:solidFill>
                                <a:schemeClr val="bg2"/>
                              </a:solidFill>
                              <a:latin typeface="Cambria Math" panose="02040503050406030204" pitchFamily="18" charset="0"/>
                            </a:rPr>
                            <m:t>=1</m:t>
                          </m:r>
                        </m:sub>
                        <m:sup>
                          <m:r>
                            <a:rPr lang="en-US" altLang="zh-CN" sz="2800" b="0" i="1" smtClean="0">
                              <a:solidFill>
                                <a:schemeClr val="bg2"/>
                              </a:solidFill>
                              <a:latin typeface="Cambria Math" panose="02040503050406030204" pitchFamily="18" charset="0"/>
                            </a:rPr>
                            <m:t>𝑚</m:t>
                          </m:r>
                        </m:sup>
                        <m:e>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𝑎</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𝜎</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𝑤</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𝑥</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𝑏</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m:t>
                          </m:r>
                        </m:e>
                      </m:nary>
                    </m:oMath>
                  </m:oMathPara>
                </a14:m>
                <a:endParaRPr lang="zh-CN" altLang="en-US" sz="2800" dirty="0"/>
              </a:p>
            </p:txBody>
          </p:sp>
        </mc:Choice>
        <mc:Fallback xmlns="">
          <p:sp>
            <p:nvSpPr>
              <p:cNvPr id="18" name="文本框 17">
                <a:extLst>
                  <a:ext uri="{FF2B5EF4-FFF2-40B4-BE49-F238E27FC236}">
                    <a16:creationId xmlns:a16="http://schemas.microsoft.com/office/drawing/2014/main" id="{F4804C46-DB1F-9C51-574C-8CFEB7AEC7DE}"/>
                  </a:ext>
                </a:extLst>
              </p:cNvPr>
              <p:cNvSpPr txBox="1">
                <a:spLocks noRot="1" noChangeAspect="1" noMove="1" noResize="1" noEditPoints="1" noAdjustHandles="1" noChangeArrowheads="1" noChangeShapeType="1" noTextEdit="1"/>
              </p:cNvSpPr>
              <p:nvPr/>
            </p:nvSpPr>
            <p:spPr>
              <a:xfrm>
                <a:off x="3304081" y="2237271"/>
                <a:ext cx="6096000" cy="1317348"/>
              </a:xfrm>
              <a:prstGeom prst="rect">
                <a:avLst/>
              </a:prstGeom>
              <a:blipFill>
                <a:blip r:embed="rId3"/>
                <a:stretch>
                  <a:fillRect/>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67838B9A-1BA5-2BC7-575C-4D1089E49A11}"/>
              </a:ext>
            </a:extLst>
          </p:cNvPr>
          <p:cNvSpPr txBox="1"/>
          <p:nvPr/>
        </p:nvSpPr>
        <p:spPr>
          <a:xfrm>
            <a:off x="2054952" y="3923955"/>
            <a:ext cx="9495844" cy="523220"/>
          </a:xfrm>
          <a:prstGeom prst="rect">
            <a:avLst/>
          </a:prstGeom>
          <a:noFill/>
        </p:spPr>
        <p:txBody>
          <a:bodyPr wrap="square">
            <a:spAutoFit/>
          </a:bodyPr>
          <a:lstStyle/>
          <a:p>
            <a:r>
              <a:rPr lang="zh-CN" altLang="en-US" sz="2800" b="0" i="0" dirty="0">
                <a:solidFill>
                  <a:srgbClr val="000000"/>
                </a:solidFill>
                <a:effectLst/>
                <a:latin typeface="FandolSong-Regular-Identity-H"/>
              </a:rPr>
              <a:t>这个形式类似于对 </a:t>
            </a:r>
            <a:r>
              <a:rPr lang="en-US" altLang="zh-CN" sz="2800" b="0" i="1" dirty="0">
                <a:solidFill>
                  <a:srgbClr val="000000"/>
                </a:solidFill>
                <a:effectLst/>
                <a:latin typeface="CMMI10"/>
              </a:rPr>
              <a:t>m </a:t>
            </a:r>
            <a:r>
              <a:rPr lang="zh-CN" altLang="en-US" sz="2800" b="0" i="0" dirty="0">
                <a:solidFill>
                  <a:srgbClr val="000000"/>
                </a:solidFill>
                <a:effectLst/>
                <a:latin typeface="FandolSong-Regular-Identity-H"/>
              </a:rPr>
              <a:t>个函数做加权平均来逼近目标函数</a:t>
            </a:r>
            <a:r>
              <a:rPr lang="zh-CN" altLang="en-US" sz="2800" dirty="0"/>
              <a:t> </a:t>
            </a:r>
          </a:p>
        </p:txBody>
      </p:sp>
      <p:sp>
        <p:nvSpPr>
          <p:cNvPr id="5" name="文本框 4">
            <a:extLst>
              <a:ext uri="{FF2B5EF4-FFF2-40B4-BE49-F238E27FC236}">
                <a16:creationId xmlns:a16="http://schemas.microsoft.com/office/drawing/2014/main" id="{D818B802-5647-364D-3633-A37C01DEF3E2}"/>
              </a:ext>
            </a:extLst>
          </p:cNvPr>
          <p:cNvSpPr txBox="1"/>
          <p:nvPr/>
        </p:nvSpPr>
        <p:spPr>
          <a:xfrm>
            <a:off x="1466907" y="1825653"/>
            <a:ext cx="6096000" cy="369332"/>
          </a:xfrm>
          <a:prstGeom prst="rect">
            <a:avLst/>
          </a:prstGeom>
          <a:noFill/>
        </p:spPr>
        <p:txBody>
          <a:bodyPr wrap="square">
            <a:spAutoFit/>
          </a:bodyPr>
          <a:lstStyle/>
          <a:p>
            <a:r>
              <a:rPr lang="zh-CN" altLang="en-US" dirty="0">
                <a:solidFill>
                  <a:srgbClr val="000000"/>
                </a:solidFill>
                <a:latin typeface="FandolSong-Regular-Identity-H"/>
              </a:rPr>
              <a:t>两层网络前面配一个系数</a:t>
            </a:r>
            <a:endParaRPr lang="zh-CN" altLang="en-US" dirty="0"/>
          </a:p>
        </p:txBody>
      </p:sp>
      <p:sp>
        <p:nvSpPr>
          <p:cNvPr id="10" name="文本框 9">
            <a:extLst>
              <a:ext uri="{FF2B5EF4-FFF2-40B4-BE49-F238E27FC236}">
                <a16:creationId xmlns:a16="http://schemas.microsoft.com/office/drawing/2014/main" id="{EC5353B4-6AE0-F961-F71B-9EEC2EF801A0}"/>
              </a:ext>
            </a:extLst>
          </p:cNvPr>
          <p:cNvSpPr txBox="1"/>
          <p:nvPr/>
        </p:nvSpPr>
        <p:spPr>
          <a:xfrm>
            <a:off x="2964264" y="5036047"/>
            <a:ext cx="6933361" cy="523220"/>
          </a:xfrm>
          <a:prstGeom prst="rect">
            <a:avLst/>
          </a:prstGeom>
          <a:noFill/>
        </p:spPr>
        <p:txBody>
          <a:bodyPr wrap="square">
            <a:spAutoFit/>
          </a:bodyPr>
          <a:lstStyle/>
          <a:p>
            <a:r>
              <a:rPr lang="en-US" altLang="zh-CN" sz="2800" b="1" dirty="0"/>
              <a:t>Monte-Carlo </a:t>
            </a:r>
            <a:r>
              <a:rPr lang="zh-CN" altLang="en-US" sz="2800" b="1" dirty="0"/>
              <a:t>采样的误差没有维数灾难！</a:t>
            </a:r>
            <a:r>
              <a:rPr lang="zh-CN" altLang="en-US" sz="2800" dirty="0"/>
              <a:t> </a:t>
            </a:r>
          </a:p>
        </p:txBody>
      </p:sp>
    </p:spTree>
    <p:extLst>
      <p:ext uri="{BB962C8B-B14F-4D97-AF65-F5344CB8AC3E}">
        <p14:creationId xmlns:p14="http://schemas.microsoft.com/office/powerpoint/2010/main" val="7897004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DEE15-F58C-CBAB-F783-234EBCC2A07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72EABA7-40CF-9E12-2649-2188C7432872}"/>
              </a:ext>
            </a:extLst>
          </p:cNvPr>
          <p:cNvSpPr>
            <a:spLocks noGrp="1"/>
          </p:cNvSpPr>
          <p:nvPr>
            <p:ph type="title"/>
          </p:nvPr>
        </p:nvSpPr>
        <p:spPr/>
        <p:txBody>
          <a:bodyPr/>
          <a:lstStyle/>
          <a:p>
            <a:r>
              <a:rPr lang="zh-CN" altLang="en-US" dirty="0"/>
              <a:t>神经网络克服维数灾难的理解*</a:t>
            </a:r>
          </a:p>
        </p:txBody>
      </p:sp>
      <p:pic>
        <p:nvPicPr>
          <p:cNvPr id="4" name="图片 3">
            <a:extLst>
              <a:ext uri="{FF2B5EF4-FFF2-40B4-BE49-F238E27FC236}">
                <a16:creationId xmlns:a16="http://schemas.microsoft.com/office/drawing/2014/main" id="{DCE82B5E-A04E-0716-AB2B-E0699D1E95EB}"/>
              </a:ext>
            </a:extLst>
          </p:cNvPr>
          <p:cNvPicPr>
            <a:picLocks noChangeAspect="1"/>
          </p:cNvPicPr>
          <p:nvPr/>
        </p:nvPicPr>
        <p:blipFill>
          <a:blip r:embed="rId2"/>
          <a:stretch>
            <a:fillRect/>
          </a:stretch>
        </p:blipFill>
        <p:spPr>
          <a:xfrm>
            <a:off x="381242" y="2233802"/>
            <a:ext cx="9883337" cy="2391268"/>
          </a:xfrm>
          <a:prstGeom prst="rect">
            <a:avLst/>
          </a:prstGeom>
        </p:spPr>
      </p:pic>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76F13B51-6A48-4C6A-7AE9-DAD457C27FA7}"/>
                  </a:ext>
                </a:extLst>
              </p:cNvPr>
              <p:cNvSpPr txBox="1"/>
              <p:nvPr/>
            </p:nvSpPr>
            <p:spPr>
              <a:xfrm>
                <a:off x="590699" y="4564943"/>
                <a:ext cx="11220059" cy="1525674"/>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宽度为 </a:t>
                </a:r>
                <a:r>
                  <a:rPr lang="en" altLang="zh-CN" sz="1800" dirty="0">
                    <a:solidFill>
                      <a:srgbClr val="000000"/>
                    </a:solidFill>
                    <a:effectLst/>
                    <a:latin typeface="Microsoft YaHei" panose="020B0503020204020204" pitchFamily="34" charset="-122"/>
                    <a:ea typeface="Microsoft YaHei" panose="020B0503020204020204" pitchFamily="34" charset="-122"/>
                  </a:rPr>
                  <a:t>m </a:t>
                </a:r>
                <a:r>
                  <a:rPr lang="zh-CN" altLang="en-US" sz="1800" dirty="0">
                    <a:solidFill>
                      <a:srgbClr val="000000"/>
                    </a:solidFill>
                    <a:effectLst/>
                    <a:latin typeface="Microsoft YaHei" panose="020B0503020204020204" pitchFamily="34" charset="-122"/>
                    <a:ea typeface="Microsoft YaHei" panose="020B0503020204020204" pitchFamily="34" charset="-122"/>
                  </a:rPr>
                  <a:t>的两层神经网络能以 </a:t>
                </a:r>
                <a14:m>
                  <m:oMath xmlns:m="http://schemas.openxmlformats.org/officeDocument/2006/math">
                    <m:r>
                      <a:rPr lang="en-US" altLang="zh-CN" sz="1800" b="1" i="1" smtClean="0">
                        <a:solidFill>
                          <a:srgbClr val="000000"/>
                        </a:solidFill>
                        <a:effectLst/>
                        <a:latin typeface="Cambria Math" panose="02040503050406030204" pitchFamily="18" charset="0"/>
                        <a:ea typeface="Microsoft YaHei" panose="020B0503020204020204" pitchFamily="34" charset="-122"/>
                      </a:rPr>
                      <m:t>𝑶</m:t>
                    </m:r>
                    <m:r>
                      <a:rPr lang="en-US" altLang="zh-CN" sz="1800" b="1" i="1" smtClean="0">
                        <a:solidFill>
                          <a:srgbClr val="000000"/>
                        </a:solidFill>
                        <a:effectLst/>
                        <a:latin typeface="Cambria Math" panose="02040503050406030204" pitchFamily="18" charset="0"/>
                        <a:ea typeface="Microsoft YaHei" panose="020B0503020204020204" pitchFamily="34" charset="-122"/>
                      </a:rPr>
                      <m:t>(</m:t>
                    </m:r>
                    <m:f>
                      <m:fPr>
                        <m:ctrlPr>
                          <a:rPr lang="en-US" altLang="zh-CN" sz="1800" b="1" i="1" smtClean="0">
                            <a:solidFill>
                              <a:srgbClr val="000000"/>
                            </a:solidFill>
                            <a:effectLst/>
                            <a:latin typeface="Cambria Math" panose="02040503050406030204" pitchFamily="18" charset="0"/>
                            <a:ea typeface="Microsoft YaHei" panose="020B0503020204020204" pitchFamily="34" charset="-122"/>
                          </a:rPr>
                        </m:ctrlPr>
                      </m:fPr>
                      <m:num>
                        <m:r>
                          <a:rPr lang="en-US" altLang="zh-CN" sz="1800" b="1" i="1" smtClean="0">
                            <a:solidFill>
                              <a:srgbClr val="000000"/>
                            </a:solidFill>
                            <a:effectLst/>
                            <a:latin typeface="Cambria Math" panose="02040503050406030204" pitchFamily="18" charset="0"/>
                            <a:ea typeface="Microsoft YaHei" panose="020B0503020204020204" pitchFamily="34" charset="-122"/>
                          </a:rPr>
                          <m:t>𝟏</m:t>
                        </m:r>
                      </m:num>
                      <m:den>
                        <m:r>
                          <a:rPr lang="en-US" altLang="zh-CN" sz="1800" b="1" i="1" smtClean="0">
                            <a:solidFill>
                              <a:srgbClr val="000000"/>
                            </a:solidFill>
                            <a:effectLst/>
                            <a:latin typeface="Cambria Math" panose="02040503050406030204" pitchFamily="18" charset="0"/>
                            <a:ea typeface="Microsoft YaHei" panose="020B0503020204020204" pitchFamily="34" charset="-122"/>
                          </a:rPr>
                          <m:t>√</m:t>
                        </m:r>
                        <m:r>
                          <a:rPr lang="en-US" altLang="zh-CN" sz="1800" b="1" i="1" smtClean="0">
                            <a:solidFill>
                              <a:srgbClr val="000000"/>
                            </a:solidFill>
                            <a:effectLst/>
                            <a:latin typeface="Cambria Math" panose="02040503050406030204" pitchFamily="18" charset="0"/>
                            <a:ea typeface="Microsoft YaHei" panose="020B0503020204020204" pitchFamily="34" charset="-122"/>
                          </a:rPr>
                          <m:t>𝒎</m:t>
                        </m:r>
                      </m:den>
                    </m:f>
                    <m:r>
                      <a:rPr lang="en-US" altLang="zh-CN" sz="1800" b="1" i="1" smtClean="0">
                        <a:solidFill>
                          <a:srgbClr val="000000"/>
                        </a:solidFill>
                        <a:effectLst/>
                        <a:latin typeface="Cambria Math" panose="02040503050406030204" pitchFamily="18" charset="0"/>
                        <a:ea typeface="Microsoft YaHei" panose="020B0503020204020204" pitchFamily="34" charset="-122"/>
                      </a:rPr>
                      <m:t>)</m:t>
                    </m:r>
                  </m:oMath>
                </a14:m>
                <a:r>
                  <a:rPr lang="en"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的收敛速度逼近任意 </a:t>
                </a:r>
                <a:r>
                  <a:rPr lang="en-US" altLang="zh-CN" sz="1800" dirty="0">
                    <a:solidFill>
                      <a:srgbClr val="000000"/>
                    </a:solidFill>
                    <a:effectLst/>
                    <a:latin typeface="Microsoft YaHei" panose="020B0503020204020204" pitchFamily="34" charset="-122"/>
                    <a:ea typeface="Microsoft YaHei" panose="020B0503020204020204" pitchFamily="34" charset="-122"/>
                  </a:rPr>
                  <a:t>Barron</a:t>
                </a:r>
                <a:r>
                  <a:rPr lang="zh-CN" altLang="en-US" sz="1800" dirty="0">
                    <a:solidFill>
                      <a:srgbClr val="000000"/>
                    </a:solidFill>
                    <a:effectLst/>
                    <a:latin typeface="Microsoft YaHei" panose="020B0503020204020204" pitchFamily="34" charset="-122"/>
                    <a:ea typeface="Microsoft YaHei" panose="020B0503020204020204" pitchFamily="34" charset="-122"/>
                  </a:rPr>
                  <a:t> 空间的函数</a:t>
                </a:r>
                <a:r>
                  <a:rPr lang="en" altLang="zh-CN" sz="1800" dirty="0">
                    <a:solidFill>
                      <a:srgbClr val="000000"/>
                    </a:solidFill>
                    <a:effectLst/>
                    <a:latin typeface="Microsoft YaHei" panose="020B0503020204020204" pitchFamily="34" charset="-122"/>
                    <a:ea typeface="Microsoft YaHei" panose="020B0503020204020204" pitchFamily="34" charset="-122"/>
                  </a:rPr>
                  <a:t> </a:t>
                </a:r>
                <a:endParaRPr lang="en" altLang="zh-CN"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且所构造的网络参数在路径范数意义下是有界的。</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b="1" dirty="0">
                    <a:solidFill>
                      <a:srgbClr val="C00000"/>
                    </a:solidFill>
                    <a:effectLst/>
                    <a:latin typeface="Microsoft YaHei" panose="020B0503020204020204" pitchFamily="34" charset="-122"/>
                    <a:ea typeface="Microsoft YaHei" panose="020B0503020204020204" pitchFamily="34" charset="-122"/>
                  </a:rPr>
                  <a:t>特别地</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这里的逼近阶与输入维数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无关</a:t>
                </a:r>
                <a:r>
                  <a:rPr lang="en-US" altLang="zh-CN" b="1" dirty="0">
                    <a:solidFill>
                      <a:srgbClr val="C00000"/>
                    </a:solidFill>
                    <a:latin typeface="Microsoft YaHei" panose="020B0503020204020204" pitchFamily="34" charset="-122"/>
                    <a:ea typeface="Microsoft YaHei" panose="020B0503020204020204" pitchFamily="34" charset="-122"/>
                  </a:rPr>
                  <a:t>——</a:t>
                </a:r>
                <a:r>
                  <a:rPr lang="zh-CN" altLang="en-US" sz="1800" b="1" dirty="0">
                    <a:solidFill>
                      <a:srgbClr val="C00000"/>
                    </a:solidFill>
                    <a:effectLst/>
                    <a:latin typeface="Microsoft YaHei" panose="020B0503020204020204" pitchFamily="34" charset="-122"/>
                    <a:ea typeface="Microsoft YaHei" panose="020B0503020204020204" pitchFamily="34" charset="-122"/>
                  </a:rPr>
                  <a:t>克服维数灾难</a:t>
                </a:r>
                <a:r>
                  <a:rPr lang="zh-CN" altLang="en-US" b="1" dirty="0">
                    <a:solidFill>
                      <a:srgbClr val="C00000"/>
                    </a:solidFill>
                    <a:latin typeface="Microsoft YaHei" panose="020B0503020204020204" pitchFamily="34" charset="-122"/>
                    <a:ea typeface="Microsoft YaHei" panose="020B0503020204020204" pitchFamily="34" charset="-122"/>
                  </a:rPr>
                  <a:t>！</a:t>
                </a:r>
                <a:r>
                  <a:rPr lang="zh-CN" altLang="en-US" sz="1800" b="1" dirty="0">
                    <a:solidFill>
                      <a:srgbClr val="C00000"/>
                    </a:solidFill>
                    <a:effectLst/>
                    <a:latin typeface="Microsoft YaHei" panose="020B0503020204020204" pitchFamily="34" charset="-122"/>
                    <a:ea typeface="Microsoft YaHei" panose="020B0503020204020204" pitchFamily="34" charset="-122"/>
                  </a:rPr>
                  <a:t> </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mc:Choice>
        <mc:Fallback xmlns="">
          <p:sp>
            <p:nvSpPr>
              <p:cNvPr id="5" name="文本框 4">
                <a:extLst>
                  <a:ext uri="{FF2B5EF4-FFF2-40B4-BE49-F238E27FC236}">
                    <a16:creationId xmlns:a16="http://schemas.microsoft.com/office/drawing/2014/main" id="{76F13B51-6A48-4C6A-7AE9-DAD457C27FA7}"/>
                  </a:ext>
                </a:extLst>
              </p:cNvPr>
              <p:cNvSpPr txBox="1">
                <a:spLocks noRot="1" noChangeAspect="1" noMove="1" noResize="1" noEditPoints="1" noAdjustHandles="1" noChangeArrowheads="1" noChangeShapeType="1" noTextEdit="1"/>
              </p:cNvSpPr>
              <p:nvPr/>
            </p:nvSpPr>
            <p:spPr>
              <a:xfrm>
                <a:off x="590699" y="4564943"/>
                <a:ext cx="11220059" cy="1525674"/>
              </a:xfrm>
              <a:prstGeom prst="rect">
                <a:avLst/>
              </a:prstGeom>
              <a:blipFill>
                <a:blip r:embed="rId3"/>
                <a:stretch>
                  <a:fillRect l="-339" b="-2479"/>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E0BB3EFA-A20F-F7B5-09BE-55253A3C38CC}"/>
              </a:ext>
            </a:extLst>
          </p:cNvPr>
          <p:cNvSpPr txBox="1"/>
          <p:nvPr/>
        </p:nvSpPr>
        <p:spPr>
          <a:xfrm>
            <a:off x="83127" y="6358530"/>
            <a:ext cx="9666514" cy="523220"/>
          </a:xfrm>
          <a:prstGeom prst="rect">
            <a:avLst/>
          </a:prstGeom>
          <a:noFill/>
        </p:spPr>
        <p:txBody>
          <a:bodyPr wrap="square" rtlCol="0">
            <a:spAutoFit/>
          </a:bodyPr>
          <a:lstStyle/>
          <a:p>
            <a:r>
              <a:rPr lang="en" altLang="zh-CN" sz="1400" dirty="0">
                <a:solidFill>
                  <a:schemeClr val="bg1"/>
                </a:solidFill>
                <a:effectLst/>
                <a:latin typeface="Times New Roman" panose="02020603050405020304" pitchFamily="18" charset="0"/>
                <a:cs typeface="Times New Roman" panose="02020603050405020304" pitchFamily="18" charset="0"/>
              </a:rPr>
              <a:t>E, W., Ma, C. &amp; Wu, L. (2019), ‘Barron spaces and the compositional function spaces for</a:t>
            </a:r>
            <a:r>
              <a:rPr lang="zh-CN" altLang="en-US" sz="1400" dirty="0">
                <a:solidFill>
                  <a:schemeClr val="bg1"/>
                </a:solidFill>
                <a:effectLst/>
                <a:latin typeface="Times New Roman" panose="02020603050405020304" pitchFamily="18" charset="0"/>
                <a:cs typeface="Times New Roman" panose="02020603050405020304" pitchFamily="18" charset="0"/>
              </a:rPr>
              <a:t> </a:t>
            </a:r>
            <a:r>
              <a:rPr lang="en" altLang="zh-CN" sz="1400" dirty="0">
                <a:solidFill>
                  <a:schemeClr val="bg1"/>
                </a:solidFill>
                <a:effectLst/>
                <a:latin typeface="Times New Roman" panose="02020603050405020304" pitchFamily="18" charset="0"/>
                <a:cs typeface="Times New Roman" panose="02020603050405020304" pitchFamily="18" charset="0"/>
              </a:rPr>
              <a:t>neural network models’, arXiv preprint arXiv:1906.08039.</a:t>
            </a:r>
          </a:p>
        </p:txBody>
      </p:sp>
      <p:pic>
        <p:nvPicPr>
          <p:cNvPr id="9" name="图片 8">
            <a:extLst>
              <a:ext uri="{FF2B5EF4-FFF2-40B4-BE49-F238E27FC236}">
                <a16:creationId xmlns:a16="http://schemas.microsoft.com/office/drawing/2014/main" id="{CCC06157-0574-714C-C71C-B023D5212A22}"/>
              </a:ext>
            </a:extLst>
          </p:cNvPr>
          <p:cNvPicPr>
            <a:picLocks noChangeAspect="1"/>
          </p:cNvPicPr>
          <p:nvPr/>
        </p:nvPicPr>
        <p:blipFill>
          <a:blip r:embed="rId4"/>
          <a:stretch>
            <a:fillRect/>
          </a:stretch>
        </p:blipFill>
        <p:spPr>
          <a:xfrm>
            <a:off x="254871" y="862599"/>
            <a:ext cx="7772400" cy="1072350"/>
          </a:xfrm>
          <a:prstGeom prst="rect">
            <a:avLst/>
          </a:prstGeom>
        </p:spPr>
      </p:pic>
      <p:pic>
        <p:nvPicPr>
          <p:cNvPr id="10" name="图片 9">
            <a:extLst>
              <a:ext uri="{FF2B5EF4-FFF2-40B4-BE49-F238E27FC236}">
                <a16:creationId xmlns:a16="http://schemas.microsoft.com/office/drawing/2014/main" id="{82210D9E-BB09-F220-F883-AAB07824DE2F}"/>
              </a:ext>
            </a:extLst>
          </p:cNvPr>
          <p:cNvPicPr>
            <a:picLocks noChangeAspect="1"/>
          </p:cNvPicPr>
          <p:nvPr/>
        </p:nvPicPr>
        <p:blipFill>
          <a:blip r:embed="rId5"/>
          <a:stretch>
            <a:fillRect/>
          </a:stretch>
        </p:blipFill>
        <p:spPr>
          <a:xfrm>
            <a:off x="8371085" y="1033400"/>
            <a:ext cx="3812227" cy="716584"/>
          </a:xfrm>
          <a:prstGeom prst="rect">
            <a:avLst/>
          </a:prstGeom>
        </p:spPr>
      </p:pic>
      <p:pic>
        <p:nvPicPr>
          <p:cNvPr id="2" name="图片 1">
            <a:extLst>
              <a:ext uri="{FF2B5EF4-FFF2-40B4-BE49-F238E27FC236}">
                <a16:creationId xmlns:a16="http://schemas.microsoft.com/office/drawing/2014/main" id="{2166F6E0-5D46-0D38-F6FB-2F2EBC2EBEB7}"/>
              </a:ext>
            </a:extLst>
          </p:cNvPr>
          <p:cNvPicPr>
            <a:picLocks noChangeAspect="1"/>
          </p:cNvPicPr>
          <p:nvPr/>
        </p:nvPicPr>
        <p:blipFill>
          <a:blip r:embed="rId6"/>
          <a:stretch>
            <a:fillRect/>
          </a:stretch>
        </p:blipFill>
        <p:spPr>
          <a:xfrm>
            <a:off x="6578723" y="1391692"/>
            <a:ext cx="1333500" cy="643877"/>
          </a:xfrm>
          <a:prstGeom prst="rect">
            <a:avLst/>
          </a:prstGeom>
        </p:spPr>
      </p:pic>
      <p:sp>
        <p:nvSpPr>
          <p:cNvPr id="6" name="文本框 5">
            <a:extLst>
              <a:ext uri="{FF2B5EF4-FFF2-40B4-BE49-F238E27FC236}">
                <a16:creationId xmlns:a16="http://schemas.microsoft.com/office/drawing/2014/main" id="{38DC0B96-B178-827B-005E-58E04F128843}"/>
              </a:ext>
            </a:extLst>
          </p:cNvPr>
          <p:cNvSpPr txBox="1"/>
          <p:nvPr/>
        </p:nvSpPr>
        <p:spPr>
          <a:xfrm>
            <a:off x="6318736" y="1252117"/>
            <a:ext cx="2134410" cy="338554"/>
          </a:xfrm>
          <a:prstGeom prst="rect">
            <a:avLst/>
          </a:prstGeom>
          <a:noFill/>
        </p:spPr>
        <p:txBody>
          <a:bodyPr wrap="square" rtlCol="0">
            <a:spAutoFit/>
          </a:bodyPr>
          <a:lstStyle/>
          <a:p>
            <a:pPr algn="l"/>
            <a:r>
              <a:rPr kumimoji="1" lang="zh-CN" altLang="en-US" sz="1600" dirty="0">
                <a:latin typeface="SimSun" panose="02010600030101010101" pitchFamily="2" charset="-122"/>
                <a:ea typeface="SimSun" panose="02010600030101010101" pitchFamily="2" charset="-122"/>
              </a:rPr>
              <a:t>并且 </a:t>
            </a:r>
            <a:r>
              <a:rPr kumimoji="1" lang="en-US" altLang="zh-CN" sz="1600" dirty="0">
                <a:latin typeface="SimSun" panose="02010600030101010101" pitchFamily="2" charset="-122"/>
                <a:ea typeface="SimSun" panose="02010600030101010101" pitchFamily="2" charset="-122"/>
              </a:rPr>
              <a:t>Barron</a:t>
            </a:r>
            <a:r>
              <a:rPr kumimoji="1" lang="zh-CN" altLang="en-US" sz="1600" dirty="0">
                <a:latin typeface="SimSun" panose="02010600030101010101" pitchFamily="2" charset="-122"/>
                <a:ea typeface="SimSun" panose="02010600030101010101" pitchFamily="2" charset="-122"/>
              </a:rPr>
              <a:t>范数有限：</a:t>
            </a:r>
          </a:p>
        </p:txBody>
      </p:sp>
      <p:pic>
        <p:nvPicPr>
          <p:cNvPr id="8" name="图片 7">
            <a:extLst>
              <a:ext uri="{FF2B5EF4-FFF2-40B4-BE49-F238E27FC236}">
                <a16:creationId xmlns:a16="http://schemas.microsoft.com/office/drawing/2014/main" id="{3190C5D6-A34D-4FD3-D147-DB779E010DA0}"/>
              </a:ext>
            </a:extLst>
          </p:cNvPr>
          <p:cNvPicPr>
            <a:picLocks noChangeAspect="1"/>
          </p:cNvPicPr>
          <p:nvPr/>
        </p:nvPicPr>
        <p:blipFill>
          <a:blip r:embed="rId7"/>
          <a:stretch>
            <a:fillRect/>
          </a:stretch>
        </p:blipFill>
        <p:spPr>
          <a:xfrm>
            <a:off x="9395946" y="2326673"/>
            <a:ext cx="2694452" cy="701188"/>
          </a:xfrm>
          <a:prstGeom prst="rect">
            <a:avLst/>
          </a:prstGeom>
        </p:spPr>
      </p:pic>
      <p:sp>
        <p:nvSpPr>
          <p:cNvPr id="11" name="椭圆形标注 17">
            <a:extLst>
              <a:ext uri="{FF2B5EF4-FFF2-40B4-BE49-F238E27FC236}">
                <a16:creationId xmlns:a16="http://schemas.microsoft.com/office/drawing/2014/main" id="{09085958-C86D-3A6E-82E8-FE9EF09EA3F3}"/>
              </a:ext>
            </a:extLst>
          </p:cNvPr>
          <p:cNvSpPr/>
          <p:nvPr/>
        </p:nvSpPr>
        <p:spPr>
          <a:xfrm>
            <a:off x="9105970" y="1829227"/>
            <a:ext cx="3077342" cy="510298"/>
          </a:xfrm>
          <a:prstGeom prst="wedgeEllipseCallout">
            <a:avLst>
              <a:gd name="adj1" fmla="val -162222"/>
              <a:gd name="adj2" fmla="val -4522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蒙特卡洛离散表示</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1709495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40EB3-9528-B3DC-B6C3-EB19B8697EA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D994D5-BC76-30A9-878A-E0426E9879B3}"/>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BA3C043E-7AEB-1289-03F4-431245F6DE9E}"/>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CF97212E-48DF-D761-161D-421FA29697A1}"/>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B7CD0C2C-4481-C19F-6BEF-465CCCCAEEDD}"/>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64F76F5B-F16C-C2B3-A091-04541C6070E6}"/>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29684404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5130E-07D1-F7E5-5095-3C1EC47B568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6ED59BD-FA2F-EF6C-BFF2-91ACF3198558}"/>
              </a:ext>
            </a:extLst>
          </p:cNvPr>
          <p:cNvSpPr>
            <a:spLocks noGrp="1"/>
          </p:cNvSpPr>
          <p:nvPr>
            <p:ph type="title"/>
          </p:nvPr>
        </p:nvSpPr>
        <p:spPr/>
        <p:txBody>
          <a:bodyPr/>
          <a:lstStyle/>
          <a:p>
            <a:r>
              <a:rPr lang="zh-CN" altLang="en-US" dirty="0"/>
              <a:t>内容小结</a:t>
            </a:r>
          </a:p>
        </p:txBody>
      </p:sp>
      <p:sp>
        <p:nvSpPr>
          <p:cNvPr id="4" name="文本框 3">
            <a:extLst>
              <a:ext uri="{FF2B5EF4-FFF2-40B4-BE49-F238E27FC236}">
                <a16:creationId xmlns:a16="http://schemas.microsoft.com/office/drawing/2014/main" id="{2D31FC1A-9618-F6D9-A66A-B9F69A327B8B}"/>
              </a:ext>
            </a:extLst>
          </p:cNvPr>
          <p:cNvSpPr txBox="1"/>
          <p:nvPr/>
        </p:nvSpPr>
        <p:spPr>
          <a:xfrm>
            <a:off x="236861" y="958576"/>
            <a:ext cx="11818779" cy="5013039"/>
          </a:xfrm>
          <a:prstGeom prst="rect">
            <a:avLst/>
          </a:prstGeom>
          <a:noFill/>
        </p:spPr>
        <p:txBody>
          <a:bodyPr wrap="square" rtlCol="0">
            <a:spAutoFit/>
          </a:bodyPr>
          <a:lstStyle/>
          <a:p>
            <a:pPr>
              <a:lnSpc>
                <a:spcPct val="150000"/>
              </a:lnSpc>
            </a:pPr>
            <a:r>
              <a:rPr lang="en-US" altLang="zh-CN" sz="2400" b="1" dirty="0">
                <a:solidFill>
                  <a:srgbClr val="000000"/>
                </a:solidFill>
                <a:effectLst/>
                <a:latin typeface="Microsoft YaHei" panose="020B0503020204020204" pitchFamily="34" charset="-122"/>
                <a:ea typeface="Microsoft YaHei" panose="020B0503020204020204" pitchFamily="34" charset="-122"/>
              </a:rPr>
              <a:t>1.</a:t>
            </a:r>
            <a:r>
              <a:rPr lang="zh-CN" altLang="en-US" sz="2400" b="1" dirty="0">
                <a:solidFill>
                  <a:srgbClr val="000000"/>
                </a:solidFill>
                <a:effectLst/>
                <a:latin typeface="Microsoft YaHei" panose="020B0503020204020204" pitchFamily="34" charset="-122"/>
                <a:ea typeface="Microsoft YaHei" panose="020B0503020204020204" pitchFamily="34" charset="-122"/>
              </a:rPr>
              <a:t> 高维空间（相对低维空间）有一些反直觉的特性：</a:t>
            </a:r>
            <a:endParaRPr lang="en-US" altLang="zh-CN" sz="2400" b="1"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稀疏性、</a:t>
            </a:r>
            <a:r>
              <a:rPr lang="zh-CN" altLang="en-US" sz="2400" dirty="0">
                <a:solidFill>
                  <a:srgbClr val="000000"/>
                </a:solidFill>
                <a:effectLst/>
                <a:latin typeface="Microsoft YaHei" panose="020B0503020204020204" pitchFamily="34" charset="-122"/>
                <a:ea typeface="Microsoft YaHei" panose="020B0503020204020204" pitchFamily="34" charset="-122"/>
              </a:rPr>
              <a:t>体积集中在表面</a:t>
            </a:r>
            <a:r>
              <a:rPr lang="zh-CN" altLang="en-US" sz="2400" dirty="0">
                <a:solidFill>
                  <a:srgbClr val="000000"/>
                </a:solidFill>
                <a:latin typeface="Microsoft YaHei" panose="020B0503020204020204" pitchFamily="34" charset="-122"/>
                <a:ea typeface="Microsoft YaHei" panose="020B0503020204020204" pitchFamily="34" charset="-122"/>
              </a:rPr>
              <a:t>、距离的集中性和正交性、高斯环带定理、随机投影引理、线性可分性</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a:lnSpc>
                <a:spcPct val="150000"/>
              </a:lnSpc>
            </a:pPr>
            <a:r>
              <a:rPr lang="en-US" altLang="zh-CN" sz="2400" b="1" dirty="0">
                <a:solidFill>
                  <a:srgbClr val="000000"/>
                </a:solidFill>
                <a:latin typeface="Microsoft YaHei" panose="020B0503020204020204" pitchFamily="34" charset="-122"/>
                <a:ea typeface="Microsoft YaHei" panose="020B0503020204020204" pitchFamily="34" charset="-122"/>
              </a:rPr>
              <a:t>2.</a:t>
            </a:r>
            <a:r>
              <a:rPr lang="zh-CN" altLang="en-US" sz="2400" b="1" dirty="0">
                <a:solidFill>
                  <a:srgbClr val="000000"/>
                </a:solidFill>
                <a:latin typeface="Microsoft YaHei" panose="020B0503020204020204" pitchFamily="34" charset="-122"/>
                <a:ea typeface="Microsoft YaHei" panose="020B0503020204020204" pitchFamily="34" charset="-122"/>
              </a:rPr>
              <a:t> 高维数值积分，偏微分方程，函数逼近均会遇到维数灾难：</a:t>
            </a:r>
            <a:endParaRPr lang="en-US"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为了保持精度，所需的样本量</a:t>
            </a:r>
            <a:r>
              <a:rPr lang="en-US" altLang="zh-CN" sz="2400" dirty="0">
                <a:solidFill>
                  <a:srgbClr val="000000"/>
                </a:solidFill>
                <a:latin typeface="Microsoft YaHei" panose="020B0503020204020204" pitchFamily="34" charset="-122"/>
                <a:ea typeface="Microsoft YaHei" panose="020B0503020204020204" pitchFamily="34" charset="-122"/>
              </a:rPr>
              <a:t>/</a:t>
            </a:r>
            <a:r>
              <a:rPr lang="zh-CN" altLang="en-US" sz="2400" dirty="0">
                <a:solidFill>
                  <a:srgbClr val="000000"/>
                </a:solidFill>
                <a:latin typeface="Microsoft YaHei" panose="020B0503020204020204" pitchFamily="34" charset="-122"/>
                <a:ea typeface="Microsoft YaHei" panose="020B0503020204020204" pitchFamily="34" charset="-122"/>
              </a:rPr>
              <a:t>计算量随维数</a:t>
            </a:r>
            <a:r>
              <a:rPr lang="zh-CN" altLang="en-US" sz="2400" b="1" dirty="0">
                <a:solidFill>
                  <a:srgbClr val="000000"/>
                </a:solidFill>
                <a:latin typeface="Microsoft YaHei" panose="020B0503020204020204" pitchFamily="34" charset="-122"/>
                <a:ea typeface="Microsoft YaHei" panose="020B0503020204020204" pitchFamily="34" charset="-122"/>
              </a:rPr>
              <a:t>指数上升</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a:lnSpc>
                <a:spcPct val="150000"/>
              </a:lnSpc>
            </a:pPr>
            <a:r>
              <a:rPr lang="en-US" altLang="zh-CN" sz="2400" b="1" dirty="0">
                <a:solidFill>
                  <a:srgbClr val="000000"/>
                </a:solidFill>
                <a:effectLst/>
                <a:latin typeface="Microsoft YaHei" panose="020B0503020204020204" pitchFamily="34" charset="-122"/>
                <a:ea typeface="Microsoft YaHei" panose="020B0503020204020204" pitchFamily="34" charset="-122"/>
              </a:rPr>
              <a:t>3.</a:t>
            </a:r>
            <a:r>
              <a:rPr lang="zh-CN" altLang="en-US" sz="2400" b="1" dirty="0">
                <a:solidFill>
                  <a:srgbClr val="000000"/>
                </a:solidFill>
                <a:effectLst/>
                <a:latin typeface="Microsoft YaHei" panose="020B0503020204020204" pitchFamily="34" charset="-122"/>
                <a:ea typeface="Microsoft YaHei" panose="020B0503020204020204" pitchFamily="34" charset="-122"/>
              </a:rPr>
              <a:t> 克服维数灾难的</a:t>
            </a:r>
            <a:r>
              <a:rPr lang="zh-CN" altLang="en-US" sz="2400" b="1" dirty="0">
                <a:solidFill>
                  <a:srgbClr val="000000"/>
                </a:solidFill>
                <a:latin typeface="Microsoft YaHei" panose="020B0503020204020204" pitchFamily="34" charset="-122"/>
                <a:ea typeface="Microsoft YaHei" panose="020B0503020204020204" pitchFamily="34" charset="-122"/>
              </a:rPr>
              <a:t>方法</a:t>
            </a:r>
            <a:r>
              <a:rPr lang="zh-CN" altLang="en-US" sz="2400" b="1" dirty="0">
                <a:solidFill>
                  <a:srgbClr val="000000"/>
                </a:solidFill>
                <a:effectLst/>
                <a:latin typeface="Microsoft YaHei" panose="020B0503020204020204" pitchFamily="34" charset="-122"/>
                <a:ea typeface="Microsoft YaHei" panose="020B0503020204020204" pitchFamily="34" charset="-122"/>
              </a:rPr>
              <a:t>：</a:t>
            </a:r>
            <a:endParaRPr lang="en-US" altLang="zh-CN" sz="2400" b="1"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高维数值积分：蒙特卡洛</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Ø"/>
            </a:pPr>
            <a:r>
              <a:rPr lang="zh-CN" altLang="en-US" sz="2400" dirty="0">
                <a:solidFill>
                  <a:srgbClr val="000000"/>
                </a:solidFill>
                <a:effectLst/>
                <a:latin typeface="Microsoft YaHei" panose="020B0503020204020204" pitchFamily="34" charset="-122"/>
                <a:ea typeface="Microsoft YaHei" panose="020B0503020204020204" pitchFamily="34" charset="-122"/>
              </a:rPr>
              <a:t>高维函数逼近：对于 </a:t>
            </a:r>
            <a:r>
              <a:rPr lang="en" altLang="zh-CN" sz="2400" dirty="0">
                <a:solidFill>
                  <a:srgbClr val="000000"/>
                </a:solidFill>
                <a:effectLst/>
                <a:latin typeface="Microsoft YaHei" panose="020B0503020204020204" pitchFamily="34" charset="-122"/>
                <a:ea typeface="Microsoft YaHei" panose="020B0503020204020204" pitchFamily="34" charset="-122"/>
              </a:rPr>
              <a:t>Barron </a:t>
            </a:r>
            <a:r>
              <a:rPr lang="zh-CN" altLang="en-US" sz="2400" dirty="0">
                <a:solidFill>
                  <a:srgbClr val="000000"/>
                </a:solidFill>
                <a:effectLst/>
                <a:latin typeface="Microsoft YaHei" panose="020B0503020204020204" pitchFamily="34" charset="-122"/>
                <a:ea typeface="Microsoft YaHei" panose="020B0503020204020204" pitchFamily="34" charset="-122"/>
              </a:rPr>
              <a:t>空间的函数</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单隐层神经网络能够以较少的样本实现良好的逼近和泛化</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21789964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234C-E547-32D1-D91F-2A25A20CC8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9326F11-C68C-E223-9208-E83389F03FCE}"/>
              </a:ext>
            </a:extLst>
          </p:cNvPr>
          <p:cNvSpPr>
            <a:spLocks noGrp="1"/>
          </p:cNvSpPr>
          <p:nvPr>
            <p:ph type="title"/>
          </p:nvPr>
        </p:nvSpPr>
        <p:spPr/>
        <p:txBody>
          <a:bodyPr/>
          <a:lstStyle/>
          <a:p>
            <a:r>
              <a:rPr lang="zh-CN" altLang="en-US" dirty="0"/>
              <a:t>作业</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526FCED8-21F2-E7E1-D77E-C1296CC7692E}"/>
                  </a:ext>
                </a:extLst>
              </p:cNvPr>
              <p:cNvSpPr txBox="1"/>
              <p:nvPr/>
            </p:nvSpPr>
            <p:spPr>
              <a:xfrm>
                <a:off x="186610" y="1263376"/>
                <a:ext cx="11818779" cy="3558538"/>
              </a:xfrm>
              <a:prstGeom prst="rect">
                <a:avLst/>
              </a:prstGeom>
              <a:noFill/>
            </p:spPr>
            <p:txBody>
              <a:bodyPr wrap="square" rtlCol="0">
                <a:spAutoFit/>
              </a:bodyPr>
              <a:lstStyle/>
              <a:p>
                <a:pPr marL="457200" indent="-457200">
                  <a:lnSpc>
                    <a:spcPct val="150000"/>
                  </a:lnSpc>
                  <a:buAutoNum type="arabicPeriod"/>
                </a:pPr>
                <a:r>
                  <a:rPr lang="zh-CN" altLang="en-US" sz="2400" dirty="0">
                    <a:solidFill>
                      <a:srgbClr val="000000"/>
                    </a:solidFill>
                    <a:effectLst/>
                    <a:latin typeface="Microsoft YaHei" panose="020B0503020204020204" pitchFamily="34" charset="-122"/>
                    <a:ea typeface="Microsoft YaHei" panose="020B0503020204020204" pitchFamily="34" charset="-122"/>
                  </a:rPr>
                  <a:t>什么是维数灾难</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请举例说明维数灾难可能带来的问题</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a:p>
                <a:pPr marL="457200" indent="-457200">
                  <a:lnSpc>
                    <a:spcPct val="150000"/>
                  </a:lnSpc>
                  <a:buFontTx/>
                  <a:buAutoNum type="arabicPeriod"/>
                </a:pPr>
                <a:r>
                  <a:rPr lang="zh-CN" altLang="en-US" sz="2400" dirty="0">
                    <a:solidFill>
                      <a:srgbClr val="000000"/>
                    </a:solidFill>
                    <a:effectLst/>
                    <a:latin typeface="Microsoft YaHei" panose="020B0503020204020204" pitchFamily="34" charset="-122"/>
                    <a:ea typeface="Microsoft YaHei" panose="020B0503020204020204" pitchFamily="34" charset="-122"/>
                  </a:rPr>
                  <a:t>请绘制出</a:t>
                </a:r>
                <a:r>
                  <a:rPr lang="en" altLang="zh-CN" sz="2400" dirty="0">
                    <a:solidFill>
                      <a:srgbClr val="000000"/>
                    </a:solidFill>
                    <a:effectLst/>
                    <a:latin typeface="Microsoft YaHei" panose="020B0503020204020204" pitchFamily="34" charset="-122"/>
                    <a:ea typeface="Microsoft YaHei" panose="020B0503020204020204" pitchFamily="34" charset="-122"/>
                  </a:rPr>
                  <a:t>d = 5, 10, 20 </a:t>
                </a:r>
                <a:r>
                  <a:rPr lang="zh-CN" altLang="en-US" sz="2400" dirty="0">
                    <a:solidFill>
                      <a:srgbClr val="000000"/>
                    </a:solidFill>
                    <a:effectLst/>
                    <a:latin typeface="Microsoft YaHei" panose="020B0503020204020204" pitchFamily="34" charset="-122"/>
                    <a:ea typeface="Microsoft YaHei" panose="020B0503020204020204" pitchFamily="34" charset="-122"/>
                  </a:rPr>
                  <a:t>时 </a:t>
                </a:r>
                <a:r>
                  <a:rPr lang="en" altLang="zh-CN" sz="2400" dirty="0">
                    <a:solidFill>
                      <a:srgbClr val="000000"/>
                    </a:solidFill>
                    <a:effectLst/>
                    <a:latin typeface="Microsoft YaHei" panose="020B0503020204020204" pitchFamily="34" charset="-122"/>
                    <a:ea typeface="Microsoft YaHei" panose="020B0503020204020204" pitchFamily="34" charset="-122"/>
                  </a:rPr>
                  <a:t>d </a:t>
                </a:r>
                <a:r>
                  <a:rPr lang="zh-CN" altLang="en-US" sz="2400" dirty="0">
                    <a:solidFill>
                      <a:srgbClr val="000000"/>
                    </a:solidFill>
                    <a:effectLst/>
                    <a:latin typeface="Microsoft YaHei" panose="020B0503020204020204" pitchFamily="34" charset="-122"/>
                    <a:ea typeface="Microsoft YaHei" panose="020B0503020204020204" pitchFamily="34" charset="-122"/>
                  </a:rPr>
                  <a:t>维球体体积</a:t>
                </a:r>
                <a:r>
                  <a:rPr lang="en" altLang="zh-CN" sz="2400" dirty="0">
                    <a:solidFill>
                      <a:srgbClr val="000000"/>
                    </a:solidFill>
                    <a:effectLst/>
                    <a:latin typeface="Microsoft YaHei" panose="020B0503020204020204" pitchFamily="34" charset="-122"/>
                    <a:ea typeface="Microsoft YaHei" panose="020B0503020204020204" pitchFamily="34" charset="-122"/>
                  </a:rPr>
                  <a:t>V (d) </a:t>
                </a:r>
                <a:r>
                  <a:rPr lang="zh-CN" altLang="en-US" sz="2400" dirty="0">
                    <a:solidFill>
                      <a:srgbClr val="000000"/>
                    </a:solidFill>
                    <a:effectLst/>
                    <a:latin typeface="Microsoft YaHei" panose="020B0503020204020204" pitchFamily="34" charset="-122"/>
                    <a:ea typeface="Microsoft YaHei" panose="020B0503020204020204" pitchFamily="34" charset="-122"/>
                  </a:rPr>
                  <a:t>随半径 </a:t>
                </a:r>
                <a:r>
                  <a:rPr lang="en" altLang="zh-CN" sz="2400" dirty="0">
                    <a:solidFill>
                      <a:srgbClr val="000000"/>
                    </a:solidFill>
                    <a:effectLst/>
                    <a:latin typeface="Microsoft YaHei" panose="020B0503020204020204" pitchFamily="34" charset="-122"/>
                    <a:ea typeface="Microsoft YaHei" panose="020B0503020204020204" pitchFamily="34" charset="-122"/>
                  </a:rPr>
                  <a:t>r ∈ [0, 1] </a:t>
                </a:r>
                <a:r>
                  <a:rPr lang="zh-CN" altLang="en-US" sz="2400" dirty="0">
                    <a:solidFill>
                      <a:srgbClr val="000000"/>
                    </a:solidFill>
                    <a:effectLst/>
                    <a:latin typeface="Microsoft YaHei" panose="020B0503020204020204" pitchFamily="34" charset="-122"/>
                    <a:ea typeface="Microsoft YaHei" panose="020B0503020204020204" pitchFamily="34" charset="-122"/>
                  </a:rPr>
                  <a:t>的变化曲线</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分析维数</a:t>
                </a:r>
                <a:r>
                  <a:rPr lang="en" altLang="zh-CN" sz="2400" dirty="0">
                    <a:solidFill>
                      <a:srgbClr val="000000"/>
                    </a:solidFill>
                    <a:effectLst/>
                    <a:latin typeface="Microsoft YaHei" panose="020B0503020204020204" pitchFamily="34" charset="-122"/>
                    <a:ea typeface="Microsoft YaHei" panose="020B0503020204020204" pitchFamily="34" charset="-122"/>
                  </a:rPr>
                  <a:t>d</a:t>
                </a:r>
                <a:r>
                  <a:rPr lang="zh-CN" altLang="en-US" sz="2400" dirty="0">
                    <a:solidFill>
                      <a:srgbClr val="000000"/>
                    </a:solidFill>
                    <a:effectLst/>
                    <a:latin typeface="Microsoft YaHei" panose="020B0503020204020204" pitchFamily="34" charset="-122"/>
                    <a:ea typeface="Microsoft YaHei" panose="020B0503020204020204" pitchFamily="34" charset="-122"/>
                  </a:rPr>
                  <a:t> 增大时的影响</a:t>
                </a:r>
              </a:p>
              <a:p>
                <a:pPr>
                  <a:lnSpc>
                    <a:spcPct val="150000"/>
                  </a:lnSpc>
                </a:pPr>
                <a:r>
                  <a:rPr lang="en-US" altLang="zh-CN" sz="2400" dirty="0">
                    <a:solidFill>
                      <a:srgbClr val="000000"/>
                    </a:solidFill>
                    <a:effectLst/>
                    <a:latin typeface="Microsoft YaHei" panose="020B0503020204020204" pitchFamily="34" charset="-122"/>
                    <a:ea typeface="Microsoft YaHei" panose="020B0503020204020204" pitchFamily="34" charset="-122"/>
                  </a:rPr>
                  <a:t>3.</a:t>
                </a:r>
                <a:r>
                  <a:rPr lang="zh-CN" altLang="en-US"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latin typeface="Microsoft YaHei" panose="020B0503020204020204" pitchFamily="34" charset="-122"/>
                    <a:ea typeface="Microsoft YaHei" panose="020B0503020204020204" pitchFamily="34" charset="-122"/>
                  </a:rPr>
                  <a:t>请证明</a:t>
                </a:r>
                <a:r>
                  <a:rPr lang="zh-CN" altLang="en-US" sz="2400" dirty="0">
                    <a:solidFill>
                      <a:srgbClr val="000000"/>
                    </a:solidFill>
                    <a:effectLst/>
                    <a:latin typeface="Microsoft YaHei" panose="020B0503020204020204" pitchFamily="34" charset="-122"/>
                    <a:ea typeface="Microsoft YaHei" panose="020B0503020204020204" pitchFamily="34" charset="-122"/>
                  </a:rPr>
                  <a:t>蒙特卡洛方法的收敛阶是</a:t>
                </a:r>
                <a:r>
                  <a:rPr lang="zh-CN" altLang="en-US" sz="2400"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a:rPr lang="en-US" altLang="zh-CN" sz="2400" b="0" i="1" smtClean="0">
                        <a:solidFill>
                          <a:srgbClr val="000000"/>
                        </a:solidFill>
                        <a:latin typeface="Cambria Math" panose="02040503050406030204" pitchFamily="18" charset="0"/>
                      </a:rPr>
                      <m:t>𝑂</m:t>
                    </m:r>
                    <m:r>
                      <a:rPr lang="en-US" altLang="zh-CN" sz="2400" b="0" i="1" smtClean="0">
                        <a:solidFill>
                          <a:srgbClr val="000000"/>
                        </a:solidFill>
                        <a:latin typeface="Cambria Math" panose="02040503050406030204" pitchFamily="18" charset="0"/>
                      </a:rPr>
                      <m:t>(</m:t>
                    </m:r>
                    <m:sSup>
                      <m:sSupPr>
                        <m:ctrlPr>
                          <a:rPr lang="en-US" altLang="zh-CN" sz="2400" b="0" i="1" smtClean="0">
                            <a:solidFill>
                              <a:srgbClr val="000000"/>
                            </a:solidFill>
                            <a:latin typeface="Cambria Math" panose="02040503050406030204" pitchFamily="18" charset="0"/>
                          </a:rPr>
                        </m:ctrlPr>
                      </m:sSupPr>
                      <m:e>
                        <m:r>
                          <a:rPr lang="en-US" altLang="zh-CN" sz="2400" b="0" i="1" smtClean="0">
                            <a:solidFill>
                              <a:srgbClr val="000000"/>
                            </a:solidFill>
                            <a:latin typeface="Cambria Math" panose="02040503050406030204" pitchFamily="18" charset="0"/>
                          </a:rPr>
                          <m:t>𝑛</m:t>
                        </m:r>
                      </m:e>
                      <m:sup>
                        <m:r>
                          <a:rPr lang="en-US" altLang="zh-CN" sz="2400" b="0" i="1" smtClean="0">
                            <a:solidFill>
                              <a:srgbClr val="000000"/>
                            </a:solidFill>
                            <a:latin typeface="Cambria Math" panose="02040503050406030204" pitchFamily="18" charset="0"/>
                          </a:rPr>
                          <m:t>−</m:t>
                        </m:r>
                        <m:f>
                          <m:fPr>
                            <m:ctrlPr>
                              <a:rPr lang="en-US" altLang="zh-CN" sz="2400" b="0" i="1" smtClean="0">
                                <a:solidFill>
                                  <a:srgbClr val="000000"/>
                                </a:solidFill>
                                <a:latin typeface="Cambria Math" panose="02040503050406030204" pitchFamily="18" charset="0"/>
                              </a:rPr>
                            </m:ctrlPr>
                          </m:fPr>
                          <m:num>
                            <m:r>
                              <a:rPr lang="en-US" altLang="zh-CN" sz="2400" b="0" i="1" smtClean="0">
                                <a:solidFill>
                                  <a:srgbClr val="000000"/>
                                </a:solidFill>
                                <a:latin typeface="Cambria Math" panose="02040503050406030204" pitchFamily="18" charset="0"/>
                              </a:rPr>
                              <m:t>1</m:t>
                            </m:r>
                          </m:num>
                          <m:den>
                            <m:r>
                              <a:rPr lang="en-US" altLang="zh-CN" sz="2400" b="0" i="1" smtClean="0">
                                <a:solidFill>
                                  <a:srgbClr val="000000"/>
                                </a:solidFill>
                                <a:latin typeface="Cambria Math" panose="02040503050406030204" pitchFamily="18" charset="0"/>
                              </a:rPr>
                              <m:t>2</m:t>
                            </m:r>
                          </m:den>
                        </m:f>
                      </m:sup>
                    </m:sSup>
                    <m:r>
                      <a:rPr lang="en-US" altLang="zh-CN" sz="2400" b="0" i="1" smtClean="0">
                        <a:solidFill>
                          <a:srgbClr val="000000"/>
                        </a:solidFill>
                        <a:latin typeface="Cambria Math" panose="02040503050406030204" pitchFamily="18" charset="0"/>
                      </a:rPr>
                      <m:t>)</m:t>
                    </m:r>
                  </m:oMath>
                </a14:m>
                <a:r>
                  <a:rPr lang="en"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与维数</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en" altLang="zh-CN" sz="2400" dirty="0">
                    <a:solidFill>
                      <a:srgbClr val="000000"/>
                    </a:solidFill>
                    <a:effectLst/>
                    <a:latin typeface="Microsoft YaHei" panose="020B0503020204020204" pitchFamily="34" charset="-122"/>
                    <a:ea typeface="Microsoft YaHei" panose="020B0503020204020204" pitchFamily="34" charset="-122"/>
                  </a:rPr>
                  <a:t>d </a:t>
                </a:r>
                <a:r>
                  <a:rPr lang="zh-CN" altLang="en-US" sz="2400" dirty="0">
                    <a:solidFill>
                      <a:srgbClr val="000000"/>
                    </a:solidFill>
                    <a:effectLst/>
                    <a:latin typeface="Microsoft YaHei" panose="020B0503020204020204" pitchFamily="34" charset="-122"/>
                    <a:ea typeface="Microsoft YaHei" panose="020B0503020204020204" pitchFamily="34" charset="-122"/>
                  </a:rPr>
                  <a:t>无关。即使采样数目</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en" altLang="zh-CN" sz="2400" dirty="0">
                    <a:solidFill>
                      <a:srgbClr val="000000"/>
                    </a:solidFill>
                    <a:effectLst/>
                    <a:latin typeface="Microsoft YaHei" panose="020B0503020204020204" pitchFamily="34" charset="-122"/>
                    <a:ea typeface="Microsoft YaHei" panose="020B0503020204020204" pitchFamily="34" charset="-122"/>
                  </a:rPr>
                  <a:t>n </a:t>
                </a:r>
                <a:r>
                  <a:rPr lang="zh-CN" altLang="en-US" sz="2400" dirty="0">
                    <a:solidFill>
                      <a:srgbClr val="000000"/>
                    </a:solidFill>
                    <a:effectLst/>
                    <a:latin typeface="Microsoft YaHei" panose="020B0503020204020204" pitchFamily="34" charset="-122"/>
                    <a:ea typeface="Microsoft YaHei" panose="020B0503020204020204" pitchFamily="34" charset="-122"/>
                  </a:rPr>
                  <a:t>已经很大了，但我们前面在使用神经网络学习一个高维二次函数时在某些点的泛化误差依然很大，</a:t>
                </a:r>
                <a:r>
                  <a:rPr lang="zh-CN" altLang="en-US" sz="2400" dirty="0">
                    <a:solidFill>
                      <a:srgbClr val="000000"/>
                    </a:solidFill>
                    <a:latin typeface="Microsoft YaHei" panose="020B0503020204020204" pitchFamily="34" charset="-122"/>
                    <a:ea typeface="Microsoft YaHei" panose="020B0503020204020204" pitchFamily="34" charset="-122"/>
                  </a:rPr>
                  <a:t>应该如何理解这个现象</a:t>
                </a:r>
                <a:r>
                  <a:rPr lang="zh-CN" altLang="en-US" sz="2400" dirty="0">
                    <a:solidFill>
                      <a:srgbClr val="000000"/>
                    </a:solidFill>
                    <a:effectLst/>
                    <a:latin typeface="Microsoft YaHei" panose="020B0503020204020204" pitchFamily="34" charset="-122"/>
                    <a:ea typeface="Microsoft YaHei" panose="020B0503020204020204" pitchFamily="34" charset="-122"/>
                  </a:rPr>
                  <a:t>？</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526FCED8-21F2-E7E1-D77E-C1296CC7692E}"/>
                  </a:ext>
                </a:extLst>
              </p:cNvPr>
              <p:cNvSpPr txBox="1">
                <a:spLocks noRot="1" noChangeAspect="1" noMove="1" noResize="1" noEditPoints="1" noAdjustHandles="1" noChangeArrowheads="1" noChangeShapeType="1" noTextEdit="1"/>
              </p:cNvSpPr>
              <p:nvPr/>
            </p:nvSpPr>
            <p:spPr>
              <a:xfrm>
                <a:off x="186610" y="1263376"/>
                <a:ext cx="11818779" cy="3558538"/>
              </a:xfrm>
              <a:prstGeom prst="rect">
                <a:avLst/>
              </a:prstGeom>
              <a:blipFill>
                <a:blip r:embed="rId2"/>
                <a:stretch>
                  <a:fillRect l="-966" r="-2897" b="-284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8872192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RIGINALHEIGHT" val="26.6458"/>
  <p:tag name="ORIGINALWIDTH" val="139.2724"/>
  <p:tag name="OUTPUTTYPE" val="SVG"/>
  <p:tag name="IGUANATEXVERSION" val="160"/>
  <p:tag name="LATEXADDIN" val="\documentclass{article}&#10;\usepackage{amsmath}&#10;\pagestyle{empty}&#10;\begin{document}&#10;&#10;$$&#10;V(d)=\frac{2 \pi^{\frac{d}{2}}}{d \Gamma\left(\frac{d}{2}\right)} \quad \lim _{d \rightarrow \infty} V(d)=0 .&#10;$$&#10;&#10;&#10;&#10;\end{document}"/>
  <p:tag name="IGUANATEXSIZE" val="18"/>
  <p:tag name="IGUANATEXCURSOR" val="196"/>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2.xml><?xml version="1.0" encoding="utf-8"?>
<p:tagLst xmlns:a="http://schemas.openxmlformats.org/drawingml/2006/main" xmlns:r="http://schemas.openxmlformats.org/officeDocument/2006/relationships" xmlns:p="http://schemas.openxmlformats.org/presentationml/2006/main">
  <p:tag name="ORIGINALHEIGHT" val="6.772791"/>
  <p:tag name="ORIGINALWIDTH" val="7.103325"/>
  <p:tag name="LATEXADDIN" val="\documentclass{article}&#10;\usepackage{amsmath}&#10;\pagestyle{empty}&#10;\begin{document}&#10;&#10;$$&#10;V(d)=\frac{2 \pi^{\frac{d}{2}}}{d \Gamma\left(\frac{d}{2}\right)} \quad \lim _{d \rightarrow \infty} V(d)=0 .&#10;$$&#10;&#10;&#10;&#10;\end{document}"/>
  <p:tag name="IGUANATEXSIZE" val="18"/>
  <p:tag name="IGUANATEXCURSOR" val="196"/>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3.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4.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5.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6.xml><?xml version="1.0" encoding="utf-8"?>
<p:tagLst xmlns:a="http://schemas.openxmlformats.org/drawingml/2006/main" xmlns:r="http://schemas.openxmlformats.org/officeDocument/2006/relationships" xmlns:p="http://schemas.openxmlformats.org/presentationml/2006/main">
  <p:tag name="ORIGINALHEIGHT" val="2.247988"/>
  <p:tag name="ORIGINALWIDTH" val="6.625154"/>
  <p:tag name="EMFCHILD" val="True"/>
</p:tagLst>
</file>

<file path=ppt/tags/tag7.xml><?xml version="1.0" encoding="utf-8"?>
<p:tagLst xmlns:a="http://schemas.openxmlformats.org/drawingml/2006/main" xmlns:r="http://schemas.openxmlformats.org/officeDocument/2006/relationships" xmlns:p="http://schemas.openxmlformats.org/presentationml/2006/main">
  <p:tag name="ORIGINALHEIGHT" val="6.398119"/>
  <p:tag name="ORIGINALWIDTH" val="3.975066"/>
  <p:tag name="EMFCHILD" val="True"/>
</p:tagLst>
</file>

<file path=ppt/tags/tag8.xml><?xml version="1.0" encoding="utf-8"?>
<p:tagLst xmlns:a="http://schemas.openxmlformats.org/drawingml/2006/main" xmlns:r="http://schemas.openxmlformats.org/officeDocument/2006/relationships" xmlns:p="http://schemas.openxmlformats.org/presentationml/2006/main">
  <p:tag name="ORIGINALHEIGHT" val="4.246194"/>
  <p:tag name="ORIGINALWIDTH" val="5.37979"/>
  <p:tag name="EMFCHILD" val="True"/>
</p:tagLst>
</file>

<file path=ppt/tags/tag9.xml><?xml version="1.0" encoding="utf-8"?>
<p:tagLst xmlns:a="http://schemas.openxmlformats.org/drawingml/2006/main" xmlns:r="http://schemas.openxmlformats.org/officeDocument/2006/relationships" xmlns:p="http://schemas.openxmlformats.org/presentationml/2006/main">
  <p:tag name="ORIGINALHEIGHT" val="3.38329"/>
  <p:tag name="ORIGINALWIDTH" val="2.884165"/>
  <p:tag name="EMFCHILD" val="True"/>
</p:tagLst>
</file>

<file path=ppt/tags/tag10.xml><?xml version="1.0" encoding="utf-8"?>
<p:tagLst xmlns:a="http://schemas.openxmlformats.org/drawingml/2006/main" xmlns:r="http://schemas.openxmlformats.org/officeDocument/2006/relationships" xmlns:p="http://schemas.openxmlformats.org/presentationml/2006/main">
  <p:tag name="ORIGINALHEIGHT" val="0.3265967"/>
  <p:tag name="ORIGINALWIDTH" val="3.68469"/>
  <p:tag name="EMFCHILD" val="True"/>
</p:tagLst>
</file>

<file path=ppt/tags/tag11.xml><?xml version="1.0" encoding="utf-8"?>
<p:tagLst xmlns:a="http://schemas.openxmlformats.org/drawingml/2006/main" xmlns:r="http://schemas.openxmlformats.org/officeDocument/2006/relationships" xmlns:p="http://schemas.openxmlformats.org/presentationml/2006/main">
  <p:tag name="ORIGINALHEIGHT" val="3.199038"/>
  <p:tag name="ORIGINALWIDTH" val="2.480665"/>
  <p:tag name="EMFCHILD" val="True"/>
</p:tagLst>
</file>

<file path=ppt/tags/tag12.xml><?xml version="1.0" encoding="utf-8"?>
<p:tagLst xmlns:a="http://schemas.openxmlformats.org/drawingml/2006/main" xmlns:r="http://schemas.openxmlformats.org/officeDocument/2006/relationships" xmlns:p="http://schemas.openxmlformats.org/presentationml/2006/main">
  <p:tag name="ORIGINALHEIGHT" val="0.384252"/>
  <p:tag name="ORIGINALWIDTH" val="28.74326"/>
  <p:tag name="EMFCHILD" val="True"/>
</p:tagLst>
</file>

<file path=ppt/tags/tag13.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14.xml><?xml version="1.0" encoding="utf-8"?>
<p:tagLst xmlns:a="http://schemas.openxmlformats.org/drawingml/2006/main" xmlns:r="http://schemas.openxmlformats.org/officeDocument/2006/relationships" xmlns:p="http://schemas.openxmlformats.org/presentationml/2006/main">
  <p:tag name="ORIGINALHEIGHT" val="6.532634"/>
  <p:tag name="ORIGINALWIDTH" val="5.469467"/>
  <p:tag name="EMFCHILD" val="True"/>
</p:tagLst>
</file>

<file path=ppt/tags/tag15.xml><?xml version="1.0" encoding="utf-8"?>
<p:tagLst xmlns:a="http://schemas.openxmlformats.org/drawingml/2006/main" xmlns:r="http://schemas.openxmlformats.org/officeDocument/2006/relationships" xmlns:p="http://schemas.openxmlformats.org/presentationml/2006/main">
  <p:tag name="ORIGINALHEIGHT" val="11.51855"/>
  <p:tag name="ORIGINALWIDTH" val="2.600219"/>
  <p:tag name="EMFCHILD" val="True"/>
</p:tagLst>
</file>

<file path=ppt/tags/tag16.xml><?xml version="1.0" encoding="utf-8"?>
<p:tagLst xmlns:a="http://schemas.openxmlformats.org/drawingml/2006/main" xmlns:r="http://schemas.openxmlformats.org/officeDocument/2006/relationships" xmlns:p="http://schemas.openxmlformats.org/presentationml/2006/main">
  <p:tag name="ORIGINALHEIGHT" val="4.734209"/>
  <p:tag name="ORIGINALWIDTH" val="3.584515"/>
  <p:tag name="EMFCHILD" val="True"/>
</p:tagLst>
</file>

<file path=ppt/tags/tag17.xml><?xml version="1.0" encoding="utf-8"?>
<p:tagLst xmlns:a="http://schemas.openxmlformats.org/drawingml/2006/main" xmlns:r="http://schemas.openxmlformats.org/officeDocument/2006/relationships" xmlns:p="http://schemas.openxmlformats.org/presentationml/2006/main">
  <p:tag name="ORIGINALHEIGHT" val="0.384252"/>
  <p:tag name="ORIGINALWIDTH" val="4.147288"/>
  <p:tag name="EMFCHILD" val="True"/>
</p:tagLst>
</file>

<file path=ppt/tags/tag18.xml><?xml version="1.0" encoding="utf-8"?>
<p:tagLst xmlns:a="http://schemas.openxmlformats.org/drawingml/2006/main" xmlns:r="http://schemas.openxmlformats.org/officeDocument/2006/relationships" xmlns:p="http://schemas.openxmlformats.org/presentationml/2006/main">
  <p:tag name="ORIGINALHEIGHT" val="4.465223"/>
  <p:tag name="ORIGINALWIDTH" val="3.082415"/>
  <p:tag name="EMFCHILD" val="True"/>
</p:tagLst>
</file>

<file path=ppt/tags/tag19.xml><?xml version="1.0" encoding="utf-8"?>
<p:tagLst xmlns:a="http://schemas.openxmlformats.org/drawingml/2006/main" xmlns:r="http://schemas.openxmlformats.org/officeDocument/2006/relationships" xmlns:p="http://schemas.openxmlformats.org/presentationml/2006/main">
  <p:tag name="ORIGINALHEIGHT" val="11.51855"/>
  <p:tag name="ORIGINALWIDTH" val="2.600219"/>
  <p:tag name="EMFCHILD" val="True"/>
</p:tagLst>
</file>

<file path=ppt/tags/tag20.xml><?xml version="1.0" encoding="utf-8"?>
<p:tagLst xmlns:a="http://schemas.openxmlformats.org/drawingml/2006/main" xmlns:r="http://schemas.openxmlformats.org/officeDocument/2006/relationships" xmlns:p="http://schemas.openxmlformats.org/presentationml/2006/main">
  <p:tag name="ORIGINALHEIGHT" val="6.667104"/>
  <p:tag name="ORIGINALWIDTH" val="2.21168"/>
  <p:tag name="EMFCHILD" val="True"/>
</p:tagLst>
</file>

<file path=ppt/tags/tag21.xml><?xml version="1.0" encoding="utf-8"?>
<p:tagLst xmlns:a="http://schemas.openxmlformats.org/drawingml/2006/main" xmlns:r="http://schemas.openxmlformats.org/officeDocument/2006/relationships" xmlns:p="http://schemas.openxmlformats.org/presentationml/2006/main">
  <p:tag name="ORIGINALHEIGHT" val="6.426947"/>
  <p:tag name="ORIGINALWIDTH" val="2.131977"/>
  <p:tag name="EMFCHILD" val="True"/>
</p:tagLst>
</file>

<file path=ppt/tags/tag22.xml><?xml version="1.0" encoding="utf-8"?>
<p:tagLst xmlns:a="http://schemas.openxmlformats.org/drawingml/2006/main" xmlns:r="http://schemas.openxmlformats.org/officeDocument/2006/relationships" xmlns:p="http://schemas.openxmlformats.org/presentationml/2006/main">
  <p:tag name="ORIGINALHEIGHT" val="4.246194"/>
  <p:tag name="ORIGINALWIDTH" val="7.780797"/>
  <p:tag name="EMFCHILD" val="True"/>
</p:tagLst>
</file>

<file path=ppt/tags/tag23.xml><?xml version="1.0" encoding="utf-8"?>
<p:tagLst xmlns:a="http://schemas.openxmlformats.org/drawingml/2006/main" xmlns:r="http://schemas.openxmlformats.org/officeDocument/2006/relationships" xmlns:p="http://schemas.openxmlformats.org/presentationml/2006/main">
  <p:tag name="ORIGINALHEIGHT" val="4.734209"/>
  <p:tag name="ORIGINALWIDTH" val="3.584515"/>
  <p:tag name="EMFCHILD" val="True"/>
</p:tagLst>
</file>

<file path=ppt/tags/tag24.xml><?xml version="1.0" encoding="utf-8"?>
<p:tagLst xmlns:a="http://schemas.openxmlformats.org/drawingml/2006/main" xmlns:r="http://schemas.openxmlformats.org/officeDocument/2006/relationships" xmlns:p="http://schemas.openxmlformats.org/presentationml/2006/main">
  <p:tag name="ORIGINALHEIGHT" val="3.54392"/>
  <p:tag name="ORIGINALWIDTH" val="6.862248"/>
  <p:tag name="EMFCHILD" val="True"/>
</p:tagLst>
</file>

<file path=ppt/tags/tag25.xml><?xml version="1.0" encoding="utf-8"?>
<p:tagLst xmlns:a="http://schemas.openxmlformats.org/drawingml/2006/main" xmlns:r="http://schemas.openxmlformats.org/officeDocument/2006/relationships" xmlns:p="http://schemas.openxmlformats.org/presentationml/2006/main">
  <p:tag name="ORIGINALHEIGHT" val="3.032852"/>
  <p:tag name="ORIGINALWIDTH" val="6.862248"/>
  <p:tag name="EMFCHILD" val="True"/>
</p:tagLst>
</file>

<file path=ppt/tags/tag26.xml><?xml version="1.0" encoding="utf-8"?>
<p:tagLst xmlns:a="http://schemas.openxmlformats.org/drawingml/2006/main" xmlns:r="http://schemas.openxmlformats.org/officeDocument/2006/relationships" xmlns:p="http://schemas.openxmlformats.org/presentationml/2006/main">
  <p:tag name="ORIGINALHEIGHT" val="6.772791"/>
  <p:tag name="ORIGINALWIDTH" val="7.103325"/>
  <p:tag name="EMFCHILD" val="True"/>
</p:tagLst>
</file>

<file path=ppt/tags/tag27.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28.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29.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30.xml><?xml version="1.0" encoding="utf-8"?>
<p:tagLst xmlns:a="http://schemas.openxmlformats.org/drawingml/2006/main" xmlns:r="http://schemas.openxmlformats.org/officeDocument/2006/relationships" xmlns:p="http://schemas.openxmlformats.org/presentationml/2006/main">
  <p:tag name="ORIGINALHEIGHT" val="2.247988"/>
  <p:tag name="ORIGINALWIDTH" val="6.625154"/>
  <p:tag name="EMFCHILD" val="True"/>
</p:tagLst>
</file>

<file path=ppt/tags/tag31.xml><?xml version="1.0" encoding="utf-8"?>
<p:tagLst xmlns:a="http://schemas.openxmlformats.org/drawingml/2006/main" xmlns:r="http://schemas.openxmlformats.org/officeDocument/2006/relationships" xmlns:p="http://schemas.openxmlformats.org/presentationml/2006/main">
  <p:tag name="ORIGINALHEIGHT" val="6.609492"/>
  <p:tag name="ORIGINALWIDTH" val="4.19427"/>
  <p:tag name="EMFCHILD" val="True"/>
</p:tagLst>
</file>

<file path=ppt/tags/tag32.xml><?xml version="1.0" encoding="utf-8"?>
<p:tagLst xmlns:a="http://schemas.openxmlformats.org/drawingml/2006/main" xmlns:r="http://schemas.openxmlformats.org/officeDocument/2006/relationships" xmlns:p="http://schemas.openxmlformats.org/presentationml/2006/main">
  <p:tag name="ORIGINALHEIGHT" val="1.018285"/>
  <p:tag name="ORIGINALWIDTH" val="1.056037"/>
  <p:tag name="EMFCHILD" val="True"/>
</p:tagLst>
</file>

<file path=ppt/tags/tag33.xml><?xml version="1.0" encoding="utf-8"?>
<p:tagLst xmlns:a="http://schemas.openxmlformats.org/drawingml/2006/main" xmlns:r="http://schemas.openxmlformats.org/officeDocument/2006/relationships" xmlns:p="http://schemas.openxmlformats.org/presentationml/2006/main">
  <p:tag name="ORIGINALHEIGHT" val="21.23974"/>
  <p:tag name="ORIGINALWIDTH" val="241.5096"/>
  <p:tag name="OUTPUTTYPE" val="SVG"/>
  <p:tag name="IGUANATEXVERSION" val="160"/>
  <p:tag name="LATEXADDIN" val="\documentclass{article}&#10;\usepackage{amsmath}&#10;\pagestyle{empty}&#10;\begin{document}&#10;&#10;$$&#10;\frac{u_{i+1, j}-2 u_{i, j}+u_{i-1, j}}{\Delta x^2}+\frac{u_{i, j+1}-2 u_{i, j}+u_{i, j-1}}{\Delta y^2}+f=0&#10;$$&#10;&#10;\end{document}"/>
  <p:tag name="IGUANATEXSIZE" val="14"/>
  <p:tag name="IGUANATEXCURSOR" val="155"/>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34.xml><?xml version="1.0" encoding="utf-8"?>
<p:tagLst xmlns:a="http://schemas.openxmlformats.org/drawingml/2006/main" xmlns:r="http://schemas.openxmlformats.org/officeDocument/2006/relationships" xmlns:p="http://schemas.openxmlformats.org/presentationml/2006/main">
  <p:tag name="ORIGINALHEIGHT" val="29.87795"/>
  <p:tag name="ORIGINALWIDTH" val="157.131"/>
  <p:tag name="OUTPUTTYPE" val="SVG"/>
  <p:tag name="IGUANATEXVERSION" val="160"/>
  <p:tag name="LATEXADDIN" val="\documentclass{article}&#10;\usepackage{amsmath}&#10;\pagestyle{empty}&#10;\begin{document}&#10;&#10;$$&#10;\begin{cases}-\Delta u = -\frac{\partial^2 u}{\partial x^2} -\frac{\partial^2 u}{\partial y^2} =f, &amp; x \in \Omega, \\ u=0, &amp; x \in \partial \Omega .\end{cases}&#10;$$&#10;&#10;\end{document}"/>
  <p:tag name="IGUANATEXSIZE" val="14"/>
  <p:tag name="IGUANATEXCURSOR" val="163"/>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35.xml><?xml version="1.0" encoding="utf-8"?>
<p:tagLst xmlns:a="http://schemas.openxmlformats.org/drawingml/2006/main" xmlns:r="http://schemas.openxmlformats.org/officeDocument/2006/relationships" xmlns:p="http://schemas.openxmlformats.org/presentationml/2006/main">
  <p:tag name="ORIGINALHEIGHT" val="29.87795"/>
  <p:tag name="ORIGINALWIDTH" val="5.150675"/>
  <p:tag name="LATEXADDIN" val="\documentclass{article}&#10;\usepackage{amsmath}&#10;\pagestyle{empty}&#10;\begin{document}&#10;&#10;$$&#10;\begin{cases}-\Delta u = -\frac{\partial^2 u}{\partial x^2} -\frac{\partial^2 u}{\partial y^2} =f, &amp; x \in \Omega, \\ u=0, &amp; x \in \partial \Omega .\end{cases}&#10;$$&#10;&#10;\end{document}"/>
  <p:tag name="IGUANATEXSIZE" val="14"/>
  <p:tag name="IGUANATEXCURSOR" val="163"/>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36.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37.xml><?xml version="1.0" encoding="utf-8"?>
<p:tagLst xmlns:a="http://schemas.openxmlformats.org/drawingml/2006/main" xmlns:r="http://schemas.openxmlformats.org/officeDocument/2006/relationships" xmlns:p="http://schemas.openxmlformats.org/presentationml/2006/main">
  <p:tag name="ORIGINALHEIGHT" val="7.133239"/>
  <p:tag name="ORIGINALWIDTH" val="7.352418"/>
  <p:tag name="EMFCHILD" val="True"/>
</p:tagLst>
</file>

<file path=ppt/tags/tag38.xml><?xml version="1.0" encoding="utf-8"?>
<p:tagLst xmlns:a="http://schemas.openxmlformats.org/drawingml/2006/main" xmlns:r="http://schemas.openxmlformats.org/officeDocument/2006/relationships" xmlns:p="http://schemas.openxmlformats.org/presentationml/2006/main">
  <p:tag name="ORIGINALHEIGHT" val="4.513049"/>
  <p:tag name="ORIGINALWIDTH" val="5.120754"/>
  <p:tag name="EMFCHILD" val="True"/>
</p:tagLst>
</file>

<file path=ppt/tags/tag39.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40.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41.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42.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43.xml><?xml version="1.0" encoding="utf-8"?>
<p:tagLst xmlns:a="http://schemas.openxmlformats.org/drawingml/2006/main" xmlns:r="http://schemas.openxmlformats.org/officeDocument/2006/relationships" xmlns:p="http://schemas.openxmlformats.org/presentationml/2006/main">
  <p:tag name="ORIGINALHEIGHT" val="3.145163"/>
  <p:tag name="ORIGINALWIDTH" val="4.0518"/>
  <p:tag name="EMFCHILD" val="True"/>
</p:tagLst>
</file>

<file path=ppt/tags/tag44.xml><?xml version="1.0" encoding="utf-8"?>
<p:tagLst xmlns:a="http://schemas.openxmlformats.org/drawingml/2006/main" xmlns:r="http://schemas.openxmlformats.org/officeDocument/2006/relationships" xmlns:p="http://schemas.openxmlformats.org/presentationml/2006/main">
  <p:tag name="ORIGINALHEIGHT" val="0.3984815"/>
  <p:tag name="ORIGINALWIDTH" val="13.28211"/>
  <p:tag name="EMFCHILD" val="True"/>
</p:tagLst>
</file>

<file path=ppt/tags/tag45.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46.xml><?xml version="1.0" encoding="utf-8"?>
<p:tagLst xmlns:a="http://schemas.openxmlformats.org/drawingml/2006/main" xmlns:r="http://schemas.openxmlformats.org/officeDocument/2006/relationships" xmlns:p="http://schemas.openxmlformats.org/presentationml/2006/main">
  <p:tag name="ORIGINALHEIGHT" val="3.145163"/>
  <p:tag name="ORIGINALWIDTH" val="3.73099"/>
  <p:tag name="EMFCHILD" val="True"/>
</p:tagLst>
</file>

<file path=ppt/tags/tag47.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48.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49.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50.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51.xml><?xml version="1.0" encoding="utf-8"?>
<p:tagLst xmlns:a="http://schemas.openxmlformats.org/drawingml/2006/main" xmlns:r="http://schemas.openxmlformats.org/officeDocument/2006/relationships" xmlns:p="http://schemas.openxmlformats.org/presentationml/2006/main">
  <p:tag name="ORIGINALHEIGHT" val="3.145163"/>
  <p:tag name="ORIGINALWIDTH" val="4.0518"/>
  <p:tag name="EMFCHILD" val="True"/>
</p:tagLst>
</file>

<file path=ppt/tags/tag52.xml><?xml version="1.0" encoding="utf-8"?>
<p:tagLst xmlns:a="http://schemas.openxmlformats.org/drawingml/2006/main" xmlns:r="http://schemas.openxmlformats.org/officeDocument/2006/relationships" xmlns:p="http://schemas.openxmlformats.org/presentationml/2006/main">
  <p:tag name="ORIGINALHEIGHT" val="0.3984815"/>
  <p:tag name="ORIGINALWIDTH" val="13.28211"/>
  <p:tag name="EMFCHILD" val="True"/>
</p:tagLst>
</file>

<file path=ppt/tags/tag53.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54.xml><?xml version="1.0" encoding="utf-8"?>
<p:tagLst xmlns:a="http://schemas.openxmlformats.org/drawingml/2006/main" xmlns:r="http://schemas.openxmlformats.org/officeDocument/2006/relationships" xmlns:p="http://schemas.openxmlformats.org/presentationml/2006/main">
  <p:tag name="ORIGINALHEIGHT" val="4.498088"/>
  <p:tag name="ORIGINALWIDTH" val="3.577559"/>
  <p:tag name="EMFCHILD" val="True"/>
</p:tagLst>
</file>

<file path=ppt/tags/tag55.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56.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57.xml><?xml version="1.0" encoding="utf-8"?>
<p:tagLst xmlns:a="http://schemas.openxmlformats.org/drawingml/2006/main" xmlns:r="http://schemas.openxmlformats.org/officeDocument/2006/relationships" xmlns:p="http://schemas.openxmlformats.org/presentationml/2006/main">
  <p:tag name="ORIGINALHEIGHT" val="9.065973"/>
  <p:tag name="ORIGINALWIDTH" val="4.971316"/>
  <p:tag name="EMFCHILD" val="True"/>
</p:tagLst>
</file>

<file path=ppt/tags/tag58.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59.xml><?xml version="1.0" encoding="utf-8"?>
<p:tagLst xmlns:a="http://schemas.openxmlformats.org/drawingml/2006/main" xmlns:r="http://schemas.openxmlformats.org/officeDocument/2006/relationships" xmlns:p="http://schemas.openxmlformats.org/presentationml/2006/main">
  <p:tag name="ORIGINALHEIGHT" val="4.513049"/>
  <p:tag name="ORIGINALWIDTH" val="4.961361"/>
  <p:tag name="EMFCHILD" val="True"/>
</p:tagLst>
</file>

<file path=ppt/tags/tag60.xml><?xml version="1.0" encoding="utf-8"?>
<p:tagLst xmlns:a="http://schemas.openxmlformats.org/drawingml/2006/main" xmlns:r="http://schemas.openxmlformats.org/officeDocument/2006/relationships" xmlns:p="http://schemas.openxmlformats.org/presentationml/2006/main">
  <p:tag name="ORIGINALHEIGHT" val="5.77829"/>
  <p:tag name="ORIGINALWIDTH" val="4.981271"/>
  <p:tag name="EMFCHILD" val="True"/>
</p:tagLst>
</file>

<file path=ppt/tags/tag61.xml><?xml version="1.0" encoding="utf-8"?>
<p:tagLst xmlns:a="http://schemas.openxmlformats.org/drawingml/2006/main" xmlns:r="http://schemas.openxmlformats.org/officeDocument/2006/relationships" xmlns:p="http://schemas.openxmlformats.org/presentationml/2006/main">
  <p:tag name="ORIGINALHEIGHT" val="7.023622"/>
  <p:tag name="ORIGINALWIDTH" val="6.3063"/>
  <p:tag name="EMFCHILD" val="True"/>
</p:tagLst>
</file>

<file path=ppt/tags/tag62.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63.xml><?xml version="1.0" encoding="utf-8"?>
<p:tagLst xmlns:a="http://schemas.openxmlformats.org/drawingml/2006/main" xmlns:r="http://schemas.openxmlformats.org/officeDocument/2006/relationships" xmlns:p="http://schemas.openxmlformats.org/presentationml/2006/main">
  <p:tag name="ORIGINALHEIGHT" val="4.513049"/>
  <p:tag name="ORIGINALWIDTH" val="5.120754"/>
  <p:tag name="EMFCHILD" val="True"/>
</p:tagLst>
</file>

<file path=ppt/tags/tag64.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65.xml><?xml version="1.0" encoding="utf-8"?>
<p:tagLst xmlns:a="http://schemas.openxmlformats.org/drawingml/2006/main" xmlns:r="http://schemas.openxmlformats.org/officeDocument/2006/relationships" xmlns:p="http://schemas.openxmlformats.org/presentationml/2006/main">
  <p:tag name="ORIGINALHEIGHT" val="6.854275"/>
  <p:tag name="ORIGINALWIDTH" val="4.194263"/>
  <p:tag name="EMFCHILD" val="True"/>
</p:tagLst>
</file>

<file path=ppt/tags/tag66.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67.xml><?xml version="1.0" encoding="utf-8"?>
<p:tagLst xmlns:a="http://schemas.openxmlformats.org/drawingml/2006/main" xmlns:r="http://schemas.openxmlformats.org/officeDocument/2006/relationships" xmlns:p="http://schemas.openxmlformats.org/presentationml/2006/main">
  <p:tag name="ORIGINALHEIGHT" val="4.513049"/>
  <p:tag name="ORIGINALWIDTH" val="4.961361"/>
  <p:tag name="EMFCHILD" val="True"/>
</p:tagLst>
</file>

<file path=ppt/tags/tag68.xml><?xml version="1.0" encoding="utf-8"?>
<p:tagLst xmlns:a="http://schemas.openxmlformats.org/drawingml/2006/main" xmlns:r="http://schemas.openxmlformats.org/officeDocument/2006/relationships" xmlns:p="http://schemas.openxmlformats.org/presentationml/2006/main">
  <p:tag name="ORIGINALHEIGHT" val="5.77829"/>
  <p:tag name="ORIGINALWIDTH" val="4.981271"/>
  <p:tag name="EMFCHILD" val="True"/>
</p:tagLst>
</file>

<file path=ppt/tags/tag69.xml><?xml version="1.0" encoding="utf-8"?>
<p:tagLst xmlns:a="http://schemas.openxmlformats.org/drawingml/2006/main" xmlns:r="http://schemas.openxmlformats.org/officeDocument/2006/relationships" xmlns:p="http://schemas.openxmlformats.org/presentationml/2006/main">
  <p:tag name="ORIGINALHEIGHT" val="7.352418"/>
  <p:tag name="ORIGINALWIDTH" val="5.240326"/>
  <p:tag name="EMFCHILD" val="True"/>
</p:tagLst>
</file>

<file path=ppt/tags/tag70.xml><?xml version="1.0" encoding="utf-8"?>
<p:tagLst xmlns:a="http://schemas.openxmlformats.org/drawingml/2006/main" xmlns:r="http://schemas.openxmlformats.org/officeDocument/2006/relationships" xmlns:p="http://schemas.openxmlformats.org/presentationml/2006/main">
  <p:tag name="ORIGINALHEIGHT" val="7.023622"/>
  <p:tag name="ORIGINALWIDTH" val="6.3063"/>
  <p:tag name="EMFCHILD" val="True"/>
</p:tagLst>
</file>

<file path=ppt/tags/tag71.xml><?xml version="1.0" encoding="utf-8"?>
<p:tagLst xmlns:a="http://schemas.openxmlformats.org/drawingml/2006/main" xmlns:r="http://schemas.openxmlformats.org/officeDocument/2006/relationships" xmlns:p="http://schemas.openxmlformats.org/presentationml/2006/main">
  <p:tag name="ORIGINALHEIGHT" val="1.056018"/>
  <p:tag name="ORIGINALWIDTH" val="1.056018"/>
  <p:tag name="EMFCHILD" val="True"/>
</p:tagLst>
</file>

<file path=ppt/tags/tag72.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LATEXADDIN" val="\documentclass{article}&#10;\usepackage{amsmath}&#10;\pagestyle{empty}&#10;\begin{document}&#10;&#10;$$&#10;\frac{u_{i+1, j}-2 u_{i, j}+u_{i-1, j}}{\Delta x^2}+\frac{u_{i, j+1}-2 u_{i, j}+u_{i, j-1}}{\Delta y^2}+f=0&#10;$$&#10;&#10;\end{document}"/>
  <p:tag name="IGUANATEXSIZE" val="14"/>
  <p:tag name="IGUANATEXCURSOR" val="155"/>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73.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74.xml><?xml version="1.0" encoding="utf-8"?>
<p:tagLst xmlns:a="http://schemas.openxmlformats.org/drawingml/2006/main" xmlns:r="http://schemas.openxmlformats.org/officeDocument/2006/relationships" xmlns:p="http://schemas.openxmlformats.org/presentationml/2006/main">
  <p:tag name="ORIGINALHEIGHT" val="4.906084"/>
  <p:tag name="ORIGINALWIDTH" val="5.132723"/>
  <p:tag name="EMFCHILD" val="True"/>
</p:tagLst>
</file>

<file path=ppt/tags/tag75.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76.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77.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78.xml><?xml version="1.0" encoding="utf-8"?>
<p:tagLst xmlns:a="http://schemas.openxmlformats.org/drawingml/2006/main" xmlns:r="http://schemas.openxmlformats.org/officeDocument/2006/relationships" xmlns:p="http://schemas.openxmlformats.org/presentationml/2006/main">
  <p:tag name="ORIGINALHEIGHT" val="0.3803622"/>
  <p:tag name="ORIGINALWIDTH" val="6.087146"/>
  <p:tag name="EMFCHILD" val="True"/>
</p:tagLst>
</file>

<file path=ppt/tags/tag79.xml><?xml version="1.0" encoding="utf-8"?>
<p:tagLst xmlns:a="http://schemas.openxmlformats.org/drawingml/2006/main" xmlns:r="http://schemas.openxmlformats.org/officeDocument/2006/relationships" xmlns:p="http://schemas.openxmlformats.org/presentationml/2006/main">
  <p:tag name="ORIGINALHEIGHT" val="6.333508"/>
  <p:tag name="ORIGINALWIDTH" val="3.975064"/>
  <p:tag name="EMFCHILD" val="True"/>
</p:tagLst>
</file>

<file path=ppt/tags/tag80.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81.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82.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83.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84.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85.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86.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87.xml><?xml version="1.0" encoding="utf-8"?>
<p:tagLst xmlns:a="http://schemas.openxmlformats.org/drawingml/2006/main" xmlns:r="http://schemas.openxmlformats.org/officeDocument/2006/relationships" xmlns:p="http://schemas.openxmlformats.org/presentationml/2006/main">
  <p:tag name="ORIGINALHEIGHT" val="0.3261794"/>
  <p:tag name="ORIGINALWIDTH" val="4.714312"/>
  <p:tag name="EMFCHILD" val="True"/>
</p:tagLst>
</file>

<file path=ppt/tags/tag88.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89.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90.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91.xml><?xml version="1.0" encoding="utf-8"?>
<p:tagLst xmlns:a="http://schemas.openxmlformats.org/drawingml/2006/main" xmlns:r="http://schemas.openxmlformats.org/officeDocument/2006/relationships" xmlns:p="http://schemas.openxmlformats.org/presentationml/2006/main">
  <p:tag name="ORIGINALHEIGHT" val="0.3803622"/>
  <p:tag name="ORIGINALWIDTH" val="94.87696"/>
  <p:tag name="EMFCHILD" val="True"/>
</p:tagLst>
</file>

<file path=ppt/tags/tag92.xml><?xml version="1.0" encoding="utf-8"?>
<p:tagLst xmlns:a="http://schemas.openxmlformats.org/drawingml/2006/main" xmlns:r="http://schemas.openxmlformats.org/officeDocument/2006/relationships" xmlns:p="http://schemas.openxmlformats.org/presentationml/2006/main">
  <p:tag name="ORIGINALHEIGHT" val="6.809011"/>
  <p:tag name="ORIGINALWIDTH" val="7.352427"/>
  <p:tag name="EMFCHILD" val="True"/>
</p:tagLst>
</file>

<file path=ppt/tags/tag93.xml><?xml version="1.0" encoding="utf-8"?>
<p:tagLst xmlns:a="http://schemas.openxmlformats.org/drawingml/2006/main" xmlns:r="http://schemas.openxmlformats.org/officeDocument/2006/relationships" xmlns:p="http://schemas.openxmlformats.org/presentationml/2006/main">
  <p:tag name="ORIGINALHEIGHT" val="4.307908"/>
  <p:tag name="ORIGINALWIDTH" val="4.961381"/>
  <p:tag name="EMFCHILD" val="True"/>
</p:tagLst>
</file>

<file path=ppt/tags/tag94.xml><?xml version="1.0" encoding="utf-8"?>
<p:tagLst xmlns:a="http://schemas.openxmlformats.org/drawingml/2006/main" xmlns:r="http://schemas.openxmlformats.org/officeDocument/2006/relationships" xmlns:p="http://schemas.openxmlformats.org/presentationml/2006/main">
  <p:tag name="ORIGINALHEIGHT" val="4.42013"/>
  <p:tag name="ORIGINALWIDTH" val="3.082434"/>
  <p:tag name="EMFCHILD" val="True"/>
</p:tagLst>
</file>

<file path=ppt/tags/tag95.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96.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97.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98.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99.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00.xml><?xml version="1.0" encoding="utf-8"?>
<p:tagLst xmlns:a="http://schemas.openxmlformats.org/drawingml/2006/main" xmlns:r="http://schemas.openxmlformats.org/officeDocument/2006/relationships" xmlns:p="http://schemas.openxmlformats.org/presentationml/2006/main">
  <p:tag name="ORIGINALHEIGHT" val="4.906084"/>
  <p:tag name="ORIGINALWIDTH" val="5.132723"/>
  <p:tag name="EMFCHILD" val="True"/>
</p:tagLst>
</file>

<file path=ppt/tags/tag101.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102.xml><?xml version="1.0" encoding="utf-8"?>
<p:tagLst xmlns:a="http://schemas.openxmlformats.org/drawingml/2006/main" xmlns:r="http://schemas.openxmlformats.org/officeDocument/2006/relationships" xmlns:p="http://schemas.openxmlformats.org/presentationml/2006/main">
  <p:tag name="ORIGINALHEIGHT" val="0.3803622"/>
  <p:tag name="ORIGINALWIDTH" val="6.087146"/>
  <p:tag name="EMFCHILD" val="True"/>
</p:tagLst>
</file>

<file path=ppt/tags/tag103.xml><?xml version="1.0" encoding="utf-8"?>
<p:tagLst xmlns:a="http://schemas.openxmlformats.org/drawingml/2006/main" xmlns:r="http://schemas.openxmlformats.org/officeDocument/2006/relationships" xmlns:p="http://schemas.openxmlformats.org/presentationml/2006/main">
  <p:tag name="ORIGINALHEIGHT" val="6.333508"/>
  <p:tag name="ORIGINALWIDTH" val="3.975064"/>
  <p:tag name="EMFCHILD" val="True"/>
</p:tagLst>
</file>

<file path=ppt/tags/tag104.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105.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106.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107.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08.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109.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110.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111.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112.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13.xml><?xml version="1.0" encoding="utf-8"?>
<p:tagLst xmlns:a="http://schemas.openxmlformats.org/drawingml/2006/main" xmlns:r="http://schemas.openxmlformats.org/officeDocument/2006/relationships" xmlns:p="http://schemas.openxmlformats.org/presentationml/2006/main">
  <p:tag name="ORIGINALHEIGHT" val="0.3261794"/>
  <p:tag name="ORIGINALWIDTH" val="4.714312"/>
  <p:tag name="EMFCHILD" val="True"/>
</p:tagLst>
</file>

<file path=ppt/tags/tag114.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115.xml><?xml version="1.0" encoding="utf-8"?>
<p:tagLst xmlns:a="http://schemas.openxmlformats.org/drawingml/2006/main" xmlns:r="http://schemas.openxmlformats.org/officeDocument/2006/relationships" xmlns:p="http://schemas.openxmlformats.org/presentationml/2006/main">
  <p:tag name="ORIGINALHEIGHT" val="0.3803622"/>
  <p:tag name="ORIGINALWIDTH" val="94.87696"/>
  <p:tag name="EMFCHILD" val="True"/>
</p:tagLst>
</file>

<file path=ppt/tags/tag116.xml><?xml version="1.0" encoding="utf-8"?>
<p:tagLst xmlns:a="http://schemas.openxmlformats.org/drawingml/2006/main" xmlns:r="http://schemas.openxmlformats.org/officeDocument/2006/relationships" xmlns:p="http://schemas.openxmlformats.org/presentationml/2006/main">
  <p:tag name="ORIGINALHEIGHT" val="6.809011"/>
  <p:tag name="ORIGINALWIDTH" val="7.352427"/>
  <p:tag name="EMFCHILD" val="True"/>
</p:tagLst>
</file>

<file path=ppt/tags/tag117.xml><?xml version="1.0" encoding="utf-8"?>
<p:tagLst xmlns:a="http://schemas.openxmlformats.org/drawingml/2006/main" xmlns:r="http://schemas.openxmlformats.org/officeDocument/2006/relationships" xmlns:p="http://schemas.openxmlformats.org/presentationml/2006/main">
  <p:tag name="ORIGINALHEIGHT" val="6.152831"/>
  <p:tag name="ORIGINALWIDTH" val="4.592755"/>
  <p:tag name="EMFCHILD" val="True"/>
</p:tagLst>
</file>

<file path=ppt/tags/tag118.xml><?xml version="1.0" encoding="utf-8"?>
<p:tagLst xmlns:a="http://schemas.openxmlformats.org/drawingml/2006/main" xmlns:r="http://schemas.openxmlformats.org/officeDocument/2006/relationships" xmlns:p="http://schemas.openxmlformats.org/presentationml/2006/main">
  <p:tag name="ORIGINALHEIGHT" val="4.42013"/>
  <p:tag name="ORIGINALWIDTH" val="3.082434"/>
  <p:tag name="EMFCHILD" val="True"/>
</p:tagLst>
</file>

<file path=ppt/tags/tag119.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120.xml><?xml version="1.0" encoding="utf-8"?>
<p:tagLst xmlns:a="http://schemas.openxmlformats.org/drawingml/2006/main" xmlns:r="http://schemas.openxmlformats.org/officeDocument/2006/relationships" xmlns:p="http://schemas.openxmlformats.org/presentationml/2006/main">
  <p:tag name="ORIGINALHEIGHT" val="8.653899"/>
  <p:tag name="ORIGINALWIDTH" val="4.971324"/>
  <p:tag name="EMFCHILD" val="True"/>
</p:tagLst>
</file>

<file path=ppt/tags/tag121.xml><?xml version="1.0" encoding="utf-8"?>
<p:tagLst xmlns:a="http://schemas.openxmlformats.org/drawingml/2006/main" xmlns:r="http://schemas.openxmlformats.org/officeDocument/2006/relationships" xmlns:p="http://schemas.openxmlformats.org/presentationml/2006/main">
  <p:tag name="ORIGINALHEIGHT" val="2.225285"/>
  <p:tag name="ORIGINALWIDTH" val="6.625152"/>
  <p:tag name="EMFCHILD" val="True"/>
</p:tagLst>
</file>

<file path=ppt/tags/tag122.xml><?xml version="1.0" encoding="utf-8"?>
<p:tagLst xmlns:a="http://schemas.openxmlformats.org/drawingml/2006/main" xmlns:r="http://schemas.openxmlformats.org/officeDocument/2006/relationships" xmlns:p="http://schemas.openxmlformats.org/presentationml/2006/main">
  <p:tag name="ORIGINALHEIGHT" val="6.542731"/>
  <p:tag name="ORIGINALWIDTH" val="4.194264"/>
  <p:tag name="EMFCHILD" val="True"/>
</p:tagLst>
</file>

<file path=ppt/tags/tag123.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1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SJTU标准I">
      <a:majorFont>
        <a:latin typeface="Book Antiqua"/>
        <a:ea typeface="黑体"/>
        <a:cs typeface=""/>
      </a:majorFont>
      <a:minorFont>
        <a:latin typeface="Book Antiqua"/>
        <a:ea typeface="黑体"/>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1343</TotalTime>
  <Words>3063</Words>
  <Application>Microsoft Office PowerPoint</Application>
  <PresentationFormat>宽屏</PresentationFormat>
  <Paragraphs>228</Paragraphs>
  <Slides>34</Slides>
  <Notes>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34</vt:i4>
      </vt:variant>
    </vt:vector>
  </HeadingPairs>
  <TitlesOfParts>
    <vt:vector size="46" baseType="lpstr">
      <vt:lpstr>CMMI10</vt:lpstr>
      <vt:lpstr>FandolSong-Regular-Identity-H</vt:lpstr>
      <vt:lpstr>等线</vt:lpstr>
      <vt:lpstr>SimSun</vt:lpstr>
      <vt:lpstr>微软雅黑</vt:lpstr>
      <vt:lpstr>微软雅黑</vt:lpstr>
      <vt:lpstr>Arial</vt:lpstr>
      <vt:lpstr>Book Antiqua</vt:lpstr>
      <vt:lpstr>Cambria Math</vt:lpstr>
      <vt:lpstr>Times New Roman</vt:lpstr>
      <vt:lpstr>Wingdings</vt:lpstr>
      <vt:lpstr>1_自定义设计方案</vt:lpstr>
      <vt:lpstr>PowerPoint 演示文稿</vt:lpstr>
      <vt:lpstr>目录</vt:lpstr>
      <vt:lpstr>目录</vt:lpstr>
      <vt:lpstr>什么是高维数据？</vt:lpstr>
      <vt:lpstr>讨论：高维数据有什么特点？(假如我们生活在1千维的空间中)</vt:lpstr>
      <vt:lpstr>高维空间中数据的稀疏性</vt:lpstr>
      <vt:lpstr>数据的稀疏性：在高维图像空间中采样</vt:lpstr>
      <vt:lpstr>体积集中在表面的特性</vt:lpstr>
      <vt:lpstr>体积集中在表面：随机采样采不到内部</vt:lpstr>
      <vt:lpstr>距离的集中效应</vt:lpstr>
      <vt:lpstr>距离的集中效应</vt:lpstr>
      <vt:lpstr>角度的集中效应—正交性</vt:lpstr>
      <vt:lpstr>理解距离和角度的集中效应</vt:lpstr>
      <vt:lpstr>高斯环带定理</vt:lpstr>
      <vt:lpstr>理解高斯环带定理</vt:lpstr>
      <vt:lpstr>理解高斯环带定理</vt:lpstr>
      <vt:lpstr>随机投影引理</vt:lpstr>
      <vt:lpstr>随机投影引理</vt:lpstr>
      <vt:lpstr>高维空间中数据的线性可分性</vt:lpstr>
      <vt:lpstr>目录</vt:lpstr>
      <vt:lpstr>什么是维数灾难？</vt:lpstr>
      <vt:lpstr>维数灾难的例子：数值积分</vt:lpstr>
      <vt:lpstr>维数灾难的例子：偏微分方程数值解</vt:lpstr>
      <vt:lpstr>维数灾难的例子：函数逼近</vt:lpstr>
      <vt:lpstr>目录</vt:lpstr>
      <vt:lpstr>克服维数灾难的方法—蒙特卡洛采样</vt:lpstr>
      <vt:lpstr>克服维数灾难的方法—蒙特卡洛采样（例子）</vt:lpstr>
      <vt:lpstr>克服维数灾难的方法—神经网络</vt:lpstr>
      <vt:lpstr>神经网络克服维数灾难的理解*</vt:lpstr>
      <vt:lpstr>神经网络克服维数灾难的理解*</vt:lpstr>
      <vt:lpstr>目录</vt:lpstr>
      <vt:lpstr>内容小结</vt:lpstr>
      <vt:lpstr>作业</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Frequency perspective to understand depth effect and robustness of deep learning</dc:title>
  <dc:creator>zhiqin xu</dc:creator>
  <cp:lastModifiedBy>zhiqin xu</cp:lastModifiedBy>
  <cp:revision>576</cp:revision>
  <dcterms:created xsi:type="dcterms:W3CDTF">2020-06-05T07:59:00Z</dcterms:created>
  <dcterms:modified xsi:type="dcterms:W3CDTF">2026-02-23T03:25:09Z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0FE3EF06A9C74838A2BB9773EB8F8EE0_12</vt:lpwstr>
  </property>
  <property fmtid="{D5CDD505-2E9C-101B-9397-08002B2CF9AE}" pid="3" name="KSOProductBuildVer">
    <vt:lpwstr>2052-12.1.0.19302</vt:lpwstr>
  </property>
</Properties>
</file>