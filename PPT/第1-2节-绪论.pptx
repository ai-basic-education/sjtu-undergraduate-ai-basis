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3"/>
  </p:notesMasterIdLst>
  <p:sldIdLst>
    <p:sldId id="10407" r:id="rId2"/>
    <p:sldId id="10330" r:id="rId3"/>
    <p:sldId id="10368" r:id="rId4"/>
    <p:sldId id="10361" r:id="rId5"/>
    <p:sldId id="10331" r:id="rId6"/>
    <p:sldId id="10439" r:id="rId7"/>
    <p:sldId id="342" r:id="rId8"/>
    <p:sldId id="345" r:id="rId9"/>
    <p:sldId id="320" r:id="rId10"/>
    <p:sldId id="258" r:id="rId11"/>
    <p:sldId id="10718" r:id="rId12"/>
    <p:sldId id="10719" r:id="rId13"/>
    <p:sldId id="10362" r:id="rId14"/>
    <p:sldId id="10365" r:id="rId15"/>
    <p:sldId id="10364" r:id="rId16"/>
    <p:sldId id="10720" r:id="rId17"/>
    <p:sldId id="10332" r:id="rId18"/>
    <p:sldId id="10416" r:id="rId19"/>
    <p:sldId id="10422" r:id="rId20"/>
    <p:sldId id="10360" r:id="rId21"/>
    <p:sldId id="10423" r:id="rId22"/>
    <p:sldId id="10417" r:id="rId23"/>
    <p:sldId id="10421" r:id="rId24"/>
    <p:sldId id="10437" r:id="rId25"/>
    <p:sldId id="10438" r:id="rId26"/>
    <p:sldId id="10420" r:id="rId27"/>
    <p:sldId id="10721" r:id="rId28"/>
    <p:sldId id="10722" r:id="rId29"/>
    <p:sldId id="10432" r:id="rId30"/>
    <p:sldId id="10418" r:id="rId31"/>
    <p:sldId id="10419" r:id="rId32"/>
    <p:sldId id="10369" r:id="rId33"/>
    <p:sldId id="10333" r:id="rId34"/>
    <p:sldId id="10334" r:id="rId35"/>
    <p:sldId id="10335" r:id="rId36"/>
    <p:sldId id="10336" r:id="rId37"/>
    <p:sldId id="10337" r:id="rId38"/>
    <p:sldId id="10338" r:id="rId39"/>
    <p:sldId id="10339" r:id="rId40"/>
    <p:sldId id="10410" r:id="rId41"/>
    <p:sldId id="10409" r:id="rId42"/>
    <p:sldId id="10341" r:id="rId43"/>
    <p:sldId id="10342" r:id="rId44"/>
    <p:sldId id="10343" r:id="rId45"/>
    <p:sldId id="10366" r:id="rId46"/>
    <p:sldId id="10345" r:id="rId47"/>
    <p:sldId id="10350" r:id="rId48"/>
    <p:sldId id="10347" r:id="rId49"/>
    <p:sldId id="10346" r:id="rId50"/>
    <p:sldId id="10348" r:id="rId51"/>
    <p:sldId id="10349" r:id="rId52"/>
    <p:sldId id="10344" r:id="rId53"/>
    <p:sldId id="10367" r:id="rId54"/>
    <p:sldId id="10351" r:id="rId55"/>
    <p:sldId id="10434" r:id="rId56"/>
    <p:sldId id="10435" r:id="rId57"/>
    <p:sldId id="10413" r:id="rId58"/>
    <p:sldId id="10411" r:id="rId59"/>
    <p:sldId id="10412" r:id="rId60"/>
    <p:sldId id="2312" r:id="rId61"/>
    <p:sldId id="10320" r:id="rId6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耀宇" initials="张耀宇" lastIdx="1" clrIdx="0"/>
  <p:cmAuthor id="2" name="zhiqin xu" initials="zx"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B7F"/>
    <a:srgbClr val="000000"/>
    <a:srgbClr val="070707"/>
    <a:srgbClr val="1D41D5"/>
    <a:srgbClr val="3232FF"/>
    <a:srgbClr val="0000FF"/>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91" autoAdjust="0"/>
    <p:restoredTop sz="85125" autoAdjust="0"/>
  </p:normalViewPr>
  <p:slideViewPr>
    <p:cSldViewPr snapToGrid="0">
      <p:cViewPr varScale="1">
        <p:scale>
          <a:sx n="72" d="100"/>
          <a:sy n="72" d="100"/>
        </p:scale>
        <p:origin x="183" y="39"/>
      </p:cViewPr>
      <p:guideLst/>
    </p:cSldViewPr>
  </p:slideViewPr>
  <p:notesTextViewPr>
    <p:cViewPr>
      <p:scale>
        <a:sx n="3" d="2"/>
        <a:sy n="3" d="2"/>
      </p:scale>
      <p:origin x="0" y="0"/>
    </p:cViewPr>
  </p:notesTextViewPr>
  <p:sorterViewPr>
    <p:cViewPr varScale="1">
      <p:scale>
        <a:sx n="1" d="1"/>
        <a:sy n="1" d="1"/>
      </p:scale>
      <p:origin x="0" y="-6945"/>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9CCD4-B0A0-4411-AF27-E52F275BA53D}" type="datetimeFigureOut">
              <a:rPr lang="zh-CN" altLang="en-US" smtClean="0"/>
              <a:t>2026/10/22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B6C25-FFE4-4126-ADF1-3137FE8DB2D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FB6C25-FFE4-4126-ADF1-3137FE8DB2D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a:t>1956</a:t>
            </a:r>
            <a:r>
              <a:rPr lang="zh-CN" altLang="en-US"/>
              <a:t>年达特茅斯会议：马文</a:t>
            </a:r>
            <a:r>
              <a:rPr lang="en-US" altLang="zh-CN"/>
              <a:t>·</a:t>
            </a:r>
            <a:r>
              <a:rPr lang="zh-CN" altLang="en-US"/>
              <a:t>明斯基、约翰</a:t>
            </a:r>
            <a:r>
              <a:rPr lang="en-US" altLang="zh-CN"/>
              <a:t>·</a:t>
            </a:r>
            <a:r>
              <a:rPr lang="zh-CN" altLang="en-US"/>
              <a:t>麦卡锡和两位资深科学家组织：</a:t>
            </a:r>
            <a:r>
              <a:rPr lang="en-US" altLang="zh-CN"/>
              <a:t>IBM</a:t>
            </a:r>
            <a:r>
              <a:rPr lang="zh-CN" altLang="en-US"/>
              <a:t>的克劳德</a:t>
            </a:r>
            <a:r>
              <a:rPr lang="en-US" altLang="zh-CN"/>
              <a:t>·</a:t>
            </a:r>
            <a:r>
              <a:rPr lang="zh-CN" altLang="en-US"/>
              <a:t>香农和内森</a:t>
            </a:r>
            <a:r>
              <a:rPr lang="en-US" altLang="zh-CN"/>
              <a:t>·</a:t>
            </a:r>
            <a:r>
              <a:rPr lang="zh-CN" altLang="en-US"/>
              <a:t>罗切斯特。会议的提案包括这一断言：“</a:t>
            </a:r>
            <a:r>
              <a:rPr lang="en-US" altLang="zh-CN">
                <a:solidFill>
                  <a:srgbClr val="002B7F"/>
                </a:solidFill>
              </a:rPr>
              <a:t>every aspect of learning or any other feature of intelligence can be so precisely described that a machine can be made to simulate it</a:t>
            </a:r>
            <a:r>
              <a:rPr lang="zh-CN" altLang="en-US"/>
              <a:t>”。</a:t>
            </a:r>
          </a:p>
          <a:p>
            <a:endParaRPr lang="zh-CN" altLang="en-US"/>
          </a:p>
        </p:txBody>
      </p:sp>
      <p:sp>
        <p:nvSpPr>
          <p:cNvPr id="4" name="灯片编号占位符 3"/>
          <p:cNvSpPr>
            <a:spLocks noGrp="1"/>
          </p:cNvSpPr>
          <p:nvPr>
            <p:ph type="sldNum" sz="quarter" idx="5"/>
          </p:nvPr>
        </p:nvSpPr>
        <p:spPr/>
        <p:txBody>
          <a:bodyPr/>
          <a:lstStyle/>
          <a:p>
            <a:fld id="{B3FB6C25-FFE4-4126-ADF1-3137FE8DB2D2}" type="slidenum">
              <a:rPr lang="zh-CN" altLang="en-US" smtClean="0"/>
              <a:t>36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9.jpeg"/></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2026/10/22</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2026/10/22</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纯标题">
    <p:spTree>
      <p:nvGrpSpPr>
        <p:cNvPr id="1" name=""/>
        <p:cNvGrpSpPr/>
        <p:nvPr/>
      </p:nvGrpSpPr>
      <p:grpSpPr>
        <a:xfrm>
          <a:off x="0" y="0"/>
          <a:ext cx="0" cy="0"/>
          <a:chOff x="0" y="0"/>
          <a:chExt cx="0" cy="0"/>
        </a:xfrm>
      </p:grpSpPr>
      <p:pic>
        <p:nvPicPr>
          <p:cNvPr id="3"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284" y="174625"/>
            <a:ext cx="202353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14"/>
          <p:cNvSpPr/>
          <p:nvPr/>
        </p:nvSpPr>
        <p:spPr>
          <a:xfrm>
            <a:off x="0" y="6765926"/>
            <a:ext cx="12192000" cy="92075"/>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pic>
        <p:nvPicPr>
          <p:cNvPr id="7"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23963"/>
            <a:ext cx="12192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
            <a:ext cx="121920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58284" y="174625"/>
            <a:ext cx="202353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userDrawn="1"/>
        </p:nvSpPr>
        <p:spPr>
          <a:xfrm>
            <a:off x="0" y="6765926"/>
            <a:ext cx="12192000" cy="92075"/>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pic>
        <p:nvPicPr>
          <p:cNvPr id="11" name="图片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1223963"/>
            <a:ext cx="12192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4"/>
          <p:cNvSpPr>
            <a:spLocks noGrp="1"/>
          </p:cNvSpPr>
          <p:nvPr>
            <p:ph type="title"/>
          </p:nvPr>
        </p:nvSpPr>
        <p:spPr>
          <a:xfrm>
            <a:off x="658702" y="975603"/>
            <a:ext cx="11162884" cy="574183"/>
          </a:xfrm>
          <a:prstGeom prst="rect">
            <a:avLst/>
          </a:prstGeom>
        </p:spPr>
        <p:txBody>
          <a:bodyPr/>
          <a:lstStyle>
            <a:lvl1pPr>
              <a:defRPr sz="3200" b="1">
                <a:solidFill>
                  <a:srgbClr val="C00000"/>
                </a:solidFill>
              </a:defRPr>
            </a:lvl1pPr>
          </a:lstStyle>
          <a:p>
            <a:r>
              <a:rPr lang="zh-CN" altLang="en-US"/>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
            <a:ext cx="12192000" cy="665863"/>
          </a:xfrm>
          <a:prstGeom prst="rect">
            <a:avLst/>
          </a:prstGeom>
        </p:spPr>
      </p:pic>
      <p:sp>
        <p:nvSpPr>
          <p:cNvPr id="7" name="矩形 6"/>
          <p:cNvSpPr/>
          <p:nvPr/>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6" y="6100774"/>
            <a:ext cx="2611396" cy="518469"/>
          </a:xfrm>
          <a:prstGeom prst="rect">
            <a:avLst/>
          </a:prstGeom>
        </p:spPr>
      </p:pic>
      <p:sp>
        <p:nvSpPr>
          <p:cNvPr id="2" name="标题 1"/>
          <p:cNvSpPr>
            <a:spLocks noGrp="1"/>
          </p:cNvSpPr>
          <p:nvPr>
            <p:ph type="title"/>
          </p:nvPr>
        </p:nvSpPr>
        <p:spPr>
          <a:xfrm>
            <a:off x="431802" y="235137"/>
            <a:ext cx="8632687"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65863"/>
          </a:xfrm>
          <a:prstGeom prst="rect">
            <a:avLst/>
          </a:prstGeom>
        </p:spPr>
      </p:pic>
      <p:sp>
        <p:nvSpPr>
          <p:cNvPr id="10" name="矩形 9"/>
          <p:cNvSpPr/>
          <p:nvPr userDrawn="1"/>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4519" y="6100774"/>
            <a:ext cx="2143761"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spTree>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0"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jpeg"/><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jpeg"/><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audio" Target="../media/media1.wav"/><Relationship Id="rId1" Type="http://schemas.microsoft.com/office/2007/relationships/media" Target="../media/media1.wav"/><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5.xml"/><Relationship Id="rId4" Type="http://schemas.openxmlformats.org/officeDocument/2006/relationships/image" Target="../media/image36.jpeg"/></Relationships>
</file>

<file path=ppt/slides/_rels/slide16.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hyperlink" Target="http://www.andreykurenkov.com/writing/ai/a-brief-history-of-neural-nets-and-deep-learning/"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 Id="rId6" Type="http://schemas.openxmlformats.org/officeDocument/2006/relationships/image" Target="../media/image41.png"/><Relationship Id="rId5" Type="http://schemas.openxmlformats.org/officeDocument/2006/relationships/image" Target="../media/image1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4" Type="http://schemas.openxmlformats.org/officeDocument/2006/relationships/image" Target="../media/image15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6" Type="http://schemas.openxmlformats.org/officeDocument/2006/relationships/image" Target="../media/image42.png"/><Relationship Id="rId5" Type="http://schemas.openxmlformats.org/officeDocument/2006/relationships/image" Target="../media/image241.png"/><Relationship Id="rId4" Type="http://schemas.openxmlformats.org/officeDocument/2006/relationships/image" Target="../media/image16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5" Type="http://schemas.openxmlformats.org/officeDocument/2006/relationships/image" Target="../media/image43.png"/><Relationship Id="rId4" Type="http://schemas.openxmlformats.org/officeDocument/2006/relationships/image" Target="../media/image80.png"/></Relationships>
</file>

<file path=ppt/slides/_rels/slide23.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5.png"/><Relationship Id="rId1" Type="http://schemas.openxmlformats.org/officeDocument/2006/relationships/slideLayout" Target="../slideLayouts/slideLayout6.xml"/><Relationship Id="rId5" Type="http://schemas.openxmlformats.org/officeDocument/2006/relationships/image" Target="../media/image47.png"/><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7" Type="http://schemas.openxmlformats.org/officeDocument/2006/relationships/image" Target="../media/image48.png"/><Relationship Id="rId1" Type="http://schemas.openxmlformats.org/officeDocument/2006/relationships/slideLayout" Target="../slideLayouts/slideLayout6.xml"/><Relationship Id="rId6" Type="http://schemas.openxmlformats.org/officeDocument/2006/relationships/image" Target="../media/image280.png"/><Relationship Id="rId4" Type="http://schemas.openxmlformats.org/officeDocument/2006/relationships/image" Target="../media/image26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 Id="rId4" Type="http://schemas.openxmlformats.org/officeDocument/2006/relationships/hyperlink" Target="http://www.andreykurenkov.com/writing/ai/a-brief-history-of-neural-nets-and-deep-learning/"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250.png"/><Relationship Id="rId2" Type="http://schemas.openxmlformats.org/officeDocument/2006/relationships/image" Target="../media/image52.png"/><Relationship Id="rId1" Type="http://schemas.openxmlformats.org/officeDocument/2006/relationships/slideLayout" Target="../slideLayouts/slideLayout6.xml"/><Relationship Id="rId6" Type="http://schemas.openxmlformats.org/officeDocument/2006/relationships/image" Target="../media/image240.png"/></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6.xml"/><Relationship Id="rId5" Type="http://schemas.openxmlformats.org/officeDocument/2006/relationships/image" Target="../media/image63.png"/><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4" Type="http://schemas.openxmlformats.org/officeDocument/2006/relationships/image" Target="../media/image3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64.GIF"/><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4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4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6.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47.xml.rels><?xml version="1.0" encoding="UTF-8" standalone="yes"?>
<Relationships xmlns="http://schemas.openxmlformats.org/package/2006/relationships"><Relationship Id="rId3" Type="http://schemas.openxmlformats.org/officeDocument/2006/relationships/image" Target="../media/image71.GIF"/><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6.xml"/><Relationship Id="rId4" Type="http://schemas.openxmlformats.org/officeDocument/2006/relationships/image" Target="../media/image74.png"/></Relationships>
</file>

<file path=ppt/slides/_rels/slide5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6.xml"/><Relationship Id="rId4" Type="http://schemas.openxmlformats.org/officeDocument/2006/relationships/image" Target="../media/image75.jpeg"/></Relationships>
</file>

<file path=ppt/slides/_rels/slide5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Layout" Target="../slideLayouts/slideLayout6.xml"/><Relationship Id="rId5" Type="http://schemas.openxmlformats.org/officeDocument/2006/relationships/image" Target="../media/image80.jpeg"/><Relationship Id="rId4" Type="http://schemas.openxmlformats.org/officeDocument/2006/relationships/image" Target="../media/image79.jpeg"/></Relationships>
</file>

<file path=ppt/slides/_rels/slide53.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slideLayout" Target="../slideLayouts/slideLayout6.xml"/><Relationship Id="rId4" Type="http://schemas.openxmlformats.org/officeDocument/2006/relationships/image" Target="../media/image83.png"/></Relationships>
</file>

<file path=ppt/slides/_rels/slide5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slideLayout" Target="../slideLayouts/slideLayout6.xml"/><Relationship Id="rId1" Type="http://schemas.openxmlformats.org/officeDocument/2006/relationships/tags" Target="../tags/tag6.xml"/><Relationship Id="rId6" Type="http://schemas.openxmlformats.org/officeDocument/2006/relationships/image" Target="../media/image86.png"/><Relationship Id="rId5" Type="http://schemas.openxmlformats.org/officeDocument/2006/relationships/image" Target="../media/image89.png"/><Relationship Id="rId4" Type="http://schemas.openxmlformats.org/officeDocument/2006/relationships/image" Target="../media/image8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91" y="3694683"/>
            <a:ext cx="12192000" cy="2769989"/>
          </a:xfrm>
          <a:prstGeom prst="rect">
            <a:avLst/>
          </a:prstGeom>
          <a:noFill/>
        </p:spPr>
        <p:txBody>
          <a:bodyPr wrap="square" rtlCol="0" anchor="ctr">
            <a:spAutoFit/>
          </a:bodyPr>
          <a:lstStyle/>
          <a:p>
            <a:pPr indent="0" algn="ctr" defTabSz="864235" fontAlgn="auto">
              <a:lnSpc>
                <a:spcPct val="100000"/>
              </a:lnSpc>
              <a:spcAft>
                <a:spcPts val="2400"/>
              </a:spcAft>
              <a:defRPr/>
            </a:pPr>
            <a:r>
              <a:rPr lang="zh-CN" altLang="en-US" sz="5400" dirty="0">
                <a:solidFill>
                  <a:schemeClr val="bg1"/>
                </a:solidFill>
                <a:latin typeface="微软雅黑" panose="020B0503020204020204" pitchFamily="34" charset="-122"/>
                <a:ea typeface="微软雅黑" panose="020B0503020204020204" pitchFamily="34" charset="-122"/>
              </a:rPr>
              <a:t>人工智能导论</a:t>
            </a:r>
            <a:endParaRPr kumimoji="0" lang="zh-CN" altLang="en-US"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indent="0" algn="ctr" defTabSz="864235" fontAlgn="auto">
              <a:lnSpc>
                <a:spcPct val="100000"/>
              </a:lnSpc>
              <a:spcAft>
                <a:spcPts val="2400"/>
              </a:spcAft>
              <a:defRPr/>
            </a:pPr>
            <a:r>
              <a:rPr lang="zh-CN" altLang="en-US" sz="2000" dirty="0">
                <a:solidFill>
                  <a:schemeClr val="bg1"/>
                </a:solidFill>
                <a:latin typeface="微软雅黑" panose="020B0503020204020204" pitchFamily="34" charset="-122"/>
                <a:ea typeface="微软雅黑" panose="020B0503020204020204" pitchFamily="34" charset="-122"/>
              </a:rPr>
              <a:t>上海交通大学</a:t>
            </a:r>
            <a:endParaRPr lang="en-US" altLang="zh-CN" sz="2000" dirty="0">
              <a:solidFill>
                <a:schemeClr val="bg1"/>
              </a:solidFill>
              <a:latin typeface="微软雅黑" panose="020B0503020204020204" pitchFamily="34" charset="-122"/>
              <a:ea typeface="微软雅黑" panose="020B0503020204020204" pitchFamily="34" charset="-122"/>
            </a:endParaRPr>
          </a:p>
          <a:p>
            <a:pPr indent="0" algn="ctr" defTabSz="864235" fontAlgn="auto">
              <a:lnSpc>
                <a:spcPct val="100000"/>
              </a:lnSpc>
              <a:spcAft>
                <a:spcPts val="2400"/>
              </a:spcAft>
              <a:defRPr/>
            </a:pPr>
            <a:r>
              <a:rPr lang="en-US" altLang="zh-CN" sz="2000" dirty="0">
                <a:solidFill>
                  <a:schemeClr val="bg1"/>
                </a:solidFill>
                <a:latin typeface="微软雅黑" panose="020B0503020204020204" pitchFamily="34" charset="-122"/>
                <a:ea typeface="微软雅黑" panose="020B0503020204020204" pitchFamily="34" charset="-122"/>
              </a:rPr>
              <a:t>SJTU AI</a:t>
            </a:r>
            <a:r>
              <a:rPr lang="zh-CN" altLang="en-US" sz="2000" dirty="0">
                <a:solidFill>
                  <a:schemeClr val="bg1"/>
                </a:solidFill>
                <a:latin typeface="微软雅黑" panose="020B0503020204020204" pitchFamily="34" charset="-122"/>
                <a:ea typeface="微软雅黑" panose="020B0503020204020204" pitchFamily="34" charset="-122"/>
              </a:rPr>
              <a:t>大课</a:t>
            </a:r>
          </a:p>
          <a:p>
            <a:pPr lvl="0" algn="ctr" defTabSz="864235">
              <a:defRPr/>
            </a:pPr>
            <a:fld id="{E102F756-3B96-CC46-A2D4-96CC8736307C}" type="datetime3">
              <a:rPr lang="zh-CN" altLang="en-US" sz="2000">
                <a:solidFill>
                  <a:schemeClr val="bg1"/>
                </a:solidFill>
                <a:latin typeface="微软雅黑" panose="020B0503020204020204" pitchFamily="34" charset="-122"/>
                <a:ea typeface="微软雅黑" panose="020B0503020204020204" pitchFamily="34" charset="-122"/>
              </a:rPr>
              <a:pPr lvl="0" algn="ctr" defTabSz="864235">
                <a:defRPr/>
              </a:pPr>
              <a:t>2026年10月22日星期四</a:t>
            </a:fld>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0190"/>
    </mc:Choice>
    <mc:Fallback xmlns="">
      <p:transition spd="slow" advTm="1019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935" y="144826"/>
            <a:ext cx="2576687" cy="337358"/>
          </a:xfrm>
        </p:spPr>
        <p:txBody>
          <a:bodyPr/>
          <a:lstStyle/>
          <a:p>
            <a:r>
              <a:rPr lang="zh-CN" altLang="en-US" sz="2800"/>
              <a:t>目录</a:t>
            </a:r>
          </a:p>
        </p:txBody>
      </p:sp>
      <p:sp>
        <p:nvSpPr>
          <p:cNvPr id="3" name="文本框 2"/>
          <p:cNvSpPr txBox="1"/>
          <p:nvPr/>
        </p:nvSpPr>
        <p:spPr>
          <a:xfrm>
            <a:off x="3855154" y="1797416"/>
            <a:ext cx="4134465"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一、人工智能简介与应用</a:t>
            </a:r>
          </a:p>
        </p:txBody>
      </p:sp>
      <p:sp>
        <p:nvSpPr>
          <p:cNvPr id="4" name="文本框 3"/>
          <p:cNvSpPr txBox="1"/>
          <p:nvPr/>
        </p:nvSpPr>
        <p:spPr>
          <a:xfrm>
            <a:off x="3855154" y="2950797"/>
            <a:ext cx="4265911"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二、人工智能的发展简史</a:t>
            </a:r>
          </a:p>
        </p:txBody>
      </p:sp>
      <p:sp>
        <p:nvSpPr>
          <p:cNvPr id="5" name="文本框 1">
            <a:extLst>
              <a:ext uri="{FF2B5EF4-FFF2-40B4-BE49-F238E27FC236}">
                <a16:creationId xmlns:a16="http://schemas.microsoft.com/office/drawing/2014/main" id="{DBB0B221-900C-6139-C2B2-A31841B484EE}"/>
              </a:ext>
            </a:extLst>
          </p:cNvPr>
          <p:cNvSpPr txBox="1"/>
          <p:nvPr/>
        </p:nvSpPr>
        <p:spPr>
          <a:xfrm>
            <a:off x="268764" y="5368296"/>
            <a:ext cx="4544834"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000" dirty="0"/>
              <a:t>参考：</a:t>
            </a:r>
            <a:r>
              <a:rPr lang="en-US" altLang="zh-CN" sz="2000" dirty="0"/>
              <a:t>《</a:t>
            </a:r>
            <a:r>
              <a:rPr lang="zh-CN" altLang="en-US" sz="2000" dirty="0"/>
              <a:t>深度学习现象导论</a:t>
            </a:r>
            <a:r>
              <a:rPr lang="en-US" altLang="zh-CN" sz="2000" dirty="0"/>
              <a:t>》</a:t>
            </a:r>
            <a:r>
              <a:rPr lang="zh-CN" altLang="en-US" sz="2000"/>
              <a:t>第一</a:t>
            </a:r>
            <a:r>
              <a:rPr lang="zh-CN" altLang="en-US" sz="2000" dirty="0"/>
              <a:t>章。</a:t>
            </a:r>
          </a:p>
        </p:txBody>
      </p:sp>
      <p:sp>
        <p:nvSpPr>
          <p:cNvPr id="6" name="文本框 5">
            <a:extLst>
              <a:ext uri="{FF2B5EF4-FFF2-40B4-BE49-F238E27FC236}">
                <a16:creationId xmlns:a16="http://schemas.microsoft.com/office/drawing/2014/main" id="{293CEDDA-B991-2C40-1A26-879EAF714FD7}"/>
              </a:ext>
            </a:extLst>
          </p:cNvPr>
          <p:cNvSpPr txBox="1"/>
          <p:nvPr/>
        </p:nvSpPr>
        <p:spPr>
          <a:xfrm>
            <a:off x="0" y="6611779"/>
            <a:ext cx="2863086" cy="246221"/>
          </a:xfrm>
          <a:prstGeom prst="rect">
            <a:avLst/>
          </a:prstGeom>
          <a:noFill/>
        </p:spPr>
        <p:txBody>
          <a:bodyPr wrap="square" rtlCol="0">
            <a:spAutoFit/>
          </a:bodyPr>
          <a:lstStyle/>
          <a:p>
            <a:pPr algn="l"/>
            <a:r>
              <a:rPr lang="en-US" altLang="zh-CN" sz="1000" dirty="0">
                <a:solidFill>
                  <a:schemeClr val="bg1"/>
                </a:solidFill>
              </a:rPr>
              <a:t>PPT</a:t>
            </a:r>
            <a:r>
              <a:rPr lang="zh-CN" altLang="en-US" sz="1000" dirty="0">
                <a:solidFill>
                  <a:schemeClr val="bg1"/>
                </a:solidFill>
              </a:rPr>
              <a:t>主要贡献：许志钦</a:t>
            </a:r>
          </a:p>
        </p:txBody>
      </p:sp>
    </p:spTree>
  </p:cSld>
  <p:clrMapOvr>
    <a:masterClrMapping/>
  </p:clrMapOvr>
  <p:transition advTm="9725">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935" y="144826"/>
            <a:ext cx="2576687" cy="337358"/>
          </a:xfrm>
        </p:spPr>
        <p:txBody>
          <a:bodyPr/>
          <a:lstStyle/>
          <a:p>
            <a:r>
              <a:rPr lang="zh-CN" altLang="en-US" sz="2800"/>
              <a:t>目录</a:t>
            </a:r>
          </a:p>
        </p:txBody>
      </p:sp>
      <p:sp>
        <p:nvSpPr>
          <p:cNvPr id="3" name="文本框 2"/>
          <p:cNvSpPr txBox="1"/>
          <p:nvPr/>
        </p:nvSpPr>
        <p:spPr>
          <a:xfrm>
            <a:off x="3855154" y="1797416"/>
            <a:ext cx="4134465" cy="523220"/>
          </a:xfrm>
          <a:prstGeom prst="rect">
            <a:avLst/>
          </a:prstGeom>
          <a:noFill/>
        </p:spPr>
        <p:txBody>
          <a:bodyPr wrap="none" rtlCol="0">
            <a:spAutoFit/>
          </a:bodyPr>
          <a:lstStyle/>
          <a:p>
            <a:r>
              <a:rPr lang="zh-CN" altLang="en-US" sz="2800" b="1" dirty="0">
                <a:latin typeface="微软雅黑" panose="020B0503020204020204" pitchFamily="34" charset="-122"/>
                <a:ea typeface="微软雅黑" panose="020B0503020204020204" pitchFamily="34" charset="-122"/>
              </a:rPr>
              <a:t>一、人工智能应用与简介</a:t>
            </a:r>
          </a:p>
        </p:txBody>
      </p:sp>
      <p:sp>
        <p:nvSpPr>
          <p:cNvPr id="4" name="文本框 3"/>
          <p:cNvSpPr txBox="1"/>
          <p:nvPr/>
        </p:nvSpPr>
        <p:spPr>
          <a:xfrm>
            <a:off x="3855154" y="2950797"/>
            <a:ext cx="4265911" cy="523220"/>
          </a:xfrm>
          <a:prstGeom prst="rect">
            <a:avLst/>
          </a:prstGeom>
          <a:noFill/>
        </p:spPr>
        <p:txBody>
          <a:bodyPr wrap="none" rtlCol="0">
            <a:spAutoFit/>
          </a:bodyPr>
          <a:lstStyle/>
          <a:p>
            <a:pPr algn="l"/>
            <a:r>
              <a:rPr lang="zh-CN" altLang="en-US" sz="2800" b="1" dirty="0">
                <a:solidFill>
                  <a:srgbClr val="7F7F7F"/>
                </a:solidFill>
                <a:latin typeface="微软雅黑" panose="020B0503020204020204" pitchFamily="34" charset="-122"/>
                <a:ea typeface="微软雅黑" panose="020B0503020204020204" pitchFamily="34" charset="-122"/>
              </a:rPr>
              <a:t>二、人工智能的发展简史</a:t>
            </a:r>
          </a:p>
        </p:txBody>
      </p:sp>
    </p:spTree>
  </p:cSld>
  <p:clrMapOvr>
    <a:masterClrMapping/>
  </p:clrMapOvr>
  <p:transition advTm="312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人工智能是什么？</a:t>
            </a:r>
            <a:endParaRPr lang="zh-CN" altLang="en-US" dirty="0"/>
          </a:p>
        </p:txBody>
      </p:sp>
      <p:sp>
        <p:nvSpPr>
          <p:cNvPr id="14" name="文本框 13"/>
          <p:cNvSpPr txBox="1"/>
          <p:nvPr/>
        </p:nvSpPr>
        <p:spPr>
          <a:xfrm>
            <a:off x="141253" y="949301"/>
            <a:ext cx="11757236" cy="3905043"/>
          </a:xfrm>
          <a:prstGeom prst="rect">
            <a:avLst/>
          </a:prstGeom>
          <a:noFill/>
        </p:spPr>
        <p:txBody>
          <a:bodyPr wrap="square">
            <a:spAutoFit/>
          </a:bodyPr>
          <a:lstStyle>
            <a:defPPr>
              <a:defRPr lang="zh-CN"/>
            </a:defPPr>
            <a:lvl1pPr>
              <a:lnSpc>
                <a:spcPct val="150000"/>
              </a:lnSpc>
              <a:defRPr sz="2400">
                <a:solidFill>
                  <a:srgbClr val="070707"/>
                </a:solidFill>
                <a:latin typeface="微软雅黑" panose="020B0503020204020204" pitchFamily="34" charset="-122"/>
                <a:ea typeface="微软雅黑" panose="020B0503020204020204" pitchFamily="34" charset="-122"/>
              </a:defRPr>
            </a:lvl1pPr>
          </a:lstStyle>
          <a:p>
            <a:pPr marL="342900" indent="-342900">
              <a:buFont typeface="Wingdings" panose="05000000000000000000" pitchFamily="2" charset="2"/>
              <a:buChar char="p"/>
            </a:pPr>
            <a:r>
              <a:rPr lang="zh-CN" altLang="en-US" b="1" dirty="0">
                <a:solidFill>
                  <a:srgbClr val="002B7F"/>
                </a:solidFill>
              </a:rPr>
              <a:t>人工智能（</a:t>
            </a:r>
            <a:r>
              <a:rPr lang="en-US" altLang="zh-CN" b="1" dirty="0">
                <a:solidFill>
                  <a:srgbClr val="002B7F"/>
                </a:solidFill>
              </a:rPr>
              <a:t> Artificial Intelligence ,</a:t>
            </a:r>
            <a:r>
              <a:rPr lang="zh-CN" altLang="en-US" b="1" dirty="0">
                <a:solidFill>
                  <a:srgbClr val="002B7F"/>
                </a:solidFill>
              </a:rPr>
              <a:t> </a:t>
            </a:r>
            <a:r>
              <a:rPr lang="en-US" altLang="zh-CN" b="1" dirty="0">
                <a:solidFill>
                  <a:srgbClr val="002B7F"/>
                </a:solidFill>
              </a:rPr>
              <a:t>AI</a:t>
            </a:r>
            <a:r>
              <a:rPr lang="zh-CN" altLang="en-US" b="1" dirty="0">
                <a:solidFill>
                  <a:srgbClr val="002B7F"/>
                </a:solidFill>
              </a:rPr>
              <a:t>）</a:t>
            </a:r>
            <a:r>
              <a:rPr lang="zh-CN" altLang="en-US" dirty="0"/>
              <a:t>指由人制造出来的机器所表现出来的智能。</a:t>
            </a:r>
            <a:endParaRPr lang="en-US" altLang="zh-CN" dirty="0"/>
          </a:p>
          <a:p>
            <a:pPr marL="342900" indent="-342900">
              <a:buFont typeface="Wingdings" panose="05000000000000000000" pitchFamily="2" charset="2"/>
              <a:buChar char="p"/>
            </a:pPr>
            <a:r>
              <a:rPr lang="zh-CN" altLang="en-US" b="1" dirty="0">
                <a:solidFill>
                  <a:srgbClr val="002B7F"/>
                </a:solidFill>
              </a:rPr>
              <a:t>机器学习（</a:t>
            </a:r>
            <a:r>
              <a:rPr lang="en-US" altLang="zh-CN" b="1" i="0" dirty="0">
                <a:solidFill>
                  <a:srgbClr val="002B7F"/>
                </a:solidFill>
                <a:effectLst/>
              </a:rPr>
              <a:t>Machine Learning</a:t>
            </a:r>
            <a:r>
              <a:rPr lang="en-US" altLang="zh-CN" b="1" dirty="0">
                <a:solidFill>
                  <a:srgbClr val="002B7F"/>
                </a:solidFill>
              </a:rPr>
              <a:t>,</a:t>
            </a:r>
            <a:r>
              <a:rPr lang="zh-CN" altLang="en-US" b="1" dirty="0">
                <a:solidFill>
                  <a:srgbClr val="002B7F"/>
                </a:solidFill>
              </a:rPr>
              <a:t> </a:t>
            </a:r>
            <a:r>
              <a:rPr lang="en-US" altLang="zh-CN" b="1" dirty="0">
                <a:solidFill>
                  <a:srgbClr val="002B7F"/>
                </a:solidFill>
              </a:rPr>
              <a:t>ML</a:t>
            </a:r>
            <a:r>
              <a:rPr lang="zh-CN" altLang="en-US" b="1" dirty="0">
                <a:solidFill>
                  <a:srgbClr val="002B7F"/>
                </a:solidFill>
              </a:rPr>
              <a:t>）</a:t>
            </a:r>
            <a:r>
              <a:rPr lang="zh-CN" altLang="en-US" dirty="0"/>
              <a:t>是实现人工智能常用的途径之一。</a:t>
            </a:r>
            <a:r>
              <a:rPr lang="zh-CN" altLang="en-US" b="0" i="0" dirty="0">
                <a:solidFill>
                  <a:srgbClr val="202122"/>
                </a:solidFill>
                <a:effectLst/>
              </a:rPr>
              <a:t>机器学习算法是一类从</a:t>
            </a:r>
            <a:r>
              <a:rPr lang="zh-CN" altLang="en-US" b="0" i="0" u="none" strike="noStrike" dirty="0">
                <a:effectLst/>
              </a:rPr>
              <a:t>数据</a:t>
            </a:r>
            <a:r>
              <a:rPr lang="zh-CN" altLang="en-US" b="0" i="0" dirty="0">
                <a:solidFill>
                  <a:srgbClr val="202122"/>
                </a:solidFill>
                <a:effectLst/>
              </a:rPr>
              <a:t>中自动分析获得</a:t>
            </a:r>
            <a:r>
              <a:rPr lang="zh-CN" altLang="en-US" b="0" i="0" u="none" strike="noStrike" dirty="0">
                <a:effectLst/>
              </a:rPr>
              <a:t>规律</a:t>
            </a:r>
            <a:r>
              <a:rPr lang="zh-CN" altLang="en-US" b="0" i="0" dirty="0">
                <a:solidFill>
                  <a:srgbClr val="202122"/>
                </a:solidFill>
                <a:effectLst/>
              </a:rPr>
              <a:t>，并利用规律对未知数据进行预测的算法。例如：</a:t>
            </a:r>
            <a:endParaRPr lang="en-US" altLang="zh-CN" dirty="0">
              <a:solidFill>
                <a:srgbClr val="202122"/>
              </a:solidFill>
            </a:endParaRPr>
          </a:p>
          <a:p>
            <a:pPr marL="1257300" lvl="2" indent="-342900">
              <a:lnSpc>
                <a:spcPct val="150000"/>
              </a:lnSpc>
              <a:buFont typeface="Wingdings" panose="05000000000000000000" pitchFamily="2" charset="2"/>
              <a:buChar char="p"/>
            </a:pPr>
            <a:r>
              <a:rPr lang="zh-CN" altLang="en-US" sz="2400" dirty="0">
                <a:solidFill>
                  <a:srgbClr val="202122"/>
                </a:solidFill>
                <a:latin typeface="微软雅黑" panose="020B0503020204020204" pitchFamily="34" charset="-122"/>
                <a:ea typeface="微软雅黑" panose="020B0503020204020204" pitchFamily="34" charset="-122"/>
              </a:rPr>
              <a:t>线性回归</a:t>
            </a:r>
            <a:endParaRPr lang="en-US" altLang="zh-CN" sz="2400" dirty="0">
              <a:solidFill>
                <a:srgbClr val="20212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zh-CN" altLang="en-US" sz="2400" dirty="0">
                <a:solidFill>
                  <a:srgbClr val="202122"/>
                </a:solidFill>
                <a:latin typeface="微软雅黑" panose="020B0503020204020204" pitchFamily="34" charset="-122"/>
                <a:ea typeface="微软雅黑" panose="020B0503020204020204" pitchFamily="34" charset="-122"/>
              </a:rPr>
              <a:t>神经网络</a:t>
            </a:r>
            <a:endParaRPr lang="en-US" altLang="zh-CN" sz="2400" dirty="0">
              <a:solidFill>
                <a:srgbClr val="20212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zh-CN" altLang="en-US" sz="2400" dirty="0">
                <a:solidFill>
                  <a:srgbClr val="202122"/>
                </a:solidFill>
                <a:latin typeface="微软雅黑" panose="020B0503020204020204" pitchFamily="34" charset="-122"/>
                <a:ea typeface="微软雅黑" panose="020B0503020204020204" pitchFamily="34" charset="-122"/>
              </a:rPr>
              <a:t>聚类方法</a:t>
            </a:r>
            <a:endParaRPr lang="en-US" altLang="zh-CN" sz="2400" dirty="0">
              <a:solidFill>
                <a:srgbClr val="202122"/>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3873499" y="3165292"/>
            <a:ext cx="6098822" cy="1689052"/>
          </a:xfrm>
          <a:prstGeom prst="rect">
            <a:avLst/>
          </a:prstGeom>
          <a:noFill/>
        </p:spPr>
        <p:txBody>
          <a:bodyPr wrap="square">
            <a:spAutoFit/>
          </a:bodyPr>
          <a:lstStyle/>
          <a:p>
            <a:pPr marL="800100" lvl="1" indent="-342900">
              <a:lnSpc>
                <a:spcPct val="150000"/>
              </a:lnSpc>
              <a:buFont typeface="Wingdings" panose="05000000000000000000" pitchFamily="2" charset="2"/>
              <a:buChar char="p"/>
            </a:pPr>
            <a:r>
              <a:rPr lang="zh-CN" altLang="en-US" sz="2400" dirty="0">
                <a:solidFill>
                  <a:srgbClr val="202122"/>
                </a:solidFill>
                <a:latin typeface="微软雅黑" panose="020B0503020204020204" pitchFamily="34" charset="-122"/>
                <a:ea typeface="微软雅黑" panose="020B0503020204020204" pitchFamily="34" charset="-122"/>
              </a:rPr>
              <a:t>降维</a:t>
            </a:r>
            <a:endParaRPr lang="en-US" altLang="zh-CN" sz="2400" dirty="0">
              <a:solidFill>
                <a:srgbClr val="20212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2400" dirty="0">
                <a:solidFill>
                  <a:srgbClr val="202122"/>
                </a:solidFill>
                <a:latin typeface="微软雅黑" panose="020B0503020204020204" pitchFamily="34" charset="-122"/>
                <a:ea typeface="微软雅黑" panose="020B0503020204020204" pitchFamily="34" charset="-122"/>
              </a:rPr>
              <a:t>强化学习</a:t>
            </a:r>
            <a:endParaRPr lang="en-US" altLang="zh-CN" sz="2400" dirty="0">
              <a:solidFill>
                <a:srgbClr val="20212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en-US" altLang="zh-CN" sz="2400" dirty="0">
                <a:solidFill>
                  <a:srgbClr val="202122"/>
                </a:solidFill>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46844"/>
    </mc:Choice>
    <mc:Fallback xmlns="">
      <p:transition spd="slow" advTm="4684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人工智能可以做什么</a:t>
            </a:r>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5858" r="47565" b="29071"/>
          <a:stretch>
            <a:fillRect/>
          </a:stretch>
        </p:blipFill>
        <p:spPr>
          <a:xfrm>
            <a:off x="716915" y="1116965"/>
            <a:ext cx="2475865" cy="1812925"/>
          </a:xfrm>
          <a:prstGeom prst="rect">
            <a:avLst/>
          </a:prstGeom>
          <a:noFill/>
          <a:ln w="25400">
            <a:solidFill>
              <a:srgbClr val="000000"/>
            </a:solidFill>
            <a:miter lim="800000"/>
            <a:headEnd/>
            <a:tailEnd/>
          </a:ln>
        </p:spPr>
      </p:pic>
      <p:sp>
        <p:nvSpPr>
          <p:cNvPr id="7" name="文本框 6"/>
          <p:cNvSpPr txBox="1"/>
          <p:nvPr/>
        </p:nvSpPr>
        <p:spPr>
          <a:xfrm>
            <a:off x="977411" y="3006442"/>
            <a:ext cx="1962271"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函数拟合</a:t>
            </a:r>
            <a:endParaRPr lang="zh-CN" altLang="en-US" sz="2400"/>
          </a:p>
        </p:txBody>
      </p:sp>
      <p:pic>
        <p:nvPicPr>
          <p:cNvPr id="8" name="图片 7"/>
          <p:cNvPicPr>
            <a:picLocks noChangeAspect="1"/>
          </p:cNvPicPr>
          <p:nvPr/>
        </p:nvPicPr>
        <p:blipFill>
          <a:blip r:embed="rId3"/>
          <a:stretch>
            <a:fillRect/>
          </a:stretch>
        </p:blipFill>
        <p:spPr>
          <a:xfrm>
            <a:off x="3775445" y="1107660"/>
            <a:ext cx="2437806" cy="1811426"/>
          </a:xfrm>
          <a:prstGeom prst="rect">
            <a:avLst/>
          </a:prstGeom>
          <a:noFill/>
          <a:ln w="25400">
            <a:solidFill>
              <a:srgbClr val="000000"/>
            </a:solidFill>
            <a:miter lim="800000"/>
            <a:headEnd/>
            <a:tailEnd/>
          </a:ln>
        </p:spPr>
      </p:pic>
      <p:sp>
        <p:nvSpPr>
          <p:cNvPr id="11" name="文本框 10"/>
          <p:cNvSpPr txBox="1"/>
          <p:nvPr/>
        </p:nvSpPr>
        <p:spPr>
          <a:xfrm>
            <a:off x="4083836" y="3004808"/>
            <a:ext cx="1962271"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图像识别</a:t>
            </a:r>
            <a:endParaRPr lang="zh-CN" altLang="en-US" sz="2400"/>
          </a:p>
        </p:txBody>
      </p:sp>
      <p:pic>
        <p:nvPicPr>
          <p:cNvPr id="14" name="图片 13"/>
          <p:cNvPicPr>
            <a:picLocks noChangeAspect="1"/>
          </p:cNvPicPr>
          <p:nvPr/>
        </p:nvPicPr>
        <p:blipFill>
          <a:blip r:embed="rId4"/>
          <a:stretch>
            <a:fillRect/>
          </a:stretch>
        </p:blipFill>
        <p:spPr>
          <a:xfrm>
            <a:off x="6726989" y="1107660"/>
            <a:ext cx="1811981" cy="1811981"/>
          </a:xfrm>
          <a:prstGeom prst="rect">
            <a:avLst/>
          </a:prstGeom>
          <a:noFill/>
          <a:ln w="25400">
            <a:solidFill>
              <a:srgbClr val="000000"/>
            </a:solidFill>
            <a:miter lim="800000"/>
            <a:headEnd/>
            <a:tailEnd/>
          </a:ln>
        </p:spPr>
      </p:pic>
      <p:sp>
        <p:nvSpPr>
          <p:cNvPr id="15" name="文本框 14"/>
          <p:cNvSpPr txBox="1"/>
          <p:nvPr/>
        </p:nvSpPr>
        <p:spPr>
          <a:xfrm>
            <a:off x="6651843" y="3004807"/>
            <a:ext cx="1962271"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图像生成</a:t>
            </a:r>
            <a:endParaRPr lang="zh-CN" altLang="en-US" sz="2400"/>
          </a:p>
        </p:txBody>
      </p:sp>
      <p:pic>
        <p:nvPicPr>
          <p:cNvPr id="16" name="Picture 2" descr="What are large language models?. In the rapidly evolving landscape of… | by  RandomResearchAI | Mediu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39984" y="1104235"/>
            <a:ext cx="3039919" cy="182457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7" name="文本框 16"/>
          <p:cNvSpPr txBox="1"/>
          <p:nvPr/>
        </p:nvSpPr>
        <p:spPr>
          <a:xfrm>
            <a:off x="9478807" y="3008124"/>
            <a:ext cx="1962271"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大语言模型</a:t>
            </a:r>
            <a:endParaRPr lang="zh-CN" altLang="en-US" sz="2400"/>
          </a:p>
        </p:txBody>
      </p:sp>
      <p:pic>
        <p:nvPicPr>
          <p:cNvPr id="18" name="图片 17"/>
          <p:cNvPicPr>
            <a:picLocks noChangeAspect="1"/>
          </p:cNvPicPr>
          <p:nvPr/>
        </p:nvPicPr>
        <p:blipFill>
          <a:blip r:embed="rId6"/>
          <a:stretch>
            <a:fillRect/>
          </a:stretch>
        </p:blipFill>
        <p:spPr>
          <a:xfrm>
            <a:off x="3705061" y="3727456"/>
            <a:ext cx="2013730" cy="2013730"/>
          </a:xfrm>
          <a:prstGeom prst="rect">
            <a:avLst/>
          </a:prstGeom>
          <a:noFill/>
          <a:ln w="25400">
            <a:solidFill>
              <a:srgbClr val="000000"/>
            </a:solidFill>
            <a:miter lim="800000"/>
            <a:headEnd/>
            <a:tailEnd/>
          </a:ln>
        </p:spPr>
      </p:pic>
      <p:sp>
        <p:nvSpPr>
          <p:cNvPr id="19" name="文本框 18"/>
          <p:cNvSpPr txBox="1"/>
          <p:nvPr/>
        </p:nvSpPr>
        <p:spPr>
          <a:xfrm>
            <a:off x="3730790" y="5807738"/>
            <a:ext cx="1962271"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自动驾驶</a:t>
            </a:r>
            <a:endParaRPr lang="zh-CN" altLang="en-US" sz="2400"/>
          </a:p>
        </p:txBody>
      </p:sp>
      <p:pic>
        <p:nvPicPr>
          <p:cNvPr id="20" name="Picture 2" descr="alpha goçåçæå°çµæ"/>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008" t="1389" r="471" b="271"/>
          <a:stretch>
            <a:fillRect/>
          </a:stretch>
        </p:blipFill>
        <p:spPr bwMode="auto">
          <a:xfrm>
            <a:off x="6096000" y="3721005"/>
            <a:ext cx="1624314" cy="201558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1" name="图片 2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137650" y="3721005"/>
            <a:ext cx="1515635" cy="2009620"/>
          </a:xfrm>
          <a:prstGeom prst="rect">
            <a:avLst/>
          </a:prstGeom>
          <a:noFill/>
          <a:ln w="25400">
            <a:solidFill>
              <a:srgbClr val="000000"/>
            </a:solidFill>
            <a:miter lim="800000"/>
            <a:headEnd/>
            <a:tailEnd/>
          </a:ln>
        </p:spPr>
      </p:pic>
      <p:sp>
        <p:nvSpPr>
          <p:cNvPr id="22" name="文本框 21"/>
          <p:cNvSpPr txBox="1"/>
          <p:nvPr/>
        </p:nvSpPr>
        <p:spPr>
          <a:xfrm>
            <a:off x="5927021" y="5807738"/>
            <a:ext cx="1962271"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下围棋</a:t>
            </a:r>
            <a:endParaRPr lang="zh-CN" altLang="en-US" sz="2400"/>
          </a:p>
        </p:txBody>
      </p:sp>
      <p:sp>
        <p:nvSpPr>
          <p:cNvPr id="23" name="文本框 22"/>
          <p:cNvSpPr txBox="1"/>
          <p:nvPr/>
        </p:nvSpPr>
        <p:spPr>
          <a:xfrm>
            <a:off x="7958848" y="5807737"/>
            <a:ext cx="1962271"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预测蛋白质</a:t>
            </a:r>
            <a:endParaRPr lang="zh-CN" altLang="en-US" sz="2400"/>
          </a:p>
        </p:txBody>
      </p:sp>
      <p:pic>
        <p:nvPicPr>
          <p:cNvPr id="24" name="图片 23"/>
          <p:cNvPicPr>
            <a:picLocks noChangeAspect="1"/>
          </p:cNvPicPr>
          <p:nvPr/>
        </p:nvPicPr>
        <p:blipFill>
          <a:blip r:embed="rId9"/>
          <a:stretch>
            <a:fillRect/>
          </a:stretch>
        </p:blipFill>
        <p:spPr>
          <a:xfrm>
            <a:off x="634039" y="3727456"/>
            <a:ext cx="2664911" cy="2013730"/>
          </a:xfrm>
          <a:prstGeom prst="rect">
            <a:avLst/>
          </a:prstGeom>
          <a:noFill/>
          <a:ln w="25400">
            <a:solidFill>
              <a:srgbClr val="000000"/>
            </a:solidFill>
            <a:miter lim="800000"/>
            <a:headEnd/>
            <a:tailEnd/>
          </a:ln>
        </p:spPr>
      </p:pic>
      <p:sp>
        <p:nvSpPr>
          <p:cNvPr id="25" name="文本框 24"/>
          <p:cNvSpPr txBox="1"/>
          <p:nvPr/>
        </p:nvSpPr>
        <p:spPr>
          <a:xfrm>
            <a:off x="985358" y="5807738"/>
            <a:ext cx="1962271" cy="461665"/>
          </a:xfrm>
          <a:prstGeom prst="rect">
            <a:avLst/>
          </a:prstGeom>
          <a:noFill/>
        </p:spPr>
        <p:txBody>
          <a:bodyPr wrap="square">
            <a:spAutoFit/>
          </a:bodyPr>
          <a:lstStyle/>
          <a:p>
            <a:pPr algn="ctr"/>
            <a:r>
              <a:rPr lang="en-US" altLang="zh-CN" sz="2400">
                <a:solidFill>
                  <a:srgbClr val="070707"/>
                </a:solidFill>
                <a:latin typeface="微软雅黑" panose="020B0503020204020204" pitchFamily="34" charset="-122"/>
                <a:ea typeface="微软雅黑" panose="020B0503020204020204" pitchFamily="34" charset="-122"/>
              </a:rPr>
              <a:t>AI</a:t>
            </a:r>
            <a:r>
              <a:rPr lang="zh-CN" altLang="en-US" sz="2400">
                <a:solidFill>
                  <a:srgbClr val="070707"/>
                </a:solidFill>
                <a:latin typeface="微软雅黑" panose="020B0503020204020204" pitchFamily="34" charset="-122"/>
                <a:ea typeface="微软雅黑" panose="020B0503020204020204" pitchFamily="34" charset="-122"/>
              </a:rPr>
              <a:t>音乐</a:t>
            </a:r>
            <a:endParaRPr lang="zh-CN" altLang="en-US" sz="2400"/>
          </a:p>
        </p:txBody>
      </p:sp>
      <p:sp>
        <p:nvSpPr>
          <p:cNvPr id="2" name="文本框 1"/>
          <p:cNvSpPr txBox="1"/>
          <p:nvPr/>
        </p:nvSpPr>
        <p:spPr>
          <a:xfrm>
            <a:off x="9848487" y="4107187"/>
            <a:ext cx="1962271" cy="1107996"/>
          </a:xfrm>
          <a:prstGeom prst="rect">
            <a:avLst/>
          </a:prstGeom>
          <a:noFill/>
        </p:spPr>
        <p:txBody>
          <a:bodyPr wrap="square">
            <a:spAutoFit/>
          </a:bodyPr>
          <a:lstStyle/>
          <a:p>
            <a:pPr algn="ctr"/>
            <a:r>
              <a:rPr lang="en-US" altLang="zh-CN" sz="6600">
                <a:solidFill>
                  <a:srgbClr val="070707"/>
                </a:solidFill>
                <a:latin typeface="微软雅黑" panose="020B0503020204020204" pitchFamily="34" charset="-122"/>
                <a:ea typeface="微软雅黑" panose="020B0503020204020204" pitchFamily="34" charset="-122"/>
              </a:rPr>
              <a:t>…</a:t>
            </a:r>
            <a:endParaRPr lang="zh-CN"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A0B54-4A00-FA42-8EF7-35C5175EDCB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13C9027-3F10-4C52-B1F6-3C7B3FC294E4}"/>
              </a:ext>
            </a:extLst>
          </p:cNvPr>
          <p:cNvSpPr>
            <a:spLocks noGrp="1"/>
          </p:cNvSpPr>
          <p:nvPr>
            <p:ph type="title"/>
          </p:nvPr>
        </p:nvSpPr>
        <p:spPr/>
        <p:txBody>
          <a:bodyPr/>
          <a:lstStyle/>
          <a:p>
            <a:r>
              <a:rPr lang="zh-CN" altLang="en-US" dirty="0"/>
              <a:t>函数拟合</a:t>
            </a:r>
          </a:p>
        </p:txBody>
      </p:sp>
      <p:sp>
        <p:nvSpPr>
          <p:cNvPr id="10" name="文本框 9">
            <a:extLst>
              <a:ext uri="{FF2B5EF4-FFF2-40B4-BE49-F238E27FC236}">
                <a16:creationId xmlns:a16="http://schemas.microsoft.com/office/drawing/2014/main" id="{E918D192-C5C5-7DEC-F8F4-DC275E407F36}"/>
              </a:ext>
            </a:extLst>
          </p:cNvPr>
          <p:cNvSpPr txBox="1"/>
          <p:nvPr/>
        </p:nvSpPr>
        <p:spPr>
          <a:xfrm>
            <a:off x="136979" y="946452"/>
            <a:ext cx="12039600" cy="461665"/>
          </a:xfrm>
          <a:prstGeom prst="rect">
            <a:avLst/>
          </a:prstGeom>
          <a:noFill/>
        </p:spPr>
        <p:txBody>
          <a:bodyPr wrap="square">
            <a:spAutoFit/>
          </a:bodyPr>
          <a:lstStyle/>
          <a:p>
            <a:r>
              <a:rPr lang="zh-CN" altLang="en-US" sz="2400" dirty="0"/>
              <a:t>许多应用可以从函数拟合的角度进行解读，因此，函数拟合是人工智能非常基本的任务</a:t>
            </a:r>
          </a:p>
        </p:txBody>
      </p:sp>
      <p:pic>
        <p:nvPicPr>
          <p:cNvPr id="4" name="图片 3">
            <a:extLst>
              <a:ext uri="{FF2B5EF4-FFF2-40B4-BE49-F238E27FC236}">
                <a16:creationId xmlns:a16="http://schemas.microsoft.com/office/drawing/2014/main" id="{9A543F73-E5D5-48D4-D18F-ED37A25159CC}"/>
              </a:ext>
            </a:extLst>
          </p:cNvPr>
          <p:cNvPicPr>
            <a:picLocks noChangeAspect="1"/>
          </p:cNvPicPr>
          <p:nvPr/>
        </p:nvPicPr>
        <p:blipFill>
          <a:blip r:embed="rId2" cstate="print">
            <a:extLst>
              <a:ext uri="{28A0092B-C50C-407E-A947-70E740481C1C}">
                <a14:useLocalDpi xmlns:a14="http://schemas.microsoft.com/office/drawing/2010/main" val="0"/>
              </a:ext>
            </a:extLst>
          </a:blip>
          <a:srcRect b="32746"/>
          <a:stretch>
            <a:fillRect/>
          </a:stretch>
        </p:blipFill>
        <p:spPr>
          <a:xfrm>
            <a:off x="3082916" y="1484243"/>
            <a:ext cx="5248463" cy="4627148"/>
          </a:xfrm>
          <a:prstGeom prst="rect">
            <a:avLst/>
          </a:prstGeom>
        </p:spPr>
      </p:pic>
    </p:spTree>
    <p:extLst>
      <p:ext uri="{BB962C8B-B14F-4D97-AF65-F5344CB8AC3E}">
        <p14:creationId xmlns:p14="http://schemas.microsoft.com/office/powerpoint/2010/main" val="463656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图像识别：</a:t>
            </a:r>
            <a:r>
              <a:rPr lang="en-US" altLang="zh-CN" dirty="0">
                <a:latin typeface="微软雅黑" panose="020B0503020204020204" pitchFamily="34" charset="-122"/>
                <a:ea typeface="微软雅黑" panose="020B0503020204020204" pitchFamily="34" charset="-122"/>
              </a:rPr>
              <a:t>ImageNet (2009)</a:t>
            </a:r>
            <a:endParaRPr lang="zh-CN" altLang="en-US" dirty="0"/>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48066" y="2296899"/>
            <a:ext cx="1810118" cy="723839"/>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Image result for FeiFei L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8066" y="3439728"/>
            <a:ext cx="1810118" cy="2717064"/>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9858025" y="5086999"/>
            <a:ext cx="1698625" cy="368300"/>
          </a:xfrm>
          <a:prstGeom prst="rect">
            <a:avLst/>
          </a:prstGeom>
          <a:noFill/>
        </p:spPr>
        <p:txBody>
          <a:bodyPr wrap="square" rtlCol="0">
            <a:spAutoFit/>
          </a:bodyPr>
          <a:lstStyle/>
          <a:p>
            <a:r>
              <a:rPr lang="en-US" dirty="0">
                <a:latin typeface="微软雅黑" panose="020B0503020204020204" pitchFamily="34" charset="-122"/>
                <a:ea typeface="微软雅黑" panose="020B0503020204020204" pitchFamily="34" charset="-122"/>
              </a:rPr>
              <a:t>Fei-Fei Li</a:t>
            </a:r>
          </a:p>
        </p:txBody>
      </p:sp>
      <p:sp>
        <p:nvSpPr>
          <p:cNvPr id="6" name="文本框 5"/>
          <p:cNvSpPr txBox="1"/>
          <p:nvPr/>
        </p:nvSpPr>
        <p:spPr>
          <a:xfrm>
            <a:off x="563075" y="942816"/>
            <a:ext cx="10375857" cy="1135054"/>
          </a:xfrm>
          <a:prstGeom prst="rect">
            <a:avLst/>
          </a:prstGeom>
          <a:noFill/>
        </p:spPr>
        <p:txBody>
          <a:bodyPr wrap="square">
            <a:spAutoFit/>
          </a:bodyPr>
          <a:lstStyle/>
          <a:p>
            <a:pPr>
              <a:lnSpc>
                <a:spcPct val="150000"/>
              </a:lnSpc>
            </a:pPr>
            <a:r>
              <a:rPr lang="en-US" altLang="zh-CN" sz="2400" b="1" i="0">
                <a:solidFill>
                  <a:srgbClr val="070707"/>
                </a:solidFill>
                <a:effectLst/>
                <a:latin typeface="微软雅黑" panose="020B0503020204020204" pitchFamily="34" charset="-122"/>
                <a:ea typeface="微软雅黑" panose="020B0503020204020204" pitchFamily="34" charset="-122"/>
              </a:rPr>
              <a:t>ImageNet</a:t>
            </a:r>
            <a:r>
              <a:rPr lang="zh-CN" altLang="en-US" sz="2400" b="0" i="0">
                <a:solidFill>
                  <a:srgbClr val="070707"/>
                </a:solidFill>
                <a:effectLst/>
                <a:latin typeface="微软雅黑" panose="020B0503020204020204" pitchFamily="34" charset="-122"/>
                <a:ea typeface="微软雅黑" panose="020B0503020204020204" pitchFamily="34" charset="-122"/>
              </a:rPr>
              <a:t> 项目是一个大型视觉</a:t>
            </a:r>
            <a:r>
              <a:rPr lang="zh-CN" altLang="en-US" sz="2400" b="0" i="0" u="none" strike="noStrike">
                <a:solidFill>
                  <a:srgbClr val="070707"/>
                </a:solidFill>
                <a:effectLst/>
                <a:latin typeface="微软雅黑" panose="020B0503020204020204" pitchFamily="34" charset="-122"/>
                <a:ea typeface="微软雅黑" panose="020B0503020204020204" pitchFamily="34" charset="-122"/>
              </a:rPr>
              <a:t>数据库</a:t>
            </a:r>
            <a:r>
              <a:rPr lang="zh-CN" altLang="en-US" sz="2400" b="0" i="0">
                <a:solidFill>
                  <a:srgbClr val="070707"/>
                </a:solidFill>
                <a:effectLst/>
                <a:latin typeface="微软雅黑" panose="020B0503020204020204" pitchFamily="34" charset="-122"/>
                <a:ea typeface="微软雅黑" panose="020B0503020204020204" pitchFamily="34" charset="-122"/>
              </a:rPr>
              <a:t>，旨在用于</a:t>
            </a:r>
            <a:r>
              <a:rPr lang="zh-CN" altLang="en-US" sz="2400" b="0" i="0" u="none" strike="noStrike">
                <a:solidFill>
                  <a:srgbClr val="070707"/>
                </a:solidFill>
                <a:effectLst/>
                <a:latin typeface="微软雅黑" panose="020B0503020204020204" pitchFamily="34" charset="-122"/>
                <a:ea typeface="微软雅黑" panose="020B0503020204020204" pitchFamily="34" charset="-122"/>
              </a:rPr>
              <a:t>视觉对象识别软件</a:t>
            </a:r>
            <a:r>
              <a:rPr lang="zh-CN" altLang="en-US" sz="2400" b="0" i="0">
                <a:solidFill>
                  <a:srgbClr val="070707"/>
                </a:solidFill>
                <a:effectLst/>
                <a:latin typeface="微软雅黑" panose="020B0503020204020204" pitchFamily="34" charset="-122"/>
                <a:ea typeface="微软雅黑" panose="020B0503020204020204" pitchFamily="34" charset="-122"/>
              </a:rPr>
              <a:t>研究。</a:t>
            </a:r>
            <a:r>
              <a:rPr lang="zh-CN" altLang="en-US" sz="2400">
                <a:solidFill>
                  <a:srgbClr val="070707"/>
                </a:solidFill>
                <a:latin typeface="微软雅黑" panose="020B0503020204020204" pitchFamily="34" charset="-122"/>
                <a:ea typeface="微软雅黑" panose="020B0503020204020204" pitchFamily="34" charset="-122"/>
              </a:rPr>
              <a:t>该项目已有</a:t>
            </a:r>
            <a:r>
              <a:rPr lang="en-US" altLang="zh-CN" sz="2400">
                <a:solidFill>
                  <a:srgbClr val="070707"/>
                </a:solidFill>
                <a:latin typeface="微软雅黑" panose="020B0503020204020204" pitchFamily="34" charset="-122"/>
                <a:ea typeface="微软雅黑" panose="020B0503020204020204" pitchFamily="34" charset="-122"/>
              </a:rPr>
              <a:t>1400</a:t>
            </a:r>
            <a:r>
              <a:rPr lang="zh-CN" altLang="en-US" sz="2400">
                <a:solidFill>
                  <a:srgbClr val="070707"/>
                </a:solidFill>
                <a:latin typeface="微软雅黑" panose="020B0503020204020204" pitchFamily="34" charset="-122"/>
                <a:ea typeface="微软雅黑" panose="020B0503020204020204" pitchFamily="34" charset="-122"/>
              </a:rPr>
              <a:t>万张图像，包含</a:t>
            </a:r>
            <a:r>
              <a:rPr lang="en-US" altLang="zh-CN" sz="2400">
                <a:solidFill>
                  <a:srgbClr val="070707"/>
                </a:solidFill>
                <a:latin typeface="微软雅黑" panose="020B0503020204020204" pitchFamily="34" charset="-122"/>
                <a:ea typeface="微软雅黑" panose="020B0503020204020204" pitchFamily="34" charset="-122"/>
              </a:rPr>
              <a:t>20000</a:t>
            </a:r>
            <a:r>
              <a:rPr lang="zh-CN" altLang="en-US" sz="2400">
                <a:solidFill>
                  <a:srgbClr val="070707"/>
                </a:solidFill>
                <a:latin typeface="微软雅黑" panose="020B0503020204020204" pitchFamily="34" charset="-122"/>
                <a:ea typeface="微软雅黑" panose="020B0503020204020204" pitchFamily="34" charset="-122"/>
              </a:rPr>
              <a:t>多个类别</a:t>
            </a:r>
            <a:endParaRPr lang="en-US" altLang="zh-CN" sz="2400" b="0" i="0">
              <a:solidFill>
                <a:srgbClr val="070707"/>
              </a:solidFill>
              <a:effectLst/>
              <a:latin typeface="微软雅黑" panose="020B0503020204020204" pitchFamily="34" charset="-122"/>
              <a:ea typeface="微软雅黑" panose="020B0503020204020204" pitchFamily="34" charset="-122"/>
            </a:endParaRPr>
          </a:p>
        </p:txBody>
      </p:sp>
      <p:sp>
        <p:nvSpPr>
          <p:cNvPr id="11" name="文本框 10"/>
          <p:cNvSpPr txBox="1"/>
          <p:nvPr/>
        </p:nvSpPr>
        <p:spPr>
          <a:xfrm>
            <a:off x="381242" y="6344949"/>
            <a:ext cx="9577512" cy="461665"/>
          </a:xfrm>
          <a:prstGeom prst="rect">
            <a:avLst/>
          </a:prstGeom>
        </p:spPr>
        <p:txBody>
          <a:bodyPr wrap="square">
            <a:spAutoFit/>
          </a:bodyPr>
          <a:lstStyle>
            <a:defPPr>
              <a:defRPr lang="zh-CN"/>
            </a:defPPr>
            <a:lvl1pPr>
              <a:defRPr sz="1200">
                <a:solidFill>
                  <a:schemeClr val="bg1"/>
                </a:solidFill>
              </a:defRPr>
            </a:lvl1pPr>
          </a:lstStyle>
          <a:p>
            <a:r>
              <a:rPr lang="en-US" altLang="zh-CN">
                <a:latin typeface="Times New Roman" panose="02020603050405020304" pitchFamily="18" charset="0"/>
                <a:cs typeface="Times New Roman" panose="02020603050405020304" pitchFamily="18" charset="0"/>
              </a:rPr>
              <a:t>Deng J, Dong W, Socher R, et al. Imagenet: A large-scale hierarchical image database[C]//2009 IEEE conference on computer vision and pattern recognition. Ieee, 2009: 248-255.</a:t>
            </a:r>
            <a:endParaRPr lang="zh-CN" altLang="en-US">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a:blip r:embed="rId4"/>
          <a:stretch>
            <a:fillRect/>
          </a:stretch>
        </p:blipFill>
        <p:spPr>
          <a:xfrm>
            <a:off x="1757126" y="2294653"/>
            <a:ext cx="5737923" cy="3862139"/>
          </a:xfrm>
          <a:prstGeom prst="rect">
            <a:avLst/>
          </a:prstGeom>
        </p:spPr>
      </p:pic>
    </p:spTree>
    <p:extLst>
      <p:ext uri="{BB962C8B-B14F-4D97-AF65-F5344CB8AC3E}">
        <p14:creationId xmlns:p14="http://schemas.microsoft.com/office/powerpoint/2010/main" val="1356620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图像识别： </a:t>
            </a:r>
            <a:r>
              <a:rPr lang="en-US" altLang="zh-CN" dirty="0" err="1"/>
              <a:t>AlexNet</a:t>
            </a:r>
            <a:r>
              <a:rPr lang="zh-CN" altLang="en-US" dirty="0"/>
              <a:t>（</a:t>
            </a:r>
            <a:r>
              <a:rPr lang="en-US" altLang="zh-CN" dirty="0"/>
              <a:t>2012</a:t>
            </a:r>
            <a:r>
              <a:rPr lang="zh-CN" altLang="en-US" dirty="0"/>
              <a:t>）</a:t>
            </a:r>
          </a:p>
        </p:txBody>
      </p:sp>
      <p:sp>
        <p:nvSpPr>
          <p:cNvPr id="3" name="矩形 2"/>
          <p:cNvSpPr/>
          <p:nvPr/>
        </p:nvSpPr>
        <p:spPr>
          <a:xfrm>
            <a:off x="323356" y="6336470"/>
            <a:ext cx="9643110" cy="291465"/>
          </a:xfrm>
          <a:prstGeom prst="rect">
            <a:avLst/>
          </a:prstGeom>
        </p:spPr>
        <p:txBody>
          <a:bodyPr wrap="square">
            <a:spAutoFit/>
          </a:bodyPr>
          <a:lstStyle/>
          <a:p>
            <a:r>
              <a:rPr lang="en-US" altLang="zh-CN" sz="1300" dirty="0">
                <a:solidFill>
                  <a:schemeClr val="bg1"/>
                </a:solidFill>
                <a:latin typeface="Times New Roman" panose="02020603050405020304" pitchFamily="18" charset="0"/>
                <a:cs typeface="Times New Roman" panose="02020603050405020304" pitchFamily="18" charset="0"/>
              </a:rPr>
              <a:t>“ImageNet Classification with deep convolutional neural networks” Geoffrey Hinton, Alex </a:t>
            </a:r>
            <a:r>
              <a:rPr lang="en-US" altLang="zh-CN" sz="1300" dirty="0" err="1">
                <a:solidFill>
                  <a:schemeClr val="bg1"/>
                </a:solidFill>
                <a:latin typeface="Times New Roman" panose="02020603050405020304" pitchFamily="18" charset="0"/>
                <a:cs typeface="Times New Roman" panose="02020603050405020304" pitchFamily="18" charset="0"/>
              </a:rPr>
              <a:t>Krizhevsky</a:t>
            </a:r>
            <a:r>
              <a:rPr lang="en-US" altLang="zh-CN" sz="1300" dirty="0">
                <a:solidFill>
                  <a:schemeClr val="bg1"/>
                </a:solidFill>
                <a:latin typeface="Times New Roman" panose="02020603050405020304" pitchFamily="18" charset="0"/>
                <a:cs typeface="Times New Roman" panose="02020603050405020304" pitchFamily="18" charset="0"/>
              </a:rPr>
              <a:t> and Ilya </a:t>
            </a:r>
            <a:r>
              <a:rPr lang="en-US" altLang="zh-CN" sz="1300" dirty="0" err="1">
                <a:solidFill>
                  <a:schemeClr val="bg1"/>
                </a:solidFill>
                <a:latin typeface="Times New Roman" panose="02020603050405020304" pitchFamily="18" charset="0"/>
                <a:cs typeface="Times New Roman" panose="02020603050405020304" pitchFamily="18" charset="0"/>
              </a:rPr>
              <a:t>Sutskever</a:t>
            </a:r>
            <a:r>
              <a:rPr lang="en-US" altLang="zh-CN" sz="1300" dirty="0">
                <a:solidFill>
                  <a:schemeClr val="bg1"/>
                </a:solidFill>
                <a:latin typeface="Times New Roman" panose="02020603050405020304" pitchFamily="18" charset="0"/>
                <a:cs typeface="Times New Roman" panose="02020603050405020304" pitchFamily="18" charset="0"/>
              </a:rPr>
              <a:t>, 2012 </a:t>
            </a:r>
            <a:endParaRPr lang="en-US" sz="1300" dirty="0">
              <a:solidFill>
                <a:schemeClr val="bg1"/>
              </a:solidFill>
              <a:latin typeface="Times New Roman" panose="02020603050405020304" pitchFamily="18" charset="0"/>
              <a:cs typeface="Times New Roman" panose="02020603050405020304" pitchFamily="18" charset="0"/>
            </a:endParaRPr>
          </a:p>
        </p:txBody>
      </p:sp>
      <p:sp>
        <p:nvSpPr>
          <p:cNvPr id="6" name="矩形 5"/>
          <p:cNvSpPr/>
          <p:nvPr/>
        </p:nvSpPr>
        <p:spPr>
          <a:xfrm>
            <a:off x="349017" y="6578889"/>
            <a:ext cx="8937812" cy="275590"/>
          </a:xfrm>
          <a:prstGeom prst="rect">
            <a:avLst/>
          </a:prstGeom>
        </p:spPr>
        <p:txBody>
          <a:bodyPr wrap="square">
            <a:spAutoFit/>
          </a:bodyPr>
          <a:lstStyle/>
          <a:p>
            <a:r>
              <a:rPr lang="en-US" sz="1200" dirty="0">
                <a:solidFill>
                  <a:schemeClr val="bg1"/>
                </a:solidFill>
                <a:latin typeface="Times New Roman" panose="02020603050405020304" pitchFamily="18" charset="0"/>
                <a:cs typeface="Times New Roman" panose="02020603050405020304" pitchFamily="18" charset="0"/>
              </a:rPr>
              <a:t>https://qz.com/1034972/the-data-that-changed-the-direction-of-ai-research-and-possibly-the-world/</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4354" y="911057"/>
            <a:ext cx="4126089" cy="5327327"/>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323356" y="911057"/>
            <a:ext cx="7217622" cy="4459041"/>
          </a:xfrm>
          <a:prstGeom prst="rect">
            <a:avLst/>
          </a:prstGeom>
          <a:noFill/>
        </p:spPr>
        <p:txBody>
          <a:bodyPr wrap="square">
            <a:spAutoFit/>
          </a:bodyPr>
          <a:lstStyle>
            <a:defPPr>
              <a:defRPr lang="zh-CN"/>
            </a:defPPr>
            <a:lvl1pPr>
              <a:lnSpc>
                <a:spcPct val="150000"/>
              </a:lnSpc>
              <a:defRPr sz="2400" b="1" i="0">
                <a:solidFill>
                  <a:srgbClr val="070707"/>
                </a:solidFill>
                <a:effectLst/>
                <a:latin typeface="微软雅黑" panose="020B0503020204020204" pitchFamily="34" charset="-122"/>
                <a:ea typeface="微软雅黑" panose="020B0503020204020204" pitchFamily="34" charset="-122"/>
              </a:defRPr>
            </a:lvl1pPr>
          </a:lstStyle>
          <a:p>
            <a:pPr marL="342900" indent="-342900">
              <a:buFont typeface="Wingdings" panose="05000000000000000000" pitchFamily="2" charset="2"/>
              <a:buChar char="p"/>
            </a:pPr>
            <a:r>
              <a:rPr lang="en-US" altLang="zh-CN" dirty="0" err="1"/>
              <a:t>AlexNet</a:t>
            </a:r>
            <a:r>
              <a:rPr lang="en-US" altLang="zh-CN" b="0" dirty="0"/>
              <a:t> </a:t>
            </a:r>
            <a:r>
              <a:rPr lang="zh-CN" altLang="en-US" b="0" dirty="0"/>
              <a:t>是一种卷积神经网络 架构，由 </a:t>
            </a:r>
            <a:r>
              <a:rPr lang="en-US" altLang="zh-CN" b="0" dirty="0"/>
              <a:t>Alex </a:t>
            </a:r>
            <a:r>
              <a:rPr lang="en-US" altLang="zh-CN" b="0" dirty="0" err="1"/>
              <a:t>Krizhevsky</a:t>
            </a:r>
            <a:r>
              <a:rPr lang="en-US" altLang="zh-CN" b="0" dirty="0"/>
              <a:t> </a:t>
            </a:r>
            <a:r>
              <a:rPr lang="zh-CN" altLang="en-US" b="0" dirty="0"/>
              <a:t>与 </a:t>
            </a:r>
            <a:r>
              <a:rPr lang="en-US" altLang="zh-CN" b="0" dirty="0"/>
              <a:t>Ilya </a:t>
            </a:r>
            <a:r>
              <a:rPr lang="en-US" altLang="zh-CN" b="0" dirty="0" err="1"/>
              <a:t>Sutskever</a:t>
            </a:r>
            <a:r>
              <a:rPr lang="en-US" altLang="zh-CN" b="0" dirty="0"/>
              <a:t> </a:t>
            </a:r>
            <a:r>
              <a:rPr lang="zh-CN" altLang="en-US" b="0" dirty="0"/>
              <a:t>和 </a:t>
            </a:r>
            <a:r>
              <a:rPr lang="en-US" altLang="zh-CN" b="0" dirty="0"/>
              <a:t>Geoffrey Hinton </a:t>
            </a:r>
            <a:r>
              <a:rPr lang="zh-CN" altLang="en-US" b="0" dirty="0"/>
              <a:t>合作设计</a:t>
            </a:r>
            <a:endParaRPr lang="en-US" altLang="zh-CN" b="0" dirty="0"/>
          </a:p>
          <a:p>
            <a:pPr marL="342900" indent="-342900">
              <a:buFont typeface="Wingdings" panose="05000000000000000000" pitchFamily="2" charset="2"/>
              <a:buChar char="p"/>
            </a:pPr>
            <a:r>
              <a:rPr lang="zh-CN" altLang="en-US" b="0" i="0" dirty="0">
                <a:solidFill>
                  <a:srgbClr val="202122"/>
                </a:solidFill>
                <a:effectLst/>
              </a:rPr>
              <a:t>在 </a:t>
            </a:r>
            <a:r>
              <a:rPr lang="en-US" altLang="zh-CN" b="0" i="0" dirty="0">
                <a:solidFill>
                  <a:srgbClr val="202122"/>
                </a:solidFill>
                <a:effectLst/>
              </a:rPr>
              <a:t>2012 </a:t>
            </a:r>
            <a:r>
              <a:rPr lang="zh-CN" altLang="en-US" b="0" i="0" dirty="0">
                <a:solidFill>
                  <a:srgbClr val="202122"/>
                </a:solidFill>
                <a:effectLst/>
              </a:rPr>
              <a:t>年 </a:t>
            </a:r>
            <a:r>
              <a:rPr lang="en-US" altLang="zh-CN" b="0" i="0" u="none" strike="noStrike" dirty="0">
                <a:effectLst/>
              </a:rPr>
              <a:t>ImageNet </a:t>
            </a:r>
            <a:r>
              <a:rPr lang="zh-CN" altLang="en-US" b="0" i="0" u="none" strike="noStrike" dirty="0">
                <a:effectLst/>
              </a:rPr>
              <a:t>大规模视觉识别挑战赛</a:t>
            </a:r>
            <a:r>
              <a:rPr lang="zh-CN" altLang="en-US" b="0" i="0" dirty="0">
                <a:solidFill>
                  <a:srgbClr val="202122"/>
                </a:solidFill>
                <a:effectLst/>
              </a:rPr>
              <a:t>中，</a:t>
            </a:r>
            <a:r>
              <a:rPr lang="en-US" altLang="zh-CN" b="0" i="0" dirty="0" err="1">
                <a:solidFill>
                  <a:srgbClr val="202122"/>
                </a:solidFill>
                <a:effectLst/>
              </a:rPr>
              <a:t>AlexNet</a:t>
            </a:r>
            <a:r>
              <a:rPr lang="zh-CN" altLang="en-US" b="0" i="0" dirty="0">
                <a:solidFill>
                  <a:srgbClr val="202122"/>
                </a:solidFill>
                <a:effectLst/>
              </a:rPr>
              <a:t>比第二名高出 </a:t>
            </a:r>
            <a:r>
              <a:rPr lang="en-US" altLang="zh-CN" b="0" i="0" dirty="0">
                <a:solidFill>
                  <a:srgbClr val="202122"/>
                </a:solidFill>
                <a:effectLst/>
              </a:rPr>
              <a:t>10.8 </a:t>
            </a:r>
            <a:r>
              <a:rPr lang="zh-CN" altLang="en-US" b="0" i="0" dirty="0">
                <a:solidFill>
                  <a:srgbClr val="202122"/>
                </a:solidFill>
                <a:effectLst/>
              </a:rPr>
              <a:t>个百分点以上。</a:t>
            </a:r>
            <a:endParaRPr lang="en-US" altLang="zh-CN" b="0" i="0" dirty="0">
              <a:solidFill>
                <a:srgbClr val="202122"/>
              </a:solidFill>
              <a:effectLst/>
            </a:endParaRPr>
          </a:p>
          <a:p>
            <a:pPr marL="342900" indent="-342900">
              <a:buFont typeface="Wingdings" panose="05000000000000000000" pitchFamily="2" charset="2"/>
              <a:buChar char="p"/>
            </a:pPr>
            <a:r>
              <a:rPr lang="zh-CN" altLang="en-US" b="0" dirty="0">
                <a:solidFill>
                  <a:srgbClr val="202122"/>
                </a:solidFill>
              </a:rPr>
              <a:t>其结构仅是一些老概念的组合：</a:t>
            </a:r>
            <a:r>
              <a:rPr lang="en-US" altLang="zh-CN" sz="2400" spc="0" dirty="0" err="1">
                <a:solidFill>
                  <a:schemeClr val="tx1"/>
                </a:solidFill>
              </a:rPr>
              <a:t>CNN+GPU+ReLU+Dropout+SGD</a:t>
            </a:r>
            <a:endParaRPr lang="en-US" altLang="zh-CN" sz="2400" spc="0" dirty="0">
              <a:solidFill>
                <a:schemeClr val="tx1"/>
              </a:solidFill>
            </a:endParaRPr>
          </a:p>
          <a:p>
            <a:endParaRPr lang="zh-CN" altLang="en-US" dirty="0"/>
          </a:p>
        </p:txBody>
      </p:sp>
    </p:spTree>
    <p:extLst>
      <p:ext uri="{BB962C8B-B14F-4D97-AF65-F5344CB8AC3E}">
        <p14:creationId xmlns:p14="http://schemas.microsoft.com/office/powerpoint/2010/main" val="2518718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图像生成：</a:t>
            </a:r>
            <a:r>
              <a:rPr lang="en-US" altLang="zh-CN" dirty="0"/>
              <a:t>AI</a:t>
            </a:r>
            <a:r>
              <a:rPr lang="zh-CN" altLang="en-US" dirty="0"/>
              <a:t>绘画拍卖</a:t>
            </a:r>
          </a:p>
        </p:txBody>
      </p:sp>
      <p:sp>
        <p:nvSpPr>
          <p:cNvPr id="4" name="灯片编号占位符 3"/>
          <p:cNvSpPr>
            <a:spLocks noGrp="1"/>
          </p:cNvSpPr>
          <p:nvPr>
            <p:ph type="sldNum" sz="quarter" idx="12"/>
          </p:nvPr>
        </p:nvSpPr>
        <p:spPr>
          <a:prstGeom prst="rect">
            <a:avLst/>
          </a:prstGeom>
        </p:spPr>
        <p:txBody>
          <a:bodyPr/>
          <a:lstStyle/>
          <a:p>
            <a:fld id="{66E0AC87-F9B6-4F7A-AB3A-6863E2A5800B}" type="slidenum">
              <a:rPr lang="zh-CN" altLang="en-US" smtClean="0"/>
              <a:t>9</a:t>
            </a:fld>
            <a:endParaRPr lang="zh-CN" altLang="en-US"/>
          </a:p>
        </p:txBody>
      </p:sp>
      <p:pic>
        <p:nvPicPr>
          <p:cNvPr id="5" name="内容占位符 4" descr="v2-4b1ef11a829063f7db80dd692320b2c7_r"/>
          <p:cNvPicPr>
            <a:picLocks noGrp="1" noChangeAspect="1"/>
          </p:cNvPicPr>
          <p:nvPr>
            <p:ph idx="4294967295"/>
          </p:nvPr>
        </p:nvPicPr>
        <p:blipFill>
          <a:blip r:embed="rId2"/>
          <a:stretch>
            <a:fillRect/>
          </a:stretch>
        </p:blipFill>
        <p:spPr>
          <a:xfrm>
            <a:off x="599441" y="822325"/>
            <a:ext cx="7112000" cy="5334000"/>
          </a:xfrm>
          <a:prstGeom prst="rect">
            <a:avLst/>
          </a:prstGeom>
        </p:spPr>
      </p:pic>
      <p:sp>
        <p:nvSpPr>
          <p:cNvPr id="6" name="文本框 5"/>
          <p:cNvSpPr txBox="1"/>
          <p:nvPr/>
        </p:nvSpPr>
        <p:spPr>
          <a:xfrm>
            <a:off x="8036560" y="1260475"/>
            <a:ext cx="4067175" cy="3634740"/>
          </a:xfrm>
          <a:prstGeom prst="rect">
            <a:avLst/>
          </a:prstGeom>
          <a:noFill/>
        </p:spPr>
        <p:txBody>
          <a:bodyPr wrap="square" rtlCol="0">
            <a:noAutofit/>
          </a:bodyPr>
          <a:lstStyle/>
          <a:p>
            <a:pPr indent="0" algn="l" fontAlgn="auto">
              <a:lnSpc>
                <a:spcPct val="150000"/>
              </a:lnSpc>
            </a:pPr>
            <a:r>
              <a:rPr lang="zh-CN" altLang="en-US" sz="2000" dirty="0">
                <a:solidFill>
                  <a:schemeClr val="tx2"/>
                </a:solidFill>
              </a:rPr>
              <a:t>金色边框的由</a:t>
            </a:r>
            <a:r>
              <a:rPr lang="en-US" altLang="zh-CN" sz="2000" dirty="0">
                <a:solidFill>
                  <a:schemeClr val="tx2"/>
                </a:solidFill>
              </a:rPr>
              <a:t> AI </a:t>
            </a:r>
            <a:r>
              <a:rPr lang="zh-CN" altLang="en-US" sz="2000" dirty="0">
                <a:solidFill>
                  <a:schemeClr val="tx2"/>
                </a:solidFill>
              </a:rPr>
              <a:t>创作的画作《</a:t>
            </a:r>
            <a:r>
              <a:rPr lang="en-US" altLang="zh-CN" sz="2000" dirty="0">
                <a:solidFill>
                  <a:schemeClr val="tx2"/>
                </a:solidFill>
              </a:rPr>
              <a:t>Edmond de Belamy</a:t>
            </a:r>
            <a:r>
              <a:rPr lang="zh-CN" altLang="en-US" sz="2000" dirty="0">
                <a:solidFill>
                  <a:schemeClr val="tx2"/>
                </a:solidFill>
              </a:rPr>
              <a:t>》被一位通过电话竞拍的神秘买家以</a:t>
            </a:r>
            <a:r>
              <a:rPr lang="en-US" altLang="zh-CN" sz="2000" dirty="0">
                <a:solidFill>
                  <a:schemeClr val="tx2"/>
                </a:solidFill>
              </a:rPr>
              <a:t> 43.25 </a:t>
            </a:r>
            <a:r>
              <a:rPr lang="zh-CN" altLang="en-US" sz="2000" dirty="0">
                <a:solidFill>
                  <a:schemeClr val="tx2"/>
                </a:solidFill>
              </a:rPr>
              <a:t>万美元（约合</a:t>
            </a:r>
            <a:r>
              <a:rPr lang="en-US" altLang="zh-CN" sz="2000" dirty="0">
                <a:solidFill>
                  <a:schemeClr val="tx2"/>
                </a:solidFill>
              </a:rPr>
              <a:t> 300 </a:t>
            </a:r>
            <a:r>
              <a:rPr lang="zh-CN" altLang="en-US" sz="2000" dirty="0">
                <a:solidFill>
                  <a:schemeClr val="tx2"/>
                </a:solidFill>
              </a:rPr>
              <a:t>万人民币）的高价拍下，而此前佳士得对这幅画的估价仅在</a:t>
            </a:r>
            <a:r>
              <a:rPr lang="en-US" altLang="zh-CN" sz="2000" dirty="0">
                <a:solidFill>
                  <a:schemeClr val="tx2"/>
                </a:solidFill>
              </a:rPr>
              <a:t> 7000 </a:t>
            </a:r>
            <a:r>
              <a:rPr lang="zh-CN" altLang="en-US" sz="2000" dirty="0">
                <a:solidFill>
                  <a:schemeClr val="tx2"/>
                </a:solidFill>
              </a:rPr>
              <a:t>美元至</a:t>
            </a:r>
            <a:r>
              <a:rPr lang="en-US" altLang="zh-CN" sz="2000" dirty="0">
                <a:solidFill>
                  <a:schemeClr val="tx2"/>
                </a:solidFill>
              </a:rPr>
              <a:t> 10000 </a:t>
            </a:r>
            <a:r>
              <a:rPr lang="zh-CN" altLang="en-US" sz="2000" dirty="0">
                <a:solidFill>
                  <a:schemeClr val="tx2"/>
                </a:solidFill>
              </a:rPr>
              <a:t>美元之间，溢价达</a:t>
            </a:r>
            <a:r>
              <a:rPr lang="en-US" altLang="zh-CN" sz="2000" dirty="0">
                <a:solidFill>
                  <a:schemeClr val="tx2"/>
                </a:solidFill>
              </a:rPr>
              <a:t> 40 </a:t>
            </a:r>
            <a:r>
              <a:rPr lang="zh-CN" altLang="en-US" sz="2000" dirty="0">
                <a:solidFill>
                  <a:schemeClr val="tx2"/>
                </a:solidFill>
              </a:rPr>
              <a:t>倍之多。</a:t>
            </a:r>
          </a:p>
          <a:p>
            <a:pPr algn="l"/>
            <a:endParaRPr lang="en-US" altLang="zh-CN" sz="2000" dirty="0"/>
          </a:p>
          <a:p>
            <a:pPr algn="l"/>
            <a:endParaRPr lang="en-US" altLang="zh-CN" sz="2000" dirty="0"/>
          </a:p>
          <a:p>
            <a:pPr algn="l"/>
            <a:endParaRPr lang="en-US" altLang="zh-CN"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大语言模型的应用</a:t>
            </a:r>
          </a:p>
        </p:txBody>
      </p:sp>
      <p:sp>
        <p:nvSpPr>
          <p:cNvPr id="3" name="灯片编号占位符 2"/>
          <p:cNvSpPr>
            <a:spLocks noGrp="1"/>
          </p:cNvSpPr>
          <p:nvPr>
            <p:ph type="sldNum" sz="quarter" idx="12"/>
          </p:nvPr>
        </p:nvSpPr>
        <p:spPr>
          <a:prstGeom prst="rect">
            <a:avLst/>
          </a:prstGeom>
        </p:spPr>
        <p:txBody>
          <a:bodyPr/>
          <a:lstStyle/>
          <a:p>
            <a:fld id="{66E0AC87-F9B6-4F7A-AB3A-6863E2A5800B}" type="slidenum">
              <a:rPr lang="zh-CN" altLang="en-US" smtClean="0"/>
              <a:t>10</a:t>
            </a:fld>
            <a:endParaRPr lang="zh-CN" altLang="en-US"/>
          </a:p>
        </p:txBody>
      </p:sp>
      <p:pic>
        <p:nvPicPr>
          <p:cNvPr id="1028" name="Picture 4" descr="Factorial Funds | Anthropic Raises $450 ..."/>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4866704" y="3852357"/>
            <a:ext cx="1592154" cy="1593415"/>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p:cNvSpPr txBox="1"/>
          <p:nvPr/>
        </p:nvSpPr>
        <p:spPr>
          <a:xfrm>
            <a:off x="1201234" y="5810076"/>
            <a:ext cx="153249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2400" b="0" i="0" u="none" strike="noStrike" kern="1200" cap="none" spc="0" normalizeH="0" baseline="0" noProof="0" dirty="0" err="1">
                <a:ln>
                  <a:noFill/>
                </a:ln>
                <a:solidFill>
                  <a:srgbClr val="242C2D"/>
                </a:solidFill>
                <a:effectLst/>
                <a:uLnTx/>
                <a:uFillTx/>
                <a:latin typeface="Book Antiqua"/>
                <a:ea typeface="黑体"/>
                <a:cs typeface="+mn-cs"/>
              </a:rPr>
              <a:t>ChatGPT</a:t>
            </a:r>
            <a:endParaRPr kumimoji="1"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921" y="3992660"/>
            <a:ext cx="1534807" cy="153480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eta Llama 3 for AI Coding: review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7657" y="3659507"/>
            <a:ext cx="2005012" cy="2005012"/>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p:cNvSpPr txBox="1"/>
          <p:nvPr/>
        </p:nvSpPr>
        <p:spPr>
          <a:xfrm>
            <a:off x="5102169" y="5799893"/>
            <a:ext cx="153249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400" b="0" i="0" u="none" strike="noStrike" kern="1200" cap="none" spc="0" normalizeH="0" baseline="0" noProof="0" dirty="0">
                <a:ln>
                  <a:noFill/>
                </a:ln>
                <a:solidFill>
                  <a:srgbClr val="242C2D"/>
                </a:solidFill>
                <a:effectLst/>
                <a:uLnTx/>
                <a:uFillTx/>
                <a:latin typeface="Book Antiqua"/>
                <a:ea typeface="黑体"/>
                <a:cs typeface="+mn-cs"/>
              </a:rPr>
              <a:t>Claude</a:t>
            </a:r>
            <a:endParaRPr kumimoji="1"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p:sp>
        <p:nvSpPr>
          <p:cNvPr id="17" name="文本框 16"/>
          <p:cNvSpPr txBox="1"/>
          <p:nvPr/>
        </p:nvSpPr>
        <p:spPr>
          <a:xfrm>
            <a:off x="9089170" y="5792063"/>
            <a:ext cx="153249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400" b="0" i="0" u="none" strike="noStrike" kern="1200" cap="none" spc="0" normalizeH="0" baseline="0" noProof="0" dirty="0">
                <a:ln>
                  <a:noFill/>
                </a:ln>
                <a:solidFill>
                  <a:srgbClr val="242C2D"/>
                </a:solidFill>
                <a:effectLst/>
                <a:uLnTx/>
                <a:uFillTx/>
                <a:latin typeface="Book Antiqua"/>
                <a:ea typeface="黑体"/>
                <a:cs typeface="+mn-cs"/>
              </a:rPr>
              <a:t>Llama</a:t>
            </a:r>
            <a:endParaRPr kumimoji="1" lang="zh-CN" altLang="en-US" sz="2400" b="0" i="0" u="none" strike="noStrike" kern="1200" cap="none" spc="0" normalizeH="0" baseline="0" noProof="0" dirty="0">
              <a:ln>
                <a:noFill/>
              </a:ln>
              <a:solidFill>
                <a:srgbClr val="242C2D"/>
              </a:solidFill>
              <a:effectLst/>
              <a:uLnTx/>
              <a:uFillTx/>
              <a:latin typeface="Book Antiqua"/>
              <a:ea typeface="黑体"/>
              <a:cs typeface="+mn-cs"/>
            </a:endParaRPr>
          </a:p>
        </p:txBody>
      </p:sp>
      <p:sp>
        <p:nvSpPr>
          <p:cNvPr id="18" name="文本框 17"/>
          <p:cNvSpPr txBox="1"/>
          <p:nvPr/>
        </p:nvSpPr>
        <p:spPr>
          <a:xfrm>
            <a:off x="1389920" y="835104"/>
            <a:ext cx="2155811" cy="1015663"/>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defRPr/>
            </a:pPr>
            <a:r>
              <a:rPr kumimoji="1" lang="zh-CN" altLang="en-US" sz="2400" b="0" i="0" u="none" strike="noStrike" kern="1200" cap="none" spc="0" normalizeH="0" baseline="0" noProof="0" dirty="0">
                <a:ln>
                  <a:noFill/>
                </a:ln>
                <a:solidFill>
                  <a:srgbClr val="242C2D"/>
                </a:solidFill>
                <a:effectLst/>
                <a:uLnTx/>
                <a:uFillTx/>
                <a:latin typeface="Book Antiqua"/>
                <a:ea typeface="微软雅黑" charset="-122"/>
                <a:cs typeface="+mn-cs"/>
              </a:rPr>
              <a:t>文本生成</a:t>
            </a:r>
            <a:endParaRPr kumimoji="1" lang="en-US" altLang="zh-CN" sz="2400" b="0" i="0" u="none" strike="noStrike" kern="1200" cap="none" spc="0" normalizeH="0" baseline="0" noProof="0" dirty="0">
              <a:ln>
                <a:noFill/>
              </a:ln>
              <a:solidFill>
                <a:srgbClr val="242C2D"/>
              </a:solidFill>
              <a:effectLst/>
              <a:uLnTx/>
              <a:uFillTx/>
              <a:latin typeface="Book Antiqua"/>
              <a:ea typeface="微软雅黑" charset="-122"/>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p"/>
              <a:defRPr/>
            </a:pPr>
            <a:r>
              <a:rPr kumimoji="1" lang="zh-CN" altLang="en-US" sz="2400" b="0" i="0" u="none" strike="noStrike" kern="1200" cap="none" spc="0" normalizeH="0" baseline="0" noProof="0" dirty="0">
                <a:ln>
                  <a:noFill/>
                </a:ln>
                <a:solidFill>
                  <a:srgbClr val="242C2D"/>
                </a:solidFill>
                <a:effectLst/>
                <a:uLnTx/>
                <a:uFillTx/>
                <a:latin typeface="Book Antiqua"/>
                <a:ea typeface="微软雅黑" charset="-122"/>
                <a:cs typeface="+mn-cs"/>
              </a:rPr>
              <a:t>代码生成</a:t>
            </a:r>
            <a:endParaRPr kumimoji="1" lang="en-US" altLang="zh-CN" sz="2400" b="0" i="0" u="none" strike="noStrike" kern="1200" cap="none" spc="0" normalizeH="0" baseline="0" noProof="0" dirty="0">
              <a:ln>
                <a:noFill/>
              </a:ln>
              <a:solidFill>
                <a:srgbClr val="242C2D"/>
              </a:solidFill>
              <a:effectLst/>
              <a:uLnTx/>
              <a:uFillTx/>
              <a:latin typeface="Book Antiqua"/>
              <a:ea typeface="微软雅黑" charset="-122"/>
              <a:cs typeface="+mn-cs"/>
            </a:endParaRPr>
          </a:p>
        </p:txBody>
      </p:sp>
      <p:sp>
        <p:nvSpPr>
          <p:cNvPr id="19" name="文本框 18"/>
          <p:cNvSpPr txBox="1"/>
          <p:nvPr/>
        </p:nvSpPr>
        <p:spPr>
          <a:xfrm>
            <a:off x="5141466" y="775689"/>
            <a:ext cx="2155811" cy="1015663"/>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defRPr/>
            </a:pPr>
            <a:r>
              <a:rPr kumimoji="1" lang="zh-CN" altLang="en-US" sz="2400" b="0" i="0" u="none" strike="noStrike" kern="1200" cap="none" spc="0" normalizeH="0" baseline="0" noProof="0" dirty="0">
                <a:ln>
                  <a:noFill/>
                </a:ln>
                <a:solidFill>
                  <a:srgbClr val="242C2D"/>
                </a:solidFill>
                <a:effectLst/>
                <a:uLnTx/>
                <a:uFillTx/>
                <a:latin typeface="Book Antiqua"/>
                <a:ea typeface="微软雅黑" charset="-122"/>
                <a:cs typeface="+mn-cs"/>
              </a:rPr>
              <a:t>文本翻译</a:t>
            </a:r>
            <a:endParaRPr kumimoji="1" lang="en-US" altLang="zh-CN" sz="2400" b="0" i="0" u="none" strike="noStrike" kern="1200" cap="none" spc="0" normalizeH="0" baseline="0" noProof="0" dirty="0">
              <a:ln>
                <a:noFill/>
              </a:ln>
              <a:solidFill>
                <a:srgbClr val="242C2D"/>
              </a:solidFill>
              <a:effectLst/>
              <a:uLnTx/>
              <a:uFillTx/>
              <a:latin typeface="Book Antiqua"/>
              <a:ea typeface="微软雅黑" charset="-122"/>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p"/>
              <a:defRPr/>
            </a:pPr>
            <a:r>
              <a:rPr kumimoji="1" lang="zh-CN" altLang="en-US" sz="2400" b="0" i="0" u="none" strike="noStrike" kern="1200" cap="none" spc="0" normalizeH="0" baseline="0" noProof="0" dirty="0">
                <a:ln>
                  <a:noFill/>
                </a:ln>
                <a:solidFill>
                  <a:srgbClr val="242C2D"/>
                </a:solidFill>
                <a:effectLst/>
                <a:uLnTx/>
                <a:uFillTx/>
                <a:latin typeface="Book Antiqua"/>
                <a:ea typeface="微软雅黑" charset="-122"/>
                <a:cs typeface="+mn-cs"/>
              </a:rPr>
              <a:t>问答对话</a:t>
            </a:r>
            <a:endParaRPr kumimoji="1" lang="en-US" altLang="zh-CN" sz="2400" b="0" i="0" u="none" strike="noStrike" kern="1200" cap="none" spc="0" normalizeH="0" baseline="0" noProof="0" dirty="0">
              <a:ln>
                <a:noFill/>
              </a:ln>
              <a:solidFill>
                <a:srgbClr val="242C2D"/>
              </a:solidFill>
              <a:effectLst/>
              <a:uLnTx/>
              <a:uFillTx/>
              <a:latin typeface="Book Antiqua"/>
              <a:ea typeface="微软雅黑" charset="-122"/>
              <a:cs typeface="+mn-cs"/>
            </a:endParaRPr>
          </a:p>
        </p:txBody>
      </p:sp>
      <p:sp>
        <p:nvSpPr>
          <p:cNvPr id="20" name="文本框 19"/>
          <p:cNvSpPr txBox="1"/>
          <p:nvPr/>
        </p:nvSpPr>
        <p:spPr>
          <a:xfrm>
            <a:off x="8893012" y="761979"/>
            <a:ext cx="2155811" cy="1139030"/>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defRPr/>
            </a:pPr>
            <a:r>
              <a:rPr kumimoji="1" lang="zh-CN" altLang="en-US" sz="2400" b="0" i="0" u="none" strike="noStrike" kern="1200" cap="none" spc="0" normalizeH="0" baseline="0" noProof="0" dirty="0">
                <a:ln>
                  <a:noFill/>
                </a:ln>
                <a:solidFill>
                  <a:srgbClr val="242C2D"/>
                </a:solidFill>
                <a:effectLst/>
                <a:uLnTx/>
                <a:uFillTx/>
                <a:latin typeface="Book Antiqua"/>
                <a:ea typeface="微软雅黑" charset="-122"/>
                <a:cs typeface="+mn-cs"/>
              </a:rPr>
              <a:t>文档分析</a:t>
            </a:r>
            <a:endParaRPr kumimoji="1" lang="en-US" altLang="zh-CN" sz="2400" b="0" i="0" u="none" strike="noStrike" kern="1200" cap="none" spc="0" normalizeH="0" baseline="0" noProof="0" dirty="0">
              <a:ln>
                <a:noFill/>
              </a:ln>
              <a:solidFill>
                <a:srgbClr val="242C2D"/>
              </a:solidFill>
              <a:effectLst/>
              <a:uLnTx/>
              <a:uFillTx/>
              <a:latin typeface="Book Antiqua"/>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defRPr/>
            </a:pPr>
            <a:r>
              <a:rPr kumimoji="1" lang="zh-CN" altLang="en-US" sz="2400" b="0" i="0" u="none" strike="noStrike" kern="1200" cap="none" spc="0" normalizeH="0" baseline="0" noProof="0" dirty="0">
                <a:ln>
                  <a:noFill/>
                </a:ln>
                <a:solidFill>
                  <a:srgbClr val="242C2D"/>
                </a:solidFill>
                <a:effectLst/>
                <a:uLnTx/>
                <a:uFillTx/>
                <a:latin typeface="Book Antiqua"/>
                <a:ea typeface="微软雅黑" charset="-122"/>
                <a:cs typeface="+mn-cs"/>
              </a:rPr>
              <a:t>等等</a:t>
            </a:r>
            <a:endParaRPr kumimoji="1" lang="en-US" altLang="zh-CN" sz="2400" b="0" i="0" u="none" strike="noStrike" kern="1200" cap="none" spc="0" normalizeH="0" baseline="0" noProof="0" dirty="0">
              <a:ln>
                <a:noFill/>
              </a:ln>
              <a:solidFill>
                <a:srgbClr val="242C2D"/>
              </a:solidFill>
              <a:effectLst/>
              <a:uLnTx/>
              <a:uFillTx/>
              <a:latin typeface="Book Antiqua"/>
              <a:ea typeface="微软雅黑" charset="-122"/>
              <a:cs typeface="+mn-cs"/>
            </a:endParaRPr>
          </a:p>
        </p:txBody>
      </p:sp>
      <p:pic>
        <p:nvPicPr>
          <p:cNvPr id="5" name="图片 4">
            <a:extLst>
              <a:ext uri="{FF2B5EF4-FFF2-40B4-BE49-F238E27FC236}">
                <a16:creationId xmlns:a16="http://schemas.microsoft.com/office/drawing/2014/main" id="{19878E24-F3AC-2F16-DA61-8B8CE6D16E9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8519" y="2128013"/>
            <a:ext cx="3265852" cy="1300987"/>
          </a:xfrm>
          <a:prstGeom prst="rect">
            <a:avLst/>
          </a:prstGeom>
        </p:spPr>
      </p:pic>
      <p:pic>
        <p:nvPicPr>
          <p:cNvPr id="7" name="图片 6">
            <a:extLst>
              <a:ext uri="{FF2B5EF4-FFF2-40B4-BE49-F238E27FC236}">
                <a16:creationId xmlns:a16="http://schemas.microsoft.com/office/drawing/2014/main" id="{9ED16553-B8DC-3CBF-2AA4-1D78402970B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68706" y="2197249"/>
            <a:ext cx="2265957" cy="1300987"/>
          </a:xfrm>
          <a:prstGeom prst="rect">
            <a:avLst/>
          </a:prstGeom>
        </p:spPr>
      </p:pic>
      <p:pic>
        <p:nvPicPr>
          <p:cNvPr id="9" name="图片 8">
            <a:extLst>
              <a:ext uri="{FF2B5EF4-FFF2-40B4-BE49-F238E27FC236}">
                <a16:creationId xmlns:a16="http://schemas.microsoft.com/office/drawing/2014/main" id="{DA5DEC5F-3904-BB31-95AF-8783C5A378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15571" y="2313340"/>
            <a:ext cx="3815281" cy="9900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AI</a:t>
            </a:r>
            <a:r>
              <a:rPr kumimoji="1" lang="zh-CN" altLang="en-US" dirty="0"/>
              <a:t>应用：创造音乐</a:t>
            </a:r>
          </a:p>
        </p:txBody>
      </p:sp>
      <p:sp>
        <p:nvSpPr>
          <p:cNvPr id="3" name="灯片编号占位符 2"/>
          <p:cNvSpPr>
            <a:spLocks noGrp="1"/>
          </p:cNvSpPr>
          <p:nvPr>
            <p:ph type="sldNum" sz="quarter" idx="12"/>
          </p:nvPr>
        </p:nvSpPr>
        <p:spPr>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t>11</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pic>
        <p:nvPicPr>
          <p:cNvPr id="6" name="audio">
            <a:hlinkClick r:id="" action="ppaction://media"/>
          </p:cNvPr>
          <p:cNvPicPr>
            <a:picLocks noGrp="1" noChangeAspect="1"/>
          </p:cNvPicPr>
          <p:nvPr>
            <p:ph idx="4294967295"/>
            <a:audioFile r:link="rId2"/>
            <p:extLst>
              <p:ext uri="{DAA4B4D4-6D71-4841-9C94-3DE7FCFB9230}">
                <p14:media xmlns:p14="http://schemas.microsoft.com/office/powerpoint/2010/main" r:embed="rId1"/>
              </p:ext>
            </p:extLst>
          </p:nvPr>
        </p:nvPicPr>
        <p:blipFill>
          <a:blip r:embed="rId4"/>
          <a:stretch>
            <a:fillRect/>
          </a:stretch>
        </p:blipFill>
        <p:spPr>
          <a:xfrm>
            <a:off x="8141381" y="2646698"/>
            <a:ext cx="1757362" cy="1757362"/>
          </a:xfrm>
        </p:spPr>
      </p:pic>
      <p:sp>
        <p:nvSpPr>
          <p:cNvPr id="5" name="文本框 4"/>
          <p:cNvSpPr txBox="1"/>
          <p:nvPr/>
        </p:nvSpPr>
        <p:spPr>
          <a:xfrm>
            <a:off x="1094425" y="6416960"/>
            <a:ext cx="609742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latin typeface="Book Antiqua"/>
                <a:ea typeface="黑体"/>
                <a:cs typeface="+mn-cs"/>
              </a:rPr>
              <a:t>https://musiclm.com/</a:t>
            </a:r>
          </a:p>
        </p:txBody>
      </p:sp>
      <p:sp>
        <p:nvSpPr>
          <p:cNvPr id="7" name="内容占位符 3"/>
          <p:cNvSpPr txBox="1"/>
          <p:nvPr/>
        </p:nvSpPr>
        <p:spPr>
          <a:xfrm>
            <a:off x="381242" y="1317585"/>
            <a:ext cx="5570825" cy="3133646"/>
          </a:xfrm>
          <a:prstGeom prst="rect">
            <a:avLst/>
          </a:prstGeom>
        </p:spPr>
        <p:txBody>
          <a:bodyPr vert="horz" lIns="90000" tIns="0" rIns="91440" bIns="0" rtlCol="0">
            <a:noAutofit/>
          </a:bodyPr>
          <a:lst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charset="-122"/>
                <a:ea typeface="微软雅黑" panose="020B050302020402020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charset="-122"/>
                <a:ea typeface="微软雅黑" panose="020B050302020402020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charset="-122"/>
                <a:ea typeface="微软雅黑" panose="020B0503020204020204" charset="-122"/>
                <a:cs typeface="+mn-cs"/>
              </a:defRPr>
            </a:lvl3pPr>
            <a:lvl4pPr marL="2133600" indent="-304800" algn="l" defTabSz="1219200" rtl="0" eaLnBrk="1" latinLnBrk="0" hangingPunct="1">
              <a:lnSpc>
                <a:spcPct val="90000"/>
              </a:lnSpc>
              <a:spcBef>
                <a:spcPts val="665"/>
              </a:spcBef>
              <a:buFont typeface="Arial" panose="020B060402020209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9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9pPr>
          </a:lstStyle>
          <a:p>
            <a:pPr marL="342900" marR="0" lvl="0" indent="-342900" algn="just" defTabSz="1219200" rtl="0" eaLnBrk="1" fontAlgn="auto" latinLnBrk="0" hangingPunct="1">
              <a:lnSpc>
                <a:spcPct val="150000"/>
              </a:lnSpc>
              <a:spcBef>
                <a:spcPts val="0"/>
              </a:spcBef>
              <a:spcAft>
                <a:spcPts val="635"/>
              </a:spcAft>
              <a:buClrTx/>
              <a:buSzPct val="80000"/>
              <a:buFont typeface="Wingdings" panose="05000000000000000000" pitchFamily="2" charset="2"/>
              <a:buChar char="p"/>
              <a:defRPr/>
            </a:pPr>
            <a:r>
              <a:rPr kumimoji="0" lang="zh-CN" altLang="en-US"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panose="020B0503020204020204" charset="-122"/>
                <a:cs typeface="+mn-cs"/>
              </a:rPr>
              <a:t>提示词：</a:t>
            </a:r>
            <a:r>
              <a:rPr kumimoji="0" lang="zh-CN" altLang="en-US" sz="2000" b="0" i="0" u="none" strike="noStrike" kern="1200" cap="none" spc="0" normalizeH="0" baseline="0" noProof="0" dirty="0">
                <a:ln>
                  <a:noFill/>
                </a:ln>
                <a:solidFill>
                  <a:srgbClr val="242C2D"/>
                </a:solidFill>
                <a:effectLst/>
                <a:uLnTx/>
                <a:uFillTx/>
                <a:latin typeface="Times New Roman" panose="02020503050405090304" pitchFamily="18" charset="0"/>
                <a:ea typeface="微软雅黑" panose="020B0503020204020204" charset="-122"/>
                <a:cs typeface="+mn-cs"/>
              </a:rPr>
              <a:t>一段上升的合成器音效正在演奏带有大量混响的琶音，伴随有垫音、低音贝斯线和柔和的鼓点。这首曲子充满合成器音色，营造出一种舒缓而又充满冒险氛围的感觉。它可能在音乐节上作为两首歌之间的过渡播放。</a:t>
            </a:r>
            <a:r>
              <a:rPr kumimoji="0" lang="en-US" altLang="zh-CN" sz="2000" b="0" i="0" u="none" strike="noStrike" kern="1200" cap="none" spc="0" normalizeH="0" baseline="0" noProof="0" dirty="0">
                <a:ln>
                  <a:noFill/>
                </a:ln>
                <a:solidFill>
                  <a:srgbClr val="242C2D"/>
                </a:solidFill>
                <a:effectLst/>
                <a:uLnTx/>
                <a:uFillTx/>
                <a:latin typeface="Times New Roman" panose="02020503050405090304" pitchFamily="18" charset="0"/>
                <a:ea typeface="微软雅黑" panose="020B0503020204020204" charset="-122"/>
                <a:cs typeface="+mn-cs"/>
                <a:sym typeface="+mn-ea"/>
              </a:rPr>
              <a:t>（</a:t>
            </a:r>
            <a:r>
              <a:rPr kumimoji="0" lang="zh-CN" altLang="en-US" sz="2000" b="0" i="0" u="none" strike="noStrike" kern="1200" cap="none" spc="0" normalizeH="0" baseline="0" noProof="0" dirty="0">
                <a:ln>
                  <a:noFill/>
                </a:ln>
                <a:solidFill>
                  <a:srgbClr val="242C2D"/>
                </a:solidFill>
                <a:effectLst/>
                <a:uLnTx/>
                <a:uFillTx/>
                <a:latin typeface="Times New Roman" panose="02020503050405090304" pitchFamily="18" charset="0"/>
                <a:ea typeface="微软雅黑" panose="020B0503020204020204" charset="-122"/>
                <a:cs typeface="+mn-cs"/>
                <a:sym typeface="+mn-ea"/>
              </a:rPr>
              <a:t>翻译</a:t>
            </a:r>
            <a:r>
              <a:rPr kumimoji="0" lang="en-US" altLang="zh-CN" sz="2000" b="0" i="0" u="none" strike="noStrike" kern="1200" cap="none" spc="0" normalizeH="0" baseline="0" noProof="0" dirty="0">
                <a:ln>
                  <a:noFill/>
                </a:ln>
                <a:solidFill>
                  <a:srgbClr val="242C2D"/>
                </a:solidFill>
                <a:effectLst/>
                <a:uLnTx/>
                <a:uFillTx/>
                <a:latin typeface="Times New Roman" panose="02020503050405090304" pitchFamily="18" charset="0"/>
                <a:ea typeface="微软雅黑" panose="020B0503020204020204" charset="-122"/>
                <a:cs typeface="+mn-cs"/>
                <a:sym typeface="+mn-ea"/>
              </a:rPr>
              <a:t>）</a:t>
            </a:r>
            <a:endParaRPr kumimoji="0" lang="zh-CN" altLang="en-US" sz="2000" b="0" i="0" u="none" strike="noStrike" kern="1200" cap="none" spc="0" normalizeH="0" baseline="0" noProof="0" dirty="0">
              <a:ln>
                <a:noFill/>
              </a:ln>
              <a:solidFill>
                <a:srgbClr val="242C2D"/>
              </a:solidFill>
              <a:effectLst/>
              <a:uLnTx/>
              <a:uFillTx/>
              <a:latin typeface="Times New Roman" panose="02020503050405090304" pitchFamily="18" charset="0"/>
              <a:ea typeface="微软雅黑" panose="020B0503020204020204" charset="-122"/>
              <a:cs typeface="+mn-cs"/>
            </a:endParaRPr>
          </a:p>
          <a:p>
            <a:pPr marL="342900" marR="0" lvl="0" indent="-342900" algn="just" defTabSz="1219200" rtl="0" eaLnBrk="1" fontAlgn="auto" latinLnBrk="0" hangingPunct="1">
              <a:lnSpc>
                <a:spcPct val="150000"/>
              </a:lnSpc>
              <a:spcBef>
                <a:spcPts val="0"/>
              </a:spcBef>
              <a:spcAft>
                <a:spcPts val="635"/>
              </a:spcAft>
              <a:buClrTx/>
              <a:buSzPct val="80000"/>
              <a:buFont typeface="Wingdings" panose="05000000000000000000" pitchFamily="2" charset="2"/>
              <a:buChar char="p"/>
              <a:defRPr/>
            </a:pPr>
            <a:r>
              <a:rPr kumimoji="0" lang="zh-CN" altLang="en-US"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panose="020B0503020204020204" charset="-122"/>
                <a:cs typeface="+mn-cs"/>
              </a:rPr>
              <a:t>由 </a:t>
            </a:r>
            <a:r>
              <a:rPr kumimoji="0" lang="en-GB" altLang="zh-CN" sz="2400" b="1" i="0" u="none" strike="noStrike" kern="1200" cap="none" spc="0" normalizeH="0" baseline="0" noProof="0" dirty="0" err="1">
                <a:ln>
                  <a:noFill/>
                </a:ln>
                <a:solidFill>
                  <a:srgbClr val="242C2D"/>
                </a:solidFill>
                <a:effectLst/>
                <a:uLnTx/>
                <a:uFillTx/>
                <a:latin typeface="Times New Roman" panose="02020503050405090304" pitchFamily="18" charset="0"/>
                <a:ea typeface="微软雅黑" panose="020B0503020204020204" charset="-122"/>
                <a:cs typeface="+mn-cs"/>
              </a:rPr>
              <a:t>MusicLM</a:t>
            </a:r>
            <a:r>
              <a:rPr kumimoji="0" lang="zh-CN" altLang="en-US" sz="2400" b="1" i="0" u="none" strike="noStrike" kern="1200" cap="none" spc="0" normalizeH="0" baseline="0" noProof="0" dirty="0">
                <a:ln>
                  <a:noFill/>
                </a:ln>
                <a:solidFill>
                  <a:srgbClr val="242C2D"/>
                </a:solidFill>
                <a:effectLst/>
                <a:uLnTx/>
                <a:uFillTx/>
                <a:latin typeface="Times New Roman" panose="02020503050405090304" pitchFamily="18" charset="0"/>
                <a:ea typeface="微软雅黑" panose="020B0503020204020204" charset="-122"/>
                <a:cs typeface="+mn-cs"/>
              </a:rPr>
              <a:t> 生成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90EE0-D31C-3A26-9D3E-37A60282BBC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62A5C25-17A9-12EB-6D2F-E62CE68D1FB8}"/>
              </a:ext>
            </a:extLst>
          </p:cNvPr>
          <p:cNvSpPr>
            <a:spLocks noGrp="1"/>
          </p:cNvSpPr>
          <p:nvPr>
            <p:ph type="title"/>
          </p:nvPr>
        </p:nvSpPr>
        <p:spPr/>
        <p:txBody>
          <a:bodyPr/>
          <a:lstStyle/>
          <a:p>
            <a:r>
              <a:rPr kumimoji="1" lang="zh-CN" altLang="en-US" dirty="0"/>
              <a:t>自动驾驶</a:t>
            </a:r>
          </a:p>
        </p:txBody>
      </p:sp>
      <p:sp>
        <p:nvSpPr>
          <p:cNvPr id="3" name="灯片编号占位符 2">
            <a:extLst>
              <a:ext uri="{FF2B5EF4-FFF2-40B4-BE49-F238E27FC236}">
                <a16:creationId xmlns:a16="http://schemas.microsoft.com/office/drawing/2014/main" id="{1AF6529C-08A6-FB27-064C-A0C899B373DA}"/>
              </a:ext>
            </a:extLst>
          </p:cNvPr>
          <p:cNvSpPr>
            <a:spLocks noGrp="1"/>
          </p:cNvSpPr>
          <p:nvPr>
            <p:ph type="sldNum" sz="quarter" idx="12"/>
          </p:nvPr>
        </p:nvSpPr>
        <p:spPr>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6E0AC87-F9B6-4F7A-AB3A-6863E2A5800B}" type="slidenum">
              <a:rPr kumimoji="0" lang="zh-CN" altLang="en-US" sz="1695" b="0" i="0" u="none" strike="noStrike" kern="1200" cap="none" spc="0" normalizeH="0" baseline="0" noProof="0" smtClean="0">
                <a:ln>
                  <a:noFill/>
                </a:ln>
                <a:solidFill>
                  <a:srgbClr val="FFFFFF"/>
                </a:solidFill>
                <a:effectLst/>
                <a:uLnTx/>
                <a:uFillTx/>
                <a:latin typeface="Book Antiqua"/>
                <a:ea typeface="黑体"/>
                <a:cs typeface="+mn-cs"/>
              </a:rPr>
              <a:t>12</a:t>
            </a:fld>
            <a:endParaRPr kumimoji="0" lang="zh-CN" altLang="en-US" sz="1695" b="0" i="0" u="none" strike="noStrike" kern="1200" cap="none" spc="0" normalizeH="0" baseline="0" noProof="0">
              <a:ln>
                <a:noFill/>
              </a:ln>
              <a:solidFill>
                <a:srgbClr val="FFFFFF"/>
              </a:solidFill>
              <a:effectLst/>
              <a:uLnTx/>
              <a:uFillTx/>
              <a:latin typeface="Book Antiqua"/>
              <a:ea typeface="黑体"/>
              <a:cs typeface="+mn-cs"/>
            </a:endParaRPr>
          </a:p>
        </p:txBody>
      </p:sp>
      <p:pic>
        <p:nvPicPr>
          <p:cNvPr id="8" name="图片 7">
            <a:extLst>
              <a:ext uri="{FF2B5EF4-FFF2-40B4-BE49-F238E27FC236}">
                <a16:creationId xmlns:a16="http://schemas.microsoft.com/office/drawing/2014/main" id="{17F0AAF4-CA8A-74D4-FDC2-0DB01296F7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5242" y="1273076"/>
            <a:ext cx="7567386" cy="5044924"/>
          </a:xfrm>
          <a:prstGeom prst="rect">
            <a:avLst/>
          </a:prstGeom>
        </p:spPr>
      </p:pic>
      <p:sp>
        <p:nvSpPr>
          <p:cNvPr id="12" name="文本框 11">
            <a:extLst>
              <a:ext uri="{FF2B5EF4-FFF2-40B4-BE49-F238E27FC236}">
                <a16:creationId xmlns:a16="http://schemas.microsoft.com/office/drawing/2014/main" id="{C8F2470E-80D2-29E0-9DAF-4770E01A3AA1}"/>
              </a:ext>
            </a:extLst>
          </p:cNvPr>
          <p:cNvSpPr txBox="1"/>
          <p:nvPr/>
        </p:nvSpPr>
        <p:spPr>
          <a:xfrm>
            <a:off x="3461658" y="786695"/>
            <a:ext cx="6096000" cy="461665"/>
          </a:xfrm>
          <a:prstGeom prst="rect">
            <a:avLst/>
          </a:prstGeom>
          <a:noFill/>
        </p:spPr>
        <p:txBody>
          <a:bodyPr wrap="square">
            <a:spAutoFit/>
          </a:bodyPr>
          <a:lstStyle/>
          <a:p>
            <a:r>
              <a:rPr lang="zh-CN" altLang="en-US" sz="2400" dirty="0"/>
              <a:t>AI从环境感知到决策的函数拟合过程</a:t>
            </a:r>
          </a:p>
        </p:txBody>
      </p:sp>
    </p:spTree>
    <p:extLst>
      <p:ext uri="{BB962C8B-B14F-4D97-AF65-F5344CB8AC3E}">
        <p14:creationId xmlns:p14="http://schemas.microsoft.com/office/powerpoint/2010/main" val="3875903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t>AlphaGo </a:t>
            </a:r>
            <a:r>
              <a:rPr lang="zh-CN" altLang="en-US"/>
              <a:t>战胜围棋世界冠军（</a:t>
            </a:r>
            <a:r>
              <a:rPr lang="en-US" altLang="zh-CN"/>
              <a:t>2016</a:t>
            </a:r>
            <a:r>
              <a:rPr lang="zh-CN" altLang="en-US"/>
              <a:t>）</a:t>
            </a:r>
          </a:p>
        </p:txBody>
      </p:sp>
      <p:sp>
        <p:nvSpPr>
          <p:cNvPr id="3" name="矩形 2"/>
          <p:cNvSpPr/>
          <p:nvPr/>
        </p:nvSpPr>
        <p:spPr>
          <a:xfrm>
            <a:off x="196617" y="6452779"/>
            <a:ext cx="9890005" cy="276999"/>
          </a:xfrm>
          <a:prstGeom prst="rect">
            <a:avLst/>
          </a:prstGeom>
        </p:spPr>
        <p:txBody>
          <a:bodyPr wrap="square">
            <a:spAutoFit/>
          </a:bodyPr>
          <a:lstStyle/>
          <a:p>
            <a:r>
              <a:rPr lang="en-US" altLang="zh-CN" sz="1200">
                <a:solidFill>
                  <a:schemeClr val="bg1"/>
                </a:solidFill>
                <a:latin typeface="Times New Roman" panose="02020603050405020304" pitchFamily="18" charset="0"/>
                <a:cs typeface="Times New Roman" panose="02020603050405020304" pitchFamily="18" charset="0"/>
              </a:rPr>
              <a:t>Silver D, Huang A, Maddison C J, et al. Mastering the game of Go with deep neural networks and tree search[J]. nature, 2016, 529(7587): 484-489.</a:t>
            </a:r>
            <a:endParaRPr lang="en-US" sz="1200" dirty="0">
              <a:solidFill>
                <a:schemeClr val="bg1"/>
              </a:solidFill>
              <a:latin typeface="Times New Roman" panose="02020603050405020304" pitchFamily="18" charset="0"/>
              <a:cs typeface="Times New Roman" panose="02020603050405020304" pitchFamily="18" charset="0"/>
            </a:endParaRPr>
          </a:p>
        </p:txBody>
      </p:sp>
      <p:pic>
        <p:nvPicPr>
          <p:cNvPr id="2"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15379" y="1121414"/>
            <a:ext cx="3610576" cy="4784015"/>
          </a:xfrm>
          <a:prstGeom prst="rect">
            <a:avLst/>
          </a:prstGeom>
          <a:ln>
            <a:noFill/>
          </a:ln>
          <a:effectLst>
            <a:outerShdw blurRad="190500" algn="tl" rotWithShape="0">
              <a:srgbClr val="000000">
                <a:alpha val="70000"/>
              </a:srgbClr>
            </a:outerShdw>
          </a:effectLst>
        </p:spPr>
      </p:pic>
      <p:sp>
        <p:nvSpPr>
          <p:cNvPr id="7" name="文本框 6"/>
          <p:cNvSpPr txBox="1"/>
          <p:nvPr/>
        </p:nvSpPr>
        <p:spPr>
          <a:xfrm>
            <a:off x="381241" y="1199800"/>
            <a:ext cx="7205963" cy="3905043"/>
          </a:xfrm>
          <a:prstGeom prst="rect">
            <a:avLst/>
          </a:prstGeom>
          <a:noFill/>
        </p:spPr>
        <p:txBody>
          <a:bodyPr wrap="square">
            <a:spAutoFit/>
          </a:bodyPr>
          <a:lstStyle>
            <a:defPPr>
              <a:defRPr lang="zh-CN"/>
            </a:defPPr>
            <a:lvl1pPr marL="342900" indent="-342900">
              <a:lnSpc>
                <a:spcPct val="150000"/>
              </a:lnSpc>
              <a:buFont typeface="Wingdings" panose="05000000000000000000" pitchFamily="2" charset="2"/>
              <a:buChar char="p"/>
              <a:defRPr sz="2400" b="1" i="0">
                <a:solidFill>
                  <a:srgbClr val="070707"/>
                </a:solidFill>
                <a:effectLst/>
                <a:latin typeface="微软雅黑" panose="020B0503020204020204" pitchFamily="34" charset="-122"/>
                <a:ea typeface="微软雅黑" panose="020B0503020204020204" pitchFamily="34" charset="-122"/>
              </a:defRPr>
            </a:lvl1pPr>
          </a:lstStyle>
          <a:p>
            <a:r>
              <a:rPr lang="en-US" altLang="zh-CN" b="0" dirty="0"/>
              <a:t>2016</a:t>
            </a:r>
            <a:r>
              <a:rPr lang="zh-CN" altLang="en-US" b="0" dirty="0"/>
              <a:t>年</a:t>
            </a:r>
            <a:r>
              <a:rPr lang="en-US" altLang="zh-CN" b="0" dirty="0"/>
              <a:t>3</a:t>
            </a:r>
            <a:r>
              <a:rPr lang="zh-CN" altLang="en-US" b="0" dirty="0"/>
              <a:t>月，</a:t>
            </a:r>
            <a:r>
              <a:rPr lang="en-US" altLang="zh-CN" b="0" dirty="0"/>
              <a:t> AlphaGo</a:t>
            </a:r>
            <a:r>
              <a:rPr lang="zh-CN" altLang="en-US" b="0" dirty="0"/>
              <a:t>在五局比赛中击败李世石，这是计算机围棋程序首次在无让分的情况下击败九段职业选手。</a:t>
            </a:r>
            <a:endParaRPr lang="en-US" altLang="zh-CN" b="0" dirty="0"/>
          </a:p>
          <a:p>
            <a:r>
              <a:rPr lang="zh-CN" altLang="en-US" b="0" dirty="0"/>
              <a:t>在</a:t>
            </a:r>
            <a:r>
              <a:rPr lang="en-US" altLang="zh-CN" b="0" dirty="0"/>
              <a:t>2017</a:t>
            </a:r>
            <a:r>
              <a:rPr lang="zh-CN" altLang="en-US" b="0" dirty="0"/>
              <a:t>年围棋未来峰会上，</a:t>
            </a:r>
            <a:r>
              <a:rPr lang="en-US" altLang="zh-CN" b="0" dirty="0"/>
              <a:t>AlphaGo</a:t>
            </a:r>
            <a:r>
              <a:rPr lang="zh-CN" altLang="en-US" b="0" dirty="0"/>
              <a:t>在三局比赛中击败了当时世界排名第一的柯洁</a:t>
            </a:r>
            <a:endParaRPr lang="en-US" altLang="zh-CN" b="0" dirty="0"/>
          </a:p>
          <a:p>
            <a:r>
              <a:rPr lang="en-US" altLang="zh-CN" b="0" dirty="0"/>
              <a:t>2017</a:t>
            </a:r>
            <a:r>
              <a:rPr lang="zh-CN" altLang="en-US" b="0" dirty="0"/>
              <a:t>年，自学成才的 </a:t>
            </a:r>
            <a:r>
              <a:rPr lang="en-US" altLang="zh-CN" b="0" dirty="0"/>
              <a:t>AlphaGo Zero </a:t>
            </a:r>
            <a:r>
              <a:rPr lang="zh-CN" altLang="en-US" b="0" dirty="0"/>
              <a:t>以 </a:t>
            </a:r>
            <a:r>
              <a:rPr lang="en-US" altLang="zh-CN" b="0" dirty="0"/>
              <a:t>100-0 </a:t>
            </a:r>
            <a:r>
              <a:rPr lang="zh-CN" altLang="en-US" b="0" dirty="0"/>
              <a:t>战胜了早期竞技版本的 </a:t>
            </a:r>
            <a:r>
              <a:rPr lang="en-US" altLang="zh-CN" b="0" dirty="0"/>
              <a:t>AlphaGo</a:t>
            </a:r>
            <a:endParaRPr lang="zh-CN" altLang="en-US" b="0" dirty="0"/>
          </a:p>
        </p:txBody>
      </p:sp>
    </p:spTree>
    <p:extLst>
      <p:ext uri="{BB962C8B-B14F-4D97-AF65-F5344CB8AC3E}">
        <p14:creationId xmlns:p14="http://schemas.microsoft.com/office/powerpoint/2010/main" val="1750473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92743" y="6448904"/>
            <a:ext cx="9890005" cy="276999"/>
          </a:xfrm>
          <a:prstGeom prst="rect">
            <a:avLst/>
          </a:prstGeom>
        </p:spPr>
        <p:txBody>
          <a:bodyPr wrap="square">
            <a:spAutoFit/>
          </a:bodyPr>
          <a:lstStyle/>
          <a:p>
            <a:r>
              <a:rPr lang="en-US" altLang="zh-CN" sz="1200">
                <a:solidFill>
                  <a:schemeClr val="bg1"/>
                </a:solidFill>
                <a:latin typeface="Times New Roman" panose="02020603050405020304" pitchFamily="18" charset="0"/>
                <a:cs typeface="Times New Roman" panose="02020603050405020304" pitchFamily="18" charset="0"/>
              </a:rPr>
              <a:t>Jumper, J., et al. (2021). Highly accurate protein structure prediction with AlphaFold. Nature, 596(7873), 583–589</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7" name="文本框 6"/>
          <p:cNvSpPr txBox="1"/>
          <p:nvPr/>
        </p:nvSpPr>
        <p:spPr>
          <a:xfrm>
            <a:off x="381241" y="928580"/>
            <a:ext cx="11112420" cy="1135054"/>
          </a:xfrm>
          <a:prstGeom prst="rect">
            <a:avLst/>
          </a:prstGeom>
          <a:noFill/>
        </p:spPr>
        <p:txBody>
          <a:bodyPr wrap="square">
            <a:spAutoFit/>
          </a:bodyPr>
          <a:lstStyle>
            <a:defPPr>
              <a:defRPr lang="zh-CN"/>
            </a:defPPr>
            <a:lvl1pPr marL="342900" indent="-342900">
              <a:lnSpc>
                <a:spcPct val="150000"/>
              </a:lnSpc>
              <a:buFont typeface="Wingdings" panose="05000000000000000000" pitchFamily="2" charset="2"/>
              <a:buChar char="p"/>
              <a:defRPr sz="2400" b="1" i="0">
                <a:solidFill>
                  <a:srgbClr val="070707"/>
                </a:solidFill>
                <a:effectLst/>
                <a:latin typeface="微软雅黑" panose="020B0503020204020204" pitchFamily="34" charset="-122"/>
                <a:ea typeface="微软雅黑" panose="020B0503020204020204" pitchFamily="34" charset="-122"/>
              </a:defRPr>
            </a:lvl1pPr>
          </a:lstStyle>
          <a:p>
            <a:r>
              <a:rPr lang="en-US" altLang="zh-CN" b="1"/>
              <a:t>AlphaFold</a:t>
            </a:r>
            <a:r>
              <a:rPr lang="zh-CN" altLang="en-US"/>
              <a:t> </a:t>
            </a:r>
            <a:r>
              <a:rPr lang="zh-CN" altLang="en-US" b="0"/>
              <a:t>是由 </a:t>
            </a:r>
            <a:r>
              <a:rPr lang="en-US" altLang="zh-CN" b="0"/>
              <a:t>DeepMind</a:t>
            </a:r>
            <a:r>
              <a:rPr lang="zh-CN" altLang="en-US" b="0"/>
              <a:t> 开发的一种基于深度学习的蛋白质结构预测工具</a:t>
            </a:r>
            <a:endParaRPr lang="en-US" altLang="zh-CN" b="0"/>
          </a:p>
          <a:p>
            <a:r>
              <a:rPr lang="zh-CN" altLang="en-US" b="0"/>
              <a:t>几乎实现了原子级别的准确预测，标志着蛋白质结构预测领域的一个里程碑。</a:t>
            </a:r>
          </a:p>
        </p:txBody>
      </p:sp>
      <p:sp>
        <p:nvSpPr>
          <p:cNvPr id="2" name="标题 1"/>
          <p:cNvSpPr>
            <a:spLocks noGrp="1"/>
          </p:cNvSpPr>
          <p:nvPr>
            <p:ph type="title"/>
          </p:nvPr>
        </p:nvSpPr>
        <p:spPr/>
        <p:txBody>
          <a:bodyPr/>
          <a:lstStyle/>
          <a:p>
            <a:r>
              <a:rPr lang="en-US" altLang="zh-CN" dirty="0"/>
              <a:t>AlphaFold</a:t>
            </a:r>
            <a:endParaRPr lang="zh-CN" altLang="en-US" dirty="0"/>
          </a:p>
        </p:txBody>
      </p:sp>
      <p:sp>
        <p:nvSpPr>
          <p:cNvPr id="5" name="AutoShape 6" descr="3 Important Reasons Why Investors Should Care About GPT-3 - Creating Future  Us"/>
          <p:cNvSpPr>
            <a:spLocks noChangeAspect="1" noChangeArrowheads="1"/>
          </p:cNvSpPr>
          <p:nvPr/>
        </p:nvSpPr>
        <p:spPr bwMode="auto">
          <a:xfrm>
            <a:off x="5018544" y="331922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2050" name="Picture 2" descr="Highly accurate protein structure prediction with AlphaFold | Natur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1717" y="2300182"/>
            <a:ext cx="5731467" cy="3671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7246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2018</a:t>
            </a:r>
            <a:r>
              <a:rPr lang="zh-CN" altLang="en-US" dirty="0"/>
              <a:t>年图灵奖</a:t>
            </a:r>
          </a:p>
        </p:txBody>
      </p:sp>
      <p:pic>
        <p:nvPicPr>
          <p:cNvPr id="4" name="Picture 4" descr="Image result for hint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024" y="2390898"/>
            <a:ext cx="1659416" cy="188136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Image result for lecu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91183" y="2390509"/>
            <a:ext cx="1659416" cy="1878584"/>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160" t="735" r="3686" b="27401"/>
          <a:stretch>
            <a:fillRect/>
          </a:stretch>
        </p:blipFill>
        <p:spPr bwMode="auto">
          <a:xfrm>
            <a:off x="8209906" y="2390898"/>
            <a:ext cx="1653590" cy="1881367"/>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381242" y="1059442"/>
            <a:ext cx="10686561" cy="1198880"/>
          </a:xfrm>
          <a:prstGeom prst="rect">
            <a:avLst/>
          </a:prstGeom>
          <a:noFill/>
        </p:spPr>
        <p:txBody>
          <a:bodyPr wrap="square">
            <a:spAutoFit/>
          </a:bodyPr>
          <a:lstStyle/>
          <a:p>
            <a:pPr>
              <a:lnSpc>
                <a:spcPct val="150000"/>
              </a:lnSpc>
            </a:pPr>
            <a:r>
              <a:rPr lang="en-US" altLang="zh-CN" sz="2400">
                <a:solidFill>
                  <a:srgbClr val="070707"/>
                </a:solidFill>
                <a:latin typeface="微软雅黑" panose="020B0503020204020204" pitchFamily="34" charset="-122"/>
                <a:ea typeface="微软雅黑" panose="020B0503020204020204" pitchFamily="34" charset="-122"/>
              </a:rPr>
              <a:t>Geoffrey Hinton</a:t>
            </a:r>
            <a:r>
              <a:rPr lang="zh-CN" altLang="en-US" sz="2400">
                <a:solidFill>
                  <a:srgbClr val="070707"/>
                </a:solidFill>
                <a:latin typeface="微软雅黑" panose="020B0503020204020204" pitchFamily="34" charset="-122"/>
                <a:ea typeface="微软雅黑" panose="020B0503020204020204" pitchFamily="34" charset="-122"/>
              </a:rPr>
              <a:t>、</a:t>
            </a:r>
            <a:r>
              <a:rPr lang="en-US" altLang="zh-CN" sz="2400">
                <a:solidFill>
                  <a:srgbClr val="070707"/>
                </a:solidFill>
                <a:latin typeface="微软雅黑" panose="020B0503020204020204" pitchFamily="34" charset="-122"/>
                <a:ea typeface="微软雅黑" panose="020B0503020204020204" pitchFamily="34" charset="-122"/>
              </a:rPr>
              <a:t>Yann LeCun </a:t>
            </a:r>
            <a:r>
              <a:rPr lang="zh-CN" altLang="en-US" sz="2400">
                <a:solidFill>
                  <a:srgbClr val="070707"/>
                </a:solidFill>
                <a:latin typeface="微软雅黑" panose="020B0503020204020204" pitchFamily="34" charset="-122"/>
                <a:ea typeface="微软雅黑" panose="020B0503020204020204" pitchFamily="34" charset="-122"/>
              </a:rPr>
              <a:t>和 </a:t>
            </a:r>
            <a:r>
              <a:rPr lang="en-US" altLang="zh-CN" sz="2400">
                <a:solidFill>
                  <a:srgbClr val="070707"/>
                </a:solidFill>
                <a:latin typeface="微软雅黑" panose="020B0503020204020204" pitchFamily="34" charset="-122"/>
                <a:ea typeface="微软雅黑" panose="020B0503020204020204" pitchFamily="34" charset="-122"/>
              </a:rPr>
              <a:t>Yoshua Bengio </a:t>
            </a:r>
            <a:r>
              <a:rPr lang="zh-CN" altLang="en-US" sz="2400">
                <a:solidFill>
                  <a:srgbClr val="070707"/>
                </a:solidFill>
                <a:latin typeface="微软雅黑" panose="020B0503020204020204" pitchFamily="34" charset="-122"/>
                <a:ea typeface="微软雅黑" panose="020B0503020204020204" pitchFamily="34" charset="-122"/>
              </a:rPr>
              <a:t>于</a:t>
            </a:r>
            <a:r>
              <a:rPr lang="en-US" altLang="zh-CN" sz="2400">
                <a:solidFill>
                  <a:srgbClr val="070707"/>
                </a:solidFill>
                <a:latin typeface="微软雅黑" panose="020B0503020204020204" pitchFamily="34" charset="-122"/>
                <a:ea typeface="微软雅黑" panose="020B0503020204020204" pitchFamily="34" charset="-122"/>
              </a:rPr>
              <a:t>2018</a:t>
            </a:r>
            <a:r>
              <a:rPr lang="zh-CN" altLang="en-US" sz="2400">
                <a:solidFill>
                  <a:srgbClr val="070707"/>
                </a:solidFill>
                <a:latin typeface="微软雅黑" panose="020B0503020204020204" pitchFamily="34" charset="-122"/>
                <a:ea typeface="微软雅黑" panose="020B0503020204020204" pitchFamily="34" charset="-122"/>
              </a:rPr>
              <a:t>年荣获图灵奖。他们因在深度学习领域的开创性贡献，被誉为“深度学习之父”。</a:t>
            </a:r>
          </a:p>
        </p:txBody>
      </p:sp>
      <p:sp>
        <p:nvSpPr>
          <p:cNvPr id="9" name="文本框 8"/>
          <p:cNvSpPr txBox="1"/>
          <p:nvPr/>
        </p:nvSpPr>
        <p:spPr>
          <a:xfrm>
            <a:off x="381242" y="4838925"/>
            <a:ext cx="11141781" cy="1346907"/>
          </a:xfrm>
          <a:prstGeom prst="rect">
            <a:avLst/>
          </a:prstGeom>
          <a:noFill/>
        </p:spPr>
        <p:txBody>
          <a:bodyPr wrap="square">
            <a:spAutoFit/>
          </a:bodyPr>
          <a:lstStyle>
            <a:defPPr>
              <a:defRPr lang="zh-CN"/>
            </a:defPPr>
            <a:lvl1pPr>
              <a:lnSpc>
                <a:spcPct val="150000"/>
              </a:lnSpc>
              <a:defRPr sz="2400">
                <a:solidFill>
                  <a:srgbClr val="070707"/>
                </a:solidFill>
                <a:latin typeface="微软雅黑" panose="020B0503020204020204" pitchFamily="34" charset="-122"/>
                <a:ea typeface="微软雅黑" panose="020B0503020204020204" pitchFamily="34" charset="-122"/>
              </a:defRPr>
            </a:lvl1pPr>
          </a:lstStyle>
          <a:p>
            <a:pPr marL="285750" indent="-285750">
              <a:buFont typeface="Wingdings" panose="05000000000000000000" pitchFamily="2" charset="2"/>
              <a:buChar char="Ø"/>
            </a:pPr>
            <a:r>
              <a:rPr lang="zh-CN" altLang="en-US" sz="1400" b="0" i="0" dirty="0">
                <a:solidFill>
                  <a:srgbClr val="000000"/>
                </a:solidFill>
                <a:effectLst/>
              </a:rPr>
              <a:t>这是图灵奖十年来第三次颁给机器学习领域的杰出贡献者</a:t>
            </a:r>
            <a:endParaRPr lang="en-US" altLang="zh-CN" sz="1400" b="0" i="0" dirty="0">
              <a:solidFill>
                <a:srgbClr val="000000"/>
              </a:solidFill>
              <a:effectLst/>
            </a:endParaRPr>
          </a:p>
          <a:p>
            <a:pPr marL="285750" indent="-285750">
              <a:buFont typeface="Wingdings" panose="05000000000000000000" pitchFamily="2" charset="2"/>
              <a:buChar char="Ø"/>
            </a:pPr>
            <a:r>
              <a:rPr lang="en-US" altLang="zh-CN" sz="1400" b="0" i="0" dirty="0">
                <a:solidFill>
                  <a:srgbClr val="000000"/>
                </a:solidFill>
                <a:effectLst/>
              </a:rPr>
              <a:t>2010 </a:t>
            </a:r>
            <a:r>
              <a:rPr lang="zh-CN" altLang="en-US" sz="1400" b="0" i="0" dirty="0">
                <a:solidFill>
                  <a:srgbClr val="000000"/>
                </a:solidFill>
                <a:effectLst/>
              </a:rPr>
              <a:t>年图灵奖得主为</a:t>
            </a:r>
            <a:r>
              <a:rPr lang="en-US" altLang="zh-CN" sz="1400" b="0" i="0" dirty="0">
                <a:solidFill>
                  <a:srgbClr val="000000"/>
                </a:solidFill>
                <a:effectLst/>
              </a:rPr>
              <a:t>Leslie Gabriel Valiant</a:t>
            </a:r>
            <a:r>
              <a:rPr lang="zh-CN" altLang="en-US" sz="1400" b="0" i="0" dirty="0">
                <a:solidFill>
                  <a:srgbClr val="000000"/>
                </a:solidFill>
                <a:effectLst/>
              </a:rPr>
              <a:t>，他为计算理论的发展作出了变革性贡献，包括 </a:t>
            </a:r>
            <a:r>
              <a:rPr lang="en-US" altLang="zh-CN" sz="1400" b="0" i="0" dirty="0">
                <a:solidFill>
                  <a:srgbClr val="000000"/>
                </a:solidFill>
                <a:effectLst/>
              </a:rPr>
              <a:t>PAC </a:t>
            </a:r>
            <a:r>
              <a:rPr lang="zh-CN" altLang="en-US" sz="1400" b="0" i="0" dirty="0">
                <a:solidFill>
                  <a:srgbClr val="000000"/>
                </a:solidFill>
                <a:effectLst/>
              </a:rPr>
              <a:t>学习理论、并行与分布计算理论等</a:t>
            </a:r>
            <a:endParaRPr lang="en-US" altLang="zh-CN" sz="1400" b="0" i="0" dirty="0">
              <a:solidFill>
                <a:srgbClr val="000000"/>
              </a:solidFill>
              <a:effectLst/>
            </a:endParaRPr>
          </a:p>
          <a:p>
            <a:pPr marL="285750" indent="-285750">
              <a:buFont typeface="Wingdings" panose="05000000000000000000" pitchFamily="2" charset="2"/>
              <a:buChar char="Ø"/>
            </a:pPr>
            <a:r>
              <a:rPr lang="en-US" altLang="zh-CN" sz="1400" b="0" i="0" dirty="0">
                <a:solidFill>
                  <a:srgbClr val="000000"/>
                </a:solidFill>
                <a:effectLst/>
              </a:rPr>
              <a:t>2011 </a:t>
            </a:r>
            <a:r>
              <a:rPr lang="zh-CN" altLang="en-US" sz="1400" b="0" i="0" dirty="0">
                <a:solidFill>
                  <a:srgbClr val="000000"/>
                </a:solidFill>
                <a:effectLst/>
              </a:rPr>
              <a:t>年图灵奖得主为 </a:t>
            </a:r>
            <a:r>
              <a:rPr lang="en-US" altLang="zh-CN" sz="1400" b="0" i="0" dirty="0">
                <a:solidFill>
                  <a:srgbClr val="000000"/>
                </a:solidFill>
                <a:effectLst/>
              </a:rPr>
              <a:t>Judea Pearl</a:t>
            </a:r>
            <a:r>
              <a:rPr lang="zh-CN" altLang="en-US" sz="1400" b="0" i="0" dirty="0">
                <a:solidFill>
                  <a:srgbClr val="000000"/>
                </a:solidFill>
                <a:effectLst/>
              </a:rPr>
              <a:t>，概率与</a:t>
            </a:r>
            <a:r>
              <a:rPr lang="zh-CN" altLang="en-US" sz="1400" dirty="0">
                <a:solidFill>
                  <a:srgbClr val="000000"/>
                </a:solidFill>
              </a:rPr>
              <a:t>因果推理微积分，</a:t>
            </a:r>
            <a:r>
              <a:rPr lang="zh-CN" altLang="en-US" sz="1400" b="0" i="0" dirty="0">
                <a:solidFill>
                  <a:srgbClr val="000000"/>
                </a:solidFill>
                <a:effectLst/>
                <a:latin typeface="-apple-system"/>
              </a:rPr>
              <a:t>为</a:t>
            </a:r>
            <a:r>
              <a:rPr lang="zh-CN" altLang="en-US" sz="1400" dirty="0">
                <a:solidFill>
                  <a:srgbClr val="000000"/>
                </a:solidFill>
              </a:rPr>
              <a:t>人工智能</a:t>
            </a:r>
            <a:r>
              <a:rPr lang="zh-CN" altLang="en-US" sz="1400" b="0" i="0" dirty="0">
                <a:solidFill>
                  <a:srgbClr val="000000"/>
                </a:solidFill>
                <a:effectLst/>
                <a:latin typeface="-apple-system"/>
              </a:rPr>
              <a:t>发展做出了重大贡献</a:t>
            </a:r>
            <a:endParaRPr lang="en-US" altLang="zh-CN" sz="1400" dirty="0">
              <a:solidFill>
                <a:srgbClr val="000000"/>
              </a:solidFill>
            </a:endParaRPr>
          </a:p>
          <a:p>
            <a:pPr marL="285750" indent="-285750">
              <a:buFont typeface="Wingdings" panose="05000000000000000000" pitchFamily="2" charset="2"/>
              <a:buChar char="Ø"/>
            </a:pPr>
            <a:r>
              <a:rPr lang="en-US" altLang="zh-CN" sz="1400" dirty="0">
                <a:solidFill>
                  <a:schemeClr val="bg1">
                    <a:lumMod val="50000"/>
                  </a:schemeClr>
                </a:solidFill>
              </a:rPr>
              <a:t>LSTM</a:t>
            </a:r>
            <a:r>
              <a:rPr lang="zh-CN" altLang="en-US" sz="1400" dirty="0">
                <a:solidFill>
                  <a:schemeClr val="bg1">
                    <a:lumMod val="50000"/>
                  </a:schemeClr>
                </a:solidFill>
              </a:rPr>
              <a:t>发明人</a:t>
            </a:r>
            <a:r>
              <a:rPr lang="en-US" altLang="zh-CN" sz="1400" dirty="0">
                <a:solidFill>
                  <a:schemeClr val="bg1">
                    <a:lumMod val="50000"/>
                  </a:schemeClr>
                </a:solidFill>
              </a:rPr>
              <a:t>Sepp Hochreiter </a:t>
            </a:r>
            <a:r>
              <a:rPr lang="zh-CN" altLang="en-US" sz="1400" dirty="0">
                <a:solidFill>
                  <a:schemeClr val="bg1">
                    <a:lumMod val="50000"/>
                  </a:schemeClr>
                </a:solidFill>
              </a:rPr>
              <a:t>和 </a:t>
            </a:r>
            <a:r>
              <a:rPr lang="en-US" altLang="zh-CN" sz="1400" dirty="0">
                <a:solidFill>
                  <a:schemeClr val="bg1">
                    <a:lumMod val="50000"/>
                  </a:schemeClr>
                </a:solidFill>
              </a:rPr>
              <a:t>Jürgen </a:t>
            </a:r>
            <a:r>
              <a:rPr lang="en-US" altLang="zh-CN" sz="1400" dirty="0" err="1">
                <a:solidFill>
                  <a:schemeClr val="bg1">
                    <a:lumMod val="50000"/>
                  </a:schemeClr>
                </a:solidFill>
              </a:rPr>
              <a:t>Schmidhuber</a:t>
            </a:r>
            <a:r>
              <a:rPr lang="zh-CN" altLang="en-US" sz="1400" dirty="0">
                <a:solidFill>
                  <a:schemeClr val="bg1">
                    <a:lumMod val="50000"/>
                  </a:schemeClr>
                </a:solidFill>
              </a:rPr>
              <a:t>尚未获得图灵奖</a:t>
            </a:r>
          </a:p>
        </p:txBody>
      </p:sp>
      <p:sp>
        <p:nvSpPr>
          <p:cNvPr id="11" name="文本框 10"/>
          <p:cNvSpPr txBox="1"/>
          <p:nvPr/>
        </p:nvSpPr>
        <p:spPr>
          <a:xfrm>
            <a:off x="8055948" y="4351510"/>
            <a:ext cx="1961505" cy="369332"/>
          </a:xfrm>
          <a:prstGeom prst="rect">
            <a:avLst/>
          </a:prstGeom>
          <a:noFill/>
        </p:spPr>
        <p:txBody>
          <a:bodyPr wrap="square">
            <a:spAutoFit/>
          </a:bodyPr>
          <a:lstStyle/>
          <a:p>
            <a:pPr algn="ctr"/>
            <a:r>
              <a:rPr lang="en-US" altLang="zh-CN" sz="1800">
                <a:solidFill>
                  <a:srgbClr val="070707"/>
                </a:solidFill>
                <a:latin typeface="微软雅黑" panose="020B0503020204020204" pitchFamily="34" charset="-122"/>
                <a:ea typeface="微软雅黑" panose="020B0503020204020204" pitchFamily="34" charset="-122"/>
              </a:rPr>
              <a:t>Yoshua Bengio</a:t>
            </a:r>
            <a:endParaRPr lang="zh-CN" altLang="en-US"/>
          </a:p>
        </p:txBody>
      </p:sp>
      <p:sp>
        <p:nvSpPr>
          <p:cNvPr id="12" name="文本框 11"/>
          <p:cNvSpPr txBox="1"/>
          <p:nvPr/>
        </p:nvSpPr>
        <p:spPr>
          <a:xfrm>
            <a:off x="37243" y="4351510"/>
            <a:ext cx="2192977" cy="369332"/>
          </a:xfrm>
          <a:prstGeom prst="rect">
            <a:avLst/>
          </a:prstGeom>
          <a:noFill/>
        </p:spPr>
        <p:txBody>
          <a:bodyPr wrap="square">
            <a:spAutoFit/>
          </a:bodyPr>
          <a:lstStyle/>
          <a:p>
            <a:pPr algn="ctr"/>
            <a:r>
              <a:rPr lang="en-US" altLang="zh-CN" sz="1800">
                <a:solidFill>
                  <a:srgbClr val="070707"/>
                </a:solidFill>
                <a:latin typeface="微软雅黑" panose="020B0503020204020204" pitchFamily="34" charset="-122"/>
                <a:ea typeface="微软雅黑" panose="020B0503020204020204" pitchFamily="34" charset="-122"/>
              </a:rPr>
              <a:t>Geoffrey E Hinton</a:t>
            </a:r>
            <a:endParaRPr lang="zh-CN" altLang="en-US"/>
          </a:p>
        </p:txBody>
      </p:sp>
      <p:sp>
        <p:nvSpPr>
          <p:cNvPr id="14" name="文本框 13"/>
          <p:cNvSpPr txBox="1"/>
          <p:nvPr/>
        </p:nvSpPr>
        <p:spPr>
          <a:xfrm>
            <a:off x="1960634" y="2582818"/>
            <a:ext cx="1736779" cy="1508105"/>
          </a:xfrm>
          <a:prstGeom prst="rect">
            <a:avLst/>
          </a:prstGeom>
          <a:noFill/>
        </p:spPr>
        <p:txBody>
          <a:bodyPr wrap="square">
            <a:spAutoFit/>
          </a:bodyPr>
          <a:lstStyle/>
          <a:p>
            <a:pPr marL="285750" indent="-285750" algn="l">
              <a:spcBef>
                <a:spcPts val="600"/>
              </a:spcBef>
              <a:spcAft>
                <a:spcPts val="600"/>
              </a:spcAft>
              <a:buFont typeface="Wingdings" panose="05000000000000000000" pitchFamily="2" charset="2"/>
              <a:buChar char="p"/>
            </a:pPr>
            <a:r>
              <a:rPr lang="zh-CN" altLang="en-US" b="0" i="0">
                <a:solidFill>
                  <a:srgbClr val="002B7F"/>
                </a:solidFill>
                <a:effectLst/>
                <a:latin typeface="-apple-system"/>
              </a:rPr>
              <a:t>反向传播</a:t>
            </a:r>
          </a:p>
          <a:p>
            <a:pPr marL="285750" indent="-285750" algn="l">
              <a:spcBef>
                <a:spcPts val="600"/>
              </a:spcBef>
              <a:spcAft>
                <a:spcPts val="600"/>
              </a:spcAft>
              <a:buFont typeface="Wingdings" panose="05000000000000000000" pitchFamily="2" charset="2"/>
              <a:buChar char="p"/>
            </a:pPr>
            <a:r>
              <a:rPr lang="zh-CN" altLang="en-US" b="0" i="0">
                <a:solidFill>
                  <a:srgbClr val="002B7F"/>
                </a:solidFill>
                <a:effectLst/>
                <a:latin typeface="-apple-system"/>
              </a:rPr>
              <a:t>玻尔兹曼机</a:t>
            </a:r>
          </a:p>
          <a:p>
            <a:pPr marL="285750" indent="-285750" algn="l">
              <a:spcBef>
                <a:spcPts val="600"/>
              </a:spcBef>
              <a:spcAft>
                <a:spcPts val="600"/>
              </a:spcAft>
              <a:buFont typeface="Wingdings" panose="05000000000000000000" pitchFamily="2" charset="2"/>
              <a:buChar char="p"/>
            </a:pPr>
            <a:r>
              <a:rPr lang="zh-CN" altLang="en-US" b="0" i="0">
                <a:solidFill>
                  <a:srgbClr val="002B7F"/>
                </a:solidFill>
                <a:effectLst/>
                <a:latin typeface="-apple-system"/>
              </a:rPr>
              <a:t>对卷积神经网络的修正</a:t>
            </a:r>
          </a:p>
        </p:txBody>
      </p:sp>
      <p:sp>
        <p:nvSpPr>
          <p:cNvPr id="16" name="文本框 15"/>
          <p:cNvSpPr txBox="1"/>
          <p:nvPr/>
        </p:nvSpPr>
        <p:spPr>
          <a:xfrm>
            <a:off x="9885318" y="2615475"/>
            <a:ext cx="2097111" cy="1508105"/>
          </a:xfrm>
          <a:prstGeom prst="rect">
            <a:avLst/>
          </a:prstGeom>
          <a:noFill/>
        </p:spPr>
        <p:txBody>
          <a:bodyPr wrap="square">
            <a:spAutoFit/>
          </a:bodyPr>
          <a:lstStyle/>
          <a:p>
            <a:pPr marL="285750" indent="-285750" algn="l">
              <a:spcBef>
                <a:spcPts val="600"/>
              </a:spcBef>
              <a:spcAft>
                <a:spcPts val="600"/>
              </a:spcAft>
              <a:buFont typeface="Wingdings" panose="05000000000000000000" pitchFamily="2" charset="2"/>
              <a:buChar char="p"/>
            </a:pPr>
            <a:r>
              <a:rPr lang="zh-CN" altLang="en-US" b="0" i="0">
                <a:solidFill>
                  <a:srgbClr val="002B7F"/>
                </a:solidFill>
                <a:effectLst/>
                <a:latin typeface="-apple-system"/>
              </a:rPr>
              <a:t>序列的概率建模</a:t>
            </a:r>
          </a:p>
          <a:p>
            <a:pPr marL="285750" indent="-285750" algn="l">
              <a:spcBef>
                <a:spcPts val="600"/>
              </a:spcBef>
              <a:spcAft>
                <a:spcPts val="600"/>
              </a:spcAft>
              <a:buFont typeface="Wingdings" panose="05000000000000000000" pitchFamily="2" charset="2"/>
              <a:buChar char="p"/>
            </a:pPr>
            <a:r>
              <a:rPr lang="zh-CN" altLang="en-US" b="0" i="0">
                <a:solidFill>
                  <a:srgbClr val="002B7F"/>
                </a:solidFill>
                <a:effectLst/>
                <a:latin typeface="-apple-system"/>
              </a:rPr>
              <a:t>高维词嵌入与注意力机制</a:t>
            </a:r>
          </a:p>
          <a:p>
            <a:pPr marL="285750" indent="-285750" algn="l">
              <a:spcBef>
                <a:spcPts val="600"/>
              </a:spcBef>
              <a:spcAft>
                <a:spcPts val="600"/>
              </a:spcAft>
              <a:buFont typeface="Wingdings" panose="05000000000000000000" pitchFamily="2" charset="2"/>
              <a:buChar char="p"/>
            </a:pPr>
            <a:r>
              <a:rPr lang="zh-CN" altLang="en-US" b="0" i="0">
                <a:solidFill>
                  <a:srgbClr val="002B7F"/>
                </a:solidFill>
                <a:effectLst/>
                <a:latin typeface="-apple-system"/>
              </a:rPr>
              <a:t>生成对抗网络</a:t>
            </a:r>
          </a:p>
        </p:txBody>
      </p:sp>
      <p:sp>
        <p:nvSpPr>
          <p:cNvPr id="18" name="文本框 17"/>
          <p:cNvSpPr txBox="1"/>
          <p:nvPr/>
        </p:nvSpPr>
        <p:spPr>
          <a:xfrm>
            <a:off x="5524986" y="2714248"/>
            <a:ext cx="2530962" cy="1231106"/>
          </a:xfrm>
          <a:prstGeom prst="rect">
            <a:avLst/>
          </a:prstGeom>
          <a:noFill/>
        </p:spPr>
        <p:txBody>
          <a:bodyPr wrap="square">
            <a:spAutoFit/>
          </a:bodyPr>
          <a:lstStyle/>
          <a:p>
            <a:pPr marL="285750" indent="-285750" algn="l">
              <a:spcBef>
                <a:spcPts val="600"/>
              </a:spcBef>
              <a:spcAft>
                <a:spcPts val="600"/>
              </a:spcAft>
              <a:buFont typeface="Wingdings" panose="05000000000000000000" pitchFamily="2" charset="2"/>
              <a:buChar char="p"/>
            </a:pPr>
            <a:r>
              <a:rPr lang="zh-CN" altLang="en-US" b="0" i="0">
                <a:solidFill>
                  <a:srgbClr val="002B7F"/>
                </a:solidFill>
                <a:effectLst/>
                <a:latin typeface="-apple-system"/>
              </a:rPr>
              <a:t>提出卷积神经网络</a:t>
            </a:r>
          </a:p>
          <a:p>
            <a:pPr marL="285750" indent="-285750" algn="l">
              <a:spcBef>
                <a:spcPts val="600"/>
              </a:spcBef>
              <a:spcAft>
                <a:spcPts val="600"/>
              </a:spcAft>
              <a:buFont typeface="Wingdings" panose="05000000000000000000" pitchFamily="2" charset="2"/>
              <a:buChar char="p"/>
            </a:pPr>
            <a:r>
              <a:rPr lang="zh-CN" altLang="en-US" b="0" i="0">
                <a:solidFill>
                  <a:srgbClr val="002B7F"/>
                </a:solidFill>
                <a:effectLst/>
                <a:latin typeface="-apple-system"/>
              </a:rPr>
              <a:t>改进反向传播算法</a:t>
            </a:r>
          </a:p>
          <a:p>
            <a:pPr marL="285750" indent="-285750" algn="l">
              <a:spcBef>
                <a:spcPts val="600"/>
              </a:spcBef>
              <a:spcAft>
                <a:spcPts val="600"/>
              </a:spcAft>
              <a:buFont typeface="Wingdings" panose="05000000000000000000" pitchFamily="2" charset="2"/>
              <a:buChar char="p"/>
            </a:pPr>
            <a:r>
              <a:rPr lang="zh-CN" altLang="en-US" b="0" i="0">
                <a:solidFill>
                  <a:srgbClr val="002B7F"/>
                </a:solidFill>
                <a:effectLst/>
                <a:latin typeface="-apple-system"/>
              </a:rPr>
              <a:t>拓宽神经网络的视角</a:t>
            </a:r>
          </a:p>
        </p:txBody>
      </p:sp>
      <p:sp>
        <p:nvSpPr>
          <p:cNvPr id="19" name="文本框 18"/>
          <p:cNvSpPr txBox="1"/>
          <p:nvPr/>
        </p:nvSpPr>
        <p:spPr>
          <a:xfrm>
            <a:off x="3740138" y="4354400"/>
            <a:ext cx="1961505" cy="369332"/>
          </a:xfrm>
          <a:prstGeom prst="rect">
            <a:avLst/>
          </a:prstGeom>
          <a:noFill/>
        </p:spPr>
        <p:txBody>
          <a:bodyPr wrap="square">
            <a:spAutoFit/>
          </a:bodyPr>
          <a:lstStyle/>
          <a:p>
            <a:pPr algn="ctr"/>
            <a:r>
              <a:rPr lang="en-US" altLang="zh-CN" sz="1800">
                <a:solidFill>
                  <a:srgbClr val="070707"/>
                </a:solidFill>
                <a:latin typeface="微软雅黑" panose="020B0503020204020204" pitchFamily="34" charset="-122"/>
                <a:ea typeface="微软雅黑" panose="020B0503020204020204" pitchFamily="34" charset="-122"/>
              </a:rPr>
              <a:t>Yann LeCun</a:t>
            </a:r>
            <a:endParaRPr lang="zh-CN" altLang="en-US"/>
          </a:p>
        </p:txBody>
      </p:sp>
    </p:spTree>
    <p:extLst>
      <p:ext uri="{BB962C8B-B14F-4D97-AF65-F5344CB8AC3E}">
        <p14:creationId xmlns:p14="http://schemas.microsoft.com/office/powerpoint/2010/main" val="1275841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B201A-7EC2-1BBD-DFEE-48D35EA735B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847DBAA-B5E8-AC83-CDEA-29DAB95207E5}"/>
              </a:ext>
            </a:extLst>
          </p:cNvPr>
          <p:cNvSpPr>
            <a:spLocks noGrp="1"/>
          </p:cNvSpPr>
          <p:nvPr>
            <p:ph type="title"/>
          </p:nvPr>
        </p:nvSpPr>
        <p:spPr/>
        <p:txBody>
          <a:bodyPr/>
          <a:lstStyle/>
          <a:p>
            <a:r>
              <a:rPr lang="en-US" altLang="zh-CN" dirty="0"/>
              <a:t>2024</a:t>
            </a:r>
            <a:r>
              <a:rPr lang="zh-CN" altLang="en-US" dirty="0"/>
              <a:t>年诺贝尔奖</a:t>
            </a:r>
          </a:p>
        </p:txBody>
      </p:sp>
      <p:pic>
        <p:nvPicPr>
          <p:cNvPr id="15" name="图片 14">
            <a:extLst>
              <a:ext uri="{FF2B5EF4-FFF2-40B4-BE49-F238E27FC236}">
                <a16:creationId xmlns:a16="http://schemas.microsoft.com/office/drawing/2014/main" id="{B6A59821-C779-651D-DF32-0954EEC97A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401" y="845456"/>
            <a:ext cx="5410200" cy="5410200"/>
          </a:xfrm>
          <a:prstGeom prst="rect">
            <a:avLst/>
          </a:prstGeom>
        </p:spPr>
      </p:pic>
      <p:pic>
        <p:nvPicPr>
          <p:cNvPr id="17" name="图片 16">
            <a:extLst>
              <a:ext uri="{FF2B5EF4-FFF2-40B4-BE49-F238E27FC236}">
                <a16:creationId xmlns:a16="http://schemas.microsoft.com/office/drawing/2014/main" id="{1F7DFB59-5518-545B-3D8D-2ABB846C2E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845456"/>
            <a:ext cx="5410200" cy="5410200"/>
          </a:xfrm>
          <a:prstGeom prst="rect">
            <a:avLst/>
          </a:prstGeom>
        </p:spPr>
      </p:pic>
    </p:spTree>
    <p:extLst>
      <p:ext uri="{BB962C8B-B14F-4D97-AF65-F5344CB8AC3E}">
        <p14:creationId xmlns:p14="http://schemas.microsoft.com/office/powerpoint/2010/main" val="569089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62970" y="3429000"/>
            <a:ext cx="9866060" cy="769441"/>
          </a:xfrm>
          <a:prstGeom prst="rect">
            <a:avLst/>
          </a:prstGeom>
          <a:noFill/>
        </p:spPr>
        <p:txBody>
          <a:bodyPr wrap="square">
            <a:spAutoFit/>
          </a:bodyPr>
          <a:lstStyle/>
          <a:p>
            <a:r>
              <a:rPr lang="zh-CN" altLang="en-US" sz="4400" b="1" dirty="0">
                <a:latin typeface="微软雅黑" panose="020B0503020204020204" pitchFamily="34" charset="-122"/>
                <a:ea typeface="微软雅黑" panose="020B0503020204020204" pitchFamily="34" charset="-122"/>
              </a:rPr>
              <a:t>它是谁？ 它从哪里来？ 它将到哪里去？</a:t>
            </a:r>
          </a:p>
        </p:txBody>
      </p:sp>
      <p:sp>
        <p:nvSpPr>
          <p:cNvPr id="2" name="矩形 1"/>
          <p:cNvSpPr/>
          <p:nvPr/>
        </p:nvSpPr>
        <p:spPr>
          <a:xfrm>
            <a:off x="90483" y="6415408"/>
            <a:ext cx="10841990" cy="307777"/>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400">
                <a:solidFill>
                  <a:srgbClr val="070707"/>
                </a:solidFill>
                <a:latin typeface="Times New Roman" panose="02020603050405020304" pitchFamily="18" charset="0"/>
                <a:ea typeface="微软雅黑" panose="020B0503020204020204" pitchFamily="34" charset="-122"/>
                <a:cs typeface="Times New Roman" panose="02020603050405020304" pitchFamily="18" charset="0"/>
              </a:rPr>
              <a:t>http</a:t>
            </a:r>
            <a:r>
              <a:rPr lang="en-US" altLang="zh-CN" sz="1400" dirty="0">
                <a:solidFill>
                  <a:srgbClr val="070707"/>
                </a:solidFill>
                <a:latin typeface="Times New Roman" panose="02020603050405020304" pitchFamily="18" charset="0"/>
                <a:ea typeface="微软雅黑" panose="020B0503020204020204" pitchFamily="34" charset="-122"/>
                <a:cs typeface="Times New Roman" panose="02020603050405020304" pitchFamily="18" charset="0"/>
              </a:rPr>
              <a:t>://www.andreykurenkov.com/writing/ai</a:t>
            </a:r>
            <a:r>
              <a:rPr lang="en-US" altLang="zh-CN" sz="1400">
                <a:solidFill>
                  <a:srgbClr val="070707"/>
                </a:solidFill>
                <a:latin typeface="Times New Roman" panose="02020603050405020304" pitchFamily="18" charset="0"/>
                <a:ea typeface="微软雅黑" panose="020B0503020204020204" pitchFamily="34" charset="-122"/>
                <a:cs typeface="Times New Roman" panose="02020603050405020304" pitchFamily="18" charset="0"/>
              </a:rPr>
              <a:t>/a-brief-history-of-neural-nets-and-deep-learning</a:t>
            </a:r>
            <a:endParaRPr lang="en-US" altLang="zh-CN" sz="1400" dirty="0">
              <a:solidFill>
                <a:srgbClr val="070707"/>
              </a:solidFill>
              <a:latin typeface="Times New Roman" panose="02020603050405020304" pitchFamily="18" charset="0"/>
              <a:ea typeface="微软雅黑" panose="020B0503020204020204" pitchFamily="34" charset="-122"/>
              <a:cs typeface="Times New Roman" panose="02020603050405020304" pitchFamily="18" charset="0"/>
              <a:hlinkClick r:id="rId2"/>
            </a:endParaRPr>
          </a:p>
        </p:txBody>
      </p:sp>
      <p:cxnSp>
        <p:nvCxnSpPr>
          <p:cNvPr id="3" name="直接箭头连接符 2"/>
          <p:cNvCxnSpPr/>
          <p:nvPr/>
        </p:nvCxnSpPr>
        <p:spPr>
          <a:xfrm>
            <a:off x="0" y="6415408"/>
            <a:ext cx="6627681" cy="0"/>
          </a:xfrm>
          <a:prstGeom prst="straightConnector1">
            <a:avLst/>
          </a:prstGeom>
          <a:noFill/>
          <a:ln w="12700" cap="flat" cmpd="sng" algn="ctr">
            <a:solidFill>
              <a:srgbClr val="000000"/>
            </a:solidFill>
            <a:prstDash val="solid"/>
            <a:miter lim="800000"/>
            <a:tailEnd type="none"/>
          </a:ln>
          <a:effectLst/>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数据拟合（</a:t>
            </a:r>
            <a:r>
              <a:rPr lang="en-US" altLang="zh-CN"/>
              <a:t>data fitting</a:t>
            </a:r>
            <a:r>
              <a:rPr lang="zh-CN" altLang="en-US"/>
              <a:t>）</a:t>
            </a:r>
            <a:endParaRPr lang="zh-CN" altLang="en-US" dirty="0"/>
          </a:p>
        </p:txBody>
      </p:sp>
      <mc:AlternateContent xmlns:mc="http://schemas.openxmlformats.org/markup-compatibility/2006" xmlns:a14="http://schemas.microsoft.com/office/drawing/2010/main">
        <mc:Choice Requires="a14">
          <p:sp>
            <p:nvSpPr>
              <p:cNvPr id="10" name="文本框 9"/>
              <p:cNvSpPr txBox="1"/>
              <p:nvPr/>
            </p:nvSpPr>
            <p:spPr>
              <a:xfrm>
                <a:off x="380999" y="1012121"/>
                <a:ext cx="7709453" cy="503458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数据拟合</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旨在从数据中学到一个数学模型，使其能很好地逼近产生数据的客观规律。我们将这个规律的函数表达称之为</a:t>
                </a:r>
                <a:r>
                  <a:rPr kumimoji="0" lang="zh-CN" altLang="en-US" sz="24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目标函数</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target function</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endParaRPr kumimoji="0" lang="en-US" altLang="zh-CN"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数据</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14:m>
                  <m:oMath xmlns:m="http://schemas.openxmlformats.org/officeDocument/2006/math">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𝑆</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d>
                          <m:dPr>
                            <m:begChr m:val="{"/>
                            <m:endChr m:val="}"/>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d>
                              <m:d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sSub>
                                  <m:sSub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 </m:t>
                                </m:r>
                                <m:sSub>
                                  <m:sSub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Sub>
                              </m:e>
                            </m:d>
                          </m:e>
                        </m:d>
                      </m:e>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𝑛</m:t>
                        </m:r>
                      </m:sup>
                    </m:sSubSup>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zh-CN" altLang="en-US"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𝒳</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zh-CN" altLang="en-US"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𝒴</m:t>
                    </m:r>
                  </m:oMath>
                </a14:m>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endParaRPr kumimoji="0" lang="en-US" altLang="zh-CN"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样本集</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14:m>
                  <m:oMath xmlns:m="http://schemas.openxmlformats.org/officeDocument/2006/math">
                    <m:r>
                      <a:rPr kumimoji="0" lang="zh-CN" altLang="en-US"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𝒳</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𝑅</m:t>
                        </m:r>
                      </m:e>
                      <m:sup>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𝑑</m:t>
                        </m:r>
                      </m:sup>
                    </m:sSup>
                  </m:oMath>
                </a14:m>
                <a:endParaRPr kumimoji="0" lang="en-US" altLang="zh-CN"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标签集</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14:m>
                  <m:oMath xmlns:m="http://schemas.openxmlformats.org/officeDocument/2006/math">
                    <m:r>
                      <a:rPr kumimoji="0" lang="zh-CN" altLang="en-US"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𝒴</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𝑅</m:t>
                        </m:r>
                      </m:e>
                      <m:sup>
                        <m:sSub>
                          <m:sSub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𝑑</m:t>
                            </m:r>
                          </m:e>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𝑜</m:t>
                            </m:r>
                          </m:sub>
                        </m:sSub>
                      </m:sup>
                    </m:sSup>
                  </m:oMath>
                </a14:m>
                <a:endParaRPr kumimoji="0" lang="en-US" altLang="zh-CN"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目标函数</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14:m>
                  <m:oMath xmlns:m="http://schemas.openxmlformats.org/officeDocument/2006/math">
                    <m:sSup>
                      <m:sSup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p>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up>
                    </m:sSup>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zh-CN" altLang="en-US" sz="24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𝒳</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zh-CN" altLang="en-US" sz="24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𝒴</m:t>
                    </m:r>
                  </m:oMath>
                </a14:m>
                <a:endParaRPr kumimoji="0" lang="en-US" altLang="zh-CN"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机器学习模型</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14:m>
                  <m:oMath xmlns:m="http://schemas.openxmlformats.org/officeDocument/2006/math">
                    <m:sSub>
                      <m:sSub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𝜃</m:t>
                        </m:r>
                      </m:sub>
                    </m:s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zh-CN" altLang="en-US" sz="24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𝒳</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zh-CN" altLang="en-US" sz="24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𝒴</m:t>
                    </m:r>
                  </m:oMath>
                </a14:m>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，当</a:t>
                </a:r>
                <a14:m>
                  <m:oMath xmlns:m="http://schemas.openxmlformats.org/officeDocument/2006/math">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𝜃</m:t>
                    </m:r>
                  </m:oMath>
                </a14:m>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变化时，</a:t>
                </a:r>
                <a14:m>
                  <m:oMath xmlns:m="http://schemas.openxmlformats.org/officeDocument/2006/math">
                    <m:sSub>
                      <m:sSub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d>
                          <m:dPr>
                            <m:begChr m:val="{"/>
                            <m:endChr m:val="}"/>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sSub>
                              <m:sSub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𝜃</m:t>
                                </m:r>
                              </m:sub>
                            </m:sSub>
                          </m:e>
                        </m:d>
                      </m:e>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𝜃</m:t>
                        </m:r>
                      </m:sub>
                    </m:sSub>
                  </m:oMath>
                </a14:m>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构成了一个函数空间</a:t>
                </a:r>
                <a:endParaRPr kumimoji="0" lang="en-US" altLang="zh-CN"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380999" y="1012121"/>
                <a:ext cx="7709453" cy="5034583"/>
              </a:xfrm>
              <a:prstGeom prst="rect">
                <a:avLst/>
              </a:prstGeom>
              <a:blipFill>
                <a:blip r:embed="rId2"/>
                <a:stretch>
                  <a:fillRect l="-1186" b="-1816"/>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FE68CDA4-E24B-6F1E-AD09-D7FEC7E986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4644" y="1060174"/>
            <a:ext cx="3496114" cy="4582989"/>
          </a:xfrm>
          <a:prstGeom prst="rect">
            <a:avLst/>
          </a:prstGeom>
        </p:spPr>
      </p:pic>
    </p:spTree>
    <p:extLst>
      <p:ext uri="{BB962C8B-B14F-4D97-AF65-F5344CB8AC3E}">
        <p14:creationId xmlns:p14="http://schemas.microsoft.com/office/powerpoint/2010/main" val="3310989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81242" y="0"/>
            <a:ext cx="7622580" cy="761979"/>
          </a:xfrm>
        </p:spPr>
        <p:txBody>
          <a:bodyPr/>
          <a:lstStyle/>
          <a:p>
            <a:r>
              <a:rPr lang="zh-CN" altLang="en-US" dirty="0"/>
              <a:t>例：线性拟合</a:t>
            </a:r>
          </a:p>
        </p:txBody>
      </p:sp>
      <mc:AlternateContent xmlns:mc="http://schemas.openxmlformats.org/markup-compatibility/2006" xmlns:a14="http://schemas.microsoft.com/office/drawing/2010/main">
        <mc:Choice Requires="a14">
          <p:sp>
            <p:nvSpPr>
              <p:cNvPr id="10" name="文本框 9"/>
              <p:cNvSpPr txBox="1"/>
              <p:nvPr/>
            </p:nvSpPr>
            <p:spPr>
              <a:xfrm>
                <a:off x="380999" y="1012121"/>
                <a:ext cx="10864851" cy="4895764"/>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0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sym typeface="+mn-ea"/>
                  </a:rPr>
                  <a:t>模型：</a:t>
                </a:r>
                <a14:m>
                  <m:oMath xmlns:m="http://schemas.openxmlformats.org/officeDocument/2006/math">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b>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sub>
                    </m:sSub>
                    <m:d>
                      <m:dPr>
                        <m:ctrlP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𝒙</m:t>
                        </m:r>
                      </m:e>
                    </m:d>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𝑨𝒙</m:t>
                    </m:r>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𝒃</m:t>
                    </m:r>
                  </m:oMath>
                </a14:m>
                <a:r>
                  <a:rPr kumimoji="0" lang="zh-CN" altLang="en-US" sz="20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sym typeface="+mn-ea"/>
                  </a:rPr>
                  <a:t>，参数为</a:t>
                </a:r>
                <a14:m>
                  <m:oMath xmlns:m="http://schemas.openxmlformats.org/officeDocument/2006/math">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𝑨</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𝒃</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oMath>
                </a14:m>
                <a:endParaRPr kumimoji="0" lang="zh-CN" altLang="en-US" sz="20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sym typeface="+mn-ea"/>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000" b="0" i="0" u="none" strike="noStrike" kern="1200" cap="none" spc="0" normalizeH="0" baseline="0" noProof="0">
                    <a:ln>
                      <a:noFill/>
                    </a:ln>
                    <a:solidFill>
                      <a:srgbClr val="070707"/>
                    </a:solidFill>
                    <a:effectLst/>
                    <a:uLnTx/>
                    <a:uFillTx/>
                    <a:latin typeface="Book Antiqua"/>
                    <a:ea typeface="微软雅黑" panose="020B0503020204020204" pitchFamily="34" charset="-122"/>
                    <a:cs typeface="+mn-cs"/>
                  </a:rPr>
                  <a:t>数据集的划分：</a:t>
                </a:r>
                <a14:m>
                  <m:oMath xmlns:m="http://schemas.openxmlformats.org/officeDocument/2006/math">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𝑆</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b>
                    </m:s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d>
                          <m:dPr>
                            <m:begChr m:val="{"/>
                            <m:endChr m:val="}"/>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d>
                              <m:d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 </m:t>
                                </m:r>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e>
                            </m:d>
                          </m:e>
                        </m:d>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Sub>
                      </m:sup>
                    </m:sSubSup>
                  </m:oMath>
                </a14:m>
                <a:r>
                  <a:rPr kumimoji="0" lang="en-US" altLang="zh-CN" sz="20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  </a:t>
                </a:r>
                <a14:m>
                  <m:oMath xmlns:m="http://schemas.openxmlformats.org/officeDocument/2006/math">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𝑆</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𝑡𝑒𝑠𝑡</m:t>
                        </m:r>
                      </m:sub>
                    </m:s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d>
                          <m:dPr>
                            <m:begChr m:val="{"/>
                            <m:endChr m:val="}"/>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d>
                              <m:d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𝑡𝑒𝑠𝑡</m:t>
                                    </m:r>
                                  </m:sup>
                                </m:sSub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 </m:t>
                                </m:r>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𝑡𝑒𝑠𝑡</m:t>
                                    </m:r>
                                  </m:sup>
                                </m:sSubSup>
                              </m:e>
                            </m:d>
                          </m:e>
                        </m:d>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sSub>
                          <m:sSub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2</m:t>
                            </m:r>
                          </m:sub>
                        </m:sSub>
                      </m:sup>
                    </m:sSubSup>
                  </m:oMath>
                </a14:m>
                <a:endParaRPr kumimoji="0" lang="en-US" altLang="zh-CN" sz="20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0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训练误差：</a:t>
                </a:r>
                <a:endParaRPr kumimoji="0" lang="en-US" altLang="zh-CN" sz="20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𝐿</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𝑅</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𝑀𝑆𝐸</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 </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b>
                      </m:sSub>
                      <m:d>
                        <m:d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𝐴</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𝑏</m:t>
                          </m:r>
                        </m:e>
                      </m:d>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f>
                        <m:f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fPr>
                        <m:num>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num>
                        <m:den>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Sub>
                        </m:den>
                      </m:f>
                      <m:nary>
                        <m:naryPr>
                          <m:chr m:val="∑"/>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naryPr>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Sub>
                        </m:sup>
                        <m:e>
                          <m:sSup>
                            <m:s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d>
                                <m:d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𝐴</m:t>
                                  </m:r>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𝑏</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e>
                              </m:d>
                            </m:e>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2</m:t>
                              </m:r>
                            </m:sup>
                          </m:sSup>
                        </m:e>
                      </m:nary>
                    </m:oMath>
                  </m:oMathPara>
                </a14:m>
                <a:endParaRPr kumimoji="0" lang="en-US" altLang="zh-CN" sz="20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600"/>
                  </a:spcBef>
                  <a:spcAft>
                    <a:spcPts val="600"/>
                  </a:spcAft>
                  <a:buClrTx/>
                  <a:buSzTx/>
                  <a:buFontTx/>
                  <a:buNone/>
                  <a:tabLst/>
                  <a:defRPr/>
                </a:pPr>
                <a:r>
                  <a:rPr kumimoji="0" lang="zh-CN" altLang="en-US" sz="20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为最小化误差，我们需要对</a:t>
                </a:r>
                <a14:m>
                  <m:oMath xmlns:m="http://schemas.openxmlformats.org/officeDocument/2006/math">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𝐴</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 </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𝑏</m:t>
                    </m:r>
                  </m:oMath>
                </a14:m>
                <a:r>
                  <a:rPr kumimoji="0" lang="zh-CN" altLang="en-US" sz="20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求偏导并设为零：</a:t>
                </a:r>
                <a:endParaRPr kumimoji="0" lang="en-US" altLang="zh-CN" sz="20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begChr m:val="{"/>
                          <m:endChr m:val=""/>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eqArr>
                            <m:eqArr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eqArrPr>
                            <m:e>
                              <m:f>
                                <m:f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fPr>
                                <m:num>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𝐿</m:t>
                                  </m:r>
                                </m:num>
                                <m:den>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𝐴</m:t>
                                  </m:r>
                                </m:den>
                              </m:f>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f>
                                <m:f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fPr>
                                <m:num>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2</m:t>
                                  </m:r>
                                </m:num>
                                <m:den>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Sub>
                                </m:den>
                              </m:f>
                              <m:nary>
                                <m:naryPr>
                                  <m:chr m:val="∑"/>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naryPr>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Sub>
                                </m:sup>
                                <m:e>
                                  <m:d>
                                    <m:d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𝐴</m:t>
                                      </m:r>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𝑏</m:t>
                                      </m:r>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e>
                                  </m:d>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=0</m:t>
                                  </m:r>
                                </m:e>
                              </m:nary>
                            </m:e>
                            <m:e>
                              <m:f>
                                <m:f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fPr>
                                <m:num>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𝐿</m:t>
                                  </m:r>
                                </m:num>
                                <m:den>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𝑏</m:t>
                                  </m:r>
                                </m:den>
                              </m:f>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f>
                                <m:f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fPr>
                                <m:num>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2</m:t>
                                  </m:r>
                                </m:num>
                                <m:den>
                                  <m:sSub>
                                    <m:sSub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1</m:t>
                                      </m:r>
                                    </m:sub>
                                  </m:sSub>
                                </m:den>
                              </m:f>
                              <m:nary>
                                <m:naryPr>
                                  <m:chr m:val="∑"/>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naryPr>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sSub>
                                    <m:sSub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1</m:t>
                                      </m:r>
                                    </m:sub>
                                  </m:sSub>
                                </m:sup>
                                <m:e>
                                  <m:d>
                                    <m:d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𝐴</m:t>
                                      </m:r>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𝑏</m:t>
                                      </m:r>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e>
                                  </m:d>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=0</m:t>
                                  </m:r>
                                </m:e>
                              </m:nary>
                            </m:e>
                          </m:eqArr>
                        </m:e>
                      </m:d>
                    </m:oMath>
                  </m:oMathPara>
                </a14:m>
                <a:endParaRPr kumimoji="0" lang="en-US" altLang="zh-CN" sz="20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380999" y="1012121"/>
                <a:ext cx="10864851" cy="4895764"/>
              </a:xfrm>
              <a:prstGeom prst="rect">
                <a:avLst/>
              </a:prstGeom>
              <a:blipFill rotWithShape="1">
                <a:blip r:embed="rId5"/>
                <a:stretch>
                  <a:fillRect l="-6" t="-12" b="-1106"/>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7BC5F32A-8A82-6251-A00B-D947931AC8C8}"/>
              </a:ext>
            </a:extLst>
          </p:cNvPr>
          <p:cNvPicPr>
            <a:picLocks noChangeAspect="1"/>
          </p:cNvPicPr>
          <p:nvPr>
            <p:custDataLst>
              <p:tags r:id="rId1"/>
            </p:custDataLst>
          </p:nvPr>
        </p:nvPicPr>
        <p:blipFill>
          <a:blip r:embed="rId6">
            <a:clrChange>
              <a:clrFrom>
                <a:srgbClr val="FFFFFF">
                  <a:alpha val="100000"/>
                </a:srgbClr>
              </a:clrFrom>
              <a:clrTo>
                <a:srgbClr val="FFFFFF">
                  <a:alpha val="100000"/>
                  <a:alpha val="0"/>
                </a:srgbClr>
              </a:clrTo>
            </a:clrChange>
          </a:blip>
          <a:stretch>
            <a:fillRect/>
          </a:stretch>
        </p:blipFill>
        <p:spPr>
          <a:xfrm>
            <a:off x="8617583" y="1373506"/>
            <a:ext cx="3519000" cy="2497108"/>
          </a:xfrm>
          <a:prstGeom prst="rect">
            <a:avLst/>
          </a:prstGeom>
        </p:spPr>
      </p:pic>
    </p:spTree>
    <p:extLst>
      <p:ext uri="{BB962C8B-B14F-4D97-AF65-F5344CB8AC3E}">
        <p14:creationId xmlns:p14="http://schemas.microsoft.com/office/powerpoint/2010/main" val="682840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例：线性拟合</a:t>
            </a:r>
          </a:p>
        </p:txBody>
      </p:sp>
      <mc:AlternateContent xmlns:mc="http://schemas.openxmlformats.org/markup-compatibility/2006" xmlns:a14="http://schemas.microsoft.com/office/drawing/2010/main">
        <mc:Choice Requires="a14">
          <p:sp>
            <p:nvSpPr>
              <p:cNvPr id="10" name="文本框 9"/>
              <p:cNvSpPr txBox="1"/>
              <p:nvPr/>
            </p:nvSpPr>
            <p:spPr>
              <a:xfrm>
                <a:off x="90407" y="1093296"/>
                <a:ext cx="12011185" cy="467140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sym typeface="+mn-ea"/>
                  </a:rPr>
                  <a:t>化简得：</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begChr m:val="{"/>
                          <m:endChr m:val=""/>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eqArr>
                            <m:eqArr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eqArr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𝐴</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d>
                                    <m:d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e>
                                  </m:d>
                                </m:e>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2</m:t>
                                  </m:r>
                                </m:sup>
                              </m:s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𝑏</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e>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𝐴</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𝑏</m:t>
                              </m:r>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&amp;</m:t>
                              </m:r>
                            </m:e>
                          </m:eqArr>
                        </m:e>
                      </m:d>
                    </m:oMath>
                  </m:oMathPara>
                </a14:m>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定义</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1</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（均值）：</a:t>
                </a:r>
                <a14:m>
                  <m:oMath xmlns:m="http://schemas.openxmlformats.org/officeDocument/2006/math">
                    <m:sSup>
                      <m:s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sSupPr>
                      <m:e>
                        <m:acc>
                          <m:accPr>
                            <m:chr m:val="̅"/>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acc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𝑥</m:t>
                            </m:r>
                          </m:e>
                        </m:acc>
                      </m:e>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𝑡𝑟𝑎𝑖𝑛</m:t>
                        </m:r>
                      </m:sup>
                    </m:s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m:t>
                    </m:r>
                    <m:f>
                      <m:f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fPr>
                      <m:num>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1</m:t>
                        </m:r>
                      </m:num>
                      <m:den>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𝑛</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1</m:t>
                            </m:r>
                          </m:sub>
                        </m:sSub>
                      </m:den>
                    </m:f>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m:t>
                    </m:r>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𝑥</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𝑖</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𝑡𝑟𝑎𝑖𝑛</m:t>
                        </m:r>
                      </m:sup>
                    </m:sSubSup>
                  </m:oMath>
                </a14:m>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  </a:t>
                </a:r>
                <a14:m>
                  <m:oMath xmlns:m="http://schemas.openxmlformats.org/officeDocument/2006/math">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sSupPr>
                      <m:e>
                        <m:acc>
                          <m:accPr>
                            <m:chr m:val="̅"/>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acc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𝑦</m:t>
                            </m:r>
                          </m:e>
                        </m:acc>
                      </m:e>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𝑡𝑟𝑎𝑖𝑛</m:t>
                        </m:r>
                      </m:sup>
                    </m:s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m:t>
                    </m:r>
                    <m:f>
                      <m:f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fPr>
                      <m:num>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1</m:t>
                        </m:r>
                      </m:num>
                      <m:den>
                        <m:sSub>
                          <m:sSub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sSub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𝑛</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1</m:t>
                            </m:r>
                          </m:sub>
                        </m:sSub>
                      </m:den>
                    </m:f>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m:t>
                    </m:r>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𝑦</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𝑡𝑟𝑎𝑖𝑛</m:t>
                        </m:r>
                      </m:sup>
                    </m:sSubSup>
                  </m:oMath>
                </a14:m>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定义</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2</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（方差）</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 </a:t>
                </a:r>
                <a14:m>
                  <m:oMath xmlns:m="http://schemas.openxmlformats.org/officeDocument/2006/math">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𝑆</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𝑥𝑦</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sSupPr>
                      <m:e>
                        <m:acc>
                          <m:accPr>
                            <m:chr m:val="̅"/>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acc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𝑥</m:t>
                            </m:r>
                          </m:e>
                        </m:acc>
                      </m:e>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𝑡𝑟𝑎𝑖𝑛</m:t>
                        </m:r>
                      </m:sup>
                    </m:s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sSupPr>
                      <m:e>
                        <m:acc>
                          <m:accPr>
                            <m:chr m:val="̅"/>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acc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𝑦</m:t>
                            </m:r>
                          </m:e>
                        </m:acc>
                      </m:e>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𝑡𝑟𝑎𝑖𝑛</m:t>
                        </m:r>
                      </m:sup>
                    </m:s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oMath>
                </a14:m>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  </a:t>
                </a:r>
                <a14:m>
                  <m:oMath xmlns:m="http://schemas.openxmlformats.org/officeDocument/2006/math">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𝑆</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𝑥</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d>
                          <m:d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sSupPr>
                              <m:e>
                                <m:acc>
                                  <m:accPr>
                                    <m:chr m:val="̅"/>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acc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𝑥</m:t>
                                    </m:r>
                                  </m:e>
                                </m:acc>
                              </m:e>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𝑡𝑟𝑎𝑖𝑛</m:t>
                                </m:r>
                              </m:sup>
                            </m:sSup>
                          </m:e>
                        </m:d>
                      </m:e>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2</m:t>
                        </m:r>
                      </m:sup>
                    </m:sSup>
                  </m:oMath>
                </a14:m>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解得：</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𝐴</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 = </m:t>
                      </m:r>
                      <m:f>
                        <m:f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fPr>
                        <m:num>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𝑆</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𝑥𝑦</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num>
                        <m:den>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𝑆</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𝑥𝑥</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den>
                      </m:f>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  </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𝑏</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sSupPr>
                        <m:e>
                          <m:acc>
                            <m:accPr>
                              <m:chr m:val="̅"/>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acc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𝑦</m:t>
                              </m:r>
                            </m:e>
                          </m:acc>
                        </m:e>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𝑡𝑟𝑎𝑖𝑛</m:t>
                          </m:r>
                        </m:sup>
                      </m:s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𝐴</m:t>
                      </m:r>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sSupPr>
                        <m:e>
                          <m:acc>
                            <m:accPr>
                              <m:chr m:val="̅"/>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acc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𝑥</m:t>
                              </m:r>
                            </m:e>
                          </m:acc>
                        </m:e>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𝑡𝑟𝑎𝑖𝑛</m:t>
                          </m:r>
                        </m:sup>
                      </m:sSup>
                    </m:oMath>
                  </m:oMathPara>
                </a14:m>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测试误差</a:t>
                </a:r>
                <a14:m>
                  <m:oMath xmlns:m="http://schemas.openxmlformats.org/officeDocument/2006/math">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 </m:t>
                    </m:r>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𝐿</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𝑀𝑆𝐸</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𝑡𝑒𝑠𝑡</m:t>
                        </m:r>
                      </m:sub>
                    </m:sSub>
                    <m:d>
                      <m:d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𝐴</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𝑏</m:t>
                        </m:r>
                      </m:e>
                    </m:d>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f>
                      <m:f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fPr>
                      <m:num>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num>
                      <m:den>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2</m:t>
                            </m:r>
                          </m:sub>
                        </m:sSub>
                      </m:den>
                    </m:f>
                    <m:nary>
                      <m:naryPr>
                        <m:chr m:val="∑"/>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naryPr>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2</m:t>
                            </m:r>
                          </m:sub>
                        </m:sSub>
                      </m:sup>
                      <m:e>
                        <m:sSup>
                          <m:s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d>
                              <m:d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𝐴</m:t>
                                </m:r>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𝑒𝑠𝑡</m:t>
                                    </m:r>
                                  </m:sup>
                                </m:sSub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𝑏</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𝑒𝑠𝑡</m:t>
                                    </m:r>
                                  </m:sup>
                                </m:sSubSup>
                              </m:e>
                            </m:d>
                          </m:e>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2</m:t>
                            </m:r>
                          </m:sup>
                        </m:sSup>
                      </m:e>
                    </m:nary>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f>
                      <m:fPr>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ctrlPr>
                      </m:fPr>
                      <m:num>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1</m:t>
                        </m:r>
                      </m:num>
                      <m:den>
                        <m:sSub>
                          <m:sSubPr>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2</m:t>
                            </m:r>
                          </m:sub>
                        </m:sSub>
                      </m:den>
                    </m:f>
                    <m:nary>
                      <m:naryPr>
                        <m:chr m:val="∑"/>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ctrlPr>
                      </m:naryPr>
                      <m:sub>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𝑖</m:t>
                        </m:r>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=1</m:t>
                        </m:r>
                      </m:sub>
                      <m:sup>
                        <m:sSub>
                          <m:sSubPr>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2</m:t>
                            </m:r>
                          </m:sub>
                        </m:sSub>
                      </m:sup>
                      <m:e>
                        <m:sSup>
                          <m:sSupPr>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ctrlPr>
                          </m:sSupPr>
                          <m:e>
                            <m:d>
                              <m:dPr>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ctrlPr>
                              </m:dPr>
                              <m:e>
                                <m:f>
                                  <m:fPr>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ctrlPr>
                                  </m:fPr>
                                  <m:num>
                                    <m:sSubSup>
                                      <m:sSubSupPr>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𝑆</m:t>
                                        </m:r>
                                      </m:e>
                                      <m:sub>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𝑥𝑦</m:t>
                                        </m:r>
                                      </m:sub>
                                      <m:sup>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𝑡𝑟𝑎𝑖𝑛</m:t>
                                        </m:r>
                                      </m:sup>
                                    </m:sSubSup>
                                  </m:num>
                                  <m:den>
                                    <m:sSubSup>
                                      <m:sSubSupPr>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𝑆</m:t>
                                        </m:r>
                                      </m:e>
                                      <m:sub>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𝑥𝑥</m:t>
                                        </m:r>
                                      </m:sub>
                                      <m:sup>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𝑡𝑟𝑎𝑖𝑛</m:t>
                                        </m:r>
                                      </m:sup>
                                    </m:sSubSup>
                                  </m:den>
                                </m:f>
                                <m:r>
                                  <a:rPr kumimoji="0" lang="en-US" altLang="zh-CN" sz="20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𝑡𝑒𝑠𝑡</m:t>
                                    </m:r>
                                  </m:sup>
                                </m:sSubSup>
                                <m:r>
                                  <a:rPr kumimoji="0" lang="en-US" altLang="zh-CN" sz="20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sym typeface="+mn-ea"/>
                                      </a:rPr>
                                    </m:ctrlPr>
                                  </m:sSupPr>
                                  <m:e>
                                    <m:acc>
                                      <m:accPr>
                                        <m:chr m:val="̅"/>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sym typeface="+mn-ea"/>
                                          </a:rPr>
                                        </m:ctrlPr>
                                      </m:accPr>
                                      <m:e>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sym typeface="+mn-ea"/>
                                          </a:rPr>
                                          <m:t>𝑥</m:t>
                                        </m:r>
                                      </m:e>
                                    </m:acc>
                                  </m:e>
                                  <m:sup>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sym typeface="+mn-ea"/>
                                      </a:rPr>
                                      <m:t>𝑡𝑟𝑎𝑖𝑛</m:t>
                                    </m:r>
                                  </m:sup>
                                </m:sSup>
                                <m:r>
                                  <a:rPr kumimoji="0" lang="en-US" altLang="zh-CN" sz="20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sym typeface="+mn-ea"/>
                                  </a:rPr>
                                  <m:t>)</m:t>
                                </m:r>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sym typeface="+mn-ea"/>
                                      </a:rPr>
                                    </m:ctrlPr>
                                  </m:sSupPr>
                                  <m:e>
                                    <m:acc>
                                      <m:accPr>
                                        <m:chr m:val="̅"/>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sym typeface="+mn-ea"/>
                                          </a:rPr>
                                        </m:ctrlPr>
                                      </m:accPr>
                                      <m:e>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sym typeface="+mn-ea"/>
                                          </a:rPr>
                                          <m:t>𝑦</m:t>
                                        </m:r>
                                      </m:e>
                                    </m:acc>
                                  </m:e>
                                  <m:sup>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sym typeface="+mn-ea"/>
                                      </a:rPr>
                                      <m:t>𝑡𝑟𝑎𝑖𝑛</m:t>
                                    </m:r>
                                  </m:sup>
                                </m:sSup>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𝑡𝑒𝑠𝑡</m:t>
                                    </m:r>
                                  </m:sup>
                                </m:sSubSup>
                                <m:r>
                                  <a:rPr kumimoji="0" lang="en-US" altLang="zh-CN" sz="2000" b="0"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mn-cs"/>
                                  </a:rPr>
                                  <m:t>)</m:t>
                                </m:r>
                              </m:e>
                            </m:d>
                          </m:e>
                          <m:sup>
                            <m:r>
                              <a:rPr kumimoji="0" lang="en-US" altLang="zh-CN" sz="2000" b="0"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mn-cs"/>
                              </a:rPr>
                              <m:t>2</m:t>
                            </m:r>
                          </m:sup>
                        </m:sSup>
                      </m:e>
                    </m:nary>
                  </m:oMath>
                </a14:m>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90407" y="1093296"/>
                <a:ext cx="12011185" cy="4671407"/>
              </a:xfrm>
              <a:prstGeom prst="rect">
                <a:avLst/>
              </a:prstGeom>
              <a:blipFill rotWithShape="1">
                <a:blip r:embed="rId4"/>
                <a:stretch>
                  <a:fillRect l="-2" t="-10" r="3" b="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13137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例：</a:t>
            </a:r>
            <a:r>
              <a:rPr lang="zh-CN" altLang="en-US"/>
              <a:t>线性拟合</a:t>
            </a:r>
            <a:endParaRPr lang="zh-CN" altLang="en-US" dirty="0"/>
          </a:p>
        </p:txBody>
      </p:sp>
      <mc:AlternateContent xmlns:mc="http://schemas.openxmlformats.org/markup-compatibility/2006" xmlns:a14="http://schemas.microsoft.com/office/drawing/2010/main">
        <mc:Choice Requires="a14">
          <p:sp>
            <p:nvSpPr>
              <p:cNvPr id="10" name="文本框 9"/>
              <p:cNvSpPr txBox="1"/>
              <p:nvPr/>
            </p:nvSpPr>
            <p:spPr>
              <a:xfrm>
                <a:off x="90407" y="651594"/>
                <a:ext cx="12011185" cy="137127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
                      <m:sSub>
                        <m:sSub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𝐿</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𝑀𝑆𝐸</m:t>
                          </m:r>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𝑡𝑒𝑠𝑡</m:t>
                          </m:r>
                        </m:sub>
                      </m:sSub>
                      <m:d>
                        <m:d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𝐴</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𝑏</m:t>
                          </m:r>
                        </m:e>
                      </m:d>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f>
                        <m:f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fPr>
                        <m:num>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1</m:t>
                          </m:r>
                        </m:num>
                        <m:den>
                          <m:sSub>
                            <m:sSub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2</m:t>
                              </m:r>
                            </m:sub>
                          </m:sSub>
                        </m:den>
                      </m:f>
                      <m:nary>
                        <m:naryPr>
                          <m:chr m:val="∑"/>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naryPr>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sSub>
                            <m:sSub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𝑛</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2</m:t>
                              </m:r>
                            </m:sub>
                          </m:sSub>
                        </m:sup>
                        <m:e>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d>
                                <m:d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f>
                                    <m:f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fPr>
                                    <m:num>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𝑆</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𝑥𝑦</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num>
                                    <m:den>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𝑆</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𝑥𝑥</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𝑡𝑟𝑎𝑖𝑛</m:t>
                                          </m:r>
                                        </m:sup>
                                      </m:sSubSup>
                                    </m:den>
                                  </m:f>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𝑡𝑒𝑠𝑡</m:t>
                                      </m:r>
                                    </m:sup>
                                  </m:sSub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sSupPr>
                                    <m:e>
                                      <m:acc>
                                        <m:accPr>
                                          <m:chr m:val="̅"/>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acc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𝑥</m:t>
                                          </m:r>
                                        </m:e>
                                      </m:acc>
                                    </m:e>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𝑡𝑟𝑎𝑖𝑛</m:t>
                                      </m:r>
                                    </m:sup>
                                  </m:s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m:t>
                                  </m:r>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sSupPr>
                                    <m:e>
                                      <m:acc>
                                        <m:accPr>
                                          <m:chr m:val="̅"/>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ctrlPr>
                                        </m:acc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𝑦</m:t>
                                          </m:r>
                                        </m:e>
                                      </m:acc>
                                    </m:e>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sym typeface="+mn-ea"/>
                                        </a:rPr>
                                        <m:t>𝑡𝑟𝑎𝑖𝑛</m:t>
                                      </m:r>
                                    </m:sup>
                                  </m:s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𝑡𝑒𝑠𝑡</m:t>
                                      </m:r>
                                    </m:sup>
                                  </m:sSub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e>
                              </m:d>
                            </m:e>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2</m:t>
                              </m:r>
                            </m:sup>
                          </m:sSup>
                        </m:e>
                      </m:nary>
                    </m:oMath>
                  </m:oMathPara>
                </a14:m>
                <a:endParaRPr kumimoji="0" lang="en-US" altLang="zh-CN" sz="20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90407" y="651594"/>
                <a:ext cx="12011185" cy="1371273"/>
              </a:xfrm>
              <a:prstGeom prst="rect">
                <a:avLst/>
              </a:prstGeom>
              <a:blipFill rotWithShape="1">
                <a:blip r:embed="rId4"/>
                <a:stretch>
                  <a:fillRect l="-2" t="-6" r="3" b="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381242" y="2305129"/>
                <a:ext cx="11184368" cy="361163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14:m>
                  <m:oMath xmlns:m="http://schemas.openxmlformats.org/officeDocument/2006/math">
                    <m:sSub>
                      <m:sSub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𝐿</m:t>
                        </m:r>
                      </m:e>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𝑀𝑆𝐸</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𝑡𝑒𝑠𝑡</m:t>
                        </m:r>
                      </m:sub>
                    </m:sSub>
                  </m:oMath>
                </a14:m>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不仅依赖于测试集数据，还依赖于训练集上的统计量（如均值和协方差）。这反映了模型在训练集上学到的知识如何影响其在新数据上的表现</a:t>
                </a:r>
                <a:endParaRPr kumimoji="0" lang="en-US" altLang="zh-CN"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更复杂的问题用神经网络求解，例如：</a:t>
                </a:r>
                <a:endParaRPr kumimoji="0" lang="en-US" altLang="zh-CN"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rPr>
                  <a:t>以上案例中，误差关于参数的导数</a:t>
                </a:r>
                <a14:m>
                  <m:oMath xmlns:m="http://schemas.openxmlformats.org/officeDocument/2006/math">
                    <m:f>
                      <m:fPr>
                        <m:ctrlPr>
                          <a:rPr kumimoji="0" lang="en-US" altLang="zh-CN" sz="24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ctrlPr>
                      </m:fPr>
                      <m:num>
                        <m:r>
                          <a:rPr kumimoji="0" lang="en-US" altLang="zh-CN" sz="24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m:t>
                        </m:r>
                        <m:r>
                          <a:rPr kumimoji="0" lang="en-US" altLang="zh-CN" sz="24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𝐿</m:t>
                        </m:r>
                      </m:num>
                      <m:den>
                        <m:r>
                          <a:rPr kumimoji="0" lang="en-US" altLang="zh-CN" sz="24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m:t>
                        </m:r>
                        <m:r>
                          <a:rPr kumimoji="0" lang="en-US" altLang="zh-CN" sz="24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𝐴</m:t>
                        </m:r>
                      </m:den>
                    </m:f>
                    <m:r>
                      <a:rPr kumimoji="0" lang="en-US" altLang="zh-CN" sz="24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m:t>
                    </m:r>
                    <m:f>
                      <m:fPr>
                        <m:ctrlPr>
                          <a:rPr kumimoji="0" lang="en-US" altLang="zh-CN" sz="24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ctrlPr>
                      </m:fPr>
                      <m:num>
                        <m:r>
                          <a:rPr kumimoji="0" lang="en-US" altLang="zh-CN" sz="24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m:t>
                        </m:r>
                        <m:r>
                          <a:rPr kumimoji="0" lang="en-US" altLang="zh-CN" sz="24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𝐿</m:t>
                        </m:r>
                      </m:num>
                      <m:den>
                        <m:r>
                          <a:rPr kumimoji="0" lang="en-US" altLang="zh-CN" sz="24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m:t>
                        </m:r>
                        <m:r>
                          <a:rPr kumimoji="0" lang="en-US" altLang="zh-CN" sz="24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𝑏</m:t>
                        </m:r>
                      </m:den>
                    </m:f>
                  </m:oMath>
                </a14:m>
                <a:r>
                  <a:rPr kumimoji="0" lang="zh-CN" altLang="en-US" sz="24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rPr>
                  <a:t>可以精确求出。若模型较为复杂，无法直接求解梯度</a:t>
                </a:r>
                <a:r>
                  <a:rPr lang="zh-CN" altLang="en-US" sz="2400" dirty="0">
                    <a:solidFill>
                      <a:srgbClr val="FFFFFF">
                        <a:lumMod val="50000"/>
                      </a:srgbClr>
                    </a:solidFill>
                    <a:latin typeface="微软雅黑" panose="020B0503020204020204" pitchFamily="34" charset="-122"/>
                    <a:ea typeface="微软雅黑" panose="020B0503020204020204" pitchFamily="34" charset="-122"/>
                  </a:rPr>
                  <a:t>为零的解</a:t>
                </a:r>
                <a:r>
                  <a:rPr kumimoji="0" lang="zh-CN" altLang="en-US" sz="24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rPr>
                  <a:t>时，就需要用到</a:t>
                </a:r>
                <a:r>
                  <a:rPr lang="zh-CN" altLang="en-US" sz="2400" dirty="0">
                    <a:solidFill>
                      <a:srgbClr val="FFFFFF">
                        <a:lumMod val="50000"/>
                      </a:srgbClr>
                    </a:solidFill>
                    <a:latin typeface="微软雅黑" panose="020B0503020204020204" pitchFamily="34" charset="-122"/>
                    <a:ea typeface="微软雅黑" panose="020B0503020204020204" pitchFamily="34" charset="-122"/>
                  </a:rPr>
                  <a:t>后面</a:t>
                </a:r>
                <a:r>
                  <a:rPr kumimoji="0" lang="zh-CN" altLang="en-US" sz="24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rPr>
                  <a:t>介绍的</a:t>
                </a:r>
                <a:r>
                  <a:rPr kumimoji="0" lang="zh-CN" altLang="en-US" sz="2400" b="1"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rPr>
                  <a:t>优化损失函数</a:t>
                </a:r>
                <a:r>
                  <a:rPr kumimoji="0" lang="zh-CN" altLang="en-US" sz="2400"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rPr>
                  <a:t>的方法。</a:t>
                </a:r>
              </a:p>
            </p:txBody>
          </p:sp>
        </mc:Choice>
        <mc:Fallback xmlns="">
          <p:sp>
            <p:nvSpPr>
              <p:cNvPr id="4" name="文本框 3"/>
              <p:cNvSpPr txBox="1">
                <a:spLocks noRot="1" noChangeAspect="1" noMove="1" noResize="1" noEditPoints="1" noAdjustHandles="1" noChangeArrowheads="1" noChangeShapeType="1" noTextEdit="1"/>
              </p:cNvSpPr>
              <p:nvPr/>
            </p:nvSpPr>
            <p:spPr>
              <a:xfrm>
                <a:off x="381242" y="2305129"/>
                <a:ext cx="11184368" cy="3611630"/>
              </a:xfrm>
              <a:prstGeom prst="rect">
                <a:avLst/>
              </a:prstGeom>
              <a:blipFill>
                <a:blip r:embed="rId5"/>
                <a:stretch>
                  <a:fillRect l="-908" r="-3632" b="-3497"/>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3039102B-28E8-594C-B02A-5349EE6B73C2}"/>
              </a:ext>
            </a:extLst>
          </p:cNvPr>
          <p:cNvPicPr>
            <a:picLocks noChangeAspect="1"/>
          </p:cNvPicPr>
          <p:nvPr/>
        </p:nvPicPr>
        <p:blipFill>
          <a:blip r:embed="rId6"/>
          <a:stretch>
            <a:fillRect/>
          </a:stretch>
        </p:blipFill>
        <p:spPr>
          <a:xfrm>
            <a:off x="5912466" y="3429000"/>
            <a:ext cx="3516770" cy="806512"/>
          </a:xfrm>
          <a:prstGeom prst="rect">
            <a:avLst/>
          </a:prstGeom>
        </p:spPr>
      </p:pic>
    </p:spTree>
    <p:extLst>
      <p:ext uri="{BB962C8B-B14F-4D97-AF65-F5344CB8AC3E}">
        <p14:creationId xmlns:p14="http://schemas.microsoft.com/office/powerpoint/2010/main" val="3494381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例子：线性拟合与神经网络</a:t>
            </a:r>
            <a:endParaRPr lang="zh-CN" altLang="en-US" dirty="0"/>
          </a:p>
        </p:txBody>
      </p:sp>
      <mc:AlternateContent xmlns:mc="http://schemas.openxmlformats.org/markup-compatibility/2006" xmlns:a14="http://schemas.microsoft.com/office/drawing/2010/main">
        <mc:Choice Requires="a14">
          <p:sp>
            <p:nvSpPr>
              <p:cNvPr id="10" name="文本框 9"/>
              <p:cNvSpPr txBox="1"/>
              <p:nvPr/>
            </p:nvSpPr>
            <p:spPr>
              <a:xfrm>
                <a:off x="381242" y="859803"/>
                <a:ext cx="10763251" cy="3149388"/>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4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线性拟合</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是机器学习中一种基础的算法，其模型为</a:t>
                </a:r>
                <a14:m>
                  <m:oMath xmlns:m="http://schemas.openxmlformats.org/officeDocument/2006/math">
                    <m:sSub>
                      <m:sSub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b>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sub>
                    </m:sSub>
                    <m:d>
                      <m:dPr>
                        <m:ctrlP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𝒙</m:t>
                        </m:r>
                      </m:e>
                    </m:d>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𝑨𝒙</m:t>
                    </m:r>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𝒃</m:t>
                    </m:r>
                  </m:oMath>
                </a14:m>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，其参数为</a:t>
                </a:r>
                <a14:m>
                  <m:oMath xmlns:m="http://schemas.openxmlformats.org/officeDocument/2006/math">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𝑨</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𝒃</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oMath>
                </a14:m>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endParaRPr kumimoji="0" lang="en-US" altLang="zh-CN"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400" b="1" i="0" u="none" strike="noStrike" kern="1200" cap="none" spc="0" normalizeH="0" baseline="0" noProof="0" dirty="0">
                    <a:ln>
                      <a:noFill/>
                    </a:ln>
                    <a:solidFill>
                      <a:srgbClr val="133984"/>
                    </a:solidFill>
                    <a:effectLst/>
                    <a:uLnTx/>
                    <a:uFillTx/>
                    <a:latin typeface="微软雅黑" panose="020B0503020204020204" pitchFamily="34" charset="-122"/>
                    <a:ea typeface="微软雅黑" panose="020B0503020204020204" pitchFamily="34" charset="-122"/>
                    <a:cs typeface="+mn-cs"/>
                  </a:rPr>
                  <a:t>深度学习</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是当前最重要的机器学习算法，它使用神经网络模型拟合数据。一个简单的两层全连接神经网络模型可以表示为</a:t>
                </a:r>
                <a14:m>
                  <m:oMath xmlns:m="http://schemas.openxmlformats.org/officeDocument/2006/math">
                    <m:sSub>
                      <m:sSub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b>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sub>
                    </m:sSub>
                    <m:d>
                      <m:dPr>
                        <m:ctrlP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𝒙</m:t>
                        </m:r>
                      </m:e>
                    </m:d>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nary>
                      <m:naryPr>
                        <m:chr m:val="∑"/>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naryPr>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𝑗</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𝑚</m:t>
                        </m:r>
                      </m:sup>
                      <m:e>
                        <m:sSub>
                          <m:sSub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𝑎</m:t>
                            </m:r>
                          </m:e>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𝑗</m:t>
                            </m:r>
                          </m:sub>
                        </m:s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𝜎</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𝒘</m:t>
                            </m:r>
                          </m:e>
                          <m:sub>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𝒋</m:t>
                            </m:r>
                          </m:sub>
                        </m:sSub>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𝒙</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𝑏</m:t>
                            </m:r>
                          </m:e>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𝑗</m:t>
                            </m:r>
                          </m:sub>
                        </m:s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e>
                    </m:nary>
                  </m:oMath>
                </a14:m>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，其中参数</a:t>
                </a:r>
                <a14:m>
                  <m:oMath xmlns:m="http://schemas.openxmlformats.org/officeDocument/2006/math">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Sup>
                      <m:sSubSup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d>
                          <m:dPr>
                            <m:begChr m:val="{"/>
                            <m:endChr m:val="}"/>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𝑎</m:t>
                                </m:r>
                              </m:e>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𝑗</m:t>
                                </m:r>
                              </m:sub>
                            </m:s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𝒘</m:t>
                                </m:r>
                              </m:e>
                              <m:sub>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𝒋</m:t>
                                </m:r>
                              </m:sub>
                            </m:s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𝑏</m:t>
                                </m:r>
                              </m:e>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𝑗</m:t>
                                </m:r>
                              </m:sub>
                            </m:s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e>
                        </m:d>
                      </m:e>
                      <m:sub>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𝑗</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𝑚</m:t>
                        </m:r>
                      </m:sup>
                    </m:sSubSup>
                  </m:oMath>
                </a14:m>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14:m>
                  <m:oMath xmlns:m="http://schemas.openxmlformats.org/officeDocument/2006/math">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𝜎</m:t>
                    </m:r>
                  </m:oMath>
                </a14:m>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是一个非线性函数，常被称为</a:t>
                </a:r>
                <a:r>
                  <a:rPr kumimoji="0" lang="zh-CN" altLang="en-US" sz="24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激活函数</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p>
            </p:txBody>
          </p:sp>
        </mc:Choice>
        <mc:Fallback xmlns="">
          <p:sp>
            <p:nvSpPr>
              <p:cNvPr id="10" name="文本框 9"/>
              <p:cNvSpPr txBox="1">
                <a:spLocks noRot="1" noChangeAspect="1" noMove="1" noResize="1" noEditPoints="1" noAdjustHandles="1" noChangeArrowheads="1" noChangeShapeType="1" noTextEdit="1"/>
              </p:cNvSpPr>
              <p:nvPr/>
            </p:nvSpPr>
            <p:spPr>
              <a:xfrm>
                <a:off x="381242" y="859803"/>
                <a:ext cx="10763251" cy="3149388"/>
              </a:xfrm>
              <a:prstGeom prst="rect">
                <a:avLst/>
              </a:prstGeom>
              <a:blipFill>
                <a:blip r:embed="rId4"/>
                <a:stretch>
                  <a:fillRect l="-793" b="-580"/>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D6DDE709-1BCF-03E2-4717-8B94B3DEDEE1}"/>
              </a:ext>
            </a:extLst>
          </p:cNvPr>
          <p:cNvPicPr>
            <a:picLocks noChangeAspect="1"/>
          </p:cNvPicPr>
          <p:nvPr/>
        </p:nvPicPr>
        <p:blipFill>
          <a:blip r:embed="rId5"/>
          <a:stretch>
            <a:fillRect/>
          </a:stretch>
        </p:blipFill>
        <p:spPr>
          <a:xfrm>
            <a:off x="2360822" y="4009191"/>
            <a:ext cx="6462544" cy="2134948"/>
          </a:xfrm>
          <a:prstGeom prst="rect">
            <a:avLst/>
          </a:prstGeom>
        </p:spPr>
      </p:pic>
    </p:spTree>
    <p:extLst>
      <p:ext uri="{BB962C8B-B14F-4D97-AF65-F5344CB8AC3E}">
        <p14:creationId xmlns:p14="http://schemas.microsoft.com/office/powerpoint/2010/main" val="4010657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训练集、验证集与测试集</a:t>
            </a:r>
          </a:p>
        </p:txBody>
      </p:sp>
      <p:sp>
        <p:nvSpPr>
          <p:cNvPr id="10" name="文本框 9"/>
          <p:cNvSpPr txBox="1"/>
          <p:nvPr/>
        </p:nvSpPr>
        <p:spPr>
          <a:xfrm>
            <a:off x="380999" y="1012121"/>
            <a:ext cx="10864851" cy="5393271"/>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4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训练集</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用于训练机器学习模型的数据集。</a:t>
            </a:r>
            <a:endParaRPr kumimoji="0" lang="en-US" altLang="zh-CN"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模型通过学习训练集中的数据及其对应的标签（在监督学习中），来调整其内部参数，以便在见到新数据时能够做出准确的预测或分类。</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在训练集上用损失函数计算得到的误差称为</a:t>
            </a:r>
            <a:r>
              <a:rPr kumimoji="0" lang="zh-CN" altLang="en-US" sz="20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训练误差</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4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验证集：</a:t>
            </a:r>
            <a:r>
              <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调整模型的超参数和能力的初步评估</a:t>
            </a:r>
            <a:endParaRPr kumimoji="0" lang="en-US" altLang="zh-CN"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验证当前模型泛化能力以决定是否停止继续训练</a:t>
            </a:r>
            <a:r>
              <a:rPr kumimoji="0" lang="zh-CN" altLang="en-US" sz="2000" b="0" i="0" u="none" strike="noStrike" kern="1200" cap="none" spc="0" normalizeH="0" baseline="0" noProof="0" dirty="0">
                <a:ln>
                  <a:noFill/>
                </a:ln>
                <a:solidFill>
                  <a:srgbClr val="333333"/>
                </a:solidFill>
                <a:effectLst/>
                <a:uLnTx/>
                <a:uFillTx/>
                <a:latin typeface="PingFang SC"/>
                <a:ea typeface="黑体"/>
                <a:cs typeface="+mn-cs"/>
              </a:rPr>
              <a:t>。</a:t>
            </a:r>
            <a:endParaRPr kumimoji="0" lang="en-US" altLang="zh-CN" sz="2000" b="0" i="0" u="none" strike="noStrike" kern="1200" cap="none" spc="0" normalizeH="0" baseline="0" noProof="0" dirty="0">
              <a:ln>
                <a:noFill/>
              </a:ln>
              <a:solidFill>
                <a:srgbClr val="333333"/>
              </a:solidFill>
              <a:effectLst/>
              <a:uLnTx/>
              <a:uFillTx/>
              <a:latin typeface="PingFang SC"/>
              <a:ea typeface="黑体"/>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000" b="0" i="0" u="none" strike="noStrike" kern="1200" cap="none" spc="0" normalizeH="0" baseline="0" noProof="0" dirty="0">
                <a:ln>
                  <a:noFill/>
                </a:ln>
                <a:solidFill>
                  <a:srgbClr val="333333"/>
                </a:solidFill>
                <a:effectLst/>
                <a:uLnTx/>
                <a:uFillTx/>
                <a:latin typeface="PingFang SC"/>
                <a:ea typeface="微软雅黑" panose="020B0503020204020204" pitchFamily="34" charset="-122"/>
                <a:cs typeface="+mn-cs"/>
              </a:rPr>
              <a:t>比较不同超参的性能</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4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测试集</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用于评估训练好的模型性能的数据集。</a:t>
            </a:r>
            <a:endParaRPr kumimoji="0" lang="en-US" altLang="zh-CN"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测试集中的数据在训练过程中未被模型见过，因此可以用来衡量模型的</a:t>
            </a:r>
            <a:r>
              <a:rPr kumimoji="0" lang="zh-CN" altLang="en-US" sz="20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泛化能力</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，即模型在新数据上的表现。</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在测试集上用损失函数计算得到的误差称为</a:t>
            </a:r>
            <a:r>
              <a:rPr kumimoji="0" lang="zh-CN" altLang="en-US" sz="20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测试误差</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D5EB9105-530F-7D80-8B95-1DA993537B3C}"/>
              </a:ext>
            </a:extLst>
          </p:cNvPr>
          <p:cNvSpPr txBox="1"/>
          <p:nvPr/>
        </p:nvSpPr>
        <p:spPr>
          <a:xfrm>
            <a:off x="8729853" y="3153640"/>
            <a:ext cx="308090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B61616"/>
                </a:solidFill>
                <a:effectLst/>
                <a:uLnTx/>
                <a:uFillTx/>
                <a:latin typeface="Book Antiqua"/>
                <a:ea typeface="黑体"/>
                <a:cs typeface="+mn-cs"/>
              </a:rPr>
              <a:t>思考：验证集可以根据测试集来构造吗？</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8254988-A184-7FED-B181-83D7AC286A42}"/>
                  </a:ext>
                </a:extLst>
              </p:cNvPr>
              <p:cNvSpPr txBox="1"/>
              <p:nvPr/>
            </p:nvSpPr>
            <p:spPr>
              <a:xfrm>
                <a:off x="4280452" y="3993919"/>
                <a:ext cx="2296398" cy="408189"/>
              </a:xfrm>
              <a:prstGeom prst="rect">
                <a:avLst/>
              </a:prstGeom>
              <a:noFill/>
            </p:spPr>
            <p:txBody>
              <a:bodyPr wrap="none" lIns="0" tIns="0" rIns="0" bIns="0" rtlCol="0">
                <a:spAutoFit/>
              </a:bodyPr>
              <a:lstStyle/>
              <a:p>
                <a:pPr algn="l"/>
                <a14:m>
                  <m:oMathPara xmlns:m="http://schemas.openxmlformats.org/officeDocument/2006/math">
                    <m:oMath>
                      <m:sSup>
                        <m:sSupPr>
                          <m:ctrlPr>
                            <a:rPr lang="en-US" altLang="zh-CN" sz="2000" b="0" i="1" smtClean="0">
                              <a:latin typeface="Cambria Math" panose="02040503050406030204" pitchFamily="18" charset="0"/>
                            </a:rPr>
                          </m:ctrlPr>
                        </m:sSupPr>
                        <m:e>
                          <m:d>
                            <m:dPr>
                              <m:begChr m:val="|"/>
                              <m:endChr m:val="|"/>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𝐴𝑥</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𝑏</m:t>
                                  </m:r>
                                </m:e>
                              </m:d>
                            </m:e>
                          </m:d>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𝜆</m:t>
                      </m:r>
                      <m:sSup>
                        <m:sSupPr>
                          <m:ctrlPr>
                            <a:rPr lang="en-US" altLang="zh-CN" sz="2000" b="0" i="1" smtClean="0">
                              <a:latin typeface="Cambria Math" panose="02040503050406030204" pitchFamily="18" charset="0"/>
                            </a:rPr>
                          </m:ctrlPr>
                        </m:sSupPr>
                        <m:e>
                          <m:d>
                            <m:dPr>
                              <m:begChr m:val="|"/>
                              <m:endChr m:val="|"/>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𝑥</m:t>
                                  </m:r>
                                </m:e>
                              </m:d>
                            </m:e>
                          </m:d>
                        </m:e>
                        <m:sup>
                          <m:r>
                            <a:rPr lang="en-US" altLang="zh-CN" sz="2000" b="0" i="1" smtClean="0">
                              <a:latin typeface="Cambria Math" panose="02040503050406030204" pitchFamily="18" charset="0"/>
                            </a:rPr>
                            <m:t>2</m:t>
                          </m:r>
                        </m:sup>
                      </m:sSup>
                    </m:oMath>
                  </m:oMathPara>
                </a14:m>
                <a:endParaRPr lang="zh-CN" altLang="en-US" sz="2000" dirty="0"/>
              </a:p>
            </p:txBody>
          </p:sp>
        </mc:Choice>
        <mc:Fallback xmlns="">
          <p:sp>
            <p:nvSpPr>
              <p:cNvPr id="4" name="文本框 3">
                <a:extLst>
                  <a:ext uri="{FF2B5EF4-FFF2-40B4-BE49-F238E27FC236}">
                    <a16:creationId xmlns:a16="http://schemas.microsoft.com/office/drawing/2014/main" id="{18254988-A184-7FED-B181-83D7AC286A42}"/>
                  </a:ext>
                </a:extLst>
              </p:cNvPr>
              <p:cNvSpPr txBox="1">
                <a:spLocks noRot="1" noChangeAspect="1" noMove="1" noResize="1" noEditPoints="1" noAdjustHandles="1" noChangeArrowheads="1" noChangeShapeType="1" noTextEdit="1"/>
              </p:cNvSpPr>
              <p:nvPr/>
            </p:nvSpPr>
            <p:spPr>
              <a:xfrm>
                <a:off x="4280452" y="3993919"/>
                <a:ext cx="2296398" cy="408189"/>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95386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1922B-09FF-B3A6-2C92-5D1E86ED3DC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7DABC55-79EB-7D08-56D4-315F81AC0E77}"/>
              </a:ext>
            </a:extLst>
          </p:cNvPr>
          <p:cNvSpPr>
            <a:spLocks noGrp="1"/>
          </p:cNvSpPr>
          <p:nvPr>
            <p:ph type="title"/>
          </p:nvPr>
        </p:nvSpPr>
        <p:spPr/>
        <p:txBody>
          <a:bodyPr/>
          <a:lstStyle/>
          <a:p>
            <a:r>
              <a:rPr lang="zh-CN" altLang="en-US" dirty="0"/>
              <a:t>训练集、验证集与测试集：培训学生</a:t>
            </a:r>
          </a:p>
        </p:txBody>
      </p:sp>
      <p:sp>
        <p:nvSpPr>
          <p:cNvPr id="10" name="文本框 9">
            <a:extLst>
              <a:ext uri="{FF2B5EF4-FFF2-40B4-BE49-F238E27FC236}">
                <a16:creationId xmlns:a16="http://schemas.microsoft.com/office/drawing/2014/main" id="{66A8566F-E035-42C5-5A2D-6D36203D5887}"/>
              </a:ext>
            </a:extLst>
          </p:cNvPr>
          <p:cNvSpPr txBox="1"/>
          <p:nvPr/>
        </p:nvSpPr>
        <p:spPr>
          <a:xfrm>
            <a:off x="380999" y="1012121"/>
            <a:ext cx="10864851" cy="4008277"/>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4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训练集</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lang="zh-CN" altLang="en-US" sz="2400" dirty="0">
                <a:solidFill>
                  <a:srgbClr val="B61616"/>
                </a:solidFill>
                <a:latin typeface="微软雅黑" panose="020B0503020204020204" pitchFamily="34" charset="-122"/>
                <a:ea typeface="微软雅黑" panose="020B0503020204020204" pitchFamily="34" charset="-122"/>
              </a:rPr>
              <a:t>课堂例题，</a:t>
            </a:r>
            <a:r>
              <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课后习题。</a:t>
            </a:r>
            <a:endParaRPr kumimoji="0" lang="en-US" altLang="zh-CN"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有针对的讲解，提升学生的基本能力。</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342900" lvl="0" indent="-342900">
              <a:lnSpc>
                <a:spcPct val="150000"/>
              </a:lnSpc>
              <a:buFont typeface="Wingdings" panose="05000000000000000000" pitchFamily="2" charset="2"/>
              <a:buChar char="p"/>
              <a:defRPr/>
            </a:pPr>
            <a:r>
              <a:rPr kumimoji="0" lang="zh-CN" altLang="en-US" sz="24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验证集：</a:t>
            </a:r>
            <a:r>
              <a:rPr lang="zh-CN" altLang="en-US" sz="2400" dirty="0">
                <a:solidFill>
                  <a:srgbClr val="B61616"/>
                </a:solidFill>
                <a:latin typeface="微软雅黑" panose="020B0503020204020204" pitchFamily="34" charset="-122"/>
                <a:ea typeface="微软雅黑" panose="020B0503020204020204" pitchFamily="34" charset="-122"/>
              </a:rPr>
              <a:t> 平时小测，期中期末测试</a:t>
            </a:r>
            <a:endParaRPr kumimoji="0" lang="en-US" altLang="zh-CN"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sz="2000" dirty="0">
                <a:solidFill>
                  <a:srgbClr val="333333"/>
                </a:solidFill>
                <a:latin typeface="PingFang SC"/>
                <a:ea typeface="黑体"/>
              </a:rPr>
              <a:t>学生根据测试成绩调整作息、学习方式、时间分配等</a:t>
            </a:r>
            <a:r>
              <a:rPr kumimoji="0" lang="zh-CN" altLang="en-US" sz="2000" b="0" i="0" u="none" strike="noStrike" kern="1200" cap="none" spc="0" normalizeH="0" baseline="0" noProof="0" dirty="0">
                <a:ln>
                  <a:noFill/>
                </a:ln>
                <a:solidFill>
                  <a:srgbClr val="333333"/>
                </a:solidFill>
                <a:effectLst/>
                <a:uLnTx/>
                <a:uFillTx/>
                <a:latin typeface="PingFang SC"/>
                <a:ea typeface="黑体"/>
                <a:cs typeface="+mn-cs"/>
              </a:rPr>
              <a:t>。</a:t>
            </a:r>
            <a:endParaRPr kumimoji="0" lang="en-US" altLang="zh-CN" sz="2000" b="0" i="0" u="none" strike="noStrike" kern="1200" cap="none" spc="0" normalizeH="0" baseline="0" noProof="0" dirty="0">
              <a:ln>
                <a:noFill/>
              </a:ln>
              <a:solidFill>
                <a:srgbClr val="333333"/>
              </a:solidFill>
              <a:effectLst/>
              <a:uLnTx/>
              <a:uFillTx/>
              <a:latin typeface="PingFang SC"/>
              <a:ea typeface="黑体"/>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000" b="0" i="0" u="none" strike="noStrike" kern="1200" cap="none" spc="0" normalizeH="0" baseline="0" noProof="0" dirty="0">
                <a:ln>
                  <a:noFill/>
                </a:ln>
                <a:solidFill>
                  <a:srgbClr val="333333"/>
                </a:solidFill>
                <a:effectLst/>
                <a:uLnTx/>
                <a:uFillTx/>
                <a:latin typeface="PingFang SC"/>
                <a:ea typeface="微软雅黑" panose="020B0503020204020204" pitchFamily="34" charset="-122"/>
                <a:cs typeface="+mn-cs"/>
              </a:rPr>
              <a:t>教师权衡不同的教学方法、作业量等</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4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测试集</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毕业大考。</a:t>
            </a:r>
            <a:endParaRPr kumimoji="0" lang="en-US" altLang="zh-CN"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测试学习最终结果。</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sz="2000" dirty="0">
                <a:solidFill>
                  <a:srgbClr val="070707"/>
                </a:solidFill>
                <a:latin typeface="微软雅黑" panose="020B0503020204020204" pitchFamily="34" charset="-122"/>
                <a:ea typeface="微软雅黑" panose="020B0503020204020204" pitchFamily="34" charset="-122"/>
              </a:rPr>
              <a:t>学生和教师的能力指标</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16B0E298-4B58-44BC-7733-34481D6369CC}"/>
              </a:ext>
            </a:extLst>
          </p:cNvPr>
          <p:cNvSpPr txBox="1"/>
          <p:nvPr/>
        </p:nvSpPr>
        <p:spPr>
          <a:xfrm>
            <a:off x="8564200" y="1225449"/>
            <a:ext cx="3080905"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B61616"/>
                </a:solidFill>
                <a:effectLst/>
                <a:uLnTx/>
                <a:uFillTx/>
                <a:latin typeface="Book Antiqua"/>
                <a:ea typeface="黑体"/>
                <a:cs typeface="+mn-cs"/>
              </a:rPr>
              <a:t>思考：验证集可以根据测试集来构造吗？</a:t>
            </a:r>
            <a:endParaRPr kumimoji="0" lang="en-US" altLang="zh-CN" sz="2000" b="0" i="0" u="none" strike="noStrike" kern="1200" cap="none" spc="0" normalizeH="0" baseline="0" noProof="0" dirty="0">
              <a:ln>
                <a:noFill/>
              </a:ln>
              <a:solidFill>
                <a:srgbClr val="B61616"/>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2000" dirty="0">
              <a:solidFill>
                <a:srgbClr val="B61616"/>
              </a:solidFill>
              <a:latin typeface="Book Antiqua"/>
              <a:ea typeface="黑体"/>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tx2"/>
                </a:solidFill>
                <a:effectLst/>
                <a:uLnTx/>
                <a:uFillTx/>
                <a:latin typeface="Book Antiqua"/>
                <a:ea typeface="黑体"/>
                <a:cs typeface="+mn-cs"/>
              </a:rPr>
              <a:t>把毕业大考的题目，换个符号、数字等，来构造平时的小测，造成漏题！</a:t>
            </a:r>
          </a:p>
        </p:txBody>
      </p:sp>
    </p:spTree>
    <p:extLst>
      <p:ext uri="{BB962C8B-B14F-4D97-AF65-F5344CB8AC3E}">
        <p14:creationId xmlns:p14="http://schemas.microsoft.com/office/powerpoint/2010/main" val="10446526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C0C4E-C159-338F-E23F-C77B940EC8E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D1BB1ED-0045-B413-12BA-1DA1B8A9DE21}"/>
              </a:ext>
            </a:extLst>
          </p:cNvPr>
          <p:cNvSpPr>
            <a:spLocks noGrp="1"/>
          </p:cNvSpPr>
          <p:nvPr>
            <p:ph type="title"/>
          </p:nvPr>
        </p:nvSpPr>
        <p:spPr/>
        <p:txBody>
          <a:bodyPr/>
          <a:lstStyle/>
          <a:p>
            <a:r>
              <a:rPr lang="zh-CN" altLang="en-US" dirty="0"/>
              <a:t>训练集、验证集与测试集：分类图片</a:t>
            </a:r>
            <a:r>
              <a:rPr lang="zh-CN" altLang="en-US" dirty="0">
                <a:solidFill>
                  <a:srgbClr val="B61616"/>
                </a:solidFill>
              </a:rPr>
              <a:t>手写数据集（</a:t>
            </a:r>
            <a:r>
              <a:rPr lang="en-US" altLang="zh-CN" dirty="0">
                <a:solidFill>
                  <a:srgbClr val="B61616"/>
                </a:solidFill>
              </a:rPr>
              <a:t>MNIST</a:t>
            </a:r>
            <a:r>
              <a:rPr lang="zh-CN" altLang="en-US" dirty="0">
                <a:solidFill>
                  <a:srgbClr val="B61616"/>
                </a:solidFill>
              </a:rPr>
              <a:t>）</a:t>
            </a:r>
            <a:endParaRPr lang="zh-CN" altLang="en-US" dirty="0"/>
          </a:p>
        </p:txBody>
      </p:sp>
      <p:sp>
        <p:nvSpPr>
          <p:cNvPr id="10" name="文本框 9">
            <a:extLst>
              <a:ext uri="{FF2B5EF4-FFF2-40B4-BE49-F238E27FC236}">
                <a16:creationId xmlns:a16="http://schemas.microsoft.com/office/drawing/2014/main" id="{C4508F00-E50B-FD37-044D-E17615D2FF31}"/>
              </a:ext>
            </a:extLst>
          </p:cNvPr>
          <p:cNvSpPr txBox="1"/>
          <p:nvPr/>
        </p:nvSpPr>
        <p:spPr>
          <a:xfrm>
            <a:off x="380999" y="1012121"/>
            <a:ext cx="10864851" cy="3084947"/>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4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训练集</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lang="en-US" altLang="zh-CN" sz="2400" dirty="0">
                <a:solidFill>
                  <a:srgbClr val="B61616"/>
                </a:solidFill>
                <a:latin typeface="微软雅黑" panose="020B0503020204020204" pitchFamily="34" charset="-122"/>
                <a:ea typeface="微软雅黑" panose="020B0503020204020204" pitchFamily="34" charset="-122"/>
              </a:rPr>
              <a:t>80%</a:t>
            </a:r>
            <a:r>
              <a:rPr lang="zh-CN" altLang="en-US" sz="2400" dirty="0">
                <a:solidFill>
                  <a:srgbClr val="B61616"/>
                </a:solidFill>
                <a:latin typeface="微软雅黑" panose="020B0503020204020204" pitchFamily="34" charset="-122"/>
                <a:ea typeface="微软雅黑" panose="020B0503020204020204" pitchFamily="34" charset="-122"/>
              </a:rPr>
              <a:t>的数据</a:t>
            </a:r>
            <a:r>
              <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a:t>
            </a:r>
            <a:endParaRPr kumimoji="0" lang="en-US" altLang="zh-CN"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训练模型。</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342900" lvl="0" indent="-342900">
              <a:lnSpc>
                <a:spcPct val="150000"/>
              </a:lnSpc>
              <a:buFont typeface="Wingdings" panose="05000000000000000000" pitchFamily="2" charset="2"/>
              <a:buChar char="p"/>
              <a:defRPr/>
            </a:pPr>
            <a:r>
              <a:rPr kumimoji="0" lang="zh-CN" altLang="en-US" sz="24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验证集：</a:t>
            </a:r>
            <a:r>
              <a:rPr lang="zh-CN" altLang="en-US" sz="2400" dirty="0">
                <a:solidFill>
                  <a:srgbClr val="B61616"/>
                </a:solidFill>
                <a:latin typeface="微软雅黑" panose="020B0503020204020204" pitchFamily="34" charset="-122"/>
                <a:ea typeface="微软雅黑" panose="020B0503020204020204" pitchFamily="34" charset="-122"/>
              </a:rPr>
              <a:t> </a:t>
            </a:r>
            <a:r>
              <a:rPr lang="en-US" altLang="zh-CN" sz="2400" dirty="0">
                <a:solidFill>
                  <a:srgbClr val="B61616"/>
                </a:solidFill>
                <a:latin typeface="微软雅黑" panose="020B0503020204020204" pitchFamily="34" charset="-122"/>
                <a:ea typeface="微软雅黑" panose="020B0503020204020204" pitchFamily="34" charset="-122"/>
              </a:rPr>
              <a:t>10%</a:t>
            </a:r>
            <a:r>
              <a:rPr lang="zh-CN" altLang="en-US" sz="2400" dirty="0">
                <a:solidFill>
                  <a:srgbClr val="B61616"/>
                </a:solidFill>
                <a:latin typeface="微软雅黑" panose="020B0503020204020204" pitchFamily="34" charset="-122"/>
                <a:ea typeface="微软雅黑" panose="020B0503020204020204" pitchFamily="34" charset="-122"/>
              </a:rPr>
              <a:t>的数据。</a:t>
            </a:r>
            <a:endParaRPr kumimoji="0" lang="en-US" altLang="zh-CN"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sz="2000" dirty="0">
                <a:solidFill>
                  <a:srgbClr val="333333"/>
                </a:solidFill>
                <a:latin typeface="PingFang SC"/>
                <a:ea typeface="黑体"/>
              </a:rPr>
              <a:t>调整各种超参数</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342900" lvl="0" indent="-342900">
              <a:lnSpc>
                <a:spcPct val="150000"/>
              </a:lnSpc>
              <a:buFont typeface="Wingdings" panose="05000000000000000000" pitchFamily="2" charset="2"/>
              <a:buChar char="p"/>
              <a:defRPr/>
            </a:pPr>
            <a:r>
              <a:rPr kumimoji="0" lang="zh-CN" altLang="en-US" sz="24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测试集</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lang="en-US" altLang="zh-CN" sz="2400" dirty="0">
                <a:solidFill>
                  <a:srgbClr val="B61616"/>
                </a:solidFill>
                <a:latin typeface="微软雅黑" panose="020B0503020204020204" pitchFamily="34" charset="-122"/>
                <a:ea typeface="微软雅黑" panose="020B0503020204020204" pitchFamily="34" charset="-122"/>
              </a:rPr>
              <a:t> 10%</a:t>
            </a:r>
            <a:r>
              <a:rPr lang="zh-CN" altLang="en-US" sz="2400" dirty="0">
                <a:solidFill>
                  <a:srgbClr val="B61616"/>
                </a:solidFill>
                <a:latin typeface="微软雅黑" panose="020B0503020204020204" pitchFamily="34" charset="-122"/>
                <a:ea typeface="微软雅黑" panose="020B0503020204020204" pitchFamily="34" charset="-122"/>
              </a:rPr>
              <a:t>的数据</a:t>
            </a:r>
            <a:r>
              <a:rPr kumimoji="0" lang="zh-CN" altLang="en-US"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a:t>
            </a:r>
            <a:endParaRPr kumimoji="0" lang="en-US" altLang="zh-CN" sz="2400" b="0"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endParaRPr>
          </a:p>
          <a:p>
            <a:pPr marL="800100" marR="0" lvl="1"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lang="zh-CN" altLang="en-US" sz="2000" dirty="0">
                <a:solidFill>
                  <a:srgbClr val="070707"/>
                </a:solidFill>
                <a:latin typeface="微软雅黑" panose="020B0503020204020204" pitchFamily="34" charset="-122"/>
                <a:ea typeface="微软雅黑" panose="020B0503020204020204" pitchFamily="34" charset="-122"/>
              </a:rPr>
              <a:t>测试模型效果</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93DA2327-07BD-79E5-2CBD-92BF18B83431}"/>
              </a:ext>
            </a:extLst>
          </p:cNvPr>
          <p:cNvSpPr txBox="1"/>
          <p:nvPr/>
        </p:nvSpPr>
        <p:spPr>
          <a:xfrm>
            <a:off x="8564200" y="1225449"/>
            <a:ext cx="3080905" cy="16312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B61616"/>
                </a:solidFill>
                <a:effectLst/>
                <a:uLnTx/>
                <a:uFillTx/>
                <a:latin typeface="Book Antiqua"/>
                <a:ea typeface="黑体"/>
                <a:cs typeface="+mn-cs"/>
              </a:rPr>
              <a:t>思考：验证集可以根据测试集来构造吗？</a:t>
            </a:r>
            <a:endParaRPr kumimoji="0" lang="en-US" altLang="zh-CN" sz="2000" b="0" i="0" u="none" strike="noStrike" kern="1200" cap="none" spc="0" normalizeH="0" baseline="0" noProof="0" dirty="0">
              <a:ln>
                <a:noFill/>
              </a:ln>
              <a:solidFill>
                <a:srgbClr val="B61616"/>
              </a:solidFill>
              <a:effectLst/>
              <a:uLnTx/>
              <a:uFillTx/>
              <a:latin typeface="Book Antiqua"/>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2000" dirty="0">
              <a:solidFill>
                <a:srgbClr val="B61616"/>
              </a:solidFill>
              <a:latin typeface="Book Antiqua"/>
              <a:ea typeface="黑体"/>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tx2"/>
                </a:solidFill>
                <a:effectLst/>
                <a:uLnTx/>
                <a:uFillTx/>
                <a:latin typeface="Book Antiqua"/>
                <a:ea typeface="黑体"/>
                <a:cs typeface="+mn-cs"/>
              </a:rPr>
              <a:t>针对测试集，加点噪音</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tx2"/>
                </a:solidFill>
                <a:effectLst/>
                <a:uLnTx/>
                <a:uFillTx/>
                <a:latin typeface="Book Antiqua"/>
                <a:ea typeface="黑体"/>
                <a:cs typeface="+mn-cs"/>
              </a:rPr>
              <a:t>构造验证集</a:t>
            </a:r>
          </a:p>
        </p:txBody>
      </p:sp>
      <p:pic>
        <p:nvPicPr>
          <p:cNvPr id="5" name="图片 4" descr="卡通人物&#10;&#10;AI 生成的内容可能不正确。">
            <a:extLst>
              <a:ext uri="{FF2B5EF4-FFF2-40B4-BE49-F238E27FC236}">
                <a16:creationId xmlns:a16="http://schemas.microsoft.com/office/drawing/2014/main" id="{F015FBBC-F04D-6683-1EC7-880167C2218A}"/>
              </a:ext>
            </a:extLst>
          </p:cNvPr>
          <p:cNvPicPr>
            <a:picLocks noChangeAspect="1"/>
          </p:cNvPicPr>
          <p:nvPr/>
        </p:nvPicPr>
        <p:blipFill>
          <a:blip r:embed="rId2"/>
          <a:stretch>
            <a:fillRect/>
          </a:stretch>
        </p:blipFill>
        <p:spPr>
          <a:xfrm>
            <a:off x="3837094" y="3954181"/>
            <a:ext cx="2043215" cy="2074018"/>
          </a:xfrm>
          <a:prstGeom prst="rect">
            <a:avLst/>
          </a:prstGeom>
        </p:spPr>
      </p:pic>
      <p:pic>
        <p:nvPicPr>
          <p:cNvPr id="6" name="图片 5" descr="卡通人物&#10;&#10;AI 生成的内容可能不正确。">
            <a:extLst>
              <a:ext uri="{FF2B5EF4-FFF2-40B4-BE49-F238E27FC236}">
                <a16:creationId xmlns:a16="http://schemas.microsoft.com/office/drawing/2014/main" id="{D6B53779-9910-14B1-9C25-EB0DD8A178F6}"/>
              </a:ext>
            </a:extLst>
          </p:cNvPr>
          <p:cNvPicPr>
            <a:picLocks noChangeAspect="1"/>
          </p:cNvPicPr>
          <p:nvPr/>
        </p:nvPicPr>
        <p:blipFill>
          <a:blip r:embed="rId2"/>
          <a:stretch>
            <a:fillRect/>
          </a:stretch>
        </p:blipFill>
        <p:spPr>
          <a:xfrm>
            <a:off x="7849438" y="3954181"/>
            <a:ext cx="2043215" cy="2074018"/>
          </a:xfrm>
          <a:prstGeom prst="rect">
            <a:avLst/>
          </a:prstGeom>
        </p:spPr>
      </p:pic>
      <p:sp>
        <p:nvSpPr>
          <p:cNvPr id="7" name="椭圆 6">
            <a:extLst>
              <a:ext uri="{FF2B5EF4-FFF2-40B4-BE49-F238E27FC236}">
                <a16:creationId xmlns:a16="http://schemas.microsoft.com/office/drawing/2014/main" id="{8F22B5CC-5F10-E7BF-A568-34405EA147B4}"/>
              </a:ext>
            </a:extLst>
          </p:cNvPr>
          <p:cNvSpPr/>
          <p:nvPr/>
        </p:nvSpPr>
        <p:spPr>
          <a:xfrm>
            <a:off x="8740666" y="5574508"/>
            <a:ext cx="46382" cy="9276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BDAFAF98-9A93-99F0-A74C-14E7634C57D8}"/>
              </a:ext>
            </a:extLst>
          </p:cNvPr>
          <p:cNvSpPr/>
          <p:nvPr/>
        </p:nvSpPr>
        <p:spPr>
          <a:xfrm>
            <a:off x="9230997" y="4345119"/>
            <a:ext cx="46382" cy="9276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C88E2E62-D2CD-919E-6E32-DE63BA396D57}"/>
              </a:ext>
            </a:extLst>
          </p:cNvPr>
          <p:cNvSpPr/>
          <p:nvPr/>
        </p:nvSpPr>
        <p:spPr>
          <a:xfrm>
            <a:off x="8893066" y="5256634"/>
            <a:ext cx="46382" cy="9276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a:extLst>
              <a:ext uri="{FF2B5EF4-FFF2-40B4-BE49-F238E27FC236}">
                <a16:creationId xmlns:a16="http://schemas.microsoft.com/office/drawing/2014/main" id="{DD3E3436-3C94-9D5F-FEAF-4FE8928FF48D}"/>
              </a:ext>
            </a:extLst>
          </p:cNvPr>
          <p:cNvCxnSpPr>
            <a:stCxn id="5" idx="3"/>
            <a:endCxn id="6" idx="1"/>
          </p:cNvCxnSpPr>
          <p:nvPr/>
        </p:nvCxnSpPr>
        <p:spPr>
          <a:xfrm>
            <a:off x="5880309" y="4991190"/>
            <a:ext cx="1969129"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FB19FA08-D672-5EB0-A7D1-5B8819D7EE08}"/>
              </a:ext>
            </a:extLst>
          </p:cNvPr>
          <p:cNvSpPr txBox="1"/>
          <p:nvPr/>
        </p:nvSpPr>
        <p:spPr>
          <a:xfrm>
            <a:off x="6131339" y="4283304"/>
            <a:ext cx="1467068" cy="707886"/>
          </a:xfrm>
          <a:prstGeom prst="rect">
            <a:avLst/>
          </a:prstGeom>
          <a:noFill/>
        </p:spPr>
        <p:txBody>
          <a:bodyPr wrap="none" rtlCol="0">
            <a:spAutoFit/>
          </a:bodyPr>
          <a:lstStyle/>
          <a:p>
            <a:pPr algn="ctr"/>
            <a:r>
              <a:rPr lang="zh-CN" altLang="en-US" sz="2000" dirty="0"/>
              <a:t>加点噪音</a:t>
            </a:r>
            <a:endParaRPr lang="en-US" altLang="zh-CN" sz="2000" dirty="0"/>
          </a:p>
          <a:p>
            <a:pPr algn="ctr"/>
            <a:r>
              <a:rPr lang="zh-CN" altLang="en-US" sz="2000" dirty="0"/>
              <a:t>构造验证集</a:t>
            </a:r>
          </a:p>
        </p:txBody>
      </p:sp>
      <p:sp>
        <p:nvSpPr>
          <p:cNvPr id="14" name="文本框 13">
            <a:extLst>
              <a:ext uri="{FF2B5EF4-FFF2-40B4-BE49-F238E27FC236}">
                <a16:creationId xmlns:a16="http://schemas.microsoft.com/office/drawing/2014/main" id="{52DA47D1-D514-98D8-FB1D-33625DAEF109}"/>
              </a:ext>
            </a:extLst>
          </p:cNvPr>
          <p:cNvSpPr txBox="1"/>
          <p:nvPr/>
        </p:nvSpPr>
        <p:spPr>
          <a:xfrm>
            <a:off x="4265496" y="3429000"/>
            <a:ext cx="954107" cy="400110"/>
          </a:xfrm>
          <a:prstGeom prst="rect">
            <a:avLst/>
          </a:prstGeom>
          <a:noFill/>
        </p:spPr>
        <p:txBody>
          <a:bodyPr wrap="none" rtlCol="0">
            <a:spAutoFit/>
          </a:bodyPr>
          <a:lstStyle/>
          <a:p>
            <a:pPr algn="l"/>
            <a:r>
              <a:rPr lang="zh-CN" altLang="en-US" sz="2000" dirty="0"/>
              <a:t>测试集</a:t>
            </a:r>
          </a:p>
        </p:txBody>
      </p:sp>
      <p:sp>
        <p:nvSpPr>
          <p:cNvPr id="16" name="文本框 15">
            <a:extLst>
              <a:ext uri="{FF2B5EF4-FFF2-40B4-BE49-F238E27FC236}">
                <a16:creationId xmlns:a16="http://schemas.microsoft.com/office/drawing/2014/main" id="{FB780036-C36E-E197-05D3-8C930F721443}"/>
              </a:ext>
            </a:extLst>
          </p:cNvPr>
          <p:cNvSpPr txBox="1"/>
          <p:nvPr/>
        </p:nvSpPr>
        <p:spPr>
          <a:xfrm>
            <a:off x="8588408" y="3433336"/>
            <a:ext cx="1126291" cy="369332"/>
          </a:xfrm>
          <a:prstGeom prst="rect">
            <a:avLst/>
          </a:prstGeom>
          <a:noFill/>
        </p:spPr>
        <p:txBody>
          <a:bodyPr wrap="square">
            <a:spAutoFit/>
          </a:bodyPr>
          <a:lstStyle/>
          <a:p>
            <a:r>
              <a:rPr lang="zh-CN" altLang="en-US" sz="1800" dirty="0"/>
              <a:t>验证集</a:t>
            </a:r>
            <a:endParaRPr lang="zh-CN" altLang="en-US" dirty="0"/>
          </a:p>
        </p:txBody>
      </p:sp>
    </p:spTree>
    <p:extLst>
      <p:ext uri="{BB962C8B-B14F-4D97-AF65-F5344CB8AC3E}">
        <p14:creationId xmlns:p14="http://schemas.microsoft.com/office/powerpoint/2010/main" val="11147586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stretch>
            <a:fillRect/>
          </a:stretch>
        </p:blipFill>
        <p:spPr>
          <a:xfrm>
            <a:off x="3130827" y="5550774"/>
            <a:ext cx="5930343" cy="763985"/>
          </a:xfrm>
          <a:prstGeom prst="rect">
            <a:avLst/>
          </a:prstGeom>
        </p:spPr>
      </p:pic>
      <p:sp>
        <p:nvSpPr>
          <p:cNvPr id="3" name="标题 2"/>
          <p:cNvSpPr>
            <a:spLocks noGrp="1"/>
          </p:cNvSpPr>
          <p:nvPr>
            <p:ph type="title"/>
          </p:nvPr>
        </p:nvSpPr>
        <p:spPr/>
        <p:txBody>
          <a:bodyPr/>
          <a:lstStyle/>
          <a:p>
            <a:r>
              <a:rPr lang="zh-CN" altLang="en-US" dirty="0"/>
              <a:t>损失函数</a:t>
            </a:r>
          </a:p>
        </p:txBody>
      </p:sp>
      <mc:AlternateContent xmlns:mc="http://schemas.openxmlformats.org/markup-compatibility/2006" xmlns:a14="http://schemas.microsoft.com/office/drawing/2010/main">
        <mc:Choice Requires="a14">
          <p:sp>
            <p:nvSpPr>
              <p:cNvPr id="10" name="文本框 9"/>
              <p:cNvSpPr txBox="1"/>
              <p:nvPr/>
            </p:nvSpPr>
            <p:spPr>
              <a:xfrm>
                <a:off x="677770" y="892773"/>
                <a:ext cx="11132988" cy="4720523"/>
              </a:xfrm>
              <a:prstGeom prst="rect">
                <a:avLst/>
              </a:prstGeom>
              <a:noFill/>
            </p:spPr>
            <p:txBody>
              <a:bodyPr wrap="square" rtlCol="0">
                <a:spAutoFit/>
              </a:bodyPr>
              <a:lstStyle/>
              <a:p>
                <a:pPr lvl="0">
                  <a:lnSpc>
                    <a:spcPct val="150000"/>
                  </a:lnSpc>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我们希望从这个函数空间中找到一个最佳函数来逼近这组数据背后的目标函数。为了实现这一点，我们通常会定义一个</a:t>
                </a:r>
                <a:r>
                  <a:rPr kumimoji="0" lang="zh-CN" altLang="en-US" sz="20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损失函数</a:t>
                </a:r>
                <a:r>
                  <a:rPr kumimoji="0" lang="en-US" altLang="zh-CN" sz="20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lang="zh-CN" altLang="en-US" sz="2000" b="1" dirty="0">
                    <a:solidFill>
                      <a:srgbClr val="070707"/>
                    </a:solidFill>
                    <a:latin typeface="微软雅黑" panose="020B0503020204020204" pitchFamily="34" charset="-122"/>
                    <a:ea typeface="微软雅黑" panose="020B0503020204020204" pitchFamily="34" charset="-122"/>
                  </a:rPr>
                  <a:t>风险函数 </a:t>
                </a:r>
                <a14:m>
                  <m:oMath xmlns:m="http://schemas.openxmlformats.org/officeDocument/2006/math">
                    <m:r>
                      <m:rPr>
                        <m:sty m:val="p"/>
                      </m:rPr>
                      <a:rPr kumimoji="0" lang="en-US" altLang="zh-CN" sz="2000" b="1"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R</m:t>
                    </m:r>
                    <m:d>
                      <m:dPr>
                        <m:ctrlP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e>
                    </m:d>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𝑙</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b>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sub>
                    </m:s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up>
                    </m:s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 来衡量模型</a:t>
                </a:r>
                <a14:m>
                  <m:oMath xmlns:m="http://schemas.openxmlformats.org/officeDocument/2006/math">
                    <m:sSub>
                      <m:sSub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𝜃</m:t>
                        </m:r>
                      </m:sub>
                    </m:sSub>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与目标函数</a:t>
                </a:r>
                <a14:m>
                  <m:oMath xmlns:m="http://schemas.openxmlformats.org/officeDocument/2006/math">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sup>
                    </m:sSup>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之间的差距。</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000" dirty="0">
                    <a:solidFill>
                      <a:srgbClr val="070707"/>
                    </a:solidFill>
                    <a:ea typeface="微软雅黑" panose="020B0503020204020204" pitchFamily="34" charset="-122"/>
                  </a:rPr>
                  <a:t>在数据集</a:t>
                </a:r>
                <a14:m>
                  <m:oMath xmlns:m="http://schemas.openxmlformats.org/officeDocument/2006/math">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d>
                          <m:dPr>
                            <m:begChr m:val="{"/>
                            <m:endChr m:val="}"/>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d>
                              <m:d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Sub>
                              </m:e>
                            </m:d>
                          </m:e>
                        </m:d>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𝑛</m:t>
                        </m:r>
                      </m:sup>
                    </m:sSubSup>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上定义常见的损失函数：</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均方误差</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 Mean Squared Error, MSE </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133984"/>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133984"/>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绝对误差</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Mean Absolute Error</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MAE</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交叉熵</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cross-entropy</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），常用于分类任务：</a:t>
                </a:r>
                <a:endPar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677770" y="892773"/>
                <a:ext cx="11132988" cy="4720523"/>
              </a:xfrm>
              <a:prstGeom prst="rect">
                <a:avLst/>
              </a:prstGeom>
              <a:blipFill>
                <a:blip r:embed="rId3"/>
                <a:stretch>
                  <a:fillRect l="-548" r="-548"/>
                </a:stretch>
              </a:blipFill>
            </p:spPr>
            <p:txBody>
              <a:bodyPr/>
              <a:lstStyle/>
              <a:p>
                <a:r>
                  <a:rPr lang="zh-CN" altLang="en-US">
                    <a:noFill/>
                  </a:rPr>
                  <a:t> </a:t>
                </a:r>
              </a:p>
            </p:txBody>
          </p:sp>
        </mc:Fallback>
      </mc:AlternateContent>
      <p:pic>
        <p:nvPicPr>
          <p:cNvPr id="7" name="图片 6"/>
          <p:cNvPicPr>
            <a:picLocks noChangeAspect="1"/>
          </p:cNvPicPr>
          <p:nvPr/>
        </p:nvPicPr>
        <p:blipFill>
          <a:blip r:embed="rId4"/>
          <a:stretch>
            <a:fillRect/>
          </a:stretch>
        </p:blipFill>
        <p:spPr>
          <a:xfrm>
            <a:off x="4304889" y="2808908"/>
            <a:ext cx="3582216" cy="812870"/>
          </a:xfrm>
          <a:prstGeom prst="rect">
            <a:avLst/>
          </a:prstGeom>
        </p:spPr>
      </p:pic>
      <p:pic>
        <p:nvPicPr>
          <p:cNvPr id="9" name="图片 8"/>
          <p:cNvPicPr>
            <a:picLocks noChangeAspect="1"/>
          </p:cNvPicPr>
          <p:nvPr/>
        </p:nvPicPr>
        <p:blipFill>
          <a:blip r:embed="rId5"/>
          <a:stretch>
            <a:fillRect/>
          </a:stretch>
        </p:blipFill>
        <p:spPr>
          <a:xfrm>
            <a:off x="4177314" y="4229030"/>
            <a:ext cx="3837367" cy="812870"/>
          </a:xfrm>
          <a:prstGeom prst="rect">
            <a:avLst/>
          </a:prstGeom>
        </p:spPr>
      </p:pic>
      <p:sp>
        <p:nvSpPr>
          <p:cNvPr id="2" name="文本框 1">
            <a:extLst>
              <a:ext uri="{FF2B5EF4-FFF2-40B4-BE49-F238E27FC236}">
                <a16:creationId xmlns:a16="http://schemas.microsoft.com/office/drawing/2014/main" id="{0ECCD142-776C-C259-7234-4072EE47B005}"/>
              </a:ext>
            </a:extLst>
          </p:cNvPr>
          <p:cNvSpPr txBox="1"/>
          <p:nvPr/>
        </p:nvSpPr>
        <p:spPr>
          <a:xfrm>
            <a:off x="8372267" y="4379767"/>
            <a:ext cx="308090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B61616"/>
                </a:solidFill>
                <a:effectLst/>
                <a:uLnTx/>
                <a:uFillTx/>
                <a:latin typeface="Book Antiqua"/>
                <a:ea typeface="黑体"/>
                <a:cs typeface="+mn-cs"/>
              </a:rPr>
              <a:t>思考：可以去掉绝对值吗？</a:t>
            </a:r>
          </a:p>
        </p:txBody>
      </p:sp>
    </p:spTree>
    <p:extLst>
      <p:ext uri="{BB962C8B-B14F-4D97-AF65-F5344CB8AC3E}">
        <p14:creationId xmlns:p14="http://schemas.microsoft.com/office/powerpoint/2010/main" val="911789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0876E-ACB9-5DBD-003C-ABE86F373C0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539BE9D-842B-1A5E-592D-00FD055508DE}"/>
              </a:ext>
            </a:extLst>
          </p:cNvPr>
          <p:cNvSpPr>
            <a:spLocks noGrp="1"/>
          </p:cNvSpPr>
          <p:nvPr>
            <p:ph type="title"/>
          </p:nvPr>
        </p:nvSpPr>
        <p:spPr/>
        <p:txBody>
          <a:bodyPr/>
          <a:lstStyle/>
          <a:p>
            <a:r>
              <a:rPr lang="zh-CN" altLang="en-US" dirty="0"/>
              <a:t>损失函数算例：绝对误差</a:t>
            </a:r>
          </a:p>
        </p:txBody>
      </p:sp>
      <p:pic>
        <p:nvPicPr>
          <p:cNvPr id="7" name="图片 6">
            <a:extLst>
              <a:ext uri="{FF2B5EF4-FFF2-40B4-BE49-F238E27FC236}">
                <a16:creationId xmlns:a16="http://schemas.microsoft.com/office/drawing/2014/main" id="{2E659952-7184-BB04-9AF6-64DF96C7B8B0}"/>
              </a:ext>
            </a:extLst>
          </p:cNvPr>
          <p:cNvPicPr>
            <a:picLocks noChangeAspect="1"/>
          </p:cNvPicPr>
          <p:nvPr/>
        </p:nvPicPr>
        <p:blipFill>
          <a:blip r:embed="rId2"/>
          <a:stretch>
            <a:fillRect/>
          </a:stretch>
        </p:blipFill>
        <p:spPr>
          <a:xfrm>
            <a:off x="4251880" y="840960"/>
            <a:ext cx="3582216" cy="812870"/>
          </a:xfrm>
          <a:prstGeom prst="rect">
            <a:avLst/>
          </a:prstGeom>
        </p:spPr>
      </p:pic>
    </p:spTree>
    <p:extLst>
      <p:ext uri="{BB962C8B-B14F-4D97-AF65-F5344CB8AC3E}">
        <p14:creationId xmlns:p14="http://schemas.microsoft.com/office/powerpoint/2010/main" val="19078703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C3A27-69B7-861A-B580-E8EA79382D76}"/>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170D3F7B-ABEB-F234-C4C0-712F00B3E6AE}"/>
              </a:ext>
            </a:extLst>
          </p:cNvPr>
          <p:cNvPicPr>
            <a:picLocks noChangeAspect="1"/>
          </p:cNvPicPr>
          <p:nvPr/>
        </p:nvPicPr>
        <p:blipFill>
          <a:blip r:embed="rId2"/>
          <a:stretch>
            <a:fillRect/>
          </a:stretch>
        </p:blipFill>
        <p:spPr>
          <a:xfrm>
            <a:off x="3130828" y="1104670"/>
            <a:ext cx="5930343" cy="763985"/>
          </a:xfrm>
          <a:prstGeom prst="rect">
            <a:avLst/>
          </a:prstGeom>
        </p:spPr>
      </p:pic>
      <p:sp>
        <p:nvSpPr>
          <p:cNvPr id="3" name="标题 2">
            <a:extLst>
              <a:ext uri="{FF2B5EF4-FFF2-40B4-BE49-F238E27FC236}">
                <a16:creationId xmlns:a16="http://schemas.microsoft.com/office/drawing/2014/main" id="{61069241-22CB-B47D-A841-CF59DA3C2B76}"/>
              </a:ext>
            </a:extLst>
          </p:cNvPr>
          <p:cNvSpPr>
            <a:spLocks noGrp="1"/>
          </p:cNvSpPr>
          <p:nvPr>
            <p:ph type="title"/>
          </p:nvPr>
        </p:nvSpPr>
        <p:spPr/>
        <p:txBody>
          <a:bodyPr/>
          <a:lstStyle/>
          <a:p>
            <a:r>
              <a:rPr lang="zh-CN" altLang="en-US" dirty="0"/>
              <a:t>损失函数算例：交叉熵</a:t>
            </a:r>
          </a:p>
        </p:txBody>
      </p:sp>
    </p:spTree>
    <p:extLst>
      <p:ext uri="{BB962C8B-B14F-4D97-AF65-F5344CB8AC3E}">
        <p14:creationId xmlns:p14="http://schemas.microsoft.com/office/powerpoint/2010/main" val="2847280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损失景观（</a:t>
            </a:r>
            <a:r>
              <a:rPr lang="en-US" altLang="zh-CN" dirty="0"/>
              <a:t>Loss Landscape</a:t>
            </a:r>
            <a:r>
              <a:rPr lang="zh-CN" altLang="en-US" dirty="0"/>
              <a:t>）</a:t>
            </a:r>
          </a:p>
        </p:txBody>
      </p:sp>
      <mc:AlternateContent xmlns:mc="http://schemas.openxmlformats.org/markup-compatibility/2006" xmlns:a14="http://schemas.microsoft.com/office/drawing/2010/main">
        <mc:Choice Requires="a14">
          <p:sp>
            <p:nvSpPr>
              <p:cNvPr id="10" name="文本框 9"/>
              <p:cNvSpPr txBox="1"/>
              <p:nvPr/>
            </p:nvSpPr>
            <p:spPr>
              <a:xfrm>
                <a:off x="380999" y="1012121"/>
                <a:ext cx="10864851" cy="58105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我们称损失函数</a:t>
                </a:r>
                <a14:m>
                  <m:oMath xmlns:m="http://schemas.openxmlformats.org/officeDocument/2006/math">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𝑅</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r>
                      <a:rPr kumimoji="0" lang="en-US" altLang="zh-CN" sz="24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oMath>
                </a14:m>
                <a:r>
                  <a:rPr kumimoji="0" lang="zh-CN" altLang="en-US"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随参数</a:t>
                </a:r>
                <a14:m>
                  <m:oMath xmlns:m="http://schemas.openxmlformats.org/officeDocument/2006/math">
                    <m:r>
                      <a:rPr kumimoji="0" lang="en-US" altLang="zh-CN" sz="24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oMath>
                </a14:m>
                <a:r>
                  <a:rPr kumimoji="0" lang="zh-CN" altLang="en-US"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变化所得到的集合形态为损失景观</a:t>
                </a:r>
                <a:endParaRPr kumimoji="0" lang="en-US" altLang="zh-CN"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380999" y="1012121"/>
                <a:ext cx="10864851" cy="581057"/>
              </a:xfrm>
              <a:prstGeom prst="rect">
                <a:avLst/>
              </a:prstGeom>
              <a:blipFill rotWithShape="1">
                <a:blip r:embed="rId4"/>
                <a:stretch>
                  <a:fillRect l="-6" t="-97" b="-21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380998" y="5339364"/>
                <a:ext cx="10864851" cy="96276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rPr>
                  <a:t>注意到</a:t>
                </a:r>
                <a14:m>
                  <m:oMath xmlns:m="http://schemas.openxmlformats.org/officeDocument/2006/math">
                    <m:r>
                      <a:rPr kumimoji="0" lang="en-US" altLang="zh-CN" sz="20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𝑅</m:t>
                    </m:r>
                    <m:r>
                      <a:rPr kumimoji="0" lang="en-US" altLang="zh-CN" sz="20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m:t>
                    </m:r>
                    <m:r>
                      <a:rPr kumimoji="0" lang="en-US" altLang="zh-CN" sz="2000" b="1"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𝜽</m:t>
                    </m:r>
                    <m:r>
                      <a:rPr kumimoji="0" lang="en-US" altLang="zh-CN" sz="2000" b="0" i="1" u="none" strike="noStrike" kern="1200" cap="none" spc="0" normalizeH="0" baseline="0" noProof="0" smtClean="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m:t>
                    </m:r>
                  </m:oMath>
                </a14:m>
                <a:r>
                  <a:rPr kumimoji="0" lang="zh-CN" altLang="en-US" sz="2000" b="0" i="0" u="none" strike="noStrike" kern="1200" cap="none" spc="0" normalizeH="0" baseline="0" noProof="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rPr>
                  <a:t>同样也是关于数据集</a:t>
                </a:r>
                <a14:m>
                  <m:oMath xmlns:m="http://schemas.openxmlformats.org/officeDocument/2006/math">
                    <m:sSubSup>
                      <m:sSubSupPr>
                        <m:ctrlPr>
                          <a:rPr kumimoji="0" lang="en-US" altLang="zh-CN" sz="2000" b="0" i="1" u="none" strike="noStrike" kern="1200" cap="none" spc="0" normalizeH="0" baseline="0" noProof="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ctrlPr>
                      </m:sSubSupPr>
                      <m:e>
                        <m:d>
                          <m:dPr>
                            <m:begChr m:val="{"/>
                            <m:endChr m:val="}"/>
                            <m:ctrlPr>
                              <a:rPr kumimoji="0" lang="en-US" altLang="zh-CN" sz="2000" b="0" i="1" u="none" strike="noStrike" kern="1200" cap="none" spc="0" normalizeH="0" baseline="0" noProof="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ctrlPr>
                          </m:dPr>
                          <m:e>
                            <m:d>
                              <m:dPr>
                                <m:ctrlPr>
                                  <a:rPr kumimoji="0" lang="en-US" altLang="zh-CN" sz="2000" b="0" i="1" u="none" strike="noStrike" kern="1200" cap="none" spc="0" normalizeH="0" baseline="0" noProof="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ctrlPr>
                              </m:dPr>
                              <m:e>
                                <m:sSub>
                                  <m:sSubPr>
                                    <m:ctrlPr>
                                      <a:rPr kumimoji="0" lang="en-US" altLang="zh-CN" sz="2000" b="0" i="1" u="none" strike="noStrike" kern="1200" cap="none" spc="0" normalizeH="0" baseline="0" noProof="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𝑖</m:t>
                                    </m:r>
                                  </m:sub>
                                </m:sSub>
                                <m:r>
                                  <a:rPr kumimoji="0" lang="en-US" altLang="zh-CN" sz="2000" b="0" i="1" u="none" strike="noStrike" kern="1200" cap="none" spc="0" normalizeH="0" baseline="0" noProof="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 </m:t>
                                </m:r>
                                <m:sSub>
                                  <m:sSubPr>
                                    <m:ctrlPr>
                                      <a:rPr kumimoji="0" lang="en-US" altLang="zh-CN" sz="2000" b="0" i="1" u="none" strike="noStrike" kern="1200" cap="none" spc="0" normalizeH="0" baseline="0" noProof="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𝑖</m:t>
                                    </m:r>
                                  </m:sub>
                                </m:sSub>
                              </m:e>
                            </m:d>
                          </m:e>
                        </m:d>
                      </m:e>
                      <m:sub>
                        <m:r>
                          <a:rPr kumimoji="0" lang="en-US" altLang="zh-CN" sz="2000" b="0" i="1" u="none" strike="noStrike" kern="1200" cap="none" spc="0" normalizeH="0" baseline="0" noProof="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𝑖</m:t>
                        </m:r>
                        <m:r>
                          <a:rPr kumimoji="0" lang="en-US" altLang="zh-CN" sz="2000" b="0" i="1" u="none" strike="noStrike" kern="1200" cap="none" spc="0" normalizeH="0" baseline="0" noProof="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=1</m:t>
                        </m:r>
                      </m:sub>
                      <m:sup>
                        <m:r>
                          <a:rPr kumimoji="0" lang="en-US" altLang="zh-CN" sz="2000" b="0" i="1" u="none" strike="noStrike" kern="1200" cap="none" spc="0" normalizeH="0" baseline="0" noProof="0">
                            <a:ln>
                              <a:noFill/>
                            </a:ln>
                            <a:solidFill>
                              <a:srgbClr val="FFFFFF">
                                <a:lumMod val="50000"/>
                              </a:srgbClr>
                            </a:solidFill>
                            <a:effectLst/>
                            <a:uLnTx/>
                            <a:uFillTx/>
                            <a:latin typeface="Cambria Math" panose="02040503050406030204" pitchFamily="18" charset="0"/>
                            <a:ea typeface="微软雅黑" panose="020B0503020204020204" pitchFamily="34" charset="-122"/>
                            <a:cs typeface="+mn-cs"/>
                          </a:rPr>
                          <m:t>𝑛</m:t>
                        </m:r>
                      </m:sup>
                    </m:sSubSup>
                  </m:oMath>
                </a14:m>
                <a:r>
                  <a:rPr kumimoji="0" lang="zh-CN" altLang="en-US" sz="2000" b="0" i="0" u="none" strike="noStrike" kern="1200" cap="none" spc="0" normalizeH="0" baseline="0" noProof="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rPr>
                  <a:t>的函数，因此根据参与计算的数据集不同，损失景观还可以细分为训练集的损失景观和测试集的损失景观。</a:t>
                </a:r>
                <a:endParaRPr kumimoji="0" lang="en-US" altLang="zh-CN" sz="2000" b="0" i="0" u="none" strike="noStrike" kern="1200" cap="none" spc="0" normalizeH="0" baseline="0" noProof="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80998" y="5339364"/>
                <a:ext cx="10864851" cy="962764"/>
              </a:xfrm>
              <a:prstGeom prst="rect">
                <a:avLst/>
              </a:prstGeom>
              <a:blipFill rotWithShape="1">
                <a:blip r:embed="rId6"/>
                <a:stretch>
                  <a:fillRect l="-6" t="-29" r="6" b="-751"/>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C7EBB828-3116-C29D-03C1-70F2396D037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928730" y="1713541"/>
            <a:ext cx="5897218" cy="3315835"/>
          </a:xfrm>
          <a:prstGeom prst="rect">
            <a:avLst/>
          </a:prstGeom>
        </p:spPr>
      </p:pic>
    </p:spTree>
    <p:extLst>
      <p:ext uri="{BB962C8B-B14F-4D97-AF65-F5344CB8AC3E}">
        <p14:creationId xmlns:p14="http://schemas.microsoft.com/office/powerpoint/2010/main" val="2634414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学习方式</a:t>
            </a:r>
            <a:endParaRPr lang="zh-CN" altLang="en-US" dirty="0"/>
          </a:p>
        </p:txBody>
      </p:sp>
      <p:sp>
        <p:nvSpPr>
          <p:cNvPr id="13" name="Rectangle 8"/>
          <p:cNvSpPr>
            <a:spLocks noChangeArrowheads="1"/>
          </p:cNvSpPr>
          <p:nvPr/>
        </p:nvSpPr>
        <p:spPr bwMode="auto">
          <a:xfrm>
            <a:off x="228600" y="920729"/>
            <a:ext cx="11429516" cy="3969385"/>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p"/>
              <a:tabLst/>
              <a:defRPr/>
            </a:pPr>
            <a:r>
              <a:rPr kumimoji="0" lang="zh-CN" altLang="zh-CN" sz="24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监督学习 (Supervised Learning)</a:t>
            </a:r>
            <a:r>
              <a:rPr kumimoji="0" lang="zh-CN" altLang="en-US"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zh-CN" altLang="zh-CN"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通过使用带标签的数据来训练模型，使其能够预测或分类新数据</a:t>
            </a:r>
            <a:r>
              <a:rPr kumimoji="0" lang="zh-CN" altLang="en-US"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。如：</a:t>
            </a:r>
            <a:r>
              <a:rPr kumimoji="0" lang="zh-CN" altLang="zh-CN"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邮件分类（垃圾邮件 vs 正常邮件）、房价预测</a:t>
            </a:r>
            <a:endParaRPr kumimoji="0" lang="en-US" altLang="zh-CN"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p"/>
              <a:tabLst/>
              <a:defRPr/>
            </a:pPr>
            <a:r>
              <a:rPr kumimoji="0" lang="zh-CN" altLang="zh-CN" sz="24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无监督学习 (Unsupervised Learning)</a:t>
            </a:r>
            <a:r>
              <a:rPr kumimoji="0" lang="zh-CN" altLang="en-US"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zh-CN" altLang="zh-CN"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使用未标注的数据来发现数据中的模式或结构。</a:t>
            </a:r>
            <a:r>
              <a:rPr kumimoji="0" lang="zh-CN" altLang="en-US"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如：</a:t>
            </a:r>
            <a:r>
              <a:rPr kumimoji="0" lang="zh-CN" altLang="zh-CN"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客户细分、市场篮分析、降维 </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charset="0"/>
              <a:buChar char="p"/>
              <a:tabLst/>
              <a:defRPr/>
            </a:pPr>
            <a:r>
              <a:rPr kumimoji="0" lang="zh-CN" altLang="zh-CN" sz="24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强化学习（</a:t>
            </a:r>
            <a:r>
              <a:rPr kumimoji="0" lang="en-US" altLang="zh-CN" sz="24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Reinforcement Learning</a:t>
            </a:r>
            <a:r>
              <a:rPr kumimoji="0" lang="zh-CN" altLang="en-US" sz="24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a:ln>
                  <a:noFill/>
                </a:ln>
                <a:solidFill>
                  <a:srgbClr val="070707"/>
                </a:solidFill>
                <a:effectLst/>
                <a:uLnTx/>
                <a:uFillTx/>
                <a:latin typeface="微软雅黑" panose="020B0503020204020204" pitchFamily="34" charset="-122"/>
                <a:ea typeface="微软雅黑" panose="020B0503020204020204" pitchFamily="34" charset="-122"/>
                <a:cs typeface="+mn-cs"/>
              </a:rPr>
              <a:t>依赖奖励信号指导学习方向，虽然没有显式标签，但存在明确的优化目标（最大化奖励）。如：训练机器人走路时，跌倒给予负奖励，成功行走给予正奖励。</a:t>
            </a:r>
          </a:p>
        </p:txBody>
      </p:sp>
      <p:sp>
        <p:nvSpPr>
          <p:cNvPr id="26" name="AutoShape 13" descr="监督学习"/>
          <p:cNvSpPr>
            <a:spLocks noChangeAspect="1" noChangeArrowheads="1"/>
          </p:cNvSpPr>
          <p:nvPr/>
        </p:nvSpPr>
        <p:spPr bwMode="auto">
          <a:xfrm>
            <a:off x="1360488" y="17129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B61616"/>
              </a:solidFill>
              <a:effectLst/>
              <a:uLnTx/>
              <a:uFillTx/>
              <a:latin typeface="Book Antiqua"/>
              <a:ea typeface="黑体"/>
              <a:cs typeface="+mn-cs"/>
            </a:endParaRPr>
          </a:p>
        </p:txBody>
      </p:sp>
      <p:sp>
        <p:nvSpPr>
          <p:cNvPr id="27" name="AutoShape 14" descr="无监督学习"/>
          <p:cNvSpPr>
            <a:spLocks noChangeAspect="1" noChangeArrowheads="1"/>
          </p:cNvSpPr>
          <p:nvPr/>
        </p:nvSpPr>
        <p:spPr bwMode="auto">
          <a:xfrm>
            <a:off x="2708275" y="22764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B61616"/>
              </a:solidFill>
              <a:effectLst/>
              <a:uLnTx/>
              <a:uFillTx/>
              <a:latin typeface="Book Antiqua"/>
              <a:ea typeface="黑体"/>
              <a:cs typeface="+mn-cs"/>
            </a:endParaRPr>
          </a:p>
        </p:txBody>
      </p:sp>
    </p:spTree>
    <p:extLst>
      <p:ext uri="{BB962C8B-B14F-4D97-AF65-F5344CB8AC3E}">
        <p14:creationId xmlns:p14="http://schemas.microsoft.com/office/powerpoint/2010/main" val="3605180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学习方式</a:t>
            </a:r>
            <a:endParaRPr lang="zh-CN" altLang="en-US" dirty="0"/>
          </a:p>
        </p:txBody>
      </p:sp>
      <p:graphicFrame>
        <p:nvGraphicFramePr>
          <p:cNvPr id="7" name="表格 6"/>
          <p:cNvGraphicFramePr>
            <a:graphicFrameLocks noGrp="1"/>
          </p:cNvGraphicFramePr>
          <p:nvPr>
            <p:custDataLst>
              <p:tags r:id="rId1"/>
            </p:custDataLst>
          </p:nvPr>
        </p:nvGraphicFramePr>
        <p:xfrm>
          <a:off x="202565" y="1235710"/>
          <a:ext cx="11786870" cy="4385945"/>
        </p:xfrm>
        <a:graphic>
          <a:graphicData uri="http://schemas.openxmlformats.org/drawingml/2006/table">
            <a:tbl>
              <a:tblPr/>
              <a:tblGrid>
                <a:gridCol w="1920240">
                  <a:extLst>
                    <a:ext uri="{9D8B030D-6E8A-4147-A177-3AD203B41FA5}">
                      <a16:colId xmlns:a16="http://schemas.microsoft.com/office/drawing/2014/main" val="20000"/>
                    </a:ext>
                  </a:extLst>
                </a:gridCol>
                <a:gridCol w="2745105">
                  <a:extLst>
                    <a:ext uri="{9D8B030D-6E8A-4147-A177-3AD203B41FA5}">
                      <a16:colId xmlns:a16="http://schemas.microsoft.com/office/drawing/2014/main" val="20001"/>
                    </a:ext>
                  </a:extLst>
                </a:gridCol>
                <a:gridCol w="3555365">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633095">
                <a:tc>
                  <a:txBody>
                    <a:bodyPr/>
                    <a:lstStyle/>
                    <a:p>
                      <a:pPr algn="ctr"/>
                      <a:r>
                        <a:rPr lang="zh-CN" altLang="en-US" b="1">
                          <a:solidFill>
                            <a:srgbClr val="070707"/>
                          </a:solidFill>
                          <a:latin typeface="微软雅黑" panose="020B0503020204020204" pitchFamily="34" charset="-122"/>
                          <a:ea typeface="微软雅黑" panose="020B0503020204020204" pitchFamily="34" charset="-122"/>
                        </a:rPr>
                        <a:t>特性</a:t>
                      </a:r>
                      <a:endParaRPr lang="zh-CN" altLang="en-US">
                        <a:solidFill>
                          <a:srgbClr val="070707"/>
                        </a:solidFill>
                        <a:latin typeface="微软雅黑" panose="020B0503020204020204" pitchFamily="34" charset="-122"/>
                        <a:ea typeface="微软雅黑" panose="020B0503020204020204" pitchFamily="34" charset="-122"/>
                      </a:endParaRP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solidFill>
                      <a:schemeClr val="bg1">
                        <a:lumMod val="85000"/>
                      </a:schemeClr>
                    </a:solidFill>
                  </a:tcPr>
                </a:tc>
                <a:tc>
                  <a:txBody>
                    <a:bodyPr/>
                    <a:lstStyle/>
                    <a:p>
                      <a:pPr algn="ctr"/>
                      <a:r>
                        <a:rPr lang="zh-CN" altLang="en-US" b="1">
                          <a:solidFill>
                            <a:srgbClr val="070707"/>
                          </a:solidFill>
                          <a:latin typeface="微软雅黑" panose="020B0503020204020204" pitchFamily="34" charset="-122"/>
                          <a:ea typeface="微软雅黑" panose="020B0503020204020204" pitchFamily="34" charset="-122"/>
                        </a:rPr>
                        <a:t>监督学习</a:t>
                      </a:r>
                      <a:endParaRPr lang="zh-CN" altLang="en-US">
                        <a:solidFill>
                          <a:srgbClr val="070707"/>
                        </a:solidFill>
                        <a:latin typeface="微软雅黑" panose="020B0503020204020204" pitchFamily="34" charset="-122"/>
                        <a:ea typeface="微软雅黑" panose="020B0503020204020204" pitchFamily="34" charset="-122"/>
                      </a:endParaRP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solidFill>
                      <a:schemeClr val="bg1">
                        <a:lumMod val="85000"/>
                      </a:schemeClr>
                    </a:solidFill>
                  </a:tcPr>
                </a:tc>
                <a:tc>
                  <a:txBody>
                    <a:bodyPr/>
                    <a:lstStyle/>
                    <a:p>
                      <a:pPr algn="ctr"/>
                      <a:r>
                        <a:rPr lang="zh-CN" altLang="en-US" b="1">
                          <a:solidFill>
                            <a:srgbClr val="070707"/>
                          </a:solidFill>
                          <a:latin typeface="微软雅黑" panose="020B0503020204020204" pitchFamily="34" charset="-122"/>
                          <a:ea typeface="微软雅黑" panose="020B0503020204020204" pitchFamily="34" charset="-122"/>
                        </a:rPr>
                        <a:t>无监督学习</a:t>
                      </a:r>
                      <a:endParaRPr lang="zh-CN" altLang="en-US">
                        <a:solidFill>
                          <a:srgbClr val="070707"/>
                        </a:solidFill>
                        <a:latin typeface="微软雅黑" panose="020B0503020204020204" pitchFamily="34" charset="-122"/>
                        <a:ea typeface="微软雅黑" panose="020B0503020204020204" pitchFamily="34" charset="-122"/>
                      </a:endParaRP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solidFill>
                      <a:schemeClr val="bg1">
                        <a:lumMod val="85000"/>
                      </a:schemeClr>
                    </a:solidFill>
                  </a:tcPr>
                </a:tc>
                <a:tc>
                  <a:txBody>
                    <a:bodyPr/>
                    <a:lstStyle/>
                    <a:p>
                      <a:pPr algn="ctr">
                        <a:buNone/>
                      </a:pPr>
                      <a:r>
                        <a:rPr lang="zh-CN" altLang="en-US" b="1">
                          <a:solidFill>
                            <a:srgbClr val="070707"/>
                          </a:solidFill>
                          <a:latin typeface="微软雅黑" panose="020B0503020204020204" pitchFamily="34" charset="-122"/>
                          <a:ea typeface="微软雅黑" panose="020B0503020204020204" pitchFamily="34" charset="-122"/>
                        </a:rPr>
                        <a:t>强化学习</a:t>
                      </a: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33730">
                <a:tc>
                  <a:txBody>
                    <a:bodyPr/>
                    <a:lstStyle/>
                    <a:p>
                      <a:pPr algn="ctr"/>
                      <a:r>
                        <a:rPr lang="zh-CN" altLang="en-US" b="1">
                          <a:solidFill>
                            <a:srgbClr val="070707"/>
                          </a:solidFill>
                          <a:latin typeface="微软雅黑" panose="020B0503020204020204" pitchFamily="34" charset="-122"/>
                          <a:ea typeface="微软雅黑" panose="020B0503020204020204" pitchFamily="34" charset="-122"/>
                        </a:rPr>
                        <a:t>数据类型</a:t>
                      </a:r>
                      <a:endParaRPr lang="zh-CN" altLang="en-US">
                        <a:solidFill>
                          <a:srgbClr val="070707"/>
                        </a:solidFill>
                        <a:latin typeface="微软雅黑" panose="020B0503020204020204" pitchFamily="34" charset="-122"/>
                        <a:ea typeface="微软雅黑" panose="020B0503020204020204" pitchFamily="34" charset="-122"/>
                      </a:endParaRP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solidFill>
                      <a:schemeClr val="bg1">
                        <a:lumMod val="85000"/>
                      </a:schemeClr>
                    </a:solidFill>
                  </a:tcPr>
                </a:tc>
                <a:tc>
                  <a:txBody>
                    <a:bodyPr/>
                    <a:lstStyle/>
                    <a:p>
                      <a:pPr algn="ctr"/>
                      <a:r>
                        <a:rPr lang="zh-CN" altLang="en-US" sz="2000">
                          <a:solidFill>
                            <a:srgbClr val="070707"/>
                          </a:solidFill>
                          <a:latin typeface="微软雅黑" panose="020B0503020204020204" pitchFamily="34" charset="-122"/>
                          <a:ea typeface="微软雅黑" panose="020B0503020204020204" pitchFamily="34" charset="-122"/>
                        </a:rPr>
                        <a:t>带标签的数据</a:t>
                      </a: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noFill/>
                  </a:tcPr>
                </a:tc>
                <a:tc>
                  <a:txBody>
                    <a:bodyPr/>
                    <a:lstStyle/>
                    <a:p>
                      <a:pPr algn="ctr"/>
                      <a:r>
                        <a:rPr lang="zh-CN" altLang="en-US" sz="2000">
                          <a:solidFill>
                            <a:srgbClr val="070707"/>
                          </a:solidFill>
                          <a:latin typeface="微软雅黑" panose="020B0503020204020204" pitchFamily="34" charset="-122"/>
                          <a:ea typeface="微软雅黑" panose="020B0503020204020204" pitchFamily="34" charset="-122"/>
                        </a:rPr>
                        <a:t>未标注的数据</a:t>
                      </a: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noFill/>
                  </a:tcPr>
                </a:tc>
                <a:tc>
                  <a:txBody>
                    <a:bodyPr/>
                    <a:lstStyle/>
                    <a:p>
                      <a:pPr algn="ctr">
                        <a:buNone/>
                      </a:pPr>
                      <a:r>
                        <a:rPr lang="zh-CN" altLang="en-US" sz="2000">
                          <a:solidFill>
                            <a:srgbClr val="070707"/>
                          </a:solidFill>
                          <a:latin typeface="微软雅黑" panose="020B0503020204020204" pitchFamily="34" charset="-122"/>
                          <a:ea typeface="微软雅黑" panose="020B0503020204020204" pitchFamily="34" charset="-122"/>
                        </a:rPr>
                        <a:t>未标注的数据</a:t>
                      </a: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noFill/>
                  </a:tcPr>
                </a:tc>
                <a:extLst>
                  <a:ext uri="{0D108BD9-81ED-4DB2-BD59-A6C34878D82A}">
                    <a16:rowId xmlns:a16="http://schemas.microsoft.com/office/drawing/2014/main" val="10001"/>
                  </a:ext>
                </a:extLst>
              </a:tr>
              <a:tr h="812800">
                <a:tc>
                  <a:txBody>
                    <a:bodyPr/>
                    <a:lstStyle/>
                    <a:p>
                      <a:pPr algn="ctr"/>
                      <a:r>
                        <a:rPr lang="zh-CN" altLang="en-US" b="1">
                          <a:solidFill>
                            <a:srgbClr val="070707"/>
                          </a:solidFill>
                          <a:latin typeface="微软雅黑" panose="020B0503020204020204" pitchFamily="34" charset="-122"/>
                          <a:ea typeface="微软雅黑" panose="020B0503020204020204" pitchFamily="34" charset="-122"/>
                        </a:rPr>
                        <a:t>目标</a:t>
                      </a:r>
                      <a:endParaRPr lang="zh-CN" altLang="en-US">
                        <a:solidFill>
                          <a:srgbClr val="070707"/>
                        </a:solidFill>
                        <a:latin typeface="微软雅黑" panose="020B0503020204020204" pitchFamily="34" charset="-122"/>
                        <a:ea typeface="微软雅黑" panose="020B0503020204020204" pitchFamily="34" charset="-122"/>
                      </a:endParaRP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solidFill>
                      <a:schemeClr val="bg1">
                        <a:lumMod val="85000"/>
                      </a:schemeClr>
                    </a:solidFill>
                  </a:tcPr>
                </a:tc>
                <a:tc>
                  <a:txBody>
                    <a:bodyPr/>
                    <a:lstStyle/>
                    <a:p>
                      <a:pPr algn="ctr"/>
                      <a:r>
                        <a:rPr lang="zh-CN" altLang="en-US" sz="2000">
                          <a:solidFill>
                            <a:srgbClr val="070707"/>
                          </a:solidFill>
                          <a:latin typeface="微软雅黑" panose="020B0503020204020204" pitchFamily="34" charset="-122"/>
                          <a:ea typeface="微软雅黑" panose="020B0503020204020204" pitchFamily="34" charset="-122"/>
                        </a:rPr>
                        <a:t>预测或分类</a:t>
                      </a: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noFill/>
                  </a:tcPr>
                </a:tc>
                <a:tc>
                  <a:txBody>
                    <a:bodyPr/>
                    <a:lstStyle/>
                    <a:p>
                      <a:pPr algn="ctr"/>
                      <a:r>
                        <a:rPr lang="zh-CN" altLang="en-US" sz="2000">
                          <a:solidFill>
                            <a:srgbClr val="070707"/>
                          </a:solidFill>
                          <a:latin typeface="微软雅黑" panose="020B0503020204020204" pitchFamily="34" charset="-122"/>
                          <a:ea typeface="微软雅黑" panose="020B0503020204020204" pitchFamily="34" charset="-122"/>
                        </a:rPr>
                        <a:t>发现数据中的隐藏模式或结构</a:t>
                      </a: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noFill/>
                  </a:tcPr>
                </a:tc>
                <a:tc>
                  <a:txBody>
                    <a:bodyPr/>
                    <a:lstStyle/>
                    <a:p>
                      <a:pPr algn="ctr">
                        <a:buNone/>
                      </a:pPr>
                      <a:r>
                        <a:rPr lang="zh-CN" altLang="en-US" sz="2000">
                          <a:solidFill>
                            <a:srgbClr val="070707"/>
                          </a:solidFill>
                          <a:latin typeface="微软雅黑" panose="020B0503020204020204" pitchFamily="34" charset="-122"/>
                          <a:ea typeface="微软雅黑" panose="020B0503020204020204" pitchFamily="34" charset="-122"/>
                        </a:rPr>
                        <a:t>最大化奖励</a:t>
                      </a: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noFill/>
                  </a:tcPr>
                </a:tc>
                <a:extLst>
                  <a:ext uri="{0D108BD9-81ED-4DB2-BD59-A6C34878D82A}">
                    <a16:rowId xmlns:a16="http://schemas.microsoft.com/office/drawing/2014/main" val="10002"/>
                  </a:ext>
                </a:extLst>
              </a:tr>
              <a:tr h="1139825">
                <a:tc>
                  <a:txBody>
                    <a:bodyPr/>
                    <a:lstStyle/>
                    <a:p>
                      <a:pPr algn="ctr"/>
                      <a:r>
                        <a:rPr lang="zh-CN" altLang="en-US" b="1">
                          <a:solidFill>
                            <a:srgbClr val="070707"/>
                          </a:solidFill>
                          <a:latin typeface="微软雅黑" panose="020B0503020204020204" pitchFamily="34" charset="-122"/>
                          <a:ea typeface="微软雅黑" panose="020B0503020204020204" pitchFamily="34" charset="-122"/>
                        </a:rPr>
                        <a:t>常见算法</a:t>
                      </a:r>
                      <a:endParaRPr lang="zh-CN" altLang="en-US">
                        <a:solidFill>
                          <a:srgbClr val="070707"/>
                        </a:solidFill>
                        <a:latin typeface="微软雅黑" panose="020B0503020204020204" pitchFamily="34" charset="-122"/>
                        <a:ea typeface="微软雅黑" panose="020B0503020204020204" pitchFamily="34" charset="-122"/>
                      </a:endParaRP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solidFill>
                      <a:schemeClr val="bg1">
                        <a:lumMod val="85000"/>
                      </a:schemeClr>
                    </a:solidFill>
                  </a:tcPr>
                </a:tc>
                <a:tc>
                  <a:txBody>
                    <a:bodyPr/>
                    <a:lstStyle/>
                    <a:p>
                      <a:pPr algn="ctr"/>
                      <a:r>
                        <a:rPr lang="zh-CN" altLang="en-US" sz="2000">
                          <a:solidFill>
                            <a:srgbClr val="070707"/>
                          </a:solidFill>
                          <a:latin typeface="微软雅黑" panose="020B0503020204020204" pitchFamily="34" charset="-122"/>
                          <a:ea typeface="微软雅黑" panose="020B0503020204020204" pitchFamily="34" charset="-122"/>
                        </a:rPr>
                        <a:t>线性回归、逻辑回归、支持向量机、决策树</a:t>
                      </a: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noFill/>
                  </a:tcPr>
                </a:tc>
                <a:tc>
                  <a:txBody>
                    <a:bodyPr/>
                    <a:lstStyle/>
                    <a:p>
                      <a:pPr algn="ctr"/>
                      <a:r>
                        <a:rPr lang="zh-CN" altLang="en-US" sz="2000" dirty="0">
                          <a:solidFill>
                            <a:srgbClr val="070707"/>
                          </a:solidFill>
                          <a:latin typeface="微软雅黑" panose="020B0503020204020204" pitchFamily="34" charset="-122"/>
                          <a:ea typeface="微软雅黑" panose="020B0503020204020204" pitchFamily="34" charset="-122"/>
                        </a:rPr>
                        <a:t>聚类算法（如</a:t>
                      </a:r>
                      <a:r>
                        <a:rPr lang="en-US" altLang="zh-CN" sz="2000" dirty="0">
                          <a:solidFill>
                            <a:srgbClr val="070707"/>
                          </a:solidFill>
                          <a:latin typeface="微软雅黑" panose="020B0503020204020204" pitchFamily="34" charset="-122"/>
                          <a:ea typeface="微软雅黑" panose="020B0503020204020204" pitchFamily="34" charset="-122"/>
                        </a:rPr>
                        <a:t>K-Means</a:t>
                      </a:r>
                      <a:r>
                        <a:rPr lang="zh-CN" altLang="en-US" sz="2000" dirty="0">
                          <a:solidFill>
                            <a:srgbClr val="070707"/>
                          </a:solidFill>
                          <a:latin typeface="微软雅黑" panose="020B0503020204020204" pitchFamily="34" charset="-122"/>
                          <a:ea typeface="微软雅黑" panose="020B0503020204020204" pitchFamily="34" charset="-122"/>
                        </a:rPr>
                        <a:t>）、</a:t>
                      </a:r>
                    </a:p>
                    <a:p>
                      <a:pPr algn="ctr"/>
                      <a:r>
                        <a:rPr lang="zh-CN" altLang="en-US" sz="2000" dirty="0">
                          <a:solidFill>
                            <a:srgbClr val="070707"/>
                          </a:solidFill>
                          <a:latin typeface="微软雅黑" panose="020B0503020204020204" pitchFamily="34" charset="-122"/>
                          <a:ea typeface="微软雅黑" panose="020B0503020204020204" pitchFamily="34" charset="-122"/>
                        </a:rPr>
                        <a:t>关联规则、主成分分析</a:t>
                      </a:r>
                      <a:endParaRPr lang="en-US" altLang="zh-CN" sz="2000" dirty="0">
                        <a:solidFill>
                          <a:srgbClr val="070707"/>
                        </a:solidFill>
                        <a:latin typeface="微软雅黑" panose="020B0503020204020204" pitchFamily="34" charset="-122"/>
                        <a:ea typeface="微软雅黑" panose="020B0503020204020204" pitchFamily="34" charset="-122"/>
                      </a:endParaRP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noFill/>
                  </a:tcPr>
                </a:tc>
                <a:tc>
                  <a:txBody>
                    <a:bodyPr/>
                    <a:lstStyle/>
                    <a:p>
                      <a:pPr algn="ctr">
                        <a:buNone/>
                      </a:pPr>
                      <a:r>
                        <a:rPr lang="en-US" altLang="zh-CN" sz="2000">
                          <a:solidFill>
                            <a:srgbClr val="070707"/>
                          </a:solidFill>
                          <a:latin typeface="微软雅黑" panose="020B0503020204020204" pitchFamily="34" charset="-122"/>
                          <a:ea typeface="微软雅黑" panose="020B0503020204020204" pitchFamily="34" charset="-122"/>
                        </a:rPr>
                        <a:t>Q-learning</a:t>
                      </a:r>
                      <a:r>
                        <a:rPr lang="zh-CN" altLang="en-US" sz="2000">
                          <a:solidFill>
                            <a:srgbClr val="070707"/>
                          </a:solidFill>
                          <a:latin typeface="微软雅黑" panose="020B0503020204020204" pitchFamily="34" charset="-122"/>
                          <a:ea typeface="微软雅黑" panose="020B0503020204020204" pitchFamily="34" charset="-122"/>
                        </a:rPr>
                        <a:t>、</a:t>
                      </a:r>
                      <a:r>
                        <a:rPr lang="en-US" altLang="zh-CN" sz="2000">
                          <a:solidFill>
                            <a:srgbClr val="070707"/>
                          </a:solidFill>
                          <a:latin typeface="微软雅黑" panose="020B0503020204020204" pitchFamily="34" charset="-122"/>
                          <a:ea typeface="微软雅黑" panose="020B0503020204020204" pitchFamily="34" charset="-122"/>
                        </a:rPr>
                        <a:t>SARSA</a:t>
                      </a:r>
                      <a:r>
                        <a:rPr lang="zh-CN" altLang="en-US" sz="2000">
                          <a:solidFill>
                            <a:srgbClr val="070707"/>
                          </a:solidFill>
                          <a:latin typeface="微软雅黑" panose="020B0503020204020204" pitchFamily="34" charset="-122"/>
                          <a:ea typeface="微软雅黑" panose="020B0503020204020204" pitchFamily="34" charset="-122"/>
                        </a:rPr>
                        <a:t>等</a:t>
                      </a: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noFill/>
                  </a:tcPr>
                </a:tc>
                <a:extLst>
                  <a:ext uri="{0D108BD9-81ED-4DB2-BD59-A6C34878D82A}">
                    <a16:rowId xmlns:a16="http://schemas.microsoft.com/office/drawing/2014/main" val="10003"/>
                  </a:ext>
                </a:extLst>
              </a:tr>
              <a:tr h="1166495">
                <a:tc>
                  <a:txBody>
                    <a:bodyPr/>
                    <a:lstStyle/>
                    <a:p>
                      <a:pPr algn="ctr">
                        <a:buNone/>
                      </a:pPr>
                      <a:r>
                        <a:rPr lang="zh-CN" altLang="en-US" b="1">
                          <a:solidFill>
                            <a:srgbClr val="070707"/>
                          </a:solidFill>
                          <a:latin typeface="微软雅黑" panose="020B0503020204020204" pitchFamily="34" charset="-122"/>
                          <a:ea typeface="微软雅黑" panose="020B0503020204020204" pitchFamily="34" charset="-122"/>
                        </a:rPr>
                        <a:t>类比</a:t>
                      </a: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solidFill>
                      <a:schemeClr val="bg1">
                        <a:lumMod val="85000"/>
                      </a:schemeClr>
                    </a:solidFill>
                  </a:tcPr>
                </a:tc>
                <a:tc>
                  <a:txBody>
                    <a:bodyPr/>
                    <a:lstStyle/>
                    <a:p>
                      <a:pPr algn="ctr">
                        <a:buNone/>
                      </a:pPr>
                      <a:r>
                        <a:rPr lang="zh-CN" altLang="en-US" sz="2000">
                          <a:solidFill>
                            <a:srgbClr val="070707"/>
                          </a:solidFill>
                          <a:latin typeface="微软雅黑" panose="020B0503020204020204" pitchFamily="34" charset="-122"/>
                          <a:ea typeface="微软雅黑" panose="020B0503020204020204" pitchFamily="34" charset="-122"/>
                        </a:rPr>
                        <a:t>学生通过标准答案学习</a:t>
                      </a: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noFill/>
                  </a:tcPr>
                </a:tc>
                <a:tc>
                  <a:txBody>
                    <a:bodyPr/>
                    <a:lstStyle/>
                    <a:p>
                      <a:pPr algn="ctr">
                        <a:buNone/>
                      </a:pPr>
                      <a:r>
                        <a:rPr lang="zh-CN" altLang="en-US" sz="2000">
                          <a:solidFill>
                            <a:srgbClr val="070707"/>
                          </a:solidFill>
                          <a:latin typeface="微软雅黑" panose="020B0503020204020204" pitchFamily="34" charset="-122"/>
                          <a:ea typeface="微软雅黑" panose="020B0503020204020204" pitchFamily="34" charset="-122"/>
                        </a:rPr>
                        <a:t>学生自学，从数据中总结规律</a:t>
                      </a: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noFill/>
                  </a:tcPr>
                </a:tc>
                <a:tc>
                  <a:txBody>
                    <a:bodyPr/>
                    <a:lstStyle/>
                    <a:p>
                      <a:pPr algn="ctr">
                        <a:buNone/>
                      </a:pPr>
                      <a:r>
                        <a:rPr lang="zh-CN" altLang="en-US" sz="2000" dirty="0">
                          <a:solidFill>
                            <a:srgbClr val="070707"/>
                          </a:solidFill>
                          <a:latin typeface="微软雅黑" panose="020B0503020204020204" pitchFamily="34" charset="-122"/>
                          <a:ea typeface="微软雅黑" panose="020B0503020204020204" pitchFamily="34" charset="-122"/>
                        </a:rPr>
                        <a:t>学生通过考试得分调整学习方法，但不知道具体错在哪里</a:t>
                      </a:r>
                    </a:p>
                  </a:txBody>
                  <a:tcPr anchor="ctr">
                    <a:lnL w="12700" cap="flat" cmpd="sng" algn="ctr">
                      <a:solidFill>
                        <a:srgbClr val="070707"/>
                      </a:solidFill>
                      <a:prstDash val="solid"/>
                      <a:round/>
                      <a:headEnd type="none" w="med" len="med"/>
                      <a:tailEnd type="none" w="med" len="med"/>
                    </a:lnL>
                    <a:lnR w="12700" cap="flat" cmpd="sng" algn="ctr">
                      <a:solidFill>
                        <a:srgbClr val="070707"/>
                      </a:solidFill>
                      <a:prstDash val="solid"/>
                      <a:round/>
                      <a:headEnd type="none" w="med" len="med"/>
                      <a:tailEnd type="none" w="med" len="med"/>
                    </a:lnR>
                    <a:lnT w="12700" cap="flat" cmpd="sng" algn="ctr">
                      <a:solidFill>
                        <a:srgbClr val="070707"/>
                      </a:solidFill>
                      <a:prstDash val="solid"/>
                      <a:round/>
                      <a:headEnd type="none" w="med" len="med"/>
                      <a:tailEnd type="none" w="med" len="med"/>
                    </a:lnT>
                    <a:lnB w="12700" cap="flat" cmpd="sng" algn="ctr">
                      <a:solidFill>
                        <a:srgbClr val="070707"/>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6" name="AutoShape 13" descr="监督学习"/>
          <p:cNvSpPr>
            <a:spLocks noChangeAspect="1" noChangeArrowheads="1"/>
          </p:cNvSpPr>
          <p:nvPr/>
        </p:nvSpPr>
        <p:spPr bwMode="auto">
          <a:xfrm>
            <a:off x="1360488" y="17129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B61616"/>
              </a:solidFill>
              <a:effectLst/>
              <a:uLnTx/>
              <a:uFillTx/>
              <a:latin typeface="Book Antiqua"/>
              <a:ea typeface="黑体"/>
              <a:cs typeface="+mn-cs"/>
            </a:endParaRPr>
          </a:p>
        </p:txBody>
      </p:sp>
      <p:sp>
        <p:nvSpPr>
          <p:cNvPr id="27" name="AutoShape 14" descr="无监督学习"/>
          <p:cNvSpPr>
            <a:spLocks noChangeAspect="1" noChangeArrowheads="1"/>
          </p:cNvSpPr>
          <p:nvPr/>
        </p:nvSpPr>
        <p:spPr bwMode="auto">
          <a:xfrm>
            <a:off x="2708275" y="22764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B61616"/>
              </a:solidFill>
              <a:effectLst/>
              <a:uLnTx/>
              <a:uFillTx/>
              <a:latin typeface="Book Antiqua"/>
              <a:ea typeface="黑体"/>
              <a:cs typeface="+mn-cs"/>
            </a:endParaRPr>
          </a:p>
        </p:txBody>
      </p:sp>
    </p:spTree>
    <p:extLst>
      <p:ext uri="{BB962C8B-B14F-4D97-AF65-F5344CB8AC3E}">
        <p14:creationId xmlns:p14="http://schemas.microsoft.com/office/powerpoint/2010/main" val="32728724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935" y="144826"/>
            <a:ext cx="2576687" cy="337358"/>
          </a:xfrm>
        </p:spPr>
        <p:txBody>
          <a:bodyPr/>
          <a:lstStyle/>
          <a:p>
            <a:r>
              <a:rPr lang="zh-CN" altLang="en-US" sz="2800"/>
              <a:t>目录</a:t>
            </a:r>
          </a:p>
        </p:txBody>
      </p:sp>
      <p:sp>
        <p:nvSpPr>
          <p:cNvPr id="3" name="文本框 2"/>
          <p:cNvSpPr txBox="1"/>
          <p:nvPr/>
        </p:nvSpPr>
        <p:spPr>
          <a:xfrm>
            <a:off x="3855154" y="1797416"/>
            <a:ext cx="4134465" cy="523220"/>
          </a:xfrm>
          <a:prstGeom prst="rect">
            <a:avLst/>
          </a:prstGeom>
          <a:noFill/>
        </p:spPr>
        <p:txBody>
          <a:bodyPr wrap="none" rtlCol="0">
            <a:spAutoFit/>
          </a:bodyPr>
          <a:lstStyle/>
          <a:p>
            <a:r>
              <a:rPr lang="zh-CN" altLang="en-US" sz="2800" b="1" dirty="0">
                <a:solidFill>
                  <a:schemeClr val="bg1">
                    <a:lumMod val="50000"/>
                  </a:schemeClr>
                </a:solidFill>
                <a:latin typeface="微软雅黑" panose="020B0503020204020204" pitchFamily="34" charset="-122"/>
                <a:ea typeface="微软雅黑" panose="020B0503020204020204" pitchFamily="34" charset="-122"/>
              </a:rPr>
              <a:t>一、人工智能应用与简介</a:t>
            </a:r>
          </a:p>
        </p:txBody>
      </p:sp>
      <p:sp>
        <p:nvSpPr>
          <p:cNvPr id="4" name="文本框 3"/>
          <p:cNvSpPr txBox="1"/>
          <p:nvPr/>
        </p:nvSpPr>
        <p:spPr>
          <a:xfrm>
            <a:off x="3855154" y="2950797"/>
            <a:ext cx="4265911"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二、人工智能的发展简史</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神经网络的发展历史</a:t>
            </a:r>
            <a:endParaRPr lang="zh-CN" altLang="en-US" dirty="0"/>
          </a:p>
        </p:txBody>
      </p:sp>
      <p:pic>
        <p:nvPicPr>
          <p:cNvPr id="2" name="Picture 4" descr="A screenshot of a cell phone&#10;&#10;Description generated with very high confiden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492" y="847797"/>
            <a:ext cx="11486958" cy="5396744"/>
          </a:xfrm>
          <a:prstGeom prst="rect">
            <a:avLst/>
          </a:prstGeom>
        </p:spPr>
      </p:pic>
      <p:sp>
        <p:nvSpPr>
          <p:cNvPr id="5" name="TextBox 5"/>
          <p:cNvSpPr txBox="1"/>
          <p:nvPr/>
        </p:nvSpPr>
        <p:spPr>
          <a:xfrm>
            <a:off x="158575" y="6422156"/>
            <a:ext cx="8969604"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400" dirty="0">
                <a:solidFill>
                  <a:schemeClr val="bg1"/>
                </a:solidFill>
                <a:latin typeface="Times New Roman" panose="02020603050405020304" pitchFamily="18" charset="0"/>
                <a:cs typeface="Times New Roman" panose="02020603050405020304" pitchFamily="18" charset="0"/>
              </a:rPr>
              <a:t>https://beamandrew.github.io/deeplearning/2017/02/23/deep_learning_101_part1.html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起源与早期探索</a:t>
            </a:r>
            <a:endParaRPr lang="zh-CN" altLang="en-US" dirty="0"/>
          </a:p>
        </p:txBody>
      </p:sp>
      <p:pic>
        <p:nvPicPr>
          <p:cNvPr id="4" name="图片 3"/>
          <p:cNvPicPr>
            <a:picLocks noChangeAspect="1"/>
          </p:cNvPicPr>
          <p:nvPr/>
        </p:nvPicPr>
        <p:blipFill>
          <a:blip r:embed="rId2"/>
          <a:stretch>
            <a:fillRect/>
          </a:stretch>
        </p:blipFill>
        <p:spPr>
          <a:xfrm>
            <a:off x="373898" y="1851378"/>
            <a:ext cx="3856931" cy="2244081"/>
          </a:xfrm>
          <a:prstGeom prst="rect">
            <a:avLst/>
          </a:prstGeom>
        </p:spPr>
      </p:pic>
      <p:sp>
        <p:nvSpPr>
          <p:cNvPr id="6" name="文本框 5"/>
          <p:cNvSpPr txBox="1"/>
          <p:nvPr/>
        </p:nvSpPr>
        <p:spPr>
          <a:xfrm>
            <a:off x="521564" y="4369532"/>
            <a:ext cx="3056259"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单个生物神经元</a:t>
            </a:r>
            <a:endParaRPr lang="zh-CN" altLang="en-US" sz="2400"/>
          </a:p>
        </p:txBody>
      </p:sp>
      <p:pic>
        <p:nvPicPr>
          <p:cNvPr id="8" name="图片 7"/>
          <p:cNvPicPr>
            <a:picLocks noChangeAspect="1"/>
          </p:cNvPicPr>
          <p:nvPr/>
        </p:nvPicPr>
        <p:blipFill>
          <a:blip r:embed="rId3"/>
          <a:srcRect l="27502"/>
          <a:stretch>
            <a:fillRect/>
          </a:stretch>
        </p:blipFill>
        <p:spPr>
          <a:xfrm>
            <a:off x="4667953" y="1475804"/>
            <a:ext cx="7417848" cy="2919149"/>
          </a:xfrm>
          <a:prstGeom prst="rect">
            <a:avLst/>
          </a:prstGeom>
        </p:spPr>
      </p:pic>
      <p:sp>
        <p:nvSpPr>
          <p:cNvPr id="9" name="文本框 8"/>
          <p:cNvSpPr txBox="1"/>
          <p:nvPr/>
        </p:nvSpPr>
        <p:spPr>
          <a:xfrm>
            <a:off x="6151722" y="4369531"/>
            <a:ext cx="4178332" cy="461665"/>
          </a:xfrm>
          <a:prstGeom prst="rect">
            <a:avLst/>
          </a:prstGeom>
          <a:noFill/>
        </p:spPr>
        <p:txBody>
          <a:bodyPr wrap="square">
            <a:spAutoFit/>
          </a:bodyPr>
          <a:lstStyle/>
          <a:p>
            <a:pPr algn="ctr"/>
            <a:r>
              <a:rPr lang="zh-CN" altLang="en-US" sz="2400" dirty="0">
                <a:solidFill>
                  <a:srgbClr val="070707"/>
                </a:solidFill>
                <a:latin typeface="微软雅黑" panose="020B0503020204020204" pitchFamily="34" charset="-122"/>
                <a:ea typeface="微软雅黑" panose="020B0503020204020204" pitchFamily="34" charset="-122"/>
              </a:rPr>
              <a:t>生物神经元网络产生智能</a:t>
            </a:r>
            <a:endParaRPr lang="zh-CN" altLang="en-US" sz="2400" dirty="0"/>
          </a:p>
        </p:txBody>
      </p:sp>
      <p:sp>
        <p:nvSpPr>
          <p:cNvPr id="5" name="矩形 4"/>
          <p:cNvSpPr/>
          <p:nvPr/>
        </p:nvSpPr>
        <p:spPr>
          <a:xfrm>
            <a:off x="90483" y="6415408"/>
            <a:ext cx="10841990" cy="307777"/>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4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http</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://www.andreykurenkov.com/writing/ai</a:t>
            </a:r>
            <a:r>
              <a:rPr lang="en-US" altLang="zh-CN" sz="14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/a-brief-history-of-neural-nets-and-deep-learning</a:t>
            </a:r>
            <a:endPar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hlinkClick r:id="rId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McCulloch-Pitts </a:t>
            </a:r>
            <a:r>
              <a:rPr lang="zh-CN" altLang="en-US"/>
              <a:t>神经元模型（</a:t>
            </a:r>
            <a:r>
              <a:rPr lang="en-US" altLang="zh-CN"/>
              <a:t>1943</a:t>
            </a:r>
            <a:r>
              <a:rPr lang="zh-CN" altLang="en-US"/>
              <a:t>年）</a:t>
            </a:r>
            <a:endParaRPr lang="zh-CN" altLang="en-US" dirty="0"/>
          </a:p>
        </p:txBody>
      </p:sp>
      <p:sp>
        <p:nvSpPr>
          <p:cNvPr id="5" name="文本框 4"/>
          <p:cNvSpPr txBox="1"/>
          <p:nvPr/>
        </p:nvSpPr>
        <p:spPr>
          <a:xfrm>
            <a:off x="328431" y="1120777"/>
            <a:ext cx="10873770" cy="581057"/>
          </a:xfrm>
          <a:prstGeom prst="rect">
            <a:avLst/>
          </a:prstGeom>
          <a:noFill/>
        </p:spPr>
        <p:txBody>
          <a:bodyPr wrap="square">
            <a:spAutoFit/>
          </a:bodyPr>
          <a:lstStyle>
            <a:defPPr>
              <a:defRPr lang="zh-CN"/>
            </a:defPPr>
            <a:lvl1pPr algn="ctr">
              <a:defRPr sz="2400">
                <a:solidFill>
                  <a:srgbClr val="070707"/>
                </a:solidFill>
                <a:latin typeface="微软雅黑" panose="020B0503020204020204" pitchFamily="34" charset="-122"/>
                <a:ea typeface="微软雅黑" panose="020B0503020204020204" pitchFamily="34" charset="-122"/>
              </a:defRPr>
            </a:lvl1pPr>
          </a:lstStyle>
          <a:p>
            <a:pPr algn="l">
              <a:lnSpc>
                <a:spcPct val="150000"/>
              </a:lnSpc>
            </a:pPr>
            <a:r>
              <a:rPr lang="zh-CN" altLang="en-US"/>
              <a:t>感知器：McCulloch</a:t>
            </a:r>
            <a:r>
              <a:rPr lang="en-US" altLang="zh-CN"/>
              <a:t>-</a:t>
            </a:r>
            <a:r>
              <a:rPr lang="zh-CN" altLang="en-US"/>
              <a:t>Pitts，模仿</a:t>
            </a:r>
            <a:r>
              <a:rPr lang="zh-CN" altLang="en-US" b="1"/>
              <a:t>生物神经元</a:t>
            </a:r>
            <a:endParaRPr lang="zh-CN" altLang="en-US"/>
          </a:p>
        </p:txBody>
      </p:sp>
      <p:sp>
        <p:nvSpPr>
          <p:cNvPr id="15" name="矩形 14"/>
          <p:cNvSpPr/>
          <p:nvPr/>
        </p:nvSpPr>
        <p:spPr>
          <a:xfrm>
            <a:off x="169663" y="6421453"/>
            <a:ext cx="8704359" cy="276999"/>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 Logical Calculus of Ideas Immanent in Nervous Activity" (1943). </a:t>
            </a:r>
          </a:p>
        </p:txBody>
      </p:sp>
      <p:pic>
        <p:nvPicPr>
          <p:cNvPr id="16" name="图片 15"/>
          <p:cNvPicPr>
            <a:picLocks noChangeAspect="1"/>
          </p:cNvPicPr>
          <p:nvPr/>
        </p:nvPicPr>
        <p:blipFill>
          <a:blip r:embed="rId2"/>
          <a:srcRect b="11067"/>
          <a:stretch>
            <a:fillRect/>
          </a:stretch>
        </p:blipFill>
        <p:spPr>
          <a:xfrm>
            <a:off x="169781" y="1967189"/>
            <a:ext cx="4144645" cy="3020715"/>
          </a:xfrm>
          <a:prstGeom prst="rect">
            <a:avLst/>
          </a:prstGeom>
        </p:spPr>
      </p:pic>
      <p:pic>
        <p:nvPicPr>
          <p:cNvPr id="17" name="图片 16"/>
          <p:cNvPicPr>
            <a:picLocks noChangeAspect="1"/>
          </p:cNvPicPr>
          <p:nvPr/>
        </p:nvPicPr>
        <p:blipFill>
          <a:blip r:embed="rId3"/>
          <a:stretch>
            <a:fillRect/>
          </a:stretch>
        </p:blipFill>
        <p:spPr>
          <a:xfrm>
            <a:off x="3001393" y="2868671"/>
            <a:ext cx="1543265" cy="752580"/>
          </a:xfrm>
          <a:prstGeom prst="rect">
            <a:avLst/>
          </a:prstGeom>
        </p:spPr>
      </p:pic>
      <mc:AlternateContent xmlns:mc="http://schemas.openxmlformats.org/markup-compatibility/2006" xmlns:a14="http://schemas.microsoft.com/office/drawing/2010/main">
        <mc:Choice Requires="a14">
          <p:sp>
            <p:nvSpPr>
              <p:cNvPr id="18" name="文本框 4"/>
              <p:cNvSpPr txBox="1"/>
              <p:nvPr/>
            </p:nvSpPr>
            <p:spPr>
              <a:xfrm>
                <a:off x="6423371" y="1619582"/>
                <a:ext cx="5637999" cy="279704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sz="2400" b="1" dirty="0">
                    <a:solidFill>
                      <a:schemeClr val="tx2"/>
                    </a:solidFill>
                    <a:latin typeface="微软雅黑" panose="020B0503020204020204" pitchFamily="34" charset="-122"/>
                    <a:ea typeface="微软雅黑" panose="020B0503020204020204" pitchFamily="34" charset="-122"/>
                  </a:rPr>
                  <a:t>逻辑运算，二维输入</a:t>
                </a:r>
                <a14:m>
                  <m:oMath xmlns:m="http://schemas.openxmlformats.org/officeDocument/2006/math">
                    <m:sSup>
                      <m:sSupPr>
                        <m:ctrlPr>
                          <a:rPr lang="en-US" altLang="zh-CN" sz="2400" b="0" i="1" smtClean="0">
                            <a:solidFill>
                              <a:srgbClr val="070707"/>
                            </a:solidFill>
                            <a:latin typeface="Cambria Math" panose="02040503050406030204" pitchFamily="18" charset="0"/>
                            <a:ea typeface="微软雅黑" panose="020B0503020204020204" pitchFamily="34" charset="-122"/>
                          </a:rPr>
                        </m:ctrlPr>
                      </m:sSupPr>
                      <m:e>
                        <m:d>
                          <m:dPr>
                            <m:begChr m:val="{"/>
                            <m:endChr m:val="}"/>
                            <m:ctrlPr>
                              <a:rPr lang="en-US" altLang="zh-CN" sz="2400" b="0" i="1" smtClean="0">
                                <a:solidFill>
                                  <a:srgbClr val="070707"/>
                                </a:solidFill>
                                <a:latin typeface="Cambria Math" panose="02040503050406030204" pitchFamily="18" charset="0"/>
                                <a:ea typeface="微软雅黑" panose="020B0503020204020204" pitchFamily="34" charset="-122"/>
                              </a:rPr>
                            </m:ctrlPr>
                          </m:dPr>
                          <m:e>
                            <m:r>
                              <a:rPr lang="en-US" altLang="zh-CN" sz="2400" b="0" i="1" smtClean="0">
                                <a:solidFill>
                                  <a:srgbClr val="070707"/>
                                </a:solidFill>
                                <a:latin typeface="Cambria Math" panose="02040503050406030204" pitchFamily="18" charset="0"/>
                                <a:ea typeface="微软雅黑" panose="020B0503020204020204" pitchFamily="34" charset="-122"/>
                              </a:rPr>
                              <m:t>0,1</m:t>
                            </m:r>
                          </m:e>
                        </m:d>
                      </m:e>
                      <m:sup>
                        <m:r>
                          <a:rPr lang="en-US" altLang="zh-CN" sz="2400" b="0" i="1" smtClean="0">
                            <a:solidFill>
                              <a:srgbClr val="070707"/>
                            </a:solidFill>
                            <a:latin typeface="Cambria Math" panose="02040503050406030204" pitchFamily="18" charset="0"/>
                            <a:ea typeface="微软雅黑" panose="020B0503020204020204" pitchFamily="34" charset="-122"/>
                          </a:rPr>
                          <m:t>2</m:t>
                        </m:r>
                      </m:sup>
                    </m:sSup>
                  </m:oMath>
                </a14:m>
                <a:endParaRPr lang="en-US" altLang="zh-CN" sz="2400" dirty="0">
                  <a:solidFill>
                    <a:srgbClr val="070707"/>
                  </a:solidFill>
                  <a:latin typeface="微软雅黑" panose="020B0503020204020204" pitchFamily="34" charset="-122"/>
                  <a:ea typeface="微软雅黑" panose="020B0503020204020204" pitchFamily="34" charset="-122"/>
                </a:endParaRPr>
              </a:p>
              <a:p>
                <a:pPr indent="0" fontAlgn="auto">
                  <a:lnSpc>
                    <a:spcPct val="150000"/>
                  </a:lnSpc>
                </a:pPr>
                <a:r>
                  <a:rPr lang="en-US" altLang="zh-CN" sz="2400" b="1" dirty="0">
                    <a:latin typeface="微软雅黑" panose="020B0503020204020204" pitchFamily="34" charset="-122"/>
                    <a:ea typeface="微软雅黑" panose="020B0503020204020204" pitchFamily="34" charset="-122"/>
                  </a:rPr>
                  <a:t>AND</a:t>
                </a:r>
                <a:r>
                  <a:rPr lang="en-US" altLang="zh-CN" sz="2400" dirty="0">
                    <a:solidFill>
                      <a:srgbClr val="070707"/>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400" b="0" i="1" smtClean="0">
                        <a:solidFill>
                          <a:srgbClr val="070707"/>
                        </a:solidFill>
                        <a:latin typeface="Cambria Math" panose="02040503050406030204" pitchFamily="18" charset="0"/>
                        <a:ea typeface="微软雅黑" panose="020B0503020204020204" pitchFamily="34" charset="-122"/>
                      </a:rPr>
                      <m:t>𝑤𝑥</m:t>
                    </m:r>
                    <m:r>
                      <a:rPr lang="en-US" altLang="zh-CN" sz="2400" b="0" i="1" smtClean="0">
                        <a:solidFill>
                          <a:srgbClr val="070707"/>
                        </a:solidFill>
                        <a:latin typeface="Cambria Math" panose="02040503050406030204" pitchFamily="18" charset="0"/>
                        <a:ea typeface="微软雅黑" panose="020B0503020204020204" pitchFamily="34" charset="-122"/>
                      </a:rPr>
                      <m:t>+</m:t>
                    </m:r>
                    <m:r>
                      <a:rPr lang="en-US" altLang="zh-CN" sz="2400" b="0" i="1" smtClean="0">
                        <a:solidFill>
                          <a:srgbClr val="070707"/>
                        </a:solidFill>
                        <a:latin typeface="Cambria Math" panose="02040503050406030204" pitchFamily="18" charset="0"/>
                        <a:ea typeface="微软雅黑" panose="020B0503020204020204" pitchFamily="34" charset="-122"/>
                      </a:rPr>
                      <m:t>𝑏</m:t>
                    </m:r>
                    <m:r>
                      <a:rPr lang="en-US" altLang="zh-CN" sz="2400" b="0" i="1" smtClean="0">
                        <a:solidFill>
                          <a:srgbClr val="070707"/>
                        </a:solidFill>
                        <a:latin typeface="Cambria Math" panose="02040503050406030204" pitchFamily="18" charset="0"/>
                        <a:ea typeface="微软雅黑" panose="020B0503020204020204" pitchFamily="34" charset="-122"/>
                      </a:rPr>
                      <m:t>≔</m:t>
                    </m:r>
                    <m:sSub>
                      <m:sSubPr>
                        <m:ctrlPr>
                          <a:rPr lang="en-US" altLang="zh-CN" sz="2400" b="0" i="1" smtClean="0">
                            <a:solidFill>
                              <a:srgbClr val="070707"/>
                            </a:solidFill>
                            <a:latin typeface="Cambria Math" panose="02040503050406030204" pitchFamily="18" charset="0"/>
                            <a:ea typeface="微软雅黑" panose="020B0503020204020204" pitchFamily="34" charset="-122"/>
                          </a:rPr>
                        </m:ctrlPr>
                      </m:sSubPr>
                      <m:e>
                        <m:r>
                          <a:rPr lang="en-US" altLang="zh-CN" sz="2400" b="0" i="1" smtClean="0">
                            <a:solidFill>
                              <a:srgbClr val="070707"/>
                            </a:solidFill>
                            <a:latin typeface="Cambria Math" panose="02040503050406030204" pitchFamily="18" charset="0"/>
                            <a:ea typeface="微软雅黑" panose="020B0503020204020204" pitchFamily="34" charset="-122"/>
                          </a:rPr>
                          <m:t>𝑥</m:t>
                        </m:r>
                      </m:e>
                      <m:sub>
                        <m:r>
                          <a:rPr lang="en-US" altLang="zh-CN" sz="2400" b="0" i="1" smtClean="0">
                            <a:solidFill>
                              <a:srgbClr val="070707"/>
                            </a:solidFill>
                            <a:latin typeface="Cambria Math" panose="02040503050406030204" pitchFamily="18" charset="0"/>
                            <a:ea typeface="微软雅黑" panose="020B0503020204020204" pitchFamily="34" charset="-122"/>
                          </a:rPr>
                          <m:t>1</m:t>
                        </m:r>
                      </m:sub>
                    </m:sSub>
                    <m:r>
                      <a:rPr lang="en-US" altLang="zh-CN" sz="2400" b="0" i="1" smtClean="0">
                        <a:solidFill>
                          <a:srgbClr val="070707"/>
                        </a:solidFill>
                        <a:latin typeface="Cambria Math" panose="02040503050406030204" pitchFamily="18" charset="0"/>
                        <a:ea typeface="微软雅黑" panose="020B0503020204020204" pitchFamily="34" charset="-122"/>
                      </a:rPr>
                      <m:t>+</m:t>
                    </m:r>
                    <m:sSub>
                      <m:sSubPr>
                        <m:ctrlPr>
                          <a:rPr lang="en-US" altLang="zh-CN" sz="2400" b="0" i="1" smtClean="0">
                            <a:solidFill>
                              <a:srgbClr val="070707"/>
                            </a:solidFill>
                            <a:latin typeface="Cambria Math" panose="02040503050406030204" pitchFamily="18" charset="0"/>
                            <a:ea typeface="微软雅黑" panose="020B0503020204020204" pitchFamily="34" charset="-122"/>
                          </a:rPr>
                        </m:ctrlPr>
                      </m:sSubPr>
                      <m:e>
                        <m:r>
                          <a:rPr lang="en-US" altLang="zh-CN" sz="2400" b="0" i="1" smtClean="0">
                            <a:solidFill>
                              <a:srgbClr val="070707"/>
                            </a:solidFill>
                            <a:latin typeface="Cambria Math" panose="02040503050406030204" pitchFamily="18" charset="0"/>
                            <a:ea typeface="微软雅黑" panose="020B0503020204020204" pitchFamily="34" charset="-122"/>
                          </a:rPr>
                          <m:t>𝑥</m:t>
                        </m:r>
                      </m:e>
                      <m:sub>
                        <m:r>
                          <a:rPr lang="en-US" altLang="zh-CN" sz="2400" b="0" i="1" smtClean="0">
                            <a:solidFill>
                              <a:srgbClr val="070707"/>
                            </a:solidFill>
                            <a:latin typeface="Cambria Math" panose="02040503050406030204" pitchFamily="18" charset="0"/>
                            <a:ea typeface="微软雅黑" panose="020B0503020204020204" pitchFamily="34" charset="-122"/>
                          </a:rPr>
                          <m:t>2</m:t>
                        </m:r>
                      </m:sub>
                    </m:sSub>
                  </m:oMath>
                </a14:m>
                <a:r>
                  <a:rPr lang="en-US" altLang="zh-CN" sz="2400" dirty="0">
                    <a:solidFill>
                      <a:srgbClr val="070707"/>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400" i="1" dirty="0" smtClean="0">
                        <a:solidFill>
                          <a:srgbClr val="070707"/>
                        </a:solidFill>
                        <a:latin typeface="Cambria Math" panose="02040503050406030204" pitchFamily="18" charset="0"/>
                        <a:ea typeface="微软雅黑" panose="020B0503020204020204" pitchFamily="34" charset="-122"/>
                      </a:rPr>
                      <m:t>𝑇</m:t>
                    </m:r>
                    <m:r>
                      <a:rPr lang="en-US" altLang="zh-CN" sz="2400" i="1" dirty="0" smtClean="0">
                        <a:solidFill>
                          <a:srgbClr val="070707"/>
                        </a:solidFill>
                        <a:latin typeface="Cambria Math" panose="02040503050406030204" pitchFamily="18" charset="0"/>
                        <a:ea typeface="微软雅黑" panose="020B0503020204020204" pitchFamily="34" charset="-122"/>
                      </a:rPr>
                      <m:t>=2</m:t>
                    </m:r>
                  </m:oMath>
                </a14:m>
                <a:r>
                  <a:rPr lang="en-US" altLang="zh-CN" sz="2400" dirty="0">
                    <a:solidFill>
                      <a:srgbClr val="070707"/>
                    </a:solidFill>
                    <a:latin typeface="微软雅黑" panose="020B0503020204020204" pitchFamily="34" charset="-122"/>
                    <a:ea typeface="微软雅黑" panose="020B0503020204020204" pitchFamily="34" charset="-122"/>
                  </a:rPr>
                  <a:t>, </a:t>
                </a:r>
              </a:p>
              <a:p>
                <a:pPr indent="0" fontAlgn="auto">
                  <a:lnSpc>
                    <a:spcPct val="150000"/>
                  </a:lnSpc>
                </a:pPr>
                <a:r>
                  <a:rPr lang="en-US" altLang="zh-CN" sz="2400" b="1" dirty="0">
                    <a:latin typeface="微软雅黑" panose="020B0503020204020204" pitchFamily="34" charset="-122"/>
                    <a:ea typeface="微软雅黑" panose="020B0503020204020204" pitchFamily="34" charset="-122"/>
                  </a:rPr>
                  <a:t>OR</a:t>
                </a:r>
                <a:r>
                  <a:rPr lang="en-US" altLang="zh-CN" sz="2400" dirty="0">
                    <a:solidFill>
                      <a:srgbClr val="070707"/>
                    </a:solidFill>
                    <a:latin typeface="微软雅黑" panose="020B0503020204020204" pitchFamily="34" charset="-122"/>
                    <a:ea typeface="微软雅黑" panose="020B0503020204020204" pitchFamily="34" charset="-122"/>
                  </a:rPr>
                  <a:t>   : </a:t>
                </a:r>
                <a14:m>
                  <m:oMath xmlns:m="http://schemas.openxmlformats.org/officeDocument/2006/math">
                    <m:sSub>
                      <m:sSubPr>
                        <m:ctrlPr>
                          <a:rPr lang="en-US" altLang="zh-CN" sz="2400" b="0" i="1" smtClean="0">
                            <a:solidFill>
                              <a:srgbClr val="070707"/>
                            </a:solidFill>
                            <a:latin typeface="Cambria Math" panose="02040503050406030204" pitchFamily="18" charset="0"/>
                            <a:ea typeface="微软雅黑" panose="020B0503020204020204" pitchFamily="34" charset="-122"/>
                          </a:rPr>
                        </m:ctrlPr>
                      </m:sSubPr>
                      <m:e>
                        <m:r>
                          <a:rPr lang="en-US" altLang="zh-CN" sz="2400" b="0" i="1" smtClean="0">
                            <a:solidFill>
                              <a:srgbClr val="070707"/>
                            </a:solidFill>
                            <a:latin typeface="Cambria Math" panose="02040503050406030204" pitchFamily="18" charset="0"/>
                            <a:ea typeface="微软雅黑" panose="020B0503020204020204" pitchFamily="34" charset="-122"/>
                          </a:rPr>
                          <m:t>𝑥</m:t>
                        </m:r>
                      </m:e>
                      <m:sub>
                        <m:r>
                          <a:rPr lang="en-US" altLang="zh-CN" sz="2400" b="0" i="1" smtClean="0">
                            <a:solidFill>
                              <a:srgbClr val="070707"/>
                            </a:solidFill>
                            <a:latin typeface="Cambria Math" panose="02040503050406030204" pitchFamily="18" charset="0"/>
                            <a:ea typeface="微软雅黑" panose="020B0503020204020204" pitchFamily="34" charset="-122"/>
                          </a:rPr>
                          <m:t>1</m:t>
                        </m:r>
                      </m:sub>
                    </m:sSub>
                    <m:r>
                      <a:rPr lang="en-US" altLang="zh-CN" sz="2400" b="0" i="1" smtClean="0">
                        <a:solidFill>
                          <a:srgbClr val="070707"/>
                        </a:solidFill>
                        <a:latin typeface="Cambria Math" panose="02040503050406030204" pitchFamily="18" charset="0"/>
                        <a:ea typeface="微软雅黑" panose="020B0503020204020204" pitchFamily="34" charset="-122"/>
                      </a:rPr>
                      <m:t>+</m:t>
                    </m:r>
                    <m:sSub>
                      <m:sSubPr>
                        <m:ctrlPr>
                          <a:rPr lang="en-US" altLang="zh-CN" sz="2400" b="0" i="1" smtClean="0">
                            <a:solidFill>
                              <a:srgbClr val="070707"/>
                            </a:solidFill>
                            <a:latin typeface="Cambria Math" panose="02040503050406030204" pitchFamily="18" charset="0"/>
                            <a:ea typeface="微软雅黑" panose="020B0503020204020204" pitchFamily="34" charset="-122"/>
                          </a:rPr>
                        </m:ctrlPr>
                      </m:sSubPr>
                      <m:e>
                        <m:r>
                          <a:rPr lang="en-US" altLang="zh-CN" sz="2400" b="0" i="1" smtClean="0">
                            <a:solidFill>
                              <a:srgbClr val="070707"/>
                            </a:solidFill>
                            <a:latin typeface="Cambria Math" panose="02040503050406030204" pitchFamily="18" charset="0"/>
                            <a:ea typeface="微软雅黑" panose="020B0503020204020204" pitchFamily="34" charset="-122"/>
                          </a:rPr>
                          <m:t>𝑥</m:t>
                        </m:r>
                      </m:e>
                      <m:sub>
                        <m:r>
                          <a:rPr lang="en-US" altLang="zh-CN" sz="2400" b="0" i="1" smtClean="0">
                            <a:solidFill>
                              <a:srgbClr val="070707"/>
                            </a:solidFill>
                            <a:latin typeface="Cambria Math" panose="02040503050406030204" pitchFamily="18" charset="0"/>
                            <a:ea typeface="微软雅黑" panose="020B0503020204020204" pitchFamily="34" charset="-122"/>
                          </a:rPr>
                          <m:t>2</m:t>
                        </m:r>
                      </m:sub>
                    </m:sSub>
                  </m:oMath>
                </a14:m>
                <a:r>
                  <a:rPr lang="en-US" altLang="zh-CN" sz="2400" dirty="0">
                    <a:solidFill>
                      <a:srgbClr val="070707"/>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400" i="1" dirty="0" smtClean="0">
                        <a:solidFill>
                          <a:srgbClr val="070707"/>
                        </a:solidFill>
                        <a:latin typeface="Cambria Math" panose="02040503050406030204" pitchFamily="18" charset="0"/>
                        <a:ea typeface="微软雅黑" panose="020B0503020204020204" pitchFamily="34" charset="-122"/>
                      </a:rPr>
                      <m:t>𝑇</m:t>
                    </m:r>
                    <m:r>
                      <a:rPr lang="en-US" altLang="zh-CN" sz="2400" i="1" dirty="0" smtClean="0">
                        <a:solidFill>
                          <a:srgbClr val="070707"/>
                        </a:solidFill>
                        <a:latin typeface="Cambria Math" panose="02040503050406030204" pitchFamily="18" charset="0"/>
                        <a:ea typeface="微软雅黑" panose="020B0503020204020204" pitchFamily="34" charset="-122"/>
                      </a:rPr>
                      <m:t>=1</m:t>
                    </m:r>
                  </m:oMath>
                </a14:m>
                <a:endParaRPr lang="en-US" altLang="zh-CN" sz="2400" dirty="0">
                  <a:solidFill>
                    <a:srgbClr val="070707"/>
                  </a:solidFill>
                  <a:latin typeface="微软雅黑" panose="020B0503020204020204" pitchFamily="34" charset="-122"/>
                  <a:ea typeface="微软雅黑" panose="020B0503020204020204" pitchFamily="34" charset="-122"/>
                </a:endParaRPr>
              </a:p>
              <a:p>
                <a:pPr indent="0" fontAlgn="auto">
                  <a:lnSpc>
                    <a:spcPct val="150000"/>
                  </a:lnSpc>
                </a:pPr>
                <a:r>
                  <a:rPr lang="zh-CN" altLang="en-US" sz="2400" b="1" dirty="0">
                    <a:solidFill>
                      <a:schemeClr val="tx2"/>
                    </a:solidFill>
                    <a:latin typeface="微软雅黑" panose="020B0503020204020204" pitchFamily="34" charset="-122"/>
                    <a:ea typeface="微软雅黑" panose="020B0503020204020204" pitchFamily="34" charset="-122"/>
                  </a:rPr>
                  <a:t>逻辑运算，一维输入</a:t>
                </a:r>
                <a14:m>
                  <m:oMath xmlns:m="http://schemas.openxmlformats.org/officeDocument/2006/math">
                    <m:d>
                      <m:dPr>
                        <m:begChr m:val="{"/>
                        <m:endChr m:val="}"/>
                        <m:ctrlPr>
                          <a:rPr lang="en-US" altLang="zh-CN" sz="2400" i="1">
                            <a:solidFill>
                              <a:srgbClr val="070707"/>
                            </a:solidFill>
                            <a:latin typeface="Cambria Math" panose="02040503050406030204" pitchFamily="18" charset="0"/>
                            <a:ea typeface="微软雅黑" panose="020B0503020204020204" pitchFamily="34" charset="-122"/>
                          </a:rPr>
                        </m:ctrlPr>
                      </m:dPr>
                      <m:e>
                        <m:r>
                          <a:rPr lang="en-US" altLang="zh-CN" sz="2400" i="1">
                            <a:solidFill>
                              <a:srgbClr val="070707"/>
                            </a:solidFill>
                            <a:latin typeface="Cambria Math" panose="02040503050406030204" pitchFamily="18" charset="0"/>
                            <a:ea typeface="微软雅黑" panose="020B0503020204020204" pitchFamily="34" charset="-122"/>
                          </a:rPr>
                          <m:t>0,1</m:t>
                        </m:r>
                      </m:e>
                    </m:d>
                  </m:oMath>
                </a14:m>
                <a:endParaRPr lang="en-US" altLang="zh-CN" sz="2400" dirty="0">
                  <a:solidFill>
                    <a:srgbClr val="070707"/>
                  </a:solidFill>
                  <a:latin typeface="微软雅黑" panose="020B0503020204020204" pitchFamily="34" charset="-122"/>
                  <a:ea typeface="微软雅黑" panose="020B0503020204020204" pitchFamily="34" charset="-122"/>
                </a:endParaRPr>
              </a:p>
              <a:p>
                <a:pPr indent="0" fontAlgn="auto">
                  <a:lnSpc>
                    <a:spcPct val="150000"/>
                  </a:lnSpc>
                </a:pPr>
                <a:r>
                  <a:rPr lang="en-US" altLang="zh-CN" sz="2400" b="1" dirty="0">
                    <a:latin typeface="微软雅黑" panose="020B0503020204020204" pitchFamily="34" charset="-122"/>
                    <a:ea typeface="微软雅黑" panose="020B0503020204020204" pitchFamily="34" charset="-122"/>
                  </a:rPr>
                  <a:t>NOT</a:t>
                </a:r>
                <a:r>
                  <a:rPr lang="en-US" altLang="zh-CN" sz="2400" dirty="0">
                    <a:solidFill>
                      <a:srgbClr val="070707"/>
                    </a:solidFill>
                    <a:latin typeface="微软雅黑" panose="020B0503020204020204" pitchFamily="34" charset="-122"/>
                    <a:ea typeface="微软雅黑" panose="020B0503020204020204" pitchFamily="34" charset="-122"/>
                  </a:rPr>
                  <a:t> : </a:t>
                </a:r>
                <a14:m>
                  <m:oMath xmlns:m="http://schemas.openxmlformats.org/officeDocument/2006/math">
                    <m:r>
                      <a:rPr lang="en-US" altLang="zh-CN" sz="2400" i="1" dirty="0" smtClean="0">
                        <a:solidFill>
                          <a:srgbClr val="070707"/>
                        </a:solidFill>
                        <a:latin typeface="Cambria Math" panose="02040503050406030204" pitchFamily="18" charset="0"/>
                        <a:ea typeface="微软雅黑" panose="020B0503020204020204" pitchFamily="34" charset="-122"/>
                      </a:rPr>
                      <m:t>−</m:t>
                    </m:r>
                    <m:r>
                      <a:rPr lang="en-US" altLang="zh-CN" sz="2400" i="1" dirty="0" smtClean="0">
                        <a:solidFill>
                          <a:srgbClr val="070707"/>
                        </a:solidFill>
                        <a:latin typeface="Cambria Math" panose="02040503050406030204" pitchFamily="18" charset="0"/>
                        <a:ea typeface="微软雅黑" panose="020B0503020204020204" pitchFamily="34" charset="-122"/>
                      </a:rPr>
                      <m:t>𝑥</m:t>
                    </m:r>
                    <m:r>
                      <a:rPr lang="en-US" altLang="zh-CN" sz="2400" i="1" dirty="0" smtClean="0">
                        <a:solidFill>
                          <a:srgbClr val="070707"/>
                        </a:solidFill>
                        <a:latin typeface="Cambria Math" panose="02040503050406030204" pitchFamily="18" charset="0"/>
                        <a:ea typeface="微软雅黑" panose="020B0503020204020204" pitchFamily="34" charset="-122"/>
                      </a:rPr>
                      <m:t>+1</m:t>
                    </m:r>
                  </m:oMath>
                </a14:m>
                <a:r>
                  <a:rPr lang="en-US" altLang="zh-CN" sz="2400" dirty="0">
                    <a:solidFill>
                      <a:srgbClr val="070707"/>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2400" i="1" dirty="0" smtClean="0">
                        <a:solidFill>
                          <a:srgbClr val="070707"/>
                        </a:solidFill>
                        <a:latin typeface="Cambria Math" panose="02040503050406030204" pitchFamily="18" charset="0"/>
                        <a:ea typeface="微软雅黑" panose="020B0503020204020204" pitchFamily="34" charset="-122"/>
                      </a:rPr>
                      <m:t>𝑇</m:t>
                    </m:r>
                    <m:r>
                      <a:rPr lang="en-US" altLang="zh-CN" sz="2400" i="1" dirty="0" smtClean="0">
                        <a:solidFill>
                          <a:srgbClr val="070707"/>
                        </a:solidFill>
                        <a:latin typeface="Cambria Math" panose="02040503050406030204" pitchFamily="18" charset="0"/>
                        <a:ea typeface="微软雅黑" panose="020B0503020204020204" pitchFamily="34" charset="-122"/>
                      </a:rPr>
                      <m:t>=1</m:t>
                    </m:r>
                  </m:oMath>
                </a14:m>
                <a:endParaRPr lang="en-US" altLang="zh-CN" sz="2400" dirty="0">
                  <a:solidFill>
                    <a:srgbClr val="070707"/>
                  </a:solidFill>
                  <a:latin typeface="微软雅黑" panose="020B0503020204020204" pitchFamily="34" charset="-122"/>
                  <a:ea typeface="微软雅黑" panose="020B0503020204020204" pitchFamily="34" charset="-122"/>
                </a:endParaRPr>
              </a:p>
            </p:txBody>
          </p:sp>
        </mc:Choice>
        <mc:Fallback xmlns="">
          <p:sp>
            <p:nvSpPr>
              <p:cNvPr id="18" name="文本框 4"/>
              <p:cNvSpPr txBox="1">
                <a:spLocks noRot="1" noChangeAspect="1" noMove="1" noResize="1" noEditPoints="1" noAdjustHandles="1" noChangeArrowheads="1" noChangeShapeType="1" noTextEdit="1"/>
              </p:cNvSpPr>
              <p:nvPr/>
            </p:nvSpPr>
            <p:spPr>
              <a:xfrm>
                <a:off x="6423371" y="1619582"/>
                <a:ext cx="5637999" cy="2797048"/>
              </a:xfrm>
              <a:prstGeom prst="rect">
                <a:avLst/>
              </a:prstGeom>
              <a:blipFill rotWithShape="1">
                <a:blip r:embed="rId6"/>
                <a:stretch>
                  <a:fillRect l="-6" t="-12" r="3" b="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5"/>
              <p:cNvSpPr txBox="1"/>
              <p:nvPr/>
            </p:nvSpPr>
            <p:spPr>
              <a:xfrm>
                <a:off x="2841625" y="2842260"/>
                <a:ext cx="3011170" cy="74739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14:m>
                  <m:oMathPara xmlns:m="http://schemas.openxmlformats.org/officeDocument/2006/math">
                    <m:oMath>
                      <m: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𝑦</m:t>
                      </m:r>
                      <m:r>
                        <a:rPr lang="en-US" altLang="zh-CN" sz="2400" b="0" i="1" smtClean="0">
                          <a:solidFill>
                            <a:srgbClr val="070707"/>
                          </a:solidFill>
                          <a:latin typeface="Cambria Math" panose="02040503050406030204" pitchFamily="18" charset="0"/>
                          <a:ea typeface="MS Mincho" charset="0"/>
                          <a:cs typeface="Cambria Math" panose="02040503050406030204" pitchFamily="18" charset="0"/>
                        </a:rPr>
                        <m:t>=</m:t>
                      </m:r>
                      <m:d>
                        <m:dPr>
                          <m:begChr m:val="{"/>
                          <m:endChr m:val=""/>
                          <m:ctrlP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ctrlPr>
                        </m:dPr>
                        <m:e>
                          <m:eqArr>
                            <m:eqArrPr>
                              <m:ctrlP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ctrlPr>
                            </m:eqArrPr>
                            <m:e>
                              <m:r>
                                <a:rPr lang="en-US" altLang="zh-CN" sz="2400" b="0" i="1" smtClean="0">
                                  <a:solidFill>
                                    <a:srgbClr val="070707"/>
                                  </a:solidFill>
                                  <a:latin typeface="Cambria Math" panose="02040503050406030204" pitchFamily="18" charset="0"/>
                                  <a:ea typeface="MS Mincho" charset="0"/>
                                  <a:cs typeface="Cambria Math" panose="02040503050406030204" pitchFamily="18" charset="0"/>
                                </a:rPr>
                                <m:t>1, </m:t>
                              </m:r>
                              <m: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𝑤𝑥</m:t>
                              </m:r>
                              <m:r>
                                <a:rPr lang="en-US" altLang="zh-CN" sz="2400" b="0" i="1" smtClean="0">
                                  <a:solidFill>
                                    <a:srgbClr val="070707"/>
                                  </a:solidFill>
                                  <a:latin typeface="Cambria Math" panose="02040503050406030204" pitchFamily="18" charset="0"/>
                                  <a:ea typeface="MS Mincho" charset="0"/>
                                  <a:cs typeface="Cambria Math" panose="02040503050406030204" pitchFamily="18" charset="0"/>
                                </a:rPr>
                                <m:t>+</m:t>
                              </m:r>
                              <m: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𝑏</m:t>
                              </m:r>
                              <m:r>
                                <a:rPr lang="en-US" altLang="zh-CN" sz="2400" b="0" i="1" smtClean="0">
                                  <a:solidFill>
                                    <a:srgbClr val="070707"/>
                                  </a:solidFill>
                                  <a:latin typeface="Cambria Math" panose="02040503050406030204" pitchFamily="18" charset="0"/>
                                  <a:ea typeface="MS Mincho" charset="0"/>
                                  <a:cs typeface="Cambria Math" panose="02040503050406030204" pitchFamily="18" charset="0"/>
                                </a:rPr>
                                <m:t>≥</m:t>
                              </m:r>
                              <m: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𝑇</m:t>
                              </m:r>
                            </m:e>
                            <m:e>
                              <m:r>
                                <a:rPr lang="en-US" altLang="zh-CN" sz="2400" b="0" i="1" smtClean="0">
                                  <a:solidFill>
                                    <a:srgbClr val="070707"/>
                                  </a:solidFill>
                                  <a:latin typeface="Cambria Math" panose="02040503050406030204" pitchFamily="18" charset="0"/>
                                  <a:ea typeface="MS Mincho" charset="0"/>
                                  <a:cs typeface="Cambria Math" panose="02040503050406030204" pitchFamily="18" charset="0"/>
                                </a:rPr>
                                <m:t>0,</m:t>
                              </m:r>
                              <m:r>
                                <a:rPr lang="en-US" altLang="zh-CN" sz="2400" i="1">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𝑤𝑥</m:t>
                              </m:r>
                              <m:r>
                                <a:rPr lang="en-US" altLang="zh-CN" sz="2400" i="1">
                                  <a:solidFill>
                                    <a:srgbClr val="070707"/>
                                  </a:solidFill>
                                  <a:latin typeface="Cambria Math" panose="02040503050406030204" pitchFamily="18" charset="0"/>
                                  <a:ea typeface="MS Mincho" charset="0"/>
                                  <a:cs typeface="Cambria Math" panose="02040503050406030204" pitchFamily="18" charset="0"/>
                                </a:rPr>
                                <m:t>+</m:t>
                              </m:r>
                              <m:r>
                                <a:rPr lang="en-US" altLang="zh-CN" sz="2400" i="1">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𝑏</m:t>
                              </m:r>
                              <m:r>
                                <a:rPr lang="en-US" altLang="zh-CN" sz="2400" b="0" i="1" smtClean="0">
                                  <a:solidFill>
                                    <a:srgbClr val="070707"/>
                                  </a:solidFill>
                                  <a:latin typeface="Cambria Math" panose="02040503050406030204" pitchFamily="18" charset="0"/>
                                  <a:ea typeface="MS Mincho" charset="0"/>
                                  <a:cs typeface="Cambria Math" panose="02040503050406030204" pitchFamily="18" charset="0"/>
                                </a:rPr>
                                <m:t>&lt;</m:t>
                              </m:r>
                              <m: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𝑇</m:t>
                              </m:r>
                            </m:e>
                          </m:eqArr>
                        </m:e>
                      </m:d>
                    </m:oMath>
                  </m:oMathPara>
                </a14:m>
                <a:endParaRPr lang="en-US" altLang="zh-CN" sz="2400" b="0" i="1" dirty="0">
                  <a:solidFill>
                    <a:srgbClr val="070707"/>
                  </a:solidFill>
                  <a:latin typeface="Cambria Math" panose="02040503050406030204" pitchFamily="18" charset="0"/>
                  <a:ea typeface="微软雅黑" panose="020B0503020204020204" pitchFamily="34" charset="-122"/>
                  <a:cs typeface="Cambria Math" panose="02040503050406030204" pitchFamily="18" charset="0"/>
                </a:endParaRPr>
              </a:p>
            </p:txBody>
          </p:sp>
        </mc:Choice>
        <mc:Fallback xmlns="">
          <p:sp>
            <p:nvSpPr>
              <p:cNvPr id="19" name="文本框 5"/>
              <p:cNvSpPr txBox="1">
                <a:spLocks noRot="1" noChangeAspect="1" noMove="1" noResize="1" noEditPoints="1" noAdjustHandles="1" noChangeArrowheads="1" noChangeShapeType="1" noTextEdit="1"/>
              </p:cNvSpPr>
              <p:nvPr/>
            </p:nvSpPr>
            <p:spPr>
              <a:xfrm>
                <a:off x="2841625" y="2842260"/>
                <a:ext cx="3011170" cy="747395"/>
              </a:xfrm>
              <a:prstGeom prst="rect">
                <a:avLst/>
              </a:prstGeom>
              <a:blipFill rotWithShape="1">
                <a:blip r:embed="rId7"/>
                <a:stretch>
                  <a:fillRect/>
                </a:stretch>
              </a:blipFill>
            </p:spPr>
            <p:txBody>
              <a:bodyPr/>
              <a:lstStyle/>
              <a:p>
                <a:r>
                  <a:rPr lang="zh-CN" altLang="en-US">
                    <a:noFill/>
                  </a:rPr>
                  <a:t> </a:t>
                </a:r>
              </a:p>
            </p:txBody>
          </p:sp>
        </mc:Fallback>
      </mc:AlternateContent>
      <p:sp>
        <p:nvSpPr>
          <p:cNvPr id="21" name="文本框 20"/>
          <p:cNvSpPr txBox="1"/>
          <p:nvPr/>
        </p:nvSpPr>
        <p:spPr>
          <a:xfrm>
            <a:off x="381242" y="5434136"/>
            <a:ext cx="6096964" cy="461665"/>
          </a:xfrm>
          <a:prstGeom prst="rect">
            <a:avLst/>
          </a:prstGeom>
          <a:noFill/>
        </p:spPr>
        <p:txBody>
          <a:bodyPr wrap="square">
            <a:spAutoFit/>
          </a:bodyPr>
          <a:lstStyle/>
          <a:p>
            <a:pPr algn="l">
              <a:spcBef>
                <a:spcPts val="600"/>
              </a:spcBef>
            </a:pPr>
            <a:r>
              <a:rPr lang="zh-CN" altLang="en-US" sz="2400" b="1" i="0" dirty="0">
                <a:effectLst/>
                <a:latin typeface="微软雅黑" panose="020B0503020204020204" pitchFamily="34" charset="-122"/>
                <a:ea typeface="微软雅黑" panose="020B0503020204020204" pitchFamily="34" charset="-122"/>
              </a:rPr>
              <a:t>重要意义：开启人工神经网络模型的先河</a:t>
            </a:r>
          </a:p>
        </p:txBody>
      </p:sp>
      <p:sp>
        <p:nvSpPr>
          <p:cNvPr id="2" name="文本框 1"/>
          <p:cNvSpPr txBox="1"/>
          <p:nvPr/>
        </p:nvSpPr>
        <p:spPr>
          <a:xfrm>
            <a:off x="6423371" y="4459956"/>
            <a:ext cx="5387388" cy="1753235"/>
          </a:xfrm>
          <a:prstGeom prst="rect">
            <a:avLst/>
          </a:prstGeom>
          <a:noFill/>
        </p:spPr>
        <p:txBody>
          <a:bodyPr wrap="square">
            <a:spAutoFit/>
          </a:bodyPr>
          <a:lstStyle/>
          <a:p>
            <a:pPr indent="0" algn="l" fontAlgn="auto">
              <a:lnSpc>
                <a:spcPct val="150000"/>
              </a:lnSpc>
              <a:spcBef>
                <a:spcPts val="600"/>
              </a:spcBef>
            </a:pPr>
            <a:r>
              <a:rPr lang="zh-CN" altLang="en-US" sz="2400" b="1" dirty="0">
                <a:solidFill>
                  <a:schemeClr val="tx2"/>
                </a:solidFill>
                <a:latin typeface="微软雅黑" panose="020B0503020204020204" pitchFamily="34" charset="-122"/>
                <a:ea typeface="微软雅黑" panose="020B0503020204020204" pitchFamily="34" charset="-122"/>
              </a:rPr>
              <a:t>简单的激活操作可以执行多种逻辑运算，给人很大的信心</a:t>
            </a:r>
            <a:r>
              <a:rPr lang="en-US" altLang="zh-CN" sz="2400" b="1" dirty="0">
                <a:solidFill>
                  <a:schemeClr val="tx2"/>
                </a:solidFill>
                <a:latin typeface="微软雅黑" panose="020B0503020204020204" pitchFamily="34" charset="-122"/>
                <a:ea typeface="微软雅黑" panose="020B0503020204020204" pitchFamily="34" charset="-122"/>
              </a:rPr>
              <a:t>---</a:t>
            </a:r>
            <a:r>
              <a:rPr lang="zh-CN" altLang="en-US" sz="2400" b="1" dirty="0">
                <a:solidFill>
                  <a:schemeClr val="tx2"/>
                </a:solidFill>
                <a:latin typeface="微软雅黑" panose="020B0503020204020204" pitchFamily="34" charset="-122"/>
                <a:ea typeface="微软雅黑" panose="020B0503020204020204" pitchFamily="34" charset="-122"/>
              </a:rPr>
              <a:t>其组成的网络可以像计算机一样执行非常复杂的任务</a:t>
            </a:r>
            <a:endParaRPr lang="zh-CN" altLang="en-US" sz="2400" b="1" i="0" dirty="0">
              <a:solidFill>
                <a:schemeClr val="tx2"/>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81242" y="0"/>
            <a:ext cx="6798491" cy="761979"/>
          </a:xfrm>
        </p:spPr>
        <p:txBody>
          <a:bodyPr/>
          <a:lstStyle/>
          <a:p>
            <a:r>
              <a:rPr lang="zh-CN" altLang="en-US"/>
              <a:t>人工智能的提出（</a:t>
            </a:r>
            <a:r>
              <a:rPr lang="en-US" altLang="zh-CN"/>
              <a:t>1956</a:t>
            </a:r>
            <a:r>
              <a:rPr lang="zh-CN" altLang="en-US"/>
              <a:t>年）</a:t>
            </a:r>
            <a:endParaRPr lang="zh-CN" altLang="en-US" dirty="0"/>
          </a:p>
        </p:txBody>
      </p:sp>
      <p:sp>
        <p:nvSpPr>
          <p:cNvPr id="5" name="文本框 4"/>
          <p:cNvSpPr txBox="1"/>
          <p:nvPr/>
        </p:nvSpPr>
        <p:spPr>
          <a:xfrm>
            <a:off x="277201" y="1022452"/>
            <a:ext cx="11357566" cy="1422954"/>
          </a:xfrm>
          <a:prstGeom prst="rect">
            <a:avLst/>
          </a:prstGeom>
          <a:noFill/>
        </p:spPr>
        <p:txBody>
          <a:bodyPr wrap="square">
            <a:spAutoFit/>
          </a:bodyPr>
          <a:lstStyle>
            <a:defPPr>
              <a:defRPr lang="zh-CN"/>
            </a:defPPr>
            <a:lvl1pPr algn="ctr">
              <a:defRPr sz="2400">
                <a:solidFill>
                  <a:srgbClr val="070707"/>
                </a:solidFill>
                <a:latin typeface="微软雅黑" panose="020B0503020204020204" pitchFamily="34" charset="-122"/>
                <a:ea typeface="微软雅黑" panose="020B0503020204020204" pitchFamily="34" charset="-122"/>
              </a:defRPr>
            </a:lvl1pPr>
          </a:lstStyle>
          <a:p>
            <a:pPr algn="l">
              <a:lnSpc>
                <a:spcPct val="150000"/>
              </a:lnSpc>
            </a:pPr>
            <a:r>
              <a:rPr lang="en-US" altLang="zh-CN" sz="2000"/>
              <a:t>1956</a:t>
            </a:r>
            <a:r>
              <a:rPr lang="zh-CN" altLang="en-US" sz="2000"/>
              <a:t>年达特茅斯会议：由马文</a:t>
            </a:r>
            <a:r>
              <a:rPr lang="en-US" altLang="zh-CN" sz="2000"/>
              <a:t>·</a:t>
            </a:r>
            <a:r>
              <a:rPr lang="zh-CN" altLang="en-US" sz="2000"/>
              <a:t>明斯基、约翰</a:t>
            </a:r>
            <a:r>
              <a:rPr lang="en-US" altLang="zh-CN" sz="2000"/>
              <a:t>·</a:t>
            </a:r>
            <a:r>
              <a:rPr lang="zh-CN" altLang="en-US" sz="2000"/>
              <a:t>麦卡锡、</a:t>
            </a:r>
            <a:r>
              <a:rPr lang="zh-CN" altLang="en-US" sz="2000" b="0" i="0">
                <a:effectLst/>
                <a:latin typeface="Arial" panose="020B0604020202020204" pitchFamily="34" charset="0"/>
              </a:rPr>
              <a:t>纳撒尼尔</a:t>
            </a:r>
            <a:r>
              <a:rPr lang="en-US" altLang="zh-CN" sz="2000" b="0" i="0">
                <a:effectLst/>
                <a:latin typeface="Arial" panose="020B0604020202020204" pitchFamily="34" charset="0"/>
              </a:rPr>
              <a:t>·</a:t>
            </a:r>
            <a:r>
              <a:rPr lang="zh-CN" altLang="en-US" sz="2000" b="0" i="0">
                <a:effectLst/>
                <a:latin typeface="Arial" panose="020B0604020202020204" pitchFamily="34" charset="0"/>
              </a:rPr>
              <a:t>罗切斯特</a:t>
            </a:r>
            <a:r>
              <a:rPr lang="zh-CN" altLang="en-US" sz="2000">
                <a:latin typeface="Arial" panose="020B0604020202020204" pitchFamily="34" charset="0"/>
              </a:rPr>
              <a:t>、</a:t>
            </a:r>
            <a:r>
              <a:rPr lang="zh-CN" altLang="en-US" sz="2000" b="0" i="0" u="none" strike="noStrike">
                <a:effectLst/>
                <a:latin typeface="Arial" panose="020B0604020202020204" pitchFamily="34" charset="0"/>
              </a:rPr>
              <a:t>克劳德</a:t>
            </a:r>
            <a:r>
              <a:rPr lang="en-US" altLang="zh-CN" sz="2000" b="0" i="0" u="none" strike="noStrike">
                <a:effectLst/>
                <a:latin typeface="Arial" panose="020B0604020202020204" pitchFamily="34" charset="0"/>
              </a:rPr>
              <a:t>·</a:t>
            </a:r>
            <a:r>
              <a:rPr lang="zh-CN" altLang="en-US" sz="2000" b="0" i="0" u="none" strike="noStrike">
                <a:effectLst/>
                <a:latin typeface="Arial" panose="020B0604020202020204" pitchFamily="34" charset="0"/>
              </a:rPr>
              <a:t>香农</a:t>
            </a:r>
            <a:r>
              <a:rPr lang="zh-CN" altLang="en-US" sz="2000"/>
              <a:t>组织。</a:t>
            </a:r>
            <a:endParaRPr lang="en-US" altLang="zh-CN" sz="2000"/>
          </a:p>
          <a:p>
            <a:pPr algn="l">
              <a:lnSpc>
                <a:spcPct val="150000"/>
              </a:lnSpc>
            </a:pPr>
            <a:r>
              <a:rPr lang="zh-CN" altLang="en-US" sz="2000"/>
              <a:t>会议的提案包括这一断言：“</a:t>
            </a:r>
            <a:r>
              <a:rPr lang="en-US" altLang="zh-CN" sz="2000">
                <a:solidFill>
                  <a:srgbClr val="002B7F"/>
                </a:solidFill>
              </a:rPr>
              <a:t>every aspect of learning or any other feature of intelligence can be so precisely described that a machine can be made to simulate it</a:t>
            </a:r>
            <a:r>
              <a:rPr lang="zh-CN" altLang="en-US" sz="2000"/>
              <a:t>”。</a:t>
            </a:r>
          </a:p>
        </p:txBody>
      </p:sp>
      <p:pic>
        <p:nvPicPr>
          <p:cNvPr id="2" name="图片 1"/>
          <p:cNvPicPr>
            <a:picLocks noChangeAspect="1"/>
          </p:cNvPicPr>
          <p:nvPr/>
        </p:nvPicPr>
        <p:blipFill>
          <a:blip r:embed="rId3"/>
          <a:stretch>
            <a:fillRect/>
          </a:stretch>
        </p:blipFill>
        <p:spPr>
          <a:xfrm>
            <a:off x="438699" y="2705879"/>
            <a:ext cx="5217033" cy="3280231"/>
          </a:xfrm>
          <a:prstGeom prst="rect">
            <a:avLst/>
          </a:prstGeom>
        </p:spPr>
      </p:pic>
      <p:sp>
        <p:nvSpPr>
          <p:cNvPr id="6" name="文本框 6"/>
          <p:cNvSpPr txBox="1"/>
          <p:nvPr/>
        </p:nvSpPr>
        <p:spPr>
          <a:xfrm>
            <a:off x="5955984" y="3027599"/>
            <a:ext cx="5728335" cy="280794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defTabSz="457200">
              <a:lnSpc>
                <a:spcPct val="150000"/>
              </a:lnSpc>
              <a:buFont typeface="Wingdings" panose="05000000000000000000" pitchFamily="2" charset="2"/>
              <a:buChar char="Ø"/>
            </a:pPr>
            <a:r>
              <a:rPr lang="en-US" altLang="zh-CN" sz="2000" dirty="0" err="1">
                <a:solidFill>
                  <a:prstClr val="black"/>
                </a:solidFill>
                <a:latin typeface="微软雅黑" panose="020B0503020204020204" pitchFamily="34" charset="-122"/>
                <a:ea typeface="微软雅黑" panose="020B0503020204020204" pitchFamily="34" charset="-122"/>
              </a:rPr>
              <a:t>MacCarthy</a:t>
            </a:r>
            <a:r>
              <a:rPr lang="en-US" altLang="zh-CN" sz="2000" dirty="0">
                <a:solidFill>
                  <a:prstClr val="black"/>
                </a:solidFill>
                <a:latin typeface="微软雅黑" panose="020B0503020204020204" pitchFamily="34" charset="-122"/>
                <a:ea typeface="微软雅黑" panose="020B0503020204020204" pitchFamily="34" charset="-122"/>
              </a:rPr>
              <a:t>: 1951</a:t>
            </a:r>
            <a:r>
              <a:rPr lang="zh-CN" altLang="en-US" sz="2000" dirty="0">
                <a:solidFill>
                  <a:prstClr val="black"/>
                </a:solidFill>
                <a:latin typeface="微软雅黑" panose="020B0503020204020204" pitchFamily="34" charset="-122"/>
                <a:ea typeface="微软雅黑" panose="020B0503020204020204" pitchFamily="34" charset="-122"/>
              </a:rPr>
              <a:t>年普林斯顿数学博士</a:t>
            </a:r>
            <a:endParaRPr lang="en-US" altLang="zh-CN" sz="2000" dirty="0">
              <a:solidFill>
                <a:prstClr val="black"/>
              </a:solidFill>
              <a:latin typeface="微软雅黑" panose="020B0503020204020204" pitchFamily="34" charset="-122"/>
              <a:ea typeface="微软雅黑" panose="020B0503020204020204" pitchFamily="34" charset="-122"/>
            </a:endParaRPr>
          </a:p>
          <a:p>
            <a:pPr marL="285750" indent="-285750" defTabSz="457200">
              <a:lnSpc>
                <a:spcPct val="150000"/>
              </a:lnSpc>
              <a:buFont typeface="Wingdings" panose="05000000000000000000" pitchFamily="2" charset="2"/>
              <a:buChar char="Ø"/>
            </a:pPr>
            <a:r>
              <a:rPr lang="en-US" altLang="zh-CN" sz="2000" dirty="0">
                <a:solidFill>
                  <a:prstClr val="black"/>
                </a:solidFill>
                <a:latin typeface="微软雅黑" panose="020B0503020204020204" pitchFamily="34" charset="-122"/>
                <a:ea typeface="微软雅黑" panose="020B0503020204020204" pitchFamily="34" charset="-122"/>
              </a:rPr>
              <a:t>Minsky</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1950</a:t>
            </a:r>
            <a:r>
              <a:rPr lang="zh-CN" altLang="en-US" sz="2000" dirty="0">
                <a:solidFill>
                  <a:prstClr val="black"/>
                </a:solidFill>
                <a:latin typeface="微软雅黑" panose="020B0503020204020204" pitchFamily="34" charset="-122"/>
                <a:ea typeface="微软雅黑" panose="020B0503020204020204" pitchFamily="34" charset="-122"/>
              </a:rPr>
              <a:t>年普林斯顿数学博士</a:t>
            </a:r>
            <a:endParaRPr lang="en-US" altLang="zh-CN" sz="2000" dirty="0">
              <a:solidFill>
                <a:prstClr val="black"/>
              </a:solidFill>
              <a:latin typeface="微软雅黑" panose="020B0503020204020204" pitchFamily="34" charset="-122"/>
              <a:ea typeface="微软雅黑" panose="020B0503020204020204" pitchFamily="34" charset="-122"/>
            </a:endParaRPr>
          </a:p>
          <a:p>
            <a:pPr marL="285750" indent="-285750" defTabSz="457200">
              <a:lnSpc>
                <a:spcPct val="150000"/>
              </a:lnSpc>
              <a:buFont typeface="Wingdings" panose="05000000000000000000" pitchFamily="2" charset="2"/>
              <a:buChar char="Ø"/>
            </a:pPr>
            <a:r>
              <a:rPr lang="en-US" altLang="zh-CN" sz="2000" dirty="0">
                <a:solidFill>
                  <a:prstClr val="black"/>
                </a:solidFill>
                <a:latin typeface="微软雅黑" panose="020B0503020204020204" pitchFamily="34" charset="-122"/>
                <a:ea typeface="微软雅黑" panose="020B0503020204020204" pitchFamily="34" charset="-122"/>
              </a:rPr>
              <a:t>Shannon</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1940</a:t>
            </a:r>
            <a:r>
              <a:rPr lang="zh-CN" altLang="en-US" sz="2000" dirty="0">
                <a:solidFill>
                  <a:prstClr val="black"/>
                </a:solidFill>
                <a:latin typeface="微软雅黑" panose="020B0503020204020204" pitchFamily="34" charset="-122"/>
                <a:ea typeface="微软雅黑" panose="020B0503020204020204" pitchFamily="34" charset="-122"/>
              </a:rPr>
              <a:t>年</a:t>
            </a:r>
            <a:r>
              <a:rPr lang="en-US" altLang="zh-CN" sz="2000" dirty="0">
                <a:solidFill>
                  <a:prstClr val="black"/>
                </a:solidFill>
                <a:latin typeface="微软雅黑" panose="020B0503020204020204" pitchFamily="34" charset="-122"/>
                <a:ea typeface="微软雅黑" panose="020B0503020204020204" pitchFamily="34" charset="-122"/>
              </a:rPr>
              <a:t>MIT</a:t>
            </a:r>
            <a:r>
              <a:rPr lang="zh-CN" altLang="en-US" sz="2000" dirty="0">
                <a:solidFill>
                  <a:prstClr val="black"/>
                </a:solidFill>
                <a:latin typeface="微软雅黑" panose="020B0503020204020204" pitchFamily="34" charset="-122"/>
                <a:ea typeface="微软雅黑" panose="020B0503020204020204" pitchFamily="34" charset="-122"/>
              </a:rPr>
              <a:t>数学博士、数学家</a:t>
            </a:r>
            <a:endParaRPr lang="en-US" altLang="zh-CN" sz="2000" dirty="0">
              <a:solidFill>
                <a:prstClr val="black"/>
              </a:solidFill>
              <a:latin typeface="微软雅黑" panose="020B0503020204020204" pitchFamily="34" charset="-122"/>
              <a:ea typeface="微软雅黑" panose="020B0503020204020204" pitchFamily="34" charset="-122"/>
            </a:endParaRPr>
          </a:p>
          <a:p>
            <a:pPr marL="285750" indent="-285750" defTabSz="457200">
              <a:lnSpc>
                <a:spcPct val="150000"/>
              </a:lnSpc>
              <a:buFont typeface="Wingdings" panose="05000000000000000000" pitchFamily="2" charset="2"/>
              <a:buChar char="Ø"/>
            </a:pPr>
            <a:r>
              <a:rPr lang="en-US" altLang="zh-CN" sz="2000" dirty="0" err="1">
                <a:solidFill>
                  <a:prstClr val="black"/>
                </a:solidFill>
                <a:latin typeface="微软雅黑" panose="020B0503020204020204" pitchFamily="34" charset="-122"/>
                <a:ea typeface="微软雅黑" panose="020B0503020204020204" pitchFamily="34" charset="-122"/>
              </a:rPr>
              <a:t>Solomonoff</a:t>
            </a:r>
            <a:r>
              <a:rPr lang="zh-CN" altLang="en-US" sz="2000" dirty="0">
                <a:solidFill>
                  <a:prstClr val="black"/>
                </a:solidFill>
                <a:latin typeface="微软雅黑" panose="020B0503020204020204" pitchFamily="34" charset="-122"/>
                <a:ea typeface="微软雅黑" panose="020B0503020204020204" pitchFamily="34" charset="-122"/>
              </a:rPr>
              <a:t>：物理硕士、数学家</a:t>
            </a:r>
            <a:endParaRPr lang="en-US" altLang="zh-CN" sz="2000" dirty="0">
              <a:solidFill>
                <a:prstClr val="black"/>
              </a:solidFill>
              <a:latin typeface="微软雅黑" panose="020B0503020204020204" pitchFamily="34" charset="-122"/>
              <a:ea typeface="微软雅黑" panose="020B0503020204020204" pitchFamily="34" charset="-122"/>
            </a:endParaRPr>
          </a:p>
          <a:p>
            <a:pPr marL="285750" indent="-285750" defTabSz="457200">
              <a:lnSpc>
                <a:spcPct val="150000"/>
              </a:lnSpc>
              <a:buFont typeface="Wingdings" panose="05000000000000000000" pitchFamily="2" charset="2"/>
              <a:buChar char="Ø"/>
            </a:pPr>
            <a:r>
              <a:rPr lang="en-US" altLang="zh-CN" sz="2000" dirty="0">
                <a:solidFill>
                  <a:prstClr val="black"/>
                </a:solidFill>
                <a:latin typeface="微软雅黑" panose="020B0503020204020204" pitchFamily="34" charset="-122"/>
                <a:ea typeface="微软雅黑" panose="020B0503020204020204" pitchFamily="34" charset="-122"/>
              </a:rPr>
              <a:t>Selfridge</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1945</a:t>
            </a:r>
            <a:r>
              <a:rPr lang="zh-CN" altLang="en-US" sz="2000" dirty="0">
                <a:solidFill>
                  <a:prstClr val="black"/>
                </a:solidFill>
                <a:latin typeface="微软雅黑" panose="020B0503020204020204" pitchFamily="34" charset="-122"/>
                <a:ea typeface="微软雅黑" panose="020B0503020204020204" pitchFamily="34" charset="-122"/>
              </a:rPr>
              <a:t>年</a:t>
            </a:r>
            <a:r>
              <a:rPr lang="en-US" altLang="zh-CN" sz="2000" dirty="0">
                <a:solidFill>
                  <a:prstClr val="black"/>
                </a:solidFill>
                <a:latin typeface="微软雅黑" panose="020B0503020204020204" pitchFamily="34" charset="-122"/>
                <a:ea typeface="微软雅黑" panose="020B0503020204020204" pitchFamily="34" charset="-122"/>
              </a:rPr>
              <a:t>MIT</a:t>
            </a:r>
            <a:r>
              <a:rPr lang="zh-CN" altLang="en-US" sz="2000" dirty="0">
                <a:solidFill>
                  <a:prstClr val="black"/>
                </a:solidFill>
                <a:latin typeface="微软雅黑" panose="020B0503020204020204" pitchFamily="34" charset="-122"/>
                <a:ea typeface="微软雅黑" panose="020B0503020204020204" pitchFamily="34" charset="-122"/>
              </a:rPr>
              <a:t>数学学士学位，数学家</a:t>
            </a:r>
            <a:endParaRPr lang="en-US" altLang="zh-CN" sz="2000" dirty="0">
              <a:solidFill>
                <a:prstClr val="black"/>
              </a:solidFill>
              <a:latin typeface="微软雅黑" panose="020B0503020204020204" pitchFamily="34" charset="-122"/>
              <a:ea typeface="微软雅黑" panose="020B0503020204020204" pitchFamily="34" charset="-122"/>
            </a:endParaRPr>
          </a:p>
          <a:p>
            <a:pPr marL="285750" indent="-285750" defTabSz="457200">
              <a:lnSpc>
                <a:spcPct val="150000"/>
              </a:lnSpc>
              <a:buFont typeface="Wingdings" panose="05000000000000000000" pitchFamily="2" charset="2"/>
              <a:buChar char="Ø"/>
            </a:pPr>
            <a:r>
              <a:rPr lang="en-US" altLang="zh-CN" sz="2000" dirty="0">
                <a:solidFill>
                  <a:prstClr val="black"/>
                </a:solidFill>
                <a:latin typeface="微软雅黑" panose="020B0503020204020204" pitchFamily="34" charset="-122"/>
                <a:ea typeface="微软雅黑" panose="020B0503020204020204" pitchFamily="34" charset="-122"/>
              </a:rPr>
              <a:t>More</a:t>
            </a:r>
            <a:r>
              <a:rPr lang="zh-CN" altLang="en-US" sz="2000" dirty="0">
                <a:solidFill>
                  <a:prstClr val="black"/>
                </a:solidFill>
                <a:latin typeface="微软雅黑" panose="020B0503020204020204" pitchFamily="34" charset="-122"/>
                <a:ea typeface="微软雅黑" panose="020B0503020204020204" pitchFamily="34" charset="-122"/>
              </a:rPr>
              <a:t>：数学家、计算机科学家</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人工智能的第一次危机</a:t>
            </a:r>
            <a:endParaRPr lang="zh-CN" altLang="en-US" dirty="0"/>
          </a:p>
        </p:txBody>
      </p:sp>
      <p:pic>
        <p:nvPicPr>
          <p:cNvPr id="4" name="Picture 2" descr="A screenshot of a cell phone&#10;&#10;Description generated with very high confidence"/>
          <p:cNvPicPr>
            <a:picLocks noChangeAspect="1"/>
          </p:cNvPicPr>
          <p:nvPr/>
        </p:nvPicPr>
        <p:blipFill rotWithShape="1">
          <a:blip r:embed="rId2">
            <a:extLst>
              <a:ext uri="{28A0092B-C50C-407E-A947-70E740481C1C}">
                <a14:useLocalDpi xmlns:a14="http://schemas.microsoft.com/office/drawing/2010/main" val="0"/>
              </a:ext>
            </a:extLst>
          </a:blip>
          <a:srcRect l="34571" t="56602" r="49553"/>
          <a:stretch>
            <a:fillRect/>
          </a:stretch>
        </p:blipFill>
        <p:spPr>
          <a:xfrm>
            <a:off x="7514435" y="963183"/>
            <a:ext cx="2862270" cy="3675429"/>
          </a:xfrm>
          <a:prstGeom prst="rect">
            <a:avLst/>
          </a:prstGeom>
        </p:spPr>
      </p:pic>
      <p:pic>
        <p:nvPicPr>
          <p:cNvPr id="7" name="图片 6"/>
          <p:cNvPicPr>
            <a:picLocks noChangeAspect="1"/>
          </p:cNvPicPr>
          <p:nvPr/>
        </p:nvPicPr>
        <p:blipFill>
          <a:blip r:embed="rId3"/>
          <a:stretch>
            <a:fillRect/>
          </a:stretch>
        </p:blipFill>
        <p:spPr>
          <a:xfrm>
            <a:off x="635159" y="859801"/>
            <a:ext cx="6050875" cy="3213873"/>
          </a:xfrm>
          <a:prstGeom prst="rect">
            <a:avLst/>
          </a:prstGeom>
        </p:spPr>
      </p:pic>
      <p:sp>
        <p:nvSpPr>
          <p:cNvPr id="8" name="矩形 7"/>
          <p:cNvSpPr/>
          <p:nvPr/>
        </p:nvSpPr>
        <p:spPr>
          <a:xfrm>
            <a:off x="2237105" y="1164590"/>
            <a:ext cx="1118870" cy="3022600"/>
          </a:xfrm>
          <a:prstGeom prst="rect">
            <a:avLst/>
          </a:prstGeom>
          <a:noFill/>
          <a:ln w="25400" cmpd="sng">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206896" y="4344166"/>
            <a:ext cx="11603862" cy="1842940"/>
          </a:xfrm>
          <a:prstGeom prst="rect">
            <a:avLst/>
          </a:prstGeom>
          <a:noFill/>
        </p:spPr>
        <p:txBody>
          <a:bodyPr wrap="square">
            <a:spAutoFit/>
          </a:bodyPr>
          <a:lstStyle>
            <a:defPPr>
              <a:defRPr lang="zh-CN"/>
            </a:defPPr>
            <a:lvl1pPr algn="ctr">
              <a:defRPr sz="2400">
                <a:solidFill>
                  <a:srgbClr val="070707"/>
                </a:solidFill>
                <a:latin typeface="微软雅黑" panose="020B0503020204020204" pitchFamily="34" charset="-122"/>
                <a:ea typeface="微软雅黑" panose="020B0503020204020204" pitchFamily="34" charset="-122"/>
              </a:defRPr>
            </a:lvl1pPr>
          </a:lstStyle>
          <a:p>
            <a:pPr algn="l" fontAlgn="auto">
              <a:lnSpc>
                <a:spcPct val="150000"/>
              </a:lnSpc>
              <a:spcBef>
                <a:spcPts val="600"/>
              </a:spcBef>
            </a:pPr>
            <a:r>
              <a:rPr lang="en-US" altLang="zh-CN" b="0" i="0">
                <a:effectLst/>
                <a:latin typeface="Inter"/>
              </a:rPr>
              <a:t>Minsky </a:t>
            </a:r>
            <a:r>
              <a:rPr lang="zh-CN" altLang="en-US" b="0" i="0">
                <a:effectLst/>
                <a:latin typeface="Inter"/>
              </a:rPr>
              <a:t>与 </a:t>
            </a:r>
            <a:r>
              <a:rPr lang="en-US" altLang="zh-CN" b="0" i="0">
                <a:effectLst/>
                <a:latin typeface="Inter"/>
              </a:rPr>
              <a:t>Papert </a:t>
            </a:r>
            <a:r>
              <a:rPr lang="zh-CN" altLang="en-US" b="0" i="0">
                <a:effectLst/>
                <a:latin typeface="Inter"/>
              </a:rPr>
              <a:t>的批评（</a:t>
            </a:r>
            <a:r>
              <a:rPr lang="en-US" altLang="zh-CN" b="0" i="0">
                <a:effectLst/>
                <a:latin typeface="Inter"/>
              </a:rPr>
              <a:t>《</a:t>
            </a:r>
            <a:r>
              <a:rPr lang="zh-CN" altLang="en-US" b="0" i="0">
                <a:effectLst/>
                <a:latin typeface="Inter"/>
              </a:rPr>
              <a:t>感知机</a:t>
            </a:r>
            <a:r>
              <a:rPr lang="en-US" altLang="zh-CN" b="0" i="0">
                <a:effectLst/>
                <a:latin typeface="Inter"/>
              </a:rPr>
              <a:t>》</a:t>
            </a:r>
            <a:r>
              <a:rPr lang="zh-CN" altLang="en-US" b="0" i="0">
                <a:effectLst/>
                <a:latin typeface="Inter"/>
              </a:rPr>
              <a:t>一书）</a:t>
            </a:r>
            <a:r>
              <a:rPr lang="en-US" altLang="zh-CN" sz="2400" b="1">
                <a:latin typeface="微软雅黑" panose="020B0503020204020204" pitchFamily="34" charset="-122"/>
                <a:ea typeface="微软雅黑" panose="020B0503020204020204" pitchFamily="34" charset="-122"/>
              </a:rPr>
              <a:t>:</a:t>
            </a:r>
          </a:p>
          <a:p>
            <a:pPr marL="457200" indent="-457200" algn="l" fontAlgn="auto">
              <a:lnSpc>
                <a:spcPct val="150000"/>
              </a:lnSpc>
              <a:spcBef>
                <a:spcPts val="600"/>
              </a:spcBef>
              <a:buAutoNum type="arabicParenBoth"/>
            </a:pPr>
            <a:r>
              <a:rPr lang="zh-CN" altLang="en-US" sz="2400">
                <a:latin typeface="微软雅黑" panose="020B0503020204020204" pitchFamily="34" charset="-122"/>
                <a:ea typeface="微软雅黑" panose="020B0503020204020204" pitchFamily="34" charset="-122"/>
              </a:rPr>
              <a:t>我们甚至需要使用</a:t>
            </a:r>
            <a:r>
              <a:rPr lang="en-US" altLang="zh-CN" sz="2400">
                <a:latin typeface="微软雅黑" panose="020B0503020204020204" pitchFamily="34" charset="-122"/>
                <a:ea typeface="微软雅黑" panose="020B0503020204020204" pitchFamily="34" charset="-122"/>
              </a:rPr>
              <a:t>MLP</a:t>
            </a:r>
            <a:r>
              <a:rPr lang="zh-CN" altLang="en-US" sz="2400">
                <a:latin typeface="微软雅黑" panose="020B0503020204020204" pitchFamily="34" charset="-122"/>
                <a:ea typeface="微软雅黑" panose="020B0503020204020204" pitchFamily="34" charset="-122"/>
              </a:rPr>
              <a:t>（多层感知器）来表示简单的非线性函数，如</a:t>
            </a:r>
            <a:r>
              <a:rPr lang="en-US" altLang="zh-CN" sz="2400">
                <a:latin typeface="微软雅黑" panose="020B0503020204020204" pitchFamily="34" charset="-122"/>
                <a:ea typeface="微软雅黑" panose="020B0503020204020204" pitchFamily="34" charset="-122"/>
              </a:rPr>
              <a:t>XOR</a:t>
            </a:r>
            <a:r>
              <a:rPr lang="zh-CN" altLang="en-US" sz="2400">
                <a:latin typeface="微软雅黑" panose="020B0503020204020204" pitchFamily="34" charset="-122"/>
                <a:ea typeface="微软雅黑" panose="020B0503020204020204" pitchFamily="34" charset="-122"/>
              </a:rPr>
              <a:t>映射。</a:t>
            </a:r>
            <a:endParaRPr lang="en-US" altLang="zh-CN" sz="2400">
              <a:latin typeface="微软雅黑" panose="020B0503020204020204" pitchFamily="34" charset="-122"/>
              <a:ea typeface="微软雅黑" panose="020B0503020204020204" pitchFamily="34" charset="-122"/>
            </a:endParaRPr>
          </a:p>
          <a:p>
            <a:pPr marL="457200" indent="-457200" algn="l" fontAlgn="auto">
              <a:lnSpc>
                <a:spcPct val="150000"/>
              </a:lnSpc>
              <a:spcBef>
                <a:spcPts val="600"/>
              </a:spcBef>
              <a:buAutoNum type="arabicParenBoth"/>
            </a:pPr>
            <a:r>
              <a:rPr lang="zh-CN" altLang="en-US" sz="2400">
                <a:latin typeface="微软雅黑" panose="020B0503020204020204" pitchFamily="34" charset="-122"/>
                <a:ea typeface="微软雅黑" panose="020B0503020204020204" pitchFamily="34" charset="-122"/>
              </a:rPr>
              <a:t>地球上没有人找到一种可行的方法来训练</a:t>
            </a:r>
            <a:r>
              <a:rPr lang="en-US" altLang="zh-CN" sz="2400">
                <a:latin typeface="微软雅黑" panose="020B0503020204020204" pitchFamily="34" charset="-122"/>
                <a:ea typeface="微软雅黑" panose="020B0503020204020204" pitchFamily="34" charset="-122"/>
              </a:rPr>
              <a:t>MLP</a:t>
            </a:r>
            <a:r>
              <a:rPr lang="zh-CN" altLang="en-US" sz="2400">
                <a:latin typeface="微软雅黑" panose="020B0503020204020204" pitchFamily="34" charset="-122"/>
                <a:ea typeface="微软雅黑" panose="020B0503020204020204" pitchFamily="34" charset="-122"/>
              </a:rPr>
              <a:t>，使其能够学习如此简单的功能。</a:t>
            </a: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神经网络在</a:t>
            </a:r>
            <a:r>
              <a:rPr lang="en-US" altLang="zh-CN"/>
              <a:t>60-70</a:t>
            </a:r>
            <a:r>
              <a:rPr lang="zh-CN" altLang="en-US"/>
              <a:t>年代的停滞状况</a:t>
            </a:r>
            <a:endParaRPr lang="zh-CN" altLang="en-US" dirty="0"/>
          </a:p>
        </p:txBody>
      </p:sp>
      <p:sp>
        <p:nvSpPr>
          <p:cNvPr id="5" name="文本框 4"/>
          <p:cNvSpPr txBox="1"/>
          <p:nvPr/>
        </p:nvSpPr>
        <p:spPr>
          <a:xfrm>
            <a:off x="305852" y="1097582"/>
            <a:ext cx="11208814" cy="1830070"/>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r>
              <a:rPr lang="zh-CN" altLang="en-US" b="1" dirty="0">
                <a:solidFill>
                  <a:srgbClr val="002B7F"/>
                </a:solidFill>
                <a:latin typeface="微软雅黑" panose="020B0503020204020204" pitchFamily="34" charset="-122"/>
                <a:cs typeface="微软雅黑" panose="020B0503020204020204" pitchFamily="34" charset="-122"/>
              </a:rPr>
              <a:t>反向传播（</a:t>
            </a:r>
            <a:r>
              <a:rPr lang="en-US" altLang="zh-CN" b="1" dirty="0">
                <a:solidFill>
                  <a:srgbClr val="002B7F"/>
                </a:solidFill>
                <a:latin typeface="微软雅黑" panose="020B0503020204020204" pitchFamily="34" charset="-122"/>
                <a:cs typeface="微软雅黑" panose="020B0503020204020204" pitchFamily="34" charset="-122"/>
              </a:rPr>
              <a:t> Backpropagation , BP</a:t>
            </a:r>
            <a:r>
              <a:rPr lang="zh-CN" altLang="en-US" b="1" dirty="0">
                <a:solidFill>
                  <a:srgbClr val="002B7F"/>
                </a:solidFill>
                <a:latin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cs typeface="微软雅黑" panose="020B0503020204020204" pitchFamily="34" charset="-122"/>
              </a:rPr>
              <a:t>60</a:t>
            </a:r>
            <a:r>
              <a:rPr lang="zh-CN" altLang="en-US" dirty="0">
                <a:latin typeface="微软雅黑" panose="020B0503020204020204" pitchFamily="34" charset="-122"/>
                <a:cs typeface="微软雅黑" panose="020B0503020204020204" pitchFamily="34" charset="-122"/>
              </a:rPr>
              <a:t>年代初提出，于</a:t>
            </a:r>
            <a:r>
              <a:rPr lang="en-US" altLang="zh-CN" dirty="0">
                <a:latin typeface="微软雅黑" panose="020B0503020204020204" pitchFamily="34" charset="-122"/>
                <a:cs typeface="微软雅黑" panose="020B0503020204020204" pitchFamily="34" charset="-122"/>
              </a:rPr>
              <a:t>1970</a:t>
            </a:r>
            <a:r>
              <a:rPr lang="zh-CN" altLang="en-US" dirty="0">
                <a:latin typeface="微软雅黑" panose="020B0503020204020204" pitchFamily="34" charset="-122"/>
                <a:cs typeface="微软雅黑" panose="020B0503020204020204" pitchFamily="34" charset="-122"/>
              </a:rPr>
              <a:t>年由</a:t>
            </a:r>
            <a:r>
              <a:rPr lang="en-US" altLang="zh-CN" dirty="0">
                <a:latin typeface="微软雅黑" panose="020B0503020204020204" pitchFamily="34" charset="-122"/>
                <a:cs typeface="微软雅黑" panose="020B0503020204020204" pitchFamily="34" charset="-122"/>
              </a:rPr>
              <a:t>Seppo </a:t>
            </a:r>
            <a:r>
              <a:rPr lang="en-US" altLang="zh-CN" dirty="0" err="1">
                <a:latin typeface="微软雅黑" panose="020B0503020204020204" pitchFamily="34" charset="-122"/>
                <a:cs typeface="微软雅黑" panose="020B0503020204020204" pitchFamily="34" charset="-122"/>
              </a:rPr>
              <a:t>Linnainmaa</a:t>
            </a:r>
            <a:r>
              <a:rPr lang="zh-CN" altLang="en-US" dirty="0">
                <a:latin typeface="微软雅黑" panose="020B0503020204020204" pitchFamily="34" charset="-122"/>
                <a:cs typeface="微软雅黑" panose="020B0503020204020204" pitchFamily="34" charset="-122"/>
              </a:rPr>
              <a:t>实现了在计算机上运行，就像今天一样</a:t>
            </a:r>
            <a:endParaRPr lang="en-US" altLang="zh-CN" dirty="0">
              <a:latin typeface="微软雅黑" panose="020B0503020204020204" pitchFamily="34" charset="-122"/>
              <a:cs typeface="微软雅黑" panose="020B0503020204020204" pitchFamily="34" charset="-122"/>
            </a:endParaRPr>
          </a:p>
          <a:p>
            <a:r>
              <a:rPr lang="en-US" altLang="zh-CN" dirty="0">
                <a:latin typeface="微软雅黑" panose="020B0503020204020204" pitchFamily="34" charset="-122"/>
                <a:cs typeface="微软雅黑" panose="020B0503020204020204" pitchFamily="34" charset="-122"/>
              </a:rPr>
              <a:t>Paul </a:t>
            </a:r>
            <a:r>
              <a:rPr lang="en-US" altLang="zh-CN" dirty="0" err="1">
                <a:latin typeface="微软雅黑" panose="020B0503020204020204" pitchFamily="34" charset="-122"/>
                <a:cs typeface="微软雅黑" panose="020B0503020204020204" pitchFamily="34" charset="-122"/>
              </a:rPr>
              <a:t>Werbos</a:t>
            </a:r>
            <a:r>
              <a:rPr lang="zh-CN" altLang="en-US" dirty="0">
                <a:latin typeface="微软雅黑" panose="020B0503020204020204" pitchFamily="34" charset="-122"/>
                <a:cs typeface="微软雅黑" panose="020B0503020204020204" pitchFamily="34" charset="-122"/>
              </a:rPr>
              <a:t>在</a:t>
            </a:r>
            <a:r>
              <a:rPr lang="en-US" altLang="zh-CN" dirty="0">
                <a:latin typeface="微软雅黑" panose="020B0503020204020204" pitchFamily="34" charset="-122"/>
                <a:cs typeface="微软雅黑" panose="020B0503020204020204" pitchFamily="34" charset="-122"/>
              </a:rPr>
              <a:t>1974</a:t>
            </a:r>
            <a:r>
              <a:rPr lang="zh-CN" altLang="en-US" dirty="0">
                <a:latin typeface="微软雅黑" panose="020B0503020204020204" pitchFamily="34" charset="-122"/>
                <a:cs typeface="微软雅黑" panose="020B0503020204020204" pitchFamily="34" charset="-122"/>
              </a:rPr>
              <a:t>年的博士论文中提出将其用于神经网络</a:t>
            </a:r>
          </a:p>
        </p:txBody>
      </p:sp>
      <p:pic>
        <p:nvPicPr>
          <p:cNvPr id="2" name="Picture 2" descr="Image result for backpropag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054" y="3139708"/>
            <a:ext cx="5436235" cy="2855595"/>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6185359" y="3305372"/>
            <a:ext cx="3959023" cy="2634183"/>
          </a:xfrm>
          <a:prstGeom prst="rect">
            <a:avLst/>
          </a:prstGeom>
          <a:noFill/>
        </p:spPr>
        <p:txBody>
          <a:bodyPr wrap="square">
            <a:spAutoFit/>
          </a:bodyPr>
          <a:lstStyle/>
          <a:p>
            <a:pPr>
              <a:lnSpc>
                <a:spcPct val="150000"/>
              </a:lnSpc>
            </a:pPr>
            <a:r>
              <a:rPr lang="zh-CN" altLang="en-US" sz="1600">
                <a:solidFill>
                  <a:schemeClr val="bg1">
                    <a:lumMod val="65000"/>
                  </a:schemeClr>
                </a:solidFill>
                <a:latin typeface="微软雅黑" panose="020B0503020204020204" pitchFamily="34" charset="-122"/>
                <a:ea typeface="微软雅黑" panose="020B0503020204020204" pitchFamily="34" charset="-122"/>
              </a:rPr>
              <a:t>但当时的悲观情绪已经到了尽头。事实上，在20世纪70年代初，我确实访问了麻省理工学院的明斯基。我建议我们共同撰写一篇论文，证明MLP实际上可以克服早期的问题……但明斯基对此并不感兴趣。事实上，当时麻省理工学院、哈佛大学或我能找到的任何地方都没有人感兴趣。</a:t>
            </a:r>
          </a:p>
        </p:txBody>
      </p:sp>
      <p:pic>
        <p:nvPicPr>
          <p:cNvPr id="7" name="Picture 2" descr="Image result for Paul Werbo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6539" y="3459324"/>
            <a:ext cx="1879766" cy="23262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人工智能的第二波浪潮</a:t>
            </a:r>
            <a:endParaRPr lang="zh-CN" altLang="en-US" dirty="0"/>
          </a:p>
        </p:txBody>
      </p:sp>
      <p:sp>
        <p:nvSpPr>
          <p:cNvPr id="5" name="文本框 4"/>
          <p:cNvSpPr txBox="1"/>
          <p:nvPr/>
        </p:nvSpPr>
        <p:spPr>
          <a:xfrm>
            <a:off x="229870" y="1058545"/>
            <a:ext cx="11285220" cy="3984625"/>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pPr marL="342900" indent="-342900">
              <a:buFont typeface="Wingdings" panose="05000000000000000000" pitchFamily="2" charset="2"/>
              <a:buChar char="p"/>
            </a:pPr>
            <a:r>
              <a:rPr lang="zh-CN" altLang="en-US" dirty="0">
                <a:latin typeface="微软雅黑" panose="020B0503020204020204" pitchFamily="34" charset="-122"/>
                <a:cs typeface="微软雅黑" panose="020B0503020204020204" pitchFamily="34" charset="-122"/>
              </a:rPr>
              <a:t>由于人工智能冬季的寒蝉效应，</a:t>
            </a:r>
            <a:r>
              <a:rPr lang="en-US" altLang="zh-CN" dirty="0" err="1">
                <a:latin typeface="微软雅黑" panose="020B0503020204020204" pitchFamily="34" charset="-122"/>
                <a:cs typeface="微软雅黑" panose="020B0503020204020204" pitchFamily="34" charset="-122"/>
              </a:rPr>
              <a:t>Werbos</a:t>
            </a:r>
            <a:r>
              <a:rPr lang="zh-CN" altLang="en-US" dirty="0">
                <a:latin typeface="微软雅黑" panose="020B0503020204020204" pitchFamily="34" charset="-122"/>
                <a:cs typeface="微软雅黑" panose="020B0503020204020204" pitchFamily="34" charset="-122"/>
              </a:rPr>
              <a:t>直到</a:t>
            </a:r>
            <a:r>
              <a:rPr lang="en-US" altLang="zh-CN" dirty="0">
                <a:latin typeface="微软雅黑" panose="020B0503020204020204" pitchFamily="34" charset="-122"/>
                <a:cs typeface="微软雅黑" panose="020B0503020204020204" pitchFamily="34" charset="-122"/>
              </a:rPr>
              <a:t>1982</a:t>
            </a:r>
            <a:r>
              <a:rPr lang="zh-CN" altLang="en-US" dirty="0">
                <a:latin typeface="微软雅黑" panose="020B0503020204020204" pitchFamily="34" charset="-122"/>
                <a:cs typeface="微软雅黑" panose="020B0503020204020204" pitchFamily="34" charset="-122"/>
              </a:rPr>
              <a:t>年才发表了关于</a:t>
            </a:r>
            <a:r>
              <a:rPr lang="zh-CN" altLang="en-US" b="1" dirty="0">
                <a:solidFill>
                  <a:schemeClr val="tx1"/>
                </a:solidFill>
                <a:latin typeface="微软雅黑" panose="020B0503020204020204" pitchFamily="34" charset="-122"/>
                <a:cs typeface="微软雅黑" panose="020B0503020204020204" pitchFamily="34" charset="-122"/>
              </a:rPr>
              <a:t>反向传播在神经网络中的应用</a:t>
            </a:r>
            <a:r>
              <a:rPr lang="zh-CN" altLang="en-US" dirty="0">
                <a:latin typeface="微软雅黑" panose="020B0503020204020204" pitchFamily="34" charset="-122"/>
                <a:cs typeface="微软雅黑" panose="020B0503020204020204" pitchFamily="34" charset="-122"/>
              </a:rPr>
              <a:t>的文章。</a:t>
            </a:r>
            <a:endParaRPr lang="en-US" altLang="zh-CN" dirty="0">
              <a:latin typeface="微软雅黑" panose="020B0503020204020204" pitchFamily="34" charset="-122"/>
              <a:cs typeface="微软雅黑" panose="020B0503020204020204" pitchFamily="34" charset="-122"/>
            </a:endParaRPr>
          </a:p>
          <a:p>
            <a:pPr marL="342900" indent="-342900">
              <a:buFont typeface="Wingdings" panose="05000000000000000000" pitchFamily="2" charset="2"/>
              <a:buChar char="p"/>
            </a:pPr>
            <a:r>
              <a:rPr lang="en-US" altLang="zh-CN" b="1" dirty="0">
                <a:solidFill>
                  <a:schemeClr val="tx1"/>
                </a:solidFill>
                <a:latin typeface="微软雅黑" panose="020B0503020204020204" pitchFamily="34" charset="-122"/>
                <a:cs typeface="微软雅黑" panose="020B0503020204020204" pitchFamily="34" charset="-122"/>
              </a:rPr>
              <a:t>Hopfield</a:t>
            </a:r>
            <a:r>
              <a:rPr lang="zh-CN" altLang="en-US" b="1" dirty="0">
                <a:solidFill>
                  <a:schemeClr val="tx1"/>
                </a:solidFill>
                <a:latin typeface="微软雅黑" panose="020B0503020204020204" pitchFamily="34" charset="-122"/>
                <a:cs typeface="微软雅黑" panose="020B0503020204020204" pitchFamily="34" charset="-122"/>
              </a:rPr>
              <a:t>神经网络 </a:t>
            </a:r>
            <a:r>
              <a:rPr lang="en-US" altLang="zh-CN" b="1" dirty="0">
                <a:solidFill>
                  <a:schemeClr val="tx1"/>
                </a:solidFill>
                <a:latin typeface="微软雅黑" panose="020B0503020204020204" pitchFamily="34" charset="-122"/>
                <a:cs typeface="微软雅黑" panose="020B0503020204020204" pitchFamily="34" charset="-122"/>
              </a:rPr>
              <a:t>(1982)</a:t>
            </a:r>
            <a:r>
              <a:rPr lang="zh-CN" altLang="en-US" dirty="0">
                <a:latin typeface="微软雅黑" panose="020B0503020204020204" pitchFamily="34" charset="-122"/>
                <a:cs typeface="微软雅黑" panose="020B0503020204020204" pitchFamily="34" charset="-122"/>
              </a:rPr>
              <a:t>，它主要用于解决联想记忆、优化问题和组合问题等领域。 </a:t>
            </a:r>
            <a:r>
              <a:rPr lang="en-US" altLang="zh-CN" dirty="0">
                <a:latin typeface="微软雅黑" panose="020B0503020204020204" pitchFamily="34" charset="-122"/>
                <a:cs typeface="微软雅黑" panose="020B0503020204020204" pitchFamily="34" charset="-122"/>
              </a:rPr>
              <a:t>Hopfield</a:t>
            </a:r>
            <a:r>
              <a:rPr lang="zh-CN" altLang="en-US" dirty="0">
                <a:latin typeface="微软雅黑" panose="020B0503020204020204" pitchFamily="34" charset="-122"/>
                <a:cs typeface="微软雅黑" panose="020B0503020204020204" pitchFamily="34" charset="-122"/>
              </a:rPr>
              <a:t>网络通过定义并最小化以下的</a:t>
            </a:r>
            <a:r>
              <a:rPr lang="zh-CN" altLang="en-US" dirty="0">
                <a:solidFill>
                  <a:srgbClr val="002B7F"/>
                </a:solidFill>
                <a:latin typeface="微软雅黑" panose="020B0503020204020204" pitchFamily="34" charset="-122"/>
                <a:cs typeface="微软雅黑" panose="020B0503020204020204" pitchFamily="34" charset="-122"/>
              </a:rPr>
              <a:t>能量函数</a:t>
            </a:r>
            <a:r>
              <a:rPr lang="zh-CN" altLang="en-US" dirty="0">
                <a:latin typeface="微软雅黑" panose="020B0503020204020204" pitchFamily="34" charset="-122"/>
                <a:cs typeface="微软雅黑" panose="020B0503020204020204" pitchFamily="34" charset="-122"/>
              </a:rPr>
              <a:t>来进行训练：</a:t>
            </a:r>
            <a:endParaRPr lang="en-US" altLang="zh-CN" dirty="0">
              <a:latin typeface="微软雅黑" panose="020B0503020204020204" pitchFamily="34" charset="-122"/>
              <a:cs typeface="微软雅黑" panose="020B0503020204020204" pitchFamily="34" charset="-122"/>
            </a:endParaRPr>
          </a:p>
          <a:p>
            <a:pPr marL="342900" indent="-342900">
              <a:buFont typeface="Wingdings" panose="05000000000000000000" pitchFamily="2" charset="2"/>
              <a:buChar char="p"/>
            </a:pPr>
            <a:endParaRPr lang="en-US" altLang="zh-CN" dirty="0">
              <a:latin typeface="微软雅黑" panose="020B0503020204020204" pitchFamily="34" charset="-122"/>
              <a:cs typeface="微软雅黑" panose="020B0503020204020204" pitchFamily="34" charset="-122"/>
            </a:endParaRPr>
          </a:p>
          <a:p>
            <a:pPr>
              <a:lnSpc>
                <a:spcPct val="200000"/>
              </a:lnSpc>
              <a:spcBef>
                <a:spcPts val="1800"/>
              </a:spcBef>
            </a:pPr>
            <a:r>
              <a:rPr lang="en-US" altLang="zh-CN" dirty="0">
                <a:latin typeface="微软雅黑" panose="020B0503020204020204" pitchFamily="34" charset="-122"/>
                <a:cs typeface="微软雅黑" panose="020B0503020204020204" pitchFamily="34" charset="-122"/>
              </a:rPr>
              <a:t>   John Hopfield</a:t>
            </a:r>
            <a:r>
              <a:rPr lang="zh-CN" altLang="en-US" dirty="0">
                <a:latin typeface="微软雅黑" panose="020B0503020204020204" pitchFamily="34" charset="-122"/>
                <a:cs typeface="微软雅黑" panose="020B0503020204020204" pitchFamily="34" charset="-122"/>
              </a:rPr>
              <a:t>因为这个工作拿到了</a:t>
            </a:r>
            <a:r>
              <a:rPr lang="en-US" altLang="zh-CN" dirty="0">
                <a:latin typeface="微软雅黑" panose="020B0503020204020204" pitchFamily="34" charset="-122"/>
                <a:cs typeface="微软雅黑" panose="020B0503020204020204" pitchFamily="34" charset="-122"/>
              </a:rPr>
              <a:t>2024</a:t>
            </a:r>
            <a:r>
              <a:rPr lang="zh-CN" altLang="en-US" dirty="0">
                <a:latin typeface="微软雅黑" panose="020B0503020204020204" pitchFamily="34" charset="-122"/>
                <a:cs typeface="微软雅黑" panose="020B0503020204020204" pitchFamily="34" charset="-122"/>
              </a:rPr>
              <a:t>年诺贝尔物理学奖。</a:t>
            </a:r>
          </a:p>
        </p:txBody>
      </p:sp>
      <p:pic>
        <p:nvPicPr>
          <p:cNvPr id="2" name="图片 1"/>
          <p:cNvPicPr>
            <a:picLocks noChangeAspect="1"/>
          </p:cNvPicPr>
          <p:nvPr/>
        </p:nvPicPr>
        <p:blipFill>
          <a:blip r:embed="rId2"/>
          <a:stretch>
            <a:fillRect/>
          </a:stretch>
        </p:blipFill>
        <p:spPr>
          <a:xfrm>
            <a:off x="4436653" y="3389488"/>
            <a:ext cx="3318693" cy="942014"/>
          </a:xfrm>
          <a:prstGeom prst="rect">
            <a:avLst/>
          </a:prstGeom>
        </p:spPr>
      </p:pic>
      <p:sp>
        <p:nvSpPr>
          <p:cNvPr id="6" name="文本框 5"/>
          <p:cNvSpPr txBox="1"/>
          <p:nvPr/>
        </p:nvSpPr>
        <p:spPr>
          <a:xfrm>
            <a:off x="381242" y="6289320"/>
            <a:ext cx="8962050" cy="523220"/>
          </a:xfrm>
          <a:prstGeom prst="rect">
            <a:avLst/>
          </a:prstGeom>
          <a:noFill/>
        </p:spPr>
        <p:txBody>
          <a:bodyPr wrap="square" rtlCol="0">
            <a:spAutoFit/>
          </a:bodyPr>
          <a:lstStyle>
            <a:defPPr>
              <a:defRPr lang="zh-CN"/>
            </a:defPPr>
            <a:lvl1pPr defTabSz="457200">
              <a:defRPr sz="1400">
                <a:solidFill>
                  <a:schemeClr val="bg1"/>
                </a:solidFill>
                <a:latin typeface="Times New Roman" panose="02020603050405020304" pitchFamily="18" charset="0"/>
                <a:cs typeface="Times New Roman" panose="02020603050405020304" pitchFamily="18" charset="0"/>
              </a:defRPr>
            </a:lvl1pPr>
            <a:lvl2pPr defTabSz="457200"/>
            <a:lvl3pPr defTabSz="457200"/>
            <a:lvl4pPr defTabSz="457200"/>
            <a:lvl5pPr defTabSz="457200"/>
            <a:lvl6pPr defTabSz="457200"/>
            <a:lvl7pPr defTabSz="457200"/>
            <a:lvl8pPr defTabSz="457200"/>
            <a:lvl9pPr defTabSz="457200"/>
          </a:lstStyle>
          <a:p>
            <a:r>
              <a:rPr lang="en-US" altLang="zh-CN"/>
              <a:t>Hopfield J J. Neural networks and physical systems with emergent collective computational abilities[J]. Proceedings of the national academy of sciences, 1982, 79(8): 2554-2558.</a:t>
            </a: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B51F6-BABE-1BAE-A071-338641FEA5F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CD6F5F6-F5FC-7F41-7B98-0F56BE9DED0C}"/>
              </a:ext>
            </a:extLst>
          </p:cNvPr>
          <p:cNvSpPr>
            <a:spLocks noGrp="1"/>
          </p:cNvSpPr>
          <p:nvPr>
            <p:ph type="title"/>
          </p:nvPr>
        </p:nvSpPr>
        <p:spPr/>
        <p:txBody>
          <a:bodyPr/>
          <a:lstStyle/>
          <a:p>
            <a:r>
              <a:rPr lang="zh-CN" altLang="en-US" b="1" dirty="0">
                <a:solidFill>
                  <a:schemeClr val="tx1"/>
                </a:solidFill>
                <a:latin typeface="微软雅黑" panose="020B0503020204020204" pitchFamily="34" charset="-122"/>
                <a:cs typeface="微软雅黑" panose="020B0503020204020204" pitchFamily="34" charset="-122"/>
              </a:rPr>
              <a:t>反向传播</a:t>
            </a:r>
            <a:endParaRPr lang="zh-CN" altLang="en-US" dirty="0"/>
          </a:p>
        </p:txBody>
      </p:sp>
      <p:sp>
        <p:nvSpPr>
          <p:cNvPr id="3" name="内容占位符 2">
            <a:extLst>
              <a:ext uri="{FF2B5EF4-FFF2-40B4-BE49-F238E27FC236}">
                <a16:creationId xmlns:a16="http://schemas.microsoft.com/office/drawing/2014/main" id="{76367225-D4C4-645A-F430-8D304E48F4EE}"/>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FC4B47C4-FA6D-DC19-1245-0E3C36776123}"/>
              </a:ext>
            </a:extLst>
          </p:cNvPr>
          <p:cNvPicPr>
            <a:picLocks noChangeAspect="1"/>
          </p:cNvPicPr>
          <p:nvPr/>
        </p:nvPicPr>
        <p:blipFill>
          <a:blip r:embed="rId2"/>
          <a:stretch>
            <a:fillRect/>
          </a:stretch>
        </p:blipFill>
        <p:spPr>
          <a:xfrm>
            <a:off x="1197428" y="892437"/>
            <a:ext cx="9608457" cy="5396001"/>
          </a:xfrm>
          <a:prstGeom prst="rect">
            <a:avLst/>
          </a:prstGeom>
        </p:spPr>
      </p:pic>
      <p:sp>
        <p:nvSpPr>
          <p:cNvPr id="6" name="文本框 5">
            <a:extLst>
              <a:ext uri="{FF2B5EF4-FFF2-40B4-BE49-F238E27FC236}">
                <a16:creationId xmlns:a16="http://schemas.microsoft.com/office/drawing/2014/main" id="{DA35FD65-2977-D434-B881-41B11FA5CF66}"/>
              </a:ext>
            </a:extLst>
          </p:cNvPr>
          <p:cNvSpPr txBox="1"/>
          <p:nvPr/>
        </p:nvSpPr>
        <p:spPr>
          <a:xfrm>
            <a:off x="123371" y="6500921"/>
            <a:ext cx="6096000" cy="369332"/>
          </a:xfrm>
          <a:prstGeom prst="rect">
            <a:avLst/>
          </a:prstGeom>
          <a:noFill/>
        </p:spPr>
        <p:txBody>
          <a:bodyPr wrap="square">
            <a:spAutoFit/>
          </a:bodyPr>
          <a:lstStyle/>
          <a:p>
            <a:r>
              <a:rPr lang="zh-CN" altLang="en-US" dirty="0">
                <a:solidFill>
                  <a:schemeClr val="bg1"/>
                </a:solidFill>
              </a:rPr>
              <a:t>https://www.bilibili.com/video/BV1Tt411M7cP</a:t>
            </a:r>
          </a:p>
        </p:txBody>
      </p:sp>
    </p:spTree>
    <p:extLst>
      <p:ext uri="{BB962C8B-B14F-4D97-AF65-F5344CB8AC3E}">
        <p14:creationId xmlns:p14="http://schemas.microsoft.com/office/powerpoint/2010/main" val="401707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166DFE-712C-DF0C-8F1A-84D508ED5CE2}"/>
              </a:ext>
            </a:extLst>
          </p:cNvPr>
          <p:cNvSpPr>
            <a:spLocks noGrp="1"/>
          </p:cNvSpPr>
          <p:nvPr>
            <p:ph type="title"/>
          </p:nvPr>
        </p:nvSpPr>
        <p:spPr/>
        <p:txBody>
          <a:bodyPr/>
          <a:lstStyle/>
          <a:p>
            <a:r>
              <a:rPr lang="zh-CN" altLang="en-US" b="1" dirty="0">
                <a:solidFill>
                  <a:schemeClr val="tx1"/>
                </a:solidFill>
                <a:latin typeface="微软雅黑" panose="020B0503020204020204" pitchFamily="34" charset="-122"/>
                <a:cs typeface="微软雅黑" panose="020B0503020204020204" pitchFamily="34" charset="-122"/>
              </a:rPr>
              <a:t>反向传播</a:t>
            </a:r>
            <a:endParaRPr lang="zh-CN" altLang="en-US" dirty="0"/>
          </a:p>
        </p:txBody>
      </p:sp>
      <p:sp>
        <p:nvSpPr>
          <p:cNvPr id="3" name="内容占位符 2">
            <a:extLst>
              <a:ext uri="{FF2B5EF4-FFF2-40B4-BE49-F238E27FC236}">
                <a16:creationId xmlns:a16="http://schemas.microsoft.com/office/drawing/2014/main" id="{CB27A014-4D52-D2A7-F86C-8F49F8A3CA35}"/>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7D2AEF17-B9DF-0712-3B67-851B29CEC321}"/>
              </a:ext>
            </a:extLst>
          </p:cNvPr>
          <p:cNvPicPr>
            <a:picLocks noChangeAspect="1"/>
          </p:cNvPicPr>
          <p:nvPr/>
        </p:nvPicPr>
        <p:blipFill>
          <a:blip r:embed="rId2">
            <a:extLst>
              <a:ext uri="{28A0092B-C50C-407E-A947-70E740481C1C}">
                <a14:useLocalDpi xmlns:a14="http://schemas.microsoft.com/office/drawing/2010/main" val="0"/>
              </a:ext>
            </a:extLst>
          </a:blip>
          <a:srcRect t="76557" b="1"/>
          <a:stretch/>
        </p:blipFill>
        <p:spPr>
          <a:xfrm>
            <a:off x="0" y="858269"/>
            <a:ext cx="12192000" cy="1607668"/>
          </a:xfrm>
          <a:prstGeom prst="rect">
            <a:avLst/>
          </a:prstGeom>
        </p:spPr>
      </p:pic>
      <p:pic>
        <p:nvPicPr>
          <p:cNvPr id="7" name="图片 6">
            <a:extLst>
              <a:ext uri="{FF2B5EF4-FFF2-40B4-BE49-F238E27FC236}">
                <a16:creationId xmlns:a16="http://schemas.microsoft.com/office/drawing/2014/main" id="{34BC41C1-584B-B286-E060-7D4CA435BA3D}"/>
              </a:ext>
            </a:extLst>
          </p:cNvPr>
          <p:cNvPicPr>
            <a:picLocks noChangeAspect="1"/>
          </p:cNvPicPr>
          <p:nvPr/>
        </p:nvPicPr>
        <p:blipFill>
          <a:blip r:embed="rId3"/>
          <a:stretch>
            <a:fillRect/>
          </a:stretch>
        </p:blipFill>
        <p:spPr>
          <a:xfrm>
            <a:off x="0" y="2387600"/>
            <a:ext cx="12192000" cy="1142809"/>
          </a:xfrm>
          <a:prstGeom prst="rect">
            <a:avLst/>
          </a:prstGeom>
        </p:spPr>
      </p:pic>
      <p:pic>
        <p:nvPicPr>
          <p:cNvPr id="9" name="图片 8">
            <a:extLst>
              <a:ext uri="{FF2B5EF4-FFF2-40B4-BE49-F238E27FC236}">
                <a16:creationId xmlns:a16="http://schemas.microsoft.com/office/drawing/2014/main" id="{E28BE63D-C984-D62C-6711-4E0CB9962004}"/>
              </a:ext>
            </a:extLst>
          </p:cNvPr>
          <p:cNvPicPr>
            <a:picLocks noChangeAspect="1"/>
          </p:cNvPicPr>
          <p:nvPr/>
        </p:nvPicPr>
        <p:blipFill>
          <a:blip r:embed="rId4"/>
          <a:stretch>
            <a:fillRect/>
          </a:stretch>
        </p:blipFill>
        <p:spPr>
          <a:xfrm>
            <a:off x="0" y="3548363"/>
            <a:ext cx="12192000" cy="1212498"/>
          </a:xfrm>
          <a:prstGeom prst="rect">
            <a:avLst/>
          </a:prstGeom>
        </p:spPr>
      </p:pic>
      <p:pic>
        <p:nvPicPr>
          <p:cNvPr id="11" name="图片 10">
            <a:extLst>
              <a:ext uri="{FF2B5EF4-FFF2-40B4-BE49-F238E27FC236}">
                <a16:creationId xmlns:a16="http://schemas.microsoft.com/office/drawing/2014/main" id="{46270B3E-CE6E-ADCF-3AD3-C90E9AAFC7AD}"/>
              </a:ext>
            </a:extLst>
          </p:cNvPr>
          <p:cNvPicPr>
            <a:picLocks noChangeAspect="1"/>
          </p:cNvPicPr>
          <p:nvPr/>
        </p:nvPicPr>
        <p:blipFill>
          <a:blip r:embed="rId5"/>
          <a:stretch>
            <a:fillRect/>
          </a:stretch>
        </p:blipFill>
        <p:spPr>
          <a:xfrm>
            <a:off x="0" y="4779911"/>
            <a:ext cx="12192000" cy="1529331"/>
          </a:xfrm>
          <a:prstGeom prst="rect">
            <a:avLst/>
          </a:prstGeom>
        </p:spPr>
      </p:pic>
    </p:spTree>
    <p:extLst>
      <p:ext uri="{BB962C8B-B14F-4D97-AF65-F5344CB8AC3E}">
        <p14:creationId xmlns:p14="http://schemas.microsoft.com/office/powerpoint/2010/main" val="10233147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万有逼近定理</a:t>
            </a:r>
            <a:endParaRPr lang="zh-CN" altLang="en-US" dirty="0"/>
          </a:p>
        </p:txBody>
      </p:sp>
      <p:sp>
        <p:nvSpPr>
          <p:cNvPr id="5" name="文本框 4"/>
          <p:cNvSpPr txBox="1"/>
          <p:nvPr/>
        </p:nvSpPr>
        <p:spPr>
          <a:xfrm>
            <a:off x="988060" y="2287270"/>
            <a:ext cx="10353040" cy="1198880"/>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r>
              <a:rPr lang="zh-CN" altLang="en-US" b="1" dirty="0">
                <a:latin typeface="微软雅黑" panose="020B0503020204020204" pitchFamily="34" charset="-122"/>
              </a:rPr>
              <a:t>万有逼近定理：</a:t>
            </a:r>
            <a:r>
              <a:rPr lang="zh-CN" altLang="en-US" dirty="0">
                <a:latin typeface="微软雅黑" panose="020B0503020204020204" pitchFamily="34" charset="-122"/>
              </a:rPr>
              <a:t>具有单个隐藏层的神经网络，如果其激活函数非线性、连续且不为多项式，那么它可用于将任何连续函数近似到任何所需的精度。</a:t>
            </a:r>
          </a:p>
        </p:txBody>
      </p:sp>
      <p:sp>
        <p:nvSpPr>
          <p:cNvPr id="8" name="TextBox 5"/>
          <p:cNvSpPr txBox="1"/>
          <p:nvPr/>
        </p:nvSpPr>
        <p:spPr>
          <a:xfrm>
            <a:off x="140970" y="6360795"/>
            <a:ext cx="8841105" cy="4603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dirty="0">
                <a:solidFill>
                  <a:schemeClr val="bg1"/>
                </a:solidFill>
                <a:latin typeface="Times New Roman" panose="02020603050405020304" pitchFamily="18" charset="0"/>
                <a:cs typeface="Times New Roman" panose="02020603050405020304" pitchFamily="18" charset="0"/>
              </a:rPr>
              <a:t>Ref: http://neuralnetworksanddeeplearning.com/chap4.html</a:t>
            </a:r>
          </a:p>
          <a:p>
            <a:r>
              <a:rPr lang="en-US" altLang="zh-CN" sz="1200" dirty="0">
                <a:solidFill>
                  <a:schemeClr val="bg1"/>
                </a:solidFill>
                <a:latin typeface="Times New Roman" panose="02020603050405020304" pitchFamily="18" charset="0"/>
                <a:cs typeface="Times New Roman" panose="02020603050405020304" pitchFamily="18" charset="0"/>
              </a:rPr>
              <a:t>Cybenko G. Approximation by superpositions of a sigmoidal function[J]. Mathematics of control, signals and systems, 1989, 2(4): 303-314.</a:t>
            </a:r>
          </a:p>
        </p:txBody>
      </p:sp>
      <p:sp>
        <p:nvSpPr>
          <p:cNvPr id="4" name="文本框 3"/>
          <p:cNvSpPr txBox="1"/>
          <p:nvPr/>
        </p:nvSpPr>
        <p:spPr>
          <a:xfrm>
            <a:off x="1045028" y="4228079"/>
            <a:ext cx="10101943" cy="460375"/>
          </a:xfrm>
          <a:prstGeom prst="rect">
            <a:avLst/>
          </a:prstGeom>
          <a:noFill/>
        </p:spPr>
        <p:txBody>
          <a:bodyPr wrap="square" rtlCol="0">
            <a:spAutoFit/>
          </a:bodyPr>
          <a:lstStyle/>
          <a:p>
            <a:pPr algn="l"/>
            <a:r>
              <a:rPr lang="zh-CN" altLang="en-US" sz="2400" dirty="0">
                <a:solidFill>
                  <a:srgbClr val="070707"/>
                </a:solidFill>
                <a:effectLst/>
                <a:latin typeface="微软雅黑" panose="020B0503020204020204" pitchFamily="34" charset="-122"/>
                <a:ea typeface="微软雅黑" panose="020B0503020204020204" pitchFamily="34" charset="-122"/>
              </a:rPr>
              <a:t>思考：为什么激活函数不能是多项式函数？</a:t>
            </a:r>
          </a:p>
        </p:txBody>
      </p:sp>
      <mc:AlternateContent xmlns:mc="http://schemas.openxmlformats.org/markup-compatibility/2006" xmlns:a14="http://schemas.microsoft.com/office/drawing/2010/main">
        <mc:Choice Requires="a14">
          <p:sp>
            <p:nvSpPr>
              <p:cNvPr id="7" name="文本框 6"/>
              <p:cNvSpPr txBox="1"/>
              <p:nvPr/>
            </p:nvSpPr>
            <p:spPr>
              <a:xfrm>
                <a:off x="0" y="1274748"/>
                <a:ext cx="12192000" cy="588645"/>
              </a:xfrm>
              <a:prstGeom prst="rect">
                <a:avLst/>
              </a:prstGeom>
              <a:noFill/>
            </p:spPr>
            <p:txBody>
              <a:bodyPr wrap="square">
                <a:spAutoFit/>
              </a:bodyPr>
              <a:lstStyle/>
              <a:p>
                <a:pPr algn="ctr"/>
                <a:r>
                  <a:rPr lang="zh-CN" altLang="en-US" sz="2400" dirty="0">
                    <a:solidFill>
                      <a:srgbClr val="070707"/>
                    </a:solidFill>
                    <a:latin typeface="微软雅黑" panose="020B0503020204020204" pitchFamily="34" charset="-122"/>
                    <a:ea typeface="微软雅黑" panose="020B0503020204020204" pitchFamily="34" charset="-122"/>
                    <a:cs typeface="微软雅黑" panose="020B0503020204020204" pitchFamily="34" charset="-122"/>
                  </a:rPr>
                  <a:t>两层全连接神经网络：</a:t>
                </a:r>
                <a14:m>
                  <m:oMath xmlns:m="http://schemas.openxmlformats.org/officeDocument/2006/math">
                    <m:sSub>
                      <m:sSubPr>
                        <m:ctrlP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𝑓</m:t>
                        </m:r>
                      </m:e>
                      <m:sub>
                        <m:r>
                          <a:rPr lang="en-US" altLang="zh-CN" sz="2400" b="1" i="1" smtClean="0">
                            <a:solidFill>
                              <a:srgbClr val="070707"/>
                            </a:solidFill>
                            <a:latin typeface="Cambria Math" panose="02040503050406030204" pitchFamily="18" charset="0"/>
                            <a:ea typeface="MS Mincho" charset="0"/>
                            <a:cs typeface="Cambria Math" panose="02040503050406030204" pitchFamily="18" charset="0"/>
                          </a:rPr>
                          <m:t>𝜽</m:t>
                        </m:r>
                      </m:sub>
                    </m:sSub>
                    <m:d>
                      <m:dPr>
                        <m:ctrlPr>
                          <a:rPr lang="en-US" altLang="zh-CN" sz="2400" b="1"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400" b="1"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𝒙</m:t>
                        </m:r>
                      </m:e>
                    </m:d>
                    <m:r>
                      <a:rPr lang="en-US" altLang="zh-CN" sz="2400" b="0" i="1" smtClean="0">
                        <a:solidFill>
                          <a:srgbClr val="070707"/>
                        </a:solidFill>
                        <a:latin typeface="Cambria Math" panose="02040503050406030204" pitchFamily="18" charset="0"/>
                        <a:ea typeface="MS Mincho" charset="0"/>
                        <a:cs typeface="Cambria Math" panose="02040503050406030204" pitchFamily="18" charset="0"/>
                      </a:rPr>
                      <m:t>=</m:t>
                    </m:r>
                    <m:nary>
                      <m:naryPr>
                        <m:chr m:val="∑"/>
                        <m:ctrlP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ctrlPr>
                      </m:naryPr>
                      <m:sub>
                        <m: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𝑗</m:t>
                        </m:r>
                        <m:r>
                          <a:rPr lang="en-US" altLang="zh-CN" sz="2400" b="0" i="1" smtClean="0">
                            <a:solidFill>
                              <a:srgbClr val="070707"/>
                            </a:solidFill>
                            <a:latin typeface="Cambria Math" panose="02040503050406030204" pitchFamily="18" charset="0"/>
                            <a:ea typeface="MS Mincho" charset="0"/>
                            <a:cs typeface="Cambria Math" panose="02040503050406030204" pitchFamily="18" charset="0"/>
                          </a:rPr>
                          <m:t>=1</m:t>
                        </m:r>
                      </m:sub>
                      <m:sup>
                        <m: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𝑚</m:t>
                        </m:r>
                      </m:sup>
                      <m:e>
                        <m:sSub>
                          <m:sSubPr>
                            <m:ctrlP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𝑎</m:t>
                            </m:r>
                          </m:e>
                          <m:sub>
                            <m: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𝑗</m:t>
                            </m:r>
                          </m:sub>
                        </m:sSub>
                        <m:r>
                          <a:rPr lang="en-US" altLang="zh-CN" sz="2400" b="0" i="1" smtClean="0">
                            <a:solidFill>
                              <a:srgbClr val="070707"/>
                            </a:solidFill>
                            <a:latin typeface="Cambria Math" panose="02040503050406030204" pitchFamily="18" charset="0"/>
                            <a:ea typeface="MS Mincho" charset="0"/>
                            <a:cs typeface="Cambria Math" panose="02040503050406030204" pitchFamily="18" charset="0"/>
                          </a:rPr>
                          <m:t>𝜎</m:t>
                        </m:r>
                        <m:r>
                          <a:rPr lang="en-US" altLang="zh-CN" sz="2400" b="0" i="1" smtClean="0">
                            <a:solidFill>
                              <a:srgbClr val="070707"/>
                            </a:solidFill>
                            <a:latin typeface="Cambria Math" panose="02040503050406030204" pitchFamily="18" charset="0"/>
                            <a:ea typeface="MS Mincho" charset="0"/>
                            <a:cs typeface="Cambria Math" panose="02040503050406030204" pitchFamily="18" charset="0"/>
                          </a:rPr>
                          <m:t>(</m:t>
                        </m:r>
                        <m:sSub>
                          <m:sSubPr>
                            <m:ctrlPr>
                              <a:rPr lang="en-US" altLang="zh-CN" sz="2400" b="1"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b="1"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𝒘</m:t>
                            </m:r>
                          </m:e>
                          <m:sub>
                            <m:r>
                              <a:rPr lang="en-US" altLang="zh-CN" sz="2400" b="1"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𝒋</m:t>
                            </m:r>
                          </m:sub>
                        </m:sSub>
                        <m:r>
                          <a:rPr lang="en-US" altLang="zh-CN" sz="2400" b="1"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𝒙</m:t>
                        </m:r>
                        <m:r>
                          <a:rPr lang="en-US" altLang="zh-CN" sz="2400" b="0" i="1" smtClean="0">
                            <a:solidFill>
                              <a:srgbClr val="070707"/>
                            </a:solidFill>
                            <a:latin typeface="Cambria Math" panose="02040503050406030204" pitchFamily="18" charset="0"/>
                            <a:ea typeface="MS Mincho" charset="0"/>
                            <a:cs typeface="Cambria Math" panose="02040503050406030204" pitchFamily="18" charset="0"/>
                          </a:rPr>
                          <m:t>+</m:t>
                        </m:r>
                        <m:sSub>
                          <m:sSubPr>
                            <m:ctrlP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𝑏</m:t>
                            </m:r>
                          </m:e>
                          <m:sub>
                            <m:r>
                              <a:rPr lang="en-US" altLang="zh-CN" sz="2400" b="0" i="1" smtClean="0">
                                <a:solidFill>
                                  <a:srgbClr val="070707"/>
                                </a:solidFill>
                                <a:latin typeface="Cambria Math" panose="02040503050406030204" pitchFamily="18" charset="0"/>
                                <a:ea typeface="微软雅黑" panose="020B0503020204020204" pitchFamily="34" charset="-122"/>
                                <a:cs typeface="Cambria Math" panose="02040503050406030204" pitchFamily="18" charset="0"/>
                              </a:rPr>
                              <m:t>𝑗</m:t>
                            </m:r>
                          </m:sub>
                        </m:sSub>
                        <m:r>
                          <a:rPr lang="en-US" altLang="zh-CN" sz="2400" b="0" i="1" smtClean="0">
                            <a:solidFill>
                              <a:srgbClr val="070707"/>
                            </a:solidFill>
                            <a:latin typeface="Cambria Math" panose="02040503050406030204" pitchFamily="18" charset="0"/>
                            <a:ea typeface="MS Mincho" charset="0"/>
                            <a:cs typeface="Cambria Math" panose="02040503050406030204" pitchFamily="18" charset="0"/>
                          </a:rPr>
                          <m:t>)</m:t>
                        </m:r>
                      </m:e>
                    </m:nary>
                  </m:oMath>
                </a14:m>
                <a:endParaRPr lang="en-US" altLang="zh-CN" sz="2400" b="0" i="1" dirty="0">
                  <a:solidFill>
                    <a:srgbClr val="070707"/>
                  </a:solidFill>
                  <a:latin typeface="Cambria Math" panose="02040503050406030204" pitchFamily="18" charset="0"/>
                  <a:ea typeface="微软雅黑" panose="020B0503020204020204" pitchFamily="34" charset="-122"/>
                  <a:cs typeface="Cambria Math" panose="02040503050406030204" pitchFamily="18"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0" y="1274748"/>
                <a:ext cx="12192000" cy="588645"/>
              </a:xfrm>
              <a:prstGeom prst="rect">
                <a:avLst/>
              </a:prstGeom>
              <a:blipFill rotWithShape="1">
                <a:blip r:embed="rId4"/>
                <a:stretch>
                  <a:fillRect t="-51" b="51"/>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FCA81FF5-4065-82D7-8A99-22ADB883E023}"/>
              </a:ext>
            </a:extLst>
          </p:cNvPr>
          <p:cNvSpPr txBox="1"/>
          <p:nvPr/>
        </p:nvSpPr>
        <p:spPr>
          <a:xfrm>
            <a:off x="1045028" y="5029193"/>
            <a:ext cx="10101943" cy="460375"/>
          </a:xfrm>
          <a:prstGeom prst="rect">
            <a:avLst/>
          </a:prstGeom>
          <a:noFill/>
        </p:spPr>
        <p:txBody>
          <a:bodyPr wrap="square" rtlCol="0">
            <a:spAutoFit/>
          </a:bodyPr>
          <a:lstStyle/>
          <a:p>
            <a:pPr algn="l"/>
            <a:r>
              <a:rPr lang="zh-CN" altLang="en-US" sz="2400" dirty="0">
                <a:solidFill>
                  <a:srgbClr val="070707"/>
                </a:solidFill>
                <a:latin typeface="微软雅黑" panose="020B0503020204020204" pitchFamily="34" charset="-122"/>
                <a:ea typeface="微软雅黑" panose="020B0503020204020204" pitchFamily="34" charset="-122"/>
              </a:rPr>
              <a:t>例如：两层网络，激活函数是二次函数，那网络只能表达二次函数</a:t>
            </a:r>
            <a:endParaRPr lang="zh-CN" altLang="en-US" sz="2400" dirty="0">
              <a:solidFill>
                <a:srgbClr val="070707"/>
              </a:solidFill>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对万有逼近定理的担忧</a:t>
            </a:r>
            <a:endParaRPr lang="zh-CN" altLang="en-US" dirty="0"/>
          </a:p>
        </p:txBody>
      </p:sp>
      <p:sp>
        <p:nvSpPr>
          <p:cNvPr id="5" name="文本框 4"/>
          <p:cNvSpPr txBox="1"/>
          <p:nvPr/>
        </p:nvSpPr>
        <p:spPr>
          <a:xfrm>
            <a:off x="328430" y="1120777"/>
            <a:ext cx="10800627" cy="1906905"/>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pPr marL="342900" indent="-342900">
              <a:buFont typeface="Wingdings" panose="05000000000000000000" pitchFamily="2" charset="2"/>
              <a:buChar char="p"/>
            </a:pPr>
            <a:r>
              <a:rPr lang="zh-CN" altLang="en-US">
                <a:latin typeface="微软雅黑" panose="020B0503020204020204" pitchFamily="34" charset="-122"/>
                <a:cs typeface="微软雅黑" panose="020B0503020204020204" pitchFamily="34" charset="-122"/>
              </a:rPr>
              <a:t>这只是个理论逼近，完全没有考虑到训练所需的内存、计算效率</a:t>
            </a:r>
            <a:endParaRPr lang="en-US" altLang="zh-CN">
              <a:latin typeface="微软雅黑" panose="020B0503020204020204" pitchFamily="34" charset="-122"/>
              <a:cs typeface="微软雅黑" panose="020B0503020204020204" pitchFamily="34" charset="-122"/>
            </a:endParaRPr>
          </a:p>
          <a:p>
            <a:pPr marL="342900" indent="-342900">
              <a:buFont typeface="Wingdings" panose="05000000000000000000" pitchFamily="2" charset="2"/>
              <a:buChar char="p"/>
            </a:pPr>
            <a:r>
              <a:rPr lang="zh-CN" altLang="en-US">
                <a:latin typeface="微软雅黑" panose="020B0503020204020204" pitchFamily="34" charset="-122"/>
                <a:cs typeface="微软雅黑" panose="020B0503020204020204" pitchFamily="34" charset="-122"/>
              </a:rPr>
              <a:t>真实数据非常复杂</a:t>
            </a:r>
            <a:endParaRPr lang="en-US" altLang="zh-CN">
              <a:latin typeface="微软雅黑" panose="020B0503020204020204" pitchFamily="34" charset="-122"/>
              <a:cs typeface="微软雅黑" panose="020B0503020204020204" pitchFamily="34" charset="-122"/>
            </a:endParaRPr>
          </a:p>
          <a:p>
            <a:pPr marL="342900" indent="-342900">
              <a:buFont typeface="Wingdings" panose="05000000000000000000" pitchFamily="2" charset="2"/>
              <a:buChar char="p"/>
            </a:pPr>
            <a:r>
              <a:rPr lang="en-US" altLang="zh-CN">
                <a:latin typeface="微软雅黑" panose="020B0503020204020204" pitchFamily="34" charset="-122"/>
                <a:cs typeface="微软雅黑" panose="020B0503020204020204" pitchFamily="34" charset="-122"/>
              </a:rPr>
              <a:t>BP</a:t>
            </a:r>
            <a:r>
              <a:rPr lang="zh-CN" altLang="en-US">
                <a:latin typeface="微软雅黑" panose="020B0503020204020204" pitchFamily="34" charset="-122"/>
                <a:cs typeface="微软雅黑" panose="020B0503020204020204" pitchFamily="34" charset="-122"/>
              </a:rPr>
              <a:t>能处理真实数据吗？</a:t>
            </a:r>
          </a:p>
        </p:txBody>
      </p:sp>
      <p:sp>
        <p:nvSpPr>
          <p:cNvPr id="2" name="文本框 1">
            <a:extLst>
              <a:ext uri="{FF2B5EF4-FFF2-40B4-BE49-F238E27FC236}">
                <a16:creationId xmlns:a16="http://schemas.microsoft.com/office/drawing/2014/main" id="{D271C68B-3E7C-B2F8-6954-258F2B6DED2D}"/>
              </a:ext>
            </a:extLst>
          </p:cNvPr>
          <p:cNvSpPr txBox="1"/>
          <p:nvPr/>
        </p:nvSpPr>
        <p:spPr>
          <a:xfrm>
            <a:off x="256032" y="3368654"/>
            <a:ext cx="11679936" cy="830997"/>
          </a:xfrm>
          <a:prstGeom prst="rect">
            <a:avLst/>
          </a:prstGeom>
          <a:noFill/>
        </p:spPr>
        <p:txBody>
          <a:bodyPr wrap="square" rtlCol="0">
            <a:spAutoFit/>
          </a:bodyPr>
          <a:lstStyle/>
          <a:p>
            <a:pPr algn="l"/>
            <a:r>
              <a:rPr kumimoji="1" lang="zh-CN" altLang="en-US" sz="2400" dirty="0">
                <a:solidFill>
                  <a:schemeClr val="tx2"/>
                </a:solidFill>
              </a:rPr>
              <a:t>如果万有逼近定理已经足够，那我们可以提问：</a:t>
            </a:r>
            <a:endParaRPr kumimoji="1" lang="en-US" altLang="zh-CN" sz="2400" dirty="0">
              <a:solidFill>
                <a:schemeClr val="tx2"/>
              </a:solidFill>
            </a:endParaRPr>
          </a:p>
          <a:p>
            <a:pPr algn="l"/>
            <a:r>
              <a:rPr kumimoji="1" lang="zh-CN" altLang="en-US" sz="2400" dirty="0">
                <a:solidFill>
                  <a:schemeClr val="tx2"/>
                </a:solidFill>
              </a:rPr>
              <a:t>多项式函数只要有足够多的阶数，也可以逼近任意连续函数，为什么不用多项式函数？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BP</a:t>
            </a:r>
            <a:r>
              <a:rPr lang="zh-CN" altLang="en-US"/>
              <a:t>应用于手写识别问题（</a:t>
            </a:r>
            <a:r>
              <a:rPr lang="en-US" altLang="zh-CN"/>
              <a:t>LeNet</a:t>
            </a:r>
            <a:r>
              <a:rPr lang="zh-CN" altLang="en-US"/>
              <a:t>）</a:t>
            </a:r>
            <a:endParaRPr lang="zh-CN" altLang="en-US" dirty="0"/>
          </a:p>
        </p:txBody>
      </p:sp>
      <p:sp>
        <p:nvSpPr>
          <p:cNvPr id="5" name="文本框 4"/>
          <p:cNvSpPr txBox="1"/>
          <p:nvPr/>
        </p:nvSpPr>
        <p:spPr>
          <a:xfrm>
            <a:off x="381242" y="918221"/>
            <a:ext cx="10800627" cy="1753235"/>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r>
              <a:rPr lang="en-US" altLang="zh-CN" dirty="0">
                <a:latin typeface="微软雅黑" panose="020B0503020204020204" pitchFamily="34" charset="-122"/>
                <a:cs typeface="微软雅黑" panose="020B0503020204020204" pitchFamily="34" charset="-122"/>
              </a:rPr>
              <a:t>1989 </a:t>
            </a:r>
            <a:r>
              <a:rPr lang="zh-CN" altLang="en-US" dirty="0">
                <a:latin typeface="微软雅黑" panose="020B0503020204020204" pitchFamily="34" charset="-122"/>
                <a:cs typeface="微软雅黑" panose="020B0503020204020204" pitchFamily="34" charset="-122"/>
              </a:rPr>
              <a:t>年，</a:t>
            </a:r>
            <a:r>
              <a:rPr lang="en-US" altLang="zh-CN" dirty="0">
                <a:latin typeface="微软雅黑" panose="020B0503020204020204" pitchFamily="34" charset="-122"/>
                <a:cs typeface="微软雅黑" panose="020B0503020204020204" pitchFamily="34" charset="-122"/>
              </a:rPr>
              <a:t>Yann LeCun </a:t>
            </a:r>
            <a:r>
              <a:rPr lang="zh-CN" altLang="en-US" dirty="0">
                <a:latin typeface="微软雅黑" panose="020B0503020204020204" pitchFamily="34" charset="-122"/>
                <a:cs typeface="微软雅黑" panose="020B0503020204020204" pitchFamily="34" charset="-122"/>
              </a:rPr>
              <a:t>等人在</a:t>
            </a:r>
            <a:r>
              <a:rPr lang="en-US" altLang="zh-CN" dirty="0">
                <a:latin typeface="微软雅黑" panose="020B0503020204020204" pitchFamily="34" charset="-122"/>
                <a:cs typeface="微软雅黑" panose="020B0503020204020204" pitchFamily="34" charset="-122"/>
              </a:rPr>
              <a:t>”Backpropagation Applied to Handwritten Zip Code Recognition”</a:t>
            </a:r>
            <a:r>
              <a:rPr lang="zh-CN" altLang="en-US" dirty="0">
                <a:latin typeface="微软雅黑" panose="020B0503020204020204" pitchFamily="34" charset="-122"/>
                <a:cs typeface="微软雅黑" panose="020B0503020204020204" pitchFamily="34" charset="-122"/>
              </a:rPr>
              <a:t>中展示了反向传播的一个非常重要的实际应用（美国大量使用支票和纸质信件，有实际的重要</a:t>
            </a:r>
            <a:r>
              <a:rPr lang="zh-CN" altLang="en-US">
                <a:latin typeface="微软雅黑" panose="020B0503020204020204" pitchFamily="34" charset="-122"/>
                <a:cs typeface="微软雅黑" panose="020B0503020204020204" pitchFamily="34" charset="-122"/>
              </a:rPr>
              <a:t>需求）</a:t>
            </a:r>
            <a:endParaRPr lang="zh-CN" altLang="en-US" b="1" dirty="0">
              <a:solidFill>
                <a:schemeClr val="tx1"/>
              </a:solidFill>
              <a:latin typeface="微软雅黑" panose="020B0503020204020204" pitchFamily="34" charset="-122"/>
              <a:cs typeface="微软雅黑" panose="020B0503020204020204" pitchFamily="34" charset="-122"/>
            </a:endParaRPr>
          </a:p>
        </p:txBody>
      </p:sp>
      <p:pic>
        <p:nvPicPr>
          <p:cNvPr id="7" name="内容占位符 4"/>
          <p:cNvPicPr>
            <a:picLocks noChangeAspect="1"/>
          </p:cNvPicPr>
          <p:nvPr/>
        </p:nvPicPr>
        <p:blipFill>
          <a:blip r:embed="rId3"/>
          <a:stretch>
            <a:fillRect/>
          </a:stretch>
        </p:blipFill>
        <p:spPr>
          <a:xfrm>
            <a:off x="3877372" y="2671456"/>
            <a:ext cx="4568266" cy="2854981"/>
          </a:xfrm>
          <a:prstGeom prst="rect">
            <a:avLst/>
          </a:prstGeom>
        </p:spPr>
      </p:pic>
      <p:sp>
        <p:nvSpPr>
          <p:cNvPr id="4" name="文本框 3"/>
          <p:cNvSpPr txBox="1"/>
          <p:nvPr/>
        </p:nvSpPr>
        <p:spPr>
          <a:xfrm>
            <a:off x="381242" y="6453178"/>
            <a:ext cx="9167204" cy="276999"/>
          </a:xfrm>
          <a:prstGeom prst="rect">
            <a:avLst/>
          </a:prstGeom>
          <a:noFill/>
        </p:spPr>
        <p:txBody>
          <a:bodyPr wrap="square" rtlCol="0">
            <a:spAutoFit/>
          </a:bodyPr>
          <a:lstStyle>
            <a:defPPr>
              <a:defRPr lang="zh-CN"/>
            </a:defPPr>
            <a:lvl1pPr defTabSz="457200">
              <a:defRPr sz="1200">
                <a:solidFill>
                  <a:schemeClr val="bg1"/>
                </a:solidFill>
                <a:latin typeface="Times New Roman" panose="02020603050405020304" pitchFamily="18" charset="0"/>
                <a:cs typeface="Times New Roman" panose="02020603050405020304" pitchFamily="18" charset="0"/>
              </a:defRPr>
            </a:lvl1pPr>
            <a:lvl2pPr defTabSz="457200"/>
            <a:lvl3pPr defTabSz="457200"/>
            <a:lvl4pPr defTabSz="457200"/>
            <a:lvl5pPr defTabSz="457200"/>
            <a:lvl6pPr defTabSz="457200"/>
            <a:lvl7pPr defTabSz="457200"/>
            <a:lvl8pPr defTabSz="457200"/>
            <a:lvl9pPr defTabSz="457200"/>
          </a:lstStyle>
          <a:p>
            <a:r>
              <a:rPr lang="en-US" altLang="zh-CN"/>
              <a:t>LeCun Y, Boser B, Denker J S, et al. Backpropagation applied to handwritten zip code recognition[J]. Neural computation, 1989, 1(4): 541-551.</a:t>
            </a:r>
            <a:endParaRPr lang="zh-CN" altLang="en-US"/>
          </a:p>
        </p:txBody>
      </p:sp>
      <p:sp>
        <p:nvSpPr>
          <p:cNvPr id="2" name="文本框 1"/>
          <p:cNvSpPr txBox="1"/>
          <p:nvPr/>
        </p:nvSpPr>
        <p:spPr>
          <a:xfrm>
            <a:off x="381242" y="5597613"/>
            <a:ext cx="11265734" cy="581057"/>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r>
              <a:rPr lang="en-US" altLang="zh-CN" b="1">
                <a:solidFill>
                  <a:schemeClr val="tx1"/>
                </a:solidFill>
                <a:latin typeface="微软雅黑" panose="020B0503020204020204" pitchFamily="34" charset="-122"/>
                <a:cs typeface="微软雅黑" panose="020B0503020204020204" pitchFamily="34" charset="-122"/>
              </a:rPr>
              <a:t>LeNet</a:t>
            </a:r>
            <a:r>
              <a:rPr lang="zh-CN" altLang="en-US" b="1">
                <a:solidFill>
                  <a:schemeClr val="tx1"/>
                </a:solidFill>
                <a:latin typeface="微软雅黑" panose="020B0503020204020204" pitchFamily="34" charset="-122"/>
                <a:cs typeface="微软雅黑" panose="020B0503020204020204" pitchFamily="34" charset="-122"/>
              </a:rPr>
              <a:t>使用了卷积神经网络架构，它的成功展示了卷积网络在图像处理中的潜力</a:t>
            </a:r>
            <a:endParaRPr lang="zh-CN" altLang="en-US" b="1" dirty="0">
              <a:solidFill>
                <a:schemeClr val="tx1"/>
              </a:solidFill>
              <a:latin typeface="微软雅黑" panose="020B0503020204020204" pitchFamily="34" charset="-122"/>
              <a:cs typeface="微软雅黑" panose="020B0503020204020204" pitchFamily="34" charset="-122"/>
            </a:endParaRPr>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卷积神经网络的发展历史</a:t>
            </a:r>
            <a:endParaRPr lang="zh-CN" altLang="en-US" dirty="0"/>
          </a:p>
        </p:txBody>
      </p:sp>
      <p:sp>
        <p:nvSpPr>
          <p:cNvPr id="5" name="文本框 4"/>
          <p:cNvSpPr txBox="1"/>
          <p:nvPr/>
        </p:nvSpPr>
        <p:spPr>
          <a:xfrm>
            <a:off x="381000" y="918210"/>
            <a:ext cx="11554460" cy="1576842"/>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pPr marL="107950" defTabSz="457200">
              <a:buSzPct val="45000"/>
            </a:pPr>
            <a:r>
              <a:rPr lang="en-US" altLang="zh-CN" sz="2000" dirty="0">
                <a:latin typeface="微软雅黑" panose="020B0503020204020204" pitchFamily="34" charset="-122"/>
                <a:cs typeface="微软雅黑" panose="020B0503020204020204" pitchFamily="34" charset="-122"/>
              </a:rPr>
              <a:t>1958</a:t>
            </a:r>
            <a:r>
              <a:rPr lang="zh-CN" altLang="en-US" sz="2000" dirty="0">
                <a:latin typeface="微软雅黑" panose="020B0503020204020204" pitchFamily="34" charset="-122"/>
                <a:cs typeface="微软雅黑" panose="020B0503020204020204" pitchFamily="34" charset="-122"/>
              </a:rPr>
              <a:t>年，</a:t>
            </a:r>
            <a:r>
              <a:rPr lang="en-US" altLang="zh-CN" sz="2000" dirty="0">
                <a:latin typeface="微软雅黑" panose="020B0503020204020204" pitchFamily="34" charset="-122"/>
                <a:cs typeface="微软雅黑" panose="020B0503020204020204" pitchFamily="34" charset="-122"/>
              </a:rPr>
              <a:t>Hubel</a:t>
            </a:r>
            <a:r>
              <a:rPr lang="zh-CN" altLang="en-US" sz="2000" dirty="0">
                <a:latin typeface="微软雅黑" panose="020B0503020204020204" pitchFamily="34" charset="-122"/>
                <a:cs typeface="微软雅黑" panose="020B0503020204020204" pitchFamily="34" charset="-122"/>
              </a:rPr>
              <a:t>和</a:t>
            </a:r>
            <a:r>
              <a:rPr lang="en-US" altLang="zh-CN" sz="2000" dirty="0">
                <a:latin typeface="微软雅黑" panose="020B0503020204020204" pitchFamily="34" charset="-122"/>
                <a:cs typeface="微软雅黑" panose="020B0503020204020204" pitchFamily="34" charset="-122"/>
              </a:rPr>
              <a:t>Wiesel</a:t>
            </a:r>
            <a:r>
              <a:rPr lang="zh-CN" altLang="en-US" sz="2000" dirty="0">
                <a:latin typeface="微软雅黑" panose="020B0503020204020204" pitchFamily="34" charset="-122"/>
                <a:cs typeface="微软雅黑" panose="020B0503020204020204" pitchFamily="34" charset="-122"/>
              </a:rPr>
              <a:t>，视觉皮层模型，提供了生物学上的启示</a:t>
            </a:r>
            <a:endParaRPr lang="en-US" altLang="zh-CN" sz="2000" dirty="0">
              <a:latin typeface="微软雅黑" panose="020B0503020204020204" pitchFamily="34" charset="-122"/>
              <a:cs typeface="微软雅黑" panose="020B0503020204020204" pitchFamily="34" charset="-122"/>
            </a:endParaRPr>
          </a:p>
          <a:p>
            <a:pPr marL="107950" defTabSz="457200">
              <a:buSzPct val="45000"/>
            </a:pPr>
            <a:r>
              <a:rPr lang="en-US" altLang="zh-CN" sz="2000" dirty="0">
                <a:latin typeface="微软雅黑" panose="020B0503020204020204" pitchFamily="34" charset="-122"/>
                <a:cs typeface="微软雅黑" panose="020B0503020204020204" pitchFamily="34" charset="-122"/>
              </a:rPr>
              <a:t>1979</a:t>
            </a:r>
            <a:r>
              <a:rPr lang="zh-CN" altLang="en-US" sz="2000" dirty="0">
                <a:latin typeface="微软雅黑" panose="020B0503020204020204" pitchFamily="34" charset="-122"/>
                <a:cs typeface="微软雅黑" panose="020B0503020204020204" pitchFamily="34" charset="-122"/>
              </a:rPr>
              <a:t>年，日本学者福岛邦彦（</a:t>
            </a:r>
            <a:r>
              <a:rPr lang="en-US" altLang="zh-CN" sz="2000" dirty="0" err="1">
                <a:latin typeface="微软雅黑" panose="020B0503020204020204" pitchFamily="34" charset="-122"/>
                <a:cs typeface="微软雅黑" panose="020B0503020204020204" pitchFamily="34" charset="-122"/>
              </a:rPr>
              <a:t>Kunihiko</a:t>
            </a:r>
            <a:r>
              <a:rPr lang="en-US" altLang="zh-CN" sz="2000" dirty="0">
                <a:latin typeface="微软雅黑" panose="020B0503020204020204" pitchFamily="34" charset="-122"/>
                <a:cs typeface="微软雅黑" panose="020B0503020204020204" pitchFamily="34" charset="-122"/>
              </a:rPr>
              <a:t> Fukushima</a:t>
            </a:r>
            <a:r>
              <a:rPr lang="zh-CN" altLang="en-US" sz="2000" dirty="0">
                <a:latin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cs typeface="微软雅黑" panose="020B0503020204020204" pitchFamily="34" charset="-122"/>
              </a:rPr>
              <a:t>[1] </a:t>
            </a:r>
            <a:r>
              <a:rPr lang="zh-CN" altLang="en-US" sz="2000" dirty="0">
                <a:latin typeface="微软雅黑" panose="020B0503020204020204" pitchFamily="34" charset="-122"/>
                <a:cs typeface="微软雅黑" panose="020B0503020204020204" pitchFamily="34" charset="-122"/>
              </a:rPr>
              <a:t>提出了</a:t>
            </a:r>
            <a:r>
              <a:rPr lang="en-US" altLang="zh-CN" sz="2000" dirty="0" err="1"/>
              <a:t>Neocognitron</a:t>
            </a:r>
            <a:r>
              <a:rPr lang="en-US" altLang="zh-CN" sz="2000" dirty="0"/>
              <a:t> </a:t>
            </a:r>
            <a:endParaRPr lang="en-US" altLang="zh-CN" sz="2000" dirty="0">
              <a:latin typeface="微软雅黑" panose="020B0503020204020204" pitchFamily="34" charset="-122"/>
              <a:cs typeface="微软雅黑" panose="020B0503020204020204" pitchFamily="34" charset="-122"/>
            </a:endParaRPr>
          </a:p>
          <a:p>
            <a:pPr marL="107950" algn="l" defTabSz="457200">
              <a:lnSpc>
                <a:spcPct val="150000"/>
              </a:lnSpc>
              <a:buSzPct val="45000"/>
            </a:pPr>
            <a:r>
              <a:rPr lang="en-US" altLang="zh-CN" sz="2000" dirty="0">
                <a:latin typeface="微软雅黑" panose="020B0503020204020204" pitchFamily="34" charset="-122"/>
                <a:cs typeface="微软雅黑" panose="020B0503020204020204" pitchFamily="34" charset="-122"/>
              </a:rPr>
              <a:t>1989</a:t>
            </a:r>
            <a:r>
              <a:rPr lang="zh-CN" altLang="en-US" sz="2000" dirty="0">
                <a:latin typeface="微软雅黑" panose="020B0503020204020204" pitchFamily="34" charset="-122"/>
                <a:cs typeface="微软雅黑" panose="020B0503020204020204" pitchFamily="34" charset="-122"/>
              </a:rPr>
              <a:t>年，</a:t>
            </a:r>
            <a:r>
              <a:rPr lang="en-US" altLang="zh-CN" sz="2000" dirty="0">
                <a:latin typeface="微软雅黑" panose="020B0503020204020204" pitchFamily="34" charset="-122"/>
                <a:cs typeface="微软雅黑" panose="020B0503020204020204" pitchFamily="34" charset="-122"/>
              </a:rPr>
              <a:t>Yann LeCun</a:t>
            </a:r>
            <a:r>
              <a:rPr lang="zh-CN" altLang="en-US" sz="2000" dirty="0">
                <a:latin typeface="微软雅黑" panose="020B0503020204020204" pitchFamily="34" charset="-122"/>
                <a:cs typeface="微软雅黑" panose="020B0503020204020204" pitchFamily="34" charset="-122"/>
              </a:rPr>
              <a:t>，提出了用于手写数字识别的卷积神经网络模型</a:t>
            </a:r>
            <a:r>
              <a:rPr lang="en-US" altLang="zh-CN" sz="2000" dirty="0">
                <a:latin typeface="微软雅黑" panose="020B0503020204020204" pitchFamily="34" charset="-122"/>
                <a:cs typeface="微软雅黑" panose="020B0503020204020204" pitchFamily="34" charset="-122"/>
              </a:rPr>
              <a:t>——</a:t>
            </a:r>
            <a:r>
              <a:rPr lang="en-US" altLang="zh-CN" sz="2000" dirty="0" err="1">
                <a:latin typeface="微软雅黑" panose="020B0503020204020204" pitchFamily="34" charset="-122"/>
                <a:cs typeface="微软雅黑" panose="020B0503020204020204" pitchFamily="34" charset="-122"/>
              </a:rPr>
              <a:t>LeNet</a:t>
            </a:r>
            <a:r>
              <a:rPr lang="zh-CN" altLang="en-US" sz="2000" dirty="0">
                <a:latin typeface="微软雅黑" panose="020B0503020204020204" pitchFamily="34" charset="-122"/>
                <a:cs typeface="微软雅黑" panose="020B0503020204020204" pitchFamily="34" charset="-122"/>
              </a:rPr>
              <a:t>，具有里程碑意义</a:t>
            </a:r>
            <a:endParaRPr lang="en-US" altLang="zh-CN" sz="2000" dirty="0">
              <a:latin typeface="微软雅黑" panose="020B0503020204020204" pitchFamily="34" charset="-122"/>
              <a:cs typeface="微软雅黑" panose="020B0503020204020204" pitchFamily="34" charset="-122"/>
            </a:endParaRPr>
          </a:p>
        </p:txBody>
      </p:sp>
      <p:sp>
        <p:nvSpPr>
          <p:cNvPr id="4" name="文本框 3"/>
          <p:cNvSpPr txBox="1"/>
          <p:nvPr/>
        </p:nvSpPr>
        <p:spPr>
          <a:xfrm>
            <a:off x="361869" y="6364061"/>
            <a:ext cx="9167204" cy="461665"/>
          </a:xfrm>
          <a:prstGeom prst="rect">
            <a:avLst/>
          </a:prstGeom>
          <a:noFill/>
        </p:spPr>
        <p:txBody>
          <a:bodyPr wrap="square" rtlCol="0">
            <a:spAutoFit/>
          </a:bodyPr>
          <a:lstStyle>
            <a:defPPr>
              <a:defRPr lang="zh-CN"/>
            </a:defPPr>
            <a:lvl1pPr defTabSz="457200">
              <a:defRPr sz="1200">
                <a:solidFill>
                  <a:schemeClr val="bg1"/>
                </a:solidFill>
                <a:latin typeface="Times New Roman" panose="02020603050405020304" pitchFamily="18" charset="0"/>
                <a:cs typeface="Times New Roman" panose="02020603050405020304" pitchFamily="18" charset="0"/>
              </a:defRPr>
            </a:lvl1pPr>
            <a:lvl2pPr defTabSz="457200"/>
            <a:lvl3pPr defTabSz="457200"/>
            <a:lvl4pPr defTabSz="457200"/>
            <a:lvl5pPr defTabSz="457200"/>
            <a:lvl6pPr defTabSz="457200"/>
            <a:lvl7pPr defTabSz="457200"/>
            <a:lvl8pPr defTabSz="457200"/>
            <a:lvl9pPr defTabSz="457200"/>
          </a:lstStyle>
          <a:p>
            <a:r>
              <a:rPr lang="en-US" altLang="zh-CN" dirty="0"/>
              <a:t>Hubel D H, Wiesel T N. Receptive fields of single </a:t>
            </a:r>
            <a:r>
              <a:rPr lang="en-US" altLang="zh-CN" dirty="0" err="1"/>
              <a:t>neurones</a:t>
            </a:r>
            <a:r>
              <a:rPr lang="en-US" altLang="zh-CN" dirty="0"/>
              <a:t> in the cat’s striate cortex[J]. J </a:t>
            </a:r>
            <a:r>
              <a:rPr lang="en-US" altLang="zh-CN" dirty="0" err="1"/>
              <a:t>physiol</a:t>
            </a:r>
            <a:r>
              <a:rPr lang="en-US" altLang="zh-CN" dirty="0"/>
              <a:t>, 1959, 148(3): 574-591.</a:t>
            </a:r>
          </a:p>
          <a:p>
            <a:r>
              <a:rPr lang="en-US" altLang="zh-CN" dirty="0" err="1"/>
              <a:t>LeCun</a:t>
            </a:r>
            <a:r>
              <a:rPr lang="en-US" altLang="zh-CN" dirty="0"/>
              <a:t> Y, </a:t>
            </a:r>
            <a:r>
              <a:rPr lang="en-US" altLang="zh-CN" dirty="0" err="1"/>
              <a:t>Boser</a:t>
            </a:r>
            <a:r>
              <a:rPr lang="en-US" altLang="zh-CN" dirty="0"/>
              <a:t> B, </a:t>
            </a:r>
            <a:r>
              <a:rPr lang="en-US" altLang="zh-CN" dirty="0" err="1"/>
              <a:t>Denker</a:t>
            </a:r>
            <a:r>
              <a:rPr lang="en-US" altLang="zh-CN" dirty="0"/>
              <a:t> J S, et al. Backpropagation applied to handwritten zip code recognition[J]. Neural computation, 1989, 1(4): 541-551.</a:t>
            </a:r>
            <a:endParaRPr lang="zh-CN" altLang="en-US" dirty="0"/>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rcRect/>
          <a:stretch/>
        </p:blipFill>
        <p:spPr>
          <a:xfrm>
            <a:off x="3182704" y="2460200"/>
            <a:ext cx="5140202" cy="3829215"/>
          </a:xfrm>
          <a:prstGeom prst="rect">
            <a:avLst/>
          </a:prstGeom>
        </p:spPr>
      </p:pic>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latin typeface="微软雅黑" panose="020B0503020204020204" pitchFamily="34" charset="-122"/>
                <a:ea typeface="微软雅黑" panose="020B0503020204020204" pitchFamily="34" charset="-122"/>
                <a:sym typeface="+mn-ea"/>
              </a:rPr>
              <a:t>神经网络在实验室广泛传播</a:t>
            </a:r>
            <a:endParaRPr lang="zh-CN" altLang="en-US"/>
          </a:p>
        </p:txBody>
      </p:sp>
      <p:pic>
        <p:nvPicPr>
          <p:cNvPr id="2" name="图片 1"/>
          <p:cNvPicPr>
            <a:picLocks noChangeAspect="1"/>
          </p:cNvPicPr>
          <p:nvPr/>
        </p:nvPicPr>
        <p:blipFill>
          <a:blip r:embed="rId2"/>
          <a:stretch>
            <a:fillRect/>
          </a:stretch>
        </p:blipFill>
        <p:spPr>
          <a:xfrm>
            <a:off x="259527" y="1637104"/>
            <a:ext cx="4032519" cy="3214459"/>
          </a:xfrm>
          <a:prstGeom prst="rect">
            <a:avLst/>
          </a:prstGeom>
        </p:spPr>
      </p:pic>
      <p:sp>
        <p:nvSpPr>
          <p:cNvPr id="6" name="文本框 5"/>
          <p:cNvSpPr txBox="1"/>
          <p:nvPr/>
        </p:nvSpPr>
        <p:spPr>
          <a:xfrm>
            <a:off x="348191" y="4940150"/>
            <a:ext cx="3855189" cy="589072"/>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pPr algn="ctr"/>
            <a:r>
              <a:rPr lang="zh-CN" altLang="en-US" dirty="0"/>
              <a:t>自编码器</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9601" y="1655639"/>
            <a:ext cx="3256232" cy="3091263"/>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p:cNvPicPr>
            <a:picLocks noChangeAspect="1"/>
          </p:cNvPicPr>
          <p:nvPr/>
        </p:nvPicPr>
        <p:blipFill>
          <a:blip r:embed="rId4"/>
          <a:stretch>
            <a:fillRect/>
          </a:stretch>
        </p:blipFill>
        <p:spPr>
          <a:xfrm>
            <a:off x="7899956" y="1929450"/>
            <a:ext cx="3720073" cy="462566"/>
          </a:xfrm>
          <a:prstGeom prst="rect">
            <a:avLst/>
          </a:prstGeom>
        </p:spPr>
      </p:pic>
      <p:pic>
        <p:nvPicPr>
          <p:cNvPr id="9" name="图片 8"/>
          <p:cNvPicPr>
            <a:picLocks noChangeAspect="1"/>
          </p:cNvPicPr>
          <p:nvPr/>
        </p:nvPicPr>
        <p:blipFill>
          <a:blip r:embed="rId5"/>
          <a:stretch>
            <a:fillRect/>
          </a:stretch>
        </p:blipFill>
        <p:spPr>
          <a:xfrm>
            <a:off x="8626793" y="2792939"/>
            <a:ext cx="2438943" cy="638609"/>
          </a:xfrm>
          <a:prstGeom prst="rect">
            <a:avLst/>
          </a:prstGeom>
        </p:spPr>
      </p:pic>
      <p:pic>
        <p:nvPicPr>
          <p:cNvPr id="10" name="图片 9"/>
          <p:cNvPicPr>
            <a:picLocks noChangeAspect="1"/>
          </p:cNvPicPr>
          <p:nvPr/>
        </p:nvPicPr>
        <p:blipFill>
          <a:blip r:embed="rId6"/>
          <a:stretch>
            <a:fillRect/>
          </a:stretch>
        </p:blipFill>
        <p:spPr>
          <a:xfrm>
            <a:off x="7899956" y="3832471"/>
            <a:ext cx="3660313" cy="682753"/>
          </a:xfrm>
          <a:prstGeom prst="rect">
            <a:avLst/>
          </a:prstGeom>
        </p:spPr>
      </p:pic>
      <p:sp>
        <p:nvSpPr>
          <p:cNvPr id="11" name="文本框 10"/>
          <p:cNvSpPr txBox="1"/>
          <p:nvPr/>
        </p:nvSpPr>
        <p:spPr>
          <a:xfrm>
            <a:off x="5655022" y="4923479"/>
            <a:ext cx="4489868" cy="587340"/>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r>
              <a:rPr lang="zh-CN" altLang="en-US"/>
              <a:t>基于能量构建的生成式模型</a:t>
            </a:r>
            <a:r>
              <a:rPr lang="en-US" altLang="zh-CN"/>
              <a:t>[1]</a:t>
            </a:r>
            <a:endParaRPr lang="zh-CN" altLang="en-US"/>
          </a:p>
        </p:txBody>
      </p:sp>
      <p:sp>
        <p:nvSpPr>
          <p:cNvPr id="12" name="矩形 11"/>
          <p:cNvSpPr/>
          <p:nvPr/>
        </p:nvSpPr>
        <p:spPr>
          <a:xfrm>
            <a:off x="97565" y="6442177"/>
            <a:ext cx="1179004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a:solidFill>
                  <a:schemeClr val="bg1"/>
                </a:solidFill>
                <a:latin typeface="Times New Roman" panose="02020603050405020304" pitchFamily="18" charset="0"/>
                <a:cs typeface="Times New Roman" panose="02020603050405020304" pitchFamily="18" charset="0"/>
              </a:rPr>
              <a:t>[1] Ackley</a:t>
            </a:r>
            <a:r>
              <a:rPr lang="en-US" sz="1200" dirty="0">
                <a:solidFill>
                  <a:schemeClr val="bg1"/>
                </a:solidFill>
                <a:latin typeface="Times New Roman" panose="02020603050405020304" pitchFamily="18" charset="0"/>
                <a:cs typeface="Times New Roman" panose="02020603050405020304" pitchFamily="18" charset="0"/>
              </a:rPr>
              <a:t>, D. H., Hinton, G. E., </a:t>
            </a:r>
            <a:r>
              <a:rPr lang="en-US" sz="1200">
                <a:solidFill>
                  <a:schemeClr val="bg1"/>
                </a:solidFill>
                <a:latin typeface="Times New Roman" panose="02020603050405020304" pitchFamily="18" charset="0"/>
                <a:cs typeface="Times New Roman" panose="02020603050405020304" pitchFamily="18" charset="0"/>
              </a:rPr>
              <a:t>&amp; Sejnowski</a:t>
            </a:r>
            <a:r>
              <a:rPr lang="en-US" sz="1200" dirty="0">
                <a:solidFill>
                  <a:schemeClr val="bg1"/>
                </a:solidFill>
                <a:latin typeface="Times New Roman" panose="02020603050405020304" pitchFamily="18" charset="0"/>
                <a:cs typeface="Times New Roman" panose="02020603050405020304" pitchFamily="18" charset="0"/>
              </a:rPr>
              <a:t>, T. J. (1985). A learning algorithm </a:t>
            </a:r>
            <a:r>
              <a:rPr lang="en-US" sz="1200">
                <a:solidFill>
                  <a:schemeClr val="bg1"/>
                </a:solidFill>
                <a:latin typeface="Times New Roman" panose="02020603050405020304" pitchFamily="18" charset="0"/>
                <a:cs typeface="Times New Roman" panose="02020603050405020304" pitchFamily="18" charset="0"/>
              </a:rPr>
              <a:t>for boltzmann</a:t>
            </a:r>
            <a:r>
              <a:rPr lang="en-US" sz="1200" dirty="0">
                <a:solidFill>
                  <a:schemeClr val="bg1"/>
                </a:solidFill>
                <a:latin typeface="Times New Roman" panose="02020603050405020304" pitchFamily="18" charset="0"/>
                <a:cs typeface="Times New Roman" panose="02020603050405020304" pitchFamily="18" charset="0"/>
              </a:rPr>
              <a:t> machines*. Cognitive science, 9(1), 147-169.</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latin typeface="微软雅黑" panose="020B0503020204020204" pitchFamily="34" charset="-122"/>
                <a:ea typeface="微软雅黑" panose="020B0503020204020204" pitchFamily="34" charset="-122"/>
                <a:sym typeface="+mn-ea"/>
              </a:rPr>
              <a:t>神经网络在实验室广泛传播</a:t>
            </a:r>
            <a:endParaRPr lang="zh-CN" altLang="en-US"/>
          </a:p>
        </p:txBody>
      </p:sp>
      <p:sp>
        <p:nvSpPr>
          <p:cNvPr id="6" name="文本框 5"/>
          <p:cNvSpPr txBox="1"/>
          <p:nvPr/>
        </p:nvSpPr>
        <p:spPr>
          <a:xfrm>
            <a:off x="5040679" y="4744477"/>
            <a:ext cx="2511706" cy="587340"/>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pPr algn="ctr"/>
            <a:r>
              <a:rPr lang="zh-CN" altLang="en-US"/>
              <a:t>强化学习</a:t>
            </a:r>
          </a:p>
        </p:txBody>
      </p:sp>
      <p:pic>
        <p:nvPicPr>
          <p:cNvPr id="4" name="图片 3"/>
          <p:cNvPicPr>
            <a:picLocks noChangeAspect="1"/>
          </p:cNvPicPr>
          <p:nvPr/>
        </p:nvPicPr>
        <p:blipFill>
          <a:blip r:embed="rId3"/>
          <a:stretch>
            <a:fillRect/>
          </a:stretch>
        </p:blipFill>
        <p:spPr>
          <a:xfrm>
            <a:off x="4211843" y="1658537"/>
            <a:ext cx="4169379" cy="2605807"/>
          </a:xfrm>
          <a:prstGeom prst="rect">
            <a:avLst/>
          </a:prstGeom>
          <a:noFill/>
          <a:ln w="25400">
            <a:solidFill>
              <a:srgbClr val="000000"/>
            </a:solidFill>
            <a:miter lim="800000"/>
            <a:headEnd/>
            <a:tailEnd/>
          </a:ln>
        </p:spPr>
      </p:pic>
      <p:sp>
        <p:nvSpPr>
          <p:cNvPr id="5" name="矩形 4"/>
          <p:cNvSpPr/>
          <p:nvPr/>
        </p:nvSpPr>
        <p:spPr>
          <a:xfrm>
            <a:off x="180975" y="6331366"/>
            <a:ext cx="11830050"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200">
                <a:solidFill>
                  <a:schemeClr val="bg1"/>
                </a:solidFill>
                <a:latin typeface="Times New Roman" panose="02020603050405020304" pitchFamily="18" charset="0"/>
                <a:cs typeface="Times New Roman" panose="02020603050405020304" pitchFamily="18" charset="0"/>
              </a:rPr>
              <a:t>[1] Anderson</a:t>
            </a:r>
            <a:r>
              <a:rPr lang="en-US" altLang="zh-CN" sz="1200" dirty="0">
                <a:solidFill>
                  <a:schemeClr val="bg1"/>
                </a:solidFill>
                <a:latin typeface="Times New Roman" panose="02020603050405020304" pitchFamily="18" charset="0"/>
                <a:cs typeface="Times New Roman" panose="02020603050405020304" pitchFamily="18" charset="0"/>
              </a:rPr>
              <a:t>, C. W. (1989). Learning to control an inverted pendulum using neural networks. Control Systems Magazine, IEEE, 9(3), 31-37.</a:t>
            </a:r>
          </a:p>
        </p:txBody>
      </p:sp>
      <p:sp>
        <p:nvSpPr>
          <p:cNvPr id="13" name="矩形 12"/>
          <p:cNvSpPr/>
          <p:nvPr/>
        </p:nvSpPr>
        <p:spPr>
          <a:xfrm>
            <a:off x="180975" y="6580867"/>
            <a:ext cx="983551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200">
                <a:solidFill>
                  <a:schemeClr val="bg1"/>
                </a:solidFill>
                <a:latin typeface="Times New Roman" panose="02020603050405020304" pitchFamily="18" charset="0"/>
                <a:cs typeface="Times New Roman" panose="02020603050405020304" pitchFamily="18" charset="0"/>
              </a:rPr>
              <a:t>[2] CMU’s NavLab</a:t>
            </a:r>
            <a:r>
              <a:rPr lang="en-US" altLang="zh-CN" sz="1200" dirty="0">
                <a:solidFill>
                  <a:schemeClr val="bg1"/>
                </a:solidFill>
                <a:latin typeface="Times New Roman" panose="02020603050405020304" pitchFamily="18" charset="0"/>
                <a:cs typeface="Times New Roman" panose="02020603050405020304" pitchFamily="18" charset="0"/>
              </a:rPr>
              <a:t> </a:t>
            </a:r>
            <a:r>
              <a:rPr lang="en-US" altLang="zh-CN" sz="1200">
                <a:solidFill>
                  <a:schemeClr val="bg1"/>
                </a:solidFill>
                <a:latin typeface="Times New Roman" panose="02020603050405020304" pitchFamily="18" charset="0"/>
                <a:cs typeface="Times New Roman" panose="02020603050405020304" pitchFamily="18" charset="0"/>
              </a:rPr>
              <a:t>with 1989’s “Alvinn</a:t>
            </a:r>
            <a:r>
              <a:rPr lang="en-US" altLang="zh-CN" sz="1200" dirty="0">
                <a:solidFill>
                  <a:schemeClr val="bg1"/>
                </a:solidFill>
                <a:latin typeface="Times New Roman" panose="02020603050405020304" pitchFamily="18" charset="0"/>
                <a:cs typeface="Times New Roman" panose="02020603050405020304" pitchFamily="18" charset="0"/>
              </a:rPr>
              <a:t>: An autonomous land vehicle in a neural </a:t>
            </a:r>
            <a:r>
              <a:rPr lang="en-US" altLang="zh-CN" sz="1200">
                <a:solidFill>
                  <a:schemeClr val="bg1"/>
                </a:solidFill>
                <a:latin typeface="Times New Roman" panose="02020603050405020304" pitchFamily="18" charset="0"/>
                <a:cs typeface="Times New Roman" panose="02020603050405020304" pitchFamily="18" charset="0"/>
              </a:rPr>
              <a:t>network”</a:t>
            </a:r>
            <a:r>
              <a:rPr lang="en-US" altLang="zh-CN" sz="1200" dirty="0">
                <a:solidFill>
                  <a:schemeClr val="bg1"/>
                </a:solidFill>
                <a:latin typeface="Times New Roman" panose="02020603050405020304" pitchFamily="18" charset="0"/>
                <a:cs typeface="Times New Roman" panose="02020603050405020304" pitchFamily="18" charset="0"/>
              </a:rPr>
              <a:t>1984-1994</a:t>
            </a: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人工智能的第二次危机（</a:t>
            </a:r>
            <a:r>
              <a:rPr lang="en-US" altLang="zh-CN" dirty="0"/>
              <a:t>1990s</a:t>
            </a:r>
            <a:r>
              <a:rPr lang="zh-CN" altLang="en-US" dirty="0"/>
              <a:t>末期）</a:t>
            </a:r>
          </a:p>
        </p:txBody>
      </p:sp>
      <p:sp>
        <p:nvSpPr>
          <p:cNvPr id="5" name="文本框 4"/>
          <p:cNvSpPr txBox="1"/>
          <p:nvPr/>
        </p:nvSpPr>
        <p:spPr>
          <a:xfrm>
            <a:off x="381242" y="1450655"/>
            <a:ext cx="10800627" cy="2481898"/>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pPr marL="342900" indent="-342900">
              <a:buFont typeface="Wingdings" panose="05000000000000000000" pitchFamily="2" charset="2"/>
              <a:buChar char="p"/>
            </a:pPr>
            <a:r>
              <a:rPr lang="zh-CN" altLang="en-US" dirty="0"/>
              <a:t>效果不佳（深层比浅层差）</a:t>
            </a:r>
          </a:p>
          <a:p>
            <a:pPr marL="342900" indent="-342900">
              <a:buFont typeface="Wingdings" panose="05000000000000000000" pitchFamily="2" charset="2"/>
              <a:buChar char="p"/>
            </a:pPr>
            <a:r>
              <a:rPr lang="zh-CN" altLang="en-US" dirty="0"/>
              <a:t>反向传播：“消失或爆炸梯度问题”。</a:t>
            </a:r>
          </a:p>
          <a:p>
            <a:pPr marL="342900" indent="-342900">
              <a:buFont typeface="Wingdings" panose="05000000000000000000" pitchFamily="2" charset="2"/>
              <a:buChar char="p"/>
            </a:pPr>
            <a:r>
              <a:rPr lang="en-US" altLang="zh-CN" dirty="0">
                <a:latin typeface="微软雅黑" panose="020B0503020204020204" pitchFamily="34" charset="-122"/>
              </a:rPr>
              <a:t>RNN</a:t>
            </a:r>
            <a:r>
              <a:rPr lang="zh-CN" altLang="en-US" dirty="0">
                <a:latin typeface="微软雅黑" panose="020B0503020204020204" pitchFamily="34" charset="-122"/>
              </a:rPr>
              <a:t>（</a:t>
            </a:r>
            <a:r>
              <a:rPr lang="zh-CN" altLang="en-US" dirty="0"/>
              <a:t>一种当时流行的语言模型）</a:t>
            </a:r>
            <a:r>
              <a:rPr lang="en-US" altLang="zh-CN" dirty="0"/>
              <a:t> </a:t>
            </a:r>
            <a:r>
              <a:rPr lang="zh-CN" altLang="en-US" dirty="0"/>
              <a:t>特别难以用 </a:t>
            </a:r>
            <a:r>
              <a:rPr lang="en-US" altLang="zh-CN" dirty="0"/>
              <a:t>BP </a:t>
            </a:r>
            <a:r>
              <a:rPr lang="zh-CN" altLang="en-US" dirty="0"/>
              <a:t>进行训练</a:t>
            </a:r>
            <a:endParaRPr lang="en-US" altLang="zh-CN" dirty="0"/>
          </a:p>
          <a:p>
            <a:pPr marL="342900" indent="-342900">
              <a:buFont typeface="Wingdings" panose="05000000000000000000" pitchFamily="2" charset="2"/>
              <a:buChar char="p"/>
            </a:pPr>
            <a:r>
              <a:rPr lang="zh-CN" altLang="en-US" dirty="0"/>
              <a:t>支持向量机的分类效果非常好，且有理论支撑</a:t>
            </a:r>
            <a:endParaRPr lang="en-US" altLang="zh-CN" dirty="0"/>
          </a:p>
        </p:txBody>
      </p:sp>
      <p:sp>
        <p:nvSpPr>
          <p:cNvPr id="4" name="文本框 3"/>
          <p:cNvSpPr txBox="1"/>
          <p:nvPr/>
        </p:nvSpPr>
        <p:spPr>
          <a:xfrm>
            <a:off x="1214377" y="4210820"/>
            <a:ext cx="9763245" cy="584775"/>
          </a:xfrm>
          <a:prstGeom prst="rect">
            <a:avLst/>
          </a:prstGeom>
          <a:noFill/>
        </p:spPr>
        <p:txBody>
          <a:bodyPr wrap="square">
            <a:spAutoFit/>
          </a:bodyPr>
          <a:lstStyle/>
          <a:p>
            <a:pPr algn="ctr"/>
            <a:r>
              <a:rPr lang="zh-CN" altLang="en-US" sz="3200" b="1" dirty="0">
                <a:latin typeface="微软雅黑" panose="020B0503020204020204" pitchFamily="34" charset="-122"/>
                <a:ea typeface="微软雅黑" panose="020B0503020204020204" pitchFamily="34" charset="-122"/>
              </a:rPr>
              <a:t>总结：计算机不够快，算法不够智能，人们不满意</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人工智能的第二次危机（</a:t>
            </a:r>
            <a:r>
              <a:rPr lang="en-US" altLang="zh-CN"/>
              <a:t>1995</a:t>
            </a:r>
            <a:r>
              <a:rPr lang="zh-CN" altLang="en-US"/>
              <a:t>）</a:t>
            </a:r>
            <a:endParaRPr lang="zh-CN" altLang="en-US" dirty="0"/>
          </a:p>
        </p:txBody>
      </p:sp>
      <p:pic>
        <p:nvPicPr>
          <p:cNvPr id="2" name="图片 1"/>
          <p:cNvPicPr>
            <a:picLocks noChangeAspect="1"/>
          </p:cNvPicPr>
          <p:nvPr/>
        </p:nvPicPr>
        <p:blipFill>
          <a:blip r:embed="rId2"/>
          <a:stretch>
            <a:fillRect/>
          </a:stretch>
        </p:blipFill>
        <p:spPr>
          <a:xfrm>
            <a:off x="588327" y="2900197"/>
            <a:ext cx="11015345" cy="1760220"/>
          </a:xfrm>
          <a:prstGeom prst="rect">
            <a:avLst/>
          </a:prstGeom>
          <a:ln w="25400">
            <a:solidFill>
              <a:schemeClr val="tx1"/>
            </a:solidFill>
          </a:ln>
        </p:spPr>
      </p:pic>
      <p:pic>
        <p:nvPicPr>
          <p:cNvPr id="4" name="图片 3"/>
          <p:cNvPicPr>
            <a:picLocks noChangeAspect="1"/>
          </p:cNvPicPr>
          <p:nvPr/>
        </p:nvPicPr>
        <p:blipFill>
          <a:blip r:embed="rId3"/>
          <a:stretch>
            <a:fillRect/>
          </a:stretch>
        </p:blipFill>
        <p:spPr>
          <a:xfrm>
            <a:off x="2459671" y="1302879"/>
            <a:ext cx="7272655" cy="1355725"/>
          </a:xfrm>
          <a:prstGeom prst="rect">
            <a:avLst/>
          </a:prstGeom>
          <a:ln w="25400">
            <a:solidFill>
              <a:schemeClr val="tx1"/>
            </a:solidFill>
          </a:ln>
        </p:spPr>
      </p:pic>
      <p:pic>
        <p:nvPicPr>
          <p:cNvPr id="7" name="图片 6"/>
          <p:cNvPicPr>
            <a:picLocks noChangeAspect="1"/>
          </p:cNvPicPr>
          <p:nvPr/>
        </p:nvPicPr>
        <p:blipFill>
          <a:blip r:embed="rId4"/>
          <a:stretch>
            <a:fillRect/>
          </a:stretch>
        </p:blipFill>
        <p:spPr>
          <a:xfrm>
            <a:off x="826769" y="4948192"/>
            <a:ext cx="10538460" cy="1069975"/>
          </a:xfrm>
          <a:prstGeom prst="rect">
            <a:avLst/>
          </a:prstGeom>
          <a:ln w="25400">
            <a:solidFill>
              <a:schemeClr val="tx1"/>
            </a:solidFill>
          </a:ln>
        </p:spPr>
      </p:pic>
      <p:sp>
        <p:nvSpPr>
          <p:cNvPr id="6" name="文本框 5"/>
          <p:cNvSpPr txBox="1"/>
          <p:nvPr/>
        </p:nvSpPr>
        <p:spPr>
          <a:xfrm>
            <a:off x="381242" y="6419031"/>
            <a:ext cx="8710004" cy="276999"/>
          </a:xfrm>
          <a:prstGeom prst="rect">
            <a:avLst/>
          </a:prstGeom>
        </p:spPr>
        <p:txBody>
          <a:bodyPr wrap="square">
            <a:spAutoFit/>
          </a:bodyPr>
          <a:lstStyle>
            <a:defPPr>
              <a:defRPr lang="zh-CN"/>
            </a:defPPr>
            <a:lvl1pPr>
              <a:defRPr sz="1200">
                <a:solidFill>
                  <a:schemeClr val="bg1"/>
                </a:solidFill>
              </a:defRPr>
            </a:lvl1pPr>
          </a:lstStyle>
          <a:p>
            <a:r>
              <a:rPr lang="en-US" altLang="zh-CN">
                <a:latin typeface="Times New Roman" panose="02020603050405020304" pitchFamily="18" charset="0"/>
                <a:cs typeface="Times New Roman" panose="02020603050405020304" pitchFamily="18" charset="0"/>
              </a:rPr>
              <a:t>Breiman L. Reflections after refereeing papers for nips[M]//The Mathematics of Generalization. CRC Press, 2018: 11-15.</a:t>
            </a:r>
            <a:endParaRPr lang="zh-C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人工智能的第二次危机</a:t>
            </a:r>
            <a:endParaRPr lang="zh-CN" altLang="en-US" dirty="0"/>
          </a:p>
        </p:txBody>
      </p:sp>
      <p:sp>
        <p:nvSpPr>
          <p:cNvPr id="5" name="文本框 4"/>
          <p:cNvSpPr txBox="1"/>
          <p:nvPr/>
        </p:nvSpPr>
        <p:spPr>
          <a:xfrm>
            <a:off x="328431" y="1120777"/>
            <a:ext cx="10942712" cy="2326278"/>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pPr marL="342900" indent="-342900">
              <a:buFont typeface="Wingdings" panose="05000000000000000000" pitchFamily="2" charset="2"/>
              <a:buChar char="p"/>
            </a:pPr>
            <a:r>
              <a:rPr lang="en-US" altLang="zh-CN" dirty="0">
                <a:latin typeface="微软雅黑" panose="020B0503020204020204" pitchFamily="34" charset="-122"/>
              </a:rPr>
              <a:t>LeCun </a:t>
            </a:r>
            <a:r>
              <a:rPr lang="zh-CN" altLang="en-US" dirty="0">
                <a:latin typeface="微软雅黑" panose="020B0503020204020204" pitchFamily="34" charset="-122"/>
              </a:rPr>
              <a:t>和 </a:t>
            </a:r>
            <a:r>
              <a:rPr lang="en-US" altLang="zh-CN" dirty="0">
                <a:latin typeface="微软雅黑" panose="020B0503020204020204" pitchFamily="34" charset="-122"/>
              </a:rPr>
              <a:t>Hinton</a:t>
            </a:r>
            <a:r>
              <a:rPr lang="zh-CN" altLang="en-US" dirty="0">
                <a:latin typeface="微软雅黑" panose="020B0503020204020204" pitchFamily="34" charset="-122"/>
              </a:rPr>
              <a:t>：他们的论文经常因主题是神经网络而被拒绝。尽管如此，他们还是坚持了下来。</a:t>
            </a:r>
          </a:p>
          <a:p>
            <a:pPr marL="342900" indent="-342900">
              <a:buFont typeface="Wingdings" panose="05000000000000000000" pitchFamily="2" charset="2"/>
              <a:buChar char="p"/>
            </a:pPr>
            <a:r>
              <a:rPr lang="zh-CN" altLang="en-US" dirty="0">
                <a:latin typeface="微软雅黑" panose="020B0503020204020204" pitchFamily="34" charset="-122"/>
              </a:rPr>
              <a:t>强大的盟友：</a:t>
            </a:r>
            <a:r>
              <a:rPr lang="en-US" altLang="zh-CN" dirty="0">
                <a:latin typeface="微软雅黑" panose="020B0503020204020204" pitchFamily="34" charset="-122"/>
              </a:rPr>
              <a:t>CIFAR</a:t>
            </a:r>
            <a:r>
              <a:rPr lang="zh-CN" altLang="en-US" dirty="0">
                <a:latin typeface="微软雅黑" panose="020B0503020204020204" pitchFamily="34" charset="-122"/>
              </a:rPr>
              <a:t>，它鼓励基础研究而不是直接应用，这也是 </a:t>
            </a:r>
            <a:r>
              <a:rPr lang="en-US" altLang="zh-CN" dirty="0">
                <a:latin typeface="微软雅黑" panose="020B0503020204020204" pitchFamily="34" charset="-122"/>
              </a:rPr>
              <a:t>Hinton </a:t>
            </a:r>
            <a:r>
              <a:rPr lang="zh-CN" altLang="en-US" dirty="0">
                <a:latin typeface="微软雅黑" panose="020B0503020204020204" pitchFamily="34" charset="-122"/>
              </a:rPr>
              <a:t>于 </a:t>
            </a:r>
            <a:r>
              <a:rPr lang="en-US" altLang="zh-CN" dirty="0">
                <a:latin typeface="微软雅黑" panose="020B0503020204020204" pitchFamily="34" charset="-122"/>
              </a:rPr>
              <a:t>1987 </a:t>
            </a:r>
            <a:r>
              <a:rPr lang="zh-CN" altLang="en-US" dirty="0">
                <a:latin typeface="微软雅黑" panose="020B0503020204020204" pitchFamily="34" charset="-122"/>
              </a:rPr>
              <a:t>年移居加拿大的动机</a:t>
            </a:r>
          </a:p>
        </p:txBody>
      </p:sp>
      <p:pic>
        <p:nvPicPr>
          <p:cNvPr id="2" name="Picture 4" descr="Image result for hint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30530" y="3800327"/>
            <a:ext cx="1891608" cy="214461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Image result for lecu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0901" y="3806676"/>
            <a:ext cx="1891608" cy="214144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Image result for CIFA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71303" y="3800327"/>
            <a:ext cx="4021069" cy="20101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人工智能的第三波浪潮</a:t>
            </a:r>
            <a:endParaRPr lang="zh-CN" altLang="en-US" dirty="0"/>
          </a:p>
        </p:txBody>
      </p:sp>
      <p:sp>
        <p:nvSpPr>
          <p:cNvPr id="5" name="文本框 4"/>
          <p:cNvSpPr txBox="1"/>
          <p:nvPr/>
        </p:nvSpPr>
        <p:spPr>
          <a:xfrm>
            <a:off x="277792" y="929795"/>
            <a:ext cx="11360552" cy="2500172"/>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pPr marL="342900" indent="-342900">
              <a:buFont typeface="Wingdings" panose="05000000000000000000" pitchFamily="2" charset="2"/>
              <a:buChar char="p"/>
            </a:pPr>
            <a:r>
              <a:rPr lang="en-US" altLang="zh-CN" sz="2000" dirty="0">
                <a:latin typeface="微软雅黑" panose="020B0503020204020204" pitchFamily="34" charset="-122"/>
              </a:rPr>
              <a:t>Hinton</a:t>
            </a:r>
            <a:r>
              <a:rPr lang="zh-CN" altLang="en-US" sz="2000" dirty="0">
                <a:latin typeface="微软雅黑" panose="020B0503020204020204" pitchFamily="34" charset="-122"/>
              </a:rPr>
              <a:t>、</a:t>
            </a:r>
            <a:r>
              <a:rPr lang="en-US" altLang="zh-CN" sz="2000" dirty="0">
                <a:latin typeface="微软雅黑" panose="020B0503020204020204" pitchFamily="34" charset="-122"/>
              </a:rPr>
              <a:t>Simon </a:t>
            </a:r>
            <a:r>
              <a:rPr lang="en-US" altLang="zh-CN" sz="2000" dirty="0" err="1">
                <a:latin typeface="微软雅黑" panose="020B0503020204020204" pitchFamily="34" charset="-122"/>
              </a:rPr>
              <a:t>Osindero</a:t>
            </a:r>
            <a:r>
              <a:rPr lang="en-US" altLang="zh-CN" sz="2000" dirty="0">
                <a:latin typeface="微软雅黑" panose="020B0503020204020204" pitchFamily="34" charset="-122"/>
              </a:rPr>
              <a:t> </a:t>
            </a:r>
            <a:r>
              <a:rPr lang="zh-CN" altLang="en-US" sz="2000" dirty="0">
                <a:latin typeface="微软雅黑" panose="020B0503020204020204" pitchFamily="34" charset="-122"/>
              </a:rPr>
              <a:t>和 </a:t>
            </a:r>
            <a:r>
              <a:rPr lang="en-US" altLang="zh-CN" sz="2000" dirty="0">
                <a:latin typeface="微软雅黑" panose="020B0503020204020204" pitchFamily="34" charset="-122"/>
              </a:rPr>
              <a:t>Yee-</a:t>
            </a:r>
            <a:r>
              <a:rPr lang="en-US" altLang="zh-CN" sz="2000" dirty="0" err="1">
                <a:latin typeface="微软雅黑" panose="020B0503020204020204" pitchFamily="34" charset="-122"/>
              </a:rPr>
              <a:t>Whye</a:t>
            </a:r>
            <a:r>
              <a:rPr lang="en-US" altLang="zh-CN" sz="2000" dirty="0">
                <a:latin typeface="微软雅黑" panose="020B0503020204020204" pitchFamily="34" charset="-122"/>
              </a:rPr>
              <a:t> </a:t>
            </a:r>
            <a:r>
              <a:rPr lang="en-US" altLang="zh-CN" sz="2000" dirty="0" err="1">
                <a:latin typeface="微软雅黑" panose="020B0503020204020204" pitchFamily="34" charset="-122"/>
              </a:rPr>
              <a:t>Teh</a:t>
            </a:r>
            <a:r>
              <a:rPr lang="en-US" altLang="zh-CN" sz="2000" dirty="0">
                <a:latin typeface="微软雅黑" panose="020B0503020204020204" pitchFamily="34" charset="-122"/>
              </a:rPr>
              <a:t> </a:t>
            </a:r>
            <a:r>
              <a:rPr lang="zh-CN" altLang="en-US" sz="2000" dirty="0">
                <a:latin typeface="微软雅黑" panose="020B0503020204020204" pitchFamily="34" charset="-122"/>
              </a:rPr>
              <a:t>在 </a:t>
            </a:r>
            <a:r>
              <a:rPr lang="en-US" altLang="zh-CN" sz="2000" dirty="0">
                <a:latin typeface="微软雅黑" panose="020B0503020204020204" pitchFamily="34" charset="-122"/>
              </a:rPr>
              <a:t>2006 </a:t>
            </a:r>
            <a:r>
              <a:rPr lang="zh-CN" altLang="en-US" sz="2000" dirty="0">
                <a:latin typeface="微软雅黑" panose="020B0503020204020204" pitchFamily="34" charset="-122"/>
              </a:rPr>
              <a:t>年发表了一篇被视为突破的论文，重新点燃了人们对神经网络的兴趣：</a:t>
            </a:r>
            <a:r>
              <a:rPr lang="en-US" altLang="zh-CN" sz="2000" dirty="0">
                <a:latin typeface="微软雅黑" panose="020B0503020204020204" pitchFamily="34" charset="-122"/>
              </a:rPr>
              <a:t> A Fast Learning Algorithm for Deep Belief Nets</a:t>
            </a:r>
            <a:r>
              <a:rPr lang="zh-CN" altLang="en-US" sz="2000" dirty="0">
                <a:latin typeface="微软雅黑" panose="020B0503020204020204" pitchFamily="34" charset="-122"/>
              </a:rPr>
              <a:t> </a:t>
            </a:r>
            <a:endParaRPr lang="en-US" altLang="zh-CN" sz="2000" dirty="0">
              <a:latin typeface="微软雅黑" panose="020B0503020204020204" pitchFamily="34" charset="-122"/>
            </a:endParaRPr>
          </a:p>
          <a:p>
            <a:pPr marL="342900" indent="-342900">
              <a:buFont typeface="Wingdings" panose="05000000000000000000" pitchFamily="2" charset="2"/>
              <a:buChar char="p"/>
            </a:pPr>
            <a:r>
              <a:rPr lang="zh-CN" altLang="en-US" sz="2000" dirty="0">
                <a:latin typeface="微软雅黑" panose="020B0503020204020204" pitchFamily="34" charset="-122"/>
              </a:rPr>
              <a:t>事实证明，以下形式的玻尔兹曼机可以以 </a:t>
            </a:r>
            <a:r>
              <a:rPr lang="en-US" altLang="zh-CN" sz="2000" dirty="0">
                <a:latin typeface="微软雅黑" panose="020B0503020204020204" pitchFamily="34" charset="-122"/>
              </a:rPr>
              <a:t>Hinton </a:t>
            </a:r>
            <a:r>
              <a:rPr lang="zh-CN" altLang="en-US" sz="2000" dirty="0">
                <a:latin typeface="微软雅黑" panose="020B0503020204020204" pitchFamily="34" charset="-122"/>
              </a:rPr>
              <a:t>在 </a:t>
            </a:r>
            <a:r>
              <a:rPr lang="en-US" altLang="zh-CN" sz="2000" dirty="0">
                <a:latin typeface="微软雅黑" panose="020B0503020204020204" pitchFamily="34" charset="-122"/>
              </a:rPr>
              <a:t>2002 </a:t>
            </a:r>
            <a:r>
              <a:rPr lang="zh-CN" altLang="en-US" sz="2000" dirty="0">
                <a:latin typeface="微软雅黑" panose="020B0503020204020204" pitchFamily="34" charset="-122"/>
              </a:rPr>
              <a:t>年的“</a:t>
            </a:r>
            <a:r>
              <a:rPr lang="en-US" altLang="zh-CN" sz="2000" dirty="0">
                <a:latin typeface="微软雅黑" panose="020B0503020204020204" pitchFamily="34" charset="-122"/>
              </a:rPr>
              <a:t>Training Products of Experts by Minimizing Contrastive Divergence</a:t>
            </a:r>
            <a:r>
              <a:rPr lang="zh-CN" altLang="en-US" sz="2000" dirty="0">
                <a:latin typeface="微软雅黑" panose="020B0503020204020204" pitchFamily="34" charset="-122"/>
              </a:rPr>
              <a:t>”中引入的有效方式进行训练</a:t>
            </a:r>
            <a:endParaRPr lang="en-US" altLang="zh-CN" sz="2000" dirty="0">
              <a:latin typeface="微软雅黑" panose="020B0503020204020204" pitchFamily="34" charset="-122"/>
            </a:endParaRPr>
          </a:p>
          <a:p>
            <a:pPr marL="342900" indent="-342900">
              <a:buFont typeface="Wingdings" panose="05000000000000000000" pitchFamily="2" charset="2"/>
              <a:buChar char="p"/>
            </a:pPr>
            <a:r>
              <a:rPr lang="en-US" altLang="zh-CN" sz="2000" dirty="0"/>
              <a:t>Hinton</a:t>
            </a:r>
            <a:r>
              <a:rPr lang="zh-CN" altLang="en-US" sz="2000" dirty="0"/>
              <a:t>因为玻尔兹曼机的工作拿到</a:t>
            </a:r>
            <a:r>
              <a:rPr lang="en-US" altLang="zh-CN" sz="2000" dirty="0"/>
              <a:t>2024</a:t>
            </a:r>
            <a:r>
              <a:rPr lang="zh-CN" altLang="en-US" sz="2000" dirty="0"/>
              <a:t>年诺贝尔物理学奖</a:t>
            </a:r>
            <a:endParaRPr lang="zh-CN" altLang="en-US" sz="2000" dirty="0">
              <a:latin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3304697" y="3423889"/>
            <a:ext cx="5306742" cy="2717264"/>
          </a:xfrm>
          <a:prstGeom prst="rect">
            <a:avLst/>
          </a:prstGeom>
        </p:spPr>
      </p:pic>
      <p:sp>
        <p:nvSpPr>
          <p:cNvPr id="8" name="文本框 7"/>
          <p:cNvSpPr txBox="1"/>
          <p:nvPr/>
        </p:nvSpPr>
        <p:spPr>
          <a:xfrm>
            <a:off x="323124" y="6343840"/>
            <a:ext cx="8974016" cy="461665"/>
          </a:xfrm>
          <a:prstGeom prst="rect">
            <a:avLst/>
          </a:prstGeom>
        </p:spPr>
        <p:txBody>
          <a:bodyPr wrap="square">
            <a:spAutoFit/>
          </a:bodyPr>
          <a:lstStyle>
            <a:defPPr>
              <a:defRPr lang="zh-CN"/>
            </a:defPPr>
            <a:lvl1pPr>
              <a:defRPr sz="1200">
                <a:solidFill>
                  <a:schemeClr val="bg1"/>
                </a:solidFill>
              </a:defRPr>
            </a:lvl1pPr>
          </a:lstStyle>
          <a:p>
            <a:r>
              <a:rPr lang="en-US" altLang="zh-CN">
                <a:latin typeface="Times New Roman" panose="02020603050405020304" pitchFamily="18" charset="0"/>
                <a:ea typeface="微软雅黑" panose="020B0503020204020204" pitchFamily="34" charset="-122"/>
                <a:cs typeface="Times New Roman" panose="02020603050405020304" pitchFamily="18" charset="0"/>
              </a:rPr>
              <a:t>Hinton G E, Osindero S, Teh Y W. A fast learning algorithm for deep belief nets[J]. Neural computation, 2006, 18(7): 1527-1554.</a:t>
            </a:r>
          </a:p>
          <a:p>
            <a:r>
              <a:rPr lang="en-US" altLang="zh-CN">
                <a:latin typeface="Times New Roman" panose="02020603050405020304" pitchFamily="18" charset="0"/>
                <a:ea typeface="微软雅黑" panose="020B0503020204020204" pitchFamily="34" charset="-122"/>
                <a:cs typeface="Times New Roman" panose="02020603050405020304" pitchFamily="18" charset="0"/>
              </a:rPr>
              <a:t>Hinton G E. Training products of experts by minimizing contrastive divergence[J]. Neural computation, 2002, 14(8): 1771-1800.</a:t>
            </a: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蛮力的重要性：</a:t>
            </a:r>
            <a:r>
              <a:rPr lang="en-US" altLang="zh-CN"/>
              <a:t>GPU</a:t>
            </a:r>
            <a:endParaRPr lang="zh-CN" altLang="en-US" dirty="0"/>
          </a:p>
        </p:txBody>
      </p:sp>
      <p:sp>
        <p:nvSpPr>
          <p:cNvPr id="5" name="文本框 4"/>
          <p:cNvSpPr txBox="1"/>
          <p:nvPr/>
        </p:nvSpPr>
        <p:spPr>
          <a:xfrm>
            <a:off x="328430" y="1120777"/>
            <a:ext cx="11037909" cy="581057"/>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r>
              <a:rPr lang="en-US" altLang="zh-CN">
                <a:latin typeface="微软雅黑" panose="020B0503020204020204" pitchFamily="34" charset="-122"/>
              </a:rPr>
              <a:t>Dahl </a:t>
            </a:r>
            <a:r>
              <a:rPr lang="zh-CN" altLang="en-US">
                <a:latin typeface="微软雅黑" panose="020B0503020204020204" pitchFamily="34" charset="-122"/>
              </a:rPr>
              <a:t>发现了如何使用 </a:t>
            </a:r>
            <a:r>
              <a:rPr lang="en-US" altLang="zh-CN">
                <a:latin typeface="微软雅黑" panose="020B0503020204020204" pitchFamily="34" charset="-122"/>
              </a:rPr>
              <a:t>GPU </a:t>
            </a:r>
            <a:r>
              <a:rPr lang="zh-CN" altLang="en-US">
                <a:latin typeface="微软雅黑" panose="020B0503020204020204" pitchFamily="34" charset="-122"/>
              </a:rPr>
              <a:t>有效地训练和模拟神经网络</a:t>
            </a:r>
          </a:p>
        </p:txBody>
      </p:sp>
      <p:pic>
        <p:nvPicPr>
          <p:cNvPr id="2" name="Picture 2" descr="Image result for Abdel-rahman Mohamed, George Dah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8697" y="2418077"/>
            <a:ext cx="1760855" cy="176085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Image result for Abdel-rahman Mohamed, George Dah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4441" y="2424427"/>
            <a:ext cx="1760855" cy="175450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Image result for GPU"/>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57649" y="2418075"/>
            <a:ext cx="3105785" cy="17608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mage result for hinton"/>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00185" y="2418076"/>
            <a:ext cx="1552575" cy="176085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5581267" y="4317357"/>
            <a:ext cx="1390409" cy="589072"/>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pPr algn="ctr"/>
            <a:r>
              <a:rPr lang="en-US" altLang="zh-CN">
                <a:latin typeface="微软雅黑" panose="020B0503020204020204" pitchFamily="34" charset="-122"/>
              </a:rPr>
              <a:t>Hinton</a:t>
            </a:r>
            <a:endParaRPr lang="zh-CN" altLang="en-US">
              <a:latin typeface="微软雅黑" panose="020B0503020204020204" pitchFamily="34" charset="-122"/>
            </a:endParaRPr>
          </a:p>
        </p:txBody>
      </p:sp>
      <p:sp>
        <p:nvSpPr>
          <p:cNvPr id="11" name="文本框 10"/>
          <p:cNvSpPr txBox="1"/>
          <p:nvPr/>
        </p:nvSpPr>
        <p:spPr>
          <a:xfrm>
            <a:off x="3334441" y="4299820"/>
            <a:ext cx="1841822" cy="830997"/>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pPr algn="ctr">
              <a:lnSpc>
                <a:spcPct val="100000"/>
              </a:lnSpc>
            </a:pPr>
            <a:r>
              <a:rPr lang="en-US" altLang="zh-CN">
                <a:latin typeface="微软雅黑" panose="020B0503020204020204" pitchFamily="34" charset="-122"/>
              </a:rPr>
              <a:t>George Dahl </a:t>
            </a:r>
            <a:endParaRPr lang="zh-CN" altLang="en-US">
              <a:latin typeface="微软雅黑" panose="020B0503020204020204" pitchFamily="34" charset="-122"/>
            </a:endParaRPr>
          </a:p>
        </p:txBody>
      </p:sp>
      <p:sp>
        <p:nvSpPr>
          <p:cNvPr id="13" name="文本框 12"/>
          <p:cNvSpPr txBox="1"/>
          <p:nvPr/>
        </p:nvSpPr>
        <p:spPr>
          <a:xfrm>
            <a:off x="837666" y="4317357"/>
            <a:ext cx="2419317" cy="830997"/>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pPr algn="ctr">
              <a:lnSpc>
                <a:spcPct val="100000"/>
              </a:lnSpc>
            </a:pPr>
            <a:r>
              <a:rPr lang="en-US" altLang="zh-CN">
                <a:latin typeface="微软雅黑" panose="020B0503020204020204" pitchFamily="34" charset="-122"/>
              </a:rPr>
              <a:t>Abdel-rahman Mohamed</a:t>
            </a:r>
            <a:endParaRPr lang="zh-CN" altLang="en-US">
              <a:latin typeface="微软雅黑" panose="020B0503020204020204" pitchFamily="3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Image result for Microsoft"/>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3129" b="34749"/>
          <a:stretch>
            <a:fillRect/>
          </a:stretch>
        </p:blipFill>
        <p:spPr bwMode="auto">
          <a:xfrm>
            <a:off x="140534" y="4788067"/>
            <a:ext cx="4424182" cy="94780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Image result for googl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24423" y="4347273"/>
            <a:ext cx="3253372" cy="182939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Image result for IB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70385" y="4729610"/>
            <a:ext cx="2647780" cy="1059785"/>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2"/>
          <p:cNvSpPr>
            <a:spLocks noGrp="1"/>
          </p:cNvSpPr>
          <p:nvPr>
            <p:ph type="title"/>
          </p:nvPr>
        </p:nvSpPr>
        <p:spPr/>
        <p:txBody>
          <a:bodyPr/>
          <a:lstStyle/>
          <a:p>
            <a:r>
              <a:rPr lang="zh-CN" altLang="en-US"/>
              <a:t>对微软、谷歌、</a:t>
            </a:r>
            <a:r>
              <a:rPr lang="en-US" altLang="zh-CN"/>
              <a:t>IBM</a:t>
            </a:r>
            <a:r>
              <a:rPr lang="zh-CN" altLang="en-US"/>
              <a:t>的影响</a:t>
            </a:r>
            <a:endParaRPr lang="zh-CN" altLang="en-US" dirty="0"/>
          </a:p>
        </p:txBody>
      </p:sp>
      <p:sp>
        <p:nvSpPr>
          <p:cNvPr id="12" name="文本框 11"/>
          <p:cNvSpPr txBox="1"/>
          <p:nvPr/>
        </p:nvSpPr>
        <p:spPr>
          <a:xfrm>
            <a:off x="381242" y="1062096"/>
            <a:ext cx="11230864" cy="3367397"/>
          </a:xfrm>
          <a:prstGeom prst="rect">
            <a:avLst/>
          </a:prstGeom>
          <a:noFill/>
        </p:spPr>
        <p:txBody>
          <a:bodyPr wrap="square">
            <a:spAutoFit/>
          </a:bodyPr>
          <a:lstStyle/>
          <a:p>
            <a:pPr marL="285750" indent="-285750">
              <a:lnSpc>
                <a:spcPct val="150000"/>
              </a:lnSpc>
              <a:buFont typeface="Wingdings" panose="05000000000000000000" pitchFamily="2" charset="2"/>
              <a:buChar char="p"/>
            </a:pPr>
            <a:r>
              <a:rPr lang="en-US" altLang="zh-CN">
                <a:solidFill>
                  <a:srgbClr val="000000"/>
                </a:solidFill>
                <a:latin typeface="微软雅黑" panose="020B0503020204020204" pitchFamily="34" charset="-122"/>
              </a:rPr>
              <a:t>Abdel-rahman </a:t>
            </a:r>
            <a:r>
              <a:rPr lang="zh-CN" altLang="en-US">
                <a:solidFill>
                  <a:srgbClr val="000000"/>
                </a:solidFill>
                <a:latin typeface="微软雅黑" panose="020B0503020204020204" pitchFamily="34" charset="-122"/>
                <a:ea typeface="微软雅黑" panose="020B0503020204020204" pitchFamily="34" charset="-122"/>
              </a:rPr>
              <a:t>Mohamed 和 </a:t>
            </a:r>
            <a:r>
              <a:rPr lang="en-US" altLang="zh-CN">
                <a:solidFill>
                  <a:srgbClr val="000000"/>
                </a:solidFill>
                <a:latin typeface="微软雅黑" panose="020B0503020204020204" pitchFamily="34" charset="-122"/>
                <a:ea typeface="微软雅黑" panose="020B0503020204020204" pitchFamily="34" charset="-122"/>
              </a:rPr>
              <a:t>George </a:t>
            </a:r>
            <a:r>
              <a:rPr lang="zh-CN" altLang="en-US">
                <a:solidFill>
                  <a:srgbClr val="000000"/>
                </a:solidFill>
                <a:latin typeface="微软雅黑" panose="020B0503020204020204" pitchFamily="34" charset="-122"/>
                <a:ea typeface="微软雅黑" panose="020B0503020204020204" pitchFamily="34" charset="-122"/>
              </a:rPr>
              <a:t>Dahl</a:t>
            </a:r>
          </a:p>
          <a:p>
            <a:pPr marL="742950" lvl="1" indent="-285750">
              <a:lnSpc>
                <a:spcPct val="150000"/>
              </a:lnSpc>
              <a:buFont typeface="Wingdings" panose="05000000000000000000" pitchFamily="2" charset="2"/>
              <a:buChar char="p"/>
            </a:pPr>
            <a:r>
              <a:rPr lang="zh-CN" altLang="en-US">
                <a:solidFill>
                  <a:srgbClr val="000000"/>
                </a:solidFill>
                <a:latin typeface="微软雅黑" panose="020B0503020204020204" pitchFamily="34" charset="-122"/>
                <a:ea typeface="微软雅黑" panose="020B0503020204020204" pitchFamily="34" charset="-122"/>
              </a:rPr>
              <a:t>微软研究院实习生，三个月的实习期</a:t>
            </a:r>
          </a:p>
          <a:p>
            <a:pPr marL="742950" lvl="1" indent="-285750">
              <a:lnSpc>
                <a:spcPct val="150000"/>
              </a:lnSpc>
              <a:buFont typeface="Wingdings" panose="05000000000000000000" pitchFamily="2" charset="2"/>
              <a:buChar char="p"/>
            </a:pPr>
            <a:r>
              <a:rPr lang="zh-CN" altLang="en-US">
                <a:solidFill>
                  <a:srgbClr val="000000"/>
                </a:solidFill>
                <a:latin typeface="微软雅黑" panose="020B0503020204020204" pitchFamily="34" charset="-122"/>
                <a:ea typeface="微软雅黑" panose="020B0503020204020204" pitchFamily="34" charset="-122"/>
              </a:rPr>
              <a:t>微软研究院自此一直处于深度学习语音识别的前沿</a:t>
            </a:r>
          </a:p>
          <a:p>
            <a:pPr marL="285750" indent="-285750">
              <a:lnSpc>
                <a:spcPct val="150000"/>
              </a:lnSpc>
              <a:buFont typeface="Wingdings" panose="05000000000000000000" pitchFamily="2" charset="2"/>
              <a:buChar char="p"/>
            </a:pPr>
            <a:r>
              <a:rPr lang="zh-CN" altLang="en-US">
                <a:solidFill>
                  <a:srgbClr val="000000"/>
                </a:solidFill>
                <a:latin typeface="微软雅黑" panose="020B0503020204020204" pitchFamily="34" charset="-122"/>
                <a:ea typeface="微软雅黑" panose="020B0503020204020204" pitchFamily="34" charset="-122"/>
              </a:rPr>
              <a:t>Navdeep Jaitly，Hinton 的另一名学生</a:t>
            </a:r>
          </a:p>
          <a:p>
            <a:pPr marL="742950" lvl="1" indent="-285750">
              <a:lnSpc>
                <a:spcPct val="150000"/>
              </a:lnSpc>
              <a:buFont typeface="Wingdings" panose="05000000000000000000" pitchFamily="2" charset="2"/>
              <a:buChar char="p"/>
            </a:pPr>
            <a:r>
              <a:rPr lang="zh-CN" altLang="en-US">
                <a:solidFill>
                  <a:srgbClr val="000000"/>
                </a:solidFill>
                <a:latin typeface="微软雅黑" panose="020B0503020204020204" pitchFamily="34" charset="-122"/>
                <a:ea typeface="微软雅黑" panose="020B0503020204020204" pitchFamily="34" charset="-122"/>
              </a:rPr>
              <a:t>2011 年在谷歌的暑期实习</a:t>
            </a:r>
          </a:p>
          <a:p>
            <a:pPr marL="742950" lvl="1" indent="-285750">
              <a:lnSpc>
                <a:spcPct val="150000"/>
              </a:lnSpc>
              <a:buFont typeface="Wingdings" panose="05000000000000000000" pitchFamily="2" charset="2"/>
              <a:buChar char="p"/>
            </a:pPr>
            <a:r>
              <a:rPr lang="zh-CN" altLang="en-US">
                <a:solidFill>
                  <a:srgbClr val="000000"/>
                </a:solidFill>
                <a:latin typeface="微软雅黑" panose="020B0503020204020204" pitchFamily="34" charset="-122"/>
                <a:ea typeface="微软雅黑" panose="020B0503020204020204" pitchFamily="34" charset="-122"/>
              </a:rPr>
              <a:t>为 Android 的语音识别提供了支持，取代了谷歌精心设计的大部分先前解决方案</a:t>
            </a:r>
            <a:endParaRPr lang="en-US" altLang="zh-CN">
              <a:solidFill>
                <a:srgbClr val="00000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p"/>
            </a:pPr>
            <a:r>
              <a:rPr lang="zh-CN" altLang="en-US">
                <a:solidFill>
                  <a:srgbClr val="000000"/>
                </a:solidFill>
                <a:latin typeface="微软雅黑" panose="020B0503020204020204" pitchFamily="34" charset="-122"/>
                <a:ea typeface="微软雅黑" panose="020B0503020204020204" pitchFamily="34" charset="-122"/>
              </a:rPr>
              <a:t>微软 </a:t>
            </a:r>
            <a:r>
              <a:rPr lang="en-US" altLang="zh-CN">
                <a:solidFill>
                  <a:srgbClr val="000000"/>
                </a:solidFill>
                <a:latin typeface="微软雅黑" panose="020B0503020204020204" pitchFamily="34" charset="-122"/>
                <a:ea typeface="微软雅黑" panose="020B0503020204020204" pitchFamily="34" charset="-122"/>
              </a:rPr>
              <a:t>+ </a:t>
            </a:r>
            <a:r>
              <a:rPr lang="zh-CN" altLang="en-US">
                <a:solidFill>
                  <a:srgbClr val="000000"/>
                </a:solidFill>
                <a:latin typeface="微软雅黑" panose="020B0503020204020204" pitchFamily="34" charset="-122"/>
                <a:ea typeface="微软雅黑" panose="020B0503020204020204" pitchFamily="34" charset="-122"/>
              </a:rPr>
              <a:t>谷歌 </a:t>
            </a:r>
            <a:r>
              <a:rPr lang="en-US" altLang="zh-CN">
                <a:solidFill>
                  <a:srgbClr val="000000"/>
                </a:solidFill>
                <a:latin typeface="微软雅黑" panose="020B0503020204020204" pitchFamily="34" charset="-122"/>
                <a:ea typeface="微软雅黑" panose="020B0503020204020204" pitchFamily="34" charset="-122"/>
              </a:rPr>
              <a:t>+ IBM + Hinton </a:t>
            </a:r>
            <a:r>
              <a:rPr lang="zh-CN" altLang="en-US">
                <a:solidFill>
                  <a:srgbClr val="000000"/>
                </a:solidFill>
                <a:latin typeface="微软雅黑" panose="020B0503020204020204" pitchFamily="34" charset="-122"/>
                <a:ea typeface="微软雅黑" panose="020B0503020204020204" pitchFamily="34" charset="-122"/>
              </a:rPr>
              <a:t>实验室，在 </a:t>
            </a:r>
            <a:r>
              <a:rPr lang="en-US" altLang="zh-CN">
                <a:solidFill>
                  <a:srgbClr val="000000"/>
                </a:solidFill>
                <a:latin typeface="微软雅黑" panose="020B0503020204020204" pitchFamily="34" charset="-122"/>
                <a:ea typeface="微软雅黑" panose="020B0503020204020204" pitchFamily="34" charset="-122"/>
              </a:rPr>
              <a:t>2012 </a:t>
            </a:r>
            <a:r>
              <a:rPr lang="zh-CN" altLang="en-US">
                <a:solidFill>
                  <a:srgbClr val="000000"/>
                </a:solidFill>
                <a:latin typeface="微软雅黑" panose="020B0503020204020204" pitchFamily="34" charset="-122"/>
                <a:ea typeface="微软雅黑" panose="020B0503020204020204" pitchFamily="34" charset="-122"/>
              </a:rPr>
              <a:t>年产生了令人印象深刻的论文</a:t>
            </a:r>
            <a:r>
              <a:rPr lang="en-US" altLang="zh-CN" b="0" spc="0">
                <a:solidFill>
                  <a:srgbClr val="000000"/>
                </a:solidFill>
                <a:latin typeface="微软雅黑" panose="020B0503020204020204" pitchFamily="34" charset="-122"/>
                <a:ea typeface="微软雅黑" panose="020B0503020204020204" pitchFamily="34" charset="-122"/>
              </a:rPr>
              <a:t>“Deep Neural Networks for Acoustic Modeling in Speech Recognition: The Shared Views of Four Research Groups” </a:t>
            </a:r>
            <a:endParaRPr lang="en-US" altLang="zh-CN">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反思：为什么</a:t>
            </a:r>
            <a:r>
              <a:rPr lang="en-US" altLang="zh-CN"/>
              <a:t>BP</a:t>
            </a:r>
            <a:r>
              <a:rPr lang="zh-CN" altLang="en-US"/>
              <a:t>在过去不好用？</a:t>
            </a:r>
            <a:endParaRPr lang="zh-CN" altLang="en-US" dirty="0"/>
          </a:p>
        </p:txBody>
      </p:sp>
      <p:sp>
        <p:nvSpPr>
          <p:cNvPr id="5" name="文本框 4"/>
          <p:cNvSpPr txBox="1"/>
          <p:nvPr/>
        </p:nvSpPr>
        <p:spPr>
          <a:xfrm>
            <a:off x="334218" y="868980"/>
            <a:ext cx="6494845" cy="2741776"/>
          </a:xfrm>
          <a:prstGeom prst="rect">
            <a:avLst/>
          </a:prstGeom>
          <a:noFill/>
        </p:spPr>
        <p:txBody>
          <a:bodyPr wrap="square">
            <a:spAutoFit/>
          </a:bodyPr>
          <a:lstStyle>
            <a:defPPr>
              <a:defRPr lang="zh-CN"/>
            </a:defPPr>
            <a:lvl1pPr fontAlgn="auto">
              <a:lnSpc>
                <a:spcPct val="150000"/>
              </a:lnSpc>
              <a:spcBef>
                <a:spcPts val="600"/>
              </a:spcBef>
              <a:defRPr sz="2400" b="0" i="0">
                <a:solidFill>
                  <a:srgbClr val="070707"/>
                </a:solidFill>
                <a:effectLst/>
                <a:latin typeface="Inter"/>
                <a:ea typeface="微软雅黑" panose="020B0503020204020204" pitchFamily="34" charset="-122"/>
              </a:defRPr>
            </a:lvl1pPr>
          </a:lstStyle>
          <a:p>
            <a:r>
              <a:rPr lang="en-US" altLang="zh-CN" sz="2000" dirty="0">
                <a:latin typeface="微软雅黑" panose="020B0503020204020204" pitchFamily="34" charset="-122"/>
              </a:rPr>
              <a:t>Geoffrey Hinton </a:t>
            </a:r>
            <a:r>
              <a:rPr lang="zh-CN" altLang="en-US" sz="2000" dirty="0">
                <a:latin typeface="微软雅黑" panose="020B0503020204020204" pitchFamily="34" charset="-122"/>
              </a:rPr>
              <a:t>将他们的发现总结为以下四点：</a:t>
            </a:r>
          </a:p>
          <a:p>
            <a:pPr marL="342900" indent="-342900">
              <a:buFont typeface="Wingdings" panose="05000000000000000000" pitchFamily="2" charset="2"/>
              <a:buChar char="p"/>
            </a:pPr>
            <a:r>
              <a:rPr lang="zh-CN" altLang="en-US" sz="2000" dirty="0">
                <a:latin typeface="微软雅黑" panose="020B0503020204020204" pitchFamily="34" charset="-122"/>
              </a:rPr>
              <a:t>我们的标记数据集太小了数千倍。</a:t>
            </a:r>
          </a:p>
          <a:p>
            <a:pPr marL="342900" indent="-342900">
              <a:buFont typeface="Wingdings" panose="05000000000000000000" pitchFamily="2" charset="2"/>
              <a:buChar char="p"/>
            </a:pPr>
            <a:r>
              <a:rPr lang="zh-CN" altLang="en-US" sz="2000" dirty="0">
                <a:latin typeface="微软雅黑" panose="020B0503020204020204" pitchFamily="34" charset="-122"/>
              </a:rPr>
              <a:t>我们的计算机太慢了数百万倍。</a:t>
            </a:r>
          </a:p>
          <a:p>
            <a:pPr marL="342900" indent="-342900">
              <a:buFont typeface="Wingdings" panose="05000000000000000000" pitchFamily="2" charset="2"/>
              <a:buChar char="p"/>
            </a:pPr>
            <a:r>
              <a:rPr lang="zh-CN" altLang="en-US" sz="2000" dirty="0">
                <a:latin typeface="微软雅黑" panose="020B0503020204020204" pitchFamily="34" charset="-122"/>
              </a:rPr>
              <a:t>我们以一种愚蠢的方式初始化权重。</a:t>
            </a:r>
          </a:p>
          <a:p>
            <a:pPr marL="342900" indent="-342900">
              <a:buFont typeface="Wingdings" panose="05000000000000000000" pitchFamily="2" charset="2"/>
              <a:buChar char="p"/>
            </a:pPr>
            <a:r>
              <a:rPr lang="zh-CN" altLang="en-US" sz="2000" dirty="0">
                <a:latin typeface="微软雅黑" panose="020B0503020204020204" pitchFamily="34" charset="-122"/>
              </a:rPr>
              <a:t>我们使用了错误类型的非线性。</a:t>
            </a:r>
          </a:p>
        </p:txBody>
      </p:sp>
      <p:pic>
        <p:nvPicPr>
          <p:cNvPr id="8" name="图片 7"/>
          <p:cNvPicPr>
            <a:picLocks noChangeAspect="1"/>
          </p:cNvPicPr>
          <p:nvPr/>
        </p:nvPicPr>
        <p:blipFill>
          <a:blip r:embed="rId2"/>
          <a:stretch>
            <a:fillRect/>
          </a:stretch>
        </p:blipFill>
        <p:spPr>
          <a:xfrm>
            <a:off x="1753017" y="4136198"/>
            <a:ext cx="8685965" cy="2101511"/>
          </a:xfrm>
          <a:prstGeom prst="rect">
            <a:avLst/>
          </a:prstGeom>
        </p:spPr>
      </p:pic>
      <p:sp>
        <p:nvSpPr>
          <p:cNvPr id="4" name="文本框 3"/>
          <p:cNvSpPr txBox="1"/>
          <p:nvPr/>
        </p:nvSpPr>
        <p:spPr>
          <a:xfrm>
            <a:off x="2558006" y="3610756"/>
            <a:ext cx="8636160" cy="461665"/>
          </a:xfrm>
          <a:prstGeom prst="rect">
            <a:avLst/>
          </a:prstGeom>
          <a:noFill/>
        </p:spPr>
        <p:txBody>
          <a:bodyPr wrap="square">
            <a:spAutoFit/>
          </a:bodyPr>
          <a:lstStyle/>
          <a:p>
            <a:r>
              <a:rPr lang="zh-CN" altLang="en-US" sz="2400">
                <a:latin typeface="微软雅黑" panose="020B0503020204020204" pitchFamily="34" charset="-122"/>
                <a:ea typeface="微软雅黑" panose="020B0503020204020204" pitchFamily="34" charset="-122"/>
              </a:rPr>
              <a:t>深度学习</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大量训练数据</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并行计算</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可扩展的智能算法</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没有免费的午餐定理</a:t>
            </a:r>
            <a:endParaRPr lang="zh-CN" altLang="en-US" dirty="0"/>
          </a:p>
        </p:txBody>
      </p:sp>
      <p:sp>
        <p:nvSpPr>
          <p:cNvPr id="10" name="文本框 9"/>
          <p:cNvSpPr txBox="1"/>
          <p:nvPr/>
        </p:nvSpPr>
        <p:spPr>
          <a:xfrm>
            <a:off x="381000" y="1234371"/>
            <a:ext cx="11429516" cy="113505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没有免费的午餐：一个算法在某些特定问题上的优势，必然以在其他问题上的劣势为代价。定理如下：</a:t>
            </a:r>
            <a:endParaRPr kumimoji="0" lang="zh-CN" altLang="en-US" sz="2400" b="1" i="0" u="none" strike="noStrike" kern="1200" cap="none" spc="0" normalizeH="0" baseline="0" noProof="0" dirty="0">
              <a:ln>
                <a:noFill/>
              </a:ln>
              <a:solidFill>
                <a:srgbClr val="133984"/>
              </a:solidFill>
              <a:effectLst/>
              <a:uLnTx/>
              <a:uFillTx/>
              <a:latin typeface="微软雅黑" panose="020B0503020204020204" pitchFamily="34" charset="-122"/>
              <a:ea typeface="微软雅黑" panose="020B0503020204020204" pitchFamily="34" charset="-122"/>
              <a:cs typeface="+mn-cs"/>
            </a:endParaRPr>
          </a:p>
        </p:txBody>
      </p:sp>
      <p:pic>
        <p:nvPicPr>
          <p:cNvPr id="4" name="图片 3"/>
          <p:cNvPicPr>
            <a:picLocks noChangeAspect="1"/>
          </p:cNvPicPr>
          <p:nvPr/>
        </p:nvPicPr>
        <p:blipFill>
          <a:blip r:embed="rId2"/>
          <a:stretch>
            <a:fillRect/>
          </a:stretch>
        </p:blipFill>
        <p:spPr>
          <a:xfrm>
            <a:off x="588873" y="2794000"/>
            <a:ext cx="11014253" cy="1222972"/>
          </a:xfrm>
          <a:prstGeom prst="rect">
            <a:avLst/>
          </a:prstGeom>
          <a:ln w="19050">
            <a:solidFill>
              <a:srgbClr val="070707"/>
            </a:solidFill>
          </a:ln>
        </p:spPr>
      </p:pic>
      <p:sp>
        <p:nvSpPr>
          <p:cNvPr id="7" name="文本框 6"/>
          <p:cNvSpPr txBox="1"/>
          <p:nvPr/>
        </p:nvSpPr>
        <p:spPr>
          <a:xfrm>
            <a:off x="922844" y="4440535"/>
            <a:ext cx="10345827" cy="1135054"/>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应基于问题的具体特性和需求来选择算法，而不是寻找一个万能的解决方案或者脱离数据集特征来讨论算法的性能！</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深度学习的基本要素：模型，数据，优化</a:t>
            </a:r>
            <a:endParaRPr lang="zh-CN" altLang="en-US" dirty="0"/>
          </a:p>
        </p:txBody>
      </p:sp>
      <p:sp>
        <p:nvSpPr>
          <p:cNvPr id="5" name="椭圆 4"/>
          <p:cNvSpPr/>
          <p:nvPr/>
        </p:nvSpPr>
        <p:spPr>
          <a:xfrm>
            <a:off x="5350600" y="2247921"/>
            <a:ext cx="1440000" cy="1440000"/>
          </a:xfrm>
          <a:prstGeom prst="ellipse">
            <a:avLst/>
          </a:prstGeom>
          <a:noFill/>
          <a:ln>
            <a:solidFill>
              <a:srgbClr val="07070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a:ln>
                  <a:noFill/>
                </a:ln>
                <a:solidFill>
                  <a:srgbClr val="070707"/>
                </a:solidFill>
                <a:effectLst/>
                <a:uLnTx/>
                <a:uFillTx/>
                <a:latin typeface="Book Antiqua"/>
                <a:ea typeface="黑体"/>
                <a:cs typeface="+mn-cs"/>
              </a:rPr>
              <a:t>模型</a:t>
            </a:r>
            <a:endParaRPr kumimoji="0" lang="zh-CN" altLang="en-US" sz="3200" b="0" i="0" u="none" strike="noStrike" kern="1200" cap="none" spc="0" normalizeH="0" baseline="0" noProof="0">
              <a:ln>
                <a:noFill/>
              </a:ln>
              <a:solidFill>
                <a:srgbClr val="FFFFFF"/>
              </a:solidFill>
              <a:effectLst/>
              <a:uLnTx/>
              <a:uFillTx/>
              <a:latin typeface="Book Antiqua"/>
              <a:ea typeface="黑体"/>
              <a:cs typeface="+mn-cs"/>
            </a:endParaRPr>
          </a:p>
        </p:txBody>
      </p:sp>
      <p:sp>
        <p:nvSpPr>
          <p:cNvPr id="8" name="椭圆 7"/>
          <p:cNvSpPr/>
          <p:nvPr/>
        </p:nvSpPr>
        <p:spPr>
          <a:xfrm>
            <a:off x="6997700" y="4552950"/>
            <a:ext cx="1440000" cy="1440000"/>
          </a:xfrm>
          <a:prstGeom prst="ellipse">
            <a:avLst/>
          </a:prstGeom>
          <a:noFill/>
          <a:ln>
            <a:solidFill>
              <a:srgbClr val="07070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a:ln>
                  <a:noFill/>
                </a:ln>
                <a:solidFill>
                  <a:srgbClr val="070707"/>
                </a:solidFill>
                <a:effectLst/>
                <a:uLnTx/>
                <a:uFillTx/>
                <a:latin typeface="Book Antiqua"/>
                <a:ea typeface="黑体"/>
                <a:cs typeface="+mn-cs"/>
              </a:rPr>
              <a:t>优化</a:t>
            </a:r>
            <a:endParaRPr kumimoji="0" lang="zh-CN" altLang="en-US" sz="3200" b="0" i="0" u="none" strike="noStrike" kern="1200" cap="none" spc="0" normalizeH="0" baseline="0" noProof="0">
              <a:ln>
                <a:noFill/>
              </a:ln>
              <a:solidFill>
                <a:srgbClr val="FFFFFF"/>
              </a:solidFill>
              <a:effectLst/>
              <a:uLnTx/>
              <a:uFillTx/>
              <a:latin typeface="Book Antiqua"/>
              <a:ea typeface="黑体"/>
              <a:cs typeface="+mn-cs"/>
            </a:endParaRPr>
          </a:p>
        </p:txBody>
      </p:sp>
      <p:sp>
        <p:nvSpPr>
          <p:cNvPr id="9" name="椭圆 8"/>
          <p:cNvSpPr/>
          <p:nvPr/>
        </p:nvSpPr>
        <p:spPr>
          <a:xfrm>
            <a:off x="3792400" y="4552950"/>
            <a:ext cx="1440000" cy="1440000"/>
          </a:xfrm>
          <a:prstGeom prst="ellipse">
            <a:avLst/>
          </a:prstGeom>
          <a:noFill/>
          <a:ln>
            <a:solidFill>
              <a:srgbClr val="07070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a:ln>
                  <a:noFill/>
                </a:ln>
                <a:solidFill>
                  <a:srgbClr val="070707"/>
                </a:solidFill>
                <a:effectLst/>
                <a:uLnTx/>
                <a:uFillTx/>
                <a:latin typeface="Book Antiqua"/>
                <a:ea typeface="黑体"/>
                <a:cs typeface="+mn-cs"/>
              </a:rPr>
              <a:t>数据</a:t>
            </a:r>
            <a:endParaRPr kumimoji="0" lang="zh-CN" altLang="en-US" sz="32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12" name="直接箭头连接符 11"/>
          <p:cNvCxnSpPr/>
          <p:nvPr/>
        </p:nvCxnSpPr>
        <p:spPr>
          <a:xfrm flipH="1">
            <a:off x="4832350" y="3705735"/>
            <a:ext cx="635000" cy="774700"/>
          </a:xfrm>
          <a:prstGeom prst="straightConnector1">
            <a:avLst/>
          </a:prstGeom>
          <a:ln w="38100">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a:off x="5499100" y="5272950"/>
            <a:ext cx="1238250" cy="0"/>
          </a:xfrm>
          <a:prstGeom prst="straightConnector1">
            <a:avLst/>
          </a:prstGeom>
          <a:ln w="38100">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6723200" y="3687921"/>
            <a:ext cx="635000" cy="774700"/>
          </a:xfrm>
          <a:prstGeom prst="straightConnector1">
            <a:avLst/>
          </a:prstGeom>
          <a:ln w="38100">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381242" y="1104791"/>
            <a:ext cx="11163058" cy="1135054"/>
          </a:xfrm>
          <a:prstGeom prst="rect">
            <a:avLst/>
          </a:prstGeom>
          <a:noFill/>
        </p:spPr>
        <p:txBody>
          <a:bodyPr wrap="square" rtlCol="0">
            <a:spAutoFit/>
          </a:bodyPr>
          <a:lstStyle>
            <a:defPPr>
              <a:defRPr lang="zh-CN"/>
            </a:defPPr>
            <a:lvl1pPr>
              <a:lnSpc>
                <a:spcPct val="150000"/>
              </a:lnSpc>
              <a:defRPr sz="2400">
                <a:solidFill>
                  <a:srgbClr val="070707"/>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理解一个机器学习算法本质上需要理解</a:t>
            </a:r>
            <a:r>
              <a:rPr kumimoji="0" lang="zh-CN" altLang="en-US" sz="2400" b="1" i="0" u="none" strike="noStrike" kern="1200" cap="none" spc="0" normalizeH="0" baseline="0" noProof="0" dirty="0">
                <a:ln>
                  <a:noFill/>
                </a:ln>
                <a:solidFill>
                  <a:srgbClr val="B61616"/>
                </a:solidFill>
                <a:effectLst/>
                <a:uLnTx/>
                <a:uFillTx/>
                <a:latin typeface="微软雅黑" panose="020B0503020204020204" pitchFamily="34" charset="-122"/>
                <a:ea typeface="微软雅黑" panose="020B0503020204020204" pitchFamily="34" charset="-122"/>
                <a:cs typeface="+mn-cs"/>
              </a:rPr>
              <a:t>模型、数据、优化</a:t>
            </a:r>
            <a:r>
              <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三个要素对算法拟合目标函数性能（比如泛化误差等）的影响。</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95DF60-A168-DC2E-778B-0004D32D17B5}"/>
              </a:ext>
            </a:extLst>
          </p:cNvPr>
          <p:cNvSpPr>
            <a:spLocks noGrp="1"/>
          </p:cNvSpPr>
          <p:nvPr>
            <p:ph type="title"/>
          </p:nvPr>
        </p:nvSpPr>
        <p:spPr>
          <a:xfrm>
            <a:off x="381242" y="2844289"/>
            <a:ext cx="11429516" cy="761979"/>
          </a:xfrm>
        </p:spPr>
        <p:txBody>
          <a:bodyPr/>
          <a:lstStyle/>
          <a:p>
            <a:pPr algn="ctr"/>
            <a:r>
              <a:rPr lang="zh-CN" altLang="en-US" dirty="0"/>
              <a:t>思考：</a:t>
            </a:r>
            <a:r>
              <a:rPr lang="en-US" altLang="zh-CN" dirty="0"/>
              <a:t>AI</a:t>
            </a:r>
            <a:r>
              <a:rPr lang="zh-CN" altLang="en-US" dirty="0"/>
              <a:t>论文这么多，怎么办？</a:t>
            </a:r>
          </a:p>
        </p:txBody>
      </p:sp>
    </p:spTree>
    <p:extLst>
      <p:ext uri="{BB962C8B-B14F-4D97-AF65-F5344CB8AC3E}">
        <p14:creationId xmlns:p14="http://schemas.microsoft.com/office/powerpoint/2010/main" val="35102311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CE2802-6660-9825-C206-560EBD3A9820}"/>
              </a:ext>
            </a:extLst>
          </p:cNvPr>
          <p:cNvSpPr>
            <a:spLocks noGrp="1"/>
          </p:cNvSpPr>
          <p:nvPr>
            <p:ph type="title"/>
          </p:nvPr>
        </p:nvSpPr>
        <p:spPr/>
        <p:txBody>
          <a:bodyPr/>
          <a:lstStyle/>
          <a:p>
            <a:endParaRPr lang="zh-CN" altLang="en-US"/>
          </a:p>
        </p:txBody>
      </p:sp>
      <p:pic>
        <p:nvPicPr>
          <p:cNvPr id="11" name="图片 10">
            <a:extLst>
              <a:ext uri="{FF2B5EF4-FFF2-40B4-BE49-F238E27FC236}">
                <a16:creationId xmlns:a16="http://schemas.microsoft.com/office/drawing/2014/main" id="{3B67D431-273F-D5B2-7D65-323167154E46}"/>
              </a:ext>
            </a:extLst>
          </p:cNvPr>
          <p:cNvPicPr>
            <a:picLocks noChangeAspect="1"/>
          </p:cNvPicPr>
          <p:nvPr/>
        </p:nvPicPr>
        <p:blipFill>
          <a:blip r:embed="rId2"/>
          <a:stretch>
            <a:fillRect/>
          </a:stretch>
        </p:blipFill>
        <p:spPr>
          <a:xfrm>
            <a:off x="0" y="0"/>
            <a:ext cx="12192000" cy="6854573"/>
          </a:xfrm>
          <a:prstGeom prst="rect">
            <a:avLst/>
          </a:prstGeom>
        </p:spPr>
      </p:pic>
    </p:spTree>
    <p:extLst>
      <p:ext uri="{BB962C8B-B14F-4D97-AF65-F5344CB8AC3E}">
        <p14:creationId xmlns:p14="http://schemas.microsoft.com/office/powerpoint/2010/main" val="3990243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52DC1-1798-BAE4-1AD3-FF5FD161A493}"/>
            </a:ext>
          </a:extLst>
        </p:cNvPr>
        <p:cNvGrpSpPr/>
        <p:nvPr/>
      </p:nvGrpSpPr>
      <p:grpSpPr>
        <a:xfrm>
          <a:off x="0" y="0"/>
          <a:ext cx="0" cy="0"/>
          <a:chOff x="0" y="0"/>
          <a:chExt cx="0" cy="0"/>
        </a:xfrm>
      </p:grpSpPr>
      <p:pic>
        <p:nvPicPr>
          <p:cNvPr id="13" name="图片 12">
            <a:extLst>
              <a:ext uri="{FF2B5EF4-FFF2-40B4-BE49-F238E27FC236}">
                <a16:creationId xmlns:a16="http://schemas.microsoft.com/office/drawing/2014/main" id="{F548B53E-8CDD-E93C-E0B7-F934C0A4FC7E}"/>
              </a:ext>
            </a:extLst>
          </p:cNvPr>
          <p:cNvPicPr>
            <a:picLocks noChangeAspect="1"/>
          </p:cNvPicPr>
          <p:nvPr/>
        </p:nvPicPr>
        <p:blipFill>
          <a:blip r:embed="rId3"/>
          <a:stretch>
            <a:fillRect/>
          </a:stretch>
        </p:blipFill>
        <p:spPr>
          <a:xfrm>
            <a:off x="0" y="27799"/>
            <a:ext cx="12192000" cy="6830201"/>
          </a:xfrm>
          <a:prstGeom prst="rect">
            <a:avLst/>
          </a:prstGeom>
        </p:spPr>
      </p:pic>
      <p:pic>
        <p:nvPicPr>
          <p:cNvPr id="9" name="图片 8">
            <a:extLst>
              <a:ext uri="{FF2B5EF4-FFF2-40B4-BE49-F238E27FC236}">
                <a16:creationId xmlns:a16="http://schemas.microsoft.com/office/drawing/2014/main" id="{2F2AE256-247F-3B84-1438-9291778C416C}"/>
              </a:ext>
            </a:extLst>
          </p:cNvPr>
          <p:cNvPicPr>
            <a:picLocks noChangeAspect="1"/>
          </p:cNvPicPr>
          <p:nvPr/>
        </p:nvPicPr>
        <p:blipFill>
          <a:blip r:embed="rId4"/>
          <a:stretch>
            <a:fillRect/>
          </a:stretch>
        </p:blipFill>
        <p:spPr>
          <a:xfrm>
            <a:off x="0" y="-1829414"/>
            <a:ext cx="12170965" cy="6858000"/>
          </a:xfrm>
          <a:prstGeom prst="rect">
            <a:avLst/>
          </a:prstGeom>
        </p:spPr>
      </p:pic>
      <p:sp>
        <p:nvSpPr>
          <p:cNvPr id="2" name="标题 1">
            <a:extLst>
              <a:ext uri="{FF2B5EF4-FFF2-40B4-BE49-F238E27FC236}">
                <a16:creationId xmlns:a16="http://schemas.microsoft.com/office/drawing/2014/main" id="{CFB6C6B3-F212-E77C-A015-A22DAB5C8E60}"/>
              </a:ext>
            </a:extLst>
          </p:cNvPr>
          <p:cNvSpPr>
            <a:spLocks noGrp="1"/>
          </p:cNvSpPr>
          <p:nvPr>
            <p:ph type="title"/>
          </p:nvPr>
        </p:nvSpPr>
        <p:spPr/>
        <p:txBody>
          <a:bodyPr/>
          <a:lstStyle/>
          <a:p>
            <a:endParaRPr lang="zh-CN" altLang="en-US"/>
          </a:p>
        </p:txBody>
      </p:sp>
      <p:pic>
        <p:nvPicPr>
          <p:cNvPr id="5" name="图片 4">
            <a:extLst>
              <a:ext uri="{FF2B5EF4-FFF2-40B4-BE49-F238E27FC236}">
                <a16:creationId xmlns:a16="http://schemas.microsoft.com/office/drawing/2014/main" id="{9BBDEECB-0587-05CC-E9A0-CFA3F2590CAE}"/>
              </a:ext>
            </a:extLst>
          </p:cNvPr>
          <p:cNvPicPr>
            <a:picLocks noChangeAspect="1"/>
          </p:cNvPicPr>
          <p:nvPr/>
        </p:nvPicPr>
        <p:blipFill>
          <a:blip r:embed="rId5"/>
          <a:stretch>
            <a:fillRect/>
          </a:stretch>
        </p:blipFill>
        <p:spPr>
          <a:xfrm>
            <a:off x="0" y="-2939758"/>
            <a:ext cx="12192000" cy="6849233"/>
          </a:xfrm>
          <a:prstGeom prst="rect">
            <a:avLst/>
          </a:prstGeom>
        </p:spPr>
      </p:pic>
      <p:pic>
        <p:nvPicPr>
          <p:cNvPr id="11" name="图片 10">
            <a:extLst>
              <a:ext uri="{FF2B5EF4-FFF2-40B4-BE49-F238E27FC236}">
                <a16:creationId xmlns:a16="http://schemas.microsoft.com/office/drawing/2014/main" id="{A268EF6B-0657-F35C-0447-8503CDE979C8}"/>
              </a:ext>
            </a:extLst>
          </p:cNvPr>
          <p:cNvPicPr>
            <a:picLocks noChangeAspect="1"/>
          </p:cNvPicPr>
          <p:nvPr/>
        </p:nvPicPr>
        <p:blipFill>
          <a:blip r:embed="rId6"/>
          <a:stretch>
            <a:fillRect/>
          </a:stretch>
        </p:blipFill>
        <p:spPr>
          <a:xfrm>
            <a:off x="-21035" y="-4157255"/>
            <a:ext cx="12192000" cy="6854573"/>
          </a:xfrm>
          <a:prstGeom prst="rect">
            <a:avLst/>
          </a:prstGeom>
        </p:spPr>
      </p:pic>
    </p:spTree>
    <p:custDataLst>
      <p:tags r:id="rId1"/>
    </p:custDataLst>
    <p:extLst>
      <p:ext uri="{BB962C8B-B14F-4D97-AF65-F5344CB8AC3E}">
        <p14:creationId xmlns:p14="http://schemas.microsoft.com/office/powerpoint/2010/main" val="38115521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C2FB4FC-D557-8675-7E40-3CBAFC060414}"/>
              </a:ext>
            </a:extLst>
          </p:cNvPr>
          <p:cNvSpPr>
            <a:spLocks noGrp="1"/>
          </p:cNvSpPr>
          <p:nvPr>
            <p:ph type="title"/>
          </p:nvPr>
        </p:nvSpPr>
        <p:spPr/>
        <p:txBody>
          <a:bodyPr/>
          <a:lstStyle/>
          <a:p>
            <a:r>
              <a:rPr lang="zh-CN" altLang="en-US" dirty="0"/>
              <a:t>好的理论有哪些特点</a:t>
            </a:r>
          </a:p>
        </p:txBody>
      </p:sp>
      <p:sp>
        <p:nvSpPr>
          <p:cNvPr id="5" name="内容占位符 4">
            <a:extLst>
              <a:ext uri="{FF2B5EF4-FFF2-40B4-BE49-F238E27FC236}">
                <a16:creationId xmlns:a16="http://schemas.microsoft.com/office/drawing/2014/main" id="{1DEAA81C-2326-B9F1-DDAD-17422A9608C0}"/>
              </a:ext>
            </a:extLst>
          </p:cNvPr>
          <p:cNvSpPr>
            <a:spLocks noGrp="1"/>
          </p:cNvSpPr>
          <p:nvPr>
            <p:ph idx="1"/>
          </p:nvPr>
        </p:nvSpPr>
        <p:spPr/>
        <p:txBody>
          <a:bodyPr>
            <a:normAutofit/>
          </a:bodyPr>
          <a:lstStyle/>
          <a:p>
            <a:r>
              <a:rPr lang="zh-CN" altLang="en-US" dirty="0"/>
              <a:t>基本条件：</a:t>
            </a:r>
            <a:endParaRPr lang="en-US" altLang="zh-CN" dirty="0"/>
          </a:p>
          <a:p>
            <a:pPr lvl="1"/>
            <a:r>
              <a:rPr lang="zh-CN" altLang="en-US" dirty="0"/>
              <a:t>问题重要：发现或者研究有趣的现象或者理论问题 </a:t>
            </a:r>
            <a:endParaRPr lang="en-US" altLang="zh-CN" dirty="0"/>
          </a:p>
          <a:p>
            <a:pPr lvl="1"/>
            <a:r>
              <a:rPr lang="zh-CN" altLang="en-US" dirty="0"/>
              <a:t>可分析：简单到可以分析，但又复杂到可以对关心的现象或问题提供理解</a:t>
            </a:r>
            <a:endParaRPr lang="en-US" altLang="zh-CN" dirty="0"/>
          </a:p>
          <a:p>
            <a:pPr lvl="1"/>
            <a:r>
              <a:rPr lang="zh-CN" altLang="en-US" dirty="0"/>
              <a:t>可验证：可以被实验验证</a:t>
            </a:r>
            <a:endParaRPr lang="en-US" altLang="zh-CN" dirty="0"/>
          </a:p>
          <a:p>
            <a:r>
              <a:rPr lang="zh-CN" altLang="en-US" dirty="0"/>
              <a:t>高级条件：</a:t>
            </a:r>
            <a:endParaRPr lang="en-US" altLang="zh-CN" dirty="0"/>
          </a:p>
          <a:p>
            <a:pPr lvl="1"/>
            <a:r>
              <a:rPr lang="zh-CN" altLang="en-US" dirty="0"/>
              <a:t>引出更多有意思的现象或者理论问题帮助我们更深入理解</a:t>
            </a:r>
            <a:endParaRPr lang="en-US" altLang="zh-CN" dirty="0"/>
          </a:p>
          <a:p>
            <a:pPr lvl="1"/>
            <a:r>
              <a:rPr lang="zh-CN" altLang="en-US" dirty="0"/>
              <a:t>指导实际算法的设计</a:t>
            </a:r>
            <a:endParaRPr lang="en-US" altLang="zh-CN" dirty="0"/>
          </a:p>
          <a:p>
            <a:pPr lvl="1"/>
            <a:r>
              <a:rPr lang="zh-CN" altLang="en-US" dirty="0"/>
              <a:t>培养更多的相关人才</a:t>
            </a:r>
            <a:endParaRPr lang="en-US" altLang="zh-CN" dirty="0"/>
          </a:p>
          <a:p>
            <a:endParaRPr lang="zh-CN" altLang="en-US" dirty="0"/>
          </a:p>
        </p:txBody>
      </p:sp>
    </p:spTree>
    <p:extLst>
      <p:ext uri="{BB962C8B-B14F-4D97-AF65-F5344CB8AC3E}">
        <p14:creationId xmlns:p14="http://schemas.microsoft.com/office/powerpoint/2010/main" val="8266641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62*345"/>
  <p:tag name="TABLE_ENDDRAG_RECT" val="25*101*862*345"/>
</p:tagLst>
</file>

<file path=ppt/tags/tag3.xml><?xml version="1.0" encoding="utf-8"?>
<p:tagLst xmlns:a="http://schemas.openxmlformats.org/drawingml/2006/main" xmlns:r="http://schemas.openxmlformats.org/officeDocument/2006/relationships" xmlns:p="http://schemas.openxmlformats.org/presentationml/2006/main">
  <p:tag name="TIMING" val="|15.7"/>
</p:tagLst>
</file>

<file path=ppt/tags/tag4.xml><?xml version="1.0" encoding="utf-8"?>
<p:tagLst xmlns:a="http://schemas.openxmlformats.org/drawingml/2006/main" xmlns:r="http://schemas.openxmlformats.org/officeDocument/2006/relationships" xmlns:p="http://schemas.openxmlformats.org/presentationml/2006/main">
  <p:tag name="TIMING" val="|8.2"/>
</p:tagLst>
</file>

<file path=ppt/tags/tag5.xml><?xml version="1.0" encoding="utf-8"?>
<p:tagLst xmlns:a="http://schemas.openxmlformats.org/drawingml/2006/main" xmlns:r="http://schemas.openxmlformats.org/officeDocument/2006/relationships" xmlns:p="http://schemas.openxmlformats.org/presentationml/2006/main">
  <p:tag name="TIMING" val="|11.3"/>
</p:tagLst>
</file>

<file path=ppt/tags/tag6.xml><?xml version="1.0" encoding="utf-8"?>
<p:tagLst xmlns:a="http://schemas.openxmlformats.org/drawingml/2006/main" xmlns:r="http://schemas.openxmlformats.org/officeDocument/2006/relationships" xmlns:p="http://schemas.openxmlformats.org/presentationml/2006/main">
  <p:tag name="TIMING" val="|1.5|1.8"/>
</p:tagLst>
</file>

<file path=ppt/theme/theme1.xml><?xml version="1.0" encoding="utf-8"?>
<a:theme xmlns:a="http://schemas.openxmlformats.org/drawingml/2006/main" name="1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1393</TotalTime>
  <Words>5970</Words>
  <Application>Microsoft Office PowerPoint</Application>
  <PresentationFormat>宽屏</PresentationFormat>
  <Paragraphs>343</Paragraphs>
  <Slides>61</Slides>
  <Notes>2</Notes>
  <HiddenSlides>0</HiddenSlides>
  <MMClips>1</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61</vt:i4>
      </vt:variant>
    </vt:vector>
  </HeadingPairs>
  <TitlesOfParts>
    <vt:vector size="72" baseType="lpstr">
      <vt:lpstr>-apple-system</vt:lpstr>
      <vt:lpstr>Inter</vt:lpstr>
      <vt:lpstr>PingFang SC</vt:lpstr>
      <vt:lpstr>等线</vt:lpstr>
      <vt:lpstr>微软雅黑</vt:lpstr>
      <vt:lpstr>Arial</vt:lpstr>
      <vt:lpstr>Book Antiqua</vt:lpstr>
      <vt:lpstr>Cambria Math</vt:lpstr>
      <vt:lpstr>Times New Roman</vt:lpstr>
      <vt:lpstr>Wingdings</vt:lpstr>
      <vt:lpstr>1_自定义设计方案</vt:lpstr>
      <vt:lpstr>PowerPoint 演示文稿</vt:lpstr>
      <vt:lpstr>目录</vt:lpstr>
      <vt:lpstr>目录</vt:lpstr>
      <vt:lpstr>人工智能是什么？</vt:lpstr>
      <vt:lpstr>人工智能可以做什么</vt:lpstr>
      <vt:lpstr>函数拟合</vt:lpstr>
      <vt:lpstr>图像识别：ImageNet (2009)</vt:lpstr>
      <vt:lpstr>图像识别： AlexNet（2012）</vt:lpstr>
      <vt:lpstr>图像生成：AI绘画拍卖</vt:lpstr>
      <vt:lpstr>大语言模型的应用</vt:lpstr>
      <vt:lpstr>AI应用：创造音乐</vt:lpstr>
      <vt:lpstr>自动驾驶</vt:lpstr>
      <vt:lpstr>AlphaGo 战胜围棋世界冠军（2016）</vt:lpstr>
      <vt:lpstr>AlphaFold</vt:lpstr>
      <vt:lpstr>2018年图灵奖</vt:lpstr>
      <vt:lpstr>2024年诺贝尔奖</vt:lpstr>
      <vt:lpstr>PowerPoint 演示文稿</vt:lpstr>
      <vt:lpstr>数据拟合（data fitting）</vt:lpstr>
      <vt:lpstr>例：线性拟合</vt:lpstr>
      <vt:lpstr>例：线性拟合</vt:lpstr>
      <vt:lpstr>例：线性拟合</vt:lpstr>
      <vt:lpstr>例子：线性拟合与神经网络</vt:lpstr>
      <vt:lpstr>训练集、验证集与测试集</vt:lpstr>
      <vt:lpstr>训练集、验证集与测试集：培训学生</vt:lpstr>
      <vt:lpstr>训练集、验证集与测试集：分类图片手写数据集（MNIST）</vt:lpstr>
      <vt:lpstr>损失函数</vt:lpstr>
      <vt:lpstr>损失函数算例：绝对误差</vt:lpstr>
      <vt:lpstr>损失函数算例：交叉熵</vt:lpstr>
      <vt:lpstr>损失景观（Loss Landscape）</vt:lpstr>
      <vt:lpstr>学习方式</vt:lpstr>
      <vt:lpstr>学习方式</vt:lpstr>
      <vt:lpstr>目录</vt:lpstr>
      <vt:lpstr>神经网络的发展历史</vt:lpstr>
      <vt:lpstr>起源与早期探索</vt:lpstr>
      <vt:lpstr>McCulloch-Pitts 神经元模型（1943年）</vt:lpstr>
      <vt:lpstr>人工智能的提出（1956年）</vt:lpstr>
      <vt:lpstr>人工智能的第一次危机</vt:lpstr>
      <vt:lpstr>神经网络在60-70年代的停滞状况</vt:lpstr>
      <vt:lpstr>人工智能的第二波浪潮</vt:lpstr>
      <vt:lpstr>反向传播</vt:lpstr>
      <vt:lpstr>反向传播</vt:lpstr>
      <vt:lpstr>万有逼近定理</vt:lpstr>
      <vt:lpstr>对万有逼近定理的担忧</vt:lpstr>
      <vt:lpstr>BP应用于手写识别问题（LeNet）</vt:lpstr>
      <vt:lpstr>卷积神经网络的发展历史</vt:lpstr>
      <vt:lpstr>神经网络在实验室广泛传播</vt:lpstr>
      <vt:lpstr>神经网络在实验室广泛传播</vt:lpstr>
      <vt:lpstr>人工智能的第二次危机（1990s末期）</vt:lpstr>
      <vt:lpstr>人工智能的第二次危机（1995）</vt:lpstr>
      <vt:lpstr>人工智能的第二次危机</vt:lpstr>
      <vt:lpstr>人工智能的第三波浪潮</vt:lpstr>
      <vt:lpstr>蛮力的重要性：GPU</vt:lpstr>
      <vt:lpstr>对微软、谷歌、IBM的影响</vt:lpstr>
      <vt:lpstr>反思：为什么BP在过去不好用？</vt:lpstr>
      <vt:lpstr>没有免费的午餐定理</vt:lpstr>
      <vt:lpstr>深度学习的基本要素：模型，数据，优化</vt:lpstr>
      <vt:lpstr>思考：AI论文这么多，怎么办？</vt:lpstr>
      <vt:lpstr>PowerPoint 演示文稿</vt:lpstr>
      <vt:lpstr>PowerPoint 演示文稿</vt:lpstr>
      <vt:lpstr>好的理论有哪些特点</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Frequency perspective to understand depth effect and robustness of deep learning</dc:title>
  <dc:creator>zhiqin xu</dc:creator>
  <cp:lastModifiedBy>zhiqin xu</cp:lastModifiedBy>
  <cp:revision>661</cp:revision>
  <dcterms:created xsi:type="dcterms:W3CDTF">2020-06-05T07:59:00Z</dcterms:created>
  <dcterms:modified xsi:type="dcterms:W3CDTF">2026-10-21T22:44:55Z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BE00740AD31445F6A3D63FD4DB926F79_12</vt:lpwstr>
  </property>
  <property fmtid="{D5CDD505-2E9C-101B-9397-08002B2CF9AE}" pid="3" name="KSOProductBuildVer">
    <vt:lpwstr>2052-12.1.0.19770</vt:lpwstr>
  </property>
</Properties>
</file>