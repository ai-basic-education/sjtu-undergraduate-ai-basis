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tags/tag6.xml" ContentType="application/vnd.openxmlformats-officedocument.presentationml.tags+xml"/>
  <Override PartName="/ppt/tags/tag181.xml" ContentType="application/vnd.openxmlformats-officedocument.presentationml.tags+xml"/>
  <Override PartName="/ppt/tags/tag1860.xml" ContentType="application/vnd.openxmlformats-officedocument.presentationml.tags+xml"/>
  <Override PartName="/ppt/tags/tag189.xml" ContentType="application/vnd.openxmlformats-officedocument.presentationml.tags+xml"/>
  <Override PartName="/ppt/tags/tag192.xml" ContentType="application/vnd.openxmlformats-officedocument.presentationml.tag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8" r:id="rId2"/>
  </p:sldMasterIdLst>
  <p:notesMasterIdLst>
    <p:notesMasterId r:id="rId40"/>
  </p:notesMasterIdLst>
  <p:sldIdLst>
    <p:sldId id="2314" r:id="rId3"/>
    <p:sldId id="10905" r:id="rId4"/>
    <p:sldId id="10442" r:id="rId5"/>
    <p:sldId id="10899" r:id="rId6"/>
    <p:sldId id="390" r:id="rId7"/>
    <p:sldId id="391" r:id="rId8"/>
    <p:sldId id="392" r:id="rId9"/>
    <p:sldId id="393" r:id="rId10"/>
    <p:sldId id="394" r:id="rId11"/>
    <p:sldId id="395" r:id="rId12"/>
    <p:sldId id="396" r:id="rId13"/>
    <p:sldId id="10900" r:id="rId14"/>
    <p:sldId id="10901" r:id="rId15"/>
    <p:sldId id="397" r:id="rId16"/>
    <p:sldId id="10446" r:id="rId17"/>
    <p:sldId id="398" r:id="rId18"/>
    <p:sldId id="10444" r:id="rId19"/>
    <p:sldId id="10898" r:id="rId20"/>
    <p:sldId id="10813" r:id="rId21"/>
    <p:sldId id="10349" r:id="rId22"/>
    <p:sldId id="10351" r:id="rId23"/>
    <p:sldId id="10352" r:id="rId24"/>
    <p:sldId id="10904" r:id="rId25"/>
    <p:sldId id="10420" r:id="rId26"/>
    <p:sldId id="10902" r:id="rId27"/>
    <p:sldId id="10451" r:id="rId28"/>
    <p:sldId id="376" r:id="rId29"/>
    <p:sldId id="10860" r:id="rId30"/>
    <p:sldId id="10861" r:id="rId31"/>
    <p:sldId id="10862" r:id="rId32"/>
    <p:sldId id="10863" r:id="rId33"/>
    <p:sldId id="10864" r:id="rId34"/>
    <p:sldId id="10865" r:id="rId35"/>
    <p:sldId id="10866" r:id="rId36"/>
    <p:sldId id="10356" r:id="rId37"/>
    <p:sldId id="10358" r:id="rId38"/>
    <p:sldId id="10321" r:id="rId39"/>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张耀宇" initials="张耀宇" lastIdx="1" clrIdx="0"/>
  <p:cmAuthor id="2" name="zhiqin xu" initials="zx" lastIdx="1" clrIdx="1"/>
  <p:cmAuthor id="3" name="Microsoft Office User" initials="MOU" lastIdx="2" clrIdx="2">
    <p:extLst>
      <p:ext uri="{19B8F6BF-5375-455C-9EA6-DF929625EA0E}">
        <p15:presenceInfo xmlns:p15="http://schemas.microsoft.com/office/powerpoint/2012/main" userId="Microsoft Office User"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70707"/>
    <a:srgbClr val="FF9966"/>
    <a:srgbClr val="002B7F"/>
    <a:srgbClr val="1D41D5"/>
    <a:srgbClr val="3232FF"/>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423" autoAdjust="0"/>
    <p:restoredTop sz="89457" autoAdjust="0"/>
  </p:normalViewPr>
  <p:slideViewPr>
    <p:cSldViewPr snapToGrid="0">
      <p:cViewPr varScale="1">
        <p:scale>
          <a:sx n="107" d="100"/>
          <a:sy n="107" d="100"/>
        </p:scale>
        <p:origin x="5880" y="96"/>
      </p:cViewPr>
      <p:guideLst/>
    </p:cSldViewPr>
  </p:slideViewPr>
  <p:notesTextViewPr>
    <p:cViewPr>
      <p:scale>
        <a:sx n="3" d="2"/>
        <a:sy n="3" d="2"/>
      </p:scale>
      <p:origin x="0" y="0"/>
    </p:cViewPr>
  </p:notesTextViewPr>
  <p:sorterViewPr>
    <p:cViewPr>
      <p:scale>
        <a:sx n="75" d="100"/>
        <a:sy n="75" d="100"/>
      </p:scale>
      <p:origin x="0" y="-2382"/>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presProps" Target="pres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notesMaster" Target="notesMasters/notesMaster1.xml"/><Relationship Id="rId45"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viewProps" Target="viewProps.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20" Type="http://schemas.openxmlformats.org/officeDocument/2006/relationships/slide" Target="slides/slide18.xml"/><Relationship Id="rId41" Type="http://schemas.openxmlformats.org/officeDocument/2006/relationships/commentAuthors" Target="commen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F09CCD4-B0A0-4411-AF27-E52F275BA53D}" type="datetimeFigureOut">
              <a:rPr lang="zh-CN" altLang="en-US" smtClean="0"/>
              <a:t>2026/2/25</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FB6C25-FFE4-4126-ADF1-3137FE8DB2D2}"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B3FB6C25-FFE4-4126-ADF1-3137FE8DB2D2}" type="slidenum">
              <a:rPr lang="zh-CN" altLang="en-US" smtClean="0"/>
              <a:t>1</a:t>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1.xml"/><Relationship Id="rId5" Type="http://schemas.openxmlformats.org/officeDocument/2006/relationships/image" Target="../media/image1.png"/><Relationship Id="rId4"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9.png"/><Relationship Id="rId1" Type="http://schemas.openxmlformats.org/officeDocument/2006/relationships/slideMaster" Target="../slideMasters/slideMaster2.xml"/><Relationship Id="rId4" Type="http://schemas.openxmlformats.org/officeDocument/2006/relationships/image" Target="../media/image10.jpeg"/></Relationships>
</file>

<file path=ppt/slideLayouts/slideLayout1.xml><?xml version="1.0" encoding="utf-8"?>
<p:sldLayout xmlns:a="http://schemas.openxmlformats.org/drawingml/2006/main" xmlns:r="http://schemas.openxmlformats.org/officeDocument/2006/relationships" xmlns:p="http://schemas.openxmlformats.org/presentationml/2006/main" type="secHead" preserve="1">
  <p:cSld name="欢迎页幻灯片">
    <p:spTree>
      <p:nvGrpSpPr>
        <p:cNvPr id="1" name=""/>
        <p:cNvGrpSpPr/>
        <p:nvPr/>
      </p:nvGrpSpPr>
      <p:grpSpPr>
        <a:xfrm>
          <a:off x="0" y="0"/>
          <a:ext cx="0" cy="0"/>
          <a:chOff x="0" y="0"/>
          <a:chExt cx="0" cy="0"/>
        </a:xfrm>
      </p:grpSpPr>
      <p:sp>
        <p:nvSpPr>
          <p:cNvPr id="8" name="矩形 7"/>
          <p:cNvSpPr/>
          <p:nvPr/>
        </p:nvSpPr>
        <p:spPr>
          <a:xfrm>
            <a:off x="0" y="2"/>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2" name="标题 1"/>
          <p:cNvSpPr>
            <a:spLocks noGrp="1"/>
          </p:cNvSpPr>
          <p:nvPr>
            <p:ph type="title" hasCustomPrompt="1"/>
          </p:nvPr>
        </p:nvSpPr>
        <p:spPr>
          <a:xfrm>
            <a:off x="381242" y="3716337"/>
            <a:ext cx="11429516" cy="1523959"/>
          </a:xfrm>
        </p:spPr>
        <p:txBody>
          <a:bodyPr vert="horz" lIns="0" tIns="0" rIns="0" bIns="0" rtlCol="0" anchor="t" anchorCtr="0">
            <a:normAutofit/>
          </a:bodyPr>
          <a:lstStyle>
            <a:lvl1pPr algn="ctr">
              <a:defRPr lang="zh-CN" altLang="en-US" sz="5400" b="1">
                <a:solidFill>
                  <a:schemeClr val="bg1"/>
                </a:solidFill>
              </a:defRPr>
            </a:lvl1pPr>
          </a:lstStyle>
          <a:p>
            <a:pPr lvl="0">
              <a:lnSpc>
                <a:spcPct val="100000"/>
              </a:lnSpc>
            </a:pPr>
            <a:r>
              <a:rPr lang="zh-CN" altLang="en-US" dirty="0"/>
              <a:t>欢迎页面</a:t>
            </a:r>
          </a:p>
        </p:txBody>
      </p:sp>
      <p:sp>
        <p:nvSpPr>
          <p:cNvPr id="3" name="文本占位符 2"/>
          <p:cNvSpPr>
            <a:spLocks noGrp="1"/>
          </p:cNvSpPr>
          <p:nvPr>
            <p:ph type="body" idx="1" hasCustomPrompt="1"/>
          </p:nvPr>
        </p:nvSpPr>
        <p:spPr>
          <a:xfrm>
            <a:off x="381242" y="5336848"/>
            <a:ext cx="11429516" cy="761979"/>
          </a:xfrm>
        </p:spPr>
        <p:txBody>
          <a:bodyPr>
            <a:normAutofit/>
          </a:bodyPr>
          <a:lstStyle>
            <a:lvl1pPr marL="0" indent="0" algn="ctr">
              <a:buNone/>
              <a:defRPr sz="2800">
                <a:solidFill>
                  <a:schemeClr val="bg1"/>
                </a:solidFill>
                <a:latin typeface="+mj-ea"/>
                <a:ea typeface="+mj-ea"/>
              </a:defRPr>
            </a:lvl1pPr>
            <a:lvl2pPr marL="609600" indent="0">
              <a:buNone/>
              <a:defRPr sz="2665">
                <a:solidFill>
                  <a:schemeClr val="tx1">
                    <a:tint val="75000"/>
                  </a:schemeClr>
                </a:solidFill>
              </a:defRPr>
            </a:lvl2pPr>
            <a:lvl3pPr marL="1219200" indent="0">
              <a:buNone/>
              <a:defRPr sz="2400">
                <a:solidFill>
                  <a:schemeClr val="tx1">
                    <a:tint val="75000"/>
                  </a:schemeClr>
                </a:solidFill>
              </a:defRPr>
            </a:lvl3pPr>
            <a:lvl4pPr marL="1828800" indent="0">
              <a:buNone/>
              <a:defRPr sz="2135">
                <a:solidFill>
                  <a:schemeClr val="tx1">
                    <a:tint val="75000"/>
                  </a:schemeClr>
                </a:solidFill>
              </a:defRPr>
            </a:lvl4pPr>
            <a:lvl5pPr marL="2438400" indent="0">
              <a:buNone/>
              <a:defRPr sz="2135">
                <a:solidFill>
                  <a:schemeClr val="tx1">
                    <a:tint val="75000"/>
                  </a:schemeClr>
                </a:solidFill>
              </a:defRPr>
            </a:lvl5pPr>
            <a:lvl6pPr marL="3048000" indent="0">
              <a:buNone/>
              <a:defRPr sz="2135">
                <a:solidFill>
                  <a:schemeClr val="tx1">
                    <a:tint val="75000"/>
                  </a:schemeClr>
                </a:solidFill>
              </a:defRPr>
            </a:lvl6pPr>
            <a:lvl7pPr marL="3657600" indent="0">
              <a:buNone/>
              <a:defRPr sz="2135">
                <a:solidFill>
                  <a:schemeClr val="tx1">
                    <a:tint val="75000"/>
                  </a:schemeClr>
                </a:solidFill>
              </a:defRPr>
            </a:lvl7pPr>
            <a:lvl8pPr marL="4267200" indent="0">
              <a:buNone/>
              <a:defRPr sz="2135">
                <a:solidFill>
                  <a:schemeClr val="tx1">
                    <a:tint val="75000"/>
                  </a:schemeClr>
                </a:solidFill>
              </a:defRPr>
            </a:lvl8pPr>
            <a:lvl9pPr marL="4876800" indent="0">
              <a:buNone/>
              <a:defRPr sz="2135">
                <a:solidFill>
                  <a:schemeClr val="tx1">
                    <a:tint val="75000"/>
                  </a:schemeClr>
                </a:solidFill>
              </a:defRPr>
            </a:lvl9pPr>
          </a:lstStyle>
          <a:p>
            <a:pPr lvl="0"/>
            <a:r>
              <a:rPr lang="zh-CN" altLang="en-US" dirty="0"/>
              <a:t>备注</a:t>
            </a:r>
          </a:p>
        </p:txBody>
      </p:sp>
      <p:sp>
        <p:nvSpPr>
          <p:cNvPr id="4" name="日期占位符 3"/>
          <p:cNvSpPr>
            <a:spLocks noGrp="1"/>
          </p:cNvSpPr>
          <p:nvPr>
            <p:ph type="dt" sz="half" idx="10"/>
          </p:nvPr>
        </p:nvSpPr>
        <p:spPr>
          <a:xfrm>
            <a:off x="381242" y="6237360"/>
            <a:ext cx="11429516" cy="457188"/>
          </a:xfrm>
          <a:prstGeom prst="rect">
            <a:avLst/>
          </a:prstGeom>
        </p:spPr>
        <p:txBody>
          <a:bodyPr vert="horz" lIns="91440" tIns="45720" rIns="91440" bIns="45720" rtlCol="0" anchor="ctr"/>
          <a:lstStyle>
            <a:lvl1pPr algn="ctr">
              <a:defRPr lang="zh-CN" altLang="en-US" sz="2540" smtClean="0">
                <a:solidFill>
                  <a:schemeClr val="bg1"/>
                </a:solidFill>
              </a:defRPr>
            </a:lvl1pPr>
          </a:lstStyle>
          <a:p>
            <a:fld id="{D2032502-F676-4D52-ABE7-5D8167C8AC58}" type="datetimeFigureOut">
              <a:rPr lang="zh-CN" altLang="en-US" smtClean="0"/>
              <a:t>2026/2/25</a:t>
            </a:fld>
            <a:endParaRPr lang="zh-CN" altLang="en-US"/>
          </a:p>
        </p:txBody>
      </p:sp>
      <p:pic>
        <p:nvPicPr>
          <p:cNvPr id="9" name="图片 8"/>
          <p:cNvPicPr>
            <a:picLocks noChangeAspect="1"/>
          </p:cNvPicPr>
          <p:nvPr/>
        </p:nvPicPr>
        <p:blipFill rotWithShape="1">
          <a:blip r:embed="rId2" cstate="print"/>
          <a:srcRect b="37632"/>
          <a:stretch>
            <a:fillRect/>
          </a:stretch>
        </p:blipFill>
        <p:spPr>
          <a:xfrm>
            <a:off x="0" y="-14"/>
            <a:ext cx="12192000" cy="3409347"/>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标题幻灯片">
    <p:spTree>
      <p:nvGrpSpPr>
        <p:cNvPr id="1" name=""/>
        <p:cNvGrpSpPr/>
        <p:nvPr/>
      </p:nvGrpSpPr>
      <p:grpSpPr>
        <a:xfrm>
          <a:off x="0" y="0"/>
          <a:ext cx="0" cy="0"/>
          <a:chOff x="0" y="0"/>
          <a:chExt cx="0" cy="0"/>
        </a:xfrm>
      </p:grpSpPr>
      <p:sp>
        <p:nvSpPr>
          <p:cNvPr id="7" name="矩形 6"/>
          <p:cNvSpPr/>
          <p:nvPr/>
        </p:nvSpPr>
        <p:spPr>
          <a:xfrm>
            <a:off x="0" y="2"/>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2" name="标题 1"/>
          <p:cNvSpPr>
            <a:spLocks noGrp="1"/>
          </p:cNvSpPr>
          <p:nvPr>
            <p:ph type="ctrTitle" hasCustomPrompt="1"/>
          </p:nvPr>
        </p:nvSpPr>
        <p:spPr>
          <a:xfrm>
            <a:off x="762226" y="3717192"/>
            <a:ext cx="10667548" cy="1333464"/>
          </a:xfrm>
        </p:spPr>
        <p:txBody>
          <a:bodyPr lIns="0" tIns="0" rIns="0" bIns="0" anchor="t" anchorCtr="0">
            <a:normAutofit/>
          </a:bodyPr>
          <a:lstStyle>
            <a:lvl1pPr algn="ctr">
              <a:lnSpc>
                <a:spcPct val="100000"/>
              </a:lnSpc>
              <a:defRPr sz="4800">
                <a:solidFill>
                  <a:schemeClr val="bg1"/>
                </a:solidFill>
              </a:defRPr>
            </a:lvl1pPr>
          </a:lstStyle>
          <a:p>
            <a:r>
              <a:rPr lang="zh-CN" altLang="en-US" dirty="0"/>
              <a:t>讲演主标题</a:t>
            </a:r>
          </a:p>
        </p:txBody>
      </p:sp>
      <p:sp>
        <p:nvSpPr>
          <p:cNvPr id="3" name="副标题 2"/>
          <p:cNvSpPr>
            <a:spLocks noGrp="1"/>
          </p:cNvSpPr>
          <p:nvPr>
            <p:ph type="subTitle" idx="1" hasCustomPrompt="1"/>
          </p:nvPr>
        </p:nvSpPr>
        <p:spPr>
          <a:xfrm>
            <a:off x="3429113" y="5387513"/>
            <a:ext cx="5333774" cy="571485"/>
          </a:xfrm>
        </p:spPr>
        <p:txBody>
          <a:bodyPr vert="horz" lIns="91440" tIns="45720" rIns="91440" bIns="45720" rtlCol="0" anchor="ctr" anchorCtr="0">
            <a:normAutofit/>
          </a:bodyPr>
          <a:lstStyle>
            <a:lvl1pPr algn="ctr">
              <a:defRPr lang="zh-CN" altLang="en-US" dirty="0">
                <a:solidFill>
                  <a:schemeClr val="bg1"/>
                </a:solidFill>
                <a:latin typeface="+mj-ea"/>
                <a:ea typeface="+mj-ea"/>
              </a:defRPr>
            </a:lvl1pPr>
          </a:lstStyle>
          <a:p>
            <a:pPr marL="0" lvl="0" indent="0">
              <a:buNone/>
            </a:pPr>
            <a:r>
              <a:rPr lang="zh-CN" altLang="en-US" dirty="0"/>
              <a:t>演讲者</a:t>
            </a:r>
          </a:p>
        </p:txBody>
      </p:sp>
      <p:sp>
        <p:nvSpPr>
          <p:cNvPr id="17" name="日期占位符 16"/>
          <p:cNvSpPr>
            <a:spLocks noGrp="1"/>
          </p:cNvSpPr>
          <p:nvPr>
            <p:ph type="dt" sz="half" idx="11"/>
          </p:nvPr>
        </p:nvSpPr>
        <p:spPr>
          <a:xfrm>
            <a:off x="3429113" y="6229835"/>
            <a:ext cx="5333774" cy="457188"/>
          </a:xfrm>
          <a:prstGeom prst="rect">
            <a:avLst/>
          </a:prstGeom>
        </p:spPr>
        <p:txBody>
          <a:bodyPr/>
          <a:lstStyle>
            <a:lvl1pPr algn="ctr">
              <a:defRPr sz="2400">
                <a:solidFill>
                  <a:schemeClr val="bg1"/>
                </a:solidFill>
              </a:defRPr>
            </a:lvl1pPr>
          </a:lstStyle>
          <a:p>
            <a:fld id="{D2032502-F676-4D52-ABE7-5D8167C8AC58}" type="datetimeFigureOut">
              <a:rPr lang="zh-CN" altLang="en-US" smtClean="0"/>
              <a:t>2026/2/25</a:t>
            </a:fld>
            <a:endParaRPr lang="zh-CN" altLang="en-US"/>
          </a:p>
        </p:txBody>
      </p:sp>
      <p:pic>
        <p:nvPicPr>
          <p:cNvPr id="9" name="图片 8"/>
          <p:cNvPicPr>
            <a:picLocks noChangeAspect="1"/>
          </p:cNvPicPr>
          <p:nvPr/>
        </p:nvPicPr>
        <p:blipFill rotWithShape="1">
          <a:blip r:embed="rId2" cstate="print"/>
          <a:srcRect b="37632"/>
          <a:stretch>
            <a:fillRect/>
          </a:stretch>
        </p:blipFill>
        <p:spPr>
          <a:xfrm>
            <a:off x="0" y="-14"/>
            <a:ext cx="12192000" cy="3409347"/>
          </a:xfrm>
          <a:prstGeom prst="rect">
            <a:avLst/>
          </a:prstGeom>
        </p:spPr>
      </p:pic>
      <p:pic>
        <p:nvPicPr>
          <p:cNvPr id="10" name="图片 9"/>
          <p:cNvPicPr>
            <a:picLocks noChangeAspect="1"/>
          </p:cNvPicPr>
          <p:nvPr/>
        </p:nvPicPr>
        <p:blipFill>
          <a:blip r:embed="rId3" cstate="print"/>
          <a:stretch>
            <a:fillRect/>
          </a:stretch>
        </p:blipFill>
        <p:spPr>
          <a:xfrm>
            <a:off x="9134117" y="5941837"/>
            <a:ext cx="2723765" cy="720001"/>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结尾页幻灯片">
    <p:spTree>
      <p:nvGrpSpPr>
        <p:cNvPr id="1" name=""/>
        <p:cNvGrpSpPr/>
        <p:nvPr/>
      </p:nvGrpSpPr>
      <p:grpSpPr>
        <a:xfrm>
          <a:off x="0" y="0"/>
          <a:ext cx="0" cy="0"/>
          <a:chOff x="0" y="0"/>
          <a:chExt cx="0" cy="0"/>
        </a:xfrm>
      </p:grpSpPr>
      <p:sp>
        <p:nvSpPr>
          <p:cNvPr id="4" name="矩形 3"/>
          <p:cNvSpPr/>
          <p:nvPr/>
        </p:nvSpPr>
        <p:spPr>
          <a:xfrm>
            <a:off x="0" y="2"/>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pic>
        <p:nvPicPr>
          <p:cNvPr id="6" name="图片 5"/>
          <p:cNvPicPr>
            <a:picLocks noChangeAspect="1"/>
          </p:cNvPicPr>
          <p:nvPr/>
        </p:nvPicPr>
        <p:blipFill>
          <a:blip r:embed="rId2" cstate="print"/>
          <a:stretch>
            <a:fillRect/>
          </a:stretch>
        </p:blipFill>
        <p:spPr>
          <a:xfrm>
            <a:off x="0" y="1197884"/>
            <a:ext cx="12192000" cy="3723238"/>
          </a:xfrm>
          <a:prstGeom prst="rect">
            <a:avLst/>
          </a:prstGeom>
        </p:spPr>
      </p:pic>
      <p:pic>
        <p:nvPicPr>
          <p:cNvPr id="7" name="图片 6"/>
          <p:cNvPicPr>
            <a:picLocks noChangeAspect="1"/>
          </p:cNvPicPr>
          <p:nvPr/>
        </p:nvPicPr>
        <p:blipFill>
          <a:blip r:embed="rId3" cstate="print"/>
          <a:stretch>
            <a:fillRect/>
          </a:stretch>
        </p:blipFill>
        <p:spPr>
          <a:xfrm>
            <a:off x="480002" y="2699982"/>
            <a:ext cx="3626453" cy="960898"/>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66E0AC87-F9B6-4F7A-AB3A-6863E2A5800B}" type="slidenum">
              <a:rPr lang="zh-CN" altLang="en-US" smtClean="0"/>
              <a:t>‹#›</a:t>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lvl1pPr>
              <a:defRPr sz="3200"/>
            </a:lvl1pPr>
          </a:lstStyle>
          <a:p>
            <a:r>
              <a:rPr lang="zh-CN" altLang="en-US" dirty="0"/>
              <a:t>页面标题</a:t>
            </a:r>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66E0AC87-F9B6-4F7A-AB3A-6863E2A5800B}" type="slidenum">
              <a:rPr lang="zh-CN" altLang="en-US" smtClean="0"/>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p>
            <a:r>
              <a:rPr lang="zh-CN" altLang="en-US" dirty="0"/>
              <a:t>页面标题</a:t>
            </a:r>
          </a:p>
        </p:txBody>
      </p:sp>
      <p:sp>
        <p:nvSpPr>
          <p:cNvPr id="3" name="内容占位符 2"/>
          <p:cNvSpPr>
            <a:spLocks noGrp="1"/>
          </p:cNvSpPr>
          <p:nvPr>
            <p:ph idx="1" hasCustomPrompt="1"/>
          </p:nvPr>
        </p:nvSpPr>
        <p:spPr/>
        <p:txBody>
          <a:bodyPr/>
          <a:lstStyle>
            <a:lvl1pPr>
              <a:defRPr/>
            </a:lvl1pPr>
          </a:lstStyle>
          <a:p>
            <a:pPr lvl="0"/>
            <a:r>
              <a:rPr lang="zh-CN" altLang="en-US" dirty="0"/>
              <a:t>第一级文本内容</a:t>
            </a:r>
          </a:p>
          <a:p>
            <a:pPr lvl="1"/>
            <a:r>
              <a:rPr lang="zh-CN" altLang="en-US" dirty="0"/>
              <a:t>第二级文本内容</a:t>
            </a:r>
          </a:p>
          <a:p>
            <a:pPr lvl="2"/>
            <a:r>
              <a:rPr lang="zh-CN" altLang="en-US" dirty="0"/>
              <a:t>第三级文本内容</a:t>
            </a:r>
          </a:p>
        </p:txBody>
      </p:sp>
      <p:sp>
        <p:nvSpPr>
          <p:cNvPr id="5" name="页脚占位符 4"/>
          <p:cNvSpPr>
            <a:spLocks noGrp="1"/>
          </p:cNvSpPr>
          <p:nvPr>
            <p:ph type="ftr" sz="quarter" idx="11"/>
          </p:nvPr>
        </p:nvSpPr>
        <p:spPr>
          <a:xfrm>
            <a:off x="2736001" y="6318000"/>
            <a:ext cx="6720000" cy="540000"/>
          </a:xfrm>
        </p:spPr>
        <p:txBody>
          <a:bodyPr/>
          <a:lstStyle/>
          <a:p>
            <a:endParaRPr lang="zh-CN" altLang="en-US"/>
          </a:p>
        </p:txBody>
      </p:sp>
      <p:sp>
        <p:nvSpPr>
          <p:cNvPr id="6" name="灯片编号占位符 5"/>
          <p:cNvSpPr>
            <a:spLocks noGrp="1"/>
          </p:cNvSpPr>
          <p:nvPr>
            <p:ph type="sldNum" sz="quarter" idx="12"/>
          </p:nvPr>
        </p:nvSpPr>
        <p:spPr>
          <a:xfrm>
            <a:off x="336002" y="6318000"/>
            <a:ext cx="960000" cy="540000"/>
          </a:xfrm>
        </p:spPr>
        <p:txBody>
          <a:bodyPr/>
          <a:lstStyle/>
          <a:p>
            <a:fld id="{66E0AC87-F9B6-4F7A-AB3A-6863E2A5800B}" type="slidenum">
              <a:rPr lang="zh-CN" altLang="en-US" smtClean="0"/>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cSld name="封底">
    <p:spTree>
      <p:nvGrpSpPr>
        <p:cNvPr id="1" name=""/>
        <p:cNvGrpSpPr/>
        <p:nvPr/>
      </p:nvGrpSpPr>
      <p:grpSpPr>
        <a:xfrm>
          <a:off x="0" y="0"/>
          <a:ext cx="0" cy="0"/>
          <a:chOff x="0" y="0"/>
          <a:chExt cx="0" cy="0"/>
        </a:xfrm>
      </p:grpSpPr>
      <p:sp>
        <p:nvSpPr>
          <p:cNvPr id="18" name="矩形 17"/>
          <p:cNvSpPr/>
          <p:nvPr/>
        </p:nvSpPr>
        <p:spPr>
          <a:xfrm>
            <a:off x="0" y="2"/>
            <a:ext cx="12192000" cy="6858000"/>
          </a:xfrm>
          <a:prstGeom prst="rect">
            <a:avLst/>
          </a:prstGeom>
          <a:solidFill>
            <a:srgbClr val="C915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pic>
        <p:nvPicPr>
          <p:cNvPr id="7" name="图片 6"/>
          <p:cNvPicPr>
            <a:picLocks noChangeAspect="1"/>
          </p:cNvPicPr>
          <p:nvPr/>
        </p:nvPicPr>
        <p:blipFill>
          <a:blip r:embed="rId2" cstate="print"/>
          <a:stretch>
            <a:fillRect/>
          </a:stretch>
        </p:blipFill>
        <p:spPr>
          <a:xfrm>
            <a:off x="4444642" y="1805992"/>
            <a:ext cx="3302721" cy="2708599"/>
          </a:xfrm>
          <a:prstGeom prst="rect">
            <a:avLst/>
          </a:prstGeom>
        </p:spPr>
      </p:pic>
      <p:cxnSp>
        <p:nvCxnSpPr>
          <p:cNvPr id="10" name="直接连接符 9"/>
          <p:cNvCxnSpPr/>
          <p:nvPr/>
        </p:nvCxnSpPr>
        <p:spPr>
          <a:xfrm>
            <a:off x="431818" y="3429002"/>
            <a:ext cx="2952924"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直接连接符 10"/>
          <p:cNvCxnSpPr/>
          <p:nvPr/>
        </p:nvCxnSpPr>
        <p:spPr>
          <a:xfrm>
            <a:off x="8807295" y="3429002"/>
            <a:ext cx="2952924"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204720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1_标题和内容">
    <p:spTree>
      <p:nvGrpSpPr>
        <p:cNvPr id="1" name=""/>
        <p:cNvGrpSpPr/>
        <p:nvPr/>
      </p:nvGrpSpPr>
      <p:grpSpPr>
        <a:xfrm>
          <a:off x="0" y="0"/>
          <a:ext cx="0" cy="0"/>
          <a:chOff x="0" y="0"/>
          <a:chExt cx="0" cy="0"/>
        </a:xfrm>
      </p:grpSpPr>
      <p:pic>
        <p:nvPicPr>
          <p:cNvPr id="14" name="图片 13" descr="图片包含 建筑物, 圆屋顶, 地板&#10;&#10;描述已自动生成"/>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24" y="0"/>
            <a:ext cx="12188951" cy="6858000"/>
          </a:xfrm>
          <a:prstGeom prst="rect">
            <a:avLst/>
          </a:prstGeom>
        </p:spPr>
      </p:pic>
      <p:sp>
        <p:nvSpPr>
          <p:cNvPr id="18" name="平行四边形 17"/>
          <p:cNvSpPr/>
          <p:nvPr userDrawn="1"/>
        </p:nvSpPr>
        <p:spPr>
          <a:xfrm>
            <a:off x="0" y="1"/>
            <a:ext cx="12191483" cy="685800"/>
          </a:xfrm>
          <a:prstGeom prst="parallelogram">
            <a:avLst>
              <a:gd name="adj" fmla="val 4444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灯片编号占位符 2"/>
          <p:cNvSpPr>
            <a:spLocks noGrp="1"/>
          </p:cNvSpPr>
          <p:nvPr>
            <p:ph type="sldNum" sz="quarter" idx="10"/>
          </p:nvPr>
        </p:nvSpPr>
        <p:spPr/>
        <p:txBody>
          <a:bodyPr/>
          <a:lstStyle/>
          <a:p>
            <a:fld id="{6C53781C-E1F6-4315-A39D-61273F2E0596}" type="slidenum">
              <a:rPr lang="zh-CN" altLang="en-US" smtClean="0"/>
              <a:t>‹#›</a:t>
            </a:fld>
            <a:endParaRPr lang="zh-CN" altLang="en-US" dirty="0"/>
          </a:p>
        </p:txBody>
      </p:sp>
      <p:pic>
        <p:nvPicPr>
          <p:cNvPr id="7" name="图片 6" descr="图片包含 户外, 标牌, 黑色&#10;&#10;自动生成的说明"/>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19056" y="73482"/>
            <a:ext cx="538838" cy="538838"/>
          </a:xfrm>
          <a:prstGeom prst="rect">
            <a:avLst/>
          </a:prstGeom>
        </p:spPr>
      </p:pic>
      <p:sp>
        <p:nvSpPr>
          <p:cNvPr id="8" name="文本占位符 31"/>
          <p:cNvSpPr>
            <a:spLocks noGrp="1"/>
          </p:cNvSpPr>
          <p:nvPr>
            <p:ph type="body" sz="quarter" idx="11"/>
          </p:nvPr>
        </p:nvSpPr>
        <p:spPr>
          <a:xfrm>
            <a:off x="1075351" y="43657"/>
            <a:ext cx="7081677" cy="598488"/>
          </a:xfrm>
          <a:prstGeom prst="rect">
            <a:avLst/>
          </a:prstGeom>
        </p:spPr>
        <p:txBody>
          <a:bodyPr anchor="ctr"/>
          <a:lstStyle>
            <a:lvl1pPr marL="0" indent="0" algn="l">
              <a:lnSpc>
                <a:spcPct val="100000"/>
              </a:lnSpc>
              <a:buNone/>
              <a:defRPr sz="3200" b="1">
                <a:solidFill>
                  <a:schemeClr val="bg1"/>
                </a:solidFill>
              </a:defRPr>
            </a:lvl1pPr>
          </a:lstStyle>
          <a:p>
            <a:pPr lvl="0"/>
            <a:endParaRPr lang="zh-CN" altLang="en-US" dirty="0"/>
          </a:p>
        </p:txBody>
      </p:sp>
      <p:sp>
        <p:nvSpPr>
          <p:cNvPr id="9" name="文本占位符 31"/>
          <p:cNvSpPr>
            <a:spLocks noGrp="1"/>
          </p:cNvSpPr>
          <p:nvPr>
            <p:ph type="body" sz="quarter" idx="12"/>
          </p:nvPr>
        </p:nvSpPr>
        <p:spPr>
          <a:xfrm>
            <a:off x="319056" y="6438900"/>
            <a:ext cx="4151344" cy="419100"/>
          </a:xfrm>
          <a:prstGeom prst="rect">
            <a:avLst/>
          </a:prstGeom>
        </p:spPr>
        <p:txBody>
          <a:bodyPr lIns="0" tIns="0" rIns="0" bIns="0" anchor="ctr"/>
          <a:lstStyle>
            <a:lvl1pPr marL="0" indent="0" algn="l">
              <a:lnSpc>
                <a:spcPct val="100000"/>
              </a:lnSpc>
              <a:buNone/>
              <a:defRPr sz="2000" b="0">
                <a:solidFill>
                  <a:schemeClr val="tx1">
                    <a:lumMod val="75000"/>
                    <a:lumOff val="25000"/>
                  </a:schemeClr>
                </a:solidFill>
              </a:defRPr>
            </a:lvl1pPr>
          </a:lstStyle>
          <a:p>
            <a:pPr lvl="0"/>
            <a:endParaRPr lang="zh-CN" altLang="en-US" dirty="0"/>
          </a:p>
        </p:txBody>
      </p:sp>
      <p:sp>
        <p:nvSpPr>
          <p:cNvPr id="10" name="文本占位符 31"/>
          <p:cNvSpPr>
            <a:spLocks noGrp="1"/>
          </p:cNvSpPr>
          <p:nvPr>
            <p:ph type="body" sz="quarter" idx="13"/>
          </p:nvPr>
        </p:nvSpPr>
        <p:spPr>
          <a:xfrm>
            <a:off x="4788940" y="6438900"/>
            <a:ext cx="4151344" cy="419100"/>
          </a:xfrm>
          <a:prstGeom prst="rect">
            <a:avLst/>
          </a:prstGeom>
        </p:spPr>
        <p:txBody>
          <a:bodyPr lIns="0" tIns="0" rIns="0" bIns="0" anchor="ctr"/>
          <a:lstStyle>
            <a:lvl1pPr marL="0" indent="0" algn="l">
              <a:lnSpc>
                <a:spcPct val="100000"/>
              </a:lnSpc>
              <a:buNone/>
              <a:defRPr sz="2000" b="0">
                <a:solidFill>
                  <a:schemeClr val="tx1">
                    <a:lumMod val="75000"/>
                    <a:lumOff val="25000"/>
                  </a:schemeClr>
                </a:solidFill>
              </a:defRPr>
            </a:lvl1pPr>
          </a:lstStyle>
          <a:p>
            <a:pPr lvl="0"/>
            <a:endParaRPr lang="zh-CN" altLang="en-US" dirty="0"/>
          </a:p>
        </p:txBody>
      </p:sp>
      <p:sp>
        <p:nvSpPr>
          <p:cNvPr id="17" name="文本占位符 16"/>
          <p:cNvSpPr>
            <a:spLocks noGrp="1"/>
          </p:cNvSpPr>
          <p:nvPr>
            <p:ph type="body" sz="quarter" idx="14" hasCustomPrompt="1"/>
          </p:nvPr>
        </p:nvSpPr>
        <p:spPr>
          <a:xfrm>
            <a:off x="319056" y="766710"/>
            <a:ext cx="11568144" cy="4765791"/>
          </a:xfrm>
          <a:prstGeom prst="rect">
            <a:avLst/>
          </a:prstGeom>
        </p:spPr>
        <p:txBody>
          <a:bodyPr/>
          <a:lstStyle>
            <a:lvl1pPr marL="228600" indent="-228600">
              <a:lnSpc>
                <a:spcPct val="130000"/>
              </a:lnSpc>
              <a:buFontTx/>
              <a:buBlip>
                <a:blip r:embed="rId4"/>
              </a:buBlip>
              <a:defRPr sz="2000">
                <a:solidFill>
                  <a:schemeClr val="accent2"/>
                </a:solidFill>
              </a:defRPr>
            </a:lvl1pPr>
            <a:lvl2pPr>
              <a:lnSpc>
                <a:spcPct val="130000"/>
              </a:lnSpc>
              <a:defRPr sz="2000">
                <a:solidFill>
                  <a:schemeClr val="accent2"/>
                </a:solidFill>
              </a:defRPr>
            </a:lvl2pPr>
            <a:lvl3pPr>
              <a:lnSpc>
                <a:spcPct val="130000"/>
              </a:lnSpc>
              <a:defRPr sz="1800">
                <a:solidFill>
                  <a:schemeClr val="accent2"/>
                </a:solidFill>
              </a:defRPr>
            </a:lvl3pPr>
            <a:lvl4pPr>
              <a:lnSpc>
                <a:spcPct val="130000"/>
              </a:lnSpc>
              <a:defRPr sz="1600">
                <a:solidFill>
                  <a:schemeClr val="accent2"/>
                </a:solidFill>
              </a:defRPr>
            </a:lvl4pPr>
            <a:lvl5pPr>
              <a:lnSpc>
                <a:spcPct val="130000"/>
              </a:lnSpc>
              <a:defRPr sz="1600">
                <a:solidFill>
                  <a:schemeClr val="accent2"/>
                </a:solidFill>
              </a:defRPr>
            </a:lvl5pPr>
          </a:lstStyle>
          <a:p>
            <a:pPr lvl="0"/>
            <a:r>
              <a:rPr lang="zh-CN" altLang="en-US" dirty="0"/>
              <a:t>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21" name="平行四边形 20"/>
          <p:cNvSpPr/>
          <p:nvPr userDrawn="1"/>
        </p:nvSpPr>
        <p:spPr>
          <a:xfrm>
            <a:off x="11428834" y="119857"/>
            <a:ext cx="473565" cy="242093"/>
          </a:xfrm>
          <a:prstGeom prst="parallelogram">
            <a:avLst>
              <a:gd name="adj" fmla="val 44445"/>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2" name="平行四边形 21"/>
          <p:cNvSpPr/>
          <p:nvPr userDrawn="1"/>
        </p:nvSpPr>
        <p:spPr>
          <a:xfrm>
            <a:off x="11016782" y="322602"/>
            <a:ext cx="473565" cy="242093"/>
          </a:xfrm>
          <a:prstGeom prst="parallelogram">
            <a:avLst>
              <a:gd name="adj" fmla="val 44445"/>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pic>
        <p:nvPicPr>
          <p:cNvPr id="12" name="图片 11"/>
          <p:cNvPicPr>
            <a:picLocks noChangeAspect="1"/>
          </p:cNvPicPr>
          <p:nvPr userDrawn="1"/>
        </p:nvPicPr>
        <p:blipFill rotWithShape="1">
          <a:blip r:embed="rId5" cstate="print"/>
          <a:srcRect r="1346"/>
          <a:stretch>
            <a:fillRect/>
          </a:stretch>
        </p:blipFill>
        <p:spPr>
          <a:xfrm>
            <a:off x="516" y="6041797"/>
            <a:ext cx="12166903" cy="411617"/>
          </a:xfrm>
          <a:prstGeom prst="rect">
            <a:avLst/>
          </a:prstGeom>
        </p:spPr>
      </p:pic>
    </p:spTree>
    <p:extLst>
      <p:ext uri="{BB962C8B-B14F-4D97-AF65-F5344CB8AC3E}">
        <p14:creationId xmlns:p14="http://schemas.microsoft.com/office/powerpoint/2010/main" val="34128490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secHead" preserve="1">
  <p:cSld name="欢迎页幻灯片">
    <p:spTree>
      <p:nvGrpSpPr>
        <p:cNvPr id="1" name=""/>
        <p:cNvGrpSpPr/>
        <p:nvPr/>
      </p:nvGrpSpPr>
      <p:grpSpPr>
        <a:xfrm>
          <a:off x="0" y="0"/>
          <a:ext cx="0" cy="0"/>
          <a:chOff x="0" y="0"/>
          <a:chExt cx="0" cy="0"/>
        </a:xfrm>
      </p:grpSpPr>
      <p:sp>
        <p:nvSpPr>
          <p:cNvPr id="8" name="矩形 7"/>
          <p:cNvSpPr/>
          <p:nvPr/>
        </p:nvSpPr>
        <p:spPr>
          <a:xfrm>
            <a:off x="0" y="2"/>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2" name="标题 1"/>
          <p:cNvSpPr>
            <a:spLocks noGrp="1"/>
          </p:cNvSpPr>
          <p:nvPr>
            <p:ph type="title" hasCustomPrompt="1"/>
          </p:nvPr>
        </p:nvSpPr>
        <p:spPr>
          <a:xfrm>
            <a:off x="381242" y="3716337"/>
            <a:ext cx="11429516" cy="1523959"/>
          </a:xfrm>
        </p:spPr>
        <p:txBody>
          <a:bodyPr vert="horz" lIns="0" tIns="0" rIns="0" bIns="0" rtlCol="0" anchor="t" anchorCtr="0">
            <a:normAutofit/>
          </a:bodyPr>
          <a:lstStyle>
            <a:lvl1pPr algn="ctr">
              <a:defRPr lang="zh-CN" altLang="en-US" sz="5400" b="1">
                <a:solidFill>
                  <a:schemeClr val="bg1"/>
                </a:solidFill>
              </a:defRPr>
            </a:lvl1pPr>
          </a:lstStyle>
          <a:p>
            <a:pPr lvl="0">
              <a:lnSpc>
                <a:spcPct val="100000"/>
              </a:lnSpc>
            </a:pPr>
            <a:r>
              <a:rPr lang="zh-CN" altLang="en-US" dirty="0"/>
              <a:t>欢迎页面</a:t>
            </a:r>
          </a:p>
        </p:txBody>
      </p:sp>
      <p:sp>
        <p:nvSpPr>
          <p:cNvPr id="3" name="文本占位符 2"/>
          <p:cNvSpPr>
            <a:spLocks noGrp="1"/>
          </p:cNvSpPr>
          <p:nvPr>
            <p:ph type="body" idx="1" hasCustomPrompt="1"/>
          </p:nvPr>
        </p:nvSpPr>
        <p:spPr>
          <a:xfrm>
            <a:off x="381242" y="5336848"/>
            <a:ext cx="11429516" cy="761979"/>
          </a:xfrm>
        </p:spPr>
        <p:txBody>
          <a:bodyPr>
            <a:normAutofit/>
          </a:bodyPr>
          <a:lstStyle>
            <a:lvl1pPr marL="0" indent="0" algn="ctr">
              <a:buNone/>
              <a:defRPr sz="2800">
                <a:solidFill>
                  <a:schemeClr val="bg1"/>
                </a:solidFill>
                <a:latin typeface="+mj-ea"/>
                <a:ea typeface="+mj-ea"/>
              </a:defRPr>
            </a:lvl1pPr>
            <a:lvl2pPr marL="609600" indent="0">
              <a:buNone/>
              <a:defRPr sz="2665">
                <a:solidFill>
                  <a:schemeClr val="tx1">
                    <a:tint val="75000"/>
                  </a:schemeClr>
                </a:solidFill>
              </a:defRPr>
            </a:lvl2pPr>
            <a:lvl3pPr marL="1219200" indent="0">
              <a:buNone/>
              <a:defRPr sz="2400">
                <a:solidFill>
                  <a:schemeClr val="tx1">
                    <a:tint val="75000"/>
                  </a:schemeClr>
                </a:solidFill>
              </a:defRPr>
            </a:lvl3pPr>
            <a:lvl4pPr marL="1828800" indent="0">
              <a:buNone/>
              <a:defRPr sz="2135">
                <a:solidFill>
                  <a:schemeClr val="tx1">
                    <a:tint val="75000"/>
                  </a:schemeClr>
                </a:solidFill>
              </a:defRPr>
            </a:lvl4pPr>
            <a:lvl5pPr marL="2438400" indent="0">
              <a:buNone/>
              <a:defRPr sz="2135">
                <a:solidFill>
                  <a:schemeClr val="tx1">
                    <a:tint val="75000"/>
                  </a:schemeClr>
                </a:solidFill>
              </a:defRPr>
            </a:lvl5pPr>
            <a:lvl6pPr marL="3048000" indent="0">
              <a:buNone/>
              <a:defRPr sz="2135">
                <a:solidFill>
                  <a:schemeClr val="tx1">
                    <a:tint val="75000"/>
                  </a:schemeClr>
                </a:solidFill>
              </a:defRPr>
            </a:lvl6pPr>
            <a:lvl7pPr marL="3657600" indent="0">
              <a:buNone/>
              <a:defRPr sz="2135">
                <a:solidFill>
                  <a:schemeClr val="tx1">
                    <a:tint val="75000"/>
                  </a:schemeClr>
                </a:solidFill>
              </a:defRPr>
            </a:lvl7pPr>
            <a:lvl8pPr marL="4267200" indent="0">
              <a:buNone/>
              <a:defRPr sz="2135">
                <a:solidFill>
                  <a:schemeClr val="tx1">
                    <a:tint val="75000"/>
                  </a:schemeClr>
                </a:solidFill>
              </a:defRPr>
            </a:lvl8pPr>
            <a:lvl9pPr marL="4876800" indent="0">
              <a:buNone/>
              <a:defRPr sz="2135">
                <a:solidFill>
                  <a:schemeClr val="tx1">
                    <a:tint val="75000"/>
                  </a:schemeClr>
                </a:solidFill>
              </a:defRPr>
            </a:lvl9pPr>
          </a:lstStyle>
          <a:p>
            <a:pPr lvl="0"/>
            <a:r>
              <a:rPr lang="zh-CN" altLang="en-US" dirty="0"/>
              <a:t>备注</a:t>
            </a:r>
          </a:p>
        </p:txBody>
      </p:sp>
      <p:sp>
        <p:nvSpPr>
          <p:cNvPr id="4" name="日期占位符 3"/>
          <p:cNvSpPr>
            <a:spLocks noGrp="1"/>
          </p:cNvSpPr>
          <p:nvPr>
            <p:ph type="dt" sz="half" idx="10"/>
          </p:nvPr>
        </p:nvSpPr>
        <p:spPr>
          <a:xfrm>
            <a:off x="381242" y="6237360"/>
            <a:ext cx="11429516" cy="457188"/>
          </a:xfrm>
          <a:prstGeom prst="rect">
            <a:avLst/>
          </a:prstGeom>
        </p:spPr>
        <p:txBody>
          <a:bodyPr vert="horz" lIns="91440" tIns="45720" rIns="91440" bIns="45720" rtlCol="0" anchor="ctr"/>
          <a:lstStyle>
            <a:lvl1pPr algn="ctr">
              <a:defRPr lang="zh-CN" altLang="en-US" sz="2540" smtClean="0">
                <a:solidFill>
                  <a:schemeClr val="bg1"/>
                </a:solidFill>
              </a:defRPr>
            </a:lvl1pPr>
          </a:lstStyle>
          <a:p>
            <a:fld id="{D2032502-F676-4D52-ABE7-5D8167C8AC58}" type="datetimeFigureOut">
              <a:rPr lang="zh-CN" altLang="en-US" smtClean="0"/>
              <a:t>2026/2/25</a:t>
            </a:fld>
            <a:endParaRPr lang="zh-CN" altLang="en-US"/>
          </a:p>
        </p:txBody>
      </p:sp>
      <p:pic>
        <p:nvPicPr>
          <p:cNvPr id="9" name="图片 8"/>
          <p:cNvPicPr>
            <a:picLocks noChangeAspect="1"/>
          </p:cNvPicPr>
          <p:nvPr/>
        </p:nvPicPr>
        <p:blipFill rotWithShape="1">
          <a:blip r:embed="rId2" cstate="print"/>
          <a:srcRect b="37632"/>
          <a:stretch>
            <a:fillRect/>
          </a:stretch>
        </p:blipFill>
        <p:spPr>
          <a:xfrm>
            <a:off x="0" y="-14"/>
            <a:ext cx="12192000" cy="3409347"/>
          </a:xfrm>
          <a:prstGeom prst="rect">
            <a:avLst/>
          </a:prstGeom>
        </p:spPr>
      </p:pic>
    </p:spTree>
    <p:extLst>
      <p:ext uri="{BB962C8B-B14F-4D97-AF65-F5344CB8AC3E}">
        <p14:creationId xmlns:p14="http://schemas.microsoft.com/office/powerpoint/2010/main" val="16127642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标题幻灯片">
    <p:spTree>
      <p:nvGrpSpPr>
        <p:cNvPr id="1" name=""/>
        <p:cNvGrpSpPr/>
        <p:nvPr/>
      </p:nvGrpSpPr>
      <p:grpSpPr>
        <a:xfrm>
          <a:off x="0" y="0"/>
          <a:ext cx="0" cy="0"/>
          <a:chOff x="0" y="0"/>
          <a:chExt cx="0" cy="0"/>
        </a:xfrm>
      </p:grpSpPr>
      <p:sp>
        <p:nvSpPr>
          <p:cNvPr id="7" name="矩形 6"/>
          <p:cNvSpPr/>
          <p:nvPr/>
        </p:nvSpPr>
        <p:spPr>
          <a:xfrm>
            <a:off x="0" y="2"/>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2" name="标题 1"/>
          <p:cNvSpPr>
            <a:spLocks noGrp="1"/>
          </p:cNvSpPr>
          <p:nvPr>
            <p:ph type="ctrTitle" hasCustomPrompt="1"/>
          </p:nvPr>
        </p:nvSpPr>
        <p:spPr>
          <a:xfrm>
            <a:off x="762226" y="3717192"/>
            <a:ext cx="10667548" cy="1333464"/>
          </a:xfrm>
        </p:spPr>
        <p:txBody>
          <a:bodyPr lIns="0" tIns="0" rIns="0" bIns="0" anchor="t" anchorCtr="0">
            <a:normAutofit/>
          </a:bodyPr>
          <a:lstStyle>
            <a:lvl1pPr algn="ctr">
              <a:lnSpc>
                <a:spcPct val="100000"/>
              </a:lnSpc>
              <a:defRPr sz="4800">
                <a:solidFill>
                  <a:schemeClr val="bg1"/>
                </a:solidFill>
              </a:defRPr>
            </a:lvl1pPr>
          </a:lstStyle>
          <a:p>
            <a:r>
              <a:rPr lang="zh-CN" altLang="en-US" dirty="0"/>
              <a:t>讲演主标题</a:t>
            </a:r>
          </a:p>
        </p:txBody>
      </p:sp>
      <p:sp>
        <p:nvSpPr>
          <p:cNvPr id="3" name="副标题 2"/>
          <p:cNvSpPr>
            <a:spLocks noGrp="1"/>
          </p:cNvSpPr>
          <p:nvPr>
            <p:ph type="subTitle" idx="1" hasCustomPrompt="1"/>
          </p:nvPr>
        </p:nvSpPr>
        <p:spPr>
          <a:xfrm>
            <a:off x="3429113" y="5387513"/>
            <a:ext cx="5333774" cy="571485"/>
          </a:xfrm>
        </p:spPr>
        <p:txBody>
          <a:bodyPr vert="horz" lIns="91440" tIns="45720" rIns="91440" bIns="45720" rtlCol="0" anchor="ctr" anchorCtr="0">
            <a:normAutofit/>
          </a:bodyPr>
          <a:lstStyle>
            <a:lvl1pPr algn="ctr">
              <a:defRPr lang="zh-CN" altLang="en-US" dirty="0">
                <a:solidFill>
                  <a:schemeClr val="bg1"/>
                </a:solidFill>
                <a:latin typeface="+mj-ea"/>
                <a:ea typeface="+mj-ea"/>
              </a:defRPr>
            </a:lvl1pPr>
          </a:lstStyle>
          <a:p>
            <a:pPr marL="0" lvl="0" indent="0">
              <a:buNone/>
            </a:pPr>
            <a:r>
              <a:rPr lang="zh-CN" altLang="en-US" dirty="0"/>
              <a:t>演讲者</a:t>
            </a:r>
          </a:p>
        </p:txBody>
      </p:sp>
      <p:sp>
        <p:nvSpPr>
          <p:cNvPr id="17" name="日期占位符 16"/>
          <p:cNvSpPr>
            <a:spLocks noGrp="1"/>
          </p:cNvSpPr>
          <p:nvPr>
            <p:ph type="dt" sz="half" idx="11"/>
          </p:nvPr>
        </p:nvSpPr>
        <p:spPr>
          <a:xfrm>
            <a:off x="3429113" y="6229835"/>
            <a:ext cx="5333774" cy="457188"/>
          </a:xfrm>
          <a:prstGeom prst="rect">
            <a:avLst/>
          </a:prstGeom>
        </p:spPr>
        <p:txBody>
          <a:bodyPr/>
          <a:lstStyle>
            <a:lvl1pPr algn="ctr">
              <a:defRPr sz="2400">
                <a:solidFill>
                  <a:schemeClr val="bg1"/>
                </a:solidFill>
              </a:defRPr>
            </a:lvl1pPr>
          </a:lstStyle>
          <a:p>
            <a:fld id="{D2032502-F676-4D52-ABE7-5D8167C8AC58}" type="datetimeFigureOut">
              <a:rPr lang="zh-CN" altLang="en-US" smtClean="0"/>
              <a:t>2026/2/25</a:t>
            </a:fld>
            <a:endParaRPr lang="zh-CN" altLang="en-US"/>
          </a:p>
        </p:txBody>
      </p:sp>
      <p:pic>
        <p:nvPicPr>
          <p:cNvPr id="9" name="图片 8"/>
          <p:cNvPicPr>
            <a:picLocks noChangeAspect="1"/>
          </p:cNvPicPr>
          <p:nvPr/>
        </p:nvPicPr>
        <p:blipFill rotWithShape="1">
          <a:blip r:embed="rId2" cstate="print"/>
          <a:srcRect b="37632"/>
          <a:stretch>
            <a:fillRect/>
          </a:stretch>
        </p:blipFill>
        <p:spPr>
          <a:xfrm>
            <a:off x="0" y="-14"/>
            <a:ext cx="12192000" cy="3409347"/>
          </a:xfrm>
          <a:prstGeom prst="rect">
            <a:avLst/>
          </a:prstGeom>
        </p:spPr>
      </p:pic>
      <p:pic>
        <p:nvPicPr>
          <p:cNvPr id="10" name="图片 9"/>
          <p:cNvPicPr>
            <a:picLocks noChangeAspect="1"/>
          </p:cNvPicPr>
          <p:nvPr/>
        </p:nvPicPr>
        <p:blipFill>
          <a:blip r:embed="rId3" cstate="print"/>
          <a:stretch>
            <a:fillRect/>
          </a:stretch>
        </p:blipFill>
        <p:spPr>
          <a:xfrm>
            <a:off x="9134117" y="5941837"/>
            <a:ext cx="2723765" cy="720001"/>
          </a:xfrm>
          <a:prstGeom prst="rect">
            <a:avLst/>
          </a:prstGeom>
        </p:spPr>
      </p:pic>
    </p:spTree>
    <p:extLst>
      <p:ext uri="{BB962C8B-B14F-4D97-AF65-F5344CB8AC3E}">
        <p14:creationId xmlns:p14="http://schemas.microsoft.com/office/powerpoint/2010/main" val="3882094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结尾页幻灯片">
    <p:spTree>
      <p:nvGrpSpPr>
        <p:cNvPr id="1" name=""/>
        <p:cNvGrpSpPr/>
        <p:nvPr/>
      </p:nvGrpSpPr>
      <p:grpSpPr>
        <a:xfrm>
          <a:off x="0" y="0"/>
          <a:ext cx="0" cy="0"/>
          <a:chOff x="0" y="0"/>
          <a:chExt cx="0" cy="0"/>
        </a:xfrm>
      </p:grpSpPr>
      <p:sp>
        <p:nvSpPr>
          <p:cNvPr id="4" name="矩形 3"/>
          <p:cNvSpPr/>
          <p:nvPr/>
        </p:nvSpPr>
        <p:spPr>
          <a:xfrm>
            <a:off x="0" y="2"/>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pic>
        <p:nvPicPr>
          <p:cNvPr id="6" name="图片 5"/>
          <p:cNvPicPr>
            <a:picLocks noChangeAspect="1"/>
          </p:cNvPicPr>
          <p:nvPr/>
        </p:nvPicPr>
        <p:blipFill>
          <a:blip r:embed="rId2" cstate="print"/>
          <a:stretch>
            <a:fillRect/>
          </a:stretch>
        </p:blipFill>
        <p:spPr>
          <a:xfrm>
            <a:off x="0" y="1197884"/>
            <a:ext cx="12192000" cy="3723238"/>
          </a:xfrm>
          <a:prstGeom prst="rect">
            <a:avLst/>
          </a:prstGeom>
        </p:spPr>
      </p:pic>
      <p:pic>
        <p:nvPicPr>
          <p:cNvPr id="7" name="图片 6"/>
          <p:cNvPicPr>
            <a:picLocks noChangeAspect="1"/>
          </p:cNvPicPr>
          <p:nvPr/>
        </p:nvPicPr>
        <p:blipFill>
          <a:blip r:embed="rId3" cstate="print"/>
          <a:stretch>
            <a:fillRect/>
          </a:stretch>
        </p:blipFill>
        <p:spPr>
          <a:xfrm>
            <a:off x="480002" y="2699982"/>
            <a:ext cx="3626453" cy="960898"/>
          </a:xfrm>
          <a:prstGeom prst="rect">
            <a:avLst/>
          </a:prstGeom>
        </p:spPr>
      </p:pic>
    </p:spTree>
    <p:extLst>
      <p:ext uri="{BB962C8B-B14F-4D97-AF65-F5344CB8AC3E}">
        <p14:creationId xmlns:p14="http://schemas.microsoft.com/office/powerpoint/2010/main" val="40904866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66E0AC87-F9B6-4F7A-AB3A-6863E2A5800B}" type="slidenum">
              <a:rPr lang="zh-CN" altLang="en-US" smtClean="0"/>
              <a:t>‹#›</a:t>
            </a:fld>
            <a:endParaRPr lang="zh-CN" altLang="en-US"/>
          </a:p>
        </p:txBody>
      </p:sp>
    </p:spTree>
    <p:extLst>
      <p:ext uri="{BB962C8B-B14F-4D97-AF65-F5344CB8AC3E}">
        <p14:creationId xmlns:p14="http://schemas.microsoft.com/office/powerpoint/2010/main" val="24155110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lvl1pPr>
              <a:defRPr sz="3200"/>
            </a:lvl1pPr>
          </a:lstStyle>
          <a:p>
            <a:r>
              <a:rPr lang="zh-CN" altLang="en-US" dirty="0"/>
              <a:t>页面标题</a:t>
            </a:r>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66E0AC87-F9B6-4F7A-AB3A-6863E2A5800B}" type="slidenum">
              <a:rPr lang="zh-CN" altLang="en-US" smtClean="0"/>
              <a:t>‹#›</a:t>
            </a:fld>
            <a:endParaRPr lang="zh-CN" altLang="en-US"/>
          </a:p>
        </p:txBody>
      </p:sp>
    </p:spTree>
    <p:extLst>
      <p:ext uri="{BB962C8B-B14F-4D97-AF65-F5344CB8AC3E}">
        <p14:creationId xmlns:p14="http://schemas.microsoft.com/office/powerpoint/2010/main" val="357841298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p>
            <a:r>
              <a:rPr lang="zh-CN" altLang="en-US" dirty="0"/>
              <a:t>页面标题</a:t>
            </a:r>
          </a:p>
        </p:txBody>
      </p:sp>
      <p:sp>
        <p:nvSpPr>
          <p:cNvPr id="3" name="内容占位符 2"/>
          <p:cNvSpPr>
            <a:spLocks noGrp="1"/>
          </p:cNvSpPr>
          <p:nvPr>
            <p:ph idx="1" hasCustomPrompt="1"/>
          </p:nvPr>
        </p:nvSpPr>
        <p:spPr/>
        <p:txBody>
          <a:bodyPr/>
          <a:lstStyle>
            <a:lvl1pPr>
              <a:defRPr/>
            </a:lvl1pPr>
          </a:lstStyle>
          <a:p>
            <a:pPr lvl="0"/>
            <a:r>
              <a:rPr lang="zh-CN" altLang="en-US" dirty="0"/>
              <a:t>第一级文本内容</a:t>
            </a:r>
          </a:p>
          <a:p>
            <a:pPr lvl="1"/>
            <a:r>
              <a:rPr lang="zh-CN" altLang="en-US" dirty="0"/>
              <a:t>第二级文本内容</a:t>
            </a:r>
          </a:p>
          <a:p>
            <a:pPr lvl="2"/>
            <a:r>
              <a:rPr lang="zh-CN" altLang="en-US" dirty="0"/>
              <a:t>第三级文本内容</a:t>
            </a:r>
          </a:p>
        </p:txBody>
      </p:sp>
      <p:sp>
        <p:nvSpPr>
          <p:cNvPr id="5" name="页脚占位符 4"/>
          <p:cNvSpPr>
            <a:spLocks noGrp="1"/>
          </p:cNvSpPr>
          <p:nvPr>
            <p:ph type="ftr" sz="quarter" idx="11"/>
          </p:nvPr>
        </p:nvSpPr>
        <p:spPr>
          <a:xfrm>
            <a:off x="2736001" y="6318000"/>
            <a:ext cx="6720000" cy="540000"/>
          </a:xfrm>
        </p:spPr>
        <p:txBody>
          <a:bodyPr/>
          <a:lstStyle/>
          <a:p>
            <a:endParaRPr lang="zh-CN" altLang="en-US"/>
          </a:p>
        </p:txBody>
      </p:sp>
      <p:sp>
        <p:nvSpPr>
          <p:cNvPr id="6" name="灯片编号占位符 5"/>
          <p:cNvSpPr>
            <a:spLocks noGrp="1"/>
          </p:cNvSpPr>
          <p:nvPr>
            <p:ph type="sldNum" sz="quarter" idx="12"/>
          </p:nvPr>
        </p:nvSpPr>
        <p:spPr>
          <a:xfrm>
            <a:off x="336002" y="6318000"/>
            <a:ext cx="960000" cy="540000"/>
          </a:xfrm>
        </p:spPr>
        <p:txBody>
          <a:bodyPr/>
          <a:lstStyle/>
          <a:p>
            <a:fld id="{66E0AC87-F9B6-4F7A-AB3A-6863E2A5800B}" type="slidenum">
              <a:rPr lang="zh-CN" altLang="en-US" smtClean="0"/>
              <a:t>‹#›</a:t>
            </a:fld>
            <a:endParaRPr lang="zh-CN" altLang="en-US"/>
          </a:p>
        </p:txBody>
      </p:sp>
    </p:spTree>
    <p:extLst>
      <p:ext uri="{BB962C8B-B14F-4D97-AF65-F5344CB8AC3E}">
        <p14:creationId xmlns:p14="http://schemas.microsoft.com/office/powerpoint/2010/main" val="21339132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cSld name="封底">
    <p:spTree>
      <p:nvGrpSpPr>
        <p:cNvPr id="1" name=""/>
        <p:cNvGrpSpPr/>
        <p:nvPr/>
      </p:nvGrpSpPr>
      <p:grpSpPr>
        <a:xfrm>
          <a:off x="0" y="0"/>
          <a:ext cx="0" cy="0"/>
          <a:chOff x="0" y="0"/>
          <a:chExt cx="0" cy="0"/>
        </a:xfrm>
      </p:grpSpPr>
      <p:sp>
        <p:nvSpPr>
          <p:cNvPr id="18" name="矩形 17"/>
          <p:cNvSpPr/>
          <p:nvPr/>
        </p:nvSpPr>
        <p:spPr>
          <a:xfrm>
            <a:off x="0" y="2"/>
            <a:ext cx="12192000" cy="6858000"/>
          </a:xfrm>
          <a:prstGeom prst="rect">
            <a:avLst/>
          </a:prstGeom>
          <a:solidFill>
            <a:srgbClr val="C915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pic>
        <p:nvPicPr>
          <p:cNvPr id="7" name="图片 6"/>
          <p:cNvPicPr>
            <a:picLocks noChangeAspect="1"/>
          </p:cNvPicPr>
          <p:nvPr/>
        </p:nvPicPr>
        <p:blipFill>
          <a:blip r:embed="rId2" cstate="print"/>
          <a:stretch>
            <a:fillRect/>
          </a:stretch>
        </p:blipFill>
        <p:spPr>
          <a:xfrm>
            <a:off x="4444642" y="1805992"/>
            <a:ext cx="3302721" cy="2708599"/>
          </a:xfrm>
          <a:prstGeom prst="rect">
            <a:avLst/>
          </a:prstGeom>
        </p:spPr>
      </p:pic>
      <p:cxnSp>
        <p:nvCxnSpPr>
          <p:cNvPr id="10" name="直接连接符 9"/>
          <p:cNvCxnSpPr/>
          <p:nvPr/>
        </p:nvCxnSpPr>
        <p:spPr>
          <a:xfrm>
            <a:off x="431818" y="3429002"/>
            <a:ext cx="2952924"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直接连接符 10"/>
          <p:cNvCxnSpPr/>
          <p:nvPr/>
        </p:nvCxnSpPr>
        <p:spPr>
          <a:xfrm>
            <a:off x="8807295" y="3429002"/>
            <a:ext cx="2952924"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7853292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cSld name="目录">
    <p:spTree>
      <p:nvGrpSpPr>
        <p:cNvPr id="1" name=""/>
        <p:cNvGrpSpPr/>
        <p:nvPr/>
      </p:nvGrpSpPr>
      <p:grpSpPr>
        <a:xfrm>
          <a:off x="0" y="0"/>
          <a:ext cx="0" cy="0"/>
          <a:chOff x="0" y="0"/>
          <a:chExt cx="0" cy="0"/>
        </a:xfrm>
      </p:grpSpPr>
      <p:pic>
        <p:nvPicPr>
          <p:cNvPr id="3" name="图片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3"/>
            <a:ext cx="12192000" cy="665863"/>
          </a:xfrm>
          <a:prstGeom prst="rect">
            <a:avLst/>
          </a:prstGeom>
        </p:spPr>
      </p:pic>
      <p:sp>
        <p:nvSpPr>
          <p:cNvPr id="7" name="矩形 6"/>
          <p:cNvSpPr/>
          <p:nvPr/>
        </p:nvSpPr>
        <p:spPr>
          <a:xfrm>
            <a:off x="0" y="5821680"/>
            <a:ext cx="12192000" cy="1036320"/>
          </a:xfrm>
          <a:prstGeom prst="rect">
            <a:avLst/>
          </a:prstGeom>
          <a:solidFill>
            <a:srgbClr val="C915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pic>
        <p:nvPicPr>
          <p:cNvPr id="8" name="图片 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889726" y="6100774"/>
            <a:ext cx="2611396" cy="518469"/>
          </a:xfrm>
          <a:prstGeom prst="rect">
            <a:avLst/>
          </a:prstGeom>
        </p:spPr>
      </p:pic>
      <p:sp>
        <p:nvSpPr>
          <p:cNvPr id="2" name="标题 1"/>
          <p:cNvSpPr>
            <a:spLocks noGrp="1"/>
          </p:cNvSpPr>
          <p:nvPr>
            <p:ph type="title"/>
          </p:nvPr>
        </p:nvSpPr>
        <p:spPr>
          <a:xfrm>
            <a:off x="431802" y="235137"/>
            <a:ext cx="8632687" cy="337358"/>
          </a:xfrm>
          <a:prstGeom prst="rect">
            <a:avLst/>
          </a:prstGeom>
        </p:spPr>
        <p:txBody>
          <a:bodyPr anchor="ctr"/>
          <a:lstStyle>
            <a:lvl1pPr>
              <a:defRPr sz="2000">
                <a:solidFill>
                  <a:schemeClr val="accent1"/>
                </a:solidFill>
                <a:effectLst>
                  <a:glow rad="25400">
                    <a:srgbClr val="BFE2F3"/>
                  </a:glow>
                </a:effectLst>
              </a:defRPr>
            </a:lvl1pPr>
          </a:lstStyle>
          <a:p>
            <a:r>
              <a:rPr lang="zh-CN" altLang="en-US"/>
              <a:t>单击此处编辑母版标题样式</a:t>
            </a:r>
            <a:endParaRPr lang="zh-CN" altLang="en-US" dirty="0"/>
          </a:p>
        </p:txBody>
      </p:sp>
      <p:pic>
        <p:nvPicPr>
          <p:cNvPr id="4" name="图片 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0" y="680411"/>
            <a:ext cx="12192000" cy="5181600"/>
          </a:xfrm>
          <a:prstGeom prst="rect">
            <a:avLst/>
          </a:prstGeom>
        </p:spPr>
      </p:pic>
      <p:pic>
        <p:nvPicPr>
          <p:cNvPr id="9" name="图片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1"/>
            <a:ext cx="12192000" cy="665863"/>
          </a:xfrm>
          <a:prstGeom prst="rect">
            <a:avLst/>
          </a:prstGeom>
        </p:spPr>
      </p:pic>
      <p:sp>
        <p:nvSpPr>
          <p:cNvPr id="10" name="矩形 9"/>
          <p:cNvSpPr/>
          <p:nvPr userDrawn="1"/>
        </p:nvSpPr>
        <p:spPr>
          <a:xfrm>
            <a:off x="0" y="5821680"/>
            <a:ext cx="12192000" cy="1036320"/>
          </a:xfrm>
          <a:prstGeom prst="rect">
            <a:avLst/>
          </a:prstGeom>
          <a:solidFill>
            <a:srgbClr val="C915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pic>
        <p:nvPicPr>
          <p:cNvPr id="11" name="图片 10"/>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9494519" y="6100774"/>
            <a:ext cx="2143761" cy="518469"/>
          </a:xfrm>
          <a:prstGeom prst="rect">
            <a:avLst/>
          </a:prstGeom>
        </p:spPr>
      </p:pic>
      <p:pic>
        <p:nvPicPr>
          <p:cNvPr id="12" name="图片 11"/>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0" y="680411"/>
            <a:ext cx="12192000" cy="5181600"/>
          </a:xfrm>
          <a:prstGeom prst="rect">
            <a:avLst/>
          </a:prstGeom>
        </p:spPr>
      </p:pic>
    </p:spTree>
    <p:extLst>
      <p:ext uri="{BB962C8B-B14F-4D97-AF65-F5344CB8AC3E}">
        <p14:creationId xmlns:p14="http://schemas.microsoft.com/office/powerpoint/2010/main" val="2787789926"/>
      </p:ext>
    </p:extLst>
  </p:cSld>
  <p:clrMapOvr>
    <a:masterClrMapping/>
  </p:clrMapOvr>
  <p:transition>
    <p:fade/>
  </p:transition>
  <p:hf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png"/><Relationship Id="rId5" Type="http://schemas.openxmlformats.org/officeDocument/2006/relationships/slideLayout" Target="../slideLayouts/slideLayout5.xml"/><Relationship Id="rId10"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6.xml"/><Relationship Id="rId3" Type="http://schemas.openxmlformats.org/officeDocument/2006/relationships/slideLayout" Target="../slideLayouts/slideLayout11.xml"/><Relationship Id="rId7" Type="http://schemas.openxmlformats.org/officeDocument/2006/relationships/slideLayout" Target="../slideLayouts/slideLayout15.xml"/><Relationship Id="rId2" Type="http://schemas.openxmlformats.org/officeDocument/2006/relationships/slideLayout" Target="../slideLayouts/slideLayout10.xml"/><Relationship Id="rId1" Type="http://schemas.openxmlformats.org/officeDocument/2006/relationships/slideLayout" Target="../slideLayouts/slideLayout9.xml"/><Relationship Id="rId6" Type="http://schemas.openxmlformats.org/officeDocument/2006/relationships/slideLayout" Target="../slideLayouts/slideLayout14.xml"/><Relationship Id="rId11" Type="http://schemas.openxmlformats.org/officeDocument/2006/relationships/image" Target="../media/image2.png"/><Relationship Id="rId5" Type="http://schemas.openxmlformats.org/officeDocument/2006/relationships/slideLayout" Target="../slideLayouts/slideLayout13.xml"/><Relationship Id="rId10" Type="http://schemas.openxmlformats.org/officeDocument/2006/relationships/image" Target="../media/image1.png"/><Relationship Id="rId4" Type="http://schemas.openxmlformats.org/officeDocument/2006/relationships/slideLayout" Target="../slideLayouts/slideLayout12.xml"/><Relationship Id="rId9"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3" name="图片 12"/>
          <p:cNvPicPr>
            <a:picLocks noChangeAspect="1"/>
          </p:cNvPicPr>
          <p:nvPr/>
        </p:nvPicPr>
        <p:blipFill rotWithShape="1">
          <a:blip r:embed="rId10" cstate="print"/>
          <a:srcRect r="1346"/>
          <a:stretch>
            <a:fillRect/>
          </a:stretch>
        </p:blipFill>
        <p:spPr>
          <a:xfrm>
            <a:off x="516" y="341947"/>
            <a:ext cx="12191484" cy="411617"/>
          </a:xfrm>
          <a:prstGeom prst="rect">
            <a:avLst/>
          </a:prstGeom>
        </p:spPr>
      </p:pic>
      <p:sp>
        <p:nvSpPr>
          <p:cNvPr id="9" name="矩形 6"/>
          <p:cNvSpPr/>
          <p:nvPr/>
        </p:nvSpPr>
        <p:spPr>
          <a:xfrm>
            <a:off x="0" y="6318000"/>
            <a:ext cx="12192000" cy="54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zh-CN" altLang="en-US" sz="1905"/>
          </a:p>
        </p:txBody>
      </p:sp>
      <p:sp>
        <p:nvSpPr>
          <p:cNvPr id="2" name="标题占位符 1"/>
          <p:cNvSpPr>
            <a:spLocks noGrp="1"/>
          </p:cNvSpPr>
          <p:nvPr>
            <p:ph type="title"/>
          </p:nvPr>
        </p:nvSpPr>
        <p:spPr>
          <a:xfrm>
            <a:off x="381242" y="0"/>
            <a:ext cx="11429516" cy="761979"/>
          </a:xfrm>
          <a:prstGeom prst="rect">
            <a:avLst/>
          </a:prstGeom>
          <a:ln>
            <a:noFill/>
          </a:ln>
        </p:spPr>
        <p:txBody>
          <a:bodyPr vert="horz" lIns="0" tIns="0" rIns="0" bIns="0" rtlCol="0" anchor="b" anchorCtr="0">
            <a:noAutofit/>
          </a:bodyPr>
          <a:lstStyle/>
          <a:p>
            <a:r>
              <a:rPr lang="zh-CN" altLang="en-US" dirty="0"/>
              <a:t>页面标题</a:t>
            </a:r>
          </a:p>
        </p:txBody>
      </p:sp>
      <p:sp>
        <p:nvSpPr>
          <p:cNvPr id="3" name="文本占位符 2"/>
          <p:cNvSpPr>
            <a:spLocks noGrp="1"/>
          </p:cNvSpPr>
          <p:nvPr>
            <p:ph type="body" idx="1"/>
          </p:nvPr>
        </p:nvSpPr>
        <p:spPr>
          <a:xfrm>
            <a:off x="381242" y="981154"/>
            <a:ext cx="11429516" cy="5333856"/>
          </a:xfrm>
          <a:prstGeom prst="rect">
            <a:avLst/>
          </a:prstGeom>
        </p:spPr>
        <p:txBody>
          <a:bodyPr vert="horz" lIns="90000" tIns="0" rIns="91440" bIns="0" rtlCol="0">
            <a:normAutofit/>
          </a:bodyPr>
          <a:lstStyle/>
          <a:p>
            <a:pPr lvl="0"/>
            <a:r>
              <a:rPr lang="zh-CN" altLang="en-US" dirty="0"/>
              <a:t>第一级文本内容</a:t>
            </a:r>
          </a:p>
          <a:p>
            <a:pPr lvl="1"/>
            <a:r>
              <a:rPr lang="zh-CN" altLang="en-US" dirty="0"/>
              <a:t>第二级文本内容</a:t>
            </a:r>
          </a:p>
          <a:p>
            <a:pPr lvl="2"/>
            <a:r>
              <a:rPr lang="zh-CN" altLang="en-US" dirty="0"/>
              <a:t>第三级文本内容</a:t>
            </a:r>
          </a:p>
        </p:txBody>
      </p:sp>
      <p:sp>
        <p:nvSpPr>
          <p:cNvPr id="5" name="页脚占位符 4"/>
          <p:cNvSpPr>
            <a:spLocks noGrp="1"/>
          </p:cNvSpPr>
          <p:nvPr>
            <p:ph type="ftr" sz="quarter" idx="3"/>
          </p:nvPr>
        </p:nvSpPr>
        <p:spPr>
          <a:xfrm>
            <a:off x="2667146" y="6318000"/>
            <a:ext cx="6857709" cy="540000"/>
          </a:xfrm>
          <a:prstGeom prst="rect">
            <a:avLst/>
          </a:prstGeom>
        </p:spPr>
        <p:txBody>
          <a:bodyPr vert="horz" lIns="91440" tIns="45720" rIns="91440" bIns="45720" rtlCol="0" anchor="ctr"/>
          <a:lstStyle>
            <a:lvl1pPr algn="ctr">
              <a:defRPr sz="1905">
                <a:solidFill>
                  <a:schemeClr val="bg1"/>
                </a:solidFill>
              </a:defRPr>
            </a:lvl1pPr>
          </a:lstStyle>
          <a:p>
            <a:endParaRPr lang="zh-CN" altLang="en-US"/>
          </a:p>
        </p:txBody>
      </p:sp>
      <p:sp>
        <p:nvSpPr>
          <p:cNvPr id="6" name="灯片编号占位符 5"/>
          <p:cNvSpPr>
            <a:spLocks noGrp="1"/>
          </p:cNvSpPr>
          <p:nvPr>
            <p:ph type="sldNum" sz="quarter" idx="4"/>
          </p:nvPr>
        </p:nvSpPr>
        <p:spPr>
          <a:xfrm>
            <a:off x="381242" y="6318000"/>
            <a:ext cx="952460" cy="540000"/>
          </a:xfrm>
          <a:prstGeom prst="rect">
            <a:avLst/>
          </a:prstGeom>
        </p:spPr>
        <p:txBody>
          <a:bodyPr vert="horz" lIns="91440" tIns="45720" rIns="91440" bIns="45720" rtlCol="0" anchor="ctr"/>
          <a:lstStyle>
            <a:lvl1pPr algn="l">
              <a:defRPr sz="1695">
                <a:solidFill>
                  <a:schemeClr val="bg1"/>
                </a:solidFill>
              </a:defRPr>
            </a:lvl1pPr>
          </a:lstStyle>
          <a:p>
            <a:fld id="{66E0AC87-F9B6-4F7A-AB3A-6863E2A5800B}" type="slidenum">
              <a:rPr lang="zh-CN" altLang="en-US" smtClean="0"/>
              <a:t>‹#›</a:t>
            </a:fld>
            <a:endParaRPr lang="zh-CN" altLang="en-US"/>
          </a:p>
        </p:txBody>
      </p:sp>
      <p:pic>
        <p:nvPicPr>
          <p:cNvPr id="12" name="图片 11"/>
          <p:cNvPicPr>
            <a:picLocks noChangeAspect="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10247359" y="6371999"/>
            <a:ext cx="1622722" cy="43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7" r:id="rId7"/>
    <p:sldLayoutId id="2147483667" r:id="rId8"/>
  </p:sldLayoutIdLst>
  <p:txStyles>
    <p:titleStyle>
      <a:lvl1pPr algn="l" defTabSz="1219200" rtl="0" eaLnBrk="1" latinLnBrk="0" hangingPunct="1">
        <a:lnSpc>
          <a:spcPct val="100000"/>
        </a:lnSpc>
        <a:spcBef>
          <a:spcPct val="0"/>
        </a:spcBef>
        <a:buNone/>
        <a:defRPr sz="3200" b="1" kern="1200">
          <a:solidFill>
            <a:schemeClr val="tx1"/>
          </a:solidFill>
          <a:latin typeface="微软雅黑" panose="020B0503020204020204" pitchFamily="34" charset="-122"/>
          <a:ea typeface="微软雅黑" panose="020B0503020204020204" pitchFamily="34" charset="-122"/>
          <a:cs typeface="+mj-cs"/>
        </a:defRPr>
      </a:lvl1pPr>
    </p:titleStyle>
    <p:bodyStyle>
      <a:lvl1pPr marL="0" indent="0" algn="just" defTabSz="1219200" rtl="0" eaLnBrk="1" latinLnBrk="0" hangingPunct="1">
        <a:lnSpc>
          <a:spcPct val="120000"/>
        </a:lnSpc>
        <a:spcBef>
          <a:spcPts val="0"/>
        </a:spcBef>
        <a:spcAft>
          <a:spcPts val="635"/>
        </a:spcAft>
        <a:buSzPct val="80000"/>
        <a:buFontTx/>
        <a:buNone/>
        <a:defRPr sz="2400" b="1" kern="1200">
          <a:solidFill>
            <a:schemeClr val="tx2"/>
          </a:solidFill>
          <a:latin typeface="微软雅黑" panose="020B0503020204020204" pitchFamily="34" charset="-122"/>
          <a:ea typeface="微软雅黑" panose="020B0503020204020204" pitchFamily="34" charset="-122"/>
          <a:cs typeface="+mn-cs"/>
        </a:defRPr>
      </a:lvl1pPr>
      <a:lvl2pPr marL="609600" indent="0" algn="just" defTabSz="1219200" rtl="0" eaLnBrk="1" latinLnBrk="0" hangingPunct="1">
        <a:lnSpc>
          <a:spcPct val="120000"/>
        </a:lnSpc>
        <a:spcBef>
          <a:spcPts val="0"/>
        </a:spcBef>
        <a:spcAft>
          <a:spcPts val="635"/>
        </a:spcAft>
        <a:buSzPct val="70000"/>
        <a:buFontTx/>
        <a:buNone/>
        <a:defRPr sz="2000" b="1" kern="1200">
          <a:solidFill>
            <a:schemeClr val="tx2"/>
          </a:solidFill>
          <a:latin typeface="微软雅黑" panose="020B0503020204020204" pitchFamily="34" charset="-122"/>
          <a:ea typeface="微软雅黑" panose="020B0503020204020204" pitchFamily="34" charset="-122"/>
          <a:cs typeface="+mn-cs"/>
        </a:defRPr>
      </a:lvl2pPr>
      <a:lvl3pPr marL="1219200" indent="0" algn="just" defTabSz="1219200" rtl="0" eaLnBrk="1" latinLnBrk="0" hangingPunct="1">
        <a:lnSpc>
          <a:spcPct val="120000"/>
        </a:lnSpc>
        <a:spcBef>
          <a:spcPts val="0"/>
        </a:spcBef>
        <a:spcAft>
          <a:spcPts val="635"/>
        </a:spcAft>
        <a:buSzPct val="60000"/>
        <a:buFontTx/>
        <a:buNone/>
        <a:defRPr sz="1800" b="1" kern="1200">
          <a:solidFill>
            <a:schemeClr val="tx2"/>
          </a:solidFill>
          <a:latin typeface="微软雅黑" panose="020B0503020204020204" pitchFamily="34" charset="-122"/>
          <a:ea typeface="微软雅黑" panose="020B0503020204020204" pitchFamily="34" charset="-122"/>
          <a:cs typeface="+mn-cs"/>
        </a:defRPr>
      </a:lvl3pPr>
      <a:lvl4pPr marL="2133600" indent="-304800" algn="l" defTabSz="1219200" rtl="0" eaLnBrk="1" latinLnBrk="0" hangingPunct="1">
        <a:lnSpc>
          <a:spcPct val="90000"/>
        </a:lnSpc>
        <a:spcBef>
          <a:spcPts val="665"/>
        </a:spcBef>
        <a:buFont typeface="Arial" panose="020B0604020202020204" pitchFamily="34" charset="0"/>
        <a:buChar char="•"/>
        <a:defRPr sz="2400" kern="1200">
          <a:solidFill>
            <a:schemeClr val="bg2"/>
          </a:solidFill>
          <a:latin typeface="+mn-lt"/>
          <a:ea typeface="+mn-ea"/>
          <a:cs typeface="+mn-cs"/>
        </a:defRPr>
      </a:lvl4pPr>
      <a:lvl5pPr marL="2743200" indent="-304800" algn="l" defTabSz="1219200" rtl="0" eaLnBrk="1" latinLnBrk="0" hangingPunct="1">
        <a:lnSpc>
          <a:spcPct val="90000"/>
        </a:lnSpc>
        <a:spcBef>
          <a:spcPts val="665"/>
        </a:spcBef>
        <a:buFont typeface="Arial" panose="020B0604020202020204" pitchFamily="34" charset="0"/>
        <a:buChar char="•"/>
        <a:defRPr sz="2400" kern="1200">
          <a:solidFill>
            <a:schemeClr val="bg2"/>
          </a:solidFill>
          <a:latin typeface="+mn-lt"/>
          <a:ea typeface="+mn-ea"/>
          <a:cs typeface="+mn-cs"/>
        </a:defRPr>
      </a:lvl5pPr>
      <a:lvl6pPr marL="33528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6pPr>
      <a:lvl7pPr marL="39624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7pPr>
      <a:lvl8pPr marL="45720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8pPr>
      <a:lvl9pPr marL="51816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9pPr>
    </p:bodyStyle>
    <p:otherStyle>
      <a:defPPr>
        <a:defRPr lang="zh-CN"/>
      </a:defPPr>
      <a:lvl1pPr marL="0" algn="l" defTabSz="1219200" rtl="0" eaLnBrk="1" latinLnBrk="0" hangingPunct="1">
        <a:defRPr sz="2400" kern="1200">
          <a:solidFill>
            <a:schemeClr val="tx1"/>
          </a:solidFill>
          <a:latin typeface="+mn-lt"/>
          <a:ea typeface="+mn-ea"/>
          <a:cs typeface="+mn-cs"/>
        </a:defRPr>
      </a:lvl1pPr>
      <a:lvl2pPr marL="609600" algn="l" defTabSz="1219200" rtl="0" eaLnBrk="1" latinLnBrk="0" hangingPunct="1">
        <a:defRPr sz="2400" kern="1200">
          <a:solidFill>
            <a:schemeClr val="tx1"/>
          </a:solidFill>
          <a:latin typeface="+mn-lt"/>
          <a:ea typeface="+mn-ea"/>
          <a:cs typeface="+mn-cs"/>
        </a:defRPr>
      </a:lvl2pPr>
      <a:lvl3pPr marL="1219200" algn="l" defTabSz="1219200" rtl="0" eaLnBrk="1" latinLnBrk="0" hangingPunct="1">
        <a:defRPr sz="2400" kern="1200">
          <a:solidFill>
            <a:schemeClr val="tx1"/>
          </a:solidFill>
          <a:latin typeface="+mn-lt"/>
          <a:ea typeface="+mn-ea"/>
          <a:cs typeface="+mn-cs"/>
        </a:defRPr>
      </a:lvl3pPr>
      <a:lvl4pPr marL="1828800" algn="l" defTabSz="1219200" rtl="0" eaLnBrk="1" latinLnBrk="0" hangingPunct="1">
        <a:defRPr sz="2400" kern="1200">
          <a:solidFill>
            <a:schemeClr val="tx1"/>
          </a:solidFill>
          <a:latin typeface="+mn-lt"/>
          <a:ea typeface="+mn-ea"/>
          <a:cs typeface="+mn-cs"/>
        </a:defRPr>
      </a:lvl4pPr>
      <a:lvl5pPr marL="2438400" algn="l" defTabSz="1219200" rtl="0" eaLnBrk="1" latinLnBrk="0" hangingPunct="1">
        <a:defRPr sz="2400" kern="1200">
          <a:solidFill>
            <a:schemeClr val="tx1"/>
          </a:solidFill>
          <a:latin typeface="+mn-lt"/>
          <a:ea typeface="+mn-ea"/>
          <a:cs typeface="+mn-cs"/>
        </a:defRPr>
      </a:lvl5pPr>
      <a:lvl6pPr marL="3048000" algn="l" defTabSz="1219200" rtl="0" eaLnBrk="1" latinLnBrk="0" hangingPunct="1">
        <a:defRPr sz="2400" kern="1200">
          <a:solidFill>
            <a:schemeClr val="tx1"/>
          </a:solidFill>
          <a:latin typeface="+mn-lt"/>
          <a:ea typeface="+mn-ea"/>
          <a:cs typeface="+mn-cs"/>
        </a:defRPr>
      </a:lvl6pPr>
      <a:lvl7pPr marL="3657600" algn="l" defTabSz="1219200" rtl="0" eaLnBrk="1" latinLnBrk="0" hangingPunct="1">
        <a:defRPr sz="2400" kern="1200">
          <a:solidFill>
            <a:schemeClr val="tx1"/>
          </a:solidFill>
          <a:latin typeface="+mn-lt"/>
          <a:ea typeface="+mn-ea"/>
          <a:cs typeface="+mn-cs"/>
        </a:defRPr>
      </a:lvl7pPr>
      <a:lvl8pPr marL="4267200" algn="l" defTabSz="1219200" rtl="0" eaLnBrk="1" latinLnBrk="0" hangingPunct="1">
        <a:defRPr sz="2400" kern="1200">
          <a:solidFill>
            <a:schemeClr val="tx1"/>
          </a:solidFill>
          <a:latin typeface="+mn-lt"/>
          <a:ea typeface="+mn-ea"/>
          <a:cs typeface="+mn-cs"/>
        </a:defRPr>
      </a:lvl8pPr>
      <a:lvl9pPr marL="4876800" algn="l" defTabSz="1219200" rtl="0" eaLnBrk="1" latinLnBrk="0" hangingPunct="1">
        <a:defRPr sz="24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3" name="图片 12"/>
          <p:cNvPicPr>
            <a:picLocks noChangeAspect="1"/>
          </p:cNvPicPr>
          <p:nvPr/>
        </p:nvPicPr>
        <p:blipFill rotWithShape="1">
          <a:blip r:embed="rId10" cstate="print"/>
          <a:srcRect r="1346"/>
          <a:stretch>
            <a:fillRect/>
          </a:stretch>
        </p:blipFill>
        <p:spPr>
          <a:xfrm>
            <a:off x="516" y="341947"/>
            <a:ext cx="12191484" cy="411617"/>
          </a:xfrm>
          <a:prstGeom prst="rect">
            <a:avLst/>
          </a:prstGeom>
        </p:spPr>
      </p:pic>
      <p:sp>
        <p:nvSpPr>
          <p:cNvPr id="9" name="矩形 6"/>
          <p:cNvSpPr/>
          <p:nvPr/>
        </p:nvSpPr>
        <p:spPr>
          <a:xfrm>
            <a:off x="0" y="6318000"/>
            <a:ext cx="12192000" cy="54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zh-CN" altLang="en-US" sz="1905"/>
          </a:p>
        </p:txBody>
      </p:sp>
      <p:sp>
        <p:nvSpPr>
          <p:cNvPr id="2" name="标题占位符 1"/>
          <p:cNvSpPr>
            <a:spLocks noGrp="1"/>
          </p:cNvSpPr>
          <p:nvPr>
            <p:ph type="title"/>
          </p:nvPr>
        </p:nvSpPr>
        <p:spPr>
          <a:xfrm>
            <a:off x="381242" y="0"/>
            <a:ext cx="11429516" cy="761979"/>
          </a:xfrm>
          <a:prstGeom prst="rect">
            <a:avLst/>
          </a:prstGeom>
          <a:ln>
            <a:noFill/>
          </a:ln>
        </p:spPr>
        <p:txBody>
          <a:bodyPr vert="horz" lIns="0" tIns="0" rIns="0" bIns="0" rtlCol="0" anchor="b" anchorCtr="0">
            <a:noAutofit/>
          </a:bodyPr>
          <a:lstStyle/>
          <a:p>
            <a:r>
              <a:rPr lang="zh-CN" altLang="en-US" dirty="0"/>
              <a:t>页面标题</a:t>
            </a:r>
          </a:p>
        </p:txBody>
      </p:sp>
      <p:sp>
        <p:nvSpPr>
          <p:cNvPr id="3" name="文本占位符 2"/>
          <p:cNvSpPr>
            <a:spLocks noGrp="1"/>
          </p:cNvSpPr>
          <p:nvPr>
            <p:ph type="body" idx="1"/>
          </p:nvPr>
        </p:nvSpPr>
        <p:spPr>
          <a:xfrm>
            <a:off x="381242" y="981154"/>
            <a:ext cx="11429516" cy="5333856"/>
          </a:xfrm>
          <a:prstGeom prst="rect">
            <a:avLst/>
          </a:prstGeom>
        </p:spPr>
        <p:txBody>
          <a:bodyPr vert="horz" lIns="90000" tIns="0" rIns="91440" bIns="0" rtlCol="0">
            <a:normAutofit/>
          </a:bodyPr>
          <a:lstStyle/>
          <a:p>
            <a:pPr lvl="0"/>
            <a:r>
              <a:rPr lang="zh-CN" altLang="en-US" dirty="0"/>
              <a:t>第一级文本内容</a:t>
            </a:r>
          </a:p>
          <a:p>
            <a:pPr lvl="1"/>
            <a:r>
              <a:rPr lang="zh-CN" altLang="en-US" dirty="0"/>
              <a:t>第二级文本内容</a:t>
            </a:r>
          </a:p>
          <a:p>
            <a:pPr lvl="2"/>
            <a:r>
              <a:rPr lang="zh-CN" altLang="en-US" dirty="0"/>
              <a:t>第三级文本内容</a:t>
            </a:r>
          </a:p>
        </p:txBody>
      </p:sp>
      <p:sp>
        <p:nvSpPr>
          <p:cNvPr id="5" name="页脚占位符 4"/>
          <p:cNvSpPr>
            <a:spLocks noGrp="1"/>
          </p:cNvSpPr>
          <p:nvPr>
            <p:ph type="ftr" sz="quarter" idx="3"/>
          </p:nvPr>
        </p:nvSpPr>
        <p:spPr>
          <a:xfrm>
            <a:off x="2667146" y="6318000"/>
            <a:ext cx="6857709" cy="540000"/>
          </a:xfrm>
          <a:prstGeom prst="rect">
            <a:avLst/>
          </a:prstGeom>
        </p:spPr>
        <p:txBody>
          <a:bodyPr vert="horz" lIns="91440" tIns="45720" rIns="91440" bIns="45720" rtlCol="0" anchor="ctr"/>
          <a:lstStyle>
            <a:lvl1pPr algn="ctr">
              <a:defRPr sz="1905">
                <a:solidFill>
                  <a:schemeClr val="bg1"/>
                </a:solidFill>
              </a:defRPr>
            </a:lvl1pPr>
          </a:lstStyle>
          <a:p>
            <a:endParaRPr lang="zh-CN" altLang="en-US"/>
          </a:p>
        </p:txBody>
      </p:sp>
      <p:sp>
        <p:nvSpPr>
          <p:cNvPr id="6" name="灯片编号占位符 5"/>
          <p:cNvSpPr>
            <a:spLocks noGrp="1"/>
          </p:cNvSpPr>
          <p:nvPr>
            <p:ph type="sldNum" sz="quarter" idx="4"/>
          </p:nvPr>
        </p:nvSpPr>
        <p:spPr>
          <a:xfrm>
            <a:off x="381242" y="6318000"/>
            <a:ext cx="952460" cy="540000"/>
          </a:xfrm>
          <a:prstGeom prst="rect">
            <a:avLst/>
          </a:prstGeom>
        </p:spPr>
        <p:txBody>
          <a:bodyPr vert="horz" lIns="91440" tIns="45720" rIns="91440" bIns="45720" rtlCol="0" anchor="ctr"/>
          <a:lstStyle>
            <a:lvl1pPr algn="l">
              <a:defRPr sz="1695">
                <a:solidFill>
                  <a:schemeClr val="bg1"/>
                </a:solidFill>
              </a:defRPr>
            </a:lvl1pPr>
          </a:lstStyle>
          <a:p>
            <a:fld id="{66E0AC87-F9B6-4F7A-AB3A-6863E2A5800B}" type="slidenum">
              <a:rPr lang="zh-CN" altLang="en-US" smtClean="0"/>
              <a:t>‹#›</a:t>
            </a:fld>
            <a:endParaRPr lang="zh-CN" altLang="en-US"/>
          </a:p>
        </p:txBody>
      </p:sp>
      <p:pic>
        <p:nvPicPr>
          <p:cNvPr id="12" name="图片 11"/>
          <p:cNvPicPr>
            <a:picLocks noChangeAspect="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10247359" y="6371999"/>
            <a:ext cx="1622722" cy="43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081444489"/>
      </p:ext>
    </p:extLst>
  </p:cSld>
  <p:clrMap bg1="lt1" tx1="dk1" bg2="lt2" tx2="dk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Lst>
  <p:txStyles>
    <p:titleStyle>
      <a:lvl1pPr algn="l" defTabSz="1219200" rtl="0" eaLnBrk="1" latinLnBrk="0" hangingPunct="1">
        <a:lnSpc>
          <a:spcPct val="100000"/>
        </a:lnSpc>
        <a:spcBef>
          <a:spcPct val="0"/>
        </a:spcBef>
        <a:buNone/>
        <a:defRPr sz="3200" b="1" kern="1200">
          <a:solidFill>
            <a:schemeClr val="tx1"/>
          </a:solidFill>
          <a:latin typeface="微软雅黑" panose="020B0503020204020204" pitchFamily="34" charset="-122"/>
          <a:ea typeface="微软雅黑" panose="020B0503020204020204" pitchFamily="34" charset="-122"/>
          <a:cs typeface="+mj-cs"/>
        </a:defRPr>
      </a:lvl1pPr>
    </p:titleStyle>
    <p:bodyStyle>
      <a:lvl1pPr marL="0" indent="0" algn="just" defTabSz="1219200" rtl="0" eaLnBrk="1" latinLnBrk="0" hangingPunct="1">
        <a:lnSpc>
          <a:spcPct val="120000"/>
        </a:lnSpc>
        <a:spcBef>
          <a:spcPts val="0"/>
        </a:spcBef>
        <a:spcAft>
          <a:spcPts val="635"/>
        </a:spcAft>
        <a:buSzPct val="80000"/>
        <a:buFontTx/>
        <a:buNone/>
        <a:defRPr sz="2400" b="1" kern="1200">
          <a:solidFill>
            <a:schemeClr val="tx2"/>
          </a:solidFill>
          <a:latin typeface="微软雅黑" panose="020B0503020204020204" pitchFamily="34" charset="-122"/>
          <a:ea typeface="微软雅黑" panose="020B0503020204020204" pitchFamily="34" charset="-122"/>
          <a:cs typeface="+mn-cs"/>
        </a:defRPr>
      </a:lvl1pPr>
      <a:lvl2pPr marL="609600" indent="0" algn="just" defTabSz="1219200" rtl="0" eaLnBrk="1" latinLnBrk="0" hangingPunct="1">
        <a:lnSpc>
          <a:spcPct val="120000"/>
        </a:lnSpc>
        <a:spcBef>
          <a:spcPts val="0"/>
        </a:spcBef>
        <a:spcAft>
          <a:spcPts val="635"/>
        </a:spcAft>
        <a:buSzPct val="70000"/>
        <a:buFontTx/>
        <a:buNone/>
        <a:defRPr sz="2000" b="1" kern="1200">
          <a:solidFill>
            <a:schemeClr val="tx2"/>
          </a:solidFill>
          <a:latin typeface="微软雅黑" panose="020B0503020204020204" pitchFamily="34" charset="-122"/>
          <a:ea typeface="微软雅黑" panose="020B0503020204020204" pitchFamily="34" charset="-122"/>
          <a:cs typeface="+mn-cs"/>
        </a:defRPr>
      </a:lvl2pPr>
      <a:lvl3pPr marL="1219200" indent="0" algn="just" defTabSz="1219200" rtl="0" eaLnBrk="1" latinLnBrk="0" hangingPunct="1">
        <a:lnSpc>
          <a:spcPct val="120000"/>
        </a:lnSpc>
        <a:spcBef>
          <a:spcPts val="0"/>
        </a:spcBef>
        <a:spcAft>
          <a:spcPts val="635"/>
        </a:spcAft>
        <a:buSzPct val="60000"/>
        <a:buFontTx/>
        <a:buNone/>
        <a:defRPr sz="1800" b="1" kern="1200">
          <a:solidFill>
            <a:schemeClr val="tx2"/>
          </a:solidFill>
          <a:latin typeface="微软雅黑" panose="020B0503020204020204" pitchFamily="34" charset="-122"/>
          <a:ea typeface="微软雅黑" panose="020B0503020204020204" pitchFamily="34" charset="-122"/>
          <a:cs typeface="+mn-cs"/>
        </a:defRPr>
      </a:lvl3pPr>
      <a:lvl4pPr marL="2133600" indent="-304800" algn="l" defTabSz="1219200" rtl="0" eaLnBrk="1" latinLnBrk="0" hangingPunct="1">
        <a:lnSpc>
          <a:spcPct val="90000"/>
        </a:lnSpc>
        <a:spcBef>
          <a:spcPts val="665"/>
        </a:spcBef>
        <a:buFont typeface="Arial" panose="020B0604020202020204" pitchFamily="34" charset="0"/>
        <a:buChar char="•"/>
        <a:defRPr sz="2400" kern="1200">
          <a:solidFill>
            <a:schemeClr val="bg2"/>
          </a:solidFill>
          <a:latin typeface="+mn-lt"/>
          <a:ea typeface="+mn-ea"/>
          <a:cs typeface="+mn-cs"/>
        </a:defRPr>
      </a:lvl4pPr>
      <a:lvl5pPr marL="2743200" indent="-304800" algn="l" defTabSz="1219200" rtl="0" eaLnBrk="1" latinLnBrk="0" hangingPunct="1">
        <a:lnSpc>
          <a:spcPct val="90000"/>
        </a:lnSpc>
        <a:spcBef>
          <a:spcPts val="665"/>
        </a:spcBef>
        <a:buFont typeface="Arial" panose="020B0604020202020204" pitchFamily="34" charset="0"/>
        <a:buChar char="•"/>
        <a:defRPr sz="2400" kern="1200">
          <a:solidFill>
            <a:schemeClr val="bg2"/>
          </a:solidFill>
          <a:latin typeface="+mn-lt"/>
          <a:ea typeface="+mn-ea"/>
          <a:cs typeface="+mn-cs"/>
        </a:defRPr>
      </a:lvl5pPr>
      <a:lvl6pPr marL="33528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6pPr>
      <a:lvl7pPr marL="39624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7pPr>
      <a:lvl8pPr marL="45720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8pPr>
      <a:lvl9pPr marL="51816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9pPr>
    </p:bodyStyle>
    <p:otherStyle>
      <a:defPPr>
        <a:defRPr lang="zh-CN"/>
      </a:defPPr>
      <a:lvl1pPr marL="0" algn="l" defTabSz="1219200" rtl="0" eaLnBrk="1" latinLnBrk="0" hangingPunct="1">
        <a:defRPr sz="2400" kern="1200">
          <a:solidFill>
            <a:schemeClr val="tx1"/>
          </a:solidFill>
          <a:latin typeface="+mn-lt"/>
          <a:ea typeface="+mn-ea"/>
          <a:cs typeface="+mn-cs"/>
        </a:defRPr>
      </a:lvl1pPr>
      <a:lvl2pPr marL="609600" algn="l" defTabSz="1219200" rtl="0" eaLnBrk="1" latinLnBrk="0" hangingPunct="1">
        <a:defRPr sz="2400" kern="1200">
          <a:solidFill>
            <a:schemeClr val="tx1"/>
          </a:solidFill>
          <a:latin typeface="+mn-lt"/>
          <a:ea typeface="+mn-ea"/>
          <a:cs typeface="+mn-cs"/>
        </a:defRPr>
      </a:lvl2pPr>
      <a:lvl3pPr marL="1219200" algn="l" defTabSz="1219200" rtl="0" eaLnBrk="1" latinLnBrk="0" hangingPunct="1">
        <a:defRPr sz="2400" kern="1200">
          <a:solidFill>
            <a:schemeClr val="tx1"/>
          </a:solidFill>
          <a:latin typeface="+mn-lt"/>
          <a:ea typeface="+mn-ea"/>
          <a:cs typeface="+mn-cs"/>
        </a:defRPr>
      </a:lvl3pPr>
      <a:lvl4pPr marL="1828800" algn="l" defTabSz="1219200" rtl="0" eaLnBrk="1" latinLnBrk="0" hangingPunct="1">
        <a:defRPr sz="2400" kern="1200">
          <a:solidFill>
            <a:schemeClr val="tx1"/>
          </a:solidFill>
          <a:latin typeface="+mn-lt"/>
          <a:ea typeface="+mn-ea"/>
          <a:cs typeface="+mn-cs"/>
        </a:defRPr>
      </a:lvl4pPr>
      <a:lvl5pPr marL="2438400" algn="l" defTabSz="1219200" rtl="0" eaLnBrk="1" latinLnBrk="0" hangingPunct="1">
        <a:defRPr sz="2400" kern="1200">
          <a:solidFill>
            <a:schemeClr val="tx1"/>
          </a:solidFill>
          <a:latin typeface="+mn-lt"/>
          <a:ea typeface="+mn-ea"/>
          <a:cs typeface="+mn-cs"/>
        </a:defRPr>
      </a:lvl5pPr>
      <a:lvl6pPr marL="3048000" algn="l" defTabSz="1219200" rtl="0" eaLnBrk="1" latinLnBrk="0" hangingPunct="1">
        <a:defRPr sz="2400" kern="1200">
          <a:solidFill>
            <a:schemeClr val="tx1"/>
          </a:solidFill>
          <a:latin typeface="+mn-lt"/>
          <a:ea typeface="+mn-ea"/>
          <a:cs typeface="+mn-cs"/>
        </a:defRPr>
      </a:lvl6pPr>
      <a:lvl7pPr marL="3657600" algn="l" defTabSz="1219200" rtl="0" eaLnBrk="1" latinLnBrk="0" hangingPunct="1">
        <a:defRPr sz="2400" kern="1200">
          <a:solidFill>
            <a:schemeClr val="tx1"/>
          </a:solidFill>
          <a:latin typeface="+mn-lt"/>
          <a:ea typeface="+mn-ea"/>
          <a:cs typeface="+mn-cs"/>
        </a:defRPr>
      </a:lvl7pPr>
      <a:lvl8pPr marL="4267200" algn="l" defTabSz="1219200" rtl="0" eaLnBrk="1" latinLnBrk="0" hangingPunct="1">
        <a:defRPr sz="2400" kern="1200">
          <a:solidFill>
            <a:schemeClr val="tx1"/>
          </a:solidFill>
          <a:latin typeface="+mn-lt"/>
          <a:ea typeface="+mn-ea"/>
          <a:cs typeface="+mn-cs"/>
        </a:defRPr>
      </a:lvl8pPr>
      <a:lvl9pPr marL="4876800" algn="l" defTabSz="1219200"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slideLayout" Target="../slideLayouts/slideLayout6.xml"/><Relationship Id="rId1" Type="http://schemas.openxmlformats.org/officeDocument/2006/relationships/tags" Target="../tags/tag1.xml"/><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tags" Target="../tags/tag4.xml"/><Relationship Id="rId7" Type="http://schemas.openxmlformats.org/officeDocument/2006/relationships/image" Target="../media/image36.png"/><Relationship Id="rId2" Type="http://schemas.openxmlformats.org/officeDocument/2006/relationships/tags" Target="../tags/tag3.xml"/><Relationship Id="rId1" Type="http://schemas.openxmlformats.org/officeDocument/2006/relationships/tags" Target="../tags/tag2.xml"/><Relationship Id="rId6" Type="http://schemas.openxmlformats.org/officeDocument/2006/relationships/tags" Target="../tags/tag6.xml"/><Relationship Id="rId5" Type="http://schemas.openxmlformats.org/officeDocument/2006/relationships/slideLayout" Target="../slideLayouts/slideLayout5.xml"/><Relationship Id="rId10" Type="http://schemas.openxmlformats.org/officeDocument/2006/relationships/image" Target="../media/image12.png"/><Relationship Id="rId4" Type="http://schemas.openxmlformats.org/officeDocument/2006/relationships/tags" Target="../tags/tag5.xml"/><Relationship Id="rId9" Type="http://schemas.openxmlformats.org/officeDocument/2006/relationships/image" Target="../media/image38.png"/></Relationships>
</file>

<file path=ppt/slides/_rels/slide6.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tags" Target="../tags/tag9.xml"/><Relationship Id="rId7" Type="http://schemas.openxmlformats.org/officeDocument/2006/relationships/image" Target="../media/image15.png"/><Relationship Id="rId2" Type="http://schemas.openxmlformats.org/officeDocument/2006/relationships/tags" Target="../tags/tag8.xml"/><Relationship Id="rId1" Type="http://schemas.openxmlformats.org/officeDocument/2006/relationships/tags" Target="../tags/tag7.xml"/><Relationship Id="rId6" Type="http://schemas.openxmlformats.org/officeDocument/2006/relationships/image" Target="../media/image14.png"/><Relationship Id="rId5" Type="http://schemas.openxmlformats.org/officeDocument/2006/relationships/slideLayout" Target="../slideLayouts/slideLayout8.xml"/><Relationship Id="rId4" Type="http://schemas.openxmlformats.org/officeDocument/2006/relationships/tags" Target="../tags/tag10.xml"/><Relationship Id="rId9"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tags" Target="../tags/tag12.xml"/><Relationship Id="rId1" Type="http://schemas.openxmlformats.org/officeDocument/2006/relationships/tags" Target="../tags/tag11.xml"/><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ags" Target="../tags/tag181.xml"/><Relationship Id="rId3" Type="http://schemas.openxmlformats.org/officeDocument/2006/relationships/tags" Target="../tags/tag15.xml"/><Relationship Id="rId7" Type="http://schemas.openxmlformats.org/officeDocument/2006/relationships/tags" Target="../tags/tag19.xml"/><Relationship Id="rId12" Type="http://schemas.openxmlformats.org/officeDocument/2006/relationships/image" Target="../media/image20.png"/><Relationship Id="rId2" Type="http://schemas.openxmlformats.org/officeDocument/2006/relationships/tags" Target="../tags/tag14.xml"/><Relationship Id="rId1" Type="http://schemas.openxmlformats.org/officeDocument/2006/relationships/tags" Target="../tags/tag13.xml"/><Relationship Id="rId6" Type="http://schemas.openxmlformats.org/officeDocument/2006/relationships/tags" Target="../tags/tag18.xml"/><Relationship Id="rId11" Type="http://schemas.openxmlformats.org/officeDocument/2006/relationships/image" Target="../media/image19.png"/><Relationship Id="rId5" Type="http://schemas.openxmlformats.org/officeDocument/2006/relationships/tags" Target="../tags/tag17.xml"/><Relationship Id="rId10" Type="http://schemas.openxmlformats.org/officeDocument/2006/relationships/image" Target="../media/image18.png"/><Relationship Id="rId4" Type="http://schemas.openxmlformats.org/officeDocument/2006/relationships/tags" Target="../tags/tag16.xml"/><Relationship Id="rId9" Type="http://schemas.openxmlformats.org/officeDocument/2006/relationships/image" Target="../media/image17.png"/><Relationship Id="rId14" Type="http://schemas.openxmlformats.org/officeDocument/2006/relationships/image" Target="../media/image320.png"/></Relationships>
</file>

<file path=ppt/slides/_rels/slide9.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ags" Target="../tags/tag189.xml"/><Relationship Id="rId18" Type="http://schemas.openxmlformats.org/officeDocument/2006/relationships/image" Target="../media/image380.png"/><Relationship Id="rId3" Type="http://schemas.openxmlformats.org/officeDocument/2006/relationships/tags" Target="../tags/tag22.xml"/><Relationship Id="rId7" Type="http://schemas.openxmlformats.org/officeDocument/2006/relationships/tags" Target="../tags/tag26.xml"/><Relationship Id="rId12" Type="http://schemas.openxmlformats.org/officeDocument/2006/relationships/image" Target="../media/image340.png"/><Relationship Id="rId17" Type="http://schemas.openxmlformats.org/officeDocument/2006/relationships/image" Target="../media/image370.png"/><Relationship Id="rId2" Type="http://schemas.openxmlformats.org/officeDocument/2006/relationships/tags" Target="../tags/tag21.xml"/><Relationship Id="rId16" Type="http://schemas.openxmlformats.org/officeDocument/2006/relationships/tags" Target="../tags/tag192.xml"/><Relationship Id="rId1" Type="http://schemas.openxmlformats.org/officeDocument/2006/relationships/tags" Target="../tags/tag20.xml"/><Relationship Id="rId6" Type="http://schemas.openxmlformats.org/officeDocument/2006/relationships/tags" Target="../tags/tag25.xml"/><Relationship Id="rId11" Type="http://schemas.openxmlformats.org/officeDocument/2006/relationships/tags" Target="../tags/tag1860.xml"/><Relationship Id="rId5" Type="http://schemas.openxmlformats.org/officeDocument/2006/relationships/tags" Target="../tags/tag24.xml"/><Relationship Id="rId15" Type="http://schemas.openxmlformats.org/officeDocument/2006/relationships/image" Target="../media/image22.png"/><Relationship Id="rId10" Type="http://schemas.openxmlformats.org/officeDocument/2006/relationships/image" Target="../media/image21.png"/><Relationship Id="rId4" Type="http://schemas.openxmlformats.org/officeDocument/2006/relationships/tags" Target="../tags/tag23.xml"/><Relationship Id="rId9" Type="http://schemas.openxmlformats.org/officeDocument/2006/relationships/tags" Target="../tags/tag21.xml"/><Relationship Id="rId14" Type="http://schemas.openxmlformats.org/officeDocument/2006/relationships/image" Target="../media/image350.png"/></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tags" Target="../tags/tag28.xml"/><Relationship Id="rId1" Type="http://schemas.openxmlformats.org/officeDocument/2006/relationships/tags" Target="../tags/tag27.xml"/><Relationship Id="rId4" Type="http://schemas.openxmlformats.org/officeDocument/2006/relationships/image" Target="../media/image23.png"/></Relationships>
</file>

<file path=ppt/slides/_rels/slide11.xml.rels><?xml version="1.0" encoding="UTF-8" standalone="yes"?>
<Relationships xmlns="http://schemas.openxmlformats.org/package/2006/relationships"><Relationship Id="rId3" Type="http://schemas.openxmlformats.org/officeDocument/2006/relationships/tags" Target="../tags/tag31.xml"/><Relationship Id="rId2" Type="http://schemas.openxmlformats.org/officeDocument/2006/relationships/tags" Target="../tags/tag30.xml"/><Relationship Id="rId1" Type="http://schemas.openxmlformats.org/officeDocument/2006/relationships/tags" Target="../tags/tag29.xml"/><Relationship Id="rId5" Type="http://schemas.openxmlformats.org/officeDocument/2006/relationships/image" Target="../media/image24.png"/><Relationship Id="rId4"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6.xml"/><Relationship Id="rId7" Type="http://schemas.openxmlformats.org/officeDocument/2006/relationships/image" Target="../media/image28.png"/><Relationship Id="rId2" Type="http://schemas.openxmlformats.org/officeDocument/2006/relationships/tags" Target="../tags/tag33.xml"/><Relationship Id="rId1" Type="http://schemas.openxmlformats.org/officeDocument/2006/relationships/tags" Target="../tags/tag32.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13.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tags" Target="../tags/tag36.xml"/><Relationship Id="rId7" Type="http://schemas.openxmlformats.org/officeDocument/2006/relationships/image" Target="../media/image54.png"/><Relationship Id="rId2" Type="http://schemas.openxmlformats.org/officeDocument/2006/relationships/tags" Target="../tags/tag35.xml"/><Relationship Id="rId1" Type="http://schemas.openxmlformats.org/officeDocument/2006/relationships/tags" Target="../tags/tag34.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slideLayout" Target="../slideLayouts/slideLayout6.xml"/><Relationship Id="rId9" Type="http://schemas.openxmlformats.org/officeDocument/2006/relationships/image" Target="../media/image30.png"/></Relationships>
</file>

<file path=ppt/slides/_rels/slide14.xml.rels><?xml version="1.0" encoding="UTF-8" standalone="yes"?>
<Relationships xmlns="http://schemas.openxmlformats.org/package/2006/relationships"><Relationship Id="rId8" Type="http://schemas.openxmlformats.org/officeDocument/2006/relationships/tags" Target="../tags/tag40.xml"/><Relationship Id="rId3" Type="http://schemas.openxmlformats.org/officeDocument/2006/relationships/tags" Target="../tags/tag39.xml"/><Relationship Id="rId7" Type="http://schemas.openxmlformats.org/officeDocument/2006/relationships/image" Target="../media/image32.png"/><Relationship Id="rId2" Type="http://schemas.openxmlformats.org/officeDocument/2006/relationships/tags" Target="../tags/tag38.xml"/><Relationship Id="rId1" Type="http://schemas.openxmlformats.org/officeDocument/2006/relationships/tags" Target="../tags/tag37.xml"/><Relationship Id="rId6" Type="http://schemas.openxmlformats.org/officeDocument/2006/relationships/image" Target="../media/image31.png"/><Relationship Id="rId5" Type="http://schemas.openxmlformats.org/officeDocument/2006/relationships/slideLayout" Target="../slideLayouts/slideLayout8.xml"/><Relationship Id="rId10" Type="http://schemas.openxmlformats.org/officeDocument/2006/relationships/image" Target="../media/image321.png"/><Relationship Id="rId4" Type="http://schemas.openxmlformats.org/officeDocument/2006/relationships/tags" Target="../tags/tag40.xml"/><Relationship Id="rId9" Type="http://schemas.openxmlformats.org/officeDocument/2006/relationships/image" Target="../media/image310.png"/></Relationships>
</file>

<file path=ppt/slides/_rels/slide1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tags" Target="../tags/tag42.xml"/><Relationship Id="rId1" Type="http://schemas.openxmlformats.org/officeDocument/2006/relationships/tags" Target="../tags/tag41.xml"/><Relationship Id="rId5" Type="http://schemas.openxmlformats.org/officeDocument/2006/relationships/image" Target="../media/image341.png"/><Relationship Id="rId4" Type="http://schemas.openxmlformats.org/officeDocument/2006/relationships/image" Target="../media/image34.png"/></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6.xml"/><Relationship Id="rId7" Type="http://schemas.openxmlformats.org/officeDocument/2006/relationships/image" Target="../media/image28.png"/><Relationship Id="rId2" Type="http://schemas.openxmlformats.org/officeDocument/2006/relationships/tags" Target="../tags/tag44.xml"/><Relationship Id="rId1" Type="http://schemas.openxmlformats.org/officeDocument/2006/relationships/tags" Target="../tags/tag43.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18.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image" Target="../media/image120.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8" Type="http://schemas.openxmlformats.org/officeDocument/2006/relationships/image" Target="../media/image3800.png"/><Relationship Id="rId13" Type="http://schemas.openxmlformats.org/officeDocument/2006/relationships/image" Target="../media/image39.png"/><Relationship Id="rId3" Type="http://schemas.openxmlformats.org/officeDocument/2006/relationships/image" Target="../media/image3300.png"/><Relationship Id="rId7" Type="http://schemas.openxmlformats.org/officeDocument/2006/relationships/image" Target="../media/image3700.png"/><Relationship Id="rId12" Type="http://schemas.openxmlformats.org/officeDocument/2006/relationships/image" Target="../media/image37.png"/><Relationship Id="rId2" Type="http://schemas.openxmlformats.org/officeDocument/2006/relationships/image" Target="../media/image3200.png"/><Relationship Id="rId1" Type="http://schemas.openxmlformats.org/officeDocument/2006/relationships/slideLayout" Target="../slideLayouts/slideLayout6.xml"/><Relationship Id="rId6" Type="http://schemas.openxmlformats.org/officeDocument/2006/relationships/image" Target="../media/image360.png"/><Relationship Id="rId11" Type="http://schemas.openxmlformats.org/officeDocument/2006/relationships/image" Target="../media/image410.png"/><Relationship Id="rId5" Type="http://schemas.openxmlformats.org/officeDocument/2006/relationships/image" Target="../media/image3500.png"/><Relationship Id="rId10" Type="http://schemas.openxmlformats.org/officeDocument/2006/relationships/image" Target="../media/image401.png"/><Relationship Id="rId4" Type="http://schemas.openxmlformats.org/officeDocument/2006/relationships/image" Target="../media/image3400.png"/><Relationship Id="rId9" Type="http://schemas.openxmlformats.org/officeDocument/2006/relationships/image" Target="../media/image390.png"/></Relationships>
</file>

<file path=ppt/slides/_rels/slide2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441.png"/><Relationship Id="rId1" Type="http://schemas.openxmlformats.org/officeDocument/2006/relationships/slideLayout" Target="../slideLayouts/slideLayout6.xml"/><Relationship Id="rId4" Type="http://schemas.openxmlformats.org/officeDocument/2006/relationships/image" Target="../media/image41.jpeg"/></Relationships>
</file>

<file path=ppt/slides/_rels/slide23.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44.png"/><Relationship Id="rId1" Type="http://schemas.openxmlformats.org/officeDocument/2006/relationships/slideLayout" Target="../slideLayouts/slideLayout6.xml"/><Relationship Id="rId5" Type="http://schemas.openxmlformats.org/officeDocument/2006/relationships/image" Target="../media/image46.png"/><Relationship Id="rId4" Type="http://schemas.openxmlformats.org/officeDocument/2006/relationships/image" Target="../media/image45.png"/></Relationships>
</file>

<file path=ppt/slides/_rels/slide2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4.png"/><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slideLayout" Target="../slideLayouts/slideLayout5.xml"/><Relationship Id="rId1" Type="http://schemas.openxmlformats.org/officeDocument/2006/relationships/tags" Target="../tags/tag45.xml"/></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5.xml"/><Relationship Id="rId7" Type="http://schemas.openxmlformats.org/officeDocument/2006/relationships/image" Target="../media/image52.png"/><Relationship Id="rId2" Type="http://schemas.openxmlformats.org/officeDocument/2006/relationships/tags" Target="../tags/tag47.xml"/><Relationship Id="rId1" Type="http://schemas.openxmlformats.org/officeDocument/2006/relationships/tags" Target="../tags/tag46.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hyperlink" Target="https://www.kaggle.com/competitions/sjtu-2026-spring-mlp" TargetMode="External"/><Relationship Id="rId2" Type="http://schemas.openxmlformats.org/officeDocument/2006/relationships/hyperlink" Target="http://www.kaggle.com/" TargetMode="External"/><Relationship Id="rId1" Type="http://schemas.openxmlformats.org/officeDocument/2006/relationships/slideLayout" Target="../slideLayouts/slideLayout6.xml"/><Relationship Id="rId6" Type="http://schemas.openxmlformats.org/officeDocument/2006/relationships/image" Target="../media/image53.png"/><Relationship Id="rId5" Type="http://schemas.openxmlformats.org/officeDocument/2006/relationships/hyperlink" Target="https://www.kaggle.com/competitions/sjtu-2026-spring-lstm" TargetMode="External"/><Relationship Id="rId4" Type="http://schemas.openxmlformats.org/officeDocument/2006/relationships/hyperlink" Target="https://www.kaggle.com/competitions/sjtu-2026-spring-cnn"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www.kaggle.com/competitions/sjtu-2026-spring-mlp" TargetMode="External"/><Relationship Id="rId2" Type="http://schemas.openxmlformats.org/officeDocument/2006/relationships/image" Target="../media/image55.png"/><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hyperlink" Target="https://www.kaggle.com/competitions/sjtu-2026-spring-mlp" TargetMode="Externa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hyperlink" Target="https://www.kaggle.com/competitions/mnist-and-mlp-2" TargetMode="External"/><Relationship Id="rId1" Type="http://schemas.openxmlformats.org/officeDocument/2006/relationships/slideLayout" Target="../slideLayouts/slideLayout6.xml"/><Relationship Id="rId4" Type="http://schemas.openxmlformats.org/officeDocument/2006/relationships/image" Target="../media/image58.png"/></Relationships>
</file>

<file path=ppt/slides/_rels/slide34.xml.rels><?xml version="1.0" encoding="UTF-8" standalone="yes"?>
<Relationships xmlns="http://schemas.openxmlformats.org/package/2006/relationships"><Relationship Id="rId3" Type="http://schemas.openxmlformats.org/officeDocument/2006/relationships/hyperlink" Target="https://www.kaggle.com/competitions/mnist-and-mlp-2" TargetMode="External"/><Relationship Id="rId2" Type="http://schemas.openxmlformats.org/officeDocument/2006/relationships/image" Target="../media/image59.png"/><Relationship Id="rId1" Type="http://schemas.openxmlformats.org/officeDocument/2006/relationships/slideLayout" Target="../slideLayouts/slideLayout6.xml"/><Relationship Id="rId5" Type="http://schemas.openxmlformats.org/officeDocument/2006/relationships/image" Target="../media/image61.png"/><Relationship Id="rId4" Type="http://schemas.openxmlformats.org/officeDocument/2006/relationships/image" Target="../media/image6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image" Target="../media/image470.png"/><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6591" y="3694681"/>
            <a:ext cx="12192000" cy="2769989"/>
          </a:xfrm>
          <a:prstGeom prst="rect">
            <a:avLst/>
          </a:prstGeom>
          <a:noFill/>
        </p:spPr>
        <p:txBody>
          <a:bodyPr wrap="square" rtlCol="0" anchor="ctr">
            <a:spAutoFit/>
          </a:bodyPr>
          <a:lstStyle/>
          <a:p>
            <a:pPr indent="0" algn="ctr" defTabSz="864235" fontAlgn="auto">
              <a:lnSpc>
                <a:spcPct val="100000"/>
              </a:lnSpc>
              <a:spcAft>
                <a:spcPts val="2400"/>
              </a:spcAft>
              <a:defRPr/>
            </a:pPr>
            <a:r>
              <a:rPr kumimoji="0" lang="zh-CN" altLang="en-US" sz="5400" b="0" i="0" u="none" strike="noStrike" kern="1200" cap="none" spc="0" normalizeH="0" baseline="0" noProof="0">
                <a:ln>
                  <a:noFill/>
                </a:ln>
                <a:solidFill>
                  <a:schemeClr val="bg1"/>
                </a:solidFill>
                <a:effectLst/>
                <a:uLnTx/>
                <a:uFillTx/>
                <a:latin typeface="微软雅黑" panose="020B0503020204020204" pitchFamily="34" charset="-122"/>
                <a:ea typeface="微软雅黑" panose="020B0503020204020204" pitchFamily="34" charset="-122"/>
                <a:cs typeface="+mn-cs"/>
              </a:rPr>
              <a:t>全连接和残差网络结构</a:t>
            </a:r>
            <a:endParaRPr kumimoji="0" lang="en-US" altLang="zh-CN" sz="5400" b="0" i="0" u="none" strike="noStrike" kern="1200" cap="none" spc="0" normalizeH="0" baseline="0" noProof="0" dirty="0">
              <a:ln>
                <a:noFill/>
              </a:ln>
              <a:solidFill>
                <a:schemeClr val="bg1"/>
              </a:solidFill>
              <a:effectLst/>
              <a:uLnTx/>
              <a:uFillTx/>
              <a:latin typeface="微软雅黑" panose="020B0503020204020204" pitchFamily="34" charset="-122"/>
              <a:ea typeface="微软雅黑" panose="020B0503020204020204" pitchFamily="34" charset="-122"/>
              <a:cs typeface="+mn-cs"/>
            </a:endParaRPr>
          </a:p>
          <a:p>
            <a:pPr indent="0" algn="ctr" defTabSz="864235" fontAlgn="auto">
              <a:lnSpc>
                <a:spcPct val="100000"/>
              </a:lnSpc>
              <a:spcAft>
                <a:spcPts val="2400"/>
              </a:spcAft>
              <a:defRPr/>
            </a:pPr>
            <a:r>
              <a:rPr lang="zh-CN" altLang="en-US" sz="2000" dirty="0">
                <a:solidFill>
                  <a:schemeClr val="bg1"/>
                </a:solidFill>
                <a:latin typeface="微软雅黑" panose="020B0503020204020204" pitchFamily="34" charset="-122"/>
                <a:ea typeface="微软雅黑" panose="020B0503020204020204" pitchFamily="34" charset="-122"/>
              </a:rPr>
              <a:t>上海交通大学</a:t>
            </a:r>
            <a:endParaRPr lang="en-US" altLang="zh-CN" sz="2000" dirty="0">
              <a:solidFill>
                <a:schemeClr val="bg1"/>
              </a:solidFill>
              <a:latin typeface="微软雅黑" panose="020B0503020204020204" pitchFamily="34" charset="-122"/>
              <a:ea typeface="微软雅黑" panose="020B0503020204020204" pitchFamily="34" charset="-122"/>
            </a:endParaRPr>
          </a:p>
          <a:p>
            <a:pPr indent="0" algn="ctr" defTabSz="864235" fontAlgn="auto">
              <a:lnSpc>
                <a:spcPct val="100000"/>
              </a:lnSpc>
              <a:spcAft>
                <a:spcPts val="2400"/>
              </a:spcAft>
              <a:defRPr/>
            </a:pPr>
            <a:r>
              <a:rPr lang="en-US" altLang="zh-CN" sz="2000" dirty="0">
                <a:solidFill>
                  <a:schemeClr val="bg1"/>
                </a:solidFill>
                <a:latin typeface="微软雅黑" panose="020B0503020204020204" pitchFamily="34" charset="-122"/>
                <a:ea typeface="微软雅黑" panose="020B0503020204020204" pitchFamily="34" charset="-122"/>
              </a:rPr>
              <a:t>SJTU AI</a:t>
            </a:r>
            <a:r>
              <a:rPr lang="zh-CN" altLang="en-US" sz="2000" dirty="0">
                <a:solidFill>
                  <a:schemeClr val="bg1"/>
                </a:solidFill>
                <a:latin typeface="微软雅黑" panose="020B0503020204020204" pitchFamily="34" charset="-122"/>
                <a:ea typeface="微软雅黑" panose="020B0503020204020204" pitchFamily="34" charset="-122"/>
              </a:rPr>
              <a:t>大课</a:t>
            </a:r>
          </a:p>
          <a:p>
            <a:pPr lvl="0" algn="ctr" defTabSz="864235">
              <a:defRPr/>
            </a:pPr>
            <a:fld id="{E102F756-3B96-CC46-A2D4-96CC8736307C}" type="datetime3">
              <a:rPr lang="zh-CN" altLang="en-US" sz="2000">
                <a:solidFill>
                  <a:schemeClr val="bg1"/>
                </a:solidFill>
                <a:latin typeface="微软雅黑" panose="020B0503020204020204" pitchFamily="34" charset="-122"/>
                <a:ea typeface="微软雅黑" panose="020B0503020204020204" pitchFamily="34" charset="-122"/>
              </a:rPr>
              <a:pPr lvl="0" algn="ctr" defTabSz="864235">
                <a:defRPr/>
              </a:pPr>
              <a:t>2026年2月25日星期三</a:t>
            </a:fld>
            <a:endParaRPr lang="zh-CN" altLang="en-US" sz="2000" dirty="0">
              <a:solidFill>
                <a:schemeClr val="bg1"/>
              </a:solidFill>
              <a:latin typeface="微软雅黑" panose="020B0503020204020204" pitchFamily="34" charset="-122"/>
              <a:ea typeface="微软雅黑" panose="020B0503020204020204" pitchFamily="34"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8C6D4F-D367-9107-B704-47AE13DBB9C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C3852AB-8C84-7948-CED6-24DF1C502B69}"/>
              </a:ext>
            </a:extLst>
          </p:cNvPr>
          <p:cNvSpPr>
            <a:spLocks noGrp="1"/>
          </p:cNvSpPr>
          <p:nvPr>
            <p:ph type="title"/>
          </p:nvPr>
        </p:nvSpPr>
        <p:spPr>
          <a:xfrm>
            <a:off x="381242" y="2844289"/>
            <a:ext cx="11429516" cy="761979"/>
          </a:xfrm>
        </p:spPr>
        <p:txBody>
          <a:bodyPr/>
          <a:lstStyle/>
          <a:p>
            <a:pPr algn="ctr"/>
            <a:r>
              <a:rPr lang="zh-CN" altLang="en-US" dirty="0"/>
              <a:t>参考：</a:t>
            </a:r>
            <a:r>
              <a:rPr lang="en-US" altLang="zh-CN" dirty="0"/>
              <a:t>《</a:t>
            </a:r>
            <a:r>
              <a:rPr lang="zh-CN" altLang="en-US" dirty="0"/>
              <a:t>深度学习现象导论</a:t>
            </a:r>
            <a:r>
              <a:rPr lang="en-US" altLang="zh-CN" dirty="0"/>
              <a:t>》</a:t>
            </a:r>
            <a:r>
              <a:rPr lang="zh-CN" altLang="en-US" dirty="0"/>
              <a:t>第三章。</a:t>
            </a:r>
          </a:p>
        </p:txBody>
      </p:sp>
      <p:sp>
        <p:nvSpPr>
          <p:cNvPr id="3" name="文本框 2">
            <a:extLst>
              <a:ext uri="{FF2B5EF4-FFF2-40B4-BE49-F238E27FC236}">
                <a16:creationId xmlns:a16="http://schemas.microsoft.com/office/drawing/2014/main" id="{A1150932-90EC-F9C5-3504-45AEBEF1B123}"/>
              </a:ext>
            </a:extLst>
          </p:cNvPr>
          <p:cNvSpPr txBox="1"/>
          <p:nvPr/>
        </p:nvSpPr>
        <p:spPr>
          <a:xfrm>
            <a:off x="92764" y="6374296"/>
            <a:ext cx="3075189" cy="246221"/>
          </a:xfrm>
          <a:prstGeom prst="rect">
            <a:avLst/>
          </a:prstGeom>
          <a:noFill/>
        </p:spPr>
        <p:txBody>
          <a:bodyPr wrap="square" rtlCol="0">
            <a:spAutoFit/>
          </a:bodyPr>
          <a:lstStyle/>
          <a:p>
            <a:pPr algn="l"/>
            <a:r>
              <a:rPr lang="en-US" altLang="zh-CN" sz="1000" dirty="0">
                <a:solidFill>
                  <a:schemeClr val="bg1"/>
                </a:solidFill>
              </a:rPr>
              <a:t>PPT</a:t>
            </a:r>
            <a:r>
              <a:rPr lang="zh-CN" altLang="en-US" sz="1000" dirty="0">
                <a:solidFill>
                  <a:schemeClr val="bg1"/>
                </a:solidFill>
              </a:rPr>
              <a:t>主要贡献：许志钦、马征</a:t>
            </a:r>
          </a:p>
        </p:txBody>
      </p:sp>
    </p:spTree>
    <p:extLst>
      <p:ext uri="{BB962C8B-B14F-4D97-AF65-F5344CB8AC3E}">
        <p14:creationId xmlns:p14="http://schemas.microsoft.com/office/powerpoint/2010/main" val="4445668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21AFCB-D557-2169-B64E-F77EEE26D03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7336E97-7A57-EFE2-4D5F-87D54ED10DF6}"/>
              </a:ext>
            </a:extLst>
          </p:cNvPr>
          <p:cNvSpPr>
            <a:spLocks noGrp="1"/>
          </p:cNvSpPr>
          <p:nvPr>
            <p:ph type="title"/>
          </p:nvPr>
        </p:nvSpPr>
        <p:spPr>
          <a:xfrm>
            <a:off x="381242" y="2844289"/>
            <a:ext cx="11429516" cy="761979"/>
          </a:xfrm>
        </p:spPr>
        <p:txBody>
          <a:bodyPr/>
          <a:lstStyle/>
          <a:p>
            <a:pPr algn="ctr"/>
            <a:r>
              <a:rPr lang="zh-CN" altLang="en-US" dirty="0"/>
              <a:t>神经网络简介</a:t>
            </a:r>
          </a:p>
        </p:txBody>
      </p:sp>
      <p:sp>
        <p:nvSpPr>
          <p:cNvPr id="4" name="文本框 3">
            <a:extLst>
              <a:ext uri="{FF2B5EF4-FFF2-40B4-BE49-F238E27FC236}">
                <a16:creationId xmlns:a16="http://schemas.microsoft.com/office/drawing/2014/main" id="{70266AC2-01F9-6417-8B33-2E5B01447125}"/>
              </a:ext>
            </a:extLst>
          </p:cNvPr>
          <p:cNvSpPr txBox="1"/>
          <p:nvPr/>
        </p:nvSpPr>
        <p:spPr>
          <a:xfrm>
            <a:off x="3008415" y="5693666"/>
            <a:ext cx="6590805" cy="369332"/>
          </a:xfrm>
          <a:prstGeom prst="rect">
            <a:avLst/>
          </a:prstGeom>
          <a:noFill/>
        </p:spPr>
        <p:txBody>
          <a:bodyPr wrap="square">
            <a:spAutoFit/>
          </a:bodyPr>
          <a:lstStyle/>
          <a:p>
            <a:r>
              <a:rPr lang="zh-CN" altLang="en-US" dirty="0"/>
              <a:t>神经元是如何起作用的，以及神经网络架构是如何模仿神经元的</a:t>
            </a:r>
          </a:p>
        </p:txBody>
      </p:sp>
    </p:spTree>
    <p:extLst>
      <p:ext uri="{BB962C8B-B14F-4D97-AF65-F5344CB8AC3E}">
        <p14:creationId xmlns:p14="http://schemas.microsoft.com/office/powerpoint/2010/main" val="39483076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1A6F93-8CEC-8E84-C21E-7F04E8FBB4EE}"/>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698F5342-D867-528B-101A-DDE6E20AEBF8}"/>
              </a:ext>
            </a:extLst>
          </p:cNvPr>
          <p:cNvSpPr>
            <a:spLocks noGrp="1"/>
          </p:cNvSpPr>
          <p:nvPr>
            <p:ph type="title"/>
          </p:nvPr>
        </p:nvSpPr>
        <p:spPr/>
        <p:txBody>
          <a:bodyPr/>
          <a:lstStyle/>
          <a:p>
            <a:r>
              <a:rPr lang="zh-CN" altLang="en-US" dirty="0"/>
              <a:t>单个神经元如何感知信息</a:t>
            </a:r>
          </a:p>
        </p:txBody>
      </p:sp>
      <p:pic>
        <p:nvPicPr>
          <p:cNvPr id="4" name="图片 3">
            <a:extLst>
              <a:ext uri="{FF2B5EF4-FFF2-40B4-BE49-F238E27FC236}">
                <a16:creationId xmlns:a16="http://schemas.microsoft.com/office/drawing/2014/main" id="{444FA3E7-3CED-6D13-AE2D-0854CF4CB93D}"/>
              </a:ext>
            </a:extLst>
          </p:cNvPr>
          <p:cNvPicPr>
            <a:picLocks noChangeAspect="1"/>
          </p:cNvPicPr>
          <p:nvPr/>
        </p:nvPicPr>
        <p:blipFill>
          <a:blip r:embed="rId3"/>
          <a:stretch>
            <a:fillRect/>
          </a:stretch>
        </p:blipFill>
        <p:spPr>
          <a:xfrm>
            <a:off x="2548612" y="2650156"/>
            <a:ext cx="7267699" cy="3345838"/>
          </a:xfrm>
          <a:prstGeom prst="rect">
            <a:avLst/>
          </a:prstGeom>
        </p:spPr>
      </p:pic>
      <p:pic>
        <p:nvPicPr>
          <p:cNvPr id="6" name="图片 5">
            <a:extLst>
              <a:ext uri="{FF2B5EF4-FFF2-40B4-BE49-F238E27FC236}">
                <a16:creationId xmlns:a16="http://schemas.microsoft.com/office/drawing/2014/main" id="{B36B9240-2C0E-BFC2-62A9-7D83CE146A0F}"/>
              </a:ext>
            </a:extLst>
          </p:cNvPr>
          <p:cNvPicPr>
            <a:picLocks noChangeAspect="1"/>
          </p:cNvPicPr>
          <p:nvPr/>
        </p:nvPicPr>
        <p:blipFill>
          <a:blip r:embed="rId4"/>
          <a:stretch>
            <a:fillRect/>
          </a:stretch>
        </p:blipFill>
        <p:spPr>
          <a:xfrm>
            <a:off x="4120301" y="812778"/>
            <a:ext cx="3622410" cy="1598122"/>
          </a:xfrm>
          <a:prstGeom prst="rect">
            <a:avLst/>
          </a:prstGeom>
        </p:spPr>
      </p:pic>
      <p:sp>
        <p:nvSpPr>
          <p:cNvPr id="7" name="文本框 6">
            <a:extLst>
              <a:ext uri="{FF2B5EF4-FFF2-40B4-BE49-F238E27FC236}">
                <a16:creationId xmlns:a16="http://schemas.microsoft.com/office/drawing/2014/main" id="{2DABCDA3-FC12-846C-F66F-09BE5E5F5912}"/>
              </a:ext>
            </a:extLst>
          </p:cNvPr>
          <p:cNvSpPr txBox="1"/>
          <p:nvPr>
            <p:custDataLst>
              <p:tags r:id="rId1"/>
            </p:custDataLst>
          </p:nvPr>
        </p:nvSpPr>
        <p:spPr>
          <a:xfrm>
            <a:off x="393700" y="917059"/>
            <a:ext cx="6172200" cy="368300"/>
          </a:xfrm>
          <a:prstGeom prst="rect">
            <a:avLst/>
          </a:prstGeom>
          <a:noFill/>
        </p:spPr>
        <p:txBody>
          <a:bodyPr wrap="square">
            <a:spAutoFit/>
          </a:bodyPr>
          <a:lstStyle/>
          <a:p>
            <a:pPr marL="285750" indent="-285750">
              <a:buFont typeface="Arial" panose="020B0604020202020204" pitchFamily="34" charset="0"/>
              <a:buChar char="•"/>
            </a:pPr>
            <a:r>
              <a:rPr lang="zh-CN" altLang="en-US" sz="1800" b="0" i="0" u="none" strike="noStrike" baseline="0" dirty="0">
                <a:solidFill>
                  <a:schemeClr val="tx2"/>
                </a:solidFill>
                <a:latin typeface="FandolSong-Regular-Identity-H"/>
              </a:rPr>
              <a:t>感知信息的基本条件是对不同的输入能够区分</a:t>
            </a:r>
            <a:endParaRPr lang="zh-CN" altLang="en-US" dirty="0">
              <a:solidFill>
                <a:schemeClr val="tx2"/>
              </a:solidFill>
            </a:endParaRPr>
          </a:p>
        </p:txBody>
      </p:sp>
    </p:spTree>
    <p:extLst>
      <p:ext uri="{BB962C8B-B14F-4D97-AF65-F5344CB8AC3E}">
        <p14:creationId xmlns:p14="http://schemas.microsoft.com/office/powerpoint/2010/main" val="29401987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文本框 10"/>
          <p:cNvSpPr txBox="1"/>
          <p:nvPr>
            <p:custDataLst>
              <p:tags r:id="rId1"/>
            </p:custDataLst>
          </p:nvPr>
        </p:nvSpPr>
        <p:spPr>
          <a:xfrm>
            <a:off x="965162" y="61534"/>
            <a:ext cx="10972876" cy="614044"/>
          </a:xfrm>
          <a:prstGeom prst="rect">
            <a:avLst/>
          </a:prstGeom>
          <a:noFill/>
        </p:spPr>
        <p:txBody>
          <a:bodyPr wrap="square" lIns="63500" tIns="25400" rIns="63500" bIns="25400" rtlCol="0" anchor="t" anchorCtr="0">
            <a:normAutofit/>
          </a:bodyPr>
          <a:lstStyle/>
          <a:p>
            <a:pPr marL="0" indent="0" algn="l">
              <a:lnSpc>
                <a:spcPct val="100000"/>
              </a:lnSpc>
              <a:spcBef>
                <a:spcPts val="0"/>
              </a:spcBef>
              <a:spcAft>
                <a:spcPts val="0"/>
              </a:spcAft>
              <a:buSzPct val="100000"/>
              <a:buNone/>
            </a:pPr>
            <a:r>
              <a:rPr lang="zh-CN" altLang="en-US" sz="3200" spc="60" dirty="0">
                <a:ln w="3175">
                  <a:noFill/>
                  <a:prstDash val="dash"/>
                </a:ln>
                <a:solidFill>
                  <a:schemeClr val="bg1"/>
                </a:solidFill>
                <a:uFillTx/>
                <a:latin typeface="微软雅黑" panose="020B0503020204020204" charset="-122"/>
                <a:ea typeface="微软雅黑" panose="020B0503020204020204" charset="-122"/>
                <a:cs typeface="微软雅黑" panose="020B0503020204020204" charset="-122"/>
                <a:sym typeface="+mn-ea"/>
              </a:rPr>
              <a:t>单个神经元如何感知信息</a:t>
            </a:r>
          </a:p>
        </p:txBody>
      </p:sp>
      <p:sp>
        <p:nvSpPr>
          <p:cNvPr id="5" name="文本框 4"/>
          <p:cNvSpPr txBox="1"/>
          <p:nvPr>
            <p:custDataLst>
              <p:tags r:id="rId2"/>
            </p:custDataLst>
          </p:nvPr>
        </p:nvSpPr>
        <p:spPr>
          <a:xfrm>
            <a:off x="393700" y="917059"/>
            <a:ext cx="6172200" cy="460375"/>
          </a:xfrm>
          <a:prstGeom prst="rect">
            <a:avLst/>
          </a:prstGeom>
          <a:noFill/>
        </p:spPr>
        <p:txBody>
          <a:bodyPr wrap="square">
            <a:spAutoFit/>
          </a:bodyPr>
          <a:lstStyle/>
          <a:p>
            <a:pPr marL="285750" indent="-285750">
              <a:buFont typeface="Arial" panose="020B0604020202020204" pitchFamily="34" charset="0"/>
              <a:buChar char="•"/>
            </a:pPr>
            <a:r>
              <a:rPr lang="zh-CN" altLang="en-US" sz="2400" b="0" i="0" u="none" strike="noStrike" baseline="0" dirty="0">
                <a:solidFill>
                  <a:schemeClr val="tx2"/>
                </a:solidFill>
                <a:latin typeface="FandolSong-Regular-Identity-H"/>
              </a:rPr>
              <a:t>一个</a:t>
            </a:r>
            <a:r>
              <a:rPr lang="zh-CN" altLang="en-US" sz="2400" dirty="0">
                <a:latin typeface="LMRoman10-Regular-Identity-H"/>
                <a:sym typeface="+mn-ea"/>
              </a:rPr>
              <a:t>预测股票升降的</a:t>
            </a:r>
            <a:r>
              <a:rPr lang="zh-CN" altLang="en-US" sz="2400" b="0" i="0" u="none" strike="noStrike" baseline="0" dirty="0">
                <a:solidFill>
                  <a:schemeClr val="tx2"/>
                </a:solidFill>
                <a:latin typeface="FandolSong-Regular-Identity-H"/>
              </a:rPr>
              <a:t>例子：</a:t>
            </a:r>
          </a:p>
        </p:txBody>
      </p:sp>
      <mc:AlternateContent xmlns:mc="http://schemas.openxmlformats.org/markup-compatibility/2006" xmlns:a14="http://schemas.microsoft.com/office/drawing/2010/main">
        <mc:Choice Requires="a14">
          <p:sp>
            <p:nvSpPr>
              <p:cNvPr id="4" name="文本框 3"/>
              <p:cNvSpPr txBox="1"/>
              <p:nvPr>
                <p:custDataLst>
                  <p:tags r:id="rId3"/>
                </p:custDataLst>
              </p:nvPr>
            </p:nvSpPr>
            <p:spPr>
              <a:xfrm>
                <a:off x="682625" y="1436489"/>
                <a:ext cx="11092180" cy="943528"/>
              </a:xfrm>
              <a:prstGeom prst="rect">
                <a:avLst/>
              </a:prstGeom>
              <a:noFill/>
            </p:spPr>
            <p:txBody>
              <a:bodyPr wrap="square">
                <a:spAutoFit/>
              </a:bodyPr>
              <a:lstStyle/>
              <a:p>
                <a:pPr algn="l">
                  <a:lnSpc>
                    <a:spcPct val="150000"/>
                  </a:lnSpc>
                </a:pPr>
                <a:r>
                  <a:rPr lang="zh-CN" altLang="en-US" sz="2000" b="0" i="0" u="none" strike="noStrike" baseline="0" dirty="0">
                    <a:solidFill>
                      <a:schemeClr val="tx2"/>
                    </a:solidFill>
                    <a:latin typeface="+mn-ea"/>
                    <a:cs typeface="+mn-ea"/>
                  </a:rPr>
                  <a:t>假设</a:t>
                </a:r>
                <a:r>
                  <a:rPr lang="en-US" altLang="zh-CN" sz="2000" b="0" i="0" u="none" strike="noStrike" baseline="0" dirty="0">
                    <a:solidFill>
                      <a:schemeClr val="tx2"/>
                    </a:solidFill>
                    <a:latin typeface="+mn-ea"/>
                    <a:cs typeface="+mn-ea"/>
                  </a:rPr>
                  <a:t>A </a:t>
                </a:r>
                <a:r>
                  <a:rPr lang="zh-CN" altLang="en-US" sz="2000" b="0" i="0" u="none" strike="noStrike" baseline="0" dirty="0">
                    <a:solidFill>
                      <a:schemeClr val="tx2"/>
                    </a:solidFill>
                    <a:latin typeface="+mn-ea"/>
                    <a:cs typeface="+mn-ea"/>
                  </a:rPr>
                  <a:t>有两个朋友，</a:t>
                </a:r>
                <a:r>
                  <a:rPr lang="en-US" altLang="zh-CN" sz="2000" b="0" i="0" u="none" strike="noStrike" baseline="0" dirty="0">
                    <a:solidFill>
                      <a:schemeClr val="tx2"/>
                    </a:solidFill>
                    <a:latin typeface="+mn-ea"/>
                    <a:cs typeface="+mn-ea"/>
                  </a:rPr>
                  <a:t>B </a:t>
                </a:r>
                <a:r>
                  <a:rPr lang="zh-CN" altLang="en-US" sz="2000" b="0" i="0" u="none" strike="noStrike" baseline="0" dirty="0">
                    <a:solidFill>
                      <a:schemeClr val="tx2"/>
                    </a:solidFill>
                    <a:latin typeface="+mn-ea"/>
                    <a:cs typeface="+mn-ea"/>
                  </a:rPr>
                  <a:t>和</a:t>
                </a:r>
                <a:r>
                  <a:rPr lang="en-US" altLang="zh-CN" sz="2000" b="0" i="0" u="none" strike="noStrike" baseline="0" dirty="0">
                    <a:solidFill>
                      <a:schemeClr val="tx2"/>
                    </a:solidFill>
                    <a:latin typeface="+mn-ea"/>
                    <a:cs typeface="+mn-ea"/>
                  </a:rPr>
                  <a:t>C</a:t>
                </a:r>
                <a:r>
                  <a:rPr lang="zh-CN" altLang="en-US" sz="2000" b="0" i="0" u="none" strike="noStrike" baseline="0" dirty="0">
                    <a:solidFill>
                      <a:schemeClr val="tx2"/>
                    </a:solidFill>
                    <a:latin typeface="+mn-ea"/>
                    <a:cs typeface="+mn-ea"/>
                  </a:rPr>
                  <a:t>。</a:t>
                </a:r>
                <a:r>
                  <a:rPr lang="en-US" altLang="zh-CN" sz="2000" b="0" i="0" u="none" strike="noStrike" baseline="0" dirty="0">
                    <a:solidFill>
                      <a:schemeClr val="tx2"/>
                    </a:solidFill>
                    <a:latin typeface="+mn-ea"/>
                    <a:cs typeface="+mn-ea"/>
                  </a:rPr>
                  <a:t>A </a:t>
                </a:r>
                <a:r>
                  <a:rPr lang="zh-CN" altLang="en-US" sz="2000" b="0" i="0" u="none" strike="noStrike" baseline="0" dirty="0">
                    <a:solidFill>
                      <a:schemeClr val="tx2"/>
                    </a:solidFill>
                    <a:latin typeface="+mn-ea"/>
                    <a:cs typeface="+mn-ea"/>
                  </a:rPr>
                  <a:t>自己有一个判断值</a:t>
                </a:r>
                <a14:m>
                  <m:oMath xmlns:m="http://schemas.openxmlformats.org/officeDocument/2006/math">
                    <m:sSub>
                      <m:sSubPr>
                        <m:ctrlPr>
                          <a:rPr lang="en-US" altLang="zh-CN" sz="2000" b="0" i="1" u="none" strike="noStrike" baseline="0" smtClean="0">
                            <a:solidFill>
                              <a:schemeClr val="tx2"/>
                            </a:solidFill>
                            <a:latin typeface="Cambria Math" panose="02040503050406030204" pitchFamily="18" charset="0"/>
                            <a:cs typeface="Cambria Math" panose="02040503050406030204" charset="0"/>
                          </a:rPr>
                        </m:ctrlPr>
                      </m:sSubPr>
                      <m:e>
                        <m:r>
                          <a:rPr lang="en-US" altLang="zh-CN" sz="2000" b="0" i="1" u="none" strike="noStrike" baseline="0" smtClean="0">
                            <a:solidFill>
                              <a:schemeClr val="tx2"/>
                            </a:solidFill>
                            <a:latin typeface="Cambria Math" panose="02040503050406030204" charset="0"/>
                            <a:cs typeface="Cambria Math" panose="02040503050406030204" charset="0"/>
                          </a:rPr>
                          <m:t>𝑎</m:t>
                        </m:r>
                      </m:e>
                      <m:sub>
                        <m:r>
                          <a:rPr lang="en-US" altLang="zh-CN" sz="2000" b="0" i="1" u="none" strike="noStrike" baseline="0" smtClean="0">
                            <a:solidFill>
                              <a:schemeClr val="tx2"/>
                            </a:solidFill>
                            <a:latin typeface="Cambria Math" panose="02040503050406030204" charset="0"/>
                            <a:ea typeface="MS Mincho" charset="0"/>
                            <a:cs typeface="Cambria Math" panose="02040503050406030204" charset="0"/>
                          </a:rPr>
                          <m:t>0</m:t>
                        </m:r>
                      </m:sub>
                    </m:sSub>
                  </m:oMath>
                </a14:m>
                <a:r>
                  <a:rPr lang="zh-CN" altLang="en-US" sz="2000" u="none" strike="noStrike" baseline="0" dirty="0">
                    <a:solidFill>
                      <a:schemeClr val="tx2"/>
                    </a:solidFill>
                    <a:latin typeface="Cambria Math" panose="02040503050406030204" charset="0"/>
                    <a:cs typeface="Cambria Math" panose="02040503050406030204" charset="0"/>
                  </a:rPr>
                  <a:t>，同时接收到了</a:t>
                </a:r>
                <a:r>
                  <a:rPr lang="en-US" altLang="zh-CN" sz="2000" u="none" strike="noStrike" baseline="0" dirty="0">
                    <a:solidFill>
                      <a:schemeClr val="tx2"/>
                    </a:solidFill>
                    <a:latin typeface="Cambria Math" panose="02040503050406030204" charset="0"/>
                    <a:cs typeface="Cambria Math" panose="02040503050406030204" charset="0"/>
                  </a:rPr>
                  <a:t>B</a:t>
                </a:r>
                <a:r>
                  <a:rPr lang="zh-CN" altLang="en-US" sz="2000" u="none" strike="noStrike" baseline="0" dirty="0">
                    <a:solidFill>
                      <a:schemeClr val="tx2"/>
                    </a:solidFill>
                    <a:latin typeface="Cambria Math" panose="02040503050406030204" charset="0"/>
                    <a:cs typeface="Cambria Math" panose="02040503050406030204" charset="0"/>
                  </a:rPr>
                  <a:t>和</a:t>
                </a:r>
                <a:r>
                  <a:rPr lang="en-US" altLang="zh-CN" sz="2000" u="none" strike="noStrike" baseline="0" dirty="0">
                    <a:solidFill>
                      <a:schemeClr val="tx2"/>
                    </a:solidFill>
                    <a:latin typeface="Cambria Math" panose="02040503050406030204" charset="0"/>
                    <a:cs typeface="Cambria Math" panose="02040503050406030204" charset="0"/>
                  </a:rPr>
                  <a:t>C</a:t>
                </a:r>
                <a:r>
                  <a:rPr lang="zh-CN" altLang="en-US" sz="2000" u="none" strike="noStrike" baseline="0" dirty="0">
                    <a:solidFill>
                      <a:schemeClr val="tx2"/>
                    </a:solidFill>
                    <a:latin typeface="Cambria Math" panose="02040503050406030204" charset="0"/>
                    <a:cs typeface="Cambria Math" panose="02040503050406030204" charset="0"/>
                  </a:rPr>
                  <a:t>的信息，分别记为</a:t>
                </a:r>
                <a14:m>
                  <m:oMath xmlns:m="http://schemas.openxmlformats.org/officeDocument/2006/math">
                    <m:r>
                      <a:rPr lang="en-US" altLang="zh-CN" sz="2000" b="0" i="1" u="none" strike="noStrike" baseline="0" dirty="0">
                        <a:solidFill>
                          <a:schemeClr val="tx2"/>
                        </a:solidFill>
                        <a:latin typeface="Cambria Math" panose="02040503050406030204" charset="0"/>
                        <a:cs typeface="Cambria Math" panose="02040503050406030204" charset="0"/>
                      </a:rPr>
                      <m:t>𝑏</m:t>
                    </m:r>
                    <m:r>
                      <a:rPr lang="zh-CN" altLang="en-US" sz="2000" b="0" i="1" u="none" strike="noStrike" baseline="0" dirty="0">
                        <a:solidFill>
                          <a:schemeClr val="tx2"/>
                        </a:solidFill>
                        <a:latin typeface="Cambria Math" panose="02040503050406030204" charset="0"/>
                        <a:cs typeface="Cambria Math" panose="02040503050406030204" charset="0"/>
                      </a:rPr>
                      <m:t>和</m:t>
                    </m:r>
                    <m:r>
                      <a:rPr lang="en-US" altLang="zh-CN" sz="2000" b="0" i="1" u="none" strike="noStrike" baseline="0" dirty="0">
                        <a:solidFill>
                          <a:schemeClr val="tx2"/>
                        </a:solidFill>
                        <a:latin typeface="Cambria Math" panose="02040503050406030204" charset="0"/>
                        <a:cs typeface="Cambria Math" panose="02040503050406030204" charset="0"/>
                      </a:rPr>
                      <m:t>𝑐</m:t>
                    </m:r>
                  </m:oMath>
                </a14:m>
                <a:r>
                  <a:rPr lang="zh-CN" altLang="en-US" sz="2000" u="none" strike="noStrike" baseline="0" dirty="0">
                    <a:solidFill>
                      <a:schemeClr val="tx2"/>
                    </a:solidFill>
                    <a:latin typeface="Cambria Math" panose="02040503050406030204" charset="0"/>
                    <a:cs typeface="Cambria Math" panose="02040503050406030204" charset="0"/>
                  </a:rPr>
                  <a:t>。</a:t>
                </a:r>
                <a:r>
                  <a:rPr lang="zh-CN" altLang="en-US" sz="2000" b="0" i="0" u="none" strike="noStrike" baseline="0" dirty="0">
                    <a:solidFill>
                      <a:schemeClr val="tx2"/>
                    </a:solidFill>
                    <a:latin typeface="+mn-ea"/>
                    <a:cs typeface="+mn-ea"/>
                  </a:rPr>
                  <a:t>因此，</a:t>
                </a:r>
              </a:p>
            </p:txBody>
          </p:sp>
        </mc:Choice>
        <mc:Fallback xmlns="">
          <p:sp>
            <p:nvSpPr>
              <p:cNvPr id="4" name="文本框 3"/>
              <p:cNvSpPr txBox="1">
                <a:spLocks noRot="1" noChangeAspect="1" noMove="1" noResize="1" noEditPoints="1" noAdjustHandles="1" noChangeArrowheads="1" noChangeShapeType="1" noTextEdit="1"/>
              </p:cNvSpPr>
              <p:nvPr>
                <p:custDataLst>
                  <p:tags r:id="rId6"/>
                </p:custDataLst>
              </p:nvPr>
            </p:nvSpPr>
            <p:spPr>
              <a:xfrm>
                <a:off x="682625" y="1436489"/>
                <a:ext cx="11092180" cy="943528"/>
              </a:xfrm>
              <a:prstGeom prst="rect">
                <a:avLst/>
              </a:prstGeom>
              <a:blipFill>
                <a:blip r:embed="rId7"/>
                <a:stretch>
                  <a:fillRect l="-604" r="-220" b="-11039"/>
                </a:stretch>
              </a:blipFill>
            </p:spPr>
            <p:txBody>
              <a:bodyPr/>
              <a:lstStyle/>
              <a:p>
                <a:r>
                  <a:rPr lang="zh-CN" altLang="en-US">
                    <a:noFill/>
                  </a:rPr>
                  <a:t> </a:t>
                </a:r>
              </a:p>
            </p:txBody>
          </p:sp>
        </mc:Fallback>
      </mc:AlternateContent>
      <p:pic>
        <p:nvPicPr>
          <p:cNvPr id="6" name="图片 5"/>
          <p:cNvPicPr>
            <a:picLocks noChangeAspect="1"/>
          </p:cNvPicPr>
          <p:nvPr>
            <p:custDataLst>
              <p:tags r:id="rId4"/>
            </p:custDataLst>
          </p:nvPr>
        </p:nvPicPr>
        <p:blipFill>
          <a:blip r:embed="rId8">
            <a:clrChange>
              <a:clrFrom>
                <a:srgbClr val="FFFFFF">
                  <a:alpha val="100000"/>
                </a:srgbClr>
              </a:clrFrom>
              <a:clrTo>
                <a:srgbClr val="FFFFFF">
                  <a:alpha val="100000"/>
                  <a:alpha val="0"/>
                </a:srgbClr>
              </a:clrTo>
            </a:clrChange>
          </a:blip>
          <a:stretch>
            <a:fillRect/>
          </a:stretch>
        </p:blipFill>
        <p:spPr>
          <a:xfrm>
            <a:off x="2097405" y="2598933"/>
            <a:ext cx="7132320" cy="501634"/>
          </a:xfrm>
          <a:prstGeom prst="rect">
            <a:avLst/>
          </a:prstGeom>
        </p:spPr>
      </p:pic>
      <mc:AlternateContent xmlns:mc="http://schemas.openxmlformats.org/markup-compatibility/2006" xmlns:a14="http://schemas.microsoft.com/office/drawing/2010/main">
        <mc:Choice Requires="a14">
          <p:sp>
            <p:nvSpPr>
              <p:cNvPr id="7" name="文本框 6"/>
              <p:cNvSpPr txBox="1"/>
              <p:nvPr/>
            </p:nvSpPr>
            <p:spPr>
              <a:xfrm>
                <a:off x="682625" y="3237230"/>
                <a:ext cx="7628255" cy="494238"/>
              </a:xfrm>
              <a:prstGeom prst="rect">
                <a:avLst/>
              </a:prstGeom>
              <a:noFill/>
            </p:spPr>
            <p:txBody>
              <a:bodyPr wrap="square" rtlCol="0" anchor="t">
                <a:spAutoFit/>
              </a:bodyPr>
              <a:lstStyle/>
              <a:p>
                <a:pPr algn="l">
                  <a:lnSpc>
                    <a:spcPct val="150000"/>
                  </a:lnSpc>
                </a:pPr>
                <a:r>
                  <a:rPr lang="zh-CN" altLang="en-US" sz="2000" dirty="0">
                    <a:solidFill>
                      <a:schemeClr val="tx2"/>
                    </a:solidFill>
                    <a:latin typeface="+mn-ea"/>
                    <a:cs typeface="+mn-ea"/>
                    <a:sym typeface="+mn-ea"/>
                  </a:rPr>
                  <a:t>如果</a:t>
                </a:r>
                <a:r>
                  <a:rPr lang="en-US" altLang="zh-CN" sz="2000" dirty="0">
                    <a:solidFill>
                      <a:schemeClr val="tx2"/>
                    </a:solidFill>
                    <a:latin typeface="+mn-ea"/>
                    <a:cs typeface="+mn-ea"/>
                    <a:sym typeface="+mn-ea"/>
                  </a:rPr>
                  <a:t>B</a:t>
                </a:r>
                <a:r>
                  <a:rPr lang="zh-CN" altLang="en-US" sz="2000" dirty="0">
                    <a:solidFill>
                      <a:schemeClr val="tx2"/>
                    </a:solidFill>
                    <a:latin typeface="+mn-ea"/>
                    <a:cs typeface="+mn-ea"/>
                    <a:sym typeface="+mn-ea"/>
                  </a:rPr>
                  <a:t>是一个经济学家，而</a:t>
                </a:r>
                <a:r>
                  <a:rPr lang="en-US" altLang="zh-CN" sz="2000" dirty="0">
                    <a:solidFill>
                      <a:schemeClr val="tx2"/>
                    </a:solidFill>
                    <a:latin typeface="+mn-ea"/>
                    <a:cs typeface="+mn-ea"/>
                    <a:sym typeface="+mn-ea"/>
                  </a:rPr>
                  <a:t>C </a:t>
                </a:r>
                <a:r>
                  <a:rPr lang="zh-CN" altLang="en-US" sz="2000" dirty="0">
                    <a:solidFill>
                      <a:schemeClr val="tx2"/>
                    </a:solidFill>
                    <a:latin typeface="+mn-ea"/>
                    <a:cs typeface="+mn-ea"/>
                    <a:sym typeface="+mn-ea"/>
                  </a:rPr>
                  <a:t>是一个普通人</a:t>
                </a:r>
                <a:r>
                  <a:rPr lang="zh-CN" sz="2000" dirty="0">
                    <a:solidFill>
                      <a:schemeClr val="tx2"/>
                    </a:solidFill>
                    <a:latin typeface="+mn-ea"/>
                    <a:cs typeface="+mn-ea"/>
                    <a:sym typeface="+mn-ea"/>
                  </a:rPr>
                  <a:t>，则有，</a:t>
                </a:r>
                <a14:m>
                  <m:oMath xmlns:m="http://schemas.openxmlformats.org/officeDocument/2006/math">
                    <m:sSub>
                      <m:sSubPr>
                        <m:ctrlPr>
                          <a:rPr lang="en-US" altLang="zh-CN" sz="2000" i="1" dirty="0">
                            <a:solidFill>
                              <a:schemeClr val="tx2"/>
                            </a:solidFill>
                            <a:latin typeface="Cambria Math" panose="02040503050406030204" pitchFamily="18" charset="0"/>
                            <a:cs typeface="Cambria Math" panose="02040503050406030204" charset="0"/>
                            <a:sym typeface="+mn-ea"/>
                          </a:rPr>
                        </m:ctrlPr>
                      </m:sSubPr>
                      <m:e>
                        <m:r>
                          <a:rPr lang="en-US" altLang="zh-CN" sz="2000" i="1" dirty="0">
                            <a:solidFill>
                              <a:schemeClr val="tx2"/>
                            </a:solidFill>
                            <a:latin typeface="Cambria Math" panose="02040503050406030204" charset="0"/>
                            <a:cs typeface="Cambria Math" panose="02040503050406030204" charset="0"/>
                            <a:sym typeface="+mn-ea"/>
                          </a:rPr>
                          <m:t>𝜆</m:t>
                        </m:r>
                      </m:e>
                      <m:sub>
                        <m:r>
                          <a:rPr lang="en-US" altLang="zh-CN" sz="2000" i="1" dirty="0">
                            <a:solidFill>
                              <a:schemeClr val="tx2"/>
                            </a:solidFill>
                            <a:latin typeface="Cambria Math" panose="02040503050406030204" charset="0"/>
                            <a:cs typeface="Cambria Math" panose="02040503050406030204" charset="0"/>
                            <a:sym typeface="+mn-ea"/>
                          </a:rPr>
                          <m:t>1</m:t>
                        </m:r>
                      </m:sub>
                    </m:sSub>
                    <m:r>
                      <a:rPr lang="en-US" altLang="zh-CN" sz="2000" i="1" dirty="0">
                        <a:solidFill>
                          <a:schemeClr val="tx2"/>
                        </a:solidFill>
                        <a:latin typeface="Cambria Math" panose="02040503050406030204" charset="0"/>
                        <a:cs typeface="Cambria Math" panose="02040503050406030204" charset="0"/>
                        <a:sym typeface="+mn-ea"/>
                      </a:rPr>
                      <m:t>&gt;</m:t>
                    </m:r>
                    <m:sSub>
                      <m:sSubPr>
                        <m:ctrlPr>
                          <a:rPr lang="en-US" altLang="zh-CN" sz="2000" i="1" dirty="0">
                            <a:solidFill>
                              <a:schemeClr val="tx2"/>
                            </a:solidFill>
                            <a:latin typeface="Cambria Math" panose="02040503050406030204" pitchFamily="18" charset="0"/>
                            <a:cs typeface="Cambria Math" panose="02040503050406030204" charset="0"/>
                            <a:sym typeface="+mn-ea"/>
                          </a:rPr>
                        </m:ctrlPr>
                      </m:sSubPr>
                      <m:e>
                        <m:r>
                          <a:rPr lang="en-US" altLang="zh-CN" sz="2000" i="1" dirty="0">
                            <a:solidFill>
                              <a:schemeClr val="tx2"/>
                            </a:solidFill>
                            <a:latin typeface="Cambria Math" panose="02040503050406030204" charset="0"/>
                            <a:cs typeface="Cambria Math" panose="02040503050406030204" charset="0"/>
                            <a:sym typeface="+mn-ea"/>
                          </a:rPr>
                          <m:t>𝜆</m:t>
                        </m:r>
                      </m:e>
                      <m:sub>
                        <m:r>
                          <a:rPr lang="en-US" altLang="zh-CN" sz="2000" i="1" dirty="0">
                            <a:solidFill>
                              <a:schemeClr val="tx2"/>
                            </a:solidFill>
                            <a:latin typeface="Cambria Math" panose="02040503050406030204" charset="0"/>
                            <a:cs typeface="Cambria Math" panose="02040503050406030204" charset="0"/>
                            <a:sym typeface="+mn-ea"/>
                          </a:rPr>
                          <m:t>2</m:t>
                        </m:r>
                      </m:sub>
                    </m:sSub>
                    <m:r>
                      <a:rPr lang="en-US" altLang="zh-CN" sz="2000" i="1" dirty="0">
                        <a:solidFill>
                          <a:schemeClr val="tx2"/>
                        </a:solidFill>
                        <a:latin typeface="Cambria Math" panose="02040503050406030204" charset="0"/>
                        <a:cs typeface="Cambria Math" panose="02040503050406030204" charset="0"/>
                        <a:sym typeface="+mn-ea"/>
                      </a:rPr>
                      <m:t>&gt;0</m:t>
                    </m:r>
                  </m:oMath>
                </a14:m>
                <a:r>
                  <a:rPr lang="zh-CN" altLang="en-US" sz="2000" dirty="0">
                    <a:solidFill>
                      <a:schemeClr val="tx2"/>
                    </a:solidFill>
                    <a:latin typeface="Cambria Math" panose="02040503050406030204" charset="0"/>
                    <a:cs typeface="Cambria Math" panose="02040503050406030204" charset="0"/>
                    <a:sym typeface="+mn-ea"/>
                  </a:rPr>
                  <a:t>。</a:t>
                </a:r>
              </a:p>
            </p:txBody>
          </p:sp>
        </mc:Choice>
        <mc:Fallback xmlns="">
          <p:sp>
            <p:nvSpPr>
              <p:cNvPr id="7" name="文本框 6"/>
              <p:cNvSpPr txBox="1">
                <a:spLocks noRot="1" noChangeAspect="1" noMove="1" noResize="1" noEditPoints="1" noAdjustHandles="1" noChangeArrowheads="1" noChangeShapeType="1" noTextEdit="1"/>
              </p:cNvSpPr>
              <p:nvPr/>
            </p:nvSpPr>
            <p:spPr>
              <a:xfrm>
                <a:off x="682625" y="3237230"/>
                <a:ext cx="7628255" cy="494238"/>
              </a:xfrm>
              <a:prstGeom prst="rect">
                <a:avLst/>
              </a:prstGeom>
              <a:blipFill>
                <a:blip r:embed="rId9"/>
                <a:stretch>
                  <a:fillRect l="-879" b="-18519"/>
                </a:stretch>
              </a:blipFill>
            </p:spPr>
            <p:txBody>
              <a:bodyPr/>
              <a:lstStyle/>
              <a:p>
                <a:r>
                  <a:rPr lang="zh-CN" altLang="en-US">
                    <a:noFill/>
                  </a:rPr>
                  <a:t> </a:t>
                </a:r>
              </a:p>
            </p:txBody>
          </p:sp>
        </mc:Fallback>
      </mc:AlternateContent>
      <p:sp>
        <p:nvSpPr>
          <p:cNvPr id="2" name="标题 1">
            <a:extLst>
              <a:ext uri="{FF2B5EF4-FFF2-40B4-BE49-F238E27FC236}">
                <a16:creationId xmlns:a16="http://schemas.microsoft.com/office/drawing/2014/main" id="{D7624A7E-694A-5B6C-4406-FA72760E4207}"/>
              </a:ext>
            </a:extLst>
          </p:cNvPr>
          <p:cNvSpPr>
            <a:spLocks noGrp="1"/>
          </p:cNvSpPr>
          <p:nvPr>
            <p:ph type="title"/>
          </p:nvPr>
        </p:nvSpPr>
        <p:spPr/>
        <p:txBody>
          <a:bodyPr/>
          <a:lstStyle/>
          <a:p>
            <a:r>
              <a:rPr lang="zh-CN" altLang="en-US" dirty="0"/>
              <a:t>单个神经元如何感知信息</a:t>
            </a:r>
          </a:p>
        </p:txBody>
      </p:sp>
      <p:pic>
        <p:nvPicPr>
          <p:cNvPr id="3" name="图片 2">
            <a:extLst>
              <a:ext uri="{FF2B5EF4-FFF2-40B4-BE49-F238E27FC236}">
                <a16:creationId xmlns:a16="http://schemas.microsoft.com/office/drawing/2014/main" id="{3028F7BF-965C-BE08-2E06-3501E33E2564}"/>
              </a:ext>
            </a:extLst>
          </p:cNvPr>
          <p:cNvPicPr>
            <a:picLocks noChangeAspect="1"/>
          </p:cNvPicPr>
          <p:nvPr/>
        </p:nvPicPr>
        <p:blipFill>
          <a:blip r:embed="rId10"/>
          <a:stretch>
            <a:fillRect/>
          </a:stretch>
        </p:blipFill>
        <p:spPr>
          <a:xfrm>
            <a:off x="4094901" y="3957780"/>
            <a:ext cx="3622410" cy="1598122"/>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文本框 10"/>
          <p:cNvSpPr txBox="1"/>
          <p:nvPr>
            <p:custDataLst>
              <p:tags r:id="rId1"/>
            </p:custDataLst>
          </p:nvPr>
        </p:nvSpPr>
        <p:spPr>
          <a:xfrm>
            <a:off x="965162" y="61534"/>
            <a:ext cx="10972876" cy="614044"/>
          </a:xfrm>
          <a:prstGeom prst="rect">
            <a:avLst/>
          </a:prstGeom>
          <a:noFill/>
        </p:spPr>
        <p:txBody>
          <a:bodyPr wrap="square" lIns="63500" tIns="25400" rIns="63500" bIns="25400" rtlCol="0" anchor="t" anchorCtr="0">
            <a:normAutofit/>
          </a:bodyPr>
          <a:lstStyle/>
          <a:p>
            <a:pPr marL="0" indent="0" algn="l">
              <a:lnSpc>
                <a:spcPct val="100000"/>
              </a:lnSpc>
              <a:spcBef>
                <a:spcPts val="0"/>
              </a:spcBef>
              <a:spcAft>
                <a:spcPts val="0"/>
              </a:spcAft>
              <a:buSzPct val="100000"/>
              <a:buNone/>
            </a:pPr>
            <a:r>
              <a:rPr lang="zh-CN" altLang="en-US" sz="3200" spc="60" dirty="0">
                <a:ln w="3175">
                  <a:noFill/>
                  <a:prstDash val="dash"/>
                </a:ln>
                <a:solidFill>
                  <a:schemeClr val="bg1"/>
                </a:solidFill>
                <a:uFillTx/>
                <a:latin typeface="微软雅黑" panose="020B0503020204020204" charset="-122"/>
                <a:ea typeface="微软雅黑" panose="020B0503020204020204" charset="-122"/>
                <a:cs typeface="微软雅黑" panose="020B0503020204020204" charset="-122"/>
                <a:sym typeface="+mn-ea"/>
              </a:rPr>
              <a:t>单个神经元如何感知信息：权重</a:t>
            </a:r>
          </a:p>
        </p:txBody>
      </p:sp>
      <p:pic>
        <p:nvPicPr>
          <p:cNvPr id="8" name="图片 7"/>
          <p:cNvPicPr>
            <a:picLocks noChangeAspect="1"/>
          </p:cNvPicPr>
          <p:nvPr>
            <p:custDataLst>
              <p:tags r:id="rId2"/>
            </p:custDataLst>
          </p:nvPr>
        </p:nvPicPr>
        <p:blipFill>
          <a:blip r:embed="rId6">
            <a:clrChange>
              <a:clrFrom>
                <a:srgbClr val="FFFFFF">
                  <a:alpha val="100000"/>
                </a:srgbClr>
              </a:clrFrom>
              <a:clrTo>
                <a:srgbClr val="FFFFFF">
                  <a:alpha val="100000"/>
                  <a:alpha val="0"/>
                </a:srgbClr>
              </a:clrTo>
            </a:clrChange>
          </a:blip>
          <a:stretch>
            <a:fillRect/>
          </a:stretch>
        </p:blipFill>
        <p:spPr>
          <a:xfrm>
            <a:off x="816997" y="1586881"/>
            <a:ext cx="5528558" cy="2676524"/>
          </a:xfrm>
          <a:prstGeom prst="rect">
            <a:avLst/>
          </a:prstGeom>
        </p:spPr>
      </p:pic>
      <p:pic>
        <p:nvPicPr>
          <p:cNvPr id="10" name="图片 9"/>
          <p:cNvPicPr>
            <a:picLocks noChangeAspect="1"/>
          </p:cNvPicPr>
          <p:nvPr>
            <p:custDataLst>
              <p:tags r:id="rId3"/>
            </p:custDataLst>
          </p:nvPr>
        </p:nvPicPr>
        <p:blipFill>
          <a:blip r:embed="rId7">
            <a:clrChange>
              <a:clrFrom>
                <a:srgbClr val="FFFFFF">
                  <a:alpha val="100000"/>
                </a:srgbClr>
              </a:clrFrom>
              <a:clrTo>
                <a:srgbClr val="FFFFFF">
                  <a:alpha val="100000"/>
                  <a:alpha val="0"/>
                </a:srgbClr>
              </a:clrTo>
            </a:clrChange>
          </a:blip>
          <a:stretch>
            <a:fillRect/>
          </a:stretch>
        </p:blipFill>
        <p:spPr>
          <a:xfrm>
            <a:off x="6636385" y="2234247"/>
            <a:ext cx="3744081" cy="1278573"/>
          </a:xfrm>
          <a:prstGeom prst="rect">
            <a:avLst/>
          </a:prstGeom>
        </p:spPr>
      </p:pic>
      <p:pic>
        <p:nvPicPr>
          <p:cNvPr id="12" name="图片 11"/>
          <p:cNvPicPr>
            <a:picLocks noChangeAspect="1"/>
          </p:cNvPicPr>
          <p:nvPr>
            <p:custDataLst>
              <p:tags r:id="rId4"/>
            </p:custDataLst>
          </p:nvPr>
        </p:nvPicPr>
        <p:blipFill>
          <a:blip r:embed="rId8">
            <a:clrChange>
              <a:clrFrom>
                <a:srgbClr val="FFFFFF">
                  <a:alpha val="100000"/>
                </a:srgbClr>
              </a:clrFrom>
              <a:clrTo>
                <a:srgbClr val="FFFFFF">
                  <a:alpha val="100000"/>
                  <a:alpha val="0"/>
                </a:srgbClr>
              </a:clrTo>
            </a:clrChange>
          </a:blip>
          <a:stretch>
            <a:fillRect/>
          </a:stretch>
        </p:blipFill>
        <p:spPr>
          <a:xfrm>
            <a:off x="3806190" y="4572000"/>
            <a:ext cx="5160645" cy="466090"/>
          </a:xfrm>
          <a:prstGeom prst="rect">
            <a:avLst/>
          </a:prstGeom>
        </p:spPr>
      </p:pic>
      <p:sp>
        <p:nvSpPr>
          <p:cNvPr id="2" name="文本框 1"/>
          <p:cNvSpPr txBox="1"/>
          <p:nvPr/>
        </p:nvSpPr>
        <p:spPr>
          <a:xfrm>
            <a:off x="567690" y="817880"/>
            <a:ext cx="9508490" cy="460375"/>
          </a:xfrm>
          <a:prstGeom prst="rect">
            <a:avLst/>
          </a:prstGeom>
          <a:noFill/>
        </p:spPr>
        <p:txBody>
          <a:bodyPr wrap="square" rtlCol="0" anchor="t">
            <a:spAutoFit/>
          </a:bodyPr>
          <a:lstStyle/>
          <a:p>
            <a:pPr marL="342900" indent="-342900">
              <a:buFont typeface="Arial" panose="020B0604020202020204" pitchFamily="34" charset="0"/>
              <a:buChar char="•"/>
            </a:pPr>
            <a:r>
              <a:rPr lang="zh-CN" altLang="en-US" sz="2400"/>
              <a:t>我们可以把这类收集信息的方式推广到一般的形式</a:t>
            </a:r>
          </a:p>
        </p:txBody>
      </p:sp>
      <p:sp>
        <p:nvSpPr>
          <p:cNvPr id="3" name="文本框 2"/>
          <p:cNvSpPr txBox="1"/>
          <p:nvPr/>
        </p:nvSpPr>
        <p:spPr>
          <a:xfrm>
            <a:off x="965200" y="4572000"/>
            <a:ext cx="3296285" cy="460375"/>
          </a:xfrm>
          <a:prstGeom prst="rect">
            <a:avLst/>
          </a:prstGeom>
          <a:noFill/>
        </p:spPr>
        <p:txBody>
          <a:bodyPr wrap="square" rtlCol="0">
            <a:spAutoFit/>
          </a:bodyPr>
          <a:lstStyle/>
          <a:p>
            <a:r>
              <a:rPr lang="zh-CN" altLang="en-US" sz="2400">
                <a:latin typeface="华文宋体" panose="02010600040101010101" charset="-122"/>
                <a:ea typeface="华文宋体" panose="02010600040101010101" charset="-122"/>
              </a:rPr>
              <a:t>单个神经元的输出为</a:t>
            </a:r>
          </a:p>
        </p:txBody>
      </p:sp>
      <p:pic>
        <p:nvPicPr>
          <p:cNvPr id="4" name="图片 3">
            <a:extLst>
              <a:ext uri="{FF2B5EF4-FFF2-40B4-BE49-F238E27FC236}">
                <a16:creationId xmlns:a16="http://schemas.microsoft.com/office/drawing/2014/main" id="{2271D1F8-401B-A2ED-073D-977C9ABF8114}"/>
              </a:ext>
            </a:extLst>
          </p:cNvPr>
          <p:cNvPicPr>
            <a:picLocks noChangeAspect="1"/>
          </p:cNvPicPr>
          <p:nvPr/>
        </p:nvPicPr>
        <p:blipFill>
          <a:blip r:embed="rId9"/>
          <a:stretch>
            <a:fillRect/>
          </a:stretch>
        </p:blipFill>
        <p:spPr>
          <a:xfrm>
            <a:off x="4577501" y="5222885"/>
            <a:ext cx="2369399" cy="1045323"/>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文本框 10"/>
          <p:cNvSpPr txBox="1"/>
          <p:nvPr>
            <p:custDataLst>
              <p:tags r:id="rId1"/>
            </p:custDataLst>
          </p:nvPr>
        </p:nvSpPr>
        <p:spPr>
          <a:xfrm>
            <a:off x="965162" y="61534"/>
            <a:ext cx="10972876" cy="614044"/>
          </a:xfrm>
          <a:prstGeom prst="rect">
            <a:avLst/>
          </a:prstGeom>
          <a:noFill/>
        </p:spPr>
        <p:txBody>
          <a:bodyPr wrap="square" lIns="63500" tIns="25400" rIns="63500" bIns="25400" rtlCol="0" anchor="t" anchorCtr="0">
            <a:normAutofit/>
          </a:bodyPr>
          <a:lstStyle/>
          <a:p>
            <a:pPr marL="0" indent="0" algn="l">
              <a:lnSpc>
                <a:spcPct val="100000"/>
              </a:lnSpc>
              <a:spcBef>
                <a:spcPts val="0"/>
              </a:spcBef>
              <a:spcAft>
                <a:spcPts val="0"/>
              </a:spcAft>
              <a:buSzPct val="100000"/>
              <a:buNone/>
            </a:pPr>
            <a:r>
              <a:rPr lang="zh-CN" altLang="en-US" sz="3200" spc="60" dirty="0">
                <a:ln w="3175">
                  <a:noFill/>
                  <a:prstDash val="dash"/>
                </a:ln>
                <a:solidFill>
                  <a:schemeClr val="bg1"/>
                </a:solidFill>
                <a:uFillTx/>
                <a:latin typeface="微软雅黑" panose="020B0503020204020204" charset="-122"/>
                <a:ea typeface="微软雅黑" panose="020B0503020204020204" charset="-122"/>
                <a:cs typeface="微软雅黑" panose="020B0503020204020204" charset="-122"/>
                <a:sym typeface="+mn-ea"/>
              </a:rPr>
              <a:t>单层神经网络</a:t>
            </a:r>
          </a:p>
        </p:txBody>
      </p:sp>
      <p:pic>
        <p:nvPicPr>
          <p:cNvPr id="4" name="图片 3"/>
          <p:cNvPicPr>
            <a:picLocks noChangeAspect="1"/>
          </p:cNvPicPr>
          <p:nvPr>
            <p:custDataLst>
              <p:tags r:id="rId2"/>
            </p:custDataLst>
          </p:nvPr>
        </p:nvPicPr>
        <p:blipFill>
          <a:blip r:embed="rId4">
            <a:clrChange>
              <a:clrFrom>
                <a:srgbClr val="FFFFFF">
                  <a:alpha val="100000"/>
                </a:srgbClr>
              </a:clrFrom>
              <a:clrTo>
                <a:srgbClr val="FFFFFF">
                  <a:alpha val="100000"/>
                  <a:alpha val="0"/>
                </a:srgbClr>
              </a:clrTo>
            </a:clrChange>
          </a:blip>
          <a:stretch>
            <a:fillRect/>
          </a:stretch>
        </p:blipFill>
        <p:spPr>
          <a:xfrm>
            <a:off x="868680" y="1263093"/>
            <a:ext cx="10454640" cy="5164683"/>
          </a:xfrm>
          <a:prstGeom prst="rect">
            <a:avLst/>
          </a:prstGeom>
        </p:spPr>
      </p:pic>
      <p:sp>
        <p:nvSpPr>
          <p:cNvPr id="5" name="文本框 4"/>
          <p:cNvSpPr txBox="1"/>
          <p:nvPr/>
        </p:nvSpPr>
        <p:spPr>
          <a:xfrm>
            <a:off x="522605" y="802640"/>
            <a:ext cx="10013950" cy="460375"/>
          </a:xfrm>
          <a:prstGeom prst="rect">
            <a:avLst/>
          </a:prstGeom>
          <a:noFill/>
        </p:spPr>
        <p:txBody>
          <a:bodyPr wrap="square" rtlCol="0" anchor="t">
            <a:spAutoFit/>
          </a:bodyPr>
          <a:lstStyle/>
          <a:p>
            <a:pPr marL="285750" indent="-285750">
              <a:buFont typeface="Arial" panose="020B0604020202020204" pitchFamily="34" charset="0"/>
              <a:buChar char="•"/>
            </a:pPr>
            <a:r>
              <a:rPr lang="zh-CN" altLang="en-US" sz="2400"/>
              <a:t>简单地把多个神经元堆在一起，我们就可以得到单层神经网络</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文本框 10"/>
          <p:cNvSpPr txBox="1"/>
          <p:nvPr>
            <p:custDataLst>
              <p:tags r:id="rId1"/>
            </p:custDataLst>
          </p:nvPr>
        </p:nvSpPr>
        <p:spPr>
          <a:xfrm>
            <a:off x="965162" y="61534"/>
            <a:ext cx="10972876" cy="614044"/>
          </a:xfrm>
          <a:prstGeom prst="rect">
            <a:avLst/>
          </a:prstGeom>
          <a:noFill/>
        </p:spPr>
        <p:txBody>
          <a:bodyPr wrap="square" lIns="63500" tIns="25400" rIns="63500" bIns="25400" rtlCol="0" anchor="t" anchorCtr="0">
            <a:normAutofit/>
          </a:bodyPr>
          <a:lstStyle/>
          <a:p>
            <a:pPr marL="0" indent="0" algn="l">
              <a:lnSpc>
                <a:spcPct val="100000"/>
              </a:lnSpc>
              <a:spcBef>
                <a:spcPts val="0"/>
              </a:spcBef>
              <a:spcAft>
                <a:spcPts val="0"/>
              </a:spcAft>
              <a:buSzPct val="100000"/>
              <a:buNone/>
            </a:pPr>
            <a:r>
              <a:rPr lang="zh-CN" altLang="en-US" sz="3200" spc="60" dirty="0">
                <a:ln w="3175">
                  <a:noFill/>
                  <a:prstDash val="dash"/>
                </a:ln>
                <a:solidFill>
                  <a:schemeClr val="bg1"/>
                </a:solidFill>
                <a:uFillTx/>
                <a:latin typeface="微软雅黑" panose="020B0503020204020204" charset="-122"/>
                <a:ea typeface="微软雅黑" panose="020B0503020204020204" charset="-122"/>
                <a:cs typeface="微软雅黑" panose="020B0503020204020204" charset="-122"/>
                <a:sym typeface="+mn-ea"/>
              </a:rPr>
              <a:t>单层神经网络：矩阵形式</a:t>
            </a:r>
          </a:p>
        </p:txBody>
      </p:sp>
      <p:pic>
        <p:nvPicPr>
          <p:cNvPr id="2" name="图片 1"/>
          <p:cNvPicPr>
            <a:picLocks noChangeAspect="1"/>
          </p:cNvPicPr>
          <p:nvPr>
            <p:custDataLst>
              <p:tags r:id="rId2"/>
            </p:custDataLst>
          </p:nvPr>
        </p:nvPicPr>
        <p:blipFill>
          <a:blip r:embed="rId9">
            <a:clrChange>
              <a:clrFrom>
                <a:srgbClr val="FFFFFF">
                  <a:alpha val="100000"/>
                </a:srgbClr>
              </a:clrFrom>
              <a:clrTo>
                <a:srgbClr val="FFFFFF">
                  <a:alpha val="100000"/>
                  <a:alpha val="0"/>
                </a:srgbClr>
              </a:clrTo>
            </a:clrChange>
          </a:blip>
          <a:stretch>
            <a:fillRect/>
          </a:stretch>
        </p:blipFill>
        <p:spPr>
          <a:xfrm>
            <a:off x="592455" y="1305560"/>
            <a:ext cx="5341620" cy="2639060"/>
          </a:xfrm>
          <a:prstGeom prst="rect">
            <a:avLst/>
          </a:prstGeom>
        </p:spPr>
      </p:pic>
      <p:pic>
        <p:nvPicPr>
          <p:cNvPr id="3" name="图片 2"/>
          <p:cNvPicPr>
            <a:picLocks noChangeAspect="1"/>
          </p:cNvPicPr>
          <p:nvPr>
            <p:custDataLst>
              <p:tags r:id="rId3"/>
            </p:custDataLst>
          </p:nvPr>
        </p:nvPicPr>
        <p:blipFill>
          <a:blip r:embed="rId10">
            <a:clrChange>
              <a:clrFrom>
                <a:srgbClr val="FFFFFF">
                  <a:alpha val="100000"/>
                </a:srgbClr>
              </a:clrFrom>
              <a:clrTo>
                <a:srgbClr val="FFFFFF">
                  <a:alpha val="100000"/>
                  <a:alpha val="0"/>
                </a:srgbClr>
              </a:clrTo>
            </a:clrChange>
          </a:blip>
          <a:stretch>
            <a:fillRect/>
          </a:stretch>
        </p:blipFill>
        <p:spPr>
          <a:xfrm>
            <a:off x="6366510" y="1441450"/>
            <a:ext cx="3943985" cy="2591435"/>
          </a:xfrm>
          <a:prstGeom prst="rect">
            <a:avLst/>
          </a:prstGeom>
        </p:spPr>
      </p:pic>
      <p:pic>
        <p:nvPicPr>
          <p:cNvPr id="7" name="图片 6"/>
          <p:cNvPicPr>
            <a:picLocks noChangeAspect="1"/>
          </p:cNvPicPr>
          <p:nvPr>
            <p:custDataLst>
              <p:tags r:id="rId4"/>
            </p:custDataLst>
          </p:nvPr>
        </p:nvPicPr>
        <p:blipFill>
          <a:blip r:embed="rId11">
            <a:clrChange>
              <a:clrFrom>
                <a:srgbClr val="FFFFFF">
                  <a:alpha val="100000"/>
                </a:srgbClr>
              </a:clrFrom>
              <a:clrTo>
                <a:srgbClr val="FFFFFF">
                  <a:alpha val="100000"/>
                  <a:alpha val="0"/>
                </a:srgbClr>
              </a:clrTo>
            </a:clrChange>
          </a:blip>
          <a:stretch>
            <a:fillRect/>
          </a:stretch>
        </p:blipFill>
        <p:spPr>
          <a:xfrm>
            <a:off x="1393190" y="4605020"/>
            <a:ext cx="2924175" cy="591057"/>
          </a:xfrm>
          <a:prstGeom prst="rect">
            <a:avLst/>
          </a:prstGeom>
        </p:spPr>
      </p:pic>
      <p:sp>
        <p:nvSpPr>
          <p:cNvPr id="10" name="文本框 9"/>
          <p:cNvSpPr txBox="1"/>
          <p:nvPr>
            <p:custDataLst>
              <p:tags r:id="rId5"/>
            </p:custDataLst>
          </p:nvPr>
        </p:nvSpPr>
        <p:spPr>
          <a:xfrm>
            <a:off x="322580" y="4075430"/>
            <a:ext cx="2954020" cy="398780"/>
          </a:xfrm>
          <a:prstGeom prst="rect">
            <a:avLst/>
          </a:prstGeom>
          <a:noFill/>
        </p:spPr>
        <p:txBody>
          <a:bodyPr wrap="square" rtlCol="0">
            <a:spAutoFit/>
          </a:bodyPr>
          <a:lstStyle/>
          <a:p>
            <a:pPr marL="342900" indent="-342900" algn="l">
              <a:buFont typeface="Arial" panose="020B0604020202020204" pitchFamily="34" charset="0"/>
              <a:buChar char="•"/>
            </a:pPr>
            <a:r>
              <a:rPr lang="zh-CN" altLang="en-US" sz="2000" dirty="0"/>
              <a:t>神经网络的高维输出：</a:t>
            </a:r>
          </a:p>
        </p:txBody>
      </p:sp>
      <p:pic>
        <p:nvPicPr>
          <p:cNvPr id="12" name="图片 11"/>
          <p:cNvPicPr>
            <a:picLocks noChangeAspect="1"/>
          </p:cNvPicPr>
          <p:nvPr>
            <p:custDataLst>
              <p:tags r:id="rId6"/>
            </p:custDataLst>
          </p:nvPr>
        </p:nvPicPr>
        <p:blipFill>
          <a:blip r:embed="rId12">
            <a:clrChange>
              <a:clrFrom>
                <a:srgbClr val="FFFFFF">
                  <a:alpha val="100000"/>
                </a:srgbClr>
              </a:clrFrom>
              <a:clrTo>
                <a:srgbClr val="FFFFFF">
                  <a:alpha val="100000"/>
                  <a:alpha val="0"/>
                </a:srgbClr>
              </a:clrTo>
            </a:clrChange>
          </a:blip>
          <a:stretch>
            <a:fillRect/>
          </a:stretch>
        </p:blipFill>
        <p:spPr>
          <a:xfrm>
            <a:off x="6299835" y="4574540"/>
            <a:ext cx="5760085" cy="408940"/>
          </a:xfrm>
          <a:prstGeom prst="rect">
            <a:avLst/>
          </a:prstGeom>
        </p:spPr>
      </p:pic>
      <p:sp>
        <p:nvSpPr>
          <p:cNvPr id="6" name="文本框 5"/>
          <p:cNvSpPr txBox="1"/>
          <p:nvPr/>
        </p:nvSpPr>
        <p:spPr>
          <a:xfrm>
            <a:off x="5906770" y="859790"/>
            <a:ext cx="2806700" cy="368300"/>
          </a:xfrm>
          <a:prstGeom prst="rect">
            <a:avLst/>
          </a:prstGeom>
          <a:noFill/>
        </p:spPr>
        <p:txBody>
          <a:bodyPr wrap="square" rtlCol="0">
            <a:spAutoFit/>
          </a:bodyPr>
          <a:lstStyle/>
          <a:p>
            <a:pPr marL="285750" indent="-285750">
              <a:buFont typeface="Arial" panose="020B0604020202020204" pitchFamily="34" charset="0"/>
              <a:buChar char="•"/>
            </a:pPr>
            <a:r>
              <a:rPr lang="zh-CN" altLang="en-US"/>
              <a:t>参数的矩阵形式</a:t>
            </a:r>
          </a:p>
        </p:txBody>
      </p:sp>
      <p:sp>
        <p:nvSpPr>
          <p:cNvPr id="8" name="文本框 7"/>
          <p:cNvSpPr txBox="1"/>
          <p:nvPr/>
        </p:nvSpPr>
        <p:spPr>
          <a:xfrm>
            <a:off x="322580" y="806450"/>
            <a:ext cx="2806700" cy="368300"/>
          </a:xfrm>
          <a:prstGeom prst="rect">
            <a:avLst/>
          </a:prstGeom>
          <a:noFill/>
        </p:spPr>
        <p:txBody>
          <a:bodyPr wrap="square" rtlCol="0">
            <a:spAutoFit/>
          </a:bodyPr>
          <a:lstStyle/>
          <a:p>
            <a:pPr marL="285750" indent="-285750">
              <a:buFont typeface="Arial" panose="020B0604020202020204" pitchFamily="34" charset="0"/>
              <a:buChar char="•"/>
            </a:pPr>
            <a:r>
              <a:rPr lang="zh-CN" altLang="en-US"/>
              <a:t>单层神经网络</a:t>
            </a:r>
          </a:p>
        </p:txBody>
      </p:sp>
      <mc:AlternateContent xmlns:mc="http://schemas.openxmlformats.org/markup-compatibility/2006" xmlns:a14="http://schemas.microsoft.com/office/drawing/2010/main">
        <mc:Choice Requires="a14">
          <p:sp>
            <p:nvSpPr>
              <p:cNvPr id="13" name="文本框 12"/>
              <p:cNvSpPr txBox="1"/>
              <p:nvPr>
                <p:custDataLst>
                  <p:tags r:id="rId7"/>
                </p:custDataLst>
              </p:nvPr>
            </p:nvSpPr>
            <p:spPr>
              <a:xfrm>
                <a:off x="5906770" y="4075430"/>
                <a:ext cx="2806700" cy="368300"/>
              </a:xfrm>
              <a:prstGeom prst="rect">
                <a:avLst/>
              </a:prstGeom>
              <a:noFill/>
            </p:spPr>
            <p:txBody>
              <a:bodyPr wrap="square" rtlCol="0">
                <a:spAutoFit/>
              </a:bodyPr>
              <a:lstStyle/>
              <a:p>
                <a:pPr marL="285750" indent="-285750">
                  <a:buFont typeface="Arial" panose="020B0604020202020204" pitchFamily="34" charset="0"/>
                  <a:buChar char="•"/>
                </a:pPr>
                <a14:m>
                  <m:oMath xmlns:m="http://schemas.openxmlformats.org/officeDocument/2006/math">
                    <m:r>
                      <a:rPr lang="en-US" altLang="zh-CN" i="1">
                        <a:latin typeface="Cambria Math" panose="02040503050406030204" charset="0"/>
                        <a:ea typeface="MS Mincho" charset="0"/>
                        <a:cs typeface="Cambria Math" panose="02040503050406030204" charset="0"/>
                      </a:rPr>
                      <m:t>∘</m:t>
                    </m:r>
                  </m:oMath>
                </a14:m>
                <a:r>
                  <a:rPr lang="en-US" altLang="zh-CN">
                    <a:latin typeface="+mn-ea"/>
                    <a:cs typeface="+mn-ea"/>
                  </a:rPr>
                  <a:t> </a:t>
                </a:r>
                <a:r>
                  <a:rPr lang="zh-CN" altLang="en-US">
                    <a:latin typeface="+mn-ea"/>
                    <a:cs typeface="+mn-ea"/>
                  </a:rPr>
                  <a:t>表示对每个元素作用：</a:t>
                </a:r>
              </a:p>
            </p:txBody>
          </p:sp>
        </mc:Choice>
        <mc:Fallback xmlns="">
          <p:sp>
            <p:nvSpPr>
              <p:cNvPr id="13" name="文本框 12"/>
              <p:cNvSpPr txBox="1">
                <a:spLocks noRot="1" noChangeAspect="1" noMove="1" noResize="1" noEditPoints="1" noAdjustHandles="1" noChangeArrowheads="1" noChangeShapeType="1" noTextEdit="1"/>
              </p:cNvSpPr>
              <p:nvPr>
                <p:custDataLst>
                  <p:tags r:id="rId13"/>
                </p:custDataLst>
              </p:nvPr>
            </p:nvSpPr>
            <p:spPr>
              <a:xfrm>
                <a:off x="5906770" y="4075430"/>
                <a:ext cx="2806700" cy="368300"/>
              </a:xfrm>
              <a:prstGeom prst="rect">
                <a:avLst/>
              </a:prstGeom>
              <a:blipFill rotWithShape="1">
                <a:blip r:embed="rId14"/>
                <a:stretch>
                  <a:fillRect r="-928"/>
                </a:stretch>
              </a:blipFill>
            </p:spPr>
            <p:txBody>
              <a:bodyPr/>
              <a:lstStyle/>
              <a:p>
                <a:r>
                  <a:rPr lang="zh-CN" altLang="en-US">
                    <a:noFill/>
                  </a:rPr>
                  <a:t> </a:t>
                </a:r>
              </a:p>
            </p:txBody>
          </p:sp>
        </mc:Fallback>
      </mc:AlternateContent>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文本框 10"/>
          <p:cNvSpPr txBox="1"/>
          <p:nvPr>
            <p:custDataLst>
              <p:tags r:id="rId1"/>
            </p:custDataLst>
          </p:nvPr>
        </p:nvSpPr>
        <p:spPr>
          <a:xfrm>
            <a:off x="965162" y="61534"/>
            <a:ext cx="10972876" cy="614044"/>
          </a:xfrm>
          <a:prstGeom prst="rect">
            <a:avLst/>
          </a:prstGeom>
          <a:noFill/>
        </p:spPr>
        <p:txBody>
          <a:bodyPr wrap="square" lIns="63500" tIns="25400" rIns="63500" bIns="25400" rtlCol="0" anchor="t" anchorCtr="0">
            <a:normAutofit/>
          </a:bodyPr>
          <a:lstStyle/>
          <a:p>
            <a:pPr marL="0" indent="0" algn="l">
              <a:lnSpc>
                <a:spcPct val="100000"/>
              </a:lnSpc>
              <a:spcBef>
                <a:spcPts val="0"/>
              </a:spcBef>
              <a:spcAft>
                <a:spcPts val="0"/>
              </a:spcAft>
              <a:buSzPct val="100000"/>
              <a:buNone/>
            </a:pPr>
            <a:r>
              <a:rPr lang="zh-CN" altLang="en-US" sz="3200" spc="60" dirty="0">
                <a:ln w="3175">
                  <a:noFill/>
                  <a:prstDash val="dash"/>
                </a:ln>
                <a:solidFill>
                  <a:schemeClr val="bg1"/>
                </a:solidFill>
                <a:uFillTx/>
                <a:latin typeface="微软雅黑" panose="020B0503020204020204" charset="-122"/>
                <a:ea typeface="微软雅黑" panose="020B0503020204020204" charset="-122"/>
                <a:cs typeface="微软雅黑" panose="020B0503020204020204" charset="-122"/>
                <a:sym typeface="+mn-ea"/>
              </a:rPr>
              <a:t>单层神经网络：设计功能</a:t>
            </a:r>
          </a:p>
        </p:txBody>
      </p:sp>
      <mc:AlternateContent xmlns:mc="http://schemas.openxmlformats.org/markup-compatibility/2006" xmlns:a14="http://schemas.microsoft.com/office/drawing/2010/main">
        <mc:Choice Requires="a14">
          <p:sp>
            <p:nvSpPr>
              <p:cNvPr id="4" name="文本框 3"/>
              <p:cNvSpPr txBox="1"/>
              <p:nvPr>
                <p:custDataLst>
                  <p:tags r:id="rId2"/>
                </p:custDataLst>
              </p:nvPr>
            </p:nvSpPr>
            <p:spPr>
              <a:xfrm>
                <a:off x="6960850" y="3806859"/>
                <a:ext cx="1588958" cy="400110"/>
              </a:xfrm>
              <a:prstGeom prst="rect">
                <a:avLst/>
              </a:prstGeom>
              <a:noFill/>
            </p:spPr>
            <p:txBody>
              <a:bodyPr wrap="square" rtlCol="0">
                <a:spAutoFit/>
              </a:bodyPr>
              <a:lstStyle/>
              <a:p>
                <a:pPr algn="l"/>
                <a:r>
                  <a:rPr lang="en-US" altLang="zh-CN" sz="2000" dirty="0"/>
                  <a:t>Not: </a:t>
                </a:r>
                <a14:m>
                  <m:oMath xmlns:m="http://schemas.openxmlformats.org/officeDocument/2006/math">
                    <m:r>
                      <a:rPr lang="en-US" altLang="zh-CN" sz="2000" b="0" i="1" smtClean="0">
                        <a:latin typeface="Cambria Math" panose="02040503050406030204" charset="0"/>
                      </a:rPr>
                      <m:t>𝑇</m:t>
                    </m:r>
                    <m:r>
                      <a:rPr lang="en-US" altLang="zh-CN" sz="2000" b="0" i="1" smtClean="0">
                        <a:latin typeface="Cambria Math" panose="02040503050406030204" charset="0"/>
                      </a:rPr>
                      <m:t>=</m:t>
                    </m:r>
                  </m:oMath>
                </a14:m>
                <a:r>
                  <a:rPr lang="en-US" altLang="zh-CN" sz="2000" dirty="0"/>
                  <a:t>0</a:t>
                </a:r>
                <a:endParaRPr lang="zh-CN" altLang="en-US" sz="2000" dirty="0"/>
              </a:p>
            </p:txBody>
          </p:sp>
        </mc:Choice>
        <mc:Fallback xmlns="">
          <p:sp>
            <p:nvSpPr>
              <p:cNvPr id="4" name="文本框 3"/>
              <p:cNvSpPr txBox="1">
                <a:spLocks noRot="1" noChangeAspect="1" noMove="1" noResize="1" noEditPoints="1" noAdjustHandles="1" noChangeArrowheads="1" noChangeShapeType="1" noTextEdit="1"/>
              </p:cNvSpPr>
              <p:nvPr>
                <p:custDataLst>
                  <p:tags r:id="rId9"/>
                </p:custDataLst>
              </p:nvPr>
            </p:nvSpPr>
            <p:spPr>
              <a:xfrm>
                <a:off x="6960850" y="3806859"/>
                <a:ext cx="1588958" cy="400110"/>
              </a:xfrm>
              <a:prstGeom prst="rect">
                <a:avLst/>
              </a:prstGeom>
              <a:blipFill>
                <a:blip r:embed="rId10"/>
                <a:stretch>
                  <a:fillRect l="-4762" t="-6061" b="-24242"/>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5" name="文本框 4"/>
              <p:cNvSpPr txBox="1"/>
              <p:nvPr>
                <p:custDataLst>
                  <p:tags r:id="rId3"/>
                </p:custDataLst>
              </p:nvPr>
            </p:nvSpPr>
            <p:spPr>
              <a:xfrm>
                <a:off x="4172169" y="3700270"/>
                <a:ext cx="2870615" cy="523220"/>
              </a:xfrm>
              <a:prstGeom prst="rect">
                <a:avLst/>
              </a:prstGeom>
              <a:noFill/>
            </p:spPr>
            <p:txBody>
              <a:bodyPr wrap="square" rtlCol="0">
                <a:spAutoFit/>
              </a:bodyPr>
              <a:lstStyle/>
              <a:p>
                <a:pPr algn="l"/>
                <a14:m>
                  <m:oMathPara xmlns:m="http://schemas.openxmlformats.org/officeDocument/2006/math">
                    <m:oMathParaPr>
                      <m:jc m:val="centerGroup"/>
                    </m:oMathParaPr>
                    <m:oMath xmlns:m="http://schemas.openxmlformats.org/officeDocument/2006/math">
                      <m:r>
                        <a:rPr lang="en-US" altLang="zh-CN" sz="2800" b="0" i="1" smtClean="0">
                          <a:solidFill>
                            <a:schemeClr val="tx2"/>
                          </a:solidFill>
                          <a:latin typeface="Cambria Math" panose="02040503050406030204" charset="0"/>
                        </a:rPr>
                        <m:t>𝜎</m:t>
                      </m:r>
                      <m:d>
                        <m:dPr>
                          <m:ctrlPr>
                            <a:rPr lang="en-US" altLang="zh-CN" sz="2800" b="0" i="1" smtClean="0">
                              <a:solidFill>
                                <a:schemeClr val="tx2"/>
                              </a:solidFill>
                              <a:latin typeface="Cambria Math" panose="02040503050406030204" pitchFamily="18" charset="0"/>
                            </a:rPr>
                          </m:ctrlPr>
                        </m:dPr>
                        <m:e>
                          <m:r>
                            <a:rPr lang="en-US" altLang="zh-CN" sz="2800" b="0" i="1" smtClean="0">
                              <a:solidFill>
                                <a:schemeClr val="tx2"/>
                              </a:solidFill>
                              <a:latin typeface="Cambria Math" panose="02040503050406030204" charset="0"/>
                            </a:rPr>
                            <m:t>𝑥</m:t>
                          </m:r>
                        </m:e>
                      </m:d>
                      <m:r>
                        <a:rPr lang="en-US" altLang="zh-CN" sz="2800" b="0" i="1" smtClean="0">
                          <a:solidFill>
                            <a:schemeClr val="tx2"/>
                          </a:solidFill>
                          <a:latin typeface="Cambria Math" panose="02040503050406030204" charset="0"/>
                        </a:rPr>
                        <m:t>=−</m:t>
                      </m:r>
                      <m:r>
                        <a:rPr lang="en-US" altLang="zh-CN" sz="2800" b="0" i="1" smtClean="0">
                          <a:solidFill>
                            <a:schemeClr val="tx2"/>
                          </a:solidFill>
                          <a:latin typeface="Cambria Math" panose="02040503050406030204" charset="0"/>
                        </a:rPr>
                        <m:t>𝑥</m:t>
                      </m:r>
                    </m:oMath>
                  </m:oMathPara>
                </a14:m>
                <a:endParaRPr lang="zh-CN" altLang="en-US" sz="2800" dirty="0">
                  <a:solidFill>
                    <a:schemeClr val="tx2"/>
                  </a:solidFill>
                </a:endParaRPr>
              </a:p>
            </p:txBody>
          </p:sp>
        </mc:Choice>
        <mc:Fallback xmlns="">
          <p:sp>
            <p:nvSpPr>
              <p:cNvPr id="5" name="文本框 4"/>
              <p:cNvSpPr txBox="1">
                <a:spLocks noRot="1" noChangeAspect="1" noMove="1" noResize="1" noEditPoints="1" noAdjustHandles="1" noChangeArrowheads="1" noChangeShapeType="1" noTextEdit="1"/>
              </p:cNvSpPr>
              <p:nvPr>
                <p:custDataLst>
                  <p:tags r:id="rId11"/>
                </p:custDataLst>
              </p:nvPr>
            </p:nvSpPr>
            <p:spPr>
              <a:xfrm>
                <a:off x="4172169" y="3700270"/>
                <a:ext cx="2870615" cy="523220"/>
              </a:xfrm>
              <a:prstGeom prst="rect">
                <a:avLst/>
              </a:prstGeom>
              <a:blipFill rotWithShape="1">
                <a:blip r:embed="rId12"/>
                <a:stretch>
                  <a:fillRect l="-8" t="-24" r="22" b="20"/>
                </a:stretch>
              </a:blipFill>
            </p:spPr>
            <p:txBody>
              <a:bodyPr/>
              <a:lstStyle/>
              <a:p>
                <a:r>
                  <a:rPr lang="zh-CN" altLang="en-US">
                    <a:noFill/>
                  </a:rPr>
                  <a:t> </a:t>
                </a:r>
              </a:p>
            </p:txBody>
          </p:sp>
        </mc:Fallback>
      </mc:AlternateContent>
      <p:sp>
        <p:nvSpPr>
          <p:cNvPr id="15" name="文本框 14"/>
          <p:cNvSpPr txBox="1"/>
          <p:nvPr>
            <p:custDataLst>
              <p:tags r:id="rId4"/>
            </p:custDataLst>
          </p:nvPr>
        </p:nvSpPr>
        <p:spPr>
          <a:xfrm>
            <a:off x="334373" y="4477972"/>
            <a:ext cx="11684834" cy="1753235"/>
          </a:xfrm>
          <a:prstGeom prst="rect">
            <a:avLst/>
          </a:prstGeom>
          <a:noFill/>
        </p:spPr>
        <p:txBody>
          <a:bodyPr wrap="square">
            <a:spAutoFit/>
          </a:bodyPr>
          <a:lstStyle/>
          <a:p>
            <a:pPr>
              <a:lnSpc>
                <a:spcPct val="150000"/>
              </a:lnSpc>
            </a:pPr>
            <a:r>
              <a:rPr lang="en-US" altLang="zh-CN" sz="1800" dirty="0">
                <a:solidFill>
                  <a:schemeClr val="tx2"/>
                </a:solidFill>
              </a:rPr>
              <a:t>The Dartmouth Conference of 1956 was organized by Marvin Minsky, John McCarthy and two senior scientists: Claude Shannon and Nathan Rochester of IBM. The proposal for the conference included this assertion: </a:t>
            </a:r>
            <a:r>
              <a:rPr lang="en-US" altLang="zh-CN" b="1" dirty="0">
                <a:solidFill>
                  <a:schemeClr val="tx2"/>
                </a:solidFill>
              </a:rPr>
              <a:t>"every aspect of learning or any other feature of intelligence can be so precisely described that a machine can be made to simulate it"</a:t>
            </a:r>
            <a:r>
              <a:rPr lang="en-US" altLang="zh-CN" sz="1800" dirty="0">
                <a:solidFill>
                  <a:schemeClr val="tx2"/>
                </a:solidFill>
              </a:rPr>
              <a:t>.</a:t>
            </a:r>
          </a:p>
        </p:txBody>
      </p:sp>
      <mc:AlternateContent xmlns:mc="http://schemas.openxmlformats.org/markup-compatibility/2006" xmlns:a14="http://schemas.microsoft.com/office/drawing/2010/main">
        <mc:Choice Requires="a14">
          <p:sp>
            <p:nvSpPr>
              <p:cNvPr id="9" name="文本框 8"/>
              <p:cNvSpPr txBox="1"/>
              <p:nvPr>
                <p:custDataLst>
                  <p:tags r:id="rId5"/>
                </p:custDataLst>
              </p:nvPr>
            </p:nvSpPr>
            <p:spPr>
              <a:xfrm>
                <a:off x="2665710" y="3098154"/>
                <a:ext cx="1588958" cy="400110"/>
              </a:xfrm>
              <a:prstGeom prst="rect">
                <a:avLst/>
              </a:prstGeom>
              <a:noFill/>
            </p:spPr>
            <p:txBody>
              <a:bodyPr wrap="square" rtlCol="0">
                <a:spAutoFit/>
              </a:bodyPr>
              <a:lstStyle/>
              <a:p>
                <a:pPr algn="l"/>
                <a:r>
                  <a:rPr lang="en-US" altLang="zh-CN" sz="2000" dirty="0"/>
                  <a:t>AND: </a:t>
                </a:r>
                <a14:m>
                  <m:oMath xmlns:m="http://schemas.openxmlformats.org/officeDocument/2006/math">
                    <m:r>
                      <a:rPr lang="en-US" altLang="zh-CN" sz="2000" b="0" i="1" smtClean="0">
                        <a:latin typeface="Cambria Math" panose="02040503050406030204" charset="0"/>
                      </a:rPr>
                      <m:t>𝑇</m:t>
                    </m:r>
                    <m:r>
                      <a:rPr lang="en-US" altLang="zh-CN" sz="2000" b="0" i="1" smtClean="0">
                        <a:latin typeface="Cambria Math" panose="02040503050406030204" charset="0"/>
                      </a:rPr>
                      <m:t>=2</m:t>
                    </m:r>
                  </m:oMath>
                </a14:m>
                <a:endParaRPr lang="zh-CN" altLang="en-US" sz="2000" dirty="0"/>
              </a:p>
            </p:txBody>
          </p:sp>
        </mc:Choice>
        <mc:Fallback xmlns="">
          <p:sp>
            <p:nvSpPr>
              <p:cNvPr id="9" name="文本框 8"/>
              <p:cNvSpPr txBox="1">
                <a:spLocks noRot="1" noChangeAspect="1" noMove="1" noResize="1" noEditPoints="1" noAdjustHandles="1" noChangeArrowheads="1" noChangeShapeType="1" noTextEdit="1"/>
              </p:cNvSpPr>
              <p:nvPr>
                <p:custDataLst>
                  <p:tags r:id="rId13"/>
                </p:custDataLst>
              </p:nvPr>
            </p:nvSpPr>
            <p:spPr>
              <a:xfrm>
                <a:off x="2665710" y="3098154"/>
                <a:ext cx="1588958" cy="400110"/>
              </a:xfrm>
              <a:prstGeom prst="rect">
                <a:avLst/>
              </a:prstGeom>
              <a:blipFill rotWithShape="1">
                <a:blip r:embed="rId14"/>
                <a:stretch>
                  <a:fillRect l="-39" t="-156" r="11" b="12"/>
                </a:stretch>
              </a:blipFill>
            </p:spPr>
            <p:txBody>
              <a:bodyPr/>
              <a:lstStyle/>
              <a:p>
                <a:r>
                  <a:rPr lang="zh-CN" altLang="en-US">
                    <a:noFill/>
                  </a:rPr>
                  <a:t> </a:t>
                </a:r>
              </a:p>
            </p:txBody>
          </p:sp>
        </mc:Fallback>
      </mc:AlternateContent>
      <p:pic>
        <p:nvPicPr>
          <p:cNvPr id="14" name="图片 13"/>
          <p:cNvPicPr>
            <a:picLocks noChangeAspect="1"/>
          </p:cNvPicPr>
          <p:nvPr>
            <p:custDataLst>
              <p:tags r:id="rId6"/>
            </p:custDataLst>
          </p:nvPr>
        </p:nvPicPr>
        <p:blipFill>
          <a:blip r:embed="rId15">
            <a:clrChange>
              <a:clrFrom>
                <a:srgbClr val="FFFFFF">
                  <a:alpha val="100000"/>
                </a:srgbClr>
              </a:clrFrom>
              <a:clrTo>
                <a:srgbClr val="FFFFFF">
                  <a:alpha val="100000"/>
                  <a:alpha val="0"/>
                </a:srgbClr>
              </a:clrTo>
            </a:clrChange>
          </a:blip>
          <a:stretch>
            <a:fillRect/>
          </a:stretch>
        </p:blipFill>
        <p:spPr>
          <a:xfrm>
            <a:off x="3401695" y="1562100"/>
            <a:ext cx="4064635" cy="1296670"/>
          </a:xfrm>
          <a:prstGeom prst="rect">
            <a:avLst/>
          </a:prstGeom>
        </p:spPr>
      </p:pic>
      <mc:AlternateContent xmlns:mc="http://schemas.openxmlformats.org/markup-compatibility/2006" xmlns:a14="http://schemas.microsoft.com/office/drawing/2010/main">
        <mc:Choice Requires="a14">
          <p:sp>
            <p:nvSpPr>
              <p:cNvPr id="16" name="文本框 15"/>
              <p:cNvSpPr txBox="1"/>
              <p:nvPr>
                <p:custDataLst>
                  <p:tags r:id="rId7"/>
                </p:custDataLst>
              </p:nvPr>
            </p:nvSpPr>
            <p:spPr>
              <a:xfrm>
                <a:off x="4813352" y="3098237"/>
                <a:ext cx="1588958" cy="400110"/>
              </a:xfrm>
              <a:prstGeom prst="rect">
                <a:avLst/>
              </a:prstGeom>
              <a:noFill/>
            </p:spPr>
            <p:txBody>
              <a:bodyPr wrap="square" rtlCol="0">
                <a:spAutoFit/>
              </a:bodyPr>
              <a:lstStyle/>
              <a:p>
                <a:pPr algn="l"/>
                <a:r>
                  <a:rPr lang="en-US" altLang="zh-CN" sz="2000" dirty="0"/>
                  <a:t>Or: </a:t>
                </a:r>
                <a14:m>
                  <m:oMath xmlns:m="http://schemas.openxmlformats.org/officeDocument/2006/math">
                    <m:r>
                      <a:rPr lang="en-US" altLang="zh-CN" sz="2000" b="0" i="1" smtClean="0">
                        <a:latin typeface="Cambria Math" panose="02040503050406030204" charset="0"/>
                      </a:rPr>
                      <m:t>𝑇</m:t>
                    </m:r>
                    <m:r>
                      <a:rPr lang="en-US" altLang="zh-CN" sz="2000" b="0" i="1" smtClean="0">
                        <a:latin typeface="Cambria Math" panose="02040503050406030204" charset="0"/>
                      </a:rPr>
                      <m:t>=1</m:t>
                    </m:r>
                  </m:oMath>
                </a14:m>
                <a:endParaRPr lang="zh-CN" altLang="en-US" sz="2000" dirty="0"/>
              </a:p>
            </p:txBody>
          </p:sp>
        </mc:Choice>
        <mc:Fallback xmlns="">
          <p:sp>
            <p:nvSpPr>
              <p:cNvPr id="16" name="文本框 15"/>
              <p:cNvSpPr txBox="1">
                <a:spLocks noRot="1" noChangeAspect="1" noMove="1" noResize="1" noEditPoints="1" noAdjustHandles="1" noChangeArrowheads="1" noChangeShapeType="1" noTextEdit="1"/>
              </p:cNvSpPr>
              <p:nvPr>
                <p:custDataLst>
                  <p:tags r:id="rId16"/>
                </p:custDataLst>
              </p:nvPr>
            </p:nvSpPr>
            <p:spPr>
              <a:xfrm>
                <a:off x="4813352" y="3098237"/>
                <a:ext cx="1588958" cy="400110"/>
              </a:xfrm>
              <a:prstGeom prst="rect">
                <a:avLst/>
              </a:prstGeom>
              <a:blipFill rotWithShape="1">
                <a:blip r:embed="rId17"/>
                <a:stretch>
                  <a:fillRect l="-3" t="-18" r="15" b="33"/>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7" name="文本框 16"/>
              <p:cNvSpPr txBox="1"/>
              <p:nvPr/>
            </p:nvSpPr>
            <p:spPr>
              <a:xfrm>
                <a:off x="666115" y="994410"/>
                <a:ext cx="5276850" cy="477520"/>
              </a:xfrm>
              <a:prstGeom prst="rect">
                <a:avLst/>
              </a:prstGeom>
              <a:noFill/>
            </p:spPr>
            <p:txBody>
              <a:bodyPr wrap="square" rtlCol="0">
                <a:spAutoFit/>
              </a:bodyPr>
              <a:lstStyle/>
              <a:p>
                <a:pPr marL="285750" indent="-285750">
                  <a:buFont typeface="Arial" panose="020B0604020202020204" pitchFamily="34" charset="0"/>
                  <a:buChar char="•"/>
                </a:pPr>
                <a:r>
                  <a:rPr lang="zh-CN" altLang="en-US" sz="2400"/>
                  <a:t>考虑输入是两维的，</a:t>
                </a:r>
                <a14:m>
                  <m:oMath xmlns:m="http://schemas.openxmlformats.org/officeDocument/2006/math">
                    <m:sSub>
                      <m:sSubPr>
                        <m:ctrlPr>
                          <a:rPr lang="en-US" altLang="zh-CN" sz="2400" i="1">
                            <a:latin typeface="Cambria Math" panose="02040503050406030204" pitchFamily="18" charset="0"/>
                            <a:cs typeface="Cambria Math" panose="02040503050406030204" charset="0"/>
                          </a:rPr>
                        </m:ctrlPr>
                      </m:sSubPr>
                      <m:e>
                        <m:r>
                          <a:rPr lang="en-US" altLang="zh-CN" sz="2400" i="1">
                            <a:latin typeface="Cambria Math" panose="02040503050406030204" charset="0"/>
                            <a:cs typeface="Cambria Math" panose="02040503050406030204" charset="0"/>
                          </a:rPr>
                          <m:t>𝑥</m:t>
                        </m:r>
                      </m:e>
                      <m:sub>
                        <m:r>
                          <a:rPr lang="en-US" altLang="zh-CN" sz="2400" i="1">
                            <a:latin typeface="Cambria Math" panose="02040503050406030204" charset="0"/>
                            <a:cs typeface="Cambria Math" panose="02040503050406030204" charset="0"/>
                          </a:rPr>
                          <m:t>1</m:t>
                        </m:r>
                      </m:sub>
                    </m:sSub>
                    <m:r>
                      <a:rPr lang="en-US" altLang="zh-CN" sz="2400" i="1">
                        <a:latin typeface="Cambria Math" panose="02040503050406030204" charset="0"/>
                        <a:cs typeface="Cambria Math" panose="02040503050406030204" charset="0"/>
                      </a:rPr>
                      <m:t>,</m:t>
                    </m:r>
                    <m:sSub>
                      <m:sSubPr>
                        <m:ctrlPr>
                          <a:rPr lang="en-US" altLang="zh-CN" sz="2400" i="1">
                            <a:latin typeface="Cambria Math" panose="02040503050406030204" pitchFamily="18" charset="0"/>
                            <a:cs typeface="Cambria Math" panose="02040503050406030204" charset="0"/>
                          </a:rPr>
                        </m:ctrlPr>
                      </m:sSubPr>
                      <m:e>
                        <m:r>
                          <a:rPr lang="en-US" altLang="zh-CN" sz="2400" i="1">
                            <a:latin typeface="Cambria Math" panose="02040503050406030204" charset="0"/>
                            <a:cs typeface="Cambria Math" panose="02040503050406030204" charset="0"/>
                          </a:rPr>
                          <m:t>𝑥</m:t>
                        </m:r>
                      </m:e>
                      <m:sub>
                        <m:r>
                          <a:rPr lang="en-US" altLang="zh-CN" sz="2400" i="1">
                            <a:latin typeface="Cambria Math" panose="02040503050406030204" charset="0"/>
                            <a:cs typeface="Cambria Math" panose="02040503050406030204" charset="0"/>
                          </a:rPr>
                          <m:t>2</m:t>
                        </m:r>
                      </m:sub>
                    </m:sSub>
                    <m:r>
                      <a:rPr lang="en-US" altLang="zh-CN" sz="2400" i="1">
                        <a:latin typeface="Cambria Math" panose="02040503050406030204" charset="0"/>
                        <a:cs typeface="Cambria Math" panose="02040503050406030204" charset="0"/>
                      </a:rPr>
                      <m:t>∈</m:t>
                    </m:r>
                    <m:sSup>
                      <m:sSupPr>
                        <m:ctrlPr>
                          <a:rPr lang="en-US" altLang="zh-CN" sz="2400" i="1">
                            <a:latin typeface="Cambria Math" panose="02040503050406030204" pitchFamily="18" charset="0"/>
                            <a:cs typeface="Cambria Math" panose="02040503050406030204" charset="0"/>
                          </a:rPr>
                        </m:ctrlPr>
                      </m:sSupPr>
                      <m:e>
                        <m:r>
                          <a:rPr lang="en-US" altLang="zh-CN" sz="2400" i="1">
                            <a:latin typeface="Cambria Math" panose="02040503050406030204" charset="0"/>
                            <a:cs typeface="Cambria Math" panose="02040503050406030204" charset="0"/>
                          </a:rPr>
                          <m:t>{0,1}</m:t>
                        </m:r>
                      </m:e>
                      <m:sup>
                        <m:r>
                          <a:rPr lang="en-US" altLang="zh-CN" sz="2400" i="1">
                            <a:latin typeface="Cambria Math" panose="02040503050406030204" charset="0"/>
                            <a:cs typeface="Cambria Math" panose="02040503050406030204" charset="0"/>
                          </a:rPr>
                          <m:t>2</m:t>
                        </m:r>
                      </m:sup>
                    </m:sSup>
                  </m:oMath>
                </a14:m>
                <a:endParaRPr lang="en-US" altLang="zh-CN" sz="2400" i="1">
                  <a:latin typeface="Cambria Math" panose="02040503050406030204" charset="0"/>
                  <a:cs typeface="Cambria Math" panose="02040503050406030204" charset="0"/>
                </a:endParaRPr>
              </a:p>
            </p:txBody>
          </p:sp>
        </mc:Choice>
        <mc:Fallback xmlns="">
          <p:sp>
            <p:nvSpPr>
              <p:cNvPr id="17" name="文本框 16"/>
              <p:cNvSpPr txBox="1">
                <a:spLocks noRot="1" noChangeAspect="1" noMove="1" noResize="1" noEditPoints="1" noAdjustHandles="1" noChangeArrowheads="1" noChangeShapeType="1" noTextEdit="1"/>
              </p:cNvSpPr>
              <p:nvPr/>
            </p:nvSpPr>
            <p:spPr>
              <a:xfrm>
                <a:off x="666115" y="994410"/>
                <a:ext cx="5276850" cy="477520"/>
              </a:xfrm>
              <a:prstGeom prst="rect">
                <a:avLst/>
              </a:prstGeom>
              <a:blipFill rotWithShape="1">
                <a:blip r:embed="rId18"/>
                <a:stretch>
                  <a:fillRect/>
                </a:stretch>
              </a:blipFill>
            </p:spPr>
            <p:txBody>
              <a:bodyPr/>
              <a:lstStyle/>
              <a:p>
                <a:r>
                  <a:rPr lang="zh-CN" altLang="en-US">
                    <a:noFill/>
                  </a:rPr>
                  <a:t> </a:t>
                </a:r>
              </a:p>
            </p:txBody>
          </p:sp>
        </mc:Fallback>
      </mc:AlternateContent>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文本框 10"/>
          <p:cNvSpPr txBox="1"/>
          <p:nvPr>
            <p:custDataLst>
              <p:tags r:id="rId1"/>
            </p:custDataLst>
          </p:nvPr>
        </p:nvSpPr>
        <p:spPr>
          <a:xfrm>
            <a:off x="965162" y="61534"/>
            <a:ext cx="10972876" cy="614044"/>
          </a:xfrm>
          <a:prstGeom prst="rect">
            <a:avLst/>
          </a:prstGeom>
          <a:noFill/>
        </p:spPr>
        <p:txBody>
          <a:bodyPr wrap="square" lIns="63500" tIns="25400" rIns="63500" bIns="25400" rtlCol="0" anchor="t" anchorCtr="0">
            <a:normAutofit/>
          </a:bodyPr>
          <a:lstStyle/>
          <a:p>
            <a:pPr marL="0" indent="0" algn="l">
              <a:lnSpc>
                <a:spcPct val="100000"/>
              </a:lnSpc>
              <a:spcBef>
                <a:spcPts val="0"/>
              </a:spcBef>
              <a:spcAft>
                <a:spcPts val="0"/>
              </a:spcAft>
              <a:buSzPct val="100000"/>
              <a:buNone/>
            </a:pPr>
            <a:r>
              <a:rPr lang="zh-CN" altLang="en-US" sz="3200" spc="60" dirty="0">
                <a:ln w="3175">
                  <a:noFill/>
                  <a:prstDash val="dash"/>
                </a:ln>
                <a:solidFill>
                  <a:schemeClr val="bg1"/>
                </a:solidFill>
                <a:uFillTx/>
                <a:latin typeface="微软雅黑" panose="020B0503020204020204" charset="-122"/>
                <a:ea typeface="微软雅黑" panose="020B0503020204020204" charset="-122"/>
                <a:cs typeface="微软雅黑" panose="020B0503020204020204" charset="-122"/>
                <a:sym typeface="+mn-ea"/>
              </a:rPr>
              <a:t>单层神经网络：局限性</a:t>
            </a:r>
          </a:p>
        </p:txBody>
      </p:sp>
      <p:pic>
        <p:nvPicPr>
          <p:cNvPr id="2" name="图片 1"/>
          <p:cNvPicPr>
            <a:picLocks noChangeAspect="1"/>
          </p:cNvPicPr>
          <p:nvPr>
            <p:custDataLst>
              <p:tags r:id="rId2"/>
            </p:custDataLst>
          </p:nvPr>
        </p:nvPicPr>
        <p:blipFill>
          <a:blip r:embed="rId4">
            <a:clrChange>
              <a:clrFrom>
                <a:srgbClr val="FFFFFF">
                  <a:alpha val="100000"/>
                </a:srgbClr>
              </a:clrFrom>
              <a:clrTo>
                <a:srgbClr val="FFFFFF">
                  <a:alpha val="100000"/>
                  <a:alpha val="0"/>
                </a:srgbClr>
              </a:clrTo>
            </a:clrChange>
          </a:blip>
          <a:stretch>
            <a:fillRect/>
          </a:stretch>
        </p:blipFill>
        <p:spPr>
          <a:xfrm>
            <a:off x="3417310" y="1658592"/>
            <a:ext cx="4902096" cy="4603820"/>
          </a:xfrm>
          <a:prstGeom prst="rect">
            <a:avLst/>
          </a:prstGeom>
        </p:spPr>
      </p:pic>
      <p:sp>
        <p:nvSpPr>
          <p:cNvPr id="3" name="文本框 2"/>
          <p:cNvSpPr txBox="1"/>
          <p:nvPr/>
        </p:nvSpPr>
        <p:spPr>
          <a:xfrm>
            <a:off x="481330" y="969010"/>
            <a:ext cx="6607175" cy="521970"/>
          </a:xfrm>
          <a:prstGeom prst="rect">
            <a:avLst/>
          </a:prstGeom>
          <a:noFill/>
        </p:spPr>
        <p:txBody>
          <a:bodyPr wrap="square" rtlCol="0">
            <a:spAutoFit/>
          </a:bodyPr>
          <a:lstStyle/>
          <a:p>
            <a:pPr marL="285750" indent="-285750">
              <a:buFont typeface="Arial" panose="020B0604020202020204" pitchFamily="34" charset="0"/>
              <a:buChar char="•"/>
            </a:pPr>
            <a:r>
              <a:rPr lang="zh-CN" altLang="en-US" sz="2800"/>
              <a:t>单层神经网络是无法做好</a:t>
            </a:r>
            <a:r>
              <a:rPr lang="en-US" altLang="zh-CN" sz="2800"/>
              <a:t>XOR</a:t>
            </a:r>
            <a:r>
              <a:rPr lang="zh-CN" altLang="en-US" sz="2800"/>
              <a:t>问题，</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文本框 10"/>
          <p:cNvSpPr txBox="1"/>
          <p:nvPr>
            <p:custDataLst>
              <p:tags r:id="rId1"/>
            </p:custDataLst>
          </p:nvPr>
        </p:nvSpPr>
        <p:spPr>
          <a:xfrm>
            <a:off x="965162" y="61534"/>
            <a:ext cx="10972876" cy="614044"/>
          </a:xfrm>
          <a:prstGeom prst="rect">
            <a:avLst/>
          </a:prstGeom>
          <a:noFill/>
        </p:spPr>
        <p:txBody>
          <a:bodyPr wrap="square" lIns="63500" tIns="25400" rIns="63500" bIns="25400" rtlCol="0" anchor="t" anchorCtr="0">
            <a:normAutofit/>
          </a:bodyPr>
          <a:lstStyle/>
          <a:p>
            <a:pPr marL="0" indent="0" algn="l">
              <a:lnSpc>
                <a:spcPct val="100000"/>
              </a:lnSpc>
              <a:spcBef>
                <a:spcPts val="0"/>
              </a:spcBef>
              <a:spcAft>
                <a:spcPts val="0"/>
              </a:spcAft>
              <a:buSzPct val="100000"/>
              <a:buNone/>
            </a:pPr>
            <a:r>
              <a:rPr lang="zh-CN" altLang="en-US" sz="3200" spc="60" dirty="0">
                <a:ln w="3175">
                  <a:noFill/>
                  <a:prstDash val="dash"/>
                </a:ln>
                <a:solidFill>
                  <a:schemeClr val="bg1"/>
                </a:solidFill>
                <a:uFillTx/>
                <a:latin typeface="微软雅黑" panose="020B0503020204020204" charset="-122"/>
                <a:ea typeface="微软雅黑" panose="020B0503020204020204" charset="-122"/>
                <a:cs typeface="微软雅黑" panose="020B0503020204020204" charset="-122"/>
                <a:sym typeface="+mn-ea"/>
              </a:rPr>
              <a:t>多层神经网络</a:t>
            </a:r>
          </a:p>
        </p:txBody>
      </p:sp>
      <p:pic>
        <p:nvPicPr>
          <p:cNvPr id="5" name="图片 4"/>
          <p:cNvPicPr>
            <a:picLocks noChangeAspect="1"/>
          </p:cNvPicPr>
          <p:nvPr>
            <p:custDataLst>
              <p:tags r:id="rId2"/>
            </p:custDataLst>
          </p:nvPr>
        </p:nvPicPr>
        <p:blipFill>
          <a:blip r:embed="rId5">
            <a:clrChange>
              <a:clrFrom>
                <a:srgbClr val="FFFFFF">
                  <a:alpha val="100000"/>
                </a:srgbClr>
              </a:clrFrom>
              <a:clrTo>
                <a:srgbClr val="FFFFFF">
                  <a:alpha val="100000"/>
                  <a:alpha val="0"/>
                </a:srgbClr>
              </a:clrTo>
            </a:clrChange>
            <a:extLst>
              <a:ext uri="{28A0092B-C50C-407E-A947-70E740481C1C}">
                <a14:useLocalDpi xmlns:a14="http://schemas.microsoft.com/office/drawing/2010/main" val="0"/>
              </a:ext>
            </a:extLst>
          </a:blip>
          <a:srcRect/>
          <a:stretch>
            <a:fillRect/>
          </a:stretch>
        </p:blipFill>
        <p:spPr>
          <a:xfrm>
            <a:off x="2371090" y="1490980"/>
            <a:ext cx="6798310" cy="5080635"/>
          </a:xfrm>
          <a:prstGeom prst="rect">
            <a:avLst/>
          </a:prstGeom>
        </p:spPr>
      </p:pic>
      <p:sp>
        <p:nvSpPr>
          <p:cNvPr id="4" name="文本框 3"/>
          <p:cNvSpPr txBox="1"/>
          <p:nvPr>
            <p:custDataLst>
              <p:tags r:id="rId3"/>
            </p:custDataLst>
          </p:nvPr>
        </p:nvSpPr>
        <p:spPr>
          <a:xfrm>
            <a:off x="481330" y="969010"/>
            <a:ext cx="10443210" cy="521970"/>
          </a:xfrm>
          <a:prstGeom prst="rect">
            <a:avLst/>
          </a:prstGeom>
          <a:noFill/>
        </p:spPr>
        <p:txBody>
          <a:bodyPr wrap="square" rtlCol="0">
            <a:spAutoFit/>
          </a:bodyPr>
          <a:lstStyle/>
          <a:p>
            <a:pPr marL="285750" indent="-285750">
              <a:buFont typeface="Arial" panose="020B0604020202020204" pitchFamily="34" charset="0"/>
              <a:buChar char="•"/>
            </a:pPr>
            <a:r>
              <a:rPr sz="2800"/>
              <a:t>多层神经网络是在一层神经网络的基础上堆叠起来的。</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A6532-8CF8-7CC8-893D-9054884D2D4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00B6109-743A-33C4-A287-7A1E05E72C7C}"/>
              </a:ext>
            </a:extLst>
          </p:cNvPr>
          <p:cNvSpPr>
            <a:spLocks noGrp="1"/>
          </p:cNvSpPr>
          <p:nvPr>
            <p:ph type="title"/>
          </p:nvPr>
        </p:nvSpPr>
        <p:spPr/>
        <p:txBody>
          <a:bodyPr/>
          <a:lstStyle/>
          <a:p>
            <a:pPr>
              <a:spcBef>
                <a:spcPts val="0"/>
              </a:spcBef>
              <a:buSzPct val="100000"/>
            </a:pPr>
            <a:r>
              <a:rPr lang="zh-CN" altLang="en-US" spc="60" dirty="0">
                <a:ln w="3175">
                  <a:noFill/>
                  <a:prstDash val="dash"/>
                </a:ln>
                <a:latin typeface="微软雅黑" panose="020B0503020204020204" charset="-122"/>
                <a:ea typeface="微软雅黑" panose="020B0503020204020204" charset="-122"/>
                <a:cs typeface="微软雅黑" panose="020B0503020204020204" charset="-122"/>
                <a:sym typeface="+mn-ea"/>
              </a:rPr>
              <a:t>多层神经网络</a:t>
            </a:r>
          </a:p>
        </p:txBody>
      </p:sp>
      <p:sp>
        <p:nvSpPr>
          <p:cNvPr id="7" name="文本框 6">
            <a:extLst>
              <a:ext uri="{FF2B5EF4-FFF2-40B4-BE49-F238E27FC236}">
                <a16:creationId xmlns:a16="http://schemas.microsoft.com/office/drawing/2014/main" id="{45ED37E4-B8C7-2058-B7B9-C78B216B115A}"/>
              </a:ext>
            </a:extLst>
          </p:cNvPr>
          <p:cNvSpPr txBox="1"/>
          <p:nvPr>
            <p:custDataLst>
              <p:tags r:id="rId1"/>
            </p:custDataLst>
          </p:nvPr>
        </p:nvSpPr>
        <p:spPr>
          <a:xfrm>
            <a:off x="393700" y="917059"/>
            <a:ext cx="6172200" cy="368300"/>
          </a:xfrm>
          <a:prstGeom prst="rect">
            <a:avLst/>
          </a:prstGeom>
          <a:noFill/>
        </p:spPr>
        <p:txBody>
          <a:bodyPr wrap="square">
            <a:spAutoFit/>
          </a:bodyPr>
          <a:lstStyle/>
          <a:p>
            <a:pPr marL="285750" indent="-285750">
              <a:buFont typeface="Arial" panose="020B0604020202020204" pitchFamily="34" charset="0"/>
              <a:buChar char="•"/>
            </a:pPr>
            <a:r>
              <a:rPr lang="zh-CN" altLang="en-US" dirty="0">
                <a:solidFill>
                  <a:schemeClr val="tx2"/>
                </a:solidFill>
                <a:latin typeface="FandolSong-Regular-Identity-H"/>
              </a:rPr>
              <a:t>两层神经网络</a:t>
            </a:r>
            <a:endParaRPr lang="zh-CN" altLang="en-US" dirty="0">
              <a:solidFill>
                <a:schemeClr val="tx2"/>
              </a:solidFill>
            </a:endParaRPr>
          </a:p>
        </p:txBody>
      </p:sp>
      <p:pic>
        <p:nvPicPr>
          <p:cNvPr id="5" name="图片 4">
            <a:extLst>
              <a:ext uri="{FF2B5EF4-FFF2-40B4-BE49-F238E27FC236}">
                <a16:creationId xmlns:a16="http://schemas.microsoft.com/office/drawing/2014/main" id="{49FE9839-EC18-CB7F-B212-2D47E4FB42ED}"/>
              </a:ext>
            </a:extLst>
          </p:cNvPr>
          <p:cNvPicPr>
            <a:picLocks noChangeAspect="1"/>
          </p:cNvPicPr>
          <p:nvPr/>
        </p:nvPicPr>
        <p:blipFill>
          <a:blip r:embed="rId4"/>
          <a:stretch>
            <a:fillRect/>
          </a:stretch>
        </p:blipFill>
        <p:spPr>
          <a:xfrm>
            <a:off x="4428125" y="1014522"/>
            <a:ext cx="3714390" cy="851833"/>
          </a:xfrm>
          <a:prstGeom prst="rect">
            <a:avLst/>
          </a:prstGeom>
        </p:spPr>
      </p:pic>
      <p:sp>
        <p:nvSpPr>
          <p:cNvPr id="8" name="文本框 7">
            <a:extLst>
              <a:ext uri="{FF2B5EF4-FFF2-40B4-BE49-F238E27FC236}">
                <a16:creationId xmlns:a16="http://schemas.microsoft.com/office/drawing/2014/main" id="{BC0806EA-E89C-A6B1-BC10-331AEE4C86FF}"/>
              </a:ext>
            </a:extLst>
          </p:cNvPr>
          <p:cNvSpPr txBox="1"/>
          <p:nvPr>
            <p:custDataLst>
              <p:tags r:id="rId2"/>
            </p:custDataLst>
          </p:nvPr>
        </p:nvSpPr>
        <p:spPr>
          <a:xfrm>
            <a:off x="393700" y="3165482"/>
            <a:ext cx="6172200" cy="368300"/>
          </a:xfrm>
          <a:prstGeom prst="rect">
            <a:avLst/>
          </a:prstGeom>
          <a:noFill/>
        </p:spPr>
        <p:txBody>
          <a:bodyPr wrap="square">
            <a:spAutoFit/>
          </a:bodyPr>
          <a:lstStyle/>
          <a:p>
            <a:pPr marL="285750" indent="-285750">
              <a:buFont typeface="Arial" panose="020B0604020202020204" pitchFamily="34" charset="0"/>
              <a:buChar char="•"/>
            </a:pPr>
            <a:r>
              <a:rPr lang="zh-CN" altLang="en-US" dirty="0">
                <a:solidFill>
                  <a:schemeClr val="tx2"/>
                </a:solidFill>
                <a:latin typeface="FandolSong-Regular-Identity-H"/>
              </a:rPr>
              <a:t>多层神经网络</a:t>
            </a:r>
            <a:endParaRPr lang="zh-CN" altLang="en-US" dirty="0">
              <a:solidFill>
                <a:schemeClr val="tx2"/>
              </a:solidFill>
            </a:endParaRPr>
          </a:p>
        </p:txBody>
      </p:sp>
      <p:pic>
        <p:nvPicPr>
          <p:cNvPr id="12" name="图片 11">
            <a:extLst>
              <a:ext uri="{FF2B5EF4-FFF2-40B4-BE49-F238E27FC236}">
                <a16:creationId xmlns:a16="http://schemas.microsoft.com/office/drawing/2014/main" id="{FC5F1EB2-2A21-3E0B-24BF-5C29EED1E39F}"/>
              </a:ext>
            </a:extLst>
          </p:cNvPr>
          <p:cNvPicPr>
            <a:picLocks noChangeAspect="1"/>
          </p:cNvPicPr>
          <p:nvPr/>
        </p:nvPicPr>
        <p:blipFill>
          <a:blip r:embed="rId5"/>
          <a:stretch>
            <a:fillRect/>
          </a:stretch>
        </p:blipFill>
        <p:spPr>
          <a:xfrm>
            <a:off x="1702130" y="2022891"/>
            <a:ext cx="8973787" cy="986055"/>
          </a:xfrm>
          <a:prstGeom prst="rect">
            <a:avLst/>
          </a:prstGeom>
        </p:spPr>
      </p:pic>
      <p:pic>
        <p:nvPicPr>
          <p:cNvPr id="14" name="图片 13">
            <a:extLst>
              <a:ext uri="{FF2B5EF4-FFF2-40B4-BE49-F238E27FC236}">
                <a16:creationId xmlns:a16="http://schemas.microsoft.com/office/drawing/2014/main" id="{9D6A2816-BEB2-237A-D337-22811F3FDB26}"/>
              </a:ext>
            </a:extLst>
          </p:cNvPr>
          <p:cNvPicPr>
            <a:picLocks noChangeAspect="1"/>
          </p:cNvPicPr>
          <p:nvPr/>
        </p:nvPicPr>
        <p:blipFill>
          <a:blip r:embed="rId6"/>
          <a:stretch>
            <a:fillRect/>
          </a:stretch>
        </p:blipFill>
        <p:spPr>
          <a:xfrm>
            <a:off x="2545278" y="3336930"/>
            <a:ext cx="7192488" cy="706776"/>
          </a:xfrm>
          <a:prstGeom prst="rect">
            <a:avLst/>
          </a:prstGeom>
        </p:spPr>
      </p:pic>
      <p:pic>
        <p:nvPicPr>
          <p:cNvPr id="16" name="图片 15">
            <a:extLst>
              <a:ext uri="{FF2B5EF4-FFF2-40B4-BE49-F238E27FC236}">
                <a16:creationId xmlns:a16="http://schemas.microsoft.com/office/drawing/2014/main" id="{5E64F8C5-0A9E-9966-F29D-37217880B3F4}"/>
              </a:ext>
            </a:extLst>
          </p:cNvPr>
          <p:cNvPicPr>
            <a:picLocks noChangeAspect="1"/>
          </p:cNvPicPr>
          <p:nvPr/>
        </p:nvPicPr>
        <p:blipFill>
          <a:blip r:embed="rId7"/>
          <a:stretch>
            <a:fillRect/>
          </a:stretch>
        </p:blipFill>
        <p:spPr>
          <a:xfrm>
            <a:off x="3214255" y="4371690"/>
            <a:ext cx="5851398" cy="1390347"/>
          </a:xfrm>
          <a:prstGeom prst="rect">
            <a:avLst/>
          </a:prstGeom>
        </p:spPr>
      </p:pic>
    </p:spTree>
    <p:extLst>
      <p:ext uri="{BB962C8B-B14F-4D97-AF65-F5344CB8AC3E}">
        <p14:creationId xmlns:p14="http://schemas.microsoft.com/office/powerpoint/2010/main" val="40477239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96B4A-23BF-BFDB-CFE7-C05C5A04D79F}"/>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761BF9EE-DC8B-6C80-590A-1083ADE2AEC7}"/>
              </a:ext>
            </a:extLst>
          </p:cNvPr>
          <p:cNvSpPr>
            <a:spLocks noGrp="1"/>
          </p:cNvSpPr>
          <p:nvPr>
            <p:ph type="title"/>
          </p:nvPr>
        </p:nvSpPr>
        <p:spPr/>
        <p:txBody>
          <a:bodyPr/>
          <a:lstStyle/>
          <a:p>
            <a:pPr>
              <a:spcBef>
                <a:spcPts val="0"/>
              </a:spcBef>
              <a:buSzPct val="100000"/>
            </a:pPr>
            <a:r>
              <a:rPr lang="zh-CN" altLang="en-US" spc="60" dirty="0">
                <a:ln w="3175">
                  <a:noFill/>
                  <a:prstDash val="dash"/>
                </a:ln>
                <a:latin typeface="微软雅黑" panose="020B0503020204020204" charset="-122"/>
                <a:ea typeface="微软雅黑" panose="020B0503020204020204" charset="-122"/>
                <a:cs typeface="微软雅黑" panose="020B0503020204020204" charset="-122"/>
                <a:sym typeface="+mn-ea"/>
              </a:rPr>
              <a:t>理解神经网络</a:t>
            </a:r>
          </a:p>
        </p:txBody>
      </p:sp>
      <p:sp>
        <p:nvSpPr>
          <p:cNvPr id="7" name="文本框 6">
            <a:extLst>
              <a:ext uri="{FF2B5EF4-FFF2-40B4-BE49-F238E27FC236}">
                <a16:creationId xmlns:a16="http://schemas.microsoft.com/office/drawing/2014/main" id="{3E39704A-D61E-DEA1-1ADA-35EEFD843304}"/>
              </a:ext>
            </a:extLst>
          </p:cNvPr>
          <p:cNvSpPr txBox="1"/>
          <p:nvPr>
            <p:custDataLst>
              <p:tags r:id="rId1"/>
            </p:custDataLst>
          </p:nvPr>
        </p:nvSpPr>
        <p:spPr>
          <a:xfrm>
            <a:off x="393700" y="917059"/>
            <a:ext cx="6172200" cy="369332"/>
          </a:xfrm>
          <a:prstGeom prst="rect">
            <a:avLst/>
          </a:prstGeom>
          <a:noFill/>
        </p:spPr>
        <p:txBody>
          <a:bodyPr wrap="square">
            <a:spAutoFit/>
          </a:bodyPr>
          <a:lstStyle/>
          <a:p>
            <a:pPr marL="285750" indent="-285750">
              <a:buFont typeface="Arial" panose="020B0604020202020204" pitchFamily="34" charset="0"/>
              <a:buChar char="•"/>
            </a:pPr>
            <a:r>
              <a:rPr lang="zh-CN" altLang="en-US" b="1" dirty="0"/>
              <a:t>线性</a:t>
            </a:r>
            <a:r>
              <a:rPr lang="en-US" altLang="zh-CN" b="1" dirty="0"/>
              <a:t>-</a:t>
            </a:r>
            <a:r>
              <a:rPr lang="zh-CN" altLang="en-US" b="1" dirty="0">
                <a:solidFill>
                  <a:schemeClr val="bg2"/>
                </a:solidFill>
              </a:rPr>
              <a:t>非线性</a:t>
            </a:r>
            <a:r>
              <a:rPr lang="zh-CN" altLang="en-US" b="1" dirty="0"/>
              <a:t>变换</a:t>
            </a:r>
            <a:endParaRPr lang="zh-CN" altLang="en-US" dirty="0">
              <a:solidFill>
                <a:schemeClr val="tx2"/>
              </a:solidFill>
            </a:endParaRPr>
          </a:p>
        </p:txBody>
      </p:sp>
      <p:sp>
        <p:nvSpPr>
          <p:cNvPr id="8" name="文本框 7">
            <a:extLst>
              <a:ext uri="{FF2B5EF4-FFF2-40B4-BE49-F238E27FC236}">
                <a16:creationId xmlns:a16="http://schemas.microsoft.com/office/drawing/2014/main" id="{F8423A60-DC0D-FEE6-1367-719BCEC238CC}"/>
              </a:ext>
            </a:extLst>
          </p:cNvPr>
          <p:cNvSpPr txBox="1"/>
          <p:nvPr>
            <p:custDataLst>
              <p:tags r:id="rId2"/>
            </p:custDataLst>
          </p:nvPr>
        </p:nvSpPr>
        <p:spPr>
          <a:xfrm>
            <a:off x="469900" y="2796150"/>
            <a:ext cx="6172200" cy="369332"/>
          </a:xfrm>
          <a:prstGeom prst="rect">
            <a:avLst/>
          </a:prstGeom>
          <a:noFill/>
        </p:spPr>
        <p:txBody>
          <a:bodyPr wrap="square">
            <a:spAutoFit/>
          </a:bodyPr>
          <a:lstStyle/>
          <a:p>
            <a:pPr marL="285750" indent="-285750">
              <a:buFont typeface="Arial" panose="020B0604020202020204" pitchFamily="34" charset="0"/>
              <a:buChar char="•"/>
            </a:pPr>
            <a:r>
              <a:rPr lang="zh-CN" altLang="en-US" b="1" dirty="0"/>
              <a:t>投影到高维空间</a:t>
            </a:r>
            <a:r>
              <a:rPr lang="zh-CN" altLang="en-US" dirty="0"/>
              <a:t> </a:t>
            </a:r>
            <a:endParaRPr lang="zh-CN" altLang="en-US" dirty="0">
              <a:solidFill>
                <a:schemeClr val="tx2"/>
              </a:solidFill>
            </a:endParaRPr>
          </a:p>
        </p:txBody>
      </p:sp>
      <p:pic>
        <p:nvPicPr>
          <p:cNvPr id="16" name="图片 15">
            <a:extLst>
              <a:ext uri="{FF2B5EF4-FFF2-40B4-BE49-F238E27FC236}">
                <a16:creationId xmlns:a16="http://schemas.microsoft.com/office/drawing/2014/main" id="{11D00D91-DBDF-58D7-E8DE-BCFD08A9D1EC}"/>
              </a:ext>
            </a:extLst>
          </p:cNvPr>
          <p:cNvPicPr>
            <a:picLocks noChangeAspect="1"/>
          </p:cNvPicPr>
          <p:nvPr/>
        </p:nvPicPr>
        <p:blipFill>
          <a:blip r:embed="rId5"/>
          <a:srcRect t="34337" b="36908"/>
          <a:stretch>
            <a:fillRect/>
          </a:stretch>
        </p:blipFill>
        <p:spPr>
          <a:xfrm>
            <a:off x="3479800" y="1086490"/>
            <a:ext cx="5851398" cy="399802"/>
          </a:xfrm>
          <a:prstGeom prst="rect">
            <a:avLst/>
          </a:prstGeom>
        </p:spPr>
      </p:pic>
      <p:cxnSp>
        <p:nvCxnSpPr>
          <p:cNvPr id="4" name="直接连接符 3">
            <a:extLst>
              <a:ext uri="{FF2B5EF4-FFF2-40B4-BE49-F238E27FC236}">
                <a16:creationId xmlns:a16="http://schemas.microsoft.com/office/drawing/2014/main" id="{EAC1BC13-209E-5F64-5C75-225F64055A0A}"/>
              </a:ext>
            </a:extLst>
          </p:cNvPr>
          <p:cNvCxnSpPr/>
          <p:nvPr/>
        </p:nvCxnSpPr>
        <p:spPr>
          <a:xfrm>
            <a:off x="5062847" y="1456704"/>
            <a:ext cx="2268187"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6" name="直接连接符 5">
            <a:extLst>
              <a:ext uri="{FF2B5EF4-FFF2-40B4-BE49-F238E27FC236}">
                <a16:creationId xmlns:a16="http://schemas.microsoft.com/office/drawing/2014/main" id="{0C6FB2DB-E8F8-8769-9BFC-CC87620220DC}"/>
              </a:ext>
            </a:extLst>
          </p:cNvPr>
          <p:cNvCxnSpPr>
            <a:cxnSpLocks/>
          </p:cNvCxnSpPr>
          <p:nvPr/>
        </p:nvCxnSpPr>
        <p:spPr>
          <a:xfrm>
            <a:off x="4476997" y="1535873"/>
            <a:ext cx="3024250" cy="0"/>
          </a:xfrm>
          <a:prstGeom prst="line">
            <a:avLst/>
          </a:prstGeom>
          <a:ln w="38100">
            <a:solidFill>
              <a:schemeClr val="bg2"/>
            </a:solidFill>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13B93A79-356E-8B90-D80B-FEC2C7041037}"/>
              </a:ext>
            </a:extLst>
          </p:cNvPr>
          <p:cNvSpPr txBox="1"/>
          <p:nvPr/>
        </p:nvSpPr>
        <p:spPr>
          <a:xfrm>
            <a:off x="1147948" y="1640565"/>
            <a:ext cx="6096000" cy="923330"/>
          </a:xfrm>
          <a:prstGeom prst="rect">
            <a:avLst/>
          </a:prstGeom>
          <a:noFill/>
        </p:spPr>
        <p:txBody>
          <a:bodyPr wrap="square">
            <a:spAutoFit/>
          </a:bodyPr>
          <a:lstStyle/>
          <a:p>
            <a:r>
              <a:rPr lang="zh-CN" altLang="en-US" sz="1800" b="0" i="0" dirty="0">
                <a:solidFill>
                  <a:srgbClr val="000000"/>
                </a:solidFill>
                <a:effectLst/>
                <a:latin typeface="FandolSong-Regular-Identity-H"/>
              </a:rPr>
              <a:t>线性函数满足不了实际当中大量非线性的问题</a:t>
            </a:r>
            <a:endParaRPr lang="en-US" altLang="zh-CN" sz="1800" b="0" i="0" dirty="0">
              <a:solidFill>
                <a:srgbClr val="000000"/>
              </a:solidFill>
              <a:effectLst/>
              <a:latin typeface="FandolSong-Regular-Identity-H"/>
            </a:endParaRPr>
          </a:p>
          <a:p>
            <a:r>
              <a:rPr lang="zh-CN" altLang="en-US" dirty="0"/>
              <a:t>套上一个非线性激活函数</a:t>
            </a:r>
            <a:endParaRPr lang="en-US" altLang="zh-CN" dirty="0"/>
          </a:p>
          <a:p>
            <a:r>
              <a:rPr lang="zh-CN" altLang="en-US" dirty="0"/>
              <a:t>只套一个不够，套多次</a:t>
            </a:r>
          </a:p>
        </p:txBody>
      </p:sp>
      <p:pic>
        <p:nvPicPr>
          <p:cNvPr id="15" name="图片 14">
            <a:extLst>
              <a:ext uri="{FF2B5EF4-FFF2-40B4-BE49-F238E27FC236}">
                <a16:creationId xmlns:a16="http://schemas.microsoft.com/office/drawing/2014/main" id="{B6BB4F42-60C7-2723-3D47-A9E5F53F6CA8}"/>
              </a:ext>
            </a:extLst>
          </p:cNvPr>
          <p:cNvPicPr>
            <a:picLocks noChangeAspect="1"/>
          </p:cNvPicPr>
          <p:nvPr/>
        </p:nvPicPr>
        <p:blipFill>
          <a:blip r:embed="rId6"/>
          <a:stretch>
            <a:fillRect/>
          </a:stretch>
        </p:blipFill>
        <p:spPr>
          <a:xfrm>
            <a:off x="3589504" y="2796150"/>
            <a:ext cx="4799236" cy="1958309"/>
          </a:xfrm>
          <a:prstGeom prst="rect">
            <a:avLst/>
          </a:prstGeom>
        </p:spPr>
      </p:pic>
      <p:sp>
        <p:nvSpPr>
          <p:cNvPr id="17" name="文本框 16">
            <a:extLst>
              <a:ext uri="{FF2B5EF4-FFF2-40B4-BE49-F238E27FC236}">
                <a16:creationId xmlns:a16="http://schemas.microsoft.com/office/drawing/2014/main" id="{5C928A1B-4AC2-EF31-4893-C8BAEB4B1E48}"/>
              </a:ext>
            </a:extLst>
          </p:cNvPr>
          <p:cNvSpPr txBox="1"/>
          <p:nvPr>
            <p:custDataLst>
              <p:tags r:id="rId3"/>
            </p:custDataLst>
          </p:nvPr>
        </p:nvSpPr>
        <p:spPr>
          <a:xfrm>
            <a:off x="469900" y="4802048"/>
            <a:ext cx="6172200" cy="369332"/>
          </a:xfrm>
          <a:prstGeom prst="rect">
            <a:avLst/>
          </a:prstGeom>
          <a:noFill/>
        </p:spPr>
        <p:txBody>
          <a:bodyPr wrap="square">
            <a:spAutoFit/>
          </a:bodyPr>
          <a:lstStyle/>
          <a:p>
            <a:pPr marL="285750" indent="-285750">
              <a:buFont typeface="Arial" panose="020B0604020202020204" pitchFamily="34" charset="0"/>
              <a:buChar char="•"/>
            </a:pPr>
            <a:r>
              <a:rPr lang="zh-CN" altLang="en-US" b="1" dirty="0"/>
              <a:t>函数空间的 </a:t>
            </a:r>
            <a:r>
              <a:rPr lang="en-US" altLang="zh-CN" b="1" dirty="0"/>
              <a:t>Monte-Carlo </a:t>
            </a:r>
            <a:r>
              <a:rPr lang="zh-CN" altLang="en-US" b="1" dirty="0"/>
              <a:t>采样（没有维数灾难）</a:t>
            </a:r>
            <a:r>
              <a:rPr lang="zh-CN" altLang="en-US" dirty="0"/>
              <a:t> </a:t>
            </a:r>
            <a:endParaRPr lang="zh-CN" altLang="en-US" dirty="0">
              <a:solidFill>
                <a:schemeClr val="tx2"/>
              </a:solidFill>
            </a:endParaRPr>
          </a:p>
        </p:txBody>
      </p:sp>
      <mc:AlternateContent xmlns:mc="http://schemas.openxmlformats.org/markup-compatibility/2006" xmlns:a14="http://schemas.microsoft.com/office/drawing/2010/main">
        <mc:Choice Requires="a14">
          <p:sp>
            <p:nvSpPr>
              <p:cNvPr id="18" name="文本框 17">
                <a:extLst>
                  <a:ext uri="{FF2B5EF4-FFF2-40B4-BE49-F238E27FC236}">
                    <a16:creationId xmlns:a16="http://schemas.microsoft.com/office/drawing/2014/main" id="{F4804C46-DB1F-9C51-574C-8CFEB7AEC7DE}"/>
                  </a:ext>
                </a:extLst>
              </p:cNvPr>
              <p:cNvSpPr txBox="1"/>
              <p:nvPr/>
            </p:nvSpPr>
            <p:spPr>
              <a:xfrm>
                <a:off x="3776353" y="5003366"/>
                <a:ext cx="6096000" cy="79585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𝑓</m:t>
                          </m:r>
                        </m:e>
                        <m:sub>
                          <m:r>
                            <a:rPr lang="en-US" altLang="zh-CN" b="0" i="1" smtClean="0">
                              <a:latin typeface="Cambria Math" panose="02040503050406030204" pitchFamily="18" charset="0"/>
                            </a:rPr>
                            <m:t>𝜃</m:t>
                          </m:r>
                        </m:sub>
                      </m:sSub>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𝑥</m:t>
                          </m:r>
                        </m:e>
                      </m:d>
                      <m:r>
                        <a:rPr lang="en-US" altLang="zh-CN" b="0" i="1" smtClean="0">
                          <a:latin typeface="Cambria Math" panose="02040503050406030204" pitchFamily="18" charset="0"/>
                        </a:rPr>
                        <m:t>=</m:t>
                      </m:r>
                      <m:f>
                        <m:fPr>
                          <m:ctrlPr>
                            <a:rPr lang="en-US" altLang="zh-CN" b="0" i="1" smtClean="0">
                              <a:solidFill>
                                <a:schemeClr val="bg2"/>
                              </a:solidFill>
                              <a:latin typeface="Cambria Math" panose="02040503050406030204" pitchFamily="18" charset="0"/>
                            </a:rPr>
                          </m:ctrlPr>
                        </m:fPr>
                        <m:num>
                          <m:r>
                            <a:rPr lang="en-US" altLang="zh-CN" b="0" i="1" smtClean="0">
                              <a:solidFill>
                                <a:schemeClr val="bg2"/>
                              </a:solidFill>
                              <a:latin typeface="Cambria Math" panose="02040503050406030204" pitchFamily="18" charset="0"/>
                            </a:rPr>
                            <m:t>1</m:t>
                          </m:r>
                        </m:num>
                        <m:den>
                          <m:r>
                            <a:rPr lang="en-US" altLang="zh-CN" b="0" i="1" smtClean="0">
                              <a:solidFill>
                                <a:schemeClr val="bg2"/>
                              </a:solidFill>
                              <a:latin typeface="Cambria Math" panose="02040503050406030204" pitchFamily="18" charset="0"/>
                            </a:rPr>
                            <m:t>𝑚</m:t>
                          </m:r>
                        </m:den>
                      </m:f>
                      <m:nary>
                        <m:naryPr>
                          <m:chr m:val="∑"/>
                          <m:supHide m:val="on"/>
                          <m:ctrlPr>
                            <a:rPr lang="en-US" altLang="zh-CN" b="0" i="1" smtClean="0">
                              <a:latin typeface="Cambria Math" panose="02040503050406030204" pitchFamily="18" charset="0"/>
                            </a:rPr>
                          </m:ctrlPr>
                        </m:naryPr>
                        <m:sub>
                          <m:r>
                            <a:rPr lang="en-US" altLang="zh-CN" b="0" i="1" smtClean="0">
                              <a:latin typeface="Cambria Math" panose="02040503050406030204" pitchFamily="18" charset="0"/>
                            </a:rPr>
                            <m:t>𝑗</m:t>
                          </m:r>
                        </m:sub>
                        <m:sup/>
                        <m:e>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𝑎</m:t>
                              </m:r>
                            </m:e>
                            <m:sub>
                              <m:r>
                                <a:rPr lang="en-US" altLang="zh-CN" b="0" i="1" smtClean="0">
                                  <a:latin typeface="Cambria Math" panose="02040503050406030204" pitchFamily="18" charset="0"/>
                                </a:rPr>
                                <m:t>𝑗</m:t>
                              </m:r>
                            </m:sub>
                          </m:sSub>
                          <m:r>
                            <a:rPr lang="en-US" altLang="zh-CN" b="0" i="1" smtClean="0">
                              <a:latin typeface="Cambria Math" panose="02040503050406030204" pitchFamily="18" charset="0"/>
                            </a:rPr>
                            <m:t>𝜎</m:t>
                          </m:r>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𝑤</m:t>
                              </m:r>
                            </m:e>
                            <m:sub>
                              <m:r>
                                <a:rPr lang="en-US" altLang="zh-CN" b="0" i="1" smtClean="0">
                                  <a:latin typeface="Cambria Math" panose="02040503050406030204" pitchFamily="18" charset="0"/>
                                </a:rPr>
                                <m:t>𝑗</m:t>
                              </m:r>
                            </m:sub>
                          </m:sSub>
                          <m:r>
                            <a:rPr lang="en-US" altLang="zh-CN" b="0" i="1" smtClean="0">
                              <a:latin typeface="Cambria Math" panose="02040503050406030204" pitchFamily="18" charset="0"/>
                            </a:rPr>
                            <m:t>𝑥</m:t>
                          </m:r>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𝑏</m:t>
                              </m:r>
                            </m:e>
                            <m:sub>
                              <m:r>
                                <a:rPr lang="en-US" altLang="zh-CN" b="0" i="1" smtClean="0">
                                  <a:latin typeface="Cambria Math" panose="02040503050406030204" pitchFamily="18" charset="0"/>
                                </a:rPr>
                                <m:t>𝑗</m:t>
                              </m:r>
                            </m:sub>
                          </m:sSub>
                          <m:r>
                            <a:rPr lang="en-US" altLang="zh-CN" b="0" i="1" smtClean="0">
                              <a:latin typeface="Cambria Math" panose="02040503050406030204" pitchFamily="18" charset="0"/>
                            </a:rPr>
                            <m:t>)</m:t>
                          </m:r>
                        </m:e>
                      </m:nary>
                    </m:oMath>
                  </m:oMathPara>
                </a14:m>
                <a:endParaRPr lang="zh-CN" altLang="en-US" dirty="0"/>
              </a:p>
            </p:txBody>
          </p:sp>
        </mc:Choice>
        <mc:Fallback xmlns="">
          <p:sp>
            <p:nvSpPr>
              <p:cNvPr id="18" name="文本框 17">
                <a:extLst>
                  <a:ext uri="{FF2B5EF4-FFF2-40B4-BE49-F238E27FC236}">
                    <a16:creationId xmlns:a16="http://schemas.microsoft.com/office/drawing/2014/main" id="{F4804C46-DB1F-9C51-574C-8CFEB7AEC7DE}"/>
                  </a:ext>
                </a:extLst>
              </p:cNvPr>
              <p:cNvSpPr txBox="1">
                <a:spLocks noRot="1" noChangeAspect="1" noMove="1" noResize="1" noEditPoints="1" noAdjustHandles="1" noChangeArrowheads="1" noChangeShapeType="1" noTextEdit="1"/>
              </p:cNvSpPr>
              <p:nvPr/>
            </p:nvSpPr>
            <p:spPr>
              <a:xfrm>
                <a:off x="3776353" y="5003366"/>
                <a:ext cx="6096000" cy="795859"/>
              </a:xfrm>
              <a:prstGeom prst="rect">
                <a:avLst/>
              </a:prstGeom>
              <a:blipFill>
                <a:blip r:embed="rId7"/>
                <a:stretch>
                  <a:fillRect/>
                </a:stretch>
              </a:blipFill>
            </p:spPr>
            <p:txBody>
              <a:bodyPr/>
              <a:lstStyle/>
              <a:p>
                <a:r>
                  <a:rPr lang="zh-CN" altLang="en-US">
                    <a:noFill/>
                  </a:rPr>
                  <a:t> </a:t>
                </a:r>
              </a:p>
            </p:txBody>
          </p:sp>
        </mc:Fallback>
      </mc:AlternateContent>
      <p:sp>
        <p:nvSpPr>
          <p:cNvPr id="20" name="文本框 19">
            <a:extLst>
              <a:ext uri="{FF2B5EF4-FFF2-40B4-BE49-F238E27FC236}">
                <a16:creationId xmlns:a16="http://schemas.microsoft.com/office/drawing/2014/main" id="{67838B9A-1BA5-2BC7-575C-4D1089E49A11}"/>
              </a:ext>
            </a:extLst>
          </p:cNvPr>
          <p:cNvSpPr txBox="1"/>
          <p:nvPr/>
        </p:nvSpPr>
        <p:spPr>
          <a:xfrm>
            <a:off x="4453247" y="5799225"/>
            <a:ext cx="6096000" cy="369332"/>
          </a:xfrm>
          <a:prstGeom prst="rect">
            <a:avLst/>
          </a:prstGeom>
          <a:noFill/>
        </p:spPr>
        <p:txBody>
          <a:bodyPr wrap="square">
            <a:spAutoFit/>
          </a:bodyPr>
          <a:lstStyle/>
          <a:p>
            <a:r>
              <a:rPr lang="zh-CN" altLang="en-US" sz="1800" b="0" i="0" dirty="0">
                <a:solidFill>
                  <a:srgbClr val="000000"/>
                </a:solidFill>
                <a:effectLst/>
                <a:latin typeface="FandolSong-Regular-Identity-H"/>
              </a:rPr>
              <a:t>这个形式类似于对 </a:t>
            </a:r>
            <a:r>
              <a:rPr lang="en-US" altLang="zh-CN" sz="1800" b="0" i="1" dirty="0">
                <a:solidFill>
                  <a:srgbClr val="000000"/>
                </a:solidFill>
                <a:effectLst/>
                <a:latin typeface="CMMI10"/>
              </a:rPr>
              <a:t>m </a:t>
            </a:r>
            <a:r>
              <a:rPr lang="zh-CN" altLang="en-US" sz="1800" b="0" i="0" dirty="0">
                <a:solidFill>
                  <a:srgbClr val="000000"/>
                </a:solidFill>
                <a:effectLst/>
                <a:latin typeface="FandolSong-Regular-Identity-H"/>
              </a:rPr>
              <a:t>个函数做加权平均</a:t>
            </a:r>
            <a:r>
              <a:rPr lang="zh-CN" altLang="en-US" dirty="0"/>
              <a:t> </a:t>
            </a:r>
          </a:p>
        </p:txBody>
      </p:sp>
      <p:pic>
        <p:nvPicPr>
          <p:cNvPr id="2" name="图片 1">
            <a:extLst>
              <a:ext uri="{FF2B5EF4-FFF2-40B4-BE49-F238E27FC236}">
                <a16:creationId xmlns:a16="http://schemas.microsoft.com/office/drawing/2014/main" id="{38319728-FFE5-FDE7-B0FA-2E3F7FEBA64A}"/>
              </a:ext>
            </a:extLst>
          </p:cNvPr>
          <p:cNvPicPr>
            <a:picLocks noChangeAspect="1"/>
          </p:cNvPicPr>
          <p:nvPr/>
        </p:nvPicPr>
        <p:blipFill>
          <a:blip r:embed="rId8"/>
          <a:stretch>
            <a:fillRect/>
          </a:stretch>
        </p:blipFill>
        <p:spPr>
          <a:xfrm>
            <a:off x="553708" y="3213072"/>
            <a:ext cx="2924879" cy="670772"/>
          </a:xfrm>
          <a:prstGeom prst="rect">
            <a:avLst/>
          </a:prstGeom>
        </p:spPr>
      </p:pic>
      <mc:AlternateContent xmlns:mc="http://schemas.openxmlformats.org/markup-compatibility/2006" xmlns:a14="http://schemas.microsoft.com/office/drawing/2010/main">
        <mc:Choice Requires="a14">
          <p:sp>
            <p:nvSpPr>
              <p:cNvPr id="5" name="文本框 4">
                <a:extLst>
                  <a:ext uri="{FF2B5EF4-FFF2-40B4-BE49-F238E27FC236}">
                    <a16:creationId xmlns:a16="http://schemas.microsoft.com/office/drawing/2014/main" id="{D9B0C126-08AF-F9A5-C424-EF0CA45D751D}"/>
                  </a:ext>
                </a:extLst>
              </p:cNvPr>
              <p:cNvSpPr txBox="1"/>
              <p:nvPr/>
            </p:nvSpPr>
            <p:spPr>
              <a:xfrm>
                <a:off x="469900" y="3746729"/>
                <a:ext cx="2179379" cy="1114216"/>
              </a:xfrm>
              <a:prstGeom prst="rect">
                <a:avLst/>
              </a:prstGeom>
              <a:noFill/>
            </p:spPr>
            <p:txBody>
              <a:bodyPr wrap="none" lIns="0" tIns="0" rIns="0" bIns="0" rtlCol="0">
                <a:spAutoFit/>
              </a:bodyPr>
              <a:lstStyle/>
              <a:p>
                <a:pPr algn="l"/>
                <a:r>
                  <a:rPr kumimoji="1" lang="zh-CN" altLang="en-US" sz="2000" dirty="0"/>
                  <a:t>令</a:t>
                </a:r>
                <a:r>
                  <a:rPr kumimoji="1" lang="en-US" altLang="zh-CN" sz="2000" dirty="0"/>
                  <a:t> </a:t>
                </a:r>
                <a14:m>
                  <m:oMath xmlns:m="http://schemas.openxmlformats.org/officeDocument/2006/math">
                    <m:sSub>
                      <m:sSubPr>
                        <m:ctrlPr>
                          <a:rPr kumimoji="1" lang="en-US" altLang="zh-CN" sz="2000" b="0" i="1" smtClean="0">
                            <a:latin typeface="Cambria Math" panose="02040503050406030204" pitchFamily="18" charset="0"/>
                          </a:rPr>
                        </m:ctrlPr>
                      </m:sSubPr>
                      <m:e>
                        <m:r>
                          <a:rPr kumimoji="1" lang="en-US" altLang="zh-CN" sz="2000" b="0" i="1" smtClean="0">
                            <a:latin typeface="Cambria Math" panose="02040503050406030204" pitchFamily="18" charset="0"/>
                          </a:rPr>
                          <m:t>𝑢</m:t>
                        </m:r>
                      </m:e>
                      <m:sub>
                        <m:r>
                          <a:rPr kumimoji="1" lang="en-US" altLang="zh-CN" sz="2000" b="0" i="1" smtClean="0">
                            <a:latin typeface="Cambria Math" panose="02040503050406030204" pitchFamily="18" charset="0"/>
                          </a:rPr>
                          <m:t>𝑗</m:t>
                        </m:r>
                      </m:sub>
                    </m:sSub>
                    <m:r>
                      <a:rPr kumimoji="1" lang="en-US" altLang="zh-CN" sz="2000" b="0" i="1" smtClean="0">
                        <a:latin typeface="Cambria Math" panose="02040503050406030204" pitchFamily="18" charset="0"/>
                      </a:rPr>
                      <m:t>=</m:t>
                    </m:r>
                    <m:r>
                      <a:rPr kumimoji="1" lang="en-US" altLang="zh-CN" sz="2000" b="0" i="1" smtClean="0">
                        <a:latin typeface="Cambria Math" panose="02040503050406030204" pitchFamily="18" charset="0"/>
                      </a:rPr>
                      <m:t>𝜎</m:t>
                    </m:r>
                    <m:r>
                      <a:rPr kumimoji="1" lang="en-US" altLang="zh-CN" sz="2000" b="0" i="1" smtClean="0">
                        <a:latin typeface="Cambria Math" panose="02040503050406030204" pitchFamily="18" charset="0"/>
                      </a:rPr>
                      <m:t>(</m:t>
                    </m:r>
                    <m:sSub>
                      <m:sSubPr>
                        <m:ctrlPr>
                          <a:rPr kumimoji="1" lang="en-US" altLang="zh-CN" sz="2000" b="0" i="1" smtClean="0">
                            <a:latin typeface="Cambria Math" panose="02040503050406030204" pitchFamily="18" charset="0"/>
                          </a:rPr>
                        </m:ctrlPr>
                      </m:sSubPr>
                      <m:e>
                        <m:r>
                          <a:rPr kumimoji="1" lang="en-US" altLang="zh-CN" sz="2000" b="0" i="1" smtClean="0">
                            <a:latin typeface="Cambria Math" panose="02040503050406030204" pitchFamily="18" charset="0"/>
                          </a:rPr>
                          <m:t>𝑤</m:t>
                        </m:r>
                      </m:e>
                      <m:sub>
                        <m:r>
                          <a:rPr kumimoji="1" lang="en-US" altLang="zh-CN" sz="2000" b="0" i="1" smtClean="0">
                            <a:latin typeface="Cambria Math" panose="02040503050406030204" pitchFamily="18" charset="0"/>
                          </a:rPr>
                          <m:t>𝑗</m:t>
                        </m:r>
                      </m:sub>
                    </m:sSub>
                    <m:r>
                      <a:rPr kumimoji="1" lang="en-US" altLang="zh-CN" sz="2000" b="0" i="1" smtClean="0">
                        <a:latin typeface="Cambria Math" panose="02040503050406030204" pitchFamily="18" charset="0"/>
                      </a:rPr>
                      <m:t>𝑥</m:t>
                    </m:r>
                    <m:r>
                      <a:rPr kumimoji="1" lang="en-US" altLang="zh-CN" sz="2000" b="0" i="1" smtClean="0">
                        <a:latin typeface="Cambria Math" panose="02040503050406030204" pitchFamily="18" charset="0"/>
                      </a:rPr>
                      <m:t>+</m:t>
                    </m:r>
                    <m:sSub>
                      <m:sSubPr>
                        <m:ctrlPr>
                          <a:rPr kumimoji="1" lang="en-US" altLang="zh-CN" sz="2000" b="0" i="1" smtClean="0">
                            <a:latin typeface="Cambria Math" panose="02040503050406030204" pitchFamily="18" charset="0"/>
                          </a:rPr>
                        </m:ctrlPr>
                      </m:sSubPr>
                      <m:e>
                        <m:r>
                          <a:rPr kumimoji="1" lang="en-US" altLang="zh-CN" sz="2000" b="0" i="1" smtClean="0">
                            <a:latin typeface="Cambria Math" panose="02040503050406030204" pitchFamily="18" charset="0"/>
                          </a:rPr>
                          <m:t>𝑏</m:t>
                        </m:r>
                      </m:e>
                      <m:sub>
                        <m:r>
                          <a:rPr kumimoji="1" lang="en-US" altLang="zh-CN" sz="2000" b="0" i="1" smtClean="0">
                            <a:latin typeface="Cambria Math" panose="02040503050406030204" pitchFamily="18" charset="0"/>
                          </a:rPr>
                          <m:t>𝑗</m:t>
                        </m:r>
                      </m:sub>
                    </m:sSub>
                    <m:r>
                      <a:rPr kumimoji="1" lang="en-US" altLang="zh-CN" sz="2000" b="0" i="1" smtClean="0">
                        <a:latin typeface="Cambria Math" panose="02040503050406030204" pitchFamily="18" charset="0"/>
                      </a:rPr>
                      <m:t>)</m:t>
                    </m:r>
                  </m:oMath>
                </a14:m>
                <a:endParaRPr kumimoji="1" lang="en-US" altLang="zh-CN" sz="2000" dirty="0"/>
              </a:p>
              <a:p>
                <a:pPr algn="l"/>
                <a14:m>
                  <m:oMathPara xmlns:m="http://schemas.openxmlformats.org/officeDocument/2006/math">
                    <m:oMathParaPr>
                      <m:jc m:val="centerGroup"/>
                    </m:oMathParaPr>
                    <m:oMath xmlns:m="http://schemas.openxmlformats.org/officeDocument/2006/math">
                      <m:sSub>
                        <m:sSubPr>
                          <m:ctrlPr>
                            <a:rPr kumimoji="1" lang="en-US" altLang="zh-CN" sz="2000" b="0" i="1" smtClean="0">
                              <a:latin typeface="Cambria Math" panose="02040503050406030204" pitchFamily="18" charset="0"/>
                            </a:rPr>
                          </m:ctrlPr>
                        </m:sSubPr>
                        <m:e>
                          <m:r>
                            <a:rPr kumimoji="1" lang="en-US" altLang="zh-CN" sz="2000" b="0" i="1" smtClean="0">
                              <a:latin typeface="Cambria Math" panose="02040503050406030204" pitchFamily="18" charset="0"/>
                            </a:rPr>
                            <m:t>𝑓</m:t>
                          </m:r>
                        </m:e>
                        <m:sub>
                          <m:r>
                            <a:rPr kumimoji="1" lang="en-US" altLang="zh-CN" sz="2000" b="0" i="1" smtClean="0">
                              <a:latin typeface="Cambria Math" panose="02040503050406030204" pitchFamily="18" charset="0"/>
                            </a:rPr>
                            <m:t>𝜃</m:t>
                          </m:r>
                        </m:sub>
                      </m:sSub>
                      <m:d>
                        <m:dPr>
                          <m:ctrlPr>
                            <a:rPr kumimoji="1" lang="en-US" altLang="zh-CN" sz="2000" b="0" i="1" smtClean="0">
                              <a:latin typeface="Cambria Math" panose="02040503050406030204" pitchFamily="18" charset="0"/>
                            </a:rPr>
                          </m:ctrlPr>
                        </m:dPr>
                        <m:e>
                          <m:r>
                            <a:rPr kumimoji="1" lang="en-US" altLang="zh-CN" sz="2000" b="0" i="1" smtClean="0">
                              <a:latin typeface="Cambria Math" panose="02040503050406030204" pitchFamily="18" charset="0"/>
                            </a:rPr>
                            <m:t>𝑥</m:t>
                          </m:r>
                        </m:e>
                      </m:d>
                      <m:r>
                        <a:rPr kumimoji="1" lang="en-US" altLang="zh-CN" sz="2000" b="0" i="1" smtClean="0">
                          <a:latin typeface="Cambria Math" panose="02040503050406030204" pitchFamily="18" charset="0"/>
                        </a:rPr>
                        <m:t>=</m:t>
                      </m:r>
                      <m:nary>
                        <m:naryPr>
                          <m:chr m:val="∑"/>
                          <m:supHide m:val="on"/>
                          <m:ctrlPr>
                            <a:rPr kumimoji="1" lang="en-US" altLang="zh-CN" sz="2000" b="0" i="1" smtClean="0">
                              <a:latin typeface="Cambria Math" panose="02040503050406030204" pitchFamily="18" charset="0"/>
                            </a:rPr>
                          </m:ctrlPr>
                        </m:naryPr>
                        <m:sub>
                          <m:r>
                            <a:rPr kumimoji="1" lang="en-US" altLang="zh-CN" sz="2000" b="0" i="1" smtClean="0">
                              <a:latin typeface="Cambria Math" panose="02040503050406030204" pitchFamily="18" charset="0"/>
                            </a:rPr>
                            <m:t>𝑗</m:t>
                          </m:r>
                        </m:sub>
                        <m:sup/>
                        <m:e>
                          <m:sSub>
                            <m:sSubPr>
                              <m:ctrlPr>
                                <a:rPr kumimoji="1" lang="en-US" altLang="zh-CN" sz="2000" b="0" i="1" smtClean="0">
                                  <a:latin typeface="Cambria Math" panose="02040503050406030204" pitchFamily="18" charset="0"/>
                                </a:rPr>
                              </m:ctrlPr>
                            </m:sSubPr>
                            <m:e>
                              <m:r>
                                <a:rPr kumimoji="1" lang="en-US" altLang="zh-CN" sz="2000" b="0" i="1" smtClean="0">
                                  <a:latin typeface="Cambria Math" panose="02040503050406030204" pitchFamily="18" charset="0"/>
                                </a:rPr>
                                <m:t>𝑎</m:t>
                              </m:r>
                            </m:e>
                            <m:sub>
                              <m:r>
                                <a:rPr kumimoji="1" lang="en-US" altLang="zh-CN" sz="2000" b="0" i="1" smtClean="0">
                                  <a:latin typeface="Cambria Math" panose="02040503050406030204" pitchFamily="18" charset="0"/>
                                </a:rPr>
                                <m:t>𝑗</m:t>
                              </m:r>
                            </m:sub>
                          </m:sSub>
                          <m:sSub>
                            <m:sSubPr>
                              <m:ctrlPr>
                                <a:rPr kumimoji="1" lang="en-US" altLang="zh-CN" sz="2000" b="0" i="1" smtClean="0">
                                  <a:latin typeface="Cambria Math" panose="02040503050406030204" pitchFamily="18" charset="0"/>
                                </a:rPr>
                              </m:ctrlPr>
                            </m:sSubPr>
                            <m:e>
                              <m:r>
                                <a:rPr kumimoji="1" lang="en-US" altLang="zh-CN" sz="2000" b="0" i="1" smtClean="0">
                                  <a:latin typeface="Cambria Math" panose="02040503050406030204" pitchFamily="18" charset="0"/>
                                </a:rPr>
                                <m:t>𝑢</m:t>
                              </m:r>
                            </m:e>
                            <m:sub>
                              <m:r>
                                <a:rPr kumimoji="1" lang="en-US" altLang="zh-CN" sz="2000" b="0" i="1" smtClean="0">
                                  <a:latin typeface="Cambria Math" panose="02040503050406030204" pitchFamily="18" charset="0"/>
                                </a:rPr>
                                <m:t>𝑗</m:t>
                              </m:r>
                            </m:sub>
                          </m:sSub>
                          <m:r>
                            <a:rPr kumimoji="1" lang="en-US" altLang="zh-CN" sz="2000" b="0" i="1" smtClean="0">
                              <a:latin typeface="Cambria Math" panose="02040503050406030204" pitchFamily="18" charset="0"/>
                            </a:rPr>
                            <m:t> </m:t>
                          </m:r>
                        </m:e>
                      </m:nary>
                    </m:oMath>
                  </m:oMathPara>
                </a14:m>
                <a:endParaRPr kumimoji="1" lang="zh-CN" altLang="en-US" sz="2000" dirty="0"/>
              </a:p>
            </p:txBody>
          </p:sp>
        </mc:Choice>
        <mc:Fallback xmlns="">
          <p:sp>
            <p:nvSpPr>
              <p:cNvPr id="5" name="文本框 4">
                <a:extLst>
                  <a:ext uri="{FF2B5EF4-FFF2-40B4-BE49-F238E27FC236}">
                    <a16:creationId xmlns:a16="http://schemas.microsoft.com/office/drawing/2014/main" id="{D9B0C126-08AF-F9A5-C424-EF0CA45D751D}"/>
                  </a:ext>
                </a:extLst>
              </p:cNvPr>
              <p:cNvSpPr txBox="1">
                <a:spLocks noRot="1" noChangeAspect="1" noMove="1" noResize="1" noEditPoints="1" noAdjustHandles="1" noChangeArrowheads="1" noChangeShapeType="1" noTextEdit="1"/>
              </p:cNvSpPr>
              <p:nvPr/>
            </p:nvSpPr>
            <p:spPr>
              <a:xfrm>
                <a:off x="469900" y="3746729"/>
                <a:ext cx="2179379" cy="1114216"/>
              </a:xfrm>
              <a:prstGeom prst="rect">
                <a:avLst/>
              </a:prstGeom>
              <a:blipFill>
                <a:blip r:embed="rId9"/>
                <a:stretch>
                  <a:fillRect l="-6936" t="-70455" r="-4624" b="-134091"/>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7897004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文本框 10"/>
          <p:cNvSpPr txBox="1"/>
          <p:nvPr>
            <p:custDataLst>
              <p:tags r:id="rId1"/>
            </p:custDataLst>
          </p:nvPr>
        </p:nvSpPr>
        <p:spPr>
          <a:xfrm>
            <a:off x="965162" y="61534"/>
            <a:ext cx="10972876" cy="614044"/>
          </a:xfrm>
          <a:prstGeom prst="rect">
            <a:avLst/>
          </a:prstGeom>
          <a:noFill/>
        </p:spPr>
        <p:txBody>
          <a:bodyPr wrap="square" lIns="63500" tIns="25400" rIns="63500" bIns="25400" rtlCol="0" anchor="t" anchorCtr="0">
            <a:normAutofit/>
          </a:bodyPr>
          <a:lstStyle/>
          <a:p>
            <a:pPr marL="0" indent="0" algn="l">
              <a:lnSpc>
                <a:spcPct val="100000"/>
              </a:lnSpc>
              <a:spcBef>
                <a:spcPts val="0"/>
              </a:spcBef>
              <a:spcAft>
                <a:spcPts val="0"/>
              </a:spcAft>
              <a:buSzPct val="100000"/>
              <a:buNone/>
            </a:pPr>
            <a:r>
              <a:rPr lang="zh-CN" altLang="en-US" sz="3200" spc="60" dirty="0">
                <a:ln w="3175">
                  <a:noFill/>
                  <a:prstDash val="dash"/>
                </a:ln>
                <a:solidFill>
                  <a:schemeClr val="bg1"/>
                </a:solidFill>
                <a:uFillTx/>
                <a:latin typeface="微软雅黑" panose="020B0503020204020204" charset="-122"/>
                <a:ea typeface="微软雅黑" panose="020B0503020204020204" charset="-122"/>
                <a:cs typeface="微软雅黑" panose="020B0503020204020204" charset="-122"/>
                <a:sym typeface="+mn-ea"/>
              </a:rPr>
              <a:t>多层神经网络：解</a:t>
            </a:r>
            <a:r>
              <a:rPr lang="en-US" altLang="zh-CN" sz="3200" spc="60" dirty="0">
                <a:ln w="3175">
                  <a:noFill/>
                  <a:prstDash val="dash"/>
                </a:ln>
                <a:solidFill>
                  <a:schemeClr val="bg1"/>
                </a:solidFill>
                <a:uFillTx/>
                <a:latin typeface="微软雅黑" panose="020B0503020204020204" charset="-122"/>
                <a:ea typeface="微软雅黑" panose="020B0503020204020204" charset="-122"/>
                <a:cs typeface="微软雅黑" panose="020B0503020204020204" charset="-122"/>
                <a:sym typeface="+mn-ea"/>
              </a:rPr>
              <a:t>XOR</a:t>
            </a:r>
            <a:r>
              <a:rPr lang="zh-CN" altLang="en-US" sz="3200" spc="60" dirty="0">
                <a:ln w="3175">
                  <a:noFill/>
                  <a:prstDash val="dash"/>
                </a:ln>
                <a:solidFill>
                  <a:schemeClr val="bg1"/>
                </a:solidFill>
                <a:uFillTx/>
                <a:latin typeface="微软雅黑" panose="020B0503020204020204" charset="-122"/>
                <a:ea typeface="微软雅黑" panose="020B0503020204020204" charset="-122"/>
                <a:cs typeface="微软雅黑" panose="020B0503020204020204" charset="-122"/>
                <a:sym typeface="+mn-ea"/>
              </a:rPr>
              <a:t>问题</a:t>
            </a:r>
          </a:p>
        </p:txBody>
      </p:sp>
      <p:pic>
        <p:nvPicPr>
          <p:cNvPr id="2" name="图片 1"/>
          <p:cNvPicPr>
            <a:picLocks noChangeAspect="1"/>
          </p:cNvPicPr>
          <p:nvPr>
            <p:custDataLst>
              <p:tags r:id="rId2"/>
            </p:custDataLst>
          </p:nvPr>
        </p:nvPicPr>
        <p:blipFill>
          <a:blip r:embed="rId6">
            <a:clrChange>
              <a:clrFrom>
                <a:srgbClr val="FFFFFF">
                  <a:alpha val="100000"/>
                </a:srgbClr>
              </a:clrFrom>
              <a:clrTo>
                <a:srgbClr val="FFFFFF">
                  <a:alpha val="100000"/>
                  <a:alpha val="0"/>
                </a:srgbClr>
              </a:clrTo>
            </a:clrChange>
            <a:extLst>
              <a:ext uri="{28A0092B-C50C-407E-A947-70E740481C1C}">
                <a14:useLocalDpi xmlns:a14="http://schemas.microsoft.com/office/drawing/2010/main" val="0"/>
              </a:ext>
            </a:extLst>
          </a:blip>
          <a:srcRect/>
          <a:stretch>
            <a:fillRect/>
          </a:stretch>
        </p:blipFill>
        <p:spPr>
          <a:xfrm>
            <a:off x="1211580" y="1028065"/>
            <a:ext cx="5387975" cy="3509010"/>
          </a:xfrm>
          <a:prstGeom prst="rect">
            <a:avLst/>
          </a:prstGeom>
        </p:spPr>
      </p:pic>
      <p:pic>
        <p:nvPicPr>
          <p:cNvPr id="3" name="图片 2"/>
          <p:cNvPicPr>
            <a:picLocks noChangeAspect="1"/>
          </p:cNvPicPr>
          <p:nvPr>
            <p:custDataLst>
              <p:tags r:id="rId3"/>
            </p:custDataLst>
          </p:nvPr>
        </p:nvPicPr>
        <p:blipFill>
          <a:blip r:embed="rId7">
            <a:clrChange>
              <a:clrFrom>
                <a:srgbClr val="FFFFFF">
                  <a:alpha val="100000"/>
                </a:srgbClr>
              </a:clrFrom>
              <a:clrTo>
                <a:srgbClr val="FFFFFF">
                  <a:alpha val="100000"/>
                  <a:alpha val="0"/>
                </a:srgbClr>
              </a:clrTo>
            </a:clrChange>
          </a:blip>
          <a:stretch>
            <a:fillRect/>
          </a:stretch>
        </p:blipFill>
        <p:spPr>
          <a:xfrm>
            <a:off x="99695" y="4791075"/>
            <a:ext cx="11993245" cy="979170"/>
          </a:xfrm>
          <a:prstGeom prst="rect">
            <a:avLst/>
          </a:prstGeom>
        </p:spPr>
      </p:pic>
      <mc:AlternateContent xmlns:mc="http://schemas.openxmlformats.org/markup-compatibility/2006" xmlns:a14="http://schemas.microsoft.com/office/drawing/2010/main">
        <mc:Choice Requires="a14">
          <p:sp>
            <p:nvSpPr>
              <p:cNvPr id="6" name="文本框 5"/>
              <p:cNvSpPr txBox="1"/>
              <p:nvPr>
                <p:custDataLst>
                  <p:tags r:id="rId4"/>
                </p:custDataLst>
              </p:nvPr>
            </p:nvSpPr>
            <p:spPr>
              <a:xfrm>
                <a:off x="6654165" y="1233170"/>
                <a:ext cx="4502785" cy="3099435"/>
              </a:xfrm>
              <a:prstGeom prst="rect">
                <a:avLst/>
              </a:prstGeom>
              <a:noFill/>
            </p:spPr>
            <p:txBody>
              <a:bodyPr wrap="square" rtlCol="0">
                <a:noAutofit/>
              </a:bodyPr>
              <a:lstStyle/>
              <a:p>
                <a:pPr marL="342900" indent="-342900" algn="l">
                  <a:lnSpc>
                    <a:spcPct val="200000"/>
                  </a:lnSpc>
                  <a:buFont typeface="Arial" panose="020B0604020202020204" pitchFamily="34" charset="0"/>
                  <a:buChar char="•"/>
                </a:pPr>
                <a:r>
                  <a:rPr lang="zh-CN" altLang="en-US" sz="2000" dirty="0">
                    <a:latin typeface="Cambria Math" panose="02040503050406030204" charset="0"/>
                  </a:rPr>
                  <a:t>假设，</a:t>
                </a:r>
                <a14:m>
                  <m:oMath xmlns:m="http://schemas.openxmlformats.org/officeDocument/2006/math">
                    <m:r>
                      <a:rPr lang="en-US" altLang="zh-CN" sz="2000" b="0" i="1" smtClean="0">
                        <a:latin typeface="Cambria Math" panose="02040503050406030204" charset="0"/>
                      </a:rPr>
                      <m:t>𝑦</m:t>
                    </m:r>
                    <m:r>
                      <a:rPr lang="en-US" altLang="zh-CN" sz="2000" b="0" i="1" smtClean="0">
                        <a:latin typeface="Cambria Math" panose="02040503050406030204" charset="0"/>
                      </a:rPr>
                      <m:t>=</m:t>
                    </m:r>
                    <m:r>
                      <a:rPr lang="en-US" altLang="zh-CN" sz="2000" b="0" i="1" smtClean="0">
                        <a:latin typeface="Cambria Math" panose="02040503050406030204" charset="0"/>
                      </a:rPr>
                      <m:t>𝜎</m:t>
                    </m:r>
                    <m:d>
                      <m:dPr>
                        <m:ctrlPr>
                          <a:rPr lang="en-US" altLang="zh-CN" sz="2000" b="0" i="1" smtClean="0">
                            <a:latin typeface="Cambria Math" panose="02040503050406030204" pitchFamily="18" charset="0"/>
                          </a:rPr>
                        </m:ctrlPr>
                      </m:dPr>
                      <m:e>
                        <m:f>
                          <m:fPr>
                            <m:ctrlPr>
                              <a:rPr lang="en-US" altLang="zh-CN" sz="2000" b="0" i="1" smtClean="0">
                                <a:latin typeface="Cambria Math" panose="02040503050406030204" pitchFamily="18" charset="0"/>
                              </a:rPr>
                            </m:ctrlPr>
                          </m:fPr>
                          <m:num>
                            <m:sSub>
                              <m:sSubPr>
                                <m:ctrlPr>
                                  <a:rPr lang="en-US" altLang="zh-CN" sz="2000" b="0" i="1" smtClean="0">
                                    <a:latin typeface="Cambria Math" panose="02040503050406030204" pitchFamily="18" charset="0"/>
                                  </a:rPr>
                                </m:ctrlPr>
                              </m:sSubPr>
                              <m:e>
                                <m:r>
                                  <a:rPr lang="en-US" altLang="zh-CN" sz="2000" b="0" i="1" smtClean="0">
                                    <a:latin typeface="Cambria Math" panose="02040503050406030204" charset="0"/>
                                  </a:rPr>
                                  <m:t>h</m:t>
                                </m:r>
                              </m:e>
                              <m:sub>
                                <m:r>
                                  <a:rPr lang="en-US" altLang="zh-CN" sz="2000" b="0" i="1" smtClean="0">
                                    <a:latin typeface="Cambria Math" panose="02040503050406030204" charset="0"/>
                                  </a:rPr>
                                  <m:t>1</m:t>
                                </m:r>
                              </m:sub>
                            </m:sSub>
                            <m:r>
                              <a:rPr lang="en-US" altLang="zh-CN" sz="2000" b="0" i="1" smtClean="0">
                                <a:latin typeface="Cambria Math" panose="02040503050406030204" charset="0"/>
                              </a:rPr>
                              <m:t>+</m:t>
                            </m:r>
                            <m:sSub>
                              <m:sSubPr>
                                <m:ctrlPr>
                                  <a:rPr lang="en-US" altLang="zh-CN" sz="2000" b="0" i="1" smtClean="0">
                                    <a:latin typeface="Cambria Math" panose="02040503050406030204" pitchFamily="18" charset="0"/>
                                  </a:rPr>
                                </m:ctrlPr>
                              </m:sSubPr>
                              <m:e>
                                <m:r>
                                  <a:rPr lang="en-US" altLang="zh-CN" sz="2000" b="0" i="1" smtClean="0">
                                    <a:latin typeface="Cambria Math" panose="02040503050406030204" charset="0"/>
                                  </a:rPr>
                                  <m:t>h</m:t>
                                </m:r>
                              </m:e>
                              <m:sub>
                                <m:r>
                                  <a:rPr lang="en-US" altLang="zh-CN" sz="2000" b="0" i="1" smtClean="0">
                                    <a:latin typeface="Cambria Math" panose="02040503050406030204" charset="0"/>
                                  </a:rPr>
                                  <m:t>2</m:t>
                                </m:r>
                              </m:sub>
                            </m:sSub>
                          </m:num>
                          <m:den>
                            <m:r>
                              <a:rPr lang="en-US" altLang="zh-CN" sz="2000" b="0" i="1" smtClean="0">
                                <a:latin typeface="Cambria Math" panose="02040503050406030204" charset="0"/>
                              </a:rPr>
                              <m:t>2</m:t>
                            </m:r>
                          </m:den>
                        </m:f>
                      </m:e>
                    </m:d>
                  </m:oMath>
                </a14:m>
                <a:endParaRPr lang="en-US" altLang="zh-CN" sz="2000" dirty="0"/>
              </a:p>
              <a:p>
                <a:pPr marL="342900" indent="-342900" algn="l">
                  <a:lnSpc>
                    <a:spcPct val="200000"/>
                  </a:lnSpc>
                  <a:buFont typeface="Arial" panose="020B0604020202020204" pitchFamily="34" charset="0"/>
                  <a:buChar char="•"/>
                </a:pPr>
                <a:r>
                  <a:rPr lang="zh-CN" altLang="en-US" sz="2000" dirty="0"/>
                  <a:t>代入</a:t>
                </a:r>
                <a:r>
                  <a:rPr lang="en-US" altLang="zh-CN" sz="2000" dirty="0"/>
                  <a:t>(0,0), (1,1)</a:t>
                </a:r>
                <a:r>
                  <a:rPr lang="zh-CN" altLang="en-US" sz="2000" dirty="0"/>
                  <a:t>，则</a:t>
                </a:r>
                <a14:m>
                  <m:oMath xmlns:m="http://schemas.openxmlformats.org/officeDocument/2006/math">
                    <m:r>
                      <a:rPr lang="en-US" altLang="zh-CN" sz="2000" b="0" i="1" smtClean="0">
                        <a:latin typeface="Cambria Math" panose="02040503050406030204" charset="0"/>
                      </a:rPr>
                      <m:t>𝑦</m:t>
                    </m:r>
                    <m:r>
                      <a:rPr lang="en-US" altLang="zh-CN" sz="2000" b="0" i="1" smtClean="0">
                        <a:latin typeface="Cambria Math" panose="02040503050406030204" charset="0"/>
                      </a:rPr>
                      <m:t>=</m:t>
                    </m:r>
                    <m:r>
                      <a:rPr lang="en-US" altLang="zh-CN" sz="2000" b="0" i="1" smtClean="0">
                        <a:latin typeface="Cambria Math" panose="02040503050406030204" charset="0"/>
                      </a:rPr>
                      <m:t>𝜎</m:t>
                    </m:r>
                    <m:d>
                      <m:dPr>
                        <m:ctrlPr>
                          <a:rPr lang="en-US" altLang="zh-CN" sz="2000" b="0" i="1" smtClean="0">
                            <a:latin typeface="Cambria Math" panose="02040503050406030204" pitchFamily="18" charset="0"/>
                          </a:rPr>
                        </m:ctrlPr>
                      </m:dPr>
                      <m:e>
                        <m:f>
                          <m:fPr>
                            <m:ctrlPr>
                              <a:rPr lang="en-US" altLang="zh-CN" sz="2000" b="0" i="1" smtClean="0">
                                <a:latin typeface="Cambria Math" panose="02040503050406030204" pitchFamily="18" charset="0"/>
                              </a:rPr>
                            </m:ctrlPr>
                          </m:fPr>
                          <m:num>
                            <m:r>
                              <a:rPr lang="en-US" altLang="zh-CN" sz="2000" b="0" i="1" smtClean="0">
                                <a:latin typeface="Cambria Math" panose="02040503050406030204" pitchFamily="18" charset="0"/>
                              </a:rPr>
                              <m:t>1+1</m:t>
                            </m:r>
                          </m:num>
                          <m:den>
                            <m:r>
                              <a:rPr lang="en-US" altLang="zh-CN" sz="2000" b="0" i="1" smtClean="0">
                                <a:latin typeface="Cambria Math" panose="02040503050406030204" pitchFamily="18" charset="0"/>
                              </a:rPr>
                              <m:t>2</m:t>
                            </m:r>
                          </m:den>
                        </m:f>
                      </m:e>
                    </m:d>
                    <m:r>
                      <a:rPr lang="en-US" altLang="zh-CN" sz="2000" b="0" i="1" smtClean="0">
                        <a:latin typeface="Cambria Math" panose="02040503050406030204" charset="0"/>
                      </a:rPr>
                      <m:t>=1</m:t>
                    </m:r>
                  </m:oMath>
                </a14:m>
                <a:r>
                  <a:rPr lang="zh-CN" altLang="en-US" sz="2000" dirty="0">
                    <a:latin typeface="Cambria Math" panose="02040503050406030204" charset="0"/>
                  </a:rPr>
                  <a:t>。</a:t>
                </a:r>
                <a:endParaRPr lang="en-US" altLang="zh-CN" sz="2000" dirty="0"/>
              </a:p>
              <a:p>
                <a:pPr marL="342900" indent="-342900" algn="l">
                  <a:lnSpc>
                    <a:spcPct val="200000"/>
                  </a:lnSpc>
                  <a:buFont typeface="Arial" panose="020B0604020202020204" pitchFamily="34" charset="0"/>
                  <a:buChar char="•"/>
                </a:pPr>
                <a:r>
                  <a:rPr lang="zh-CN" altLang="en-US" sz="2000" dirty="0"/>
                  <a:t>代入</a:t>
                </a:r>
                <a:r>
                  <a:rPr lang="en-US" altLang="zh-CN" sz="2000" dirty="0"/>
                  <a:t>(1,0), (0,1)</a:t>
                </a:r>
                <a:r>
                  <a:rPr lang="zh-CN" altLang="en-US" sz="2000" dirty="0"/>
                  <a:t>，则</a:t>
                </a:r>
                <a14:m>
                  <m:oMath xmlns:m="http://schemas.openxmlformats.org/officeDocument/2006/math">
                    <m:r>
                      <a:rPr lang="en-US" altLang="zh-CN" sz="2000" b="0" i="1" smtClean="0">
                        <a:latin typeface="Cambria Math" panose="02040503050406030204" charset="0"/>
                      </a:rPr>
                      <m:t>𝑦</m:t>
                    </m:r>
                    <m:r>
                      <a:rPr lang="en-US" altLang="zh-CN" sz="2000" b="0" i="1" smtClean="0">
                        <a:latin typeface="Cambria Math" panose="02040503050406030204" charset="0"/>
                      </a:rPr>
                      <m:t>=</m:t>
                    </m:r>
                    <m:r>
                      <a:rPr lang="en-US" altLang="zh-CN" sz="2000" b="0" i="1" smtClean="0">
                        <a:latin typeface="Cambria Math" panose="02040503050406030204" charset="0"/>
                      </a:rPr>
                      <m:t>𝜎</m:t>
                    </m:r>
                    <m:d>
                      <m:dPr>
                        <m:ctrlPr>
                          <a:rPr lang="en-US" altLang="zh-CN" sz="2000" b="0" i="1" smtClean="0">
                            <a:latin typeface="Cambria Math" panose="02040503050406030204" pitchFamily="18" charset="0"/>
                          </a:rPr>
                        </m:ctrlPr>
                      </m:dPr>
                      <m:e>
                        <m:f>
                          <m:fPr>
                            <m:ctrlPr>
                              <a:rPr lang="en-US" altLang="zh-CN" sz="2000" b="0" i="1" smtClean="0">
                                <a:latin typeface="Cambria Math" panose="02040503050406030204" pitchFamily="18" charset="0"/>
                              </a:rPr>
                            </m:ctrlPr>
                          </m:fPr>
                          <m:num>
                            <m:r>
                              <a:rPr lang="en-US" altLang="zh-CN" sz="2000" b="0" i="1" smtClean="0">
                                <a:latin typeface="Cambria Math" panose="02040503050406030204" charset="0"/>
                              </a:rPr>
                              <m:t>1</m:t>
                            </m:r>
                            <m:r>
                              <a:rPr lang="en-US" altLang="zh-CN" sz="2000" b="0" i="1" smtClean="0">
                                <a:latin typeface="Cambria Math" panose="02040503050406030204" pitchFamily="18" charset="0"/>
                              </a:rPr>
                              <m:t>+0</m:t>
                            </m:r>
                          </m:num>
                          <m:den>
                            <m:r>
                              <a:rPr lang="en-US" altLang="zh-CN" sz="2000" b="0" i="1" smtClean="0">
                                <a:latin typeface="Cambria Math" panose="02040503050406030204" charset="0"/>
                              </a:rPr>
                              <m:t>2</m:t>
                            </m:r>
                          </m:den>
                        </m:f>
                      </m:e>
                    </m:d>
                    <m:r>
                      <a:rPr lang="en-US" altLang="zh-CN" sz="2000" b="0" i="1" smtClean="0">
                        <a:latin typeface="Cambria Math" panose="02040503050406030204" charset="0"/>
                      </a:rPr>
                      <m:t>=0</m:t>
                    </m:r>
                  </m:oMath>
                </a14:m>
                <a:r>
                  <a:rPr lang="zh-CN" altLang="en-US" sz="2000" dirty="0">
                    <a:latin typeface="Cambria Math" panose="02040503050406030204" charset="0"/>
                  </a:rPr>
                  <a:t>。</a:t>
                </a:r>
              </a:p>
            </p:txBody>
          </p:sp>
        </mc:Choice>
        <mc:Fallback xmlns="">
          <p:sp>
            <p:nvSpPr>
              <p:cNvPr id="6" name="文本框 5"/>
              <p:cNvSpPr txBox="1">
                <a:spLocks noRot="1" noChangeAspect="1" noMove="1" noResize="1" noEditPoints="1" noAdjustHandles="1" noChangeArrowheads="1" noChangeShapeType="1" noTextEdit="1"/>
              </p:cNvSpPr>
              <p:nvPr>
                <p:custDataLst>
                  <p:tags r:id="rId8"/>
                </p:custDataLst>
              </p:nvPr>
            </p:nvSpPr>
            <p:spPr>
              <a:xfrm>
                <a:off x="6654165" y="1233170"/>
                <a:ext cx="4502785" cy="3099435"/>
              </a:xfrm>
              <a:prstGeom prst="rect">
                <a:avLst/>
              </a:prstGeom>
              <a:blipFill>
                <a:blip r:embed="rId9"/>
                <a:stretch>
                  <a:fillRect l="-1220" r="-7182"/>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4" name="文本框 3">
                <a:extLst>
                  <a:ext uri="{FF2B5EF4-FFF2-40B4-BE49-F238E27FC236}">
                    <a16:creationId xmlns:a16="http://schemas.microsoft.com/office/drawing/2014/main" id="{A98AF79E-E651-C453-3673-C30FB97B81C6}"/>
                  </a:ext>
                </a:extLst>
              </p:cNvPr>
              <p:cNvSpPr txBox="1"/>
              <p:nvPr/>
            </p:nvSpPr>
            <p:spPr>
              <a:xfrm>
                <a:off x="6917121" y="790780"/>
                <a:ext cx="2501326" cy="686535"/>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kumimoji="1" lang="en-US" altLang="zh-CN" sz="2000" b="0" i="1" smtClean="0">
                          <a:latin typeface="Cambria Math" panose="02040503050406030204" pitchFamily="18" charset="0"/>
                        </a:rPr>
                        <m:t>𝜎</m:t>
                      </m:r>
                      <m:d>
                        <m:dPr>
                          <m:ctrlPr>
                            <a:rPr kumimoji="1" lang="en-US" altLang="zh-CN" sz="2000" b="0" i="1" smtClean="0">
                              <a:latin typeface="Cambria Math" panose="02040503050406030204" pitchFamily="18" charset="0"/>
                            </a:rPr>
                          </m:ctrlPr>
                        </m:dPr>
                        <m:e>
                          <m:r>
                            <a:rPr kumimoji="1" lang="en-US" altLang="zh-CN" sz="2000" b="0" i="1" smtClean="0">
                              <a:latin typeface="Cambria Math" panose="02040503050406030204" pitchFamily="18" charset="0"/>
                            </a:rPr>
                            <m:t>𝑥</m:t>
                          </m:r>
                        </m:e>
                      </m:d>
                      <m:r>
                        <a:rPr kumimoji="1" lang="en-US" altLang="zh-CN" sz="2000" b="0" i="1" smtClean="0">
                          <a:latin typeface="Cambria Math" panose="02040503050406030204" pitchFamily="18" charset="0"/>
                        </a:rPr>
                        <m:t>=</m:t>
                      </m:r>
                      <m:d>
                        <m:dPr>
                          <m:begChr m:val="{"/>
                          <m:endChr m:val=""/>
                          <m:ctrlPr>
                            <a:rPr kumimoji="1" lang="en-US" altLang="zh-CN" sz="2000" b="0" i="1" smtClean="0">
                              <a:latin typeface="Cambria Math" panose="02040503050406030204" pitchFamily="18" charset="0"/>
                            </a:rPr>
                          </m:ctrlPr>
                        </m:dPr>
                        <m:e>
                          <m:eqArr>
                            <m:eqArrPr>
                              <m:ctrlPr>
                                <a:rPr kumimoji="1" lang="en-US" altLang="zh-CN" sz="2000" b="0" i="1" smtClean="0">
                                  <a:latin typeface="Cambria Math" panose="02040503050406030204" pitchFamily="18" charset="0"/>
                                </a:rPr>
                              </m:ctrlPr>
                            </m:eqArrPr>
                            <m:e>
                              <m:r>
                                <a:rPr kumimoji="1" lang="en-US" altLang="zh-CN" sz="2000" b="0" i="1" smtClean="0">
                                  <a:latin typeface="Cambria Math" panose="02040503050406030204" pitchFamily="18" charset="0"/>
                                </a:rPr>
                                <m:t>1,  </m:t>
                              </m:r>
                              <m:r>
                                <a:rPr kumimoji="1" lang="en-US" altLang="zh-CN" sz="2000" b="0" i="1" smtClean="0">
                                  <a:latin typeface="Cambria Math" panose="02040503050406030204" pitchFamily="18" charset="0"/>
                                </a:rPr>
                                <m:t>𝑥</m:t>
                              </m:r>
                              <m:r>
                                <a:rPr kumimoji="1" lang="en-US" altLang="zh-CN" sz="2000" b="0" i="1" smtClean="0">
                                  <a:latin typeface="Cambria Math" panose="02040503050406030204" pitchFamily="18" charset="0"/>
                                </a:rPr>
                                <m:t>≥1</m:t>
                              </m:r>
                            </m:e>
                            <m:e>
                              <m:r>
                                <a:rPr kumimoji="1" lang="en-US" altLang="zh-CN" sz="2000" b="0" i="1" smtClean="0">
                                  <a:latin typeface="Cambria Math" panose="02040503050406030204" pitchFamily="18" charset="0"/>
                                </a:rPr>
                                <m:t>0,  </m:t>
                              </m:r>
                              <m:r>
                                <a:rPr kumimoji="1" lang="en-US" altLang="zh-CN" sz="2000" b="0" i="1" smtClean="0">
                                  <a:latin typeface="Cambria Math" panose="02040503050406030204" pitchFamily="18" charset="0"/>
                                </a:rPr>
                                <m:t>𝑜𝑡h𝑒𝑟𝑠</m:t>
                              </m:r>
                            </m:e>
                          </m:eqArr>
                        </m:e>
                      </m:d>
                    </m:oMath>
                  </m:oMathPara>
                </a14:m>
                <a:endParaRPr kumimoji="1" lang="zh-CN" altLang="en-US" sz="2000" dirty="0"/>
              </a:p>
            </p:txBody>
          </p:sp>
        </mc:Choice>
        <mc:Fallback xmlns="">
          <p:sp>
            <p:nvSpPr>
              <p:cNvPr id="4" name="文本框 3">
                <a:extLst>
                  <a:ext uri="{FF2B5EF4-FFF2-40B4-BE49-F238E27FC236}">
                    <a16:creationId xmlns:a16="http://schemas.microsoft.com/office/drawing/2014/main" id="{A98AF79E-E651-C453-3673-C30FB97B81C6}"/>
                  </a:ext>
                </a:extLst>
              </p:cNvPr>
              <p:cNvSpPr txBox="1">
                <a:spLocks noRot="1" noChangeAspect="1" noMove="1" noResize="1" noEditPoints="1" noAdjustHandles="1" noChangeArrowheads="1" noChangeShapeType="1" noTextEdit="1"/>
              </p:cNvSpPr>
              <p:nvPr/>
            </p:nvSpPr>
            <p:spPr>
              <a:xfrm>
                <a:off x="6917121" y="790780"/>
                <a:ext cx="2501326" cy="686535"/>
              </a:xfrm>
              <a:prstGeom prst="rect">
                <a:avLst/>
              </a:prstGeom>
              <a:blipFill>
                <a:blip r:embed="rId10"/>
                <a:stretch>
                  <a:fillRect l="-16162" t="-225455" r="-1515" b="-325455"/>
                </a:stretch>
              </a:blipFill>
            </p:spPr>
            <p:txBody>
              <a:bodyPr/>
              <a:lstStyle/>
              <a:p>
                <a:r>
                  <a:rPr lang="zh-CN" altLang="en-US">
                    <a:noFill/>
                  </a:rPr>
                  <a:t> </a:t>
                </a:r>
              </a:p>
            </p:txBody>
          </p:sp>
        </mc:Fallback>
      </mc:AlternateContent>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4E529C-39B8-511F-4F2E-48878DCC33D8}"/>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66897534-A113-8B90-B562-104408BA2AC5}"/>
              </a:ext>
            </a:extLst>
          </p:cNvPr>
          <p:cNvSpPr>
            <a:spLocks noGrp="1"/>
          </p:cNvSpPr>
          <p:nvPr>
            <p:ph type="title"/>
          </p:nvPr>
        </p:nvSpPr>
        <p:spPr/>
        <p:txBody>
          <a:bodyPr/>
          <a:lstStyle/>
          <a:p>
            <a:pPr>
              <a:spcBef>
                <a:spcPts val="0"/>
              </a:spcBef>
              <a:buSzPct val="100000"/>
            </a:pPr>
            <a:r>
              <a:rPr lang="zh-CN" altLang="en-US" spc="60" dirty="0">
                <a:ln w="3175">
                  <a:noFill/>
                  <a:prstDash val="dash"/>
                </a:ln>
                <a:latin typeface="微软雅黑" panose="020B0503020204020204" charset="-122"/>
                <a:ea typeface="微软雅黑" panose="020B0503020204020204" charset="-122"/>
                <a:cs typeface="微软雅黑" panose="020B0503020204020204" charset="-122"/>
                <a:sym typeface="+mn-ea"/>
              </a:rPr>
              <a:t>万有逼近定理</a:t>
            </a:r>
          </a:p>
        </p:txBody>
      </p:sp>
      <p:pic>
        <p:nvPicPr>
          <p:cNvPr id="2" name="图片 1">
            <a:extLst>
              <a:ext uri="{FF2B5EF4-FFF2-40B4-BE49-F238E27FC236}">
                <a16:creationId xmlns:a16="http://schemas.microsoft.com/office/drawing/2014/main" id="{43256DE1-3150-C542-AA6F-04930EA698E8}"/>
              </a:ext>
            </a:extLst>
          </p:cNvPr>
          <p:cNvPicPr>
            <a:picLocks noChangeAspect="1"/>
          </p:cNvPicPr>
          <p:nvPr/>
        </p:nvPicPr>
        <p:blipFill>
          <a:blip r:embed="rId2"/>
          <a:stretch>
            <a:fillRect/>
          </a:stretch>
        </p:blipFill>
        <p:spPr>
          <a:xfrm>
            <a:off x="1942481" y="847422"/>
            <a:ext cx="8622615" cy="3750836"/>
          </a:xfrm>
          <a:prstGeom prst="rect">
            <a:avLst/>
          </a:prstGeom>
        </p:spPr>
      </p:pic>
      <p:sp>
        <p:nvSpPr>
          <p:cNvPr id="9" name="文本框 8">
            <a:extLst>
              <a:ext uri="{FF2B5EF4-FFF2-40B4-BE49-F238E27FC236}">
                <a16:creationId xmlns:a16="http://schemas.microsoft.com/office/drawing/2014/main" id="{81052F37-C1DA-AF7F-2BAE-B28C484EC2D9}"/>
              </a:ext>
            </a:extLst>
          </p:cNvPr>
          <p:cNvSpPr txBox="1"/>
          <p:nvPr/>
        </p:nvSpPr>
        <p:spPr>
          <a:xfrm>
            <a:off x="157789" y="5875754"/>
            <a:ext cx="6096000" cy="646331"/>
          </a:xfrm>
          <a:prstGeom prst="rect">
            <a:avLst/>
          </a:prstGeom>
          <a:noFill/>
        </p:spPr>
        <p:txBody>
          <a:bodyPr wrap="square">
            <a:spAutoFit/>
          </a:bodyPr>
          <a:lstStyle/>
          <a:p>
            <a:r>
              <a:rPr lang="en-US" altLang="zh-CN" sz="1800" b="0" i="0" dirty="0">
                <a:solidFill>
                  <a:srgbClr val="000000"/>
                </a:solidFill>
                <a:effectLst/>
                <a:latin typeface="LMRoman10-Regular-Identity-H"/>
              </a:rPr>
              <a:t>(</a:t>
            </a:r>
            <a:r>
              <a:rPr lang="en-US" altLang="zh-CN" sz="1800" b="0" i="0" dirty="0" err="1">
                <a:solidFill>
                  <a:srgbClr val="000000"/>
                </a:solidFill>
                <a:effectLst/>
                <a:latin typeface="LMRoman10-Regular-Identity-H"/>
              </a:rPr>
              <a:t>Cybenko</a:t>
            </a:r>
            <a:r>
              <a:rPr lang="en-US" altLang="zh-CN" sz="1800" b="0" i="0" dirty="0">
                <a:solidFill>
                  <a:srgbClr val="000000"/>
                </a:solidFill>
                <a:effectLst/>
                <a:latin typeface="LMRoman10-Regular-Identity-H"/>
              </a:rPr>
              <a:t>, 1989; Hornik et al., 1989; </a:t>
            </a:r>
            <a:r>
              <a:rPr lang="en-US" altLang="zh-CN" sz="1800" b="0" i="0" dirty="0" err="1">
                <a:solidFill>
                  <a:srgbClr val="000000"/>
                </a:solidFill>
                <a:effectLst/>
                <a:latin typeface="LMRoman10-Regular-Identity-H"/>
              </a:rPr>
              <a:t>Leshno</a:t>
            </a:r>
            <a:r>
              <a:rPr lang="en-US" altLang="zh-CN" sz="1800" b="0" i="0" dirty="0">
                <a:solidFill>
                  <a:srgbClr val="000000"/>
                </a:solidFill>
                <a:effectLst/>
                <a:latin typeface="LMRoman10-Regular-Identity-H"/>
              </a:rPr>
              <a:t> et al., 1993)</a:t>
            </a:r>
            <a:r>
              <a:rPr lang="en-US" altLang="zh-CN" dirty="0"/>
              <a:t> </a:t>
            </a:r>
            <a:br>
              <a:rPr lang="en-US" altLang="zh-CN" dirty="0"/>
            </a:br>
            <a:endParaRPr lang="zh-CN" altLang="en-US" dirty="0"/>
          </a:p>
        </p:txBody>
      </p:sp>
      <p:sp>
        <p:nvSpPr>
          <p:cNvPr id="12" name="文本框 11">
            <a:extLst>
              <a:ext uri="{FF2B5EF4-FFF2-40B4-BE49-F238E27FC236}">
                <a16:creationId xmlns:a16="http://schemas.microsoft.com/office/drawing/2014/main" id="{DDB34C4A-E36C-0698-ABFB-AB9929F10EAE}"/>
              </a:ext>
            </a:extLst>
          </p:cNvPr>
          <p:cNvSpPr txBox="1"/>
          <p:nvPr/>
        </p:nvSpPr>
        <p:spPr>
          <a:xfrm>
            <a:off x="6362700" y="5552588"/>
            <a:ext cx="5791200" cy="646331"/>
          </a:xfrm>
          <a:prstGeom prst="rect">
            <a:avLst/>
          </a:prstGeom>
          <a:noFill/>
        </p:spPr>
        <p:txBody>
          <a:bodyPr wrap="square">
            <a:spAutoFit/>
          </a:bodyPr>
          <a:lstStyle/>
          <a:p>
            <a:pPr>
              <a:buNone/>
            </a:pPr>
            <a:r>
              <a:rPr lang="zh-CN" altLang="en-US" sz="1800" b="0" i="0" dirty="0">
                <a:solidFill>
                  <a:srgbClr val="000000"/>
                </a:solidFill>
                <a:effectLst/>
                <a:latin typeface="FandolSong-Regular-Identity-H"/>
              </a:rPr>
              <a:t>在人工智能这个领域，“命名法”是一个非常常用的方法，对一个新的研究成果，取一个好的名字非常重要。</a:t>
            </a:r>
            <a:r>
              <a:rPr lang="zh-CN" altLang="en-US" dirty="0"/>
              <a:t> </a:t>
            </a:r>
          </a:p>
        </p:txBody>
      </p:sp>
    </p:spTree>
    <p:extLst>
      <p:ext uri="{BB962C8B-B14F-4D97-AF65-F5344CB8AC3E}">
        <p14:creationId xmlns:p14="http://schemas.microsoft.com/office/powerpoint/2010/main" val="14409620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文本框 10"/>
          <p:cNvSpPr txBox="1"/>
          <p:nvPr>
            <p:custDataLst>
              <p:tags r:id="rId1"/>
            </p:custDataLst>
          </p:nvPr>
        </p:nvSpPr>
        <p:spPr>
          <a:xfrm>
            <a:off x="965162" y="61534"/>
            <a:ext cx="10972876" cy="614044"/>
          </a:xfrm>
          <a:prstGeom prst="rect">
            <a:avLst/>
          </a:prstGeom>
          <a:noFill/>
        </p:spPr>
        <p:txBody>
          <a:bodyPr wrap="square" lIns="63500" tIns="25400" rIns="63500" bIns="25400" rtlCol="0" anchor="t" anchorCtr="0">
            <a:normAutofit/>
          </a:bodyPr>
          <a:lstStyle/>
          <a:p>
            <a:pPr marL="0" indent="0" algn="l">
              <a:lnSpc>
                <a:spcPct val="100000"/>
              </a:lnSpc>
              <a:spcBef>
                <a:spcPts val="0"/>
              </a:spcBef>
              <a:spcAft>
                <a:spcPts val="0"/>
              </a:spcAft>
              <a:buSzPct val="100000"/>
              <a:buNone/>
            </a:pPr>
            <a:r>
              <a:rPr lang="zh-CN" altLang="en-US" sz="3200" spc="60" dirty="0">
                <a:ln w="3175">
                  <a:noFill/>
                  <a:prstDash val="dash"/>
                </a:ln>
                <a:solidFill>
                  <a:schemeClr val="bg1"/>
                </a:solidFill>
                <a:uFillTx/>
                <a:latin typeface="微软雅黑" panose="020B0503020204020204" charset="-122"/>
                <a:ea typeface="微软雅黑" panose="020B0503020204020204" charset="-122"/>
                <a:cs typeface="微软雅黑" panose="020B0503020204020204" charset="-122"/>
                <a:sym typeface="+mn-ea"/>
              </a:rPr>
              <a:t>多层神经网络</a:t>
            </a:r>
          </a:p>
        </p:txBody>
      </p:sp>
      <p:sp>
        <p:nvSpPr>
          <p:cNvPr id="5" name="内容占位符 4"/>
          <p:cNvSpPr>
            <a:spLocks noGrp="1"/>
          </p:cNvSpPr>
          <p:nvPr>
            <p:custDataLst>
              <p:tags r:id="rId2"/>
            </p:custDataLst>
          </p:nvPr>
        </p:nvSpPr>
        <p:spPr>
          <a:xfrm>
            <a:off x="381242" y="981154"/>
            <a:ext cx="11429516" cy="5333856"/>
          </a:xfrm>
          <a:prstGeom prst="rect">
            <a:avLst/>
          </a:prstGeom>
        </p:spPr>
        <p:txBody>
          <a:bodyPr vert="horz" lIns="90000" tIns="0" rIns="91440" bIns="0" rtlCol="0">
            <a:normAutofit/>
          </a:bodyPr>
          <a:lstStyle>
            <a:lvl1pPr marL="381635" indent="-381635" algn="just" defTabSz="1219200" rtl="0" eaLnBrk="1" latinLnBrk="0" hangingPunct="1">
              <a:lnSpc>
                <a:spcPct val="120000"/>
              </a:lnSpc>
              <a:spcBef>
                <a:spcPts val="0"/>
              </a:spcBef>
              <a:spcAft>
                <a:spcPts val="635"/>
              </a:spcAft>
              <a:buSzPct val="80000"/>
              <a:buFontTx/>
              <a:buBlip>
                <a:blip r:embed="rId4"/>
              </a:buBlip>
              <a:defRPr sz="2400" b="1" kern="1200">
                <a:solidFill>
                  <a:schemeClr val="tx2"/>
                </a:solidFill>
                <a:latin typeface="微软雅黑" panose="020B0503020204020204" charset="-122"/>
                <a:ea typeface="微软雅黑" panose="020B0503020204020204" charset="-122"/>
                <a:cs typeface="+mn-cs"/>
              </a:defRPr>
            </a:lvl1pPr>
            <a:lvl2pPr marL="914400" indent="-304800" algn="just" defTabSz="1219200" rtl="0" eaLnBrk="1" latinLnBrk="0" hangingPunct="1">
              <a:lnSpc>
                <a:spcPct val="120000"/>
              </a:lnSpc>
              <a:spcBef>
                <a:spcPts val="0"/>
              </a:spcBef>
              <a:spcAft>
                <a:spcPts val="635"/>
              </a:spcAft>
              <a:buSzPct val="70000"/>
              <a:buFontTx/>
              <a:buBlip>
                <a:blip r:embed="rId4"/>
              </a:buBlip>
              <a:defRPr sz="2000" b="1" kern="1200">
                <a:solidFill>
                  <a:schemeClr val="tx2"/>
                </a:solidFill>
                <a:latin typeface="微软雅黑" panose="020B0503020204020204" charset="-122"/>
                <a:ea typeface="微软雅黑" panose="020B0503020204020204" charset="-122"/>
                <a:cs typeface="+mn-cs"/>
              </a:defRPr>
            </a:lvl2pPr>
            <a:lvl3pPr marL="1524000" indent="-304800" algn="just" defTabSz="1219200" rtl="0" eaLnBrk="1" latinLnBrk="0" hangingPunct="1">
              <a:lnSpc>
                <a:spcPct val="120000"/>
              </a:lnSpc>
              <a:spcBef>
                <a:spcPts val="0"/>
              </a:spcBef>
              <a:spcAft>
                <a:spcPts val="635"/>
              </a:spcAft>
              <a:buSzPct val="60000"/>
              <a:buFontTx/>
              <a:buBlip>
                <a:blip r:embed="rId4"/>
              </a:buBlip>
              <a:defRPr sz="1800" b="1" kern="1200">
                <a:solidFill>
                  <a:schemeClr val="tx2"/>
                </a:solidFill>
                <a:latin typeface="微软雅黑" panose="020B0503020204020204" charset="-122"/>
                <a:ea typeface="微软雅黑" panose="020B0503020204020204" charset="-122"/>
                <a:cs typeface="+mn-cs"/>
              </a:defRPr>
            </a:lvl3pPr>
            <a:lvl4pPr marL="2133600" indent="-304800" algn="l" defTabSz="1219200" rtl="0" eaLnBrk="1" latinLnBrk="0" hangingPunct="1">
              <a:lnSpc>
                <a:spcPct val="90000"/>
              </a:lnSpc>
              <a:spcBef>
                <a:spcPts val="665"/>
              </a:spcBef>
              <a:buFont typeface="Arial" panose="020B0604020202020204" pitchFamily="34" charset="0"/>
              <a:buChar char="•"/>
              <a:defRPr sz="2400" kern="1200">
                <a:solidFill>
                  <a:schemeClr val="bg2"/>
                </a:solidFill>
                <a:latin typeface="+mn-lt"/>
                <a:ea typeface="+mn-ea"/>
                <a:cs typeface="+mn-cs"/>
              </a:defRPr>
            </a:lvl4pPr>
            <a:lvl5pPr marL="2743200" indent="-304800" algn="l" defTabSz="1219200" rtl="0" eaLnBrk="1" latinLnBrk="0" hangingPunct="1">
              <a:lnSpc>
                <a:spcPct val="90000"/>
              </a:lnSpc>
              <a:spcBef>
                <a:spcPts val="665"/>
              </a:spcBef>
              <a:buFont typeface="Arial" panose="020B0604020202020204" pitchFamily="34" charset="0"/>
              <a:buChar char="•"/>
              <a:defRPr sz="2400" kern="1200">
                <a:solidFill>
                  <a:schemeClr val="bg2"/>
                </a:solidFill>
                <a:latin typeface="+mn-lt"/>
                <a:ea typeface="+mn-ea"/>
                <a:cs typeface="+mn-cs"/>
              </a:defRPr>
            </a:lvl5pPr>
            <a:lvl6pPr marL="33528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6pPr>
            <a:lvl7pPr marL="39624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7pPr>
            <a:lvl8pPr marL="45720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8pPr>
            <a:lvl9pPr marL="51816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9pPr>
          </a:lstStyle>
          <a:p>
            <a:pPr>
              <a:lnSpc>
                <a:spcPct val="150000"/>
              </a:lnSpc>
            </a:pPr>
            <a:r>
              <a:rPr lang="zh-CN" altLang="en-US" dirty="0"/>
              <a:t>两层网络具有万有逼近定理（</a:t>
            </a:r>
            <a:r>
              <a:rPr lang="en-US" altLang="zh-CN" dirty="0" err="1"/>
              <a:t>Cybenko</a:t>
            </a:r>
            <a:r>
              <a:rPr lang="en-US" altLang="zh-CN" dirty="0"/>
              <a:t> 1989</a:t>
            </a:r>
            <a:r>
              <a:rPr lang="zh-CN" altLang="en-US" dirty="0"/>
              <a:t>）</a:t>
            </a:r>
            <a:endParaRPr lang="en-US" altLang="zh-CN" dirty="0"/>
          </a:p>
          <a:p>
            <a:pPr lvl="1">
              <a:lnSpc>
                <a:spcPct val="150000"/>
              </a:lnSpc>
            </a:pPr>
            <a:r>
              <a:rPr lang="zh-CN" altLang="en-US" dirty="0"/>
              <a:t>激活函数是非多项式的非线性函数</a:t>
            </a:r>
            <a:endParaRPr lang="en-US" altLang="zh-CN" dirty="0"/>
          </a:p>
          <a:p>
            <a:pPr>
              <a:lnSpc>
                <a:spcPct val="150000"/>
              </a:lnSpc>
            </a:pPr>
            <a:r>
              <a:rPr lang="zh-CN" altLang="en-US" dirty="0"/>
              <a:t>多项式函数是否有万有逼近定理？</a:t>
            </a:r>
            <a:endParaRPr lang="en-US" altLang="zh-CN" dirty="0"/>
          </a:p>
          <a:p>
            <a:pPr>
              <a:lnSpc>
                <a:spcPct val="150000"/>
              </a:lnSpc>
            </a:pPr>
            <a:r>
              <a:rPr lang="zh-CN" altLang="en-US" dirty="0"/>
              <a:t>为什么激活函数不能是多项式函数？</a:t>
            </a:r>
            <a:endParaRPr lang="en-US" altLang="zh-CN" dirty="0"/>
          </a:p>
          <a:p>
            <a:pPr>
              <a:lnSpc>
                <a:spcPct val="150000"/>
              </a:lnSpc>
            </a:pPr>
            <a:r>
              <a:rPr lang="zh-CN" altLang="en-US" dirty="0"/>
              <a:t>万有逼近定理对实际问题有什么帮助？</a:t>
            </a:r>
            <a:endParaRPr lang="en-US" altLang="zh-CN" dirty="0"/>
          </a:p>
        </p:txBody>
      </p:sp>
      <p:sp>
        <p:nvSpPr>
          <p:cNvPr id="14" name="文本框 13">
            <a:extLst>
              <a:ext uri="{FF2B5EF4-FFF2-40B4-BE49-F238E27FC236}">
                <a16:creationId xmlns:a16="http://schemas.microsoft.com/office/drawing/2014/main" id="{43655D3B-A2C4-D5B7-1911-CEED083798C3}"/>
              </a:ext>
            </a:extLst>
          </p:cNvPr>
          <p:cNvSpPr txBox="1"/>
          <p:nvPr/>
        </p:nvSpPr>
        <p:spPr>
          <a:xfrm>
            <a:off x="5769429" y="2230745"/>
            <a:ext cx="2544233" cy="369332"/>
          </a:xfrm>
          <a:prstGeom prst="rect">
            <a:avLst/>
          </a:prstGeom>
          <a:noFill/>
        </p:spPr>
        <p:txBody>
          <a:bodyPr wrap="square">
            <a:spAutoFit/>
          </a:bodyPr>
          <a:lstStyle/>
          <a:p>
            <a:r>
              <a:rPr lang="en-US" altLang="zh-CN" sz="1800" b="0" i="0" dirty="0" err="1">
                <a:solidFill>
                  <a:srgbClr val="000000"/>
                </a:solidFill>
                <a:effectLst/>
                <a:latin typeface="LMRoman10-Regular-Identity-H"/>
              </a:rPr>
              <a:t>Weierstrass</a:t>
            </a:r>
            <a:r>
              <a:rPr lang="en-US" altLang="zh-CN" sz="1800" b="0" i="0" dirty="0">
                <a:solidFill>
                  <a:srgbClr val="000000"/>
                </a:solidFill>
                <a:effectLst/>
                <a:latin typeface="LMRoman10-Regular-Identity-H"/>
              </a:rPr>
              <a:t> </a:t>
            </a:r>
            <a:r>
              <a:rPr lang="zh-CN" altLang="en-US" sz="1800" b="0" i="0" dirty="0">
                <a:solidFill>
                  <a:srgbClr val="000000"/>
                </a:solidFill>
                <a:effectLst/>
                <a:latin typeface="FandolSong-Regular-Identity-H"/>
              </a:rPr>
              <a:t>逼近定理</a:t>
            </a:r>
            <a:r>
              <a:rPr lang="en-US" altLang="zh-CN" sz="1800" b="0" i="0" dirty="0">
                <a:solidFill>
                  <a:srgbClr val="000000"/>
                </a:solidFill>
                <a:effectLst/>
                <a:latin typeface="FandolSong-Regular-Identity-H"/>
              </a:rPr>
              <a:t>?</a:t>
            </a:r>
            <a:endParaRPr lang="zh-CN" altLang="en-US" dirty="0"/>
          </a:p>
        </p:txBody>
      </p:sp>
      <mc:AlternateContent xmlns:mc="http://schemas.openxmlformats.org/markup-compatibility/2006" xmlns:a14="http://schemas.microsoft.com/office/drawing/2010/main">
        <mc:Choice Requires="a14">
          <p:sp>
            <p:nvSpPr>
              <p:cNvPr id="2" name="文本框 1">
                <a:extLst>
                  <a:ext uri="{FF2B5EF4-FFF2-40B4-BE49-F238E27FC236}">
                    <a16:creationId xmlns:a16="http://schemas.microsoft.com/office/drawing/2014/main" id="{2E0D3B0C-DC0A-BA11-31C5-22DE9FFE27B9}"/>
                  </a:ext>
                </a:extLst>
              </p:cNvPr>
              <p:cNvSpPr txBox="1"/>
              <p:nvPr/>
            </p:nvSpPr>
            <p:spPr>
              <a:xfrm>
                <a:off x="5774872" y="2856673"/>
                <a:ext cx="4626428" cy="369332"/>
              </a:xfrm>
              <a:prstGeom prst="rect">
                <a:avLst/>
              </a:prstGeom>
              <a:noFill/>
            </p:spPr>
            <p:txBody>
              <a:bodyPr wrap="square">
                <a:spAutoFit/>
              </a:bodyPr>
              <a:lstStyle/>
              <a:p>
                <a:r>
                  <a:rPr lang="zh-CN" altLang="en-US" sz="1800" b="0" i="0" dirty="0">
                    <a:solidFill>
                      <a:schemeClr val="tx2"/>
                    </a:solidFill>
                    <a:effectLst/>
                    <a:latin typeface="LMRoman10-Regular-Identity-H"/>
                  </a:rPr>
                  <a:t>两层网络，</a:t>
                </a:r>
                <a14:m>
                  <m:oMath xmlns:m="http://schemas.openxmlformats.org/officeDocument/2006/math">
                    <m:r>
                      <a:rPr lang="en-US" altLang="zh-CN" sz="1800" b="0" i="1" smtClean="0">
                        <a:solidFill>
                          <a:schemeClr val="tx2"/>
                        </a:solidFill>
                        <a:effectLst/>
                        <a:latin typeface="Cambria Math" panose="02040503050406030204" pitchFamily="18" charset="0"/>
                      </a:rPr>
                      <m:t>𝜎</m:t>
                    </m:r>
                    <m:d>
                      <m:dPr>
                        <m:ctrlPr>
                          <a:rPr lang="en-US" altLang="zh-CN" sz="1800" b="0" i="1" smtClean="0">
                            <a:solidFill>
                              <a:schemeClr val="tx2"/>
                            </a:solidFill>
                            <a:effectLst/>
                            <a:latin typeface="Cambria Math" panose="02040503050406030204" pitchFamily="18" charset="0"/>
                          </a:rPr>
                        </m:ctrlPr>
                      </m:dPr>
                      <m:e>
                        <m:r>
                          <a:rPr lang="en-US" altLang="zh-CN" sz="1800" b="0" i="1" smtClean="0">
                            <a:solidFill>
                              <a:schemeClr val="tx2"/>
                            </a:solidFill>
                            <a:effectLst/>
                            <a:latin typeface="Cambria Math" panose="02040503050406030204" pitchFamily="18" charset="0"/>
                          </a:rPr>
                          <m:t>𝑥</m:t>
                        </m:r>
                      </m:e>
                    </m:d>
                    <m:r>
                      <a:rPr lang="en-US" altLang="zh-CN" sz="1800" b="0" i="1" smtClean="0">
                        <a:solidFill>
                          <a:schemeClr val="tx2"/>
                        </a:solidFill>
                        <a:effectLst/>
                        <a:latin typeface="Cambria Math" panose="02040503050406030204" pitchFamily="18" charset="0"/>
                      </a:rPr>
                      <m:t>=</m:t>
                    </m:r>
                    <m:sSup>
                      <m:sSupPr>
                        <m:ctrlPr>
                          <a:rPr lang="en-US" altLang="zh-CN" sz="1800" b="0" i="1" smtClean="0">
                            <a:solidFill>
                              <a:schemeClr val="tx2"/>
                            </a:solidFill>
                            <a:effectLst/>
                            <a:latin typeface="Cambria Math" panose="02040503050406030204" pitchFamily="18" charset="0"/>
                          </a:rPr>
                        </m:ctrlPr>
                      </m:sSupPr>
                      <m:e>
                        <m:r>
                          <a:rPr lang="en-US" altLang="zh-CN" sz="1800" b="0" i="1" smtClean="0">
                            <a:solidFill>
                              <a:schemeClr val="tx2"/>
                            </a:solidFill>
                            <a:effectLst/>
                            <a:latin typeface="Cambria Math" panose="02040503050406030204" pitchFamily="18" charset="0"/>
                          </a:rPr>
                          <m:t>𝑥</m:t>
                        </m:r>
                      </m:e>
                      <m:sup>
                        <m:r>
                          <a:rPr lang="en-US" altLang="zh-CN" sz="1800" b="0" i="1" smtClean="0">
                            <a:solidFill>
                              <a:schemeClr val="tx2"/>
                            </a:solidFill>
                            <a:effectLst/>
                            <a:latin typeface="Cambria Math" panose="02040503050406030204" pitchFamily="18" charset="0"/>
                          </a:rPr>
                          <m:t>2</m:t>
                        </m:r>
                      </m:sup>
                    </m:sSup>
                  </m:oMath>
                </a14:m>
                <a:r>
                  <a:rPr lang="en-US" altLang="zh-CN" dirty="0">
                    <a:solidFill>
                      <a:schemeClr val="tx2"/>
                    </a:solidFill>
                  </a:rPr>
                  <a:t>, </a:t>
                </a:r>
                <a:r>
                  <a:rPr lang="zh-CN" altLang="en-US" dirty="0">
                    <a:solidFill>
                      <a:schemeClr val="tx2"/>
                    </a:solidFill>
                  </a:rPr>
                  <a:t>只能逼近二次函数</a:t>
                </a:r>
              </a:p>
            </p:txBody>
          </p:sp>
        </mc:Choice>
        <mc:Fallback xmlns="">
          <p:sp>
            <p:nvSpPr>
              <p:cNvPr id="2" name="文本框 1">
                <a:extLst>
                  <a:ext uri="{FF2B5EF4-FFF2-40B4-BE49-F238E27FC236}">
                    <a16:creationId xmlns:a16="http://schemas.microsoft.com/office/drawing/2014/main" id="{2E0D3B0C-DC0A-BA11-31C5-22DE9FFE27B9}"/>
                  </a:ext>
                </a:extLst>
              </p:cNvPr>
              <p:cNvSpPr txBox="1">
                <a:spLocks noRot="1" noChangeAspect="1" noMove="1" noResize="1" noEditPoints="1" noAdjustHandles="1" noChangeArrowheads="1" noChangeShapeType="1" noTextEdit="1"/>
              </p:cNvSpPr>
              <p:nvPr/>
            </p:nvSpPr>
            <p:spPr>
              <a:xfrm>
                <a:off x="5774872" y="2856673"/>
                <a:ext cx="4626428" cy="369332"/>
              </a:xfrm>
              <a:prstGeom prst="rect">
                <a:avLst/>
              </a:prstGeom>
              <a:blipFill>
                <a:blip r:embed="rId5"/>
                <a:stretch>
                  <a:fillRect l="-1054" t="-15000" b="-30000"/>
                </a:stretch>
              </a:blipFill>
            </p:spPr>
            <p:txBody>
              <a:bodyPr/>
              <a:lstStyle/>
              <a:p>
                <a:r>
                  <a:rPr lang="zh-CN" altLang="en-US">
                    <a:noFill/>
                  </a:rPr>
                  <a:t> </a:t>
                </a:r>
              </a:p>
            </p:txBody>
          </p:sp>
        </mc:Fallback>
      </mc:AlternateContent>
      <p:sp>
        <p:nvSpPr>
          <p:cNvPr id="3" name="文本框 2">
            <a:extLst>
              <a:ext uri="{FF2B5EF4-FFF2-40B4-BE49-F238E27FC236}">
                <a16:creationId xmlns:a16="http://schemas.microsoft.com/office/drawing/2014/main" id="{AF2724C1-5C52-985C-AEF3-93A3147C2005}"/>
              </a:ext>
            </a:extLst>
          </p:cNvPr>
          <p:cNvSpPr txBox="1"/>
          <p:nvPr/>
        </p:nvSpPr>
        <p:spPr>
          <a:xfrm>
            <a:off x="6000448" y="3531581"/>
            <a:ext cx="4626428" cy="369332"/>
          </a:xfrm>
          <a:prstGeom prst="rect">
            <a:avLst/>
          </a:prstGeom>
          <a:noFill/>
        </p:spPr>
        <p:txBody>
          <a:bodyPr wrap="square">
            <a:spAutoFit/>
          </a:bodyPr>
          <a:lstStyle/>
          <a:p>
            <a:r>
              <a:rPr lang="zh-CN" altLang="en-US" sz="1800" b="0" i="0" dirty="0">
                <a:solidFill>
                  <a:schemeClr val="tx2"/>
                </a:solidFill>
                <a:effectLst/>
                <a:latin typeface="LMRoman10-Regular-Identity-H"/>
              </a:rPr>
              <a:t>万有逼近构造的解通常不是训练得到的解</a:t>
            </a:r>
            <a:endParaRPr lang="zh-CN" altLang="en-US" dirty="0">
              <a:solidFill>
                <a:schemeClr val="tx2"/>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2" grpId="0"/>
      <p:bldP spid="3"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A6532-8CF8-7CC8-893D-9054884D2D4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00B6109-743A-33C4-A287-7A1E05E72C7C}"/>
              </a:ext>
            </a:extLst>
          </p:cNvPr>
          <p:cNvSpPr>
            <a:spLocks noGrp="1"/>
          </p:cNvSpPr>
          <p:nvPr>
            <p:ph type="title"/>
          </p:nvPr>
        </p:nvSpPr>
        <p:spPr/>
        <p:txBody>
          <a:bodyPr/>
          <a:lstStyle/>
          <a:p>
            <a:pPr>
              <a:spcBef>
                <a:spcPts val="0"/>
              </a:spcBef>
              <a:buSzPct val="100000"/>
            </a:pPr>
            <a:r>
              <a:rPr lang="zh-CN" altLang="en-US" spc="60" dirty="0">
                <a:ln w="3175">
                  <a:noFill/>
                  <a:prstDash val="dash"/>
                </a:ln>
                <a:latin typeface="微软雅黑" panose="020B0503020204020204" charset="-122"/>
                <a:ea typeface="微软雅黑" panose="020B0503020204020204" charset="-122"/>
                <a:cs typeface="微软雅黑" panose="020B0503020204020204" charset="-122"/>
                <a:sym typeface="+mn-ea"/>
              </a:rPr>
              <a:t>多层神经网络</a:t>
            </a:r>
          </a:p>
        </p:txBody>
      </p:sp>
      <p:sp>
        <p:nvSpPr>
          <p:cNvPr id="7" name="文本框 6">
            <a:extLst>
              <a:ext uri="{FF2B5EF4-FFF2-40B4-BE49-F238E27FC236}">
                <a16:creationId xmlns:a16="http://schemas.microsoft.com/office/drawing/2014/main" id="{45ED37E4-B8C7-2058-B7B9-C78B216B115A}"/>
              </a:ext>
            </a:extLst>
          </p:cNvPr>
          <p:cNvSpPr txBox="1"/>
          <p:nvPr>
            <p:custDataLst>
              <p:tags r:id="rId1"/>
            </p:custDataLst>
          </p:nvPr>
        </p:nvSpPr>
        <p:spPr>
          <a:xfrm>
            <a:off x="393700" y="917059"/>
            <a:ext cx="6172200" cy="368300"/>
          </a:xfrm>
          <a:prstGeom prst="rect">
            <a:avLst/>
          </a:prstGeom>
          <a:noFill/>
        </p:spPr>
        <p:txBody>
          <a:bodyPr wrap="square">
            <a:spAutoFit/>
          </a:bodyPr>
          <a:lstStyle/>
          <a:p>
            <a:pPr marL="285750" indent="-285750">
              <a:buFont typeface="Arial" panose="020B0604020202020204" pitchFamily="34" charset="0"/>
              <a:buChar char="•"/>
            </a:pPr>
            <a:r>
              <a:rPr lang="zh-CN" altLang="en-US" dirty="0">
                <a:solidFill>
                  <a:schemeClr val="tx2"/>
                </a:solidFill>
                <a:latin typeface="FandolSong-Regular-Identity-H"/>
              </a:rPr>
              <a:t>两层神经网络</a:t>
            </a:r>
            <a:endParaRPr lang="zh-CN" altLang="en-US" dirty="0">
              <a:solidFill>
                <a:schemeClr val="tx2"/>
              </a:solidFill>
            </a:endParaRPr>
          </a:p>
        </p:txBody>
      </p:sp>
      <p:pic>
        <p:nvPicPr>
          <p:cNvPr id="5" name="图片 4">
            <a:extLst>
              <a:ext uri="{FF2B5EF4-FFF2-40B4-BE49-F238E27FC236}">
                <a16:creationId xmlns:a16="http://schemas.microsoft.com/office/drawing/2014/main" id="{49FE9839-EC18-CB7F-B212-2D47E4FB42ED}"/>
              </a:ext>
            </a:extLst>
          </p:cNvPr>
          <p:cNvPicPr>
            <a:picLocks noChangeAspect="1"/>
          </p:cNvPicPr>
          <p:nvPr/>
        </p:nvPicPr>
        <p:blipFill>
          <a:blip r:embed="rId4"/>
          <a:stretch>
            <a:fillRect/>
          </a:stretch>
        </p:blipFill>
        <p:spPr>
          <a:xfrm>
            <a:off x="4428125" y="1014522"/>
            <a:ext cx="3714390" cy="851833"/>
          </a:xfrm>
          <a:prstGeom prst="rect">
            <a:avLst/>
          </a:prstGeom>
        </p:spPr>
      </p:pic>
      <p:sp>
        <p:nvSpPr>
          <p:cNvPr id="8" name="文本框 7">
            <a:extLst>
              <a:ext uri="{FF2B5EF4-FFF2-40B4-BE49-F238E27FC236}">
                <a16:creationId xmlns:a16="http://schemas.microsoft.com/office/drawing/2014/main" id="{BC0806EA-E89C-A6B1-BC10-331AEE4C86FF}"/>
              </a:ext>
            </a:extLst>
          </p:cNvPr>
          <p:cNvSpPr txBox="1"/>
          <p:nvPr>
            <p:custDataLst>
              <p:tags r:id="rId2"/>
            </p:custDataLst>
          </p:nvPr>
        </p:nvSpPr>
        <p:spPr>
          <a:xfrm>
            <a:off x="393700" y="3165482"/>
            <a:ext cx="6172200" cy="368300"/>
          </a:xfrm>
          <a:prstGeom prst="rect">
            <a:avLst/>
          </a:prstGeom>
          <a:noFill/>
        </p:spPr>
        <p:txBody>
          <a:bodyPr wrap="square">
            <a:spAutoFit/>
          </a:bodyPr>
          <a:lstStyle/>
          <a:p>
            <a:pPr marL="285750" indent="-285750">
              <a:buFont typeface="Arial" panose="020B0604020202020204" pitchFamily="34" charset="0"/>
              <a:buChar char="•"/>
            </a:pPr>
            <a:r>
              <a:rPr lang="zh-CN" altLang="en-US" dirty="0">
                <a:solidFill>
                  <a:schemeClr val="tx2"/>
                </a:solidFill>
                <a:latin typeface="FandolSong-Regular-Identity-H"/>
              </a:rPr>
              <a:t>多层神经网络</a:t>
            </a:r>
            <a:endParaRPr lang="zh-CN" altLang="en-US" dirty="0">
              <a:solidFill>
                <a:schemeClr val="tx2"/>
              </a:solidFill>
            </a:endParaRPr>
          </a:p>
        </p:txBody>
      </p:sp>
      <p:pic>
        <p:nvPicPr>
          <p:cNvPr id="12" name="图片 11">
            <a:extLst>
              <a:ext uri="{FF2B5EF4-FFF2-40B4-BE49-F238E27FC236}">
                <a16:creationId xmlns:a16="http://schemas.microsoft.com/office/drawing/2014/main" id="{FC5F1EB2-2A21-3E0B-24BF-5C29EED1E39F}"/>
              </a:ext>
            </a:extLst>
          </p:cNvPr>
          <p:cNvPicPr>
            <a:picLocks noChangeAspect="1"/>
          </p:cNvPicPr>
          <p:nvPr/>
        </p:nvPicPr>
        <p:blipFill>
          <a:blip r:embed="rId5"/>
          <a:stretch>
            <a:fillRect/>
          </a:stretch>
        </p:blipFill>
        <p:spPr>
          <a:xfrm>
            <a:off x="1702130" y="2022891"/>
            <a:ext cx="8973787" cy="986055"/>
          </a:xfrm>
          <a:prstGeom prst="rect">
            <a:avLst/>
          </a:prstGeom>
        </p:spPr>
      </p:pic>
      <p:pic>
        <p:nvPicPr>
          <p:cNvPr id="14" name="图片 13">
            <a:extLst>
              <a:ext uri="{FF2B5EF4-FFF2-40B4-BE49-F238E27FC236}">
                <a16:creationId xmlns:a16="http://schemas.microsoft.com/office/drawing/2014/main" id="{9D6A2816-BEB2-237A-D337-22811F3FDB26}"/>
              </a:ext>
            </a:extLst>
          </p:cNvPr>
          <p:cNvPicPr>
            <a:picLocks noChangeAspect="1"/>
          </p:cNvPicPr>
          <p:nvPr/>
        </p:nvPicPr>
        <p:blipFill>
          <a:blip r:embed="rId6"/>
          <a:stretch>
            <a:fillRect/>
          </a:stretch>
        </p:blipFill>
        <p:spPr>
          <a:xfrm>
            <a:off x="2545278" y="3336930"/>
            <a:ext cx="7192488" cy="706776"/>
          </a:xfrm>
          <a:prstGeom prst="rect">
            <a:avLst/>
          </a:prstGeom>
        </p:spPr>
      </p:pic>
      <p:pic>
        <p:nvPicPr>
          <p:cNvPr id="16" name="图片 15">
            <a:extLst>
              <a:ext uri="{FF2B5EF4-FFF2-40B4-BE49-F238E27FC236}">
                <a16:creationId xmlns:a16="http://schemas.microsoft.com/office/drawing/2014/main" id="{5E64F8C5-0A9E-9966-F29D-37217880B3F4}"/>
              </a:ext>
            </a:extLst>
          </p:cNvPr>
          <p:cNvPicPr>
            <a:picLocks noChangeAspect="1"/>
          </p:cNvPicPr>
          <p:nvPr/>
        </p:nvPicPr>
        <p:blipFill>
          <a:blip r:embed="rId7"/>
          <a:stretch>
            <a:fillRect/>
          </a:stretch>
        </p:blipFill>
        <p:spPr>
          <a:xfrm>
            <a:off x="3214255" y="4371690"/>
            <a:ext cx="5851398" cy="1390347"/>
          </a:xfrm>
          <a:prstGeom prst="rect">
            <a:avLst/>
          </a:prstGeom>
        </p:spPr>
      </p:pic>
    </p:spTree>
    <p:extLst>
      <p:ext uri="{BB962C8B-B14F-4D97-AF65-F5344CB8AC3E}">
        <p14:creationId xmlns:p14="http://schemas.microsoft.com/office/powerpoint/2010/main" val="34655598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01897D2-CD91-92D4-706A-8B13BFCD3BE6}"/>
              </a:ext>
            </a:extLst>
          </p:cNvPr>
          <p:cNvSpPr>
            <a:spLocks noGrp="1"/>
          </p:cNvSpPr>
          <p:nvPr>
            <p:ph type="title"/>
          </p:nvPr>
        </p:nvSpPr>
        <p:spPr/>
        <p:txBody>
          <a:bodyPr/>
          <a:lstStyle/>
          <a:p>
            <a:r>
              <a:rPr kumimoji="1" lang="zh-CN" altLang="en-US" dirty="0"/>
              <a:t>请思考</a:t>
            </a:r>
          </a:p>
        </p:txBody>
      </p:sp>
      <mc:AlternateContent xmlns:mc="http://schemas.openxmlformats.org/markup-compatibility/2006" xmlns:a14="http://schemas.microsoft.com/office/drawing/2010/main">
        <mc:Choice Requires="a14">
          <p:sp>
            <p:nvSpPr>
              <p:cNvPr id="3" name="内容占位符 2">
                <a:extLst>
                  <a:ext uri="{FF2B5EF4-FFF2-40B4-BE49-F238E27FC236}">
                    <a16:creationId xmlns:a16="http://schemas.microsoft.com/office/drawing/2014/main" id="{39E4CBF1-5986-0F58-6D88-394FF657C6E0}"/>
                  </a:ext>
                </a:extLst>
              </p:cNvPr>
              <p:cNvSpPr>
                <a:spLocks noGrp="1"/>
              </p:cNvSpPr>
              <p:nvPr>
                <p:ph idx="1"/>
              </p:nvPr>
            </p:nvSpPr>
            <p:spPr/>
            <p:txBody>
              <a:bodyPr/>
              <a:lstStyle/>
              <a:p>
                <a:r>
                  <a:rPr kumimoji="1" lang="zh-CN" altLang="en-US" dirty="0"/>
                  <a:t>激活函数是</a:t>
                </a:r>
                <a:r>
                  <a:rPr kumimoji="1" lang="en-US" altLang="zh-CN" dirty="0"/>
                  <a:t> </a:t>
                </a:r>
                <a14:m>
                  <m:oMath xmlns:m="http://schemas.openxmlformats.org/officeDocument/2006/math">
                    <m:r>
                      <a:rPr kumimoji="1" lang="en-US" altLang="zh-CN" i="1" dirty="0" smtClean="0">
                        <a:latin typeface="Cambria Math" panose="02040503050406030204" pitchFamily="18" charset="0"/>
                      </a:rPr>
                      <m:t>𝑅𝑒𝐿𝑈</m:t>
                    </m:r>
                    <m:r>
                      <a:rPr kumimoji="1" lang="en-US" altLang="zh-CN" i="1" dirty="0" smtClean="0">
                        <a:latin typeface="Cambria Math" panose="02040503050406030204" pitchFamily="18" charset="0"/>
                      </a:rPr>
                      <m:t>(</m:t>
                    </m:r>
                    <m:r>
                      <a:rPr kumimoji="1" lang="en-US" altLang="zh-CN" i="1" dirty="0" smtClean="0">
                        <a:latin typeface="Cambria Math" panose="02040503050406030204" pitchFamily="18" charset="0"/>
                      </a:rPr>
                      <m:t>𝑥</m:t>
                    </m:r>
                    <m:r>
                      <a:rPr kumimoji="1" lang="en-US" altLang="zh-CN" i="1" dirty="0" smtClean="0">
                        <a:latin typeface="Cambria Math" panose="02040503050406030204" pitchFamily="18" charset="0"/>
                      </a:rPr>
                      <m:t>)=</m:t>
                    </m:r>
                    <m:r>
                      <m:rPr>
                        <m:sty m:val="p"/>
                      </m:rPr>
                      <a:rPr kumimoji="1" lang="en-US" altLang="zh-CN" i="1" dirty="0">
                        <a:latin typeface="Cambria Math" panose="02040503050406030204" pitchFamily="18" charset="0"/>
                      </a:rPr>
                      <m:t>Max</m:t>
                    </m:r>
                    <m:r>
                      <a:rPr kumimoji="1" lang="en-US" altLang="zh-CN" b="1" i="1" dirty="0" smtClean="0">
                        <a:latin typeface="Cambria Math" panose="02040503050406030204" pitchFamily="18" charset="0"/>
                      </a:rPr>
                      <m:t>(</m:t>
                    </m:r>
                    <m:r>
                      <a:rPr kumimoji="1" lang="en-US" altLang="zh-CN" b="1" i="1" dirty="0" smtClean="0">
                        <a:latin typeface="Cambria Math" panose="02040503050406030204" pitchFamily="18" charset="0"/>
                      </a:rPr>
                      <m:t>𝟎</m:t>
                    </m:r>
                    <m:r>
                      <a:rPr kumimoji="1" lang="en-US" altLang="zh-CN" b="1" i="1" dirty="0" smtClean="0">
                        <a:latin typeface="Cambria Math" panose="02040503050406030204" pitchFamily="18" charset="0"/>
                      </a:rPr>
                      <m:t>,</m:t>
                    </m:r>
                    <m:r>
                      <a:rPr kumimoji="1" lang="en-US" altLang="zh-CN" b="1" i="1" dirty="0" smtClean="0">
                        <a:latin typeface="Cambria Math" panose="02040503050406030204" pitchFamily="18" charset="0"/>
                      </a:rPr>
                      <m:t>𝒙</m:t>
                    </m:r>
                    <m:r>
                      <a:rPr kumimoji="1" lang="en-US" altLang="zh-CN" b="1" i="1" dirty="0" smtClean="0">
                        <a:latin typeface="Cambria Math" panose="02040503050406030204" pitchFamily="18" charset="0"/>
                      </a:rPr>
                      <m:t>)</m:t>
                    </m:r>
                  </m:oMath>
                </a14:m>
                <a:r>
                  <a:rPr kumimoji="1" lang="zh-CN" altLang="en-US" dirty="0"/>
                  <a:t>，且所有偏置项为</a:t>
                </a:r>
                <a:r>
                  <a:rPr kumimoji="1" lang="en-US" altLang="zh-CN" dirty="0"/>
                  <a:t>0</a:t>
                </a:r>
                <a:r>
                  <a:rPr kumimoji="1" lang="zh-CN" altLang="en-US" dirty="0"/>
                  <a:t>，输入输出均一维</a:t>
                </a:r>
                <a:endParaRPr kumimoji="1" lang="en-US" altLang="zh-CN" dirty="0"/>
              </a:p>
              <a:p>
                <a:r>
                  <a:rPr kumimoji="1" lang="zh-CN" altLang="en-US" dirty="0"/>
                  <a:t>两层的神经网络函数的形状是什么样的？</a:t>
                </a:r>
              </a:p>
            </p:txBody>
          </p:sp>
        </mc:Choice>
        <mc:Fallback xmlns="">
          <p:sp>
            <p:nvSpPr>
              <p:cNvPr id="3" name="内容占位符 2">
                <a:extLst>
                  <a:ext uri="{FF2B5EF4-FFF2-40B4-BE49-F238E27FC236}">
                    <a16:creationId xmlns:a16="http://schemas.microsoft.com/office/drawing/2014/main" id="{39E4CBF1-5986-0F58-6D88-394FF657C6E0}"/>
                  </a:ext>
                </a:extLst>
              </p:cNvPr>
              <p:cNvSpPr>
                <a:spLocks noGrp="1" noRot="1" noChangeAspect="1" noMove="1" noResize="1" noEditPoints="1" noAdjustHandles="1" noChangeArrowheads="1" noChangeShapeType="1" noTextEdit="1"/>
              </p:cNvSpPr>
              <p:nvPr>
                <p:ph idx="1"/>
              </p:nvPr>
            </p:nvSpPr>
            <p:spPr>
              <a:blipFill>
                <a:blip r:embed="rId2"/>
                <a:stretch>
                  <a:fillRect l="-889" t="-1188"/>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4" name="文本框 3">
                <a:extLst>
                  <a:ext uri="{FF2B5EF4-FFF2-40B4-BE49-F238E27FC236}">
                    <a16:creationId xmlns:a16="http://schemas.microsoft.com/office/drawing/2014/main" id="{8F03D8AA-159D-DCB0-5E81-A6BD18D1307C}"/>
                  </a:ext>
                </a:extLst>
              </p:cNvPr>
              <p:cNvSpPr txBox="1"/>
              <p:nvPr/>
            </p:nvSpPr>
            <p:spPr>
              <a:xfrm>
                <a:off x="4468923" y="1804633"/>
                <a:ext cx="4050083" cy="1225015"/>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sSub>
                        <m:sSubPr>
                          <m:ctrlPr>
                            <a:rPr kumimoji="1" lang="en-US" altLang="zh-CN" sz="2800" b="0" i="1" smtClean="0">
                              <a:latin typeface="Cambria Math" panose="02040503050406030204" pitchFamily="18" charset="0"/>
                            </a:rPr>
                          </m:ctrlPr>
                        </m:sSubPr>
                        <m:e>
                          <m:r>
                            <a:rPr kumimoji="1" lang="en-US" altLang="zh-CN" sz="2800" b="0" i="1" smtClean="0">
                              <a:latin typeface="Cambria Math" panose="02040503050406030204" pitchFamily="18" charset="0"/>
                            </a:rPr>
                            <m:t>𝑓</m:t>
                          </m:r>
                        </m:e>
                        <m:sub>
                          <m:r>
                            <a:rPr kumimoji="1" lang="en-US" altLang="zh-CN" sz="2800" b="0" i="1" smtClean="0">
                              <a:latin typeface="Cambria Math" panose="02040503050406030204" pitchFamily="18" charset="0"/>
                            </a:rPr>
                            <m:t>𝜃</m:t>
                          </m:r>
                        </m:sub>
                      </m:sSub>
                      <m:d>
                        <m:dPr>
                          <m:ctrlPr>
                            <a:rPr kumimoji="1" lang="en-US" altLang="zh-CN" sz="2800" b="0" i="1" smtClean="0">
                              <a:latin typeface="Cambria Math" panose="02040503050406030204" pitchFamily="18" charset="0"/>
                            </a:rPr>
                          </m:ctrlPr>
                        </m:dPr>
                        <m:e>
                          <m:r>
                            <a:rPr kumimoji="1" lang="en-US" altLang="zh-CN" sz="2800" b="0" i="1" smtClean="0">
                              <a:latin typeface="Cambria Math" panose="02040503050406030204" pitchFamily="18" charset="0"/>
                            </a:rPr>
                            <m:t>𝑥</m:t>
                          </m:r>
                        </m:e>
                      </m:d>
                      <m:r>
                        <a:rPr kumimoji="1" lang="en-US" altLang="zh-CN" sz="2800" b="0" i="1" smtClean="0">
                          <a:latin typeface="Cambria Math" panose="02040503050406030204" pitchFamily="18" charset="0"/>
                        </a:rPr>
                        <m:t>=</m:t>
                      </m:r>
                      <m:nary>
                        <m:naryPr>
                          <m:chr m:val="∑"/>
                          <m:ctrlPr>
                            <a:rPr kumimoji="1" lang="en-US" altLang="zh-CN" sz="2800" b="0" i="1" smtClean="0">
                              <a:latin typeface="Cambria Math" panose="02040503050406030204" pitchFamily="18" charset="0"/>
                            </a:rPr>
                          </m:ctrlPr>
                        </m:naryPr>
                        <m:sub>
                          <m:r>
                            <m:rPr>
                              <m:brk m:alnAt="23"/>
                            </m:rPr>
                            <a:rPr kumimoji="1" lang="en-US" altLang="zh-CN" sz="2800" b="0" i="1" smtClean="0">
                              <a:latin typeface="Cambria Math" panose="02040503050406030204" pitchFamily="18" charset="0"/>
                            </a:rPr>
                            <m:t>𝑗</m:t>
                          </m:r>
                          <m:r>
                            <a:rPr kumimoji="1" lang="en-US" altLang="zh-CN" sz="2800" b="0" i="1" smtClean="0">
                              <a:latin typeface="Cambria Math" panose="02040503050406030204" pitchFamily="18" charset="0"/>
                            </a:rPr>
                            <m:t>=1</m:t>
                          </m:r>
                        </m:sub>
                        <m:sup>
                          <m:r>
                            <a:rPr kumimoji="1" lang="en-US" altLang="zh-CN" sz="2800" b="0" i="1" smtClean="0">
                              <a:latin typeface="Cambria Math" panose="02040503050406030204" pitchFamily="18" charset="0"/>
                            </a:rPr>
                            <m:t>𝑚</m:t>
                          </m:r>
                        </m:sup>
                        <m:e>
                          <m:sSub>
                            <m:sSubPr>
                              <m:ctrlPr>
                                <a:rPr kumimoji="1" lang="en-US" altLang="zh-CN" sz="2800" b="0" i="1" smtClean="0">
                                  <a:latin typeface="Cambria Math" panose="02040503050406030204" pitchFamily="18" charset="0"/>
                                </a:rPr>
                              </m:ctrlPr>
                            </m:sSubPr>
                            <m:e>
                              <m:r>
                                <a:rPr kumimoji="1" lang="en-US" altLang="zh-CN" sz="2800" b="0" i="1" smtClean="0">
                                  <a:latin typeface="Cambria Math" panose="02040503050406030204" pitchFamily="18" charset="0"/>
                                </a:rPr>
                                <m:t>𝑎</m:t>
                              </m:r>
                            </m:e>
                            <m:sub>
                              <m:r>
                                <a:rPr kumimoji="1" lang="en-US" altLang="zh-CN" sz="2800" b="0" i="1" smtClean="0">
                                  <a:latin typeface="Cambria Math" panose="02040503050406030204" pitchFamily="18" charset="0"/>
                                </a:rPr>
                                <m:t>𝑗</m:t>
                              </m:r>
                            </m:sub>
                          </m:sSub>
                          <m:r>
                            <a:rPr kumimoji="1" lang="en-US" altLang="zh-CN" sz="2800" b="0" i="1" smtClean="0">
                              <a:latin typeface="Cambria Math" panose="02040503050406030204" pitchFamily="18" charset="0"/>
                            </a:rPr>
                            <m:t>𝜎</m:t>
                          </m:r>
                          <m:r>
                            <a:rPr kumimoji="1" lang="en-US" altLang="zh-CN" sz="2800" b="0" i="1" smtClean="0">
                              <a:latin typeface="Cambria Math" panose="02040503050406030204" pitchFamily="18" charset="0"/>
                            </a:rPr>
                            <m:t>(</m:t>
                          </m:r>
                          <m:sSub>
                            <m:sSubPr>
                              <m:ctrlPr>
                                <a:rPr kumimoji="1" lang="en-US" altLang="zh-CN" sz="2800" b="0" i="1" smtClean="0">
                                  <a:latin typeface="Cambria Math" panose="02040503050406030204" pitchFamily="18" charset="0"/>
                                </a:rPr>
                              </m:ctrlPr>
                            </m:sSubPr>
                            <m:e>
                              <m:r>
                                <a:rPr kumimoji="1" lang="en-US" altLang="zh-CN" sz="2800" b="0" i="1" smtClean="0">
                                  <a:latin typeface="Cambria Math" panose="02040503050406030204" pitchFamily="18" charset="0"/>
                                </a:rPr>
                                <m:t>𝑤</m:t>
                              </m:r>
                            </m:e>
                            <m:sub>
                              <m:r>
                                <a:rPr kumimoji="1" lang="en-US" altLang="zh-CN" sz="2800" b="0" i="1" smtClean="0">
                                  <a:latin typeface="Cambria Math" panose="02040503050406030204" pitchFamily="18" charset="0"/>
                                </a:rPr>
                                <m:t>𝑗</m:t>
                              </m:r>
                            </m:sub>
                          </m:sSub>
                          <m:r>
                            <a:rPr kumimoji="1" lang="en-US" altLang="zh-CN" sz="2800" b="0" i="1" smtClean="0">
                              <a:latin typeface="Cambria Math" panose="02040503050406030204" pitchFamily="18" charset="0"/>
                            </a:rPr>
                            <m:t>𝑥</m:t>
                          </m:r>
                          <m:r>
                            <a:rPr kumimoji="1" lang="en-US" altLang="zh-CN" sz="2800" b="0" i="1" smtClean="0">
                              <a:latin typeface="Cambria Math" panose="02040503050406030204" pitchFamily="18" charset="0"/>
                            </a:rPr>
                            <m:t>+</m:t>
                          </m:r>
                          <m:sSub>
                            <m:sSubPr>
                              <m:ctrlPr>
                                <a:rPr kumimoji="1" lang="en-US" altLang="zh-CN" sz="2800" b="0" i="1" smtClean="0">
                                  <a:latin typeface="Cambria Math" panose="02040503050406030204" pitchFamily="18" charset="0"/>
                                </a:rPr>
                              </m:ctrlPr>
                            </m:sSubPr>
                            <m:e>
                              <m:r>
                                <a:rPr kumimoji="1" lang="en-US" altLang="zh-CN" sz="2800" b="0" i="1" smtClean="0">
                                  <a:latin typeface="Cambria Math" panose="02040503050406030204" pitchFamily="18" charset="0"/>
                                </a:rPr>
                                <m:t>𝑏</m:t>
                              </m:r>
                            </m:e>
                            <m:sub>
                              <m:r>
                                <a:rPr kumimoji="1" lang="en-US" altLang="zh-CN" sz="2800" b="0" i="1" smtClean="0">
                                  <a:latin typeface="Cambria Math" panose="02040503050406030204" pitchFamily="18" charset="0"/>
                                </a:rPr>
                                <m:t>𝑗</m:t>
                              </m:r>
                            </m:sub>
                          </m:sSub>
                          <m:r>
                            <a:rPr kumimoji="1" lang="en-US" altLang="zh-CN" sz="2800" b="0" i="1" smtClean="0">
                              <a:latin typeface="Cambria Math" panose="02040503050406030204" pitchFamily="18" charset="0"/>
                            </a:rPr>
                            <m:t>)</m:t>
                          </m:r>
                        </m:e>
                      </m:nary>
                    </m:oMath>
                  </m:oMathPara>
                </a14:m>
                <a:endParaRPr kumimoji="1" lang="zh-CN" altLang="en-US" sz="2800" dirty="0"/>
              </a:p>
            </p:txBody>
          </p:sp>
        </mc:Choice>
        <mc:Fallback xmlns="">
          <p:sp>
            <p:nvSpPr>
              <p:cNvPr id="4" name="文本框 3">
                <a:extLst>
                  <a:ext uri="{FF2B5EF4-FFF2-40B4-BE49-F238E27FC236}">
                    <a16:creationId xmlns:a16="http://schemas.microsoft.com/office/drawing/2014/main" id="{8F03D8AA-159D-DCB0-5E81-A6BD18D1307C}"/>
                  </a:ext>
                </a:extLst>
              </p:cNvPr>
              <p:cNvSpPr txBox="1">
                <a:spLocks noRot="1" noChangeAspect="1" noMove="1" noResize="1" noEditPoints="1" noAdjustHandles="1" noChangeArrowheads="1" noChangeShapeType="1" noTextEdit="1"/>
              </p:cNvSpPr>
              <p:nvPr/>
            </p:nvSpPr>
            <p:spPr>
              <a:xfrm>
                <a:off x="4468923" y="1804633"/>
                <a:ext cx="4050083" cy="1225015"/>
              </a:xfrm>
              <a:prstGeom prst="rect">
                <a:avLst/>
              </a:prstGeom>
              <a:blipFill>
                <a:blip r:embed="rId3"/>
                <a:stretch>
                  <a:fillRect l="-2500" t="-115464" r="-2812" b="-169072"/>
                </a:stretch>
              </a:blipFill>
            </p:spPr>
            <p:txBody>
              <a:bodyPr/>
              <a:lstStyle/>
              <a:p>
                <a:r>
                  <a:rPr lang="zh-CN" altLang="en-US">
                    <a:noFill/>
                  </a:rPr>
                  <a:t> </a:t>
                </a:r>
              </a:p>
            </p:txBody>
          </p:sp>
        </mc:Fallback>
      </mc:AlternateContent>
      <p:cxnSp>
        <p:nvCxnSpPr>
          <p:cNvPr id="6" name="直线连接符 5">
            <a:extLst>
              <a:ext uri="{FF2B5EF4-FFF2-40B4-BE49-F238E27FC236}">
                <a16:creationId xmlns:a16="http://schemas.microsoft.com/office/drawing/2014/main" id="{F881B19B-E5AD-D42B-ABE2-8202743BF8E6}"/>
              </a:ext>
            </a:extLst>
          </p:cNvPr>
          <p:cNvCxnSpPr/>
          <p:nvPr/>
        </p:nvCxnSpPr>
        <p:spPr>
          <a:xfrm>
            <a:off x="714703" y="4813738"/>
            <a:ext cx="2175642"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 name="直线连接符 6">
            <a:extLst>
              <a:ext uri="{FF2B5EF4-FFF2-40B4-BE49-F238E27FC236}">
                <a16:creationId xmlns:a16="http://schemas.microsoft.com/office/drawing/2014/main" id="{34EF0137-2E87-EE9D-3AEB-3D9D050A5BDE}"/>
              </a:ext>
            </a:extLst>
          </p:cNvPr>
          <p:cNvCxnSpPr>
            <a:cxnSpLocks/>
          </p:cNvCxnSpPr>
          <p:nvPr/>
        </p:nvCxnSpPr>
        <p:spPr>
          <a:xfrm flipV="1">
            <a:off x="2890345" y="2816492"/>
            <a:ext cx="893379" cy="1997246"/>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1" name="直线箭头连接符 10">
            <a:extLst>
              <a:ext uri="{FF2B5EF4-FFF2-40B4-BE49-F238E27FC236}">
                <a16:creationId xmlns:a16="http://schemas.microsoft.com/office/drawing/2014/main" id="{27B77658-A8F4-FD38-8220-CC92BA9604B8}"/>
              </a:ext>
            </a:extLst>
          </p:cNvPr>
          <p:cNvCxnSpPr>
            <a:cxnSpLocks/>
          </p:cNvCxnSpPr>
          <p:nvPr/>
        </p:nvCxnSpPr>
        <p:spPr>
          <a:xfrm>
            <a:off x="4130566" y="4807202"/>
            <a:ext cx="3657600" cy="2178"/>
          </a:xfrm>
          <a:prstGeom prst="straightConnector1">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线箭头连接符 13">
            <a:extLst>
              <a:ext uri="{FF2B5EF4-FFF2-40B4-BE49-F238E27FC236}">
                <a16:creationId xmlns:a16="http://schemas.microsoft.com/office/drawing/2014/main" id="{A30E7861-5A33-3513-2431-A90F64752C07}"/>
              </a:ext>
            </a:extLst>
          </p:cNvPr>
          <p:cNvCxnSpPr>
            <a:cxnSpLocks/>
          </p:cNvCxnSpPr>
          <p:nvPr/>
        </p:nvCxnSpPr>
        <p:spPr>
          <a:xfrm flipH="1" flipV="1">
            <a:off x="6009055" y="3092669"/>
            <a:ext cx="8124" cy="3098484"/>
          </a:xfrm>
          <a:prstGeom prst="straightConnector1">
            <a:avLst/>
          </a:prstGeom>
          <a:ln w="28575">
            <a:solidFill>
              <a:srgbClr val="070707"/>
            </a:solidFill>
            <a:tailEnd type="triangle"/>
          </a:ln>
        </p:spPr>
        <p:style>
          <a:lnRef idx="1">
            <a:schemeClr val="accent2"/>
          </a:lnRef>
          <a:fillRef idx="0">
            <a:schemeClr val="accent2"/>
          </a:fillRef>
          <a:effectRef idx="0">
            <a:schemeClr val="accent2"/>
          </a:effectRef>
          <a:fontRef idx="minor">
            <a:schemeClr val="tx1"/>
          </a:fontRef>
        </p:style>
      </p:cxnSp>
      <p:cxnSp>
        <p:nvCxnSpPr>
          <p:cNvPr id="20" name="直线连接符 19">
            <a:extLst>
              <a:ext uri="{FF2B5EF4-FFF2-40B4-BE49-F238E27FC236}">
                <a16:creationId xmlns:a16="http://schemas.microsoft.com/office/drawing/2014/main" id="{8135E4D1-AC76-08C7-B5B7-6E45379D2FF8}"/>
              </a:ext>
            </a:extLst>
          </p:cNvPr>
          <p:cNvCxnSpPr>
            <a:cxnSpLocks/>
          </p:cNvCxnSpPr>
          <p:nvPr/>
        </p:nvCxnSpPr>
        <p:spPr>
          <a:xfrm flipV="1">
            <a:off x="6009055" y="3429000"/>
            <a:ext cx="969821" cy="1384738"/>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2" name="直线连接符 21">
            <a:extLst>
              <a:ext uri="{FF2B5EF4-FFF2-40B4-BE49-F238E27FC236}">
                <a16:creationId xmlns:a16="http://schemas.microsoft.com/office/drawing/2014/main" id="{B766B597-9208-F605-BF04-9E055E9E6D06}"/>
              </a:ext>
            </a:extLst>
          </p:cNvPr>
          <p:cNvCxnSpPr>
            <a:cxnSpLocks/>
          </p:cNvCxnSpPr>
          <p:nvPr/>
        </p:nvCxnSpPr>
        <p:spPr>
          <a:xfrm flipV="1">
            <a:off x="6017179" y="4011470"/>
            <a:ext cx="1085456" cy="802268"/>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5" name="直线连接符 24">
            <a:extLst>
              <a:ext uri="{FF2B5EF4-FFF2-40B4-BE49-F238E27FC236}">
                <a16:creationId xmlns:a16="http://schemas.microsoft.com/office/drawing/2014/main" id="{BEA2A74C-BAA8-DA06-7720-FD3F3FCE3998}"/>
              </a:ext>
            </a:extLst>
          </p:cNvPr>
          <p:cNvCxnSpPr>
            <a:cxnSpLocks/>
          </p:cNvCxnSpPr>
          <p:nvPr/>
        </p:nvCxnSpPr>
        <p:spPr>
          <a:xfrm>
            <a:off x="6025303" y="4813738"/>
            <a:ext cx="1488773" cy="726776"/>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8" name="直线连接符 27">
            <a:extLst>
              <a:ext uri="{FF2B5EF4-FFF2-40B4-BE49-F238E27FC236}">
                <a16:creationId xmlns:a16="http://schemas.microsoft.com/office/drawing/2014/main" id="{EC61E9C3-04E5-DDC6-992C-FBF05ABFC8E0}"/>
              </a:ext>
            </a:extLst>
          </p:cNvPr>
          <p:cNvCxnSpPr>
            <a:cxnSpLocks/>
          </p:cNvCxnSpPr>
          <p:nvPr/>
        </p:nvCxnSpPr>
        <p:spPr>
          <a:xfrm>
            <a:off x="6025303" y="4813737"/>
            <a:ext cx="744386" cy="945952"/>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1" name="直线连接符 30">
            <a:extLst>
              <a:ext uri="{FF2B5EF4-FFF2-40B4-BE49-F238E27FC236}">
                <a16:creationId xmlns:a16="http://schemas.microsoft.com/office/drawing/2014/main" id="{34C63189-9E56-D17F-D550-8B3CB839A710}"/>
              </a:ext>
            </a:extLst>
          </p:cNvPr>
          <p:cNvCxnSpPr>
            <a:cxnSpLocks/>
          </p:cNvCxnSpPr>
          <p:nvPr/>
        </p:nvCxnSpPr>
        <p:spPr>
          <a:xfrm flipH="1">
            <a:off x="5047358" y="4813736"/>
            <a:ext cx="977945" cy="945953"/>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4" name="直线连接符 33">
            <a:extLst>
              <a:ext uri="{FF2B5EF4-FFF2-40B4-BE49-F238E27FC236}">
                <a16:creationId xmlns:a16="http://schemas.microsoft.com/office/drawing/2014/main" id="{19557BAE-4DD0-1D1E-41F6-7C75432483DF}"/>
              </a:ext>
            </a:extLst>
          </p:cNvPr>
          <p:cNvCxnSpPr>
            <a:cxnSpLocks/>
          </p:cNvCxnSpPr>
          <p:nvPr/>
        </p:nvCxnSpPr>
        <p:spPr>
          <a:xfrm flipH="1">
            <a:off x="4512158" y="4813735"/>
            <a:ext cx="1521269" cy="336333"/>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7" name="直线连接符 36">
            <a:extLst>
              <a:ext uri="{FF2B5EF4-FFF2-40B4-BE49-F238E27FC236}">
                <a16:creationId xmlns:a16="http://schemas.microsoft.com/office/drawing/2014/main" id="{610CE5B9-F7BC-156E-BD3A-80DEC59C9DD7}"/>
              </a:ext>
            </a:extLst>
          </p:cNvPr>
          <p:cNvCxnSpPr>
            <a:cxnSpLocks/>
          </p:cNvCxnSpPr>
          <p:nvPr/>
        </p:nvCxnSpPr>
        <p:spPr>
          <a:xfrm flipH="1" flipV="1">
            <a:off x="4426903" y="3675138"/>
            <a:ext cx="1567918" cy="1134242"/>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0" name="直线连接符 39">
            <a:extLst>
              <a:ext uri="{FF2B5EF4-FFF2-40B4-BE49-F238E27FC236}">
                <a16:creationId xmlns:a16="http://schemas.microsoft.com/office/drawing/2014/main" id="{AB8220C7-0639-6B8F-5749-4C6FB530A175}"/>
              </a:ext>
            </a:extLst>
          </p:cNvPr>
          <p:cNvCxnSpPr>
            <a:cxnSpLocks/>
          </p:cNvCxnSpPr>
          <p:nvPr/>
        </p:nvCxnSpPr>
        <p:spPr>
          <a:xfrm flipH="1" flipV="1">
            <a:off x="5021082" y="3182862"/>
            <a:ext cx="1004221" cy="1660218"/>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6" name="直线箭头连接符 45">
            <a:extLst>
              <a:ext uri="{FF2B5EF4-FFF2-40B4-BE49-F238E27FC236}">
                <a16:creationId xmlns:a16="http://schemas.microsoft.com/office/drawing/2014/main" id="{AA22265C-CBB0-1136-2D2C-416C5D5F9E8E}"/>
              </a:ext>
            </a:extLst>
          </p:cNvPr>
          <p:cNvCxnSpPr>
            <a:cxnSpLocks/>
          </p:cNvCxnSpPr>
          <p:nvPr/>
        </p:nvCxnSpPr>
        <p:spPr>
          <a:xfrm>
            <a:off x="8185748" y="4853825"/>
            <a:ext cx="3657600" cy="2178"/>
          </a:xfrm>
          <a:prstGeom prst="straightConnector1">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线箭头连接符 46">
            <a:extLst>
              <a:ext uri="{FF2B5EF4-FFF2-40B4-BE49-F238E27FC236}">
                <a16:creationId xmlns:a16="http://schemas.microsoft.com/office/drawing/2014/main" id="{DC08913E-F22F-A53B-F057-B42DEC623267}"/>
              </a:ext>
            </a:extLst>
          </p:cNvPr>
          <p:cNvCxnSpPr>
            <a:cxnSpLocks/>
          </p:cNvCxnSpPr>
          <p:nvPr/>
        </p:nvCxnSpPr>
        <p:spPr>
          <a:xfrm flipH="1" flipV="1">
            <a:off x="10064237" y="3139292"/>
            <a:ext cx="8124" cy="3098484"/>
          </a:xfrm>
          <a:prstGeom prst="straightConnector1">
            <a:avLst/>
          </a:prstGeom>
          <a:ln w="28575">
            <a:solidFill>
              <a:srgbClr val="070707"/>
            </a:solidFill>
            <a:tailEnd type="triangle"/>
          </a:ln>
        </p:spPr>
        <p:style>
          <a:lnRef idx="1">
            <a:schemeClr val="accent2"/>
          </a:lnRef>
          <a:fillRef idx="0">
            <a:schemeClr val="accent2"/>
          </a:fillRef>
          <a:effectRef idx="0">
            <a:schemeClr val="accent2"/>
          </a:effectRef>
          <a:fontRef idx="minor">
            <a:schemeClr val="tx1"/>
          </a:fontRef>
        </p:style>
      </p:cxnSp>
      <p:cxnSp>
        <p:nvCxnSpPr>
          <p:cNvPr id="49" name="直线连接符 48">
            <a:extLst>
              <a:ext uri="{FF2B5EF4-FFF2-40B4-BE49-F238E27FC236}">
                <a16:creationId xmlns:a16="http://schemas.microsoft.com/office/drawing/2014/main" id="{849DE87C-E6A2-9557-9AF3-1E4F9D7F8AA3}"/>
              </a:ext>
            </a:extLst>
          </p:cNvPr>
          <p:cNvCxnSpPr>
            <a:cxnSpLocks/>
          </p:cNvCxnSpPr>
          <p:nvPr/>
        </p:nvCxnSpPr>
        <p:spPr>
          <a:xfrm flipV="1">
            <a:off x="10072361" y="4011470"/>
            <a:ext cx="1866914" cy="848891"/>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54" name="直线连接符 53">
            <a:extLst>
              <a:ext uri="{FF2B5EF4-FFF2-40B4-BE49-F238E27FC236}">
                <a16:creationId xmlns:a16="http://schemas.microsoft.com/office/drawing/2014/main" id="{6FE43694-086F-D950-3F64-19FEB42A8B0E}"/>
              </a:ext>
            </a:extLst>
          </p:cNvPr>
          <p:cNvCxnSpPr>
            <a:cxnSpLocks/>
          </p:cNvCxnSpPr>
          <p:nvPr/>
        </p:nvCxnSpPr>
        <p:spPr>
          <a:xfrm flipH="1" flipV="1">
            <a:off x="8169758" y="4309241"/>
            <a:ext cx="1880245" cy="546762"/>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B8D26104-7473-81E0-E279-675DAC775331}"/>
              </a:ext>
            </a:extLst>
          </p:cNvPr>
          <p:cNvSpPr txBox="1"/>
          <p:nvPr/>
        </p:nvSpPr>
        <p:spPr>
          <a:xfrm>
            <a:off x="8870731" y="2007476"/>
            <a:ext cx="2972617" cy="400110"/>
          </a:xfrm>
          <a:prstGeom prst="rect">
            <a:avLst/>
          </a:prstGeom>
          <a:noFill/>
        </p:spPr>
        <p:txBody>
          <a:bodyPr wrap="square" rtlCol="0">
            <a:spAutoFit/>
          </a:bodyPr>
          <a:lstStyle/>
          <a:p>
            <a:pPr algn="l"/>
            <a:r>
              <a:rPr kumimoji="1" lang="zh-CN" altLang="en-US" sz="2000" dirty="0"/>
              <a:t>没有万有逼近能力！</a:t>
            </a:r>
          </a:p>
        </p:txBody>
      </p:sp>
    </p:spTree>
    <p:extLst>
      <p:ext uri="{BB962C8B-B14F-4D97-AF65-F5344CB8AC3E}">
        <p14:creationId xmlns:p14="http://schemas.microsoft.com/office/powerpoint/2010/main" val="743087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3" presetClass="entr" presetSubtype="10" fill="hold" nodeType="click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blinds(horizontal)">
                                      <p:cBhvr>
                                        <p:cTn id="23" dur="500"/>
                                        <p:tgtEl>
                                          <p:spTgt spid="20"/>
                                        </p:tgtEl>
                                      </p:cBhvr>
                                    </p:animEffect>
                                  </p:childTnLst>
                                </p:cTn>
                              </p:par>
                            </p:childTnLst>
                          </p:cTn>
                        </p:par>
                      </p:childTnLst>
                    </p:cTn>
                  </p:par>
                  <p:par>
                    <p:cTn id="24" fill="hold">
                      <p:stCondLst>
                        <p:cond delay="indefinite"/>
                      </p:stCondLst>
                      <p:childTnLst>
                        <p:par>
                          <p:cTn id="25" fill="hold">
                            <p:stCondLst>
                              <p:cond delay="0"/>
                            </p:stCondLst>
                            <p:childTnLst>
                              <p:par>
                                <p:cTn id="26" presetID="3" presetClass="entr" presetSubtype="10" fill="hold" nodeType="clickEffect">
                                  <p:stCondLst>
                                    <p:cond delay="0"/>
                                  </p:stCondLst>
                                  <p:childTnLst>
                                    <p:set>
                                      <p:cBhvr>
                                        <p:cTn id="27" dur="1" fill="hold">
                                          <p:stCondLst>
                                            <p:cond delay="0"/>
                                          </p:stCondLst>
                                        </p:cTn>
                                        <p:tgtEl>
                                          <p:spTgt spid="22"/>
                                        </p:tgtEl>
                                        <p:attrNameLst>
                                          <p:attrName>style.visibility</p:attrName>
                                        </p:attrNameLst>
                                      </p:cBhvr>
                                      <p:to>
                                        <p:strVal val="visible"/>
                                      </p:to>
                                    </p:set>
                                    <p:animEffect transition="in" filter="blinds(horizontal)">
                                      <p:cBhvr>
                                        <p:cTn id="28" dur="500"/>
                                        <p:tgtEl>
                                          <p:spTgt spid="22"/>
                                        </p:tgtEl>
                                      </p:cBhvr>
                                    </p:animEffect>
                                  </p:childTnLst>
                                </p:cTn>
                              </p:par>
                            </p:childTnLst>
                          </p:cTn>
                        </p:par>
                      </p:childTnLst>
                    </p:cTn>
                  </p:par>
                  <p:par>
                    <p:cTn id="29" fill="hold">
                      <p:stCondLst>
                        <p:cond delay="indefinite"/>
                      </p:stCondLst>
                      <p:childTnLst>
                        <p:par>
                          <p:cTn id="30" fill="hold">
                            <p:stCondLst>
                              <p:cond delay="0"/>
                            </p:stCondLst>
                            <p:childTnLst>
                              <p:par>
                                <p:cTn id="31" presetID="3" presetClass="entr" presetSubtype="10" fill="hold" nodeType="clickEffect">
                                  <p:stCondLst>
                                    <p:cond delay="0"/>
                                  </p:stCondLst>
                                  <p:childTnLst>
                                    <p:set>
                                      <p:cBhvr>
                                        <p:cTn id="32" dur="1" fill="hold">
                                          <p:stCondLst>
                                            <p:cond delay="0"/>
                                          </p:stCondLst>
                                        </p:cTn>
                                        <p:tgtEl>
                                          <p:spTgt spid="25"/>
                                        </p:tgtEl>
                                        <p:attrNameLst>
                                          <p:attrName>style.visibility</p:attrName>
                                        </p:attrNameLst>
                                      </p:cBhvr>
                                      <p:to>
                                        <p:strVal val="visible"/>
                                      </p:to>
                                    </p:set>
                                    <p:animEffect transition="in" filter="blinds(horizontal)">
                                      <p:cBhvr>
                                        <p:cTn id="33" dur="500"/>
                                        <p:tgtEl>
                                          <p:spTgt spid="25"/>
                                        </p:tgtEl>
                                      </p:cBhvr>
                                    </p:animEffect>
                                  </p:childTnLst>
                                </p:cTn>
                              </p:par>
                            </p:childTnLst>
                          </p:cTn>
                        </p:par>
                      </p:childTnLst>
                    </p:cTn>
                  </p:par>
                  <p:par>
                    <p:cTn id="34" fill="hold">
                      <p:stCondLst>
                        <p:cond delay="indefinite"/>
                      </p:stCondLst>
                      <p:childTnLst>
                        <p:par>
                          <p:cTn id="35" fill="hold">
                            <p:stCondLst>
                              <p:cond delay="0"/>
                            </p:stCondLst>
                            <p:childTnLst>
                              <p:par>
                                <p:cTn id="36" presetID="3" presetClass="entr" presetSubtype="10" fill="hold" nodeType="clickEffect">
                                  <p:stCondLst>
                                    <p:cond delay="0"/>
                                  </p:stCondLst>
                                  <p:childTnLst>
                                    <p:set>
                                      <p:cBhvr>
                                        <p:cTn id="37" dur="1" fill="hold">
                                          <p:stCondLst>
                                            <p:cond delay="0"/>
                                          </p:stCondLst>
                                        </p:cTn>
                                        <p:tgtEl>
                                          <p:spTgt spid="28"/>
                                        </p:tgtEl>
                                        <p:attrNameLst>
                                          <p:attrName>style.visibility</p:attrName>
                                        </p:attrNameLst>
                                      </p:cBhvr>
                                      <p:to>
                                        <p:strVal val="visible"/>
                                      </p:to>
                                    </p:set>
                                    <p:animEffect transition="in" filter="blinds(horizontal)">
                                      <p:cBhvr>
                                        <p:cTn id="38" dur="500"/>
                                        <p:tgtEl>
                                          <p:spTgt spid="28"/>
                                        </p:tgtEl>
                                      </p:cBhvr>
                                    </p:animEffect>
                                  </p:childTnLst>
                                </p:cTn>
                              </p:par>
                            </p:childTnLst>
                          </p:cTn>
                        </p:par>
                      </p:childTnLst>
                    </p:cTn>
                  </p:par>
                  <p:par>
                    <p:cTn id="39" fill="hold">
                      <p:stCondLst>
                        <p:cond delay="indefinite"/>
                      </p:stCondLst>
                      <p:childTnLst>
                        <p:par>
                          <p:cTn id="40" fill="hold">
                            <p:stCondLst>
                              <p:cond delay="0"/>
                            </p:stCondLst>
                            <p:childTnLst>
                              <p:par>
                                <p:cTn id="41" presetID="3" presetClass="entr" presetSubtype="10" fill="hold" nodeType="click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blinds(horizontal)">
                                      <p:cBhvr>
                                        <p:cTn id="43" dur="500"/>
                                        <p:tgtEl>
                                          <p:spTgt spid="31"/>
                                        </p:tgtEl>
                                      </p:cBhvr>
                                    </p:animEffect>
                                  </p:childTnLst>
                                </p:cTn>
                              </p:par>
                            </p:childTnLst>
                          </p:cTn>
                        </p:par>
                      </p:childTnLst>
                    </p:cTn>
                  </p:par>
                  <p:par>
                    <p:cTn id="44" fill="hold">
                      <p:stCondLst>
                        <p:cond delay="indefinite"/>
                      </p:stCondLst>
                      <p:childTnLst>
                        <p:par>
                          <p:cTn id="45" fill="hold">
                            <p:stCondLst>
                              <p:cond delay="0"/>
                            </p:stCondLst>
                            <p:childTnLst>
                              <p:par>
                                <p:cTn id="46" presetID="3" presetClass="entr" presetSubtype="10" fill="hold" nodeType="clickEffect">
                                  <p:stCondLst>
                                    <p:cond delay="0"/>
                                  </p:stCondLst>
                                  <p:childTnLst>
                                    <p:set>
                                      <p:cBhvr>
                                        <p:cTn id="47" dur="1" fill="hold">
                                          <p:stCondLst>
                                            <p:cond delay="0"/>
                                          </p:stCondLst>
                                        </p:cTn>
                                        <p:tgtEl>
                                          <p:spTgt spid="34"/>
                                        </p:tgtEl>
                                        <p:attrNameLst>
                                          <p:attrName>style.visibility</p:attrName>
                                        </p:attrNameLst>
                                      </p:cBhvr>
                                      <p:to>
                                        <p:strVal val="visible"/>
                                      </p:to>
                                    </p:set>
                                    <p:animEffect transition="in" filter="blinds(horizontal)">
                                      <p:cBhvr>
                                        <p:cTn id="48" dur="500"/>
                                        <p:tgtEl>
                                          <p:spTgt spid="34"/>
                                        </p:tgtEl>
                                      </p:cBhvr>
                                    </p:animEffect>
                                  </p:childTnLst>
                                </p:cTn>
                              </p:par>
                            </p:childTnLst>
                          </p:cTn>
                        </p:par>
                      </p:childTnLst>
                    </p:cTn>
                  </p:par>
                  <p:par>
                    <p:cTn id="49" fill="hold">
                      <p:stCondLst>
                        <p:cond delay="indefinite"/>
                      </p:stCondLst>
                      <p:childTnLst>
                        <p:par>
                          <p:cTn id="50" fill="hold">
                            <p:stCondLst>
                              <p:cond delay="0"/>
                            </p:stCondLst>
                            <p:childTnLst>
                              <p:par>
                                <p:cTn id="51" presetID="3" presetClass="entr" presetSubtype="10" fill="hold" nodeType="clickEffect">
                                  <p:stCondLst>
                                    <p:cond delay="0"/>
                                  </p:stCondLst>
                                  <p:childTnLst>
                                    <p:set>
                                      <p:cBhvr>
                                        <p:cTn id="52" dur="1" fill="hold">
                                          <p:stCondLst>
                                            <p:cond delay="0"/>
                                          </p:stCondLst>
                                        </p:cTn>
                                        <p:tgtEl>
                                          <p:spTgt spid="37"/>
                                        </p:tgtEl>
                                        <p:attrNameLst>
                                          <p:attrName>style.visibility</p:attrName>
                                        </p:attrNameLst>
                                      </p:cBhvr>
                                      <p:to>
                                        <p:strVal val="visible"/>
                                      </p:to>
                                    </p:set>
                                    <p:animEffect transition="in" filter="blinds(horizontal)">
                                      <p:cBhvr>
                                        <p:cTn id="53" dur="500"/>
                                        <p:tgtEl>
                                          <p:spTgt spid="37"/>
                                        </p:tgtEl>
                                      </p:cBhvr>
                                    </p:animEffect>
                                  </p:childTnLst>
                                </p:cTn>
                              </p:par>
                            </p:childTnLst>
                          </p:cTn>
                        </p:par>
                      </p:childTnLst>
                    </p:cTn>
                  </p:par>
                  <p:par>
                    <p:cTn id="54" fill="hold">
                      <p:stCondLst>
                        <p:cond delay="indefinite"/>
                      </p:stCondLst>
                      <p:childTnLst>
                        <p:par>
                          <p:cTn id="55" fill="hold">
                            <p:stCondLst>
                              <p:cond delay="0"/>
                            </p:stCondLst>
                            <p:childTnLst>
                              <p:par>
                                <p:cTn id="56" presetID="3" presetClass="entr" presetSubtype="10" fill="hold" nodeType="clickEffect">
                                  <p:stCondLst>
                                    <p:cond delay="0"/>
                                  </p:stCondLst>
                                  <p:childTnLst>
                                    <p:set>
                                      <p:cBhvr>
                                        <p:cTn id="57" dur="1" fill="hold">
                                          <p:stCondLst>
                                            <p:cond delay="0"/>
                                          </p:stCondLst>
                                        </p:cTn>
                                        <p:tgtEl>
                                          <p:spTgt spid="40"/>
                                        </p:tgtEl>
                                        <p:attrNameLst>
                                          <p:attrName>style.visibility</p:attrName>
                                        </p:attrNameLst>
                                      </p:cBhvr>
                                      <p:to>
                                        <p:strVal val="visible"/>
                                      </p:to>
                                    </p:set>
                                    <p:animEffect transition="in" filter="blinds(horizontal)">
                                      <p:cBhvr>
                                        <p:cTn id="58" dur="500"/>
                                        <p:tgtEl>
                                          <p:spTgt spid="40"/>
                                        </p:tgtEl>
                                      </p:cBhvr>
                                    </p:animEffec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46"/>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47"/>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54"/>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5" presetClass="entr" presetSubtype="10" fill="hold" grpId="0" nodeType="clickEffect">
                                  <p:stCondLst>
                                    <p:cond delay="0"/>
                                  </p:stCondLst>
                                  <p:childTnLst>
                                    <p:set>
                                      <p:cBhvr>
                                        <p:cTn id="72" dur="1" fill="hold">
                                          <p:stCondLst>
                                            <p:cond delay="0"/>
                                          </p:stCondLst>
                                        </p:cTn>
                                        <p:tgtEl>
                                          <p:spTgt spid="58"/>
                                        </p:tgtEl>
                                        <p:attrNameLst>
                                          <p:attrName>style.visibility</p:attrName>
                                        </p:attrNameLst>
                                      </p:cBhvr>
                                      <p:to>
                                        <p:strVal val="visible"/>
                                      </p:to>
                                    </p:set>
                                    <p:animEffect transition="in" filter="checkerboard(across)">
                                      <p:cBhvr>
                                        <p:cTn id="73" dur="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8"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E6BA5-A3FC-CBEF-FA90-31DF079E2E0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06639BA-212B-F57A-087F-E0D53691BE9A}"/>
              </a:ext>
            </a:extLst>
          </p:cNvPr>
          <p:cNvSpPr>
            <a:spLocks noGrp="1"/>
          </p:cNvSpPr>
          <p:nvPr>
            <p:ph type="title"/>
          </p:nvPr>
        </p:nvSpPr>
        <p:spPr>
          <a:xfrm>
            <a:off x="381242" y="2844289"/>
            <a:ext cx="11429516" cy="761979"/>
          </a:xfrm>
        </p:spPr>
        <p:txBody>
          <a:bodyPr/>
          <a:lstStyle/>
          <a:p>
            <a:pPr algn="ctr"/>
            <a:r>
              <a:rPr lang="zh-CN" altLang="en-US" dirty="0"/>
              <a:t>残差神经网络</a:t>
            </a:r>
          </a:p>
        </p:txBody>
      </p:sp>
    </p:spTree>
    <p:extLst>
      <p:ext uri="{BB962C8B-B14F-4D97-AF65-F5344CB8AC3E}">
        <p14:creationId xmlns:p14="http://schemas.microsoft.com/office/powerpoint/2010/main" val="14310667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zh-CN" altLang="en-US" dirty="0">
                <a:latin typeface="微软雅黑" panose="020B0503020204020204" pitchFamily="34" charset="-122"/>
                <a:ea typeface="微软雅黑" panose="020B0503020204020204" pitchFamily="34" charset="-122"/>
              </a:rPr>
              <a:t>退化问题</a:t>
            </a:r>
            <a:endParaRPr lang="zh-CN" altLang="en-US" dirty="0"/>
          </a:p>
        </p:txBody>
      </p:sp>
      <p:pic>
        <p:nvPicPr>
          <p:cNvPr id="17" name="图片 16" descr="IMG_256"/>
          <p:cNvPicPr>
            <a:picLocks noChangeAspect="1"/>
          </p:cNvPicPr>
          <p:nvPr/>
        </p:nvPicPr>
        <p:blipFill>
          <a:blip r:embed="rId2"/>
          <a:stretch>
            <a:fillRect/>
          </a:stretch>
        </p:blipFill>
        <p:spPr>
          <a:xfrm>
            <a:off x="980534" y="1233785"/>
            <a:ext cx="10230930" cy="3417424"/>
          </a:xfrm>
          <a:prstGeom prst="rect">
            <a:avLst/>
          </a:prstGeom>
          <a:noFill/>
          <a:ln w="9525">
            <a:noFill/>
          </a:ln>
        </p:spPr>
      </p:pic>
      <p:sp>
        <p:nvSpPr>
          <p:cNvPr id="18" name="文本框 17"/>
          <p:cNvSpPr txBox="1"/>
          <p:nvPr/>
        </p:nvSpPr>
        <p:spPr>
          <a:xfrm>
            <a:off x="1172269" y="4964355"/>
            <a:ext cx="10039195" cy="1689052"/>
          </a:xfrm>
          <a:prstGeom prst="rect">
            <a:avLst/>
          </a:prstGeom>
          <a:noFill/>
        </p:spPr>
        <p:txBody>
          <a:bodyPr wrap="square" rtlCol="0">
            <a:spAutoFit/>
          </a:bodyPr>
          <a:lstStyle/>
          <a:p>
            <a:pPr>
              <a:lnSpc>
                <a:spcPct val="150000"/>
              </a:lnSpc>
            </a:pPr>
            <a:r>
              <a:rPr lang="zh-CN" altLang="en-US" sz="2400" dirty="0">
                <a:solidFill>
                  <a:srgbClr val="000000"/>
                </a:solidFill>
                <a:latin typeface="微软雅黑" panose="020B0503020204020204" pitchFamily="34" charset="-122"/>
                <a:ea typeface="微软雅黑" panose="020B0503020204020204" pitchFamily="34" charset="-122"/>
              </a:rPr>
              <a:t>利用20层和56层的普通网络对于CIFAR-10数据集的训练误差（左图）和测试误差（右图）。可见</a:t>
            </a:r>
            <a:r>
              <a:rPr lang="zh-CN" altLang="en-US" sz="2400" b="1" dirty="0">
                <a:solidFill>
                  <a:srgbClr val="000000"/>
                </a:solidFill>
                <a:latin typeface="微软雅黑" panose="020B0503020204020204" pitchFamily="34" charset="-122"/>
                <a:ea typeface="微软雅黑" panose="020B0503020204020204" pitchFamily="34" charset="-122"/>
              </a:rPr>
              <a:t>越深的网络会产生越大的训练误差和测试误差</a:t>
            </a:r>
            <a:r>
              <a:rPr lang="zh-CN" altLang="en-US" sz="2400" dirty="0">
                <a:solidFill>
                  <a:srgbClr val="000000"/>
                </a:solidFill>
                <a:latin typeface="微软雅黑" panose="020B0503020204020204" pitchFamily="34" charset="-122"/>
                <a:ea typeface="微软雅黑" panose="020B0503020204020204" pitchFamily="34" charset="-122"/>
              </a:rPr>
              <a:t>。</a:t>
            </a:r>
          </a:p>
          <a:p>
            <a:pPr algn="just">
              <a:lnSpc>
                <a:spcPct val="150000"/>
              </a:lnSpc>
            </a:pPr>
            <a:endParaRPr lang="zh-CN" altLang="en-US" sz="2400" dirty="0">
              <a:solidFill>
                <a:srgbClr val="000000"/>
              </a:solidFill>
              <a:latin typeface="微软雅黑" panose="020B0503020204020204" pitchFamily="34" charset="-122"/>
              <a:ea typeface="微软雅黑" panose="020B0503020204020204" pitchFamily="34" charset="-122"/>
            </a:endParaRPr>
          </a:p>
        </p:txBody>
      </p:sp>
      <p:sp>
        <p:nvSpPr>
          <p:cNvPr id="5" name="文本框 4"/>
          <p:cNvSpPr txBox="1"/>
          <p:nvPr/>
        </p:nvSpPr>
        <p:spPr>
          <a:xfrm>
            <a:off x="126998" y="6351998"/>
            <a:ext cx="10665179" cy="377283"/>
          </a:xfrm>
          <a:prstGeom prst="rect">
            <a:avLst/>
          </a:prstGeom>
          <a:noFill/>
        </p:spPr>
        <p:txBody>
          <a:bodyPr wrap="square" rtlCol="0">
            <a:spAutoFit/>
          </a:bodyPr>
          <a:lstStyle/>
          <a:p>
            <a:pPr algn="l">
              <a:lnSpc>
                <a:spcPct val="150000"/>
              </a:lnSpc>
            </a:pPr>
            <a:r>
              <a:rPr lang="en-US" altLang="zh-CN" sz="1400" b="0" i="0" dirty="0">
                <a:solidFill>
                  <a:schemeClr val="bg1"/>
                </a:solidFill>
                <a:effectLst/>
                <a:latin typeface="Times New Roman" panose="02020603050405020304" pitchFamily="18" charset="0"/>
                <a:ea typeface="微软雅黑" panose="020B0503020204020204" pitchFamily="34" charset="-122"/>
                <a:cs typeface="Times New Roman" panose="02020603050405020304" pitchFamily="18" charset="0"/>
              </a:rPr>
              <a:t> [1] He, </a:t>
            </a:r>
            <a:r>
              <a:rPr lang="en-US" altLang="zh-CN" sz="1400" b="0" i="0" dirty="0" err="1">
                <a:solidFill>
                  <a:schemeClr val="bg1"/>
                </a:solidFill>
                <a:effectLst/>
                <a:latin typeface="Times New Roman" panose="02020603050405020304" pitchFamily="18" charset="0"/>
                <a:ea typeface="微软雅黑" panose="020B0503020204020204" pitchFamily="34" charset="-122"/>
                <a:cs typeface="Times New Roman" panose="02020603050405020304" pitchFamily="18" charset="0"/>
              </a:rPr>
              <a:t>Kaiming</a:t>
            </a:r>
            <a:r>
              <a:rPr lang="en-US" altLang="zh-CN" sz="1400" b="0" i="0" dirty="0">
                <a:solidFill>
                  <a:schemeClr val="bg1"/>
                </a:solidFill>
                <a:effectLst/>
                <a:latin typeface="Times New Roman" panose="02020603050405020304" pitchFamily="18" charset="0"/>
                <a:ea typeface="微软雅黑" panose="020B0503020204020204" pitchFamily="34" charset="-122"/>
                <a:cs typeface="Times New Roman" panose="02020603050405020304" pitchFamily="18" charset="0"/>
              </a:rPr>
              <a:t> , et al. "Deep Residual Learning for Image Recognition." IEEE (2016).</a:t>
            </a:r>
            <a:endParaRPr lang="en-US" altLang="zh-CN" sz="2800" dirty="0">
              <a:solidFill>
                <a:schemeClr val="bg1"/>
              </a:solidFill>
              <a:latin typeface="Times New Roman" panose="02020603050405020304" pitchFamily="18" charset="0"/>
              <a:ea typeface="微软雅黑" panose="020B0503020204020204" pitchFamily="34" charset="-122"/>
              <a:cs typeface="Times New Roman" panose="02020603050405020304" pitchFamily="18" charset="0"/>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latin typeface="微软雅黑" panose="020B0503020204020204" pitchFamily="34" charset="-122"/>
                <a:ea typeface="微软雅黑" panose="020B0503020204020204" pitchFamily="34" charset="-122"/>
              </a:rPr>
              <a:t>Sigmoid</a:t>
            </a:r>
            <a:r>
              <a:rPr lang="zh-CN" altLang="en-US" dirty="0">
                <a:latin typeface="微软雅黑" panose="020B0503020204020204" pitchFamily="34" charset="-122"/>
                <a:ea typeface="微软雅黑" panose="020B0503020204020204" pitchFamily="34" charset="-122"/>
              </a:rPr>
              <a:t>函数饱和</a:t>
            </a:r>
            <a:endParaRPr lang="zh-CN" altLang="en-US" dirty="0"/>
          </a:p>
        </p:txBody>
      </p:sp>
      <p:sp>
        <p:nvSpPr>
          <p:cNvPr id="8" name="文本框 6"/>
          <p:cNvSpPr txBox="1"/>
          <p:nvPr/>
        </p:nvSpPr>
        <p:spPr>
          <a:xfrm>
            <a:off x="1115438" y="1013364"/>
            <a:ext cx="9428624" cy="461665"/>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400" dirty="0">
                <a:solidFill>
                  <a:srgbClr val="000000"/>
                </a:solidFill>
                <a:latin typeface="微软雅黑" panose="020B0503020204020204" pitchFamily="34" charset="-122"/>
                <a:ea typeface="微软雅黑" panose="020B0503020204020204" pitchFamily="34" charset="-122"/>
                <a:sym typeface="+mn-ea"/>
              </a:rPr>
              <a:t>下图是一个极简单的深度神经网络：每一层都只有一个单一的神经元。</a:t>
            </a:r>
            <a:endParaRPr lang="zh-CN" altLang="en-US" sz="2400" dirty="0">
              <a:solidFill>
                <a:srgbClr val="000000"/>
              </a:solidFill>
              <a:latin typeface="微软雅黑" panose="020B0503020204020204" pitchFamily="34" charset="-122"/>
              <a:ea typeface="微软雅黑" panose="020B0503020204020204" pitchFamily="34" charset="-122"/>
            </a:endParaRPr>
          </a:p>
        </p:txBody>
      </p:sp>
      <mc:AlternateContent xmlns:mc="http://schemas.openxmlformats.org/markup-compatibility/2006" xmlns:a14="http://schemas.microsoft.com/office/drawing/2010/main">
        <mc:Choice Requires="a14">
          <p:sp>
            <p:nvSpPr>
              <p:cNvPr id="10" name="文本框 1"/>
              <p:cNvSpPr txBox="1"/>
              <p:nvPr/>
            </p:nvSpPr>
            <p:spPr>
              <a:xfrm>
                <a:off x="1115438" y="5217871"/>
                <a:ext cx="10695320" cy="1042721"/>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50000"/>
                  </a:lnSpc>
                </a:pPr>
                <a:r>
                  <a:rPr lang="zh-CN" altLang="en-US" sz="2000" dirty="0">
                    <a:solidFill>
                      <a:srgbClr val="000000"/>
                    </a:solidFill>
                    <a:latin typeface="微软雅黑" panose="020B0503020204020204" pitchFamily="34" charset="-122"/>
                    <a:ea typeface="微软雅黑" panose="020B0503020204020204" pitchFamily="34" charset="-122"/>
                  </a:rPr>
                  <a:t>当输入稍微远离坐标原点，</a:t>
                </a:r>
                <a:r>
                  <a:rPr lang="en-US" altLang="zh-CN" sz="2000" dirty="0">
                    <a:solidFill>
                      <a:srgbClr val="000000"/>
                    </a:solidFill>
                    <a:latin typeface="微软雅黑" panose="020B0503020204020204" pitchFamily="34" charset="-122"/>
                    <a:ea typeface="微软雅黑" panose="020B0503020204020204" pitchFamily="34" charset="-122"/>
                    <a:cs typeface="Times New Roman" panose="02020603050405020304" pitchFamily="18" charset="0"/>
                  </a:rPr>
                  <a:t> sigmoid</a:t>
                </a:r>
                <a:r>
                  <a:rPr lang="zh-CN" altLang="en-US" sz="2000" dirty="0">
                    <a:solidFill>
                      <a:srgbClr val="000000"/>
                    </a:solidFill>
                    <a:latin typeface="微软雅黑" panose="020B0503020204020204" pitchFamily="34" charset="-122"/>
                    <a:ea typeface="微软雅黑" panose="020B0503020204020204" pitchFamily="34" charset="-122"/>
                  </a:rPr>
                  <a:t>函数的梯度变小，几乎为零。根据链式法则，反向传播会经过很多</a:t>
                </a:r>
                <a:r>
                  <a:rPr lang="en-US" altLang="zh-CN" sz="2000" dirty="0">
                    <a:solidFill>
                      <a:srgbClr val="000000"/>
                    </a:solidFill>
                    <a:latin typeface="微软雅黑" panose="020B0503020204020204" pitchFamily="34" charset="-122"/>
                    <a:ea typeface="微软雅黑" panose="020B0503020204020204" pitchFamily="34" charset="-122"/>
                    <a:cs typeface="Times New Roman" panose="02020603050405020304" pitchFamily="18" charset="0"/>
                  </a:rPr>
                  <a:t>sigmoid</a:t>
                </a:r>
                <a:r>
                  <a:rPr lang="zh-CN" altLang="en-US" sz="2000" dirty="0">
                    <a:solidFill>
                      <a:srgbClr val="000000"/>
                    </a:solidFill>
                    <a:latin typeface="微软雅黑" panose="020B0503020204020204" pitchFamily="34" charset="-122"/>
                    <a:ea typeface="微软雅黑" panose="020B0503020204020204" pitchFamily="34" charset="-122"/>
                  </a:rPr>
                  <a:t>函数，最终导致权重</a:t>
                </a:r>
                <a14:m>
                  <m:oMath xmlns:m="http://schemas.openxmlformats.org/officeDocument/2006/math">
                    <m:r>
                      <a:rPr lang="en-US" altLang="zh-CN" sz="2000" b="1" i="1" dirty="0" smtClean="0">
                        <a:solidFill>
                          <a:srgbClr val="000000"/>
                        </a:solidFill>
                        <a:latin typeface="Cambria Math" panose="02040503050406030204" pitchFamily="18" charset="0"/>
                        <a:ea typeface="微软雅黑" panose="020B0503020204020204" pitchFamily="34" charset="-122"/>
                        <a:cs typeface="Times New Roman" panose="02020603050405020304" pitchFamily="18" charset="0"/>
                      </a:rPr>
                      <m:t>𝒘</m:t>
                    </m:r>
                  </m:oMath>
                </a14:m>
                <a:r>
                  <a:rPr lang="zh-CN" altLang="en-US" sz="2000" dirty="0">
                    <a:solidFill>
                      <a:srgbClr val="000000"/>
                    </a:solidFill>
                    <a:latin typeface="微软雅黑" panose="020B0503020204020204" pitchFamily="34" charset="-122"/>
                    <a:ea typeface="微软雅黑" panose="020B0503020204020204" pitchFamily="34" charset="-122"/>
                  </a:rPr>
                  <a:t>对损失函数几乎没影响，这样不利于权重的优化</a:t>
                </a:r>
                <a:r>
                  <a:rPr lang="zh-CN" altLang="en-US" sz="2400" dirty="0">
                    <a:solidFill>
                      <a:srgbClr val="000000"/>
                    </a:solidFill>
                    <a:latin typeface="微软雅黑" panose="020B0503020204020204" pitchFamily="34" charset="-122"/>
                    <a:ea typeface="微软雅黑" panose="020B0503020204020204" pitchFamily="34" charset="-122"/>
                  </a:rPr>
                  <a:t>。</a:t>
                </a:r>
              </a:p>
            </p:txBody>
          </p:sp>
        </mc:Choice>
        <mc:Fallback xmlns="">
          <p:sp>
            <p:nvSpPr>
              <p:cNvPr id="10" name="文本框 1"/>
              <p:cNvSpPr txBox="1">
                <a:spLocks noRot="1" noChangeAspect="1" noMove="1" noResize="1" noEditPoints="1" noAdjustHandles="1" noChangeArrowheads="1" noChangeShapeType="1" noTextEdit="1"/>
              </p:cNvSpPr>
              <p:nvPr/>
            </p:nvSpPr>
            <p:spPr>
              <a:xfrm>
                <a:off x="1115438" y="5217871"/>
                <a:ext cx="10695320" cy="1042721"/>
              </a:xfrm>
              <a:prstGeom prst="rect">
                <a:avLst/>
              </a:prstGeom>
              <a:blipFill rotWithShape="1">
                <a:blip r:embed="rId2"/>
                <a:stretch>
                  <a:fillRect l="-4" t="-7" r="4" b="-840"/>
                </a:stretch>
              </a:blipFill>
            </p:spPr>
            <p:txBody>
              <a:bodyPr/>
              <a:lstStyle/>
              <a:p>
                <a:r>
                  <a:rPr lang="zh-CN" altLang="en-US">
                    <a:noFill/>
                  </a:rPr>
                  <a:t> </a:t>
                </a:r>
              </a:p>
            </p:txBody>
          </p:sp>
        </mc:Fallback>
      </mc:AlternateContent>
      <p:sp>
        <p:nvSpPr>
          <p:cNvPr id="4" name="流程图: 接点 3"/>
          <p:cNvSpPr/>
          <p:nvPr/>
        </p:nvSpPr>
        <p:spPr>
          <a:xfrm>
            <a:off x="1915505" y="1765497"/>
            <a:ext cx="725300" cy="761978"/>
          </a:xfrm>
          <a:prstGeom prst="flowChartConnector">
            <a:avLst/>
          </a:prstGeom>
          <a:solidFill>
            <a:schemeClr val="bg1"/>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bg1"/>
              </a:solidFill>
            </a:endParaRPr>
          </a:p>
        </p:txBody>
      </p:sp>
      <p:cxnSp>
        <p:nvCxnSpPr>
          <p:cNvPr id="12" name="直接箭头连接符 11"/>
          <p:cNvCxnSpPr>
            <a:stCxn id="4" idx="6"/>
            <a:endCxn id="14" idx="2"/>
          </p:cNvCxnSpPr>
          <p:nvPr/>
        </p:nvCxnSpPr>
        <p:spPr>
          <a:xfrm>
            <a:off x="2640805" y="2146486"/>
            <a:ext cx="949224" cy="1"/>
          </a:xfrm>
          <a:prstGeom prst="straightConnector1">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流程图: 接点 13"/>
              <p:cNvSpPr/>
              <p:nvPr/>
            </p:nvSpPr>
            <p:spPr>
              <a:xfrm>
                <a:off x="3590029" y="1765498"/>
                <a:ext cx="725300" cy="761978"/>
              </a:xfrm>
              <a:prstGeom prst="flowChartConnector">
                <a:avLst/>
              </a:prstGeom>
              <a:solidFill>
                <a:schemeClr val="bg1"/>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i="1" smtClean="0">
                              <a:solidFill>
                                <a:schemeClr val="tx2"/>
                              </a:solidFill>
                              <a:latin typeface="Cambria Math" panose="02040503050406030204" pitchFamily="18" charset="0"/>
                            </a:rPr>
                          </m:ctrlPr>
                        </m:sSubPr>
                        <m:e>
                          <m:r>
                            <a:rPr lang="en-US" altLang="zh-CN" b="0" i="1" smtClean="0">
                              <a:solidFill>
                                <a:schemeClr val="tx2"/>
                              </a:solidFill>
                              <a:latin typeface="Cambria Math" panose="02040503050406030204" pitchFamily="18" charset="0"/>
                            </a:rPr>
                            <m:t>𝑏</m:t>
                          </m:r>
                        </m:e>
                        <m:sub>
                          <m:r>
                            <a:rPr lang="en-US" altLang="zh-CN" b="0" i="1" smtClean="0">
                              <a:solidFill>
                                <a:schemeClr val="tx2"/>
                              </a:solidFill>
                              <a:latin typeface="Cambria Math" panose="02040503050406030204" pitchFamily="18" charset="0"/>
                            </a:rPr>
                            <m:t>1</m:t>
                          </m:r>
                        </m:sub>
                      </m:sSub>
                    </m:oMath>
                  </m:oMathPara>
                </a14:m>
                <a:endParaRPr lang="zh-CN" altLang="en-US" dirty="0">
                  <a:solidFill>
                    <a:schemeClr val="bg1"/>
                  </a:solidFill>
                </a:endParaRPr>
              </a:p>
            </p:txBody>
          </p:sp>
        </mc:Choice>
        <mc:Fallback xmlns="">
          <p:sp>
            <p:nvSpPr>
              <p:cNvPr id="14" name="流程图: 接点 13"/>
              <p:cNvSpPr>
                <a:spLocks noRot="1" noChangeAspect="1" noMove="1" noResize="1" noEditPoints="1" noAdjustHandles="1" noChangeArrowheads="1" noChangeShapeType="1" noTextEdit="1"/>
              </p:cNvSpPr>
              <p:nvPr/>
            </p:nvSpPr>
            <p:spPr>
              <a:xfrm>
                <a:off x="3590029" y="1765498"/>
                <a:ext cx="725300" cy="761978"/>
              </a:xfrm>
              <a:prstGeom prst="flowChartConnector">
                <a:avLst/>
              </a:prstGeom>
              <a:blipFill rotWithShape="1">
                <a:blip r:embed="rId3"/>
                <a:stretch>
                  <a:fillRect l="-3816" t="-3609" r="-3783" b="-3560"/>
                </a:stretch>
              </a:blip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5" name="流程图: 接点 14"/>
              <p:cNvSpPr/>
              <p:nvPr/>
            </p:nvSpPr>
            <p:spPr>
              <a:xfrm>
                <a:off x="5302175" y="1765497"/>
                <a:ext cx="725300" cy="761978"/>
              </a:xfrm>
              <a:prstGeom prst="flowChartConnector">
                <a:avLst/>
              </a:prstGeom>
              <a:solidFill>
                <a:schemeClr val="bg1"/>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i="1" smtClean="0">
                              <a:solidFill>
                                <a:schemeClr val="tx2"/>
                              </a:solidFill>
                              <a:latin typeface="Cambria Math" panose="02040503050406030204" pitchFamily="18" charset="0"/>
                            </a:rPr>
                          </m:ctrlPr>
                        </m:sSubPr>
                        <m:e>
                          <m:r>
                            <a:rPr lang="en-US" altLang="zh-CN" b="0" i="1" smtClean="0">
                              <a:solidFill>
                                <a:schemeClr val="tx2"/>
                              </a:solidFill>
                              <a:latin typeface="Cambria Math" panose="02040503050406030204" pitchFamily="18" charset="0"/>
                            </a:rPr>
                            <m:t>𝑏</m:t>
                          </m:r>
                        </m:e>
                        <m:sub>
                          <m:r>
                            <a:rPr lang="en-US" altLang="zh-CN" b="0" i="1" smtClean="0">
                              <a:solidFill>
                                <a:schemeClr val="tx2"/>
                              </a:solidFill>
                              <a:latin typeface="Cambria Math" panose="02040503050406030204" pitchFamily="18" charset="0"/>
                            </a:rPr>
                            <m:t>2</m:t>
                          </m:r>
                        </m:sub>
                      </m:sSub>
                    </m:oMath>
                  </m:oMathPara>
                </a14:m>
                <a:endParaRPr lang="zh-CN" altLang="en-US" dirty="0">
                  <a:solidFill>
                    <a:schemeClr val="bg1"/>
                  </a:solidFill>
                </a:endParaRPr>
              </a:p>
            </p:txBody>
          </p:sp>
        </mc:Choice>
        <mc:Fallback xmlns="">
          <p:sp>
            <p:nvSpPr>
              <p:cNvPr id="15" name="流程图: 接点 14"/>
              <p:cNvSpPr>
                <a:spLocks noRot="1" noChangeAspect="1" noMove="1" noResize="1" noEditPoints="1" noAdjustHandles="1" noChangeArrowheads="1" noChangeShapeType="1" noTextEdit="1"/>
              </p:cNvSpPr>
              <p:nvPr/>
            </p:nvSpPr>
            <p:spPr>
              <a:xfrm>
                <a:off x="5302175" y="1765497"/>
                <a:ext cx="725300" cy="761978"/>
              </a:xfrm>
              <a:prstGeom prst="flowChartConnector">
                <a:avLst/>
              </a:prstGeom>
              <a:blipFill rotWithShape="1">
                <a:blip r:embed="rId4"/>
                <a:stretch>
                  <a:fillRect l="-3842" t="-3609" r="-3757" b="-3560"/>
                </a:stretch>
              </a:blip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6" name="流程图: 接点 15"/>
              <p:cNvSpPr/>
              <p:nvPr/>
            </p:nvSpPr>
            <p:spPr>
              <a:xfrm>
                <a:off x="8461880" y="1764013"/>
                <a:ext cx="725300" cy="761978"/>
              </a:xfrm>
              <a:prstGeom prst="flowChartConnector">
                <a:avLst/>
              </a:prstGeom>
              <a:solidFill>
                <a:schemeClr val="bg1"/>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i="1" smtClean="0">
                              <a:solidFill>
                                <a:schemeClr val="tx2"/>
                              </a:solidFill>
                              <a:latin typeface="Cambria Math" panose="02040503050406030204" pitchFamily="18" charset="0"/>
                            </a:rPr>
                          </m:ctrlPr>
                        </m:sSubPr>
                        <m:e>
                          <m:r>
                            <a:rPr lang="en-US" altLang="zh-CN" b="0" i="1" smtClean="0">
                              <a:solidFill>
                                <a:schemeClr val="tx2"/>
                              </a:solidFill>
                              <a:latin typeface="Cambria Math" panose="02040503050406030204" pitchFamily="18" charset="0"/>
                            </a:rPr>
                            <m:t>𝑏</m:t>
                          </m:r>
                        </m:e>
                        <m:sub>
                          <m:r>
                            <a:rPr lang="en-US" altLang="zh-CN" b="0" i="1" smtClean="0">
                              <a:solidFill>
                                <a:schemeClr val="tx2"/>
                              </a:solidFill>
                              <a:latin typeface="Cambria Math" panose="02040503050406030204" pitchFamily="18" charset="0"/>
                            </a:rPr>
                            <m:t>4</m:t>
                          </m:r>
                        </m:sub>
                      </m:sSub>
                    </m:oMath>
                  </m:oMathPara>
                </a14:m>
                <a:endParaRPr lang="zh-CN" altLang="en-US" dirty="0">
                  <a:solidFill>
                    <a:schemeClr val="bg1"/>
                  </a:solidFill>
                </a:endParaRPr>
              </a:p>
            </p:txBody>
          </p:sp>
        </mc:Choice>
        <mc:Fallback xmlns="">
          <p:sp>
            <p:nvSpPr>
              <p:cNvPr id="16" name="流程图: 接点 15"/>
              <p:cNvSpPr>
                <a:spLocks noRot="1" noChangeAspect="1" noMove="1" noResize="1" noEditPoints="1" noAdjustHandles="1" noChangeArrowheads="1" noChangeShapeType="1" noTextEdit="1"/>
              </p:cNvSpPr>
              <p:nvPr/>
            </p:nvSpPr>
            <p:spPr>
              <a:xfrm>
                <a:off x="8461880" y="1764013"/>
                <a:ext cx="725300" cy="761978"/>
              </a:xfrm>
              <a:prstGeom prst="flowChartConnector">
                <a:avLst/>
              </a:prstGeom>
              <a:blipFill rotWithShape="1">
                <a:blip r:embed="rId5"/>
                <a:stretch>
                  <a:fillRect l="-3834" t="-3665" r="-3765" b="-3589"/>
                </a:stretch>
              </a:blip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7" name="流程图: 接点 16"/>
              <p:cNvSpPr/>
              <p:nvPr/>
            </p:nvSpPr>
            <p:spPr>
              <a:xfrm>
                <a:off x="6916844" y="1764013"/>
                <a:ext cx="725300" cy="761978"/>
              </a:xfrm>
              <a:prstGeom prst="flowChartConnector">
                <a:avLst/>
              </a:prstGeom>
              <a:solidFill>
                <a:schemeClr val="bg1"/>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i="1" smtClean="0">
                              <a:solidFill>
                                <a:schemeClr val="tx2"/>
                              </a:solidFill>
                              <a:latin typeface="Cambria Math" panose="02040503050406030204" pitchFamily="18" charset="0"/>
                            </a:rPr>
                          </m:ctrlPr>
                        </m:sSubPr>
                        <m:e>
                          <m:r>
                            <a:rPr lang="en-US" altLang="zh-CN" b="0" i="1" smtClean="0">
                              <a:solidFill>
                                <a:schemeClr val="tx2"/>
                              </a:solidFill>
                              <a:latin typeface="Cambria Math" panose="02040503050406030204" pitchFamily="18" charset="0"/>
                            </a:rPr>
                            <m:t>𝑏</m:t>
                          </m:r>
                        </m:e>
                        <m:sub>
                          <m:r>
                            <a:rPr lang="en-US" altLang="zh-CN" b="0" i="1" smtClean="0">
                              <a:solidFill>
                                <a:schemeClr val="tx2"/>
                              </a:solidFill>
                              <a:latin typeface="Cambria Math" panose="02040503050406030204" pitchFamily="18" charset="0"/>
                            </a:rPr>
                            <m:t>3</m:t>
                          </m:r>
                        </m:sub>
                      </m:sSub>
                    </m:oMath>
                  </m:oMathPara>
                </a14:m>
                <a:endParaRPr lang="zh-CN" altLang="en-US" dirty="0">
                  <a:solidFill>
                    <a:schemeClr val="bg1"/>
                  </a:solidFill>
                </a:endParaRPr>
              </a:p>
            </p:txBody>
          </p:sp>
        </mc:Choice>
        <mc:Fallback xmlns="">
          <p:sp>
            <p:nvSpPr>
              <p:cNvPr id="17" name="流程图: 接点 16"/>
              <p:cNvSpPr>
                <a:spLocks noRot="1" noChangeAspect="1" noMove="1" noResize="1" noEditPoints="1" noAdjustHandles="1" noChangeArrowheads="1" noChangeShapeType="1" noTextEdit="1"/>
              </p:cNvSpPr>
              <p:nvPr/>
            </p:nvSpPr>
            <p:spPr>
              <a:xfrm>
                <a:off x="6916844" y="1764013"/>
                <a:ext cx="725300" cy="761978"/>
              </a:xfrm>
              <a:prstGeom prst="flowChartConnector">
                <a:avLst/>
              </a:prstGeom>
              <a:blipFill rotWithShape="1">
                <a:blip r:embed="rId6"/>
                <a:stretch>
                  <a:fillRect l="-3823" t="-3665" r="-3776" b="-3589"/>
                </a:stretch>
              </a:blip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a:lstStyle/>
              <a:p>
                <a:r>
                  <a:rPr lang="zh-CN" altLang="en-US">
                    <a:noFill/>
                  </a:rPr>
                  <a:t> </a:t>
                </a:r>
              </a:p>
            </p:txBody>
          </p:sp>
        </mc:Fallback>
      </mc:AlternateContent>
      <p:cxnSp>
        <p:nvCxnSpPr>
          <p:cNvPr id="23" name="直接箭头连接符 22"/>
          <p:cNvCxnSpPr>
            <a:stCxn id="14" idx="6"/>
            <a:endCxn id="15" idx="2"/>
          </p:cNvCxnSpPr>
          <p:nvPr/>
        </p:nvCxnSpPr>
        <p:spPr>
          <a:xfrm flipV="1">
            <a:off x="4315329" y="2146486"/>
            <a:ext cx="986846" cy="1"/>
          </a:xfrm>
          <a:prstGeom prst="straightConnector1">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p:cNvCxnSpPr>
            <a:stCxn id="15" idx="6"/>
            <a:endCxn id="17" idx="2"/>
          </p:cNvCxnSpPr>
          <p:nvPr/>
        </p:nvCxnSpPr>
        <p:spPr>
          <a:xfrm flipV="1">
            <a:off x="6027475" y="2145002"/>
            <a:ext cx="889369" cy="1484"/>
          </a:xfrm>
          <a:prstGeom prst="straightConnector1">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p:cNvCxnSpPr>
            <a:stCxn id="17" idx="6"/>
            <a:endCxn id="16" idx="2"/>
          </p:cNvCxnSpPr>
          <p:nvPr/>
        </p:nvCxnSpPr>
        <p:spPr>
          <a:xfrm>
            <a:off x="7642144" y="2145002"/>
            <a:ext cx="819736" cy="0"/>
          </a:xfrm>
          <a:prstGeom prst="straightConnector1">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p:cNvCxnSpPr>
            <a:stCxn id="16" idx="6"/>
            <a:endCxn id="35" idx="1"/>
          </p:cNvCxnSpPr>
          <p:nvPr/>
        </p:nvCxnSpPr>
        <p:spPr>
          <a:xfrm>
            <a:off x="9187180" y="2145002"/>
            <a:ext cx="725300" cy="0"/>
          </a:xfrm>
          <a:prstGeom prst="straightConnector1">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文本框 34"/>
              <p:cNvSpPr txBox="1"/>
              <p:nvPr/>
            </p:nvSpPr>
            <p:spPr>
              <a:xfrm>
                <a:off x="9912480" y="1944947"/>
                <a:ext cx="364015" cy="400110"/>
              </a:xfrm>
              <a:prstGeom prst="rect">
                <a:avLst/>
              </a:prstGeom>
              <a:noFill/>
            </p:spPr>
            <p:txBody>
              <a:bodyPr wrap="square" rtlCol="0">
                <a:spAutoFit/>
              </a:bodyPr>
              <a:lstStyle/>
              <a:p>
                <a:pPr algn="l"/>
                <a14:m>
                  <m:oMathPara xmlns:m="http://schemas.openxmlformats.org/officeDocument/2006/math">
                    <m:oMathParaPr>
                      <m:jc m:val="left"/>
                    </m:oMathParaPr>
                    <m:oMath xmlns:m="http://schemas.openxmlformats.org/officeDocument/2006/math">
                      <m:r>
                        <a:rPr lang="en-US" altLang="zh-CN" sz="2000" i="1" dirty="0" smtClean="0">
                          <a:solidFill>
                            <a:schemeClr val="tx2"/>
                          </a:solidFill>
                          <a:latin typeface="Cambria Math" panose="02040503050406030204" pitchFamily="18" charset="0"/>
                        </a:rPr>
                        <m:t>𝐶</m:t>
                      </m:r>
                    </m:oMath>
                  </m:oMathPara>
                </a14:m>
                <a:endParaRPr lang="zh-CN" altLang="en-US" sz="2000" i="1" dirty="0">
                  <a:solidFill>
                    <a:schemeClr val="tx2"/>
                  </a:solidFill>
                </a:endParaRPr>
              </a:p>
            </p:txBody>
          </p:sp>
        </mc:Choice>
        <mc:Fallback xmlns="">
          <p:sp>
            <p:nvSpPr>
              <p:cNvPr id="35" name="文本框 34"/>
              <p:cNvSpPr txBox="1">
                <a:spLocks noRot="1" noChangeAspect="1" noMove="1" noResize="1" noEditPoints="1" noAdjustHandles="1" noChangeArrowheads="1" noChangeShapeType="1" noTextEdit="1"/>
              </p:cNvSpPr>
              <p:nvPr/>
            </p:nvSpPr>
            <p:spPr>
              <a:xfrm>
                <a:off x="9912480" y="1944947"/>
                <a:ext cx="364015" cy="400110"/>
              </a:xfrm>
              <a:prstGeom prst="rect">
                <a:avLst/>
              </a:prstGeom>
              <a:blipFill rotWithShape="1">
                <a:blip r:embed="rId7"/>
                <a:stretch>
                  <a:fillRect l="-36" t="-144" r="80"/>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49" name="文本框 48"/>
              <p:cNvSpPr txBox="1"/>
              <p:nvPr/>
            </p:nvSpPr>
            <p:spPr>
              <a:xfrm>
                <a:off x="2808384" y="1663177"/>
                <a:ext cx="541108" cy="400110"/>
              </a:xfrm>
              <a:prstGeom prst="rect">
                <a:avLst/>
              </a:prstGeom>
              <a:noFill/>
            </p:spPr>
            <p:txBody>
              <a:bodyPr wrap="square" rtlCol="0">
                <a:spAutoFit/>
              </a:bodyPr>
              <a:lstStyle/>
              <a:p>
                <a:pPr algn="l"/>
                <a14:m>
                  <m:oMathPara xmlns:m="http://schemas.openxmlformats.org/officeDocument/2006/math">
                    <m:oMathParaPr>
                      <m:jc m:val="centerGroup"/>
                    </m:oMathParaPr>
                    <m:oMath xmlns:m="http://schemas.openxmlformats.org/officeDocument/2006/math">
                      <m:sSub>
                        <m:sSubPr>
                          <m:ctrlPr>
                            <a:rPr lang="en-US" altLang="zh-CN" sz="2000" i="1" smtClean="0">
                              <a:solidFill>
                                <a:schemeClr val="tx2"/>
                              </a:solidFill>
                              <a:latin typeface="Cambria Math" panose="02040503050406030204" pitchFamily="18" charset="0"/>
                            </a:rPr>
                          </m:ctrlPr>
                        </m:sSubPr>
                        <m:e>
                          <m:r>
                            <a:rPr lang="en-US" altLang="zh-CN" sz="2000" b="0" i="1" smtClean="0">
                              <a:solidFill>
                                <a:schemeClr val="tx2"/>
                              </a:solidFill>
                              <a:latin typeface="Cambria Math" panose="02040503050406030204" pitchFamily="18" charset="0"/>
                            </a:rPr>
                            <m:t>𝑤</m:t>
                          </m:r>
                        </m:e>
                        <m:sub>
                          <m:r>
                            <a:rPr lang="en-US" altLang="zh-CN" sz="2000" b="0" i="1" smtClean="0">
                              <a:solidFill>
                                <a:schemeClr val="tx2"/>
                              </a:solidFill>
                              <a:latin typeface="Cambria Math" panose="02040503050406030204" pitchFamily="18" charset="0"/>
                            </a:rPr>
                            <m:t>1</m:t>
                          </m:r>
                        </m:sub>
                      </m:sSub>
                    </m:oMath>
                  </m:oMathPara>
                </a14:m>
                <a:endParaRPr lang="zh-CN" altLang="en-US" sz="2000" dirty="0"/>
              </a:p>
            </p:txBody>
          </p:sp>
        </mc:Choice>
        <mc:Fallback xmlns="">
          <p:sp>
            <p:nvSpPr>
              <p:cNvPr id="49" name="文本框 48"/>
              <p:cNvSpPr txBox="1">
                <a:spLocks noRot="1" noChangeAspect="1" noMove="1" noResize="1" noEditPoints="1" noAdjustHandles="1" noChangeArrowheads="1" noChangeShapeType="1" noTextEdit="1"/>
              </p:cNvSpPr>
              <p:nvPr/>
            </p:nvSpPr>
            <p:spPr>
              <a:xfrm>
                <a:off x="2808384" y="1663177"/>
                <a:ext cx="541108" cy="400110"/>
              </a:xfrm>
              <a:prstGeom prst="rect">
                <a:avLst/>
              </a:prstGeom>
              <a:blipFill rotWithShape="1">
                <a:blip r:embed="rId8"/>
                <a:stretch>
                  <a:fillRect l="-77" t="-28" r="93" b="43"/>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51" name="文本框 50"/>
              <p:cNvSpPr txBox="1"/>
              <p:nvPr/>
            </p:nvSpPr>
            <p:spPr>
              <a:xfrm>
                <a:off x="4539238" y="1693955"/>
                <a:ext cx="54202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CN" i="1">
                              <a:solidFill>
                                <a:schemeClr val="tx2"/>
                              </a:solidFill>
                              <a:latin typeface="Cambria Math" panose="02040503050406030204" pitchFamily="18" charset="0"/>
                            </a:rPr>
                          </m:ctrlPr>
                        </m:sSubPr>
                        <m:e>
                          <m:r>
                            <a:rPr lang="en-US" altLang="zh-CN" i="1">
                              <a:solidFill>
                                <a:schemeClr val="tx2"/>
                              </a:solidFill>
                              <a:latin typeface="Cambria Math" panose="02040503050406030204" pitchFamily="18" charset="0"/>
                            </a:rPr>
                            <m:t>𝑤</m:t>
                          </m:r>
                        </m:e>
                        <m:sub>
                          <m:r>
                            <a:rPr lang="en-US" altLang="zh-CN" i="1" smtClean="0">
                              <a:solidFill>
                                <a:schemeClr val="tx2"/>
                              </a:solidFill>
                              <a:latin typeface="Cambria Math" panose="02040503050406030204" pitchFamily="18" charset="0"/>
                            </a:rPr>
                            <m:t>2</m:t>
                          </m:r>
                        </m:sub>
                      </m:sSub>
                    </m:oMath>
                  </m:oMathPara>
                </a14:m>
                <a:endParaRPr lang="zh-CN" altLang="en-US" dirty="0"/>
              </a:p>
            </p:txBody>
          </p:sp>
        </mc:Choice>
        <mc:Fallback xmlns="">
          <p:sp>
            <p:nvSpPr>
              <p:cNvPr id="51" name="文本框 50"/>
              <p:cNvSpPr txBox="1">
                <a:spLocks noRot="1" noChangeAspect="1" noMove="1" noResize="1" noEditPoints="1" noAdjustHandles="1" noChangeArrowheads="1" noChangeShapeType="1" noTextEdit="1"/>
              </p:cNvSpPr>
              <p:nvPr/>
            </p:nvSpPr>
            <p:spPr>
              <a:xfrm>
                <a:off x="4539238" y="1693955"/>
                <a:ext cx="542029" cy="369332"/>
              </a:xfrm>
              <a:prstGeom prst="rect">
                <a:avLst/>
              </a:prstGeom>
              <a:blipFill rotWithShape="1">
                <a:blip r:embed="rId9"/>
                <a:stretch>
                  <a:fillRect l="-48" t="-111" r="117" b="47"/>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53" name="文本框 52"/>
              <p:cNvSpPr txBox="1"/>
              <p:nvPr/>
            </p:nvSpPr>
            <p:spPr>
              <a:xfrm>
                <a:off x="6193689" y="1709721"/>
                <a:ext cx="55985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CN" i="1">
                              <a:solidFill>
                                <a:schemeClr val="tx2"/>
                              </a:solidFill>
                              <a:latin typeface="Cambria Math" panose="02040503050406030204" pitchFamily="18" charset="0"/>
                            </a:rPr>
                          </m:ctrlPr>
                        </m:sSubPr>
                        <m:e>
                          <m:r>
                            <a:rPr lang="en-US" altLang="zh-CN" i="1">
                              <a:solidFill>
                                <a:schemeClr val="tx2"/>
                              </a:solidFill>
                              <a:latin typeface="Cambria Math" panose="02040503050406030204" pitchFamily="18" charset="0"/>
                            </a:rPr>
                            <m:t>𝑤</m:t>
                          </m:r>
                        </m:e>
                        <m:sub>
                          <m:r>
                            <a:rPr lang="en-US" altLang="zh-CN" i="1" smtClean="0">
                              <a:solidFill>
                                <a:schemeClr val="tx2"/>
                              </a:solidFill>
                              <a:latin typeface="Cambria Math" panose="02040503050406030204" pitchFamily="18" charset="0"/>
                            </a:rPr>
                            <m:t>3</m:t>
                          </m:r>
                        </m:sub>
                      </m:sSub>
                    </m:oMath>
                  </m:oMathPara>
                </a14:m>
                <a:endParaRPr lang="zh-CN" altLang="en-US" dirty="0"/>
              </a:p>
            </p:txBody>
          </p:sp>
        </mc:Choice>
        <mc:Fallback xmlns="">
          <p:sp>
            <p:nvSpPr>
              <p:cNvPr id="53" name="文本框 52"/>
              <p:cNvSpPr txBox="1">
                <a:spLocks noRot="1" noChangeAspect="1" noMove="1" noResize="1" noEditPoints="1" noAdjustHandles="1" noChangeArrowheads="1" noChangeShapeType="1" noTextEdit="1"/>
              </p:cNvSpPr>
              <p:nvPr/>
            </p:nvSpPr>
            <p:spPr>
              <a:xfrm>
                <a:off x="6193689" y="1709721"/>
                <a:ext cx="559856" cy="369332"/>
              </a:xfrm>
              <a:prstGeom prst="rect">
                <a:avLst/>
              </a:prstGeom>
              <a:blipFill rotWithShape="1">
                <a:blip r:embed="rId10"/>
                <a:stretch>
                  <a:fillRect l="-95" t="-81" r="57" b="17"/>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55" name="文本框 54"/>
              <p:cNvSpPr txBox="1"/>
              <p:nvPr/>
            </p:nvSpPr>
            <p:spPr>
              <a:xfrm>
                <a:off x="7835665" y="1705846"/>
                <a:ext cx="53177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CN" sz="1800" i="1" smtClean="0">
                              <a:solidFill>
                                <a:schemeClr val="tx2"/>
                              </a:solidFill>
                              <a:latin typeface="Cambria Math" panose="02040503050406030204" pitchFamily="18" charset="0"/>
                            </a:rPr>
                          </m:ctrlPr>
                        </m:sSubPr>
                        <m:e>
                          <m:r>
                            <a:rPr lang="en-US" altLang="zh-CN" sz="1800" b="0" i="1" smtClean="0">
                              <a:solidFill>
                                <a:schemeClr val="tx2"/>
                              </a:solidFill>
                              <a:latin typeface="Cambria Math" panose="02040503050406030204" pitchFamily="18" charset="0"/>
                            </a:rPr>
                            <m:t>𝑤</m:t>
                          </m:r>
                        </m:e>
                        <m:sub>
                          <m:r>
                            <a:rPr lang="en-US" altLang="zh-CN" i="1">
                              <a:solidFill>
                                <a:schemeClr val="tx2"/>
                              </a:solidFill>
                              <a:latin typeface="Cambria Math" panose="02040503050406030204" pitchFamily="18" charset="0"/>
                            </a:rPr>
                            <m:t>4</m:t>
                          </m:r>
                        </m:sub>
                      </m:sSub>
                    </m:oMath>
                  </m:oMathPara>
                </a14:m>
                <a:endParaRPr lang="zh-CN" altLang="en-US" dirty="0"/>
              </a:p>
            </p:txBody>
          </p:sp>
        </mc:Choice>
        <mc:Fallback xmlns="">
          <p:sp>
            <p:nvSpPr>
              <p:cNvPr id="55" name="文本框 54"/>
              <p:cNvSpPr txBox="1">
                <a:spLocks noRot="1" noChangeAspect="1" noMove="1" noResize="1" noEditPoints="1" noAdjustHandles="1" noChangeArrowheads="1" noChangeShapeType="1" noTextEdit="1"/>
              </p:cNvSpPr>
              <p:nvPr/>
            </p:nvSpPr>
            <p:spPr>
              <a:xfrm>
                <a:off x="7835665" y="1705846"/>
                <a:ext cx="531779" cy="369332"/>
              </a:xfrm>
              <a:prstGeom prst="rect">
                <a:avLst/>
              </a:prstGeom>
              <a:blipFill rotWithShape="1">
                <a:blip r:embed="rId11"/>
                <a:stretch>
                  <a:fillRect l="-75" t="-64" r="9" b="171"/>
                </a:stretch>
              </a:blipFill>
            </p:spPr>
            <p:txBody>
              <a:bodyPr/>
              <a:lstStyle/>
              <a:p>
                <a:r>
                  <a:rPr lang="zh-CN" altLang="en-US">
                    <a:noFill/>
                  </a:rPr>
                  <a:t> </a:t>
                </a:r>
              </a:p>
            </p:txBody>
          </p:sp>
        </mc:Fallback>
      </mc:AlternateContent>
      <p:pic>
        <p:nvPicPr>
          <p:cNvPr id="64" name="图片 63"/>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488747" y="2676434"/>
            <a:ext cx="3142547" cy="2487611"/>
          </a:xfrm>
          <a:prstGeom prst="rect">
            <a:avLst/>
          </a:prstGeom>
        </p:spPr>
      </p:pic>
      <p:pic>
        <p:nvPicPr>
          <p:cNvPr id="66" name="图片 65"/>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6560708" y="2623175"/>
            <a:ext cx="3262641" cy="254087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zh-CN" altLang="en-US" dirty="0">
                <a:latin typeface="微软雅黑" panose="020B0503020204020204" pitchFamily="34" charset="-122"/>
                <a:ea typeface="微软雅黑" panose="020B0503020204020204" pitchFamily="34" charset="-122"/>
              </a:rPr>
              <a:t>残差神经网络</a:t>
            </a:r>
            <a:endParaRPr lang="zh-CN" altLang="en-US" dirty="0"/>
          </a:p>
        </p:txBody>
      </p:sp>
      <mc:AlternateContent xmlns:mc="http://schemas.openxmlformats.org/markup-compatibility/2006" xmlns:a14="http://schemas.microsoft.com/office/drawing/2010/main">
        <mc:Choice Requires="a14">
          <p:sp>
            <p:nvSpPr>
              <p:cNvPr id="12" name="文本框 11"/>
              <p:cNvSpPr txBox="1"/>
              <p:nvPr/>
            </p:nvSpPr>
            <p:spPr>
              <a:xfrm>
                <a:off x="381242" y="844550"/>
                <a:ext cx="8133080" cy="2893356"/>
              </a:xfrm>
              <a:prstGeom prst="rect">
                <a:avLst/>
              </a:prstGeom>
              <a:noFill/>
            </p:spPr>
            <p:txBody>
              <a:bodyPr wrap="square" rtlCol="0">
                <a:spAutoFit/>
              </a:bodyPr>
              <a:lstStyle/>
              <a:p>
                <a:pPr indent="0" fontAlgn="auto">
                  <a:lnSpc>
                    <a:spcPct val="150000"/>
                  </a:lnSpc>
                  <a:buFont typeface="Arial" panose="020B0604020202020204" pitchFamily="34" charset="0"/>
                  <a:buNone/>
                </a:pPr>
                <a:r>
                  <a:rPr lang="zh-CN" altLang="en-US" sz="2400" dirty="0">
                    <a:solidFill>
                      <a:schemeClr val="tx2"/>
                    </a:solidFill>
                    <a:latin typeface="微软雅黑" panose="020B0503020204020204" pitchFamily="34" charset="-122"/>
                    <a:ea typeface="微软雅黑" panose="020B0503020204020204" pitchFamily="34" charset="-122"/>
                  </a:rPr>
                  <a:t>问题：随着网络层数的增加，训练深层网络越来越困难</a:t>
                </a:r>
              </a:p>
              <a:p>
                <a:pPr marL="742950" lvl="1" indent="-285750" fontAlgn="auto">
                  <a:lnSpc>
                    <a:spcPct val="150000"/>
                  </a:lnSpc>
                  <a:buFont typeface="Wingdings" panose="05000000000000000000" charset="0"/>
                  <a:buChar char="p"/>
                </a:pPr>
                <a:r>
                  <a:rPr lang="zh-CN" altLang="en-US" sz="2000" dirty="0">
                    <a:solidFill>
                      <a:schemeClr val="tx2"/>
                    </a:solidFill>
                    <a:latin typeface="微软雅黑" panose="020B0503020204020204" pitchFamily="34" charset="-122"/>
                    <a:ea typeface="微软雅黑" panose="020B0503020204020204" pitchFamily="34" charset="-122"/>
                  </a:rPr>
                  <a:t>梯度爆炸和梯度消失问题</a:t>
                </a:r>
              </a:p>
              <a:p>
                <a:pPr marL="742950" lvl="1" indent="-285750" fontAlgn="auto">
                  <a:lnSpc>
                    <a:spcPct val="150000"/>
                  </a:lnSpc>
                  <a:buFont typeface="Wingdings" panose="05000000000000000000" charset="0"/>
                  <a:buChar char="p"/>
                </a:pPr>
                <a:r>
                  <a:rPr lang="zh-CN" altLang="en-US" sz="2000" dirty="0">
                    <a:solidFill>
                      <a:schemeClr val="tx2"/>
                    </a:solidFill>
                    <a:latin typeface="微软雅黑" panose="020B0503020204020204" pitchFamily="34" charset="-122"/>
                    <a:ea typeface="微软雅黑" panose="020B0503020204020204" pitchFamily="34" charset="-122"/>
                  </a:rPr>
                  <a:t>退化问题：网络深度增加时，性能出现饱和甚至下降的现象</a:t>
                </a:r>
              </a:p>
              <a:p>
                <a:pPr marL="1200150" lvl="2" indent="-285750" fontAlgn="auto">
                  <a:lnSpc>
                    <a:spcPct val="150000"/>
                  </a:lnSpc>
                  <a:buFont typeface="Wingdings" panose="05000000000000000000" charset="0"/>
                  <a:buChar char="p"/>
                </a:pPr>
                <a:r>
                  <a:rPr lang="zh-CN" altLang="en-US" dirty="0">
                    <a:solidFill>
                      <a:schemeClr val="tx2"/>
                    </a:solidFill>
                    <a:latin typeface="微软雅黑" panose="020B0503020204020204" pitchFamily="34" charset="-122"/>
                    <a:ea typeface="微软雅黑" panose="020B0503020204020204" pitchFamily="34" charset="-122"/>
                  </a:rPr>
                  <a:t>额外增加的层可能并未学习到新的特征表示，而只是近似恒等映射</a:t>
                </a:r>
              </a:p>
              <a:p>
                <a:pPr marL="1200150" lvl="2" indent="-285750" fontAlgn="auto">
                  <a:lnSpc>
                    <a:spcPct val="150000"/>
                  </a:lnSpc>
                  <a:buFont typeface="Wingdings" panose="05000000000000000000" charset="0"/>
                  <a:buChar char="p"/>
                </a:pPr>
                <a:r>
                  <a:rPr lang="zh-CN" altLang="en-US" dirty="0">
                    <a:solidFill>
                      <a:schemeClr val="tx2"/>
                    </a:solidFill>
                    <a:latin typeface="微软雅黑" panose="020B0503020204020204" pitchFamily="34" charset="-122"/>
                    <a:ea typeface="微软雅黑" panose="020B0503020204020204" pitchFamily="34" charset="-122"/>
                  </a:rPr>
                  <a:t>网络越深,参数量越大,过拟合风险也随之增加，导致泛化性能下降</a:t>
                </a:r>
              </a:p>
              <a:p>
                <a:pPr lvl="0" indent="0" fontAlgn="auto">
                  <a:lnSpc>
                    <a:spcPct val="150000"/>
                  </a:lnSpc>
                  <a:buFont typeface="Wingdings" panose="05000000000000000000" charset="0"/>
                  <a:buNone/>
                </a:pPr>
                <a:r>
                  <a:rPr lang="zh-CN" altLang="en-US" sz="2400" dirty="0">
                    <a:solidFill>
                      <a:schemeClr val="tx2"/>
                    </a:solidFill>
                    <a:latin typeface="微软雅黑" panose="020B0503020204020204" pitchFamily="34" charset="-122"/>
                    <a:ea typeface="微软雅黑" panose="020B0503020204020204" pitchFamily="34" charset="-122"/>
                  </a:rPr>
                  <a:t>解决方案：加入残差连接：</a:t>
                </a:r>
                <a14:m>
                  <m:oMath xmlns:m="http://schemas.openxmlformats.org/officeDocument/2006/math">
                    <m:sSub>
                      <m:sSubPr>
                        <m:ctrlPr>
                          <a:rPr lang="en-US" altLang="zh-CN" sz="2400" i="1" smtClean="0">
                            <a:solidFill>
                              <a:schemeClr val="tx2"/>
                            </a:solidFill>
                            <a:latin typeface="Cambria Math" panose="02040503050406030204" pitchFamily="18" charset="0"/>
                          </a:rPr>
                        </m:ctrlPr>
                      </m:sSubPr>
                      <m:e>
                        <m:r>
                          <a:rPr lang="en-US" altLang="zh-CN" sz="2400" b="0" i="1" smtClean="0">
                            <a:solidFill>
                              <a:schemeClr val="tx2"/>
                            </a:solidFill>
                            <a:latin typeface="Cambria Math" panose="02040503050406030204" pitchFamily="18" charset="0"/>
                          </a:rPr>
                          <m:t>𝐹</m:t>
                        </m:r>
                      </m:e>
                      <m:sub>
                        <m:r>
                          <a:rPr lang="en-US" altLang="zh-CN" sz="2400" b="0" i="1" smtClean="0">
                            <a:solidFill>
                              <a:schemeClr val="tx2"/>
                            </a:solidFill>
                            <a:latin typeface="Cambria Math" panose="02040503050406030204" pitchFamily="18" charset="0"/>
                          </a:rPr>
                          <m:t>𝑙</m:t>
                        </m:r>
                        <m:r>
                          <a:rPr lang="en-US" altLang="zh-CN" sz="2400" b="0" i="1" smtClean="0">
                            <a:solidFill>
                              <a:schemeClr val="tx2"/>
                            </a:solidFill>
                            <a:latin typeface="Cambria Math" panose="02040503050406030204" pitchFamily="18" charset="0"/>
                          </a:rPr>
                          <m:t>+1</m:t>
                        </m:r>
                      </m:sub>
                    </m:sSub>
                    <m:r>
                      <a:rPr lang="en-US" altLang="zh-CN" sz="2400" b="0" i="1" smtClean="0">
                        <a:solidFill>
                          <a:schemeClr val="tx2"/>
                        </a:solidFill>
                        <a:latin typeface="Cambria Math" panose="02040503050406030204" pitchFamily="18" charset="0"/>
                      </a:rPr>
                      <m:t>=</m:t>
                    </m:r>
                    <m:r>
                      <a:rPr lang="zh-CN" altLang="en-US" sz="2400" b="0" i="1" smtClean="0">
                        <a:solidFill>
                          <a:schemeClr val="tx2"/>
                        </a:solidFill>
                        <a:latin typeface="Cambria Math" panose="02040503050406030204" pitchFamily="18" charset="0"/>
                      </a:rPr>
                      <m:t>𝜎</m:t>
                    </m:r>
                    <m:d>
                      <m:dPr>
                        <m:ctrlPr>
                          <a:rPr lang="en-US" altLang="zh-CN" sz="2400" b="0" i="1" smtClean="0">
                            <a:solidFill>
                              <a:schemeClr val="tx2"/>
                            </a:solidFill>
                            <a:latin typeface="Cambria Math" panose="02040503050406030204" pitchFamily="18" charset="0"/>
                          </a:rPr>
                        </m:ctrlPr>
                      </m:dPr>
                      <m:e>
                        <m:sSub>
                          <m:sSubPr>
                            <m:ctrlPr>
                              <a:rPr lang="en-US" altLang="zh-CN" sz="2400" b="0" i="1" smtClean="0">
                                <a:solidFill>
                                  <a:schemeClr val="tx2"/>
                                </a:solidFill>
                                <a:latin typeface="Cambria Math" panose="02040503050406030204" pitchFamily="18" charset="0"/>
                              </a:rPr>
                            </m:ctrlPr>
                          </m:sSubPr>
                          <m:e>
                            <m:r>
                              <a:rPr lang="en-US" altLang="zh-CN" sz="2400" b="0" i="1" smtClean="0">
                                <a:solidFill>
                                  <a:schemeClr val="tx2"/>
                                </a:solidFill>
                                <a:latin typeface="Cambria Math" panose="02040503050406030204" pitchFamily="18" charset="0"/>
                              </a:rPr>
                              <m:t>𝑊</m:t>
                            </m:r>
                          </m:e>
                          <m:sub>
                            <m:r>
                              <a:rPr lang="en-US" altLang="zh-CN" sz="2400" b="0" i="1" smtClean="0">
                                <a:solidFill>
                                  <a:schemeClr val="tx2"/>
                                </a:solidFill>
                                <a:latin typeface="Cambria Math" panose="02040503050406030204" pitchFamily="18" charset="0"/>
                              </a:rPr>
                              <m:t>𝑙</m:t>
                            </m:r>
                          </m:sub>
                        </m:sSub>
                        <m:sSub>
                          <m:sSubPr>
                            <m:ctrlPr>
                              <a:rPr lang="en-US" altLang="zh-CN" sz="2400" b="0" i="1" smtClean="0">
                                <a:solidFill>
                                  <a:schemeClr val="tx2"/>
                                </a:solidFill>
                                <a:latin typeface="Cambria Math" panose="02040503050406030204" pitchFamily="18" charset="0"/>
                              </a:rPr>
                            </m:ctrlPr>
                          </m:sSubPr>
                          <m:e>
                            <m:r>
                              <a:rPr lang="en-US" altLang="zh-CN" sz="2400" b="0" i="1" smtClean="0">
                                <a:solidFill>
                                  <a:schemeClr val="tx2"/>
                                </a:solidFill>
                                <a:latin typeface="Cambria Math" panose="02040503050406030204" pitchFamily="18" charset="0"/>
                              </a:rPr>
                              <m:t>𝐹</m:t>
                            </m:r>
                          </m:e>
                          <m:sub>
                            <m:r>
                              <a:rPr lang="en-US" altLang="zh-CN" sz="2400" b="0" i="1" smtClean="0">
                                <a:solidFill>
                                  <a:schemeClr val="tx2"/>
                                </a:solidFill>
                                <a:latin typeface="Cambria Math" panose="02040503050406030204" pitchFamily="18" charset="0"/>
                              </a:rPr>
                              <m:t>𝑙</m:t>
                            </m:r>
                          </m:sub>
                        </m:sSub>
                        <m:r>
                          <a:rPr lang="en-US" altLang="zh-CN" sz="2400" b="0" i="1" smtClean="0">
                            <a:solidFill>
                              <a:schemeClr val="tx2"/>
                            </a:solidFill>
                            <a:latin typeface="Cambria Math" panose="02040503050406030204" pitchFamily="18" charset="0"/>
                          </a:rPr>
                          <m:t>+</m:t>
                        </m:r>
                        <m:sSub>
                          <m:sSubPr>
                            <m:ctrlPr>
                              <a:rPr lang="en-US" altLang="zh-CN" sz="2400" b="0" i="1" smtClean="0">
                                <a:solidFill>
                                  <a:schemeClr val="tx2"/>
                                </a:solidFill>
                                <a:latin typeface="Cambria Math" panose="02040503050406030204" pitchFamily="18" charset="0"/>
                              </a:rPr>
                            </m:ctrlPr>
                          </m:sSubPr>
                          <m:e>
                            <m:r>
                              <a:rPr lang="en-US" altLang="zh-CN" sz="2400" b="0" i="1" smtClean="0">
                                <a:solidFill>
                                  <a:schemeClr val="tx2"/>
                                </a:solidFill>
                                <a:latin typeface="Cambria Math" panose="02040503050406030204" pitchFamily="18" charset="0"/>
                              </a:rPr>
                              <m:t>𝑏</m:t>
                            </m:r>
                          </m:e>
                          <m:sub>
                            <m:r>
                              <a:rPr lang="en-US" altLang="zh-CN" sz="2400" b="0" i="1" smtClean="0">
                                <a:solidFill>
                                  <a:schemeClr val="tx2"/>
                                </a:solidFill>
                                <a:latin typeface="Cambria Math" panose="02040503050406030204" pitchFamily="18" charset="0"/>
                              </a:rPr>
                              <m:t>𝑙</m:t>
                            </m:r>
                          </m:sub>
                        </m:sSub>
                      </m:e>
                    </m:d>
                    <m:r>
                      <a:rPr lang="en-US" altLang="zh-CN" sz="2400" b="0" i="1" smtClean="0">
                        <a:solidFill>
                          <a:schemeClr val="tx2"/>
                        </a:solidFill>
                        <a:latin typeface="Cambria Math" panose="02040503050406030204" pitchFamily="18" charset="0"/>
                      </a:rPr>
                      <m:t>+</m:t>
                    </m:r>
                    <m:sSub>
                      <m:sSubPr>
                        <m:ctrlPr>
                          <a:rPr lang="en-US" altLang="zh-CN" sz="2400" b="0" i="1" smtClean="0">
                            <a:solidFill>
                              <a:schemeClr val="tx2"/>
                            </a:solidFill>
                            <a:latin typeface="Cambria Math" panose="02040503050406030204" pitchFamily="18" charset="0"/>
                          </a:rPr>
                        </m:ctrlPr>
                      </m:sSubPr>
                      <m:e>
                        <m:r>
                          <a:rPr lang="en-US" altLang="zh-CN" sz="2400" b="0" i="1" smtClean="0">
                            <a:solidFill>
                              <a:schemeClr val="tx2"/>
                            </a:solidFill>
                            <a:latin typeface="Cambria Math" panose="02040503050406030204" pitchFamily="18" charset="0"/>
                          </a:rPr>
                          <m:t>𝐹</m:t>
                        </m:r>
                      </m:e>
                      <m:sub>
                        <m:r>
                          <a:rPr lang="en-US" altLang="zh-CN" sz="2400" b="0" i="1" smtClean="0">
                            <a:solidFill>
                              <a:schemeClr val="tx2"/>
                            </a:solidFill>
                            <a:latin typeface="Cambria Math" panose="02040503050406030204" pitchFamily="18" charset="0"/>
                          </a:rPr>
                          <m:t>𝑙</m:t>
                        </m:r>
                      </m:sub>
                    </m:sSub>
                  </m:oMath>
                </a14:m>
                <a:endParaRPr lang="zh-CN" altLang="en-US" sz="2400" dirty="0">
                  <a:solidFill>
                    <a:schemeClr val="tx2"/>
                  </a:solidFill>
                  <a:latin typeface="微软雅黑" panose="020B0503020204020204" pitchFamily="34" charset="-122"/>
                  <a:ea typeface="微软雅黑" panose="020B0503020204020204" pitchFamily="34" charset="-122"/>
                </a:endParaRPr>
              </a:p>
            </p:txBody>
          </p:sp>
        </mc:Choice>
        <mc:Fallback xmlns="">
          <p:sp>
            <p:nvSpPr>
              <p:cNvPr id="12" name="文本框 11"/>
              <p:cNvSpPr txBox="1">
                <a:spLocks noRot="1" noChangeAspect="1" noMove="1" noResize="1" noEditPoints="1" noAdjustHandles="1" noChangeArrowheads="1" noChangeShapeType="1" noTextEdit="1"/>
              </p:cNvSpPr>
              <p:nvPr/>
            </p:nvSpPr>
            <p:spPr>
              <a:xfrm>
                <a:off x="381242" y="844550"/>
                <a:ext cx="8133080" cy="2893356"/>
              </a:xfrm>
              <a:prstGeom prst="rect">
                <a:avLst/>
              </a:prstGeom>
              <a:blipFill rotWithShape="1">
                <a:blip r:embed="rId2"/>
                <a:stretch>
                  <a:fillRect l="-3" r="3" b="10"/>
                </a:stretch>
              </a:blipFill>
            </p:spPr>
            <p:txBody>
              <a:bodyPr/>
              <a:lstStyle/>
              <a:p>
                <a:r>
                  <a:rPr lang="zh-CN" altLang="en-US">
                    <a:noFill/>
                  </a:rPr>
                  <a:t> </a:t>
                </a:r>
              </a:p>
            </p:txBody>
          </p:sp>
        </mc:Fallback>
      </mc:AlternateContent>
      <p:pic>
        <p:nvPicPr>
          <p:cNvPr id="13" name="图片 12"/>
          <p:cNvPicPr>
            <a:picLocks noChangeAspect="1"/>
          </p:cNvPicPr>
          <p:nvPr/>
        </p:nvPicPr>
        <p:blipFill>
          <a:blip r:embed="rId3">
            <a:clrChange>
              <a:clrFrom>
                <a:srgbClr val="FFFFFF">
                  <a:alpha val="100000"/>
                </a:srgbClr>
              </a:clrFrom>
              <a:clrTo>
                <a:srgbClr val="FFFFFF">
                  <a:alpha val="100000"/>
                  <a:alpha val="0"/>
                </a:srgbClr>
              </a:clrTo>
            </a:clrChange>
          </a:blip>
          <a:stretch>
            <a:fillRect/>
          </a:stretch>
        </p:blipFill>
        <p:spPr>
          <a:xfrm>
            <a:off x="747395" y="3820477"/>
            <a:ext cx="5861685" cy="2053590"/>
          </a:xfrm>
          <a:prstGeom prst="rect">
            <a:avLst/>
          </a:prstGeom>
        </p:spPr>
      </p:pic>
      <p:pic>
        <p:nvPicPr>
          <p:cNvPr id="4" name="图片 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455342" y="3742055"/>
            <a:ext cx="3989263" cy="2132012"/>
          </a:xfrm>
          <a:prstGeom prst="rect">
            <a:avLst/>
          </a:prstGeom>
        </p:spPr>
      </p:pic>
      <p:sp>
        <p:nvSpPr>
          <p:cNvPr id="8" name="文本框 7"/>
          <p:cNvSpPr txBox="1"/>
          <p:nvPr/>
        </p:nvSpPr>
        <p:spPr>
          <a:xfrm>
            <a:off x="126998" y="6351998"/>
            <a:ext cx="10665179" cy="377283"/>
          </a:xfrm>
          <a:prstGeom prst="rect">
            <a:avLst/>
          </a:prstGeom>
          <a:noFill/>
        </p:spPr>
        <p:txBody>
          <a:bodyPr wrap="square" rtlCol="0">
            <a:spAutoFit/>
          </a:bodyPr>
          <a:lstStyle/>
          <a:p>
            <a:pPr algn="l">
              <a:lnSpc>
                <a:spcPct val="150000"/>
              </a:lnSpc>
            </a:pPr>
            <a:r>
              <a:rPr lang="en-US" altLang="zh-CN" sz="1400" b="0" i="0" dirty="0">
                <a:solidFill>
                  <a:schemeClr val="bg1"/>
                </a:solidFill>
                <a:effectLst/>
                <a:latin typeface="Times New Roman" panose="02020603050405020304" pitchFamily="18" charset="0"/>
                <a:ea typeface="微软雅黑" panose="020B0503020204020204" pitchFamily="34" charset="-122"/>
                <a:cs typeface="Times New Roman" panose="02020603050405020304" pitchFamily="18" charset="0"/>
              </a:rPr>
              <a:t> [1] He, </a:t>
            </a:r>
            <a:r>
              <a:rPr lang="en-US" altLang="zh-CN" sz="1400" b="0" i="0" dirty="0" err="1">
                <a:solidFill>
                  <a:schemeClr val="bg1"/>
                </a:solidFill>
                <a:effectLst/>
                <a:latin typeface="Times New Roman" panose="02020603050405020304" pitchFamily="18" charset="0"/>
                <a:ea typeface="微软雅黑" panose="020B0503020204020204" pitchFamily="34" charset="-122"/>
                <a:cs typeface="Times New Roman" panose="02020603050405020304" pitchFamily="18" charset="0"/>
              </a:rPr>
              <a:t>Kaiming</a:t>
            </a:r>
            <a:r>
              <a:rPr lang="en-US" altLang="zh-CN" sz="1400" b="0" i="0" dirty="0">
                <a:solidFill>
                  <a:schemeClr val="bg1"/>
                </a:solidFill>
                <a:effectLst/>
                <a:latin typeface="Times New Roman" panose="02020603050405020304" pitchFamily="18" charset="0"/>
                <a:ea typeface="微软雅黑" panose="020B0503020204020204" pitchFamily="34" charset="-122"/>
                <a:cs typeface="Times New Roman" panose="02020603050405020304" pitchFamily="18" charset="0"/>
              </a:rPr>
              <a:t> , et al. "Deep Residual Learning for Image Recognition." IEEE (2016).</a:t>
            </a:r>
            <a:endParaRPr lang="en-US" altLang="zh-CN" sz="2800" dirty="0">
              <a:solidFill>
                <a:schemeClr val="bg1"/>
              </a:solidFill>
              <a:latin typeface="Times New Roman" panose="02020603050405020304" pitchFamily="18" charset="0"/>
              <a:ea typeface="微软雅黑" panose="020B0503020204020204" pitchFamily="34" charset="-122"/>
              <a:cs typeface="Times New Roman" panose="02020603050405020304" pitchFamily="18" charset="0"/>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zh-CN" altLang="en-US" dirty="0">
                <a:latin typeface="微软雅黑" panose="020B0503020204020204" pitchFamily="34" charset="-122"/>
                <a:ea typeface="微软雅黑" panose="020B0503020204020204" pitchFamily="34" charset="-122"/>
              </a:rPr>
              <a:t>退化问题</a:t>
            </a:r>
            <a:endParaRPr lang="zh-CN" altLang="en-US" dirty="0"/>
          </a:p>
        </p:txBody>
      </p:sp>
      <p:sp>
        <p:nvSpPr>
          <p:cNvPr id="5" name="文本框 4"/>
          <p:cNvSpPr txBox="1"/>
          <p:nvPr/>
        </p:nvSpPr>
        <p:spPr>
          <a:xfrm>
            <a:off x="126998" y="6351998"/>
            <a:ext cx="10665179" cy="377283"/>
          </a:xfrm>
          <a:prstGeom prst="rect">
            <a:avLst/>
          </a:prstGeom>
          <a:noFill/>
        </p:spPr>
        <p:txBody>
          <a:bodyPr wrap="square" rtlCol="0">
            <a:spAutoFit/>
          </a:bodyPr>
          <a:lstStyle/>
          <a:p>
            <a:pPr algn="l">
              <a:lnSpc>
                <a:spcPct val="150000"/>
              </a:lnSpc>
            </a:pPr>
            <a:r>
              <a:rPr lang="en-US" altLang="zh-CN" sz="1400" b="0" i="0" dirty="0">
                <a:solidFill>
                  <a:schemeClr val="bg1"/>
                </a:solidFill>
                <a:effectLst/>
                <a:latin typeface="Times New Roman" panose="02020603050405020304" pitchFamily="18" charset="0"/>
                <a:ea typeface="微软雅黑" panose="020B0503020204020204" pitchFamily="34" charset="-122"/>
                <a:cs typeface="Times New Roman" panose="02020603050405020304" pitchFamily="18" charset="0"/>
              </a:rPr>
              <a:t> [1] He, </a:t>
            </a:r>
            <a:r>
              <a:rPr lang="en-US" altLang="zh-CN" sz="1400" b="0" i="0" dirty="0" err="1">
                <a:solidFill>
                  <a:schemeClr val="bg1"/>
                </a:solidFill>
                <a:effectLst/>
                <a:latin typeface="Times New Roman" panose="02020603050405020304" pitchFamily="18" charset="0"/>
                <a:ea typeface="微软雅黑" panose="020B0503020204020204" pitchFamily="34" charset="-122"/>
                <a:cs typeface="Times New Roman" panose="02020603050405020304" pitchFamily="18" charset="0"/>
              </a:rPr>
              <a:t>Kaiming</a:t>
            </a:r>
            <a:r>
              <a:rPr lang="en-US" altLang="zh-CN" sz="1400" b="0" i="0" dirty="0">
                <a:solidFill>
                  <a:schemeClr val="bg1"/>
                </a:solidFill>
                <a:effectLst/>
                <a:latin typeface="Times New Roman" panose="02020603050405020304" pitchFamily="18" charset="0"/>
                <a:ea typeface="微软雅黑" panose="020B0503020204020204" pitchFamily="34" charset="-122"/>
                <a:cs typeface="Times New Roman" panose="02020603050405020304" pitchFamily="18" charset="0"/>
              </a:rPr>
              <a:t> , et al. "Deep Residual Learning for Image Recognition." IEEE (2016).</a:t>
            </a:r>
            <a:endParaRPr lang="en-US" altLang="zh-CN" sz="2800" dirty="0">
              <a:solidFill>
                <a:schemeClr val="bg1"/>
              </a:solidFill>
              <a:latin typeface="Times New Roman" panose="02020603050405020304" pitchFamily="18" charset="0"/>
              <a:ea typeface="微软雅黑" panose="020B0503020204020204" pitchFamily="34" charset="-122"/>
              <a:cs typeface="Times New Roman" panose="02020603050405020304" pitchFamily="18" charset="0"/>
            </a:endParaRPr>
          </a:p>
        </p:txBody>
      </p:sp>
      <p:pic>
        <p:nvPicPr>
          <p:cNvPr id="10" name="图片 9">
            <a:extLst>
              <a:ext uri="{FF2B5EF4-FFF2-40B4-BE49-F238E27FC236}">
                <a16:creationId xmlns:a16="http://schemas.microsoft.com/office/drawing/2014/main" id="{28E1B34B-46D8-437D-FA23-B63DEE7998FD}"/>
              </a:ext>
            </a:extLst>
          </p:cNvPr>
          <p:cNvPicPr>
            <a:picLocks noChangeAspect="1"/>
          </p:cNvPicPr>
          <p:nvPr/>
        </p:nvPicPr>
        <p:blipFill rotWithShape="1">
          <a:blip r:embed="rId2">
            <a:extLst>
              <a:ext uri="{28A0092B-C50C-407E-A947-70E740481C1C}">
                <a14:useLocalDpi xmlns:a14="http://schemas.microsoft.com/office/drawing/2010/main" val="0"/>
              </a:ext>
            </a:extLst>
          </a:blip>
          <a:srcRect l="7572" r="10143" b="24285"/>
          <a:stretch/>
        </p:blipFill>
        <p:spPr>
          <a:xfrm>
            <a:off x="1923914" y="2188589"/>
            <a:ext cx="7524206" cy="2480821"/>
          </a:xfrm>
          <a:prstGeom prst="rect">
            <a:avLst/>
          </a:prstGeom>
        </p:spPr>
      </p:pic>
      <p:sp>
        <p:nvSpPr>
          <p:cNvPr id="11" name="文本框 10">
            <a:extLst>
              <a:ext uri="{FF2B5EF4-FFF2-40B4-BE49-F238E27FC236}">
                <a16:creationId xmlns:a16="http://schemas.microsoft.com/office/drawing/2014/main" id="{859EB2F5-F1AB-99F4-213B-55F4F19EA587}"/>
              </a:ext>
            </a:extLst>
          </p:cNvPr>
          <p:cNvSpPr txBox="1"/>
          <p:nvPr/>
        </p:nvSpPr>
        <p:spPr>
          <a:xfrm>
            <a:off x="1803431" y="1087794"/>
            <a:ext cx="1415772" cy="461665"/>
          </a:xfrm>
          <a:prstGeom prst="rect">
            <a:avLst/>
          </a:prstGeom>
          <a:noFill/>
        </p:spPr>
        <p:txBody>
          <a:bodyPr wrap="none" rtlCol="0">
            <a:spAutoFit/>
          </a:bodyPr>
          <a:lstStyle/>
          <a:p>
            <a:r>
              <a:rPr lang="zh-CN" altLang="en-US" sz="2400" b="1" dirty="0">
                <a:solidFill>
                  <a:srgbClr val="000000"/>
                </a:solidFill>
                <a:latin typeface="等线 Light"/>
                <a:ea typeface="等线"/>
              </a:rPr>
              <a:t>实验结果</a:t>
            </a:r>
          </a:p>
        </p:txBody>
      </p:sp>
      <p:sp>
        <p:nvSpPr>
          <p:cNvPr id="12" name="矩形 11">
            <a:extLst>
              <a:ext uri="{FF2B5EF4-FFF2-40B4-BE49-F238E27FC236}">
                <a16:creationId xmlns:a16="http://schemas.microsoft.com/office/drawing/2014/main" id="{5A6999BC-C51F-33BE-EB2D-493D1ABCC7DD}"/>
              </a:ext>
            </a:extLst>
          </p:cNvPr>
          <p:cNvSpPr/>
          <p:nvPr/>
        </p:nvSpPr>
        <p:spPr>
          <a:xfrm>
            <a:off x="1735302" y="4800708"/>
            <a:ext cx="8454586" cy="1015663"/>
          </a:xfrm>
          <a:prstGeom prst="rect">
            <a:avLst/>
          </a:prstGeom>
        </p:spPr>
        <p:txBody>
          <a:bodyPr wrap="square">
            <a:spAutoFit/>
          </a:bodyPr>
          <a:lstStyle/>
          <a:p>
            <a:pPr algn="ctr"/>
            <a:r>
              <a:rPr lang="zh-CN" altLang="en-US" sz="2000" dirty="0">
                <a:solidFill>
                  <a:srgbClr val="000000"/>
                </a:solidFill>
                <a:latin typeface="等线"/>
                <a:ea typeface="等线"/>
              </a:rPr>
              <a:t>细曲线表示训练误差，粗曲线表示测试误差。</a:t>
            </a:r>
            <a:endParaRPr lang="en-US" altLang="zh-CN" sz="2000" dirty="0">
              <a:solidFill>
                <a:srgbClr val="000000"/>
              </a:solidFill>
              <a:latin typeface="等线"/>
              <a:ea typeface="等线"/>
            </a:endParaRPr>
          </a:p>
          <a:p>
            <a:pPr algn="ctr"/>
            <a:r>
              <a:rPr lang="zh-CN" altLang="en-US" sz="2000" dirty="0">
                <a:solidFill>
                  <a:srgbClr val="000000"/>
                </a:solidFill>
                <a:latin typeface="等线"/>
                <a:ea typeface="等线"/>
              </a:rPr>
              <a:t>左：</a:t>
            </a:r>
            <a:r>
              <a:rPr lang="en-US" altLang="zh-CN" sz="2000" dirty="0">
                <a:solidFill>
                  <a:srgbClr val="000000"/>
                </a:solidFill>
                <a:latin typeface="等线"/>
                <a:ea typeface="等线"/>
              </a:rPr>
              <a:t>18</a:t>
            </a:r>
            <a:r>
              <a:rPr lang="zh-CN" altLang="en-US" sz="2000" dirty="0">
                <a:solidFill>
                  <a:srgbClr val="000000"/>
                </a:solidFill>
                <a:latin typeface="等线"/>
                <a:ea typeface="等线"/>
              </a:rPr>
              <a:t>层和</a:t>
            </a:r>
            <a:r>
              <a:rPr lang="en-US" altLang="zh-CN" sz="2000" dirty="0">
                <a:solidFill>
                  <a:srgbClr val="000000"/>
                </a:solidFill>
                <a:latin typeface="等线"/>
                <a:ea typeface="等线"/>
              </a:rPr>
              <a:t>34</a:t>
            </a:r>
            <a:r>
              <a:rPr lang="zh-CN" altLang="en-US" sz="2000" dirty="0">
                <a:solidFill>
                  <a:srgbClr val="000000"/>
                </a:solidFill>
                <a:latin typeface="等线"/>
                <a:ea typeface="等线"/>
              </a:rPr>
              <a:t>层的普通网络</a:t>
            </a:r>
            <a:r>
              <a:rPr lang="en-US" altLang="zh-CN" sz="2000" dirty="0">
                <a:solidFill>
                  <a:srgbClr val="000000"/>
                </a:solidFill>
                <a:latin typeface="等线"/>
                <a:ea typeface="等线"/>
              </a:rPr>
              <a:t>(plain)</a:t>
            </a:r>
            <a:r>
              <a:rPr lang="zh-CN" altLang="en-US" sz="2000" dirty="0">
                <a:solidFill>
                  <a:srgbClr val="000000"/>
                </a:solidFill>
                <a:latin typeface="等线"/>
                <a:ea typeface="等线"/>
              </a:rPr>
              <a:t>。右：</a:t>
            </a:r>
            <a:r>
              <a:rPr lang="en-US" altLang="zh-CN" sz="2000" dirty="0">
                <a:solidFill>
                  <a:srgbClr val="000000"/>
                </a:solidFill>
                <a:latin typeface="等线"/>
                <a:ea typeface="等线"/>
              </a:rPr>
              <a:t>18</a:t>
            </a:r>
            <a:r>
              <a:rPr lang="zh-CN" altLang="en-US" sz="2000" dirty="0">
                <a:solidFill>
                  <a:srgbClr val="000000"/>
                </a:solidFill>
                <a:latin typeface="等线"/>
                <a:ea typeface="等线"/>
              </a:rPr>
              <a:t>层和</a:t>
            </a:r>
            <a:r>
              <a:rPr lang="en-US" altLang="zh-CN" sz="2000" dirty="0">
                <a:solidFill>
                  <a:srgbClr val="000000"/>
                </a:solidFill>
                <a:latin typeface="等线"/>
                <a:ea typeface="等线"/>
              </a:rPr>
              <a:t>34</a:t>
            </a:r>
            <a:r>
              <a:rPr lang="zh-CN" altLang="en-US" sz="2000" dirty="0">
                <a:solidFill>
                  <a:srgbClr val="000000"/>
                </a:solidFill>
                <a:latin typeface="等线"/>
                <a:ea typeface="等线"/>
              </a:rPr>
              <a:t>层残差网络</a:t>
            </a:r>
            <a:r>
              <a:rPr lang="en-US" altLang="zh-CN" sz="2000" dirty="0">
                <a:solidFill>
                  <a:srgbClr val="000000"/>
                </a:solidFill>
                <a:latin typeface="等线"/>
                <a:ea typeface="等线"/>
              </a:rPr>
              <a:t>(</a:t>
            </a:r>
            <a:r>
              <a:rPr lang="en-US" altLang="zh-CN" sz="2000" dirty="0" err="1">
                <a:solidFill>
                  <a:srgbClr val="000000"/>
                </a:solidFill>
                <a:latin typeface="等线"/>
                <a:ea typeface="等线"/>
              </a:rPr>
              <a:t>ResNet</a:t>
            </a:r>
            <a:r>
              <a:rPr lang="en-US" altLang="zh-CN" sz="2000" dirty="0">
                <a:solidFill>
                  <a:srgbClr val="000000"/>
                </a:solidFill>
                <a:latin typeface="等线"/>
                <a:ea typeface="等线"/>
              </a:rPr>
              <a:t>)</a:t>
            </a:r>
            <a:r>
              <a:rPr lang="zh-CN" altLang="en-US" sz="2000" dirty="0">
                <a:solidFill>
                  <a:srgbClr val="000000"/>
                </a:solidFill>
                <a:latin typeface="等线"/>
                <a:ea typeface="等线"/>
              </a:rPr>
              <a:t>。</a:t>
            </a:r>
            <a:endParaRPr lang="en-US" altLang="zh-CN" sz="2000" dirty="0">
              <a:solidFill>
                <a:srgbClr val="000000"/>
              </a:solidFill>
              <a:latin typeface="等线"/>
              <a:ea typeface="等线"/>
            </a:endParaRPr>
          </a:p>
          <a:p>
            <a:pPr algn="ctr"/>
            <a:r>
              <a:rPr lang="zh-CN" altLang="en-US" sz="2000" dirty="0">
                <a:solidFill>
                  <a:srgbClr val="000000"/>
                </a:solidFill>
                <a:latin typeface="等线"/>
                <a:ea typeface="等线"/>
              </a:rPr>
              <a:t>上面两张图中与普通网络相比，残差网络没有增加额外的参数。</a:t>
            </a:r>
          </a:p>
        </p:txBody>
      </p:sp>
      <p:pic>
        <p:nvPicPr>
          <p:cNvPr id="13" name="图片 12">
            <a:extLst>
              <a:ext uri="{FF2B5EF4-FFF2-40B4-BE49-F238E27FC236}">
                <a16:creationId xmlns:a16="http://schemas.microsoft.com/office/drawing/2014/main" id="{1795EF5D-CCF4-5160-B622-45A8AFC88B68}"/>
              </a:ext>
            </a:extLst>
          </p:cNvPr>
          <p:cNvPicPr>
            <a:picLocks noChangeAspect="1"/>
          </p:cNvPicPr>
          <p:nvPr/>
        </p:nvPicPr>
        <p:blipFill rotWithShape="1">
          <a:blip r:embed="rId3">
            <a:extLst>
              <a:ext uri="{28A0092B-C50C-407E-A947-70E740481C1C}">
                <a14:useLocalDpi xmlns:a14="http://schemas.microsoft.com/office/drawing/2010/main" val="0"/>
              </a:ext>
            </a:extLst>
          </a:blip>
          <a:srcRect l="17501" t="7178" r="19398" b="45495"/>
          <a:stretch/>
        </p:blipFill>
        <p:spPr>
          <a:xfrm>
            <a:off x="3664766" y="1256604"/>
            <a:ext cx="3396344" cy="1018903"/>
          </a:xfrm>
          <a:prstGeom prst="rect">
            <a:avLst/>
          </a:prstGeom>
        </p:spPr>
      </p:pic>
      <p:sp>
        <p:nvSpPr>
          <p:cNvPr id="14" name="文本框 13">
            <a:extLst>
              <a:ext uri="{FF2B5EF4-FFF2-40B4-BE49-F238E27FC236}">
                <a16:creationId xmlns:a16="http://schemas.microsoft.com/office/drawing/2014/main" id="{BBB4DC52-555C-0892-462E-F489D0450B98}"/>
              </a:ext>
            </a:extLst>
          </p:cNvPr>
          <p:cNvSpPr txBox="1"/>
          <p:nvPr/>
        </p:nvSpPr>
        <p:spPr>
          <a:xfrm>
            <a:off x="4733107" y="990678"/>
            <a:ext cx="1585690" cy="369332"/>
          </a:xfrm>
          <a:prstGeom prst="rect">
            <a:avLst/>
          </a:prstGeom>
          <a:noFill/>
        </p:spPr>
        <p:txBody>
          <a:bodyPr wrap="none" rtlCol="0">
            <a:spAutoFit/>
          </a:bodyPr>
          <a:lstStyle/>
          <a:p>
            <a:r>
              <a:rPr lang="zh-CN" altLang="en-US" dirty="0">
                <a:solidFill>
                  <a:srgbClr val="000000"/>
                </a:solidFill>
                <a:latin typeface="等线 Light"/>
                <a:ea typeface="等线"/>
              </a:rPr>
              <a:t>测试集误差</a:t>
            </a:r>
            <a:r>
              <a:rPr lang="en-US" altLang="zh-CN" dirty="0">
                <a:solidFill>
                  <a:srgbClr val="000000"/>
                </a:solidFill>
                <a:latin typeface="等线 Light"/>
                <a:ea typeface="等线"/>
              </a:rPr>
              <a:t>(%)</a:t>
            </a:r>
            <a:endParaRPr lang="zh-CN" altLang="en-US" dirty="0">
              <a:solidFill>
                <a:srgbClr val="000000"/>
              </a:solidFill>
              <a:latin typeface="等线 Light"/>
              <a:ea typeface="等线"/>
            </a:endParaRPr>
          </a:p>
        </p:txBody>
      </p:sp>
    </p:spTree>
    <p:extLst>
      <p:ext uri="{BB962C8B-B14F-4D97-AF65-F5344CB8AC3E}">
        <p14:creationId xmlns:p14="http://schemas.microsoft.com/office/powerpoint/2010/main" val="315107744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图片 11"/>
          <p:cNvPicPr>
            <a:picLocks noChangeAspect="1"/>
          </p:cNvPicPr>
          <p:nvPr/>
        </p:nvPicPr>
        <p:blipFill>
          <a:blip r:embed="rId2"/>
          <a:stretch>
            <a:fillRect/>
          </a:stretch>
        </p:blipFill>
        <p:spPr>
          <a:xfrm>
            <a:off x="3130827" y="5550774"/>
            <a:ext cx="5930343" cy="763985"/>
          </a:xfrm>
          <a:prstGeom prst="rect">
            <a:avLst/>
          </a:prstGeom>
        </p:spPr>
      </p:pic>
      <p:sp>
        <p:nvSpPr>
          <p:cNvPr id="3" name="标题 2"/>
          <p:cNvSpPr>
            <a:spLocks noGrp="1"/>
          </p:cNvSpPr>
          <p:nvPr>
            <p:ph type="title"/>
          </p:nvPr>
        </p:nvSpPr>
        <p:spPr/>
        <p:txBody>
          <a:bodyPr/>
          <a:lstStyle/>
          <a:p>
            <a:r>
              <a:rPr lang="zh-CN" altLang="en-US" dirty="0"/>
              <a:t>复习：损失函数</a:t>
            </a:r>
          </a:p>
        </p:txBody>
      </p:sp>
      <mc:AlternateContent xmlns:mc="http://schemas.openxmlformats.org/markup-compatibility/2006" xmlns:a14="http://schemas.microsoft.com/office/drawing/2010/main">
        <mc:Choice Requires="a14">
          <p:sp>
            <p:nvSpPr>
              <p:cNvPr id="10" name="文本框 9"/>
              <p:cNvSpPr txBox="1"/>
              <p:nvPr/>
            </p:nvSpPr>
            <p:spPr>
              <a:xfrm>
                <a:off x="677770" y="892773"/>
                <a:ext cx="11132988" cy="4720523"/>
              </a:xfrm>
              <a:prstGeom prst="rect">
                <a:avLst/>
              </a:prstGeom>
              <a:noFill/>
            </p:spPr>
            <p:txBody>
              <a:bodyPr wrap="square" rtlCol="0">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zh-CN" altLang="en-US"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rPr>
                  <a:t>我们希望从这个函数空间中找到一个最佳函数来逼近这组数据背后的目标函数。为了实现这一点，我们通常会定义一个</a:t>
                </a:r>
                <a:r>
                  <a:rPr kumimoji="0" lang="zh-CN" altLang="en-US" sz="2000" b="1"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rPr>
                  <a:t>损失函数</a:t>
                </a:r>
                <a14:m>
                  <m:oMath xmlns:m="http://schemas.openxmlformats.org/officeDocument/2006/math">
                    <m:r>
                      <m:rPr>
                        <m:sty m:val="p"/>
                      </m:rPr>
                      <a:rPr kumimoji="0" lang="en-US" altLang="zh-CN" sz="2000" b="1" i="1" u="none" strike="noStrike" kern="1200" cap="none" spc="0" normalizeH="0" baseline="0" noProof="0">
                        <a:ln>
                          <a:noFill/>
                        </a:ln>
                        <a:solidFill>
                          <a:srgbClr val="070707"/>
                        </a:solidFill>
                        <a:effectLst/>
                        <a:uLnTx/>
                        <a:uFillTx/>
                        <a:latin typeface="Cambria Math" panose="02040503050406030204" pitchFamily="18" charset="0"/>
                        <a:ea typeface="微软雅黑" panose="020B0503020204020204" pitchFamily="34" charset="-122"/>
                        <a:cs typeface="+mn-cs"/>
                      </a:rPr>
                      <m:t>R</m:t>
                    </m:r>
                    <m:d>
                      <m:dPr>
                        <m:ctrlPr>
                          <a:rPr kumimoji="0" lang="en-US" altLang="zh-CN" sz="2000" b="1"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ctrlPr>
                      </m:dPr>
                      <m:e>
                        <m:r>
                          <a:rPr kumimoji="0" lang="en-US" altLang="zh-CN" sz="2000" b="1"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t>𝜽</m:t>
                        </m:r>
                      </m:e>
                    </m:d>
                    <m:r>
                      <a:rPr kumimoji="0" lang="en-US" altLang="zh-CN" sz="2000" b="1"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t>=</m:t>
                    </m:r>
                    <m:r>
                      <a:rPr kumimoji="0" lang="en-US" altLang="zh-CN" sz="2000" b="0"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t>𝑙</m:t>
                    </m:r>
                    <m:r>
                      <a:rPr kumimoji="0" lang="en-US" altLang="zh-CN" sz="2000" b="0"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t>(</m:t>
                    </m:r>
                    <m:sSub>
                      <m:sSubPr>
                        <m:ctrlPr>
                          <a:rPr kumimoji="0" lang="en-US" altLang="zh-CN" sz="2000" b="0"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ctrlPr>
                      </m:sSubPr>
                      <m:e>
                        <m:r>
                          <a:rPr kumimoji="0" lang="en-US" altLang="zh-CN" sz="2000" b="0"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t>𝑓</m:t>
                        </m:r>
                      </m:e>
                      <m:sub>
                        <m:r>
                          <a:rPr kumimoji="0" lang="en-US" altLang="zh-CN" sz="2000" b="1"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t>𝜽</m:t>
                        </m:r>
                      </m:sub>
                    </m:sSub>
                    <m:r>
                      <a:rPr kumimoji="0" lang="en-US" altLang="zh-CN" sz="2000" b="0"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t>,</m:t>
                    </m:r>
                    <m:sSup>
                      <m:sSupPr>
                        <m:ctrlPr>
                          <a:rPr kumimoji="0" lang="en-US" altLang="zh-CN" sz="2000" b="0"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ctrlPr>
                      </m:sSupPr>
                      <m:e>
                        <m:r>
                          <a:rPr kumimoji="0" lang="en-US" altLang="zh-CN" sz="2000" b="0"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t>𝑓</m:t>
                        </m:r>
                      </m:e>
                      <m:sup>
                        <m:r>
                          <a:rPr kumimoji="0" lang="en-US" altLang="zh-CN" sz="2000" b="0"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t>∗</m:t>
                        </m:r>
                      </m:sup>
                    </m:sSup>
                    <m:r>
                      <a:rPr kumimoji="0" lang="en-US" altLang="zh-CN" sz="2000" b="0"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t>)</m:t>
                    </m:r>
                  </m:oMath>
                </a14:m>
                <a:r>
                  <a:rPr kumimoji="0" lang="zh-CN" altLang="en-US"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rPr>
                  <a:t>来衡量模型</a:t>
                </a:r>
                <a14:m>
                  <m:oMath xmlns:m="http://schemas.openxmlformats.org/officeDocument/2006/math">
                    <m:sSub>
                      <m:sSubPr>
                        <m:ctrlPr>
                          <a:rPr kumimoji="0" lang="en-US" altLang="zh-CN" sz="2000" b="0" i="1" u="none" strike="noStrike" kern="1200" cap="none" spc="0" normalizeH="0" baseline="0" noProof="0">
                            <a:ln>
                              <a:noFill/>
                            </a:ln>
                            <a:solidFill>
                              <a:srgbClr val="070707"/>
                            </a:solidFill>
                            <a:effectLst/>
                            <a:uLnTx/>
                            <a:uFillTx/>
                            <a:latin typeface="Cambria Math" panose="02040503050406030204" pitchFamily="18" charset="0"/>
                            <a:ea typeface="微软雅黑" panose="020B0503020204020204" pitchFamily="34" charset="-122"/>
                            <a:cs typeface="+mn-cs"/>
                          </a:rPr>
                        </m:ctrlPr>
                      </m:sSubPr>
                      <m:e>
                        <m:r>
                          <a:rPr kumimoji="0" lang="en-US" altLang="zh-CN" sz="2000" b="0" i="1" u="none" strike="noStrike" kern="1200" cap="none" spc="0" normalizeH="0" baseline="0" noProof="0">
                            <a:ln>
                              <a:noFill/>
                            </a:ln>
                            <a:solidFill>
                              <a:srgbClr val="070707"/>
                            </a:solidFill>
                            <a:effectLst/>
                            <a:uLnTx/>
                            <a:uFillTx/>
                            <a:latin typeface="Cambria Math" panose="02040503050406030204" pitchFamily="18" charset="0"/>
                            <a:ea typeface="微软雅黑" panose="020B0503020204020204" pitchFamily="34" charset="-122"/>
                            <a:cs typeface="+mn-cs"/>
                          </a:rPr>
                          <m:t>𝑓</m:t>
                        </m:r>
                      </m:e>
                      <m:sub>
                        <m:r>
                          <a:rPr kumimoji="0" lang="en-US" altLang="zh-CN" sz="2000" b="0" i="1" u="none" strike="noStrike" kern="1200" cap="none" spc="0" normalizeH="0" baseline="0" noProof="0">
                            <a:ln>
                              <a:noFill/>
                            </a:ln>
                            <a:solidFill>
                              <a:srgbClr val="070707"/>
                            </a:solidFill>
                            <a:effectLst/>
                            <a:uLnTx/>
                            <a:uFillTx/>
                            <a:latin typeface="Cambria Math" panose="02040503050406030204" pitchFamily="18" charset="0"/>
                            <a:ea typeface="微软雅黑" panose="020B0503020204020204" pitchFamily="34" charset="-122"/>
                            <a:cs typeface="+mn-cs"/>
                          </a:rPr>
                          <m:t>𝜃</m:t>
                        </m:r>
                      </m:sub>
                    </m:sSub>
                  </m:oMath>
                </a14:m>
                <a:r>
                  <a:rPr kumimoji="0" lang="zh-CN" altLang="en-US"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rPr>
                  <a:t>与目标函数</a:t>
                </a:r>
                <a14:m>
                  <m:oMath xmlns:m="http://schemas.openxmlformats.org/officeDocument/2006/math">
                    <m:sSup>
                      <m:sSupPr>
                        <m:ctrlPr>
                          <a:rPr kumimoji="0" lang="en-US" altLang="zh-CN" sz="2000" b="0" i="1" u="none" strike="noStrike" kern="1200" cap="none" spc="0" normalizeH="0" baseline="0" noProof="0">
                            <a:ln>
                              <a:noFill/>
                            </a:ln>
                            <a:solidFill>
                              <a:srgbClr val="070707"/>
                            </a:solidFill>
                            <a:effectLst/>
                            <a:uLnTx/>
                            <a:uFillTx/>
                            <a:latin typeface="Cambria Math" panose="02040503050406030204" pitchFamily="18" charset="0"/>
                            <a:ea typeface="微软雅黑" panose="020B0503020204020204" pitchFamily="34" charset="-122"/>
                            <a:cs typeface="+mn-cs"/>
                          </a:rPr>
                        </m:ctrlPr>
                      </m:sSupPr>
                      <m:e>
                        <m:r>
                          <a:rPr kumimoji="0" lang="en-US" altLang="zh-CN" sz="2000" b="0" i="1" u="none" strike="noStrike" kern="1200" cap="none" spc="0" normalizeH="0" baseline="0" noProof="0">
                            <a:ln>
                              <a:noFill/>
                            </a:ln>
                            <a:solidFill>
                              <a:srgbClr val="070707"/>
                            </a:solidFill>
                            <a:effectLst/>
                            <a:uLnTx/>
                            <a:uFillTx/>
                            <a:latin typeface="Cambria Math" panose="02040503050406030204" pitchFamily="18" charset="0"/>
                            <a:ea typeface="微软雅黑" panose="020B0503020204020204" pitchFamily="34" charset="-122"/>
                            <a:cs typeface="+mn-cs"/>
                          </a:rPr>
                          <m:t>𝑓</m:t>
                        </m:r>
                      </m:e>
                      <m:sup>
                        <m:r>
                          <a:rPr kumimoji="0" lang="en-US" altLang="zh-CN" sz="2000" b="0" i="1" u="none" strike="noStrike" kern="1200" cap="none" spc="0" normalizeH="0" baseline="0" noProof="0">
                            <a:ln>
                              <a:noFill/>
                            </a:ln>
                            <a:solidFill>
                              <a:srgbClr val="070707"/>
                            </a:solidFill>
                            <a:effectLst/>
                            <a:uLnTx/>
                            <a:uFillTx/>
                            <a:latin typeface="Cambria Math" panose="02040503050406030204" pitchFamily="18" charset="0"/>
                            <a:ea typeface="微软雅黑" panose="020B0503020204020204" pitchFamily="34" charset="-122"/>
                            <a:cs typeface="+mn-cs"/>
                          </a:rPr>
                          <m:t>∗</m:t>
                        </m:r>
                      </m:sup>
                    </m:sSup>
                  </m:oMath>
                </a14:m>
                <a:r>
                  <a:rPr kumimoji="0" lang="zh-CN" altLang="en-US"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rPr>
                  <a:t>之间的差距。</a:t>
                </a:r>
                <a:endParaRPr kumimoji="0" lang="en-US" altLang="zh-CN"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lang="zh-CN" altLang="en-US" sz="2000" dirty="0">
                    <a:solidFill>
                      <a:srgbClr val="070707"/>
                    </a:solidFill>
                    <a:ea typeface="微软雅黑" panose="020B0503020204020204" pitchFamily="34" charset="-122"/>
                  </a:rPr>
                  <a:t>在数据集</a:t>
                </a:r>
                <a14:m>
                  <m:oMath xmlns:m="http://schemas.openxmlformats.org/officeDocument/2006/math">
                    <m:sSubSup>
                      <m:sSubSupPr>
                        <m:ctrlPr>
                          <a:rPr kumimoji="0" lang="en-US" altLang="zh-CN" sz="2000" b="0"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ctrlPr>
                      </m:sSubSupPr>
                      <m:e>
                        <m:d>
                          <m:dPr>
                            <m:begChr m:val="{"/>
                            <m:endChr m:val="}"/>
                            <m:ctrlPr>
                              <a:rPr kumimoji="0" lang="en-US" altLang="zh-CN" sz="2000" b="0"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ctrlPr>
                          </m:dPr>
                          <m:e>
                            <m:d>
                              <m:dPr>
                                <m:ctrlPr>
                                  <a:rPr kumimoji="0" lang="en-US" altLang="zh-CN" sz="2000" b="0"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ctrlPr>
                              </m:dPr>
                              <m:e>
                                <m:sSub>
                                  <m:sSubPr>
                                    <m:ctrlPr>
                                      <a:rPr kumimoji="0" lang="en-US" altLang="zh-CN" sz="2000" b="0"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ctrlPr>
                                  </m:sSubPr>
                                  <m:e>
                                    <m:r>
                                      <a:rPr kumimoji="0" lang="en-US" altLang="zh-CN" sz="2000" b="0"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t>𝑥</m:t>
                                    </m:r>
                                  </m:e>
                                  <m:sub>
                                    <m:r>
                                      <a:rPr kumimoji="0" lang="en-US" altLang="zh-CN" sz="2000" b="0"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t>𝑖</m:t>
                                    </m:r>
                                  </m:sub>
                                </m:sSub>
                                <m:r>
                                  <a:rPr kumimoji="0" lang="en-US" altLang="zh-CN" sz="2000" b="0"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t>,</m:t>
                                </m:r>
                                <m:sSub>
                                  <m:sSubPr>
                                    <m:ctrlPr>
                                      <a:rPr kumimoji="0" lang="en-US" altLang="zh-CN" sz="2000" b="0"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ctrlPr>
                                  </m:sSubPr>
                                  <m:e>
                                    <m:r>
                                      <a:rPr kumimoji="0" lang="en-US" altLang="zh-CN" sz="2000" b="0"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t>𝑦</m:t>
                                    </m:r>
                                  </m:e>
                                  <m:sub>
                                    <m:r>
                                      <a:rPr kumimoji="0" lang="en-US" altLang="zh-CN" sz="2000" b="0"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t>𝑖</m:t>
                                    </m:r>
                                  </m:sub>
                                </m:sSub>
                              </m:e>
                            </m:d>
                          </m:e>
                        </m:d>
                      </m:e>
                      <m:sub>
                        <m:r>
                          <a:rPr kumimoji="0" lang="en-US" altLang="zh-CN" sz="2000" b="0"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t>𝑖</m:t>
                        </m:r>
                        <m:r>
                          <a:rPr kumimoji="0" lang="en-US" altLang="zh-CN" sz="2000" b="0"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t>=1</m:t>
                        </m:r>
                      </m:sub>
                      <m:sup>
                        <m:r>
                          <a:rPr kumimoji="0" lang="en-US" altLang="zh-CN" sz="2000" b="0"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t>𝑛</m:t>
                        </m:r>
                      </m:sup>
                    </m:sSubSup>
                  </m:oMath>
                </a14:m>
                <a:r>
                  <a:rPr kumimoji="0" lang="zh-CN" altLang="en-US"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rPr>
                  <a:t>上定义常见的损失函数：</a:t>
                </a:r>
                <a:endParaRPr kumimoji="0" lang="en-US" altLang="zh-CN"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zh-CN" altLang="en-US" sz="2000" b="1" i="0" u="none" strike="noStrike" kern="1200" cap="none" spc="0" normalizeH="0" baseline="0" noProof="0" dirty="0">
                    <a:ln>
                      <a:noFill/>
                    </a:ln>
                    <a:solidFill>
                      <a:srgbClr val="002B7F"/>
                    </a:solidFill>
                    <a:effectLst/>
                    <a:uLnTx/>
                    <a:uFillTx/>
                    <a:latin typeface="微软雅黑" panose="020B0503020204020204" pitchFamily="34" charset="-122"/>
                    <a:ea typeface="微软雅黑" panose="020B0503020204020204" pitchFamily="34" charset="-122"/>
                    <a:cs typeface="+mn-cs"/>
                  </a:rPr>
                  <a:t>均方误差</a:t>
                </a:r>
                <a:r>
                  <a:rPr kumimoji="0" lang="zh-CN" altLang="en-US"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rPr>
                  <a:t>（</a:t>
                </a:r>
                <a:r>
                  <a:rPr kumimoji="0" lang="en-US" altLang="zh-CN"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rPr>
                  <a:t> Mean Squared Error, MSE </a:t>
                </a:r>
                <a:r>
                  <a:rPr kumimoji="0" lang="zh-CN" altLang="en-US"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rPr>
                  <a:t>）：</a:t>
                </a:r>
                <a:endParaRPr kumimoji="0" lang="en-US" altLang="zh-CN"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endParaRPr kumimoji="0" lang="en-US" altLang="zh-CN" sz="2000" b="0" i="0" u="none" strike="noStrike" kern="1200" cap="none" spc="0" normalizeH="0" baseline="0" noProof="0" dirty="0">
                  <a:ln>
                    <a:noFill/>
                  </a:ln>
                  <a:solidFill>
                    <a:srgbClr val="133984"/>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endParaRPr kumimoji="0" lang="en-US" altLang="zh-CN" sz="2000" b="0" i="0" u="none" strike="noStrike" kern="1200" cap="none" spc="0" normalizeH="0" baseline="0" noProof="0" dirty="0">
                  <a:ln>
                    <a:noFill/>
                  </a:ln>
                  <a:solidFill>
                    <a:srgbClr val="133984"/>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zh-CN" altLang="en-US" sz="2000" b="1" i="0" u="none" strike="noStrike" kern="1200" cap="none" spc="0" normalizeH="0" baseline="0" noProof="0" dirty="0">
                    <a:ln>
                      <a:noFill/>
                    </a:ln>
                    <a:solidFill>
                      <a:srgbClr val="002B7F"/>
                    </a:solidFill>
                    <a:effectLst/>
                    <a:uLnTx/>
                    <a:uFillTx/>
                    <a:latin typeface="微软雅黑" panose="020B0503020204020204" pitchFamily="34" charset="-122"/>
                    <a:ea typeface="微软雅黑" panose="020B0503020204020204" pitchFamily="34" charset="-122"/>
                    <a:cs typeface="+mn-cs"/>
                  </a:rPr>
                  <a:t>绝对误差</a:t>
                </a:r>
                <a:r>
                  <a:rPr kumimoji="0" lang="zh-CN" altLang="en-US"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rPr>
                  <a:t>（</a:t>
                </a:r>
                <a:r>
                  <a:rPr kumimoji="0" lang="en-US" altLang="zh-CN"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rPr>
                  <a:t>Mean Absolute Error</a:t>
                </a:r>
                <a:r>
                  <a:rPr kumimoji="0" lang="zh-CN" altLang="en-US"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rPr>
                  <a:t>，</a:t>
                </a:r>
                <a:r>
                  <a:rPr kumimoji="0" lang="en-US" altLang="zh-CN"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rPr>
                  <a:t>MAE</a:t>
                </a:r>
                <a:r>
                  <a:rPr kumimoji="0" lang="zh-CN" altLang="en-US"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rPr>
                  <a:t>）：</a:t>
                </a:r>
                <a:endParaRPr kumimoji="0" lang="en-US" altLang="zh-CN"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endParaRPr kumimoji="0" lang="en-US" altLang="zh-CN"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endParaRPr kumimoji="0" lang="en-US" altLang="zh-CN"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zh-CN" altLang="en-US" sz="2000" b="1" i="0" u="none" strike="noStrike" kern="1200" cap="none" spc="0" normalizeH="0" baseline="0" noProof="0" dirty="0">
                    <a:ln>
                      <a:noFill/>
                    </a:ln>
                    <a:solidFill>
                      <a:srgbClr val="002B7F"/>
                    </a:solidFill>
                    <a:effectLst/>
                    <a:uLnTx/>
                    <a:uFillTx/>
                    <a:latin typeface="微软雅黑" panose="020B0503020204020204" pitchFamily="34" charset="-122"/>
                    <a:ea typeface="微软雅黑" panose="020B0503020204020204" pitchFamily="34" charset="-122"/>
                    <a:cs typeface="+mn-cs"/>
                  </a:rPr>
                  <a:t>交叉熵</a:t>
                </a:r>
                <a:r>
                  <a:rPr kumimoji="0" lang="zh-CN" altLang="en-US"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rPr>
                  <a:t>（</a:t>
                </a:r>
                <a:r>
                  <a:rPr kumimoji="0" lang="en-US" altLang="zh-CN"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rPr>
                  <a:t>cross-entropy</a:t>
                </a:r>
                <a:r>
                  <a:rPr kumimoji="0" lang="zh-CN" altLang="en-US"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rPr>
                  <a:t>），常用于分类任务：</a:t>
                </a:r>
                <a:endParaRPr kumimoji="0" lang="zh-CN" altLang="en-US" sz="24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endParaRPr>
              </a:p>
            </p:txBody>
          </p:sp>
        </mc:Choice>
        <mc:Fallback xmlns="">
          <p:sp>
            <p:nvSpPr>
              <p:cNvPr id="10" name="文本框 9"/>
              <p:cNvSpPr txBox="1">
                <a:spLocks noRot="1" noChangeAspect="1" noMove="1" noResize="1" noEditPoints="1" noAdjustHandles="1" noChangeArrowheads="1" noChangeShapeType="1" noTextEdit="1"/>
              </p:cNvSpPr>
              <p:nvPr/>
            </p:nvSpPr>
            <p:spPr>
              <a:xfrm>
                <a:off x="677770" y="892773"/>
                <a:ext cx="11132988" cy="4720523"/>
              </a:xfrm>
              <a:prstGeom prst="rect">
                <a:avLst/>
              </a:prstGeom>
              <a:blipFill>
                <a:blip r:embed="rId3"/>
                <a:stretch>
                  <a:fillRect l="-548" r="-548"/>
                </a:stretch>
              </a:blipFill>
            </p:spPr>
            <p:txBody>
              <a:bodyPr/>
              <a:lstStyle/>
              <a:p>
                <a:r>
                  <a:rPr lang="zh-CN" altLang="en-US">
                    <a:noFill/>
                  </a:rPr>
                  <a:t> </a:t>
                </a:r>
              </a:p>
            </p:txBody>
          </p:sp>
        </mc:Fallback>
      </mc:AlternateContent>
      <p:pic>
        <p:nvPicPr>
          <p:cNvPr id="7" name="图片 6"/>
          <p:cNvPicPr>
            <a:picLocks noChangeAspect="1"/>
          </p:cNvPicPr>
          <p:nvPr/>
        </p:nvPicPr>
        <p:blipFill>
          <a:blip r:embed="rId4"/>
          <a:stretch>
            <a:fillRect/>
          </a:stretch>
        </p:blipFill>
        <p:spPr>
          <a:xfrm>
            <a:off x="4304889" y="2808908"/>
            <a:ext cx="3582216" cy="812870"/>
          </a:xfrm>
          <a:prstGeom prst="rect">
            <a:avLst/>
          </a:prstGeom>
        </p:spPr>
      </p:pic>
      <p:pic>
        <p:nvPicPr>
          <p:cNvPr id="9" name="图片 8"/>
          <p:cNvPicPr>
            <a:picLocks noChangeAspect="1"/>
          </p:cNvPicPr>
          <p:nvPr/>
        </p:nvPicPr>
        <p:blipFill>
          <a:blip r:embed="rId5"/>
          <a:stretch>
            <a:fillRect/>
          </a:stretch>
        </p:blipFill>
        <p:spPr>
          <a:xfrm>
            <a:off x="4177314" y="4229030"/>
            <a:ext cx="3837367" cy="81287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82E3A-9C5E-D75B-4988-CA559429FB78}"/>
            </a:ext>
          </a:extLst>
        </p:cNvPr>
        <p:cNvGrpSpPr/>
        <p:nvPr/>
      </p:nvGrpSpPr>
      <p:grpSpPr>
        <a:xfrm>
          <a:off x="0" y="0"/>
          <a:ext cx="0" cy="0"/>
          <a:chOff x="0" y="0"/>
          <a:chExt cx="0" cy="0"/>
        </a:xfrm>
      </p:grpSpPr>
      <p:pic>
        <p:nvPicPr>
          <p:cNvPr id="12" name="图片 11">
            <a:extLst>
              <a:ext uri="{FF2B5EF4-FFF2-40B4-BE49-F238E27FC236}">
                <a16:creationId xmlns:a16="http://schemas.microsoft.com/office/drawing/2014/main" id="{3D9FA70C-27E8-C284-3356-E518B2EC2AB3}"/>
              </a:ext>
            </a:extLst>
          </p:cNvPr>
          <p:cNvPicPr>
            <a:picLocks noChangeAspect="1"/>
          </p:cNvPicPr>
          <p:nvPr/>
        </p:nvPicPr>
        <p:blipFill>
          <a:blip r:embed="rId2"/>
          <a:stretch>
            <a:fillRect/>
          </a:stretch>
        </p:blipFill>
        <p:spPr>
          <a:xfrm>
            <a:off x="3405993" y="1299263"/>
            <a:ext cx="5930343" cy="763985"/>
          </a:xfrm>
          <a:prstGeom prst="rect">
            <a:avLst/>
          </a:prstGeom>
        </p:spPr>
      </p:pic>
      <p:sp>
        <p:nvSpPr>
          <p:cNvPr id="3" name="标题 2">
            <a:extLst>
              <a:ext uri="{FF2B5EF4-FFF2-40B4-BE49-F238E27FC236}">
                <a16:creationId xmlns:a16="http://schemas.microsoft.com/office/drawing/2014/main" id="{927CA340-4F48-A90F-4E34-021BF11F05C7}"/>
              </a:ext>
            </a:extLst>
          </p:cNvPr>
          <p:cNvSpPr>
            <a:spLocks noGrp="1"/>
          </p:cNvSpPr>
          <p:nvPr>
            <p:ph type="title"/>
          </p:nvPr>
        </p:nvSpPr>
        <p:spPr/>
        <p:txBody>
          <a:bodyPr/>
          <a:lstStyle/>
          <a:p>
            <a:r>
              <a:rPr lang="zh-CN" altLang="en-US" dirty="0"/>
              <a:t>复习：损失函数</a:t>
            </a:r>
          </a:p>
        </p:txBody>
      </p:sp>
      <p:sp>
        <p:nvSpPr>
          <p:cNvPr id="10" name="文本框 9">
            <a:extLst>
              <a:ext uri="{FF2B5EF4-FFF2-40B4-BE49-F238E27FC236}">
                <a16:creationId xmlns:a16="http://schemas.microsoft.com/office/drawing/2014/main" id="{E8900FAA-D382-25C0-07F1-8BF851592F50}"/>
              </a:ext>
            </a:extLst>
          </p:cNvPr>
          <p:cNvSpPr txBox="1"/>
          <p:nvPr/>
        </p:nvSpPr>
        <p:spPr>
          <a:xfrm>
            <a:off x="677770" y="892773"/>
            <a:ext cx="11132988" cy="499624"/>
          </a:xfrm>
          <a:prstGeom prst="rect">
            <a:avLst/>
          </a:prstGeom>
          <a:noFill/>
        </p:spPr>
        <p:txBody>
          <a:bodyPr wrap="square" rtlCol="0">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zh-CN" altLang="en-US" sz="2000" b="1" i="0" u="none" strike="noStrike" kern="1200" cap="none" spc="0" normalizeH="0" baseline="0" noProof="0" dirty="0">
                <a:ln>
                  <a:noFill/>
                </a:ln>
                <a:solidFill>
                  <a:srgbClr val="002B7F"/>
                </a:solidFill>
                <a:effectLst/>
                <a:uLnTx/>
                <a:uFillTx/>
                <a:latin typeface="微软雅黑" panose="020B0503020204020204" pitchFamily="34" charset="-122"/>
                <a:ea typeface="微软雅黑" panose="020B0503020204020204" pitchFamily="34" charset="-122"/>
                <a:cs typeface="+mn-cs"/>
              </a:rPr>
              <a:t>交叉熵</a:t>
            </a:r>
            <a:r>
              <a:rPr kumimoji="0" lang="zh-CN" altLang="en-US"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rPr>
              <a:t>（</a:t>
            </a:r>
            <a:r>
              <a:rPr kumimoji="0" lang="en-US" altLang="zh-CN"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rPr>
              <a:t>cross-entropy</a:t>
            </a:r>
            <a:r>
              <a:rPr kumimoji="0" lang="zh-CN" altLang="en-US"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rPr>
              <a:t>），常用于分类任务：</a:t>
            </a:r>
            <a:endParaRPr kumimoji="0" lang="zh-CN" altLang="en-US" sz="24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endParaRPr>
          </a:p>
        </p:txBody>
      </p:sp>
      <p:pic>
        <p:nvPicPr>
          <p:cNvPr id="5" name="图片 4">
            <a:extLst>
              <a:ext uri="{FF2B5EF4-FFF2-40B4-BE49-F238E27FC236}">
                <a16:creationId xmlns:a16="http://schemas.microsoft.com/office/drawing/2014/main" id="{0537E56E-4172-8F68-7EE0-6CF290A54A4A}"/>
              </a:ext>
            </a:extLst>
          </p:cNvPr>
          <p:cNvPicPr>
            <a:picLocks noChangeAspect="1"/>
          </p:cNvPicPr>
          <p:nvPr/>
        </p:nvPicPr>
        <p:blipFill>
          <a:blip r:embed="rId3"/>
          <a:stretch>
            <a:fillRect/>
          </a:stretch>
        </p:blipFill>
        <p:spPr>
          <a:xfrm>
            <a:off x="2059513" y="2156382"/>
            <a:ext cx="8278287" cy="4139144"/>
          </a:xfrm>
          <a:prstGeom prst="rect">
            <a:avLst/>
          </a:prstGeom>
        </p:spPr>
      </p:pic>
    </p:spTree>
    <p:extLst>
      <p:ext uri="{BB962C8B-B14F-4D97-AF65-F5344CB8AC3E}">
        <p14:creationId xmlns:p14="http://schemas.microsoft.com/office/powerpoint/2010/main" val="77747470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F07119-BAAF-7B38-52C1-3BEEE45BD78C}"/>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ED606EFA-41DC-8057-BC81-65C72FF1EB6F}"/>
              </a:ext>
            </a:extLst>
          </p:cNvPr>
          <p:cNvSpPr>
            <a:spLocks noGrp="1"/>
          </p:cNvSpPr>
          <p:nvPr>
            <p:ph type="title"/>
          </p:nvPr>
        </p:nvSpPr>
        <p:spPr/>
        <p:txBody>
          <a:bodyPr/>
          <a:lstStyle/>
          <a:p>
            <a:r>
              <a:rPr lang="zh-CN" altLang="en-US" spc="60" dirty="0">
                <a:ln w="3175">
                  <a:noFill/>
                  <a:prstDash val="dash"/>
                </a:ln>
                <a:latin typeface="微软雅黑" panose="020B0503020204020204" charset="-122"/>
                <a:ea typeface="微软雅黑" panose="020B0503020204020204" charset="-122"/>
                <a:cs typeface="微软雅黑" panose="020B0503020204020204" charset="-122"/>
                <a:sym typeface="+mn-ea"/>
              </a:rPr>
              <a:t>参数的初始化</a:t>
            </a:r>
            <a:endParaRPr lang="zh-CN" altLang="en-US" dirty="0"/>
          </a:p>
        </p:txBody>
      </p:sp>
      <p:pic>
        <p:nvPicPr>
          <p:cNvPr id="2" name="图片 1">
            <a:extLst>
              <a:ext uri="{FF2B5EF4-FFF2-40B4-BE49-F238E27FC236}">
                <a16:creationId xmlns:a16="http://schemas.microsoft.com/office/drawing/2014/main" id="{515991EC-0F0D-89B6-769B-CD174BED47F6}"/>
              </a:ext>
            </a:extLst>
          </p:cNvPr>
          <p:cNvPicPr>
            <a:picLocks noChangeAspect="1"/>
          </p:cNvPicPr>
          <p:nvPr/>
        </p:nvPicPr>
        <p:blipFill>
          <a:blip r:embed="rId3"/>
          <a:srcRect t="50642" r="50950" b="6088"/>
          <a:stretch>
            <a:fillRect/>
          </a:stretch>
        </p:blipFill>
        <p:spPr>
          <a:xfrm>
            <a:off x="2824113" y="1428692"/>
            <a:ext cx="7037049" cy="3570875"/>
          </a:xfrm>
          <a:prstGeom prst="rect">
            <a:avLst/>
          </a:prstGeom>
        </p:spPr>
      </p:pic>
    </p:spTree>
    <p:custDataLst>
      <p:tags r:id="rId1"/>
    </p:custDataLst>
    <p:extLst>
      <p:ext uri="{BB962C8B-B14F-4D97-AF65-F5344CB8AC3E}">
        <p14:creationId xmlns:p14="http://schemas.microsoft.com/office/powerpoint/2010/main" val="308014320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p:cNvSpPr txBox="1"/>
          <p:nvPr/>
        </p:nvSpPr>
        <p:spPr>
          <a:xfrm>
            <a:off x="414020" y="880110"/>
            <a:ext cx="10202545" cy="583565"/>
          </a:xfrm>
          <a:prstGeom prst="rect">
            <a:avLst/>
          </a:prstGeom>
          <a:noFill/>
        </p:spPr>
        <p:txBody>
          <a:bodyPr wrap="square" rtlCol="0">
            <a:spAutoFit/>
          </a:bodyPr>
          <a:lstStyle/>
          <a:p>
            <a:r>
              <a:rPr lang="en-US" altLang="zh-CN" sz="3200"/>
              <a:t>Lecun Initializatioin</a:t>
            </a:r>
          </a:p>
        </p:txBody>
      </p:sp>
      <p:sp>
        <p:nvSpPr>
          <p:cNvPr id="7" name="文本框 6"/>
          <p:cNvSpPr txBox="1"/>
          <p:nvPr>
            <p:custDataLst>
              <p:tags r:id="rId2"/>
            </p:custDataLst>
          </p:nvPr>
        </p:nvSpPr>
        <p:spPr>
          <a:xfrm>
            <a:off x="465667" y="2392045"/>
            <a:ext cx="7187565" cy="583565"/>
          </a:xfrm>
          <a:prstGeom prst="rect">
            <a:avLst/>
          </a:prstGeom>
          <a:noFill/>
        </p:spPr>
        <p:txBody>
          <a:bodyPr wrap="square" rtlCol="0">
            <a:spAutoFit/>
          </a:bodyPr>
          <a:lstStyle/>
          <a:p>
            <a:r>
              <a:rPr lang="en-US" altLang="zh-CN" sz="3200"/>
              <a:t>Xavier Initialization</a:t>
            </a:r>
          </a:p>
        </p:txBody>
      </p:sp>
      <p:sp>
        <p:nvSpPr>
          <p:cNvPr id="14" name="文本框 13"/>
          <p:cNvSpPr txBox="1"/>
          <p:nvPr/>
        </p:nvSpPr>
        <p:spPr>
          <a:xfrm>
            <a:off x="465667" y="3931164"/>
            <a:ext cx="6096000" cy="583565"/>
          </a:xfrm>
          <a:prstGeom prst="rect">
            <a:avLst/>
          </a:prstGeom>
          <a:noFill/>
        </p:spPr>
        <p:txBody>
          <a:bodyPr wrap="square" rtlCol="0" anchor="t">
            <a:spAutoFit/>
          </a:bodyPr>
          <a:lstStyle/>
          <a:p>
            <a:r>
              <a:rPr lang="zh-CN" altLang="en-US" sz="3200" dirty="0"/>
              <a:t>Kaiming Initialization</a:t>
            </a:r>
          </a:p>
        </p:txBody>
      </p:sp>
      <p:sp>
        <p:nvSpPr>
          <p:cNvPr id="3" name="标题 2">
            <a:extLst>
              <a:ext uri="{FF2B5EF4-FFF2-40B4-BE49-F238E27FC236}">
                <a16:creationId xmlns:a16="http://schemas.microsoft.com/office/drawing/2014/main" id="{A29263F6-FAF4-5C6B-6749-D42F03B45D83}"/>
              </a:ext>
            </a:extLst>
          </p:cNvPr>
          <p:cNvSpPr>
            <a:spLocks noGrp="1"/>
          </p:cNvSpPr>
          <p:nvPr>
            <p:ph type="title"/>
          </p:nvPr>
        </p:nvSpPr>
        <p:spPr/>
        <p:txBody>
          <a:bodyPr/>
          <a:lstStyle/>
          <a:p>
            <a:r>
              <a:rPr lang="zh-CN" altLang="en-US" spc="60" dirty="0">
                <a:ln w="3175">
                  <a:noFill/>
                  <a:prstDash val="dash"/>
                </a:ln>
                <a:latin typeface="微软雅黑" panose="020B0503020204020204" charset="-122"/>
                <a:ea typeface="微软雅黑" panose="020B0503020204020204" charset="-122"/>
                <a:cs typeface="微软雅黑" panose="020B0503020204020204" charset="-122"/>
                <a:sym typeface="+mn-ea"/>
              </a:rPr>
              <a:t>参数的初始化</a:t>
            </a:r>
            <a:endParaRPr lang="zh-CN" altLang="en-US" dirty="0"/>
          </a:p>
        </p:txBody>
      </p:sp>
      <p:sp>
        <p:nvSpPr>
          <p:cNvPr id="9" name="文本框 8">
            <a:extLst>
              <a:ext uri="{FF2B5EF4-FFF2-40B4-BE49-F238E27FC236}">
                <a16:creationId xmlns:a16="http://schemas.microsoft.com/office/drawing/2014/main" id="{09CAF7DA-951A-9D7C-F755-DDD67FE3BB73}"/>
              </a:ext>
            </a:extLst>
          </p:cNvPr>
          <p:cNvSpPr txBox="1"/>
          <p:nvPr/>
        </p:nvSpPr>
        <p:spPr>
          <a:xfrm>
            <a:off x="381242" y="5169686"/>
            <a:ext cx="4908550" cy="1015663"/>
          </a:xfrm>
          <a:prstGeom prst="rect">
            <a:avLst/>
          </a:prstGeom>
          <a:noFill/>
        </p:spPr>
        <p:txBody>
          <a:bodyPr wrap="square" rtlCol="0">
            <a:spAutoFit/>
          </a:bodyPr>
          <a:lstStyle/>
          <a:p>
            <a:pPr marL="342900" indent="-342900" algn="l">
              <a:buFont typeface="Arial" panose="020B0604020202020204" pitchFamily="34" charset="0"/>
              <a:buChar char="•"/>
            </a:pPr>
            <a:r>
              <a:rPr lang="zh-CN" altLang="en-US" sz="2000" dirty="0">
                <a:solidFill>
                  <a:schemeClr val="tx2"/>
                </a:solidFill>
              </a:rPr>
              <a:t>模型越大，初始化越小</a:t>
            </a:r>
            <a:endParaRPr lang="en-US" altLang="zh-CN" sz="2000" dirty="0">
              <a:solidFill>
                <a:schemeClr val="tx2"/>
              </a:solidFill>
            </a:endParaRPr>
          </a:p>
          <a:p>
            <a:pPr marL="342900" indent="-342900" algn="l">
              <a:buFont typeface="Arial" panose="020B0604020202020204" pitchFamily="34" charset="0"/>
              <a:buChar char="•"/>
            </a:pPr>
            <a:r>
              <a:rPr lang="zh-CN" altLang="en-US" sz="2000" dirty="0">
                <a:solidFill>
                  <a:schemeClr val="tx2"/>
                </a:solidFill>
              </a:rPr>
              <a:t>初始化对结果影响很大</a:t>
            </a:r>
            <a:endParaRPr lang="en-US" altLang="zh-CN" sz="2000" dirty="0">
              <a:solidFill>
                <a:schemeClr val="tx2"/>
              </a:solidFill>
            </a:endParaRPr>
          </a:p>
          <a:p>
            <a:pPr marL="342900" indent="-342900" algn="l">
              <a:buFont typeface="Arial" panose="020B0604020202020204" pitchFamily="34" charset="0"/>
              <a:buChar char="•"/>
            </a:pPr>
            <a:r>
              <a:rPr lang="zh-CN" altLang="en-US" sz="2000" dirty="0">
                <a:solidFill>
                  <a:schemeClr val="tx2"/>
                </a:solidFill>
              </a:rPr>
              <a:t>大语言模型的训练一般不用这些初始化</a:t>
            </a:r>
          </a:p>
        </p:txBody>
      </p:sp>
      <p:pic>
        <p:nvPicPr>
          <p:cNvPr id="12" name="图片 11">
            <a:extLst>
              <a:ext uri="{FF2B5EF4-FFF2-40B4-BE49-F238E27FC236}">
                <a16:creationId xmlns:a16="http://schemas.microsoft.com/office/drawing/2014/main" id="{80151A20-35D0-2B12-7479-1152F4A6BD09}"/>
              </a:ext>
            </a:extLst>
          </p:cNvPr>
          <p:cNvPicPr>
            <a:picLocks noChangeAspect="1"/>
          </p:cNvPicPr>
          <p:nvPr/>
        </p:nvPicPr>
        <p:blipFill>
          <a:blip r:embed="rId4"/>
          <a:stretch>
            <a:fillRect/>
          </a:stretch>
        </p:blipFill>
        <p:spPr>
          <a:xfrm>
            <a:off x="3378200" y="1498845"/>
            <a:ext cx="5880100" cy="988767"/>
          </a:xfrm>
          <a:prstGeom prst="rect">
            <a:avLst/>
          </a:prstGeom>
        </p:spPr>
      </p:pic>
      <p:pic>
        <p:nvPicPr>
          <p:cNvPr id="15" name="图片 14">
            <a:extLst>
              <a:ext uri="{FF2B5EF4-FFF2-40B4-BE49-F238E27FC236}">
                <a16:creationId xmlns:a16="http://schemas.microsoft.com/office/drawing/2014/main" id="{DB5E08A5-D267-C0E1-2720-887D273189F2}"/>
              </a:ext>
            </a:extLst>
          </p:cNvPr>
          <p:cNvPicPr>
            <a:picLocks noChangeAspect="1"/>
          </p:cNvPicPr>
          <p:nvPr/>
        </p:nvPicPr>
        <p:blipFill>
          <a:blip r:embed="rId5"/>
          <a:stretch>
            <a:fillRect/>
          </a:stretch>
        </p:blipFill>
        <p:spPr>
          <a:xfrm>
            <a:off x="3357879" y="2956055"/>
            <a:ext cx="7269481" cy="1110740"/>
          </a:xfrm>
          <a:prstGeom prst="rect">
            <a:avLst/>
          </a:prstGeom>
        </p:spPr>
      </p:pic>
      <p:pic>
        <p:nvPicPr>
          <p:cNvPr id="17" name="图片 16">
            <a:extLst>
              <a:ext uri="{FF2B5EF4-FFF2-40B4-BE49-F238E27FC236}">
                <a16:creationId xmlns:a16="http://schemas.microsoft.com/office/drawing/2014/main" id="{88498088-2196-9F29-8737-FF239F9B6316}"/>
              </a:ext>
            </a:extLst>
          </p:cNvPr>
          <p:cNvPicPr>
            <a:picLocks noChangeAspect="1"/>
          </p:cNvPicPr>
          <p:nvPr/>
        </p:nvPicPr>
        <p:blipFill>
          <a:blip r:embed="rId6"/>
          <a:stretch>
            <a:fillRect/>
          </a:stretch>
        </p:blipFill>
        <p:spPr>
          <a:xfrm>
            <a:off x="3357879" y="4460203"/>
            <a:ext cx="6887633" cy="1196056"/>
          </a:xfrm>
          <a:prstGeom prst="rect">
            <a:avLst/>
          </a:prstGeom>
        </p:spPr>
      </p:pic>
      <mc:AlternateContent xmlns:mc="http://schemas.openxmlformats.org/markup-compatibility/2006" xmlns:a14="http://schemas.microsoft.com/office/drawing/2010/main">
        <mc:Choice Requires="a14">
          <p:sp>
            <p:nvSpPr>
              <p:cNvPr id="2" name="文本框 1">
                <a:extLst>
                  <a:ext uri="{FF2B5EF4-FFF2-40B4-BE49-F238E27FC236}">
                    <a16:creationId xmlns:a16="http://schemas.microsoft.com/office/drawing/2014/main" id="{9B11CF59-7821-C00F-C6D0-A23E05C343A9}"/>
                  </a:ext>
                </a:extLst>
              </p:cNvPr>
              <p:cNvSpPr txBox="1"/>
              <p:nvPr/>
            </p:nvSpPr>
            <p:spPr>
              <a:xfrm>
                <a:off x="4648200" y="962025"/>
                <a:ext cx="4772025" cy="400110"/>
              </a:xfrm>
              <a:prstGeom prst="rect">
                <a:avLst/>
              </a:prstGeom>
              <a:noFill/>
            </p:spPr>
            <p:txBody>
              <a:bodyPr wrap="square" rtlCol="0">
                <a:spAutoFit/>
              </a:bodyPr>
              <a:lstStyle/>
              <a:p>
                <a:pPr algn="l"/>
                <a14:m>
                  <m:oMath xmlns:m="http://schemas.openxmlformats.org/officeDocument/2006/math">
                    <m:sSub>
                      <m:sSubPr>
                        <m:ctrlPr>
                          <a:rPr kumimoji="1" lang="en-US" altLang="zh-CN" sz="2000" b="0" i="1" smtClean="0">
                            <a:latin typeface="Cambria Math" panose="02040503050406030204" pitchFamily="18" charset="0"/>
                          </a:rPr>
                        </m:ctrlPr>
                      </m:sSubPr>
                      <m:e>
                        <m:r>
                          <a:rPr kumimoji="1" lang="en-US" altLang="zh-CN" sz="2000" b="0" i="1" smtClean="0">
                            <a:latin typeface="Cambria Math" panose="02040503050406030204" pitchFamily="18" charset="0"/>
                          </a:rPr>
                          <m:t>𝑚</m:t>
                        </m:r>
                      </m:e>
                      <m:sub>
                        <m:r>
                          <a:rPr kumimoji="1" lang="en-US" altLang="zh-CN" sz="2000" b="0" i="1" smtClean="0">
                            <a:latin typeface="Cambria Math" panose="02040503050406030204" pitchFamily="18" charset="0"/>
                          </a:rPr>
                          <m:t>𝑖𝑛</m:t>
                        </m:r>
                      </m:sub>
                    </m:sSub>
                  </m:oMath>
                </a14:m>
                <a:r>
                  <a:rPr kumimoji="1" lang="en-US" altLang="zh-CN" sz="2000" dirty="0"/>
                  <a:t>:</a:t>
                </a:r>
                <a:r>
                  <a:rPr kumimoji="1" lang="zh-CN" altLang="en-US" sz="2000" dirty="0"/>
                  <a:t>输入层的宽度；</a:t>
                </a:r>
                <a14:m>
                  <m:oMath xmlns:m="http://schemas.openxmlformats.org/officeDocument/2006/math">
                    <m:sSub>
                      <m:sSubPr>
                        <m:ctrlPr>
                          <a:rPr kumimoji="1" lang="en-US" altLang="zh-CN" sz="2000" b="0" i="1" smtClean="0">
                            <a:latin typeface="Cambria Math" panose="02040503050406030204" pitchFamily="18" charset="0"/>
                          </a:rPr>
                        </m:ctrlPr>
                      </m:sSubPr>
                      <m:e>
                        <m:r>
                          <a:rPr kumimoji="1" lang="en-US" altLang="zh-CN" sz="2000" b="0" i="1" smtClean="0">
                            <a:latin typeface="Cambria Math" panose="02040503050406030204" pitchFamily="18" charset="0"/>
                          </a:rPr>
                          <m:t>𝑚</m:t>
                        </m:r>
                      </m:e>
                      <m:sub>
                        <m:r>
                          <a:rPr kumimoji="1" lang="en-US" altLang="zh-CN" sz="2000" b="0" i="1" smtClean="0">
                            <a:latin typeface="Cambria Math" panose="02040503050406030204" pitchFamily="18" charset="0"/>
                          </a:rPr>
                          <m:t>𝑜𝑢𝑡</m:t>
                        </m:r>
                      </m:sub>
                    </m:sSub>
                  </m:oMath>
                </a14:m>
                <a:r>
                  <a:rPr kumimoji="1" lang="en-US" altLang="zh-CN" sz="2000" dirty="0"/>
                  <a:t>:</a:t>
                </a:r>
                <a:r>
                  <a:rPr kumimoji="1" lang="zh-CN" altLang="en-US" sz="2000" dirty="0"/>
                  <a:t>输出层的宽度</a:t>
                </a:r>
              </a:p>
            </p:txBody>
          </p:sp>
        </mc:Choice>
        <mc:Fallback xmlns="">
          <p:sp>
            <p:nvSpPr>
              <p:cNvPr id="2" name="文本框 1">
                <a:extLst>
                  <a:ext uri="{FF2B5EF4-FFF2-40B4-BE49-F238E27FC236}">
                    <a16:creationId xmlns:a16="http://schemas.microsoft.com/office/drawing/2014/main" id="{9B11CF59-7821-C00F-C6D0-A23E05C343A9}"/>
                  </a:ext>
                </a:extLst>
              </p:cNvPr>
              <p:cNvSpPr txBox="1">
                <a:spLocks noRot="1" noChangeAspect="1" noMove="1" noResize="1" noEditPoints="1" noAdjustHandles="1" noChangeArrowheads="1" noChangeShapeType="1" noTextEdit="1"/>
              </p:cNvSpPr>
              <p:nvPr/>
            </p:nvSpPr>
            <p:spPr>
              <a:xfrm>
                <a:off x="4648200" y="962025"/>
                <a:ext cx="4772025" cy="400110"/>
              </a:xfrm>
              <a:prstGeom prst="rect">
                <a:avLst/>
              </a:prstGeom>
              <a:blipFill>
                <a:blip r:embed="rId7"/>
                <a:stretch>
                  <a:fillRect t="-12121" b="-24242"/>
                </a:stretch>
              </a:blipFill>
            </p:spPr>
            <p:txBody>
              <a:bodyPr/>
              <a:lstStyle/>
              <a:p>
                <a:r>
                  <a:rPr lang="zh-CN" altLang="en-US">
                    <a:noFill/>
                  </a:rPr>
                  <a:t> </a:t>
                </a:r>
              </a:p>
            </p:txBody>
          </p:sp>
        </mc:Fallback>
      </mc:AlternateContent>
    </p:spTree>
    <p:custDataLst>
      <p:tags r:id="rId1"/>
    </p:custData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3802B-2E03-40B7-B83B-7E0E5426062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00114A7-2D2D-D5DF-C672-145F28C09F83}"/>
              </a:ext>
            </a:extLst>
          </p:cNvPr>
          <p:cNvSpPr>
            <a:spLocks noGrp="1"/>
          </p:cNvSpPr>
          <p:nvPr>
            <p:ph type="title"/>
          </p:nvPr>
        </p:nvSpPr>
        <p:spPr>
          <a:xfrm>
            <a:off x="381242" y="2844289"/>
            <a:ext cx="11429516" cy="761979"/>
          </a:xfrm>
        </p:spPr>
        <p:txBody>
          <a:bodyPr/>
          <a:lstStyle/>
          <a:p>
            <a:pPr algn="ctr"/>
            <a:r>
              <a:rPr lang="zh-CN" altLang="en-US" dirty="0"/>
              <a:t>实验</a:t>
            </a:r>
          </a:p>
        </p:txBody>
      </p:sp>
      <p:sp>
        <p:nvSpPr>
          <p:cNvPr id="3" name="文本框 2">
            <a:extLst>
              <a:ext uri="{FF2B5EF4-FFF2-40B4-BE49-F238E27FC236}">
                <a16:creationId xmlns:a16="http://schemas.microsoft.com/office/drawing/2014/main" id="{540630CC-1A59-ABE4-36C5-5F58E7662A8E}"/>
              </a:ext>
            </a:extLst>
          </p:cNvPr>
          <p:cNvSpPr txBox="1"/>
          <p:nvPr/>
        </p:nvSpPr>
        <p:spPr>
          <a:xfrm>
            <a:off x="4139920" y="4371033"/>
            <a:ext cx="4160113" cy="400110"/>
          </a:xfrm>
          <a:prstGeom prst="rect">
            <a:avLst/>
          </a:prstGeom>
          <a:noFill/>
        </p:spPr>
        <p:txBody>
          <a:bodyPr wrap="none" rtlCol="0">
            <a:spAutoFit/>
          </a:bodyPr>
          <a:lstStyle/>
          <a:p>
            <a:pPr algn="l"/>
            <a:r>
              <a:rPr kumimoji="1" lang="en-US" altLang="zh-CN" sz="2000" dirty="0"/>
              <a:t>30</a:t>
            </a:r>
            <a:r>
              <a:rPr kumimoji="1" lang="zh-CN" altLang="en-US" sz="2000" dirty="0"/>
              <a:t>分钟，上机实验，提交最终分数</a:t>
            </a:r>
          </a:p>
        </p:txBody>
      </p:sp>
    </p:spTree>
    <p:extLst>
      <p:ext uri="{BB962C8B-B14F-4D97-AF65-F5344CB8AC3E}">
        <p14:creationId xmlns:p14="http://schemas.microsoft.com/office/powerpoint/2010/main" val="287232031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A6532-8CF8-7CC8-893D-9054884D2D4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00B6109-743A-33C4-A287-7A1E05E72C7C}"/>
              </a:ext>
            </a:extLst>
          </p:cNvPr>
          <p:cNvSpPr>
            <a:spLocks noGrp="1"/>
          </p:cNvSpPr>
          <p:nvPr>
            <p:ph type="title"/>
          </p:nvPr>
        </p:nvSpPr>
        <p:spPr/>
        <p:txBody>
          <a:bodyPr/>
          <a:lstStyle/>
          <a:p>
            <a:pPr>
              <a:spcBef>
                <a:spcPts val="0"/>
              </a:spcBef>
              <a:buSzPct val="100000"/>
            </a:pPr>
            <a:r>
              <a:rPr lang="en-US" altLang="zh-CN" spc="60" dirty="0">
                <a:ln w="3175">
                  <a:noFill/>
                  <a:prstDash val="dash"/>
                </a:ln>
                <a:latin typeface="微软雅黑" panose="020B0503020204020204" charset="-122"/>
                <a:ea typeface="微软雅黑" panose="020B0503020204020204" charset="-122"/>
                <a:cs typeface="微软雅黑" panose="020B0503020204020204" charset="-122"/>
                <a:sym typeface="+mn-ea"/>
              </a:rPr>
              <a:t>Kaggle</a:t>
            </a:r>
            <a:r>
              <a:rPr lang="zh-CN" altLang="en-US" spc="60" dirty="0">
                <a:ln w="3175">
                  <a:noFill/>
                  <a:prstDash val="dash"/>
                </a:ln>
                <a:latin typeface="微软雅黑" panose="020B0503020204020204" charset="-122"/>
                <a:ea typeface="微软雅黑" panose="020B0503020204020204" charset="-122"/>
                <a:cs typeface="微软雅黑" panose="020B0503020204020204" charset="-122"/>
                <a:sym typeface="+mn-ea"/>
              </a:rPr>
              <a:t>介绍</a:t>
            </a:r>
          </a:p>
        </p:txBody>
      </p:sp>
      <p:sp>
        <p:nvSpPr>
          <p:cNvPr id="2" name="文本框 1">
            <a:extLst>
              <a:ext uri="{FF2B5EF4-FFF2-40B4-BE49-F238E27FC236}">
                <a16:creationId xmlns:a16="http://schemas.microsoft.com/office/drawing/2014/main" id="{6B0038AF-3566-B855-CAEC-443AE6297839}"/>
              </a:ext>
            </a:extLst>
          </p:cNvPr>
          <p:cNvSpPr txBox="1"/>
          <p:nvPr/>
        </p:nvSpPr>
        <p:spPr>
          <a:xfrm>
            <a:off x="380999" y="1012121"/>
            <a:ext cx="11049001" cy="2807948"/>
          </a:xfrm>
          <a:prstGeom prst="rect">
            <a:avLst/>
          </a:prstGeom>
          <a:noFill/>
        </p:spPr>
        <p:txBody>
          <a:bodyPr wrap="square" rtlCol="0">
            <a:spAutoFit/>
          </a:bodyPr>
          <a:lstStyle/>
          <a:p>
            <a:pPr indent="0" fontAlgn="auto">
              <a:lnSpc>
                <a:spcPct val="150000"/>
              </a:lnSpc>
            </a:pPr>
            <a:r>
              <a:rPr lang="en-US" altLang="zh-CN" sz="2000" dirty="0">
                <a:solidFill>
                  <a:schemeClr val="tx2"/>
                </a:solidFill>
                <a:latin typeface="微软雅黑" panose="020B0503020204020204" pitchFamily="34" charset="-122"/>
                <a:ea typeface="微软雅黑" panose="020B0503020204020204" pitchFamily="34" charset="-122"/>
              </a:rPr>
              <a:t>Kaggle </a:t>
            </a:r>
            <a:r>
              <a:rPr lang="zh-CN" altLang="en-US" sz="2000" dirty="0">
                <a:solidFill>
                  <a:schemeClr val="tx2"/>
                </a:solidFill>
                <a:latin typeface="微软雅黑" panose="020B0503020204020204" pitchFamily="34" charset="-122"/>
                <a:ea typeface="微软雅黑" panose="020B0503020204020204" pitchFamily="34" charset="-122"/>
              </a:rPr>
              <a:t>平台为数据科学家、机器学习工程师和学生提供了一个展现和提升技能的大舞台，通过参与各类数据建模和机器学习的竞赛，他们可以与全球各地的参赛者一决高下。这些竞赛涵盖多个领域，包括表格数据、计算机视觉、自然语言处理、语音处理和生物医学等。这些竞赛通常由各大企业和研究机构赞助，提出具体的数据问题，参赛者则需要开发出模型来解决这些问题。这些竞赛不仅推动了数据科学领域的研究，还为企业寻找创新解决方案提供了机会。</a:t>
            </a:r>
            <a:endParaRPr lang="en-US" altLang="zh-CN" sz="2000" dirty="0">
              <a:solidFill>
                <a:schemeClr val="tx2"/>
              </a:solidFill>
              <a:latin typeface="微软雅黑" panose="020B0503020204020204" pitchFamily="34" charset="-122"/>
              <a:ea typeface="微软雅黑" panose="020B0503020204020204" pitchFamily="34" charset="-122"/>
            </a:endParaRPr>
          </a:p>
          <a:p>
            <a:pPr indent="0" fontAlgn="auto">
              <a:lnSpc>
                <a:spcPct val="150000"/>
              </a:lnSpc>
            </a:pPr>
            <a:endParaRPr lang="en-US" altLang="zh-CN" sz="2000" b="1" dirty="0">
              <a:solidFill>
                <a:schemeClr val="tx2"/>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48232784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A6532-8CF8-7CC8-893D-9054884D2D4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00B6109-743A-33C4-A287-7A1E05E72C7C}"/>
              </a:ext>
            </a:extLst>
          </p:cNvPr>
          <p:cNvSpPr>
            <a:spLocks noGrp="1"/>
          </p:cNvSpPr>
          <p:nvPr>
            <p:ph type="title"/>
          </p:nvPr>
        </p:nvSpPr>
        <p:spPr/>
        <p:txBody>
          <a:bodyPr/>
          <a:lstStyle/>
          <a:p>
            <a:pPr>
              <a:spcBef>
                <a:spcPts val="0"/>
              </a:spcBef>
              <a:buSzPct val="100000"/>
            </a:pPr>
            <a:r>
              <a:rPr lang="en-US" altLang="zh-CN" spc="60" dirty="0">
                <a:ln w="3175">
                  <a:noFill/>
                  <a:prstDash val="dash"/>
                </a:ln>
                <a:latin typeface="微软雅黑" panose="020B0503020204020204" charset="-122"/>
                <a:ea typeface="微软雅黑" panose="020B0503020204020204" charset="-122"/>
                <a:cs typeface="微软雅黑" panose="020B0503020204020204" charset="-122"/>
                <a:sym typeface="+mn-ea"/>
              </a:rPr>
              <a:t>Kaggle</a:t>
            </a:r>
            <a:r>
              <a:rPr lang="zh-CN" altLang="en-US" spc="60" dirty="0">
                <a:ln w="3175">
                  <a:noFill/>
                  <a:prstDash val="dash"/>
                </a:ln>
                <a:latin typeface="微软雅黑" panose="020B0503020204020204" charset="-122"/>
                <a:ea typeface="微软雅黑" panose="020B0503020204020204" charset="-122"/>
                <a:cs typeface="微软雅黑" panose="020B0503020204020204" charset="-122"/>
                <a:sym typeface="+mn-ea"/>
              </a:rPr>
              <a:t>注册</a:t>
            </a:r>
          </a:p>
        </p:txBody>
      </p:sp>
      <p:sp>
        <p:nvSpPr>
          <p:cNvPr id="2" name="文本框 1">
            <a:extLst>
              <a:ext uri="{FF2B5EF4-FFF2-40B4-BE49-F238E27FC236}">
                <a16:creationId xmlns:a16="http://schemas.microsoft.com/office/drawing/2014/main" id="{BBFEC3C2-DAD2-9870-3CCC-6503459E1F72}"/>
              </a:ext>
            </a:extLst>
          </p:cNvPr>
          <p:cNvSpPr txBox="1"/>
          <p:nvPr/>
        </p:nvSpPr>
        <p:spPr>
          <a:xfrm>
            <a:off x="380999" y="1012121"/>
            <a:ext cx="11255830" cy="5123197"/>
          </a:xfrm>
          <a:prstGeom prst="rect">
            <a:avLst/>
          </a:prstGeom>
          <a:noFill/>
        </p:spPr>
        <p:txBody>
          <a:bodyPr wrap="square" rtlCol="0">
            <a:spAutoFit/>
          </a:bodyPr>
          <a:lstStyle/>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打开 </a:t>
            </a:r>
            <a:r>
              <a:rPr lang="en-US" altLang="zh-CN" sz="2000" dirty="0">
                <a:solidFill>
                  <a:schemeClr val="tx2"/>
                </a:solidFill>
                <a:latin typeface="微软雅黑" panose="020B0503020204020204" pitchFamily="34" charset="-122"/>
                <a:ea typeface="微软雅黑" panose="020B0503020204020204" pitchFamily="34" charset="-122"/>
                <a:hlinkClick r:id="rId2"/>
              </a:rPr>
              <a:t>www.kaggle.com</a:t>
            </a:r>
            <a:r>
              <a:rPr lang="zh-CN" altLang="en-US" sz="2000" dirty="0">
                <a:solidFill>
                  <a:schemeClr val="tx2"/>
                </a:solidFill>
                <a:latin typeface="微软雅黑" panose="020B0503020204020204" pitchFamily="34" charset="-122"/>
                <a:ea typeface="微软雅黑" panose="020B0503020204020204" pitchFamily="34" charset="-122"/>
              </a:rPr>
              <a:t>，点击网页的右上角的  </a:t>
            </a:r>
            <a:r>
              <a:rPr lang="en-US" altLang="zh-CN" sz="2000" dirty="0">
                <a:solidFill>
                  <a:schemeClr val="tx2"/>
                </a:solidFill>
                <a:latin typeface="微软雅黑" panose="020B0503020204020204" pitchFamily="34" charset="-122"/>
                <a:ea typeface="微软雅黑" panose="020B0503020204020204" pitchFamily="34" charset="-122"/>
              </a:rPr>
              <a:t>Register</a:t>
            </a:r>
            <a:r>
              <a:rPr lang="zh-CN" altLang="en-US" sz="2000" dirty="0">
                <a:solidFill>
                  <a:schemeClr val="tx2"/>
                </a:solidFill>
                <a:latin typeface="微软雅黑" panose="020B0503020204020204" pitchFamily="34" charset="-122"/>
                <a:ea typeface="微软雅黑" panose="020B0503020204020204" pitchFamily="34" charset="-122"/>
              </a:rPr>
              <a:t>，点击画面上的  </a:t>
            </a:r>
            <a:r>
              <a:rPr lang="en-US" altLang="zh-CN" sz="2000" dirty="0">
                <a:solidFill>
                  <a:schemeClr val="tx2"/>
                </a:solidFill>
                <a:latin typeface="微软雅黑" panose="020B0503020204020204" pitchFamily="34" charset="-122"/>
                <a:ea typeface="微软雅黑" panose="020B0503020204020204" pitchFamily="34" charset="-122"/>
              </a:rPr>
              <a:t>Register with Email</a:t>
            </a:r>
          </a:p>
          <a:p>
            <a:pPr marL="457200" indent="-457200" fontAlgn="auto">
              <a:lnSpc>
                <a:spcPct val="150000"/>
              </a:lnSpc>
              <a:buFont typeface="+mj-lt"/>
              <a:buAutoNum type="arabicPeriod"/>
            </a:pPr>
            <a:endParaRPr lang="en-US" altLang="zh-CN" sz="2000" dirty="0">
              <a:solidFill>
                <a:schemeClr val="tx2"/>
              </a:solidFill>
              <a:latin typeface="微软雅黑" panose="020B0503020204020204" pitchFamily="34" charset="-122"/>
              <a:ea typeface="微软雅黑" panose="020B0503020204020204" pitchFamily="34" charset="-122"/>
            </a:endParaRPr>
          </a:p>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输入你的邮箱 ，密码 ，进行人机验证。登录邮箱 ，输入你收到的六位验证码</a:t>
            </a:r>
            <a:endParaRPr lang="en-US" altLang="zh-CN" sz="2000" dirty="0">
              <a:solidFill>
                <a:schemeClr val="tx2"/>
              </a:solidFill>
              <a:latin typeface="微软雅黑" panose="020B0503020204020204" pitchFamily="34" charset="-122"/>
              <a:ea typeface="微软雅黑" panose="020B0503020204020204" pitchFamily="34" charset="-122"/>
            </a:endParaRPr>
          </a:p>
          <a:p>
            <a:pPr marL="457200" indent="-457200" fontAlgn="auto">
              <a:lnSpc>
                <a:spcPct val="150000"/>
              </a:lnSpc>
              <a:buFont typeface="+mj-lt"/>
              <a:buAutoNum type="arabicPeriod"/>
            </a:pPr>
            <a:endParaRPr lang="en-US" altLang="zh-CN" sz="2000" dirty="0">
              <a:solidFill>
                <a:schemeClr val="tx2"/>
              </a:solidFill>
              <a:latin typeface="微软雅黑" panose="020B0503020204020204" pitchFamily="34" charset="-122"/>
              <a:ea typeface="微软雅黑" panose="020B0503020204020204" pitchFamily="34" charset="-122"/>
            </a:endParaRPr>
          </a:p>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进行手机号码验证 ，以便使用 </a:t>
            </a:r>
            <a:r>
              <a:rPr lang="en-US" altLang="zh-CN" sz="2000" dirty="0">
                <a:solidFill>
                  <a:schemeClr val="tx2"/>
                </a:solidFill>
                <a:latin typeface="微软雅黑" panose="020B0503020204020204" pitchFamily="34" charset="-122"/>
                <a:ea typeface="微软雅黑" panose="020B0503020204020204" pitchFamily="34" charset="-122"/>
              </a:rPr>
              <a:t>Kaggle </a:t>
            </a:r>
            <a:r>
              <a:rPr lang="zh-CN" altLang="en-US" sz="2000" dirty="0">
                <a:solidFill>
                  <a:schemeClr val="tx2"/>
                </a:solidFill>
                <a:latin typeface="微软雅黑" panose="020B0503020204020204" pitchFamily="34" charset="-122"/>
                <a:ea typeface="微软雅黑" panose="020B0503020204020204" pitchFamily="34" charset="-122"/>
              </a:rPr>
              <a:t>平台提供的 </a:t>
            </a:r>
            <a:r>
              <a:rPr lang="en-US" altLang="zh-CN" sz="2000" dirty="0">
                <a:solidFill>
                  <a:schemeClr val="tx2"/>
                </a:solidFill>
                <a:latin typeface="微软雅黑" panose="020B0503020204020204" pitchFamily="34" charset="-122"/>
                <a:ea typeface="微软雅黑" panose="020B0503020204020204" pitchFamily="34" charset="-122"/>
              </a:rPr>
              <a:t>GPU </a:t>
            </a:r>
            <a:r>
              <a:rPr lang="zh-CN" altLang="en-US" sz="2000" dirty="0">
                <a:solidFill>
                  <a:schemeClr val="tx2"/>
                </a:solidFill>
                <a:latin typeface="微软雅黑" panose="020B0503020204020204" pitchFamily="34" charset="-122"/>
                <a:ea typeface="微软雅黑" panose="020B0503020204020204" pitchFamily="34" charset="-122"/>
              </a:rPr>
              <a:t>计算资源：</a:t>
            </a:r>
            <a:br>
              <a:rPr lang="en-US" altLang="zh-CN" sz="2000" dirty="0">
                <a:solidFill>
                  <a:schemeClr val="tx2"/>
                </a:solidFill>
                <a:latin typeface="微软雅黑" panose="020B0503020204020204" pitchFamily="34" charset="-122"/>
                <a:ea typeface="微软雅黑" panose="020B0503020204020204" pitchFamily="34" charset="-122"/>
              </a:rPr>
            </a:br>
            <a:r>
              <a:rPr lang="zh-CN" altLang="en-US" sz="2000" dirty="0">
                <a:solidFill>
                  <a:schemeClr val="tx2"/>
                </a:solidFill>
                <a:latin typeface="微软雅黑" panose="020B0503020204020204" pitchFamily="34" charset="-122"/>
                <a:ea typeface="微软雅黑" panose="020B0503020204020204" pitchFamily="34" charset="-122"/>
              </a:rPr>
              <a:t>点击右上角的头像 ，并选择 </a:t>
            </a:r>
            <a:r>
              <a:rPr lang="en-US" altLang="zh-CN" sz="2000" dirty="0">
                <a:solidFill>
                  <a:schemeClr val="tx2"/>
                </a:solidFill>
                <a:latin typeface="微软雅黑" panose="020B0503020204020204" pitchFamily="34" charset="-122"/>
                <a:ea typeface="微软雅黑" panose="020B0503020204020204" pitchFamily="34" charset="-122"/>
              </a:rPr>
              <a:t>settings </a:t>
            </a:r>
            <a:r>
              <a:rPr lang="zh-CN" altLang="en-US" sz="2000" dirty="0">
                <a:solidFill>
                  <a:schemeClr val="tx2"/>
                </a:solidFill>
                <a:latin typeface="微软雅黑" panose="020B0503020204020204" pitchFamily="34" charset="-122"/>
                <a:ea typeface="微软雅黑" panose="020B0503020204020204" pitchFamily="34" charset="-122"/>
              </a:rPr>
              <a:t>，完成 </a:t>
            </a:r>
            <a:r>
              <a:rPr lang="en-US" altLang="zh-CN" sz="2000" dirty="0">
                <a:solidFill>
                  <a:schemeClr val="tx2"/>
                </a:solidFill>
                <a:latin typeface="微软雅黑" panose="020B0503020204020204" pitchFamily="34" charset="-122"/>
                <a:ea typeface="微软雅黑" panose="020B0503020204020204" pitchFamily="34" charset="-122"/>
              </a:rPr>
              <a:t>Phone verification</a:t>
            </a:r>
          </a:p>
          <a:p>
            <a:pPr marL="457200" indent="-457200" fontAlgn="auto">
              <a:lnSpc>
                <a:spcPct val="150000"/>
              </a:lnSpc>
              <a:buFont typeface="+mj-lt"/>
              <a:buAutoNum type="arabicPeriod"/>
            </a:pPr>
            <a:endParaRPr lang="en-US" altLang="zh-CN" sz="2000" dirty="0">
              <a:solidFill>
                <a:schemeClr val="tx2"/>
              </a:solidFill>
              <a:latin typeface="微软雅黑" panose="020B0503020204020204" pitchFamily="34" charset="-122"/>
              <a:ea typeface="微软雅黑" panose="020B0503020204020204" pitchFamily="34" charset="-122"/>
            </a:endParaRPr>
          </a:p>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访问本课程提供的竞赛</a:t>
            </a:r>
            <a:br>
              <a:rPr lang="en-US" altLang="zh-CN" sz="2000" dirty="0">
                <a:solidFill>
                  <a:schemeClr val="tx2"/>
                </a:solidFill>
                <a:latin typeface="微软雅黑" panose="020B0503020204020204" pitchFamily="34" charset="-122"/>
                <a:ea typeface="微软雅黑" panose="020B0503020204020204" pitchFamily="34" charset="-122"/>
              </a:rPr>
            </a:br>
            <a:r>
              <a:rPr lang="en-US" altLang="zh-CN" sz="2000" dirty="0">
                <a:solidFill>
                  <a:schemeClr val="tx2"/>
                </a:solidFill>
                <a:latin typeface="微软雅黑" panose="020B0503020204020204" pitchFamily="34" charset="-122"/>
                <a:ea typeface="微软雅黑" panose="020B0503020204020204" pitchFamily="34" charset="-122"/>
              </a:rPr>
              <a:t>MLP: </a:t>
            </a:r>
            <a:r>
              <a:rPr lang="en-US" altLang="zh-CN" sz="2000" dirty="0">
                <a:hlinkClick r:id="rId3"/>
              </a:rPr>
              <a:t>MNIST_AND_MLP2 | Kaggle</a:t>
            </a:r>
            <a:br>
              <a:rPr lang="en-US" altLang="zh-CN" sz="2000">
                <a:solidFill>
                  <a:schemeClr val="tx2"/>
                </a:solidFill>
                <a:latin typeface="微软雅黑" panose="020B0503020204020204" pitchFamily="34" charset="-122"/>
                <a:ea typeface="微软雅黑" panose="020B0503020204020204" pitchFamily="34" charset="-122"/>
              </a:rPr>
            </a:br>
            <a:r>
              <a:rPr lang="en-US" altLang="zh-CN" sz="2000">
                <a:solidFill>
                  <a:schemeClr val="tx2"/>
                </a:solidFill>
                <a:latin typeface="微软雅黑" panose="020B0503020204020204" pitchFamily="34" charset="-122"/>
                <a:ea typeface="微软雅黑" panose="020B0503020204020204" pitchFamily="34" charset="-122"/>
              </a:rPr>
              <a:t>CNN: </a:t>
            </a:r>
            <a:r>
              <a:rPr lang="en-US" altLang="zh-CN" sz="2000">
                <a:hlinkClick r:id="rId4"/>
              </a:rPr>
              <a:t>CNN-Cifar10 | Kaggle</a:t>
            </a:r>
            <a:br>
              <a:rPr lang="en-US" altLang="zh-CN" sz="2000">
                <a:solidFill>
                  <a:schemeClr val="tx2"/>
                </a:solidFill>
                <a:latin typeface="微软雅黑" panose="020B0503020204020204" pitchFamily="34" charset="-122"/>
                <a:ea typeface="微软雅黑" panose="020B0503020204020204" pitchFamily="34" charset="-122"/>
              </a:rPr>
            </a:br>
            <a:r>
              <a:rPr lang="en-US" altLang="zh-CN" sz="2000">
                <a:solidFill>
                  <a:schemeClr val="tx2"/>
                </a:solidFill>
                <a:latin typeface="微软雅黑" panose="020B0503020204020204" pitchFamily="34" charset="-122"/>
                <a:ea typeface="微软雅黑" panose="020B0503020204020204" pitchFamily="34" charset="-122"/>
              </a:rPr>
              <a:t>LSTM + Transformer: </a:t>
            </a:r>
            <a:r>
              <a:rPr lang="en-US" altLang="zh-CN" sz="2000">
                <a:hlinkClick r:id="rId5"/>
              </a:rPr>
              <a:t>LSTM+Transformers2 | Kaggle</a:t>
            </a:r>
            <a:endParaRPr lang="zh-CN" altLang="en-US" sz="2000" dirty="0">
              <a:solidFill>
                <a:schemeClr val="tx2"/>
              </a:solidFill>
              <a:latin typeface="微软雅黑" panose="020B0503020204020204" pitchFamily="34" charset="-122"/>
              <a:ea typeface="微软雅黑" panose="020B0503020204020204" pitchFamily="34" charset="-122"/>
            </a:endParaRPr>
          </a:p>
        </p:txBody>
      </p:sp>
      <p:pic>
        <p:nvPicPr>
          <p:cNvPr id="6" name="图片 5">
            <a:extLst>
              <a:ext uri="{FF2B5EF4-FFF2-40B4-BE49-F238E27FC236}">
                <a16:creationId xmlns:a16="http://schemas.microsoft.com/office/drawing/2014/main" id="{65DBDCED-538D-F72A-CF95-88A26BD07DB6}"/>
              </a:ext>
            </a:extLst>
          </p:cNvPr>
          <p:cNvPicPr>
            <a:picLocks noChangeAspect="1"/>
          </p:cNvPicPr>
          <p:nvPr/>
        </p:nvPicPr>
        <p:blipFill>
          <a:blip r:embed="rId6"/>
          <a:stretch>
            <a:fillRect/>
          </a:stretch>
        </p:blipFill>
        <p:spPr>
          <a:xfrm>
            <a:off x="8501743" y="2940146"/>
            <a:ext cx="3528772" cy="3316460"/>
          </a:xfrm>
          <a:prstGeom prst="rect">
            <a:avLst/>
          </a:prstGeom>
        </p:spPr>
      </p:pic>
      <p:sp>
        <p:nvSpPr>
          <p:cNvPr id="7" name="箭头: 左 6">
            <a:extLst>
              <a:ext uri="{FF2B5EF4-FFF2-40B4-BE49-F238E27FC236}">
                <a16:creationId xmlns:a16="http://schemas.microsoft.com/office/drawing/2014/main" id="{3953C379-B369-96FF-EE5D-22D2AF765A1F}"/>
              </a:ext>
            </a:extLst>
          </p:cNvPr>
          <p:cNvSpPr/>
          <p:nvPr/>
        </p:nvSpPr>
        <p:spPr>
          <a:xfrm rot="2399504">
            <a:off x="7445615" y="4005060"/>
            <a:ext cx="968828" cy="319334"/>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44473090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A6532-8CF8-7CC8-893D-9054884D2D4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00B6109-743A-33C4-A287-7A1E05E72C7C}"/>
              </a:ext>
            </a:extLst>
          </p:cNvPr>
          <p:cNvSpPr>
            <a:spLocks noGrp="1"/>
          </p:cNvSpPr>
          <p:nvPr>
            <p:ph type="title"/>
          </p:nvPr>
        </p:nvSpPr>
        <p:spPr/>
        <p:txBody>
          <a:bodyPr/>
          <a:lstStyle/>
          <a:p>
            <a:pPr>
              <a:spcBef>
                <a:spcPts val="0"/>
              </a:spcBef>
              <a:buSzPct val="100000"/>
            </a:pPr>
            <a:r>
              <a:rPr lang="zh-CN" altLang="en-US" spc="60" dirty="0">
                <a:ln w="3175">
                  <a:noFill/>
                  <a:prstDash val="dash"/>
                </a:ln>
                <a:latin typeface="微软雅黑" panose="020B0503020204020204" charset="-122"/>
                <a:ea typeface="微软雅黑" panose="020B0503020204020204" charset="-122"/>
                <a:cs typeface="微软雅黑" panose="020B0503020204020204" charset="-122"/>
                <a:sym typeface="+mn-ea"/>
              </a:rPr>
              <a:t>经典分类任务 </a:t>
            </a:r>
            <a:r>
              <a:rPr lang="en-US" altLang="zh-CN" spc="60" dirty="0">
                <a:ln w="3175">
                  <a:noFill/>
                  <a:prstDash val="dash"/>
                </a:ln>
                <a:latin typeface="微软雅黑" panose="020B0503020204020204" charset="-122"/>
                <a:ea typeface="微软雅黑" panose="020B0503020204020204" charset="-122"/>
                <a:cs typeface="微软雅黑" panose="020B0503020204020204" charset="-122"/>
                <a:sym typeface="+mn-ea"/>
              </a:rPr>
              <a:t>MNIST </a:t>
            </a:r>
            <a:r>
              <a:rPr lang="zh-CN" altLang="en-US" spc="60" dirty="0">
                <a:ln w="3175">
                  <a:noFill/>
                  <a:prstDash val="dash"/>
                </a:ln>
                <a:latin typeface="微软雅黑" panose="020B0503020204020204" charset="-122"/>
                <a:ea typeface="微软雅黑" panose="020B0503020204020204" charset="-122"/>
                <a:cs typeface="微软雅黑" panose="020B0503020204020204" charset="-122"/>
                <a:sym typeface="+mn-ea"/>
              </a:rPr>
              <a:t>数据集介绍</a:t>
            </a:r>
          </a:p>
        </p:txBody>
      </p:sp>
      <p:sp>
        <p:nvSpPr>
          <p:cNvPr id="4" name="文本框 3">
            <a:extLst>
              <a:ext uri="{FF2B5EF4-FFF2-40B4-BE49-F238E27FC236}">
                <a16:creationId xmlns:a16="http://schemas.microsoft.com/office/drawing/2014/main" id="{DC178AE6-5D79-83F6-7601-A89FF27C3A50}"/>
              </a:ext>
            </a:extLst>
          </p:cNvPr>
          <p:cNvSpPr txBox="1"/>
          <p:nvPr/>
        </p:nvSpPr>
        <p:spPr>
          <a:xfrm>
            <a:off x="3048000" y="3244334"/>
            <a:ext cx="6096000" cy="369332"/>
          </a:xfrm>
          <a:prstGeom prst="rect">
            <a:avLst/>
          </a:prstGeom>
          <a:noFill/>
        </p:spPr>
        <p:txBody>
          <a:bodyPr wrap="square">
            <a:spAutoFit/>
          </a:bodyPr>
          <a:lstStyle/>
          <a:p>
            <a:r>
              <a:rPr lang="en-US" altLang="zh-CN" b="0" i="0" dirty="0">
                <a:solidFill>
                  <a:srgbClr val="F9FAFB"/>
                </a:solidFill>
                <a:effectLst/>
                <a:latin typeface="quote-cjk-patch"/>
              </a:rPr>
              <a:t>MNIST </a:t>
            </a:r>
            <a:r>
              <a:rPr lang="zh-CN" altLang="en-US" b="0" i="0" dirty="0">
                <a:solidFill>
                  <a:srgbClr val="F9FAFB"/>
                </a:solidFill>
                <a:effectLst/>
                <a:latin typeface="quote-cjk-patch"/>
              </a:rPr>
              <a:t>是一个被广泛使用的手写数字图像数据集。</a:t>
            </a:r>
            <a:endParaRPr lang="zh-CN" altLang="en-US" dirty="0"/>
          </a:p>
        </p:txBody>
      </p:sp>
      <p:sp>
        <p:nvSpPr>
          <p:cNvPr id="5" name="文本框 4">
            <a:extLst>
              <a:ext uri="{FF2B5EF4-FFF2-40B4-BE49-F238E27FC236}">
                <a16:creationId xmlns:a16="http://schemas.microsoft.com/office/drawing/2014/main" id="{BFE89C92-3DC2-5AE7-8DA1-C7ECF32D41D8}"/>
              </a:ext>
            </a:extLst>
          </p:cNvPr>
          <p:cNvSpPr txBox="1"/>
          <p:nvPr/>
        </p:nvSpPr>
        <p:spPr>
          <a:xfrm>
            <a:off x="380999" y="1012121"/>
            <a:ext cx="11255830" cy="3731278"/>
          </a:xfrm>
          <a:prstGeom prst="rect">
            <a:avLst/>
          </a:prstGeom>
          <a:noFill/>
        </p:spPr>
        <p:txBody>
          <a:bodyPr wrap="square" rtlCol="0">
            <a:spAutoFit/>
          </a:bodyPr>
          <a:lstStyle/>
          <a:p>
            <a:pPr fontAlgn="auto">
              <a:lnSpc>
                <a:spcPct val="150000"/>
              </a:lnSpc>
            </a:pPr>
            <a:r>
              <a:rPr lang="en-US" altLang="zh-CN" sz="2000" dirty="0">
                <a:solidFill>
                  <a:schemeClr val="tx2"/>
                </a:solidFill>
                <a:latin typeface="微软雅黑" panose="020B0503020204020204" pitchFamily="34" charset="-122"/>
                <a:ea typeface="微软雅黑" panose="020B0503020204020204" pitchFamily="34" charset="-122"/>
              </a:rPr>
              <a:t>MNIST </a:t>
            </a:r>
            <a:r>
              <a:rPr lang="zh-CN" altLang="en-US" sz="2000" dirty="0">
                <a:solidFill>
                  <a:schemeClr val="tx2"/>
                </a:solidFill>
                <a:latin typeface="微软雅黑" panose="020B0503020204020204" pitchFamily="34" charset="-122"/>
                <a:ea typeface="微软雅黑" panose="020B0503020204020204" pitchFamily="34" charset="-122"/>
              </a:rPr>
              <a:t>是一个被广泛使用的手写数字图像数据集。</a:t>
            </a:r>
            <a:endParaRPr lang="en-US" altLang="zh-CN" sz="2000" dirty="0">
              <a:solidFill>
                <a:schemeClr val="tx2"/>
              </a:solidFill>
              <a:latin typeface="微软雅黑" panose="020B0503020204020204" pitchFamily="34" charset="-122"/>
              <a:ea typeface="微软雅黑" panose="020B0503020204020204" pitchFamily="34" charset="-122"/>
            </a:endParaRPr>
          </a:p>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内容：</a:t>
            </a:r>
            <a:r>
              <a:rPr lang="en-US" altLang="zh-CN" sz="2000" dirty="0">
                <a:solidFill>
                  <a:schemeClr val="tx2"/>
                </a:solidFill>
                <a:latin typeface="微软雅黑" panose="020B0503020204020204" pitchFamily="34" charset="-122"/>
                <a:ea typeface="微软雅黑" panose="020B0503020204020204" pitchFamily="34" charset="-122"/>
              </a:rPr>
              <a:t>70,000 </a:t>
            </a:r>
            <a:r>
              <a:rPr lang="zh-CN" altLang="en-US" sz="2000" dirty="0">
                <a:solidFill>
                  <a:schemeClr val="tx2"/>
                </a:solidFill>
                <a:latin typeface="微软雅黑" panose="020B0503020204020204" pitchFamily="34" charset="-122"/>
                <a:ea typeface="微软雅黑" panose="020B0503020204020204" pitchFamily="34" charset="-122"/>
              </a:rPr>
              <a:t>张 </a:t>
            </a:r>
            <a:r>
              <a:rPr lang="en-US" altLang="zh-CN" sz="2000" dirty="0">
                <a:solidFill>
                  <a:schemeClr val="tx2"/>
                </a:solidFill>
                <a:latin typeface="微软雅黑" panose="020B0503020204020204" pitchFamily="34" charset="-122"/>
                <a:ea typeface="微软雅黑" panose="020B0503020204020204" pitchFamily="34" charset="-122"/>
              </a:rPr>
              <a:t>28x28 </a:t>
            </a:r>
            <a:r>
              <a:rPr lang="zh-CN" altLang="en-US" sz="2000" dirty="0">
                <a:solidFill>
                  <a:schemeClr val="tx2"/>
                </a:solidFill>
                <a:latin typeface="微软雅黑" panose="020B0503020204020204" pitchFamily="34" charset="-122"/>
                <a:ea typeface="微软雅黑" panose="020B0503020204020204" pitchFamily="34" charset="-122"/>
              </a:rPr>
              <a:t>像素的灰度手写数字图片（</a:t>
            </a:r>
            <a:r>
              <a:rPr lang="en-US" altLang="zh-CN" sz="2000" dirty="0">
                <a:solidFill>
                  <a:schemeClr val="tx2"/>
                </a:solidFill>
                <a:latin typeface="微软雅黑" panose="020B0503020204020204" pitchFamily="34" charset="-122"/>
                <a:ea typeface="微软雅黑" panose="020B0503020204020204" pitchFamily="34" charset="-122"/>
              </a:rPr>
              <a:t>0-9</a:t>
            </a:r>
            <a:r>
              <a:rPr lang="zh-CN" altLang="en-US" sz="2000" dirty="0">
                <a:solidFill>
                  <a:schemeClr val="tx2"/>
                </a:solidFill>
                <a:latin typeface="微软雅黑" panose="020B0503020204020204" pitchFamily="34" charset="-122"/>
                <a:ea typeface="微软雅黑" panose="020B0503020204020204" pitchFamily="34" charset="-122"/>
              </a:rPr>
              <a:t>）</a:t>
            </a:r>
            <a:endParaRPr lang="en-US" altLang="zh-CN" sz="2000" dirty="0">
              <a:solidFill>
                <a:schemeClr val="tx2"/>
              </a:solidFill>
              <a:latin typeface="微软雅黑" panose="020B0503020204020204" pitchFamily="34" charset="-122"/>
              <a:ea typeface="微软雅黑" panose="020B0503020204020204" pitchFamily="34" charset="-122"/>
            </a:endParaRPr>
          </a:p>
          <a:p>
            <a:pPr marL="457200" indent="-457200" fontAlgn="auto">
              <a:lnSpc>
                <a:spcPct val="150000"/>
              </a:lnSpc>
              <a:buFont typeface="+mj-lt"/>
              <a:buAutoNum type="arabicPeriod"/>
            </a:pPr>
            <a:endParaRPr lang="en-US" altLang="zh-CN" sz="2000" dirty="0">
              <a:solidFill>
                <a:schemeClr val="tx2"/>
              </a:solidFill>
              <a:latin typeface="微软雅黑" panose="020B0503020204020204" pitchFamily="34" charset="-122"/>
              <a:ea typeface="微软雅黑" panose="020B0503020204020204" pitchFamily="34" charset="-122"/>
            </a:endParaRPr>
          </a:p>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划分：</a:t>
            </a:r>
            <a:r>
              <a:rPr lang="en-US" altLang="zh-CN" sz="2000" dirty="0">
                <a:solidFill>
                  <a:schemeClr val="tx2"/>
                </a:solidFill>
                <a:latin typeface="微软雅黑" panose="020B0503020204020204" pitchFamily="34" charset="-122"/>
                <a:ea typeface="微软雅黑" panose="020B0503020204020204" pitchFamily="34" charset="-122"/>
              </a:rPr>
              <a:t>60,000 </a:t>
            </a:r>
            <a:r>
              <a:rPr lang="zh-CN" altLang="en-US" sz="2000" dirty="0">
                <a:solidFill>
                  <a:schemeClr val="tx2"/>
                </a:solidFill>
                <a:latin typeface="微软雅黑" panose="020B0503020204020204" pitchFamily="34" charset="-122"/>
                <a:ea typeface="微软雅黑" panose="020B0503020204020204" pitchFamily="34" charset="-122"/>
              </a:rPr>
              <a:t>张用于训练，</a:t>
            </a:r>
            <a:r>
              <a:rPr lang="en-US" altLang="zh-CN" sz="2000" dirty="0">
                <a:solidFill>
                  <a:schemeClr val="tx2"/>
                </a:solidFill>
                <a:latin typeface="微软雅黑" panose="020B0503020204020204" pitchFamily="34" charset="-122"/>
                <a:ea typeface="微软雅黑" panose="020B0503020204020204" pitchFamily="34" charset="-122"/>
              </a:rPr>
              <a:t>10,000 </a:t>
            </a:r>
            <a:r>
              <a:rPr lang="zh-CN" altLang="en-US" sz="2000" dirty="0">
                <a:solidFill>
                  <a:schemeClr val="tx2"/>
                </a:solidFill>
                <a:latin typeface="微软雅黑" panose="020B0503020204020204" pitchFamily="34" charset="-122"/>
                <a:ea typeface="微软雅黑" panose="020B0503020204020204" pitchFamily="34" charset="-122"/>
              </a:rPr>
              <a:t>张用于测试</a:t>
            </a:r>
            <a:endParaRPr lang="en-US" altLang="zh-CN" sz="2000" dirty="0">
              <a:solidFill>
                <a:schemeClr val="tx2"/>
              </a:solidFill>
              <a:latin typeface="微软雅黑" panose="020B0503020204020204" pitchFamily="34" charset="-122"/>
              <a:ea typeface="微软雅黑" panose="020B0503020204020204" pitchFamily="34" charset="-122"/>
            </a:endParaRPr>
          </a:p>
          <a:p>
            <a:pPr marL="457200" indent="-457200" fontAlgn="auto">
              <a:lnSpc>
                <a:spcPct val="150000"/>
              </a:lnSpc>
              <a:buFont typeface="+mj-lt"/>
              <a:buAutoNum type="arabicPeriod"/>
            </a:pPr>
            <a:endParaRPr lang="en-US" altLang="zh-CN" sz="2000" dirty="0">
              <a:solidFill>
                <a:schemeClr val="tx2"/>
              </a:solidFill>
              <a:latin typeface="微软雅黑" panose="020B0503020204020204" pitchFamily="34" charset="-122"/>
              <a:ea typeface="微软雅黑" panose="020B0503020204020204" pitchFamily="34" charset="-122"/>
            </a:endParaRPr>
          </a:p>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地位：由 </a:t>
            </a:r>
            <a:r>
              <a:rPr lang="en-US" altLang="zh-CN" sz="2000" dirty="0">
                <a:solidFill>
                  <a:schemeClr val="tx2"/>
                </a:solidFill>
                <a:latin typeface="微软雅黑" panose="020B0503020204020204" pitchFamily="34" charset="-122"/>
                <a:ea typeface="微软雅黑" panose="020B0503020204020204" pitchFamily="34" charset="-122"/>
              </a:rPr>
              <a:t>Yann </a:t>
            </a:r>
            <a:r>
              <a:rPr lang="en-US" altLang="zh-CN" sz="2000" dirty="0" err="1">
                <a:solidFill>
                  <a:schemeClr val="tx2"/>
                </a:solidFill>
                <a:latin typeface="微软雅黑" panose="020B0503020204020204" pitchFamily="34" charset="-122"/>
                <a:ea typeface="微软雅黑" panose="020B0503020204020204" pitchFamily="34" charset="-122"/>
              </a:rPr>
              <a:t>Lecun</a:t>
            </a:r>
            <a:r>
              <a:rPr lang="en-US" altLang="zh-CN" sz="2000" dirty="0">
                <a:solidFill>
                  <a:schemeClr val="tx2"/>
                </a:solidFill>
                <a:latin typeface="微软雅黑" panose="020B0503020204020204" pitchFamily="34" charset="-122"/>
                <a:ea typeface="微软雅黑" panose="020B0503020204020204" pitchFamily="34" charset="-122"/>
              </a:rPr>
              <a:t> </a:t>
            </a:r>
            <a:r>
              <a:rPr lang="zh-CN" altLang="en-US" sz="2000" dirty="0">
                <a:solidFill>
                  <a:schemeClr val="tx2"/>
                </a:solidFill>
                <a:latin typeface="微软雅黑" panose="020B0503020204020204" pitchFamily="34" charset="-122"/>
                <a:ea typeface="微软雅黑" panose="020B0503020204020204" pitchFamily="34" charset="-122"/>
              </a:rPr>
              <a:t>创建，是机器学习特别是图像分类领域最经典、最常用的“入门级”基准数据集，常被称为图像分类领域的“</a:t>
            </a:r>
            <a:r>
              <a:rPr lang="en-US" altLang="zh-CN" sz="2000" dirty="0">
                <a:solidFill>
                  <a:schemeClr val="tx2"/>
                </a:solidFill>
                <a:latin typeface="微软雅黑" panose="020B0503020204020204" pitchFamily="34" charset="-122"/>
                <a:ea typeface="微软雅黑" panose="020B0503020204020204" pitchFamily="34" charset="-122"/>
              </a:rPr>
              <a:t>Hello World”</a:t>
            </a:r>
          </a:p>
          <a:p>
            <a:pPr marL="457200" indent="-457200" fontAlgn="auto">
              <a:lnSpc>
                <a:spcPct val="150000"/>
              </a:lnSpc>
              <a:buFont typeface="+mj-lt"/>
              <a:buAutoNum type="arabicPeriod"/>
            </a:pPr>
            <a:endParaRPr lang="en-US" altLang="zh-CN" sz="2000" dirty="0">
              <a:solidFill>
                <a:schemeClr val="tx2"/>
              </a:solidFill>
              <a:latin typeface="微软雅黑" panose="020B0503020204020204" pitchFamily="34" charset="-122"/>
              <a:ea typeface="微软雅黑" panose="020B0503020204020204" pitchFamily="34" charset="-122"/>
            </a:endParaRPr>
          </a:p>
        </p:txBody>
      </p:sp>
      <p:pic>
        <p:nvPicPr>
          <p:cNvPr id="1026" name="Picture 2">
            <a:extLst>
              <a:ext uri="{FF2B5EF4-FFF2-40B4-BE49-F238E27FC236}">
                <a16:creationId xmlns:a16="http://schemas.microsoft.com/office/drawing/2014/main" id="{CAFB6E47-915B-E8C5-BD12-755C6CB2DA6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73168" y="4069616"/>
            <a:ext cx="2466975" cy="1847850"/>
          </a:xfrm>
          <a:prstGeom prst="rect">
            <a:avLst/>
          </a:prstGeom>
          <a:noFill/>
          <a:extLst>
            <a:ext uri="{909E8E84-426E-40DD-AFC4-6F175D3DCCD1}">
              <a14:hiddenFill xmlns:a14="http://schemas.microsoft.com/office/drawing/2010/main">
                <a:solidFill>
                  <a:srgbClr val="FFFFFF"/>
                </a:solidFill>
              </a14:hiddenFill>
            </a:ext>
          </a:extLst>
        </p:spPr>
      </p:pic>
      <p:sp>
        <p:nvSpPr>
          <p:cNvPr id="6" name="文本框 5">
            <a:extLst>
              <a:ext uri="{FF2B5EF4-FFF2-40B4-BE49-F238E27FC236}">
                <a16:creationId xmlns:a16="http://schemas.microsoft.com/office/drawing/2014/main" id="{7A3D8FCB-C877-332B-A243-BA6866F9B789}"/>
              </a:ext>
            </a:extLst>
          </p:cNvPr>
          <p:cNvSpPr txBox="1"/>
          <p:nvPr/>
        </p:nvSpPr>
        <p:spPr>
          <a:xfrm>
            <a:off x="670832" y="5134402"/>
            <a:ext cx="6698155" cy="392928"/>
          </a:xfrm>
          <a:prstGeom prst="rect">
            <a:avLst/>
          </a:prstGeom>
          <a:noFill/>
        </p:spPr>
        <p:txBody>
          <a:bodyPr wrap="square">
            <a:spAutoFit/>
          </a:bodyPr>
          <a:lstStyle/>
          <a:p>
            <a:pPr>
              <a:lnSpc>
                <a:spcPct val="115000"/>
              </a:lnSpc>
              <a:spcAft>
                <a:spcPts val="800"/>
              </a:spcAft>
              <a:buNone/>
            </a:pPr>
            <a:r>
              <a:rPr lang="en-US" altLang="zh-CN" sz="1800" u="sng" kern="100" dirty="0">
                <a:solidFill>
                  <a:srgbClr val="0563C1"/>
                </a:solidFill>
                <a:effectLst/>
                <a:latin typeface="等线" panose="02010600030101010101" pitchFamily="2" charset="-122"/>
                <a:ea typeface="等线" panose="02010600030101010101" pitchFamily="2" charset="-122"/>
                <a:cs typeface="Times New Roman" panose="02020603050405020304" pitchFamily="18" charset="0"/>
                <a:hlinkClick r:id="rId3"/>
              </a:rPr>
              <a:t>https://www.kaggle.com/competitions/sjtu-2026-spring-mlp</a:t>
            </a:r>
            <a:endParaRPr lang="zh-CN" altLang="zh-CN" sz="1800" kern="100" dirty="0">
              <a:effectLst/>
              <a:latin typeface="等线" panose="02010600030101010101" pitchFamily="2" charset="-122"/>
              <a:ea typeface="等线"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307549060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A6532-8CF8-7CC8-893D-9054884D2D4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00B6109-743A-33C4-A287-7A1E05E72C7C}"/>
              </a:ext>
            </a:extLst>
          </p:cNvPr>
          <p:cNvSpPr>
            <a:spLocks noGrp="1"/>
          </p:cNvSpPr>
          <p:nvPr>
            <p:ph type="title"/>
          </p:nvPr>
        </p:nvSpPr>
        <p:spPr/>
        <p:txBody>
          <a:bodyPr/>
          <a:lstStyle/>
          <a:p>
            <a:pPr>
              <a:spcBef>
                <a:spcPts val="0"/>
              </a:spcBef>
              <a:buSzPct val="100000"/>
            </a:pPr>
            <a:r>
              <a:rPr lang="zh-CN" altLang="en-US" spc="60" dirty="0">
                <a:ln w="3175">
                  <a:noFill/>
                  <a:prstDash val="dash"/>
                </a:ln>
                <a:latin typeface="微软雅黑" panose="020B0503020204020204" charset="-122"/>
                <a:ea typeface="微软雅黑" panose="020B0503020204020204" charset="-122"/>
                <a:cs typeface="微软雅黑" panose="020B0503020204020204" charset="-122"/>
                <a:sym typeface="+mn-ea"/>
              </a:rPr>
              <a:t>代码简介</a:t>
            </a:r>
          </a:p>
        </p:txBody>
      </p:sp>
      <p:sp>
        <p:nvSpPr>
          <p:cNvPr id="2" name="文本框 1">
            <a:extLst>
              <a:ext uri="{FF2B5EF4-FFF2-40B4-BE49-F238E27FC236}">
                <a16:creationId xmlns:a16="http://schemas.microsoft.com/office/drawing/2014/main" id="{114D424B-660C-2D83-3B83-7BA94B7C3A4D}"/>
              </a:ext>
            </a:extLst>
          </p:cNvPr>
          <p:cNvSpPr txBox="1"/>
          <p:nvPr/>
        </p:nvSpPr>
        <p:spPr>
          <a:xfrm>
            <a:off x="380999" y="1012121"/>
            <a:ext cx="11255830" cy="4654608"/>
          </a:xfrm>
          <a:prstGeom prst="rect">
            <a:avLst/>
          </a:prstGeom>
          <a:noFill/>
        </p:spPr>
        <p:txBody>
          <a:bodyPr wrap="square" rtlCol="0">
            <a:spAutoFit/>
          </a:bodyPr>
          <a:lstStyle/>
          <a:p>
            <a:pPr fontAlgn="auto">
              <a:lnSpc>
                <a:spcPct val="150000"/>
              </a:lnSpc>
            </a:pPr>
            <a:endParaRPr lang="en-US" altLang="zh-CN" sz="2000" dirty="0">
              <a:hlinkClick r:id="rId2"/>
            </a:endParaRPr>
          </a:p>
          <a:p>
            <a:pPr fontAlgn="auto">
              <a:lnSpc>
                <a:spcPct val="150000"/>
              </a:lnSpc>
            </a:pPr>
            <a:endParaRPr lang="en-US" altLang="zh-CN" sz="2000" dirty="0">
              <a:hlinkClick r:id="rId2"/>
            </a:endParaRPr>
          </a:p>
          <a:p>
            <a:pPr fontAlgn="auto">
              <a:lnSpc>
                <a:spcPct val="150000"/>
              </a:lnSpc>
            </a:pPr>
            <a:endParaRPr lang="en-US" altLang="zh-CN" sz="2000" dirty="0">
              <a:hlinkClick r:id="rId2"/>
            </a:endParaRPr>
          </a:p>
          <a:p>
            <a:pPr fontAlgn="auto">
              <a:lnSpc>
                <a:spcPct val="150000"/>
              </a:lnSpc>
            </a:pPr>
            <a:endParaRPr lang="en-US" altLang="zh-CN" sz="2000" dirty="0">
              <a:hlinkClick r:id="rId2"/>
            </a:endParaRPr>
          </a:p>
          <a:p>
            <a:pPr fontAlgn="auto">
              <a:lnSpc>
                <a:spcPct val="150000"/>
              </a:lnSpc>
            </a:pPr>
            <a:endParaRPr lang="en-US" altLang="zh-CN" sz="2000" dirty="0">
              <a:hlinkClick r:id="rId2"/>
            </a:endParaRPr>
          </a:p>
          <a:p>
            <a:pPr fontAlgn="auto">
              <a:lnSpc>
                <a:spcPct val="150000"/>
              </a:lnSpc>
            </a:pPr>
            <a:r>
              <a:rPr lang="en-US" altLang="zh-CN" sz="2000" dirty="0">
                <a:hlinkClick r:id="rId2"/>
              </a:rPr>
              <a:t>MNIST_AND_MLP2 | Kaggle</a:t>
            </a:r>
            <a:endParaRPr lang="en-US" altLang="zh-CN" sz="2000" dirty="0"/>
          </a:p>
          <a:p>
            <a:pPr fontAlgn="auto">
              <a:lnSpc>
                <a:spcPct val="150000"/>
              </a:lnSpc>
            </a:pPr>
            <a:r>
              <a:rPr lang="zh-CN" altLang="en-US" sz="2000" dirty="0">
                <a:solidFill>
                  <a:schemeClr val="tx2"/>
                </a:solidFill>
                <a:latin typeface="微软雅黑" panose="020B0503020204020204" pitchFamily="34" charset="-122"/>
                <a:ea typeface="微软雅黑" panose="020B0503020204020204" pitchFamily="34" charset="-122"/>
              </a:rPr>
              <a:t>这个 </a:t>
            </a:r>
            <a:r>
              <a:rPr lang="en-US" altLang="zh-CN" sz="2000" dirty="0">
                <a:solidFill>
                  <a:schemeClr val="tx2"/>
                </a:solidFill>
                <a:latin typeface="微软雅黑" panose="020B0503020204020204" pitchFamily="34" charset="-122"/>
                <a:ea typeface="微软雅黑" panose="020B0503020204020204" pitchFamily="34" charset="-122"/>
              </a:rPr>
              <a:t>competition </a:t>
            </a:r>
            <a:r>
              <a:rPr lang="zh-CN" altLang="en-US" sz="2000" dirty="0">
                <a:solidFill>
                  <a:schemeClr val="tx2"/>
                </a:solidFill>
                <a:latin typeface="微软雅黑" panose="020B0503020204020204" pitchFamily="34" charset="-122"/>
                <a:ea typeface="微软雅黑" panose="020B0503020204020204" pitchFamily="34" charset="-122"/>
              </a:rPr>
              <a:t>实现了：</a:t>
            </a:r>
            <a:endParaRPr lang="en-US" altLang="zh-CN" sz="2000" dirty="0">
              <a:solidFill>
                <a:schemeClr val="tx2"/>
              </a:solidFill>
              <a:latin typeface="微软雅黑" panose="020B0503020204020204" pitchFamily="34" charset="-122"/>
              <a:ea typeface="微软雅黑" panose="020B0503020204020204" pitchFamily="34" charset="-122"/>
            </a:endParaRPr>
          </a:p>
          <a:p>
            <a:pPr marL="342900" indent="-342900" fontAlgn="auto">
              <a:lnSpc>
                <a:spcPct val="150000"/>
              </a:lnSpc>
              <a:buFont typeface="Arial" panose="020B0604020202020204" pitchFamily="34" charset="0"/>
              <a:buChar char="•"/>
            </a:pPr>
            <a:r>
              <a:rPr lang="zh-CN" altLang="en-US" sz="2000" dirty="0">
                <a:solidFill>
                  <a:schemeClr val="tx2"/>
                </a:solidFill>
                <a:latin typeface="微软雅黑" panose="020B0503020204020204" pitchFamily="34" charset="-122"/>
                <a:ea typeface="微软雅黑" panose="020B0503020204020204" pitchFamily="34" charset="-122"/>
              </a:rPr>
              <a:t>读取加载 </a:t>
            </a:r>
            <a:r>
              <a:rPr lang="en-US" altLang="zh-CN" sz="2000" dirty="0">
                <a:solidFill>
                  <a:schemeClr val="tx2"/>
                </a:solidFill>
                <a:latin typeface="微软雅黑" panose="020B0503020204020204" pitchFamily="34" charset="-122"/>
                <a:ea typeface="微软雅黑" panose="020B0503020204020204" pitchFamily="34" charset="-122"/>
              </a:rPr>
              <a:t>MNIST </a:t>
            </a:r>
            <a:r>
              <a:rPr lang="zh-CN" altLang="en-US" sz="2000" dirty="0">
                <a:solidFill>
                  <a:schemeClr val="tx2"/>
                </a:solidFill>
                <a:latin typeface="微软雅黑" panose="020B0503020204020204" pitchFamily="34" charset="-122"/>
                <a:ea typeface="微软雅黑" panose="020B0503020204020204" pitchFamily="34" charset="-122"/>
              </a:rPr>
              <a:t>数据集</a:t>
            </a:r>
            <a:endParaRPr lang="en-US" altLang="zh-CN" sz="2000" dirty="0">
              <a:solidFill>
                <a:schemeClr val="tx2"/>
              </a:solidFill>
              <a:latin typeface="微软雅黑" panose="020B0503020204020204" pitchFamily="34" charset="-122"/>
              <a:ea typeface="微软雅黑" panose="020B0503020204020204" pitchFamily="34" charset="-122"/>
            </a:endParaRPr>
          </a:p>
          <a:p>
            <a:pPr marL="342900" indent="-342900" fontAlgn="auto">
              <a:lnSpc>
                <a:spcPct val="150000"/>
              </a:lnSpc>
              <a:buFont typeface="Arial" panose="020B0604020202020204" pitchFamily="34" charset="0"/>
              <a:buChar char="•"/>
            </a:pPr>
            <a:r>
              <a:rPr lang="zh-CN" altLang="en-US" sz="2000" dirty="0">
                <a:solidFill>
                  <a:schemeClr val="tx2"/>
                </a:solidFill>
                <a:latin typeface="微软雅黑" panose="020B0503020204020204" pitchFamily="34" charset="-122"/>
                <a:ea typeface="微软雅黑" panose="020B0503020204020204" pitchFamily="34" charset="-122"/>
              </a:rPr>
              <a:t>根据超参数</a:t>
            </a:r>
            <a:endParaRPr lang="en-US" altLang="zh-CN" sz="2000" dirty="0">
              <a:solidFill>
                <a:schemeClr val="tx2"/>
              </a:solidFill>
              <a:latin typeface="微软雅黑" panose="020B0503020204020204" pitchFamily="34" charset="-122"/>
              <a:ea typeface="微软雅黑" panose="020B0503020204020204" pitchFamily="34" charset="-122"/>
            </a:endParaRPr>
          </a:p>
          <a:p>
            <a:pPr fontAlgn="auto">
              <a:lnSpc>
                <a:spcPct val="150000"/>
              </a:lnSpc>
            </a:pPr>
            <a:r>
              <a:rPr lang="zh-CN" altLang="en-US" sz="2000" dirty="0">
                <a:solidFill>
                  <a:schemeClr val="tx2"/>
                </a:solidFill>
                <a:latin typeface="微软雅黑" panose="020B0503020204020204" pitchFamily="34" charset="-122"/>
                <a:ea typeface="微软雅黑" panose="020B0503020204020204" pitchFamily="34" charset="-122"/>
              </a:rPr>
              <a:t>其他两个 </a:t>
            </a:r>
            <a:r>
              <a:rPr lang="en-US" altLang="zh-CN" sz="2000" dirty="0">
                <a:solidFill>
                  <a:schemeClr val="tx2"/>
                </a:solidFill>
                <a:latin typeface="微软雅黑" panose="020B0503020204020204" pitchFamily="34" charset="-122"/>
                <a:ea typeface="微软雅黑" panose="020B0503020204020204" pitchFamily="34" charset="-122"/>
              </a:rPr>
              <a:t>competition </a:t>
            </a:r>
            <a:r>
              <a:rPr lang="zh-CN" altLang="en-US" sz="2000" dirty="0">
                <a:solidFill>
                  <a:schemeClr val="tx2"/>
                </a:solidFill>
                <a:latin typeface="微软雅黑" panose="020B0503020204020204" pitchFamily="34" charset="-122"/>
                <a:ea typeface="微软雅黑" panose="020B0503020204020204" pitchFamily="34" charset="-122"/>
              </a:rPr>
              <a:t>同理</a:t>
            </a:r>
            <a:endParaRPr lang="en-US" altLang="zh-CN" sz="2000" dirty="0">
              <a:solidFill>
                <a:schemeClr val="tx2"/>
              </a:solidFill>
              <a:latin typeface="微软雅黑" panose="020B0503020204020204" pitchFamily="34" charset="-122"/>
              <a:ea typeface="微软雅黑" panose="020B0503020204020204" pitchFamily="34" charset="-122"/>
            </a:endParaRPr>
          </a:p>
        </p:txBody>
      </p:sp>
      <p:pic>
        <p:nvPicPr>
          <p:cNvPr id="5" name="图片 4">
            <a:extLst>
              <a:ext uri="{FF2B5EF4-FFF2-40B4-BE49-F238E27FC236}">
                <a16:creationId xmlns:a16="http://schemas.microsoft.com/office/drawing/2014/main" id="{0EAA9300-109C-FDF2-3D59-07740A81B219}"/>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380999" y="1052544"/>
            <a:ext cx="8314956" cy="2043940"/>
          </a:xfrm>
          <a:prstGeom prst="rect">
            <a:avLst/>
          </a:prstGeom>
        </p:spPr>
      </p:pic>
    </p:spTree>
    <p:extLst>
      <p:ext uri="{BB962C8B-B14F-4D97-AF65-F5344CB8AC3E}">
        <p14:creationId xmlns:p14="http://schemas.microsoft.com/office/powerpoint/2010/main" val="44456083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A6532-8CF8-7CC8-893D-9054884D2D4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00B6109-743A-33C4-A287-7A1E05E72C7C}"/>
              </a:ext>
            </a:extLst>
          </p:cNvPr>
          <p:cNvSpPr>
            <a:spLocks noGrp="1"/>
          </p:cNvSpPr>
          <p:nvPr>
            <p:ph type="title"/>
          </p:nvPr>
        </p:nvSpPr>
        <p:spPr/>
        <p:txBody>
          <a:bodyPr/>
          <a:lstStyle/>
          <a:p>
            <a:pPr>
              <a:spcBef>
                <a:spcPts val="0"/>
              </a:spcBef>
              <a:buSzPct val="100000"/>
            </a:pPr>
            <a:r>
              <a:rPr lang="en-US" altLang="zh-CN" spc="60" dirty="0">
                <a:ln w="3175">
                  <a:noFill/>
                  <a:prstDash val="dash"/>
                </a:ln>
                <a:latin typeface="微软雅黑" panose="020B0503020204020204" charset="-122"/>
                <a:ea typeface="微软雅黑" panose="020B0503020204020204" charset="-122"/>
                <a:cs typeface="微软雅黑" panose="020B0503020204020204" charset="-122"/>
                <a:sym typeface="+mn-ea"/>
              </a:rPr>
              <a:t>Kaggle</a:t>
            </a:r>
            <a:r>
              <a:rPr lang="zh-CN" altLang="en-US" spc="60" dirty="0">
                <a:ln w="3175">
                  <a:noFill/>
                  <a:prstDash val="dash"/>
                </a:ln>
                <a:latin typeface="微软雅黑" panose="020B0503020204020204" charset="-122"/>
                <a:ea typeface="微软雅黑" panose="020B0503020204020204" charset="-122"/>
                <a:cs typeface="微软雅黑" panose="020B0503020204020204" charset="-122"/>
                <a:sym typeface="+mn-ea"/>
              </a:rPr>
              <a:t>跑实验说明</a:t>
            </a:r>
          </a:p>
        </p:txBody>
      </p:sp>
      <p:sp>
        <p:nvSpPr>
          <p:cNvPr id="9" name="文本框 8">
            <a:extLst>
              <a:ext uri="{FF2B5EF4-FFF2-40B4-BE49-F238E27FC236}">
                <a16:creationId xmlns:a16="http://schemas.microsoft.com/office/drawing/2014/main" id="{B765885D-9A66-8992-07F0-541DB8536947}"/>
              </a:ext>
            </a:extLst>
          </p:cNvPr>
          <p:cNvSpPr txBox="1"/>
          <p:nvPr/>
        </p:nvSpPr>
        <p:spPr>
          <a:xfrm>
            <a:off x="380999" y="1012121"/>
            <a:ext cx="11255830" cy="3269613"/>
          </a:xfrm>
          <a:prstGeom prst="rect">
            <a:avLst/>
          </a:prstGeom>
          <a:noFill/>
        </p:spPr>
        <p:txBody>
          <a:bodyPr wrap="square" rtlCol="0">
            <a:spAutoFit/>
          </a:bodyPr>
          <a:lstStyle/>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进入 </a:t>
            </a:r>
            <a:r>
              <a:rPr lang="en-US" altLang="zh-CN" sz="2000" dirty="0">
                <a:solidFill>
                  <a:schemeClr val="tx2"/>
                </a:solidFill>
                <a:latin typeface="微软雅黑" panose="020B0503020204020204" pitchFamily="34" charset="-122"/>
                <a:ea typeface="微软雅黑" panose="020B0503020204020204" pitchFamily="34" charset="-122"/>
              </a:rPr>
              <a:t>Code</a:t>
            </a:r>
            <a:r>
              <a:rPr lang="zh-CN" altLang="en-US" sz="2000" dirty="0">
                <a:solidFill>
                  <a:schemeClr val="tx2"/>
                </a:solidFill>
                <a:latin typeface="微软雅黑" panose="020B0503020204020204" pitchFamily="34" charset="-122"/>
                <a:ea typeface="微软雅黑" panose="020B0503020204020204" pitchFamily="34" charset="-122"/>
              </a:rPr>
              <a:t>，选择 </a:t>
            </a:r>
            <a:r>
              <a:rPr lang="en-US" altLang="zh-CN" sz="2000" dirty="0">
                <a:solidFill>
                  <a:schemeClr val="tx2"/>
                </a:solidFill>
                <a:latin typeface="微软雅黑" panose="020B0503020204020204" pitchFamily="34" charset="-122"/>
                <a:ea typeface="微软雅黑" panose="020B0503020204020204" pitchFamily="34" charset="-122"/>
              </a:rPr>
              <a:t>example by teacher </a:t>
            </a:r>
            <a:r>
              <a:rPr lang="zh-CN" altLang="en-US" sz="2000" dirty="0">
                <a:solidFill>
                  <a:schemeClr val="tx2"/>
                </a:solidFill>
                <a:latin typeface="微软雅黑" panose="020B0503020204020204" pitchFamily="34" charset="-122"/>
                <a:ea typeface="微软雅黑" panose="020B0503020204020204" pitchFamily="34" charset="-122"/>
              </a:rPr>
              <a:t>的 </a:t>
            </a:r>
            <a:r>
              <a:rPr lang="en-US" altLang="zh-CN" sz="2000" dirty="0">
                <a:solidFill>
                  <a:schemeClr val="tx2"/>
                </a:solidFill>
                <a:latin typeface="微软雅黑" panose="020B0503020204020204" pitchFamily="34" charset="-122"/>
                <a:ea typeface="微软雅黑" panose="020B0503020204020204" pitchFamily="34" charset="-122"/>
              </a:rPr>
              <a:t>notebook</a:t>
            </a:r>
          </a:p>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进入 </a:t>
            </a:r>
            <a:r>
              <a:rPr lang="en-US" altLang="zh-CN" sz="2000" dirty="0">
                <a:solidFill>
                  <a:schemeClr val="tx2"/>
                </a:solidFill>
                <a:latin typeface="微软雅黑" panose="020B0503020204020204" pitchFamily="34" charset="-122"/>
                <a:ea typeface="微软雅黑" panose="020B0503020204020204" pitchFamily="34" charset="-122"/>
              </a:rPr>
              <a:t>notebook </a:t>
            </a:r>
            <a:r>
              <a:rPr lang="zh-CN" altLang="en-US" sz="2000" dirty="0">
                <a:solidFill>
                  <a:schemeClr val="tx2"/>
                </a:solidFill>
                <a:latin typeface="微软雅黑" panose="020B0503020204020204" pitchFamily="34" charset="-122"/>
                <a:ea typeface="微软雅黑" panose="020B0503020204020204" pitchFamily="34" charset="-122"/>
              </a:rPr>
              <a:t>预览界面后，点击右上角三点展开，选择 </a:t>
            </a:r>
            <a:r>
              <a:rPr lang="en-US" altLang="zh-CN" sz="2000" dirty="0">
                <a:solidFill>
                  <a:schemeClr val="tx2"/>
                </a:solidFill>
                <a:latin typeface="微软雅黑" panose="020B0503020204020204" pitchFamily="34" charset="-122"/>
                <a:ea typeface="微软雅黑" panose="020B0503020204020204" pitchFamily="34" charset="-122"/>
              </a:rPr>
              <a:t>copy &amp; edit </a:t>
            </a:r>
            <a:r>
              <a:rPr lang="zh-CN" altLang="en-US" sz="2000" dirty="0">
                <a:solidFill>
                  <a:schemeClr val="tx2"/>
                </a:solidFill>
                <a:latin typeface="微软雅黑" panose="020B0503020204020204" pitchFamily="34" charset="-122"/>
                <a:ea typeface="微软雅黑" panose="020B0503020204020204" pitchFamily="34" charset="-122"/>
              </a:rPr>
              <a:t>将 </a:t>
            </a:r>
            <a:r>
              <a:rPr lang="en-US" altLang="zh-CN" sz="2000" dirty="0">
                <a:solidFill>
                  <a:schemeClr val="tx2"/>
                </a:solidFill>
                <a:latin typeface="微软雅黑" panose="020B0503020204020204" pitchFamily="34" charset="-122"/>
                <a:ea typeface="微软雅黑" panose="020B0503020204020204" pitchFamily="34" charset="-122"/>
              </a:rPr>
              <a:t>notebook </a:t>
            </a:r>
            <a:r>
              <a:rPr lang="zh-CN" altLang="en-US" sz="2000" dirty="0">
                <a:solidFill>
                  <a:schemeClr val="tx2"/>
                </a:solidFill>
                <a:latin typeface="微软雅黑" panose="020B0503020204020204" pitchFamily="34" charset="-122"/>
                <a:ea typeface="微软雅黑" panose="020B0503020204020204" pitchFamily="34" charset="-122"/>
              </a:rPr>
              <a:t>给自己复制一份再修改</a:t>
            </a:r>
            <a:endParaRPr lang="en-US" altLang="zh-CN" sz="2000" dirty="0">
              <a:solidFill>
                <a:schemeClr val="tx2"/>
              </a:solidFill>
              <a:latin typeface="微软雅黑" panose="020B0503020204020204" pitchFamily="34" charset="-122"/>
              <a:ea typeface="微软雅黑" panose="020B0503020204020204" pitchFamily="34" charset="-122"/>
            </a:endParaRPr>
          </a:p>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进入 </a:t>
            </a:r>
            <a:r>
              <a:rPr lang="en-US" altLang="zh-CN" sz="2000" dirty="0">
                <a:solidFill>
                  <a:schemeClr val="tx2"/>
                </a:solidFill>
                <a:latin typeface="微软雅黑" panose="020B0503020204020204" pitchFamily="34" charset="-122"/>
                <a:ea typeface="微软雅黑" panose="020B0503020204020204" pitchFamily="34" charset="-122"/>
              </a:rPr>
              <a:t>notebook </a:t>
            </a:r>
            <a:r>
              <a:rPr lang="zh-CN" altLang="en-US" sz="2000" dirty="0">
                <a:solidFill>
                  <a:schemeClr val="tx2"/>
                </a:solidFill>
                <a:latin typeface="微软雅黑" panose="020B0503020204020204" pitchFamily="34" charset="-122"/>
                <a:ea typeface="微软雅黑" panose="020B0503020204020204" pitchFamily="34" charset="-122"/>
              </a:rPr>
              <a:t>编辑界面后，修改 </a:t>
            </a:r>
            <a:r>
              <a:rPr lang="en-US" altLang="zh-CN" sz="2000" dirty="0">
                <a:solidFill>
                  <a:schemeClr val="tx2"/>
                </a:solidFill>
                <a:latin typeface="微软雅黑" panose="020B0503020204020204" pitchFamily="34" charset="-122"/>
                <a:ea typeface="微软雅黑" panose="020B0503020204020204" pitchFamily="34" charset="-122"/>
              </a:rPr>
              <a:t>notebook </a:t>
            </a:r>
            <a:r>
              <a:rPr lang="zh-CN" altLang="en-US" sz="2000" dirty="0">
                <a:solidFill>
                  <a:schemeClr val="tx2"/>
                </a:solidFill>
                <a:latin typeface="微软雅黑" panose="020B0503020204020204" pitchFamily="34" charset="-122"/>
                <a:ea typeface="微软雅黑" panose="020B0503020204020204" pitchFamily="34" charset="-122"/>
              </a:rPr>
              <a:t>题目，并找到代码中可以修改的超参数部分</a:t>
            </a:r>
            <a:endParaRPr lang="en-US" altLang="zh-CN" sz="2000" dirty="0">
              <a:solidFill>
                <a:schemeClr val="tx2"/>
              </a:solidFill>
              <a:latin typeface="微软雅黑" panose="020B0503020204020204" pitchFamily="34" charset="-122"/>
              <a:ea typeface="微软雅黑" panose="020B0503020204020204" pitchFamily="34" charset="-122"/>
            </a:endParaRPr>
          </a:p>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修改超参数，将 </a:t>
            </a:r>
            <a:r>
              <a:rPr lang="en-US" altLang="zh-CN" sz="2000" dirty="0">
                <a:solidFill>
                  <a:schemeClr val="tx2"/>
                </a:solidFill>
                <a:latin typeface="微软雅黑" panose="020B0503020204020204" pitchFamily="34" charset="-122"/>
                <a:ea typeface="微软雅黑" panose="020B0503020204020204" pitchFamily="34" charset="-122"/>
              </a:rPr>
              <a:t>setting </a:t>
            </a:r>
            <a:r>
              <a:rPr lang="zh-CN" altLang="en-US" sz="2000" dirty="0">
                <a:solidFill>
                  <a:schemeClr val="tx2"/>
                </a:solidFill>
                <a:latin typeface="微软雅黑" panose="020B0503020204020204" pitchFamily="34" charset="-122"/>
                <a:ea typeface="微软雅黑" panose="020B0503020204020204" pitchFamily="34" charset="-122"/>
              </a:rPr>
              <a:t>中设置为 </a:t>
            </a:r>
            <a:r>
              <a:rPr lang="en-US" altLang="zh-CN" sz="2000" dirty="0">
                <a:solidFill>
                  <a:schemeClr val="tx2"/>
                </a:solidFill>
                <a:latin typeface="微软雅黑" panose="020B0503020204020204" pitchFamily="34" charset="-122"/>
                <a:ea typeface="微软雅黑" panose="020B0503020204020204" pitchFamily="34" charset="-122"/>
              </a:rPr>
              <a:t>GPU P100 </a:t>
            </a:r>
            <a:r>
              <a:rPr lang="zh-CN" altLang="en-US" sz="2000" dirty="0">
                <a:solidFill>
                  <a:schemeClr val="tx2"/>
                </a:solidFill>
                <a:latin typeface="微软雅黑" panose="020B0503020204020204" pitchFamily="34" charset="-122"/>
                <a:ea typeface="微软雅黑" panose="020B0503020204020204" pitchFamily="34" charset="-122"/>
              </a:rPr>
              <a:t>后，选择 </a:t>
            </a:r>
            <a:r>
              <a:rPr lang="en-US" altLang="zh-CN" sz="2000" dirty="0">
                <a:solidFill>
                  <a:schemeClr val="tx2"/>
                </a:solidFill>
                <a:latin typeface="微软雅黑" panose="020B0503020204020204" pitchFamily="34" charset="-122"/>
                <a:ea typeface="微软雅黑" panose="020B0503020204020204" pitchFamily="34" charset="-122"/>
              </a:rPr>
              <a:t>run all               </a:t>
            </a:r>
            <a:r>
              <a:rPr lang="zh-CN" altLang="en-US" sz="2000" dirty="0">
                <a:solidFill>
                  <a:schemeClr val="tx2"/>
                </a:solidFill>
                <a:latin typeface="微软雅黑" panose="020B0503020204020204" pitchFamily="34" charset="-122"/>
                <a:ea typeface="微软雅黑" panose="020B0503020204020204" pitchFamily="34" charset="-122"/>
              </a:rPr>
              <a:t>运行所有的单元格</a:t>
            </a:r>
            <a:endParaRPr lang="en-US" altLang="zh-CN" sz="2000" dirty="0">
              <a:solidFill>
                <a:schemeClr val="tx2"/>
              </a:solidFill>
              <a:latin typeface="微软雅黑" panose="020B0503020204020204" pitchFamily="34" charset="-122"/>
              <a:ea typeface="微软雅黑" panose="020B0503020204020204" pitchFamily="34" charset="-122"/>
            </a:endParaRPr>
          </a:p>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运行完毕后生成测试准确率</a:t>
            </a:r>
            <a:endParaRPr lang="en-US" altLang="zh-CN" sz="2000" dirty="0">
              <a:solidFill>
                <a:schemeClr val="tx2"/>
              </a:solidFill>
              <a:latin typeface="微软雅黑" panose="020B0503020204020204" pitchFamily="34" charset="-122"/>
              <a:ea typeface="微软雅黑" panose="020B0503020204020204" pitchFamily="34" charset="-122"/>
            </a:endParaRPr>
          </a:p>
          <a:p>
            <a:pPr fontAlgn="auto">
              <a:lnSpc>
                <a:spcPct val="150000"/>
              </a:lnSpc>
            </a:pPr>
            <a:r>
              <a:rPr lang="zh-CN" altLang="en-US" sz="2000" dirty="0">
                <a:solidFill>
                  <a:schemeClr val="tx2"/>
                </a:solidFill>
                <a:latin typeface="微软雅黑" panose="020B0503020204020204" pitchFamily="34" charset="-122"/>
                <a:ea typeface="微软雅黑" panose="020B0503020204020204" pitchFamily="34" charset="-122"/>
              </a:rPr>
              <a:t>（以上过程并不会提交作业，可以查看作业的效果）</a:t>
            </a:r>
            <a:endParaRPr lang="en-US" altLang="zh-CN" sz="2000" dirty="0">
              <a:solidFill>
                <a:schemeClr val="tx2"/>
              </a:solidFill>
              <a:latin typeface="微软雅黑" panose="020B0503020204020204" pitchFamily="34" charset="-122"/>
              <a:ea typeface="微软雅黑" panose="020B0503020204020204" pitchFamily="34" charset="-122"/>
              <a:hlinkClick r:id="rId2">
                <a:extLst>
                  <a:ext uri="{A12FA001-AC4F-418D-AE19-62706E023703}">
                    <ahyp:hlinkClr xmlns:ahyp="http://schemas.microsoft.com/office/drawing/2018/hyperlinkcolor" val="tx"/>
                  </a:ext>
                </a:extLst>
              </a:hlinkClick>
            </a:endParaRPr>
          </a:p>
        </p:txBody>
      </p:sp>
      <p:pic>
        <p:nvPicPr>
          <p:cNvPr id="11" name="图片 10">
            <a:extLst>
              <a:ext uri="{FF2B5EF4-FFF2-40B4-BE49-F238E27FC236}">
                <a16:creationId xmlns:a16="http://schemas.microsoft.com/office/drawing/2014/main" id="{D172394F-30EB-9DE1-E94B-B30482243875}"/>
              </a:ext>
            </a:extLst>
          </p:cNvPr>
          <p:cNvPicPr>
            <a:picLocks noChangeAspect="1"/>
          </p:cNvPicPr>
          <p:nvPr/>
        </p:nvPicPr>
        <p:blipFill>
          <a:blip r:embed="rId3"/>
          <a:stretch>
            <a:fillRect/>
          </a:stretch>
        </p:blipFill>
        <p:spPr>
          <a:xfrm>
            <a:off x="7181440" y="3483019"/>
            <a:ext cx="4629318" cy="3356256"/>
          </a:xfrm>
          <a:prstGeom prst="rect">
            <a:avLst/>
          </a:prstGeom>
        </p:spPr>
      </p:pic>
      <p:sp>
        <p:nvSpPr>
          <p:cNvPr id="12" name="文本框 11">
            <a:extLst>
              <a:ext uri="{FF2B5EF4-FFF2-40B4-BE49-F238E27FC236}">
                <a16:creationId xmlns:a16="http://schemas.microsoft.com/office/drawing/2014/main" id="{389C1088-B965-2B56-FBBF-2CB3CA15173F}"/>
              </a:ext>
            </a:extLst>
          </p:cNvPr>
          <p:cNvSpPr txBox="1"/>
          <p:nvPr/>
        </p:nvSpPr>
        <p:spPr>
          <a:xfrm>
            <a:off x="8765810" y="3374981"/>
            <a:ext cx="312906" cy="400110"/>
          </a:xfrm>
          <a:prstGeom prst="rect">
            <a:avLst/>
          </a:prstGeom>
          <a:noFill/>
        </p:spPr>
        <p:txBody>
          <a:bodyPr wrap="none" rtlCol="0">
            <a:spAutoFit/>
          </a:bodyPr>
          <a:lstStyle/>
          <a:p>
            <a:pPr algn="l"/>
            <a:r>
              <a:rPr lang="en-US" altLang="zh-CN" sz="2000" dirty="0"/>
              <a:t>1</a:t>
            </a:r>
            <a:endParaRPr lang="zh-CN" altLang="en-US" sz="2000" dirty="0"/>
          </a:p>
        </p:txBody>
      </p:sp>
      <p:sp>
        <p:nvSpPr>
          <p:cNvPr id="13" name="文本框 12">
            <a:extLst>
              <a:ext uri="{FF2B5EF4-FFF2-40B4-BE49-F238E27FC236}">
                <a16:creationId xmlns:a16="http://schemas.microsoft.com/office/drawing/2014/main" id="{795E2901-FAB1-1D55-902E-9BE5DA227169}"/>
              </a:ext>
            </a:extLst>
          </p:cNvPr>
          <p:cNvSpPr txBox="1"/>
          <p:nvPr/>
        </p:nvSpPr>
        <p:spPr>
          <a:xfrm>
            <a:off x="9974421" y="5845879"/>
            <a:ext cx="312906" cy="400110"/>
          </a:xfrm>
          <a:prstGeom prst="rect">
            <a:avLst/>
          </a:prstGeom>
          <a:noFill/>
        </p:spPr>
        <p:txBody>
          <a:bodyPr wrap="none" rtlCol="0">
            <a:spAutoFit/>
          </a:bodyPr>
          <a:lstStyle/>
          <a:p>
            <a:pPr algn="l"/>
            <a:r>
              <a:rPr lang="en-US" altLang="zh-CN" sz="2000" dirty="0"/>
              <a:t>2</a:t>
            </a:r>
            <a:endParaRPr lang="zh-CN" altLang="en-US" sz="2000" dirty="0"/>
          </a:p>
        </p:txBody>
      </p:sp>
      <p:sp>
        <p:nvSpPr>
          <p:cNvPr id="14" name="文本框 13">
            <a:extLst>
              <a:ext uri="{FF2B5EF4-FFF2-40B4-BE49-F238E27FC236}">
                <a16:creationId xmlns:a16="http://schemas.microsoft.com/office/drawing/2014/main" id="{7010EF86-A2F7-DD2E-CB02-52416406B85D}"/>
              </a:ext>
            </a:extLst>
          </p:cNvPr>
          <p:cNvSpPr txBox="1"/>
          <p:nvPr/>
        </p:nvSpPr>
        <p:spPr>
          <a:xfrm>
            <a:off x="9908841" y="4453974"/>
            <a:ext cx="312906" cy="400110"/>
          </a:xfrm>
          <a:prstGeom prst="rect">
            <a:avLst/>
          </a:prstGeom>
          <a:noFill/>
        </p:spPr>
        <p:txBody>
          <a:bodyPr wrap="none" rtlCol="0">
            <a:spAutoFit/>
          </a:bodyPr>
          <a:lstStyle/>
          <a:p>
            <a:pPr algn="l"/>
            <a:r>
              <a:rPr lang="en-US" altLang="zh-CN" sz="2000" dirty="0"/>
              <a:t>3</a:t>
            </a:r>
            <a:endParaRPr lang="zh-CN" altLang="en-US" sz="2000" dirty="0"/>
          </a:p>
        </p:txBody>
      </p:sp>
      <p:pic>
        <p:nvPicPr>
          <p:cNvPr id="16" name="图片 15">
            <a:extLst>
              <a:ext uri="{FF2B5EF4-FFF2-40B4-BE49-F238E27FC236}">
                <a16:creationId xmlns:a16="http://schemas.microsoft.com/office/drawing/2014/main" id="{FDED9243-6F7B-8DE6-7A64-079BB3F3E75E}"/>
              </a:ext>
            </a:extLst>
          </p:cNvPr>
          <p:cNvPicPr>
            <a:picLocks noChangeAspect="1"/>
          </p:cNvPicPr>
          <p:nvPr/>
        </p:nvPicPr>
        <p:blipFill>
          <a:blip r:embed="rId4"/>
          <a:stretch>
            <a:fillRect/>
          </a:stretch>
        </p:blipFill>
        <p:spPr>
          <a:xfrm>
            <a:off x="8009538" y="2906867"/>
            <a:ext cx="1069178" cy="403912"/>
          </a:xfrm>
          <a:prstGeom prst="rect">
            <a:avLst/>
          </a:prstGeom>
        </p:spPr>
      </p:pic>
    </p:spTree>
    <p:extLst>
      <p:ext uri="{BB962C8B-B14F-4D97-AF65-F5344CB8AC3E}">
        <p14:creationId xmlns:p14="http://schemas.microsoft.com/office/powerpoint/2010/main" val="40911928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A6532-8CF8-7CC8-893D-9054884D2D4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00B6109-743A-33C4-A287-7A1E05E72C7C}"/>
              </a:ext>
            </a:extLst>
          </p:cNvPr>
          <p:cNvSpPr>
            <a:spLocks noGrp="1"/>
          </p:cNvSpPr>
          <p:nvPr>
            <p:ph type="title"/>
          </p:nvPr>
        </p:nvSpPr>
        <p:spPr/>
        <p:txBody>
          <a:bodyPr/>
          <a:lstStyle/>
          <a:p>
            <a:pPr>
              <a:spcBef>
                <a:spcPts val="0"/>
              </a:spcBef>
              <a:buSzPct val="100000"/>
            </a:pPr>
            <a:r>
              <a:rPr lang="en-US" altLang="zh-CN" spc="60" dirty="0">
                <a:ln w="3175">
                  <a:noFill/>
                  <a:prstDash val="dash"/>
                </a:ln>
                <a:latin typeface="微软雅黑" panose="020B0503020204020204" charset="-122"/>
                <a:ea typeface="微软雅黑" panose="020B0503020204020204" charset="-122"/>
                <a:cs typeface="微软雅黑" panose="020B0503020204020204" charset="-122"/>
                <a:sym typeface="+mn-ea"/>
              </a:rPr>
              <a:t>Kaggle</a:t>
            </a:r>
            <a:r>
              <a:rPr lang="zh-CN" altLang="en-US" spc="60" dirty="0">
                <a:ln w="3175">
                  <a:noFill/>
                  <a:prstDash val="dash"/>
                </a:ln>
                <a:latin typeface="微软雅黑" panose="020B0503020204020204" charset="-122"/>
                <a:ea typeface="微软雅黑" panose="020B0503020204020204" charset="-122"/>
                <a:cs typeface="微软雅黑" panose="020B0503020204020204" charset="-122"/>
                <a:sym typeface="+mn-ea"/>
              </a:rPr>
              <a:t>提交成绩</a:t>
            </a:r>
          </a:p>
        </p:txBody>
      </p:sp>
      <p:pic>
        <p:nvPicPr>
          <p:cNvPr id="4" name="图片 3">
            <a:extLst>
              <a:ext uri="{FF2B5EF4-FFF2-40B4-BE49-F238E27FC236}">
                <a16:creationId xmlns:a16="http://schemas.microsoft.com/office/drawing/2014/main" id="{0046EB0D-9B8F-1E78-F403-9F36179E8416}"/>
              </a:ext>
            </a:extLst>
          </p:cNvPr>
          <p:cNvPicPr>
            <a:picLocks noChangeAspect="1"/>
          </p:cNvPicPr>
          <p:nvPr/>
        </p:nvPicPr>
        <p:blipFill>
          <a:blip r:embed="rId2"/>
          <a:stretch>
            <a:fillRect/>
          </a:stretch>
        </p:blipFill>
        <p:spPr>
          <a:xfrm>
            <a:off x="2447865" y="1012121"/>
            <a:ext cx="2178749" cy="501911"/>
          </a:xfrm>
          <a:prstGeom prst="rect">
            <a:avLst/>
          </a:prstGeom>
        </p:spPr>
      </p:pic>
      <p:sp>
        <p:nvSpPr>
          <p:cNvPr id="5" name="文本框 4">
            <a:extLst>
              <a:ext uri="{FF2B5EF4-FFF2-40B4-BE49-F238E27FC236}">
                <a16:creationId xmlns:a16="http://schemas.microsoft.com/office/drawing/2014/main" id="{1B9ED0A3-A0B4-D262-5B96-D3CD81D9A35A}"/>
              </a:ext>
            </a:extLst>
          </p:cNvPr>
          <p:cNvSpPr txBox="1"/>
          <p:nvPr/>
        </p:nvSpPr>
        <p:spPr>
          <a:xfrm>
            <a:off x="380999" y="1012121"/>
            <a:ext cx="11255830" cy="2807948"/>
          </a:xfrm>
          <a:prstGeom prst="rect">
            <a:avLst/>
          </a:prstGeom>
          <a:noFill/>
        </p:spPr>
        <p:txBody>
          <a:bodyPr wrap="square" rtlCol="0">
            <a:spAutoFit/>
          </a:bodyPr>
          <a:lstStyle/>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选择右上角的                               在界面中点开 </a:t>
            </a:r>
            <a:r>
              <a:rPr lang="en-US" altLang="zh-CN" sz="2000" dirty="0">
                <a:solidFill>
                  <a:schemeClr val="tx2"/>
                </a:solidFill>
                <a:latin typeface="微软雅黑" panose="020B0503020204020204" pitchFamily="34" charset="-122"/>
                <a:ea typeface="微软雅黑" panose="020B0503020204020204" pitchFamily="34" charset="-122"/>
              </a:rPr>
              <a:t>Advanced Settings </a:t>
            </a:r>
            <a:r>
              <a:rPr lang="zh-CN" altLang="en-US" sz="2000" dirty="0">
                <a:solidFill>
                  <a:schemeClr val="tx2"/>
                </a:solidFill>
                <a:latin typeface="微软雅黑" panose="020B0503020204020204" pitchFamily="34" charset="-122"/>
                <a:ea typeface="微软雅黑" panose="020B0503020204020204" pitchFamily="34" charset="-122"/>
              </a:rPr>
              <a:t>并选择 </a:t>
            </a:r>
            <a:r>
              <a:rPr lang="en-US" altLang="zh-CN" sz="2000" dirty="0">
                <a:solidFill>
                  <a:schemeClr val="tx2"/>
                </a:solidFill>
                <a:latin typeface="微软雅黑" panose="020B0503020204020204" pitchFamily="34" charset="-122"/>
                <a:ea typeface="微软雅黑" panose="020B0503020204020204" pitchFamily="34" charset="-122"/>
              </a:rPr>
              <a:t>Run with GPU for all sessions</a:t>
            </a:r>
            <a:r>
              <a:rPr lang="zh-CN" altLang="en-US" sz="2000" dirty="0">
                <a:solidFill>
                  <a:schemeClr val="tx2"/>
                </a:solidFill>
                <a:latin typeface="微软雅黑" panose="020B0503020204020204" pitchFamily="34" charset="-122"/>
                <a:ea typeface="微软雅黑" panose="020B0503020204020204" pitchFamily="34" charset="-122"/>
              </a:rPr>
              <a:t> </a:t>
            </a:r>
            <a:endParaRPr lang="en-US" altLang="zh-CN" sz="2000" dirty="0">
              <a:solidFill>
                <a:schemeClr val="tx2"/>
              </a:solidFill>
              <a:latin typeface="微软雅黑" panose="020B0503020204020204" pitchFamily="34" charset="-122"/>
              <a:ea typeface="微软雅黑" panose="020B0503020204020204" pitchFamily="34" charset="-122"/>
            </a:endParaRPr>
          </a:p>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此时左下角出现了运行中的提示，运行结束后会出现 </a:t>
            </a:r>
            <a:r>
              <a:rPr lang="en-US" altLang="zh-CN" sz="2000" dirty="0">
                <a:solidFill>
                  <a:schemeClr val="tx2"/>
                </a:solidFill>
                <a:latin typeface="微软雅黑" panose="020B0503020204020204" pitchFamily="34" charset="-122"/>
                <a:ea typeface="微软雅黑" panose="020B0503020204020204" pitchFamily="34" charset="-122"/>
              </a:rPr>
              <a:t>successful </a:t>
            </a:r>
            <a:r>
              <a:rPr lang="zh-CN" altLang="en-US" sz="2000" dirty="0">
                <a:solidFill>
                  <a:schemeClr val="tx2"/>
                </a:solidFill>
                <a:latin typeface="微软雅黑" panose="020B0503020204020204" pitchFamily="34" charset="-122"/>
                <a:ea typeface="微软雅黑" panose="020B0503020204020204" pitchFamily="34" charset="-122"/>
              </a:rPr>
              <a:t>或者 </a:t>
            </a:r>
            <a:r>
              <a:rPr lang="en-US" altLang="zh-CN" sz="2000" dirty="0">
                <a:solidFill>
                  <a:schemeClr val="tx2"/>
                </a:solidFill>
                <a:latin typeface="微软雅黑" panose="020B0503020204020204" pitchFamily="34" charset="-122"/>
                <a:ea typeface="微软雅黑" panose="020B0503020204020204" pitchFamily="34" charset="-122"/>
              </a:rPr>
              <a:t>failed </a:t>
            </a:r>
            <a:r>
              <a:rPr lang="zh-CN" altLang="en-US" sz="2000" dirty="0">
                <a:solidFill>
                  <a:schemeClr val="tx2"/>
                </a:solidFill>
                <a:latin typeface="微软雅黑" panose="020B0503020204020204" pitchFamily="34" charset="-122"/>
                <a:ea typeface="微软雅黑" panose="020B0503020204020204" pitchFamily="34" charset="-122"/>
              </a:rPr>
              <a:t>字样</a:t>
            </a:r>
            <a:endParaRPr lang="en-US" altLang="zh-CN" sz="2000" dirty="0">
              <a:solidFill>
                <a:schemeClr val="tx2"/>
              </a:solidFill>
              <a:latin typeface="微软雅黑" panose="020B0503020204020204" pitchFamily="34" charset="-122"/>
              <a:ea typeface="微软雅黑" panose="020B0503020204020204" pitchFamily="34" charset="-122"/>
            </a:endParaRPr>
          </a:p>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点击运行结束的提示，进入 </a:t>
            </a:r>
            <a:r>
              <a:rPr lang="en-US" altLang="zh-CN" sz="2000" dirty="0">
                <a:solidFill>
                  <a:schemeClr val="tx2"/>
                </a:solidFill>
                <a:latin typeface="微软雅黑" panose="020B0503020204020204" pitchFamily="34" charset="-122"/>
                <a:ea typeface="微软雅黑" panose="020B0503020204020204" pitchFamily="34" charset="-122"/>
              </a:rPr>
              <a:t>notebook </a:t>
            </a:r>
            <a:r>
              <a:rPr lang="zh-CN" altLang="en-US" sz="2000" dirty="0">
                <a:solidFill>
                  <a:schemeClr val="tx2"/>
                </a:solidFill>
                <a:latin typeface="微软雅黑" panose="020B0503020204020204" pitchFamily="34" charset="-122"/>
                <a:ea typeface="微软雅黑" panose="020B0503020204020204" pitchFamily="34" charset="-122"/>
              </a:rPr>
              <a:t>预览界面</a:t>
            </a:r>
            <a:br>
              <a:rPr lang="en-US" altLang="zh-CN" sz="2000" dirty="0">
                <a:solidFill>
                  <a:schemeClr val="tx2"/>
                </a:solidFill>
                <a:latin typeface="微软雅黑" panose="020B0503020204020204" pitchFamily="34" charset="-122"/>
                <a:ea typeface="微软雅黑" panose="020B0503020204020204" pitchFamily="34" charset="-122"/>
              </a:rPr>
            </a:br>
            <a:r>
              <a:rPr lang="zh-CN" altLang="en-US" sz="2000" dirty="0">
                <a:solidFill>
                  <a:schemeClr val="tx2"/>
                </a:solidFill>
                <a:latin typeface="微软雅黑" panose="020B0503020204020204" pitchFamily="34" charset="-122"/>
                <a:ea typeface="微软雅黑" panose="020B0503020204020204" pitchFamily="34" charset="-122"/>
              </a:rPr>
              <a:t>点击右上角三个点，选择 </a:t>
            </a:r>
            <a:r>
              <a:rPr lang="en-US" altLang="zh-CN" sz="2000" dirty="0">
                <a:solidFill>
                  <a:schemeClr val="tx2"/>
                </a:solidFill>
                <a:latin typeface="微软雅黑" panose="020B0503020204020204" pitchFamily="34" charset="-122"/>
                <a:ea typeface="微软雅黑" panose="020B0503020204020204" pitchFamily="34" charset="-122"/>
              </a:rPr>
              <a:t>submit to competition</a:t>
            </a:r>
          </a:p>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点击 </a:t>
            </a:r>
            <a:r>
              <a:rPr lang="en-US" altLang="zh-CN" sz="2000" dirty="0">
                <a:solidFill>
                  <a:schemeClr val="tx2"/>
                </a:solidFill>
                <a:latin typeface="微软雅黑" panose="020B0503020204020204" pitchFamily="34" charset="-122"/>
                <a:ea typeface="微软雅黑" panose="020B0503020204020204" pitchFamily="34" charset="-122"/>
              </a:rPr>
              <a:t>submit </a:t>
            </a:r>
            <a:r>
              <a:rPr lang="zh-CN" altLang="en-US" sz="2000" dirty="0">
                <a:solidFill>
                  <a:schemeClr val="tx2"/>
                </a:solidFill>
                <a:latin typeface="微软雅黑" panose="020B0503020204020204" pitchFamily="34" charset="-122"/>
                <a:ea typeface="微软雅黑" panose="020B0503020204020204" pitchFamily="34" charset="-122"/>
              </a:rPr>
              <a:t>即可提交，作业会显示在 </a:t>
            </a:r>
            <a:r>
              <a:rPr lang="en-US" altLang="zh-CN" sz="2000" dirty="0">
                <a:solidFill>
                  <a:schemeClr val="tx2"/>
                </a:solidFill>
                <a:latin typeface="微软雅黑" panose="020B0503020204020204" pitchFamily="34" charset="-122"/>
                <a:ea typeface="微软雅黑" panose="020B0503020204020204" pitchFamily="34" charset="-122"/>
              </a:rPr>
              <a:t>“submission”</a:t>
            </a:r>
            <a:r>
              <a:rPr lang="zh-CN" altLang="en-US" sz="2000" dirty="0">
                <a:solidFill>
                  <a:schemeClr val="tx2"/>
                </a:solidFill>
                <a:latin typeface="微软雅黑" panose="020B0503020204020204" pitchFamily="34" charset="-122"/>
                <a:ea typeface="微软雅黑" panose="020B0503020204020204" pitchFamily="34" charset="-122"/>
              </a:rPr>
              <a:t>选项卡下</a:t>
            </a:r>
            <a:endParaRPr lang="en-US" altLang="zh-CN" sz="2000" dirty="0">
              <a:solidFill>
                <a:schemeClr val="tx2"/>
              </a:solidFill>
              <a:latin typeface="微软雅黑" panose="020B0503020204020204" pitchFamily="34" charset="-122"/>
              <a:ea typeface="微软雅黑" panose="020B0503020204020204" pitchFamily="34" charset="-122"/>
              <a:hlinkClick r:id="rId3">
                <a:extLst>
                  <a:ext uri="{A12FA001-AC4F-418D-AE19-62706E023703}">
                    <ahyp:hlinkClr xmlns:ahyp="http://schemas.microsoft.com/office/drawing/2018/hyperlinkcolor" val="tx"/>
                  </a:ext>
                </a:extLst>
              </a:hlinkClick>
            </a:endParaRPr>
          </a:p>
        </p:txBody>
      </p:sp>
      <p:pic>
        <p:nvPicPr>
          <p:cNvPr id="7" name="图片 6">
            <a:extLst>
              <a:ext uri="{FF2B5EF4-FFF2-40B4-BE49-F238E27FC236}">
                <a16:creationId xmlns:a16="http://schemas.microsoft.com/office/drawing/2014/main" id="{C548657C-DC52-D8EC-6E03-2200AE18F473}"/>
              </a:ext>
            </a:extLst>
          </p:cNvPr>
          <p:cNvPicPr>
            <a:picLocks noChangeAspect="1"/>
          </p:cNvPicPr>
          <p:nvPr/>
        </p:nvPicPr>
        <p:blipFill>
          <a:blip r:embed="rId4"/>
          <a:stretch>
            <a:fillRect/>
          </a:stretch>
        </p:blipFill>
        <p:spPr>
          <a:xfrm>
            <a:off x="7519662" y="2536161"/>
            <a:ext cx="4428119" cy="892839"/>
          </a:xfrm>
          <a:prstGeom prst="rect">
            <a:avLst/>
          </a:prstGeom>
        </p:spPr>
      </p:pic>
      <p:pic>
        <p:nvPicPr>
          <p:cNvPr id="11" name="图片 10">
            <a:extLst>
              <a:ext uri="{FF2B5EF4-FFF2-40B4-BE49-F238E27FC236}">
                <a16:creationId xmlns:a16="http://schemas.microsoft.com/office/drawing/2014/main" id="{3888214C-4A56-899D-8E10-D267C5705F57}"/>
              </a:ext>
            </a:extLst>
          </p:cNvPr>
          <p:cNvPicPr>
            <a:picLocks noChangeAspect="1"/>
          </p:cNvPicPr>
          <p:nvPr/>
        </p:nvPicPr>
        <p:blipFill>
          <a:blip r:embed="rId5"/>
          <a:stretch>
            <a:fillRect/>
          </a:stretch>
        </p:blipFill>
        <p:spPr>
          <a:xfrm>
            <a:off x="6383062" y="4073054"/>
            <a:ext cx="5427696" cy="1759971"/>
          </a:xfrm>
          <a:prstGeom prst="rect">
            <a:avLst/>
          </a:prstGeom>
        </p:spPr>
      </p:pic>
    </p:spTree>
    <p:extLst>
      <p:ext uri="{BB962C8B-B14F-4D97-AF65-F5344CB8AC3E}">
        <p14:creationId xmlns:p14="http://schemas.microsoft.com/office/powerpoint/2010/main" val="10982976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zh-CN" altLang="en-US" dirty="0">
                <a:latin typeface="微软雅黑" panose="020B0503020204020204" pitchFamily="34" charset="-122"/>
                <a:ea typeface="微软雅黑" panose="020B0503020204020204" pitchFamily="34" charset="-122"/>
              </a:rPr>
              <a:t>习题</a:t>
            </a:r>
            <a:endParaRPr lang="zh-CN" altLang="en-US" dirty="0"/>
          </a:p>
        </p:txBody>
      </p:sp>
      <p:sp>
        <p:nvSpPr>
          <p:cNvPr id="6" name="文本框 5">
            <a:extLst>
              <a:ext uri="{FF2B5EF4-FFF2-40B4-BE49-F238E27FC236}">
                <a16:creationId xmlns:a16="http://schemas.microsoft.com/office/drawing/2014/main" id="{A24480AD-8A3A-408E-B28E-B717A0983F40}"/>
              </a:ext>
            </a:extLst>
          </p:cNvPr>
          <p:cNvSpPr txBox="1"/>
          <p:nvPr/>
        </p:nvSpPr>
        <p:spPr>
          <a:xfrm>
            <a:off x="101059" y="6351998"/>
            <a:ext cx="9639572" cy="377283"/>
          </a:xfrm>
          <a:prstGeom prst="rect">
            <a:avLst/>
          </a:prstGeom>
          <a:noFill/>
        </p:spPr>
        <p:txBody>
          <a:bodyPr wrap="square" rtlCol="0">
            <a:spAutoFit/>
          </a:bodyPr>
          <a:lstStyle/>
          <a:p>
            <a:pPr>
              <a:lnSpc>
                <a:spcPct val="150000"/>
              </a:lnSpc>
            </a:pPr>
            <a:r>
              <a:rPr lang="en-US" altLang="zh-CN" sz="1400" dirty="0">
                <a:solidFill>
                  <a:schemeClr val="bg1"/>
                </a:solidFill>
                <a:latin typeface="微软雅黑" panose="020B0503020204020204" pitchFamily="34" charset="-122"/>
                <a:ea typeface="微软雅黑" panose="020B0503020204020204" pitchFamily="34" charset="-122"/>
                <a:cs typeface="Times New Roman" panose="02020603050405020304" pitchFamily="18" charset="0"/>
              </a:rPr>
              <a:t>[1]</a:t>
            </a:r>
            <a:r>
              <a:rPr lang="zh-CN" altLang="en-US" sz="1400" b="0" i="0" dirty="0">
                <a:solidFill>
                  <a:schemeClr val="bg1"/>
                </a:solidFill>
                <a:effectLst/>
                <a:latin typeface="微软雅黑" panose="020B0503020204020204" pitchFamily="34" charset="-122"/>
                <a:ea typeface="微软雅黑" panose="020B0503020204020204" pitchFamily="34" charset="-122"/>
                <a:cs typeface="Times New Roman" panose="02020603050405020304" pitchFamily="18" charset="0"/>
              </a:rPr>
              <a:t> </a:t>
            </a:r>
            <a:r>
              <a:rPr lang="en-US" altLang="zh-CN" sz="1400" b="0" i="0" dirty="0">
                <a:solidFill>
                  <a:schemeClr val="bg1"/>
                </a:solidFill>
                <a:effectLst/>
                <a:latin typeface="微软雅黑" panose="020B0503020204020204" pitchFamily="34" charset="-122"/>
                <a:ea typeface="微软雅黑" panose="020B0503020204020204" pitchFamily="34" charset="-122"/>
                <a:cs typeface="Times New Roman" panose="02020603050405020304" pitchFamily="18" charset="0"/>
              </a:rPr>
              <a:t>《</a:t>
            </a:r>
            <a:r>
              <a:rPr lang="zh-CN" altLang="en-US" sz="1400" b="0" i="0" dirty="0">
                <a:solidFill>
                  <a:schemeClr val="bg1"/>
                </a:solidFill>
                <a:effectLst/>
                <a:latin typeface="微软雅黑" panose="020B0503020204020204" pitchFamily="34" charset="-122"/>
                <a:ea typeface="微软雅黑" panose="020B0503020204020204" pitchFamily="34" charset="-122"/>
                <a:cs typeface="Times New Roman" panose="02020603050405020304" pitchFamily="18" charset="0"/>
              </a:rPr>
              <a:t>深度学习现象导论</a:t>
            </a:r>
            <a:r>
              <a:rPr lang="en-US" altLang="zh-CN" sz="1400" b="0" i="0" dirty="0">
                <a:solidFill>
                  <a:schemeClr val="bg1"/>
                </a:solidFill>
                <a:effectLst/>
                <a:latin typeface="微软雅黑" panose="020B0503020204020204" pitchFamily="34" charset="-122"/>
                <a:ea typeface="微软雅黑" panose="020B0503020204020204" pitchFamily="34" charset="-122"/>
                <a:cs typeface="Times New Roman" panose="02020603050405020304" pitchFamily="18" charset="0"/>
              </a:rPr>
              <a:t>》 </a:t>
            </a:r>
            <a:r>
              <a:rPr lang="zh-CN" altLang="en-US" sz="1400" b="0" i="0" dirty="0">
                <a:solidFill>
                  <a:schemeClr val="bg1"/>
                </a:solidFill>
                <a:effectLst/>
                <a:latin typeface="微软雅黑" panose="020B0503020204020204" pitchFamily="34" charset="-122"/>
                <a:ea typeface="微软雅黑" panose="020B0503020204020204" pitchFamily="34" charset="-122"/>
                <a:cs typeface="Times New Roman" panose="02020603050405020304" pitchFamily="18" charset="0"/>
              </a:rPr>
              <a:t>许志钦、张耀宇 </a:t>
            </a:r>
            <a:r>
              <a:rPr lang="en-US" altLang="zh-CN" sz="1400" dirty="0">
                <a:solidFill>
                  <a:schemeClr val="bg1"/>
                </a:solidFill>
                <a:latin typeface="Times New Roman" panose="02020603050405020304" pitchFamily="18" charset="0"/>
                <a:cs typeface="Times New Roman" panose="02020603050405020304" pitchFamily="18" charset="0"/>
              </a:rPr>
              <a:t>https://github.com/xuzhiqin1990/understanding_dl</a:t>
            </a:r>
            <a:endParaRPr lang="en-US" altLang="zh-CN" sz="2800" dirty="0">
              <a:solidFill>
                <a:schemeClr val="bg1"/>
              </a:solidFill>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7" name="内容占位符 2">
            <a:extLst>
              <a:ext uri="{FF2B5EF4-FFF2-40B4-BE49-F238E27FC236}">
                <a16:creationId xmlns:a16="http://schemas.microsoft.com/office/drawing/2014/main" id="{E36B3902-E8EB-48FE-B688-8C1DB0558A76}"/>
              </a:ext>
            </a:extLst>
          </p:cNvPr>
          <p:cNvSpPr>
            <a:spLocks noGrp="1"/>
          </p:cNvSpPr>
          <p:nvPr>
            <p:ph idx="1"/>
          </p:nvPr>
        </p:nvSpPr>
        <p:spPr>
          <a:xfrm>
            <a:off x="381242" y="981154"/>
            <a:ext cx="11429516" cy="5333856"/>
          </a:xfrm>
        </p:spPr>
        <p:txBody>
          <a:bodyPr>
            <a:normAutofit/>
          </a:bodyPr>
          <a:lstStyle/>
          <a:p>
            <a:pPr marL="342900" indent="-342900">
              <a:buFont typeface="+mj-lt"/>
              <a:buAutoNum type="arabicPeriod"/>
            </a:pPr>
            <a:r>
              <a:rPr kumimoji="1" lang="zh-CN" altLang="en-US" b="0" dirty="0"/>
              <a:t>残差网络中的跳跃连接（</a:t>
            </a:r>
            <a:r>
              <a:rPr kumimoji="1" lang="en-US" altLang="zh-CN" b="0" dirty="0"/>
              <a:t>Skip Connection</a:t>
            </a:r>
            <a:r>
              <a:rPr kumimoji="1" lang="zh-CN" altLang="en-US" b="0" dirty="0"/>
              <a:t>）对缓解梯度消失问题有重要作用。请推导残差网络中梯度反向传播的公式，并说明该公式如何体现出残差连接有助于梯度传播。</a:t>
            </a:r>
          </a:p>
        </p:txBody>
      </p:sp>
    </p:spTree>
    <p:extLst>
      <p:ext uri="{BB962C8B-B14F-4D97-AF65-F5344CB8AC3E}">
        <p14:creationId xmlns:p14="http://schemas.microsoft.com/office/powerpoint/2010/main" val="319206462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zh-CN" altLang="en-US" dirty="0">
                <a:latin typeface="微软雅黑" panose="020B0503020204020204" pitchFamily="34" charset="-122"/>
                <a:ea typeface="微软雅黑" panose="020B0503020204020204" pitchFamily="34" charset="-122"/>
              </a:rPr>
              <a:t>参考答案</a:t>
            </a:r>
            <a:endParaRPr lang="zh-CN" altLang="en-US" dirty="0"/>
          </a:p>
        </p:txBody>
      </p:sp>
      <mc:AlternateContent xmlns:mc="http://schemas.openxmlformats.org/markup-compatibility/2006" xmlns:a14="http://schemas.microsoft.com/office/drawing/2010/main">
        <mc:Choice Requires="a14">
          <p:sp>
            <p:nvSpPr>
              <p:cNvPr id="7" name="内容占位符 2">
                <a:extLst>
                  <a:ext uri="{FF2B5EF4-FFF2-40B4-BE49-F238E27FC236}">
                    <a16:creationId xmlns:a16="http://schemas.microsoft.com/office/drawing/2014/main" id="{E36B3902-E8EB-48FE-B688-8C1DB0558A76}"/>
                  </a:ext>
                </a:extLst>
              </p:cNvPr>
              <p:cNvSpPr>
                <a:spLocks noGrp="1"/>
              </p:cNvSpPr>
              <p:nvPr>
                <p:ph idx="1"/>
              </p:nvPr>
            </p:nvSpPr>
            <p:spPr>
              <a:xfrm>
                <a:off x="210941" y="839894"/>
                <a:ext cx="12074918" cy="5333856"/>
              </a:xfrm>
            </p:spPr>
            <p:txBody>
              <a:bodyPr>
                <a:noAutofit/>
              </a:bodyPr>
              <a:lstStyle/>
              <a:p>
                <a:r>
                  <a:rPr kumimoji="1" lang="zh-CN" altLang="en-US" sz="2000" b="0" dirty="0"/>
                  <a:t>假设网络有</a:t>
                </a:r>
                <a14:m>
                  <m:oMath xmlns:m="http://schemas.openxmlformats.org/officeDocument/2006/math">
                    <m:r>
                      <a:rPr kumimoji="1" lang="en-US" altLang="zh-CN" sz="2000" b="0" i="1" smtClean="0">
                        <a:latin typeface="Cambria Math" panose="02040503050406030204" pitchFamily="18" charset="0"/>
                      </a:rPr>
                      <m:t>𝐾</m:t>
                    </m:r>
                  </m:oMath>
                </a14:m>
                <a:r>
                  <a:rPr kumimoji="1" lang="zh-CN" altLang="en-US" sz="2000" b="0" dirty="0"/>
                  <a:t>层，每一层都具有残差连接，即</a:t>
                </a:r>
                <a:endParaRPr kumimoji="1" lang="en-US" altLang="zh-CN" sz="2000" b="0" i="1" dirty="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sSup>
                        <m:sSupPr>
                          <m:ctrlPr>
                            <a:rPr kumimoji="1" lang="en-US" altLang="zh-CN" sz="2000" b="0" i="1">
                              <a:latin typeface="Cambria Math" panose="02040503050406030204" pitchFamily="18" charset="0"/>
                            </a:rPr>
                          </m:ctrlPr>
                        </m:sSupPr>
                        <m:e>
                          <m:r>
                            <a:rPr kumimoji="1" lang="en-US" altLang="zh-CN" sz="2000" b="0" i="1">
                              <a:latin typeface="Cambria Math" panose="02040503050406030204" pitchFamily="18" charset="0"/>
                            </a:rPr>
                            <m:t>𝑋</m:t>
                          </m:r>
                        </m:e>
                        <m:sup>
                          <m:r>
                            <a:rPr kumimoji="1" lang="en-US" altLang="zh-CN" sz="2000" b="0" i="1">
                              <a:latin typeface="Cambria Math" panose="02040503050406030204" pitchFamily="18" charset="0"/>
                            </a:rPr>
                            <m:t>(</m:t>
                          </m:r>
                          <m:r>
                            <a:rPr kumimoji="1" lang="en-US" altLang="zh-CN" sz="2000" b="0" i="1" smtClean="0">
                              <a:latin typeface="Cambria Math" panose="02040503050406030204" pitchFamily="18" charset="0"/>
                            </a:rPr>
                            <m:t>𝑘</m:t>
                          </m:r>
                          <m:r>
                            <a:rPr kumimoji="1" lang="en-US" altLang="zh-CN" sz="2000" b="0" i="1">
                              <a:latin typeface="Cambria Math" panose="02040503050406030204" pitchFamily="18" charset="0"/>
                            </a:rPr>
                            <m:t>+1)</m:t>
                          </m:r>
                        </m:sup>
                      </m:sSup>
                      <m:r>
                        <a:rPr kumimoji="1" lang="en-US" altLang="zh-CN" sz="2000" b="0" i="1" smtClean="0">
                          <a:latin typeface="Cambria Math" panose="02040503050406030204" pitchFamily="18" charset="0"/>
                        </a:rPr>
                        <m:t>=</m:t>
                      </m:r>
                      <m:r>
                        <a:rPr kumimoji="1" lang="en-US" altLang="zh-CN" sz="2000" b="0" i="1" smtClean="0">
                          <a:latin typeface="Cambria Math" panose="02040503050406030204" pitchFamily="18" charset="0"/>
                        </a:rPr>
                        <m:t>𝐹</m:t>
                      </m:r>
                      <m:d>
                        <m:dPr>
                          <m:ctrlPr>
                            <a:rPr kumimoji="1" lang="en-US" altLang="zh-CN" sz="2000" b="0" i="1" smtClean="0">
                              <a:latin typeface="Cambria Math" panose="02040503050406030204" pitchFamily="18" charset="0"/>
                            </a:rPr>
                          </m:ctrlPr>
                        </m:dPr>
                        <m:e>
                          <m:sSup>
                            <m:sSupPr>
                              <m:ctrlPr>
                                <a:rPr kumimoji="1" lang="en-US" altLang="zh-CN" sz="2000" b="0" i="1">
                                  <a:latin typeface="Cambria Math" panose="02040503050406030204" pitchFamily="18" charset="0"/>
                                </a:rPr>
                              </m:ctrlPr>
                            </m:sSupPr>
                            <m:e>
                              <m:r>
                                <a:rPr kumimoji="1" lang="en-US" altLang="zh-CN" sz="2000" b="0" i="1">
                                  <a:latin typeface="Cambria Math" panose="02040503050406030204" pitchFamily="18" charset="0"/>
                                </a:rPr>
                                <m:t>𝑋</m:t>
                              </m:r>
                            </m:e>
                            <m:sup>
                              <m:d>
                                <m:dPr>
                                  <m:ctrlPr>
                                    <a:rPr kumimoji="1" lang="en-US" altLang="zh-CN" sz="2000" b="0" i="1">
                                      <a:latin typeface="Cambria Math" panose="02040503050406030204" pitchFamily="18" charset="0"/>
                                    </a:rPr>
                                  </m:ctrlPr>
                                </m:dPr>
                                <m:e>
                                  <m:r>
                                    <a:rPr kumimoji="1" lang="en-US" altLang="zh-CN" sz="2000" b="0" i="1" smtClean="0">
                                      <a:latin typeface="Cambria Math" panose="02040503050406030204" pitchFamily="18" charset="0"/>
                                    </a:rPr>
                                    <m:t>𝑘</m:t>
                                  </m:r>
                                </m:e>
                              </m:d>
                            </m:sup>
                          </m:sSup>
                        </m:e>
                      </m:d>
                      <m:r>
                        <a:rPr kumimoji="1" lang="en-US" altLang="zh-CN" sz="2000" b="0" i="1" smtClean="0">
                          <a:latin typeface="Cambria Math" panose="02040503050406030204" pitchFamily="18" charset="0"/>
                        </a:rPr>
                        <m:t>+</m:t>
                      </m:r>
                      <m:sSup>
                        <m:sSupPr>
                          <m:ctrlPr>
                            <a:rPr kumimoji="1" lang="en-US" altLang="zh-CN" sz="2000" b="0" i="1">
                              <a:latin typeface="Cambria Math" panose="02040503050406030204" pitchFamily="18" charset="0"/>
                            </a:rPr>
                          </m:ctrlPr>
                        </m:sSupPr>
                        <m:e>
                          <m:r>
                            <a:rPr kumimoji="1" lang="en-US" altLang="zh-CN" sz="2000" b="0" i="1">
                              <a:latin typeface="Cambria Math" panose="02040503050406030204" pitchFamily="18" charset="0"/>
                            </a:rPr>
                            <m:t>𝑋</m:t>
                          </m:r>
                        </m:e>
                        <m:sup>
                          <m:r>
                            <a:rPr kumimoji="1" lang="en-US" altLang="zh-CN" sz="2000" b="0" i="1">
                              <a:latin typeface="Cambria Math" panose="02040503050406030204" pitchFamily="18" charset="0"/>
                            </a:rPr>
                            <m:t>(</m:t>
                          </m:r>
                          <m:r>
                            <a:rPr kumimoji="1" lang="en-US" altLang="zh-CN" sz="2000" b="0" i="1" smtClean="0">
                              <a:latin typeface="Cambria Math" panose="02040503050406030204" pitchFamily="18" charset="0"/>
                            </a:rPr>
                            <m:t>𝑘</m:t>
                          </m:r>
                          <m:r>
                            <a:rPr kumimoji="1" lang="en-US" altLang="zh-CN" sz="2000" b="0" i="1">
                              <a:latin typeface="Cambria Math" panose="02040503050406030204" pitchFamily="18" charset="0"/>
                            </a:rPr>
                            <m:t>)</m:t>
                          </m:r>
                        </m:sup>
                      </m:sSup>
                    </m:oMath>
                  </m:oMathPara>
                </a14:m>
                <a:endParaRPr kumimoji="1" lang="en-US" altLang="zh-CN" sz="2000" b="0" dirty="0"/>
              </a:p>
              <a:p>
                <a:r>
                  <a:rPr kumimoji="1" lang="zh-CN" altLang="en-US" sz="2000" b="0" dirty="0"/>
                  <a:t>对损失函数</a:t>
                </a:r>
                <a14:m>
                  <m:oMath xmlns:m="http://schemas.openxmlformats.org/officeDocument/2006/math">
                    <m:r>
                      <a:rPr kumimoji="1" lang="en-US" altLang="zh-CN" sz="2000" b="0" i="1" smtClean="0">
                        <a:latin typeface="Cambria Math" panose="02040503050406030204" pitchFamily="18" charset="0"/>
                      </a:rPr>
                      <m:t>𝐿</m:t>
                    </m:r>
                  </m:oMath>
                </a14:m>
                <a:r>
                  <a:rPr kumimoji="1" lang="zh-CN" altLang="en-US" sz="2000" b="0" dirty="0"/>
                  <a:t>反向传播：</a:t>
                </a:r>
                <a:endParaRPr kumimoji="1" lang="en-US" altLang="zh-CN" sz="2000" b="0" dirty="0"/>
              </a:p>
              <a:p>
                <a:pPr algn="ctr"/>
                <a14:m>
                  <m:oMathPara xmlns:m="http://schemas.openxmlformats.org/officeDocument/2006/math">
                    <m:oMathParaPr>
                      <m:jc m:val="center"/>
                    </m:oMathParaPr>
                    <m:oMath xmlns:m="http://schemas.openxmlformats.org/officeDocument/2006/math">
                      <m:f>
                        <m:fPr>
                          <m:ctrlPr>
                            <a:rPr kumimoji="1" lang="en-US" altLang="zh-CN" sz="2000" b="0" i="1" smtClean="0">
                              <a:latin typeface="Cambria Math" panose="02040503050406030204" pitchFamily="18" charset="0"/>
                            </a:rPr>
                          </m:ctrlPr>
                        </m:fPr>
                        <m:num>
                          <m:r>
                            <a:rPr kumimoji="1" lang="zh-CN" altLang="en-US" sz="2000" b="0" i="1" smtClean="0">
                              <a:latin typeface="Cambria Math" panose="02040503050406030204" pitchFamily="18" charset="0"/>
                            </a:rPr>
                            <m:t>𝜕</m:t>
                          </m:r>
                          <m:r>
                            <a:rPr kumimoji="1" lang="en-US" altLang="zh-CN" sz="2000" b="0" i="1" smtClean="0">
                              <a:latin typeface="Cambria Math" panose="02040503050406030204" pitchFamily="18" charset="0"/>
                            </a:rPr>
                            <m:t>𝐿</m:t>
                          </m:r>
                        </m:num>
                        <m:den>
                          <m:r>
                            <a:rPr kumimoji="1" lang="zh-CN" altLang="en-US" sz="2000" b="0" i="1" smtClean="0">
                              <a:latin typeface="Cambria Math" panose="02040503050406030204" pitchFamily="18" charset="0"/>
                            </a:rPr>
                            <m:t>𝜕</m:t>
                          </m:r>
                          <m:sSup>
                            <m:sSupPr>
                              <m:ctrlPr>
                                <a:rPr kumimoji="1" lang="en-US" altLang="zh-CN" sz="2000" b="0" i="1">
                                  <a:latin typeface="Cambria Math" panose="02040503050406030204" pitchFamily="18" charset="0"/>
                                </a:rPr>
                              </m:ctrlPr>
                            </m:sSupPr>
                            <m:e>
                              <m:r>
                                <a:rPr kumimoji="1" lang="en-US" altLang="zh-CN" sz="2000" b="0" i="1">
                                  <a:latin typeface="Cambria Math" panose="02040503050406030204" pitchFamily="18" charset="0"/>
                                </a:rPr>
                                <m:t>𝑋</m:t>
                              </m:r>
                            </m:e>
                            <m:sup>
                              <m:r>
                                <a:rPr kumimoji="1" lang="en-US" altLang="zh-CN" sz="2000" b="0" i="1">
                                  <a:latin typeface="Cambria Math" panose="02040503050406030204" pitchFamily="18" charset="0"/>
                                </a:rPr>
                                <m:t>(</m:t>
                              </m:r>
                              <m:r>
                                <a:rPr kumimoji="1" lang="en-US" altLang="zh-CN" sz="2000" b="0" i="1">
                                  <a:latin typeface="Cambria Math" panose="02040503050406030204" pitchFamily="18" charset="0"/>
                                </a:rPr>
                                <m:t>𝑘</m:t>
                              </m:r>
                              <m:r>
                                <a:rPr kumimoji="1" lang="en-US" altLang="zh-CN" sz="2000" b="0" i="1">
                                  <a:latin typeface="Cambria Math" panose="02040503050406030204" pitchFamily="18" charset="0"/>
                                </a:rPr>
                                <m:t>)</m:t>
                              </m:r>
                            </m:sup>
                          </m:sSup>
                        </m:den>
                      </m:f>
                      <m:r>
                        <a:rPr kumimoji="1" lang="en-US" altLang="zh-CN" sz="2000" b="0" i="1">
                          <a:latin typeface="Cambria Math" panose="02040503050406030204" pitchFamily="18" charset="0"/>
                        </a:rPr>
                        <m:t>=</m:t>
                      </m:r>
                      <m:f>
                        <m:fPr>
                          <m:ctrlPr>
                            <a:rPr kumimoji="1" lang="en-US" altLang="zh-CN" sz="2000" b="0" i="1">
                              <a:latin typeface="Cambria Math" panose="02040503050406030204" pitchFamily="18" charset="0"/>
                            </a:rPr>
                          </m:ctrlPr>
                        </m:fPr>
                        <m:num>
                          <m:r>
                            <a:rPr kumimoji="1" lang="zh-CN" altLang="en-US" sz="2000" b="0" i="1">
                              <a:latin typeface="Cambria Math" panose="02040503050406030204" pitchFamily="18" charset="0"/>
                            </a:rPr>
                            <m:t>𝜕</m:t>
                          </m:r>
                          <m:r>
                            <a:rPr kumimoji="1" lang="en-US" altLang="zh-CN" sz="2000" b="0" i="1">
                              <a:latin typeface="Cambria Math" panose="02040503050406030204" pitchFamily="18" charset="0"/>
                            </a:rPr>
                            <m:t>𝐿</m:t>
                          </m:r>
                        </m:num>
                        <m:den>
                          <m:r>
                            <a:rPr kumimoji="1" lang="zh-CN" altLang="en-US" sz="2000" b="0" i="1">
                              <a:latin typeface="Cambria Math" panose="02040503050406030204" pitchFamily="18" charset="0"/>
                            </a:rPr>
                            <m:t>𝜕</m:t>
                          </m:r>
                          <m:sSup>
                            <m:sSupPr>
                              <m:ctrlPr>
                                <a:rPr kumimoji="1" lang="en-US" altLang="zh-CN" sz="2000" b="0" i="1">
                                  <a:latin typeface="Cambria Math" panose="02040503050406030204" pitchFamily="18" charset="0"/>
                                </a:rPr>
                              </m:ctrlPr>
                            </m:sSupPr>
                            <m:e>
                              <m:r>
                                <a:rPr kumimoji="1" lang="en-US" altLang="zh-CN" sz="2000" b="0" i="1">
                                  <a:latin typeface="Cambria Math" panose="02040503050406030204" pitchFamily="18" charset="0"/>
                                </a:rPr>
                                <m:t>𝑋</m:t>
                              </m:r>
                            </m:e>
                            <m:sup>
                              <m:r>
                                <a:rPr kumimoji="1" lang="en-US" altLang="zh-CN" sz="2000" b="0" i="1">
                                  <a:latin typeface="Cambria Math" panose="02040503050406030204" pitchFamily="18" charset="0"/>
                                </a:rPr>
                                <m:t>(</m:t>
                              </m:r>
                              <m:r>
                                <a:rPr kumimoji="1" lang="en-US" altLang="zh-CN" sz="2000" b="0" i="1">
                                  <a:latin typeface="Cambria Math" panose="02040503050406030204" pitchFamily="18" charset="0"/>
                                </a:rPr>
                                <m:t>𝑘</m:t>
                              </m:r>
                              <m:r>
                                <a:rPr kumimoji="1" lang="en-US" altLang="zh-CN" sz="2000" b="0" i="1">
                                  <a:latin typeface="Cambria Math" panose="02040503050406030204" pitchFamily="18" charset="0"/>
                                </a:rPr>
                                <m:t>+1)</m:t>
                              </m:r>
                            </m:sup>
                          </m:sSup>
                        </m:den>
                      </m:f>
                      <m:r>
                        <a:rPr kumimoji="1" lang="en-US" altLang="zh-CN" sz="2000" b="0" i="1" smtClean="0">
                          <a:latin typeface="Cambria Math" panose="02040503050406030204" pitchFamily="18" charset="0"/>
                          <a:ea typeface="Cambria Math" panose="02040503050406030204" pitchFamily="18" charset="0"/>
                        </a:rPr>
                        <m:t>∙(</m:t>
                      </m:r>
                      <m:f>
                        <m:fPr>
                          <m:ctrlPr>
                            <a:rPr kumimoji="1" lang="en-US" altLang="zh-CN" sz="2000" b="0" i="1">
                              <a:latin typeface="Cambria Math" panose="02040503050406030204" pitchFamily="18" charset="0"/>
                            </a:rPr>
                          </m:ctrlPr>
                        </m:fPr>
                        <m:num>
                          <m:r>
                            <a:rPr kumimoji="1" lang="zh-CN" altLang="en-US" sz="2000" b="0" i="1">
                              <a:latin typeface="Cambria Math" panose="02040503050406030204" pitchFamily="18" charset="0"/>
                            </a:rPr>
                            <m:t>𝜕</m:t>
                          </m:r>
                          <m:r>
                            <a:rPr kumimoji="1" lang="en-US" altLang="zh-CN" sz="2000" b="0" i="1" smtClean="0">
                              <a:latin typeface="Cambria Math" panose="02040503050406030204" pitchFamily="18" charset="0"/>
                            </a:rPr>
                            <m:t>𝐹</m:t>
                          </m:r>
                          <m:r>
                            <a:rPr kumimoji="1" lang="en-US" altLang="zh-CN" sz="2000" b="0" i="1" smtClean="0">
                              <a:latin typeface="Cambria Math" panose="02040503050406030204" pitchFamily="18" charset="0"/>
                            </a:rPr>
                            <m:t>(</m:t>
                          </m:r>
                          <m:sSup>
                            <m:sSupPr>
                              <m:ctrlPr>
                                <a:rPr kumimoji="1" lang="en-US" altLang="zh-CN" sz="2000" b="0" i="1">
                                  <a:latin typeface="Cambria Math" panose="02040503050406030204" pitchFamily="18" charset="0"/>
                                </a:rPr>
                              </m:ctrlPr>
                            </m:sSupPr>
                            <m:e>
                              <m:r>
                                <a:rPr kumimoji="1" lang="en-US" altLang="zh-CN" sz="2000" b="0" i="1">
                                  <a:latin typeface="Cambria Math" panose="02040503050406030204" pitchFamily="18" charset="0"/>
                                </a:rPr>
                                <m:t>𝑋</m:t>
                              </m:r>
                            </m:e>
                            <m:sup>
                              <m:d>
                                <m:dPr>
                                  <m:ctrlPr>
                                    <a:rPr kumimoji="1" lang="en-US" altLang="zh-CN" sz="2000" b="0" i="1">
                                      <a:latin typeface="Cambria Math" panose="02040503050406030204" pitchFamily="18" charset="0"/>
                                    </a:rPr>
                                  </m:ctrlPr>
                                </m:dPr>
                                <m:e>
                                  <m:r>
                                    <a:rPr kumimoji="1" lang="en-US" altLang="zh-CN" sz="2000" b="0" i="1">
                                      <a:latin typeface="Cambria Math" panose="02040503050406030204" pitchFamily="18" charset="0"/>
                                    </a:rPr>
                                    <m:t>𝑘</m:t>
                                  </m:r>
                                </m:e>
                              </m:d>
                            </m:sup>
                          </m:sSup>
                          <m:r>
                            <a:rPr kumimoji="1" lang="zh-CN" altLang="en-US" sz="2000" b="0" i="1">
                              <a:latin typeface="Cambria Math" panose="02040503050406030204" pitchFamily="18" charset="0"/>
                            </a:rPr>
                            <m:t>）</m:t>
                          </m:r>
                        </m:num>
                        <m:den>
                          <m:r>
                            <a:rPr kumimoji="1" lang="zh-CN" altLang="en-US" sz="2000" b="0" i="1">
                              <a:latin typeface="Cambria Math" panose="02040503050406030204" pitchFamily="18" charset="0"/>
                            </a:rPr>
                            <m:t>𝜕</m:t>
                          </m:r>
                          <m:sSup>
                            <m:sSupPr>
                              <m:ctrlPr>
                                <a:rPr kumimoji="1" lang="en-US" altLang="zh-CN" sz="2000" b="0" i="1">
                                  <a:latin typeface="Cambria Math" panose="02040503050406030204" pitchFamily="18" charset="0"/>
                                </a:rPr>
                              </m:ctrlPr>
                            </m:sSupPr>
                            <m:e>
                              <m:r>
                                <a:rPr kumimoji="1" lang="en-US" altLang="zh-CN" sz="2000" b="0" i="1">
                                  <a:latin typeface="Cambria Math" panose="02040503050406030204" pitchFamily="18" charset="0"/>
                                </a:rPr>
                                <m:t>𝑋</m:t>
                              </m:r>
                            </m:e>
                            <m:sup>
                              <m:d>
                                <m:dPr>
                                  <m:ctrlPr>
                                    <a:rPr kumimoji="1" lang="en-US" altLang="zh-CN" sz="2000" b="0" i="1">
                                      <a:latin typeface="Cambria Math" panose="02040503050406030204" pitchFamily="18" charset="0"/>
                                    </a:rPr>
                                  </m:ctrlPr>
                                </m:dPr>
                                <m:e>
                                  <m:r>
                                    <a:rPr kumimoji="1" lang="en-US" altLang="zh-CN" sz="2000" b="0" i="1">
                                      <a:latin typeface="Cambria Math" panose="02040503050406030204" pitchFamily="18" charset="0"/>
                                    </a:rPr>
                                    <m:t>𝑘</m:t>
                                  </m:r>
                                </m:e>
                              </m:d>
                            </m:sup>
                          </m:sSup>
                        </m:den>
                      </m:f>
                      <m:r>
                        <a:rPr kumimoji="1" lang="en-US" altLang="zh-CN" sz="2000" b="0" i="1" smtClean="0">
                          <a:latin typeface="Cambria Math" panose="02040503050406030204" pitchFamily="18" charset="0"/>
                        </a:rPr>
                        <m:t>+</m:t>
                      </m:r>
                      <m:r>
                        <a:rPr kumimoji="1" lang="en-US" altLang="zh-CN" sz="2000" b="0" i="1" smtClean="0">
                          <a:latin typeface="Cambria Math" panose="02040503050406030204" pitchFamily="18" charset="0"/>
                        </a:rPr>
                        <m:t>𝐼</m:t>
                      </m:r>
                      <m:r>
                        <a:rPr kumimoji="1" lang="en-US" altLang="zh-CN" sz="2000" b="0" i="1" smtClean="0">
                          <a:latin typeface="Cambria Math" panose="02040503050406030204" pitchFamily="18" charset="0"/>
                        </a:rPr>
                        <m:t>)</m:t>
                      </m:r>
                    </m:oMath>
                  </m:oMathPara>
                </a14:m>
                <a:endParaRPr kumimoji="1" lang="en-US" altLang="zh-CN" sz="2000" b="0" dirty="0"/>
              </a:p>
              <a:p>
                <a:r>
                  <a:rPr kumimoji="1" lang="zh-CN" altLang="en-US" sz="2000" b="0" dirty="0"/>
                  <a:t>如果没有残差连接，对损失函数</a:t>
                </a:r>
                <a14:m>
                  <m:oMath xmlns:m="http://schemas.openxmlformats.org/officeDocument/2006/math">
                    <m:r>
                      <a:rPr kumimoji="1" lang="en-US" altLang="zh-CN" sz="2000" b="0" i="1" smtClean="0">
                        <a:latin typeface="Cambria Math" panose="02040503050406030204" pitchFamily="18" charset="0"/>
                      </a:rPr>
                      <m:t>𝐿</m:t>
                    </m:r>
                  </m:oMath>
                </a14:m>
                <a:r>
                  <a:rPr kumimoji="1" lang="zh-CN" altLang="en-US" sz="2000" b="0" dirty="0"/>
                  <a:t>反向传播：</a:t>
                </a:r>
                <a:endParaRPr kumimoji="1" lang="en-US" altLang="zh-CN" sz="2000" b="0" dirty="0"/>
              </a:p>
              <a:p>
                <a:pPr algn="l"/>
                <a14:m>
                  <m:oMathPara xmlns:m="http://schemas.openxmlformats.org/officeDocument/2006/math">
                    <m:oMathParaPr>
                      <m:jc m:val="centerGroup"/>
                    </m:oMathParaPr>
                    <m:oMath xmlns:m="http://schemas.openxmlformats.org/officeDocument/2006/math">
                      <m:f>
                        <m:fPr>
                          <m:ctrlPr>
                            <a:rPr kumimoji="1" lang="en-US" altLang="zh-CN" sz="2000" b="0" i="1" smtClean="0">
                              <a:latin typeface="Cambria Math" panose="02040503050406030204" pitchFamily="18" charset="0"/>
                            </a:rPr>
                          </m:ctrlPr>
                        </m:fPr>
                        <m:num>
                          <m:r>
                            <a:rPr kumimoji="1" lang="zh-CN" altLang="en-US" sz="2000" b="0" i="1" smtClean="0">
                              <a:latin typeface="Cambria Math" panose="02040503050406030204" pitchFamily="18" charset="0"/>
                            </a:rPr>
                            <m:t>𝜕</m:t>
                          </m:r>
                          <m:r>
                            <a:rPr kumimoji="1" lang="en-US" altLang="zh-CN" sz="2000" b="0" i="1" smtClean="0">
                              <a:latin typeface="Cambria Math" panose="02040503050406030204" pitchFamily="18" charset="0"/>
                            </a:rPr>
                            <m:t>𝐿</m:t>
                          </m:r>
                        </m:num>
                        <m:den>
                          <m:r>
                            <a:rPr kumimoji="1" lang="zh-CN" altLang="en-US" sz="2000" b="0" i="1" smtClean="0">
                              <a:latin typeface="Cambria Math" panose="02040503050406030204" pitchFamily="18" charset="0"/>
                            </a:rPr>
                            <m:t>𝜕</m:t>
                          </m:r>
                          <m:sSup>
                            <m:sSupPr>
                              <m:ctrlPr>
                                <a:rPr kumimoji="1" lang="en-US" altLang="zh-CN" sz="2000" b="0" i="1">
                                  <a:latin typeface="Cambria Math" panose="02040503050406030204" pitchFamily="18" charset="0"/>
                                </a:rPr>
                              </m:ctrlPr>
                            </m:sSupPr>
                            <m:e>
                              <m:r>
                                <a:rPr kumimoji="1" lang="en-US" altLang="zh-CN" sz="2000" b="0" i="1">
                                  <a:latin typeface="Cambria Math" panose="02040503050406030204" pitchFamily="18" charset="0"/>
                                </a:rPr>
                                <m:t>𝑋</m:t>
                              </m:r>
                            </m:e>
                            <m:sup>
                              <m:r>
                                <a:rPr kumimoji="1" lang="en-US" altLang="zh-CN" sz="2000" b="0" i="1">
                                  <a:latin typeface="Cambria Math" panose="02040503050406030204" pitchFamily="18" charset="0"/>
                                </a:rPr>
                                <m:t>(</m:t>
                              </m:r>
                              <m:r>
                                <a:rPr kumimoji="1" lang="en-US" altLang="zh-CN" sz="2000" b="0" i="1">
                                  <a:latin typeface="Cambria Math" panose="02040503050406030204" pitchFamily="18" charset="0"/>
                                </a:rPr>
                                <m:t>𝑘</m:t>
                              </m:r>
                              <m:r>
                                <a:rPr kumimoji="1" lang="en-US" altLang="zh-CN" sz="2000" b="0" i="1">
                                  <a:latin typeface="Cambria Math" panose="02040503050406030204" pitchFamily="18" charset="0"/>
                                </a:rPr>
                                <m:t>)</m:t>
                              </m:r>
                            </m:sup>
                          </m:sSup>
                        </m:den>
                      </m:f>
                      <m:r>
                        <a:rPr kumimoji="1" lang="en-US" altLang="zh-CN" sz="2000" b="0" i="1">
                          <a:latin typeface="Cambria Math" panose="02040503050406030204" pitchFamily="18" charset="0"/>
                        </a:rPr>
                        <m:t>=</m:t>
                      </m:r>
                      <m:f>
                        <m:fPr>
                          <m:ctrlPr>
                            <a:rPr kumimoji="1" lang="en-US" altLang="zh-CN" sz="2000" b="0" i="1">
                              <a:latin typeface="Cambria Math" panose="02040503050406030204" pitchFamily="18" charset="0"/>
                            </a:rPr>
                          </m:ctrlPr>
                        </m:fPr>
                        <m:num>
                          <m:r>
                            <a:rPr kumimoji="1" lang="zh-CN" altLang="en-US" sz="2000" b="0" i="1">
                              <a:latin typeface="Cambria Math" panose="02040503050406030204" pitchFamily="18" charset="0"/>
                            </a:rPr>
                            <m:t>𝜕</m:t>
                          </m:r>
                          <m:r>
                            <a:rPr kumimoji="1" lang="en-US" altLang="zh-CN" sz="2000" b="0" i="1">
                              <a:latin typeface="Cambria Math" panose="02040503050406030204" pitchFamily="18" charset="0"/>
                            </a:rPr>
                            <m:t>𝐿</m:t>
                          </m:r>
                        </m:num>
                        <m:den>
                          <m:r>
                            <a:rPr kumimoji="1" lang="zh-CN" altLang="en-US" sz="2000" b="0" i="1">
                              <a:latin typeface="Cambria Math" panose="02040503050406030204" pitchFamily="18" charset="0"/>
                            </a:rPr>
                            <m:t>𝜕</m:t>
                          </m:r>
                          <m:sSup>
                            <m:sSupPr>
                              <m:ctrlPr>
                                <a:rPr kumimoji="1" lang="en-US" altLang="zh-CN" sz="2000" b="0" i="1">
                                  <a:latin typeface="Cambria Math" panose="02040503050406030204" pitchFamily="18" charset="0"/>
                                </a:rPr>
                              </m:ctrlPr>
                            </m:sSupPr>
                            <m:e>
                              <m:r>
                                <a:rPr kumimoji="1" lang="en-US" altLang="zh-CN" sz="2000" b="0" i="1">
                                  <a:latin typeface="Cambria Math" panose="02040503050406030204" pitchFamily="18" charset="0"/>
                                </a:rPr>
                                <m:t>𝑋</m:t>
                              </m:r>
                            </m:e>
                            <m:sup>
                              <m:r>
                                <a:rPr kumimoji="1" lang="en-US" altLang="zh-CN" sz="2000" b="0" i="1">
                                  <a:latin typeface="Cambria Math" panose="02040503050406030204" pitchFamily="18" charset="0"/>
                                </a:rPr>
                                <m:t>(</m:t>
                              </m:r>
                              <m:r>
                                <a:rPr kumimoji="1" lang="en-US" altLang="zh-CN" sz="2000" b="0" i="1">
                                  <a:latin typeface="Cambria Math" panose="02040503050406030204" pitchFamily="18" charset="0"/>
                                </a:rPr>
                                <m:t>𝑘</m:t>
                              </m:r>
                              <m:r>
                                <a:rPr kumimoji="1" lang="en-US" altLang="zh-CN" sz="2000" b="0" i="1">
                                  <a:latin typeface="Cambria Math" panose="02040503050406030204" pitchFamily="18" charset="0"/>
                                </a:rPr>
                                <m:t>+1)</m:t>
                              </m:r>
                            </m:sup>
                          </m:sSup>
                        </m:den>
                      </m:f>
                      <m:r>
                        <a:rPr kumimoji="1" lang="en-US" altLang="zh-CN" sz="2000" b="0" i="1" smtClean="0">
                          <a:latin typeface="Cambria Math" panose="02040503050406030204" pitchFamily="18" charset="0"/>
                          <a:ea typeface="Cambria Math" panose="02040503050406030204" pitchFamily="18" charset="0"/>
                        </a:rPr>
                        <m:t>∙</m:t>
                      </m:r>
                      <m:f>
                        <m:fPr>
                          <m:ctrlPr>
                            <a:rPr kumimoji="1" lang="en-US" altLang="zh-CN" sz="2000" b="0" i="1">
                              <a:latin typeface="Cambria Math" panose="02040503050406030204" pitchFamily="18" charset="0"/>
                            </a:rPr>
                          </m:ctrlPr>
                        </m:fPr>
                        <m:num>
                          <m:r>
                            <a:rPr kumimoji="1" lang="zh-CN" altLang="en-US" sz="2000" b="0" i="1">
                              <a:latin typeface="Cambria Math" panose="02040503050406030204" pitchFamily="18" charset="0"/>
                            </a:rPr>
                            <m:t>𝜕</m:t>
                          </m:r>
                          <m:r>
                            <a:rPr kumimoji="1" lang="en-US" altLang="zh-CN" sz="2000" b="0" i="1" smtClean="0">
                              <a:latin typeface="Cambria Math" panose="02040503050406030204" pitchFamily="18" charset="0"/>
                            </a:rPr>
                            <m:t>𝐹</m:t>
                          </m:r>
                          <m:r>
                            <a:rPr kumimoji="1" lang="en-US" altLang="zh-CN" sz="2000" b="0" i="1" smtClean="0">
                              <a:latin typeface="Cambria Math" panose="02040503050406030204" pitchFamily="18" charset="0"/>
                            </a:rPr>
                            <m:t>(</m:t>
                          </m:r>
                          <m:sSup>
                            <m:sSupPr>
                              <m:ctrlPr>
                                <a:rPr kumimoji="1" lang="en-US" altLang="zh-CN" sz="2000" b="0" i="1">
                                  <a:latin typeface="Cambria Math" panose="02040503050406030204" pitchFamily="18" charset="0"/>
                                </a:rPr>
                              </m:ctrlPr>
                            </m:sSupPr>
                            <m:e>
                              <m:r>
                                <a:rPr kumimoji="1" lang="en-US" altLang="zh-CN" sz="2000" b="0" i="1">
                                  <a:latin typeface="Cambria Math" panose="02040503050406030204" pitchFamily="18" charset="0"/>
                                </a:rPr>
                                <m:t>𝑋</m:t>
                              </m:r>
                            </m:e>
                            <m:sup>
                              <m:d>
                                <m:dPr>
                                  <m:ctrlPr>
                                    <a:rPr kumimoji="1" lang="en-US" altLang="zh-CN" sz="2000" b="0" i="1">
                                      <a:latin typeface="Cambria Math" panose="02040503050406030204" pitchFamily="18" charset="0"/>
                                    </a:rPr>
                                  </m:ctrlPr>
                                </m:dPr>
                                <m:e>
                                  <m:r>
                                    <a:rPr kumimoji="1" lang="en-US" altLang="zh-CN" sz="2000" b="0" i="1">
                                      <a:latin typeface="Cambria Math" panose="02040503050406030204" pitchFamily="18" charset="0"/>
                                    </a:rPr>
                                    <m:t>𝑘</m:t>
                                  </m:r>
                                </m:e>
                              </m:d>
                            </m:sup>
                          </m:sSup>
                          <m:r>
                            <a:rPr kumimoji="1" lang="zh-CN" altLang="en-US" sz="2000" b="0" i="1">
                              <a:latin typeface="Cambria Math" panose="02040503050406030204" pitchFamily="18" charset="0"/>
                            </a:rPr>
                            <m:t>）</m:t>
                          </m:r>
                        </m:num>
                        <m:den>
                          <m:r>
                            <a:rPr kumimoji="1" lang="zh-CN" altLang="en-US" sz="2000" b="0" i="1">
                              <a:latin typeface="Cambria Math" panose="02040503050406030204" pitchFamily="18" charset="0"/>
                            </a:rPr>
                            <m:t>𝜕</m:t>
                          </m:r>
                          <m:sSup>
                            <m:sSupPr>
                              <m:ctrlPr>
                                <a:rPr kumimoji="1" lang="en-US" altLang="zh-CN" sz="2000" b="0" i="1">
                                  <a:latin typeface="Cambria Math" panose="02040503050406030204" pitchFamily="18" charset="0"/>
                                </a:rPr>
                              </m:ctrlPr>
                            </m:sSupPr>
                            <m:e>
                              <m:r>
                                <a:rPr kumimoji="1" lang="en-US" altLang="zh-CN" sz="2000" b="0" i="1">
                                  <a:latin typeface="Cambria Math" panose="02040503050406030204" pitchFamily="18" charset="0"/>
                                </a:rPr>
                                <m:t>𝑋</m:t>
                              </m:r>
                            </m:e>
                            <m:sup>
                              <m:d>
                                <m:dPr>
                                  <m:ctrlPr>
                                    <a:rPr kumimoji="1" lang="en-US" altLang="zh-CN" sz="2000" b="0" i="1">
                                      <a:latin typeface="Cambria Math" panose="02040503050406030204" pitchFamily="18" charset="0"/>
                                    </a:rPr>
                                  </m:ctrlPr>
                                </m:dPr>
                                <m:e>
                                  <m:r>
                                    <a:rPr kumimoji="1" lang="en-US" altLang="zh-CN" sz="2000" b="0" i="1">
                                      <a:latin typeface="Cambria Math" panose="02040503050406030204" pitchFamily="18" charset="0"/>
                                    </a:rPr>
                                    <m:t>𝑘</m:t>
                                  </m:r>
                                </m:e>
                              </m:d>
                            </m:sup>
                          </m:sSup>
                        </m:den>
                      </m:f>
                    </m:oMath>
                  </m:oMathPara>
                </a14:m>
                <a:endParaRPr kumimoji="1" lang="en-US" altLang="zh-CN" sz="2000" b="0" dirty="0"/>
              </a:p>
              <a:p>
                <a:pPr algn="l"/>
                <a:endParaRPr kumimoji="1" lang="en-US" altLang="zh-CN" sz="2000" b="0" dirty="0"/>
              </a:p>
              <a:p>
                <a:pPr algn="l"/>
                <a:r>
                  <a:rPr kumimoji="1" lang="zh-CN" altLang="en-US" sz="2000" b="0" dirty="0"/>
                  <a:t>由于 </a:t>
                </a:r>
                <a14:m>
                  <m:oMath xmlns:m="http://schemas.openxmlformats.org/officeDocument/2006/math">
                    <m:f>
                      <m:fPr>
                        <m:ctrlPr>
                          <a:rPr kumimoji="1" lang="en-US" altLang="zh-CN" sz="2000" b="0" i="1" smtClean="0">
                            <a:latin typeface="Cambria Math" panose="02040503050406030204" pitchFamily="18" charset="0"/>
                          </a:rPr>
                        </m:ctrlPr>
                      </m:fPr>
                      <m:num>
                        <m:r>
                          <a:rPr kumimoji="1" lang="zh-CN" altLang="en-US" sz="2000" b="0" i="1">
                            <a:latin typeface="Cambria Math" panose="02040503050406030204" pitchFamily="18" charset="0"/>
                          </a:rPr>
                          <m:t>𝜕</m:t>
                        </m:r>
                        <m:r>
                          <a:rPr kumimoji="1" lang="en-US" altLang="zh-CN" sz="2000" b="0" i="1" smtClean="0">
                            <a:latin typeface="Cambria Math" panose="02040503050406030204" pitchFamily="18" charset="0"/>
                          </a:rPr>
                          <m:t>𝐹</m:t>
                        </m:r>
                        <m:r>
                          <a:rPr kumimoji="1" lang="en-US" altLang="zh-CN" sz="2000" b="0" i="1" smtClean="0">
                            <a:latin typeface="Cambria Math" panose="02040503050406030204" pitchFamily="18" charset="0"/>
                          </a:rPr>
                          <m:t>(</m:t>
                        </m:r>
                        <m:sSup>
                          <m:sSupPr>
                            <m:ctrlPr>
                              <a:rPr kumimoji="1" lang="en-US" altLang="zh-CN" sz="2000" b="0" i="1">
                                <a:latin typeface="Cambria Math" panose="02040503050406030204" pitchFamily="18" charset="0"/>
                              </a:rPr>
                            </m:ctrlPr>
                          </m:sSupPr>
                          <m:e>
                            <m:r>
                              <a:rPr kumimoji="1" lang="en-US" altLang="zh-CN" sz="2000" b="0" i="1">
                                <a:latin typeface="Cambria Math" panose="02040503050406030204" pitchFamily="18" charset="0"/>
                              </a:rPr>
                              <m:t>𝑋</m:t>
                            </m:r>
                          </m:e>
                          <m:sup>
                            <m:d>
                              <m:dPr>
                                <m:ctrlPr>
                                  <a:rPr kumimoji="1" lang="en-US" altLang="zh-CN" sz="2000" b="0" i="1">
                                    <a:latin typeface="Cambria Math" panose="02040503050406030204" pitchFamily="18" charset="0"/>
                                  </a:rPr>
                                </m:ctrlPr>
                              </m:dPr>
                              <m:e>
                                <m:r>
                                  <a:rPr kumimoji="1" lang="en-US" altLang="zh-CN" sz="2000" b="0" i="1">
                                    <a:latin typeface="Cambria Math" panose="02040503050406030204" pitchFamily="18" charset="0"/>
                                  </a:rPr>
                                  <m:t>𝑘</m:t>
                                </m:r>
                              </m:e>
                            </m:d>
                          </m:sup>
                        </m:sSup>
                        <m:r>
                          <a:rPr kumimoji="1" lang="zh-CN" altLang="en-US" sz="2000" b="0" i="1">
                            <a:latin typeface="Cambria Math" panose="02040503050406030204" pitchFamily="18" charset="0"/>
                          </a:rPr>
                          <m:t>）</m:t>
                        </m:r>
                      </m:num>
                      <m:den>
                        <m:r>
                          <a:rPr kumimoji="1" lang="zh-CN" altLang="en-US" sz="2000" b="0" i="1">
                            <a:latin typeface="Cambria Math" panose="02040503050406030204" pitchFamily="18" charset="0"/>
                          </a:rPr>
                          <m:t>𝜕</m:t>
                        </m:r>
                        <m:sSup>
                          <m:sSupPr>
                            <m:ctrlPr>
                              <a:rPr kumimoji="1" lang="en-US" altLang="zh-CN" sz="2000" b="0" i="1">
                                <a:latin typeface="Cambria Math" panose="02040503050406030204" pitchFamily="18" charset="0"/>
                              </a:rPr>
                            </m:ctrlPr>
                          </m:sSupPr>
                          <m:e>
                            <m:r>
                              <a:rPr kumimoji="1" lang="en-US" altLang="zh-CN" sz="2000" b="0" i="1">
                                <a:latin typeface="Cambria Math" panose="02040503050406030204" pitchFamily="18" charset="0"/>
                              </a:rPr>
                              <m:t>𝑋</m:t>
                            </m:r>
                          </m:e>
                          <m:sup>
                            <m:d>
                              <m:dPr>
                                <m:ctrlPr>
                                  <a:rPr kumimoji="1" lang="en-US" altLang="zh-CN" sz="2000" b="0" i="1">
                                    <a:latin typeface="Cambria Math" panose="02040503050406030204" pitchFamily="18" charset="0"/>
                                  </a:rPr>
                                </m:ctrlPr>
                              </m:dPr>
                              <m:e>
                                <m:r>
                                  <a:rPr kumimoji="1" lang="en-US" altLang="zh-CN" sz="2000" b="0" i="1">
                                    <a:latin typeface="Cambria Math" panose="02040503050406030204" pitchFamily="18" charset="0"/>
                                  </a:rPr>
                                  <m:t>𝑘</m:t>
                                </m:r>
                              </m:e>
                            </m:d>
                          </m:sup>
                        </m:sSup>
                      </m:den>
                    </m:f>
                  </m:oMath>
                </a14:m>
                <a:r>
                  <a:rPr kumimoji="1" lang="zh-CN" altLang="en-US" sz="2000" b="0" dirty="0"/>
                  <a:t> 可能包含较小的权重矩阵乘积，在深层网络中容易导致梯度衰减甚至消失。</a:t>
                </a:r>
              </a:p>
            </p:txBody>
          </p:sp>
        </mc:Choice>
        <mc:Fallback xmlns="">
          <p:sp>
            <p:nvSpPr>
              <p:cNvPr id="7" name="内容占位符 2">
                <a:extLst>
                  <a:ext uri="{FF2B5EF4-FFF2-40B4-BE49-F238E27FC236}">
                    <a16:creationId xmlns:a16="http://schemas.microsoft.com/office/drawing/2014/main" id="{E36B3902-E8EB-48FE-B688-8C1DB0558A76}"/>
                  </a:ext>
                </a:extLst>
              </p:cNvPr>
              <p:cNvSpPr>
                <a:spLocks noGrp="1" noRot="1" noChangeAspect="1" noMove="1" noResize="1" noEditPoints="1" noAdjustHandles="1" noChangeArrowheads="1" noChangeShapeType="1" noTextEdit="1"/>
              </p:cNvSpPr>
              <p:nvPr>
                <p:ph idx="1"/>
              </p:nvPr>
            </p:nvSpPr>
            <p:spPr>
              <a:xfrm>
                <a:off x="210941" y="839894"/>
                <a:ext cx="12074918" cy="5333856"/>
              </a:xfrm>
              <a:blipFill>
                <a:blip r:embed="rId2"/>
                <a:stretch>
                  <a:fillRect l="-556" t="-914"/>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423168657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27"/>
  <p:tag name="KSO_WM_UNIT_HIGHLIGHT" val="0"/>
  <p:tag name="KSO_WM_UNIT_COMPATIBLE" val="0"/>
  <p:tag name="KSO_WM_UNIT_DIAGRAM_ISNUMVISUAL" val="0"/>
  <p:tag name="KSO_WM_UNIT_DIAGRAM_ISREFERUNIT" val="0"/>
  <p:tag name="KSO_WM_UNIT_TYPE" val="a"/>
  <p:tag name="KSO_WM_UNIT_INDEX" val="1"/>
  <p:tag name="KSO_WM_UNIT_ID" val="diagram20213673_1*a*1"/>
  <p:tag name="KSO_WM_TEMPLATE_CATEGORY" val="diagram"/>
  <p:tag name="KSO_WM_TEMPLATE_INDEX" val="20213673"/>
  <p:tag name="KSO_WM_UNIT_LAYERLEVEL" val="1"/>
  <p:tag name="KSO_WM_TAG_VERSION" val="1.0"/>
  <p:tag name="KSO_WM_BEAUTIFY_FLAG" val=""/>
  <p:tag name="KSO_WM_UNIT_PRESET_TEXT" val="单击此处添加大标题内容"/>
  <p:tag name="KSO_WM_UNIT_DEFAULT_FONT" val="24;44;4"/>
  <p:tag name="KSO_WM_UNIT_BLOCK" val="0"/>
  <p:tag name="KSO_WM_UNIT_SHOW_EDIT_AREA_INDICATION" val="1"/>
  <p:tag name="KSO_WM_CHIP_GROUPID" val="5e7881253197e252a37019b5"/>
  <p:tag name="KSO_WM_CHIP_XID" val="5e7881253197e252a37019b6"/>
  <p:tag name="KSO_WM_UNIT_DEC_AREA_ID" val="b37919134acb4a51bbcb8f9b66950980"/>
  <p:tag name="KSO_WM_UNIT_DECORATE_INFO" val="{&quot;ReferentInfo&quot;:{&quot;Id&quot;:&quot;slide&quot;,&quot;X&quot;:{&quot;Pos&quot;:0},&quot;Y&quot;:{&quot;Pos&quot;:0}},&quot;DecorateInfoX&quot;:{&quot;Pos&quot;:0,&quot;IsAbs&quot;:false},&quot;DecorateInfoY&quot;:{&quot;Pos&quot;:0,&quot;IsAbs&quot;:false},&quot;DecorateInfoW&quot;:{&quot;IsAbs&quot;:false},&quot;DecorateInfoH&quot;:{&quot;IsAbs&quot;:false},&quot;whChangeMode&quot;:0}"/>
  <p:tag name="KSO_WM_UNIT_SM_LIMIT_TYPE" val="2"/>
  <p:tag name="KSO_WM_CHIP_FILLAREA_FILL_RULE" val="{&quot;fill_align&quot;:&quot;ct&quot;,&quot;fill_mode&quot;:&quot;full&quot;,&quot;sacle_strategy&quot;:&quot;smart&quot;}"/>
  <p:tag name="KSO_WM_ASSEMBLE_CHIP_INDEX" val="cb75ab1854554ce1b4f35158b54f7333"/>
  <p:tag name="KSO_WM_UNIT_TEXT_FILL_FORE_SCHEMECOLOR_INDEX_BRIGHTNESS" val="0"/>
  <p:tag name="KSO_WM_UNIT_TEXT_FILL_FORE_SCHEMECOLOR_INDEX" val="13"/>
  <p:tag name="KSO_WM_UNIT_TEXT_FILL_TYPE" val="1"/>
  <p:tag name="KSO_WM_TEMPLATE_ASSEMBLE_XID" val="60656eb54054ed1e2fb7fe8f"/>
  <p:tag name="KSO_WM_TEMPLATE_ASSEMBLE_GROUPID" val="60656eb54054ed1e2fb7fe8f"/>
</p:tagLst>
</file>

<file path=ppt/tags/tag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7.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27"/>
  <p:tag name="KSO_WM_UNIT_HIGHLIGHT" val="0"/>
  <p:tag name="KSO_WM_UNIT_COMPATIBLE" val="0"/>
  <p:tag name="KSO_WM_UNIT_DIAGRAM_ISNUMVISUAL" val="0"/>
  <p:tag name="KSO_WM_UNIT_DIAGRAM_ISREFERUNIT" val="0"/>
  <p:tag name="KSO_WM_UNIT_TYPE" val="a"/>
  <p:tag name="KSO_WM_UNIT_INDEX" val="1"/>
  <p:tag name="KSO_WM_UNIT_ID" val="diagram20213673_1*a*1"/>
  <p:tag name="KSO_WM_TEMPLATE_CATEGORY" val="diagram"/>
  <p:tag name="KSO_WM_TEMPLATE_INDEX" val="20213673"/>
  <p:tag name="KSO_WM_UNIT_LAYERLEVEL" val="1"/>
  <p:tag name="KSO_WM_TAG_VERSION" val="1.0"/>
  <p:tag name="KSO_WM_BEAUTIFY_FLAG" val=""/>
  <p:tag name="KSO_WM_UNIT_PRESET_TEXT" val="单击此处添加大标题内容"/>
  <p:tag name="KSO_WM_UNIT_DEFAULT_FONT" val="24;44;4"/>
  <p:tag name="KSO_WM_UNIT_BLOCK" val="0"/>
  <p:tag name="KSO_WM_UNIT_SHOW_EDIT_AREA_INDICATION" val="1"/>
  <p:tag name="KSO_WM_CHIP_GROUPID" val="5e7881253197e252a37019b5"/>
  <p:tag name="KSO_WM_CHIP_XID" val="5e7881253197e252a37019b6"/>
  <p:tag name="KSO_WM_UNIT_DEC_AREA_ID" val="b37919134acb4a51bbcb8f9b66950980"/>
  <p:tag name="KSO_WM_UNIT_DECORATE_INFO" val="{&quot;ReferentInfo&quot;:{&quot;Id&quot;:&quot;slide&quot;,&quot;X&quot;:{&quot;Pos&quot;:0},&quot;Y&quot;:{&quot;Pos&quot;:0}},&quot;DecorateInfoX&quot;:{&quot;Pos&quot;:0,&quot;IsAbs&quot;:false},&quot;DecorateInfoY&quot;:{&quot;Pos&quot;:0,&quot;IsAbs&quot;:false},&quot;DecorateInfoW&quot;:{&quot;IsAbs&quot;:false},&quot;DecorateInfoH&quot;:{&quot;IsAbs&quot;:false},&quot;whChangeMode&quot;:0}"/>
  <p:tag name="KSO_WM_UNIT_SM_LIMIT_TYPE" val="2"/>
  <p:tag name="KSO_WM_CHIP_FILLAREA_FILL_RULE" val="{&quot;fill_align&quot;:&quot;ct&quot;,&quot;fill_mode&quot;:&quot;full&quot;,&quot;sacle_strategy&quot;:&quot;smart&quot;}"/>
  <p:tag name="KSO_WM_ASSEMBLE_CHIP_INDEX" val="cb75ab1854554ce1b4f35158b54f7333"/>
  <p:tag name="KSO_WM_UNIT_TEXT_FILL_FORE_SCHEMECOLOR_INDEX_BRIGHTNESS" val="0"/>
  <p:tag name="KSO_WM_UNIT_TEXT_FILL_FORE_SCHEMECOLOR_INDEX" val="13"/>
  <p:tag name="KSO_WM_UNIT_TEXT_FILL_TYPE" val="1"/>
  <p:tag name="KSO_WM_TEMPLATE_ASSEMBLE_XID" val="60656eb54054ed1e2fb7fe8f"/>
  <p:tag name="KSO_WM_TEMPLATE_ASSEMBLE_GROUPID" val="60656eb54054ed1e2fb7fe8f"/>
</p:tagLst>
</file>

<file path=ppt/tags/tag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1.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27"/>
  <p:tag name="KSO_WM_UNIT_HIGHLIGHT" val="0"/>
  <p:tag name="KSO_WM_UNIT_COMPATIBLE" val="0"/>
  <p:tag name="KSO_WM_UNIT_DIAGRAM_ISNUMVISUAL" val="0"/>
  <p:tag name="KSO_WM_UNIT_DIAGRAM_ISREFERUNIT" val="0"/>
  <p:tag name="KSO_WM_UNIT_TYPE" val="a"/>
  <p:tag name="KSO_WM_UNIT_INDEX" val="1"/>
  <p:tag name="KSO_WM_UNIT_ID" val="diagram20213673_1*a*1"/>
  <p:tag name="KSO_WM_TEMPLATE_CATEGORY" val="diagram"/>
  <p:tag name="KSO_WM_TEMPLATE_INDEX" val="20213673"/>
  <p:tag name="KSO_WM_UNIT_LAYERLEVEL" val="1"/>
  <p:tag name="KSO_WM_TAG_VERSION" val="1.0"/>
  <p:tag name="KSO_WM_BEAUTIFY_FLAG" val=""/>
  <p:tag name="KSO_WM_UNIT_PRESET_TEXT" val="单击此处添加大标题内容"/>
  <p:tag name="KSO_WM_UNIT_DEFAULT_FONT" val="24;44;4"/>
  <p:tag name="KSO_WM_UNIT_BLOCK" val="0"/>
  <p:tag name="KSO_WM_UNIT_SHOW_EDIT_AREA_INDICATION" val="1"/>
  <p:tag name="KSO_WM_CHIP_GROUPID" val="5e7881253197e252a37019b5"/>
  <p:tag name="KSO_WM_CHIP_XID" val="5e7881253197e252a37019b6"/>
  <p:tag name="KSO_WM_UNIT_DEC_AREA_ID" val="b37919134acb4a51bbcb8f9b66950980"/>
  <p:tag name="KSO_WM_UNIT_DECORATE_INFO" val="{&quot;ReferentInfo&quot;:{&quot;Id&quot;:&quot;slide&quot;,&quot;X&quot;:{&quot;Pos&quot;:0},&quot;Y&quot;:{&quot;Pos&quot;:0}},&quot;DecorateInfoX&quot;:{&quot;Pos&quot;:0,&quot;IsAbs&quot;:false},&quot;DecorateInfoY&quot;:{&quot;Pos&quot;:0,&quot;IsAbs&quot;:false},&quot;DecorateInfoW&quot;:{&quot;IsAbs&quot;:false},&quot;DecorateInfoH&quot;:{&quot;IsAbs&quot;:false},&quot;whChangeMode&quot;:0}"/>
  <p:tag name="KSO_WM_UNIT_SM_LIMIT_TYPE" val="2"/>
  <p:tag name="KSO_WM_CHIP_FILLAREA_FILL_RULE" val="{&quot;fill_align&quot;:&quot;ct&quot;,&quot;fill_mode&quot;:&quot;full&quot;,&quot;sacle_strategy&quot;:&quot;smart&quot;}"/>
  <p:tag name="KSO_WM_ASSEMBLE_CHIP_INDEX" val="cb75ab1854554ce1b4f35158b54f7333"/>
  <p:tag name="KSO_WM_UNIT_TEXT_FILL_FORE_SCHEMECOLOR_INDEX_BRIGHTNESS" val="0"/>
  <p:tag name="KSO_WM_UNIT_TEXT_FILL_FORE_SCHEMECOLOR_INDEX" val="13"/>
  <p:tag name="KSO_WM_UNIT_TEXT_FILL_TYPE" val="1"/>
  <p:tag name="KSO_WM_TEMPLATE_ASSEMBLE_XID" val="60656eb54054ed1e2fb7fe8f"/>
  <p:tag name="KSO_WM_TEMPLATE_ASSEMBLE_GROUPID" val="60656eb54054ed1e2fb7fe8f"/>
</p:tagLst>
</file>

<file path=ppt/tags/tag1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3.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27"/>
  <p:tag name="KSO_WM_UNIT_HIGHLIGHT" val="0"/>
  <p:tag name="KSO_WM_UNIT_COMPATIBLE" val="0"/>
  <p:tag name="KSO_WM_UNIT_DIAGRAM_ISNUMVISUAL" val="0"/>
  <p:tag name="KSO_WM_UNIT_DIAGRAM_ISREFERUNIT" val="0"/>
  <p:tag name="KSO_WM_UNIT_TYPE" val="a"/>
  <p:tag name="KSO_WM_UNIT_INDEX" val="1"/>
  <p:tag name="KSO_WM_UNIT_ID" val="diagram20213673_1*a*1"/>
  <p:tag name="KSO_WM_TEMPLATE_CATEGORY" val="diagram"/>
  <p:tag name="KSO_WM_TEMPLATE_INDEX" val="20213673"/>
  <p:tag name="KSO_WM_UNIT_LAYERLEVEL" val="1"/>
  <p:tag name="KSO_WM_TAG_VERSION" val="1.0"/>
  <p:tag name="KSO_WM_BEAUTIFY_FLAG" val=""/>
  <p:tag name="KSO_WM_UNIT_PRESET_TEXT" val="单击此处添加大标题内容"/>
  <p:tag name="KSO_WM_UNIT_DEFAULT_FONT" val="24;44;4"/>
  <p:tag name="KSO_WM_UNIT_BLOCK" val="0"/>
  <p:tag name="KSO_WM_UNIT_SHOW_EDIT_AREA_INDICATION" val="1"/>
  <p:tag name="KSO_WM_CHIP_GROUPID" val="5e7881253197e252a37019b5"/>
  <p:tag name="KSO_WM_CHIP_XID" val="5e7881253197e252a37019b6"/>
  <p:tag name="KSO_WM_UNIT_DEC_AREA_ID" val="b37919134acb4a51bbcb8f9b66950980"/>
  <p:tag name="KSO_WM_UNIT_DECORATE_INFO" val="{&quot;ReferentInfo&quot;:{&quot;Id&quot;:&quot;slide&quot;,&quot;X&quot;:{&quot;Pos&quot;:0},&quot;Y&quot;:{&quot;Pos&quot;:0}},&quot;DecorateInfoX&quot;:{&quot;Pos&quot;:0,&quot;IsAbs&quot;:false},&quot;DecorateInfoY&quot;:{&quot;Pos&quot;:0,&quot;IsAbs&quot;:false},&quot;DecorateInfoW&quot;:{&quot;IsAbs&quot;:false},&quot;DecorateInfoH&quot;:{&quot;IsAbs&quot;:false},&quot;whChangeMode&quot;:0}"/>
  <p:tag name="KSO_WM_UNIT_SM_LIMIT_TYPE" val="2"/>
  <p:tag name="KSO_WM_CHIP_FILLAREA_FILL_RULE" val="{&quot;fill_align&quot;:&quot;ct&quot;,&quot;fill_mode&quot;:&quot;full&quot;,&quot;sacle_strategy&quot;:&quot;smart&quot;}"/>
  <p:tag name="KSO_WM_ASSEMBLE_CHIP_INDEX" val="cb75ab1854554ce1b4f35158b54f7333"/>
  <p:tag name="KSO_WM_UNIT_TEXT_FILL_FORE_SCHEMECOLOR_INDEX_BRIGHTNESS" val="0"/>
  <p:tag name="KSO_WM_UNIT_TEXT_FILL_FORE_SCHEMECOLOR_INDEX" val="13"/>
  <p:tag name="KSO_WM_UNIT_TEXT_FILL_TYPE" val="1"/>
  <p:tag name="KSO_WM_TEMPLATE_ASSEMBLE_XID" val="60656eb54054ed1e2fb7fe8f"/>
  <p:tag name="KSO_WM_TEMPLATE_ASSEMBLE_GROUPID" val="60656eb54054ed1e2fb7fe8f"/>
</p:tagLst>
</file>

<file path=ppt/tags/tag1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0.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27"/>
  <p:tag name="KSO_WM_UNIT_HIGHLIGHT" val="0"/>
  <p:tag name="KSO_WM_UNIT_COMPATIBLE" val="0"/>
  <p:tag name="KSO_WM_UNIT_DIAGRAM_ISNUMVISUAL" val="0"/>
  <p:tag name="KSO_WM_UNIT_DIAGRAM_ISREFERUNIT" val="0"/>
  <p:tag name="KSO_WM_UNIT_TYPE" val="a"/>
  <p:tag name="KSO_WM_UNIT_INDEX" val="1"/>
  <p:tag name="KSO_WM_UNIT_ID" val="diagram20213673_1*a*1"/>
  <p:tag name="KSO_WM_TEMPLATE_CATEGORY" val="diagram"/>
  <p:tag name="KSO_WM_TEMPLATE_INDEX" val="20213673"/>
  <p:tag name="KSO_WM_UNIT_LAYERLEVEL" val="1"/>
  <p:tag name="KSO_WM_TAG_VERSION" val="1.0"/>
  <p:tag name="KSO_WM_BEAUTIFY_FLAG" val=""/>
  <p:tag name="KSO_WM_UNIT_PRESET_TEXT" val="单击此处添加大标题内容"/>
  <p:tag name="KSO_WM_UNIT_DEFAULT_FONT" val="24;44;4"/>
  <p:tag name="KSO_WM_UNIT_BLOCK" val="0"/>
  <p:tag name="KSO_WM_UNIT_SHOW_EDIT_AREA_INDICATION" val="1"/>
  <p:tag name="KSO_WM_CHIP_GROUPID" val="5e7881253197e252a37019b5"/>
  <p:tag name="KSO_WM_CHIP_XID" val="5e7881253197e252a37019b6"/>
  <p:tag name="KSO_WM_UNIT_DEC_AREA_ID" val="b37919134acb4a51bbcb8f9b66950980"/>
  <p:tag name="KSO_WM_UNIT_DECORATE_INFO" val="{&quot;ReferentInfo&quot;:{&quot;Id&quot;:&quot;slide&quot;,&quot;X&quot;:{&quot;Pos&quot;:0},&quot;Y&quot;:{&quot;Pos&quot;:0}},&quot;DecorateInfoX&quot;:{&quot;Pos&quot;:0,&quot;IsAbs&quot;:false},&quot;DecorateInfoY&quot;:{&quot;Pos&quot;:0,&quot;IsAbs&quot;:false},&quot;DecorateInfoW&quot;:{&quot;IsAbs&quot;:false},&quot;DecorateInfoH&quot;:{&quot;IsAbs&quot;:false},&quot;whChangeMode&quot;:0}"/>
  <p:tag name="KSO_WM_UNIT_SM_LIMIT_TYPE" val="2"/>
  <p:tag name="KSO_WM_CHIP_FILLAREA_FILL_RULE" val="{&quot;fill_align&quot;:&quot;ct&quot;,&quot;fill_mode&quot;:&quot;full&quot;,&quot;sacle_strategy&quot;:&quot;smart&quot;}"/>
  <p:tag name="KSO_WM_ASSEMBLE_CHIP_INDEX" val="cb75ab1854554ce1b4f35158b54f7333"/>
  <p:tag name="KSO_WM_UNIT_TEXT_FILL_FORE_SCHEMECOLOR_INDEX_BRIGHTNESS" val="0"/>
  <p:tag name="KSO_WM_UNIT_TEXT_FILL_FORE_SCHEMECOLOR_INDEX" val="13"/>
  <p:tag name="KSO_WM_UNIT_TEXT_FILL_TYPE" val="1"/>
  <p:tag name="KSO_WM_TEMPLATE_ASSEMBLE_XID" val="60656eb54054ed1e2fb7fe8f"/>
  <p:tag name="KSO_WM_TEMPLATE_ASSEMBLE_GROUPID" val="60656eb54054ed1e2fb7fe8f"/>
</p:tagLst>
</file>

<file path=ppt/tags/tag2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7.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27"/>
  <p:tag name="KSO_WM_UNIT_HIGHLIGHT" val="0"/>
  <p:tag name="KSO_WM_UNIT_COMPATIBLE" val="0"/>
  <p:tag name="KSO_WM_UNIT_DIAGRAM_ISNUMVISUAL" val="0"/>
  <p:tag name="KSO_WM_UNIT_DIAGRAM_ISREFERUNIT" val="0"/>
  <p:tag name="KSO_WM_UNIT_TYPE" val="a"/>
  <p:tag name="KSO_WM_UNIT_INDEX" val="1"/>
  <p:tag name="KSO_WM_UNIT_ID" val="diagram20213673_1*a*1"/>
  <p:tag name="KSO_WM_TEMPLATE_CATEGORY" val="diagram"/>
  <p:tag name="KSO_WM_TEMPLATE_INDEX" val="20213673"/>
  <p:tag name="KSO_WM_UNIT_LAYERLEVEL" val="1"/>
  <p:tag name="KSO_WM_TAG_VERSION" val="1.0"/>
  <p:tag name="KSO_WM_BEAUTIFY_FLAG" val=""/>
  <p:tag name="KSO_WM_UNIT_PRESET_TEXT" val="单击此处添加大标题内容"/>
  <p:tag name="KSO_WM_UNIT_DEFAULT_FONT" val="24;44;4"/>
  <p:tag name="KSO_WM_UNIT_BLOCK" val="0"/>
  <p:tag name="KSO_WM_UNIT_SHOW_EDIT_AREA_INDICATION" val="1"/>
  <p:tag name="KSO_WM_CHIP_GROUPID" val="5e7881253197e252a37019b5"/>
  <p:tag name="KSO_WM_CHIP_XID" val="5e7881253197e252a37019b6"/>
  <p:tag name="KSO_WM_UNIT_DEC_AREA_ID" val="b37919134acb4a51bbcb8f9b66950980"/>
  <p:tag name="KSO_WM_UNIT_DECORATE_INFO" val="{&quot;ReferentInfo&quot;:{&quot;Id&quot;:&quot;slide&quot;,&quot;X&quot;:{&quot;Pos&quot;:0},&quot;Y&quot;:{&quot;Pos&quot;:0}},&quot;DecorateInfoX&quot;:{&quot;Pos&quot;:0,&quot;IsAbs&quot;:false},&quot;DecorateInfoY&quot;:{&quot;Pos&quot;:0,&quot;IsAbs&quot;:false},&quot;DecorateInfoW&quot;:{&quot;IsAbs&quot;:false},&quot;DecorateInfoH&quot;:{&quot;IsAbs&quot;:false},&quot;whChangeMode&quot;:0}"/>
  <p:tag name="KSO_WM_UNIT_SM_LIMIT_TYPE" val="2"/>
  <p:tag name="KSO_WM_CHIP_FILLAREA_FILL_RULE" val="{&quot;fill_align&quot;:&quot;ct&quot;,&quot;fill_mode&quot;:&quot;full&quot;,&quot;sacle_strategy&quot;:&quot;smart&quot;}"/>
  <p:tag name="KSO_WM_ASSEMBLE_CHIP_INDEX" val="cb75ab1854554ce1b4f35158b54f7333"/>
  <p:tag name="KSO_WM_UNIT_TEXT_FILL_FORE_SCHEMECOLOR_INDEX_BRIGHTNESS" val="0"/>
  <p:tag name="KSO_WM_UNIT_TEXT_FILL_FORE_SCHEMECOLOR_INDEX" val="13"/>
  <p:tag name="KSO_WM_UNIT_TEXT_FILL_TYPE" val="1"/>
  <p:tag name="KSO_WM_TEMPLATE_ASSEMBLE_XID" val="60656eb54054ed1e2fb7fe8f"/>
  <p:tag name="KSO_WM_TEMPLATE_ASSEMBLE_GROUPID" val="60656eb54054ed1e2fb7fe8f"/>
</p:tagLst>
</file>

<file path=ppt/tags/tag2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9.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27"/>
  <p:tag name="KSO_WM_UNIT_HIGHLIGHT" val="0"/>
  <p:tag name="KSO_WM_UNIT_COMPATIBLE" val="0"/>
  <p:tag name="KSO_WM_UNIT_DIAGRAM_ISNUMVISUAL" val="0"/>
  <p:tag name="KSO_WM_UNIT_DIAGRAM_ISREFERUNIT" val="0"/>
  <p:tag name="KSO_WM_UNIT_TYPE" val="a"/>
  <p:tag name="KSO_WM_UNIT_INDEX" val="1"/>
  <p:tag name="KSO_WM_UNIT_ID" val="diagram20213673_1*a*1"/>
  <p:tag name="KSO_WM_TEMPLATE_CATEGORY" val="diagram"/>
  <p:tag name="KSO_WM_TEMPLATE_INDEX" val="20213673"/>
  <p:tag name="KSO_WM_UNIT_LAYERLEVEL" val="1"/>
  <p:tag name="KSO_WM_TAG_VERSION" val="1.0"/>
  <p:tag name="KSO_WM_BEAUTIFY_FLAG" val=""/>
  <p:tag name="KSO_WM_UNIT_PRESET_TEXT" val="单击此处添加大标题内容"/>
  <p:tag name="KSO_WM_UNIT_DEFAULT_FONT" val="24;44;4"/>
  <p:tag name="KSO_WM_UNIT_BLOCK" val="0"/>
  <p:tag name="KSO_WM_UNIT_SHOW_EDIT_AREA_INDICATION" val="1"/>
  <p:tag name="KSO_WM_CHIP_GROUPID" val="5e7881253197e252a37019b5"/>
  <p:tag name="KSO_WM_CHIP_XID" val="5e7881253197e252a37019b6"/>
  <p:tag name="KSO_WM_UNIT_DEC_AREA_ID" val="b37919134acb4a51bbcb8f9b66950980"/>
  <p:tag name="KSO_WM_UNIT_DECORATE_INFO" val="{&quot;ReferentInfo&quot;:{&quot;Id&quot;:&quot;slide&quot;,&quot;X&quot;:{&quot;Pos&quot;:0},&quot;Y&quot;:{&quot;Pos&quot;:0}},&quot;DecorateInfoX&quot;:{&quot;Pos&quot;:0,&quot;IsAbs&quot;:false},&quot;DecorateInfoY&quot;:{&quot;Pos&quot;:0,&quot;IsAbs&quot;:false},&quot;DecorateInfoW&quot;:{&quot;IsAbs&quot;:false},&quot;DecorateInfoH&quot;:{&quot;IsAbs&quot;:false},&quot;whChangeMode&quot;:0}"/>
  <p:tag name="KSO_WM_UNIT_SM_LIMIT_TYPE" val="2"/>
  <p:tag name="KSO_WM_CHIP_FILLAREA_FILL_RULE" val="{&quot;fill_align&quot;:&quot;ct&quot;,&quot;fill_mode&quot;:&quot;full&quot;,&quot;sacle_strategy&quot;:&quot;smart&quot;}"/>
  <p:tag name="KSO_WM_ASSEMBLE_CHIP_INDEX" val="cb75ab1854554ce1b4f35158b54f7333"/>
  <p:tag name="KSO_WM_UNIT_TEXT_FILL_FORE_SCHEMECOLOR_INDEX_BRIGHTNESS" val="0"/>
  <p:tag name="KSO_WM_UNIT_TEXT_FILL_FORE_SCHEMECOLOR_INDEX" val="13"/>
  <p:tag name="KSO_WM_UNIT_TEXT_FILL_TYPE" val="1"/>
  <p:tag name="KSO_WM_TEMPLATE_ASSEMBLE_XID" val="60656eb54054ed1e2fb7fe8f"/>
  <p:tag name="KSO_WM_TEMPLATE_ASSEMBLE_GROUPID" val="60656eb54054ed1e2fb7fe8f"/>
</p:tagLst>
</file>

<file path=ppt/tags/tag3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7.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27"/>
  <p:tag name="KSO_WM_UNIT_HIGHLIGHT" val="0"/>
  <p:tag name="KSO_WM_UNIT_COMPATIBLE" val="0"/>
  <p:tag name="KSO_WM_UNIT_DIAGRAM_ISNUMVISUAL" val="0"/>
  <p:tag name="KSO_WM_UNIT_DIAGRAM_ISREFERUNIT" val="0"/>
  <p:tag name="KSO_WM_UNIT_TYPE" val="a"/>
  <p:tag name="KSO_WM_UNIT_INDEX" val="1"/>
  <p:tag name="KSO_WM_UNIT_ID" val="diagram20213673_1*a*1"/>
  <p:tag name="KSO_WM_TEMPLATE_CATEGORY" val="diagram"/>
  <p:tag name="KSO_WM_TEMPLATE_INDEX" val="20213673"/>
  <p:tag name="KSO_WM_UNIT_LAYERLEVEL" val="1"/>
  <p:tag name="KSO_WM_TAG_VERSION" val="1.0"/>
  <p:tag name="KSO_WM_BEAUTIFY_FLAG" val=""/>
  <p:tag name="KSO_WM_UNIT_PRESET_TEXT" val="单击此处添加大标题内容"/>
  <p:tag name="KSO_WM_UNIT_DEFAULT_FONT" val="24;44;4"/>
  <p:tag name="KSO_WM_UNIT_BLOCK" val="0"/>
  <p:tag name="KSO_WM_UNIT_SHOW_EDIT_AREA_INDICATION" val="1"/>
  <p:tag name="KSO_WM_CHIP_GROUPID" val="5e7881253197e252a37019b5"/>
  <p:tag name="KSO_WM_CHIP_XID" val="5e7881253197e252a37019b6"/>
  <p:tag name="KSO_WM_UNIT_DEC_AREA_ID" val="b37919134acb4a51bbcb8f9b66950980"/>
  <p:tag name="KSO_WM_UNIT_DECORATE_INFO" val="{&quot;ReferentInfo&quot;:{&quot;Id&quot;:&quot;slide&quot;,&quot;X&quot;:{&quot;Pos&quot;:0},&quot;Y&quot;:{&quot;Pos&quot;:0}},&quot;DecorateInfoX&quot;:{&quot;Pos&quot;:0,&quot;IsAbs&quot;:false},&quot;DecorateInfoY&quot;:{&quot;Pos&quot;:0,&quot;IsAbs&quot;:false},&quot;DecorateInfoW&quot;:{&quot;IsAbs&quot;:false},&quot;DecorateInfoH&quot;:{&quot;IsAbs&quot;:false},&quot;whChangeMode&quot;:0}"/>
  <p:tag name="KSO_WM_UNIT_SM_LIMIT_TYPE" val="2"/>
  <p:tag name="KSO_WM_CHIP_FILLAREA_FILL_RULE" val="{&quot;fill_align&quot;:&quot;ct&quot;,&quot;fill_mode&quot;:&quot;full&quot;,&quot;sacle_strategy&quot;:&quot;smart&quot;}"/>
  <p:tag name="KSO_WM_ASSEMBLE_CHIP_INDEX" val="cb75ab1854554ce1b4f35158b54f7333"/>
  <p:tag name="KSO_WM_UNIT_TEXT_FILL_FORE_SCHEMECOLOR_INDEX_BRIGHTNESS" val="0"/>
  <p:tag name="KSO_WM_UNIT_TEXT_FILL_FORE_SCHEMECOLOR_INDEX" val="13"/>
  <p:tag name="KSO_WM_UNIT_TEXT_FILL_TYPE" val="1"/>
  <p:tag name="KSO_WM_TEMPLATE_ASSEMBLE_XID" val="60656eb54054ed1e2fb7fe8f"/>
  <p:tag name="KSO_WM_TEMPLATE_ASSEMBLE_GROUPID" val="60656eb54054ed1e2fb7fe8f"/>
</p:tagLst>
</file>

<file path=ppt/tags/tag3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1.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27"/>
  <p:tag name="KSO_WM_UNIT_HIGHLIGHT" val="0"/>
  <p:tag name="KSO_WM_UNIT_COMPATIBLE" val="0"/>
  <p:tag name="KSO_WM_UNIT_DIAGRAM_ISNUMVISUAL" val="0"/>
  <p:tag name="KSO_WM_UNIT_DIAGRAM_ISREFERUNIT" val="0"/>
  <p:tag name="KSO_WM_UNIT_TYPE" val="a"/>
  <p:tag name="KSO_WM_UNIT_INDEX" val="1"/>
  <p:tag name="KSO_WM_UNIT_ID" val="diagram20213673_1*a*1"/>
  <p:tag name="KSO_WM_TEMPLATE_CATEGORY" val="diagram"/>
  <p:tag name="KSO_WM_TEMPLATE_INDEX" val="20213673"/>
  <p:tag name="KSO_WM_UNIT_LAYERLEVEL" val="1"/>
  <p:tag name="KSO_WM_TAG_VERSION" val="1.0"/>
  <p:tag name="KSO_WM_BEAUTIFY_FLAG" val=""/>
  <p:tag name="KSO_WM_UNIT_PRESET_TEXT" val="单击此处添加大标题内容"/>
  <p:tag name="KSO_WM_UNIT_DEFAULT_FONT" val="24;44;4"/>
  <p:tag name="KSO_WM_UNIT_BLOCK" val="0"/>
  <p:tag name="KSO_WM_UNIT_SHOW_EDIT_AREA_INDICATION" val="1"/>
  <p:tag name="KSO_WM_CHIP_GROUPID" val="5e7881253197e252a37019b5"/>
  <p:tag name="KSO_WM_CHIP_XID" val="5e7881253197e252a37019b6"/>
  <p:tag name="KSO_WM_UNIT_DEC_AREA_ID" val="b37919134acb4a51bbcb8f9b66950980"/>
  <p:tag name="KSO_WM_UNIT_DECORATE_INFO" val="{&quot;ReferentInfo&quot;:{&quot;Id&quot;:&quot;slide&quot;,&quot;X&quot;:{&quot;Pos&quot;:0},&quot;Y&quot;:{&quot;Pos&quot;:0}},&quot;DecorateInfoX&quot;:{&quot;Pos&quot;:0,&quot;IsAbs&quot;:false},&quot;DecorateInfoY&quot;:{&quot;Pos&quot;:0,&quot;IsAbs&quot;:false},&quot;DecorateInfoW&quot;:{&quot;IsAbs&quot;:false},&quot;DecorateInfoH&quot;:{&quot;IsAbs&quot;:false},&quot;whChangeMode&quot;:0}"/>
  <p:tag name="KSO_WM_UNIT_SM_LIMIT_TYPE" val="2"/>
  <p:tag name="KSO_WM_CHIP_FILLAREA_FILL_RULE" val="{&quot;fill_align&quot;:&quot;ct&quot;,&quot;fill_mode&quot;:&quot;full&quot;,&quot;sacle_strategy&quot;:&quot;smart&quot;}"/>
  <p:tag name="KSO_WM_ASSEMBLE_CHIP_INDEX" val="cb75ab1854554ce1b4f35158b54f7333"/>
  <p:tag name="KSO_WM_UNIT_TEXT_FILL_FORE_SCHEMECOLOR_INDEX_BRIGHTNESS" val="0"/>
  <p:tag name="KSO_WM_UNIT_TEXT_FILL_FORE_SCHEMECOLOR_INDEX" val="13"/>
  <p:tag name="KSO_WM_UNIT_TEXT_FILL_TYPE" val="1"/>
  <p:tag name="KSO_WM_TEMPLATE_ASSEMBLE_XID" val="60656eb54054ed1e2fb7fe8f"/>
  <p:tag name="KSO_WM_TEMPLATE_ASSEMBLE_GROUPID" val="60656eb54054ed1e2fb7fe8f"/>
</p:tagLst>
</file>

<file path=ppt/tags/tag4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5.xml><?xml version="1.0" encoding="utf-8"?>
<p:tagLst xmlns:a="http://schemas.openxmlformats.org/drawingml/2006/main" xmlns:r="http://schemas.openxmlformats.org/officeDocument/2006/relationships" xmlns:p="http://schemas.openxmlformats.org/presentationml/2006/main">
  <p:tag name="KSO_WM_SLIDE_ID" val="diagram20217323_1"/>
  <p:tag name="KSO_WM_TEMPLATE_SUBCATEGORY" val="21"/>
  <p:tag name="KSO_WM_TEMPLATE_MASTER_TYPE" val="0"/>
  <p:tag name="KSO_WM_TEMPLATE_COLOR_TYPE" val="1"/>
  <p:tag name="KSO_WM_SLIDE_TYPE" val="text"/>
  <p:tag name="KSO_WM_SLIDE_SUBTYPE" val="pureTxt"/>
  <p:tag name="KSO_WM_SLIDE_ITEM_CNT" val="0"/>
  <p:tag name="KSO_WM_SLIDE_INDEX" val="1"/>
  <p:tag name="KSO_WM_TAG_VERSION" val="1.0"/>
  <p:tag name="KSO_WM_BEAUTIFY_FLAG" val="#wm#"/>
  <p:tag name="KSO_WM_TEMPLATE_CATEGORY" val="diagram"/>
  <p:tag name="KSO_WM_TEMPLATE_INDEX" val="20217323"/>
  <p:tag name="KSO_WM_SLIDE_LAYOUT" val="a_f"/>
  <p:tag name="KSO_WM_SLIDE_LAYOUT_CNT" val="1_1"/>
  <p:tag name="KSO_WM_TEMPLATE_THUMBS_INDEX" val="1、4、7、12、13、14、15、16、17、18、20、24、25、28、33、36、40、43、44"/>
  <p:tag name="KSO_WM_SLIDE_SIZE" val="840*472"/>
  <p:tag name="KSO_WM_SLIDE_POSITION" val="58*47"/>
  <p:tag name="KSO_WM_SLIDE_LAYOUT_INFO" val="{&quot;backgroundInfo&quot;:[{&quot;bottom&quot;:0,&quot;bottomAbs&quot;:false,&quot;left&quot;:0,&quot;leftAbs&quot;:false,&quot;right&quot;:0,&quot;rightAbs&quot;:false,&quot;top&quot;:0,&quot;topAbs&quot;:false,&quot;type&quot;:&quot;general&quot;}],&quot;id&quot;:&quot;2021-04-01T16:19:52&quot;,&quot;maxSize&quot;:{&quot;size1&quot;:55.23219037939001},&quot;minSize&quot;:{&quot;size1&quot;:36.03219037939001},&quot;normalSize&quot;:{&quot;size1&quot;:36.0323755645752},&quot;subLayout&quot;:[{&quot;id&quot;:&quot;2021-04-01T16:19:52&quot;,&quot;margin&quot;:{&quot;bottom&quot;:0.8479999303817749,&quot;left&quot;:5.502999782562256,&quot;right&quot;:5.502999782562256,&quot;top&quot;:3.38700008392334},&quot;type&quot;:0},{&quot;id&quot;:&quot;2021-04-01T16:19:52&quot;,&quot;margin&quot;:{&quot;bottom&quot;:3.38700008392334,&quot;left&quot;:5.502999782562256,&quot;right&quot;:5.502999782562256,&quot;top&quot;:0.02600000612437725},&quot;type&quot;:0}],&quot;type&quot;:0}"/>
  <p:tag name="KSO_WM_SLIDE_BACKGROUND" val="[&quot;general&quot;]"/>
  <p:tag name="KSO_WM_SLIDE_RATIO" val="1.777778"/>
  <p:tag name="KSO_WM_CHIP_INFOS" val="{&quot;type&quot;:0,&quot;layout_type&quot;:&quot;topbottom&quot;,&quot;layout_feature&quot;:1,&quot;aspect_ratio&quot;:&quot;16:9&quot;,&quot;same_font_size&quot;:false,&quot;diagram&quot;:{&quot;type&quot;:[],&quot;direction&quot;:0,&quot;isSupportDecBetweenItems&quot;:false},&quot;tags&quot;:{&quot;style&quot;:[&quot;商务&quot;,&quot;简约&quot;,&quot;文艺清新&quot;,&quot;中国风&quot;,&quot;卡通&quot;,&quot;欧美风&quot;,&quot;黑板风&quot;,&quot;渐变风&quot;,&quot;党政风&quot;]},&quot;slide_type&quot;:[&quot;text&quot;]}"/>
  <p:tag name="KSO_WM_CHIP_XID" val="5fd06e271fa9d42129da2b20"/>
  <p:tag name="KSO_WM_CHIP_FILLPROP" val="[[{&quot;text_align&quot;:&quot;lb&quot;,&quot;text_direction&quot;:&quot;horizontal&quot;,&quot;support_big_font&quot;:false,&quot;picture_toward&quot;:0,&quot;picture_dockside&quot;:[],&quot;fill_id&quot;:&quot;d689204f4de345a4982605551024dd38&quot;,&quot;fill_align&quot;:&quot;lb&quot;,&quot;chip_types&quot;:[&quot;text&quot;,&quot;header&quot;]},{&quot;text_align&quot;:&quot;lt&quot;,&quot;text_direction&quot;:&quot;horizontal&quot;,&quot;support_big_font&quot;:true,&quot;picture_toward&quot;:0,&quot;picture_dockside&quot;:[],&quot;fill_id&quot;:&quot;85fe55258c1643f296a379467dde860b&quot;,&quot;fill_align&quot;:&quot;lt&quot;,&quot;chip_types&quot;:[&quot;text&quot;,&quot;header&quot;]}],[{&quot;text_align&quot;:&quot;cb&quot;,&quot;text_direction&quot;:&quot;horizontal&quot;,&quot;support_big_font&quot;:false,&quot;picture_toward&quot;:0,&quot;picture_dockside&quot;:[],&quot;fill_id&quot;:&quot;d689204f4de345a4982605551024dd38&quot;,&quot;fill_align&quot;:&quot;cb&quot;,&quot;chip_types&quot;:[&quot;text&quot;,&quot;header&quot;]},{&quot;text_align&quot;:&quot;ct&quot;,&quot;text_direction&quot;:&quot;horizontal&quot;,&quot;support_big_font&quot;:true,&quot;picture_toward&quot;:0,&quot;picture_dockside&quot;:[],&quot;fill_id&quot;:&quot;85fe55258c1643f296a379467dde860b&quot;,&quot;fill_align&quot;:&quot;ct&quot;,&quot;chip_types&quot;:[&quot;text&quot;,&quot;header&quot;]}]]"/>
  <p:tag name="KSO_WM_CHIP_DECFILLPROP" val="[]"/>
  <p:tag name="KSO_WM_CHIP_GROUPID" val="5fd06e271fa9d42129da2b1f"/>
  <p:tag name="KSO_WM_SLIDE_BK_DARK_LIGHT" val="2"/>
  <p:tag name="KSO_WM_SLIDE_BACKGROUND_TYPE" val="general"/>
  <p:tag name="KSO_WM_SLIDE_SUPPORT_FEATURE_TYPE" val="0"/>
  <p:tag name="KSO_WM_TEMPLATE_ASSEMBLE_XID" val="6065707b4054ed1e2fb81627"/>
  <p:tag name="KSO_WM_TEMPLATE_ASSEMBLE_GROUPID" val="6065707b4054ed1e2fb81627"/>
</p:tagLst>
</file>

<file path=ppt/tags/tag46.xml><?xml version="1.0" encoding="utf-8"?>
<p:tagLst xmlns:a="http://schemas.openxmlformats.org/drawingml/2006/main" xmlns:r="http://schemas.openxmlformats.org/officeDocument/2006/relationships" xmlns:p="http://schemas.openxmlformats.org/presentationml/2006/main">
  <p:tag name="KSO_WM_SLIDE_ID" val="diagram20217323_1"/>
  <p:tag name="KSO_WM_TEMPLATE_SUBCATEGORY" val="21"/>
  <p:tag name="KSO_WM_TEMPLATE_MASTER_TYPE" val="0"/>
  <p:tag name="KSO_WM_TEMPLATE_COLOR_TYPE" val="1"/>
  <p:tag name="KSO_WM_SLIDE_TYPE" val="text"/>
  <p:tag name="KSO_WM_SLIDE_SUBTYPE" val="pureTxt"/>
  <p:tag name="KSO_WM_SLIDE_ITEM_CNT" val="0"/>
  <p:tag name="KSO_WM_SLIDE_INDEX" val="1"/>
  <p:tag name="KSO_WM_TAG_VERSION" val="1.0"/>
  <p:tag name="KSO_WM_BEAUTIFY_FLAG" val="#wm#"/>
  <p:tag name="KSO_WM_TEMPLATE_CATEGORY" val="diagram"/>
  <p:tag name="KSO_WM_TEMPLATE_INDEX" val="20217323"/>
  <p:tag name="KSO_WM_SLIDE_LAYOUT" val="a_f"/>
  <p:tag name="KSO_WM_SLIDE_LAYOUT_CNT" val="1_1"/>
  <p:tag name="KSO_WM_TEMPLATE_THUMBS_INDEX" val="1、4、7、12、13、14、15、16、17、18、20、24、25、28、33、36、40、43、44"/>
  <p:tag name="KSO_WM_SLIDE_SIZE" val="840*472"/>
  <p:tag name="KSO_WM_SLIDE_POSITION" val="58*47"/>
  <p:tag name="KSO_WM_SLIDE_LAYOUT_INFO" val="{&quot;backgroundInfo&quot;:[{&quot;bottom&quot;:0,&quot;bottomAbs&quot;:false,&quot;left&quot;:0,&quot;leftAbs&quot;:false,&quot;right&quot;:0,&quot;rightAbs&quot;:false,&quot;top&quot;:0,&quot;topAbs&quot;:false,&quot;type&quot;:&quot;general&quot;}],&quot;id&quot;:&quot;2021-04-01T16:19:52&quot;,&quot;maxSize&quot;:{&quot;size1&quot;:55.23219037939001},&quot;minSize&quot;:{&quot;size1&quot;:36.03219037939001},&quot;normalSize&quot;:{&quot;size1&quot;:36.0323755645752},&quot;subLayout&quot;:[{&quot;id&quot;:&quot;2021-04-01T16:19:52&quot;,&quot;margin&quot;:{&quot;bottom&quot;:0.8479999303817749,&quot;left&quot;:5.502999782562256,&quot;right&quot;:5.502999782562256,&quot;top&quot;:3.38700008392334},&quot;type&quot;:0},{&quot;id&quot;:&quot;2021-04-01T16:19:52&quot;,&quot;margin&quot;:{&quot;bottom&quot;:3.38700008392334,&quot;left&quot;:5.502999782562256,&quot;right&quot;:5.502999782562256,&quot;top&quot;:0.02600000612437725},&quot;type&quot;:0}],&quot;type&quot;:0}"/>
  <p:tag name="KSO_WM_SLIDE_BACKGROUND" val="[&quot;general&quot;]"/>
  <p:tag name="KSO_WM_SLIDE_RATIO" val="1.777778"/>
  <p:tag name="KSO_WM_CHIP_INFOS" val="{&quot;type&quot;:0,&quot;layout_type&quot;:&quot;topbottom&quot;,&quot;layout_feature&quot;:1,&quot;aspect_ratio&quot;:&quot;16:9&quot;,&quot;same_font_size&quot;:false,&quot;diagram&quot;:{&quot;type&quot;:[],&quot;direction&quot;:0,&quot;isSupportDecBetweenItems&quot;:false},&quot;tags&quot;:{&quot;style&quot;:[&quot;商务&quot;,&quot;简约&quot;,&quot;文艺清新&quot;,&quot;中国风&quot;,&quot;卡通&quot;,&quot;欧美风&quot;,&quot;黑板风&quot;,&quot;渐变风&quot;,&quot;党政风&quot;]},&quot;slide_type&quot;:[&quot;text&quot;]}"/>
  <p:tag name="KSO_WM_CHIP_XID" val="5fd06e271fa9d42129da2b20"/>
  <p:tag name="KSO_WM_CHIP_FILLPROP" val="[[{&quot;text_align&quot;:&quot;lb&quot;,&quot;text_direction&quot;:&quot;horizontal&quot;,&quot;support_big_font&quot;:false,&quot;picture_toward&quot;:0,&quot;picture_dockside&quot;:[],&quot;fill_id&quot;:&quot;d689204f4de345a4982605551024dd38&quot;,&quot;fill_align&quot;:&quot;lb&quot;,&quot;chip_types&quot;:[&quot;text&quot;,&quot;header&quot;]},{&quot;text_align&quot;:&quot;lt&quot;,&quot;text_direction&quot;:&quot;horizontal&quot;,&quot;support_big_font&quot;:true,&quot;picture_toward&quot;:0,&quot;picture_dockside&quot;:[],&quot;fill_id&quot;:&quot;85fe55258c1643f296a379467dde860b&quot;,&quot;fill_align&quot;:&quot;lt&quot;,&quot;chip_types&quot;:[&quot;text&quot;,&quot;header&quot;]}],[{&quot;text_align&quot;:&quot;cb&quot;,&quot;text_direction&quot;:&quot;horizontal&quot;,&quot;support_big_font&quot;:false,&quot;picture_toward&quot;:0,&quot;picture_dockside&quot;:[],&quot;fill_id&quot;:&quot;d689204f4de345a4982605551024dd38&quot;,&quot;fill_align&quot;:&quot;cb&quot;,&quot;chip_types&quot;:[&quot;text&quot;,&quot;header&quot;]},{&quot;text_align&quot;:&quot;ct&quot;,&quot;text_direction&quot;:&quot;horizontal&quot;,&quot;support_big_font&quot;:true,&quot;picture_toward&quot;:0,&quot;picture_dockside&quot;:[],&quot;fill_id&quot;:&quot;85fe55258c1643f296a379467dde860b&quot;,&quot;fill_align&quot;:&quot;ct&quot;,&quot;chip_types&quot;:[&quot;text&quot;,&quot;header&quot;]}]]"/>
  <p:tag name="KSO_WM_CHIP_DECFILLPROP" val="[]"/>
  <p:tag name="KSO_WM_CHIP_GROUPID" val="5fd06e271fa9d42129da2b1f"/>
  <p:tag name="KSO_WM_SLIDE_BK_DARK_LIGHT" val="2"/>
  <p:tag name="KSO_WM_SLIDE_BACKGROUND_TYPE" val="general"/>
  <p:tag name="KSO_WM_SLIDE_SUPPORT_FEATURE_TYPE" val="0"/>
  <p:tag name="KSO_WM_TEMPLATE_ASSEMBLE_XID" val="6065707b4054ed1e2fb81627"/>
  <p:tag name="KSO_WM_TEMPLATE_ASSEMBLE_GROUPID" val="6065707b4054ed1e2fb81627"/>
</p:tagLst>
</file>

<file path=ppt/tags/tag4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81.xml><?xml version="1.0" encoding="utf-8"?>
<p:tagLst xmlns:p="http://schemas.openxmlformats.org/presentationml/2006/main">
  <p:tag name="KSO_WM_BEAUTIFY_FLAG" val=""/>
</p:tagLst>
</file>

<file path=ppt/tags/tag189.xml><?xml version="1.0" encoding="utf-8"?>
<p:tagLst xmlns:p="http://schemas.openxmlformats.org/presentationml/2006/main">
  <p:tag name="KSO_WM_BEAUTIFY_FLAG" val=""/>
</p:tagLst>
</file>

<file path=ppt/tags/tag192.xml><?xml version="1.0" encoding="utf-8"?>
<p:tagLst xmlns:p="http://schemas.openxmlformats.org/presentationml/2006/main">
  <p:tag name="KSO_WM_BEAUTIFY_FLAG" val=""/>
</p:tagLst>
</file>

<file path=ppt/tags/tag1860.xml><?xml version="1.0" encoding="utf-8"?>
<p:tagLst xmlns:p="http://schemas.openxmlformats.org/presentationml/2006/main">
  <p:tag name="KSO_WM_BEAUTIFY_FLAG" val=""/>
</p:tagLst>
</file>

<file path=ppt/theme/theme1.xml><?xml version="1.0" encoding="utf-8"?>
<a:theme xmlns:a="http://schemas.openxmlformats.org/drawingml/2006/main" name="1_自定义设计方案">
  <a:themeElements>
    <a:clrScheme name="潘冬远waxy">
      <a:dk1>
        <a:srgbClr val="B61616"/>
      </a:dk1>
      <a:lt1>
        <a:srgbClr val="FFFFFF"/>
      </a:lt1>
      <a:dk2>
        <a:srgbClr val="242C2D"/>
      </a:dk2>
      <a:lt2>
        <a:srgbClr val="133984"/>
      </a:lt2>
      <a:accent1>
        <a:srgbClr val="D73C1E"/>
      </a:accent1>
      <a:accent2>
        <a:srgbClr val="3769AF"/>
      </a:accent2>
      <a:accent3>
        <a:srgbClr val="EBAA05"/>
      </a:accent3>
      <a:accent4>
        <a:srgbClr val="A0B932"/>
      </a:accent4>
      <a:accent5>
        <a:srgbClr val="82B9BE"/>
      </a:accent5>
      <a:accent6>
        <a:srgbClr val="B4915F"/>
      </a:accent6>
      <a:hlink>
        <a:srgbClr val="196E7D"/>
      </a:hlink>
      <a:folHlink>
        <a:srgbClr val="BEBEBE"/>
      </a:folHlink>
    </a:clrScheme>
    <a:fontScheme name="SJTU标准I">
      <a:majorFont>
        <a:latin typeface="Book Antiqua"/>
        <a:ea typeface="黑体"/>
        <a:cs typeface=""/>
      </a:majorFont>
      <a:minorFont>
        <a:latin typeface="Book Antiqua"/>
        <a:ea typeface="黑体"/>
        <a:cs typeface=""/>
      </a:minorFont>
    </a:fontScheme>
    <a:fmtScheme name="光面">
      <a:fillStyleLst>
        <a:solidFill>
          <a:schemeClr val="phClr"/>
        </a:solidFill>
        <a:gradFill rotWithShape="1">
          <a:gsLst>
            <a:gs pos="0">
              <a:schemeClr val="phClr">
                <a:tint val="62000"/>
                <a:satMod val="180000"/>
              </a:schemeClr>
            </a:gs>
            <a:gs pos="65000">
              <a:schemeClr val="phClr">
                <a:tint val="32000"/>
                <a:satMod val="250000"/>
              </a:schemeClr>
            </a:gs>
            <a:gs pos="100000">
              <a:schemeClr val="phClr">
                <a:tint val="23000"/>
                <a:satMod val="300000"/>
              </a:schemeClr>
            </a:gs>
          </a:gsLst>
          <a:lin ang="16200000" scaled="0"/>
        </a:gradFill>
        <a:gradFill rotWithShape="1">
          <a:gsLst>
            <a:gs pos="0">
              <a:schemeClr val="phClr">
                <a:shade val="15000"/>
                <a:satMod val="180000"/>
              </a:schemeClr>
            </a:gs>
            <a:gs pos="50000">
              <a:schemeClr val="phClr">
                <a:shade val="45000"/>
                <a:satMod val="170000"/>
              </a:schemeClr>
            </a:gs>
            <a:gs pos="70000">
              <a:schemeClr val="phClr">
                <a:tint val="99000"/>
                <a:shade val="65000"/>
                <a:satMod val="155000"/>
              </a:schemeClr>
            </a:gs>
            <a:gs pos="100000">
              <a:schemeClr val="phClr">
                <a:tint val="95500"/>
                <a:shade val="100000"/>
                <a:satMod val="155000"/>
              </a:schemeClr>
            </a:gs>
          </a:gsLst>
          <a:lin ang="16200000" scaled="0"/>
        </a:gradFill>
      </a:fillStyleLst>
      <a:lnStyleLst>
        <a:ln w="12700" cap="flat" cmpd="sng" algn="ctr">
          <a:solidFill>
            <a:schemeClr val="phClr">
              <a:tint val="95000"/>
              <a:shade val="95000"/>
              <a:satMod val="120000"/>
            </a:schemeClr>
          </a:solidFill>
          <a:prstDash val="solid"/>
        </a:ln>
        <a:ln w="55000" cap="flat" cmpd="thickThin" algn="ctr">
          <a:solidFill>
            <a:schemeClr val="phClr">
              <a:tint val="90000"/>
              <a:satMod val="130000"/>
            </a:schemeClr>
          </a:solidFill>
          <a:prstDash val="solid"/>
        </a:ln>
        <a:ln w="50800" cap="flat" cmpd="sng" algn="ctr">
          <a:solidFill>
            <a:schemeClr val="phClr"/>
          </a:solidFill>
          <a:prstDash val="solid"/>
        </a:ln>
      </a:lnStyleLst>
      <a:effectStyleLst>
        <a:effectStyle>
          <a:effectLst>
            <a:outerShdw blurRad="50800" dist="38100" dir="5400000" rotWithShape="0">
              <a:srgbClr val="000000">
                <a:alpha val="35000"/>
              </a:srgbClr>
            </a:outerShdw>
          </a:effectLst>
        </a:effectStyle>
        <a:effectStyle>
          <a:effectLst>
            <a:outerShdw blurRad="50800" dist="38100" dir="5400000" rotWithShape="0">
              <a:srgbClr val="000000">
                <a:alpha val="35000"/>
              </a:srgbClr>
            </a:outerShdw>
          </a:effectLst>
        </a:effectStyle>
        <a:effectStyle>
          <a:effectLst>
            <a:outerShdw blurRad="63500" dist="38100" dir="5400000" rotWithShape="0">
              <a:srgbClr val="000000">
                <a:alpha val="45000"/>
              </a:srgbClr>
            </a:outerShdw>
          </a:effectLst>
          <a:scene3d>
            <a:camera prst="orthographicFront">
              <a:rot lat="0" lon="0" rev="0"/>
            </a:camera>
            <a:lightRig rig="glow" dir="t">
              <a:rot lat="0" lon="0" rev="6360000"/>
            </a:lightRig>
          </a:scene3d>
          <a:sp3d contourW="1000" prstMaterial="flat">
            <a:bevelT w="95250" h="101600"/>
            <a:contourClr>
              <a:schemeClr val="phClr">
                <a:satMod val="300000"/>
              </a:schemeClr>
            </a:contourClr>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38100">
          <a:solidFill>
            <a:srgbClr val="C00000"/>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l">
          <a:defRPr sz="20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自定义设计方案">
  <a:themeElements>
    <a:clrScheme name="潘冬远waxy">
      <a:dk1>
        <a:srgbClr val="B61616"/>
      </a:dk1>
      <a:lt1>
        <a:srgbClr val="FFFFFF"/>
      </a:lt1>
      <a:dk2>
        <a:srgbClr val="242C2D"/>
      </a:dk2>
      <a:lt2>
        <a:srgbClr val="133984"/>
      </a:lt2>
      <a:accent1>
        <a:srgbClr val="D73C1E"/>
      </a:accent1>
      <a:accent2>
        <a:srgbClr val="3769AF"/>
      </a:accent2>
      <a:accent3>
        <a:srgbClr val="EBAA05"/>
      </a:accent3>
      <a:accent4>
        <a:srgbClr val="A0B932"/>
      </a:accent4>
      <a:accent5>
        <a:srgbClr val="82B9BE"/>
      </a:accent5>
      <a:accent6>
        <a:srgbClr val="B4915F"/>
      </a:accent6>
      <a:hlink>
        <a:srgbClr val="196E7D"/>
      </a:hlink>
      <a:folHlink>
        <a:srgbClr val="BEBEBE"/>
      </a:folHlink>
    </a:clrScheme>
    <a:fontScheme name="自定义 1">
      <a:majorFont>
        <a:latin typeface="Segoe UI"/>
        <a:ea typeface="微软雅黑"/>
        <a:cs typeface=""/>
      </a:majorFont>
      <a:minorFont>
        <a:latin typeface="Segoe UI"/>
        <a:ea typeface="微软雅黑"/>
        <a:cs typeface=""/>
      </a:minorFont>
    </a:fontScheme>
    <a:fmtScheme name="光面">
      <a:fillStyleLst>
        <a:solidFill>
          <a:schemeClr val="phClr"/>
        </a:solidFill>
        <a:gradFill rotWithShape="1">
          <a:gsLst>
            <a:gs pos="0">
              <a:schemeClr val="phClr">
                <a:tint val="62000"/>
                <a:satMod val="180000"/>
              </a:schemeClr>
            </a:gs>
            <a:gs pos="65000">
              <a:schemeClr val="phClr">
                <a:tint val="32000"/>
                <a:satMod val="250000"/>
              </a:schemeClr>
            </a:gs>
            <a:gs pos="100000">
              <a:schemeClr val="phClr">
                <a:tint val="23000"/>
                <a:satMod val="300000"/>
              </a:schemeClr>
            </a:gs>
          </a:gsLst>
          <a:lin ang="16200000" scaled="0"/>
        </a:gradFill>
        <a:gradFill rotWithShape="1">
          <a:gsLst>
            <a:gs pos="0">
              <a:schemeClr val="phClr">
                <a:shade val="15000"/>
                <a:satMod val="180000"/>
              </a:schemeClr>
            </a:gs>
            <a:gs pos="50000">
              <a:schemeClr val="phClr">
                <a:shade val="45000"/>
                <a:satMod val="170000"/>
              </a:schemeClr>
            </a:gs>
            <a:gs pos="70000">
              <a:schemeClr val="phClr">
                <a:tint val="99000"/>
                <a:shade val="65000"/>
                <a:satMod val="155000"/>
              </a:schemeClr>
            </a:gs>
            <a:gs pos="100000">
              <a:schemeClr val="phClr">
                <a:tint val="95500"/>
                <a:shade val="100000"/>
                <a:satMod val="155000"/>
              </a:schemeClr>
            </a:gs>
          </a:gsLst>
          <a:lin ang="16200000" scaled="0"/>
        </a:gradFill>
      </a:fillStyleLst>
      <a:lnStyleLst>
        <a:ln w="12700" cap="flat" cmpd="sng" algn="ctr">
          <a:solidFill>
            <a:schemeClr val="phClr">
              <a:tint val="95000"/>
              <a:shade val="95000"/>
              <a:satMod val="120000"/>
            </a:schemeClr>
          </a:solidFill>
          <a:prstDash val="solid"/>
        </a:ln>
        <a:ln w="55000" cap="flat" cmpd="thickThin" algn="ctr">
          <a:solidFill>
            <a:schemeClr val="phClr">
              <a:tint val="90000"/>
              <a:satMod val="130000"/>
            </a:schemeClr>
          </a:solidFill>
          <a:prstDash val="solid"/>
        </a:ln>
        <a:ln w="50800" cap="flat" cmpd="sng" algn="ctr">
          <a:solidFill>
            <a:schemeClr val="phClr"/>
          </a:solidFill>
          <a:prstDash val="solid"/>
        </a:ln>
      </a:lnStyleLst>
      <a:effectStyleLst>
        <a:effectStyle>
          <a:effectLst>
            <a:outerShdw blurRad="50800" dist="38100" dir="5400000" rotWithShape="0">
              <a:srgbClr val="000000">
                <a:alpha val="35000"/>
              </a:srgbClr>
            </a:outerShdw>
          </a:effectLst>
        </a:effectStyle>
        <a:effectStyle>
          <a:effectLst>
            <a:outerShdw blurRad="50800" dist="38100" dir="5400000" rotWithShape="0">
              <a:srgbClr val="000000">
                <a:alpha val="35000"/>
              </a:srgbClr>
            </a:outerShdw>
          </a:effectLst>
        </a:effectStyle>
        <a:effectStyle>
          <a:effectLst>
            <a:outerShdw blurRad="63500" dist="38100" dir="5400000" rotWithShape="0">
              <a:srgbClr val="000000">
                <a:alpha val="45000"/>
              </a:srgbClr>
            </a:outerShdw>
          </a:effectLst>
          <a:scene3d>
            <a:camera prst="orthographicFront">
              <a:rot lat="0" lon="0" rev="0"/>
            </a:camera>
            <a:lightRig rig="glow" dir="t">
              <a:rot lat="0" lon="0" rev="6360000"/>
            </a:lightRig>
          </a:scene3d>
          <a:sp3d contourW="1000" prstMaterial="flat">
            <a:bevelT w="95250" h="101600"/>
            <a:contourClr>
              <a:schemeClr val="phClr">
                <a:satMod val="300000"/>
              </a:schemeClr>
            </a:contourClr>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38100">
          <a:solidFill>
            <a:srgbClr val="C00000"/>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l">
          <a:defRPr sz="20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1198</TotalTime>
  <Words>1835</Words>
  <Application>Microsoft Office PowerPoint</Application>
  <PresentationFormat>宽屏</PresentationFormat>
  <Paragraphs>187</Paragraphs>
  <Slides>37</Slides>
  <Notes>1</Notes>
  <HiddenSlides>0</HiddenSlides>
  <MMClips>0</MMClips>
  <ScaleCrop>false</ScaleCrop>
  <HeadingPairs>
    <vt:vector size="6" baseType="variant">
      <vt:variant>
        <vt:lpstr>已用的字体</vt:lpstr>
      </vt:variant>
      <vt:variant>
        <vt:i4>14</vt:i4>
      </vt:variant>
      <vt:variant>
        <vt:lpstr>主题</vt:lpstr>
      </vt:variant>
      <vt:variant>
        <vt:i4>2</vt:i4>
      </vt:variant>
      <vt:variant>
        <vt:lpstr>幻灯片标题</vt:lpstr>
      </vt:variant>
      <vt:variant>
        <vt:i4>37</vt:i4>
      </vt:variant>
    </vt:vector>
  </HeadingPairs>
  <TitlesOfParts>
    <vt:vector size="53" baseType="lpstr">
      <vt:lpstr>CMMI10</vt:lpstr>
      <vt:lpstr>FandolSong-Regular-Identity-H</vt:lpstr>
      <vt:lpstr>LMRoman10-Regular-Identity-H</vt:lpstr>
      <vt:lpstr>quote-cjk-patch</vt:lpstr>
      <vt:lpstr>等线</vt:lpstr>
      <vt:lpstr>等线 Light</vt:lpstr>
      <vt:lpstr>华文宋体</vt:lpstr>
      <vt:lpstr>微软雅黑</vt:lpstr>
      <vt:lpstr>Arial</vt:lpstr>
      <vt:lpstr>Book Antiqua</vt:lpstr>
      <vt:lpstr>Cambria Math</vt:lpstr>
      <vt:lpstr>Segoe UI</vt:lpstr>
      <vt:lpstr>Times New Roman</vt:lpstr>
      <vt:lpstr>Wingdings</vt:lpstr>
      <vt:lpstr>1_自定义设计方案</vt:lpstr>
      <vt:lpstr>2_自定义设计方案</vt:lpstr>
      <vt:lpstr>PowerPoint 演示文稿</vt:lpstr>
      <vt:lpstr>参考：《深度学习现象导论》第三章。</vt:lpstr>
      <vt:lpstr>神经网络简介</vt:lpstr>
      <vt:lpstr>单个神经元如何感知信息</vt:lpstr>
      <vt:lpstr>单个神经元如何感知信息</vt:lpstr>
      <vt:lpstr>PowerPoint 演示文稿</vt:lpstr>
      <vt:lpstr>PowerPoint 演示文稿</vt:lpstr>
      <vt:lpstr>PowerPoint 演示文稿</vt:lpstr>
      <vt:lpstr>PowerPoint 演示文稿</vt:lpstr>
      <vt:lpstr>PowerPoint 演示文稿</vt:lpstr>
      <vt:lpstr>PowerPoint 演示文稿</vt:lpstr>
      <vt:lpstr>多层神经网络</vt:lpstr>
      <vt:lpstr>理解神经网络</vt:lpstr>
      <vt:lpstr>PowerPoint 演示文稿</vt:lpstr>
      <vt:lpstr>万有逼近定理</vt:lpstr>
      <vt:lpstr>PowerPoint 演示文稿</vt:lpstr>
      <vt:lpstr>多层神经网络</vt:lpstr>
      <vt:lpstr>请思考</vt:lpstr>
      <vt:lpstr>残差神经网络</vt:lpstr>
      <vt:lpstr>退化问题</vt:lpstr>
      <vt:lpstr>Sigmoid函数饱和</vt:lpstr>
      <vt:lpstr>残差神经网络</vt:lpstr>
      <vt:lpstr>退化问题</vt:lpstr>
      <vt:lpstr>复习：损失函数</vt:lpstr>
      <vt:lpstr>复习：损失函数</vt:lpstr>
      <vt:lpstr>参数的初始化</vt:lpstr>
      <vt:lpstr>参数的初始化</vt:lpstr>
      <vt:lpstr>实验</vt:lpstr>
      <vt:lpstr>Kaggle介绍</vt:lpstr>
      <vt:lpstr>Kaggle注册</vt:lpstr>
      <vt:lpstr>经典分类任务 MNIST 数据集介绍</vt:lpstr>
      <vt:lpstr>代码简介</vt:lpstr>
      <vt:lpstr>Kaggle跑实验说明</vt:lpstr>
      <vt:lpstr>Kaggle提交成绩</vt:lpstr>
      <vt:lpstr>习题</vt:lpstr>
      <vt:lpstr>参考答案</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Frequency perspective to understand depth effect and robustness of deep learning</dc:title>
  <dc:creator>zhiqin xu</dc:creator>
  <cp:lastModifiedBy>zhiqin xu</cp:lastModifiedBy>
  <cp:revision>632</cp:revision>
  <dcterms:created xsi:type="dcterms:W3CDTF">2020-06-05T07:59:00Z</dcterms:created>
  <dcterms:modified xsi:type="dcterms:W3CDTF">2026-02-25T15:00:26Z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31F957580B7B45D18D290D792645BC9D_13</vt:lpwstr>
  </property>
  <property fmtid="{D5CDD505-2E9C-101B-9397-08002B2CF9AE}" pid="3" name="KSOProductBuildVer">
    <vt:lpwstr>2052-12.1.0.19770</vt:lpwstr>
  </property>
</Properties>
</file>