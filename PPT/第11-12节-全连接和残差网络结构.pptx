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6.xml" ContentType="application/vnd.openxmlformats-officedocument.presentationml.tags+xml"/>
  <Override PartName="/ppt/tags/tag181.xml" ContentType="application/vnd.openxmlformats-officedocument.presentationml.tags+xml"/>
  <Override PartName="/ppt/tags/tag1860.xml" ContentType="application/vnd.openxmlformats-officedocument.presentationml.tags+xml"/>
  <Override PartName="/ppt/tags/tag189.xml" ContentType="application/vnd.openxmlformats-officedocument.presentationml.tags+xml"/>
  <Override PartName="/ppt/tags/tag192.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40"/>
  </p:notesMasterIdLst>
  <p:sldIdLst>
    <p:sldId id="2314" r:id="rId3"/>
    <p:sldId id="10905" r:id="rId4"/>
    <p:sldId id="10442" r:id="rId5"/>
    <p:sldId id="10899" r:id="rId6"/>
    <p:sldId id="390" r:id="rId7"/>
    <p:sldId id="391" r:id="rId8"/>
    <p:sldId id="392" r:id="rId9"/>
    <p:sldId id="393" r:id="rId10"/>
    <p:sldId id="394" r:id="rId11"/>
    <p:sldId id="395" r:id="rId12"/>
    <p:sldId id="396" r:id="rId13"/>
    <p:sldId id="10900" r:id="rId14"/>
    <p:sldId id="10901" r:id="rId15"/>
    <p:sldId id="397" r:id="rId16"/>
    <p:sldId id="10446" r:id="rId17"/>
    <p:sldId id="398" r:id="rId18"/>
    <p:sldId id="10444" r:id="rId19"/>
    <p:sldId id="10898" r:id="rId20"/>
    <p:sldId id="10813" r:id="rId21"/>
    <p:sldId id="10349" r:id="rId22"/>
    <p:sldId id="10351" r:id="rId23"/>
    <p:sldId id="10352" r:id="rId24"/>
    <p:sldId id="10904" r:id="rId25"/>
    <p:sldId id="10420" r:id="rId26"/>
    <p:sldId id="10902" r:id="rId27"/>
    <p:sldId id="10451" r:id="rId28"/>
    <p:sldId id="376" r:id="rId29"/>
    <p:sldId id="10860" r:id="rId30"/>
    <p:sldId id="10861" r:id="rId31"/>
    <p:sldId id="10862" r:id="rId32"/>
    <p:sldId id="10863" r:id="rId33"/>
    <p:sldId id="10864" r:id="rId34"/>
    <p:sldId id="10865" r:id="rId35"/>
    <p:sldId id="10866" r:id="rId36"/>
    <p:sldId id="10356" r:id="rId37"/>
    <p:sldId id="10358" r:id="rId38"/>
    <p:sldId id="10321"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耀宇" initials="张耀宇" lastIdx="1" clrIdx="0"/>
  <p:cmAuthor id="2" name="zhiqin xu" initials="zx" lastIdx="1" clrIdx="1"/>
  <p:cmAuthor id="3" name="Microsoft Office User" initials="MOU" lastIdx="2" clrIdx="2">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707"/>
    <a:srgbClr val="FF9966"/>
    <a:srgbClr val="002B7F"/>
    <a:srgbClr val="1D41D5"/>
    <a:srgbClr val="3232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23" autoAdjust="0"/>
    <p:restoredTop sz="89457" autoAdjust="0"/>
  </p:normalViewPr>
  <p:slideViewPr>
    <p:cSldViewPr snapToGrid="0">
      <p:cViewPr varScale="1">
        <p:scale>
          <a:sx n="85" d="100"/>
          <a:sy n="85" d="100"/>
        </p:scale>
        <p:origin x="294" y="48"/>
      </p:cViewPr>
      <p:guideLst/>
    </p:cSldViewPr>
  </p:slideViewPr>
  <p:notesTextViewPr>
    <p:cViewPr>
      <p:scale>
        <a:sx n="3" d="2"/>
        <a:sy n="3" d="2"/>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CCD4-B0A0-4411-AF27-E52F275BA53D}" type="datetimeFigureOut">
              <a:rPr lang="zh-CN" altLang="en-US" smtClean="0"/>
              <a:t>2026/5/24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B6C25-FFE4-4126-ADF1-3137FE8DB2D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FB6C25-FFE4-4126-ADF1-3137FE8DB2D2}"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0.jpeg"/></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2026/5/24</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2026/5/24</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047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14" name="图片 13" descr="图片包含 建筑物, 圆屋顶, 地板&#10;&#10;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1" cy="6858000"/>
          </a:xfrm>
          <a:prstGeom prst="rect">
            <a:avLst/>
          </a:prstGeom>
        </p:spPr>
      </p:pic>
      <p:sp>
        <p:nvSpPr>
          <p:cNvPr id="18" name="平行四边形 17"/>
          <p:cNvSpPr/>
          <p:nvPr userDrawn="1"/>
        </p:nvSpPr>
        <p:spPr>
          <a:xfrm>
            <a:off x="0" y="1"/>
            <a:ext cx="12191483" cy="685800"/>
          </a:xfrm>
          <a:prstGeom prst="parallelogram">
            <a:avLst>
              <a:gd name="adj" fmla="val 4444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灯片编号占位符 2"/>
          <p:cNvSpPr>
            <a:spLocks noGrp="1"/>
          </p:cNvSpPr>
          <p:nvPr>
            <p:ph type="sldNum" sz="quarter" idx="10"/>
          </p:nvPr>
        </p:nvSpPr>
        <p:spPr/>
        <p:txBody>
          <a:bodyPr/>
          <a:lstStyle/>
          <a:p>
            <a:fld id="{6C53781C-E1F6-4315-A39D-61273F2E0596}" type="slidenum">
              <a:rPr lang="zh-CN" altLang="en-US" smtClean="0"/>
              <a:t>‹#›</a:t>
            </a:fld>
            <a:endParaRPr lang="zh-CN" altLang="en-US" dirty="0"/>
          </a:p>
        </p:txBody>
      </p:sp>
      <p:pic>
        <p:nvPicPr>
          <p:cNvPr id="7" name="图片 6" descr="图片包含 户外, 标牌, 黑色&#10;&#10;自动生成的说明"/>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19056" y="73482"/>
            <a:ext cx="538838" cy="538838"/>
          </a:xfrm>
          <a:prstGeom prst="rect">
            <a:avLst/>
          </a:prstGeom>
        </p:spPr>
      </p:pic>
      <p:sp>
        <p:nvSpPr>
          <p:cNvPr id="8" name="文本占位符 31"/>
          <p:cNvSpPr>
            <a:spLocks noGrp="1"/>
          </p:cNvSpPr>
          <p:nvPr>
            <p:ph type="body" sz="quarter" idx="11"/>
          </p:nvPr>
        </p:nvSpPr>
        <p:spPr>
          <a:xfrm>
            <a:off x="1075351" y="43657"/>
            <a:ext cx="7081677" cy="598488"/>
          </a:xfrm>
          <a:prstGeom prst="rect">
            <a:avLst/>
          </a:prstGeom>
        </p:spPr>
        <p:txBody>
          <a:bodyPr anchor="ctr"/>
          <a:lstStyle>
            <a:lvl1pPr marL="0" indent="0" algn="l">
              <a:lnSpc>
                <a:spcPct val="100000"/>
              </a:lnSpc>
              <a:buNone/>
              <a:defRPr sz="3200" b="1">
                <a:solidFill>
                  <a:schemeClr val="bg1"/>
                </a:solidFill>
              </a:defRPr>
            </a:lvl1pPr>
          </a:lstStyle>
          <a:p>
            <a:pPr lvl="0"/>
            <a:endParaRPr lang="zh-CN" altLang="en-US" dirty="0"/>
          </a:p>
        </p:txBody>
      </p:sp>
      <p:sp>
        <p:nvSpPr>
          <p:cNvPr id="9" name="文本占位符 31"/>
          <p:cNvSpPr>
            <a:spLocks noGrp="1"/>
          </p:cNvSpPr>
          <p:nvPr>
            <p:ph type="body" sz="quarter" idx="12"/>
          </p:nvPr>
        </p:nvSpPr>
        <p:spPr>
          <a:xfrm>
            <a:off x="319056" y="6438900"/>
            <a:ext cx="4151344" cy="419100"/>
          </a:xfrm>
          <a:prstGeom prst="rect">
            <a:avLst/>
          </a:prstGeom>
        </p:spPr>
        <p:txBody>
          <a:bodyPr lIns="0" tIns="0" rIns="0" bIns="0" anchor="ctr"/>
          <a:lstStyle>
            <a:lvl1pPr marL="0" indent="0" algn="l">
              <a:lnSpc>
                <a:spcPct val="100000"/>
              </a:lnSpc>
              <a:buNone/>
              <a:defRPr sz="2000" b="0">
                <a:solidFill>
                  <a:schemeClr val="tx1">
                    <a:lumMod val="75000"/>
                    <a:lumOff val="25000"/>
                  </a:schemeClr>
                </a:solidFill>
              </a:defRPr>
            </a:lvl1pPr>
          </a:lstStyle>
          <a:p>
            <a:pPr lvl="0"/>
            <a:endParaRPr lang="zh-CN" altLang="en-US" dirty="0"/>
          </a:p>
        </p:txBody>
      </p:sp>
      <p:sp>
        <p:nvSpPr>
          <p:cNvPr id="10" name="文本占位符 31"/>
          <p:cNvSpPr>
            <a:spLocks noGrp="1"/>
          </p:cNvSpPr>
          <p:nvPr>
            <p:ph type="body" sz="quarter" idx="13"/>
          </p:nvPr>
        </p:nvSpPr>
        <p:spPr>
          <a:xfrm>
            <a:off x="4788940" y="6438900"/>
            <a:ext cx="4151344" cy="419100"/>
          </a:xfrm>
          <a:prstGeom prst="rect">
            <a:avLst/>
          </a:prstGeom>
        </p:spPr>
        <p:txBody>
          <a:bodyPr lIns="0" tIns="0" rIns="0" bIns="0" anchor="ctr"/>
          <a:lstStyle>
            <a:lvl1pPr marL="0" indent="0" algn="l">
              <a:lnSpc>
                <a:spcPct val="100000"/>
              </a:lnSpc>
              <a:buNone/>
              <a:defRPr sz="2000" b="0">
                <a:solidFill>
                  <a:schemeClr val="tx1">
                    <a:lumMod val="75000"/>
                    <a:lumOff val="25000"/>
                  </a:schemeClr>
                </a:solidFill>
              </a:defRPr>
            </a:lvl1pPr>
          </a:lstStyle>
          <a:p>
            <a:pPr lvl="0"/>
            <a:endParaRPr lang="zh-CN" altLang="en-US" dirty="0"/>
          </a:p>
        </p:txBody>
      </p:sp>
      <p:sp>
        <p:nvSpPr>
          <p:cNvPr id="17" name="文本占位符 16"/>
          <p:cNvSpPr>
            <a:spLocks noGrp="1"/>
          </p:cNvSpPr>
          <p:nvPr>
            <p:ph type="body" sz="quarter" idx="14" hasCustomPrompt="1"/>
          </p:nvPr>
        </p:nvSpPr>
        <p:spPr>
          <a:xfrm>
            <a:off x="319056" y="766710"/>
            <a:ext cx="11568144" cy="4765791"/>
          </a:xfrm>
          <a:prstGeom prst="rect">
            <a:avLst/>
          </a:prstGeom>
        </p:spPr>
        <p:txBody>
          <a:bodyPr/>
          <a:lstStyle>
            <a:lvl1pPr marL="228600" indent="-228600">
              <a:lnSpc>
                <a:spcPct val="130000"/>
              </a:lnSpc>
              <a:buFontTx/>
              <a:buBlip>
                <a:blip r:embed="rId4"/>
              </a:buBlip>
              <a:defRPr sz="2000">
                <a:solidFill>
                  <a:schemeClr val="accent2"/>
                </a:solidFill>
              </a:defRPr>
            </a:lvl1pPr>
            <a:lvl2pPr>
              <a:lnSpc>
                <a:spcPct val="130000"/>
              </a:lnSpc>
              <a:defRPr sz="2000">
                <a:solidFill>
                  <a:schemeClr val="accent2"/>
                </a:solidFill>
              </a:defRPr>
            </a:lvl2pPr>
            <a:lvl3pPr>
              <a:lnSpc>
                <a:spcPct val="130000"/>
              </a:lnSpc>
              <a:defRPr sz="1800">
                <a:solidFill>
                  <a:schemeClr val="accent2"/>
                </a:solidFill>
              </a:defRPr>
            </a:lvl3pPr>
            <a:lvl4pPr>
              <a:lnSpc>
                <a:spcPct val="130000"/>
              </a:lnSpc>
              <a:defRPr sz="1600">
                <a:solidFill>
                  <a:schemeClr val="accent2"/>
                </a:solidFill>
              </a:defRPr>
            </a:lvl4pPr>
            <a:lvl5pPr>
              <a:lnSpc>
                <a:spcPct val="130000"/>
              </a:lnSpc>
              <a:defRPr sz="1600">
                <a:solidFill>
                  <a:schemeClr val="accent2"/>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平行四边形 20"/>
          <p:cNvSpPr/>
          <p:nvPr userDrawn="1"/>
        </p:nvSpPr>
        <p:spPr>
          <a:xfrm>
            <a:off x="11428834" y="119857"/>
            <a:ext cx="473565" cy="242093"/>
          </a:xfrm>
          <a:prstGeom prst="parallelogram">
            <a:avLst>
              <a:gd name="adj" fmla="val 44445"/>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平行四边形 21"/>
          <p:cNvSpPr/>
          <p:nvPr userDrawn="1"/>
        </p:nvSpPr>
        <p:spPr>
          <a:xfrm>
            <a:off x="11016782" y="322602"/>
            <a:ext cx="473565" cy="242093"/>
          </a:xfrm>
          <a:prstGeom prst="parallelogram">
            <a:avLst>
              <a:gd name="adj" fmla="val 44445"/>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 name="图片 11"/>
          <p:cNvPicPr>
            <a:picLocks noChangeAspect="1"/>
          </p:cNvPicPr>
          <p:nvPr userDrawn="1"/>
        </p:nvPicPr>
        <p:blipFill rotWithShape="1">
          <a:blip r:embed="rId5" cstate="print"/>
          <a:srcRect r="1346"/>
          <a:stretch>
            <a:fillRect/>
          </a:stretch>
        </p:blipFill>
        <p:spPr>
          <a:xfrm>
            <a:off x="516" y="6041797"/>
            <a:ext cx="12166903" cy="411617"/>
          </a:xfrm>
          <a:prstGeom prst="rect">
            <a:avLst/>
          </a:prstGeom>
        </p:spPr>
      </p:pic>
    </p:spTree>
    <p:extLst>
      <p:ext uri="{BB962C8B-B14F-4D97-AF65-F5344CB8AC3E}">
        <p14:creationId xmlns:p14="http://schemas.microsoft.com/office/powerpoint/2010/main" val="3412849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2026/5/24</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extLst>
      <p:ext uri="{BB962C8B-B14F-4D97-AF65-F5344CB8AC3E}">
        <p14:creationId xmlns:p14="http://schemas.microsoft.com/office/powerpoint/2010/main" val="1612764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2026/5/24</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extLst>
      <p:ext uri="{BB962C8B-B14F-4D97-AF65-F5344CB8AC3E}">
        <p14:creationId xmlns:p14="http://schemas.microsoft.com/office/powerpoint/2010/main" val="3882094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extLst>
      <p:ext uri="{BB962C8B-B14F-4D97-AF65-F5344CB8AC3E}">
        <p14:creationId xmlns:p14="http://schemas.microsoft.com/office/powerpoint/2010/main" val="409048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415511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35784129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133913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532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extLst>
      <p:ext uri="{BB962C8B-B14F-4D97-AF65-F5344CB8AC3E}">
        <p14:creationId xmlns:p14="http://schemas.microsoft.com/office/powerpoint/2010/main" val="2787789926"/>
      </p:ext>
    </p:extLst>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2.png"/><Relationship Id="rId5" Type="http://schemas.openxmlformats.org/officeDocument/2006/relationships/slideLayout" Target="../slideLayouts/slideLayout13.xml"/><Relationship Id="rId10" Type="http://schemas.openxmlformats.org/officeDocument/2006/relationships/image" Target="../media/image1.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0"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67" r:id="rId8"/>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0"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144448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tags" Target="../tags/tag6.xml"/><Relationship Id="rId3" Type="http://schemas.openxmlformats.org/officeDocument/2006/relationships/tags" Target="../tags/tag4.xml"/><Relationship Id="rId12" Type="http://schemas.openxmlformats.org/officeDocument/2006/relationships/image" Target="../media/image12.png"/><Relationship Id="rId2" Type="http://schemas.openxmlformats.org/officeDocument/2006/relationships/tags" Target="../tags/tag3.xml"/><Relationship Id="rId1" Type="http://schemas.openxmlformats.org/officeDocument/2006/relationships/tags" Target="../tags/tag2.xml"/><Relationship Id="rId11" Type="http://schemas.openxmlformats.org/officeDocument/2006/relationships/image" Target="../media/image38.png"/><Relationship Id="rId5" Type="http://schemas.openxmlformats.org/officeDocument/2006/relationships/slideLayout" Target="../slideLayouts/slideLayout5.xml"/><Relationship Id="rId10" Type="http://schemas.openxmlformats.org/officeDocument/2006/relationships/image" Target="../media/image13.png"/><Relationship Id="rId4" Type="http://schemas.openxmlformats.org/officeDocument/2006/relationships/tags" Target="../tags/tag5.xml"/><Relationship Id="rId9" Type="http://schemas.openxmlformats.org/officeDocument/2006/relationships/image" Target="../media/image36.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9.xml"/><Relationship Id="rId7" Type="http://schemas.openxmlformats.org/officeDocument/2006/relationships/image" Target="../media/image15.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4.png"/><Relationship Id="rId5" Type="http://schemas.openxmlformats.org/officeDocument/2006/relationships/slideLayout" Target="../slideLayouts/slideLayout8.xml"/><Relationship Id="rId4" Type="http://schemas.openxmlformats.org/officeDocument/2006/relationships/tags" Target="../tags/tag10.xml"/><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image" Target="../media/image20.png"/><Relationship Id="rId2" Type="http://schemas.openxmlformats.org/officeDocument/2006/relationships/tags" Target="../tags/tag14.xml"/><Relationship Id="rId16" Type="http://schemas.openxmlformats.org/officeDocument/2006/relationships/image" Target="../media/image320.png"/><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19.png"/><Relationship Id="rId5" Type="http://schemas.openxmlformats.org/officeDocument/2006/relationships/tags" Target="../tags/tag17.xml"/><Relationship Id="rId15" Type="http://schemas.openxmlformats.org/officeDocument/2006/relationships/tags" Target="../tags/tag181.xml"/><Relationship Id="rId10" Type="http://schemas.openxmlformats.org/officeDocument/2006/relationships/image" Target="../media/image18.png"/><Relationship Id="rId4" Type="http://schemas.openxmlformats.org/officeDocument/2006/relationships/tags" Target="../tags/tag16.xml"/><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860.xml"/><Relationship Id="rId18" Type="http://schemas.openxmlformats.org/officeDocument/2006/relationships/tags" Target="../tags/tag192.xml"/><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image" Target="../media/image210.png"/><Relationship Id="rId17" Type="http://schemas.openxmlformats.org/officeDocument/2006/relationships/image" Target="../media/image21.png"/><Relationship Id="rId2" Type="http://schemas.openxmlformats.org/officeDocument/2006/relationships/tags" Target="../tags/tag21.xml"/><Relationship Id="rId16" Type="http://schemas.openxmlformats.org/officeDocument/2006/relationships/image" Target="../media/image350.png"/><Relationship Id="rId20" Type="http://schemas.openxmlformats.org/officeDocument/2006/relationships/image" Target="../media/image380.png"/><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21.xml"/><Relationship Id="rId5" Type="http://schemas.openxmlformats.org/officeDocument/2006/relationships/tags" Target="../tags/tag24.xml"/><Relationship Id="rId15" Type="http://schemas.openxmlformats.org/officeDocument/2006/relationships/tags" Target="../tags/tag189.xml"/><Relationship Id="rId19" Type="http://schemas.openxmlformats.org/officeDocument/2006/relationships/image" Target="../media/image370.png"/><Relationship Id="rId4" Type="http://schemas.openxmlformats.org/officeDocument/2006/relationships/tags" Target="../tags/tag23.xml"/><Relationship Id="rId14" Type="http://schemas.openxmlformats.org/officeDocument/2006/relationships/image" Target="../media/image34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23.png"/><Relationship Id="rId4"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7.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28.png"/><Relationship Id="rId11" Type="http://schemas.openxmlformats.org/officeDocument/2006/relationships/image" Target="../media/image30.png"/><Relationship Id="rId5" Type="http://schemas.openxmlformats.org/officeDocument/2006/relationships/image" Target="../media/image27.png"/><Relationship Id="rId10" Type="http://schemas.openxmlformats.org/officeDocument/2006/relationships/image" Target="../media/image24.png"/><Relationship Id="rId4" Type="http://schemas.openxmlformats.org/officeDocument/2006/relationships/slideLayout" Target="../slideLayouts/slideLayout6.xml"/><Relationship Id="rId9" Type="http://schemas.openxmlformats.org/officeDocument/2006/relationships/image" Target="../media/image54.png"/></Relationships>
</file>

<file path=ppt/slides/_rels/slide14.xml.rels><?xml version="1.0" encoding="UTF-8" standalone="yes"?>
<Relationships xmlns="http://schemas.openxmlformats.org/package/2006/relationships"><Relationship Id="rId3" Type="http://schemas.openxmlformats.org/officeDocument/2006/relationships/tags" Target="../tags/tag39.xml"/><Relationship Id="rId7" Type="http://schemas.openxmlformats.org/officeDocument/2006/relationships/image" Target="../media/image31.png"/><Relationship Id="rId12" Type="http://schemas.openxmlformats.org/officeDocument/2006/relationships/image" Target="../media/image321.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29.png"/><Relationship Id="rId11" Type="http://schemas.openxmlformats.org/officeDocument/2006/relationships/image" Target="../media/image310.png"/><Relationship Id="rId5" Type="http://schemas.openxmlformats.org/officeDocument/2006/relationships/slideLayout" Target="../slideLayouts/slideLayout8.xml"/><Relationship Id="rId10" Type="http://schemas.openxmlformats.org/officeDocument/2006/relationships/tags" Target="../tags/tag40.xml"/><Relationship Id="rId4" Type="http://schemas.openxmlformats.org/officeDocument/2006/relationships/tags" Target="../tags/tag40.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image" Target="../media/image341.png"/><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33.png"/><Relationship Id="rId4"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7.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2.png"/><Relationship Id="rId7" Type="http://schemas.openxmlformats.org/officeDocument/2006/relationships/image" Target="../media/image34.png"/><Relationship Id="rId12" Type="http://schemas.openxmlformats.org/officeDocument/2006/relationships/image" Target="../media/image41.png"/><Relationship Id="rId2" Type="http://schemas.openxmlformats.org/officeDocument/2006/relationships/slideLayout" Target="../slideLayouts/slideLayout6.xml"/><Relationship Id="rId1" Type="http://schemas.openxmlformats.org/officeDocument/2006/relationships/tags" Target="../tags/tag46.xml"/><Relationship Id="rId6" Type="http://schemas.openxmlformats.org/officeDocument/2006/relationships/image" Target="../media/image130.png"/><Relationship Id="rId11" Type="http://schemas.openxmlformats.org/officeDocument/2006/relationships/image" Target="../media/image40.png"/><Relationship Id="rId5" Type="http://schemas.openxmlformats.org/officeDocument/2006/relationships/image" Target="../media/image120.png"/><Relationship Id="rId10" Type="http://schemas.openxmlformats.org/officeDocument/2006/relationships/image" Target="../media/image39.png"/><Relationship Id="rId9" Type="http://schemas.openxmlformats.org/officeDocument/2006/relationships/image" Target="../media/image37.png"/><Relationship Id="rId14"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360.png"/><Relationship Id="rId13" Type="http://schemas.openxmlformats.org/officeDocument/2006/relationships/image" Target="../media/image410.png"/><Relationship Id="rId7" Type="http://schemas.openxmlformats.org/officeDocument/2006/relationships/image" Target="../media/image3500.png"/><Relationship Id="rId12" Type="http://schemas.openxmlformats.org/officeDocument/2006/relationships/image" Target="../media/image401.png"/><Relationship Id="rId1" Type="http://schemas.openxmlformats.org/officeDocument/2006/relationships/slideLayout" Target="../slideLayouts/slideLayout6.xml"/><Relationship Id="rId6" Type="http://schemas.openxmlformats.org/officeDocument/2006/relationships/image" Target="../media/image3400.png"/><Relationship Id="rId11" Type="http://schemas.openxmlformats.org/officeDocument/2006/relationships/image" Target="../media/image390.png"/><Relationship Id="rId5" Type="http://schemas.openxmlformats.org/officeDocument/2006/relationships/image" Target="../media/image3300.png"/><Relationship Id="rId15" Type="http://schemas.openxmlformats.org/officeDocument/2006/relationships/image" Target="../media/image46.png"/><Relationship Id="rId10" Type="http://schemas.openxmlformats.org/officeDocument/2006/relationships/image" Target="../media/image3800.png"/><Relationship Id="rId4" Type="http://schemas.openxmlformats.org/officeDocument/2006/relationships/image" Target="../media/image3200.png"/><Relationship Id="rId9" Type="http://schemas.openxmlformats.org/officeDocument/2006/relationships/image" Target="../media/image3700.png"/><Relationship Id="rId14"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6" Type="http://schemas.openxmlformats.org/officeDocument/2006/relationships/image" Target="../media/image48.jpeg"/><Relationship Id="rId5" Type="http://schemas.openxmlformats.org/officeDocument/2006/relationships/image" Target="../media/image47.png"/><Relationship Id="rId4" Type="http://schemas.openxmlformats.org/officeDocument/2006/relationships/image" Target="../media/image441.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7" Type="http://schemas.openxmlformats.org/officeDocument/2006/relationships/image" Target="../media/image53.png"/><Relationship Id="rId2"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52.png"/><Relationship Id="rId5" Type="http://schemas.openxmlformats.org/officeDocument/2006/relationships/image" Target="../media/image83.png"/></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5.xml"/><Relationship Id="rId1" Type="http://schemas.openxmlformats.org/officeDocument/2006/relationships/tags" Target="../tags/tag4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9.png"/><Relationship Id="rId11" Type="http://schemas.openxmlformats.org/officeDocument/2006/relationships/image" Target="../media/image61.png"/><Relationship Id="rId5" Type="http://schemas.openxmlformats.org/officeDocument/2006/relationships/image" Target="../media/image58.png"/><Relationship Id="rId10" Type="http://schemas.openxmlformats.org/officeDocument/2006/relationships/image" Target="../media/image60.png"/><Relationship Id="rId4" Type="http://schemas.openxmlformats.org/officeDocument/2006/relationships/image" Target="../media/image57.png"/><Relationship Id="rId9" Type="http://schemas.openxmlformats.org/officeDocument/2006/relationships/image" Target="../media/image5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hyperlink" Target="https://www.kaggle.com/competitions/sjtu-2026-spring-mlp" TargetMode="External"/><Relationship Id="rId2" Type="http://schemas.openxmlformats.org/officeDocument/2006/relationships/hyperlink" Target="http://www.kaggle.com/" TargetMode="External"/><Relationship Id="rId1" Type="http://schemas.openxmlformats.org/officeDocument/2006/relationships/slideLayout" Target="../slideLayouts/slideLayout6.xml"/><Relationship Id="rId6" Type="http://schemas.openxmlformats.org/officeDocument/2006/relationships/image" Target="../media/image62.png"/><Relationship Id="rId5" Type="http://schemas.openxmlformats.org/officeDocument/2006/relationships/hyperlink" Target="https://www.kaggle.com/competitions/sjtu-2026-spring-lstm" TargetMode="External"/><Relationship Id="rId4" Type="http://schemas.openxmlformats.org/officeDocument/2006/relationships/hyperlink" Target="https://www.kaggle.com/competitions/sjtu-2026-spring-cnn"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kaggle.com/competitions/sjtu-2026-spring-mlp" TargetMode="External"/><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hyperlink" Target="https://www.kaggle.com/competitions/sjtu-2026-spring-mlp" TargetMode="Externa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hyperlink" Target="https://www.kaggle.com/competitions/mnist-and-mlp-2" TargetMode="External"/><Relationship Id="rId1" Type="http://schemas.openxmlformats.org/officeDocument/2006/relationships/slideLayout" Target="../slideLayouts/slideLayout6.xml"/><Relationship Id="rId4" Type="http://schemas.openxmlformats.org/officeDocument/2006/relationships/image" Target="../media/image66.png"/></Relationships>
</file>

<file path=ppt/slides/_rels/slide34.xml.rels><?xml version="1.0" encoding="UTF-8" standalone="yes"?>
<Relationships xmlns="http://schemas.openxmlformats.org/package/2006/relationships"><Relationship Id="rId3" Type="http://schemas.openxmlformats.org/officeDocument/2006/relationships/hyperlink" Target="https://www.kaggle.com/competitions/mnist-and-mlp-2" TargetMode="External"/><Relationship Id="rId2" Type="http://schemas.openxmlformats.org/officeDocument/2006/relationships/image" Target="../media/image67.png"/><Relationship Id="rId1" Type="http://schemas.openxmlformats.org/officeDocument/2006/relationships/slideLayout" Target="../slideLayouts/slideLayout6.xml"/><Relationship Id="rId5" Type="http://schemas.openxmlformats.org/officeDocument/2006/relationships/image" Target="../media/image69.png"/><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91" y="3694681"/>
            <a:ext cx="12192000" cy="2769989"/>
          </a:xfrm>
          <a:prstGeom prst="rect">
            <a:avLst/>
          </a:prstGeom>
          <a:noFill/>
        </p:spPr>
        <p:txBody>
          <a:bodyPr wrap="square" rtlCol="0" anchor="ctr">
            <a:spAutoFit/>
          </a:bodyPr>
          <a:lstStyle/>
          <a:p>
            <a:pPr indent="0" algn="ctr" defTabSz="864235" fontAlgn="auto">
              <a:lnSpc>
                <a:spcPct val="100000"/>
              </a:lnSpc>
              <a:spcAft>
                <a:spcPts val="2400"/>
              </a:spcAft>
              <a:defRPr/>
            </a:pPr>
            <a:r>
              <a:rPr kumimoji="0" lang="zh-CN" altLang="en-US" sz="54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全连接和残差网络结构</a:t>
            </a:r>
            <a:endParaRPr kumimoji="0" lang="en-US" altLang="zh-CN"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indent="0" algn="ctr" defTabSz="864235" fontAlgn="auto">
              <a:lnSpc>
                <a:spcPct val="100000"/>
              </a:lnSpc>
              <a:spcAft>
                <a:spcPts val="2400"/>
              </a:spcAft>
              <a:defRPr/>
            </a:pPr>
            <a:r>
              <a:rPr lang="zh-CN" altLang="en-US" sz="2000" dirty="0">
                <a:solidFill>
                  <a:schemeClr val="bg1"/>
                </a:solidFill>
                <a:latin typeface="微软雅黑" panose="020B0503020204020204" pitchFamily="34" charset="-122"/>
                <a:ea typeface="微软雅黑" panose="020B0503020204020204" pitchFamily="34" charset="-122"/>
              </a:rPr>
              <a:t>上海交通大学</a:t>
            </a:r>
            <a:endParaRPr lang="en-US" altLang="zh-CN" sz="2000" dirty="0">
              <a:solidFill>
                <a:schemeClr val="bg1"/>
              </a:solidFill>
              <a:latin typeface="微软雅黑" panose="020B0503020204020204" pitchFamily="34" charset="-122"/>
              <a:ea typeface="微软雅黑" panose="020B0503020204020204" pitchFamily="34" charset="-122"/>
            </a:endParaRPr>
          </a:p>
          <a:p>
            <a:pPr indent="0" algn="ctr" defTabSz="864235" fontAlgn="auto">
              <a:lnSpc>
                <a:spcPct val="100000"/>
              </a:lnSpc>
              <a:spcAft>
                <a:spcPts val="2400"/>
              </a:spcAft>
              <a:defRPr/>
            </a:pPr>
            <a:r>
              <a:rPr lang="en-US" altLang="zh-CN" sz="2000" dirty="0">
                <a:solidFill>
                  <a:schemeClr val="bg1"/>
                </a:solidFill>
                <a:latin typeface="微软雅黑" panose="020B0503020204020204" pitchFamily="34" charset="-122"/>
                <a:ea typeface="微软雅黑" panose="020B0503020204020204" pitchFamily="34" charset="-122"/>
              </a:rPr>
              <a:t>SJTU AI</a:t>
            </a:r>
            <a:r>
              <a:rPr lang="zh-CN" altLang="en-US" sz="2000" dirty="0">
                <a:solidFill>
                  <a:schemeClr val="bg1"/>
                </a:solidFill>
                <a:latin typeface="微软雅黑" panose="020B0503020204020204" pitchFamily="34" charset="-122"/>
                <a:ea typeface="微软雅黑" panose="020B0503020204020204" pitchFamily="34" charset="-122"/>
              </a:rPr>
              <a:t>大课</a:t>
            </a:r>
          </a:p>
          <a:p>
            <a:pPr lvl="0" algn="ctr" defTabSz="864235">
              <a:defRPr/>
            </a:pPr>
            <a:fld id="{E102F756-3B96-CC46-A2D4-96CC8736307C}" type="datetime3">
              <a:rPr lang="zh-CN" altLang="en-US" sz="2000">
                <a:solidFill>
                  <a:schemeClr val="bg1"/>
                </a:solidFill>
                <a:latin typeface="微软雅黑" panose="020B0503020204020204" pitchFamily="34" charset="-122"/>
                <a:ea typeface="微软雅黑" panose="020B0503020204020204" pitchFamily="34" charset="-122"/>
              </a:rPr>
              <a:pPr lvl="0" algn="ctr" defTabSz="864235">
                <a:defRPr/>
              </a:pPr>
              <a:t>2026年5月24日星期日</a:t>
            </a:fld>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C6D4F-D367-9107-B704-47AE13DBB9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C3852AB-8C84-7948-CED6-24DF1C502B69}"/>
              </a:ext>
            </a:extLst>
          </p:cNvPr>
          <p:cNvSpPr>
            <a:spLocks noGrp="1"/>
          </p:cNvSpPr>
          <p:nvPr>
            <p:ph type="title"/>
          </p:nvPr>
        </p:nvSpPr>
        <p:spPr>
          <a:xfrm>
            <a:off x="381242" y="2844289"/>
            <a:ext cx="11429516" cy="761979"/>
          </a:xfrm>
        </p:spPr>
        <p:txBody>
          <a:bodyPr/>
          <a:lstStyle/>
          <a:p>
            <a:pPr algn="ctr"/>
            <a:r>
              <a:rPr lang="zh-CN" altLang="en-US" dirty="0"/>
              <a:t>参考：</a:t>
            </a:r>
            <a:r>
              <a:rPr lang="en-US" altLang="zh-CN" dirty="0"/>
              <a:t>《</a:t>
            </a:r>
            <a:r>
              <a:rPr lang="zh-CN" altLang="en-US" dirty="0"/>
              <a:t>深度学习现象导论</a:t>
            </a:r>
            <a:r>
              <a:rPr lang="en-US" altLang="zh-CN" dirty="0"/>
              <a:t>》</a:t>
            </a:r>
            <a:r>
              <a:rPr lang="zh-CN" altLang="en-US" dirty="0"/>
              <a:t>第三章。</a:t>
            </a:r>
          </a:p>
        </p:txBody>
      </p:sp>
      <p:sp>
        <p:nvSpPr>
          <p:cNvPr id="3" name="文本框 2">
            <a:extLst>
              <a:ext uri="{FF2B5EF4-FFF2-40B4-BE49-F238E27FC236}">
                <a16:creationId xmlns:a16="http://schemas.microsoft.com/office/drawing/2014/main" id="{A1150932-90EC-F9C5-3504-45AEBEF1B123}"/>
              </a:ext>
            </a:extLst>
          </p:cNvPr>
          <p:cNvSpPr txBox="1"/>
          <p:nvPr/>
        </p:nvSpPr>
        <p:spPr>
          <a:xfrm>
            <a:off x="92764" y="6374296"/>
            <a:ext cx="3075189" cy="246221"/>
          </a:xfrm>
          <a:prstGeom prst="rect">
            <a:avLst/>
          </a:prstGeom>
          <a:noFill/>
        </p:spPr>
        <p:txBody>
          <a:bodyPr wrap="square" rtlCol="0">
            <a:spAutoFit/>
          </a:bodyPr>
          <a:lstStyle/>
          <a:p>
            <a:pPr algn="l"/>
            <a:r>
              <a:rPr lang="en-US" altLang="zh-CN" sz="1000" dirty="0">
                <a:solidFill>
                  <a:schemeClr val="bg1"/>
                </a:solidFill>
              </a:rPr>
              <a:t>PPT</a:t>
            </a:r>
            <a:r>
              <a:rPr lang="zh-CN" altLang="en-US" sz="1000" dirty="0">
                <a:solidFill>
                  <a:schemeClr val="bg1"/>
                </a:solidFill>
              </a:rPr>
              <a:t>主要贡献：许志钦、马征</a:t>
            </a:r>
          </a:p>
        </p:txBody>
      </p:sp>
    </p:spTree>
    <p:extLst>
      <p:ext uri="{BB962C8B-B14F-4D97-AF65-F5344CB8AC3E}">
        <p14:creationId xmlns:p14="http://schemas.microsoft.com/office/powerpoint/2010/main" val="444566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1AFCB-D557-2169-B64E-F77EEE26D03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7336E97-7A57-EFE2-4D5F-87D54ED10DF6}"/>
              </a:ext>
            </a:extLst>
          </p:cNvPr>
          <p:cNvSpPr>
            <a:spLocks noGrp="1"/>
          </p:cNvSpPr>
          <p:nvPr>
            <p:ph type="title"/>
          </p:nvPr>
        </p:nvSpPr>
        <p:spPr>
          <a:xfrm>
            <a:off x="381242" y="2844289"/>
            <a:ext cx="11429516" cy="761979"/>
          </a:xfrm>
        </p:spPr>
        <p:txBody>
          <a:bodyPr/>
          <a:lstStyle/>
          <a:p>
            <a:pPr algn="ctr"/>
            <a:r>
              <a:rPr lang="zh-CN" altLang="en-US" dirty="0"/>
              <a:t>神经网络简介</a:t>
            </a:r>
          </a:p>
        </p:txBody>
      </p:sp>
      <p:sp>
        <p:nvSpPr>
          <p:cNvPr id="4" name="文本框 3">
            <a:extLst>
              <a:ext uri="{FF2B5EF4-FFF2-40B4-BE49-F238E27FC236}">
                <a16:creationId xmlns:a16="http://schemas.microsoft.com/office/drawing/2014/main" id="{70266AC2-01F9-6417-8B33-2E5B01447125}"/>
              </a:ext>
            </a:extLst>
          </p:cNvPr>
          <p:cNvSpPr txBox="1"/>
          <p:nvPr/>
        </p:nvSpPr>
        <p:spPr>
          <a:xfrm>
            <a:off x="3008415" y="5693666"/>
            <a:ext cx="6590805" cy="369332"/>
          </a:xfrm>
          <a:prstGeom prst="rect">
            <a:avLst/>
          </a:prstGeom>
          <a:noFill/>
        </p:spPr>
        <p:txBody>
          <a:bodyPr wrap="square">
            <a:spAutoFit/>
          </a:bodyPr>
          <a:lstStyle/>
          <a:p>
            <a:r>
              <a:rPr lang="zh-CN" altLang="en-US" dirty="0"/>
              <a:t>神经元是如何起作用的，以及神经网络架构是如何模仿神经元的</a:t>
            </a:r>
          </a:p>
        </p:txBody>
      </p:sp>
    </p:spTree>
    <p:extLst>
      <p:ext uri="{BB962C8B-B14F-4D97-AF65-F5344CB8AC3E}">
        <p14:creationId xmlns:p14="http://schemas.microsoft.com/office/powerpoint/2010/main" val="3948307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A6F93-8CEC-8E84-C21E-7F04E8FBB4E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98F5342-D867-528B-101A-DDE6E20AEBF8}"/>
              </a:ext>
            </a:extLst>
          </p:cNvPr>
          <p:cNvSpPr>
            <a:spLocks noGrp="1"/>
          </p:cNvSpPr>
          <p:nvPr>
            <p:ph type="title"/>
          </p:nvPr>
        </p:nvSpPr>
        <p:spPr/>
        <p:txBody>
          <a:bodyPr/>
          <a:lstStyle/>
          <a:p>
            <a:r>
              <a:rPr lang="zh-CN" altLang="en-US" dirty="0"/>
              <a:t>单个神经元如何感知信息</a:t>
            </a:r>
          </a:p>
        </p:txBody>
      </p:sp>
      <p:pic>
        <p:nvPicPr>
          <p:cNvPr id="4" name="图片 3">
            <a:extLst>
              <a:ext uri="{FF2B5EF4-FFF2-40B4-BE49-F238E27FC236}">
                <a16:creationId xmlns:a16="http://schemas.microsoft.com/office/drawing/2014/main" id="{444FA3E7-3CED-6D13-AE2D-0854CF4CB93D}"/>
              </a:ext>
            </a:extLst>
          </p:cNvPr>
          <p:cNvPicPr>
            <a:picLocks noChangeAspect="1"/>
          </p:cNvPicPr>
          <p:nvPr/>
        </p:nvPicPr>
        <p:blipFill>
          <a:blip r:embed="rId3"/>
          <a:stretch>
            <a:fillRect/>
          </a:stretch>
        </p:blipFill>
        <p:spPr>
          <a:xfrm>
            <a:off x="2548612" y="2650156"/>
            <a:ext cx="7267699" cy="3345838"/>
          </a:xfrm>
          <a:prstGeom prst="rect">
            <a:avLst/>
          </a:prstGeom>
        </p:spPr>
      </p:pic>
      <p:pic>
        <p:nvPicPr>
          <p:cNvPr id="6" name="图片 5">
            <a:extLst>
              <a:ext uri="{FF2B5EF4-FFF2-40B4-BE49-F238E27FC236}">
                <a16:creationId xmlns:a16="http://schemas.microsoft.com/office/drawing/2014/main" id="{B36B9240-2C0E-BFC2-62A9-7D83CE146A0F}"/>
              </a:ext>
            </a:extLst>
          </p:cNvPr>
          <p:cNvPicPr>
            <a:picLocks noChangeAspect="1"/>
          </p:cNvPicPr>
          <p:nvPr/>
        </p:nvPicPr>
        <p:blipFill>
          <a:blip r:embed="rId4"/>
          <a:stretch>
            <a:fillRect/>
          </a:stretch>
        </p:blipFill>
        <p:spPr>
          <a:xfrm>
            <a:off x="4120301" y="812778"/>
            <a:ext cx="3622410" cy="1598122"/>
          </a:xfrm>
          <a:prstGeom prst="rect">
            <a:avLst/>
          </a:prstGeom>
        </p:spPr>
      </p:pic>
      <p:sp>
        <p:nvSpPr>
          <p:cNvPr id="7" name="文本框 6">
            <a:extLst>
              <a:ext uri="{FF2B5EF4-FFF2-40B4-BE49-F238E27FC236}">
                <a16:creationId xmlns:a16="http://schemas.microsoft.com/office/drawing/2014/main" id="{2DABCDA3-FC12-846C-F66F-09BE5E5F5912}"/>
              </a:ext>
            </a:extLst>
          </p:cNvPr>
          <p:cNvSpPr txBox="1"/>
          <p:nvPr>
            <p:custDataLst>
              <p:tags r:id="rId1"/>
            </p:custDataLst>
          </p:nvPr>
        </p:nvSpPr>
        <p:spPr>
          <a:xfrm>
            <a:off x="393700" y="917059"/>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sz="1800" b="0" i="0" u="none" strike="noStrike" baseline="0" dirty="0">
                <a:solidFill>
                  <a:schemeClr val="tx2"/>
                </a:solidFill>
                <a:latin typeface="FandolSong-Regular-Identity-H"/>
              </a:rPr>
              <a:t>感知信息的基本条件是对不同的输入能够区分</a:t>
            </a:r>
            <a:endParaRPr lang="zh-CN" altLang="en-US" dirty="0">
              <a:solidFill>
                <a:schemeClr val="tx2"/>
              </a:solidFill>
            </a:endParaRPr>
          </a:p>
        </p:txBody>
      </p:sp>
    </p:spTree>
    <p:extLst>
      <p:ext uri="{BB962C8B-B14F-4D97-AF65-F5344CB8AC3E}">
        <p14:creationId xmlns:p14="http://schemas.microsoft.com/office/powerpoint/2010/main" val="2940198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单个神经元如何感知信息</a:t>
            </a:r>
          </a:p>
        </p:txBody>
      </p:sp>
      <p:sp>
        <p:nvSpPr>
          <p:cNvPr id="5" name="文本框 4"/>
          <p:cNvSpPr txBox="1"/>
          <p:nvPr>
            <p:custDataLst>
              <p:tags r:id="rId2"/>
            </p:custDataLst>
          </p:nvPr>
        </p:nvSpPr>
        <p:spPr>
          <a:xfrm>
            <a:off x="393700" y="917059"/>
            <a:ext cx="6172200" cy="460375"/>
          </a:xfrm>
          <a:prstGeom prst="rect">
            <a:avLst/>
          </a:prstGeom>
          <a:noFill/>
        </p:spPr>
        <p:txBody>
          <a:bodyPr wrap="square">
            <a:spAutoFit/>
          </a:bodyPr>
          <a:lstStyle/>
          <a:p>
            <a:pPr marL="285750" indent="-285750">
              <a:buFont typeface="Arial" panose="020B0604020202020204" pitchFamily="34" charset="0"/>
              <a:buChar char="•"/>
            </a:pPr>
            <a:r>
              <a:rPr lang="zh-CN" altLang="en-US" sz="2400" b="0" i="0" u="none" strike="noStrike" baseline="0" dirty="0">
                <a:solidFill>
                  <a:schemeClr val="tx2"/>
                </a:solidFill>
                <a:latin typeface="FandolSong-Regular-Identity-H"/>
              </a:rPr>
              <a:t>一个</a:t>
            </a:r>
            <a:r>
              <a:rPr lang="zh-CN" altLang="en-US" sz="2400" dirty="0">
                <a:latin typeface="LMRoman10-Regular-Identity-H"/>
                <a:sym typeface="+mn-ea"/>
              </a:rPr>
              <a:t>预测股票升降的</a:t>
            </a:r>
            <a:r>
              <a:rPr lang="zh-CN" altLang="en-US" sz="2400" b="0" i="0" u="none" strike="noStrike" baseline="0" dirty="0">
                <a:solidFill>
                  <a:schemeClr val="tx2"/>
                </a:solidFill>
                <a:latin typeface="FandolSong-Regular-Identity-H"/>
              </a:rPr>
              <a:t>例子：</a:t>
            </a:r>
          </a:p>
        </p:txBody>
      </p:sp>
      <mc:AlternateContent xmlns:mc="http://schemas.openxmlformats.org/markup-compatibility/2006" xmlns:a14="http://schemas.microsoft.com/office/drawing/2010/main">
        <mc:Choice Requires="a14">
          <p:sp>
            <p:nvSpPr>
              <p:cNvPr id="4" name="文本框 3"/>
              <p:cNvSpPr txBox="1"/>
              <p:nvPr>
                <p:custDataLst>
                  <p:tags r:id="rId3"/>
                </p:custDataLst>
              </p:nvPr>
            </p:nvSpPr>
            <p:spPr>
              <a:xfrm>
                <a:off x="682625" y="1436489"/>
                <a:ext cx="11092180" cy="943528"/>
              </a:xfrm>
              <a:prstGeom prst="rect">
                <a:avLst/>
              </a:prstGeom>
              <a:noFill/>
            </p:spPr>
            <p:txBody>
              <a:bodyPr wrap="square">
                <a:spAutoFit/>
              </a:bodyPr>
              <a:lstStyle/>
              <a:p>
                <a:pPr algn="l">
                  <a:lnSpc>
                    <a:spcPct val="150000"/>
                  </a:lnSpc>
                </a:pPr>
                <a:r>
                  <a:rPr lang="zh-CN" altLang="en-US" sz="2000" b="0" i="0" u="none" strike="noStrike" baseline="0" dirty="0">
                    <a:solidFill>
                      <a:schemeClr val="tx2"/>
                    </a:solidFill>
                    <a:latin typeface="+mn-ea"/>
                    <a:cs typeface="+mn-ea"/>
                  </a:rPr>
                  <a:t>假设</a:t>
                </a:r>
                <a:r>
                  <a:rPr lang="en-US" altLang="zh-CN" sz="2000" b="0" i="0" u="none" strike="noStrike" baseline="0" dirty="0">
                    <a:solidFill>
                      <a:schemeClr val="tx2"/>
                    </a:solidFill>
                    <a:latin typeface="+mn-ea"/>
                    <a:cs typeface="+mn-ea"/>
                  </a:rPr>
                  <a:t>A </a:t>
                </a:r>
                <a:r>
                  <a:rPr lang="zh-CN" altLang="en-US" sz="2000" b="0" i="0" u="none" strike="noStrike" baseline="0" dirty="0">
                    <a:solidFill>
                      <a:schemeClr val="tx2"/>
                    </a:solidFill>
                    <a:latin typeface="+mn-ea"/>
                    <a:cs typeface="+mn-ea"/>
                  </a:rPr>
                  <a:t>有两个朋友，</a:t>
                </a:r>
                <a:r>
                  <a:rPr lang="en-US" altLang="zh-CN" sz="2000" b="0" i="0" u="none" strike="noStrike" baseline="0" dirty="0">
                    <a:solidFill>
                      <a:schemeClr val="tx2"/>
                    </a:solidFill>
                    <a:latin typeface="+mn-ea"/>
                    <a:cs typeface="+mn-ea"/>
                  </a:rPr>
                  <a:t>B </a:t>
                </a:r>
                <a:r>
                  <a:rPr lang="zh-CN" altLang="en-US" sz="2000" b="0" i="0" u="none" strike="noStrike" baseline="0" dirty="0">
                    <a:solidFill>
                      <a:schemeClr val="tx2"/>
                    </a:solidFill>
                    <a:latin typeface="+mn-ea"/>
                    <a:cs typeface="+mn-ea"/>
                  </a:rPr>
                  <a:t>和</a:t>
                </a:r>
                <a:r>
                  <a:rPr lang="en-US" altLang="zh-CN" sz="2000" b="0" i="0" u="none" strike="noStrike" baseline="0" dirty="0">
                    <a:solidFill>
                      <a:schemeClr val="tx2"/>
                    </a:solidFill>
                    <a:latin typeface="+mn-ea"/>
                    <a:cs typeface="+mn-ea"/>
                  </a:rPr>
                  <a:t>C</a:t>
                </a:r>
                <a:r>
                  <a:rPr lang="zh-CN" altLang="en-US" sz="2000" b="0" i="0" u="none" strike="noStrike" baseline="0" dirty="0">
                    <a:solidFill>
                      <a:schemeClr val="tx2"/>
                    </a:solidFill>
                    <a:latin typeface="+mn-ea"/>
                    <a:cs typeface="+mn-ea"/>
                  </a:rPr>
                  <a:t>。</a:t>
                </a:r>
                <a:r>
                  <a:rPr lang="en-US" altLang="zh-CN" sz="2000" b="0" i="0" u="none" strike="noStrike" baseline="0" dirty="0">
                    <a:solidFill>
                      <a:schemeClr val="tx2"/>
                    </a:solidFill>
                    <a:latin typeface="+mn-ea"/>
                    <a:cs typeface="+mn-ea"/>
                  </a:rPr>
                  <a:t>A </a:t>
                </a:r>
                <a:r>
                  <a:rPr lang="zh-CN" altLang="en-US" sz="2000" b="0" i="0" u="none" strike="noStrike" baseline="0" dirty="0">
                    <a:solidFill>
                      <a:schemeClr val="tx2"/>
                    </a:solidFill>
                    <a:latin typeface="+mn-ea"/>
                    <a:cs typeface="+mn-ea"/>
                  </a:rPr>
                  <a:t>自己有一个判断值</a:t>
                </a:r>
                <a14:m>
                  <m:oMath xmlns:m="http://schemas.openxmlformats.org/officeDocument/2006/math">
                    <m:sSub>
                      <m:sSubPr>
                        <m:ctrlPr>
                          <a:rPr lang="en-US" altLang="zh-CN" sz="2000" b="0" i="1" u="none" strike="noStrike" baseline="0" smtClean="0">
                            <a:solidFill>
                              <a:schemeClr val="tx2"/>
                            </a:solidFill>
                            <a:latin typeface="Cambria Math" panose="02040503050406030204" pitchFamily="18" charset="0"/>
                            <a:cs typeface="Cambria Math" panose="02040503050406030204" charset="0"/>
                          </a:rPr>
                        </m:ctrlPr>
                      </m:sSubPr>
                      <m:e>
                        <m:r>
                          <a:rPr lang="en-US" altLang="zh-CN" sz="2000" b="0" i="1" u="none" strike="noStrike" baseline="0" smtClean="0">
                            <a:solidFill>
                              <a:schemeClr val="tx2"/>
                            </a:solidFill>
                            <a:latin typeface="Cambria Math" panose="02040503050406030204" charset="0"/>
                            <a:cs typeface="Cambria Math" panose="02040503050406030204" charset="0"/>
                          </a:rPr>
                          <m:t>𝑎</m:t>
                        </m:r>
                      </m:e>
                      <m:sub>
                        <m:r>
                          <a:rPr lang="en-US" altLang="zh-CN" sz="2000" b="0" i="1" u="none" strike="noStrike" baseline="0" smtClean="0">
                            <a:solidFill>
                              <a:schemeClr val="tx2"/>
                            </a:solidFill>
                            <a:latin typeface="Cambria Math" panose="02040503050406030204" charset="0"/>
                            <a:ea typeface="MS Mincho" charset="0"/>
                            <a:cs typeface="Cambria Math" panose="02040503050406030204" charset="0"/>
                          </a:rPr>
                          <m:t>0</m:t>
                        </m:r>
                      </m:sub>
                    </m:sSub>
                  </m:oMath>
                </a14:m>
                <a:r>
                  <a:rPr lang="zh-CN" altLang="en-US" sz="2000" u="none" strike="noStrike" baseline="0" dirty="0">
                    <a:solidFill>
                      <a:schemeClr val="tx2"/>
                    </a:solidFill>
                    <a:latin typeface="Cambria Math" panose="02040503050406030204" charset="0"/>
                    <a:cs typeface="Cambria Math" panose="02040503050406030204" charset="0"/>
                  </a:rPr>
                  <a:t>，同时接收到了</a:t>
                </a:r>
                <a:r>
                  <a:rPr lang="en-US" altLang="zh-CN" sz="2000" u="none" strike="noStrike" baseline="0" dirty="0">
                    <a:solidFill>
                      <a:schemeClr val="tx2"/>
                    </a:solidFill>
                    <a:latin typeface="Cambria Math" panose="02040503050406030204" charset="0"/>
                    <a:cs typeface="Cambria Math" panose="02040503050406030204" charset="0"/>
                  </a:rPr>
                  <a:t>B</a:t>
                </a:r>
                <a:r>
                  <a:rPr lang="zh-CN" altLang="en-US" sz="2000" u="none" strike="noStrike" baseline="0" dirty="0">
                    <a:solidFill>
                      <a:schemeClr val="tx2"/>
                    </a:solidFill>
                    <a:latin typeface="Cambria Math" panose="02040503050406030204" charset="0"/>
                    <a:cs typeface="Cambria Math" panose="02040503050406030204" charset="0"/>
                  </a:rPr>
                  <a:t>和</a:t>
                </a:r>
                <a:r>
                  <a:rPr lang="en-US" altLang="zh-CN" sz="2000" u="none" strike="noStrike" baseline="0" dirty="0">
                    <a:solidFill>
                      <a:schemeClr val="tx2"/>
                    </a:solidFill>
                    <a:latin typeface="Cambria Math" panose="02040503050406030204" charset="0"/>
                    <a:cs typeface="Cambria Math" panose="02040503050406030204" charset="0"/>
                  </a:rPr>
                  <a:t>C</a:t>
                </a:r>
                <a:r>
                  <a:rPr lang="zh-CN" altLang="en-US" sz="2000" u="none" strike="noStrike" baseline="0" dirty="0">
                    <a:solidFill>
                      <a:schemeClr val="tx2"/>
                    </a:solidFill>
                    <a:latin typeface="Cambria Math" panose="02040503050406030204" charset="0"/>
                    <a:cs typeface="Cambria Math" panose="02040503050406030204" charset="0"/>
                  </a:rPr>
                  <a:t>的信息，分别记为</a:t>
                </a:r>
                <a14:m>
                  <m:oMath xmlns:m="http://schemas.openxmlformats.org/officeDocument/2006/math">
                    <m:r>
                      <a:rPr lang="en-US" altLang="zh-CN" sz="2000" b="0" i="1" u="none" strike="noStrike" baseline="0" dirty="0">
                        <a:solidFill>
                          <a:schemeClr val="tx2"/>
                        </a:solidFill>
                        <a:latin typeface="Cambria Math" panose="02040503050406030204" charset="0"/>
                        <a:cs typeface="Cambria Math" panose="02040503050406030204" charset="0"/>
                      </a:rPr>
                      <m:t>𝑏</m:t>
                    </m:r>
                    <m:r>
                      <a:rPr lang="zh-CN" altLang="en-US" sz="2000" b="0" i="1" u="none" strike="noStrike" baseline="0" dirty="0">
                        <a:solidFill>
                          <a:schemeClr val="tx2"/>
                        </a:solidFill>
                        <a:latin typeface="Cambria Math" panose="02040503050406030204" charset="0"/>
                        <a:cs typeface="Cambria Math" panose="02040503050406030204" charset="0"/>
                      </a:rPr>
                      <m:t>和</m:t>
                    </m:r>
                    <m:r>
                      <a:rPr lang="en-US" altLang="zh-CN" sz="2000" b="0" i="1" u="none" strike="noStrike" baseline="0" dirty="0">
                        <a:solidFill>
                          <a:schemeClr val="tx2"/>
                        </a:solidFill>
                        <a:latin typeface="Cambria Math" panose="02040503050406030204" charset="0"/>
                        <a:cs typeface="Cambria Math" panose="02040503050406030204" charset="0"/>
                      </a:rPr>
                      <m:t>𝑐</m:t>
                    </m:r>
                  </m:oMath>
                </a14:m>
                <a:r>
                  <a:rPr lang="zh-CN" altLang="en-US" sz="2000" u="none" strike="noStrike" baseline="0" dirty="0">
                    <a:solidFill>
                      <a:schemeClr val="tx2"/>
                    </a:solidFill>
                    <a:latin typeface="Cambria Math" panose="02040503050406030204" charset="0"/>
                    <a:cs typeface="Cambria Math" panose="02040503050406030204" charset="0"/>
                  </a:rPr>
                  <a:t>。</a:t>
                </a:r>
                <a:r>
                  <a:rPr lang="zh-CN" altLang="en-US" sz="2000" b="0" i="0" u="none" strike="noStrike" baseline="0" dirty="0">
                    <a:solidFill>
                      <a:schemeClr val="tx2"/>
                    </a:solidFill>
                    <a:latin typeface="+mn-ea"/>
                    <a:cs typeface="+mn-ea"/>
                  </a:rPr>
                  <a:t>因此，</a:t>
                </a:r>
              </a:p>
            </p:txBody>
          </p:sp>
        </mc:Choice>
        <mc:Fallback xmlns="">
          <p:sp>
            <p:nvSpPr>
              <p:cNvPr id="4" name="文本框 3"/>
              <p:cNvSpPr txBox="1">
                <a:spLocks noRot="1" noChangeAspect="1" noMove="1" noResize="1" noEditPoints="1" noAdjustHandles="1" noChangeArrowheads="1" noChangeShapeType="1" noTextEdit="1"/>
              </p:cNvSpPr>
              <p:nvPr>
                <p:custDataLst>
                  <p:tags r:id="rId8"/>
                </p:custDataLst>
              </p:nvPr>
            </p:nvSpPr>
            <p:spPr>
              <a:xfrm>
                <a:off x="682625" y="1436489"/>
                <a:ext cx="11092180" cy="943528"/>
              </a:xfrm>
              <a:prstGeom prst="rect">
                <a:avLst/>
              </a:prstGeom>
              <a:blipFill>
                <a:blip r:embed="rId9"/>
                <a:stretch>
                  <a:fillRect l="-604" r="-220" b="-11039"/>
                </a:stretch>
              </a:blipFill>
            </p:spPr>
            <p:txBody>
              <a:bodyPr/>
              <a:lstStyle/>
              <a:p>
                <a:r>
                  <a:rPr lang="zh-CN" altLang="en-US">
                    <a:noFill/>
                  </a:rPr>
                  <a:t> </a:t>
                </a:r>
              </a:p>
            </p:txBody>
          </p:sp>
        </mc:Fallback>
      </mc:AlternateContent>
      <p:pic>
        <p:nvPicPr>
          <p:cNvPr id="6" name="图片 5"/>
          <p:cNvPicPr>
            <a:picLocks noChangeAspect="1"/>
          </p:cNvPicPr>
          <p:nvPr>
            <p:custDataLst>
              <p:tags r:id="rId4"/>
            </p:custDataLst>
          </p:nvPr>
        </p:nvPicPr>
        <p:blipFill>
          <a:blip r:embed="rId10">
            <a:clrChange>
              <a:clrFrom>
                <a:srgbClr val="FFFFFF">
                  <a:alpha val="100000"/>
                </a:srgbClr>
              </a:clrFrom>
              <a:clrTo>
                <a:srgbClr val="FFFFFF">
                  <a:alpha val="100000"/>
                  <a:alpha val="0"/>
                </a:srgbClr>
              </a:clrTo>
            </a:clrChange>
          </a:blip>
          <a:stretch>
            <a:fillRect/>
          </a:stretch>
        </p:blipFill>
        <p:spPr>
          <a:xfrm>
            <a:off x="2097405" y="2598933"/>
            <a:ext cx="7132320" cy="501634"/>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a:off x="682625" y="3237230"/>
                <a:ext cx="7628255" cy="494238"/>
              </a:xfrm>
              <a:prstGeom prst="rect">
                <a:avLst/>
              </a:prstGeom>
              <a:noFill/>
            </p:spPr>
            <p:txBody>
              <a:bodyPr wrap="square" rtlCol="0" anchor="t">
                <a:spAutoFit/>
              </a:bodyPr>
              <a:lstStyle/>
              <a:p>
                <a:pPr algn="l">
                  <a:lnSpc>
                    <a:spcPct val="150000"/>
                  </a:lnSpc>
                </a:pPr>
                <a:r>
                  <a:rPr lang="zh-CN" altLang="en-US" sz="2000" dirty="0">
                    <a:solidFill>
                      <a:schemeClr val="tx2"/>
                    </a:solidFill>
                    <a:latin typeface="+mn-ea"/>
                    <a:cs typeface="+mn-ea"/>
                    <a:sym typeface="+mn-ea"/>
                  </a:rPr>
                  <a:t>如果</a:t>
                </a:r>
                <a:r>
                  <a:rPr lang="en-US" altLang="zh-CN" sz="2000" dirty="0">
                    <a:solidFill>
                      <a:schemeClr val="tx2"/>
                    </a:solidFill>
                    <a:latin typeface="+mn-ea"/>
                    <a:cs typeface="+mn-ea"/>
                    <a:sym typeface="+mn-ea"/>
                  </a:rPr>
                  <a:t>B</a:t>
                </a:r>
                <a:r>
                  <a:rPr lang="zh-CN" altLang="en-US" sz="2000" dirty="0">
                    <a:solidFill>
                      <a:schemeClr val="tx2"/>
                    </a:solidFill>
                    <a:latin typeface="+mn-ea"/>
                    <a:cs typeface="+mn-ea"/>
                    <a:sym typeface="+mn-ea"/>
                  </a:rPr>
                  <a:t>是一个经济学家，而</a:t>
                </a:r>
                <a:r>
                  <a:rPr lang="en-US" altLang="zh-CN" sz="2000" dirty="0">
                    <a:solidFill>
                      <a:schemeClr val="tx2"/>
                    </a:solidFill>
                    <a:latin typeface="+mn-ea"/>
                    <a:cs typeface="+mn-ea"/>
                    <a:sym typeface="+mn-ea"/>
                  </a:rPr>
                  <a:t>C </a:t>
                </a:r>
                <a:r>
                  <a:rPr lang="zh-CN" altLang="en-US" sz="2000" dirty="0">
                    <a:solidFill>
                      <a:schemeClr val="tx2"/>
                    </a:solidFill>
                    <a:latin typeface="+mn-ea"/>
                    <a:cs typeface="+mn-ea"/>
                    <a:sym typeface="+mn-ea"/>
                  </a:rPr>
                  <a:t>是一个普通人</a:t>
                </a:r>
                <a:r>
                  <a:rPr lang="zh-CN" sz="2000" dirty="0">
                    <a:solidFill>
                      <a:schemeClr val="tx2"/>
                    </a:solidFill>
                    <a:latin typeface="+mn-ea"/>
                    <a:cs typeface="+mn-ea"/>
                    <a:sym typeface="+mn-ea"/>
                  </a:rPr>
                  <a:t>，则有，</a:t>
                </a:r>
                <a14:m>
                  <m:oMath xmlns:m="http://schemas.openxmlformats.org/officeDocument/2006/math">
                    <m:sSub>
                      <m:sSubPr>
                        <m:ctrlPr>
                          <a:rPr lang="en-US" altLang="zh-CN" sz="2000" i="1" dirty="0">
                            <a:solidFill>
                              <a:schemeClr val="tx2"/>
                            </a:solidFill>
                            <a:latin typeface="Cambria Math" panose="02040503050406030204" pitchFamily="18" charset="0"/>
                            <a:cs typeface="Cambria Math" panose="02040503050406030204" charset="0"/>
                            <a:sym typeface="+mn-ea"/>
                          </a:rPr>
                        </m:ctrlPr>
                      </m:sSubPr>
                      <m:e>
                        <m:r>
                          <a:rPr lang="en-US" altLang="zh-CN" sz="2000" i="1" dirty="0">
                            <a:solidFill>
                              <a:schemeClr val="tx2"/>
                            </a:solidFill>
                            <a:latin typeface="Cambria Math" panose="02040503050406030204" charset="0"/>
                            <a:cs typeface="Cambria Math" panose="02040503050406030204" charset="0"/>
                            <a:sym typeface="+mn-ea"/>
                          </a:rPr>
                          <m:t>𝜆</m:t>
                        </m:r>
                      </m:e>
                      <m:sub>
                        <m:r>
                          <a:rPr lang="en-US" altLang="zh-CN" sz="2000" i="1" dirty="0">
                            <a:solidFill>
                              <a:schemeClr val="tx2"/>
                            </a:solidFill>
                            <a:latin typeface="Cambria Math" panose="02040503050406030204" charset="0"/>
                            <a:cs typeface="Cambria Math" panose="02040503050406030204" charset="0"/>
                            <a:sym typeface="+mn-ea"/>
                          </a:rPr>
                          <m:t>1</m:t>
                        </m:r>
                      </m:sub>
                    </m:sSub>
                    <m:r>
                      <a:rPr lang="en-US" altLang="zh-CN" sz="2000" i="1" dirty="0">
                        <a:solidFill>
                          <a:schemeClr val="tx2"/>
                        </a:solidFill>
                        <a:latin typeface="Cambria Math" panose="02040503050406030204" charset="0"/>
                        <a:cs typeface="Cambria Math" panose="02040503050406030204" charset="0"/>
                        <a:sym typeface="+mn-ea"/>
                      </a:rPr>
                      <m:t>&gt;</m:t>
                    </m:r>
                    <m:sSub>
                      <m:sSubPr>
                        <m:ctrlPr>
                          <a:rPr lang="en-US" altLang="zh-CN" sz="2000" i="1" dirty="0">
                            <a:solidFill>
                              <a:schemeClr val="tx2"/>
                            </a:solidFill>
                            <a:latin typeface="Cambria Math" panose="02040503050406030204" pitchFamily="18" charset="0"/>
                            <a:cs typeface="Cambria Math" panose="02040503050406030204" charset="0"/>
                            <a:sym typeface="+mn-ea"/>
                          </a:rPr>
                        </m:ctrlPr>
                      </m:sSubPr>
                      <m:e>
                        <m:r>
                          <a:rPr lang="en-US" altLang="zh-CN" sz="2000" i="1" dirty="0">
                            <a:solidFill>
                              <a:schemeClr val="tx2"/>
                            </a:solidFill>
                            <a:latin typeface="Cambria Math" panose="02040503050406030204" charset="0"/>
                            <a:cs typeface="Cambria Math" panose="02040503050406030204" charset="0"/>
                            <a:sym typeface="+mn-ea"/>
                          </a:rPr>
                          <m:t>𝜆</m:t>
                        </m:r>
                      </m:e>
                      <m:sub>
                        <m:r>
                          <a:rPr lang="en-US" altLang="zh-CN" sz="2000" i="1" dirty="0">
                            <a:solidFill>
                              <a:schemeClr val="tx2"/>
                            </a:solidFill>
                            <a:latin typeface="Cambria Math" panose="02040503050406030204" charset="0"/>
                            <a:cs typeface="Cambria Math" panose="02040503050406030204" charset="0"/>
                            <a:sym typeface="+mn-ea"/>
                          </a:rPr>
                          <m:t>2</m:t>
                        </m:r>
                      </m:sub>
                    </m:sSub>
                    <m:r>
                      <a:rPr lang="en-US" altLang="zh-CN" sz="2000" i="1" dirty="0">
                        <a:solidFill>
                          <a:schemeClr val="tx2"/>
                        </a:solidFill>
                        <a:latin typeface="Cambria Math" panose="02040503050406030204" charset="0"/>
                        <a:cs typeface="Cambria Math" panose="02040503050406030204" charset="0"/>
                        <a:sym typeface="+mn-ea"/>
                      </a:rPr>
                      <m:t>&gt;0</m:t>
                    </m:r>
                  </m:oMath>
                </a14:m>
                <a:r>
                  <a:rPr lang="zh-CN" altLang="en-US" sz="2000" dirty="0">
                    <a:solidFill>
                      <a:schemeClr val="tx2"/>
                    </a:solidFill>
                    <a:latin typeface="Cambria Math" panose="02040503050406030204" charset="0"/>
                    <a:cs typeface="Cambria Math" panose="02040503050406030204" charset="0"/>
                    <a:sym typeface="+mn-ea"/>
                  </a:rPr>
                  <a:t>。</a:t>
                </a:r>
              </a:p>
            </p:txBody>
          </p:sp>
        </mc:Choice>
        <mc:Fallback xmlns="">
          <p:sp>
            <p:nvSpPr>
              <p:cNvPr id="7" name="文本框 6"/>
              <p:cNvSpPr txBox="1">
                <a:spLocks noRot="1" noChangeAspect="1" noMove="1" noResize="1" noEditPoints="1" noAdjustHandles="1" noChangeArrowheads="1" noChangeShapeType="1" noTextEdit="1"/>
              </p:cNvSpPr>
              <p:nvPr/>
            </p:nvSpPr>
            <p:spPr>
              <a:xfrm>
                <a:off x="682625" y="3237230"/>
                <a:ext cx="7628255" cy="494238"/>
              </a:xfrm>
              <a:prstGeom prst="rect">
                <a:avLst/>
              </a:prstGeom>
              <a:blipFill>
                <a:blip r:embed="rId11"/>
                <a:stretch>
                  <a:fillRect l="-879" b="-18519"/>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D7624A7E-694A-5B6C-4406-FA72760E4207}"/>
              </a:ext>
            </a:extLst>
          </p:cNvPr>
          <p:cNvSpPr>
            <a:spLocks noGrp="1"/>
          </p:cNvSpPr>
          <p:nvPr>
            <p:ph type="title"/>
          </p:nvPr>
        </p:nvSpPr>
        <p:spPr/>
        <p:txBody>
          <a:bodyPr/>
          <a:lstStyle/>
          <a:p>
            <a:r>
              <a:rPr lang="zh-CN" altLang="en-US" dirty="0"/>
              <a:t>单个神经元如何感知信息</a:t>
            </a:r>
          </a:p>
        </p:txBody>
      </p:sp>
      <p:pic>
        <p:nvPicPr>
          <p:cNvPr id="3" name="图片 2">
            <a:extLst>
              <a:ext uri="{FF2B5EF4-FFF2-40B4-BE49-F238E27FC236}">
                <a16:creationId xmlns:a16="http://schemas.microsoft.com/office/drawing/2014/main" id="{3028F7BF-965C-BE08-2E06-3501E33E2564}"/>
              </a:ext>
            </a:extLst>
          </p:cNvPr>
          <p:cNvPicPr>
            <a:picLocks noChangeAspect="1"/>
          </p:cNvPicPr>
          <p:nvPr/>
        </p:nvPicPr>
        <p:blipFill>
          <a:blip r:embed="rId12"/>
          <a:stretch>
            <a:fillRect/>
          </a:stretch>
        </p:blipFill>
        <p:spPr>
          <a:xfrm>
            <a:off x="4094901" y="3957780"/>
            <a:ext cx="3622410" cy="15981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单个神经元如何感知信息：权重</a:t>
            </a:r>
          </a:p>
        </p:txBody>
      </p:sp>
      <p:pic>
        <p:nvPicPr>
          <p:cNvPr id="8" name="图片 7"/>
          <p:cNvPicPr>
            <a:picLocks noChangeAspect="1"/>
          </p:cNvPicPr>
          <p:nvPr>
            <p:custDataLst>
              <p:tags r:id="rId2"/>
            </p:custDataLst>
          </p:nvPr>
        </p:nvPicPr>
        <p:blipFill>
          <a:blip r:embed="rId6">
            <a:clrChange>
              <a:clrFrom>
                <a:srgbClr val="FFFFFF">
                  <a:alpha val="100000"/>
                </a:srgbClr>
              </a:clrFrom>
              <a:clrTo>
                <a:srgbClr val="FFFFFF">
                  <a:alpha val="100000"/>
                  <a:alpha val="0"/>
                </a:srgbClr>
              </a:clrTo>
            </a:clrChange>
          </a:blip>
          <a:stretch>
            <a:fillRect/>
          </a:stretch>
        </p:blipFill>
        <p:spPr>
          <a:xfrm>
            <a:off x="816997" y="1586881"/>
            <a:ext cx="5528558" cy="2676524"/>
          </a:xfrm>
          <a:prstGeom prst="rect">
            <a:avLst/>
          </a:prstGeom>
        </p:spPr>
      </p:pic>
      <p:pic>
        <p:nvPicPr>
          <p:cNvPr id="10" name="图片 9"/>
          <p:cNvPicPr>
            <a:picLocks noChangeAspect="1"/>
          </p:cNvPicPr>
          <p:nvPr>
            <p:custDataLst>
              <p:tags r:id="rId3"/>
            </p:custDataLst>
          </p:nvPr>
        </p:nvPicPr>
        <p:blipFill>
          <a:blip r:embed="rId7">
            <a:clrChange>
              <a:clrFrom>
                <a:srgbClr val="FFFFFF">
                  <a:alpha val="100000"/>
                </a:srgbClr>
              </a:clrFrom>
              <a:clrTo>
                <a:srgbClr val="FFFFFF">
                  <a:alpha val="100000"/>
                  <a:alpha val="0"/>
                </a:srgbClr>
              </a:clrTo>
            </a:clrChange>
          </a:blip>
          <a:stretch>
            <a:fillRect/>
          </a:stretch>
        </p:blipFill>
        <p:spPr>
          <a:xfrm>
            <a:off x="6636385" y="2234247"/>
            <a:ext cx="3744081" cy="1278573"/>
          </a:xfrm>
          <a:prstGeom prst="rect">
            <a:avLst/>
          </a:prstGeom>
        </p:spPr>
      </p:pic>
      <p:pic>
        <p:nvPicPr>
          <p:cNvPr id="12" name="图片 11"/>
          <p:cNvPicPr>
            <a:picLocks noChangeAspect="1"/>
          </p:cNvPicPr>
          <p:nvPr>
            <p:custDataLst>
              <p:tags r:id="rId4"/>
            </p:custDataLst>
          </p:nvPr>
        </p:nvPicPr>
        <p:blipFill>
          <a:blip r:embed="rId8">
            <a:clrChange>
              <a:clrFrom>
                <a:srgbClr val="FFFFFF">
                  <a:alpha val="100000"/>
                </a:srgbClr>
              </a:clrFrom>
              <a:clrTo>
                <a:srgbClr val="FFFFFF">
                  <a:alpha val="100000"/>
                  <a:alpha val="0"/>
                </a:srgbClr>
              </a:clrTo>
            </a:clrChange>
          </a:blip>
          <a:stretch>
            <a:fillRect/>
          </a:stretch>
        </p:blipFill>
        <p:spPr>
          <a:xfrm>
            <a:off x="3806190" y="4572000"/>
            <a:ext cx="5160645" cy="466090"/>
          </a:xfrm>
          <a:prstGeom prst="rect">
            <a:avLst/>
          </a:prstGeom>
        </p:spPr>
      </p:pic>
      <p:sp>
        <p:nvSpPr>
          <p:cNvPr id="2" name="文本框 1"/>
          <p:cNvSpPr txBox="1"/>
          <p:nvPr/>
        </p:nvSpPr>
        <p:spPr>
          <a:xfrm>
            <a:off x="567690" y="817880"/>
            <a:ext cx="9508490" cy="460375"/>
          </a:xfrm>
          <a:prstGeom prst="rect">
            <a:avLst/>
          </a:prstGeom>
          <a:noFill/>
        </p:spPr>
        <p:txBody>
          <a:bodyPr wrap="square" rtlCol="0" anchor="t">
            <a:spAutoFit/>
          </a:bodyPr>
          <a:lstStyle/>
          <a:p>
            <a:pPr marL="342900" indent="-342900">
              <a:buFont typeface="Arial" panose="020B0604020202020204" pitchFamily="34" charset="0"/>
              <a:buChar char="•"/>
            </a:pPr>
            <a:r>
              <a:rPr lang="zh-CN" altLang="en-US" sz="2400"/>
              <a:t>我们可以把这类收集信息的方式推广到一般的形式</a:t>
            </a:r>
          </a:p>
        </p:txBody>
      </p:sp>
      <p:sp>
        <p:nvSpPr>
          <p:cNvPr id="3" name="文本框 2"/>
          <p:cNvSpPr txBox="1"/>
          <p:nvPr/>
        </p:nvSpPr>
        <p:spPr>
          <a:xfrm>
            <a:off x="965200" y="4572000"/>
            <a:ext cx="3296285" cy="460375"/>
          </a:xfrm>
          <a:prstGeom prst="rect">
            <a:avLst/>
          </a:prstGeom>
          <a:noFill/>
        </p:spPr>
        <p:txBody>
          <a:bodyPr wrap="square" rtlCol="0">
            <a:spAutoFit/>
          </a:bodyPr>
          <a:lstStyle/>
          <a:p>
            <a:r>
              <a:rPr lang="zh-CN" altLang="en-US" sz="2400">
                <a:latin typeface="华文宋体" panose="02010600040101010101" charset="-122"/>
                <a:ea typeface="华文宋体" panose="02010600040101010101" charset="-122"/>
              </a:rPr>
              <a:t>单个神经元的输出为</a:t>
            </a:r>
          </a:p>
        </p:txBody>
      </p:sp>
      <p:pic>
        <p:nvPicPr>
          <p:cNvPr id="4" name="图片 3">
            <a:extLst>
              <a:ext uri="{FF2B5EF4-FFF2-40B4-BE49-F238E27FC236}">
                <a16:creationId xmlns:a16="http://schemas.microsoft.com/office/drawing/2014/main" id="{2271D1F8-401B-A2ED-073D-977C9ABF8114}"/>
              </a:ext>
            </a:extLst>
          </p:cNvPr>
          <p:cNvPicPr>
            <a:picLocks noChangeAspect="1"/>
          </p:cNvPicPr>
          <p:nvPr/>
        </p:nvPicPr>
        <p:blipFill>
          <a:blip r:embed="rId9"/>
          <a:stretch>
            <a:fillRect/>
          </a:stretch>
        </p:blipFill>
        <p:spPr>
          <a:xfrm>
            <a:off x="4577501" y="5222885"/>
            <a:ext cx="2369399" cy="10453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单层神经网络</a:t>
            </a:r>
          </a:p>
        </p:txBody>
      </p:sp>
      <p:pic>
        <p:nvPicPr>
          <p:cNvPr id="4" name="图片 3"/>
          <p:cNvPicPr>
            <a:picLocks noChangeAspect="1"/>
          </p:cNvPicPr>
          <p:nvPr>
            <p:custDataLst>
              <p:tags r:id="rId2"/>
            </p:custDataLst>
          </p:nvPr>
        </p:nvPicPr>
        <p:blipFill>
          <a:blip r:embed="rId4">
            <a:clrChange>
              <a:clrFrom>
                <a:srgbClr val="FFFFFF">
                  <a:alpha val="100000"/>
                </a:srgbClr>
              </a:clrFrom>
              <a:clrTo>
                <a:srgbClr val="FFFFFF">
                  <a:alpha val="100000"/>
                  <a:alpha val="0"/>
                </a:srgbClr>
              </a:clrTo>
            </a:clrChange>
          </a:blip>
          <a:stretch>
            <a:fillRect/>
          </a:stretch>
        </p:blipFill>
        <p:spPr>
          <a:xfrm>
            <a:off x="868680" y="1263093"/>
            <a:ext cx="10454640" cy="5164683"/>
          </a:xfrm>
          <a:prstGeom prst="rect">
            <a:avLst/>
          </a:prstGeom>
        </p:spPr>
      </p:pic>
      <p:sp>
        <p:nvSpPr>
          <p:cNvPr id="5" name="文本框 4"/>
          <p:cNvSpPr txBox="1"/>
          <p:nvPr/>
        </p:nvSpPr>
        <p:spPr>
          <a:xfrm>
            <a:off x="522605" y="802640"/>
            <a:ext cx="10013950" cy="460375"/>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sz="2400"/>
              <a:t>简单地把多个神经元堆在一起，我们就可以得到单层神经网络</a:t>
            </a:r>
          </a:p>
        </p:txBody>
      </p:sp>
      <p:sp>
        <p:nvSpPr>
          <p:cNvPr id="3" name="文本框 2">
            <a:extLst>
              <a:ext uri="{FF2B5EF4-FFF2-40B4-BE49-F238E27FC236}">
                <a16:creationId xmlns:a16="http://schemas.microsoft.com/office/drawing/2014/main" id="{E74D6E10-95CC-6DB8-4D41-B00B4548716D}"/>
              </a:ext>
            </a:extLst>
          </p:cNvPr>
          <p:cNvSpPr txBox="1"/>
          <p:nvPr/>
        </p:nvSpPr>
        <p:spPr>
          <a:xfrm>
            <a:off x="2255146" y="1278072"/>
            <a:ext cx="1088304" cy="400110"/>
          </a:xfrm>
          <a:prstGeom prst="rect">
            <a:avLst/>
          </a:prstGeom>
          <a:noFill/>
        </p:spPr>
        <p:txBody>
          <a:bodyPr wrap="square" rtlCol="0">
            <a:spAutoFit/>
          </a:bodyPr>
          <a:lstStyle/>
          <a:p>
            <a:pPr algn="l"/>
            <a:r>
              <a:rPr lang="zh-CN" altLang="en-US" sz="2000" dirty="0"/>
              <a:t>输入层</a:t>
            </a:r>
          </a:p>
        </p:txBody>
      </p:sp>
      <p:sp>
        <p:nvSpPr>
          <p:cNvPr id="6" name="文本框 5">
            <a:extLst>
              <a:ext uri="{FF2B5EF4-FFF2-40B4-BE49-F238E27FC236}">
                <a16:creationId xmlns:a16="http://schemas.microsoft.com/office/drawing/2014/main" id="{185662F9-F977-62ED-ADF9-1C9BDD006E9A}"/>
              </a:ext>
            </a:extLst>
          </p:cNvPr>
          <p:cNvSpPr txBox="1"/>
          <p:nvPr/>
        </p:nvSpPr>
        <p:spPr>
          <a:xfrm>
            <a:off x="4264395" y="1278072"/>
            <a:ext cx="1088304" cy="400110"/>
          </a:xfrm>
          <a:prstGeom prst="rect">
            <a:avLst/>
          </a:prstGeom>
          <a:noFill/>
        </p:spPr>
        <p:txBody>
          <a:bodyPr wrap="square" rtlCol="0">
            <a:spAutoFit/>
          </a:bodyPr>
          <a:lstStyle/>
          <a:p>
            <a:pPr algn="l"/>
            <a:r>
              <a:rPr lang="zh-CN" altLang="en-US" sz="2000" dirty="0"/>
              <a:t>输出层</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单层神经网络：矩阵形式</a:t>
            </a:r>
          </a:p>
        </p:txBody>
      </p:sp>
      <p:pic>
        <p:nvPicPr>
          <p:cNvPr id="2" name="图片 1"/>
          <p:cNvPicPr>
            <a:picLocks noChangeAspect="1"/>
          </p:cNvPicPr>
          <p:nvPr>
            <p:custDataLst>
              <p:tags r:id="rId2"/>
            </p:custDataLst>
          </p:nvPr>
        </p:nvPicPr>
        <p:blipFill>
          <a:blip r:embed="rId9">
            <a:clrChange>
              <a:clrFrom>
                <a:srgbClr val="FFFFFF">
                  <a:alpha val="100000"/>
                </a:srgbClr>
              </a:clrFrom>
              <a:clrTo>
                <a:srgbClr val="FFFFFF">
                  <a:alpha val="100000"/>
                  <a:alpha val="0"/>
                </a:srgbClr>
              </a:clrTo>
            </a:clrChange>
          </a:blip>
          <a:stretch>
            <a:fillRect/>
          </a:stretch>
        </p:blipFill>
        <p:spPr>
          <a:xfrm>
            <a:off x="592455" y="1305560"/>
            <a:ext cx="5341620" cy="2639060"/>
          </a:xfrm>
          <a:prstGeom prst="rect">
            <a:avLst/>
          </a:prstGeom>
        </p:spPr>
      </p:pic>
      <p:pic>
        <p:nvPicPr>
          <p:cNvPr id="3" name="图片 2"/>
          <p:cNvPicPr>
            <a:picLocks noChangeAspect="1"/>
          </p:cNvPicPr>
          <p:nvPr>
            <p:custDataLst>
              <p:tags r:id="rId3"/>
            </p:custDataLst>
          </p:nvPr>
        </p:nvPicPr>
        <p:blipFill>
          <a:blip r:embed="rId10">
            <a:clrChange>
              <a:clrFrom>
                <a:srgbClr val="FFFFFF">
                  <a:alpha val="100000"/>
                </a:srgbClr>
              </a:clrFrom>
              <a:clrTo>
                <a:srgbClr val="FFFFFF">
                  <a:alpha val="100000"/>
                  <a:alpha val="0"/>
                </a:srgbClr>
              </a:clrTo>
            </a:clrChange>
          </a:blip>
          <a:stretch>
            <a:fillRect/>
          </a:stretch>
        </p:blipFill>
        <p:spPr>
          <a:xfrm>
            <a:off x="6366510" y="1441450"/>
            <a:ext cx="3943985" cy="2591435"/>
          </a:xfrm>
          <a:prstGeom prst="rect">
            <a:avLst/>
          </a:prstGeom>
        </p:spPr>
      </p:pic>
      <p:pic>
        <p:nvPicPr>
          <p:cNvPr id="7" name="图片 6"/>
          <p:cNvPicPr>
            <a:picLocks noChangeAspect="1"/>
          </p:cNvPicPr>
          <p:nvPr>
            <p:custDataLst>
              <p:tags r:id="rId4"/>
            </p:custDataLst>
          </p:nvPr>
        </p:nvPicPr>
        <p:blipFill>
          <a:blip r:embed="rId11">
            <a:clrChange>
              <a:clrFrom>
                <a:srgbClr val="FFFFFF">
                  <a:alpha val="100000"/>
                </a:srgbClr>
              </a:clrFrom>
              <a:clrTo>
                <a:srgbClr val="FFFFFF">
                  <a:alpha val="100000"/>
                  <a:alpha val="0"/>
                </a:srgbClr>
              </a:clrTo>
            </a:clrChange>
          </a:blip>
          <a:stretch>
            <a:fillRect/>
          </a:stretch>
        </p:blipFill>
        <p:spPr>
          <a:xfrm>
            <a:off x="1393190" y="4605020"/>
            <a:ext cx="2924175" cy="591057"/>
          </a:xfrm>
          <a:prstGeom prst="rect">
            <a:avLst/>
          </a:prstGeom>
        </p:spPr>
      </p:pic>
      <p:sp>
        <p:nvSpPr>
          <p:cNvPr id="10" name="文本框 9"/>
          <p:cNvSpPr txBox="1"/>
          <p:nvPr>
            <p:custDataLst>
              <p:tags r:id="rId5"/>
            </p:custDataLst>
          </p:nvPr>
        </p:nvSpPr>
        <p:spPr>
          <a:xfrm>
            <a:off x="322580" y="4075430"/>
            <a:ext cx="2954020" cy="398780"/>
          </a:xfrm>
          <a:prstGeom prst="rect">
            <a:avLst/>
          </a:prstGeom>
          <a:noFill/>
        </p:spPr>
        <p:txBody>
          <a:bodyPr wrap="square" rtlCol="0">
            <a:spAutoFit/>
          </a:bodyPr>
          <a:lstStyle/>
          <a:p>
            <a:pPr marL="342900" indent="-342900" algn="l">
              <a:buFont typeface="Arial" panose="020B0604020202020204" pitchFamily="34" charset="0"/>
              <a:buChar char="•"/>
            </a:pPr>
            <a:r>
              <a:rPr lang="zh-CN" altLang="en-US" sz="2000" dirty="0"/>
              <a:t>神经网络的高维输出：</a:t>
            </a:r>
          </a:p>
        </p:txBody>
      </p:sp>
      <p:pic>
        <p:nvPicPr>
          <p:cNvPr id="12" name="图片 11"/>
          <p:cNvPicPr>
            <a:picLocks noChangeAspect="1"/>
          </p:cNvPicPr>
          <p:nvPr>
            <p:custDataLst>
              <p:tags r:id="rId6"/>
            </p:custDataLst>
          </p:nvPr>
        </p:nvPicPr>
        <p:blipFill>
          <a:blip r:embed="rId12">
            <a:clrChange>
              <a:clrFrom>
                <a:srgbClr val="FFFFFF">
                  <a:alpha val="100000"/>
                </a:srgbClr>
              </a:clrFrom>
              <a:clrTo>
                <a:srgbClr val="FFFFFF">
                  <a:alpha val="100000"/>
                  <a:alpha val="0"/>
                </a:srgbClr>
              </a:clrTo>
            </a:clrChange>
          </a:blip>
          <a:stretch>
            <a:fillRect/>
          </a:stretch>
        </p:blipFill>
        <p:spPr>
          <a:xfrm>
            <a:off x="6299835" y="4574540"/>
            <a:ext cx="5760085" cy="408940"/>
          </a:xfrm>
          <a:prstGeom prst="rect">
            <a:avLst/>
          </a:prstGeom>
        </p:spPr>
      </p:pic>
      <p:sp>
        <p:nvSpPr>
          <p:cNvPr id="6" name="文本框 5"/>
          <p:cNvSpPr txBox="1"/>
          <p:nvPr/>
        </p:nvSpPr>
        <p:spPr>
          <a:xfrm>
            <a:off x="5906770" y="859790"/>
            <a:ext cx="2806700" cy="368300"/>
          </a:xfrm>
          <a:prstGeom prst="rect">
            <a:avLst/>
          </a:prstGeom>
          <a:noFill/>
        </p:spPr>
        <p:txBody>
          <a:bodyPr wrap="square" rtlCol="0">
            <a:spAutoFit/>
          </a:bodyPr>
          <a:lstStyle/>
          <a:p>
            <a:pPr marL="285750" indent="-285750">
              <a:buFont typeface="Arial" panose="020B0604020202020204" pitchFamily="34" charset="0"/>
              <a:buChar char="•"/>
            </a:pPr>
            <a:r>
              <a:rPr lang="zh-CN" altLang="en-US"/>
              <a:t>参数的矩阵形式</a:t>
            </a:r>
          </a:p>
        </p:txBody>
      </p:sp>
      <p:sp>
        <p:nvSpPr>
          <p:cNvPr id="8" name="文本框 7"/>
          <p:cNvSpPr txBox="1"/>
          <p:nvPr/>
        </p:nvSpPr>
        <p:spPr>
          <a:xfrm>
            <a:off x="322580" y="806450"/>
            <a:ext cx="2806700" cy="368300"/>
          </a:xfrm>
          <a:prstGeom prst="rect">
            <a:avLst/>
          </a:prstGeom>
          <a:noFill/>
        </p:spPr>
        <p:txBody>
          <a:bodyPr wrap="square" rtlCol="0">
            <a:spAutoFit/>
          </a:bodyPr>
          <a:lstStyle/>
          <a:p>
            <a:pPr marL="285750" indent="-285750">
              <a:buFont typeface="Arial" panose="020B0604020202020204" pitchFamily="34" charset="0"/>
              <a:buChar char="•"/>
            </a:pPr>
            <a:r>
              <a:rPr lang="zh-CN" altLang="en-US"/>
              <a:t>单层神经网络</a:t>
            </a:r>
          </a:p>
        </p:txBody>
      </p:sp>
      <mc:AlternateContent xmlns:mc="http://schemas.openxmlformats.org/markup-compatibility/2006" xmlns:a14="http://schemas.microsoft.com/office/drawing/2010/main">
        <mc:Choice Requires="a14">
          <p:sp>
            <p:nvSpPr>
              <p:cNvPr id="13" name="文本框 12"/>
              <p:cNvSpPr txBox="1"/>
              <p:nvPr>
                <p:custDataLst>
                  <p:tags r:id="rId7"/>
                </p:custDataLst>
              </p:nvPr>
            </p:nvSpPr>
            <p:spPr>
              <a:xfrm>
                <a:off x="5906770" y="4075430"/>
                <a:ext cx="2806700" cy="36830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US" altLang="zh-CN" i="1">
                        <a:latin typeface="Cambria Math" panose="02040503050406030204" charset="0"/>
                        <a:ea typeface="MS Mincho" charset="0"/>
                        <a:cs typeface="Cambria Math" panose="02040503050406030204" charset="0"/>
                      </a:rPr>
                      <m:t>∘</m:t>
                    </m:r>
                  </m:oMath>
                </a14:m>
                <a:r>
                  <a:rPr lang="en-US" altLang="zh-CN">
                    <a:latin typeface="+mn-ea"/>
                    <a:cs typeface="+mn-ea"/>
                  </a:rPr>
                  <a:t> </a:t>
                </a:r>
                <a:r>
                  <a:rPr lang="zh-CN" altLang="en-US">
                    <a:latin typeface="+mn-ea"/>
                    <a:cs typeface="+mn-ea"/>
                  </a:rPr>
                  <a:t>表示对每个元素作用：</a:t>
                </a:r>
              </a:p>
            </p:txBody>
          </p:sp>
        </mc:Choice>
        <mc:Fallback xmlns="">
          <p:sp>
            <p:nvSpPr>
              <p:cNvPr id="13" name="文本框 12"/>
              <p:cNvSpPr txBox="1">
                <a:spLocks noRot="1" noChangeAspect="1" noMove="1" noResize="1" noEditPoints="1" noAdjustHandles="1" noChangeArrowheads="1" noChangeShapeType="1" noTextEdit="1"/>
              </p:cNvSpPr>
              <p:nvPr>
                <p:custDataLst>
                  <p:tags r:id="rId15"/>
                </p:custDataLst>
              </p:nvPr>
            </p:nvSpPr>
            <p:spPr>
              <a:xfrm>
                <a:off x="5906770" y="4075430"/>
                <a:ext cx="2806700" cy="368300"/>
              </a:xfrm>
              <a:prstGeom prst="rect">
                <a:avLst/>
              </a:prstGeom>
              <a:blipFill rotWithShape="1">
                <a:blip r:embed="rId16"/>
                <a:stretch>
                  <a:fillRect r="-928"/>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单层神经网络：设计功能</a:t>
            </a:r>
          </a:p>
        </p:txBody>
      </p:sp>
      <mc:AlternateContent xmlns:mc="http://schemas.openxmlformats.org/markup-compatibility/2006" xmlns:a14="http://schemas.microsoft.com/office/drawing/2010/main">
        <mc:Choice Requires="a14">
          <p:sp>
            <p:nvSpPr>
              <p:cNvPr id="4" name="文本框 3"/>
              <p:cNvSpPr txBox="1"/>
              <p:nvPr>
                <p:custDataLst>
                  <p:tags r:id="rId2"/>
                </p:custDataLst>
              </p:nvPr>
            </p:nvSpPr>
            <p:spPr>
              <a:xfrm>
                <a:off x="6960850" y="3806859"/>
                <a:ext cx="1588958" cy="400110"/>
              </a:xfrm>
              <a:prstGeom prst="rect">
                <a:avLst/>
              </a:prstGeom>
              <a:noFill/>
            </p:spPr>
            <p:txBody>
              <a:bodyPr wrap="square" rtlCol="0">
                <a:spAutoFit/>
              </a:bodyPr>
              <a:lstStyle/>
              <a:p>
                <a:pPr algn="l"/>
                <a:r>
                  <a:rPr lang="en-US" altLang="zh-CN" sz="2000" dirty="0"/>
                  <a:t>Not: </a:t>
                </a:r>
                <a14:m>
                  <m:oMath xmlns:m="http://schemas.openxmlformats.org/officeDocument/2006/math">
                    <m:r>
                      <a:rPr lang="en-US" altLang="zh-CN" sz="2000" b="0" i="1" smtClean="0">
                        <a:latin typeface="Cambria Math" panose="02040503050406030204" charset="0"/>
                      </a:rPr>
                      <m:t>𝑇</m:t>
                    </m:r>
                    <m:r>
                      <a:rPr lang="en-US" altLang="zh-CN" sz="2000" b="0" i="1" smtClean="0">
                        <a:latin typeface="Cambria Math" panose="02040503050406030204" charset="0"/>
                      </a:rPr>
                      <m:t>=</m:t>
                    </m:r>
                  </m:oMath>
                </a14:m>
                <a:r>
                  <a:rPr lang="en-US" altLang="zh-CN" sz="2000" dirty="0"/>
                  <a:t>0</a:t>
                </a:r>
                <a:endParaRPr lang="zh-CN" altLang="en-US" sz="2000" dirty="0"/>
              </a:p>
            </p:txBody>
          </p:sp>
        </mc:Choice>
        <mc:Fallback xmlns="">
          <p:sp>
            <p:nvSpPr>
              <p:cNvPr id="4" name="文本框 3"/>
              <p:cNvSpPr txBox="1">
                <a:spLocks noRot="1" noChangeAspect="1" noMove="1" noResize="1" noEditPoints="1" noAdjustHandles="1" noChangeArrowheads="1" noChangeShapeType="1" noTextEdit="1"/>
              </p:cNvSpPr>
              <p:nvPr>
                <p:custDataLst>
                  <p:tags r:id="rId11"/>
                </p:custDataLst>
              </p:nvPr>
            </p:nvSpPr>
            <p:spPr>
              <a:xfrm>
                <a:off x="6960850" y="3806859"/>
                <a:ext cx="1588958" cy="400110"/>
              </a:xfrm>
              <a:prstGeom prst="rect">
                <a:avLst/>
              </a:prstGeom>
              <a:blipFill>
                <a:blip r:embed="rId12"/>
                <a:stretch>
                  <a:fillRect l="-4762" t="-6061" b="-242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custDataLst>
                  <p:tags r:id="rId3"/>
                </p:custDataLst>
              </p:nvPr>
            </p:nvSpPr>
            <p:spPr>
              <a:xfrm>
                <a:off x="4172169" y="3700270"/>
                <a:ext cx="2870615"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altLang="zh-CN" sz="2800" b="0" i="1" smtClean="0">
                          <a:solidFill>
                            <a:schemeClr val="tx2"/>
                          </a:solidFill>
                          <a:latin typeface="Cambria Math" panose="02040503050406030204" charset="0"/>
                        </a:rPr>
                        <m:t>𝜎</m:t>
                      </m:r>
                      <m:d>
                        <m:dPr>
                          <m:ctrlPr>
                            <a:rPr lang="en-US" altLang="zh-CN" sz="2800" b="0" i="1" smtClean="0">
                              <a:solidFill>
                                <a:schemeClr val="tx2"/>
                              </a:solidFill>
                              <a:latin typeface="Cambria Math" panose="02040503050406030204" pitchFamily="18" charset="0"/>
                            </a:rPr>
                          </m:ctrlPr>
                        </m:dPr>
                        <m:e>
                          <m:r>
                            <a:rPr lang="en-US" altLang="zh-CN" sz="2800" b="0" i="1" smtClean="0">
                              <a:solidFill>
                                <a:schemeClr val="tx2"/>
                              </a:solidFill>
                              <a:latin typeface="Cambria Math" panose="02040503050406030204" charset="0"/>
                            </a:rPr>
                            <m:t>𝑥</m:t>
                          </m:r>
                        </m:e>
                      </m:d>
                      <m:r>
                        <a:rPr lang="en-US" altLang="zh-CN" sz="2800" b="0" i="1" smtClean="0">
                          <a:solidFill>
                            <a:schemeClr val="tx2"/>
                          </a:solidFill>
                          <a:latin typeface="Cambria Math" panose="02040503050406030204" charset="0"/>
                        </a:rPr>
                        <m:t>=−</m:t>
                      </m:r>
                      <m:r>
                        <a:rPr lang="en-US" altLang="zh-CN" sz="2800" b="0" i="1" smtClean="0">
                          <a:solidFill>
                            <a:schemeClr val="tx2"/>
                          </a:solidFill>
                          <a:latin typeface="Cambria Math" panose="02040503050406030204" charset="0"/>
                        </a:rPr>
                        <m:t>𝑥</m:t>
                      </m:r>
                    </m:oMath>
                  </m:oMathPara>
                </a14:m>
                <a:endParaRPr lang="zh-CN" altLang="en-US" sz="2800" dirty="0">
                  <a:solidFill>
                    <a:schemeClr val="tx2"/>
                  </a:solidFill>
                </a:endParaRPr>
              </a:p>
            </p:txBody>
          </p:sp>
        </mc:Choice>
        <mc:Fallback xmlns="">
          <p:sp>
            <p:nvSpPr>
              <p:cNvPr id="5" name="文本框 4"/>
              <p:cNvSpPr txBox="1">
                <a:spLocks noRot="1" noChangeAspect="1" noMove="1" noResize="1" noEditPoints="1" noAdjustHandles="1" noChangeArrowheads="1" noChangeShapeType="1" noTextEdit="1"/>
              </p:cNvSpPr>
              <p:nvPr>
                <p:custDataLst>
                  <p:tags r:id="rId13"/>
                </p:custDataLst>
              </p:nvPr>
            </p:nvSpPr>
            <p:spPr>
              <a:xfrm>
                <a:off x="4172169" y="3700270"/>
                <a:ext cx="2870615" cy="523220"/>
              </a:xfrm>
              <a:prstGeom prst="rect">
                <a:avLst/>
              </a:prstGeom>
              <a:blipFill rotWithShape="1">
                <a:blip r:embed="rId14"/>
                <a:stretch>
                  <a:fillRect l="-8" t="-24" r="22" b="20"/>
                </a:stretch>
              </a:blipFill>
            </p:spPr>
            <p:txBody>
              <a:bodyPr/>
              <a:lstStyle/>
              <a:p>
                <a:r>
                  <a:rPr lang="zh-CN" altLang="en-US">
                    <a:noFill/>
                  </a:rPr>
                  <a:t> </a:t>
                </a:r>
              </a:p>
            </p:txBody>
          </p:sp>
        </mc:Fallback>
      </mc:AlternateContent>
      <p:sp>
        <p:nvSpPr>
          <p:cNvPr id="15" name="文本框 14"/>
          <p:cNvSpPr txBox="1"/>
          <p:nvPr>
            <p:custDataLst>
              <p:tags r:id="rId4"/>
            </p:custDataLst>
          </p:nvPr>
        </p:nvSpPr>
        <p:spPr>
          <a:xfrm>
            <a:off x="334373" y="4477972"/>
            <a:ext cx="11684834" cy="1753235"/>
          </a:xfrm>
          <a:prstGeom prst="rect">
            <a:avLst/>
          </a:prstGeom>
          <a:noFill/>
        </p:spPr>
        <p:txBody>
          <a:bodyPr wrap="square">
            <a:spAutoFit/>
          </a:bodyPr>
          <a:lstStyle/>
          <a:p>
            <a:pPr>
              <a:lnSpc>
                <a:spcPct val="150000"/>
              </a:lnSpc>
            </a:pPr>
            <a:r>
              <a:rPr lang="en-US" altLang="zh-CN" sz="1800" dirty="0">
                <a:solidFill>
                  <a:schemeClr val="tx2"/>
                </a:solidFill>
              </a:rPr>
              <a:t>The Dartmouth Conference of 1956 was organized by Marvin Minsky, John McCarthy and two senior scientists: Claude Shannon and Nathan Rochester of IBM. The proposal for the conference included this assertion: </a:t>
            </a:r>
            <a:r>
              <a:rPr lang="en-US" altLang="zh-CN" b="1" dirty="0">
                <a:solidFill>
                  <a:schemeClr val="tx2"/>
                </a:solidFill>
              </a:rPr>
              <a:t>"every aspect of learning or any other feature of intelligence can be so precisely described that a machine can be made to simulate it"</a:t>
            </a:r>
            <a:r>
              <a:rPr lang="en-US" altLang="zh-CN" sz="1800" dirty="0">
                <a:solidFill>
                  <a:schemeClr val="tx2"/>
                </a:solidFill>
              </a:rPr>
              <a:t>.</a:t>
            </a:r>
          </a:p>
        </p:txBody>
      </p:sp>
      <mc:AlternateContent xmlns:mc="http://schemas.openxmlformats.org/markup-compatibility/2006" xmlns:a14="http://schemas.microsoft.com/office/drawing/2010/main">
        <mc:Choice Requires="a14">
          <p:sp>
            <p:nvSpPr>
              <p:cNvPr id="9" name="文本框 8"/>
              <p:cNvSpPr txBox="1"/>
              <p:nvPr>
                <p:custDataLst>
                  <p:tags r:id="rId5"/>
                </p:custDataLst>
              </p:nvPr>
            </p:nvSpPr>
            <p:spPr>
              <a:xfrm>
                <a:off x="2665710" y="3098154"/>
                <a:ext cx="1588958" cy="400110"/>
              </a:xfrm>
              <a:prstGeom prst="rect">
                <a:avLst/>
              </a:prstGeom>
              <a:noFill/>
            </p:spPr>
            <p:txBody>
              <a:bodyPr wrap="square" rtlCol="0">
                <a:spAutoFit/>
              </a:bodyPr>
              <a:lstStyle/>
              <a:p>
                <a:pPr algn="l"/>
                <a:r>
                  <a:rPr lang="en-US" altLang="zh-CN" sz="2000" dirty="0"/>
                  <a:t>AND: </a:t>
                </a:r>
                <a14:m>
                  <m:oMath xmlns:m="http://schemas.openxmlformats.org/officeDocument/2006/math">
                    <m:r>
                      <a:rPr lang="en-US" altLang="zh-CN" sz="2000" b="0" i="1" smtClean="0">
                        <a:latin typeface="Cambria Math" panose="02040503050406030204" charset="0"/>
                      </a:rPr>
                      <m:t>𝑇</m:t>
                    </m:r>
                    <m:r>
                      <a:rPr lang="en-US" altLang="zh-CN" sz="2000" b="0" i="1" smtClean="0">
                        <a:latin typeface="Cambria Math" panose="02040503050406030204" charset="0"/>
                      </a:rPr>
                      <m:t>=2</m:t>
                    </m:r>
                  </m:oMath>
                </a14:m>
                <a:endParaRPr lang="zh-CN" altLang="en-US" sz="2000" dirty="0"/>
              </a:p>
            </p:txBody>
          </p:sp>
        </mc:Choice>
        <mc:Fallback xmlns="">
          <p:sp>
            <p:nvSpPr>
              <p:cNvPr id="9" name="文本框 8"/>
              <p:cNvSpPr txBox="1">
                <a:spLocks noRot="1" noChangeAspect="1" noMove="1" noResize="1" noEditPoints="1" noAdjustHandles="1" noChangeArrowheads="1" noChangeShapeType="1" noTextEdit="1"/>
              </p:cNvSpPr>
              <p:nvPr>
                <p:custDataLst>
                  <p:tags r:id="rId15"/>
                </p:custDataLst>
              </p:nvPr>
            </p:nvSpPr>
            <p:spPr>
              <a:xfrm>
                <a:off x="2665710" y="3098154"/>
                <a:ext cx="1588958" cy="400110"/>
              </a:xfrm>
              <a:prstGeom prst="rect">
                <a:avLst/>
              </a:prstGeom>
              <a:blipFill rotWithShape="1">
                <a:blip r:embed="rId16"/>
                <a:stretch>
                  <a:fillRect l="-39" t="-156" r="11" b="12"/>
                </a:stretch>
              </a:blipFill>
            </p:spPr>
            <p:txBody>
              <a:bodyPr/>
              <a:lstStyle/>
              <a:p>
                <a:r>
                  <a:rPr lang="zh-CN" altLang="en-US">
                    <a:noFill/>
                  </a:rPr>
                  <a:t> </a:t>
                </a:r>
              </a:p>
            </p:txBody>
          </p:sp>
        </mc:Fallback>
      </mc:AlternateContent>
      <p:pic>
        <p:nvPicPr>
          <p:cNvPr id="14" name="图片 13"/>
          <p:cNvPicPr>
            <a:picLocks noChangeAspect="1"/>
          </p:cNvPicPr>
          <p:nvPr>
            <p:custDataLst>
              <p:tags r:id="rId6"/>
            </p:custDataLst>
          </p:nvPr>
        </p:nvPicPr>
        <p:blipFill>
          <a:blip r:embed="rId17">
            <a:clrChange>
              <a:clrFrom>
                <a:srgbClr val="FFFFFF">
                  <a:alpha val="100000"/>
                </a:srgbClr>
              </a:clrFrom>
              <a:clrTo>
                <a:srgbClr val="FFFFFF">
                  <a:alpha val="100000"/>
                  <a:alpha val="0"/>
                </a:srgbClr>
              </a:clrTo>
            </a:clrChange>
          </a:blip>
          <a:stretch>
            <a:fillRect/>
          </a:stretch>
        </p:blipFill>
        <p:spPr>
          <a:xfrm>
            <a:off x="3401695" y="1562100"/>
            <a:ext cx="4064635" cy="1296670"/>
          </a:xfrm>
          <a:prstGeom prst="rect">
            <a:avLst/>
          </a:prstGeom>
        </p:spPr>
      </p:pic>
      <mc:AlternateContent xmlns:mc="http://schemas.openxmlformats.org/markup-compatibility/2006" xmlns:a14="http://schemas.microsoft.com/office/drawing/2010/main">
        <mc:Choice Requires="a14">
          <p:sp>
            <p:nvSpPr>
              <p:cNvPr id="16" name="文本框 15"/>
              <p:cNvSpPr txBox="1"/>
              <p:nvPr>
                <p:custDataLst>
                  <p:tags r:id="rId7"/>
                </p:custDataLst>
              </p:nvPr>
            </p:nvSpPr>
            <p:spPr>
              <a:xfrm>
                <a:off x="4813352" y="3098237"/>
                <a:ext cx="1588958" cy="400110"/>
              </a:xfrm>
              <a:prstGeom prst="rect">
                <a:avLst/>
              </a:prstGeom>
              <a:noFill/>
            </p:spPr>
            <p:txBody>
              <a:bodyPr wrap="square" rtlCol="0">
                <a:spAutoFit/>
              </a:bodyPr>
              <a:lstStyle/>
              <a:p>
                <a:pPr algn="l"/>
                <a:r>
                  <a:rPr lang="en-US" altLang="zh-CN" sz="2000" dirty="0"/>
                  <a:t>Or: </a:t>
                </a:r>
                <a14:m>
                  <m:oMath xmlns:m="http://schemas.openxmlformats.org/officeDocument/2006/math">
                    <m:r>
                      <a:rPr lang="en-US" altLang="zh-CN" sz="2000" b="0" i="1" smtClean="0">
                        <a:latin typeface="Cambria Math" panose="02040503050406030204" charset="0"/>
                      </a:rPr>
                      <m:t>𝑇</m:t>
                    </m:r>
                    <m:r>
                      <a:rPr lang="en-US" altLang="zh-CN" sz="2000" b="0" i="1" smtClean="0">
                        <a:latin typeface="Cambria Math" panose="02040503050406030204" charset="0"/>
                      </a:rPr>
                      <m:t>=1</m:t>
                    </m:r>
                  </m:oMath>
                </a14:m>
                <a:endParaRPr lang="zh-CN" altLang="en-US" sz="2000" dirty="0"/>
              </a:p>
            </p:txBody>
          </p:sp>
        </mc:Choice>
        <mc:Fallback xmlns="">
          <p:sp>
            <p:nvSpPr>
              <p:cNvPr id="16" name="文本框 15"/>
              <p:cNvSpPr txBox="1">
                <a:spLocks noRot="1" noChangeAspect="1" noMove="1" noResize="1" noEditPoints="1" noAdjustHandles="1" noChangeArrowheads="1" noChangeShapeType="1" noTextEdit="1"/>
              </p:cNvSpPr>
              <p:nvPr>
                <p:custDataLst>
                  <p:tags r:id="rId18"/>
                </p:custDataLst>
              </p:nvPr>
            </p:nvSpPr>
            <p:spPr>
              <a:xfrm>
                <a:off x="4813352" y="3098237"/>
                <a:ext cx="1588958" cy="400110"/>
              </a:xfrm>
              <a:prstGeom prst="rect">
                <a:avLst/>
              </a:prstGeom>
              <a:blipFill rotWithShape="1">
                <a:blip r:embed="rId19"/>
                <a:stretch>
                  <a:fillRect l="-3" t="-18" r="15" b="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666115" y="994410"/>
                <a:ext cx="5276850" cy="477520"/>
              </a:xfrm>
              <a:prstGeom prst="rect">
                <a:avLst/>
              </a:prstGeom>
              <a:noFill/>
            </p:spPr>
            <p:txBody>
              <a:bodyPr wrap="square" rtlCol="0">
                <a:spAutoFit/>
              </a:bodyPr>
              <a:lstStyle/>
              <a:p>
                <a:pPr marL="285750" indent="-285750">
                  <a:buFont typeface="Arial" panose="020B0604020202020204" pitchFamily="34" charset="0"/>
                  <a:buChar char="•"/>
                </a:pPr>
                <a:r>
                  <a:rPr lang="zh-CN" altLang="en-US" sz="2400"/>
                  <a:t>考虑输入是两维的，</a:t>
                </a:r>
                <a14:m>
                  <m:oMath xmlns:m="http://schemas.openxmlformats.org/officeDocument/2006/math">
                    <m:sSub>
                      <m:sSubPr>
                        <m:ctrlPr>
                          <a:rPr lang="en-US" altLang="zh-CN" sz="2400" i="1">
                            <a:latin typeface="Cambria Math" panose="02040503050406030204" pitchFamily="18" charset="0"/>
                            <a:cs typeface="Cambria Math" panose="02040503050406030204" charset="0"/>
                          </a:rPr>
                        </m:ctrlPr>
                      </m:sSubPr>
                      <m:e>
                        <m:r>
                          <a:rPr lang="en-US" altLang="zh-CN" sz="2400" i="1">
                            <a:latin typeface="Cambria Math" panose="02040503050406030204" charset="0"/>
                            <a:cs typeface="Cambria Math" panose="02040503050406030204" charset="0"/>
                          </a:rPr>
                          <m:t>𝑥</m:t>
                        </m:r>
                      </m:e>
                      <m:sub>
                        <m:r>
                          <a:rPr lang="en-US" altLang="zh-CN" sz="2400" i="1">
                            <a:latin typeface="Cambria Math" panose="02040503050406030204" charset="0"/>
                            <a:cs typeface="Cambria Math" panose="02040503050406030204" charset="0"/>
                          </a:rPr>
                          <m:t>1</m:t>
                        </m:r>
                      </m:sub>
                    </m:sSub>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pitchFamily="18" charset="0"/>
                            <a:cs typeface="Cambria Math" panose="02040503050406030204" charset="0"/>
                          </a:rPr>
                        </m:ctrlPr>
                      </m:sSubPr>
                      <m:e>
                        <m:r>
                          <a:rPr lang="en-US" altLang="zh-CN" sz="2400" i="1">
                            <a:latin typeface="Cambria Math" panose="02040503050406030204" charset="0"/>
                            <a:cs typeface="Cambria Math" panose="02040503050406030204" charset="0"/>
                          </a:rPr>
                          <m:t>𝑥</m:t>
                        </m:r>
                      </m:e>
                      <m:sub>
                        <m:r>
                          <a:rPr lang="en-US" altLang="zh-CN" sz="2400" i="1">
                            <a:latin typeface="Cambria Math" panose="02040503050406030204" charset="0"/>
                            <a:cs typeface="Cambria Math" panose="02040503050406030204" charset="0"/>
                          </a:rPr>
                          <m:t>2</m:t>
                        </m:r>
                      </m:sub>
                    </m:sSub>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pitchFamily="18" charset="0"/>
                            <a:cs typeface="Cambria Math" panose="02040503050406030204" charset="0"/>
                          </a:rPr>
                        </m:ctrlPr>
                      </m:sSupPr>
                      <m:e>
                        <m:r>
                          <a:rPr lang="en-US" altLang="zh-CN" sz="2400" i="1">
                            <a:latin typeface="Cambria Math" panose="02040503050406030204" charset="0"/>
                            <a:cs typeface="Cambria Math" panose="02040503050406030204" charset="0"/>
                          </a:rPr>
                          <m:t>{0,1}</m:t>
                        </m:r>
                      </m:e>
                      <m:sup>
                        <m:r>
                          <a:rPr lang="en-US" altLang="zh-CN" sz="2400" i="1">
                            <a:latin typeface="Cambria Math" panose="02040503050406030204" charset="0"/>
                            <a:cs typeface="Cambria Math" panose="02040503050406030204" charset="0"/>
                          </a:rPr>
                          <m:t>2</m:t>
                        </m:r>
                      </m:sup>
                    </m:sSup>
                  </m:oMath>
                </a14:m>
                <a:endParaRPr lang="en-US" altLang="zh-CN" sz="2400" i="1">
                  <a:latin typeface="Cambria Math" panose="02040503050406030204" charset="0"/>
                  <a:cs typeface="Cambria Math" panose="02040503050406030204" charset="0"/>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666115" y="994410"/>
                <a:ext cx="5276850" cy="477520"/>
              </a:xfrm>
              <a:prstGeom prst="rect">
                <a:avLst/>
              </a:prstGeom>
              <a:blipFill rotWithShape="1">
                <a:blip r:embed="rId20"/>
                <a:stretch>
                  <a:fillRect/>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单层神经网络：局限性</a:t>
            </a:r>
          </a:p>
        </p:txBody>
      </p:sp>
      <p:pic>
        <p:nvPicPr>
          <p:cNvPr id="2" name="图片 1"/>
          <p:cNvPicPr>
            <a:picLocks noChangeAspect="1"/>
          </p:cNvPicPr>
          <p:nvPr>
            <p:custDataLst>
              <p:tags r:id="rId2"/>
            </p:custDataLst>
          </p:nvPr>
        </p:nvPicPr>
        <p:blipFill>
          <a:blip r:embed="rId4">
            <a:clrChange>
              <a:clrFrom>
                <a:srgbClr val="FFFFFF">
                  <a:alpha val="100000"/>
                </a:srgbClr>
              </a:clrFrom>
              <a:clrTo>
                <a:srgbClr val="FFFFFF">
                  <a:alpha val="100000"/>
                  <a:alpha val="0"/>
                </a:srgbClr>
              </a:clrTo>
            </a:clrChange>
          </a:blip>
          <a:stretch>
            <a:fillRect/>
          </a:stretch>
        </p:blipFill>
        <p:spPr>
          <a:xfrm>
            <a:off x="3417310" y="1658592"/>
            <a:ext cx="4902096" cy="4603820"/>
          </a:xfrm>
          <a:prstGeom prst="rect">
            <a:avLst/>
          </a:prstGeom>
        </p:spPr>
      </p:pic>
      <p:sp>
        <p:nvSpPr>
          <p:cNvPr id="3" name="文本框 2"/>
          <p:cNvSpPr txBox="1"/>
          <p:nvPr/>
        </p:nvSpPr>
        <p:spPr>
          <a:xfrm>
            <a:off x="481330" y="969010"/>
            <a:ext cx="6607175" cy="521970"/>
          </a:xfrm>
          <a:prstGeom prst="rect">
            <a:avLst/>
          </a:prstGeom>
          <a:noFill/>
        </p:spPr>
        <p:txBody>
          <a:bodyPr wrap="square" rtlCol="0">
            <a:spAutoFit/>
          </a:bodyPr>
          <a:lstStyle/>
          <a:p>
            <a:pPr marL="285750" indent="-285750">
              <a:buFont typeface="Arial" panose="020B0604020202020204" pitchFamily="34" charset="0"/>
              <a:buChar char="•"/>
            </a:pPr>
            <a:r>
              <a:rPr lang="zh-CN" altLang="en-US" sz="2800"/>
              <a:t>单层神经网络是无法做好</a:t>
            </a:r>
            <a:r>
              <a:rPr lang="en-US" altLang="zh-CN" sz="2800"/>
              <a:t>XOR</a:t>
            </a:r>
            <a:r>
              <a:rPr lang="zh-CN" altLang="en-US" sz="2800"/>
              <a:t>问题，</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多层神经网络</a:t>
            </a:r>
          </a:p>
        </p:txBody>
      </p:sp>
      <p:pic>
        <p:nvPicPr>
          <p:cNvPr id="5" name="图片 4"/>
          <p:cNvPicPr>
            <a:picLocks noChangeAspect="1"/>
          </p:cNvPicPr>
          <p:nvPr>
            <p:custDataLst>
              <p:tags r:id="rId2"/>
            </p:custDataLst>
          </p:nvPr>
        </p:nvPicPr>
        <p:blipFill>
          <a:blip r:embed="rId5">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a:xfrm>
            <a:off x="2371090" y="1490980"/>
            <a:ext cx="6798310" cy="5080635"/>
          </a:xfrm>
          <a:prstGeom prst="rect">
            <a:avLst/>
          </a:prstGeom>
        </p:spPr>
      </p:pic>
      <p:sp>
        <p:nvSpPr>
          <p:cNvPr id="4" name="文本框 3"/>
          <p:cNvSpPr txBox="1"/>
          <p:nvPr>
            <p:custDataLst>
              <p:tags r:id="rId3"/>
            </p:custDataLst>
          </p:nvPr>
        </p:nvSpPr>
        <p:spPr>
          <a:xfrm>
            <a:off x="481330" y="969010"/>
            <a:ext cx="10443210" cy="521970"/>
          </a:xfrm>
          <a:prstGeom prst="rect">
            <a:avLst/>
          </a:prstGeom>
          <a:noFill/>
        </p:spPr>
        <p:txBody>
          <a:bodyPr wrap="square" rtlCol="0">
            <a:spAutoFit/>
          </a:bodyPr>
          <a:lstStyle/>
          <a:p>
            <a:pPr marL="285750" indent="-285750">
              <a:buFont typeface="Arial" panose="020B0604020202020204" pitchFamily="34" charset="0"/>
              <a:buChar char="•"/>
            </a:pPr>
            <a:r>
              <a:rPr sz="2800"/>
              <a:t>多层神经网络是在一层神经网络的基础上堆叠起来的。</a:t>
            </a:r>
          </a:p>
        </p:txBody>
      </p:sp>
      <p:sp>
        <p:nvSpPr>
          <p:cNvPr id="3" name="文本框 2">
            <a:extLst>
              <a:ext uri="{FF2B5EF4-FFF2-40B4-BE49-F238E27FC236}">
                <a16:creationId xmlns:a16="http://schemas.microsoft.com/office/drawing/2014/main" id="{292E21EA-40E7-7C43-5E2F-E1265DA09717}"/>
              </a:ext>
            </a:extLst>
          </p:cNvPr>
          <p:cNvSpPr txBox="1"/>
          <p:nvPr/>
        </p:nvSpPr>
        <p:spPr>
          <a:xfrm>
            <a:off x="3881993" y="5440556"/>
            <a:ext cx="1088304" cy="400110"/>
          </a:xfrm>
          <a:prstGeom prst="rect">
            <a:avLst/>
          </a:prstGeom>
          <a:noFill/>
        </p:spPr>
        <p:txBody>
          <a:bodyPr wrap="square" rtlCol="0">
            <a:spAutoFit/>
          </a:bodyPr>
          <a:lstStyle/>
          <a:p>
            <a:pPr algn="l"/>
            <a:r>
              <a:rPr lang="zh-CN" altLang="en-US" sz="2000" dirty="0"/>
              <a:t>输入层</a:t>
            </a:r>
          </a:p>
        </p:txBody>
      </p:sp>
      <p:sp>
        <p:nvSpPr>
          <p:cNvPr id="6" name="文本框 5">
            <a:extLst>
              <a:ext uri="{FF2B5EF4-FFF2-40B4-BE49-F238E27FC236}">
                <a16:creationId xmlns:a16="http://schemas.microsoft.com/office/drawing/2014/main" id="{8C7F958E-B853-883E-78BF-FF510FECEB78}"/>
              </a:ext>
            </a:extLst>
          </p:cNvPr>
          <p:cNvSpPr txBox="1"/>
          <p:nvPr/>
        </p:nvSpPr>
        <p:spPr>
          <a:xfrm>
            <a:off x="5879088" y="5488880"/>
            <a:ext cx="1088304" cy="400110"/>
          </a:xfrm>
          <a:prstGeom prst="rect">
            <a:avLst/>
          </a:prstGeom>
          <a:noFill/>
        </p:spPr>
        <p:txBody>
          <a:bodyPr wrap="square" rtlCol="0">
            <a:spAutoFit/>
          </a:bodyPr>
          <a:lstStyle/>
          <a:p>
            <a:pPr algn="l"/>
            <a:r>
              <a:rPr lang="zh-CN" altLang="en-US" sz="2000" dirty="0"/>
              <a:t>隐藏层</a:t>
            </a:r>
          </a:p>
        </p:txBody>
      </p:sp>
      <p:sp>
        <p:nvSpPr>
          <p:cNvPr id="9" name="文本框 8">
            <a:extLst>
              <a:ext uri="{FF2B5EF4-FFF2-40B4-BE49-F238E27FC236}">
                <a16:creationId xmlns:a16="http://schemas.microsoft.com/office/drawing/2014/main" id="{8E2A652A-594F-F0C0-4E4C-43957542BA35}"/>
              </a:ext>
            </a:extLst>
          </p:cNvPr>
          <p:cNvSpPr txBox="1"/>
          <p:nvPr/>
        </p:nvSpPr>
        <p:spPr>
          <a:xfrm>
            <a:off x="8055696" y="5367020"/>
            <a:ext cx="1088304" cy="400110"/>
          </a:xfrm>
          <a:prstGeom prst="rect">
            <a:avLst/>
          </a:prstGeom>
          <a:noFill/>
        </p:spPr>
        <p:txBody>
          <a:bodyPr wrap="square" rtlCol="0">
            <a:spAutoFit/>
          </a:bodyPr>
          <a:lstStyle/>
          <a:p>
            <a:pPr algn="l"/>
            <a:r>
              <a:rPr lang="zh-CN" altLang="en-US" sz="2000" dirty="0"/>
              <a:t>输出层</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多层神经网络</a:t>
            </a:r>
          </a:p>
        </p:txBody>
      </p:sp>
      <p:sp>
        <p:nvSpPr>
          <p:cNvPr id="7" name="文本框 6">
            <a:extLst>
              <a:ext uri="{FF2B5EF4-FFF2-40B4-BE49-F238E27FC236}">
                <a16:creationId xmlns:a16="http://schemas.microsoft.com/office/drawing/2014/main" id="{45ED37E4-B8C7-2058-B7B9-C78B216B115A}"/>
              </a:ext>
            </a:extLst>
          </p:cNvPr>
          <p:cNvSpPr txBox="1"/>
          <p:nvPr>
            <p:custDataLst>
              <p:tags r:id="rId1"/>
            </p:custDataLst>
          </p:nvPr>
        </p:nvSpPr>
        <p:spPr>
          <a:xfrm>
            <a:off x="393700" y="917059"/>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chemeClr val="tx2"/>
                </a:solidFill>
                <a:latin typeface="FandolSong-Regular-Identity-H"/>
              </a:rPr>
              <a:t>两层神经网络</a:t>
            </a:r>
            <a:endParaRPr lang="zh-CN" altLang="en-US" dirty="0">
              <a:solidFill>
                <a:schemeClr val="tx2"/>
              </a:solidFill>
            </a:endParaRPr>
          </a:p>
        </p:txBody>
      </p:sp>
      <p:pic>
        <p:nvPicPr>
          <p:cNvPr id="5" name="图片 4">
            <a:extLst>
              <a:ext uri="{FF2B5EF4-FFF2-40B4-BE49-F238E27FC236}">
                <a16:creationId xmlns:a16="http://schemas.microsoft.com/office/drawing/2014/main" id="{49FE9839-EC18-CB7F-B212-2D47E4FB42ED}"/>
              </a:ext>
            </a:extLst>
          </p:cNvPr>
          <p:cNvPicPr>
            <a:picLocks noChangeAspect="1"/>
          </p:cNvPicPr>
          <p:nvPr/>
        </p:nvPicPr>
        <p:blipFill>
          <a:blip r:embed="rId4"/>
          <a:stretch>
            <a:fillRect/>
          </a:stretch>
        </p:blipFill>
        <p:spPr>
          <a:xfrm>
            <a:off x="4428125" y="1014522"/>
            <a:ext cx="3714390" cy="851833"/>
          </a:xfrm>
          <a:prstGeom prst="rect">
            <a:avLst/>
          </a:prstGeom>
        </p:spPr>
      </p:pic>
      <p:sp>
        <p:nvSpPr>
          <p:cNvPr id="8" name="文本框 7">
            <a:extLst>
              <a:ext uri="{FF2B5EF4-FFF2-40B4-BE49-F238E27FC236}">
                <a16:creationId xmlns:a16="http://schemas.microsoft.com/office/drawing/2014/main" id="{BC0806EA-E89C-A6B1-BC10-331AEE4C86FF}"/>
              </a:ext>
            </a:extLst>
          </p:cNvPr>
          <p:cNvSpPr txBox="1"/>
          <p:nvPr>
            <p:custDataLst>
              <p:tags r:id="rId2"/>
            </p:custDataLst>
          </p:nvPr>
        </p:nvSpPr>
        <p:spPr>
          <a:xfrm>
            <a:off x="393700" y="3165482"/>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chemeClr val="tx2"/>
                </a:solidFill>
                <a:latin typeface="FandolSong-Regular-Identity-H"/>
              </a:rPr>
              <a:t>多层神经网络</a:t>
            </a:r>
            <a:endParaRPr lang="zh-CN" altLang="en-US" dirty="0">
              <a:solidFill>
                <a:schemeClr val="tx2"/>
              </a:solidFill>
            </a:endParaRPr>
          </a:p>
        </p:txBody>
      </p:sp>
      <p:pic>
        <p:nvPicPr>
          <p:cNvPr id="12" name="图片 11">
            <a:extLst>
              <a:ext uri="{FF2B5EF4-FFF2-40B4-BE49-F238E27FC236}">
                <a16:creationId xmlns:a16="http://schemas.microsoft.com/office/drawing/2014/main" id="{FC5F1EB2-2A21-3E0B-24BF-5C29EED1E39F}"/>
              </a:ext>
            </a:extLst>
          </p:cNvPr>
          <p:cNvPicPr>
            <a:picLocks noChangeAspect="1"/>
          </p:cNvPicPr>
          <p:nvPr/>
        </p:nvPicPr>
        <p:blipFill>
          <a:blip r:embed="rId5"/>
          <a:stretch>
            <a:fillRect/>
          </a:stretch>
        </p:blipFill>
        <p:spPr>
          <a:xfrm>
            <a:off x="1702130" y="2022891"/>
            <a:ext cx="8973787" cy="986055"/>
          </a:xfrm>
          <a:prstGeom prst="rect">
            <a:avLst/>
          </a:prstGeom>
        </p:spPr>
      </p:pic>
      <p:pic>
        <p:nvPicPr>
          <p:cNvPr id="14" name="图片 13">
            <a:extLst>
              <a:ext uri="{FF2B5EF4-FFF2-40B4-BE49-F238E27FC236}">
                <a16:creationId xmlns:a16="http://schemas.microsoft.com/office/drawing/2014/main" id="{9D6A2816-BEB2-237A-D337-22811F3FDB26}"/>
              </a:ext>
            </a:extLst>
          </p:cNvPr>
          <p:cNvPicPr>
            <a:picLocks noChangeAspect="1"/>
          </p:cNvPicPr>
          <p:nvPr/>
        </p:nvPicPr>
        <p:blipFill>
          <a:blip r:embed="rId6"/>
          <a:stretch>
            <a:fillRect/>
          </a:stretch>
        </p:blipFill>
        <p:spPr>
          <a:xfrm>
            <a:off x="2545278" y="3336930"/>
            <a:ext cx="7192488" cy="706776"/>
          </a:xfrm>
          <a:prstGeom prst="rect">
            <a:avLst/>
          </a:prstGeom>
        </p:spPr>
      </p:pic>
      <p:pic>
        <p:nvPicPr>
          <p:cNvPr id="16" name="图片 15">
            <a:extLst>
              <a:ext uri="{FF2B5EF4-FFF2-40B4-BE49-F238E27FC236}">
                <a16:creationId xmlns:a16="http://schemas.microsoft.com/office/drawing/2014/main" id="{5E64F8C5-0A9E-9966-F29D-37217880B3F4}"/>
              </a:ext>
            </a:extLst>
          </p:cNvPr>
          <p:cNvPicPr>
            <a:picLocks noChangeAspect="1"/>
          </p:cNvPicPr>
          <p:nvPr/>
        </p:nvPicPr>
        <p:blipFill>
          <a:blip r:embed="rId7"/>
          <a:stretch>
            <a:fillRect/>
          </a:stretch>
        </p:blipFill>
        <p:spPr>
          <a:xfrm>
            <a:off x="3214255" y="4371690"/>
            <a:ext cx="5851398" cy="1390347"/>
          </a:xfrm>
          <a:prstGeom prst="rect">
            <a:avLst/>
          </a:prstGeom>
        </p:spPr>
      </p:pic>
    </p:spTree>
    <p:extLst>
      <p:ext uri="{BB962C8B-B14F-4D97-AF65-F5344CB8AC3E}">
        <p14:creationId xmlns:p14="http://schemas.microsoft.com/office/powerpoint/2010/main" val="4047723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96B4A-23BF-BFDB-CFE7-C05C5A04D79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61BF9EE-DC8B-6C80-590A-1083ADE2AEC7}"/>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理解神经网络</a:t>
            </a:r>
          </a:p>
        </p:txBody>
      </p:sp>
      <p:sp>
        <p:nvSpPr>
          <p:cNvPr id="7" name="文本框 6">
            <a:extLst>
              <a:ext uri="{FF2B5EF4-FFF2-40B4-BE49-F238E27FC236}">
                <a16:creationId xmlns:a16="http://schemas.microsoft.com/office/drawing/2014/main" id="{3E39704A-D61E-DEA1-1ADA-35EEFD843304}"/>
              </a:ext>
            </a:extLst>
          </p:cNvPr>
          <p:cNvSpPr txBox="1"/>
          <p:nvPr>
            <p:custDataLst>
              <p:tags r:id="rId1"/>
            </p:custDataLst>
          </p:nvPr>
        </p:nvSpPr>
        <p:spPr>
          <a:xfrm>
            <a:off x="393700" y="917059"/>
            <a:ext cx="6172200"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t>线性</a:t>
            </a:r>
            <a:r>
              <a:rPr lang="en-US" altLang="zh-CN" b="1" dirty="0"/>
              <a:t>-</a:t>
            </a:r>
            <a:r>
              <a:rPr lang="zh-CN" altLang="en-US" b="1" dirty="0">
                <a:solidFill>
                  <a:schemeClr val="bg2"/>
                </a:solidFill>
              </a:rPr>
              <a:t>非线性</a:t>
            </a:r>
            <a:r>
              <a:rPr lang="zh-CN" altLang="en-US" b="1" dirty="0"/>
              <a:t>变换</a:t>
            </a:r>
            <a:endParaRPr lang="zh-CN" altLang="en-US" dirty="0">
              <a:solidFill>
                <a:schemeClr val="tx2"/>
              </a:solidFill>
            </a:endParaRPr>
          </a:p>
        </p:txBody>
      </p:sp>
      <p:sp>
        <p:nvSpPr>
          <p:cNvPr id="8" name="文本框 7">
            <a:extLst>
              <a:ext uri="{FF2B5EF4-FFF2-40B4-BE49-F238E27FC236}">
                <a16:creationId xmlns:a16="http://schemas.microsoft.com/office/drawing/2014/main" id="{F8423A60-DC0D-FEE6-1367-719BCEC238CC}"/>
              </a:ext>
            </a:extLst>
          </p:cNvPr>
          <p:cNvSpPr txBox="1"/>
          <p:nvPr>
            <p:custDataLst>
              <p:tags r:id="rId2"/>
            </p:custDataLst>
          </p:nvPr>
        </p:nvSpPr>
        <p:spPr>
          <a:xfrm>
            <a:off x="469900" y="2796150"/>
            <a:ext cx="6172200"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t>投影到高维空间</a:t>
            </a:r>
            <a:r>
              <a:rPr lang="zh-CN" altLang="en-US" dirty="0"/>
              <a:t> </a:t>
            </a:r>
            <a:endParaRPr lang="zh-CN" altLang="en-US" dirty="0">
              <a:solidFill>
                <a:schemeClr val="tx2"/>
              </a:solidFill>
            </a:endParaRPr>
          </a:p>
        </p:txBody>
      </p:sp>
      <p:pic>
        <p:nvPicPr>
          <p:cNvPr id="16" name="图片 15">
            <a:extLst>
              <a:ext uri="{FF2B5EF4-FFF2-40B4-BE49-F238E27FC236}">
                <a16:creationId xmlns:a16="http://schemas.microsoft.com/office/drawing/2014/main" id="{11D00D91-DBDF-58D7-E8DE-BCFD08A9D1EC}"/>
              </a:ext>
            </a:extLst>
          </p:cNvPr>
          <p:cNvPicPr>
            <a:picLocks noChangeAspect="1"/>
          </p:cNvPicPr>
          <p:nvPr/>
        </p:nvPicPr>
        <p:blipFill>
          <a:blip r:embed="rId5"/>
          <a:srcRect t="34337" b="36908"/>
          <a:stretch>
            <a:fillRect/>
          </a:stretch>
        </p:blipFill>
        <p:spPr>
          <a:xfrm>
            <a:off x="3479800" y="1086490"/>
            <a:ext cx="5851398" cy="399802"/>
          </a:xfrm>
          <a:prstGeom prst="rect">
            <a:avLst/>
          </a:prstGeom>
        </p:spPr>
      </p:pic>
      <p:cxnSp>
        <p:nvCxnSpPr>
          <p:cNvPr id="4" name="直接连接符 3">
            <a:extLst>
              <a:ext uri="{FF2B5EF4-FFF2-40B4-BE49-F238E27FC236}">
                <a16:creationId xmlns:a16="http://schemas.microsoft.com/office/drawing/2014/main" id="{EAC1BC13-209E-5F64-5C75-225F64055A0A}"/>
              </a:ext>
            </a:extLst>
          </p:cNvPr>
          <p:cNvCxnSpPr/>
          <p:nvPr/>
        </p:nvCxnSpPr>
        <p:spPr>
          <a:xfrm>
            <a:off x="5062847" y="1456704"/>
            <a:ext cx="226818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0C6FB2DB-E8F8-8769-9BFC-CC87620220DC}"/>
              </a:ext>
            </a:extLst>
          </p:cNvPr>
          <p:cNvCxnSpPr>
            <a:cxnSpLocks/>
          </p:cNvCxnSpPr>
          <p:nvPr/>
        </p:nvCxnSpPr>
        <p:spPr>
          <a:xfrm>
            <a:off x="4476997" y="1535873"/>
            <a:ext cx="3024250"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13B93A79-356E-8B90-D80B-FEC2C7041037}"/>
              </a:ext>
            </a:extLst>
          </p:cNvPr>
          <p:cNvSpPr txBox="1"/>
          <p:nvPr/>
        </p:nvSpPr>
        <p:spPr>
          <a:xfrm>
            <a:off x="1147948" y="1640565"/>
            <a:ext cx="6096000" cy="923330"/>
          </a:xfrm>
          <a:prstGeom prst="rect">
            <a:avLst/>
          </a:prstGeom>
          <a:noFill/>
        </p:spPr>
        <p:txBody>
          <a:bodyPr wrap="square">
            <a:spAutoFit/>
          </a:bodyPr>
          <a:lstStyle/>
          <a:p>
            <a:r>
              <a:rPr lang="zh-CN" altLang="en-US" sz="1800" b="0" i="0" dirty="0">
                <a:solidFill>
                  <a:srgbClr val="000000"/>
                </a:solidFill>
                <a:effectLst/>
                <a:latin typeface="FandolSong-Regular-Identity-H"/>
              </a:rPr>
              <a:t>线性函数满足不了实际当中大量非线性的问题</a:t>
            </a:r>
            <a:endParaRPr lang="en-US" altLang="zh-CN" sz="1800" b="0" i="0" dirty="0">
              <a:solidFill>
                <a:srgbClr val="000000"/>
              </a:solidFill>
              <a:effectLst/>
              <a:latin typeface="FandolSong-Regular-Identity-H"/>
            </a:endParaRPr>
          </a:p>
          <a:p>
            <a:r>
              <a:rPr lang="zh-CN" altLang="en-US" dirty="0"/>
              <a:t>套上一个非线性激活函数</a:t>
            </a:r>
            <a:endParaRPr lang="en-US" altLang="zh-CN" dirty="0"/>
          </a:p>
          <a:p>
            <a:r>
              <a:rPr lang="zh-CN" altLang="en-US" dirty="0"/>
              <a:t>只套一个不够，套多次</a:t>
            </a:r>
          </a:p>
        </p:txBody>
      </p:sp>
      <p:pic>
        <p:nvPicPr>
          <p:cNvPr id="15" name="图片 14">
            <a:extLst>
              <a:ext uri="{FF2B5EF4-FFF2-40B4-BE49-F238E27FC236}">
                <a16:creationId xmlns:a16="http://schemas.microsoft.com/office/drawing/2014/main" id="{B6BB4F42-60C7-2723-3D47-A9E5F53F6CA8}"/>
              </a:ext>
            </a:extLst>
          </p:cNvPr>
          <p:cNvPicPr>
            <a:picLocks noChangeAspect="1"/>
          </p:cNvPicPr>
          <p:nvPr/>
        </p:nvPicPr>
        <p:blipFill>
          <a:blip r:embed="rId6"/>
          <a:stretch>
            <a:fillRect/>
          </a:stretch>
        </p:blipFill>
        <p:spPr>
          <a:xfrm>
            <a:off x="3589504" y="2796150"/>
            <a:ext cx="4799236" cy="1958309"/>
          </a:xfrm>
          <a:prstGeom prst="rect">
            <a:avLst/>
          </a:prstGeom>
        </p:spPr>
      </p:pic>
      <p:sp>
        <p:nvSpPr>
          <p:cNvPr id="17" name="文本框 16">
            <a:extLst>
              <a:ext uri="{FF2B5EF4-FFF2-40B4-BE49-F238E27FC236}">
                <a16:creationId xmlns:a16="http://schemas.microsoft.com/office/drawing/2014/main" id="{5C928A1B-4AC2-EF31-4893-C8BAEB4B1E48}"/>
              </a:ext>
            </a:extLst>
          </p:cNvPr>
          <p:cNvSpPr txBox="1"/>
          <p:nvPr>
            <p:custDataLst>
              <p:tags r:id="rId3"/>
            </p:custDataLst>
          </p:nvPr>
        </p:nvSpPr>
        <p:spPr>
          <a:xfrm>
            <a:off x="469900" y="4802048"/>
            <a:ext cx="6172200"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t>函数空间的 </a:t>
            </a:r>
            <a:r>
              <a:rPr lang="en-US" altLang="zh-CN" b="1" dirty="0"/>
              <a:t>Monte-Carlo </a:t>
            </a:r>
            <a:r>
              <a:rPr lang="zh-CN" altLang="en-US" b="1" dirty="0"/>
              <a:t>采样（没有维数灾难）</a:t>
            </a:r>
            <a:r>
              <a:rPr lang="zh-CN" altLang="en-US" dirty="0"/>
              <a:t> </a:t>
            </a:r>
            <a:endParaRPr lang="zh-CN" altLang="en-US" dirty="0">
              <a:solidFill>
                <a:schemeClr val="tx2"/>
              </a:solidFill>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4804C46-DB1F-9C51-574C-8CFEB7AEC7DE}"/>
                  </a:ext>
                </a:extLst>
              </p:cNvPr>
              <p:cNvSpPr txBox="1"/>
              <p:nvPr/>
            </p:nvSpPr>
            <p:spPr>
              <a:xfrm>
                <a:off x="3776353" y="5003366"/>
                <a:ext cx="6096000" cy="7958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𝜃</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f>
                        <m:fPr>
                          <m:ctrlPr>
                            <a:rPr lang="en-US" altLang="zh-CN" b="0" i="1" smtClean="0">
                              <a:solidFill>
                                <a:schemeClr val="bg2"/>
                              </a:solidFill>
                              <a:latin typeface="Cambria Math" panose="02040503050406030204" pitchFamily="18" charset="0"/>
                            </a:rPr>
                          </m:ctrlPr>
                        </m:fPr>
                        <m:num>
                          <m:r>
                            <a:rPr lang="en-US" altLang="zh-CN" b="0" i="1" smtClean="0">
                              <a:solidFill>
                                <a:schemeClr val="bg2"/>
                              </a:solidFill>
                              <a:latin typeface="Cambria Math" panose="02040503050406030204" pitchFamily="18" charset="0"/>
                            </a:rPr>
                            <m:t>1</m:t>
                          </m:r>
                        </m:num>
                        <m:den>
                          <m:r>
                            <a:rPr lang="en-US" altLang="zh-CN" b="0" i="1" smtClean="0">
                              <a:solidFill>
                                <a:schemeClr val="bg2"/>
                              </a:solidFill>
                              <a:latin typeface="Cambria Math" panose="02040503050406030204" pitchFamily="18" charset="0"/>
                            </a:rPr>
                            <m:t>𝑚</m:t>
                          </m:r>
                        </m:den>
                      </m:f>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𝑗</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𝜎</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𝑥</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e>
                      </m:nary>
                    </m:oMath>
                  </m:oMathPara>
                </a14:m>
                <a:endParaRPr lang="zh-CN" altLang="en-US" dirty="0"/>
              </a:p>
            </p:txBody>
          </p:sp>
        </mc:Choice>
        <mc:Fallback xmlns="">
          <p:sp>
            <p:nvSpPr>
              <p:cNvPr id="18" name="文本框 17">
                <a:extLst>
                  <a:ext uri="{FF2B5EF4-FFF2-40B4-BE49-F238E27FC236}">
                    <a16:creationId xmlns:a16="http://schemas.microsoft.com/office/drawing/2014/main" id="{F4804C46-DB1F-9C51-574C-8CFEB7AEC7DE}"/>
                  </a:ext>
                </a:extLst>
              </p:cNvPr>
              <p:cNvSpPr txBox="1">
                <a:spLocks noRot="1" noChangeAspect="1" noMove="1" noResize="1" noEditPoints="1" noAdjustHandles="1" noChangeArrowheads="1" noChangeShapeType="1" noTextEdit="1"/>
              </p:cNvSpPr>
              <p:nvPr/>
            </p:nvSpPr>
            <p:spPr>
              <a:xfrm>
                <a:off x="3776353" y="5003366"/>
                <a:ext cx="6096000" cy="795859"/>
              </a:xfrm>
              <a:prstGeom prst="rect">
                <a:avLst/>
              </a:prstGeom>
              <a:blipFill>
                <a:blip r:embed="rId9"/>
                <a:stretch>
                  <a:fillRect/>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67838B9A-1BA5-2BC7-575C-4D1089E49A11}"/>
              </a:ext>
            </a:extLst>
          </p:cNvPr>
          <p:cNvSpPr txBox="1"/>
          <p:nvPr/>
        </p:nvSpPr>
        <p:spPr>
          <a:xfrm>
            <a:off x="4453247" y="5799225"/>
            <a:ext cx="6096000" cy="369332"/>
          </a:xfrm>
          <a:prstGeom prst="rect">
            <a:avLst/>
          </a:prstGeom>
          <a:noFill/>
        </p:spPr>
        <p:txBody>
          <a:bodyPr wrap="square">
            <a:spAutoFit/>
          </a:bodyPr>
          <a:lstStyle/>
          <a:p>
            <a:r>
              <a:rPr lang="zh-CN" altLang="en-US" sz="1800" b="0" i="0" dirty="0">
                <a:solidFill>
                  <a:srgbClr val="000000"/>
                </a:solidFill>
                <a:effectLst/>
                <a:latin typeface="FandolSong-Regular-Identity-H"/>
              </a:rPr>
              <a:t>这个形式类似于对 </a:t>
            </a:r>
            <a:r>
              <a:rPr lang="en-US" altLang="zh-CN" sz="1800" b="0" i="1" dirty="0">
                <a:solidFill>
                  <a:srgbClr val="000000"/>
                </a:solidFill>
                <a:effectLst/>
                <a:latin typeface="CMMI10"/>
              </a:rPr>
              <a:t>m </a:t>
            </a:r>
            <a:r>
              <a:rPr lang="zh-CN" altLang="en-US" sz="1800" b="0" i="0" dirty="0">
                <a:solidFill>
                  <a:srgbClr val="000000"/>
                </a:solidFill>
                <a:effectLst/>
                <a:latin typeface="FandolSong-Regular-Identity-H"/>
              </a:rPr>
              <a:t>个函数做加权平均</a:t>
            </a:r>
            <a:r>
              <a:rPr lang="zh-CN" altLang="en-US" dirty="0"/>
              <a:t> </a:t>
            </a:r>
          </a:p>
        </p:txBody>
      </p:sp>
      <p:pic>
        <p:nvPicPr>
          <p:cNvPr id="2" name="图片 1">
            <a:extLst>
              <a:ext uri="{FF2B5EF4-FFF2-40B4-BE49-F238E27FC236}">
                <a16:creationId xmlns:a16="http://schemas.microsoft.com/office/drawing/2014/main" id="{38319728-FFE5-FDE7-B0FA-2E3F7FEBA64A}"/>
              </a:ext>
            </a:extLst>
          </p:cNvPr>
          <p:cNvPicPr>
            <a:picLocks noChangeAspect="1"/>
          </p:cNvPicPr>
          <p:nvPr/>
        </p:nvPicPr>
        <p:blipFill>
          <a:blip r:embed="rId10"/>
          <a:stretch>
            <a:fillRect/>
          </a:stretch>
        </p:blipFill>
        <p:spPr>
          <a:xfrm>
            <a:off x="553708" y="3213072"/>
            <a:ext cx="2924879" cy="670772"/>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9B0C126-08AF-F9A5-C424-EF0CA45D751D}"/>
                  </a:ext>
                </a:extLst>
              </p:cNvPr>
              <p:cNvSpPr txBox="1"/>
              <p:nvPr/>
            </p:nvSpPr>
            <p:spPr>
              <a:xfrm>
                <a:off x="469900" y="3746729"/>
                <a:ext cx="2179379" cy="1114216"/>
              </a:xfrm>
              <a:prstGeom prst="rect">
                <a:avLst/>
              </a:prstGeom>
              <a:noFill/>
            </p:spPr>
            <p:txBody>
              <a:bodyPr wrap="none" lIns="0" tIns="0" rIns="0" bIns="0" rtlCol="0">
                <a:spAutoFit/>
              </a:bodyPr>
              <a:lstStyle/>
              <a:p>
                <a:pPr algn="l"/>
                <a:r>
                  <a:rPr kumimoji="1" lang="zh-CN" altLang="en-US" sz="2000" dirty="0"/>
                  <a:t>令</a:t>
                </a:r>
                <a:r>
                  <a:rPr kumimoji="1" lang="en-US" altLang="zh-CN" sz="2000" dirty="0"/>
                  <a:t> </a:t>
                </a:r>
                <a14:m>
                  <m:oMath xmlns:m="http://schemas.openxmlformats.org/officeDocument/2006/math">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𝑢</m:t>
                        </m:r>
                      </m:e>
                      <m:sub>
                        <m:r>
                          <a:rPr kumimoji="1" lang="en-US" altLang="zh-CN" sz="2000" b="0" i="1" smtClean="0">
                            <a:latin typeface="Cambria Math" panose="02040503050406030204" pitchFamily="18" charset="0"/>
                          </a:rPr>
                          <m:t>𝑗</m:t>
                        </m:r>
                      </m:sub>
                    </m:sSub>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𝜎</m:t>
                    </m:r>
                    <m:r>
                      <a:rPr kumimoji="1" lang="en-US" altLang="zh-CN" sz="2000" b="0" i="1"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𝑤</m:t>
                        </m:r>
                      </m:e>
                      <m:sub>
                        <m:r>
                          <a:rPr kumimoji="1" lang="en-US" altLang="zh-CN" sz="2000" b="0" i="1" smtClean="0">
                            <a:latin typeface="Cambria Math" panose="02040503050406030204" pitchFamily="18" charset="0"/>
                          </a:rPr>
                          <m:t>𝑗</m:t>
                        </m:r>
                      </m:sub>
                    </m:sSub>
                    <m:r>
                      <a:rPr kumimoji="1" lang="en-US" altLang="zh-CN" sz="2000" b="0" i="1" smtClean="0">
                        <a:latin typeface="Cambria Math" panose="02040503050406030204" pitchFamily="18" charset="0"/>
                      </a:rPr>
                      <m:t>𝑥</m:t>
                    </m:r>
                    <m:r>
                      <a:rPr kumimoji="1" lang="en-US" altLang="zh-CN" sz="2000" b="0" i="1"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𝑏</m:t>
                        </m:r>
                      </m:e>
                      <m:sub>
                        <m:r>
                          <a:rPr kumimoji="1" lang="en-US" altLang="zh-CN" sz="2000" b="0" i="1" smtClean="0">
                            <a:latin typeface="Cambria Math" panose="02040503050406030204" pitchFamily="18" charset="0"/>
                          </a:rPr>
                          <m:t>𝑗</m:t>
                        </m:r>
                      </m:sub>
                    </m:sSub>
                    <m:r>
                      <a:rPr kumimoji="1" lang="en-US" altLang="zh-CN" sz="2000" b="0" i="1" smtClean="0">
                        <a:latin typeface="Cambria Math" panose="02040503050406030204" pitchFamily="18" charset="0"/>
                      </a:rPr>
                      <m:t>)</m:t>
                    </m:r>
                  </m:oMath>
                </a14:m>
                <a:endParaRPr kumimoji="1" lang="en-US" altLang="zh-CN" sz="2000" dirty="0"/>
              </a:p>
              <a:p>
                <a:pPr algn="l"/>
                <a14:m>
                  <m:oMathPara xmlns:m="http://schemas.openxmlformats.org/officeDocument/2006/math">
                    <m:oMathParaPr>
                      <m:jc m:val="centerGroup"/>
                    </m:oMathParaPr>
                    <m:oMath xmlns:m="http://schemas.openxmlformats.org/officeDocument/2006/math">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𝑓</m:t>
                          </m:r>
                        </m:e>
                        <m:sub>
                          <m:r>
                            <a:rPr kumimoji="1" lang="en-US" altLang="zh-CN" sz="2000" b="0" i="1" smtClean="0">
                              <a:latin typeface="Cambria Math" panose="02040503050406030204" pitchFamily="18" charset="0"/>
                            </a:rPr>
                            <m:t>𝜃</m:t>
                          </m:r>
                        </m:sub>
                      </m:sSub>
                      <m:d>
                        <m:dPr>
                          <m:ctrlPr>
                            <a:rPr kumimoji="1" lang="en-US" altLang="zh-CN" sz="2000" b="0" i="1" smtClean="0">
                              <a:latin typeface="Cambria Math" panose="02040503050406030204" pitchFamily="18" charset="0"/>
                            </a:rPr>
                          </m:ctrlPr>
                        </m:dPr>
                        <m:e>
                          <m:r>
                            <a:rPr kumimoji="1" lang="en-US" altLang="zh-CN" sz="2000" b="0" i="1" smtClean="0">
                              <a:latin typeface="Cambria Math" panose="02040503050406030204" pitchFamily="18" charset="0"/>
                            </a:rPr>
                            <m:t>𝑥</m:t>
                          </m:r>
                        </m:e>
                      </m:d>
                      <m:r>
                        <a:rPr kumimoji="1" lang="en-US" altLang="zh-CN" sz="2000" b="0" i="1" smtClean="0">
                          <a:latin typeface="Cambria Math" panose="02040503050406030204" pitchFamily="18" charset="0"/>
                        </a:rPr>
                        <m:t>=</m:t>
                      </m:r>
                      <m:nary>
                        <m:naryPr>
                          <m:chr m:val="∑"/>
                          <m:supHide m:val="on"/>
                          <m:ctrlPr>
                            <a:rPr kumimoji="1" lang="en-US" altLang="zh-CN" sz="2000" b="0" i="1" smtClean="0">
                              <a:latin typeface="Cambria Math" panose="02040503050406030204" pitchFamily="18" charset="0"/>
                            </a:rPr>
                          </m:ctrlPr>
                        </m:naryPr>
                        <m:sub>
                          <m:r>
                            <a:rPr kumimoji="1" lang="en-US" altLang="zh-CN" sz="2000" b="0" i="1" smtClean="0">
                              <a:latin typeface="Cambria Math" panose="02040503050406030204" pitchFamily="18" charset="0"/>
                            </a:rPr>
                            <m:t>𝑗</m:t>
                          </m:r>
                        </m:sub>
                        <m:sup/>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𝑎</m:t>
                              </m:r>
                            </m:e>
                            <m:sub>
                              <m:r>
                                <a:rPr kumimoji="1" lang="en-US" altLang="zh-CN" sz="2000" b="0" i="1" smtClean="0">
                                  <a:latin typeface="Cambria Math" panose="02040503050406030204" pitchFamily="18" charset="0"/>
                                </a:rPr>
                                <m:t>𝑗</m:t>
                              </m:r>
                            </m:sub>
                          </m:sSub>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𝑢</m:t>
                              </m:r>
                            </m:e>
                            <m:sub>
                              <m:r>
                                <a:rPr kumimoji="1" lang="en-US" altLang="zh-CN" sz="2000" b="0" i="1" smtClean="0">
                                  <a:latin typeface="Cambria Math" panose="02040503050406030204" pitchFamily="18" charset="0"/>
                                </a:rPr>
                                <m:t>𝑗</m:t>
                              </m:r>
                            </m:sub>
                          </m:sSub>
                          <m:r>
                            <a:rPr kumimoji="1" lang="en-US" altLang="zh-CN" sz="2000" b="0" i="1" smtClean="0">
                              <a:latin typeface="Cambria Math" panose="02040503050406030204" pitchFamily="18" charset="0"/>
                            </a:rPr>
                            <m:t> </m:t>
                          </m:r>
                        </m:e>
                      </m:nary>
                    </m:oMath>
                  </m:oMathPara>
                </a14:m>
                <a:endParaRPr kumimoji="1" lang="zh-CN" altLang="en-US" sz="2000" dirty="0"/>
              </a:p>
            </p:txBody>
          </p:sp>
        </mc:Choice>
        <mc:Fallback xmlns="">
          <p:sp>
            <p:nvSpPr>
              <p:cNvPr id="5" name="文本框 4">
                <a:extLst>
                  <a:ext uri="{FF2B5EF4-FFF2-40B4-BE49-F238E27FC236}">
                    <a16:creationId xmlns:a16="http://schemas.microsoft.com/office/drawing/2014/main" id="{D9B0C126-08AF-F9A5-C424-EF0CA45D751D}"/>
                  </a:ext>
                </a:extLst>
              </p:cNvPr>
              <p:cNvSpPr txBox="1">
                <a:spLocks noRot="1" noChangeAspect="1" noMove="1" noResize="1" noEditPoints="1" noAdjustHandles="1" noChangeArrowheads="1" noChangeShapeType="1" noTextEdit="1"/>
              </p:cNvSpPr>
              <p:nvPr/>
            </p:nvSpPr>
            <p:spPr>
              <a:xfrm>
                <a:off x="469900" y="3746729"/>
                <a:ext cx="2179379" cy="1114216"/>
              </a:xfrm>
              <a:prstGeom prst="rect">
                <a:avLst/>
              </a:prstGeom>
              <a:blipFill>
                <a:blip r:embed="rId11"/>
                <a:stretch>
                  <a:fillRect l="-6936" t="-70455" r="-4624" b="-1340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89700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多层神经网络：解</a:t>
            </a:r>
            <a:r>
              <a:rPr lang="en-US" altLang="zh-CN"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XOR</a:t>
            </a: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问题</a:t>
            </a:r>
          </a:p>
        </p:txBody>
      </p:sp>
      <p:pic>
        <p:nvPicPr>
          <p:cNvPr id="2" name="图片 1"/>
          <p:cNvPicPr>
            <a:picLocks noChangeAspect="1"/>
          </p:cNvPicPr>
          <p:nvPr>
            <p:custDataLst>
              <p:tags r:id="rId2"/>
            </p:custDataLst>
          </p:nvPr>
        </p:nvPicPr>
        <p:blipFill>
          <a:blip r:embed="rId6">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a:xfrm>
            <a:off x="1211580" y="1028065"/>
            <a:ext cx="5387975" cy="3509010"/>
          </a:xfrm>
          <a:prstGeom prst="rect">
            <a:avLst/>
          </a:prstGeom>
        </p:spPr>
      </p:pic>
      <p:pic>
        <p:nvPicPr>
          <p:cNvPr id="3" name="图片 2"/>
          <p:cNvPicPr>
            <a:picLocks noChangeAspect="1"/>
          </p:cNvPicPr>
          <p:nvPr>
            <p:custDataLst>
              <p:tags r:id="rId3"/>
            </p:custDataLst>
          </p:nvPr>
        </p:nvPicPr>
        <p:blipFill>
          <a:blip r:embed="rId7">
            <a:clrChange>
              <a:clrFrom>
                <a:srgbClr val="FFFFFF">
                  <a:alpha val="100000"/>
                </a:srgbClr>
              </a:clrFrom>
              <a:clrTo>
                <a:srgbClr val="FFFFFF">
                  <a:alpha val="100000"/>
                  <a:alpha val="0"/>
                </a:srgbClr>
              </a:clrTo>
            </a:clrChange>
          </a:blip>
          <a:stretch>
            <a:fillRect/>
          </a:stretch>
        </p:blipFill>
        <p:spPr>
          <a:xfrm>
            <a:off x="99695" y="4791075"/>
            <a:ext cx="11993245" cy="979170"/>
          </a:xfrm>
          <a:prstGeom prst="rect">
            <a:avLst/>
          </a:prstGeom>
        </p:spPr>
      </p:pic>
      <mc:AlternateContent xmlns:mc="http://schemas.openxmlformats.org/markup-compatibility/2006" xmlns:a14="http://schemas.microsoft.com/office/drawing/2010/main">
        <mc:Choice Requires="a14">
          <p:sp>
            <p:nvSpPr>
              <p:cNvPr id="6" name="文本框 5"/>
              <p:cNvSpPr txBox="1"/>
              <p:nvPr>
                <p:custDataLst>
                  <p:tags r:id="rId4"/>
                </p:custDataLst>
              </p:nvPr>
            </p:nvSpPr>
            <p:spPr>
              <a:xfrm>
                <a:off x="6654165" y="1233170"/>
                <a:ext cx="4502785" cy="3099435"/>
              </a:xfrm>
              <a:prstGeom prst="rect">
                <a:avLst/>
              </a:prstGeom>
              <a:noFill/>
            </p:spPr>
            <p:txBody>
              <a:bodyPr wrap="square" rtlCol="0">
                <a:noAutofit/>
              </a:bodyPr>
              <a:lstStyle/>
              <a:p>
                <a:pPr marL="342900" indent="-342900" algn="l">
                  <a:lnSpc>
                    <a:spcPct val="200000"/>
                  </a:lnSpc>
                  <a:buFont typeface="Arial" panose="020B0604020202020204" pitchFamily="34" charset="0"/>
                  <a:buChar char="•"/>
                </a:pPr>
                <a:r>
                  <a:rPr lang="zh-CN" altLang="en-US" sz="2000" dirty="0">
                    <a:latin typeface="Cambria Math" panose="02040503050406030204" charset="0"/>
                  </a:rPr>
                  <a:t>假设，</a:t>
                </a:r>
                <a14:m>
                  <m:oMath xmlns:m="http://schemas.openxmlformats.org/officeDocument/2006/math">
                    <m:r>
                      <a:rPr lang="en-US" altLang="zh-CN" sz="2000" b="0" i="1" smtClean="0">
                        <a:latin typeface="Cambria Math" panose="02040503050406030204" charset="0"/>
                      </a:rPr>
                      <m:t>𝑦</m:t>
                    </m:r>
                    <m:r>
                      <a:rPr lang="en-US" altLang="zh-CN" sz="2000" b="0" i="1" smtClean="0">
                        <a:latin typeface="Cambria Math" panose="02040503050406030204" charset="0"/>
                      </a:rPr>
                      <m:t>=</m:t>
                    </m:r>
                    <m:r>
                      <a:rPr lang="en-US" altLang="zh-CN" sz="2000" b="0" i="1" smtClean="0">
                        <a:latin typeface="Cambria Math" panose="02040503050406030204" charset="0"/>
                      </a:rPr>
                      <m:t>𝜎</m:t>
                    </m:r>
                    <m:d>
                      <m:dPr>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charset="0"/>
                                  </a:rPr>
                                  <m:t>h</m:t>
                                </m:r>
                              </m:e>
                              <m:sub>
                                <m:r>
                                  <a:rPr lang="en-US" altLang="zh-CN" sz="2000" b="0" i="1" smtClean="0">
                                    <a:latin typeface="Cambria Math" panose="02040503050406030204" charset="0"/>
                                  </a:rPr>
                                  <m:t>1</m:t>
                                </m:r>
                              </m:sub>
                            </m:sSub>
                            <m:r>
                              <a:rPr lang="en-US" altLang="zh-CN" sz="2000" b="0" i="1" smtClean="0">
                                <a:latin typeface="Cambria Math" panose="02040503050406030204"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charset="0"/>
                                  </a:rPr>
                                  <m:t>h</m:t>
                                </m:r>
                              </m:e>
                              <m:sub>
                                <m:r>
                                  <a:rPr lang="en-US" altLang="zh-CN" sz="2000" b="0" i="1" smtClean="0">
                                    <a:latin typeface="Cambria Math" panose="02040503050406030204" charset="0"/>
                                  </a:rPr>
                                  <m:t>2</m:t>
                                </m:r>
                              </m:sub>
                            </m:sSub>
                          </m:num>
                          <m:den>
                            <m:r>
                              <a:rPr lang="en-US" altLang="zh-CN" sz="2000" b="0" i="1" smtClean="0">
                                <a:latin typeface="Cambria Math" panose="02040503050406030204" charset="0"/>
                              </a:rPr>
                              <m:t>2</m:t>
                            </m:r>
                          </m:den>
                        </m:f>
                      </m:e>
                    </m:d>
                  </m:oMath>
                </a14:m>
                <a:endParaRPr lang="en-US" altLang="zh-CN" sz="2000" dirty="0"/>
              </a:p>
              <a:p>
                <a:pPr marL="342900" indent="-342900" algn="l">
                  <a:lnSpc>
                    <a:spcPct val="200000"/>
                  </a:lnSpc>
                  <a:buFont typeface="Arial" panose="020B0604020202020204" pitchFamily="34" charset="0"/>
                  <a:buChar char="•"/>
                </a:pPr>
                <a:r>
                  <a:rPr lang="zh-CN" altLang="en-US" sz="2000" dirty="0"/>
                  <a:t>代入</a:t>
                </a:r>
                <a:r>
                  <a:rPr lang="en-US" altLang="zh-CN" sz="2000" dirty="0"/>
                  <a:t>(0,0), (1,1)</a:t>
                </a:r>
                <a:r>
                  <a:rPr lang="zh-CN" altLang="en-US" sz="2000" dirty="0"/>
                  <a:t>，则</a:t>
                </a:r>
                <a14:m>
                  <m:oMath xmlns:m="http://schemas.openxmlformats.org/officeDocument/2006/math">
                    <m:r>
                      <a:rPr lang="en-US" altLang="zh-CN" sz="2000" b="0" i="1" smtClean="0">
                        <a:latin typeface="Cambria Math" panose="02040503050406030204" charset="0"/>
                      </a:rPr>
                      <m:t>𝑦</m:t>
                    </m:r>
                    <m:r>
                      <a:rPr lang="en-US" altLang="zh-CN" sz="2000" b="0" i="1" smtClean="0">
                        <a:latin typeface="Cambria Math" panose="02040503050406030204" charset="0"/>
                      </a:rPr>
                      <m:t>=</m:t>
                    </m:r>
                    <m:r>
                      <a:rPr lang="en-US" altLang="zh-CN" sz="2000" b="0" i="1" smtClean="0">
                        <a:latin typeface="Cambria Math" panose="02040503050406030204" charset="0"/>
                      </a:rPr>
                      <m:t>𝜎</m:t>
                    </m:r>
                    <m:d>
                      <m:dPr>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1+1</m:t>
                            </m:r>
                          </m:num>
                          <m:den>
                            <m:r>
                              <a:rPr lang="en-US" altLang="zh-CN" sz="2000" b="0" i="1" smtClean="0">
                                <a:latin typeface="Cambria Math" panose="02040503050406030204" pitchFamily="18" charset="0"/>
                              </a:rPr>
                              <m:t>2</m:t>
                            </m:r>
                          </m:den>
                        </m:f>
                      </m:e>
                    </m:d>
                    <m:r>
                      <a:rPr lang="en-US" altLang="zh-CN" sz="2000" b="0" i="1" smtClean="0">
                        <a:latin typeface="Cambria Math" panose="02040503050406030204" charset="0"/>
                      </a:rPr>
                      <m:t>=1</m:t>
                    </m:r>
                  </m:oMath>
                </a14:m>
                <a:r>
                  <a:rPr lang="zh-CN" altLang="en-US" sz="2000" dirty="0">
                    <a:latin typeface="Cambria Math" panose="02040503050406030204" charset="0"/>
                  </a:rPr>
                  <a:t>。</a:t>
                </a:r>
                <a:endParaRPr lang="en-US" altLang="zh-CN" sz="2000" dirty="0"/>
              </a:p>
              <a:p>
                <a:pPr marL="342900" indent="-342900" algn="l">
                  <a:lnSpc>
                    <a:spcPct val="200000"/>
                  </a:lnSpc>
                  <a:buFont typeface="Arial" panose="020B0604020202020204" pitchFamily="34" charset="0"/>
                  <a:buChar char="•"/>
                </a:pPr>
                <a:r>
                  <a:rPr lang="zh-CN" altLang="en-US" sz="2000" dirty="0"/>
                  <a:t>代入</a:t>
                </a:r>
                <a:r>
                  <a:rPr lang="en-US" altLang="zh-CN" sz="2000" dirty="0"/>
                  <a:t>(1,0), (0,1)</a:t>
                </a:r>
                <a:r>
                  <a:rPr lang="zh-CN" altLang="en-US" sz="2000" dirty="0"/>
                  <a:t>，则</a:t>
                </a:r>
                <a14:m>
                  <m:oMath xmlns:m="http://schemas.openxmlformats.org/officeDocument/2006/math">
                    <m:r>
                      <a:rPr lang="en-US" altLang="zh-CN" sz="2000" b="0" i="1" smtClean="0">
                        <a:latin typeface="Cambria Math" panose="02040503050406030204" charset="0"/>
                      </a:rPr>
                      <m:t>𝑦</m:t>
                    </m:r>
                    <m:r>
                      <a:rPr lang="en-US" altLang="zh-CN" sz="2000" b="0" i="1" smtClean="0">
                        <a:latin typeface="Cambria Math" panose="02040503050406030204" charset="0"/>
                      </a:rPr>
                      <m:t>=</m:t>
                    </m:r>
                    <m:r>
                      <a:rPr lang="en-US" altLang="zh-CN" sz="2000" b="0" i="1" smtClean="0">
                        <a:latin typeface="Cambria Math" panose="02040503050406030204" charset="0"/>
                      </a:rPr>
                      <m:t>𝜎</m:t>
                    </m:r>
                    <m:d>
                      <m:dPr>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r>
                              <a:rPr lang="en-US" altLang="zh-CN" sz="2000" b="0" i="1" smtClean="0">
                                <a:latin typeface="Cambria Math" panose="02040503050406030204" charset="0"/>
                              </a:rPr>
                              <m:t>1</m:t>
                            </m:r>
                            <m:r>
                              <a:rPr lang="en-US" altLang="zh-CN" sz="2000" b="0" i="1" smtClean="0">
                                <a:latin typeface="Cambria Math" panose="02040503050406030204" pitchFamily="18" charset="0"/>
                              </a:rPr>
                              <m:t>+0</m:t>
                            </m:r>
                          </m:num>
                          <m:den>
                            <m:r>
                              <a:rPr lang="en-US" altLang="zh-CN" sz="2000" b="0" i="1" smtClean="0">
                                <a:latin typeface="Cambria Math" panose="02040503050406030204" charset="0"/>
                              </a:rPr>
                              <m:t>2</m:t>
                            </m:r>
                          </m:den>
                        </m:f>
                      </m:e>
                    </m:d>
                    <m:r>
                      <a:rPr lang="en-US" altLang="zh-CN" sz="2000" b="0" i="1" smtClean="0">
                        <a:latin typeface="Cambria Math" panose="02040503050406030204" charset="0"/>
                      </a:rPr>
                      <m:t>=0</m:t>
                    </m:r>
                  </m:oMath>
                </a14:m>
                <a:r>
                  <a:rPr lang="zh-CN" altLang="en-US" sz="2000" dirty="0">
                    <a:latin typeface="Cambria Math" panose="02040503050406030204" charset="0"/>
                  </a:rPr>
                  <a:t>。</a:t>
                </a:r>
              </a:p>
            </p:txBody>
          </p:sp>
        </mc:Choice>
        <mc:Fallback xmlns="">
          <p:sp>
            <p:nvSpPr>
              <p:cNvPr id="6" name="文本框 5"/>
              <p:cNvSpPr txBox="1">
                <a:spLocks noRot="1" noChangeAspect="1" noMove="1" noResize="1" noEditPoints="1" noAdjustHandles="1" noChangeArrowheads="1" noChangeShapeType="1" noTextEdit="1"/>
              </p:cNvSpPr>
              <p:nvPr>
                <p:custDataLst>
                  <p:tags r:id="rId10"/>
                </p:custDataLst>
              </p:nvPr>
            </p:nvSpPr>
            <p:spPr>
              <a:xfrm>
                <a:off x="6654165" y="1233170"/>
                <a:ext cx="4502785" cy="3099435"/>
              </a:xfrm>
              <a:prstGeom prst="rect">
                <a:avLst/>
              </a:prstGeom>
              <a:blipFill>
                <a:blip r:embed="rId11"/>
                <a:stretch>
                  <a:fillRect l="-1220" r="-71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98AF79E-E651-C453-3673-C30FB97B81C6}"/>
                  </a:ext>
                </a:extLst>
              </p:cNvPr>
              <p:cNvSpPr txBox="1"/>
              <p:nvPr/>
            </p:nvSpPr>
            <p:spPr>
              <a:xfrm>
                <a:off x="6917121" y="790780"/>
                <a:ext cx="2501326" cy="68653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2000" b="0" i="1" smtClean="0">
                          <a:latin typeface="Cambria Math" panose="02040503050406030204" pitchFamily="18" charset="0"/>
                        </a:rPr>
                        <m:t>𝜎</m:t>
                      </m:r>
                      <m:d>
                        <m:dPr>
                          <m:ctrlPr>
                            <a:rPr kumimoji="1" lang="en-US" altLang="zh-CN" sz="2000" b="0" i="1" smtClean="0">
                              <a:latin typeface="Cambria Math" panose="02040503050406030204" pitchFamily="18" charset="0"/>
                            </a:rPr>
                          </m:ctrlPr>
                        </m:dPr>
                        <m:e>
                          <m:r>
                            <a:rPr kumimoji="1" lang="en-US" altLang="zh-CN" sz="2000" b="0" i="1" smtClean="0">
                              <a:latin typeface="Cambria Math" panose="02040503050406030204" pitchFamily="18" charset="0"/>
                            </a:rPr>
                            <m:t>𝑥</m:t>
                          </m:r>
                        </m:e>
                      </m:d>
                      <m:r>
                        <a:rPr kumimoji="1" lang="en-US" altLang="zh-CN" sz="2000" b="0" i="1" smtClean="0">
                          <a:latin typeface="Cambria Math" panose="02040503050406030204" pitchFamily="18" charset="0"/>
                        </a:rPr>
                        <m:t>=</m:t>
                      </m:r>
                      <m:d>
                        <m:dPr>
                          <m:begChr m:val="{"/>
                          <m:endChr m:val=""/>
                          <m:ctrlPr>
                            <a:rPr kumimoji="1" lang="en-US" altLang="zh-CN" sz="2000" b="0" i="1" smtClean="0">
                              <a:latin typeface="Cambria Math" panose="02040503050406030204" pitchFamily="18" charset="0"/>
                            </a:rPr>
                          </m:ctrlPr>
                        </m:dPr>
                        <m:e>
                          <m:eqArr>
                            <m:eqArrPr>
                              <m:ctrlPr>
                                <a:rPr kumimoji="1" lang="en-US" altLang="zh-CN" sz="2000" b="0" i="1" smtClean="0">
                                  <a:latin typeface="Cambria Math" panose="02040503050406030204" pitchFamily="18" charset="0"/>
                                </a:rPr>
                              </m:ctrlPr>
                            </m:eqArrPr>
                            <m:e>
                              <m:r>
                                <a:rPr kumimoji="1" lang="en-US" altLang="zh-CN" sz="2000" b="0" i="1" smtClean="0">
                                  <a:latin typeface="Cambria Math" panose="02040503050406030204" pitchFamily="18" charset="0"/>
                                </a:rPr>
                                <m:t>1,  </m:t>
                              </m:r>
                              <m:r>
                                <a:rPr kumimoji="1" lang="en-US" altLang="zh-CN" sz="2000" b="0" i="1" smtClean="0">
                                  <a:latin typeface="Cambria Math" panose="02040503050406030204" pitchFamily="18" charset="0"/>
                                </a:rPr>
                                <m:t>𝑥</m:t>
                              </m:r>
                              <m:r>
                                <a:rPr kumimoji="1" lang="en-US" altLang="zh-CN" sz="2000" b="0" i="1" smtClean="0">
                                  <a:latin typeface="Cambria Math" panose="02040503050406030204" pitchFamily="18" charset="0"/>
                                </a:rPr>
                                <m:t>≥1</m:t>
                              </m:r>
                            </m:e>
                            <m:e>
                              <m:r>
                                <a:rPr kumimoji="1" lang="en-US" altLang="zh-CN" sz="2000" b="0" i="1" smtClean="0">
                                  <a:latin typeface="Cambria Math" panose="02040503050406030204" pitchFamily="18" charset="0"/>
                                </a:rPr>
                                <m:t>0,  </m:t>
                              </m:r>
                              <m:r>
                                <a:rPr kumimoji="1" lang="en-US" altLang="zh-CN" sz="2000" b="0" i="1" smtClean="0">
                                  <a:latin typeface="Cambria Math" panose="02040503050406030204" pitchFamily="18" charset="0"/>
                                </a:rPr>
                                <m:t>𝑜𝑡h𝑒𝑟𝑠</m:t>
                              </m:r>
                            </m:e>
                          </m:eqArr>
                        </m:e>
                      </m:d>
                    </m:oMath>
                  </m:oMathPara>
                </a14:m>
                <a:endParaRPr kumimoji="1" lang="zh-CN" altLang="en-US" sz="2000" dirty="0"/>
              </a:p>
            </p:txBody>
          </p:sp>
        </mc:Choice>
        <mc:Fallback xmlns="">
          <p:sp>
            <p:nvSpPr>
              <p:cNvPr id="4" name="文本框 3">
                <a:extLst>
                  <a:ext uri="{FF2B5EF4-FFF2-40B4-BE49-F238E27FC236}">
                    <a16:creationId xmlns:a16="http://schemas.microsoft.com/office/drawing/2014/main" id="{A98AF79E-E651-C453-3673-C30FB97B81C6}"/>
                  </a:ext>
                </a:extLst>
              </p:cNvPr>
              <p:cNvSpPr txBox="1">
                <a:spLocks noRot="1" noChangeAspect="1" noMove="1" noResize="1" noEditPoints="1" noAdjustHandles="1" noChangeArrowheads="1" noChangeShapeType="1" noTextEdit="1"/>
              </p:cNvSpPr>
              <p:nvPr/>
            </p:nvSpPr>
            <p:spPr>
              <a:xfrm>
                <a:off x="6917121" y="790780"/>
                <a:ext cx="2501326" cy="686535"/>
              </a:xfrm>
              <a:prstGeom prst="rect">
                <a:avLst/>
              </a:prstGeom>
              <a:blipFill>
                <a:blip r:embed="rId12"/>
                <a:stretch>
                  <a:fillRect l="-16162" t="-225455" r="-1515" b="-325455"/>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E529C-39B8-511F-4F2E-48878DCC33D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6897534-A113-8B90-B562-104408BA2AC5}"/>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万有逼近定理</a:t>
            </a:r>
          </a:p>
        </p:txBody>
      </p:sp>
      <p:pic>
        <p:nvPicPr>
          <p:cNvPr id="2" name="图片 1">
            <a:extLst>
              <a:ext uri="{FF2B5EF4-FFF2-40B4-BE49-F238E27FC236}">
                <a16:creationId xmlns:a16="http://schemas.microsoft.com/office/drawing/2014/main" id="{43256DE1-3150-C542-AA6F-04930EA698E8}"/>
              </a:ext>
            </a:extLst>
          </p:cNvPr>
          <p:cNvPicPr>
            <a:picLocks noChangeAspect="1"/>
          </p:cNvPicPr>
          <p:nvPr/>
        </p:nvPicPr>
        <p:blipFill>
          <a:blip r:embed="rId2"/>
          <a:stretch>
            <a:fillRect/>
          </a:stretch>
        </p:blipFill>
        <p:spPr>
          <a:xfrm>
            <a:off x="1942481" y="847422"/>
            <a:ext cx="8622615" cy="3750836"/>
          </a:xfrm>
          <a:prstGeom prst="rect">
            <a:avLst/>
          </a:prstGeom>
        </p:spPr>
      </p:pic>
      <p:sp>
        <p:nvSpPr>
          <p:cNvPr id="9" name="文本框 8">
            <a:extLst>
              <a:ext uri="{FF2B5EF4-FFF2-40B4-BE49-F238E27FC236}">
                <a16:creationId xmlns:a16="http://schemas.microsoft.com/office/drawing/2014/main" id="{81052F37-C1DA-AF7F-2BAE-B28C484EC2D9}"/>
              </a:ext>
            </a:extLst>
          </p:cNvPr>
          <p:cNvSpPr txBox="1"/>
          <p:nvPr/>
        </p:nvSpPr>
        <p:spPr>
          <a:xfrm>
            <a:off x="157789" y="5875754"/>
            <a:ext cx="6096000" cy="646331"/>
          </a:xfrm>
          <a:prstGeom prst="rect">
            <a:avLst/>
          </a:prstGeom>
          <a:noFill/>
        </p:spPr>
        <p:txBody>
          <a:bodyPr wrap="square">
            <a:spAutoFit/>
          </a:bodyPr>
          <a:lstStyle/>
          <a:p>
            <a:r>
              <a:rPr lang="en-US" altLang="zh-CN" sz="1800" b="0" i="0" dirty="0">
                <a:solidFill>
                  <a:srgbClr val="000000"/>
                </a:solidFill>
                <a:effectLst/>
                <a:latin typeface="LMRoman10-Regular-Identity-H"/>
              </a:rPr>
              <a:t>(</a:t>
            </a:r>
            <a:r>
              <a:rPr lang="en-US" altLang="zh-CN" sz="1800" b="0" i="0" dirty="0" err="1">
                <a:solidFill>
                  <a:srgbClr val="000000"/>
                </a:solidFill>
                <a:effectLst/>
                <a:latin typeface="LMRoman10-Regular-Identity-H"/>
              </a:rPr>
              <a:t>Cybenko</a:t>
            </a:r>
            <a:r>
              <a:rPr lang="en-US" altLang="zh-CN" sz="1800" b="0" i="0" dirty="0">
                <a:solidFill>
                  <a:srgbClr val="000000"/>
                </a:solidFill>
                <a:effectLst/>
                <a:latin typeface="LMRoman10-Regular-Identity-H"/>
              </a:rPr>
              <a:t>, 1989; Hornik et al., 1989; </a:t>
            </a:r>
            <a:r>
              <a:rPr lang="en-US" altLang="zh-CN" sz="1800" b="0" i="0" dirty="0" err="1">
                <a:solidFill>
                  <a:srgbClr val="000000"/>
                </a:solidFill>
                <a:effectLst/>
                <a:latin typeface="LMRoman10-Regular-Identity-H"/>
              </a:rPr>
              <a:t>Leshno</a:t>
            </a:r>
            <a:r>
              <a:rPr lang="en-US" altLang="zh-CN" sz="1800" b="0" i="0" dirty="0">
                <a:solidFill>
                  <a:srgbClr val="000000"/>
                </a:solidFill>
                <a:effectLst/>
                <a:latin typeface="LMRoman10-Regular-Identity-H"/>
              </a:rPr>
              <a:t> et al., 1993)</a:t>
            </a:r>
            <a:r>
              <a:rPr lang="en-US" altLang="zh-CN" dirty="0"/>
              <a:t> </a:t>
            </a:r>
            <a:br>
              <a:rPr lang="en-US" altLang="zh-CN" dirty="0"/>
            </a:br>
            <a:endParaRPr lang="zh-CN" altLang="en-US" dirty="0"/>
          </a:p>
        </p:txBody>
      </p:sp>
      <p:sp>
        <p:nvSpPr>
          <p:cNvPr id="12" name="文本框 11">
            <a:extLst>
              <a:ext uri="{FF2B5EF4-FFF2-40B4-BE49-F238E27FC236}">
                <a16:creationId xmlns:a16="http://schemas.microsoft.com/office/drawing/2014/main" id="{DDB34C4A-E36C-0698-ABFB-AB9929F10EAE}"/>
              </a:ext>
            </a:extLst>
          </p:cNvPr>
          <p:cNvSpPr txBox="1"/>
          <p:nvPr/>
        </p:nvSpPr>
        <p:spPr>
          <a:xfrm>
            <a:off x="6362700" y="5552588"/>
            <a:ext cx="5791200" cy="646331"/>
          </a:xfrm>
          <a:prstGeom prst="rect">
            <a:avLst/>
          </a:prstGeom>
          <a:noFill/>
        </p:spPr>
        <p:txBody>
          <a:bodyPr wrap="square">
            <a:spAutoFit/>
          </a:bodyPr>
          <a:lstStyle/>
          <a:p>
            <a:pPr>
              <a:buNone/>
            </a:pPr>
            <a:r>
              <a:rPr lang="zh-CN" altLang="en-US" sz="1800" b="0" i="0" dirty="0">
                <a:solidFill>
                  <a:srgbClr val="000000"/>
                </a:solidFill>
                <a:effectLst/>
                <a:latin typeface="FandolSong-Regular-Identity-H"/>
              </a:rPr>
              <a:t>在人工智能这个领域，“命名法”是一个非常常用的方法，对一个新的研究成果，取一个好的名字非常重要。</a:t>
            </a:r>
            <a:r>
              <a:rPr lang="zh-CN" altLang="en-US" dirty="0"/>
              <a:t> </a:t>
            </a:r>
          </a:p>
        </p:txBody>
      </p:sp>
    </p:spTree>
    <p:extLst>
      <p:ext uri="{BB962C8B-B14F-4D97-AF65-F5344CB8AC3E}">
        <p14:creationId xmlns:p14="http://schemas.microsoft.com/office/powerpoint/2010/main" val="1440962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2"/>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多层神经网络</a:t>
            </a:r>
          </a:p>
        </p:txBody>
      </p:sp>
      <p:sp>
        <p:nvSpPr>
          <p:cNvPr id="5" name="内容占位符 4"/>
          <p:cNvSpPr>
            <a:spLocks noGrp="1"/>
          </p:cNvSpPr>
          <p:nvPr>
            <p:custDataLst>
              <p:tags r:id="rId3"/>
            </p:custDataLst>
          </p:nvPr>
        </p:nvSpPr>
        <p:spPr>
          <a:xfrm>
            <a:off x="381242" y="981154"/>
            <a:ext cx="11429516" cy="5333856"/>
          </a:xfrm>
          <a:prstGeom prst="rect">
            <a:avLst/>
          </a:prstGeom>
        </p:spPr>
        <p:txBody>
          <a:bodyPr vert="horz" lIns="90000" tIns="0" rIns="91440" bIns="0" rtlCol="0">
            <a:normAutofit/>
          </a:bodyPr>
          <a:lstStyle>
            <a:lvl1pPr marL="381635" indent="-381635" algn="just" defTabSz="1219200" rtl="0" eaLnBrk="1" latinLnBrk="0" hangingPunct="1">
              <a:lnSpc>
                <a:spcPct val="120000"/>
              </a:lnSpc>
              <a:spcBef>
                <a:spcPts val="0"/>
              </a:spcBef>
              <a:spcAft>
                <a:spcPts val="635"/>
              </a:spcAft>
              <a:buSzPct val="80000"/>
              <a:buFontTx/>
              <a:buBlip>
                <a:blip r:embed="rId5"/>
              </a:buBlip>
              <a:defRPr sz="2400" b="1" kern="1200">
                <a:solidFill>
                  <a:schemeClr val="tx2"/>
                </a:solidFill>
                <a:latin typeface="微软雅黑" panose="020B0503020204020204" charset="-122"/>
                <a:ea typeface="微软雅黑" panose="020B0503020204020204" charset="-122"/>
                <a:cs typeface="+mn-cs"/>
              </a:defRPr>
            </a:lvl1pPr>
            <a:lvl2pPr marL="914400" indent="-304800" algn="just" defTabSz="1219200" rtl="0" eaLnBrk="1" latinLnBrk="0" hangingPunct="1">
              <a:lnSpc>
                <a:spcPct val="120000"/>
              </a:lnSpc>
              <a:spcBef>
                <a:spcPts val="0"/>
              </a:spcBef>
              <a:spcAft>
                <a:spcPts val="635"/>
              </a:spcAft>
              <a:buSzPct val="70000"/>
              <a:buFontTx/>
              <a:buBlip>
                <a:blip r:embed="rId5"/>
              </a:buBlip>
              <a:defRPr sz="2000" b="1" kern="1200">
                <a:solidFill>
                  <a:schemeClr val="tx2"/>
                </a:solidFill>
                <a:latin typeface="微软雅黑" panose="020B0503020204020204" charset="-122"/>
                <a:ea typeface="微软雅黑" panose="020B0503020204020204" charset="-122"/>
                <a:cs typeface="+mn-cs"/>
              </a:defRPr>
            </a:lvl2pPr>
            <a:lvl3pPr marL="1524000" indent="-304800" algn="just" defTabSz="1219200" rtl="0" eaLnBrk="1" latinLnBrk="0" hangingPunct="1">
              <a:lnSpc>
                <a:spcPct val="120000"/>
              </a:lnSpc>
              <a:spcBef>
                <a:spcPts val="0"/>
              </a:spcBef>
              <a:spcAft>
                <a:spcPts val="635"/>
              </a:spcAft>
              <a:buSzPct val="60000"/>
              <a:buFontTx/>
              <a:buBlip>
                <a:blip r:embed="rId5"/>
              </a:buBlip>
              <a:defRPr sz="1800" b="1" kern="1200">
                <a:solidFill>
                  <a:schemeClr val="tx2"/>
                </a:solidFill>
                <a:latin typeface="微软雅黑" panose="020B0503020204020204" charset="-122"/>
                <a:ea typeface="微软雅黑" panose="020B050302020402020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a:lstStyle>
          <a:p>
            <a:pPr>
              <a:lnSpc>
                <a:spcPct val="150000"/>
              </a:lnSpc>
            </a:pPr>
            <a:r>
              <a:rPr lang="zh-CN" altLang="en-US" dirty="0"/>
              <a:t>两层网络具有万有逼近定理（</a:t>
            </a:r>
            <a:r>
              <a:rPr lang="en-US" altLang="zh-CN" dirty="0" err="1"/>
              <a:t>Cybenko</a:t>
            </a:r>
            <a:r>
              <a:rPr lang="en-US" altLang="zh-CN" dirty="0"/>
              <a:t> 1989</a:t>
            </a:r>
            <a:r>
              <a:rPr lang="zh-CN" altLang="en-US" dirty="0"/>
              <a:t>）</a:t>
            </a:r>
            <a:endParaRPr lang="en-US" altLang="zh-CN" dirty="0"/>
          </a:p>
          <a:p>
            <a:pPr lvl="1">
              <a:lnSpc>
                <a:spcPct val="150000"/>
              </a:lnSpc>
            </a:pPr>
            <a:r>
              <a:rPr lang="zh-CN" altLang="en-US" dirty="0"/>
              <a:t>激活函数是非多项式的非线性函数</a:t>
            </a:r>
            <a:endParaRPr lang="en-US" altLang="zh-CN" dirty="0"/>
          </a:p>
          <a:p>
            <a:pPr>
              <a:lnSpc>
                <a:spcPct val="150000"/>
              </a:lnSpc>
            </a:pPr>
            <a:r>
              <a:rPr lang="zh-CN" altLang="en-US" dirty="0"/>
              <a:t>多项式函数是否有万有逼近定理？</a:t>
            </a:r>
            <a:endParaRPr lang="en-US" altLang="zh-CN" dirty="0"/>
          </a:p>
          <a:p>
            <a:pPr>
              <a:lnSpc>
                <a:spcPct val="150000"/>
              </a:lnSpc>
            </a:pPr>
            <a:r>
              <a:rPr lang="zh-CN" altLang="en-US" dirty="0"/>
              <a:t>为什么激活函数不能是多项式函数？</a:t>
            </a:r>
            <a:endParaRPr lang="en-US" altLang="zh-CN" dirty="0"/>
          </a:p>
          <a:p>
            <a:pPr>
              <a:lnSpc>
                <a:spcPct val="150000"/>
              </a:lnSpc>
            </a:pPr>
            <a:r>
              <a:rPr lang="zh-CN" altLang="en-US" dirty="0"/>
              <a:t>万有逼近定理对实际问题有什么帮助？</a:t>
            </a:r>
            <a:endParaRPr lang="en-US" altLang="zh-CN" dirty="0"/>
          </a:p>
        </p:txBody>
      </p:sp>
      <p:sp>
        <p:nvSpPr>
          <p:cNvPr id="14" name="文本框 13">
            <a:extLst>
              <a:ext uri="{FF2B5EF4-FFF2-40B4-BE49-F238E27FC236}">
                <a16:creationId xmlns:a16="http://schemas.microsoft.com/office/drawing/2014/main" id="{43655D3B-A2C4-D5B7-1911-CEED083798C3}"/>
              </a:ext>
            </a:extLst>
          </p:cNvPr>
          <p:cNvSpPr txBox="1"/>
          <p:nvPr/>
        </p:nvSpPr>
        <p:spPr>
          <a:xfrm>
            <a:off x="5769429" y="2230745"/>
            <a:ext cx="2544233" cy="369332"/>
          </a:xfrm>
          <a:prstGeom prst="rect">
            <a:avLst/>
          </a:prstGeom>
          <a:noFill/>
        </p:spPr>
        <p:txBody>
          <a:bodyPr wrap="square">
            <a:spAutoFit/>
          </a:bodyPr>
          <a:lstStyle/>
          <a:p>
            <a:r>
              <a:rPr lang="en-US" altLang="zh-CN" sz="1800" b="0" i="0" dirty="0" err="1">
                <a:solidFill>
                  <a:srgbClr val="000000"/>
                </a:solidFill>
                <a:effectLst/>
                <a:latin typeface="LMRoman10-Regular-Identity-H"/>
              </a:rPr>
              <a:t>Weierstrass</a:t>
            </a:r>
            <a:r>
              <a:rPr lang="en-US" altLang="zh-CN" sz="1800" b="0" i="0" dirty="0">
                <a:solidFill>
                  <a:srgbClr val="000000"/>
                </a:solidFill>
                <a:effectLst/>
                <a:latin typeface="LMRoman10-Regular-Identity-H"/>
              </a:rPr>
              <a:t> </a:t>
            </a:r>
            <a:r>
              <a:rPr lang="zh-CN" altLang="en-US" sz="1800" b="0" i="0" dirty="0">
                <a:solidFill>
                  <a:srgbClr val="000000"/>
                </a:solidFill>
                <a:effectLst/>
                <a:latin typeface="FandolSong-Regular-Identity-H"/>
              </a:rPr>
              <a:t>逼近定理</a:t>
            </a:r>
            <a:r>
              <a:rPr lang="en-US" altLang="zh-CN" sz="1800" b="0" i="0" dirty="0">
                <a:solidFill>
                  <a:srgbClr val="000000"/>
                </a:solidFill>
                <a:effectLst/>
                <a:latin typeface="FandolSong-Regular-Identity-H"/>
              </a:rPr>
              <a:t>?</a:t>
            </a:r>
            <a:endParaRPr lang="zh-CN" altLang="en-US"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E0D3B0C-DC0A-BA11-31C5-22DE9FFE27B9}"/>
                  </a:ext>
                </a:extLst>
              </p:cNvPr>
              <p:cNvSpPr txBox="1"/>
              <p:nvPr/>
            </p:nvSpPr>
            <p:spPr>
              <a:xfrm>
                <a:off x="5774872" y="2856673"/>
                <a:ext cx="4626428" cy="369332"/>
              </a:xfrm>
              <a:prstGeom prst="rect">
                <a:avLst/>
              </a:prstGeom>
              <a:noFill/>
            </p:spPr>
            <p:txBody>
              <a:bodyPr wrap="square">
                <a:spAutoFit/>
              </a:bodyPr>
              <a:lstStyle/>
              <a:p>
                <a:r>
                  <a:rPr lang="zh-CN" altLang="en-US" sz="1800" b="0" i="0" dirty="0">
                    <a:solidFill>
                      <a:schemeClr val="tx2"/>
                    </a:solidFill>
                    <a:effectLst/>
                    <a:latin typeface="LMRoman10-Regular-Identity-H"/>
                  </a:rPr>
                  <a:t>两层网络，</a:t>
                </a:r>
                <a14:m>
                  <m:oMath xmlns:m="http://schemas.openxmlformats.org/officeDocument/2006/math">
                    <m:r>
                      <a:rPr lang="en-US" altLang="zh-CN" sz="1800" b="0" i="1" smtClean="0">
                        <a:solidFill>
                          <a:schemeClr val="tx2"/>
                        </a:solidFill>
                        <a:effectLst/>
                        <a:latin typeface="Cambria Math" panose="02040503050406030204" pitchFamily="18" charset="0"/>
                      </a:rPr>
                      <m:t>𝜎</m:t>
                    </m:r>
                    <m:d>
                      <m:dPr>
                        <m:ctrlPr>
                          <a:rPr lang="en-US" altLang="zh-CN" sz="1800" b="0" i="1" smtClean="0">
                            <a:solidFill>
                              <a:schemeClr val="tx2"/>
                            </a:solidFill>
                            <a:effectLst/>
                            <a:latin typeface="Cambria Math" panose="02040503050406030204" pitchFamily="18" charset="0"/>
                          </a:rPr>
                        </m:ctrlPr>
                      </m:dPr>
                      <m:e>
                        <m:r>
                          <a:rPr lang="en-US" altLang="zh-CN" sz="1800" b="0" i="1" smtClean="0">
                            <a:solidFill>
                              <a:schemeClr val="tx2"/>
                            </a:solidFill>
                            <a:effectLst/>
                            <a:latin typeface="Cambria Math" panose="02040503050406030204" pitchFamily="18" charset="0"/>
                          </a:rPr>
                          <m:t>𝑥</m:t>
                        </m:r>
                      </m:e>
                    </m:d>
                    <m:r>
                      <a:rPr lang="en-US" altLang="zh-CN" sz="1800" b="0" i="1" smtClean="0">
                        <a:solidFill>
                          <a:schemeClr val="tx2"/>
                        </a:solidFill>
                        <a:effectLst/>
                        <a:latin typeface="Cambria Math" panose="02040503050406030204" pitchFamily="18" charset="0"/>
                      </a:rPr>
                      <m:t>=</m:t>
                    </m:r>
                    <m:sSup>
                      <m:sSupPr>
                        <m:ctrlPr>
                          <a:rPr lang="en-US" altLang="zh-CN" sz="1800" b="0" i="1" smtClean="0">
                            <a:solidFill>
                              <a:schemeClr val="tx2"/>
                            </a:solidFill>
                            <a:effectLst/>
                            <a:latin typeface="Cambria Math" panose="02040503050406030204" pitchFamily="18" charset="0"/>
                          </a:rPr>
                        </m:ctrlPr>
                      </m:sSupPr>
                      <m:e>
                        <m:r>
                          <a:rPr lang="en-US" altLang="zh-CN" sz="1800" b="0" i="1" smtClean="0">
                            <a:solidFill>
                              <a:schemeClr val="tx2"/>
                            </a:solidFill>
                            <a:effectLst/>
                            <a:latin typeface="Cambria Math" panose="02040503050406030204" pitchFamily="18" charset="0"/>
                          </a:rPr>
                          <m:t>𝑥</m:t>
                        </m:r>
                      </m:e>
                      <m:sup>
                        <m:r>
                          <a:rPr lang="en-US" altLang="zh-CN" sz="1800" b="0" i="1" smtClean="0">
                            <a:solidFill>
                              <a:schemeClr val="tx2"/>
                            </a:solidFill>
                            <a:effectLst/>
                            <a:latin typeface="Cambria Math" panose="02040503050406030204" pitchFamily="18" charset="0"/>
                          </a:rPr>
                          <m:t>2</m:t>
                        </m:r>
                      </m:sup>
                    </m:sSup>
                  </m:oMath>
                </a14:m>
                <a:r>
                  <a:rPr lang="en-US" altLang="zh-CN" dirty="0">
                    <a:solidFill>
                      <a:schemeClr val="tx2"/>
                    </a:solidFill>
                  </a:rPr>
                  <a:t>, </a:t>
                </a:r>
                <a:r>
                  <a:rPr lang="zh-CN" altLang="en-US" dirty="0">
                    <a:solidFill>
                      <a:schemeClr val="tx2"/>
                    </a:solidFill>
                  </a:rPr>
                  <a:t>只能逼近二次函数</a:t>
                </a:r>
              </a:p>
            </p:txBody>
          </p:sp>
        </mc:Choice>
        <mc:Fallback xmlns="">
          <p:sp>
            <p:nvSpPr>
              <p:cNvPr id="2" name="文本框 1">
                <a:extLst>
                  <a:ext uri="{FF2B5EF4-FFF2-40B4-BE49-F238E27FC236}">
                    <a16:creationId xmlns:a16="http://schemas.microsoft.com/office/drawing/2014/main" id="{2E0D3B0C-DC0A-BA11-31C5-22DE9FFE27B9}"/>
                  </a:ext>
                </a:extLst>
              </p:cNvPr>
              <p:cNvSpPr txBox="1">
                <a:spLocks noRot="1" noChangeAspect="1" noMove="1" noResize="1" noEditPoints="1" noAdjustHandles="1" noChangeArrowheads="1" noChangeShapeType="1" noTextEdit="1"/>
              </p:cNvSpPr>
              <p:nvPr/>
            </p:nvSpPr>
            <p:spPr>
              <a:xfrm>
                <a:off x="5774872" y="2856673"/>
                <a:ext cx="4626428" cy="369332"/>
              </a:xfrm>
              <a:prstGeom prst="rect">
                <a:avLst/>
              </a:prstGeom>
              <a:blipFill>
                <a:blip r:embed="rId8"/>
                <a:stretch>
                  <a:fillRect l="-1054" t="-15000" b="-30000"/>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AF2724C1-5C52-985C-AEF3-93A3147C2005}"/>
              </a:ext>
            </a:extLst>
          </p:cNvPr>
          <p:cNvSpPr txBox="1"/>
          <p:nvPr/>
        </p:nvSpPr>
        <p:spPr>
          <a:xfrm>
            <a:off x="6000448" y="3531581"/>
            <a:ext cx="4626428" cy="369332"/>
          </a:xfrm>
          <a:prstGeom prst="rect">
            <a:avLst/>
          </a:prstGeom>
          <a:noFill/>
        </p:spPr>
        <p:txBody>
          <a:bodyPr wrap="square">
            <a:spAutoFit/>
          </a:bodyPr>
          <a:lstStyle/>
          <a:p>
            <a:r>
              <a:rPr lang="zh-CN" altLang="en-US" sz="1800" b="0" i="0" dirty="0">
                <a:solidFill>
                  <a:schemeClr val="tx2"/>
                </a:solidFill>
                <a:effectLst/>
                <a:latin typeface="LMRoman10-Regular-Identity-H"/>
              </a:rPr>
              <a:t>万有逼近构造的解通常不是训练得到的解</a:t>
            </a:r>
            <a:endParaRPr lang="zh-CN" altLang="en-US" dirty="0">
              <a:solidFill>
                <a:schemeClr val="tx2"/>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多层神经网络</a:t>
            </a:r>
          </a:p>
        </p:txBody>
      </p:sp>
      <p:sp>
        <p:nvSpPr>
          <p:cNvPr id="7" name="文本框 6">
            <a:extLst>
              <a:ext uri="{FF2B5EF4-FFF2-40B4-BE49-F238E27FC236}">
                <a16:creationId xmlns:a16="http://schemas.microsoft.com/office/drawing/2014/main" id="{45ED37E4-B8C7-2058-B7B9-C78B216B115A}"/>
              </a:ext>
            </a:extLst>
          </p:cNvPr>
          <p:cNvSpPr txBox="1"/>
          <p:nvPr>
            <p:custDataLst>
              <p:tags r:id="rId1"/>
            </p:custDataLst>
          </p:nvPr>
        </p:nvSpPr>
        <p:spPr>
          <a:xfrm>
            <a:off x="393700" y="917059"/>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chemeClr val="tx2"/>
                </a:solidFill>
                <a:latin typeface="FandolSong-Regular-Identity-H"/>
              </a:rPr>
              <a:t>两层神经网络</a:t>
            </a:r>
            <a:endParaRPr lang="zh-CN" altLang="en-US" dirty="0">
              <a:solidFill>
                <a:schemeClr val="tx2"/>
              </a:solidFill>
            </a:endParaRPr>
          </a:p>
        </p:txBody>
      </p:sp>
      <p:pic>
        <p:nvPicPr>
          <p:cNvPr id="5" name="图片 4">
            <a:extLst>
              <a:ext uri="{FF2B5EF4-FFF2-40B4-BE49-F238E27FC236}">
                <a16:creationId xmlns:a16="http://schemas.microsoft.com/office/drawing/2014/main" id="{49FE9839-EC18-CB7F-B212-2D47E4FB42ED}"/>
              </a:ext>
            </a:extLst>
          </p:cNvPr>
          <p:cNvPicPr>
            <a:picLocks noChangeAspect="1"/>
          </p:cNvPicPr>
          <p:nvPr/>
        </p:nvPicPr>
        <p:blipFill>
          <a:blip r:embed="rId4"/>
          <a:stretch>
            <a:fillRect/>
          </a:stretch>
        </p:blipFill>
        <p:spPr>
          <a:xfrm>
            <a:off x="4428125" y="1014522"/>
            <a:ext cx="3714390" cy="851833"/>
          </a:xfrm>
          <a:prstGeom prst="rect">
            <a:avLst/>
          </a:prstGeom>
        </p:spPr>
      </p:pic>
      <p:sp>
        <p:nvSpPr>
          <p:cNvPr id="8" name="文本框 7">
            <a:extLst>
              <a:ext uri="{FF2B5EF4-FFF2-40B4-BE49-F238E27FC236}">
                <a16:creationId xmlns:a16="http://schemas.microsoft.com/office/drawing/2014/main" id="{BC0806EA-E89C-A6B1-BC10-331AEE4C86FF}"/>
              </a:ext>
            </a:extLst>
          </p:cNvPr>
          <p:cNvSpPr txBox="1"/>
          <p:nvPr>
            <p:custDataLst>
              <p:tags r:id="rId2"/>
            </p:custDataLst>
          </p:nvPr>
        </p:nvSpPr>
        <p:spPr>
          <a:xfrm>
            <a:off x="393700" y="3165482"/>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chemeClr val="tx2"/>
                </a:solidFill>
                <a:latin typeface="FandolSong-Regular-Identity-H"/>
              </a:rPr>
              <a:t>多层神经网络</a:t>
            </a:r>
            <a:endParaRPr lang="zh-CN" altLang="en-US" dirty="0">
              <a:solidFill>
                <a:schemeClr val="tx2"/>
              </a:solidFill>
            </a:endParaRPr>
          </a:p>
        </p:txBody>
      </p:sp>
      <p:pic>
        <p:nvPicPr>
          <p:cNvPr id="12" name="图片 11">
            <a:extLst>
              <a:ext uri="{FF2B5EF4-FFF2-40B4-BE49-F238E27FC236}">
                <a16:creationId xmlns:a16="http://schemas.microsoft.com/office/drawing/2014/main" id="{FC5F1EB2-2A21-3E0B-24BF-5C29EED1E39F}"/>
              </a:ext>
            </a:extLst>
          </p:cNvPr>
          <p:cNvPicPr>
            <a:picLocks noChangeAspect="1"/>
          </p:cNvPicPr>
          <p:nvPr/>
        </p:nvPicPr>
        <p:blipFill>
          <a:blip r:embed="rId5"/>
          <a:stretch>
            <a:fillRect/>
          </a:stretch>
        </p:blipFill>
        <p:spPr>
          <a:xfrm>
            <a:off x="1702130" y="2022891"/>
            <a:ext cx="8973787" cy="986055"/>
          </a:xfrm>
          <a:prstGeom prst="rect">
            <a:avLst/>
          </a:prstGeom>
        </p:spPr>
      </p:pic>
      <p:pic>
        <p:nvPicPr>
          <p:cNvPr id="14" name="图片 13">
            <a:extLst>
              <a:ext uri="{FF2B5EF4-FFF2-40B4-BE49-F238E27FC236}">
                <a16:creationId xmlns:a16="http://schemas.microsoft.com/office/drawing/2014/main" id="{9D6A2816-BEB2-237A-D337-22811F3FDB26}"/>
              </a:ext>
            </a:extLst>
          </p:cNvPr>
          <p:cNvPicPr>
            <a:picLocks noChangeAspect="1"/>
          </p:cNvPicPr>
          <p:nvPr/>
        </p:nvPicPr>
        <p:blipFill>
          <a:blip r:embed="rId6"/>
          <a:stretch>
            <a:fillRect/>
          </a:stretch>
        </p:blipFill>
        <p:spPr>
          <a:xfrm>
            <a:off x="2545278" y="3336930"/>
            <a:ext cx="7192488" cy="706776"/>
          </a:xfrm>
          <a:prstGeom prst="rect">
            <a:avLst/>
          </a:prstGeom>
        </p:spPr>
      </p:pic>
      <p:pic>
        <p:nvPicPr>
          <p:cNvPr id="16" name="图片 15">
            <a:extLst>
              <a:ext uri="{FF2B5EF4-FFF2-40B4-BE49-F238E27FC236}">
                <a16:creationId xmlns:a16="http://schemas.microsoft.com/office/drawing/2014/main" id="{5E64F8C5-0A9E-9966-F29D-37217880B3F4}"/>
              </a:ext>
            </a:extLst>
          </p:cNvPr>
          <p:cNvPicPr>
            <a:picLocks noChangeAspect="1"/>
          </p:cNvPicPr>
          <p:nvPr/>
        </p:nvPicPr>
        <p:blipFill>
          <a:blip r:embed="rId7"/>
          <a:stretch>
            <a:fillRect/>
          </a:stretch>
        </p:blipFill>
        <p:spPr>
          <a:xfrm>
            <a:off x="3214255" y="4371690"/>
            <a:ext cx="5851398" cy="1390347"/>
          </a:xfrm>
          <a:prstGeom prst="rect">
            <a:avLst/>
          </a:prstGeom>
        </p:spPr>
      </p:pic>
    </p:spTree>
    <p:extLst>
      <p:ext uri="{BB962C8B-B14F-4D97-AF65-F5344CB8AC3E}">
        <p14:creationId xmlns:p14="http://schemas.microsoft.com/office/powerpoint/2010/main" val="3465559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1897D2-CD91-92D4-706A-8B13BFCD3BE6}"/>
              </a:ext>
            </a:extLst>
          </p:cNvPr>
          <p:cNvSpPr>
            <a:spLocks noGrp="1"/>
          </p:cNvSpPr>
          <p:nvPr>
            <p:ph type="title"/>
          </p:nvPr>
        </p:nvSpPr>
        <p:spPr/>
        <p:txBody>
          <a:bodyPr/>
          <a:lstStyle/>
          <a:p>
            <a:r>
              <a:rPr kumimoji="1" lang="zh-CN" altLang="en-US" dirty="0"/>
              <a:t>请思考</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9E4CBF1-5986-0F58-6D88-394FF657C6E0}"/>
                  </a:ext>
                </a:extLst>
              </p:cNvPr>
              <p:cNvSpPr>
                <a:spLocks noGrp="1"/>
              </p:cNvSpPr>
              <p:nvPr>
                <p:ph idx="1"/>
              </p:nvPr>
            </p:nvSpPr>
            <p:spPr/>
            <p:txBody>
              <a:bodyPr/>
              <a:lstStyle/>
              <a:p>
                <a:r>
                  <a:rPr kumimoji="1" lang="zh-CN" altLang="en-US" dirty="0"/>
                  <a:t>激活函数是</a:t>
                </a:r>
                <a:r>
                  <a:rPr kumimoji="1" lang="en-US" altLang="zh-CN" dirty="0"/>
                  <a:t> </a:t>
                </a:r>
                <a14:m>
                  <m:oMath xmlns:m="http://schemas.openxmlformats.org/officeDocument/2006/math">
                    <m:r>
                      <a:rPr kumimoji="1" lang="en-US" altLang="zh-CN" i="1" dirty="0" smtClean="0">
                        <a:latin typeface="Cambria Math" panose="02040503050406030204" pitchFamily="18" charset="0"/>
                      </a:rPr>
                      <m:t>𝑅𝑒𝐿𝑈</m:t>
                    </m:r>
                    <m:r>
                      <a:rPr kumimoji="1" lang="en-US" altLang="zh-CN" i="1" dirty="0" smtClean="0">
                        <a:latin typeface="Cambria Math" panose="02040503050406030204" pitchFamily="18" charset="0"/>
                      </a:rPr>
                      <m:t>(</m:t>
                    </m:r>
                    <m:r>
                      <a:rPr kumimoji="1" lang="en-US" altLang="zh-CN" i="1" dirty="0" smtClean="0">
                        <a:latin typeface="Cambria Math" panose="02040503050406030204" pitchFamily="18" charset="0"/>
                      </a:rPr>
                      <m:t>𝑥</m:t>
                    </m:r>
                    <m:r>
                      <a:rPr kumimoji="1" lang="en-US" altLang="zh-CN" i="1" dirty="0" smtClean="0">
                        <a:latin typeface="Cambria Math" panose="02040503050406030204" pitchFamily="18" charset="0"/>
                      </a:rPr>
                      <m:t>)=</m:t>
                    </m:r>
                    <m:r>
                      <m:rPr>
                        <m:sty m:val="p"/>
                      </m:rPr>
                      <a:rPr kumimoji="1" lang="en-US" altLang="zh-CN" i="1" dirty="0">
                        <a:latin typeface="Cambria Math" panose="02040503050406030204" pitchFamily="18" charset="0"/>
                      </a:rPr>
                      <m:t>Max</m:t>
                    </m:r>
                    <m:r>
                      <a:rPr kumimoji="1" lang="en-US" altLang="zh-CN" b="1" i="1" dirty="0" smtClean="0">
                        <a:latin typeface="Cambria Math" panose="02040503050406030204" pitchFamily="18" charset="0"/>
                      </a:rPr>
                      <m:t>(</m:t>
                    </m:r>
                    <m:r>
                      <a:rPr kumimoji="1" lang="en-US" altLang="zh-CN" b="1" i="1" dirty="0" smtClean="0">
                        <a:latin typeface="Cambria Math" panose="02040503050406030204" pitchFamily="18" charset="0"/>
                      </a:rPr>
                      <m:t>𝟎</m:t>
                    </m:r>
                    <m:r>
                      <a:rPr kumimoji="1" lang="en-US" altLang="zh-CN" b="1" i="1" dirty="0" smtClean="0">
                        <a:latin typeface="Cambria Math" panose="02040503050406030204" pitchFamily="18" charset="0"/>
                      </a:rPr>
                      <m:t>,</m:t>
                    </m:r>
                    <m:r>
                      <a:rPr kumimoji="1" lang="en-US" altLang="zh-CN" b="1" i="1" dirty="0" smtClean="0">
                        <a:latin typeface="Cambria Math" panose="02040503050406030204" pitchFamily="18" charset="0"/>
                      </a:rPr>
                      <m:t>𝒙</m:t>
                    </m:r>
                    <m:r>
                      <a:rPr kumimoji="1" lang="en-US" altLang="zh-CN" b="1" i="1" dirty="0" smtClean="0">
                        <a:latin typeface="Cambria Math" panose="02040503050406030204" pitchFamily="18" charset="0"/>
                      </a:rPr>
                      <m:t>)</m:t>
                    </m:r>
                  </m:oMath>
                </a14:m>
                <a:r>
                  <a:rPr kumimoji="1" lang="zh-CN" altLang="en-US" dirty="0"/>
                  <a:t>，且所有偏置项为</a:t>
                </a:r>
                <a:r>
                  <a:rPr kumimoji="1" lang="en-US" altLang="zh-CN" dirty="0"/>
                  <a:t>0</a:t>
                </a:r>
                <a:r>
                  <a:rPr kumimoji="1" lang="zh-CN" altLang="en-US" dirty="0"/>
                  <a:t>，输入输出均一维</a:t>
                </a:r>
                <a:endParaRPr kumimoji="1" lang="en-US" altLang="zh-CN" dirty="0"/>
              </a:p>
              <a:p>
                <a:r>
                  <a:rPr kumimoji="1" lang="zh-CN" altLang="en-US" dirty="0"/>
                  <a:t>两层的神经网络函数的形状是什么样的？</a:t>
                </a:r>
              </a:p>
            </p:txBody>
          </p:sp>
        </mc:Choice>
        <mc:Fallback xmlns="">
          <p:sp>
            <p:nvSpPr>
              <p:cNvPr id="3" name="内容占位符 2">
                <a:extLst>
                  <a:ext uri="{FF2B5EF4-FFF2-40B4-BE49-F238E27FC236}">
                    <a16:creationId xmlns:a16="http://schemas.microsoft.com/office/drawing/2014/main" id="{39E4CBF1-5986-0F58-6D88-394FF657C6E0}"/>
                  </a:ext>
                </a:extLst>
              </p:cNvPr>
              <p:cNvSpPr>
                <a:spLocks noGrp="1" noRot="1" noChangeAspect="1" noMove="1" noResize="1" noEditPoints="1" noAdjustHandles="1" noChangeArrowheads="1" noChangeShapeType="1" noTextEdit="1"/>
              </p:cNvSpPr>
              <p:nvPr>
                <p:ph idx="1"/>
              </p:nvPr>
            </p:nvSpPr>
            <p:spPr>
              <a:blipFill>
                <a:blip r:embed="rId5"/>
                <a:stretch>
                  <a:fillRect l="-889" t="-11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F03D8AA-159D-DCB0-5E81-A6BD18D1307C}"/>
                  </a:ext>
                </a:extLst>
              </p:cNvPr>
              <p:cNvSpPr txBox="1"/>
              <p:nvPr/>
            </p:nvSpPr>
            <p:spPr>
              <a:xfrm>
                <a:off x="4468923" y="1804633"/>
                <a:ext cx="4050083" cy="122501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𝑓</m:t>
                          </m:r>
                        </m:e>
                        <m:sub>
                          <m:r>
                            <a:rPr kumimoji="1" lang="en-US" altLang="zh-CN" sz="2800" b="0" i="1" smtClean="0">
                              <a:latin typeface="Cambria Math" panose="02040503050406030204" pitchFamily="18" charset="0"/>
                            </a:rPr>
                            <m:t>𝜃</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𝑥</m:t>
                          </m:r>
                        </m:e>
                      </m:d>
                      <m:r>
                        <a:rPr kumimoji="1" lang="en-US" altLang="zh-CN" sz="2800" b="0" i="1" smtClean="0">
                          <a:latin typeface="Cambria Math" panose="02040503050406030204" pitchFamily="18" charset="0"/>
                        </a:rPr>
                        <m:t>=</m:t>
                      </m:r>
                      <m:nary>
                        <m:naryPr>
                          <m:chr m:val="∑"/>
                          <m:ctrlPr>
                            <a:rPr kumimoji="1" lang="en-US" altLang="zh-CN" sz="2800" b="0" i="1" smtClean="0">
                              <a:latin typeface="Cambria Math" panose="02040503050406030204" pitchFamily="18" charset="0"/>
                            </a:rPr>
                          </m:ctrlPr>
                        </m:naryPr>
                        <m:sub>
                          <m:r>
                            <m:rPr>
                              <m:brk m:alnAt="23"/>
                            </m:rPr>
                            <a:rPr kumimoji="1" lang="en-US" altLang="zh-CN" sz="2800" b="0" i="1" smtClean="0">
                              <a:latin typeface="Cambria Math" panose="02040503050406030204" pitchFamily="18" charset="0"/>
                            </a:rPr>
                            <m:t>𝑗</m:t>
                          </m:r>
                          <m:r>
                            <a:rPr kumimoji="1" lang="en-US" altLang="zh-CN" sz="2800" b="0" i="1" smtClean="0">
                              <a:latin typeface="Cambria Math" panose="02040503050406030204" pitchFamily="18" charset="0"/>
                            </a:rPr>
                            <m:t>=1</m:t>
                          </m:r>
                        </m:sub>
                        <m:sup>
                          <m:r>
                            <a:rPr kumimoji="1" lang="en-US" altLang="zh-CN" sz="2800" b="0" i="1" smtClean="0">
                              <a:latin typeface="Cambria Math" panose="02040503050406030204" pitchFamily="18" charset="0"/>
                            </a:rPr>
                            <m:t>𝑚</m:t>
                          </m:r>
                        </m:sup>
                        <m:e>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𝑎</m:t>
                              </m:r>
                            </m:e>
                            <m:sub>
                              <m:r>
                                <a:rPr kumimoji="1" lang="en-US" altLang="zh-CN" sz="2800" b="0" i="1" smtClean="0">
                                  <a:latin typeface="Cambria Math" panose="02040503050406030204" pitchFamily="18" charset="0"/>
                                </a:rPr>
                                <m:t>𝑗</m:t>
                              </m:r>
                            </m:sub>
                          </m:sSub>
                          <m:r>
                            <a:rPr kumimoji="1" lang="en-US" altLang="zh-CN" sz="2800" b="0" i="1" smtClean="0">
                              <a:latin typeface="Cambria Math" panose="02040503050406030204" pitchFamily="18" charset="0"/>
                            </a:rPr>
                            <m:t>𝜎</m:t>
                          </m:r>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𝑤</m:t>
                              </m:r>
                            </m:e>
                            <m:sub>
                              <m:r>
                                <a:rPr kumimoji="1" lang="en-US" altLang="zh-CN" sz="2800" b="0" i="1" smtClean="0">
                                  <a:latin typeface="Cambria Math" panose="02040503050406030204" pitchFamily="18" charset="0"/>
                                </a:rPr>
                                <m:t>𝑗</m:t>
                              </m:r>
                            </m:sub>
                          </m:sSub>
                          <m:r>
                            <a:rPr kumimoji="1" lang="en-US" altLang="zh-CN" sz="2800" b="0" i="1" smtClean="0">
                              <a:latin typeface="Cambria Math" panose="02040503050406030204" pitchFamily="18" charset="0"/>
                            </a:rPr>
                            <m:t>𝑥</m:t>
                          </m:r>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𝑏</m:t>
                              </m:r>
                            </m:e>
                            <m:sub>
                              <m:r>
                                <a:rPr kumimoji="1" lang="en-US" altLang="zh-CN" sz="2800" b="0" i="1" smtClean="0">
                                  <a:latin typeface="Cambria Math" panose="02040503050406030204" pitchFamily="18" charset="0"/>
                                </a:rPr>
                                <m:t>𝑗</m:t>
                              </m:r>
                            </m:sub>
                          </m:sSub>
                          <m:r>
                            <a:rPr kumimoji="1" lang="en-US" altLang="zh-CN" sz="2800" b="0" i="1" smtClean="0">
                              <a:latin typeface="Cambria Math" panose="02040503050406030204" pitchFamily="18" charset="0"/>
                            </a:rPr>
                            <m:t>)</m:t>
                          </m:r>
                        </m:e>
                      </m:nary>
                    </m:oMath>
                  </m:oMathPara>
                </a14:m>
                <a:endParaRPr kumimoji="1" lang="zh-CN" altLang="en-US" sz="2800" dirty="0"/>
              </a:p>
            </p:txBody>
          </p:sp>
        </mc:Choice>
        <mc:Fallback xmlns="">
          <p:sp>
            <p:nvSpPr>
              <p:cNvPr id="4" name="文本框 3">
                <a:extLst>
                  <a:ext uri="{FF2B5EF4-FFF2-40B4-BE49-F238E27FC236}">
                    <a16:creationId xmlns:a16="http://schemas.microsoft.com/office/drawing/2014/main" id="{8F03D8AA-159D-DCB0-5E81-A6BD18D1307C}"/>
                  </a:ext>
                </a:extLst>
              </p:cNvPr>
              <p:cNvSpPr txBox="1">
                <a:spLocks noRot="1" noChangeAspect="1" noMove="1" noResize="1" noEditPoints="1" noAdjustHandles="1" noChangeArrowheads="1" noChangeShapeType="1" noTextEdit="1"/>
              </p:cNvSpPr>
              <p:nvPr/>
            </p:nvSpPr>
            <p:spPr>
              <a:xfrm>
                <a:off x="4468923" y="1804633"/>
                <a:ext cx="4050083" cy="1225015"/>
              </a:xfrm>
              <a:prstGeom prst="rect">
                <a:avLst/>
              </a:prstGeom>
              <a:blipFill>
                <a:blip r:embed="rId6"/>
                <a:stretch>
                  <a:fillRect l="-2500" t="-115464" r="-2812" b="-169072"/>
                </a:stretch>
              </a:blipFill>
            </p:spPr>
            <p:txBody>
              <a:bodyPr/>
              <a:lstStyle/>
              <a:p>
                <a:r>
                  <a:rPr lang="zh-CN" altLang="en-US">
                    <a:noFill/>
                  </a:rPr>
                  <a:t> </a:t>
                </a:r>
              </a:p>
            </p:txBody>
          </p:sp>
        </mc:Fallback>
      </mc:AlternateContent>
      <p:cxnSp>
        <p:nvCxnSpPr>
          <p:cNvPr id="6" name="直线连接符 5">
            <a:extLst>
              <a:ext uri="{FF2B5EF4-FFF2-40B4-BE49-F238E27FC236}">
                <a16:creationId xmlns:a16="http://schemas.microsoft.com/office/drawing/2014/main" id="{F881B19B-E5AD-D42B-ABE2-8202743BF8E6}"/>
              </a:ext>
            </a:extLst>
          </p:cNvPr>
          <p:cNvCxnSpPr/>
          <p:nvPr/>
        </p:nvCxnSpPr>
        <p:spPr>
          <a:xfrm>
            <a:off x="714703" y="4813738"/>
            <a:ext cx="217564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线连接符 6">
            <a:extLst>
              <a:ext uri="{FF2B5EF4-FFF2-40B4-BE49-F238E27FC236}">
                <a16:creationId xmlns:a16="http://schemas.microsoft.com/office/drawing/2014/main" id="{34EF0137-2E87-EE9D-3AEB-3D9D050A5BDE}"/>
              </a:ext>
            </a:extLst>
          </p:cNvPr>
          <p:cNvCxnSpPr>
            <a:cxnSpLocks/>
          </p:cNvCxnSpPr>
          <p:nvPr/>
        </p:nvCxnSpPr>
        <p:spPr>
          <a:xfrm flipV="1">
            <a:off x="2890345" y="2816492"/>
            <a:ext cx="893379" cy="199724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线箭头连接符 10">
            <a:extLst>
              <a:ext uri="{FF2B5EF4-FFF2-40B4-BE49-F238E27FC236}">
                <a16:creationId xmlns:a16="http://schemas.microsoft.com/office/drawing/2014/main" id="{27B77658-A8F4-FD38-8220-CC92BA9604B8}"/>
              </a:ext>
            </a:extLst>
          </p:cNvPr>
          <p:cNvCxnSpPr>
            <a:cxnSpLocks/>
          </p:cNvCxnSpPr>
          <p:nvPr/>
        </p:nvCxnSpPr>
        <p:spPr>
          <a:xfrm>
            <a:off x="4130566" y="4807202"/>
            <a:ext cx="3657600" cy="2178"/>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A30E7861-5A33-3513-2431-A90F64752C07}"/>
              </a:ext>
            </a:extLst>
          </p:cNvPr>
          <p:cNvCxnSpPr>
            <a:cxnSpLocks/>
          </p:cNvCxnSpPr>
          <p:nvPr/>
        </p:nvCxnSpPr>
        <p:spPr>
          <a:xfrm flipH="1" flipV="1">
            <a:off x="6009055" y="3092669"/>
            <a:ext cx="8124" cy="3098484"/>
          </a:xfrm>
          <a:prstGeom prst="straightConnector1">
            <a:avLst/>
          </a:prstGeom>
          <a:ln w="28575">
            <a:solidFill>
              <a:srgbClr val="070707"/>
            </a:solidFill>
            <a:tailEnd type="triangle"/>
          </a:ln>
        </p:spPr>
        <p:style>
          <a:lnRef idx="1">
            <a:schemeClr val="accent2"/>
          </a:lnRef>
          <a:fillRef idx="0">
            <a:schemeClr val="accent2"/>
          </a:fillRef>
          <a:effectRef idx="0">
            <a:schemeClr val="accent2"/>
          </a:effectRef>
          <a:fontRef idx="minor">
            <a:schemeClr val="tx1"/>
          </a:fontRef>
        </p:style>
      </p:cxnSp>
      <p:cxnSp>
        <p:nvCxnSpPr>
          <p:cNvPr id="20" name="直线连接符 19">
            <a:extLst>
              <a:ext uri="{FF2B5EF4-FFF2-40B4-BE49-F238E27FC236}">
                <a16:creationId xmlns:a16="http://schemas.microsoft.com/office/drawing/2014/main" id="{8135E4D1-AC76-08C7-B5B7-6E45379D2FF8}"/>
              </a:ext>
            </a:extLst>
          </p:cNvPr>
          <p:cNvCxnSpPr>
            <a:cxnSpLocks/>
          </p:cNvCxnSpPr>
          <p:nvPr/>
        </p:nvCxnSpPr>
        <p:spPr>
          <a:xfrm flipV="1">
            <a:off x="6009055" y="3429000"/>
            <a:ext cx="969821" cy="138473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B766B597-9208-F605-BF04-9E055E9E6D06}"/>
              </a:ext>
            </a:extLst>
          </p:cNvPr>
          <p:cNvCxnSpPr>
            <a:cxnSpLocks/>
          </p:cNvCxnSpPr>
          <p:nvPr/>
        </p:nvCxnSpPr>
        <p:spPr>
          <a:xfrm flipV="1">
            <a:off x="6017179" y="4011470"/>
            <a:ext cx="1085456" cy="80226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BEA2A74C-BAA8-DA06-7720-FD3F3FCE3998}"/>
              </a:ext>
            </a:extLst>
          </p:cNvPr>
          <p:cNvCxnSpPr>
            <a:cxnSpLocks/>
          </p:cNvCxnSpPr>
          <p:nvPr/>
        </p:nvCxnSpPr>
        <p:spPr>
          <a:xfrm>
            <a:off x="6025303" y="4813738"/>
            <a:ext cx="1488773" cy="72677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直线连接符 27">
            <a:extLst>
              <a:ext uri="{FF2B5EF4-FFF2-40B4-BE49-F238E27FC236}">
                <a16:creationId xmlns:a16="http://schemas.microsoft.com/office/drawing/2014/main" id="{EC61E9C3-04E5-DDC6-992C-FBF05ABFC8E0}"/>
              </a:ext>
            </a:extLst>
          </p:cNvPr>
          <p:cNvCxnSpPr>
            <a:cxnSpLocks/>
          </p:cNvCxnSpPr>
          <p:nvPr/>
        </p:nvCxnSpPr>
        <p:spPr>
          <a:xfrm>
            <a:off x="6025303" y="4813737"/>
            <a:ext cx="744386" cy="94595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34C63189-9E56-D17F-D550-8B3CB839A710}"/>
              </a:ext>
            </a:extLst>
          </p:cNvPr>
          <p:cNvCxnSpPr>
            <a:cxnSpLocks/>
          </p:cNvCxnSpPr>
          <p:nvPr/>
        </p:nvCxnSpPr>
        <p:spPr>
          <a:xfrm flipH="1">
            <a:off x="5047358" y="4813736"/>
            <a:ext cx="977945" cy="94595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19557BAE-4DD0-1D1E-41F6-7C75432483DF}"/>
              </a:ext>
            </a:extLst>
          </p:cNvPr>
          <p:cNvCxnSpPr>
            <a:cxnSpLocks/>
          </p:cNvCxnSpPr>
          <p:nvPr/>
        </p:nvCxnSpPr>
        <p:spPr>
          <a:xfrm flipH="1">
            <a:off x="4512158" y="4813735"/>
            <a:ext cx="1521269" cy="33633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610CE5B9-F7BC-156E-BD3A-80DEC59C9DD7}"/>
              </a:ext>
            </a:extLst>
          </p:cNvPr>
          <p:cNvCxnSpPr>
            <a:cxnSpLocks/>
          </p:cNvCxnSpPr>
          <p:nvPr/>
        </p:nvCxnSpPr>
        <p:spPr>
          <a:xfrm flipH="1" flipV="1">
            <a:off x="4426903" y="3675138"/>
            <a:ext cx="1567918" cy="113424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AB8220C7-0639-6B8F-5749-4C6FB530A175}"/>
              </a:ext>
            </a:extLst>
          </p:cNvPr>
          <p:cNvCxnSpPr>
            <a:cxnSpLocks/>
          </p:cNvCxnSpPr>
          <p:nvPr/>
        </p:nvCxnSpPr>
        <p:spPr>
          <a:xfrm flipH="1" flipV="1">
            <a:off x="5021082" y="3182862"/>
            <a:ext cx="1004221" cy="166021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直线箭头连接符 45">
            <a:extLst>
              <a:ext uri="{FF2B5EF4-FFF2-40B4-BE49-F238E27FC236}">
                <a16:creationId xmlns:a16="http://schemas.microsoft.com/office/drawing/2014/main" id="{AA22265C-CBB0-1136-2D2C-416C5D5F9E8E}"/>
              </a:ext>
            </a:extLst>
          </p:cNvPr>
          <p:cNvCxnSpPr>
            <a:cxnSpLocks/>
          </p:cNvCxnSpPr>
          <p:nvPr/>
        </p:nvCxnSpPr>
        <p:spPr>
          <a:xfrm>
            <a:off x="8185748" y="4853825"/>
            <a:ext cx="3657600" cy="2178"/>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46">
            <a:extLst>
              <a:ext uri="{FF2B5EF4-FFF2-40B4-BE49-F238E27FC236}">
                <a16:creationId xmlns:a16="http://schemas.microsoft.com/office/drawing/2014/main" id="{DC08913E-F22F-A53B-F057-B42DEC623267}"/>
              </a:ext>
            </a:extLst>
          </p:cNvPr>
          <p:cNvCxnSpPr>
            <a:cxnSpLocks/>
          </p:cNvCxnSpPr>
          <p:nvPr/>
        </p:nvCxnSpPr>
        <p:spPr>
          <a:xfrm flipH="1" flipV="1">
            <a:off x="10064237" y="3139292"/>
            <a:ext cx="8124" cy="3098484"/>
          </a:xfrm>
          <a:prstGeom prst="straightConnector1">
            <a:avLst/>
          </a:prstGeom>
          <a:ln w="28575">
            <a:solidFill>
              <a:srgbClr val="070707"/>
            </a:solidFill>
            <a:tailEnd type="triangle"/>
          </a:ln>
        </p:spPr>
        <p:style>
          <a:lnRef idx="1">
            <a:schemeClr val="accent2"/>
          </a:lnRef>
          <a:fillRef idx="0">
            <a:schemeClr val="accent2"/>
          </a:fillRef>
          <a:effectRef idx="0">
            <a:schemeClr val="accent2"/>
          </a:effectRef>
          <a:fontRef idx="minor">
            <a:schemeClr val="tx1"/>
          </a:fontRef>
        </p:style>
      </p:cxnSp>
      <p:cxnSp>
        <p:nvCxnSpPr>
          <p:cNvPr id="49" name="直线连接符 48">
            <a:extLst>
              <a:ext uri="{FF2B5EF4-FFF2-40B4-BE49-F238E27FC236}">
                <a16:creationId xmlns:a16="http://schemas.microsoft.com/office/drawing/2014/main" id="{849DE87C-E6A2-9557-9AF3-1E4F9D7F8AA3}"/>
              </a:ext>
            </a:extLst>
          </p:cNvPr>
          <p:cNvCxnSpPr>
            <a:cxnSpLocks/>
          </p:cNvCxnSpPr>
          <p:nvPr/>
        </p:nvCxnSpPr>
        <p:spPr>
          <a:xfrm flipV="1">
            <a:off x="10072361" y="4011470"/>
            <a:ext cx="1866914" cy="84889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4" name="直线连接符 53">
            <a:extLst>
              <a:ext uri="{FF2B5EF4-FFF2-40B4-BE49-F238E27FC236}">
                <a16:creationId xmlns:a16="http://schemas.microsoft.com/office/drawing/2014/main" id="{6FE43694-086F-D950-3F64-19FEB42A8B0E}"/>
              </a:ext>
            </a:extLst>
          </p:cNvPr>
          <p:cNvCxnSpPr>
            <a:cxnSpLocks/>
          </p:cNvCxnSpPr>
          <p:nvPr/>
        </p:nvCxnSpPr>
        <p:spPr>
          <a:xfrm flipH="1" flipV="1">
            <a:off x="8169758" y="4309241"/>
            <a:ext cx="1880245" cy="54676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B8D26104-7473-81E0-E279-675DAC775331}"/>
              </a:ext>
            </a:extLst>
          </p:cNvPr>
          <p:cNvSpPr txBox="1"/>
          <p:nvPr/>
        </p:nvSpPr>
        <p:spPr>
          <a:xfrm>
            <a:off x="8870731" y="2007476"/>
            <a:ext cx="2972617" cy="400110"/>
          </a:xfrm>
          <a:prstGeom prst="rect">
            <a:avLst/>
          </a:prstGeom>
          <a:noFill/>
        </p:spPr>
        <p:txBody>
          <a:bodyPr wrap="square" rtlCol="0">
            <a:spAutoFit/>
          </a:bodyPr>
          <a:lstStyle/>
          <a:p>
            <a:pPr algn="l"/>
            <a:r>
              <a:rPr kumimoji="1" lang="zh-CN" altLang="en-US" sz="2000" dirty="0"/>
              <a:t>没有万有逼近能力！</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794D383-6776-40D2-DF9C-D6687E33F21A}"/>
                  </a:ext>
                </a:extLst>
              </p:cNvPr>
              <p:cNvSpPr txBox="1"/>
              <p:nvPr/>
            </p:nvSpPr>
            <p:spPr>
              <a:xfrm>
                <a:off x="6934133" y="3158986"/>
                <a:ext cx="1687947" cy="40011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&gt;0,</m:t>
                      </m:r>
                      <m:r>
                        <a:rPr lang="en-US" altLang="zh-CN" sz="2000" b="0" i="1" smtClean="0">
                          <a:latin typeface="Cambria Math" panose="02040503050406030204" pitchFamily="18" charset="0"/>
                        </a:rPr>
                        <m:t>𝑤</m:t>
                      </m:r>
                      <m:r>
                        <a:rPr lang="en-US" altLang="zh-CN" sz="2000" b="0" i="1" smtClean="0">
                          <a:latin typeface="Cambria Math" panose="02040503050406030204" pitchFamily="18" charset="0"/>
                        </a:rPr>
                        <m:t>&gt;0</m:t>
                      </m:r>
                    </m:oMath>
                  </m:oMathPara>
                </a14:m>
                <a:endParaRPr lang="zh-CN" altLang="en-US" sz="2000" dirty="0"/>
              </a:p>
            </p:txBody>
          </p:sp>
        </mc:Choice>
        <mc:Fallback xmlns="">
          <p:sp>
            <p:nvSpPr>
              <p:cNvPr id="5" name="文本框 4">
                <a:extLst>
                  <a:ext uri="{FF2B5EF4-FFF2-40B4-BE49-F238E27FC236}">
                    <a16:creationId xmlns:a16="http://schemas.microsoft.com/office/drawing/2014/main" id="{A794D383-6776-40D2-DF9C-D6687E33F21A}"/>
                  </a:ext>
                </a:extLst>
              </p:cNvPr>
              <p:cNvSpPr txBox="1">
                <a:spLocks noRot="1" noChangeAspect="1" noMove="1" noResize="1" noEditPoints="1" noAdjustHandles="1" noChangeArrowheads="1" noChangeShapeType="1" noTextEdit="1"/>
              </p:cNvSpPr>
              <p:nvPr/>
            </p:nvSpPr>
            <p:spPr>
              <a:xfrm>
                <a:off x="6934133" y="3158986"/>
                <a:ext cx="1687947" cy="40011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8910A31-DC8E-33BE-8B32-683FA7F359AF}"/>
                  </a:ext>
                </a:extLst>
              </p:cNvPr>
              <p:cNvSpPr txBox="1"/>
              <p:nvPr/>
            </p:nvSpPr>
            <p:spPr>
              <a:xfrm>
                <a:off x="7219381" y="3754663"/>
                <a:ext cx="1687947" cy="400110"/>
              </a:xfrm>
              <a:prstGeom prst="rect">
                <a:avLst/>
              </a:prstGeom>
              <a:noFill/>
            </p:spPr>
            <p:txBody>
              <a:bodyPr wrap="square" rtlCol="0">
                <a:spAutoFit/>
              </a:bodyPr>
              <a:lstStyle/>
              <a:p>
                <a:pPr algn="l"/>
                <a14:m>
                  <m:oMath xmlns:m="http://schemas.openxmlformats.org/officeDocument/2006/math">
                    <m:r>
                      <a:rPr lang="en-US" altLang="zh-CN" sz="2000" b="0" i="1" smtClean="0">
                        <a:latin typeface="Cambria Math" panose="02040503050406030204" pitchFamily="18" charset="0"/>
                      </a:rPr>
                      <m:t>𝑎𝑤</m:t>
                    </m:r>
                  </m:oMath>
                </a14:m>
                <a:r>
                  <a:rPr lang="zh-CN" altLang="en-US" sz="2000" dirty="0"/>
                  <a:t>变小</a:t>
                </a:r>
              </a:p>
            </p:txBody>
          </p:sp>
        </mc:Choice>
        <mc:Fallback xmlns="">
          <p:sp>
            <p:nvSpPr>
              <p:cNvPr id="8" name="文本框 7">
                <a:extLst>
                  <a:ext uri="{FF2B5EF4-FFF2-40B4-BE49-F238E27FC236}">
                    <a16:creationId xmlns:a16="http://schemas.microsoft.com/office/drawing/2014/main" id="{B8910A31-DC8E-33BE-8B32-683FA7F359AF}"/>
                  </a:ext>
                </a:extLst>
              </p:cNvPr>
              <p:cNvSpPr txBox="1">
                <a:spLocks noRot="1" noChangeAspect="1" noMove="1" noResize="1" noEditPoints="1" noAdjustHandles="1" noChangeArrowheads="1" noChangeShapeType="1" noTextEdit="1"/>
              </p:cNvSpPr>
              <p:nvPr/>
            </p:nvSpPr>
            <p:spPr>
              <a:xfrm>
                <a:off x="7219381" y="3754663"/>
                <a:ext cx="1687947" cy="400110"/>
              </a:xfrm>
              <a:prstGeom prst="rect">
                <a:avLst/>
              </a:prstGeom>
              <a:blipFill>
                <a:blip r:embed="rId8"/>
                <a:stretch>
                  <a:fillRect t="-13636" b="-212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AF99199-7A4A-D531-04BE-4948AADAD906}"/>
                  </a:ext>
                </a:extLst>
              </p:cNvPr>
              <p:cNvSpPr txBox="1"/>
              <p:nvPr/>
            </p:nvSpPr>
            <p:spPr>
              <a:xfrm>
                <a:off x="7174088" y="5451680"/>
                <a:ext cx="1687947" cy="40011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&lt;0,</m:t>
                      </m:r>
                      <m:r>
                        <a:rPr lang="en-US" altLang="zh-CN" sz="2000" b="0" i="1" smtClean="0">
                          <a:latin typeface="Cambria Math" panose="02040503050406030204" pitchFamily="18" charset="0"/>
                        </a:rPr>
                        <m:t>𝑤</m:t>
                      </m:r>
                      <m:r>
                        <a:rPr lang="en-US" altLang="zh-CN" sz="2000" b="0" i="1" smtClean="0">
                          <a:latin typeface="Cambria Math" panose="02040503050406030204" pitchFamily="18" charset="0"/>
                        </a:rPr>
                        <m:t>&gt;0</m:t>
                      </m:r>
                    </m:oMath>
                  </m:oMathPara>
                </a14:m>
                <a:endParaRPr lang="zh-CN" altLang="en-US" sz="2000" dirty="0"/>
              </a:p>
            </p:txBody>
          </p:sp>
        </mc:Choice>
        <mc:Fallback xmlns="">
          <p:sp>
            <p:nvSpPr>
              <p:cNvPr id="9" name="文本框 8">
                <a:extLst>
                  <a:ext uri="{FF2B5EF4-FFF2-40B4-BE49-F238E27FC236}">
                    <a16:creationId xmlns:a16="http://schemas.microsoft.com/office/drawing/2014/main" id="{4AF99199-7A4A-D531-04BE-4948AADAD906}"/>
                  </a:ext>
                </a:extLst>
              </p:cNvPr>
              <p:cNvSpPr txBox="1">
                <a:spLocks noRot="1" noChangeAspect="1" noMove="1" noResize="1" noEditPoints="1" noAdjustHandles="1" noChangeArrowheads="1" noChangeShapeType="1" noTextEdit="1"/>
              </p:cNvSpPr>
              <p:nvPr/>
            </p:nvSpPr>
            <p:spPr>
              <a:xfrm>
                <a:off x="7174088" y="5451680"/>
                <a:ext cx="1687947" cy="40011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4E335BA-71CC-805F-8615-E7A466C49AA0}"/>
                  </a:ext>
                </a:extLst>
              </p:cNvPr>
              <p:cNvSpPr txBox="1"/>
              <p:nvPr/>
            </p:nvSpPr>
            <p:spPr>
              <a:xfrm>
                <a:off x="6297909" y="5741389"/>
                <a:ext cx="1687947" cy="400110"/>
              </a:xfrm>
              <a:prstGeom prst="rect">
                <a:avLst/>
              </a:prstGeom>
              <a:noFill/>
            </p:spPr>
            <p:txBody>
              <a:bodyPr wrap="square" rtlCol="0">
                <a:spAutoFit/>
              </a:bodyPr>
              <a:lstStyle/>
              <a:p>
                <a:pPr algn="l"/>
                <a14:m>
                  <m:oMath xmlns:m="http://schemas.openxmlformats.org/officeDocument/2006/math">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𝑎𝑤</m:t>
                    </m:r>
                    <m:r>
                      <a:rPr lang="en-US" altLang="zh-CN" sz="2000" b="0" i="1" smtClean="0">
                        <a:latin typeface="Cambria Math" panose="02040503050406030204" pitchFamily="18" charset="0"/>
                      </a:rPr>
                      <m:t>|</m:t>
                    </m:r>
                  </m:oMath>
                </a14:m>
                <a:r>
                  <a:rPr lang="zh-CN" altLang="en-US" sz="2000" dirty="0"/>
                  <a:t>变大</a:t>
                </a:r>
              </a:p>
            </p:txBody>
          </p:sp>
        </mc:Choice>
        <mc:Fallback xmlns="">
          <p:sp>
            <p:nvSpPr>
              <p:cNvPr id="10" name="文本框 9">
                <a:extLst>
                  <a:ext uri="{FF2B5EF4-FFF2-40B4-BE49-F238E27FC236}">
                    <a16:creationId xmlns:a16="http://schemas.microsoft.com/office/drawing/2014/main" id="{34E335BA-71CC-805F-8615-E7A466C49AA0}"/>
                  </a:ext>
                </a:extLst>
              </p:cNvPr>
              <p:cNvSpPr txBox="1">
                <a:spLocks noRot="1" noChangeAspect="1" noMove="1" noResize="1" noEditPoints="1" noAdjustHandles="1" noChangeArrowheads="1" noChangeShapeType="1" noTextEdit="1"/>
              </p:cNvSpPr>
              <p:nvPr/>
            </p:nvSpPr>
            <p:spPr>
              <a:xfrm>
                <a:off x="6297909" y="5741389"/>
                <a:ext cx="1687947" cy="400110"/>
              </a:xfrm>
              <a:prstGeom prst="rect">
                <a:avLst/>
              </a:prstGeom>
              <a:blipFill>
                <a:blip r:embed="rId10"/>
                <a:stretch>
                  <a:fillRect l="-1444" t="-13846" b="-230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6759CC1-6768-CA63-6E7B-931A140AA1D3}"/>
                  </a:ext>
                </a:extLst>
              </p:cNvPr>
              <p:cNvSpPr txBox="1"/>
              <p:nvPr/>
            </p:nvSpPr>
            <p:spPr>
              <a:xfrm>
                <a:off x="3710553" y="4185828"/>
                <a:ext cx="1687947" cy="40011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&gt;0,</m:t>
                      </m:r>
                      <m:r>
                        <a:rPr lang="en-US" altLang="zh-CN" sz="2000" b="0" i="1" smtClean="0">
                          <a:latin typeface="Cambria Math" panose="02040503050406030204" pitchFamily="18" charset="0"/>
                        </a:rPr>
                        <m:t>𝑤</m:t>
                      </m:r>
                      <m:r>
                        <a:rPr lang="en-US" altLang="zh-CN" sz="2000" b="0" i="1" smtClean="0">
                          <a:latin typeface="Cambria Math" panose="02040503050406030204" pitchFamily="18" charset="0"/>
                        </a:rPr>
                        <m:t>&lt;0</m:t>
                      </m:r>
                    </m:oMath>
                  </m:oMathPara>
                </a14:m>
                <a:endParaRPr lang="zh-CN" altLang="en-US" sz="2000" dirty="0"/>
              </a:p>
            </p:txBody>
          </p:sp>
        </mc:Choice>
        <mc:Fallback xmlns="">
          <p:sp>
            <p:nvSpPr>
              <p:cNvPr id="12" name="文本框 11">
                <a:extLst>
                  <a:ext uri="{FF2B5EF4-FFF2-40B4-BE49-F238E27FC236}">
                    <a16:creationId xmlns:a16="http://schemas.microsoft.com/office/drawing/2014/main" id="{86759CC1-6768-CA63-6E7B-931A140AA1D3}"/>
                  </a:ext>
                </a:extLst>
              </p:cNvPr>
              <p:cNvSpPr txBox="1">
                <a:spLocks noRot="1" noChangeAspect="1" noMove="1" noResize="1" noEditPoints="1" noAdjustHandles="1" noChangeArrowheads="1" noChangeShapeType="1" noTextEdit="1"/>
              </p:cNvSpPr>
              <p:nvPr/>
            </p:nvSpPr>
            <p:spPr>
              <a:xfrm>
                <a:off x="3710553" y="4185828"/>
                <a:ext cx="1687947" cy="40011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D6BBEB5-9D6D-C918-993F-006D6D3EFF42}"/>
                  </a:ext>
                </a:extLst>
              </p:cNvPr>
              <p:cNvSpPr txBox="1"/>
              <p:nvPr/>
            </p:nvSpPr>
            <p:spPr>
              <a:xfrm>
                <a:off x="4100998" y="5718002"/>
                <a:ext cx="1687947" cy="40011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&lt;0,</m:t>
                      </m:r>
                      <m:r>
                        <a:rPr lang="en-US" altLang="zh-CN" sz="2000" b="0" i="1" smtClean="0">
                          <a:latin typeface="Cambria Math" panose="02040503050406030204" pitchFamily="18" charset="0"/>
                        </a:rPr>
                        <m:t>𝑤</m:t>
                      </m:r>
                      <m:r>
                        <a:rPr lang="en-US" altLang="zh-CN" sz="2000" b="0" i="1" smtClean="0">
                          <a:latin typeface="Cambria Math" panose="02040503050406030204" pitchFamily="18" charset="0"/>
                        </a:rPr>
                        <m:t>&lt;0</m:t>
                      </m:r>
                    </m:oMath>
                  </m:oMathPara>
                </a14:m>
                <a:endParaRPr lang="zh-CN" altLang="en-US" sz="2000" dirty="0"/>
              </a:p>
            </p:txBody>
          </p:sp>
        </mc:Choice>
        <mc:Fallback xmlns="">
          <p:sp>
            <p:nvSpPr>
              <p:cNvPr id="13" name="文本框 12">
                <a:extLst>
                  <a:ext uri="{FF2B5EF4-FFF2-40B4-BE49-F238E27FC236}">
                    <a16:creationId xmlns:a16="http://schemas.microsoft.com/office/drawing/2014/main" id="{CD6BBEB5-9D6D-C918-993F-006D6D3EFF42}"/>
                  </a:ext>
                </a:extLst>
              </p:cNvPr>
              <p:cNvSpPr txBox="1">
                <a:spLocks noRot="1" noChangeAspect="1" noMove="1" noResize="1" noEditPoints="1" noAdjustHandles="1" noChangeArrowheads="1" noChangeShapeType="1" noTextEdit="1"/>
              </p:cNvSpPr>
              <p:nvPr/>
            </p:nvSpPr>
            <p:spPr>
              <a:xfrm>
                <a:off x="4100998" y="5718002"/>
                <a:ext cx="1687947" cy="40011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D859E8A3-6809-203E-1AB8-7DA34FFE3611}"/>
                  </a:ext>
                </a:extLst>
              </p:cNvPr>
              <p:cNvSpPr txBox="1"/>
              <p:nvPr/>
            </p:nvSpPr>
            <p:spPr>
              <a:xfrm>
                <a:off x="3796578" y="5140404"/>
                <a:ext cx="1687947" cy="400110"/>
              </a:xfrm>
              <a:prstGeom prst="rect">
                <a:avLst/>
              </a:prstGeom>
              <a:noFill/>
            </p:spPr>
            <p:txBody>
              <a:bodyPr wrap="square" rtlCol="0">
                <a:spAutoFit/>
              </a:bodyPr>
              <a:lstStyle/>
              <a:p>
                <a:pPr algn="l"/>
                <a14:m>
                  <m:oMath xmlns:m="http://schemas.openxmlformats.org/officeDocument/2006/math">
                    <m:r>
                      <a:rPr lang="en-US" altLang="zh-CN" sz="2000" b="0" i="1" smtClean="0">
                        <a:latin typeface="Cambria Math" panose="02040503050406030204" pitchFamily="18" charset="0"/>
                      </a:rPr>
                      <m:t>𝑎𝑤</m:t>
                    </m:r>
                  </m:oMath>
                </a14:m>
                <a:r>
                  <a:rPr lang="zh-CN" altLang="en-US" sz="2000" dirty="0"/>
                  <a:t>变小</a:t>
                </a:r>
              </a:p>
            </p:txBody>
          </p:sp>
        </mc:Choice>
        <mc:Fallback xmlns="">
          <p:sp>
            <p:nvSpPr>
              <p:cNvPr id="15" name="文本框 14">
                <a:extLst>
                  <a:ext uri="{FF2B5EF4-FFF2-40B4-BE49-F238E27FC236}">
                    <a16:creationId xmlns:a16="http://schemas.microsoft.com/office/drawing/2014/main" id="{D859E8A3-6809-203E-1AB8-7DA34FFE3611}"/>
                  </a:ext>
                </a:extLst>
              </p:cNvPr>
              <p:cNvSpPr txBox="1">
                <a:spLocks noRot="1" noChangeAspect="1" noMove="1" noResize="1" noEditPoints="1" noAdjustHandles="1" noChangeArrowheads="1" noChangeShapeType="1" noTextEdit="1"/>
              </p:cNvSpPr>
              <p:nvPr/>
            </p:nvSpPr>
            <p:spPr>
              <a:xfrm>
                <a:off x="3796578" y="5140404"/>
                <a:ext cx="1687947" cy="400110"/>
              </a:xfrm>
              <a:prstGeom prst="rect">
                <a:avLst/>
              </a:prstGeom>
              <a:blipFill>
                <a:blip r:embed="rId13"/>
                <a:stretch>
                  <a:fillRect t="-12121" b="-212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F21DB5C-EB07-FEC2-BB58-82A9F3679BA8}"/>
                  </a:ext>
                </a:extLst>
              </p:cNvPr>
              <p:cNvSpPr txBox="1"/>
              <p:nvPr/>
            </p:nvSpPr>
            <p:spPr>
              <a:xfrm>
                <a:off x="4436333" y="2847785"/>
                <a:ext cx="1687947" cy="400110"/>
              </a:xfrm>
              <a:prstGeom prst="rect">
                <a:avLst/>
              </a:prstGeom>
              <a:noFill/>
            </p:spPr>
            <p:txBody>
              <a:bodyPr wrap="square" rtlCol="0">
                <a:spAutoFit/>
              </a:bodyPr>
              <a:lstStyle/>
              <a:p>
                <a:pPr algn="l"/>
                <a14:m>
                  <m:oMath xmlns:m="http://schemas.openxmlformats.org/officeDocument/2006/math">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𝑎𝑤</m:t>
                    </m:r>
                    <m:r>
                      <a:rPr lang="en-US" altLang="zh-CN" sz="2000" b="0" i="1" smtClean="0">
                        <a:latin typeface="Cambria Math" panose="02040503050406030204" pitchFamily="18" charset="0"/>
                      </a:rPr>
                      <m:t>|</m:t>
                    </m:r>
                  </m:oMath>
                </a14:m>
                <a:r>
                  <a:rPr lang="zh-CN" altLang="en-US" sz="2000" dirty="0"/>
                  <a:t>变大</a:t>
                </a:r>
              </a:p>
            </p:txBody>
          </p:sp>
        </mc:Choice>
        <mc:Fallback xmlns="">
          <p:sp>
            <p:nvSpPr>
              <p:cNvPr id="16" name="文本框 15">
                <a:extLst>
                  <a:ext uri="{FF2B5EF4-FFF2-40B4-BE49-F238E27FC236}">
                    <a16:creationId xmlns:a16="http://schemas.microsoft.com/office/drawing/2014/main" id="{8F21DB5C-EB07-FEC2-BB58-82A9F3679BA8}"/>
                  </a:ext>
                </a:extLst>
              </p:cNvPr>
              <p:cNvSpPr txBox="1">
                <a:spLocks noRot="1" noChangeAspect="1" noMove="1" noResize="1" noEditPoints="1" noAdjustHandles="1" noChangeArrowheads="1" noChangeShapeType="1" noTextEdit="1"/>
              </p:cNvSpPr>
              <p:nvPr/>
            </p:nvSpPr>
            <p:spPr>
              <a:xfrm>
                <a:off x="4436333" y="2847785"/>
                <a:ext cx="1687947" cy="400110"/>
              </a:xfrm>
              <a:prstGeom prst="rect">
                <a:avLst/>
              </a:prstGeom>
              <a:blipFill>
                <a:blip r:embed="rId14"/>
                <a:stretch>
                  <a:fillRect l="-1805" t="-12121" b="-21212"/>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74308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linds(horizontal)">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blinds(horizontal)">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blinds(horizontal)">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blinds(horizontal)">
                                      <p:cBhvr>
                                        <p:cTn id="54" dur="5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blinds(horizontal)">
                                      <p:cBhvr>
                                        <p:cTn id="63" dur="500"/>
                                        <p:tgtEl>
                                          <p:spTgt spid="31"/>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blinds(horizontal)">
                                      <p:cBhvr>
                                        <p:cTn id="72" dur="500"/>
                                        <p:tgtEl>
                                          <p:spTgt spid="34"/>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37"/>
                                        </p:tgtEl>
                                        <p:attrNameLst>
                                          <p:attrName>style.visibility</p:attrName>
                                        </p:attrNameLst>
                                      </p:cBhvr>
                                      <p:to>
                                        <p:strVal val="visible"/>
                                      </p:to>
                                    </p:set>
                                    <p:animEffect transition="in" filter="blinds(horizontal)">
                                      <p:cBhvr>
                                        <p:cTn id="81" dur="500"/>
                                        <p:tgtEl>
                                          <p:spTgt spid="37"/>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6"/>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nodeType="click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blinds(horizontal)">
                                      <p:cBhvr>
                                        <p:cTn id="90" dur="500"/>
                                        <p:tgtEl>
                                          <p:spTgt spid="40"/>
                                        </p:tgtEl>
                                      </p:cBhvr>
                                    </p:animEffec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49"/>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5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5" presetClass="entr" presetSubtype="10" fill="hold" grpId="0" nodeType="clickEffect">
                                  <p:stCondLst>
                                    <p:cond delay="0"/>
                                  </p:stCondLst>
                                  <p:childTnLst>
                                    <p:set>
                                      <p:cBhvr>
                                        <p:cTn id="104" dur="1" fill="hold">
                                          <p:stCondLst>
                                            <p:cond delay="0"/>
                                          </p:stCondLst>
                                        </p:cTn>
                                        <p:tgtEl>
                                          <p:spTgt spid="58"/>
                                        </p:tgtEl>
                                        <p:attrNameLst>
                                          <p:attrName>style.visibility</p:attrName>
                                        </p:attrNameLst>
                                      </p:cBhvr>
                                      <p:to>
                                        <p:strVal val="visible"/>
                                      </p:to>
                                    </p:set>
                                    <p:animEffect transition="in" filter="checkerboard(across)">
                                      <p:cBhvr>
                                        <p:cTn id="105"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8" grpId="0"/>
      <p:bldP spid="5" grpId="0"/>
      <p:bldP spid="8" grpId="0"/>
      <p:bldP spid="9" grpId="0"/>
      <p:bldP spid="10" grpId="0"/>
      <p:bldP spid="12" grpId="0"/>
      <p:bldP spid="13" grpId="0"/>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6BA5-A3FC-CBEF-FA90-31DF079E2E0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06639BA-212B-F57A-087F-E0D53691BE9A}"/>
              </a:ext>
            </a:extLst>
          </p:cNvPr>
          <p:cNvSpPr>
            <a:spLocks noGrp="1"/>
          </p:cNvSpPr>
          <p:nvPr>
            <p:ph type="title"/>
          </p:nvPr>
        </p:nvSpPr>
        <p:spPr>
          <a:xfrm>
            <a:off x="381242" y="2844289"/>
            <a:ext cx="11429516" cy="761979"/>
          </a:xfrm>
        </p:spPr>
        <p:txBody>
          <a:bodyPr/>
          <a:lstStyle/>
          <a:p>
            <a:pPr algn="ctr"/>
            <a:r>
              <a:rPr lang="zh-CN" altLang="en-US" dirty="0"/>
              <a:t>残差神经网络</a:t>
            </a:r>
          </a:p>
        </p:txBody>
      </p:sp>
    </p:spTree>
    <p:extLst>
      <p:ext uri="{BB962C8B-B14F-4D97-AF65-F5344CB8AC3E}">
        <p14:creationId xmlns:p14="http://schemas.microsoft.com/office/powerpoint/2010/main" val="1431066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退化问题</a:t>
            </a:r>
            <a:endParaRPr lang="zh-CN" altLang="en-US" dirty="0"/>
          </a:p>
        </p:txBody>
      </p:sp>
      <p:pic>
        <p:nvPicPr>
          <p:cNvPr id="17" name="图片 16" descr="IMG_256"/>
          <p:cNvPicPr>
            <a:picLocks noChangeAspect="1"/>
          </p:cNvPicPr>
          <p:nvPr/>
        </p:nvPicPr>
        <p:blipFill>
          <a:blip r:embed="rId2"/>
          <a:stretch>
            <a:fillRect/>
          </a:stretch>
        </p:blipFill>
        <p:spPr>
          <a:xfrm>
            <a:off x="980534" y="1233785"/>
            <a:ext cx="10230930" cy="3417424"/>
          </a:xfrm>
          <a:prstGeom prst="rect">
            <a:avLst/>
          </a:prstGeom>
          <a:noFill/>
          <a:ln w="9525">
            <a:noFill/>
          </a:ln>
        </p:spPr>
      </p:pic>
      <p:sp>
        <p:nvSpPr>
          <p:cNvPr id="18" name="文本框 17"/>
          <p:cNvSpPr txBox="1"/>
          <p:nvPr/>
        </p:nvSpPr>
        <p:spPr>
          <a:xfrm>
            <a:off x="1172269" y="4964355"/>
            <a:ext cx="10039195" cy="1689052"/>
          </a:xfrm>
          <a:prstGeom prst="rect">
            <a:avLst/>
          </a:prstGeom>
          <a:noFill/>
        </p:spPr>
        <p:txBody>
          <a:bodyPr wrap="square" rtlCol="0">
            <a:spAutoFit/>
          </a:bodyPr>
          <a:lstStyle/>
          <a:p>
            <a:pPr>
              <a:lnSpc>
                <a:spcPct val="150000"/>
              </a:lnSpc>
            </a:pPr>
            <a:r>
              <a:rPr lang="zh-CN" altLang="en-US" sz="2400" dirty="0">
                <a:solidFill>
                  <a:srgbClr val="000000"/>
                </a:solidFill>
                <a:latin typeface="微软雅黑" panose="020B0503020204020204" pitchFamily="34" charset="-122"/>
                <a:ea typeface="微软雅黑" panose="020B0503020204020204" pitchFamily="34" charset="-122"/>
              </a:rPr>
              <a:t>利用20层和56层的普通网络对于CIFAR-10数据集的训练误差（左图）和测试误差（右图）。可见</a:t>
            </a:r>
            <a:r>
              <a:rPr lang="zh-CN" altLang="en-US" sz="2400" b="1" dirty="0">
                <a:solidFill>
                  <a:srgbClr val="000000"/>
                </a:solidFill>
                <a:latin typeface="微软雅黑" panose="020B0503020204020204" pitchFamily="34" charset="-122"/>
                <a:ea typeface="微软雅黑" panose="020B0503020204020204" pitchFamily="34" charset="-122"/>
              </a:rPr>
              <a:t>越深的网络会产生越大的训练误差和测试误差</a:t>
            </a:r>
            <a:r>
              <a:rPr lang="zh-CN" altLang="en-US" sz="2400" dirty="0">
                <a:solidFill>
                  <a:srgbClr val="000000"/>
                </a:solidFill>
                <a:latin typeface="微软雅黑" panose="020B0503020204020204" pitchFamily="34" charset="-122"/>
                <a:ea typeface="微软雅黑" panose="020B0503020204020204" pitchFamily="34" charset="-122"/>
              </a:rPr>
              <a:t>。</a:t>
            </a:r>
          </a:p>
          <a:p>
            <a:pPr algn="just">
              <a:lnSpc>
                <a:spcPct val="150000"/>
              </a:lnSpc>
            </a:pP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26998" y="6351998"/>
            <a:ext cx="10665179" cy="377283"/>
          </a:xfrm>
          <a:prstGeom prst="rect">
            <a:avLst/>
          </a:prstGeom>
          <a:noFill/>
        </p:spPr>
        <p:txBody>
          <a:bodyPr wrap="square" rtlCol="0">
            <a:spAutoFit/>
          </a:bodyPr>
          <a:lstStyle/>
          <a:p>
            <a:pPr algn="l">
              <a:lnSpc>
                <a:spcPct val="150000"/>
              </a:lnSpc>
            </a:pP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[1] He, </a:t>
            </a:r>
            <a:r>
              <a:rPr lang="en-US" altLang="zh-CN" sz="1400" b="0" i="0" dirty="0" err="1">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Kaiming</a:t>
            </a: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 et al. "Deep Residual Learning for Image Recognition." IEEE (2016).</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Sigmoid</a:t>
            </a:r>
            <a:r>
              <a:rPr lang="zh-CN" altLang="en-US" dirty="0">
                <a:latin typeface="微软雅黑" panose="020B0503020204020204" pitchFamily="34" charset="-122"/>
                <a:ea typeface="微软雅黑" panose="020B0503020204020204" pitchFamily="34" charset="-122"/>
              </a:rPr>
              <a:t>函数饱和</a:t>
            </a:r>
            <a:endParaRPr lang="zh-CN" altLang="en-US" dirty="0"/>
          </a:p>
        </p:txBody>
      </p:sp>
      <p:sp>
        <p:nvSpPr>
          <p:cNvPr id="8" name="文本框 6"/>
          <p:cNvSpPr txBox="1"/>
          <p:nvPr/>
        </p:nvSpPr>
        <p:spPr>
          <a:xfrm>
            <a:off x="1115438" y="1013364"/>
            <a:ext cx="942862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olidFill>
                  <a:srgbClr val="000000"/>
                </a:solidFill>
                <a:latin typeface="微软雅黑" panose="020B0503020204020204" pitchFamily="34" charset="-122"/>
                <a:ea typeface="微软雅黑" panose="020B0503020204020204" pitchFamily="34" charset="-122"/>
                <a:sym typeface="+mn-ea"/>
              </a:rPr>
              <a:t>下图是一个极简单的深度神经网络：每一层都只有一个单一的神经元。</a:t>
            </a:r>
            <a:endParaRPr lang="zh-CN" altLang="en-US" sz="240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文本框 1"/>
              <p:cNvSpPr txBox="1"/>
              <p:nvPr/>
            </p:nvSpPr>
            <p:spPr>
              <a:xfrm>
                <a:off x="1115438" y="5217871"/>
                <a:ext cx="10695320" cy="104272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当输入稍微远离坐标原点，</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sigmoid</a:t>
                </a:r>
                <a:r>
                  <a:rPr lang="zh-CN" altLang="en-US" sz="2000" dirty="0">
                    <a:solidFill>
                      <a:srgbClr val="000000"/>
                    </a:solidFill>
                    <a:latin typeface="微软雅黑" panose="020B0503020204020204" pitchFamily="34" charset="-122"/>
                    <a:ea typeface="微软雅黑" panose="020B0503020204020204" pitchFamily="34" charset="-122"/>
                  </a:rPr>
                  <a:t>函数的梯度变小，几乎为零。根据链式法则，反向传播会经过很多</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sigmoid</a:t>
                </a:r>
                <a:r>
                  <a:rPr lang="zh-CN" altLang="en-US" sz="2000" dirty="0">
                    <a:solidFill>
                      <a:srgbClr val="000000"/>
                    </a:solidFill>
                    <a:latin typeface="微软雅黑" panose="020B0503020204020204" pitchFamily="34" charset="-122"/>
                    <a:ea typeface="微软雅黑" panose="020B0503020204020204" pitchFamily="34" charset="-122"/>
                  </a:rPr>
                  <a:t>函数，最终导致权重</a:t>
                </a:r>
                <a14:m>
                  <m:oMath xmlns:m="http://schemas.openxmlformats.org/officeDocument/2006/math">
                    <m:r>
                      <a:rPr lang="en-US" altLang="zh-CN" sz="2000" b="1"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𝒘</m:t>
                    </m:r>
                  </m:oMath>
                </a14:m>
                <a:r>
                  <a:rPr lang="zh-CN" altLang="en-US" sz="2000" dirty="0">
                    <a:solidFill>
                      <a:srgbClr val="000000"/>
                    </a:solidFill>
                    <a:latin typeface="微软雅黑" panose="020B0503020204020204" pitchFamily="34" charset="-122"/>
                    <a:ea typeface="微软雅黑" panose="020B0503020204020204" pitchFamily="34" charset="-122"/>
                  </a:rPr>
                  <a:t>对损失函数几乎没影响，这样不利于权重的优化</a:t>
                </a:r>
                <a:r>
                  <a:rPr lang="zh-CN" altLang="en-US" sz="2400" dirty="0">
                    <a:solidFill>
                      <a:srgbClr val="000000"/>
                    </a:solidFill>
                    <a:latin typeface="微软雅黑" panose="020B0503020204020204" pitchFamily="34" charset="-122"/>
                    <a:ea typeface="微软雅黑" panose="020B0503020204020204" pitchFamily="34" charset="-122"/>
                  </a:rPr>
                  <a:t>。</a:t>
                </a:r>
              </a:p>
            </p:txBody>
          </p:sp>
        </mc:Choice>
        <mc:Fallback xmlns="">
          <p:sp>
            <p:nvSpPr>
              <p:cNvPr id="10" name="文本框 1"/>
              <p:cNvSpPr txBox="1">
                <a:spLocks noRot="1" noChangeAspect="1" noMove="1" noResize="1" noEditPoints="1" noAdjustHandles="1" noChangeArrowheads="1" noChangeShapeType="1" noTextEdit="1"/>
              </p:cNvSpPr>
              <p:nvPr/>
            </p:nvSpPr>
            <p:spPr>
              <a:xfrm>
                <a:off x="1115438" y="5217871"/>
                <a:ext cx="10695320" cy="1042721"/>
              </a:xfrm>
              <a:prstGeom prst="rect">
                <a:avLst/>
              </a:prstGeom>
              <a:blipFill rotWithShape="1">
                <a:blip r:embed="rId4"/>
                <a:stretch>
                  <a:fillRect l="-4" t="-7" r="4" b="-840"/>
                </a:stretch>
              </a:blipFill>
            </p:spPr>
            <p:txBody>
              <a:bodyPr/>
              <a:lstStyle/>
              <a:p>
                <a:r>
                  <a:rPr lang="zh-CN" altLang="en-US">
                    <a:noFill/>
                  </a:rPr>
                  <a:t> </a:t>
                </a:r>
              </a:p>
            </p:txBody>
          </p:sp>
        </mc:Fallback>
      </mc:AlternateContent>
      <p:sp>
        <p:nvSpPr>
          <p:cNvPr id="4" name="流程图: 接点 3"/>
          <p:cNvSpPr/>
          <p:nvPr/>
        </p:nvSpPr>
        <p:spPr>
          <a:xfrm>
            <a:off x="1915505" y="1765497"/>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cxnSp>
        <p:nvCxnSpPr>
          <p:cNvPr id="12" name="直接箭头连接符 11"/>
          <p:cNvCxnSpPr>
            <a:stCxn id="4" idx="6"/>
            <a:endCxn id="14" idx="2"/>
          </p:cNvCxnSpPr>
          <p:nvPr/>
        </p:nvCxnSpPr>
        <p:spPr>
          <a:xfrm>
            <a:off x="2640805" y="2146486"/>
            <a:ext cx="949224" cy="1"/>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流程图: 接点 13"/>
              <p:cNvSpPr/>
              <p:nvPr/>
            </p:nvSpPr>
            <p:spPr>
              <a:xfrm>
                <a:off x="3590029" y="1765498"/>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2"/>
                              </a:solidFill>
                              <a:latin typeface="Cambria Math" panose="02040503050406030204" pitchFamily="18" charset="0"/>
                            </a:rPr>
                          </m:ctrlPr>
                        </m:sSubPr>
                        <m:e>
                          <m:r>
                            <a:rPr lang="en-US" altLang="zh-CN" b="0" i="1" smtClean="0">
                              <a:solidFill>
                                <a:schemeClr val="tx2"/>
                              </a:solidFill>
                              <a:latin typeface="Cambria Math" panose="02040503050406030204" pitchFamily="18" charset="0"/>
                            </a:rPr>
                            <m:t>𝑏</m:t>
                          </m:r>
                        </m:e>
                        <m:sub>
                          <m:r>
                            <a:rPr lang="en-US" altLang="zh-CN" b="0" i="1" smtClean="0">
                              <a:solidFill>
                                <a:schemeClr val="tx2"/>
                              </a:solidFill>
                              <a:latin typeface="Cambria Math" panose="02040503050406030204" pitchFamily="18" charset="0"/>
                            </a:rPr>
                            <m:t>1</m:t>
                          </m:r>
                        </m:sub>
                      </m:sSub>
                    </m:oMath>
                  </m:oMathPara>
                </a14:m>
                <a:endParaRPr lang="zh-CN" altLang="en-US" dirty="0">
                  <a:solidFill>
                    <a:schemeClr val="bg1"/>
                  </a:solidFill>
                </a:endParaRPr>
              </a:p>
            </p:txBody>
          </p:sp>
        </mc:Choice>
        <mc:Fallback xmlns="">
          <p:sp>
            <p:nvSpPr>
              <p:cNvPr id="14" name="流程图: 接点 13"/>
              <p:cNvSpPr>
                <a:spLocks noRot="1" noChangeAspect="1" noMove="1" noResize="1" noEditPoints="1" noAdjustHandles="1" noChangeArrowheads="1" noChangeShapeType="1" noTextEdit="1"/>
              </p:cNvSpPr>
              <p:nvPr/>
            </p:nvSpPr>
            <p:spPr>
              <a:xfrm>
                <a:off x="3590029" y="1765498"/>
                <a:ext cx="725300" cy="761978"/>
              </a:xfrm>
              <a:prstGeom prst="flowChartConnector">
                <a:avLst/>
              </a:prstGeom>
              <a:blipFill rotWithShape="1">
                <a:blip r:embed="rId5"/>
                <a:stretch>
                  <a:fillRect l="-3816" t="-3609" r="-3783" b="-3560"/>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流程图: 接点 14"/>
              <p:cNvSpPr/>
              <p:nvPr/>
            </p:nvSpPr>
            <p:spPr>
              <a:xfrm>
                <a:off x="5302175" y="1765497"/>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2"/>
                              </a:solidFill>
                              <a:latin typeface="Cambria Math" panose="02040503050406030204" pitchFamily="18" charset="0"/>
                            </a:rPr>
                          </m:ctrlPr>
                        </m:sSubPr>
                        <m:e>
                          <m:r>
                            <a:rPr lang="en-US" altLang="zh-CN" b="0" i="1" smtClean="0">
                              <a:solidFill>
                                <a:schemeClr val="tx2"/>
                              </a:solidFill>
                              <a:latin typeface="Cambria Math" panose="02040503050406030204" pitchFamily="18" charset="0"/>
                            </a:rPr>
                            <m:t>𝑏</m:t>
                          </m:r>
                        </m:e>
                        <m:sub>
                          <m:r>
                            <a:rPr lang="en-US" altLang="zh-CN" b="0" i="1" smtClean="0">
                              <a:solidFill>
                                <a:schemeClr val="tx2"/>
                              </a:solidFill>
                              <a:latin typeface="Cambria Math" panose="02040503050406030204" pitchFamily="18" charset="0"/>
                            </a:rPr>
                            <m:t>2</m:t>
                          </m:r>
                        </m:sub>
                      </m:sSub>
                    </m:oMath>
                  </m:oMathPara>
                </a14:m>
                <a:endParaRPr lang="zh-CN" altLang="en-US" dirty="0">
                  <a:solidFill>
                    <a:schemeClr val="bg1"/>
                  </a:solidFill>
                </a:endParaRPr>
              </a:p>
            </p:txBody>
          </p:sp>
        </mc:Choice>
        <mc:Fallback xmlns="">
          <p:sp>
            <p:nvSpPr>
              <p:cNvPr id="15" name="流程图: 接点 14"/>
              <p:cNvSpPr>
                <a:spLocks noRot="1" noChangeAspect="1" noMove="1" noResize="1" noEditPoints="1" noAdjustHandles="1" noChangeArrowheads="1" noChangeShapeType="1" noTextEdit="1"/>
              </p:cNvSpPr>
              <p:nvPr/>
            </p:nvSpPr>
            <p:spPr>
              <a:xfrm>
                <a:off x="5302175" y="1765497"/>
                <a:ext cx="725300" cy="761978"/>
              </a:xfrm>
              <a:prstGeom prst="flowChartConnector">
                <a:avLst/>
              </a:prstGeom>
              <a:blipFill rotWithShape="1">
                <a:blip r:embed="rId6"/>
                <a:stretch>
                  <a:fillRect l="-3842" t="-3609" r="-3757" b="-3560"/>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流程图: 接点 15"/>
              <p:cNvSpPr/>
              <p:nvPr/>
            </p:nvSpPr>
            <p:spPr>
              <a:xfrm>
                <a:off x="8461880" y="1764013"/>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2"/>
                              </a:solidFill>
                              <a:latin typeface="Cambria Math" panose="02040503050406030204" pitchFamily="18" charset="0"/>
                            </a:rPr>
                          </m:ctrlPr>
                        </m:sSubPr>
                        <m:e>
                          <m:r>
                            <a:rPr lang="en-US" altLang="zh-CN" b="0" i="1" smtClean="0">
                              <a:solidFill>
                                <a:schemeClr val="tx2"/>
                              </a:solidFill>
                              <a:latin typeface="Cambria Math" panose="02040503050406030204" pitchFamily="18" charset="0"/>
                            </a:rPr>
                            <m:t>𝑏</m:t>
                          </m:r>
                        </m:e>
                        <m:sub>
                          <m:r>
                            <a:rPr lang="en-US" altLang="zh-CN" b="0" i="1" smtClean="0">
                              <a:solidFill>
                                <a:schemeClr val="tx2"/>
                              </a:solidFill>
                              <a:latin typeface="Cambria Math" panose="02040503050406030204" pitchFamily="18" charset="0"/>
                            </a:rPr>
                            <m:t>4</m:t>
                          </m:r>
                        </m:sub>
                      </m:sSub>
                    </m:oMath>
                  </m:oMathPara>
                </a14:m>
                <a:endParaRPr lang="zh-CN" altLang="en-US" dirty="0">
                  <a:solidFill>
                    <a:schemeClr val="bg1"/>
                  </a:solidFill>
                </a:endParaRPr>
              </a:p>
            </p:txBody>
          </p:sp>
        </mc:Choice>
        <mc:Fallback xmlns="">
          <p:sp>
            <p:nvSpPr>
              <p:cNvPr id="16" name="流程图: 接点 15"/>
              <p:cNvSpPr>
                <a:spLocks noRot="1" noChangeAspect="1" noMove="1" noResize="1" noEditPoints="1" noAdjustHandles="1" noChangeArrowheads="1" noChangeShapeType="1" noTextEdit="1"/>
              </p:cNvSpPr>
              <p:nvPr/>
            </p:nvSpPr>
            <p:spPr>
              <a:xfrm>
                <a:off x="8461880" y="1764013"/>
                <a:ext cx="725300" cy="761978"/>
              </a:xfrm>
              <a:prstGeom prst="flowChartConnector">
                <a:avLst/>
              </a:prstGeom>
              <a:blipFill rotWithShape="1">
                <a:blip r:embed="rId7"/>
                <a:stretch>
                  <a:fillRect l="-3834" t="-3665" r="-3765" b="-3589"/>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流程图: 接点 16"/>
              <p:cNvSpPr/>
              <p:nvPr/>
            </p:nvSpPr>
            <p:spPr>
              <a:xfrm>
                <a:off x="6916844" y="1764013"/>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2"/>
                              </a:solidFill>
                              <a:latin typeface="Cambria Math" panose="02040503050406030204" pitchFamily="18" charset="0"/>
                            </a:rPr>
                          </m:ctrlPr>
                        </m:sSubPr>
                        <m:e>
                          <m:r>
                            <a:rPr lang="en-US" altLang="zh-CN" b="0" i="1" smtClean="0">
                              <a:solidFill>
                                <a:schemeClr val="tx2"/>
                              </a:solidFill>
                              <a:latin typeface="Cambria Math" panose="02040503050406030204" pitchFamily="18" charset="0"/>
                            </a:rPr>
                            <m:t>𝑏</m:t>
                          </m:r>
                        </m:e>
                        <m:sub>
                          <m:r>
                            <a:rPr lang="en-US" altLang="zh-CN" b="0" i="1" smtClean="0">
                              <a:solidFill>
                                <a:schemeClr val="tx2"/>
                              </a:solidFill>
                              <a:latin typeface="Cambria Math" panose="02040503050406030204" pitchFamily="18" charset="0"/>
                            </a:rPr>
                            <m:t>3</m:t>
                          </m:r>
                        </m:sub>
                      </m:sSub>
                    </m:oMath>
                  </m:oMathPara>
                </a14:m>
                <a:endParaRPr lang="zh-CN" altLang="en-US" dirty="0">
                  <a:solidFill>
                    <a:schemeClr val="bg1"/>
                  </a:solidFill>
                </a:endParaRPr>
              </a:p>
            </p:txBody>
          </p:sp>
        </mc:Choice>
        <mc:Fallback xmlns="">
          <p:sp>
            <p:nvSpPr>
              <p:cNvPr id="17" name="流程图: 接点 16"/>
              <p:cNvSpPr>
                <a:spLocks noRot="1" noChangeAspect="1" noMove="1" noResize="1" noEditPoints="1" noAdjustHandles="1" noChangeArrowheads="1" noChangeShapeType="1" noTextEdit="1"/>
              </p:cNvSpPr>
              <p:nvPr/>
            </p:nvSpPr>
            <p:spPr>
              <a:xfrm>
                <a:off x="6916844" y="1764013"/>
                <a:ext cx="725300" cy="761978"/>
              </a:xfrm>
              <a:prstGeom prst="flowChartConnector">
                <a:avLst/>
              </a:prstGeom>
              <a:blipFill rotWithShape="1">
                <a:blip r:embed="rId8"/>
                <a:stretch>
                  <a:fillRect l="-3823" t="-3665" r="-3776" b="-3589"/>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23" name="直接箭头连接符 22"/>
          <p:cNvCxnSpPr>
            <a:stCxn id="14" idx="6"/>
            <a:endCxn id="15" idx="2"/>
          </p:cNvCxnSpPr>
          <p:nvPr/>
        </p:nvCxnSpPr>
        <p:spPr>
          <a:xfrm flipV="1">
            <a:off x="4315329" y="2146486"/>
            <a:ext cx="986846" cy="1"/>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5" idx="6"/>
            <a:endCxn id="17" idx="2"/>
          </p:cNvCxnSpPr>
          <p:nvPr/>
        </p:nvCxnSpPr>
        <p:spPr>
          <a:xfrm flipV="1">
            <a:off x="6027475" y="2145002"/>
            <a:ext cx="889369" cy="148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7" idx="6"/>
            <a:endCxn id="16" idx="2"/>
          </p:cNvCxnSpPr>
          <p:nvPr/>
        </p:nvCxnSpPr>
        <p:spPr>
          <a:xfrm>
            <a:off x="7642144" y="2145002"/>
            <a:ext cx="819736"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6" idx="6"/>
            <a:endCxn id="35" idx="1"/>
          </p:cNvCxnSpPr>
          <p:nvPr/>
        </p:nvCxnSpPr>
        <p:spPr>
          <a:xfrm>
            <a:off x="9187180" y="2145002"/>
            <a:ext cx="725300"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本框 34"/>
              <p:cNvSpPr txBox="1"/>
              <p:nvPr/>
            </p:nvSpPr>
            <p:spPr>
              <a:xfrm>
                <a:off x="9912480" y="1944947"/>
                <a:ext cx="364015" cy="400110"/>
              </a:xfrm>
              <a:prstGeom prst="rect">
                <a:avLst/>
              </a:prstGeom>
              <a:noFill/>
            </p:spPr>
            <p:txBody>
              <a:bodyPr wrap="square" rtlCol="0">
                <a:spAutoFit/>
              </a:bodyPr>
              <a:lstStyle/>
              <a:p>
                <a:pPr algn="l"/>
                <a14:m>
                  <m:oMathPara xmlns:m="http://schemas.openxmlformats.org/officeDocument/2006/math">
                    <m:oMathParaPr>
                      <m:jc m:val="left"/>
                    </m:oMathParaPr>
                    <m:oMath xmlns:m="http://schemas.openxmlformats.org/officeDocument/2006/math">
                      <m:r>
                        <a:rPr lang="en-US" altLang="zh-CN" sz="2000" i="1" dirty="0" smtClean="0">
                          <a:solidFill>
                            <a:schemeClr val="tx2"/>
                          </a:solidFill>
                          <a:latin typeface="Cambria Math" panose="02040503050406030204" pitchFamily="18" charset="0"/>
                        </a:rPr>
                        <m:t>𝐶</m:t>
                      </m:r>
                    </m:oMath>
                  </m:oMathPara>
                </a14:m>
                <a:endParaRPr lang="zh-CN" altLang="en-US" sz="2000" i="1" dirty="0">
                  <a:solidFill>
                    <a:schemeClr val="tx2"/>
                  </a:solidFill>
                </a:endParaRPr>
              </a:p>
            </p:txBody>
          </p:sp>
        </mc:Choice>
        <mc:Fallback xmlns="">
          <p:sp>
            <p:nvSpPr>
              <p:cNvPr id="35" name="文本框 34"/>
              <p:cNvSpPr txBox="1">
                <a:spLocks noRot="1" noChangeAspect="1" noMove="1" noResize="1" noEditPoints="1" noAdjustHandles="1" noChangeArrowheads="1" noChangeShapeType="1" noTextEdit="1"/>
              </p:cNvSpPr>
              <p:nvPr/>
            </p:nvSpPr>
            <p:spPr>
              <a:xfrm>
                <a:off x="9912480" y="1944947"/>
                <a:ext cx="364015" cy="400110"/>
              </a:xfrm>
              <a:prstGeom prst="rect">
                <a:avLst/>
              </a:prstGeom>
              <a:blipFill rotWithShape="1">
                <a:blip r:embed="rId9"/>
                <a:stretch>
                  <a:fillRect l="-36" t="-144" r="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p:cNvSpPr txBox="1"/>
              <p:nvPr/>
            </p:nvSpPr>
            <p:spPr>
              <a:xfrm>
                <a:off x="2808384" y="1663177"/>
                <a:ext cx="541108" cy="40011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i="1" smtClean="0">
                              <a:solidFill>
                                <a:schemeClr val="tx2"/>
                              </a:solidFill>
                              <a:latin typeface="Cambria Math" panose="02040503050406030204" pitchFamily="18" charset="0"/>
                            </a:rPr>
                          </m:ctrlPr>
                        </m:sSubPr>
                        <m:e>
                          <m:r>
                            <a:rPr lang="en-US" altLang="zh-CN" sz="2000" b="0" i="1" smtClean="0">
                              <a:solidFill>
                                <a:schemeClr val="tx2"/>
                              </a:solidFill>
                              <a:latin typeface="Cambria Math" panose="02040503050406030204" pitchFamily="18" charset="0"/>
                            </a:rPr>
                            <m:t>𝑤</m:t>
                          </m:r>
                        </m:e>
                        <m:sub>
                          <m:r>
                            <a:rPr lang="en-US" altLang="zh-CN" sz="2000" b="0" i="1" smtClean="0">
                              <a:solidFill>
                                <a:schemeClr val="tx2"/>
                              </a:solidFill>
                              <a:latin typeface="Cambria Math" panose="02040503050406030204" pitchFamily="18" charset="0"/>
                            </a:rPr>
                            <m:t>1</m:t>
                          </m:r>
                        </m:sub>
                      </m:sSub>
                    </m:oMath>
                  </m:oMathPara>
                </a14:m>
                <a:endParaRPr lang="zh-CN" altLang="en-US" sz="2000" dirty="0"/>
              </a:p>
            </p:txBody>
          </p:sp>
        </mc:Choice>
        <mc:Fallback xmlns="">
          <p:sp>
            <p:nvSpPr>
              <p:cNvPr id="49" name="文本框 48"/>
              <p:cNvSpPr txBox="1">
                <a:spLocks noRot="1" noChangeAspect="1" noMove="1" noResize="1" noEditPoints="1" noAdjustHandles="1" noChangeArrowheads="1" noChangeShapeType="1" noTextEdit="1"/>
              </p:cNvSpPr>
              <p:nvPr/>
            </p:nvSpPr>
            <p:spPr>
              <a:xfrm>
                <a:off x="2808384" y="1663177"/>
                <a:ext cx="541108" cy="400110"/>
              </a:xfrm>
              <a:prstGeom prst="rect">
                <a:avLst/>
              </a:prstGeom>
              <a:blipFill rotWithShape="1">
                <a:blip r:embed="rId10"/>
                <a:stretch>
                  <a:fillRect l="-77" t="-28" r="93" b="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p:cNvSpPr txBox="1"/>
              <p:nvPr/>
            </p:nvSpPr>
            <p:spPr>
              <a:xfrm>
                <a:off x="4539238" y="1693955"/>
                <a:ext cx="5420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a:solidFill>
                                <a:schemeClr val="tx2"/>
                              </a:solidFill>
                              <a:latin typeface="Cambria Math" panose="02040503050406030204" pitchFamily="18" charset="0"/>
                            </a:rPr>
                          </m:ctrlPr>
                        </m:sSubPr>
                        <m:e>
                          <m:r>
                            <a:rPr lang="en-US" altLang="zh-CN" i="1">
                              <a:solidFill>
                                <a:schemeClr val="tx2"/>
                              </a:solidFill>
                              <a:latin typeface="Cambria Math" panose="02040503050406030204" pitchFamily="18" charset="0"/>
                            </a:rPr>
                            <m:t>𝑤</m:t>
                          </m:r>
                        </m:e>
                        <m:sub>
                          <m:r>
                            <a:rPr lang="en-US" altLang="zh-CN" i="1" smtClean="0">
                              <a:solidFill>
                                <a:schemeClr val="tx2"/>
                              </a:solidFill>
                              <a:latin typeface="Cambria Math" panose="02040503050406030204" pitchFamily="18" charset="0"/>
                            </a:rPr>
                            <m:t>2</m:t>
                          </m:r>
                        </m:sub>
                      </m:sSub>
                    </m:oMath>
                  </m:oMathPara>
                </a14:m>
                <a:endParaRPr lang="zh-CN" altLang="en-US" dirty="0"/>
              </a:p>
            </p:txBody>
          </p:sp>
        </mc:Choice>
        <mc:Fallback xmlns="">
          <p:sp>
            <p:nvSpPr>
              <p:cNvPr id="51" name="文本框 50"/>
              <p:cNvSpPr txBox="1">
                <a:spLocks noRot="1" noChangeAspect="1" noMove="1" noResize="1" noEditPoints="1" noAdjustHandles="1" noChangeArrowheads="1" noChangeShapeType="1" noTextEdit="1"/>
              </p:cNvSpPr>
              <p:nvPr/>
            </p:nvSpPr>
            <p:spPr>
              <a:xfrm>
                <a:off x="4539238" y="1693955"/>
                <a:ext cx="542029" cy="369332"/>
              </a:xfrm>
              <a:prstGeom prst="rect">
                <a:avLst/>
              </a:prstGeom>
              <a:blipFill rotWithShape="1">
                <a:blip r:embed="rId11"/>
                <a:stretch>
                  <a:fillRect l="-48" t="-111" r="117" b="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p:cNvSpPr txBox="1"/>
              <p:nvPr/>
            </p:nvSpPr>
            <p:spPr>
              <a:xfrm>
                <a:off x="6193689" y="1709721"/>
                <a:ext cx="55985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a:solidFill>
                                <a:schemeClr val="tx2"/>
                              </a:solidFill>
                              <a:latin typeface="Cambria Math" panose="02040503050406030204" pitchFamily="18" charset="0"/>
                            </a:rPr>
                          </m:ctrlPr>
                        </m:sSubPr>
                        <m:e>
                          <m:r>
                            <a:rPr lang="en-US" altLang="zh-CN" i="1">
                              <a:solidFill>
                                <a:schemeClr val="tx2"/>
                              </a:solidFill>
                              <a:latin typeface="Cambria Math" panose="02040503050406030204" pitchFamily="18" charset="0"/>
                            </a:rPr>
                            <m:t>𝑤</m:t>
                          </m:r>
                        </m:e>
                        <m:sub>
                          <m:r>
                            <a:rPr lang="en-US" altLang="zh-CN" i="1" smtClean="0">
                              <a:solidFill>
                                <a:schemeClr val="tx2"/>
                              </a:solidFill>
                              <a:latin typeface="Cambria Math" panose="02040503050406030204" pitchFamily="18" charset="0"/>
                            </a:rPr>
                            <m:t>3</m:t>
                          </m:r>
                        </m:sub>
                      </m:sSub>
                    </m:oMath>
                  </m:oMathPara>
                </a14:m>
                <a:endParaRPr lang="zh-CN" altLang="en-US" dirty="0"/>
              </a:p>
            </p:txBody>
          </p:sp>
        </mc:Choice>
        <mc:Fallback xmlns="">
          <p:sp>
            <p:nvSpPr>
              <p:cNvPr id="53" name="文本框 52"/>
              <p:cNvSpPr txBox="1">
                <a:spLocks noRot="1" noChangeAspect="1" noMove="1" noResize="1" noEditPoints="1" noAdjustHandles="1" noChangeArrowheads="1" noChangeShapeType="1" noTextEdit="1"/>
              </p:cNvSpPr>
              <p:nvPr/>
            </p:nvSpPr>
            <p:spPr>
              <a:xfrm>
                <a:off x="6193689" y="1709721"/>
                <a:ext cx="559856" cy="369332"/>
              </a:xfrm>
              <a:prstGeom prst="rect">
                <a:avLst/>
              </a:prstGeom>
              <a:blipFill rotWithShape="1">
                <a:blip r:embed="rId12"/>
                <a:stretch>
                  <a:fillRect l="-95" t="-81" r="57" b="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p:cNvSpPr txBox="1"/>
              <p:nvPr/>
            </p:nvSpPr>
            <p:spPr>
              <a:xfrm>
                <a:off x="7835665" y="1705846"/>
                <a:ext cx="53177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2"/>
                              </a:solidFill>
                              <a:latin typeface="Cambria Math" panose="02040503050406030204" pitchFamily="18" charset="0"/>
                            </a:rPr>
                          </m:ctrlPr>
                        </m:sSubPr>
                        <m:e>
                          <m:r>
                            <a:rPr lang="en-US" altLang="zh-CN" sz="1800" b="0" i="1" smtClean="0">
                              <a:solidFill>
                                <a:schemeClr val="tx2"/>
                              </a:solidFill>
                              <a:latin typeface="Cambria Math" panose="02040503050406030204" pitchFamily="18" charset="0"/>
                            </a:rPr>
                            <m:t>𝑤</m:t>
                          </m:r>
                        </m:e>
                        <m:sub>
                          <m:r>
                            <a:rPr lang="en-US" altLang="zh-CN" i="1">
                              <a:solidFill>
                                <a:schemeClr val="tx2"/>
                              </a:solidFill>
                              <a:latin typeface="Cambria Math" panose="02040503050406030204" pitchFamily="18" charset="0"/>
                            </a:rPr>
                            <m:t>4</m:t>
                          </m:r>
                        </m:sub>
                      </m:sSub>
                    </m:oMath>
                  </m:oMathPara>
                </a14:m>
                <a:endParaRPr lang="zh-CN" altLang="en-US" dirty="0"/>
              </a:p>
            </p:txBody>
          </p:sp>
        </mc:Choice>
        <mc:Fallback xmlns="">
          <p:sp>
            <p:nvSpPr>
              <p:cNvPr id="55" name="文本框 54"/>
              <p:cNvSpPr txBox="1">
                <a:spLocks noRot="1" noChangeAspect="1" noMove="1" noResize="1" noEditPoints="1" noAdjustHandles="1" noChangeArrowheads="1" noChangeShapeType="1" noTextEdit="1"/>
              </p:cNvSpPr>
              <p:nvPr/>
            </p:nvSpPr>
            <p:spPr>
              <a:xfrm>
                <a:off x="7835665" y="1705846"/>
                <a:ext cx="531779" cy="369332"/>
              </a:xfrm>
              <a:prstGeom prst="rect">
                <a:avLst/>
              </a:prstGeom>
              <a:blipFill rotWithShape="1">
                <a:blip r:embed="rId13"/>
                <a:stretch>
                  <a:fillRect l="-75" t="-64" r="9" b="171"/>
                </a:stretch>
              </a:blipFill>
            </p:spPr>
            <p:txBody>
              <a:bodyPr/>
              <a:lstStyle/>
              <a:p>
                <a:r>
                  <a:rPr lang="zh-CN" altLang="en-US">
                    <a:noFill/>
                  </a:rPr>
                  <a:t> </a:t>
                </a:r>
              </a:p>
            </p:txBody>
          </p:sp>
        </mc:Fallback>
      </mc:AlternateContent>
      <p:pic>
        <p:nvPicPr>
          <p:cNvPr id="64" name="图片 63"/>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488747" y="2676434"/>
            <a:ext cx="3142547" cy="2487611"/>
          </a:xfrm>
          <a:prstGeom prst="rect">
            <a:avLst/>
          </a:prstGeom>
        </p:spPr>
      </p:pic>
      <p:pic>
        <p:nvPicPr>
          <p:cNvPr id="66" name="图片 65"/>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560708" y="2623175"/>
            <a:ext cx="3262641" cy="25408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残差神经网络</a:t>
            </a:r>
            <a:endParaRPr lang="zh-CN" altLang="en-US" dirty="0"/>
          </a:p>
        </p:txBody>
      </p:sp>
      <mc:AlternateContent xmlns:mc="http://schemas.openxmlformats.org/markup-compatibility/2006" xmlns:a14="http://schemas.microsoft.com/office/drawing/2010/main">
        <mc:Choice Requires="a14">
          <p:sp>
            <p:nvSpPr>
              <p:cNvPr id="12" name="文本框 11"/>
              <p:cNvSpPr txBox="1"/>
              <p:nvPr/>
            </p:nvSpPr>
            <p:spPr>
              <a:xfrm>
                <a:off x="381242" y="844550"/>
                <a:ext cx="8133080" cy="2893356"/>
              </a:xfrm>
              <a:prstGeom prst="rect">
                <a:avLst/>
              </a:prstGeom>
              <a:noFill/>
            </p:spPr>
            <p:txBody>
              <a:bodyPr wrap="square" rtlCol="0">
                <a:spAutoFit/>
              </a:bodyPr>
              <a:lstStyle/>
              <a:p>
                <a:pPr indent="0" fontAlgn="auto">
                  <a:lnSpc>
                    <a:spcPct val="150000"/>
                  </a:lnSpc>
                  <a:buFont typeface="Arial" panose="020B0604020202020204" pitchFamily="34" charset="0"/>
                  <a:buNone/>
                </a:pPr>
                <a:r>
                  <a:rPr lang="zh-CN" altLang="en-US" sz="2400" dirty="0">
                    <a:solidFill>
                      <a:schemeClr val="tx2"/>
                    </a:solidFill>
                    <a:latin typeface="微软雅黑" panose="020B0503020204020204" pitchFamily="34" charset="-122"/>
                    <a:ea typeface="微软雅黑" panose="020B0503020204020204" pitchFamily="34" charset="-122"/>
                  </a:rPr>
                  <a:t>问题：随着网络层数的增加，训练深层网络越来越困难</a:t>
                </a:r>
              </a:p>
              <a:p>
                <a:pPr marL="742950" lvl="1" indent="-285750" fontAlgn="auto">
                  <a:lnSpc>
                    <a:spcPct val="150000"/>
                  </a:lnSpc>
                  <a:buFont typeface="Wingdings" panose="05000000000000000000" charset="0"/>
                  <a:buChar char="p"/>
                </a:pPr>
                <a:r>
                  <a:rPr lang="zh-CN" altLang="en-US" sz="2000" dirty="0">
                    <a:solidFill>
                      <a:schemeClr val="tx2"/>
                    </a:solidFill>
                    <a:latin typeface="微软雅黑" panose="020B0503020204020204" pitchFamily="34" charset="-122"/>
                    <a:ea typeface="微软雅黑" panose="020B0503020204020204" pitchFamily="34" charset="-122"/>
                  </a:rPr>
                  <a:t>梯度爆炸和梯度消失问题</a:t>
                </a:r>
              </a:p>
              <a:p>
                <a:pPr marL="742950" lvl="1" indent="-285750" fontAlgn="auto">
                  <a:lnSpc>
                    <a:spcPct val="150000"/>
                  </a:lnSpc>
                  <a:buFont typeface="Wingdings" panose="05000000000000000000" charset="0"/>
                  <a:buChar char="p"/>
                </a:pPr>
                <a:r>
                  <a:rPr lang="zh-CN" altLang="en-US" sz="2000" dirty="0">
                    <a:solidFill>
                      <a:schemeClr val="tx2"/>
                    </a:solidFill>
                    <a:latin typeface="微软雅黑" panose="020B0503020204020204" pitchFamily="34" charset="-122"/>
                    <a:ea typeface="微软雅黑" panose="020B0503020204020204" pitchFamily="34" charset="-122"/>
                  </a:rPr>
                  <a:t>退化问题：网络深度增加时，性能出现饱和甚至下降的现象</a:t>
                </a:r>
              </a:p>
              <a:p>
                <a:pPr marL="1200150" lvl="2" indent="-285750" fontAlgn="auto">
                  <a:lnSpc>
                    <a:spcPct val="150000"/>
                  </a:lnSpc>
                  <a:buFont typeface="Wingdings" panose="05000000000000000000" charset="0"/>
                  <a:buChar char="p"/>
                </a:pPr>
                <a:r>
                  <a:rPr lang="zh-CN" altLang="en-US" dirty="0">
                    <a:solidFill>
                      <a:schemeClr val="tx2"/>
                    </a:solidFill>
                    <a:latin typeface="微软雅黑" panose="020B0503020204020204" pitchFamily="34" charset="-122"/>
                    <a:ea typeface="微软雅黑" panose="020B0503020204020204" pitchFamily="34" charset="-122"/>
                  </a:rPr>
                  <a:t>额外增加的层可能并未学习到新的特征表示，而只是近似恒等映射</a:t>
                </a:r>
              </a:p>
              <a:p>
                <a:pPr marL="1200150" lvl="2" indent="-285750" fontAlgn="auto">
                  <a:lnSpc>
                    <a:spcPct val="150000"/>
                  </a:lnSpc>
                  <a:buFont typeface="Wingdings" panose="05000000000000000000" charset="0"/>
                  <a:buChar char="p"/>
                </a:pPr>
                <a:r>
                  <a:rPr lang="zh-CN" altLang="en-US" dirty="0">
                    <a:solidFill>
                      <a:schemeClr val="tx2"/>
                    </a:solidFill>
                    <a:latin typeface="微软雅黑" panose="020B0503020204020204" pitchFamily="34" charset="-122"/>
                    <a:ea typeface="微软雅黑" panose="020B0503020204020204" pitchFamily="34" charset="-122"/>
                  </a:rPr>
                  <a:t>网络越深,参数量越大,过拟合风险也随之增加，导致泛化性能下降</a:t>
                </a:r>
              </a:p>
              <a:p>
                <a:pPr lvl="0" indent="0" fontAlgn="auto">
                  <a:lnSpc>
                    <a:spcPct val="150000"/>
                  </a:lnSpc>
                  <a:buFont typeface="Wingdings" panose="05000000000000000000" charset="0"/>
                  <a:buNone/>
                </a:pPr>
                <a:r>
                  <a:rPr lang="zh-CN" altLang="en-US" sz="2400" dirty="0">
                    <a:solidFill>
                      <a:schemeClr val="tx2"/>
                    </a:solidFill>
                    <a:latin typeface="微软雅黑" panose="020B0503020204020204" pitchFamily="34" charset="-122"/>
                    <a:ea typeface="微软雅黑" panose="020B0503020204020204" pitchFamily="34" charset="-122"/>
                  </a:rPr>
                  <a:t>解决方案：加入残差连接：</a:t>
                </a:r>
                <a14:m>
                  <m:oMath xmlns:m="http://schemas.openxmlformats.org/officeDocument/2006/math">
                    <m:sSub>
                      <m:sSubPr>
                        <m:ctrlPr>
                          <a:rPr lang="en-US" altLang="zh-CN" sz="240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𝐹</m:t>
                        </m:r>
                      </m:e>
                      <m:sub>
                        <m:r>
                          <a:rPr lang="en-US" altLang="zh-CN" sz="2400" b="0" i="1" smtClean="0">
                            <a:solidFill>
                              <a:schemeClr val="tx2"/>
                            </a:solidFill>
                            <a:latin typeface="Cambria Math" panose="02040503050406030204" pitchFamily="18" charset="0"/>
                          </a:rPr>
                          <m:t>𝑙</m:t>
                        </m:r>
                        <m:r>
                          <a:rPr lang="en-US" altLang="zh-CN" sz="2400" b="0" i="1" smtClean="0">
                            <a:solidFill>
                              <a:schemeClr val="tx2"/>
                            </a:solidFill>
                            <a:latin typeface="Cambria Math" panose="02040503050406030204" pitchFamily="18" charset="0"/>
                          </a:rPr>
                          <m:t>+1</m:t>
                        </m:r>
                      </m:sub>
                    </m:sSub>
                    <m:r>
                      <a:rPr lang="en-US" altLang="zh-CN" sz="2400" b="0" i="1" smtClean="0">
                        <a:solidFill>
                          <a:schemeClr val="tx2"/>
                        </a:solidFill>
                        <a:latin typeface="Cambria Math" panose="02040503050406030204" pitchFamily="18" charset="0"/>
                      </a:rPr>
                      <m:t>=</m:t>
                    </m:r>
                    <m:r>
                      <a:rPr lang="zh-CN" altLang="en-US" sz="2400" b="0" i="1" smtClean="0">
                        <a:solidFill>
                          <a:schemeClr val="tx2"/>
                        </a:solidFill>
                        <a:latin typeface="Cambria Math" panose="02040503050406030204" pitchFamily="18" charset="0"/>
                      </a:rPr>
                      <m:t>𝜎</m:t>
                    </m:r>
                    <m:d>
                      <m:dPr>
                        <m:ctrlPr>
                          <a:rPr lang="en-US" altLang="zh-CN" sz="2400" b="0" i="1" smtClean="0">
                            <a:solidFill>
                              <a:schemeClr val="tx2"/>
                            </a:solidFill>
                            <a:latin typeface="Cambria Math" panose="02040503050406030204" pitchFamily="18" charset="0"/>
                          </a:rPr>
                        </m:ctrlPr>
                      </m:dPr>
                      <m:e>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𝑊</m:t>
                            </m:r>
                          </m:e>
                          <m:sub>
                            <m:r>
                              <a:rPr lang="en-US" altLang="zh-CN" sz="2400" b="0" i="1" smtClean="0">
                                <a:solidFill>
                                  <a:schemeClr val="tx2"/>
                                </a:solidFill>
                                <a:latin typeface="Cambria Math" panose="02040503050406030204" pitchFamily="18" charset="0"/>
                              </a:rPr>
                              <m:t>𝑙</m:t>
                            </m:r>
                          </m:sub>
                        </m:sSub>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𝐹</m:t>
                            </m:r>
                          </m:e>
                          <m:sub>
                            <m:r>
                              <a:rPr lang="en-US" altLang="zh-CN" sz="2400" b="0" i="1" smtClean="0">
                                <a:solidFill>
                                  <a:schemeClr val="tx2"/>
                                </a:solidFill>
                                <a:latin typeface="Cambria Math" panose="02040503050406030204" pitchFamily="18" charset="0"/>
                              </a:rPr>
                              <m:t>𝑙</m:t>
                            </m:r>
                          </m:sub>
                        </m:sSub>
                        <m:r>
                          <a:rPr lang="en-US" altLang="zh-CN" sz="2400" b="0" i="1" smtClean="0">
                            <a:solidFill>
                              <a:schemeClr val="tx2"/>
                            </a:solidFill>
                            <a:latin typeface="Cambria Math" panose="02040503050406030204" pitchFamily="18" charset="0"/>
                          </a:rPr>
                          <m:t>+</m:t>
                        </m:r>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𝑏</m:t>
                            </m:r>
                          </m:e>
                          <m:sub>
                            <m:r>
                              <a:rPr lang="en-US" altLang="zh-CN" sz="2400" b="0" i="1" smtClean="0">
                                <a:solidFill>
                                  <a:schemeClr val="tx2"/>
                                </a:solidFill>
                                <a:latin typeface="Cambria Math" panose="02040503050406030204" pitchFamily="18" charset="0"/>
                              </a:rPr>
                              <m:t>𝑙</m:t>
                            </m:r>
                          </m:sub>
                        </m:sSub>
                      </m:e>
                    </m:d>
                    <m:r>
                      <a:rPr lang="en-US" altLang="zh-CN" sz="2400" b="0" i="1" smtClean="0">
                        <a:solidFill>
                          <a:schemeClr val="tx2"/>
                        </a:solidFill>
                        <a:latin typeface="Cambria Math" panose="02040503050406030204" pitchFamily="18" charset="0"/>
                      </a:rPr>
                      <m:t>+</m:t>
                    </m:r>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𝐹</m:t>
                        </m:r>
                      </m:e>
                      <m:sub>
                        <m:r>
                          <a:rPr lang="en-US" altLang="zh-CN" sz="2400" b="0" i="1" smtClean="0">
                            <a:solidFill>
                              <a:schemeClr val="tx2"/>
                            </a:solidFill>
                            <a:latin typeface="Cambria Math" panose="02040503050406030204" pitchFamily="18" charset="0"/>
                          </a:rPr>
                          <m:t>𝑙</m:t>
                        </m:r>
                      </m:sub>
                    </m:sSub>
                  </m:oMath>
                </a14:m>
                <a:endParaRPr lang="zh-CN" altLang="en-US" sz="2400" dirty="0">
                  <a:solidFill>
                    <a:schemeClr val="tx2"/>
                  </a:solidFill>
                  <a:latin typeface="微软雅黑" panose="020B0503020204020204" pitchFamily="34" charset="-122"/>
                  <a:ea typeface="微软雅黑" panose="020B0503020204020204" pitchFamily="34"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381242" y="844550"/>
                <a:ext cx="8133080" cy="2893356"/>
              </a:xfrm>
              <a:prstGeom prst="rect">
                <a:avLst/>
              </a:prstGeom>
              <a:blipFill rotWithShape="1">
                <a:blip r:embed="rId4"/>
                <a:stretch>
                  <a:fillRect l="-3" r="3" b="10"/>
                </a:stretch>
              </a:blipFill>
            </p:spPr>
            <p:txBody>
              <a:bodyPr/>
              <a:lstStyle/>
              <a:p>
                <a:r>
                  <a:rPr lang="zh-CN" altLang="en-US">
                    <a:noFill/>
                  </a:rPr>
                  <a:t> </a:t>
                </a:r>
              </a:p>
            </p:txBody>
          </p:sp>
        </mc:Fallback>
      </mc:AlternateContent>
      <p:pic>
        <p:nvPicPr>
          <p:cNvPr id="13" name="图片 12"/>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747395" y="3820477"/>
            <a:ext cx="5861685" cy="2053590"/>
          </a:xfrm>
          <a:prstGeom prst="rect">
            <a:avLst/>
          </a:prstGeom>
        </p:spPr>
      </p:pic>
      <p:pic>
        <p:nvPicPr>
          <p:cNvPr id="4" name="图片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55342" y="3742055"/>
            <a:ext cx="3989263" cy="2132012"/>
          </a:xfrm>
          <a:prstGeom prst="rect">
            <a:avLst/>
          </a:prstGeom>
        </p:spPr>
      </p:pic>
      <p:sp>
        <p:nvSpPr>
          <p:cNvPr id="8" name="文本框 7"/>
          <p:cNvSpPr txBox="1"/>
          <p:nvPr/>
        </p:nvSpPr>
        <p:spPr>
          <a:xfrm>
            <a:off x="126998" y="6351998"/>
            <a:ext cx="10665179" cy="377283"/>
          </a:xfrm>
          <a:prstGeom prst="rect">
            <a:avLst/>
          </a:prstGeom>
          <a:noFill/>
        </p:spPr>
        <p:txBody>
          <a:bodyPr wrap="square" rtlCol="0">
            <a:spAutoFit/>
          </a:bodyPr>
          <a:lstStyle/>
          <a:p>
            <a:pPr algn="l">
              <a:lnSpc>
                <a:spcPct val="150000"/>
              </a:lnSpc>
            </a:pP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[1] He, </a:t>
            </a:r>
            <a:r>
              <a:rPr lang="en-US" altLang="zh-CN" sz="1400" b="0" i="0" dirty="0" err="1">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Kaiming</a:t>
            </a: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 et al. "Deep Residual Learning for Image Recognition." IEEE (2016).</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退化问题</a:t>
            </a:r>
            <a:endParaRPr lang="zh-CN" altLang="en-US" dirty="0"/>
          </a:p>
        </p:txBody>
      </p:sp>
      <p:sp>
        <p:nvSpPr>
          <p:cNvPr id="5" name="文本框 4"/>
          <p:cNvSpPr txBox="1"/>
          <p:nvPr/>
        </p:nvSpPr>
        <p:spPr>
          <a:xfrm>
            <a:off x="126998" y="6351998"/>
            <a:ext cx="10665179" cy="377283"/>
          </a:xfrm>
          <a:prstGeom prst="rect">
            <a:avLst/>
          </a:prstGeom>
          <a:noFill/>
        </p:spPr>
        <p:txBody>
          <a:bodyPr wrap="square" rtlCol="0">
            <a:spAutoFit/>
          </a:bodyPr>
          <a:lstStyle/>
          <a:p>
            <a:pPr algn="l">
              <a:lnSpc>
                <a:spcPct val="150000"/>
              </a:lnSpc>
            </a:pP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[1] He, </a:t>
            </a:r>
            <a:r>
              <a:rPr lang="en-US" altLang="zh-CN" sz="1400" b="0" i="0" dirty="0" err="1">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Kaiming</a:t>
            </a: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 et al. "Deep Residual Learning for Image Recognition." IEEE (2016).</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图片 9">
            <a:extLst>
              <a:ext uri="{FF2B5EF4-FFF2-40B4-BE49-F238E27FC236}">
                <a16:creationId xmlns:a16="http://schemas.microsoft.com/office/drawing/2014/main" id="{28E1B34B-46D8-437D-FA23-B63DEE7998FD}"/>
              </a:ext>
            </a:extLst>
          </p:cNvPr>
          <p:cNvPicPr>
            <a:picLocks noChangeAspect="1"/>
          </p:cNvPicPr>
          <p:nvPr/>
        </p:nvPicPr>
        <p:blipFill rotWithShape="1">
          <a:blip r:embed="rId2">
            <a:extLst>
              <a:ext uri="{28A0092B-C50C-407E-A947-70E740481C1C}">
                <a14:useLocalDpi xmlns:a14="http://schemas.microsoft.com/office/drawing/2010/main" val="0"/>
              </a:ext>
            </a:extLst>
          </a:blip>
          <a:srcRect l="7572" r="10143" b="24285"/>
          <a:stretch/>
        </p:blipFill>
        <p:spPr>
          <a:xfrm>
            <a:off x="1923914" y="2188589"/>
            <a:ext cx="7524206" cy="2480821"/>
          </a:xfrm>
          <a:prstGeom prst="rect">
            <a:avLst/>
          </a:prstGeom>
        </p:spPr>
      </p:pic>
      <p:sp>
        <p:nvSpPr>
          <p:cNvPr id="11" name="文本框 10">
            <a:extLst>
              <a:ext uri="{FF2B5EF4-FFF2-40B4-BE49-F238E27FC236}">
                <a16:creationId xmlns:a16="http://schemas.microsoft.com/office/drawing/2014/main" id="{859EB2F5-F1AB-99F4-213B-55F4F19EA587}"/>
              </a:ext>
            </a:extLst>
          </p:cNvPr>
          <p:cNvSpPr txBox="1"/>
          <p:nvPr/>
        </p:nvSpPr>
        <p:spPr>
          <a:xfrm>
            <a:off x="1803431" y="1087794"/>
            <a:ext cx="1415772" cy="461665"/>
          </a:xfrm>
          <a:prstGeom prst="rect">
            <a:avLst/>
          </a:prstGeom>
          <a:noFill/>
        </p:spPr>
        <p:txBody>
          <a:bodyPr wrap="none" rtlCol="0">
            <a:spAutoFit/>
          </a:bodyPr>
          <a:lstStyle/>
          <a:p>
            <a:r>
              <a:rPr lang="zh-CN" altLang="en-US" sz="2400" b="1" dirty="0">
                <a:solidFill>
                  <a:srgbClr val="000000"/>
                </a:solidFill>
                <a:latin typeface="等线 Light"/>
                <a:ea typeface="等线"/>
              </a:rPr>
              <a:t>实验结果</a:t>
            </a:r>
          </a:p>
        </p:txBody>
      </p:sp>
      <p:sp>
        <p:nvSpPr>
          <p:cNvPr id="12" name="矩形 11">
            <a:extLst>
              <a:ext uri="{FF2B5EF4-FFF2-40B4-BE49-F238E27FC236}">
                <a16:creationId xmlns:a16="http://schemas.microsoft.com/office/drawing/2014/main" id="{5A6999BC-C51F-33BE-EB2D-493D1ABCC7DD}"/>
              </a:ext>
            </a:extLst>
          </p:cNvPr>
          <p:cNvSpPr/>
          <p:nvPr/>
        </p:nvSpPr>
        <p:spPr>
          <a:xfrm>
            <a:off x="1735302" y="4800708"/>
            <a:ext cx="8454586" cy="1015663"/>
          </a:xfrm>
          <a:prstGeom prst="rect">
            <a:avLst/>
          </a:prstGeom>
        </p:spPr>
        <p:txBody>
          <a:bodyPr wrap="square">
            <a:spAutoFit/>
          </a:bodyPr>
          <a:lstStyle/>
          <a:p>
            <a:pPr algn="ctr"/>
            <a:r>
              <a:rPr lang="zh-CN" altLang="en-US" sz="2000" dirty="0">
                <a:solidFill>
                  <a:srgbClr val="000000"/>
                </a:solidFill>
                <a:latin typeface="等线"/>
                <a:ea typeface="等线"/>
              </a:rPr>
              <a:t>细曲线表示训练误差，粗曲线表示测试误差。</a:t>
            </a:r>
            <a:endParaRPr lang="en-US" altLang="zh-CN" sz="2000" dirty="0">
              <a:solidFill>
                <a:srgbClr val="000000"/>
              </a:solidFill>
              <a:latin typeface="等线"/>
              <a:ea typeface="等线"/>
            </a:endParaRPr>
          </a:p>
          <a:p>
            <a:pPr algn="ctr"/>
            <a:r>
              <a:rPr lang="zh-CN" altLang="en-US" sz="2000" dirty="0">
                <a:solidFill>
                  <a:srgbClr val="000000"/>
                </a:solidFill>
                <a:latin typeface="等线"/>
                <a:ea typeface="等线"/>
              </a:rPr>
              <a:t>左：</a:t>
            </a:r>
            <a:r>
              <a:rPr lang="en-US" altLang="zh-CN" sz="2000" dirty="0">
                <a:solidFill>
                  <a:srgbClr val="000000"/>
                </a:solidFill>
                <a:latin typeface="等线"/>
                <a:ea typeface="等线"/>
              </a:rPr>
              <a:t>18</a:t>
            </a:r>
            <a:r>
              <a:rPr lang="zh-CN" altLang="en-US" sz="2000" dirty="0">
                <a:solidFill>
                  <a:srgbClr val="000000"/>
                </a:solidFill>
                <a:latin typeface="等线"/>
                <a:ea typeface="等线"/>
              </a:rPr>
              <a:t>层和</a:t>
            </a:r>
            <a:r>
              <a:rPr lang="en-US" altLang="zh-CN" sz="2000" dirty="0">
                <a:solidFill>
                  <a:srgbClr val="000000"/>
                </a:solidFill>
                <a:latin typeface="等线"/>
                <a:ea typeface="等线"/>
              </a:rPr>
              <a:t>34</a:t>
            </a:r>
            <a:r>
              <a:rPr lang="zh-CN" altLang="en-US" sz="2000" dirty="0">
                <a:solidFill>
                  <a:srgbClr val="000000"/>
                </a:solidFill>
                <a:latin typeface="等线"/>
                <a:ea typeface="等线"/>
              </a:rPr>
              <a:t>层的普通网络</a:t>
            </a:r>
            <a:r>
              <a:rPr lang="en-US" altLang="zh-CN" sz="2000" dirty="0">
                <a:solidFill>
                  <a:srgbClr val="000000"/>
                </a:solidFill>
                <a:latin typeface="等线"/>
                <a:ea typeface="等线"/>
              </a:rPr>
              <a:t>(plain)</a:t>
            </a:r>
            <a:r>
              <a:rPr lang="zh-CN" altLang="en-US" sz="2000" dirty="0">
                <a:solidFill>
                  <a:srgbClr val="000000"/>
                </a:solidFill>
                <a:latin typeface="等线"/>
                <a:ea typeface="等线"/>
              </a:rPr>
              <a:t>。右：</a:t>
            </a:r>
            <a:r>
              <a:rPr lang="en-US" altLang="zh-CN" sz="2000" dirty="0">
                <a:solidFill>
                  <a:srgbClr val="000000"/>
                </a:solidFill>
                <a:latin typeface="等线"/>
                <a:ea typeface="等线"/>
              </a:rPr>
              <a:t>18</a:t>
            </a:r>
            <a:r>
              <a:rPr lang="zh-CN" altLang="en-US" sz="2000" dirty="0">
                <a:solidFill>
                  <a:srgbClr val="000000"/>
                </a:solidFill>
                <a:latin typeface="等线"/>
                <a:ea typeface="等线"/>
              </a:rPr>
              <a:t>层和</a:t>
            </a:r>
            <a:r>
              <a:rPr lang="en-US" altLang="zh-CN" sz="2000" dirty="0">
                <a:solidFill>
                  <a:srgbClr val="000000"/>
                </a:solidFill>
                <a:latin typeface="等线"/>
                <a:ea typeface="等线"/>
              </a:rPr>
              <a:t>34</a:t>
            </a:r>
            <a:r>
              <a:rPr lang="zh-CN" altLang="en-US" sz="2000" dirty="0">
                <a:solidFill>
                  <a:srgbClr val="000000"/>
                </a:solidFill>
                <a:latin typeface="等线"/>
                <a:ea typeface="等线"/>
              </a:rPr>
              <a:t>层残差网络</a:t>
            </a:r>
            <a:r>
              <a:rPr lang="en-US" altLang="zh-CN" sz="2000" dirty="0">
                <a:solidFill>
                  <a:srgbClr val="000000"/>
                </a:solidFill>
                <a:latin typeface="等线"/>
                <a:ea typeface="等线"/>
              </a:rPr>
              <a:t>(</a:t>
            </a:r>
            <a:r>
              <a:rPr lang="en-US" altLang="zh-CN" sz="2000" dirty="0" err="1">
                <a:solidFill>
                  <a:srgbClr val="000000"/>
                </a:solidFill>
                <a:latin typeface="等线"/>
                <a:ea typeface="等线"/>
              </a:rPr>
              <a:t>ResNet</a:t>
            </a:r>
            <a:r>
              <a:rPr lang="en-US" altLang="zh-CN" sz="2000" dirty="0">
                <a:solidFill>
                  <a:srgbClr val="000000"/>
                </a:solidFill>
                <a:latin typeface="等线"/>
                <a:ea typeface="等线"/>
              </a:rPr>
              <a:t>)</a:t>
            </a:r>
            <a:r>
              <a:rPr lang="zh-CN" altLang="en-US" sz="2000" dirty="0">
                <a:solidFill>
                  <a:srgbClr val="000000"/>
                </a:solidFill>
                <a:latin typeface="等线"/>
                <a:ea typeface="等线"/>
              </a:rPr>
              <a:t>。</a:t>
            </a:r>
            <a:endParaRPr lang="en-US" altLang="zh-CN" sz="2000" dirty="0">
              <a:solidFill>
                <a:srgbClr val="000000"/>
              </a:solidFill>
              <a:latin typeface="等线"/>
              <a:ea typeface="等线"/>
            </a:endParaRPr>
          </a:p>
          <a:p>
            <a:pPr algn="ctr"/>
            <a:r>
              <a:rPr lang="zh-CN" altLang="en-US" sz="2000" dirty="0">
                <a:solidFill>
                  <a:srgbClr val="000000"/>
                </a:solidFill>
                <a:latin typeface="等线"/>
                <a:ea typeface="等线"/>
              </a:rPr>
              <a:t>上面两张图中与普通网络相比，残差网络没有增加额外的参数。</a:t>
            </a:r>
          </a:p>
        </p:txBody>
      </p:sp>
      <p:pic>
        <p:nvPicPr>
          <p:cNvPr id="13" name="图片 12">
            <a:extLst>
              <a:ext uri="{FF2B5EF4-FFF2-40B4-BE49-F238E27FC236}">
                <a16:creationId xmlns:a16="http://schemas.microsoft.com/office/drawing/2014/main" id="{1795EF5D-CCF4-5160-B622-45A8AFC88B68}"/>
              </a:ext>
            </a:extLst>
          </p:cNvPr>
          <p:cNvPicPr>
            <a:picLocks noChangeAspect="1"/>
          </p:cNvPicPr>
          <p:nvPr/>
        </p:nvPicPr>
        <p:blipFill rotWithShape="1">
          <a:blip r:embed="rId3">
            <a:extLst>
              <a:ext uri="{28A0092B-C50C-407E-A947-70E740481C1C}">
                <a14:useLocalDpi xmlns:a14="http://schemas.microsoft.com/office/drawing/2010/main" val="0"/>
              </a:ext>
            </a:extLst>
          </a:blip>
          <a:srcRect l="17501" t="7178" r="19398" b="45495"/>
          <a:stretch/>
        </p:blipFill>
        <p:spPr>
          <a:xfrm>
            <a:off x="3664766" y="1256604"/>
            <a:ext cx="3396344" cy="1018903"/>
          </a:xfrm>
          <a:prstGeom prst="rect">
            <a:avLst/>
          </a:prstGeom>
        </p:spPr>
      </p:pic>
      <p:sp>
        <p:nvSpPr>
          <p:cNvPr id="14" name="文本框 13">
            <a:extLst>
              <a:ext uri="{FF2B5EF4-FFF2-40B4-BE49-F238E27FC236}">
                <a16:creationId xmlns:a16="http://schemas.microsoft.com/office/drawing/2014/main" id="{BBB4DC52-555C-0892-462E-F489D0450B98}"/>
              </a:ext>
            </a:extLst>
          </p:cNvPr>
          <p:cNvSpPr txBox="1"/>
          <p:nvPr/>
        </p:nvSpPr>
        <p:spPr>
          <a:xfrm>
            <a:off x="4733107" y="990678"/>
            <a:ext cx="1585690" cy="369332"/>
          </a:xfrm>
          <a:prstGeom prst="rect">
            <a:avLst/>
          </a:prstGeom>
          <a:noFill/>
        </p:spPr>
        <p:txBody>
          <a:bodyPr wrap="none" rtlCol="0">
            <a:spAutoFit/>
          </a:bodyPr>
          <a:lstStyle/>
          <a:p>
            <a:r>
              <a:rPr lang="zh-CN" altLang="en-US" dirty="0">
                <a:solidFill>
                  <a:srgbClr val="000000"/>
                </a:solidFill>
                <a:latin typeface="等线 Light"/>
                <a:ea typeface="等线"/>
              </a:rPr>
              <a:t>测试集误差</a:t>
            </a:r>
            <a:r>
              <a:rPr lang="en-US" altLang="zh-CN" dirty="0">
                <a:solidFill>
                  <a:srgbClr val="000000"/>
                </a:solidFill>
                <a:latin typeface="等线 Light"/>
                <a:ea typeface="等线"/>
              </a:rPr>
              <a:t>(%)</a:t>
            </a:r>
            <a:endParaRPr lang="zh-CN" altLang="en-US" dirty="0">
              <a:solidFill>
                <a:srgbClr val="000000"/>
              </a:solidFill>
              <a:latin typeface="等线 Light"/>
              <a:ea typeface="等线"/>
            </a:endParaRPr>
          </a:p>
        </p:txBody>
      </p:sp>
    </p:spTree>
    <p:extLst>
      <p:ext uri="{BB962C8B-B14F-4D97-AF65-F5344CB8AC3E}">
        <p14:creationId xmlns:p14="http://schemas.microsoft.com/office/powerpoint/2010/main" val="3151077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stretch>
            <a:fillRect/>
          </a:stretch>
        </p:blipFill>
        <p:spPr>
          <a:xfrm>
            <a:off x="3130827" y="5550774"/>
            <a:ext cx="5930343" cy="763985"/>
          </a:xfrm>
          <a:prstGeom prst="rect">
            <a:avLst/>
          </a:prstGeom>
        </p:spPr>
      </p:pic>
      <p:sp>
        <p:nvSpPr>
          <p:cNvPr id="3" name="标题 2"/>
          <p:cNvSpPr>
            <a:spLocks noGrp="1"/>
          </p:cNvSpPr>
          <p:nvPr>
            <p:ph type="title"/>
          </p:nvPr>
        </p:nvSpPr>
        <p:spPr/>
        <p:txBody>
          <a:bodyPr/>
          <a:lstStyle/>
          <a:p>
            <a:r>
              <a:rPr lang="zh-CN" altLang="en-US" dirty="0"/>
              <a:t>复习：损失函数</a:t>
            </a:r>
          </a:p>
        </p:txBody>
      </p:sp>
      <mc:AlternateContent xmlns:mc="http://schemas.openxmlformats.org/markup-compatibility/2006" xmlns:a14="http://schemas.microsoft.com/office/drawing/2010/main">
        <mc:Choice Requires="a14">
          <p:sp>
            <p:nvSpPr>
              <p:cNvPr id="10" name="文本框 9"/>
              <p:cNvSpPr txBox="1"/>
              <p:nvPr/>
            </p:nvSpPr>
            <p:spPr>
              <a:xfrm>
                <a:off x="677770" y="892773"/>
                <a:ext cx="11132988" cy="472052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我们希望从这个函数空间中找到一个最佳函数来逼近这组数据背后的目标函数。为了实现这一点，我们通常会定义一个</a:t>
                </a:r>
                <a:r>
                  <a:rPr kumimoji="0" lang="zh-CN" altLang="en-US" sz="20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损失函数</a:t>
                </a:r>
                <a14:m>
                  <m:oMath xmlns:m="http://schemas.openxmlformats.org/officeDocument/2006/math">
                    <m:r>
                      <m:rPr>
                        <m:sty m:val="p"/>
                      </m:rPr>
                      <a:rPr kumimoji="0" lang="en-US" altLang="zh-CN" sz="2000" b="1"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R</m:t>
                    </m:r>
                    <m:d>
                      <m:dPr>
                        <m:ctrlP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e>
                    </m:d>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𝑙</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sub>
                    </m:s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up>
                    </m:s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来衡量模型</a:t>
                </a:r>
                <a14:m>
                  <m:oMath xmlns:m="http://schemas.openxmlformats.org/officeDocument/2006/math">
                    <m:sSub>
                      <m:sSub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𝜃</m:t>
                        </m:r>
                      </m:sub>
                    </m:sSub>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与目标函数</a:t>
                </a:r>
                <a14:m>
                  <m:oMath xmlns:m="http://schemas.openxmlformats.org/officeDocument/2006/math">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sup>
                    </m:sSup>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之间的差距。</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000" dirty="0">
                    <a:solidFill>
                      <a:srgbClr val="070707"/>
                    </a:solidFill>
                    <a:ea typeface="微软雅黑" panose="020B0503020204020204" pitchFamily="34" charset="-122"/>
                  </a:rPr>
                  <a:t>在数据集</a:t>
                </a:r>
                <a14:m>
                  <m:oMath xmlns:m="http://schemas.openxmlformats.org/officeDocument/2006/math">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d>
                          <m:dPr>
                            <m:begChr m:val="{"/>
                            <m:end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d>
                              <m:d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Sub>
                              </m:e>
                            </m:d>
                          </m:e>
                        </m:d>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sup>
                    </m:sSubSup>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上定义常见的损失函数：</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均方误差</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 Mean Squared Error, MSE </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133984"/>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133984"/>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绝对误差</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Mean Absolute Error</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MAE</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交叉熵</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cross-entropy</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），常用于分类任务：</a:t>
                </a:r>
                <a:endPar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677770" y="892773"/>
                <a:ext cx="11132988" cy="4720523"/>
              </a:xfrm>
              <a:prstGeom prst="rect">
                <a:avLst/>
              </a:prstGeom>
              <a:blipFill>
                <a:blip r:embed="rId5"/>
                <a:stretch>
                  <a:fillRect l="-548" r="-548"/>
                </a:stretch>
              </a:blipFill>
            </p:spPr>
            <p:txBody>
              <a:bodyPr/>
              <a:lstStyle/>
              <a:p>
                <a:r>
                  <a:rPr lang="zh-CN" altLang="en-US">
                    <a:noFill/>
                  </a:rPr>
                  <a:t> </a:t>
                </a:r>
              </a:p>
            </p:txBody>
          </p:sp>
        </mc:Fallback>
      </mc:AlternateContent>
      <p:pic>
        <p:nvPicPr>
          <p:cNvPr id="7" name="图片 6"/>
          <p:cNvPicPr>
            <a:picLocks noChangeAspect="1"/>
          </p:cNvPicPr>
          <p:nvPr/>
        </p:nvPicPr>
        <p:blipFill>
          <a:blip r:embed="rId6"/>
          <a:stretch>
            <a:fillRect/>
          </a:stretch>
        </p:blipFill>
        <p:spPr>
          <a:xfrm>
            <a:off x="4304889" y="2808908"/>
            <a:ext cx="3582216" cy="812870"/>
          </a:xfrm>
          <a:prstGeom prst="rect">
            <a:avLst/>
          </a:prstGeom>
        </p:spPr>
      </p:pic>
      <p:pic>
        <p:nvPicPr>
          <p:cNvPr id="9" name="图片 8"/>
          <p:cNvPicPr>
            <a:picLocks noChangeAspect="1"/>
          </p:cNvPicPr>
          <p:nvPr/>
        </p:nvPicPr>
        <p:blipFill>
          <a:blip r:embed="rId7"/>
          <a:stretch>
            <a:fillRect/>
          </a:stretch>
        </p:blipFill>
        <p:spPr>
          <a:xfrm>
            <a:off x="4177314" y="4229030"/>
            <a:ext cx="3837367" cy="81287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82E3A-9C5E-D75B-4988-CA559429FB78}"/>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3D9FA70C-27E8-C284-3356-E518B2EC2AB3}"/>
              </a:ext>
            </a:extLst>
          </p:cNvPr>
          <p:cNvPicPr>
            <a:picLocks noChangeAspect="1"/>
          </p:cNvPicPr>
          <p:nvPr/>
        </p:nvPicPr>
        <p:blipFill>
          <a:blip r:embed="rId2"/>
          <a:stretch>
            <a:fillRect/>
          </a:stretch>
        </p:blipFill>
        <p:spPr>
          <a:xfrm>
            <a:off x="3405993" y="1299263"/>
            <a:ext cx="5930343" cy="763985"/>
          </a:xfrm>
          <a:prstGeom prst="rect">
            <a:avLst/>
          </a:prstGeom>
        </p:spPr>
      </p:pic>
      <p:sp>
        <p:nvSpPr>
          <p:cNvPr id="3" name="标题 2">
            <a:extLst>
              <a:ext uri="{FF2B5EF4-FFF2-40B4-BE49-F238E27FC236}">
                <a16:creationId xmlns:a16="http://schemas.microsoft.com/office/drawing/2014/main" id="{927CA340-4F48-A90F-4E34-021BF11F05C7}"/>
              </a:ext>
            </a:extLst>
          </p:cNvPr>
          <p:cNvSpPr>
            <a:spLocks noGrp="1"/>
          </p:cNvSpPr>
          <p:nvPr>
            <p:ph type="title"/>
          </p:nvPr>
        </p:nvSpPr>
        <p:spPr/>
        <p:txBody>
          <a:bodyPr/>
          <a:lstStyle/>
          <a:p>
            <a:r>
              <a:rPr lang="zh-CN" altLang="en-US" dirty="0"/>
              <a:t>复习：损失函数</a:t>
            </a:r>
          </a:p>
        </p:txBody>
      </p:sp>
      <p:sp>
        <p:nvSpPr>
          <p:cNvPr id="10" name="文本框 9">
            <a:extLst>
              <a:ext uri="{FF2B5EF4-FFF2-40B4-BE49-F238E27FC236}">
                <a16:creationId xmlns:a16="http://schemas.microsoft.com/office/drawing/2014/main" id="{E8900FAA-D382-25C0-07F1-8BF851592F50}"/>
              </a:ext>
            </a:extLst>
          </p:cNvPr>
          <p:cNvSpPr txBox="1"/>
          <p:nvPr/>
        </p:nvSpPr>
        <p:spPr>
          <a:xfrm>
            <a:off x="677770" y="892773"/>
            <a:ext cx="11132988" cy="49962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交叉熵</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cross-entropy</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），常用于分类任务：</a:t>
            </a:r>
            <a:endPar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p:pic>
        <p:nvPicPr>
          <p:cNvPr id="5" name="图片 4">
            <a:extLst>
              <a:ext uri="{FF2B5EF4-FFF2-40B4-BE49-F238E27FC236}">
                <a16:creationId xmlns:a16="http://schemas.microsoft.com/office/drawing/2014/main" id="{0537E56E-4172-8F68-7EE0-6CF290A54A4A}"/>
              </a:ext>
            </a:extLst>
          </p:cNvPr>
          <p:cNvPicPr>
            <a:picLocks noChangeAspect="1"/>
          </p:cNvPicPr>
          <p:nvPr/>
        </p:nvPicPr>
        <p:blipFill>
          <a:blip r:embed="rId3"/>
          <a:stretch>
            <a:fillRect/>
          </a:stretch>
        </p:blipFill>
        <p:spPr>
          <a:xfrm>
            <a:off x="2059513" y="2156382"/>
            <a:ext cx="8278287" cy="4139144"/>
          </a:xfrm>
          <a:prstGeom prst="rect">
            <a:avLst/>
          </a:prstGeom>
        </p:spPr>
      </p:pic>
    </p:spTree>
    <p:extLst>
      <p:ext uri="{BB962C8B-B14F-4D97-AF65-F5344CB8AC3E}">
        <p14:creationId xmlns:p14="http://schemas.microsoft.com/office/powerpoint/2010/main" val="777474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07119-BAAF-7B38-52C1-3BEEE45BD78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D606EFA-41DC-8057-BC81-65C72FF1EB6F}"/>
              </a:ext>
            </a:extLst>
          </p:cNvPr>
          <p:cNvSpPr>
            <a:spLocks noGrp="1"/>
          </p:cNvSpPr>
          <p:nvPr>
            <p:ph type="title"/>
          </p:nvPr>
        </p:nvSpPr>
        <p:spPr/>
        <p:txBody>
          <a:bodyPr/>
          <a:lstStyle/>
          <a:p>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参数的初始化</a:t>
            </a:r>
            <a:endParaRPr lang="zh-CN" altLang="en-US" dirty="0"/>
          </a:p>
        </p:txBody>
      </p:sp>
      <p:pic>
        <p:nvPicPr>
          <p:cNvPr id="2" name="图片 1">
            <a:extLst>
              <a:ext uri="{FF2B5EF4-FFF2-40B4-BE49-F238E27FC236}">
                <a16:creationId xmlns:a16="http://schemas.microsoft.com/office/drawing/2014/main" id="{515991EC-0F0D-89B6-769B-CD174BED47F6}"/>
              </a:ext>
            </a:extLst>
          </p:cNvPr>
          <p:cNvPicPr>
            <a:picLocks noChangeAspect="1"/>
          </p:cNvPicPr>
          <p:nvPr/>
        </p:nvPicPr>
        <p:blipFill>
          <a:blip r:embed="rId3"/>
          <a:srcRect t="50642" r="50950" b="6088"/>
          <a:stretch>
            <a:fillRect/>
          </a:stretch>
        </p:blipFill>
        <p:spPr>
          <a:xfrm>
            <a:off x="2824113" y="1428692"/>
            <a:ext cx="7037049" cy="3570875"/>
          </a:xfrm>
          <a:prstGeom prst="rect">
            <a:avLst/>
          </a:prstGeom>
        </p:spPr>
      </p:pic>
    </p:spTree>
    <p:custDataLst>
      <p:tags r:id="rId1"/>
    </p:custDataLst>
    <p:extLst>
      <p:ext uri="{BB962C8B-B14F-4D97-AF65-F5344CB8AC3E}">
        <p14:creationId xmlns:p14="http://schemas.microsoft.com/office/powerpoint/2010/main" val="30801432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14020" y="880110"/>
            <a:ext cx="10202545" cy="583565"/>
          </a:xfrm>
          <a:prstGeom prst="rect">
            <a:avLst/>
          </a:prstGeom>
          <a:noFill/>
        </p:spPr>
        <p:txBody>
          <a:bodyPr wrap="square" rtlCol="0">
            <a:spAutoFit/>
          </a:bodyPr>
          <a:lstStyle/>
          <a:p>
            <a:r>
              <a:rPr lang="en-US" altLang="zh-CN" sz="3200"/>
              <a:t>Lecun Initializatioin</a:t>
            </a:r>
          </a:p>
        </p:txBody>
      </p:sp>
      <p:sp>
        <p:nvSpPr>
          <p:cNvPr id="7" name="文本框 6"/>
          <p:cNvSpPr txBox="1"/>
          <p:nvPr>
            <p:custDataLst>
              <p:tags r:id="rId2"/>
            </p:custDataLst>
          </p:nvPr>
        </p:nvSpPr>
        <p:spPr>
          <a:xfrm>
            <a:off x="465667" y="2201311"/>
            <a:ext cx="7187565" cy="583565"/>
          </a:xfrm>
          <a:prstGeom prst="rect">
            <a:avLst/>
          </a:prstGeom>
          <a:noFill/>
        </p:spPr>
        <p:txBody>
          <a:bodyPr wrap="square" rtlCol="0">
            <a:spAutoFit/>
          </a:bodyPr>
          <a:lstStyle/>
          <a:p>
            <a:r>
              <a:rPr lang="en-US" altLang="zh-CN" sz="3200"/>
              <a:t>Xavier Initialization</a:t>
            </a:r>
          </a:p>
        </p:txBody>
      </p:sp>
      <p:sp>
        <p:nvSpPr>
          <p:cNvPr id="14" name="文本框 13"/>
          <p:cNvSpPr txBox="1"/>
          <p:nvPr/>
        </p:nvSpPr>
        <p:spPr>
          <a:xfrm>
            <a:off x="465667" y="3516037"/>
            <a:ext cx="6096000" cy="583565"/>
          </a:xfrm>
          <a:prstGeom prst="rect">
            <a:avLst/>
          </a:prstGeom>
          <a:noFill/>
        </p:spPr>
        <p:txBody>
          <a:bodyPr wrap="square" rtlCol="0" anchor="t">
            <a:spAutoFit/>
          </a:bodyPr>
          <a:lstStyle/>
          <a:p>
            <a:r>
              <a:rPr lang="zh-CN" altLang="en-US" sz="3200" dirty="0"/>
              <a:t>Kaiming Initialization</a:t>
            </a:r>
          </a:p>
        </p:txBody>
      </p:sp>
      <p:sp>
        <p:nvSpPr>
          <p:cNvPr id="3" name="标题 2">
            <a:extLst>
              <a:ext uri="{FF2B5EF4-FFF2-40B4-BE49-F238E27FC236}">
                <a16:creationId xmlns:a16="http://schemas.microsoft.com/office/drawing/2014/main" id="{A29263F6-FAF4-5C6B-6749-D42F03B45D83}"/>
              </a:ext>
            </a:extLst>
          </p:cNvPr>
          <p:cNvSpPr>
            <a:spLocks noGrp="1"/>
          </p:cNvSpPr>
          <p:nvPr>
            <p:ph type="title"/>
          </p:nvPr>
        </p:nvSpPr>
        <p:spPr/>
        <p:txBody>
          <a:bodyPr/>
          <a:lstStyle/>
          <a:p>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参数的初始化</a:t>
            </a:r>
            <a:endParaRPr lang="zh-CN" altLang="en-US" dirty="0"/>
          </a:p>
        </p:txBody>
      </p:sp>
      <p:sp>
        <p:nvSpPr>
          <p:cNvPr id="9" name="文本框 8">
            <a:extLst>
              <a:ext uri="{FF2B5EF4-FFF2-40B4-BE49-F238E27FC236}">
                <a16:creationId xmlns:a16="http://schemas.microsoft.com/office/drawing/2014/main" id="{09CAF7DA-951A-9D7C-F755-DDD67FE3BB73}"/>
              </a:ext>
            </a:extLst>
          </p:cNvPr>
          <p:cNvSpPr txBox="1"/>
          <p:nvPr/>
        </p:nvSpPr>
        <p:spPr>
          <a:xfrm>
            <a:off x="8897597" y="5410668"/>
            <a:ext cx="3294403" cy="707886"/>
          </a:xfrm>
          <a:prstGeom prst="rect">
            <a:avLst/>
          </a:prstGeom>
          <a:noFill/>
        </p:spPr>
        <p:txBody>
          <a:bodyPr wrap="square" rtlCol="0">
            <a:spAutoFit/>
          </a:bodyPr>
          <a:lstStyle/>
          <a:p>
            <a:pPr marL="342900" indent="-342900" algn="l">
              <a:buFont typeface="Arial" panose="020B0604020202020204" pitchFamily="34" charset="0"/>
              <a:buChar char="•"/>
            </a:pPr>
            <a:r>
              <a:rPr lang="zh-CN" altLang="en-US" sz="2000" dirty="0">
                <a:solidFill>
                  <a:schemeClr val="tx2"/>
                </a:solidFill>
              </a:rPr>
              <a:t>模型越大，初始化越小</a:t>
            </a:r>
            <a:endParaRPr lang="en-US" altLang="zh-CN" sz="2000" dirty="0">
              <a:solidFill>
                <a:schemeClr val="tx2"/>
              </a:solidFill>
            </a:endParaRPr>
          </a:p>
          <a:p>
            <a:pPr marL="342900" indent="-342900" algn="l">
              <a:buFont typeface="Arial" panose="020B0604020202020204" pitchFamily="34" charset="0"/>
              <a:buChar char="•"/>
            </a:pPr>
            <a:r>
              <a:rPr lang="zh-CN" altLang="en-US" sz="2000" dirty="0">
                <a:solidFill>
                  <a:schemeClr val="tx2"/>
                </a:solidFill>
              </a:rPr>
              <a:t>初始化对结果影响很大</a:t>
            </a:r>
          </a:p>
        </p:txBody>
      </p:sp>
      <p:pic>
        <p:nvPicPr>
          <p:cNvPr id="12" name="图片 11">
            <a:extLst>
              <a:ext uri="{FF2B5EF4-FFF2-40B4-BE49-F238E27FC236}">
                <a16:creationId xmlns:a16="http://schemas.microsoft.com/office/drawing/2014/main" id="{80151A20-35D0-2B12-7479-1152F4A6BD09}"/>
              </a:ext>
            </a:extLst>
          </p:cNvPr>
          <p:cNvPicPr>
            <a:picLocks noChangeAspect="1"/>
          </p:cNvPicPr>
          <p:nvPr/>
        </p:nvPicPr>
        <p:blipFill>
          <a:blip r:embed="rId4"/>
          <a:stretch>
            <a:fillRect/>
          </a:stretch>
        </p:blipFill>
        <p:spPr>
          <a:xfrm>
            <a:off x="3378200" y="1498846"/>
            <a:ext cx="4784082" cy="804466"/>
          </a:xfrm>
          <a:prstGeom prst="rect">
            <a:avLst/>
          </a:prstGeom>
        </p:spPr>
      </p:pic>
      <p:pic>
        <p:nvPicPr>
          <p:cNvPr id="15" name="图片 14">
            <a:extLst>
              <a:ext uri="{FF2B5EF4-FFF2-40B4-BE49-F238E27FC236}">
                <a16:creationId xmlns:a16="http://schemas.microsoft.com/office/drawing/2014/main" id="{DB5E08A5-D267-C0E1-2720-887D273189F2}"/>
              </a:ext>
            </a:extLst>
          </p:cNvPr>
          <p:cNvPicPr>
            <a:picLocks noChangeAspect="1"/>
          </p:cNvPicPr>
          <p:nvPr/>
        </p:nvPicPr>
        <p:blipFill>
          <a:blip r:embed="rId5"/>
          <a:stretch>
            <a:fillRect/>
          </a:stretch>
        </p:blipFill>
        <p:spPr>
          <a:xfrm>
            <a:off x="3357880" y="2765321"/>
            <a:ext cx="5746852" cy="878090"/>
          </a:xfrm>
          <a:prstGeom prst="rect">
            <a:avLst/>
          </a:prstGeom>
        </p:spPr>
      </p:pic>
      <p:pic>
        <p:nvPicPr>
          <p:cNvPr id="17" name="图片 16">
            <a:extLst>
              <a:ext uri="{FF2B5EF4-FFF2-40B4-BE49-F238E27FC236}">
                <a16:creationId xmlns:a16="http://schemas.microsoft.com/office/drawing/2014/main" id="{88498088-2196-9F29-8737-FF239F9B6316}"/>
              </a:ext>
            </a:extLst>
          </p:cNvPr>
          <p:cNvPicPr>
            <a:picLocks noChangeAspect="1"/>
          </p:cNvPicPr>
          <p:nvPr/>
        </p:nvPicPr>
        <p:blipFill>
          <a:blip r:embed="rId6"/>
          <a:stretch>
            <a:fillRect/>
          </a:stretch>
        </p:blipFill>
        <p:spPr>
          <a:xfrm>
            <a:off x="3357879" y="4045076"/>
            <a:ext cx="5292457" cy="919049"/>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B11CF59-7821-C00F-C6D0-A23E05C343A9}"/>
                  </a:ext>
                </a:extLst>
              </p:cNvPr>
              <p:cNvSpPr txBox="1"/>
              <p:nvPr/>
            </p:nvSpPr>
            <p:spPr>
              <a:xfrm>
                <a:off x="4648200" y="962025"/>
                <a:ext cx="4772025" cy="400110"/>
              </a:xfrm>
              <a:prstGeom prst="rect">
                <a:avLst/>
              </a:prstGeom>
              <a:noFill/>
            </p:spPr>
            <p:txBody>
              <a:bodyPr wrap="square" rtlCol="0">
                <a:spAutoFit/>
              </a:bodyPr>
              <a:lstStyle/>
              <a:p>
                <a:pPr algn="l"/>
                <a14:m>
                  <m:oMath xmlns:m="http://schemas.openxmlformats.org/officeDocument/2006/math">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𝑚</m:t>
                        </m:r>
                      </m:e>
                      <m:sub>
                        <m:r>
                          <a:rPr kumimoji="1" lang="en-US" altLang="zh-CN" sz="2000" b="0" i="1" smtClean="0">
                            <a:latin typeface="Cambria Math" panose="02040503050406030204" pitchFamily="18" charset="0"/>
                          </a:rPr>
                          <m:t>𝑖𝑛</m:t>
                        </m:r>
                      </m:sub>
                    </m:sSub>
                  </m:oMath>
                </a14:m>
                <a:r>
                  <a:rPr kumimoji="1" lang="en-US" altLang="zh-CN" sz="2000" dirty="0"/>
                  <a:t>:</a:t>
                </a:r>
                <a:r>
                  <a:rPr kumimoji="1" lang="zh-CN" altLang="en-US" sz="2000" dirty="0"/>
                  <a:t>输入层的宽度；</a:t>
                </a:r>
                <a14:m>
                  <m:oMath xmlns:m="http://schemas.openxmlformats.org/officeDocument/2006/math">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𝑚</m:t>
                        </m:r>
                      </m:e>
                      <m:sub>
                        <m:r>
                          <a:rPr kumimoji="1" lang="en-US" altLang="zh-CN" sz="2000" b="0" i="1" smtClean="0">
                            <a:latin typeface="Cambria Math" panose="02040503050406030204" pitchFamily="18" charset="0"/>
                          </a:rPr>
                          <m:t>𝑜𝑢𝑡</m:t>
                        </m:r>
                      </m:sub>
                    </m:sSub>
                  </m:oMath>
                </a14:m>
                <a:r>
                  <a:rPr kumimoji="1" lang="en-US" altLang="zh-CN" sz="2000" dirty="0"/>
                  <a:t>:</a:t>
                </a:r>
                <a:r>
                  <a:rPr kumimoji="1" lang="zh-CN" altLang="en-US" sz="2000" dirty="0"/>
                  <a:t>输出层的宽度</a:t>
                </a:r>
              </a:p>
            </p:txBody>
          </p:sp>
        </mc:Choice>
        <mc:Fallback xmlns="">
          <p:sp>
            <p:nvSpPr>
              <p:cNvPr id="2" name="文本框 1">
                <a:extLst>
                  <a:ext uri="{FF2B5EF4-FFF2-40B4-BE49-F238E27FC236}">
                    <a16:creationId xmlns:a16="http://schemas.microsoft.com/office/drawing/2014/main" id="{9B11CF59-7821-C00F-C6D0-A23E05C343A9}"/>
                  </a:ext>
                </a:extLst>
              </p:cNvPr>
              <p:cNvSpPr txBox="1">
                <a:spLocks noRot="1" noChangeAspect="1" noMove="1" noResize="1" noEditPoints="1" noAdjustHandles="1" noChangeArrowheads="1" noChangeShapeType="1" noTextEdit="1"/>
              </p:cNvSpPr>
              <p:nvPr/>
            </p:nvSpPr>
            <p:spPr>
              <a:xfrm>
                <a:off x="4648200" y="962025"/>
                <a:ext cx="4772025" cy="400110"/>
              </a:xfrm>
              <a:prstGeom prst="rect">
                <a:avLst/>
              </a:prstGeom>
              <a:blipFill>
                <a:blip r:embed="rId9"/>
                <a:stretch>
                  <a:fillRect t="-12121" b="-242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84CCE904-658A-FAD3-E629-71CDB3628026}"/>
                  </a:ext>
                </a:extLst>
              </p:cNvPr>
              <p:cNvSpPr txBox="1"/>
              <p:nvPr/>
            </p:nvSpPr>
            <p:spPr>
              <a:xfrm>
                <a:off x="465667" y="4827103"/>
                <a:ext cx="6096000" cy="583565"/>
              </a:xfrm>
              <a:prstGeom prst="rect">
                <a:avLst/>
              </a:prstGeom>
              <a:noFill/>
            </p:spPr>
            <p:txBody>
              <a:bodyPr wrap="square" rtlCol="0" anchor="t">
                <a:spAutoFit/>
              </a:bodyPr>
              <a:lstStyle/>
              <a:p>
                <a14:m>
                  <m:oMath xmlns:m="http://schemas.openxmlformats.org/officeDocument/2006/math">
                    <m:r>
                      <a:rPr lang="en-US" altLang="zh-CN" sz="3200" b="0" i="1" smtClean="0">
                        <a:latin typeface="Cambria Math" panose="02040503050406030204" pitchFamily="18" charset="0"/>
                      </a:rPr>
                      <m:t>𝛾</m:t>
                    </m:r>
                  </m:oMath>
                </a14:m>
                <a:r>
                  <a:rPr lang="en-US" altLang="zh-CN" sz="3200" dirty="0"/>
                  <a:t>-</a:t>
                </a:r>
                <a:r>
                  <a:rPr lang="zh-CN" altLang="en-US" sz="3200" dirty="0"/>
                  <a:t>Initialization</a:t>
                </a:r>
              </a:p>
            </p:txBody>
          </p:sp>
        </mc:Choice>
        <mc:Fallback>
          <p:sp>
            <p:nvSpPr>
              <p:cNvPr id="4" name="文本框 3">
                <a:extLst>
                  <a:ext uri="{FF2B5EF4-FFF2-40B4-BE49-F238E27FC236}">
                    <a16:creationId xmlns:a16="http://schemas.microsoft.com/office/drawing/2014/main" id="{84CCE904-658A-FAD3-E629-71CDB3628026}"/>
                  </a:ext>
                </a:extLst>
              </p:cNvPr>
              <p:cNvSpPr txBox="1">
                <a:spLocks noRot="1" noChangeAspect="1" noMove="1" noResize="1" noEditPoints="1" noAdjustHandles="1" noChangeArrowheads="1" noChangeShapeType="1" noTextEdit="1"/>
              </p:cNvSpPr>
              <p:nvPr/>
            </p:nvSpPr>
            <p:spPr>
              <a:xfrm>
                <a:off x="465667" y="4827103"/>
                <a:ext cx="6096000" cy="583565"/>
              </a:xfrm>
              <a:prstGeom prst="rect">
                <a:avLst/>
              </a:prstGeom>
              <a:blipFill>
                <a:blip r:embed="rId10"/>
                <a:stretch>
                  <a:fillRect t="-13542" b="-33333"/>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D0F2C426-553A-A2AE-5E95-771D05D99ACD}"/>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414678" y="5060055"/>
            <a:ext cx="5076132" cy="1048226"/>
          </a:xfrm>
          <a:prstGeom prst="rect">
            <a:avLst/>
          </a:prstGeom>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3802B-2E03-40B7-B83B-7E0E542606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0114A7-2D2D-D5DF-C672-145F28C09F83}"/>
              </a:ext>
            </a:extLst>
          </p:cNvPr>
          <p:cNvSpPr>
            <a:spLocks noGrp="1"/>
          </p:cNvSpPr>
          <p:nvPr>
            <p:ph type="title"/>
          </p:nvPr>
        </p:nvSpPr>
        <p:spPr>
          <a:xfrm>
            <a:off x="381242" y="2844289"/>
            <a:ext cx="11429516" cy="761979"/>
          </a:xfrm>
        </p:spPr>
        <p:txBody>
          <a:bodyPr/>
          <a:lstStyle/>
          <a:p>
            <a:pPr algn="ctr"/>
            <a:r>
              <a:rPr lang="zh-CN" altLang="en-US" dirty="0"/>
              <a:t>实验</a:t>
            </a:r>
          </a:p>
        </p:txBody>
      </p:sp>
      <p:sp>
        <p:nvSpPr>
          <p:cNvPr id="3" name="文本框 2">
            <a:extLst>
              <a:ext uri="{FF2B5EF4-FFF2-40B4-BE49-F238E27FC236}">
                <a16:creationId xmlns:a16="http://schemas.microsoft.com/office/drawing/2014/main" id="{540630CC-1A59-ABE4-36C5-5F58E7662A8E}"/>
              </a:ext>
            </a:extLst>
          </p:cNvPr>
          <p:cNvSpPr txBox="1"/>
          <p:nvPr/>
        </p:nvSpPr>
        <p:spPr>
          <a:xfrm>
            <a:off x="4139920" y="4371033"/>
            <a:ext cx="4160113" cy="400110"/>
          </a:xfrm>
          <a:prstGeom prst="rect">
            <a:avLst/>
          </a:prstGeom>
          <a:noFill/>
        </p:spPr>
        <p:txBody>
          <a:bodyPr wrap="none" rtlCol="0">
            <a:spAutoFit/>
          </a:bodyPr>
          <a:lstStyle/>
          <a:p>
            <a:pPr algn="l"/>
            <a:r>
              <a:rPr kumimoji="1" lang="en-US" altLang="zh-CN" sz="2000" dirty="0"/>
              <a:t>30</a:t>
            </a:r>
            <a:r>
              <a:rPr kumimoji="1" lang="zh-CN" altLang="en-US" sz="2000" dirty="0"/>
              <a:t>分钟，上机实验，提交最终分数</a:t>
            </a:r>
          </a:p>
        </p:txBody>
      </p:sp>
    </p:spTree>
    <p:extLst>
      <p:ext uri="{BB962C8B-B14F-4D97-AF65-F5344CB8AC3E}">
        <p14:creationId xmlns:p14="http://schemas.microsoft.com/office/powerpoint/2010/main" val="28723203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介绍</a:t>
            </a:r>
          </a:p>
        </p:txBody>
      </p:sp>
      <p:sp>
        <p:nvSpPr>
          <p:cNvPr id="2" name="文本框 1">
            <a:extLst>
              <a:ext uri="{FF2B5EF4-FFF2-40B4-BE49-F238E27FC236}">
                <a16:creationId xmlns:a16="http://schemas.microsoft.com/office/drawing/2014/main" id="{6B0038AF-3566-B855-CAEC-443AE6297839}"/>
              </a:ext>
            </a:extLst>
          </p:cNvPr>
          <p:cNvSpPr txBox="1"/>
          <p:nvPr/>
        </p:nvSpPr>
        <p:spPr>
          <a:xfrm>
            <a:off x="380999" y="1012121"/>
            <a:ext cx="11049001" cy="2807948"/>
          </a:xfrm>
          <a:prstGeom prst="rect">
            <a:avLst/>
          </a:prstGeom>
          <a:noFill/>
        </p:spPr>
        <p:txBody>
          <a:bodyPr wrap="square" rtlCol="0">
            <a:spAutoFit/>
          </a:bodyPr>
          <a:lstStyle/>
          <a:p>
            <a:pPr indent="0" fontAlgn="auto">
              <a:lnSpc>
                <a:spcPct val="150000"/>
              </a:lnSpc>
            </a:pPr>
            <a:r>
              <a:rPr lang="en-US" altLang="zh-CN" sz="2000" dirty="0">
                <a:solidFill>
                  <a:schemeClr val="tx2"/>
                </a:solidFill>
                <a:latin typeface="微软雅黑" panose="020B0503020204020204" pitchFamily="34" charset="-122"/>
                <a:ea typeface="微软雅黑" panose="020B0503020204020204" pitchFamily="34" charset="-122"/>
              </a:rPr>
              <a:t>Kaggle </a:t>
            </a:r>
            <a:r>
              <a:rPr lang="zh-CN" altLang="en-US" sz="2000" dirty="0">
                <a:solidFill>
                  <a:schemeClr val="tx2"/>
                </a:solidFill>
                <a:latin typeface="微软雅黑" panose="020B0503020204020204" pitchFamily="34" charset="-122"/>
                <a:ea typeface="微软雅黑" panose="020B0503020204020204" pitchFamily="34" charset="-122"/>
              </a:rPr>
              <a:t>平台为数据科学家、机器学习工程师和学生提供了一个展现和提升技能的大舞台，通过参与各类数据建模和机器学习的竞赛，他们可以与全球各地的参赛者一决高下。这些竞赛涵盖多个领域，包括表格数据、计算机视觉、自然语言处理、语音处理和生物医学等。这些竞赛通常由各大企业和研究机构赞助，提出具体的数据问题，参赛者则需要开发出模型来解决这些问题。这些竞赛不仅推动了数据科学领域的研究，还为企业寻找创新解决方案提供了机会。</a:t>
            </a:r>
            <a:endParaRPr lang="en-US" altLang="zh-CN" sz="2000" dirty="0">
              <a:solidFill>
                <a:schemeClr val="tx2"/>
              </a:solidFill>
              <a:latin typeface="微软雅黑" panose="020B0503020204020204" pitchFamily="34" charset="-122"/>
              <a:ea typeface="微软雅黑" panose="020B0503020204020204" pitchFamily="34" charset="-122"/>
            </a:endParaRPr>
          </a:p>
          <a:p>
            <a:pPr indent="0" fontAlgn="auto">
              <a:lnSpc>
                <a:spcPct val="150000"/>
              </a:lnSpc>
            </a:pPr>
            <a:endParaRPr lang="en-US" altLang="zh-CN" sz="2000" b="1"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82327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注册</a:t>
            </a:r>
          </a:p>
        </p:txBody>
      </p:sp>
      <p:sp>
        <p:nvSpPr>
          <p:cNvPr id="2" name="文本框 1">
            <a:extLst>
              <a:ext uri="{FF2B5EF4-FFF2-40B4-BE49-F238E27FC236}">
                <a16:creationId xmlns:a16="http://schemas.microsoft.com/office/drawing/2014/main" id="{BBFEC3C2-DAD2-9870-3CCC-6503459E1F72}"/>
              </a:ext>
            </a:extLst>
          </p:cNvPr>
          <p:cNvSpPr txBox="1"/>
          <p:nvPr/>
        </p:nvSpPr>
        <p:spPr>
          <a:xfrm>
            <a:off x="380999" y="1012121"/>
            <a:ext cx="11255830" cy="5123197"/>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打开 </a:t>
            </a:r>
            <a:r>
              <a:rPr lang="en-US" altLang="zh-CN" sz="2000" dirty="0">
                <a:solidFill>
                  <a:schemeClr val="tx2"/>
                </a:solidFill>
                <a:latin typeface="微软雅黑" panose="020B0503020204020204" pitchFamily="34" charset="-122"/>
                <a:ea typeface="微软雅黑" panose="020B0503020204020204" pitchFamily="34" charset="-122"/>
                <a:hlinkClick r:id="rId2"/>
              </a:rPr>
              <a:t>www.kaggle.com</a:t>
            </a:r>
            <a:r>
              <a:rPr lang="zh-CN" altLang="en-US" sz="2000" dirty="0">
                <a:solidFill>
                  <a:schemeClr val="tx2"/>
                </a:solidFill>
                <a:latin typeface="微软雅黑" panose="020B0503020204020204" pitchFamily="34" charset="-122"/>
                <a:ea typeface="微软雅黑" panose="020B0503020204020204" pitchFamily="34" charset="-122"/>
              </a:rPr>
              <a:t>，点击网页的右上角的  </a:t>
            </a:r>
            <a:r>
              <a:rPr lang="en-US" altLang="zh-CN" sz="2000" dirty="0">
                <a:solidFill>
                  <a:schemeClr val="tx2"/>
                </a:solidFill>
                <a:latin typeface="微软雅黑" panose="020B0503020204020204" pitchFamily="34" charset="-122"/>
                <a:ea typeface="微软雅黑" panose="020B0503020204020204" pitchFamily="34" charset="-122"/>
              </a:rPr>
              <a:t>Register</a:t>
            </a:r>
            <a:r>
              <a:rPr lang="zh-CN" altLang="en-US" sz="2000" dirty="0">
                <a:solidFill>
                  <a:schemeClr val="tx2"/>
                </a:solidFill>
                <a:latin typeface="微软雅黑" panose="020B0503020204020204" pitchFamily="34" charset="-122"/>
                <a:ea typeface="微软雅黑" panose="020B0503020204020204" pitchFamily="34" charset="-122"/>
              </a:rPr>
              <a:t>，点击画面上的  </a:t>
            </a:r>
            <a:r>
              <a:rPr lang="en-US" altLang="zh-CN" sz="2000" dirty="0">
                <a:solidFill>
                  <a:schemeClr val="tx2"/>
                </a:solidFill>
                <a:latin typeface="微软雅黑" panose="020B0503020204020204" pitchFamily="34" charset="-122"/>
                <a:ea typeface="微软雅黑" panose="020B0503020204020204" pitchFamily="34" charset="-122"/>
              </a:rPr>
              <a:t>Register with Email</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输入你的邮箱 ，密码 ，进行人机验证。登录邮箱 ，输入你收到的六位验证码</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进行手机号码验证 ，以便使用 </a:t>
            </a:r>
            <a:r>
              <a:rPr lang="en-US" altLang="zh-CN" sz="2000" dirty="0">
                <a:solidFill>
                  <a:schemeClr val="tx2"/>
                </a:solidFill>
                <a:latin typeface="微软雅黑" panose="020B0503020204020204" pitchFamily="34" charset="-122"/>
                <a:ea typeface="微软雅黑" panose="020B0503020204020204" pitchFamily="34" charset="-122"/>
              </a:rPr>
              <a:t>Kaggle </a:t>
            </a:r>
            <a:r>
              <a:rPr lang="zh-CN" altLang="en-US" sz="2000" dirty="0">
                <a:solidFill>
                  <a:schemeClr val="tx2"/>
                </a:solidFill>
                <a:latin typeface="微软雅黑" panose="020B0503020204020204" pitchFamily="34" charset="-122"/>
                <a:ea typeface="微软雅黑" panose="020B0503020204020204" pitchFamily="34" charset="-122"/>
              </a:rPr>
              <a:t>平台提供的 </a:t>
            </a:r>
            <a:r>
              <a:rPr lang="en-US" altLang="zh-CN" sz="2000" dirty="0">
                <a:solidFill>
                  <a:schemeClr val="tx2"/>
                </a:solidFill>
                <a:latin typeface="微软雅黑" panose="020B0503020204020204" pitchFamily="34" charset="-122"/>
                <a:ea typeface="微软雅黑" panose="020B0503020204020204" pitchFamily="34" charset="-122"/>
              </a:rPr>
              <a:t>GPU </a:t>
            </a:r>
            <a:r>
              <a:rPr lang="zh-CN" altLang="en-US" sz="2000" dirty="0">
                <a:solidFill>
                  <a:schemeClr val="tx2"/>
                </a:solidFill>
                <a:latin typeface="微软雅黑" panose="020B0503020204020204" pitchFamily="34" charset="-122"/>
                <a:ea typeface="微软雅黑" panose="020B0503020204020204" pitchFamily="34" charset="-122"/>
              </a:rPr>
              <a:t>计算资源：</a:t>
            </a:r>
            <a:br>
              <a:rPr lang="en-US" altLang="zh-CN" sz="2000" dirty="0">
                <a:solidFill>
                  <a:schemeClr val="tx2"/>
                </a:solidFill>
                <a:latin typeface="微软雅黑" panose="020B0503020204020204" pitchFamily="34" charset="-122"/>
                <a:ea typeface="微软雅黑" panose="020B0503020204020204" pitchFamily="34" charset="-122"/>
              </a:rPr>
            </a:br>
            <a:r>
              <a:rPr lang="zh-CN" altLang="en-US" sz="2000" dirty="0">
                <a:solidFill>
                  <a:schemeClr val="tx2"/>
                </a:solidFill>
                <a:latin typeface="微软雅黑" panose="020B0503020204020204" pitchFamily="34" charset="-122"/>
                <a:ea typeface="微软雅黑" panose="020B0503020204020204" pitchFamily="34" charset="-122"/>
              </a:rPr>
              <a:t>点击右上角的头像 ，并选择 </a:t>
            </a:r>
            <a:r>
              <a:rPr lang="en-US" altLang="zh-CN" sz="2000" dirty="0">
                <a:solidFill>
                  <a:schemeClr val="tx2"/>
                </a:solidFill>
                <a:latin typeface="微软雅黑" panose="020B0503020204020204" pitchFamily="34" charset="-122"/>
                <a:ea typeface="微软雅黑" panose="020B0503020204020204" pitchFamily="34" charset="-122"/>
              </a:rPr>
              <a:t>settings </a:t>
            </a:r>
            <a:r>
              <a:rPr lang="zh-CN" altLang="en-US" sz="2000" dirty="0">
                <a:solidFill>
                  <a:schemeClr val="tx2"/>
                </a:solidFill>
                <a:latin typeface="微软雅黑" panose="020B0503020204020204" pitchFamily="34" charset="-122"/>
                <a:ea typeface="微软雅黑" panose="020B0503020204020204" pitchFamily="34" charset="-122"/>
              </a:rPr>
              <a:t>，完成 </a:t>
            </a:r>
            <a:r>
              <a:rPr lang="en-US" altLang="zh-CN" sz="2000" dirty="0">
                <a:solidFill>
                  <a:schemeClr val="tx2"/>
                </a:solidFill>
                <a:latin typeface="微软雅黑" panose="020B0503020204020204" pitchFamily="34" charset="-122"/>
                <a:ea typeface="微软雅黑" panose="020B0503020204020204" pitchFamily="34" charset="-122"/>
              </a:rPr>
              <a:t>Phone verification</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访问本课程提供的竞赛</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MLP: </a:t>
            </a:r>
            <a:r>
              <a:rPr lang="en-US" altLang="zh-CN" sz="2000" dirty="0">
                <a:hlinkClick r:id="rId3"/>
              </a:rPr>
              <a:t>MNIST_AND_MLP2 | Kaggle</a:t>
            </a:r>
            <a:br>
              <a:rPr lang="en-US" altLang="zh-CN" sz="2000">
                <a:solidFill>
                  <a:schemeClr val="tx2"/>
                </a:solidFill>
                <a:latin typeface="微软雅黑" panose="020B0503020204020204" pitchFamily="34" charset="-122"/>
                <a:ea typeface="微软雅黑" panose="020B0503020204020204" pitchFamily="34" charset="-122"/>
              </a:rPr>
            </a:br>
            <a:r>
              <a:rPr lang="en-US" altLang="zh-CN" sz="2000">
                <a:solidFill>
                  <a:schemeClr val="tx2"/>
                </a:solidFill>
                <a:latin typeface="微软雅黑" panose="020B0503020204020204" pitchFamily="34" charset="-122"/>
                <a:ea typeface="微软雅黑" panose="020B0503020204020204" pitchFamily="34" charset="-122"/>
              </a:rPr>
              <a:t>CNN: </a:t>
            </a:r>
            <a:r>
              <a:rPr lang="en-US" altLang="zh-CN" sz="2000">
                <a:hlinkClick r:id="rId4"/>
              </a:rPr>
              <a:t>CNN-Cifar10 | Kaggle</a:t>
            </a:r>
            <a:br>
              <a:rPr lang="en-US" altLang="zh-CN" sz="2000">
                <a:solidFill>
                  <a:schemeClr val="tx2"/>
                </a:solidFill>
                <a:latin typeface="微软雅黑" panose="020B0503020204020204" pitchFamily="34" charset="-122"/>
                <a:ea typeface="微软雅黑" panose="020B0503020204020204" pitchFamily="34" charset="-122"/>
              </a:rPr>
            </a:br>
            <a:r>
              <a:rPr lang="en-US" altLang="zh-CN" sz="2000">
                <a:solidFill>
                  <a:schemeClr val="tx2"/>
                </a:solidFill>
                <a:latin typeface="微软雅黑" panose="020B0503020204020204" pitchFamily="34" charset="-122"/>
                <a:ea typeface="微软雅黑" panose="020B0503020204020204" pitchFamily="34" charset="-122"/>
              </a:rPr>
              <a:t>LSTM + Transformer: </a:t>
            </a:r>
            <a:r>
              <a:rPr lang="en-US" altLang="zh-CN" sz="2000">
                <a:hlinkClick r:id="rId5"/>
              </a:rPr>
              <a:t>LSTM+Transformers2 | Kaggle</a:t>
            </a:r>
            <a:endParaRPr lang="zh-CN" altLang="en-US" sz="2000" dirty="0">
              <a:solidFill>
                <a:schemeClr val="tx2"/>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65DBDCED-538D-F72A-CF95-88A26BD07DB6}"/>
              </a:ext>
            </a:extLst>
          </p:cNvPr>
          <p:cNvPicPr>
            <a:picLocks noChangeAspect="1"/>
          </p:cNvPicPr>
          <p:nvPr/>
        </p:nvPicPr>
        <p:blipFill>
          <a:blip r:embed="rId6"/>
          <a:stretch>
            <a:fillRect/>
          </a:stretch>
        </p:blipFill>
        <p:spPr>
          <a:xfrm>
            <a:off x="8501743" y="2940146"/>
            <a:ext cx="3528772" cy="3316460"/>
          </a:xfrm>
          <a:prstGeom prst="rect">
            <a:avLst/>
          </a:prstGeom>
        </p:spPr>
      </p:pic>
      <p:sp>
        <p:nvSpPr>
          <p:cNvPr id="7" name="箭头: 左 6">
            <a:extLst>
              <a:ext uri="{FF2B5EF4-FFF2-40B4-BE49-F238E27FC236}">
                <a16:creationId xmlns:a16="http://schemas.microsoft.com/office/drawing/2014/main" id="{3953C379-B369-96FF-EE5D-22D2AF765A1F}"/>
              </a:ext>
            </a:extLst>
          </p:cNvPr>
          <p:cNvSpPr/>
          <p:nvPr/>
        </p:nvSpPr>
        <p:spPr>
          <a:xfrm rot="2399504">
            <a:off x="7445615" y="4005060"/>
            <a:ext cx="968828" cy="31933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44730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经典分类任务 </a:t>
            </a: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MNIST </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数据集介绍</a:t>
            </a:r>
          </a:p>
        </p:txBody>
      </p:sp>
      <p:sp>
        <p:nvSpPr>
          <p:cNvPr id="4" name="文本框 3">
            <a:extLst>
              <a:ext uri="{FF2B5EF4-FFF2-40B4-BE49-F238E27FC236}">
                <a16:creationId xmlns:a16="http://schemas.microsoft.com/office/drawing/2014/main" id="{DC178AE6-5D79-83F6-7601-A89FF27C3A50}"/>
              </a:ext>
            </a:extLst>
          </p:cNvPr>
          <p:cNvSpPr txBox="1"/>
          <p:nvPr/>
        </p:nvSpPr>
        <p:spPr>
          <a:xfrm>
            <a:off x="3048000" y="3244334"/>
            <a:ext cx="6096000" cy="369332"/>
          </a:xfrm>
          <a:prstGeom prst="rect">
            <a:avLst/>
          </a:prstGeom>
          <a:noFill/>
        </p:spPr>
        <p:txBody>
          <a:bodyPr wrap="square">
            <a:spAutoFit/>
          </a:bodyPr>
          <a:lstStyle/>
          <a:p>
            <a:r>
              <a:rPr lang="en-US" altLang="zh-CN" b="0" i="0" dirty="0">
                <a:solidFill>
                  <a:srgbClr val="F9FAFB"/>
                </a:solidFill>
                <a:effectLst/>
                <a:latin typeface="quote-cjk-patch"/>
              </a:rPr>
              <a:t>MNIST </a:t>
            </a:r>
            <a:r>
              <a:rPr lang="zh-CN" altLang="en-US" b="0" i="0" dirty="0">
                <a:solidFill>
                  <a:srgbClr val="F9FAFB"/>
                </a:solidFill>
                <a:effectLst/>
                <a:latin typeface="quote-cjk-patch"/>
              </a:rPr>
              <a:t>是一个被广泛使用的手写数字图像数据集。</a:t>
            </a:r>
            <a:endParaRPr lang="zh-CN" altLang="en-US" dirty="0"/>
          </a:p>
        </p:txBody>
      </p:sp>
      <p:sp>
        <p:nvSpPr>
          <p:cNvPr id="5" name="文本框 4">
            <a:extLst>
              <a:ext uri="{FF2B5EF4-FFF2-40B4-BE49-F238E27FC236}">
                <a16:creationId xmlns:a16="http://schemas.microsoft.com/office/drawing/2014/main" id="{BFE89C92-3DC2-5AE7-8DA1-C7ECF32D41D8}"/>
              </a:ext>
            </a:extLst>
          </p:cNvPr>
          <p:cNvSpPr txBox="1"/>
          <p:nvPr/>
        </p:nvSpPr>
        <p:spPr>
          <a:xfrm>
            <a:off x="380999" y="1012121"/>
            <a:ext cx="11255830" cy="3731278"/>
          </a:xfrm>
          <a:prstGeom prst="rect">
            <a:avLst/>
          </a:prstGeom>
          <a:noFill/>
        </p:spPr>
        <p:txBody>
          <a:bodyPr wrap="square" rtlCol="0">
            <a:spAutoFit/>
          </a:bodyPr>
          <a:lstStyle/>
          <a:p>
            <a:pPr fontAlgn="auto">
              <a:lnSpc>
                <a:spcPct val="150000"/>
              </a:lnSpc>
            </a:pPr>
            <a:r>
              <a:rPr lang="en-US" altLang="zh-CN" sz="2000" dirty="0">
                <a:solidFill>
                  <a:schemeClr val="tx2"/>
                </a:solidFill>
                <a:latin typeface="微软雅黑" panose="020B0503020204020204" pitchFamily="34" charset="-122"/>
                <a:ea typeface="微软雅黑" panose="020B0503020204020204" pitchFamily="34" charset="-122"/>
              </a:rPr>
              <a:t>MNIST </a:t>
            </a:r>
            <a:r>
              <a:rPr lang="zh-CN" altLang="en-US" sz="2000" dirty="0">
                <a:solidFill>
                  <a:schemeClr val="tx2"/>
                </a:solidFill>
                <a:latin typeface="微软雅黑" panose="020B0503020204020204" pitchFamily="34" charset="-122"/>
                <a:ea typeface="微软雅黑" panose="020B0503020204020204" pitchFamily="34" charset="-122"/>
              </a:rPr>
              <a:t>是一个被广泛使用的手写数字图像数据集。</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内容：</a:t>
            </a:r>
            <a:r>
              <a:rPr lang="en-US" altLang="zh-CN" sz="2000" dirty="0">
                <a:solidFill>
                  <a:schemeClr val="tx2"/>
                </a:solidFill>
                <a:latin typeface="微软雅黑" panose="020B0503020204020204" pitchFamily="34" charset="-122"/>
                <a:ea typeface="微软雅黑" panose="020B0503020204020204" pitchFamily="34" charset="-122"/>
              </a:rPr>
              <a:t>70,000 </a:t>
            </a:r>
            <a:r>
              <a:rPr lang="zh-CN" altLang="en-US" sz="2000" dirty="0">
                <a:solidFill>
                  <a:schemeClr val="tx2"/>
                </a:solidFill>
                <a:latin typeface="微软雅黑" panose="020B0503020204020204" pitchFamily="34" charset="-122"/>
                <a:ea typeface="微软雅黑" panose="020B0503020204020204" pitchFamily="34" charset="-122"/>
              </a:rPr>
              <a:t>张 </a:t>
            </a:r>
            <a:r>
              <a:rPr lang="en-US" altLang="zh-CN" sz="2000" dirty="0">
                <a:solidFill>
                  <a:schemeClr val="tx2"/>
                </a:solidFill>
                <a:latin typeface="微软雅黑" panose="020B0503020204020204" pitchFamily="34" charset="-122"/>
                <a:ea typeface="微软雅黑" panose="020B0503020204020204" pitchFamily="34" charset="-122"/>
              </a:rPr>
              <a:t>28x28 </a:t>
            </a:r>
            <a:r>
              <a:rPr lang="zh-CN" altLang="en-US" sz="2000" dirty="0">
                <a:solidFill>
                  <a:schemeClr val="tx2"/>
                </a:solidFill>
                <a:latin typeface="微软雅黑" panose="020B0503020204020204" pitchFamily="34" charset="-122"/>
                <a:ea typeface="微软雅黑" panose="020B0503020204020204" pitchFamily="34" charset="-122"/>
              </a:rPr>
              <a:t>像素的灰度手写数字图片（</a:t>
            </a:r>
            <a:r>
              <a:rPr lang="en-US" altLang="zh-CN" sz="2000" dirty="0">
                <a:solidFill>
                  <a:schemeClr val="tx2"/>
                </a:solidFill>
                <a:latin typeface="微软雅黑" panose="020B0503020204020204" pitchFamily="34" charset="-122"/>
                <a:ea typeface="微软雅黑" panose="020B0503020204020204" pitchFamily="34" charset="-122"/>
              </a:rPr>
              <a:t>0-9</a:t>
            </a:r>
            <a:r>
              <a:rPr lang="zh-CN" altLang="en-US" sz="2000" dirty="0">
                <a:solidFill>
                  <a:schemeClr val="tx2"/>
                </a:solidFill>
                <a:latin typeface="微软雅黑" panose="020B0503020204020204" pitchFamily="34" charset="-122"/>
                <a:ea typeface="微软雅黑" panose="020B0503020204020204" pitchFamily="34" charset="-122"/>
              </a:rPr>
              <a:t>）</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划分：</a:t>
            </a:r>
            <a:r>
              <a:rPr lang="en-US" altLang="zh-CN" sz="2000" dirty="0">
                <a:solidFill>
                  <a:schemeClr val="tx2"/>
                </a:solidFill>
                <a:latin typeface="微软雅黑" panose="020B0503020204020204" pitchFamily="34" charset="-122"/>
                <a:ea typeface="微软雅黑" panose="020B0503020204020204" pitchFamily="34" charset="-122"/>
              </a:rPr>
              <a:t>60,000 </a:t>
            </a:r>
            <a:r>
              <a:rPr lang="zh-CN" altLang="en-US" sz="2000" dirty="0">
                <a:solidFill>
                  <a:schemeClr val="tx2"/>
                </a:solidFill>
                <a:latin typeface="微软雅黑" panose="020B0503020204020204" pitchFamily="34" charset="-122"/>
                <a:ea typeface="微软雅黑" panose="020B0503020204020204" pitchFamily="34" charset="-122"/>
              </a:rPr>
              <a:t>张用于训练，</a:t>
            </a:r>
            <a:r>
              <a:rPr lang="en-US" altLang="zh-CN" sz="2000" dirty="0">
                <a:solidFill>
                  <a:schemeClr val="tx2"/>
                </a:solidFill>
                <a:latin typeface="微软雅黑" panose="020B0503020204020204" pitchFamily="34" charset="-122"/>
                <a:ea typeface="微软雅黑" panose="020B0503020204020204" pitchFamily="34" charset="-122"/>
              </a:rPr>
              <a:t>10,000 </a:t>
            </a:r>
            <a:r>
              <a:rPr lang="zh-CN" altLang="en-US" sz="2000" dirty="0">
                <a:solidFill>
                  <a:schemeClr val="tx2"/>
                </a:solidFill>
                <a:latin typeface="微软雅黑" panose="020B0503020204020204" pitchFamily="34" charset="-122"/>
                <a:ea typeface="微软雅黑" panose="020B0503020204020204" pitchFamily="34" charset="-122"/>
              </a:rPr>
              <a:t>张用于测试</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地位：由 </a:t>
            </a:r>
            <a:r>
              <a:rPr lang="en-US" altLang="zh-CN" sz="2000" dirty="0">
                <a:solidFill>
                  <a:schemeClr val="tx2"/>
                </a:solidFill>
                <a:latin typeface="微软雅黑" panose="020B0503020204020204" pitchFamily="34" charset="-122"/>
                <a:ea typeface="微软雅黑" panose="020B0503020204020204" pitchFamily="34" charset="-122"/>
              </a:rPr>
              <a:t>Yann </a:t>
            </a:r>
            <a:r>
              <a:rPr lang="en-US" altLang="zh-CN" sz="2000" dirty="0" err="1">
                <a:solidFill>
                  <a:schemeClr val="tx2"/>
                </a:solidFill>
                <a:latin typeface="微软雅黑" panose="020B0503020204020204" pitchFamily="34" charset="-122"/>
                <a:ea typeface="微软雅黑" panose="020B0503020204020204" pitchFamily="34" charset="-122"/>
              </a:rPr>
              <a:t>Lecun</a:t>
            </a:r>
            <a:r>
              <a:rPr lang="en-US" altLang="zh-CN" sz="2000" dirty="0">
                <a:solidFill>
                  <a:schemeClr val="tx2"/>
                </a:solidFill>
                <a:latin typeface="微软雅黑" panose="020B0503020204020204" pitchFamily="34" charset="-122"/>
                <a:ea typeface="微软雅黑" panose="020B0503020204020204" pitchFamily="34" charset="-122"/>
              </a:rPr>
              <a:t> </a:t>
            </a:r>
            <a:r>
              <a:rPr lang="zh-CN" altLang="en-US" sz="2000" dirty="0">
                <a:solidFill>
                  <a:schemeClr val="tx2"/>
                </a:solidFill>
                <a:latin typeface="微软雅黑" panose="020B0503020204020204" pitchFamily="34" charset="-122"/>
                <a:ea typeface="微软雅黑" panose="020B0503020204020204" pitchFamily="34" charset="-122"/>
              </a:rPr>
              <a:t>创建，是机器学习特别是图像分类领域最经典、最常用的“入门级”基准数据集，常被称为图像分类领域的“</a:t>
            </a:r>
            <a:r>
              <a:rPr lang="en-US" altLang="zh-CN" sz="2000" dirty="0">
                <a:solidFill>
                  <a:schemeClr val="tx2"/>
                </a:solidFill>
                <a:latin typeface="微软雅黑" panose="020B0503020204020204" pitchFamily="34" charset="-122"/>
                <a:ea typeface="微软雅黑" panose="020B0503020204020204" pitchFamily="34" charset="-122"/>
              </a:rPr>
              <a:t>Hello World”</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p:txBody>
      </p:sp>
      <p:pic>
        <p:nvPicPr>
          <p:cNvPr id="1026" name="Picture 2">
            <a:extLst>
              <a:ext uri="{FF2B5EF4-FFF2-40B4-BE49-F238E27FC236}">
                <a16:creationId xmlns:a16="http://schemas.microsoft.com/office/drawing/2014/main" id="{CAFB6E47-915B-E8C5-BD12-755C6CB2DA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3168" y="4069616"/>
            <a:ext cx="2466975" cy="184785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7A3D8FCB-C877-332B-A243-BA6866F9B789}"/>
              </a:ext>
            </a:extLst>
          </p:cNvPr>
          <p:cNvSpPr txBox="1"/>
          <p:nvPr/>
        </p:nvSpPr>
        <p:spPr>
          <a:xfrm>
            <a:off x="670832" y="5134402"/>
            <a:ext cx="6698155" cy="392928"/>
          </a:xfrm>
          <a:prstGeom prst="rect">
            <a:avLst/>
          </a:prstGeom>
          <a:noFill/>
        </p:spPr>
        <p:txBody>
          <a:bodyPr wrap="square">
            <a:spAutoFit/>
          </a:bodyPr>
          <a:lstStyle/>
          <a:p>
            <a:pPr>
              <a:lnSpc>
                <a:spcPct val="115000"/>
              </a:lnSpc>
              <a:spcAft>
                <a:spcPts val="800"/>
              </a:spcAft>
              <a:buNone/>
            </a:pPr>
            <a:r>
              <a:rPr lang="en-US" altLang="zh-CN" sz="1800" u="sng" kern="100" dirty="0">
                <a:solidFill>
                  <a:srgbClr val="0563C1"/>
                </a:solidFill>
                <a:effectLst/>
                <a:latin typeface="等线" panose="02010600030101010101" pitchFamily="2" charset="-122"/>
                <a:ea typeface="等线" panose="02010600030101010101" pitchFamily="2" charset="-122"/>
                <a:cs typeface="Times New Roman" panose="02020603050405020304" pitchFamily="18" charset="0"/>
                <a:hlinkClick r:id="rId3"/>
              </a:rPr>
              <a:t>https://www.kaggle.com/competitions/sjtu-2026-spring-mlp</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754906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代码简介</a:t>
            </a:r>
          </a:p>
        </p:txBody>
      </p:sp>
      <p:sp>
        <p:nvSpPr>
          <p:cNvPr id="2" name="文本框 1">
            <a:extLst>
              <a:ext uri="{FF2B5EF4-FFF2-40B4-BE49-F238E27FC236}">
                <a16:creationId xmlns:a16="http://schemas.microsoft.com/office/drawing/2014/main" id="{114D424B-660C-2D83-3B83-7BA94B7C3A4D}"/>
              </a:ext>
            </a:extLst>
          </p:cNvPr>
          <p:cNvSpPr txBox="1"/>
          <p:nvPr/>
        </p:nvSpPr>
        <p:spPr>
          <a:xfrm>
            <a:off x="380999" y="1012121"/>
            <a:ext cx="11255830" cy="4654608"/>
          </a:xfrm>
          <a:prstGeom prst="rect">
            <a:avLst/>
          </a:prstGeom>
          <a:noFill/>
        </p:spPr>
        <p:txBody>
          <a:bodyPr wrap="square" rtlCol="0">
            <a:spAutoFit/>
          </a:bodyPr>
          <a:lstStyle/>
          <a:p>
            <a:pPr fontAlgn="auto">
              <a:lnSpc>
                <a:spcPct val="150000"/>
              </a:lnSpc>
            </a:pPr>
            <a:endParaRPr lang="en-US" altLang="zh-CN" sz="2000" dirty="0">
              <a:hlinkClick r:id="rId2"/>
            </a:endParaRPr>
          </a:p>
          <a:p>
            <a:pPr fontAlgn="auto">
              <a:lnSpc>
                <a:spcPct val="150000"/>
              </a:lnSpc>
            </a:pPr>
            <a:endParaRPr lang="en-US" altLang="zh-CN" sz="2000" dirty="0">
              <a:hlinkClick r:id="rId2"/>
            </a:endParaRPr>
          </a:p>
          <a:p>
            <a:pPr fontAlgn="auto">
              <a:lnSpc>
                <a:spcPct val="150000"/>
              </a:lnSpc>
            </a:pPr>
            <a:endParaRPr lang="en-US" altLang="zh-CN" sz="2000" dirty="0">
              <a:hlinkClick r:id="rId2"/>
            </a:endParaRPr>
          </a:p>
          <a:p>
            <a:pPr fontAlgn="auto">
              <a:lnSpc>
                <a:spcPct val="150000"/>
              </a:lnSpc>
            </a:pPr>
            <a:endParaRPr lang="en-US" altLang="zh-CN" sz="2000" dirty="0">
              <a:hlinkClick r:id="rId2"/>
            </a:endParaRPr>
          </a:p>
          <a:p>
            <a:pPr fontAlgn="auto">
              <a:lnSpc>
                <a:spcPct val="150000"/>
              </a:lnSpc>
            </a:pPr>
            <a:endParaRPr lang="en-US" altLang="zh-CN" sz="2000" dirty="0">
              <a:hlinkClick r:id="rId2"/>
            </a:endParaRPr>
          </a:p>
          <a:p>
            <a:pPr fontAlgn="auto">
              <a:lnSpc>
                <a:spcPct val="150000"/>
              </a:lnSpc>
            </a:pPr>
            <a:r>
              <a:rPr lang="en-US" altLang="zh-CN" sz="2000" dirty="0">
                <a:hlinkClick r:id="rId2"/>
              </a:rPr>
              <a:t>MNIST_AND_MLP2 | Kaggle</a:t>
            </a:r>
            <a:endParaRPr lang="en-US" altLang="zh-CN" sz="2000" dirty="0"/>
          </a:p>
          <a:p>
            <a:pPr fontAlgn="auto">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这个 </a:t>
            </a:r>
            <a:r>
              <a:rPr lang="en-US" altLang="zh-CN" sz="2000" dirty="0">
                <a:solidFill>
                  <a:schemeClr val="tx2"/>
                </a:solidFill>
                <a:latin typeface="微软雅黑" panose="020B0503020204020204" pitchFamily="34" charset="-122"/>
                <a:ea typeface="微软雅黑" panose="020B0503020204020204" pitchFamily="34" charset="-122"/>
              </a:rPr>
              <a:t>competition </a:t>
            </a:r>
            <a:r>
              <a:rPr lang="zh-CN" altLang="en-US" sz="2000" dirty="0">
                <a:solidFill>
                  <a:schemeClr val="tx2"/>
                </a:solidFill>
                <a:latin typeface="微软雅黑" panose="020B0503020204020204" pitchFamily="34" charset="-122"/>
                <a:ea typeface="微软雅黑" panose="020B0503020204020204" pitchFamily="34" charset="-122"/>
              </a:rPr>
              <a:t>实现了：</a:t>
            </a:r>
            <a:endParaRPr lang="en-US" altLang="zh-CN" sz="2000" dirty="0">
              <a:solidFill>
                <a:schemeClr val="tx2"/>
              </a:solidFill>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a:solidFill>
                  <a:schemeClr val="tx2"/>
                </a:solidFill>
                <a:latin typeface="微软雅黑" panose="020B0503020204020204" pitchFamily="34" charset="-122"/>
                <a:ea typeface="微软雅黑" panose="020B0503020204020204" pitchFamily="34" charset="-122"/>
              </a:rPr>
              <a:t>读取加载 </a:t>
            </a:r>
            <a:r>
              <a:rPr lang="en-US" altLang="zh-CN" sz="2000" dirty="0">
                <a:solidFill>
                  <a:schemeClr val="tx2"/>
                </a:solidFill>
                <a:latin typeface="微软雅黑" panose="020B0503020204020204" pitchFamily="34" charset="-122"/>
                <a:ea typeface="微软雅黑" panose="020B0503020204020204" pitchFamily="34" charset="-122"/>
              </a:rPr>
              <a:t>MNIST </a:t>
            </a:r>
            <a:r>
              <a:rPr lang="zh-CN" altLang="en-US" sz="2000" dirty="0">
                <a:solidFill>
                  <a:schemeClr val="tx2"/>
                </a:solidFill>
                <a:latin typeface="微软雅黑" panose="020B0503020204020204" pitchFamily="34" charset="-122"/>
                <a:ea typeface="微软雅黑" panose="020B0503020204020204" pitchFamily="34" charset="-122"/>
              </a:rPr>
              <a:t>数据集</a:t>
            </a:r>
            <a:endParaRPr lang="en-US" altLang="zh-CN" sz="2000" dirty="0">
              <a:solidFill>
                <a:schemeClr val="tx2"/>
              </a:solidFill>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a:solidFill>
                  <a:schemeClr val="tx2"/>
                </a:solidFill>
                <a:latin typeface="微软雅黑" panose="020B0503020204020204" pitchFamily="34" charset="-122"/>
                <a:ea typeface="微软雅黑" panose="020B0503020204020204" pitchFamily="34" charset="-122"/>
              </a:rPr>
              <a:t>根据超参数</a:t>
            </a:r>
            <a:endParaRPr lang="en-US" altLang="zh-CN" sz="2000" dirty="0">
              <a:solidFill>
                <a:schemeClr val="tx2"/>
              </a:solidFill>
              <a:latin typeface="微软雅黑" panose="020B0503020204020204" pitchFamily="34" charset="-122"/>
              <a:ea typeface="微软雅黑" panose="020B0503020204020204" pitchFamily="34" charset="-122"/>
            </a:endParaRPr>
          </a:p>
          <a:p>
            <a:pPr fontAlgn="auto">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其他两个 </a:t>
            </a:r>
            <a:r>
              <a:rPr lang="en-US" altLang="zh-CN" sz="2000" dirty="0">
                <a:solidFill>
                  <a:schemeClr val="tx2"/>
                </a:solidFill>
                <a:latin typeface="微软雅黑" panose="020B0503020204020204" pitchFamily="34" charset="-122"/>
                <a:ea typeface="微软雅黑" panose="020B0503020204020204" pitchFamily="34" charset="-122"/>
              </a:rPr>
              <a:t>competition </a:t>
            </a:r>
            <a:r>
              <a:rPr lang="zh-CN" altLang="en-US" sz="2000" dirty="0">
                <a:solidFill>
                  <a:schemeClr val="tx2"/>
                </a:solidFill>
                <a:latin typeface="微软雅黑" panose="020B0503020204020204" pitchFamily="34" charset="-122"/>
                <a:ea typeface="微软雅黑" panose="020B0503020204020204" pitchFamily="34" charset="-122"/>
              </a:rPr>
              <a:t>同理</a:t>
            </a:r>
            <a:endParaRPr lang="en-US" altLang="zh-CN" sz="2000" dirty="0">
              <a:solidFill>
                <a:schemeClr val="tx2"/>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0EAA9300-109C-FDF2-3D59-07740A81B21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80999" y="1052544"/>
            <a:ext cx="8314956" cy="2043940"/>
          </a:xfrm>
          <a:prstGeom prst="rect">
            <a:avLst/>
          </a:prstGeom>
        </p:spPr>
      </p:pic>
    </p:spTree>
    <p:extLst>
      <p:ext uri="{BB962C8B-B14F-4D97-AF65-F5344CB8AC3E}">
        <p14:creationId xmlns:p14="http://schemas.microsoft.com/office/powerpoint/2010/main" val="4445608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跑实验说明</a:t>
            </a:r>
          </a:p>
        </p:txBody>
      </p:sp>
      <p:sp>
        <p:nvSpPr>
          <p:cNvPr id="9" name="文本框 8">
            <a:extLst>
              <a:ext uri="{FF2B5EF4-FFF2-40B4-BE49-F238E27FC236}">
                <a16:creationId xmlns:a16="http://schemas.microsoft.com/office/drawing/2014/main" id="{B765885D-9A66-8992-07F0-541DB8536947}"/>
              </a:ext>
            </a:extLst>
          </p:cNvPr>
          <p:cNvSpPr txBox="1"/>
          <p:nvPr/>
        </p:nvSpPr>
        <p:spPr>
          <a:xfrm>
            <a:off x="380999" y="1012121"/>
            <a:ext cx="11255830" cy="3269613"/>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Code</a:t>
            </a:r>
            <a:r>
              <a:rPr lang="zh-CN" altLang="en-US" sz="2000" dirty="0">
                <a:solidFill>
                  <a:schemeClr val="tx2"/>
                </a:solidFill>
                <a:latin typeface="微软雅黑" panose="020B0503020204020204" pitchFamily="34" charset="-122"/>
                <a:ea typeface="微软雅黑" panose="020B0503020204020204" pitchFamily="34" charset="-122"/>
              </a:rPr>
              <a:t>，选择 </a:t>
            </a:r>
            <a:r>
              <a:rPr lang="en-US" altLang="zh-CN" sz="2000" dirty="0">
                <a:solidFill>
                  <a:schemeClr val="tx2"/>
                </a:solidFill>
                <a:latin typeface="微软雅黑" panose="020B0503020204020204" pitchFamily="34" charset="-122"/>
                <a:ea typeface="微软雅黑" panose="020B0503020204020204" pitchFamily="34" charset="-122"/>
              </a:rPr>
              <a:t>example by teacher </a:t>
            </a:r>
            <a:r>
              <a:rPr lang="zh-CN" altLang="en-US" sz="2000" dirty="0">
                <a:solidFill>
                  <a:schemeClr val="tx2"/>
                </a:solidFill>
                <a:latin typeface="微软雅黑" panose="020B0503020204020204" pitchFamily="34" charset="-122"/>
                <a:ea typeface="微软雅黑" panose="020B0503020204020204" pitchFamily="34" charset="-122"/>
              </a:rPr>
              <a:t>的 </a:t>
            </a:r>
            <a:r>
              <a:rPr lang="en-US" altLang="zh-CN" sz="2000" dirty="0">
                <a:solidFill>
                  <a:schemeClr val="tx2"/>
                </a:solidFill>
                <a:latin typeface="微软雅黑" panose="020B0503020204020204" pitchFamily="34" charset="-122"/>
                <a:ea typeface="微软雅黑" panose="020B0503020204020204" pitchFamily="34" charset="-122"/>
              </a:rPr>
              <a:t>notebook</a:t>
            </a: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预览界面后，点击右上角三点展开，选择 </a:t>
            </a:r>
            <a:r>
              <a:rPr lang="en-US" altLang="zh-CN" sz="2000" dirty="0">
                <a:solidFill>
                  <a:schemeClr val="tx2"/>
                </a:solidFill>
                <a:latin typeface="微软雅黑" panose="020B0503020204020204" pitchFamily="34" charset="-122"/>
                <a:ea typeface="微软雅黑" panose="020B0503020204020204" pitchFamily="34" charset="-122"/>
              </a:rPr>
              <a:t>copy &amp; edit </a:t>
            </a:r>
            <a:r>
              <a:rPr lang="zh-CN" altLang="en-US" sz="2000" dirty="0">
                <a:solidFill>
                  <a:schemeClr val="tx2"/>
                </a:solidFill>
                <a:latin typeface="微软雅黑" panose="020B0503020204020204" pitchFamily="34" charset="-122"/>
                <a:ea typeface="微软雅黑" panose="020B0503020204020204" pitchFamily="34" charset="-122"/>
              </a:rPr>
              <a:t>将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给自己复制一份再修改</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编辑界面后，修改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题目，并找到代码中可以修改的超参数部分</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修改超参数，将 </a:t>
            </a:r>
            <a:r>
              <a:rPr lang="en-US" altLang="zh-CN" sz="2000" dirty="0">
                <a:solidFill>
                  <a:schemeClr val="tx2"/>
                </a:solidFill>
                <a:latin typeface="微软雅黑" panose="020B0503020204020204" pitchFamily="34" charset="-122"/>
                <a:ea typeface="微软雅黑" panose="020B0503020204020204" pitchFamily="34" charset="-122"/>
              </a:rPr>
              <a:t>setting </a:t>
            </a:r>
            <a:r>
              <a:rPr lang="zh-CN" altLang="en-US" sz="2000" dirty="0">
                <a:solidFill>
                  <a:schemeClr val="tx2"/>
                </a:solidFill>
                <a:latin typeface="微软雅黑" panose="020B0503020204020204" pitchFamily="34" charset="-122"/>
                <a:ea typeface="微软雅黑" panose="020B0503020204020204" pitchFamily="34" charset="-122"/>
              </a:rPr>
              <a:t>中设置为 </a:t>
            </a:r>
            <a:r>
              <a:rPr lang="en-US" altLang="zh-CN" sz="2000" dirty="0">
                <a:solidFill>
                  <a:schemeClr val="tx2"/>
                </a:solidFill>
                <a:latin typeface="微软雅黑" panose="020B0503020204020204" pitchFamily="34" charset="-122"/>
                <a:ea typeface="微软雅黑" panose="020B0503020204020204" pitchFamily="34" charset="-122"/>
              </a:rPr>
              <a:t>GPU P100 </a:t>
            </a:r>
            <a:r>
              <a:rPr lang="zh-CN" altLang="en-US" sz="2000" dirty="0">
                <a:solidFill>
                  <a:schemeClr val="tx2"/>
                </a:solidFill>
                <a:latin typeface="微软雅黑" panose="020B0503020204020204" pitchFamily="34" charset="-122"/>
                <a:ea typeface="微软雅黑" panose="020B0503020204020204" pitchFamily="34" charset="-122"/>
              </a:rPr>
              <a:t>后，选择 </a:t>
            </a:r>
            <a:r>
              <a:rPr lang="en-US" altLang="zh-CN" sz="2000" dirty="0">
                <a:solidFill>
                  <a:schemeClr val="tx2"/>
                </a:solidFill>
                <a:latin typeface="微软雅黑" panose="020B0503020204020204" pitchFamily="34" charset="-122"/>
                <a:ea typeface="微软雅黑" panose="020B0503020204020204" pitchFamily="34" charset="-122"/>
              </a:rPr>
              <a:t>run all               </a:t>
            </a:r>
            <a:r>
              <a:rPr lang="zh-CN" altLang="en-US" sz="2000" dirty="0">
                <a:solidFill>
                  <a:schemeClr val="tx2"/>
                </a:solidFill>
                <a:latin typeface="微软雅黑" panose="020B0503020204020204" pitchFamily="34" charset="-122"/>
                <a:ea typeface="微软雅黑" panose="020B0503020204020204" pitchFamily="34" charset="-122"/>
              </a:rPr>
              <a:t>运行所有的单元格</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运行完毕后生成测试准确率</a:t>
            </a:r>
            <a:endParaRPr lang="en-US" altLang="zh-CN" sz="2000" dirty="0">
              <a:solidFill>
                <a:schemeClr val="tx2"/>
              </a:solidFill>
              <a:latin typeface="微软雅黑" panose="020B0503020204020204" pitchFamily="34" charset="-122"/>
              <a:ea typeface="微软雅黑" panose="020B0503020204020204" pitchFamily="34" charset="-122"/>
            </a:endParaRPr>
          </a:p>
          <a:p>
            <a:pPr fontAlgn="auto">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（以上过程并不会提交作业，可以查看作业的效果）</a:t>
            </a:r>
            <a:endParaRPr lang="en-US" altLang="zh-CN" sz="2000" dirty="0">
              <a:solidFill>
                <a:schemeClr val="tx2"/>
              </a:solidFill>
              <a:latin typeface="微软雅黑" panose="020B0503020204020204" pitchFamily="34" charset="-122"/>
              <a:ea typeface="微软雅黑" panose="020B0503020204020204" pitchFamily="34" charset="-122"/>
              <a:hlinkClick r:id="rId2">
                <a:extLst>
                  <a:ext uri="{A12FA001-AC4F-418D-AE19-62706E023703}">
                    <ahyp:hlinkClr xmlns:ahyp="http://schemas.microsoft.com/office/drawing/2018/hyperlinkcolor" val="tx"/>
                  </a:ext>
                </a:extLst>
              </a:hlinkClick>
            </a:endParaRPr>
          </a:p>
        </p:txBody>
      </p:sp>
      <p:pic>
        <p:nvPicPr>
          <p:cNvPr id="11" name="图片 10">
            <a:extLst>
              <a:ext uri="{FF2B5EF4-FFF2-40B4-BE49-F238E27FC236}">
                <a16:creationId xmlns:a16="http://schemas.microsoft.com/office/drawing/2014/main" id="{D172394F-30EB-9DE1-E94B-B30482243875}"/>
              </a:ext>
            </a:extLst>
          </p:cNvPr>
          <p:cNvPicPr>
            <a:picLocks noChangeAspect="1"/>
          </p:cNvPicPr>
          <p:nvPr/>
        </p:nvPicPr>
        <p:blipFill>
          <a:blip r:embed="rId3"/>
          <a:stretch>
            <a:fillRect/>
          </a:stretch>
        </p:blipFill>
        <p:spPr>
          <a:xfrm>
            <a:off x="7181440" y="3483019"/>
            <a:ext cx="4629318" cy="3356256"/>
          </a:xfrm>
          <a:prstGeom prst="rect">
            <a:avLst/>
          </a:prstGeom>
        </p:spPr>
      </p:pic>
      <p:sp>
        <p:nvSpPr>
          <p:cNvPr id="12" name="文本框 11">
            <a:extLst>
              <a:ext uri="{FF2B5EF4-FFF2-40B4-BE49-F238E27FC236}">
                <a16:creationId xmlns:a16="http://schemas.microsoft.com/office/drawing/2014/main" id="{389C1088-B965-2B56-FBBF-2CB3CA15173F}"/>
              </a:ext>
            </a:extLst>
          </p:cNvPr>
          <p:cNvSpPr txBox="1"/>
          <p:nvPr/>
        </p:nvSpPr>
        <p:spPr>
          <a:xfrm>
            <a:off x="8765810" y="3374981"/>
            <a:ext cx="312906" cy="400110"/>
          </a:xfrm>
          <a:prstGeom prst="rect">
            <a:avLst/>
          </a:prstGeom>
          <a:noFill/>
        </p:spPr>
        <p:txBody>
          <a:bodyPr wrap="none" rtlCol="0">
            <a:spAutoFit/>
          </a:bodyPr>
          <a:lstStyle/>
          <a:p>
            <a:pPr algn="l"/>
            <a:r>
              <a:rPr lang="en-US" altLang="zh-CN" sz="2000" dirty="0"/>
              <a:t>1</a:t>
            </a:r>
            <a:endParaRPr lang="zh-CN" altLang="en-US" sz="2000" dirty="0"/>
          </a:p>
        </p:txBody>
      </p:sp>
      <p:sp>
        <p:nvSpPr>
          <p:cNvPr id="13" name="文本框 12">
            <a:extLst>
              <a:ext uri="{FF2B5EF4-FFF2-40B4-BE49-F238E27FC236}">
                <a16:creationId xmlns:a16="http://schemas.microsoft.com/office/drawing/2014/main" id="{795E2901-FAB1-1D55-902E-9BE5DA227169}"/>
              </a:ext>
            </a:extLst>
          </p:cNvPr>
          <p:cNvSpPr txBox="1"/>
          <p:nvPr/>
        </p:nvSpPr>
        <p:spPr>
          <a:xfrm>
            <a:off x="9974421" y="5845879"/>
            <a:ext cx="312906" cy="400110"/>
          </a:xfrm>
          <a:prstGeom prst="rect">
            <a:avLst/>
          </a:prstGeom>
          <a:noFill/>
        </p:spPr>
        <p:txBody>
          <a:bodyPr wrap="none" rtlCol="0">
            <a:spAutoFit/>
          </a:bodyPr>
          <a:lstStyle/>
          <a:p>
            <a:pPr algn="l"/>
            <a:r>
              <a:rPr lang="en-US" altLang="zh-CN" sz="2000" dirty="0"/>
              <a:t>2</a:t>
            </a:r>
            <a:endParaRPr lang="zh-CN" altLang="en-US" sz="2000" dirty="0"/>
          </a:p>
        </p:txBody>
      </p:sp>
      <p:sp>
        <p:nvSpPr>
          <p:cNvPr id="14" name="文本框 13">
            <a:extLst>
              <a:ext uri="{FF2B5EF4-FFF2-40B4-BE49-F238E27FC236}">
                <a16:creationId xmlns:a16="http://schemas.microsoft.com/office/drawing/2014/main" id="{7010EF86-A2F7-DD2E-CB02-52416406B85D}"/>
              </a:ext>
            </a:extLst>
          </p:cNvPr>
          <p:cNvSpPr txBox="1"/>
          <p:nvPr/>
        </p:nvSpPr>
        <p:spPr>
          <a:xfrm>
            <a:off x="9908841" y="4453974"/>
            <a:ext cx="312906" cy="400110"/>
          </a:xfrm>
          <a:prstGeom prst="rect">
            <a:avLst/>
          </a:prstGeom>
          <a:noFill/>
        </p:spPr>
        <p:txBody>
          <a:bodyPr wrap="none" rtlCol="0">
            <a:spAutoFit/>
          </a:bodyPr>
          <a:lstStyle/>
          <a:p>
            <a:pPr algn="l"/>
            <a:r>
              <a:rPr lang="en-US" altLang="zh-CN" sz="2000" dirty="0"/>
              <a:t>3</a:t>
            </a:r>
            <a:endParaRPr lang="zh-CN" altLang="en-US" sz="2000" dirty="0"/>
          </a:p>
        </p:txBody>
      </p:sp>
      <p:pic>
        <p:nvPicPr>
          <p:cNvPr id="16" name="图片 15">
            <a:extLst>
              <a:ext uri="{FF2B5EF4-FFF2-40B4-BE49-F238E27FC236}">
                <a16:creationId xmlns:a16="http://schemas.microsoft.com/office/drawing/2014/main" id="{FDED9243-6F7B-8DE6-7A64-079BB3F3E75E}"/>
              </a:ext>
            </a:extLst>
          </p:cNvPr>
          <p:cNvPicPr>
            <a:picLocks noChangeAspect="1"/>
          </p:cNvPicPr>
          <p:nvPr/>
        </p:nvPicPr>
        <p:blipFill>
          <a:blip r:embed="rId4"/>
          <a:stretch>
            <a:fillRect/>
          </a:stretch>
        </p:blipFill>
        <p:spPr>
          <a:xfrm>
            <a:off x="8009538" y="2906867"/>
            <a:ext cx="1069178" cy="403912"/>
          </a:xfrm>
          <a:prstGeom prst="rect">
            <a:avLst/>
          </a:prstGeom>
        </p:spPr>
      </p:pic>
    </p:spTree>
    <p:extLst>
      <p:ext uri="{BB962C8B-B14F-4D97-AF65-F5344CB8AC3E}">
        <p14:creationId xmlns:p14="http://schemas.microsoft.com/office/powerpoint/2010/main" val="4091192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提交成绩</a:t>
            </a:r>
          </a:p>
        </p:txBody>
      </p:sp>
      <p:pic>
        <p:nvPicPr>
          <p:cNvPr id="4" name="图片 3">
            <a:extLst>
              <a:ext uri="{FF2B5EF4-FFF2-40B4-BE49-F238E27FC236}">
                <a16:creationId xmlns:a16="http://schemas.microsoft.com/office/drawing/2014/main" id="{0046EB0D-9B8F-1E78-F403-9F36179E8416}"/>
              </a:ext>
            </a:extLst>
          </p:cNvPr>
          <p:cNvPicPr>
            <a:picLocks noChangeAspect="1"/>
          </p:cNvPicPr>
          <p:nvPr/>
        </p:nvPicPr>
        <p:blipFill>
          <a:blip r:embed="rId2"/>
          <a:stretch>
            <a:fillRect/>
          </a:stretch>
        </p:blipFill>
        <p:spPr>
          <a:xfrm>
            <a:off x="2447865" y="1012121"/>
            <a:ext cx="2178749" cy="501911"/>
          </a:xfrm>
          <a:prstGeom prst="rect">
            <a:avLst/>
          </a:prstGeom>
        </p:spPr>
      </p:pic>
      <p:sp>
        <p:nvSpPr>
          <p:cNvPr id="5" name="文本框 4">
            <a:extLst>
              <a:ext uri="{FF2B5EF4-FFF2-40B4-BE49-F238E27FC236}">
                <a16:creationId xmlns:a16="http://schemas.microsoft.com/office/drawing/2014/main" id="{1B9ED0A3-A0B4-D262-5B96-D3CD81D9A35A}"/>
              </a:ext>
            </a:extLst>
          </p:cNvPr>
          <p:cNvSpPr txBox="1"/>
          <p:nvPr/>
        </p:nvSpPr>
        <p:spPr>
          <a:xfrm>
            <a:off x="380999" y="1012121"/>
            <a:ext cx="11255830" cy="2807948"/>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选择右上角的                               在界面中点开 </a:t>
            </a:r>
            <a:r>
              <a:rPr lang="en-US" altLang="zh-CN" sz="2000" dirty="0">
                <a:solidFill>
                  <a:schemeClr val="tx2"/>
                </a:solidFill>
                <a:latin typeface="微软雅黑" panose="020B0503020204020204" pitchFamily="34" charset="-122"/>
                <a:ea typeface="微软雅黑" panose="020B0503020204020204" pitchFamily="34" charset="-122"/>
              </a:rPr>
              <a:t>Advanced Settings </a:t>
            </a:r>
            <a:r>
              <a:rPr lang="zh-CN" altLang="en-US" sz="2000" dirty="0">
                <a:solidFill>
                  <a:schemeClr val="tx2"/>
                </a:solidFill>
                <a:latin typeface="微软雅黑" panose="020B0503020204020204" pitchFamily="34" charset="-122"/>
                <a:ea typeface="微软雅黑" panose="020B0503020204020204" pitchFamily="34" charset="-122"/>
              </a:rPr>
              <a:t>并选择 </a:t>
            </a:r>
            <a:r>
              <a:rPr lang="en-US" altLang="zh-CN" sz="2000" dirty="0">
                <a:solidFill>
                  <a:schemeClr val="tx2"/>
                </a:solidFill>
                <a:latin typeface="微软雅黑" panose="020B0503020204020204" pitchFamily="34" charset="-122"/>
                <a:ea typeface="微软雅黑" panose="020B0503020204020204" pitchFamily="34" charset="-122"/>
              </a:rPr>
              <a:t>Run with GPU for all sessions</a:t>
            </a:r>
            <a:r>
              <a:rPr lang="zh-CN" altLang="en-US" sz="2000" dirty="0">
                <a:solidFill>
                  <a:schemeClr val="tx2"/>
                </a:solidFill>
                <a:latin typeface="微软雅黑" panose="020B0503020204020204" pitchFamily="34" charset="-122"/>
                <a:ea typeface="微软雅黑" panose="020B0503020204020204" pitchFamily="34" charset="-122"/>
              </a:rPr>
              <a:t> </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此时左下角出现了运行中的提示，运行结束后会出现 </a:t>
            </a:r>
            <a:r>
              <a:rPr lang="en-US" altLang="zh-CN" sz="2000" dirty="0">
                <a:solidFill>
                  <a:schemeClr val="tx2"/>
                </a:solidFill>
                <a:latin typeface="微软雅黑" panose="020B0503020204020204" pitchFamily="34" charset="-122"/>
                <a:ea typeface="微软雅黑" panose="020B0503020204020204" pitchFamily="34" charset="-122"/>
              </a:rPr>
              <a:t>successful </a:t>
            </a:r>
            <a:r>
              <a:rPr lang="zh-CN" altLang="en-US" sz="2000" dirty="0">
                <a:solidFill>
                  <a:schemeClr val="tx2"/>
                </a:solidFill>
                <a:latin typeface="微软雅黑" panose="020B0503020204020204" pitchFamily="34" charset="-122"/>
                <a:ea typeface="微软雅黑" panose="020B0503020204020204" pitchFamily="34" charset="-122"/>
              </a:rPr>
              <a:t>或者 </a:t>
            </a:r>
            <a:r>
              <a:rPr lang="en-US" altLang="zh-CN" sz="2000" dirty="0">
                <a:solidFill>
                  <a:schemeClr val="tx2"/>
                </a:solidFill>
                <a:latin typeface="微软雅黑" panose="020B0503020204020204" pitchFamily="34" charset="-122"/>
                <a:ea typeface="微软雅黑" panose="020B0503020204020204" pitchFamily="34" charset="-122"/>
              </a:rPr>
              <a:t>failed </a:t>
            </a:r>
            <a:r>
              <a:rPr lang="zh-CN" altLang="en-US" sz="2000" dirty="0">
                <a:solidFill>
                  <a:schemeClr val="tx2"/>
                </a:solidFill>
                <a:latin typeface="微软雅黑" panose="020B0503020204020204" pitchFamily="34" charset="-122"/>
                <a:ea typeface="微软雅黑" panose="020B0503020204020204" pitchFamily="34" charset="-122"/>
              </a:rPr>
              <a:t>字样</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点击运行结束的提示，进入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预览界面</a:t>
            </a:r>
            <a:br>
              <a:rPr lang="en-US" altLang="zh-CN" sz="2000" dirty="0">
                <a:solidFill>
                  <a:schemeClr val="tx2"/>
                </a:solidFill>
                <a:latin typeface="微软雅黑" panose="020B0503020204020204" pitchFamily="34" charset="-122"/>
                <a:ea typeface="微软雅黑" panose="020B0503020204020204" pitchFamily="34" charset="-122"/>
              </a:rPr>
            </a:br>
            <a:r>
              <a:rPr lang="zh-CN" altLang="en-US" sz="2000" dirty="0">
                <a:solidFill>
                  <a:schemeClr val="tx2"/>
                </a:solidFill>
                <a:latin typeface="微软雅黑" panose="020B0503020204020204" pitchFamily="34" charset="-122"/>
                <a:ea typeface="微软雅黑" panose="020B0503020204020204" pitchFamily="34" charset="-122"/>
              </a:rPr>
              <a:t>点击右上角三个点，选择 </a:t>
            </a:r>
            <a:r>
              <a:rPr lang="en-US" altLang="zh-CN" sz="2000" dirty="0">
                <a:solidFill>
                  <a:schemeClr val="tx2"/>
                </a:solidFill>
                <a:latin typeface="微软雅黑" panose="020B0503020204020204" pitchFamily="34" charset="-122"/>
                <a:ea typeface="微软雅黑" panose="020B0503020204020204" pitchFamily="34" charset="-122"/>
              </a:rPr>
              <a:t>submit to competition</a:t>
            </a: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点击 </a:t>
            </a:r>
            <a:r>
              <a:rPr lang="en-US" altLang="zh-CN" sz="2000" dirty="0">
                <a:solidFill>
                  <a:schemeClr val="tx2"/>
                </a:solidFill>
                <a:latin typeface="微软雅黑" panose="020B0503020204020204" pitchFamily="34" charset="-122"/>
                <a:ea typeface="微软雅黑" panose="020B0503020204020204" pitchFamily="34" charset="-122"/>
              </a:rPr>
              <a:t>submit </a:t>
            </a:r>
            <a:r>
              <a:rPr lang="zh-CN" altLang="en-US" sz="2000" dirty="0">
                <a:solidFill>
                  <a:schemeClr val="tx2"/>
                </a:solidFill>
                <a:latin typeface="微软雅黑" panose="020B0503020204020204" pitchFamily="34" charset="-122"/>
                <a:ea typeface="微软雅黑" panose="020B0503020204020204" pitchFamily="34" charset="-122"/>
              </a:rPr>
              <a:t>即可提交，作业会显示在 </a:t>
            </a:r>
            <a:r>
              <a:rPr lang="en-US" altLang="zh-CN" sz="2000" dirty="0">
                <a:solidFill>
                  <a:schemeClr val="tx2"/>
                </a:solidFill>
                <a:latin typeface="微软雅黑" panose="020B0503020204020204" pitchFamily="34" charset="-122"/>
                <a:ea typeface="微软雅黑" panose="020B0503020204020204" pitchFamily="34" charset="-122"/>
              </a:rPr>
              <a:t>“submission”</a:t>
            </a:r>
            <a:r>
              <a:rPr lang="zh-CN" altLang="en-US" sz="2000" dirty="0">
                <a:solidFill>
                  <a:schemeClr val="tx2"/>
                </a:solidFill>
                <a:latin typeface="微软雅黑" panose="020B0503020204020204" pitchFamily="34" charset="-122"/>
                <a:ea typeface="微软雅黑" panose="020B0503020204020204" pitchFamily="34" charset="-122"/>
              </a:rPr>
              <a:t>选项卡下</a:t>
            </a:r>
            <a:endParaRPr lang="en-US" altLang="zh-CN" sz="2000" dirty="0">
              <a:solidFill>
                <a:schemeClr val="tx2"/>
              </a:solidFill>
              <a:latin typeface="微软雅黑" panose="020B0503020204020204" pitchFamily="34" charset="-122"/>
              <a:ea typeface="微软雅黑" panose="020B0503020204020204" pitchFamily="34" charset="-122"/>
              <a:hlinkClick r:id="rId3">
                <a:extLst>
                  <a:ext uri="{A12FA001-AC4F-418D-AE19-62706E023703}">
                    <ahyp:hlinkClr xmlns:ahyp="http://schemas.microsoft.com/office/drawing/2018/hyperlinkcolor" val="tx"/>
                  </a:ext>
                </a:extLst>
              </a:hlinkClick>
            </a:endParaRPr>
          </a:p>
        </p:txBody>
      </p:sp>
      <p:pic>
        <p:nvPicPr>
          <p:cNvPr id="7" name="图片 6">
            <a:extLst>
              <a:ext uri="{FF2B5EF4-FFF2-40B4-BE49-F238E27FC236}">
                <a16:creationId xmlns:a16="http://schemas.microsoft.com/office/drawing/2014/main" id="{C548657C-DC52-D8EC-6E03-2200AE18F473}"/>
              </a:ext>
            </a:extLst>
          </p:cNvPr>
          <p:cNvPicPr>
            <a:picLocks noChangeAspect="1"/>
          </p:cNvPicPr>
          <p:nvPr/>
        </p:nvPicPr>
        <p:blipFill>
          <a:blip r:embed="rId4"/>
          <a:stretch>
            <a:fillRect/>
          </a:stretch>
        </p:blipFill>
        <p:spPr>
          <a:xfrm>
            <a:off x="7519662" y="2536161"/>
            <a:ext cx="4428119" cy="892839"/>
          </a:xfrm>
          <a:prstGeom prst="rect">
            <a:avLst/>
          </a:prstGeom>
        </p:spPr>
      </p:pic>
      <p:pic>
        <p:nvPicPr>
          <p:cNvPr id="11" name="图片 10">
            <a:extLst>
              <a:ext uri="{FF2B5EF4-FFF2-40B4-BE49-F238E27FC236}">
                <a16:creationId xmlns:a16="http://schemas.microsoft.com/office/drawing/2014/main" id="{3888214C-4A56-899D-8E10-D267C5705F57}"/>
              </a:ext>
            </a:extLst>
          </p:cNvPr>
          <p:cNvPicPr>
            <a:picLocks noChangeAspect="1"/>
          </p:cNvPicPr>
          <p:nvPr/>
        </p:nvPicPr>
        <p:blipFill>
          <a:blip r:embed="rId5"/>
          <a:stretch>
            <a:fillRect/>
          </a:stretch>
        </p:blipFill>
        <p:spPr>
          <a:xfrm>
            <a:off x="6383062" y="4073054"/>
            <a:ext cx="5427696" cy="1759971"/>
          </a:xfrm>
          <a:prstGeom prst="rect">
            <a:avLst/>
          </a:prstGeom>
        </p:spPr>
      </p:pic>
    </p:spTree>
    <p:extLst>
      <p:ext uri="{BB962C8B-B14F-4D97-AF65-F5344CB8AC3E}">
        <p14:creationId xmlns:p14="http://schemas.microsoft.com/office/powerpoint/2010/main" val="1098297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非作业思考题</a:t>
            </a:r>
            <a:endParaRPr lang="zh-CN" altLang="en-US" dirty="0"/>
          </a:p>
        </p:txBody>
      </p:sp>
      <p:sp>
        <p:nvSpPr>
          <p:cNvPr id="6" name="文本框 5">
            <a:extLst>
              <a:ext uri="{FF2B5EF4-FFF2-40B4-BE49-F238E27FC236}">
                <a16:creationId xmlns:a16="http://schemas.microsoft.com/office/drawing/2014/main" id="{A24480AD-8A3A-408E-B28E-B717A0983F40}"/>
              </a:ext>
            </a:extLst>
          </p:cNvPr>
          <p:cNvSpPr txBox="1"/>
          <p:nvPr/>
        </p:nvSpPr>
        <p:spPr>
          <a:xfrm>
            <a:off x="101059" y="6351998"/>
            <a:ext cx="9639572" cy="377283"/>
          </a:xfrm>
          <a:prstGeom prst="rect">
            <a:avLst/>
          </a:prstGeom>
          <a:noFill/>
        </p:spPr>
        <p:txBody>
          <a:bodyPr wrap="square" rtlCol="0">
            <a:spAutoFit/>
          </a:bodyPr>
          <a:lstStyle/>
          <a:p>
            <a:pPr>
              <a:lnSpc>
                <a:spcPct val="150000"/>
              </a:lnSpc>
            </a:pPr>
            <a:r>
              <a:rPr lang="en-US" altLang="zh-CN" sz="1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深度学习现象导论</a:t>
            </a:r>
            <a:r>
              <a:rPr lang="en-US" altLang="zh-CN"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许志钦、张耀宇 </a:t>
            </a:r>
            <a:r>
              <a:rPr lang="en-US" altLang="zh-CN" sz="1400" dirty="0">
                <a:solidFill>
                  <a:schemeClr val="bg1"/>
                </a:solidFill>
                <a:latin typeface="Times New Roman" panose="02020603050405020304" pitchFamily="18" charset="0"/>
                <a:cs typeface="Times New Roman" panose="02020603050405020304" pitchFamily="18" charset="0"/>
              </a:rPr>
              <a:t>https://github.com/xuzhiqin1990/understanding_dl</a:t>
            </a:r>
            <a:endPar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E36B3902-E8EB-48FE-B688-8C1DB0558A76}"/>
              </a:ext>
            </a:extLst>
          </p:cNvPr>
          <p:cNvSpPr>
            <a:spLocks noGrp="1"/>
          </p:cNvSpPr>
          <p:nvPr>
            <p:ph idx="1"/>
          </p:nvPr>
        </p:nvSpPr>
        <p:spPr>
          <a:xfrm>
            <a:off x="381242" y="981154"/>
            <a:ext cx="11429516" cy="5333856"/>
          </a:xfrm>
        </p:spPr>
        <p:txBody>
          <a:bodyPr>
            <a:normAutofit/>
          </a:bodyPr>
          <a:lstStyle/>
          <a:p>
            <a:pPr marL="342900" indent="-342900">
              <a:buFont typeface="+mj-lt"/>
              <a:buAutoNum type="arabicPeriod"/>
            </a:pPr>
            <a:r>
              <a:rPr kumimoji="1" lang="zh-CN" altLang="en-US" b="0" dirty="0"/>
              <a:t>残差网络中的跳跃连接（</a:t>
            </a:r>
            <a:r>
              <a:rPr kumimoji="1" lang="en-US" altLang="zh-CN" b="0" dirty="0"/>
              <a:t>Skip Connection</a:t>
            </a:r>
            <a:r>
              <a:rPr kumimoji="1" lang="zh-CN" altLang="en-US" b="0" dirty="0"/>
              <a:t>）对缓解梯度消失问题有重要作用。请推导残差网络中梯度反向传播的公式，并说明该公式如何体现出残差连接有助于梯度传播。</a:t>
            </a:r>
          </a:p>
        </p:txBody>
      </p:sp>
    </p:spTree>
    <p:extLst>
      <p:ext uri="{BB962C8B-B14F-4D97-AF65-F5344CB8AC3E}">
        <p14:creationId xmlns:p14="http://schemas.microsoft.com/office/powerpoint/2010/main" val="31920646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参考答案</a:t>
            </a:r>
            <a:endParaRPr lang="zh-CN" altLang="en-US" dirty="0"/>
          </a:p>
        </p:txBody>
      </p:sp>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E36B3902-E8EB-48FE-B688-8C1DB0558A76}"/>
                  </a:ext>
                </a:extLst>
              </p:cNvPr>
              <p:cNvSpPr>
                <a:spLocks noGrp="1"/>
              </p:cNvSpPr>
              <p:nvPr>
                <p:ph idx="1"/>
              </p:nvPr>
            </p:nvSpPr>
            <p:spPr>
              <a:xfrm>
                <a:off x="210941" y="839894"/>
                <a:ext cx="12074918" cy="5333856"/>
              </a:xfrm>
            </p:spPr>
            <p:txBody>
              <a:bodyPr>
                <a:noAutofit/>
              </a:bodyPr>
              <a:lstStyle/>
              <a:p>
                <a:r>
                  <a:rPr kumimoji="1" lang="zh-CN" altLang="en-US" sz="2000" b="0" dirty="0"/>
                  <a:t>假设网络有</a:t>
                </a:r>
                <a14:m>
                  <m:oMath xmlns:m="http://schemas.openxmlformats.org/officeDocument/2006/math">
                    <m:r>
                      <a:rPr kumimoji="1" lang="en-US" altLang="zh-CN" sz="2000" b="0" i="1" smtClean="0">
                        <a:latin typeface="Cambria Math" panose="02040503050406030204" pitchFamily="18" charset="0"/>
                      </a:rPr>
                      <m:t>𝐾</m:t>
                    </m:r>
                  </m:oMath>
                </a14:m>
                <a:r>
                  <a:rPr kumimoji="1" lang="zh-CN" altLang="en-US" sz="2000" b="0" dirty="0"/>
                  <a:t>层，每一层都具有残差连接，即</a:t>
                </a:r>
                <a:endParaRPr kumimoji="1" lang="en-US" altLang="zh-CN" sz="2000" b="0" i="1" dirty="0">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smtClean="0">
                              <a:latin typeface="Cambria Math" panose="02040503050406030204" pitchFamily="18" charset="0"/>
                            </a:rPr>
                            <m:t>𝑘</m:t>
                          </m:r>
                          <m:r>
                            <a:rPr kumimoji="1" lang="en-US" altLang="zh-CN" sz="2000" b="0" i="1">
                              <a:latin typeface="Cambria Math" panose="02040503050406030204" pitchFamily="18" charset="0"/>
                            </a:rPr>
                            <m:t>+1)</m:t>
                          </m:r>
                        </m:sup>
                      </m:sSup>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𝐹</m:t>
                      </m:r>
                      <m:d>
                        <m:dPr>
                          <m:ctrlPr>
                            <a:rPr kumimoji="1" lang="en-US" altLang="zh-CN" sz="2000" b="0" i="1" smtClean="0">
                              <a:latin typeface="Cambria Math" panose="02040503050406030204" pitchFamily="18" charset="0"/>
                            </a:rPr>
                          </m:ctrlPr>
                        </m:dPr>
                        <m:e>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smtClean="0">
                                      <a:latin typeface="Cambria Math" panose="02040503050406030204" pitchFamily="18" charset="0"/>
                                    </a:rPr>
                                    <m:t>𝑘</m:t>
                                  </m:r>
                                </m:e>
                              </m:d>
                            </m:sup>
                          </m:sSup>
                        </m:e>
                      </m:d>
                      <m:r>
                        <a:rPr kumimoji="1" lang="en-US" altLang="zh-CN"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smtClean="0">
                              <a:latin typeface="Cambria Math" panose="02040503050406030204" pitchFamily="18" charset="0"/>
                            </a:rPr>
                            <m:t>𝑘</m:t>
                          </m:r>
                          <m:r>
                            <a:rPr kumimoji="1" lang="en-US" altLang="zh-CN" sz="2000" b="0" i="1">
                              <a:latin typeface="Cambria Math" panose="02040503050406030204" pitchFamily="18" charset="0"/>
                            </a:rPr>
                            <m:t>)</m:t>
                          </m:r>
                        </m:sup>
                      </m:sSup>
                    </m:oMath>
                  </m:oMathPara>
                </a14:m>
                <a:endParaRPr kumimoji="1" lang="en-US" altLang="zh-CN" sz="2000" b="0" dirty="0"/>
              </a:p>
              <a:p>
                <a:r>
                  <a:rPr kumimoji="1" lang="zh-CN" altLang="en-US" sz="2000" b="0" dirty="0"/>
                  <a:t>对损失函数</a:t>
                </a:r>
                <a14:m>
                  <m:oMath xmlns:m="http://schemas.openxmlformats.org/officeDocument/2006/math">
                    <m:r>
                      <a:rPr kumimoji="1" lang="en-US" altLang="zh-CN" sz="2000" b="0" i="1" smtClean="0">
                        <a:latin typeface="Cambria Math" panose="02040503050406030204" pitchFamily="18" charset="0"/>
                      </a:rPr>
                      <m:t>𝐿</m:t>
                    </m:r>
                  </m:oMath>
                </a14:m>
                <a:r>
                  <a:rPr kumimoji="1" lang="zh-CN" altLang="en-US" sz="2000" b="0" dirty="0"/>
                  <a:t>反向传播：</a:t>
                </a:r>
                <a:endParaRPr kumimoji="1" lang="en-US" altLang="zh-CN" sz="2000" b="0" dirty="0"/>
              </a:p>
              <a:p>
                <a:pPr algn="ctr"/>
                <a14:m>
                  <m:oMathPara xmlns:m="http://schemas.openxmlformats.org/officeDocument/2006/math">
                    <m:oMathParaPr>
                      <m:jc m:val="center"/>
                    </m:oMathParaPr>
                    <m:oMath xmlns:m="http://schemas.openxmlformats.org/officeDocument/2006/math">
                      <m:f>
                        <m:fPr>
                          <m:ctrlPr>
                            <a:rPr kumimoji="1" lang="en-US" altLang="zh-CN" sz="2000" b="0" i="1" smtClean="0">
                              <a:latin typeface="Cambria Math" panose="02040503050406030204" pitchFamily="18" charset="0"/>
                            </a:rPr>
                          </m:ctrlPr>
                        </m:fPr>
                        <m:num>
                          <m:r>
                            <a:rPr kumimoji="1" lang="zh-CN" altLang="en-US" sz="2000" b="0" i="1" smtClean="0">
                              <a:latin typeface="Cambria Math" panose="02040503050406030204" pitchFamily="18" charset="0"/>
                            </a:rPr>
                            <m:t>𝜕</m:t>
                          </m:r>
                          <m:r>
                            <a:rPr kumimoji="1" lang="en-US" altLang="zh-CN" sz="2000" b="0" i="1" smtClean="0">
                              <a:latin typeface="Cambria Math" panose="02040503050406030204" pitchFamily="18" charset="0"/>
                            </a:rPr>
                            <m:t>𝐿</m:t>
                          </m:r>
                        </m:num>
                        <m:den>
                          <m:r>
                            <a:rPr kumimoji="1" lang="zh-CN" altLang="en-US"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a:latin typeface="Cambria Math" panose="02040503050406030204" pitchFamily="18" charset="0"/>
                                </a:rPr>
                                <m:t>𝑘</m:t>
                              </m:r>
                              <m:r>
                                <a:rPr kumimoji="1" lang="en-US" altLang="zh-CN" sz="2000" b="0" i="1">
                                  <a:latin typeface="Cambria Math" panose="02040503050406030204" pitchFamily="18" charset="0"/>
                                </a:rPr>
                                <m:t>)</m:t>
                              </m:r>
                            </m:sup>
                          </m:sSup>
                        </m:den>
                      </m:f>
                      <m:r>
                        <a:rPr kumimoji="1" lang="en-US" altLang="zh-CN" sz="2000" b="0" i="1">
                          <a:latin typeface="Cambria Math" panose="02040503050406030204" pitchFamily="18" charset="0"/>
                        </a:rPr>
                        <m:t>=</m:t>
                      </m:r>
                      <m:f>
                        <m:fPr>
                          <m:ctrlPr>
                            <a:rPr kumimoji="1" lang="en-US" altLang="zh-CN" sz="2000" b="0" i="1">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a:latin typeface="Cambria Math" panose="02040503050406030204" pitchFamily="18" charset="0"/>
                            </a:rPr>
                            <m:t>𝐿</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a:latin typeface="Cambria Math" panose="02040503050406030204" pitchFamily="18" charset="0"/>
                                </a:rPr>
                                <m:t>𝑘</m:t>
                              </m:r>
                              <m:r>
                                <a:rPr kumimoji="1" lang="en-US" altLang="zh-CN" sz="2000" b="0" i="1">
                                  <a:latin typeface="Cambria Math" panose="02040503050406030204" pitchFamily="18" charset="0"/>
                                </a:rPr>
                                <m:t>+1)</m:t>
                              </m:r>
                            </m:sup>
                          </m:sSup>
                        </m:den>
                      </m:f>
                      <m:r>
                        <a:rPr kumimoji="1" lang="en-US" altLang="zh-CN" sz="2000" b="0" i="1" smtClean="0">
                          <a:latin typeface="Cambria Math" panose="02040503050406030204" pitchFamily="18" charset="0"/>
                          <a:ea typeface="Cambria Math" panose="02040503050406030204" pitchFamily="18" charset="0"/>
                        </a:rPr>
                        <m:t>∙(</m:t>
                      </m:r>
                      <m:f>
                        <m:fPr>
                          <m:ctrlPr>
                            <a:rPr kumimoji="1" lang="en-US" altLang="zh-CN" sz="2000" b="0" i="1">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smtClean="0">
                              <a:latin typeface="Cambria Math" panose="02040503050406030204" pitchFamily="18" charset="0"/>
                            </a:rPr>
                            <m:t>𝐹</m:t>
                          </m:r>
                          <m:r>
                            <a:rPr kumimoji="1" lang="en-US" altLang="zh-CN"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r>
                            <a:rPr kumimoji="1" lang="zh-CN" altLang="en-US" sz="2000" b="0" i="1">
                              <a:latin typeface="Cambria Math" panose="02040503050406030204" pitchFamily="18" charset="0"/>
                            </a:rPr>
                            <m:t>）</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den>
                      </m:f>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𝐼</m:t>
                      </m:r>
                      <m:r>
                        <a:rPr kumimoji="1" lang="en-US" altLang="zh-CN" sz="2000" b="0" i="1" smtClean="0">
                          <a:latin typeface="Cambria Math" panose="02040503050406030204" pitchFamily="18" charset="0"/>
                        </a:rPr>
                        <m:t>)</m:t>
                      </m:r>
                    </m:oMath>
                  </m:oMathPara>
                </a14:m>
                <a:endParaRPr kumimoji="1" lang="en-US" altLang="zh-CN" sz="2000" b="0" dirty="0"/>
              </a:p>
              <a:p>
                <a:r>
                  <a:rPr kumimoji="1" lang="zh-CN" altLang="en-US" sz="2000" b="0" dirty="0"/>
                  <a:t>如果没有残差连接，对损失函数</a:t>
                </a:r>
                <a14:m>
                  <m:oMath xmlns:m="http://schemas.openxmlformats.org/officeDocument/2006/math">
                    <m:r>
                      <a:rPr kumimoji="1" lang="en-US" altLang="zh-CN" sz="2000" b="0" i="1" smtClean="0">
                        <a:latin typeface="Cambria Math" panose="02040503050406030204" pitchFamily="18" charset="0"/>
                      </a:rPr>
                      <m:t>𝐿</m:t>
                    </m:r>
                  </m:oMath>
                </a14:m>
                <a:r>
                  <a:rPr kumimoji="1" lang="zh-CN" altLang="en-US" sz="2000" b="0" dirty="0"/>
                  <a:t>反向传播：</a:t>
                </a:r>
                <a:endParaRPr kumimoji="1" lang="en-US" altLang="zh-CN" sz="2000" b="0" dirty="0"/>
              </a:p>
              <a:p>
                <a:pPr algn="l"/>
                <a14:m>
                  <m:oMathPara xmlns:m="http://schemas.openxmlformats.org/officeDocument/2006/math">
                    <m:oMathParaPr>
                      <m:jc m:val="centerGroup"/>
                    </m:oMathParaPr>
                    <m:oMath xmlns:m="http://schemas.openxmlformats.org/officeDocument/2006/math">
                      <m:f>
                        <m:fPr>
                          <m:ctrlPr>
                            <a:rPr kumimoji="1" lang="en-US" altLang="zh-CN" sz="2000" b="0" i="1" smtClean="0">
                              <a:latin typeface="Cambria Math" panose="02040503050406030204" pitchFamily="18" charset="0"/>
                            </a:rPr>
                          </m:ctrlPr>
                        </m:fPr>
                        <m:num>
                          <m:r>
                            <a:rPr kumimoji="1" lang="zh-CN" altLang="en-US" sz="2000" b="0" i="1" smtClean="0">
                              <a:latin typeface="Cambria Math" panose="02040503050406030204" pitchFamily="18" charset="0"/>
                            </a:rPr>
                            <m:t>𝜕</m:t>
                          </m:r>
                          <m:r>
                            <a:rPr kumimoji="1" lang="en-US" altLang="zh-CN" sz="2000" b="0" i="1" smtClean="0">
                              <a:latin typeface="Cambria Math" panose="02040503050406030204" pitchFamily="18" charset="0"/>
                            </a:rPr>
                            <m:t>𝐿</m:t>
                          </m:r>
                        </m:num>
                        <m:den>
                          <m:r>
                            <a:rPr kumimoji="1" lang="zh-CN" altLang="en-US"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a:latin typeface="Cambria Math" panose="02040503050406030204" pitchFamily="18" charset="0"/>
                                </a:rPr>
                                <m:t>𝑘</m:t>
                              </m:r>
                              <m:r>
                                <a:rPr kumimoji="1" lang="en-US" altLang="zh-CN" sz="2000" b="0" i="1">
                                  <a:latin typeface="Cambria Math" panose="02040503050406030204" pitchFamily="18" charset="0"/>
                                </a:rPr>
                                <m:t>)</m:t>
                              </m:r>
                            </m:sup>
                          </m:sSup>
                        </m:den>
                      </m:f>
                      <m:r>
                        <a:rPr kumimoji="1" lang="en-US" altLang="zh-CN" sz="2000" b="0" i="1">
                          <a:latin typeface="Cambria Math" panose="02040503050406030204" pitchFamily="18" charset="0"/>
                        </a:rPr>
                        <m:t>=</m:t>
                      </m:r>
                      <m:f>
                        <m:fPr>
                          <m:ctrlPr>
                            <a:rPr kumimoji="1" lang="en-US" altLang="zh-CN" sz="2000" b="0" i="1">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a:latin typeface="Cambria Math" panose="02040503050406030204" pitchFamily="18" charset="0"/>
                            </a:rPr>
                            <m:t>𝐿</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a:latin typeface="Cambria Math" panose="02040503050406030204" pitchFamily="18" charset="0"/>
                                </a:rPr>
                                <m:t>𝑘</m:t>
                              </m:r>
                              <m:r>
                                <a:rPr kumimoji="1" lang="en-US" altLang="zh-CN" sz="2000" b="0" i="1">
                                  <a:latin typeface="Cambria Math" panose="02040503050406030204" pitchFamily="18" charset="0"/>
                                </a:rPr>
                                <m:t>+1)</m:t>
                              </m:r>
                            </m:sup>
                          </m:sSup>
                        </m:den>
                      </m:f>
                      <m:r>
                        <a:rPr kumimoji="1" lang="en-US" altLang="zh-CN" sz="2000" b="0" i="1" smtClean="0">
                          <a:latin typeface="Cambria Math" panose="02040503050406030204" pitchFamily="18" charset="0"/>
                          <a:ea typeface="Cambria Math" panose="02040503050406030204" pitchFamily="18" charset="0"/>
                        </a:rPr>
                        <m:t>∙</m:t>
                      </m:r>
                      <m:f>
                        <m:fPr>
                          <m:ctrlPr>
                            <a:rPr kumimoji="1" lang="en-US" altLang="zh-CN" sz="2000" b="0" i="1">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smtClean="0">
                              <a:latin typeface="Cambria Math" panose="02040503050406030204" pitchFamily="18" charset="0"/>
                            </a:rPr>
                            <m:t>𝐹</m:t>
                          </m:r>
                          <m:r>
                            <a:rPr kumimoji="1" lang="en-US" altLang="zh-CN"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r>
                            <a:rPr kumimoji="1" lang="zh-CN" altLang="en-US" sz="2000" b="0" i="1">
                              <a:latin typeface="Cambria Math" panose="02040503050406030204" pitchFamily="18" charset="0"/>
                            </a:rPr>
                            <m:t>）</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den>
                      </m:f>
                    </m:oMath>
                  </m:oMathPara>
                </a14:m>
                <a:endParaRPr kumimoji="1" lang="en-US" altLang="zh-CN" sz="2000" b="0" dirty="0"/>
              </a:p>
              <a:p>
                <a:pPr algn="l"/>
                <a:endParaRPr kumimoji="1" lang="en-US" altLang="zh-CN" sz="2000" b="0" dirty="0"/>
              </a:p>
              <a:p>
                <a:pPr algn="l"/>
                <a:r>
                  <a:rPr kumimoji="1" lang="zh-CN" altLang="en-US" sz="2000" b="0" dirty="0"/>
                  <a:t>由于 </a:t>
                </a:r>
                <a14:m>
                  <m:oMath xmlns:m="http://schemas.openxmlformats.org/officeDocument/2006/math">
                    <m:f>
                      <m:fPr>
                        <m:ctrlPr>
                          <a:rPr kumimoji="1" lang="en-US" altLang="zh-CN" sz="2000" b="0" i="1" smtClean="0">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smtClean="0">
                            <a:latin typeface="Cambria Math" panose="02040503050406030204" pitchFamily="18" charset="0"/>
                          </a:rPr>
                          <m:t>𝐹</m:t>
                        </m:r>
                        <m:r>
                          <a:rPr kumimoji="1" lang="en-US" altLang="zh-CN"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r>
                          <a:rPr kumimoji="1" lang="zh-CN" altLang="en-US" sz="2000" b="0" i="1">
                            <a:latin typeface="Cambria Math" panose="02040503050406030204" pitchFamily="18" charset="0"/>
                          </a:rPr>
                          <m:t>）</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den>
                    </m:f>
                  </m:oMath>
                </a14:m>
                <a:r>
                  <a:rPr kumimoji="1" lang="zh-CN" altLang="en-US" sz="2000" b="0" dirty="0"/>
                  <a:t> 可能包含较小的权重矩阵乘积，在深层网络中容易导致梯度衰减甚至消失。</a:t>
                </a:r>
              </a:p>
            </p:txBody>
          </p:sp>
        </mc:Choice>
        <mc:Fallback xmlns="">
          <p:sp>
            <p:nvSpPr>
              <p:cNvPr id="7" name="内容占位符 2">
                <a:extLst>
                  <a:ext uri="{FF2B5EF4-FFF2-40B4-BE49-F238E27FC236}">
                    <a16:creationId xmlns:a16="http://schemas.microsoft.com/office/drawing/2014/main" id="{E36B3902-E8EB-48FE-B688-8C1DB0558A76}"/>
                  </a:ext>
                </a:extLst>
              </p:cNvPr>
              <p:cNvSpPr>
                <a:spLocks noGrp="1" noRot="1" noChangeAspect="1" noMove="1" noResize="1" noEditPoints="1" noAdjustHandles="1" noChangeArrowheads="1" noChangeShapeType="1" noTextEdit="1"/>
              </p:cNvSpPr>
              <p:nvPr>
                <p:ph idx="1"/>
              </p:nvPr>
            </p:nvSpPr>
            <p:spPr>
              <a:xfrm>
                <a:off x="210941" y="839894"/>
                <a:ext cx="12074918" cy="5333856"/>
              </a:xfrm>
              <a:blipFill>
                <a:blip r:embed="rId2"/>
                <a:stretch>
                  <a:fillRect l="-556" t="-9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1686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TIMING" val="|38.8|18.9|1.4"/>
</p:tagLst>
</file>

<file path=ppt/tags/tag4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TIMING" val="|33.8|11.2|29.5|1.7|5.5|2.2|5.3|2.8|6|0.7|4|14.1|11.3"/>
</p:tagLst>
</file>

<file path=ppt/tags/tag47.xml><?xml version="1.0" encoding="utf-8"?>
<p:tagLst xmlns:a="http://schemas.openxmlformats.org/drawingml/2006/main" xmlns:r="http://schemas.openxmlformats.org/officeDocument/2006/relationships" xmlns:p="http://schemas.openxmlformats.org/presentationml/2006/main">
  <p:tag name="KSO_WM_SLIDE_ID" val="diagram20217323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TAG_VERSION" val="1.0"/>
  <p:tag name="KSO_WM_BEAUTIFY_FLAG" val="#wm#"/>
  <p:tag name="KSO_WM_TEMPLATE_CATEGORY" val="diagram"/>
  <p:tag name="KSO_WM_TEMPLATE_INDEX" val="20217323"/>
  <p:tag name="KSO_WM_SLIDE_LAYOUT" val="a_f"/>
  <p:tag name="KSO_WM_SLIDE_LAYOUT_CNT" val="1_1"/>
  <p:tag name="KSO_WM_TEMPLATE_THUMBS_INDEX" val="1、4、7、12、13、14、15、16、17、18、20、24、25、28、33、36、40、43、44"/>
  <p:tag name="KSO_WM_SLIDE_SIZE" val="840*472"/>
  <p:tag name="KSO_WM_SLIDE_POSITION" val="58*47"/>
  <p:tag name="KSO_WM_SLIDE_LAYOUT_INFO" val="{&quot;backgroundInfo&quot;:[{&quot;bottom&quot;:0,&quot;bottomAbs&quot;:false,&quot;left&quot;:0,&quot;leftAbs&quot;:false,&quot;right&quot;:0,&quot;rightAbs&quot;:false,&quot;top&quot;:0,&quot;topAbs&quot;:false,&quot;type&quot;:&quot;general&quot;}],&quot;id&quot;:&quot;2021-04-01T16:19:52&quot;,&quot;maxSize&quot;:{&quot;size1&quot;:55.23219037939001},&quot;minSize&quot;:{&quot;size1&quot;:36.03219037939001},&quot;normalSize&quot;:{&quot;size1&quot;:36.0323755645752},&quot;subLayout&quot;:[{&quot;id&quot;:&quot;2021-04-01T16:19:52&quot;,&quot;margin&quot;:{&quot;bottom&quot;:0.8479999303817749,&quot;left&quot;:5.502999782562256,&quot;right&quot;:5.502999782562256,&quot;top&quot;:3.38700008392334},&quot;type&quot;:0},{&quot;id&quot;:&quot;2021-04-01T16:19:52&quot;,&quot;margin&quot;:{&quot;bottom&quot;:3.38700008392334,&quot;left&quot;:5.502999782562256,&quot;right&quot;:5.502999782562256,&quot;top&quot;:0.02600000612437725},&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d06e271fa9d42129da2b20"/>
  <p:tag name="KSO_WM_CHIP_FILLPROP" val="[[{&quot;text_align&quot;:&quot;lb&quot;,&quot;text_direction&quot;:&quot;horizontal&quot;,&quot;support_big_font&quot;:false,&quot;picture_toward&quot;:0,&quot;picture_dockside&quot;:[],&quot;fill_id&quot;:&quot;d689204f4de345a4982605551024dd38&quot;,&quot;fill_align&quot;:&quot;lb&quot;,&quot;chip_types&quot;:[&quot;text&quot;,&quot;header&quot;]},{&quot;text_align&quot;:&quot;lt&quot;,&quot;text_direction&quot;:&quot;horizontal&quot;,&quot;support_big_font&quot;:true,&quot;picture_toward&quot;:0,&quot;picture_dockside&quot;:[],&quot;fill_id&quot;:&quot;85fe55258c1643f296a379467dde860b&quot;,&quot;fill_align&quot;:&quot;lt&quot;,&quot;chip_types&quot;:[&quot;text&quot;,&quot;header&quot;]}],[{&quot;text_align&quot;:&quot;cb&quot;,&quot;text_direction&quot;:&quot;horizontal&quot;,&quot;support_big_font&quot;:false,&quot;picture_toward&quot;:0,&quot;picture_dockside&quot;:[],&quot;fill_id&quot;:&quot;d689204f4de345a4982605551024dd38&quot;,&quot;fill_align&quot;:&quot;cb&quot;,&quot;chip_types&quot;:[&quot;text&quot;,&quot;header&quot;]},{&quot;text_align&quot;:&quot;ct&quot;,&quot;text_direction&quot;:&quot;horizontal&quot;,&quot;support_big_font&quot;:true,&quot;picture_toward&quot;:0,&quot;picture_dockside&quot;:[],&quot;fill_id&quot;:&quot;85fe55258c1643f296a379467dde860b&quot;,&quot;fill_align&quot;:&quot;ct&quot;,&quot;chip_types&quot;:[&quot;text&quot;,&quot;header&quot;]}]]"/>
  <p:tag name="KSO_WM_CHIP_DECFILLPROP" val="[]"/>
  <p:tag name="KSO_WM_CHIP_GROUPID" val="5fd06e271fa9d42129da2b1f"/>
  <p:tag name="KSO_WM_SLIDE_BK_DARK_LIGHT" val="2"/>
  <p:tag name="KSO_WM_SLIDE_BACKGROUND_TYPE" val="general"/>
  <p:tag name="KSO_WM_SLIDE_SUPPORT_FEATURE_TYPE" val="0"/>
  <p:tag name="KSO_WM_TEMPLATE_ASSEMBLE_XID" val="6065707b4054ed1e2fb81627"/>
  <p:tag name="KSO_WM_TEMPLATE_ASSEMBLE_GROUPID" val="6065707b4054ed1e2fb81627"/>
</p:tagLst>
</file>

<file path=ppt/tags/tag48.xml><?xml version="1.0" encoding="utf-8"?>
<p:tagLst xmlns:a="http://schemas.openxmlformats.org/drawingml/2006/main" xmlns:r="http://schemas.openxmlformats.org/officeDocument/2006/relationships" xmlns:p="http://schemas.openxmlformats.org/presentationml/2006/main">
  <p:tag name="KSO_WM_SLIDE_ID" val="diagram20217323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TAG_VERSION" val="1.0"/>
  <p:tag name="KSO_WM_BEAUTIFY_FLAG" val="#wm#"/>
  <p:tag name="KSO_WM_TEMPLATE_CATEGORY" val="diagram"/>
  <p:tag name="KSO_WM_TEMPLATE_INDEX" val="20217323"/>
  <p:tag name="KSO_WM_SLIDE_LAYOUT" val="a_f"/>
  <p:tag name="KSO_WM_SLIDE_LAYOUT_CNT" val="1_1"/>
  <p:tag name="KSO_WM_TEMPLATE_THUMBS_INDEX" val="1、4、7、12、13、14、15、16、17、18、20、24、25、28、33、36、40、43、44"/>
  <p:tag name="KSO_WM_SLIDE_SIZE" val="840*472"/>
  <p:tag name="KSO_WM_SLIDE_POSITION" val="58*47"/>
  <p:tag name="KSO_WM_SLIDE_LAYOUT_INFO" val="{&quot;backgroundInfo&quot;:[{&quot;bottom&quot;:0,&quot;bottomAbs&quot;:false,&quot;left&quot;:0,&quot;leftAbs&quot;:false,&quot;right&quot;:0,&quot;rightAbs&quot;:false,&quot;top&quot;:0,&quot;topAbs&quot;:false,&quot;type&quot;:&quot;general&quot;}],&quot;id&quot;:&quot;2021-04-01T16:19:52&quot;,&quot;maxSize&quot;:{&quot;size1&quot;:55.23219037939001},&quot;minSize&quot;:{&quot;size1&quot;:36.03219037939001},&quot;normalSize&quot;:{&quot;size1&quot;:36.0323755645752},&quot;subLayout&quot;:[{&quot;id&quot;:&quot;2021-04-01T16:19:52&quot;,&quot;margin&quot;:{&quot;bottom&quot;:0.8479999303817749,&quot;left&quot;:5.502999782562256,&quot;right&quot;:5.502999782562256,&quot;top&quot;:3.38700008392334},&quot;type&quot;:0},{&quot;id&quot;:&quot;2021-04-01T16:19:52&quot;,&quot;margin&quot;:{&quot;bottom&quot;:3.38700008392334,&quot;left&quot;:5.502999782562256,&quot;right&quot;:5.502999782562256,&quot;top&quot;:0.02600000612437725},&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d06e271fa9d42129da2b20"/>
  <p:tag name="KSO_WM_CHIP_FILLPROP" val="[[{&quot;text_align&quot;:&quot;lb&quot;,&quot;text_direction&quot;:&quot;horizontal&quot;,&quot;support_big_font&quot;:false,&quot;picture_toward&quot;:0,&quot;picture_dockside&quot;:[],&quot;fill_id&quot;:&quot;d689204f4de345a4982605551024dd38&quot;,&quot;fill_align&quot;:&quot;lb&quot;,&quot;chip_types&quot;:[&quot;text&quot;,&quot;header&quot;]},{&quot;text_align&quot;:&quot;lt&quot;,&quot;text_direction&quot;:&quot;horizontal&quot;,&quot;support_big_font&quot;:true,&quot;picture_toward&quot;:0,&quot;picture_dockside&quot;:[],&quot;fill_id&quot;:&quot;85fe55258c1643f296a379467dde860b&quot;,&quot;fill_align&quot;:&quot;lt&quot;,&quot;chip_types&quot;:[&quot;text&quot;,&quot;header&quot;]}],[{&quot;text_align&quot;:&quot;cb&quot;,&quot;text_direction&quot;:&quot;horizontal&quot;,&quot;support_big_font&quot;:false,&quot;picture_toward&quot;:0,&quot;picture_dockside&quot;:[],&quot;fill_id&quot;:&quot;d689204f4de345a4982605551024dd38&quot;,&quot;fill_align&quot;:&quot;cb&quot;,&quot;chip_types&quot;:[&quot;text&quot;,&quot;header&quot;]},{&quot;text_align&quot;:&quot;ct&quot;,&quot;text_direction&quot;:&quot;horizontal&quot;,&quot;support_big_font&quot;:true,&quot;picture_toward&quot;:0,&quot;picture_dockside&quot;:[],&quot;fill_id&quot;:&quot;85fe55258c1643f296a379467dde860b&quot;,&quot;fill_align&quot;:&quot;ct&quot;,&quot;chip_types&quot;:[&quot;text&quot;,&quot;header&quot;]}]]"/>
  <p:tag name="KSO_WM_CHIP_DECFILLPROP" val="[]"/>
  <p:tag name="KSO_WM_CHIP_GROUPID" val="5fd06e271fa9d42129da2b1f"/>
  <p:tag name="KSO_WM_SLIDE_BK_DARK_LIGHT" val="2"/>
  <p:tag name="KSO_WM_SLIDE_BACKGROUND_TYPE" val="general"/>
  <p:tag name="KSO_WM_SLIDE_SUPPORT_FEATURE_TYPE" val="0"/>
  <p:tag name="KSO_WM_TEMPLATE_ASSEMBLE_XID" val="6065707b4054ed1e2fb81627"/>
  <p:tag name="KSO_WM_TEMPLATE_ASSEMBLE_GROUPID" val="6065707b4054ed1e2fb81627"/>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860.xml><?xml version="1.0" encoding="utf-8"?>
<p:tagLst xmlns:p="http://schemas.openxmlformats.org/presentationml/2006/main">
  <p:tag name="KSO_WM_BEAUTIFY_FLAG" val=""/>
</p:tagLst>
</file>

<file path=ppt/theme/theme1.xml><?xml version="1.0" encoding="utf-8"?>
<a:theme xmlns:a="http://schemas.openxmlformats.org/drawingml/2006/main" name="1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自定义 1">
      <a:majorFont>
        <a:latin typeface="Segoe UI"/>
        <a:ea typeface="微软雅黑"/>
        <a:cs typeface=""/>
      </a:majorFont>
      <a:minorFont>
        <a:latin typeface="Segoe UI"/>
        <a:ea typeface="微软雅黑"/>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1934</TotalTime>
  <Words>1882</Words>
  <Application>Microsoft Office PowerPoint</Application>
  <PresentationFormat>宽屏</PresentationFormat>
  <Paragraphs>200</Paragraphs>
  <Slides>37</Slides>
  <Notes>1</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37</vt:i4>
      </vt:variant>
    </vt:vector>
  </HeadingPairs>
  <TitlesOfParts>
    <vt:vector size="53" baseType="lpstr">
      <vt:lpstr>CMMI10</vt:lpstr>
      <vt:lpstr>FandolSong-Regular-Identity-H</vt:lpstr>
      <vt:lpstr>LMRoman10-Regular-Identity-H</vt:lpstr>
      <vt:lpstr>quote-cjk-patch</vt:lpstr>
      <vt:lpstr>等线</vt:lpstr>
      <vt:lpstr>等线 Light</vt:lpstr>
      <vt:lpstr>华文宋体</vt:lpstr>
      <vt:lpstr>微软雅黑</vt:lpstr>
      <vt:lpstr>Arial</vt:lpstr>
      <vt:lpstr>Book Antiqua</vt:lpstr>
      <vt:lpstr>Cambria Math</vt:lpstr>
      <vt:lpstr>Segoe UI</vt:lpstr>
      <vt:lpstr>Times New Roman</vt:lpstr>
      <vt:lpstr>Wingdings</vt:lpstr>
      <vt:lpstr>1_自定义设计方案</vt:lpstr>
      <vt:lpstr>2_自定义设计方案</vt:lpstr>
      <vt:lpstr>PowerPoint 演示文稿</vt:lpstr>
      <vt:lpstr>参考：《深度学习现象导论》第三章。</vt:lpstr>
      <vt:lpstr>神经网络简介</vt:lpstr>
      <vt:lpstr>单个神经元如何感知信息</vt:lpstr>
      <vt:lpstr>单个神经元如何感知信息</vt:lpstr>
      <vt:lpstr>PowerPoint 演示文稿</vt:lpstr>
      <vt:lpstr>PowerPoint 演示文稿</vt:lpstr>
      <vt:lpstr>PowerPoint 演示文稿</vt:lpstr>
      <vt:lpstr>PowerPoint 演示文稿</vt:lpstr>
      <vt:lpstr>PowerPoint 演示文稿</vt:lpstr>
      <vt:lpstr>PowerPoint 演示文稿</vt:lpstr>
      <vt:lpstr>多层神经网络</vt:lpstr>
      <vt:lpstr>理解神经网络</vt:lpstr>
      <vt:lpstr>PowerPoint 演示文稿</vt:lpstr>
      <vt:lpstr>万有逼近定理</vt:lpstr>
      <vt:lpstr>PowerPoint 演示文稿</vt:lpstr>
      <vt:lpstr>多层神经网络</vt:lpstr>
      <vt:lpstr>请思考</vt:lpstr>
      <vt:lpstr>残差神经网络</vt:lpstr>
      <vt:lpstr>退化问题</vt:lpstr>
      <vt:lpstr>Sigmoid函数饱和</vt:lpstr>
      <vt:lpstr>残差神经网络</vt:lpstr>
      <vt:lpstr>退化问题</vt:lpstr>
      <vt:lpstr>复习：损失函数</vt:lpstr>
      <vt:lpstr>复习：损失函数</vt:lpstr>
      <vt:lpstr>参数的初始化</vt:lpstr>
      <vt:lpstr>参数的初始化</vt:lpstr>
      <vt:lpstr>实验</vt:lpstr>
      <vt:lpstr>Kaggle介绍</vt:lpstr>
      <vt:lpstr>Kaggle注册</vt:lpstr>
      <vt:lpstr>经典分类任务 MNIST 数据集介绍</vt:lpstr>
      <vt:lpstr>代码简介</vt:lpstr>
      <vt:lpstr>Kaggle跑实验说明</vt:lpstr>
      <vt:lpstr>Kaggle提交成绩</vt:lpstr>
      <vt:lpstr>非作业思考题</vt:lpstr>
      <vt:lpstr>参考答案</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Frequency perspective to understand depth effect and robustness of deep learning</dc:title>
  <dc:creator>zhiqin xu</dc:creator>
  <cp:lastModifiedBy>zhiqin xu</cp:lastModifiedBy>
  <cp:revision>637</cp:revision>
  <dcterms:created xsi:type="dcterms:W3CDTF">2020-06-05T07:59:00Z</dcterms:created>
  <dcterms:modified xsi:type="dcterms:W3CDTF">2026-05-24T14:13:25Z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31F957580B7B45D18D290D792645BC9D_13</vt:lpwstr>
  </property>
  <property fmtid="{D5CDD505-2E9C-101B-9397-08002B2CF9AE}" pid="3" name="KSOProductBuildVer">
    <vt:lpwstr>2052-12.1.0.19770</vt:lpwstr>
  </property>
</Properties>
</file>