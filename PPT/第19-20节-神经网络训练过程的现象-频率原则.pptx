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3"/>
  </p:notesMasterIdLst>
  <p:sldIdLst>
    <p:sldId id="10345" r:id="rId2"/>
    <p:sldId id="10471" r:id="rId3"/>
    <p:sldId id="10362" r:id="rId4"/>
    <p:sldId id="10467" r:id="rId5"/>
    <p:sldId id="10847" r:id="rId6"/>
    <p:sldId id="10843" r:id="rId7"/>
    <p:sldId id="10845" r:id="rId8"/>
    <p:sldId id="10846" r:id="rId9"/>
    <p:sldId id="10237" r:id="rId10"/>
    <p:sldId id="10344" r:id="rId11"/>
    <p:sldId id="10339" r:id="rId12"/>
    <p:sldId id="10340" r:id="rId13"/>
    <p:sldId id="10341" r:id="rId14"/>
    <p:sldId id="284" r:id="rId15"/>
    <p:sldId id="10848" r:id="rId16"/>
    <p:sldId id="10849" r:id="rId17"/>
    <p:sldId id="10850" r:id="rId18"/>
    <p:sldId id="10346" r:id="rId19"/>
    <p:sldId id="10353" r:id="rId20"/>
    <p:sldId id="10342" r:id="rId21"/>
    <p:sldId id="10348" r:id="rId22"/>
    <p:sldId id="10466" r:id="rId23"/>
    <p:sldId id="10354" r:id="rId24"/>
    <p:sldId id="2200" r:id="rId25"/>
    <p:sldId id="10464" r:id="rId26"/>
    <p:sldId id="10465" r:id="rId27"/>
    <p:sldId id="10349" r:id="rId28"/>
    <p:sldId id="10842" r:id="rId29"/>
    <p:sldId id="10831" r:id="rId30"/>
    <p:sldId id="10838" r:id="rId31"/>
    <p:sldId id="1395" r:id="rId32"/>
    <p:sldId id="10851" r:id="rId33"/>
    <p:sldId id="10380" r:id="rId34"/>
    <p:sldId id="10372" r:id="rId35"/>
    <p:sldId id="10836" r:id="rId36"/>
    <p:sldId id="10837" r:id="rId37"/>
    <p:sldId id="10351" r:id="rId38"/>
    <p:sldId id="10367" r:id="rId39"/>
    <p:sldId id="1337" r:id="rId40"/>
    <p:sldId id="10359" r:id="rId41"/>
    <p:sldId id="10356" r:id="rId42"/>
    <p:sldId id="10350" r:id="rId43"/>
    <p:sldId id="10357" r:id="rId44"/>
    <p:sldId id="10485" r:id="rId45"/>
    <p:sldId id="10487" r:id="rId46"/>
    <p:sldId id="10486" r:id="rId47"/>
    <p:sldId id="2317" r:id="rId48"/>
    <p:sldId id="2197" r:id="rId49"/>
    <p:sldId id="10839" r:id="rId50"/>
    <p:sldId id="10468" r:id="rId51"/>
    <p:sldId id="10321" r:id="rId5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张耀宇" initials="张耀宇" lastIdx="1" clrIdx="0"/>
  <p:cmAuthor id="2" name="zhiqin xu" initials="zx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32FF"/>
    <a:srgbClr val="070707"/>
    <a:srgbClr val="4845D2"/>
    <a:srgbClr val="FE0303"/>
    <a:srgbClr val="002B7F"/>
    <a:srgbClr val="1D41D5"/>
    <a:srgbClr val="0000FF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7985" autoAdjust="0"/>
    <p:restoredTop sz="87748" autoAdjust="0"/>
  </p:normalViewPr>
  <p:slideViewPr>
    <p:cSldViewPr snapToGrid="0">
      <p:cViewPr varScale="1">
        <p:scale>
          <a:sx n="74" d="100"/>
          <a:sy n="74" d="100"/>
        </p:scale>
        <p:origin x="405" y="4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987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9CCD4-B0A0-4411-AF27-E52F275BA53D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FB6C25-FFE4-4126-ADF1-3137FE8DB2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5B131-4498-C781-84C1-584C6089C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C971648-E3BB-9286-CBF1-7596921A0D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F0F76F3-F80A-7BDF-614F-105A41F7D0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B1652F-A555-E055-75FE-D526779AEC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1731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2051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jpe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欢迎页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81242" y="3716337"/>
            <a:ext cx="11429516" cy="1523959"/>
          </a:xfrm>
        </p:spPr>
        <p:txBody>
          <a:bodyPr vert="horz" lIns="0" tIns="0" rIns="0" bIns="0" rtlCol="0" anchor="t" anchorCtr="0">
            <a:normAutofit/>
          </a:bodyPr>
          <a:lstStyle>
            <a:lvl1pPr algn="ctr">
              <a:defRPr lang="zh-CN" altLang="en-US" sz="5400" b="1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zh-CN" altLang="en-US" dirty="0"/>
              <a:t>欢迎页面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81242" y="5336848"/>
            <a:ext cx="11429516" cy="761979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+mj-ea"/>
                <a:ea typeface="+mj-ea"/>
              </a:defRPr>
            </a:lvl1pPr>
            <a:lvl2pPr marL="609600" indent="0">
              <a:buNone/>
              <a:defRPr sz="2665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备注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81242" y="6237360"/>
            <a:ext cx="11429516" cy="4571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altLang="en-US" sz="2540" smtClean="0">
                <a:solidFill>
                  <a:schemeClr val="bg1"/>
                </a:solidFill>
              </a:defRPr>
            </a:lvl1pPr>
          </a:lstStyle>
          <a:p>
            <a:fld id="{D2032502-F676-4D52-ABE7-5D8167C8AC58}" type="datetimeFigureOut">
              <a:rPr lang="zh-CN" altLang="en-US" smtClean="0"/>
              <a:t>2026/9/18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print"/>
          <a:srcRect b="37632"/>
          <a:stretch>
            <a:fillRect/>
          </a:stretch>
        </p:blipFill>
        <p:spPr>
          <a:xfrm>
            <a:off x="0" y="-14"/>
            <a:ext cx="12192000" cy="340934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762226" y="3717192"/>
            <a:ext cx="10667548" cy="1333464"/>
          </a:xfrm>
        </p:spPr>
        <p:txBody>
          <a:bodyPr lIns="0" tIns="0" rIns="0" bIns="0" anchor="t" anchorCtr="0">
            <a:normAutofit/>
          </a:bodyPr>
          <a:lstStyle>
            <a:lvl1pPr algn="ctr"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讲演主标题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429113" y="5387513"/>
            <a:ext cx="5333774" cy="571485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 algn="ctr">
              <a:defRPr lang="zh-CN" altLang="en-US" dirty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演讲者</a:t>
            </a:r>
          </a:p>
        </p:txBody>
      </p:sp>
      <p:sp>
        <p:nvSpPr>
          <p:cNvPr id="17" name="日期占位符 16"/>
          <p:cNvSpPr>
            <a:spLocks noGrp="1"/>
          </p:cNvSpPr>
          <p:nvPr>
            <p:ph type="dt" sz="half" idx="11"/>
          </p:nvPr>
        </p:nvSpPr>
        <p:spPr>
          <a:xfrm>
            <a:off x="3429113" y="6229835"/>
            <a:ext cx="5333774" cy="45718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fld id="{D2032502-F676-4D52-ABE7-5D8167C8AC58}" type="datetimeFigureOut">
              <a:rPr lang="zh-CN" altLang="en-US" smtClean="0"/>
              <a:t>2026/9/18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print"/>
          <a:srcRect b="37632"/>
          <a:stretch>
            <a:fillRect/>
          </a:stretch>
        </p:blipFill>
        <p:spPr>
          <a:xfrm>
            <a:off x="0" y="-14"/>
            <a:ext cx="12192000" cy="340934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134117" y="5941837"/>
            <a:ext cx="2723765" cy="720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结尾页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197884"/>
            <a:ext cx="12192000" cy="372323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0002" y="2699982"/>
            <a:ext cx="3626453" cy="9608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zh-CN" altLang="en-US" dirty="0"/>
              <a:t>页面标题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页面标题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第一级文本内容</a:t>
            </a:r>
          </a:p>
          <a:p>
            <a:pPr lvl="1"/>
            <a:r>
              <a:rPr lang="zh-CN" altLang="en-US" dirty="0"/>
              <a:t>第二级文本内容</a:t>
            </a:r>
          </a:p>
          <a:p>
            <a:pPr lvl="2"/>
            <a:r>
              <a:rPr lang="zh-CN" altLang="en-US" dirty="0"/>
              <a:t>第三级文本内容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736001" y="6318000"/>
            <a:ext cx="6720000" cy="540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36002" y="6318000"/>
            <a:ext cx="960000" cy="540000"/>
          </a:xfrm>
        </p:spPr>
        <p:txBody>
          <a:bodyPr/>
          <a:lstStyle/>
          <a:p>
            <a:fld id="{66E0AC87-F9B6-4F7A-AB3A-6863E2A58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44642" y="1805992"/>
            <a:ext cx="3302721" cy="2708599"/>
          </a:xfrm>
          <a:prstGeom prst="rect">
            <a:avLst/>
          </a:prstGeom>
        </p:spPr>
      </p:pic>
      <p:cxnSp>
        <p:nvCxnSpPr>
          <p:cNvPr id="10" name="直接连接符 9"/>
          <p:cNvCxnSpPr/>
          <p:nvPr/>
        </p:nvCxnSpPr>
        <p:spPr>
          <a:xfrm>
            <a:off x="431818" y="3429002"/>
            <a:ext cx="295292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8807295" y="3429002"/>
            <a:ext cx="295292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页面标题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dirty="0"/>
              <a:t>第一级文本内容</a:t>
            </a:r>
          </a:p>
          <a:p>
            <a:pPr lvl="1"/>
            <a:r>
              <a:rPr lang="zh-CN" altLang="en-US" dirty="0"/>
              <a:t>第二级文本内容</a:t>
            </a:r>
          </a:p>
          <a:p>
            <a:pPr lvl="2"/>
            <a:r>
              <a:rPr lang="zh-CN" altLang="en-US" dirty="0"/>
              <a:t>第三级文本内容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7149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"/>
            <a:ext cx="12192000" cy="665863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5821680"/>
            <a:ext cx="12192000" cy="1036320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9726" y="6100774"/>
            <a:ext cx="2611396" cy="51846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1802" y="235137"/>
            <a:ext cx="8632687" cy="337358"/>
          </a:xfrm>
          <a:prstGeom prst="rect">
            <a:avLst/>
          </a:prstGeom>
        </p:spPr>
        <p:txBody>
          <a:bodyPr anchor="ctr"/>
          <a:lstStyle>
            <a:lvl1pPr>
              <a:defRPr sz="2000">
                <a:solidFill>
                  <a:schemeClr val="accent1"/>
                </a:solidFill>
                <a:effectLst>
                  <a:glow rad="25400">
                    <a:srgbClr val="BFE2F3"/>
                  </a:glo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0411"/>
            <a:ext cx="12192000" cy="51816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65863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5821680"/>
            <a:ext cx="12192000" cy="1036320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4519" y="6100774"/>
            <a:ext cx="2143761" cy="51846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0411"/>
            <a:ext cx="121920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486667"/>
      </p:ext>
    </p:extLst>
  </p:cSld>
  <p:clrMapOvr>
    <a:masterClrMapping/>
  </p:clrMapOvr>
  <p:transition>
    <p:fade/>
  </p:transition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7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3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3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33E3E6D-D003-4285-9CD3-F9F948F4D4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/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>
            <a:extLst>
              <a:ext uri="{FF2B5EF4-FFF2-40B4-BE49-F238E27FC236}">
                <a16:creationId xmlns:a16="http://schemas.microsoft.com/office/drawing/2014/main" id="{20F80C42-4A81-4868-AA78-9E4FF9811EE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B998610-38B8-4F4F-8E37-98D574A43924}"/>
              </a:ext>
            </a:extLst>
          </p:cNvPr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166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12" cstate="print"/>
          <a:srcRect r="1346"/>
          <a:stretch>
            <a:fillRect/>
          </a:stretch>
        </p:blipFill>
        <p:spPr>
          <a:xfrm>
            <a:off x="516" y="341947"/>
            <a:ext cx="12191484" cy="411617"/>
          </a:xfrm>
          <a:prstGeom prst="rect">
            <a:avLst/>
          </a:prstGeom>
        </p:spPr>
      </p:pic>
      <p:sp>
        <p:nvSpPr>
          <p:cNvPr id="9" name="矩形 6"/>
          <p:cNvSpPr/>
          <p:nvPr/>
        </p:nvSpPr>
        <p:spPr>
          <a:xfrm>
            <a:off x="0" y="6318000"/>
            <a:ext cx="12192000" cy="54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905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81242" y="0"/>
            <a:ext cx="11429516" cy="761979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>
            <a:noAutofit/>
          </a:bodyPr>
          <a:lstStyle/>
          <a:p>
            <a:r>
              <a:rPr lang="zh-CN" altLang="en-US" dirty="0"/>
              <a:t>页面标题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81242" y="981154"/>
            <a:ext cx="11429516" cy="5333856"/>
          </a:xfrm>
          <a:prstGeom prst="rect">
            <a:avLst/>
          </a:prstGeom>
        </p:spPr>
        <p:txBody>
          <a:bodyPr vert="horz" lIns="90000" tIns="0" rIns="91440" bIns="0" rtlCol="0">
            <a:normAutofit/>
          </a:bodyPr>
          <a:lstStyle/>
          <a:p>
            <a:pPr lvl="0"/>
            <a:r>
              <a:rPr lang="zh-CN" altLang="en-US" dirty="0"/>
              <a:t>第一级文本内容</a:t>
            </a:r>
          </a:p>
          <a:p>
            <a:pPr lvl="1"/>
            <a:r>
              <a:rPr lang="zh-CN" altLang="en-US" dirty="0"/>
              <a:t>第二级文本内容</a:t>
            </a:r>
          </a:p>
          <a:p>
            <a:pPr lvl="2"/>
            <a:r>
              <a:rPr lang="zh-CN" altLang="en-US" dirty="0"/>
              <a:t>第三级文本内容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667146" y="6318000"/>
            <a:ext cx="6857709" cy="54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05"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81242" y="6318000"/>
            <a:ext cx="952460" cy="54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95">
                <a:solidFill>
                  <a:schemeClr val="bg1"/>
                </a:solidFill>
              </a:defRPr>
            </a:lvl1pPr>
          </a:lstStyle>
          <a:p>
            <a:fld id="{66E0AC87-F9B6-4F7A-AB3A-6863E2A5800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7359" y="6371999"/>
            <a:ext cx="1622722" cy="4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l" defTabSz="12192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just" defTabSz="1219200" rtl="0" eaLnBrk="1" latinLnBrk="0" hangingPunct="1">
        <a:lnSpc>
          <a:spcPct val="120000"/>
        </a:lnSpc>
        <a:spcBef>
          <a:spcPts val="0"/>
        </a:spcBef>
        <a:spcAft>
          <a:spcPts val="635"/>
        </a:spcAft>
        <a:buSzPct val="80000"/>
        <a:buFontTx/>
        <a:buNone/>
        <a:defRPr sz="2400" b="1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09600" indent="0" algn="just" defTabSz="1219200" rtl="0" eaLnBrk="1" latinLnBrk="0" hangingPunct="1">
        <a:lnSpc>
          <a:spcPct val="120000"/>
        </a:lnSpc>
        <a:spcBef>
          <a:spcPts val="0"/>
        </a:spcBef>
        <a:spcAft>
          <a:spcPts val="635"/>
        </a:spcAft>
        <a:buSzPct val="70000"/>
        <a:buFontTx/>
        <a:buNone/>
        <a:defRPr sz="2000" b="1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19200" indent="0" algn="just" defTabSz="1219200" rtl="0" eaLnBrk="1" latinLnBrk="0" hangingPunct="1">
        <a:lnSpc>
          <a:spcPct val="120000"/>
        </a:lnSpc>
        <a:spcBef>
          <a:spcPts val="0"/>
        </a:spcBef>
        <a:spcAft>
          <a:spcPts val="635"/>
        </a:spcAft>
        <a:buSzPct val="60000"/>
        <a:buFontTx/>
        <a:buNone/>
        <a:defRPr sz="1800" b="1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21336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6" Type="http://schemas.openxmlformats.org/officeDocument/2006/relationships/image" Target="../media/image11.png"/><Relationship Id="rId5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media" Target="../media/media1.mp4"/><Relationship Id="rId2" Type="http://schemas.openxmlformats.org/officeDocument/2006/relationships/video" Target="NULL" TargetMode="External"/><Relationship Id="rId1" Type="http://schemas.openxmlformats.org/officeDocument/2006/relationships/tags" Target="../tags/tag3.xml"/><Relationship Id="rId5" Type="http://schemas.openxmlformats.org/officeDocument/2006/relationships/image" Target="../media/image13.png"/><Relationship Id="rId4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media" Target="../media/media1.mp4"/><Relationship Id="rId2" Type="http://schemas.openxmlformats.org/officeDocument/2006/relationships/video" Target="NULL" TargetMode="External"/><Relationship Id="rId1" Type="http://schemas.openxmlformats.org/officeDocument/2006/relationships/tags" Target="../tags/tag4.xml"/><Relationship Id="rId5" Type="http://schemas.openxmlformats.org/officeDocument/2006/relationships/image" Target="../media/image13.png"/><Relationship Id="rId4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2" Type="http://schemas.openxmlformats.org/officeDocument/2006/relationships/video" Target="NULL" TargetMode="External"/><Relationship Id="rId1" Type="http://schemas.openxmlformats.org/officeDocument/2006/relationships/tags" Target="../tags/tag5.xml"/><Relationship Id="rId5" Type="http://schemas.openxmlformats.org/officeDocument/2006/relationships/image" Target="../media/image18.png"/><Relationship Id="rId4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22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7" Type="http://schemas.openxmlformats.org/officeDocument/2006/relationships/image" Target="../media/image27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.xml"/><Relationship Id="rId6" Type="http://schemas.openxmlformats.org/officeDocument/2006/relationships/image" Target="../media/image26.png"/><Relationship Id="rId5" Type="http://schemas.openxmlformats.org/officeDocument/2006/relationships/image" Target="../media/image240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emf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75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5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0.png"/><Relationship Id="rId7" Type="http://schemas.openxmlformats.org/officeDocument/2006/relationships/image" Target="../media/image48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9.xml"/><Relationship Id="rId6" Type="http://schemas.openxmlformats.org/officeDocument/2006/relationships/image" Target="../media/image47.png"/><Relationship Id="rId5" Type="http://schemas.openxmlformats.org/officeDocument/2006/relationships/image" Target="../media/image350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1.png"/><Relationship Id="rId7" Type="http://schemas.openxmlformats.org/officeDocument/2006/relationships/image" Target="../media/image51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0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9" Type="http://schemas.openxmlformats.org/officeDocument/2006/relationships/image" Target="../media/image5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7" Type="http://schemas.openxmlformats.org/officeDocument/2006/relationships/image" Target="../media/image5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0.png"/><Relationship Id="rId5" Type="http://schemas.openxmlformats.org/officeDocument/2006/relationships/image" Target="../media/image210.png"/><Relationship Id="rId4" Type="http://schemas.openxmlformats.org/officeDocument/2006/relationships/image" Target="../media/image1230.png"/></Relationships>
</file>

<file path=ppt/slides/_rels/slide46.xml.rels><?xml version="1.0" encoding="UTF-8" standalone="yes"?>
<Relationships xmlns="http://schemas.openxmlformats.org/package/2006/relationships"><Relationship Id="rId7" Type="http://schemas.openxmlformats.org/officeDocument/2006/relationships/image" Target="../media/image39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3.png"/><Relationship Id="rId5" Type="http://schemas.openxmlformats.org/officeDocument/2006/relationships/image" Target="../media/image58.png"/><Relationship Id="rId4" Type="http://schemas.openxmlformats.org/officeDocument/2006/relationships/image" Target="../media/image1230.png"/></Relationships>
</file>

<file path=ppt/slides/_rels/slide47.xml.rels><?xml version="1.0" encoding="UTF-8" standalone="yes"?>
<Relationships xmlns="http://schemas.openxmlformats.org/package/2006/relationships"><Relationship Id="rId7" Type="http://schemas.openxmlformats.org/officeDocument/2006/relationships/image" Target="../media/image5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4.png"/><Relationship Id="rId5" Type="http://schemas.openxmlformats.org/officeDocument/2006/relationships/image" Target="../media/image330.png"/><Relationship Id="rId4" Type="http://schemas.openxmlformats.org/officeDocument/2006/relationships/image" Target="../media/image123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63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7" Type="http://schemas.openxmlformats.org/officeDocument/2006/relationships/image" Target="../media/image630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0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CA15B-281D-1C59-E951-6ECE481AE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EA63D1B-585A-BE51-03AE-11833879C6B6}"/>
              </a:ext>
            </a:extLst>
          </p:cNvPr>
          <p:cNvSpPr txBox="1"/>
          <p:nvPr/>
        </p:nvSpPr>
        <p:spPr>
          <a:xfrm>
            <a:off x="6591" y="3694683"/>
            <a:ext cx="12192000" cy="276998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indent="0" algn="ctr" defTabSz="864235" fontAlgn="auto">
              <a:lnSpc>
                <a:spcPct val="100000"/>
              </a:lnSpc>
              <a:spcAft>
                <a:spcPts val="2400"/>
              </a:spcAft>
              <a:defRPr/>
            </a:pPr>
            <a:r>
              <a:rPr lang="zh-CN" altLang="en-US" sz="5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神经网络训练过程的现象</a:t>
            </a:r>
            <a:r>
              <a:rPr lang="en-US" altLang="zh-CN" sz="5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5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频率原则</a:t>
            </a:r>
            <a:endParaRPr kumimoji="0" lang="en-US" altLang="zh-CN" sz="5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indent="0" algn="ctr" defTabSz="864235" fontAlgn="auto">
              <a:lnSpc>
                <a:spcPct val="100000"/>
              </a:lnSpc>
              <a:spcAft>
                <a:spcPts val="2400"/>
              </a:spcAft>
              <a:defRPr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上海交通大学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ctr" defTabSz="864235" fontAlgn="auto">
              <a:lnSpc>
                <a:spcPct val="100000"/>
              </a:lnSpc>
              <a:spcAft>
                <a:spcPts val="2400"/>
              </a:spcAft>
              <a:defRPr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SJTU AI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大课</a:t>
            </a:r>
          </a:p>
          <a:p>
            <a:pPr lvl="0" algn="ctr" defTabSz="864235">
              <a:defRPr/>
            </a:pPr>
            <a:fld id="{E102F756-3B96-CC46-A2D4-96CC8736307C}" type="datetime3"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lvl="0" algn="ctr" defTabSz="864235">
                <a:defRPr/>
              </a:pPr>
              <a:t>2026年9月18日星期五</a:t>
            </a:fld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98994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3CCAA17-2403-1497-0A4B-89D4E8786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目标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48CDE113-1C4D-2734-DADF-1682E6074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了解神经网络训练过程的常见特征</a:t>
            </a: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帮助理解神经网络算法</a:t>
            </a: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指导自己训练网络的调参过程</a:t>
            </a: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102363A-3A5A-DE28-B466-B6F8EFFCDDF5}"/>
              </a:ext>
            </a:extLst>
          </p:cNvPr>
          <p:cNvSpPr txBox="1"/>
          <p:nvPr/>
        </p:nvSpPr>
        <p:spPr>
          <a:xfrm>
            <a:off x="550333" y="5579533"/>
            <a:ext cx="53142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/>
              <a:t>参考：</a:t>
            </a:r>
            <a:r>
              <a:rPr lang="en-US" altLang="zh-CN" sz="2000" dirty="0"/>
              <a:t>《</a:t>
            </a:r>
            <a:r>
              <a:rPr lang="zh-CN" altLang="en-US" sz="2000" dirty="0"/>
              <a:t>深度学习现象导论</a:t>
            </a:r>
            <a:r>
              <a:rPr lang="en-US" altLang="zh-CN" sz="2000" dirty="0"/>
              <a:t>》</a:t>
            </a:r>
            <a:r>
              <a:rPr lang="zh-CN" altLang="en-US" sz="2000" dirty="0"/>
              <a:t>第四至第六章。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67A5101-F512-E65E-DBD5-883E015A6479}"/>
              </a:ext>
            </a:extLst>
          </p:cNvPr>
          <p:cNvSpPr txBox="1"/>
          <p:nvPr/>
        </p:nvSpPr>
        <p:spPr>
          <a:xfrm>
            <a:off x="92764" y="6374296"/>
            <a:ext cx="30751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000" dirty="0">
                <a:solidFill>
                  <a:schemeClr val="bg1"/>
                </a:solidFill>
              </a:rPr>
              <a:t>PPT</a:t>
            </a:r>
            <a:r>
              <a:rPr lang="zh-CN" altLang="en-US" sz="1000" dirty="0">
                <a:solidFill>
                  <a:schemeClr val="bg1"/>
                </a:solidFill>
              </a:rPr>
              <a:t>主要贡献：许志钦</a:t>
            </a:r>
          </a:p>
        </p:txBody>
      </p:sp>
    </p:spTree>
    <p:extLst>
      <p:ext uri="{BB962C8B-B14F-4D97-AF65-F5344CB8AC3E}">
        <p14:creationId xmlns:p14="http://schemas.microsoft.com/office/powerpoint/2010/main" val="3438254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3935" y="144826"/>
            <a:ext cx="2576687" cy="337358"/>
          </a:xfrm>
        </p:spPr>
        <p:txBody>
          <a:bodyPr/>
          <a:lstStyle/>
          <a:p>
            <a:r>
              <a:rPr lang="zh-CN" altLang="en-US" sz="2800"/>
              <a:t>目录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855154" y="1357151"/>
            <a:ext cx="4134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一、函数空间：频率原则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855154" y="2510532"/>
            <a:ext cx="4134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二、参数空间：凝聚现象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855154" y="3663914"/>
            <a:ext cx="55707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三、损失景观：最小值点的平坦性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A17D2-329C-98F1-22D5-2E120258D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3D5EAE21-89EE-BB00-406E-813FA863FFCF}"/>
              </a:ext>
            </a:extLst>
          </p:cNvPr>
          <p:cNvSpPr txBox="1"/>
          <p:nvPr/>
        </p:nvSpPr>
        <p:spPr>
          <a:xfrm>
            <a:off x="1" y="278266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函数空间：频率原则</a:t>
            </a:r>
          </a:p>
        </p:txBody>
      </p:sp>
    </p:spTree>
    <p:extLst>
      <p:ext uri="{BB962C8B-B14F-4D97-AF65-F5344CB8AC3E}">
        <p14:creationId xmlns:p14="http://schemas.microsoft.com/office/powerpoint/2010/main" val="3547903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AE4DB-95AD-D15D-04C8-5462CBE5B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3696E9F6-1126-25BE-9559-48D4C2329E8D}"/>
              </a:ext>
            </a:extLst>
          </p:cNvPr>
          <p:cNvSpPr txBox="1"/>
          <p:nvPr/>
        </p:nvSpPr>
        <p:spPr>
          <a:xfrm>
            <a:off x="1" y="278266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先思考以下几个问题</a:t>
            </a:r>
          </a:p>
        </p:txBody>
      </p:sp>
    </p:spTree>
    <p:extLst>
      <p:ext uri="{BB962C8B-B14F-4D97-AF65-F5344CB8AC3E}">
        <p14:creationId xmlns:p14="http://schemas.microsoft.com/office/powerpoint/2010/main" val="1120744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EBF4A-919E-FD83-4EC3-15F22B699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33BAF0-465B-54EB-04D6-E508889D6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哪一部分先学习好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4140C1-7ABC-14FD-A874-2E3D1C38B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左边是振荡，右边是平坦</a:t>
            </a: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86E9B437-F77C-BB0F-3B17-5A206D9B3C45}"/>
              </a:ext>
            </a:extLst>
          </p:cNvPr>
          <p:cNvSpPr/>
          <p:nvPr/>
        </p:nvSpPr>
        <p:spPr>
          <a:xfrm>
            <a:off x="2476500" y="1917700"/>
            <a:ext cx="8553450" cy="3022600"/>
          </a:xfrm>
          <a:custGeom>
            <a:avLst/>
            <a:gdLst>
              <a:gd name="connsiteX0" fmla="*/ 0 w 8553450"/>
              <a:gd name="connsiteY0" fmla="*/ 3022600 h 3022600"/>
              <a:gd name="connsiteX1" fmla="*/ 1060450 w 8553450"/>
              <a:gd name="connsiteY1" fmla="*/ 196850 h 3022600"/>
              <a:gd name="connsiteX2" fmla="*/ 1289050 w 8553450"/>
              <a:gd name="connsiteY2" fmla="*/ 2990850 h 3022600"/>
              <a:gd name="connsiteX3" fmla="*/ 1447800 w 8553450"/>
              <a:gd name="connsiteY3" fmla="*/ 190500 h 3022600"/>
              <a:gd name="connsiteX4" fmla="*/ 1644650 w 8553450"/>
              <a:gd name="connsiteY4" fmla="*/ 2965450 h 3022600"/>
              <a:gd name="connsiteX5" fmla="*/ 1778000 w 8553450"/>
              <a:gd name="connsiteY5" fmla="*/ 228600 h 3022600"/>
              <a:gd name="connsiteX6" fmla="*/ 2000250 w 8553450"/>
              <a:gd name="connsiteY6" fmla="*/ 3009900 h 3022600"/>
              <a:gd name="connsiteX7" fmla="*/ 2063750 w 8553450"/>
              <a:gd name="connsiteY7" fmla="*/ 0 h 3022600"/>
              <a:gd name="connsiteX8" fmla="*/ 2235200 w 8553450"/>
              <a:gd name="connsiteY8" fmla="*/ 3009900 h 3022600"/>
              <a:gd name="connsiteX9" fmla="*/ 2374900 w 8553450"/>
              <a:gd name="connsiteY9" fmla="*/ 184150 h 3022600"/>
              <a:gd name="connsiteX10" fmla="*/ 2520950 w 8553450"/>
              <a:gd name="connsiteY10" fmla="*/ 2959100 h 3022600"/>
              <a:gd name="connsiteX11" fmla="*/ 2705100 w 8553450"/>
              <a:gd name="connsiteY11" fmla="*/ 387350 h 3022600"/>
              <a:gd name="connsiteX12" fmla="*/ 2965450 w 8553450"/>
              <a:gd name="connsiteY12" fmla="*/ 1816100 h 3022600"/>
              <a:gd name="connsiteX13" fmla="*/ 4051300 w 8553450"/>
              <a:gd name="connsiteY13" fmla="*/ 2012950 h 3022600"/>
              <a:gd name="connsiteX14" fmla="*/ 8553450 w 8553450"/>
              <a:gd name="connsiteY14" fmla="*/ 1924050 h 302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553450" h="3022600">
                <a:moveTo>
                  <a:pt x="0" y="3022600"/>
                </a:moveTo>
                <a:cubicBezTo>
                  <a:pt x="422804" y="1612371"/>
                  <a:pt x="845608" y="202142"/>
                  <a:pt x="1060450" y="196850"/>
                </a:cubicBezTo>
                <a:cubicBezTo>
                  <a:pt x="1275292" y="191558"/>
                  <a:pt x="1224492" y="2991908"/>
                  <a:pt x="1289050" y="2990850"/>
                </a:cubicBezTo>
                <a:cubicBezTo>
                  <a:pt x="1353608" y="2989792"/>
                  <a:pt x="1388533" y="194733"/>
                  <a:pt x="1447800" y="190500"/>
                </a:cubicBezTo>
                <a:cubicBezTo>
                  <a:pt x="1507067" y="186267"/>
                  <a:pt x="1589617" y="2959100"/>
                  <a:pt x="1644650" y="2965450"/>
                </a:cubicBezTo>
                <a:cubicBezTo>
                  <a:pt x="1699683" y="2971800"/>
                  <a:pt x="1718733" y="221192"/>
                  <a:pt x="1778000" y="228600"/>
                </a:cubicBezTo>
                <a:cubicBezTo>
                  <a:pt x="1837267" y="236008"/>
                  <a:pt x="1952625" y="3048000"/>
                  <a:pt x="2000250" y="3009900"/>
                </a:cubicBezTo>
                <a:cubicBezTo>
                  <a:pt x="2047875" y="2971800"/>
                  <a:pt x="2024592" y="0"/>
                  <a:pt x="2063750" y="0"/>
                </a:cubicBezTo>
                <a:cubicBezTo>
                  <a:pt x="2102908" y="0"/>
                  <a:pt x="2183342" y="2979208"/>
                  <a:pt x="2235200" y="3009900"/>
                </a:cubicBezTo>
                <a:cubicBezTo>
                  <a:pt x="2287058" y="3040592"/>
                  <a:pt x="2327275" y="192617"/>
                  <a:pt x="2374900" y="184150"/>
                </a:cubicBezTo>
                <a:cubicBezTo>
                  <a:pt x="2422525" y="175683"/>
                  <a:pt x="2465917" y="2925233"/>
                  <a:pt x="2520950" y="2959100"/>
                </a:cubicBezTo>
                <a:cubicBezTo>
                  <a:pt x="2575983" y="2992967"/>
                  <a:pt x="2631017" y="577850"/>
                  <a:pt x="2705100" y="387350"/>
                </a:cubicBezTo>
                <a:cubicBezTo>
                  <a:pt x="2779183" y="196850"/>
                  <a:pt x="2741083" y="1545167"/>
                  <a:pt x="2965450" y="1816100"/>
                </a:cubicBezTo>
                <a:cubicBezTo>
                  <a:pt x="3189817" y="2087033"/>
                  <a:pt x="4051300" y="2012950"/>
                  <a:pt x="4051300" y="2012950"/>
                </a:cubicBezTo>
                <a:lnTo>
                  <a:pt x="8553450" y="1924050"/>
                </a:lnTo>
              </a:path>
            </a:pathLst>
          </a:custGeom>
          <a:ln w="38100">
            <a:solidFill>
              <a:srgbClr val="0707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B61616"/>
              </a:solidFill>
              <a:effectLst/>
              <a:uLnTx/>
              <a:uFillTx/>
              <a:latin typeface="Book Antiqua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9638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26399-4D84-974F-76B4-A4573DC27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285F54-8528-C1C4-42C7-6BA45B7EF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选择哪种解？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5802DEB-20AD-E90A-4E5D-2072733002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852"/>
          <a:stretch/>
        </p:blipFill>
        <p:spPr>
          <a:xfrm>
            <a:off x="1766087" y="1871073"/>
            <a:ext cx="8365748" cy="290231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32B45D4-462E-2614-A2BB-D565DCB89BE6}"/>
              </a:ext>
            </a:extLst>
          </p:cNvPr>
          <p:cNvSpPr txBox="1"/>
          <p:nvPr/>
        </p:nvSpPr>
        <p:spPr>
          <a:xfrm>
            <a:off x="4714444" y="1116471"/>
            <a:ext cx="39792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42C2D"/>
                </a:solidFill>
                <a:effectLst/>
                <a:uLnTx/>
                <a:uFillTx/>
                <a:latin typeface="Book Antiqua"/>
                <a:ea typeface="黑体"/>
                <a:cs typeface="+mn-cs"/>
              </a:rPr>
              <a:t>蓝色训练点是完全一致的。</a:t>
            </a:r>
          </a:p>
        </p:txBody>
      </p:sp>
    </p:spTree>
    <p:extLst>
      <p:ext uri="{BB962C8B-B14F-4D97-AF65-F5344CB8AC3E}">
        <p14:creationId xmlns:p14="http://schemas.microsoft.com/office/powerpoint/2010/main" val="201523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AD896-EF8C-9B70-940C-5894AAC56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2B196A-EFD9-B308-1A81-04D9A0480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这样的拟合是否正确</a:t>
            </a:r>
            <a:r>
              <a:rPr lang="en-US" altLang="zh-CN" dirty="0"/>
              <a:t>?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61EC45F-9F64-997E-155D-136E9EEC9D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574" y="1261760"/>
            <a:ext cx="6096851" cy="43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607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泛化谜团</a:t>
            </a:r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D6003FF7-73AC-4544-C8FB-A9DB2D851C9C}"/>
              </a:ext>
            </a:extLst>
          </p:cNvPr>
          <p:cNvSpPr/>
          <p:nvPr/>
        </p:nvSpPr>
        <p:spPr>
          <a:xfrm>
            <a:off x="6710808" y="4460242"/>
            <a:ext cx="2501412" cy="1186961"/>
          </a:xfrm>
          <a:custGeom>
            <a:avLst/>
            <a:gdLst>
              <a:gd name="connsiteX0" fmla="*/ 0 w 3217985"/>
              <a:gd name="connsiteY0" fmla="*/ 0 h 1371600"/>
              <a:gd name="connsiteX1" fmla="*/ 914400 w 3217985"/>
              <a:gd name="connsiteY1" fmla="*/ 1342292 h 1371600"/>
              <a:gd name="connsiteX2" fmla="*/ 2215662 w 3217985"/>
              <a:gd name="connsiteY2" fmla="*/ 867508 h 1371600"/>
              <a:gd name="connsiteX3" fmla="*/ 3217985 w 3217985"/>
              <a:gd name="connsiteY3" fmla="*/ 137160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17985" h="1371600">
                <a:moveTo>
                  <a:pt x="0" y="0"/>
                </a:moveTo>
                <a:cubicBezTo>
                  <a:pt x="272561" y="598853"/>
                  <a:pt x="545123" y="1197707"/>
                  <a:pt x="914400" y="1342292"/>
                </a:cubicBezTo>
                <a:cubicBezTo>
                  <a:pt x="1283677" y="1486877"/>
                  <a:pt x="1831731" y="862623"/>
                  <a:pt x="2215662" y="867508"/>
                </a:cubicBezTo>
                <a:cubicBezTo>
                  <a:pt x="2599593" y="872393"/>
                  <a:pt x="2908789" y="1121996"/>
                  <a:pt x="3217985" y="1371600"/>
                </a:cubicBezTo>
              </a:path>
            </a:pathLst>
          </a:custGeom>
          <a:noFill/>
          <a:ln w="25400" cap="flat" cmpd="sng" algn="ctr">
            <a:solidFill>
              <a:srgbClr val="A62038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E917EA8D-C741-909F-4D9B-BB75215794CA}"/>
              </a:ext>
            </a:extLst>
          </p:cNvPr>
          <p:cNvSpPr/>
          <p:nvPr/>
        </p:nvSpPr>
        <p:spPr>
          <a:xfrm>
            <a:off x="6788196" y="4712132"/>
            <a:ext cx="81000" cy="81000"/>
          </a:xfrm>
          <a:prstGeom prst="ellipse">
            <a:avLst/>
          </a:prstGeom>
          <a:solidFill>
            <a:srgbClr val="1F4D78">
              <a:lumMod val="60000"/>
              <a:lumOff val="40000"/>
            </a:srgbClr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A7904367-FB2A-C8AC-7AFE-35A3CC1B0A3F}"/>
              </a:ext>
            </a:extLst>
          </p:cNvPr>
          <p:cNvSpPr/>
          <p:nvPr/>
        </p:nvSpPr>
        <p:spPr>
          <a:xfrm>
            <a:off x="6665751" y="4419742"/>
            <a:ext cx="81000" cy="81000"/>
          </a:xfrm>
          <a:prstGeom prst="ellipse">
            <a:avLst/>
          </a:prstGeom>
          <a:solidFill>
            <a:srgbClr val="1F4D78">
              <a:lumMod val="60000"/>
              <a:lumOff val="40000"/>
            </a:srgbClr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9E456A7A-4B57-0495-0EB8-78DC7A055E2E}"/>
              </a:ext>
            </a:extLst>
          </p:cNvPr>
          <p:cNvSpPr/>
          <p:nvPr/>
        </p:nvSpPr>
        <p:spPr>
          <a:xfrm>
            <a:off x="6952810" y="5053722"/>
            <a:ext cx="81000" cy="81000"/>
          </a:xfrm>
          <a:prstGeom prst="ellipse">
            <a:avLst/>
          </a:prstGeom>
          <a:solidFill>
            <a:srgbClr val="1F4D78">
              <a:lumMod val="60000"/>
              <a:lumOff val="40000"/>
            </a:srgbClr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17A4097-BD52-58B5-4890-34BEF4551E15}"/>
              </a:ext>
            </a:extLst>
          </p:cNvPr>
          <p:cNvSpPr/>
          <p:nvPr/>
        </p:nvSpPr>
        <p:spPr>
          <a:xfrm>
            <a:off x="7156107" y="5393132"/>
            <a:ext cx="81000" cy="81000"/>
          </a:xfrm>
          <a:prstGeom prst="ellipse">
            <a:avLst/>
          </a:prstGeom>
          <a:solidFill>
            <a:srgbClr val="1F4D78">
              <a:lumMod val="60000"/>
              <a:lumOff val="40000"/>
            </a:srgbClr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66103FF2-B8C3-8AC3-AF83-4A08164D8362}"/>
              </a:ext>
            </a:extLst>
          </p:cNvPr>
          <p:cNvSpPr/>
          <p:nvPr/>
        </p:nvSpPr>
        <p:spPr>
          <a:xfrm>
            <a:off x="7464106" y="5591809"/>
            <a:ext cx="81000" cy="81000"/>
          </a:xfrm>
          <a:prstGeom prst="ellipse">
            <a:avLst/>
          </a:prstGeom>
          <a:solidFill>
            <a:srgbClr val="1F4D78">
              <a:lumMod val="60000"/>
              <a:lumOff val="40000"/>
            </a:srgbClr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3D3BF85E-CAC5-534C-977E-233AF3C380AA}"/>
              </a:ext>
            </a:extLst>
          </p:cNvPr>
          <p:cNvSpPr/>
          <p:nvPr/>
        </p:nvSpPr>
        <p:spPr>
          <a:xfrm>
            <a:off x="7664919" y="5551309"/>
            <a:ext cx="81000" cy="81000"/>
          </a:xfrm>
          <a:prstGeom prst="ellipse">
            <a:avLst/>
          </a:prstGeom>
          <a:solidFill>
            <a:srgbClr val="1F4D78">
              <a:lumMod val="60000"/>
              <a:lumOff val="40000"/>
            </a:srgbClr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5C1F45C2-0243-591C-781A-742C012D3349}"/>
              </a:ext>
            </a:extLst>
          </p:cNvPr>
          <p:cNvSpPr/>
          <p:nvPr/>
        </p:nvSpPr>
        <p:spPr>
          <a:xfrm>
            <a:off x="7851334" y="5444860"/>
            <a:ext cx="81000" cy="81000"/>
          </a:xfrm>
          <a:prstGeom prst="ellipse">
            <a:avLst/>
          </a:prstGeom>
          <a:solidFill>
            <a:srgbClr val="1F4D78">
              <a:lumMod val="60000"/>
              <a:lumOff val="40000"/>
            </a:srgbClr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620CFC20-58D1-565F-D38F-DBF741C8194F}"/>
              </a:ext>
            </a:extLst>
          </p:cNvPr>
          <p:cNvSpPr/>
          <p:nvPr/>
        </p:nvSpPr>
        <p:spPr>
          <a:xfrm>
            <a:off x="8038926" y="5312132"/>
            <a:ext cx="81000" cy="81000"/>
          </a:xfrm>
          <a:prstGeom prst="ellipse">
            <a:avLst/>
          </a:prstGeom>
          <a:solidFill>
            <a:srgbClr val="1F4D78">
              <a:lumMod val="60000"/>
              <a:lumOff val="40000"/>
            </a:srgbClr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57DD5364-169F-D344-52BF-48E25A2A970C}"/>
              </a:ext>
            </a:extLst>
          </p:cNvPr>
          <p:cNvSpPr/>
          <p:nvPr/>
        </p:nvSpPr>
        <p:spPr>
          <a:xfrm>
            <a:off x="8341689" y="5185617"/>
            <a:ext cx="81000" cy="81000"/>
          </a:xfrm>
          <a:prstGeom prst="ellipse">
            <a:avLst/>
          </a:prstGeom>
          <a:solidFill>
            <a:srgbClr val="1F4D78">
              <a:lumMod val="60000"/>
              <a:lumOff val="40000"/>
            </a:srgbClr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7FEA1416-8FEE-206F-C529-D1D4AFF630E7}"/>
              </a:ext>
            </a:extLst>
          </p:cNvPr>
          <p:cNvSpPr/>
          <p:nvPr/>
        </p:nvSpPr>
        <p:spPr>
          <a:xfrm>
            <a:off x="8722980" y="5266617"/>
            <a:ext cx="81000" cy="81000"/>
          </a:xfrm>
          <a:prstGeom prst="ellipse">
            <a:avLst/>
          </a:prstGeom>
          <a:solidFill>
            <a:srgbClr val="1F4D78">
              <a:lumMod val="60000"/>
              <a:lumOff val="40000"/>
            </a:srgbClr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843A94B6-9631-FBEB-7E20-94AD4D301E45}"/>
              </a:ext>
            </a:extLst>
          </p:cNvPr>
          <p:cNvSpPr/>
          <p:nvPr/>
        </p:nvSpPr>
        <p:spPr>
          <a:xfrm>
            <a:off x="9171720" y="5591809"/>
            <a:ext cx="81000" cy="81000"/>
          </a:xfrm>
          <a:prstGeom prst="ellipse">
            <a:avLst/>
          </a:prstGeom>
          <a:solidFill>
            <a:srgbClr val="1F4D78">
              <a:lumMod val="60000"/>
              <a:lumOff val="40000"/>
            </a:srgbClr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1C554D98-F029-D5F2-AF6D-1ABE25B58369}"/>
              </a:ext>
            </a:extLst>
          </p:cNvPr>
          <p:cNvCxnSpPr/>
          <p:nvPr/>
        </p:nvCxnSpPr>
        <p:spPr>
          <a:xfrm flipV="1">
            <a:off x="6485296" y="4111506"/>
            <a:ext cx="0" cy="1800671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4B06D095-5D13-B51B-6FF5-E13F303DC163}"/>
              </a:ext>
            </a:extLst>
          </p:cNvPr>
          <p:cNvCxnSpPr/>
          <p:nvPr/>
        </p:nvCxnSpPr>
        <p:spPr>
          <a:xfrm flipV="1">
            <a:off x="6474826" y="5906942"/>
            <a:ext cx="2993747" cy="332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E4F0256B-A994-335F-3D4A-9BEB2B6E31A2}"/>
              </a:ext>
            </a:extLst>
          </p:cNvPr>
          <p:cNvGrpSpPr/>
          <p:nvPr/>
        </p:nvGrpSpPr>
        <p:grpSpPr>
          <a:xfrm>
            <a:off x="2188297" y="4111174"/>
            <a:ext cx="2993747" cy="1800671"/>
            <a:chOff x="2188297" y="4111174"/>
            <a:chExt cx="2993747" cy="1800671"/>
          </a:xfrm>
        </p:grpSpPr>
        <p:sp>
          <p:nvSpPr>
            <p:cNvPr id="58" name="任意多边形: 形状 57">
              <a:extLst>
                <a:ext uri="{FF2B5EF4-FFF2-40B4-BE49-F238E27FC236}">
                  <a16:creationId xmlns:a16="http://schemas.microsoft.com/office/drawing/2014/main" id="{FAA7C4C9-1C11-15F1-DE8A-0B3CA9710DD3}"/>
                </a:ext>
              </a:extLst>
            </p:cNvPr>
            <p:cNvSpPr/>
            <p:nvPr/>
          </p:nvSpPr>
          <p:spPr>
            <a:xfrm>
              <a:off x="2424279" y="4249428"/>
              <a:ext cx="2496855" cy="1529657"/>
            </a:xfrm>
            <a:custGeom>
              <a:avLst/>
              <a:gdLst>
                <a:gd name="connsiteX0" fmla="*/ 0 w 3212123"/>
                <a:gd name="connsiteY0" fmla="*/ 268920 h 2039543"/>
                <a:gd name="connsiteX1" fmla="*/ 99646 w 3212123"/>
                <a:gd name="connsiteY1" fmla="*/ 954720 h 2039543"/>
                <a:gd name="connsiteX2" fmla="*/ 263770 w 3212123"/>
                <a:gd name="connsiteY2" fmla="*/ 11013 h 2039543"/>
                <a:gd name="connsiteX3" fmla="*/ 451339 w 3212123"/>
                <a:gd name="connsiteY3" fmla="*/ 1722582 h 2039543"/>
                <a:gd name="connsiteX4" fmla="*/ 808893 w 3212123"/>
                <a:gd name="connsiteY4" fmla="*/ 1241936 h 2039543"/>
                <a:gd name="connsiteX5" fmla="*/ 1090246 w 3212123"/>
                <a:gd name="connsiteY5" fmla="*/ 2033243 h 2039543"/>
                <a:gd name="connsiteX6" fmla="*/ 1383323 w 3212123"/>
                <a:gd name="connsiteY6" fmla="*/ 1617074 h 2039543"/>
                <a:gd name="connsiteX7" fmla="*/ 1664677 w 3212123"/>
                <a:gd name="connsiteY7" fmla="*/ 1693274 h 2039543"/>
                <a:gd name="connsiteX8" fmla="*/ 1922585 w 3212123"/>
                <a:gd name="connsiteY8" fmla="*/ 1071951 h 2039543"/>
                <a:gd name="connsiteX9" fmla="*/ 2373923 w 3212123"/>
                <a:gd name="connsiteY9" fmla="*/ 1535013 h 2039543"/>
                <a:gd name="connsiteX10" fmla="*/ 2790093 w 3212123"/>
                <a:gd name="connsiteY10" fmla="*/ 1382613 h 2039543"/>
                <a:gd name="connsiteX11" fmla="*/ 3212123 w 3212123"/>
                <a:gd name="connsiteY11" fmla="*/ 1851536 h 2039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212123" h="2039543">
                  <a:moveTo>
                    <a:pt x="0" y="268920"/>
                  </a:moveTo>
                  <a:cubicBezTo>
                    <a:pt x="27842" y="633312"/>
                    <a:pt x="55684" y="997704"/>
                    <a:pt x="99646" y="954720"/>
                  </a:cubicBezTo>
                  <a:cubicBezTo>
                    <a:pt x="143608" y="911736"/>
                    <a:pt x="205155" y="-116964"/>
                    <a:pt x="263770" y="11013"/>
                  </a:cubicBezTo>
                  <a:cubicBezTo>
                    <a:pt x="322386" y="138990"/>
                    <a:pt x="360485" y="1517428"/>
                    <a:pt x="451339" y="1722582"/>
                  </a:cubicBezTo>
                  <a:cubicBezTo>
                    <a:pt x="542193" y="1927736"/>
                    <a:pt x="702409" y="1190159"/>
                    <a:pt x="808893" y="1241936"/>
                  </a:cubicBezTo>
                  <a:cubicBezTo>
                    <a:pt x="915377" y="1293713"/>
                    <a:pt x="994508" y="1970720"/>
                    <a:pt x="1090246" y="2033243"/>
                  </a:cubicBezTo>
                  <a:cubicBezTo>
                    <a:pt x="1185984" y="2095766"/>
                    <a:pt x="1287585" y="1673736"/>
                    <a:pt x="1383323" y="1617074"/>
                  </a:cubicBezTo>
                  <a:cubicBezTo>
                    <a:pt x="1479062" y="1560413"/>
                    <a:pt x="1574800" y="1784128"/>
                    <a:pt x="1664677" y="1693274"/>
                  </a:cubicBezTo>
                  <a:cubicBezTo>
                    <a:pt x="1754554" y="1602420"/>
                    <a:pt x="1804377" y="1098328"/>
                    <a:pt x="1922585" y="1071951"/>
                  </a:cubicBezTo>
                  <a:cubicBezTo>
                    <a:pt x="2040793" y="1045574"/>
                    <a:pt x="2229339" y="1483236"/>
                    <a:pt x="2373923" y="1535013"/>
                  </a:cubicBezTo>
                  <a:cubicBezTo>
                    <a:pt x="2518507" y="1586790"/>
                    <a:pt x="2650393" y="1329859"/>
                    <a:pt x="2790093" y="1382613"/>
                  </a:cubicBezTo>
                  <a:cubicBezTo>
                    <a:pt x="2929793" y="1435367"/>
                    <a:pt x="3137877" y="1792921"/>
                    <a:pt x="3212123" y="1851536"/>
                  </a:cubicBezTo>
                </a:path>
              </a:pathLst>
            </a:custGeom>
            <a:noFill/>
            <a:ln w="25400" cap="flat" cmpd="sng" algn="ctr">
              <a:solidFill>
                <a:srgbClr val="A62038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65D6EF06-FB53-2D96-6B80-1B968CFA6A8D}"/>
                </a:ext>
              </a:extLst>
            </p:cNvPr>
            <p:cNvSpPr/>
            <p:nvPr/>
          </p:nvSpPr>
          <p:spPr>
            <a:xfrm>
              <a:off x="2501667" y="4711801"/>
              <a:ext cx="81000" cy="81000"/>
            </a:xfrm>
            <a:prstGeom prst="ellipse">
              <a:avLst/>
            </a:prstGeom>
            <a:solidFill>
              <a:srgbClr val="1F4D78">
                <a:lumMod val="60000"/>
                <a:lumOff val="40000"/>
              </a:srgbClr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A4579D5B-263A-638A-8150-9974B6755E68}"/>
                </a:ext>
              </a:extLst>
            </p:cNvPr>
            <p:cNvSpPr/>
            <p:nvPr/>
          </p:nvSpPr>
          <p:spPr>
            <a:xfrm>
              <a:off x="2379222" y="4419410"/>
              <a:ext cx="81000" cy="81000"/>
            </a:xfrm>
            <a:prstGeom prst="ellipse">
              <a:avLst/>
            </a:prstGeom>
            <a:solidFill>
              <a:srgbClr val="1F4D78">
                <a:lumMod val="60000"/>
                <a:lumOff val="40000"/>
              </a:srgbClr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2A6755F0-21BB-FCB2-0C6B-F0BBCA090B9B}"/>
                </a:ext>
              </a:extLst>
            </p:cNvPr>
            <p:cNvSpPr/>
            <p:nvPr/>
          </p:nvSpPr>
          <p:spPr>
            <a:xfrm>
              <a:off x="2666281" y="5053390"/>
              <a:ext cx="81000" cy="81000"/>
            </a:xfrm>
            <a:prstGeom prst="ellipse">
              <a:avLst/>
            </a:prstGeom>
            <a:solidFill>
              <a:srgbClr val="1F4D78">
                <a:lumMod val="60000"/>
                <a:lumOff val="40000"/>
              </a:srgbClr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A82085E6-772A-0E6F-89B1-7A18A5AB4E47}"/>
                </a:ext>
              </a:extLst>
            </p:cNvPr>
            <p:cNvSpPr/>
            <p:nvPr/>
          </p:nvSpPr>
          <p:spPr>
            <a:xfrm>
              <a:off x="2869578" y="5392801"/>
              <a:ext cx="81000" cy="81000"/>
            </a:xfrm>
            <a:prstGeom prst="ellipse">
              <a:avLst/>
            </a:prstGeom>
            <a:solidFill>
              <a:srgbClr val="1F4D78">
                <a:lumMod val="60000"/>
                <a:lumOff val="40000"/>
              </a:srgbClr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40B14DA8-ED69-AB11-3615-39D18046783B}"/>
                </a:ext>
              </a:extLst>
            </p:cNvPr>
            <p:cNvSpPr/>
            <p:nvPr/>
          </p:nvSpPr>
          <p:spPr>
            <a:xfrm>
              <a:off x="3177577" y="5591478"/>
              <a:ext cx="81000" cy="81000"/>
            </a:xfrm>
            <a:prstGeom prst="ellipse">
              <a:avLst/>
            </a:prstGeom>
            <a:solidFill>
              <a:srgbClr val="1F4D78">
                <a:lumMod val="60000"/>
                <a:lumOff val="40000"/>
              </a:srgbClr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1E38A47F-A3CD-D46C-AD22-B8C3BD5D71F7}"/>
                </a:ext>
              </a:extLst>
            </p:cNvPr>
            <p:cNvSpPr/>
            <p:nvPr/>
          </p:nvSpPr>
          <p:spPr>
            <a:xfrm>
              <a:off x="3378390" y="5550978"/>
              <a:ext cx="81000" cy="81000"/>
            </a:xfrm>
            <a:prstGeom prst="ellipse">
              <a:avLst/>
            </a:prstGeom>
            <a:solidFill>
              <a:srgbClr val="1F4D78">
                <a:lumMod val="60000"/>
                <a:lumOff val="40000"/>
              </a:srgbClr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FB5CBBEB-A8DD-53F8-4C5B-642F93C9E6DD}"/>
                </a:ext>
              </a:extLst>
            </p:cNvPr>
            <p:cNvSpPr/>
            <p:nvPr/>
          </p:nvSpPr>
          <p:spPr>
            <a:xfrm>
              <a:off x="3564805" y="5444528"/>
              <a:ext cx="81000" cy="81000"/>
            </a:xfrm>
            <a:prstGeom prst="ellipse">
              <a:avLst/>
            </a:prstGeom>
            <a:solidFill>
              <a:srgbClr val="1F4D78">
                <a:lumMod val="60000"/>
                <a:lumOff val="40000"/>
              </a:srgbClr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4E2C2E10-8E4E-F792-72A8-96948F089D91}"/>
                </a:ext>
              </a:extLst>
            </p:cNvPr>
            <p:cNvSpPr/>
            <p:nvPr/>
          </p:nvSpPr>
          <p:spPr>
            <a:xfrm>
              <a:off x="3752397" y="5311801"/>
              <a:ext cx="81000" cy="81000"/>
            </a:xfrm>
            <a:prstGeom prst="ellipse">
              <a:avLst/>
            </a:prstGeom>
            <a:solidFill>
              <a:srgbClr val="1F4D78">
                <a:lumMod val="60000"/>
                <a:lumOff val="40000"/>
              </a:srgbClr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52722CCD-21F8-D76C-3FFA-AFE5FC3FCE5C}"/>
                </a:ext>
              </a:extLst>
            </p:cNvPr>
            <p:cNvSpPr/>
            <p:nvPr/>
          </p:nvSpPr>
          <p:spPr>
            <a:xfrm>
              <a:off x="4055160" y="5185285"/>
              <a:ext cx="81000" cy="81000"/>
            </a:xfrm>
            <a:prstGeom prst="ellipse">
              <a:avLst/>
            </a:prstGeom>
            <a:solidFill>
              <a:srgbClr val="1F4D78">
                <a:lumMod val="60000"/>
                <a:lumOff val="40000"/>
              </a:srgbClr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3078A5FB-DB75-C377-C516-44E1729E1A82}"/>
                </a:ext>
              </a:extLst>
            </p:cNvPr>
            <p:cNvSpPr/>
            <p:nvPr/>
          </p:nvSpPr>
          <p:spPr>
            <a:xfrm>
              <a:off x="4436451" y="5266285"/>
              <a:ext cx="81000" cy="81000"/>
            </a:xfrm>
            <a:prstGeom prst="ellipse">
              <a:avLst/>
            </a:prstGeom>
            <a:solidFill>
              <a:srgbClr val="1F4D78">
                <a:lumMod val="60000"/>
                <a:lumOff val="40000"/>
              </a:srgbClr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A0033CDC-2755-B153-68A6-8C5F6D25EB5B}"/>
                </a:ext>
              </a:extLst>
            </p:cNvPr>
            <p:cNvSpPr/>
            <p:nvPr/>
          </p:nvSpPr>
          <p:spPr>
            <a:xfrm>
              <a:off x="4885191" y="5591478"/>
              <a:ext cx="81000" cy="81000"/>
            </a:xfrm>
            <a:prstGeom prst="ellipse">
              <a:avLst/>
            </a:prstGeom>
            <a:solidFill>
              <a:srgbClr val="1F4D78">
                <a:lumMod val="60000"/>
                <a:lumOff val="40000"/>
              </a:srgbClr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cxnSp>
          <p:nvCxnSpPr>
            <p:cNvPr id="70" name="直接箭头连接符 69">
              <a:extLst>
                <a:ext uri="{FF2B5EF4-FFF2-40B4-BE49-F238E27FC236}">
                  <a16:creationId xmlns:a16="http://schemas.microsoft.com/office/drawing/2014/main" id="{ED4121D7-63F0-A584-4097-24E8A65FCE9F}"/>
                </a:ext>
              </a:extLst>
            </p:cNvPr>
            <p:cNvCxnSpPr/>
            <p:nvPr/>
          </p:nvCxnSpPr>
          <p:spPr>
            <a:xfrm flipV="1">
              <a:off x="2194371" y="4111174"/>
              <a:ext cx="0" cy="1800671"/>
            </a:xfrm>
            <a:prstGeom prst="straightConnector1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9D6F8C53-75E6-D832-A0EF-248CBBC6E8D4}"/>
                </a:ext>
              </a:extLst>
            </p:cNvPr>
            <p:cNvCxnSpPr/>
            <p:nvPr/>
          </p:nvCxnSpPr>
          <p:spPr>
            <a:xfrm flipV="1">
              <a:off x="2188297" y="5906611"/>
              <a:ext cx="2993747" cy="332"/>
            </a:xfrm>
            <a:prstGeom prst="straightConnector1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  <a:miter lim="800000"/>
              <a:tailEnd type="triangle"/>
            </a:ln>
            <a:effectLst/>
          </p:spPr>
        </p:cxnSp>
      </p:grpSp>
      <p:sp>
        <p:nvSpPr>
          <p:cNvPr id="72" name="文本框 71">
            <a:extLst>
              <a:ext uri="{FF2B5EF4-FFF2-40B4-BE49-F238E27FC236}">
                <a16:creationId xmlns:a16="http://schemas.microsoft.com/office/drawing/2014/main" id="{1D217518-8B40-8B9C-9C91-301B643B2E75}"/>
              </a:ext>
            </a:extLst>
          </p:cNvPr>
          <p:cNvSpPr txBox="1"/>
          <p:nvPr/>
        </p:nvSpPr>
        <p:spPr>
          <a:xfrm>
            <a:off x="6821630" y="2288267"/>
            <a:ext cx="24416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00" b="1" dirty="0">
                <a:solidFill>
                  <a:srgbClr val="000000"/>
                </a:solidFill>
                <a:latin typeface="Arial"/>
                <a:ea typeface="微软雅黑"/>
              </a:rPr>
              <a:t>过参数化神经网络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F0FC6C14-A301-B20D-1521-67793970B1E1}"/>
              </a:ext>
            </a:extLst>
          </p:cNvPr>
          <p:cNvSpPr txBox="1"/>
          <p:nvPr/>
        </p:nvSpPr>
        <p:spPr>
          <a:xfrm>
            <a:off x="7951558" y="3183388"/>
            <a:ext cx="15953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00" b="1" dirty="0">
                <a:solidFill>
                  <a:srgbClr val="000000"/>
                </a:solidFill>
                <a:latin typeface="Arial"/>
                <a:ea typeface="微软雅黑"/>
              </a:rPr>
              <a:t>经验倾向于</a:t>
            </a:r>
          </a:p>
        </p:txBody>
      </p: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DBC1A029-34C6-CB3E-40F6-61FC0A899257}"/>
              </a:ext>
            </a:extLst>
          </p:cNvPr>
          <p:cNvCxnSpPr/>
          <p:nvPr/>
        </p:nvCxnSpPr>
        <p:spPr>
          <a:xfrm flipH="1">
            <a:off x="7929367" y="2944287"/>
            <a:ext cx="2540" cy="85598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5" name="文本框 74">
            <a:extLst>
              <a:ext uri="{FF2B5EF4-FFF2-40B4-BE49-F238E27FC236}">
                <a16:creationId xmlns:a16="http://schemas.microsoft.com/office/drawing/2014/main" id="{51FE0084-C38F-4115-EEB1-5544429B9E5A}"/>
              </a:ext>
            </a:extLst>
          </p:cNvPr>
          <p:cNvSpPr txBox="1"/>
          <p:nvPr/>
        </p:nvSpPr>
        <p:spPr>
          <a:xfrm>
            <a:off x="3120998" y="3935375"/>
            <a:ext cx="103105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00" b="1" dirty="0">
                <a:solidFill>
                  <a:srgbClr val="000000"/>
                </a:solidFill>
                <a:latin typeface="Arial"/>
                <a:ea typeface="微软雅黑"/>
              </a:rPr>
              <a:t>过拟合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D868E4D1-5263-B434-20C5-50A208C11905}"/>
              </a:ext>
            </a:extLst>
          </p:cNvPr>
          <p:cNvSpPr txBox="1"/>
          <p:nvPr/>
        </p:nvSpPr>
        <p:spPr>
          <a:xfrm>
            <a:off x="7286597" y="3935228"/>
            <a:ext cx="17799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 dirty="0">
                <a:solidFill>
                  <a:srgbClr val="000000"/>
                </a:solidFill>
                <a:latin typeface="Arial"/>
                <a:ea typeface="微软雅黑"/>
              </a:rPr>
              <a:t>符合直观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788E1340-477B-8B88-487E-F21D0FCBCE75}"/>
              </a:ext>
            </a:extLst>
          </p:cNvPr>
          <p:cNvSpPr txBox="1"/>
          <p:nvPr/>
        </p:nvSpPr>
        <p:spPr>
          <a:xfrm>
            <a:off x="7033810" y="4331699"/>
            <a:ext cx="18838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 dirty="0">
                <a:solidFill>
                  <a:srgbClr val="A62038"/>
                </a:solidFill>
                <a:latin typeface="Arial"/>
                <a:ea typeface="微软雅黑"/>
              </a:rPr>
              <a:t>通常泛化性好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0BB7DD3F-DE37-F0C7-9876-D181EE1819AD}"/>
              </a:ext>
            </a:extLst>
          </p:cNvPr>
          <p:cNvSpPr txBox="1"/>
          <p:nvPr/>
        </p:nvSpPr>
        <p:spPr>
          <a:xfrm>
            <a:off x="387264" y="950726"/>
            <a:ext cx="96198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Arial"/>
                <a:ea typeface="微软雅黑"/>
              </a:rPr>
              <a:t>30</a:t>
            </a:r>
            <a:r>
              <a:rPr lang="zh-CN" altLang="en-US" sz="2400" dirty="0">
                <a:solidFill>
                  <a:srgbClr val="000000"/>
                </a:solidFill>
                <a:latin typeface="Arial"/>
                <a:ea typeface="微软雅黑"/>
              </a:rPr>
              <a:t>年谜团：为何</a:t>
            </a:r>
            <a:r>
              <a:rPr lang="zh-CN" altLang="en-US" sz="2400" b="1" dirty="0">
                <a:solidFill>
                  <a:srgbClr val="A62038"/>
                </a:solidFill>
                <a:latin typeface="Arial"/>
                <a:ea typeface="微软雅黑"/>
              </a:rPr>
              <a:t>过参数化</a:t>
            </a:r>
            <a:r>
              <a:rPr lang="zh-CN" altLang="en-US" sz="2400" dirty="0">
                <a:solidFill>
                  <a:srgbClr val="000000"/>
                </a:solidFill>
                <a:latin typeface="Arial"/>
                <a:ea typeface="微软雅黑"/>
              </a:rPr>
              <a:t>的神经网络</a:t>
            </a:r>
            <a:r>
              <a:rPr lang="zh-CN" altLang="en-US" sz="2400" b="1" dirty="0">
                <a:solidFill>
                  <a:srgbClr val="A62038"/>
                </a:solidFill>
                <a:latin typeface="Arial"/>
                <a:ea typeface="微软雅黑"/>
              </a:rPr>
              <a:t>不会明显过拟合</a:t>
            </a:r>
            <a:r>
              <a:rPr lang="zh-CN" altLang="en-US" sz="2400" dirty="0">
                <a:solidFill>
                  <a:srgbClr val="000000"/>
                </a:solidFill>
                <a:latin typeface="Arial"/>
                <a:ea typeface="微软雅黑"/>
              </a:rPr>
              <a:t>？</a:t>
            </a:r>
            <a:r>
              <a:rPr lang="en-US" altLang="zh-CN" sz="2400" dirty="0">
                <a:solidFill>
                  <a:srgbClr val="000000"/>
                </a:solidFill>
                <a:latin typeface="Arial"/>
                <a:ea typeface="微软雅黑"/>
              </a:rPr>
              <a:t>(</a:t>
            </a:r>
            <a:r>
              <a:rPr lang="en-US" altLang="zh-CN" sz="2400" dirty="0" err="1">
                <a:solidFill>
                  <a:srgbClr val="000000"/>
                </a:solidFill>
                <a:latin typeface="Arial"/>
                <a:ea typeface="微软雅黑"/>
              </a:rPr>
              <a:t>Breiman</a:t>
            </a:r>
            <a:r>
              <a:rPr lang="en-US" altLang="zh-CN" sz="2400" dirty="0">
                <a:solidFill>
                  <a:srgbClr val="000000"/>
                </a:solidFill>
                <a:latin typeface="Arial"/>
                <a:ea typeface="微软雅黑"/>
              </a:rPr>
              <a:t> 1995)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E8D0DD9B-12DC-B110-BDF9-6CD51DEF8ACB}"/>
              </a:ext>
            </a:extLst>
          </p:cNvPr>
          <p:cNvSpPr txBox="1"/>
          <p:nvPr/>
        </p:nvSpPr>
        <p:spPr>
          <a:xfrm>
            <a:off x="2512207" y="2288679"/>
            <a:ext cx="22317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200" b="1" dirty="0">
                <a:solidFill>
                  <a:srgbClr val="000000"/>
                </a:solidFill>
                <a:latin typeface="Arial"/>
                <a:ea typeface="微软雅黑"/>
              </a:rPr>
              <a:t>过参数化模型</a:t>
            </a:r>
            <a:endParaRPr lang="en-US" altLang="zh-CN" sz="2200" b="1" dirty="0">
              <a:solidFill>
                <a:srgbClr val="000000"/>
              </a:solidFill>
              <a:latin typeface="Arial"/>
              <a:ea typeface="微软雅黑"/>
            </a:endParaRPr>
          </a:p>
          <a:p>
            <a:pPr algn="ctr"/>
            <a:r>
              <a:rPr lang="en-US" altLang="zh-CN" sz="2200" dirty="0">
                <a:solidFill>
                  <a:srgbClr val="000000"/>
                </a:solidFill>
                <a:latin typeface="Arial"/>
                <a:ea typeface="微软雅黑"/>
              </a:rPr>
              <a:t>(</a:t>
            </a:r>
            <a:r>
              <a:rPr lang="zh-CN" altLang="en-US" sz="2200" dirty="0">
                <a:solidFill>
                  <a:srgbClr val="000000"/>
                </a:solidFill>
                <a:latin typeface="Arial"/>
                <a:ea typeface="微软雅黑"/>
              </a:rPr>
              <a:t>参数量</a:t>
            </a:r>
            <a:r>
              <a:rPr lang="en-US" altLang="zh-CN" sz="2200" dirty="0">
                <a:solidFill>
                  <a:srgbClr val="000000"/>
                </a:solidFill>
                <a:latin typeface="Arial"/>
                <a:ea typeface="微软雅黑"/>
              </a:rPr>
              <a:t>&gt;</a:t>
            </a:r>
            <a:r>
              <a:rPr lang="zh-CN" altLang="en-US" sz="2200" dirty="0">
                <a:solidFill>
                  <a:srgbClr val="000000"/>
                </a:solidFill>
                <a:latin typeface="Arial"/>
                <a:ea typeface="微软雅黑"/>
              </a:rPr>
              <a:t>样本量</a:t>
            </a:r>
            <a:r>
              <a:rPr lang="en-US" altLang="zh-CN" sz="2200" dirty="0">
                <a:solidFill>
                  <a:srgbClr val="000000"/>
                </a:solidFill>
                <a:latin typeface="Arial"/>
                <a:ea typeface="微软雅黑"/>
              </a:rPr>
              <a:t>)</a:t>
            </a:r>
            <a:endParaRPr lang="zh-CN" altLang="en-US" sz="2200" dirty="0">
              <a:solidFill>
                <a:srgbClr val="000000"/>
              </a:solidFill>
              <a:latin typeface="Arial"/>
              <a:ea typeface="微软雅黑"/>
            </a:endParaRPr>
          </a:p>
        </p:txBody>
      </p: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3E250E85-2376-5BBF-1304-42D07681A957}"/>
              </a:ext>
            </a:extLst>
          </p:cNvPr>
          <p:cNvCxnSpPr/>
          <p:nvPr/>
        </p:nvCxnSpPr>
        <p:spPr>
          <a:xfrm flipH="1">
            <a:off x="3634430" y="2944287"/>
            <a:ext cx="2540" cy="85598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BB808CDB-499E-41BF-0500-63E12A6AC02D}"/>
              </a:ext>
            </a:extLst>
          </p:cNvPr>
          <p:cNvSpPr txBox="1"/>
          <p:nvPr/>
        </p:nvSpPr>
        <p:spPr>
          <a:xfrm>
            <a:off x="3749966" y="3183388"/>
            <a:ext cx="15953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00" b="1" dirty="0">
                <a:solidFill>
                  <a:srgbClr val="000000"/>
                </a:solidFill>
                <a:latin typeface="Arial"/>
                <a:ea typeface="微软雅黑"/>
              </a:rPr>
              <a:t>可以表达出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6BA1DA70-1CDF-56EF-F72D-E14C03CE228D}"/>
              </a:ext>
            </a:extLst>
          </p:cNvPr>
          <p:cNvSpPr txBox="1"/>
          <p:nvPr/>
        </p:nvSpPr>
        <p:spPr>
          <a:xfrm>
            <a:off x="415234" y="1607133"/>
            <a:ext cx="62607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Arial"/>
                <a:ea typeface="微软雅黑"/>
              </a:rPr>
              <a:t>传统的学习理论无法解释过参数化情形</a:t>
            </a:r>
            <a:endParaRPr lang="en-US" altLang="zh-CN" sz="2400" dirty="0">
              <a:solidFill>
                <a:srgbClr val="000000"/>
              </a:solidFill>
              <a:latin typeface="Arial"/>
              <a:ea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15CD2-7742-7427-2948-F2EE93B45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0A81E68-3A12-7C0D-F3CF-53CCD070E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隐式偏好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1A17551-B8F6-3FA9-1A17-EB5BA652E4E6}"/>
              </a:ext>
            </a:extLst>
          </p:cNvPr>
          <p:cNvSpPr/>
          <p:nvPr/>
        </p:nvSpPr>
        <p:spPr>
          <a:xfrm>
            <a:off x="3591983" y="1039045"/>
            <a:ext cx="4965700" cy="1635185"/>
          </a:xfrm>
          <a:prstGeom prst="roundRect">
            <a:avLst/>
          </a:prstGeom>
          <a:solidFill>
            <a:srgbClr val="FFFFFF">
              <a:lumMod val="95000"/>
            </a:srgbClr>
          </a:solidFill>
          <a:ln w="1905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012AB76-BDF2-0F43-1012-C0BF1F6F3C48}"/>
              </a:ext>
            </a:extLst>
          </p:cNvPr>
          <p:cNvSpPr txBox="1"/>
          <p:nvPr/>
        </p:nvSpPr>
        <p:spPr>
          <a:xfrm>
            <a:off x="6855944" y="3171474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Arial"/>
                <a:ea typeface="微软雅黑"/>
              </a:rPr>
              <a:t>训练</a:t>
            </a:r>
            <a:endParaRPr lang="en-US" altLang="zh-CN" sz="2400" dirty="0">
              <a:solidFill>
                <a:srgbClr val="000000"/>
              </a:solidFill>
              <a:latin typeface="Arial"/>
              <a:ea typeface="微软雅黑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">
                <a:extLst>
                  <a:ext uri="{FF2B5EF4-FFF2-40B4-BE49-F238E27FC236}">
                    <a16:creationId xmlns:a16="http://schemas.microsoft.com/office/drawing/2014/main" id="{1832BB3B-F029-EE33-F615-A386E32BC3FC}"/>
                  </a:ext>
                </a:extLst>
              </p:cNvPr>
              <p:cNvSpPr txBox="1"/>
              <p:nvPr/>
            </p:nvSpPr>
            <p:spPr>
              <a:xfrm>
                <a:off x="6290053" y="3900246"/>
                <a:ext cx="4076700" cy="10164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altLang="zh-CN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2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2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20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20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sz="220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220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20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20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22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sz="220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20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p>
                                      <m:r>
                                        <a:rPr lang="en-US" altLang="zh-CN" sz="220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altLang="zh-CN" sz="220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20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20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sz="22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200" dirty="0">
                  <a:solidFill>
                    <a:srgbClr val="000000"/>
                  </a:solidFill>
                  <a:latin typeface="Arial"/>
                  <a:ea typeface="微软雅黑"/>
                </a:endParaRPr>
              </a:p>
            </p:txBody>
          </p:sp>
        </mc:Choice>
        <mc:Fallback xmlns="">
          <p:sp>
            <p:nvSpPr>
              <p:cNvPr id="21" name="文本框 2">
                <a:extLst>
                  <a:ext uri="{FF2B5EF4-FFF2-40B4-BE49-F238E27FC236}">
                    <a16:creationId xmlns:a16="http://schemas.microsoft.com/office/drawing/2014/main" id="{1832BB3B-F029-EE33-F615-A386E32BC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0053" y="3900246"/>
                <a:ext cx="4076700" cy="10164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本框 21">
            <a:extLst>
              <a:ext uri="{FF2B5EF4-FFF2-40B4-BE49-F238E27FC236}">
                <a16:creationId xmlns:a16="http://schemas.microsoft.com/office/drawing/2014/main" id="{5C4E99C8-0C3B-AA34-4586-51B1AAB74CB8}"/>
              </a:ext>
            </a:extLst>
          </p:cNvPr>
          <p:cNvSpPr txBox="1"/>
          <p:nvPr/>
        </p:nvSpPr>
        <p:spPr>
          <a:xfrm>
            <a:off x="2348154" y="3369861"/>
            <a:ext cx="2380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Arial"/>
                <a:ea typeface="微软雅黑"/>
              </a:rPr>
              <a:t>参数量 </a:t>
            </a:r>
            <a:r>
              <a:rPr lang="en-US" altLang="zh-CN" sz="2400" b="1" dirty="0">
                <a:solidFill>
                  <a:srgbClr val="000000"/>
                </a:solidFill>
                <a:latin typeface="Arial"/>
                <a:ea typeface="微软雅黑"/>
              </a:rPr>
              <a:t>&gt; </a:t>
            </a:r>
            <a:r>
              <a:rPr lang="zh-CN" altLang="en-US" sz="2400" b="1" dirty="0">
                <a:solidFill>
                  <a:srgbClr val="000000"/>
                </a:solidFill>
                <a:latin typeface="Arial"/>
                <a:ea typeface="微软雅黑"/>
              </a:rPr>
              <a:t>样本数</a:t>
            </a:r>
            <a:endParaRPr lang="en-US" altLang="zh-CN" sz="2400" b="1" dirty="0">
              <a:solidFill>
                <a:srgbClr val="000000"/>
              </a:solidFill>
              <a:latin typeface="Arial"/>
              <a:ea typeface="微软雅黑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F29CF2AA-08D3-F77E-98CC-E5822D83B90A}"/>
              </a:ext>
            </a:extLst>
          </p:cNvPr>
          <p:cNvCxnSpPr/>
          <p:nvPr/>
        </p:nvCxnSpPr>
        <p:spPr>
          <a:xfrm>
            <a:off x="4822762" y="3577610"/>
            <a:ext cx="825040" cy="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3637F990-0DC6-F7FE-E47B-2857BE29D117}"/>
              </a:ext>
            </a:extLst>
          </p:cNvPr>
          <p:cNvSpPr txBox="1"/>
          <p:nvPr/>
        </p:nvSpPr>
        <p:spPr>
          <a:xfrm>
            <a:off x="5708749" y="3369861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Arial"/>
                <a:ea typeface="微软雅黑"/>
              </a:rPr>
              <a:t>多解</a:t>
            </a:r>
            <a:endParaRPr lang="en-US" altLang="zh-CN" sz="2400" dirty="0">
              <a:solidFill>
                <a:srgbClr val="000000"/>
              </a:solidFill>
              <a:latin typeface="Arial"/>
              <a:ea typeface="微软雅黑"/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B3D0BAF6-01C2-BC70-73AF-70C2188A66FA}"/>
              </a:ext>
            </a:extLst>
          </p:cNvPr>
          <p:cNvCxnSpPr/>
          <p:nvPr/>
        </p:nvCxnSpPr>
        <p:spPr>
          <a:xfrm>
            <a:off x="6569669" y="3577610"/>
            <a:ext cx="1346450" cy="0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F428FFC9-A727-123D-BBBF-6FA65397B35F}"/>
              </a:ext>
            </a:extLst>
          </p:cNvPr>
          <p:cNvSpPr txBox="1"/>
          <p:nvPr/>
        </p:nvSpPr>
        <p:spPr>
          <a:xfrm>
            <a:off x="8036832" y="3369861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Arial"/>
                <a:ea typeface="微软雅黑"/>
              </a:rPr>
              <a:t>泛化性好的解</a:t>
            </a:r>
            <a:endParaRPr lang="en-US" altLang="zh-CN" sz="2400" dirty="0">
              <a:solidFill>
                <a:srgbClr val="000000"/>
              </a:solidFill>
              <a:latin typeface="Arial"/>
              <a:ea typeface="微软雅黑"/>
            </a:endParaRP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F7C7A65A-BC5E-80DA-8192-99A6C37296DF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57092" y="1560889"/>
            <a:ext cx="1566947" cy="981494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26902EC2-DEFE-4391-C837-5D587EB63DF9}"/>
              </a:ext>
            </a:extLst>
          </p:cNvPr>
          <p:cNvSpPr txBox="1"/>
          <p:nvPr/>
        </p:nvSpPr>
        <p:spPr>
          <a:xfrm>
            <a:off x="1916427" y="4183771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Arial"/>
                <a:ea typeface="微软雅黑"/>
              </a:rPr>
              <a:t>实际上，损失函数无显式偏好：</a:t>
            </a:r>
            <a:endParaRPr lang="en-US" altLang="zh-CN" sz="2400" dirty="0">
              <a:solidFill>
                <a:srgbClr val="000000"/>
              </a:solidFill>
              <a:latin typeface="Arial"/>
              <a:ea typeface="微软雅黑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0100C87-4D52-7CB0-8D8E-2E6B39955317}"/>
              </a:ext>
            </a:extLst>
          </p:cNvPr>
          <p:cNvSpPr txBox="1"/>
          <p:nvPr/>
        </p:nvSpPr>
        <p:spPr>
          <a:xfrm>
            <a:off x="381242" y="4877798"/>
            <a:ext cx="11703514" cy="1308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Arial"/>
                <a:ea typeface="微软雅黑"/>
              </a:rPr>
              <a:t>核心关键问题：</a:t>
            </a:r>
            <a:endParaRPr lang="en-US" altLang="zh-CN" sz="2800" b="1" dirty="0">
              <a:solidFill>
                <a:srgbClr val="0000FF"/>
              </a:solidFill>
              <a:latin typeface="Arial"/>
              <a:ea typeface="微软雅黑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Arial"/>
                <a:ea typeface="微软雅黑"/>
              </a:rPr>
              <a:t>神经网络的</a:t>
            </a:r>
            <a:r>
              <a:rPr lang="zh-CN" altLang="en-US" sz="2800" b="1" dirty="0">
                <a:solidFill>
                  <a:srgbClr val="A62038"/>
                </a:solidFill>
                <a:latin typeface="Arial"/>
                <a:ea typeface="微软雅黑"/>
              </a:rPr>
              <a:t>隐式偏好</a:t>
            </a:r>
            <a:r>
              <a:rPr lang="zh-CN" altLang="en-US" sz="2800" b="1" dirty="0">
                <a:solidFill>
                  <a:srgbClr val="000000"/>
                </a:solidFill>
                <a:latin typeface="Arial"/>
                <a:ea typeface="微软雅黑"/>
              </a:rPr>
              <a:t>是什么？</a:t>
            </a:r>
            <a:r>
              <a:rPr lang="zh-CN" altLang="en-US" sz="2800" b="1" dirty="0">
                <a:solidFill>
                  <a:srgbClr val="A62038"/>
                </a:solidFill>
                <a:latin typeface="Arial"/>
                <a:ea typeface="微软雅黑"/>
              </a:rPr>
              <a:t>机制</a:t>
            </a:r>
            <a:r>
              <a:rPr lang="zh-CN" altLang="en-US" sz="2800" b="1" dirty="0">
                <a:solidFill>
                  <a:srgbClr val="000000"/>
                </a:solidFill>
                <a:latin typeface="Arial"/>
                <a:ea typeface="微软雅黑"/>
              </a:rPr>
              <a:t>是什么？</a:t>
            </a:r>
            <a:endParaRPr lang="en-US" altLang="zh-CN" sz="2800" b="1" dirty="0">
              <a:solidFill>
                <a:srgbClr val="000000"/>
              </a:solidFill>
              <a:latin typeface="Arial"/>
              <a:ea typeface="微软雅黑"/>
            </a:endParaRP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BB45A07A-4A67-EF32-B89A-7EB30FC43217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88613" y="1542480"/>
            <a:ext cx="1591937" cy="981495"/>
          </a:xfrm>
          <a:prstGeom prst="rect">
            <a:avLst/>
          </a:prstGeom>
        </p:spPr>
      </p:pic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DAFD3816-016D-07DB-5D46-E853F40041A5}"/>
              </a:ext>
            </a:extLst>
          </p:cNvPr>
          <p:cNvSpPr/>
          <p:nvPr/>
        </p:nvSpPr>
        <p:spPr>
          <a:xfrm>
            <a:off x="2372671" y="3288951"/>
            <a:ext cx="2316012" cy="558391"/>
          </a:xfrm>
          <a:prstGeom prst="roundRect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6E060D09-0707-B738-BD30-0B094922A51E}"/>
              </a:ext>
            </a:extLst>
          </p:cNvPr>
          <p:cNvCxnSpPr/>
          <p:nvPr/>
        </p:nvCxnSpPr>
        <p:spPr>
          <a:xfrm flipV="1">
            <a:off x="6099239" y="2729759"/>
            <a:ext cx="0" cy="559192"/>
          </a:xfrm>
          <a:prstGeom prst="straightConnector1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F3D9483F-4032-8749-529D-6CFCBFFD8FCB}"/>
              </a:ext>
            </a:extLst>
          </p:cNvPr>
          <p:cNvSpPr txBox="1"/>
          <p:nvPr/>
        </p:nvSpPr>
        <p:spPr>
          <a:xfrm>
            <a:off x="3685956" y="1044507"/>
            <a:ext cx="3028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 dirty="0">
                <a:solidFill>
                  <a:srgbClr val="000000"/>
                </a:solidFill>
                <a:latin typeface="Arial"/>
                <a:ea typeface="微软雅黑"/>
              </a:rPr>
              <a:t>训练</a:t>
            </a:r>
            <a:r>
              <a:rPr lang="zh-CN" altLang="en-US" sz="2400" b="1" dirty="0">
                <a:solidFill>
                  <a:srgbClr val="000000"/>
                </a:solidFill>
                <a:latin typeface="Arial"/>
                <a:ea typeface="微软雅黑"/>
              </a:rPr>
              <a:t>误差</a:t>
            </a:r>
            <a:r>
              <a:rPr lang="en-US" altLang="zh-CN" sz="2200" b="1" dirty="0">
                <a:solidFill>
                  <a:srgbClr val="000000"/>
                </a:solidFill>
                <a:latin typeface="Arial"/>
                <a:ea typeface="微软雅黑"/>
              </a:rPr>
              <a:t>=0</a:t>
            </a:r>
            <a:r>
              <a:rPr lang="zh-CN" altLang="en-US" sz="2200" b="1" dirty="0">
                <a:solidFill>
                  <a:srgbClr val="000000"/>
                </a:solidFill>
                <a:latin typeface="Arial"/>
                <a:ea typeface="微软雅黑"/>
              </a:rPr>
              <a:t>的集合：</a:t>
            </a:r>
            <a:endParaRPr lang="en-US" altLang="zh-CN" sz="2200" dirty="0">
              <a:solidFill>
                <a:srgbClr val="000000"/>
              </a:solidFill>
              <a:latin typeface="Arial"/>
              <a:ea typeface="微软雅黑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F61EB26-6AA0-8463-0B35-F27692659752}"/>
              </a:ext>
            </a:extLst>
          </p:cNvPr>
          <p:cNvSpPr txBox="1"/>
          <p:nvPr/>
        </p:nvSpPr>
        <p:spPr>
          <a:xfrm>
            <a:off x="7558931" y="1802394"/>
            <a:ext cx="9458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>
                <a:solidFill>
                  <a:srgbClr val="000000"/>
                </a:solidFill>
                <a:latin typeface="Arial"/>
                <a:ea typeface="微软雅黑"/>
              </a:rPr>
              <a:t>……</a:t>
            </a:r>
            <a:endParaRPr lang="en-US" altLang="zh-CN" sz="2200" dirty="0">
              <a:solidFill>
                <a:srgbClr val="000000"/>
              </a:solidFill>
              <a:latin typeface="Arial"/>
              <a:ea typeface="微软雅黑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9101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  <p:bldP spid="21" grpId="0"/>
      <p:bldP spid="24" grpId="0"/>
      <p:bldP spid="26" grpId="0"/>
      <p:bldP spid="28" grpId="0"/>
      <p:bldP spid="29" grpId="0"/>
      <p:bldP spid="33" grpId="0"/>
      <p:bldP spid="3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08FFA-1261-A399-551C-3941795A3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C729226A-AB09-13D0-BAE0-4D245D1C447C}"/>
              </a:ext>
            </a:extLst>
          </p:cNvPr>
          <p:cNvSpPr txBox="1"/>
          <p:nvPr/>
        </p:nvSpPr>
        <p:spPr>
          <a:xfrm>
            <a:off x="1675055" y="1591487"/>
            <a:ext cx="895629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神经网络在训练过程中的隐式偏好是什么？</a:t>
            </a:r>
            <a:endParaRPr lang="en-US" altLang="zh-CN" sz="36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36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3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真实数据过于复杂！</a:t>
            </a:r>
            <a:endParaRPr lang="en-US" altLang="zh-CN" sz="36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36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3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讨论：怎么办？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EE200D4-EC74-5D37-BAA4-EAA897214F7C}"/>
              </a:ext>
            </a:extLst>
          </p:cNvPr>
          <p:cNvSpPr txBox="1"/>
          <p:nvPr/>
        </p:nvSpPr>
        <p:spPr>
          <a:xfrm>
            <a:off x="2850225" y="4859796"/>
            <a:ext cx="63401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3200" dirty="0"/>
              <a:t>用简单的数据进行控制变量的实验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6858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42D90-AA48-E5EE-B287-D0CDAA2C7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545428A-B994-A0F5-E025-EC08D672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时域空间一维函数训练过程</a:t>
            </a:r>
          </a:p>
        </p:txBody>
      </p:sp>
      <p:pic>
        <p:nvPicPr>
          <p:cNvPr id="4" name="animationxy">
            <a:hlinkClick r:id="" action="ppaction://media"/>
            <a:extLst>
              <a:ext uri="{FF2B5EF4-FFF2-40B4-BE49-F238E27FC236}">
                <a16:creationId xmlns:a16="http://schemas.microsoft.com/office/drawing/2014/main" id="{3DF28B3A-79FF-1B78-EA25-986E46C27F7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>
                  <p14:trim end="7000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213967" y="1000064"/>
            <a:ext cx="7888660" cy="525657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D06C359-BB64-9C10-C919-93A42151AC6B}"/>
              </a:ext>
            </a:extLst>
          </p:cNvPr>
          <p:cNvSpPr txBox="1"/>
          <p:nvPr/>
        </p:nvSpPr>
        <p:spPr>
          <a:xfrm>
            <a:off x="381242" y="2756435"/>
            <a:ext cx="29546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solidFill>
                  <a:srgbClr val="FE03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红色：目标函数</a:t>
            </a:r>
            <a:endParaRPr lang="en-US" altLang="zh-CN" sz="2400" dirty="0">
              <a:solidFill>
                <a:srgbClr val="FE03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2400" dirty="0">
                <a:solidFill>
                  <a:srgbClr val="4845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蓝色：神经网络输出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C1EACE2-55DA-D05D-56B7-04DFA22437D2}"/>
              </a:ext>
            </a:extLst>
          </p:cNvPr>
          <p:cNvSpPr txBox="1"/>
          <p:nvPr/>
        </p:nvSpPr>
        <p:spPr>
          <a:xfrm>
            <a:off x="1166140" y="1007827"/>
            <a:ext cx="42114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讨论：训练过程有什么特点？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518C935-DEA6-E552-16F2-7D782973EE2D}"/>
              </a:ext>
            </a:extLst>
          </p:cNvPr>
          <p:cNvSpPr txBox="1"/>
          <p:nvPr/>
        </p:nvSpPr>
        <p:spPr>
          <a:xfrm>
            <a:off x="-23600" y="6068985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tx2"/>
                </a:solidFill>
              </a:rPr>
              <a:t>代码： https://github.com/xuzhiqin1990/understanding_dl/tree/main/code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120E8DC-DD14-6AC9-24D5-52DCD7D9FBDF}"/>
              </a:ext>
            </a:extLst>
          </p:cNvPr>
          <p:cNvSpPr txBox="1"/>
          <p:nvPr/>
        </p:nvSpPr>
        <p:spPr>
          <a:xfrm>
            <a:off x="7385114" y="1007827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从轮廓到细节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4897847-3A75-455F-4DD5-2073A35BA869}"/>
              </a:ext>
            </a:extLst>
          </p:cNvPr>
          <p:cNvSpPr txBox="1"/>
          <p:nvPr/>
        </p:nvSpPr>
        <p:spPr>
          <a:xfrm>
            <a:off x="1239296" y="2096376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怎么定量刻画这个过程？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94978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9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  <p:bldLst>
      <p:bldP spid="7" grpId="0"/>
      <p:bldP spid="5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21DAE-C394-029D-EB6D-97C95AA1D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4857DD3-5AFD-4B0C-F595-C50B9495B82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99000"/>
          </a:blip>
          <a:stretch>
            <a:fillRect/>
          </a:stretch>
        </p:blipFill>
        <p:spPr>
          <a:xfrm>
            <a:off x="2362199" y="2173514"/>
            <a:ext cx="7685314" cy="230424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4600CDD-F6EC-7243-3982-23E2EF346FD6}"/>
              </a:ext>
            </a:extLst>
          </p:cNvPr>
          <p:cNvSpPr txBox="1"/>
          <p:nvPr/>
        </p:nvSpPr>
        <p:spPr>
          <a:xfrm>
            <a:off x="3712684" y="1207218"/>
            <a:ext cx="47666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i="0" dirty="0">
                <a:solidFill>
                  <a:srgbClr val="3C404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频率：</a:t>
            </a:r>
            <a:r>
              <a:rPr lang="zh-CN" altLang="en-US" sz="2400" b="0" i="0" dirty="0">
                <a:solidFill>
                  <a:srgbClr val="3C404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平整度、振</a:t>
            </a:r>
            <a:r>
              <a:rPr lang="zh-CN" altLang="en-US" sz="2400" dirty="0">
                <a:solidFill>
                  <a:srgbClr val="3C40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荡</a:t>
            </a:r>
            <a:r>
              <a:rPr lang="zh-CN" altLang="en-US" sz="2400" b="0" i="0" dirty="0">
                <a:solidFill>
                  <a:srgbClr val="3C404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、轮廓、细节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椭圆形标注 18">
            <a:extLst>
              <a:ext uri="{FF2B5EF4-FFF2-40B4-BE49-F238E27FC236}">
                <a16:creationId xmlns:a16="http://schemas.microsoft.com/office/drawing/2014/main" id="{FA6D9893-7244-DE43-F046-D636AD02584D}"/>
              </a:ext>
            </a:extLst>
          </p:cNvPr>
          <p:cNvSpPr/>
          <p:nvPr/>
        </p:nvSpPr>
        <p:spPr>
          <a:xfrm>
            <a:off x="10047513" y="1032647"/>
            <a:ext cx="2097974" cy="973300"/>
          </a:xfrm>
          <a:prstGeom prst="wedgeEllipseCallout">
            <a:avLst>
              <a:gd name="adj1" fmla="val -80666"/>
              <a:gd name="adj2" fmla="val 10902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40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频率</a:t>
            </a:r>
            <a:endParaRPr kumimoji="1" lang="zh-CN" altLang="en-US" sz="4000" dirty="0">
              <a:solidFill>
                <a:srgbClr val="C00000"/>
              </a:solidFill>
            </a:endParaRPr>
          </a:p>
        </p:txBody>
      </p:sp>
      <p:sp>
        <p:nvSpPr>
          <p:cNvPr id="3" name="椭圆形标注 18">
            <a:extLst>
              <a:ext uri="{FF2B5EF4-FFF2-40B4-BE49-F238E27FC236}">
                <a16:creationId xmlns:a16="http://schemas.microsoft.com/office/drawing/2014/main" id="{4F55D86C-25A3-5715-1679-3BB3D7B5655F}"/>
              </a:ext>
            </a:extLst>
          </p:cNvPr>
          <p:cNvSpPr/>
          <p:nvPr/>
        </p:nvSpPr>
        <p:spPr>
          <a:xfrm>
            <a:off x="9053284" y="4852054"/>
            <a:ext cx="2097974" cy="973300"/>
          </a:xfrm>
          <a:prstGeom prst="wedgeEllipseCallout">
            <a:avLst>
              <a:gd name="adj1" fmla="val -138433"/>
              <a:gd name="adj2" fmla="val -194448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40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幅度</a:t>
            </a:r>
            <a:endParaRPr kumimoji="1" lang="zh-CN" altLang="en-US" sz="4000" dirty="0">
              <a:solidFill>
                <a:srgbClr val="C00000"/>
              </a:solidFill>
            </a:endParaRPr>
          </a:p>
        </p:txBody>
      </p:sp>
      <p:sp>
        <p:nvSpPr>
          <p:cNvPr id="4" name="椭圆形标注 18">
            <a:extLst>
              <a:ext uri="{FF2B5EF4-FFF2-40B4-BE49-F238E27FC236}">
                <a16:creationId xmlns:a16="http://schemas.microsoft.com/office/drawing/2014/main" id="{3BC7D80B-57BF-E6BA-25B1-4D065FD55884}"/>
              </a:ext>
            </a:extLst>
          </p:cNvPr>
          <p:cNvSpPr/>
          <p:nvPr/>
        </p:nvSpPr>
        <p:spPr>
          <a:xfrm>
            <a:off x="729340" y="5062511"/>
            <a:ext cx="6564089" cy="973300"/>
          </a:xfrm>
          <a:prstGeom prst="wedgeEllipseCallout">
            <a:avLst>
              <a:gd name="adj1" fmla="val -7359"/>
              <a:gd name="adj2" fmla="val -191466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8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函数表示成三角函数的和</a:t>
            </a:r>
            <a:endParaRPr kumimoji="1" lang="zh-CN" altLang="en-US" sz="28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6537C0F-8114-B73E-8DD1-57DD7A1C3014}"/>
                  </a:ext>
                </a:extLst>
              </p:cNvPr>
              <p:cNvSpPr txBox="1"/>
              <p:nvPr/>
            </p:nvSpPr>
            <p:spPr>
              <a:xfrm>
                <a:off x="2675537" y="5775321"/>
                <a:ext cx="2773131" cy="3787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sz="24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altLang="zh-CN" sz="24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𝒊𝒙</m:t>
                          </m:r>
                        </m:sup>
                      </m:sSup>
                      <m:r>
                        <a:rPr lang="en-US" altLang="zh-CN" sz="24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400" b="1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400" b="1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US" altLang="zh-CN" sz="24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r>
                        <a:rPr lang="en-US" altLang="zh-CN" sz="24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func>
                        <m:funcPr>
                          <m:ctrlPr>
                            <a:rPr lang="en-US" altLang="zh-CN" sz="2400" b="1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400" b="1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US" altLang="zh-CN" sz="24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</m:oMath>
                  </m:oMathPara>
                </a14:m>
                <a:endParaRPr lang="zh-CN" altLang="en-US" sz="24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6537C0F-8114-B73E-8DD1-57DD7A1C30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5537" y="5775321"/>
                <a:ext cx="2773131" cy="378758"/>
              </a:xfrm>
              <a:prstGeom prst="rect">
                <a:avLst/>
              </a:prstGeom>
              <a:blipFill>
                <a:blip r:embed="rId5"/>
                <a:stretch>
                  <a:fillRect l="-1099" r="-879" b="-63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5F4B2D10-B310-2534-7FB8-F629CCC4ED80}"/>
              </a:ext>
            </a:extLst>
          </p:cNvPr>
          <p:cNvSpPr txBox="1"/>
          <p:nvPr/>
        </p:nvSpPr>
        <p:spPr>
          <a:xfrm>
            <a:off x="418563" y="4031087"/>
            <a:ext cx="20155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/>
              <a:t>类似</a:t>
            </a:r>
            <a:r>
              <a:rPr lang="en-US" altLang="zh-CN" sz="2000" dirty="0"/>
              <a:t>Taylor</a:t>
            </a:r>
            <a:r>
              <a:rPr lang="zh-CN" altLang="en-US" sz="2000" dirty="0"/>
              <a:t>展开！</a:t>
            </a:r>
          </a:p>
        </p:txBody>
      </p:sp>
    </p:spTree>
    <p:extLst>
      <p:ext uri="{BB962C8B-B14F-4D97-AF65-F5344CB8AC3E}">
        <p14:creationId xmlns:p14="http://schemas.microsoft.com/office/powerpoint/2010/main" val="2799698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22">
            <a:extLst>
              <a:ext uri="{FF2B5EF4-FFF2-40B4-BE49-F238E27FC236}">
                <a16:creationId xmlns:a16="http://schemas.microsoft.com/office/drawing/2014/main" id="{A048031C-ACCD-4F47-AC1D-F55A10296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傅里叶</a:t>
            </a:r>
            <a:r>
              <a:rPr lang="zh-CN" altLang="en-US" dirty="0">
                <a:latin typeface="Arial" panose="020B0604020202020204" pitchFamily="34" charset="0"/>
              </a:rPr>
              <a:t>展开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C853C4E-16AB-43D1-3413-60CB51ECC5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" name="内容占位符 4">
            <a:extLst>
              <a:ext uri="{FF2B5EF4-FFF2-40B4-BE49-F238E27FC236}">
                <a16:creationId xmlns:a16="http://schemas.microsoft.com/office/drawing/2014/main" id="{0D0DC395-DB96-088F-5C40-8E4CDD8EB0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11438" y="1145516"/>
            <a:ext cx="6731706" cy="500513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9BED9B1-C1A6-77CA-1F10-A89CD35F016F}"/>
              </a:ext>
            </a:extLst>
          </p:cNvPr>
          <p:cNvSpPr txBox="1"/>
          <p:nvPr/>
        </p:nvSpPr>
        <p:spPr>
          <a:xfrm>
            <a:off x="6935332" y="3579354"/>
            <a:ext cx="7342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2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kumimoji="1" lang="en-US" altLang="zh-CN" sz="12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kumimoji="1" lang="zh-CN" altLang="en-US" sz="12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频率的幅度</a:t>
            </a:r>
            <a:endParaRPr kumimoji="1" lang="zh-CN" altLang="en-US" sz="1200" dirty="0">
              <a:solidFill>
                <a:srgbClr val="C0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04084BC-6FD1-F28B-2EE2-52A812C0A33D}"/>
              </a:ext>
            </a:extLst>
          </p:cNvPr>
          <p:cNvSpPr txBox="1"/>
          <p:nvPr/>
        </p:nvSpPr>
        <p:spPr>
          <a:xfrm>
            <a:off x="7907361" y="3057653"/>
            <a:ext cx="7342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2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kumimoji="1" lang="en-US" altLang="zh-CN" sz="12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kumimoji="1" lang="zh-CN" altLang="en-US" sz="12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频率的幅度</a:t>
            </a:r>
            <a:endParaRPr kumimoji="1" lang="zh-CN" altLang="en-US" sz="1200" dirty="0">
              <a:solidFill>
                <a:srgbClr val="C000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F3C5859-73E4-0B0B-3607-FA2275332A76}"/>
              </a:ext>
            </a:extLst>
          </p:cNvPr>
          <p:cNvSpPr txBox="1"/>
          <p:nvPr/>
        </p:nvSpPr>
        <p:spPr>
          <a:xfrm>
            <a:off x="8725252" y="2595988"/>
            <a:ext cx="7342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2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kumimoji="1" lang="en-US" altLang="zh-CN" sz="12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kumimoji="1" lang="zh-CN" altLang="en-US" sz="12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频率的幅度</a:t>
            </a:r>
            <a:endParaRPr kumimoji="1" lang="zh-CN" altLang="en-US" sz="1200" dirty="0">
              <a:solidFill>
                <a:srgbClr val="C0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265FB48-9A26-A5E7-11F3-404F152DA342}"/>
              </a:ext>
            </a:extLst>
          </p:cNvPr>
          <p:cNvSpPr txBox="1"/>
          <p:nvPr/>
        </p:nvSpPr>
        <p:spPr>
          <a:xfrm>
            <a:off x="6002459" y="4330352"/>
            <a:ext cx="7342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2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均值的幅度</a:t>
            </a:r>
            <a:endParaRPr kumimoji="1" lang="zh-CN" altLang="en-US" sz="1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05454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C95FED-F76B-D33A-F486-D245090DF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使用越来越多的频率来逼近的效果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4F230F4-B25D-18F2-A7D4-10F6E9055F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7416" y="1170709"/>
            <a:ext cx="4585855" cy="4585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D30D3B0-AB03-5E58-840B-125D382C726B}"/>
              </a:ext>
            </a:extLst>
          </p:cNvPr>
          <p:cNvSpPr txBox="1"/>
          <p:nvPr/>
        </p:nvSpPr>
        <p:spPr>
          <a:xfrm>
            <a:off x="8428183" y="1911927"/>
            <a:ext cx="294178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000" dirty="0"/>
              <a:t>N</a:t>
            </a:r>
            <a:r>
              <a:rPr lang="zh-CN" altLang="en-US" sz="2000" dirty="0"/>
              <a:t>表示用前</a:t>
            </a:r>
            <a:r>
              <a:rPr lang="en-US" altLang="zh-CN" sz="2000" dirty="0"/>
              <a:t>N</a:t>
            </a:r>
            <a:r>
              <a:rPr lang="zh-CN" altLang="en-US" sz="2000" dirty="0"/>
              <a:t>个频率的三角函数表示的曲线。</a:t>
            </a:r>
            <a:endParaRPr lang="en-US" altLang="zh-CN" sz="2000" dirty="0"/>
          </a:p>
          <a:p>
            <a:pPr algn="l"/>
            <a:endParaRPr lang="en-US" altLang="zh-CN" sz="2000" dirty="0"/>
          </a:p>
          <a:p>
            <a:pPr algn="l"/>
            <a:r>
              <a:rPr lang="zh-CN" altLang="en-US" sz="2000" dirty="0"/>
              <a:t>频率越多，拟合越准确</a:t>
            </a:r>
            <a:endParaRPr lang="en-US" altLang="zh-CN" sz="2000" dirty="0"/>
          </a:p>
          <a:p>
            <a:pPr algn="l"/>
            <a:endParaRPr lang="en-US" altLang="zh-CN" sz="2000" dirty="0"/>
          </a:p>
          <a:p>
            <a:pPr algn="l"/>
            <a:r>
              <a:rPr lang="zh-CN" altLang="en-US" sz="2000" dirty="0"/>
              <a:t>低频对拟合的影响更大</a:t>
            </a:r>
          </a:p>
        </p:txBody>
      </p:sp>
    </p:spTree>
    <p:extLst>
      <p:ext uri="{BB962C8B-B14F-4D97-AF65-F5344CB8AC3E}">
        <p14:creationId xmlns:p14="http://schemas.microsoft.com/office/powerpoint/2010/main" val="7653141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09CCBD-5752-20B4-A5EF-DBD1B9292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保留低频或高频的图像变化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13DF579-A848-6243-E606-DBB07D8582F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9" y="1600196"/>
            <a:ext cx="10972822" cy="365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1981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BFB92-815E-DA7D-E023-548F87907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CABA69C-2ED4-A1C5-F6FF-E85A0DB34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时域空间一维函数训练过程</a:t>
            </a:r>
          </a:p>
        </p:txBody>
      </p:sp>
      <p:pic>
        <p:nvPicPr>
          <p:cNvPr id="4" name="animationxy">
            <a:hlinkClick r:id="" action="ppaction://media"/>
            <a:extLst>
              <a:ext uri="{FF2B5EF4-FFF2-40B4-BE49-F238E27FC236}">
                <a16:creationId xmlns:a16="http://schemas.microsoft.com/office/drawing/2014/main" id="{501AD583-D19A-C34A-C144-370C1C59A55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>
                  <p14:trim end="7000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213967" y="1000064"/>
            <a:ext cx="7888660" cy="525657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805B567-3D01-8090-3D11-554365CAEFFC}"/>
              </a:ext>
            </a:extLst>
          </p:cNvPr>
          <p:cNvSpPr txBox="1"/>
          <p:nvPr/>
        </p:nvSpPr>
        <p:spPr>
          <a:xfrm>
            <a:off x="381242" y="2756435"/>
            <a:ext cx="29546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solidFill>
                  <a:srgbClr val="FE03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红色：目标函数</a:t>
            </a:r>
            <a:endParaRPr lang="en-US" altLang="zh-CN" sz="2400" dirty="0">
              <a:solidFill>
                <a:srgbClr val="FE03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2400" dirty="0">
                <a:solidFill>
                  <a:srgbClr val="4845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蓝色：神经网络输出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5753E9D-04E7-560B-B896-892C7DD69E82}"/>
              </a:ext>
            </a:extLst>
          </p:cNvPr>
          <p:cNvSpPr txBox="1"/>
          <p:nvPr/>
        </p:nvSpPr>
        <p:spPr>
          <a:xfrm>
            <a:off x="1166140" y="1007827"/>
            <a:ext cx="42114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讨论：训练过程有什么特点？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3590F8-046A-2867-71A0-0D0BCAC4D5EB}"/>
              </a:ext>
            </a:extLst>
          </p:cNvPr>
          <p:cNvSpPr txBox="1"/>
          <p:nvPr/>
        </p:nvSpPr>
        <p:spPr>
          <a:xfrm>
            <a:off x="-23600" y="6068985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tx2"/>
                </a:solidFill>
              </a:rPr>
              <a:t>代码： https://github.com/xuzhiqin1990/understanding_dl/tree/main/code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99AF690-33A6-C652-87D3-64931A74E5DA}"/>
              </a:ext>
            </a:extLst>
          </p:cNvPr>
          <p:cNvSpPr txBox="1"/>
          <p:nvPr/>
        </p:nvSpPr>
        <p:spPr>
          <a:xfrm>
            <a:off x="7385114" y="1007827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从轮廓到细节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77DAB8B-FDC6-223F-9883-F44179C442B8}"/>
              </a:ext>
            </a:extLst>
          </p:cNvPr>
          <p:cNvSpPr txBox="1"/>
          <p:nvPr/>
        </p:nvSpPr>
        <p:spPr>
          <a:xfrm>
            <a:off x="1239296" y="2096376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怎么定量刻画这个过程？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1313582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B419C-5128-005F-D7E1-AC6E9ACA6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AEC8FAA-640A-3970-69E1-44EAE0C9A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频域空间一维函数训练过程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BCF73E2-4027-42FE-9D12-D0BF003F84DE}"/>
              </a:ext>
            </a:extLst>
          </p:cNvPr>
          <p:cNvSpPr txBox="1"/>
          <p:nvPr/>
        </p:nvSpPr>
        <p:spPr>
          <a:xfrm>
            <a:off x="381242" y="2756435"/>
            <a:ext cx="29546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solidFill>
                  <a:srgbClr val="FE030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红色：目标函数</a:t>
            </a:r>
            <a:endParaRPr lang="en-US" altLang="zh-CN" sz="2400" dirty="0">
              <a:solidFill>
                <a:srgbClr val="FE030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2400" dirty="0">
                <a:solidFill>
                  <a:srgbClr val="4845D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蓝色：神经网络输出</a:t>
            </a:r>
          </a:p>
        </p:txBody>
      </p:sp>
      <p:pic>
        <p:nvPicPr>
          <p:cNvPr id="9" name="animation">
            <a:hlinkClick r:id="" action="ppaction://media"/>
            <a:extLst>
              <a:ext uri="{FF2B5EF4-FFF2-40B4-BE49-F238E27FC236}">
                <a16:creationId xmlns:a16="http://schemas.microsoft.com/office/drawing/2014/main" id="{D3F8E210-824E-67CE-4329-3143940E87C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>
                  <p14:trim end="21334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601378" y="900012"/>
            <a:ext cx="7590622" cy="505797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D02D6D7-D50A-7868-C169-E1E78975BDFF}"/>
              </a:ext>
            </a:extLst>
          </p:cNvPr>
          <p:cNvSpPr txBox="1"/>
          <p:nvPr/>
        </p:nvSpPr>
        <p:spPr>
          <a:xfrm>
            <a:off x="533400" y="901596"/>
            <a:ext cx="114241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2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频率原则（</a:t>
            </a:r>
            <a:r>
              <a:rPr lang="en-US" altLang="zh-CN" sz="22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Frequency Principle/Spectral bias</a:t>
            </a:r>
            <a:r>
              <a:rPr lang="zh-CN" altLang="en-US" sz="22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）：神经网络按照从低频至高频的顺序拟合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372296E-F654-548D-EFFD-B841CE0F92D1}"/>
              </a:ext>
            </a:extLst>
          </p:cNvPr>
          <p:cNvSpPr txBox="1"/>
          <p:nvPr/>
        </p:nvSpPr>
        <p:spPr>
          <a:xfrm>
            <a:off x="4201268" y="312576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振幅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0FE41A8-150A-99F5-1161-AC2058E6C614}"/>
              </a:ext>
            </a:extLst>
          </p:cNvPr>
          <p:cNvSpPr txBox="1"/>
          <p:nvPr/>
        </p:nvSpPr>
        <p:spPr>
          <a:xfrm>
            <a:off x="7996579" y="5727155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频率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21C6BF7-9564-E194-C742-34719CC82A8D}"/>
              </a:ext>
            </a:extLst>
          </p:cNvPr>
          <p:cNvSpPr txBox="1"/>
          <p:nvPr/>
        </p:nvSpPr>
        <p:spPr>
          <a:xfrm>
            <a:off x="381242" y="5611739"/>
            <a:ext cx="68788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400" b="1" dirty="0">
                <a:solidFill>
                  <a:schemeClr val="tx2"/>
                </a:solidFill>
              </a:rPr>
              <a:t>Q: </a:t>
            </a:r>
            <a:r>
              <a:rPr lang="zh-CN" altLang="en-US" sz="2400" b="1" dirty="0">
                <a:solidFill>
                  <a:schemeClr val="tx2"/>
                </a:solidFill>
              </a:rPr>
              <a:t>影响拟合顺序的频率还是振幅？怎么设计实验？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FA813A0-C6F2-CC97-8285-AC1C22455E37}"/>
              </a:ext>
            </a:extLst>
          </p:cNvPr>
          <p:cNvSpPr txBox="1"/>
          <p:nvPr/>
        </p:nvSpPr>
        <p:spPr>
          <a:xfrm>
            <a:off x="381242" y="4781208"/>
            <a:ext cx="33794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400" b="1" dirty="0">
                <a:solidFill>
                  <a:schemeClr val="tx2"/>
                </a:solidFill>
              </a:rPr>
              <a:t>Q: </a:t>
            </a:r>
            <a:r>
              <a:rPr lang="zh-CN" altLang="en-US" sz="2400" b="1" dirty="0">
                <a:solidFill>
                  <a:schemeClr val="tx2"/>
                </a:solidFill>
              </a:rPr>
              <a:t>能否证明频率原则？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7600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3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video>
              <p:cMediaNode vol="80000">
                <p:cTn id="24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  <p:bldLst>
      <p:bldP spid="10" grpId="0"/>
      <p:bldP spid="4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79ED5-EDA1-44E6-3CD5-282019862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82F557F-05AD-AC70-C65A-C8688992C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控制变量：控制不同频率的振幅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08004308-A00D-08B8-729C-5F7A0E61CC16}"/>
              </a:ext>
            </a:extLst>
          </p:cNvPr>
          <p:cNvSpPr txBox="1">
            <a:spLocks/>
          </p:cNvSpPr>
          <p:nvPr/>
        </p:nvSpPr>
        <p:spPr>
          <a:xfrm>
            <a:off x="3884595" y="906583"/>
            <a:ext cx="4076299" cy="58403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>
            <a:noAutofit/>
          </a:bodyPr>
          <a:lstStyle>
            <a:lvl1pPr algn="l" defTabSz="121920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ctr" defTabSz="121920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242C2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振幅相同</a:t>
            </a: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srgbClr val="242C2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413C0FC-3BC2-9591-6612-300494E42F56}"/>
                  </a:ext>
                </a:extLst>
              </p:cNvPr>
              <p:cNvSpPr txBox="1"/>
              <p:nvPr/>
            </p:nvSpPr>
            <p:spPr>
              <a:xfrm>
                <a:off x="4379917" y="5551307"/>
                <a:ext cx="3085653" cy="4001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altLang="zh-CN" sz="2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kumimoji="0" lang="en-US" altLang="zh-CN" sz="2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2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US" altLang="zh-CN" sz="2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unc>
                        <m:funcPr>
                          <m:ctrlPr>
                            <a:rPr kumimoji="0" lang="en-US" altLang="zh-CN" sz="26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altLang="zh-CN" sz="26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sin</m:t>
                          </m:r>
                        </m:fName>
                        <m:e>
                          <m:r>
                            <a:rPr kumimoji="0" lang="en-US" altLang="zh-CN" sz="2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func>
                      <m:r>
                        <a:rPr kumimoji="0" lang="en-US" altLang="zh-CN" sz="2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func>
                        <m:funcPr>
                          <m:ctrlPr>
                            <a:rPr kumimoji="0" lang="en-US" altLang="zh-CN" sz="26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altLang="zh-CN" sz="26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sin</m:t>
                          </m:r>
                        </m:fName>
                        <m:e>
                          <m:r>
                            <a:rPr kumimoji="0" lang="en-US" altLang="zh-CN" sz="2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5</m:t>
                          </m:r>
                          <m:r>
                            <a:rPr kumimoji="0" lang="en-US" altLang="zh-CN" sz="2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kumimoji="0" lang="zh-CN" altLang="en-US" sz="2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/>
                  <a:cs typeface="+mn-cs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413C0FC-3BC2-9591-6612-300494E42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9917" y="5551307"/>
                <a:ext cx="3085653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>
            <a:extLst>
              <a:ext uri="{FF2B5EF4-FFF2-40B4-BE49-F238E27FC236}">
                <a16:creationId xmlns:a16="http://schemas.microsoft.com/office/drawing/2014/main" id="{8F428D10-8CF3-750E-BCD1-E0449FB270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772478"/>
            <a:ext cx="12192000" cy="331304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DB7E0DF-A771-0264-A2AA-FDC1F8EFE9BA}"/>
              </a:ext>
            </a:extLst>
          </p:cNvPr>
          <p:cNvSpPr txBox="1"/>
          <p:nvPr/>
        </p:nvSpPr>
        <p:spPr>
          <a:xfrm>
            <a:off x="-23600" y="6068985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tx2"/>
                </a:solidFill>
              </a:rPr>
              <a:t>代码： https://github.com/xuzhiqin1990/understanding_dl/tree/main/code</a:t>
            </a:r>
          </a:p>
        </p:txBody>
      </p:sp>
    </p:spTree>
    <p:extLst>
      <p:ext uri="{BB962C8B-B14F-4D97-AF65-F5344CB8AC3E}">
        <p14:creationId xmlns:p14="http://schemas.microsoft.com/office/powerpoint/2010/main" val="23367072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9F40D-976C-6098-43F7-E31E658AB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B3FF4BF-4867-8A2F-4221-DD51F097F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控制变量：控制不同频率的振幅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23AAFA4E-B2AA-78C4-65C2-C15C0B5BE3A5}"/>
              </a:ext>
            </a:extLst>
          </p:cNvPr>
          <p:cNvSpPr txBox="1">
            <a:spLocks/>
          </p:cNvSpPr>
          <p:nvPr/>
        </p:nvSpPr>
        <p:spPr>
          <a:xfrm>
            <a:off x="3884595" y="906583"/>
            <a:ext cx="4076299" cy="58403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>
            <a:noAutofit/>
          </a:bodyPr>
          <a:lstStyle>
            <a:lvl1pPr algn="l" defTabSz="121920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ctr" defTabSz="121920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242C2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振幅相同</a:t>
            </a:r>
            <a:endParaRPr kumimoji="0" lang="en-US" sz="3400" b="1" i="0" u="none" strike="noStrike" kern="1200" cap="none" spc="0" normalizeH="0" baseline="0" noProof="0" dirty="0">
              <a:ln>
                <a:noFill/>
              </a:ln>
              <a:solidFill>
                <a:srgbClr val="242C2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EDE1BCA-12BF-CB1F-3BA9-7FE7F4D9F8F2}"/>
                  </a:ext>
                </a:extLst>
              </p:cNvPr>
              <p:cNvSpPr txBox="1"/>
              <p:nvPr/>
            </p:nvSpPr>
            <p:spPr>
              <a:xfrm>
                <a:off x="1462323" y="5660615"/>
                <a:ext cx="4331892" cy="4001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altLang="zh-CN" sz="2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kumimoji="0" lang="en-US" altLang="zh-CN" sz="2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2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US" altLang="zh-CN" sz="2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unc>
                        <m:funcPr>
                          <m:ctrlPr>
                            <a:rPr kumimoji="0" lang="en-US" altLang="zh-CN" sz="26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altLang="zh-CN" sz="26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sin</m:t>
                          </m:r>
                        </m:fName>
                        <m:e>
                          <m:r>
                            <a:rPr kumimoji="0" lang="en-US" altLang="zh-CN" sz="2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func>
                      <m:r>
                        <a:rPr kumimoji="0" lang="en-US" altLang="zh-CN" sz="2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func>
                        <m:funcPr>
                          <m:ctrlPr>
                            <a:rPr kumimoji="0" lang="en-US" altLang="zh-CN" sz="26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altLang="zh-CN" sz="26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sin</m:t>
                          </m:r>
                        </m:fName>
                        <m:e>
                          <m:r>
                            <a:rPr kumimoji="0" lang="en-US" altLang="zh-CN" sz="2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  <m:r>
                            <a:rPr kumimoji="0" lang="en-US" altLang="zh-CN" sz="2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func>
                      <m:r>
                        <a:rPr kumimoji="0" lang="en-US" altLang="zh-CN" sz="2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func>
                        <m:funcPr>
                          <m:ctrlPr>
                            <a:rPr kumimoji="0" lang="en-US" altLang="zh-CN" sz="26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altLang="zh-CN" sz="26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sin</m:t>
                          </m:r>
                        </m:fName>
                        <m:e>
                          <m:r>
                            <a:rPr kumimoji="0" lang="en-US" altLang="zh-CN" sz="2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5</m:t>
                          </m:r>
                          <m:r>
                            <a:rPr kumimoji="0" lang="en-US" altLang="zh-CN" sz="2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kumimoji="0" lang="zh-CN" altLang="en-US" sz="2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/>
                  <a:cs typeface="+mn-cs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EDE1BCA-12BF-CB1F-3BA9-7FE7F4D9F8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2323" y="5660615"/>
                <a:ext cx="4331892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D8BFAB92-F785-81C8-1B37-00A21C48B7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821" y="5656134"/>
            <a:ext cx="3529013" cy="48358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B4B7550-0591-ECAB-F0F2-127C05B797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0666" y="1765347"/>
            <a:ext cx="9990667" cy="389405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A08E2D7-B292-6D7C-9B4F-12A6EF9EBA93}"/>
              </a:ext>
            </a:extLst>
          </p:cNvPr>
          <p:cNvSpPr txBox="1"/>
          <p:nvPr/>
        </p:nvSpPr>
        <p:spPr>
          <a:xfrm>
            <a:off x="4119514" y="4053525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1400" dirty="0"/>
              <a:t>频率空间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AD70734-BFD4-EC2A-814B-3436C6BC95B9}"/>
              </a:ext>
            </a:extLst>
          </p:cNvPr>
          <p:cNvSpPr txBox="1"/>
          <p:nvPr/>
        </p:nvSpPr>
        <p:spPr>
          <a:xfrm>
            <a:off x="6919274" y="1459571"/>
            <a:ext cx="3005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000" dirty="0"/>
              <a:t>三个主要频率的相对误差</a:t>
            </a:r>
          </a:p>
        </p:txBody>
      </p:sp>
    </p:spTree>
    <p:extLst>
      <p:ext uri="{BB962C8B-B14F-4D97-AF65-F5344CB8AC3E}">
        <p14:creationId xmlns:p14="http://schemas.microsoft.com/office/powerpoint/2010/main" val="11714393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C3696-91B9-31F2-67CF-D9F6B4002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C7381F5-EB66-695D-560A-B3D546980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2D </a:t>
            </a:r>
            <a:r>
              <a:rPr lang="zh-CN" altLang="en-US" dirty="0"/>
              <a:t>图片拟合：先学轮廓再学细节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750E77F-BAB2-6EB7-CAE1-4DBD9A3CD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997" y="829158"/>
            <a:ext cx="6838006" cy="259984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9B410FA-9BA9-5E01-4BF4-980582C8A9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97673" y="3417268"/>
            <a:ext cx="9596653" cy="294646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A1C5474-B32F-61C1-4D3A-9E957BD73B21}"/>
              </a:ext>
            </a:extLst>
          </p:cNvPr>
          <p:cNvSpPr txBox="1"/>
          <p:nvPr/>
        </p:nvSpPr>
        <p:spPr>
          <a:xfrm>
            <a:off x="-23600" y="6068985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tx2"/>
                </a:solidFill>
              </a:rPr>
              <a:t>代码： https://github.com/xuzhiqin1990/understanding_dl/tree/main/code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3335B67-B21A-3A7C-C34A-4CD84E54471E}"/>
              </a:ext>
            </a:extLst>
          </p:cNvPr>
          <p:cNvSpPr txBox="1"/>
          <p:nvPr/>
        </p:nvSpPr>
        <p:spPr>
          <a:xfrm>
            <a:off x="63500" y="4317476"/>
            <a:ext cx="14919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000" dirty="0"/>
              <a:t>用未被遮挡的部分训练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6860CE-4D10-BDD6-AB6C-498D9E726BFF}"/>
              </a:ext>
            </a:extLst>
          </p:cNvPr>
          <p:cNvSpPr txBox="1"/>
          <p:nvPr/>
        </p:nvSpPr>
        <p:spPr>
          <a:xfrm>
            <a:off x="63500" y="1451659"/>
            <a:ext cx="28616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dirty="0"/>
              <a:t>DNN</a:t>
            </a:r>
            <a:r>
              <a:rPr lang="zh-CN" altLang="en-US" sz="2000" dirty="0"/>
              <a:t>输入：二维坐标值</a:t>
            </a:r>
            <a:endParaRPr lang="en-US" altLang="zh-CN" sz="2000" dirty="0"/>
          </a:p>
          <a:p>
            <a:pPr algn="l"/>
            <a:r>
              <a:rPr lang="en-US" altLang="zh-CN" sz="2000" dirty="0"/>
              <a:t>DNN</a:t>
            </a:r>
            <a:r>
              <a:rPr lang="zh-CN" altLang="en-US" sz="2000" dirty="0"/>
              <a:t>输出：一维灰度值</a:t>
            </a:r>
          </a:p>
        </p:txBody>
      </p:sp>
    </p:spTree>
    <p:extLst>
      <p:ext uri="{BB962C8B-B14F-4D97-AF65-F5344CB8AC3E}">
        <p14:creationId xmlns:p14="http://schemas.microsoft.com/office/powerpoint/2010/main" val="2049185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C59A1D-46E7-218C-A16D-765374613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哪一部分先学习好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6DD99F-05F6-12D6-3715-6C6DC7207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左边是振荡，右边是平坦</a:t>
            </a: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56E1F6C7-9EF3-F193-D16F-F67D2F5C4A0E}"/>
              </a:ext>
            </a:extLst>
          </p:cNvPr>
          <p:cNvSpPr/>
          <p:nvPr/>
        </p:nvSpPr>
        <p:spPr>
          <a:xfrm>
            <a:off x="2476500" y="1917700"/>
            <a:ext cx="8553450" cy="3022600"/>
          </a:xfrm>
          <a:custGeom>
            <a:avLst/>
            <a:gdLst>
              <a:gd name="connsiteX0" fmla="*/ 0 w 8553450"/>
              <a:gd name="connsiteY0" fmla="*/ 3022600 h 3022600"/>
              <a:gd name="connsiteX1" fmla="*/ 1060450 w 8553450"/>
              <a:gd name="connsiteY1" fmla="*/ 196850 h 3022600"/>
              <a:gd name="connsiteX2" fmla="*/ 1289050 w 8553450"/>
              <a:gd name="connsiteY2" fmla="*/ 2990850 h 3022600"/>
              <a:gd name="connsiteX3" fmla="*/ 1447800 w 8553450"/>
              <a:gd name="connsiteY3" fmla="*/ 190500 h 3022600"/>
              <a:gd name="connsiteX4" fmla="*/ 1644650 w 8553450"/>
              <a:gd name="connsiteY4" fmla="*/ 2965450 h 3022600"/>
              <a:gd name="connsiteX5" fmla="*/ 1778000 w 8553450"/>
              <a:gd name="connsiteY5" fmla="*/ 228600 h 3022600"/>
              <a:gd name="connsiteX6" fmla="*/ 2000250 w 8553450"/>
              <a:gd name="connsiteY6" fmla="*/ 3009900 h 3022600"/>
              <a:gd name="connsiteX7" fmla="*/ 2063750 w 8553450"/>
              <a:gd name="connsiteY7" fmla="*/ 0 h 3022600"/>
              <a:gd name="connsiteX8" fmla="*/ 2235200 w 8553450"/>
              <a:gd name="connsiteY8" fmla="*/ 3009900 h 3022600"/>
              <a:gd name="connsiteX9" fmla="*/ 2374900 w 8553450"/>
              <a:gd name="connsiteY9" fmla="*/ 184150 h 3022600"/>
              <a:gd name="connsiteX10" fmla="*/ 2520950 w 8553450"/>
              <a:gd name="connsiteY10" fmla="*/ 2959100 h 3022600"/>
              <a:gd name="connsiteX11" fmla="*/ 2705100 w 8553450"/>
              <a:gd name="connsiteY11" fmla="*/ 387350 h 3022600"/>
              <a:gd name="connsiteX12" fmla="*/ 2965450 w 8553450"/>
              <a:gd name="connsiteY12" fmla="*/ 1816100 h 3022600"/>
              <a:gd name="connsiteX13" fmla="*/ 4051300 w 8553450"/>
              <a:gd name="connsiteY13" fmla="*/ 2012950 h 3022600"/>
              <a:gd name="connsiteX14" fmla="*/ 8553450 w 8553450"/>
              <a:gd name="connsiteY14" fmla="*/ 1924050 h 302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553450" h="3022600">
                <a:moveTo>
                  <a:pt x="0" y="3022600"/>
                </a:moveTo>
                <a:cubicBezTo>
                  <a:pt x="422804" y="1612371"/>
                  <a:pt x="845608" y="202142"/>
                  <a:pt x="1060450" y="196850"/>
                </a:cubicBezTo>
                <a:cubicBezTo>
                  <a:pt x="1275292" y="191558"/>
                  <a:pt x="1224492" y="2991908"/>
                  <a:pt x="1289050" y="2990850"/>
                </a:cubicBezTo>
                <a:cubicBezTo>
                  <a:pt x="1353608" y="2989792"/>
                  <a:pt x="1388533" y="194733"/>
                  <a:pt x="1447800" y="190500"/>
                </a:cubicBezTo>
                <a:cubicBezTo>
                  <a:pt x="1507067" y="186267"/>
                  <a:pt x="1589617" y="2959100"/>
                  <a:pt x="1644650" y="2965450"/>
                </a:cubicBezTo>
                <a:cubicBezTo>
                  <a:pt x="1699683" y="2971800"/>
                  <a:pt x="1718733" y="221192"/>
                  <a:pt x="1778000" y="228600"/>
                </a:cubicBezTo>
                <a:cubicBezTo>
                  <a:pt x="1837267" y="236008"/>
                  <a:pt x="1952625" y="3048000"/>
                  <a:pt x="2000250" y="3009900"/>
                </a:cubicBezTo>
                <a:cubicBezTo>
                  <a:pt x="2047875" y="2971800"/>
                  <a:pt x="2024592" y="0"/>
                  <a:pt x="2063750" y="0"/>
                </a:cubicBezTo>
                <a:cubicBezTo>
                  <a:pt x="2102908" y="0"/>
                  <a:pt x="2183342" y="2979208"/>
                  <a:pt x="2235200" y="3009900"/>
                </a:cubicBezTo>
                <a:cubicBezTo>
                  <a:pt x="2287058" y="3040592"/>
                  <a:pt x="2327275" y="192617"/>
                  <a:pt x="2374900" y="184150"/>
                </a:cubicBezTo>
                <a:cubicBezTo>
                  <a:pt x="2422525" y="175683"/>
                  <a:pt x="2465917" y="2925233"/>
                  <a:pt x="2520950" y="2959100"/>
                </a:cubicBezTo>
                <a:cubicBezTo>
                  <a:pt x="2575983" y="2992967"/>
                  <a:pt x="2631017" y="577850"/>
                  <a:pt x="2705100" y="387350"/>
                </a:cubicBezTo>
                <a:cubicBezTo>
                  <a:pt x="2779183" y="196850"/>
                  <a:pt x="2741083" y="1545167"/>
                  <a:pt x="2965450" y="1816100"/>
                </a:cubicBezTo>
                <a:cubicBezTo>
                  <a:pt x="3189817" y="2087033"/>
                  <a:pt x="4051300" y="2012950"/>
                  <a:pt x="4051300" y="2012950"/>
                </a:cubicBezTo>
                <a:lnTo>
                  <a:pt x="8553450" y="1924050"/>
                </a:lnTo>
              </a:path>
            </a:pathLst>
          </a:custGeom>
          <a:ln w="38100">
            <a:solidFill>
              <a:srgbClr val="0707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F6270F7-829C-12D4-139F-3779BB064C36}"/>
              </a:ext>
            </a:extLst>
          </p:cNvPr>
          <p:cNvSpPr txBox="1"/>
          <p:nvPr/>
        </p:nvSpPr>
        <p:spPr>
          <a:xfrm>
            <a:off x="3161211" y="5159829"/>
            <a:ext cx="15283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800" dirty="0"/>
              <a:t>难学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C48D914-3365-3AD4-4856-386CE64F641A}"/>
              </a:ext>
            </a:extLst>
          </p:cNvPr>
          <p:cNvSpPr txBox="1"/>
          <p:nvPr/>
        </p:nvSpPr>
        <p:spPr>
          <a:xfrm>
            <a:off x="7987809" y="5171452"/>
            <a:ext cx="15283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800" dirty="0"/>
              <a:t>易学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78041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CDAC7-47E2-D6B3-7AE8-BF3C9F9E0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7AA747D9-341A-91B5-2759-55505114D261}"/>
              </a:ext>
            </a:extLst>
          </p:cNvPr>
          <p:cNvSpPr txBox="1"/>
          <p:nvPr/>
        </p:nvSpPr>
        <p:spPr>
          <a:xfrm>
            <a:off x="2310348" y="2782669"/>
            <a:ext cx="75713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频率原则对神经网络泛化有何帮助？</a:t>
            </a:r>
            <a:endParaRPr lang="en-US" altLang="zh-CN" sz="36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943147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4DC41A-B461-BAAE-951E-9B616900C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选择哪种解？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F5AF60B-C529-7ACD-E330-30E84EAC9C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852"/>
          <a:stretch/>
        </p:blipFill>
        <p:spPr>
          <a:xfrm>
            <a:off x="1766087" y="1871073"/>
            <a:ext cx="8365748" cy="290231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171465F-A8DF-75D7-5545-9D228AE6AA29}"/>
              </a:ext>
            </a:extLst>
          </p:cNvPr>
          <p:cNvSpPr txBox="1"/>
          <p:nvPr/>
        </p:nvSpPr>
        <p:spPr>
          <a:xfrm>
            <a:off x="4714444" y="1116471"/>
            <a:ext cx="39792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>
                <a:solidFill>
                  <a:schemeClr val="tx2"/>
                </a:solidFill>
              </a:rPr>
              <a:t>蓝色训练点是完全一致的。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B00A14D-724E-F86A-E9BA-C181EAC225D5}"/>
              </a:ext>
            </a:extLst>
          </p:cNvPr>
          <p:cNvSpPr txBox="1"/>
          <p:nvPr/>
        </p:nvSpPr>
        <p:spPr>
          <a:xfrm>
            <a:off x="3056710" y="5004198"/>
            <a:ext cx="26517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000" dirty="0"/>
              <a:t>常用设定学到的解，满足频率原则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7E8CACF-0AD1-5AFA-183F-7DDFCBBCE811}"/>
              </a:ext>
            </a:extLst>
          </p:cNvPr>
          <p:cNvSpPr txBox="1"/>
          <p:nvPr/>
        </p:nvSpPr>
        <p:spPr>
          <a:xfrm>
            <a:off x="6483532" y="5004198"/>
            <a:ext cx="34277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000" dirty="0"/>
              <a:t>参数初始值很大时学到的解，实验观察其不满足频率原则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12090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DEE6AD-4589-1AF5-635B-05682165A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这样的拟合是否正确</a:t>
            </a:r>
            <a:r>
              <a:rPr lang="en-US" altLang="zh-CN" dirty="0"/>
              <a:t>?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F85063C-FB20-E464-6E14-C13EB72E6E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027" y="1508919"/>
            <a:ext cx="5485946" cy="3840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4942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25D36-55DE-6B1E-7193-34127C914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6B5622-07A5-E2E3-BC8E-0E575A2BF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这样的拟合是否正确</a:t>
            </a:r>
            <a:r>
              <a:rPr lang="en-US" altLang="zh-CN" dirty="0"/>
              <a:t>?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8C2A0B8-85DB-ABC7-E906-BD30C4B91118}"/>
              </a:ext>
            </a:extLst>
          </p:cNvPr>
          <p:cNvSpPr txBox="1"/>
          <p:nvPr/>
        </p:nvSpPr>
        <p:spPr>
          <a:xfrm>
            <a:off x="4734088" y="5613506"/>
            <a:ext cx="27238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000" dirty="0">
                <a:solidFill>
                  <a:srgbClr val="3232FF"/>
                </a:solidFill>
              </a:rPr>
              <a:t>通常学习到蓝色的曲线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A3950811-659D-54D4-330C-EC37CD0E95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027" y="1508919"/>
            <a:ext cx="5485946" cy="3840162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47FD792A-3DFC-94CD-F2A7-061C9867FC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027" y="1508919"/>
            <a:ext cx="5485946" cy="3840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7028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2EE26-CD1F-F30B-7C99-363088D36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A02D392-89C3-C140-FA61-AC94C486A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Early stopping</a:t>
            </a:r>
            <a:r>
              <a:rPr lang="zh-CN" altLang="en-US" dirty="0"/>
              <a:t>（早停）的效用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6AA1897-0D0E-E8EA-7D8D-D1D5DBDC1779}"/>
                  </a:ext>
                </a:extLst>
              </p:cNvPr>
              <p:cNvSpPr txBox="1"/>
              <p:nvPr/>
            </p:nvSpPr>
            <p:spPr>
              <a:xfrm>
                <a:off x="4240948" y="1326983"/>
                <a:ext cx="377302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zh-CN" altLang="en-US" sz="2000" dirty="0">
                    <a:solidFill>
                      <a:srgbClr val="3232FF"/>
                    </a:solidFill>
                  </a:rPr>
                  <a:t>数据从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zh-CN" sz="2000" b="0" i="0" smtClean="0">
                            <a:solidFill>
                              <a:srgbClr val="3232FF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zh-CN" sz="2000" b="0" i="0" smtClean="0">
                            <a:solidFill>
                              <a:srgbClr val="3232F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kumimoji="1" lang="en-US" altLang="zh-CN" sz="2000" b="0" i="1" smtClean="0">
                            <a:solidFill>
                              <a:srgbClr val="3232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kumimoji="1" lang="zh-CN" altLang="en-US" sz="2000" dirty="0">
                    <a:solidFill>
                      <a:srgbClr val="3232FF"/>
                    </a:solidFill>
                  </a:rPr>
                  <a:t>中采样，但有噪音！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6AA1897-0D0E-E8EA-7D8D-D1D5DBDC17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0948" y="1326983"/>
                <a:ext cx="3773021" cy="400110"/>
              </a:xfrm>
              <a:prstGeom prst="rect">
                <a:avLst/>
              </a:prstGeom>
              <a:blipFill>
                <a:blip r:embed="rId4"/>
                <a:stretch>
                  <a:fillRect l="-2013" t="-15625" r="-671" b="-218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>
            <a:extLst>
              <a:ext uri="{FF2B5EF4-FFF2-40B4-BE49-F238E27FC236}">
                <a16:creationId xmlns:a16="http://schemas.microsoft.com/office/drawing/2014/main" id="{A5C02341-672B-7D20-2016-283E6CA450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6767" y="2125409"/>
            <a:ext cx="3199575" cy="277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9035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2EE26-CD1F-F30B-7C99-363088D36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A02D392-89C3-C140-FA61-AC94C486A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Early stopping</a:t>
            </a:r>
            <a:r>
              <a:rPr lang="zh-CN" altLang="en-US" dirty="0"/>
              <a:t>（早停）的效用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6AA1897-0D0E-E8EA-7D8D-D1D5DBDC1779}"/>
                  </a:ext>
                </a:extLst>
              </p:cNvPr>
              <p:cNvSpPr txBox="1"/>
              <p:nvPr/>
            </p:nvSpPr>
            <p:spPr>
              <a:xfrm>
                <a:off x="875956" y="1326983"/>
                <a:ext cx="377302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zh-CN" altLang="en-US" sz="2000" dirty="0">
                    <a:solidFill>
                      <a:srgbClr val="3232FF"/>
                    </a:solidFill>
                  </a:rPr>
                  <a:t>数据从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zh-CN" sz="2000" b="0" i="0" smtClean="0">
                            <a:solidFill>
                              <a:srgbClr val="3232FF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zh-CN" sz="2000" b="0" i="0" smtClean="0">
                            <a:solidFill>
                              <a:srgbClr val="3232F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kumimoji="1" lang="en-US" altLang="zh-CN" sz="2000" b="0" i="1" smtClean="0">
                            <a:solidFill>
                              <a:srgbClr val="3232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kumimoji="1" lang="zh-CN" altLang="en-US" sz="2000" dirty="0">
                    <a:solidFill>
                      <a:srgbClr val="3232FF"/>
                    </a:solidFill>
                  </a:rPr>
                  <a:t>中采样，但有噪音！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6AA1897-0D0E-E8EA-7D8D-D1D5DBDC17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956" y="1326983"/>
                <a:ext cx="3773021" cy="400110"/>
              </a:xfrm>
              <a:prstGeom prst="rect">
                <a:avLst/>
              </a:prstGeom>
              <a:blipFill>
                <a:blip r:embed="rId5"/>
                <a:stretch>
                  <a:fillRect l="-2013" t="-15625" r="-671" b="-218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>
            <a:extLst>
              <a:ext uri="{FF2B5EF4-FFF2-40B4-BE49-F238E27FC236}">
                <a16:creationId xmlns:a16="http://schemas.microsoft.com/office/drawing/2014/main" id="{A5C02341-672B-7D20-2016-283E6CA450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775" y="2125409"/>
            <a:ext cx="3199575" cy="277980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61140C0-B01E-966A-8F61-008F055E27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391" y="2034869"/>
            <a:ext cx="3867171" cy="306662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AC206A6-89C9-B5C1-423E-1766F3C3C059}"/>
              </a:ext>
            </a:extLst>
          </p:cNvPr>
          <p:cNvSpPr txBox="1"/>
          <p:nvPr/>
        </p:nvSpPr>
        <p:spPr>
          <a:xfrm>
            <a:off x="4891019" y="1326983"/>
            <a:ext cx="30967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000" dirty="0">
                <a:solidFill>
                  <a:schemeClr val="tx2"/>
                </a:solidFill>
              </a:rPr>
              <a:t>讨论：为什么测试误差经过一段时间后开始上升？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1A34486-243C-3C99-DEB3-FACE37DC57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0562" y="2034869"/>
            <a:ext cx="3668857" cy="311496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2D419B9-C93E-CF97-EABA-10ABBBB7BF38}"/>
              </a:ext>
            </a:extLst>
          </p:cNvPr>
          <p:cNvSpPr txBox="1"/>
          <p:nvPr/>
        </p:nvSpPr>
        <p:spPr>
          <a:xfrm>
            <a:off x="2165910" y="5759961"/>
            <a:ext cx="7879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早停可以有效防止模型拟合高频噪声，提高模型泛化能力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5245CAC-5363-A0B2-44F7-035A9FEBEB8B}"/>
              </a:ext>
            </a:extLst>
          </p:cNvPr>
          <p:cNvSpPr txBox="1"/>
          <p:nvPr/>
        </p:nvSpPr>
        <p:spPr>
          <a:xfrm>
            <a:off x="10408167" y="5100196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000" dirty="0">
                <a:solidFill>
                  <a:srgbClr val="00B050"/>
                </a:solidFill>
              </a:rPr>
              <a:t>噪音影响高频</a:t>
            </a:r>
            <a:endParaRPr kumimoji="1" lang="en-US" altLang="zh-CN" sz="2000" dirty="0">
              <a:solidFill>
                <a:srgbClr val="00B05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A33B0C9-1067-DC63-650B-33CBAEB54E49}"/>
              </a:ext>
            </a:extLst>
          </p:cNvPr>
          <p:cNvSpPr txBox="1"/>
          <p:nvPr/>
        </p:nvSpPr>
        <p:spPr>
          <a:xfrm>
            <a:off x="8661400" y="1357694"/>
            <a:ext cx="32512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000" dirty="0">
                <a:solidFill>
                  <a:srgbClr val="3232FF"/>
                </a:solidFill>
              </a:rPr>
              <a:t>蓝色是没有噪音的目标函数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BAF375C-26D0-A712-F8F0-58D3456B61A7}"/>
              </a:ext>
            </a:extLst>
          </p:cNvPr>
          <p:cNvSpPr txBox="1"/>
          <p:nvPr/>
        </p:nvSpPr>
        <p:spPr>
          <a:xfrm>
            <a:off x="6613073" y="5178500"/>
            <a:ext cx="2749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主要低频几乎不受影响</a:t>
            </a: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305986D9-2552-ACFD-6B59-C1DC5DF2807E}"/>
              </a:ext>
            </a:extLst>
          </p:cNvPr>
          <p:cNvCxnSpPr/>
          <p:nvPr/>
        </p:nvCxnSpPr>
        <p:spPr>
          <a:xfrm flipV="1">
            <a:off x="8073573" y="3487792"/>
            <a:ext cx="1092200" cy="155570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6F367632-8AC6-E37D-8777-1A52F0DC587B}"/>
              </a:ext>
            </a:extLst>
          </p:cNvPr>
          <p:cNvCxnSpPr/>
          <p:nvPr/>
        </p:nvCxnSpPr>
        <p:spPr>
          <a:xfrm flipH="1" flipV="1">
            <a:off x="11269942" y="4194835"/>
            <a:ext cx="190500" cy="866177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2137535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BD694-B817-A83C-70EF-B850E0D25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C6A7E34-BF87-EC3A-F150-324A45CA4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29" y="3048010"/>
            <a:ext cx="11429516" cy="761979"/>
          </a:xfrm>
        </p:spPr>
        <p:txBody>
          <a:bodyPr/>
          <a:lstStyle/>
          <a:p>
            <a:pPr algn="ctr"/>
            <a:r>
              <a:rPr lang="zh-CN" altLang="en-US" dirty="0"/>
              <a:t>如何加速高频的学习？</a:t>
            </a:r>
          </a:p>
        </p:txBody>
      </p:sp>
    </p:spTree>
    <p:extLst>
      <p:ext uri="{BB962C8B-B14F-4D97-AF65-F5344CB8AC3E}">
        <p14:creationId xmlns:p14="http://schemas.microsoft.com/office/powerpoint/2010/main" val="13782766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BD694-B817-A83C-70EF-B850E0D25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C6A7E34-BF87-EC3A-F150-324A45CA4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29" y="3048010"/>
            <a:ext cx="11429516" cy="761979"/>
          </a:xfrm>
        </p:spPr>
        <p:txBody>
          <a:bodyPr/>
          <a:lstStyle/>
          <a:p>
            <a:pPr algn="ctr"/>
            <a:r>
              <a:rPr lang="zh-CN" altLang="en-US" dirty="0"/>
              <a:t>多尺度神经网络</a:t>
            </a:r>
          </a:p>
        </p:txBody>
      </p:sp>
    </p:spTree>
    <p:extLst>
      <p:ext uri="{BB962C8B-B14F-4D97-AF65-F5344CB8AC3E}">
        <p14:creationId xmlns:p14="http://schemas.microsoft.com/office/powerpoint/2010/main" val="17729409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5F3ABD-88A8-4422-8451-50ADBE534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B61616"/>
                </a:solidFill>
                <a:effectLst/>
                <a:uLnTx/>
                <a:uFillTx/>
                <a:latin typeface="Book Antiqua"/>
                <a:ea typeface="黑体"/>
                <a:cs typeface="+mn-cs"/>
              </a:rPr>
              <a:t>拉伸：可以将一个高频函数变换为低频函数</a:t>
            </a:r>
          </a:p>
        </p:txBody>
      </p:sp>
      <p:sp>
        <p:nvSpPr>
          <p:cNvPr id="3" name="任意形状 2">
            <a:extLst>
              <a:ext uri="{FF2B5EF4-FFF2-40B4-BE49-F238E27FC236}">
                <a16:creationId xmlns:a16="http://schemas.microsoft.com/office/drawing/2014/main" id="{C2318B50-5CD6-EA4F-B9A4-E9CE93AC891F}"/>
              </a:ext>
            </a:extLst>
          </p:cNvPr>
          <p:cNvSpPr/>
          <p:nvPr/>
        </p:nvSpPr>
        <p:spPr>
          <a:xfrm>
            <a:off x="1713462" y="2768079"/>
            <a:ext cx="1328057" cy="1154550"/>
          </a:xfrm>
          <a:custGeom>
            <a:avLst/>
            <a:gdLst>
              <a:gd name="connsiteX0" fmla="*/ 0 w 1328057"/>
              <a:gd name="connsiteY0" fmla="*/ 904070 h 1154550"/>
              <a:gd name="connsiteX1" fmla="*/ 293914 w 1328057"/>
              <a:gd name="connsiteY1" fmla="*/ 152956 h 1154550"/>
              <a:gd name="connsiteX2" fmla="*/ 381000 w 1328057"/>
              <a:gd name="connsiteY2" fmla="*/ 1012927 h 1154550"/>
              <a:gd name="connsiteX3" fmla="*/ 587828 w 1328057"/>
              <a:gd name="connsiteY3" fmla="*/ 229156 h 1154550"/>
              <a:gd name="connsiteX4" fmla="*/ 859971 w 1328057"/>
              <a:gd name="connsiteY4" fmla="*/ 991156 h 1154550"/>
              <a:gd name="connsiteX5" fmla="*/ 936171 w 1328057"/>
              <a:gd name="connsiteY5" fmla="*/ 556 h 1154550"/>
              <a:gd name="connsiteX6" fmla="*/ 1240971 w 1328057"/>
              <a:gd name="connsiteY6" fmla="*/ 1154441 h 1154550"/>
              <a:gd name="connsiteX7" fmla="*/ 1328057 w 1328057"/>
              <a:gd name="connsiteY7" fmla="*/ 54984 h 11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28057" h="1154550">
                <a:moveTo>
                  <a:pt x="0" y="904070"/>
                </a:moveTo>
                <a:cubicBezTo>
                  <a:pt x="115207" y="519441"/>
                  <a:pt x="230414" y="134813"/>
                  <a:pt x="293914" y="152956"/>
                </a:cubicBezTo>
                <a:cubicBezTo>
                  <a:pt x="357414" y="171099"/>
                  <a:pt x="332014" y="1000227"/>
                  <a:pt x="381000" y="1012927"/>
                </a:cubicBezTo>
                <a:cubicBezTo>
                  <a:pt x="429986" y="1025627"/>
                  <a:pt x="508000" y="232784"/>
                  <a:pt x="587828" y="229156"/>
                </a:cubicBezTo>
                <a:cubicBezTo>
                  <a:pt x="667657" y="225527"/>
                  <a:pt x="801914" y="1029256"/>
                  <a:pt x="859971" y="991156"/>
                </a:cubicBezTo>
                <a:cubicBezTo>
                  <a:pt x="918028" y="953056"/>
                  <a:pt x="872671" y="-26658"/>
                  <a:pt x="936171" y="556"/>
                </a:cubicBezTo>
                <a:cubicBezTo>
                  <a:pt x="999671" y="27770"/>
                  <a:pt x="1175657" y="1145370"/>
                  <a:pt x="1240971" y="1154441"/>
                </a:cubicBezTo>
                <a:cubicBezTo>
                  <a:pt x="1306285" y="1163512"/>
                  <a:pt x="1317171" y="609248"/>
                  <a:pt x="1328057" y="54984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ook Antiqua"/>
              <a:ea typeface="黑体"/>
              <a:cs typeface="+mn-cs"/>
            </a:endParaRPr>
          </a:p>
        </p:txBody>
      </p:sp>
      <p:sp>
        <p:nvSpPr>
          <p:cNvPr id="19" name="任意形状 18">
            <a:extLst>
              <a:ext uri="{FF2B5EF4-FFF2-40B4-BE49-F238E27FC236}">
                <a16:creationId xmlns:a16="http://schemas.microsoft.com/office/drawing/2014/main" id="{6D2DDE95-B48E-444F-8CBE-A6831D6162F5}"/>
              </a:ext>
            </a:extLst>
          </p:cNvPr>
          <p:cNvSpPr/>
          <p:nvPr/>
        </p:nvSpPr>
        <p:spPr>
          <a:xfrm>
            <a:off x="4262685" y="2768079"/>
            <a:ext cx="6052457" cy="1154550"/>
          </a:xfrm>
          <a:custGeom>
            <a:avLst/>
            <a:gdLst>
              <a:gd name="connsiteX0" fmla="*/ 0 w 1328057"/>
              <a:gd name="connsiteY0" fmla="*/ 904070 h 1154550"/>
              <a:gd name="connsiteX1" fmla="*/ 293914 w 1328057"/>
              <a:gd name="connsiteY1" fmla="*/ 152956 h 1154550"/>
              <a:gd name="connsiteX2" fmla="*/ 381000 w 1328057"/>
              <a:gd name="connsiteY2" fmla="*/ 1012927 h 1154550"/>
              <a:gd name="connsiteX3" fmla="*/ 587828 w 1328057"/>
              <a:gd name="connsiteY3" fmla="*/ 229156 h 1154550"/>
              <a:gd name="connsiteX4" fmla="*/ 859971 w 1328057"/>
              <a:gd name="connsiteY4" fmla="*/ 991156 h 1154550"/>
              <a:gd name="connsiteX5" fmla="*/ 936171 w 1328057"/>
              <a:gd name="connsiteY5" fmla="*/ 556 h 1154550"/>
              <a:gd name="connsiteX6" fmla="*/ 1240971 w 1328057"/>
              <a:gd name="connsiteY6" fmla="*/ 1154441 h 1154550"/>
              <a:gd name="connsiteX7" fmla="*/ 1328057 w 1328057"/>
              <a:gd name="connsiteY7" fmla="*/ 54984 h 11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28057" h="1154550">
                <a:moveTo>
                  <a:pt x="0" y="904070"/>
                </a:moveTo>
                <a:cubicBezTo>
                  <a:pt x="115207" y="519441"/>
                  <a:pt x="230414" y="134813"/>
                  <a:pt x="293914" y="152956"/>
                </a:cubicBezTo>
                <a:cubicBezTo>
                  <a:pt x="357414" y="171099"/>
                  <a:pt x="332014" y="1000227"/>
                  <a:pt x="381000" y="1012927"/>
                </a:cubicBezTo>
                <a:cubicBezTo>
                  <a:pt x="429986" y="1025627"/>
                  <a:pt x="508000" y="232784"/>
                  <a:pt x="587828" y="229156"/>
                </a:cubicBezTo>
                <a:cubicBezTo>
                  <a:pt x="667657" y="225527"/>
                  <a:pt x="801914" y="1029256"/>
                  <a:pt x="859971" y="991156"/>
                </a:cubicBezTo>
                <a:cubicBezTo>
                  <a:pt x="918028" y="953056"/>
                  <a:pt x="872671" y="-26658"/>
                  <a:pt x="936171" y="556"/>
                </a:cubicBezTo>
                <a:cubicBezTo>
                  <a:pt x="999671" y="27770"/>
                  <a:pt x="1175657" y="1145370"/>
                  <a:pt x="1240971" y="1154441"/>
                </a:cubicBezTo>
                <a:cubicBezTo>
                  <a:pt x="1306285" y="1163512"/>
                  <a:pt x="1317171" y="609248"/>
                  <a:pt x="1328057" y="54984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ook Antiqua"/>
              <a:ea typeface="黑体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4618B16-E723-F0E8-3E4D-8CBD694BB4E6}"/>
              </a:ext>
            </a:extLst>
          </p:cNvPr>
          <p:cNvSpPr txBox="1"/>
          <p:nvPr/>
        </p:nvSpPr>
        <p:spPr>
          <a:xfrm>
            <a:off x="3467804" y="1072531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400" dirty="0"/>
              <a:t>频率：反映输出对输入变化的敏感程度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D576852-371F-5A32-9A10-4CF7D9735C8B}"/>
                  </a:ext>
                </a:extLst>
              </p:cNvPr>
              <p:cNvSpPr txBox="1"/>
              <p:nvPr/>
            </p:nvSpPr>
            <p:spPr>
              <a:xfrm>
                <a:off x="2093341" y="4274128"/>
                <a:ext cx="56829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D576852-371F-5A32-9A10-4CF7D9735C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3341" y="4274128"/>
                <a:ext cx="568297" cy="307777"/>
              </a:xfrm>
              <a:prstGeom prst="rect">
                <a:avLst/>
              </a:prstGeom>
              <a:blipFill>
                <a:blip r:embed="rId4"/>
                <a:stretch>
                  <a:fillRect l="-13830" t="-1961" r="-13830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DB85D34-259E-4065-0711-09AB2BFAF35E}"/>
                  </a:ext>
                </a:extLst>
              </p:cNvPr>
              <p:cNvSpPr txBox="1"/>
              <p:nvPr/>
            </p:nvSpPr>
            <p:spPr>
              <a:xfrm>
                <a:off x="6808506" y="4274127"/>
                <a:ext cx="4155058" cy="9233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sz="2000" dirty="0"/>
                  <a:t>,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endParaRPr lang="en-US" altLang="zh-CN" sz="2000" dirty="0"/>
              </a:p>
              <a:p>
                <a:r>
                  <a:rPr lang="zh-CN" altLang="en-US" sz="2000" dirty="0"/>
                  <a:t>对于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sz="2000" dirty="0"/>
                  <a:t>,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000" dirty="0"/>
                  <a:t> 较小的位置的值 对应于函数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en-US" sz="2000" dirty="0"/>
                  <a:t> 在较大位置的值 ，所以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DB85D34-259E-4065-0711-09AB2BFAF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8506" y="4274127"/>
                <a:ext cx="4155058" cy="923330"/>
              </a:xfrm>
              <a:prstGeom prst="rect">
                <a:avLst/>
              </a:prstGeom>
              <a:blipFill>
                <a:blip r:embed="rId5"/>
                <a:stretch>
                  <a:fillRect l="-3818" t="-7895" r="-2643" b="-138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51E9467-36ED-0345-4931-C6FBE4E7C42E}"/>
                  </a:ext>
                </a:extLst>
              </p:cNvPr>
              <p:cNvSpPr txBox="1"/>
              <p:nvPr/>
            </p:nvSpPr>
            <p:spPr>
              <a:xfrm>
                <a:off x="1713462" y="5426364"/>
                <a:ext cx="932861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000" dirty="0">
                    <a:solidFill>
                      <a:schemeClr val="tx2"/>
                    </a:solidFill>
                  </a:rPr>
                  <a:t>用神经网络来近似函数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sz="2000" dirty="0">
                    <a:solidFill>
                      <a:schemeClr val="tx2"/>
                    </a:solidFill>
                  </a:rPr>
                  <a:t>, </a:t>
                </a:r>
                <a:r>
                  <a:rPr lang="zh-CN" altLang="en-US" sz="2000" dirty="0">
                    <a:solidFill>
                      <a:schemeClr val="tx2"/>
                    </a:solidFill>
                  </a:rPr>
                  <a:t>在输入时，应该配上适当的系数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51E9467-36ED-0345-4931-C6FBE4E7C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462" y="5426364"/>
                <a:ext cx="9328611" cy="400110"/>
              </a:xfrm>
              <a:prstGeom prst="rect">
                <a:avLst/>
              </a:prstGeom>
              <a:blipFill>
                <a:blip r:embed="rId6"/>
                <a:stretch>
                  <a:fillRect t="-12121" b="-287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67224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D3CB5E-7EF2-DD75-E64B-3447AB338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不同位置需要的拉伸系数不一致</a:t>
            </a: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9CD9E6C0-2036-D3BA-7BA5-185184359A17}"/>
              </a:ext>
            </a:extLst>
          </p:cNvPr>
          <p:cNvSpPr/>
          <p:nvPr/>
        </p:nvSpPr>
        <p:spPr>
          <a:xfrm>
            <a:off x="3173845" y="1376812"/>
            <a:ext cx="6833755" cy="2732809"/>
          </a:xfrm>
          <a:custGeom>
            <a:avLst/>
            <a:gdLst>
              <a:gd name="connsiteX0" fmla="*/ 0 w 8553450"/>
              <a:gd name="connsiteY0" fmla="*/ 3022600 h 3022600"/>
              <a:gd name="connsiteX1" fmla="*/ 1060450 w 8553450"/>
              <a:gd name="connsiteY1" fmla="*/ 196850 h 3022600"/>
              <a:gd name="connsiteX2" fmla="*/ 1289050 w 8553450"/>
              <a:gd name="connsiteY2" fmla="*/ 2990850 h 3022600"/>
              <a:gd name="connsiteX3" fmla="*/ 1447800 w 8553450"/>
              <a:gd name="connsiteY3" fmla="*/ 190500 h 3022600"/>
              <a:gd name="connsiteX4" fmla="*/ 1644650 w 8553450"/>
              <a:gd name="connsiteY4" fmla="*/ 2965450 h 3022600"/>
              <a:gd name="connsiteX5" fmla="*/ 1778000 w 8553450"/>
              <a:gd name="connsiteY5" fmla="*/ 228600 h 3022600"/>
              <a:gd name="connsiteX6" fmla="*/ 2000250 w 8553450"/>
              <a:gd name="connsiteY6" fmla="*/ 3009900 h 3022600"/>
              <a:gd name="connsiteX7" fmla="*/ 2063750 w 8553450"/>
              <a:gd name="connsiteY7" fmla="*/ 0 h 3022600"/>
              <a:gd name="connsiteX8" fmla="*/ 2235200 w 8553450"/>
              <a:gd name="connsiteY8" fmla="*/ 3009900 h 3022600"/>
              <a:gd name="connsiteX9" fmla="*/ 2374900 w 8553450"/>
              <a:gd name="connsiteY9" fmla="*/ 184150 h 3022600"/>
              <a:gd name="connsiteX10" fmla="*/ 2520950 w 8553450"/>
              <a:gd name="connsiteY10" fmla="*/ 2959100 h 3022600"/>
              <a:gd name="connsiteX11" fmla="*/ 2705100 w 8553450"/>
              <a:gd name="connsiteY11" fmla="*/ 387350 h 3022600"/>
              <a:gd name="connsiteX12" fmla="*/ 2965450 w 8553450"/>
              <a:gd name="connsiteY12" fmla="*/ 1816100 h 3022600"/>
              <a:gd name="connsiteX13" fmla="*/ 4051300 w 8553450"/>
              <a:gd name="connsiteY13" fmla="*/ 2012950 h 3022600"/>
              <a:gd name="connsiteX14" fmla="*/ 8553450 w 8553450"/>
              <a:gd name="connsiteY14" fmla="*/ 1924050 h 302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553450" h="3022600">
                <a:moveTo>
                  <a:pt x="0" y="3022600"/>
                </a:moveTo>
                <a:cubicBezTo>
                  <a:pt x="422804" y="1612371"/>
                  <a:pt x="845608" y="202142"/>
                  <a:pt x="1060450" y="196850"/>
                </a:cubicBezTo>
                <a:cubicBezTo>
                  <a:pt x="1275292" y="191558"/>
                  <a:pt x="1224492" y="2991908"/>
                  <a:pt x="1289050" y="2990850"/>
                </a:cubicBezTo>
                <a:cubicBezTo>
                  <a:pt x="1353608" y="2989792"/>
                  <a:pt x="1388533" y="194733"/>
                  <a:pt x="1447800" y="190500"/>
                </a:cubicBezTo>
                <a:cubicBezTo>
                  <a:pt x="1507067" y="186267"/>
                  <a:pt x="1589617" y="2959100"/>
                  <a:pt x="1644650" y="2965450"/>
                </a:cubicBezTo>
                <a:cubicBezTo>
                  <a:pt x="1699683" y="2971800"/>
                  <a:pt x="1718733" y="221192"/>
                  <a:pt x="1778000" y="228600"/>
                </a:cubicBezTo>
                <a:cubicBezTo>
                  <a:pt x="1837267" y="236008"/>
                  <a:pt x="1952625" y="3048000"/>
                  <a:pt x="2000250" y="3009900"/>
                </a:cubicBezTo>
                <a:cubicBezTo>
                  <a:pt x="2047875" y="2971800"/>
                  <a:pt x="2024592" y="0"/>
                  <a:pt x="2063750" y="0"/>
                </a:cubicBezTo>
                <a:cubicBezTo>
                  <a:pt x="2102908" y="0"/>
                  <a:pt x="2183342" y="2979208"/>
                  <a:pt x="2235200" y="3009900"/>
                </a:cubicBezTo>
                <a:cubicBezTo>
                  <a:pt x="2287058" y="3040592"/>
                  <a:pt x="2327275" y="192617"/>
                  <a:pt x="2374900" y="184150"/>
                </a:cubicBezTo>
                <a:cubicBezTo>
                  <a:pt x="2422525" y="175683"/>
                  <a:pt x="2465917" y="2925233"/>
                  <a:pt x="2520950" y="2959100"/>
                </a:cubicBezTo>
                <a:cubicBezTo>
                  <a:pt x="2575983" y="2992967"/>
                  <a:pt x="2631017" y="577850"/>
                  <a:pt x="2705100" y="387350"/>
                </a:cubicBezTo>
                <a:cubicBezTo>
                  <a:pt x="2779183" y="196850"/>
                  <a:pt x="2741083" y="1545167"/>
                  <a:pt x="2965450" y="1816100"/>
                </a:cubicBezTo>
                <a:cubicBezTo>
                  <a:pt x="3189817" y="2087033"/>
                  <a:pt x="4051300" y="2012950"/>
                  <a:pt x="4051300" y="2012950"/>
                </a:cubicBezTo>
                <a:lnTo>
                  <a:pt x="8553450" y="1924050"/>
                </a:lnTo>
              </a:path>
            </a:pathLst>
          </a:custGeom>
          <a:ln w="38100">
            <a:solidFill>
              <a:srgbClr val="0707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E074F20-CA9C-0D46-3400-8AE3FD293C67}"/>
              </a:ext>
            </a:extLst>
          </p:cNvPr>
          <p:cNvSpPr txBox="1"/>
          <p:nvPr/>
        </p:nvSpPr>
        <p:spPr>
          <a:xfrm>
            <a:off x="7772400" y="3429000"/>
            <a:ext cx="17271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600" dirty="0"/>
              <a:t>需要较少拉伸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807890E-E6C7-520A-397F-09C3519848A9}"/>
              </a:ext>
            </a:extLst>
          </p:cNvPr>
          <p:cNvSpPr txBox="1"/>
          <p:nvPr/>
        </p:nvSpPr>
        <p:spPr>
          <a:xfrm>
            <a:off x="3777672" y="4287573"/>
            <a:ext cx="17271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600" dirty="0"/>
              <a:t>需要更大拉伸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4AD02A3-FC8C-1110-6328-6794F7FBDE70}"/>
              </a:ext>
            </a:extLst>
          </p:cNvPr>
          <p:cNvSpPr txBox="1"/>
          <p:nvPr/>
        </p:nvSpPr>
        <p:spPr>
          <a:xfrm>
            <a:off x="2124363" y="4666279"/>
            <a:ext cx="802178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2"/>
                </a:solidFill>
              </a:rPr>
              <a:t>* </a:t>
            </a:r>
            <a:r>
              <a:rPr lang="zh-CN" altLang="en-US" sz="2000" dirty="0">
                <a:solidFill>
                  <a:schemeClr val="tx2"/>
                </a:solidFill>
              </a:rPr>
              <a:t>神经网络存在最偏好的频率</a:t>
            </a:r>
            <a:endParaRPr lang="en-US" altLang="zh-CN" sz="2000" dirty="0">
              <a:solidFill>
                <a:schemeClr val="tx2"/>
              </a:solidFill>
            </a:endParaRPr>
          </a:p>
          <a:p>
            <a:pPr algn="l"/>
            <a:r>
              <a:rPr lang="en-US" altLang="zh-CN" sz="2000" dirty="0">
                <a:solidFill>
                  <a:schemeClr val="tx2"/>
                </a:solidFill>
              </a:rPr>
              <a:t>* </a:t>
            </a:r>
            <a:r>
              <a:rPr lang="zh-CN" altLang="en-US" sz="2000" dirty="0">
                <a:solidFill>
                  <a:schemeClr val="tx2"/>
                </a:solidFill>
              </a:rPr>
              <a:t>目标函数中如果有太多频率，会导致不同频率的学习相互竞争</a:t>
            </a:r>
            <a:endParaRPr lang="en-US" altLang="zh-CN" sz="2000" dirty="0">
              <a:solidFill>
                <a:schemeClr val="tx2"/>
              </a:solidFill>
            </a:endParaRPr>
          </a:p>
          <a:p>
            <a:pPr algn="l"/>
            <a:r>
              <a:rPr lang="zh-CN" altLang="en-US" sz="2000" dirty="0"/>
              <a:t>如何让网络可以同时高速学习各个部分？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E2AE8DB-15C6-F053-2C5F-4197E64F49A0}"/>
              </a:ext>
            </a:extLst>
          </p:cNvPr>
          <p:cNvSpPr txBox="1"/>
          <p:nvPr/>
        </p:nvSpPr>
        <p:spPr>
          <a:xfrm>
            <a:off x="10351980" y="44862"/>
            <a:ext cx="18400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</a:rPr>
              <a:t>阅读材料</a:t>
            </a:r>
          </a:p>
        </p:txBody>
      </p:sp>
    </p:spTree>
    <p:extLst>
      <p:ext uri="{BB962C8B-B14F-4D97-AF65-F5344CB8AC3E}">
        <p14:creationId xmlns:p14="http://schemas.microsoft.com/office/powerpoint/2010/main" val="3951809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A3DD05-455B-4479-A21F-4E154787F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多尺度神经网络（</a:t>
            </a:r>
            <a:r>
              <a:rPr lang="en-US" altLang="zh-CN" dirty="0"/>
              <a:t>Multi-Scale DNN</a:t>
            </a:r>
            <a:r>
              <a:rPr lang="zh-CN" altLang="en-US" dirty="0"/>
              <a:t>）结构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15">
                <a:extLst>
                  <a:ext uri="{FF2B5EF4-FFF2-40B4-BE49-F238E27FC236}">
                    <a16:creationId xmlns:a16="http://schemas.microsoft.com/office/drawing/2014/main" id="{938A08CE-303F-48FD-8609-BFE1F1E1A3E6}"/>
                  </a:ext>
                </a:extLst>
              </p:cNvPr>
              <p:cNvSpPr txBox="1"/>
              <p:nvPr/>
            </p:nvSpPr>
            <p:spPr>
              <a:xfrm>
                <a:off x="133049" y="694970"/>
                <a:ext cx="11881151" cy="29869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707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MscaleDNN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707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可以表示为：</a:t>
                </a:r>
                <a14:m>
                  <m:oMath xmlns:m="http://schemas.openxmlformats.org/officeDocument/2006/math">
                    <m:r>
                      <a:rPr kumimoji="0" lang="en-US" altLang="zh-CN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70707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cs"/>
                      </a:rPr>
                      <m:t>   </m:t>
                    </m:r>
                    <m:r>
                      <a:rPr kumimoji="0" lang="en-US" altLang="zh-CN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70707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cs"/>
                      </a:rPr>
                      <m:t>𝑓</m:t>
                    </m:r>
                    <m:d>
                      <m:dPr>
                        <m:ctrlPr>
                          <a:rPr kumimoji="0" lang="en-US" altLang="zh-CN" sz="20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7070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20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7070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𝑥</m:t>
                        </m:r>
                      </m:e>
                    </m:d>
                    <m:r>
                      <a:rPr kumimoji="0" lang="en-US" altLang="zh-CN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70707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cs"/>
                      </a:rPr>
                      <m:t>∼</m:t>
                    </m:r>
                    <m:nary>
                      <m:naryPr>
                        <m:chr m:val="∑"/>
                        <m:ctrlPr>
                          <a:rPr kumimoji="0" lang="en-US" altLang="zh-CN" sz="20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7070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US" altLang="zh-CN" sz="20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7070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𝑖</m:t>
                        </m:r>
                        <m:r>
                          <a:rPr kumimoji="0" lang="en-US" altLang="zh-CN" sz="20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7070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=1</m:t>
                        </m:r>
                      </m:sub>
                      <m:sup>
                        <m:r>
                          <a:rPr kumimoji="0" lang="en-US" altLang="zh-CN" sz="20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7070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𝑀</m:t>
                        </m:r>
                      </m:sup>
                      <m:e>
                        <m:sSub>
                          <m:sSubPr>
                            <m:ctrlPr>
                              <a:rPr kumimoji="0" lang="en-US" altLang="zh-CN" sz="20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7070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0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7070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cs"/>
                              </a:rPr>
                              <m:t>𝑓</m:t>
                            </m:r>
                          </m:e>
                          <m:sub>
                            <m:sSup>
                              <m:sSupPr>
                                <m:ctrlPr>
                                  <a:rPr kumimoji="0" lang="en-US" altLang="zh-CN" sz="20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70707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altLang="zh-CN" sz="20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70707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+mn-cs"/>
                                  </a:rPr>
                                  <m:t>𝜃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kumimoji="0" lang="en-US" altLang="zh-CN" sz="20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70707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0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70707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+mn-cs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kumimoji="0" lang="en-US" altLang="zh-CN" sz="20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70707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</m:sSub>
                              </m:sup>
                            </m:sSup>
                          </m:sub>
                        </m:sSub>
                        <m:r>
                          <a:rPr kumimoji="0" lang="en-US" altLang="zh-CN" sz="20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7070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(</m:t>
                        </m:r>
                        <m:sSub>
                          <m:sSubPr>
                            <m:ctrlPr>
                              <a:rPr kumimoji="0" lang="en-US" altLang="zh-CN" sz="20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7070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0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7070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cs"/>
                              </a:rPr>
                              <m:t>𝛼</m:t>
                            </m:r>
                          </m:e>
                          <m:sub>
                            <m:r>
                              <a:rPr kumimoji="0" lang="en-US" altLang="zh-CN" sz="20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7070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cs"/>
                              </a:rPr>
                              <m:t>𝑖</m:t>
                            </m:r>
                          </m:sub>
                        </m:sSub>
                        <m:r>
                          <a:rPr kumimoji="0" lang="en-US" altLang="zh-CN" sz="20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7070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𝑥</m:t>
                        </m:r>
                        <m:r>
                          <a:rPr kumimoji="0" lang="en-US" altLang="zh-CN" sz="20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7070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)</m:t>
                        </m:r>
                      </m:e>
                    </m:nary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70707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707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更具体地：将</a:t>
                </a:r>
                <a14:m>
                  <m:oMath xmlns:m="http://schemas.openxmlformats.org/officeDocument/2006/math">
                    <m:r>
                      <a:rPr kumimoji="0" lang="en-US" altLang="zh-CN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70707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cs"/>
                      </a:rPr>
                      <m:t>𝑓</m:t>
                    </m:r>
                    <m:d>
                      <m:dPr>
                        <m:ctrlPr>
                          <a:rPr kumimoji="0" lang="en-US" altLang="zh-CN" sz="20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7070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20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7070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𝑥</m:t>
                        </m:r>
                      </m:e>
                    </m:d>
                    <m:r>
                      <a:rPr kumimoji="0" lang="en-US" altLang="zh-CN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70707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cs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0" lang="en-US" altLang="zh-CN" sz="20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7070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US" altLang="zh-CN" sz="20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7070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𝑖</m:t>
                        </m:r>
                        <m:r>
                          <a:rPr kumimoji="0" lang="en-US" altLang="zh-CN" sz="20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7070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=1</m:t>
                        </m:r>
                      </m:sub>
                      <m:sup>
                        <m:r>
                          <a:rPr kumimoji="0" lang="en-US" altLang="zh-CN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3</m:t>
                        </m:r>
                        <m:r>
                          <a:rPr kumimoji="0" lang="en-US" altLang="zh-CN" sz="20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0</m:t>
                        </m:r>
                      </m:sup>
                      <m:e>
                        <m:sSub>
                          <m:sSubPr>
                            <m:ctrlPr>
                              <a:rPr kumimoji="0" lang="en-US" altLang="zh-CN" sz="20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7070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0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7070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cs"/>
                              </a:rPr>
                              <m:t>𝑎</m:t>
                            </m:r>
                          </m:e>
                          <m:sub>
                            <m:r>
                              <a:rPr kumimoji="0" lang="en-US" altLang="zh-CN" sz="20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7070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cs"/>
                              </a:rPr>
                              <m:t>𝑖</m:t>
                            </m:r>
                          </m:sub>
                        </m:sSub>
                        <m:r>
                          <a:rPr kumimoji="0" lang="en-US" altLang="zh-CN" sz="20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7070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𝜎</m:t>
                        </m:r>
                        <m:r>
                          <a:rPr kumimoji="0" lang="en-US" altLang="zh-CN" sz="20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7070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(</m:t>
                        </m:r>
                        <m:sSub>
                          <m:sSubPr>
                            <m:ctrlPr>
                              <a:rPr kumimoji="0" lang="en-US" altLang="zh-CN" sz="20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7070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0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7070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cs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US" altLang="zh-CN" sz="20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7070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cs"/>
                              </a:rPr>
                              <m:t>𝑖</m:t>
                            </m:r>
                          </m:sub>
                        </m:sSub>
                        <m:r>
                          <a:rPr kumimoji="0" lang="en-US" altLang="zh-CN" sz="20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7070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𝑥</m:t>
                        </m:r>
                        <m:r>
                          <a:rPr kumimoji="0" lang="en-US" altLang="zh-CN" sz="20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7070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+</m:t>
                        </m:r>
                        <m:sSub>
                          <m:sSubPr>
                            <m:ctrlPr>
                              <a:rPr kumimoji="0" lang="en-US" altLang="zh-CN" sz="20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7070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0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7070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cs"/>
                              </a:rPr>
                              <m:t>𝑏</m:t>
                            </m:r>
                          </m:e>
                          <m:sub>
                            <m:r>
                              <a:rPr kumimoji="0" lang="en-US" altLang="zh-CN" sz="20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7070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cs"/>
                              </a:rPr>
                              <m:t>𝑖</m:t>
                            </m:r>
                          </m:sub>
                        </m:sSub>
                        <m:r>
                          <a:rPr kumimoji="0" lang="en-US" altLang="zh-CN" sz="20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7070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)</m:t>
                        </m:r>
                      </m:e>
                    </m:nary>
                  </m:oMath>
                </a14:m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707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变成</a:t>
                </a:r>
                <a:endPara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70707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70707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cs"/>
                      </a:rPr>
                      <m:t>𝑓</m:t>
                    </m:r>
                    <m:d>
                      <m:dPr>
                        <m:ctrlP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7070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7070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𝑥</m:t>
                        </m:r>
                      </m:e>
                    </m:d>
                    <m:r>
                      <a:rPr kumimoji="0" lang="en-US" altLang="zh-CN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70707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cs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7070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7070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𝑖</m:t>
                        </m:r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7070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=1</m:t>
                        </m:r>
                      </m:sub>
                      <m:sup>
                        <m:r>
                          <a:rPr kumimoji="0" lang="en-US" altLang="zh-CN" sz="24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10</m:t>
                        </m:r>
                      </m:sup>
                      <m:e>
                        <m:sSub>
                          <m:sSubPr>
                            <m:ctrlPr>
                              <a:rPr kumimoji="0" lang="en-US" altLang="zh-CN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7070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7070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cs"/>
                              </a:rPr>
                              <m:t>𝑎</m:t>
                            </m:r>
                          </m:e>
                          <m:sub>
                            <m:r>
                              <a:rPr kumimoji="0" lang="en-US" altLang="zh-CN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7070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cs"/>
                              </a:rPr>
                              <m:t>𝑖</m:t>
                            </m:r>
                          </m:sub>
                        </m:sSub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7070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𝜎</m:t>
                        </m:r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7070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(</m:t>
                        </m:r>
                        <m:sSub>
                          <m:sSubPr>
                            <m:ctrlPr>
                              <a:rPr kumimoji="0" lang="en-US" altLang="zh-CN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7070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7070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cs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US" altLang="zh-CN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7070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cs"/>
                              </a:rPr>
                              <m:t>𝑖</m:t>
                            </m:r>
                          </m:sub>
                        </m:sSub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7070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𝑥</m:t>
                        </m:r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7070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+</m:t>
                        </m:r>
                        <m:sSub>
                          <m:sSubPr>
                            <m:ctrlPr>
                              <a:rPr kumimoji="0" lang="en-US" altLang="zh-CN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7070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7070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cs"/>
                              </a:rPr>
                              <m:t>𝑏</m:t>
                            </m:r>
                          </m:e>
                          <m:sub>
                            <m:r>
                              <a:rPr kumimoji="0" lang="en-US" altLang="zh-CN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7070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cs"/>
                              </a:rPr>
                              <m:t>𝑖</m:t>
                            </m:r>
                          </m:sub>
                        </m:sSub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7070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)</m:t>
                        </m:r>
                      </m:e>
                    </m:nary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707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+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0" lang="en-US" altLang="zh-CN" sz="24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US" altLang="zh-CN" sz="24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𝑖</m:t>
                        </m:r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=11</m:t>
                        </m:r>
                      </m:sub>
                      <m:sup>
                        <m:r>
                          <a:rPr kumimoji="0" lang="en-US" altLang="zh-CN" sz="24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20</m:t>
                        </m:r>
                      </m:sup>
                      <m:e>
                        <m:sSub>
                          <m:sSubPr>
                            <m:ctrlPr>
                              <a:rPr kumimoji="0" lang="en-US" altLang="zh-CN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7070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7070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cs"/>
                              </a:rPr>
                              <m:t>𝑎</m:t>
                            </m:r>
                          </m:e>
                          <m:sub>
                            <m:r>
                              <a:rPr kumimoji="0" lang="en-US" altLang="zh-CN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7070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cs"/>
                              </a:rPr>
                              <m:t>𝑖</m:t>
                            </m:r>
                          </m:sub>
                        </m:sSub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7070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𝜎</m:t>
                        </m:r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7070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(2</m:t>
                        </m:r>
                        <m:sSub>
                          <m:sSubPr>
                            <m:ctrlPr>
                              <a:rPr kumimoji="0" lang="en-US" altLang="zh-CN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7070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7070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cs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US" altLang="zh-CN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7070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cs"/>
                              </a:rPr>
                              <m:t>𝑖</m:t>
                            </m:r>
                          </m:sub>
                        </m:sSub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7070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𝑥</m:t>
                        </m:r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7070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+</m:t>
                        </m:r>
                        <m:sSub>
                          <m:sSubPr>
                            <m:ctrlPr>
                              <a:rPr kumimoji="0" lang="en-US" altLang="zh-CN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7070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7070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cs"/>
                              </a:rPr>
                              <m:t>𝑏</m:t>
                            </m:r>
                          </m:e>
                          <m:sub>
                            <m:r>
                              <a:rPr kumimoji="0" lang="en-US" altLang="zh-CN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7070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cs"/>
                              </a:rPr>
                              <m:t>𝑖</m:t>
                            </m:r>
                          </m:sub>
                        </m:sSub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7070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)</m:t>
                        </m:r>
                      </m:e>
                    </m:nary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707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+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0" lang="en-US" altLang="zh-CN" sz="24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US" altLang="zh-CN" sz="24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𝑖</m:t>
                        </m:r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=21</m:t>
                        </m:r>
                      </m:sub>
                      <m:sup>
                        <m:r>
                          <a:rPr kumimoji="0" lang="en-US" altLang="zh-CN" sz="24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30</m:t>
                        </m:r>
                      </m:sup>
                      <m:e>
                        <m:sSub>
                          <m:sSubPr>
                            <m:ctrlPr>
                              <a:rPr kumimoji="0" lang="en-US" altLang="zh-CN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7070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7070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cs"/>
                              </a:rPr>
                              <m:t>𝑎</m:t>
                            </m:r>
                          </m:e>
                          <m:sub>
                            <m:r>
                              <a:rPr kumimoji="0" lang="en-US" altLang="zh-CN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7070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cs"/>
                              </a:rPr>
                              <m:t>𝑖</m:t>
                            </m:r>
                          </m:sub>
                        </m:sSub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7070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𝜎</m:t>
                        </m:r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7070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(3</m:t>
                        </m:r>
                        <m:sSub>
                          <m:sSubPr>
                            <m:ctrlPr>
                              <a:rPr kumimoji="0" lang="en-US" altLang="zh-CN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7070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7070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cs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US" altLang="zh-CN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7070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cs"/>
                              </a:rPr>
                              <m:t>𝑖</m:t>
                            </m:r>
                          </m:sub>
                        </m:sSub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7070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𝑥</m:t>
                        </m:r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7070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+</m:t>
                        </m:r>
                        <m:sSub>
                          <m:sSubPr>
                            <m:ctrlPr>
                              <a:rPr kumimoji="0" lang="en-US" altLang="zh-CN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7070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7070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cs"/>
                              </a:rPr>
                              <m:t>𝑏</m:t>
                            </m:r>
                          </m:e>
                          <m:sub>
                            <m:r>
                              <a:rPr kumimoji="0" lang="en-US" altLang="zh-CN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7070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cs"/>
                              </a:rPr>
                              <m:t>𝑖</m:t>
                            </m:r>
                          </m:sub>
                        </m:sSub>
                        <m: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7070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)</m:t>
                        </m:r>
                      </m:e>
                    </m:nary>
                  </m:oMath>
                </a14:m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70707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707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提供多种拉伸通道，针对每个位置的输入，（相信）梯度下降自动选择更新最合适的拉伸通道，将数据拉到最适频率。以下是两种类型的</a:t>
                </a:r>
                <a:r>
                  <a:rPr kumimoji="0" lang="en-US" altLang="zh-CN" sz="2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70707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MscaleDNN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707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网络</a:t>
                </a:r>
                <a:endPara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70707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70707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mc:Choice>
        <mc:Fallback xmlns="">
          <p:sp>
            <p:nvSpPr>
              <p:cNvPr id="24" name="TextBox 15">
                <a:extLst>
                  <a:ext uri="{FF2B5EF4-FFF2-40B4-BE49-F238E27FC236}">
                    <a16:creationId xmlns:a16="http://schemas.microsoft.com/office/drawing/2014/main" id="{938A08CE-303F-48FD-8609-BFE1F1E1A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049" y="694970"/>
                <a:ext cx="11881151" cy="2986972"/>
              </a:xfrm>
              <a:prstGeom prst="rect">
                <a:avLst/>
              </a:prstGeom>
              <a:blipFill>
                <a:blip r:embed="rId4"/>
                <a:stretch>
                  <a:fillRect l="-564" t="-12449" r="-5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688E880A-64D7-41AD-B7BB-B0E067DB8C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925" y="3145442"/>
            <a:ext cx="3260155" cy="263041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1564BAA-62B0-4ACC-B215-5C17AD1B09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1581" y="3110752"/>
            <a:ext cx="3352224" cy="286110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917F125-9BA0-32DE-02B8-B714CB9E9D86}"/>
              </a:ext>
            </a:extLst>
          </p:cNvPr>
          <p:cNvSpPr txBox="1"/>
          <p:nvPr/>
        </p:nvSpPr>
        <p:spPr>
          <a:xfrm>
            <a:off x="1417734" y="5862313"/>
            <a:ext cx="35460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000" dirty="0"/>
              <a:t>对第一个隐藏层的输入拉伸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0483E5C-8304-8626-1212-B667CB57C3CD}"/>
              </a:ext>
            </a:extLst>
          </p:cNvPr>
          <p:cNvSpPr txBox="1"/>
          <p:nvPr/>
        </p:nvSpPr>
        <p:spPr>
          <a:xfrm>
            <a:off x="6649377" y="5862313"/>
            <a:ext cx="54791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000" dirty="0"/>
              <a:t>多个子网络，每个子网络输入拉伸一个尺度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6686105-CAE1-9D8E-A17E-BC8FB5CC4805}"/>
              </a:ext>
            </a:extLst>
          </p:cNvPr>
          <p:cNvSpPr txBox="1"/>
          <p:nvPr/>
        </p:nvSpPr>
        <p:spPr>
          <a:xfrm>
            <a:off x="10351980" y="44862"/>
            <a:ext cx="18400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</a:rPr>
              <a:t>阅读材料</a:t>
            </a:r>
          </a:p>
        </p:txBody>
      </p:sp>
    </p:spTree>
    <p:extLst>
      <p:ext uri="{BB962C8B-B14F-4D97-AF65-F5344CB8AC3E}">
        <p14:creationId xmlns:p14="http://schemas.microsoft.com/office/powerpoint/2010/main" val="4137774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81242" y="0"/>
            <a:ext cx="11429516" cy="761979"/>
          </a:xfrm>
        </p:spPr>
        <p:txBody>
          <a:bodyPr/>
          <a:lstStyle/>
          <a:p>
            <a:r>
              <a:rPr lang="en-US" altLang="zh-CN" dirty="0"/>
              <a:t>Multi-Scale DNN</a:t>
            </a:r>
            <a:r>
              <a:rPr lang="zh-CN" altLang="en-US" dirty="0"/>
              <a:t>示例</a:t>
            </a:r>
          </a:p>
        </p:txBody>
      </p:sp>
      <p:sp>
        <p:nvSpPr>
          <p:cNvPr id="4" name="矩形 3"/>
          <p:cNvSpPr/>
          <p:nvPr/>
        </p:nvSpPr>
        <p:spPr>
          <a:xfrm>
            <a:off x="423143" y="1290380"/>
            <a:ext cx="11429516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70707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049" y="1001789"/>
            <a:ext cx="10105901" cy="2994847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52126" y="4557849"/>
            <a:ext cx="9996824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70707"/>
                </a:solidFill>
                <a:effectLst/>
                <a:uLnTx/>
                <a:uFillTx/>
                <a:latin typeface="Cambria Math" panose="02040503050406030204" pitchFamily="18" charset="0"/>
                <a:ea typeface="微软雅黑" panose="020B0503020204020204" pitchFamily="34" charset="-122"/>
                <a:cs typeface="+mn-cs"/>
              </a:rPr>
              <a:t>其中左边图片是精确解，中间图片为一般的神经网络学习到的解，右边图片是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70707"/>
                </a:solidFill>
                <a:effectLst/>
                <a:uLnTx/>
                <a:uFillTx/>
                <a:latin typeface="Cambria Math" panose="02040503050406030204" pitchFamily="18" charset="0"/>
                <a:ea typeface="微软雅黑" panose="020B0503020204020204" pitchFamily="34" charset="-122"/>
                <a:cs typeface="+mn-cs"/>
              </a:rPr>
              <a:t>Mscale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70707"/>
                </a:solidFill>
                <a:effectLst/>
                <a:uLnTx/>
                <a:uFillTx/>
                <a:latin typeface="Cambria Math" panose="02040503050406030204" pitchFamily="18" charset="0"/>
                <a:ea typeface="微软雅黑" panose="020B0503020204020204" pitchFamily="34" charset="-122"/>
                <a:cs typeface="+mn-cs"/>
              </a:rPr>
              <a:t>-DNN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70707"/>
                </a:solidFill>
                <a:effectLst/>
                <a:uLnTx/>
                <a:uFillTx/>
                <a:latin typeface="Cambria Math" panose="02040503050406030204" pitchFamily="18" charset="0"/>
                <a:ea typeface="微软雅黑" panose="020B0503020204020204" pitchFamily="34" charset="-122"/>
                <a:cs typeface="+mn-cs"/>
              </a:rPr>
              <a:t>学习到的解，可以看到，相比于一般的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70707"/>
                </a:solidFill>
                <a:effectLst/>
                <a:uLnTx/>
                <a:uFillTx/>
                <a:latin typeface="Cambria Math" panose="02040503050406030204" pitchFamily="18" charset="0"/>
                <a:ea typeface="微软雅黑" panose="020B0503020204020204" pitchFamily="34" charset="-122"/>
                <a:cs typeface="+mn-cs"/>
              </a:rPr>
              <a:t>DNN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70707"/>
                </a:solidFill>
                <a:effectLst/>
                <a:uLnTx/>
                <a:uFillTx/>
                <a:latin typeface="Cambria Math" panose="02040503050406030204" pitchFamily="18" charset="0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70707"/>
                </a:solidFill>
                <a:effectLst/>
                <a:uLnTx/>
                <a:uFillTx/>
                <a:latin typeface="Cambria Math" panose="02040503050406030204" pitchFamily="18" charset="0"/>
                <a:ea typeface="微软雅黑" panose="020B0503020204020204" pitchFamily="34" charset="-122"/>
                <a:cs typeface="+mn-cs"/>
              </a:rPr>
              <a:t>Mscale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70707"/>
                </a:solidFill>
                <a:effectLst/>
                <a:uLnTx/>
                <a:uFillTx/>
                <a:latin typeface="Cambria Math" panose="02040503050406030204" pitchFamily="18" charset="0"/>
                <a:ea typeface="微软雅黑" panose="020B0503020204020204" pitchFamily="34" charset="-122"/>
                <a:cs typeface="+mn-cs"/>
              </a:rPr>
              <a:t>-DNN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70707"/>
                </a:solidFill>
                <a:effectLst/>
                <a:uLnTx/>
                <a:uFillTx/>
                <a:latin typeface="Cambria Math" panose="02040503050406030204" pitchFamily="18" charset="0"/>
                <a:ea typeface="微软雅黑" panose="020B0503020204020204" pitchFamily="34" charset="-122"/>
                <a:cs typeface="+mn-cs"/>
              </a:rPr>
              <a:t>更容易捕捉到解的高频信息。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70707"/>
              </a:solidFill>
              <a:effectLst/>
              <a:uLnTx/>
              <a:uFillTx/>
              <a:latin typeface="Cambria Math" panose="020405030504060302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992A4BF-D6AA-A82A-15C9-5E1100F71787}"/>
              </a:ext>
            </a:extLst>
          </p:cNvPr>
          <p:cNvSpPr txBox="1"/>
          <p:nvPr/>
        </p:nvSpPr>
        <p:spPr>
          <a:xfrm>
            <a:off x="10351980" y="44862"/>
            <a:ext cx="18400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</a:rPr>
              <a:t>阅读材料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7A6A1A-AB2D-4691-1711-D4FB31A21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ffectLst/>
                <a:latin typeface="Helvetica" pitchFamily="2" charset="0"/>
              </a:rPr>
              <a:t>Fourier </a:t>
            </a:r>
            <a:r>
              <a:rPr lang="zh-CN" altLang="en-US" dirty="0">
                <a:effectLst/>
                <a:latin typeface="Helvetica" pitchFamily="2" charset="0"/>
              </a:rPr>
              <a:t>特征网络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842C921-2445-EE7B-EEB6-A371BE1AA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683" y="761979"/>
            <a:ext cx="8654792" cy="118704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310DBDD-D4CF-2B30-769C-9DF36970F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9717" y="1949022"/>
            <a:ext cx="5952565" cy="37809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6BB7E6A-152D-EB1B-D2E3-CB0DCF67CD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5879" y="2483176"/>
            <a:ext cx="7772400" cy="37794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2ADC332-4AA0-9F27-26B5-A0A404CDD051}"/>
                  </a:ext>
                </a:extLst>
              </p:cNvPr>
              <p:cNvSpPr txBox="1"/>
              <p:nvPr/>
            </p:nvSpPr>
            <p:spPr>
              <a:xfrm>
                <a:off x="224117" y="1956789"/>
                <a:ext cx="295835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𝜋</m:t>
                    </m:r>
                    <m:sSub>
                      <m:sSubPr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zh-CN" altLang="en-US" sz="2000" dirty="0"/>
                  <a:t>是不同的拉伸尺度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2ADC332-4AA0-9F27-26B5-A0A404CDD0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117" y="1956789"/>
                <a:ext cx="2958353" cy="400110"/>
              </a:xfrm>
              <a:prstGeom prst="rect">
                <a:avLst/>
              </a:prstGeom>
              <a:blipFill>
                <a:blip r:embed="rId7"/>
                <a:stretch>
                  <a:fillRect t="-15625" b="-187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CB1B2EF3-91AF-0218-615D-4F1C68C1DDB2}"/>
              </a:ext>
            </a:extLst>
          </p:cNvPr>
          <p:cNvSpPr txBox="1"/>
          <p:nvPr/>
        </p:nvSpPr>
        <p:spPr>
          <a:xfrm>
            <a:off x="10351980" y="44862"/>
            <a:ext cx="18400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</a:rPr>
              <a:t>阅读材料</a:t>
            </a:r>
          </a:p>
        </p:txBody>
      </p:sp>
    </p:spTree>
    <p:extLst>
      <p:ext uri="{BB962C8B-B14F-4D97-AF65-F5344CB8AC3E}">
        <p14:creationId xmlns:p14="http://schemas.microsoft.com/office/powerpoint/2010/main" val="20383323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0A0D07-03A2-E219-9DC9-8A3672810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ffectLst/>
                <a:latin typeface="Helvetica" pitchFamily="2" charset="0"/>
              </a:rPr>
              <a:t>神经辐射场 </a:t>
            </a:r>
            <a:r>
              <a:rPr lang="en-US" altLang="zh-CN" dirty="0">
                <a:effectLst/>
                <a:latin typeface="Helvetica" pitchFamily="2" charset="0"/>
              </a:rPr>
              <a:t>(Neural Radiance Fields, </a:t>
            </a:r>
            <a:r>
              <a:rPr lang="en-US" altLang="zh-CN" dirty="0" err="1">
                <a:effectLst/>
                <a:latin typeface="Helvetica" pitchFamily="2" charset="0"/>
              </a:rPr>
              <a:t>NeRF</a:t>
            </a:r>
            <a:r>
              <a:rPr lang="en-US" altLang="zh-CN" dirty="0">
                <a:effectLst/>
                <a:latin typeface="Helvetica" pitchFamily="2" charset="0"/>
              </a:rPr>
              <a:t>)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326932B-0DCC-AA37-F5A5-2536C9924D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2326"/>
          <a:stretch/>
        </p:blipFill>
        <p:spPr>
          <a:xfrm>
            <a:off x="1191743" y="1824599"/>
            <a:ext cx="9435353" cy="324373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52B3251-7FB1-F3F7-54B6-ADFBE4466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242" y="1171209"/>
            <a:ext cx="11348406" cy="33769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9120E8C-D078-9604-F94E-E247D5A4731D}"/>
              </a:ext>
            </a:extLst>
          </p:cNvPr>
          <p:cNvSpPr txBox="1"/>
          <p:nvPr/>
        </p:nvSpPr>
        <p:spPr>
          <a:xfrm>
            <a:off x="1049430" y="5733560"/>
            <a:ext cx="95776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effectLst/>
                <a:latin typeface="Helvetica" pitchFamily="2" charset="0"/>
              </a:rPr>
              <a:t>NeRF</a:t>
            </a:r>
            <a:r>
              <a:rPr lang="en-US" altLang="zh-CN" dirty="0">
                <a:effectLst/>
                <a:latin typeface="Helvetica" pitchFamily="2" charset="0"/>
              </a:rPr>
              <a:t> </a:t>
            </a:r>
            <a:r>
              <a:rPr lang="zh-CN" altLang="en-US" dirty="0">
                <a:effectLst/>
                <a:latin typeface="Helvetica" pitchFamily="2" charset="0"/>
              </a:rPr>
              <a:t>的论文在提出的</a:t>
            </a:r>
            <a:r>
              <a:rPr lang="zh-CN" altLang="en-US" dirty="0">
                <a:latin typeface="Helvetica" pitchFamily="2" charset="0"/>
              </a:rPr>
              <a:t>五</a:t>
            </a:r>
            <a:r>
              <a:rPr lang="zh-CN" altLang="en-US" dirty="0">
                <a:effectLst/>
                <a:latin typeface="Helvetica" pitchFamily="2" charset="0"/>
              </a:rPr>
              <a:t>年内引用数已超过</a:t>
            </a:r>
            <a:r>
              <a:rPr lang="en-US" altLang="zh-CN" dirty="0">
                <a:effectLst/>
                <a:latin typeface="Helvetica" pitchFamily="2" charset="0"/>
              </a:rPr>
              <a:t>15232</a:t>
            </a:r>
            <a:r>
              <a:rPr lang="zh-CN" altLang="en-US" dirty="0">
                <a:effectLst/>
                <a:latin typeface="Helvetica" pitchFamily="2" charset="0"/>
              </a:rPr>
              <a:t>次（谷歌学术）。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2723138-9B05-4888-53F8-A57F21626E5E}"/>
              </a:ext>
            </a:extLst>
          </p:cNvPr>
          <p:cNvSpPr txBox="1"/>
          <p:nvPr/>
        </p:nvSpPr>
        <p:spPr>
          <a:xfrm>
            <a:off x="296394" y="824760"/>
            <a:ext cx="95776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effectLst/>
                <a:latin typeface="Helvetica" pitchFamily="2" charset="0"/>
              </a:rPr>
              <a:t>输入层采用以下方案，加速高频学习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9331F55-4336-087F-BB79-06D5D7864E23}"/>
              </a:ext>
            </a:extLst>
          </p:cNvPr>
          <p:cNvSpPr txBox="1"/>
          <p:nvPr/>
        </p:nvSpPr>
        <p:spPr>
          <a:xfrm>
            <a:off x="2603500" y="5167229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000" dirty="0"/>
              <a:t>真解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AEA5F26-B614-91A5-3489-8BC48305E36A}"/>
              </a:ext>
            </a:extLst>
          </p:cNvPr>
          <p:cNvSpPr txBox="1"/>
          <p:nvPr/>
        </p:nvSpPr>
        <p:spPr>
          <a:xfrm>
            <a:off x="5404286" y="5164420"/>
            <a:ext cx="8354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000" dirty="0" err="1"/>
              <a:t>NeRF</a:t>
            </a:r>
            <a:endParaRPr kumimoji="1" lang="zh-CN" altLang="en-US" sz="20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41437B5-357A-C683-C855-765650297C56}"/>
              </a:ext>
            </a:extLst>
          </p:cNvPr>
          <p:cNvSpPr txBox="1"/>
          <p:nvPr/>
        </p:nvSpPr>
        <p:spPr>
          <a:xfrm>
            <a:off x="8342930" y="5164420"/>
            <a:ext cx="20537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000" dirty="0"/>
              <a:t>通常的神经网络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D2ED60A-5A77-A304-261B-DFD28ED640D2}"/>
              </a:ext>
            </a:extLst>
          </p:cNvPr>
          <p:cNvSpPr txBox="1"/>
          <p:nvPr/>
        </p:nvSpPr>
        <p:spPr>
          <a:xfrm>
            <a:off x="10351980" y="44862"/>
            <a:ext cx="18400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</a:rPr>
              <a:t>阅读材料</a:t>
            </a:r>
          </a:p>
        </p:txBody>
      </p:sp>
    </p:spTree>
    <p:extLst>
      <p:ext uri="{BB962C8B-B14F-4D97-AF65-F5344CB8AC3E}">
        <p14:creationId xmlns:p14="http://schemas.microsoft.com/office/powerpoint/2010/main" val="11996641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BD694-B817-A83C-70EF-B850E0D25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C6A7E34-BF87-EC3A-F150-324A45CA4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29" y="3048010"/>
            <a:ext cx="11429516" cy="761979"/>
          </a:xfrm>
        </p:spPr>
        <p:txBody>
          <a:bodyPr/>
          <a:lstStyle/>
          <a:p>
            <a:pPr algn="ctr"/>
            <a:r>
              <a:rPr lang="zh-CN" altLang="en-US" dirty="0"/>
              <a:t>思考：图像分类中，高频指什么？</a:t>
            </a:r>
          </a:p>
        </p:txBody>
      </p:sp>
    </p:spTree>
    <p:extLst>
      <p:ext uri="{BB962C8B-B14F-4D97-AF65-F5344CB8AC3E}">
        <p14:creationId xmlns:p14="http://schemas.microsoft.com/office/powerpoint/2010/main" val="6759990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E66F4-F080-373E-58E1-45C651567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A23A700-4009-F9ED-86D1-66E100CDB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两种频率概念</a:t>
            </a:r>
          </a:p>
        </p:txBody>
      </p:sp>
      <p:sp>
        <p:nvSpPr>
          <p:cNvPr id="4" name="文本占位符 2">
            <a:extLst>
              <a:ext uri="{FF2B5EF4-FFF2-40B4-BE49-F238E27FC236}">
                <a16:creationId xmlns:a16="http://schemas.microsoft.com/office/drawing/2014/main" id="{6BEDE365-32B2-4D65-132F-504F9D8A1B8E}"/>
              </a:ext>
            </a:extLst>
          </p:cNvPr>
          <p:cNvSpPr txBox="1">
            <a:spLocks/>
          </p:cNvSpPr>
          <p:nvPr/>
        </p:nvSpPr>
        <p:spPr bwMode="auto">
          <a:xfrm>
            <a:off x="2227170" y="919096"/>
            <a:ext cx="1678986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 b="1">
                <a:solidFill>
                  <a:schemeClr val="tx1"/>
                </a:solidFill>
                <a:latin typeface="+mn-lt"/>
              </a:defRPr>
            </a:lvl2pPr>
            <a:lvl3pPr marL="914400" indent="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800" b="1">
                <a:solidFill>
                  <a:schemeClr val="tx1"/>
                </a:solidFill>
                <a:latin typeface="+mn-lt"/>
              </a:defRPr>
            </a:lvl3pPr>
            <a:lvl4pPr marL="1371600" indent="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 b="1">
                <a:solidFill>
                  <a:schemeClr val="tx1"/>
                </a:solidFill>
                <a:latin typeface="+mn-lt"/>
              </a:defRPr>
            </a:lvl4pPr>
            <a:lvl5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 b="1">
                <a:solidFill>
                  <a:schemeClr val="tx1"/>
                </a:solidFill>
                <a:latin typeface="+mn-lt"/>
              </a:defRPr>
            </a:lvl5pPr>
            <a:lvl6pPr marL="22860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600" b="1">
                <a:solidFill>
                  <a:schemeClr val="tx1"/>
                </a:solidFill>
                <a:latin typeface="+mn-lt"/>
              </a:defRPr>
            </a:lvl6pPr>
            <a:lvl7pPr marL="27432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600" b="1">
                <a:solidFill>
                  <a:schemeClr val="tx1"/>
                </a:solidFill>
                <a:latin typeface="+mn-lt"/>
              </a:defRPr>
            </a:lvl7pPr>
            <a:lvl8pPr marL="32004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600" b="1">
                <a:solidFill>
                  <a:schemeClr val="tx1"/>
                </a:solidFill>
                <a:latin typeface="+mn-lt"/>
              </a:defRPr>
            </a:lvl8pPr>
            <a:lvl9pPr marL="36576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黑体"/>
                <a:cs typeface="+mn-cs"/>
              </a:rPr>
              <a:t>图像频率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黑体"/>
              <a:cs typeface="+mn-cs"/>
            </a:endParaRPr>
          </a:p>
        </p:txBody>
      </p:sp>
      <p:sp>
        <p:nvSpPr>
          <p:cNvPr id="6" name="内容占位符 3">
            <a:extLst>
              <a:ext uri="{FF2B5EF4-FFF2-40B4-BE49-F238E27FC236}">
                <a16:creationId xmlns:a16="http://schemas.microsoft.com/office/drawing/2014/main" id="{026B22FE-B8B7-B817-3112-4993ADC5DD1B}"/>
              </a:ext>
            </a:extLst>
          </p:cNvPr>
          <p:cNvSpPr txBox="1">
            <a:spLocks/>
          </p:cNvSpPr>
          <p:nvPr/>
        </p:nvSpPr>
        <p:spPr bwMode="auto">
          <a:xfrm>
            <a:off x="635089" y="1712862"/>
            <a:ext cx="4863148" cy="3951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该频率对应于相邻像素之间强度变化的速率。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占位符 4">
            <a:extLst>
              <a:ext uri="{FF2B5EF4-FFF2-40B4-BE49-F238E27FC236}">
                <a16:creationId xmlns:a16="http://schemas.microsoft.com/office/drawing/2014/main" id="{49242924-577C-901E-1119-247BDA1EBEE5}"/>
              </a:ext>
            </a:extLst>
          </p:cNvPr>
          <p:cNvSpPr txBox="1">
            <a:spLocks/>
          </p:cNvSpPr>
          <p:nvPr/>
        </p:nvSpPr>
        <p:spPr bwMode="auto">
          <a:xfrm>
            <a:off x="5934332" y="919096"/>
            <a:ext cx="6037232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 b="1">
                <a:solidFill>
                  <a:schemeClr val="tx1"/>
                </a:solidFill>
                <a:latin typeface="+mn-lt"/>
              </a:defRPr>
            </a:lvl2pPr>
            <a:lvl3pPr marL="914400" indent="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800" b="1">
                <a:solidFill>
                  <a:schemeClr val="tx1"/>
                </a:solidFill>
                <a:latin typeface="+mn-lt"/>
              </a:defRPr>
            </a:lvl3pPr>
            <a:lvl4pPr marL="1371600" indent="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 b="1">
                <a:solidFill>
                  <a:schemeClr val="tx1"/>
                </a:solidFill>
                <a:latin typeface="+mn-lt"/>
              </a:defRPr>
            </a:lvl4pPr>
            <a:lvl5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 b="1">
                <a:solidFill>
                  <a:schemeClr val="tx1"/>
                </a:solidFill>
                <a:latin typeface="+mn-lt"/>
              </a:defRPr>
            </a:lvl5pPr>
            <a:lvl6pPr marL="22860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600" b="1">
                <a:solidFill>
                  <a:schemeClr val="tx1"/>
                </a:solidFill>
                <a:latin typeface="+mn-lt"/>
              </a:defRPr>
            </a:lvl6pPr>
            <a:lvl7pPr marL="27432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600" b="1">
                <a:solidFill>
                  <a:schemeClr val="tx1"/>
                </a:solidFill>
                <a:latin typeface="+mn-lt"/>
              </a:defRPr>
            </a:lvl7pPr>
            <a:lvl8pPr marL="32004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600" b="1">
                <a:solidFill>
                  <a:schemeClr val="tx1"/>
                </a:solidFill>
                <a:latin typeface="+mn-lt"/>
              </a:defRPr>
            </a:lvl8pPr>
            <a:lvl9pPr marL="3657600" indent="0" algn="l" rtl="0" fontAlgn="base">
              <a:spcBef>
                <a:spcPct val="20000"/>
              </a:spcBef>
              <a:spcAft>
                <a:spcPct val="0"/>
              </a:spcAft>
              <a:buNone/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黑体"/>
                <a:cs typeface="+mn-cs"/>
              </a:rPr>
              <a:t>响应频率（分类问题所考虑的频率）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黑体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5">
                <a:extLst>
                  <a:ext uri="{FF2B5EF4-FFF2-40B4-BE49-F238E27FC236}">
                    <a16:creationId xmlns:a16="http://schemas.microsoft.com/office/drawing/2014/main" id="{5C1363FF-BB0C-EAD2-F631-31DA674DAF2D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894447" y="1610787"/>
                <a:ext cx="6140151" cy="3951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18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16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R="0" lvl="0" algn="l" defTabSz="914400" rtl="0" eaLnBrk="0" fontAlgn="base" latinLnBrk="0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p"/>
                  <a:tabLst/>
                  <a:defRPr/>
                </a:pPr>
                <a:r>
                  <a:rPr kumimoji="0" lang="zh-CN" alt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一个通用的输入</a:t>
                </a:r>
                <a:r>
                  <a:rPr kumimoji="0" lang="en-US" altLang="zh-CN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</a:t>
                </a:r>
                <a:r>
                  <a:rPr kumimoji="0" lang="zh-CN" alt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输出映射 </a:t>
                </a:r>
                <a14:m>
                  <m:oMath xmlns:m="http://schemas.openxmlformats.org/officeDocument/2006/math">
                    <m:r>
                      <a:rPr kumimoji="0" lang="en-US" altLang="zh-CN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/>
                      </a:rPr>
                      <m:t>𝑓</m:t>
                    </m:r>
                  </m:oMath>
                </a14:m>
                <a:endPara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R="0" lvl="0" algn="l" defTabSz="914400" rtl="0" eaLnBrk="0" fontAlgn="base" latinLnBrk="0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p"/>
                  <a:tabLst/>
                  <a:defRPr/>
                </a:pPr>
                <a:r>
                  <a:rPr kumimoji="0" lang="zh-CN" alt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高频：图像中第 𝑖</a:t>
                </a:r>
                <a:r>
                  <a:rPr kumimoji="0" lang="en-US" altLang="zh-CN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0" lang="zh-CN" alt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个像素强度的微小变化可能会引起输出的显著变化。</a:t>
                </a:r>
                <a:endPara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内容占位符 5">
                <a:extLst>
                  <a:ext uri="{FF2B5EF4-FFF2-40B4-BE49-F238E27FC236}">
                    <a16:creationId xmlns:a16="http://schemas.microsoft.com/office/drawing/2014/main" id="{5C1363FF-BB0C-EAD2-F631-31DA674DAF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94447" y="1610787"/>
                <a:ext cx="6140151" cy="3951288"/>
              </a:xfrm>
              <a:prstGeom prst="rect">
                <a:avLst/>
              </a:prstGeom>
              <a:blipFill>
                <a:blip r:embed="rId2"/>
                <a:stretch>
                  <a:fillRect l="-139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97FCD12D-7C05-4B42-FFFA-C1FEAF84C4BD}"/>
              </a:ext>
            </a:extLst>
          </p:cNvPr>
          <p:cNvSpPr/>
          <p:nvPr/>
        </p:nvSpPr>
        <p:spPr>
          <a:xfrm>
            <a:off x="635089" y="3586431"/>
            <a:ext cx="1856072" cy="1087438"/>
          </a:xfrm>
          <a:prstGeom prst="rect">
            <a:avLst/>
          </a:prstGeom>
          <a:solidFill>
            <a:srgbClr val="00CC99"/>
          </a:solidFill>
          <a:ln w="25400" cap="flat" cmpd="sng" algn="ctr">
            <a:solidFill>
              <a:srgbClr val="00CC9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黑体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B00AC2F-3EFE-A865-3F91-6C6F64F5AA6A}"/>
              </a:ext>
            </a:extLst>
          </p:cNvPr>
          <p:cNvSpPr txBox="1"/>
          <p:nvPr/>
        </p:nvSpPr>
        <p:spPr>
          <a:xfrm>
            <a:off x="562418" y="4768899"/>
            <a:ext cx="2001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零频：颜色相同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Picture 2" descr="Image result for 变化 很大 自然图像">
            <a:extLst>
              <a:ext uri="{FF2B5EF4-FFF2-40B4-BE49-F238E27FC236}">
                <a16:creationId xmlns:a16="http://schemas.microsoft.com/office/drawing/2014/main" id="{2D95094A-FF9F-A093-5AD2-8EAF0B324E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0367" y="3553491"/>
            <a:ext cx="1667540" cy="1120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DCC595EE-2568-A592-1B9E-D7C2978CD16C}"/>
              </a:ext>
            </a:extLst>
          </p:cNvPr>
          <p:cNvSpPr txBox="1"/>
          <p:nvPr/>
        </p:nvSpPr>
        <p:spPr>
          <a:xfrm>
            <a:off x="2870807" y="4764870"/>
            <a:ext cx="2286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高频：锐利的边缘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2A954C88-A948-0457-0F2F-E9455266A2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051850" y="3637165"/>
            <a:ext cx="5982748" cy="1665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0262A48-3531-EC50-024A-4C1078204B9C}"/>
              </a:ext>
            </a:extLst>
          </p:cNvPr>
          <p:cNvSpPr txBox="1"/>
          <p:nvPr/>
        </p:nvSpPr>
        <p:spPr>
          <a:xfrm>
            <a:off x="8166100" y="5461876"/>
            <a:ext cx="19864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000" dirty="0"/>
              <a:t>特定方向加噪声</a:t>
            </a:r>
          </a:p>
        </p:txBody>
      </p:sp>
    </p:spTree>
    <p:extLst>
      <p:ext uri="{BB962C8B-B14F-4D97-AF65-F5344CB8AC3E}">
        <p14:creationId xmlns:p14="http://schemas.microsoft.com/office/powerpoint/2010/main" val="4591125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6B1D9D-DCE8-4C72-AF53-A9AFAB1D1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高响应频率的示例</a:t>
            </a:r>
          </a:p>
        </p:txBody>
      </p:sp>
      <p:sp>
        <p:nvSpPr>
          <p:cNvPr id="17" name="双括号 16">
            <a:extLst>
              <a:ext uri="{FF2B5EF4-FFF2-40B4-BE49-F238E27FC236}">
                <a16:creationId xmlns:a16="http://schemas.microsoft.com/office/drawing/2014/main" id="{062FC88B-FB78-4D60-981F-806222379BFD}"/>
              </a:ext>
            </a:extLst>
          </p:cNvPr>
          <p:cNvSpPr/>
          <p:nvPr/>
        </p:nvSpPr>
        <p:spPr>
          <a:xfrm>
            <a:off x="3161097" y="1299633"/>
            <a:ext cx="914400" cy="3255434"/>
          </a:xfrm>
          <a:prstGeom prst="bracketPair">
            <a:avLst/>
          </a:prstGeom>
          <a:noFill/>
          <a:ln w="38100" cap="flat" cmpd="sng" algn="ctr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黑体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4D2EC56-27F5-4892-B6F6-8AECAECCAB68}"/>
                  </a:ext>
                </a:extLst>
              </p:cNvPr>
              <p:cNvSpPr txBox="1"/>
              <p:nvPr/>
            </p:nvSpPr>
            <p:spPr>
              <a:xfrm>
                <a:off x="3161097" y="1332055"/>
                <a:ext cx="914400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0" lang="en-US" altLang="zh-CN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kumimoji="0" lang="en-US" altLang="zh-CN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黑体"/>
                          <a:cs typeface="+mn-cs"/>
                        </a:rPr>
                        <m:t>.</m:t>
                      </m:r>
                    </m:oMath>
                  </m:oMathPara>
                </a14:m>
                <a:endPara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kumimoji="0" lang="en-US" altLang="zh-CN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黑体"/>
                          <a:cs typeface="+mn-cs"/>
                        </a:rPr>
                        <m:t>.</m:t>
                      </m:r>
                    </m:oMath>
                  </m:oMathPara>
                </a14:m>
                <a:endPara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kumimoji="0" lang="en-US" altLang="zh-CN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黑体"/>
                          <a:cs typeface="+mn-cs"/>
                        </a:rPr>
                        <m:t>.</m:t>
                      </m:r>
                    </m:oMath>
                  </m:oMathPara>
                </a14:m>
                <a:endPara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78</m:t>
                          </m:r>
                          <m: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783</m:t>
                          </m:r>
                        </m:sub>
                      </m:sSub>
                    </m:oMath>
                  </m:oMathPara>
                </a14:m>
                <a:endPara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784</m:t>
                          </m:r>
                        </m:sub>
                      </m:sSub>
                    </m:oMath>
                  </m:oMathPara>
                </a14:m>
                <a:endPara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/>
                  <a:cs typeface="+mn-cs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4D2EC56-27F5-4892-B6F6-8AECAECCA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097" y="1332055"/>
                <a:ext cx="914400" cy="34778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箭头: 右 18">
            <a:extLst>
              <a:ext uri="{FF2B5EF4-FFF2-40B4-BE49-F238E27FC236}">
                <a16:creationId xmlns:a16="http://schemas.microsoft.com/office/drawing/2014/main" id="{DEB97F9F-F25A-48AF-B11E-4B35CE963406}"/>
              </a:ext>
            </a:extLst>
          </p:cNvPr>
          <p:cNvSpPr/>
          <p:nvPr/>
        </p:nvSpPr>
        <p:spPr>
          <a:xfrm>
            <a:off x="4761297" y="2843864"/>
            <a:ext cx="2438400" cy="457200"/>
          </a:xfrm>
          <a:prstGeom prst="rightArrow">
            <a:avLst/>
          </a:prstGeom>
          <a:solidFill>
            <a:schemeClr val="dk1"/>
          </a:solidFill>
          <a:ln w="28575">
            <a:solidFill>
              <a:schemeClr val="tx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Times New Roman"/>
              <a:ea typeface="黑体"/>
              <a:cs typeface="+mn-cs"/>
            </a:endParaRPr>
          </a:p>
        </p:txBody>
      </p:sp>
      <p:sp>
        <p:nvSpPr>
          <p:cNvPr id="20" name="双括号 19">
            <a:extLst>
              <a:ext uri="{FF2B5EF4-FFF2-40B4-BE49-F238E27FC236}">
                <a16:creationId xmlns:a16="http://schemas.microsoft.com/office/drawing/2014/main" id="{CD8B89EE-7D37-44F6-B513-6A90F8F5B95A}"/>
              </a:ext>
            </a:extLst>
          </p:cNvPr>
          <p:cNvSpPr/>
          <p:nvPr/>
        </p:nvSpPr>
        <p:spPr>
          <a:xfrm>
            <a:off x="8225466" y="1967564"/>
            <a:ext cx="457200" cy="2209800"/>
          </a:xfrm>
          <a:prstGeom prst="bracketPair">
            <a:avLst/>
          </a:prstGeom>
          <a:noFill/>
          <a:ln w="38100" cap="flat" cmpd="sng" algn="ctr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黑体"/>
              <a:cs typeface="+mn-cs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ECD0D34-B4B7-47CB-A8D0-0F7C2D76768B}"/>
              </a:ext>
            </a:extLst>
          </p:cNvPr>
          <p:cNvSpPr txBox="1"/>
          <p:nvPr/>
        </p:nvSpPr>
        <p:spPr>
          <a:xfrm>
            <a:off x="2932497" y="4842352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像素值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5EC859F-E88D-46FB-BA8A-2B70F535AC7A}"/>
              </a:ext>
            </a:extLst>
          </p:cNvPr>
          <p:cNvSpPr txBox="1"/>
          <p:nvPr/>
        </p:nvSpPr>
        <p:spPr>
          <a:xfrm>
            <a:off x="8028690" y="4842352"/>
            <a:ext cx="850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2244C8C6-5D4B-4B8E-A10A-1889E7BF4C88}"/>
                  </a:ext>
                </a:extLst>
              </p:cNvPr>
              <p:cNvSpPr txBox="1"/>
              <p:nvPr/>
            </p:nvSpPr>
            <p:spPr>
              <a:xfrm>
                <a:off x="8149266" y="1967564"/>
                <a:ext cx="609600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1</m:t>
                      </m:r>
                    </m:oMath>
                  </m:oMathPara>
                </a14:m>
                <a:endPara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0</m:t>
                      </m:r>
                    </m:oMath>
                  </m:oMathPara>
                </a14:m>
                <a:endPara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/>
                    <a:cs typeface="+mn-cs"/>
                  </a:rPr>
                  <a:t>0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/>
                  </a:rPr>
                  <a:t>.</a:t>
                </a:r>
                <a:endPara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/>
                    <a:cs typeface="+mn-cs"/>
                  </a:rPr>
                  <a:t>.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kumimoji="0" lang="en-US" altLang="zh-CN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/>
                          <a:cs typeface="+mn-cs"/>
                        </a:rPr>
                        <m:t>.</m:t>
                      </m:r>
                    </m:oMath>
                  </m:oMathPara>
                </a14:m>
                <a:endPara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0</m:t>
                          </m:r>
                        </m:e>
                        <m:sub>
                          <m:r>
                            <a:rPr kumimoji="0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/>
                  <a:cs typeface="+mn-cs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2244C8C6-5D4B-4B8E-A10A-1889E7BF4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9266" y="1967564"/>
                <a:ext cx="609600" cy="22467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A9A3D7FE-44D0-1611-A0A4-5226E67683AF}"/>
              </a:ext>
            </a:extLst>
          </p:cNvPr>
          <p:cNvSpPr txBox="1"/>
          <p:nvPr/>
        </p:nvSpPr>
        <p:spPr>
          <a:xfrm>
            <a:off x="8879441" y="1967564"/>
            <a:ext cx="17844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分类为第一类</a:t>
            </a:r>
          </a:p>
        </p:txBody>
      </p:sp>
    </p:spTree>
    <p:extLst>
      <p:ext uri="{BB962C8B-B14F-4D97-AF65-F5344CB8AC3E}">
        <p14:creationId xmlns:p14="http://schemas.microsoft.com/office/powerpoint/2010/main" val="10915789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4628A-D5B4-18C9-5EBB-DA7063644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7C276-21BE-7D77-E2C5-9FDAA425E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高响应频率的示例</a:t>
            </a:r>
          </a:p>
        </p:txBody>
      </p:sp>
      <p:sp>
        <p:nvSpPr>
          <p:cNvPr id="17" name="双括号 16">
            <a:extLst>
              <a:ext uri="{FF2B5EF4-FFF2-40B4-BE49-F238E27FC236}">
                <a16:creationId xmlns:a16="http://schemas.microsoft.com/office/drawing/2014/main" id="{511A78BC-9857-DF92-42B2-6E2605460E6A}"/>
              </a:ext>
            </a:extLst>
          </p:cNvPr>
          <p:cNvSpPr/>
          <p:nvPr/>
        </p:nvSpPr>
        <p:spPr>
          <a:xfrm>
            <a:off x="3161097" y="1299633"/>
            <a:ext cx="914400" cy="3255434"/>
          </a:xfrm>
          <a:prstGeom prst="bracketPair">
            <a:avLst/>
          </a:prstGeom>
          <a:noFill/>
          <a:ln w="38100" cap="flat" cmpd="sng" algn="ctr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黑体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8D6953B-6F70-F82B-7E5E-A88E9DA5BD04}"/>
                  </a:ext>
                </a:extLst>
              </p:cNvPr>
              <p:cNvSpPr txBox="1"/>
              <p:nvPr/>
            </p:nvSpPr>
            <p:spPr>
              <a:xfrm>
                <a:off x="3161097" y="1332055"/>
                <a:ext cx="914400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altLang="zh-CN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r>
                        <a:rPr kumimoji="0" lang="en-US" altLang="zh-CN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𝜹</m:t>
                      </m:r>
                    </m:oMath>
                  </m:oMathPara>
                </a14:m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0" lang="en-US" altLang="zh-CN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kumimoji="0" lang="en-US" altLang="zh-CN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黑体"/>
                          <a:cs typeface="+mn-cs"/>
                        </a:rPr>
                        <m:t>.</m:t>
                      </m:r>
                    </m:oMath>
                  </m:oMathPara>
                </a14:m>
                <a:endPara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kumimoji="0" lang="en-US" altLang="zh-CN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黑体"/>
                          <a:cs typeface="+mn-cs"/>
                        </a:rPr>
                        <m:t>.</m:t>
                      </m:r>
                    </m:oMath>
                  </m:oMathPara>
                </a14:m>
                <a:endPara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kumimoji="0" lang="en-US" altLang="zh-CN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黑体"/>
                          <a:cs typeface="+mn-cs"/>
                        </a:rPr>
                        <m:t>.</m:t>
                      </m:r>
                    </m:oMath>
                  </m:oMathPara>
                </a14:m>
                <a:endPara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78</m:t>
                          </m:r>
                          <m: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783</m:t>
                          </m:r>
                        </m:sub>
                      </m:sSub>
                    </m:oMath>
                  </m:oMathPara>
                </a14:m>
                <a:endPara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784</m:t>
                          </m:r>
                        </m:sub>
                      </m:sSub>
                    </m:oMath>
                  </m:oMathPara>
                </a14:m>
                <a:endPara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/>
                  <a:cs typeface="+mn-cs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8D6953B-6F70-F82B-7E5E-A88E9DA5B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097" y="1332055"/>
                <a:ext cx="914400" cy="34778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箭头: 右 18">
            <a:extLst>
              <a:ext uri="{FF2B5EF4-FFF2-40B4-BE49-F238E27FC236}">
                <a16:creationId xmlns:a16="http://schemas.microsoft.com/office/drawing/2014/main" id="{AA377B50-CE37-A59C-0CC4-AC9C0F8E1F2A}"/>
              </a:ext>
            </a:extLst>
          </p:cNvPr>
          <p:cNvSpPr/>
          <p:nvPr/>
        </p:nvSpPr>
        <p:spPr>
          <a:xfrm>
            <a:off x="4761297" y="2843864"/>
            <a:ext cx="2438400" cy="457200"/>
          </a:xfrm>
          <a:prstGeom prst="rightArrow">
            <a:avLst/>
          </a:prstGeom>
          <a:solidFill>
            <a:schemeClr val="dk1"/>
          </a:solidFill>
          <a:ln w="28575">
            <a:solidFill>
              <a:schemeClr val="tx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Times New Roman"/>
              <a:ea typeface="黑体"/>
              <a:cs typeface="+mn-cs"/>
            </a:endParaRPr>
          </a:p>
        </p:txBody>
      </p:sp>
      <p:sp>
        <p:nvSpPr>
          <p:cNvPr id="20" name="双括号 19">
            <a:extLst>
              <a:ext uri="{FF2B5EF4-FFF2-40B4-BE49-F238E27FC236}">
                <a16:creationId xmlns:a16="http://schemas.microsoft.com/office/drawing/2014/main" id="{973FEC07-EA0F-7802-64BF-A1F2B826A8B8}"/>
              </a:ext>
            </a:extLst>
          </p:cNvPr>
          <p:cNvSpPr/>
          <p:nvPr/>
        </p:nvSpPr>
        <p:spPr>
          <a:xfrm>
            <a:off x="8225466" y="1967564"/>
            <a:ext cx="457200" cy="2209800"/>
          </a:xfrm>
          <a:prstGeom prst="bracketPair">
            <a:avLst/>
          </a:prstGeom>
          <a:noFill/>
          <a:ln w="38100" cap="flat" cmpd="sng" algn="ctr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黑体"/>
              <a:cs typeface="+mn-cs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423E512-F5A1-E8E3-CDFD-72BEF9BB52F1}"/>
              </a:ext>
            </a:extLst>
          </p:cNvPr>
          <p:cNvSpPr txBox="1"/>
          <p:nvPr/>
        </p:nvSpPr>
        <p:spPr>
          <a:xfrm>
            <a:off x="2932497" y="4842352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像素值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4D4C620-4976-1A12-E58A-7A36E7275A0C}"/>
              </a:ext>
            </a:extLst>
          </p:cNvPr>
          <p:cNvSpPr txBox="1"/>
          <p:nvPr/>
        </p:nvSpPr>
        <p:spPr>
          <a:xfrm>
            <a:off x="8028690" y="4842352"/>
            <a:ext cx="850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28C73CB5-09E0-CE29-0D57-49ACECD70467}"/>
                  </a:ext>
                </a:extLst>
              </p:cNvPr>
              <p:cNvSpPr txBox="1"/>
              <p:nvPr/>
            </p:nvSpPr>
            <p:spPr>
              <a:xfrm>
                <a:off x="8149266" y="1967564"/>
                <a:ext cx="609600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altLang="zh-CN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/>
                          <a:cs typeface="+mn-cs"/>
                        </a:rPr>
                        <m:t>𝟎</m:t>
                      </m:r>
                    </m:oMath>
                  </m:oMathPara>
                </a14:m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altLang="zh-CN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/>
                          <a:cs typeface="+mn-cs"/>
                        </a:rPr>
                        <m:t>𝟏</m:t>
                      </m:r>
                    </m:oMath>
                  </m:oMathPara>
                </a14:m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/>
                    <a:cs typeface="+mn-cs"/>
                  </a:rPr>
                  <a:t>0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/>
                  </a:rPr>
                  <a:t>.</a:t>
                </a:r>
                <a:endPara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/>
                    <a:cs typeface="+mn-cs"/>
                  </a:rPr>
                  <a:t>.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kumimoji="0" lang="en-US" altLang="zh-CN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/>
                          <a:cs typeface="+mn-cs"/>
                        </a:rPr>
                        <m:t>.</m:t>
                      </m:r>
                    </m:oMath>
                  </m:oMathPara>
                </a14:m>
                <a:endPara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0</m:t>
                          </m:r>
                        </m:e>
                        <m:sub>
                          <m:r>
                            <a:rPr kumimoji="0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/>
                  <a:cs typeface="+mn-cs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28C73CB5-09E0-CE29-0D57-49ACECD70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9266" y="1967564"/>
                <a:ext cx="609600" cy="22467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F98C1352-ED71-FFA2-CBBA-1CD808F5A379}"/>
              </a:ext>
            </a:extLst>
          </p:cNvPr>
          <p:cNvSpPr txBox="1"/>
          <p:nvPr/>
        </p:nvSpPr>
        <p:spPr>
          <a:xfrm>
            <a:off x="8879441" y="2272363"/>
            <a:ext cx="17107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分类为第二类</a:t>
            </a:r>
          </a:p>
        </p:txBody>
      </p:sp>
    </p:spTree>
    <p:extLst>
      <p:ext uri="{BB962C8B-B14F-4D97-AF65-F5344CB8AC3E}">
        <p14:creationId xmlns:p14="http://schemas.microsoft.com/office/powerpoint/2010/main" val="21695767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8B2DA-D264-4E75-974E-BC49C3525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FFE6EB7C-1991-B5A0-6DE9-0EF1306EE41B}"/>
              </a:ext>
            </a:extLst>
          </p:cNvPr>
          <p:cNvSpPr txBox="1"/>
          <p:nvPr/>
        </p:nvSpPr>
        <p:spPr>
          <a:xfrm>
            <a:off x="3926175" y="2600792"/>
            <a:ext cx="4339650" cy="1656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理论理解</a:t>
            </a:r>
            <a:r>
              <a:rPr lang="en-US" altLang="zh-CN" sz="3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algn="ctr">
              <a:lnSpc>
                <a:spcPct val="150000"/>
              </a:lnSpc>
            </a:pPr>
            <a:r>
              <a:rPr lang="zh-CN" altLang="en-US" sz="3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一维频率原则的理论</a:t>
            </a:r>
            <a:endParaRPr lang="en-US" altLang="zh-CN" sz="36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A1C9B479-168F-0E28-4617-E67ED3ADC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55987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64619-5410-99BB-85AA-F94C93269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7B5CD85-E5E2-54E3-780B-FDD454D0E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两层全连接神经网络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3F71D97A-79E9-7BB2-1B7A-7731C5D5EF30}"/>
                  </a:ext>
                </a:extLst>
              </p:cNvPr>
              <p:cNvSpPr/>
              <p:nvPr/>
            </p:nvSpPr>
            <p:spPr>
              <a:xfrm>
                <a:off x="381242" y="924982"/>
                <a:ext cx="11201158" cy="2150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0" indent="-3429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p"/>
                  <a:defRPr/>
                </a:pP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考虑一个隐藏层的 </a:t>
                </a:r>
                <a:r>
                  <a:rPr lang="en-US" altLang="zh-CN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tanh-DNN</a:t>
                </a: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，用于拟合一维函数 </a:t>
                </a:r>
                <a14:m>
                  <m:oMath xmlns:m="http://schemas.openxmlformats.org/officeDocument/2006/math">
                    <m:r>
                      <a:rPr kumimoji="0" lang="en-US" altLang="zh-CN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/>
                  </a:rPr>
                  <a:t>：</a:t>
                </a:r>
                <a:endPara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altLang="zh-CN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ℎ</m:t>
                      </m:r>
                      <m:d>
                        <m:dPr>
                          <m:ctrlP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US" altLang="zh-CN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𝑗</m:t>
                          </m:r>
                          <m: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kumimoji="0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0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𝑗</m:t>
                              </m:r>
                            </m:sub>
                          </m:sSub>
                          <m: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𝜎</m:t>
                          </m:r>
                          <m:d>
                            <m:dPr>
                              <m:ctrlPr>
                                <a:rPr kumimoji="0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US" altLang="zh-CN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0" lang="en-US" altLang="zh-CN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kumimoji="0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  <m:r>
                                <a:rPr kumimoji="0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kumimoji="0" lang="en-US" altLang="zh-CN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kumimoji="0" lang="en-US" altLang="zh-CN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</m:t>
                          </m:r>
                        </m:e>
                      </m:nary>
                      <m:r>
                        <a:rPr kumimoji="0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𝜎</m:t>
                      </m:r>
                      <m:d>
                        <m:dPr>
                          <m:ctrlPr>
                            <a:rPr kumimoji="0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0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0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sup>
                          </m:sSup>
                          <m:r>
                            <a:rPr kumimoji="0" lang="en-US" altLang="zh-CN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sSup>
                            <m:sSupPr>
                              <m:ctrlPr>
                                <a:rPr kumimoji="0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0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US" altLang="zh-CN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altLang="zh-C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ℎ</m:t>
                          </m:r>
                        </m:e>
                      </m:acc>
                      <m:d>
                        <m:dPr>
                          <m:ctrlPr>
                            <a:rPr kumimoji="0" lang="en-US" altLang="zh-CN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𝑘</m:t>
                          </m:r>
                        </m:e>
                      </m:d>
                      <m:r>
                        <a:rPr kumimoji="0" lang="en-US" altLang="zh-CN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≈</m:t>
                      </m:r>
                      <m:nary>
                        <m:naryPr>
                          <m:chr m:val="∑"/>
                          <m:ctrlP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𝑗</m:t>
                          </m:r>
                          <m: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kumimoji="0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0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𝑗</m:t>
                              </m:r>
                            </m:sub>
                          </m:sSub>
                          <m:func>
                            <m:funcPr>
                              <m:ctrlPr>
                                <a:rPr kumimoji="0" lang="en-US" altLang="zh-CN" sz="20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0" lang="en-US" altLang="zh-CN" sz="20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kumimoji="0" lang="en-US" altLang="zh-CN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kumimoji="0" lang="en-US" altLang="zh-CN" sz="20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US" altLang="zh-CN" sz="20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𝑖</m:t>
                                      </m:r>
                                      <m:sSub>
                                        <m:sSubPr>
                                          <m:ctrlPr>
                                            <a:rPr kumimoji="0" lang="en-US" altLang="zh-CN" sz="20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altLang="zh-CN" sz="20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kumimoji="0" lang="en-US" altLang="zh-CN" sz="20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kumimoji="0" lang="en-US" altLang="zh-CN" sz="20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altLang="zh-CN" sz="20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kumimoji="0" lang="en-US" altLang="zh-CN" sz="20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func>
                          <m:func>
                            <m:funcPr>
                              <m:ctrlPr>
                                <a:rPr kumimoji="0" lang="en-US" altLang="zh-CN" sz="20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0" lang="en-US" altLang="zh-CN" sz="20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kumimoji="0" lang="en-US" altLang="zh-CN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altLang="zh-CN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kumimoji="0" lang="en-US" altLang="zh-CN" sz="20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kumimoji="0" lang="en-US" altLang="zh-CN" sz="20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kumimoji="0" lang="en-US" altLang="zh-CN" sz="20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𝜋</m:t>
                                          </m:r>
                                          <m:r>
                                            <a:rPr kumimoji="0" lang="en-US" altLang="zh-CN" sz="20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𝑘</m:t>
                                          </m:r>
                                        </m:num>
                                        <m:den>
                                          <m:r>
                                            <a:rPr kumimoji="0" lang="en-US" altLang="zh-CN" sz="20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2</m:t>
                                          </m:r>
                                          <m:sSub>
                                            <m:sSubPr>
                                              <m:ctrlPr>
                                                <a:rPr kumimoji="0" lang="en-US" altLang="zh-CN" sz="20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en-US" altLang="zh-CN" sz="20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0" lang="en-US" altLang="zh-CN" sz="20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</m:d>
                            </m:e>
                          </m:func>
                          <m:r>
                            <m:rPr>
                              <m:nor/>
                            </m:rPr>
                            <a:rPr kumimoji="0" lang="en-US" altLang="zh-CN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黑体"/>
                              <a:cs typeface="+mn-cs"/>
                            </a:rPr>
                            <m:t> </m:t>
                          </m:r>
                          <m: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</m:t>
                          </m:r>
                        </m:e>
                      </m:nary>
                    </m:oMath>
                  </m:oMathPara>
                </a14:m>
                <a:endPara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/>
                  <a:cs typeface="+mn-cs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3F71D97A-79E9-7BB2-1B7A-7731C5D5EF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42" y="924982"/>
                <a:ext cx="11201158" cy="2150332"/>
              </a:xfrm>
              <a:prstGeom prst="rect">
                <a:avLst/>
              </a:prstGeom>
              <a:blipFill>
                <a:blip r:embed="rId5"/>
                <a:stretch>
                  <a:fillRect l="-566" t="-30588" b="-664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09B27B1E-9F2F-3495-6369-DE9C3C68D28B}"/>
                  </a:ext>
                </a:extLst>
              </p:cNvPr>
              <p:cNvSpPr/>
              <p:nvPr/>
            </p:nvSpPr>
            <p:spPr>
              <a:xfrm>
                <a:off x="381242" y="3136870"/>
                <a:ext cx="11046922" cy="15738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p"/>
                  <a:tabLst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定义</a:t>
                </a:r>
                <a14:m>
                  <m:oMath xmlns:m="http://schemas.openxmlformats.org/officeDocument/2006/math">
                    <m:r>
                      <a:rPr lang="zh-CN" altLang="en-US" sz="2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频率</m:t>
                    </m:r>
                    <m:r>
                      <a:rPr lang="en-US" altLang="zh-CN" sz="2000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kumimoji="0" lang="en-US" altLang="zh-CN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𝑘</m:t>
                    </m:r>
                    <m:r>
                      <a:rPr kumimoji="0" lang="en-US" altLang="zh-CN" sz="20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处的损失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/>
                    <a:cs typeface="+mn-cs"/>
                  </a:rPr>
                  <a:t>：</a:t>
                </a:r>
                <a:endPara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altLang="zh-CN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𝐿</m:t>
                      </m:r>
                      <m:d>
                        <m:dPr>
                          <m:ctrlP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𝑘</m:t>
                          </m:r>
                        </m:e>
                      </m:d>
                      <m:r>
                        <a:rPr kumimoji="0" lang="en-US" altLang="zh-CN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kumimoji="0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kumimoji="0" lang="en-US" altLang="zh-CN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kumimoji="0" lang="en-US" altLang="zh-CN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ℎ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kumimoji="0" lang="en-US" altLang="zh-CN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altLang="zh-CN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kumimoji="0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kumimoji="0" lang="en-US" altLang="zh-CN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kumimoji="0" lang="en-US" altLang="zh-CN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𝑓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kumimoji="0" lang="en-US" altLang="zh-CN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altLang="zh-CN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𝑘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kumimoji="0" lang="en-US" altLang="zh-CN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0" lang="en-US" altLang="zh-CN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.</m:t>
                      </m:r>
                    </m:oMath>
                  </m:oMathPara>
                </a14:m>
                <a:endPara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/>
                  <a:cs typeface="+mn-cs"/>
                </a:endParaRPr>
              </a:p>
              <a:p>
                <a:pPr lvl="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根据帕塞瓦尔定理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imbusRomNo9L-Regu"/>
                    <a:ea typeface="黑体"/>
                    <a:cs typeface="+mn-cs"/>
                  </a:rPr>
                  <a:t>: </a:t>
                </a:r>
                <a14:m>
                  <m:oMath xmlns:m="http://schemas.openxmlformats.org/officeDocument/2006/math">
                    <m:r>
                      <a:rPr kumimoji="0" lang="en-US" altLang="zh-CN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𝐿</m:t>
                    </m:r>
                    <m:r>
                      <a:rPr kumimoji="0" lang="en-US" altLang="zh-CN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nary>
                      <m:naryPr>
                        <m:subHide m:val="on"/>
                        <m:supHide m:val="on"/>
                        <m:ctrlPr>
                          <a:rPr kumimoji="0" lang="en-US" altLang="zh-CN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naryPr>
                      <m:sub/>
                      <m:sup/>
                      <m:e>
                        <m:r>
                          <a:rPr kumimoji="0" lang="en-US" altLang="zh-CN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𝐿</m:t>
                        </m:r>
                        <m:d>
                          <m:dPr>
                            <m:ctrlPr>
                              <a:rPr kumimoji="0" lang="en-US" altLang="zh-CN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altLang="zh-CN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𝑘</m:t>
                            </m:r>
                          </m:e>
                        </m:d>
                        <m:r>
                          <a:rPr kumimoji="0" lang="en-US" altLang="zh-CN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𝑑𝑘</m:t>
                        </m:r>
                        <m:r>
                          <a:rPr kumimoji="0" lang="en-US" altLang="zh-CN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=∫</m:t>
                        </m:r>
                        <m:f>
                          <m:fPr>
                            <m:ctrlPr>
                              <a:rPr kumimoji="0" lang="en-US" altLang="zh-CN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0" lang="en-US" altLang="zh-CN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num>
                          <m:den>
                            <m:r>
                              <a:rPr kumimoji="0" lang="en-US" altLang="zh-CN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kumimoji="0" lang="en-US" altLang="zh-CN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kumimoji="0" lang="en-US" altLang="zh-CN" sz="20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en-US" altLang="zh-CN" sz="20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kumimoji="0" lang="en-US" altLang="zh-CN" sz="20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CN" sz="20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kumimoji="0" lang="en-US" altLang="zh-CN" sz="20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US" altLang="zh-CN" sz="20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ℎ</m:t>
                                </m:r>
                                <m:r>
                                  <a:rPr kumimoji="0" lang="en-US" altLang="zh-CN" sz="20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en-US" altLang="zh-CN" sz="20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𝑥</m:t>
                                </m:r>
                                <m:r>
                                  <a:rPr kumimoji="0" lang="en-US" altLang="zh-CN" sz="20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kumimoji="0" lang="en-US" altLang="zh-CN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p>
                        </m:sSup>
                        <m:r>
                          <a:rPr kumimoji="0" lang="en-US" altLang="zh-CN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𝑑𝑥</m:t>
                        </m:r>
                      </m:e>
                    </m:nary>
                  </m:oMath>
                </a14:m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/>
                    <a:cs typeface="+mn-cs"/>
                  </a:rPr>
                  <a:t>.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09B27B1E-9F2F-3495-6369-DE9C3C68D2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42" y="3136870"/>
                <a:ext cx="11046922" cy="1573892"/>
              </a:xfrm>
              <a:prstGeom prst="rect">
                <a:avLst/>
              </a:prstGeom>
              <a:blipFill>
                <a:blip r:embed="rId6"/>
                <a:stretch>
                  <a:fillRect l="-607" t="-3101" b="-5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7B5F3BA6-C3C2-ABC4-8AE3-3DDF49B2DA16}"/>
                  </a:ext>
                </a:extLst>
              </p:cNvPr>
              <p:cNvSpPr/>
              <p:nvPr/>
            </p:nvSpPr>
            <p:spPr>
              <a:xfrm>
                <a:off x="381242" y="5116996"/>
                <a:ext cx="11296638" cy="11507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0" indent="-3429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p"/>
                  <a:defRPr/>
                </a:pPr>
                <a:r>
                  <a:rPr lang="zh-CN" altLang="en-US" sz="2000" kern="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通过傅里叶域中的损失计算梯度</a:t>
                </a:r>
                <a:endParaRPr kumimoji="0" lang="en-US" altLang="zh-CN" sz="20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altLang="zh-CN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𝜃</m:t>
                      </m:r>
                      <m:r>
                        <a:rPr kumimoji="0" lang="en-US" altLang="zh-CN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←</m:t>
                      </m:r>
                      <m:r>
                        <a:rPr kumimoji="0" lang="en-US" altLang="zh-CN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𝜃</m:t>
                      </m:r>
                      <m:r>
                        <a:rPr kumimoji="0" lang="en-US" altLang="zh-CN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−</m:t>
                      </m:r>
                      <m:r>
                        <a:rPr kumimoji="0" lang="en-US" altLang="zh-CN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𝜂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kumimoji="0" lang="en-US" altLang="zh-CN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kumimoji="0" lang="en-US" altLang="zh-CN" sz="20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US" altLang="zh-CN" sz="20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𝜕</m:t>
                              </m:r>
                              <m:r>
                                <a:rPr kumimoji="0" lang="en-US" altLang="zh-CN" sz="20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kumimoji="0" lang="en-US" altLang="zh-CN" sz="20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altLang="zh-CN" sz="2000" b="0" i="1" u="none" strike="noStrike" kern="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𝑘</m:t>
                                  </m:r>
                                </m:e>
                              </m:d>
                            </m:num>
                            <m:den>
                              <m:r>
                                <a:rPr kumimoji="0" lang="en-US" altLang="zh-CN" sz="20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𝜕𝜃</m:t>
                              </m:r>
                            </m:den>
                          </m:f>
                        </m:e>
                      </m:nary>
                      <m:r>
                        <a:rPr kumimoji="0" lang="en-US" altLang="zh-CN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.</m:t>
                      </m:r>
                    </m:oMath>
                  </m:oMathPara>
                </a14:m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Book Antiqua"/>
                  <a:ea typeface="黑体"/>
                  <a:cs typeface="+mn-cs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7B5F3BA6-C3C2-ABC4-8AE3-3DDF49B2DA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42" y="5116996"/>
                <a:ext cx="11296638" cy="1150764"/>
              </a:xfrm>
              <a:prstGeom prst="rect">
                <a:avLst/>
              </a:prstGeom>
              <a:blipFill>
                <a:blip r:embed="rId7"/>
                <a:stretch>
                  <a:fillRect l="-486" t="-26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C44EAC10-5478-EAAA-D7FB-97A59A7E6BFF}"/>
              </a:ext>
            </a:extLst>
          </p:cNvPr>
          <p:cNvSpPr txBox="1"/>
          <p:nvPr/>
        </p:nvSpPr>
        <p:spPr>
          <a:xfrm>
            <a:off x="7190625" y="4310652"/>
            <a:ext cx="28029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/>
              <a:t>思考：下一步怎么分析？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D0D9836-0A34-A927-6636-4654D1D83CEF}"/>
                  </a:ext>
                </a:extLst>
              </p:cNvPr>
              <p:cNvSpPr txBox="1"/>
              <p:nvPr/>
            </p:nvSpPr>
            <p:spPr>
              <a:xfrm>
                <a:off x="8517233" y="2295829"/>
                <a:ext cx="2802934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sz="2000" dirty="0"/>
                  <a:t>是无穷阶可导，所以它的傅里叶展开系数随频率指数衰减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D0D9836-0A34-A927-6636-4654D1D83C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7233" y="2295829"/>
                <a:ext cx="2802934" cy="1015663"/>
              </a:xfrm>
              <a:prstGeom prst="rect">
                <a:avLst/>
              </a:prstGeom>
              <a:blipFill>
                <a:blip r:embed="rId8"/>
                <a:stretch>
                  <a:fillRect l="-2252" t="-3704" b="-74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B468350C-24AD-9E02-4575-95A399F09D7B}"/>
              </a:ext>
            </a:extLst>
          </p:cNvPr>
          <p:cNvSpPr txBox="1"/>
          <p:nvPr/>
        </p:nvSpPr>
        <p:spPr>
          <a:xfrm>
            <a:off x="9918700" y="123928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400" dirty="0">
                <a:solidFill>
                  <a:schemeClr val="bg1">
                    <a:lumMod val="65000"/>
                  </a:schemeClr>
                </a:solidFill>
              </a:rPr>
              <a:t>阅读材料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15625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44BA8-EC97-E8C0-8D4D-C2AA3DFBC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DF15E34-91D2-E761-3338-A47714F97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两层全连接神经网络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BDA0E60-C944-AC19-2669-25B9A0E05712}"/>
                  </a:ext>
                </a:extLst>
              </p:cNvPr>
              <p:cNvSpPr txBox="1"/>
              <p:nvPr/>
            </p:nvSpPr>
            <p:spPr>
              <a:xfrm>
                <a:off x="2658498" y="1775508"/>
                <a:ext cx="8153400" cy="442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𝐴</m:t>
                    </m:r>
                    <m:d>
                      <m:d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𝑘</m:t>
                        </m:r>
                      </m:e>
                    </m:d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kumimoji="0" lang="en-US" altLang="zh-CN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kumimoji="0" lang="en-US" altLang="zh-CN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kumimoji="0" lang="en-US" altLang="zh-CN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ℎ</m:t>
                            </m:r>
                          </m:e>
                        </m:acc>
                        <m:d>
                          <m:dPr>
                            <m:ctrlPr>
                              <a:rPr kumimoji="0" lang="en-US" altLang="zh-CN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altLang="zh-CN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𝑘</m:t>
                            </m:r>
                          </m:e>
                        </m:d>
                        <m:r>
                          <a:rPr kumimoji="0" lang="en-US" altLang="zh-CN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kumimoji="0" lang="en-US" altLang="zh-CN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kumimoji="0" lang="en-US" altLang="zh-CN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𝑓</m:t>
                            </m:r>
                          </m:e>
                        </m:acc>
                        <m:d>
                          <m:dPr>
                            <m:ctrlPr>
                              <a:rPr kumimoji="0" lang="en-US" altLang="zh-CN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altLang="zh-CN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𝑘</m:t>
                            </m:r>
                          </m:e>
                        </m:d>
                      </m:e>
                    </m:d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/>
                  <a:cs typeface="+mn-cs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BDA0E60-C944-AC19-2669-25B9A0E057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8498" y="1775508"/>
                <a:ext cx="8153400" cy="442109"/>
              </a:xfrm>
              <a:prstGeom prst="rect">
                <a:avLst/>
              </a:prstGeom>
              <a:blipFill>
                <a:blip r:embed="rId5"/>
                <a:stretch>
                  <a:fillRect l="-747" t="-5479" b="-191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904CAC70-6074-85A5-DD4C-0D03FBCE1D1A}"/>
                  </a:ext>
                </a:extLst>
              </p:cNvPr>
              <p:cNvSpPr/>
              <p:nvPr/>
            </p:nvSpPr>
            <p:spPr>
              <a:xfrm>
                <a:off x="2600960" y="1006732"/>
                <a:ext cx="4323876" cy="10916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𝜕</m:t>
                              </m:r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𝐿</m:t>
                              </m:r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(</m:t>
                              </m:r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𝑘</m:t>
                              </m:r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)</m:t>
                              </m:r>
                            </m:num>
                            <m:den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𝜕</m:t>
                              </m:r>
                              <m:r>
                                <a:rPr kumimoji="0" lang="en-US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𝜃</m:t>
                              </m:r>
                            </m:den>
                          </m:f>
                        </m:e>
                      </m:d>
                      <m:r>
                        <a:rPr kumimoji="0" lang="en-US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≈</m:t>
                      </m:r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𝐴</m:t>
                      </m:r>
                      <m:d>
                        <m:dPr>
                          <m:ctrlP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𝑘</m:t>
                          </m:r>
                        </m:e>
                      </m:d>
                      <m:func>
                        <m:funcPr>
                          <m:ctrlPr>
                            <a:rPr kumimoji="0" lang="en-US" altLang="zh-CN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altLang="zh-CN" sz="20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kumimoji="0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altLang="zh-CN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kumimoji="0" lang="en-US" altLang="zh-CN" sz="20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kumimoji="0" lang="en-US" altLang="zh-CN" sz="20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US" altLang="zh-CN" sz="20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𝜋</m:t>
                                      </m:r>
                                      <m:r>
                                        <a:rPr kumimoji="0" lang="en-US" altLang="zh-CN" sz="20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𝑘</m:t>
                                      </m:r>
                                    </m:num>
                                    <m:den>
                                      <m:r>
                                        <a:rPr kumimoji="0" lang="en-US" altLang="zh-CN" sz="20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2</m:t>
                                      </m:r>
                                      <m:sSub>
                                        <m:sSubPr>
                                          <m:ctrlPr>
                                            <a:rPr kumimoji="0" lang="en-US" altLang="zh-CN" sz="20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altLang="zh-CN" sz="20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kumimoji="0" lang="en-US" altLang="zh-CN" sz="20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d>
                        </m:e>
                      </m:func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𝐺</m:t>
                      </m:r>
                      <m:r>
                        <a:rPr kumimoji="0" lang="en-US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0" lang="en-US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𝜃</m:t>
                      </m:r>
                      <m:r>
                        <a:rPr kumimoji="0" lang="en-US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,</m:t>
                      </m:r>
                      <m:r>
                        <a:rPr kumimoji="0" lang="en-US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𝑘</m:t>
                      </m:r>
                      <m:r>
                        <a:rPr kumimoji="0" lang="en-US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/>
                  <a:cs typeface="+mn-cs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904CAC70-6074-85A5-DD4C-0D03FBCE1D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0960" y="1006732"/>
                <a:ext cx="4323876" cy="109164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26">
            <a:extLst>
              <a:ext uri="{FF2B5EF4-FFF2-40B4-BE49-F238E27FC236}">
                <a16:creationId xmlns:a16="http://schemas.microsoft.com/office/drawing/2014/main" id="{C47B82C9-1A3E-B2AF-AE35-AD764B9D8950}"/>
              </a:ext>
            </a:extLst>
          </p:cNvPr>
          <p:cNvGrpSpPr/>
          <p:nvPr/>
        </p:nvGrpSpPr>
        <p:grpSpPr>
          <a:xfrm>
            <a:off x="7585083" y="1006731"/>
            <a:ext cx="860739" cy="1455923"/>
            <a:chOff x="5711780" y="1455948"/>
            <a:chExt cx="525888" cy="950047"/>
          </a:xfrm>
        </p:grpSpPr>
        <p:cxnSp>
          <p:nvCxnSpPr>
            <p:cNvPr id="9" name="直接箭头连接符 15">
              <a:extLst>
                <a:ext uri="{FF2B5EF4-FFF2-40B4-BE49-F238E27FC236}">
                  <a16:creationId xmlns:a16="http://schemas.microsoft.com/office/drawing/2014/main" id="{DA6528DB-8D0A-935C-1552-9757770724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11780" y="1455948"/>
              <a:ext cx="457200" cy="735465"/>
            </a:xfrm>
            <a:prstGeom prst="straightConnector1">
              <a:avLst/>
            </a:prstGeom>
            <a:noFill/>
            <a:ln w="28575" cap="flat" cmpd="sng" algn="ctr">
              <a:solidFill>
                <a:srgbClr val="00CC99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10" name="直接箭头连接符 17">
              <a:extLst>
                <a:ext uri="{FF2B5EF4-FFF2-40B4-BE49-F238E27FC236}">
                  <a16:creationId xmlns:a16="http://schemas.microsoft.com/office/drawing/2014/main" id="{4438A857-B9C6-767A-BB3B-9DE7486069FB}"/>
                </a:ext>
              </a:extLst>
            </p:cNvPr>
            <p:cNvCxnSpPr>
              <a:cxnSpLocks/>
            </p:cNvCxnSpPr>
            <p:nvPr/>
          </p:nvCxnSpPr>
          <p:spPr>
            <a:xfrm>
              <a:off x="6168980" y="1455948"/>
              <a:ext cx="68688" cy="267467"/>
            </a:xfrm>
            <a:prstGeom prst="straightConnector1">
              <a:avLst/>
            </a:prstGeom>
            <a:noFill/>
            <a:ln w="28575" cap="flat" cmpd="sng" algn="ctr">
              <a:solidFill>
                <a:srgbClr val="00CC99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11" name="直接箭头连接符 19">
              <a:extLst>
                <a:ext uri="{FF2B5EF4-FFF2-40B4-BE49-F238E27FC236}">
                  <a16:creationId xmlns:a16="http://schemas.microsoft.com/office/drawing/2014/main" id="{DE220181-58FF-D4A3-9F98-C604CF1B3D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04079" y="1455948"/>
              <a:ext cx="364901" cy="950047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</p:grpSp>
      <p:sp>
        <p:nvSpPr>
          <p:cNvPr id="12" name="TextBox 27">
            <a:extLst>
              <a:ext uri="{FF2B5EF4-FFF2-40B4-BE49-F238E27FC236}">
                <a16:creationId xmlns:a16="http://schemas.microsoft.com/office/drawing/2014/main" id="{DE9DEC04-6963-D856-9F0C-837188ECA77C}"/>
              </a:ext>
            </a:extLst>
          </p:cNvPr>
          <p:cNvSpPr txBox="1"/>
          <p:nvPr/>
        </p:nvSpPr>
        <p:spPr>
          <a:xfrm>
            <a:off x="7265921" y="1058757"/>
            <a:ext cx="7483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dirty="0">
                <a:solidFill>
                  <a:srgbClr val="00CC99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低频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CC99">
                  <a:lumMod val="7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28">
            <a:extLst>
              <a:ext uri="{FF2B5EF4-FFF2-40B4-BE49-F238E27FC236}">
                <a16:creationId xmlns:a16="http://schemas.microsoft.com/office/drawing/2014/main" id="{25BAB8C7-EE1B-B9AE-267A-18F5E806521B}"/>
              </a:ext>
            </a:extLst>
          </p:cNvPr>
          <p:cNvSpPr txBox="1"/>
          <p:nvPr/>
        </p:nvSpPr>
        <p:spPr>
          <a:xfrm>
            <a:off x="8466360" y="870872"/>
            <a:ext cx="7483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CC99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高频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CC99">
                  <a:lumMod val="7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3335B9A-114E-2999-1569-3D81089AF1CA}"/>
                  </a:ext>
                </a:extLst>
              </p:cNvPr>
              <p:cNvSpPr txBox="1"/>
              <p:nvPr/>
            </p:nvSpPr>
            <p:spPr>
              <a:xfrm>
                <a:off x="381242" y="2217617"/>
                <a:ext cx="11270931" cy="17733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marR="0" lvl="0" indent="-34290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p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&gt;0:</m:t>
                    </m:r>
                  </m:oMath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若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较小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0" lang="en-US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0" lang="en-US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r>
                          <a:rPr kumimoji="0" lang="en-US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(−</m:t>
                        </m:r>
                        <m:d>
                          <m:dPr>
                            <m:begChr m:val="|"/>
                            <m:endChr m:val="|"/>
                            <m:ctrlPr>
                              <a:rPr kumimoji="0" lang="en-US" sz="24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0" lang="en-US" sz="24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kumimoji="0" lang="en-US" sz="24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kumimoji="0" lang="en-US" sz="24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/</m:t>
                            </m:r>
                            <m:sSub>
                              <m:sSubPr>
                                <m:ctrlPr>
                                  <a:rPr kumimoji="0" lang="en-US" sz="24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sz="24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kumimoji="0" lang="en-US" sz="24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kumimoji="0" lang="en-US" sz="24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kumimoji="0" lang="en-US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主导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低频主导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  <a:p>
                <a:pPr lvl="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对于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𝛿</m:t>
                        </m:r>
                      </m:sub>
                    </m:sSub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以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为中心，半径为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𝛿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若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较小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则高频损失的贡献可以忽略不计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3335B9A-114E-2999-1569-3D81089AF1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42" y="2217617"/>
                <a:ext cx="11270931" cy="1773306"/>
              </a:xfrm>
              <a:prstGeom prst="rect">
                <a:avLst/>
              </a:prstGeom>
              <a:blipFill>
                <a:blip r:embed="rId7"/>
                <a:stretch>
                  <a:fillRect l="-866" r="-595" b="-68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B196E6C-31D3-7401-7E28-6178DB646A28}"/>
                  </a:ext>
                </a:extLst>
              </p:cNvPr>
              <p:cNvSpPr txBox="1"/>
              <p:nvPr/>
            </p:nvSpPr>
            <p:spPr>
              <a:xfrm>
                <a:off x="381242" y="4124093"/>
                <a:ext cx="7683760" cy="1130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marR="0" lvl="0" indent="-34290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p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≈0: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频率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几乎收敛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R="0" lvl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𝐿</m:t>
                    </m:r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(</m:t>
                    </m:r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𝑘</m:t>
                    </m:r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贡献较小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B196E6C-31D3-7401-7E28-6178DB646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42" y="4124093"/>
                <a:ext cx="7683760" cy="1130246"/>
              </a:xfrm>
              <a:prstGeom prst="rect">
                <a:avLst/>
              </a:prstGeom>
              <a:blipFill>
                <a:blip r:embed="rId8"/>
                <a:stretch>
                  <a:fillRect l="-1320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7">
                <a:extLst>
                  <a:ext uri="{FF2B5EF4-FFF2-40B4-BE49-F238E27FC236}">
                    <a16:creationId xmlns:a16="http://schemas.microsoft.com/office/drawing/2014/main" id="{72195F00-4713-2EB5-A4CB-B45BB15310D9}"/>
                  </a:ext>
                </a:extLst>
              </p:cNvPr>
              <p:cNvSpPr txBox="1"/>
              <p:nvPr/>
            </p:nvSpPr>
            <p:spPr>
              <a:xfrm>
                <a:off x="381242" y="5537633"/>
                <a:ext cx="118107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Insight: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激活函数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的光滑性</a:t>
                </a:r>
                <a:r>
                  <a:rPr lang="zh-CN" altLang="en-US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可以通过基于梯度的训练转化为频率原则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6" name="TextBox 7">
                <a:extLst>
                  <a:ext uri="{FF2B5EF4-FFF2-40B4-BE49-F238E27FC236}">
                    <a16:creationId xmlns:a16="http://schemas.microsoft.com/office/drawing/2014/main" id="{72195F00-4713-2EB5-A4CB-B45BB1531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42" y="5537633"/>
                <a:ext cx="11810758" cy="461665"/>
              </a:xfrm>
              <a:prstGeom prst="rect">
                <a:avLst/>
              </a:prstGeom>
              <a:blipFill>
                <a:blip r:embed="rId9"/>
                <a:stretch>
                  <a:fillRect l="-826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F37A8ACF-2A30-AC98-DC32-752F10CD3B64}"/>
              </a:ext>
            </a:extLst>
          </p:cNvPr>
          <p:cNvSpPr txBox="1"/>
          <p:nvPr/>
        </p:nvSpPr>
        <p:spPr>
          <a:xfrm>
            <a:off x="8385829" y="1996562"/>
            <a:ext cx="35381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/>
              <a:t>思考：怎么改变频率收敛顺序？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DD38F6A-5A07-A94A-F20D-80D322541C38}"/>
              </a:ext>
            </a:extLst>
          </p:cNvPr>
          <p:cNvSpPr txBox="1"/>
          <p:nvPr/>
        </p:nvSpPr>
        <p:spPr>
          <a:xfrm>
            <a:off x="9918700" y="123928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400" dirty="0">
                <a:solidFill>
                  <a:schemeClr val="bg1">
                    <a:lumMod val="65000"/>
                  </a:schemeClr>
                </a:solidFill>
              </a:rPr>
              <a:t>阅读材料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5008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9A43A2-06F5-1EF2-6F63-0AC60414E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常见激活函数的频率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3311B36-240C-4C0A-5B01-B9E2DE11AA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1241" y="3426389"/>
            <a:ext cx="4250267" cy="283139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F45644D-5649-DD41-6F3C-28E26275CD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242" y="840793"/>
            <a:ext cx="4250267" cy="283351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D379205-03E5-5D34-5296-C37FB7CA88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73839" y="3430305"/>
            <a:ext cx="4250267" cy="282878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700F8ED-81B2-F0C3-53B3-8B89ABD785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73839" y="843155"/>
            <a:ext cx="4250267" cy="282878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FA906DC-E348-E79E-C8F1-16F6594237B1}"/>
              </a:ext>
            </a:extLst>
          </p:cNvPr>
          <p:cNvSpPr txBox="1"/>
          <p:nvPr/>
        </p:nvSpPr>
        <p:spPr>
          <a:xfrm>
            <a:off x="8785411" y="1995939"/>
            <a:ext cx="30253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B61616"/>
                </a:solidFill>
                <a:effectLst/>
                <a:uLnTx/>
                <a:uFillTx/>
                <a:latin typeface="Book Antiqua"/>
                <a:ea typeface="黑体"/>
                <a:cs typeface="+mn-cs"/>
              </a:rPr>
              <a:t>幅度随频率衰减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AB68D8F-AA03-5BFD-9433-4502B2B57183}"/>
              </a:ext>
            </a:extLst>
          </p:cNvPr>
          <p:cNvSpPr txBox="1"/>
          <p:nvPr/>
        </p:nvSpPr>
        <p:spPr>
          <a:xfrm>
            <a:off x="9918700" y="123928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400" dirty="0">
                <a:solidFill>
                  <a:schemeClr val="bg1">
                    <a:lumMod val="65000"/>
                  </a:schemeClr>
                </a:solidFill>
              </a:rPr>
              <a:t>阅读材料</a:t>
            </a:r>
          </a:p>
        </p:txBody>
      </p:sp>
    </p:spTree>
    <p:extLst>
      <p:ext uri="{BB962C8B-B14F-4D97-AF65-F5344CB8AC3E}">
        <p14:creationId xmlns:p14="http://schemas.microsoft.com/office/powerpoint/2010/main" val="40602331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9BD598-F89B-4C66-8168-468EC76C5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采用非单调激活函数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A86C3A3F-07D5-4173-B60E-655A5788AF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func>
                        <m:funcPr>
                          <m:ctrl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num>
                                        <m:den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A86C3A3F-07D5-4173-B60E-655A5788AF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65189C4-3B26-4947-949C-594F0F34B045}"/>
                  </a:ext>
                </a:extLst>
              </p:cNvPr>
              <p:cNvSpPr txBox="1"/>
              <p:nvPr/>
            </p:nvSpPr>
            <p:spPr>
              <a:xfrm>
                <a:off x="1568463" y="5596867"/>
                <a:ext cx="37338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altLang="zh-CN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B6161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𝑎</m:t>
                      </m:r>
                      <m:r>
                        <a:rPr kumimoji="0" lang="en-US" altLang="zh-CN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B6161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=0.1, </m:t>
                      </m:r>
                      <m:r>
                        <a:rPr kumimoji="0" lang="en-US" altLang="zh-CN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B6161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𝑏</m:t>
                      </m:r>
                      <m:r>
                        <a:rPr kumimoji="0" lang="en-US" altLang="zh-CN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B6161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=5</m:t>
                      </m:r>
                    </m:oMath>
                  </m:oMathPara>
                </a14:m>
                <a:endParaRPr kumimoji="0" lang="zh-CN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B61616"/>
                  </a:solidFill>
                  <a:effectLst/>
                  <a:uLnTx/>
                  <a:uFillTx/>
                  <a:latin typeface="Book Antiqua"/>
                  <a:ea typeface="黑体"/>
                  <a:cs typeface="+mn-cs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65189C4-3B26-4947-949C-594F0F34B0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8463" y="5596867"/>
                <a:ext cx="3733800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A93FE0F-2E19-4BC3-9ACA-2B7E02DD8699}"/>
                  </a:ext>
                </a:extLst>
              </p:cNvPr>
              <p:cNvSpPr txBox="1"/>
              <p:nvPr/>
            </p:nvSpPr>
            <p:spPr>
              <a:xfrm>
                <a:off x="7295185" y="5596867"/>
                <a:ext cx="37338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altLang="zh-CN" sz="3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B6161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𝑎</m:t>
                      </m:r>
                      <m:r>
                        <a:rPr kumimoji="0" lang="en-US" altLang="zh-CN" sz="3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B6161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=0.3, </m:t>
                      </m:r>
                      <m:r>
                        <a:rPr kumimoji="0" lang="en-US" altLang="zh-CN" sz="3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B6161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𝑏</m:t>
                      </m:r>
                      <m:r>
                        <a:rPr kumimoji="0" lang="en-US" altLang="zh-CN" sz="3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B6161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=5</m:t>
                      </m:r>
                    </m:oMath>
                  </m:oMathPara>
                </a14:m>
                <a:endParaRPr kumimoji="0" lang="zh-CN" altLang="en-US" sz="3200" b="0" i="1" u="none" strike="noStrike" kern="1200" cap="none" spc="0" normalizeH="0" baseline="0" noProof="0" dirty="0">
                  <a:ln>
                    <a:noFill/>
                  </a:ln>
                  <a:solidFill>
                    <a:srgbClr val="B61616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/>
                  <a:cs typeface="+mn-cs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A93FE0F-2E19-4BC3-9ACA-2B7E02DD86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5185" y="5596867"/>
                <a:ext cx="3733800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84F74693-CA0E-420A-18D9-CCB5DD7077F1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8"/>
          <a:stretch/>
        </p:blipFill>
        <p:spPr>
          <a:xfrm>
            <a:off x="960698" y="2057233"/>
            <a:ext cx="5135301" cy="365104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57DEF8D-5275-5895-B650-AFEF5F052D23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8"/>
          <a:stretch/>
        </p:blipFill>
        <p:spPr>
          <a:xfrm>
            <a:off x="6489484" y="2054185"/>
            <a:ext cx="5178066" cy="365104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1F0CCA3-963F-EC24-B774-C1A9D159F01E}"/>
              </a:ext>
            </a:extLst>
          </p:cNvPr>
          <p:cNvSpPr txBox="1"/>
          <p:nvPr/>
        </p:nvSpPr>
        <p:spPr>
          <a:xfrm>
            <a:off x="251012" y="1703294"/>
            <a:ext cx="3128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000" dirty="0"/>
              <a:t>请问：哪个函数更高频？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5866689-FA53-93E3-C45E-2AFF7EC0C0DD}"/>
              </a:ext>
            </a:extLst>
          </p:cNvPr>
          <p:cNvSpPr txBox="1"/>
          <p:nvPr/>
        </p:nvSpPr>
        <p:spPr>
          <a:xfrm>
            <a:off x="4139325" y="3030792"/>
            <a:ext cx="12828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000" dirty="0"/>
              <a:t>频率空间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0153F26-158D-BBD9-BE10-56B1A78B31FF}"/>
              </a:ext>
            </a:extLst>
          </p:cNvPr>
          <p:cNvSpPr txBox="1"/>
          <p:nvPr/>
        </p:nvSpPr>
        <p:spPr>
          <a:xfrm>
            <a:off x="9814833" y="3046486"/>
            <a:ext cx="12828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000" dirty="0"/>
              <a:t>频率空间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9382D89-BEC8-1E9E-B3C8-EA20C00C01BA}"/>
              </a:ext>
            </a:extLst>
          </p:cNvPr>
          <p:cNvSpPr txBox="1"/>
          <p:nvPr/>
        </p:nvSpPr>
        <p:spPr>
          <a:xfrm>
            <a:off x="251012" y="3479598"/>
            <a:ext cx="8266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000" dirty="0">
                <a:solidFill>
                  <a:schemeClr val="tx2"/>
                </a:solidFill>
              </a:rPr>
              <a:t>振幅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FFC64F9-55BE-D60F-8796-A70EFF1A1188}"/>
              </a:ext>
            </a:extLst>
          </p:cNvPr>
          <p:cNvSpPr txBox="1"/>
          <p:nvPr/>
        </p:nvSpPr>
        <p:spPr>
          <a:xfrm>
            <a:off x="5782007" y="3476345"/>
            <a:ext cx="8266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000" dirty="0">
                <a:solidFill>
                  <a:schemeClr val="tx2"/>
                </a:solidFill>
              </a:rPr>
              <a:t>振幅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CA77386-B939-9041-6ECF-4C48FCEBAAC9}"/>
              </a:ext>
            </a:extLst>
          </p:cNvPr>
          <p:cNvSpPr txBox="1"/>
          <p:nvPr/>
        </p:nvSpPr>
        <p:spPr>
          <a:xfrm>
            <a:off x="9918700" y="123928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400" dirty="0">
                <a:solidFill>
                  <a:schemeClr val="bg1">
                    <a:lumMod val="65000"/>
                  </a:schemeClr>
                </a:solidFill>
              </a:rPr>
              <a:t>阅读材料</a:t>
            </a:r>
          </a:p>
        </p:txBody>
      </p:sp>
    </p:spTree>
    <p:extLst>
      <p:ext uri="{BB962C8B-B14F-4D97-AF65-F5344CB8AC3E}">
        <p14:creationId xmlns:p14="http://schemas.microsoft.com/office/powerpoint/2010/main" val="29023916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9BD598-F89B-4C66-8168-468EC76C5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采用非单调激活函数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A86C3A3F-07D5-4173-B60E-655A5788AF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func>
                        <m:funcPr>
                          <m:ctrl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num>
                                        <m:den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A86C3A3F-07D5-4173-B60E-655A5788AF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84F74693-CA0E-420A-18D9-CCB5DD7077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4858" y="2057233"/>
            <a:ext cx="5476570" cy="365104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57DEF8D-5275-5895-B650-AFEF5F052D2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4"/>
          <a:stretch/>
        </p:blipFill>
        <p:spPr>
          <a:xfrm>
            <a:off x="6481822" y="2054185"/>
            <a:ext cx="5181155" cy="36510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A9C70B2-9D48-A68D-B3A3-DA4106E43820}"/>
                  </a:ext>
                </a:extLst>
              </p:cNvPr>
              <p:cNvSpPr txBox="1"/>
              <p:nvPr/>
            </p:nvSpPr>
            <p:spPr>
              <a:xfrm>
                <a:off x="4314936" y="5705232"/>
                <a:ext cx="37338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altLang="zh-CN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B6161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𝑎</m:t>
                      </m:r>
                      <m:r>
                        <a:rPr kumimoji="0" lang="en-US" altLang="zh-CN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B6161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=0.1, </m:t>
                      </m:r>
                      <m:r>
                        <a:rPr kumimoji="0" lang="en-US" altLang="zh-CN" sz="3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B6161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𝑏</m:t>
                      </m:r>
                      <m:r>
                        <a:rPr kumimoji="0" lang="en-US" altLang="zh-CN" sz="3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B6161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=5</m:t>
                      </m:r>
                    </m:oMath>
                  </m:oMathPara>
                </a14:m>
                <a:endParaRPr kumimoji="0" lang="zh-CN" altLang="en-US" sz="3200" b="0" i="1" u="none" strike="noStrike" kern="1200" cap="none" spc="0" normalizeH="0" baseline="0" noProof="0" dirty="0">
                  <a:ln>
                    <a:noFill/>
                  </a:ln>
                  <a:solidFill>
                    <a:srgbClr val="B61616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/>
                  <a:cs typeface="+mn-cs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A9C70B2-9D48-A68D-B3A3-DA4106E438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4936" y="5705232"/>
                <a:ext cx="3733800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308EFF5D-8CCF-F87F-83AE-3B8D2C6F6E1C}"/>
              </a:ext>
            </a:extLst>
          </p:cNvPr>
          <p:cNvSpPr txBox="1"/>
          <p:nvPr/>
        </p:nvSpPr>
        <p:spPr>
          <a:xfrm>
            <a:off x="251012" y="1703294"/>
            <a:ext cx="3128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000" dirty="0"/>
              <a:t>函数形状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B622F5E-8C85-FF0D-67E8-8601D26EC38F}"/>
              </a:ext>
            </a:extLst>
          </p:cNvPr>
          <p:cNvSpPr txBox="1"/>
          <p:nvPr/>
        </p:nvSpPr>
        <p:spPr>
          <a:xfrm>
            <a:off x="9814833" y="3046486"/>
            <a:ext cx="12828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000" dirty="0"/>
              <a:t>频率空间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C60A67C-8CFF-DDD8-75CD-F0777ECF2A54}"/>
              </a:ext>
            </a:extLst>
          </p:cNvPr>
          <p:cNvSpPr txBox="1"/>
          <p:nvPr/>
        </p:nvSpPr>
        <p:spPr>
          <a:xfrm>
            <a:off x="5782007" y="3476345"/>
            <a:ext cx="8266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000" dirty="0">
                <a:solidFill>
                  <a:schemeClr val="tx2"/>
                </a:solidFill>
              </a:rPr>
              <a:t>振幅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4CBE9AA-C1A9-A8BA-1C97-714E1BAD451A}"/>
              </a:ext>
            </a:extLst>
          </p:cNvPr>
          <p:cNvSpPr txBox="1"/>
          <p:nvPr/>
        </p:nvSpPr>
        <p:spPr>
          <a:xfrm>
            <a:off x="9918700" y="123928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400" dirty="0">
                <a:solidFill>
                  <a:schemeClr val="bg1">
                    <a:lumMod val="65000"/>
                  </a:schemeClr>
                </a:solidFill>
              </a:rPr>
              <a:t>阅读材料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3B77319-BB18-68AF-6FDF-E70FAF6BB461}"/>
              </a:ext>
            </a:extLst>
          </p:cNvPr>
          <p:cNvSpPr txBox="1"/>
          <p:nvPr/>
        </p:nvSpPr>
        <p:spPr>
          <a:xfrm>
            <a:off x="4314936" y="290578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800" dirty="0"/>
              <a:t>高频</a:t>
            </a:r>
          </a:p>
        </p:txBody>
      </p:sp>
    </p:spTree>
    <p:extLst>
      <p:ext uri="{BB962C8B-B14F-4D97-AF65-F5344CB8AC3E}">
        <p14:creationId xmlns:p14="http://schemas.microsoft.com/office/powerpoint/2010/main" val="99520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9BD598-F89B-4C66-8168-468EC76C5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采用非单调激活函数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A86C3A3F-07D5-4173-B60E-655A5788AF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func>
                        <m:funcPr>
                          <m:ctrl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num>
                                        <m:den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A86C3A3F-07D5-4173-B60E-655A5788AF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A93FE0F-2E19-4BC3-9ACA-2B7E02DD8699}"/>
                  </a:ext>
                </a:extLst>
              </p:cNvPr>
              <p:cNvSpPr txBox="1"/>
              <p:nvPr/>
            </p:nvSpPr>
            <p:spPr>
              <a:xfrm>
                <a:off x="4314936" y="5705232"/>
                <a:ext cx="37338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altLang="zh-CN" sz="3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B6161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𝑎</m:t>
                      </m:r>
                      <m:r>
                        <a:rPr kumimoji="0" lang="en-US" altLang="zh-CN" sz="3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B6161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=0.3, </m:t>
                      </m:r>
                      <m:r>
                        <a:rPr kumimoji="0" lang="en-US" altLang="zh-CN" sz="3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B6161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𝑏</m:t>
                      </m:r>
                      <m:r>
                        <a:rPr kumimoji="0" lang="en-US" altLang="zh-CN" sz="3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B6161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=5</m:t>
                      </m:r>
                    </m:oMath>
                  </m:oMathPara>
                </a14:m>
                <a:endParaRPr kumimoji="0" lang="zh-CN" altLang="en-US" sz="3200" b="0" i="1" u="none" strike="noStrike" kern="1200" cap="none" spc="0" normalizeH="0" baseline="0" noProof="0" dirty="0">
                  <a:ln>
                    <a:noFill/>
                  </a:ln>
                  <a:solidFill>
                    <a:srgbClr val="B61616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/>
                  <a:cs typeface="+mn-cs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A93FE0F-2E19-4BC3-9ACA-2B7E02DD86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4936" y="5705232"/>
                <a:ext cx="3733800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84F74693-CA0E-420A-18D9-CCB5DD7077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4858" y="2057233"/>
            <a:ext cx="5476570" cy="365104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57DEF8D-5275-5895-B650-AFEF5F052D23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91"/>
          <a:stretch/>
        </p:blipFill>
        <p:spPr>
          <a:xfrm>
            <a:off x="6504972" y="2054185"/>
            <a:ext cx="5162578" cy="365104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E73D805-A06C-9378-E348-BA8A8C888BF0}"/>
              </a:ext>
            </a:extLst>
          </p:cNvPr>
          <p:cNvSpPr txBox="1"/>
          <p:nvPr/>
        </p:nvSpPr>
        <p:spPr>
          <a:xfrm>
            <a:off x="251012" y="1703294"/>
            <a:ext cx="3128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000" dirty="0"/>
              <a:t>函数形状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A09FBE5-2732-BA82-0E94-5DB4B0D0D199}"/>
              </a:ext>
            </a:extLst>
          </p:cNvPr>
          <p:cNvSpPr txBox="1"/>
          <p:nvPr/>
        </p:nvSpPr>
        <p:spPr>
          <a:xfrm>
            <a:off x="9814833" y="3046486"/>
            <a:ext cx="12828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000" dirty="0"/>
              <a:t>频率空间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0E04A7A-D6E9-5737-EE12-B1E32420723A}"/>
              </a:ext>
            </a:extLst>
          </p:cNvPr>
          <p:cNvSpPr txBox="1"/>
          <p:nvPr/>
        </p:nvSpPr>
        <p:spPr>
          <a:xfrm>
            <a:off x="5782007" y="3476345"/>
            <a:ext cx="8266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000" dirty="0">
                <a:solidFill>
                  <a:schemeClr val="tx2"/>
                </a:solidFill>
              </a:rPr>
              <a:t>振幅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BFC92D9-E2FA-140E-1821-5437431FF456}"/>
              </a:ext>
            </a:extLst>
          </p:cNvPr>
          <p:cNvSpPr txBox="1"/>
          <p:nvPr/>
        </p:nvSpPr>
        <p:spPr>
          <a:xfrm>
            <a:off x="9918700" y="123928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400" dirty="0">
                <a:solidFill>
                  <a:schemeClr val="bg1">
                    <a:lumMod val="65000"/>
                  </a:schemeClr>
                </a:solidFill>
              </a:rPr>
              <a:t>阅读材料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BF9EC77-E24B-BFA3-8DAE-18DB3D0882CF}"/>
              </a:ext>
            </a:extLst>
          </p:cNvPr>
          <p:cNvSpPr txBox="1"/>
          <p:nvPr/>
        </p:nvSpPr>
        <p:spPr>
          <a:xfrm>
            <a:off x="4314936" y="290578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800" dirty="0"/>
              <a:t>低频</a:t>
            </a:r>
          </a:p>
        </p:txBody>
      </p:sp>
    </p:spTree>
    <p:extLst>
      <p:ext uri="{BB962C8B-B14F-4D97-AF65-F5344CB8AC3E}">
        <p14:creationId xmlns:p14="http://schemas.microsoft.com/office/powerpoint/2010/main" val="13416186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207E99-5600-424F-97FC-4EFD04B80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630" y="64716"/>
            <a:ext cx="11752041" cy="589080"/>
          </a:xfrm>
        </p:spPr>
        <p:txBody>
          <a:bodyPr/>
          <a:lstStyle/>
          <a:p>
            <a:r>
              <a:rPr lang="zh-CN" altLang="en-US" dirty="0"/>
              <a:t>满足频率原则，光滑插值，泛化好</a:t>
            </a:r>
          </a:p>
        </p:txBody>
      </p:sp>
      <p:pic>
        <p:nvPicPr>
          <p:cNvPr id="8" name="内容占位符 4">
            <a:extLst>
              <a:ext uri="{FF2B5EF4-FFF2-40B4-BE49-F238E27FC236}">
                <a16:creationId xmlns:a16="http://schemas.microsoft.com/office/drawing/2014/main" id="{B2F530A9-482A-41D3-A119-4732AE68B2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89637" y="2376517"/>
            <a:ext cx="2987251" cy="1987281"/>
          </a:xfrm>
          <a:prstGeom prst="rect">
            <a:avLst/>
          </a:prstGeom>
        </p:spPr>
      </p:pic>
      <p:pic>
        <p:nvPicPr>
          <p:cNvPr id="9" name="内容占位符 4">
            <a:extLst>
              <a:ext uri="{FF2B5EF4-FFF2-40B4-BE49-F238E27FC236}">
                <a16:creationId xmlns:a16="http://schemas.microsoft.com/office/drawing/2014/main" id="{00A7B7B8-BB3A-4A4F-9C6E-8EA65F95FB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11458" y="2376066"/>
            <a:ext cx="3051741" cy="2038715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4930BEE5-67F7-44A8-8C1E-DFCCC18356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2533" y="2309397"/>
            <a:ext cx="2639525" cy="1768103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36E2851-4C6B-424A-B792-C0127A115C9F}"/>
              </a:ext>
            </a:extLst>
          </p:cNvPr>
          <p:cNvSpPr/>
          <p:nvPr/>
        </p:nvSpPr>
        <p:spPr>
          <a:xfrm>
            <a:off x="10442574" y="6438873"/>
            <a:ext cx="16466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B61616"/>
                </a:solidFill>
                <a:effectLst/>
                <a:uLnTx/>
                <a:uFillTx/>
                <a:latin typeface="Book Antiqua"/>
                <a:ea typeface="黑体"/>
                <a:cs typeface="+mn-cs"/>
              </a:rPr>
              <a:t>220911183904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B61616"/>
              </a:solidFill>
              <a:effectLst/>
              <a:uLnTx/>
              <a:uFillTx/>
              <a:latin typeface="Book Antiqua"/>
              <a:ea typeface="黑体"/>
              <a:cs typeface="+mn-cs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F69F509-70FB-836D-F967-DAD142CC3EE6}"/>
              </a:ext>
            </a:extLst>
          </p:cNvPr>
          <p:cNvSpPr txBox="1"/>
          <p:nvPr/>
        </p:nvSpPr>
        <p:spPr>
          <a:xfrm>
            <a:off x="1612239" y="4133401"/>
            <a:ext cx="2263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61616"/>
                </a:solidFill>
                <a:effectLst/>
                <a:uLnTx/>
                <a:uFillTx/>
                <a:latin typeface="Book Antiqua"/>
                <a:ea typeface="黑体"/>
                <a:cs typeface="+mn-cs"/>
              </a:rPr>
              <a:t>三个主频的相对衰减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51CDB07-0DAF-9CDE-EF03-2904F342AAD5}"/>
              </a:ext>
            </a:extLst>
          </p:cNvPr>
          <p:cNvSpPr txBox="1"/>
          <p:nvPr/>
        </p:nvSpPr>
        <p:spPr>
          <a:xfrm>
            <a:off x="1514004" y="1785787"/>
            <a:ext cx="2558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61616"/>
                </a:solidFill>
                <a:effectLst/>
                <a:uLnTx/>
                <a:uFillTx/>
                <a:latin typeface="Book Antiqua"/>
                <a:ea typeface="黑体"/>
                <a:cs typeface="+mn-cs"/>
              </a:rPr>
              <a:t>低频先收敛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F9F8FFE-A08A-D3DF-D130-F05CC1BB377C}"/>
              </a:ext>
            </a:extLst>
          </p:cNvPr>
          <p:cNvSpPr txBox="1"/>
          <p:nvPr/>
        </p:nvSpPr>
        <p:spPr>
          <a:xfrm>
            <a:off x="9918700" y="123928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400" dirty="0">
                <a:solidFill>
                  <a:schemeClr val="bg1">
                    <a:lumMod val="65000"/>
                  </a:schemeClr>
                </a:solidFill>
              </a:rPr>
              <a:t>阅读材料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BBEAF6E3-BAFF-9346-9974-FF1383B101D2}"/>
                  </a:ext>
                </a:extLst>
              </p:cNvPr>
              <p:cNvSpPr txBox="1"/>
              <p:nvPr/>
            </p:nvSpPr>
            <p:spPr>
              <a:xfrm>
                <a:off x="3942675" y="923623"/>
                <a:ext cx="440595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zh-CN" altLang="en-US" sz="2000" dirty="0">
                    <a:solidFill>
                      <a:schemeClr val="tx2"/>
                    </a:solidFill>
                  </a:rPr>
                  <a:t>目标函数：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zh-CN" sz="2000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zh-CN" sz="2000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kumimoji="1"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kumimoji="1" lang="en-US" altLang="zh-CN" sz="2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kumimoji="1" lang="en-US" altLang="zh-CN" sz="2000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zh-CN" sz="2000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kumimoji="1"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kumimoji="1"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kumimoji="1" lang="en-US" altLang="zh-CN" sz="2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kumimoji="1" lang="en-US" altLang="zh-CN" sz="2000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kumimoji="1" lang="en-US" altLang="zh-CN" sz="2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⁡(5</m:t>
                    </m:r>
                    <m:r>
                      <a:rPr kumimoji="1" lang="en-US" altLang="zh-CN" sz="2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zh-CN" sz="20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BBEAF6E3-BAFF-9346-9974-FF1383B101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675" y="923623"/>
                <a:ext cx="4405950" cy="400110"/>
              </a:xfrm>
              <a:prstGeom prst="rect">
                <a:avLst/>
              </a:prstGeom>
              <a:blipFill>
                <a:blip r:embed="rId7"/>
                <a:stretch>
                  <a:fillRect l="-1437" t="-12121"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>
            <a:extLst>
              <a:ext uri="{FF2B5EF4-FFF2-40B4-BE49-F238E27FC236}">
                <a16:creationId xmlns:a16="http://schemas.microsoft.com/office/drawing/2014/main" id="{10EA6048-05D2-EA47-C4F9-1F35C37312FA}"/>
              </a:ext>
            </a:extLst>
          </p:cNvPr>
          <p:cNvSpPr txBox="1"/>
          <p:nvPr/>
        </p:nvSpPr>
        <p:spPr>
          <a:xfrm>
            <a:off x="5123381" y="1788571"/>
            <a:ext cx="2558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61616"/>
                </a:solidFill>
                <a:effectLst/>
                <a:uLnTx/>
                <a:uFillTx/>
                <a:latin typeface="Book Antiqua"/>
                <a:ea typeface="黑体"/>
                <a:cs typeface="+mn-cs"/>
              </a:rPr>
              <a:t>训练集结果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28703F7-9A4E-AE7E-5CAF-740933053EC5}"/>
              </a:ext>
            </a:extLst>
          </p:cNvPr>
          <p:cNvSpPr txBox="1"/>
          <p:nvPr/>
        </p:nvSpPr>
        <p:spPr>
          <a:xfrm>
            <a:off x="8204467" y="1784876"/>
            <a:ext cx="2739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61616"/>
                </a:solidFill>
                <a:effectLst/>
                <a:uLnTx/>
                <a:uFillTx/>
                <a:latin typeface="Book Antiqua"/>
                <a:ea typeface="黑体"/>
                <a:cs typeface="+mn-cs"/>
              </a:rPr>
              <a:t>测试集结果和训练集类似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2BF09ED-2409-589C-CF86-6C1636FDD358}"/>
              </a:ext>
            </a:extLst>
          </p:cNvPr>
          <p:cNvSpPr txBox="1"/>
          <p:nvPr/>
        </p:nvSpPr>
        <p:spPr>
          <a:xfrm>
            <a:off x="4001473" y="5386811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3200" dirty="0">
                <a:solidFill>
                  <a:schemeClr val="tx2"/>
                </a:solidFill>
              </a:rPr>
              <a:t>采用低频的激活函数！</a:t>
            </a:r>
          </a:p>
        </p:txBody>
      </p:sp>
    </p:spTree>
    <p:extLst>
      <p:ext uri="{BB962C8B-B14F-4D97-AF65-F5344CB8AC3E}">
        <p14:creationId xmlns:p14="http://schemas.microsoft.com/office/powerpoint/2010/main" val="18214868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207E99-5600-424F-97FC-4EFD04B80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630" y="64716"/>
            <a:ext cx="11752041" cy="589080"/>
          </a:xfrm>
        </p:spPr>
        <p:txBody>
          <a:bodyPr/>
          <a:lstStyle/>
          <a:p>
            <a:r>
              <a:rPr lang="zh-CN" altLang="en-US" dirty="0"/>
              <a:t>违背频率原则，振荡插值，泛化差</a:t>
            </a:r>
          </a:p>
        </p:txBody>
      </p:sp>
      <p:pic>
        <p:nvPicPr>
          <p:cNvPr id="8" name="内容占位符 4">
            <a:extLst>
              <a:ext uri="{FF2B5EF4-FFF2-40B4-BE49-F238E27FC236}">
                <a16:creationId xmlns:a16="http://schemas.microsoft.com/office/drawing/2014/main" id="{B2F530A9-482A-41D3-A119-4732AE68B2E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9637" y="2376067"/>
            <a:ext cx="2987251" cy="1988182"/>
          </a:xfrm>
          <a:prstGeom prst="rect">
            <a:avLst/>
          </a:prstGeom>
        </p:spPr>
      </p:pic>
      <p:pic>
        <p:nvPicPr>
          <p:cNvPr id="9" name="内容占位符 4">
            <a:extLst>
              <a:ext uri="{FF2B5EF4-FFF2-40B4-BE49-F238E27FC236}">
                <a16:creationId xmlns:a16="http://schemas.microsoft.com/office/drawing/2014/main" id="{00A7B7B8-BB3A-4A4F-9C6E-8EA65F95FB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740" y="2376066"/>
            <a:ext cx="3063177" cy="2038715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4930BEE5-67F7-44A8-8C1E-DFCCC183564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004" y="2309397"/>
            <a:ext cx="2656583" cy="1768103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36E2851-4C6B-424A-B792-C0127A115C9F}"/>
              </a:ext>
            </a:extLst>
          </p:cNvPr>
          <p:cNvSpPr/>
          <p:nvPr/>
        </p:nvSpPr>
        <p:spPr>
          <a:xfrm>
            <a:off x="10442574" y="6438873"/>
            <a:ext cx="16466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B61616"/>
                </a:solidFill>
                <a:effectLst/>
                <a:uLnTx/>
                <a:uFillTx/>
                <a:latin typeface="Book Antiqua"/>
                <a:ea typeface="黑体"/>
                <a:cs typeface="+mn-cs"/>
              </a:rPr>
              <a:t>220911183904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B61616"/>
              </a:solidFill>
              <a:effectLst/>
              <a:uLnTx/>
              <a:uFillTx/>
              <a:latin typeface="Book Antiqua"/>
              <a:ea typeface="黑体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51CDB07-0DAF-9CDE-EF03-2904F342AAD5}"/>
              </a:ext>
            </a:extLst>
          </p:cNvPr>
          <p:cNvSpPr txBox="1"/>
          <p:nvPr/>
        </p:nvSpPr>
        <p:spPr>
          <a:xfrm>
            <a:off x="1514004" y="1785787"/>
            <a:ext cx="2558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61616"/>
                </a:solidFill>
                <a:effectLst/>
                <a:uLnTx/>
                <a:uFillTx/>
                <a:latin typeface="Book Antiqua"/>
                <a:ea typeface="黑体"/>
                <a:cs typeface="+mn-cs"/>
              </a:rPr>
              <a:t>所有频率学习速率相似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F9F8FFE-A08A-D3DF-D130-F05CC1BB377C}"/>
              </a:ext>
            </a:extLst>
          </p:cNvPr>
          <p:cNvSpPr txBox="1"/>
          <p:nvPr/>
        </p:nvSpPr>
        <p:spPr>
          <a:xfrm>
            <a:off x="9918700" y="123928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400" dirty="0">
                <a:solidFill>
                  <a:schemeClr val="bg1">
                    <a:lumMod val="65000"/>
                  </a:schemeClr>
                </a:solidFill>
              </a:rPr>
              <a:t>阅读材料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BBEAF6E3-BAFF-9346-9974-FF1383B101D2}"/>
                  </a:ext>
                </a:extLst>
              </p:cNvPr>
              <p:cNvSpPr txBox="1"/>
              <p:nvPr/>
            </p:nvSpPr>
            <p:spPr>
              <a:xfrm>
                <a:off x="3942675" y="923623"/>
                <a:ext cx="440595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zh-CN" altLang="en-US" sz="2000" dirty="0">
                    <a:solidFill>
                      <a:schemeClr val="tx2"/>
                    </a:solidFill>
                  </a:rPr>
                  <a:t>目标函数：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zh-CN" sz="2000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zh-CN" sz="2000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kumimoji="1"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kumimoji="1" lang="en-US" altLang="zh-CN" sz="2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kumimoji="1" lang="en-US" altLang="zh-CN" sz="2000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zh-CN" sz="2000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kumimoji="1"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kumimoji="1" lang="en-US" altLang="zh-CN" sz="2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kumimoji="1" lang="en-US" altLang="zh-CN" sz="2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kumimoji="1" lang="en-US" altLang="zh-CN" sz="2000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kumimoji="1" lang="en-US" altLang="zh-CN" sz="2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⁡(5</m:t>
                    </m:r>
                    <m:r>
                      <a:rPr kumimoji="1" lang="en-US" altLang="zh-CN" sz="2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zh-CN" sz="20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BBEAF6E3-BAFF-9346-9974-FF1383B101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675" y="923623"/>
                <a:ext cx="4405950" cy="400110"/>
              </a:xfrm>
              <a:prstGeom prst="rect">
                <a:avLst/>
              </a:prstGeom>
              <a:blipFill>
                <a:blip r:embed="rId7"/>
                <a:stretch>
                  <a:fillRect l="-1437" t="-12121"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>
            <a:extLst>
              <a:ext uri="{FF2B5EF4-FFF2-40B4-BE49-F238E27FC236}">
                <a16:creationId xmlns:a16="http://schemas.microsoft.com/office/drawing/2014/main" id="{10EA6048-05D2-EA47-C4F9-1F35C37312FA}"/>
              </a:ext>
            </a:extLst>
          </p:cNvPr>
          <p:cNvSpPr txBox="1"/>
          <p:nvPr/>
        </p:nvSpPr>
        <p:spPr>
          <a:xfrm>
            <a:off x="5123381" y="1788571"/>
            <a:ext cx="2558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61616"/>
                </a:solidFill>
                <a:effectLst/>
                <a:uLnTx/>
                <a:uFillTx/>
                <a:latin typeface="Book Antiqua"/>
                <a:ea typeface="黑体"/>
                <a:cs typeface="+mn-cs"/>
              </a:rPr>
              <a:t>训练集可以完美拟合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28703F7-9A4E-AE7E-5CAF-740933053EC5}"/>
              </a:ext>
            </a:extLst>
          </p:cNvPr>
          <p:cNvSpPr txBox="1"/>
          <p:nvPr/>
        </p:nvSpPr>
        <p:spPr>
          <a:xfrm>
            <a:off x="8385158" y="1784876"/>
            <a:ext cx="2558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61616"/>
                </a:solidFill>
                <a:effectLst/>
                <a:uLnTx/>
                <a:uFillTx/>
                <a:latin typeface="Book Antiqua"/>
                <a:ea typeface="黑体"/>
                <a:cs typeface="+mn-cs"/>
              </a:rPr>
              <a:t>测试集极其振荡！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2BF09ED-2409-589C-CF86-6C1636FDD358}"/>
              </a:ext>
            </a:extLst>
          </p:cNvPr>
          <p:cNvSpPr txBox="1"/>
          <p:nvPr/>
        </p:nvSpPr>
        <p:spPr>
          <a:xfrm>
            <a:off x="4001473" y="5386811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3200" dirty="0">
                <a:solidFill>
                  <a:schemeClr val="tx2"/>
                </a:solidFill>
              </a:rPr>
              <a:t>采用</a:t>
            </a:r>
            <a:r>
              <a:rPr kumimoji="1" lang="zh-CN" altLang="en-US" sz="3200" dirty="0">
                <a:solidFill>
                  <a:schemeClr val="accent1"/>
                </a:solidFill>
              </a:rPr>
              <a:t>高频</a:t>
            </a:r>
            <a:r>
              <a:rPr kumimoji="1" lang="zh-CN" altLang="en-US" sz="3200" dirty="0">
                <a:solidFill>
                  <a:schemeClr val="tx2"/>
                </a:solidFill>
              </a:rPr>
              <a:t>的激活函数！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8FBEFEC-5C3A-EB4A-767B-CF9D2390B42A}"/>
              </a:ext>
            </a:extLst>
          </p:cNvPr>
          <p:cNvSpPr txBox="1"/>
          <p:nvPr/>
        </p:nvSpPr>
        <p:spPr>
          <a:xfrm>
            <a:off x="1612239" y="4133401"/>
            <a:ext cx="2263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61616"/>
                </a:solidFill>
                <a:effectLst/>
                <a:uLnTx/>
                <a:uFillTx/>
                <a:latin typeface="Book Antiqua"/>
                <a:ea typeface="黑体"/>
                <a:cs typeface="+mn-cs"/>
              </a:rPr>
              <a:t>三个主频的相对衰减</a:t>
            </a:r>
          </a:p>
        </p:txBody>
      </p:sp>
    </p:spTree>
    <p:extLst>
      <p:ext uri="{BB962C8B-B14F-4D97-AF65-F5344CB8AC3E}">
        <p14:creationId xmlns:p14="http://schemas.microsoft.com/office/powerpoint/2010/main" val="21000795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8555F-1597-E589-FE4E-C51EC1780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1950FEC2-73DC-DE13-F18E-157D379B4EB5}"/>
              </a:ext>
            </a:extLst>
          </p:cNvPr>
          <p:cNvSpPr txBox="1"/>
          <p:nvPr/>
        </p:nvSpPr>
        <p:spPr>
          <a:xfrm>
            <a:off x="1" y="2782669"/>
            <a:ext cx="121919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提供的代码可以复现一维频率原则实验</a:t>
            </a:r>
            <a:endParaRPr lang="en-US" altLang="zh-CN" sz="36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36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3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若讲理论，可减少课堂的实验时间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FE789B5-062B-3146-A0DA-0CDA7C60F7DC}"/>
              </a:ext>
            </a:extLst>
          </p:cNvPr>
          <p:cNvSpPr txBox="1"/>
          <p:nvPr/>
        </p:nvSpPr>
        <p:spPr>
          <a:xfrm>
            <a:off x="63500" y="6435334"/>
            <a:ext cx="79243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 </a:t>
            </a:r>
            <a:r>
              <a:rPr lang="en-US" altLang="zh-CN" sz="1400" dirty="0">
                <a:solidFill>
                  <a:schemeClr val="bg1"/>
                </a:solidFill>
              </a:rPr>
              <a:t>《</a:t>
            </a:r>
            <a:r>
              <a:rPr lang="zh-CN" altLang="en-US" sz="1400" dirty="0">
                <a:solidFill>
                  <a:schemeClr val="bg1"/>
                </a:solidFill>
              </a:rPr>
              <a:t>深度学习现象导论</a:t>
            </a:r>
            <a:r>
              <a:rPr lang="en-US" altLang="zh-CN" sz="1400" dirty="0">
                <a:solidFill>
                  <a:schemeClr val="bg1"/>
                </a:solidFill>
              </a:rPr>
              <a:t>》 </a:t>
            </a:r>
            <a:r>
              <a:rPr lang="zh-CN" altLang="en-US" sz="1400" dirty="0">
                <a:solidFill>
                  <a:schemeClr val="bg1"/>
                </a:solidFill>
              </a:rPr>
              <a:t>许志钦、张耀宇</a:t>
            </a:r>
          </a:p>
        </p:txBody>
      </p:sp>
    </p:spTree>
    <p:extLst>
      <p:ext uri="{BB962C8B-B14F-4D97-AF65-F5344CB8AC3E}">
        <p14:creationId xmlns:p14="http://schemas.microsoft.com/office/powerpoint/2010/main" val="26958369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5|8.9|9.1|10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8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3.4|46.5|10|34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3.4|46.5|10|34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0.9|29.8|40.8|86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5.6|2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6.3|2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7.8|66.7|7.6|31.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5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6|33.5|58.3|8.8"/>
</p:tagLst>
</file>

<file path=ppt/theme/theme1.xml><?xml version="1.0" encoding="utf-8"?>
<a:theme xmlns:a="http://schemas.openxmlformats.org/drawingml/2006/main" name="1_自定义设计方案">
  <a:themeElements>
    <a:clrScheme name="潘冬远waxy">
      <a:dk1>
        <a:srgbClr val="B61616"/>
      </a:dk1>
      <a:lt1>
        <a:srgbClr val="FFFFFF"/>
      </a:lt1>
      <a:dk2>
        <a:srgbClr val="242C2D"/>
      </a:dk2>
      <a:lt2>
        <a:srgbClr val="133984"/>
      </a:lt2>
      <a:accent1>
        <a:srgbClr val="D73C1E"/>
      </a:accent1>
      <a:accent2>
        <a:srgbClr val="3769AF"/>
      </a:accent2>
      <a:accent3>
        <a:srgbClr val="EBAA05"/>
      </a:accent3>
      <a:accent4>
        <a:srgbClr val="A0B932"/>
      </a:accent4>
      <a:accent5>
        <a:srgbClr val="82B9BE"/>
      </a:accent5>
      <a:accent6>
        <a:srgbClr val="B4915F"/>
      </a:accent6>
      <a:hlink>
        <a:srgbClr val="196E7D"/>
      </a:hlink>
      <a:folHlink>
        <a:srgbClr val="BEBEBE"/>
      </a:folHlink>
    </a:clrScheme>
    <a:fontScheme name="SJTU标准I">
      <a:majorFont>
        <a:latin typeface="Book Antiqua"/>
        <a:ea typeface="黑体"/>
        <a:cs typeface=""/>
      </a:majorFont>
      <a:minorFont>
        <a:latin typeface="Book Antiqua"/>
        <a:ea typeface="黑体"/>
        <a:cs typeface=""/>
      </a:minorFont>
    </a:fontScheme>
    <a:fmtScheme name="光面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8100">
          <a:solidFill>
            <a:srgbClr val="C0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5168</TotalTime>
  <Words>2772</Words>
  <Application>Microsoft Office PowerPoint</Application>
  <PresentationFormat>宽屏</PresentationFormat>
  <Paragraphs>295</Paragraphs>
  <Slides>51</Slides>
  <Notes>2</Notes>
  <HiddenSlides>0</HiddenSlides>
  <MMClips>3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62" baseType="lpstr">
      <vt:lpstr>NimbusRomNo9L-Regu</vt:lpstr>
      <vt:lpstr>等线</vt:lpstr>
      <vt:lpstr>微软雅黑</vt:lpstr>
      <vt:lpstr>微软雅黑</vt:lpstr>
      <vt:lpstr>Arial</vt:lpstr>
      <vt:lpstr>Book Antiqua</vt:lpstr>
      <vt:lpstr>Cambria Math</vt:lpstr>
      <vt:lpstr>Helvetica</vt:lpstr>
      <vt:lpstr>Times New Roman</vt:lpstr>
      <vt:lpstr>Wingdings</vt:lpstr>
      <vt:lpstr>1_自定义设计方案</vt:lpstr>
      <vt:lpstr>PowerPoint 演示文稿</vt:lpstr>
      <vt:lpstr>目标</vt:lpstr>
      <vt:lpstr>目录</vt:lpstr>
      <vt:lpstr>PowerPoint 演示文稿</vt:lpstr>
      <vt:lpstr>PowerPoint 演示文稿</vt:lpstr>
      <vt:lpstr>哪一部分先学习好</vt:lpstr>
      <vt:lpstr>选择哪种解？</vt:lpstr>
      <vt:lpstr>这样的拟合是否正确?</vt:lpstr>
      <vt:lpstr>泛化谜团</vt:lpstr>
      <vt:lpstr>隐式偏好</vt:lpstr>
      <vt:lpstr>PowerPoint 演示文稿</vt:lpstr>
      <vt:lpstr>时域空间一维函数训练过程</vt:lpstr>
      <vt:lpstr>PowerPoint 演示文稿</vt:lpstr>
      <vt:lpstr>傅里叶展开</vt:lpstr>
      <vt:lpstr>使用越来越多的频率来逼近的效果</vt:lpstr>
      <vt:lpstr>保留低频或高频的图像变化</vt:lpstr>
      <vt:lpstr>时域空间一维函数训练过程</vt:lpstr>
      <vt:lpstr>频域空间一维函数训练过程</vt:lpstr>
      <vt:lpstr>控制变量：控制不同频率的振幅</vt:lpstr>
      <vt:lpstr>控制变量：控制不同频率的振幅</vt:lpstr>
      <vt:lpstr>2D 图片拟合：先学轮廓再学细节</vt:lpstr>
      <vt:lpstr>哪一部分先学习好</vt:lpstr>
      <vt:lpstr>PowerPoint 演示文稿</vt:lpstr>
      <vt:lpstr>选择哪种解？</vt:lpstr>
      <vt:lpstr>这样的拟合是否正确?</vt:lpstr>
      <vt:lpstr>这样的拟合是否正确?</vt:lpstr>
      <vt:lpstr>Early stopping（早停）的效用</vt:lpstr>
      <vt:lpstr>Early stopping（早停）的效用</vt:lpstr>
      <vt:lpstr>如何加速高频的学习？</vt:lpstr>
      <vt:lpstr>多尺度神经网络</vt:lpstr>
      <vt:lpstr>拉伸：可以将一个高频函数变换为低频函数</vt:lpstr>
      <vt:lpstr>不同位置需要的拉伸系数不一致</vt:lpstr>
      <vt:lpstr>多尺度神经网络（Multi-Scale DNN）结构</vt:lpstr>
      <vt:lpstr>Multi-Scale DNN示例</vt:lpstr>
      <vt:lpstr>Fourier 特征网络</vt:lpstr>
      <vt:lpstr>神经辐射场 (Neural Radiance Fields, NeRF)</vt:lpstr>
      <vt:lpstr>思考：图像分类中，高频指什么？</vt:lpstr>
      <vt:lpstr>两种频率概念</vt:lpstr>
      <vt:lpstr>高响应频率的示例</vt:lpstr>
      <vt:lpstr>高响应频率的示例</vt:lpstr>
      <vt:lpstr>PowerPoint 演示文稿</vt:lpstr>
      <vt:lpstr>两层全连接神经网络</vt:lpstr>
      <vt:lpstr>两层全连接神经网络</vt:lpstr>
      <vt:lpstr>常见激活函数的频率</vt:lpstr>
      <vt:lpstr>采用非单调激活函数</vt:lpstr>
      <vt:lpstr>采用非单调激活函数</vt:lpstr>
      <vt:lpstr>采用非单调激活函数</vt:lpstr>
      <vt:lpstr>满足频率原则，光滑插值，泛化好</vt:lpstr>
      <vt:lpstr>违背频率原则，振荡插值，泛化差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Frequency perspective to understand depth effect and robustness of deep learning</dc:title>
  <dc:creator>zhiqin xu</dc:creator>
  <cp:lastModifiedBy>zhiqin xu</cp:lastModifiedBy>
  <cp:revision>594</cp:revision>
  <dcterms:created xsi:type="dcterms:W3CDTF">2020-06-05T07:59:00Z</dcterms:created>
  <dcterms:modified xsi:type="dcterms:W3CDTF">2026-09-18T00:59:15Z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0FE3EF06A9C74838A2BB9773EB8F8EE0_12</vt:lpwstr>
  </property>
  <property fmtid="{D5CDD505-2E9C-101B-9397-08002B2CF9AE}" pid="3" name="KSOProductBuildVer">
    <vt:lpwstr>2052-12.1.0.19302</vt:lpwstr>
  </property>
</Properties>
</file>