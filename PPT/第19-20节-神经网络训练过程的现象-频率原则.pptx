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10345" r:id="rId2"/>
    <p:sldId id="10471" r:id="rId3"/>
    <p:sldId id="10362" r:id="rId4"/>
    <p:sldId id="10467" r:id="rId5"/>
    <p:sldId id="10847" r:id="rId6"/>
    <p:sldId id="10843" r:id="rId7"/>
    <p:sldId id="10845" r:id="rId8"/>
    <p:sldId id="10846" r:id="rId9"/>
    <p:sldId id="10237" r:id="rId10"/>
    <p:sldId id="10344" r:id="rId11"/>
    <p:sldId id="10339" r:id="rId12"/>
    <p:sldId id="10340" r:id="rId13"/>
    <p:sldId id="10341" r:id="rId14"/>
    <p:sldId id="284" r:id="rId15"/>
    <p:sldId id="10346" r:id="rId16"/>
    <p:sldId id="10353" r:id="rId17"/>
    <p:sldId id="10342" r:id="rId18"/>
    <p:sldId id="10348" r:id="rId19"/>
    <p:sldId id="10466" r:id="rId20"/>
    <p:sldId id="10354" r:id="rId21"/>
    <p:sldId id="2200" r:id="rId22"/>
    <p:sldId id="10464" r:id="rId23"/>
    <p:sldId id="10465" r:id="rId24"/>
    <p:sldId id="10349" r:id="rId25"/>
    <p:sldId id="10842" r:id="rId26"/>
    <p:sldId id="10831" r:id="rId27"/>
    <p:sldId id="10838" r:id="rId28"/>
    <p:sldId id="1395" r:id="rId29"/>
    <p:sldId id="10380" r:id="rId30"/>
    <p:sldId id="10372" r:id="rId31"/>
    <p:sldId id="10836" r:id="rId32"/>
    <p:sldId id="10837" r:id="rId33"/>
    <p:sldId id="10351" r:id="rId34"/>
    <p:sldId id="10367" r:id="rId35"/>
    <p:sldId id="1337" r:id="rId36"/>
    <p:sldId id="10359" r:id="rId37"/>
    <p:sldId id="10356" r:id="rId38"/>
    <p:sldId id="10350" r:id="rId39"/>
    <p:sldId id="10357" r:id="rId40"/>
    <p:sldId id="10485" r:id="rId41"/>
    <p:sldId id="10487" r:id="rId42"/>
    <p:sldId id="10486" r:id="rId43"/>
    <p:sldId id="2317" r:id="rId44"/>
    <p:sldId id="2197" r:id="rId45"/>
    <p:sldId id="10839" r:id="rId46"/>
    <p:sldId id="10468" r:id="rId47"/>
    <p:sldId id="10321" r:id="rId4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2FF"/>
    <a:srgbClr val="070707"/>
    <a:srgbClr val="4845D2"/>
    <a:srgbClr val="FE0303"/>
    <a:srgbClr val="002B7F"/>
    <a:srgbClr val="1D41D5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07" autoAdjust="0"/>
    <p:restoredTop sz="87748" autoAdjust="0"/>
  </p:normalViewPr>
  <p:slideViewPr>
    <p:cSldViewPr snapToGrid="0">
      <p:cViewPr varScale="1">
        <p:scale>
          <a:sx n="93" d="100"/>
          <a:sy n="93" d="100"/>
        </p:scale>
        <p:origin x="6870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16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5B131-4498-C781-84C1-584C6089C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C971648-E3BB-9286-CBF1-7596921A0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0F76F3-F80A-7BDF-614F-105A41F7D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0B1652F-A555-E055-75FE-D526779AEC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731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2051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e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2026/2/23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2026/2/23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44642" y="1805992"/>
            <a:ext cx="3302721" cy="2708599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431818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8807295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7149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486667"/>
      </p:ext>
    </p:extLst>
  </p:cSld>
  <p:clrMapOvr>
    <a:masterClrMapping/>
  </p:clrMapOvr>
  <p:transition>
    <p:fade/>
  </p:transition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版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368" y="263408"/>
            <a:ext cx="8940432" cy="65771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00000"/>
              </a:lnSpc>
              <a:defRPr sz="3200">
                <a:solidFill>
                  <a:schemeClr val="tx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>
          <a:xfrm>
            <a:off x="381368" y="1142440"/>
            <a:ext cx="11429264" cy="49914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defRPr sz="2500">
                <a:solidFill>
                  <a:schemeClr val="accent2"/>
                </a:solidFill>
              </a:defRPr>
            </a:lvl1pPr>
            <a:lvl2pPr>
              <a:lnSpc>
                <a:spcPct val="120000"/>
              </a:lnSpc>
              <a:defRPr sz="2117">
                <a:solidFill>
                  <a:schemeClr val="accent2"/>
                </a:solidFill>
              </a:defRPr>
            </a:lvl2pPr>
            <a:lvl3pPr>
              <a:lnSpc>
                <a:spcPct val="120000"/>
              </a:lnSpc>
              <a:defRPr sz="1905">
                <a:solidFill>
                  <a:schemeClr val="accent2"/>
                </a:solidFill>
              </a:defRPr>
            </a:lvl3pPr>
            <a:lvl4pPr>
              <a:lnSpc>
                <a:spcPct val="120000"/>
              </a:lnSpc>
              <a:defRPr sz="1693">
                <a:solidFill>
                  <a:schemeClr val="accent2"/>
                </a:solidFill>
              </a:defRPr>
            </a:lvl4pPr>
            <a:lvl5pPr>
              <a:lnSpc>
                <a:spcPct val="120000"/>
              </a:lnSpc>
              <a:defRPr sz="1693">
                <a:solidFill>
                  <a:schemeClr val="accent2"/>
                </a:solidFill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33E3E6D-D003-4285-9CD3-F9F948F4D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/>
          <a:srcRect r="1346"/>
          <a:stretch/>
        </p:blipFill>
        <p:spPr>
          <a:xfrm>
            <a:off x="516" y="6149854"/>
            <a:ext cx="12191484" cy="411617"/>
          </a:xfrm>
          <a:prstGeom prst="rect">
            <a:avLst/>
          </a:prstGeom>
        </p:spPr>
      </p:pic>
      <p:pic>
        <p:nvPicPr>
          <p:cNvPr id="13" name="图片 12" descr="文本&#10;&#10;中度可信度描述已自动生成">
            <a:extLst>
              <a:ext uri="{FF2B5EF4-FFF2-40B4-BE49-F238E27FC236}">
                <a16:creationId xmlns:a16="http://schemas.microsoft.com/office/drawing/2014/main" id="{20F80C42-4A81-4868-AA78-9E4FF9811EE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162" y="263409"/>
            <a:ext cx="2305463" cy="75790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EB998610-38B8-4F4F-8E37-98D574A43924}"/>
              </a:ext>
            </a:extLst>
          </p:cNvPr>
          <p:cNvSpPr/>
          <p:nvPr userDrawn="1"/>
        </p:nvSpPr>
        <p:spPr>
          <a:xfrm>
            <a:off x="-1" y="311884"/>
            <a:ext cx="360363" cy="560759"/>
          </a:xfrm>
          <a:prstGeom prst="rect">
            <a:avLst/>
          </a:prstGeom>
          <a:gradFill>
            <a:gsLst>
              <a:gs pos="100000">
                <a:schemeClr val="accent4"/>
              </a:gs>
              <a:gs pos="62000">
                <a:schemeClr val="tx2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just"/>
            <a:endParaRPr lang="zh-CN" alt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1668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12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6" Type="http://schemas.openxmlformats.org/officeDocument/2006/relationships/image" Target="../media/image11.png"/><Relationship Id="rId5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media" Target="../media/media1.mp4"/><Relationship Id="rId2" Type="http://schemas.openxmlformats.org/officeDocument/2006/relationships/video" Target="NULL" TargetMode="External"/><Relationship Id="rId1" Type="http://schemas.openxmlformats.org/officeDocument/2006/relationships/tags" Target="../tags/tag2.xml"/><Relationship Id="rId5" Type="http://schemas.openxmlformats.org/officeDocument/2006/relationships/image" Target="../media/image13.png"/><Relationship Id="rId4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2" Type="http://schemas.openxmlformats.org/officeDocument/2006/relationships/video" Target="NULL" TargetMode="External"/><Relationship Id="rId1" Type="http://schemas.openxmlformats.org/officeDocument/2006/relationships/tags" Target="../tags/tag3.xml"/><Relationship Id="rId5" Type="http://schemas.openxmlformats.org/officeDocument/2006/relationships/image" Target="../media/image16.png"/><Relationship Id="rId4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e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5.png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5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3" Type="http://schemas.openxmlformats.org/officeDocument/2006/relationships/image" Target="../media/image350.png"/><Relationship Id="rId7" Type="http://schemas.openxmlformats.org/officeDocument/2006/relationships/image" Target="../media/image48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6" Type="http://schemas.openxmlformats.org/officeDocument/2006/relationships/image" Target="../media/image4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7" Type="http://schemas.openxmlformats.org/officeDocument/2006/relationships/image" Target="../media/image51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9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7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1230.png"/></Relationships>
</file>

<file path=ppt/slides/_rels/slide42.xml.rels><?xml version="1.0" encoding="UTF-8" standalone="yes"?>
<Relationships xmlns="http://schemas.openxmlformats.org/package/2006/relationships"><Relationship Id="rId7" Type="http://schemas.openxmlformats.org/officeDocument/2006/relationships/image" Target="../media/image3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5" Type="http://schemas.openxmlformats.org/officeDocument/2006/relationships/image" Target="../media/image46.png"/><Relationship Id="rId4" Type="http://schemas.openxmlformats.org/officeDocument/2006/relationships/image" Target="../media/image1230.png"/></Relationships>
</file>

<file path=ppt/slides/_rels/slide43.xml.rels><?xml version="1.0" encoding="UTF-8" standalone="yes"?>
<Relationships xmlns="http://schemas.openxmlformats.org/package/2006/relationships"><Relationship Id="rId7" Type="http://schemas.openxmlformats.org/officeDocument/2006/relationships/image" Target="../media/image4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.png"/><Relationship Id="rId5" Type="http://schemas.openxmlformats.org/officeDocument/2006/relationships/image" Target="../media/image330.png"/><Relationship Id="rId4" Type="http://schemas.openxmlformats.org/officeDocument/2006/relationships/image" Target="../media/image123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3.png"/><Relationship Id="rId4" Type="http://schemas.openxmlformats.org/officeDocument/2006/relationships/image" Target="../media/image5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3.png"/><Relationship Id="rId4" Type="http://schemas.openxmlformats.org/officeDocument/2006/relationships/image" Target="../media/image66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CA15B-281D-1C59-E951-6ECE481AE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EA63D1B-585A-BE51-03AE-11833879C6B6}"/>
              </a:ext>
            </a:extLst>
          </p:cNvPr>
          <p:cNvSpPr txBox="1"/>
          <p:nvPr/>
        </p:nvSpPr>
        <p:spPr>
          <a:xfrm>
            <a:off x="6591" y="3694683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神经网络训练过程的现象</a:t>
            </a:r>
            <a:r>
              <a:rPr lang="en-US" altLang="zh-CN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</a:t>
            </a:r>
            <a:endParaRPr kumimoji="0" lang="en-US" altLang="zh-CN" sz="5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algn="ctr" defTabSz="864235">
              <a:defRPr/>
            </a:pPr>
            <a:fld id="{E102F756-3B96-CC46-A2D4-96CC8736307C}" type="datetime3">
              <a:rPr lang="zh-CN" alt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lvl="0" algn="ctr" defTabSz="864235">
                <a:defRPr/>
              </a:pPr>
              <a:t>2026年2月23日星期一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98994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B3CCAA17-2403-1497-0A4B-89D4E878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目标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8CDE113-1C4D-2734-DADF-1682E6074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了解神经网络训练过程的常见特征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帮助理解神经网络算法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指导自己训练网络的调参过程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02363A-3A5A-DE28-B466-B6F8EFFCDDF5}"/>
              </a:ext>
            </a:extLst>
          </p:cNvPr>
          <p:cNvSpPr txBox="1"/>
          <p:nvPr/>
        </p:nvSpPr>
        <p:spPr>
          <a:xfrm>
            <a:off x="550333" y="5579533"/>
            <a:ext cx="53142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参考：</a:t>
            </a:r>
            <a:r>
              <a:rPr lang="en-US" altLang="zh-CN" sz="2000" dirty="0"/>
              <a:t>《</a:t>
            </a:r>
            <a:r>
              <a:rPr lang="zh-CN" altLang="en-US" sz="2000" dirty="0"/>
              <a:t>深度学习现象导论</a:t>
            </a:r>
            <a:r>
              <a:rPr lang="en-US" altLang="zh-CN" sz="2000" dirty="0"/>
              <a:t>》</a:t>
            </a:r>
            <a:r>
              <a:rPr lang="zh-CN" altLang="en-US" sz="2000" dirty="0"/>
              <a:t>第四至第六章。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67A5101-F512-E65E-DBD5-883E015A6479}"/>
              </a:ext>
            </a:extLst>
          </p:cNvPr>
          <p:cNvSpPr txBox="1"/>
          <p:nvPr/>
        </p:nvSpPr>
        <p:spPr>
          <a:xfrm>
            <a:off x="92764" y="6374296"/>
            <a:ext cx="30751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主要贡献：许志钦</a:t>
            </a:r>
          </a:p>
        </p:txBody>
      </p:sp>
    </p:spTree>
    <p:extLst>
      <p:ext uri="{BB962C8B-B14F-4D97-AF65-F5344CB8AC3E}">
        <p14:creationId xmlns:p14="http://schemas.microsoft.com/office/powerpoint/2010/main" val="3438254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3855154" y="1357151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一、函数空间：频率原则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3855154" y="2510532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二、参数空间：凝聚现象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3855154" y="3663914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三、损失景观：最小值点的平坦性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17D2-329C-98F1-22D5-2E120258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D5EAE21-89EE-BB00-406E-813FA863FFCF}"/>
              </a:ext>
            </a:extLst>
          </p:cNvPr>
          <p:cNvSpPr txBox="1"/>
          <p:nvPr/>
        </p:nvSpPr>
        <p:spPr>
          <a:xfrm>
            <a:off x="1" y="278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函数空间：频率原则</a:t>
            </a:r>
          </a:p>
        </p:txBody>
      </p:sp>
    </p:spTree>
    <p:extLst>
      <p:ext uri="{BB962C8B-B14F-4D97-AF65-F5344CB8AC3E}">
        <p14:creationId xmlns:p14="http://schemas.microsoft.com/office/powerpoint/2010/main" val="3547903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AE4DB-95AD-D15D-04C8-5462CBE5B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696E9F6-1126-25BE-9559-48D4C2329E8D}"/>
              </a:ext>
            </a:extLst>
          </p:cNvPr>
          <p:cNvSpPr txBox="1"/>
          <p:nvPr/>
        </p:nvSpPr>
        <p:spPr>
          <a:xfrm>
            <a:off x="1" y="278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先思考以下几个问题</a:t>
            </a:r>
          </a:p>
        </p:txBody>
      </p:sp>
    </p:spTree>
    <p:extLst>
      <p:ext uri="{BB962C8B-B14F-4D97-AF65-F5344CB8AC3E}">
        <p14:creationId xmlns:p14="http://schemas.microsoft.com/office/powerpoint/2010/main" val="1120744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EBF4A-919E-FD83-4EC3-15F22B699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33BAF0-465B-54EB-04D6-E508889D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哪一部分先学习好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4140C1-7ABC-14FD-A874-2E3D1C38B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左边是振荡，右边是平坦</a:t>
            </a:r>
          </a:p>
        </p:txBody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86E9B437-F77C-BB0F-3B17-5A206D9B3C45}"/>
              </a:ext>
            </a:extLst>
          </p:cNvPr>
          <p:cNvSpPr/>
          <p:nvPr/>
        </p:nvSpPr>
        <p:spPr>
          <a:xfrm>
            <a:off x="2476500" y="1917700"/>
            <a:ext cx="8553450" cy="3022600"/>
          </a:xfrm>
          <a:custGeom>
            <a:avLst/>
            <a:gdLst>
              <a:gd name="connsiteX0" fmla="*/ 0 w 8553450"/>
              <a:gd name="connsiteY0" fmla="*/ 3022600 h 3022600"/>
              <a:gd name="connsiteX1" fmla="*/ 1060450 w 8553450"/>
              <a:gd name="connsiteY1" fmla="*/ 196850 h 3022600"/>
              <a:gd name="connsiteX2" fmla="*/ 1289050 w 8553450"/>
              <a:gd name="connsiteY2" fmla="*/ 2990850 h 3022600"/>
              <a:gd name="connsiteX3" fmla="*/ 1447800 w 8553450"/>
              <a:gd name="connsiteY3" fmla="*/ 190500 h 3022600"/>
              <a:gd name="connsiteX4" fmla="*/ 1644650 w 8553450"/>
              <a:gd name="connsiteY4" fmla="*/ 2965450 h 3022600"/>
              <a:gd name="connsiteX5" fmla="*/ 1778000 w 8553450"/>
              <a:gd name="connsiteY5" fmla="*/ 228600 h 3022600"/>
              <a:gd name="connsiteX6" fmla="*/ 2000250 w 8553450"/>
              <a:gd name="connsiteY6" fmla="*/ 3009900 h 3022600"/>
              <a:gd name="connsiteX7" fmla="*/ 2063750 w 8553450"/>
              <a:gd name="connsiteY7" fmla="*/ 0 h 3022600"/>
              <a:gd name="connsiteX8" fmla="*/ 2235200 w 8553450"/>
              <a:gd name="connsiteY8" fmla="*/ 3009900 h 3022600"/>
              <a:gd name="connsiteX9" fmla="*/ 2374900 w 8553450"/>
              <a:gd name="connsiteY9" fmla="*/ 184150 h 3022600"/>
              <a:gd name="connsiteX10" fmla="*/ 2520950 w 8553450"/>
              <a:gd name="connsiteY10" fmla="*/ 2959100 h 3022600"/>
              <a:gd name="connsiteX11" fmla="*/ 2705100 w 8553450"/>
              <a:gd name="connsiteY11" fmla="*/ 387350 h 3022600"/>
              <a:gd name="connsiteX12" fmla="*/ 2965450 w 8553450"/>
              <a:gd name="connsiteY12" fmla="*/ 1816100 h 3022600"/>
              <a:gd name="connsiteX13" fmla="*/ 4051300 w 8553450"/>
              <a:gd name="connsiteY13" fmla="*/ 2012950 h 3022600"/>
              <a:gd name="connsiteX14" fmla="*/ 8553450 w 8553450"/>
              <a:gd name="connsiteY14" fmla="*/ 1924050 h 302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553450" h="3022600">
                <a:moveTo>
                  <a:pt x="0" y="3022600"/>
                </a:moveTo>
                <a:cubicBezTo>
                  <a:pt x="422804" y="1612371"/>
                  <a:pt x="845608" y="202142"/>
                  <a:pt x="1060450" y="196850"/>
                </a:cubicBezTo>
                <a:cubicBezTo>
                  <a:pt x="1275292" y="191558"/>
                  <a:pt x="1224492" y="2991908"/>
                  <a:pt x="1289050" y="2990850"/>
                </a:cubicBezTo>
                <a:cubicBezTo>
                  <a:pt x="1353608" y="2989792"/>
                  <a:pt x="1388533" y="194733"/>
                  <a:pt x="1447800" y="190500"/>
                </a:cubicBezTo>
                <a:cubicBezTo>
                  <a:pt x="1507067" y="186267"/>
                  <a:pt x="1589617" y="2959100"/>
                  <a:pt x="1644650" y="2965450"/>
                </a:cubicBezTo>
                <a:cubicBezTo>
                  <a:pt x="1699683" y="2971800"/>
                  <a:pt x="1718733" y="221192"/>
                  <a:pt x="1778000" y="228600"/>
                </a:cubicBezTo>
                <a:cubicBezTo>
                  <a:pt x="1837267" y="236008"/>
                  <a:pt x="1952625" y="3048000"/>
                  <a:pt x="2000250" y="3009900"/>
                </a:cubicBezTo>
                <a:cubicBezTo>
                  <a:pt x="2047875" y="2971800"/>
                  <a:pt x="2024592" y="0"/>
                  <a:pt x="2063750" y="0"/>
                </a:cubicBezTo>
                <a:cubicBezTo>
                  <a:pt x="2102908" y="0"/>
                  <a:pt x="2183342" y="2979208"/>
                  <a:pt x="2235200" y="3009900"/>
                </a:cubicBezTo>
                <a:cubicBezTo>
                  <a:pt x="2287058" y="3040592"/>
                  <a:pt x="2327275" y="192617"/>
                  <a:pt x="2374900" y="184150"/>
                </a:cubicBezTo>
                <a:cubicBezTo>
                  <a:pt x="2422525" y="175683"/>
                  <a:pt x="2465917" y="2925233"/>
                  <a:pt x="2520950" y="2959100"/>
                </a:cubicBezTo>
                <a:cubicBezTo>
                  <a:pt x="2575983" y="2992967"/>
                  <a:pt x="2631017" y="577850"/>
                  <a:pt x="2705100" y="387350"/>
                </a:cubicBezTo>
                <a:cubicBezTo>
                  <a:pt x="2779183" y="196850"/>
                  <a:pt x="2741083" y="1545167"/>
                  <a:pt x="2965450" y="1816100"/>
                </a:cubicBezTo>
                <a:cubicBezTo>
                  <a:pt x="3189817" y="2087033"/>
                  <a:pt x="4051300" y="2012950"/>
                  <a:pt x="4051300" y="2012950"/>
                </a:cubicBezTo>
                <a:lnTo>
                  <a:pt x="8553450" y="1924050"/>
                </a:lnTo>
              </a:path>
            </a:pathLst>
          </a:custGeom>
          <a:ln w="38100">
            <a:solidFill>
              <a:srgbClr val="0707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9638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26399-4D84-974F-76B4-A4573DC27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285F54-8528-C1C4-42C7-6BA45B7EF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选择哪种解？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5802DEB-20AD-E90A-4E5D-207273300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852"/>
          <a:stretch/>
        </p:blipFill>
        <p:spPr>
          <a:xfrm>
            <a:off x="1766087" y="1871073"/>
            <a:ext cx="8365748" cy="290231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F32B45D4-462E-2614-A2BB-D565DCB89BE6}"/>
              </a:ext>
            </a:extLst>
          </p:cNvPr>
          <p:cNvSpPr txBox="1"/>
          <p:nvPr/>
        </p:nvSpPr>
        <p:spPr>
          <a:xfrm>
            <a:off x="4714444" y="1116471"/>
            <a:ext cx="3979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蓝色训练点是完全一致的。</a:t>
            </a:r>
          </a:p>
        </p:txBody>
      </p:sp>
    </p:spTree>
    <p:extLst>
      <p:ext uri="{BB962C8B-B14F-4D97-AF65-F5344CB8AC3E}">
        <p14:creationId xmlns:p14="http://schemas.microsoft.com/office/powerpoint/2010/main" val="201523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AD896-EF8C-9B70-940C-5894AAC5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2B196A-EFD9-B308-1A81-04D9A0480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208318E-45C1-033B-7DDF-DC88DDA19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67" y="1044439"/>
            <a:ext cx="6095234" cy="433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07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泛化谜团</a:t>
            </a:r>
          </a:p>
        </p:txBody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6003FF7-73AC-4544-C8FB-A9DB2D851C9C}"/>
              </a:ext>
            </a:extLst>
          </p:cNvPr>
          <p:cNvSpPr/>
          <p:nvPr/>
        </p:nvSpPr>
        <p:spPr>
          <a:xfrm>
            <a:off x="6710808" y="4460242"/>
            <a:ext cx="2501412" cy="1186961"/>
          </a:xfrm>
          <a:custGeom>
            <a:avLst/>
            <a:gdLst>
              <a:gd name="connsiteX0" fmla="*/ 0 w 3217985"/>
              <a:gd name="connsiteY0" fmla="*/ 0 h 1371600"/>
              <a:gd name="connsiteX1" fmla="*/ 914400 w 3217985"/>
              <a:gd name="connsiteY1" fmla="*/ 1342292 h 1371600"/>
              <a:gd name="connsiteX2" fmla="*/ 2215662 w 3217985"/>
              <a:gd name="connsiteY2" fmla="*/ 867508 h 1371600"/>
              <a:gd name="connsiteX3" fmla="*/ 3217985 w 3217985"/>
              <a:gd name="connsiteY3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17985" h="1371600">
                <a:moveTo>
                  <a:pt x="0" y="0"/>
                </a:moveTo>
                <a:cubicBezTo>
                  <a:pt x="272561" y="598853"/>
                  <a:pt x="545123" y="1197707"/>
                  <a:pt x="914400" y="1342292"/>
                </a:cubicBezTo>
                <a:cubicBezTo>
                  <a:pt x="1283677" y="1486877"/>
                  <a:pt x="1831731" y="862623"/>
                  <a:pt x="2215662" y="867508"/>
                </a:cubicBezTo>
                <a:cubicBezTo>
                  <a:pt x="2599593" y="872393"/>
                  <a:pt x="2908789" y="1121996"/>
                  <a:pt x="3217985" y="1371600"/>
                </a:cubicBezTo>
              </a:path>
            </a:pathLst>
          </a:custGeom>
          <a:noFill/>
          <a:ln w="25400" cap="flat" cmpd="sng" algn="ctr">
            <a:solidFill>
              <a:srgbClr val="A62038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917EA8D-C741-909F-4D9B-BB75215794CA}"/>
              </a:ext>
            </a:extLst>
          </p:cNvPr>
          <p:cNvSpPr/>
          <p:nvPr/>
        </p:nvSpPr>
        <p:spPr>
          <a:xfrm>
            <a:off x="6788196" y="4712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A7904367-FB2A-C8AC-7AFE-35A3CC1B0A3F}"/>
              </a:ext>
            </a:extLst>
          </p:cNvPr>
          <p:cNvSpPr/>
          <p:nvPr/>
        </p:nvSpPr>
        <p:spPr>
          <a:xfrm>
            <a:off x="6665751" y="441974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E456A7A-4B57-0495-0EB8-78DC7A055E2E}"/>
              </a:ext>
            </a:extLst>
          </p:cNvPr>
          <p:cNvSpPr/>
          <p:nvPr/>
        </p:nvSpPr>
        <p:spPr>
          <a:xfrm>
            <a:off x="6952810" y="505372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D17A4097-BD52-58B5-4890-34BEF4551E15}"/>
              </a:ext>
            </a:extLst>
          </p:cNvPr>
          <p:cNvSpPr/>
          <p:nvPr/>
        </p:nvSpPr>
        <p:spPr>
          <a:xfrm>
            <a:off x="7156107" y="5393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66103FF2-B8C3-8AC3-AF83-4A08164D8362}"/>
              </a:ext>
            </a:extLst>
          </p:cNvPr>
          <p:cNvSpPr/>
          <p:nvPr/>
        </p:nvSpPr>
        <p:spPr>
          <a:xfrm>
            <a:off x="7464106" y="55918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D3BF85E-CAC5-534C-977E-233AF3C380AA}"/>
              </a:ext>
            </a:extLst>
          </p:cNvPr>
          <p:cNvSpPr/>
          <p:nvPr/>
        </p:nvSpPr>
        <p:spPr>
          <a:xfrm>
            <a:off x="7664919" y="55513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5C1F45C2-0243-591C-781A-742C012D3349}"/>
              </a:ext>
            </a:extLst>
          </p:cNvPr>
          <p:cNvSpPr/>
          <p:nvPr/>
        </p:nvSpPr>
        <p:spPr>
          <a:xfrm>
            <a:off x="7851334" y="5444860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620CFC20-58D1-565F-D38F-DBF741C8194F}"/>
              </a:ext>
            </a:extLst>
          </p:cNvPr>
          <p:cNvSpPr/>
          <p:nvPr/>
        </p:nvSpPr>
        <p:spPr>
          <a:xfrm>
            <a:off x="8038926" y="5312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57DD5364-169F-D344-52BF-48E25A2A970C}"/>
              </a:ext>
            </a:extLst>
          </p:cNvPr>
          <p:cNvSpPr/>
          <p:nvPr/>
        </p:nvSpPr>
        <p:spPr>
          <a:xfrm>
            <a:off x="8341689" y="5185617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FEA1416-8FEE-206F-C529-D1D4AFF630E7}"/>
              </a:ext>
            </a:extLst>
          </p:cNvPr>
          <p:cNvSpPr/>
          <p:nvPr/>
        </p:nvSpPr>
        <p:spPr>
          <a:xfrm>
            <a:off x="8722980" y="5266617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843A94B6-9631-FBEB-7E20-94AD4D301E45}"/>
              </a:ext>
            </a:extLst>
          </p:cNvPr>
          <p:cNvSpPr/>
          <p:nvPr/>
        </p:nvSpPr>
        <p:spPr>
          <a:xfrm>
            <a:off x="9171720" y="55918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1C554D98-F029-D5F2-AF6D-1ABE25B58369}"/>
              </a:ext>
            </a:extLst>
          </p:cNvPr>
          <p:cNvCxnSpPr/>
          <p:nvPr/>
        </p:nvCxnSpPr>
        <p:spPr>
          <a:xfrm flipV="1">
            <a:off x="6485296" y="4111506"/>
            <a:ext cx="0" cy="1800671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B06D095-5D13-B51B-6FF5-E13F303DC163}"/>
              </a:ext>
            </a:extLst>
          </p:cNvPr>
          <p:cNvCxnSpPr/>
          <p:nvPr/>
        </p:nvCxnSpPr>
        <p:spPr>
          <a:xfrm flipV="1">
            <a:off x="6474826" y="5906942"/>
            <a:ext cx="2993747" cy="332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AA7C4C9-1C11-15F1-DE8A-0B3CA9710DD3}"/>
              </a:ext>
            </a:extLst>
          </p:cNvPr>
          <p:cNvSpPr/>
          <p:nvPr/>
        </p:nvSpPr>
        <p:spPr>
          <a:xfrm>
            <a:off x="2424279" y="4249428"/>
            <a:ext cx="2496855" cy="1529657"/>
          </a:xfrm>
          <a:custGeom>
            <a:avLst/>
            <a:gdLst>
              <a:gd name="connsiteX0" fmla="*/ 0 w 3212123"/>
              <a:gd name="connsiteY0" fmla="*/ 268920 h 2039543"/>
              <a:gd name="connsiteX1" fmla="*/ 99646 w 3212123"/>
              <a:gd name="connsiteY1" fmla="*/ 954720 h 2039543"/>
              <a:gd name="connsiteX2" fmla="*/ 263770 w 3212123"/>
              <a:gd name="connsiteY2" fmla="*/ 11013 h 2039543"/>
              <a:gd name="connsiteX3" fmla="*/ 451339 w 3212123"/>
              <a:gd name="connsiteY3" fmla="*/ 1722582 h 2039543"/>
              <a:gd name="connsiteX4" fmla="*/ 808893 w 3212123"/>
              <a:gd name="connsiteY4" fmla="*/ 1241936 h 2039543"/>
              <a:gd name="connsiteX5" fmla="*/ 1090246 w 3212123"/>
              <a:gd name="connsiteY5" fmla="*/ 2033243 h 2039543"/>
              <a:gd name="connsiteX6" fmla="*/ 1383323 w 3212123"/>
              <a:gd name="connsiteY6" fmla="*/ 1617074 h 2039543"/>
              <a:gd name="connsiteX7" fmla="*/ 1664677 w 3212123"/>
              <a:gd name="connsiteY7" fmla="*/ 1693274 h 2039543"/>
              <a:gd name="connsiteX8" fmla="*/ 1922585 w 3212123"/>
              <a:gd name="connsiteY8" fmla="*/ 1071951 h 2039543"/>
              <a:gd name="connsiteX9" fmla="*/ 2373923 w 3212123"/>
              <a:gd name="connsiteY9" fmla="*/ 1535013 h 2039543"/>
              <a:gd name="connsiteX10" fmla="*/ 2790093 w 3212123"/>
              <a:gd name="connsiteY10" fmla="*/ 1382613 h 2039543"/>
              <a:gd name="connsiteX11" fmla="*/ 3212123 w 3212123"/>
              <a:gd name="connsiteY11" fmla="*/ 1851536 h 2039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12123" h="2039543">
                <a:moveTo>
                  <a:pt x="0" y="268920"/>
                </a:moveTo>
                <a:cubicBezTo>
                  <a:pt x="27842" y="633312"/>
                  <a:pt x="55684" y="997704"/>
                  <a:pt x="99646" y="954720"/>
                </a:cubicBezTo>
                <a:cubicBezTo>
                  <a:pt x="143608" y="911736"/>
                  <a:pt x="205155" y="-116964"/>
                  <a:pt x="263770" y="11013"/>
                </a:cubicBezTo>
                <a:cubicBezTo>
                  <a:pt x="322386" y="138990"/>
                  <a:pt x="360485" y="1517428"/>
                  <a:pt x="451339" y="1722582"/>
                </a:cubicBezTo>
                <a:cubicBezTo>
                  <a:pt x="542193" y="1927736"/>
                  <a:pt x="702409" y="1190159"/>
                  <a:pt x="808893" y="1241936"/>
                </a:cubicBezTo>
                <a:cubicBezTo>
                  <a:pt x="915377" y="1293713"/>
                  <a:pt x="994508" y="1970720"/>
                  <a:pt x="1090246" y="2033243"/>
                </a:cubicBezTo>
                <a:cubicBezTo>
                  <a:pt x="1185984" y="2095766"/>
                  <a:pt x="1287585" y="1673736"/>
                  <a:pt x="1383323" y="1617074"/>
                </a:cubicBezTo>
                <a:cubicBezTo>
                  <a:pt x="1479062" y="1560413"/>
                  <a:pt x="1574800" y="1784128"/>
                  <a:pt x="1664677" y="1693274"/>
                </a:cubicBezTo>
                <a:cubicBezTo>
                  <a:pt x="1754554" y="1602420"/>
                  <a:pt x="1804377" y="1098328"/>
                  <a:pt x="1922585" y="1071951"/>
                </a:cubicBezTo>
                <a:cubicBezTo>
                  <a:pt x="2040793" y="1045574"/>
                  <a:pt x="2229339" y="1483236"/>
                  <a:pt x="2373923" y="1535013"/>
                </a:cubicBezTo>
                <a:cubicBezTo>
                  <a:pt x="2518507" y="1586790"/>
                  <a:pt x="2650393" y="1329859"/>
                  <a:pt x="2790093" y="1382613"/>
                </a:cubicBezTo>
                <a:cubicBezTo>
                  <a:pt x="2929793" y="1435367"/>
                  <a:pt x="3137877" y="1792921"/>
                  <a:pt x="3212123" y="1851536"/>
                </a:cubicBezTo>
              </a:path>
            </a:pathLst>
          </a:custGeom>
          <a:noFill/>
          <a:ln w="25400" cap="flat" cmpd="sng" algn="ctr">
            <a:solidFill>
              <a:srgbClr val="A62038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65D6EF06-FB53-2D96-6B80-1B968CFA6A8D}"/>
              </a:ext>
            </a:extLst>
          </p:cNvPr>
          <p:cNvSpPr/>
          <p:nvPr/>
        </p:nvSpPr>
        <p:spPr>
          <a:xfrm>
            <a:off x="2501667" y="4711801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A4579D5B-263A-638A-8150-9974B6755E68}"/>
              </a:ext>
            </a:extLst>
          </p:cNvPr>
          <p:cNvSpPr/>
          <p:nvPr/>
        </p:nvSpPr>
        <p:spPr>
          <a:xfrm>
            <a:off x="2379222" y="4419410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A6755F0-21BB-FCB2-0C6B-F0BBCA090B9B}"/>
              </a:ext>
            </a:extLst>
          </p:cNvPr>
          <p:cNvSpPr/>
          <p:nvPr/>
        </p:nvSpPr>
        <p:spPr>
          <a:xfrm>
            <a:off x="2666281" y="5053390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A82085E6-772A-0E6F-89B1-7A18A5AB4E47}"/>
              </a:ext>
            </a:extLst>
          </p:cNvPr>
          <p:cNvSpPr/>
          <p:nvPr/>
        </p:nvSpPr>
        <p:spPr>
          <a:xfrm>
            <a:off x="2869578" y="5392801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40B14DA8-ED69-AB11-3615-39D18046783B}"/>
              </a:ext>
            </a:extLst>
          </p:cNvPr>
          <p:cNvSpPr/>
          <p:nvPr/>
        </p:nvSpPr>
        <p:spPr>
          <a:xfrm>
            <a:off x="3177577" y="5591478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1E38A47F-A3CD-D46C-AD22-B8C3BD5D71F7}"/>
              </a:ext>
            </a:extLst>
          </p:cNvPr>
          <p:cNvSpPr/>
          <p:nvPr/>
        </p:nvSpPr>
        <p:spPr>
          <a:xfrm>
            <a:off x="3378390" y="5550978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FB5CBBEB-A8DD-53F8-4C5B-642F93C9E6DD}"/>
              </a:ext>
            </a:extLst>
          </p:cNvPr>
          <p:cNvSpPr/>
          <p:nvPr/>
        </p:nvSpPr>
        <p:spPr>
          <a:xfrm>
            <a:off x="3564805" y="5444528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4E2C2E10-8E4E-F792-72A8-96948F089D91}"/>
              </a:ext>
            </a:extLst>
          </p:cNvPr>
          <p:cNvSpPr/>
          <p:nvPr/>
        </p:nvSpPr>
        <p:spPr>
          <a:xfrm>
            <a:off x="3752397" y="5311801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52722CCD-21F8-D76C-3FFA-AFE5FC3FCE5C}"/>
              </a:ext>
            </a:extLst>
          </p:cNvPr>
          <p:cNvSpPr/>
          <p:nvPr/>
        </p:nvSpPr>
        <p:spPr>
          <a:xfrm>
            <a:off x="4055160" y="5185285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78A5FB-DB75-C377-C516-44E1729E1A82}"/>
              </a:ext>
            </a:extLst>
          </p:cNvPr>
          <p:cNvSpPr/>
          <p:nvPr/>
        </p:nvSpPr>
        <p:spPr>
          <a:xfrm>
            <a:off x="4436451" y="5266285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0033CDC-2755-B153-68A6-8C5F6D25EB5B}"/>
              </a:ext>
            </a:extLst>
          </p:cNvPr>
          <p:cNvSpPr/>
          <p:nvPr/>
        </p:nvSpPr>
        <p:spPr>
          <a:xfrm>
            <a:off x="4885191" y="5591478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ED4121D7-63F0-A584-4097-24E8A65FCE9F}"/>
              </a:ext>
            </a:extLst>
          </p:cNvPr>
          <p:cNvCxnSpPr/>
          <p:nvPr/>
        </p:nvCxnSpPr>
        <p:spPr>
          <a:xfrm flipV="1">
            <a:off x="2194371" y="4111174"/>
            <a:ext cx="0" cy="1800671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D6F8C53-75E6-D832-A0EF-248CBBC6E8D4}"/>
              </a:ext>
            </a:extLst>
          </p:cNvPr>
          <p:cNvCxnSpPr/>
          <p:nvPr/>
        </p:nvCxnSpPr>
        <p:spPr>
          <a:xfrm flipV="1">
            <a:off x="2188297" y="5906611"/>
            <a:ext cx="2993747" cy="332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D217518-8B40-8B9C-9C91-301B643B2E75}"/>
              </a:ext>
            </a:extLst>
          </p:cNvPr>
          <p:cNvSpPr txBox="1"/>
          <p:nvPr/>
        </p:nvSpPr>
        <p:spPr>
          <a:xfrm>
            <a:off x="6821630" y="2288267"/>
            <a:ext cx="2441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过参数化神经网络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F0FC6C14-A301-B20D-1521-67793970B1E1}"/>
              </a:ext>
            </a:extLst>
          </p:cNvPr>
          <p:cNvSpPr txBox="1"/>
          <p:nvPr/>
        </p:nvSpPr>
        <p:spPr>
          <a:xfrm>
            <a:off x="7951558" y="3183388"/>
            <a:ext cx="15953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经验倾向于</a:t>
            </a: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DBC1A029-34C6-CB3E-40F6-61FC0A899257}"/>
              </a:ext>
            </a:extLst>
          </p:cNvPr>
          <p:cNvCxnSpPr/>
          <p:nvPr/>
        </p:nvCxnSpPr>
        <p:spPr>
          <a:xfrm flipH="1">
            <a:off x="7929367" y="2944287"/>
            <a:ext cx="2540" cy="85598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51FE0084-C38F-4115-EEB1-5544429B9E5A}"/>
              </a:ext>
            </a:extLst>
          </p:cNvPr>
          <p:cNvSpPr txBox="1"/>
          <p:nvPr/>
        </p:nvSpPr>
        <p:spPr>
          <a:xfrm>
            <a:off x="3120998" y="3935375"/>
            <a:ext cx="10310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过拟合</a:t>
            </a: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D868E4D1-5263-B434-20C5-50A208C11905}"/>
              </a:ext>
            </a:extLst>
          </p:cNvPr>
          <p:cNvSpPr txBox="1"/>
          <p:nvPr/>
        </p:nvSpPr>
        <p:spPr>
          <a:xfrm>
            <a:off x="7286597" y="3935228"/>
            <a:ext cx="17799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符合直观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8E1340-477B-8B88-487E-F21D0FCBCE75}"/>
              </a:ext>
            </a:extLst>
          </p:cNvPr>
          <p:cNvSpPr txBox="1"/>
          <p:nvPr/>
        </p:nvSpPr>
        <p:spPr>
          <a:xfrm>
            <a:off x="7033810" y="4331699"/>
            <a:ext cx="1883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A62038"/>
                </a:solidFill>
                <a:latin typeface="Arial"/>
                <a:ea typeface="微软雅黑"/>
              </a:rPr>
              <a:t>通常泛化性好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0BB7DD3F-DE37-F0C7-9876-D181EE1819AD}"/>
              </a:ext>
            </a:extLst>
          </p:cNvPr>
          <p:cNvSpPr txBox="1"/>
          <p:nvPr/>
        </p:nvSpPr>
        <p:spPr>
          <a:xfrm>
            <a:off x="387264" y="950726"/>
            <a:ext cx="961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30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年谜团：为何</a:t>
            </a:r>
            <a:r>
              <a:rPr lang="zh-CN" altLang="en-US" sz="2400" b="1" dirty="0">
                <a:solidFill>
                  <a:srgbClr val="A62038"/>
                </a:solidFill>
                <a:latin typeface="Arial"/>
                <a:ea typeface="微软雅黑"/>
              </a:rPr>
              <a:t>过参数化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的神经网络</a:t>
            </a:r>
            <a:r>
              <a:rPr lang="zh-CN" altLang="en-US" sz="2400" b="1" dirty="0">
                <a:solidFill>
                  <a:srgbClr val="A62038"/>
                </a:solidFill>
                <a:latin typeface="Arial"/>
                <a:ea typeface="微软雅黑"/>
              </a:rPr>
              <a:t>不会明显过拟合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？</a:t>
            </a:r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(</a:t>
            </a:r>
            <a:r>
              <a:rPr lang="en-US" altLang="zh-CN" sz="2400" dirty="0" err="1">
                <a:solidFill>
                  <a:srgbClr val="000000"/>
                </a:solidFill>
                <a:latin typeface="Arial"/>
                <a:ea typeface="微软雅黑"/>
              </a:rPr>
              <a:t>Breiman</a:t>
            </a:r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 1995)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8D0DD9B-12DC-B110-BDF9-6CD51DEF8ACB}"/>
              </a:ext>
            </a:extLst>
          </p:cNvPr>
          <p:cNvSpPr txBox="1"/>
          <p:nvPr/>
        </p:nvSpPr>
        <p:spPr>
          <a:xfrm>
            <a:off x="2512207" y="2288679"/>
            <a:ext cx="22317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过参数化模型</a:t>
            </a:r>
            <a:endParaRPr lang="en-US" altLang="zh-CN" sz="2200" b="1" dirty="0">
              <a:solidFill>
                <a:srgbClr val="000000"/>
              </a:solidFill>
              <a:latin typeface="Arial"/>
              <a:ea typeface="微软雅黑"/>
            </a:endParaRP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(</a:t>
            </a:r>
            <a:r>
              <a:rPr lang="zh-CN" altLang="en-US" sz="2200" dirty="0">
                <a:solidFill>
                  <a:srgbClr val="000000"/>
                </a:solidFill>
                <a:latin typeface="Arial"/>
                <a:ea typeface="微软雅黑"/>
              </a:rPr>
              <a:t>参数量</a:t>
            </a:r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&gt;</a:t>
            </a:r>
            <a:r>
              <a:rPr lang="zh-CN" altLang="en-US" sz="2200" dirty="0">
                <a:solidFill>
                  <a:srgbClr val="000000"/>
                </a:solidFill>
                <a:latin typeface="Arial"/>
                <a:ea typeface="微软雅黑"/>
              </a:rPr>
              <a:t>样本量</a:t>
            </a:r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)</a:t>
            </a:r>
            <a:endParaRPr lang="zh-CN" altLang="en-US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E250E85-2376-5BBF-1304-42D07681A957}"/>
              </a:ext>
            </a:extLst>
          </p:cNvPr>
          <p:cNvCxnSpPr/>
          <p:nvPr/>
        </p:nvCxnSpPr>
        <p:spPr>
          <a:xfrm flipH="1">
            <a:off x="3634430" y="2944287"/>
            <a:ext cx="2540" cy="85598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BB808CDB-499E-41BF-0500-63E12A6AC02D}"/>
              </a:ext>
            </a:extLst>
          </p:cNvPr>
          <p:cNvSpPr txBox="1"/>
          <p:nvPr/>
        </p:nvSpPr>
        <p:spPr>
          <a:xfrm>
            <a:off x="3749966" y="3183388"/>
            <a:ext cx="15953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可以表达出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6BA1DA70-1CDF-56EF-F72D-E14C03CE228D}"/>
              </a:ext>
            </a:extLst>
          </p:cNvPr>
          <p:cNvSpPr txBox="1"/>
          <p:nvPr/>
        </p:nvSpPr>
        <p:spPr>
          <a:xfrm>
            <a:off x="415234" y="1607133"/>
            <a:ext cx="62607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传统的学习理论无法解释过参数化情形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15CD2-7742-7427-2948-F2EE93B45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0A81E68-3A12-7C0D-F3CF-53CCD070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隐式偏好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1A17551-B8F6-3FA9-1A17-EB5BA652E4E6}"/>
              </a:ext>
            </a:extLst>
          </p:cNvPr>
          <p:cNvSpPr/>
          <p:nvPr/>
        </p:nvSpPr>
        <p:spPr>
          <a:xfrm>
            <a:off x="3591983" y="1039045"/>
            <a:ext cx="4965700" cy="1635185"/>
          </a:xfrm>
          <a:prstGeom prst="roundRect">
            <a:avLst/>
          </a:prstGeom>
          <a:solidFill>
            <a:srgbClr val="FFFFFF">
              <a:lumMod val="95000"/>
            </a:srgbClr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012AB76-BDF2-0F43-1012-C0BF1F6F3C48}"/>
              </a:ext>
            </a:extLst>
          </p:cNvPr>
          <p:cNvSpPr txBox="1"/>
          <p:nvPr/>
        </p:nvSpPr>
        <p:spPr>
          <a:xfrm>
            <a:off x="6855944" y="317147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训练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">
                <a:extLst>
                  <a:ext uri="{FF2B5EF4-FFF2-40B4-BE49-F238E27FC236}">
                    <a16:creationId xmlns:a16="http://schemas.microsoft.com/office/drawing/2014/main" id="{1832BB3B-F029-EE33-F615-A386E32BC3FC}"/>
                  </a:ext>
                </a:extLst>
              </p:cNvPr>
              <p:cNvSpPr txBox="1"/>
              <p:nvPr/>
            </p:nvSpPr>
            <p:spPr>
              <a:xfrm>
                <a:off x="6290053" y="3900246"/>
                <a:ext cx="4076700" cy="10164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altLang="zh-CN" sz="22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CN" sz="22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sz="2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altLang="zh-CN" sz="2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altLang="zh-CN" sz="22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CN" altLang="en-US" sz="2200" dirty="0">
                  <a:solidFill>
                    <a:srgbClr val="000000"/>
                  </a:solidFill>
                  <a:latin typeface="Arial"/>
                  <a:ea typeface="微软雅黑"/>
                </a:endParaRPr>
              </a:p>
            </p:txBody>
          </p:sp>
        </mc:Choice>
        <mc:Fallback xmlns="">
          <p:sp>
            <p:nvSpPr>
              <p:cNvPr id="21" name="文本框 2">
                <a:extLst>
                  <a:ext uri="{FF2B5EF4-FFF2-40B4-BE49-F238E27FC236}">
                    <a16:creationId xmlns:a16="http://schemas.microsoft.com/office/drawing/2014/main" id="{1832BB3B-F029-EE33-F615-A386E32BC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0053" y="3900246"/>
                <a:ext cx="4076700" cy="10164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>
            <a:extLst>
              <a:ext uri="{FF2B5EF4-FFF2-40B4-BE49-F238E27FC236}">
                <a16:creationId xmlns:a16="http://schemas.microsoft.com/office/drawing/2014/main" id="{5C4E99C8-0C3B-AA34-4586-51B1AAB74CB8}"/>
              </a:ext>
            </a:extLst>
          </p:cNvPr>
          <p:cNvSpPr txBox="1"/>
          <p:nvPr/>
        </p:nvSpPr>
        <p:spPr>
          <a:xfrm>
            <a:off x="2348154" y="3369861"/>
            <a:ext cx="2380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参数量 </a:t>
            </a:r>
            <a:r>
              <a:rPr lang="en-US" altLang="zh-CN" sz="2400" b="1" dirty="0">
                <a:solidFill>
                  <a:srgbClr val="000000"/>
                </a:solidFill>
                <a:latin typeface="Arial"/>
                <a:ea typeface="微软雅黑"/>
              </a:rPr>
              <a:t>&gt; </a:t>
            </a:r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样本数</a:t>
            </a:r>
            <a:endParaRPr lang="en-US" altLang="zh-CN" sz="2400" b="1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F29CF2AA-08D3-F77E-98CC-E5822D83B90A}"/>
              </a:ext>
            </a:extLst>
          </p:cNvPr>
          <p:cNvCxnSpPr/>
          <p:nvPr/>
        </p:nvCxnSpPr>
        <p:spPr>
          <a:xfrm>
            <a:off x="4822762" y="3577610"/>
            <a:ext cx="825040" cy="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3637F990-0DC6-F7FE-E47B-2857BE29D117}"/>
              </a:ext>
            </a:extLst>
          </p:cNvPr>
          <p:cNvSpPr txBox="1"/>
          <p:nvPr/>
        </p:nvSpPr>
        <p:spPr>
          <a:xfrm>
            <a:off x="5708749" y="336986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多解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B3D0BAF6-01C2-BC70-73AF-70C2188A66FA}"/>
              </a:ext>
            </a:extLst>
          </p:cNvPr>
          <p:cNvCxnSpPr/>
          <p:nvPr/>
        </p:nvCxnSpPr>
        <p:spPr>
          <a:xfrm>
            <a:off x="6569669" y="3577610"/>
            <a:ext cx="1346450" cy="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428FFC9-A727-123D-BBBF-6FA65397B35F}"/>
              </a:ext>
            </a:extLst>
          </p:cNvPr>
          <p:cNvSpPr txBox="1"/>
          <p:nvPr/>
        </p:nvSpPr>
        <p:spPr>
          <a:xfrm>
            <a:off x="8036832" y="3369861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泛化性好的解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F7C7A65A-BC5E-80DA-8192-99A6C37296DF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57092" y="1560889"/>
            <a:ext cx="1566947" cy="981494"/>
          </a:xfrm>
          <a:prstGeom prst="rect">
            <a:avLst/>
          </a:prstGeom>
        </p:spPr>
      </p:pic>
      <p:sp>
        <p:nvSpPr>
          <p:cNvPr id="28" name="文本框 27">
            <a:extLst>
              <a:ext uri="{FF2B5EF4-FFF2-40B4-BE49-F238E27FC236}">
                <a16:creationId xmlns:a16="http://schemas.microsoft.com/office/drawing/2014/main" id="{26902EC2-DEFE-4391-C837-5D587EB63DF9}"/>
              </a:ext>
            </a:extLst>
          </p:cNvPr>
          <p:cNvSpPr txBox="1"/>
          <p:nvPr/>
        </p:nvSpPr>
        <p:spPr>
          <a:xfrm>
            <a:off x="1916427" y="4183771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实际上，损失函数无显式偏好：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0100C87-4D52-7CB0-8D8E-2E6B39955317}"/>
              </a:ext>
            </a:extLst>
          </p:cNvPr>
          <p:cNvSpPr txBox="1"/>
          <p:nvPr/>
        </p:nvSpPr>
        <p:spPr>
          <a:xfrm>
            <a:off x="381242" y="4877798"/>
            <a:ext cx="11703514" cy="1308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rgbClr val="0000FF"/>
                </a:solidFill>
                <a:latin typeface="Arial"/>
                <a:ea typeface="微软雅黑"/>
              </a:rPr>
              <a:t>核心关键问题：</a:t>
            </a:r>
            <a:endParaRPr lang="en-US" altLang="zh-CN" sz="2800" b="1" dirty="0">
              <a:solidFill>
                <a:srgbClr val="0000FF"/>
              </a:solidFill>
              <a:latin typeface="Arial"/>
              <a:ea typeface="微软雅黑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神经网络的</a:t>
            </a:r>
            <a:r>
              <a:rPr lang="zh-CN" altLang="en-US" sz="2800" b="1" dirty="0">
                <a:solidFill>
                  <a:srgbClr val="A62038"/>
                </a:solidFill>
                <a:latin typeface="Arial"/>
                <a:ea typeface="微软雅黑"/>
              </a:rPr>
              <a:t>隐式偏好</a:t>
            </a: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是什么？</a:t>
            </a:r>
            <a:r>
              <a:rPr lang="zh-CN" altLang="en-US" sz="2800" b="1" dirty="0">
                <a:solidFill>
                  <a:srgbClr val="A62038"/>
                </a:solidFill>
                <a:latin typeface="Arial"/>
                <a:ea typeface="微软雅黑"/>
              </a:rPr>
              <a:t>机制</a:t>
            </a: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是什么？</a:t>
            </a:r>
            <a:endParaRPr lang="en-US" altLang="zh-CN" sz="2800" b="1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BB45A07A-4A67-EF32-B89A-7EB30FC43217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88613" y="1542480"/>
            <a:ext cx="1591937" cy="981495"/>
          </a:xfrm>
          <a:prstGeom prst="rect">
            <a:avLst/>
          </a:prstGeom>
        </p:spPr>
      </p:pic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DAFD3816-016D-07DB-5D46-E853F40041A5}"/>
              </a:ext>
            </a:extLst>
          </p:cNvPr>
          <p:cNvSpPr/>
          <p:nvPr/>
        </p:nvSpPr>
        <p:spPr>
          <a:xfrm>
            <a:off x="2372671" y="3288951"/>
            <a:ext cx="2316012" cy="558391"/>
          </a:xfrm>
          <a:prstGeom prst="roundRect">
            <a:avLst/>
          </a:prstGeom>
          <a:noFill/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6E060D09-0707-B738-BD30-0B094922A51E}"/>
              </a:ext>
            </a:extLst>
          </p:cNvPr>
          <p:cNvCxnSpPr/>
          <p:nvPr/>
        </p:nvCxnSpPr>
        <p:spPr>
          <a:xfrm flipV="1">
            <a:off x="6099239" y="2729759"/>
            <a:ext cx="0" cy="559192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F3D9483F-4032-8749-529D-6CFCBFFD8FCB}"/>
              </a:ext>
            </a:extLst>
          </p:cNvPr>
          <p:cNvSpPr txBox="1"/>
          <p:nvPr/>
        </p:nvSpPr>
        <p:spPr>
          <a:xfrm>
            <a:off x="3685956" y="1044507"/>
            <a:ext cx="30289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训练</a:t>
            </a:r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误差</a:t>
            </a:r>
            <a:r>
              <a:rPr lang="en-US" altLang="zh-CN" sz="2200" b="1" dirty="0">
                <a:solidFill>
                  <a:srgbClr val="000000"/>
                </a:solidFill>
                <a:latin typeface="Arial"/>
                <a:ea typeface="微软雅黑"/>
              </a:rPr>
              <a:t>=0</a:t>
            </a:r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的集合：</a:t>
            </a:r>
            <a:endParaRPr lang="en-US" altLang="zh-CN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F61EB26-6AA0-8463-0B35-F27692659752}"/>
              </a:ext>
            </a:extLst>
          </p:cNvPr>
          <p:cNvSpPr txBox="1"/>
          <p:nvPr/>
        </p:nvSpPr>
        <p:spPr>
          <a:xfrm>
            <a:off x="7558931" y="1802394"/>
            <a:ext cx="945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>
                <a:solidFill>
                  <a:srgbClr val="000000"/>
                </a:solidFill>
                <a:latin typeface="Arial"/>
                <a:ea typeface="微软雅黑"/>
              </a:rPr>
              <a:t>……</a:t>
            </a:r>
            <a:endParaRPr lang="en-US" altLang="zh-CN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9101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/>
      <p:bldP spid="24" grpId="0"/>
      <p:bldP spid="26" grpId="0"/>
      <p:bldP spid="28" grpId="0"/>
      <p:bldP spid="29" grpId="0"/>
      <p:bldP spid="33" grpId="0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08FFA-1261-A399-551C-3941795A3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C729226A-AB09-13D0-BAE0-4D245D1C447C}"/>
              </a:ext>
            </a:extLst>
          </p:cNvPr>
          <p:cNvSpPr txBox="1"/>
          <p:nvPr/>
        </p:nvSpPr>
        <p:spPr>
          <a:xfrm>
            <a:off x="1675055" y="1591487"/>
            <a:ext cx="895629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神经网络在训练过程中的隐式偏好是什么？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真实数据过于复杂！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讨论：怎么办？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EE200D4-EC74-5D37-BAA4-EAA897214F7C}"/>
              </a:ext>
            </a:extLst>
          </p:cNvPr>
          <p:cNvSpPr txBox="1"/>
          <p:nvPr/>
        </p:nvSpPr>
        <p:spPr>
          <a:xfrm>
            <a:off x="2850225" y="4859796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/>
              <a:t>用简单的数据进行控制变量的实验</a:t>
            </a:r>
          </a:p>
        </p:txBody>
      </p:sp>
    </p:spTree>
    <p:extLst>
      <p:ext uri="{BB962C8B-B14F-4D97-AF65-F5344CB8AC3E}">
        <p14:creationId xmlns:p14="http://schemas.microsoft.com/office/powerpoint/2010/main" val="4166858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42D90-AA48-E5EE-B287-D0CDAA2C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45428A-B994-A0F5-E025-EC08D672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时域空间一维函数训练过程</a:t>
            </a:r>
          </a:p>
        </p:txBody>
      </p:sp>
      <p:pic>
        <p:nvPicPr>
          <p:cNvPr id="4" name="animationxy">
            <a:hlinkClick r:id="" action="ppaction://media"/>
            <a:extLst>
              <a:ext uri="{FF2B5EF4-FFF2-40B4-BE49-F238E27FC236}">
                <a16:creationId xmlns:a16="http://schemas.microsoft.com/office/drawing/2014/main" id="{3DF28B3A-79FF-1B78-EA25-986E46C27F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>
                  <p14:trim end="7000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213967" y="1000064"/>
            <a:ext cx="7888660" cy="5256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D06C359-BB64-9C10-C919-93A42151AC6B}"/>
              </a:ext>
            </a:extLst>
          </p:cNvPr>
          <p:cNvSpPr txBox="1"/>
          <p:nvPr/>
        </p:nvSpPr>
        <p:spPr>
          <a:xfrm>
            <a:off x="381242" y="27564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FE03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红色：目标函数</a:t>
            </a:r>
            <a:endParaRPr lang="en-US" altLang="zh-CN" sz="2400" dirty="0">
              <a:solidFill>
                <a:srgbClr val="FE030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2400" dirty="0">
                <a:solidFill>
                  <a:srgbClr val="4845D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蓝色：神经网络输出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1EACE2-55DA-D05D-56B7-04DFA22437D2}"/>
              </a:ext>
            </a:extLst>
          </p:cNvPr>
          <p:cNvSpPr txBox="1"/>
          <p:nvPr/>
        </p:nvSpPr>
        <p:spPr>
          <a:xfrm>
            <a:off x="1166140" y="1007827"/>
            <a:ext cx="4211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讨论：训练过程有什么特点？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518C935-DEA6-E552-16F2-7D782973EE2D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120E8DC-DD14-6AC9-24D5-52DCD7D9FBDF}"/>
              </a:ext>
            </a:extLst>
          </p:cNvPr>
          <p:cNvSpPr txBox="1"/>
          <p:nvPr/>
        </p:nvSpPr>
        <p:spPr>
          <a:xfrm>
            <a:off x="7385114" y="100782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从轮廓到细节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4897847-3A75-455F-4DD5-2073A35BA869}"/>
              </a:ext>
            </a:extLst>
          </p:cNvPr>
          <p:cNvSpPr txBox="1"/>
          <p:nvPr/>
        </p:nvSpPr>
        <p:spPr>
          <a:xfrm>
            <a:off x="1239296" y="2096376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怎么定量刻画这个过程？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4978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9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7" grpId="0"/>
      <p:bldP spid="5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1DAE-C394-029D-EB6D-97C95AA1D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64857DD3-5AFD-4B0C-F595-C50B9495B82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99000"/>
          </a:blip>
          <a:stretch>
            <a:fillRect/>
          </a:stretch>
        </p:blipFill>
        <p:spPr>
          <a:xfrm>
            <a:off x="2362199" y="2173514"/>
            <a:ext cx="7685314" cy="230424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4600CDD-F6EC-7243-3982-23E2EF346FD6}"/>
              </a:ext>
            </a:extLst>
          </p:cNvPr>
          <p:cNvSpPr txBox="1"/>
          <p:nvPr/>
        </p:nvSpPr>
        <p:spPr>
          <a:xfrm>
            <a:off x="3712684" y="1207218"/>
            <a:ext cx="47666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频率：</a:t>
            </a:r>
            <a:r>
              <a:rPr lang="zh-CN" altLang="en-US" sz="2400" b="0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平整度、振</a:t>
            </a:r>
            <a:r>
              <a:rPr lang="zh-CN" altLang="en-US" sz="2400" dirty="0">
                <a:solidFill>
                  <a:srgbClr val="3C404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荡</a:t>
            </a:r>
            <a:r>
              <a:rPr lang="zh-CN" altLang="en-US" sz="2400" b="0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、轮廓、细节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椭圆形标注 18">
            <a:extLst>
              <a:ext uri="{FF2B5EF4-FFF2-40B4-BE49-F238E27FC236}">
                <a16:creationId xmlns:a16="http://schemas.microsoft.com/office/drawing/2014/main" id="{FA6D9893-7244-DE43-F046-D636AD02584D}"/>
              </a:ext>
            </a:extLst>
          </p:cNvPr>
          <p:cNvSpPr/>
          <p:nvPr/>
        </p:nvSpPr>
        <p:spPr>
          <a:xfrm>
            <a:off x="10047513" y="1032647"/>
            <a:ext cx="2097974" cy="973300"/>
          </a:xfrm>
          <a:prstGeom prst="wedgeEllipseCallout">
            <a:avLst>
              <a:gd name="adj1" fmla="val -80666"/>
              <a:gd name="adj2" fmla="val 10902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0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</a:t>
            </a:r>
            <a:endParaRPr kumimoji="1" lang="zh-CN" altLang="en-US" sz="4000" dirty="0">
              <a:solidFill>
                <a:srgbClr val="C00000"/>
              </a:solidFill>
            </a:endParaRPr>
          </a:p>
        </p:txBody>
      </p:sp>
      <p:sp>
        <p:nvSpPr>
          <p:cNvPr id="3" name="椭圆形标注 18">
            <a:extLst>
              <a:ext uri="{FF2B5EF4-FFF2-40B4-BE49-F238E27FC236}">
                <a16:creationId xmlns:a16="http://schemas.microsoft.com/office/drawing/2014/main" id="{4F55D86C-25A3-5715-1679-3BB3D7B5655F}"/>
              </a:ext>
            </a:extLst>
          </p:cNvPr>
          <p:cNvSpPr/>
          <p:nvPr/>
        </p:nvSpPr>
        <p:spPr>
          <a:xfrm>
            <a:off x="9053284" y="4852054"/>
            <a:ext cx="2097974" cy="973300"/>
          </a:xfrm>
          <a:prstGeom prst="wedgeEllipseCallout">
            <a:avLst>
              <a:gd name="adj1" fmla="val -138433"/>
              <a:gd name="adj2" fmla="val -194448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0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幅度</a:t>
            </a:r>
            <a:endParaRPr kumimoji="1" lang="zh-CN" altLang="en-US" sz="4000" dirty="0">
              <a:solidFill>
                <a:srgbClr val="C00000"/>
              </a:solidFill>
            </a:endParaRPr>
          </a:p>
        </p:txBody>
      </p:sp>
      <p:sp>
        <p:nvSpPr>
          <p:cNvPr id="4" name="椭圆形标注 18">
            <a:extLst>
              <a:ext uri="{FF2B5EF4-FFF2-40B4-BE49-F238E27FC236}">
                <a16:creationId xmlns:a16="http://schemas.microsoft.com/office/drawing/2014/main" id="{3BC7D80B-57BF-E6BA-25B1-4D065FD55884}"/>
              </a:ext>
            </a:extLst>
          </p:cNvPr>
          <p:cNvSpPr/>
          <p:nvPr/>
        </p:nvSpPr>
        <p:spPr>
          <a:xfrm>
            <a:off x="729340" y="5062511"/>
            <a:ext cx="6564089" cy="973300"/>
          </a:xfrm>
          <a:prstGeom prst="wedgeEllipseCallout">
            <a:avLst>
              <a:gd name="adj1" fmla="val -7359"/>
              <a:gd name="adj2" fmla="val -19146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28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函数表示成三角函数的和</a:t>
            </a:r>
            <a:endParaRPr kumimoji="1" lang="zh-CN" altLang="en-US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9698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标题 22">
            <a:extLst>
              <a:ext uri="{FF2B5EF4-FFF2-40B4-BE49-F238E27FC236}">
                <a16:creationId xmlns:a16="http://schemas.microsoft.com/office/drawing/2014/main" id="{A048031C-ACCD-4F47-AC1D-F55A10296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傅里叶</a:t>
            </a:r>
            <a:r>
              <a:rPr lang="zh-CN" altLang="en-US" dirty="0">
                <a:latin typeface="Arial" panose="020B0604020202020204" pitchFamily="34" charset="0"/>
              </a:rPr>
              <a:t>展开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C853C4E-16AB-43D1-3413-60CB51ECC5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2" name="内容占位符 4">
            <a:extLst>
              <a:ext uri="{FF2B5EF4-FFF2-40B4-BE49-F238E27FC236}">
                <a16:creationId xmlns:a16="http://schemas.microsoft.com/office/drawing/2014/main" id="{0D0DC395-DB96-088F-5C40-8E4CDD8EB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11438" y="1145516"/>
            <a:ext cx="6731706" cy="500513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20545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419C-5128-005F-D7E1-AC6E9ACA6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EC8FAA-640A-3970-69E1-44EAE0C9A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频域空间一维函数训练过程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CF73E2-4027-42FE-9D12-D0BF003F84DE}"/>
              </a:ext>
            </a:extLst>
          </p:cNvPr>
          <p:cNvSpPr txBox="1"/>
          <p:nvPr/>
        </p:nvSpPr>
        <p:spPr>
          <a:xfrm>
            <a:off x="381242" y="27564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FE03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红色：目标函数</a:t>
            </a:r>
            <a:endParaRPr lang="en-US" altLang="zh-CN" sz="2400" dirty="0">
              <a:solidFill>
                <a:srgbClr val="FE030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2400" dirty="0">
                <a:solidFill>
                  <a:srgbClr val="4845D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蓝色：神经网络输出</a:t>
            </a:r>
          </a:p>
        </p:txBody>
      </p:sp>
      <p:pic>
        <p:nvPicPr>
          <p:cNvPr id="9" name="animation">
            <a:hlinkClick r:id="" action="ppaction://media"/>
            <a:extLst>
              <a:ext uri="{FF2B5EF4-FFF2-40B4-BE49-F238E27FC236}">
                <a16:creationId xmlns:a16="http://schemas.microsoft.com/office/drawing/2014/main" id="{D3F8E210-824E-67CE-4329-3143940E87C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>
                  <p14:trim end="21334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601378" y="900012"/>
            <a:ext cx="7590622" cy="505797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7D02D6D7-D50A-7868-C169-E1E78975BDFF}"/>
              </a:ext>
            </a:extLst>
          </p:cNvPr>
          <p:cNvSpPr txBox="1"/>
          <p:nvPr/>
        </p:nvSpPr>
        <p:spPr>
          <a:xfrm>
            <a:off x="533400" y="901596"/>
            <a:ext cx="114241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频率原则（</a:t>
            </a:r>
            <a:r>
              <a:rPr lang="en-US" altLang="zh-CN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Frequency Principle/Spectral bias</a:t>
            </a:r>
            <a:r>
              <a:rPr lang="zh-CN" altLang="en-US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）：神经网络按照从低频至高频的顺序拟合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72296E-F654-548D-EFFD-B841CE0F92D1}"/>
              </a:ext>
            </a:extLst>
          </p:cNvPr>
          <p:cNvSpPr txBox="1"/>
          <p:nvPr/>
        </p:nvSpPr>
        <p:spPr>
          <a:xfrm>
            <a:off x="4201268" y="312576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振幅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0FE41A8-150A-99F5-1161-AC2058E6C614}"/>
              </a:ext>
            </a:extLst>
          </p:cNvPr>
          <p:cNvSpPr txBox="1"/>
          <p:nvPr/>
        </p:nvSpPr>
        <p:spPr>
          <a:xfrm>
            <a:off x="7996579" y="5727155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1C6BF7-9564-E194-C742-34719CC82A8D}"/>
              </a:ext>
            </a:extLst>
          </p:cNvPr>
          <p:cNvSpPr txBox="1"/>
          <p:nvPr/>
        </p:nvSpPr>
        <p:spPr>
          <a:xfrm>
            <a:off x="381242" y="5611739"/>
            <a:ext cx="6878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tx2"/>
                </a:solidFill>
              </a:rPr>
              <a:t>Q: </a:t>
            </a:r>
            <a:r>
              <a:rPr lang="zh-CN" altLang="en-US" sz="2400" b="1" dirty="0">
                <a:solidFill>
                  <a:schemeClr val="tx2"/>
                </a:solidFill>
              </a:rPr>
              <a:t>影响拟合顺序的频率还是振幅？怎么设计实验？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FA813A0-C6F2-CC97-8285-AC1C22455E37}"/>
              </a:ext>
            </a:extLst>
          </p:cNvPr>
          <p:cNvSpPr txBox="1"/>
          <p:nvPr/>
        </p:nvSpPr>
        <p:spPr>
          <a:xfrm>
            <a:off x="381242" y="4781208"/>
            <a:ext cx="33794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tx2"/>
                </a:solidFill>
              </a:rPr>
              <a:t>Q: </a:t>
            </a:r>
            <a:r>
              <a:rPr lang="zh-CN" altLang="en-US" sz="2400" b="1" dirty="0">
                <a:solidFill>
                  <a:schemeClr val="tx2"/>
                </a:solidFill>
              </a:rPr>
              <a:t>能否证明频率原则？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7600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9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vol="80000">
                <p:cTn id="20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  <p:bldLst>
      <p:bldP spid="4" grpId="0"/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9ED5-EDA1-44E6-3CD5-282019862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2F557F-05AD-AC70-C65A-C8688992C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控制变量：控制不同频率的振幅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8004308-A00D-08B8-729C-5F7A0E61CC16}"/>
              </a:ext>
            </a:extLst>
          </p:cNvPr>
          <p:cNvSpPr txBox="1">
            <a:spLocks/>
          </p:cNvSpPr>
          <p:nvPr/>
        </p:nvSpPr>
        <p:spPr>
          <a:xfrm>
            <a:off x="3884595" y="906583"/>
            <a:ext cx="4076299" cy="58403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>
            <a:lvl1pPr algn="l" defTabSz="121920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marR="0" lvl="0" indent="0" algn="ctr" defTabSz="121920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振幅相同</a:t>
            </a:r>
            <a:endParaRPr kumimoji="0" lang="en-US" sz="3400" b="1" i="0" u="none" strike="noStrike" kern="1200" cap="none" spc="0" normalizeH="0" baseline="0" noProof="0" dirty="0">
              <a:ln>
                <a:noFill/>
              </a:ln>
              <a:solidFill>
                <a:srgbClr val="242C2D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A413C0FC-3BC2-9591-6612-300494E42F56}"/>
                  </a:ext>
                </a:extLst>
              </p:cNvPr>
              <p:cNvSpPr txBox="1"/>
              <p:nvPr/>
            </p:nvSpPr>
            <p:spPr>
              <a:xfrm>
                <a:off x="4379917" y="5551307"/>
                <a:ext cx="3085653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5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kumimoji="0" lang="zh-CN" altLang="en-US" sz="2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A413C0FC-3BC2-9591-6612-300494E42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917" y="5551307"/>
                <a:ext cx="308565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8F428D10-8CF3-750E-BCD1-E0449FB27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72478"/>
            <a:ext cx="12192000" cy="331304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DB7E0DF-A771-0264-A2AA-FDC1F8EFE9BA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</p:spTree>
    <p:extLst>
      <p:ext uri="{BB962C8B-B14F-4D97-AF65-F5344CB8AC3E}">
        <p14:creationId xmlns:p14="http://schemas.microsoft.com/office/powerpoint/2010/main" val="2336707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9F40D-976C-6098-43F7-E31E658A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B3FF4BF-4867-8A2F-4221-DD51F097F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控制变量：控制不同频率的振幅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23AAFA4E-B2AA-78C4-65C2-C15C0B5BE3A5}"/>
              </a:ext>
            </a:extLst>
          </p:cNvPr>
          <p:cNvSpPr txBox="1">
            <a:spLocks/>
          </p:cNvSpPr>
          <p:nvPr/>
        </p:nvSpPr>
        <p:spPr>
          <a:xfrm>
            <a:off x="3884595" y="906583"/>
            <a:ext cx="4076299" cy="58403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>
            <a:lvl1pPr algn="l" defTabSz="121920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marR="0" lvl="0" indent="0" algn="ctr" defTabSz="121920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振幅相同</a:t>
            </a:r>
            <a:endParaRPr kumimoji="0" lang="en-US" sz="3400" b="1" i="0" u="none" strike="noStrike" kern="1200" cap="none" spc="0" normalizeH="0" baseline="0" noProof="0" dirty="0">
              <a:ln>
                <a:noFill/>
              </a:ln>
              <a:solidFill>
                <a:srgbClr val="242C2D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EDE1BCA-12BF-CB1F-3BA9-7FE7F4D9F8F2}"/>
                  </a:ext>
                </a:extLst>
              </p:cNvPr>
              <p:cNvSpPr txBox="1"/>
              <p:nvPr/>
            </p:nvSpPr>
            <p:spPr>
              <a:xfrm>
                <a:off x="1462323" y="5660615"/>
                <a:ext cx="4331892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5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kumimoji="0" lang="zh-CN" altLang="en-US" sz="2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EDE1BCA-12BF-CB1F-3BA9-7FE7F4D9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2323" y="5660615"/>
                <a:ext cx="433189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>
            <a:extLst>
              <a:ext uri="{FF2B5EF4-FFF2-40B4-BE49-F238E27FC236}">
                <a16:creationId xmlns:a16="http://schemas.microsoft.com/office/drawing/2014/main" id="{D8BFAB92-F785-81C8-1B37-00A21C48B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821" y="5656134"/>
            <a:ext cx="3529013" cy="48358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B4B7550-0591-ECAB-F0F2-127C05B797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666" y="1765347"/>
            <a:ext cx="9990667" cy="389405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A08E2D7-B292-6D7C-9B4F-12A6EF9EBA93}"/>
              </a:ext>
            </a:extLst>
          </p:cNvPr>
          <p:cNvSpPr txBox="1"/>
          <p:nvPr/>
        </p:nvSpPr>
        <p:spPr>
          <a:xfrm>
            <a:off x="4119514" y="4053525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/>
              <a:t>频率空间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AD70734-BFD4-EC2A-814B-3436C6BC95B9}"/>
              </a:ext>
            </a:extLst>
          </p:cNvPr>
          <p:cNvSpPr txBox="1"/>
          <p:nvPr/>
        </p:nvSpPr>
        <p:spPr>
          <a:xfrm>
            <a:off x="6919274" y="1459571"/>
            <a:ext cx="3005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三个主要频率的相对误差</a:t>
            </a:r>
          </a:p>
        </p:txBody>
      </p:sp>
    </p:spTree>
    <p:extLst>
      <p:ext uri="{BB962C8B-B14F-4D97-AF65-F5344CB8AC3E}">
        <p14:creationId xmlns:p14="http://schemas.microsoft.com/office/powerpoint/2010/main" val="1171439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C3696-91B9-31F2-67CF-D9F6B400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C7381F5-EB66-695D-560A-B3D546980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2D </a:t>
            </a:r>
            <a:r>
              <a:rPr lang="zh-CN" altLang="en-US" dirty="0"/>
              <a:t>图片拟合：先学轮廓再学细节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50E77F-BAB2-6EB7-CAE1-4DBD9A3CD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997" y="829158"/>
            <a:ext cx="6838006" cy="259984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9B410FA-9BA9-5E01-4BF4-980582C8A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7673" y="3417268"/>
            <a:ext cx="9596653" cy="2946462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A1C5474-B32F-61C1-4D3A-9E957BD73B21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335B67-B21A-3A7C-C34A-4CD84E54471E}"/>
              </a:ext>
            </a:extLst>
          </p:cNvPr>
          <p:cNvSpPr txBox="1"/>
          <p:nvPr/>
        </p:nvSpPr>
        <p:spPr>
          <a:xfrm>
            <a:off x="63500" y="4317476"/>
            <a:ext cx="14919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用未被遮挡的部分训练</a:t>
            </a:r>
          </a:p>
        </p:txBody>
      </p:sp>
    </p:spTree>
    <p:extLst>
      <p:ext uri="{BB962C8B-B14F-4D97-AF65-F5344CB8AC3E}">
        <p14:creationId xmlns:p14="http://schemas.microsoft.com/office/powerpoint/2010/main" val="204918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59A1D-46E7-218C-A16D-765374613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哪一部分先学习好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6DD99F-05F6-12D6-3715-6C6DC7207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左边是振荡，右边是平坦</a:t>
            </a:r>
          </a:p>
        </p:txBody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6E1F6C7-9EF3-F193-D16F-F67D2F5C4A0E}"/>
              </a:ext>
            </a:extLst>
          </p:cNvPr>
          <p:cNvSpPr/>
          <p:nvPr/>
        </p:nvSpPr>
        <p:spPr>
          <a:xfrm>
            <a:off x="2476500" y="1917700"/>
            <a:ext cx="8553450" cy="3022600"/>
          </a:xfrm>
          <a:custGeom>
            <a:avLst/>
            <a:gdLst>
              <a:gd name="connsiteX0" fmla="*/ 0 w 8553450"/>
              <a:gd name="connsiteY0" fmla="*/ 3022600 h 3022600"/>
              <a:gd name="connsiteX1" fmla="*/ 1060450 w 8553450"/>
              <a:gd name="connsiteY1" fmla="*/ 196850 h 3022600"/>
              <a:gd name="connsiteX2" fmla="*/ 1289050 w 8553450"/>
              <a:gd name="connsiteY2" fmla="*/ 2990850 h 3022600"/>
              <a:gd name="connsiteX3" fmla="*/ 1447800 w 8553450"/>
              <a:gd name="connsiteY3" fmla="*/ 190500 h 3022600"/>
              <a:gd name="connsiteX4" fmla="*/ 1644650 w 8553450"/>
              <a:gd name="connsiteY4" fmla="*/ 2965450 h 3022600"/>
              <a:gd name="connsiteX5" fmla="*/ 1778000 w 8553450"/>
              <a:gd name="connsiteY5" fmla="*/ 228600 h 3022600"/>
              <a:gd name="connsiteX6" fmla="*/ 2000250 w 8553450"/>
              <a:gd name="connsiteY6" fmla="*/ 3009900 h 3022600"/>
              <a:gd name="connsiteX7" fmla="*/ 2063750 w 8553450"/>
              <a:gd name="connsiteY7" fmla="*/ 0 h 3022600"/>
              <a:gd name="connsiteX8" fmla="*/ 2235200 w 8553450"/>
              <a:gd name="connsiteY8" fmla="*/ 3009900 h 3022600"/>
              <a:gd name="connsiteX9" fmla="*/ 2374900 w 8553450"/>
              <a:gd name="connsiteY9" fmla="*/ 184150 h 3022600"/>
              <a:gd name="connsiteX10" fmla="*/ 2520950 w 8553450"/>
              <a:gd name="connsiteY10" fmla="*/ 2959100 h 3022600"/>
              <a:gd name="connsiteX11" fmla="*/ 2705100 w 8553450"/>
              <a:gd name="connsiteY11" fmla="*/ 387350 h 3022600"/>
              <a:gd name="connsiteX12" fmla="*/ 2965450 w 8553450"/>
              <a:gd name="connsiteY12" fmla="*/ 1816100 h 3022600"/>
              <a:gd name="connsiteX13" fmla="*/ 4051300 w 8553450"/>
              <a:gd name="connsiteY13" fmla="*/ 2012950 h 3022600"/>
              <a:gd name="connsiteX14" fmla="*/ 8553450 w 8553450"/>
              <a:gd name="connsiteY14" fmla="*/ 1924050 h 302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553450" h="3022600">
                <a:moveTo>
                  <a:pt x="0" y="3022600"/>
                </a:moveTo>
                <a:cubicBezTo>
                  <a:pt x="422804" y="1612371"/>
                  <a:pt x="845608" y="202142"/>
                  <a:pt x="1060450" y="196850"/>
                </a:cubicBezTo>
                <a:cubicBezTo>
                  <a:pt x="1275292" y="191558"/>
                  <a:pt x="1224492" y="2991908"/>
                  <a:pt x="1289050" y="2990850"/>
                </a:cubicBezTo>
                <a:cubicBezTo>
                  <a:pt x="1353608" y="2989792"/>
                  <a:pt x="1388533" y="194733"/>
                  <a:pt x="1447800" y="190500"/>
                </a:cubicBezTo>
                <a:cubicBezTo>
                  <a:pt x="1507067" y="186267"/>
                  <a:pt x="1589617" y="2959100"/>
                  <a:pt x="1644650" y="2965450"/>
                </a:cubicBezTo>
                <a:cubicBezTo>
                  <a:pt x="1699683" y="2971800"/>
                  <a:pt x="1718733" y="221192"/>
                  <a:pt x="1778000" y="228600"/>
                </a:cubicBezTo>
                <a:cubicBezTo>
                  <a:pt x="1837267" y="236008"/>
                  <a:pt x="1952625" y="3048000"/>
                  <a:pt x="2000250" y="3009900"/>
                </a:cubicBezTo>
                <a:cubicBezTo>
                  <a:pt x="2047875" y="2971800"/>
                  <a:pt x="2024592" y="0"/>
                  <a:pt x="2063750" y="0"/>
                </a:cubicBezTo>
                <a:cubicBezTo>
                  <a:pt x="2102908" y="0"/>
                  <a:pt x="2183342" y="2979208"/>
                  <a:pt x="2235200" y="3009900"/>
                </a:cubicBezTo>
                <a:cubicBezTo>
                  <a:pt x="2287058" y="3040592"/>
                  <a:pt x="2327275" y="192617"/>
                  <a:pt x="2374900" y="184150"/>
                </a:cubicBezTo>
                <a:cubicBezTo>
                  <a:pt x="2422525" y="175683"/>
                  <a:pt x="2465917" y="2925233"/>
                  <a:pt x="2520950" y="2959100"/>
                </a:cubicBezTo>
                <a:cubicBezTo>
                  <a:pt x="2575983" y="2992967"/>
                  <a:pt x="2631017" y="577850"/>
                  <a:pt x="2705100" y="387350"/>
                </a:cubicBezTo>
                <a:cubicBezTo>
                  <a:pt x="2779183" y="196850"/>
                  <a:pt x="2741083" y="1545167"/>
                  <a:pt x="2965450" y="1816100"/>
                </a:cubicBezTo>
                <a:cubicBezTo>
                  <a:pt x="3189817" y="2087033"/>
                  <a:pt x="4051300" y="2012950"/>
                  <a:pt x="4051300" y="2012950"/>
                </a:cubicBezTo>
                <a:lnTo>
                  <a:pt x="8553450" y="1924050"/>
                </a:lnTo>
              </a:path>
            </a:pathLst>
          </a:custGeom>
          <a:ln w="38100">
            <a:solidFill>
              <a:srgbClr val="0707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6270F7-829C-12D4-139F-3779BB064C36}"/>
              </a:ext>
            </a:extLst>
          </p:cNvPr>
          <p:cNvSpPr txBox="1"/>
          <p:nvPr/>
        </p:nvSpPr>
        <p:spPr>
          <a:xfrm>
            <a:off x="3161211" y="5159829"/>
            <a:ext cx="1528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800" dirty="0"/>
              <a:t>难学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C48D914-3365-3AD4-4856-386CE64F641A}"/>
              </a:ext>
            </a:extLst>
          </p:cNvPr>
          <p:cNvSpPr txBox="1"/>
          <p:nvPr/>
        </p:nvSpPr>
        <p:spPr>
          <a:xfrm>
            <a:off x="7987809" y="5171452"/>
            <a:ext cx="1528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800" dirty="0"/>
              <a:t>易学</a:t>
            </a:r>
          </a:p>
        </p:txBody>
      </p:sp>
    </p:spTree>
    <p:extLst>
      <p:ext uri="{BB962C8B-B14F-4D97-AF65-F5344CB8AC3E}">
        <p14:creationId xmlns:p14="http://schemas.microsoft.com/office/powerpoint/2010/main" val="2478041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CDAC7-47E2-D6B3-7AE8-BF3C9F9E0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7AA747D9-341A-91B5-2759-55505114D261}"/>
              </a:ext>
            </a:extLst>
          </p:cNvPr>
          <p:cNvSpPr txBox="1"/>
          <p:nvPr/>
        </p:nvSpPr>
        <p:spPr>
          <a:xfrm>
            <a:off x="2310348" y="2782669"/>
            <a:ext cx="7571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频率原则对神经网络泛化有何帮助？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943147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DC41A-B461-BAAE-951E-9B616900C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选择哪种解？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F5AF60B-C529-7ACD-E330-30E84EAC9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852"/>
          <a:stretch/>
        </p:blipFill>
        <p:spPr>
          <a:xfrm>
            <a:off x="1766087" y="1871073"/>
            <a:ext cx="8365748" cy="290231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171465F-A8DF-75D7-5545-9D228AE6AA29}"/>
              </a:ext>
            </a:extLst>
          </p:cNvPr>
          <p:cNvSpPr txBox="1"/>
          <p:nvPr/>
        </p:nvSpPr>
        <p:spPr>
          <a:xfrm>
            <a:off x="4714444" y="1116471"/>
            <a:ext cx="3979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2"/>
                </a:solidFill>
              </a:rPr>
              <a:t>蓝色训练点是完全一致的。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00A14D-724E-F86A-E9BA-C181EAC225D5}"/>
              </a:ext>
            </a:extLst>
          </p:cNvPr>
          <p:cNvSpPr txBox="1"/>
          <p:nvPr/>
        </p:nvSpPr>
        <p:spPr>
          <a:xfrm>
            <a:off x="3056710" y="5004198"/>
            <a:ext cx="2651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常用设定学到的解，满足频率原则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7E8CACF-0AD1-5AFA-183F-7DDFCBBCE811}"/>
              </a:ext>
            </a:extLst>
          </p:cNvPr>
          <p:cNvSpPr txBox="1"/>
          <p:nvPr/>
        </p:nvSpPr>
        <p:spPr>
          <a:xfrm>
            <a:off x="6483532" y="5004198"/>
            <a:ext cx="34277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参数初始值很大时学到的解，实验观察其不满足频率原则</a:t>
            </a:r>
          </a:p>
        </p:txBody>
      </p:sp>
    </p:spTree>
    <p:extLst>
      <p:ext uri="{BB962C8B-B14F-4D97-AF65-F5344CB8AC3E}">
        <p14:creationId xmlns:p14="http://schemas.microsoft.com/office/powerpoint/2010/main" val="3212090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DEE6AD-4589-1AF5-635B-05682165A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3CA97DD-4198-0CCC-2956-6642AE4EE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67" y="1044439"/>
            <a:ext cx="6095234" cy="433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494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25D36-55DE-6B1E-7193-34127C914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6B5622-07A5-E2E3-BC8E-0E575A2B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C291619-D414-FD81-DDEA-21CA1DD26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67" y="1044439"/>
            <a:ext cx="6095234" cy="4332646"/>
          </a:xfrm>
          <a:prstGeom prst="rect">
            <a:avLst/>
          </a:prstGeom>
        </p:spPr>
      </p:pic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5BD7220-9B43-4D59-3139-7EE26C5C9DB9}"/>
              </a:ext>
            </a:extLst>
          </p:cNvPr>
          <p:cNvSpPr/>
          <p:nvPr/>
        </p:nvSpPr>
        <p:spPr>
          <a:xfrm>
            <a:off x="4957978" y="1493367"/>
            <a:ext cx="1842585" cy="2601482"/>
          </a:xfrm>
          <a:custGeom>
            <a:avLst/>
            <a:gdLst>
              <a:gd name="connsiteX0" fmla="*/ 0 w 1842585"/>
              <a:gd name="connsiteY0" fmla="*/ 2577781 h 2601482"/>
              <a:gd name="connsiteX1" fmla="*/ 41355 w 1842585"/>
              <a:gd name="connsiteY1" fmla="*/ 2586971 h 2601482"/>
              <a:gd name="connsiteX2" fmla="*/ 87304 w 1842585"/>
              <a:gd name="connsiteY2" fmla="*/ 2600756 h 2601482"/>
              <a:gd name="connsiteX3" fmla="*/ 220559 w 1842585"/>
              <a:gd name="connsiteY3" fmla="*/ 2490476 h 2601482"/>
              <a:gd name="connsiteX4" fmla="*/ 257318 w 1842585"/>
              <a:gd name="connsiteY4" fmla="*/ 2458311 h 2601482"/>
              <a:gd name="connsiteX5" fmla="*/ 284888 w 1842585"/>
              <a:gd name="connsiteY5" fmla="*/ 2421552 h 2601482"/>
              <a:gd name="connsiteX6" fmla="*/ 335433 w 1842585"/>
              <a:gd name="connsiteY6" fmla="*/ 2361817 h 2601482"/>
              <a:gd name="connsiteX7" fmla="*/ 349218 w 1842585"/>
              <a:gd name="connsiteY7" fmla="*/ 2334247 h 2601482"/>
              <a:gd name="connsiteX8" fmla="*/ 367598 w 1842585"/>
              <a:gd name="connsiteY8" fmla="*/ 2302082 h 2601482"/>
              <a:gd name="connsiteX9" fmla="*/ 399763 w 1842585"/>
              <a:gd name="connsiteY9" fmla="*/ 2251538 h 2601482"/>
              <a:gd name="connsiteX10" fmla="*/ 477877 w 1842585"/>
              <a:gd name="connsiteY10" fmla="*/ 2063144 h 2601482"/>
              <a:gd name="connsiteX11" fmla="*/ 496257 w 1842585"/>
              <a:gd name="connsiteY11" fmla="*/ 2003409 h 2601482"/>
              <a:gd name="connsiteX12" fmla="*/ 519232 w 1842585"/>
              <a:gd name="connsiteY12" fmla="*/ 1888535 h 2601482"/>
              <a:gd name="connsiteX13" fmla="*/ 533017 w 1842585"/>
              <a:gd name="connsiteY13" fmla="*/ 1810420 h 2601482"/>
              <a:gd name="connsiteX14" fmla="*/ 546802 w 1842585"/>
              <a:gd name="connsiteY14" fmla="*/ 1746090 h 2601482"/>
              <a:gd name="connsiteX15" fmla="*/ 588157 w 1842585"/>
              <a:gd name="connsiteY15" fmla="*/ 1566886 h 2601482"/>
              <a:gd name="connsiteX16" fmla="*/ 601942 w 1842585"/>
              <a:gd name="connsiteY16" fmla="*/ 1543911 h 2601482"/>
              <a:gd name="connsiteX17" fmla="*/ 634106 w 1842585"/>
              <a:gd name="connsiteY17" fmla="*/ 1474987 h 2601482"/>
              <a:gd name="connsiteX18" fmla="*/ 666271 w 1842585"/>
              <a:gd name="connsiteY18" fmla="*/ 1442822 h 2601482"/>
              <a:gd name="connsiteX19" fmla="*/ 817905 w 1842585"/>
              <a:gd name="connsiteY19" fmla="*/ 1222263 h 2601482"/>
              <a:gd name="connsiteX20" fmla="*/ 859260 w 1842585"/>
              <a:gd name="connsiteY20" fmla="*/ 1153339 h 2601482"/>
              <a:gd name="connsiteX21" fmla="*/ 877640 w 1842585"/>
              <a:gd name="connsiteY21" fmla="*/ 1116579 h 2601482"/>
              <a:gd name="connsiteX22" fmla="*/ 909805 w 1842585"/>
              <a:gd name="connsiteY22" fmla="*/ 1070629 h 2601482"/>
              <a:gd name="connsiteX23" fmla="*/ 946565 w 1842585"/>
              <a:gd name="connsiteY23" fmla="*/ 1006299 h 2601482"/>
              <a:gd name="connsiteX24" fmla="*/ 1015489 w 1842585"/>
              <a:gd name="connsiteY24" fmla="*/ 923590 h 2601482"/>
              <a:gd name="connsiteX25" fmla="*/ 1043059 w 1842585"/>
              <a:gd name="connsiteY25" fmla="*/ 886830 h 2601482"/>
              <a:gd name="connsiteX26" fmla="*/ 1084414 w 1842585"/>
              <a:gd name="connsiteY26" fmla="*/ 790336 h 2601482"/>
              <a:gd name="connsiteX27" fmla="*/ 1153339 w 1842585"/>
              <a:gd name="connsiteY27" fmla="*/ 666271 h 2601482"/>
              <a:gd name="connsiteX28" fmla="*/ 1171718 w 1842585"/>
              <a:gd name="connsiteY28" fmla="*/ 634106 h 2601482"/>
              <a:gd name="connsiteX29" fmla="*/ 1226858 w 1842585"/>
              <a:gd name="connsiteY29" fmla="*/ 514637 h 2601482"/>
              <a:gd name="connsiteX30" fmla="*/ 1291188 w 1842585"/>
              <a:gd name="connsiteY30" fmla="*/ 427332 h 2601482"/>
              <a:gd name="connsiteX31" fmla="*/ 1341733 w 1842585"/>
              <a:gd name="connsiteY31" fmla="*/ 349218 h 2601482"/>
              <a:gd name="connsiteX32" fmla="*/ 1410657 w 1842585"/>
              <a:gd name="connsiteY32" fmla="*/ 220559 h 2601482"/>
              <a:gd name="connsiteX33" fmla="*/ 1442822 w 1842585"/>
              <a:gd name="connsiteY33" fmla="*/ 197584 h 2601482"/>
              <a:gd name="connsiteX34" fmla="*/ 1543911 w 1842585"/>
              <a:gd name="connsiteY34" fmla="*/ 87304 h 2601482"/>
              <a:gd name="connsiteX35" fmla="*/ 1617431 w 1842585"/>
              <a:gd name="connsiteY35" fmla="*/ 36760 h 2601482"/>
              <a:gd name="connsiteX36" fmla="*/ 1631216 w 1842585"/>
              <a:gd name="connsiteY36" fmla="*/ 32165 h 2601482"/>
              <a:gd name="connsiteX37" fmla="*/ 1672571 w 1842585"/>
              <a:gd name="connsiteY37" fmla="*/ 22975 h 2601482"/>
              <a:gd name="connsiteX38" fmla="*/ 1736900 w 1842585"/>
              <a:gd name="connsiteY38" fmla="*/ 0 h 2601482"/>
              <a:gd name="connsiteX39" fmla="*/ 1815015 w 1842585"/>
              <a:gd name="connsiteY39" fmla="*/ 4595 h 2601482"/>
              <a:gd name="connsiteX40" fmla="*/ 1828800 w 1842585"/>
              <a:gd name="connsiteY40" fmla="*/ 13785 h 2601482"/>
              <a:gd name="connsiteX41" fmla="*/ 1842585 w 1842585"/>
              <a:gd name="connsiteY41" fmla="*/ 18380 h 2601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842585" h="2601482">
                <a:moveTo>
                  <a:pt x="0" y="2577781"/>
                </a:moveTo>
                <a:cubicBezTo>
                  <a:pt x="13785" y="2580844"/>
                  <a:pt x="27699" y="2583377"/>
                  <a:pt x="41355" y="2586971"/>
                </a:cubicBezTo>
                <a:cubicBezTo>
                  <a:pt x="56819" y="2591041"/>
                  <a:pt x="71825" y="2604769"/>
                  <a:pt x="87304" y="2600756"/>
                </a:cubicBezTo>
                <a:cubicBezTo>
                  <a:pt x="158398" y="2582324"/>
                  <a:pt x="175082" y="2538629"/>
                  <a:pt x="220559" y="2490476"/>
                </a:cubicBezTo>
                <a:cubicBezTo>
                  <a:pt x="250523" y="2458749"/>
                  <a:pt x="235331" y="2485185"/>
                  <a:pt x="257318" y="2458311"/>
                </a:cubicBezTo>
                <a:cubicBezTo>
                  <a:pt x="267017" y="2446457"/>
                  <a:pt x="275251" y="2433457"/>
                  <a:pt x="284888" y="2421552"/>
                </a:cubicBezTo>
                <a:cubicBezTo>
                  <a:pt x="301300" y="2401279"/>
                  <a:pt x="319960" y="2382816"/>
                  <a:pt x="335433" y="2361817"/>
                </a:cubicBezTo>
                <a:cubicBezTo>
                  <a:pt x="341528" y="2353545"/>
                  <a:pt x="344347" y="2343294"/>
                  <a:pt x="349218" y="2334247"/>
                </a:cubicBezTo>
                <a:cubicBezTo>
                  <a:pt x="355073" y="2323374"/>
                  <a:pt x="361159" y="2312619"/>
                  <a:pt x="367598" y="2302082"/>
                </a:cubicBezTo>
                <a:cubicBezTo>
                  <a:pt x="378012" y="2285042"/>
                  <a:pt x="390630" y="2269297"/>
                  <a:pt x="399763" y="2251538"/>
                </a:cubicBezTo>
                <a:cubicBezTo>
                  <a:pt x="431351" y="2190117"/>
                  <a:pt x="457649" y="2128886"/>
                  <a:pt x="477877" y="2063144"/>
                </a:cubicBezTo>
                <a:cubicBezTo>
                  <a:pt x="484004" y="2043232"/>
                  <a:pt x="491456" y="2023681"/>
                  <a:pt x="496257" y="2003409"/>
                </a:cubicBezTo>
                <a:cubicBezTo>
                  <a:pt x="505257" y="1965411"/>
                  <a:pt x="511925" y="1926895"/>
                  <a:pt x="519232" y="1888535"/>
                </a:cubicBezTo>
                <a:cubicBezTo>
                  <a:pt x="524179" y="1862561"/>
                  <a:pt x="527993" y="1836379"/>
                  <a:pt x="533017" y="1810420"/>
                </a:cubicBezTo>
                <a:cubicBezTo>
                  <a:pt x="537184" y="1788889"/>
                  <a:pt x="542699" y="1767633"/>
                  <a:pt x="546802" y="1746090"/>
                </a:cubicBezTo>
                <a:cubicBezTo>
                  <a:pt x="558777" y="1683220"/>
                  <a:pt x="547672" y="1634360"/>
                  <a:pt x="588157" y="1566886"/>
                </a:cubicBezTo>
                <a:cubicBezTo>
                  <a:pt x="592752" y="1559228"/>
                  <a:pt x="597948" y="1551899"/>
                  <a:pt x="601942" y="1543911"/>
                </a:cubicBezTo>
                <a:cubicBezTo>
                  <a:pt x="613280" y="1521234"/>
                  <a:pt x="620495" y="1496377"/>
                  <a:pt x="634106" y="1474987"/>
                </a:cubicBezTo>
                <a:cubicBezTo>
                  <a:pt x="642246" y="1462195"/>
                  <a:pt x="656693" y="1454577"/>
                  <a:pt x="666271" y="1442822"/>
                </a:cubicBezTo>
                <a:cubicBezTo>
                  <a:pt x="729022" y="1365809"/>
                  <a:pt x="763439" y="1309004"/>
                  <a:pt x="817905" y="1222263"/>
                </a:cubicBezTo>
                <a:cubicBezTo>
                  <a:pt x="832153" y="1199572"/>
                  <a:pt x="847278" y="1177303"/>
                  <a:pt x="859260" y="1153339"/>
                </a:cubicBezTo>
                <a:cubicBezTo>
                  <a:pt x="865387" y="1141086"/>
                  <a:pt x="870496" y="1128269"/>
                  <a:pt x="877640" y="1116579"/>
                </a:cubicBezTo>
                <a:cubicBezTo>
                  <a:pt x="887389" y="1100626"/>
                  <a:pt x="899896" y="1086483"/>
                  <a:pt x="909805" y="1070629"/>
                </a:cubicBezTo>
                <a:cubicBezTo>
                  <a:pt x="922895" y="1049686"/>
                  <a:pt x="930754" y="1025272"/>
                  <a:pt x="946565" y="1006299"/>
                </a:cubicBezTo>
                <a:cubicBezTo>
                  <a:pt x="969540" y="978729"/>
                  <a:pt x="992939" y="951508"/>
                  <a:pt x="1015489" y="923590"/>
                </a:cubicBezTo>
                <a:cubicBezTo>
                  <a:pt x="1025113" y="911675"/>
                  <a:pt x="1036022" y="900435"/>
                  <a:pt x="1043059" y="886830"/>
                </a:cubicBezTo>
                <a:cubicBezTo>
                  <a:pt x="1059136" y="855748"/>
                  <a:pt x="1068764" y="821636"/>
                  <a:pt x="1084414" y="790336"/>
                </a:cubicBezTo>
                <a:cubicBezTo>
                  <a:pt x="1105571" y="748022"/>
                  <a:pt x="1130261" y="707569"/>
                  <a:pt x="1153339" y="666271"/>
                </a:cubicBezTo>
                <a:cubicBezTo>
                  <a:pt x="1159363" y="655491"/>
                  <a:pt x="1167016" y="645524"/>
                  <a:pt x="1171718" y="634106"/>
                </a:cubicBezTo>
                <a:cubicBezTo>
                  <a:pt x="1195029" y="577495"/>
                  <a:pt x="1198529" y="560400"/>
                  <a:pt x="1226858" y="514637"/>
                </a:cubicBezTo>
                <a:cubicBezTo>
                  <a:pt x="1325157" y="355846"/>
                  <a:pt x="1214910" y="535018"/>
                  <a:pt x="1291188" y="427332"/>
                </a:cubicBezTo>
                <a:cubicBezTo>
                  <a:pt x="1309115" y="402024"/>
                  <a:pt x="1326106" y="376007"/>
                  <a:pt x="1341733" y="349218"/>
                </a:cubicBezTo>
                <a:cubicBezTo>
                  <a:pt x="1367811" y="304513"/>
                  <a:pt x="1357029" y="258865"/>
                  <a:pt x="1410657" y="220559"/>
                </a:cubicBezTo>
                <a:cubicBezTo>
                  <a:pt x="1421379" y="212901"/>
                  <a:pt x="1433505" y="206901"/>
                  <a:pt x="1442822" y="197584"/>
                </a:cubicBezTo>
                <a:cubicBezTo>
                  <a:pt x="1478083" y="162322"/>
                  <a:pt x="1502818" y="115555"/>
                  <a:pt x="1543911" y="87304"/>
                </a:cubicBezTo>
                <a:cubicBezTo>
                  <a:pt x="1568418" y="70456"/>
                  <a:pt x="1592287" y="52640"/>
                  <a:pt x="1617431" y="36760"/>
                </a:cubicBezTo>
                <a:cubicBezTo>
                  <a:pt x="1621526" y="34174"/>
                  <a:pt x="1626517" y="33340"/>
                  <a:pt x="1631216" y="32165"/>
                </a:cubicBezTo>
                <a:cubicBezTo>
                  <a:pt x="1644916" y="28740"/>
                  <a:pt x="1658871" y="26400"/>
                  <a:pt x="1672571" y="22975"/>
                </a:cubicBezTo>
                <a:cubicBezTo>
                  <a:pt x="1707276" y="14299"/>
                  <a:pt x="1703562" y="14288"/>
                  <a:pt x="1736900" y="0"/>
                </a:cubicBezTo>
                <a:cubicBezTo>
                  <a:pt x="1762938" y="1532"/>
                  <a:pt x="1789220" y="726"/>
                  <a:pt x="1815015" y="4595"/>
                </a:cubicBezTo>
                <a:cubicBezTo>
                  <a:pt x="1820476" y="5414"/>
                  <a:pt x="1823861" y="11315"/>
                  <a:pt x="1828800" y="13785"/>
                </a:cubicBezTo>
                <a:cubicBezTo>
                  <a:pt x="1833132" y="15951"/>
                  <a:pt x="1842585" y="18380"/>
                  <a:pt x="1842585" y="18380"/>
                </a:cubicBezTo>
              </a:path>
            </a:pathLst>
          </a:cu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8C2A0B8-85DB-ABC7-E906-BD30C4B91118}"/>
              </a:ext>
            </a:extLst>
          </p:cNvPr>
          <p:cNvSpPr txBox="1"/>
          <p:nvPr/>
        </p:nvSpPr>
        <p:spPr>
          <a:xfrm>
            <a:off x="4734088" y="5613506"/>
            <a:ext cx="27238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3232FF"/>
                </a:solidFill>
              </a:rPr>
              <a:t>通常学习到蓝色的曲线</a:t>
            </a:r>
          </a:p>
        </p:txBody>
      </p:sp>
    </p:spTree>
    <p:extLst>
      <p:ext uri="{BB962C8B-B14F-4D97-AF65-F5344CB8AC3E}">
        <p14:creationId xmlns:p14="http://schemas.microsoft.com/office/powerpoint/2010/main" val="1883702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EE26-CD1F-F30B-7C99-363088D3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A02D392-89C3-C140-FA61-AC94C486A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Early stopping</a:t>
            </a:r>
            <a:r>
              <a:rPr lang="zh-CN" altLang="en-US" dirty="0"/>
              <a:t>（早停）的效用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/>
              <p:nvPr/>
            </p:nvSpPr>
            <p:spPr>
              <a:xfrm>
                <a:off x="4240948" y="1326983"/>
                <a:ext cx="37730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rgbClr val="3232FF"/>
                    </a:solidFill>
                  </a:rPr>
                  <a:t>数据从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kumimoji="1" lang="zh-CN" altLang="en-US" sz="2000" dirty="0">
                    <a:solidFill>
                      <a:srgbClr val="3232FF"/>
                    </a:solidFill>
                  </a:rPr>
                  <a:t>中采样，但有噪音！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948" y="1326983"/>
                <a:ext cx="3773021" cy="400110"/>
              </a:xfrm>
              <a:prstGeom prst="rect">
                <a:avLst/>
              </a:prstGeom>
              <a:blipFill>
                <a:blip r:embed="rId2"/>
                <a:stretch>
                  <a:fillRect l="-2013" t="-15625" r="-671" b="-21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A5C02341-672B-7D20-2016-283E6CA45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6767" y="2125409"/>
            <a:ext cx="3199575" cy="277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9035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EE26-CD1F-F30B-7C99-363088D3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A02D392-89C3-C140-FA61-AC94C486A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Early stopping</a:t>
            </a:r>
            <a:r>
              <a:rPr lang="zh-CN" altLang="en-US" dirty="0"/>
              <a:t>（早停）的效用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/>
              <p:nvPr/>
            </p:nvSpPr>
            <p:spPr>
              <a:xfrm>
                <a:off x="875956" y="1326983"/>
                <a:ext cx="37730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rgbClr val="3232FF"/>
                    </a:solidFill>
                  </a:rPr>
                  <a:t>数据从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kumimoji="1" lang="zh-CN" altLang="en-US" sz="2000" dirty="0">
                    <a:solidFill>
                      <a:srgbClr val="3232FF"/>
                    </a:solidFill>
                  </a:rPr>
                  <a:t>中采样，但有噪音！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956" y="1326983"/>
                <a:ext cx="3773021" cy="400110"/>
              </a:xfrm>
              <a:prstGeom prst="rect">
                <a:avLst/>
              </a:prstGeom>
              <a:blipFill>
                <a:blip r:embed="rId2"/>
                <a:stretch>
                  <a:fillRect l="-2013" t="-15625" r="-671" b="-21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A5C02341-672B-7D20-2016-283E6CA45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75" y="2125409"/>
            <a:ext cx="3199575" cy="277980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61140C0-B01E-966A-8F61-008F055E27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391" y="2034869"/>
            <a:ext cx="3867171" cy="306662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AC206A6-89C9-B5C1-423E-1766F3C3C059}"/>
              </a:ext>
            </a:extLst>
          </p:cNvPr>
          <p:cNvSpPr txBox="1"/>
          <p:nvPr/>
        </p:nvSpPr>
        <p:spPr>
          <a:xfrm>
            <a:off x="4891019" y="1326983"/>
            <a:ext cx="30967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讨论：为什么测试误差经过一段时间后开始上升？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1A34486-243C-3C99-DEB3-FACE37DC57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0562" y="2034869"/>
            <a:ext cx="3668857" cy="311496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2D419B9-C93E-CF97-EABA-10ABBBB7BF38}"/>
              </a:ext>
            </a:extLst>
          </p:cNvPr>
          <p:cNvSpPr txBox="1"/>
          <p:nvPr/>
        </p:nvSpPr>
        <p:spPr>
          <a:xfrm>
            <a:off x="2165910" y="5759961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早停可以有效防止模型拟合高频噪声，提高模型泛化能力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5245CAC-5363-A0B2-44F7-035A9FEBEB8B}"/>
              </a:ext>
            </a:extLst>
          </p:cNvPr>
          <p:cNvSpPr txBox="1"/>
          <p:nvPr/>
        </p:nvSpPr>
        <p:spPr>
          <a:xfrm>
            <a:off x="10217195" y="5178500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0B050"/>
                </a:solidFill>
              </a:rPr>
              <a:t>噪音影响高频</a:t>
            </a:r>
            <a:endParaRPr kumimoji="1" lang="en-US" altLang="zh-CN" sz="2000" dirty="0">
              <a:solidFill>
                <a:srgbClr val="00B05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33B0C9-1067-DC63-650B-33CBAEB54E49}"/>
              </a:ext>
            </a:extLst>
          </p:cNvPr>
          <p:cNvSpPr txBox="1"/>
          <p:nvPr/>
        </p:nvSpPr>
        <p:spPr>
          <a:xfrm>
            <a:off x="8661400" y="1357694"/>
            <a:ext cx="32512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3232FF"/>
                </a:solidFill>
              </a:rPr>
              <a:t>蓝色是没有噪音的目标函数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F375C-26D0-A712-F8F0-58D3456B61A7}"/>
              </a:ext>
            </a:extLst>
          </p:cNvPr>
          <p:cNvSpPr txBox="1"/>
          <p:nvPr/>
        </p:nvSpPr>
        <p:spPr>
          <a:xfrm>
            <a:off x="6613073" y="5178500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主要低频几乎不受影响</a:t>
            </a: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305986D9-2552-ACFD-6B59-C1DC5DF2807E}"/>
              </a:ext>
            </a:extLst>
          </p:cNvPr>
          <p:cNvCxnSpPr/>
          <p:nvPr/>
        </p:nvCxnSpPr>
        <p:spPr>
          <a:xfrm flipV="1">
            <a:off x="8073573" y="3487792"/>
            <a:ext cx="1092200" cy="155570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线箭头连接符 13">
            <a:extLst>
              <a:ext uri="{FF2B5EF4-FFF2-40B4-BE49-F238E27FC236}">
                <a16:creationId xmlns:a16="http://schemas.microsoft.com/office/drawing/2014/main" id="{6F367632-8AC6-E37D-8777-1A52F0DC587B}"/>
              </a:ext>
            </a:extLst>
          </p:cNvPr>
          <p:cNvCxnSpPr/>
          <p:nvPr/>
        </p:nvCxnSpPr>
        <p:spPr>
          <a:xfrm flipH="1" flipV="1">
            <a:off x="10937433" y="4194835"/>
            <a:ext cx="190500" cy="86617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753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如何加速高频的学习？</a:t>
            </a:r>
          </a:p>
        </p:txBody>
      </p:sp>
    </p:spTree>
    <p:extLst>
      <p:ext uri="{BB962C8B-B14F-4D97-AF65-F5344CB8AC3E}">
        <p14:creationId xmlns:p14="http://schemas.microsoft.com/office/powerpoint/2010/main" val="13782766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多尺度神经网络</a:t>
            </a:r>
          </a:p>
        </p:txBody>
      </p:sp>
    </p:spTree>
    <p:extLst>
      <p:ext uri="{BB962C8B-B14F-4D97-AF65-F5344CB8AC3E}">
        <p14:creationId xmlns:p14="http://schemas.microsoft.com/office/powerpoint/2010/main" val="17729409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5F3ABD-88A8-4422-8451-50ADBE534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拉伸：可以将一个高频函数变换为低频函数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C2318B50-5CD6-EA4F-B9A4-E9CE93AC891F}"/>
              </a:ext>
            </a:extLst>
          </p:cNvPr>
          <p:cNvSpPr/>
          <p:nvPr/>
        </p:nvSpPr>
        <p:spPr>
          <a:xfrm>
            <a:off x="1713462" y="2768079"/>
            <a:ext cx="1328057" cy="1154550"/>
          </a:xfrm>
          <a:custGeom>
            <a:avLst/>
            <a:gdLst>
              <a:gd name="connsiteX0" fmla="*/ 0 w 1328057"/>
              <a:gd name="connsiteY0" fmla="*/ 904070 h 1154550"/>
              <a:gd name="connsiteX1" fmla="*/ 293914 w 1328057"/>
              <a:gd name="connsiteY1" fmla="*/ 152956 h 1154550"/>
              <a:gd name="connsiteX2" fmla="*/ 381000 w 1328057"/>
              <a:gd name="connsiteY2" fmla="*/ 1012927 h 1154550"/>
              <a:gd name="connsiteX3" fmla="*/ 587828 w 1328057"/>
              <a:gd name="connsiteY3" fmla="*/ 229156 h 1154550"/>
              <a:gd name="connsiteX4" fmla="*/ 859971 w 1328057"/>
              <a:gd name="connsiteY4" fmla="*/ 991156 h 1154550"/>
              <a:gd name="connsiteX5" fmla="*/ 936171 w 1328057"/>
              <a:gd name="connsiteY5" fmla="*/ 556 h 1154550"/>
              <a:gd name="connsiteX6" fmla="*/ 1240971 w 1328057"/>
              <a:gd name="connsiteY6" fmla="*/ 1154441 h 1154550"/>
              <a:gd name="connsiteX7" fmla="*/ 1328057 w 1328057"/>
              <a:gd name="connsiteY7" fmla="*/ 54984 h 115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057" h="1154550">
                <a:moveTo>
                  <a:pt x="0" y="904070"/>
                </a:moveTo>
                <a:cubicBezTo>
                  <a:pt x="115207" y="519441"/>
                  <a:pt x="230414" y="134813"/>
                  <a:pt x="293914" y="152956"/>
                </a:cubicBezTo>
                <a:cubicBezTo>
                  <a:pt x="357414" y="171099"/>
                  <a:pt x="332014" y="1000227"/>
                  <a:pt x="381000" y="1012927"/>
                </a:cubicBezTo>
                <a:cubicBezTo>
                  <a:pt x="429986" y="1025627"/>
                  <a:pt x="508000" y="232784"/>
                  <a:pt x="587828" y="229156"/>
                </a:cubicBezTo>
                <a:cubicBezTo>
                  <a:pt x="667657" y="225527"/>
                  <a:pt x="801914" y="1029256"/>
                  <a:pt x="859971" y="991156"/>
                </a:cubicBezTo>
                <a:cubicBezTo>
                  <a:pt x="918028" y="953056"/>
                  <a:pt x="872671" y="-26658"/>
                  <a:pt x="936171" y="556"/>
                </a:cubicBezTo>
                <a:cubicBezTo>
                  <a:pt x="999671" y="27770"/>
                  <a:pt x="1175657" y="1145370"/>
                  <a:pt x="1240971" y="1154441"/>
                </a:cubicBezTo>
                <a:cubicBezTo>
                  <a:pt x="1306285" y="1163512"/>
                  <a:pt x="1317171" y="609248"/>
                  <a:pt x="1328057" y="54984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9" name="任意形状 18">
            <a:extLst>
              <a:ext uri="{FF2B5EF4-FFF2-40B4-BE49-F238E27FC236}">
                <a16:creationId xmlns:a16="http://schemas.microsoft.com/office/drawing/2014/main" id="{6D2DDE95-B48E-444F-8CBE-A6831D6162F5}"/>
              </a:ext>
            </a:extLst>
          </p:cNvPr>
          <p:cNvSpPr/>
          <p:nvPr/>
        </p:nvSpPr>
        <p:spPr>
          <a:xfrm>
            <a:off x="4262685" y="2768079"/>
            <a:ext cx="6052457" cy="1154550"/>
          </a:xfrm>
          <a:custGeom>
            <a:avLst/>
            <a:gdLst>
              <a:gd name="connsiteX0" fmla="*/ 0 w 1328057"/>
              <a:gd name="connsiteY0" fmla="*/ 904070 h 1154550"/>
              <a:gd name="connsiteX1" fmla="*/ 293914 w 1328057"/>
              <a:gd name="connsiteY1" fmla="*/ 152956 h 1154550"/>
              <a:gd name="connsiteX2" fmla="*/ 381000 w 1328057"/>
              <a:gd name="connsiteY2" fmla="*/ 1012927 h 1154550"/>
              <a:gd name="connsiteX3" fmla="*/ 587828 w 1328057"/>
              <a:gd name="connsiteY3" fmla="*/ 229156 h 1154550"/>
              <a:gd name="connsiteX4" fmla="*/ 859971 w 1328057"/>
              <a:gd name="connsiteY4" fmla="*/ 991156 h 1154550"/>
              <a:gd name="connsiteX5" fmla="*/ 936171 w 1328057"/>
              <a:gd name="connsiteY5" fmla="*/ 556 h 1154550"/>
              <a:gd name="connsiteX6" fmla="*/ 1240971 w 1328057"/>
              <a:gd name="connsiteY6" fmla="*/ 1154441 h 1154550"/>
              <a:gd name="connsiteX7" fmla="*/ 1328057 w 1328057"/>
              <a:gd name="connsiteY7" fmla="*/ 54984 h 115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057" h="1154550">
                <a:moveTo>
                  <a:pt x="0" y="904070"/>
                </a:moveTo>
                <a:cubicBezTo>
                  <a:pt x="115207" y="519441"/>
                  <a:pt x="230414" y="134813"/>
                  <a:pt x="293914" y="152956"/>
                </a:cubicBezTo>
                <a:cubicBezTo>
                  <a:pt x="357414" y="171099"/>
                  <a:pt x="332014" y="1000227"/>
                  <a:pt x="381000" y="1012927"/>
                </a:cubicBezTo>
                <a:cubicBezTo>
                  <a:pt x="429986" y="1025627"/>
                  <a:pt x="508000" y="232784"/>
                  <a:pt x="587828" y="229156"/>
                </a:cubicBezTo>
                <a:cubicBezTo>
                  <a:pt x="667657" y="225527"/>
                  <a:pt x="801914" y="1029256"/>
                  <a:pt x="859971" y="991156"/>
                </a:cubicBezTo>
                <a:cubicBezTo>
                  <a:pt x="918028" y="953056"/>
                  <a:pt x="872671" y="-26658"/>
                  <a:pt x="936171" y="556"/>
                </a:cubicBezTo>
                <a:cubicBezTo>
                  <a:pt x="999671" y="27770"/>
                  <a:pt x="1175657" y="1145370"/>
                  <a:pt x="1240971" y="1154441"/>
                </a:cubicBezTo>
                <a:cubicBezTo>
                  <a:pt x="1306285" y="1163512"/>
                  <a:pt x="1317171" y="609248"/>
                  <a:pt x="1328057" y="54984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4618B16-E723-F0E8-3E4D-8CBD694BB4E6}"/>
              </a:ext>
            </a:extLst>
          </p:cNvPr>
          <p:cNvSpPr txBox="1"/>
          <p:nvPr/>
        </p:nvSpPr>
        <p:spPr>
          <a:xfrm>
            <a:off x="3467804" y="107253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/>
              <a:t>频率：反应输出对输入变化的敏感程度</a:t>
            </a:r>
          </a:p>
        </p:txBody>
      </p:sp>
    </p:spTree>
    <p:extLst>
      <p:ext uri="{BB962C8B-B14F-4D97-AF65-F5344CB8AC3E}">
        <p14:creationId xmlns:p14="http://schemas.microsoft.com/office/powerpoint/2010/main" val="8467224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3DD05-455B-4479-A21F-4E154787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Multi-Scale DNN</a:t>
            </a:r>
            <a:r>
              <a:rPr lang="zh-CN" altLang="en-US" dirty="0"/>
              <a:t>结构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15">
                <a:extLst>
                  <a:ext uri="{FF2B5EF4-FFF2-40B4-BE49-F238E27FC236}">
                    <a16:creationId xmlns:a16="http://schemas.microsoft.com/office/drawing/2014/main" id="{938A08CE-303F-48FD-8609-BFE1F1E1A3E6}"/>
                  </a:ext>
                </a:extLst>
              </p:cNvPr>
              <p:cNvSpPr txBox="1"/>
              <p:nvPr/>
            </p:nvSpPr>
            <p:spPr>
              <a:xfrm>
                <a:off x="133049" y="694970"/>
                <a:ext cx="11881151" cy="2888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MscaleDNN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可以表示为：</a:t>
                </a:r>
                <a14:m>
                  <m:oMath xmlns:m="http://schemas.openxmlformats.org/officeDocument/2006/math"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   </m:t>
                    </m:r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∼</m:t>
                    </m:r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𝑓</m:t>
                            </m:r>
                          </m:e>
                          <m:sub>
                            <m:sSup>
                              <m:sSupPr>
                                <m:ctrlP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70707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+mn-cs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CN" sz="2000" b="0" i="0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70707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+mn-cs"/>
                                  </a:rPr>
                                  <m:t>𝜃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CN" sz="2000" b="0" i="0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kumimoji="0" lang="en-US" altLang="zh-CN" sz="2000" b="0" i="0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</m:sup>
                            </m:sSup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𝛼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更具体地：将</a:t>
                </a:r>
                <a14:m>
                  <m:oMath xmlns:m="http://schemas.openxmlformats.org/officeDocument/2006/math">
                    <m:r>
                      <a:rPr kumimoji="0" lang="en-US" altLang="zh-CN" sz="2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3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变成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10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+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20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(2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+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=21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30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(3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提供多种拉伸通道，针对每个位置的输入，（相信）梯度下降自动选择更新最合适的拉伸通道，将数据拉到最适频率。以下是两种类型的</a:t>
                </a:r>
                <a:r>
                  <a:rPr kumimoji="0" lang="en-US" altLang="zh-CN" sz="20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MscaleDNN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网络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24" name="TextBox 15">
                <a:extLst>
                  <a:ext uri="{FF2B5EF4-FFF2-40B4-BE49-F238E27FC236}">
                    <a16:creationId xmlns:a16="http://schemas.microsoft.com/office/drawing/2014/main" id="{938A08CE-303F-48FD-8609-BFE1F1E1A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49" y="694970"/>
                <a:ext cx="11881151" cy="2888996"/>
              </a:xfrm>
              <a:prstGeom prst="rect">
                <a:avLst/>
              </a:prstGeom>
              <a:blipFill>
                <a:blip r:embed="rId2"/>
                <a:stretch>
                  <a:fillRect l="-534" t="-12227" r="-32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688E880A-64D7-41AD-B7BB-B0E067DB8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925" y="3145442"/>
            <a:ext cx="3260155" cy="26304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1564BAA-62B0-4ACC-B215-5C17AD1B0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581" y="3110752"/>
            <a:ext cx="3352224" cy="286110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917F125-9BA0-32DE-02B8-B714CB9E9D86}"/>
              </a:ext>
            </a:extLst>
          </p:cNvPr>
          <p:cNvSpPr txBox="1"/>
          <p:nvPr/>
        </p:nvSpPr>
        <p:spPr>
          <a:xfrm>
            <a:off x="1417734" y="5862313"/>
            <a:ext cx="3546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对第一个隐藏层的输入拉伸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0483E5C-8304-8626-1212-B667CB57C3CD}"/>
              </a:ext>
            </a:extLst>
          </p:cNvPr>
          <p:cNvSpPr txBox="1"/>
          <p:nvPr/>
        </p:nvSpPr>
        <p:spPr>
          <a:xfrm>
            <a:off x="6649377" y="5862313"/>
            <a:ext cx="5479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多个子网络，每个子网络输入拉伸一个尺度</a:t>
            </a:r>
          </a:p>
        </p:txBody>
      </p:sp>
    </p:spTree>
    <p:extLst>
      <p:ext uri="{BB962C8B-B14F-4D97-AF65-F5344CB8AC3E}">
        <p14:creationId xmlns:p14="http://schemas.microsoft.com/office/powerpoint/2010/main" val="4137774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en-US" altLang="zh-CN" dirty="0"/>
              <a:t>Multi-Scale DNN</a:t>
            </a:r>
            <a:r>
              <a:rPr lang="zh-CN" altLang="en-US" dirty="0"/>
              <a:t>示例</a:t>
            </a:r>
          </a:p>
        </p:txBody>
      </p:sp>
      <p:sp>
        <p:nvSpPr>
          <p:cNvPr id="4" name="矩形 3"/>
          <p:cNvSpPr/>
          <p:nvPr/>
        </p:nvSpPr>
        <p:spPr>
          <a:xfrm>
            <a:off x="423143" y="1290380"/>
            <a:ext cx="11429516" cy="4996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70707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49" y="1001789"/>
            <a:ext cx="10105901" cy="2994847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152126" y="4557849"/>
            <a:ext cx="9996824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其中左边图片是精确解，中间图片为一般的神经网络学习到的解，右边图片是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Mscale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-DNN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学习到的解，可以看到，相比于一般的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Mscale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-DNN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更容易捕捉到解的高频信息。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70707"/>
              </a:solidFill>
              <a:effectLst/>
              <a:uLnTx/>
              <a:uFillTx/>
              <a:latin typeface="Cambria Math" panose="02040503050406030204" pitchFamily="18" charset="0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7A6A1A-AB2D-4691-1711-D4FB31A21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ffectLst/>
                <a:latin typeface="Helvetica" pitchFamily="2" charset="0"/>
              </a:rPr>
              <a:t>Fourier </a:t>
            </a:r>
            <a:r>
              <a:rPr lang="zh-CN" altLang="en-US" dirty="0">
                <a:effectLst/>
                <a:latin typeface="Helvetica" pitchFamily="2" charset="0"/>
              </a:rPr>
              <a:t>特征网络</a:t>
            </a:r>
            <a:endParaRPr kumimoji="1"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842C921-2445-EE7B-EEB6-A371BE1AA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683" y="761979"/>
            <a:ext cx="8654792" cy="11870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310DBDD-D4CF-2B30-769C-9DF36970F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717" y="1949022"/>
            <a:ext cx="5952565" cy="37809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6BB7E6A-152D-EB1B-D2E3-CB0DCF67C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5879" y="2483176"/>
            <a:ext cx="7772400" cy="37794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2ADC332-4AA0-9F27-26B5-A0A404CDD051}"/>
                  </a:ext>
                </a:extLst>
              </p:cNvPr>
              <p:cNvSpPr txBox="1"/>
              <p:nvPr/>
            </p:nvSpPr>
            <p:spPr>
              <a:xfrm>
                <a:off x="224117" y="1956789"/>
                <a:ext cx="295835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CN" altLang="en-US" sz="2000" dirty="0"/>
                  <a:t>是不同的拉伸尺度</a:t>
                </a: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2ADC332-4AA0-9F27-26B5-A0A404CDD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117" y="1956789"/>
                <a:ext cx="2958353" cy="400110"/>
              </a:xfrm>
              <a:prstGeom prst="rect">
                <a:avLst/>
              </a:prstGeom>
              <a:blipFill>
                <a:blip r:embed="rId5"/>
                <a:stretch>
                  <a:fillRect t="-15625" b="-187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83323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0A0D07-03A2-E219-9DC9-8A367281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ffectLst/>
                <a:latin typeface="Helvetica" pitchFamily="2" charset="0"/>
              </a:rPr>
              <a:t>神经辐射场 </a:t>
            </a:r>
            <a:r>
              <a:rPr lang="en-US" altLang="zh-CN" dirty="0">
                <a:effectLst/>
                <a:latin typeface="Helvetica" pitchFamily="2" charset="0"/>
              </a:rPr>
              <a:t>(Neural Radiance Fields, </a:t>
            </a:r>
            <a:r>
              <a:rPr lang="en-US" altLang="zh-CN" dirty="0" err="1">
                <a:effectLst/>
                <a:latin typeface="Helvetica" pitchFamily="2" charset="0"/>
              </a:rPr>
              <a:t>NeRF</a:t>
            </a:r>
            <a:r>
              <a:rPr lang="en-US" altLang="zh-CN" dirty="0">
                <a:effectLst/>
                <a:latin typeface="Helvetica" pitchFamily="2" charset="0"/>
              </a:rPr>
              <a:t>)</a:t>
            </a:r>
            <a:endParaRPr kumimoji="1"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326932B-0DCC-AA37-F5A5-2536C9924D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326"/>
          <a:stretch/>
        </p:blipFill>
        <p:spPr>
          <a:xfrm>
            <a:off x="1191743" y="1824599"/>
            <a:ext cx="9435353" cy="324373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52B3251-7FB1-F3F7-54B6-ADFBE4466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242" y="1171209"/>
            <a:ext cx="11348406" cy="3376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9120E8C-D078-9604-F94E-E247D5A4731D}"/>
              </a:ext>
            </a:extLst>
          </p:cNvPr>
          <p:cNvSpPr txBox="1"/>
          <p:nvPr/>
        </p:nvSpPr>
        <p:spPr>
          <a:xfrm>
            <a:off x="1049430" y="5733560"/>
            <a:ext cx="9577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effectLst/>
                <a:latin typeface="Helvetica" pitchFamily="2" charset="0"/>
              </a:rPr>
              <a:t>NeRF</a:t>
            </a:r>
            <a:r>
              <a:rPr lang="en-US" altLang="zh-CN" dirty="0">
                <a:effectLst/>
                <a:latin typeface="Helvetica" pitchFamily="2" charset="0"/>
              </a:rPr>
              <a:t> </a:t>
            </a:r>
            <a:r>
              <a:rPr lang="zh-CN" altLang="en-US" dirty="0">
                <a:effectLst/>
                <a:latin typeface="Helvetica" pitchFamily="2" charset="0"/>
              </a:rPr>
              <a:t>的论文在提出的</a:t>
            </a:r>
            <a:r>
              <a:rPr lang="zh-CN" altLang="en-US" dirty="0">
                <a:latin typeface="Helvetica" pitchFamily="2" charset="0"/>
              </a:rPr>
              <a:t>五</a:t>
            </a:r>
            <a:r>
              <a:rPr lang="zh-CN" altLang="en-US" dirty="0">
                <a:effectLst/>
                <a:latin typeface="Helvetica" pitchFamily="2" charset="0"/>
              </a:rPr>
              <a:t>年内引用数已超过</a:t>
            </a:r>
            <a:r>
              <a:rPr lang="en-US" altLang="zh-CN" dirty="0">
                <a:effectLst/>
                <a:latin typeface="Helvetica" pitchFamily="2" charset="0"/>
              </a:rPr>
              <a:t>15232</a:t>
            </a:r>
            <a:r>
              <a:rPr lang="zh-CN" altLang="en-US" dirty="0">
                <a:effectLst/>
                <a:latin typeface="Helvetica" pitchFamily="2" charset="0"/>
              </a:rPr>
              <a:t>次（谷歌学术）。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723138-9B05-4888-53F8-A57F21626E5E}"/>
              </a:ext>
            </a:extLst>
          </p:cNvPr>
          <p:cNvSpPr txBox="1"/>
          <p:nvPr/>
        </p:nvSpPr>
        <p:spPr>
          <a:xfrm>
            <a:off x="296394" y="824760"/>
            <a:ext cx="9577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effectLst/>
                <a:latin typeface="Helvetica" pitchFamily="2" charset="0"/>
              </a:rPr>
              <a:t>输入层采用以下方案，加速高频学习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9331F55-4336-087F-BB79-06D5D7864E23}"/>
              </a:ext>
            </a:extLst>
          </p:cNvPr>
          <p:cNvSpPr txBox="1"/>
          <p:nvPr/>
        </p:nvSpPr>
        <p:spPr>
          <a:xfrm>
            <a:off x="2603500" y="5167229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真解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EA5F26-B614-91A5-3489-8BC48305E36A}"/>
              </a:ext>
            </a:extLst>
          </p:cNvPr>
          <p:cNvSpPr txBox="1"/>
          <p:nvPr/>
        </p:nvSpPr>
        <p:spPr>
          <a:xfrm>
            <a:off x="5404286" y="5164420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zh-CN" sz="2000" dirty="0" err="1"/>
              <a:t>NeRF</a:t>
            </a:r>
            <a:endParaRPr kumimoji="1" lang="zh-CN" altLang="en-US" sz="20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41437B5-357A-C683-C855-765650297C56}"/>
              </a:ext>
            </a:extLst>
          </p:cNvPr>
          <p:cNvSpPr txBox="1"/>
          <p:nvPr/>
        </p:nvSpPr>
        <p:spPr>
          <a:xfrm>
            <a:off x="8342930" y="5164420"/>
            <a:ext cx="20537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通常的神经网络</a:t>
            </a:r>
          </a:p>
        </p:txBody>
      </p:sp>
    </p:spTree>
    <p:extLst>
      <p:ext uri="{BB962C8B-B14F-4D97-AF65-F5344CB8AC3E}">
        <p14:creationId xmlns:p14="http://schemas.microsoft.com/office/powerpoint/2010/main" val="11996641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思考：图像分类中，高频指什么？</a:t>
            </a:r>
          </a:p>
        </p:txBody>
      </p:sp>
    </p:spTree>
    <p:extLst>
      <p:ext uri="{BB962C8B-B14F-4D97-AF65-F5344CB8AC3E}">
        <p14:creationId xmlns:p14="http://schemas.microsoft.com/office/powerpoint/2010/main" val="6759990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E66F4-F080-373E-58E1-45C651567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A23A700-4009-F9ED-86D1-66E100CD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两种频率概念</a:t>
            </a: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6BEDE365-32B2-4D65-132F-504F9D8A1B8E}"/>
              </a:ext>
            </a:extLst>
          </p:cNvPr>
          <p:cNvSpPr txBox="1">
            <a:spLocks/>
          </p:cNvSpPr>
          <p:nvPr/>
        </p:nvSpPr>
        <p:spPr bwMode="auto">
          <a:xfrm>
            <a:off x="2227170" y="919096"/>
            <a:ext cx="1678986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 b="1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 b="1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黑体"/>
                <a:cs typeface="+mn-cs"/>
              </a:rPr>
              <a:t>图像频率</a:t>
            </a: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6" name="内容占位符 3">
            <a:extLst>
              <a:ext uri="{FF2B5EF4-FFF2-40B4-BE49-F238E27FC236}">
                <a16:creationId xmlns:a16="http://schemas.microsoft.com/office/drawing/2014/main" id="{026B22FE-B8B7-B817-3112-4993ADC5DD1B}"/>
              </a:ext>
            </a:extLst>
          </p:cNvPr>
          <p:cNvSpPr txBox="1">
            <a:spLocks/>
          </p:cNvSpPr>
          <p:nvPr/>
        </p:nvSpPr>
        <p:spPr bwMode="auto">
          <a:xfrm>
            <a:off x="635089" y="1712862"/>
            <a:ext cx="4863148" cy="3951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9pPr>
          </a:lstStyle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该频率对应于相邻像素之间强度变化的速率。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占位符 4">
            <a:extLst>
              <a:ext uri="{FF2B5EF4-FFF2-40B4-BE49-F238E27FC236}">
                <a16:creationId xmlns:a16="http://schemas.microsoft.com/office/drawing/2014/main" id="{49242924-577C-901E-1119-247BDA1EBEE5}"/>
              </a:ext>
            </a:extLst>
          </p:cNvPr>
          <p:cNvSpPr txBox="1">
            <a:spLocks/>
          </p:cNvSpPr>
          <p:nvPr/>
        </p:nvSpPr>
        <p:spPr bwMode="auto">
          <a:xfrm>
            <a:off x="5934332" y="919096"/>
            <a:ext cx="6037232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 b="1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 b="1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黑体"/>
                <a:cs typeface="+mn-cs"/>
              </a:rPr>
              <a:t>响应频率（分类问题所考虑的频率）</a:t>
            </a: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内容占位符 5">
                <a:extLst>
                  <a:ext uri="{FF2B5EF4-FFF2-40B4-BE49-F238E27FC236}">
                    <a16:creationId xmlns:a16="http://schemas.microsoft.com/office/drawing/2014/main" id="{5C1363FF-BB0C-EAD2-F631-31DA674DAF2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894447" y="1610787"/>
                <a:ext cx="6140151" cy="3951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4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16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2000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一个通用的输入</a:t>
                </a:r>
                <a:r>
                  <a:rPr kumimoji="0" lang="en-US" altLang="zh-CN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-</a:t>
                </a: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输出映射 </a:t>
                </a:r>
                <a14:m>
                  <m:oMath xmlns:m="http://schemas.openxmlformats.org/officeDocument/2006/math">
                    <m:r>
                      <a:rPr kumimoji="0" lang="en-US" altLang="zh-CN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黑体"/>
                      </a:rPr>
                      <m:t>𝑓</m:t>
                    </m:r>
                  </m:oMath>
                </a14:m>
                <a:endPara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2000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高频：图像中第 𝑖</a:t>
                </a:r>
                <a:r>
                  <a:rPr kumimoji="0" lang="en-US" altLang="zh-CN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个像素强度的微小变化可能会引起输出的显著变化。</a:t>
                </a:r>
                <a:endPara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内容占位符 5">
                <a:extLst>
                  <a:ext uri="{FF2B5EF4-FFF2-40B4-BE49-F238E27FC236}">
                    <a16:creationId xmlns:a16="http://schemas.microsoft.com/office/drawing/2014/main" id="{94D98116-10A9-BEE2-A9DA-F03634BD6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94447" y="1610787"/>
                <a:ext cx="6140151" cy="3951288"/>
              </a:xfrm>
              <a:prstGeom prst="rect">
                <a:avLst/>
              </a:prstGeom>
              <a:blipFill>
                <a:blip r:embed="rId4"/>
                <a:stretch>
                  <a:fillRect l="-139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97FCD12D-7C05-4B42-FFFA-C1FEAF84C4BD}"/>
              </a:ext>
            </a:extLst>
          </p:cNvPr>
          <p:cNvSpPr/>
          <p:nvPr/>
        </p:nvSpPr>
        <p:spPr>
          <a:xfrm>
            <a:off x="635089" y="3586431"/>
            <a:ext cx="1856072" cy="1087438"/>
          </a:xfrm>
          <a:prstGeom prst="rect">
            <a:avLst/>
          </a:prstGeom>
          <a:solidFill>
            <a:srgbClr val="00CC99"/>
          </a:solidFill>
          <a:ln w="25400" cap="flat" cmpd="sng" algn="ctr">
            <a:solidFill>
              <a:srgbClr val="00CC99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B00AC2F-3EFE-A865-3F91-6C6F64F5AA6A}"/>
              </a:ext>
            </a:extLst>
          </p:cNvPr>
          <p:cNvSpPr txBox="1"/>
          <p:nvPr/>
        </p:nvSpPr>
        <p:spPr>
          <a:xfrm>
            <a:off x="562418" y="4768899"/>
            <a:ext cx="20014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零频：颜色相同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" name="Picture 2" descr="Image result for 变化 很大 自然图像">
            <a:extLst>
              <a:ext uri="{FF2B5EF4-FFF2-40B4-BE49-F238E27FC236}">
                <a16:creationId xmlns:a16="http://schemas.microsoft.com/office/drawing/2014/main" id="{2D95094A-FF9F-A093-5AD2-8EAF0B324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0367" y="3553491"/>
            <a:ext cx="1667540" cy="112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DCC595EE-2568-A592-1B9E-D7C2978CD16C}"/>
              </a:ext>
            </a:extLst>
          </p:cNvPr>
          <p:cNvSpPr txBox="1"/>
          <p:nvPr/>
        </p:nvSpPr>
        <p:spPr>
          <a:xfrm>
            <a:off x="2870807" y="4764870"/>
            <a:ext cx="2286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高频：锐利的边缘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2A954C88-A948-0457-0F2F-E9455266A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051850" y="3637165"/>
            <a:ext cx="5982748" cy="1665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0262A48-3531-EC50-024A-4C1078204B9C}"/>
              </a:ext>
            </a:extLst>
          </p:cNvPr>
          <p:cNvSpPr txBox="1"/>
          <p:nvPr/>
        </p:nvSpPr>
        <p:spPr>
          <a:xfrm>
            <a:off x="8166100" y="546187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特定方向加噪声</a:t>
            </a:r>
          </a:p>
        </p:txBody>
      </p:sp>
    </p:spTree>
    <p:extLst>
      <p:ext uri="{BB962C8B-B14F-4D97-AF65-F5344CB8AC3E}">
        <p14:creationId xmlns:p14="http://schemas.microsoft.com/office/powerpoint/2010/main" val="4591125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6B1D9D-DCE8-4C72-AF53-A9AFAB1D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高响应频率的示例</a:t>
            </a:r>
          </a:p>
        </p:txBody>
      </p:sp>
      <p:sp>
        <p:nvSpPr>
          <p:cNvPr id="17" name="双括号 16">
            <a:extLst>
              <a:ext uri="{FF2B5EF4-FFF2-40B4-BE49-F238E27FC236}">
                <a16:creationId xmlns:a16="http://schemas.microsoft.com/office/drawing/2014/main" id="{062FC88B-FB78-4D60-981F-806222379BFD}"/>
              </a:ext>
            </a:extLst>
          </p:cNvPr>
          <p:cNvSpPr/>
          <p:nvPr/>
        </p:nvSpPr>
        <p:spPr>
          <a:xfrm>
            <a:off x="3161097" y="1299633"/>
            <a:ext cx="914400" cy="3255434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4D2EC56-27F5-4892-B6F6-8AECAECCAB68}"/>
                  </a:ext>
                </a:extLst>
              </p:cNvPr>
              <p:cNvSpPr txBox="1"/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4D2EC56-27F5-4892-B6F6-8AECAECCA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箭头: 右 18">
            <a:extLst>
              <a:ext uri="{FF2B5EF4-FFF2-40B4-BE49-F238E27FC236}">
                <a16:creationId xmlns:a16="http://schemas.microsoft.com/office/drawing/2014/main" id="{DEB97F9F-F25A-48AF-B11E-4B35CE963406}"/>
              </a:ext>
            </a:extLst>
          </p:cNvPr>
          <p:cNvSpPr/>
          <p:nvPr/>
        </p:nvSpPr>
        <p:spPr>
          <a:xfrm>
            <a:off x="4761297" y="2843864"/>
            <a:ext cx="2438400" cy="457200"/>
          </a:xfrm>
          <a:prstGeom prst="rightArrow">
            <a:avLst/>
          </a:prstGeom>
          <a:solidFill>
            <a:schemeClr val="dk1"/>
          </a:solidFill>
          <a:ln w="28575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0" name="双括号 19">
            <a:extLst>
              <a:ext uri="{FF2B5EF4-FFF2-40B4-BE49-F238E27FC236}">
                <a16:creationId xmlns:a16="http://schemas.microsoft.com/office/drawing/2014/main" id="{CD8B89EE-7D37-44F6-B513-6A90F8F5B95A}"/>
              </a:ext>
            </a:extLst>
          </p:cNvPr>
          <p:cNvSpPr/>
          <p:nvPr/>
        </p:nvSpPr>
        <p:spPr>
          <a:xfrm>
            <a:off x="8225466" y="1967564"/>
            <a:ext cx="457200" cy="2209800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ECD0D34-B4B7-47CB-A8D0-0F7C2D76768B}"/>
              </a:ext>
            </a:extLst>
          </p:cNvPr>
          <p:cNvSpPr txBox="1"/>
          <p:nvPr/>
        </p:nvSpPr>
        <p:spPr>
          <a:xfrm>
            <a:off x="2932497" y="4842352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像素值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5EC859F-E88D-46FB-BA8A-2B70F535AC7A}"/>
              </a:ext>
            </a:extLst>
          </p:cNvPr>
          <p:cNvSpPr txBox="1"/>
          <p:nvPr/>
        </p:nvSpPr>
        <p:spPr>
          <a:xfrm>
            <a:off x="8028690" y="4842352"/>
            <a:ext cx="850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标签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244C8C6-5D4B-4B8E-A10A-1889E7BF4C88}"/>
                  </a:ext>
                </a:extLst>
              </p:cNvPr>
              <p:cNvSpPr txBox="1"/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0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0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黑体"/>
                  </a:rPr>
                  <a:t>.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0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244C8C6-5D4B-4B8E-A10A-1889E7BF4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A9A3D7FE-44D0-1611-A0A4-5226E67683AF}"/>
              </a:ext>
            </a:extLst>
          </p:cNvPr>
          <p:cNvSpPr txBox="1"/>
          <p:nvPr/>
        </p:nvSpPr>
        <p:spPr>
          <a:xfrm>
            <a:off x="8879441" y="1967564"/>
            <a:ext cx="17844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分类为第一类</a:t>
            </a:r>
          </a:p>
        </p:txBody>
      </p:sp>
    </p:spTree>
    <p:extLst>
      <p:ext uri="{BB962C8B-B14F-4D97-AF65-F5344CB8AC3E}">
        <p14:creationId xmlns:p14="http://schemas.microsoft.com/office/powerpoint/2010/main" val="10915789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28A-D5B4-18C9-5EBB-DA7063644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47C276-21BE-7D77-E2C5-9FDAA425E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高响应频率的示例</a:t>
            </a:r>
          </a:p>
        </p:txBody>
      </p:sp>
      <p:sp>
        <p:nvSpPr>
          <p:cNvPr id="17" name="双括号 16">
            <a:extLst>
              <a:ext uri="{FF2B5EF4-FFF2-40B4-BE49-F238E27FC236}">
                <a16:creationId xmlns:a16="http://schemas.microsoft.com/office/drawing/2014/main" id="{511A78BC-9857-DF92-42B2-6E2605460E6A}"/>
              </a:ext>
            </a:extLst>
          </p:cNvPr>
          <p:cNvSpPr/>
          <p:nvPr/>
        </p:nvSpPr>
        <p:spPr>
          <a:xfrm>
            <a:off x="3161097" y="1299633"/>
            <a:ext cx="914400" cy="3255434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8D6953B-6F70-F82B-7E5E-A88E9DA5BD04}"/>
                  </a:ext>
                </a:extLst>
              </p:cNvPr>
              <p:cNvSpPr txBox="1"/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𝜹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8D6953B-6F70-F82B-7E5E-A88E9DA5B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箭头: 右 18">
            <a:extLst>
              <a:ext uri="{FF2B5EF4-FFF2-40B4-BE49-F238E27FC236}">
                <a16:creationId xmlns:a16="http://schemas.microsoft.com/office/drawing/2014/main" id="{AA377B50-CE37-A59C-0CC4-AC9C0F8E1F2A}"/>
              </a:ext>
            </a:extLst>
          </p:cNvPr>
          <p:cNvSpPr/>
          <p:nvPr/>
        </p:nvSpPr>
        <p:spPr>
          <a:xfrm>
            <a:off x="4761297" y="2843864"/>
            <a:ext cx="2438400" cy="457200"/>
          </a:xfrm>
          <a:prstGeom prst="rightArrow">
            <a:avLst/>
          </a:prstGeom>
          <a:solidFill>
            <a:schemeClr val="dk1"/>
          </a:solidFill>
          <a:ln w="28575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0" name="双括号 19">
            <a:extLst>
              <a:ext uri="{FF2B5EF4-FFF2-40B4-BE49-F238E27FC236}">
                <a16:creationId xmlns:a16="http://schemas.microsoft.com/office/drawing/2014/main" id="{973FEC07-EA0F-7802-64BF-A1F2B826A8B8}"/>
              </a:ext>
            </a:extLst>
          </p:cNvPr>
          <p:cNvSpPr/>
          <p:nvPr/>
        </p:nvSpPr>
        <p:spPr>
          <a:xfrm>
            <a:off x="8225466" y="1967564"/>
            <a:ext cx="457200" cy="2209800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423E512-F5A1-E8E3-CDFD-72BEF9BB52F1}"/>
              </a:ext>
            </a:extLst>
          </p:cNvPr>
          <p:cNvSpPr txBox="1"/>
          <p:nvPr/>
        </p:nvSpPr>
        <p:spPr>
          <a:xfrm>
            <a:off x="2932497" y="4842352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像素值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4D4C620-4976-1A12-E58A-7A36E7275A0C}"/>
              </a:ext>
            </a:extLst>
          </p:cNvPr>
          <p:cNvSpPr txBox="1"/>
          <p:nvPr/>
        </p:nvSpPr>
        <p:spPr>
          <a:xfrm>
            <a:off x="8028690" y="4842352"/>
            <a:ext cx="850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标签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8C73CB5-09E0-CE29-0D57-49ACECD70467}"/>
                  </a:ext>
                </a:extLst>
              </p:cNvPr>
              <p:cNvSpPr txBox="1"/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𝟎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𝟏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0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黑体"/>
                  </a:rPr>
                  <a:t>.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0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8C73CB5-09E0-CE29-0D57-49ACECD70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F98C1352-ED71-FFA2-CBBA-1CD808F5A379}"/>
              </a:ext>
            </a:extLst>
          </p:cNvPr>
          <p:cNvSpPr txBox="1"/>
          <p:nvPr/>
        </p:nvSpPr>
        <p:spPr>
          <a:xfrm>
            <a:off x="8879441" y="2272363"/>
            <a:ext cx="17107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分类为第二类</a:t>
            </a:r>
          </a:p>
        </p:txBody>
      </p:sp>
    </p:spTree>
    <p:extLst>
      <p:ext uri="{BB962C8B-B14F-4D97-AF65-F5344CB8AC3E}">
        <p14:creationId xmlns:p14="http://schemas.microsoft.com/office/powerpoint/2010/main" val="21695767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B2DA-D264-4E75-974E-BC49C3525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FFE6EB7C-1991-B5A0-6DE9-0EF1306EE41B}"/>
              </a:ext>
            </a:extLst>
          </p:cNvPr>
          <p:cNvSpPr txBox="1"/>
          <p:nvPr/>
        </p:nvSpPr>
        <p:spPr>
          <a:xfrm>
            <a:off x="3926175" y="2600792"/>
            <a:ext cx="4339650" cy="1656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理论理解</a:t>
            </a:r>
            <a:r>
              <a:rPr lang="en-US" altLang="zh-CN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</a:p>
          <a:p>
            <a:pPr algn="ctr">
              <a:lnSpc>
                <a:spcPct val="150000"/>
              </a:lnSpc>
            </a:pPr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一维频率原则的理论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A1C9B479-168F-0E28-4617-E67ED3ADC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5987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64619-5410-99BB-85AA-F94C93269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7B5CD85-E5E2-54E3-780B-FDD454D0E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两层全连接神经网络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3F71D97A-79E9-7BB2-1B7A-7731C5D5EF30}"/>
                  </a:ext>
                </a:extLst>
              </p:cNvPr>
              <p:cNvSpPr/>
              <p:nvPr/>
            </p:nvSpPr>
            <p:spPr>
              <a:xfrm>
                <a:off x="381242" y="924982"/>
                <a:ext cx="11201158" cy="2150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lvl="0" indent="-3429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p"/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考虑一个隐藏层的 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tanh-DNN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，用于拟合一维函数 </a:t>
                </a:r>
                <a14:m>
                  <m:oMath xmlns:m="http://schemas.openxmlformats.org/officeDocument/2006/math">
                    <m:r>
                      <a:rPr kumimoji="0" lang="en-US" altLang="zh-CN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</a:rPr>
                  <a:t>：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𝑗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</m:e>
                      </m:nary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𝜎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sup>
                          </m:sSup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sSup>
                            <m:sSup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h</m:t>
                          </m:r>
                        </m:e>
                      </m:acc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nary>
                        <m:naryPr>
                          <m:chr m:val="∑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𝑗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  <m:func>
                            <m:func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CN" sz="20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  <m:func>
                            <m:func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CN" sz="20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𝜋</m:t>
                                          </m:r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𝑘</m:t>
                                          </m:r>
                                        </m:num>
                                        <m:den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2</m:t>
                                          </m:r>
                                          <m:sSub>
                                            <m:sSubPr>
                                              <m:ctrlP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m:rPr>
                              <m:nor/>
                            </m:rPr>
                            <a:rPr kumimoji="0" lang="en-US" altLang="zh-CN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imes New Roman" panose="02020603050405020304" pitchFamily="18" charset="0"/>
                              <a:ea typeface="黑体"/>
                              <a:cs typeface="+mn-cs"/>
                            </a:rPr>
                            <m:t> 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</m:e>
                      </m:nary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3F71D97A-79E9-7BB2-1B7A-7731C5D5E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924982"/>
                <a:ext cx="11201158" cy="2150332"/>
              </a:xfrm>
              <a:prstGeom prst="rect">
                <a:avLst/>
              </a:prstGeom>
              <a:blipFill>
                <a:blip r:embed="rId3"/>
                <a:stretch>
                  <a:fillRect l="-566" t="-30588" b="-66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09B27B1E-9F2F-3495-6369-DE9C3C68D28B}"/>
                  </a:ext>
                </a:extLst>
              </p:cNvPr>
              <p:cNvSpPr/>
              <p:nvPr/>
            </p:nvSpPr>
            <p:spPr>
              <a:xfrm>
                <a:off x="381242" y="3136870"/>
                <a:ext cx="11046922" cy="157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定义</a:t>
                </a:r>
                <a14:m>
                  <m:oMath xmlns:m="http://schemas.openxmlformats.org/officeDocument/2006/math">
                    <m:r>
                      <a:rPr lang="zh-CN" altLang="en-US" sz="20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频率</m:t>
                    </m:r>
                    <m:r>
                      <a:rPr lang="en-US" altLang="zh-CN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0" lang="en-US" altLang="zh-CN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𝑘</m:t>
                    </m:r>
                    <m:r>
                      <a:rPr kumimoji="0" lang="en-US" altLang="zh-CN" sz="20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处的损失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：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h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𝑓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根据帕塞瓦尔定理</a:t>
                </a: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NimbusRomNo9L-Regu"/>
                    <a:ea typeface="黑体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kumimoji="0" lang="en-US" altLang="zh-CN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𝐿</m:t>
                    </m:r>
                    <m:r>
                      <a:rPr kumimoji="0" lang="en-US" altLang="zh-CN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nary>
                      <m:naryPr>
                        <m:subHide m:val="on"/>
                        <m:supHide m:val="on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naryPr>
                      <m:sub/>
                      <m:sup/>
                      <m:e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𝐿</m:t>
                        </m:r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𝑑𝑘</m:t>
                        </m:r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=∫</m:t>
                        </m:r>
                        <m:f>
                          <m:f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1</m:t>
                            </m:r>
                          </m:num>
                          <m:den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</m:ctrlPr>
                              </m:dPr>
                              <m:e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h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𝑥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sup>
                        </m:sSup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𝑑𝑥</m:t>
                        </m:r>
                      </m:e>
                    </m:nary>
                  </m:oMath>
                </a14:m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09B27B1E-9F2F-3495-6369-DE9C3C68D2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3136870"/>
                <a:ext cx="11046922" cy="1573892"/>
              </a:xfrm>
              <a:prstGeom prst="rect">
                <a:avLst/>
              </a:prstGeom>
              <a:blipFill>
                <a:blip r:embed="rId6"/>
                <a:stretch>
                  <a:fillRect l="-607" t="-3101" b="-546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7B5F3BA6-C3C2-ABC4-8AE3-3DDF49B2DA16}"/>
                  </a:ext>
                </a:extLst>
              </p:cNvPr>
              <p:cNvSpPr/>
              <p:nvPr/>
            </p:nvSpPr>
            <p:spPr>
              <a:xfrm>
                <a:off x="381242" y="5116996"/>
                <a:ext cx="11296638" cy="11507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lvl="0" indent="-3429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p"/>
                  <a:defRPr/>
                </a:pPr>
                <a:r>
                  <a:rPr lang="zh-CN" altLang="en-US" sz="2000" kern="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通过傅里叶域中的损失计算梯度</a:t>
                </a:r>
                <a:endParaRPr kumimoji="0" lang="en-US" altLang="zh-CN" sz="20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←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𝜂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kumimoji="0" lang="en-US" altLang="zh-CN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kumimoji="0" lang="en-US" altLang="zh-CN" sz="2000" b="0" i="1" u="none" strike="noStrike" kern="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</m:num>
                            <m:den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𝜕𝜃</m:t>
                              </m:r>
                            </m:den>
                          </m:f>
                        </m:e>
                      </m:nary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7B5F3BA6-C3C2-ABC4-8AE3-3DDF49B2DA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116996"/>
                <a:ext cx="11296638" cy="1150764"/>
              </a:xfrm>
              <a:prstGeom prst="rect">
                <a:avLst/>
              </a:prstGeom>
              <a:blipFill>
                <a:blip r:embed="rId7"/>
                <a:stretch>
                  <a:fillRect l="-486" t="-26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C44EAC10-5478-EAAA-D7FB-97A59A7E6BFF}"/>
              </a:ext>
            </a:extLst>
          </p:cNvPr>
          <p:cNvSpPr txBox="1"/>
          <p:nvPr/>
        </p:nvSpPr>
        <p:spPr>
          <a:xfrm>
            <a:off x="7190625" y="4310652"/>
            <a:ext cx="28029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思考：下一步怎么分析？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D0D9836-0A34-A927-6636-4654D1D83CEF}"/>
                  </a:ext>
                </a:extLst>
              </p:cNvPr>
              <p:cNvSpPr txBox="1"/>
              <p:nvPr/>
            </p:nvSpPr>
            <p:spPr>
              <a:xfrm>
                <a:off x="8517233" y="2295829"/>
                <a:ext cx="2802934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zh-CN" altLang="en-US" sz="2000" dirty="0"/>
                  <a:t>是无穷阶可导，所以它的傅里叶展开系数随频率指数衰减</a:t>
                </a: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D0D9836-0A34-A927-6636-4654D1D83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233" y="2295829"/>
                <a:ext cx="2802934" cy="1015663"/>
              </a:xfrm>
              <a:prstGeom prst="rect">
                <a:avLst/>
              </a:prstGeom>
              <a:blipFill>
                <a:blip r:embed="rId8"/>
                <a:stretch>
                  <a:fillRect l="-2252" t="-3704" b="-74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B468350C-24AD-9E02-4575-95A399F09D7B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1562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44BA8-EC97-E8C0-8D4D-C2AA3DFBC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DF15E34-91D2-E761-3338-A47714F97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两层全连接神经网络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BDA0E60-C944-AC19-2669-25B9A0E05712}"/>
                  </a:ext>
                </a:extLst>
              </p:cNvPr>
              <p:cNvSpPr txBox="1"/>
              <p:nvPr/>
            </p:nvSpPr>
            <p:spPr>
              <a:xfrm>
                <a:off x="2658498" y="1775508"/>
                <a:ext cx="8153400" cy="442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𝐴</m:t>
                    </m:r>
                    <m:d>
                      <m:d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𝑘</m:t>
                        </m:r>
                      </m:e>
                    </m:d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h</m:t>
                            </m:r>
                          </m:e>
                        </m:acc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𝑓</m:t>
                            </m:r>
                          </m:e>
                        </m:acc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BDA0E60-C944-AC19-2669-25B9A0E05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498" y="1775508"/>
                <a:ext cx="8153400" cy="442109"/>
              </a:xfrm>
              <a:prstGeom prst="rect">
                <a:avLst/>
              </a:prstGeom>
              <a:blipFill>
                <a:blip r:embed="rId5"/>
                <a:stretch>
                  <a:fillRect l="-747" t="-5479" b="-191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04CAC70-6074-85A5-DD4C-0D03FBCE1D1A}"/>
                  </a:ext>
                </a:extLst>
              </p:cNvPr>
              <p:cNvSpPr/>
              <p:nvPr/>
            </p:nvSpPr>
            <p:spPr>
              <a:xfrm>
                <a:off x="2600960" y="1006732"/>
                <a:ext cx="4323876" cy="10916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𝐿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𝑘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𝐴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func>
                        <m:func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𝜋</m:t>
                                      </m:r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𝑘</m:t>
                                      </m:r>
                                    </m:num>
                                    <m:den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𝐺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04CAC70-6074-85A5-DD4C-0D03FBCE1D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960" y="1006732"/>
                <a:ext cx="4323876" cy="109164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6">
            <a:extLst>
              <a:ext uri="{FF2B5EF4-FFF2-40B4-BE49-F238E27FC236}">
                <a16:creationId xmlns:a16="http://schemas.microsoft.com/office/drawing/2014/main" id="{C47B82C9-1A3E-B2AF-AE35-AD764B9D8950}"/>
              </a:ext>
            </a:extLst>
          </p:cNvPr>
          <p:cNvGrpSpPr/>
          <p:nvPr/>
        </p:nvGrpSpPr>
        <p:grpSpPr>
          <a:xfrm>
            <a:off x="7585083" y="1006731"/>
            <a:ext cx="860739" cy="1455923"/>
            <a:chOff x="5711780" y="1455948"/>
            <a:chExt cx="525888" cy="950047"/>
          </a:xfrm>
        </p:grpSpPr>
        <p:cxnSp>
          <p:nvCxnSpPr>
            <p:cNvPr id="9" name="直接箭头连接符 15">
              <a:extLst>
                <a:ext uri="{FF2B5EF4-FFF2-40B4-BE49-F238E27FC236}">
                  <a16:creationId xmlns:a16="http://schemas.microsoft.com/office/drawing/2014/main" id="{DA6528DB-8D0A-935C-1552-9757770724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1780" y="1455948"/>
              <a:ext cx="457200" cy="735465"/>
            </a:xfrm>
            <a:prstGeom prst="straightConnector1">
              <a:avLst/>
            </a:prstGeom>
            <a:noFill/>
            <a:ln w="28575" cap="flat" cmpd="sng" algn="ctr">
              <a:solidFill>
                <a:srgbClr val="00CC99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0" name="直接箭头连接符 17">
              <a:extLst>
                <a:ext uri="{FF2B5EF4-FFF2-40B4-BE49-F238E27FC236}">
                  <a16:creationId xmlns:a16="http://schemas.microsoft.com/office/drawing/2014/main" id="{4438A857-B9C6-767A-BB3B-9DE7486069FB}"/>
                </a:ext>
              </a:extLst>
            </p:cNvPr>
            <p:cNvCxnSpPr>
              <a:cxnSpLocks/>
            </p:cNvCxnSpPr>
            <p:nvPr/>
          </p:nvCxnSpPr>
          <p:spPr>
            <a:xfrm>
              <a:off x="6168980" y="1455948"/>
              <a:ext cx="68688" cy="267467"/>
            </a:xfrm>
            <a:prstGeom prst="straightConnector1">
              <a:avLst/>
            </a:prstGeom>
            <a:noFill/>
            <a:ln w="28575" cap="flat" cmpd="sng" algn="ctr">
              <a:solidFill>
                <a:srgbClr val="00CC99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1" name="直接箭头连接符 19">
              <a:extLst>
                <a:ext uri="{FF2B5EF4-FFF2-40B4-BE49-F238E27FC236}">
                  <a16:creationId xmlns:a16="http://schemas.microsoft.com/office/drawing/2014/main" id="{DE220181-58FF-D4A3-9F98-C604CF1B3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04079" y="1455948"/>
              <a:ext cx="364901" cy="950047"/>
            </a:xfrm>
            <a:prstGeom prst="straightConnector1">
              <a:avLst/>
            </a:prstGeom>
            <a:noFill/>
            <a:ln w="28575" cap="flat" cmpd="sng" algn="ctr">
              <a:solidFill>
                <a:srgbClr val="000000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</p:grpSp>
      <p:sp>
        <p:nvSpPr>
          <p:cNvPr id="12" name="TextBox 27">
            <a:extLst>
              <a:ext uri="{FF2B5EF4-FFF2-40B4-BE49-F238E27FC236}">
                <a16:creationId xmlns:a16="http://schemas.microsoft.com/office/drawing/2014/main" id="{DE9DEC04-6963-D856-9F0C-837188ECA77C}"/>
              </a:ext>
            </a:extLst>
          </p:cNvPr>
          <p:cNvSpPr txBox="1"/>
          <p:nvPr/>
        </p:nvSpPr>
        <p:spPr>
          <a:xfrm>
            <a:off x="7265921" y="1058757"/>
            <a:ext cx="7483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dirty="0">
                <a:solidFill>
                  <a:srgbClr val="00CC99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低频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Box 28">
            <a:extLst>
              <a:ext uri="{FF2B5EF4-FFF2-40B4-BE49-F238E27FC236}">
                <a16:creationId xmlns:a16="http://schemas.microsoft.com/office/drawing/2014/main" id="{25BAB8C7-EE1B-B9AE-267A-18F5E806521B}"/>
              </a:ext>
            </a:extLst>
          </p:cNvPr>
          <p:cNvSpPr txBox="1"/>
          <p:nvPr/>
        </p:nvSpPr>
        <p:spPr>
          <a:xfrm>
            <a:off x="8466360" y="870872"/>
            <a:ext cx="7483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CC99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高频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E3335B9A-114E-2999-1569-3D81089AF1CA}"/>
                  </a:ext>
                </a:extLst>
              </p:cNvPr>
              <p:cNvSpPr txBox="1"/>
              <p:nvPr/>
            </p:nvSpPr>
            <p:spPr>
              <a:xfrm>
                <a:off x="381242" y="2217617"/>
                <a:ext cx="11270931" cy="17733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&gt;0: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较小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0" lang="en-US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(−</m:t>
                        </m:r>
                        <m:d>
                          <m:dPr>
                            <m:begChr m:val="|"/>
                            <m:endChr m:val="|"/>
                            <m:ctrlP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/</m:t>
                            </m:r>
                            <m:sSub>
                              <m:sSubPr>
                                <m:ctrlP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主导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低频主导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对于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为中心，半径为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𝛿</m:t>
                    </m:r>
                    <m:r>
                      <a:rPr lang="zh-CN" alt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较小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则高频损失的贡献可以忽略不计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E3335B9A-114E-2999-1569-3D81089AF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217617"/>
                <a:ext cx="11270931" cy="1773306"/>
              </a:xfrm>
              <a:prstGeom prst="rect">
                <a:avLst/>
              </a:prstGeom>
              <a:blipFill>
                <a:blip r:embed="rId7"/>
                <a:stretch>
                  <a:fillRect l="-866" r="-595" b="-68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8B196E6C-31D3-7401-7E28-6178DB646A28}"/>
                  </a:ext>
                </a:extLst>
              </p:cNvPr>
              <p:cNvSpPr txBox="1"/>
              <p:nvPr/>
            </p:nvSpPr>
            <p:spPr>
              <a:xfrm>
                <a:off x="381242" y="4124093"/>
                <a:ext cx="7683760" cy="11302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≈0: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频率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几乎收敛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𝐿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𝑘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贡献较小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8B196E6C-31D3-7401-7E28-6178DB646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4124093"/>
                <a:ext cx="7683760" cy="1130246"/>
              </a:xfrm>
              <a:prstGeom prst="rect">
                <a:avLst/>
              </a:prstGeom>
              <a:blipFill>
                <a:blip r:embed="rId8"/>
                <a:stretch>
                  <a:fillRect l="-1320"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7">
                <a:extLst>
                  <a:ext uri="{FF2B5EF4-FFF2-40B4-BE49-F238E27FC236}">
                    <a16:creationId xmlns:a16="http://schemas.microsoft.com/office/drawing/2014/main" id="{72195F00-4713-2EB5-A4CB-B45BB15310D9}"/>
                  </a:ext>
                </a:extLst>
              </p:cNvPr>
              <p:cNvSpPr txBox="1"/>
              <p:nvPr/>
            </p:nvSpPr>
            <p:spPr>
              <a:xfrm>
                <a:off x="381242" y="5537633"/>
                <a:ext cx="11810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Insight: 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激活函数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的光滑性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可以通过基于梯度的训练转化为频率原则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6" name="TextBox 7">
                <a:extLst>
                  <a:ext uri="{FF2B5EF4-FFF2-40B4-BE49-F238E27FC236}">
                    <a16:creationId xmlns:a16="http://schemas.microsoft.com/office/drawing/2014/main" id="{72195F00-4713-2EB5-A4CB-B45BB1531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537633"/>
                <a:ext cx="11810758" cy="461665"/>
              </a:xfrm>
              <a:prstGeom prst="rect">
                <a:avLst/>
              </a:prstGeom>
              <a:blipFill>
                <a:blip r:embed="rId9"/>
                <a:stretch>
                  <a:fillRect l="-826" t="-10526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F37A8ACF-2A30-AC98-DC32-752F10CD3B64}"/>
              </a:ext>
            </a:extLst>
          </p:cNvPr>
          <p:cNvSpPr txBox="1"/>
          <p:nvPr/>
        </p:nvSpPr>
        <p:spPr>
          <a:xfrm>
            <a:off x="8385829" y="1996562"/>
            <a:ext cx="35381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思考：怎么改变频率收敛顺序？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DD38F6A-5A07-A94A-F20D-80D322541C38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5008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9A43A2-06F5-1EF2-6F63-0AC60414E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常见激活函数的频率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3311B36-240C-4C0A-5B01-B9E2DE11A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241" y="3426389"/>
            <a:ext cx="4250267" cy="283139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F45644D-5649-DD41-6F3C-28E26275CD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42" y="840793"/>
            <a:ext cx="4250267" cy="283351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D379205-03E5-5D34-5296-C37FB7CA88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73839" y="3430305"/>
            <a:ext cx="4250267" cy="282878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700F8ED-81B2-F0C3-53B3-8B89ABD785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73839" y="843155"/>
            <a:ext cx="4250267" cy="282878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FA906DC-E348-E79E-C8F1-16F6594237B1}"/>
              </a:ext>
            </a:extLst>
          </p:cNvPr>
          <p:cNvSpPr txBox="1"/>
          <p:nvPr/>
        </p:nvSpPr>
        <p:spPr>
          <a:xfrm>
            <a:off x="8785411" y="1995939"/>
            <a:ext cx="3025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幅度随频率衰减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AB68D8F-AA03-5BFD-9433-4502B2B57183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4060233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65189C4-3B26-4947-949C-594F0F34B045}"/>
                  </a:ext>
                </a:extLst>
              </p:cNvPr>
              <p:cNvSpPr txBox="1"/>
              <p:nvPr/>
            </p:nvSpPr>
            <p:spPr>
              <a:xfrm>
                <a:off x="1568463" y="5596867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=0.1, 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65189C4-3B26-4947-949C-594F0F34B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463" y="5596867"/>
                <a:ext cx="37338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/>
              <p:nvPr/>
            </p:nvSpPr>
            <p:spPr>
              <a:xfrm>
                <a:off x="7295185" y="5596867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=0.3,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185" y="5596867"/>
                <a:ext cx="3733800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8"/>
          <a:stretch/>
        </p:blipFill>
        <p:spPr>
          <a:xfrm>
            <a:off x="960698" y="2057233"/>
            <a:ext cx="5135301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8"/>
          <a:stretch/>
        </p:blipFill>
        <p:spPr>
          <a:xfrm>
            <a:off x="6489484" y="2054185"/>
            <a:ext cx="5178066" cy="3651047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C1F0CCA3-963F-EC24-B774-C1A9D159F01E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请问：哪个函数更高频？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866689-FA53-93E3-C45E-2AFF7EC0C0DD}"/>
              </a:ext>
            </a:extLst>
          </p:cNvPr>
          <p:cNvSpPr txBox="1"/>
          <p:nvPr/>
        </p:nvSpPr>
        <p:spPr>
          <a:xfrm>
            <a:off x="4139325" y="3030792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153F26-158D-BBD9-BE10-56B1A78B31FF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9382D89-BEC8-1E9E-B3C8-EA20C00C01BA}"/>
              </a:ext>
            </a:extLst>
          </p:cNvPr>
          <p:cNvSpPr txBox="1"/>
          <p:nvPr/>
        </p:nvSpPr>
        <p:spPr>
          <a:xfrm>
            <a:off x="251012" y="3479598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FC64F9-55BE-D60F-8796-A70EFF1A1188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CA77386-B939-9041-6ECF-4C48FCEBAAC9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29023916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858" y="2057233"/>
            <a:ext cx="5476570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4"/>
          <a:stretch/>
        </p:blipFill>
        <p:spPr>
          <a:xfrm>
            <a:off x="6481822" y="2054185"/>
            <a:ext cx="5181155" cy="36510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A9C70B2-9D48-A68D-B3A3-DA4106E43820}"/>
                  </a:ext>
                </a:extLst>
              </p:cNvPr>
              <p:cNvSpPr txBox="1"/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=0.1,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A9C70B2-9D48-A68D-B3A3-DA4106E43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308EFF5D-8CCF-F87F-83AE-3B8D2C6F6E1C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函数形状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B622F5E-8C85-FF0D-67E8-8601D26EC38F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60A67C-8CFF-DDD8-75CD-F0777ECF2A54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4CBE9AA-C1A9-A8BA-1C97-714E1BAD451A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B77319-BB18-68AF-6FDF-E70FAF6BB461}"/>
              </a:ext>
            </a:extLst>
          </p:cNvPr>
          <p:cNvSpPr txBox="1"/>
          <p:nvPr/>
        </p:nvSpPr>
        <p:spPr>
          <a:xfrm>
            <a:off x="4314936" y="290578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800" dirty="0"/>
              <a:t>高频</a:t>
            </a:r>
          </a:p>
        </p:txBody>
      </p:sp>
    </p:spTree>
    <p:extLst>
      <p:ext uri="{BB962C8B-B14F-4D97-AF65-F5344CB8AC3E}">
        <p14:creationId xmlns:p14="http://schemas.microsoft.com/office/powerpoint/2010/main" val="9952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/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=0.3,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858" y="2057233"/>
            <a:ext cx="5476570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91"/>
          <a:stretch/>
        </p:blipFill>
        <p:spPr>
          <a:xfrm>
            <a:off x="6504972" y="2054185"/>
            <a:ext cx="5162578" cy="365104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E73D805-A06C-9378-E348-BA8A8C888BF0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函数形状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09FBE5-2732-BA82-0E94-5DB4B0D0D199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0E04A7A-D6E9-5737-EE12-B1E32420723A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BFC92D9-E2FA-140E-1821-5437431FF456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BF9EC77-E24B-BFA3-8DAE-18DB3D0882CF}"/>
              </a:ext>
            </a:extLst>
          </p:cNvPr>
          <p:cNvSpPr txBox="1"/>
          <p:nvPr/>
        </p:nvSpPr>
        <p:spPr>
          <a:xfrm>
            <a:off x="4314936" y="290578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800" dirty="0"/>
              <a:t>低频</a:t>
            </a:r>
          </a:p>
        </p:txBody>
      </p:sp>
    </p:spTree>
    <p:extLst>
      <p:ext uri="{BB962C8B-B14F-4D97-AF65-F5344CB8AC3E}">
        <p14:creationId xmlns:p14="http://schemas.microsoft.com/office/powerpoint/2010/main" val="13416186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07E99-5600-424F-97FC-4EFD04B8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30" y="64716"/>
            <a:ext cx="11752041" cy="589080"/>
          </a:xfrm>
        </p:spPr>
        <p:txBody>
          <a:bodyPr/>
          <a:lstStyle/>
          <a:p>
            <a:r>
              <a:rPr lang="zh-CN" altLang="en-US" dirty="0"/>
              <a:t>满足频率原则，光滑插值，泛化好</a:t>
            </a:r>
          </a:p>
        </p:txBody>
      </p:sp>
      <p:pic>
        <p:nvPicPr>
          <p:cNvPr id="8" name="内容占位符 4">
            <a:extLst>
              <a:ext uri="{FF2B5EF4-FFF2-40B4-BE49-F238E27FC236}">
                <a16:creationId xmlns:a16="http://schemas.microsoft.com/office/drawing/2014/main" id="{B2F530A9-482A-41D3-A119-4732AE68B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89637" y="2376517"/>
            <a:ext cx="2987251" cy="1987281"/>
          </a:xfrm>
          <a:prstGeom prst="rect">
            <a:avLst/>
          </a:prstGeom>
        </p:spPr>
      </p:pic>
      <p:pic>
        <p:nvPicPr>
          <p:cNvPr id="9" name="内容占位符 4">
            <a:extLst>
              <a:ext uri="{FF2B5EF4-FFF2-40B4-BE49-F238E27FC236}">
                <a16:creationId xmlns:a16="http://schemas.microsoft.com/office/drawing/2014/main" id="{00A7B7B8-BB3A-4A4F-9C6E-8EA65F95FB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1458" y="2376066"/>
            <a:ext cx="3051741" cy="203871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30BEE5-67F7-44A8-8C1E-DFCCC18356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2533" y="2309397"/>
            <a:ext cx="2639525" cy="176810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36E2851-4C6B-424A-B792-C0127A115C9F}"/>
              </a:ext>
            </a:extLst>
          </p:cNvPr>
          <p:cNvSpPr/>
          <p:nvPr/>
        </p:nvSpPr>
        <p:spPr>
          <a:xfrm>
            <a:off x="10442574" y="6438873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220911183904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9F509-70FB-836D-F967-DAD142CC3EE6}"/>
              </a:ext>
            </a:extLst>
          </p:cNvPr>
          <p:cNvSpPr txBox="1"/>
          <p:nvPr/>
        </p:nvSpPr>
        <p:spPr>
          <a:xfrm>
            <a:off x="1612239" y="4133401"/>
            <a:ext cx="2263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三个主频的相对衰减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51CDB07-0DAF-9CDE-EF03-2904F342AAD5}"/>
              </a:ext>
            </a:extLst>
          </p:cNvPr>
          <p:cNvSpPr txBox="1"/>
          <p:nvPr/>
        </p:nvSpPr>
        <p:spPr>
          <a:xfrm>
            <a:off x="1514004" y="1785787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低频先收敛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F9F8FFE-A08A-D3DF-D130-F05CC1BB377C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/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chemeClr val="tx2"/>
                    </a:solidFill>
                  </a:rPr>
                  <a:t>目标函数：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⁡(5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blipFill>
                <a:blip r:embed="rId5"/>
                <a:stretch>
                  <a:fillRect l="-1437" t="-12121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10EA6048-05D2-EA47-C4F9-1F35C37312FA}"/>
              </a:ext>
            </a:extLst>
          </p:cNvPr>
          <p:cNvSpPr txBox="1"/>
          <p:nvPr/>
        </p:nvSpPr>
        <p:spPr>
          <a:xfrm>
            <a:off x="5123381" y="1788571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训练集结果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8703F7-9A4E-AE7E-5CAF-740933053EC5}"/>
              </a:ext>
            </a:extLst>
          </p:cNvPr>
          <p:cNvSpPr txBox="1"/>
          <p:nvPr/>
        </p:nvSpPr>
        <p:spPr>
          <a:xfrm>
            <a:off x="8204467" y="1784876"/>
            <a:ext cx="2739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测试集结果和训练集类似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2BF09ED-2409-589C-CF86-6C1636FDD358}"/>
              </a:ext>
            </a:extLst>
          </p:cNvPr>
          <p:cNvSpPr txBox="1"/>
          <p:nvPr/>
        </p:nvSpPr>
        <p:spPr>
          <a:xfrm>
            <a:off x="4001473" y="5386811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>
                <a:solidFill>
                  <a:schemeClr val="tx2"/>
                </a:solidFill>
              </a:rPr>
              <a:t>采用低频的激活函数！</a:t>
            </a:r>
          </a:p>
        </p:txBody>
      </p:sp>
    </p:spTree>
    <p:extLst>
      <p:ext uri="{BB962C8B-B14F-4D97-AF65-F5344CB8AC3E}">
        <p14:creationId xmlns:p14="http://schemas.microsoft.com/office/powerpoint/2010/main" val="18214868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07E99-5600-424F-97FC-4EFD04B8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30" y="64716"/>
            <a:ext cx="11752041" cy="589080"/>
          </a:xfrm>
        </p:spPr>
        <p:txBody>
          <a:bodyPr/>
          <a:lstStyle/>
          <a:p>
            <a:r>
              <a:rPr lang="zh-CN" altLang="en-US" dirty="0"/>
              <a:t>违背频率原则，振荡插值，泛化差</a:t>
            </a:r>
          </a:p>
        </p:txBody>
      </p:sp>
      <p:pic>
        <p:nvPicPr>
          <p:cNvPr id="8" name="内容占位符 4">
            <a:extLst>
              <a:ext uri="{FF2B5EF4-FFF2-40B4-BE49-F238E27FC236}">
                <a16:creationId xmlns:a16="http://schemas.microsoft.com/office/drawing/2014/main" id="{B2F530A9-482A-41D3-A119-4732AE68B2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637" y="2376067"/>
            <a:ext cx="2987251" cy="1988182"/>
          </a:xfrm>
          <a:prstGeom prst="rect">
            <a:avLst/>
          </a:prstGeom>
        </p:spPr>
      </p:pic>
      <p:pic>
        <p:nvPicPr>
          <p:cNvPr id="9" name="内容占位符 4">
            <a:extLst>
              <a:ext uri="{FF2B5EF4-FFF2-40B4-BE49-F238E27FC236}">
                <a16:creationId xmlns:a16="http://schemas.microsoft.com/office/drawing/2014/main" id="{00A7B7B8-BB3A-4A4F-9C6E-8EA65F95FB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5740" y="2376066"/>
            <a:ext cx="3063177" cy="203871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30BEE5-67F7-44A8-8C1E-DFCCC183564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004" y="2309397"/>
            <a:ext cx="2656583" cy="176810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36E2851-4C6B-424A-B792-C0127A115C9F}"/>
              </a:ext>
            </a:extLst>
          </p:cNvPr>
          <p:cNvSpPr/>
          <p:nvPr/>
        </p:nvSpPr>
        <p:spPr>
          <a:xfrm>
            <a:off x="10442574" y="6438873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220911183904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51CDB07-0DAF-9CDE-EF03-2904F342AAD5}"/>
              </a:ext>
            </a:extLst>
          </p:cNvPr>
          <p:cNvSpPr txBox="1"/>
          <p:nvPr/>
        </p:nvSpPr>
        <p:spPr>
          <a:xfrm>
            <a:off x="1514004" y="1785787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所有频率学习速率相似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F9F8FFE-A08A-D3DF-D130-F05CC1BB377C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/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chemeClr val="tx2"/>
                    </a:solidFill>
                  </a:rPr>
                  <a:t>目标函数：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⁡(5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blipFill>
                <a:blip r:embed="rId5"/>
                <a:stretch>
                  <a:fillRect l="-1437" t="-12121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10EA6048-05D2-EA47-C4F9-1F35C37312FA}"/>
              </a:ext>
            </a:extLst>
          </p:cNvPr>
          <p:cNvSpPr txBox="1"/>
          <p:nvPr/>
        </p:nvSpPr>
        <p:spPr>
          <a:xfrm>
            <a:off x="5123381" y="1788571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训练集可以完美拟合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8703F7-9A4E-AE7E-5CAF-740933053EC5}"/>
              </a:ext>
            </a:extLst>
          </p:cNvPr>
          <p:cNvSpPr txBox="1"/>
          <p:nvPr/>
        </p:nvSpPr>
        <p:spPr>
          <a:xfrm>
            <a:off x="8385158" y="1784876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测试集极其振荡！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2BF09ED-2409-589C-CF86-6C1636FDD358}"/>
              </a:ext>
            </a:extLst>
          </p:cNvPr>
          <p:cNvSpPr txBox="1"/>
          <p:nvPr/>
        </p:nvSpPr>
        <p:spPr>
          <a:xfrm>
            <a:off x="4001473" y="5386811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>
                <a:solidFill>
                  <a:schemeClr val="tx2"/>
                </a:solidFill>
              </a:rPr>
              <a:t>采用</a:t>
            </a:r>
            <a:r>
              <a:rPr kumimoji="1" lang="zh-CN" altLang="en-US" sz="3200" dirty="0">
                <a:solidFill>
                  <a:schemeClr val="accent1"/>
                </a:solidFill>
              </a:rPr>
              <a:t>高频</a:t>
            </a:r>
            <a:r>
              <a:rPr kumimoji="1" lang="zh-CN" altLang="en-US" sz="3200" dirty="0">
                <a:solidFill>
                  <a:schemeClr val="tx2"/>
                </a:solidFill>
              </a:rPr>
              <a:t>的激活函数！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FBEFEC-5C3A-EB4A-767B-CF9D2390B42A}"/>
              </a:ext>
            </a:extLst>
          </p:cNvPr>
          <p:cNvSpPr txBox="1"/>
          <p:nvPr/>
        </p:nvSpPr>
        <p:spPr>
          <a:xfrm>
            <a:off x="1612239" y="4133401"/>
            <a:ext cx="2263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三个主频的相对衰减</a:t>
            </a:r>
          </a:p>
        </p:txBody>
      </p:sp>
    </p:spTree>
    <p:extLst>
      <p:ext uri="{BB962C8B-B14F-4D97-AF65-F5344CB8AC3E}">
        <p14:creationId xmlns:p14="http://schemas.microsoft.com/office/powerpoint/2010/main" val="21000795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555F-1597-E589-FE4E-C51EC1780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1950FEC2-73DC-DE13-F18E-157D379B4EB5}"/>
              </a:ext>
            </a:extLst>
          </p:cNvPr>
          <p:cNvSpPr txBox="1"/>
          <p:nvPr/>
        </p:nvSpPr>
        <p:spPr>
          <a:xfrm>
            <a:off x="1" y="2782669"/>
            <a:ext cx="12191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提供的代码可以复现一维频率原则实验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若讲理论，可减少课堂的实验时间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FE789B5-062B-3146-A0DA-0CDA7C60F7DC}"/>
              </a:ext>
            </a:extLst>
          </p:cNvPr>
          <p:cNvSpPr txBox="1"/>
          <p:nvPr/>
        </p:nvSpPr>
        <p:spPr>
          <a:xfrm>
            <a:off x="63500" y="6435334"/>
            <a:ext cx="79243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bg1"/>
                </a:solidFill>
              </a:rPr>
              <a:t> </a:t>
            </a:r>
            <a:r>
              <a:rPr lang="en-US" altLang="zh-CN" sz="1400" dirty="0">
                <a:solidFill>
                  <a:schemeClr val="bg1"/>
                </a:solidFill>
              </a:rPr>
              <a:t>《</a:t>
            </a:r>
            <a:r>
              <a:rPr lang="zh-CN" altLang="en-US" sz="1400" dirty="0">
                <a:solidFill>
                  <a:schemeClr val="bg1"/>
                </a:solidFill>
              </a:rPr>
              <a:t>深度学习现象导论</a:t>
            </a:r>
            <a:r>
              <a:rPr lang="en-US" altLang="zh-CN" sz="1400" dirty="0">
                <a:solidFill>
                  <a:schemeClr val="bg1"/>
                </a:solidFill>
              </a:rPr>
              <a:t>》 </a:t>
            </a:r>
            <a:r>
              <a:rPr lang="zh-CN" altLang="en-US" sz="1400" dirty="0">
                <a:solidFill>
                  <a:schemeClr val="bg1"/>
                </a:solidFill>
              </a:rPr>
              <a:t>许志钦、张耀宇</a:t>
            </a:r>
          </a:p>
        </p:txBody>
      </p:sp>
    </p:spTree>
    <p:extLst>
      <p:ext uri="{BB962C8B-B14F-4D97-AF65-F5344CB8AC3E}">
        <p14:creationId xmlns:p14="http://schemas.microsoft.com/office/powerpoint/2010/main" val="26958369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12.7|16.9|23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5.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3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7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5.3|28.3|36.7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4706</TotalTime>
  <Words>1437</Words>
  <Application>Microsoft Office PowerPoint</Application>
  <PresentationFormat>宽屏</PresentationFormat>
  <Paragraphs>257</Paragraphs>
  <Slides>47</Slides>
  <Notes>2</Notes>
  <HiddenSlides>0</HiddenSlides>
  <MMClips>2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8" baseType="lpstr">
      <vt:lpstr>NimbusRomNo9L-Regu</vt:lpstr>
      <vt:lpstr>等线</vt:lpstr>
      <vt:lpstr>微软雅黑</vt:lpstr>
      <vt:lpstr>微软雅黑</vt:lpstr>
      <vt:lpstr>Arial</vt:lpstr>
      <vt:lpstr>Book Antiqua</vt:lpstr>
      <vt:lpstr>Cambria Math</vt:lpstr>
      <vt:lpstr>Helvetica</vt:lpstr>
      <vt:lpstr>Times New Roman</vt:lpstr>
      <vt:lpstr>Wingdings</vt:lpstr>
      <vt:lpstr>1_自定义设计方案</vt:lpstr>
      <vt:lpstr>PowerPoint 演示文稿</vt:lpstr>
      <vt:lpstr>目标</vt:lpstr>
      <vt:lpstr>目录</vt:lpstr>
      <vt:lpstr>PowerPoint 演示文稿</vt:lpstr>
      <vt:lpstr>PowerPoint 演示文稿</vt:lpstr>
      <vt:lpstr>哪一部分先学习好</vt:lpstr>
      <vt:lpstr>选择哪种解？</vt:lpstr>
      <vt:lpstr>这样的拟合是否正确?</vt:lpstr>
      <vt:lpstr>泛化谜团</vt:lpstr>
      <vt:lpstr>隐式偏好</vt:lpstr>
      <vt:lpstr>PowerPoint 演示文稿</vt:lpstr>
      <vt:lpstr>时域空间一维函数训练过程</vt:lpstr>
      <vt:lpstr>PowerPoint 演示文稿</vt:lpstr>
      <vt:lpstr>傅里叶展开</vt:lpstr>
      <vt:lpstr>频域空间一维函数训练过程</vt:lpstr>
      <vt:lpstr>控制变量：控制不同频率的振幅</vt:lpstr>
      <vt:lpstr>控制变量：控制不同频率的振幅</vt:lpstr>
      <vt:lpstr>2D 图片拟合：先学轮廓再学细节</vt:lpstr>
      <vt:lpstr>哪一部分先学习好</vt:lpstr>
      <vt:lpstr>PowerPoint 演示文稿</vt:lpstr>
      <vt:lpstr>选择哪种解？</vt:lpstr>
      <vt:lpstr>这样的拟合是否正确?</vt:lpstr>
      <vt:lpstr>这样的拟合是否正确?</vt:lpstr>
      <vt:lpstr>Early stopping（早停）的效用</vt:lpstr>
      <vt:lpstr>Early stopping（早停）的效用</vt:lpstr>
      <vt:lpstr>如何加速高频的学习？</vt:lpstr>
      <vt:lpstr>多尺度神经网络</vt:lpstr>
      <vt:lpstr>拉伸：可以将一个高频函数变换为低频函数</vt:lpstr>
      <vt:lpstr>Multi-Scale DNN结构</vt:lpstr>
      <vt:lpstr>Multi-Scale DNN示例</vt:lpstr>
      <vt:lpstr>Fourier 特征网络</vt:lpstr>
      <vt:lpstr>神经辐射场 (Neural Radiance Fields, NeRF)</vt:lpstr>
      <vt:lpstr>思考：图像分类中，高频指什么？</vt:lpstr>
      <vt:lpstr>两种频率概念</vt:lpstr>
      <vt:lpstr>高响应频率的示例</vt:lpstr>
      <vt:lpstr>高响应频率的示例</vt:lpstr>
      <vt:lpstr>PowerPoint 演示文稿</vt:lpstr>
      <vt:lpstr>两层全连接神经网络</vt:lpstr>
      <vt:lpstr>两层全连接神经网络</vt:lpstr>
      <vt:lpstr>常见激活函数的频率</vt:lpstr>
      <vt:lpstr>采用非单调激活函数</vt:lpstr>
      <vt:lpstr>采用非单调激活函数</vt:lpstr>
      <vt:lpstr>采用非单调激活函数</vt:lpstr>
      <vt:lpstr>满足频率原则，光滑插值，泛化好</vt:lpstr>
      <vt:lpstr>违背频率原则，振荡插值，泛化差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586</cp:revision>
  <dcterms:created xsi:type="dcterms:W3CDTF">2020-06-05T07:59:00Z</dcterms:created>
  <dcterms:modified xsi:type="dcterms:W3CDTF">2026-02-23T03:27:41Z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