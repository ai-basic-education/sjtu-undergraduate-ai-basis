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5"/>
  </p:notesMasterIdLst>
  <p:sldIdLst>
    <p:sldId id="2314" r:id="rId2"/>
    <p:sldId id="10354" r:id="rId3"/>
    <p:sldId id="10363" r:id="rId4"/>
    <p:sldId id="10333" r:id="rId5"/>
    <p:sldId id="10371" r:id="rId6"/>
    <p:sldId id="10372" r:id="rId7"/>
    <p:sldId id="10359" r:id="rId8"/>
    <p:sldId id="10378" r:id="rId9"/>
    <p:sldId id="10358" r:id="rId10"/>
    <p:sldId id="10364" r:id="rId11"/>
    <p:sldId id="10331" r:id="rId12"/>
    <p:sldId id="10914" r:id="rId13"/>
    <p:sldId id="10915" r:id="rId14"/>
    <p:sldId id="10916" r:id="rId15"/>
    <p:sldId id="10917" r:id="rId16"/>
    <p:sldId id="10918" r:id="rId17"/>
    <p:sldId id="10366" r:id="rId18"/>
    <p:sldId id="10360" r:id="rId19"/>
    <p:sldId id="10335" r:id="rId20"/>
    <p:sldId id="10919" r:id="rId21"/>
    <p:sldId id="10920" r:id="rId22"/>
    <p:sldId id="10921" r:id="rId23"/>
    <p:sldId id="10922" r:id="rId24"/>
    <p:sldId id="10367" r:id="rId25"/>
    <p:sldId id="10365" r:id="rId26"/>
    <p:sldId id="10336" r:id="rId27"/>
    <p:sldId id="10425" r:id="rId28"/>
    <p:sldId id="10426" r:id="rId29"/>
    <p:sldId id="10923" r:id="rId30"/>
    <p:sldId id="10924" r:id="rId31"/>
    <p:sldId id="10925" r:id="rId32"/>
    <p:sldId id="10926" r:id="rId33"/>
    <p:sldId id="10337" r:id="rId34"/>
    <p:sldId id="10927" r:id="rId35"/>
    <p:sldId id="10928" r:id="rId36"/>
    <p:sldId id="10929" r:id="rId37"/>
    <p:sldId id="10930" r:id="rId38"/>
    <p:sldId id="10338" r:id="rId39"/>
    <p:sldId id="10428" r:id="rId40"/>
    <p:sldId id="10429" r:id="rId41"/>
    <p:sldId id="10430" r:id="rId42"/>
    <p:sldId id="10339" r:id="rId43"/>
    <p:sldId id="10340" r:id="rId44"/>
    <p:sldId id="10361" r:id="rId45"/>
    <p:sldId id="10341" r:id="rId46"/>
    <p:sldId id="10362" r:id="rId47"/>
    <p:sldId id="10342" r:id="rId48"/>
    <p:sldId id="10905" r:id="rId49"/>
    <p:sldId id="10904" r:id="rId50"/>
    <p:sldId id="10906" r:id="rId51"/>
    <p:sldId id="10907" r:id="rId52"/>
    <p:sldId id="10908" r:id="rId53"/>
    <p:sldId id="10353" r:id="rId54"/>
    <p:sldId id="10369" r:id="rId55"/>
    <p:sldId id="10379" r:id="rId56"/>
    <p:sldId id="10320" r:id="rId57"/>
    <p:sldId id="10909" r:id="rId58"/>
    <p:sldId id="10370" r:id="rId59"/>
    <p:sldId id="10373" r:id="rId60"/>
    <p:sldId id="10376" r:id="rId61"/>
    <p:sldId id="10374" r:id="rId62"/>
    <p:sldId id="10375" r:id="rId63"/>
    <p:sldId id="10377" r:id="rId6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耀宇" initials="张耀宇" lastIdx="1" clrIdx="0"/>
  <p:cmAuthor id="2" name="zhiqin xu" initials="zx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707"/>
    <a:srgbClr val="1D41D5"/>
    <a:srgbClr val="B61516"/>
    <a:srgbClr val="000000"/>
    <a:srgbClr val="002B7F"/>
    <a:srgbClr val="3232FF"/>
    <a:srgbClr val="0000FF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89457" autoAdjust="0"/>
  </p:normalViewPr>
  <p:slideViewPr>
    <p:cSldViewPr snapToGrid="0">
      <p:cViewPr varScale="1">
        <p:scale>
          <a:sx n="85" d="100"/>
          <a:sy n="85" d="100"/>
        </p:scale>
        <p:origin x="66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CCD4-B0A0-4411-AF27-E52F275BA53D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FB6C25-FFE4-4126-ADF1-3137FE8DB2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欢迎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81242" y="3716337"/>
            <a:ext cx="11429516" cy="1523959"/>
          </a:xfrm>
        </p:spPr>
        <p:txBody>
          <a:bodyPr vert="horz" lIns="0" tIns="0" rIns="0" bIns="0" rtlCol="0" anchor="t" anchorCtr="0">
            <a:normAutofit/>
          </a:bodyPr>
          <a:lstStyle>
            <a:lvl1pPr algn="ctr">
              <a:defRPr lang="zh-CN" altLang="en-US" sz="5400" b="1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 dirty="0"/>
              <a:t>欢迎页面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81242" y="5336848"/>
            <a:ext cx="11429516" cy="7619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ea"/>
                <a:ea typeface="+mj-ea"/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备注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81242" y="6237360"/>
            <a:ext cx="11429516" cy="4571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2540" smtClean="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2026/8/4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62226" y="3717192"/>
            <a:ext cx="10667548" cy="1333464"/>
          </a:xfrm>
        </p:spPr>
        <p:txBody>
          <a:bodyPr lIns="0" tIns="0" rIns="0" bIns="0" anchor="t" anchorCtr="0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讲演主标题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429113" y="5387513"/>
            <a:ext cx="5333774" cy="57148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 lang="zh-CN" altLang="en-US" dirty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演讲者</a:t>
            </a:r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1"/>
          </p:nvPr>
        </p:nvSpPr>
        <p:spPr>
          <a:xfrm>
            <a:off x="3429113" y="6229835"/>
            <a:ext cx="5333774" cy="45718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2026/8/4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34117" y="5941837"/>
            <a:ext cx="2723765" cy="720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尾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97884"/>
            <a:ext cx="12192000" cy="3723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02" y="2699982"/>
            <a:ext cx="3626453" cy="960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页面标题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736001" y="6318000"/>
            <a:ext cx="6720000" cy="540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36002" y="6318000"/>
            <a:ext cx="960000" cy="540000"/>
          </a:xfrm>
        </p:spPr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726" y="6100774"/>
            <a:ext cx="2611396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02" y="235137"/>
            <a:ext cx="8632687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accent1"/>
                </a:solidFill>
                <a:effectLst>
                  <a:glow rad="25400">
                    <a:srgbClr val="BFE2F3"/>
                  </a:glo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519" y="6100774"/>
            <a:ext cx="2143761" cy="51846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9" cstate="print"/>
          <a:srcRect r="1346"/>
          <a:stretch>
            <a:fillRect/>
          </a:stretch>
        </p:blipFill>
        <p:spPr>
          <a:xfrm>
            <a:off x="516" y="341947"/>
            <a:ext cx="12191484" cy="411617"/>
          </a:xfrm>
          <a:prstGeom prst="rect">
            <a:avLst/>
          </a:prstGeom>
        </p:spPr>
      </p:pic>
      <p:sp>
        <p:nvSpPr>
          <p:cNvPr id="9" name="矩形 6"/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905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242" y="981154"/>
            <a:ext cx="11429516" cy="5333856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/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667146" y="6318000"/>
            <a:ext cx="6857709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05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81242" y="6318000"/>
            <a:ext cx="952460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95">
                <a:solidFill>
                  <a:schemeClr val="bg1"/>
                </a:solidFill>
              </a:defRPr>
            </a:lvl1pPr>
          </a:lstStyle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7359" y="6371999"/>
            <a:ext cx="1622722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7" r:id="rId7"/>
  </p:sldLayoutIdLst>
  <p:txStyles>
    <p:titleStyle>
      <a:lvl1pPr algn="l" defTabSz="12192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80000"/>
        <a:buFontTx/>
        <a:buNone/>
        <a:defRPr sz="24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096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70000"/>
        <a:buFontTx/>
        <a:buNone/>
        <a:defRPr sz="20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192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60000"/>
        <a:buFontTx/>
        <a:buNone/>
        <a:defRPr sz="18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1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12" Type="http://schemas.openxmlformats.org/officeDocument/2006/relationships/image" Target="../media/image3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211.png"/><Relationship Id="rId10" Type="http://schemas.openxmlformats.org/officeDocument/2006/relationships/image" Target="../media/image38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image" Target="../media/image160.pn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image" Target="../media/image140.png"/><Relationship Id="rId58" Type="http://schemas.openxmlformats.org/officeDocument/2006/relationships/image" Target="../media/image171.png"/><Relationship Id="rId5" Type="http://schemas.openxmlformats.org/officeDocument/2006/relationships/tags" Target="../tags/tag5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image" Target="../media/image8.png"/><Relationship Id="rId8" Type="http://schemas.openxmlformats.org/officeDocument/2006/relationships/tags" Target="../tags/tag8.xml"/><Relationship Id="rId51" Type="http://schemas.openxmlformats.org/officeDocument/2006/relationships/slideLayout" Target="../slideLayouts/slideLayout6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image" Target="../media/image14.png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image" Target="../media/image150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image" Target="../media/image1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5.png"/><Relationship Id="rId7" Type="http://schemas.openxmlformats.org/officeDocument/2006/relationships/image" Target="../media/image72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1.png"/><Relationship Id="rId5" Type="http://schemas.openxmlformats.org/officeDocument/2006/relationships/image" Target="../media/image69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8.png"/><Relationship Id="rId7" Type="http://schemas.openxmlformats.org/officeDocument/2006/relationships/image" Target="../media/image20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10.png"/><Relationship Id="rId4" Type="http://schemas.openxmlformats.org/officeDocument/2006/relationships/image" Target="../media/image20.jpeg"/><Relationship Id="rId9" Type="http://schemas.openxmlformats.org/officeDocument/2006/relationships/image" Target="../media/image23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tags" Target="../tags/tag68.xml"/><Relationship Id="rId26" Type="http://schemas.openxmlformats.org/officeDocument/2006/relationships/image" Target="../media/image26.png"/><Relationship Id="rId3" Type="http://schemas.openxmlformats.org/officeDocument/2006/relationships/tags" Target="../tags/tag53.xml"/><Relationship Id="rId21" Type="http://schemas.openxmlformats.org/officeDocument/2006/relationships/tags" Target="../tags/tag71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tags" Target="../tags/tag67.xml"/><Relationship Id="rId25" Type="http://schemas.openxmlformats.org/officeDocument/2006/relationships/image" Target="../media/image25.png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20" Type="http://schemas.openxmlformats.org/officeDocument/2006/relationships/tags" Target="../tags/tag70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24" Type="http://schemas.openxmlformats.org/officeDocument/2006/relationships/image" Target="../media/image290.png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23" Type="http://schemas.openxmlformats.org/officeDocument/2006/relationships/slideLayout" Target="../slideLayouts/slideLayout6.xml"/><Relationship Id="rId10" Type="http://schemas.openxmlformats.org/officeDocument/2006/relationships/tags" Target="../tags/tag60.xml"/><Relationship Id="rId19" Type="http://schemas.openxmlformats.org/officeDocument/2006/relationships/tags" Target="../tags/tag69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Relationship Id="rId22" Type="http://schemas.openxmlformats.org/officeDocument/2006/relationships/tags" Target="../tags/tag72.xml"/><Relationship Id="rId27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87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9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30.png"/><Relationship Id="rId7" Type="http://schemas.openxmlformats.org/officeDocument/2006/relationships/image" Target="../media/image361.png"/><Relationship Id="rId2" Type="http://schemas.openxmlformats.org/officeDocument/2006/relationships/image" Target="../media/image940.png"/><Relationship Id="rId1" Type="http://schemas.openxmlformats.org/officeDocument/2006/relationships/slideLayout" Target="../slideLayouts/slideLayout6.xml"/><Relationship Id="rId9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26" Type="http://schemas.openxmlformats.org/officeDocument/2006/relationships/tags" Target="../tags/tag98.xml"/><Relationship Id="rId21" Type="http://schemas.openxmlformats.org/officeDocument/2006/relationships/tags" Target="../tags/tag93.xml"/><Relationship Id="rId42" Type="http://schemas.openxmlformats.org/officeDocument/2006/relationships/tags" Target="../tags/tag114.xml"/><Relationship Id="rId47" Type="http://schemas.openxmlformats.org/officeDocument/2006/relationships/tags" Target="../tags/tag119.xml"/><Relationship Id="rId63" Type="http://schemas.openxmlformats.org/officeDocument/2006/relationships/tags" Target="../tags/tag135.xml"/><Relationship Id="rId68" Type="http://schemas.openxmlformats.org/officeDocument/2006/relationships/tags" Target="../tags/tag140.xml"/><Relationship Id="rId84" Type="http://schemas.openxmlformats.org/officeDocument/2006/relationships/tags" Target="../tags/tag156.xml"/><Relationship Id="rId16" Type="http://schemas.openxmlformats.org/officeDocument/2006/relationships/tags" Target="../tags/tag88.xml"/><Relationship Id="rId11" Type="http://schemas.openxmlformats.org/officeDocument/2006/relationships/tags" Target="../tags/tag83.xml"/><Relationship Id="rId32" Type="http://schemas.openxmlformats.org/officeDocument/2006/relationships/tags" Target="../tags/tag104.xml"/><Relationship Id="rId37" Type="http://schemas.openxmlformats.org/officeDocument/2006/relationships/tags" Target="../tags/tag109.xml"/><Relationship Id="rId53" Type="http://schemas.openxmlformats.org/officeDocument/2006/relationships/tags" Target="../tags/tag125.xml"/><Relationship Id="rId58" Type="http://schemas.openxmlformats.org/officeDocument/2006/relationships/tags" Target="../tags/tag130.xml"/><Relationship Id="rId74" Type="http://schemas.openxmlformats.org/officeDocument/2006/relationships/tags" Target="../tags/tag146.xml"/><Relationship Id="rId79" Type="http://schemas.openxmlformats.org/officeDocument/2006/relationships/tags" Target="../tags/tag151.xml"/><Relationship Id="rId5" Type="http://schemas.openxmlformats.org/officeDocument/2006/relationships/tags" Target="../tags/tag77.xml"/><Relationship Id="rId19" Type="http://schemas.openxmlformats.org/officeDocument/2006/relationships/tags" Target="../tags/tag91.xml"/><Relationship Id="rId14" Type="http://schemas.openxmlformats.org/officeDocument/2006/relationships/tags" Target="../tags/tag86.xml"/><Relationship Id="rId22" Type="http://schemas.openxmlformats.org/officeDocument/2006/relationships/tags" Target="../tags/tag94.xml"/><Relationship Id="rId27" Type="http://schemas.openxmlformats.org/officeDocument/2006/relationships/tags" Target="../tags/tag99.xml"/><Relationship Id="rId30" Type="http://schemas.openxmlformats.org/officeDocument/2006/relationships/tags" Target="../tags/tag102.xml"/><Relationship Id="rId35" Type="http://schemas.openxmlformats.org/officeDocument/2006/relationships/tags" Target="../tags/tag107.xml"/><Relationship Id="rId43" Type="http://schemas.openxmlformats.org/officeDocument/2006/relationships/tags" Target="../tags/tag115.xml"/><Relationship Id="rId48" Type="http://schemas.openxmlformats.org/officeDocument/2006/relationships/tags" Target="../tags/tag120.xml"/><Relationship Id="rId56" Type="http://schemas.openxmlformats.org/officeDocument/2006/relationships/tags" Target="../tags/tag128.xml"/><Relationship Id="rId64" Type="http://schemas.openxmlformats.org/officeDocument/2006/relationships/tags" Target="../tags/tag136.xml"/><Relationship Id="rId69" Type="http://schemas.openxmlformats.org/officeDocument/2006/relationships/tags" Target="../tags/tag141.xml"/><Relationship Id="rId77" Type="http://schemas.openxmlformats.org/officeDocument/2006/relationships/tags" Target="../tags/tag149.xml"/><Relationship Id="rId8" Type="http://schemas.openxmlformats.org/officeDocument/2006/relationships/tags" Target="../tags/tag80.xml"/><Relationship Id="rId51" Type="http://schemas.openxmlformats.org/officeDocument/2006/relationships/tags" Target="../tags/tag123.xml"/><Relationship Id="rId72" Type="http://schemas.openxmlformats.org/officeDocument/2006/relationships/tags" Target="../tags/tag144.xml"/><Relationship Id="rId80" Type="http://schemas.openxmlformats.org/officeDocument/2006/relationships/tags" Target="../tags/tag152.xml"/><Relationship Id="rId85" Type="http://schemas.openxmlformats.org/officeDocument/2006/relationships/slideLayout" Target="../slideLayouts/slideLayout6.xml"/><Relationship Id="rId3" Type="http://schemas.openxmlformats.org/officeDocument/2006/relationships/tags" Target="../tags/tag75.xml"/><Relationship Id="rId12" Type="http://schemas.openxmlformats.org/officeDocument/2006/relationships/tags" Target="../tags/tag84.xml"/><Relationship Id="rId17" Type="http://schemas.openxmlformats.org/officeDocument/2006/relationships/tags" Target="../tags/tag89.xml"/><Relationship Id="rId25" Type="http://schemas.openxmlformats.org/officeDocument/2006/relationships/tags" Target="../tags/tag97.xml"/><Relationship Id="rId33" Type="http://schemas.openxmlformats.org/officeDocument/2006/relationships/tags" Target="../tags/tag105.xml"/><Relationship Id="rId38" Type="http://schemas.openxmlformats.org/officeDocument/2006/relationships/tags" Target="../tags/tag110.xml"/><Relationship Id="rId46" Type="http://schemas.openxmlformats.org/officeDocument/2006/relationships/tags" Target="../tags/tag118.xml"/><Relationship Id="rId59" Type="http://schemas.openxmlformats.org/officeDocument/2006/relationships/tags" Target="../tags/tag131.xml"/><Relationship Id="rId67" Type="http://schemas.openxmlformats.org/officeDocument/2006/relationships/tags" Target="../tags/tag139.xml"/><Relationship Id="rId20" Type="http://schemas.openxmlformats.org/officeDocument/2006/relationships/tags" Target="../tags/tag92.xml"/><Relationship Id="rId41" Type="http://schemas.openxmlformats.org/officeDocument/2006/relationships/tags" Target="../tags/tag113.xml"/><Relationship Id="rId54" Type="http://schemas.openxmlformats.org/officeDocument/2006/relationships/tags" Target="../tags/tag126.xml"/><Relationship Id="rId62" Type="http://schemas.openxmlformats.org/officeDocument/2006/relationships/tags" Target="../tags/tag134.xml"/><Relationship Id="rId70" Type="http://schemas.openxmlformats.org/officeDocument/2006/relationships/tags" Target="../tags/tag142.xml"/><Relationship Id="rId75" Type="http://schemas.openxmlformats.org/officeDocument/2006/relationships/tags" Target="../tags/tag147.xml"/><Relationship Id="rId83" Type="http://schemas.openxmlformats.org/officeDocument/2006/relationships/tags" Target="../tags/tag155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5" Type="http://schemas.openxmlformats.org/officeDocument/2006/relationships/tags" Target="../tags/tag87.xml"/><Relationship Id="rId23" Type="http://schemas.openxmlformats.org/officeDocument/2006/relationships/tags" Target="../tags/tag95.xml"/><Relationship Id="rId28" Type="http://schemas.openxmlformats.org/officeDocument/2006/relationships/tags" Target="../tags/tag100.xml"/><Relationship Id="rId36" Type="http://schemas.openxmlformats.org/officeDocument/2006/relationships/tags" Target="../tags/tag108.xml"/><Relationship Id="rId49" Type="http://schemas.openxmlformats.org/officeDocument/2006/relationships/tags" Target="../tags/tag121.xml"/><Relationship Id="rId57" Type="http://schemas.openxmlformats.org/officeDocument/2006/relationships/tags" Target="../tags/tag129.xml"/><Relationship Id="rId10" Type="http://schemas.openxmlformats.org/officeDocument/2006/relationships/tags" Target="../tags/tag82.xml"/><Relationship Id="rId31" Type="http://schemas.openxmlformats.org/officeDocument/2006/relationships/tags" Target="../tags/tag103.xml"/><Relationship Id="rId44" Type="http://schemas.openxmlformats.org/officeDocument/2006/relationships/tags" Target="../tags/tag116.xml"/><Relationship Id="rId52" Type="http://schemas.openxmlformats.org/officeDocument/2006/relationships/tags" Target="../tags/tag124.xml"/><Relationship Id="rId60" Type="http://schemas.openxmlformats.org/officeDocument/2006/relationships/tags" Target="../tags/tag132.xml"/><Relationship Id="rId65" Type="http://schemas.openxmlformats.org/officeDocument/2006/relationships/tags" Target="../tags/tag137.xml"/><Relationship Id="rId73" Type="http://schemas.openxmlformats.org/officeDocument/2006/relationships/tags" Target="../tags/tag145.xml"/><Relationship Id="rId78" Type="http://schemas.openxmlformats.org/officeDocument/2006/relationships/tags" Target="../tags/tag150.xml"/><Relationship Id="rId81" Type="http://schemas.openxmlformats.org/officeDocument/2006/relationships/tags" Target="../tags/tag153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3" Type="http://schemas.openxmlformats.org/officeDocument/2006/relationships/tags" Target="../tags/tag85.xml"/><Relationship Id="rId18" Type="http://schemas.openxmlformats.org/officeDocument/2006/relationships/tags" Target="../tags/tag90.xml"/><Relationship Id="rId39" Type="http://schemas.openxmlformats.org/officeDocument/2006/relationships/tags" Target="../tags/tag111.xml"/><Relationship Id="rId34" Type="http://schemas.openxmlformats.org/officeDocument/2006/relationships/tags" Target="../tags/tag106.xml"/><Relationship Id="rId50" Type="http://schemas.openxmlformats.org/officeDocument/2006/relationships/tags" Target="../tags/tag122.xml"/><Relationship Id="rId55" Type="http://schemas.openxmlformats.org/officeDocument/2006/relationships/tags" Target="../tags/tag127.xml"/><Relationship Id="rId76" Type="http://schemas.openxmlformats.org/officeDocument/2006/relationships/tags" Target="../tags/tag148.xml"/><Relationship Id="rId7" Type="http://schemas.openxmlformats.org/officeDocument/2006/relationships/tags" Target="../tags/tag79.xml"/><Relationship Id="rId71" Type="http://schemas.openxmlformats.org/officeDocument/2006/relationships/tags" Target="../tags/tag143.xml"/><Relationship Id="rId2" Type="http://schemas.openxmlformats.org/officeDocument/2006/relationships/tags" Target="../tags/tag74.xml"/><Relationship Id="rId29" Type="http://schemas.openxmlformats.org/officeDocument/2006/relationships/tags" Target="../tags/tag101.xml"/><Relationship Id="rId24" Type="http://schemas.openxmlformats.org/officeDocument/2006/relationships/tags" Target="../tags/tag96.xml"/><Relationship Id="rId40" Type="http://schemas.openxmlformats.org/officeDocument/2006/relationships/tags" Target="../tags/tag112.xml"/><Relationship Id="rId45" Type="http://schemas.openxmlformats.org/officeDocument/2006/relationships/tags" Target="../tags/tag117.xml"/><Relationship Id="rId66" Type="http://schemas.openxmlformats.org/officeDocument/2006/relationships/tags" Target="../tags/tag138.xml"/><Relationship Id="rId87" Type="http://schemas.openxmlformats.org/officeDocument/2006/relationships/image" Target="../media/image380.png"/><Relationship Id="rId61" Type="http://schemas.openxmlformats.org/officeDocument/2006/relationships/tags" Target="../tags/tag133.xml"/><Relationship Id="rId82" Type="http://schemas.openxmlformats.org/officeDocument/2006/relationships/tags" Target="../tags/tag15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0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1010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040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060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6" Type="http://schemas.openxmlformats.org/officeDocument/2006/relationships/tags" Target="../tags/tag182.xml"/><Relationship Id="rId21" Type="http://schemas.openxmlformats.org/officeDocument/2006/relationships/tags" Target="../tags/tag177.xml"/><Relationship Id="rId42" Type="http://schemas.openxmlformats.org/officeDocument/2006/relationships/tags" Target="../tags/tag198.xml"/><Relationship Id="rId47" Type="http://schemas.openxmlformats.org/officeDocument/2006/relationships/tags" Target="../tags/tag203.xml"/><Relationship Id="rId63" Type="http://schemas.openxmlformats.org/officeDocument/2006/relationships/tags" Target="../tags/tag219.xml"/><Relationship Id="rId68" Type="http://schemas.openxmlformats.org/officeDocument/2006/relationships/tags" Target="../tags/tag224.xml"/><Relationship Id="rId84" Type="http://schemas.openxmlformats.org/officeDocument/2006/relationships/tags" Target="../tags/tag240.xml"/><Relationship Id="rId89" Type="http://schemas.openxmlformats.org/officeDocument/2006/relationships/tags" Target="../tags/tag245.xml"/><Relationship Id="rId16" Type="http://schemas.openxmlformats.org/officeDocument/2006/relationships/tags" Target="../tags/tag172.xml"/><Relationship Id="rId11" Type="http://schemas.openxmlformats.org/officeDocument/2006/relationships/tags" Target="../tags/tag167.xml"/><Relationship Id="rId32" Type="http://schemas.openxmlformats.org/officeDocument/2006/relationships/tags" Target="../tags/tag188.xml"/><Relationship Id="rId37" Type="http://schemas.openxmlformats.org/officeDocument/2006/relationships/tags" Target="../tags/tag193.xml"/><Relationship Id="rId53" Type="http://schemas.openxmlformats.org/officeDocument/2006/relationships/tags" Target="../tags/tag209.xml"/><Relationship Id="rId58" Type="http://schemas.openxmlformats.org/officeDocument/2006/relationships/tags" Target="../tags/tag214.xml"/><Relationship Id="rId74" Type="http://schemas.openxmlformats.org/officeDocument/2006/relationships/tags" Target="../tags/tag230.xml"/><Relationship Id="rId79" Type="http://schemas.openxmlformats.org/officeDocument/2006/relationships/tags" Target="../tags/tag235.xml"/><Relationship Id="rId102" Type="http://schemas.openxmlformats.org/officeDocument/2006/relationships/tags" Target="../tags/tag258.xml"/><Relationship Id="rId5" Type="http://schemas.openxmlformats.org/officeDocument/2006/relationships/tags" Target="../tags/tag161.xml"/><Relationship Id="rId90" Type="http://schemas.openxmlformats.org/officeDocument/2006/relationships/tags" Target="../tags/tag246.xml"/><Relationship Id="rId95" Type="http://schemas.openxmlformats.org/officeDocument/2006/relationships/tags" Target="../tags/tag251.xml"/><Relationship Id="rId22" Type="http://schemas.openxmlformats.org/officeDocument/2006/relationships/tags" Target="../tags/tag178.xml"/><Relationship Id="rId27" Type="http://schemas.openxmlformats.org/officeDocument/2006/relationships/tags" Target="../tags/tag183.xml"/><Relationship Id="rId43" Type="http://schemas.openxmlformats.org/officeDocument/2006/relationships/tags" Target="../tags/tag199.xml"/><Relationship Id="rId48" Type="http://schemas.openxmlformats.org/officeDocument/2006/relationships/tags" Target="../tags/tag204.xml"/><Relationship Id="rId64" Type="http://schemas.openxmlformats.org/officeDocument/2006/relationships/tags" Target="../tags/tag220.xml"/><Relationship Id="rId69" Type="http://schemas.openxmlformats.org/officeDocument/2006/relationships/tags" Target="../tags/tag225.xml"/><Relationship Id="rId80" Type="http://schemas.openxmlformats.org/officeDocument/2006/relationships/tags" Target="../tags/tag236.xml"/><Relationship Id="rId85" Type="http://schemas.openxmlformats.org/officeDocument/2006/relationships/tags" Target="../tags/tag241.xml"/><Relationship Id="rId12" Type="http://schemas.openxmlformats.org/officeDocument/2006/relationships/tags" Target="../tags/tag168.xml"/><Relationship Id="rId17" Type="http://schemas.openxmlformats.org/officeDocument/2006/relationships/tags" Target="../tags/tag173.xml"/><Relationship Id="rId33" Type="http://schemas.openxmlformats.org/officeDocument/2006/relationships/tags" Target="../tags/tag189.xml"/><Relationship Id="rId38" Type="http://schemas.openxmlformats.org/officeDocument/2006/relationships/tags" Target="../tags/tag194.xml"/><Relationship Id="rId59" Type="http://schemas.openxmlformats.org/officeDocument/2006/relationships/tags" Target="../tags/tag215.xml"/><Relationship Id="rId103" Type="http://schemas.openxmlformats.org/officeDocument/2006/relationships/tags" Target="../tags/tag259.xml"/><Relationship Id="rId20" Type="http://schemas.openxmlformats.org/officeDocument/2006/relationships/tags" Target="../tags/tag176.xml"/><Relationship Id="rId41" Type="http://schemas.openxmlformats.org/officeDocument/2006/relationships/tags" Target="../tags/tag197.xml"/><Relationship Id="rId54" Type="http://schemas.openxmlformats.org/officeDocument/2006/relationships/tags" Target="../tags/tag210.xml"/><Relationship Id="rId62" Type="http://schemas.openxmlformats.org/officeDocument/2006/relationships/tags" Target="../tags/tag218.xml"/><Relationship Id="rId70" Type="http://schemas.openxmlformats.org/officeDocument/2006/relationships/tags" Target="../tags/tag226.xml"/><Relationship Id="rId75" Type="http://schemas.openxmlformats.org/officeDocument/2006/relationships/tags" Target="../tags/tag231.xml"/><Relationship Id="rId83" Type="http://schemas.openxmlformats.org/officeDocument/2006/relationships/tags" Target="../tags/tag239.xml"/><Relationship Id="rId88" Type="http://schemas.openxmlformats.org/officeDocument/2006/relationships/tags" Target="../tags/tag244.xml"/><Relationship Id="rId91" Type="http://schemas.openxmlformats.org/officeDocument/2006/relationships/tags" Target="../tags/tag247.xml"/><Relationship Id="rId96" Type="http://schemas.openxmlformats.org/officeDocument/2006/relationships/tags" Target="../tags/tag252.xml"/><Relationship Id="rId1" Type="http://schemas.openxmlformats.org/officeDocument/2006/relationships/tags" Target="../tags/tag157.xml"/><Relationship Id="rId6" Type="http://schemas.openxmlformats.org/officeDocument/2006/relationships/tags" Target="../tags/tag162.xml"/><Relationship Id="rId15" Type="http://schemas.openxmlformats.org/officeDocument/2006/relationships/tags" Target="../tags/tag171.xml"/><Relationship Id="rId23" Type="http://schemas.openxmlformats.org/officeDocument/2006/relationships/tags" Target="../tags/tag179.xml"/><Relationship Id="rId28" Type="http://schemas.openxmlformats.org/officeDocument/2006/relationships/tags" Target="../tags/tag184.xml"/><Relationship Id="rId36" Type="http://schemas.openxmlformats.org/officeDocument/2006/relationships/tags" Target="../tags/tag192.xml"/><Relationship Id="rId49" Type="http://schemas.openxmlformats.org/officeDocument/2006/relationships/tags" Target="../tags/tag205.xml"/><Relationship Id="rId57" Type="http://schemas.openxmlformats.org/officeDocument/2006/relationships/tags" Target="../tags/tag213.xml"/><Relationship Id="rId106" Type="http://schemas.openxmlformats.org/officeDocument/2006/relationships/image" Target="../media/image110.png"/><Relationship Id="rId10" Type="http://schemas.openxmlformats.org/officeDocument/2006/relationships/tags" Target="../tags/tag166.xml"/><Relationship Id="rId31" Type="http://schemas.openxmlformats.org/officeDocument/2006/relationships/tags" Target="../tags/tag187.xml"/><Relationship Id="rId44" Type="http://schemas.openxmlformats.org/officeDocument/2006/relationships/tags" Target="../tags/tag200.xml"/><Relationship Id="rId52" Type="http://schemas.openxmlformats.org/officeDocument/2006/relationships/tags" Target="../tags/tag208.xml"/><Relationship Id="rId60" Type="http://schemas.openxmlformats.org/officeDocument/2006/relationships/tags" Target="../tags/tag216.xml"/><Relationship Id="rId65" Type="http://schemas.openxmlformats.org/officeDocument/2006/relationships/tags" Target="../tags/tag221.xml"/><Relationship Id="rId73" Type="http://schemas.openxmlformats.org/officeDocument/2006/relationships/tags" Target="../tags/tag229.xml"/><Relationship Id="rId78" Type="http://schemas.openxmlformats.org/officeDocument/2006/relationships/tags" Target="../tags/tag234.xml"/><Relationship Id="rId81" Type="http://schemas.openxmlformats.org/officeDocument/2006/relationships/tags" Target="../tags/tag237.xml"/><Relationship Id="rId86" Type="http://schemas.openxmlformats.org/officeDocument/2006/relationships/tags" Target="../tags/tag242.xml"/><Relationship Id="rId94" Type="http://schemas.openxmlformats.org/officeDocument/2006/relationships/tags" Target="../tags/tag250.xml"/><Relationship Id="rId99" Type="http://schemas.openxmlformats.org/officeDocument/2006/relationships/tags" Target="../tags/tag255.xml"/><Relationship Id="rId101" Type="http://schemas.openxmlformats.org/officeDocument/2006/relationships/tags" Target="../tags/tag257.xml"/><Relationship Id="rId4" Type="http://schemas.openxmlformats.org/officeDocument/2006/relationships/tags" Target="../tags/tag160.xml"/><Relationship Id="rId9" Type="http://schemas.openxmlformats.org/officeDocument/2006/relationships/tags" Target="../tags/tag165.xml"/><Relationship Id="rId13" Type="http://schemas.openxmlformats.org/officeDocument/2006/relationships/tags" Target="../tags/tag169.xml"/><Relationship Id="rId18" Type="http://schemas.openxmlformats.org/officeDocument/2006/relationships/tags" Target="../tags/tag174.xml"/><Relationship Id="rId39" Type="http://schemas.openxmlformats.org/officeDocument/2006/relationships/tags" Target="../tags/tag195.xml"/><Relationship Id="rId34" Type="http://schemas.openxmlformats.org/officeDocument/2006/relationships/tags" Target="../tags/tag190.xml"/><Relationship Id="rId50" Type="http://schemas.openxmlformats.org/officeDocument/2006/relationships/tags" Target="../tags/tag206.xml"/><Relationship Id="rId55" Type="http://schemas.openxmlformats.org/officeDocument/2006/relationships/tags" Target="../tags/tag211.xml"/><Relationship Id="rId76" Type="http://schemas.openxmlformats.org/officeDocument/2006/relationships/tags" Target="../tags/tag232.xml"/><Relationship Id="rId97" Type="http://schemas.openxmlformats.org/officeDocument/2006/relationships/tags" Target="../tags/tag253.xml"/><Relationship Id="rId104" Type="http://schemas.openxmlformats.org/officeDocument/2006/relationships/slideLayout" Target="../slideLayouts/slideLayout6.xml"/><Relationship Id="rId7" Type="http://schemas.openxmlformats.org/officeDocument/2006/relationships/tags" Target="../tags/tag163.xml"/><Relationship Id="rId71" Type="http://schemas.openxmlformats.org/officeDocument/2006/relationships/tags" Target="../tags/tag227.xml"/><Relationship Id="rId92" Type="http://schemas.openxmlformats.org/officeDocument/2006/relationships/tags" Target="../tags/tag248.xml"/><Relationship Id="rId2" Type="http://schemas.openxmlformats.org/officeDocument/2006/relationships/tags" Target="../tags/tag158.xml"/><Relationship Id="rId29" Type="http://schemas.openxmlformats.org/officeDocument/2006/relationships/tags" Target="../tags/tag185.xml"/><Relationship Id="rId24" Type="http://schemas.openxmlformats.org/officeDocument/2006/relationships/tags" Target="../tags/tag180.xml"/><Relationship Id="rId40" Type="http://schemas.openxmlformats.org/officeDocument/2006/relationships/tags" Target="../tags/tag196.xml"/><Relationship Id="rId45" Type="http://schemas.openxmlformats.org/officeDocument/2006/relationships/tags" Target="../tags/tag201.xml"/><Relationship Id="rId66" Type="http://schemas.openxmlformats.org/officeDocument/2006/relationships/tags" Target="../tags/tag222.xml"/><Relationship Id="rId87" Type="http://schemas.openxmlformats.org/officeDocument/2006/relationships/tags" Target="../tags/tag243.xml"/><Relationship Id="rId61" Type="http://schemas.openxmlformats.org/officeDocument/2006/relationships/tags" Target="../tags/tag217.xml"/><Relationship Id="rId82" Type="http://schemas.openxmlformats.org/officeDocument/2006/relationships/tags" Target="../tags/tag238.xml"/><Relationship Id="rId19" Type="http://schemas.openxmlformats.org/officeDocument/2006/relationships/tags" Target="../tags/tag175.xml"/><Relationship Id="rId14" Type="http://schemas.openxmlformats.org/officeDocument/2006/relationships/tags" Target="../tags/tag170.xml"/><Relationship Id="rId30" Type="http://schemas.openxmlformats.org/officeDocument/2006/relationships/tags" Target="../tags/tag186.xml"/><Relationship Id="rId35" Type="http://schemas.openxmlformats.org/officeDocument/2006/relationships/tags" Target="../tags/tag191.xml"/><Relationship Id="rId56" Type="http://schemas.openxmlformats.org/officeDocument/2006/relationships/tags" Target="../tags/tag212.xml"/><Relationship Id="rId77" Type="http://schemas.openxmlformats.org/officeDocument/2006/relationships/tags" Target="../tags/tag233.xml"/><Relationship Id="rId100" Type="http://schemas.openxmlformats.org/officeDocument/2006/relationships/tags" Target="../tags/tag256.xml"/><Relationship Id="rId105" Type="http://schemas.openxmlformats.org/officeDocument/2006/relationships/image" Target="../media/image109.png"/><Relationship Id="rId8" Type="http://schemas.openxmlformats.org/officeDocument/2006/relationships/tags" Target="../tags/tag164.xml"/><Relationship Id="rId51" Type="http://schemas.openxmlformats.org/officeDocument/2006/relationships/tags" Target="../tags/tag207.xml"/><Relationship Id="rId72" Type="http://schemas.openxmlformats.org/officeDocument/2006/relationships/tags" Target="../tags/tag228.xml"/><Relationship Id="rId93" Type="http://schemas.openxmlformats.org/officeDocument/2006/relationships/tags" Target="../tags/tag249.xml"/><Relationship Id="rId98" Type="http://schemas.openxmlformats.org/officeDocument/2006/relationships/tags" Target="../tags/tag254.xml"/><Relationship Id="rId3" Type="http://schemas.openxmlformats.org/officeDocument/2006/relationships/tags" Target="../tags/tag159.xml"/><Relationship Id="rId25" Type="http://schemas.openxmlformats.org/officeDocument/2006/relationships/tags" Target="../tags/tag181.xml"/><Relationship Id="rId46" Type="http://schemas.openxmlformats.org/officeDocument/2006/relationships/tags" Target="../tags/tag202.xml"/><Relationship Id="rId67" Type="http://schemas.openxmlformats.org/officeDocument/2006/relationships/tags" Target="../tags/tag22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0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7" Type="http://schemas.openxmlformats.org/officeDocument/2006/relationships/image" Target="../media/image151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41.png"/><Relationship Id="rId4" Type="http://schemas.openxmlformats.org/officeDocument/2006/relationships/image" Target="../media/image13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5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0.png"/><Relationship Id="rId5" Type="http://schemas.openxmlformats.org/officeDocument/2006/relationships/image" Target="../media/image211.png"/><Relationship Id="rId4" Type="http://schemas.openxmlformats.org/officeDocument/2006/relationships/image" Target="../media/image20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7" Type="http://schemas.openxmlformats.org/officeDocument/2006/relationships/image" Target="../media/image422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2.png"/><Relationship Id="rId5" Type="http://schemas.openxmlformats.org/officeDocument/2006/relationships/image" Target="../media/image340.png"/><Relationship Id="rId10" Type="http://schemas.openxmlformats.org/officeDocument/2006/relationships/image" Target="../media/image452.png"/><Relationship Id="rId4" Type="http://schemas.openxmlformats.org/officeDocument/2006/relationships/image" Target="../media/image320.png"/><Relationship Id="rId9" Type="http://schemas.openxmlformats.org/officeDocument/2006/relationships/image" Target="../media/image441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0.png"/><Relationship Id="rId3" Type="http://schemas.openxmlformats.org/officeDocument/2006/relationships/image" Target="../media/image481.png"/><Relationship Id="rId7" Type="http://schemas.openxmlformats.org/officeDocument/2006/relationships/image" Target="../media/image52.png"/><Relationship Id="rId2" Type="http://schemas.openxmlformats.org/officeDocument/2006/relationships/image" Target="../media/image47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1.png"/><Relationship Id="rId11" Type="http://schemas.openxmlformats.org/officeDocument/2006/relationships/image" Target="../media/image520.png"/><Relationship Id="rId5" Type="http://schemas.openxmlformats.org/officeDocument/2006/relationships/image" Target="../media/image411.png"/><Relationship Id="rId10" Type="http://schemas.openxmlformats.org/officeDocument/2006/relationships/image" Target="../media/image53.png"/><Relationship Id="rId4" Type="http://schemas.openxmlformats.org/officeDocument/2006/relationships/image" Target="../media/image490.png"/><Relationship Id="rId9" Type="http://schemas.openxmlformats.org/officeDocument/2006/relationships/image" Target="../media/image451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3" Type="http://schemas.openxmlformats.org/officeDocument/2006/relationships/image" Target="../media/image480.png"/><Relationship Id="rId7" Type="http://schemas.openxmlformats.org/officeDocument/2006/relationships/image" Target="../media/image56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5.png"/><Relationship Id="rId5" Type="http://schemas.openxmlformats.org/officeDocument/2006/relationships/image" Target="../media/image500.png"/><Relationship Id="rId4" Type="http://schemas.openxmlformats.org/officeDocument/2006/relationships/image" Target="../media/image54.png"/><Relationship Id="rId9" Type="http://schemas.openxmlformats.org/officeDocument/2006/relationships/image" Target="../media/image57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0.png"/><Relationship Id="rId7" Type="http://schemas.openxmlformats.org/officeDocument/2006/relationships/image" Target="../media/image60.png"/><Relationship Id="rId2" Type="http://schemas.openxmlformats.org/officeDocument/2006/relationships/image" Target="../media/image57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0.png"/><Relationship Id="rId9" Type="http://schemas.openxmlformats.org/officeDocument/2006/relationships/image" Target="../media/image62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6.png"/><Relationship Id="rId5" Type="http://schemas.openxmlformats.org/officeDocument/2006/relationships/image" Target="../media/image600.png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591" y="3694681"/>
            <a:ext cx="12192000" cy="276998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数学基础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上海交通大学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SJTU AI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大课</a:t>
            </a:r>
          </a:p>
          <a:p>
            <a:pPr marR="0" lvl="0" indent="0" algn="ctr" defTabSz="864235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102F756-3B96-CC46-A2D4-96CC8736307C}" type="datetime3">
              <a:rPr lang="zh-CN" altLang="en-US" sz="20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marR="0" lvl="0" indent="0" algn="ctr" defTabSz="864235" rtl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2026年8月4日星期二</a:t>
            </a:fld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B5717-CE55-6CB0-664E-5AFD66CD6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047FC-9D99-12F9-07A3-1C17B95FC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FE3C73-61A8-2693-3468-F320DBE96ADE}"/>
              </a:ext>
            </a:extLst>
          </p:cNvPr>
          <p:cNvSpPr txBox="1"/>
          <p:nvPr/>
        </p:nvSpPr>
        <p:spPr>
          <a:xfrm>
            <a:off x="3855154" y="1399967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一、矩阵与向量基础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D382BF-1385-C859-6151-31817A9F99C4}"/>
              </a:ext>
            </a:extLst>
          </p:cNvPr>
          <p:cNvSpPr txBox="1"/>
          <p:nvPr/>
        </p:nvSpPr>
        <p:spPr>
          <a:xfrm>
            <a:off x="3855154" y="236207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二、概率统计基础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BB8358-CAF0-9647-865B-9028CF4D9677}"/>
              </a:ext>
            </a:extLst>
          </p:cNvPr>
          <p:cNvSpPr txBox="1"/>
          <p:nvPr/>
        </p:nvSpPr>
        <p:spPr>
          <a:xfrm>
            <a:off x="3855154" y="3324179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三、优化算法基础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74E5C7-3E8D-BA85-B740-61B45DF9917B}"/>
              </a:ext>
            </a:extLst>
          </p:cNvPr>
          <p:cNvSpPr txBox="1"/>
          <p:nvPr/>
        </p:nvSpPr>
        <p:spPr>
          <a:xfrm>
            <a:off x="3855153" y="4286286"/>
            <a:ext cx="2427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四、内容小结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D65379-E0EE-E6AC-75C2-D59ADC0A11B3}"/>
              </a:ext>
            </a:extLst>
          </p:cNvPr>
          <p:cNvSpPr txBox="1"/>
          <p:nvPr/>
        </p:nvSpPr>
        <p:spPr>
          <a:xfrm>
            <a:off x="92765" y="6374296"/>
            <a:ext cx="25444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000" dirty="0">
                <a:solidFill>
                  <a:schemeClr val="bg1"/>
                </a:solidFill>
              </a:rPr>
              <a:t>PPT</a:t>
            </a:r>
            <a:r>
              <a:rPr lang="zh-CN" altLang="en-US" sz="1000" dirty="0">
                <a:solidFill>
                  <a:schemeClr val="bg1"/>
                </a:solidFill>
              </a:rPr>
              <a:t>主要贡献：张耀宇、许志钦</a:t>
            </a:r>
          </a:p>
        </p:txBody>
      </p:sp>
    </p:spTree>
    <p:extLst>
      <p:ext uri="{BB962C8B-B14F-4D97-AF65-F5344CB8AC3E}">
        <p14:creationId xmlns:p14="http://schemas.microsoft.com/office/powerpoint/2010/main" val="328333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EBD39-BD17-45F5-4676-90A4918F3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33EA9-283F-CF54-C176-ABAD34D3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4E5100-754E-F90C-CB98-F7A45369E30E}"/>
              </a:ext>
            </a:extLst>
          </p:cNvPr>
          <p:cNvSpPr txBox="1"/>
          <p:nvPr/>
        </p:nvSpPr>
        <p:spPr>
          <a:xfrm>
            <a:off x="3855154" y="1399967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一、矩阵与向量基础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9FDBFE-A8AC-657E-46A6-C3E3B4DE94B6}"/>
              </a:ext>
            </a:extLst>
          </p:cNvPr>
          <p:cNvSpPr txBox="1"/>
          <p:nvPr/>
        </p:nvSpPr>
        <p:spPr>
          <a:xfrm>
            <a:off x="3855154" y="236207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二、概率统计基础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5FE669-1C05-4CA2-DD09-746348EA6670}"/>
              </a:ext>
            </a:extLst>
          </p:cNvPr>
          <p:cNvSpPr txBox="1"/>
          <p:nvPr/>
        </p:nvSpPr>
        <p:spPr>
          <a:xfrm>
            <a:off x="3855154" y="3324179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三、优化算法基础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8EBF1F-605B-F057-CFF4-E21FC66C0A3C}"/>
              </a:ext>
            </a:extLst>
          </p:cNvPr>
          <p:cNvSpPr txBox="1"/>
          <p:nvPr/>
        </p:nvSpPr>
        <p:spPr>
          <a:xfrm>
            <a:off x="3855153" y="4286286"/>
            <a:ext cx="2427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四、内容小结</a:t>
            </a:r>
          </a:p>
        </p:txBody>
      </p:sp>
    </p:spTree>
    <p:extLst>
      <p:ext uri="{BB962C8B-B14F-4D97-AF65-F5344CB8AC3E}">
        <p14:creationId xmlns:p14="http://schemas.microsoft.com/office/powerpoint/2010/main" val="103185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627CF-2BA5-1BBB-2AE9-BD7A50397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1148C04-D319-B596-CA91-549B48476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向量（</a:t>
            </a:r>
            <a:r>
              <a:rPr lang="en-US" altLang="zh-CN" dirty="0"/>
              <a:t>vector</a:t>
            </a:r>
            <a:r>
              <a:rPr lang="zh-CN" altLang="en-US" dirty="0"/>
              <a:t>）：数据的数学表示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76C694-4AA0-258C-11FE-9D29D7FB81DA}"/>
              </a:ext>
            </a:extLst>
          </p:cNvPr>
          <p:cNvSpPr txBox="1"/>
          <p:nvPr/>
        </p:nvSpPr>
        <p:spPr>
          <a:xfrm>
            <a:off x="380999" y="894891"/>
            <a:ext cx="11811001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sz="2400" b="1" dirty="0">
                <a:solidFill>
                  <a:srgbClr val="0707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定义：</a:t>
            </a:r>
            <a:r>
              <a:rPr lang="zh-CN" altLang="en-US" sz="2400" dirty="0">
                <a:solidFill>
                  <a:srgbClr val="0707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向量是一个有序数列，</a:t>
            </a:r>
            <a:r>
              <a:rPr lang="en-US" altLang="zh-CN" sz="2400" dirty="0">
                <a:solidFill>
                  <a:srgbClr val="0707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solidFill>
                  <a:srgbClr val="0707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维向量可以表示为</a:t>
            </a:r>
            <a:endParaRPr lang="zh-CN" altLang="en-US" sz="24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7FF45B-7F4E-A8B9-207C-1C7EEFFB4803}"/>
                  </a:ext>
                </a:extLst>
              </p:cNvPr>
              <p:cNvSpPr txBox="1"/>
              <p:nvPr/>
            </p:nvSpPr>
            <p:spPr>
              <a:xfrm>
                <a:off x="3229874" y="1608860"/>
                <a:ext cx="4459426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7FF45B-7F4E-A8B9-207C-1C7EEFFB4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874" y="1608860"/>
                <a:ext cx="4459426" cy="501291"/>
              </a:xfrm>
              <a:prstGeom prst="rect">
                <a:avLst/>
              </a:prstGeom>
              <a:blipFill>
                <a:blip r:embed="rId2"/>
                <a:stretch>
                  <a:fillRect l="-852" t="-2439" r="-284" b="-17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7A0D514A-4056-3D02-50DB-E1527A80F536}"/>
              </a:ext>
            </a:extLst>
          </p:cNvPr>
          <p:cNvSpPr txBox="1"/>
          <p:nvPr/>
        </p:nvSpPr>
        <p:spPr>
          <a:xfrm>
            <a:off x="380999" y="2501054"/>
            <a:ext cx="760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Wingdings" pitchFamily="2" charset="2"/>
              <a:buChar char="p"/>
            </a:pPr>
            <a:r>
              <a:rPr kumimoji="1"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几何意义：</a:t>
            </a:r>
            <a:r>
              <a:rPr kumimoji="1"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向量可以表示空间中的一个样本点或方向</a:t>
            </a:r>
          </a:p>
        </p:txBody>
      </p:sp>
      <p:pic>
        <p:nvPicPr>
          <p:cNvPr id="22" name="Picture 2" descr="Vector Algebra:">
            <a:extLst>
              <a:ext uri="{FF2B5EF4-FFF2-40B4-BE49-F238E27FC236}">
                <a16:creationId xmlns:a16="http://schemas.microsoft.com/office/drawing/2014/main" id="{83DC7535-FFDB-8025-8918-E1B797EE9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3224" y="856071"/>
            <a:ext cx="3088789" cy="2130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machine learning - What image format are MNIST images? - Stack Overflow">
            <a:extLst>
              <a:ext uri="{FF2B5EF4-FFF2-40B4-BE49-F238E27FC236}">
                <a16:creationId xmlns:a16="http://schemas.microsoft.com/office/drawing/2014/main" id="{5F10DEEC-2AA0-D284-4E29-254B4C490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411" y="3035206"/>
            <a:ext cx="2316075" cy="2397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2408F900-EFB4-FDB6-DED2-C20E11242E34}"/>
              </a:ext>
            </a:extLst>
          </p:cNvPr>
          <p:cNvSpPr/>
          <p:nvPr/>
        </p:nvSpPr>
        <p:spPr>
          <a:xfrm>
            <a:off x="4749888" y="5468194"/>
            <a:ext cx="3767372" cy="7375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一张 </a:t>
            </a:r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28x28 </a:t>
            </a:r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像素的图像可以展平看成一个 </a:t>
            </a:r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784 </a:t>
            </a:r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维的向量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AF0651-8318-CD29-9A65-E5E2679C592D}"/>
              </a:ext>
            </a:extLst>
          </p:cNvPr>
          <p:cNvSpPr txBox="1"/>
          <p:nvPr/>
        </p:nvSpPr>
        <p:spPr>
          <a:xfrm>
            <a:off x="180549" y="6458649"/>
            <a:ext cx="60986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200" dirty="0">
                <a:solidFill>
                  <a:schemeClr val="bg1"/>
                </a:solidFill>
              </a:rPr>
              <a:t>图片来源：</a:t>
            </a:r>
            <a:r>
              <a:rPr kumimoji="1" lang="en-US" altLang="zh-CN" sz="1200" dirty="0">
                <a:solidFill>
                  <a:schemeClr val="bg1"/>
                </a:solidFill>
              </a:rPr>
              <a:t>MNIST</a:t>
            </a:r>
            <a:endParaRPr lang="zh-CN" altLang="en-US" sz="12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A4A2B99-EA07-AF9F-8E2B-9D2F368EAA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3800" b="39801"/>
          <a:stretch>
            <a:fillRect/>
          </a:stretch>
        </p:blipFill>
        <p:spPr>
          <a:xfrm>
            <a:off x="9494683" y="3474641"/>
            <a:ext cx="2316075" cy="16441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29945D0-6E26-B7EA-094C-42D126ADB4CB}"/>
              </a:ext>
            </a:extLst>
          </p:cNvPr>
          <p:cNvSpPr/>
          <p:nvPr/>
        </p:nvSpPr>
        <p:spPr>
          <a:xfrm>
            <a:off x="9268307" y="5468194"/>
            <a:ext cx="2355415" cy="7375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用向量表示词语，可以显示出语义关系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E62B671-26AE-FF7C-8CA3-C165A63A0D10}"/>
              </a:ext>
            </a:extLst>
          </p:cNvPr>
          <p:cNvSpPr txBox="1"/>
          <p:nvPr/>
        </p:nvSpPr>
        <p:spPr>
          <a:xfrm>
            <a:off x="231470" y="3158040"/>
            <a:ext cx="48013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如何向计算机描述一个对象？向量化表示</a:t>
            </a:r>
            <a:endParaRPr kumimoji="1"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FB5EC41-066F-831E-2923-8305E8822A09}"/>
                  </a:ext>
                </a:extLst>
              </p:cNvPr>
              <p:cNvSpPr txBox="1"/>
              <p:nvPr/>
            </p:nvSpPr>
            <p:spPr>
              <a:xfrm>
                <a:off x="380999" y="3802327"/>
                <a:ext cx="361784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对象：</a:t>
                </a:r>
                <a:r>
                  <a:rPr lang="zh-CN" altLang="en-US" dirty="0">
                    <a:solidFill>
                      <a:srgbClr val="070707"/>
                    </a:solidFill>
                  </a:rPr>
                  <a:t>一个人</a:t>
                </a:r>
              </a:p>
              <a:p>
                <a:r>
                  <a:rPr lang="zh-CN" altLang="en-US" dirty="0"/>
                  <a:t>特征：</a:t>
                </a:r>
                <a:r>
                  <a:rPr lang="en-US" altLang="zh-CN" dirty="0">
                    <a:solidFill>
                      <a:srgbClr val="070707"/>
                    </a:solidFill>
                  </a:rPr>
                  <a:t>[</a:t>
                </a:r>
                <a:r>
                  <a:rPr lang="zh-CN" altLang="en-US" dirty="0">
                    <a:solidFill>
                      <a:srgbClr val="070707"/>
                    </a:solidFill>
                  </a:rPr>
                  <a:t>身高</a:t>
                </a:r>
                <a:r>
                  <a:rPr lang="en-US" altLang="zh-CN" dirty="0">
                    <a:solidFill>
                      <a:srgbClr val="070707"/>
                    </a:solidFill>
                  </a:rPr>
                  <a:t>, </a:t>
                </a:r>
                <a:r>
                  <a:rPr lang="zh-CN" altLang="en-US" dirty="0">
                    <a:solidFill>
                      <a:srgbClr val="070707"/>
                    </a:solidFill>
                  </a:rPr>
                  <a:t>体重</a:t>
                </a:r>
                <a:r>
                  <a:rPr lang="en-US" altLang="zh-CN" dirty="0">
                    <a:solidFill>
                      <a:srgbClr val="070707"/>
                    </a:solidFill>
                  </a:rPr>
                  <a:t>, </a:t>
                </a:r>
                <a:r>
                  <a:rPr lang="zh-CN" altLang="en-US" dirty="0">
                    <a:solidFill>
                      <a:srgbClr val="070707"/>
                    </a:solidFill>
                  </a:rPr>
                  <a:t>年龄</a:t>
                </a:r>
                <a:r>
                  <a:rPr lang="en-US" altLang="zh-CN" dirty="0">
                    <a:solidFill>
                      <a:srgbClr val="070707"/>
                    </a:solidFill>
                  </a:rPr>
                  <a:t>]</a:t>
                </a:r>
              </a:p>
              <a:p>
                <a:r>
                  <a:rPr lang="zh-CN" altLang="en-US" dirty="0"/>
                  <a:t>向量：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7070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solidFill>
                          <a:srgbClr val="07070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rgbClr val="07070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solidFill>
                                  <a:srgbClr val="07070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070707"/>
                                </a:solidFill>
                                <a:latin typeface="Cambria Math" panose="02040503050406030204" pitchFamily="18" charset="0"/>
                              </a:rPr>
                              <m:t>180, 75, 25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solidFill>
                              <a:srgbClr val="070707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en" altLang="zh-CN" dirty="0"/>
              </a:p>
              <a:p>
                <a:r>
                  <a:rPr lang="zh-CN" altLang="en-US" dirty="0"/>
                  <a:t>含义： </a:t>
                </a:r>
                <a:r>
                  <a:rPr lang="zh-CN" altLang="en-US" dirty="0">
                    <a:solidFill>
                      <a:srgbClr val="070707"/>
                    </a:solidFill>
                  </a:rPr>
                  <a:t>向量是样本特征（</a:t>
                </a:r>
                <a:r>
                  <a:rPr lang="en" altLang="zh-CN" dirty="0">
                    <a:solidFill>
                      <a:srgbClr val="070707"/>
                    </a:solidFill>
                  </a:rPr>
                  <a:t>Features</a:t>
                </a:r>
                <a:r>
                  <a:rPr lang="zh-CN" altLang="en" dirty="0">
                    <a:solidFill>
                      <a:srgbClr val="070707"/>
                    </a:solidFill>
                  </a:rPr>
                  <a:t>）</a:t>
                </a:r>
                <a:r>
                  <a:rPr lang="zh-CN" altLang="en-US" dirty="0">
                    <a:solidFill>
                      <a:srgbClr val="070707"/>
                    </a:solidFill>
                  </a:rPr>
                  <a:t>的容器</a:t>
                </a:r>
                <a:endParaRPr lang="en-US" altLang="zh-CN" dirty="0">
                  <a:solidFill>
                    <a:srgbClr val="070707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FB5EC41-066F-831E-2923-8305E8822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3802327"/>
                <a:ext cx="3617843" cy="1477328"/>
              </a:xfrm>
              <a:prstGeom prst="rect">
                <a:avLst/>
              </a:prstGeom>
              <a:blipFill>
                <a:blip r:embed="rId6"/>
                <a:stretch>
                  <a:fillRect l="-1399" t="-3419" r="-7692" b="-4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93214E72-A1CE-B03A-E2FD-113C50C9AA32}"/>
              </a:ext>
            </a:extLst>
          </p:cNvPr>
          <p:cNvSpPr/>
          <p:nvPr/>
        </p:nvSpPr>
        <p:spPr>
          <a:xfrm>
            <a:off x="231470" y="5458607"/>
            <a:ext cx="3767372" cy="7375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 </a:t>
            </a:r>
            <a:r>
              <a:rPr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维向量意味着我们要用 </a:t>
            </a:r>
            <a:r>
              <a:rPr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en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个不同的属性来描述这个事物</a:t>
            </a:r>
          </a:p>
        </p:txBody>
      </p:sp>
    </p:spTree>
    <p:extLst>
      <p:ext uri="{BB962C8B-B14F-4D97-AF65-F5344CB8AC3E}">
        <p14:creationId xmlns:p14="http://schemas.microsoft.com/office/powerpoint/2010/main" val="3946205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EF328-906F-A130-F3F1-ADDB83100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75D1533-A3A2-95FC-D39A-2D0A519A7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范数（</a:t>
            </a:r>
            <a:r>
              <a:rPr lang="en-US" altLang="zh-CN" dirty="0"/>
              <a:t>norm</a:t>
            </a:r>
            <a:r>
              <a:rPr lang="zh-CN" altLang="en-US" dirty="0"/>
              <a:t>）：衡量向量的大小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0E588A3-CD01-1832-37D9-4E7BA5273895}"/>
                  </a:ext>
                </a:extLst>
              </p:cNvPr>
              <p:cNvSpPr txBox="1"/>
              <p:nvPr/>
            </p:nvSpPr>
            <p:spPr>
              <a:xfrm>
                <a:off x="3358605" y="925882"/>
                <a:ext cx="4459426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0E588A3-CD01-1832-37D9-4E7BA5273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605" y="925882"/>
                <a:ext cx="4459426" cy="501291"/>
              </a:xfrm>
              <a:prstGeom prst="rect">
                <a:avLst/>
              </a:prstGeom>
              <a:blipFill>
                <a:blip r:embed="rId2"/>
                <a:stretch>
                  <a:fillRect l="-852" r="-284" b="-17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15E0E51-5B90-0D90-B505-50EF758EF732}"/>
                  </a:ext>
                </a:extLst>
              </p:cNvPr>
              <p:cNvSpPr txBox="1"/>
              <p:nvPr/>
            </p:nvSpPr>
            <p:spPr>
              <a:xfrm>
                <a:off x="365478" y="3522707"/>
                <a:ext cx="3642151" cy="8396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 algn="l">
                  <a:buFont typeface="Wingdings" pitchFamily="2" charset="2"/>
                  <a:buChar char="p"/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Euclidean </a:t>
                </a:r>
                <a:r>
                  <a:rPr kumimoji="1" lang="zh-CN" altLang="en-US" sz="16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范数（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</a:t>
                </a:r>
                <a:r>
                  <a:rPr kumimoji="1" lang="zh-CN" altLang="en-US" sz="16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范数）：</a:t>
                </a:r>
                <a:endParaRPr kumimoji="1" lang="en-US" altLang="zh-CN" sz="16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lit/>
                        </m:rPr>
                        <a:rPr kumimoji="1" lang="en-US" altLang="zh-CN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||</m:t>
                      </m:r>
                      <m:r>
                        <a:rPr kumimoji="1" lang="en-US" altLang="zh-CN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𝒙</m:t>
                      </m:r>
                      <m:r>
                        <m:rPr>
                          <m:lit/>
                        </m:rPr>
                        <a:rPr kumimoji="1" lang="en-US" altLang="zh-CN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|</m:t>
                      </m:r>
                      <m:sSub>
                        <m:sSubPr>
                          <m:ctrlPr>
                            <a:rPr kumimoji="1"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lit/>
                            </m:rPr>
                            <a:rPr kumimoji="1"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|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1"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1"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+⋯+</m:t>
                          </m:r>
                          <m:sSubSup>
                            <m:sSubSupPr>
                              <m:ctrlP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𝑛</m:t>
                              </m:r>
                            </m:sub>
                            <m:sup>
                              <m: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kumimoji="1" lang="en-US" altLang="zh-CN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⊤</m:t>
                              </m:r>
                            </m:sup>
                          </m:sSup>
                          <m:r>
                            <a:rPr kumimoji="1"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𝑥</m:t>
                          </m:r>
                        </m:e>
                      </m:rad>
                    </m:oMath>
                  </m:oMathPara>
                </a14:m>
                <a:endParaRPr kumimoji="1" lang="zh-CN" altLang="en-US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15E0E51-5B90-0D90-B505-50EF758EF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78" y="3522707"/>
                <a:ext cx="3642151" cy="839653"/>
              </a:xfrm>
              <a:prstGeom prst="rect">
                <a:avLst/>
              </a:prstGeom>
              <a:blipFill>
                <a:blip r:embed="rId3"/>
                <a:stretch>
                  <a:fillRect l="-694" t="-1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8AE30CD-5E13-A91E-EBC8-9135E971E6FB}"/>
                  </a:ext>
                </a:extLst>
              </p:cNvPr>
              <p:cNvSpPr txBox="1"/>
              <p:nvPr/>
            </p:nvSpPr>
            <p:spPr>
              <a:xfrm>
                <a:off x="361781" y="4643010"/>
                <a:ext cx="398359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p"/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  <a:r>
                  <a:rPr kumimoji="1" lang="zh-CN" altLang="en-US" sz="16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范数：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kumimoji="1"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||</m:t>
                    </m:r>
                    <m:r>
                      <a:rPr kumimoji="1"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  <m:r>
                      <m:rPr>
                        <m:lit/>
                      </m:rPr>
                      <a:rPr kumimoji="1"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kumimoji="1"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kumimoji="1"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</m:e>
                      <m:sub>
                        <m:r>
                          <a:rPr kumimoji="1"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kumimoji="1"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kumimoji="1"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  <m:r>
                          <a:rPr kumimoji="1"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m:rPr>
                        <m:lit/>
                      </m:rPr>
                      <a:rPr kumimoji="1"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r>
                      <a:rPr kumimoji="1"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kumimoji="1"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kumimoji="1"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  <m:r>
                          <a:rPr kumimoji="1"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m:rPr>
                        <m:lit/>
                      </m:rPr>
                      <a:rPr kumimoji="1"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r>
                      <a:rPr kumimoji="1"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+⋯+</m:t>
                    </m:r>
                    <m:sSub>
                      <m:sSubPr>
                        <m:ctrlPr>
                          <a:rPr kumimoji="1"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kumimoji="1"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  <m:r>
                          <a:rPr kumimoji="1"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m:rPr>
                        <m:lit/>
                      </m:rPr>
                      <a:rPr kumimoji="1"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</m:oMath>
                </a14:m>
                <a:r>
                  <a:rPr kumimoji="1"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8AE30CD-5E13-A91E-EBC8-9135E971E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81" y="4643010"/>
                <a:ext cx="3983591" cy="338554"/>
              </a:xfrm>
              <a:prstGeom prst="rect">
                <a:avLst/>
              </a:prstGeom>
              <a:blipFill>
                <a:blip r:embed="rId4"/>
                <a:stretch>
                  <a:fillRect l="-635" t="-3571" b="-1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85F4B8D-555D-2E9B-16D7-206AC73997E3}"/>
                  </a:ext>
                </a:extLst>
              </p:cNvPr>
              <p:cNvSpPr txBox="1"/>
              <p:nvPr/>
            </p:nvSpPr>
            <p:spPr>
              <a:xfrm>
                <a:off x="381242" y="5594036"/>
                <a:ext cx="29429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p"/>
                </a:pPr>
                <a14:m>
                  <m:oMath xmlns:m="http://schemas.openxmlformats.org/officeDocument/2006/math">
                    <m:r>
                      <a:rPr kumimoji="1"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∞</m:t>
                    </m:r>
                  </m:oMath>
                </a14:m>
                <a:r>
                  <a:rPr kumimoji="1" lang="zh-CN" altLang="en-US" sz="16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范数：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kumimoji="1"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||</m:t>
                    </m:r>
                    <m:r>
                      <a:rPr kumimoji="1"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  <m:r>
                      <m:rPr>
                        <m:lit/>
                      </m:rPr>
                      <a:rPr kumimoji="1"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kumimoji="1"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kumimoji="1"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</m:e>
                      <m:sub>
                        <m:r>
                          <a:rPr kumimoji="1"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∞</m:t>
                        </m:r>
                      </m:sub>
                    </m:sSub>
                    <m:r>
                      <a:rPr kumimoji="1"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max</m:t>
                    </m:r>
                    <m:r>
                      <a:rPr kumimoji="1"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  <m:sSub>
                      <m:sSubPr>
                        <m:ctrlPr>
                          <a:rPr kumimoji="1"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kumimoji="1"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  <m:r>
                          <a:rPr kumimoji="1"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m:rPr>
                        <m:lit/>
                      </m:rPr>
                      <a:rPr kumimoji="1"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r>
                      <a:rPr kumimoji="1"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</m:oMath>
                </a14:m>
                <a:r>
                  <a:rPr kumimoji="1"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85F4B8D-555D-2E9B-16D7-206AC7399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5594036"/>
                <a:ext cx="2942985" cy="338554"/>
              </a:xfrm>
              <a:prstGeom prst="rect">
                <a:avLst/>
              </a:prstGeom>
              <a:blipFill>
                <a:blip r:embed="rId5"/>
                <a:stretch>
                  <a:fillRect l="-1293" t="-3571" b="-1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73BF078-FDA9-B19A-9FF9-A4D10A56B89B}"/>
                  </a:ext>
                </a:extLst>
              </p:cNvPr>
              <p:cNvSpPr txBox="1"/>
              <p:nvPr/>
            </p:nvSpPr>
            <p:spPr>
              <a:xfrm>
                <a:off x="4120904" y="1756345"/>
                <a:ext cx="7823663" cy="5824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lit/>
                      </m:rPr>
                      <a:rPr kumimoji="1"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||</m:t>
                    </m:r>
                    <m:r>
                      <a:rPr kumimoji="1"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  <m:r>
                      <m:rPr>
                        <m:lit/>
                      </m:rPr>
                      <a:rPr kumimoji="1"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kumimoji="1"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kumimoji="1"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</m:e>
                      <m:sub>
                        <m:r>
                          <a:rPr kumimoji="1"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𝑝</m:t>
                        </m:r>
                      </m:sub>
                    </m:sSub>
                    <m:r>
                      <a:rPr kumimoji="1"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kumimoji="1"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lit/>
                                  </m:r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|</m:t>
                                </m:r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 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lit/>
                                  </m:r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𝑝</m:t>
                                </m:r>
                              </m:sup>
                            </m:sSup>
                            <m:r>
                              <a:rPr kumimoji="1"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</m:t>
                            </m:r>
                            <m:r>
                              <m:rPr>
                                <m:lit/>
                              </m:rPr>
                              <a:rPr kumimoji="1"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 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lit/>
                                  </m:r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𝑝</m:t>
                                </m:r>
                              </m:sup>
                            </m:sSup>
                            <m:r>
                              <a:rPr kumimoji="1"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+⋯+</m:t>
                            </m:r>
                            <m:r>
                              <m:rPr>
                                <m:lit/>
                              </m:rPr>
                              <a:rPr kumimoji="1"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 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lit/>
                                  </m:r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𝑝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kumimoji="1"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1/</m:t>
                        </m:r>
                        <m:r>
                          <a:rPr kumimoji="1"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𝑝</m:t>
                        </m:r>
                      </m:sup>
                    </m:sSup>
                  </m:oMath>
                </a14:m>
                <a:r>
                  <a:rPr kumimoji="1" lang="en-US" altLang="zh-CN" sz="2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  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𝑝</m:t>
                    </m:r>
                    <m:r>
                      <a:rPr kumimoji="1"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≥1</m:t>
                    </m:r>
                  </m:oMath>
                </a14:m>
                <a:endParaRPr kumimoji="1" lang="zh-CN" altLang="en-US" sz="28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73BF078-FDA9-B19A-9FF9-A4D10A56B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904" y="1756345"/>
                <a:ext cx="7823663" cy="582467"/>
              </a:xfrm>
              <a:prstGeom prst="rect">
                <a:avLst/>
              </a:prstGeom>
              <a:blipFill>
                <a:blip r:embed="rId6"/>
                <a:stretch>
                  <a:fillRect l="-972" t="-6383" b="-234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79B33F2A-DF5B-403B-6460-0CA8A6A385E9}"/>
              </a:ext>
            </a:extLst>
          </p:cNvPr>
          <p:cNvSpPr txBox="1"/>
          <p:nvPr/>
        </p:nvSpPr>
        <p:spPr>
          <a:xfrm>
            <a:off x="381242" y="1850741"/>
            <a:ext cx="34522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itchFamily="2" charset="2"/>
              <a:buChar char="p"/>
            </a:pPr>
            <a:r>
              <a:rPr kumimoji="1"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向量的 </a:t>
            </a:r>
            <a:r>
              <a:rPr kumimoji="1"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kumimoji="1"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范数定义为：</a:t>
            </a:r>
            <a:endParaRPr kumimoji="1" lang="en-US" altLang="zh-CN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33ED86-9B96-B894-9DE6-4FAC6A18451F}"/>
              </a:ext>
            </a:extLst>
          </p:cNvPr>
          <p:cNvSpPr txBox="1"/>
          <p:nvPr/>
        </p:nvSpPr>
        <p:spPr>
          <a:xfrm>
            <a:off x="365478" y="2718837"/>
            <a:ext cx="34522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kumimoji="1"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常用的范数举例：</a:t>
            </a:r>
            <a:endParaRPr kumimoji="1" lang="en-US" altLang="zh-CN" sz="28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65D06175-ECDC-5AAE-76F7-B70245FF18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8164" y="3242057"/>
            <a:ext cx="2309412" cy="240665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D4869A5C-D8E9-906A-3672-A09583FC1D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6645" y="3242057"/>
            <a:ext cx="2174054" cy="240665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752C4121-2350-E81E-E4AE-1BD4B31C46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2397" y="3242057"/>
            <a:ext cx="2227843" cy="2406650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50182341-A13E-4F39-C05E-9B266C44DDEF}"/>
              </a:ext>
            </a:extLst>
          </p:cNvPr>
          <p:cNvSpPr/>
          <p:nvPr/>
        </p:nvSpPr>
        <p:spPr>
          <a:xfrm>
            <a:off x="5702870" y="5773473"/>
            <a:ext cx="5527722" cy="465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同样的一个向量在不同范数下的计算结果不同</a:t>
            </a:r>
          </a:p>
        </p:txBody>
      </p:sp>
    </p:spTree>
    <p:extLst>
      <p:ext uri="{BB962C8B-B14F-4D97-AF65-F5344CB8AC3E}">
        <p14:creationId xmlns:p14="http://schemas.microsoft.com/office/powerpoint/2010/main" val="2862610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C4812-9470-1179-4928-51D8CD24C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68ADD1C-6BA7-F088-CA9F-04EB3324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角度（</a:t>
            </a:r>
            <a:r>
              <a:rPr lang="en-US" altLang="zh-CN" dirty="0"/>
              <a:t>angle</a:t>
            </a:r>
            <a:r>
              <a:rPr lang="zh-CN" altLang="en-US" dirty="0"/>
              <a:t>）（特征的相似度）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899A480-F2D8-2C7F-DE25-0B382221D415}"/>
                  </a:ext>
                </a:extLst>
              </p:cNvPr>
              <p:cNvSpPr txBox="1"/>
              <p:nvPr/>
            </p:nvSpPr>
            <p:spPr>
              <a:xfrm>
                <a:off x="650574" y="1038141"/>
                <a:ext cx="4459426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899A480-F2D8-2C7F-DE25-0B382221D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74" y="1038141"/>
                <a:ext cx="4459426" cy="501291"/>
              </a:xfrm>
              <a:prstGeom prst="rect">
                <a:avLst/>
              </a:prstGeom>
              <a:blipFill>
                <a:blip r:embed="rId2"/>
                <a:stretch>
                  <a:fillRect l="-852" t="-2439" r="-284" b="-17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211FA5B-A6FE-C247-DB2F-DA53D5752BB7}"/>
                  </a:ext>
                </a:extLst>
              </p:cNvPr>
              <p:cNvSpPr txBox="1"/>
              <p:nvPr/>
            </p:nvSpPr>
            <p:spPr>
              <a:xfrm>
                <a:off x="2437089" y="2290671"/>
                <a:ext cx="7823663" cy="10682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𝜃</m:t>
                      </m:r>
                      <m: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=∠</m:t>
                      </m:r>
                      <m:d>
                        <m:dPr>
                          <m:ctrlP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𝒙</m:t>
                          </m:r>
                          <m:r>
                            <a:rPr kumimoji="1"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 </m:t>
                          </m:r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𝒚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arccos</m:t>
                      </m:r>
                      <m:d>
                        <m:dPr>
                          <m:ctrlP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CN" sz="28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en-US" altLang="zh-CN" sz="28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kumimoji="1" lang="en-US" altLang="zh-CN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zh-CN" sz="28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𝒚</m:t>
                              </m:r>
                            </m:num>
                            <m:den>
                              <m:r>
                                <m:rPr>
                                  <m:lit/>
                                </m:rPr>
                                <a:rPr kumimoji="1"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||</m:t>
                              </m:r>
                              <m:r>
                                <a:rPr kumimoji="1" lang="en-US" altLang="zh-CN" sz="28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𝒙</m:t>
                              </m:r>
                              <m:r>
                                <m:rPr>
                                  <m:lit/>
                                </m:rPr>
                                <a:rPr kumimoji="1"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||</m:t>
                              </m:r>
                              <m:r>
                                <a:rPr kumimoji="1"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⋅</m:t>
                              </m:r>
                              <m:r>
                                <m:rPr>
                                  <m:lit/>
                                </m:rPr>
                                <a:rPr kumimoji="1"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||</m:t>
                              </m:r>
                              <m:r>
                                <a:rPr kumimoji="1" lang="en-US" altLang="zh-CN" sz="28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𝒚</m:t>
                              </m:r>
                              <m:r>
                                <m:rPr>
                                  <m:lit/>
                                </m:rPr>
                                <a:rPr kumimoji="1"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||</m:t>
                              </m:r>
                            </m:den>
                          </m:f>
                        </m:e>
                      </m:d>
                      <m: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∈[0, </m:t>
                      </m:r>
                      <m: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𝜋</m:t>
                      </m:r>
                      <m: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]</m:t>
                      </m:r>
                    </m:oMath>
                  </m:oMathPara>
                </a14:m>
                <a:endParaRPr kumimoji="1" lang="zh-CN" altLang="en-US" sz="28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211FA5B-A6FE-C247-DB2F-DA53D5752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089" y="2290671"/>
                <a:ext cx="7823663" cy="1068241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EA18325-FAEB-1DD9-9256-F9166460CCA1}"/>
                  </a:ext>
                </a:extLst>
              </p:cNvPr>
              <p:cNvSpPr txBox="1"/>
              <p:nvPr/>
            </p:nvSpPr>
            <p:spPr>
              <a:xfrm>
                <a:off x="381241" y="1850741"/>
                <a:ext cx="1029000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itchFamily="2" charset="2"/>
                  <a:buChar char="p"/>
                </a:pP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向量</a:t>
                </a:r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</m:oMath>
                </a14:m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与向量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𝒚</m:t>
                    </m:r>
                  </m:oMath>
                </a14:m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的角度定义为：</a:t>
                </a:r>
                <a:endParaRPr kumimoji="1" lang="en-US" altLang="zh-CN" sz="24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EA18325-FAEB-1DD9-9256-F9166460C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1" y="1850741"/>
                <a:ext cx="10290001" cy="461665"/>
              </a:xfrm>
              <a:prstGeom prst="rect">
                <a:avLst/>
              </a:prstGeom>
              <a:blipFill>
                <a:blip r:embed="rId4"/>
                <a:stretch>
                  <a:fillRect l="-863" t="-10811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64A2908-1409-7816-B2FA-011D91464190}"/>
                  </a:ext>
                </a:extLst>
              </p:cNvPr>
              <p:cNvSpPr txBox="1"/>
              <p:nvPr/>
            </p:nvSpPr>
            <p:spPr>
              <a:xfrm>
                <a:off x="5632882" y="1008516"/>
                <a:ext cx="4627870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64A2908-1409-7816-B2FA-011D91464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882" y="1008516"/>
                <a:ext cx="4627870" cy="501291"/>
              </a:xfrm>
              <a:prstGeom prst="rect">
                <a:avLst/>
              </a:prstGeom>
              <a:blipFill>
                <a:blip r:embed="rId5"/>
                <a:stretch>
                  <a:fillRect t="-2439" b="-24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14FB9B1-04EB-4D52-FC5F-D47C010D7FCD}"/>
                  </a:ext>
                </a:extLst>
              </p:cNvPr>
              <p:cNvSpPr txBox="1"/>
              <p:nvPr/>
            </p:nvSpPr>
            <p:spPr>
              <a:xfrm>
                <a:off x="381241" y="4715240"/>
                <a:ext cx="7823663" cy="611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l">
                  <a:buFont typeface="Wingdings" pitchFamily="2" charset="2"/>
                  <a:buChar char="p"/>
                </a:pP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向量</a:t>
                </a:r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</m:oMath>
                </a14:m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与向量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𝒚</m:t>
                    </m:r>
                  </m:oMath>
                </a14:m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正交定义为：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∠</m:t>
                    </m:r>
                    <m:d>
                      <m:dPr>
                        <m:ctrlP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l-GR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l-GR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𝝅</m:t>
                        </m:r>
                      </m:num>
                      <m:den>
                        <m:r>
                          <a:rPr kumimoji="1" lang="el-GR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𝟐</m:t>
                        </m:r>
                      </m:den>
                    </m:f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  <m:groupChr>
                      <m:groupChrPr>
                        <m:chr m:val="⇔"/>
                        <m:pos m:val="top"/>
                        <m:vertJc m:val="top"/>
                        <m:ctrlP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 </m:t>
                        </m:r>
                      </m:e>
                    </m:groupChr>
                    <m:sSup>
                      <m:sSupPr>
                        <m:ctrlP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 </m:t>
                        </m:r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⊤</m:t>
                        </m:r>
                      </m:sup>
                    </m:sSup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𝒚</m:t>
                    </m:r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𝟎</m:t>
                    </m:r>
                  </m:oMath>
                </a14:m>
                <a:endParaRPr kumimoji="1" lang="en-US" altLang="zh-CN" sz="24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14FB9B1-04EB-4D52-FC5F-D47C010D7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1" y="4715240"/>
                <a:ext cx="7823663" cy="611899"/>
              </a:xfrm>
              <a:prstGeom prst="rect">
                <a:avLst/>
              </a:prstGeom>
              <a:blipFill>
                <a:blip r:embed="rId6"/>
                <a:stretch>
                  <a:fillRect l="-1135" t="-28571" b="-469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1436E2F-4BE0-BB2F-1B26-422833C39B12}"/>
                  </a:ext>
                </a:extLst>
              </p:cNvPr>
              <p:cNvSpPr txBox="1"/>
              <p:nvPr/>
            </p:nvSpPr>
            <p:spPr>
              <a:xfrm>
                <a:off x="381242" y="5404599"/>
                <a:ext cx="701178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l">
                  <a:buFont typeface="Wingdings" pitchFamily="2" charset="2"/>
                  <a:buChar char="p"/>
                </a:pP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向量</a:t>
                </a:r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</m:oMath>
                </a14:m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与向量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𝒚</m:t>
                    </m:r>
                  </m:oMath>
                </a14:m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共线定义为：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∠</m:t>
                    </m:r>
                    <m:d>
                      <m:dPr>
                        <m:ctrlP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𝟎</m:t>
                    </m:r>
                    <m:r>
                      <a:rPr kumimoji="1" lang="zh-CN" altLang="en-US" sz="24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  <m:r>
                      <a:rPr kumimoji="1"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或</m:t>
                    </m:r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𝝅</m:t>
                    </m:r>
                  </m:oMath>
                </a14:m>
                <a:endParaRPr kumimoji="1" lang="en-US" altLang="zh-CN" sz="24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1436E2F-4BE0-BB2F-1B26-422833C39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5404599"/>
                <a:ext cx="7011780" cy="461665"/>
              </a:xfrm>
              <a:prstGeom prst="rect">
                <a:avLst/>
              </a:prstGeom>
              <a:blipFill>
                <a:blip r:embed="rId7"/>
                <a:stretch>
                  <a:fillRect l="-1266" t="-10811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FAF48A8C-E1BC-7493-3D78-04CB2E44BDC4}"/>
              </a:ext>
            </a:extLst>
          </p:cNvPr>
          <p:cNvCxnSpPr/>
          <p:nvPr/>
        </p:nvCxnSpPr>
        <p:spPr>
          <a:xfrm flipV="1">
            <a:off x="10505872" y="1539432"/>
            <a:ext cx="1196502" cy="114540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44936FB9-DB8B-F9FB-F8F6-32EFC50EFC35}"/>
              </a:ext>
            </a:extLst>
          </p:cNvPr>
          <p:cNvCxnSpPr>
            <a:cxnSpLocks/>
          </p:cNvCxnSpPr>
          <p:nvPr/>
        </p:nvCxnSpPr>
        <p:spPr>
          <a:xfrm>
            <a:off x="10505872" y="2684834"/>
            <a:ext cx="1304886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8DFDA5B-175A-1254-DC49-2BF3B8CC68D7}"/>
                  </a:ext>
                </a:extLst>
              </p:cNvPr>
              <p:cNvSpPr txBox="1"/>
              <p:nvPr/>
            </p:nvSpPr>
            <p:spPr>
              <a:xfrm>
                <a:off x="11702374" y="1254868"/>
                <a:ext cx="3928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20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kumimoji="1" lang="zh-CN" altLang="en-US" sz="2000" b="1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8DFDA5B-175A-1254-DC49-2BF3B8CC6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2374" y="1254868"/>
                <a:ext cx="39280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34DE13F-31BC-472D-0D53-A16D653BE1B0}"/>
                  </a:ext>
                </a:extLst>
              </p:cNvPr>
              <p:cNvSpPr txBox="1"/>
              <p:nvPr/>
            </p:nvSpPr>
            <p:spPr>
              <a:xfrm>
                <a:off x="11751094" y="2466077"/>
                <a:ext cx="40267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2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kumimoji="1" lang="zh-CN" altLang="en-US" sz="2000" b="1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34DE13F-31BC-472D-0D53-A16D653BE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1094" y="2466077"/>
                <a:ext cx="402674" cy="400110"/>
              </a:xfrm>
              <a:prstGeom prst="rect">
                <a:avLst/>
              </a:prstGeom>
              <a:blipFill>
                <a:blip r:embed="rId9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2FC31DC-F50B-8F67-E420-C74D1219D9A1}"/>
                  </a:ext>
                </a:extLst>
              </p:cNvPr>
              <p:cNvSpPr txBox="1"/>
              <p:nvPr/>
            </p:nvSpPr>
            <p:spPr>
              <a:xfrm>
                <a:off x="10801380" y="2310769"/>
                <a:ext cx="40908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2000" b="1" i="1" smtClean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kumimoji="1" lang="zh-CN" altLang="en-US" sz="2000" b="1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2FC31DC-F50B-8F67-E420-C74D1219D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1380" y="2310769"/>
                <a:ext cx="409086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21AA3CE-63B4-BF4C-73BA-DE36EB4FBCAE}"/>
                  </a:ext>
                </a:extLst>
              </p:cNvPr>
              <p:cNvSpPr txBox="1"/>
              <p:nvPr/>
            </p:nvSpPr>
            <p:spPr>
              <a:xfrm>
                <a:off x="333523" y="3582488"/>
                <a:ext cx="8994642" cy="7195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p"/>
                </a:pP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余弦相似度” </a:t>
                </a:r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(Cosine Similarity):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cos</m:t>
                    </m:r>
                    <m:d>
                      <m:dPr>
                        <m:ctrlP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𝜃</m:t>
                        </m:r>
                      </m:e>
                    </m:d>
                    <m: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1"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kumimoji="1"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⊤</m:t>
                            </m:r>
                          </m:sup>
                        </m:sSup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𝒚</m:t>
                        </m:r>
                      </m:num>
                      <m:den>
                        <m:r>
                          <m:rPr>
                            <m:lit/>
                          </m:rP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||</m:t>
                        </m:r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  <m:r>
                          <m:rPr>
                            <m:lit/>
                          </m:rP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||</m:t>
                        </m:r>
                        <m: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⋅</m:t>
                        </m:r>
                        <m:r>
                          <m:rPr>
                            <m:lit/>
                          </m:rP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||</m:t>
                        </m:r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𝒚</m:t>
                        </m:r>
                        <m:r>
                          <m:rPr>
                            <m:lit/>
                          </m:rP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||</m:t>
                        </m:r>
                      </m:den>
                    </m:f>
                    <m: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∈[−1, 1]</m:t>
                    </m:r>
                  </m:oMath>
                </a14:m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endParaRPr kumimoji="1" lang="zh-CN" altLang="en-US" sz="2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21AA3CE-63B4-BF4C-73BA-DE36EB4FB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23" y="3582488"/>
                <a:ext cx="8994642" cy="719556"/>
              </a:xfrm>
              <a:prstGeom prst="rect">
                <a:avLst/>
              </a:prstGeom>
              <a:blipFill>
                <a:blip r:embed="rId11"/>
                <a:stretch>
                  <a:fillRect l="-987" b="-87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E0BB7F1-18AE-B2E9-B98C-2DE027B570FB}"/>
                  </a:ext>
                </a:extLst>
              </p:cNvPr>
              <p:cNvSpPr/>
              <p:nvPr/>
            </p:nvSpPr>
            <p:spPr>
              <a:xfrm>
                <a:off x="9071132" y="4011589"/>
                <a:ext cx="3016455" cy="21160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550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kumimoji="1" lang="zh-CN" altLang="en-US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用户</a:t>
                </a:r>
                <a:r>
                  <a:rPr kumimoji="1" lang="en-US" altLang="zh-CN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  <a:r>
                  <a:rPr kumimoji="1" lang="zh-CN" altLang="en-US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</a:t>
                </a:r>
                <a:r>
                  <a:rPr kumimoji="1" lang="en" altLang="zh-CN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</a:t>
                </a:r>
                <a:r>
                  <a:rPr kumimoji="1" lang="zh-CN" altLang="en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kumimoji="1" lang="en" altLang="zh-CN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</a:t>
                </a:r>
                <a:r>
                  <a:rPr kumimoji="1" lang="zh-CN" altLang="en-US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两部的电影打分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zh-CN" altLang="en-US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𝑥</a:t>
                </a:r>
                <a:r>
                  <a:rPr kumimoji="1" lang="en-US" altLang="zh-CN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=[8, −4]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zh-CN" altLang="en-US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用户</a:t>
                </a:r>
                <a:r>
                  <a:rPr kumimoji="1" lang="en" altLang="zh-CN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</a:t>
                </a:r>
                <a:r>
                  <a:rPr kumimoji="1" lang="zh-CN" altLang="en-US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</a:t>
                </a:r>
                <a:r>
                  <a:rPr kumimoji="1" lang="en" altLang="zh-CN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</a:t>
                </a:r>
                <a:r>
                  <a:rPr kumimoji="1" lang="zh-CN" altLang="en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kumimoji="1" lang="en" altLang="zh-CN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</a:t>
                </a:r>
                <a:r>
                  <a:rPr kumimoji="1" lang="zh-CN" altLang="en-US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两部的电影打分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zh-CN" altLang="en-US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𝑦</a:t>
                </a:r>
                <a:r>
                  <a:rPr kumimoji="1" lang="en-US" altLang="zh-CN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=[4,−2]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14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||</m:t>
                    </m:r>
                    <m:r>
                      <a:rPr kumimoji="1" lang="en-US" altLang="zh-CN" sz="1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  <m:r>
                      <a:rPr kumimoji="1" lang="en-US" altLang="zh-CN" sz="1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−</m:t>
                    </m:r>
                    <m:r>
                      <a:rPr kumimoji="1" lang="en-US" altLang="zh-CN" sz="1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𝒚</m:t>
                    </m:r>
                    <m:r>
                      <a:rPr kumimoji="1" lang="en-US" altLang="zh-CN" sz="1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zh-CN" altLang="en-US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kumimoji="1" lang="en-US" altLang="zh-CN" sz="1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kumimoji="1" lang="en-US" altLang="zh-CN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距离是大的，但是角度一样 ⟹ </a:t>
                </a:r>
                <a:r>
                  <a:rPr kumimoji="1" lang="en-US" altLang="zh-CN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A,B </a:t>
                </a:r>
                <a:r>
                  <a:rPr kumimoji="1" lang="zh-CN" altLang="en-US" sz="14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用户偏好一样</a:t>
                </a:r>
                <a:endParaRPr kumimoji="1" lang="en-US" altLang="zh-CN" sz="14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E0BB7F1-18AE-B2E9-B98C-2DE027B57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132" y="4011589"/>
                <a:ext cx="3016455" cy="2116010"/>
              </a:xfrm>
              <a:prstGeom prst="rect">
                <a:avLst/>
              </a:prstGeom>
              <a:blipFill>
                <a:blip r:embed="rId12"/>
                <a:stretch>
                  <a:fillRect b="-5187"/>
                </a:stretch>
              </a:blipFill>
              <a:ln w="550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1213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95DBE-869C-69D6-CE78-A6B964843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F1B75F7-1045-9A59-7ABF-1C6A39F2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矩阵（</a:t>
            </a:r>
            <a:r>
              <a:rPr lang="en-US" altLang="zh-CN" dirty="0"/>
              <a:t>matrix</a:t>
            </a:r>
            <a:r>
              <a:rPr lang="zh-CN" altLang="en-US" dirty="0"/>
              <a:t>）（神经网络表达式，数据的表示）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3963671-968D-C783-D3F9-ECBDF9F3C2BD}"/>
              </a:ext>
            </a:extLst>
          </p:cNvPr>
          <p:cNvSpPr txBox="1"/>
          <p:nvPr/>
        </p:nvSpPr>
        <p:spPr>
          <a:xfrm>
            <a:off x="146539" y="894891"/>
            <a:ext cx="5410201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sz="2000" b="1" dirty="0">
                <a:solidFill>
                  <a:srgbClr val="0707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定义：</a:t>
            </a:r>
            <a:r>
              <a:rPr lang="zh-CN" altLang="en-US" sz="2000" dirty="0">
                <a:solidFill>
                  <a:srgbClr val="0707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矩阵是一个二维数组，可以表示为</a:t>
            </a:r>
            <a:endParaRPr lang="zh-CN" altLang="en-US" sz="20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5EE6959-3FC9-64F4-BE60-B704CAD21795}"/>
                  </a:ext>
                </a:extLst>
              </p:cNvPr>
              <p:cNvSpPr txBox="1"/>
              <p:nvPr/>
            </p:nvSpPr>
            <p:spPr>
              <a:xfrm>
                <a:off x="756307" y="1608860"/>
                <a:ext cx="6195286" cy="4964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, 1≤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, 1≤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5EE6959-3FC9-64F4-BE60-B704CAD21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07" y="1608860"/>
                <a:ext cx="6195286" cy="496418"/>
              </a:xfrm>
              <a:prstGeom prst="rect">
                <a:avLst/>
              </a:prstGeom>
              <a:blipFill>
                <a:blip r:embed="rId52"/>
                <a:stretch>
                  <a:fillRect l="-818" t="-25000" b="-2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18A45D50-0EA2-8D22-34D9-B2987F506179}"/>
              </a:ext>
            </a:extLst>
          </p:cNvPr>
          <p:cNvSpPr txBox="1"/>
          <p:nvPr/>
        </p:nvSpPr>
        <p:spPr>
          <a:xfrm>
            <a:off x="131018" y="2520678"/>
            <a:ext cx="85347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Wingdings" pitchFamily="2" charset="2"/>
              <a:buChar char="p"/>
            </a:pPr>
            <a:r>
              <a:rPr kumimoji="1"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意义：</a:t>
            </a:r>
            <a:r>
              <a:rPr kumimoji="1"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矩阵可以表示对数据的</a:t>
            </a:r>
            <a:r>
              <a:rPr kumimoji="1" lang="zh-CN" altLang="en-US" sz="2000" b="1" dirty="0">
                <a:solidFill>
                  <a:srgbClr val="B6151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线性变换</a:t>
            </a:r>
            <a:r>
              <a:rPr kumimoji="1"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，也可以表示一个或多个样本点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10DD416-919B-0FA2-82A3-49838DF04701}"/>
                  </a:ext>
                </a:extLst>
              </p:cNvPr>
              <p:cNvSpPr txBox="1"/>
              <p:nvPr/>
            </p:nvSpPr>
            <p:spPr>
              <a:xfrm>
                <a:off x="457848" y="3953555"/>
                <a:ext cx="4358950" cy="354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zh-CN" altLang="en-US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矩阵加法：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kumimoji="1" lang="en-US" altLang="zh-CN" sz="20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10DD416-919B-0FA2-82A3-49838DF04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48" y="3953555"/>
                <a:ext cx="4358950" cy="354584"/>
              </a:xfrm>
              <a:prstGeom prst="rect">
                <a:avLst/>
              </a:prstGeom>
              <a:blipFill>
                <a:blip r:embed="rId53"/>
                <a:stretch>
                  <a:fillRect l="-3488" t="-27586" b="-344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E1A923F-7C30-C33B-0881-2671DCF4BEB4}"/>
                  </a:ext>
                </a:extLst>
              </p:cNvPr>
              <p:cNvSpPr txBox="1"/>
              <p:nvPr/>
            </p:nvSpPr>
            <p:spPr>
              <a:xfrm>
                <a:off x="445830" y="4554940"/>
                <a:ext cx="3896195" cy="354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zh-CN" altLang="en-US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数乘矩阵：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kumimoji="1" lang="zh-CN" altLang="en-US" sz="20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E1A923F-7C30-C33B-0881-2671DCF4B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30" y="4554940"/>
                <a:ext cx="3896195" cy="354584"/>
              </a:xfrm>
              <a:prstGeom prst="rect">
                <a:avLst/>
              </a:prstGeom>
              <a:blipFill>
                <a:blip r:embed="rId54"/>
                <a:stretch>
                  <a:fillRect l="-3909" t="-27586" b="-344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DBA2957-9230-5AD5-11DF-D1F1214C1AC2}"/>
                  </a:ext>
                </a:extLst>
              </p:cNvPr>
              <p:cNvSpPr txBox="1"/>
              <p:nvPr/>
            </p:nvSpPr>
            <p:spPr>
              <a:xfrm>
                <a:off x="457682" y="5144952"/>
                <a:ext cx="3783665" cy="9345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zh-CN" altLang="en-US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矩阵乘</a:t>
                </a:r>
                <a:r>
                  <a:rPr kumimoji="1" lang="zh-CN" altLang="en-US" sz="2000" b="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kumimoji="1" lang="zh-CN" altLang="en-US" sz="2000" b="0" i="0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kumimoji="1" lang="en-US" altLang="zh-CN" sz="20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sz="2000" i="1">
                          <a:latin typeface="Cambria Math" panose="02040503050406030204" pitchFamily="18" charset="0"/>
                        </a:rPr>
                        <m:t>其中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0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DBA2957-9230-5AD5-11DF-D1F1214C1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82" y="5144952"/>
                <a:ext cx="3783665" cy="934551"/>
              </a:xfrm>
              <a:prstGeom prst="rect">
                <a:avLst/>
              </a:prstGeom>
              <a:blipFill>
                <a:blip r:embed="rId55"/>
                <a:stretch>
                  <a:fillRect l="-4013" t="-87838" b="-1743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823D4910-3D2D-09C0-1182-201BDA2DE6E8}"/>
              </a:ext>
            </a:extLst>
          </p:cNvPr>
          <p:cNvSpPr txBox="1"/>
          <p:nvPr/>
        </p:nvSpPr>
        <p:spPr>
          <a:xfrm>
            <a:off x="131018" y="3254101"/>
            <a:ext cx="4940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p"/>
            </a:pPr>
            <a:r>
              <a:rPr kumimoji="1"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矩阵的基本运算（</a:t>
            </a:r>
            <a:r>
              <a:rPr kumimoji="1" lang="zh-CN" altLang="en-US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适合</a:t>
            </a:r>
            <a:r>
              <a:rPr kumimoji="1" lang="en-US" altLang="zh-CN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GPU</a:t>
            </a:r>
            <a:r>
              <a:rPr kumimoji="1" lang="zh-CN" altLang="en-US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并行！</a:t>
            </a:r>
            <a:r>
              <a:rPr kumimoji="1"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）：</a:t>
            </a:r>
            <a:endParaRPr kumimoji="1" lang="en-US" altLang="zh-CN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Picture 4" descr="machine learning - What image format are MNIST images? - Stack Overflow">
            <a:extLst>
              <a:ext uri="{FF2B5EF4-FFF2-40B4-BE49-F238E27FC236}">
                <a16:creationId xmlns:a16="http://schemas.microsoft.com/office/drawing/2014/main" id="{1D35B40D-71B7-02BC-371F-350A7C879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4345" y="3027065"/>
            <a:ext cx="2316075" cy="2397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82EC5A6-F74D-325B-D8DD-EB0E96F39D39}"/>
              </a:ext>
            </a:extLst>
          </p:cNvPr>
          <p:cNvSpPr/>
          <p:nvPr/>
        </p:nvSpPr>
        <p:spPr>
          <a:xfrm>
            <a:off x="9097107" y="5499520"/>
            <a:ext cx="2907323" cy="7375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一张 </a:t>
            </a:r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28x28 </a:t>
            </a:r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像素的图像可以看成一个 </a:t>
            </a:r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28x28 </a:t>
            </a:r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的矩阵</a:t>
            </a:r>
          </a:p>
        </p:txBody>
      </p:sp>
      <p:grpSp>
        <p:nvGrpSpPr>
          <p:cNvPr id="2108" name="组合 2107" descr="\documentclass{article}&#10;\usepackage{amsmath}&#10;\pagestyle{empty}&#10;\begin{document}&#10;&#10;$$&#10;       X = \begin{bmatrix}&#10;       x_{11} &amp; x_{12} &amp; x_{1d} \\&#10;       x_{21} &amp; x_{22} &amp; x_{2d} \\&#10;       \vdots &amp; \vdots &amp; \vdots \\&#10;       x_{n1} &amp; x_{n2} &amp; x_{nd}&#10;       \end{bmatrix}.&#10;$$&#10;&#10;\end{document}" title="IguanaTex Vector Display">
            <a:extLst>
              <a:ext uri="{FF2B5EF4-FFF2-40B4-BE49-F238E27FC236}">
                <a16:creationId xmlns:a16="http://schemas.microsoft.com/office/drawing/2014/main" id="{2272751A-C3BE-05B3-BC48-EBF9A32ED88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245100" y="3530600"/>
            <a:ext cx="3333908" cy="1719466"/>
            <a:chOff x="11039713" y="5579053"/>
            <a:chExt cx="3333908" cy="1719466"/>
          </a:xfrm>
        </p:grpSpPr>
        <p:sp>
          <p:nvSpPr>
            <p:cNvPr id="2059" name="任意形状 2058">
              <a:extLst>
                <a:ext uri="{FF2B5EF4-FFF2-40B4-BE49-F238E27FC236}">
                  <a16:creationId xmlns:a16="http://schemas.microsoft.com/office/drawing/2014/main" id="{4EEE542E-312E-8A56-A99D-5E411E2771E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1039713" y="6300863"/>
              <a:ext cx="262473" cy="217559"/>
            </a:xfrm>
            <a:custGeom>
              <a:avLst/>
              <a:gdLst>
                <a:gd name="connsiteX0" fmla="*/ 146070 w 262473"/>
                <a:gd name="connsiteY0" fmla="*/ 86735 h 217559"/>
                <a:gd name="connsiteX1" fmla="*/ 119313 w 262473"/>
                <a:gd name="connsiteY1" fmla="*/ 23347 h 217559"/>
                <a:gd name="connsiteX2" fmla="*/ 117721 w 262473"/>
                <a:gd name="connsiteY2" fmla="*/ 19206 h 217559"/>
                <a:gd name="connsiteX3" fmla="*/ 136514 w 262473"/>
                <a:gd name="connsiteY3" fmla="*/ 9968 h 217559"/>
                <a:gd name="connsiteX4" fmla="*/ 142885 w 262473"/>
                <a:gd name="connsiteY4" fmla="*/ 3916 h 217559"/>
                <a:gd name="connsiteX5" fmla="*/ 138107 w 262473"/>
                <a:gd name="connsiteY5" fmla="*/ 93 h 217559"/>
                <a:gd name="connsiteX6" fmla="*/ 97971 w 262473"/>
                <a:gd name="connsiteY6" fmla="*/ 1049 h 217559"/>
                <a:gd name="connsiteX7" fmla="*/ 62295 w 262473"/>
                <a:gd name="connsiteY7" fmla="*/ 93 h 217559"/>
                <a:gd name="connsiteX8" fmla="*/ 56562 w 262473"/>
                <a:gd name="connsiteY8" fmla="*/ 6464 h 217559"/>
                <a:gd name="connsiteX9" fmla="*/ 63888 w 262473"/>
                <a:gd name="connsiteY9" fmla="*/ 9968 h 217559"/>
                <a:gd name="connsiteX10" fmla="*/ 87778 w 262473"/>
                <a:gd name="connsiteY10" fmla="*/ 20161 h 217559"/>
                <a:gd name="connsiteX11" fmla="*/ 125365 w 262473"/>
                <a:gd name="connsiteY11" fmla="*/ 109033 h 217559"/>
                <a:gd name="connsiteX12" fmla="*/ 58154 w 262473"/>
                <a:gd name="connsiteY12" fmla="*/ 181340 h 217559"/>
                <a:gd name="connsiteX13" fmla="*/ 54013 w 262473"/>
                <a:gd name="connsiteY13" fmla="*/ 184844 h 217559"/>
                <a:gd name="connsiteX14" fmla="*/ 7189 w 262473"/>
                <a:gd name="connsiteY14" fmla="*/ 207779 h 217559"/>
                <a:gd name="connsiteX15" fmla="*/ 181 w 262473"/>
                <a:gd name="connsiteY15" fmla="*/ 214149 h 217559"/>
                <a:gd name="connsiteX16" fmla="*/ 4322 w 262473"/>
                <a:gd name="connsiteY16" fmla="*/ 217653 h 217559"/>
                <a:gd name="connsiteX17" fmla="*/ 34264 w 262473"/>
                <a:gd name="connsiteY17" fmla="*/ 216698 h 217559"/>
                <a:gd name="connsiteX18" fmla="*/ 69940 w 262473"/>
                <a:gd name="connsiteY18" fmla="*/ 217653 h 217559"/>
                <a:gd name="connsiteX19" fmla="*/ 75674 w 262473"/>
                <a:gd name="connsiteY19" fmla="*/ 211283 h 217559"/>
                <a:gd name="connsiteX20" fmla="*/ 71851 w 262473"/>
                <a:gd name="connsiteY20" fmla="*/ 207779 h 217559"/>
                <a:gd name="connsiteX21" fmla="*/ 59110 w 262473"/>
                <a:gd name="connsiteY21" fmla="*/ 197904 h 217559"/>
                <a:gd name="connsiteX22" fmla="*/ 67711 w 262473"/>
                <a:gd name="connsiteY22" fmla="*/ 183570 h 217559"/>
                <a:gd name="connsiteX23" fmla="*/ 100201 w 262473"/>
                <a:gd name="connsiteY23" fmla="*/ 149168 h 217559"/>
                <a:gd name="connsiteX24" fmla="*/ 128869 w 262473"/>
                <a:gd name="connsiteY24" fmla="*/ 117952 h 217559"/>
                <a:gd name="connsiteX25" fmla="*/ 161041 w 262473"/>
                <a:gd name="connsiteY25" fmla="*/ 194082 h 217559"/>
                <a:gd name="connsiteX26" fmla="*/ 162634 w 262473"/>
                <a:gd name="connsiteY26" fmla="*/ 198541 h 217559"/>
                <a:gd name="connsiteX27" fmla="*/ 144159 w 262473"/>
                <a:gd name="connsiteY27" fmla="*/ 207779 h 217559"/>
                <a:gd name="connsiteX28" fmla="*/ 137788 w 262473"/>
                <a:gd name="connsiteY28" fmla="*/ 213831 h 217559"/>
                <a:gd name="connsiteX29" fmla="*/ 142566 w 262473"/>
                <a:gd name="connsiteY29" fmla="*/ 217653 h 217559"/>
                <a:gd name="connsiteX30" fmla="*/ 182702 w 262473"/>
                <a:gd name="connsiteY30" fmla="*/ 216698 h 217559"/>
                <a:gd name="connsiteX31" fmla="*/ 218059 w 262473"/>
                <a:gd name="connsiteY31" fmla="*/ 217653 h 217559"/>
                <a:gd name="connsiteX32" fmla="*/ 224112 w 262473"/>
                <a:gd name="connsiteY32" fmla="*/ 211601 h 217559"/>
                <a:gd name="connsiteX33" fmla="*/ 218378 w 262473"/>
                <a:gd name="connsiteY33" fmla="*/ 207779 h 217559"/>
                <a:gd name="connsiteX34" fmla="*/ 190984 w 262473"/>
                <a:gd name="connsiteY34" fmla="*/ 193763 h 217559"/>
                <a:gd name="connsiteX35" fmla="*/ 149893 w 262473"/>
                <a:gd name="connsiteY35" fmla="*/ 95336 h 217559"/>
                <a:gd name="connsiteX36" fmla="*/ 215193 w 262473"/>
                <a:gd name="connsiteY36" fmla="*/ 26213 h 217559"/>
                <a:gd name="connsiteX37" fmla="*/ 255647 w 262473"/>
                <a:gd name="connsiteY37" fmla="*/ 9968 h 217559"/>
                <a:gd name="connsiteX38" fmla="*/ 262654 w 262473"/>
                <a:gd name="connsiteY38" fmla="*/ 3597 h 217559"/>
                <a:gd name="connsiteX39" fmla="*/ 258513 w 262473"/>
                <a:gd name="connsiteY39" fmla="*/ 93 h 217559"/>
                <a:gd name="connsiteX40" fmla="*/ 228571 w 262473"/>
                <a:gd name="connsiteY40" fmla="*/ 1049 h 217559"/>
                <a:gd name="connsiteX41" fmla="*/ 193214 w 262473"/>
                <a:gd name="connsiteY41" fmla="*/ 93 h 217559"/>
                <a:gd name="connsiteX42" fmla="*/ 187161 w 262473"/>
                <a:gd name="connsiteY42" fmla="*/ 6464 h 217559"/>
                <a:gd name="connsiteX43" fmla="*/ 190984 w 262473"/>
                <a:gd name="connsiteY43" fmla="*/ 9968 h 217559"/>
                <a:gd name="connsiteX44" fmla="*/ 203725 w 262473"/>
                <a:gd name="connsiteY44" fmla="*/ 19843 h 217559"/>
                <a:gd name="connsiteX45" fmla="*/ 197673 w 262473"/>
                <a:gd name="connsiteY45" fmla="*/ 31310 h 217559"/>
                <a:gd name="connsiteX46" fmla="*/ 146070 w 262473"/>
                <a:gd name="connsiteY46" fmla="*/ 86735 h 217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62473" h="217559">
                  <a:moveTo>
                    <a:pt x="146070" y="86735"/>
                  </a:moveTo>
                  <a:lnTo>
                    <a:pt x="119313" y="23347"/>
                  </a:lnTo>
                  <a:cubicBezTo>
                    <a:pt x="118358" y="20798"/>
                    <a:pt x="117721" y="19524"/>
                    <a:pt x="117721" y="19206"/>
                  </a:cubicBezTo>
                  <a:cubicBezTo>
                    <a:pt x="117721" y="17294"/>
                    <a:pt x="123136" y="11242"/>
                    <a:pt x="136514" y="9968"/>
                  </a:cubicBezTo>
                  <a:cubicBezTo>
                    <a:pt x="139700" y="9650"/>
                    <a:pt x="142885" y="9331"/>
                    <a:pt x="142885" y="3916"/>
                  </a:cubicBezTo>
                  <a:cubicBezTo>
                    <a:pt x="142885" y="93"/>
                    <a:pt x="139062" y="93"/>
                    <a:pt x="138107" y="93"/>
                  </a:cubicBezTo>
                  <a:cubicBezTo>
                    <a:pt x="125047" y="93"/>
                    <a:pt x="111350" y="1049"/>
                    <a:pt x="97971" y="1049"/>
                  </a:cubicBezTo>
                  <a:cubicBezTo>
                    <a:pt x="90008" y="1049"/>
                    <a:pt x="70259" y="93"/>
                    <a:pt x="62295" y="93"/>
                  </a:cubicBezTo>
                  <a:cubicBezTo>
                    <a:pt x="60384" y="93"/>
                    <a:pt x="56562" y="93"/>
                    <a:pt x="56562" y="6464"/>
                  </a:cubicBezTo>
                  <a:cubicBezTo>
                    <a:pt x="56562" y="9968"/>
                    <a:pt x="59747" y="9968"/>
                    <a:pt x="63888" y="9968"/>
                  </a:cubicBezTo>
                  <a:cubicBezTo>
                    <a:pt x="83000" y="9968"/>
                    <a:pt x="84911" y="13153"/>
                    <a:pt x="87778" y="20161"/>
                  </a:cubicBezTo>
                  <a:lnTo>
                    <a:pt x="125365" y="109033"/>
                  </a:lnTo>
                  <a:lnTo>
                    <a:pt x="58154" y="181340"/>
                  </a:lnTo>
                  <a:lnTo>
                    <a:pt x="54013" y="184844"/>
                  </a:lnTo>
                  <a:cubicBezTo>
                    <a:pt x="38405" y="201727"/>
                    <a:pt x="23434" y="206823"/>
                    <a:pt x="7189" y="207779"/>
                  </a:cubicBezTo>
                  <a:cubicBezTo>
                    <a:pt x="3048" y="208097"/>
                    <a:pt x="181" y="208097"/>
                    <a:pt x="181" y="214149"/>
                  </a:cubicBezTo>
                  <a:cubicBezTo>
                    <a:pt x="181" y="214468"/>
                    <a:pt x="181" y="217653"/>
                    <a:pt x="4322" y="217653"/>
                  </a:cubicBezTo>
                  <a:cubicBezTo>
                    <a:pt x="13878" y="217653"/>
                    <a:pt x="24390" y="216698"/>
                    <a:pt x="34264" y="216698"/>
                  </a:cubicBezTo>
                  <a:cubicBezTo>
                    <a:pt x="46050" y="216698"/>
                    <a:pt x="58473" y="217653"/>
                    <a:pt x="69940" y="217653"/>
                  </a:cubicBezTo>
                  <a:cubicBezTo>
                    <a:pt x="71851" y="217653"/>
                    <a:pt x="75674" y="217653"/>
                    <a:pt x="75674" y="211283"/>
                  </a:cubicBezTo>
                  <a:cubicBezTo>
                    <a:pt x="75674" y="208097"/>
                    <a:pt x="72489" y="207779"/>
                    <a:pt x="71851" y="207779"/>
                  </a:cubicBezTo>
                  <a:cubicBezTo>
                    <a:pt x="68985" y="207460"/>
                    <a:pt x="59110" y="206823"/>
                    <a:pt x="59110" y="197904"/>
                  </a:cubicBezTo>
                  <a:cubicBezTo>
                    <a:pt x="59110" y="192808"/>
                    <a:pt x="63888" y="187711"/>
                    <a:pt x="67711" y="183570"/>
                  </a:cubicBezTo>
                  <a:lnTo>
                    <a:pt x="100201" y="149168"/>
                  </a:lnTo>
                  <a:lnTo>
                    <a:pt x="128869" y="117952"/>
                  </a:lnTo>
                  <a:lnTo>
                    <a:pt x="161041" y="194082"/>
                  </a:lnTo>
                  <a:cubicBezTo>
                    <a:pt x="162316" y="197586"/>
                    <a:pt x="162634" y="197904"/>
                    <a:pt x="162634" y="198541"/>
                  </a:cubicBezTo>
                  <a:cubicBezTo>
                    <a:pt x="162634" y="201089"/>
                    <a:pt x="156582" y="206505"/>
                    <a:pt x="144159" y="207779"/>
                  </a:cubicBezTo>
                  <a:cubicBezTo>
                    <a:pt x="140655" y="208097"/>
                    <a:pt x="137788" y="208416"/>
                    <a:pt x="137788" y="213831"/>
                  </a:cubicBezTo>
                  <a:cubicBezTo>
                    <a:pt x="137788" y="217653"/>
                    <a:pt x="141292" y="217653"/>
                    <a:pt x="142566" y="217653"/>
                  </a:cubicBezTo>
                  <a:cubicBezTo>
                    <a:pt x="151485" y="217653"/>
                    <a:pt x="173783" y="216698"/>
                    <a:pt x="182702" y="216698"/>
                  </a:cubicBezTo>
                  <a:cubicBezTo>
                    <a:pt x="190665" y="216698"/>
                    <a:pt x="210096" y="217653"/>
                    <a:pt x="218059" y="217653"/>
                  </a:cubicBezTo>
                  <a:cubicBezTo>
                    <a:pt x="220289" y="217653"/>
                    <a:pt x="224112" y="217653"/>
                    <a:pt x="224112" y="211601"/>
                  </a:cubicBezTo>
                  <a:cubicBezTo>
                    <a:pt x="224112" y="207779"/>
                    <a:pt x="220926" y="207779"/>
                    <a:pt x="218378" y="207779"/>
                  </a:cubicBezTo>
                  <a:cubicBezTo>
                    <a:pt x="197036" y="207460"/>
                    <a:pt x="196399" y="206505"/>
                    <a:pt x="190984" y="193763"/>
                  </a:cubicBezTo>
                  <a:cubicBezTo>
                    <a:pt x="178561" y="164139"/>
                    <a:pt x="157219" y="114448"/>
                    <a:pt x="149893" y="95336"/>
                  </a:cubicBezTo>
                  <a:cubicBezTo>
                    <a:pt x="171553" y="73038"/>
                    <a:pt x="204999" y="35132"/>
                    <a:pt x="215193" y="26213"/>
                  </a:cubicBezTo>
                  <a:cubicBezTo>
                    <a:pt x="224430" y="18569"/>
                    <a:pt x="236534" y="10924"/>
                    <a:pt x="255647" y="9968"/>
                  </a:cubicBezTo>
                  <a:cubicBezTo>
                    <a:pt x="259788" y="9650"/>
                    <a:pt x="262654" y="9650"/>
                    <a:pt x="262654" y="3597"/>
                  </a:cubicBezTo>
                  <a:cubicBezTo>
                    <a:pt x="262654" y="3279"/>
                    <a:pt x="262654" y="93"/>
                    <a:pt x="258513" y="93"/>
                  </a:cubicBezTo>
                  <a:cubicBezTo>
                    <a:pt x="248957" y="93"/>
                    <a:pt x="238446" y="1049"/>
                    <a:pt x="228571" y="1049"/>
                  </a:cubicBezTo>
                  <a:cubicBezTo>
                    <a:pt x="216785" y="1049"/>
                    <a:pt x="204681" y="93"/>
                    <a:pt x="193214" y="93"/>
                  </a:cubicBezTo>
                  <a:cubicBezTo>
                    <a:pt x="191302" y="93"/>
                    <a:pt x="187161" y="93"/>
                    <a:pt x="187161" y="6464"/>
                  </a:cubicBezTo>
                  <a:cubicBezTo>
                    <a:pt x="187161" y="8694"/>
                    <a:pt x="188754" y="9650"/>
                    <a:pt x="190984" y="9968"/>
                  </a:cubicBezTo>
                  <a:cubicBezTo>
                    <a:pt x="193851" y="10287"/>
                    <a:pt x="203725" y="10924"/>
                    <a:pt x="203725" y="19843"/>
                  </a:cubicBezTo>
                  <a:cubicBezTo>
                    <a:pt x="203725" y="24302"/>
                    <a:pt x="200221" y="28443"/>
                    <a:pt x="197673" y="31310"/>
                  </a:cubicBezTo>
                  <a:lnTo>
                    <a:pt x="146070" y="86735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0" name="任意形状 2059">
              <a:extLst>
                <a:ext uri="{FF2B5EF4-FFF2-40B4-BE49-F238E27FC236}">
                  <a16:creationId xmlns:a16="http://schemas.microsoft.com/office/drawing/2014/main" id="{F908D8B2-3EE8-A6F9-FC92-8481C89ACA7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1426324" y="6401521"/>
              <a:ext cx="211826" cy="74537"/>
            </a:xfrm>
            <a:custGeom>
              <a:avLst/>
              <a:gdLst>
                <a:gd name="connsiteX0" fmla="*/ 201189 w 211826"/>
                <a:gd name="connsiteY0" fmla="*/ 12835 h 74537"/>
                <a:gd name="connsiteX1" fmla="*/ 212019 w 211826"/>
                <a:gd name="connsiteY1" fmla="*/ 6464 h 74537"/>
                <a:gd name="connsiteX2" fmla="*/ 201507 w 211826"/>
                <a:gd name="connsiteY2" fmla="*/ 93 h 74537"/>
                <a:gd name="connsiteX3" fmla="*/ 10704 w 211826"/>
                <a:gd name="connsiteY3" fmla="*/ 93 h 74537"/>
                <a:gd name="connsiteX4" fmla="*/ 193 w 211826"/>
                <a:gd name="connsiteY4" fmla="*/ 6464 h 74537"/>
                <a:gd name="connsiteX5" fmla="*/ 11023 w 211826"/>
                <a:gd name="connsiteY5" fmla="*/ 12835 h 74537"/>
                <a:gd name="connsiteX6" fmla="*/ 201189 w 211826"/>
                <a:gd name="connsiteY6" fmla="*/ 12835 h 74537"/>
                <a:gd name="connsiteX7" fmla="*/ 201507 w 211826"/>
                <a:gd name="connsiteY7" fmla="*/ 74631 h 74537"/>
                <a:gd name="connsiteX8" fmla="*/ 212019 w 211826"/>
                <a:gd name="connsiteY8" fmla="*/ 68260 h 74537"/>
                <a:gd name="connsiteX9" fmla="*/ 201189 w 211826"/>
                <a:gd name="connsiteY9" fmla="*/ 61889 h 74537"/>
                <a:gd name="connsiteX10" fmla="*/ 11023 w 211826"/>
                <a:gd name="connsiteY10" fmla="*/ 61889 h 74537"/>
                <a:gd name="connsiteX11" fmla="*/ 193 w 211826"/>
                <a:gd name="connsiteY11" fmla="*/ 68260 h 74537"/>
                <a:gd name="connsiteX12" fmla="*/ 10704 w 211826"/>
                <a:gd name="connsiteY12" fmla="*/ 74631 h 74537"/>
                <a:gd name="connsiteX13" fmla="*/ 201507 w 211826"/>
                <a:gd name="connsiteY13" fmla="*/ 74631 h 74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1826" h="74537">
                  <a:moveTo>
                    <a:pt x="201189" y="12835"/>
                  </a:moveTo>
                  <a:cubicBezTo>
                    <a:pt x="205967" y="12835"/>
                    <a:pt x="212019" y="12835"/>
                    <a:pt x="212019" y="6464"/>
                  </a:cubicBezTo>
                  <a:cubicBezTo>
                    <a:pt x="212019" y="93"/>
                    <a:pt x="205967" y="93"/>
                    <a:pt x="201507" y="93"/>
                  </a:cubicBezTo>
                  <a:lnTo>
                    <a:pt x="10704" y="93"/>
                  </a:lnTo>
                  <a:cubicBezTo>
                    <a:pt x="6245" y="93"/>
                    <a:pt x="193" y="93"/>
                    <a:pt x="193" y="6464"/>
                  </a:cubicBezTo>
                  <a:cubicBezTo>
                    <a:pt x="193" y="12835"/>
                    <a:pt x="6245" y="12835"/>
                    <a:pt x="11023" y="12835"/>
                  </a:cubicBezTo>
                  <a:lnTo>
                    <a:pt x="201189" y="12835"/>
                  </a:lnTo>
                  <a:close/>
                  <a:moveTo>
                    <a:pt x="201507" y="74631"/>
                  </a:moveTo>
                  <a:cubicBezTo>
                    <a:pt x="205967" y="74631"/>
                    <a:pt x="212019" y="74631"/>
                    <a:pt x="212019" y="68260"/>
                  </a:cubicBezTo>
                  <a:cubicBezTo>
                    <a:pt x="212019" y="61889"/>
                    <a:pt x="205967" y="61889"/>
                    <a:pt x="201189" y="61889"/>
                  </a:cubicBezTo>
                  <a:lnTo>
                    <a:pt x="11023" y="61889"/>
                  </a:lnTo>
                  <a:cubicBezTo>
                    <a:pt x="6245" y="61889"/>
                    <a:pt x="193" y="61889"/>
                    <a:pt x="193" y="68260"/>
                  </a:cubicBezTo>
                  <a:cubicBezTo>
                    <a:pt x="193" y="74631"/>
                    <a:pt x="6245" y="74631"/>
                    <a:pt x="10704" y="74631"/>
                  </a:cubicBezTo>
                  <a:lnTo>
                    <a:pt x="201507" y="74631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1" name="任意形状 2060">
              <a:extLst>
                <a:ext uri="{FF2B5EF4-FFF2-40B4-BE49-F238E27FC236}">
                  <a16:creationId xmlns:a16="http://schemas.microsoft.com/office/drawing/2014/main" id="{7355FA19-1ADE-E13C-4AE8-2FFB497EE1A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1848560" y="5579053"/>
              <a:ext cx="106072" cy="573045"/>
            </a:xfrm>
            <a:custGeom>
              <a:avLst/>
              <a:gdLst>
                <a:gd name="connsiteX0" fmla="*/ 203 w 106072"/>
                <a:gd name="connsiteY0" fmla="*/ 573110 h 573045"/>
                <a:gd name="connsiteX1" fmla="*/ 22182 w 106072"/>
                <a:gd name="connsiteY1" fmla="*/ 573110 h 573045"/>
                <a:gd name="connsiteX2" fmla="*/ 22182 w 106072"/>
                <a:gd name="connsiteY2" fmla="*/ 22043 h 573045"/>
                <a:gd name="connsiteX3" fmla="*/ 106276 w 106072"/>
                <a:gd name="connsiteY3" fmla="*/ 22043 h 573045"/>
                <a:gd name="connsiteX4" fmla="*/ 106276 w 106072"/>
                <a:gd name="connsiteY4" fmla="*/ 64 h 573045"/>
                <a:gd name="connsiteX5" fmla="*/ 203 w 106072"/>
                <a:gd name="connsiteY5" fmla="*/ 64 h 573045"/>
                <a:gd name="connsiteX6" fmla="*/ 203 w 106072"/>
                <a:gd name="connsiteY6" fmla="*/ 573110 h 57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072" h="573045">
                  <a:moveTo>
                    <a:pt x="203" y="573110"/>
                  </a:moveTo>
                  <a:lnTo>
                    <a:pt x="22182" y="573110"/>
                  </a:lnTo>
                  <a:lnTo>
                    <a:pt x="22182" y="22043"/>
                  </a:lnTo>
                  <a:lnTo>
                    <a:pt x="106276" y="22043"/>
                  </a:lnTo>
                  <a:lnTo>
                    <a:pt x="106276" y="64"/>
                  </a:lnTo>
                  <a:lnTo>
                    <a:pt x="203" y="64"/>
                  </a:lnTo>
                  <a:lnTo>
                    <a:pt x="203" y="57311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2" name="任意形状 2061">
              <a:extLst>
                <a:ext uri="{FF2B5EF4-FFF2-40B4-BE49-F238E27FC236}">
                  <a16:creationId xmlns:a16="http://schemas.microsoft.com/office/drawing/2014/main" id="{F41BE439-DF5B-1784-0873-533B2B1DF94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1848560" y="6151786"/>
              <a:ext cx="21978" cy="191758"/>
            </a:xfrm>
            <a:custGeom>
              <a:avLst/>
              <a:gdLst>
                <a:gd name="connsiteX0" fmla="*/ 203 w 21978"/>
                <a:gd name="connsiteY0" fmla="*/ 191841 h 191758"/>
                <a:gd name="connsiteX1" fmla="*/ 22182 w 21978"/>
                <a:gd name="connsiteY1" fmla="*/ 191841 h 191758"/>
                <a:gd name="connsiteX2" fmla="*/ 22182 w 21978"/>
                <a:gd name="connsiteY2" fmla="*/ 82 h 191758"/>
                <a:gd name="connsiteX3" fmla="*/ 203 w 21978"/>
                <a:gd name="connsiteY3" fmla="*/ 82 h 191758"/>
                <a:gd name="connsiteX4" fmla="*/ 203 w 21978"/>
                <a:gd name="connsiteY4" fmla="*/ 191841 h 19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78" h="191758">
                  <a:moveTo>
                    <a:pt x="203" y="191841"/>
                  </a:moveTo>
                  <a:lnTo>
                    <a:pt x="22182" y="191841"/>
                  </a:lnTo>
                  <a:lnTo>
                    <a:pt x="22182" y="82"/>
                  </a:lnTo>
                  <a:lnTo>
                    <a:pt x="203" y="82"/>
                  </a:lnTo>
                  <a:lnTo>
                    <a:pt x="203" y="191841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3" name="任意形状 2062">
              <a:extLst>
                <a:ext uri="{FF2B5EF4-FFF2-40B4-BE49-F238E27FC236}">
                  <a16:creationId xmlns:a16="http://schemas.microsoft.com/office/drawing/2014/main" id="{220141F3-A830-FDA8-A782-E90E819F5C9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1848560" y="6342909"/>
              <a:ext cx="21978" cy="191758"/>
            </a:xfrm>
            <a:custGeom>
              <a:avLst/>
              <a:gdLst>
                <a:gd name="connsiteX0" fmla="*/ 203 w 21978"/>
                <a:gd name="connsiteY0" fmla="*/ 191847 h 191758"/>
                <a:gd name="connsiteX1" fmla="*/ 22182 w 21978"/>
                <a:gd name="connsiteY1" fmla="*/ 191847 h 191758"/>
                <a:gd name="connsiteX2" fmla="*/ 22182 w 21978"/>
                <a:gd name="connsiteY2" fmla="*/ 88 h 191758"/>
                <a:gd name="connsiteX3" fmla="*/ 203 w 21978"/>
                <a:gd name="connsiteY3" fmla="*/ 88 h 191758"/>
                <a:gd name="connsiteX4" fmla="*/ 203 w 21978"/>
                <a:gd name="connsiteY4" fmla="*/ 191847 h 19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78" h="191758">
                  <a:moveTo>
                    <a:pt x="203" y="191847"/>
                  </a:moveTo>
                  <a:lnTo>
                    <a:pt x="22182" y="191847"/>
                  </a:lnTo>
                  <a:lnTo>
                    <a:pt x="22182" y="88"/>
                  </a:lnTo>
                  <a:lnTo>
                    <a:pt x="203" y="88"/>
                  </a:lnTo>
                  <a:lnTo>
                    <a:pt x="203" y="19184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4" name="任意形状 2063">
              <a:extLst>
                <a:ext uri="{FF2B5EF4-FFF2-40B4-BE49-F238E27FC236}">
                  <a16:creationId xmlns:a16="http://schemas.microsoft.com/office/drawing/2014/main" id="{FA385EE9-4DDD-D66E-9192-2DE810BBF8A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1848560" y="6534033"/>
              <a:ext cx="21978" cy="191758"/>
            </a:xfrm>
            <a:custGeom>
              <a:avLst/>
              <a:gdLst>
                <a:gd name="connsiteX0" fmla="*/ 203 w 21978"/>
                <a:gd name="connsiteY0" fmla="*/ 191852 h 191758"/>
                <a:gd name="connsiteX1" fmla="*/ 22182 w 21978"/>
                <a:gd name="connsiteY1" fmla="*/ 191852 h 191758"/>
                <a:gd name="connsiteX2" fmla="*/ 22182 w 21978"/>
                <a:gd name="connsiteY2" fmla="*/ 94 h 191758"/>
                <a:gd name="connsiteX3" fmla="*/ 203 w 21978"/>
                <a:gd name="connsiteY3" fmla="*/ 94 h 191758"/>
                <a:gd name="connsiteX4" fmla="*/ 203 w 21978"/>
                <a:gd name="connsiteY4" fmla="*/ 191852 h 19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78" h="191758">
                  <a:moveTo>
                    <a:pt x="203" y="191852"/>
                  </a:moveTo>
                  <a:lnTo>
                    <a:pt x="22182" y="191852"/>
                  </a:lnTo>
                  <a:lnTo>
                    <a:pt x="22182" y="94"/>
                  </a:lnTo>
                  <a:lnTo>
                    <a:pt x="203" y="94"/>
                  </a:lnTo>
                  <a:lnTo>
                    <a:pt x="203" y="191852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5" name="任意形状 2064">
              <a:extLst>
                <a:ext uri="{FF2B5EF4-FFF2-40B4-BE49-F238E27FC236}">
                  <a16:creationId xmlns:a16="http://schemas.microsoft.com/office/drawing/2014/main" id="{95A2DC44-CDCF-31B5-6BB2-64E90B904D49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848560" y="6725474"/>
              <a:ext cx="106072" cy="573045"/>
            </a:xfrm>
            <a:custGeom>
              <a:avLst/>
              <a:gdLst>
                <a:gd name="connsiteX0" fmla="*/ 203 w 106072"/>
                <a:gd name="connsiteY0" fmla="*/ 573146 h 573045"/>
                <a:gd name="connsiteX1" fmla="*/ 106276 w 106072"/>
                <a:gd name="connsiteY1" fmla="*/ 573146 h 573045"/>
                <a:gd name="connsiteX2" fmla="*/ 106276 w 106072"/>
                <a:gd name="connsiteY2" fmla="*/ 551167 h 573045"/>
                <a:gd name="connsiteX3" fmla="*/ 22182 w 106072"/>
                <a:gd name="connsiteY3" fmla="*/ 551167 h 573045"/>
                <a:gd name="connsiteX4" fmla="*/ 22182 w 106072"/>
                <a:gd name="connsiteY4" fmla="*/ 100 h 573045"/>
                <a:gd name="connsiteX5" fmla="*/ 203 w 106072"/>
                <a:gd name="connsiteY5" fmla="*/ 100 h 573045"/>
                <a:gd name="connsiteX6" fmla="*/ 203 w 106072"/>
                <a:gd name="connsiteY6" fmla="*/ 573146 h 57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072" h="573045">
                  <a:moveTo>
                    <a:pt x="203" y="573146"/>
                  </a:moveTo>
                  <a:lnTo>
                    <a:pt x="106276" y="573146"/>
                  </a:lnTo>
                  <a:lnTo>
                    <a:pt x="106276" y="551167"/>
                  </a:lnTo>
                  <a:lnTo>
                    <a:pt x="22182" y="551167"/>
                  </a:lnTo>
                  <a:lnTo>
                    <a:pt x="22182" y="100"/>
                  </a:lnTo>
                  <a:lnTo>
                    <a:pt x="203" y="100"/>
                  </a:lnTo>
                  <a:lnTo>
                    <a:pt x="203" y="573146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6" name="任意形状 2065">
              <a:extLst>
                <a:ext uri="{FF2B5EF4-FFF2-40B4-BE49-F238E27FC236}">
                  <a16:creationId xmlns:a16="http://schemas.microsoft.com/office/drawing/2014/main" id="{905A178F-315F-0B38-C355-30464920169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981558" y="5695078"/>
              <a:ext cx="158630" cy="144296"/>
            </a:xfrm>
            <a:custGeom>
              <a:avLst/>
              <a:gdLst>
                <a:gd name="connsiteX0" fmla="*/ 97364 w 158630"/>
                <a:gd name="connsiteY0" fmla="*/ 44667 h 144296"/>
                <a:gd name="connsiteX1" fmla="*/ 128899 w 158630"/>
                <a:gd name="connsiteY1" fmla="*/ 7080 h 144296"/>
                <a:gd name="connsiteX2" fmla="*/ 144826 w 158630"/>
                <a:gd name="connsiteY2" fmla="*/ 11221 h 144296"/>
                <a:gd name="connsiteX3" fmla="*/ 129536 w 158630"/>
                <a:gd name="connsiteY3" fmla="*/ 28422 h 144296"/>
                <a:gd name="connsiteX4" fmla="*/ 141640 w 158630"/>
                <a:gd name="connsiteY4" fmla="*/ 39571 h 144296"/>
                <a:gd name="connsiteX5" fmla="*/ 158841 w 158630"/>
                <a:gd name="connsiteY5" fmla="*/ 21095 h 144296"/>
                <a:gd name="connsiteX6" fmla="*/ 129217 w 158630"/>
                <a:gd name="connsiteY6" fmla="*/ 72 h 144296"/>
                <a:gd name="connsiteX7" fmla="*/ 95771 w 158630"/>
                <a:gd name="connsiteY7" fmla="*/ 24281 h 144296"/>
                <a:gd name="connsiteX8" fmla="*/ 61369 w 158630"/>
                <a:gd name="connsiteY8" fmla="*/ 72 h 144296"/>
                <a:gd name="connsiteX9" fmla="*/ 10085 w 158630"/>
                <a:gd name="connsiteY9" fmla="*/ 49127 h 144296"/>
                <a:gd name="connsiteX10" fmla="*/ 13907 w 158630"/>
                <a:gd name="connsiteY10" fmla="*/ 52312 h 144296"/>
                <a:gd name="connsiteX11" fmla="*/ 18048 w 158630"/>
                <a:gd name="connsiteY11" fmla="*/ 48808 h 144296"/>
                <a:gd name="connsiteX12" fmla="*/ 60732 w 158630"/>
                <a:gd name="connsiteY12" fmla="*/ 7080 h 144296"/>
                <a:gd name="connsiteX13" fmla="*/ 77933 w 158630"/>
                <a:gd name="connsiteY13" fmla="*/ 28422 h 144296"/>
                <a:gd name="connsiteX14" fmla="*/ 60732 w 158630"/>
                <a:gd name="connsiteY14" fmla="*/ 104233 h 144296"/>
                <a:gd name="connsiteX15" fmla="*/ 30471 w 158630"/>
                <a:gd name="connsiteY15" fmla="*/ 137361 h 144296"/>
                <a:gd name="connsiteX16" fmla="*/ 14544 w 158630"/>
                <a:gd name="connsiteY16" fmla="*/ 133220 h 144296"/>
                <a:gd name="connsiteX17" fmla="*/ 29516 w 158630"/>
                <a:gd name="connsiteY17" fmla="*/ 116019 h 144296"/>
                <a:gd name="connsiteX18" fmla="*/ 17730 w 158630"/>
                <a:gd name="connsiteY18" fmla="*/ 104870 h 144296"/>
                <a:gd name="connsiteX19" fmla="*/ 210 w 158630"/>
                <a:gd name="connsiteY19" fmla="*/ 123345 h 144296"/>
                <a:gd name="connsiteX20" fmla="*/ 30153 w 158630"/>
                <a:gd name="connsiteY20" fmla="*/ 144369 h 144296"/>
                <a:gd name="connsiteX21" fmla="*/ 63599 w 158630"/>
                <a:gd name="connsiteY21" fmla="*/ 120160 h 144296"/>
                <a:gd name="connsiteX22" fmla="*/ 98001 w 158630"/>
                <a:gd name="connsiteY22" fmla="*/ 144369 h 144296"/>
                <a:gd name="connsiteX23" fmla="*/ 148967 w 158630"/>
                <a:gd name="connsiteY23" fmla="*/ 95314 h 144296"/>
                <a:gd name="connsiteX24" fmla="*/ 145144 w 158630"/>
                <a:gd name="connsiteY24" fmla="*/ 92129 h 144296"/>
                <a:gd name="connsiteX25" fmla="*/ 141003 w 158630"/>
                <a:gd name="connsiteY25" fmla="*/ 95633 h 144296"/>
                <a:gd name="connsiteX26" fmla="*/ 98638 w 158630"/>
                <a:gd name="connsiteY26" fmla="*/ 137361 h 144296"/>
                <a:gd name="connsiteX27" fmla="*/ 81118 w 158630"/>
                <a:gd name="connsiteY27" fmla="*/ 116338 h 144296"/>
                <a:gd name="connsiteX28" fmla="*/ 86534 w 158630"/>
                <a:gd name="connsiteY28" fmla="*/ 88307 h 144296"/>
                <a:gd name="connsiteX29" fmla="*/ 97364 w 158630"/>
                <a:gd name="connsiteY29" fmla="*/ 44667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8630" h="144296">
                  <a:moveTo>
                    <a:pt x="97364" y="44667"/>
                  </a:moveTo>
                  <a:cubicBezTo>
                    <a:pt x="99275" y="36385"/>
                    <a:pt x="106601" y="7080"/>
                    <a:pt x="128899" y="7080"/>
                  </a:cubicBezTo>
                  <a:cubicBezTo>
                    <a:pt x="130491" y="7080"/>
                    <a:pt x="138136" y="7080"/>
                    <a:pt x="144826" y="11221"/>
                  </a:cubicBezTo>
                  <a:cubicBezTo>
                    <a:pt x="135907" y="12814"/>
                    <a:pt x="129536" y="20777"/>
                    <a:pt x="129536" y="28422"/>
                  </a:cubicBezTo>
                  <a:cubicBezTo>
                    <a:pt x="129536" y="33518"/>
                    <a:pt x="133040" y="39571"/>
                    <a:pt x="141640" y="39571"/>
                  </a:cubicBezTo>
                  <a:cubicBezTo>
                    <a:pt x="148648" y="39571"/>
                    <a:pt x="158841" y="33837"/>
                    <a:pt x="158841" y="21095"/>
                  </a:cubicBezTo>
                  <a:cubicBezTo>
                    <a:pt x="158841" y="4532"/>
                    <a:pt x="140048" y="72"/>
                    <a:pt x="129217" y="72"/>
                  </a:cubicBezTo>
                  <a:cubicBezTo>
                    <a:pt x="110742" y="72"/>
                    <a:pt x="99593" y="16955"/>
                    <a:pt x="95771" y="24281"/>
                  </a:cubicBezTo>
                  <a:cubicBezTo>
                    <a:pt x="87808" y="3257"/>
                    <a:pt x="70607" y="72"/>
                    <a:pt x="61369" y="72"/>
                  </a:cubicBezTo>
                  <a:cubicBezTo>
                    <a:pt x="28241" y="72"/>
                    <a:pt x="10085" y="41163"/>
                    <a:pt x="10085" y="49127"/>
                  </a:cubicBezTo>
                  <a:cubicBezTo>
                    <a:pt x="10085" y="52312"/>
                    <a:pt x="13270" y="52312"/>
                    <a:pt x="13907" y="52312"/>
                  </a:cubicBezTo>
                  <a:cubicBezTo>
                    <a:pt x="16456" y="52312"/>
                    <a:pt x="17411" y="51675"/>
                    <a:pt x="18048" y="48808"/>
                  </a:cubicBezTo>
                  <a:cubicBezTo>
                    <a:pt x="28879" y="15043"/>
                    <a:pt x="49902" y="7080"/>
                    <a:pt x="60732" y="7080"/>
                  </a:cubicBezTo>
                  <a:cubicBezTo>
                    <a:pt x="66784" y="7080"/>
                    <a:pt x="77933" y="9947"/>
                    <a:pt x="77933" y="28422"/>
                  </a:cubicBezTo>
                  <a:cubicBezTo>
                    <a:pt x="77933" y="38296"/>
                    <a:pt x="72518" y="59638"/>
                    <a:pt x="60732" y="104233"/>
                  </a:cubicBezTo>
                  <a:cubicBezTo>
                    <a:pt x="55636" y="123983"/>
                    <a:pt x="44487" y="137361"/>
                    <a:pt x="30471" y="137361"/>
                  </a:cubicBezTo>
                  <a:cubicBezTo>
                    <a:pt x="28560" y="137361"/>
                    <a:pt x="21234" y="137361"/>
                    <a:pt x="14544" y="133220"/>
                  </a:cubicBezTo>
                  <a:cubicBezTo>
                    <a:pt x="22508" y="131627"/>
                    <a:pt x="29516" y="124938"/>
                    <a:pt x="29516" y="116019"/>
                  </a:cubicBezTo>
                  <a:cubicBezTo>
                    <a:pt x="29516" y="107419"/>
                    <a:pt x="22508" y="104870"/>
                    <a:pt x="17730" y="104870"/>
                  </a:cubicBezTo>
                  <a:cubicBezTo>
                    <a:pt x="8174" y="104870"/>
                    <a:pt x="210" y="113152"/>
                    <a:pt x="210" y="123345"/>
                  </a:cubicBezTo>
                  <a:cubicBezTo>
                    <a:pt x="210" y="137998"/>
                    <a:pt x="16137" y="144369"/>
                    <a:pt x="30153" y="144369"/>
                  </a:cubicBezTo>
                  <a:cubicBezTo>
                    <a:pt x="51176" y="144369"/>
                    <a:pt x="62643" y="122071"/>
                    <a:pt x="63599" y="120160"/>
                  </a:cubicBezTo>
                  <a:cubicBezTo>
                    <a:pt x="67421" y="131946"/>
                    <a:pt x="78889" y="144369"/>
                    <a:pt x="98001" y="144369"/>
                  </a:cubicBezTo>
                  <a:cubicBezTo>
                    <a:pt x="130810" y="144369"/>
                    <a:pt x="148967" y="103278"/>
                    <a:pt x="148967" y="95314"/>
                  </a:cubicBezTo>
                  <a:cubicBezTo>
                    <a:pt x="148967" y="92129"/>
                    <a:pt x="146100" y="92129"/>
                    <a:pt x="145144" y="92129"/>
                  </a:cubicBezTo>
                  <a:cubicBezTo>
                    <a:pt x="142277" y="92129"/>
                    <a:pt x="141640" y="93403"/>
                    <a:pt x="141003" y="95633"/>
                  </a:cubicBezTo>
                  <a:cubicBezTo>
                    <a:pt x="130491" y="129716"/>
                    <a:pt x="108831" y="137361"/>
                    <a:pt x="98638" y="137361"/>
                  </a:cubicBezTo>
                  <a:cubicBezTo>
                    <a:pt x="86215" y="137361"/>
                    <a:pt x="81118" y="127168"/>
                    <a:pt x="81118" y="116338"/>
                  </a:cubicBezTo>
                  <a:cubicBezTo>
                    <a:pt x="81118" y="109330"/>
                    <a:pt x="83030" y="102322"/>
                    <a:pt x="86534" y="88307"/>
                  </a:cubicBezTo>
                  <a:lnTo>
                    <a:pt x="97364" y="4466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7" name="任意形状 2066">
              <a:extLst>
                <a:ext uri="{FF2B5EF4-FFF2-40B4-BE49-F238E27FC236}">
                  <a16:creationId xmlns:a16="http://schemas.microsoft.com/office/drawing/2014/main" id="{42CC5CAD-A95D-7FBD-579D-20E672BEAE7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2178677" y="5735595"/>
              <a:ext cx="81162" cy="148055"/>
            </a:xfrm>
            <a:custGeom>
              <a:avLst/>
              <a:gdLst>
                <a:gd name="connsiteX0" fmla="*/ 50608 w 81162"/>
                <a:gd name="connsiteY0" fmla="*/ 6317 h 148055"/>
                <a:gd name="connsiteX1" fmla="*/ 43919 w 81162"/>
                <a:gd name="connsiteY1" fmla="*/ 74 h 148055"/>
                <a:gd name="connsiteX2" fmla="*/ 216 w 81162"/>
                <a:gd name="connsiteY2" fmla="*/ 14344 h 148055"/>
                <a:gd name="connsiteX3" fmla="*/ 216 w 81162"/>
                <a:gd name="connsiteY3" fmla="*/ 22371 h 148055"/>
                <a:gd name="connsiteX4" fmla="*/ 32547 w 81162"/>
                <a:gd name="connsiteY4" fmla="*/ 16128 h 148055"/>
                <a:gd name="connsiteX5" fmla="*/ 32547 w 81162"/>
                <a:gd name="connsiteY5" fmla="*/ 129845 h 148055"/>
                <a:gd name="connsiteX6" fmla="*/ 10250 w 81162"/>
                <a:gd name="connsiteY6" fmla="*/ 140102 h 148055"/>
                <a:gd name="connsiteX7" fmla="*/ 1777 w 81162"/>
                <a:gd name="connsiteY7" fmla="*/ 140102 h 148055"/>
                <a:gd name="connsiteX8" fmla="*/ 1777 w 81162"/>
                <a:gd name="connsiteY8" fmla="*/ 148129 h 148055"/>
                <a:gd name="connsiteX9" fmla="*/ 41466 w 81162"/>
                <a:gd name="connsiteY9" fmla="*/ 147237 h 148055"/>
                <a:gd name="connsiteX10" fmla="*/ 81379 w 81162"/>
                <a:gd name="connsiteY10" fmla="*/ 148129 h 148055"/>
                <a:gd name="connsiteX11" fmla="*/ 81379 w 81162"/>
                <a:gd name="connsiteY11" fmla="*/ 140102 h 148055"/>
                <a:gd name="connsiteX12" fmla="*/ 72906 w 81162"/>
                <a:gd name="connsiteY12" fmla="*/ 140102 h 148055"/>
                <a:gd name="connsiteX13" fmla="*/ 50608 w 81162"/>
                <a:gd name="connsiteY13" fmla="*/ 129845 h 148055"/>
                <a:gd name="connsiteX14" fmla="*/ 50608 w 81162"/>
                <a:gd name="connsiteY14" fmla="*/ 6317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162" h="148055">
                  <a:moveTo>
                    <a:pt x="50608" y="6317"/>
                  </a:moveTo>
                  <a:cubicBezTo>
                    <a:pt x="50608" y="297"/>
                    <a:pt x="50162" y="74"/>
                    <a:pt x="43919" y="74"/>
                  </a:cubicBezTo>
                  <a:cubicBezTo>
                    <a:pt x="29649" y="14121"/>
                    <a:pt x="9358" y="14344"/>
                    <a:pt x="216" y="14344"/>
                  </a:cubicBezTo>
                  <a:lnTo>
                    <a:pt x="216" y="22371"/>
                  </a:lnTo>
                  <a:cubicBezTo>
                    <a:pt x="5567" y="22371"/>
                    <a:pt x="20284" y="22371"/>
                    <a:pt x="32547" y="16128"/>
                  </a:cubicBezTo>
                  <a:lnTo>
                    <a:pt x="32547" y="129845"/>
                  </a:lnTo>
                  <a:cubicBezTo>
                    <a:pt x="32547" y="137203"/>
                    <a:pt x="32547" y="140102"/>
                    <a:pt x="10250" y="140102"/>
                  </a:cubicBezTo>
                  <a:lnTo>
                    <a:pt x="1777" y="140102"/>
                  </a:lnTo>
                  <a:lnTo>
                    <a:pt x="1777" y="148129"/>
                  </a:lnTo>
                  <a:cubicBezTo>
                    <a:pt x="5790" y="147906"/>
                    <a:pt x="33216" y="147237"/>
                    <a:pt x="41466" y="147237"/>
                  </a:cubicBezTo>
                  <a:cubicBezTo>
                    <a:pt x="48379" y="147237"/>
                    <a:pt x="76474" y="147906"/>
                    <a:pt x="81379" y="148129"/>
                  </a:cubicBezTo>
                  <a:lnTo>
                    <a:pt x="81379" y="140102"/>
                  </a:lnTo>
                  <a:lnTo>
                    <a:pt x="72906" y="140102"/>
                  </a:lnTo>
                  <a:cubicBezTo>
                    <a:pt x="50608" y="140102"/>
                    <a:pt x="50608" y="137203"/>
                    <a:pt x="50608" y="129845"/>
                  </a:cubicBezTo>
                  <a:lnTo>
                    <a:pt x="50608" y="631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8" name="任意形状 2067">
              <a:extLst>
                <a:ext uri="{FF2B5EF4-FFF2-40B4-BE49-F238E27FC236}">
                  <a16:creationId xmlns:a16="http://schemas.microsoft.com/office/drawing/2014/main" id="{F0BBAE7B-65AF-D8E5-E3DB-288434E93B55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2305649" y="5735595"/>
              <a:ext cx="81162" cy="148055"/>
            </a:xfrm>
            <a:custGeom>
              <a:avLst/>
              <a:gdLst>
                <a:gd name="connsiteX0" fmla="*/ 50612 w 81162"/>
                <a:gd name="connsiteY0" fmla="*/ 6317 h 148055"/>
                <a:gd name="connsiteX1" fmla="*/ 43923 w 81162"/>
                <a:gd name="connsiteY1" fmla="*/ 74 h 148055"/>
                <a:gd name="connsiteX2" fmla="*/ 220 w 81162"/>
                <a:gd name="connsiteY2" fmla="*/ 14344 h 148055"/>
                <a:gd name="connsiteX3" fmla="*/ 220 w 81162"/>
                <a:gd name="connsiteY3" fmla="*/ 22371 h 148055"/>
                <a:gd name="connsiteX4" fmla="*/ 32551 w 81162"/>
                <a:gd name="connsiteY4" fmla="*/ 16128 h 148055"/>
                <a:gd name="connsiteX5" fmla="*/ 32551 w 81162"/>
                <a:gd name="connsiteY5" fmla="*/ 129845 h 148055"/>
                <a:gd name="connsiteX6" fmla="*/ 10254 w 81162"/>
                <a:gd name="connsiteY6" fmla="*/ 140102 h 148055"/>
                <a:gd name="connsiteX7" fmla="*/ 1781 w 81162"/>
                <a:gd name="connsiteY7" fmla="*/ 140102 h 148055"/>
                <a:gd name="connsiteX8" fmla="*/ 1781 w 81162"/>
                <a:gd name="connsiteY8" fmla="*/ 148129 h 148055"/>
                <a:gd name="connsiteX9" fmla="*/ 41470 w 81162"/>
                <a:gd name="connsiteY9" fmla="*/ 147237 h 148055"/>
                <a:gd name="connsiteX10" fmla="*/ 81383 w 81162"/>
                <a:gd name="connsiteY10" fmla="*/ 148129 h 148055"/>
                <a:gd name="connsiteX11" fmla="*/ 81383 w 81162"/>
                <a:gd name="connsiteY11" fmla="*/ 140102 h 148055"/>
                <a:gd name="connsiteX12" fmla="*/ 72910 w 81162"/>
                <a:gd name="connsiteY12" fmla="*/ 140102 h 148055"/>
                <a:gd name="connsiteX13" fmla="*/ 50612 w 81162"/>
                <a:gd name="connsiteY13" fmla="*/ 129845 h 148055"/>
                <a:gd name="connsiteX14" fmla="*/ 50612 w 81162"/>
                <a:gd name="connsiteY14" fmla="*/ 6317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162" h="148055">
                  <a:moveTo>
                    <a:pt x="50612" y="6317"/>
                  </a:moveTo>
                  <a:cubicBezTo>
                    <a:pt x="50612" y="297"/>
                    <a:pt x="50166" y="74"/>
                    <a:pt x="43923" y="74"/>
                  </a:cubicBezTo>
                  <a:cubicBezTo>
                    <a:pt x="29653" y="14121"/>
                    <a:pt x="9362" y="14344"/>
                    <a:pt x="220" y="14344"/>
                  </a:cubicBezTo>
                  <a:lnTo>
                    <a:pt x="220" y="22371"/>
                  </a:lnTo>
                  <a:cubicBezTo>
                    <a:pt x="5571" y="22371"/>
                    <a:pt x="20288" y="22371"/>
                    <a:pt x="32551" y="16128"/>
                  </a:cubicBezTo>
                  <a:lnTo>
                    <a:pt x="32551" y="129845"/>
                  </a:lnTo>
                  <a:cubicBezTo>
                    <a:pt x="32551" y="137203"/>
                    <a:pt x="32551" y="140102"/>
                    <a:pt x="10254" y="140102"/>
                  </a:cubicBezTo>
                  <a:lnTo>
                    <a:pt x="1781" y="140102"/>
                  </a:lnTo>
                  <a:lnTo>
                    <a:pt x="1781" y="148129"/>
                  </a:lnTo>
                  <a:cubicBezTo>
                    <a:pt x="5794" y="147906"/>
                    <a:pt x="33220" y="147237"/>
                    <a:pt x="41470" y="147237"/>
                  </a:cubicBezTo>
                  <a:cubicBezTo>
                    <a:pt x="48383" y="147237"/>
                    <a:pt x="76477" y="147906"/>
                    <a:pt x="81383" y="148129"/>
                  </a:cubicBezTo>
                  <a:lnTo>
                    <a:pt x="81383" y="140102"/>
                  </a:lnTo>
                  <a:lnTo>
                    <a:pt x="72910" y="140102"/>
                  </a:lnTo>
                  <a:cubicBezTo>
                    <a:pt x="50612" y="140102"/>
                    <a:pt x="50612" y="137203"/>
                    <a:pt x="50612" y="129845"/>
                  </a:cubicBezTo>
                  <a:lnTo>
                    <a:pt x="50612" y="631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9" name="任意形状 2068">
              <a:extLst>
                <a:ext uri="{FF2B5EF4-FFF2-40B4-BE49-F238E27FC236}">
                  <a16:creationId xmlns:a16="http://schemas.microsoft.com/office/drawing/2014/main" id="{79D238CD-3341-F036-F769-93E9BD511FCA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2782507" y="5695078"/>
              <a:ext cx="158630" cy="144296"/>
            </a:xfrm>
            <a:custGeom>
              <a:avLst/>
              <a:gdLst>
                <a:gd name="connsiteX0" fmla="*/ 97389 w 158630"/>
                <a:gd name="connsiteY0" fmla="*/ 44667 h 144296"/>
                <a:gd name="connsiteX1" fmla="*/ 128924 w 158630"/>
                <a:gd name="connsiteY1" fmla="*/ 7080 h 144296"/>
                <a:gd name="connsiteX2" fmla="*/ 144851 w 158630"/>
                <a:gd name="connsiteY2" fmla="*/ 11221 h 144296"/>
                <a:gd name="connsiteX3" fmla="*/ 129561 w 158630"/>
                <a:gd name="connsiteY3" fmla="*/ 28422 h 144296"/>
                <a:gd name="connsiteX4" fmla="*/ 141665 w 158630"/>
                <a:gd name="connsiteY4" fmla="*/ 39571 h 144296"/>
                <a:gd name="connsiteX5" fmla="*/ 158866 w 158630"/>
                <a:gd name="connsiteY5" fmla="*/ 21095 h 144296"/>
                <a:gd name="connsiteX6" fmla="*/ 129242 w 158630"/>
                <a:gd name="connsiteY6" fmla="*/ 72 h 144296"/>
                <a:gd name="connsiteX7" fmla="*/ 95796 w 158630"/>
                <a:gd name="connsiteY7" fmla="*/ 24281 h 144296"/>
                <a:gd name="connsiteX8" fmla="*/ 61394 w 158630"/>
                <a:gd name="connsiteY8" fmla="*/ 72 h 144296"/>
                <a:gd name="connsiteX9" fmla="*/ 10110 w 158630"/>
                <a:gd name="connsiteY9" fmla="*/ 49127 h 144296"/>
                <a:gd name="connsiteX10" fmla="*/ 13932 w 158630"/>
                <a:gd name="connsiteY10" fmla="*/ 52312 h 144296"/>
                <a:gd name="connsiteX11" fmla="*/ 18073 w 158630"/>
                <a:gd name="connsiteY11" fmla="*/ 48808 h 144296"/>
                <a:gd name="connsiteX12" fmla="*/ 60757 w 158630"/>
                <a:gd name="connsiteY12" fmla="*/ 7080 h 144296"/>
                <a:gd name="connsiteX13" fmla="*/ 77958 w 158630"/>
                <a:gd name="connsiteY13" fmla="*/ 28422 h 144296"/>
                <a:gd name="connsiteX14" fmla="*/ 60757 w 158630"/>
                <a:gd name="connsiteY14" fmla="*/ 104233 h 144296"/>
                <a:gd name="connsiteX15" fmla="*/ 30496 w 158630"/>
                <a:gd name="connsiteY15" fmla="*/ 137361 h 144296"/>
                <a:gd name="connsiteX16" fmla="*/ 14569 w 158630"/>
                <a:gd name="connsiteY16" fmla="*/ 133220 h 144296"/>
                <a:gd name="connsiteX17" fmla="*/ 29541 w 158630"/>
                <a:gd name="connsiteY17" fmla="*/ 116019 h 144296"/>
                <a:gd name="connsiteX18" fmla="*/ 17755 w 158630"/>
                <a:gd name="connsiteY18" fmla="*/ 104870 h 144296"/>
                <a:gd name="connsiteX19" fmla="*/ 235 w 158630"/>
                <a:gd name="connsiteY19" fmla="*/ 123345 h 144296"/>
                <a:gd name="connsiteX20" fmla="*/ 30178 w 158630"/>
                <a:gd name="connsiteY20" fmla="*/ 144369 h 144296"/>
                <a:gd name="connsiteX21" fmla="*/ 63624 w 158630"/>
                <a:gd name="connsiteY21" fmla="*/ 120160 h 144296"/>
                <a:gd name="connsiteX22" fmla="*/ 98026 w 158630"/>
                <a:gd name="connsiteY22" fmla="*/ 144369 h 144296"/>
                <a:gd name="connsiteX23" fmla="*/ 148992 w 158630"/>
                <a:gd name="connsiteY23" fmla="*/ 95314 h 144296"/>
                <a:gd name="connsiteX24" fmla="*/ 145169 w 158630"/>
                <a:gd name="connsiteY24" fmla="*/ 92129 h 144296"/>
                <a:gd name="connsiteX25" fmla="*/ 141028 w 158630"/>
                <a:gd name="connsiteY25" fmla="*/ 95633 h 144296"/>
                <a:gd name="connsiteX26" fmla="*/ 98663 w 158630"/>
                <a:gd name="connsiteY26" fmla="*/ 137361 h 144296"/>
                <a:gd name="connsiteX27" fmla="*/ 81143 w 158630"/>
                <a:gd name="connsiteY27" fmla="*/ 116338 h 144296"/>
                <a:gd name="connsiteX28" fmla="*/ 86559 w 158630"/>
                <a:gd name="connsiteY28" fmla="*/ 88307 h 144296"/>
                <a:gd name="connsiteX29" fmla="*/ 97389 w 158630"/>
                <a:gd name="connsiteY29" fmla="*/ 44667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8630" h="144296">
                  <a:moveTo>
                    <a:pt x="97389" y="44667"/>
                  </a:moveTo>
                  <a:cubicBezTo>
                    <a:pt x="99300" y="36385"/>
                    <a:pt x="106626" y="7080"/>
                    <a:pt x="128924" y="7080"/>
                  </a:cubicBezTo>
                  <a:cubicBezTo>
                    <a:pt x="130516" y="7080"/>
                    <a:pt x="138161" y="7080"/>
                    <a:pt x="144851" y="11221"/>
                  </a:cubicBezTo>
                  <a:cubicBezTo>
                    <a:pt x="135932" y="12814"/>
                    <a:pt x="129561" y="20777"/>
                    <a:pt x="129561" y="28422"/>
                  </a:cubicBezTo>
                  <a:cubicBezTo>
                    <a:pt x="129561" y="33518"/>
                    <a:pt x="133065" y="39571"/>
                    <a:pt x="141665" y="39571"/>
                  </a:cubicBezTo>
                  <a:cubicBezTo>
                    <a:pt x="148673" y="39571"/>
                    <a:pt x="158866" y="33837"/>
                    <a:pt x="158866" y="21095"/>
                  </a:cubicBezTo>
                  <a:cubicBezTo>
                    <a:pt x="158866" y="4532"/>
                    <a:pt x="140073" y="72"/>
                    <a:pt x="129242" y="72"/>
                  </a:cubicBezTo>
                  <a:cubicBezTo>
                    <a:pt x="110767" y="72"/>
                    <a:pt x="99619" y="16955"/>
                    <a:pt x="95796" y="24281"/>
                  </a:cubicBezTo>
                  <a:cubicBezTo>
                    <a:pt x="87833" y="3257"/>
                    <a:pt x="70632" y="72"/>
                    <a:pt x="61394" y="72"/>
                  </a:cubicBezTo>
                  <a:cubicBezTo>
                    <a:pt x="28267" y="72"/>
                    <a:pt x="10110" y="41163"/>
                    <a:pt x="10110" y="49127"/>
                  </a:cubicBezTo>
                  <a:cubicBezTo>
                    <a:pt x="10110" y="52312"/>
                    <a:pt x="13295" y="52312"/>
                    <a:pt x="13932" y="52312"/>
                  </a:cubicBezTo>
                  <a:cubicBezTo>
                    <a:pt x="16481" y="52312"/>
                    <a:pt x="17436" y="51675"/>
                    <a:pt x="18073" y="48808"/>
                  </a:cubicBezTo>
                  <a:cubicBezTo>
                    <a:pt x="28904" y="15043"/>
                    <a:pt x="49927" y="7080"/>
                    <a:pt x="60757" y="7080"/>
                  </a:cubicBezTo>
                  <a:cubicBezTo>
                    <a:pt x="66809" y="7080"/>
                    <a:pt x="77958" y="9947"/>
                    <a:pt x="77958" y="28422"/>
                  </a:cubicBezTo>
                  <a:cubicBezTo>
                    <a:pt x="77958" y="38296"/>
                    <a:pt x="72543" y="59638"/>
                    <a:pt x="60757" y="104233"/>
                  </a:cubicBezTo>
                  <a:cubicBezTo>
                    <a:pt x="55661" y="123983"/>
                    <a:pt x="44512" y="137361"/>
                    <a:pt x="30496" y="137361"/>
                  </a:cubicBezTo>
                  <a:cubicBezTo>
                    <a:pt x="28585" y="137361"/>
                    <a:pt x="21259" y="137361"/>
                    <a:pt x="14569" y="133220"/>
                  </a:cubicBezTo>
                  <a:cubicBezTo>
                    <a:pt x="22533" y="131627"/>
                    <a:pt x="29541" y="124938"/>
                    <a:pt x="29541" y="116019"/>
                  </a:cubicBezTo>
                  <a:cubicBezTo>
                    <a:pt x="29541" y="107419"/>
                    <a:pt x="22533" y="104870"/>
                    <a:pt x="17755" y="104870"/>
                  </a:cubicBezTo>
                  <a:cubicBezTo>
                    <a:pt x="8199" y="104870"/>
                    <a:pt x="235" y="113152"/>
                    <a:pt x="235" y="123345"/>
                  </a:cubicBezTo>
                  <a:cubicBezTo>
                    <a:pt x="235" y="137998"/>
                    <a:pt x="16162" y="144369"/>
                    <a:pt x="30178" y="144369"/>
                  </a:cubicBezTo>
                  <a:cubicBezTo>
                    <a:pt x="51201" y="144369"/>
                    <a:pt x="62668" y="122071"/>
                    <a:pt x="63624" y="120160"/>
                  </a:cubicBezTo>
                  <a:cubicBezTo>
                    <a:pt x="67446" y="131946"/>
                    <a:pt x="78914" y="144369"/>
                    <a:pt x="98026" y="144369"/>
                  </a:cubicBezTo>
                  <a:cubicBezTo>
                    <a:pt x="130835" y="144369"/>
                    <a:pt x="148992" y="103278"/>
                    <a:pt x="148992" y="95314"/>
                  </a:cubicBezTo>
                  <a:cubicBezTo>
                    <a:pt x="148992" y="92129"/>
                    <a:pt x="146125" y="92129"/>
                    <a:pt x="145169" y="92129"/>
                  </a:cubicBezTo>
                  <a:cubicBezTo>
                    <a:pt x="142302" y="92129"/>
                    <a:pt x="141665" y="93403"/>
                    <a:pt x="141028" y="95633"/>
                  </a:cubicBezTo>
                  <a:cubicBezTo>
                    <a:pt x="130516" y="129716"/>
                    <a:pt x="108856" y="137361"/>
                    <a:pt x="98663" y="137361"/>
                  </a:cubicBezTo>
                  <a:cubicBezTo>
                    <a:pt x="86240" y="137361"/>
                    <a:pt x="81143" y="127168"/>
                    <a:pt x="81143" y="116338"/>
                  </a:cubicBezTo>
                  <a:cubicBezTo>
                    <a:pt x="81143" y="109330"/>
                    <a:pt x="83055" y="102322"/>
                    <a:pt x="86559" y="88307"/>
                  </a:cubicBezTo>
                  <a:lnTo>
                    <a:pt x="97389" y="4466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0" name="任意形状 2069">
              <a:extLst>
                <a:ext uri="{FF2B5EF4-FFF2-40B4-BE49-F238E27FC236}">
                  <a16:creationId xmlns:a16="http://schemas.microsoft.com/office/drawing/2014/main" id="{551C07ED-7DC1-E930-C54C-02DFB9CB349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2979626" y="5735595"/>
              <a:ext cx="81162" cy="148055"/>
            </a:xfrm>
            <a:custGeom>
              <a:avLst/>
              <a:gdLst>
                <a:gd name="connsiteX0" fmla="*/ 50633 w 81162"/>
                <a:gd name="connsiteY0" fmla="*/ 6317 h 148055"/>
                <a:gd name="connsiteX1" fmla="*/ 43944 w 81162"/>
                <a:gd name="connsiteY1" fmla="*/ 74 h 148055"/>
                <a:gd name="connsiteX2" fmla="*/ 241 w 81162"/>
                <a:gd name="connsiteY2" fmla="*/ 14344 h 148055"/>
                <a:gd name="connsiteX3" fmla="*/ 241 w 81162"/>
                <a:gd name="connsiteY3" fmla="*/ 22371 h 148055"/>
                <a:gd name="connsiteX4" fmla="*/ 32572 w 81162"/>
                <a:gd name="connsiteY4" fmla="*/ 16128 h 148055"/>
                <a:gd name="connsiteX5" fmla="*/ 32572 w 81162"/>
                <a:gd name="connsiteY5" fmla="*/ 129845 h 148055"/>
                <a:gd name="connsiteX6" fmla="*/ 10275 w 81162"/>
                <a:gd name="connsiteY6" fmla="*/ 140102 h 148055"/>
                <a:gd name="connsiteX7" fmla="*/ 1802 w 81162"/>
                <a:gd name="connsiteY7" fmla="*/ 140102 h 148055"/>
                <a:gd name="connsiteX8" fmla="*/ 1802 w 81162"/>
                <a:gd name="connsiteY8" fmla="*/ 148129 h 148055"/>
                <a:gd name="connsiteX9" fmla="*/ 41491 w 81162"/>
                <a:gd name="connsiteY9" fmla="*/ 147237 h 148055"/>
                <a:gd name="connsiteX10" fmla="*/ 81404 w 81162"/>
                <a:gd name="connsiteY10" fmla="*/ 148129 h 148055"/>
                <a:gd name="connsiteX11" fmla="*/ 81404 w 81162"/>
                <a:gd name="connsiteY11" fmla="*/ 140102 h 148055"/>
                <a:gd name="connsiteX12" fmla="*/ 72931 w 81162"/>
                <a:gd name="connsiteY12" fmla="*/ 140102 h 148055"/>
                <a:gd name="connsiteX13" fmla="*/ 50633 w 81162"/>
                <a:gd name="connsiteY13" fmla="*/ 129845 h 148055"/>
                <a:gd name="connsiteX14" fmla="*/ 50633 w 81162"/>
                <a:gd name="connsiteY14" fmla="*/ 6317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162" h="148055">
                  <a:moveTo>
                    <a:pt x="50633" y="6317"/>
                  </a:moveTo>
                  <a:cubicBezTo>
                    <a:pt x="50633" y="297"/>
                    <a:pt x="50188" y="74"/>
                    <a:pt x="43944" y="74"/>
                  </a:cubicBezTo>
                  <a:cubicBezTo>
                    <a:pt x="29674" y="14121"/>
                    <a:pt x="9383" y="14344"/>
                    <a:pt x="241" y="14344"/>
                  </a:cubicBezTo>
                  <a:lnTo>
                    <a:pt x="241" y="22371"/>
                  </a:lnTo>
                  <a:cubicBezTo>
                    <a:pt x="5593" y="22371"/>
                    <a:pt x="20309" y="22371"/>
                    <a:pt x="32572" y="16128"/>
                  </a:cubicBezTo>
                  <a:lnTo>
                    <a:pt x="32572" y="129845"/>
                  </a:lnTo>
                  <a:cubicBezTo>
                    <a:pt x="32572" y="137203"/>
                    <a:pt x="32572" y="140102"/>
                    <a:pt x="10275" y="140102"/>
                  </a:cubicBezTo>
                  <a:lnTo>
                    <a:pt x="1802" y="140102"/>
                  </a:lnTo>
                  <a:lnTo>
                    <a:pt x="1802" y="148129"/>
                  </a:lnTo>
                  <a:cubicBezTo>
                    <a:pt x="5816" y="147906"/>
                    <a:pt x="33241" y="147237"/>
                    <a:pt x="41491" y="147237"/>
                  </a:cubicBezTo>
                  <a:cubicBezTo>
                    <a:pt x="48404" y="147237"/>
                    <a:pt x="76499" y="147906"/>
                    <a:pt x="81404" y="148129"/>
                  </a:cubicBezTo>
                  <a:lnTo>
                    <a:pt x="81404" y="140102"/>
                  </a:lnTo>
                  <a:lnTo>
                    <a:pt x="72931" y="140102"/>
                  </a:lnTo>
                  <a:cubicBezTo>
                    <a:pt x="50633" y="140102"/>
                    <a:pt x="50633" y="137203"/>
                    <a:pt x="50633" y="129845"/>
                  </a:cubicBezTo>
                  <a:lnTo>
                    <a:pt x="50633" y="631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1" name="任意形状 2070">
              <a:extLst>
                <a:ext uri="{FF2B5EF4-FFF2-40B4-BE49-F238E27FC236}">
                  <a16:creationId xmlns:a16="http://schemas.microsoft.com/office/drawing/2014/main" id="{5A330CB5-1D3E-77D5-09AE-E4FA5C1FDBC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3096342" y="5735595"/>
              <a:ext cx="98554" cy="148055"/>
            </a:xfrm>
            <a:custGeom>
              <a:avLst/>
              <a:gdLst>
                <a:gd name="connsiteX0" fmla="*/ 98800 w 98554"/>
                <a:gd name="connsiteY0" fmla="*/ 107548 h 148055"/>
                <a:gd name="connsiteX1" fmla="*/ 91219 w 98554"/>
                <a:gd name="connsiteY1" fmla="*/ 107548 h 148055"/>
                <a:gd name="connsiteX2" fmla="*/ 85422 w 98554"/>
                <a:gd name="connsiteY2" fmla="*/ 127838 h 148055"/>
                <a:gd name="connsiteX3" fmla="*/ 63347 w 98554"/>
                <a:gd name="connsiteY3" fmla="*/ 129176 h 148055"/>
                <a:gd name="connsiteX4" fmla="*/ 22320 w 98554"/>
                <a:gd name="connsiteY4" fmla="*/ 129176 h 148055"/>
                <a:gd name="connsiteX5" fmla="*/ 66915 w 98554"/>
                <a:gd name="connsiteY5" fmla="*/ 91716 h 148055"/>
                <a:gd name="connsiteX6" fmla="*/ 98800 w 98554"/>
                <a:gd name="connsiteY6" fmla="*/ 43554 h 148055"/>
                <a:gd name="connsiteX7" fmla="*/ 46624 w 98554"/>
                <a:gd name="connsiteY7" fmla="*/ 74 h 148055"/>
                <a:gd name="connsiteX8" fmla="*/ 245 w 98554"/>
                <a:gd name="connsiteY8" fmla="*/ 39986 h 148055"/>
                <a:gd name="connsiteX9" fmla="*/ 12063 w 98554"/>
                <a:gd name="connsiteY9" fmla="*/ 52473 h 148055"/>
                <a:gd name="connsiteX10" fmla="*/ 23880 w 98554"/>
                <a:gd name="connsiteY10" fmla="*/ 40655 h 148055"/>
                <a:gd name="connsiteX11" fmla="*/ 10725 w 98554"/>
                <a:gd name="connsiteY11" fmla="*/ 28837 h 148055"/>
                <a:gd name="connsiteX12" fmla="*/ 43279 w 98554"/>
                <a:gd name="connsiteY12" fmla="*/ 8101 h 148055"/>
                <a:gd name="connsiteX13" fmla="*/ 77171 w 98554"/>
                <a:gd name="connsiteY13" fmla="*/ 43554 h 148055"/>
                <a:gd name="connsiteX14" fmla="*/ 56212 w 98554"/>
                <a:gd name="connsiteY14" fmla="*/ 86365 h 148055"/>
                <a:gd name="connsiteX15" fmla="*/ 2475 w 98554"/>
                <a:gd name="connsiteY15" fmla="*/ 139433 h 148055"/>
                <a:gd name="connsiteX16" fmla="*/ 245 w 98554"/>
                <a:gd name="connsiteY16" fmla="*/ 148129 h 148055"/>
                <a:gd name="connsiteX17" fmla="*/ 92111 w 98554"/>
                <a:gd name="connsiteY17" fmla="*/ 148129 h 148055"/>
                <a:gd name="connsiteX18" fmla="*/ 98800 w 98554"/>
                <a:gd name="connsiteY18" fmla="*/ 107548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8554" h="148055">
                  <a:moveTo>
                    <a:pt x="98800" y="107548"/>
                  </a:moveTo>
                  <a:lnTo>
                    <a:pt x="91219" y="107548"/>
                  </a:lnTo>
                  <a:cubicBezTo>
                    <a:pt x="90550" y="112453"/>
                    <a:pt x="88320" y="125609"/>
                    <a:pt x="85422" y="127838"/>
                  </a:cubicBezTo>
                  <a:cubicBezTo>
                    <a:pt x="83638" y="129176"/>
                    <a:pt x="66469" y="129176"/>
                    <a:pt x="63347" y="129176"/>
                  </a:cubicBezTo>
                  <a:lnTo>
                    <a:pt x="22320" y="129176"/>
                  </a:lnTo>
                  <a:cubicBezTo>
                    <a:pt x="45732" y="108439"/>
                    <a:pt x="53536" y="102196"/>
                    <a:pt x="66915" y="91716"/>
                  </a:cubicBezTo>
                  <a:cubicBezTo>
                    <a:pt x="83415" y="78561"/>
                    <a:pt x="98800" y="64736"/>
                    <a:pt x="98800" y="43554"/>
                  </a:cubicBezTo>
                  <a:cubicBezTo>
                    <a:pt x="98800" y="16574"/>
                    <a:pt x="75165" y="74"/>
                    <a:pt x="46624" y="74"/>
                  </a:cubicBezTo>
                  <a:cubicBezTo>
                    <a:pt x="18975" y="74"/>
                    <a:pt x="245" y="19472"/>
                    <a:pt x="245" y="39986"/>
                  </a:cubicBezTo>
                  <a:cubicBezTo>
                    <a:pt x="245" y="51358"/>
                    <a:pt x="9833" y="52473"/>
                    <a:pt x="12063" y="52473"/>
                  </a:cubicBezTo>
                  <a:cubicBezTo>
                    <a:pt x="17414" y="52473"/>
                    <a:pt x="23880" y="48682"/>
                    <a:pt x="23880" y="40655"/>
                  </a:cubicBezTo>
                  <a:cubicBezTo>
                    <a:pt x="23880" y="36642"/>
                    <a:pt x="22320" y="28837"/>
                    <a:pt x="10725" y="28837"/>
                  </a:cubicBezTo>
                  <a:cubicBezTo>
                    <a:pt x="17637" y="13006"/>
                    <a:pt x="32799" y="8101"/>
                    <a:pt x="43279" y="8101"/>
                  </a:cubicBezTo>
                  <a:cubicBezTo>
                    <a:pt x="65577" y="8101"/>
                    <a:pt x="77171" y="25493"/>
                    <a:pt x="77171" y="43554"/>
                  </a:cubicBezTo>
                  <a:cubicBezTo>
                    <a:pt x="77171" y="62953"/>
                    <a:pt x="63347" y="78338"/>
                    <a:pt x="56212" y="86365"/>
                  </a:cubicBezTo>
                  <a:lnTo>
                    <a:pt x="2475" y="139433"/>
                  </a:lnTo>
                  <a:cubicBezTo>
                    <a:pt x="245" y="141440"/>
                    <a:pt x="245" y="141886"/>
                    <a:pt x="245" y="148129"/>
                  </a:cubicBezTo>
                  <a:lnTo>
                    <a:pt x="92111" y="148129"/>
                  </a:lnTo>
                  <a:lnTo>
                    <a:pt x="98800" y="107548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2" name="任意形状 2071">
              <a:extLst>
                <a:ext uri="{FF2B5EF4-FFF2-40B4-BE49-F238E27FC236}">
                  <a16:creationId xmlns:a16="http://schemas.microsoft.com/office/drawing/2014/main" id="{97D6C78F-92BF-51D2-7448-C78BEF39AD2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3583456" y="5695078"/>
              <a:ext cx="158630" cy="144296"/>
            </a:xfrm>
            <a:custGeom>
              <a:avLst/>
              <a:gdLst>
                <a:gd name="connsiteX0" fmla="*/ 97414 w 158630"/>
                <a:gd name="connsiteY0" fmla="*/ 44667 h 144296"/>
                <a:gd name="connsiteX1" fmla="*/ 128949 w 158630"/>
                <a:gd name="connsiteY1" fmla="*/ 7080 h 144296"/>
                <a:gd name="connsiteX2" fmla="*/ 144876 w 158630"/>
                <a:gd name="connsiteY2" fmla="*/ 11221 h 144296"/>
                <a:gd name="connsiteX3" fmla="*/ 129586 w 158630"/>
                <a:gd name="connsiteY3" fmla="*/ 28422 h 144296"/>
                <a:gd name="connsiteX4" fmla="*/ 141690 w 158630"/>
                <a:gd name="connsiteY4" fmla="*/ 39571 h 144296"/>
                <a:gd name="connsiteX5" fmla="*/ 158891 w 158630"/>
                <a:gd name="connsiteY5" fmla="*/ 21095 h 144296"/>
                <a:gd name="connsiteX6" fmla="*/ 129267 w 158630"/>
                <a:gd name="connsiteY6" fmla="*/ 72 h 144296"/>
                <a:gd name="connsiteX7" fmla="*/ 95821 w 158630"/>
                <a:gd name="connsiteY7" fmla="*/ 24281 h 144296"/>
                <a:gd name="connsiteX8" fmla="*/ 61419 w 158630"/>
                <a:gd name="connsiteY8" fmla="*/ 72 h 144296"/>
                <a:gd name="connsiteX9" fmla="*/ 10135 w 158630"/>
                <a:gd name="connsiteY9" fmla="*/ 49127 h 144296"/>
                <a:gd name="connsiteX10" fmla="*/ 13957 w 158630"/>
                <a:gd name="connsiteY10" fmla="*/ 52312 h 144296"/>
                <a:gd name="connsiteX11" fmla="*/ 18098 w 158630"/>
                <a:gd name="connsiteY11" fmla="*/ 48808 h 144296"/>
                <a:gd name="connsiteX12" fmla="*/ 60782 w 158630"/>
                <a:gd name="connsiteY12" fmla="*/ 7080 h 144296"/>
                <a:gd name="connsiteX13" fmla="*/ 77983 w 158630"/>
                <a:gd name="connsiteY13" fmla="*/ 28422 h 144296"/>
                <a:gd name="connsiteX14" fmla="*/ 60782 w 158630"/>
                <a:gd name="connsiteY14" fmla="*/ 104233 h 144296"/>
                <a:gd name="connsiteX15" fmla="*/ 30521 w 158630"/>
                <a:gd name="connsiteY15" fmla="*/ 137361 h 144296"/>
                <a:gd name="connsiteX16" fmla="*/ 14595 w 158630"/>
                <a:gd name="connsiteY16" fmla="*/ 133220 h 144296"/>
                <a:gd name="connsiteX17" fmla="*/ 29566 w 158630"/>
                <a:gd name="connsiteY17" fmla="*/ 116019 h 144296"/>
                <a:gd name="connsiteX18" fmla="*/ 17780 w 158630"/>
                <a:gd name="connsiteY18" fmla="*/ 104870 h 144296"/>
                <a:gd name="connsiteX19" fmla="*/ 260 w 158630"/>
                <a:gd name="connsiteY19" fmla="*/ 123345 h 144296"/>
                <a:gd name="connsiteX20" fmla="*/ 30203 w 158630"/>
                <a:gd name="connsiteY20" fmla="*/ 144369 h 144296"/>
                <a:gd name="connsiteX21" fmla="*/ 63649 w 158630"/>
                <a:gd name="connsiteY21" fmla="*/ 120160 h 144296"/>
                <a:gd name="connsiteX22" fmla="*/ 98051 w 158630"/>
                <a:gd name="connsiteY22" fmla="*/ 144369 h 144296"/>
                <a:gd name="connsiteX23" fmla="*/ 149017 w 158630"/>
                <a:gd name="connsiteY23" fmla="*/ 95314 h 144296"/>
                <a:gd name="connsiteX24" fmla="*/ 145194 w 158630"/>
                <a:gd name="connsiteY24" fmla="*/ 92129 h 144296"/>
                <a:gd name="connsiteX25" fmla="*/ 141053 w 158630"/>
                <a:gd name="connsiteY25" fmla="*/ 95633 h 144296"/>
                <a:gd name="connsiteX26" fmla="*/ 98688 w 158630"/>
                <a:gd name="connsiteY26" fmla="*/ 137361 h 144296"/>
                <a:gd name="connsiteX27" fmla="*/ 81169 w 158630"/>
                <a:gd name="connsiteY27" fmla="*/ 116338 h 144296"/>
                <a:gd name="connsiteX28" fmla="*/ 86584 w 158630"/>
                <a:gd name="connsiteY28" fmla="*/ 88307 h 144296"/>
                <a:gd name="connsiteX29" fmla="*/ 97414 w 158630"/>
                <a:gd name="connsiteY29" fmla="*/ 44667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8630" h="144296">
                  <a:moveTo>
                    <a:pt x="97414" y="44667"/>
                  </a:moveTo>
                  <a:cubicBezTo>
                    <a:pt x="99325" y="36385"/>
                    <a:pt x="106651" y="7080"/>
                    <a:pt x="128949" y="7080"/>
                  </a:cubicBezTo>
                  <a:cubicBezTo>
                    <a:pt x="130542" y="7080"/>
                    <a:pt x="138186" y="7080"/>
                    <a:pt x="144876" y="11221"/>
                  </a:cubicBezTo>
                  <a:cubicBezTo>
                    <a:pt x="135957" y="12814"/>
                    <a:pt x="129586" y="20777"/>
                    <a:pt x="129586" y="28422"/>
                  </a:cubicBezTo>
                  <a:cubicBezTo>
                    <a:pt x="129586" y="33518"/>
                    <a:pt x="133090" y="39571"/>
                    <a:pt x="141690" y="39571"/>
                  </a:cubicBezTo>
                  <a:cubicBezTo>
                    <a:pt x="148698" y="39571"/>
                    <a:pt x="158891" y="33837"/>
                    <a:pt x="158891" y="21095"/>
                  </a:cubicBezTo>
                  <a:cubicBezTo>
                    <a:pt x="158891" y="4532"/>
                    <a:pt x="140098" y="72"/>
                    <a:pt x="129267" y="72"/>
                  </a:cubicBezTo>
                  <a:cubicBezTo>
                    <a:pt x="110792" y="72"/>
                    <a:pt x="99644" y="16955"/>
                    <a:pt x="95821" y="24281"/>
                  </a:cubicBezTo>
                  <a:cubicBezTo>
                    <a:pt x="87858" y="3257"/>
                    <a:pt x="70657" y="72"/>
                    <a:pt x="61419" y="72"/>
                  </a:cubicBezTo>
                  <a:cubicBezTo>
                    <a:pt x="28292" y="72"/>
                    <a:pt x="10135" y="41163"/>
                    <a:pt x="10135" y="49127"/>
                  </a:cubicBezTo>
                  <a:cubicBezTo>
                    <a:pt x="10135" y="52312"/>
                    <a:pt x="13320" y="52312"/>
                    <a:pt x="13957" y="52312"/>
                  </a:cubicBezTo>
                  <a:cubicBezTo>
                    <a:pt x="16506" y="52312"/>
                    <a:pt x="17461" y="51675"/>
                    <a:pt x="18098" y="48808"/>
                  </a:cubicBezTo>
                  <a:cubicBezTo>
                    <a:pt x="28929" y="15043"/>
                    <a:pt x="49952" y="7080"/>
                    <a:pt x="60782" y="7080"/>
                  </a:cubicBezTo>
                  <a:cubicBezTo>
                    <a:pt x="66834" y="7080"/>
                    <a:pt x="77983" y="9947"/>
                    <a:pt x="77983" y="28422"/>
                  </a:cubicBezTo>
                  <a:cubicBezTo>
                    <a:pt x="77983" y="38296"/>
                    <a:pt x="72568" y="59638"/>
                    <a:pt x="60782" y="104233"/>
                  </a:cubicBezTo>
                  <a:cubicBezTo>
                    <a:pt x="55686" y="123983"/>
                    <a:pt x="44537" y="137361"/>
                    <a:pt x="30521" y="137361"/>
                  </a:cubicBezTo>
                  <a:cubicBezTo>
                    <a:pt x="28610" y="137361"/>
                    <a:pt x="21284" y="137361"/>
                    <a:pt x="14595" y="133220"/>
                  </a:cubicBezTo>
                  <a:cubicBezTo>
                    <a:pt x="22558" y="131627"/>
                    <a:pt x="29566" y="124938"/>
                    <a:pt x="29566" y="116019"/>
                  </a:cubicBezTo>
                  <a:cubicBezTo>
                    <a:pt x="29566" y="107419"/>
                    <a:pt x="22558" y="104870"/>
                    <a:pt x="17780" y="104870"/>
                  </a:cubicBezTo>
                  <a:cubicBezTo>
                    <a:pt x="8224" y="104870"/>
                    <a:pt x="260" y="113152"/>
                    <a:pt x="260" y="123345"/>
                  </a:cubicBezTo>
                  <a:cubicBezTo>
                    <a:pt x="260" y="137998"/>
                    <a:pt x="16187" y="144369"/>
                    <a:pt x="30203" y="144369"/>
                  </a:cubicBezTo>
                  <a:cubicBezTo>
                    <a:pt x="51226" y="144369"/>
                    <a:pt x="62693" y="122071"/>
                    <a:pt x="63649" y="120160"/>
                  </a:cubicBezTo>
                  <a:cubicBezTo>
                    <a:pt x="67471" y="131946"/>
                    <a:pt x="78939" y="144369"/>
                    <a:pt x="98051" y="144369"/>
                  </a:cubicBezTo>
                  <a:cubicBezTo>
                    <a:pt x="130860" y="144369"/>
                    <a:pt x="149017" y="103278"/>
                    <a:pt x="149017" y="95314"/>
                  </a:cubicBezTo>
                  <a:cubicBezTo>
                    <a:pt x="149017" y="92129"/>
                    <a:pt x="146150" y="92129"/>
                    <a:pt x="145194" y="92129"/>
                  </a:cubicBezTo>
                  <a:cubicBezTo>
                    <a:pt x="142327" y="92129"/>
                    <a:pt x="141690" y="93403"/>
                    <a:pt x="141053" y="95633"/>
                  </a:cubicBezTo>
                  <a:cubicBezTo>
                    <a:pt x="130542" y="129716"/>
                    <a:pt x="108881" y="137361"/>
                    <a:pt x="98688" y="137361"/>
                  </a:cubicBezTo>
                  <a:cubicBezTo>
                    <a:pt x="86265" y="137361"/>
                    <a:pt x="81169" y="127168"/>
                    <a:pt x="81169" y="116338"/>
                  </a:cubicBezTo>
                  <a:cubicBezTo>
                    <a:pt x="81169" y="109330"/>
                    <a:pt x="83080" y="102322"/>
                    <a:pt x="86584" y="88307"/>
                  </a:cubicBezTo>
                  <a:lnTo>
                    <a:pt x="97414" y="4466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3" name="任意形状 2072">
              <a:extLst>
                <a:ext uri="{FF2B5EF4-FFF2-40B4-BE49-F238E27FC236}">
                  <a16:creationId xmlns:a16="http://schemas.microsoft.com/office/drawing/2014/main" id="{D28DE964-DC6E-0401-1CCB-406B4B531557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3780575" y="5735595"/>
              <a:ext cx="81162" cy="148055"/>
            </a:xfrm>
            <a:custGeom>
              <a:avLst/>
              <a:gdLst>
                <a:gd name="connsiteX0" fmla="*/ 50659 w 81162"/>
                <a:gd name="connsiteY0" fmla="*/ 6317 h 148055"/>
                <a:gd name="connsiteX1" fmla="*/ 43969 w 81162"/>
                <a:gd name="connsiteY1" fmla="*/ 74 h 148055"/>
                <a:gd name="connsiteX2" fmla="*/ 266 w 81162"/>
                <a:gd name="connsiteY2" fmla="*/ 14344 h 148055"/>
                <a:gd name="connsiteX3" fmla="*/ 266 w 81162"/>
                <a:gd name="connsiteY3" fmla="*/ 22371 h 148055"/>
                <a:gd name="connsiteX4" fmla="*/ 32598 w 81162"/>
                <a:gd name="connsiteY4" fmla="*/ 16128 h 148055"/>
                <a:gd name="connsiteX5" fmla="*/ 32598 w 81162"/>
                <a:gd name="connsiteY5" fmla="*/ 129845 h 148055"/>
                <a:gd name="connsiteX6" fmla="*/ 10300 w 81162"/>
                <a:gd name="connsiteY6" fmla="*/ 140102 h 148055"/>
                <a:gd name="connsiteX7" fmla="*/ 1827 w 81162"/>
                <a:gd name="connsiteY7" fmla="*/ 140102 h 148055"/>
                <a:gd name="connsiteX8" fmla="*/ 1827 w 81162"/>
                <a:gd name="connsiteY8" fmla="*/ 148129 h 148055"/>
                <a:gd name="connsiteX9" fmla="*/ 41517 w 81162"/>
                <a:gd name="connsiteY9" fmla="*/ 147237 h 148055"/>
                <a:gd name="connsiteX10" fmla="*/ 81429 w 81162"/>
                <a:gd name="connsiteY10" fmla="*/ 148129 h 148055"/>
                <a:gd name="connsiteX11" fmla="*/ 81429 w 81162"/>
                <a:gd name="connsiteY11" fmla="*/ 140102 h 148055"/>
                <a:gd name="connsiteX12" fmla="*/ 72956 w 81162"/>
                <a:gd name="connsiteY12" fmla="*/ 140102 h 148055"/>
                <a:gd name="connsiteX13" fmla="*/ 50659 w 81162"/>
                <a:gd name="connsiteY13" fmla="*/ 129845 h 148055"/>
                <a:gd name="connsiteX14" fmla="*/ 50659 w 81162"/>
                <a:gd name="connsiteY14" fmla="*/ 6317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162" h="148055">
                  <a:moveTo>
                    <a:pt x="50659" y="6317"/>
                  </a:moveTo>
                  <a:cubicBezTo>
                    <a:pt x="50659" y="297"/>
                    <a:pt x="50213" y="74"/>
                    <a:pt x="43969" y="74"/>
                  </a:cubicBezTo>
                  <a:cubicBezTo>
                    <a:pt x="29699" y="14121"/>
                    <a:pt x="9408" y="14344"/>
                    <a:pt x="266" y="14344"/>
                  </a:cubicBezTo>
                  <a:lnTo>
                    <a:pt x="266" y="22371"/>
                  </a:lnTo>
                  <a:cubicBezTo>
                    <a:pt x="5618" y="22371"/>
                    <a:pt x="20334" y="22371"/>
                    <a:pt x="32598" y="16128"/>
                  </a:cubicBezTo>
                  <a:lnTo>
                    <a:pt x="32598" y="129845"/>
                  </a:lnTo>
                  <a:cubicBezTo>
                    <a:pt x="32598" y="137203"/>
                    <a:pt x="32598" y="140102"/>
                    <a:pt x="10300" y="140102"/>
                  </a:cubicBezTo>
                  <a:lnTo>
                    <a:pt x="1827" y="140102"/>
                  </a:lnTo>
                  <a:lnTo>
                    <a:pt x="1827" y="148129"/>
                  </a:lnTo>
                  <a:cubicBezTo>
                    <a:pt x="5841" y="147906"/>
                    <a:pt x="33266" y="147237"/>
                    <a:pt x="41517" y="147237"/>
                  </a:cubicBezTo>
                  <a:cubicBezTo>
                    <a:pt x="48429" y="147237"/>
                    <a:pt x="76524" y="147906"/>
                    <a:pt x="81429" y="148129"/>
                  </a:cubicBezTo>
                  <a:lnTo>
                    <a:pt x="81429" y="140102"/>
                  </a:lnTo>
                  <a:lnTo>
                    <a:pt x="72956" y="140102"/>
                  </a:lnTo>
                  <a:cubicBezTo>
                    <a:pt x="50659" y="140102"/>
                    <a:pt x="50659" y="137203"/>
                    <a:pt x="50659" y="129845"/>
                  </a:cubicBezTo>
                  <a:lnTo>
                    <a:pt x="50659" y="631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4" name="任意形状 2073">
              <a:extLst>
                <a:ext uri="{FF2B5EF4-FFF2-40B4-BE49-F238E27FC236}">
                  <a16:creationId xmlns:a16="http://schemas.microsoft.com/office/drawing/2014/main" id="{CB6EF314-CFB7-95E5-B8BF-11D1B507435A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3896845" y="5728906"/>
              <a:ext cx="114609" cy="156974"/>
            </a:xfrm>
            <a:custGeom>
              <a:avLst/>
              <a:gdLst>
                <a:gd name="connsiteX0" fmla="*/ 113987 w 114609"/>
                <a:gd name="connsiteY0" fmla="*/ 6763 h 156974"/>
                <a:gd name="connsiteX1" fmla="*/ 114879 w 114609"/>
                <a:gd name="connsiteY1" fmla="*/ 3195 h 156974"/>
                <a:gd name="connsiteX2" fmla="*/ 111312 w 114609"/>
                <a:gd name="connsiteY2" fmla="*/ 74 h 156974"/>
                <a:gd name="connsiteX3" fmla="*/ 82771 w 114609"/>
                <a:gd name="connsiteY3" fmla="*/ 2303 h 156974"/>
                <a:gd name="connsiteX4" fmla="*/ 77865 w 114609"/>
                <a:gd name="connsiteY4" fmla="*/ 7432 h 156974"/>
                <a:gd name="connsiteX5" fmla="*/ 83663 w 114609"/>
                <a:gd name="connsiteY5" fmla="*/ 10553 h 156974"/>
                <a:gd name="connsiteX6" fmla="*/ 94366 w 114609"/>
                <a:gd name="connsiteY6" fmla="*/ 13898 h 156974"/>
                <a:gd name="connsiteX7" fmla="*/ 93474 w 114609"/>
                <a:gd name="connsiteY7" fmla="*/ 18804 h 156974"/>
                <a:gd name="connsiteX8" fmla="*/ 80764 w 114609"/>
                <a:gd name="connsiteY8" fmla="*/ 69642 h 156974"/>
                <a:gd name="connsiteX9" fmla="*/ 57798 w 114609"/>
                <a:gd name="connsiteY9" fmla="*/ 56486 h 156974"/>
                <a:gd name="connsiteX10" fmla="*/ 270 w 114609"/>
                <a:gd name="connsiteY10" fmla="*/ 120034 h 156974"/>
                <a:gd name="connsiteX11" fmla="*/ 33939 w 114609"/>
                <a:gd name="connsiteY11" fmla="*/ 157048 h 156974"/>
                <a:gd name="connsiteX12" fmla="*/ 65602 w 114609"/>
                <a:gd name="connsiteY12" fmla="*/ 141440 h 156974"/>
                <a:gd name="connsiteX13" fmla="*/ 88568 w 114609"/>
                <a:gd name="connsiteY13" fmla="*/ 157048 h 156974"/>
                <a:gd name="connsiteX14" fmla="*/ 106183 w 114609"/>
                <a:gd name="connsiteY14" fmla="*/ 145230 h 156974"/>
                <a:gd name="connsiteX15" fmla="*/ 113987 w 114609"/>
                <a:gd name="connsiteY15" fmla="*/ 122933 h 156974"/>
                <a:gd name="connsiteX16" fmla="*/ 110420 w 114609"/>
                <a:gd name="connsiteY16" fmla="*/ 120034 h 156974"/>
                <a:gd name="connsiteX17" fmla="*/ 105514 w 114609"/>
                <a:gd name="connsiteY17" fmla="*/ 126946 h 156974"/>
                <a:gd name="connsiteX18" fmla="*/ 89237 w 114609"/>
                <a:gd name="connsiteY18" fmla="*/ 150805 h 156974"/>
                <a:gd name="connsiteX19" fmla="*/ 81879 w 114609"/>
                <a:gd name="connsiteY19" fmla="*/ 139879 h 156974"/>
                <a:gd name="connsiteX20" fmla="*/ 82994 w 114609"/>
                <a:gd name="connsiteY20" fmla="*/ 130737 h 156974"/>
                <a:gd name="connsiteX21" fmla="*/ 113987 w 114609"/>
                <a:gd name="connsiteY21" fmla="*/ 6763 h 156974"/>
                <a:gd name="connsiteX22" fmla="*/ 66494 w 114609"/>
                <a:gd name="connsiteY22" fmla="*/ 126946 h 156974"/>
                <a:gd name="connsiteX23" fmla="*/ 55122 w 114609"/>
                <a:gd name="connsiteY23" fmla="*/ 141886 h 156974"/>
                <a:gd name="connsiteX24" fmla="*/ 34608 w 114609"/>
                <a:gd name="connsiteY24" fmla="*/ 150805 h 156974"/>
                <a:gd name="connsiteX25" fmla="*/ 18331 w 114609"/>
                <a:gd name="connsiteY25" fmla="*/ 129176 h 156974"/>
                <a:gd name="connsiteX26" fmla="*/ 29926 w 114609"/>
                <a:gd name="connsiteY26" fmla="*/ 83912 h 156974"/>
                <a:gd name="connsiteX27" fmla="*/ 57798 w 114609"/>
                <a:gd name="connsiteY27" fmla="*/ 62730 h 156974"/>
                <a:gd name="connsiteX28" fmla="*/ 77642 w 114609"/>
                <a:gd name="connsiteY28" fmla="*/ 82128 h 156974"/>
                <a:gd name="connsiteX29" fmla="*/ 76974 w 114609"/>
                <a:gd name="connsiteY29" fmla="*/ 85250 h 156974"/>
                <a:gd name="connsiteX30" fmla="*/ 66494 w 114609"/>
                <a:gd name="connsiteY30" fmla="*/ 126946 h 1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4609" h="156974">
                  <a:moveTo>
                    <a:pt x="113987" y="6763"/>
                  </a:moveTo>
                  <a:cubicBezTo>
                    <a:pt x="114210" y="6317"/>
                    <a:pt x="114879" y="3418"/>
                    <a:pt x="114879" y="3195"/>
                  </a:cubicBezTo>
                  <a:cubicBezTo>
                    <a:pt x="114879" y="2080"/>
                    <a:pt x="113987" y="74"/>
                    <a:pt x="111312" y="74"/>
                  </a:cubicBezTo>
                  <a:cubicBezTo>
                    <a:pt x="106852" y="74"/>
                    <a:pt x="88345" y="1857"/>
                    <a:pt x="82771" y="2303"/>
                  </a:cubicBezTo>
                  <a:cubicBezTo>
                    <a:pt x="80987" y="2526"/>
                    <a:pt x="77865" y="2749"/>
                    <a:pt x="77865" y="7432"/>
                  </a:cubicBezTo>
                  <a:cubicBezTo>
                    <a:pt x="77865" y="10553"/>
                    <a:pt x="80987" y="10553"/>
                    <a:pt x="83663" y="10553"/>
                  </a:cubicBezTo>
                  <a:cubicBezTo>
                    <a:pt x="94366" y="10553"/>
                    <a:pt x="94366" y="12114"/>
                    <a:pt x="94366" y="13898"/>
                  </a:cubicBezTo>
                  <a:cubicBezTo>
                    <a:pt x="94366" y="15459"/>
                    <a:pt x="93920" y="16797"/>
                    <a:pt x="93474" y="18804"/>
                  </a:cubicBezTo>
                  <a:lnTo>
                    <a:pt x="80764" y="69642"/>
                  </a:lnTo>
                  <a:cubicBezTo>
                    <a:pt x="76082" y="62284"/>
                    <a:pt x="68500" y="56486"/>
                    <a:pt x="57798" y="56486"/>
                  </a:cubicBezTo>
                  <a:cubicBezTo>
                    <a:pt x="29257" y="56486"/>
                    <a:pt x="270" y="87926"/>
                    <a:pt x="270" y="120034"/>
                  </a:cubicBezTo>
                  <a:cubicBezTo>
                    <a:pt x="270" y="141663"/>
                    <a:pt x="14764" y="157048"/>
                    <a:pt x="33939" y="157048"/>
                  </a:cubicBezTo>
                  <a:cubicBezTo>
                    <a:pt x="45980" y="157048"/>
                    <a:pt x="56683" y="150136"/>
                    <a:pt x="65602" y="141440"/>
                  </a:cubicBezTo>
                  <a:cubicBezTo>
                    <a:pt x="69838" y="154818"/>
                    <a:pt x="82771" y="157048"/>
                    <a:pt x="88568" y="157048"/>
                  </a:cubicBezTo>
                  <a:cubicBezTo>
                    <a:pt x="96595" y="157048"/>
                    <a:pt x="102170" y="152143"/>
                    <a:pt x="106183" y="145230"/>
                  </a:cubicBezTo>
                  <a:cubicBezTo>
                    <a:pt x="111089" y="136534"/>
                    <a:pt x="113987" y="123825"/>
                    <a:pt x="113987" y="122933"/>
                  </a:cubicBezTo>
                  <a:cubicBezTo>
                    <a:pt x="113987" y="120034"/>
                    <a:pt x="111089" y="120034"/>
                    <a:pt x="110420" y="120034"/>
                  </a:cubicBezTo>
                  <a:cubicBezTo>
                    <a:pt x="107298" y="120034"/>
                    <a:pt x="107075" y="120926"/>
                    <a:pt x="105514" y="126946"/>
                  </a:cubicBezTo>
                  <a:cubicBezTo>
                    <a:pt x="102839" y="137649"/>
                    <a:pt x="98602" y="150805"/>
                    <a:pt x="89237" y="150805"/>
                  </a:cubicBezTo>
                  <a:cubicBezTo>
                    <a:pt x="83440" y="150805"/>
                    <a:pt x="81879" y="145899"/>
                    <a:pt x="81879" y="139879"/>
                  </a:cubicBezTo>
                  <a:cubicBezTo>
                    <a:pt x="81879" y="135642"/>
                    <a:pt x="82325" y="133636"/>
                    <a:pt x="82994" y="130737"/>
                  </a:cubicBezTo>
                  <a:lnTo>
                    <a:pt x="113987" y="6763"/>
                  </a:lnTo>
                  <a:close/>
                  <a:moveTo>
                    <a:pt x="66494" y="126946"/>
                  </a:moveTo>
                  <a:cubicBezTo>
                    <a:pt x="64933" y="133190"/>
                    <a:pt x="60027" y="137649"/>
                    <a:pt x="55122" y="141886"/>
                  </a:cubicBezTo>
                  <a:cubicBezTo>
                    <a:pt x="53115" y="143670"/>
                    <a:pt x="44196" y="150805"/>
                    <a:pt x="34608" y="150805"/>
                  </a:cubicBezTo>
                  <a:cubicBezTo>
                    <a:pt x="26358" y="150805"/>
                    <a:pt x="18331" y="145007"/>
                    <a:pt x="18331" y="129176"/>
                  </a:cubicBezTo>
                  <a:cubicBezTo>
                    <a:pt x="18331" y="117358"/>
                    <a:pt x="24797" y="92831"/>
                    <a:pt x="29926" y="83912"/>
                  </a:cubicBezTo>
                  <a:cubicBezTo>
                    <a:pt x="40183" y="66074"/>
                    <a:pt x="51554" y="62730"/>
                    <a:pt x="57798" y="62730"/>
                  </a:cubicBezTo>
                  <a:cubicBezTo>
                    <a:pt x="73406" y="62730"/>
                    <a:pt x="77642" y="79676"/>
                    <a:pt x="77642" y="82128"/>
                  </a:cubicBezTo>
                  <a:cubicBezTo>
                    <a:pt x="77642" y="83020"/>
                    <a:pt x="77196" y="84581"/>
                    <a:pt x="76974" y="85250"/>
                  </a:cubicBezTo>
                  <a:lnTo>
                    <a:pt x="66494" y="126946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5" name="任意形状 2074">
              <a:extLst>
                <a:ext uri="{FF2B5EF4-FFF2-40B4-BE49-F238E27FC236}">
                  <a16:creationId xmlns:a16="http://schemas.microsoft.com/office/drawing/2014/main" id="{44B90488-D225-5D07-DE3C-F83C6597834B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1981558" y="6077321"/>
              <a:ext cx="158630" cy="144296"/>
            </a:xfrm>
            <a:custGeom>
              <a:avLst/>
              <a:gdLst>
                <a:gd name="connsiteX0" fmla="*/ 97364 w 158630"/>
                <a:gd name="connsiteY0" fmla="*/ 44679 h 144296"/>
                <a:gd name="connsiteX1" fmla="*/ 128899 w 158630"/>
                <a:gd name="connsiteY1" fmla="*/ 7092 h 144296"/>
                <a:gd name="connsiteX2" fmla="*/ 144826 w 158630"/>
                <a:gd name="connsiteY2" fmla="*/ 11233 h 144296"/>
                <a:gd name="connsiteX3" fmla="*/ 129536 w 158630"/>
                <a:gd name="connsiteY3" fmla="*/ 28434 h 144296"/>
                <a:gd name="connsiteX4" fmla="*/ 141640 w 158630"/>
                <a:gd name="connsiteY4" fmla="*/ 39583 h 144296"/>
                <a:gd name="connsiteX5" fmla="*/ 158841 w 158630"/>
                <a:gd name="connsiteY5" fmla="*/ 21107 h 144296"/>
                <a:gd name="connsiteX6" fmla="*/ 129217 w 158630"/>
                <a:gd name="connsiteY6" fmla="*/ 84 h 144296"/>
                <a:gd name="connsiteX7" fmla="*/ 95771 w 158630"/>
                <a:gd name="connsiteY7" fmla="*/ 24293 h 144296"/>
                <a:gd name="connsiteX8" fmla="*/ 61369 w 158630"/>
                <a:gd name="connsiteY8" fmla="*/ 84 h 144296"/>
                <a:gd name="connsiteX9" fmla="*/ 10085 w 158630"/>
                <a:gd name="connsiteY9" fmla="*/ 49139 h 144296"/>
                <a:gd name="connsiteX10" fmla="*/ 13907 w 158630"/>
                <a:gd name="connsiteY10" fmla="*/ 52324 h 144296"/>
                <a:gd name="connsiteX11" fmla="*/ 18048 w 158630"/>
                <a:gd name="connsiteY11" fmla="*/ 48820 h 144296"/>
                <a:gd name="connsiteX12" fmla="*/ 60732 w 158630"/>
                <a:gd name="connsiteY12" fmla="*/ 7092 h 144296"/>
                <a:gd name="connsiteX13" fmla="*/ 77933 w 158630"/>
                <a:gd name="connsiteY13" fmla="*/ 28434 h 144296"/>
                <a:gd name="connsiteX14" fmla="*/ 60732 w 158630"/>
                <a:gd name="connsiteY14" fmla="*/ 104245 h 144296"/>
                <a:gd name="connsiteX15" fmla="*/ 30471 w 158630"/>
                <a:gd name="connsiteY15" fmla="*/ 137373 h 144296"/>
                <a:gd name="connsiteX16" fmla="*/ 14544 w 158630"/>
                <a:gd name="connsiteY16" fmla="*/ 133232 h 144296"/>
                <a:gd name="connsiteX17" fmla="*/ 29516 w 158630"/>
                <a:gd name="connsiteY17" fmla="*/ 116031 h 144296"/>
                <a:gd name="connsiteX18" fmla="*/ 17730 w 158630"/>
                <a:gd name="connsiteY18" fmla="*/ 104882 h 144296"/>
                <a:gd name="connsiteX19" fmla="*/ 210 w 158630"/>
                <a:gd name="connsiteY19" fmla="*/ 123357 h 144296"/>
                <a:gd name="connsiteX20" fmla="*/ 30153 w 158630"/>
                <a:gd name="connsiteY20" fmla="*/ 144381 h 144296"/>
                <a:gd name="connsiteX21" fmla="*/ 63599 w 158630"/>
                <a:gd name="connsiteY21" fmla="*/ 120172 h 144296"/>
                <a:gd name="connsiteX22" fmla="*/ 98001 w 158630"/>
                <a:gd name="connsiteY22" fmla="*/ 144381 h 144296"/>
                <a:gd name="connsiteX23" fmla="*/ 148967 w 158630"/>
                <a:gd name="connsiteY23" fmla="*/ 95326 h 144296"/>
                <a:gd name="connsiteX24" fmla="*/ 145144 w 158630"/>
                <a:gd name="connsiteY24" fmla="*/ 92141 h 144296"/>
                <a:gd name="connsiteX25" fmla="*/ 141003 w 158630"/>
                <a:gd name="connsiteY25" fmla="*/ 95645 h 144296"/>
                <a:gd name="connsiteX26" fmla="*/ 98638 w 158630"/>
                <a:gd name="connsiteY26" fmla="*/ 137373 h 144296"/>
                <a:gd name="connsiteX27" fmla="*/ 81118 w 158630"/>
                <a:gd name="connsiteY27" fmla="*/ 116350 h 144296"/>
                <a:gd name="connsiteX28" fmla="*/ 86534 w 158630"/>
                <a:gd name="connsiteY28" fmla="*/ 88318 h 144296"/>
                <a:gd name="connsiteX29" fmla="*/ 97364 w 158630"/>
                <a:gd name="connsiteY29" fmla="*/ 44679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8630" h="144296">
                  <a:moveTo>
                    <a:pt x="97364" y="44679"/>
                  </a:moveTo>
                  <a:cubicBezTo>
                    <a:pt x="99275" y="36397"/>
                    <a:pt x="106601" y="7092"/>
                    <a:pt x="128899" y="7092"/>
                  </a:cubicBezTo>
                  <a:cubicBezTo>
                    <a:pt x="130491" y="7092"/>
                    <a:pt x="138136" y="7092"/>
                    <a:pt x="144826" y="11233"/>
                  </a:cubicBezTo>
                  <a:cubicBezTo>
                    <a:pt x="135907" y="12826"/>
                    <a:pt x="129536" y="20789"/>
                    <a:pt x="129536" y="28434"/>
                  </a:cubicBezTo>
                  <a:cubicBezTo>
                    <a:pt x="129536" y="33530"/>
                    <a:pt x="133040" y="39583"/>
                    <a:pt x="141640" y="39583"/>
                  </a:cubicBezTo>
                  <a:cubicBezTo>
                    <a:pt x="148648" y="39583"/>
                    <a:pt x="158841" y="33849"/>
                    <a:pt x="158841" y="21107"/>
                  </a:cubicBezTo>
                  <a:cubicBezTo>
                    <a:pt x="158841" y="4544"/>
                    <a:pt x="140048" y="84"/>
                    <a:pt x="129217" y="84"/>
                  </a:cubicBezTo>
                  <a:cubicBezTo>
                    <a:pt x="110742" y="84"/>
                    <a:pt x="99593" y="16966"/>
                    <a:pt x="95771" y="24293"/>
                  </a:cubicBezTo>
                  <a:cubicBezTo>
                    <a:pt x="87808" y="3269"/>
                    <a:pt x="70607" y="84"/>
                    <a:pt x="61369" y="84"/>
                  </a:cubicBezTo>
                  <a:cubicBezTo>
                    <a:pt x="28241" y="84"/>
                    <a:pt x="10085" y="41175"/>
                    <a:pt x="10085" y="49139"/>
                  </a:cubicBezTo>
                  <a:cubicBezTo>
                    <a:pt x="10085" y="52324"/>
                    <a:pt x="13270" y="52324"/>
                    <a:pt x="13907" y="52324"/>
                  </a:cubicBezTo>
                  <a:cubicBezTo>
                    <a:pt x="16456" y="52324"/>
                    <a:pt x="17411" y="51687"/>
                    <a:pt x="18048" y="48820"/>
                  </a:cubicBezTo>
                  <a:cubicBezTo>
                    <a:pt x="28879" y="15055"/>
                    <a:pt x="49902" y="7092"/>
                    <a:pt x="60732" y="7092"/>
                  </a:cubicBezTo>
                  <a:cubicBezTo>
                    <a:pt x="66784" y="7092"/>
                    <a:pt x="77933" y="9959"/>
                    <a:pt x="77933" y="28434"/>
                  </a:cubicBezTo>
                  <a:cubicBezTo>
                    <a:pt x="77933" y="38308"/>
                    <a:pt x="72518" y="59650"/>
                    <a:pt x="60732" y="104245"/>
                  </a:cubicBezTo>
                  <a:cubicBezTo>
                    <a:pt x="55636" y="123994"/>
                    <a:pt x="44487" y="137373"/>
                    <a:pt x="30471" y="137373"/>
                  </a:cubicBezTo>
                  <a:cubicBezTo>
                    <a:pt x="28560" y="137373"/>
                    <a:pt x="21234" y="137373"/>
                    <a:pt x="14544" y="133232"/>
                  </a:cubicBezTo>
                  <a:cubicBezTo>
                    <a:pt x="22508" y="131639"/>
                    <a:pt x="29516" y="124950"/>
                    <a:pt x="29516" y="116031"/>
                  </a:cubicBezTo>
                  <a:cubicBezTo>
                    <a:pt x="29516" y="107431"/>
                    <a:pt x="22508" y="104882"/>
                    <a:pt x="17730" y="104882"/>
                  </a:cubicBezTo>
                  <a:cubicBezTo>
                    <a:pt x="8174" y="104882"/>
                    <a:pt x="210" y="113164"/>
                    <a:pt x="210" y="123357"/>
                  </a:cubicBezTo>
                  <a:cubicBezTo>
                    <a:pt x="210" y="138010"/>
                    <a:pt x="16137" y="144381"/>
                    <a:pt x="30153" y="144381"/>
                  </a:cubicBezTo>
                  <a:cubicBezTo>
                    <a:pt x="51176" y="144381"/>
                    <a:pt x="62643" y="122083"/>
                    <a:pt x="63599" y="120172"/>
                  </a:cubicBezTo>
                  <a:cubicBezTo>
                    <a:pt x="67421" y="131958"/>
                    <a:pt x="78889" y="144381"/>
                    <a:pt x="98001" y="144381"/>
                  </a:cubicBezTo>
                  <a:cubicBezTo>
                    <a:pt x="130810" y="144381"/>
                    <a:pt x="148967" y="103290"/>
                    <a:pt x="148967" y="95326"/>
                  </a:cubicBezTo>
                  <a:cubicBezTo>
                    <a:pt x="148967" y="92141"/>
                    <a:pt x="146100" y="92141"/>
                    <a:pt x="145144" y="92141"/>
                  </a:cubicBezTo>
                  <a:cubicBezTo>
                    <a:pt x="142277" y="92141"/>
                    <a:pt x="141640" y="93415"/>
                    <a:pt x="141003" y="95645"/>
                  </a:cubicBezTo>
                  <a:cubicBezTo>
                    <a:pt x="130491" y="129728"/>
                    <a:pt x="108831" y="137373"/>
                    <a:pt x="98638" y="137373"/>
                  </a:cubicBezTo>
                  <a:cubicBezTo>
                    <a:pt x="86215" y="137373"/>
                    <a:pt x="81118" y="127180"/>
                    <a:pt x="81118" y="116350"/>
                  </a:cubicBezTo>
                  <a:cubicBezTo>
                    <a:pt x="81118" y="109342"/>
                    <a:pt x="83030" y="102334"/>
                    <a:pt x="86534" y="88318"/>
                  </a:cubicBezTo>
                  <a:lnTo>
                    <a:pt x="97364" y="44679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6" name="任意形状 2075">
              <a:extLst>
                <a:ext uri="{FF2B5EF4-FFF2-40B4-BE49-F238E27FC236}">
                  <a16:creationId xmlns:a16="http://schemas.microsoft.com/office/drawing/2014/main" id="{D33A0975-CE44-3958-95F0-ACB936E444E9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2168420" y="6117838"/>
              <a:ext cx="98554" cy="148055"/>
            </a:xfrm>
            <a:custGeom>
              <a:avLst/>
              <a:gdLst>
                <a:gd name="connsiteX0" fmla="*/ 98771 w 98554"/>
                <a:gd name="connsiteY0" fmla="*/ 107560 h 148055"/>
                <a:gd name="connsiteX1" fmla="*/ 91190 w 98554"/>
                <a:gd name="connsiteY1" fmla="*/ 107560 h 148055"/>
                <a:gd name="connsiteX2" fmla="*/ 85393 w 98554"/>
                <a:gd name="connsiteY2" fmla="*/ 127850 h 148055"/>
                <a:gd name="connsiteX3" fmla="*/ 63318 w 98554"/>
                <a:gd name="connsiteY3" fmla="*/ 129188 h 148055"/>
                <a:gd name="connsiteX4" fmla="*/ 22291 w 98554"/>
                <a:gd name="connsiteY4" fmla="*/ 129188 h 148055"/>
                <a:gd name="connsiteX5" fmla="*/ 66886 w 98554"/>
                <a:gd name="connsiteY5" fmla="*/ 91728 h 148055"/>
                <a:gd name="connsiteX6" fmla="*/ 98771 w 98554"/>
                <a:gd name="connsiteY6" fmla="*/ 43566 h 148055"/>
                <a:gd name="connsiteX7" fmla="*/ 46595 w 98554"/>
                <a:gd name="connsiteY7" fmla="*/ 86 h 148055"/>
                <a:gd name="connsiteX8" fmla="*/ 216 w 98554"/>
                <a:gd name="connsiteY8" fmla="*/ 39998 h 148055"/>
                <a:gd name="connsiteX9" fmla="*/ 12034 w 98554"/>
                <a:gd name="connsiteY9" fmla="*/ 52485 h 148055"/>
                <a:gd name="connsiteX10" fmla="*/ 23851 w 98554"/>
                <a:gd name="connsiteY10" fmla="*/ 40667 h 148055"/>
                <a:gd name="connsiteX11" fmla="*/ 10696 w 98554"/>
                <a:gd name="connsiteY11" fmla="*/ 28849 h 148055"/>
                <a:gd name="connsiteX12" fmla="*/ 43250 w 98554"/>
                <a:gd name="connsiteY12" fmla="*/ 8113 h 148055"/>
                <a:gd name="connsiteX13" fmla="*/ 77142 w 98554"/>
                <a:gd name="connsiteY13" fmla="*/ 43566 h 148055"/>
                <a:gd name="connsiteX14" fmla="*/ 56183 w 98554"/>
                <a:gd name="connsiteY14" fmla="*/ 86377 h 148055"/>
                <a:gd name="connsiteX15" fmla="*/ 2446 w 98554"/>
                <a:gd name="connsiteY15" fmla="*/ 139445 h 148055"/>
                <a:gd name="connsiteX16" fmla="*/ 216 w 98554"/>
                <a:gd name="connsiteY16" fmla="*/ 148141 h 148055"/>
                <a:gd name="connsiteX17" fmla="*/ 92082 w 98554"/>
                <a:gd name="connsiteY17" fmla="*/ 148141 h 148055"/>
                <a:gd name="connsiteX18" fmla="*/ 98771 w 98554"/>
                <a:gd name="connsiteY18" fmla="*/ 107560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8554" h="148055">
                  <a:moveTo>
                    <a:pt x="98771" y="107560"/>
                  </a:moveTo>
                  <a:lnTo>
                    <a:pt x="91190" y="107560"/>
                  </a:lnTo>
                  <a:cubicBezTo>
                    <a:pt x="90521" y="112465"/>
                    <a:pt x="88291" y="125620"/>
                    <a:pt x="85393" y="127850"/>
                  </a:cubicBezTo>
                  <a:cubicBezTo>
                    <a:pt x="83609" y="129188"/>
                    <a:pt x="66440" y="129188"/>
                    <a:pt x="63318" y="129188"/>
                  </a:cubicBezTo>
                  <a:lnTo>
                    <a:pt x="22291" y="129188"/>
                  </a:lnTo>
                  <a:cubicBezTo>
                    <a:pt x="45703" y="108451"/>
                    <a:pt x="53507" y="102208"/>
                    <a:pt x="66886" y="91728"/>
                  </a:cubicBezTo>
                  <a:cubicBezTo>
                    <a:pt x="83386" y="78573"/>
                    <a:pt x="98771" y="64748"/>
                    <a:pt x="98771" y="43566"/>
                  </a:cubicBezTo>
                  <a:cubicBezTo>
                    <a:pt x="98771" y="16586"/>
                    <a:pt x="75136" y="86"/>
                    <a:pt x="46595" y="86"/>
                  </a:cubicBezTo>
                  <a:cubicBezTo>
                    <a:pt x="18946" y="86"/>
                    <a:pt x="216" y="19484"/>
                    <a:pt x="216" y="39998"/>
                  </a:cubicBezTo>
                  <a:cubicBezTo>
                    <a:pt x="216" y="51370"/>
                    <a:pt x="9804" y="52485"/>
                    <a:pt x="12034" y="52485"/>
                  </a:cubicBezTo>
                  <a:cubicBezTo>
                    <a:pt x="17385" y="52485"/>
                    <a:pt x="23851" y="48694"/>
                    <a:pt x="23851" y="40667"/>
                  </a:cubicBezTo>
                  <a:cubicBezTo>
                    <a:pt x="23851" y="36653"/>
                    <a:pt x="22291" y="28849"/>
                    <a:pt x="10696" y="28849"/>
                  </a:cubicBezTo>
                  <a:cubicBezTo>
                    <a:pt x="17608" y="13018"/>
                    <a:pt x="32770" y="8113"/>
                    <a:pt x="43250" y="8113"/>
                  </a:cubicBezTo>
                  <a:cubicBezTo>
                    <a:pt x="65548" y="8113"/>
                    <a:pt x="77142" y="25505"/>
                    <a:pt x="77142" y="43566"/>
                  </a:cubicBezTo>
                  <a:cubicBezTo>
                    <a:pt x="77142" y="62965"/>
                    <a:pt x="63318" y="78350"/>
                    <a:pt x="56183" y="86377"/>
                  </a:cubicBezTo>
                  <a:lnTo>
                    <a:pt x="2446" y="139445"/>
                  </a:lnTo>
                  <a:cubicBezTo>
                    <a:pt x="216" y="141452"/>
                    <a:pt x="216" y="141898"/>
                    <a:pt x="216" y="148141"/>
                  </a:cubicBezTo>
                  <a:lnTo>
                    <a:pt x="92082" y="148141"/>
                  </a:lnTo>
                  <a:lnTo>
                    <a:pt x="98771" y="10756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7" name="任意形状 2076">
              <a:extLst>
                <a:ext uri="{FF2B5EF4-FFF2-40B4-BE49-F238E27FC236}">
                  <a16:creationId xmlns:a16="http://schemas.microsoft.com/office/drawing/2014/main" id="{11F1735B-5655-5332-516D-FF48AB6DBBAB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2305649" y="6117838"/>
              <a:ext cx="81162" cy="148055"/>
            </a:xfrm>
            <a:custGeom>
              <a:avLst/>
              <a:gdLst>
                <a:gd name="connsiteX0" fmla="*/ 50612 w 81162"/>
                <a:gd name="connsiteY0" fmla="*/ 6329 h 148055"/>
                <a:gd name="connsiteX1" fmla="*/ 43923 w 81162"/>
                <a:gd name="connsiteY1" fmla="*/ 86 h 148055"/>
                <a:gd name="connsiteX2" fmla="*/ 220 w 81162"/>
                <a:gd name="connsiteY2" fmla="*/ 14356 h 148055"/>
                <a:gd name="connsiteX3" fmla="*/ 220 w 81162"/>
                <a:gd name="connsiteY3" fmla="*/ 22383 h 148055"/>
                <a:gd name="connsiteX4" fmla="*/ 32551 w 81162"/>
                <a:gd name="connsiteY4" fmla="*/ 16140 h 148055"/>
                <a:gd name="connsiteX5" fmla="*/ 32551 w 81162"/>
                <a:gd name="connsiteY5" fmla="*/ 129857 h 148055"/>
                <a:gd name="connsiteX6" fmla="*/ 10254 w 81162"/>
                <a:gd name="connsiteY6" fmla="*/ 140114 h 148055"/>
                <a:gd name="connsiteX7" fmla="*/ 1781 w 81162"/>
                <a:gd name="connsiteY7" fmla="*/ 140114 h 148055"/>
                <a:gd name="connsiteX8" fmla="*/ 1781 w 81162"/>
                <a:gd name="connsiteY8" fmla="*/ 148141 h 148055"/>
                <a:gd name="connsiteX9" fmla="*/ 41470 w 81162"/>
                <a:gd name="connsiteY9" fmla="*/ 147249 h 148055"/>
                <a:gd name="connsiteX10" fmla="*/ 81383 w 81162"/>
                <a:gd name="connsiteY10" fmla="*/ 148141 h 148055"/>
                <a:gd name="connsiteX11" fmla="*/ 81383 w 81162"/>
                <a:gd name="connsiteY11" fmla="*/ 140114 h 148055"/>
                <a:gd name="connsiteX12" fmla="*/ 72910 w 81162"/>
                <a:gd name="connsiteY12" fmla="*/ 140114 h 148055"/>
                <a:gd name="connsiteX13" fmla="*/ 50612 w 81162"/>
                <a:gd name="connsiteY13" fmla="*/ 129857 h 148055"/>
                <a:gd name="connsiteX14" fmla="*/ 50612 w 81162"/>
                <a:gd name="connsiteY14" fmla="*/ 6329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162" h="148055">
                  <a:moveTo>
                    <a:pt x="50612" y="6329"/>
                  </a:moveTo>
                  <a:cubicBezTo>
                    <a:pt x="50612" y="309"/>
                    <a:pt x="50166" y="86"/>
                    <a:pt x="43923" y="86"/>
                  </a:cubicBezTo>
                  <a:cubicBezTo>
                    <a:pt x="29653" y="14133"/>
                    <a:pt x="9362" y="14356"/>
                    <a:pt x="220" y="14356"/>
                  </a:cubicBezTo>
                  <a:lnTo>
                    <a:pt x="220" y="22383"/>
                  </a:lnTo>
                  <a:cubicBezTo>
                    <a:pt x="5571" y="22383"/>
                    <a:pt x="20288" y="22383"/>
                    <a:pt x="32551" y="16140"/>
                  </a:cubicBezTo>
                  <a:lnTo>
                    <a:pt x="32551" y="129857"/>
                  </a:lnTo>
                  <a:cubicBezTo>
                    <a:pt x="32551" y="137215"/>
                    <a:pt x="32551" y="140114"/>
                    <a:pt x="10254" y="140114"/>
                  </a:cubicBezTo>
                  <a:lnTo>
                    <a:pt x="1781" y="140114"/>
                  </a:lnTo>
                  <a:lnTo>
                    <a:pt x="1781" y="148141"/>
                  </a:lnTo>
                  <a:cubicBezTo>
                    <a:pt x="5794" y="147918"/>
                    <a:pt x="33220" y="147249"/>
                    <a:pt x="41470" y="147249"/>
                  </a:cubicBezTo>
                  <a:cubicBezTo>
                    <a:pt x="48383" y="147249"/>
                    <a:pt x="76477" y="147918"/>
                    <a:pt x="81383" y="148141"/>
                  </a:cubicBezTo>
                  <a:lnTo>
                    <a:pt x="81383" y="140114"/>
                  </a:lnTo>
                  <a:lnTo>
                    <a:pt x="72910" y="140114"/>
                  </a:lnTo>
                  <a:cubicBezTo>
                    <a:pt x="50612" y="140114"/>
                    <a:pt x="50612" y="137215"/>
                    <a:pt x="50612" y="129857"/>
                  </a:cubicBezTo>
                  <a:lnTo>
                    <a:pt x="50612" y="6329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8" name="任意形状 2077">
              <a:extLst>
                <a:ext uri="{FF2B5EF4-FFF2-40B4-BE49-F238E27FC236}">
                  <a16:creationId xmlns:a16="http://schemas.microsoft.com/office/drawing/2014/main" id="{80FCDDA0-BE4D-FD44-BE30-97454EACB55F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2782507" y="6077321"/>
              <a:ext cx="158630" cy="144296"/>
            </a:xfrm>
            <a:custGeom>
              <a:avLst/>
              <a:gdLst>
                <a:gd name="connsiteX0" fmla="*/ 97389 w 158630"/>
                <a:gd name="connsiteY0" fmla="*/ 44679 h 144296"/>
                <a:gd name="connsiteX1" fmla="*/ 128924 w 158630"/>
                <a:gd name="connsiteY1" fmla="*/ 7092 h 144296"/>
                <a:gd name="connsiteX2" fmla="*/ 144851 w 158630"/>
                <a:gd name="connsiteY2" fmla="*/ 11233 h 144296"/>
                <a:gd name="connsiteX3" fmla="*/ 129561 w 158630"/>
                <a:gd name="connsiteY3" fmla="*/ 28434 h 144296"/>
                <a:gd name="connsiteX4" fmla="*/ 141665 w 158630"/>
                <a:gd name="connsiteY4" fmla="*/ 39583 h 144296"/>
                <a:gd name="connsiteX5" fmla="*/ 158866 w 158630"/>
                <a:gd name="connsiteY5" fmla="*/ 21107 h 144296"/>
                <a:gd name="connsiteX6" fmla="*/ 129242 w 158630"/>
                <a:gd name="connsiteY6" fmla="*/ 84 h 144296"/>
                <a:gd name="connsiteX7" fmla="*/ 95796 w 158630"/>
                <a:gd name="connsiteY7" fmla="*/ 24293 h 144296"/>
                <a:gd name="connsiteX8" fmla="*/ 61394 w 158630"/>
                <a:gd name="connsiteY8" fmla="*/ 84 h 144296"/>
                <a:gd name="connsiteX9" fmla="*/ 10110 w 158630"/>
                <a:gd name="connsiteY9" fmla="*/ 49139 h 144296"/>
                <a:gd name="connsiteX10" fmla="*/ 13932 w 158630"/>
                <a:gd name="connsiteY10" fmla="*/ 52324 h 144296"/>
                <a:gd name="connsiteX11" fmla="*/ 18073 w 158630"/>
                <a:gd name="connsiteY11" fmla="*/ 48820 h 144296"/>
                <a:gd name="connsiteX12" fmla="*/ 60757 w 158630"/>
                <a:gd name="connsiteY12" fmla="*/ 7092 h 144296"/>
                <a:gd name="connsiteX13" fmla="*/ 77958 w 158630"/>
                <a:gd name="connsiteY13" fmla="*/ 28434 h 144296"/>
                <a:gd name="connsiteX14" fmla="*/ 60757 w 158630"/>
                <a:gd name="connsiteY14" fmla="*/ 104245 h 144296"/>
                <a:gd name="connsiteX15" fmla="*/ 30496 w 158630"/>
                <a:gd name="connsiteY15" fmla="*/ 137373 h 144296"/>
                <a:gd name="connsiteX16" fmla="*/ 14569 w 158630"/>
                <a:gd name="connsiteY16" fmla="*/ 133232 h 144296"/>
                <a:gd name="connsiteX17" fmla="*/ 29541 w 158630"/>
                <a:gd name="connsiteY17" fmla="*/ 116031 h 144296"/>
                <a:gd name="connsiteX18" fmla="*/ 17755 w 158630"/>
                <a:gd name="connsiteY18" fmla="*/ 104882 h 144296"/>
                <a:gd name="connsiteX19" fmla="*/ 235 w 158630"/>
                <a:gd name="connsiteY19" fmla="*/ 123357 h 144296"/>
                <a:gd name="connsiteX20" fmla="*/ 30178 w 158630"/>
                <a:gd name="connsiteY20" fmla="*/ 144381 h 144296"/>
                <a:gd name="connsiteX21" fmla="*/ 63624 w 158630"/>
                <a:gd name="connsiteY21" fmla="*/ 120172 h 144296"/>
                <a:gd name="connsiteX22" fmla="*/ 98026 w 158630"/>
                <a:gd name="connsiteY22" fmla="*/ 144381 h 144296"/>
                <a:gd name="connsiteX23" fmla="*/ 148992 w 158630"/>
                <a:gd name="connsiteY23" fmla="*/ 95326 h 144296"/>
                <a:gd name="connsiteX24" fmla="*/ 145169 w 158630"/>
                <a:gd name="connsiteY24" fmla="*/ 92141 h 144296"/>
                <a:gd name="connsiteX25" fmla="*/ 141028 w 158630"/>
                <a:gd name="connsiteY25" fmla="*/ 95645 h 144296"/>
                <a:gd name="connsiteX26" fmla="*/ 98663 w 158630"/>
                <a:gd name="connsiteY26" fmla="*/ 137373 h 144296"/>
                <a:gd name="connsiteX27" fmla="*/ 81143 w 158630"/>
                <a:gd name="connsiteY27" fmla="*/ 116350 h 144296"/>
                <a:gd name="connsiteX28" fmla="*/ 86559 w 158630"/>
                <a:gd name="connsiteY28" fmla="*/ 88318 h 144296"/>
                <a:gd name="connsiteX29" fmla="*/ 97389 w 158630"/>
                <a:gd name="connsiteY29" fmla="*/ 44679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8630" h="144296">
                  <a:moveTo>
                    <a:pt x="97389" y="44679"/>
                  </a:moveTo>
                  <a:cubicBezTo>
                    <a:pt x="99300" y="36397"/>
                    <a:pt x="106626" y="7092"/>
                    <a:pt x="128924" y="7092"/>
                  </a:cubicBezTo>
                  <a:cubicBezTo>
                    <a:pt x="130516" y="7092"/>
                    <a:pt x="138161" y="7092"/>
                    <a:pt x="144851" y="11233"/>
                  </a:cubicBezTo>
                  <a:cubicBezTo>
                    <a:pt x="135932" y="12826"/>
                    <a:pt x="129561" y="20789"/>
                    <a:pt x="129561" y="28434"/>
                  </a:cubicBezTo>
                  <a:cubicBezTo>
                    <a:pt x="129561" y="33530"/>
                    <a:pt x="133065" y="39583"/>
                    <a:pt x="141665" y="39583"/>
                  </a:cubicBezTo>
                  <a:cubicBezTo>
                    <a:pt x="148673" y="39583"/>
                    <a:pt x="158866" y="33849"/>
                    <a:pt x="158866" y="21107"/>
                  </a:cubicBezTo>
                  <a:cubicBezTo>
                    <a:pt x="158866" y="4544"/>
                    <a:pt x="140073" y="84"/>
                    <a:pt x="129242" y="84"/>
                  </a:cubicBezTo>
                  <a:cubicBezTo>
                    <a:pt x="110767" y="84"/>
                    <a:pt x="99619" y="16966"/>
                    <a:pt x="95796" y="24293"/>
                  </a:cubicBezTo>
                  <a:cubicBezTo>
                    <a:pt x="87833" y="3269"/>
                    <a:pt x="70632" y="84"/>
                    <a:pt x="61394" y="84"/>
                  </a:cubicBezTo>
                  <a:cubicBezTo>
                    <a:pt x="28267" y="84"/>
                    <a:pt x="10110" y="41175"/>
                    <a:pt x="10110" y="49139"/>
                  </a:cubicBezTo>
                  <a:cubicBezTo>
                    <a:pt x="10110" y="52324"/>
                    <a:pt x="13295" y="52324"/>
                    <a:pt x="13932" y="52324"/>
                  </a:cubicBezTo>
                  <a:cubicBezTo>
                    <a:pt x="16481" y="52324"/>
                    <a:pt x="17436" y="51687"/>
                    <a:pt x="18073" y="48820"/>
                  </a:cubicBezTo>
                  <a:cubicBezTo>
                    <a:pt x="28904" y="15055"/>
                    <a:pt x="49927" y="7092"/>
                    <a:pt x="60757" y="7092"/>
                  </a:cubicBezTo>
                  <a:cubicBezTo>
                    <a:pt x="66809" y="7092"/>
                    <a:pt x="77958" y="9959"/>
                    <a:pt x="77958" y="28434"/>
                  </a:cubicBezTo>
                  <a:cubicBezTo>
                    <a:pt x="77958" y="38308"/>
                    <a:pt x="72543" y="59650"/>
                    <a:pt x="60757" y="104245"/>
                  </a:cubicBezTo>
                  <a:cubicBezTo>
                    <a:pt x="55661" y="123994"/>
                    <a:pt x="44512" y="137373"/>
                    <a:pt x="30496" y="137373"/>
                  </a:cubicBezTo>
                  <a:cubicBezTo>
                    <a:pt x="28585" y="137373"/>
                    <a:pt x="21259" y="137373"/>
                    <a:pt x="14569" y="133232"/>
                  </a:cubicBezTo>
                  <a:cubicBezTo>
                    <a:pt x="22533" y="131639"/>
                    <a:pt x="29541" y="124950"/>
                    <a:pt x="29541" y="116031"/>
                  </a:cubicBezTo>
                  <a:cubicBezTo>
                    <a:pt x="29541" y="107431"/>
                    <a:pt x="22533" y="104882"/>
                    <a:pt x="17755" y="104882"/>
                  </a:cubicBezTo>
                  <a:cubicBezTo>
                    <a:pt x="8199" y="104882"/>
                    <a:pt x="235" y="113164"/>
                    <a:pt x="235" y="123357"/>
                  </a:cubicBezTo>
                  <a:cubicBezTo>
                    <a:pt x="235" y="138010"/>
                    <a:pt x="16162" y="144381"/>
                    <a:pt x="30178" y="144381"/>
                  </a:cubicBezTo>
                  <a:cubicBezTo>
                    <a:pt x="51201" y="144381"/>
                    <a:pt x="62668" y="122083"/>
                    <a:pt x="63624" y="120172"/>
                  </a:cubicBezTo>
                  <a:cubicBezTo>
                    <a:pt x="67446" y="131958"/>
                    <a:pt x="78914" y="144381"/>
                    <a:pt x="98026" y="144381"/>
                  </a:cubicBezTo>
                  <a:cubicBezTo>
                    <a:pt x="130835" y="144381"/>
                    <a:pt x="148992" y="103290"/>
                    <a:pt x="148992" y="95326"/>
                  </a:cubicBezTo>
                  <a:cubicBezTo>
                    <a:pt x="148992" y="92141"/>
                    <a:pt x="146125" y="92141"/>
                    <a:pt x="145169" y="92141"/>
                  </a:cubicBezTo>
                  <a:cubicBezTo>
                    <a:pt x="142302" y="92141"/>
                    <a:pt x="141665" y="93415"/>
                    <a:pt x="141028" y="95645"/>
                  </a:cubicBezTo>
                  <a:cubicBezTo>
                    <a:pt x="130516" y="129728"/>
                    <a:pt x="108856" y="137373"/>
                    <a:pt x="98663" y="137373"/>
                  </a:cubicBezTo>
                  <a:cubicBezTo>
                    <a:pt x="86240" y="137373"/>
                    <a:pt x="81143" y="127180"/>
                    <a:pt x="81143" y="116350"/>
                  </a:cubicBezTo>
                  <a:cubicBezTo>
                    <a:pt x="81143" y="109342"/>
                    <a:pt x="83055" y="102334"/>
                    <a:pt x="86559" y="88318"/>
                  </a:cubicBezTo>
                  <a:lnTo>
                    <a:pt x="97389" y="44679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9" name="任意形状 2078">
              <a:extLst>
                <a:ext uri="{FF2B5EF4-FFF2-40B4-BE49-F238E27FC236}">
                  <a16:creationId xmlns:a16="http://schemas.microsoft.com/office/drawing/2014/main" id="{26B94D4F-5BDD-0F62-7512-EEA9FF61D6B1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2969369" y="6117838"/>
              <a:ext cx="98554" cy="148055"/>
            </a:xfrm>
            <a:custGeom>
              <a:avLst/>
              <a:gdLst>
                <a:gd name="connsiteX0" fmla="*/ 98796 w 98554"/>
                <a:gd name="connsiteY0" fmla="*/ 107560 h 148055"/>
                <a:gd name="connsiteX1" fmla="*/ 91215 w 98554"/>
                <a:gd name="connsiteY1" fmla="*/ 107560 h 148055"/>
                <a:gd name="connsiteX2" fmla="*/ 85418 w 98554"/>
                <a:gd name="connsiteY2" fmla="*/ 127850 h 148055"/>
                <a:gd name="connsiteX3" fmla="*/ 63343 w 98554"/>
                <a:gd name="connsiteY3" fmla="*/ 129188 h 148055"/>
                <a:gd name="connsiteX4" fmla="*/ 22316 w 98554"/>
                <a:gd name="connsiteY4" fmla="*/ 129188 h 148055"/>
                <a:gd name="connsiteX5" fmla="*/ 66911 w 98554"/>
                <a:gd name="connsiteY5" fmla="*/ 91728 h 148055"/>
                <a:gd name="connsiteX6" fmla="*/ 98796 w 98554"/>
                <a:gd name="connsiteY6" fmla="*/ 43566 h 148055"/>
                <a:gd name="connsiteX7" fmla="*/ 46620 w 98554"/>
                <a:gd name="connsiteY7" fmla="*/ 86 h 148055"/>
                <a:gd name="connsiteX8" fmla="*/ 241 w 98554"/>
                <a:gd name="connsiteY8" fmla="*/ 39998 h 148055"/>
                <a:gd name="connsiteX9" fmla="*/ 12059 w 98554"/>
                <a:gd name="connsiteY9" fmla="*/ 52485 h 148055"/>
                <a:gd name="connsiteX10" fmla="*/ 23876 w 98554"/>
                <a:gd name="connsiteY10" fmla="*/ 40667 h 148055"/>
                <a:gd name="connsiteX11" fmla="*/ 10721 w 98554"/>
                <a:gd name="connsiteY11" fmla="*/ 28849 h 148055"/>
                <a:gd name="connsiteX12" fmla="*/ 43275 w 98554"/>
                <a:gd name="connsiteY12" fmla="*/ 8113 h 148055"/>
                <a:gd name="connsiteX13" fmla="*/ 77167 w 98554"/>
                <a:gd name="connsiteY13" fmla="*/ 43566 h 148055"/>
                <a:gd name="connsiteX14" fmla="*/ 56208 w 98554"/>
                <a:gd name="connsiteY14" fmla="*/ 86377 h 148055"/>
                <a:gd name="connsiteX15" fmla="*/ 2471 w 98554"/>
                <a:gd name="connsiteY15" fmla="*/ 139445 h 148055"/>
                <a:gd name="connsiteX16" fmla="*/ 241 w 98554"/>
                <a:gd name="connsiteY16" fmla="*/ 148141 h 148055"/>
                <a:gd name="connsiteX17" fmla="*/ 92107 w 98554"/>
                <a:gd name="connsiteY17" fmla="*/ 148141 h 148055"/>
                <a:gd name="connsiteX18" fmla="*/ 98796 w 98554"/>
                <a:gd name="connsiteY18" fmla="*/ 107560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8554" h="148055">
                  <a:moveTo>
                    <a:pt x="98796" y="107560"/>
                  </a:moveTo>
                  <a:lnTo>
                    <a:pt x="91215" y="107560"/>
                  </a:lnTo>
                  <a:cubicBezTo>
                    <a:pt x="90546" y="112465"/>
                    <a:pt x="88316" y="125620"/>
                    <a:pt x="85418" y="127850"/>
                  </a:cubicBezTo>
                  <a:cubicBezTo>
                    <a:pt x="83634" y="129188"/>
                    <a:pt x="66465" y="129188"/>
                    <a:pt x="63343" y="129188"/>
                  </a:cubicBezTo>
                  <a:lnTo>
                    <a:pt x="22316" y="129188"/>
                  </a:lnTo>
                  <a:cubicBezTo>
                    <a:pt x="45728" y="108451"/>
                    <a:pt x="53532" y="102208"/>
                    <a:pt x="66911" y="91728"/>
                  </a:cubicBezTo>
                  <a:cubicBezTo>
                    <a:pt x="83411" y="78573"/>
                    <a:pt x="98796" y="64748"/>
                    <a:pt x="98796" y="43566"/>
                  </a:cubicBezTo>
                  <a:cubicBezTo>
                    <a:pt x="98796" y="16586"/>
                    <a:pt x="75161" y="86"/>
                    <a:pt x="46620" y="86"/>
                  </a:cubicBezTo>
                  <a:cubicBezTo>
                    <a:pt x="18971" y="86"/>
                    <a:pt x="241" y="19484"/>
                    <a:pt x="241" y="39998"/>
                  </a:cubicBezTo>
                  <a:cubicBezTo>
                    <a:pt x="241" y="51370"/>
                    <a:pt x="9829" y="52485"/>
                    <a:pt x="12059" y="52485"/>
                  </a:cubicBezTo>
                  <a:cubicBezTo>
                    <a:pt x="17410" y="52485"/>
                    <a:pt x="23876" y="48694"/>
                    <a:pt x="23876" y="40667"/>
                  </a:cubicBezTo>
                  <a:cubicBezTo>
                    <a:pt x="23876" y="36653"/>
                    <a:pt x="22316" y="28849"/>
                    <a:pt x="10721" y="28849"/>
                  </a:cubicBezTo>
                  <a:cubicBezTo>
                    <a:pt x="17633" y="13018"/>
                    <a:pt x="32795" y="8113"/>
                    <a:pt x="43275" y="8113"/>
                  </a:cubicBezTo>
                  <a:cubicBezTo>
                    <a:pt x="65573" y="8113"/>
                    <a:pt x="77167" y="25505"/>
                    <a:pt x="77167" y="43566"/>
                  </a:cubicBezTo>
                  <a:cubicBezTo>
                    <a:pt x="77167" y="62965"/>
                    <a:pt x="63343" y="78350"/>
                    <a:pt x="56208" y="86377"/>
                  </a:cubicBezTo>
                  <a:lnTo>
                    <a:pt x="2471" y="139445"/>
                  </a:lnTo>
                  <a:cubicBezTo>
                    <a:pt x="241" y="141452"/>
                    <a:pt x="241" y="141898"/>
                    <a:pt x="241" y="148141"/>
                  </a:cubicBezTo>
                  <a:lnTo>
                    <a:pt x="92107" y="148141"/>
                  </a:lnTo>
                  <a:lnTo>
                    <a:pt x="98796" y="10756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0" name="任意形状 2079">
              <a:extLst>
                <a:ext uri="{FF2B5EF4-FFF2-40B4-BE49-F238E27FC236}">
                  <a16:creationId xmlns:a16="http://schemas.microsoft.com/office/drawing/2014/main" id="{16EC6939-FB0D-3F5F-845C-6836A8786422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3096342" y="6117838"/>
              <a:ext cx="98554" cy="148055"/>
            </a:xfrm>
            <a:custGeom>
              <a:avLst/>
              <a:gdLst>
                <a:gd name="connsiteX0" fmla="*/ 98800 w 98554"/>
                <a:gd name="connsiteY0" fmla="*/ 107560 h 148055"/>
                <a:gd name="connsiteX1" fmla="*/ 91219 w 98554"/>
                <a:gd name="connsiteY1" fmla="*/ 107560 h 148055"/>
                <a:gd name="connsiteX2" fmla="*/ 85422 w 98554"/>
                <a:gd name="connsiteY2" fmla="*/ 127850 h 148055"/>
                <a:gd name="connsiteX3" fmla="*/ 63347 w 98554"/>
                <a:gd name="connsiteY3" fmla="*/ 129188 h 148055"/>
                <a:gd name="connsiteX4" fmla="*/ 22320 w 98554"/>
                <a:gd name="connsiteY4" fmla="*/ 129188 h 148055"/>
                <a:gd name="connsiteX5" fmla="*/ 66915 w 98554"/>
                <a:gd name="connsiteY5" fmla="*/ 91728 h 148055"/>
                <a:gd name="connsiteX6" fmla="*/ 98800 w 98554"/>
                <a:gd name="connsiteY6" fmla="*/ 43566 h 148055"/>
                <a:gd name="connsiteX7" fmla="*/ 46624 w 98554"/>
                <a:gd name="connsiteY7" fmla="*/ 86 h 148055"/>
                <a:gd name="connsiteX8" fmla="*/ 245 w 98554"/>
                <a:gd name="connsiteY8" fmla="*/ 39998 h 148055"/>
                <a:gd name="connsiteX9" fmla="*/ 12063 w 98554"/>
                <a:gd name="connsiteY9" fmla="*/ 52485 h 148055"/>
                <a:gd name="connsiteX10" fmla="*/ 23880 w 98554"/>
                <a:gd name="connsiteY10" fmla="*/ 40667 h 148055"/>
                <a:gd name="connsiteX11" fmla="*/ 10725 w 98554"/>
                <a:gd name="connsiteY11" fmla="*/ 28849 h 148055"/>
                <a:gd name="connsiteX12" fmla="*/ 43279 w 98554"/>
                <a:gd name="connsiteY12" fmla="*/ 8113 h 148055"/>
                <a:gd name="connsiteX13" fmla="*/ 77171 w 98554"/>
                <a:gd name="connsiteY13" fmla="*/ 43566 h 148055"/>
                <a:gd name="connsiteX14" fmla="*/ 56212 w 98554"/>
                <a:gd name="connsiteY14" fmla="*/ 86377 h 148055"/>
                <a:gd name="connsiteX15" fmla="*/ 2475 w 98554"/>
                <a:gd name="connsiteY15" fmla="*/ 139445 h 148055"/>
                <a:gd name="connsiteX16" fmla="*/ 245 w 98554"/>
                <a:gd name="connsiteY16" fmla="*/ 148141 h 148055"/>
                <a:gd name="connsiteX17" fmla="*/ 92111 w 98554"/>
                <a:gd name="connsiteY17" fmla="*/ 148141 h 148055"/>
                <a:gd name="connsiteX18" fmla="*/ 98800 w 98554"/>
                <a:gd name="connsiteY18" fmla="*/ 107560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8554" h="148055">
                  <a:moveTo>
                    <a:pt x="98800" y="107560"/>
                  </a:moveTo>
                  <a:lnTo>
                    <a:pt x="91219" y="107560"/>
                  </a:lnTo>
                  <a:cubicBezTo>
                    <a:pt x="90550" y="112465"/>
                    <a:pt x="88320" y="125620"/>
                    <a:pt x="85422" y="127850"/>
                  </a:cubicBezTo>
                  <a:cubicBezTo>
                    <a:pt x="83638" y="129188"/>
                    <a:pt x="66469" y="129188"/>
                    <a:pt x="63347" y="129188"/>
                  </a:cubicBezTo>
                  <a:lnTo>
                    <a:pt x="22320" y="129188"/>
                  </a:lnTo>
                  <a:cubicBezTo>
                    <a:pt x="45732" y="108451"/>
                    <a:pt x="53536" y="102208"/>
                    <a:pt x="66915" y="91728"/>
                  </a:cubicBezTo>
                  <a:cubicBezTo>
                    <a:pt x="83415" y="78573"/>
                    <a:pt x="98800" y="64748"/>
                    <a:pt x="98800" y="43566"/>
                  </a:cubicBezTo>
                  <a:cubicBezTo>
                    <a:pt x="98800" y="16586"/>
                    <a:pt x="75165" y="86"/>
                    <a:pt x="46624" y="86"/>
                  </a:cubicBezTo>
                  <a:cubicBezTo>
                    <a:pt x="18975" y="86"/>
                    <a:pt x="245" y="19484"/>
                    <a:pt x="245" y="39998"/>
                  </a:cubicBezTo>
                  <a:cubicBezTo>
                    <a:pt x="245" y="51370"/>
                    <a:pt x="9833" y="52485"/>
                    <a:pt x="12063" y="52485"/>
                  </a:cubicBezTo>
                  <a:cubicBezTo>
                    <a:pt x="17414" y="52485"/>
                    <a:pt x="23880" y="48694"/>
                    <a:pt x="23880" y="40667"/>
                  </a:cubicBezTo>
                  <a:cubicBezTo>
                    <a:pt x="23880" y="36653"/>
                    <a:pt x="22320" y="28849"/>
                    <a:pt x="10725" y="28849"/>
                  </a:cubicBezTo>
                  <a:cubicBezTo>
                    <a:pt x="17637" y="13018"/>
                    <a:pt x="32799" y="8113"/>
                    <a:pt x="43279" y="8113"/>
                  </a:cubicBezTo>
                  <a:cubicBezTo>
                    <a:pt x="65577" y="8113"/>
                    <a:pt x="77171" y="25505"/>
                    <a:pt x="77171" y="43566"/>
                  </a:cubicBezTo>
                  <a:cubicBezTo>
                    <a:pt x="77171" y="62965"/>
                    <a:pt x="63347" y="78350"/>
                    <a:pt x="56212" y="86377"/>
                  </a:cubicBezTo>
                  <a:lnTo>
                    <a:pt x="2475" y="139445"/>
                  </a:lnTo>
                  <a:cubicBezTo>
                    <a:pt x="245" y="141452"/>
                    <a:pt x="245" y="141898"/>
                    <a:pt x="245" y="148141"/>
                  </a:cubicBezTo>
                  <a:lnTo>
                    <a:pt x="92111" y="148141"/>
                  </a:lnTo>
                  <a:lnTo>
                    <a:pt x="98800" y="10756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1" name="任意形状 2080">
              <a:extLst>
                <a:ext uri="{FF2B5EF4-FFF2-40B4-BE49-F238E27FC236}">
                  <a16:creationId xmlns:a16="http://schemas.microsoft.com/office/drawing/2014/main" id="{631FC1FD-ADE0-069A-839B-6001378683CF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3583456" y="6077321"/>
              <a:ext cx="158630" cy="144296"/>
            </a:xfrm>
            <a:custGeom>
              <a:avLst/>
              <a:gdLst>
                <a:gd name="connsiteX0" fmla="*/ 97414 w 158630"/>
                <a:gd name="connsiteY0" fmla="*/ 44679 h 144296"/>
                <a:gd name="connsiteX1" fmla="*/ 128949 w 158630"/>
                <a:gd name="connsiteY1" fmla="*/ 7092 h 144296"/>
                <a:gd name="connsiteX2" fmla="*/ 144876 w 158630"/>
                <a:gd name="connsiteY2" fmla="*/ 11233 h 144296"/>
                <a:gd name="connsiteX3" fmla="*/ 129586 w 158630"/>
                <a:gd name="connsiteY3" fmla="*/ 28434 h 144296"/>
                <a:gd name="connsiteX4" fmla="*/ 141690 w 158630"/>
                <a:gd name="connsiteY4" fmla="*/ 39583 h 144296"/>
                <a:gd name="connsiteX5" fmla="*/ 158891 w 158630"/>
                <a:gd name="connsiteY5" fmla="*/ 21107 h 144296"/>
                <a:gd name="connsiteX6" fmla="*/ 129267 w 158630"/>
                <a:gd name="connsiteY6" fmla="*/ 84 h 144296"/>
                <a:gd name="connsiteX7" fmla="*/ 95821 w 158630"/>
                <a:gd name="connsiteY7" fmla="*/ 24293 h 144296"/>
                <a:gd name="connsiteX8" fmla="*/ 61419 w 158630"/>
                <a:gd name="connsiteY8" fmla="*/ 84 h 144296"/>
                <a:gd name="connsiteX9" fmla="*/ 10135 w 158630"/>
                <a:gd name="connsiteY9" fmla="*/ 49139 h 144296"/>
                <a:gd name="connsiteX10" fmla="*/ 13957 w 158630"/>
                <a:gd name="connsiteY10" fmla="*/ 52324 h 144296"/>
                <a:gd name="connsiteX11" fmla="*/ 18098 w 158630"/>
                <a:gd name="connsiteY11" fmla="*/ 48820 h 144296"/>
                <a:gd name="connsiteX12" fmla="*/ 60782 w 158630"/>
                <a:gd name="connsiteY12" fmla="*/ 7092 h 144296"/>
                <a:gd name="connsiteX13" fmla="*/ 77983 w 158630"/>
                <a:gd name="connsiteY13" fmla="*/ 28434 h 144296"/>
                <a:gd name="connsiteX14" fmla="*/ 60782 w 158630"/>
                <a:gd name="connsiteY14" fmla="*/ 104245 h 144296"/>
                <a:gd name="connsiteX15" fmla="*/ 30521 w 158630"/>
                <a:gd name="connsiteY15" fmla="*/ 137373 h 144296"/>
                <a:gd name="connsiteX16" fmla="*/ 14595 w 158630"/>
                <a:gd name="connsiteY16" fmla="*/ 133232 h 144296"/>
                <a:gd name="connsiteX17" fmla="*/ 29566 w 158630"/>
                <a:gd name="connsiteY17" fmla="*/ 116031 h 144296"/>
                <a:gd name="connsiteX18" fmla="*/ 17780 w 158630"/>
                <a:gd name="connsiteY18" fmla="*/ 104882 h 144296"/>
                <a:gd name="connsiteX19" fmla="*/ 260 w 158630"/>
                <a:gd name="connsiteY19" fmla="*/ 123357 h 144296"/>
                <a:gd name="connsiteX20" fmla="*/ 30203 w 158630"/>
                <a:gd name="connsiteY20" fmla="*/ 144381 h 144296"/>
                <a:gd name="connsiteX21" fmla="*/ 63649 w 158630"/>
                <a:gd name="connsiteY21" fmla="*/ 120172 h 144296"/>
                <a:gd name="connsiteX22" fmla="*/ 98051 w 158630"/>
                <a:gd name="connsiteY22" fmla="*/ 144381 h 144296"/>
                <a:gd name="connsiteX23" fmla="*/ 149017 w 158630"/>
                <a:gd name="connsiteY23" fmla="*/ 95326 h 144296"/>
                <a:gd name="connsiteX24" fmla="*/ 145194 w 158630"/>
                <a:gd name="connsiteY24" fmla="*/ 92141 h 144296"/>
                <a:gd name="connsiteX25" fmla="*/ 141053 w 158630"/>
                <a:gd name="connsiteY25" fmla="*/ 95645 h 144296"/>
                <a:gd name="connsiteX26" fmla="*/ 98688 w 158630"/>
                <a:gd name="connsiteY26" fmla="*/ 137373 h 144296"/>
                <a:gd name="connsiteX27" fmla="*/ 81169 w 158630"/>
                <a:gd name="connsiteY27" fmla="*/ 116350 h 144296"/>
                <a:gd name="connsiteX28" fmla="*/ 86584 w 158630"/>
                <a:gd name="connsiteY28" fmla="*/ 88318 h 144296"/>
                <a:gd name="connsiteX29" fmla="*/ 97414 w 158630"/>
                <a:gd name="connsiteY29" fmla="*/ 44679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8630" h="144296">
                  <a:moveTo>
                    <a:pt x="97414" y="44679"/>
                  </a:moveTo>
                  <a:cubicBezTo>
                    <a:pt x="99325" y="36397"/>
                    <a:pt x="106651" y="7092"/>
                    <a:pt x="128949" y="7092"/>
                  </a:cubicBezTo>
                  <a:cubicBezTo>
                    <a:pt x="130542" y="7092"/>
                    <a:pt x="138186" y="7092"/>
                    <a:pt x="144876" y="11233"/>
                  </a:cubicBezTo>
                  <a:cubicBezTo>
                    <a:pt x="135957" y="12826"/>
                    <a:pt x="129586" y="20789"/>
                    <a:pt x="129586" y="28434"/>
                  </a:cubicBezTo>
                  <a:cubicBezTo>
                    <a:pt x="129586" y="33530"/>
                    <a:pt x="133090" y="39583"/>
                    <a:pt x="141690" y="39583"/>
                  </a:cubicBezTo>
                  <a:cubicBezTo>
                    <a:pt x="148698" y="39583"/>
                    <a:pt x="158891" y="33849"/>
                    <a:pt x="158891" y="21107"/>
                  </a:cubicBezTo>
                  <a:cubicBezTo>
                    <a:pt x="158891" y="4544"/>
                    <a:pt x="140098" y="84"/>
                    <a:pt x="129267" y="84"/>
                  </a:cubicBezTo>
                  <a:cubicBezTo>
                    <a:pt x="110792" y="84"/>
                    <a:pt x="99644" y="16966"/>
                    <a:pt x="95821" y="24293"/>
                  </a:cubicBezTo>
                  <a:cubicBezTo>
                    <a:pt x="87858" y="3269"/>
                    <a:pt x="70657" y="84"/>
                    <a:pt x="61419" y="84"/>
                  </a:cubicBezTo>
                  <a:cubicBezTo>
                    <a:pt x="28292" y="84"/>
                    <a:pt x="10135" y="41175"/>
                    <a:pt x="10135" y="49139"/>
                  </a:cubicBezTo>
                  <a:cubicBezTo>
                    <a:pt x="10135" y="52324"/>
                    <a:pt x="13320" y="52324"/>
                    <a:pt x="13957" y="52324"/>
                  </a:cubicBezTo>
                  <a:cubicBezTo>
                    <a:pt x="16506" y="52324"/>
                    <a:pt x="17461" y="51687"/>
                    <a:pt x="18098" y="48820"/>
                  </a:cubicBezTo>
                  <a:cubicBezTo>
                    <a:pt x="28929" y="15055"/>
                    <a:pt x="49952" y="7092"/>
                    <a:pt x="60782" y="7092"/>
                  </a:cubicBezTo>
                  <a:cubicBezTo>
                    <a:pt x="66834" y="7092"/>
                    <a:pt x="77983" y="9959"/>
                    <a:pt x="77983" y="28434"/>
                  </a:cubicBezTo>
                  <a:cubicBezTo>
                    <a:pt x="77983" y="38308"/>
                    <a:pt x="72568" y="59650"/>
                    <a:pt x="60782" y="104245"/>
                  </a:cubicBezTo>
                  <a:cubicBezTo>
                    <a:pt x="55686" y="123994"/>
                    <a:pt x="44537" y="137373"/>
                    <a:pt x="30521" y="137373"/>
                  </a:cubicBezTo>
                  <a:cubicBezTo>
                    <a:pt x="28610" y="137373"/>
                    <a:pt x="21284" y="137373"/>
                    <a:pt x="14595" y="133232"/>
                  </a:cubicBezTo>
                  <a:cubicBezTo>
                    <a:pt x="22558" y="131639"/>
                    <a:pt x="29566" y="124950"/>
                    <a:pt x="29566" y="116031"/>
                  </a:cubicBezTo>
                  <a:cubicBezTo>
                    <a:pt x="29566" y="107431"/>
                    <a:pt x="22558" y="104882"/>
                    <a:pt x="17780" y="104882"/>
                  </a:cubicBezTo>
                  <a:cubicBezTo>
                    <a:pt x="8224" y="104882"/>
                    <a:pt x="260" y="113164"/>
                    <a:pt x="260" y="123357"/>
                  </a:cubicBezTo>
                  <a:cubicBezTo>
                    <a:pt x="260" y="138010"/>
                    <a:pt x="16187" y="144381"/>
                    <a:pt x="30203" y="144381"/>
                  </a:cubicBezTo>
                  <a:cubicBezTo>
                    <a:pt x="51226" y="144381"/>
                    <a:pt x="62693" y="122083"/>
                    <a:pt x="63649" y="120172"/>
                  </a:cubicBezTo>
                  <a:cubicBezTo>
                    <a:pt x="67471" y="131958"/>
                    <a:pt x="78939" y="144381"/>
                    <a:pt x="98051" y="144381"/>
                  </a:cubicBezTo>
                  <a:cubicBezTo>
                    <a:pt x="130860" y="144381"/>
                    <a:pt x="149017" y="103290"/>
                    <a:pt x="149017" y="95326"/>
                  </a:cubicBezTo>
                  <a:cubicBezTo>
                    <a:pt x="149017" y="92141"/>
                    <a:pt x="146150" y="92141"/>
                    <a:pt x="145194" y="92141"/>
                  </a:cubicBezTo>
                  <a:cubicBezTo>
                    <a:pt x="142327" y="92141"/>
                    <a:pt x="141690" y="93415"/>
                    <a:pt x="141053" y="95645"/>
                  </a:cubicBezTo>
                  <a:cubicBezTo>
                    <a:pt x="130542" y="129728"/>
                    <a:pt x="108881" y="137373"/>
                    <a:pt x="98688" y="137373"/>
                  </a:cubicBezTo>
                  <a:cubicBezTo>
                    <a:pt x="86265" y="137373"/>
                    <a:pt x="81169" y="127180"/>
                    <a:pt x="81169" y="116350"/>
                  </a:cubicBezTo>
                  <a:cubicBezTo>
                    <a:pt x="81169" y="109342"/>
                    <a:pt x="83080" y="102334"/>
                    <a:pt x="86584" y="88318"/>
                  </a:cubicBezTo>
                  <a:lnTo>
                    <a:pt x="97414" y="44679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2" name="任意形状 2081">
              <a:extLst>
                <a:ext uri="{FF2B5EF4-FFF2-40B4-BE49-F238E27FC236}">
                  <a16:creationId xmlns:a16="http://schemas.microsoft.com/office/drawing/2014/main" id="{6F452F16-9530-D8E5-9018-5CBC76A82D00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3770318" y="6117838"/>
              <a:ext cx="98554" cy="148055"/>
            </a:xfrm>
            <a:custGeom>
              <a:avLst/>
              <a:gdLst>
                <a:gd name="connsiteX0" fmla="*/ 98821 w 98554"/>
                <a:gd name="connsiteY0" fmla="*/ 107560 h 148055"/>
                <a:gd name="connsiteX1" fmla="*/ 91240 w 98554"/>
                <a:gd name="connsiteY1" fmla="*/ 107560 h 148055"/>
                <a:gd name="connsiteX2" fmla="*/ 85443 w 98554"/>
                <a:gd name="connsiteY2" fmla="*/ 127850 h 148055"/>
                <a:gd name="connsiteX3" fmla="*/ 63368 w 98554"/>
                <a:gd name="connsiteY3" fmla="*/ 129188 h 148055"/>
                <a:gd name="connsiteX4" fmla="*/ 22341 w 98554"/>
                <a:gd name="connsiteY4" fmla="*/ 129188 h 148055"/>
                <a:gd name="connsiteX5" fmla="*/ 66936 w 98554"/>
                <a:gd name="connsiteY5" fmla="*/ 91728 h 148055"/>
                <a:gd name="connsiteX6" fmla="*/ 98821 w 98554"/>
                <a:gd name="connsiteY6" fmla="*/ 43566 h 148055"/>
                <a:gd name="connsiteX7" fmla="*/ 46645 w 98554"/>
                <a:gd name="connsiteY7" fmla="*/ 86 h 148055"/>
                <a:gd name="connsiteX8" fmla="*/ 266 w 98554"/>
                <a:gd name="connsiteY8" fmla="*/ 39998 h 148055"/>
                <a:gd name="connsiteX9" fmla="*/ 12084 w 98554"/>
                <a:gd name="connsiteY9" fmla="*/ 52485 h 148055"/>
                <a:gd name="connsiteX10" fmla="*/ 23902 w 98554"/>
                <a:gd name="connsiteY10" fmla="*/ 40667 h 148055"/>
                <a:gd name="connsiteX11" fmla="*/ 10746 w 98554"/>
                <a:gd name="connsiteY11" fmla="*/ 28849 h 148055"/>
                <a:gd name="connsiteX12" fmla="*/ 43300 w 98554"/>
                <a:gd name="connsiteY12" fmla="*/ 8113 h 148055"/>
                <a:gd name="connsiteX13" fmla="*/ 77193 w 98554"/>
                <a:gd name="connsiteY13" fmla="*/ 43566 h 148055"/>
                <a:gd name="connsiteX14" fmla="*/ 56233 w 98554"/>
                <a:gd name="connsiteY14" fmla="*/ 86377 h 148055"/>
                <a:gd name="connsiteX15" fmla="*/ 2496 w 98554"/>
                <a:gd name="connsiteY15" fmla="*/ 139445 h 148055"/>
                <a:gd name="connsiteX16" fmla="*/ 266 w 98554"/>
                <a:gd name="connsiteY16" fmla="*/ 148141 h 148055"/>
                <a:gd name="connsiteX17" fmla="*/ 92132 w 98554"/>
                <a:gd name="connsiteY17" fmla="*/ 148141 h 148055"/>
                <a:gd name="connsiteX18" fmla="*/ 98821 w 98554"/>
                <a:gd name="connsiteY18" fmla="*/ 107560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8554" h="148055">
                  <a:moveTo>
                    <a:pt x="98821" y="107560"/>
                  </a:moveTo>
                  <a:lnTo>
                    <a:pt x="91240" y="107560"/>
                  </a:lnTo>
                  <a:cubicBezTo>
                    <a:pt x="90571" y="112465"/>
                    <a:pt x="88341" y="125620"/>
                    <a:pt x="85443" y="127850"/>
                  </a:cubicBezTo>
                  <a:cubicBezTo>
                    <a:pt x="83659" y="129188"/>
                    <a:pt x="66490" y="129188"/>
                    <a:pt x="63368" y="129188"/>
                  </a:cubicBezTo>
                  <a:lnTo>
                    <a:pt x="22341" y="129188"/>
                  </a:lnTo>
                  <a:cubicBezTo>
                    <a:pt x="45753" y="108451"/>
                    <a:pt x="53557" y="102208"/>
                    <a:pt x="66936" y="91728"/>
                  </a:cubicBezTo>
                  <a:cubicBezTo>
                    <a:pt x="83436" y="78573"/>
                    <a:pt x="98821" y="64748"/>
                    <a:pt x="98821" y="43566"/>
                  </a:cubicBezTo>
                  <a:cubicBezTo>
                    <a:pt x="98821" y="16586"/>
                    <a:pt x="75186" y="86"/>
                    <a:pt x="46645" y="86"/>
                  </a:cubicBezTo>
                  <a:cubicBezTo>
                    <a:pt x="18996" y="86"/>
                    <a:pt x="266" y="19484"/>
                    <a:pt x="266" y="39998"/>
                  </a:cubicBezTo>
                  <a:cubicBezTo>
                    <a:pt x="266" y="51370"/>
                    <a:pt x="9854" y="52485"/>
                    <a:pt x="12084" y="52485"/>
                  </a:cubicBezTo>
                  <a:cubicBezTo>
                    <a:pt x="17435" y="52485"/>
                    <a:pt x="23902" y="48694"/>
                    <a:pt x="23902" y="40667"/>
                  </a:cubicBezTo>
                  <a:cubicBezTo>
                    <a:pt x="23902" y="36653"/>
                    <a:pt x="22341" y="28849"/>
                    <a:pt x="10746" y="28849"/>
                  </a:cubicBezTo>
                  <a:cubicBezTo>
                    <a:pt x="17658" y="13018"/>
                    <a:pt x="32821" y="8113"/>
                    <a:pt x="43300" y="8113"/>
                  </a:cubicBezTo>
                  <a:cubicBezTo>
                    <a:pt x="65598" y="8113"/>
                    <a:pt x="77193" y="25505"/>
                    <a:pt x="77193" y="43566"/>
                  </a:cubicBezTo>
                  <a:cubicBezTo>
                    <a:pt x="77193" y="62965"/>
                    <a:pt x="63368" y="78350"/>
                    <a:pt x="56233" y="86377"/>
                  </a:cubicBezTo>
                  <a:lnTo>
                    <a:pt x="2496" y="139445"/>
                  </a:lnTo>
                  <a:cubicBezTo>
                    <a:pt x="266" y="141452"/>
                    <a:pt x="266" y="141898"/>
                    <a:pt x="266" y="148141"/>
                  </a:cubicBezTo>
                  <a:lnTo>
                    <a:pt x="92132" y="148141"/>
                  </a:lnTo>
                  <a:lnTo>
                    <a:pt x="98821" y="10756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3" name="任意形状 2082">
              <a:extLst>
                <a:ext uri="{FF2B5EF4-FFF2-40B4-BE49-F238E27FC236}">
                  <a16:creationId xmlns:a16="http://schemas.microsoft.com/office/drawing/2014/main" id="{4F974D09-5231-5A33-5CE1-0D02F82B6186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3896845" y="6111149"/>
              <a:ext cx="114609" cy="156974"/>
            </a:xfrm>
            <a:custGeom>
              <a:avLst/>
              <a:gdLst>
                <a:gd name="connsiteX0" fmla="*/ 113987 w 114609"/>
                <a:gd name="connsiteY0" fmla="*/ 6775 h 156974"/>
                <a:gd name="connsiteX1" fmla="*/ 114879 w 114609"/>
                <a:gd name="connsiteY1" fmla="*/ 3207 h 156974"/>
                <a:gd name="connsiteX2" fmla="*/ 111312 w 114609"/>
                <a:gd name="connsiteY2" fmla="*/ 86 h 156974"/>
                <a:gd name="connsiteX3" fmla="*/ 82771 w 114609"/>
                <a:gd name="connsiteY3" fmla="*/ 2315 h 156974"/>
                <a:gd name="connsiteX4" fmla="*/ 77865 w 114609"/>
                <a:gd name="connsiteY4" fmla="*/ 7444 h 156974"/>
                <a:gd name="connsiteX5" fmla="*/ 83663 w 114609"/>
                <a:gd name="connsiteY5" fmla="*/ 10565 h 156974"/>
                <a:gd name="connsiteX6" fmla="*/ 94366 w 114609"/>
                <a:gd name="connsiteY6" fmla="*/ 13910 h 156974"/>
                <a:gd name="connsiteX7" fmla="*/ 93474 w 114609"/>
                <a:gd name="connsiteY7" fmla="*/ 18816 h 156974"/>
                <a:gd name="connsiteX8" fmla="*/ 80764 w 114609"/>
                <a:gd name="connsiteY8" fmla="*/ 69654 h 156974"/>
                <a:gd name="connsiteX9" fmla="*/ 57798 w 114609"/>
                <a:gd name="connsiteY9" fmla="*/ 56498 h 156974"/>
                <a:gd name="connsiteX10" fmla="*/ 270 w 114609"/>
                <a:gd name="connsiteY10" fmla="*/ 120046 h 156974"/>
                <a:gd name="connsiteX11" fmla="*/ 33939 w 114609"/>
                <a:gd name="connsiteY11" fmla="*/ 157060 h 156974"/>
                <a:gd name="connsiteX12" fmla="*/ 65602 w 114609"/>
                <a:gd name="connsiteY12" fmla="*/ 141452 h 156974"/>
                <a:gd name="connsiteX13" fmla="*/ 88568 w 114609"/>
                <a:gd name="connsiteY13" fmla="*/ 157060 h 156974"/>
                <a:gd name="connsiteX14" fmla="*/ 106183 w 114609"/>
                <a:gd name="connsiteY14" fmla="*/ 145242 h 156974"/>
                <a:gd name="connsiteX15" fmla="*/ 113987 w 114609"/>
                <a:gd name="connsiteY15" fmla="*/ 122945 h 156974"/>
                <a:gd name="connsiteX16" fmla="*/ 110420 w 114609"/>
                <a:gd name="connsiteY16" fmla="*/ 120046 h 156974"/>
                <a:gd name="connsiteX17" fmla="*/ 105514 w 114609"/>
                <a:gd name="connsiteY17" fmla="*/ 126958 h 156974"/>
                <a:gd name="connsiteX18" fmla="*/ 89237 w 114609"/>
                <a:gd name="connsiteY18" fmla="*/ 150817 h 156974"/>
                <a:gd name="connsiteX19" fmla="*/ 81879 w 114609"/>
                <a:gd name="connsiteY19" fmla="*/ 139891 h 156974"/>
                <a:gd name="connsiteX20" fmla="*/ 82994 w 114609"/>
                <a:gd name="connsiteY20" fmla="*/ 130749 h 156974"/>
                <a:gd name="connsiteX21" fmla="*/ 113987 w 114609"/>
                <a:gd name="connsiteY21" fmla="*/ 6775 h 156974"/>
                <a:gd name="connsiteX22" fmla="*/ 66494 w 114609"/>
                <a:gd name="connsiteY22" fmla="*/ 126958 h 156974"/>
                <a:gd name="connsiteX23" fmla="*/ 55122 w 114609"/>
                <a:gd name="connsiteY23" fmla="*/ 141898 h 156974"/>
                <a:gd name="connsiteX24" fmla="*/ 34608 w 114609"/>
                <a:gd name="connsiteY24" fmla="*/ 150817 h 156974"/>
                <a:gd name="connsiteX25" fmla="*/ 18331 w 114609"/>
                <a:gd name="connsiteY25" fmla="*/ 129188 h 156974"/>
                <a:gd name="connsiteX26" fmla="*/ 29926 w 114609"/>
                <a:gd name="connsiteY26" fmla="*/ 83924 h 156974"/>
                <a:gd name="connsiteX27" fmla="*/ 57798 w 114609"/>
                <a:gd name="connsiteY27" fmla="*/ 62742 h 156974"/>
                <a:gd name="connsiteX28" fmla="*/ 77642 w 114609"/>
                <a:gd name="connsiteY28" fmla="*/ 82140 h 156974"/>
                <a:gd name="connsiteX29" fmla="*/ 76974 w 114609"/>
                <a:gd name="connsiteY29" fmla="*/ 85262 h 156974"/>
                <a:gd name="connsiteX30" fmla="*/ 66494 w 114609"/>
                <a:gd name="connsiteY30" fmla="*/ 126958 h 1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4609" h="156974">
                  <a:moveTo>
                    <a:pt x="113987" y="6775"/>
                  </a:moveTo>
                  <a:cubicBezTo>
                    <a:pt x="114210" y="6329"/>
                    <a:pt x="114879" y="3430"/>
                    <a:pt x="114879" y="3207"/>
                  </a:cubicBezTo>
                  <a:cubicBezTo>
                    <a:pt x="114879" y="2092"/>
                    <a:pt x="113987" y="86"/>
                    <a:pt x="111312" y="86"/>
                  </a:cubicBezTo>
                  <a:cubicBezTo>
                    <a:pt x="106852" y="86"/>
                    <a:pt x="88345" y="1869"/>
                    <a:pt x="82771" y="2315"/>
                  </a:cubicBezTo>
                  <a:cubicBezTo>
                    <a:pt x="80987" y="2538"/>
                    <a:pt x="77865" y="2761"/>
                    <a:pt x="77865" y="7444"/>
                  </a:cubicBezTo>
                  <a:cubicBezTo>
                    <a:pt x="77865" y="10565"/>
                    <a:pt x="80987" y="10565"/>
                    <a:pt x="83663" y="10565"/>
                  </a:cubicBezTo>
                  <a:cubicBezTo>
                    <a:pt x="94366" y="10565"/>
                    <a:pt x="94366" y="12126"/>
                    <a:pt x="94366" y="13910"/>
                  </a:cubicBezTo>
                  <a:cubicBezTo>
                    <a:pt x="94366" y="15471"/>
                    <a:pt x="93920" y="16809"/>
                    <a:pt x="93474" y="18816"/>
                  </a:cubicBezTo>
                  <a:lnTo>
                    <a:pt x="80764" y="69654"/>
                  </a:lnTo>
                  <a:cubicBezTo>
                    <a:pt x="76082" y="62296"/>
                    <a:pt x="68500" y="56498"/>
                    <a:pt x="57798" y="56498"/>
                  </a:cubicBezTo>
                  <a:cubicBezTo>
                    <a:pt x="29257" y="56498"/>
                    <a:pt x="270" y="87938"/>
                    <a:pt x="270" y="120046"/>
                  </a:cubicBezTo>
                  <a:cubicBezTo>
                    <a:pt x="270" y="141675"/>
                    <a:pt x="14764" y="157060"/>
                    <a:pt x="33939" y="157060"/>
                  </a:cubicBezTo>
                  <a:cubicBezTo>
                    <a:pt x="45980" y="157060"/>
                    <a:pt x="56683" y="150148"/>
                    <a:pt x="65602" y="141452"/>
                  </a:cubicBezTo>
                  <a:cubicBezTo>
                    <a:pt x="69838" y="154830"/>
                    <a:pt x="82771" y="157060"/>
                    <a:pt x="88568" y="157060"/>
                  </a:cubicBezTo>
                  <a:cubicBezTo>
                    <a:pt x="96595" y="157060"/>
                    <a:pt x="102170" y="152155"/>
                    <a:pt x="106183" y="145242"/>
                  </a:cubicBezTo>
                  <a:cubicBezTo>
                    <a:pt x="111089" y="136546"/>
                    <a:pt x="113987" y="123837"/>
                    <a:pt x="113987" y="122945"/>
                  </a:cubicBezTo>
                  <a:cubicBezTo>
                    <a:pt x="113987" y="120046"/>
                    <a:pt x="111089" y="120046"/>
                    <a:pt x="110420" y="120046"/>
                  </a:cubicBezTo>
                  <a:cubicBezTo>
                    <a:pt x="107298" y="120046"/>
                    <a:pt x="107075" y="120938"/>
                    <a:pt x="105514" y="126958"/>
                  </a:cubicBezTo>
                  <a:cubicBezTo>
                    <a:pt x="102839" y="137661"/>
                    <a:pt x="98602" y="150817"/>
                    <a:pt x="89237" y="150817"/>
                  </a:cubicBezTo>
                  <a:cubicBezTo>
                    <a:pt x="83440" y="150817"/>
                    <a:pt x="81879" y="145911"/>
                    <a:pt x="81879" y="139891"/>
                  </a:cubicBezTo>
                  <a:cubicBezTo>
                    <a:pt x="81879" y="135654"/>
                    <a:pt x="82325" y="133648"/>
                    <a:pt x="82994" y="130749"/>
                  </a:cubicBezTo>
                  <a:lnTo>
                    <a:pt x="113987" y="6775"/>
                  </a:lnTo>
                  <a:close/>
                  <a:moveTo>
                    <a:pt x="66494" y="126958"/>
                  </a:moveTo>
                  <a:cubicBezTo>
                    <a:pt x="64933" y="133202"/>
                    <a:pt x="60027" y="137661"/>
                    <a:pt x="55122" y="141898"/>
                  </a:cubicBezTo>
                  <a:cubicBezTo>
                    <a:pt x="53115" y="143681"/>
                    <a:pt x="44196" y="150817"/>
                    <a:pt x="34608" y="150817"/>
                  </a:cubicBezTo>
                  <a:cubicBezTo>
                    <a:pt x="26358" y="150817"/>
                    <a:pt x="18331" y="145019"/>
                    <a:pt x="18331" y="129188"/>
                  </a:cubicBezTo>
                  <a:cubicBezTo>
                    <a:pt x="18331" y="117370"/>
                    <a:pt x="24797" y="92843"/>
                    <a:pt x="29926" y="83924"/>
                  </a:cubicBezTo>
                  <a:cubicBezTo>
                    <a:pt x="40183" y="66086"/>
                    <a:pt x="51554" y="62742"/>
                    <a:pt x="57798" y="62742"/>
                  </a:cubicBezTo>
                  <a:cubicBezTo>
                    <a:pt x="73406" y="62742"/>
                    <a:pt x="77642" y="79688"/>
                    <a:pt x="77642" y="82140"/>
                  </a:cubicBezTo>
                  <a:cubicBezTo>
                    <a:pt x="77642" y="83032"/>
                    <a:pt x="77196" y="84593"/>
                    <a:pt x="76974" y="85262"/>
                  </a:cubicBezTo>
                  <a:lnTo>
                    <a:pt x="66494" y="126958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4" name="任意形状 2083">
              <a:extLst>
                <a:ext uri="{FF2B5EF4-FFF2-40B4-BE49-F238E27FC236}">
                  <a16:creationId xmlns:a16="http://schemas.microsoft.com/office/drawing/2014/main" id="{9FCC67C5-23EE-E1F0-2003-71439A81AA0B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2181434" y="6523767"/>
              <a:ext cx="33764" cy="33764"/>
            </a:xfrm>
            <a:custGeom>
              <a:avLst/>
              <a:gdLst>
                <a:gd name="connsiteX0" fmla="*/ 33981 w 33764"/>
                <a:gd name="connsiteY0" fmla="*/ 16977 h 33764"/>
                <a:gd name="connsiteX1" fmla="*/ 17098 w 33764"/>
                <a:gd name="connsiteY1" fmla="*/ 95 h 33764"/>
                <a:gd name="connsiteX2" fmla="*/ 216 w 33764"/>
                <a:gd name="connsiteY2" fmla="*/ 16977 h 33764"/>
                <a:gd name="connsiteX3" fmla="*/ 17098 w 33764"/>
                <a:gd name="connsiteY3" fmla="*/ 33859 h 33764"/>
                <a:gd name="connsiteX4" fmla="*/ 33981 w 33764"/>
                <a:gd name="connsiteY4" fmla="*/ 16977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3981" y="16977"/>
                  </a:moveTo>
                  <a:cubicBezTo>
                    <a:pt x="33981" y="7740"/>
                    <a:pt x="26336" y="95"/>
                    <a:pt x="17098" y="95"/>
                  </a:cubicBezTo>
                  <a:cubicBezTo>
                    <a:pt x="7861" y="95"/>
                    <a:pt x="216" y="7740"/>
                    <a:pt x="216" y="16977"/>
                  </a:cubicBezTo>
                  <a:cubicBezTo>
                    <a:pt x="216" y="26215"/>
                    <a:pt x="7861" y="33859"/>
                    <a:pt x="17098" y="33859"/>
                  </a:cubicBezTo>
                  <a:cubicBezTo>
                    <a:pt x="26336" y="33859"/>
                    <a:pt x="33981" y="26215"/>
                    <a:pt x="33981" y="16977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5" name="任意形状 2084">
              <a:extLst>
                <a:ext uri="{FF2B5EF4-FFF2-40B4-BE49-F238E27FC236}">
                  <a16:creationId xmlns:a16="http://schemas.microsoft.com/office/drawing/2014/main" id="{91269AF4-E099-1CD2-B95F-B27ACD9537B8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2181434" y="6651181"/>
              <a:ext cx="33764" cy="33764"/>
            </a:xfrm>
            <a:custGeom>
              <a:avLst/>
              <a:gdLst>
                <a:gd name="connsiteX0" fmla="*/ 33981 w 33764"/>
                <a:gd name="connsiteY0" fmla="*/ 16981 h 33764"/>
                <a:gd name="connsiteX1" fmla="*/ 17098 w 33764"/>
                <a:gd name="connsiteY1" fmla="*/ 99 h 33764"/>
                <a:gd name="connsiteX2" fmla="*/ 216 w 33764"/>
                <a:gd name="connsiteY2" fmla="*/ 16981 h 33764"/>
                <a:gd name="connsiteX3" fmla="*/ 17098 w 33764"/>
                <a:gd name="connsiteY3" fmla="*/ 33863 h 33764"/>
                <a:gd name="connsiteX4" fmla="*/ 33981 w 33764"/>
                <a:gd name="connsiteY4" fmla="*/ 16981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3981" y="16981"/>
                  </a:moveTo>
                  <a:cubicBezTo>
                    <a:pt x="33981" y="7744"/>
                    <a:pt x="26336" y="99"/>
                    <a:pt x="17098" y="99"/>
                  </a:cubicBezTo>
                  <a:cubicBezTo>
                    <a:pt x="7861" y="99"/>
                    <a:pt x="216" y="7744"/>
                    <a:pt x="216" y="16981"/>
                  </a:cubicBezTo>
                  <a:cubicBezTo>
                    <a:pt x="216" y="26219"/>
                    <a:pt x="7861" y="33863"/>
                    <a:pt x="17098" y="33863"/>
                  </a:cubicBezTo>
                  <a:cubicBezTo>
                    <a:pt x="26336" y="33863"/>
                    <a:pt x="33981" y="26219"/>
                    <a:pt x="33981" y="16981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6" name="任意形状 2085">
              <a:extLst>
                <a:ext uri="{FF2B5EF4-FFF2-40B4-BE49-F238E27FC236}">
                  <a16:creationId xmlns:a16="http://schemas.microsoft.com/office/drawing/2014/main" id="{349501E2-C1AC-0E34-7393-C0C70020AEAE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2181434" y="6778595"/>
              <a:ext cx="33764" cy="33764"/>
            </a:xfrm>
            <a:custGeom>
              <a:avLst/>
              <a:gdLst>
                <a:gd name="connsiteX0" fmla="*/ 33981 w 33764"/>
                <a:gd name="connsiteY0" fmla="*/ 16985 h 33764"/>
                <a:gd name="connsiteX1" fmla="*/ 17098 w 33764"/>
                <a:gd name="connsiteY1" fmla="*/ 103 h 33764"/>
                <a:gd name="connsiteX2" fmla="*/ 216 w 33764"/>
                <a:gd name="connsiteY2" fmla="*/ 16985 h 33764"/>
                <a:gd name="connsiteX3" fmla="*/ 17098 w 33764"/>
                <a:gd name="connsiteY3" fmla="*/ 33867 h 33764"/>
                <a:gd name="connsiteX4" fmla="*/ 33981 w 33764"/>
                <a:gd name="connsiteY4" fmla="*/ 16985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3981" y="16985"/>
                  </a:moveTo>
                  <a:cubicBezTo>
                    <a:pt x="33981" y="7748"/>
                    <a:pt x="26336" y="103"/>
                    <a:pt x="17098" y="103"/>
                  </a:cubicBezTo>
                  <a:cubicBezTo>
                    <a:pt x="7861" y="103"/>
                    <a:pt x="216" y="7748"/>
                    <a:pt x="216" y="16985"/>
                  </a:cubicBezTo>
                  <a:cubicBezTo>
                    <a:pt x="216" y="26223"/>
                    <a:pt x="7861" y="33867"/>
                    <a:pt x="17098" y="33867"/>
                  </a:cubicBezTo>
                  <a:cubicBezTo>
                    <a:pt x="26336" y="33867"/>
                    <a:pt x="33981" y="26223"/>
                    <a:pt x="33981" y="16985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7" name="任意形状 2086">
              <a:extLst>
                <a:ext uri="{FF2B5EF4-FFF2-40B4-BE49-F238E27FC236}">
                  <a16:creationId xmlns:a16="http://schemas.microsoft.com/office/drawing/2014/main" id="{72512E0F-3B34-0B45-DB79-C7E52A780ED1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2982384" y="6523767"/>
              <a:ext cx="33764" cy="33764"/>
            </a:xfrm>
            <a:custGeom>
              <a:avLst/>
              <a:gdLst>
                <a:gd name="connsiteX0" fmla="*/ 34006 w 33764"/>
                <a:gd name="connsiteY0" fmla="*/ 16977 h 33764"/>
                <a:gd name="connsiteX1" fmla="*/ 17123 w 33764"/>
                <a:gd name="connsiteY1" fmla="*/ 95 h 33764"/>
                <a:gd name="connsiteX2" fmla="*/ 241 w 33764"/>
                <a:gd name="connsiteY2" fmla="*/ 16977 h 33764"/>
                <a:gd name="connsiteX3" fmla="*/ 17123 w 33764"/>
                <a:gd name="connsiteY3" fmla="*/ 33859 h 33764"/>
                <a:gd name="connsiteX4" fmla="*/ 34006 w 33764"/>
                <a:gd name="connsiteY4" fmla="*/ 16977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4006" y="16977"/>
                  </a:moveTo>
                  <a:cubicBezTo>
                    <a:pt x="34006" y="7740"/>
                    <a:pt x="26361" y="95"/>
                    <a:pt x="17123" y="95"/>
                  </a:cubicBezTo>
                  <a:cubicBezTo>
                    <a:pt x="7886" y="95"/>
                    <a:pt x="241" y="7740"/>
                    <a:pt x="241" y="16977"/>
                  </a:cubicBezTo>
                  <a:cubicBezTo>
                    <a:pt x="241" y="26215"/>
                    <a:pt x="7886" y="33859"/>
                    <a:pt x="17123" y="33859"/>
                  </a:cubicBezTo>
                  <a:cubicBezTo>
                    <a:pt x="26361" y="33859"/>
                    <a:pt x="34006" y="26215"/>
                    <a:pt x="34006" y="16977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8" name="任意形状 2087">
              <a:extLst>
                <a:ext uri="{FF2B5EF4-FFF2-40B4-BE49-F238E27FC236}">
                  <a16:creationId xmlns:a16="http://schemas.microsoft.com/office/drawing/2014/main" id="{D1FBA35F-F04F-82A9-6739-C8FBF16898F7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2982384" y="6651181"/>
              <a:ext cx="33764" cy="33764"/>
            </a:xfrm>
            <a:custGeom>
              <a:avLst/>
              <a:gdLst>
                <a:gd name="connsiteX0" fmla="*/ 34006 w 33764"/>
                <a:gd name="connsiteY0" fmla="*/ 16981 h 33764"/>
                <a:gd name="connsiteX1" fmla="*/ 17123 w 33764"/>
                <a:gd name="connsiteY1" fmla="*/ 99 h 33764"/>
                <a:gd name="connsiteX2" fmla="*/ 241 w 33764"/>
                <a:gd name="connsiteY2" fmla="*/ 16981 h 33764"/>
                <a:gd name="connsiteX3" fmla="*/ 17123 w 33764"/>
                <a:gd name="connsiteY3" fmla="*/ 33863 h 33764"/>
                <a:gd name="connsiteX4" fmla="*/ 34006 w 33764"/>
                <a:gd name="connsiteY4" fmla="*/ 16981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4006" y="16981"/>
                  </a:moveTo>
                  <a:cubicBezTo>
                    <a:pt x="34006" y="7744"/>
                    <a:pt x="26361" y="99"/>
                    <a:pt x="17123" y="99"/>
                  </a:cubicBezTo>
                  <a:cubicBezTo>
                    <a:pt x="7886" y="99"/>
                    <a:pt x="241" y="7744"/>
                    <a:pt x="241" y="16981"/>
                  </a:cubicBezTo>
                  <a:cubicBezTo>
                    <a:pt x="241" y="26219"/>
                    <a:pt x="7886" y="33863"/>
                    <a:pt x="17123" y="33863"/>
                  </a:cubicBezTo>
                  <a:cubicBezTo>
                    <a:pt x="26361" y="33863"/>
                    <a:pt x="34006" y="26219"/>
                    <a:pt x="34006" y="16981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9" name="任意形状 2088">
              <a:extLst>
                <a:ext uri="{FF2B5EF4-FFF2-40B4-BE49-F238E27FC236}">
                  <a16:creationId xmlns:a16="http://schemas.microsoft.com/office/drawing/2014/main" id="{D2A6EC16-EC80-DA82-F064-D2F43B766D02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2982384" y="6778595"/>
              <a:ext cx="33764" cy="33764"/>
            </a:xfrm>
            <a:custGeom>
              <a:avLst/>
              <a:gdLst>
                <a:gd name="connsiteX0" fmla="*/ 34006 w 33764"/>
                <a:gd name="connsiteY0" fmla="*/ 16985 h 33764"/>
                <a:gd name="connsiteX1" fmla="*/ 17123 w 33764"/>
                <a:gd name="connsiteY1" fmla="*/ 103 h 33764"/>
                <a:gd name="connsiteX2" fmla="*/ 241 w 33764"/>
                <a:gd name="connsiteY2" fmla="*/ 16985 h 33764"/>
                <a:gd name="connsiteX3" fmla="*/ 17123 w 33764"/>
                <a:gd name="connsiteY3" fmla="*/ 33867 h 33764"/>
                <a:gd name="connsiteX4" fmla="*/ 34006 w 33764"/>
                <a:gd name="connsiteY4" fmla="*/ 16985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4006" y="16985"/>
                  </a:moveTo>
                  <a:cubicBezTo>
                    <a:pt x="34006" y="7748"/>
                    <a:pt x="26361" y="103"/>
                    <a:pt x="17123" y="103"/>
                  </a:cubicBezTo>
                  <a:cubicBezTo>
                    <a:pt x="7886" y="103"/>
                    <a:pt x="241" y="7748"/>
                    <a:pt x="241" y="16985"/>
                  </a:cubicBezTo>
                  <a:cubicBezTo>
                    <a:pt x="241" y="26223"/>
                    <a:pt x="7886" y="33867"/>
                    <a:pt x="17123" y="33867"/>
                  </a:cubicBezTo>
                  <a:cubicBezTo>
                    <a:pt x="26361" y="33867"/>
                    <a:pt x="34006" y="26223"/>
                    <a:pt x="34006" y="16985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0" name="任意形状 2089">
              <a:extLst>
                <a:ext uri="{FF2B5EF4-FFF2-40B4-BE49-F238E27FC236}">
                  <a16:creationId xmlns:a16="http://schemas.microsoft.com/office/drawing/2014/main" id="{9D77DDAA-962A-8810-86D5-86EB69C34BDD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3786148" y="6523767"/>
              <a:ext cx="33764" cy="33764"/>
            </a:xfrm>
            <a:custGeom>
              <a:avLst/>
              <a:gdLst>
                <a:gd name="connsiteX0" fmla="*/ 34031 w 33764"/>
                <a:gd name="connsiteY0" fmla="*/ 16977 h 33764"/>
                <a:gd name="connsiteX1" fmla="*/ 17149 w 33764"/>
                <a:gd name="connsiteY1" fmla="*/ 95 h 33764"/>
                <a:gd name="connsiteX2" fmla="*/ 266 w 33764"/>
                <a:gd name="connsiteY2" fmla="*/ 16977 h 33764"/>
                <a:gd name="connsiteX3" fmla="*/ 17149 w 33764"/>
                <a:gd name="connsiteY3" fmla="*/ 33859 h 33764"/>
                <a:gd name="connsiteX4" fmla="*/ 34031 w 33764"/>
                <a:gd name="connsiteY4" fmla="*/ 16977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4031" y="16977"/>
                  </a:moveTo>
                  <a:cubicBezTo>
                    <a:pt x="34031" y="7740"/>
                    <a:pt x="26386" y="95"/>
                    <a:pt x="17149" y="95"/>
                  </a:cubicBezTo>
                  <a:cubicBezTo>
                    <a:pt x="7911" y="95"/>
                    <a:pt x="266" y="7740"/>
                    <a:pt x="266" y="16977"/>
                  </a:cubicBezTo>
                  <a:cubicBezTo>
                    <a:pt x="266" y="26215"/>
                    <a:pt x="7911" y="33859"/>
                    <a:pt x="17149" y="33859"/>
                  </a:cubicBezTo>
                  <a:cubicBezTo>
                    <a:pt x="26386" y="33859"/>
                    <a:pt x="34031" y="26215"/>
                    <a:pt x="34031" y="16977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1" name="任意形状 2090">
              <a:extLst>
                <a:ext uri="{FF2B5EF4-FFF2-40B4-BE49-F238E27FC236}">
                  <a16:creationId xmlns:a16="http://schemas.microsoft.com/office/drawing/2014/main" id="{42D2F094-B8A8-2EFF-AB62-CE597BD958B7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3786148" y="6651181"/>
              <a:ext cx="33764" cy="33764"/>
            </a:xfrm>
            <a:custGeom>
              <a:avLst/>
              <a:gdLst>
                <a:gd name="connsiteX0" fmla="*/ 34031 w 33764"/>
                <a:gd name="connsiteY0" fmla="*/ 16981 h 33764"/>
                <a:gd name="connsiteX1" fmla="*/ 17149 w 33764"/>
                <a:gd name="connsiteY1" fmla="*/ 99 h 33764"/>
                <a:gd name="connsiteX2" fmla="*/ 266 w 33764"/>
                <a:gd name="connsiteY2" fmla="*/ 16981 h 33764"/>
                <a:gd name="connsiteX3" fmla="*/ 17149 w 33764"/>
                <a:gd name="connsiteY3" fmla="*/ 33863 h 33764"/>
                <a:gd name="connsiteX4" fmla="*/ 34031 w 33764"/>
                <a:gd name="connsiteY4" fmla="*/ 16981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4031" y="16981"/>
                  </a:moveTo>
                  <a:cubicBezTo>
                    <a:pt x="34031" y="7744"/>
                    <a:pt x="26386" y="99"/>
                    <a:pt x="17149" y="99"/>
                  </a:cubicBezTo>
                  <a:cubicBezTo>
                    <a:pt x="7911" y="99"/>
                    <a:pt x="266" y="7744"/>
                    <a:pt x="266" y="16981"/>
                  </a:cubicBezTo>
                  <a:cubicBezTo>
                    <a:pt x="266" y="26219"/>
                    <a:pt x="7911" y="33863"/>
                    <a:pt x="17149" y="33863"/>
                  </a:cubicBezTo>
                  <a:cubicBezTo>
                    <a:pt x="26386" y="33863"/>
                    <a:pt x="34031" y="26219"/>
                    <a:pt x="34031" y="16981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2" name="任意形状 2091">
              <a:extLst>
                <a:ext uri="{FF2B5EF4-FFF2-40B4-BE49-F238E27FC236}">
                  <a16:creationId xmlns:a16="http://schemas.microsoft.com/office/drawing/2014/main" id="{45056C03-F068-5BE1-2A6C-889C939173A1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3786148" y="6778595"/>
              <a:ext cx="33764" cy="33764"/>
            </a:xfrm>
            <a:custGeom>
              <a:avLst/>
              <a:gdLst>
                <a:gd name="connsiteX0" fmla="*/ 34031 w 33764"/>
                <a:gd name="connsiteY0" fmla="*/ 16985 h 33764"/>
                <a:gd name="connsiteX1" fmla="*/ 17149 w 33764"/>
                <a:gd name="connsiteY1" fmla="*/ 103 h 33764"/>
                <a:gd name="connsiteX2" fmla="*/ 266 w 33764"/>
                <a:gd name="connsiteY2" fmla="*/ 16985 h 33764"/>
                <a:gd name="connsiteX3" fmla="*/ 17149 w 33764"/>
                <a:gd name="connsiteY3" fmla="*/ 33867 h 33764"/>
                <a:gd name="connsiteX4" fmla="*/ 34031 w 33764"/>
                <a:gd name="connsiteY4" fmla="*/ 16985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4031" y="16985"/>
                  </a:moveTo>
                  <a:cubicBezTo>
                    <a:pt x="34031" y="7748"/>
                    <a:pt x="26386" y="103"/>
                    <a:pt x="17149" y="103"/>
                  </a:cubicBezTo>
                  <a:cubicBezTo>
                    <a:pt x="7911" y="103"/>
                    <a:pt x="266" y="7748"/>
                    <a:pt x="266" y="16985"/>
                  </a:cubicBezTo>
                  <a:cubicBezTo>
                    <a:pt x="266" y="26223"/>
                    <a:pt x="7911" y="33867"/>
                    <a:pt x="17149" y="33867"/>
                  </a:cubicBezTo>
                  <a:cubicBezTo>
                    <a:pt x="26386" y="33867"/>
                    <a:pt x="34031" y="26223"/>
                    <a:pt x="34031" y="16985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3" name="任意形状 2092">
              <a:extLst>
                <a:ext uri="{FF2B5EF4-FFF2-40B4-BE49-F238E27FC236}">
                  <a16:creationId xmlns:a16="http://schemas.microsoft.com/office/drawing/2014/main" id="{48902F48-46AF-CA76-661C-DE68C80CD1AF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1966312" y="7053810"/>
              <a:ext cx="158630" cy="144296"/>
            </a:xfrm>
            <a:custGeom>
              <a:avLst/>
              <a:gdLst>
                <a:gd name="connsiteX0" fmla="*/ 97363 w 158630"/>
                <a:gd name="connsiteY0" fmla="*/ 44710 h 144296"/>
                <a:gd name="connsiteX1" fmla="*/ 128898 w 158630"/>
                <a:gd name="connsiteY1" fmla="*/ 7122 h 144296"/>
                <a:gd name="connsiteX2" fmla="*/ 144825 w 158630"/>
                <a:gd name="connsiteY2" fmla="*/ 11263 h 144296"/>
                <a:gd name="connsiteX3" fmla="*/ 129535 w 158630"/>
                <a:gd name="connsiteY3" fmla="*/ 28464 h 144296"/>
                <a:gd name="connsiteX4" fmla="*/ 141640 w 158630"/>
                <a:gd name="connsiteY4" fmla="*/ 39613 h 144296"/>
                <a:gd name="connsiteX5" fmla="*/ 158841 w 158630"/>
                <a:gd name="connsiteY5" fmla="*/ 21138 h 144296"/>
                <a:gd name="connsiteX6" fmla="*/ 129217 w 158630"/>
                <a:gd name="connsiteY6" fmla="*/ 115 h 144296"/>
                <a:gd name="connsiteX7" fmla="*/ 95771 w 158630"/>
                <a:gd name="connsiteY7" fmla="*/ 24323 h 144296"/>
                <a:gd name="connsiteX8" fmla="*/ 61369 w 158630"/>
                <a:gd name="connsiteY8" fmla="*/ 115 h 144296"/>
                <a:gd name="connsiteX9" fmla="*/ 10084 w 158630"/>
                <a:gd name="connsiteY9" fmla="*/ 49169 h 144296"/>
                <a:gd name="connsiteX10" fmla="*/ 13907 w 158630"/>
                <a:gd name="connsiteY10" fmla="*/ 52354 h 144296"/>
                <a:gd name="connsiteX11" fmla="*/ 18048 w 158630"/>
                <a:gd name="connsiteY11" fmla="*/ 48851 h 144296"/>
                <a:gd name="connsiteX12" fmla="*/ 60732 w 158630"/>
                <a:gd name="connsiteY12" fmla="*/ 7122 h 144296"/>
                <a:gd name="connsiteX13" fmla="*/ 77933 w 158630"/>
                <a:gd name="connsiteY13" fmla="*/ 28464 h 144296"/>
                <a:gd name="connsiteX14" fmla="*/ 60732 w 158630"/>
                <a:gd name="connsiteY14" fmla="*/ 104276 h 144296"/>
                <a:gd name="connsiteX15" fmla="*/ 30471 w 158630"/>
                <a:gd name="connsiteY15" fmla="*/ 137404 h 144296"/>
                <a:gd name="connsiteX16" fmla="*/ 14544 w 158630"/>
                <a:gd name="connsiteY16" fmla="*/ 133263 h 144296"/>
                <a:gd name="connsiteX17" fmla="*/ 29515 w 158630"/>
                <a:gd name="connsiteY17" fmla="*/ 116062 h 144296"/>
                <a:gd name="connsiteX18" fmla="*/ 17729 w 158630"/>
                <a:gd name="connsiteY18" fmla="*/ 104913 h 144296"/>
                <a:gd name="connsiteX19" fmla="*/ 210 w 158630"/>
                <a:gd name="connsiteY19" fmla="*/ 123388 h 144296"/>
                <a:gd name="connsiteX20" fmla="*/ 30152 w 158630"/>
                <a:gd name="connsiteY20" fmla="*/ 144411 h 144296"/>
                <a:gd name="connsiteX21" fmla="*/ 63598 w 158630"/>
                <a:gd name="connsiteY21" fmla="*/ 120203 h 144296"/>
                <a:gd name="connsiteX22" fmla="*/ 98000 w 158630"/>
                <a:gd name="connsiteY22" fmla="*/ 144411 h 144296"/>
                <a:gd name="connsiteX23" fmla="*/ 148966 w 158630"/>
                <a:gd name="connsiteY23" fmla="*/ 95357 h 144296"/>
                <a:gd name="connsiteX24" fmla="*/ 145144 w 158630"/>
                <a:gd name="connsiteY24" fmla="*/ 92171 h 144296"/>
                <a:gd name="connsiteX25" fmla="*/ 141003 w 158630"/>
                <a:gd name="connsiteY25" fmla="*/ 95675 h 144296"/>
                <a:gd name="connsiteX26" fmla="*/ 98637 w 158630"/>
                <a:gd name="connsiteY26" fmla="*/ 137404 h 144296"/>
                <a:gd name="connsiteX27" fmla="*/ 81118 w 158630"/>
                <a:gd name="connsiteY27" fmla="*/ 116380 h 144296"/>
                <a:gd name="connsiteX28" fmla="*/ 86533 w 158630"/>
                <a:gd name="connsiteY28" fmla="*/ 88349 h 144296"/>
                <a:gd name="connsiteX29" fmla="*/ 97363 w 158630"/>
                <a:gd name="connsiteY29" fmla="*/ 44710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8630" h="144296">
                  <a:moveTo>
                    <a:pt x="97363" y="44710"/>
                  </a:moveTo>
                  <a:cubicBezTo>
                    <a:pt x="99274" y="36428"/>
                    <a:pt x="106601" y="7122"/>
                    <a:pt x="128898" y="7122"/>
                  </a:cubicBezTo>
                  <a:cubicBezTo>
                    <a:pt x="130491" y="7122"/>
                    <a:pt x="138136" y="7122"/>
                    <a:pt x="144825" y="11263"/>
                  </a:cubicBezTo>
                  <a:cubicBezTo>
                    <a:pt x="135906" y="12856"/>
                    <a:pt x="129535" y="20819"/>
                    <a:pt x="129535" y="28464"/>
                  </a:cubicBezTo>
                  <a:cubicBezTo>
                    <a:pt x="129535" y="33561"/>
                    <a:pt x="133039" y="39613"/>
                    <a:pt x="141640" y="39613"/>
                  </a:cubicBezTo>
                  <a:cubicBezTo>
                    <a:pt x="148648" y="39613"/>
                    <a:pt x="158841" y="33879"/>
                    <a:pt x="158841" y="21138"/>
                  </a:cubicBezTo>
                  <a:cubicBezTo>
                    <a:pt x="158841" y="4574"/>
                    <a:pt x="140047" y="115"/>
                    <a:pt x="129217" y="115"/>
                  </a:cubicBezTo>
                  <a:cubicBezTo>
                    <a:pt x="110742" y="115"/>
                    <a:pt x="99593" y="16997"/>
                    <a:pt x="95771" y="24323"/>
                  </a:cubicBezTo>
                  <a:cubicBezTo>
                    <a:pt x="87807" y="3300"/>
                    <a:pt x="70606" y="115"/>
                    <a:pt x="61369" y="115"/>
                  </a:cubicBezTo>
                  <a:cubicBezTo>
                    <a:pt x="28241" y="115"/>
                    <a:pt x="10084" y="41206"/>
                    <a:pt x="10084" y="49169"/>
                  </a:cubicBezTo>
                  <a:cubicBezTo>
                    <a:pt x="10084" y="52354"/>
                    <a:pt x="13270" y="52354"/>
                    <a:pt x="13907" y="52354"/>
                  </a:cubicBezTo>
                  <a:cubicBezTo>
                    <a:pt x="16455" y="52354"/>
                    <a:pt x="17411" y="51717"/>
                    <a:pt x="18048" y="48851"/>
                  </a:cubicBezTo>
                  <a:cubicBezTo>
                    <a:pt x="28878" y="15086"/>
                    <a:pt x="49901" y="7122"/>
                    <a:pt x="60732" y="7122"/>
                  </a:cubicBezTo>
                  <a:cubicBezTo>
                    <a:pt x="66784" y="7122"/>
                    <a:pt x="77933" y="9989"/>
                    <a:pt x="77933" y="28464"/>
                  </a:cubicBezTo>
                  <a:cubicBezTo>
                    <a:pt x="77933" y="38339"/>
                    <a:pt x="72517" y="59681"/>
                    <a:pt x="60732" y="104276"/>
                  </a:cubicBezTo>
                  <a:cubicBezTo>
                    <a:pt x="55635" y="124025"/>
                    <a:pt x="44486" y="137404"/>
                    <a:pt x="30471" y="137404"/>
                  </a:cubicBezTo>
                  <a:cubicBezTo>
                    <a:pt x="28560" y="137404"/>
                    <a:pt x="21233" y="137404"/>
                    <a:pt x="14544" y="133263"/>
                  </a:cubicBezTo>
                  <a:cubicBezTo>
                    <a:pt x="22507" y="131670"/>
                    <a:pt x="29515" y="124981"/>
                    <a:pt x="29515" y="116062"/>
                  </a:cubicBezTo>
                  <a:cubicBezTo>
                    <a:pt x="29515" y="107461"/>
                    <a:pt x="22507" y="104913"/>
                    <a:pt x="17729" y="104913"/>
                  </a:cubicBezTo>
                  <a:cubicBezTo>
                    <a:pt x="8173" y="104913"/>
                    <a:pt x="210" y="113195"/>
                    <a:pt x="210" y="123388"/>
                  </a:cubicBezTo>
                  <a:cubicBezTo>
                    <a:pt x="210" y="138041"/>
                    <a:pt x="16137" y="144411"/>
                    <a:pt x="30152" y="144411"/>
                  </a:cubicBezTo>
                  <a:cubicBezTo>
                    <a:pt x="51176" y="144411"/>
                    <a:pt x="62643" y="122114"/>
                    <a:pt x="63598" y="120203"/>
                  </a:cubicBezTo>
                  <a:cubicBezTo>
                    <a:pt x="67421" y="131988"/>
                    <a:pt x="78888" y="144411"/>
                    <a:pt x="98000" y="144411"/>
                  </a:cubicBezTo>
                  <a:cubicBezTo>
                    <a:pt x="130810" y="144411"/>
                    <a:pt x="148966" y="103320"/>
                    <a:pt x="148966" y="95357"/>
                  </a:cubicBezTo>
                  <a:cubicBezTo>
                    <a:pt x="148966" y="92171"/>
                    <a:pt x="146099" y="92171"/>
                    <a:pt x="145144" y="92171"/>
                  </a:cubicBezTo>
                  <a:cubicBezTo>
                    <a:pt x="142277" y="92171"/>
                    <a:pt x="141640" y="93446"/>
                    <a:pt x="141003" y="95675"/>
                  </a:cubicBezTo>
                  <a:cubicBezTo>
                    <a:pt x="130491" y="129759"/>
                    <a:pt x="108831" y="137404"/>
                    <a:pt x="98637" y="137404"/>
                  </a:cubicBezTo>
                  <a:cubicBezTo>
                    <a:pt x="86214" y="137404"/>
                    <a:pt x="81118" y="127210"/>
                    <a:pt x="81118" y="116380"/>
                  </a:cubicBezTo>
                  <a:cubicBezTo>
                    <a:pt x="81118" y="109372"/>
                    <a:pt x="83029" y="102365"/>
                    <a:pt x="86533" y="88349"/>
                  </a:cubicBezTo>
                  <a:lnTo>
                    <a:pt x="97363" y="4471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4" name="任意形状 2093">
              <a:extLst>
                <a:ext uri="{FF2B5EF4-FFF2-40B4-BE49-F238E27FC236}">
                  <a16:creationId xmlns:a16="http://schemas.microsoft.com/office/drawing/2014/main" id="{A3EC5AAD-F956-7F63-CBEF-1EB998C3628F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2149607" y="7144051"/>
              <a:ext cx="136237" cy="100561"/>
            </a:xfrm>
            <a:custGeom>
              <a:avLst/>
              <a:gdLst>
                <a:gd name="connsiteX0" fmla="*/ 16939 w 136237"/>
                <a:gd name="connsiteY0" fmla="*/ 84401 h 100561"/>
                <a:gd name="connsiteX1" fmla="*/ 14709 w 136237"/>
                <a:gd name="connsiteY1" fmla="*/ 93543 h 100561"/>
                <a:gd name="connsiteX2" fmla="*/ 22290 w 136237"/>
                <a:gd name="connsiteY2" fmla="*/ 100678 h 100561"/>
                <a:gd name="connsiteX3" fmla="*/ 30986 w 136237"/>
                <a:gd name="connsiteY3" fmla="*/ 95772 h 100561"/>
                <a:gd name="connsiteX4" fmla="*/ 35000 w 136237"/>
                <a:gd name="connsiteY4" fmla="*/ 81948 h 100561"/>
                <a:gd name="connsiteX5" fmla="*/ 39905 w 136237"/>
                <a:gd name="connsiteY5" fmla="*/ 61880 h 100561"/>
                <a:gd name="connsiteX6" fmla="*/ 43696 w 136237"/>
                <a:gd name="connsiteY6" fmla="*/ 46941 h 100561"/>
                <a:gd name="connsiteX7" fmla="*/ 53061 w 136237"/>
                <a:gd name="connsiteY7" fmla="*/ 26873 h 100561"/>
                <a:gd name="connsiteX8" fmla="*/ 86507 w 136237"/>
                <a:gd name="connsiteY8" fmla="*/ 6359 h 100561"/>
                <a:gd name="connsiteX9" fmla="*/ 99662 w 136237"/>
                <a:gd name="connsiteY9" fmla="*/ 21968 h 100561"/>
                <a:gd name="connsiteX10" fmla="*/ 86507 w 136237"/>
                <a:gd name="connsiteY10" fmla="*/ 69461 h 100561"/>
                <a:gd name="connsiteX11" fmla="*/ 83162 w 136237"/>
                <a:gd name="connsiteY11" fmla="*/ 81502 h 100561"/>
                <a:gd name="connsiteX12" fmla="*/ 104345 w 136237"/>
                <a:gd name="connsiteY12" fmla="*/ 100678 h 100561"/>
                <a:gd name="connsiteX13" fmla="*/ 136453 w 136237"/>
                <a:gd name="connsiteY13" fmla="*/ 66563 h 100561"/>
                <a:gd name="connsiteX14" fmla="*/ 132886 w 136237"/>
                <a:gd name="connsiteY14" fmla="*/ 63664 h 100561"/>
                <a:gd name="connsiteX15" fmla="*/ 128649 w 136237"/>
                <a:gd name="connsiteY15" fmla="*/ 67455 h 100561"/>
                <a:gd name="connsiteX16" fmla="*/ 105014 w 136237"/>
                <a:gd name="connsiteY16" fmla="*/ 94435 h 100561"/>
                <a:gd name="connsiteX17" fmla="*/ 99439 w 136237"/>
                <a:gd name="connsiteY17" fmla="*/ 86630 h 100561"/>
                <a:gd name="connsiteX18" fmla="*/ 104568 w 136237"/>
                <a:gd name="connsiteY18" fmla="*/ 68569 h 100561"/>
                <a:gd name="connsiteX19" fmla="*/ 116386 w 136237"/>
                <a:gd name="connsiteY19" fmla="*/ 25535 h 100561"/>
                <a:gd name="connsiteX20" fmla="*/ 87399 w 136237"/>
                <a:gd name="connsiteY20" fmla="*/ 116 h 100561"/>
                <a:gd name="connsiteX21" fmla="*/ 49716 w 136237"/>
                <a:gd name="connsiteY21" fmla="*/ 20407 h 100561"/>
                <a:gd name="connsiteX22" fmla="*/ 25858 w 136237"/>
                <a:gd name="connsiteY22" fmla="*/ 116 h 100561"/>
                <a:gd name="connsiteX23" fmla="*/ 8243 w 136237"/>
                <a:gd name="connsiteY23" fmla="*/ 12157 h 100561"/>
                <a:gd name="connsiteX24" fmla="*/ 216 w 136237"/>
                <a:gd name="connsiteY24" fmla="*/ 34231 h 100561"/>
                <a:gd name="connsiteX25" fmla="*/ 4006 w 136237"/>
                <a:gd name="connsiteY25" fmla="*/ 37130 h 100561"/>
                <a:gd name="connsiteX26" fmla="*/ 8912 w 136237"/>
                <a:gd name="connsiteY26" fmla="*/ 30441 h 100561"/>
                <a:gd name="connsiteX27" fmla="*/ 25189 w 136237"/>
                <a:gd name="connsiteY27" fmla="*/ 6359 h 100561"/>
                <a:gd name="connsiteX28" fmla="*/ 32547 w 136237"/>
                <a:gd name="connsiteY28" fmla="*/ 17285 h 100561"/>
                <a:gd name="connsiteX29" fmla="*/ 28979 w 136237"/>
                <a:gd name="connsiteY29" fmla="*/ 35792 h 100561"/>
                <a:gd name="connsiteX30" fmla="*/ 24074 w 136237"/>
                <a:gd name="connsiteY30" fmla="*/ 55860 h 100561"/>
                <a:gd name="connsiteX31" fmla="*/ 16939 w 136237"/>
                <a:gd name="connsiteY31" fmla="*/ 84401 h 100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6237" h="100561">
                  <a:moveTo>
                    <a:pt x="16939" y="84401"/>
                  </a:moveTo>
                  <a:cubicBezTo>
                    <a:pt x="16047" y="87299"/>
                    <a:pt x="14709" y="92874"/>
                    <a:pt x="14709" y="93543"/>
                  </a:cubicBezTo>
                  <a:cubicBezTo>
                    <a:pt x="14709" y="98448"/>
                    <a:pt x="18722" y="100678"/>
                    <a:pt x="22290" y="100678"/>
                  </a:cubicBezTo>
                  <a:cubicBezTo>
                    <a:pt x="26304" y="100678"/>
                    <a:pt x="29871" y="97779"/>
                    <a:pt x="30986" y="95772"/>
                  </a:cubicBezTo>
                  <a:cubicBezTo>
                    <a:pt x="32101" y="93766"/>
                    <a:pt x="33885" y="86630"/>
                    <a:pt x="35000" y="81948"/>
                  </a:cubicBezTo>
                  <a:cubicBezTo>
                    <a:pt x="36115" y="77711"/>
                    <a:pt x="38567" y="67455"/>
                    <a:pt x="39905" y="61880"/>
                  </a:cubicBezTo>
                  <a:cubicBezTo>
                    <a:pt x="41243" y="56975"/>
                    <a:pt x="42581" y="52069"/>
                    <a:pt x="43696" y="46941"/>
                  </a:cubicBezTo>
                  <a:cubicBezTo>
                    <a:pt x="46148" y="37799"/>
                    <a:pt x="46594" y="36015"/>
                    <a:pt x="53061" y="26873"/>
                  </a:cubicBezTo>
                  <a:cubicBezTo>
                    <a:pt x="59304" y="17954"/>
                    <a:pt x="69784" y="6359"/>
                    <a:pt x="86507" y="6359"/>
                  </a:cubicBezTo>
                  <a:cubicBezTo>
                    <a:pt x="99439" y="6359"/>
                    <a:pt x="99662" y="17731"/>
                    <a:pt x="99662" y="21968"/>
                  </a:cubicBezTo>
                  <a:cubicBezTo>
                    <a:pt x="99662" y="35346"/>
                    <a:pt x="90075" y="60096"/>
                    <a:pt x="86507" y="69461"/>
                  </a:cubicBezTo>
                  <a:cubicBezTo>
                    <a:pt x="84054" y="75705"/>
                    <a:pt x="83162" y="77711"/>
                    <a:pt x="83162" y="81502"/>
                  </a:cubicBezTo>
                  <a:cubicBezTo>
                    <a:pt x="83162" y="93320"/>
                    <a:pt x="92973" y="100678"/>
                    <a:pt x="104345" y="100678"/>
                  </a:cubicBezTo>
                  <a:cubicBezTo>
                    <a:pt x="126642" y="100678"/>
                    <a:pt x="136453" y="69907"/>
                    <a:pt x="136453" y="66563"/>
                  </a:cubicBezTo>
                  <a:cubicBezTo>
                    <a:pt x="136453" y="63664"/>
                    <a:pt x="133555" y="63664"/>
                    <a:pt x="132886" y="63664"/>
                  </a:cubicBezTo>
                  <a:cubicBezTo>
                    <a:pt x="129764" y="63664"/>
                    <a:pt x="129541" y="65002"/>
                    <a:pt x="128649" y="67455"/>
                  </a:cubicBezTo>
                  <a:cubicBezTo>
                    <a:pt x="123521" y="85293"/>
                    <a:pt x="113933" y="94435"/>
                    <a:pt x="105014" y="94435"/>
                  </a:cubicBezTo>
                  <a:cubicBezTo>
                    <a:pt x="100331" y="94435"/>
                    <a:pt x="99439" y="91313"/>
                    <a:pt x="99439" y="86630"/>
                  </a:cubicBezTo>
                  <a:cubicBezTo>
                    <a:pt x="99439" y="81502"/>
                    <a:pt x="100554" y="78603"/>
                    <a:pt x="104568" y="68569"/>
                  </a:cubicBezTo>
                  <a:cubicBezTo>
                    <a:pt x="107244" y="61657"/>
                    <a:pt x="116386" y="38022"/>
                    <a:pt x="116386" y="25535"/>
                  </a:cubicBezTo>
                  <a:cubicBezTo>
                    <a:pt x="116386" y="3907"/>
                    <a:pt x="99216" y="116"/>
                    <a:pt x="87399" y="116"/>
                  </a:cubicBezTo>
                  <a:cubicBezTo>
                    <a:pt x="68892" y="116"/>
                    <a:pt x="56405" y="11488"/>
                    <a:pt x="49716" y="20407"/>
                  </a:cubicBezTo>
                  <a:cubicBezTo>
                    <a:pt x="48155" y="5022"/>
                    <a:pt x="35000" y="116"/>
                    <a:pt x="25858" y="116"/>
                  </a:cubicBezTo>
                  <a:cubicBezTo>
                    <a:pt x="16270" y="116"/>
                    <a:pt x="11141" y="7028"/>
                    <a:pt x="8243" y="12157"/>
                  </a:cubicBezTo>
                  <a:cubicBezTo>
                    <a:pt x="3337" y="20407"/>
                    <a:pt x="216" y="33116"/>
                    <a:pt x="216" y="34231"/>
                  </a:cubicBezTo>
                  <a:cubicBezTo>
                    <a:pt x="216" y="37130"/>
                    <a:pt x="3337" y="37130"/>
                    <a:pt x="4006" y="37130"/>
                  </a:cubicBezTo>
                  <a:cubicBezTo>
                    <a:pt x="7128" y="37130"/>
                    <a:pt x="7351" y="36461"/>
                    <a:pt x="8912" y="30441"/>
                  </a:cubicBezTo>
                  <a:cubicBezTo>
                    <a:pt x="12256" y="17285"/>
                    <a:pt x="16493" y="6359"/>
                    <a:pt x="25189" y="6359"/>
                  </a:cubicBezTo>
                  <a:cubicBezTo>
                    <a:pt x="30986" y="6359"/>
                    <a:pt x="32547" y="11265"/>
                    <a:pt x="32547" y="17285"/>
                  </a:cubicBezTo>
                  <a:cubicBezTo>
                    <a:pt x="32547" y="21522"/>
                    <a:pt x="30540" y="29772"/>
                    <a:pt x="28979" y="35792"/>
                  </a:cubicBezTo>
                  <a:cubicBezTo>
                    <a:pt x="27419" y="41812"/>
                    <a:pt x="25189" y="50954"/>
                    <a:pt x="24074" y="55860"/>
                  </a:cubicBezTo>
                  <a:lnTo>
                    <a:pt x="16939" y="84401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5" name="任意形状 2094">
              <a:extLst>
                <a:ext uri="{FF2B5EF4-FFF2-40B4-BE49-F238E27FC236}">
                  <a16:creationId xmlns:a16="http://schemas.microsoft.com/office/drawing/2014/main" id="{6A0A05F6-B9AB-CDF2-20F5-4B2C49345027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2320894" y="7094327"/>
              <a:ext cx="81162" cy="148055"/>
            </a:xfrm>
            <a:custGeom>
              <a:avLst/>
              <a:gdLst>
                <a:gd name="connsiteX0" fmla="*/ 50613 w 81162"/>
                <a:gd name="connsiteY0" fmla="*/ 6359 h 148055"/>
                <a:gd name="connsiteX1" fmla="*/ 43924 w 81162"/>
                <a:gd name="connsiteY1" fmla="*/ 116 h 148055"/>
                <a:gd name="connsiteX2" fmla="*/ 221 w 81162"/>
                <a:gd name="connsiteY2" fmla="*/ 14387 h 148055"/>
                <a:gd name="connsiteX3" fmla="*/ 221 w 81162"/>
                <a:gd name="connsiteY3" fmla="*/ 22414 h 148055"/>
                <a:gd name="connsiteX4" fmla="*/ 32552 w 81162"/>
                <a:gd name="connsiteY4" fmla="*/ 16170 h 148055"/>
                <a:gd name="connsiteX5" fmla="*/ 32552 w 81162"/>
                <a:gd name="connsiteY5" fmla="*/ 129888 h 148055"/>
                <a:gd name="connsiteX6" fmla="*/ 10254 w 81162"/>
                <a:gd name="connsiteY6" fmla="*/ 140144 h 148055"/>
                <a:gd name="connsiteX7" fmla="*/ 1781 w 81162"/>
                <a:gd name="connsiteY7" fmla="*/ 140144 h 148055"/>
                <a:gd name="connsiteX8" fmla="*/ 1781 w 81162"/>
                <a:gd name="connsiteY8" fmla="*/ 148171 h 148055"/>
                <a:gd name="connsiteX9" fmla="*/ 41471 w 81162"/>
                <a:gd name="connsiteY9" fmla="*/ 147280 h 148055"/>
                <a:gd name="connsiteX10" fmla="*/ 81383 w 81162"/>
                <a:gd name="connsiteY10" fmla="*/ 148171 h 148055"/>
                <a:gd name="connsiteX11" fmla="*/ 81383 w 81162"/>
                <a:gd name="connsiteY11" fmla="*/ 140144 h 148055"/>
                <a:gd name="connsiteX12" fmla="*/ 72910 w 81162"/>
                <a:gd name="connsiteY12" fmla="*/ 140144 h 148055"/>
                <a:gd name="connsiteX13" fmla="*/ 50613 w 81162"/>
                <a:gd name="connsiteY13" fmla="*/ 129888 h 148055"/>
                <a:gd name="connsiteX14" fmla="*/ 50613 w 81162"/>
                <a:gd name="connsiteY14" fmla="*/ 6359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162" h="148055">
                  <a:moveTo>
                    <a:pt x="50613" y="6359"/>
                  </a:moveTo>
                  <a:cubicBezTo>
                    <a:pt x="50613" y="339"/>
                    <a:pt x="50167" y="116"/>
                    <a:pt x="43924" y="116"/>
                  </a:cubicBezTo>
                  <a:cubicBezTo>
                    <a:pt x="29653" y="14164"/>
                    <a:pt x="9362" y="14387"/>
                    <a:pt x="221" y="14387"/>
                  </a:cubicBezTo>
                  <a:lnTo>
                    <a:pt x="221" y="22414"/>
                  </a:lnTo>
                  <a:cubicBezTo>
                    <a:pt x="5572" y="22414"/>
                    <a:pt x="20288" y="22414"/>
                    <a:pt x="32552" y="16170"/>
                  </a:cubicBezTo>
                  <a:lnTo>
                    <a:pt x="32552" y="129888"/>
                  </a:lnTo>
                  <a:cubicBezTo>
                    <a:pt x="32552" y="137246"/>
                    <a:pt x="32552" y="140144"/>
                    <a:pt x="10254" y="140144"/>
                  </a:cubicBezTo>
                  <a:lnTo>
                    <a:pt x="1781" y="140144"/>
                  </a:lnTo>
                  <a:lnTo>
                    <a:pt x="1781" y="148171"/>
                  </a:lnTo>
                  <a:cubicBezTo>
                    <a:pt x="5795" y="147949"/>
                    <a:pt x="33221" y="147280"/>
                    <a:pt x="41471" y="147280"/>
                  </a:cubicBezTo>
                  <a:cubicBezTo>
                    <a:pt x="48383" y="147280"/>
                    <a:pt x="76478" y="147949"/>
                    <a:pt x="81383" y="148171"/>
                  </a:cubicBezTo>
                  <a:lnTo>
                    <a:pt x="81383" y="140144"/>
                  </a:lnTo>
                  <a:lnTo>
                    <a:pt x="72910" y="140144"/>
                  </a:lnTo>
                  <a:cubicBezTo>
                    <a:pt x="50613" y="140144"/>
                    <a:pt x="50613" y="137246"/>
                    <a:pt x="50613" y="129888"/>
                  </a:cubicBezTo>
                  <a:lnTo>
                    <a:pt x="50613" y="6359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6" name="任意形状 2095">
              <a:extLst>
                <a:ext uri="{FF2B5EF4-FFF2-40B4-BE49-F238E27FC236}">
                  <a16:creationId xmlns:a16="http://schemas.microsoft.com/office/drawing/2014/main" id="{383AB473-56AE-8DE5-C92C-3BB829A12D19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2767262" y="7053810"/>
              <a:ext cx="158630" cy="144296"/>
            </a:xfrm>
            <a:custGeom>
              <a:avLst/>
              <a:gdLst>
                <a:gd name="connsiteX0" fmla="*/ 97388 w 158630"/>
                <a:gd name="connsiteY0" fmla="*/ 44710 h 144296"/>
                <a:gd name="connsiteX1" fmla="*/ 128923 w 158630"/>
                <a:gd name="connsiteY1" fmla="*/ 7122 h 144296"/>
                <a:gd name="connsiteX2" fmla="*/ 144850 w 158630"/>
                <a:gd name="connsiteY2" fmla="*/ 11263 h 144296"/>
                <a:gd name="connsiteX3" fmla="*/ 129560 w 158630"/>
                <a:gd name="connsiteY3" fmla="*/ 28464 h 144296"/>
                <a:gd name="connsiteX4" fmla="*/ 141665 w 158630"/>
                <a:gd name="connsiteY4" fmla="*/ 39613 h 144296"/>
                <a:gd name="connsiteX5" fmla="*/ 158866 w 158630"/>
                <a:gd name="connsiteY5" fmla="*/ 21138 h 144296"/>
                <a:gd name="connsiteX6" fmla="*/ 129242 w 158630"/>
                <a:gd name="connsiteY6" fmla="*/ 115 h 144296"/>
                <a:gd name="connsiteX7" fmla="*/ 95796 w 158630"/>
                <a:gd name="connsiteY7" fmla="*/ 24323 h 144296"/>
                <a:gd name="connsiteX8" fmla="*/ 61394 w 158630"/>
                <a:gd name="connsiteY8" fmla="*/ 115 h 144296"/>
                <a:gd name="connsiteX9" fmla="*/ 10110 w 158630"/>
                <a:gd name="connsiteY9" fmla="*/ 49169 h 144296"/>
                <a:gd name="connsiteX10" fmla="*/ 13932 w 158630"/>
                <a:gd name="connsiteY10" fmla="*/ 52354 h 144296"/>
                <a:gd name="connsiteX11" fmla="*/ 18073 w 158630"/>
                <a:gd name="connsiteY11" fmla="*/ 48851 h 144296"/>
                <a:gd name="connsiteX12" fmla="*/ 60757 w 158630"/>
                <a:gd name="connsiteY12" fmla="*/ 7122 h 144296"/>
                <a:gd name="connsiteX13" fmla="*/ 77958 w 158630"/>
                <a:gd name="connsiteY13" fmla="*/ 28464 h 144296"/>
                <a:gd name="connsiteX14" fmla="*/ 60757 w 158630"/>
                <a:gd name="connsiteY14" fmla="*/ 104276 h 144296"/>
                <a:gd name="connsiteX15" fmla="*/ 30496 w 158630"/>
                <a:gd name="connsiteY15" fmla="*/ 137404 h 144296"/>
                <a:gd name="connsiteX16" fmla="*/ 14569 w 158630"/>
                <a:gd name="connsiteY16" fmla="*/ 133263 h 144296"/>
                <a:gd name="connsiteX17" fmla="*/ 29540 w 158630"/>
                <a:gd name="connsiteY17" fmla="*/ 116062 h 144296"/>
                <a:gd name="connsiteX18" fmla="*/ 17754 w 158630"/>
                <a:gd name="connsiteY18" fmla="*/ 104913 h 144296"/>
                <a:gd name="connsiteX19" fmla="*/ 235 w 158630"/>
                <a:gd name="connsiteY19" fmla="*/ 123388 h 144296"/>
                <a:gd name="connsiteX20" fmla="*/ 30177 w 158630"/>
                <a:gd name="connsiteY20" fmla="*/ 144411 h 144296"/>
                <a:gd name="connsiteX21" fmla="*/ 63624 w 158630"/>
                <a:gd name="connsiteY21" fmla="*/ 120203 h 144296"/>
                <a:gd name="connsiteX22" fmla="*/ 98025 w 158630"/>
                <a:gd name="connsiteY22" fmla="*/ 144411 h 144296"/>
                <a:gd name="connsiteX23" fmla="*/ 148991 w 158630"/>
                <a:gd name="connsiteY23" fmla="*/ 95357 h 144296"/>
                <a:gd name="connsiteX24" fmla="*/ 145169 w 158630"/>
                <a:gd name="connsiteY24" fmla="*/ 92171 h 144296"/>
                <a:gd name="connsiteX25" fmla="*/ 141028 w 158630"/>
                <a:gd name="connsiteY25" fmla="*/ 95675 h 144296"/>
                <a:gd name="connsiteX26" fmla="*/ 98662 w 158630"/>
                <a:gd name="connsiteY26" fmla="*/ 137404 h 144296"/>
                <a:gd name="connsiteX27" fmla="*/ 81143 w 158630"/>
                <a:gd name="connsiteY27" fmla="*/ 116380 h 144296"/>
                <a:gd name="connsiteX28" fmla="*/ 86558 w 158630"/>
                <a:gd name="connsiteY28" fmla="*/ 88349 h 144296"/>
                <a:gd name="connsiteX29" fmla="*/ 97388 w 158630"/>
                <a:gd name="connsiteY29" fmla="*/ 44710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8630" h="144296">
                  <a:moveTo>
                    <a:pt x="97388" y="44710"/>
                  </a:moveTo>
                  <a:cubicBezTo>
                    <a:pt x="99300" y="36428"/>
                    <a:pt x="106626" y="7122"/>
                    <a:pt x="128923" y="7122"/>
                  </a:cubicBezTo>
                  <a:cubicBezTo>
                    <a:pt x="130516" y="7122"/>
                    <a:pt x="138161" y="7122"/>
                    <a:pt x="144850" y="11263"/>
                  </a:cubicBezTo>
                  <a:cubicBezTo>
                    <a:pt x="135931" y="12856"/>
                    <a:pt x="129560" y="20819"/>
                    <a:pt x="129560" y="28464"/>
                  </a:cubicBezTo>
                  <a:cubicBezTo>
                    <a:pt x="129560" y="33561"/>
                    <a:pt x="133064" y="39613"/>
                    <a:pt x="141665" y="39613"/>
                  </a:cubicBezTo>
                  <a:cubicBezTo>
                    <a:pt x="148673" y="39613"/>
                    <a:pt x="158866" y="33879"/>
                    <a:pt x="158866" y="21138"/>
                  </a:cubicBezTo>
                  <a:cubicBezTo>
                    <a:pt x="158866" y="4574"/>
                    <a:pt x="140072" y="115"/>
                    <a:pt x="129242" y="115"/>
                  </a:cubicBezTo>
                  <a:cubicBezTo>
                    <a:pt x="110767" y="115"/>
                    <a:pt x="99618" y="16997"/>
                    <a:pt x="95796" y="24323"/>
                  </a:cubicBezTo>
                  <a:cubicBezTo>
                    <a:pt x="87832" y="3300"/>
                    <a:pt x="70631" y="115"/>
                    <a:pt x="61394" y="115"/>
                  </a:cubicBezTo>
                  <a:cubicBezTo>
                    <a:pt x="28266" y="115"/>
                    <a:pt x="10110" y="41206"/>
                    <a:pt x="10110" y="49169"/>
                  </a:cubicBezTo>
                  <a:cubicBezTo>
                    <a:pt x="10110" y="52354"/>
                    <a:pt x="13295" y="52354"/>
                    <a:pt x="13932" y="52354"/>
                  </a:cubicBezTo>
                  <a:cubicBezTo>
                    <a:pt x="16480" y="52354"/>
                    <a:pt x="17436" y="51717"/>
                    <a:pt x="18073" y="48851"/>
                  </a:cubicBezTo>
                  <a:cubicBezTo>
                    <a:pt x="28903" y="15086"/>
                    <a:pt x="49926" y="7122"/>
                    <a:pt x="60757" y="7122"/>
                  </a:cubicBezTo>
                  <a:cubicBezTo>
                    <a:pt x="66809" y="7122"/>
                    <a:pt x="77958" y="9989"/>
                    <a:pt x="77958" y="28464"/>
                  </a:cubicBezTo>
                  <a:cubicBezTo>
                    <a:pt x="77958" y="38339"/>
                    <a:pt x="72543" y="59681"/>
                    <a:pt x="60757" y="104276"/>
                  </a:cubicBezTo>
                  <a:cubicBezTo>
                    <a:pt x="55660" y="124025"/>
                    <a:pt x="44511" y="137404"/>
                    <a:pt x="30496" y="137404"/>
                  </a:cubicBezTo>
                  <a:cubicBezTo>
                    <a:pt x="28585" y="137404"/>
                    <a:pt x="21258" y="137404"/>
                    <a:pt x="14569" y="133263"/>
                  </a:cubicBezTo>
                  <a:cubicBezTo>
                    <a:pt x="22532" y="131670"/>
                    <a:pt x="29540" y="124981"/>
                    <a:pt x="29540" y="116062"/>
                  </a:cubicBezTo>
                  <a:cubicBezTo>
                    <a:pt x="29540" y="107461"/>
                    <a:pt x="22532" y="104913"/>
                    <a:pt x="17754" y="104913"/>
                  </a:cubicBezTo>
                  <a:cubicBezTo>
                    <a:pt x="8198" y="104913"/>
                    <a:pt x="235" y="113195"/>
                    <a:pt x="235" y="123388"/>
                  </a:cubicBezTo>
                  <a:cubicBezTo>
                    <a:pt x="235" y="138041"/>
                    <a:pt x="16162" y="144411"/>
                    <a:pt x="30177" y="144411"/>
                  </a:cubicBezTo>
                  <a:cubicBezTo>
                    <a:pt x="51201" y="144411"/>
                    <a:pt x="62668" y="122114"/>
                    <a:pt x="63624" y="120203"/>
                  </a:cubicBezTo>
                  <a:cubicBezTo>
                    <a:pt x="67446" y="131988"/>
                    <a:pt x="78913" y="144411"/>
                    <a:pt x="98025" y="144411"/>
                  </a:cubicBezTo>
                  <a:cubicBezTo>
                    <a:pt x="130835" y="144411"/>
                    <a:pt x="148991" y="103320"/>
                    <a:pt x="148991" y="95357"/>
                  </a:cubicBezTo>
                  <a:cubicBezTo>
                    <a:pt x="148991" y="92171"/>
                    <a:pt x="146124" y="92171"/>
                    <a:pt x="145169" y="92171"/>
                  </a:cubicBezTo>
                  <a:cubicBezTo>
                    <a:pt x="142302" y="92171"/>
                    <a:pt x="141665" y="93446"/>
                    <a:pt x="141028" y="95675"/>
                  </a:cubicBezTo>
                  <a:cubicBezTo>
                    <a:pt x="130516" y="129759"/>
                    <a:pt x="108856" y="137404"/>
                    <a:pt x="98662" y="137404"/>
                  </a:cubicBezTo>
                  <a:cubicBezTo>
                    <a:pt x="86240" y="137404"/>
                    <a:pt x="81143" y="127210"/>
                    <a:pt x="81143" y="116380"/>
                  </a:cubicBezTo>
                  <a:cubicBezTo>
                    <a:pt x="81143" y="109372"/>
                    <a:pt x="83054" y="102365"/>
                    <a:pt x="86558" y="88349"/>
                  </a:cubicBezTo>
                  <a:lnTo>
                    <a:pt x="97388" y="4471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7" name="任意形状 2096">
              <a:extLst>
                <a:ext uri="{FF2B5EF4-FFF2-40B4-BE49-F238E27FC236}">
                  <a16:creationId xmlns:a16="http://schemas.microsoft.com/office/drawing/2014/main" id="{2D69D198-2E76-27D1-4F06-8B5B1A1C048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2950556" y="7144051"/>
              <a:ext cx="136237" cy="100561"/>
            </a:xfrm>
            <a:custGeom>
              <a:avLst/>
              <a:gdLst>
                <a:gd name="connsiteX0" fmla="*/ 16964 w 136237"/>
                <a:gd name="connsiteY0" fmla="*/ 84401 h 100561"/>
                <a:gd name="connsiteX1" fmla="*/ 14734 w 136237"/>
                <a:gd name="connsiteY1" fmla="*/ 93543 h 100561"/>
                <a:gd name="connsiteX2" fmla="*/ 22315 w 136237"/>
                <a:gd name="connsiteY2" fmla="*/ 100678 h 100561"/>
                <a:gd name="connsiteX3" fmla="*/ 31011 w 136237"/>
                <a:gd name="connsiteY3" fmla="*/ 95772 h 100561"/>
                <a:gd name="connsiteX4" fmla="*/ 35025 w 136237"/>
                <a:gd name="connsiteY4" fmla="*/ 81948 h 100561"/>
                <a:gd name="connsiteX5" fmla="*/ 39930 w 136237"/>
                <a:gd name="connsiteY5" fmla="*/ 61880 h 100561"/>
                <a:gd name="connsiteX6" fmla="*/ 43721 w 136237"/>
                <a:gd name="connsiteY6" fmla="*/ 46941 h 100561"/>
                <a:gd name="connsiteX7" fmla="*/ 53086 w 136237"/>
                <a:gd name="connsiteY7" fmla="*/ 26873 h 100561"/>
                <a:gd name="connsiteX8" fmla="*/ 86532 w 136237"/>
                <a:gd name="connsiteY8" fmla="*/ 6359 h 100561"/>
                <a:gd name="connsiteX9" fmla="*/ 99687 w 136237"/>
                <a:gd name="connsiteY9" fmla="*/ 21968 h 100561"/>
                <a:gd name="connsiteX10" fmla="*/ 86532 w 136237"/>
                <a:gd name="connsiteY10" fmla="*/ 69461 h 100561"/>
                <a:gd name="connsiteX11" fmla="*/ 83187 w 136237"/>
                <a:gd name="connsiteY11" fmla="*/ 81502 h 100561"/>
                <a:gd name="connsiteX12" fmla="*/ 104370 w 136237"/>
                <a:gd name="connsiteY12" fmla="*/ 100678 h 100561"/>
                <a:gd name="connsiteX13" fmla="*/ 136478 w 136237"/>
                <a:gd name="connsiteY13" fmla="*/ 66563 h 100561"/>
                <a:gd name="connsiteX14" fmla="*/ 132911 w 136237"/>
                <a:gd name="connsiteY14" fmla="*/ 63664 h 100561"/>
                <a:gd name="connsiteX15" fmla="*/ 128674 w 136237"/>
                <a:gd name="connsiteY15" fmla="*/ 67455 h 100561"/>
                <a:gd name="connsiteX16" fmla="*/ 105039 w 136237"/>
                <a:gd name="connsiteY16" fmla="*/ 94435 h 100561"/>
                <a:gd name="connsiteX17" fmla="*/ 99464 w 136237"/>
                <a:gd name="connsiteY17" fmla="*/ 86630 h 100561"/>
                <a:gd name="connsiteX18" fmla="*/ 104593 w 136237"/>
                <a:gd name="connsiteY18" fmla="*/ 68569 h 100561"/>
                <a:gd name="connsiteX19" fmla="*/ 116411 w 136237"/>
                <a:gd name="connsiteY19" fmla="*/ 25535 h 100561"/>
                <a:gd name="connsiteX20" fmla="*/ 87424 w 136237"/>
                <a:gd name="connsiteY20" fmla="*/ 116 h 100561"/>
                <a:gd name="connsiteX21" fmla="*/ 49741 w 136237"/>
                <a:gd name="connsiteY21" fmla="*/ 20407 h 100561"/>
                <a:gd name="connsiteX22" fmla="*/ 25883 w 136237"/>
                <a:gd name="connsiteY22" fmla="*/ 116 h 100561"/>
                <a:gd name="connsiteX23" fmla="*/ 8268 w 136237"/>
                <a:gd name="connsiteY23" fmla="*/ 12157 h 100561"/>
                <a:gd name="connsiteX24" fmla="*/ 241 w 136237"/>
                <a:gd name="connsiteY24" fmla="*/ 34231 h 100561"/>
                <a:gd name="connsiteX25" fmla="*/ 4031 w 136237"/>
                <a:gd name="connsiteY25" fmla="*/ 37130 h 100561"/>
                <a:gd name="connsiteX26" fmla="*/ 8937 w 136237"/>
                <a:gd name="connsiteY26" fmla="*/ 30441 h 100561"/>
                <a:gd name="connsiteX27" fmla="*/ 25214 w 136237"/>
                <a:gd name="connsiteY27" fmla="*/ 6359 h 100561"/>
                <a:gd name="connsiteX28" fmla="*/ 32572 w 136237"/>
                <a:gd name="connsiteY28" fmla="*/ 17285 h 100561"/>
                <a:gd name="connsiteX29" fmla="*/ 29004 w 136237"/>
                <a:gd name="connsiteY29" fmla="*/ 35792 h 100561"/>
                <a:gd name="connsiteX30" fmla="*/ 24099 w 136237"/>
                <a:gd name="connsiteY30" fmla="*/ 55860 h 100561"/>
                <a:gd name="connsiteX31" fmla="*/ 16964 w 136237"/>
                <a:gd name="connsiteY31" fmla="*/ 84401 h 100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6237" h="100561">
                  <a:moveTo>
                    <a:pt x="16964" y="84401"/>
                  </a:moveTo>
                  <a:cubicBezTo>
                    <a:pt x="16072" y="87299"/>
                    <a:pt x="14734" y="92874"/>
                    <a:pt x="14734" y="93543"/>
                  </a:cubicBezTo>
                  <a:cubicBezTo>
                    <a:pt x="14734" y="98448"/>
                    <a:pt x="18748" y="100678"/>
                    <a:pt x="22315" y="100678"/>
                  </a:cubicBezTo>
                  <a:cubicBezTo>
                    <a:pt x="26329" y="100678"/>
                    <a:pt x="29896" y="97779"/>
                    <a:pt x="31011" y="95772"/>
                  </a:cubicBezTo>
                  <a:cubicBezTo>
                    <a:pt x="32126" y="93766"/>
                    <a:pt x="33910" y="86630"/>
                    <a:pt x="35025" y="81948"/>
                  </a:cubicBezTo>
                  <a:cubicBezTo>
                    <a:pt x="36140" y="77711"/>
                    <a:pt x="38592" y="67455"/>
                    <a:pt x="39930" y="61880"/>
                  </a:cubicBezTo>
                  <a:cubicBezTo>
                    <a:pt x="41268" y="56975"/>
                    <a:pt x="42606" y="52069"/>
                    <a:pt x="43721" y="46941"/>
                  </a:cubicBezTo>
                  <a:cubicBezTo>
                    <a:pt x="46173" y="37799"/>
                    <a:pt x="46619" y="36015"/>
                    <a:pt x="53086" y="26873"/>
                  </a:cubicBezTo>
                  <a:cubicBezTo>
                    <a:pt x="59329" y="17954"/>
                    <a:pt x="69809" y="6359"/>
                    <a:pt x="86532" y="6359"/>
                  </a:cubicBezTo>
                  <a:cubicBezTo>
                    <a:pt x="99464" y="6359"/>
                    <a:pt x="99687" y="17731"/>
                    <a:pt x="99687" y="21968"/>
                  </a:cubicBezTo>
                  <a:cubicBezTo>
                    <a:pt x="99687" y="35346"/>
                    <a:pt x="90100" y="60096"/>
                    <a:pt x="86532" y="69461"/>
                  </a:cubicBezTo>
                  <a:cubicBezTo>
                    <a:pt x="84079" y="75705"/>
                    <a:pt x="83187" y="77711"/>
                    <a:pt x="83187" y="81502"/>
                  </a:cubicBezTo>
                  <a:cubicBezTo>
                    <a:pt x="83187" y="93320"/>
                    <a:pt x="92998" y="100678"/>
                    <a:pt x="104370" y="100678"/>
                  </a:cubicBezTo>
                  <a:cubicBezTo>
                    <a:pt x="126667" y="100678"/>
                    <a:pt x="136478" y="69907"/>
                    <a:pt x="136478" y="66563"/>
                  </a:cubicBezTo>
                  <a:cubicBezTo>
                    <a:pt x="136478" y="63664"/>
                    <a:pt x="133580" y="63664"/>
                    <a:pt x="132911" y="63664"/>
                  </a:cubicBezTo>
                  <a:cubicBezTo>
                    <a:pt x="129789" y="63664"/>
                    <a:pt x="129566" y="65002"/>
                    <a:pt x="128674" y="67455"/>
                  </a:cubicBezTo>
                  <a:cubicBezTo>
                    <a:pt x="123546" y="85293"/>
                    <a:pt x="113958" y="94435"/>
                    <a:pt x="105039" y="94435"/>
                  </a:cubicBezTo>
                  <a:cubicBezTo>
                    <a:pt x="100356" y="94435"/>
                    <a:pt x="99464" y="91313"/>
                    <a:pt x="99464" y="86630"/>
                  </a:cubicBezTo>
                  <a:cubicBezTo>
                    <a:pt x="99464" y="81502"/>
                    <a:pt x="100579" y="78603"/>
                    <a:pt x="104593" y="68569"/>
                  </a:cubicBezTo>
                  <a:cubicBezTo>
                    <a:pt x="107269" y="61657"/>
                    <a:pt x="116411" y="38022"/>
                    <a:pt x="116411" y="25535"/>
                  </a:cubicBezTo>
                  <a:cubicBezTo>
                    <a:pt x="116411" y="3907"/>
                    <a:pt x="99242" y="116"/>
                    <a:pt x="87424" y="116"/>
                  </a:cubicBezTo>
                  <a:cubicBezTo>
                    <a:pt x="68917" y="116"/>
                    <a:pt x="56430" y="11488"/>
                    <a:pt x="49741" y="20407"/>
                  </a:cubicBezTo>
                  <a:cubicBezTo>
                    <a:pt x="48180" y="5022"/>
                    <a:pt x="35025" y="116"/>
                    <a:pt x="25883" y="116"/>
                  </a:cubicBezTo>
                  <a:cubicBezTo>
                    <a:pt x="16295" y="116"/>
                    <a:pt x="11166" y="7028"/>
                    <a:pt x="8268" y="12157"/>
                  </a:cubicBezTo>
                  <a:cubicBezTo>
                    <a:pt x="3362" y="20407"/>
                    <a:pt x="241" y="33116"/>
                    <a:pt x="241" y="34231"/>
                  </a:cubicBezTo>
                  <a:cubicBezTo>
                    <a:pt x="241" y="37130"/>
                    <a:pt x="3362" y="37130"/>
                    <a:pt x="4031" y="37130"/>
                  </a:cubicBezTo>
                  <a:cubicBezTo>
                    <a:pt x="7153" y="37130"/>
                    <a:pt x="7376" y="36461"/>
                    <a:pt x="8937" y="30441"/>
                  </a:cubicBezTo>
                  <a:cubicBezTo>
                    <a:pt x="12281" y="17285"/>
                    <a:pt x="16518" y="6359"/>
                    <a:pt x="25214" y="6359"/>
                  </a:cubicBezTo>
                  <a:cubicBezTo>
                    <a:pt x="31011" y="6359"/>
                    <a:pt x="32572" y="11265"/>
                    <a:pt x="32572" y="17285"/>
                  </a:cubicBezTo>
                  <a:cubicBezTo>
                    <a:pt x="32572" y="21522"/>
                    <a:pt x="30565" y="29772"/>
                    <a:pt x="29004" y="35792"/>
                  </a:cubicBezTo>
                  <a:cubicBezTo>
                    <a:pt x="27444" y="41812"/>
                    <a:pt x="25214" y="50954"/>
                    <a:pt x="24099" y="55860"/>
                  </a:cubicBezTo>
                  <a:lnTo>
                    <a:pt x="16964" y="84401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8" name="任意形状 2097">
              <a:extLst>
                <a:ext uri="{FF2B5EF4-FFF2-40B4-BE49-F238E27FC236}">
                  <a16:creationId xmlns:a16="http://schemas.microsoft.com/office/drawing/2014/main" id="{B1ADAA9F-B5D4-3DA6-4831-9E5553A55717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3111586" y="7094327"/>
              <a:ext cx="98554" cy="148055"/>
            </a:xfrm>
            <a:custGeom>
              <a:avLst/>
              <a:gdLst>
                <a:gd name="connsiteX0" fmla="*/ 98801 w 98554"/>
                <a:gd name="connsiteY0" fmla="*/ 107590 h 148055"/>
                <a:gd name="connsiteX1" fmla="*/ 91219 w 98554"/>
                <a:gd name="connsiteY1" fmla="*/ 107590 h 148055"/>
                <a:gd name="connsiteX2" fmla="*/ 85422 w 98554"/>
                <a:gd name="connsiteY2" fmla="*/ 127881 h 148055"/>
                <a:gd name="connsiteX3" fmla="*/ 63347 w 98554"/>
                <a:gd name="connsiteY3" fmla="*/ 129219 h 148055"/>
                <a:gd name="connsiteX4" fmla="*/ 22320 w 98554"/>
                <a:gd name="connsiteY4" fmla="*/ 129219 h 148055"/>
                <a:gd name="connsiteX5" fmla="*/ 66915 w 98554"/>
                <a:gd name="connsiteY5" fmla="*/ 91759 h 148055"/>
                <a:gd name="connsiteX6" fmla="*/ 98801 w 98554"/>
                <a:gd name="connsiteY6" fmla="*/ 43596 h 148055"/>
                <a:gd name="connsiteX7" fmla="*/ 46624 w 98554"/>
                <a:gd name="connsiteY7" fmla="*/ 116 h 148055"/>
                <a:gd name="connsiteX8" fmla="*/ 246 w 98554"/>
                <a:gd name="connsiteY8" fmla="*/ 40029 h 148055"/>
                <a:gd name="connsiteX9" fmla="*/ 12063 w 98554"/>
                <a:gd name="connsiteY9" fmla="*/ 52515 h 148055"/>
                <a:gd name="connsiteX10" fmla="*/ 23881 w 98554"/>
                <a:gd name="connsiteY10" fmla="*/ 40698 h 148055"/>
                <a:gd name="connsiteX11" fmla="*/ 10725 w 98554"/>
                <a:gd name="connsiteY11" fmla="*/ 28880 h 148055"/>
                <a:gd name="connsiteX12" fmla="*/ 43280 w 98554"/>
                <a:gd name="connsiteY12" fmla="*/ 8143 h 148055"/>
                <a:gd name="connsiteX13" fmla="*/ 77172 w 98554"/>
                <a:gd name="connsiteY13" fmla="*/ 43596 h 148055"/>
                <a:gd name="connsiteX14" fmla="*/ 56212 w 98554"/>
                <a:gd name="connsiteY14" fmla="*/ 86407 h 148055"/>
                <a:gd name="connsiteX15" fmla="*/ 2475 w 98554"/>
                <a:gd name="connsiteY15" fmla="*/ 139475 h 148055"/>
                <a:gd name="connsiteX16" fmla="*/ 246 w 98554"/>
                <a:gd name="connsiteY16" fmla="*/ 148171 h 148055"/>
                <a:gd name="connsiteX17" fmla="*/ 92111 w 98554"/>
                <a:gd name="connsiteY17" fmla="*/ 148171 h 148055"/>
                <a:gd name="connsiteX18" fmla="*/ 98801 w 98554"/>
                <a:gd name="connsiteY18" fmla="*/ 107590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8554" h="148055">
                  <a:moveTo>
                    <a:pt x="98801" y="107590"/>
                  </a:moveTo>
                  <a:lnTo>
                    <a:pt x="91219" y="107590"/>
                  </a:lnTo>
                  <a:cubicBezTo>
                    <a:pt x="90550" y="112495"/>
                    <a:pt x="88321" y="125651"/>
                    <a:pt x="85422" y="127881"/>
                  </a:cubicBezTo>
                  <a:cubicBezTo>
                    <a:pt x="83638" y="129219"/>
                    <a:pt x="66469" y="129219"/>
                    <a:pt x="63347" y="129219"/>
                  </a:cubicBezTo>
                  <a:lnTo>
                    <a:pt x="22320" y="129219"/>
                  </a:lnTo>
                  <a:cubicBezTo>
                    <a:pt x="45732" y="108482"/>
                    <a:pt x="53537" y="102239"/>
                    <a:pt x="66915" y="91759"/>
                  </a:cubicBezTo>
                  <a:cubicBezTo>
                    <a:pt x="83415" y="78603"/>
                    <a:pt x="98801" y="64779"/>
                    <a:pt x="98801" y="43596"/>
                  </a:cubicBezTo>
                  <a:cubicBezTo>
                    <a:pt x="98801" y="16616"/>
                    <a:pt x="75165" y="116"/>
                    <a:pt x="46624" y="116"/>
                  </a:cubicBezTo>
                  <a:cubicBezTo>
                    <a:pt x="18975" y="116"/>
                    <a:pt x="246" y="19515"/>
                    <a:pt x="246" y="40029"/>
                  </a:cubicBezTo>
                  <a:cubicBezTo>
                    <a:pt x="246" y="51400"/>
                    <a:pt x="9833" y="52515"/>
                    <a:pt x="12063" y="52515"/>
                  </a:cubicBezTo>
                  <a:cubicBezTo>
                    <a:pt x="17415" y="52515"/>
                    <a:pt x="23881" y="48725"/>
                    <a:pt x="23881" y="40698"/>
                  </a:cubicBezTo>
                  <a:cubicBezTo>
                    <a:pt x="23881" y="36684"/>
                    <a:pt x="22320" y="28880"/>
                    <a:pt x="10725" y="28880"/>
                  </a:cubicBezTo>
                  <a:cubicBezTo>
                    <a:pt x="17638" y="13049"/>
                    <a:pt x="32800" y="8143"/>
                    <a:pt x="43280" y="8143"/>
                  </a:cubicBezTo>
                  <a:cubicBezTo>
                    <a:pt x="65577" y="8143"/>
                    <a:pt x="77172" y="25535"/>
                    <a:pt x="77172" y="43596"/>
                  </a:cubicBezTo>
                  <a:cubicBezTo>
                    <a:pt x="77172" y="62995"/>
                    <a:pt x="63347" y="78380"/>
                    <a:pt x="56212" y="86407"/>
                  </a:cubicBezTo>
                  <a:lnTo>
                    <a:pt x="2475" y="139475"/>
                  </a:lnTo>
                  <a:cubicBezTo>
                    <a:pt x="246" y="141482"/>
                    <a:pt x="246" y="141928"/>
                    <a:pt x="246" y="148171"/>
                  </a:cubicBezTo>
                  <a:lnTo>
                    <a:pt x="92111" y="148171"/>
                  </a:lnTo>
                  <a:lnTo>
                    <a:pt x="98801" y="10759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9" name="任意形状 2098">
              <a:extLst>
                <a:ext uri="{FF2B5EF4-FFF2-40B4-BE49-F238E27FC236}">
                  <a16:creationId xmlns:a16="http://schemas.microsoft.com/office/drawing/2014/main" id="{C99D0D1C-8429-39D7-33D7-F10805C45816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3568211" y="7053810"/>
              <a:ext cx="158630" cy="144296"/>
            </a:xfrm>
            <a:custGeom>
              <a:avLst/>
              <a:gdLst>
                <a:gd name="connsiteX0" fmla="*/ 97413 w 158630"/>
                <a:gd name="connsiteY0" fmla="*/ 44710 h 144296"/>
                <a:gd name="connsiteX1" fmla="*/ 128948 w 158630"/>
                <a:gd name="connsiteY1" fmla="*/ 7122 h 144296"/>
                <a:gd name="connsiteX2" fmla="*/ 144875 w 158630"/>
                <a:gd name="connsiteY2" fmla="*/ 11263 h 144296"/>
                <a:gd name="connsiteX3" fmla="*/ 129585 w 158630"/>
                <a:gd name="connsiteY3" fmla="*/ 28464 h 144296"/>
                <a:gd name="connsiteX4" fmla="*/ 141690 w 158630"/>
                <a:gd name="connsiteY4" fmla="*/ 39613 h 144296"/>
                <a:gd name="connsiteX5" fmla="*/ 158891 w 158630"/>
                <a:gd name="connsiteY5" fmla="*/ 21138 h 144296"/>
                <a:gd name="connsiteX6" fmla="*/ 129267 w 158630"/>
                <a:gd name="connsiteY6" fmla="*/ 115 h 144296"/>
                <a:gd name="connsiteX7" fmla="*/ 95821 w 158630"/>
                <a:gd name="connsiteY7" fmla="*/ 24323 h 144296"/>
                <a:gd name="connsiteX8" fmla="*/ 61419 w 158630"/>
                <a:gd name="connsiteY8" fmla="*/ 115 h 144296"/>
                <a:gd name="connsiteX9" fmla="*/ 10135 w 158630"/>
                <a:gd name="connsiteY9" fmla="*/ 49169 h 144296"/>
                <a:gd name="connsiteX10" fmla="*/ 13957 w 158630"/>
                <a:gd name="connsiteY10" fmla="*/ 52354 h 144296"/>
                <a:gd name="connsiteX11" fmla="*/ 18098 w 158630"/>
                <a:gd name="connsiteY11" fmla="*/ 48851 h 144296"/>
                <a:gd name="connsiteX12" fmla="*/ 60782 w 158630"/>
                <a:gd name="connsiteY12" fmla="*/ 7122 h 144296"/>
                <a:gd name="connsiteX13" fmla="*/ 77983 w 158630"/>
                <a:gd name="connsiteY13" fmla="*/ 28464 h 144296"/>
                <a:gd name="connsiteX14" fmla="*/ 60782 w 158630"/>
                <a:gd name="connsiteY14" fmla="*/ 104276 h 144296"/>
                <a:gd name="connsiteX15" fmla="*/ 30521 w 158630"/>
                <a:gd name="connsiteY15" fmla="*/ 137404 h 144296"/>
                <a:gd name="connsiteX16" fmla="*/ 14594 w 158630"/>
                <a:gd name="connsiteY16" fmla="*/ 133263 h 144296"/>
                <a:gd name="connsiteX17" fmla="*/ 29565 w 158630"/>
                <a:gd name="connsiteY17" fmla="*/ 116062 h 144296"/>
                <a:gd name="connsiteX18" fmla="*/ 17779 w 158630"/>
                <a:gd name="connsiteY18" fmla="*/ 104913 h 144296"/>
                <a:gd name="connsiteX19" fmla="*/ 260 w 158630"/>
                <a:gd name="connsiteY19" fmla="*/ 123388 h 144296"/>
                <a:gd name="connsiteX20" fmla="*/ 30202 w 158630"/>
                <a:gd name="connsiteY20" fmla="*/ 144411 h 144296"/>
                <a:gd name="connsiteX21" fmla="*/ 63649 w 158630"/>
                <a:gd name="connsiteY21" fmla="*/ 120203 h 144296"/>
                <a:gd name="connsiteX22" fmla="*/ 98050 w 158630"/>
                <a:gd name="connsiteY22" fmla="*/ 144411 h 144296"/>
                <a:gd name="connsiteX23" fmla="*/ 149016 w 158630"/>
                <a:gd name="connsiteY23" fmla="*/ 95357 h 144296"/>
                <a:gd name="connsiteX24" fmla="*/ 145194 w 158630"/>
                <a:gd name="connsiteY24" fmla="*/ 92171 h 144296"/>
                <a:gd name="connsiteX25" fmla="*/ 141053 w 158630"/>
                <a:gd name="connsiteY25" fmla="*/ 95675 h 144296"/>
                <a:gd name="connsiteX26" fmla="*/ 98687 w 158630"/>
                <a:gd name="connsiteY26" fmla="*/ 137404 h 144296"/>
                <a:gd name="connsiteX27" fmla="*/ 81168 w 158630"/>
                <a:gd name="connsiteY27" fmla="*/ 116380 h 144296"/>
                <a:gd name="connsiteX28" fmla="*/ 86583 w 158630"/>
                <a:gd name="connsiteY28" fmla="*/ 88349 h 144296"/>
                <a:gd name="connsiteX29" fmla="*/ 97413 w 158630"/>
                <a:gd name="connsiteY29" fmla="*/ 44710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8630" h="144296">
                  <a:moveTo>
                    <a:pt x="97413" y="44710"/>
                  </a:moveTo>
                  <a:cubicBezTo>
                    <a:pt x="99325" y="36428"/>
                    <a:pt x="106651" y="7122"/>
                    <a:pt x="128948" y="7122"/>
                  </a:cubicBezTo>
                  <a:cubicBezTo>
                    <a:pt x="130541" y="7122"/>
                    <a:pt x="138186" y="7122"/>
                    <a:pt x="144875" y="11263"/>
                  </a:cubicBezTo>
                  <a:cubicBezTo>
                    <a:pt x="135956" y="12856"/>
                    <a:pt x="129585" y="20819"/>
                    <a:pt x="129585" y="28464"/>
                  </a:cubicBezTo>
                  <a:cubicBezTo>
                    <a:pt x="129585" y="33561"/>
                    <a:pt x="133089" y="39613"/>
                    <a:pt x="141690" y="39613"/>
                  </a:cubicBezTo>
                  <a:cubicBezTo>
                    <a:pt x="148698" y="39613"/>
                    <a:pt x="158891" y="33879"/>
                    <a:pt x="158891" y="21138"/>
                  </a:cubicBezTo>
                  <a:cubicBezTo>
                    <a:pt x="158891" y="4574"/>
                    <a:pt x="140097" y="115"/>
                    <a:pt x="129267" y="115"/>
                  </a:cubicBezTo>
                  <a:cubicBezTo>
                    <a:pt x="110792" y="115"/>
                    <a:pt x="99643" y="16997"/>
                    <a:pt x="95821" y="24323"/>
                  </a:cubicBezTo>
                  <a:cubicBezTo>
                    <a:pt x="87857" y="3300"/>
                    <a:pt x="70656" y="115"/>
                    <a:pt x="61419" y="115"/>
                  </a:cubicBezTo>
                  <a:cubicBezTo>
                    <a:pt x="28291" y="115"/>
                    <a:pt x="10135" y="41206"/>
                    <a:pt x="10135" y="49169"/>
                  </a:cubicBezTo>
                  <a:cubicBezTo>
                    <a:pt x="10135" y="52354"/>
                    <a:pt x="13320" y="52354"/>
                    <a:pt x="13957" y="52354"/>
                  </a:cubicBezTo>
                  <a:cubicBezTo>
                    <a:pt x="16505" y="52354"/>
                    <a:pt x="17461" y="51717"/>
                    <a:pt x="18098" y="48851"/>
                  </a:cubicBezTo>
                  <a:cubicBezTo>
                    <a:pt x="28928" y="15086"/>
                    <a:pt x="49952" y="7122"/>
                    <a:pt x="60782" y="7122"/>
                  </a:cubicBezTo>
                  <a:cubicBezTo>
                    <a:pt x="66834" y="7122"/>
                    <a:pt x="77983" y="9989"/>
                    <a:pt x="77983" y="28464"/>
                  </a:cubicBezTo>
                  <a:cubicBezTo>
                    <a:pt x="77983" y="38339"/>
                    <a:pt x="72568" y="59681"/>
                    <a:pt x="60782" y="104276"/>
                  </a:cubicBezTo>
                  <a:cubicBezTo>
                    <a:pt x="55685" y="124025"/>
                    <a:pt x="44536" y="137404"/>
                    <a:pt x="30521" y="137404"/>
                  </a:cubicBezTo>
                  <a:cubicBezTo>
                    <a:pt x="28610" y="137404"/>
                    <a:pt x="21283" y="137404"/>
                    <a:pt x="14594" y="133263"/>
                  </a:cubicBezTo>
                  <a:cubicBezTo>
                    <a:pt x="22557" y="131670"/>
                    <a:pt x="29565" y="124981"/>
                    <a:pt x="29565" y="116062"/>
                  </a:cubicBezTo>
                  <a:cubicBezTo>
                    <a:pt x="29565" y="107461"/>
                    <a:pt x="22557" y="104913"/>
                    <a:pt x="17779" y="104913"/>
                  </a:cubicBezTo>
                  <a:cubicBezTo>
                    <a:pt x="8223" y="104913"/>
                    <a:pt x="260" y="113195"/>
                    <a:pt x="260" y="123388"/>
                  </a:cubicBezTo>
                  <a:cubicBezTo>
                    <a:pt x="260" y="138041"/>
                    <a:pt x="16187" y="144411"/>
                    <a:pt x="30202" y="144411"/>
                  </a:cubicBezTo>
                  <a:cubicBezTo>
                    <a:pt x="51226" y="144411"/>
                    <a:pt x="62693" y="122114"/>
                    <a:pt x="63649" y="120203"/>
                  </a:cubicBezTo>
                  <a:cubicBezTo>
                    <a:pt x="67471" y="131988"/>
                    <a:pt x="78938" y="144411"/>
                    <a:pt x="98050" y="144411"/>
                  </a:cubicBezTo>
                  <a:cubicBezTo>
                    <a:pt x="130860" y="144411"/>
                    <a:pt x="149016" y="103320"/>
                    <a:pt x="149016" y="95357"/>
                  </a:cubicBezTo>
                  <a:cubicBezTo>
                    <a:pt x="149016" y="92171"/>
                    <a:pt x="146149" y="92171"/>
                    <a:pt x="145194" y="92171"/>
                  </a:cubicBezTo>
                  <a:cubicBezTo>
                    <a:pt x="142327" y="92171"/>
                    <a:pt x="141690" y="93446"/>
                    <a:pt x="141053" y="95675"/>
                  </a:cubicBezTo>
                  <a:cubicBezTo>
                    <a:pt x="130541" y="129759"/>
                    <a:pt x="108881" y="137404"/>
                    <a:pt x="98687" y="137404"/>
                  </a:cubicBezTo>
                  <a:cubicBezTo>
                    <a:pt x="86265" y="137404"/>
                    <a:pt x="81168" y="127210"/>
                    <a:pt x="81168" y="116380"/>
                  </a:cubicBezTo>
                  <a:cubicBezTo>
                    <a:pt x="81168" y="109372"/>
                    <a:pt x="83079" y="102365"/>
                    <a:pt x="86583" y="88349"/>
                  </a:cubicBezTo>
                  <a:lnTo>
                    <a:pt x="97413" y="4471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00" name="任意形状 2099">
              <a:extLst>
                <a:ext uri="{FF2B5EF4-FFF2-40B4-BE49-F238E27FC236}">
                  <a16:creationId xmlns:a16="http://schemas.microsoft.com/office/drawing/2014/main" id="{F66B06CA-8593-53A8-EB6A-4A36C2666600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3751506" y="7144051"/>
              <a:ext cx="136237" cy="100561"/>
            </a:xfrm>
            <a:custGeom>
              <a:avLst/>
              <a:gdLst>
                <a:gd name="connsiteX0" fmla="*/ 16989 w 136237"/>
                <a:gd name="connsiteY0" fmla="*/ 84401 h 100561"/>
                <a:gd name="connsiteX1" fmla="*/ 14759 w 136237"/>
                <a:gd name="connsiteY1" fmla="*/ 93543 h 100561"/>
                <a:gd name="connsiteX2" fmla="*/ 22340 w 136237"/>
                <a:gd name="connsiteY2" fmla="*/ 100678 h 100561"/>
                <a:gd name="connsiteX3" fmla="*/ 31036 w 136237"/>
                <a:gd name="connsiteY3" fmla="*/ 95772 h 100561"/>
                <a:gd name="connsiteX4" fmla="*/ 35050 w 136237"/>
                <a:gd name="connsiteY4" fmla="*/ 81948 h 100561"/>
                <a:gd name="connsiteX5" fmla="*/ 39955 w 136237"/>
                <a:gd name="connsiteY5" fmla="*/ 61880 h 100561"/>
                <a:gd name="connsiteX6" fmla="*/ 43746 w 136237"/>
                <a:gd name="connsiteY6" fmla="*/ 46941 h 100561"/>
                <a:gd name="connsiteX7" fmla="*/ 53111 w 136237"/>
                <a:gd name="connsiteY7" fmla="*/ 26873 h 100561"/>
                <a:gd name="connsiteX8" fmla="*/ 86557 w 136237"/>
                <a:gd name="connsiteY8" fmla="*/ 6359 h 100561"/>
                <a:gd name="connsiteX9" fmla="*/ 99713 w 136237"/>
                <a:gd name="connsiteY9" fmla="*/ 21968 h 100561"/>
                <a:gd name="connsiteX10" fmla="*/ 86557 w 136237"/>
                <a:gd name="connsiteY10" fmla="*/ 69461 h 100561"/>
                <a:gd name="connsiteX11" fmla="*/ 83212 w 136237"/>
                <a:gd name="connsiteY11" fmla="*/ 81502 h 100561"/>
                <a:gd name="connsiteX12" fmla="*/ 104395 w 136237"/>
                <a:gd name="connsiteY12" fmla="*/ 100678 h 100561"/>
                <a:gd name="connsiteX13" fmla="*/ 136503 w 136237"/>
                <a:gd name="connsiteY13" fmla="*/ 66563 h 100561"/>
                <a:gd name="connsiteX14" fmla="*/ 132936 w 136237"/>
                <a:gd name="connsiteY14" fmla="*/ 63664 h 100561"/>
                <a:gd name="connsiteX15" fmla="*/ 128699 w 136237"/>
                <a:gd name="connsiteY15" fmla="*/ 67455 h 100561"/>
                <a:gd name="connsiteX16" fmla="*/ 105064 w 136237"/>
                <a:gd name="connsiteY16" fmla="*/ 94435 h 100561"/>
                <a:gd name="connsiteX17" fmla="*/ 99490 w 136237"/>
                <a:gd name="connsiteY17" fmla="*/ 86630 h 100561"/>
                <a:gd name="connsiteX18" fmla="*/ 104618 w 136237"/>
                <a:gd name="connsiteY18" fmla="*/ 68569 h 100561"/>
                <a:gd name="connsiteX19" fmla="*/ 116436 w 136237"/>
                <a:gd name="connsiteY19" fmla="*/ 25535 h 100561"/>
                <a:gd name="connsiteX20" fmla="*/ 87449 w 136237"/>
                <a:gd name="connsiteY20" fmla="*/ 116 h 100561"/>
                <a:gd name="connsiteX21" fmla="*/ 49766 w 136237"/>
                <a:gd name="connsiteY21" fmla="*/ 20407 h 100561"/>
                <a:gd name="connsiteX22" fmla="*/ 25908 w 136237"/>
                <a:gd name="connsiteY22" fmla="*/ 116 h 100561"/>
                <a:gd name="connsiteX23" fmla="*/ 8293 w 136237"/>
                <a:gd name="connsiteY23" fmla="*/ 12157 h 100561"/>
                <a:gd name="connsiteX24" fmla="*/ 266 w 136237"/>
                <a:gd name="connsiteY24" fmla="*/ 34231 h 100561"/>
                <a:gd name="connsiteX25" fmla="*/ 4056 w 136237"/>
                <a:gd name="connsiteY25" fmla="*/ 37130 h 100561"/>
                <a:gd name="connsiteX26" fmla="*/ 8962 w 136237"/>
                <a:gd name="connsiteY26" fmla="*/ 30441 h 100561"/>
                <a:gd name="connsiteX27" fmla="*/ 25239 w 136237"/>
                <a:gd name="connsiteY27" fmla="*/ 6359 h 100561"/>
                <a:gd name="connsiteX28" fmla="*/ 32597 w 136237"/>
                <a:gd name="connsiteY28" fmla="*/ 17285 h 100561"/>
                <a:gd name="connsiteX29" fmla="*/ 29029 w 136237"/>
                <a:gd name="connsiteY29" fmla="*/ 35792 h 100561"/>
                <a:gd name="connsiteX30" fmla="*/ 24124 w 136237"/>
                <a:gd name="connsiteY30" fmla="*/ 55860 h 100561"/>
                <a:gd name="connsiteX31" fmla="*/ 16989 w 136237"/>
                <a:gd name="connsiteY31" fmla="*/ 84401 h 100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6237" h="100561">
                  <a:moveTo>
                    <a:pt x="16989" y="84401"/>
                  </a:moveTo>
                  <a:cubicBezTo>
                    <a:pt x="16097" y="87299"/>
                    <a:pt x="14759" y="92874"/>
                    <a:pt x="14759" y="93543"/>
                  </a:cubicBezTo>
                  <a:cubicBezTo>
                    <a:pt x="14759" y="98448"/>
                    <a:pt x="18773" y="100678"/>
                    <a:pt x="22340" y="100678"/>
                  </a:cubicBezTo>
                  <a:cubicBezTo>
                    <a:pt x="26354" y="100678"/>
                    <a:pt x="29921" y="97779"/>
                    <a:pt x="31036" y="95772"/>
                  </a:cubicBezTo>
                  <a:cubicBezTo>
                    <a:pt x="32151" y="93766"/>
                    <a:pt x="33935" y="86630"/>
                    <a:pt x="35050" y="81948"/>
                  </a:cubicBezTo>
                  <a:cubicBezTo>
                    <a:pt x="36165" y="77711"/>
                    <a:pt x="38617" y="67455"/>
                    <a:pt x="39955" y="61880"/>
                  </a:cubicBezTo>
                  <a:cubicBezTo>
                    <a:pt x="41293" y="56975"/>
                    <a:pt x="42631" y="52069"/>
                    <a:pt x="43746" y="46941"/>
                  </a:cubicBezTo>
                  <a:cubicBezTo>
                    <a:pt x="46199" y="37799"/>
                    <a:pt x="46644" y="36015"/>
                    <a:pt x="53111" y="26873"/>
                  </a:cubicBezTo>
                  <a:cubicBezTo>
                    <a:pt x="59354" y="17954"/>
                    <a:pt x="69834" y="6359"/>
                    <a:pt x="86557" y="6359"/>
                  </a:cubicBezTo>
                  <a:cubicBezTo>
                    <a:pt x="99490" y="6359"/>
                    <a:pt x="99713" y="17731"/>
                    <a:pt x="99713" y="21968"/>
                  </a:cubicBezTo>
                  <a:cubicBezTo>
                    <a:pt x="99713" y="35346"/>
                    <a:pt x="90125" y="60096"/>
                    <a:pt x="86557" y="69461"/>
                  </a:cubicBezTo>
                  <a:cubicBezTo>
                    <a:pt x="84104" y="75705"/>
                    <a:pt x="83212" y="77711"/>
                    <a:pt x="83212" y="81502"/>
                  </a:cubicBezTo>
                  <a:cubicBezTo>
                    <a:pt x="83212" y="93320"/>
                    <a:pt x="93023" y="100678"/>
                    <a:pt x="104395" y="100678"/>
                  </a:cubicBezTo>
                  <a:cubicBezTo>
                    <a:pt x="126692" y="100678"/>
                    <a:pt x="136503" y="69907"/>
                    <a:pt x="136503" y="66563"/>
                  </a:cubicBezTo>
                  <a:cubicBezTo>
                    <a:pt x="136503" y="63664"/>
                    <a:pt x="133605" y="63664"/>
                    <a:pt x="132936" y="63664"/>
                  </a:cubicBezTo>
                  <a:cubicBezTo>
                    <a:pt x="129814" y="63664"/>
                    <a:pt x="129591" y="65002"/>
                    <a:pt x="128699" y="67455"/>
                  </a:cubicBezTo>
                  <a:cubicBezTo>
                    <a:pt x="123571" y="85293"/>
                    <a:pt x="113983" y="94435"/>
                    <a:pt x="105064" y="94435"/>
                  </a:cubicBezTo>
                  <a:cubicBezTo>
                    <a:pt x="100381" y="94435"/>
                    <a:pt x="99490" y="91313"/>
                    <a:pt x="99490" y="86630"/>
                  </a:cubicBezTo>
                  <a:cubicBezTo>
                    <a:pt x="99490" y="81502"/>
                    <a:pt x="100604" y="78603"/>
                    <a:pt x="104618" y="68569"/>
                  </a:cubicBezTo>
                  <a:cubicBezTo>
                    <a:pt x="107294" y="61657"/>
                    <a:pt x="116436" y="38022"/>
                    <a:pt x="116436" y="25535"/>
                  </a:cubicBezTo>
                  <a:cubicBezTo>
                    <a:pt x="116436" y="3907"/>
                    <a:pt x="99267" y="116"/>
                    <a:pt x="87449" y="116"/>
                  </a:cubicBezTo>
                  <a:cubicBezTo>
                    <a:pt x="68942" y="116"/>
                    <a:pt x="56455" y="11488"/>
                    <a:pt x="49766" y="20407"/>
                  </a:cubicBezTo>
                  <a:cubicBezTo>
                    <a:pt x="48205" y="5022"/>
                    <a:pt x="35050" y="116"/>
                    <a:pt x="25908" y="116"/>
                  </a:cubicBezTo>
                  <a:cubicBezTo>
                    <a:pt x="16320" y="116"/>
                    <a:pt x="11191" y="7028"/>
                    <a:pt x="8293" y="12157"/>
                  </a:cubicBezTo>
                  <a:cubicBezTo>
                    <a:pt x="3387" y="20407"/>
                    <a:pt x="266" y="33116"/>
                    <a:pt x="266" y="34231"/>
                  </a:cubicBezTo>
                  <a:cubicBezTo>
                    <a:pt x="266" y="37130"/>
                    <a:pt x="3387" y="37130"/>
                    <a:pt x="4056" y="37130"/>
                  </a:cubicBezTo>
                  <a:cubicBezTo>
                    <a:pt x="7178" y="37130"/>
                    <a:pt x="7401" y="36461"/>
                    <a:pt x="8962" y="30441"/>
                  </a:cubicBezTo>
                  <a:cubicBezTo>
                    <a:pt x="12306" y="17285"/>
                    <a:pt x="16543" y="6359"/>
                    <a:pt x="25239" y="6359"/>
                  </a:cubicBezTo>
                  <a:cubicBezTo>
                    <a:pt x="31036" y="6359"/>
                    <a:pt x="32597" y="11265"/>
                    <a:pt x="32597" y="17285"/>
                  </a:cubicBezTo>
                  <a:cubicBezTo>
                    <a:pt x="32597" y="21522"/>
                    <a:pt x="30590" y="29772"/>
                    <a:pt x="29029" y="35792"/>
                  </a:cubicBezTo>
                  <a:cubicBezTo>
                    <a:pt x="27469" y="41812"/>
                    <a:pt x="25239" y="50954"/>
                    <a:pt x="24124" y="55860"/>
                  </a:cubicBezTo>
                  <a:lnTo>
                    <a:pt x="16989" y="84401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01" name="任意形状 2100">
              <a:extLst>
                <a:ext uri="{FF2B5EF4-FFF2-40B4-BE49-F238E27FC236}">
                  <a16:creationId xmlns:a16="http://schemas.microsoft.com/office/drawing/2014/main" id="{73844C2F-BDB7-29C0-29DF-CFBA11217250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3912090" y="7087638"/>
              <a:ext cx="114609" cy="156974"/>
            </a:xfrm>
            <a:custGeom>
              <a:avLst/>
              <a:gdLst>
                <a:gd name="connsiteX0" fmla="*/ 113988 w 114609"/>
                <a:gd name="connsiteY0" fmla="*/ 6805 h 156974"/>
                <a:gd name="connsiteX1" fmla="*/ 114880 w 114609"/>
                <a:gd name="connsiteY1" fmla="*/ 3238 h 156974"/>
                <a:gd name="connsiteX2" fmla="*/ 111312 w 114609"/>
                <a:gd name="connsiteY2" fmla="*/ 116 h 156974"/>
                <a:gd name="connsiteX3" fmla="*/ 82771 w 114609"/>
                <a:gd name="connsiteY3" fmla="*/ 2346 h 156974"/>
                <a:gd name="connsiteX4" fmla="*/ 77866 w 114609"/>
                <a:gd name="connsiteY4" fmla="*/ 7474 h 156974"/>
                <a:gd name="connsiteX5" fmla="*/ 83663 w 114609"/>
                <a:gd name="connsiteY5" fmla="*/ 10596 h 156974"/>
                <a:gd name="connsiteX6" fmla="*/ 94366 w 114609"/>
                <a:gd name="connsiteY6" fmla="*/ 13941 h 156974"/>
                <a:gd name="connsiteX7" fmla="*/ 93474 w 114609"/>
                <a:gd name="connsiteY7" fmla="*/ 18846 h 156974"/>
                <a:gd name="connsiteX8" fmla="*/ 80765 w 114609"/>
                <a:gd name="connsiteY8" fmla="*/ 69684 h 156974"/>
                <a:gd name="connsiteX9" fmla="*/ 57798 w 114609"/>
                <a:gd name="connsiteY9" fmla="*/ 56529 h 156974"/>
                <a:gd name="connsiteX10" fmla="*/ 271 w 114609"/>
                <a:gd name="connsiteY10" fmla="*/ 120077 h 156974"/>
                <a:gd name="connsiteX11" fmla="*/ 33940 w 114609"/>
                <a:gd name="connsiteY11" fmla="*/ 157091 h 156974"/>
                <a:gd name="connsiteX12" fmla="*/ 65602 w 114609"/>
                <a:gd name="connsiteY12" fmla="*/ 141482 h 156974"/>
                <a:gd name="connsiteX13" fmla="*/ 88569 w 114609"/>
                <a:gd name="connsiteY13" fmla="*/ 157091 h 156974"/>
                <a:gd name="connsiteX14" fmla="*/ 106184 w 114609"/>
                <a:gd name="connsiteY14" fmla="*/ 145273 h 156974"/>
                <a:gd name="connsiteX15" fmla="*/ 113988 w 114609"/>
                <a:gd name="connsiteY15" fmla="*/ 122975 h 156974"/>
                <a:gd name="connsiteX16" fmla="*/ 110420 w 114609"/>
                <a:gd name="connsiteY16" fmla="*/ 120077 h 156974"/>
                <a:gd name="connsiteX17" fmla="*/ 105515 w 114609"/>
                <a:gd name="connsiteY17" fmla="*/ 126989 h 156974"/>
                <a:gd name="connsiteX18" fmla="*/ 89238 w 114609"/>
                <a:gd name="connsiteY18" fmla="*/ 150847 h 156974"/>
                <a:gd name="connsiteX19" fmla="*/ 81879 w 114609"/>
                <a:gd name="connsiteY19" fmla="*/ 139921 h 156974"/>
                <a:gd name="connsiteX20" fmla="*/ 82994 w 114609"/>
                <a:gd name="connsiteY20" fmla="*/ 130779 h 156974"/>
                <a:gd name="connsiteX21" fmla="*/ 113988 w 114609"/>
                <a:gd name="connsiteY21" fmla="*/ 6805 h 156974"/>
                <a:gd name="connsiteX22" fmla="*/ 66494 w 114609"/>
                <a:gd name="connsiteY22" fmla="*/ 126989 h 156974"/>
                <a:gd name="connsiteX23" fmla="*/ 55122 w 114609"/>
                <a:gd name="connsiteY23" fmla="*/ 141928 h 156974"/>
                <a:gd name="connsiteX24" fmla="*/ 34609 w 114609"/>
                <a:gd name="connsiteY24" fmla="*/ 150847 h 156974"/>
                <a:gd name="connsiteX25" fmla="*/ 18332 w 114609"/>
                <a:gd name="connsiteY25" fmla="*/ 129219 h 156974"/>
                <a:gd name="connsiteX26" fmla="*/ 29926 w 114609"/>
                <a:gd name="connsiteY26" fmla="*/ 83955 h 156974"/>
                <a:gd name="connsiteX27" fmla="*/ 57798 w 114609"/>
                <a:gd name="connsiteY27" fmla="*/ 62772 h 156974"/>
                <a:gd name="connsiteX28" fmla="*/ 77643 w 114609"/>
                <a:gd name="connsiteY28" fmla="*/ 82171 h 156974"/>
                <a:gd name="connsiteX29" fmla="*/ 76974 w 114609"/>
                <a:gd name="connsiteY29" fmla="*/ 85293 h 156974"/>
                <a:gd name="connsiteX30" fmla="*/ 66494 w 114609"/>
                <a:gd name="connsiteY30" fmla="*/ 126989 h 1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4609" h="156974">
                  <a:moveTo>
                    <a:pt x="113988" y="6805"/>
                  </a:moveTo>
                  <a:cubicBezTo>
                    <a:pt x="114211" y="6359"/>
                    <a:pt x="114880" y="3461"/>
                    <a:pt x="114880" y="3238"/>
                  </a:cubicBezTo>
                  <a:cubicBezTo>
                    <a:pt x="114880" y="2123"/>
                    <a:pt x="113988" y="116"/>
                    <a:pt x="111312" y="116"/>
                  </a:cubicBezTo>
                  <a:cubicBezTo>
                    <a:pt x="106853" y="116"/>
                    <a:pt x="88346" y="1900"/>
                    <a:pt x="82771" y="2346"/>
                  </a:cubicBezTo>
                  <a:cubicBezTo>
                    <a:pt x="80988" y="2569"/>
                    <a:pt x="77866" y="2792"/>
                    <a:pt x="77866" y="7474"/>
                  </a:cubicBezTo>
                  <a:cubicBezTo>
                    <a:pt x="77866" y="10596"/>
                    <a:pt x="80988" y="10596"/>
                    <a:pt x="83663" y="10596"/>
                  </a:cubicBezTo>
                  <a:cubicBezTo>
                    <a:pt x="94366" y="10596"/>
                    <a:pt x="94366" y="12157"/>
                    <a:pt x="94366" y="13941"/>
                  </a:cubicBezTo>
                  <a:cubicBezTo>
                    <a:pt x="94366" y="15501"/>
                    <a:pt x="93920" y="16839"/>
                    <a:pt x="93474" y="18846"/>
                  </a:cubicBezTo>
                  <a:lnTo>
                    <a:pt x="80765" y="69684"/>
                  </a:lnTo>
                  <a:cubicBezTo>
                    <a:pt x="76082" y="62326"/>
                    <a:pt x="68501" y="56529"/>
                    <a:pt x="57798" y="56529"/>
                  </a:cubicBezTo>
                  <a:cubicBezTo>
                    <a:pt x="29257" y="56529"/>
                    <a:pt x="271" y="87968"/>
                    <a:pt x="271" y="120077"/>
                  </a:cubicBezTo>
                  <a:cubicBezTo>
                    <a:pt x="271" y="141705"/>
                    <a:pt x="14764" y="157091"/>
                    <a:pt x="33940" y="157091"/>
                  </a:cubicBezTo>
                  <a:cubicBezTo>
                    <a:pt x="45980" y="157091"/>
                    <a:pt x="56683" y="150178"/>
                    <a:pt x="65602" y="141482"/>
                  </a:cubicBezTo>
                  <a:cubicBezTo>
                    <a:pt x="69839" y="154861"/>
                    <a:pt x="82771" y="157091"/>
                    <a:pt x="88569" y="157091"/>
                  </a:cubicBezTo>
                  <a:cubicBezTo>
                    <a:pt x="96596" y="157091"/>
                    <a:pt x="102170" y="152185"/>
                    <a:pt x="106184" y="145273"/>
                  </a:cubicBezTo>
                  <a:cubicBezTo>
                    <a:pt x="111089" y="136577"/>
                    <a:pt x="113988" y="123867"/>
                    <a:pt x="113988" y="122975"/>
                  </a:cubicBezTo>
                  <a:cubicBezTo>
                    <a:pt x="113988" y="120077"/>
                    <a:pt x="111089" y="120077"/>
                    <a:pt x="110420" y="120077"/>
                  </a:cubicBezTo>
                  <a:cubicBezTo>
                    <a:pt x="107299" y="120077"/>
                    <a:pt x="107076" y="120969"/>
                    <a:pt x="105515" y="126989"/>
                  </a:cubicBezTo>
                  <a:cubicBezTo>
                    <a:pt x="102839" y="137692"/>
                    <a:pt x="98603" y="150847"/>
                    <a:pt x="89238" y="150847"/>
                  </a:cubicBezTo>
                  <a:cubicBezTo>
                    <a:pt x="83440" y="150847"/>
                    <a:pt x="81879" y="145942"/>
                    <a:pt x="81879" y="139921"/>
                  </a:cubicBezTo>
                  <a:cubicBezTo>
                    <a:pt x="81879" y="135685"/>
                    <a:pt x="82325" y="133678"/>
                    <a:pt x="82994" y="130779"/>
                  </a:cubicBezTo>
                  <a:lnTo>
                    <a:pt x="113988" y="6805"/>
                  </a:lnTo>
                  <a:close/>
                  <a:moveTo>
                    <a:pt x="66494" y="126989"/>
                  </a:moveTo>
                  <a:cubicBezTo>
                    <a:pt x="64933" y="133232"/>
                    <a:pt x="60028" y="137692"/>
                    <a:pt x="55122" y="141928"/>
                  </a:cubicBezTo>
                  <a:cubicBezTo>
                    <a:pt x="53116" y="143712"/>
                    <a:pt x="44197" y="150847"/>
                    <a:pt x="34609" y="150847"/>
                  </a:cubicBezTo>
                  <a:cubicBezTo>
                    <a:pt x="26359" y="150847"/>
                    <a:pt x="18332" y="145050"/>
                    <a:pt x="18332" y="129219"/>
                  </a:cubicBezTo>
                  <a:cubicBezTo>
                    <a:pt x="18332" y="117401"/>
                    <a:pt x="24798" y="92874"/>
                    <a:pt x="29926" y="83955"/>
                  </a:cubicBezTo>
                  <a:cubicBezTo>
                    <a:pt x="40183" y="66117"/>
                    <a:pt x="51555" y="62772"/>
                    <a:pt x="57798" y="62772"/>
                  </a:cubicBezTo>
                  <a:cubicBezTo>
                    <a:pt x="73406" y="62772"/>
                    <a:pt x="77643" y="79718"/>
                    <a:pt x="77643" y="82171"/>
                  </a:cubicBezTo>
                  <a:cubicBezTo>
                    <a:pt x="77643" y="83063"/>
                    <a:pt x="77197" y="84624"/>
                    <a:pt x="76974" y="85293"/>
                  </a:cubicBezTo>
                  <a:lnTo>
                    <a:pt x="66494" y="126989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02" name="任意形状 2101">
              <a:extLst>
                <a:ext uri="{FF2B5EF4-FFF2-40B4-BE49-F238E27FC236}">
                  <a16:creationId xmlns:a16="http://schemas.microsoft.com/office/drawing/2014/main" id="{76CDFE66-5CC8-029C-52F1-12C50D90F7FA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4049247" y="5579053"/>
              <a:ext cx="106072" cy="573045"/>
            </a:xfrm>
            <a:custGeom>
              <a:avLst/>
              <a:gdLst>
                <a:gd name="connsiteX0" fmla="*/ 84369 w 106072"/>
                <a:gd name="connsiteY0" fmla="*/ 573110 h 573045"/>
                <a:gd name="connsiteX1" fmla="*/ 106348 w 106072"/>
                <a:gd name="connsiteY1" fmla="*/ 573110 h 573045"/>
                <a:gd name="connsiteX2" fmla="*/ 106348 w 106072"/>
                <a:gd name="connsiteY2" fmla="*/ 64 h 573045"/>
                <a:gd name="connsiteX3" fmla="*/ 275 w 106072"/>
                <a:gd name="connsiteY3" fmla="*/ 64 h 573045"/>
                <a:gd name="connsiteX4" fmla="*/ 275 w 106072"/>
                <a:gd name="connsiteY4" fmla="*/ 22043 h 573045"/>
                <a:gd name="connsiteX5" fmla="*/ 84369 w 106072"/>
                <a:gd name="connsiteY5" fmla="*/ 22043 h 573045"/>
                <a:gd name="connsiteX6" fmla="*/ 84369 w 106072"/>
                <a:gd name="connsiteY6" fmla="*/ 573110 h 57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072" h="573045">
                  <a:moveTo>
                    <a:pt x="84369" y="573110"/>
                  </a:moveTo>
                  <a:lnTo>
                    <a:pt x="106348" y="573110"/>
                  </a:lnTo>
                  <a:lnTo>
                    <a:pt x="106348" y="64"/>
                  </a:lnTo>
                  <a:lnTo>
                    <a:pt x="275" y="64"/>
                  </a:lnTo>
                  <a:lnTo>
                    <a:pt x="275" y="22043"/>
                  </a:lnTo>
                  <a:lnTo>
                    <a:pt x="84369" y="22043"/>
                  </a:lnTo>
                  <a:lnTo>
                    <a:pt x="84369" y="57311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03" name="任意形状 2102">
              <a:extLst>
                <a:ext uri="{FF2B5EF4-FFF2-40B4-BE49-F238E27FC236}">
                  <a16:creationId xmlns:a16="http://schemas.microsoft.com/office/drawing/2014/main" id="{94E7C6BF-C7A4-4289-F963-90A1217162D9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4133340" y="6151786"/>
              <a:ext cx="21978" cy="191758"/>
            </a:xfrm>
            <a:custGeom>
              <a:avLst/>
              <a:gdLst>
                <a:gd name="connsiteX0" fmla="*/ 275 w 21978"/>
                <a:gd name="connsiteY0" fmla="*/ 191841 h 191758"/>
                <a:gd name="connsiteX1" fmla="*/ 22254 w 21978"/>
                <a:gd name="connsiteY1" fmla="*/ 191841 h 191758"/>
                <a:gd name="connsiteX2" fmla="*/ 22254 w 21978"/>
                <a:gd name="connsiteY2" fmla="*/ 82 h 191758"/>
                <a:gd name="connsiteX3" fmla="*/ 275 w 21978"/>
                <a:gd name="connsiteY3" fmla="*/ 82 h 191758"/>
                <a:gd name="connsiteX4" fmla="*/ 275 w 21978"/>
                <a:gd name="connsiteY4" fmla="*/ 191841 h 19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78" h="191758">
                  <a:moveTo>
                    <a:pt x="275" y="191841"/>
                  </a:moveTo>
                  <a:lnTo>
                    <a:pt x="22254" y="191841"/>
                  </a:lnTo>
                  <a:lnTo>
                    <a:pt x="22254" y="82"/>
                  </a:lnTo>
                  <a:lnTo>
                    <a:pt x="275" y="82"/>
                  </a:lnTo>
                  <a:lnTo>
                    <a:pt x="275" y="191841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04" name="任意形状 2103">
              <a:extLst>
                <a:ext uri="{FF2B5EF4-FFF2-40B4-BE49-F238E27FC236}">
                  <a16:creationId xmlns:a16="http://schemas.microsoft.com/office/drawing/2014/main" id="{47812378-9D54-C3EF-7C02-9CEB8C2250D1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4133340" y="6342909"/>
              <a:ext cx="21978" cy="191758"/>
            </a:xfrm>
            <a:custGeom>
              <a:avLst/>
              <a:gdLst>
                <a:gd name="connsiteX0" fmla="*/ 275 w 21978"/>
                <a:gd name="connsiteY0" fmla="*/ 191847 h 191758"/>
                <a:gd name="connsiteX1" fmla="*/ 22254 w 21978"/>
                <a:gd name="connsiteY1" fmla="*/ 191847 h 191758"/>
                <a:gd name="connsiteX2" fmla="*/ 22254 w 21978"/>
                <a:gd name="connsiteY2" fmla="*/ 88 h 191758"/>
                <a:gd name="connsiteX3" fmla="*/ 275 w 21978"/>
                <a:gd name="connsiteY3" fmla="*/ 88 h 191758"/>
                <a:gd name="connsiteX4" fmla="*/ 275 w 21978"/>
                <a:gd name="connsiteY4" fmla="*/ 191847 h 19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78" h="191758">
                  <a:moveTo>
                    <a:pt x="275" y="191847"/>
                  </a:moveTo>
                  <a:lnTo>
                    <a:pt x="22254" y="191847"/>
                  </a:lnTo>
                  <a:lnTo>
                    <a:pt x="22254" y="88"/>
                  </a:lnTo>
                  <a:lnTo>
                    <a:pt x="275" y="88"/>
                  </a:lnTo>
                  <a:lnTo>
                    <a:pt x="275" y="19184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05" name="任意形状 2104">
              <a:extLst>
                <a:ext uri="{FF2B5EF4-FFF2-40B4-BE49-F238E27FC236}">
                  <a16:creationId xmlns:a16="http://schemas.microsoft.com/office/drawing/2014/main" id="{3C107264-036B-3294-C412-972697038CDD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4133340" y="6534033"/>
              <a:ext cx="21978" cy="191758"/>
            </a:xfrm>
            <a:custGeom>
              <a:avLst/>
              <a:gdLst>
                <a:gd name="connsiteX0" fmla="*/ 275 w 21978"/>
                <a:gd name="connsiteY0" fmla="*/ 191852 h 191758"/>
                <a:gd name="connsiteX1" fmla="*/ 22254 w 21978"/>
                <a:gd name="connsiteY1" fmla="*/ 191852 h 191758"/>
                <a:gd name="connsiteX2" fmla="*/ 22254 w 21978"/>
                <a:gd name="connsiteY2" fmla="*/ 94 h 191758"/>
                <a:gd name="connsiteX3" fmla="*/ 275 w 21978"/>
                <a:gd name="connsiteY3" fmla="*/ 94 h 191758"/>
                <a:gd name="connsiteX4" fmla="*/ 275 w 21978"/>
                <a:gd name="connsiteY4" fmla="*/ 191852 h 19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78" h="191758">
                  <a:moveTo>
                    <a:pt x="275" y="191852"/>
                  </a:moveTo>
                  <a:lnTo>
                    <a:pt x="22254" y="191852"/>
                  </a:lnTo>
                  <a:lnTo>
                    <a:pt x="22254" y="94"/>
                  </a:lnTo>
                  <a:lnTo>
                    <a:pt x="275" y="94"/>
                  </a:lnTo>
                  <a:lnTo>
                    <a:pt x="275" y="191852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06" name="任意形状 2105">
              <a:extLst>
                <a:ext uri="{FF2B5EF4-FFF2-40B4-BE49-F238E27FC236}">
                  <a16:creationId xmlns:a16="http://schemas.microsoft.com/office/drawing/2014/main" id="{46276A5D-FC2C-D321-1530-B102F14171DC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4049247" y="6725474"/>
              <a:ext cx="106072" cy="573045"/>
            </a:xfrm>
            <a:custGeom>
              <a:avLst/>
              <a:gdLst>
                <a:gd name="connsiteX0" fmla="*/ 84369 w 106072"/>
                <a:gd name="connsiteY0" fmla="*/ 551167 h 573045"/>
                <a:gd name="connsiteX1" fmla="*/ 275 w 106072"/>
                <a:gd name="connsiteY1" fmla="*/ 551167 h 573045"/>
                <a:gd name="connsiteX2" fmla="*/ 275 w 106072"/>
                <a:gd name="connsiteY2" fmla="*/ 573146 h 573045"/>
                <a:gd name="connsiteX3" fmla="*/ 106348 w 106072"/>
                <a:gd name="connsiteY3" fmla="*/ 573146 h 573045"/>
                <a:gd name="connsiteX4" fmla="*/ 106348 w 106072"/>
                <a:gd name="connsiteY4" fmla="*/ 100 h 573045"/>
                <a:gd name="connsiteX5" fmla="*/ 84369 w 106072"/>
                <a:gd name="connsiteY5" fmla="*/ 100 h 573045"/>
                <a:gd name="connsiteX6" fmla="*/ 84369 w 106072"/>
                <a:gd name="connsiteY6" fmla="*/ 551167 h 57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072" h="573045">
                  <a:moveTo>
                    <a:pt x="84369" y="551167"/>
                  </a:moveTo>
                  <a:lnTo>
                    <a:pt x="275" y="551167"/>
                  </a:lnTo>
                  <a:lnTo>
                    <a:pt x="275" y="573146"/>
                  </a:lnTo>
                  <a:lnTo>
                    <a:pt x="106348" y="573146"/>
                  </a:lnTo>
                  <a:lnTo>
                    <a:pt x="106348" y="100"/>
                  </a:lnTo>
                  <a:lnTo>
                    <a:pt x="84369" y="100"/>
                  </a:lnTo>
                  <a:lnTo>
                    <a:pt x="84369" y="55116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07" name="任意形状 2106">
              <a:extLst>
                <a:ext uri="{FF2B5EF4-FFF2-40B4-BE49-F238E27FC236}">
                  <a16:creationId xmlns:a16="http://schemas.microsoft.com/office/drawing/2014/main" id="{A7AB14F8-0249-B228-381F-67ABC7CF20DD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4339857" y="6484659"/>
              <a:ext cx="33764" cy="33764"/>
            </a:xfrm>
            <a:custGeom>
              <a:avLst/>
              <a:gdLst>
                <a:gd name="connsiteX0" fmla="*/ 34048 w 33764"/>
                <a:gd name="connsiteY0" fmla="*/ 16976 h 33764"/>
                <a:gd name="connsiteX1" fmla="*/ 17166 w 33764"/>
                <a:gd name="connsiteY1" fmla="*/ 93 h 33764"/>
                <a:gd name="connsiteX2" fmla="*/ 284 w 33764"/>
                <a:gd name="connsiteY2" fmla="*/ 16976 h 33764"/>
                <a:gd name="connsiteX3" fmla="*/ 17166 w 33764"/>
                <a:gd name="connsiteY3" fmla="*/ 33858 h 33764"/>
                <a:gd name="connsiteX4" fmla="*/ 34048 w 33764"/>
                <a:gd name="connsiteY4" fmla="*/ 16976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4048" y="16976"/>
                  </a:moveTo>
                  <a:cubicBezTo>
                    <a:pt x="34048" y="7738"/>
                    <a:pt x="26403" y="93"/>
                    <a:pt x="17166" y="93"/>
                  </a:cubicBezTo>
                  <a:cubicBezTo>
                    <a:pt x="7928" y="93"/>
                    <a:pt x="284" y="7738"/>
                    <a:pt x="284" y="16976"/>
                  </a:cubicBezTo>
                  <a:cubicBezTo>
                    <a:pt x="284" y="26213"/>
                    <a:pt x="7928" y="33858"/>
                    <a:pt x="17166" y="33858"/>
                  </a:cubicBezTo>
                  <a:cubicBezTo>
                    <a:pt x="26403" y="33858"/>
                    <a:pt x="34048" y="26213"/>
                    <a:pt x="34048" y="16976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55" name="矩形 2054">
                <a:extLst>
                  <a:ext uri="{FF2B5EF4-FFF2-40B4-BE49-F238E27FC236}">
                    <a16:creationId xmlns:a16="http://schemas.microsoft.com/office/drawing/2014/main" id="{7D7F8AF8-6CD2-3301-ACDF-118372DA2B20}"/>
                  </a:ext>
                </a:extLst>
              </p:cNvPr>
              <p:cNvSpPr/>
              <p:nvPr/>
            </p:nvSpPr>
            <p:spPr>
              <a:xfrm>
                <a:off x="5443685" y="5511827"/>
                <a:ext cx="3135391" cy="73752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550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800" b="1" i="0" dirty="0">
                    <a:solidFill>
                      <a:srgbClr val="C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多个样本点组成的数据集可以用一个矩阵 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18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1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1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1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𝒅</m:t>
                        </m:r>
                      </m:sup>
                    </m:sSup>
                  </m:oMath>
                </a14:m>
                <a:r>
                  <a:rPr lang="zh-CN" altLang="en-US" sz="1800" b="1" i="0" dirty="0">
                    <a:solidFill>
                      <a:srgbClr val="C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表示</a:t>
                </a:r>
              </a:p>
            </p:txBody>
          </p:sp>
        </mc:Choice>
        <mc:Fallback xmlns="">
          <p:sp>
            <p:nvSpPr>
              <p:cNvPr id="2055" name="矩形 2054">
                <a:extLst>
                  <a:ext uri="{FF2B5EF4-FFF2-40B4-BE49-F238E27FC236}">
                    <a16:creationId xmlns:a16="http://schemas.microsoft.com/office/drawing/2014/main" id="{7D7F8AF8-6CD2-3301-ACDF-118372DA2B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685" y="5511827"/>
                <a:ext cx="3135391" cy="737524"/>
              </a:xfrm>
              <a:prstGeom prst="rect">
                <a:avLst/>
              </a:prstGeom>
              <a:blipFill>
                <a:blip r:embed="rId58"/>
                <a:stretch>
                  <a:fillRect l="-806" r="-806" b="-6667"/>
                </a:stretch>
              </a:blipFill>
              <a:ln w="550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96AF831C-91D7-1C7C-B6B9-7F2719B18BC9}"/>
              </a:ext>
            </a:extLst>
          </p:cNvPr>
          <p:cNvSpPr txBox="1"/>
          <p:nvPr/>
        </p:nvSpPr>
        <p:spPr>
          <a:xfrm>
            <a:off x="-127322" y="1180618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zh-CN" altLang="en-US" sz="20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671E5E1-D27B-D4B7-38A0-784CFFE5DC8E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366250" y="836615"/>
            <a:ext cx="4594698" cy="177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361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4C385-0C04-9164-4EB4-0F30CACE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A7BDC8F-E80D-0A2D-743C-570FFF9EE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矩阵的特征值（</a:t>
            </a:r>
            <a:r>
              <a:rPr lang="en-US" altLang="zh-CN" dirty="0"/>
              <a:t>eigenvalue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A1FBB84-0E12-B439-02C0-0E17C1AB8BA7}"/>
                  </a:ext>
                </a:extLst>
              </p:cNvPr>
              <p:cNvSpPr txBox="1"/>
              <p:nvPr/>
            </p:nvSpPr>
            <p:spPr>
              <a:xfrm>
                <a:off x="131018" y="2681172"/>
                <a:ext cx="6932512" cy="2026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是一个特征向量，那么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𝛼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也是一个特征向量，特征向量代表矩阵作用下的不变方向</a:t>
                </a:r>
                <a:endParaRPr lang="en-US" altLang="zh-CN" sz="2000" dirty="0">
                  <a:solidFill>
                    <a:srgbClr val="B615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如何得到特征值和特征向量？</a:t>
                </a:r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𝑰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 </m:t>
                    </m:r>
                    <m:groupChr>
                      <m:groupChrPr>
                        <m:chr m:val="⇒"/>
                        <m:pos m:val="bot"/>
                        <m:vertJc m:val="bot"/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groupCh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𝜆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是</m:t>
                    </m:r>
                    <m:r>
                      <a:rPr lang="zh-CN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奇异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的</m:t>
                    </m:r>
                    <m:r>
                      <a:rPr lang="zh-CN" alt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groupChr>
                      <m:groupChrPr>
                        <m:chr m:val="⇒"/>
                        <m:pos m:val="top"/>
                        <m:vertJc m:val="top"/>
                        <m:ctrlPr>
                          <a:rPr lang="zh-CN" alt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zh-CN" alt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groupChr>
                    <m:r>
                      <a:rPr lang="zh-CN" alt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行列式</m:t>
                    </m:r>
                    <m:r>
                      <a:rPr lang="zh-CN" alt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𝑰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A1FBB84-0E12-B439-02C0-0E17C1AB8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8" y="2681172"/>
                <a:ext cx="6932512" cy="2026902"/>
              </a:xfrm>
              <a:prstGeom prst="rect">
                <a:avLst/>
              </a:prstGeom>
              <a:blipFill>
                <a:blip r:embed="rId2"/>
                <a:stretch>
                  <a:fillRect l="-731" b="-106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B5C69FE1-2A39-C3D9-2025-98F68E33D46D}"/>
              </a:ext>
            </a:extLst>
          </p:cNvPr>
          <p:cNvSpPr txBox="1"/>
          <p:nvPr/>
        </p:nvSpPr>
        <p:spPr>
          <a:xfrm>
            <a:off x="-157088" y="2681172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C0E2CC2-3CB0-61EC-8A4C-DBBB92624FDD}"/>
                  </a:ext>
                </a:extLst>
              </p:cNvPr>
              <p:cNvSpPr txBox="1"/>
              <p:nvPr/>
            </p:nvSpPr>
            <p:spPr>
              <a:xfrm>
                <a:off x="131018" y="973902"/>
                <a:ext cx="11195200" cy="1607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设方阵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，称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  <m:r>
                      <a:rPr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的一个</a:t>
                </a:r>
                <a:r>
                  <a:rPr lang="zh-CN" altLang="en-US" sz="2000" b="1" dirty="0">
                    <a:solidFill>
                      <a:srgbClr val="B6151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特征向量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，如果存在一个数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𝜆</m:t>
                    </m:r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（实数或者虚数）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使得</a:t>
                </a:r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altLang="zh-CN" sz="2800" b="1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𝑨𝒙</m:t>
                      </m:r>
                      <m:r>
                        <a:rPr lang="en-US" altLang="zh-CN" sz="28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8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𝜆</m:t>
                      </m:r>
                      <m:r>
                        <a:rPr lang="en-US" altLang="zh-CN" sz="2800" b="1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𝒙</m:t>
                      </m:r>
                    </m:oMath>
                  </m:oMathPara>
                </a14:m>
                <a:endParaRPr lang="en-US" altLang="zh-CN" sz="2800" b="1" dirty="0">
                  <a:solidFill>
                    <a:srgbClr val="B615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这里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𝜆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sz="2000" b="1" dirty="0">
                    <a:solidFill>
                      <a:srgbClr val="B6151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特征值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C0E2CC2-3CB0-61EC-8A4C-DBBB92624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8" y="973902"/>
                <a:ext cx="11195200" cy="1607620"/>
              </a:xfrm>
              <a:prstGeom prst="rect">
                <a:avLst/>
              </a:prstGeom>
              <a:blipFill>
                <a:blip r:embed="rId3"/>
                <a:stretch>
                  <a:fillRect l="-490" b="-60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F381525F-B44D-F668-7FCC-6D94D9E2F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3" y="5326932"/>
            <a:ext cx="5366861" cy="7142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471874F-8CD0-AC53-47A6-495881E5814C}"/>
                  </a:ext>
                </a:extLst>
              </p:cNvPr>
              <p:cNvSpPr txBox="1"/>
              <p:nvPr/>
            </p:nvSpPr>
            <p:spPr>
              <a:xfrm>
                <a:off x="6079538" y="5292511"/>
                <a:ext cx="10852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=4  </m:t>
                      </m:r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471874F-8CD0-AC53-47A6-495881E58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9538" y="5292511"/>
                <a:ext cx="1085233" cy="400110"/>
              </a:xfrm>
              <a:prstGeom prst="rect">
                <a:avLst/>
              </a:prstGeom>
              <a:blipFill>
                <a:blip r:embed="rId5"/>
                <a:stretch>
                  <a:fillRect r="-1163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81D425D-33E4-4B02-08B5-858A2382161B}"/>
                  </a:ext>
                </a:extLst>
              </p:cNvPr>
              <p:cNvSpPr txBox="1"/>
              <p:nvPr/>
            </p:nvSpPr>
            <p:spPr>
              <a:xfrm>
                <a:off x="5884086" y="5772394"/>
                <a:ext cx="15742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1, 2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81D425D-33E4-4B02-08B5-858A23821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086" y="5772394"/>
                <a:ext cx="157421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2EC25B5-3864-8B2A-4C83-354C01459A25}"/>
                  </a:ext>
                </a:extLst>
              </p:cNvPr>
              <p:cNvSpPr txBox="1"/>
              <p:nvPr/>
            </p:nvSpPr>
            <p:spPr>
              <a:xfrm>
                <a:off x="7533330" y="5773058"/>
                <a:ext cx="176657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−1, 2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2EC25B5-3864-8B2A-4C83-354C01459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330" y="5773058"/>
                <a:ext cx="1766573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8513F7A-96C7-57BC-38D1-66636EA10BEF}"/>
                  </a:ext>
                </a:extLst>
              </p:cNvPr>
              <p:cNvSpPr txBox="1"/>
              <p:nvPr/>
            </p:nvSpPr>
            <p:spPr>
              <a:xfrm>
                <a:off x="7820915" y="5258892"/>
                <a:ext cx="97898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8513F7A-96C7-57BC-38D1-66636EA10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915" y="5258892"/>
                <a:ext cx="978986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33A8F90A-868B-4DB3-B82B-95A9E614AC15}"/>
              </a:ext>
            </a:extLst>
          </p:cNvPr>
          <p:cNvSpPr txBox="1"/>
          <p:nvPr/>
        </p:nvSpPr>
        <p:spPr>
          <a:xfrm>
            <a:off x="314130" y="4769767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例子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6775F67-9AE4-7EB6-643E-B078F3CD18D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8273"/>
          <a:stretch>
            <a:fillRect/>
          </a:stretch>
        </p:blipFill>
        <p:spPr>
          <a:xfrm>
            <a:off x="7001653" y="1510752"/>
            <a:ext cx="5190347" cy="231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190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ED67A-CA9F-6A42-3109-692D38397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D0A7394-AD7B-BB84-FA44-8C72BFC14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向量和矩阵在神经网络中的应用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2" name="文本框 2161">
                <a:extLst>
                  <a:ext uri="{FF2B5EF4-FFF2-40B4-BE49-F238E27FC236}">
                    <a16:creationId xmlns:a16="http://schemas.microsoft.com/office/drawing/2014/main" id="{6F18289C-027E-C3CD-32BD-35BF52272C8D}"/>
                  </a:ext>
                </a:extLst>
              </p:cNvPr>
              <p:cNvSpPr txBox="1"/>
              <p:nvPr/>
            </p:nvSpPr>
            <p:spPr>
              <a:xfrm>
                <a:off x="274214" y="926122"/>
                <a:ext cx="11429517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kumimoji="1"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图像处理：将一张 </a:t>
                </a:r>
                <a:r>
                  <a:rPr kumimoji="1"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28×28 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的灰度图像展平表示为一个 </a:t>
                </a:r>
                <a:r>
                  <a:rPr kumimoji="1"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784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维的向量</a:t>
                </a:r>
              </a:p>
              <a:p>
                <a:pPr algn="l">
                  <a:lnSpc>
                    <a:spcPct val="150000"/>
                  </a:lnSpc>
                </a:pPr>
                <a:r>
                  <a:rPr kumimoji="1"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神经网络中前向传播：输入向量 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784</m:t>
                        </m:r>
                      </m:sup>
                    </m:sSup>
                  </m:oMath>
                </a14:m>
                <a:r>
                  <a:rPr kumimoji="1" lang="en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通过权重矩阵 </a:t>
                </a:r>
                <a:r>
                  <a:rPr kumimoji="1" lang="en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W 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和偏置向量 </a:t>
                </a:r>
                <a:r>
                  <a:rPr kumimoji="1" lang="en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 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计算输出</a:t>
                </a:r>
                <a:endParaRPr kumimoji="1" lang="en-US" altLang="zh-CN" sz="2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kumimoji="1" lang="zh-CN" alt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kumimoji="1" lang="zh-CN" alt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kumimoji="1" lang="zh-CN" alt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kumimoji="1" lang="en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 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𝜎</m:t>
                    </m:r>
                  </m:oMath>
                </a14:m>
                <a:r>
                  <a:rPr kumimoji="1" lang="en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一个非线性函数，逐分量作用，例如</a:t>
                </a:r>
                <a:endParaRPr kumimoji="1" lang="en" altLang="zh-CN" sz="2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62" name="文本框 2161">
                <a:extLst>
                  <a:ext uri="{FF2B5EF4-FFF2-40B4-BE49-F238E27FC236}">
                    <a16:creationId xmlns:a16="http://schemas.microsoft.com/office/drawing/2014/main" id="{6F18289C-027E-C3CD-32BD-35BF52272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214" y="926122"/>
                <a:ext cx="11429517" cy="1754326"/>
              </a:xfrm>
              <a:prstGeom prst="rect">
                <a:avLst/>
              </a:prstGeom>
              <a:blipFill>
                <a:blip r:embed="rId2"/>
                <a:stretch>
                  <a:fillRect l="-888"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63" name="Picture 4" descr="machine learning - What image format are MNIST images? - Stack Overflow">
            <a:extLst>
              <a:ext uri="{FF2B5EF4-FFF2-40B4-BE49-F238E27FC236}">
                <a16:creationId xmlns:a16="http://schemas.microsoft.com/office/drawing/2014/main" id="{91ACA4D0-7A56-2000-1CD8-E885F2957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95" y="3105493"/>
            <a:ext cx="2316075" cy="2397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5" name="Picture 4" descr="Neural Networks | SpringerLink">
            <a:extLst>
              <a:ext uri="{FF2B5EF4-FFF2-40B4-BE49-F238E27FC236}">
                <a16:creationId xmlns:a16="http://schemas.microsoft.com/office/drawing/2014/main" id="{3E004FE3-A109-6737-98A0-75E7181549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43" t="5291"/>
          <a:stretch/>
        </p:blipFill>
        <p:spPr bwMode="auto">
          <a:xfrm flipH="1">
            <a:off x="5178800" y="3008926"/>
            <a:ext cx="551873" cy="2793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66" name="文本框 2165">
                <a:extLst>
                  <a:ext uri="{FF2B5EF4-FFF2-40B4-BE49-F238E27FC236}">
                    <a16:creationId xmlns:a16="http://schemas.microsoft.com/office/drawing/2014/main" id="{CF521527-5A2C-01CC-A05C-8BC2F8E3079A}"/>
                  </a:ext>
                </a:extLst>
              </p:cNvPr>
              <p:cNvSpPr txBox="1"/>
              <p:nvPr/>
            </p:nvSpPr>
            <p:spPr>
              <a:xfrm>
                <a:off x="4984446" y="5836421"/>
                <a:ext cx="1237069" cy="407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kumimoji="1"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kumimoji="1"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𝟕𝟖𝟒</m:t>
                          </m:r>
                        </m:sup>
                      </m:sSup>
                    </m:oMath>
                  </m:oMathPara>
                </a14:m>
                <a:endParaRPr kumimoji="1" lang="zh-CN" altLang="en-US" sz="2000" b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166" name="文本框 2165">
                <a:extLst>
                  <a:ext uri="{FF2B5EF4-FFF2-40B4-BE49-F238E27FC236}">
                    <a16:creationId xmlns:a16="http://schemas.microsoft.com/office/drawing/2014/main" id="{CF521527-5A2C-01CC-A05C-8BC2F8E30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446" y="5836421"/>
                <a:ext cx="1237069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67" name="Picture 6" descr="Demystifying Machine Learning, Part 5 – Stories from a Software Tester">
            <a:extLst>
              <a:ext uri="{FF2B5EF4-FFF2-40B4-BE49-F238E27FC236}">
                <a16:creationId xmlns:a16="http://schemas.microsoft.com/office/drawing/2014/main" id="{04274B69-FFE6-B6B7-2C8C-721D8D9CE5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19" t="22305" b="6962"/>
          <a:stretch/>
        </p:blipFill>
        <p:spPr bwMode="auto">
          <a:xfrm>
            <a:off x="7866741" y="3105493"/>
            <a:ext cx="3596664" cy="2793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68" name="右箭头 2167">
            <a:extLst>
              <a:ext uri="{FF2B5EF4-FFF2-40B4-BE49-F238E27FC236}">
                <a16:creationId xmlns:a16="http://schemas.microsoft.com/office/drawing/2014/main" id="{A4F7443B-B1A0-193E-3D7E-A96DAAE3BEB4}"/>
              </a:ext>
            </a:extLst>
          </p:cNvPr>
          <p:cNvSpPr/>
          <p:nvPr/>
        </p:nvSpPr>
        <p:spPr>
          <a:xfrm>
            <a:off x="3396343" y="4048600"/>
            <a:ext cx="1306286" cy="525076"/>
          </a:xfrm>
          <a:prstGeom prst="rightArrow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69" name="右箭头 2168">
            <a:extLst>
              <a:ext uri="{FF2B5EF4-FFF2-40B4-BE49-F238E27FC236}">
                <a16:creationId xmlns:a16="http://schemas.microsoft.com/office/drawing/2014/main" id="{BBE9EC03-7BF8-CC25-31F3-20E591DA1996}"/>
              </a:ext>
            </a:extLst>
          </p:cNvPr>
          <p:cNvSpPr/>
          <p:nvPr/>
        </p:nvSpPr>
        <p:spPr>
          <a:xfrm>
            <a:off x="6185554" y="4041864"/>
            <a:ext cx="1306286" cy="525076"/>
          </a:xfrm>
          <a:prstGeom prst="rightArrow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70" name="文本框 2169">
            <a:extLst>
              <a:ext uri="{FF2B5EF4-FFF2-40B4-BE49-F238E27FC236}">
                <a16:creationId xmlns:a16="http://schemas.microsoft.com/office/drawing/2014/main" id="{5FAE3E63-947C-205D-CBC1-45605F3EF226}"/>
              </a:ext>
            </a:extLst>
          </p:cNvPr>
          <p:cNvSpPr txBox="1"/>
          <p:nvPr/>
        </p:nvSpPr>
        <p:spPr>
          <a:xfrm>
            <a:off x="3556000" y="468979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展平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72" name="文本框 2171">
                <a:extLst>
                  <a:ext uri="{FF2B5EF4-FFF2-40B4-BE49-F238E27FC236}">
                    <a16:creationId xmlns:a16="http://schemas.microsoft.com/office/drawing/2014/main" id="{F8B67DA9-0840-40BE-D52F-74EDADE3B702}"/>
                  </a:ext>
                </a:extLst>
              </p:cNvPr>
              <p:cNvSpPr txBox="1"/>
              <p:nvPr/>
            </p:nvSpPr>
            <p:spPr>
              <a:xfrm>
                <a:off x="8380676" y="2665292"/>
                <a:ext cx="2055096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kumimoji="1" lang="en-US" altLang="zh-CN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" altLang="zh-CN" sz="18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72" name="文本框 2171">
                <a:extLst>
                  <a:ext uri="{FF2B5EF4-FFF2-40B4-BE49-F238E27FC236}">
                    <a16:creationId xmlns:a16="http://schemas.microsoft.com/office/drawing/2014/main" id="{F8B67DA9-0840-40BE-D52F-74EDADE3B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0676" y="2665292"/>
                <a:ext cx="2055096" cy="507831"/>
              </a:xfrm>
              <a:prstGeom prst="rect">
                <a:avLst/>
              </a:prstGeom>
              <a:blipFill>
                <a:blip r:embed="rId7"/>
                <a:stretch>
                  <a:fillRect r="-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3" name="文本框 2172">
                <a:extLst>
                  <a:ext uri="{FF2B5EF4-FFF2-40B4-BE49-F238E27FC236}">
                    <a16:creationId xmlns:a16="http://schemas.microsoft.com/office/drawing/2014/main" id="{0C644D8E-4439-950A-50DC-41F2B578DE01}"/>
                  </a:ext>
                </a:extLst>
              </p:cNvPr>
              <p:cNvSpPr txBox="1"/>
              <p:nvPr/>
            </p:nvSpPr>
            <p:spPr>
              <a:xfrm>
                <a:off x="9891422" y="4995481"/>
                <a:ext cx="2182654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" altLang="zh-CN" sz="18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73" name="文本框 2172">
                <a:extLst>
                  <a:ext uri="{FF2B5EF4-FFF2-40B4-BE49-F238E27FC236}">
                    <a16:creationId xmlns:a16="http://schemas.microsoft.com/office/drawing/2014/main" id="{0C644D8E-4439-950A-50DC-41F2B578D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1422" y="4995481"/>
                <a:ext cx="2182654" cy="507831"/>
              </a:xfrm>
              <a:prstGeom prst="rect">
                <a:avLst/>
              </a:prstGeom>
              <a:blipFill>
                <a:blip r:embed="rId8"/>
                <a:stretch>
                  <a:fillRect r="-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4" name="文本框 2173">
            <a:extLst>
              <a:ext uri="{FF2B5EF4-FFF2-40B4-BE49-F238E27FC236}">
                <a16:creationId xmlns:a16="http://schemas.microsoft.com/office/drawing/2014/main" id="{079BBA96-F4F8-706E-441E-F7C4AAB35D33}"/>
              </a:ext>
            </a:extLst>
          </p:cNvPr>
          <p:cNvSpPr txBox="1"/>
          <p:nvPr/>
        </p:nvSpPr>
        <p:spPr>
          <a:xfrm>
            <a:off x="6206844" y="468979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作为输入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0ED4C4E-09BB-804A-AF32-16A72226BF0F}"/>
              </a:ext>
            </a:extLst>
          </p:cNvPr>
          <p:cNvSpPr txBox="1"/>
          <p:nvPr/>
        </p:nvSpPr>
        <p:spPr>
          <a:xfrm>
            <a:off x="180549" y="6458649"/>
            <a:ext cx="60986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200" dirty="0">
                <a:solidFill>
                  <a:schemeClr val="bg1"/>
                </a:solidFill>
              </a:rPr>
              <a:t>图片来源：</a:t>
            </a:r>
            <a:r>
              <a:rPr kumimoji="1" lang="en-US" altLang="zh-CN" sz="1200" dirty="0">
                <a:solidFill>
                  <a:schemeClr val="bg1"/>
                </a:solidFill>
              </a:rPr>
              <a:t>MNIST</a:t>
            </a:r>
            <a:endParaRPr lang="zh-CN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2744CFC-9C7E-10E7-F2DC-B2D1F131B058}"/>
                  </a:ext>
                </a:extLst>
              </p:cNvPr>
              <p:cNvSpPr txBox="1"/>
              <p:nvPr/>
            </p:nvSpPr>
            <p:spPr>
              <a:xfrm>
                <a:off x="9962918" y="2045558"/>
                <a:ext cx="2039661" cy="6415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sz="16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ReLU</m:t>
                      </m:r>
                      <m:d>
                        <m:dPr>
                          <m:ctrlP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2744CFC-9C7E-10E7-F2DC-B2D1F131B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2918" y="2045558"/>
                <a:ext cx="2039661" cy="641586"/>
              </a:xfrm>
              <a:prstGeom prst="rect">
                <a:avLst/>
              </a:prstGeom>
              <a:blipFill>
                <a:blip r:embed="rId9"/>
                <a:stretch>
                  <a:fillRect t="-186275" r="-4938" b="-26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6217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05665-707A-F129-2084-05A8A0E9E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F029B9-F567-EAE1-D176-6CB912FF4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0D2174-9119-872C-F4DD-44E8B86292E1}"/>
              </a:ext>
            </a:extLst>
          </p:cNvPr>
          <p:cNvSpPr txBox="1"/>
          <p:nvPr/>
        </p:nvSpPr>
        <p:spPr>
          <a:xfrm>
            <a:off x="3855154" y="1399967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一、矩阵与向量基础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5476D58-2199-2269-6C01-EFCB3578396B}"/>
              </a:ext>
            </a:extLst>
          </p:cNvPr>
          <p:cNvSpPr txBox="1"/>
          <p:nvPr/>
        </p:nvSpPr>
        <p:spPr>
          <a:xfrm>
            <a:off x="3855154" y="236207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二、概率统计基础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A7645B5-05A6-FF6D-CAA1-9A28F5F37C1A}"/>
              </a:ext>
            </a:extLst>
          </p:cNvPr>
          <p:cNvSpPr txBox="1"/>
          <p:nvPr/>
        </p:nvSpPr>
        <p:spPr>
          <a:xfrm>
            <a:off x="3855154" y="3324179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三、优化算法基础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142691-7B1B-015F-B7A9-5D1DE7098872}"/>
              </a:ext>
            </a:extLst>
          </p:cNvPr>
          <p:cNvSpPr txBox="1"/>
          <p:nvPr/>
        </p:nvSpPr>
        <p:spPr>
          <a:xfrm>
            <a:off x="3855153" y="4286286"/>
            <a:ext cx="2427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四、内容小结</a:t>
            </a:r>
          </a:p>
        </p:txBody>
      </p:sp>
    </p:spTree>
    <p:extLst>
      <p:ext uri="{BB962C8B-B14F-4D97-AF65-F5344CB8AC3E}">
        <p14:creationId xmlns:p14="http://schemas.microsoft.com/office/powerpoint/2010/main" val="10172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5C12C-63F4-83E9-05D2-46ADEB0A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FAA3B93-EC8E-B916-76F4-37DC9302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概率分布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844222D-9947-7CEF-73D8-EB26E73D65B3}"/>
              </a:ext>
            </a:extLst>
          </p:cNvPr>
          <p:cNvSpPr txBox="1"/>
          <p:nvPr/>
        </p:nvSpPr>
        <p:spPr>
          <a:xfrm>
            <a:off x="346073" y="945732"/>
            <a:ext cx="462819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概率分布描述随机变量可能取值的概率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离散分布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：如伯努利分布、二项分布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连续分布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：如正态分布、均匀分布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CDF755-A43D-7AF7-871A-DB1A21E1CD8D}"/>
                  </a:ext>
                </a:extLst>
              </p:cNvPr>
              <p:cNvSpPr txBox="1"/>
              <p:nvPr/>
            </p:nvSpPr>
            <p:spPr>
              <a:xfrm>
                <a:off x="381242" y="2360592"/>
                <a:ext cx="7000378" cy="8735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1" i="0" dirty="0">
                    <a:solidFill>
                      <a:srgbClr val="000000"/>
                    </a:solidFill>
                    <a:effectLst/>
                    <a:latin typeface="Noto Sans" panose="020B0502040504020204" pitchFamily="34" charset="0"/>
                  </a:rPr>
                  <a:t>数学期望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Noto Sans" panose="020B0502040504020204" pitchFamily="34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Noto Sans" panose="020B0502040504020204" pitchFamily="34" charset="0"/>
                  </a:rPr>
                  <a:t> 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Noto Sans" panose="020B0502040504020204" pitchFamily="34" charset="0"/>
                  </a:rPr>
                  <a:t>或 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=∫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CN" altLang="en" sz="2000" b="0" i="0" dirty="0">
                  <a:solidFill>
                    <a:srgbClr val="000000"/>
                  </a:solidFill>
                  <a:effectLst/>
                  <a:latin typeface="Noto Sans" panose="020B0502040504020204" pitchFamily="34" charset="0"/>
                </a:endParaRPr>
              </a:p>
              <a:p>
                <a:pPr marL="342900" indent="-34290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1" i="0" dirty="0">
                    <a:solidFill>
                      <a:srgbClr val="000000"/>
                    </a:solidFill>
                    <a:effectLst/>
                    <a:latin typeface="Noto Sans" panose="020B0502040504020204" pitchFamily="34" charset="0"/>
                  </a:rPr>
                  <a:t>方差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Noto Sans" panose="020B0502040504020204" pitchFamily="34" charset="0"/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0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" sz="2000" b="0" i="0" dirty="0">
                  <a:solidFill>
                    <a:srgbClr val="000000"/>
                  </a:solidFill>
                  <a:effectLst/>
                  <a:latin typeface="Noto Sans" panose="020B0502040504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CDF755-A43D-7AF7-871A-DB1A21E1C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2360592"/>
                <a:ext cx="7000378" cy="873509"/>
              </a:xfrm>
              <a:prstGeom prst="rect">
                <a:avLst/>
              </a:prstGeom>
              <a:blipFill>
                <a:blip r:embed="rId2"/>
                <a:stretch>
                  <a:fillRect l="-906" t="-51429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9E3A899-3892-AB06-831E-1152C873DFCF}"/>
                  </a:ext>
                </a:extLst>
              </p:cNvPr>
              <p:cNvSpPr txBox="1"/>
              <p:nvPr/>
            </p:nvSpPr>
            <p:spPr>
              <a:xfrm>
                <a:off x="346073" y="3752853"/>
                <a:ext cx="6303708" cy="2246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图像分类任务中，类别是离散的（如“猫”、“狗”、“鸟”等）</a:t>
                </a:r>
              </a:p>
              <a:p>
                <a:pPr marL="342900" indent="-34290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模型的输出是一个</a:t>
                </a: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离散概率分布</a:t>
                </a:r>
                <a:r>
                  <a:rPr lang="zh-CN" altLang="en-US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，表示每个类别的可能性</a:t>
                </a:r>
              </a:p>
              <a:p>
                <a:pPr marL="342900" indent="-34290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对于 </a:t>
                </a:r>
                <a:r>
                  <a:rPr lang="en" altLang="zh-CN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K </a:t>
                </a:r>
                <a:r>
                  <a:rPr lang="zh-CN" altLang="en-US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个类别，</a:t>
                </a:r>
                <a:r>
                  <a:rPr lang="zh-CN" altLang="en-US" sz="2000" b="1" i="0" dirty="0">
                    <a:solidFill>
                      <a:srgbClr val="C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概率分布可以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建模</a:t>
                </a:r>
                <a:r>
                  <a:rPr lang="zh-CN" altLang="en-US" sz="2000" b="1" i="0" dirty="0">
                    <a:solidFill>
                      <a:srgbClr val="C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为一个向量</a:t>
                </a:r>
                <a:r>
                  <a:rPr lang="zh-CN" altLang="en-US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2000" b="0" i="1" dirty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zh-CN" sz="20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dirty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dirty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0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zh-CN" sz="2000" b="0" i="1" dirty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" altLang="zh-CN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</a:t>
                </a:r>
                <a:r>
                  <a:rPr lang="en" altLang="zh-CN" sz="2000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B61516"/>
                        </a:solidFill>
                        <a:effectLst/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zh-CN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且 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000" b="0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B61516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B61516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B61516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zh-CN" altLang="en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9E3A899-3892-AB06-831E-1152C873D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73" y="3752853"/>
                <a:ext cx="6303708" cy="2246962"/>
              </a:xfrm>
              <a:prstGeom prst="rect">
                <a:avLst/>
              </a:prstGeom>
              <a:blipFill>
                <a:blip r:embed="rId3"/>
                <a:stretch>
                  <a:fillRect l="-805" t="-1685" b="-314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95F5EF78-D361-9E23-2786-6BEB6BF0C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496" y="3752853"/>
            <a:ext cx="4492486" cy="244805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CDBAB92-0131-F3BF-EAC1-2166DC6445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620" y="1006487"/>
            <a:ext cx="4810380" cy="261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03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/>
              </a:rPr>
              <a:t>【算例】离散分布：抛硬币实验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242" y="10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【题目】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抛一枚均匀硬币，正面朝上记为 X=1，反面朝上记为 X=0。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已知 P(X=1) = 0.5，P(X=0) = 0.5。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请计算：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(1) 随机变量 X 的均值（期望）E(X)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(2) 随机变量 X 的方差 Var(X)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1">
                <a:solidFill>
                  <a:srgbClr val="C00000"/>
                </a:solidFill>
                <a:latin typeface="微软雅黑"/>
              </a:defRPr>
            </a:pPr>
            <a:r>
              <a:t>【提示】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均值公式：E(X) = ∑ xi · P(xi)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方差公式：Var(X) = E(X²) - [E(X)]²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/>
              </a:rPr>
              <a:t>【算例解答】离散分布 - 计算均值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242" y="10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第一步：列出所有可能的取值和对应概率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X = 0（反面）：P(X=0) = 0.5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X = 1（正面）：P(X=1) = 0.5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第二步：代入均值公式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E(X) = ∑ xi · P(xi)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  = 0 × P(X=0) + 1 × P(X=1)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  = 0 × 0.5 + 1 × 0.5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  = 0 + 0.5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  = 0.5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1">
                <a:solidFill>
                  <a:srgbClr val="C00000"/>
                </a:solidFill>
                <a:latin typeface="微软雅黑"/>
              </a:defRPr>
            </a:pPr>
            <a:r>
              <a:t>结论：抛硬币实验的均值为 0.5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（直觉理解：大量抛硬币，平均有一半是正面）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/>
              </a:rPr>
              <a:t>【算例解答】离散分布 - 计算方差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242" y="10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第一步：计算 E(X²)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E(X²) = ∑ xi² · P(xi)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   = 0² × 0.5 + 1² × 0.5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   = 0 × 0.5 + 1 × 0.5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   = 0.5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第二步：代入方差公式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Var(X) = E(X²) - [E(X)]²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    = 0.5 - (0.5)²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    = 0.5 - 0.25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    = 0.25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1">
                <a:solidFill>
                  <a:srgbClr val="C00000"/>
                </a:solidFill>
                <a:latin typeface="微软雅黑"/>
              </a:defRPr>
            </a:pPr>
            <a:r>
              <a:t>结论：抛硬币实验的方差为 0.25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（方差衡量结果的波动程度）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/>
              </a:rPr>
              <a:t>【算例】连续分布：均匀分布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242" y="10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rPr dirty="0"/>
              <a:t>【</a:t>
            </a:r>
            <a:r>
              <a:rPr dirty="0" err="1"/>
              <a:t>题目</a:t>
            </a:r>
            <a:r>
              <a:rPr dirty="0"/>
              <a:t>】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rPr dirty="0" err="1"/>
              <a:t>在区间</a:t>
            </a:r>
            <a:r>
              <a:rPr dirty="0"/>
              <a:t> [0, 1] </a:t>
            </a:r>
            <a:r>
              <a:rPr dirty="0" err="1"/>
              <a:t>上的均匀分布，概率密度函数为</a:t>
            </a:r>
            <a:r>
              <a:rPr dirty="0"/>
              <a:t>：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rPr dirty="0"/>
              <a:t>  f(x) = 1,  当 0 ≤ x ≤ 1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rPr dirty="0"/>
              <a:t>  f(x) = 0,  </a:t>
            </a:r>
            <a:r>
              <a:rPr dirty="0" err="1"/>
              <a:t>其他</a:t>
            </a:r>
            <a:endParaRPr dirty="0"/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 dirty="0"/>
          </a:p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rPr dirty="0" err="1"/>
              <a:t>请计算</a:t>
            </a:r>
            <a:r>
              <a:rPr dirty="0"/>
              <a:t>：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rPr dirty="0"/>
              <a:t>  (1) </a:t>
            </a:r>
            <a:r>
              <a:rPr dirty="0" err="1"/>
              <a:t>随机变量</a:t>
            </a:r>
            <a:r>
              <a:rPr dirty="0"/>
              <a:t> X </a:t>
            </a:r>
            <a:r>
              <a:rPr dirty="0" err="1"/>
              <a:t>的均值</a:t>
            </a:r>
            <a:r>
              <a:rPr dirty="0"/>
              <a:t> E(X)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rPr dirty="0"/>
              <a:t>  (2) </a:t>
            </a:r>
            <a:r>
              <a:rPr dirty="0" err="1"/>
              <a:t>随机变量</a:t>
            </a:r>
            <a:r>
              <a:rPr dirty="0"/>
              <a:t> X </a:t>
            </a:r>
            <a:r>
              <a:rPr dirty="0" err="1"/>
              <a:t>的方差</a:t>
            </a:r>
            <a:r>
              <a:rPr dirty="0"/>
              <a:t> Var(X)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 dirty="0"/>
          </a:p>
          <a:p>
            <a:pPr>
              <a:spcAft>
                <a:spcPts val="400"/>
              </a:spcAft>
              <a:defRPr sz="2000" b="1">
                <a:solidFill>
                  <a:srgbClr val="C00000"/>
                </a:solidFill>
                <a:latin typeface="微软雅黑"/>
              </a:defRPr>
            </a:pPr>
            <a:r>
              <a:rPr dirty="0"/>
              <a:t>【</a:t>
            </a:r>
            <a:r>
              <a:rPr dirty="0" err="1"/>
              <a:t>提示</a:t>
            </a:r>
            <a:r>
              <a:rPr dirty="0"/>
              <a:t>】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rPr dirty="0" err="1"/>
              <a:t>连续分布均值：E</a:t>
            </a:r>
            <a:r>
              <a:rPr dirty="0"/>
              <a:t>(X) = ∫ x · f(x) dx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rPr dirty="0" err="1"/>
              <a:t>连续分布方差：Var</a:t>
            </a:r>
            <a:r>
              <a:rPr dirty="0"/>
              <a:t>(X) = E(X²) - [E(X)]²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/>
              </a:rPr>
              <a:t>【算例解答】连续分布 - 均匀分布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81242" y="859754"/>
                <a:ext cx="11000000" cy="5461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400"/>
                  </a:spcAft>
                  <a:defRPr sz="2600" b="1">
                    <a:solidFill>
                      <a:srgbClr val="C00000"/>
                    </a:solidFill>
                    <a:latin typeface="微软雅黑"/>
                  </a:defRPr>
                </a:pPr>
                <a:r>
                  <a:rPr lang="zh-CN" altLang="en-US" dirty="0"/>
                  <a:t>计算均值</a:t>
                </a:r>
              </a:p>
              <a:p>
                <a:pPr>
                  <a:spcAft>
                    <a:spcPts val="400"/>
                  </a:spcAft>
                  <a:defRPr sz="2000" b="0">
                    <a:solidFill>
                      <a:srgbClr val="000000"/>
                    </a:solidFill>
                    <a:latin typeface="微软雅黑"/>
                  </a:defRPr>
                </a:pPr>
                <a:r>
                  <a:rPr lang="zh-CN" altLang="en-US" dirty="0"/>
                  <a:t>  </a:t>
                </a:r>
                <a:r>
                  <a:rPr lang="en-US" dirty="0"/>
                  <a:t>E(X)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nor/>
                          </m:rPr>
                          <a:rPr lang="en-US" altLang="zh-CN" dirty="0"/>
                          <m:t>x · 1 dx</m:t>
                        </m:r>
                      </m:e>
                    </m:nary>
                  </m:oMath>
                </a14:m>
                <a:endParaRPr lang="en-US" dirty="0"/>
              </a:p>
              <a:p>
                <a:pPr>
                  <a:spcAft>
                    <a:spcPts val="400"/>
                  </a:spcAft>
                  <a:defRPr sz="2000" b="0">
                    <a:solidFill>
                      <a:srgbClr val="000000"/>
                    </a:solidFill>
                    <a:latin typeface="微软雅黑"/>
                  </a:defRPr>
                </a:pPr>
                <a:r>
                  <a:rPr lang="en-US" dirty="0"/>
                  <a:t>       = [x²/2] from 0 to 1 = 1/2 - 0 = 0.5</a:t>
                </a:r>
              </a:p>
              <a:p>
                <a:pPr>
                  <a:spcAft>
                    <a:spcPts val="400"/>
                  </a:spcAft>
                  <a:defRPr sz="1000" b="0">
                    <a:latin typeface="微软雅黑"/>
                  </a:defRPr>
                </a:pPr>
                <a:endParaRPr lang="en-US" dirty="0"/>
              </a:p>
              <a:p>
                <a:pPr>
                  <a:spcAft>
                    <a:spcPts val="400"/>
                  </a:spcAft>
                  <a:defRPr sz="2600" b="1">
                    <a:solidFill>
                      <a:srgbClr val="C00000"/>
                    </a:solidFill>
                    <a:latin typeface="微软雅黑"/>
                  </a:defRPr>
                </a:pPr>
                <a:r>
                  <a:rPr lang="zh-CN" altLang="en-US" dirty="0" err="1"/>
                  <a:t>计算</a:t>
                </a:r>
                <a:r>
                  <a:rPr lang="zh-CN" altLang="en-US" dirty="0"/>
                  <a:t> </a:t>
                </a:r>
                <a:r>
                  <a:rPr lang="en-US" dirty="0"/>
                  <a:t>E(X²)</a:t>
                </a:r>
              </a:p>
              <a:p>
                <a:pPr>
                  <a:spcAft>
                    <a:spcPts val="400"/>
                  </a:spcAft>
                  <a:defRPr sz="2000" b="0">
                    <a:solidFill>
                      <a:srgbClr val="000000"/>
                    </a:solidFill>
                    <a:latin typeface="微软雅黑"/>
                  </a:defRPr>
                </a:pPr>
                <a:r>
                  <a:rPr lang="en-US" dirty="0"/>
                  <a:t>  E(X²)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dirty="0"/>
                          <m:t> · 1 dx</m:t>
                        </m:r>
                      </m:e>
                    </m:nary>
                  </m:oMath>
                </a14:m>
                <a:endParaRPr lang="en-US" dirty="0"/>
              </a:p>
              <a:p>
                <a:pPr>
                  <a:spcAft>
                    <a:spcPts val="400"/>
                  </a:spcAft>
                  <a:defRPr sz="2000" b="0">
                    <a:solidFill>
                      <a:srgbClr val="000000"/>
                    </a:solidFill>
                    <a:latin typeface="微软雅黑"/>
                  </a:defRPr>
                </a:pPr>
                <a:r>
                  <a:rPr lang="en-US" dirty="0"/>
                  <a:t>        = [x³/3] from 0 to 1 = 1/3 - 0 = 1/3</a:t>
                </a:r>
              </a:p>
              <a:p>
                <a:pPr>
                  <a:spcAft>
                    <a:spcPts val="400"/>
                  </a:spcAft>
                  <a:defRPr sz="1000" b="0">
                    <a:latin typeface="微软雅黑"/>
                  </a:defRPr>
                </a:pPr>
                <a:endParaRPr lang="en-US" dirty="0"/>
              </a:p>
              <a:p>
                <a:pPr>
                  <a:spcAft>
                    <a:spcPts val="400"/>
                  </a:spcAft>
                  <a:defRPr sz="2600" b="1">
                    <a:solidFill>
                      <a:srgbClr val="C00000"/>
                    </a:solidFill>
                    <a:latin typeface="微软雅黑"/>
                  </a:defRPr>
                </a:pPr>
                <a:r>
                  <a:rPr lang="zh-CN" altLang="en-US" dirty="0" err="1"/>
                  <a:t>计算方差</a:t>
                </a:r>
                <a:endParaRPr lang="zh-CN" altLang="en-US" dirty="0"/>
              </a:p>
              <a:p>
                <a:pPr>
                  <a:spcAft>
                    <a:spcPts val="400"/>
                  </a:spcAft>
                  <a:defRPr sz="2000" b="0">
                    <a:solidFill>
                      <a:srgbClr val="000000"/>
                    </a:solidFill>
                    <a:latin typeface="微软雅黑"/>
                  </a:defRPr>
                </a:pPr>
                <a:r>
                  <a:rPr lang="zh-CN" altLang="en-US" dirty="0"/>
                  <a:t>  </a:t>
                </a:r>
                <a:r>
                  <a:rPr lang="en-US" dirty="0"/>
                  <a:t>Var(X) = E(X²) - [E(X)]²</a:t>
                </a:r>
              </a:p>
              <a:p>
                <a:pPr>
                  <a:spcAft>
                    <a:spcPts val="400"/>
                  </a:spcAft>
                  <a:defRPr sz="2000" b="0">
                    <a:solidFill>
                      <a:srgbClr val="000000"/>
                    </a:solidFill>
                    <a:latin typeface="微软雅黑"/>
                  </a:defRPr>
                </a:pPr>
                <a:r>
                  <a:rPr lang="en-US" dirty="0"/>
                  <a:t>         = 1/3 - (1/2)²</a:t>
                </a:r>
              </a:p>
              <a:p>
                <a:pPr>
                  <a:spcAft>
                    <a:spcPts val="400"/>
                  </a:spcAft>
                  <a:defRPr sz="2000" b="0">
                    <a:solidFill>
                      <a:srgbClr val="000000"/>
                    </a:solidFill>
                    <a:latin typeface="微软雅黑"/>
                  </a:defRPr>
                </a:pPr>
                <a:r>
                  <a:rPr lang="en-US" dirty="0"/>
                  <a:t>         = 1/3 - 1/4</a:t>
                </a:r>
              </a:p>
              <a:p>
                <a:pPr>
                  <a:spcAft>
                    <a:spcPts val="400"/>
                  </a:spcAft>
                  <a:defRPr sz="2000" b="0">
                    <a:solidFill>
                      <a:srgbClr val="000000"/>
                    </a:solidFill>
                    <a:latin typeface="微软雅黑"/>
                  </a:defRPr>
                </a:pPr>
                <a:r>
                  <a:rPr lang="en-US" dirty="0"/>
                  <a:t>         = 4/12 - 3/12 = 1/12 ≈ 0.083</a:t>
                </a:r>
              </a:p>
              <a:p>
                <a:pPr>
                  <a:spcAft>
                    <a:spcPts val="400"/>
                  </a:spcAft>
                  <a:defRPr sz="1000" b="0">
                    <a:latin typeface="微软雅黑"/>
                  </a:defRPr>
                </a:pPr>
                <a:endParaRPr lang="en-US" dirty="0"/>
              </a:p>
              <a:p>
                <a:pPr>
                  <a:spcAft>
                    <a:spcPts val="400"/>
                  </a:spcAft>
                  <a:defRPr sz="2000" b="1">
                    <a:solidFill>
                      <a:srgbClr val="C00000"/>
                    </a:solidFill>
                    <a:latin typeface="微软雅黑"/>
                  </a:defRPr>
                </a:pPr>
                <a:r>
                  <a:rPr lang="zh-CN" altLang="en-US" dirty="0" err="1"/>
                  <a:t>结论：均匀分布</a:t>
                </a:r>
                <a:r>
                  <a:rPr lang="zh-CN" altLang="en-US" dirty="0"/>
                  <a:t> </a:t>
                </a:r>
                <a:r>
                  <a:rPr lang="en-US" dirty="0"/>
                  <a:t>U(0,1) </a:t>
                </a:r>
                <a:r>
                  <a:rPr lang="zh-CN" altLang="en-US" dirty="0" err="1"/>
                  <a:t>的均值为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0.5</a:t>
                </a:r>
                <a:r>
                  <a:rPr lang="zh-CN" altLang="en-US" dirty="0"/>
                  <a:t>，方差为 </a:t>
                </a:r>
                <a:r>
                  <a:rPr lang="en-US" altLang="zh-CN" dirty="0"/>
                  <a:t>1/12</a:t>
                </a:r>
                <a:endParaRPr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859754"/>
                <a:ext cx="11000000" cy="5461623"/>
              </a:xfrm>
              <a:prstGeom prst="rect">
                <a:avLst/>
              </a:prstGeom>
              <a:blipFill>
                <a:blip r:embed="rId2"/>
                <a:stretch>
                  <a:fillRect l="-998" t="-1228" b="-1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A991-5737-6887-1813-441337B3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87D6B48-3063-EF2C-3CDE-1DD7C7933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概率分布的建模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C41F594-E7C6-691D-ED8A-DF61AB287F8C}"/>
                  </a:ext>
                </a:extLst>
              </p:cNvPr>
              <p:cNvSpPr txBox="1"/>
              <p:nvPr/>
            </p:nvSpPr>
            <p:spPr>
              <a:xfrm>
                <a:off x="274026" y="846021"/>
                <a:ext cx="11536732" cy="3062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在图像分类任务中，深度学习模型的最后一层通常是一个全连接层，输出一个长度为 </a:t>
                </a:r>
                <a:r>
                  <a:rPr lang="en" altLang="zh-CN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的向量 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 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这 </a:t>
                </a:r>
                <a:r>
                  <a:rPr lang="en" altLang="zh-CN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个值没有限制，可以是正数、负数或零</a:t>
                </a:r>
              </a:p>
              <a:p>
                <a:pPr marL="285750" indent="-285750" algn="l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为了将模型的输出转化为概率分布，常用的激活函数是 </a:t>
                </a:r>
                <a:r>
                  <a:rPr lang="en" altLang="zh-CN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Softmax</a:t>
                </a:r>
                <a:r>
                  <a:rPr lang="zh-CN" altLang="e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定义为：</a:t>
                </a:r>
                <a:endParaRPr lang="en-US" altLang="zh-C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=1, 2, ⋯, 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" altLang="zh-C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 algn="l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Softmax 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的结果 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zh-CN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</a:t>
                </a:r>
                <a:r>
                  <a:rPr lang="en" altLang="zh-CN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且 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一个概率分布</a:t>
                </a:r>
                <a:endParaRPr lang="zh-CN" altLang="e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C41F594-E7C6-691D-ED8A-DF61AB287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26" y="846021"/>
                <a:ext cx="11536732" cy="3062120"/>
              </a:xfrm>
              <a:prstGeom prst="rect">
                <a:avLst/>
              </a:prstGeom>
              <a:blipFill>
                <a:blip r:embed="rId2"/>
                <a:stretch>
                  <a:fillRect l="-440" b="-23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Understanding the Softmax Activation Function: A Comprehensive Guide">
            <a:extLst>
              <a:ext uri="{FF2B5EF4-FFF2-40B4-BE49-F238E27FC236}">
                <a16:creationId xmlns:a16="http://schemas.microsoft.com/office/drawing/2014/main" id="{D9A7C30B-DA62-8F88-27CC-5CAB9F69D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164" y="3908141"/>
            <a:ext cx="3906350" cy="238043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65222CB-35C1-86A1-C0F5-451F42F18354}"/>
              </a:ext>
            </a:extLst>
          </p:cNvPr>
          <p:cNvSpPr txBox="1"/>
          <p:nvPr/>
        </p:nvSpPr>
        <p:spPr>
          <a:xfrm>
            <a:off x="2261096" y="4898303"/>
            <a:ext cx="1491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b="1" dirty="0"/>
              <a:t>计算示例：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77D715-8F92-4077-4832-FCB722440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458" y="4054038"/>
            <a:ext cx="4296228" cy="42621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508527B-9BD7-CD86-58B4-E294142AEA42}"/>
              </a:ext>
            </a:extLst>
          </p:cNvPr>
          <p:cNvSpPr txBox="1"/>
          <p:nvPr/>
        </p:nvSpPr>
        <p:spPr>
          <a:xfrm>
            <a:off x="3561016" y="4128932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00000"/>
                </a:solidFill>
              </a:rPr>
              <a:t>最后一层输出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CF55A6-6A8C-4764-513F-20E531C91E31}"/>
              </a:ext>
            </a:extLst>
          </p:cNvPr>
          <p:cNvSpPr txBox="1"/>
          <p:nvPr/>
        </p:nvSpPr>
        <p:spPr>
          <a:xfrm>
            <a:off x="6672412" y="4136328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00000"/>
                </a:solidFill>
              </a:rPr>
              <a:t>输出概率分布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211722-EE1C-8A85-014B-A7A2AA2A130C}"/>
              </a:ext>
            </a:extLst>
          </p:cNvPr>
          <p:cNvSpPr txBox="1"/>
          <p:nvPr/>
        </p:nvSpPr>
        <p:spPr>
          <a:xfrm>
            <a:off x="5128736" y="4143447"/>
            <a:ext cx="1266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00000"/>
                </a:solidFill>
              </a:rPr>
              <a:t>经过 </a:t>
            </a:r>
            <a:r>
              <a:rPr kumimoji="1" lang="en-US" altLang="zh-CN" sz="1400" dirty="0" err="1">
                <a:solidFill>
                  <a:srgbClr val="000000"/>
                </a:solidFill>
              </a:rPr>
              <a:t>softmax</a:t>
            </a:r>
            <a:endParaRPr kumimoji="1" lang="zh-CN" altLang="en-US" sz="1400" dirty="0">
              <a:solidFill>
                <a:srgbClr val="00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46252D-F8D0-6781-6065-8A4F70266AA8}"/>
              </a:ext>
            </a:extLst>
          </p:cNvPr>
          <p:cNvSpPr/>
          <p:nvPr/>
        </p:nvSpPr>
        <p:spPr>
          <a:xfrm>
            <a:off x="8174624" y="2707186"/>
            <a:ext cx="3833226" cy="323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</a:rPr>
              <a:t>思考：这种形式有什么好处？</a:t>
            </a:r>
          </a:p>
        </p:txBody>
      </p:sp>
    </p:spTree>
    <p:extLst>
      <p:ext uri="{BB962C8B-B14F-4D97-AF65-F5344CB8AC3E}">
        <p14:creationId xmlns:p14="http://schemas.microsoft.com/office/powerpoint/2010/main" val="3216332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A70E3-EA22-56A8-875E-E1BA75DF0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4AD538B-9DE3-C0EC-EF7A-97B61388C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概率分布的建模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471BC28-D474-6312-6288-DF9D6F85B76D}"/>
                  </a:ext>
                </a:extLst>
              </p:cNvPr>
              <p:cNvSpPr txBox="1"/>
              <p:nvPr/>
            </p:nvSpPr>
            <p:spPr>
              <a:xfrm>
                <a:off x="381242" y="1044657"/>
                <a:ext cx="11201159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Bef>
                    <a:spcPts val="1800"/>
                  </a:spcBef>
                  <a:spcAft>
                    <a:spcPts val="1200"/>
                  </a:spcAft>
                </a:pPr>
                <a:r>
                  <a:rPr lang="zh-CN" altLang="en-US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真实标签的概率分布</a:t>
                </a:r>
              </a:p>
              <a:p>
                <a:pPr marL="342900" indent="-34290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在训练分类模型的时候，真实标签通常也用概率分布表示</a:t>
                </a:r>
                <a:endParaRPr lang="en-US" altLang="zh-C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假设有 </a:t>
                </a:r>
                <a:r>
                  <a:rPr lang="en" altLang="zh-CN" sz="2000" i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个类别，真实标签 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y 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是类别 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</a:t>
                </a:r>
                <a:r>
                  <a:rPr lang="zh-CN" altLang="e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则真实标签的概率分布 </a:t>
                </a:r>
                <a:r>
                  <a:rPr lang="en" altLang="zh-CN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q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是一个 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one-hot 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向量：</a:t>
                </a:r>
                <a:endParaRPr lang="en-US" altLang="zh-CN" sz="20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algn="l"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zh-CN" alt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</m:t>
                    </m:r>
                    <m:r>
                      <a:rPr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zh-CN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  <m:r>
                      <a:rPr lang="zh-CN" altLang="en-US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𝑞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𝑐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=1</m:t>
                    </m:r>
                  </m:oMath>
                </a14:m>
                <a:r>
                  <a:rPr lang="zh-CN" altLang="e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其他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𝑞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=0</m:t>
                    </m:r>
                  </m:oMath>
                </a14:m>
                <a:endParaRPr lang="zh-CN" altLang="e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471BC28-D474-6312-6288-DF9D6F85B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1044657"/>
                <a:ext cx="11201159" cy="1785104"/>
              </a:xfrm>
              <a:prstGeom prst="rect">
                <a:avLst/>
              </a:prstGeom>
              <a:blipFill>
                <a:blip r:embed="rId24"/>
                <a:stretch>
                  <a:fillRect l="-680" t="-2128" b="-49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Understanding the Softmax Activation Function: A Comprehensive Guide">
            <a:extLst>
              <a:ext uri="{FF2B5EF4-FFF2-40B4-BE49-F238E27FC236}">
                <a16:creationId xmlns:a16="http://schemas.microsoft.com/office/drawing/2014/main" id="{648A1263-2364-FE2E-E307-65967578C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8" y="3206987"/>
            <a:ext cx="4651578" cy="2834556"/>
          </a:xfrm>
          <a:prstGeom prst="rect">
            <a:avLst/>
          </a:prstGeom>
        </p:spPr>
      </p:pic>
      <p:grpSp>
        <p:nvGrpSpPr>
          <p:cNvPr id="32" name="组合 31" descr="\documentclass{article}&#10;\usepackage{amsmath}&#10;\pagestyle{empty}&#10;\begin{document}&#10;&#10;$$&#10;\left[\begin{array}{l}&#10;1 \\&#10;0 \\&#10;0 \\&#10;\vdots \\&#10;0&#10;\end{array}\right]&#10;$$&#10;&#10;\end{document}" title="IguanaTex Vector Display">
            <a:extLst>
              <a:ext uri="{FF2B5EF4-FFF2-40B4-BE49-F238E27FC236}">
                <a16:creationId xmlns:a16="http://schemas.microsoft.com/office/drawing/2014/main" id="{3E9BDCF0-77ED-C96D-7808-80CA6B7820B3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891315" y="3960552"/>
            <a:ext cx="595082" cy="1800535"/>
            <a:chOff x="6500636" y="3679646"/>
            <a:chExt cx="386275" cy="1168749"/>
          </a:xfrm>
        </p:grpSpPr>
        <p:sp>
          <p:nvSpPr>
            <p:cNvPr id="11" name="任意形状 10">
              <a:extLst>
                <a:ext uri="{FF2B5EF4-FFF2-40B4-BE49-F238E27FC236}">
                  <a16:creationId xmlns:a16="http://schemas.microsoft.com/office/drawing/2014/main" id="{2F5AF982-02D4-4F4A-2A39-19AD202CD60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6500636" y="3679646"/>
              <a:ext cx="58986" cy="318667"/>
            </a:xfrm>
            <a:custGeom>
              <a:avLst/>
              <a:gdLst>
                <a:gd name="connsiteX0" fmla="*/ 220 w 58986"/>
                <a:gd name="connsiteY0" fmla="*/ 318732 h 318667"/>
                <a:gd name="connsiteX1" fmla="*/ 12442 w 58986"/>
                <a:gd name="connsiteY1" fmla="*/ 318732 h 318667"/>
                <a:gd name="connsiteX2" fmla="*/ 12442 w 58986"/>
                <a:gd name="connsiteY2" fmla="*/ 12287 h 318667"/>
                <a:gd name="connsiteX3" fmla="*/ 59206 w 58986"/>
                <a:gd name="connsiteY3" fmla="*/ 12287 h 318667"/>
                <a:gd name="connsiteX4" fmla="*/ 59206 w 58986"/>
                <a:gd name="connsiteY4" fmla="*/ 64 h 318667"/>
                <a:gd name="connsiteX5" fmla="*/ 220 w 58986"/>
                <a:gd name="connsiteY5" fmla="*/ 64 h 318667"/>
                <a:gd name="connsiteX6" fmla="*/ 220 w 58986"/>
                <a:gd name="connsiteY6" fmla="*/ 318732 h 31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986" h="318667">
                  <a:moveTo>
                    <a:pt x="220" y="318732"/>
                  </a:moveTo>
                  <a:lnTo>
                    <a:pt x="12442" y="318732"/>
                  </a:lnTo>
                  <a:lnTo>
                    <a:pt x="12442" y="12287"/>
                  </a:lnTo>
                  <a:lnTo>
                    <a:pt x="59206" y="12287"/>
                  </a:lnTo>
                  <a:lnTo>
                    <a:pt x="59206" y="64"/>
                  </a:lnTo>
                  <a:lnTo>
                    <a:pt x="220" y="64"/>
                  </a:lnTo>
                  <a:lnTo>
                    <a:pt x="220" y="318732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形状 11">
              <a:extLst>
                <a:ext uri="{FF2B5EF4-FFF2-40B4-BE49-F238E27FC236}">
                  <a16:creationId xmlns:a16="http://schemas.microsoft.com/office/drawing/2014/main" id="{8B1BBD7E-C5C8-4175-8628-3E70DE5E45A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500636" y="3998139"/>
              <a:ext cx="12222" cy="106635"/>
            </a:xfrm>
            <a:custGeom>
              <a:avLst/>
              <a:gdLst>
                <a:gd name="connsiteX0" fmla="*/ 220 w 12222"/>
                <a:gd name="connsiteY0" fmla="*/ 106718 h 106635"/>
                <a:gd name="connsiteX1" fmla="*/ 12442 w 12222"/>
                <a:gd name="connsiteY1" fmla="*/ 106718 h 106635"/>
                <a:gd name="connsiteX2" fmla="*/ 12442 w 12222"/>
                <a:gd name="connsiteY2" fmla="*/ 82 h 106635"/>
                <a:gd name="connsiteX3" fmla="*/ 220 w 12222"/>
                <a:gd name="connsiteY3" fmla="*/ 82 h 106635"/>
                <a:gd name="connsiteX4" fmla="*/ 220 w 12222"/>
                <a:gd name="connsiteY4" fmla="*/ 106718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20" y="106718"/>
                  </a:moveTo>
                  <a:lnTo>
                    <a:pt x="12442" y="106718"/>
                  </a:lnTo>
                  <a:lnTo>
                    <a:pt x="12442" y="82"/>
                  </a:lnTo>
                  <a:lnTo>
                    <a:pt x="220" y="82"/>
                  </a:lnTo>
                  <a:lnTo>
                    <a:pt x="220" y="106718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形状 12">
              <a:extLst>
                <a:ext uri="{FF2B5EF4-FFF2-40B4-BE49-F238E27FC236}">
                  <a16:creationId xmlns:a16="http://schemas.microsoft.com/office/drawing/2014/main" id="{B0246FC6-100A-1E26-1086-70DAF173A31F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500636" y="4104422"/>
              <a:ext cx="12222" cy="106635"/>
            </a:xfrm>
            <a:custGeom>
              <a:avLst/>
              <a:gdLst>
                <a:gd name="connsiteX0" fmla="*/ 220 w 12222"/>
                <a:gd name="connsiteY0" fmla="*/ 106724 h 106635"/>
                <a:gd name="connsiteX1" fmla="*/ 12442 w 12222"/>
                <a:gd name="connsiteY1" fmla="*/ 106724 h 106635"/>
                <a:gd name="connsiteX2" fmla="*/ 12442 w 12222"/>
                <a:gd name="connsiteY2" fmla="*/ 88 h 106635"/>
                <a:gd name="connsiteX3" fmla="*/ 220 w 12222"/>
                <a:gd name="connsiteY3" fmla="*/ 88 h 106635"/>
                <a:gd name="connsiteX4" fmla="*/ 220 w 12222"/>
                <a:gd name="connsiteY4" fmla="*/ 106724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20" y="106724"/>
                  </a:moveTo>
                  <a:lnTo>
                    <a:pt x="12442" y="106724"/>
                  </a:lnTo>
                  <a:lnTo>
                    <a:pt x="12442" y="88"/>
                  </a:lnTo>
                  <a:lnTo>
                    <a:pt x="220" y="88"/>
                  </a:lnTo>
                  <a:lnTo>
                    <a:pt x="220" y="106724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形状 13">
              <a:extLst>
                <a:ext uri="{FF2B5EF4-FFF2-40B4-BE49-F238E27FC236}">
                  <a16:creationId xmlns:a16="http://schemas.microsoft.com/office/drawing/2014/main" id="{F69A72BA-6F10-7D8E-4EB4-34A617590814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500636" y="4210704"/>
              <a:ext cx="12222" cy="106635"/>
            </a:xfrm>
            <a:custGeom>
              <a:avLst/>
              <a:gdLst>
                <a:gd name="connsiteX0" fmla="*/ 220 w 12222"/>
                <a:gd name="connsiteY0" fmla="*/ 106730 h 106635"/>
                <a:gd name="connsiteX1" fmla="*/ 12442 w 12222"/>
                <a:gd name="connsiteY1" fmla="*/ 106730 h 106635"/>
                <a:gd name="connsiteX2" fmla="*/ 12442 w 12222"/>
                <a:gd name="connsiteY2" fmla="*/ 94 h 106635"/>
                <a:gd name="connsiteX3" fmla="*/ 220 w 12222"/>
                <a:gd name="connsiteY3" fmla="*/ 94 h 106635"/>
                <a:gd name="connsiteX4" fmla="*/ 220 w 12222"/>
                <a:gd name="connsiteY4" fmla="*/ 106730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20" y="106730"/>
                  </a:moveTo>
                  <a:lnTo>
                    <a:pt x="12442" y="106730"/>
                  </a:lnTo>
                  <a:lnTo>
                    <a:pt x="12442" y="94"/>
                  </a:lnTo>
                  <a:lnTo>
                    <a:pt x="220" y="94"/>
                  </a:lnTo>
                  <a:lnTo>
                    <a:pt x="220" y="106730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形状 14">
              <a:extLst>
                <a:ext uri="{FF2B5EF4-FFF2-40B4-BE49-F238E27FC236}">
                  <a16:creationId xmlns:a16="http://schemas.microsoft.com/office/drawing/2014/main" id="{4FB2A77C-7EDB-F4EA-12EF-A8A0ED1B83F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500636" y="4316987"/>
              <a:ext cx="12222" cy="106635"/>
            </a:xfrm>
            <a:custGeom>
              <a:avLst/>
              <a:gdLst>
                <a:gd name="connsiteX0" fmla="*/ 220 w 12222"/>
                <a:gd name="connsiteY0" fmla="*/ 106736 h 106635"/>
                <a:gd name="connsiteX1" fmla="*/ 12442 w 12222"/>
                <a:gd name="connsiteY1" fmla="*/ 106736 h 106635"/>
                <a:gd name="connsiteX2" fmla="*/ 12442 w 12222"/>
                <a:gd name="connsiteY2" fmla="*/ 100 h 106635"/>
                <a:gd name="connsiteX3" fmla="*/ 220 w 12222"/>
                <a:gd name="connsiteY3" fmla="*/ 100 h 106635"/>
                <a:gd name="connsiteX4" fmla="*/ 220 w 12222"/>
                <a:gd name="connsiteY4" fmla="*/ 106736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20" y="106736"/>
                  </a:moveTo>
                  <a:lnTo>
                    <a:pt x="12442" y="106736"/>
                  </a:lnTo>
                  <a:lnTo>
                    <a:pt x="12442" y="100"/>
                  </a:lnTo>
                  <a:lnTo>
                    <a:pt x="220" y="100"/>
                  </a:lnTo>
                  <a:lnTo>
                    <a:pt x="220" y="106736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形状 15">
              <a:extLst>
                <a:ext uri="{FF2B5EF4-FFF2-40B4-BE49-F238E27FC236}">
                  <a16:creationId xmlns:a16="http://schemas.microsoft.com/office/drawing/2014/main" id="{14293AD9-FD9A-EE10-FE98-C67B88FAB11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500636" y="4423269"/>
              <a:ext cx="12222" cy="106635"/>
            </a:xfrm>
            <a:custGeom>
              <a:avLst/>
              <a:gdLst>
                <a:gd name="connsiteX0" fmla="*/ 220 w 12222"/>
                <a:gd name="connsiteY0" fmla="*/ 106742 h 106635"/>
                <a:gd name="connsiteX1" fmla="*/ 12442 w 12222"/>
                <a:gd name="connsiteY1" fmla="*/ 106742 h 106635"/>
                <a:gd name="connsiteX2" fmla="*/ 12442 w 12222"/>
                <a:gd name="connsiteY2" fmla="*/ 106 h 106635"/>
                <a:gd name="connsiteX3" fmla="*/ 220 w 12222"/>
                <a:gd name="connsiteY3" fmla="*/ 106 h 106635"/>
                <a:gd name="connsiteX4" fmla="*/ 220 w 12222"/>
                <a:gd name="connsiteY4" fmla="*/ 106742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20" y="106742"/>
                  </a:moveTo>
                  <a:lnTo>
                    <a:pt x="12442" y="106742"/>
                  </a:lnTo>
                  <a:lnTo>
                    <a:pt x="12442" y="106"/>
                  </a:lnTo>
                  <a:lnTo>
                    <a:pt x="220" y="106"/>
                  </a:lnTo>
                  <a:lnTo>
                    <a:pt x="220" y="106742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形状 16">
              <a:extLst>
                <a:ext uri="{FF2B5EF4-FFF2-40B4-BE49-F238E27FC236}">
                  <a16:creationId xmlns:a16="http://schemas.microsoft.com/office/drawing/2014/main" id="{43BEE781-18ED-1EE8-B873-B25DB58C0F8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500636" y="4529728"/>
              <a:ext cx="58986" cy="318667"/>
            </a:xfrm>
            <a:custGeom>
              <a:avLst/>
              <a:gdLst>
                <a:gd name="connsiteX0" fmla="*/ 220 w 58986"/>
                <a:gd name="connsiteY0" fmla="*/ 318780 h 318667"/>
                <a:gd name="connsiteX1" fmla="*/ 59206 w 58986"/>
                <a:gd name="connsiteY1" fmla="*/ 318780 h 318667"/>
                <a:gd name="connsiteX2" fmla="*/ 59206 w 58986"/>
                <a:gd name="connsiteY2" fmla="*/ 306557 h 318667"/>
                <a:gd name="connsiteX3" fmla="*/ 12442 w 58986"/>
                <a:gd name="connsiteY3" fmla="*/ 306557 h 318667"/>
                <a:gd name="connsiteX4" fmla="*/ 12442 w 58986"/>
                <a:gd name="connsiteY4" fmla="*/ 112 h 318667"/>
                <a:gd name="connsiteX5" fmla="*/ 220 w 58986"/>
                <a:gd name="connsiteY5" fmla="*/ 112 h 318667"/>
                <a:gd name="connsiteX6" fmla="*/ 220 w 58986"/>
                <a:gd name="connsiteY6" fmla="*/ 318780 h 31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986" h="318667">
                  <a:moveTo>
                    <a:pt x="220" y="318780"/>
                  </a:moveTo>
                  <a:lnTo>
                    <a:pt x="59206" y="318780"/>
                  </a:lnTo>
                  <a:lnTo>
                    <a:pt x="59206" y="306557"/>
                  </a:lnTo>
                  <a:lnTo>
                    <a:pt x="12442" y="306557"/>
                  </a:lnTo>
                  <a:lnTo>
                    <a:pt x="12442" y="112"/>
                  </a:lnTo>
                  <a:lnTo>
                    <a:pt x="220" y="112"/>
                  </a:lnTo>
                  <a:lnTo>
                    <a:pt x="220" y="318780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形状 17">
              <a:extLst>
                <a:ext uri="{FF2B5EF4-FFF2-40B4-BE49-F238E27FC236}">
                  <a16:creationId xmlns:a16="http://schemas.microsoft.com/office/drawing/2014/main" id="{7144CFEB-32E0-81ED-791B-CDC0241FE67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665314" y="3704489"/>
              <a:ext cx="58454" cy="117972"/>
            </a:xfrm>
            <a:custGeom>
              <a:avLst/>
              <a:gdLst>
                <a:gd name="connsiteX0" fmla="*/ 36544 w 58454"/>
                <a:gd name="connsiteY0" fmla="*/ 4678 h 117972"/>
                <a:gd name="connsiteX1" fmla="*/ 32470 w 58454"/>
                <a:gd name="connsiteY1" fmla="*/ 72 h 117972"/>
                <a:gd name="connsiteX2" fmla="*/ 231 w 58454"/>
                <a:gd name="connsiteY2" fmla="*/ 11409 h 117972"/>
                <a:gd name="connsiteX3" fmla="*/ 231 w 58454"/>
                <a:gd name="connsiteY3" fmla="*/ 16900 h 117972"/>
                <a:gd name="connsiteX4" fmla="*/ 23436 w 58454"/>
                <a:gd name="connsiteY4" fmla="*/ 12294 h 117972"/>
                <a:gd name="connsiteX5" fmla="*/ 23436 w 58454"/>
                <a:gd name="connsiteY5" fmla="*/ 104051 h 117972"/>
                <a:gd name="connsiteX6" fmla="*/ 6962 w 58454"/>
                <a:gd name="connsiteY6" fmla="*/ 112553 h 117972"/>
                <a:gd name="connsiteX7" fmla="*/ 1294 w 58454"/>
                <a:gd name="connsiteY7" fmla="*/ 112553 h 117972"/>
                <a:gd name="connsiteX8" fmla="*/ 1294 w 58454"/>
                <a:gd name="connsiteY8" fmla="*/ 118045 h 117972"/>
                <a:gd name="connsiteX9" fmla="*/ 29990 w 58454"/>
                <a:gd name="connsiteY9" fmla="*/ 117513 h 117972"/>
                <a:gd name="connsiteX10" fmla="*/ 58686 w 58454"/>
                <a:gd name="connsiteY10" fmla="*/ 118045 h 117972"/>
                <a:gd name="connsiteX11" fmla="*/ 58686 w 58454"/>
                <a:gd name="connsiteY11" fmla="*/ 112553 h 117972"/>
                <a:gd name="connsiteX12" fmla="*/ 53018 w 58454"/>
                <a:gd name="connsiteY12" fmla="*/ 112553 h 117972"/>
                <a:gd name="connsiteX13" fmla="*/ 36544 w 58454"/>
                <a:gd name="connsiteY13" fmla="*/ 104051 h 117972"/>
                <a:gd name="connsiteX14" fmla="*/ 36544 w 58454"/>
                <a:gd name="connsiteY14" fmla="*/ 4678 h 117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454" h="117972">
                  <a:moveTo>
                    <a:pt x="36544" y="4678"/>
                  </a:moveTo>
                  <a:cubicBezTo>
                    <a:pt x="36544" y="426"/>
                    <a:pt x="36544" y="72"/>
                    <a:pt x="32470" y="72"/>
                  </a:cubicBezTo>
                  <a:cubicBezTo>
                    <a:pt x="21487" y="11409"/>
                    <a:pt x="5899" y="11409"/>
                    <a:pt x="231" y="11409"/>
                  </a:cubicBezTo>
                  <a:lnTo>
                    <a:pt x="231" y="16900"/>
                  </a:lnTo>
                  <a:cubicBezTo>
                    <a:pt x="3774" y="16900"/>
                    <a:pt x="14225" y="16900"/>
                    <a:pt x="23436" y="12294"/>
                  </a:cubicBezTo>
                  <a:lnTo>
                    <a:pt x="23436" y="104051"/>
                  </a:lnTo>
                  <a:cubicBezTo>
                    <a:pt x="23436" y="110428"/>
                    <a:pt x="22905" y="112553"/>
                    <a:pt x="6962" y="112553"/>
                  </a:cubicBezTo>
                  <a:lnTo>
                    <a:pt x="1294" y="112553"/>
                  </a:lnTo>
                  <a:lnTo>
                    <a:pt x="1294" y="118045"/>
                  </a:lnTo>
                  <a:cubicBezTo>
                    <a:pt x="7494" y="117513"/>
                    <a:pt x="22905" y="117513"/>
                    <a:pt x="29990" y="117513"/>
                  </a:cubicBezTo>
                  <a:cubicBezTo>
                    <a:pt x="37075" y="117513"/>
                    <a:pt x="52486" y="117513"/>
                    <a:pt x="58686" y="118045"/>
                  </a:cubicBezTo>
                  <a:lnTo>
                    <a:pt x="58686" y="112553"/>
                  </a:lnTo>
                  <a:lnTo>
                    <a:pt x="53018" y="112553"/>
                  </a:lnTo>
                  <a:cubicBezTo>
                    <a:pt x="37075" y="112553"/>
                    <a:pt x="36544" y="110605"/>
                    <a:pt x="36544" y="104051"/>
                  </a:cubicBezTo>
                  <a:lnTo>
                    <a:pt x="36544" y="4678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形状 18">
              <a:extLst>
                <a:ext uri="{FF2B5EF4-FFF2-40B4-BE49-F238E27FC236}">
                  <a16:creationId xmlns:a16="http://schemas.microsoft.com/office/drawing/2014/main" id="{F868F6C0-7C90-2C0F-0244-6C79EBAEA775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656457" y="3917052"/>
              <a:ext cx="74574" cy="121869"/>
            </a:xfrm>
            <a:custGeom>
              <a:avLst/>
              <a:gdLst>
                <a:gd name="connsiteX0" fmla="*/ 74805 w 74574"/>
                <a:gd name="connsiteY0" fmla="*/ 61373 h 121869"/>
                <a:gd name="connsiteX1" fmla="*/ 67720 w 74574"/>
                <a:gd name="connsiteY1" fmla="*/ 19923 h 121869"/>
                <a:gd name="connsiteX2" fmla="*/ 37607 w 74574"/>
                <a:gd name="connsiteY2" fmla="*/ 84 h 121869"/>
                <a:gd name="connsiteX3" fmla="*/ 6785 w 74574"/>
                <a:gd name="connsiteY3" fmla="*/ 21163 h 121869"/>
                <a:gd name="connsiteX4" fmla="*/ 231 w 74574"/>
                <a:gd name="connsiteY4" fmla="*/ 61373 h 121869"/>
                <a:gd name="connsiteX5" fmla="*/ 8202 w 74574"/>
                <a:gd name="connsiteY5" fmla="*/ 104063 h 121869"/>
                <a:gd name="connsiteX6" fmla="*/ 37430 w 74574"/>
                <a:gd name="connsiteY6" fmla="*/ 121953 h 121869"/>
                <a:gd name="connsiteX7" fmla="*/ 68251 w 74574"/>
                <a:gd name="connsiteY7" fmla="*/ 101406 h 121869"/>
                <a:gd name="connsiteX8" fmla="*/ 74805 w 74574"/>
                <a:gd name="connsiteY8" fmla="*/ 61373 h 121869"/>
                <a:gd name="connsiteX9" fmla="*/ 37430 w 74574"/>
                <a:gd name="connsiteY9" fmla="*/ 118056 h 121869"/>
                <a:gd name="connsiteX10" fmla="*/ 16882 w 74574"/>
                <a:gd name="connsiteY10" fmla="*/ 96623 h 121869"/>
                <a:gd name="connsiteX11" fmla="*/ 14933 w 74574"/>
                <a:gd name="connsiteY11" fmla="*/ 59247 h 121869"/>
                <a:gd name="connsiteX12" fmla="*/ 16350 w 74574"/>
                <a:gd name="connsiteY12" fmla="*/ 26654 h 121869"/>
                <a:gd name="connsiteX13" fmla="*/ 37430 w 74574"/>
                <a:gd name="connsiteY13" fmla="*/ 3981 h 121869"/>
                <a:gd name="connsiteX14" fmla="*/ 58332 w 74574"/>
                <a:gd name="connsiteY14" fmla="*/ 24706 h 121869"/>
                <a:gd name="connsiteX15" fmla="*/ 60103 w 74574"/>
                <a:gd name="connsiteY15" fmla="*/ 59247 h 121869"/>
                <a:gd name="connsiteX16" fmla="*/ 58155 w 74574"/>
                <a:gd name="connsiteY16" fmla="*/ 95915 h 121869"/>
                <a:gd name="connsiteX17" fmla="*/ 37430 w 74574"/>
                <a:gd name="connsiteY17" fmla="*/ 118056 h 12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574" h="121869">
                  <a:moveTo>
                    <a:pt x="74805" y="61373"/>
                  </a:moveTo>
                  <a:cubicBezTo>
                    <a:pt x="74805" y="47202"/>
                    <a:pt x="73920" y="33031"/>
                    <a:pt x="67720" y="19923"/>
                  </a:cubicBezTo>
                  <a:cubicBezTo>
                    <a:pt x="59572" y="2918"/>
                    <a:pt x="45046" y="84"/>
                    <a:pt x="37607" y="84"/>
                  </a:cubicBezTo>
                  <a:cubicBezTo>
                    <a:pt x="26979" y="84"/>
                    <a:pt x="14048" y="4690"/>
                    <a:pt x="6785" y="21163"/>
                  </a:cubicBezTo>
                  <a:cubicBezTo>
                    <a:pt x="1117" y="33386"/>
                    <a:pt x="231" y="47202"/>
                    <a:pt x="231" y="61373"/>
                  </a:cubicBezTo>
                  <a:cubicBezTo>
                    <a:pt x="231" y="74658"/>
                    <a:pt x="940" y="90600"/>
                    <a:pt x="8202" y="104063"/>
                  </a:cubicBezTo>
                  <a:cubicBezTo>
                    <a:pt x="15819" y="118411"/>
                    <a:pt x="28750" y="121953"/>
                    <a:pt x="37430" y="121953"/>
                  </a:cubicBezTo>
                  <a:cubicBezTo>
                    <a:pt x="46995" y="121953"/>
                    <a:pt x="60457" y="118234"/>
                    <a:pt x="68251" y="101406"/>
                  </a:cubicBezTo>
                  <a:cubicBezTo>
                    <a:pt x="73920" y="89183"/>
                    <a:pt x="74805" y="75367"/>
                    <a:pt x="74805" y="61373"/>
                  </a:cubicBezTo>
                  <a:close/>
                  <a:moveTo>
                    <a:pt x="37430" y="118056"/>
                  </a:moveTo>
                  <a:cubicBezTo>
                    <a:pt x="30521" y="118056"/>
                    <a:pt x="20070" y="113628"/>
                    <a:pt x="16882" y="96623"/>
                  </a:cubicBezTo>
                  <a:cubicBezTo>
                    <a:pt x="14933" y="85995"/>
                    <a:pt x="14933" y="69698"/>
                    <a:pt x="14933" y="59247"/>
                  </a:cubicBezTo>
                  <a:cubicBezTo>
                    <a:pt x="14933" y="47911"/>
                    <a:pt x="14933" y="36220"/>
                    <a:pt x="16350" y="26654"/>
                  </a:cubicBezTo>
                  <a:cubicBezTo>
                    <a:pt x="19716" y="5575"/>
                    <a:pt x="33001" y="3981"/>
                    <a:pt x="37430" y="3981"/>
                  </a:cubicBezTo>
                  <a:cubicBezTo>
                    <a:pt x="43275" y="3981"/>
                    <a:pt x="54966" y="7170"/>
                    <a:pt x="58332" y="24706"/>
                  </a:cubicBezTo>
                  <a:cubicBezTo>
                    <a:pt x="60103" y="34626"/>
                    <a:pt x="60103" y="48088"/>
                    <a:pt x="60103" y="59247"/>
                  </a:cubicBezTo>
                  <a:cubicBezTo>
                    <a:pt x="60103" y="72533"/>
                    <a:pt x="60103" y="84578"/>
                    <a:pt x="58155" y="95915"/>
                  </a:cubicBezTo>
                  <a:cubicBezTo>
                    <a:pt x="55497" y="112742"/>
                    <a:pt x="45401" y="118056"/>
                    <a:pt x="37430" y="118056"/>
                  </a:cubicBez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形状 19">
              <a:extLst>
                <a:ext uri="{FF2B5EF4-FFF2-40B4-BE49-F238E27FC236}">
                  <a16:creationId xmlns:a16="http://schemas.microsoft.com/office/drawing/2014/main" id="{DBD47D6E-D410-7032-7041-03B4F7DB8EA9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656457" y="4129615"/>
              <a:ext cx="74574" cy="121869"/>
            </a:xfrm>
            <a:custGeom>
              <a:avLst/>
              <a:gdLst>
                <a:gd name="connsiteX0" fmla="*/ 74805 w 74574"/>
                <a:gd name="connsiteY0" fmla="*/ 61385 h 121869"/>
                <a:gd name="connsiteX1" fmla="*/ 67720 w 74574"/>
                <a:gd name="connsiteY1" fmla="*/ 19935 h 121869"/>
                <a:gd name="connsiteX2" fmla="*/ 37607 w 74574"/>
                <a:gd name="connsiteY2" fmla="*/ 96 h 121869"/>
                <a:gd name="connsiteX3" fmla="*/ 6785 w 74574"/>
                <a:gd name="connsiteY3" fmla="*/ 21175 h 121869"/>
                <a:gd name="connsiteX4" fmla="*/ 231 w 74574"/>
                <a:gd name="connsiteY4" fmla="*/ 61385 h 121869"/>
                <a:gd name="connsiteX5" fmla="*/ 8202 w 74574"/>
                <a:gd name="connsiteY5" fmla="*/ 104075 h 121869"/>
                <a:gd name="connsiteX6" fmla="*/ 37430 w 74574"/>
                <a:gd name="connsiteY6" fmla="*/ 121965 h 121869"/>
                <a:gd name="connsiteX7" fmla="*/ 68251 w 74574"/>
                <a:gd name="connsiteY7" fmla="*/ 101418 h 121869"/>
                <a:gd name="connsiteX8" fmla="*/ 74805 w 74574"/>
                <a:gd name="connsiteY8" fmla="*/ 61385 h 121869"/>
                <a:gd name="connsiteX9" fmla="*/ 37430 w 74574"/>
                <a:gd name="connsiteY9" fmla="*/ 118068 h 121869"/>
                <a:gd name="connsiteX10" fmla="*/ 16882 w 74574"/>
                <a:gd name="connsiteY10" fmla="*/ 96635 h 121869"/>
                <a:gd name="connsiteX11" fmla="*/ 14933 w 74574"/>
                <a:gd name="connsiteY11" fmla="*/ 59259 h 121869"/>
                <a:gd name="connsiteX12" fmla="*/ 16350 w 74574"/>
                <a:gd name="connsiteY12" fmla="*/ 26666 h 121869"/>
                <a:gd name="connsiteX13" fmla="*/ 37430 w 74574"/>
                <a:gd name="connsiteY13" fmla="*/ 3993 h 121869"/>
                <a:gd name="connsiteX14" fmla="*/ 58332 w 74574"/>
                <a:gd name="connsiteY14" fmla="*/ 24718 h 121869"/>
                <a:gd name="connsiteX15" fmla="*/ 60103 w 74574"/>
                <a:gd name="connsiteY15" fmla="*/ 59259 h 121869"/>
                <a:gd name="connsiteX16" fmla="*/ 58155 w 74574"/>
                <a:gd name="connsiteY16" fmla="*/ 95926 h 121869"/>
                <a:gd name="connsiteX17" fmla="*/ 37430 w 74574"/>
                <a:gd name="connsiteY17" fmla="*/ 118068 h 12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574" h="121869">
                  <a:moveTo>
                    <a:pt x="74805" y="61385"/>
                  </a:moveTo>
                  <a:cubicBezTo>
                    <a:pt x="74805" y="47214"/>
                    <a:pt x="73920" y="33043"/>
                    <a:pt x="67720" y="19935"/>
                  </a:cubicBezTo>
                  <a:cubicBezTo>
                    <a:pt x="59572" y="2930"/>
                    <a:pt x="45046" y="96"/>
                    <a:pt x="37607" y="96"/>
                  </a:cubicBezTo>
                  <a:cubicBezTo>
                    <a:pt x="26979" y="96"/>
                    <a:pt x="14048" y="4702"/>
                    <a:pt x="6785" y="21175"/>
                  </a:cubicBezTo>
                  <a:cubicBezTo>
                    <a:pt x="1117" y="33398"/>
                    <a:pt x="231" y="47214"/>
                    <a:pt x="231" y="61385"/>
                  </a:cubicBezTo>
                  <a:cubicBezTo>
                    <a:pt x="231" y="74670"/>
                    <a:pt x="940" y="90612"/>
                    <a:pt x="8202" y="104075"/>
                  </a:cubicBezTo>
                  <a:cubicBezTo>
                    <a:pt x="15819" y="118423"/>
                    <a:pt x="28750" y="121965"/>
                    <a:pt x="37430" y="121965"/>
                  </a:cubicBezTo>
                  <a:cubicBezTo>
                    <a:pt x="46995" y="121965"/>
                    <a:pt x="60457" y="118246"/>
                    <a:pt x="68251" y="101418"/>
                  </a:cubicBezTo>
                  <a:cubicBezTo>
                    <a:pt x="73920" y="89195"/>
                    <a:pt x="74805" y="75379"/>
                    <a:pt x="74805" y="61385"/>
                  </a:cubicBezTo>
                  <a:close/>
                  <a:moveTo>
                    <a:pt x="37430" y="118068"/>
                  </a:moveTo>
                  <a:cubicBezTo>
                    <a:pt x="30521" y="118068"/>
                    <a:pt x="20070" y="113640"/>
                    <a:pt x="16882" y="96635"/>
                  </a:cubicBezTo>
                  <a:cubicBezTo>
                    <a:pt x="14933" y="86007"/>
                    <a:pt x="14933" y="69710"/>
                    <a:pt x="14933" y="59259"/>
                  </a:cubicBezTo>
                  <a:cubicBezTo>
                    <a:pt x="14933" y="47923"/>
                    <a:pt x="14933" y="36232"/>
                    <a:pt x="16350" y="26666"/>
                  </a:cubicBezTo>
                  <a:cubicBezTo>
                    <a:pt x="19716" y="5587"/>
                    <a:pt x="33001" y="3993"/>
                    <a:pt x="37430" y="3993"/>
                  </a:cubicBezTo>
                  <a:cubicBezTo>
                    <a:pt x="43275" y="3993"/>
                    <a:pt x="54966" y="7181"/>
                    <a:pt x="58332" y="24718"/>
                  </a:cubicBezTo>
                  <a:cubicBezTo>
                    <a:pt x="60103" y="34638"/>
                    <a:pt x="60103" y="48100"/>
                    <a:pt x="60103" y="59259"/>
                  </a:cubicBezTo>
                  <a:cubicBezTo>
                    <a:pt x="60103" y="72545"/>
                    <a:pt x="60103" y="84590"/>
                    <a:pt x="58155" y="95926"/>
                  </a:cubicBezTo>
                  <a:cubicBezTo>
                    <a:pt x="55497" y="112754"/>
                    <a:pt x="45401" y="118068"/>
                    <a:pt x="37430" y="118068"/>
                  </a:cubicBez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281912CE-328C-23FC-E699-B8D77B45AA23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664782" y="4417559"/>
              <a:ext cx="18776" cy="18776"/>
            </a:xfrm>
            <a:custGeom>
              <a:avLst/>
              <a:gdLst>
                <a:gd name="connsiteX0" fmla="*/ 19008 w 18776"/>
                <a:gd name="connsiteY0" fmla="*/ 9495 h 18776"/>
                <a:gd name="connsiteX1" fmla="*/ 9619 w 18776"/>
                <a:gd name="connsiteY1" fmla="*/ 107 h 18776"/>
                <a:gd name="connsiteX2" fmla="*/ 231 w 18776"/>
                <a:gd name="connsiteY2" fmla="*/ 9495 h 18776"/>
                <a:gd name="connsiteX3" fmla="*/ 9619 w 18776"/>
                <a:gd name="connsiteY3" fmla="*/ 18883 h 18776"/>
                <a:gd name="connsiteX4" fmla="*/ 19008 w 18776"/>
                <a:gd name="connsiteY4" fmla="*/ 9495 h 1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76" h="18776">
                  <a:moveTo>
                    <a:pt x="19008" y="9495"/>
                  </a:moveTo>
                  <a:cubicBezTo>
                    <a:pt x="19008" y="4358"/>
                    <a:pt x="14756" y="107"/>
                    <a:pt x="9619" y="107"/>
                  </a:cubicBezTo>
                  <a:cubicBezTo>
                    <a:pt x="4482" y="107"/>
                    <a:pt x="231" y="4358"/>
                    <a:pt x="231" y="9495"/>
                  </a:cubicBezTo>
                  <a:cubicBezTo>
                    <a:pt x="231" y="14632"/>
                    <a:pt x="4482" y="18883"/>
                    <a:pt x="9619" y="18883"/>
                  </a:cubicBezTo>
                  <a:cubicBezTo>
                    <a:pt x="14756" y="18883"/>
                    <a:pt x="19008" y="14632"/>
                    <a:pt x="19008" y="9495"/>
                  </a:cubicBez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E13727AF-60AB-360A-4CB9-4BCF9F9D023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664782" y="4488414"/>
              <a:ext cx="18776" cy="18776"/>
            </a:xfrm>
            <a:custGeom>
              <a:avLst/>
              <a:gdLst>
                <a:gd name="connsiteX0" fmla="*/ 19008 w 18776"/>
                <a:gd name="connsiteY0" fmla="*/ 9499 h 18776"/>
                <a:gd name="connsiteX1" fmla="*/ 9619 w 18776"/>
                <a:gd name="connsiteY1" fmla="*/ 111 h 18776"/>
                <a:gd name="connsiteX2" fmla="*/ 231 w 18776"/>
                <a:gd name="connsiteY2" fmla="*/ 9499 h 18776"/>
                <a:gd name="connsiteX3" fmla="*/ 9619 w 18776"/>
                <a:gd name="connsiteY3" fmla="*/ 18887 h 18776"/>
                <a:gd name="connsiteX4" fmla="*/ 19008 w 18776"/>
                <a:gd name="connsiteY4" fmla="*/ 9499 h 1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76" h="18776">
                  <a:moveTo>
                    <a:pt x="19008" y="9499"/>
                  </a:moveTo>
                  <a:cubicBezTo>
                    <a:pt x="19008" y="4362"/>
                    <a:pt x="14756" y="111"/>
                    <a:pt x="9619" y="111"/>
                  </a:cubicBezTo>
                  <a:cubicBezTo>
                    <a:pt x="4482" y="111"/>
                    <a:pt x="231" y="4362"/>
                    <a:pt x="231" y="9499"/>
                  </a:cubicBezTo>
                  <a:cubicBezTo>
                    <a:pt x="231" y="14636"/>
                    <a:pt x="4482" y="18887"/>
                    <a:pt x="9619" y="18887"/>
                  </a:cubicBezTo>
                  <a:cubicBezTo>
                    <a:pt x="14756" y="18887"/>
                    <a:pt x="19008" y="14636"/>
                    <a:pt x="19008" y="9499"/>
                  </a:cubicBez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A8781319-3ACD-A472-3E50-736C2FA80E9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664782" y="4559268"/>
              <a:ext cx="18776" cy="18776"/>
            </a:xfrm>
            <a:custGeom>
              <a:avLst/>
              <a:gdLst>
                <a:gd name="connsiteX0" fmla="*/ 19008 w 18776"/>
                <a:gd name="connsiteY0" fmla="*/ 9503 h 18776"/>
                <a:gd name="connsiteX1" fmla="*/ 9619 w 18776"/>
                <a:gd name="connsiteY1" fmla="*/ 115 h 18776"/>
                <a:gd name="connsiteX2" fmla="*/ 231 w 18776"/>
                <a:gd name="connsiteY2" fmla="*/ 9503 h 18776"/>
                <a:gd name="connsiteX3" fmla="*/ 9619 w 18776"/>
                <a:gd name="connsiteY3" fmla="*/ 18891 h 18776"/>
                <a:gd name="connsiteX4" fmla="*/ 19008 w 18776"/>
                <a:gd name="connsiteY4" fmla="*/ 9503 h 1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76" h="18776">
                  <a:moveTo>
                    <a:pt x="19008" y="9503"/>
                  </a:moveTo>
                  <a:cubicBezTo>
                    <a:pt x="19008" y="4366"/>
                    <a:pt x="14756" y="115"/>
                    <a:pt x="9619" y="115"/>
                  </a:cubicBezTo>
                  <a:cubicBezTo>
                    <a:pt x="4482" y="115"/>
                    <a:pt x="231" y="4366"/>
                    <a:pt x="231" y="9503"/>
                  </a:cubicBezTo>
                  <a:cubicBezTo>
                    <a:pt x="231" y="14640"/>
                    <a:pt x="4482" y="18891"/>
                    <a:pt x="9619" y="18891"/>
                  </a:cubicBezTo>
                  <a:cubicBezTo>
                    <a:pt x="14756" y="18891"/>
                    <a:pt x="19008" y="14640"/>
                    <a:pt x="19008" y="9503"/>
                  </a:cubicBez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18612443-A930-703D-4B02-7494B35AB36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656457" y="4672635"/>
              <a:ext cx="74574" cy="121869"/>
            </a:xfrm>
            <a:custGeom>
              <a:avLst/>
              <a:gdLst>
                <a:gd name="connsiteX0" fmla="*/ 74805 w 74574"/>
                <a:gd name="connsiteY0" fmla="*/ 61416 h 121869"/>
                <a:gd name="connsiteX1" fmla="*/ 67720 w 74574"/>
                <a:gd name="connsiteY1" fmla="*/ 19966 h 121869"/>
                <a:gd name="connsiteX2" fmla="*/ 37607 w 74574"/>
                <a:gd name="connsiteY2" fmla="*/ 127 h 121869"/>
                <a:gd name="connsiteX3" fmla="*/ 6785 w 74574"/>
                <a:gd name="connsiteY3" fmla="*/ 21206 h 121869"/>
                <a:gd name="connsiteX4" fmla="*/ 231 w 74574"/>
                <a:gd name="connsiteY4" fmla="*/ 61416 h 121869"/>
                <a:gd name="connsiteX5" fmla="*/ 8202 w 74574"/>
                <a:gd name="connsiteY5" fmla="*/ 104105 h 121869"/>
                <a:gd name="connsiteX6" fmla="*/ 37430 w 74574"/>
                <a:gd name="connsiteY6" fmla="*/ 121996 h 121869"/>
                <a:gd name="connsiteX7" fmla="*/ 68251 w 74574"/>
                <a:gd name="connsiteY7" fmla="*/ 101448 h 121869"/>
                <a:gd name="connsiteX8" fmla="*/ 74805 w 74574"/>
                <a:gd name="connsiteY8" fmla="*/ 61416 h 121869"/>
                <a:gd name="connsiteX9" fmla="*/ 37430 w 74574"/>
                <a:gd name="connsiteY9" fmla="*/ 118099 h 121869"/>
                <a:gd name="connsiteX10" fmla="*/ 16882 w 74574"/>
                <a:gd name="connsiteY10" fmla="*/ 96666 h 121869"/>
                <a:gd name="connsiteX11" fmla="*/ 14933 w 74574"/>
                <a:gd name="connsiteY11" fmla="*/ 59290 h 121869"/>
                <a:gd name="connsiteX12" fmla="*/ 16350 w 74574"/>
                <a:gd name="connsiteY12" fmla="*/ 26697 h 121869"/>
                <a:gd name="connsiteX13" fmla="*/ 37430 w 74574"/>
                <a:gd name="connsiteY13" fmla="*/ 4024 h 121869"/>
                <a:gd name="connsiteX14" fmla="*/ 58332 w 74574"/>
                <a:gd name="connsiteY14" fmla="*/ 24748 h 121869"/>
                <a:gd name="connsiteX15" fmla="*/ 60103 w 74574"/>
                <a:gd name="connsiteY15" fmla="*/ 59290 h 121869"/>
                <a:gd name="connsiteX16" fmla="*/ 58155 w 74574"/>
                <a:gd name="connsiteY16" fmla="*/ 95957 h 121869"/>
                <a:gd name="connsiteX17" fmla="*/ 37430 w 74574"/>
                <a:gd name="connsiteY17" fmla="*/ 118099 h 12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574" h="121869">
                  <a:moveTo>
                    <a:pt x="74805" y="61416"/>
                  </a:moveTo>
                  <a:cubicBezTo>
                    <a:pt x="74805" y="47245"/>
                    <a:pt x="73920" y="33074"/>
                    <a:pt x="67720" y="19966"/>
                  </a:cubicBezTo>
                  <a:cubicBezTo>
                    <a:pt x="59572" y="2961"/>
                    <a:pt x="45046" y="127"/>
                    <a:pt x="37607" y="127"/>
                  </a:cubicBezTo>
                  <a:cubicBezTo>
                    <a:pt x="26979" y="127"/>
                    <a:pt x="14048" y="4732"/>
                    <a:pt x="6785" y="21206"/>
                  </a:cubicBezTo>
                  <a:cubicBezTo>
                    <a:pt x="1117" y="33428"/>
                    <a:pt x="231" y="47245"/>
                    <a:pt x="231" y="61416"/>
                  </a:cubicBezTo>
                  <a:cubicBezTo>
                    <a:pt x="231" y="74701"/>
                    <a:pt x="940" y="90643"/>
                    <a:pt x="8202" y="104105"/>
                  </a:cubicBezTo>
                  <a:cubicBezTo>
                    <a:pt x="15819" y="118453"/>
                    <a:pt x="28750" y="121996"/>
                    <a:pt x="37430" y="121996"/>
                  </a:cubicBezTo>
                  <a:cubicBezTo>
                    <a:pt x="46995" y="121996"/>
                    <a:pt x="60457" y="118276"/>
                    <a:pt x="68251" y="101448"/>
                  </a:cubicBezTo>
                  <a:cubicBezTo>
                    <a:pt x="73920" y="89226"/>
                    <a:pt x="74805" y="75409"/>
                    <a:pt x="74805" y="61416"/>
                  </a:cubicBezTo>
                  <a:close/>
                  <a:moveTo>
                    <a:pt x="37430" y="118099"/>
                  </a:moveTo>
                  <a:cubicBezTo>
                    <a:pt x="30521" y="118099"/>
                    <a:pt x="20070" y="113671"/>
                    <a:pt x="16882" y="96666"/>
                  </a:cubicBezTo>
                  <a:cubicBezTo>
                    <a:pt x="14933" y="86037"/>
                    <a:pt x="14933" y="69741"/>
                    <a:pt x="14933" y="59290"/>
                  </a:cubicBezTo>
                  <a:cubicBezTo>
                    <a:pt x="14933" y="47953"/>
                    <a:pt x="14933" y="36262"/>
                    <a:pt x="16350" y="26697"/>
                  </a:cubicBezTo>
                  <a:cubicBezTo>
                    <a:pt x="19716" y="5618"/>
                    <a:pt x="33001" y="4024"/>
                    <a:pt x="37430" y="4024"/>
                  </a:cubicBezTo>
                  <a:cubicBezTo>
                    <a:pt x="43275" y="4024"/>
                    <a:pt x="54966" y="7212"/>
                    <a:pt x="58332" y="24748"/>
                  </a:cubicBezTo>
                  <a:cubicBezTo>
                    <a:pt x="60103" y="34668"/>
                    <a:pt x="60103" y="48130"/>
                    <a:pt x="60103" y="59290"/>
                  </a:cubicBezTo>
                  <a:cubicBezTo>
                    <a:pt x="60103" y="72575"/>
                    <a:pt x="60103" y="84620"/>
                    <a:pt x="58155" y="95957"/>
                  </a:cubicBezTo>
                  <a:cubicBezTo>
                    <a:pt x="55497" y="112785"/>
                    <a:pt x="45401" y="118099"/>
                    <a:pt x="37430" y="118099"/>
                  </a:cubicBez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形状 24">
              <a:extLst>
                <a:ext uri="{FF2B5EF4-FFF2-40B4-BE49-F238E27FC236}">
                  <a16:creationId xmlns:a16="http://schemas.microsoft.com/office/drawing/2014/main" id="{7F37AA00-DFE8-56A1-EB23-7AD02A430F03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6827925" y="3679646"/>
              <a:ext cx="58986" cy="318667"/>
            </a:xfrm>
            <a:custGeom>
              <a:avLst/>
              <a:gdLst>
                <a:gd name="connsiteX0" fmla="*/ 47005 w 58986"/>
                <a:gd name="connsiteY0" fmla="*/ 318732 h 318667"/>
                <a:gd name="connsiteX1" fmla="*/ 59227 w 58986"/>
                <a:gd name="connsiteY1" fmla="*/ 318732 h 318667"/>
                <a:gd name="connsiteX2" fmla="*/ 59227 w 58986"/>
                <a:gd name="connsiteY2" fmla="*/ 64 h 318667"/>
                <a:gd name="connsiteX3" fmla="*/ 241 w 58986"/>
                <a:gd name="connsiteY3" fmla="*/ 64 h 318667"/>
                <a:gd name="connsiteX4" fmla="*/ 241 w 58986"/>
                <a:gd name="connsiteY4" fmla="*/ 12287 h 318667"/>
                <a:gd name="connsiteX5" fmla="*/ 47005 w 58986"/>
                <a:gd name="connsiteY5" fmla="*/ 12287 h 318667"/>
                <a:gd name="connsiteX6" fmla="*/ 47005 w 58986"/>
                <a:gd name="connsiteY6" fmla="*/ 318732 h 31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986" h="318667">
                  <a:moveTo>
                    <a:pt x="47005" y="318732"/>
                  </a:moveTo>
                  <a:lnTo>
                    <a:pt x="59227" y="318732"/>
                  </a:lnTo>
                  <a:lnTo>
                    <a:pt x="59227" y="64"/>
                  </a:lnTo>
                  <a:lnTo>
                    <a:pt x="241" y="64"/>
                  </a:lnTo>
                  <a:lnTo>
                    <a:pt x="241" y="12287"/>
                  </a:lnTo>
                  <a:lnTo>
                    <a:pt x="47005" y="12287"/>
                  </a:lnTo>
                  <a:lnTo>
                    <a:pt x="47005" y="318732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形状 25">
              <a:extLst>
                <a:ext uri="{FF2B5EF4-FFF2-40B4-BE49-F238E27FC236}">
                  <a16:creationId xmlns:a16="http://schemas.microsoft.com/office/drawing/2014/main" id="{E7E09E7D-FD80-55AB-18CC-6F83AE4E2F8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6874688" y="3998139"/>
              <a:ext cx="12222" cy="106635"/>
            </a:xfrm>
            <a:custGeom>
              <a:avLst/>
              <a:gdLst>
                <a:gd name="connsiteX0" fmla="*/ 241 w 12222"/>
                <a:gd name="connsiteY0" fmla="*/ 106718 h 106635"/>
                <a:gd name="connsiteX1" fmla="*/ 12463 w 12222"/>
                <a:gd name="connsiteY1" fmla="*/ 106718 h 106635"/>
                <a:gd name="connsiteX2" fmla="*/ 12463 w 12222"/>
                <a:gd name="connsiteY2" fmla="*/ 82 h 106635"/>
                <a:gd name="connsiteX3" fmla="*/ 241 w 12222"/>
                <a:gd name="connsiteY3" fmla="*/ 82 h 106635"/>
                <a:gd name="connsiteX4" fmla="*/ 241 w 12222"/>
                <a:gd name="connsiteY4" fmla="*/ 106718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41" y="106718"/>
                  </a:moveTo>
                  <a:lnTo>
                    <a:pt x="12463" y="106718"/>
                  </a:lnTo>
                  <a:lnTo>
                    <a:pt x="12463" y="82"/>
                  </a:lnTo>
                  <a:lnTo>
                    <a:pt x="241" y="82"/>
                  </a:lnTo>
                  <a:lnTo>
                    <a:pt x="241" y="106718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形状 26">
              <a:extLst>
                <a:ext uri="{FF2B5EF4-FFF2-40B4-BE49-F238E27FC236}">
                  <a16:creationId xmlns:a16="http://schemas.microsoft.com/office/drawing/2014/main" id="{2A18574B-2334-4F30-39F3-DBAC24628462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874688" y="4104422"/>
              <a:ext cx="12222" cy="106635"/>
            </a:xfrm>
            <a:custGeom>
              <a:avLst/>
              <a:gdLst>
                <a:gd name="connsiteX0" fmla="*/ 241 w 12222"/>
                <a:gd name="connsiteY0" fmla="*/ 106724 h 106635"/>
                <a:gd name="connsiteX1" fmla="*/ 12463 w 12222"/>
                <a:gd name="connsiteY1" fmla="*/ 106724 h 106635"/>
                <a:gd name="connsiteX2" fmla="*/ 12463 w 12222"/>
                <a:gd name="connsiteY2" fmla="*/ 88 h 106635"/>
                <a:gd name="connsiteX3" fmla="*/ 241 w 12222"/>
                <a:gd name="connsiteY3" fmla="*/ 88 h 106635"/>
                <a:gd name="connsiteX4" fmla="*/ 241 w 12222"/>
                <a:gd name="connsiteY4" fmla="*/ 106724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41" y="106724"/>
                  </a:moveTo>
                  <a:lnTo>
                    <a:pt x="12463" y="106724"/>
                  </a:lnTo>
                  <a:lnTo>
                    <a:pt x="12463" y="88"/>
                  </a:lnTo>
                  <a:lnTo>
                    <a:pt x="241" y="88"/>
                  </a:lnTo>
                  <a:lnTo>
                    <a:pt x="241" y="106724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形状 27">
              <a:extLst>
                <a:ext uri="{FF2B5EF4-FFF2-40B4-BE49-F238E27FC236}">
                  <a16:creationId xmlns:a16="http://schemas.microsoft.com/office/drawing/2014/main" id="{320F29CA-08AA-1611-741C-80052C1F0F25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6874688" y="4210704"/>
              <a:ext cx="12222" cy="106635"/>
            </a:xfrm>
            <a:custGeom>
              <a:avLst/>
              <a:gdLst>
                <a:gd name="connsiteX0" fmla="*/ 241 w 12222"/>
                <a:gd name="connsiteY0" fmla="*/ 106730 h 106635"/>
                <a:gd name="connsiteX1" fmla="*/ 12463 w 12222"/>
                <a:gd name="connsiteY1" fmla="*/ 106730 h 106635"/>
                <a:gd name="connsiteX2" fmla="*/ 12463 w 12222"/>
                <a:gd name="connsiteY2" fmla="*/ 94 h 106635"/>
                <a:gd name="connsiteX3" fmla="*/ 241 w 12222"/>
                <a:gd name="connsiteY3" fmla="*/ 94 h 106635"/>
                <a:gd name="connsiteX4" fmla="*/ 241 w 12222"/>
                <a:gd name="connsiteY4" fmla="*/ 106730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41" y="106730"/>
                  </a:moveTo>
                  <a:lnTo>
                    <a:pt x="12463" y="106730"/>
                  </a:lnTo>
                  <a:lnTo>
                    <a:pt x="12463" y="94"/>
                  </a:lnTo>
                  <a:lnTo>
                    <a:pt x="241" y="94"/>
                  </a:lnTo>
                  <a:lnTo>
                    <a:pt x="241" y="106730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形状 28">
              <a:extLst>
                <a:ext uri="{FF2B5EF4-FFF2-40B4-BE49-F238E27FC236}">
                  <a16:creationId xmlns:a16="http://schemas.microsoft.com/office/drawing/2014/main" id="{F93CB25B-7583-2ECC-D9BC-92D9D1A4730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874688" y="4316987"/>
              <a:ext cx="12222" cy="106635"/>
            </a:xfrm>
            <a:custGeom>
              <a:avLst/>
              <a:gdLst>
                <a:gd name="connsiteX0" fmla="*/ 241 w 12222"/>
                <a:gd name="connsiteY0" fmla="*/ 106736 h 106635"/>
                <a:gd name="connsiteX1" fmla="*/ 12463 w 12222"/>
                <a:gd name="connsiteY1" fmla="*/ 106736 h 106635"/>
                <a:gd name="connsiteX2" fmla="*/ 12463 w 12222"/>
                <a:gd name="connsiteY2" fmla="*/ 100 h 106635"/>
                <a:gd name="connsiteX3" fmla="*/ 241 w 12222"/>
                <a:gd name="connsiteY3" fmla="*/ 100 h 106635"/>
                <a:gd name="connsiteX4" fmla="*/ 241 w 12222"/>
                <a:gd name="connsiteY4" fmla="*/ 106736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41" y="106736"/>
                  </a:moveTo>
                  <a:lnTo>
                    <a:pt x="12463" y="106736"/>
                  </a:lnTo>
                  <a:lnTo>
                    <a:pt x="12463" y="100"/>
                  </a:lnTo>
                  <a:lnTo>
                    <a:pt x="241" y="100"/>
                  </a:lnTo>
                  <a:lnTo>
                    <a:pt x="241" y="106736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形状 29">
              <a:extLst>
                <a:ext uri="{FF2B5EF4-FFF2-40B4-BE49-F238E27FC236}">
                  <a16:creationId xmlns:a16="http://schemas.microsoft.com/office/drawing/2014/main" id="{C610F9E9-060E-ABBF-B18B-FC70B57AA1DA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874688" y="4423269"/>
              <a:ext cx="12222" cy="106635"/>
            </a:xfrm>
            <a:custGeom>
              <a:avLst/>
              <a:gdLst>
                <a:gd name="connsiteX0" fmla="*/ 241 w 12222"/>
                <a:gd name="connsiteY0" fmla="*/ 106742 h 106635"/>
                <a:gd name="connsiteX1" fmla="*/ 12463 w 12222"/>
                <a:gd name="connsiteY1" fmla="*/ 106742 h 106635"/>
                <a:gd name="connsiteX2" fmla="*/ 12463 w 12222"/>
                <a:gd name="connsiteY2" fmla="*/ 106 h 106635"/>
                <a:gd name="connsiteX3" fmla="*/ 241 w 12222"/>
                <a:gd name="connsiteY3" fmla="*/ 106 h 106635"/>
                <a:gd name="connsiteX4" fmla="*/ 241 w 12222"/>
                <a:gd name="connsiteY4" fmla="*/ 106742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41" y="106742"/>
                  </a:moveTo>
                  <a:lnTo>
                    <a:pt x="12463" y="106742"/>
                  </a:lnTo>
                  <a:lnTo>
                    <a:pt x="12463" y="106"/>
                  </a:lnTo>
                  <a:lnTo>
                    <a:pt x="241" y="106"/>
                  </a:lnTo>
                  <a:lnTo>
                    <a:pt x="241" y="106742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形状 30">
              <a:extLst>
                <a:ext uri="{FF2B5EF4-FFF2-40B4-BE49-F238E27FC236}">
                  <a16:creationId xmlns:a16="http://schemas.microsoft.com/office/drawing/2014/main" id="{32F5438A-5D0D-C399-0CDC-6298872E5486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6827925" y="4529728"/>
              <a:ext cx="58986" cy="318667"/>
            </a:xfrm>
            <a:custGeom>
              <a:avLst/>
              <a:gdLst>
                <a:gd name="connsiteX0" fmla="*/ 47005 w 58986"/>
                <a:gd name="connsiteY0" fmla="*/ 306557 h 318667"/>
                <a:gd name="connsiteX1" fmla="*/ 241 w 58986"/>
                <a:gd name="connsiteY1" fmla="*/ 306557 h 318667"/>
                <a:gd name="connsiteX2" fmla="*/ 241 w 58986"/>
                <a:gd name="connsiteY2" fmla="*/ 318780 h 318667"/>
                <a:gd name="connsiteX3" fmla="*/ 59227 w 58986"/>
                <a:gd name="connsiteY3" fmla="*/ 318780 h 318667"/>
                <a:gd name="connsiteX4" fmla="*/ 59227 w 58986"/>
                <a:gd name="connsiteY4" fmla="*/ 112 h 318667"/>
                <a:gd name="connsiteX5" fmla="*/ 47005 w 58986"/>
                <a:gd name="connsiteY5" fmla="*/ 112 h 318667"/>
                <a:gd name="connsiteX6" fmla="*/ 47005 w 58986"/>
                <a:gd name="connsiteY6" fmla="*/ 306557 h 31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986" h="318667">
                  <a:moveTo>
                    <a:pt x="47005" y="306557"/>
                  </a:moveTo>
                  <a:lnTo>
                    <a:pt x="241" y="306557"/>
                  </a:lnTo>
                  <a:lnTo>
                    <a:pt x="241" y="318780"/>
                  </a:lnTo>
                  <a:lnTo>
                    <a:pt x="59227" y="318780"/>
                  </a:lnTo>
                  <a:lnTo>
                    <a:pt x="59227" y="112"/>
                  </a:lnTo>
                  <a:lnTo>
                    <a:pt x="47005" y="112"/>
                  </a:lnTo>
                  <a:lnTo>
                    <a:pt x="47005" y="306557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A1AF5A89-5D49-CC02-D650-7C569AF2F8B4}"/>
              </a:ext>
            </a:extLst>
          </p:cNvPr>
          <p:cNvSpPr txBox="1"/>
          <p:nvPr/>
        </p:nvSpPr>
        <p:spPr>
          <a:xfrm>
            <a:off x="4683096" y="3540921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C00000"/>
                </a:solidFill>
              </a:rPr>
              <a:t>真实概率分布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0DB9D1C5-40E9-E81C-7A11-2E02D8243BC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61258" y="3436998"/>
            <a:ext cx="4296228" cy="426214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472DCE35-8CD5-2116-8AB2-60A54FFDB533}"/>
              </a:ext>
            </a:extLst>
          </p:cNvPr>
          <p:cNvSpPr txBox="1"/>
          <p:nvPr/>
        </p:nvSpPr>
        <p:spPr>
          <a:xfrm>
            <a:off x="135648" y="354092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00000"/>
                </a:solidFill>
              </a:rPr>
              <a:t>最后一层输出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578B6B6-5F82-DA59-AC3E-5A2351B12EC5}"/>
              </a:ext>
            </a:extLst>
          </p:cNvPr>
          <p:cNvSpPr txBox="1"/>
          <p:nvPr/>
        </p:nvSpPr>
        <p:spPr>
          <a:xfrm>
            <a:off x="3392184" y="3548316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00000"/>
                </a:solidFill>
              </a:rPr>
              <a:t>输出概率分布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AA50411-63E3-1B52-915A-57744DE9E8EA}"/>
              </a:ext>
            </a:extLst>
          </p:cNvPr>
          <p:cNvSpPr txBox="1"/>
          <p:nvPr/>
        </p:nvSpPr>
        <p:spPr>
          <a:xfrm>
            <a:off x="1703368" y="3555435"/>
            <a:ext cx="1266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00000"/>
                </a:solidFill>
              </a:rPr>
              <a:t>经过 </a:t>
            </a:r>
            <a:r>
              <a:rPr kumimoji="1" lang="en-US" altLang="zh-CN" sz="1400" dirty="0" err="1">
                <a:solidFill>
                  <a:srgbClr val="000000"/>
                </a:solidFill>
              </a:rPr>
              <a:t>softmax</a:t>
            </a:r>
            <a:endParaRPr kumimoji="1" lang="zh-CN" altLang="en-US" sz="1400" dirty="0">
              <a:solidFill>
                <a:srgbClr val="000000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91AF061-1A59-95ED-C0FE-A4DB86855CC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888818" y="3503647"/>
            <a:ext cx="4651577" cy="253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92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C7089-9A62-CCE9-986E-718E5F4A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6CBAADD-5FE5-51FE-A8BC-A09261F5E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衡量两个概率分布的差异（建模输出分布和目标分布的误差）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C71ADF-134C-6882-0123-915656E8A0C2}"/>
              </a:ext>
            </a:extLst>
          </p:cNvPr>
          <p:cNvSpPr txBox="1"/>
          <p:nvPr/>
        </p:nvSpPr>
        <p:spPr>
          <a:xfrm>
            <a:off x="6904383" y="6175512"/>
            <a:ext cx="2160079" cy="412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en-US" altLang="zh-CN" dirty="0">
                <a:ea typeface="Microsoft YaHei" panose="020B0503020204020204" pitchFamily="34" charset="-122"/>
              </a:rPr>
              <a:t>Generated by DALL-E</a:t>
            </a:r>
            <a:endParaRPr kumimoji="1" lang="zh-CN" altLang="en-US" dirty="0"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BE9F044-9807-2A45-775E-6333A021F578}"/>
                  </a:ext>
                </a:extLst>
              </p:cNvPr>
              <p:cNvSpPr txBox="1"/>
              <p:nvPr/>
            </p:nvSpPr>
            <p:spPr>
              <a:xfrm>
                <a:off x="175845" y="912533"/>
                <a:ext cx="8800683" cy="4900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>
                  <a:lnSpc>
                    <a:spcPct val="150000"/>
                  </a:lnSpc>
                  <a:spcBef>
                    <a:spcPts val="1800"/>
                  </a:spcBef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为了训练模型，我们需要衡量预测概率分布 </a:t>
                </a:r>
                <a:r>
                  <a:rPr lang="en" altLang="zh-CN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和真实概率分布 </a:t>
                </a:r>
                <a:r>
                  <a:rPr lang="en" altLang="zh-CN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q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的差异。</a:t>
                </a:r>
                <a:endParaRPr lang="en-US" altLang="zh-C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 algn="l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en" altLang="zh-CN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KL </a:t>
                </a:r>
                <a:r>
                  <a:rPr lang="zh-CN" altLang="en-US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散度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（</a:t>
                </a:r>
                <a:r>
                  <a:rPr lang="en" altLang="zh-CN" sz="2000" b="0" i="0" dirty="0" err="1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Kullback-Leibler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divergence</a:t>
                </a:r>
                <a:r>
                  <a:rPr lang="zh-CN" altLang="e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是衡量两个概率分布之间差异的重要工具。定义为：</a:t>
                </a:r>
                <a:endParaRPr lang="en-US" altLang="zh-CN" sz="2000" b="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D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𝐾𝐿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𝒒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𝒑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log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log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log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 algn="l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KL 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散度的意义在于：</a:t>
                </a: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它衡量了模型预测分布 </a:t>
                </a:r>
                <a:r>
                  <a:rPr lang="en" altLang="zh-CN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 </a:t>
                </a: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偏离真实分布 </a:t>
                </a:r>
                <a:r>
                  <a:rPr lang="en" altLang="zh-CN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q </a:t>
                </a: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的程度。</a:t>
                </a:r>
                <a:endParaRPr lang="en-US" altLang="zh-CN" sz="2000" b="1" i="0" dirty="0">
                  <a:solidFill>
                    <a:srgbClr val="B61516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 algn="l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（</a:t>
                </a:r>
                <a:r>
                  <a:rPr lang="en-US" altLang="zh-CN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Log </a:t>
                </a:r>
                <a:r>
                  <a:rPr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比例）的期望</a:t>
                </a:r>
                <a:endParaRPr lang="en-US" altLang="zh-CN" sz="2000" b="1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后面这项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log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代表真实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分布 </a:t>
                </a:r>
                <a:r>
                  <a:rPr lang="en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q</a:t>
                </a:r>
                <a:r>
                  <a:rPr lang="en" altLang="zh-CN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本身的负熵，与要学习的模型无关</a:t>
                </a:r>
                <a:endParaRPr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BE9F044-9807-2A45-775E-6333A021F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45" y="912533"/>
                <a:ext cx="8800683" cy="4900572"/>
              </a:xfrm>
              <a:prstGeom prst="rect">
                <a:avLst/>
              </a:prstGeom>
              <a:blipFill>
                <a:blip r:embed="rId2"/>
                <a:stretch>
                  <a:fillRect l="-623" r="-485" b="-141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FEE1DEC6-142C-3BD9-DD9D-A35CC51B1C83}"/>
              </a:ext>
            </a:extLst>
          </p:cNvPr>
          <p:cNvGrpSpPr/>
          <p:nvPr/>
        </p:nvGrpSpPr>
        <p:grpSpPr>
          <a:xfrm>
            <a:off x="8307446" y="1991267"/>
            <a:ext cx="3901464" cy="1927590"/>
            <a:chOff x="8307446" y="1991267"/>
            <a:chExt cx="3901464" cy="1927590"/>
          </a:xfrm>
        </p:grpSpPr>
        <p:pic>
          <p:nvPicPr>
            <p:cNvPr id="2" name="Picture 4" descr="KL (Kullback-Leibler) Divergence (Part 2/4): Cross Entropy and KL Divergence">
              <a:extLst>
                <a:ext uri="{FF2B5EF4-FFF2-40B4-BE49-F238E27FC236}">
                  <a16:creationId xmlns:a16="http://schemas.microsoft.com/office/drawing/2014/main" id="{7A3560EA-8D67-F7E7-D125-0C62B4FB18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38" t="50000" r="31667" b="9952"/>
            <a:stretch/>
          </p:blipFill>
          <p:spPr bwMode="auto">
            <a:xfrm>
              <a:off x="8307446" y="1991267"/>
              <a:ext cx="3901464" cy="19275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012E5A-30ED-EC20-BEB1-C4FDC1DA5F2A}"/>
                </a:ext>
              </a:extLst>
            </p:cNvPr>
            <p:cNvSpPr txBox="1"/>
            <p:nvPr/>
          </p:nvSpPr>
          <p:spPr>
            <a:xfrm>
              <a:off x="9116088" y="2165811"/>
              <a:ext cx="10199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i="0" dirty="0">
                  <a:solidFill>
                    <a:srgbClr val="B61516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分布 </a:t>
              </a:r>
              <a:r>
                <a:rPr lang="en" altLang="zh-CN" b="1" i="0" dirty="0">
                  <a:solidFill>
                    <a:srgbClr val="B61516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</a:t>
              </a:r>
              <a:endParaRPr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B83ACF0-2D76-1CD6-ED41-717B6045AF62}"/>
                </a:ext>
              </a:extLst>
            </p:cNvPr>
            <p:cNvSpPr txBox="1"/>
            <p:nvPr/>
          </p:nvSpPr>
          <p:spPr>
            <a:xfrm>
              <a:off x="10275556" y="2165811"/>
              <a:ext cx="9730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i="0" dirty="0">
                  <a:solidFill>
                    <a:srgbClr val="B61516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分布 </a:t>
              </a:r>
              <a:r>
                <a:rPr lang="en" altLang="zh-CN" b="1" i="0" dirty="0">
                  <a:solidFill>
                    <a:srgbClr val="B61516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q </a:t>
              </a:r>
              <a:endParaRPr lang="zh-CN" altLang="en-US" dirty="0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4E38D19B-2D64-CA11-9035-E6DC52B714C1}"/>
              </a:ext>
            </a:extLst>
          </p:cNvPr>
          <p:cNvSpPr/>
          <p:nvPr/>
        </p:nvSpPr>
        <p:spPr>
          <a:xfrm>
            <a:off x="9064462" y="3918857"/>
            <a:ext cx="2591471" cy="323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</a:rPr>
              <a:t>思考：这是距离吗？</a:t>
            </a:r>
          </a:p>
        </p:txBody>
      </p:sp>
    </p:spTree>
    <p:extLst>
      <p:ext uri="{BB962C8B-B14F-4D97-AF65-F5344CB8AC3E}">
        <p14:creationId xmlns:p14="http://schemas.microsoft.com/office/powerpoint/2010/main" val="2730639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/>
              </a:rPr>
              <a:t>【算例】KL散度计算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242" y="10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【题目】计算两个离散概率分布的KL散度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真实分布 P = [0.5, 0.3, 0.2]  （对应3个类别）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预测分布 Q = [0.4, 0.4, 0.2]  （模型输出）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KL散度公式：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KL(P||Q) = ∑ P(i) · ln[P(i)/Q(i)]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请计算 KL(P||Q)，并理解其含义。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/>
              </a:rPr>
              <a:t>【算例解答】KL散度 - 逐项计算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242" y="10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第一步：列出各项数据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i=1: P(1)=0.5, Q(1)=0.4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i=2: P(2)=0.3, Q(2)=0.4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i=3: P(3)=0.2, Q(3)=0.2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第二步：计算每一项 P(i)·ln[P(i)/Q(i)]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（使用自然对数 ln）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第1项：0.5 × ln(0.5/0.4) = 0.5 × ln(1.25) = 0.5 × 0.223 = 0.112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第2项：0.3 × ln(0.3/0.4) = 0.3 × ln(0.75) = 0.3 × (-0.288) = -0.086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第3项：0.2 × ln(0.2/0.2) = 0.2 × ln(1) = 0.2 × 0 = 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/>
              </a:rPr>
              <a:t>【算例解答】KL散度 - 求和结果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242" y="10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第三步：求和得到KL散度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KL(P||Q) = 0.112 + (-0.086) + 0 = 0.026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结果分析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• KL散度 = 0.026 &gt; 0，说明两个分布不完全相同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• KL散度越接近0，两个分布越相似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• KL散度 = 0 当且仅当 P = Q（完全相同）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1">
                <a:solidFill>
                  <a:srgbClr val="C00000"/>
                </a:solidFill>
                <a:latin typeface="微软雅黑"/>
              </a:defRPr>
            </a:pPr>
            <a:r>
              <a:t>直觉理解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KL散度衡量用Q来近似P时的“信息损失”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在机器学习中，P是真实标签，Q是模型预测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训练目标就是最小化KL散度，让预测接近真实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/>
              </a:rPr>
              <a:t>【算例】三个分布对比 - 差距逐渐增大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242" y="10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例1：P = [0.5, 0.5], Q1 = [0.5, 0.5]  → KL = 0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两个分布完全相同，KL散度为0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例2：P = [0.5, 0.5], Q2 = [0.6, 0.4]  → KL ≈ 0.02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两个分布略有不同，KL散度很小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例3：P = [0.5, 0.5], Q3 = [0.9, 0.1]  → KL ≈ 0.51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两个分布差异很大，KL散度显著增大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1">
                <a:solidFill>
                  <a:srgbClr val="C00000"/>
                </a:solidFill>
                <a:latin typeface="微软雅黑"/>
              </a:defRPr>
            </a:pPr>
            <a:r>
              <a:t>结论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随着Q与P的差距增大，KL散度单调递增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这就是为什么KL散度可以用来衡量“误差”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71F5D-11B2-ADA4-35CE-0FBC3D6B9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142B45-71C6-3448-F672-445FA3513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衡量两个概率分布的差异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CF7C78E-145B-DC30-3BCC-7558641EFFB6}"/>
                  </a:ext>
                </a:extLst>
              </p:cNvPr>
              <p:cNvSpPr txBox="1"/>
              <p:nvPr/>
            </p:nvSpPr>
            <p:spPr>
              <a:xfrm>
                <a:off x="164124" y="757902"/>
                <a:ext cx="9366738" cy="4078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en" altLang="zh-CN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KL </a:t>
                </a:r>
                <a:r>
                  <a:rPr lang="zh-CN" altLang="en-US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散度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（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Kullback-Leibler divergence</a:t>
                </a:r>
                <a:r>
                  <a:rPr lang="zh-CN" altLang="e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（不是距离，</a:t>
                </a:r>
                <a:r>
                  <a:rPr lang="en-US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JS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散度）定义为：</a:t>
                </a:r>
                <a:endParaRPr lang="en-US" altLang="zh-CN" sz="2000" b="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Microsoft YaHei" panose="020B0503020204020204" pitchFamily="34" charset="-122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D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𝐾𝐿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𝒒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𝒑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log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log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log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前面这项有一个常用的名字</a:t>
                </a:r>
                <a:r>
                  <a:rPr lang="zh-CN" altLang="en-US" sz="2000" b="1" i="0" dirty="0">
                    <a:solidFill>
                      <a:srgbClr val="C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交叉熵损失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，定义为</a:t>
                </a:r>
                <a:endParaRPr lang="en-US" altLang="zh-C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CrossEntropy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𝒒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 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𝒑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log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对于 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one-hot 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标签，只有</a:t>
                </a:r>
                <a:r>
                  <a:rPr lang="zh-CN" altLang="en-US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真实类别 </a:t>
                </a:r>
                <a:r>
                  <a:rPr lang="en" altLang="zh-CN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 </a:t>
                </a:r>
                <a:r>
                  <a:rPr lang="zh-CN" altLang="en-US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对应的项 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−</m:t>
                    </m:r>
                    <m:r>
                      <a:rPr lang="en-US" altLang="zh-CN" sz="2000" b="1" i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𝐥𝐨𝐠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" altLang="zh-CN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不为 </a:t>
                </a:r>
                <a:r>
                  <a:rPr lang="en-US" altLang="zh-CN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，其他项都是 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，交叉熵简化为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CrossEntropy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𝒒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</m:e>
                    </m:d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=−</m:t>
                    </m:r>
                    <m:sSub>
                      <m:sSubPr>
                        <m:ctrlPr>
                          <a:rPr lang="en-US" altLang="zh-CN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log</m:t>
                        </m:r>
                        <m:r>
                          <a:rPr lang="en-US" altLang="zh-CN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 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𝑐</m:t>
                        </m:r>
                      </m:sub>
                    </m:sSub>
                  </m:oMath>
                </a14:m>
                <a:endParaRPr lang="en-US" altLang="zh-C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CF7C78E-145B-DC30-3BCC-7558641EF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24" y="757902"/>
                <a:ext cx="9366738" cy="4078937"/>
              </a:xfrm>
              <a:prstGeom prst="rect">
                <a:avLst/>
              </a:prstGeom>
              <a:blipFill>
                <a:blip r:embed="rId2"/>
                <a:stretch>
                  <a:fillRect l="-586" r="-3385" b="-17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4" descr="KL (Kullback-Leibler) Divergence (Part 2/4): Cross Entropy and KL Divergence">
            <a:extLst>
              <a:ext uri="{FF2B5EF4-FFF2-40B4-BE49-F238E27FC236}">
                <a16:creationId xmlns:a16="http://schemas.microsoft.com/office/drawing/2014/main" id="{C7D0E8FD-2D61-759B-CA84-AF074AD264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8" t="50000" r="31667" b="9952"/>
          <a:stretch/>
        </p:blipFill>
        <p:spPr bwMode="auto">
          <a:xfrm>
            <a:off x="8072986" y="1991267"/>
            <a:ext cx="3901464" cy="192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D07A273-FF8B-2B52-252B-D6047B18E3BC}"/>
              </a:ext>
            </a:extLst>
          </p:cNvPr>
          <p:cNvSpPr txBox="1"/>
          <p:nvPr/>
        </p:nvSpPr>
        <p:spPr>
          <a:xfrm>
            <a:off x="9116088" y="2165811"/>
            <a:ext cx="1019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B6151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分布 </a:t>
            </a:r>
            <a:r>
              <a:rPr lang="en" altLang="zh-CN" b="1" i="0" dirty="0">
                <a:solidFill>
                  <a:srgbClr val="B6151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532440-9F3A-160D-47F1-3B19B6D71E56}"/>
              </a:ext>
            </a:extLst>
          </p:cNvPr>
          <p:cNvSpPr txBox="1"/>
          <p:nvPr/>
        </p:nvSpPr>
        <p:spPr>
          <a:xfrm>
            <a:off x="10275556" y="2165811"/>
            <a:ext cx="973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B6151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分布 </a:t>
            </a:r>
            <a:r>
              <a:rPr lang="en" altLang="zh-CN" b="1" i="0" dirty="0">
                <a:solidFill>
                  <a:srgbClr val="B6151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q 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DF9D1197-4FC3-DCCF-A008-6F2F298D712C}"/>
                  </a:ext>
                </a:extLst>
              </p:cNvPr>
              <p:cNvSpPr/>
              <p:nvPr/>
            </p:nvSpPr>
            <p:spPr>
              <a:xfrm>
                <a:off x="264048" y="4901084"/>
                <a:ext cx="10984523" cy="136466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交叉熵损失的直观意义是：</a:t>
                </a:r>
                <a:endParaRPr lang="en-US" altLang="zh-C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742950" lvl="1" indent="-285750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如果模型</a:t>
                </a:r>
                <a:r>
                  <a:rPr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预测正确类别的概率</a:t>
                </a: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" altLang="zh-CN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​ </a:t>
                </a: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越接近 </a:t>
                </a:r>
                <a:r>
                  <a:rPr lang="en-US" altLang="zh-CN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，损失越小</a:t>
                </a:r>
                <a:r>
                  <a:rPr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；</a:t>
                </a:r>
                <a:endParaRPr lang="en-US" altLang="zh-CN" sz="2000" b="1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742950" lvl="1" indent="-285750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反之，</a:t>
                </a: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如果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" altLang="zh-CN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​ </a:t>
                </a: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越接近 </a:t>
                </a:r>
                <a:r>
                  <a:rPr lang="en-US" altLang="zh-CN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</a:t>
                </a: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，损失越大。</a:t>
                </a:r>
                <a:endParaRPr lang="zh-CN" altLang="en-US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DF9D1197-4FC3-DCCF-A008-6F2F298D71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48" y="4901084"/>
                <a:ext cx="10984523" cy="1364669"/>
              </a:xfrm>
              <a:prstGeom prst="roundRect">
                <a:avLst/>
              </a:prstGeom>
              <a:blipFill>
                <a:blip r:embed="rId4"/>
                <a:stretch>
                  <a:fillRect b="-55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7576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7B03B-EFF9-CC9B-54A2-CBE4F89C5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FD1CD1-DB20-BE32-86AF-F200BEBC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6CB61A-3AB5-AF46-ACFE-DEC32337966F}"/>
              </a:ext>
            </a:extLst>
          </p:cNvPr>
          <p:cNvSpPr txBox="1"/>
          <p:nvPr/>
        </p:nvSpPr>
        <p:spPr>
          <a:xfrm>
            <a:off x="3855154" y="1399967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一、矩阵与向量基础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A67C69D-71DE-82E9-F3BE-1AECE5DF6159}"/>
              </a:ext>
            </a:extLst>
          </p:cNvPr>
          <p:cNvSpPr txBox="1"/>
          <p:nvPr/>
        </p:nvSpPr>
        <p:spPr>
          <a:xfrm>
            <a:off x="3855154" y="236207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二、概率统计基础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D1B91E-2162-0C97-48B9-3A9A793B7D60}"/>
              </a:ext>
            </a:extLst>
          </p:cNvPr>
          <p:cNvSpPr txBox="1"/>
          <p:nvPr/>
        </p:nvSpPr>
        <p:spPr>
          <a:xfrm>
            <a:off x="3855154" y="3324179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三、优化算法基础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F66B63-1EBF-FB7E-ABDF-1FD418ECEE40}"/>
              </a:ext>
            </a:extLst>
          </p:cNvPr>
          <p:cNvSpPr txBox="1"/>
          <p:nvPr/>
        </p:nvSpPr>
        <p:spPr>
          <a:xfrm>
            <a:off x="3855153" y="4286286"/>
            <a:ext cx="2427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四、内容小结</a:t>
            </a:r>
          </a:p>
        </p:txBody>
      </p:sp>
    </p:spTree>
    <p:extLst>
      <p:ext uri="{BB962C8B-B14F-4D97-AF65-F5344CB8AC3E}">
        <p14:creationId xmlns:p14="http://schemas.microsoft.com/office/powerpoint/2010/main" val="3099912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5610D-9745-FBFE-481A-AE4DADA62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59E5383-E537-E421-39BC-6B6BA46D5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损失函数（衡量误差）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D6AD865-7A7A-B71C-CBFC-BCAB5186006A}"/>
                  </a:ext>
                </a:extLst>
              </p:cNvPr>
              <p:cNvSpPr txBox="1"/>
              <p:nvPr/>
            </p:nvSpPr>
            <p:spPr>
              <a:xfrm>
                <a:off x="247870" y="1025299"/>
                <a:ext cx="11009940" cy="55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l">
                  <a:lnSpc>
                    <a:spcPct val="125000"/>
                  </a:lnSpc>
                  <a:buFont typeface="Wingdings" pitchFamily="2" charset="2"/>
                  <a:buChar char="p"/>
                </a:pPr>
                <a:r>
                  <a:rPr kumimoji="1"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𝑥</m:t>
                        </m:r>
                      </m:e>
                    </m:d>
                    <m:r>
                      <a:rPr kumimoji="1" lang="zh-CN" alt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  <m:r>
                      <a:rPr kumimoji="1"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是一个</m:t>
                    </m:r>
                    <m:r>
                      <a:rPr kumimoji="1" lang="zh-CN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机器学习</m:t>
                    </m:r>
                    <m:r>
                      <a:rPr kumimoji="1"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模型</m:t>
                    </m:r>
                    <m:r>
                      <a:rPr kumimoji="1" lang="zh-CN" alt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，</m:t>
                    </m:r>
                    <m:r>
                      <a:rPr kumimoji="1"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𝑆</m:t>
                    </m:r>
                    <m:r>
                      <a:rPr kumimoji="1"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 </m:t>
                    </m:r>
                    <m:r>
                      <m:rPr>
                        <m:lit/>
                      </m:rPr>
                      <a:rPr kumimoji="1"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{</m:t>
                    </m:r>
                    <m:sSub>
                      <m:sSubPr>
                        <m:ctrlP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kumimoji="1"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𝑦</m:t>
                        </m:r>
                      </m:e>
                      <m:sub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kumimoji="1"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</m:t>
                    </m:r>
                    <m:sSubSup>
                      <m:sSubSupPr>
                        <m:ctrlP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}</m:t>
                        </m:r>
                      </m:e>
                      <m:sub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=1</m:t>
                        </m:r>
                      </m:sub>
                      <m:sup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kumimoji="1"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  <m:r>
                      <a:rPr kumimoji="1"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是</m:t>
                    </m:r>
                    <m:r>
                      <a:rPr kumimoji="1" lang="zh-CN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采样</m:t>
                    </m:r>
                    <m:r>
                      <a:rPr kumimoji="1"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的</m:t>
                    </m:r>
                  </m:oMath>
                </a14:m>
                <a:r>
                  <a:rPr kumimoji="1"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数据集，常用损失函数如下</a:t>
                </a:r>
                <a:r>
                  <a:rPr kumimoji="1" lang="en-US" altLang="zh-CN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:</a:t>
                </a:r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>
                      <m:r>
                        <a:rPr kumimoji="1"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𝜃</m:t>
                          </m:r>
                        </m:e>
                      </m:d>
                      <m:r>
                        <a:rPr kumimoji="1"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ℓ</m:t>
                          </m:r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 algn="l">
                  <a:lnSpc>
                    <a:spcPct val="125000"/>
                  </a:lnSpc>
                  <a:buFont typeface="Wingdings" pitchFamily="2" charset="2"/>
                  <a:buChar char="p"/>
                </a:pPr>
                <a:r>
                  <a:rPr kumimoji="1"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对于回归任务，我们常用</a:t>
                </a:r>
                <a:r>
                  <a:rPr kumimoji="1"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均方误差（</a:t>
                </a:r>
                <a:r>
                  <a:rPr kumimoji="1" lang="en-US" altLang="zh-CN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mean square error</a:t>
                </a:r>
                <a:r>
                  <a:rPr kumimoji="1"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kumimoji="1" lang="en-US" altLang="zh-CN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MSE</a:t>
                </a:r>
                <a:r>
                  <a:rPr kumimoji="1"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</a:t>
                </a:r>
                <a:r>
                  <a:rPr kumimoji="1"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作为损失函数：</a:t>
                </a:r>
                <a:endParaRPr kumimoji="1"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25000"/>
                  </a:lnSpc>
                </a:pPr>
                <a:endParaRPr kumimoji="1"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>
                      <m:r>
                        <a:rPr kumimoji="1"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𝜃</m:t>
                          </m:r>
                        </m:e>
                      </m:d>
                      <m:r>
                        <a:rPr kumimoji="1"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ℓ</m:t>
                          </m:r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)</m:t>
                          </m:r>
                        </m:e>
                      </m:nary>
                      <m:r>
                        <a:rPr kumimoji="1" lang="en-US" altLang="zh-CN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kumimoji="1"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1"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Microsoft YaHei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Microsoft YaHei" panose="020B0503020204020204" pitchFamily="34" charset="-122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Microsoft YaHei" panose="020B0503020204020204" pitchFamily="34" charset="-12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25000"/>
                  </a:lnSpc>
                </a:pPr>
                <a:endParaRPr kumimoji="1"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 algn="l">
                  <a:lnSpc>
                    <a:spcPct val="125000"/>
                  </a:lnSpc>
                  <a:buFont typeface="Wingdings" pitchFamily="2" charset="2"/>
                  <a:buChar char="p"/>
                </a:pPr>
                <a:r>
                  <a:rPr kumimoji="1"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对于分类任务（学习一个概率分布），我们常用</a:t>
                </a:r>
                <a:r>
                  <a:rPr kumimoji="1"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交叉熵（</a:t>
                </a:r>
                <a:r>
                  <a:rPr kumimoji="1" lang="en-US" altLang="zh-CN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cross</a:t>
                </a:r>
                <a:r>
                  <a:rPr kumimoji="1"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en-US" altLang="zh-CN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entropy</a:t>
                </a:r>
                <a:r>
                  <a:rPr kumimoji="1"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</a:t>
                </a:r>
                <a:r>
                  <a:rPr kumimoji="1"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作为损失函数：</a:t>
                </a:r>
                <a:endParaRPr kumimoji="1"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>
                      <m:r>
                        <a:rPr kumimoji="1"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𝜽</m:t>
                          </m:r>
                        </m:e>
                      </m:d>
                      <m:r>
                        <a:rPr kumimoji="1"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ℓ</m:t>
                          </m:r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𝒇</m:t>
                              </m:r>
                            </m:e>
                            <m:sub>
                              <m:r>
                                <a:rPr kumimoji="1"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1"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kumimoji="1"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)</m:t>
                          </m:r>
                        </m:e>
                      </m:nary>
                      <m:r>
                        <a:rPr kumimoji="1" lang="en-US" altLang="zh-CN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CrossEntropy</m:t>
                          </m:r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 </m:t>
                          </m:r>
                          <m:sSub>
                            <m:sSubPr>
                              <m:ctrlPr>
                                <a:rPr kumimoji="1"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kumimoji="1"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zh-CN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𝒇</m:t>
                              </m:r>
                            </m:e>
                            <m:sub>
                              <m:r>
                                <a:rPr kumimoji="1" lang="en-US" altLang="zh-CN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CN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kumimoji="1" lang="en-US" altLang="zh-CN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)</m:t>
                          </m:r>
                        </m:e>
                      </m:nary>
                      <m:r>
                        <a:rPr kumimoji="1"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=−</m:t>
                      </m:r>
                      <m:f>
                        <m:fPr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𝑐</m:t>
                              </m:r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𝐶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𝑖</m:t>
                                  </m:r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, </m:t>
                                  </m:r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log</m:t>
                          </m:r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en-US" altLang="zh-CN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kumimoji="1" lang="en-US" altLang="zh-CN" sz="20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CN" sz="20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Microsoft YaHei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20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Microsoft YaHei" panose="020B0503020204020204" pitchFamily="34" charset="-122"/>
                                            </a:rPr>
                                            <m:t>𝒇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20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Microsoft YaHei" panose="020B0503020204020204" pitchFamily="34" charset="-122"/>
                                            </a:rPr>
                                            <m:t>𝜽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kumimoji="1" lang="en-US" altLang="zh-CN" sz="20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Microsoft YaHei" panose="020B0503020204020204" pitchFamily="34" charset="-122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US" altLang="zh-CN" sz="2000" b="1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Microsoft YaHei" panose="020B0503020204020204" pitchFamily="34" charset="-12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zh-CN" sz="2000" b="1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Microsoft YaHei" panose="020B0503020204020204" pitchFamily="34" charset="-122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zh-CN" sz="2000" b="1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Microsoft YaHei" panose="020B0503020204020204" pitchFamily="34" charset="-122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  <m:sub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 </m:t>
                              </m:r>
                            </m:sub>
                          </m:sSub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25000"/>
                  </a:lnSpc>
                </a:pPr>
                <a:endParaRPr kumimoji="1"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D6AD865-7A7A-B71C-CBFC-BCAB51860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70" y="1025299"/>
                <a:ext cx="11009940" cy="5593647"/>
              </a:xfrm>
              <a:prstGeom prst="rect">
                <a:avLst/>
              </a:prstGeom>
              <a:blipFill>
                <a:blip r:embed="rId2"/>
                <a:stretch>
                  <a:fillRect l="-461" t="-6787" b="-18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6367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梯度下降法（</a:t>
            </a:r>
            <a:r>
              <a:rPr lang="en-US" altLang="zh-CN" dirty="0"/>
              <a:t>Gradient Descent, GD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80999" y="1012121"/>
                <a:ext cx="11258551" cy="2797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梯度下降法是最基本的优化算法。其以负梯度方向为搜索方向，以固定的步长（即学习率）来更新参数。具体算法为：</a:t>
                </a:r>
                <a:b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</a:b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∇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𝜃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−1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−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𝜂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其中，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7070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𝜂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是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学习率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learning rate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，或叫步长，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step size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）。</a:t>
                </a: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1012121"/>
                <a:ext cx="11258551" cy="2797048"/>
              </a:xfrm>
              <a:prstGeom prst="rect">
                <a:avLst/>
              </a:prstGeom>
              <a:blipFill>
                <a:blip r:embed="rId2"/>
                <a:stretch>
                  <a:fillRect l="-788" b="-45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925EBB8D-A4E2-2EBE-EAA7-4D09886A61EE}"/>
              </a:ext>
            </a:extLst>
          </p:cNvPr>
          <p:cNvSpPr txBox="1"/>
          <p:nvPr/>
        </p:nvSpPr>
        <p:spPr>
          <a:xfrm>
            <a:off x="8195621" y="2306781"/>
            <a:ext cx="3443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思考：为什么选负梯度方向？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75AB13-3ACE-7E2F-F7F4-D3F65C161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25726" y="3927095"/>
            <a:ext cx="6769096" cy="235346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4353A-90AA-E771-4E7C-A26F6CB78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梯度下降法（</a:t>
            </a:r>
            <a:r>
              <a:rPr lang="en-US" altLang="zh-CN" dirty="0"/>
              <a:t>Gradient Descent, GD</a:t>
            </a:r>
            <a:r>
              <a:rPr lang="zh-CN" altLang="en-US" dirty="0"/>
              <a:t>）</a:t>
            </a:r>
          </a:p>
        </p:txBody>
      </p:sp>
      <p:sp>
        <p:nvSpPr>
          <p:cNvPr id="4" name="弧形 3">
            <a:extLst>
              <a:ext uri="{FF2B5EF4-FFF2-40B4-BE49-F238E27FC236}">
                <a16:creationId xmlns:a16="http://schemas.microsoft.com/office/drawing/2014/main" id="{72FBF1FF-AA50-2AF5-5735-BC8A6DBBBD7C}"/>
              </a:ext>
            </a:extLst>
          </p:cNvPr>
          <p:cNvSpPr/>
          <p:nvPr/>
        </p:nvSpPr>
        <p:spPr>
          <a:xfrm rot="7657152">
            <a:off x="394856" y="17398"/>
            <a:ext cx="4296640" cy="1927514"/>
          </a:xfrm>
          <a:prstGeom prst="arc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61616"/>
              </a:solidFill>
              <a:effectLst/>
              <a:uLnTx/>
              <a:uFillTx/>
              <a:latin typeface="Book Antiqua"/>
              <a:ea typeface="黑体"/>
              <a:cs typeface="+mn-cs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61903A6-B522-4499-7632-A12356CF7A16}"/>
              </a:ext>
            </a:extLst>
          </p:cNvPr>
          <p:cNvCxnSpPr/>
          <p:nvPr/>
        </p:nvCxnSpPr>
        <p:spPr>
          <a:xfrm flipV="1">
            <a:off x="1226127" y="1870364"/>
            <a:ext cx="2275609" cy="1231322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8926B80-8250-D4E2-A18C-BCFA917F9E2F}"/>
              </a:ext>
            </a:extLst>
          </p:cNvPr>
          <p:cNvSpPr txBox="1"/>
          <p:nvPr/>
        </p:nvSpPr>
        <p:spPr>
          <a:xfrm>
            <a:off x="3714750" y="1558636"/>
            <a:ext cx="4203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线性化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B91CFAD-2C6B-DBC0-B7FD-DF1237BD9A2E}"/>
                  </a:ext>
                </a:extLst>
              </p:cNvPr>
              <p:cNvSpPr txBox="1"/>
              <p:nvPr/>
            </p:nvSpPr>
            <p:spPr>
              <a:xfrm>
                <a:off x="3501736" y="2403426"/>
                <a:ext cx="561628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</m:d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≈</m:t>
                      </m:r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0" lang="en-US" altLang="zh-CN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0" lang="en-US" altLang="zh-CN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∇</m:t>
                      </m:r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0" lang="en-US" altLang="zh-CN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⋅(</m:t>
                      </m:r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𝜃</m:t>
                      </m:r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B91CFAD-2C6B-DBC0-B7FD-DF1237BD9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736" y="2403426"/>
                <a:ext cx="5616287" cy="523220"/>
              </a:xfrm>
              <a:prstGeom prst="rect">
                <a:avLst/>
              </a:prstGeom>
              <a:blipFill>
                <a:blip r:embed="rId2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BA80C41-5F98-6D10-E07C-49B4F6D3DB36}"/>
                  </a:ext>
                </a:extLst>
              </p:cNvPr>
              <p:cNvSpPr txBox="1"/>
              <p:nvPr/>
            </p:nvSpPr>
            <p:spPr>
              <a:xfrm>
                <a:off x="3562782" y="4169125"/>
                <a:ext cx="7140533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C2D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+mn-cs"/>
                  </a:rPr>
                  <a:t>两个向量内积，什么时候最小？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0" lang="en-US" altLang="zh-CN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∇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⋅</m:t>
                      </m:r>
                      <m:r>
                        <m:rPr>
                          <m:sty m:val="p"/>
                        </m:rPr>
                        <a:rPr kumimoji="0" lang="en-US" altLang="zh-CN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Δ</m:t>
                      </m:r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𝜃</m:t>
                      </m:r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BA80C41-5F98-6D10-E07C-49B4F6D3D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782" y="4169125"/>
                <a:ext cx="7140533" cy="1200329"/>
              </a:xfrm>
              <a:prstGeom prst="rect">
                <a:avLst/>
              </a:prstGeom>
              <a:blipFill>
                <a:blip r:embed="rId3"/>
                <a:stretch>
                  <a:fillRect l="-1243" t="-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EDB2CEB-5E46-15CC-8B43-47D1B73592BE}"/>
                  </a:ext>
                </a:extLst>
              </p:cNvPr>
              <p:cNvSpPr txBox="1"/>
              <p:nvPr/>
            </p:nvSpPr>
            <p:spPr>
              <a:xfrm>
                <a:off x="3562781" y="3228875"/>
                <a:ext cx="714053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0" lang="en-US" altLang="zh-CN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Δ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𝜃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𝜃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EDB2CEB-5E46-15CC-8B43-47D1B7359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781" y="3228875"/>
                <a:ext cx="714053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550C6AA2-A37D-DDA1-CA32-8DF7B067796C}"/>
              </a:ext>
            </a:extLst>
          </p:cNvPr>
          <p:cNvSpPr txBox="1"/>
          <p:nvPr/>
        </p:nvSpPr>
        <p:spPr>
          <a:xfrm>
            <a:off x="3647209" y="5393542"/>
            <a:ext cx="4203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方向相反！</a:t>
            </a:r>
          </a:p>
        </p:txBody>
      </p:sp>
    </p:spTree>
    <p:extLst>
      <p:ext uri="{BB962C8B-B14F-4D97-AF65-F5344CB8AC3E}">
        <p14:creationId xmlns:p14="http://schemas.microsoft.com/office/powerpoint/2010/main" val="81436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/>
              </a:rPr>
              <a:t>【算例】梯度下降法求最小值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242" y="10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【题目】用梯度下降法求函数 f(x) = x² 的最小值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已知：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• 目标函数：f(x) = x²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• 初始点：x0 = 3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• 学习率：η = 0.1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• 迭代次数：3次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梯度下降公式：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x(t+1) = x(t) - η · f'(x(t))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请逐步计算每次迭代后的 x 值。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/>
              </a:rPr>
              <a:t>【算例解答】梯度下降 - 第1次迭代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242" y="10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准备：计算梯度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f(x) = x²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f'(x) = 2x  （导数/梯度）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第1次迭代：t = 0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当前点：x0 = 3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当前梯度：f'(x0) = f'(3) = 2 × 3 = 6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更新公式：x1 = x0 - η · f'(x0)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      x1 = 3 - 0.1 × 6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      x1 = 3 - 0.6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      x1 = 2.4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1">
                <a:solidFill>
                  <a:srgbClr val="C00000"/>
                </a:solidFill>
                <a:latin typeface="微软雅黑"/>
              </a:defRPr>
            </a:pPr>
            <a:r>
              <a:t>  函数值：f(2.4) = 2.4² = 5.76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（从 f(3)=9 下降到 5.76，接近最小值！）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/>
              </a:rPr>
              <a:t>【算例解答】梯度下降 - 继续迭代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242" y="10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第2次迭代：t = 1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当前点：x1 = 2.4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梯度：f'(2.4) = 2 × 2.4 = 4.8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更新：x2 = 2.4 - 0.1 × 4.8 = 2.4 - 0.48 = 1.92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函数值：f(1.92) = 3.69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第3次迭代：t = 2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当前点：x2 = 1.92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梯度：f'(1.92) = 2 × 1.92 = 3.84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更新：x3 = 1.92 - 0.1 × 3.84 = 1.92 - 0.384 = 1.536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函数值：f(1.536) = 2.36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1">
                <a:solidFill>
                  <a:srgbClr val="C00000"/>
                </a:solidFill>
                <a:latin typeface="微软雅黑"/>
              </a:defRPr>
            </a:pPr>
            <a:r>
              <a:t>观察：x 从 3 → 2.4 → 1.92 → 1.536，逐步接近最小值点 x=0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/>
              </a:rPr>
              <a:t>【算例总结】梯度下降的规律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242" y="10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迭代过程汇总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t=0: x=3.000, f(x)=9.000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t=1: x=2.400, f(x)=5.760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t=2: x=1.920, f(x)=3.686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t=3: x=1.536, f(x)=2.359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关键观察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1. 每次迭代，x 都向最小值点 x=0 靠近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2. 梯度 f'(x) 越来越小，更新步长也越来越小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3. 如果继续迭代，x 会无限接近 0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1">
                <a:solidFill>
                  <a:srgbClr val="C00000"/>
                </a:solidFill>
                <a:latin typeface="微软雅黑"/>
              </a:defRPr>
            </a:pPr>
            <a:r>
              <a:t>学习率的影响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• 学习率太大：可能“跳过”最小值，来回震荡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• 学习率太小：收敛太慢，需要很多次迭代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661C4-5CA7-5A68-9936-669801DDB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B24FCC9-6AF8-1AFF-7810-3CC7CCB31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梯度下降优化算法（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Gradient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Descent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GD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D2BBA21-E233-D74F-5743-EF2108BA7231}"/>
                  </a:ext>
                </a:extLst>
              </p:cNvPr>
              <p:cNvSpPr txBox="1"/>
              <p:nvPr/>
            </p:nvSpPr>
            <p:spPr>
              <a:xfrm>
                <a:off x="229442" y="2835466"/>
                <a:ext cx="5498068" cy="29546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1200"/>
                  </a:spcAft>
                </a:pP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公式：</a:t>
                </a:r>
                <a:endParaRPr lang="zh-CN" altLang="en-US" sz="28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sz="2800" b="0" i="0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b="0" i="0" dirty="0">
                  <a:solidFill>
                    <a:srgbClr val="C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spcAft>
                    <a:spcPts val="1200"/>
                  </a:spcAft>
                </a:pP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其中：</a:t>
                </a:r>
              </a:p>
              <a:p>
                <a:pPr marL="285750" indent="-28575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el-GR" altLang="zh-CN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θ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是需要优化的参数（如</a:t>
                </a:r>
                <a:r>
                  <a:rPr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权重参数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en" altLang="zh-CN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W</a:t>
                </a:r>
                <a:r>
                  <a:rPr lang="en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​</a:t>
                </a:r>
                <a:r>
                  <a:rPr lang="zh-CN" altLang="e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、</a:t>
                </a:r>
                <a:r>
                  <a:rPr lang="en" altLang="zh-CN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</a:t>
                </a:r>
                <a:r>
                  <a:rPr lang="en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​ 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等）</a:t>
                </a:r>
              </a:p>
              <a:p>
                <a:pPr marL="285750" indent="-28575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η&gt;0 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是学习率，控制每次更新的步长（在保证损失下降的情况下尽可能取大）</a:t>
                </a:r>
              </a:p>
              <a:p>
                <a:pPr marL="285750" indent="-285750">
                  <a:spcAft>
                    <a:spcPts val="1200"/>
                  </a:spcAft>
                  <a:buFont typeface="Wingdings" pitchFamily="2" charset="2"/>
                  <a:buChar char="p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是损失函数对参数 </a:t>
                </a:r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θ 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D2BBA21-E233-D74F-5743-EF2108BA7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42" y="2835466"/>
                <a:ext cx="5498068" cy="2954655"/>
              </a:xfrm>
              <a:prstGeom prst="rect">
                <a:avLst/>
              </a:prstGeom>
              <a:blipFill>
                <a:blip r:embed="rId2"/>
                <a:stretch>
                  <a:fillRect l="-998" t="-1031" b="-2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27105C6-7E5A-1BC8-EEFC-7F398BF2F931}"/>
                  </a:ext>
                </a:extLst>
              </p:cNvPr>
              <p:cNvSpPr txBox="1"/>
              <p:nvPr/>
            </p:nvSpPr>
            <p:spPr>
              <a:xfrm>
                <a:off x="229442" y="881617"/>
                <a:ext cx="11733115" cy="1576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l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优化的目标是最小化损失函数 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L</a:t>
                </a:r>
                <a:r>
                  <a:rPr lang="zh-CN" altLang="e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通过调整模型参数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来实现</a:t>
                </a:r>
              </a:p>
              <a:p>
                <a:pPr marL="342900" indent="-342900" algn="l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1" i="0" dirty="0">
                    <a:solidFill>
                      <a:srgbClr val="C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梯度下降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的核心思想是沿着损失函数梯度的反方向更新参数，因为梯度的方向是损失函数值增长最快的方向，因此反方向是下降最快的方向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27105C6-7E5A-1BC8-EEFC-7F398BF2F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42" y="881617"/>
                <a:ext cx="11733115" cy="1576778"/>
              </a:xfrm>
              <a:prstGeom prst="rect">
                <a:avLst/>
              </a:prstGeom>
              <a:blipFill>
                <a:blip r:embed="rId3"/>
                <a:stretch>
                  <a:fillRect l="-541" r="-325" b="-64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D71E7091-7BBE-9A94-FC8F-8C0E77506ACF}"/>
              </a:ext>
            </a:extLst>
          </p:cNvPr>
          <p:cNvSpPr/>
          <p:nvPr/>
        </p:nvSpPr>
        <p:spPr>
          <a:xfrm>
            <a:off x="6988499" y="5906044"/>
            <a:ext cx="3833226" cy="323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i="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学习率</a:t>
            </a:r>
            <a:r>
              <a:rPr lang="zh-CN" altLang="en-US" sz="1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大小</a:t>
            </a:r>
            <a:r>
              <a:rPr lang="zh-CN" altLang="en-US" sz="1600" b="1" i="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对优化的影响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A713EE9-CB8D-6513-A356-AF79A3BC0146}"/>
                  </a:ext>
                </a:extLst>
              </p:cNvPr>
              <p:cNvSpPr/>
              <p:nvPr/>
            </p:nvSpPr>
            <p:spPr>
              <a:xfrm>
                <a:off x="4993418" y="2701774"/>
                <a:ext cx="3436113" cy="76313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550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思考：要是样本太多，每次计算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需要很多时间，怎么办？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A713EE9-CB8D-6513-A356-AF79A3BC01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418" y="2701774"/>
                <a:ext cx="3436113" cy="7631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550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F60A3895-93BD-1D73-38B8-9731323052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9253" y="2075632"/>
            <a:ext cx="2104179" cy="182809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69A36D-E985-4D90-A1A3-92F513C4CCC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64870" y="4071980"/>
            <a:ext cx="5280484" cy="186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53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/>
              </a:rPr>
              <a:t>【算例】随机梯度下降 vs 梯度下降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242" y="10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【题目】对比GD和SGD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假设有4个样本，损失函数为各样本损失的平均：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L(θ) = (1/4) × [L1(θ) + L2(θ) + L3(θ) + L4(θ)]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各样本对参数的梯度：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∇L1 = [2, 1],  ∇L2 = [1, 3],  ∇L3 = [3, 2],  ∇L4 = [2, 2]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学习率 η = 0.1，当前参数 θ = [0, 0]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请分别用GD和SGD（只用第1个样本）更新一次参数。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/>
              </a:rPr>
              <a:t>【算例解答】梯度下降GD - 使用全部样本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242" y="10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GD：计算全部样本的平均梯度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平均梯度 = (1/4) × (∇L1 + ∇L2 + ∇L3 + ∇L4)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      = (1/4) × ([2,1] + [1,3] + [3,2] + [2,2])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      = (1/4) × [2+1+3+2, 1+3+2+2]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      = (1/4) × [8, 8]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      = [2, 2]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更新参数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θ1 = θ0 - η × 平均梯度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= [0, 0] - 0.1 × [2, 2]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= [0, 0] - [0.2, 0.2]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= [-0.2, -0.2]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1">
                <a:solidFill>
                  <a:srgbClr val="C00000"/>
                </a:solidFill>
                <a:latin typeface="微软雅黑"/>
              </a:defRPr>
            </a:pPr>
            <a:r>
              <a:t>GD每次更新需要计算所有样本的梯度（计算量大）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/>
              </a:rPr>
              <a:t>【算例解答】随机梯度下降SGD - 只用1个样本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242" y="876584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SGD：随机选择1个样本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假设随机选中第1个样本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该样本的梯度：∇L1 = [2, 1]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更新参数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θ1 = θ0 - η × ∇L1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= [0, 0] - 0.1 × [2, 1]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= [0, 0] - [0.2, 0.1]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   = [-0.2, -0.1]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对比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GD更新结果：[-0.2, -0.2]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SGD更新结果：[-0.2, -0.1]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1">
                <a:solidFill>
                  <a:srgbClr val="C00000"/>
                </a:solidFill>
                <a:latin typeface="微软雅黑"/>
              </a:defRPr>
            </a:pPr>
            <a:r>
              <a:t>SGD单次更新方向有偏差，但计算速度快4倍！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/>
              </a:rPr>
              <a:t>【算例总结】GD vs SGD 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242" y="10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单次更新对比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GD：使用全部4个样本 → θ = [-0.2, -0.2]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SGD：只用1个样本 → θ = [-0.2, -0.1]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600" b="1">
                <a:solidFill>
                  <a:srgbClr val="C00000"/>
                </a:solidFill>
                <a:latin typeface="微软雅黑"/>
              </a:defRPr>
            </a:pPr>
            <a:r>
              <a:t>SGD的特点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✓ 计算快：每次只用1个样本，计算量是GD的 1/n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✓ 适合大数据：样本越多，GD越慢，SGD优势越明显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✗ 方向有噪声：单次更新不准确，路径会“震荡”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✗ 需要更多迭代次数：但每次迭代很快</a:t>
            </a:r>
          </a:p>
          <a:p>
            <a:pPr>
              <a:spcAft>
                <a:spcPts val="400"/>
              </a:spcAft>
              <a:defRPr sz="1000" b="0">
                <a:latin typeface="微软雅黑"/>
              </a:defRPr>
            </a:pPr>
            <a:endParaRPr/>
          </a:p>
          <a:p>
            <a:pPr>
              <a:spcAft>
                <a:spcPts val="400"/>
              </a:spcAft>
              <a:defRPr sz="2000" b="1">
                <a:solidFill>
                  <a:srgbClr val="C00000"/>
                </a:solidFill>
                <a:latin typeface="微软雅黑"/>
              </a:defRPr>
            </a:pPr>
            <a:r>
              <a:t>实际应用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深度学习几乎都用SGD或其变体（如Adam）</a:t>
            </a:r>
          </a:p>
          <a:p>
            <a:pPr>
              <a:spcAft>
                <a:spcPts val="400"/>
              </a:spcAft>
              <a:defRPr sz="2000" b="0">
                <a:solidFill>
                  <a:srgbClr val="000000"/>
                </a:solidFill>
                <a:latin typeface="微软雅黑"/>
              </a:defRPr>
            </a:pPr>
            <a:r>
              <a:t>  因为训练数据量巨大，GD计算成本太高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295EC-EF71-01D2-6F17-E2ABC9727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04A470B-0CD5-61D0-168C-5783C974C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随机梯度下降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en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Stochastic Gradient Descent</a:t>
            </a:r>
            <a:r>
              <a:rPr kumimoji="1" lang="en-US" altLang="zh-CN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kumimoji="1" lang="en" altLang="zh-CN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SGD</a:t>
            </a:r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AC5BE41-2215-E5D6-9763-87F5A6C2CC7C}"/>
                  </a:ext>
                </a:extLst>
              </p:cNvPr>
              <p:cNvSpPr txBox="1"/>
              <p:nvPr/>
            </p:nvSpPr>
            <p:spPr>
              <a:xfrm>
                <a:off x="381242" y="797659"/>
                <a:ext cx="10597662" cy="2619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zh-CN" altLang="en-US" sz="1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在现代深度学习任务中，采样的数据点 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n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可能很大，例如数百万甚至数十亿</a:t>
                </a:r>
                <a:endParaRPr kumimoji="1" lang="en-US" altLang="zh-CN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减少计算梯度开销：</a:t>
                </a:r>
                <a:r>
                  <a:rPr kumimoji="1" lang="zh-CN" altLang="en-US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随机梯度下降（</a:t>
                </a:r>
                <a:r>
                  <a:rPr kumimoji="1" lang="en" altLang="zh-CN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Stochastic Gradient Descent</a:t>
                </a:r>
                <a:r>
                  <a:rPr kumimoji="1" lang="zh-CN" altLang="en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kumimoji="1" lang="en" altLang="zh-CN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SGD</a:t>
                </a:r>
                <a:r>
                  <a:rPr kumimoji="1" lang="zh-CN" altLang="en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在每次参数更新时只使用一个样本或随机取一个小批量样本（</a:t>
                </a:r>
                <a:r>
                  <a:rPr kumimoji="1" lang="en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mini-batch</a:t>
                </a:r>
                <a:r>
                  <a:rPr kumimoji="1" lang="zh-CN" altLang="e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</a:t>
                </a:r>
                <a:endParaRPr kumimoji="1" lang="en-US" altLang="zh-CN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设</a:t>
                </a:r>
                <a:r>
                  <a:rPr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一个批量的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损失函数为</a:t>
                </a:r>
                <a:endParaRPr kumimoji="1" lang="en-US" altLang="zh-CN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𝜃</m:t>
                          </m:r>
                        </m:e>
                      </m:d>
                      <m:r>
                        <a:rPr kumimoji="1"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𝐵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ℓ</m:t>
                          </m:r>
                          <m:d>
                            <m:dPr>
                              <m:ctrlPr>
                                <a:rPr kumimoji="1"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zh-CN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zh-CN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kumimoji="1"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en-US" altLang="zh-CN" sz="18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AC5BE41-2215-E5D6-9763-87F5A6C2C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797659"/>
                <a:ext cx="10597662" cy="2619820"/>
              </a:xfrm>
              <a:prstGeom prst="rect">
                <a:avLst/>
              </a:prstGeom>
              <a:blipFill>
                <a:blip r:embed="rId2"/>
                <a:stretch>
                  <a:fillRect l="-479" r="-359" b="-548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5051BEA-680C-BBE1-0A7B-7D7D9FA9EC15}"/>
                  </a:ext>
                </a:extLst>
              </p:cNvPr>
              <p:cNvSpPr txBox="1"/>
              <p:nvPr/>
            </p:nvSpPr>
            <p:spPr>
              <a:xfrm>
                <a:off x="568811" y="3429000"/>
                <a:ext cx="6096000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1200"/>
                  </a:spcAft>
                </a:pP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随机梯度下降：</a:t>
                </a:r>
              </a:p>
              <a:p>
                <a:pPr algn="l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sz="2800" b="0" i="0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b="0" i="0" dirty="0">
                  <a:solidFill>
                    <a:srgbClr val="C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spcAft>
                    <a:spcPts val="1200"/>
                  </a:spcAft>
                </a:pP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其中：</a:t>
                </a:r>
              </a:p>
              <a:p>
                <a:pPr marL="285750" indent="-28575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θ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是需要优化的参数（如</a:t>
                </a:r>
                <a:r>
                  <a:rPr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权重参数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en" altLang="zh-CN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W</a:t>
                </a:r>
                <a:r>
                  <a:rPr lang="en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​</a:t>
                </a:r>
                <a:r>
                  <a:rPr lang="zh-CN" altLang="e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、</a:t>
                </a:r>
                <a:r>
                  <a:rPr lang="en" altLang="zh-CN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</a:t>
                </a:r>
                <a:r>
                  <a:rPr lang="en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​ 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等）</a:t>
                </a:r>
              </a:p>
              <a:p>
                <a:pPr marL="285750" indent="-28575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η&gt;0 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是学习率，控制每次更新的步长</a:t>
                </a:r>
              </a:p>
              <a:p>
                <a:pPr marL="285750" indent="-285750">
                  <a:spcAft>
                    <a:spcPts val="1200"/>
                  </a:spcAft>
                  <a:buFont typeface="Wingdings" pitchFamily="2" charset="2"/>
                  <a:buChar char="p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</a:t>
                </a:r>
                <a:r>
                  <a:rPr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一个批量的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损失函数对参数 </a:t>
                </a:r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θ 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5051BEA-680C-BBE1-0A7B-7D7D9FA9E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11" y="3429000"/>
                <a:ext cx="6096000" cy="2677656"/>
              </a:xfrm>
              <a:prstGeom prst="rect">
                <a:avLst/>
              </a:prstGeom>
              <a:blipFill>
                <a:blip r:embed="rId3"/>
                <a:stretch>
                  <a:fillRect l="-832" t="-1422" b="-2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 descr="Stochastic Gradient Descent (SGD) | by Ramji Balasubramanian | Analytics  Vidhya | Medium">
            <a:extLst>
              <a:ext uri="{FF2B5EF4-FFF2-40B4-BE49-F238E27FC236}">
                <a16:creationId xmlns:a16="http://schemas.microsoft.com/office/drawing/2014/main" id="{0B2AEC0D-A8B2-F9C4-9236-8738CFC9F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104" y="2899964"/>
            <a:ext cx="4204085" cy="2523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A096472-9248-3C12-F8F6-5D39FABA7446}"/>
              </a:ext>
            </a:extLst>
          </p:cNvPr>
          <p:cNvSpPr/>
          <p:nvPr/>
        </p:nvSpPr>
        <p:spPr>
          <a:xfrm>
            <a:off x="7604533" y="5609725"/>
            <a:ext cx="3833226" cy="323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随机梯度下降相比梯度下降</a:t>
            </a:r>
            <a:endParaRPr lang="zh-CN" altLang="en-US" sz="1600" b="1" i="0" dirty="0">
              <a:solidFill>
                <a:srgbClr val="C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6239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带动量的梯度下降法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80999" y="1012121"/>
            <a:ext cx="11811001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背景：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r="50716"/>
          <a:stretch>
            <a:fillRect/>
          </a:stretch>
        </p:blipFill>
        <p:spPr>
          <a:xfrm>
            <a:off x="3643496" y="1492433"/>
            <a:ext cx="4258377" cy="221010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858440" y="3982515"/>
            <a:ext cx="34988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>
                <a:solidFill>
                  <a:srgbClr val="07070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当目标函数的等高线呈现出狭长的椭圆形时，梯度下降法容易出现“之字形”的震荡行为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77EA54-BC49-022B-043E-68935682543F}"/>
              </a:ext>
            </a:extLst>
          </p:cNvPr>
          <p:cNvSpPr txBox="1"/>
          <p:nvPr/>
        </p:nvSpPr>
        <p:spPr>
          <a:xfrm>
            <a:off x="7901873" y="2319034"/>
            <a:ext cx="4104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/>
              <a:t>等高线必须和梯度方向垂直！</a:t>
            </a:r>
            <a:endParaRPr lang="en-US" altLang="zh-CN" sz="2000" dirty="0"/>
          </a:p>
          <a:p>
            <a:pPr algn="l"/>
            <a:r>
              <a:rPr lang="zh-CN" altLang="en-US" sz="2000" dirty="0"/>
              <a:t>如果太扁，梯度方向离中心的最小值越远！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带动量的梯度下降法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80999" y="1012121"/>
            <a:ext cx="11811001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动量法：每次更新时，不仅考虑当前的梯度方向，还要继承之前更新的方向。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575556" y="2220106"/>
                <a:ext cx="4349750" cy="2310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参数更新公式：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∇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𝜃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𝜇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−1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−1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−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𝜂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556" y="2220106"/>
                <a:ext cx="4349750" cy="2310184"/>
              </a:xfrm>
              <a:prstGeom prst="rect">
                <a:avLst/>
              </a:prstGeom>
              <a:blipFill>
                <a:blip r:embed="rId2"/>
                <a:stretch>
                  <a:fillRect l="-2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自适应优化方法</a:t>
            </a:r>
            <a:r>
              <a:rPr lang="en-US" altLang="zh-CN" dirty="0"/>
              <a:t>: </a:t>
            </a:r>
            <a:r>
              <a:rPr lang="en-US" altLang="zh-CN" dirty="0" err="1"/>
              <a:t>Adagrad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81000" y="1012121"/>
            <a:ext cx="11429516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自适应优化算法：能够根据数据特征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自动调整学习率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的优化算法。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8147050" y="2604298"/>
                <a:ext cx="3937000" cy="2428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参数更新公式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(</a:t>
                </a:r>
                <a:r>
                  <a:rPr kumimoji="0" lang="en-US" altLang="zh-CN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Adagrad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)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：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∇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𝜃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𝑛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𝑛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−1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+</m:t>
                      </m:r>
                      <m:sSubSup>
                        <m:sSub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−1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−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𝜂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radPr>
                        <m:deg/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𝜖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𝑛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33984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050" y="2604298"/>
                <a:ext cx="3937000" cy="2428870"/>
              </a:xfrm>
              <a:prstGeom prst="rect">
                <a:avLst/>
              </a:prstGeom>
              <a:blipFill>
                <a:blip r:embed="rId3"/>
                <a:stretch>
                  <a:fillRect l="-22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98878724-0BBC-BD05-8AF7-F6D989F9540A}"/>
              </a:ext>
            </a:extLst>
          </p:cNvPr>
          <p:cNvSpPr txBox="1"/>
          <p:nvPr/>
        </p:nvSpPr>
        <p:spPr>
          <a:xfrm>
            <a:off x="1067457" y="5486399"/>
            <a:ext cx="8299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思考：有动量方法，有自适应学习率，下一步怎么弄？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2CA2EF8-512A-92C0-546E-B3C4E2EF9D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6843"/>
            <a:ext cx="7870586" cy="278749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AA441-0398-A08D-1AED-EAB912864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015D67E-DF7B-0ADB-4C26-5FC2E6F3F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Adam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优化算法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3C4D8A-CAF7-B832-45D0-9E04CAB323D7}"/>
              </a:ext>
            </a:extLst>
          </p:cNvPr>
          <p:cNvSpPr txBox="1"/>
          <p:nvPr/>
        </p:nvSpPr>
        <p:spPr>
          <a:xfrm>
            <a:off x="211015" y="1007628"/>
            <a:ext cx="11312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zh-CN" sz="2000" b="1" i="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Adam</a:t>
            </a:r>
            <a:r>
              <a:rPr lang="zh-CN" altLang="en" sz="2000" b="1" i="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" altLang="zh-CN" sz="2000" b="1" i="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Adaptive Moment Estimation</a:t>
            </a:r>
            <a:r>
              <a:rPr lang="zh-CN" altLang="en" sz="2000" b="1" i="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是目前深度学习中最常用的优化算法之一，它结合了动量（</a:t>
            </a:r>
            <a:r>
              <a:rPr lang="en" altLang="zh-C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Momentum</a:t>
            </a:r>
            <a:r>
              <a:rPr lang="zh-CN" altLang="e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和自适应学习率调整（</a:t>
            </a:r>
            <a:r>
              <a:rPr lang="en" altLang="zh-C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Adaptive Learning Rate</a:t>
            </a:r>
            <a:r>
              <a:rPr lang="zh-CN" altLang="e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的思想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，可以</a:t>
            </a:r>
            <a:r>
              <a:rPr lang="zh-CN" altLang="en-US" sz="2000" b="1" i="0" dirty="0">
                <a:solidFill>
                  <a:srgbClr val="B6151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加速优化</a:t>
            </a:r>
            <a:endParaRPr kumimoji="1" lang="zh-CN" altLang="en-US" sz="2000" b="1" dirty="0">
              <a:solidFill>
                <a:srgbClr val="B6151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85" name="文本框 9684">
                <a:extLst>
                  <a:ext uri="{FF2B5EF4-FFF2-40B4-BE49-F238E27FC236}">
                    <a16:creationId xmlns:a16="http://schemas.microsoft.com/office/drawing/2014/main" id="{14EE846E-EFC3-379C-398A-9DF8DBC94909}"/>
                  </a:ext>
                </a:extLst>
              </p:cNvPr>
              <p:cNvSpPr txBox="1"/>
              <p:nvPr/>
            </p:nvSpPr>
            <p:spPr>
              <a:xfrm>
                <a:off x="98281" y="4157602"/>
                <a:ext cx="9134424" cy="1969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spcBef>
                    <a:spcPts val="1200"/>
                  </a:spcBef>
                </a:pPr>
                <a:endParaRPr lang="en-US" altLang="zh-CN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 algn="l">
                  <a:spcBef>
                    <a:spcPts val="1200"/>
                  </a:spcBef>
                  <a:spcAft>
                    <a:spcPts val="1200"/>
                  </a:spcAft>
                  <a:buFont typeface="Wingdings" pitchFamily="2" charset="2"/>
                  <a:buChar char="p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是当前梯度</a:t>
                </a:r>
                <a:endParaRPr lang="en-US" altLang="zh-CN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 algn="l">
                  <a:spcBef>
                    <a:spcPts val="1200"/>
                  </a:spcBef>
                  <a:spcAft>
                    <a:spcPts val="1200"/>
                  </a:spcAft>
                  <a:buFont typeface="Wingdings" pitchFamily="2" charset="2"/>
                  <a:buChar char="p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​ 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是一阶动量（梯度的指数加权平均）</a:t>
                </a:r>
                <a:r>
                  <a:rPr lang="en-US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是二阶动量（梯度平方的指数加权平均）</a:t>
                </a:r>
                <a:endParaRPr lang="en-US" altLang="zh-CN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 algn="l">
                  <a:spcBef>
                    <a:spcPts val="1200"/>
                  </a:spcBef>
                  <a:spcAft>
                    <a:spcPts val="1200"/>
                  </a:spcAft>
                  <a:buFont typeface="Wingdings" pitchFamily="2" charset="2"/>
                  <a:buChar char="p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​ 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是超参数，通常取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=</a:t>
                </a:r>
                <a:r>
                  <a:rPr lang="en-US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0.9</a:t>
                </a:r>
                <a:r>
                  <a:rPr lang="zh-CN" altLang="el-GR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=</a:t>
                </a:r>
                <a:r>
                  <a:rPr lang="en-US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0.999</a:t>
                </a:r>
                <a:endParaRPr lang="zh-CN" altLang="el-GR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685" name="文本框 9684">
                <a:extLst>
                  <a:ext uri="{FF2B5EF4-FFF2-40B4-BE49-F238E27FC236}">
                    <a16:creationId xmlns:a16="http://schemas.microsoft.com/office/drawing/2014/main" id="{14EE846E-EFC3-379C-398A-9DF8DBC94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1" y="4157602"/>
                <a:ext cx="9134424" cy="1969770"/>
              </a:xfrm>
              <a:prstGeom prst="rect">
                <a:avLst/>
              </a:prstGeom>
              <a:blipFill>
                <a:blip r:embed="rId87"/>
                <a:stretch>
                  <a:fillRect l="-416"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88" name="组合 10087" descr="\documentclass{article}&#10;\usepackage{amsmath}&#10;\pagestyle{empty}&#10;\begin{document}&#10;&#10;$$&#10;\begin{gathered}&#10;m_t=\beta_1  m_{t-1}+\left(1-\beta_1\right) g_t \\&#10;v_t=\beta_2  v_{t-1}+\left(1-\beta_2\right) g_t^2 \\&#10;\hat{m}_t=m_t /\left(1-\beta_1^t\right) \\&#10;\hat{v}_t=v_t /\left(1-\beta_2^t\right) \\&#10;\theta=\theta-\eta \frac{\hat{m}_t} {\sqrt{\left(\hat{v}_t+\varepsilon\right)}}&#10;\end{gathered}&#10;$$&#10;&#10;\end{document}" title="IguanaTex Vector Display">
            <a:extLst>
              <a:ext uri="{FF2B5EF4-FFF2-40B4-BE49-F238E27FC236}">
                <a16:creationId xmlns:a16="http://schemas.microsoft.com/office/drawing/2014/main" id="{57260D50-D6C5-8821-136E-365EF6060AE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865191" y="1961163"/>
            <a:ext cx="3321948" cy="2591945"/>
            <a:chOff x="6227101" y="3900848"/>
            <a:chExt cx="3601134" cy="2809780"/>
          </a:xfrm>
        </p:grpSpPr>
        <p:sp>
          <p:nvSpPr>
            <p:cNvPr id="10005" name="任意形状 10004">
              <a:extLst>
                <a:ext uri="{FF2B5EF4-FFF2-40B4-BE49-F238E27FC236}">
                  <a16:creationId xmlns:a16="http://schemas.microsoft.com/office/drawing/2014/main" id="{398572A9-FD4A-2794-CA73-FFACE4CA9C4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6227101" y="3998580"/>
              <a:ext cx="257618" cy="143741"/>
            </a:xfrm>
            <a:custGeom>
              <a:avLst/>
              <a:gdLst>
                <a:gd name="connsiteX0" fmla="*/ 18735 w 257618"/>
                <a:gd name="connsiteY0" fmla="*/ 121602 h 143741"/>
                <a:gd name="connsiteX1" fmla="*/ 15904 w 257618"/>
                <a:gd name="connsiteY1" fmla="*/ 135247 h 143741"/>
                <a:gd name="connsiteX2" fmla="*/ 25026 w 257618"/>
                <a:gd name="connsiteY2" fmla="*/ 143814 h 143741"/>
                <a:gd name="connsiteX3" fmla="*/ 36664 w 257618"/>
                <a:gd name="connsiteY3" fmla="*/ 134929 h 143741"/>
                <a:gd name="connsiteX4" fmla="*/ 42641 w 257618"/>
                <a:gd name="connsiteY4" fmla="*/ 111448 h 143741"/>
                <a:gd name="connsiteX5" fmla="*/ 49561 w 257618"/>
                <a:gd name="connsiteY5" fmla="*/ 82890 h 143741"/>
                <a:gd name="connsiteX6" fmla="*/ 54908 w 257618"/>
                <a:gd name="connsiteY6" fmla="*/ 61631 h 143741"/>
                <a:gd name="connsiteX7" fmla="*/ 58997 w 257618"/>
                <a:gd name="connsiteY7" fmla="*/ 45765 h 143741"/>
                <a:gd name="connsiteX8" fmla="*/ 110269 w 257618"/>
                <a:gd name="connsiteY8" fmla="*/ 7053 h 143741"/>
                <a:gd name="connsiteX9" fmla="*/ 127255 w 257618"/>
                <a:gd name="connsiteY9" fmla="*/ 29265 h 143741"/>
                <a:gd name="connsiteX10" fmla="*/ 122537 w 257618"/>
                <a:gd name="connsiteY10" fmla="*/ 55602 h 143741"/>
                <a:gd name="connsiteX11" fmla="*/ 113729 w 257618"/>
                <a:gd name="connsiteY11" fmla="*/ 92410 h 143741"/>
                <a:gd name="connsiteX12" fmla="*/ 107438 w 257618"/>
                <a:gd name="connsiteY12" fmla="*/ 116525 h 143741"/>
                <a:gd name="connsiteX13" fmla="*/ 103349 w 257618"/>
                <a:gd name="connsiteY13" fmla="*/ 135247 h 143741"/>
                <a:gd name="connsiteX14" fmla="*/ 112471 w 257618"/>
                <a:gd name="connsiteY14" fmla="*/ 143814 h 143741"/>
                <a:gd name="connsiteX15" fmla="*/ 126626 w 257618"/>
                <a:gd name="connsiteY15" fmla="*/ 125727 h 143741"/>
                <a:gd name="connsiteX16" fmla="*/ 145499 w 257618"/>
                <a:gd name="connsiteY16" fmla="*/ 49255 h 143741"/>
                <a:gd name="connsiteX17" fmla="*/ 197400 w 257618"/>
                <a:gd name="connsiteY17" fmla="*/ 7053 h 143741"/>
                <a:gd name="connsiteX18" fmla="*/ 214386 w 257618"/>
                <a:gd name="connsiteY18" fmla="*/ 29265 h 143741"/>
                <a:gd name="connsiteX19" fmla="*/ 194884 w 257618"/>
                <a:gd name="connsiteY19" fmla="*/ 100342 h 143741"/>
                <a:gd name="connsiteX20" fmla="*/ 190795 w 257618"/>
                <a:gd name="connsiteY20" fmla="*/ 117795 h 143741"/>
                <a:gd name="connsiteX21" fmla="*/ 216588 w 257618"/>
                <a:gd name="connsiteY21" fmla="*/ 143814 h 143741"/>
                <a:gd name="connsiteX22" fmla="*/ 257794 w 257618"/>
                <a:gd name="connsiteY22" fmla="*/ 94948 h 143741"/>
                <a:gd name="connsiteX23" fmla="*/ 254020 w 257618"/>
                <a:gd name="connsiteY23" fmla="*/ 91775 h 143741"/>
                <a:gd name="connsiteX24" fmla="*/ 249301 w 257618"/>
                <a:gd name="connsiteY24" fmla="*/ 97487 h 143741"/>
                <a:gd name="connsiteX25" fmla="*/ 217217 w 257618"/>
                <a:gd name="connsiteY25" fmla="*/ 136833 h 143741"/>
                <a:gd name="connsiteX26" fmla="*/ 209668 w 257618"/>
                <a:gd name="connsiteY26" fmla="*/ 126362 h 143741"/>
                <a:gd name="connsiteX27" fmla="*/ 215330 w 257618"/>
                <a:gd name="connsiteY27" fmla="*/ 103833 h 143741"/>
                <a:gd name="connsiteX28" fmla="*/ 234517 w 257618"/>
                <a:gd name="connsiteY28" fmla="*/ 34024 h 143741"/>
                <a:gd name="connsiteX29" fmla="*/ 198344 w 257618"/>
                <a:gd name="connsiteY29" fmla="*/ 72 h 143741"/>
                <a:gd name="connsiteX30" fmla="*/ 147072 w 257618"/>
                <a:gd name="connsiteY30" fmla="*/ 30851 h 143741"/>
                <a:gd name="connsiteX31" fmla="*/ 137006 w 257618"/>
                <a:gd name="connsiteY31" fmla="*/ 8322 h 143741"/>
                <a:gd name="connsiteX32" fmla="*/ 111213 w 257618"/>
                <a:gd name="connsiteY32" fmla="*/ 72 h 143741"/>
                <a:gd name="connsiteX33" fmla="*/ 62143 w 257618"/>
                <a:gd name="connsiteY33" fmla="*/ 27678 h 143741"/>
                <a:gd name="connsiteX34" fmla="*/ 33204 w 257618"/>
                <a:gd name="connsiteY34" fmla="*/ 72 h 143741"/>
                <a:gd name="connsiteX35" fmla="*/ 9927 w 257618"/>
                <a:gd name="connsiteY35" fmla="*/ 18159 h 143741"/>
                <a:gd name="connsiteX36" fmla="*/ 176 w 257618"/>
                <a:gd name="connsiteY36" fmla="*/ 48938 h 143741"/>
                <a:gd name="connsiteX37" fmla="*/ 3951 w 257618"/>
                <a:gd name="connsiteY37" fmla="*/ 52111 h 143741"/>
                <a:gd name="connsiteX38" fmla="*/ 9298 w 257618"/>
                <a:gd name="connsiteY38" fmla="*/ 44813 h 143741"/>
                <a:gd name="connsiteX39" fmla="*/ 32260 w 257618"/>
                <a:gd name="connsiteY39" fmla="*/ 7053 h 143741"/>
                <a:gd name="connsiteX40" fmla="*/ 42011 w 257618"/>
                <a:gd name="connsiteY40" fmla="*/ 21649 h 143741"/>
                <a:gd name="connsiteX41" fmla="*/ 36979 w 257618"/>
                <a:gd name="connsiteY41" fmla="*/ 48303 h 143741"/>
                <a:gd name="connsiteX42" fmla="*/ 18735 w 257618"/>
                <a:gd name="connsiteY42" fmla="*/ 121602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7618" h="143741">
                  <a:moveTo>
                    <a:pt x="18735" y="121602"/>
                  </a:moveTo>
                  <a:cubicBezTo>
                    <a:pt x="17791" y="126362"/>
                    <a:pt x="15904" y="133660"/>
                    <a:pt x="15904" y="135247"/>
                  </a:cubicBezTo>
                  <a:cubicBezTo>
                    <a:pt x="15904" y="140958"/>
                    <a:pt x="20307" y="143814"/>
                    <a:pt x="25026" y="143814"/>
                  </a:cubicBezTo>
                  <a:cubicBezTo>
                    <a:pt x="28800" y="143814"/>
                    <a:pt x="34462" y="141276"/>
                    <a:pt x="36664" y="134929"/>
                  </a:cubicBezTo>
                  <a:cubicBezTo>
                    <a:pt x="36979" y="134295"/>
                    <a:pt x="40753" y="119381"/>
                    <a:pt x="42641" y="111448"/>
                  </a:cubicBezTo>
                  <a:lnTo>
                    <a:pt x="49561" y="82890"/>
                  </a:lnTo>
                  <a:cubicBezTo>
                    <a:pt x="51448" y="75910"/>
                    <a:pt x="53335" y="68929"/>
                    <a:pt x="54908" y="61631"/>
                  </a:cubicBezTo>
                  <a:cubicBezTo>
                    <a:pt x="56166" y="56236"/>
                    <a:pt x="58683" y="47034"/>
                    <a:pt x="58997" y="45765"/>
                  </a:cubicBezTo>
                  <a:cubicBezTo>
                    <a:pt x="63716" y="35928"/>
                    <a:pt x="80387" y="7053"/>
                    <a:pt x="110269" y="7053"/>
                  </a:cubicBezTo>
                  <a:cubicBezTo>
                    <a:pt x="124424" y="7053"/>
                    <a:pt x="127255" y="18794"/>
                    <a:pt x="127255" y="29265"/>
                  </a:cubicBezTo>
                  <a:cubicBezTo>
                    <a:pt x="127255" y="37198"/>
                    <a:pt x="125053" y="46082"/>
                    <a:pt x="122537" y="55602"/>
                  </a:cubicBezTo>
                  <a:lnTo>
                    <a:pt x="113729" y="92410"/>
                  </a:lnTo>
                  <a:lnTo>
                    <a:pt x="107438" y="116525"/>
                  </a:lnTo>
                  <a:cubicBezTo>
                    <a:pt x="106180" y="122872"/>
                    <a:pt x="103349" y="133660"/>
                    <a:pt x="103349" y="135247"/>
                  </a:cubicBezTo>
                  <a:cubicBezTo>
                    <a:pt x="103349" y="140958"/>
                    <a:pt x="107753" y="143814"/>
                    <a:pt x="112471" y="143814"/>
                  </a:cubicBezTo>
                  <a:cubicBezTo>
                    <a:pt x="122222" y="143814"/>
                    <a:pt x="124110" y="135881"/>
                    <a:pt x="126626" y="125727"/>
                  </a:cubicBezTo>
                  <a:cubicBezTo>
                    <a:pt x="131030" y="107958"/>
                    <a:pt x="142668" y="61631"/>
                    <a:pt x="145499" y="49255"/>
                  </a:cubicBezTo>
                  <a:cubicBezTo>
                    <a:pt x="146443" y="45130"/>
                    <a:pt x="163114" y="7053"/>
                    <a:pt x="197400" y="7053"/>
                  </a:cubicBezTo>
                  <a:cubicBezTo>
                    <a:pt x="210926" y="7053"/>
                    <a:pt x="214386" y="17842"/>
                    <a:pt x="214386" y="29265"/>
                  </a:cubicBezTo>
                  <a:cubicBezTo>
                    <a:pt x="214386" y="47351"/>
                    <a:pt x="201175" y="83525"/>
                    <a:pt x="194884" y="100342"/>
                  </a:cubicBezTo>
                  <a:cubicBezTo>
                    <a:pt x="192053" y="107958"/>
                    <a:pt x="190795" y="111448"/>
                    <a:pt x="190795" y="117795"/>
                  </a:cubicBezTo>
                  <a:cubicBezTo>
                    <a:pt x="190795" y="132708"/>
                    <a:pt x="201804" y="143814"/>
                    <a:pt x="216588" y="143814"/>
                  </a:cubicBezTo>
                  <a:cubicBezTo>
                    <a:pt x="246156" y="143814"/>
                    <a:pt x="257794" y="97487"/>
                    <a:pt x="257794" y="94948"/>
                  </a:cubicBezTo>
                  <a:cubicBezTo>
                    <a:pt x="257794" y="91775"/>
                    <a:pt x="254963" y="91775"/>
                    <a:pt x="254020" y="91775"/>
                  </a:cubicBezTo>
                  <a:cubicBezTo>
                    <a:pt x="250874" y="91775"/>
                    <a:pt x="250874" y="92727"/>
                    <a:pt x="249301" y="97487"/>
                  </a:cubicBezTo>
                  <a:cubicBezTo>
                    <a:pt x="244583" y="114304"/>
                    <a:pt x="234517" y="136833"/>
                    <a:pt x="217217" y="136833"/>
                  </a:cubicBezTo>
                  <a:cubicBezTo>
                    <a:pt x="211870" y="136833"/>
                    <a:pt x="209668" y="133660"/>
                    <a:pt x="209668" y="126362"/>
                  </a:cubicBezTo>
                  <a:cubicBezTo>
                    <a:pt x="209668" y="118429"/>
                    <a:pt x="212499" y="110814"/>
                    <a:pt x="215330" y="103833"/>
                  </a:cubicBezTo>
                  <a:cubicBezTo>
                    <a:pt x="221306" y="87333"/>
                    <a:pt x="234517" y="52111"/>
                    <a:pt x="234517" y="34024"/>
                  </a:cubicBezTo>
                  <a:cubicBezTo>
                    <a:pt x="234517" y="13399"/>
                    <a:pt x="221935" y="72"/>
                    <a:pt x="198344" y="72"/>
                  </a:cubicBezTo>
                  <a:cubicBezTo>
                    <a:pt x="174752" y="72"/>
                    <a:pt x="158710" y="14034"/>
                    <a:pt x="147072" y="30851"/>
                  </a:cubicBezTo>
                  <a:cubicBezTo>
                    <a:pt x="146757" y="26726"/>
                    <a:pt x="145814" y="15938"/>
                    <a:pt x="137006" y="8322"/>
                  </a:cubicBezTo>
                  <a:cubicBezTo>
                    <a:pt x="129142" y="1659"/>
                    <a:pt x="119077" y="72"/>
                    <a:pt x="111213" y="72"/>
                  </a:cubicBezTo>
                  <a:cubicBezTo>
                    <a:pt x="82903" y="72"/>
                    <a:pt x="67490" y="20380"/>
                    <a:pt x="62143" y="27678"/>
                  </a:cubicBezTo>
                  <a:cubicBezTo>
                    <a:pt x="60570" y="9591"/>
                    <a:pt x="47359" y="72"/>
                    <a:pt x="33204" y="72"/>
                  </a:cubicBezTo>
                  <a:cubicBezTo>
                    <a:pt x="18735" y="72"/>
                    <a:pt x="12758" y="12447"/>
                    <a:pt x="9927" y="18159"/>
                  </a:cubicBezTo>
                  <a:cubicBezTo>
                    <a:pt x="4265" y="29265"/>
                    <a:pt x="176" y="47986"/>
                    <a:pt x="176" y="48938"/>
                  </a:cubicBezTo>
                  <a:cubicBezTo>
                    <a:pt x="176" y="52111"/>
                    <a:pt x="3322" y="52111"/>
                    <a:pt x="3951" y="52111"/>
                  </a:cubicBezTo>
                  <a:cubicBezTo>
                    <a:pt x="7096" y="52111"/>
                    <a:pt x="7411" y="51794"/>
                    <a:pt x="9298" y="44813"/>
                  </a:cubicBezTo>
                  <a:cubicBezTo>
                    <a:pt x="14645" y="22284"/>
                    <a:pt x="20936" y="7053"/>
                    <a:pt x="32260" y="7053"/>
                  </a:cubicBezTo>
                  <a:cubicBezTo>
                    <a:pt x="37293" y="7053"/>
                    <a:pt x="42011" y="9591"/>
                    <a:pt x="42011" y="21649"/>
                  </a:cubicBezTo>
                  <a:cubicBezTo>
                    <a:pt x="42011" y="28313"/>
                    <a:pt x="41068" y="31803"/>
                    <a:pt x="36979" y="48303"/>
                  </a:cubicBezTo>
                  <a:lnTo>
                    <a:pt x="18735" y="121602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06" name="任意形状 10005">
              <a:extLst>
                <a:ext uri="{FF2B5EF4-FFF2-40B4-BE49-F238E27FC236}">
                  <a16:creationId xmlns:a16="http://schemas.microsoft.com/office/drawing/2014/main" id="{16105B65-4766-015A-0DC7-703F900B20BF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503408" y="4047604"/>
              <a:ext cx="74423" cy="141044"/>
            </a:xfrm>
            <a:custGeom>
              <a:avLst/>
              <a:gdLst>
                <a:gd name="connsiteX0" fmla="*/ 45103 w 74423"/>
                <a:gd name="connsiteY0" fmla="*/ 51161 h 141044"/>
                <a:gd name="connsiteX1" fmla="*/ 67562 w 74423"/>
                <a:gd name="connsiteY1" fmla="*/ 51161 h 141044"/>
                <a:gd name="connsiteX2" fmla="*/ 74608 w 74423"/>
                <a:gd name="connsiteY2" fmla="*/ 46274 h 141044"/>
                <a:gd name="connsiteX3" fmla="*/ 68002 w 74423"/>
                <a:gd name="connsiteY3" fmla="*/ 43164 h 141044"/>
                <a:gd name="connsiteX4" fmla="*/ 47084 w 74423"/>
                <a:gd name="connsiteY4" fmla="*/ 43164 h 141044"/>
                <a:gd name="connsiteX5" fmla="*/ 55231 w 74423"/>
                <a:gd name="connsiteY5" fmla="*/ 10291 h 141044"/>
                <a:gd name="connsiteX6" fmla="*/ 55892 w 74423"/>
                <a:gd name="connsiteY6" fmla="*/ 7181 h 141044"/>
                <a:gd name="connsiteX7" fmla="*/ 48406 w 74423"/>
                <a:gd name="connsiteY7" fmla="*/ 74 h 141044"/>
                <a:gd name="connsiteX8" fmla="*/ 38057 w 74423"/>
                <a:gd name="connsiteY8" fmla="*/ 9625 h 141044"/>
                <a:gd name="connsiteX9" fmla="*/ 29690 w 74423"/>
                <a:gd name="connsiteY9" fmla="*/ 43164 h 141044"/>
                <a:gd name="connsiteX10" fmla="*/ 7231 w 74423"/>
                <a:gd name="connsiteY10" fmla="*/ 43164 h 141044"/>
                <a:gd name="connsiteX11" fmla="*/ 185 w 74423"/>
                <a:gd name="connsiteY11" fmla="*/ 48051 h 141044"/>
                <a:gd name="connsiteX12" fmla="*/ 6790 w 74423"/>
                <a:gd name="connsiteY12" fmla="*/ 51161 h 141044"/>
                <a:gd name="connsiteX13" fmla="*/ 27708 w 74423"/>
                <a:gd name="connsiteY13" fmla="*/ 51161 h 141044"/>
                <a:gd name="connsiteX14" fmla="*/ 14717 w 74423"/>
                <a:gd name="connsiteY14" fmla="*/ 103581 h 141044"/>
                <a:gd name="connsiteX15" fmla="*/ 11414 w 74423"/>
                <a:gd name="connsiteY15" fmla="*/ 120017 h 141044"/>
                <a:gd name="connsiteX16" fmla="*/ 34974 w 74423"/>
                <a:gd name="connsiteY16" fmla="*/ 141118 h 141044"/>
                <a:gd name="connsiteX17" fmla="*/ 73287 w 74423"/>
                <a:gd name="connsiteY17" fmla="*/ 107134 h 141044"/>
                <a:gd name="connsiteX18" fmla="*/ 69764 w 74423"/>
                <a:gd name="connsiteY18" fmla="*/ 104247 h 141044"/>
                <a:gd name="connsiteX19" fmla="*/ 65140 w 74423"/>
                <a:gd name="connsiteY19" fmla="*/ 108467 h 141044"/>
                <a:gd name="connsiteX20" fmla="*/ 35635 w 74423"/>
                <a:gd name="connsiteY20" fmla="*/ 134899 h 141044"/>
                <a:gd name="connsiteX21" fmla="*/ 27928 w 74423"/>
                <a:gd name="connsiteY21" fmla="*/ 124015 h 141044"/>
                <a:gd name="connsiteX22" fmla="*/ 29249 w 74423"/>
                <a:gd name="connsiteY22" fmla="*/ 114909 h 141044"/>
                <a:gd name="connsiteX23" fmla="*/ 45103 w 74423"/>
                <a:gd name="connsiteY23" fmla="*/ 51161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03" y="51161"/>
                  </a:moveTo>
                  <a:lnTo>
                    <a:pt x="67562" y="51161"/>
                  </a:lnTo>
                  <a:cubicBezTo>
                    <a:pt x="71745" y="51161"/>
                    <a:pt x="74608" y="51161"/>
                    <a:pt x="74608" y="46274"/>
                  </a:cubicBezTo>
                  <a:cubicBezTo>
                    <a:pt x="74608" y="43164"/>
                    <a:pt x="71745" y="43164"/>
                    <a:pt x="68002" y="43164"/>
                  </a:cubicBezTo>
                  <a:lnTo>
                    <a:pt x="47084" y="43164"/>
                  </a:lnTo>
                  <a:lnTo>
                    <a:pt x="55231" y="10291"/>
                  </a:lnTo>
                  <a:cubicBezTo>
                    <a:pt x="55452" y="9180"/>
                    <a:pt x="55892" y="8070"/>
                    <a:pt x="55892" y="7181"/>
                  </a:cubicBezTo>
                  <a:cubicBezTo>
                    <a:pt x="55892" y="3183"/>
                    <a:pt x="52809" y="74"/>
                    <a:pt x="48406" y="74"/>
                  </a:cubicBezTo>
                  <a:cubicBezTo>
                    <a:pt x="42901" y="74"/>
                    <a:pt x="39598" y="3850"/>
                    <a:pt x="38057" y="9625"/>
                  </a:cubicBezTo>
                  <a:cubicBezTo>
                    <a:pt x="36516" y="15178"/>
                    <a:pt x="39378" y="4516"/>
                    <a:pt x="29690" y="43164"/>
                  </a:cubicBezTo>
                  <a:lnTo>
                    <a:pt x="7231" y="43164"/>
                  </a:lnTo>
                  <a:cubicBezTo>
                    <a:pt x="3047" y="43164"/>
                    <a:pt x="185" y="43164"/>
                    <a:pt x="185" y="48051"/>
                  </a:cubicBezTo>
                  <a:cubicBezTo>
                    <a:pt x="185" y="51161"/>
                    <a:pt x="2827" y="51161"/>
                    <a:pt x="6790" y="51161"/>
                  </a:cubicBezTo>
                  <a:lnTo>
                    <a:pt x="27708" y="51161"/>
                  </a:lnTo>
                  <a:lnTo>
                    <a:pt x="14717" y="103581"/>
                  </a:lnTo>
                  <a:cubicBezTo>
                    <a:pt x="13396" y="109133"/>
                    <a:pt x="11414" y="117130"/>
                    <a:pt x="11414" y="120017"/>
                  </a:cubicBezTo>
                  <a:cubicBezTo>
                    <a:pt x="11414" y="133122"/>
                    <a:pt x="22424" y="141118"/>
                    <a:pt x="34974" y="141118"/>
                  </a:cubicBezTo>
                  <a:cubicBezTo>
                    <a:pt x="59415" y="141118"/>
                    <a:pt x="73287" y="110022"/>
                    <a:pt x="73287" y="107134"/>
                  </a:cubicBezTo>
                  <a:cubicBezTo>
                    <a:pt x="73287" y="104247"/>
                    <a:pt x="70424" y="104247"/>
                    <a:pt x="69764" y="104247"/>
                  </a:cubicBezTo>
                  <a:cubicBezTo>
                    <a:pt x="67121" y="104247"/>
                    <a:pt x="66901" y="104691"/>
                    <a:pt x="65140" y="108467"/>
                  </a:cubicBezTo>
                  <a:cubicBezTo>
                    <a:pt x="58975" y="122461"/>
                    <a:pt x="47745" y="134899"/>
                    <a:pt x="35635" y="134899"/>
                  </a:cubicBezTo>
                  <a:cubicBezTo>
                    <a:pt x="31011" y="134899"/>
                    <a:pt x="27928" y="132012"/>
                    <a:pt x="27928" y="124015"/>
                  </a:cubicBezTo>
                  <a:cubicBezTo>
                    <a:pt x="27928" y="121794"/>
                    <a:pt x="28809" y="117130"/>
                    <a:pt x="29249" y="114909"/>
                  </a:cubicBezTo>
                  <a:lnTo>
                    <a:pt x="45103" y="51161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07" name="任意形状 10006">
              <a:extLst>
                <a:ext uri="{FF2B5EF4-FFF2-40B4-BE49-F238E27FC236}">
                  <a16:creationId xmlns:a16="http://schemas.microsoft.com/office/drawing/2014/main" id="{C5ED9839-C595-34DC-0FB9-DA24BA538E5C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709898" y="4022378"/>
              <a:ext cx="209177" cy="74250"/>
            </a:xfrm>
            <a:custGeom>
              <a:avLst/>
              <a:gdLst>
                <a:gd name="connsiteX0" fmla="*/ 198673 w 209177"/>
                <a:gd name="connsiteY0" fmla="*/ 12765 h 74250"/>
                <a:gd name="connsiteX1" fmla="*/ 209368 w 209177"/>
                <a:gd name="connsiteY1" fmla="*/ 6418 h 74250"/>
                <a:gd name="connsiteX2" fmla="*/ 198988 w 209177"/>
                <a:gd name="connsiteY2" fmla="*/ 72 h 74250"/>
                <a:gd name="connsiteX3" fmla="*/ 10571 w 209177"/>
                <a:gd name="connsiteY3" fmla="*/ 72 h 74250"/>
                <a:gd name="connsiteX4" fmla="*/ 191 w 209177"/>
                <a:gd name="connsiteY4" fmla="*/ 6418 h 74250"/>
                <a:gd name="connsiteX5" fmla="*/ 10886 w 209177"/>
                <a:gd name="connsiteY5" fmla="*/ 12765 h 74250"/>
                <a:gd name="connsiteX6" fmla="*/ 198673 w 209177"/>
                <a:gd name="connsiteY6" fmla="*/ 12765 h 74250"/>
                <a:gd name="connsiteX7" fmla="*/ 198988 w 209177"/>
                <a:gd name="connsiteY7" fmla="*/ 74323 h 74250"/>
                <a:gd name="connsiteX8" fmla="*/ 209368 w 209177"/>
                <a:gd name="connsiteY8" fmla="*/ 67977 h 74250"/>
                <a:gd name="connsiteX9" fmla="*/ 198673 w 209177"/>
                <a:gd name="connsiteY9" fmla="*/ 61631 h 74250"/>
                <a:gd name="connsiteX10" fmla="*/ 10886 w 209177"/>
                <a:gd name="connsiteY10" fmla="*/ 61631 h 74250"/>
                <a:gd name="connsiteX11" fmla="*/ 191 w 209177"/>
                <a:gd name="connsiteY11" fmla="*/ 67977 h 74250"/>
                <a:gd name="connsiteX12" fmla="*/ 10571 w 209177"/>
                <a:gd name="connsiteY12" fmla="*/ 74323 h 74250"/>
                <a:gd name="connsiteX13" fmla="*/ 198988 w 209177"/>
                <a:gd name="connsiteY13" fmla="*/ 74323 h 7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177" h="74250">
                  <a:moveTo>
                    <a:pt x="198673" y="12765"/>
                  </a:moveTo>
                  <a:cubicBezTo>
                    <a:pt x="203392" y="12765"/>
                    <a:pt x="209368" y="12765"/>
                    <a:pt x="209368" y="6418"/>
                  </a:cubicBezTo>
                  <a:cubicBezTo>
                    <a:pt x="209368" y="72"/>
                    <a:pt x="203392" y="72"/>
                    <a:pt x="198988" y="72"/>
                  </a:cubicBezTo>
                  <a:lnTo>
                    <a:pt x="10571" y="72"/>
                  </a:lnTo>
                  <a:cubicBezTo>
                    <a:pt x="6168" y="72"/>
                    <a:pt x="191" y="72"/>
                    <a:pt x="191" y="6418"/>
                  </a:cubicBezTo>
                  <a:cubicBezTo>
                    <a:pt x="191" y="12765"/>
                    <a:pt x="6168" y="12765"/>
                    <a:pt x="10886" y="12765"/>
                  </a:cubicBezTo>
                  <a:lnTo>
                    <a:pt x="198673" y="12765"/>
                  </a:lnTo>
                  <a:close/>
                  <a:moveTo>
                    <a:pt x="198988" y="74323"/>
                  </a:moveTo>
                  <a:cubicBezTo>
                    <a:pt x="203392" y="74323"/>
                    <a:pt x="209368" y="74323"/>
                    <a:pt x="209368" y="67977"/>
                  </a:cubicBezTo>
                  <a:cubicBezTo>
                    <a:pt x="209368" y="61631"/>
                    <a:pt x="203392" y="61631"/>
                    <a:pt x="198673" y="61631"/>
                  </a:cubicBezTo>
                  <a:lnTo>
                    <a:pt x="10886" y="61631"/>
                  </a:lnTo>
                  <a:cubicBezTo>
                    <a:pt x="6168" y="61631"/>
                    <a:pt x="191" y="61631"/>
                    <a:pt x="191" y="67977"/>
                  </a:cubicBezTo>
                  <a:cubicBezTo>
                    <a:pt x="191" y="74323"/>
                    <a:pt x="6168" y="74323"/>
                    <a:pt x="10571" y="74323"/>
                  </a:cubicBezTo>
                  <a:lnTo>
                    <a:pt x="198988" y="7432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08" name="任意形状 10007">
              <a:extLst>
                <a:ext uri="{FF2B5EF4-FFF2-40B4-BE49-F238E27FC236}">
                  <a16:creationId xmlns:a16="http://schemas.microsoft.com/office/drawing/2014/main" id="{BD4B6E28-E17B-A37D-F18B-F25C95E15BB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7033705" y="3914810"/>
              <a:ext cx="171470" cy="285580"/>
            </a:xfrm>
            <a:custGeom>
              <a:avLst/>
              <a:gdLst>
                <a:gd name="connsiteX0" fmla="*/ 171672 w 171470"/>
                <a:gd name="connsiteY0" fmla="*/ 43544 h 285580"/>
                <a:gd name="connsiteX1" fmla="*/ 128893 w 171470"/>
                <a:gd name="connsiteY1" fmla="*/ 72 h 285580"/>
                <a:gd name="connsiteX2" fmla="*/ 90832 w 171470"/>
                <a:gd name="connsiteY2" fmla="*/ 13399 h 285580"/>
                <a:gd name="connsiteX3" fmla="*/ 50255 w 171470"/>
                <a:gd name="connsiteY3" fmla="*/ 80986 h 285580"/>
                <a:gd name="connsiteX4" fmla="*/ 241 w 171470"/>
                <a:gd name="connsiteY4" fmla="*/ 282479 h 285580"/>
                <a:gd name="connsiteX5" fmla="*/ 4016 w 171470"/>
                <a:gd name="connsiteY5" fmla="*/ 285652 h 285580"/>
                <a:gd name="connsiteX6" fmla="*/ 7791 w 171470"/>
                <a:gd name="connsiteY6" fmla="*/ 284066 h 285580"/>
                <a:gd name="connsiteX7" fmla="*/ 29809 w 171470"/>
                <a:gd name="connsiteY7" fmla="*/ 196488 h 285580"/>
                <a:gd name="connsiteX8" fmla="*/ 72588 w 171470"/>
                <a:gd name="connsiteY8" fmla="*/ 227267 h 285580"/>
                <a:gd name="connsiteX9" fmla="*/ 133297 w 171470"/>
                <a:gd name="connsiteY9" fmla="*/ 202199 h 285580"/>
                <a:gd name="connsiteX10" fmla="*/ 158461 w 171470"/>
                <a:gd name="connsiteY10" fmla="*/ 143814 h 285580"/>
                <a:gd name="connsiteX11" fmla="*/ 135499 w 171470"/>
                <a:gd name="connsiteY11" fmla="*/ 96535 h 285580"/>
                <a:gd name="connsiteX12" fmla="*/ 171672 w 171470"/>
                <a:gd name="connsiteY12" fmla="*/ 43544 h 285580"/>
                <a:gd name="connsiteX13" fmla="*/ 115053 w 171470"/>
                <a:gd name="connsiteY13" fmla="*/ 96217 h 285580"/>
                <a:gd name="connsiteX14" fmla="*/ 99954 w 171470"/>
                <a:gd name="connsiteY14" fmla="*/ 98439 h 285580"/>
                <a:gd name="connsiteX15" fmla="*/ 86114 w 171470"/>
                <a:gd name="connsiteY15" fmla="*/ 97169 h 285580"/>
                <a:gd name="connsiteX16" fmla="*/ 101527 w 171470"/>
                <a:gd name="connsiteY16" fmla="*/ 94631 h 285580"/>
                <a:gd name="connsiteX17" fmla="*/ 115053 w 171470"/>
                <a:gd name="connsiteY17" fmla="*/ 96217 h 285580"/>
                <a:gd name="connsiteX18" fmla="*/ 154057 w 171470"/>
                <a:gd name="connsiteY18" fmla="*/ 36246 h 285580"/>
                <a:gd name="connsiteX19" fmla="*/ 125748 w 171470"/>
                <a:gd name="connsiteY19" fmla="*/ 91140 h 285580"/>
                <a:gd name="connsiteX20" fmla="*/ 101527 w 171470"/>
                <a:gd name="connsiteY20" fmla="*/ 87333 h 285580"/>
                <a:gd name="connsiteX21" fmla="*/ 77307 w 171470"/>
                <a:gd name="connsiteY21" fmla="*/ 97487 h 285580"/>
                <a:gd name="connsiteX22" fmla="*/ 99011 w 171470"/>
                <a:gd name="connsiteY22" fmla="*/ 105419 h 285580"/>
                <a:gd name="connsiteX23" fmla="*/ 124804 w 171470"/>
                <a:gd name="connsiteY23" fmla="*/ 101294 h 285580"/>
                <a:gd name="connsiteX24" fmla="*/ 138644 w 171470"/>
                <a:gd name="connsiteY24" fmla="*/ 137151 h 285580"/>
                <a:gd name="connsiteX25" fmla="*/ 122917 w 171470"/>
                <a:gd name="connsiteY25" fmla="*/ 191728 h 285580"/>
                <a:gd name="connsiteX26" fmla="*/ 71645 w 171470"/>
                <a:gd name="connsiteY26" fmla="*/ 220286 h 285580"/>
                <a:gd name="connsiteX27" fmla="*/ 35786 w 171470"/>
                <a:gd name="connsiteY27" fmla="*/ 179353 h 285580"/>
                <a:gd name="connsiteX28" fmla="*/ 37359 w 171470"/>
                <a:gd name="connsiteY28" fmla="*/ 165391 h 285580"/>
                <a:gd name="connsiteX29" fmla="*/ 57490 w 171470"/>
                <a:gd name="connsiteY29" fmla="*/ 85112 h 285580"/>
                <a:gd name="connsiteX30" fmla="*/ 124804 w 171470"/>
                <a:gd name="connsiteY30" fmla="*/ 7370 h 285580"/>
                <a:gd name="connsiteX31" fmla="*/ 154057 w 171470"/>
                <a:gd name="connsiteY31" fmla="*/ 36246 h 28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1470" h="285580">
                  <a:moveTo>
                    <a:pt x="171672" y="43544"/>
                  </a:moveTo>
                  <a:cubicBezTo>
                    <a:pt x="171672" y="19745"/>
                    <a:pt x="154372" y="72"/>
                    <a:pt x="128893" y="72"/>
                  </a:cubicBezTo>
                  <a:cubicBezTo>
                    <a:pt x="110649" y="72"/>
                    <a:pt x="101842" y="5149"/>
                    <a:pt x="90832" y="13399"/>
                  </a:cubicBezTo>
                  <a:cubicBezTo>
                    <a:pt x="73532" y="26092"/>
                    <a:pt x="56232" y="56871"/>
                    <a:pt x="50255" y="80986"/>
                  </a:cubicBezTo>
                  <a:lnTo>
                    <a:pt x="241" y="282479"/>
                  </a:lnTo>
                  <a:cubicBezTo>
                    <a:pt x="-73" y="283748"/>
                    <a:pt x="1500" y="285652"/>
                    <a:pt x="4016" y="285652"/>
                  </a:cubicBezTo>
                  <a:cubicBezTo>
                    <a:pt x="6532" y="285652"/>
                    <a:pt x="7476" y="285018"/>
                    <a:pt x="7791" y="284066"/>
                  </a:cubicBezTo>
                  <a:lnTo>
                    <a:pt x="29809" y="196488"/>
                  </a:lnTo>
                  <a:cubicBezTo>
                    <a:pt x="35786" y="215526"/>
                    <a:pt x="49626" y="227267"/>
                    <a:pt x="72588" y="227267"/>
                  </a:cubicBezTo>
                  <a:cubicBezTo>
                    <a:pt x="95551" y="227267"/>
                    <a:pt x="119142" y="216161"/>
                    <a:pt x="133297" y="202199"/>
                  </a:cubicBezTo>
                  <a:cubicBezTo>
                    <a:pt x="148395" y="187603"/>
                    <a:pt x="158461" y="167295"/>
                    <a:pt x="158461" y="143814"/>
                  </a:cubicBezTo>
                  <a:cubicBezTo>
                    <a:pt x="158461" y="120968"/>
                    <a:pt x="146823" y="104468"/>
                    <a:pt x="135499" y="96535"/>
                  </a:cubicBezTo>
                  <a:cubicBezTo>
                    <a:pt x="153743" y="86064"/>
                    <a:pt x="171672" y="66390"/>
                    <a:pt x="171672" y="43544"/>
                  </a:cubicBezTo>
                  <a:close/>
                  <a:moveTo>
                    <a:pt x="115053" y="96217"/>
                  </a:moveTo>
                  <a:cubicBezTo>
                    <a:pt x="110964" y="97804"/>
                    <a:pt x="107504" y="98439"/>
                    <a:pt x="99954" y="98439"/>
                  </a:cubicBezTo>
                  <a:cubicBezTo>
                    <a:pt x="95551" y="98439"/>
                    <a:pt x="89260" y="98756"/>
                    <a:pt x="86114" y="97169"/>
                  </a:cubicBezTo>
                  <a:cubicBezTo>
                    <a:pt x="86743" y="93996"/>
                    <a:pt x="98067" y="94631"/>
                    <a:pt x="101527" y="94631"/>
                  </a:cubicBezTo>
                  <a:cubicBezTo>
                    <a:pt x="108133" y="94631"/>
                    <a:pt x="110964" y="94631"/>
                    <a:pt x="115053" y="96217"/>
                  </a:cubicBezTo>
                  <a:close/>
                  <a:moveTo>
                    <a:pt x="154057" y="36246"/>
                  </a:moveTo>
                  <a:cubicBezTo>
                    <a:pt x="154057" y="58457"/>
                    <a:pt x="142104" y="81304"/>
                    <a:pt x="125748" y="91140"/>
                  </a:cubicBezTo>
                  <a:cubicBezTo>
                    <a:pt x="117255" y="87967"/>
                    <a:pt x="110964" y="87333"/>
                    <a:pt x="101527" y="87333"/>
                  </a:cubicBezTo>
                  <a:cubicBezTo>
                    <a:pt x="94922" y="87333"/>
                    <a:pt x="77307" y="87015"/>
                    <a:pt x="77307" y="97487"/>
                  </a:cubicBezTo>
                  <a:cubicBezTo>
                    <a:pt x="76992" y="106371"/>
                    <a:pt x="93349" y="105419"/>
                    <a:pt x="99011" y="105419"/>
                  </a:cubicBezTo>
                  <a:cubicBezTo>
                    <a:pt x="110649" y="105419"/>
                    <a:pt x="115367" y="105102"/>
                    <a:pt x="124804" y="101294"/>
                  </a:cubicBezTo>
                  <a:cubicBezTo>
                    <a:pt x="136757" y="112718"/>
                    <a:pt x="138330" y="122554"/>
                    <a:pt x="138644" y="137151"/>
                  </a:cubicBezTo>
                  <a:cubicBezTo>
                    <a:pt x="139273" y="155555"/>
                    <a:pt x="131724" y="179353"/>
                    <a:pt x="122917" y="191728"/>
                  </a:cubicBezTo>
                  <a:cubicBezTo>
                    <a:pt x="110649" y="208863"/>
                    <a:pt x="89574" y="220286"/>
                    <a:pt x="71645" y="220286"/>
                  </a:cubicBezTo>
                  <a:cubicBezTo>
                    <a:pt x="47739" y="220286"/>
                    <a:pt x="35786" y="201882"/>
                    <a:pt x="35786" y="179353"/>
                  </a:cubicBezTo>
                  <a:cubicBezTo>
                    <a:pt x="35786" y="176180"/>
                    <a:pt x="35786" y="171420"/>
                    <a:pt x="37359" y="165391"/>
                  </a:cubicBezTo>
                  <a:lnTo>
                    <a:pt x="57490" y="85112"/>
                  </a:lnTo>
                  <a:cubicBezTo>
                    <a:pt x="64410" y="57823"/>
                    <a:pt x="87058" y="7370"/>
                    <a:pt x="124804" y="7370"/>
                  </a:cubicBezTo>
                  <a:cubicBezTo>
                    <a:pt x="143048" y="7370"/>
                    <a:pt x="154057" y="17207"/>
                    <a:pt x="154057" y="36246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09" name="任意形状 10008">
              <a:extLst>
                <a:ext uri="{FF2B5EF4-FFF2-40B4-BE49-F238E27FC236}">
                  <a16:creationId xmlns:a16="http://schemas.microsoft.com/office/drawing/2014/main" id="{4034076D-EDC0-703D-F4E5-1A661F3865D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226228" y="4038942"/>
              <a:ext cx="80147" cy="147486"/>
            </a:xfrm>
            <a:custGeom>
              <a:avLst/>
              <a:gdLst>
                <a:gd name="connsiteX0" fmla="*/ 49969 w 80147"/>
                <a:gd name="connsiteY0" fmla="*/ 6293 h 147486"/>
                <a:gd name="connsiteX1" fmla="*/ 43364 w 80147"/>
                <a:gd name="connsiteY1" fmla="*/ 74 h 147486"/>
                <a:gd name="connsiteX2" fmla="*/ 207 w 80147"/>
                <a:gd name="connsiteY2" fmla="*/ 14289 h 147486"/>
                <a:gd name="connsiteX3" fmla="*/ 207 w 80147"/>
                <a:gd name="connsiteY3" fmla="*/ 22285 h 147486"/>
                <a:gd name="connsiteX4" fmla="*/ 32134 w 80147"/>
                <a:gd name="connsiteY4" fmla="*/ 16066 h 147486"/>
                <a:gd name="connsiteX5" fmla="*/ 32134 w 80147"/>
                <a:gd name="connsiteY5" fmla="*/ 129346 h 147486"/>
                <a:gd name="connsiteX6" fmla="*/ 10116 w 80147"/>
                <a:gd name="connsiteY6" fmla="*/ 139564 h 147486"/>
                <a:gd name="connsiteX7" fmla="*/ 1749 w 80147"/>
                <a:gd name="connsiteY7" fmla="*/ 139564 h 147486"/>
                <a:gd name="connsiteX8" fmla="*/ 1749 w 80147"/>
                <a:gd name="connsiteY8" fmla="*/ 147560 h 147486"/>
                <a:gd name="connsiteX9" fmla="*/ 40942 w 80147"/>
                <a:gd name="connsiteY9" fmla="*/ 146671 h 147486"/>
                <a:gd name="connsiteX10" fmla="*/ 80355 w 80147"/>
                <a:gd name="connsiteY10" fmla="*/ 147560 h 147486"/>
                <a:gd name="connsiteX11" fmla="*/ 80355 w 80147"/>
                <a:gd name="connsiteY11" fmla="*/ 139564 h 147486"/>
                <a:gd name="connsiteX12" fmla="*/ 71988 w 80147"/>
                <a:gd name="connsiteY12" fmla="*/ 139564 h 147486"/>
                <a:gd name="connsiteX13" fmla="*/ 49969 w 80147"/>
                <a:gd name="connsiteY13" fmla="*/ 129346 h 147486"/>
                <a:gd name="connsiteX14" fmla="*/ 49969 w 80147"/>
                <a:gd name="connsiteY14" fmla="*/ 6293 h 14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147" h="147486">
                  <a:moveTo>
                    <a:pt x="49969" y="6293"/>
                  </a:moveTo>
                  <a:cubicBezTo>
                    <a:pt x="49969" y="296"/>
                    <a:pt x="49529" y="74"/>
                    <a:pt x="43364" y="74"/>
                  </a:cubicBezTo>
                  <a:cubicBezTo>
                    <a:pt x="29272" y="14067"/>
                    <a:pt x="9235" y="14289"/>
                    <a:pt x="207" y="14289"/>
                  </a:cubicBezTo>
                  <a:lnTo>
                    <a:pt x="207" y="22285"/>
                  </a:lnTo>
                  <a:cubicBezTo>
                    <a:pt x="5492" y="22285"/>
                    <a:pt x="20024" y="22285"/>
                    <a:pt x="32134" y="16066"/>
                  </a:cubicBezTo>
                  <a:lnTo>
                    <a:pt x="32134" y="129346"/>
                  </a:lnTo>
                  <a:cubicBezTo>
                    <a:pt x="32134" y="136676"/>
                    <a:pt x="32134" y="139564"/>
                    <a:pt x="10116" y="139564"/>
                  </a:cubicBezTo>
                  <a:lnTo>
                    <a:pt x="1749" y="139564"/>
                  </a:lnTo>
                  <a:lnTo>
                    <a:pt x="1749" y="147560"/>
                  </a:lnTo>
                  <a:cubicBezTo>
                    <a:pt x="5712" y="147338"/>
                    <a:pt x="32795" y="146671"/>
                    <a:pt x="40942" y="146671"/>
                  </a:cubicBezTo>
                  <a:cubicBezTo>
                    <a:pt x="47767" y="146671"/>
                    <a:pt x="75511" y="147338"/>
                    <a:pt x="80355" y="147560"/>
                  </a:cubicBezTo>
                  <a:lnTo>
                    <a:pt x="80355" y="139564"/>
                  </a:lnTo>
                  <a:lnTo>
                    <a:pt x="71988" y="139564"/>
                  </a:lnTo>
                  <a:cubicBezTo>
                    <a:pt x="49969" y="139564"/>
                    <a:pt x="49969" y="136676"/>
                    <a:pt x="49969" y="129346"/>
                  </a:cubicBezTo>
                  <a:lnTo>
                    <a:pt x="49969" y="629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0" name="任意形状 10009">
              <a:extLst>
                <a:ext uri="{FF2B5EF4-FFF2-40B4-BE49-F238E27FC236}">
                  <a16:creationId xmlns:a16="http://schemas.microsoft.com/office/drawing/2014/main" id="{544BCE92-37C7-6790-ABF7-D8FEB5F9EF0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352462" y="3998580"/>
              <a:ext cx="257618" cy="143741"/>
            </a:xfrm>
            <a:custGeom>
              <a:avLst/>
              <a:gdLst>
                <a:gd name="connsiteX0" fmla="*/ 18770 w 257618"/>
                <a:gd name="connsiteY0" fmla="*/ 121602 h 143741"/>
                <a:gd name="connsiteX1" fmla="*/ 15939 w 257618"/>
                <a:gd name="connsiteY1" fmla="*/ 135247 h 143741"/>
                <a:gd name="connsiteX2" fmla="*/ 25061 w 257618"/>
                <a:gd name="connsiteY2" fmla="*/ 143814 h 143741"/>
                <a:gd name="connsiteX3" fmla="*/ 36700 w 257618"/>
                <a:gd name="connsiteY3" fmla="*/ 134929 h 143741"/>
                <a:gd name="connsiteX4" fmla="*/ 42676 w 257618"/>
                <a:gd name="connsiteY4" fmla="*/ 111448 h 143741"/>
                <a:gd name="connsiteX5" fmla="*/ 49596 w 257618"/>
                <a:gd name="connsiteY5" fmla="*/ 82890 h 143741"/>
                <a:gd name="connsiteX6" fmla="*/ 54944 w 257618"/>
                <a:gd name="connsiteY6" fmla="*/ 61631 h 143741"/>
                <a:gd name="connsiteX7" fmla="*/ 59033 w 257618"/>
                <a:gd name="connsiteY7" fmla="*/ 45765 h 143741"/>
                <a:gd name="connsiteX8" fmla="*/ 110305 w 257618"/>
                <a:gd name="connsiteY8" fmla="*/ 7053 h 143741"/>
                <a:gd name="connsiteX9" fmla="*/ 127291 w 257618"/>
                <a:gd name="connsiteY9" fmla="*/ 29265 h 143741"/>
                <a:gd name="connsiteX10" fmla="*/ 122572 w 257618"/>
                <a:gd name="connsiteY10" fmla="*/ 55602 h 143741"/>
                <a:gd name="connsiteX11" fmla="*/ 113765 w 257618"/>
                <a:gd name="connsiteY11" fmla="*/ 92410 h 143741"/>
                <a:gd name="connsiteX12" fmla="*/ 107474 w 257618"/>
                <a:gd name="connsiteY12" fmla="*/ 116525 h 143741"/>
                <a:gd name="connsiteX13" fmla="*/ 103385 w 257618"/>
                <a:gd name="connsiteY13" fmla="*/ 135247 h 143741"/>
                <a:gd name="connsiteX14" fmla="*/ 112507 w 257618"/>
                <a:gd name="connsiteY14" fmla="*/ 143814 h 143741"/>
                <a:gd name="connsiteX15" fmla="*/ 126662 w 257618"/>
                <a:gd name="connsiteY15" fmla="*/ 125727 h 143741"/>
                <a:gd name="connsiteX16" fmla="*/ 145535 w 257618"/>
                <a:gd name="connsiteY16" fmla="*/ 49255 h 143741"/>
                <a:gd name="connsiteX17" fmla="*/ 197436 w 257618"/>
                <a:gd name="connsiteY17" fmla="*/ 7053 h 143741"/>
                <a:gd name="connsiteX18" fmla="*/ 214422 w 257618"/>
                <a:gd name="connsiteY18" fmla="*/ 29265 h 143741"/>
                <a:gd name="connsiteX19" fmla="*/ 194919 w 257618"/>
                <a:gd name="connsiteY19" fmla="*/ 100342 h 143741"/>
                <a:gd name="connsiteX20" fmla="*/ 190830 w 257618"/>
                <a:gd name="connsiteY20" fmla="*/ 117795 h 143741"/>
                <a:gd name="connsiteX21" fmla="*/ 216623 w 257618"/>
                <a:gd name="connsiteY21" fmla="*/ 143814 h 143741"/>
                <a:gd name="connsiteX22" fmla="*/ 257830 w 257618"/>
                <a:gd name="connsiteY22" fmla="*/ 94948 h 143741"/>
                <a:gd name="connsiteX23" fmla="*/ 254055 w 257618"/>
                <a:gd name="connsiteY23" fmla="*/ 91775 h 143741"/>
                <a:gd name="connsiteX24" fmla="*/ 249337 w 257618"/>
                <a:gd name="connsiteY24" fmla="*/ 97487 h 143741"/>
                <a:gd name="connsiteX25" fmla="*/ 217253 w 257618"/>
                <a:gd name="connsiteY25" fmla="*/ 136833 h 143741"/>
                <a:gd name="connsiteX26" fmla="*/ 209703 w 257618"/>
                <a:gd name="connsiteY26" fmla="*/ 126362 h 143741"/>
                <a:gd name="connsiteX27" fmla="*/ 215365 w 257618"/>
                <a:gd name="connsiteY27" fmla="*/ 103833 h 143741"/>
                <a:gd name="connsiteX28" fmla="*/ 234553 w 257618"/>
                <a:gd name="connsiteY28" fmla="*/ 34024 h 143741"/>
                <a:gd name="connsiteX29" fmla="*/ 198379 w 257618"/>
                <a:gd name="connsiteY29" fmla="*/ 72 h 143741"/>
                <a:gd name="connsiteX30" fmla="*/ 147107 w 257618"/>
                <a:gd name="connsiteY30" fmla="*/ 30851 h 143741"/>
                <a:gd name="connsiteX31" fmla="*/ 137042 w 257618"/>
                <a:gd name="connsiteY31" fmla="*/ 8322 h 143741"/>
                <a:gd name="connsiteX32" fmla="*/ 111249 w 257618"/>
                <a:gd name="connsiteY32" fmla="*/ 72 h 143741"/>
                <a:gd name="connsiteX33" fmla="*/ 62178 w 257618"/>
                <a:gd name="connsiteY33" fmla="*/ 27678 h 143741"/>
                <a:gd name="connsiteX34" fmla="*/ 33240 w 257618"/>
                <a:gd name="connsiteY34" fmla="*/ 72 h 143741"/>
                <a:gd name="connsiteX35" fmla="*/ 9963 w 257618"/>
                <a:gd name="connsiteY35" fmla="*/ 18159 h 143741"/>
                <a:gd name="connsiteX36" fmla="*/ 212 w 257618"/>
                <a:gd name="connsiteY36" fmla="*/ 48938 h 143741"/>
                <a:gd name="connsiteX37" fmla="*/ 3986 w 257618"/>
                <a:gd name="connsiteY37" fmla="*/ 52111 h 143741"/>
                <a:gd name="connsiteX38" fmla="*/ 9334 w 257618"/>
                <a:gd name="connsiteY38" fmla="*/ 44813 h 143741"/>
                <a:gd name="connsiteX39" fmla="*/ 32296 w 257618"/>
                <a:gd name="connsiteY39" fmla="*/ 7053 h 143741"/>
                <a:gd name="connsiteX40" fmla="*/ 42047 w 257618"/>
                <a:gd name="connsiteY40" fmla="*/ 21649 h 143741"/>
                <a:gd name="connsiteX41" fmla="*/ 37014 w 257618"/>
                <a:gd name="connsiteY41" fmla="*/ 48303 h 143741"/>
                <a:gd name="connsiteX42" fmla="*/ 18770 w 257618"/>
                <a:gd name="connsiteY42" fmla="*/ 121602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7618" h="143741">
                  <a:moveTo>
                    <a:pt x="18770" y="121602"/>
                  </a:moveTo>
                  <a:cubicBezTo>
                    <a:pt x="17827" y="126362"/>
                    <a:pt x="15939" y="133660"/>
                    <a:pt x="15939" y="135247"/>
                  </a:cubicBezTo>
                  <a:cubicBezTo>
                    <a:pt x="15939" y="140958"/>
                    <a:pt x="20343" y="143814"/>
                    <a:pt x="25061" y="143814"/>
                  </a:cubicBezTo>
                  <a:cubicBezTo>
                    <a:pt x="28836" y="143814"/>
                    <a:pt x="34498" y="141276"/>
                    <a:pt x="36700" y="134929"/>
                  </a:cubicBezTo>
                  <a:cubicBezTo>
                    <a:pt x="37014" y="134295"/>
                    <a:pt x="40789" y="119381"/>
                    <a:pt x="42676" y="111448"/>
                  </a:cubicBezTo>
                  <a:lnTo>
                    <a:pt x="49596" y="82890"/>
                  </a:lnTo>
                  <a:cubicBezTo>
                    <a:pt x="51484" y="75910"/>
                    <a:pt x="53371" y="68929"/>
                    <a:pt x="54944" y="61631"/>
                  </a:cubicBezTo>
                  <a:cubicBezTo>
                    <a:pt x="56202" y="56236"/>
                    <a:pt x="58718" y="47034"/>
                    <a:pt x="59033" y="45765"/>
                  </a:cubicBezTo>
                  <a:cubicBezTo>
                    <a:pt x="63751" y="35928"/>
                    <a:pt x="80422" y="7053"/>
                    <a:pt x="110305" y="7053"/>
                  </a:cubicBezTo>
                  <a:cubicBezTo>
                    <a:pt x="124460" y="7053"/>
                    <a:pt x="127291" y="18794"/>
                    <a:pt x="127291" y="29265"/>
                  </a:cubicBezTo>
                  <a:cubicBezTo>
                    <a:pt x="127291" y="37198"/>
                    <a:pt x="125089" y="46082"/>
                    <a:pt x="122572" y="55602"/>
                  </a:cubicBezTo>
                  <a:lnTo>
                    <a:pt x="113765" y="92410"/>
                  </a:lnTo>
                  <a:lnTo>
                    <a:pt x="107474" y="116525"/>
                  </a:lnTo>
                  <a:cubicBezTo>
                    <a:pt x="106216" y="122872"/>
                    <a:pt x="103385" y="133660"/>
                    <a:pt x="103385" y="135247"/>
                  </a:cubicBezTo>
                  <a:cubicBezTo>
                    <a:pt x="103385" y="140958"/>
                    <a:pt x="107788" y="143814"/>
                    <a:pt x="112507" y="143814"/>
                  </a:cubicBezTo>
                  <a:cubicBezTo>
                    <a:pt x="122258" y="143814"/>
                    <a:pt x="124145" y="135881"/>
                    <a:pt x="126662" y="125727"/>
                  </a:cubicBezTo>
                  <a:cubicBezTo>
                    <a:pt x="131065" y="107958"/>
                    <a:pt x="142704" y="61631"/>
                    <a:pt x="145535" y="49255"/>
                  </a:cubicBezTo>
                  <a:cubicBezTo>
                    <a:pt x="146478" y="45130"/>
                    <a:pt x="163150" y="7053"/>
                    <a:pt x="197436" y="7053"/>
                  </a:cubicBezTo>
                  <a:cubicBezTo>
                    <a:pt x="210962" y="7053"/>
                    <a:pt x="214422" y="17842"/>
                    <a:pt x="214422" y="29265"/>
                  </a:cubicBezTo>
                  <a:cubicBezTo>
                    <a:pt x="214422" y="47351"/>
                    <a:pt x="201210" y="83525"/>
                    <a:pt x="194919" y="100342"/>
                  </a:cubicBezTo>
                  <a:cubicBezTo>
                    <a:pt x="192088" y="107958"/>
                    <a:pt x="190830" y="111448"/>
                    <a:pt x="190830" y="117795"/>
                  </a:cubicBezTo>
                  <a:cubicBezTo>
                    <a:pt x="190830" y="132708"/>
                    <a:pt x="201840" y="143814"/>
                    <a:pt x="216623" y="143814"/>
                  </a:cubicBezTo>
                  <a:cubicBezTo>
                    <a:pt x="246191" y="143814"/>
                    <a:pt x="257830" y="97487"/>
                    <a:pt x="257830" y="94948"/>
                  </a:cubicBezTo>
                  <a:cubicBezTo>
                    <a:pt x="257830" y="91775"/>
                    <a:pt x="254999" y="91775"/>
                    <a:pt x="254055" y="91775"/>
                  </a:cubicBezTo>
                  <a:cubicBezTo>
                    <a:pt x="250910" y="91775"/>
                    <a:pt x="250910" y="92727"/>
                    <a:pt x="249337" y="97487"/>
                  </a:cubicBezTo>
                  <a:cubicBezTo>
                    <a:pt x="244619" y="114304"/>
                    <a:pt x="234553" y="136833"/>
                    <a:pt x="217253" y="136833"/>
                  </a:cubicBezTo>
                  <a:cubicBezTo>
                    <a:pt x="211905" y="136833"/>
                    <a:pt x="209703" y="133660"/>
                    <a:pt x="209703" y="126362"/>
                  </a:cubicBezTo>
                  <a:cubicBezTo>
                    <a:pt x="209703" y="118429"/>
                    <a:pt x="212534" y="110814"/>
                    <a:pt x="215365" y="103833"/>
                  </a:cubicBezTo>
                  <a:cubicBezTo>
                    <a:pt x="221342" y="87333"/>
                    <a:pt x="234553" y="52111"/>
                    <a:pt x="234553" y="34024"/>
                  </a:cubicBezTo>
                  <a:cubicBezTo>
                    <a:pt x="234553" y="13399"/>
                    <a:pt x="221971" y="72"/>
                    <a:pt x="198379" y="72"/>
                  </a:cubicBezTo>
                  <a:cubicBezTo>
                    <a:pt x="174788" y="72"/>
                    <a:pt x="158746" y="14034"/>
                    <a:pt x="147107" y="30851"/>
                  </a:cubicBezTo>
                  <a:cubicBezTo>
                    <a:pt x="146793" y="26726"/>
                    <a:pt x="145849" y="15938"/>
                    <a:pt x="137042" y="8322"/>
                  </a:cubicBezTo>
                  <a:cubicBezTo>
                    <a:pt x="129178" y="1659"/>
                    <a:pt x="119112" y="72"/>
                    <a:pt x="111249" y="72"/>
                  </a:cubicBezTo>
                  <a:cubicBezTo>
                    <a:pt x="82939" y="72"/>
                    <a:pt x="67526" y="20380"/>
                    <a:pt x="62178" y="27678"/>
                  </a:cubicBezTo>
                  <a:cubicBezTo>
                    <a:pt x="60606" y="9591"/>
                    <a:pt x="47394" y="72"/>
                    <a:pt x="33240" y="72"/>
                  </a:cubicBezTo>
                  <a:cubicBezTo>
                    <a:pt x="18770" y="72"/>
                    <a:pt x="12794" y="12447"/>
                    <a:pt x="9963" y="18159"/>
                  </a:cubicBezTo>
                  <a:cubicBezTo>
                    <a:pt x="4301" y="29265"/>
                    <a:pt x="212" y="47986"/>
                    <a:pt x="212" y="48938"/>
                  </a:cubicBezTo>
                  <a:cubicBezTo>
                    <a:pt x="212" y="52111"/>
                    <a:pt x="3357" y="52111"/>
                    <a:pt x="3986" y="52111"/>
                  </a:cubicBezTo>
                  <a:cubicBezTo>
                    <a:pt x="7132" y="52111"/>
                    <a:pt x="7446" y="51794"/>
                    <a:pt x="9334" y="44813"/>
                  </a:cubicBezTo>
                  <a:cubicBezTo>
                    <a:pt x="14681" y="22284"/>
                    <a:pt x="20972" y="7053"/>
                    <a:pt x="32296" y="7053"/>
                  </a:cubicBezTo>
                  <a:cubicBezTo>
                    <a:pt x="37329" y="7053"/>
                    <a:pt x="42047" y="9591"/>
                    <a:pt x="42047" y="21649"/>
                  </a:cubicBezTo>
                  <a:cubicBezTo>
                    <a:pt x="42047" y="28313"/>
                    <a:pt x="41103" y="31803"/>
                    <a:pt x="37014" y="48303"/>
                  </a:cubicBezTo>
                  <a:lnTo>
                    <a:pt x="18770" y="121602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1" name="任意形状 10010">
              <a:extLst>
                <a:ext uri="{FF2B5EF4-FFF2-40B4-BE49-F238E27FC236}">
                  <a16:creationId xmlns:a16="http://schemas.microsoft.com/office/drawing/2014/main" id="{4CA1FC68-7E18-B5FB-2A71-7C85785F04A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628769" y="4047604"/>
              <a:ext cx="74423" cy="141044"/>
            </a:xfrm>
            <a:custGeom>
              <a:avLst/>
              <a:gdLst>
                <a:gd name="connsiteX0" fmla="*/ 45138 w 74423"/>
                <a:gd name="connsiteY0" fmla="*/ 51161 h 141044"/>
                <a:gd name="connsiteX1" fmla="*/ 67597 w 74423"/>
                <a:gd name="connsiteY1" fmla="*/ 51161 h 141044"/>
                <a:gd name="connsiteX2" fmla="*/ 74643 w 74423"/>
                <a:gd name="connsiteY2" fmla="*/ 46274 h 141044"/>
                <a:gd name="connsiteX3" fmla="*/ 68038 w 74423"/>
                <a:gd name="connsiteY3" fmla="*/ 43164 h 141044"/>
                <a:gd name="connsiteX4" fmla="*/ 47120 w 74423"/>
                <a:gd name="connsiteY4" fmla="*/ 43164 h 141044"/>
                <a:gd name="connsiteX5" fmla="*/ 55267 w 74423"/>
                <a:gd name="connsiteY5" fmla="*/ 10291 h 141044"/>
                <a:gd name="connsiteX6" fmla="*/ 55928 w 74423"/>
                <a:gd name="connsiteY6" fmla="*/ 7181 h 141044"/>
                <a:gd name="connsiteX7" fmla="*/ 48441 w 74423"/>
                <a:gd name="connsiteY7" fmla="*/ 74 h 141044"/>
                <a:gd name="connsiteX8" fmla="*/ 38092 w 74423"/>
                <a:gd name="connsiteY8" fmla="*/ 9625 h 141044"/>
                <a:gd name="connsiteX9" fmla="*/ 29725 w 74423"/>
                <a:gd name="connsiteY9" fmla="*/ 43164 h 141044"/>
                <a:gd name="connsiteX10" fmla="*/ 7266 w 74423"/>
                <a:gd name="connsiteY10" fmla="*/ 43164 h 141044"/>
                <a:gd name="connsiteX11" fmla="*/ 220 w 74423"/>
                <a:gd name="connsiteY11" fmla="*/ 48051 h 141044"/>
                <a:gd name="connsiteX12" fmla="*/ 6826 w 74423"/>
                <a:gd name="connsiteY12" fmla="*/ 51161 h 141044"/>
                <a:gd name="connsiteX13" fmla="*/ 27744 w 74423"/>
                <a:gd name="connsiteY13" fmla="*/ 51161 h 141044"/>
                <a:gd name="connsiteX14" fmla="*/ 14753 w 74423"/>
                <a:gd name="connsiteY14" fmla="*/ 103581 h 141044"/>
                <a:gd name="connsiteX15" fmla="*/ 11450 w 74423"/>
                <a:gd name="connsiteY15" fmla="*/ 120017 h 141044"/>
                <a:gd name="connsiteX16" fmla="*/ 35010 w 74423"/>
                <a:gd name="connsiteY16" fmla="*/ 141118 h 141044"/>
                <a:gd name="connsiteX17" fmla="*/ 73322 w 74423"/>
                <a:gd name="connsiteY17" fmla="*/ 107134 h 141044"/>
                <a:gd name="connsiteX18" fmla="*/ 69799 w 74423"/>
                <a:gd name="connsiteY18" fmla="*/ 104247 h 141044"/>
                <a:gd name="connsiteX19" fmla="*/ 65175 w 74423"/>
                <a:gd name="connsiteY19" fmla="*/ 108467 h 141044"/>
                <a:gd name="connsiteX20" fmla="*/ 35670 w 74423"/>
                <a:gd name="connsiteY20" fmla="*/ 134899 h 141044"/>
                <a:gd name="connsiteX21" fmla="*/ 27964 w 74423"/>
                <a:gd name="connsiteY21" fmla="*/ 124015 h 141044"/>
                <a:gd name="connsiteX22" fmla="*/ 29285 w 74423"/>
                <a:gd name="connsiteY22" fmla="*/ 114909 h 141044"/>
                <a:gd name="connsiteX23" fmla="*/ 45138 w 74423"/>
                <a:gd name="connsiteY23" fmla="*/ 51161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38" y="51161"/>
                  </a:moveTo>
                  <a:lnTo>
                    <a:pt x="67597" y="51161"/>
                  </a:lnTo>
                  <a:cubicBezTo>
                    <a:pt x="71781" y="51161"/>
                    <a:pt x="74643" y="51161"/>
                    <a:pt x="74643" y="46274"/>
                  </a:cubicBezTo>
                  <a:cubicBezTo>
                    <a:pt x="74643" y="43164"/>
                    <a:pt x="71781" y="43164"/>
                    <a:pt x="68038" y="43164"/>
                  </a:cubicBezTo>
                  <a:lnTo>
                    <a:pt x="47120" y="43164"/>
                  </a:lnTo>
                  <a:lnTo>
                    <a:pt x="55267" y="10291"/>
                  </a:lnTo>
                  <a:cubicBezTo>
                    <a:pt x="55487" y="9180"/>
                    <a:pt x="55928" y="8070"/>
                    <a:pt x="55928" y="7181"/>
                  </a:cubicBezTo>
                  <a:cubicBezTo>
                    <a:pt x="55928" y="3183"/>
                    <a:pt x="52845" y="74"/>
                    <a:pt x="48441" y="74"/>
                  </a:cubicBezTo>
                  <a:cubicBezTo>
                    <a:pt x="42937" y="74"/>
                    <a:pt x="39634" y="3850"/>
                    <a:pt x="38092" y="9625"/>
                  </a:cubicBezTo>
                  <a:cubicBezTo>
                    <a:pt x="36551" y="15178"/>
                    <a:pt x="39414" y="4516"/>
                    <a:pt x="29725" y="43164"/>
                  </a:cubicBezTo>
                  <a:lnTo>
                    <a:pt x="7266" y="43164"/>
                  </a:lnTo>
                  <a:cubicBezTo>
                    <a:pt x="3083" y="43164"/>
                    <a:pt x="220" y="43164"/>
                    <a:pt x="220" y="48051"/>
                  </a:cubicBezTo>
                  <a:cubicBezTo>
                    <a:pt x="220" y="51161"/>
                    <a:pt x="2863" y="51161"/>
                    <a:pt x="6826" y="51161"/>
                  </a:cubicBezTo>
                  <a:lnTo>
                    <a:pt x="27744" y="51161"/>
                  </a:lnTo>
                  <a:lnTo>
                    <a:pt x="14753" y="103581"/>
                  </a:lnTo>
                  <a:cubicBezTo>
                    <a:pt x="13432" y="109133"/>
                    <a:pt x="11450" y="117130"/>
                    <a:pt x="11450" y="120017"/>
                  </a:cubicBezTo>
                  <a:cubicBezTo>
                    <a:pt x="11450" y="133122"/>
                    <a:pt x="22459" y="141118"/>
                    <a:pt x="35010" y="141118"/>
                  </a:cubicBezTo>
                  <a:cubicBezTo>
                    <a:pt x="59451" y="141118"/>
                    <a:pt x="73322" y="110022"/>
                    <a:pt x="73322" y="107134"/>
                  </a:cubicBezTo>
                  <a:cubicBezTo>
                    <a:pt x="73322" y="104247"/>
                    <a:pt x="70460" y="104247"/>
                    <a:pt x="69799" y="104247"/>
                  </a:cubicBezTo>
                  <a:cubicBezTo>
                    <a:pt x="67157" y="104247"/>
                    <a:pt x="66937" y="104691"/>
                    <a:pt x="65175" y="108467"/>
                  </a:cubicBezTo>
                  <a:cubicBezTo>
                    <a:pt x="59010" y="122461"/>
                    <a:pt x="47781" y="134899"/>
                    <a:pt x="35670" y="134899"/>
                  </a:cubicBezTo>
                  <a:cubicBezTo>
                    <a:pt x="31046" y="134899"/>
                    <a:pt x="27964" y="132012"/>
                    <a:pt x="27964" y="124015"/>
                  </a:cubicBezTo>
                  <a:cubicBezTo>
                    <a:pt x="27964" y="121794"/>
                    <a:pt x="28845" y="117130"/>
                    <a:pt x="29285" y="114909"/>
                  </a:cubicBezTo>
                  <a:lnTo>
                    <a:pt x="45138" y="51161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2" name="任意形状 10011">
              <a:extLst>
                <a:ext uri="{FF2B5EF4-FFF2-40B4-BE49-F238E27FC236}">
                  <a16:creationId xmlns:a16="http://schemas.microsoft.com/office/drawing/2014/main" id="{ADB39E81-0A2B-3454-766D-30F41E7D30E0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738322" y="4125345"/>
              <a:ext cx="148846" cy="10883"/>
            </a:xfrm>
            <a:custGeom>
              <a:avLst/>
              <a:gdLst>
                <a:gd name="connsiteX0" fmla="*/ 140262 w 148846"/>
                <a:gd name="connsiteY0" fmla="*/ 10957 h 10883"/>
                <a:gd name="connsiteX1" fmla="*/ 149069 w 148846"/>
                <a:gd name="connsiteY1" fmla="*/ 5627 h 10883"/>
                <a:gd name="connsiteX2" fmla="*/ 140262 w 148846"/>
                <a:gd name="connsiteY2" fmla="*/ 74 h 10883"/>
                <a:gd name="connsiteX3" fmla="*/ 9031 w 148846"/>
                <a:gd name="connsiteY3" fmla="*/ 74 h 10883"/>
                <a:gd name="connsiteX4" fmla="*/ 223 w 148846"/>
                <a:gd name="connsiteY4" fmla="*/ 5404 h 10883"/>
                <a:gd name="connsiteX5" fmla="*/ 9031 w 148846"/>
                <a:gd name="connsiteY5" fmla="*/ 10957 h 10883"/>
                <a:gd name="connsiteX6" fmla="*/ 140262 w 148846"/>
                <a:gd name="connsiteY6" fmla="*/ 10957 h 1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8846" h="10883">
                  <a:moveTo>
                    <a:pt x="140262" y="10957"/>
                  </a:moveTo>
                  <a:cubicBezTo>
                    <a:pt x="143785" y="10957"/>
                    <a:pt x="149069" y="10957"/>
                    <a:pt x="149069" y="5627"/>
                  </a:cubicBezTo>
                  <a:cubicBezTo>
                    <a:pt x="149069" y="74"/>
                    <a:pt x="144005" y="74"/>
                    <a:pt x="140262" y="74"/>
                  </a:cubicBezTo>
                  <a:lnTo>
                    <a:pt x="9031" y="74"/>
                  </a:lnTo>
                  <a:cubicBezTo>
                    <a:pt x="5508" y="74"/>
                    <a:pt x="223" y="74"/>
                    <a:pt x="223" y="5404"/>
                  </a:cubicBezTo>
                  <a:cubicBezTo>
                    <a:pt x="223" y="10957"/>
                    <a:pt x="5288" y="10957"/>
                    <a:pt x="9031" y="10957"/>
                  </a:cubicBezTo>
                  <a:lnTo>
                    <a:pt x="140262" y="10957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3" name="任意形状 10012">
              <a:extLst>
                <a:ext uri="{FF2B5EF4-FFF2-40B4-BE49-F238E27FC236}">
                  <a16:creationId xmlns:a16="http://schemas.microsoft.com/office/drawing/2014/main" id="{1471B367-935C-20A3-24F5-5EE89B8BBA76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935139" y="4038942"/>
              <a:ext cx="80147" cy="147486"/>
            </a:xfrm>
            <a:custGeom>
              <a:avLst/>
              <a:gdLst>
                <a:gd name="connsiteX0" fmla="*/ 49992 w 80147"/>
                <a:gd name="connsiteY0" fmla="*/ 6293 h 147486"/>
                <a:gd name="connsiteX1" fmla="*/ 43386 w 80147"/>
                <a:gd name="connsiteY1" fmla="*/ 74 h 147486"/>
                <a:gd name="connsiteX2" fmla="*/ 230 w 80147"/>
                <a:gd name="connsiteY2" fmla="*/ 14289 h 147486"/>
                <a:gd name="connsiteX3" fmla="*/ 230 w 80147"/>
                <a:gd name="connsiteY3" fmla="*/ 22285 h 147486"/>
                <a:gd name="connsiteX4" fmla="*/ 32157 w 80147"/>
                <a:gd name="connsiteY4" fmla="*/ 16066 h 147486"/>
                <a:gd name="connsiteX5" fmla="*/ 32157 w 80147"/>
                <a:gd name="connsiteY5" fmla="*/ 129346 h 147486"/>
                <a:gd name="connsiteX6" fmla="*/ 10138 w 80147"/>
                <a:gd name="connsiteY6" fmla="*/ 139564 h 147486"/>
                <a:gd name="connsiteX7" fmla="*/ 1771 w 80147"/>
                <a:gd name="connsiteY7" fmla="*/ 139564 h 147486"/>
                <a:gd name="connsiteX8" fmla="*/ 1771 w 80147"/>
                <a:gd name="connsiteY8" fmla="*/ 147560 h 147486"/>
                <a:gd name="connsiteX9" fmla="*/ 40964 w 80147"/>
                <a:gd name="connsiteY9" fmla="*/ 146671 h 147486"/>
                <a:gd name="connsiteX10" fmla="*/ 80378 w 80147"/>
                <a:gd name="connsiteY10" fmla="*/ 147560 h 147486"/>
                <a:gd name="connsiteX11" fmla="*/ 80378 w 80147"/>
                <a:gd name="connsiteY11" fmla="*/ 139564 h 147486"/>
                <a:gd name="connsiteX12" fmla="*/ 72010 w 80147"/>
                <a:gd name="connsiteY12" fmla="*/ 139564 h 147486"/>
                <a:gd name="connsiteX13" fmla="*/ 49992 w 80147"/>
                <a:gd name="connsiteY13" fmla="*/ 129346 h 147486"/>
                <a:gd name="connsiteX14" fmla="*/ 49992 w 80147"/>
                <a:gd name="connsiteY14" fmla="*/ 6293 h 14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147" h="147486">
                  <a:moveTo>
                    <a:pt x="49992" y="6293"/>
                  </a:moveTo>
                  <a:cubicBezTo>
                    <a:pt x="49992" y="296"/>
                    <a:pt x="49551" y="74"/>
                    <a:pt x="43386" y="74"/>
                  </a:cubicBezTo>
                  <a:cubicBezTo>
                    <a:pt x="29294" y="14067"/>
                    <a:pt x="9257" y="14289"/>
                    <a:pt x="230" y="14289"/>
                  </a:cubicBezTo>
                  <a:lnTo>
                    <a:pt x="230" y="22285"/>
                  </a:lnTo>
                  <a:cubicBezTo>
                    <a:pt x="5514" y="22285"/>
                    <a:pt x="20046" y="22285"/>
                    <a:pt x="32157" y="16066"/>
                  </a:cubicBezTo>
                  <a:lnTo>
                    <a:pt x="32157" y="129346"/>
                  </a:lnTo>
                  <a:cubicBezTo>
                    <a:pt x="32157" y="136676"/>
                    <a:pt x="32157" y="139564"/>
                    <a:pt x="10138" y="139564"/>
                  </a:cubicBezTo>
                  <a:lnTo>
                    <a:pt x="1771" y="139564"/>
                  </a:lnTo>
                  <a:lnTo>
                    <a:pt x="1771" y="147560"/>
                  </a:lnTo>
                  <a:cubicBezTo>
                    <a:pt x="5734" y="147338"/>
                    <a:pt x="32817" y="146671"/>
                    <a:pt x="40964" y="146671"/>
                  </a:cubicBezTo>
                  <a:cubicBezTo>
                    <a:pt x="47790" y="146671"/>
                    <a:pt x="75533" y="147338"/>
                    <a:pt x="80378" y="147560"/>
                  </a:cubicBezTo>
                  <a:lnTo>
                    <a:pt x="80378" y="139564"/>
                  </a:lnTo>
                  <a:lnTo>
                    <a:pt x="72010" y="139564"/>
                  </a:lnTo>
                  <a:cubicBezTo>
                    <a:pt x="49992" y="139564"/>
                    <a:pt x="49992" y="136676"/>
                    <a:pt x="49992" y="129346"/>
                  </a:cubicBezTo>
                  <a:lnTo>
                    <a:pt x="49992" y="629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4" name="任意形状 10013">
              <a:extLst>
                <a:ext uri="{FF2B5EF4-FFF2-40B4-BE49-F238E27FC236}">
                  <a16:creationId xmlns:a16="http://schemas.microsoft.com/office/drawing/2014/main" id="{160209AC-45B5-181E-134F-0D71974C4AE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139763" y="3953839"/>
              <a:ext cx="209177" cy="211329"/>
            </a:xfrm>
            <a:custGeom>
              <a:avLst/>
              <a:gdLst>
                <a:gd name="connsiteX0" fmla="*/ 111273 w 209177"/>
                <a:gd name="connsiteY0" fmla="*/ 112083 h 211329"/>
                <a:gd name="connsiteX1" fmla="*/ 199033 w 209177"/>
                <a:gd name="connsiteY1" fmla="*/ 112083 h 211329"/>
                <a:gd name="connsiteX2" fmla="*/ 209413 w 209177"/>
                <a:gd name="connsiteY2" fmla="*/ 105737 h 211329"/>
                <a:gd name="connsiteX3" fmla="*/ 199033 w 209177"/>
                <a:gd name="connsiteY3" fmla="*/ 99391 h 211329"/>
                <a:gd name="connsiteX4" fmla="*/ 111273 w 209177"/>
                <a:gd name="connsiteY4" fmla="*/ 99391 h 211329"/>
                <a:gd name="connsiteX5" fmla="*/ 111273 w 209177"/>
                <a:gd name="connsiteY5" fmla="*/ 10543 h 211329"/>
                <a:gd name="connsiteX6" fmla="*/ 104982 w 209177"/>
                <a:gd name="connsiteY6" fmla="*/ 72 h 211329"/>
                <a:gd name="connsiteX7" fmla="*/ 98691 w 209177"/>
                <a:gd name="connsiteY7" fmla="*/ 10543 h 211329"/>
                <a:gd name="connsiteX8" fmla="*/ 98691 w 209177"/>
                <a:gd name="connsiteY8" fmla="*/ 99391 h 211329"/>
                <a:gd name="connsiteX9" fmla="*/ 10617 w 209177"/>
                <a:gd name="connsiteY9" fmla="*/ 99391 h 211329"/>
                <a:gd name="connsiteX10" fmla="*/ 236 w 209177"/>
                <a:gd name="connsiteY10" fmla="*/ 105737 h 211329"/>
                <a:gd name="connsiteX11" fmla="*/ 10617 w 209177"/>
                <a:gd name="connsiteY11" fmla="*/ 112083 h 211329"/>
                <a:gd name="connsiteX12" fmla="*/ 98691 w 209177"/>
                <a:gd name="connsiteY12" fmla="*/ 112083 h 211329"/>
                <a:gd name="connsiteX13" fmla="*/ 98691 w 209177"/>
                <a:gd name="connsiteY13" fmla="*/ 200930 h 211329"/>
                <a:gd name="connsiteX14" fmla="*/ 104982 w 209177"/>
                <a:gd name="connsiteY14" fmla="*/ 211401 h 211329"/>
                <a:gd name="connsiteX15" fmla="*/ 111273 w 209177"/>
                <a:gd name="connsiteY15" fmla="*/ 200930 h 211329"/>
                <a:gd name="connsiteX16" fmla="*/ 111273 w 209177"/>
                <a:gd name="connsiteY16" fmla="*/ 112083 h 21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9177" h="211329">
                  <a:moveTo>
                    <a:pt x="111273" y="112083"/>
                  </a:moveTo>
                  <a:lnTo>
                    <a:pt x="199033" y="112083"/>
                  </a:lnTo>
                  <a:cubicBezTo>
                    <a:pt x="203437" y="112083"/>
                    <a:pt x="209413" y="112083"/>
                    <a:pt x="209413" y="105737"/>
                  </a:cubicBezTo>
                  <a:cubicBezTo>
                    <a:pt x="209413" y="99391"/>
                    <a:pt x="203437" y="99391"/>
                    <a:pt x="199033" y="99391"/>
                  </a:cubicBezTo>
                  <a:lnTo>
                    <a:pt x="111273" y="99391"/>
                  </a:lnTo>
                  <a:lnTo>
                    <a:pt x="111273" y="10543"/>
                  </a:lnTo>
                  <a:cubicBezTo>
                    <a:pt x="111273" y="6101"/>
                    <a:pt x="111273" y="72"/>
                    <a:pt x="104982" y="72"/>
                  </a:cubicBezTo>
                  <a:cubicBezTo>
                    <a:pt x="98691" y="72"/>
                    <a:pt x="98691" y="6101"/>
                    <a:pt x="98691" y="10543"/>
                  </a:cubicBezTo>
                  <a:lnTo>
                    <a:pt x="98691" y="99391"/>
                  </a:lnTo>
                  <a:lnTo>
                    <a:pt x="10617" y="99391"/>
                  </a:lnTo>
                  <a:cubicBezTo>
                    <a:pt x="6213" y="99391"/>
                    <a:pt x="236" y="99391"/>
                    <a:pt x="236" y="105737"/>
                  </a:cubicBezTo>
                  <a:cubicBezTo>
                    <a:pt x="236" y="112083"/>
                    <a:pt x="6213" y="112083"/>
                    <a:pt x="10617" y="112083"/>
                  </a:cubicBezTo>
                  <a:lnTo>
                    <a:pt x="98691" y="112083"/>
                  </a:lnTo>
                  <a:lnTo>
                    <a:pt x="98691" y="200930"/>
                  </a:lnTo>
                  <a:cubicBezTo>
                    <a:pt x="98691" y="205372"/>
                    <a:pt x="98691" y="211401"/>
                    <a:pt x="104982" y="211401"/>
                  </a:cubicBezTo>
                  <a:cubicBezTo>
                    <a:pt x="111273" y="211401"/>
                    <a:pt x="111273" y="205372"/>
                    <a:pt x="111273" y="200930"/>
                  </a:cubicBezTo>
                  <a:lnTo>
                    <a:pt x="111273" y="11208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5" name="任意形状 10014">
              <a:extLst>
                <a:ext uri="{FF2B5EF4-FFF2-40B4-BE49-F238E27FC236}">
                  <a16:creationId xmlns:a16="http://schemas.microsoft.com/office/drawing/2014/main" id="{1E11AD1C-0464-8140-7D87-562621B2CFB3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467840" y="3900848"/>
              <a:ext cx="72976" cy="317311"/>
            </a:xfrm>
            <a:custGeom>
              <a:avLst/>
              <a:gdLst>
                <a:gd name="connsiteX0" fmla="*/ 73222 w 72976"/>
                <a:gd name="connsiteY0" fmla="*/ 314210 h 317311"/>
                <a:gd name="connsiteX1" fmla="*/ 67875 w 72976"/>
                <a:gd name="connsiteY1" fmla="*/ 307229 h 317311"/>
                <a:gd name="connsiteX2" fmla="*/ 18490 w 72976"/>
                <a:gd name="connsiteY2" fmla="*/ 158728 h 317311"/>
                <a:gd name="connsiteX3" fmla="*/ 69133 w 72976"/>
                <a:gd name="connsiteY3" fmla="*/ 8640 h 317311"/>
                <a:gd name="connsiteX4" fmla="*/ 73222 w 72976"/>
                <a:gd name="connsiteY4" fmla="*/ 3245 h 317311"/>
                <a:gd name="connsiteX5" fmla="*/ 70077 w 72976"/>
                <a:gd name="connsiteY5" fmla="*/ 72 h 317311"/>
                <a:gd name="connsiteX6" fmla="*/ 20063 w 72976"/>
                <a:gd name="connsiteY6" fmla="*/ 61948 h 317311"/>
                <a:gd name="connsiteX7" fmla="*/ 246 w 72976"/>
                <a:gd name="connsiteY7" fmla="*/ 158728 h 317311"/>
                <a:gd name="connsiteX8" fmla="*/ 21007 w 72976"/>
                <a:gd name="connsiteY8" fmla="*/ 257729 h 317311"/>
                <a:gd name="connsiteX9" fmla="*/ 70077 w 72976"/>
                <a:gd name="connsiteY9" fmla="*/ 317383 h 317311"/>
                <a:gd name="connsiteX10" fmla="*/ 73222 w 72976"/>
                <a:gd name="connsiteY10" fmla="*/ 314210 h 31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76" h="317311">
                  <a:moveTo>
                    <a:pt x="73222" y="314210"/>
                  </a:moveTo>
                  <a:cubicBezTo>
                    <a:pt x="73222" y="313258"/>
                    <a:pt x="73222" y="312624"/>
                    <a:pt x="67875" y="307229"/>
                  </a:cubicBezTo>
                  <a:cubicBezTo>
                    <a:pt x="28556" y="267248"/>
                    <a:pt x="18490" y="207276"/>
                    <a:pt x="18490" y="158728"/>
                  </a:cubicBezTo>
                  <a:cubicBezTo>
                    <a:pt x="18490" y="103516"/>
                    <a:pt x="30443" y="48303"/>
                    <a:pt x="69133" y="8640"/>
                  </a:cubicBezTo>
                  <a:cubicBezTo>
                    <a:pt x="73222" y="4832"/>
                    <a:pt x="73222" y="4197"/>
                    <a:pt x="73222" y="3245"/>
                  </a:cubicBezTo>
                  <a:cubicBezTo>
                    <a:pt x="73222" y="1024"/>
                    <a:pt x="71964" y="72"/>
                    <a:pt x="70077" y="72"/>
                  </a:cubicBezTo>
                  <a:cubicBezTo>
                    <a:pt x="66931" y="72"/>
                    <a:pt x="38622" y="21649"/>
                    <a:pt x="20063" y="61948"/>
                  </a:cubicBezTo>
                  <a:cubicBezTo>
                    <a:pt x="4021" y="96852"/>
                    <a:pt x="246" y="132074"/>
                    <a:pt x="246" y="158728"/>
                  </a:cubicBezTo>
                  <a:cubicBezTo>
                    <a:pt x="246" y="183478"/>
                    <a:pt x="3706" y="221873"/>
                    <a:pt x="21007" y="257729"/>
                  </a:cubicBezTo>
                  <a:cubicBezTo>
                    <a:pt x="39880" y="296758"/>
                    <a:pt x="66931" y="317383"/>
                    <a:pt x="70077" y="317383"/>
                  </a:cubicBezTo>
                  <a:cubicBezTo>
                    <a:pt x="71964" y="317383"/>
                    <a:pt x="73222" y="316431"/>
                    <a:pt x="73222" y="314210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6" name="任意形状 10015">
              <a:extLst>
                <a:ext uri="{FF2B5EF4-FFF2-40B4-BE49-F238E27FC236}">
                  <a16:creationId xmlns:a16="http://schemas.microsoft.com/office/drawing/2014/main" id="{D7979B29-CB5B-2D44-F5D6-22C85ADC31AD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87021" y="3927502"/>
              <a:ext cx="103802" cy="211329"/>
            </a:xfrm>
            <a:custGeom>
              <a:avLst/>
              <a:gdLst>
                <a:gd name="connsiteX0" fmla="*/ 64733 w 103802"/>
                <a:gd name="connsiteY0" fmla="*/ 8322 h 211329"/>
                <a:gd name="connsiteX1" fmla="*/ 57499 w 103802"/>
                <a:gd name="connsiteY1" fmla="*/ 72 h 211329"/>
                <a:gd name="connsiteX2" fmla="*/ 250 w 103802"/>
                <a:gd name="connsiteY2" fmla="*/ 20380 h 211329"/>
                <a:gd name="connsiteX3" fmla="*/ 250 w 103802"/>
                <a:gd name="connsiteY3" fmla="*/ 30217 h 211329"/>
                <a:gd name="connsiteX4" fmla="*/ 41456 w 103802"/>
                <a:gd name="connsiteY4" fmla="*/ 21967 h 211329"/>
                <a:gd name="connsiteX5" fmla="*/ 41456 w 103802"/>
                <a:gd name="connsiteY5" fmla="*/ 186334 h 211329"/>
                <a:gd name="connsiteX6" fmla="*/ 12203 w 103802"/>
                <a:gd name="connsiteY6" fmla="*/ 201565 h 211329"/>
                <a:gd name="connsiteX7" fmla="*/ 2137 w 103802"/>
                <a:gd name="connsiteY7" fmla="*/ 201565 h 211329"/>
                <a:gd name="connsiteX8" fmla="*/ 2137 w 103802"/>
                <a:gd name="connsiteY8" fmla="*/ 211401 h 211329"/>
                <a:gd name="connsiteX9" fmla="*/ 53095 w 103802"/>
                <a:gd name="connsiteY9" fmla="*/ 210449 h 211329"/>
                <a:gd name="connsiteX10" fmla="*/ 104052 w 103802"/>
                <a:gd name="connsiteY10" fmla="*/ 211401 h 211329"/>
                <a:gd name="connsiteX11" fmla="*/ 104052 w 103802"/>
                <a:gd name="connsiteY11" fmla="*/ 201565 h 211329"/>
                <a:gd name="connsiteX12" fmla="*/ 93987 w 103802"/>
                <a:gd name="connsiteY12" fmla="*/ 201565 h 211329"/>
                <a:gd name="connsiteX13" fmla="*/ 64733 w 103802"/>
                <a:gd name="connsiteY13" fmla="*/ 186334 h 211329"/>
                <a:gd name="connsiteX14" fmla="*/ 64733 w 103802"/>
                <a:gd name="connsiteY14" fmla="*/ 8322 h 21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3802" h="211329">
                  <a:moveTo>
                    <a:pt x="64733" y="8322"/>
                  </a:moveTo>
                  <a:cubicBezTo>
                    <a:pt x="64733" y="707"/>
                    <a:pt x="64733" y="72"/>
                    <a:pt x="57499" y="72"/>
                  </a:cubicBezTo>
                  <a:cubicBezTo>
                    <a:pt x="37996" y="20380"/>
                    <a:pt x="10316" y="20380"/>
                    <a:pt x="250" y="20380"/>
                  </a:cubicBezTo>
                  <a:lnTo>
                    <a:pt x="250" y="30217"/>
                  </a:lnTo>
                  <a:cubicBezTo>
                    <a:pt x="6541" y="30217"/>
                    <a:pt x="25100" y="30217"/>
                    <a:pt x="41456" y="21967"/>
                  </a:cubicBezTo>
                  <a:lnTo>
                    <a:pt x="41456" y="186334"/>
                  </a:lnTo>
                  <a:cubicBezTo>
                    <a:pt x="41456" y="197757"/>
                    <a:pt x="40513" y="201565"/>
                    <a:pt x="12203" y="201565"/>
                  </a:cubicBezTo>
                  <a:lnTo>
                    <a:pt x="2137" y="201565"/>
                  </a:lnTo>
                  <a:lnTo>
                    <a:pt x="2137" y="211401"/>
                  </a:lnTo>
                  <a:cubicBezTo>
                    <a:pt x="13147" y="210449"/>
                    <a:pt x="40513" y="210449"/>
                    <a:pt x="53095" y="210449"/>
                  </a:cubicBezTo>
                  <a:cubicBezTo>
                    <a:pt x="65677" y="210449"/>
                    <a:pt x="93043" y="210449"/>
                    <a:pt x="104052" y="211401"/>
                  </a:cubicBezTo>
                  <a:lnTo>
                    <a:pt x="104052" y="201565"/>
                  </a:lnTo>
                  <a:lnTo>
                    <a:pt x="93987" y="201565"/>
                  </a:lnTo>
                  <a:cubicBezTo>
                    <a:pt x="65677" y="201565"/>
                    <a:pt x="64733" y="198074"/>
                    <a:pt x="64733" y="186334"/>
                  </a:cubicBezTo>
                  <a:lnTo>
                    <a:pt x="64733" y="8322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7" name="任意形状 10016">
              <a:extLst>
                <a:ext uri="{FF2B5EF4-FFF2-40B4-BE49-F238E27FC236}">
                  <a16:creationId xmlns:a16="http://schemas.microsoft.com/office/drawing/2014/main" id="{98E21A83-37A0-A43B-D4FF-8B7A5C793EF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8812309" y="4053158"/>
              <a:ext cx="192191" cy="12692"/>
            </a:xfrm>
            <a:custGeom>
              <a:avLst/>
              <a:gdLst>
                <a:gd name="connsiteX0" fmla="*/ 181439 w 192191"/>
                <a:gd name="connsiteY0" fmla="*/ 12765 h 12692"/>
                <a:gd name="connsiteX1" fmla="*/ 192449 w 192191"/>
                <a:gd name="connsiteY1" fmla="*/ 6418 h 12692"/>
                <a:gd name="connsiteX2" fmla="*/ 181439 w 192191"/>
                <a:gd name="connsiteY2" fmla="*/ 72 h 12692"/>
                <a:gd name="connsiteX3" fmla="*/ 11267 w 192191"/>
                <a:gd name="connsiteY3" fmla="*/ 72 h 12692"/>
                <a:gd name="connsiteX4" fmla="*/ 257 w 192191"/>
                <a:gd name="connsiteY4" fmla="*/ 6418 h 12692"/>
                <a:gd name="connsiteX5" fmla="*/ 11267 w 192191"/>
                <a:gd name="connsiteY5" fmla="*/ 12765 h 12692"/>
                <a:gd name="connsiteX6" fmla="*/ 181439 w 192191"/>
                <a:gd name="connsiteY6" fmla="*/ 12765 h 12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91" h="12692">
                  <a:moveTo>
                    <a:pt x="181439" y="12765"/>
                  </a:moveTo>
                  <a:cubicBezTo>
                    <a:pt x="186787" y="12765"/>
                    <a:pt x="192449" y="12765"/>
                    <a:pt x="192449" y="6418"/>
                  </a:cubicBezTo>
                  <a:cubicBezTo>
                    <a:pt x="192449" y="72"/>
                    <a:pt x="186787" y="72"/>
                    <a:pt x="181439" y="72"/>
                  </a:cubicBezTo>
                  <a:lnTo>
                    <a:pt x="11267" y="72"/>
                  </a:lnTo>
                  <a:cubicBezTo>
                    <a:pt x="5919" y="72"/>
                    <a:pt x="257" y="72"/>
                    <a:pt x="257" y="6418"/>
                  </a:cubicBezTo>
                  <a:cubicBezTo>
                    <a:pt x="257" y="12765"/>
                    <a:pt x="5919" y="12765"/>
                    <a:pt x="11267" y="12765"/>
                  </a:cubicBezTo>
                  <a:lnTo>
                    <a:pt x="181439" y="12765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8" name="任意形状 10017">
              <a:extLst>
                <a:ext uri="{FF2B5EF4-FFF2-40B4-BE49-F238E27FC236}">
                  <a16:creationId xmlns:a16="http://schemas.microsoft.com/office/drawing/2014/main" id="{33F4441E-FF7E-9674-2D45-916AB72937B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110149" y="3914810"/>
              <a:ext cx="171470" cy="285580"/>
            </a:xfrm>
            <a:custGeom>
              <a:avLst/>
              <a:gdLst>
                <a:gd name="connsiteX0" fmla="*/ 171738 w 171470"/>
                <a:gd name="connsiteY0" fmla="*/ 43544 h 285580"/>
                <a:gd name="connsiteX1" fmla="*/ 128959 w 171470"/>
                <a:gd name="connsiteY1" fmla="*/ 72 h 285580"/>
                <a:gd name="connsiteX2" fmla="*/ 90898 w 171470"/>
                <a:gd name="connsiteY2" fmla="*/ 13399 h 285580"/>
                <a:gd name="connsiteX3" fmla="*/ 50321 w 171470"/>
                <a:gd name="connsiteY3" fmla="*/ 80986 h 285580"/>
                <a:gd name="connsiteX4" fmla="*/ 307 w 171470"/>
                <a:gd name="connsiteY4" fmla="*/ 282479 h 285580"/>
                <a:gd name="connsiteX5" fmla="*/ 4082 w 171470"/>
                <a:gd name="connsiteY5" fmla="*/ 285652 h 285580"/>
                <a:gd name="connsiteX6" fmla="*/ 7856 w 171470"/>
                <a:gd name="connsiteY6" fmla="*/ 284066 h 285580"/>
                <a:gd name="connsiteX7" fmla="*/ 29875 w 171470"/>
                <a:gd name="connsiteY7" fmla="*/ 196488 h 285580"/>
                <a:gd name="connsiteX8" fmla="*/ 72654 w 171470"/>
                <a:gd name="connsiteY8" fmla="*/ 227267 h 285580"/>
                <a:gd name="connsiteX9" fmla="*/ 133363 w 171470"/>
                <a:gd name="connsiteY9" fmla="*/ 202199 h 285580"/>
                <a:gd name="connsiteX10" fmla="*/ 158527 w 171470"/>
                <a:gd name="connsiteY10" fmla="*/ 143814 h 285580"/>
                <a:gd name="connsiteX11" fmla="*/ 135565 w 171470"/>
                <a:gd name="connsiteY11" fmla="*/ 96535 h 285580"/>
                <a:gd name="connsiteX12" fmla="*/ 171738 w 171470"/>
                <a:gd name="connsiteY12" fmla="*/ 43544 h 285580"/>
                <a:gd name="connsiteX13" fmla="*/ 115119 w 171470"/>
                <a:gd name="connsiteY13" fmla="*/ 96217 h 285580"/>
                <a:gd name="connsiteX14" fmla="*/ 100020 w 171470"/>
                <a:gd name="connsiteY14" fmla="*/ 98439 h 285580"/>
                <a:gd name="connsiteX15" fmla="*/ 86180 w 171470"/>
                <a:gd name="connsiteY15" fmla="*/ 97169 h 285580"/>
                <a:gd name="connsiteX16" fmla="*/ 101593 w 171470"/>
                <a:gd name="connsiteY16" fmla="*/ 94631 h 285580"/>
                <a:gd name="connsiteX17" fmla="*/ 115119 w 171470"/>
                <a:gd name="connsiteY17" fmla="*/ 96217 h 285580"/>
                <a:gd name="connsiteX18" fmla="*/ 154123 w 171470"/>
                <a:gd name="connsiteY18" fmla="*/ 36246 h 285580"/>
                <a:gd name="connsiteX19" fmla="*/ 125814 w 171470"/>
                <a:gd name="connsiteY19" fmla="*/ 91140 h 285580"/>
                <a:gd name="connsiteX20" fmla="*/ 101593 w 171470"/>
                <a:gd name="connsiteY20" fmla="*/ 87333 h 285580"/>
                <a:gd name="connsiteX21" fmla="*/ 77372 w 171470"/>
                <a:gd name="connsiteY21" fmla="*/ 97487 h 285580"/>
                <a:gd name="connsiteX22" fmla="*/ 99077 w 171470"/>
                <a:gd name="connsiteY22" fmla="*/ 105419 h 285580"/>
                <a:gd name="connsiteX23" fmla="*/ 124870 w 171470"/>
                <a:gd name="connsiteY23" fmla="*/ 101294 h 285580"/>
                <a:gd name="connsiteX24" fmla="*/ 138710 w 171470"/>
                <a:gd name="connsiteY24" fmla="*/ 137151 h 285580"/>
                <a:gd name="connsiteX25" fmla="*/ 122983 w 171470"/>
                <a:gd name="connsiteY25" fmla="*/ 191728 h 285580"/>
                <a:gd name="connsiteX26" fmla="*/ 71711 w 171470"/>
                <a:gd name="connsiteY26" fmla="*/ 220286 h 285580"/>
                <a:gd name="connsiteX27" fmla="*/ 35852 w 171470"/>
                <a:gd name="connsiteY27" fmla="*/ 179353 h 285580"/>
                <a:gd name="connsiteX28" fmla="*/ 37424 w 171470"/>
                <a:gd name="connsiteY28" fmla="*/ 165391 h 285580"/>
                <a:gd name="connsiteX29" fmla="*/ 57556 w 171470"/>
                <a:gd name="connsiteY29" fmla="*/ 85112 h 285580"/>
                <a:gd name="connsiteX30" fmla="*/ 124870 w 171470"/>
                <a:gd name="connsiteY30" fmla="*/ 7370 h 285580"/>
                <a:gd name="connsiteX31" fmla="*/ 154123 w 171470"/>
                <a:gd name="connsiteY31" fmla="*/ 36246 h 28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1470" h="285580">
                  <a:moveTo>
                    <a:pt x="171738" y="43544"/>
                  </a:moveTo>
                  <a:cubicBezTo>
                    <a:pt x="171738" y="19745"/>
                    <a:pt x="154438" y="72"/>
                    <a:pt x="128959" y="72"/>
                  </a:cubicBezTo>
                  <a:cubicBezTo>
                    <a:pt x="110715" y="72"/>
                    <a:pt x="101908" y="5149"/>
                    <a:pt x="90898" y="13399"/>
                  </a:cubicBezTo>
                  <a:cubicBezTo>
                    <a:pt x="73598" y="26092"/>
                    <a:pt x="56297" y="56871"/>
                    <a:pt x="50321" y="80986"/>
                  </a:cubicBezTo>
                  <a:lnTo>
                    <a:pt x="307" y="282479"/>
                  </a:lnTo>
                  <a:cubicBezTo>
                    <a:pt x="-7" y="283748"/>
                    <a:pt x="1565" y="285652"/>
                    <a:pt x="4082" y="285652"/>
                  </a:cubicBezTo>
                  <a:cubicBezTo>
                    <a:pt x="6598" y="285652"/>
                    <a:pt x="7542" y="285018"/>
                    <a:pt x="7856" y="284066"/>
                  </a:cubicBezTo>
                  <a:lnTo>
                    <a:pt x="29875" y="196488"/>
                  </a:lnTo>
                  <a:cubicBezTo>
                    <a:pt x="35852" y="215526"/>
                    <a:pt x="49692" y="227267"/>
                    <a:pt x="72654" y="227267"/>
                  </a:cubicBezTo>
                  <a:cubicBezTo>
                    <a:pt x="95616" y="227267"/>
                    <a:pt x="119208" y="216161"/>
                    <a:pt x="133363" y="202199"/>
                  </a:cubicBezTo>
                  <a:cubicBezTo>
                    <a:pt x="148461" y="187603"/>
                    <a:pt x="158527" y="167295"/>
                    <a:pt x="158527" y="143814"/>
                  </a:cubicBezTo>
                  <a:cubicBezTo>
                    <a:pt x="158527" y="120968"/>
                    <a:pt x="146888" y="104468"/>
                    <a:pt x="135565" y="96535"/>
                  </a:cubicBezTo>
                  <a:cubicBezTo>
                    <a:pt x="153809" y="86064"/>
                    <a:pt x="171738" y="66390"/>
                    <a:pt x="171738" y="43544"/>
                  </a:cubicBezTo>
                  <a:close/>
                  <a:moveTo>
                    <a:pt x="115119" y="96217"/>
                  </a:moveTo>
                  <a:cubicBezTo>
                    <a:pt x="111030" y="97804"/>
                    <a:pt x="107569" y="98439"/>
                    <a:pt x="100020" y="98439"/>
                  </a:cubicBezTo>
                  <a:cubicBezTo>
                    <a:pt x="95616" y="98439"/>
                    <a:pt x="89325" y="98756"/>
                    <a:pt x="86180" y="97169"/>
                  </a:cubicBezTo>
                  <a:cubicBezTo>
                    <a:pt x="86809" y="93996"/>
                    <a:pt x="98133" y="94631"/>
                    <a:pt x="101593" y="94631"/>
                  </a:cubicBezTo>
                  <a:cubicBezTo>
                    <a:pt x="108199" y="94631"/>
                    <a:pt x="111030" y="94631"/>
                    <a:pt x="115119" y="96217"/>
                  </a:cubicBezTo>
                  <a:close/>
                  <a:moveTo>
                    <a:pt x="154123" y="36246"/>
                  </a:moveTo>
                  <a:cubicBezTo>
                    <a:pt x="154123" y="58457"/>
                    <a:pt x="142170" y="81304"/>
                    <a:pt x="125814" y="91140"/>
                  </a:cubicBezTo>
                  <a:cubicBezTo>
                    <a:pt x="117321" y="87967"/>
                    <a:pt x="111030" y="87333"/>
                    <a:pt x="101593" y="87333"/>
                  </a:cubicBezTo>
                  <a:cubicBezTo>
                    <a:pt x="94987" y="87333"/>
                    <a:pt x="77372" y="87015"/>
                    <a:pt x="77372" y="97487"/>
                  </a:cubicBezTo>
                  <a:cubicBezTo>
                    <a:pt x="77058" y="106371"/>
                    <a:pt x="93415" y="105419"/>
                    <a:pt x="99077" y="105419"/>
                  </a:cubicBezTo>
                  <a:cubicBezTo>
                    <a:pt x="110715" y="105419"/>
                    <a:pt x="115433" y="105102"/>
                    <a:pt x="124870" y="101294"/>
                  </a:cubicBezTo>
                  <a:cubicBezTo>
                    <a:pt x="136823" y="112718"/>
                    <a:pt x="138396" y="122554"/>
                    <a:pt x="138710" y="137151"/>
                  </a:cubicBezTo>
                  <a:cubicBezTo>
                    <a:pt x="139339" y="155555"/>
                    <a:pt x="131790" y="179353"/>
                    <a:pt x="122983" y="191728"/>
                  </a:cubicBezTo>
                  <a:cubicBezTo>
                    <a:pt x="110715" y="208863"/>
                    <a:pt x="89640" y="220286"/>
                    <a:pt x="71711" y="220286"/>
                  </a:cubicBezTo>
                  <a:cubicBezTo>
                    <a:pt x="47805" y="220286"/>
                    <a:pt x="35852" y="201882"/>
                    <a:pt x="35852" y="179353"/>
                  </a:cubicBezTo>
                  <a:cubicBezTo>
                    <a:pt x="35852" y="176180"/>
                    <a:pt x="35852" y="171420"/>
                    <a:pt x="37424" y="165391"/>
                  </a:cubicBezTo>
                  <a:lnTo>
                    <a:pt x="57556" y="85112"/>
                  </a:lnTo>
                  <a:cubicBezTo>
                    <a:pt x="64476" y="57823"/>
                    <a:pt x="87124" y="7370"/>
                    <a:pt x="124870" y="7370"/>
                  </a:cubicBezTo>
                  <a:cubicBezTo>
                    <a:pt x="143114" y="7370"/>
                    <a:pt x="154123" y="17207"/>
                    <a:pt x="154123" y="36246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9" name="任意形状 10018">
              <a:extLst>
                <a:ext uri="{FF2B5EF4-FFF2-40B4-BE49-F238E27FC236}">
                  <a16:creationId xmlns:a16="http://schemas.microsoft.com/office/drawing/2014/main" id="{ED42BF5C-E24A-EE1F-A230-6B0293CF784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302672" y="4038942"/>
              <a:ext cx="80147" cy="147486"/>
            </a:xfrm>
            <a:custGeom>
              <a:avLst/>
              <a:gdLst>
                <a:gd name="connsiteX0" fmla="*/ 50035 w 80147"/>
                <a:gd name="connsiteY0" fmla="*/ 6293 h 147486"/>
                <a:gd name="connsiteX1" fmla="*/ 43430 w 80147"/>
                <a:gd name="connsiteY1" fmla="*/ 74 h 147486"/>
                <a:gd name="connsiteX2" fmla="*/ 273 w 80147"/>
                <a:gd name="connsiteY2" fmla="*/ 14289 h 147486"/>
                <a:gd name="connsiteX3" fmla="*/ 273 w 80147"/>
                <a:gd name="connsiteY3" fmla="*/ 22285 h 147486"/>
                <a:gd name="connsiteX4" fmla="*/ 32200 w 80147"/>
                <a:gd name="connsiteY4" fmla="*/ 16066 h 147486"/>
                <a:gd name="connsiteX5" fmla="*/ 32200 w 80147"/>
                <a:gd name="connsiteY5" fmla="*/ 129346 h 147486"/>
                <a:gd name="connsiteX6" fmla="*/ 10181 w 80147"/>
                <a:gd name="connsiteY6" fmla="*/ 139564 h 147486"/>
                <a:gd name="connsiteX7" fmla="*/ 1814 w 80147"/>
                <a:gd name="connsiteY7" fmla="*/ 139564 h 147486"/>
                <a:gd name="connsiteX8" fmla="*/ 1814 w 80147"/>
                <a:gd name="connsiteY8" fmla="*/ 147560 h 147486"/>
                <a:gd name="connsiteX9" fmla="*/ 41007 w 80147"/>
                <a:gd name="connsiteY9" fmla="*/ 146671 h 147486"/>
                <a:gd name="connsiteX10" fmla="*/ 80421 w 80147"/>
                <a:gd name="connsiteY10" fmla="*/ 147560 h 147486"/>
                <a:gd name="connsiteX11" fmla="*/ 80421 w 80147"/>
                <a:gd name="connsiteY11" fmla="*/ 139564 h 147486"/>
                <a:gd name="connsiteX12" fmla="*/ 72054 w 80147"/>
                <a:gd name="connsiteY12" fmla="*/ 139564 h 147486"/>
                <a:gd name="connsiteX13" fmla="*/ 50035 w 80147"/>
                <a:gd name="connsiteY13" fmla="*/ 129346 h 147486"/>
                <a:gd name="connsiteX14" fmla="*/ 50035 w 80147"/>
                <a:gd name="connsiteY14" fmla="*/ 6293 h 14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147" h="147486">
                  <a:moveTo>
                    <a:pt x="50035" y="6293"/>
                  </a:moveTo>
                  <a:cubicBezTo>
                    <a:pt x="50035" y="296"/>
                    <a:pt x="49595" y="74"/>
                    <a:pt x="43430" y="74"/>
                  </a:cubicBezTo>
                  <a:cubicBezTo>
                    <a:pt x="29338" y="14067"/>
                    <a:pt x="9301" y="14289"/>
                    <a:pt x="273" y="14289"/>
                  </a:cubicBezTo>
                  <a:lnTo>
                    <a:pt x="273" y="22285"/>
                  </a:lnTo>
                  <a:cubicBezTo>
                    <a:pt x="5557" y="22285"/>
                    <a:pt x="20090" y="22285"/>
                    <a:pt x="32200" y="16066"/>
                  </a:cubicBezTo>
                  <a:lnTo>
                    <a:pt x="32200" y="129346"/>
                  </a:lnTo>
                  <a:cubicBezTo>
                    <a:pt x="32200" y="136676"/>
                    <a:pt x="32200" y="139564"/>
                    <a:pt x="10181" y="139564"/>
                  </a:cubicBezTo>
                  <a:lnTo>
                    <a:pt x="1814" y="139564"/>
                  </a:lnTo>
                  <a:lnTo>
                    <a:pt x="1814" y="147560"/>
                  </a:lnTo>
                  <a:cubicBezTo>
                    <a:pt x="5778" y="147338"/>
                    <a:pt x="32861" y="146671"/>
                    <a:pt x="41007" y="146671"/>
                  </a:cubicBezTo>
                  <a:cubicBezTo>
                    <a:pt x="47833" y="146671"/>
                    <a:pt x="75577" y="147338"/>
                    <a:pt x="80421" y="147560"/>
                  </a:cubicBezTo>
                  <a:lnTo>
                    <a:pt x="80421" y="139564"/>
                  </a:lnTo>
                  <a:lnTo>
                    <a:pt x="72054" y="139564"/>
                  </a:lnTo>
                  <a:cubicBezTo>
                    <a:pt x="50035" y="139564"/>
                    <a:pt x="50035" y="136676"/>
                    <a:pt x="50035" y="129346"/>
                  </a:cubicBezTo>
                  <a:lnTo>
                    <a:pt x="50035" y="629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0" name="任意形状 10019">
              <a:extLst>
                <a:ext uri="{FF2B5EF4-FFF2-40B4-BE49-F238E27FC236}">
                  <a16:creationId xmlns:a16="http://schemas.microsoft.com/office/drawing/2014/main" id="{3A536596-DD69-8C69-BA78-23A3DCCA9FA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437713" y="3900848"/>
              <a:ext cx="72976" cy="317311"/>
            </a:xfrm>
            <a:custGeom>
              <a:avLst/>
              <a:gdLst>
                <a:gd name="connsiteX0" fmla="*/ 73254 w 72976"/>
                <a:gd name="connsiteY0" fmla="*/ 158728 h 317311"/>
                <a:gd name="connsiteX1" fmla="*/ 52493 w 72976"/>
                <a:gd name="connsiteY1" fmla="*/ 59727 h 317311"/>
                <a:gd name="connsiteX2" fmla="*/ 3423 w 72976"/>
                <a:gd name="connsiteY2" fmla="*/ 72 h 317311"/>
                <a:gd name="connsiteX3" fmla="*/ 277 w 72976"/>
                <a:gd name="connsiteY3" fmla="*/ 3245 h 317311"/>
                <a:gd name="connsiteX4" fmla="*/ 6254 w 72976"/>
                <a:gd name="connsiteY4" fmla="*/ 10543 h 317311"/>
                <a:gd name="connsiteX5" fmla="*/ 55010 w 72976"/>
                <a:gd name="connsiteY5" fmla="*/ 158728 h 317311"/>
                <a:gd name="connsiteX6" fmla="*/ 4367 w 72976"/>
                <a:gd name="connsiteY6" fmla="*/ 308816 h 317311"/>
                <a:gd name="connsiteX7" fmla="*/ 277 w 72976"/>
                <a:gd name="connsiteY7" fmla="*/ 314210 h 317311"/>
                <a:gd name="connsiteX8" fmla="*/ 3423 w 72976"/>
                <a:gd name="connsiteY8" fmla="*/ 317383 h 317311"/>
                <a:gd name="connsiteX9" fmla="*/ 53437 w 72976"/>
                <a:gd name="connsiteY9" fmla="*/ 255508 h 317311"/>
                <a:gd name="connsiteX10" fmla="*/ 73254 w 72976"/>
                <a:gd name="connsiteY10" fmla="*/ 158728 h 31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76" h="317311">
                  <a:moveTo>
                    <a:pt x="73254" y="158728"/>
                  </a:moveTo>
                  <a:cubicBezTo>
                    <a:pt x="73254" y="133977"/>
                    <a:pt x="69793" y="95583"/>
                    <a:pt x="52493" y="59727"/>
                  </a:cubicBezTo>
                  <a:cubicBezTo>
                    <a:pt x="33620" y="20697"/>
                    <a:pt x="6568" y="72"/>
                    <a:pt x="3423" y="72"/>
                  </a:cubicBezTo>
                  <a:cubicBezTo>
                    <a:pt x="1536" y="72"/>
                    <a:pt x="277" y="1341"/>
                    <a:pt x="277" y="3245"/>
                  </a:cubicBezTo>
                  <a:cubicBezTo>
                    <a:pt x="277" y="4197"/>
                    <a:pt x="277" y="4832"/>
                    <a:pt x="6254" y="10543"/>
                  </a:cubicBezTo>
                  <a:cubicBezTo>
                    <a:pt x="37080" y="41957"/>
                    <a:pt x="55010" y="92410"/>
                    <a:pt x="55010" y="158728"/>
                  </a:cubicBezTo>
                  <a:cubicBezTo>
                    <a:pt x="55010" y="212988"/>
                    <a:pt x="43371" y="268835"/>
                    <a:pt x="4367" y="308816"/>
                  </a:cubicBezTo>
                  <a:cubicBezTo>
                    <a:pt x="277" y="312624"/>
                    <a:pt x="277" y="313258"/>
                    <a:pt x="277" y="314210"/>
                  </a:cubicBezTo>
                  <a:cubicBezTo>
                    <a:pt x="277" y="316114"/>
                    <a:pt x="1536" y="317383"/>
                    <a:pt x="3423" y="317383"/>
                  </a:cubicBezTo>
                  <a:cubicBezTo>
                    <a:pt x="6568" y="317383"/>
                    <a:pt x="34878" y="295806"/>
                    <a:pt x="53437" y="255508"/>
                  </a:cubicBezTo>
                  <a:cubicBezTo>
                    <a:pt x="69479" y="220603"/>
                    <a:pt x="73254" y="185382"/>
                    <a:pt x="73254" y="158728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1" name="任意形状 10020">
              <a:extLst>
                <a:ext uri="{FF2B5EF4-FFF2-40B4-BE49-F238E27FC236}">
                  <a16:creationId xmlns:a16="http://schemas.microsoft.com/office/drawing/2014/main" id="{DDD18549-2671-0958-1E2C-0CAABE8CE453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599251" y="3998580"/>
              <a:ext cx="144379" cy="205300"/>
            </a:xfrm>
            <a:custGeom>
              <a:avLst/>
              <a:gdLst>
                <a:gd name="connsiteX0" fmla="*/ 143719 w 144379"/>
                <a:gd name="connsiteY0" fmla="*/ 20697 h 205300"/>
                <a:gd name="connsiteX1" fmla="*/ 144662 w 144379"/>
                <a:gd name="connsiteY1" fmla="*/ 14986 h 205300"/>
                <a:gd name="connsiteX2" fmla="*/ 135540 w 144379"/>
                <a:gd name="connsiteY2" fmla="*/ 6418 h 205300"/>
                <a:gd name="connsiteX3" fmla="*/ 122644 w 144379"/>
                <a:gd name="connsiteY3" fmla="*/ 20063 h 205300"/>
                <a:gd name="connsiteX4" fmla="*/ 93390 w 144379"/>
                <a:gd name="connsiteY4" fmla="*/ 72 h 205300"/>
                <a:gd name="connsiteX5" fmla="*/ 18527 w 144379"/>
                <a:gd name="connsiteY5" fmla="*/ 90189 h 205300"/>
                <a:gd name="connsiteX6" fmla="*/ 60362 w 144379"/>
                <a:gd name="connsiteY6" fmla="*/ 140324 h 205300"/>
                <a:gd name="connsiteX7" fmla="*/ 96850 w 144379"/>
                <a:gd name="connsiteY7" fmla="*/ 121920 h 205300"/>
                <a:gd name="connsiteX8" fmla="*/ 97165 w 144379"/>
                <a:gd name="connsiteY8" fmla="*/ 122237 h 205300"/>
                <a:gd name="connsiteX9" fmla="*/ 86785 w 144379"/>
                <a:gd name="connsiteY9" fmla="*/ 164122 h 205300"/>
                <a:gd name="connsiteX10" fmla="*/ 41489 w 144379"/>
                <a:gd name="connsiteY10" fmla="*/ 198392 h 205300"/>
                <a:gd name="connsiteX11" fmla="*/ 16325 w 144379"/>
                <a:gd name="connsiteY11" fmla="*/ 195219 h 205300"/>
                <a:gd name="connsiteX12" fmla="*/ 29222 w 144379"/>
                <a:gd name="connsiteY12" fmla="*/ 178718 h 205300"/>
                <a:gd name="connsiteX13" fmla="*/ 17269 w 144379"/>
                <a:gd name="connsiteY13" fmla="*/ 167612 h 205300"/>
                <a:gd name="connsiteX14" fmla="*/ 283 w 144379"/>
                <a:gd name="connsiteY14" fmla="*/ 186017 h 205300"/>
                <a:gd name="connsiteX15" fmla="*/ 42118 w 144379"/>
                <a:gd name="connsiteY15" fmla="*/ 205372 h 205300"/>
                <a:gd name="connsiteX16" fmla="*/ 108803 w 144379"/>
                <a:gd name="connsiteY16" fmla="*/ 161584 h 205300"/>
                <a:gd name="connsiteX17" fmla="*/ 143719 w 144379"/>
                <a:gd name="connsiteY17" fmla="*/ 20697 h 205300"/>
                <a:gd name="connsiteX18" fmla="*/ 102827 w 144379"/>
                <a:gd name="connsiteY18" fmla="*/ 99708 h 205300"/>
                <a:gd name="connsiteX19" fmla="*/ 86785 w 144379"/>
                <a:gd name="connsiteY19" fmla="*/ 121920 h 205300"/>
                <a:gd name="connsiteX20" fmla="*/ 61306 w 144379"/>
                <a:gd name="connsiteY20" fmla="*/ 133343 h 205300"/>
                <a:gd name="connsiteX21" fmla="*/ 40860 w 144379"/>
                <a:gd name="connsiteY21" fmla="*/ 104150 h 205300"/>
                <a:gd name="connsiteX22" fmla="*/ 58475 w 144379"/>
                <a:gd name="connsiteY22" fmla="*/ 35294 h 205300"/>
                <a:gd name="connsiteX23" fmla="*/ 93705 w 144379"/>
                <a:gd name="connsiteY23" fmla="*/ 7053 h 205300"/>
                <a:gd name="connsiteX24" fmla="*/ 118869 w 144379"/>
                <a:gd name="connsiteY24" fmla="*/ 34342 h 205300"/>
                <a:gd name="connsiteX25" fmla="*/ 117925 w 144379"/>
                <a:gd name="connsiteY25" fmla="*/ 39101 h 205300"/>
                <a:gd name="connsiteX26" fmla="*/ 102827 w 144379"/>
                <a:gd name="connsiteY26" fmla="*/ 99708 h 2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4379" h="205300">
                  <a:moveTo>
                    <a:pt x="143719" y="20697"/>
                  </a:moveTo>
                  <a:cubicBezTo>
                    <a:pt x="144033" y="18794"/>
                    <a:pt x="144662" y="17207"/>
                    <a:pt x="144662" y="14986"/>
                  </a:cubicBezTo>
                  <a:cubicBezTo>
                    <a:pt x="144662" y="9591"/>
                    <a:pt x="140888" y="6418"/>
                    <a:pt x="135540" y="6418"/>
                  </a:cubicBezTo>
                  <a:cubicBezTo>
                    <a:pt x="132395" y="6418"/>
                    <a:pt x="123902" y="8640"/>
                    <a:pt x="122644" y="20063"/>
                  </a:cubicBezTo>
                  <a:cubicBezTo>
                    <a:pt x="116982" y="8322"/>
                    <a:pt x="105972" y="72"/>
                    <a:pt x="93390" y="72"/>
                  </a:cubicBezTo>
                  <a:cubicBezTo>
                    <a:pt x="57531" y="72"/>
                    <a:pt x="18527" y="44496"/>
                    <a:pt x="18527" y="90189"/>
                  </a:cubicBezTo>
                  <a:cubicBezTo>
                    <a:pt x="18527" y="121602"/>
                    <a:pt x="37715" y="140324"/>
                    <a:pt x="60362" y="140324"/>
                  </a:cubicBezTo>
                  <a:cubicBezTo>
                    <a:pt x="78921" y="140324"/>
                    <a:pt x="93705" y="125410"/>
                    <a:pt x="96850" y="121920"/>
                  </a:cubicBezTo>
                  <a:lnTo>
                    <a:pt x="97165" y="122237"/>
                  </a:lnTo>
                  <a:cubicBezTo>
                    <a:pt x="90559" y="150478"/>
                    <a:pt x="86785" y="163487"/>
                    <a:pt x="86785" y="164122"/>
                  </a:cubicBezTo>
                  <a:cubicBezTo>
                    <a:pt x="85527" y="166978"/>
                    <a:pt x="74832" y="198392"/>
                    <a:pt x="41489" y="198392"/>
                  </a:cubicBezTo>
                  <a:cubicBezTo>
                    <a:pt x="35513" y="198392"/>
                    <a:pt x="25133" y="198074"/>
                    <a:pt x="16325" y="195219"/>
                  </a:cubicBezTo>
                  <a:cubicBezTo>
                    <a:pt x="25762" y="192363"/>
                    <a:pt x="29222" y="184113"/>
                    <a:pt x="29222" y="178718"/>
                  </a:cubicBezTo>
                  <a:cubicBezTo>
                    <a:pt x="29222" y="173641"/>
                    <a:pt x="25762" y="167612"/>
                    <a:pt x="17269" y="167612"/>
                  </a:cubicBezTo>
                  <a:cubicBezTo>
                    <a:pt x="10349" y="167612"/>
                    <a:pt x="283" y="173324"/>
                    <a:pt x="283" y="186017"/>
                  </a:cubicBezTo>
                  <a:cubicBezTo>
                    <a:pt x="283" y="199026"/>
                    <a:pt x="11921" y="205372"/>
                    <a:pt x="42118" y="205372"/>
                  </a:cubicBezTo>
                  <a:cubicBezTo>
                    <a:pt x="81437" y="205372"/>
                    <a:pt x="104085" y="180622"/>
                    <a:pt x="108803" y="161584"/>
                  </a:cubicBezTo>
                  <a:lnTo>
                    <a:pt x="143719" y="20697"/>
                  </a:lnTo>
                  <a:close/>
                  <a:moveTo>
                    <a:pt x="102827" y="99708"/>
                  </a:moveTo>
                  <a:cubicBezTo>
                    <a:pt x="100940" y="107958"/>
                    <a:pt x="93705" y="115891"/>
                    <a:pt x="86785" y="121920"/>
                  </a:cubicBezTo>
                  <a:cubicBezTo>
                    <a:pt x="80179" y="127631"/>
                    <a:pt x="70428" y="133343"/>
                    <a:pt x="61306" y="133343"/>
                  </a:cubicBezTo>
                  <a:cubicBezTo>
                    <a:pt x="45578" y="133343"/>
                    <a:pt x="40860" y="116843"/>
                    <a:pt x="40860" y="104150"/>
                  </a:cubicBezTo>
                  <a:cubicBezTo>
                    <a:pt x="40860" y="88919"/>
                    <a:pt x="49982" y="51477"/>
                    <a:pt x="58475" y="35294"/>
                  </a:cubicBezTo>
                  <a:cubicBezTo>
                    <a:pt x="66968" y="19745"/>
                    <a:pt x="80494" y="7053"/>
                    <a:pt x="93705" y="7053"/>
                  </a:cubicBezTo>
                  <a:cubicBezTo>
                    <a:pt x="114465" y="7053"/>
                    <a:pt x="118869" y="32755"/>
                    <a:pt x="118869" y="34342"/>
                  </a:cubicBezTo>
                  <a:cubicBezTo>
                    <a:pt x="118869" y="35928"/>
                    <a:pt x="118240" y="37832"/>
                    <a:pt x="117925" y="39101"/>
                  </a:cubicBezTo>
                  <a:lnTo>
                    <a:pt x="102827" y="99708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2" name="任意形状 10021">
              <a:extLst>
                <a:ext uri="{FF2B5EF4-FFF2-40B4-BE49-F238E27FC236}">
                  <a16:creationId xmlns:a16="http://schemas.microsoft.com/office/drawing/2014/main" id="{E4407EAA-B426-8651-8B05-91A84F9CEAE2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753812" y="4047604"/>
              <a:ext cx="74423" cy="141044"/>
            </a:xfrm>
            <a:custGeom>
              <a:avLst/>
              <a:gdLst>
                <a:gd name="connsiteX0" fmla="*/ 45206 w 74423"/>
                <a:gd name="connsiteY0" fmla="*/ 51161 h 141044"/>
                <a:gd name="connsiteX1" fmla="*/ 67665 w 74423"/>
                <a:gd name="connsiteY1" fmla="*/ 51161 h 141044"/>
                <a:gd name="connsiteX2" fmla="*/ 74711 w 74423"/>
                <a:gd name="connsiteY2" fmla="*/ 46274 h 141044"/>
                <a:gd name="connsiteX3" fmla="*/ 68105 w 74423"/>
                <a:gd name="connsiteY3" fmla="*/ 43164 h 141044"/>
                <a:gd name="connsiteX4" fmla="*/ 47187 w 74423"/>
                <a:gd name="connsiteY4" fmla="*/ 43164 h 141044"/>
                <a:gd name="connsiteX5" fmla="*/ 55334 w 74423"/>
                <a:gd name="connsiteY5" fmla="*/ 10291 h 141044"/>
                <a:gd name="connsiteX6" fmla="*/ 55995 w 74423"/>
                <a:gd name="connsiteY6" fmla="*/ 7181 h 141044"/>
                <a:gd name="connsiteX7" fmla="*/ 48509 w 74423"/>
                <a:gd name="connsiteY7" fmla="*/ 74 h 141044"/>
                <a:gd name="connsiteX8" fmla="*/ 38160 w 74423"/>
                <a:gd name="connsiteY8" fmla="*/ 9625 h 141044"/>
                <a:gd name="connsiteX9" fmla="*/ 29793 w 74423"/>
                <a:gd name="connsiteY9" fmla="*/ 43164 h 141044"/>
                <a:gd name="connsiteX10" fmla="*/ 7334 w 74423"/>
                <a:gd name="connsiteY10" fmla="*/ 43164 h 141044"/>
                <a:gd name="connsiteX11" fmla="*/ 288 w 74423"/>
                <a:gd name="connsiteY11" fmla="*/ 48051 h 141044"/>
                <a:gd name="connsiteX12" fmla="*/ 6893 w 74423"/>
                <a:gd name="connsiteY12" fmla="*/ 51161 h 141044"/>
                <a:gd name="connsiteX13" fmla="*/ 27811 w 74423"/>
                <a:gd name="connsiteY13" fmla="*/ 51161 h 141044"/>
                <a:gd name="connsiteX14" fmla="*/ 14820 w 74423"/>
                <a:gd name="connsiteY14" fmla="*/ 103581 h 141044"/>
                <a:gd name="connsiteX15" fmla="*/ 11517 w 74423"/>
                <a:gd name="connsiteY15" fmla="*/ 120017 h 141044"/>
                <a:gd name="connsiteX16" fmla="*/ 35077 w 74423"/>
                <a:gd name="connsiteY16" fmla="*/ 141118 h 141044"/>
                <a:gd name="connsiteX17" fmla="*/ 73390 w 74423"/>
                <a:gd name="connsiteY17" fmla="*/ 107134 h 141044"/>
                <a:gd name="connsiteX18" fmla="*/ 69867 w 74423"/>
                <a:gd name="connsiteY18" fmla="*/ 104247 h 141044"/>
                <a:gd name="connsiteX19" fmla="*/ 65243 w 74423"/>
                <a:gd name="connsiteY19" fmla="*/ 108467 h 141044"/>
                <a:gd name="connsiteX20" fmla="*/ 35738 w 74423"/>
                <a:gd name="connsiteY20" fmla="*/ 134899 h 141044"/>
                <a:gd name="connsiteX21" fmla="*/ 28031 w 74423"/>
                <a:gd name="connsiteY21" fmla="*/ 124015 h 141044"/>
                <a:gd name="connsiteX22" fmla="*/ 29352 w 74423"/>
                <a:gd name="connsiteY22" fmla="*/ 114909 h 141044"/>
                <a:gd name="connsiteX23" fmla="*/ 45206 w 74423"/>
                <a:gd name="connsiteY23" fmla="*/ 51161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206" y="51161"/>
                  </a:moveTo>
                  <a:lnTo>
                    <a:pt x="67665" y="51161"/>
                  </a:lnTo>
                  <a:cubicBezTo>
                    <a:pt x="71848" y="51161"/>
                    <a:pt x="74711" y="51161"/>
                    <a:pt x="74711" y="46274"/>
                  </a:cubicBezTo>
                  <a:cubicBezTo>
                    <a:pt x="74711" y="43164"/>
                    <a:pt x="71848" y="43164"/>
                    <a:pt x="68105" y="43164"/>
                  </a:cubicBezTo>
                  <a:lnTo>
                    <a:pt x="47187" y="43164"/>
                  </a:lnTo>
                  <a:lnTo>
                    <a:pt x="55334" y="10291"/>
                  </a:lnTo>
                  <a:cubicBezTo>
                    <a:pt x="55554" y="9180"/>
                    <a:pt x="55995" y="8070"/>
                    <a:pt x="55995" y="7181"/>
                  </a:cubicBezTo>
                  <a:cubicBezTo>
                    <a:pt x="55995" y="3183"/>
                    <a:pt x="52912" y="74"/>
                    <a:pt x="48509" y="74"/>
                  </a:cubicBezTo>
                  <a:cubicBezTo>
                    <a:pt x="43004" y="74"/>
                    <a:pt x="39701" y="3850"/>
                    <a:pt x="38160" y="9625"/>
                  </a:cubicBezTo>
                  <a:cubicBezTo>
                    <a:pt x="36618" y="15178"/>
                    <a:pt x="39481" y="4516"/>
                    <a:pt x="29793" y="43164"/>
                  </a:cubicBezTo>
                  <a:lnTo>
                    <a:pt x="7334" y="43164"/>
                  </a:lnTo>
                  <a:cubicBezTo>
                    <a:pt x="3150" y="43164"/>
                    <a:pt x="288" y="43164"/>
                    <a:pt x="288" y="48051"/>
                  </a:cubicBezTo>
                  <a:cubicBezTo>
                    <a:pt x="288" y="51161"/>
                    <a:pt x="2930" y="51161"/>
                    <a:pt x="6893" y="51161"/>
                  </a:cubicBezTo>
                  <a:lnTo>
                    <a:pt x="27811" y="51161"/>
                  </a:lnTo>
                  <a:lnTo>
                    <a:pt x="14820" y="103581"/>
                  </a:lnTo>
                  <a:cubicBezTo>
                    <a:pt x="13499" y="109133"/>
                    <a:pt x="11517" y="117130"/>
                    <a:pt x="11517" y="120017"/>
                  </a:cubicBezTo>
                  <a:cubicBezTo>
                    <a:pt x="11517" y="133122"/>
                    <a:pt x="22527" y="141118"/>
                    <a:pt x="35077" y="141118"/>
                  </a:cubicBezTo>
                  <a:cubicBezTo>
                    <a:pt x="59518" y="141118"/>
                    <a:pt x="73390" y="110022"/>
                    <a:pt x="73390" y="107134"/>
                  </a:cubicBezTo>
                  <a:cubicBezTo>
                    <a:pt x="73390" y="104247"/>
                    <a:pt x="70527" y="104247"/>
                    <a:pt x="69867" y="104247"/>
                  </a:cubicBezTo>
                  <a:cubicBezTo>
                    <a:pt x="67224" y="104247"/>
                    <a:pt x="67004" y="104691"/>
                    <a:pt x="65243" y="108467"/>
                  </a:cubicBezTo>
                  <a:cubicBezTo>
                    <a:pt x="59077" y="122461"/>
                    <a:pt x="47848" y="134899"/>
                    <a:pt x="35738" y="134899"/>
                  </a:cubicBezTo>
                  <a:cubicBezTo>
                    <a:pt x="31114" y="134899"/>
                    <a:pt x="28031" y="132012"/>
                    <a:pt x="28031" y="124015"/>
                  </a:cubicBezTo>
                  <a:cubicBezTo>
                    <a:pt x="28031" y="121794"/>
                    <a:pt x="28912" y="117130"/>
                    <a:pt x="29352" y="114909"/>
                  </a:cubicBezTo>
                  <a:lnTo>
                    <a:pt x="45206" y="51161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3" name="任意形状 10022">
              <a:extLst>
                <a:ext uri="{FF2B5EF4-FFF2-40B4-BE49-F238E27FC236}">
                  <a16:creationId xmlns:a16="http://schemas.microsoft.com/office/drawing/2014/main" id="{A2A016AC-BBA5-9747-FB56-D6538B9FCBBB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329987" y="4513896"/>
              <a:ext cx="138088" cy="143741"/>
            </a:xfrm>
            <a:custGeom>
              <a:avLst/>
              <a:gdLst>
                <a:gd name="connsiteX0" fmla="*/ 138268 w 138088"/>
                <a:gd name="connsiteY0" fmla="*/ 22300 h 143741"/>
                <a:gd name="connsiteX1" fmla="*/ 124427 w 138088"/>
                <a:gd name="connsiteY1" fmla="*/ 88 h 143741"/>
                <a:gd name="connsiteX2" fmla="*/ 109014 w 138088"/>
                <a:gd name="connsiteY2" fmla="*/ 15319 h 143741"/>
                <a:gd name="connsiteX3" fmla="*/ 114047 w 138088"/>
                <a:gd name="connsiteY3" fmla="*/ 24839 h 143741"/>
                <a:gd name="connsiteX4" fmla="*/ 124742 w 138088"/>
                <a:gd name="connsiteY4" fmla="*/ 50858 h 143741"/>
                <a:gd name="connsiteX5" fmla="*/ 68752 w 138088"/>
                <a:gd name="connsiteY5" fmla="*/ 136849 h 143741"/>
                <a:gd name="connsiteX6" fmla="*/ 45475 w 138088"/>
                <a:gd name="connsiteY6" fmla="*/ 109243 h 143741"/>
                <a:gd name="connsiteX7" fmla="*/ 63719 w 138088"/>
                <a:gd name="connsiteY7" fmla="*/ 41973 h 143741"/>
                <a:gd name="connsiteX8" fmla="*/ 67493 w 138088"/>
                <a:gd name="connsiteY8" fmla="*/ 26108 h 143741"/>
                <a:gd name="connsiteX9" fmla="*/ 41700 w 138088"/>
                <a:gd name="connsiteY9" fmla="*/ 88 h 143741"/>
                <a:gd name="connsiteX10" fmla="*/ 179 w 138088"/>
                <a:gd name="connsiteY10" fmla="*/ 48954 h 143741"/>
                <a:gd name="connsiteX11" fmla="*/ 3954 w 138088"/>
                <a:gd name="connsiteY11" fmla="*/ 52127 h 143741"/>
                <a:gd name="connsiteX12" fmla="*/ 8987 w 138088"/>
                <a:gd name="connsiteY12" fmla="*/ 46416 h 143741"/>
                <a:gd name="connsiteX13" fmla="*/ 40756 w 138088"/>
                <a:gd name="connsiteY13" fmla="*/ 7069 h 143741"/>
                <a:gd name="connsiteX14" fmla="*/ 48620 w 138088"/>
                <a:gd name="connsiteY14" fmla="*/ 17223 h 143741"/>
                <a:gd name="connsiteX15" fmla="*/ 43273 w 138088"/>
                <a:gd name="connsiteY15" fmla="*/ 39435 h 143741"/>
                <a:gd name="connsiteX16" fmla="*/ 25343 w 138088"/>
                <a:gd name="connsiteY16" fmla="*/ 104484 h 143741"/>
                <a:gd name="connsiteX17" fmla="*/ 67493 w 138088"/>
                <a:gd name="connsiteY17" fmla="*/ 143830 h 143741"/>
                <a:gd name="connsiteX18" fmla="*/ 138268 w 138088"/>
                <a:gd name="connsiteY18" fmla="*/ 22300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088" h="143741">
                  <a:moveTo>
                    <a:pt x="138268" y="22300"/>
                  </a:moveTo>
                  <a:cubicBezTo>
                    <a:pt x="138268" y="5165"/>
                    <a:pt x="130089" y="88"/>
                    <a:pt x="124427" y="88"/>
                  </a:cubicBezTo>
                  <a:cubicBezTo>
                    <a:pt x="116564" y="88"/>
                    <a:pt x="109014" y="8338"/>
                    <a:pt x="109014" y="15319"/>
                  </a:cubicBezTo>
                  <a:cubicBezTo>
                    <a:pt x="109014" y="19444"/>
                    <a:pt x="110587" y="21348"/>
                    <a:pt x="114047" y="24839"/>
                  </a:cubicBezTo>
                  <a:cubicBezTo>
                    <a:pt x="120653" y="31185"/>
                    <a:pt x="124742" y="39435"/>
                    <a:pt x="124742" y="50858"/>
                  </a:cubicBezTo>
                  <a:cubicBezTo>
                    <a:pt x="124742" y="64185"/>
                    <a:pt x="105554" y="136849"/>
                    <a:pt x="68752" y="136849"/>
                  </a:cubicBezTo>
                  <a:cubicBezTo>
                    <a:pt x="52709" y="136849"/>
                    <a:pt x="45475" y="125744"/>
                    <a:pt x="45475" y="109243"/>
                  </a:cubicBezTo>
                  <a:cubicBezTo>
                    <a:pt x="45475" y="91474"/>
                    <a:pt x="53968" y="68310"/>
                    <a:pt x="63719" y="41973"/>
                  </a:cubicBezTo>
                  <a:cubicBezTo>
                    <a:pt x="65921" y="36579"/>
                    <a:pt x="67493" y="32137"/>
                    <a:pt x="67493" y="26108"/>
                  </a:cubicBezTo>
                  <a:cubicBezTo>
                    <a:pt x="67493" y="11829"/>
                    <a:pt x="57428" y="88"/>
                    <a:pt x="41700" y="88"/>
                  </a:cubicBezTo>
                  <a:cubicBezTo>
                    <a:pt x="12132" y="88"/>
                    <a:pt x="179" y="46098"/>
                    <a:pt x="179" y="48954"/>
                  </a:cubicBezTo>
                  <a:cubicBezTo>
                    <a:pt x="179" y="52127"/>
                    <a:pt x="3325" y="52127"/>
                    <a:pt x="3954" y="52127"/>
                  </a:cubicBezTo>
                  <a:cubicBezTo>
                    <a:pt x="7099" y="52127"/>
                    <a:pt x="7414" y="51493"/>
                    <a:pt x="8987" y="46416"/>
                  </a:cubicBezTo>
                  <a:cubicBezTo>
                    <a:pt x="18109" y="14367"/>
                    <a:pt x="31634" y="7069"/>
                    <a:pt x="40756" y="7069"/>
                  </a:cubicBezTo>
                  <a:cubicBezTo>
                    <a:pt x="43273" y="7069"/>
                    <a:pt x="48620" y="7069"/>
                    <a:pt x="48620" y="17223"/>
                  </a:cubicBezTo>
                  <a:cubicBezTo>
                    <a:pt x="48620" y="25156"/>
                    <a:pt x="45475" y="33723"/>
                    <a:pt x="43273" y="39435"/>
                  </a:cubicBezTo>
                  <a:cubicBezTo>
                    <a:pt x="29433" y="76243"/>
                    <a:pt x="25343" y="90839"/>
                    <a:pt x="25343" y="104484"/>
                  </a:cubicBezTo>
                  <a:cubicBezTo>
                    <a:pt x="25343" y="138753"/>
                    <a:pt x="53024" y="143830"/>
                    <a:pt x="67493" y="143830"/>
                  </a:cubicBezTo>
                  <a:cubicBezTo>
                    <a:pt x="120338" y="143830"/>
                    <a:pt x="138268" y="38800"/>
                    <a:pt x="138268" y="22300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4" name="任意形状 10023">
              <a:extLst>
                <a:ext uri="{FF2B5EF4-FFF2-40B4-BE49-F238E27FC236}">
                  <a16:creationId xmlns:a16="http://schemas.microsoft.com/office/drawing/2014/main" id="{69FDDDD9-AAFF-281A-473D-90A0A4403A45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482584" y="4562920"/>
              <a:ext cx="74423" cy="141044"/>
            </a:xfrm>
            <a:custGeom>
              <a:avLst/>
              <a:gdLst>
                <a:gd name="connsiteX0" fmla="*/ 45102 w 74423"/>
                <a:gd name="connsiteY0" fmla="*/ 51177 h 141044"/>
                <a:gd name="connsiteX1" fmla="*/ 67561 w 74423"/>
                <a:gd name="connsiteY1" fmla="*/ 51177 h 141044"/>
                <a:gd name="connsiteX2" fmla="*/ 74607 w 74423"/>
                <a:gd name="connsiteY2" fmla="*/ 46290 h 141044"/>
                <a:gd name="connsiteX3" fmla="*/ 68002 w 74423"/>
                <a:gd name="connsiteY3" fmla="*/ 43181 h 141044"/>
                <a:gd name="connsiteX4" fmla="*/ 47084 w 74423"/>
                <a:gd name="connsiteY4" fmla="*/ 43181 h 141044"/>
                <a:gd name="connsiteX5" fmla="*/ 55231 w 74423"/>
                <a:gd name="connsiteY5" fmla="*/ 10307 h 141044"/>
                <a:gd name="connsiteX6" fmla="*/ 55891 w 74423"/>
                <a:gd name="connsiteY6" fmla="*/ 7198 h 141044"/>
                <a:gd name="connsiteX7" fmla="*/ 48405 w 74423"/>
                <a:gd name="connsiteY7" fmla="*/ 90 h 141044"/>
                <a:gd name="connsiteX8" fmla="*/ 38056 w 74423"/>
                <a:gd name="connsiteY8" fmla="*/ 9641 h 141044"/>
                <a:gd name="connsiteX9" fmla="*/ 29689 w 74423"/>
                <a:gd name="connsiteY9" fmla="*/ 43181 h 141044"/>
                <a:gd name="connsiteX10" fmla="*/ 7230 w 74423"/>
                <a:gd name="connsiteY10" fmla="*/ 43181 h 141044"/>
                <a:gd name="connsiteX11" fmla="*/ 184 w 74423"/>
                <a:gd name="connsiteY11" fmla="*/ 48067 h 141044"/>
                <a:gd name="connsiteX12" fmla="*/ 6790 w 74423"/>
                <a:gd name="connsiteY12" fmla="*/ 51177 h 141044"/>
                <a:gd name="connsiteX13" fmla="*/ 27707 w 74423"/>
                <a:gd name="connsiteY13" fmla="*/ 51177 h 141044"/>
                <a:gd name="connsiteX14" fmla="*/ 14716 w 74423"/>
                <a:gd name="connsiteY14" fmla="*/ 103597 h 141044"/>
                <a:gd name="connsiteX15" fmla="*/ 11414 w 74423"/>
                <a:gd name="connsiteY15" fmla="*/ 120033 h 141044"/>
                <a:gd name="connsiteX16" fmla="*/ 34974 w 74423"/>
                <a:gd name="connsiteY16" fmla="*/ 141135 h 141044"/>
                <a:gd name="connsiteX17" fmla="*/ 73286 w 74423"/>
                <a:gd name="connsiteY17" fmla="*/ 107151 h 141044"/>
                <a:gd name="connsiteX18" fmla="*/ 69763 w 74423"/>
                <a:gd name="connsiteY18" fmla="*/ 104263 h 141044"/>
                <a:gd name="connsiteX19" fmla="*/ 65139 w 74423"/>
                <a:gd name="connsiteY19" fmla="*/ 108483 h 141044"/>
                <a:gd name="connsiteX20" fmla="*/ 35634 w 74423"/>
                <a:gd name="connsiteY20" fmla="*/ 134915 h 141044"/>
                <a:gd name="connsiteX21" fmla="*/ 27928 w 74423"/>
                <a:gd name="connsiteY21" fmla="*/ 124032 h 141044"/>
                <a:gd name="connsiteX22" fmla="*/ 29249 w 74423"/>
                <a:gd name="connsiteY22" fmla="*/ 114925 h 141044"/>
                <a:gd name="connsiteX23" fmla="*/ 45102 w 74423"/>
                <a:gd name="connsiteY23" fmla="*/ 51177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02" y="51177"/>
                  </a:moveTo>
                  <a:lnTo>
                    <a:pt x="67561" y="51177"/>
                  </a:lnTo>
                  <a:cubicBezTo>
                    <a:pt x="71745" y="51177"/>
                    <a:pt x="74607" y="51177"/>
                    <a:pt x="74607" y="46290"/>
                  </a:cubicBezTo>
                  <a:cubicBezTo>
                    <a:pt x="74607" y="43181"/>
                    <a:pt x="71745" y="43181"/>
                    <a:pt x="68002" y="43181"/>
                  </a:cubicBezTo>
                  <a:lnTo>
                    <a:pt x="47084" y="43181"/>
                  </a:lnTo>
                  <a:lnTo>
                    <a:pt x="55231" y="10307"/>
                  </a:lnTo>
                  <a:cubicBezTo>
                    <a:pt x="55451" y="9197"/>
                    <a:pt x="55891" y="8086"/>
                    <a:pt x="55891" y="7198"/>
                  </a:cubicBezTo>
                  <a:cubicBezTo>
                    <a:pt x="55891" y="3199"/>
                    <a:pt x="52809" y="90"/>
                    <a:pt x="48405" y="90"/>
                  </a:cubicBezTo>
                  <a:cubicBezTo>
                    <a:pt x="42900" y="90"/>
                    <a:pt x="39597" y="3866"/>
                    <a:pt x="38056" y="9641"/>
                  </a:cubicBezTo>
                  <a:cubicBezTo>
                    <a:pt x="36515" y="15194"/>
                    <a:pt x="39377" y="4532"/>
                    <a:pt x="29689" y="43181"/>
                  </a:cubicBezTo>
                  <a:lnTo>
                    <a:pt x="7230" y="43181"/>
                  </a:lnTo>
                  <a:cubicBezTo>
                    <a:pt x="3047" y="43181"/>
                    <a:pt x="184" y="43181"/>
                    <a:pt x="184" y="48067"/>
                  </a:cubicBezTo>
                  <a:cubicBezTo>
                    <a:pt x="184" y="51177"/>
                    <a:pt x="2826" y="51177"/>
                    <a:pt x="6790" y="51177"/>
                  </a:cubicBezTo>
                  <a:lnTo>
                    <a:pt x="27707" y="51177"/>
                  </a:lnTo>
                  <a:lnTo>
                    <a:pt x="14716" y="103597"/>
                  </a:lnTo>
                  <a:cubicBezTo>
                    <a:pt x="13395" y="109150"/>
                    <a:pt x="11414" y="117146"/>
                    <a:pt x="11414" y="120033"/>
                  </a:cubicBezTo>
                  <a:cubicBezTo>
                    <a:pt x="11414" y="133138"/>
                    <a:pt x="22423" y="141135"/>
                    <a:pt x="34974" y="141135"/>
                  </a:cubicBezTo>
                  <a:cubicBezTo>
                    <a:pt x="59414" y="141135"/>
                    <a:pt x="73286" y="110038"/>
                    <a:pt x="73286" y="107151"/>
                  </a:cubicBezTo>
                  <a:cubicBezTo>
                    <a:pt x="73286" y="104263"/>
                    <a:pt x="70424" y="104263"/>
                    <a:pt x="69763" y="104263"/>
                  </a:cubicBezTo>
                  <a:cubicBezTo>
                    <a:pt x="67121" y="104263"/>
                    <a:pt x="66901" y="104707"/>
                    <a:pt x="65139" y="108483"/>
                  </a:cubicBezTo>
                  <a:cubicBezTo>
                    <a:pt x="58974" y="122477"/>
                    <a:pt x="47744" y="134915"/>
                    <a:pt x="35634" y="134915"/>
                  </a:cubicBezTo>
                  <a:cubicBezTo>
                    <a:pt x="31010" y="134915"/>
                    <a:pt x="27928" y="132028"/>
                    <a:pt x="27928" y="124032"/>
                  </a:cubicBezTo>
                  <a:cubicBezTo>
                    <a:pt x="27928" y="121810"/>
                    <a:pt x="28808" y="117146"/>
                    <a:pt x="29249" y="114925"/>
                  </a:cubicBezTo>
                  <a:lnTo>
                    <a:pt x="45102" y="51177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5" name="任意形状 10024">
              <a:extLst>
                <a:ext uri="{FF2B5EF4-FFF2-40B4-BE49-F238E27FC236}">
                  <a16:creationId xmlns:a16="http://schemas.microsoft.com/office/drawing/2014/main" id="{3C7D0B9A-C789-A14A-039F-EC05ECDE6606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6689074" y="4537694"/>
              <a:ext cx="209177" cy="74250"/>
            </a:xfrm>
            <a:custGeom>
              <a:avLst/>
              <a:gdLst>
                <a:gd name="connsiteX0" fmla="*/ 198673 w 209177"/>
                <a:gd name="connsiteY0" fmla="*/ 12781 h 74250"/>
                <a:gd name="connsiteX1" fmla="*/ 209368 w 209177"/>
                <a:gd name="connsiteY1" fmla="*/ 6435 h 74250"/>
                <a:gd name="connsiteX2" fmla="*/ 198987 w 209177"/>
                <a:gd name="connsiteY2" fmla="*/ 88 h 74250"/>
                <a:gd name="connsiteX3" fmla="*/ 10571 w 209177"/>
                <a:gd name="connsiteY3" fmla="*/ 88 h 74250"/>
                <a:gd name="connsiteX4" fmla="*/ 190 w 209177"/>
                <a:gd name="connsiteY4" fmla="*/ 6435 h 74250"/>
                <a:gd name="connsiteX5" fmla="*/ 10885 w 209177"/>
                <a:gd name="connsiteY5" fmla="*/ 12781 h 74250"/>
                <a:gd name="connsiteX6" fmla="*/ 198673 w 209177"/>
                <a:gd name="connsiteY6" fmla="*/ 12781 h 74250"/>
                <a:gd name="connsiteX7" fmla="*/ 198987 w 209177"/>
                <a:gd name="connsiteY7" fmla="*/ 74339 h 74250"/>
                <a:gd name="connsiteX8" fmla="*/ 209368 w 209177"/>
                <a:gd name="connsiteY8" fmla="*/ 67993 h 74250"/>
                <a:gd name="connsiteX9" fmla="*/ 198673 w 209177"/>
                <a:gd name="connsiteY9" fmla="*/ 61647 h 74250"/>
                <a:gd name="connsiteX10" fmla="*/ 10885 w 209177"/>
                <a:gd name="connsiteY10" fmla="*/ 61647 h 74250"/>
                <a:gd name="connsiteX11" fmla="*/ 190 w 209177"/>
                <a:gd name="connsiteY11" fmla="*/ 67993 h 74250"/>
                <a:gd name="connsiteX12" fmla="*/ 10571 w 209177"/>
                <a:gd name="connsiteY12" fmla="*/ 74339 h 74250"/>
                <a:gd name="connsiteX13" fmla="*/ 198987 w 209177"/>
                <a:gd name="connsiteY13" fmla="*/ 74339 h 7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177" h="74250">
                  <a:moveTo>
                    <a:pt x="198673" y="12781"/>
                  </a:moveTo>
                  <a:cubicBezTo>
                    <a:pt x="203391" y="12781"/>
                    <a:pt x="209368" y="12781"/>
                    <a:pt x="209368" y="6435"/>
                  </a:cubicBezTo>
                  <a:cubicBezTo>
                    <a:pt x="209368" y="88"/>
                    <a:pt x="203391" y="88"/>
                    <a:pt x="198987" y="88"/>
                  </a:cubicBezTo>
                  <a:lnTo>
                    <a:pt x="10571" y="88"/>
                  </a:lnTo>
                  <a:cubicBezTo>
                    <a:pt x="6167" y="88"/>
                    <a:pt x="190" y="88"/>
                    <a:pt x="190" y="6435"/>
                  </a:cubicBezTo>
                  <a:cubicBezTo>
                    <a:pt x="190" y="12781"/>
                    <a:pt x="6167" y="12781"/>
                    <a:pt x="10885" y="12781"/>
                  </a:cubicBezTo>
                  <a:lnTo>
                    <a:pt x="198673" y="12781"/>
                  </a:lnTo>
                  <a:close/>
                  <a:moveTo>
                    <a:pt x="198987" y="74339"/>
                  </a:moveTo>
                  <a:cubicBezTo>
                    <a:pt x="203391" y="74339"/>
                    <a:pt x="209368" y="74339"/>
                    <a:pt x="209368" y="67993"/>
                  </a:cubicBezTo>
                  <a:cubicBezTo>
                    <a:pt x="209368" y="61647"/>
                    <a:pt x="203391" y="61647"/>
                    <a:pt x="198673" y="61647"/>
                  </a:cubicBezTo>
                  <a:lnTo>
                    <a:pt x="10885" y="61647"/>
                  </a:lnTo>
                  <a:cubicBezTo>
                    <a:pt x="6167" y="61647"/>
                    <a:pt x="190" y="61647"/>
                    <a:pt x="190" y="67993"/>
                  </a:cubicBezTo>
                  <a:cubicBezTo>
                    <a:pt x="190" y="74339"/>
                    <a:pt x="6167" y="74339"/>
                    <a:pt x="10571" y="74339"/>
                  </a:cubicBezTo>
                  <a:lnTo>
                    <a:pt x="198987" y="74339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6" name="任意形状 10025">
              <a:extLst>
                <a:ext uri="{FF2B5EF4-FFF2-40B4-BE49-F238E27FC236}">
                  <a16:creationId xmlns:a16="http://schemas.microsoft.com/office/drawing/2014/main" id="{5CE20D31-11F0-5797-B692-C6E89EB37BC2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7012881" y="4430125"/>
              <a:ext cx="171470" cy="285580"/>
            </a:xfrm>
            <a:custGeom>
              <a:avLst/>
              <a:gdLst>
                <a:gd name="connsiteX0" fmla="*/ 171672 w 171470"/>
                <a:gd name="connsiteY0" fmla="*/ 43560 h 285580"/>
                <a:gd name="connsiteX1" fmla="*/ 128893 w 171470"/>
                <a:gd name="connsiteY1" fmla="*/ 88 h 285580"/>
                <a:gd name="connsiteX2" fmla="*/ 90832 w 171470"/>
                <a:gd name="connsiteY2" fmla="*/ 13415 h 285580"/>
                <a:gd name="connsiteX3" fmla="*/ 50255 w 171470"/>
                <a:gd name="connsiteY3" fmla="*/ 81003 h 285580"/>
                <a:gd name="connsiteX4" fmla="*/ 241 w 171470"/>
                <a:gd name="connsiteY4" fmla="*/ 282495 h 285580"/>
                <a:gd name="connsiteX5" fmla="*/ 4015 w 171470"/>
                <a:gd name="connsiteY5" fmla="*/ 285668 h 285580"/>
                <a:gd name="connsiteX6" fmla="*/ 7790 w 171470"/>
                <a:gd name="connsiteY6" fmla="*/ 284082 h 285580"/>
                <a:gd name="connsiteX7" fmla="*/ 29809 w 171470"/>
                <a:gd name="connsiteY7" fmla="*/ 196504 h 285580"/>
                <a:gd name="connsiteX8" fmla="*/ 72588 w 171470"/>
                <a:gd name="connsiteY8" fmla="*/ 227283 h 285580"/>
                <a:gd name="connsiteX9" fmla="*/ 133296 w 171470"/>
                <a:gd name="connsiteY9" fmla="*/ 202216 h 285580"/>
                <a:gd name="connsiteX10" fmla="*/ 158460 w 171470"/>
                <a:gd name="connsiteY10" fmla="*/ 143830 h 285580"/>
                <a:gd name="connsiteX11" fmla="*/ 135498 w 171470"/>
                <a:gd name="connsiteY11" fmla="*/ 96551 h 285580"/>
                <a:gd name="connsiteX12" fmla="*/ 171672 w 171470"/>
                <a:gd name="connsiteY12" fmla="*/ 43560 h 285580"/>
                <a:gd name="connsiteX13" fmla="*/ 115052 w 171470"/>
                <a:gd name="connsiteY13" fmla="*/ 96234 h 285580"/>
                <a:gd name="connsiteX14" fmla="*/ 99954 w 171470"/>
                <a:gd name="connsiteY14" fmla="*/ 98455 h 285580"/>
                <a:gd name="connsiteX15" fmla="*/ 86114 w 171470"/>
                <a:gd name="connsiteY15" fmla="*/ 97186 h 285580"/>
                <a:gd name="connsiteX16" fmla="*/ 101527 w 171470"/>
                <a:gd name="connsiteY16" fmla="*/ 94647 h 285580"/>
                <a:gd name="connsiteX17" fmla="*/ 115052 w 171470"/>
                <a:gd name="connsiteY17" fmla="*/ 96234 h 285580"/>
                <a:gd name="connsiteX18" fmla="*/ 154057 w 171470"/>
                <a:gd name="connsiteY18" fmla="*/ 36262 h 285580"/>
                <a:gd name="connsiteX19" fmla="*/ 125747 w 171470"/>
                <a:gd name="connsiteY19" fmla="*/ 91157 h 285580"/>
                <a:gd name="connsiteX20" fmla="*/ 101527 w 171470"/>
                <a:gd name="connsiteY20" fmla="*/ 87349 h 285580"/>
                <a:gd name="connsiteX21" fmla="*/ 77306 w 171470"/>
                <a:gd name="connsiteY21" fmla="*/ 97503 h 285580"/>
                <a:gd name="connsiteX22" fmla="*/ 99010 w 171470"/>
                <a:gd name="connsiteY22" fmla="*/ 105436 h 285580"/>
                <a:gd name="connsiteX23" fmla="*/ 124803 w 171470"/>
                <a:gd name="connsiteY23" fmla="*/ 101311 h 285580"/>
                <a:gd name="connsiteX24" fmla="*/ 138644 w 171470"/>
                <a:gd name="connsiteY24" fmla="*/ 137167 h 285580"/>
                <a:gd name="connsiteX25" fmla="*/ 122916 w 171470"/>
                <a:gd name="connsiteY25" fmla="*/ 191744 h 285580"/>
                <a:gd name="connsiteX26" fmla="*/ 71644 w 171470"/>
                <a:gd name="connsiteY26" fmla="*/ 220302 h 285580"/>
                <a:gd name="connsiteX27" fmla="*/ 35785 w 171470"/>
                <a:gd name="connsiteY27" fmla="*/ 179369 h 285580"/>
                <a:gd name="connsiteX28" fmla="*/ 37358 w 171470"/>
                <a:gd name="connsiteY28" fmla="*/ 165407 h 285580"/>
                <a:gd name="connsiteX29" fmla="*/ 57489 w 171470"/>
                <a:gd name="connsiteY29" fmla="*/ 85128 h 285580"/>
                <a:gd name="connsiteX30" fmla="*/ 124803 w 171470"/>
                <a:gd name="connsiteY30" fmla="*/ 7386 h 285580"/>
                <a:gd name="connsiteX31" fmla="*/ 154057 w 171470"/>
                <a:gd name="connsiteY31" fmla="*/ 36262 h 28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1470" h="285580">
                  <a:moveTo>
                    <a:pt x="171672" y="43560"/>
                  </a:moveTo>
                  <a:cubicBezTo>
                    <a:pt x="171672" y="19762"/>
                    <a:pt x="154371" y="88"/>
                    <a:pt x="128893" y="88"/>
                  </a:cubicBezTo>
                  <a:cubicBezTo>
                    <a:pt x="110649" y="88"/>
                    <a:pt x="101841" y="5165"/>
                    <a:pt x="90832" y="13415"/>
                  </a:cubicBezTo>
                  <a:cubicBezTo>
                    <a:pt x="73531" y="26108"/>
                    <a:pt x="56231" y="56887"/>
                    <a:pt x="50255" y="81003"/>
                  </a:cubicBezTo>
                  <a:lnTo>
                    <a:pt x="241" y="282495"/>
                  </a:lnTo>
                  <a:cubicBezTo>
                    <a:pt x="-74" y="283765"/>
                    <a:pt x="1499" y="285668"/>
                    <a:pt x="4015" y="285668"/>
                  </a:cubicBezTo>
                  <a:cubicBezTo>
                    <a:pt x="6532" y="285668"/>
                    <a:pt x="7475" y="285034"/>
                    <a:pt x="7790" y="284082"/>
                  </a:cubicBezTo>
                  <a:lnTo>
                    <a:pt x="29809" y="196504"/>
                  </a:lnTo>
                  <a:cubicBezTo>
                    <a:pt x="35785" y="215543"/>
                    <a:pt x="49625" y="227283"/>
                    <a:pt x="72588" y="227283"/>
                  </a:cubicBezTo>
                  <a:cubicBezTo>
                    <a:pt x="95550" y="227283"/>
                    <a:pt x="119141" y="216177"/>
                    <a:pt x="133296" y="202216"/>
                  </a:cubicBezTo>
                  <a:cubicBezTo>
                    <a:pt x="148395" y="187619"/>
                    <a:pt x="158460" y="167311"/>
                    <a:pt x="158460" y="143830"/>
                  </a:cubicBezTo>
                  <a:cubicBezTo>
                    <a:pt x="158460" y="120984"/>
                    <a:pt x="146822" y="104484"/>
                    <a:pt x="135498" y="96551"/>
                  </a:cubicBezTo>
                  <a:cubicBezTo>
                    <a:pt x="153742" y="86080"/>
                    <a:pt x="171672" y="66406"/>
                    <a:pt x="171672" y="43560"/>
                  </a:cubicBezTo>
                  <a:close/>
                  <a:moveTo>
                    <a:pt x="115052" y="96234"/>
                  </a:moveTo>
                  <a:cubicBezTo>
                    <a:pt x="110963" y="97820"/>
                    <a:pt x="107503" y="98455"/>
                    <a:pt x="99954" y="98455"/>
                  </a:cubicBezTo>
                  <a:cubicBezTo>
                    <a:pt x="95550" y="98455"/>
                    <a:pt x="89259" y="98772"/>
                    <a:pt x="86114" y="97186"/>
                  </a:cubicBezTo>
                  <a:cubicBezTo>
                    <a:pt x="86743" y="94012"/>
                    <a:pt x="98066" y="94647"/>
                    <a:pt x="101527" y="94647"/>
                  </a:cubicBezTo>
                  <a:cubicBezTo>
                    <a:pt x="108132" y="94647"/>
                    <a:pt x="110963" y="94647"/>
                    <a:pt x="115052" y="96234"/>
                  </a:cubicBezTo>
                  <a:close/>
                  <a:moveTo>
                    <a:pt x="154057" y="36262"/>
                  </a:moveTo>
                  <a:cubicBezTo>
                    <a:pt x="154057" y="58474"/>
                    <a:pt x="142104" y="81320"/>
                    <a:pt x="125747" y="91157"/>
                  </a:cubicBezTo>
                  <a:cubicBezTo>
                    <a:pt x="117254" y="87984"/>
                    <a:pt x="110963" y="87349"/>
                    <a:pt x="101527" y="87349"/>
                  </a:cubicBezTo>
                  <a:cubicBezTo>
                    <a:pt x="94921" y="87349"/>
                    <a:pt x="77306" y="87032"/>
                    <a:pt x="77306" y="97503"/>
                  </a:cubicBezTo>
                  <a:cubicBezTo>
                    <a:pt x="76991" y="106388"/>
                    <a:pt x="93348" y="105436"/>
                    <a:pt x="99010" y="105436"/>
                  </a:cubicBezTo>
                  <a:cubicBezTo>
                    <a:pt x="110649" y="105436"/>
                    <a:pt x="115367" y="105118"/>
                    <a:pt x="124803" y="101311"/>
                  </a:cubicBezTo>
                  <a:cubicBezTo>
                    <a:pt x="136756" y="112734"/>
                    <a:pt x="138329" y="122570"/>
                    <a:pt x="138644" y="137167"/>
                  </a:cubicBezTo>
                  <a:cubicBezTo>
                    <a:pt x="139273" y="155571"/>
                    <a:pt x="131724" y="179369"/>
                    <a:pt x="122916" y="191744"/>
                  </a:cubicBezTo>
                  <a:cubicBezTo>
                    <a:pt x="110649" y="208879"/>
                    <a:pt x="89574" y="220302"/>
                    <a:pt x="71644" y="220302"/>
                  </a:cubicBezTo>
                  <a:cubicBezTo>
                    <a:pt x="47738" y="220302"/>
                    <a:pt x="35785" y="201898"/>
                    <a:pt x="35785" y="179369"/>
                  </a:cubicBezTo>
                  <a:cubicBezTo>
                    <a:pt x="35785" y="176196"/>
                    <a:pt x="35785" y="171436"/>
                    <a:pt x="37358" y="165407"/>
                  </a:cubicBezTo>
                  <a:lnTo>
                    <a:pt x="57489" y="85128"/>
                  </a:lnTo>
                  <a:cubicBezTo>
                    <a:pt x="64409" y="57839"/>
                    <a:pt x="87057" y="7386"/>
                    <a:pt x="124803" y="7386"/>
                  </a:cubicBezTo>
                  <a:cubicBezTo>
                    <a:pt x="143047" y="7386"/>
                    <a:pt x="154057" y="17223"/>
                    <a:pt x="154057" y="36262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7" name="任意形状 10026">
              <a:extLst>
                <a:ext uri="{FF2B5EF4-FFF2-40B4-BE49-F238E27FC236}">
                  <a16:creationId xmlns:a16="http://schemas.microsoft.com/office/drawing/2014/main" id="{64080D35-8AF6-57E1-F8E6-336875F9259F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7195275" y="4554257"/>
              <a:ext cx="97322" cy="147486"/>
            </a:xfrm>
            <a:custGeom>
              <a:avLst/>
              <a:gdLst>
                <a:gd name="connsiteX0" fmla="*/ 97529 w 97322"/>
                <a:gd name="connsiteY0" fmla="*/ 107151 h 147486"/>
                <a:gd name="connsiteX1" fmla="*/ 90043 w 97322"/>
                <a:gd name="connsiteY1" fmla="*/ 107151 h 147486"/>
                <a:gd name="connsiteX2" fmla="*/ 84318 w 97322"/>
                <a:gd name="connsiteY2" fmla="*/ 127363 h 147486"/>
                <a:gd name="connsiteX3" fmla="*/ 62519 w 97322"/>
                <a:gd name="connsiteY3" fmla="*/ 128696 h 147486"/>
                <a:gd name="connsiteX4" fmla="*/ 22005 w 97322"/>
                <a:gd name="connsiteY4" fmla="*/ 128696 h 147486"/>
                <a:gd name="connsiteX5" fmla="*/ 66042 w 97322"/>
                <a:gd name="connsiteY5" fmla="*/ 91380 h 147486"/>
                <a:gd name="connsiteX6" fmla="*/ 97529 w 97322"/>
                <a:gd name="connsiteY6" fmla="*/ 43403 h 147486"/>
                <a:gd name="connsiteX7" fmla="*/ 46005 w 97322"/>
                <a:gd name="connsiteY7" fmla="*/ 90 h 147486"/>
                <a:gd name="connsiteX8" fmla="*/ 207 w 97322"/>
                <a:gd name="connsiteY8" fmla="*/ 39849 h 147486"/>
                <a:gd name="connsiteX9" fmla="*/ 11876 w 97322"/>
                <a:gd name="connsiteY9" fmla="*/ 52287 h 147486"/>
                <a:gd name="connsiteX10" fmla="*/ 23546 w 97322"/>
                <a:gd name="connsiteY10" fmla="*/ 40515 h 147486"/>
                <a:gd name="connsiteX11" fmla="*/ 10555 w 97322"/>
                <a:gd name="connsiteY11" fmla="*/ 28743 h 147486"/>
                <a:gd name="connsiteX12" fmla="*/ 42703 w 97322"/>
                <a:gd name="connsiteY12" fmla="*/ 8086 h 147486"/>
                <a:gd name="connsiteX13" fmla="*/ 76171 w 97322"/>
                <a:gd name="connsiteY13" fmla="*/ 43403 h 147486"/>
                <a:gd name="connsiteX14" fmla="*/ 55473 w 97322"/>
                <a:gd name="connsiteY14" fmla="*/ 86049 h 147486"/>
                <a:gd name="connsiteX15" fmla="*/ 2408 w 97322"/>
                <a:gd name="connsiteY15" fmla="*/ 138913 h 147486"/>
                <a:gd name="connsiteX16" fmla="*/ 207 w 97322"/>
                <a:gd name="connsiteY16" fmla="*/ 147576 h 147486"/>
                <a:gd name="connsiteX17" fmla="*/ 90923 w 97322"/>
                <a:gd name="connsiteY17" fmla="*/ 147576 h 147486"/>
                <a:gd name="connsiteX18" fmla="*/ 97529 w 97322"/>
                <a:gd name="connsiteY18" fmla="*/ 107151 h 14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322" h="147486">
                  <a:moveTo>
                    <a:pt x="97529" y="107151"/>
                  </a:moveTo>
                  <a:lnTo>
                    <a:pt x="90043" y="107151"/>
                  </a:lnTo>
                  <a:cubicBezTo>
                    <a:pt x="89382" y="112037"/>
                    <a:pt x="87180" y="125142"/>
                    <a:pt x="84318" y="127363"/>
                  </a:cubicBezTo>
                  <a:cubicBezTo>
                    <a:pt x="82556" y="128696"/>
                    <a:pt x="65602" y="128696"/>
                    <a:pt x="62519" y="128696"/>
                  </a:cubicBezTo>
                  <a:lnTo>
                    <a:pt x="22005" y="128696"/>
                  </a:lnTo>
                  <a:cubicBezTo>
                    <a:pt x="45125" y="108039"/>
                    <a:pt x="52831" y="101820"/>
                    <a:pt x="66042" y="91380"/>
                  </a:cubicBezTo>
                  <a:cubicBezTo>
                    <a:pt x="82336" y="78275"/>
                    <a:pt x="97529" y="64504"/>
                    <a:pt x="97529" y="43403"/>
                  </a:cubicBezTo>
                  <a:cubicBezTo>
                    <a:pt x="97529" y="16527"/>
                    <a:pt x="74189" y="90"/>
                    <a:pt x="46005" y="90"/>
                  </a:cubicBezTo>
                  <a:cubicBezTo>
                    <a:pt x="18702" y="90"/>
                    <a:pt x="207" y="19414"/>
                    <a:pt x="207" y="39849"/>
                  </a:cubicBezTo>
                  <a:cubicBezTo>
                    <a:pt x="207" y="51177"/>
                    <a:pt x="9675" y="52287"/>
                    <a:pt x="11876" y="52287"/>
                  </a:cubicBezTo>
                  <a:cubicBezTo>
                    <a:pt x="17161" y="52287"/>
                    <a:pt x="23546" y="48511"/>
                    <a:pt x="23546" y="40515"/>
                  </a:cubicBezTo>
                  <a:cubicBezTo>
                    <a:pt x="23546" y="36517"/>
                    <a:pt x="22005" y="28743"/>
                    <a:pt x="10555" y="28743"/>
                  </a:cubicBezTo>
                  <a:cubicBezTo>
                    <a:pt x="17381" y="12973"/>
                    <a:pt x="32354" y="8086"/>
                    <a:pt x="42703" y="8086"/>
                  </a:cubicBezTo>
                  <a:cubicBezTo>
                    <a:pt x="64721" y="8086"/>
                    <a:pt x="76171" y="25411"/>
                    <a:pt x="76171" y="43403"/>
                  </a:cubicBezTo>
                  <a:cubicBezTo>
                    <a:pt x="76171" y="62727"/>
                    <a:pt x="62519" y="78053"/>
                    <a:pt x="55473" y="86049"/>
                  </a:cubicBezTo>
                  <a:lnTo>
                    <a:pt x="2408" y="138913"/>
                  </a:lnTo>
                  <a:cubicBezTo>
                    <a:pt x="207" y="140913"/>
                    <a:pt x="207" y="141357"/>
                    <a:pt x="207" y="147576"/>
                  </a:cubicBezTo>
                  <a:lnTo>
                    <a:pt x="90923" y="147576"/>
                  </a:lnTo>
                  <a:lnTo>
                    <a:pt x="97529" y="107151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8" name="任意形状 10027">
              <a:extLst>
                <a:ext uri="{FF2B5EF4-FFF2-40B4-BE49-F238E27FC236}">
                  <a16:creationId xmlns:a16="http://schemas.microsoft.com/office/drawing/2014/main" id="{D86CE73A-F848-F13F-329E-B1A16D51EDCA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7331638" y="4513896"/>
              <a:ext cx="138088" cy="143741"/>
            </a:xfrm>
            <a:custGeom>
              <a:avLst/>
              <a:gdLst>
                <a:gd name="connsiteX0" fmla="*/ 138299 w 138088"/>
                <a:gd name="connsiteY0" fmla="*/ 22300 h 143741"/>
                <a:gd name="connsiteX1" fmla="*/ 124459 w 138088"/>
                <a:gd name="connsiteY1" fmla="*/ 88 h 143741"/>
                <a:gd name="connsiteX2" fmla="*/ 109046 w 138088"/>
                <a:gd name="connsiteY2" fmla="*/ 15319 h 143741"/>
                <a:gd name="connsiteX3" fmla="*/ 114079 w 138088"/>
                <a:gd name="connsiteY3" fmla="*/ 24839 h 143741"/>
                <a:gd name="connsiteX4" fmla="*/ 124774 w 138088"/>
                <a:gd name="connsiteY4" fmla="*/ 50858 h 143741"/>
                <a:gd name="connsiteX5" fmla="*/ 68783 w 138088"/>
                <a:gd name="connsiteY5" fmla="*/ 136849 h 143741"/>
                <a:gd name="connsiteX6" fmla="*/ 45507 w 138088"/>
                <a:gd name="connsiteY6" fmla="*/ 109243 h 143741"/>
                <a:gd name="connsiteX7" fmla="*/ 63751 w 138088"/>
                <a:gd name="connsiteY7" fmla="*/ 41973 h 143741"/>
                <a:gd name="connsiteX8" fmla="*/ 67525 w 138088"/>
                <a:gd name="connsiteY8" fmla="*/ 26108 h 143741"/>
                <a:gd name="connsiteX9" fmla="*/ 41732 w 138088"/>
                <a:gd name="connsiteY9" fmla="*/ 88 h 143741"/>
                <a:gd name="connsiteX10" fmla="*/ 211 w 138088"/>
                <a:gd name="connsiteY10" fmla="*/ 48954 h 143741"/>
                <a:gd name="connsiteX11" fmla="*/ 3986 w 138088"/>
                <a:gd name="connsiteY11" fmla="*/ 52127 h 143741"/>
                <a:gd name="connsiteX12" fmla="*/ 9018 w 138088"/>
                <a:gd name="connsiteY12" fmla="*/ 46416 h 143741"/>
                <a:gd name="connsiteX13" fmla="*/ 40788 w 138088"/>
                <a:gd name="connsiteY13" fmla="*/ 7069 h 143741"/>
                <a:gd name="connsiteX14" fmla="*/ 48652 w 138088"/>
                <a:gd name="connsiteY14" fmla="*/ 17223 h 143741"/>
                <a:gd name="connsiteX15" fmla="*/ 43305 w 138088"/>
                <a:gd name="connsiteY15" fmla="*/ 39435 h 143741"/>
                <a:gd name="connsiteX16" fmla="*/ 25375 w 138088"/>
                <a:gd name="connsiteY16" fmla="*/ 104484 h 143741"/>
                <a:gd name="connsiteX17" fmla="*/ 67525 w 138088"/>
                <a:gd name="connsiteY17" fmla="*/ 143830 h 143741"/>
                <a:gd name="connsiteX18" fmla="*/ 138299 w 138088"/>
                <a:gd name="connsiteY18" fmla="*/ 22300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088" h="143741">
                  <a:moveTo>
                    <a:pt x="138299" y="22300"/>
                  </a:moveTo>
                  <a:cubicBezTo>
                    <a:pt x="138299" y="5165"/>
                    <a:pt x="130121" y="88"/>
                    <a:pt x="124459" y="88"/>
                  </a:cubicBezTo>
                  <a:cubicBezTo>
                    <a:pt x="116595" y="88"/>
                    <a:pt x="109046" y="8338"/>
                    <a:pt x="109046" y="15319"/>
                  </a:cubicBezTo>
                  <a:cubicBezTo>
                    <a:pt x="109046" y="19444"/>
                    <a:pt x="110619" y="21348"/>
                    <a:pt x="114079" y="24839"/>
                  </a:cubicBezTo>
                  <a:cubicBezTo>
                    <a:pt x="120684" y="31185"/>
                    <a:pt x="124774" y="39435"/>
                    <a:pt x="124774" y="50858"/>
                  </a:cubicBezTo>
                  <a:cubicBezTo>
                    <a:pt x="124774" y="64185"/>
                    <a:pt x="105586" y="136849"/>
                    <a:pt x="68783" y="136849"/>
                  </a:cubicBezTo>
                  <a:cubicBezTo>
                    <a:pt x="52741" y="136849"/>
                    <a:pt x="45507" y="125744"/>
                    <a:pt x="45507" y="109243"/>
                  </a:cubicBezTo>
                  <a:cubicBezTo>
                    <a:pt x="45507" y="91474"/>
                    <a:pt x="53999" y="68310"/>
                    <a:pt x="63751" y="41973"/>
                  </a:cubicBezTo>
                  <a:cubicBezTo>
                    <a:pt x="65952" y="36579"/>
                    <a:pt x="67525" y="32137"/>
                    <a:pt x="67525" y="26108"/>
                  </a:cubicBezTo>
                  <a:cubicBezTo>
                    <a:pt x="67525" y="11829"/>
                    <a:pt x="57459" y="88"/>
                    <a:pt x="41732" y="88"/>
                  </a:cubicBezTo>
                  <a:cubicBezTo>
                    <a:pt x="12164" y="88"/>
                    <a:pt x="211" y="46098"/>
                    <a:pt x="211" y="48954"/>
                  </a:cubicBezTo>
                  <a:cubicBezTo>
                    <a:pt x="211" y="52127"/>
                    <a:pt x="3357" y="52127"/>
                    <a:pt x="3986" y="52127"/>
                  </a:cubicBezTo>
                  <a:cubicBezTo>
                    <a:pt x="7131" y="52127"/>
                    <a:pt x="7446" y="51493"/>
                    <a:pt x="9018" y="46416"/>
                  </a:cubicBezTo>
                  <a:cubicBezTo>
                    <a:pt x="18140" y="14367"/>
                    <a:pt x="31666" y="7069"/>
                    <a:pt x="40788" y="7069"/>
                  </a:cubicBezTo>
                  <a:cubicBezTo>
                    <a:pt x="43305" y="7069"/>
                    <a:pt x="48652" y="7069"/>
                    <a:pt x="48652" y="17223"/>
                  </a:cubicBezTo>
                  <a:cubicBezTo>
                    <a:pt x="48652" y="25156"/>
                    <a:pt x="45507" y="33723"/>
                    <a:pt x="43305" y="39435"/>
                  </a:cubicBezTo>
                  <a:cubicBezTo>
                    <a:pt x="29464" y="76243"/>
                    <a:pt x="25375" y="90839"/>
                    <a:pt x="25375" y="104484"/>
                  </a:cubicBezTo>
                  <a:cubicBezTo>
                    <a:pt x="25375" y="138753"/>
                    <a:pt x="53056" y="143830"/>
                    <a:pt x="67525" y="143830"/>
                  </a:cubicBezTo>
                  <a:cubicBezTo>
                    <a:pt x="120370" y="143830"/>
                    <a:pt x="138299" y="38800"/>
                    <a:pt x="138299" y="22300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9" name="任意形状 10028">
              <a:extLst>
                <a:ext uri="{FF2B5EF4-FFF2-40B4-BE49-F238E27FC236}">
                  <a16:creationId xmlns:a16="http://schemas.microsoft.com/office/drawing/2014/main" id="{CB198991-97A7-EBE8-8573-05846C36103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7484234" y="4562920"/>
              <a:ext cx="74423" cy="141044"/>
            </a:xfrm>
            <a:custGeom>
              <a:avLst/>
              <a:gdLst>
                <a:gd name="connsiteX0" fmla="*/ 45134 w 74423"/>
                <a:gd name="connsiteY0" fmla="*/ 51177 h 141044"/>
                <a:gd name="connsiteX1" fmla="*/ 67593 w 74423"/>
                <a:gd name="connsiteY1" fmla="*/ 51177 h 141044"/>
                <a:gd name="connsiteX2" fmla="*/ 74639 w 74423"/>
                <a:gd name="connsiteY2" fmla="*/ 46290 h 141044"/>
                <a:gd name="connsiteX3" fmla="*/ 68033 w 74423"/>
                <a:gd name="connsiteY3" fmla="*/ 43181 h 141044"/>
                <a:gd name="connsiteX4" fmla="*/ 47116 w 74423"/>
                <a:gd name="connsiteY4" fmla="*/ 43181 h 141044"/>
                <a:gd name="connsiteX5" fmla="*/ 55262 w 74423"/>
                <a:gd name="connsiteY5" fmla="*/ 10307 h 141044"/>
                <a:gd name="connsiteX6" fmla="*/ 55923 w 74423"/>
                <a:gd name="connsiteY6" fmla="*/ 7198 h 141044"/>
                <a:gd name="connsiteX7" fmla="*/ 48437 w 74423"/>
                <a:gd name="connsiteY7" fmla="*/ 90 h 141044"/>
                <a:gd name="connsiteX8" fmla="*/ 38088 w 74423"/>
                <a:gd name="connsiteY8" fmla="*/ 9641 h 141044"/>
                <a:gd name="connsiteX9" fmla="*/ 29721 w 74423"/>
                <a:gd name="connsiteY9" fmla="*/ 43181 h 141044"/>
                <a:gd name="connsiteX10" fmla="*/ 7262 w 74423"/>
                <a:gd name="connsiteY10" fmla="*/ 43181 h 141044"/>
                <a:gd name="connsiteX11" fmla="*/ 216 w 74423"/>
                <a:gd name="connsiteY11" fmla="*/ 48067 h 141044"/>
                <a:gd name="connsiteX12" fmla="*/ 6821 w 74423"/>
                <a:gd name="connsiteY12" fmla="*/ 51177 h 141044"/>
                <a:gd name="connsiteX13" fmla="*/ 27739 w 74423"/>
                <a:gd name="connsiteY13" fmla="*/ 51177 h 141044"/>
                <a:gd name="connsiteX14" fmla="*/ 14748 w 74423"/>
                <a:gd name="connsiteY14" fmla="*/ 103597 h 141044"/>
                <a:gd name="connsiteX15" fmla="*/ 11445 w 74423"/>
                <a:gd name="connsiteY15" fmla="*/ 120033 h 141044"/>
                <a:gd name="connsiteX16" fmla="*/ 35005 w 74423"/>
                <a:gd name="connsiteY16" fmla="*/ 141135 h 141044"/>
                <a:gd name="connsiteX17" fmla="*/ 73318 w 74423"/>
                <a:gd name="connsiteY17" fmla="*/ 107151 h 141044"/>
                <a:gd name="connsiteX18" fmla="*/ 69795 w 74423"/>
                <a:gd name="connsiteY18" fmla="*/ 104263 h 141044"/>
                <a:gd name="connsiteX19" fmla="*/ 65171 w 74423"/>
                <a:gd name="connsiteY19" fmla="*/ 108483 h 141044"/>
                <a:gd name="connsiteX20" fmla="*/ 35666 w 74423"/>
                <a:gd name="connsiteY20" fmla="*/ 134915 h 141044"/>
                <a:gd name="connsiteX21" fmla="*/ 27959 w 74423"/>
                <a:gd name="connsiteY21" fmla="*/ 124032 h 141044"/>
                <a:gd name="connsiteX22" fmla="*/ 29280 w 74423"/>
                <a:gd name="connsiteY22" fmla="*/ 114925 h 141044"/>
                <a:gd name="connsiteX23" fmla="*/ 45134 w 74423"/>
                <a:gd name="connsiteY23" fmla="*/ 51177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34" y="51177"/>
                  </a:moveTo>
                  <a:lnTo>
                    <a:pt x="67593" y="51177"/>
                  </a:lnTo>
                  <a:cubicBezTo>
                    <a:pt x="71776" y="51177"/>
                    <a:pt x="74639" y="51177"/>
                    <a:pt x="74639" y="46290"/>
                  </a:cubicBezTo>
                  <a:cubicBezTo>
                    <a:pt x="74639" y="43181"/>
                    <a:pt x="71776" y="43181"/>
                    <a:pt x="68033" y="43181"/>
                  </a:cubicBezTo>
                  <a:lnTo>
                    <a:pt x="47116" y="43181"/>
                  </a:lnTo>
                  <a:lnTo>
                    <a:pt x="55262" y="10307"/>
                  </a:lnTo>
                  <a:cubicBezTo>
                    <a:pt x="55483" y="9197"/>
                    <a:pt x="55923" y="8086"/>
                    <a:pt x="55923" y="7198"/>
                  </a:cubicBezTo>
                  <a:cubicBezTo>
                    <a:pt x="55923" y="3199"/>
                    <a:pt x="52840" y="90"/>
                    <a:pt x="48437" y="90"/>
                  </a:cubicBezTo>
                  <a:cubicBezTo>
                    <a:pt x="42932" y="90"/>
                    <a:pt x="39629" y="3866"/>
                    <a:pt x="38088" y="9641"/>
                  </a:cubicBezTo>
                  <a:cubicBezTo>
                    <a:pt x="36547" y="15194"/>
                    <a:pt x="39409" y="4532"/>
                    <a:pt x="29721" y="43181"/>
                  </a:cubicBezTo>
                  <a:lnTo>
                    <a:pt x="7262" y="43181"/>
                  </a:lnTo>
                  <a:cubicBezTo>
                    <a:pt x="3078" y="43181"/>
                    <a:pt x="216" y="43181"/>
                    <a:pt x="216" y="48067"/>
                  </a:cubicBezTo>
                  <a:cubicBezTo>
                    <a:pt x="216" y="51177"/>
                    <a:pt x="2858" y="51177"/>
                    <a:pt x="6821" y="51177"/>
                  </a:cubicBezTo>
                  <a:lnTo>
                    <a:pt x="27739" y="51177"/>
                  </a:lnTo>
                  <a:lnTo>
                    <a:pt x="14748" y="103597"/>
                  </a:lnTo>
                  <a:cubicBezTo>
                    <a:pt x="13427" y="109150"/>
                    <a:pt x="11445" y="117146"/>
                    <a:pt x="11445" y="120033"/>
                  </a:cubicBezTo>
                  <a:cubicBezTo>
                    <a:pt x="11445" y="133138"/>
                    <a:pt x="22455" y="141135"/>
                    <a:pt x="35005" y="141135"/>
                  </a:cubicBezTo>
                  <a:cubicBezTo>
                    <a:pt x="59446" y="141135"/>
                    <a:pt x="73318" y="110038"/>
                    <a:pt x="73318" y="107151"/>
                  </a:cubicBezTo>
                  <a:cubicBezTo>
                    <a:pt x="73318" y="104263"/>
                    <a:pt x="70455" y="104263"/>
                    <a:pt x="69795" y="104263"/>
                  </a:cubicBezTo>
                  <a:cubicBezTo>
                    <a:pt x="67152" y="104263"/>
                    <a:pt x="66932" y="104707"/>
                    <a:pt x="65171" y="108483"/>
                  </a:cubicBezTo>
                  <a:cubicBezTo>
                    <a:pt x="59006" y="122477"/>
                    <a:pt x="47776" y="134915"/>
                    <a:pt x="35666" y="134915"/>
                  </a:cubicBezTo>
                  <a:cubicBezTo>
                    <a:pt x="31042" y="134915"/>
                    <a:pt x="27959" y="132028"/>
                    <a:pt x="27959" y="124032"/>
                  </a:cubicBezTo>
                  <a:cubicBezTo>
                    <a:pt x="27959" y="121810"/>
                    <a:pt x="28840" y="117146"/>
                    <a:pt x="29280" y="114925"/>
                  </a:cubicBezTo>
                  <a:lnTo>
                    <a:pt x="45134" y="51177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0" name="任意形状 10029">
              <a:extLst>
                <a:ext uri="{FF2B5EF4-FFF2-40B4-BE49-F238E27FC236}">
                  <a16:creationId xmlns:a16="http://schemas.microsoft.com/office/drawing/2014/main" id="{B872E30D-CD96-86E9-8036-E4CF4CB00F78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7593788" y="4640661"/>
              <a:ext cx="148846" cy="10883"/>
            </a:xfrm>
            <a:custGeom>
              <a:avLst/>
              <a:gdLst>
                <a:gd name="connsiteX0" fmla="*/ 140257 w 148846"/>
                <a:gd name="connsiteY0" fmla="*/ 10974 h 10883"/>
                <a:gd name="connsiteX1" fmla="*/ 149065 w 148846"/>
                <a:gd name="connsiteY1" fmla="*/ 5643 h 10883"/>
                <a:gd name="connsiteX2" fmla="*/ 140257 w 148846"/>
                <a:gd name="connsiteY2" fmla="*/ 90 h 10883"/>
                <a:gd name="connsiteX3" fmla="*/ 9026 w 148846"/>
                <a:gd name="connsiteY3" fmla="*/ 90 h 10883"/>
                <a:gd name="connsiteX4" fmla="*/ 219 w 148846"/>
                <a:gd name="connsiteY4" fmla="*/ 5421 h 10883"/>
                <a:gd name="connsiteX5" fmla="*/ 9026 w 148846"/>
                <a:gd name="connsiteY5" fmla="*/ 10974 h 10883"/>
                <a:gd name="connsiteX6" fmla="*/ 140257 w 148846"/>
                <a:gd name="connsiteY6" fmla="*/ 10974 h 1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8846" h="10883">
                  <a:moveTo>
                    <a:pt x="140257" y="10974"/>
                  </a:moveTo>
                  <a:cubicBezTo>
                    <a:pt x="143780" y="10974"/>
                    <a:pt x="149065" y="10974"/>
                    <a:pt x="149065" y="5643"/>
                  </a:cubicBezTo>
                  <a:cubicBezTo>
                    <a:pt x="149065" y="90"/>
                    <a:pt x="144001" y="90"/>
                    <a:pt x="140257" y="90"/>
                  </a:cubicBezTo>
                  <a:lnTo>
                    <a:pt x="9026" y="90"/>
                  </a:lnTo>
                  <a:cubicBezTo>
                    <a:pt x="5503" y="90"/>
                    <a:pt x="219" y="90"/>
                    <a:pt x="219" y="5421"/>
                  </a:cubicBezTo>
                  <a:cubicBezTo>
                    <a:pt x="219" y="10974"/>
                    <a:pt x="5283" y="10974"/>
                    <a:pt x="9026" y="10974"/>
                  </a:cubicBezTo>
                  <a:lnTo>
                    <a:pt x="140257" y="10974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1" name="任意形状 10030">
              <a:extLst>
                <a:ext uri="{FF2B5EF4-FFF2-40B4-BE49-F238E27FC236}">
                  <a16:creationId xmlns:a16="http://schemas.microsoft.com/office/drawing/2014/main" id="{99E6C6CF-D52C-8BC3-F46C-D16C84D535E1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7790605" y="4554257"/>
              <a:ext cx="80147" cy="147486"/>
            </a:xfrm>
            <a:custGeom>
              <a:avLst/>
              <a:gdLst>
                <a:gd name="connsiteX0" fmla="*/ 49987 w 80147"/>
                <a:gd name="connsiteY0" fmla="*/ 6309 h 147486"/>
                <a:gd name="connsiteX1" fmla="*/ 43382 w 80147"/>
                <a:gd name="connsiteY1" fmla="*/ 90 h 147486"/>
                <a:gd name="connsiteX2" fmla="*/ 225 w 80147"/>
                <a:gd name="connsiteY2" fmla="*/ 14305 h 147486"/>
                <a:gd name="connsiteX3" fmla="*/ 225 w 80147"/>
                <a:gd name="connsiteY3" fmla="*/ 22302 h 147486"/>
                <a:gd name="connsiteX4" fmla="*/ 32152 w 80147"/>
                <a:gd name="connsiteY4" fmla="*/ 16082 h 147486"/>
                <a:gd name="connsiteX5" fmla="*/ 32152 w 80147"/>
                <a:gd name="connsiteY5" fmla="*/ 129362 h 147486"/>
                <a:gd name="connsiteX6" fmla="*/ 10133 w 80147"/>
                <a:gd name="connsiteY6" fmla="*/ 139580 h 147486"/>
                <a:gd name="connsiteX7" fmla="*/ 1766 w 80147"/>
                <a:gd name="connsiteY7" fmla="*/ 139580 h 147486"/>
                <a:gd name="connsiteX8" fmla="*/ 1766 w 80147"/>
                <a:gd name="connsiteY8" fmla="*/ 147576 h 147486"/>
                <a:gd name="connsiteX9" fmla="*/ 40960 w 80147"/>
                <a:gd name="connsiteY9" fmla="*/ 146688 h 147486"/>
                <a:gd name="connsiteX10" fmla="*/ 80373 w 80147"/>
                <a:gd name="connsiteY10" fmla="*/ 147576 h 147486"/>
                <a:gd name="connsiteX11" fmla="*/ 80373 w 80147"/>
                <a:gd name="connsiteY11" fmla="*/ 139580 h 147486"/>
                <a:gd name="connsiteX12" fmla="*/ 72006 w 80147"/>
                <a:gd name="connsiteY12" fmla="*/ 139580 h 147486"/>
                <a:gd name="connsiteX13" fmla="*/ 49987 w 80147"/>
                <a:gd name="connsiteY13" fmla="*/ 129362 h 147486"/>
                <a:gd name="connsiteX14" fmla="*/ 49987 w 80147"/>
                <a:gd name="connsiteY14" fmla="*/ 6309 h 14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147" h="147486">
                  <a:moveTo>
                    <a:pt x="49987" y="6309"/>
                  </a:moveTo>
                  <a:cubicBezTo>
                    <a:pt x="49987" y="312"/>
                    <a:pt x="49547" y="90"/>
                    <a:pt x="43382" y="90"/>
                  </a:cubicBezTo>
                  <a:cubicBezTo>
                    <a:pt x="29290" y="14083"/>
                    <a:pt x="9253" y="14305"/>
                    <a:pt x="225" y="14305"/>
                  </a:cubicBezTo>
                  <a:lnTo>
                    <a:pt x="225" y="22302"/>
                  </a:lnTo>
                  <a:cubicBezTo>
                    <a:pt x="5510" y="22302"/>
                    <a:pt x="20042" y="22302"/>
                    <a:pt x="32152" y="16082"/>
                  </a:cubicBezTo>
                  <a:lnTo>
                    <a:pt x="32152" y="129362"/>
                  </a:lnTo>
                  <a:cubicBezTo>
                    <a:pt x="32152" y="136692"/>
                    <a:pt x="32152" y="139580"/>
                    <a:pt x="10133" y="139580"/>
                  </a:cubicBezTo>
                  <a:lnTo>
                    <a:pt x="1766" y="139580"/>
                  </a:lnTo>
                  <a:lnTo>
                    <a:pt x="1766" y="147576"/>
                  </a:lnTo>
                  <a:cubicBezTo>
                    <a:pt x="5730" y="147354"/>
                    <a:pt x="32813" y="146688"/>
                    <a:pt x="40960" y="146688"/>
                  </a:cubicBezTo>
                  <a:cubicBezTo>
                    <a:pt x="47785" y="146688"/>
                    <a:pt x="75529" y="147354"/>
                    <a:pt x="80373" y="147576"/>
                  </a:cubicBezTo>
                  <a:lnTo>
                    <a:pt x="80373" y="139580"/>
                  </a:lnTo>
                  <a:lnTo>
                    <a:pt x="72006" y="139580"/>
                  </a:lnTo>
                  <a:cubicBezTo>
                    <a:pt x="49987" y="139580"/>
                    <a:pt x="49987" y="136692"/>
                    <a:pt x="49987" y="129362"/>
                  </a:cubicBezTo>
                  <a:lnTo>
                    <a:pt x="49987" y="6309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2" name="任意形状 10031">
              <a:extLst>
                <a:ext uri="{FF2B5EF4-FFF2-40B4-BE49-F238E27FC236}">
                  <a16:creationId xmlns:a16="http://schemas.microsoft.com/office/drawing/2014/main" id="{B8C8487A-A031-46F2-2C59-7F62D3511162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7995229" y="4469155"/>
              <a:ext cx="209177" cy="211329"/>
            </a:xfrm>
            <a:custGeom>
              <a:avLst/>
              <a:gdLst>
                <a:gd name="connsiteX0" fmla="*/ 111269 w 209177"/>
                <a:gd name="connsiteY0" fmla="*/ 112099 h 211329"/>
                <a:gd name="connsiteX1" fmla="*/ 199029 w 209177"/>
                <a:gd name="connsiteY1" fmla="*/ 112099 h 211329"/>
                <a:gd name="connsiteX2" fmla="*/ 209409 w 209177"/>
                <a:gd name="connsiteY2" fmla="*/ 105753 h 211329"/>
                <a:gd name="connsiteX3" fmla="*/ 199029 w 209177"/>
                <a:gd name="connsiteY3" fmla="*/ 99407 h 211329"/>
                <a:gd name="connsiteX4" fmla="*/ 111269 w 209177"/>
                <a:gd name="connsiteY4" fmla="*/ 99407 h 211329"/>
                <a:gd name="connsiteX5" fmla="*/ 111269 w 209177"/>
                <a:gd name="connsiteY5" fmla="*/ 10560 h 211329"/>
                <a:gd name="connsiteX6" fmla="*/ 104978 w 209177"/>
                <a:gd name="connsiteY6" fmla="*/ 88 h 211329"/>
                <a:gd name="connsiteX7" fmla="*/ 98687 w 209177"/>
                <a:gd name="connsiteY7" fmla="*/ 10560 h 211329"/>
                <a:gd name="connsiteX8" fmla="*/ 98687 w 209177"/>
                <a:gd name="connsiteY8" fmla="*/ 99407 h 211329"/>
                <a:gd name="connsiteX9" fmla="*/ 10612 w 209177"/>
                <a:gd name="connsiteY9" fmla="*/ 99407 h 211329"/>
                <a:gd name="connsiteX10" fmla="*/ 232 w 209177"/>
                <a:gd name="connsiteY10" fmla="*/ 105753 h 211329"/>
                <a:gd name="connsiteX11" fmla="*/ 10612 w 209177"/>
                <a:gd name="connsiteY11" fmla="*/ 112099 h 211329"/>
                <a:gd name="connsiteX12" fmla="*/ 98687 w 209177"/>
                <a:gd name="connsiteY12" fmla="*/ 112099 h 211329"/>
                <a:gd name="connsiteX13" fmla="*/ 98687 w 209177"/>
                <a:gd name="connsiteY13" fmla="*/ 200946 h 211329"/>
                <a:gd name="connsiteX14" fmla="*/ 104978 w 209177"/>
                <a:gd name="connsiteY14" fmla="*/ 211418 h 211329"/>
                <a:gd name="connsiteX15" fmla="*/ 111269 w 209177"/>
                <a:gd name="connsiteY15" fmla="*/ 200946 h 211329"/>
                <a:gd name="connsiteX16" fmla="*/ 111269 w 209177"/>
                <a:gd name="connsiteY16" fmla="*/ 112099 h 21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9177" h="211329">
                  <a:moveTo>
                    <a:pt x="111269" y="112099"/>
                  </a:moveTo>
                  <a:lnTo>
                    <a:pt x="199029" y="112099"/>
                  </a:lnTo>
                  <a:cubicBezTo>
                    <a:pt x="203432" y="112099"/>
                    <a:pt x="209409" y="112099"/>
                    <a:pt x="209409" y="105753"/>
                  </a:cubicBezTo>
                  <a:cubicBezTo>
                    <a:pt x="209409" y="99407"/>
                    <a:pt x="203432" y="99407"/>
                    <a:pt x="199029" y="99407"/>
                  </a:cubicBezTo>
                  <a:lnTo>
                    <a:pt x="111269" y="99407"/>
                  </a:lnTo>
                  <a:lnTo>
                    <a:pt x="111269" y="10560"/>
                  </a:lnTo>
                  <a:cubicBezTo>
                    <a:pt x="111269" y="6117"/>
                    <a:pt x="111269" y="88"/>
                    <a:pt x="104978" y="88"/>
                  </a:cubicBezTo>
                  <a:cubicBezTo>
                    <a:pt x="98687" y="88"/>
                    <a:pt x="98687" y="6117"/>
                    <a:pt x="98687" y="10560"/>
                  </a:cubicBezTo>
                  <a:lnTo>
                    <a:pt x="98687" y="99407"/>
                  </a:lnTo>
                  <a:lnTo>
                    <a:pt x="10612" y="99407"/>
                  </a:lnTo>
                  <a:cubicBezTo>
                    <a:pt x="6208" y="99407"/>
                    <a:pt x="232" y="99407"/>
                    <a:pt x="232" y="105753"/>
                  </a:cubicBezTo>
                  <a:cubicBezTo>
                    <a:pt x="232" y="112099"/>
                    <a:pt x="6208" y="112099"/>
                    <a:pt x="10612" y="112099"/>
                  </a:cubicBezTo>
                  <a:lnTo>
                    <a:pt x="98687" y="112099"/>
                  </a:lnTo>
                  <a:lnTo>
                    <a:pt x="98687" y="200946"/>
                  </a:lnTo>
                  <a:cubicBezTo>
                    <a:pt x="98687" y="205389"/>
                    <a:pt x="98687" y="211418"/>
                    <a:pt x="104978" y="211418"/>
                  </a:cubicBezTo>
                  <a:cubicBezTo>
                    <a:pt x="111269" y="211418"/>
                    <a:pt x="111269" y="205389"/>
                    <a:pt x="111269" y="200946"/>
                  </a:cubicBezTo>
                  <a:lnTo>
                    <a:pt x="111269" y="112099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3" name="任意形状 10032">
              <a:extLst>
                <a:ext uri="{FF2B5EF4-FFF2-40B4-BE49-F238E27FC236}">
                  <a16:creationId xmlns:a16="http://schemas.microsoft.com/office/drawing/2014/main" id="{1D9361CE-7987-1665-9E95-E0DB9BC8825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8323306" y="4416164"/>
              <a:ext cx="72976" cy="317311"/>
            </a:xfrm>
            <a:custGeom>
              <a:avLst/>
              <a:gdLst>
                <a:gd name="connsiteX0" fmla="*/ 73218 w 72976"/>
                <a:gd name="connsiteY0" fmla="*/ 314226 h 317311"/>
                <a:gd name="connsiteX1" fmla="*/ 67870 w 72976"/>
                <a:gd name="connsiteY1" fmla="*/ 307246 h 317311"/>
                <a:gd name="connsiteX2" fmla="*/ 18486 w 72976"/>
                <a:gd name="connsiteY2" fmla="*/ 158744 h 317311"/>
                <a:gd name="connsiteX3" fmla="*/ 69129 w 72976"/>
                <a:gd name="connsiteY3" fmla="*/ 8656 h 317311"/>
                <a:gd name="connsiteX4" fmla="*/ 73218 w 72976"/>
                <a:gd name="connsiteY4" fmla="*/ 3261 h 317311"/>
                <a:gd name="connsiteX5" fmla="*/ 70072 w 72976"/>
                <a:gd name="connsiteY5" fmla="*/ 88 h 317311"/>
                <a:gd name="connsiteX6" fmla="*/ 20059 w 72976"/>
                <a:gd name="connsiteY6" fmla="*/ 61964 h 317311"/>
                <a:gd name="connsiteX7" fmla="*/ 242 w 72976"/>
                <a:gd name="connsiteY7" fmla="*/ 158744 h 317311"/>
                <a:gd name="connsiteX8" fmla="*/ 21002 w 72976"/>
                <a:gd name="connsiteY8" fmla="*/ 257745 h 317311"/>
                <a:gd name="connsiteX9" fmla="*/ 70072 w 72976"/>
                <a:gd name="connsiteY9" fmla="*/ 317400 h 317311"/>
                <a:gd name="connsiteX10" fmla="*/ 73218 w 72976"/>
                <a:gd name="connsiteY10" fmla="*/ 314226 h 31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76" h="317311">
                  <a:moveTo>
                    <a:pt x="73218" y="314226"/>
                  </a:moveTo>
                  <a:cubicBezTo>
                    <a:pt x="73218" y="313275"/>
                    <a:pt x="73218" y="312640"/>
                    <a:pt x="67870" y="307246"/>
                  </a:cubicBezTo>
                  <a:cubicBezTo>
                    <a:pt x="28551" y="267264"/>
                    <a:pt x="18486" y="207293"/>
                    <a:pt x="18486" y="158744"/>
                  </a:cubicBezTo>
                  <a:cubicBezTo>
                    <a:pt x="18486" y="103532"/>
                    <a:pt x="30439" y="48320"/>
                    <a:pt x="69129" y="8656"/>
                  </a:cubicBezTo>
                  <a:cubicBezTo>
                    <a:pt x="73218" y="4848"/>
                    <a:pt x="73218" y="4213"/>
                    <a:pt x="73218" y="3261"/>
                  </a:cubicBezTo>
                  <a:cubicBezTo>
                    <a:pt x="73218" y="1040"/>
                    <a:pt x="71960" y="88"/>
                    <a:pt x="70072" y="88"/>
                  </a:cubicBezTo>
                  <a:cubicBezTo>
                    <a:pt x="66927" y="88"/>
                    <a:pt x="38617" y="21665"/>
                    <a:pt x="20059" y="61964"/>
                  </a:cubicBezTo>
                  <a:cubicBezTo>
                    <a:pt x="4016" y="96868"/>
                    <a:pt x="242" y="132090"/>
                    <a:pt x="242" y="158744"/>
                  </a:cubicBezTo>
                  <a:cubicBezTo>
                    <a:pt x="242" y="183494"/>
                    <a:pt x="3702" y="221889"/>
                    <a:pt x="21002" y="257745"/>
                  </a:cubicBezTo>
                  <a:cubicBezTo>
                    <a:pt x="39875" y="296774"/>
                    <a:pt x="66927" y="317400"/>
                    <a:pt x="70072" y="317400"/>
                  </a:cubicBezTo>
                  <a:cubicBezTo>
                    <a:pt x="71960" y="317400"/>
                    <a:pt x="73218" y="316448"/>
                    <a:pt x="73218" y="314226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4" name="任意形状 10033">
              <a:extLst>
                <a:ext uri="{FF2B5EF4-FFF2-40B4-BE49-F238E27FC236}">
                  <a16:creationId xmlns:a16="http://schemas.microsoft.com/office/drawing/2014/main" id="{55DE9B74-F6F1-69E7-5B99-B6930107C498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8442487" y="4442818"/>
              <a:ext cx="103802" cy="211329"/>
            </a:xfrm>
            <a:custGeom>
              <a:avLst/>
              <a:gdLst>
                <a:gd name="connsiteX0" fmla="*/ 64729 w 103802"/>
                <a:gd name="connsiteY0" fmla="*/ 8338 h 211329"/>
                <a:gd name="connsiteX1" fmla="*/ 57494 w 103802"/>
                <a:gd name="connsiteY1" fmla="*/ 88 h 211329"/>
                <a:gd name="connsiteX2" fmla="*/ 246 w 103802"/>
                <a:gd name="connsiteY2" fmla="*/ 20396 h 211329"/>
                <a:gd name="connsiteX3" fmla="*/ 246 w 103802"/>
                <a:gd name="connsiteY3" fmla="*/ 30233 h 211329"/>
                <a:gd name="connsiteX4" fmla="*/ 41452 w 103802"/>
                <a:gd name="connsiteY4" fmla="*/ 21983 h 211329"/>
                <a:gd name="connsiteX5" fmla="*/ 41452 w 103802"/>
                <a:gd name="connsiteY5" fmla="*/ 186350 h 211329"/>
                <a:gd name="connsiteX6" fmla="*/ 12199 w 103802"/>
                <a:gd name="connsiteY6" fmla="*/ 201581 h 211329"/>
                <a:gd name="connsiteX7" fmla="*/ 2133 w 103802"/>
                <a:gd name="connsiteY7" fmla="*/ 201581 h 211329"/>
                <a:gd name="connsiteX8" fmla="*/ 2133 w 103802"/>
                <a:gd name="connsiteY8" fmla="*/ 211418 h 211329"/>
                <a:gd name="connsiteX9" fmla="*/ 53090 w 103802"/>
                <a:gd name="connsiteY9" fmla="*/ 210466 h 211329"/>
                <a:gd name="connsiteX10" fmla="*/ 104048 w 103802"/>
                <a:gd name="connsiteY10" fmla="*/ 211418 h 211329"/>
                <a:gd name="connsiteX11" fmla="*/ 104048 w 103802"/>
                <a:gd name="connsiteY11" fmla="*/ 201581 h 211329"/>
                <a:gd name="connsiteX12" fmla="*/ 93982 w 103802"/>
                <a:gd name="connsiteY12" fmla="*/ 201581 h 211329"/>
                <a:gd name="connsiteX13" fmla="*/ 64729 w 103802"/>
                <a:gd name="connsiteY13" fmla="*/ 186350 h 211329"/>
                <a:gd name="connsiteX14" fmla="*/ 64729 w 103802"/>
                <a:gd name="connsiteY14" fmla="*/ 8338 h 21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3802" h="211329">
                  <a:moveTo>
                    <a:pt x="64729" y="8338"/>
                  </a:moveTo>
                  <a:cubicBezTo>
                    <a:pt x="64729" y="723"/>
                    <a:pt x="64729" y="88"/>
                    <a:pt x="57494" y="88"/>
                  </a:cubicBezTo>
                  <a:cubicBezTo>
                    <a:pt x="37992" y="20396"/>
                    <a:pt x="10311" y="20396"/>
                    <a:pt x="246" y="20396"/>
                  </a:cubicBezTo>
                  <a:lnTo>
                    <a:pt x="246" y="30233"/>
                  </a:lnTo>
                  <a:cubicBezTo>
                    <a:pt x="6537" y="30233"/>
                    <a:pt x="25095" y="30233"/>
                    <a:pt x="41452" y="21983"/>
                  </a:cubicBezTo>
                  <a:lnTo>
                    <a:pt x="41452" y="186350"/>
                  </a:lnTo>
                  <a:cubicBezTo>
                    <a:pt x="41452" y="197773"/>
                    <a:pt x="40508" y="201581"/>
                    <a:pt x="12199" y="201581"/>
                  </a:cubicBezTo>
                  <a:lnTo>
                    <a:pt x="2133" y="201581"/>
                  </a:lnTo>
                  <a:lnTo>
                    <a:pt x="2133" y="211418"/>
                  </a:lnTo>
                  <a:cubicBezTo>
                    <a:pt x="13142" y="210466"/>
                    <a:pt x="40508" y="210466"/>
                    <a:pt x="53090" y="210466"/>
                  </a:cubicBezTo>
                  <a:cubicBezTo>
                    <a:pt x="65672" y="210466"/>
                    <a:pt x="93038" y="210466"/>
                    <a:pt x="104048" y="211418"/>
                  </a:cubicBezTo>
                  <a:lnTo>
                    <a:pt x="104048" y="201581"/>
                  </a:lnTo>
                  <a:lnTo>
                    <a:pt x="93982" y="201581"/>
                  </a:lnTo>
                  <a:cubicBezTo>
                    <a:pt x="65672" y="201581"/>
                    <a:pt x="64729" y="198091"/>
                    <a:pt x="64729" y="186350"/>
                  </a:cubicBezTo>
                  <a:lnTo>
                    <a:pt x="64729" y="8338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5" name="任意形状 10034">
              <a:extLst>
                <a:ext uri="{FF2B5EF4-FFF2-40B4-BE49-F238E27FC236}">
                  <a16:creationId xmlns:a16="http://schemas.microsoft.com/office/drawing/2014/main" id="{B3E0FE9D-0A6D-BC75-1C42-5A1FCE9ED7DC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8667775" y="4568473"/>
              <a:ext cx="192191" cy="12692"/>
            </a:xfrm>
            <a:custGeom>
              <a:avLst/>
              <a:gdLst>
                <a:gd name="connsiteX0" fmla="*/ 181435 w 192191"/>
                <a:gd name="connsiteY0" fmla="*/ 12781 h 12692"/>
                <a:gd name="connsiteX1" fmla="*/ 192444 w 192191"/>
                <a:gd name="connsiteY1" fmla="*/ 6435 h 12692"/>
                <a:gd name="connsiteX2" fmla="*/ 181435 w 192191"/>
                <a:gd name="connsiteY2" fmla="*/ 88 h 12692"/>
                <a:gd name="connsiteX3" fmla="*/ 11262 w 192191"/>
                <a:gd name="connsiteY3" fmla="*/ 88 h 12692"/>
                <a:gd name="connsiteX4" fmla="*/ 253 w 192191"/>
                <a:gd name="connsiteY4" fmla="*/ 6435 h 12692"/>
                <a:gd name="connsiteX5" fmla="*/ 11262 w 192191"/>
                <a:gd name="connsiteY5" fmla="*/ 12781 h 12692"/>
                <a:gd name="connsiteX6" fmla="*/ 181435 w 192191"/>
                <a:gd name="connsiteY6" fmla="*/ 12781 h 12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91" h="12692">
                  <a:moveTo>
                    <a:pt x="181435" y="12781"/>
                  </a:moveTo>
                  <a:cubicBezTo>
                    <a:pt x="186782" y="12781"/>
                    <a:pt x="192444" y="12781"/>
                    <a:pt x="192444" y="6435"/>
                  </a:cubicBezTo>
                  <a:cubicBezTo>
                    <a:pt x="192444" y="88"/>
                    <a:pt x="186782" y="88"/>
                    <a:pt x="181435" y="88"/>
                  </a:cubicBezTo>
                  <a:lnTo>
                    <a:pt x="11262" y="88"/>
                  </a:lnTo>
                  <a:cubicBezTo>
                    <a:pt x="5915" y="88"/>
                    <a:pt x="253" y="88"/>
                    <a:pt x="253" y="6435"/>
                  </a:cubicBezTo>
                  <a:cubicBezTo>
                    <a:pt x="253" y="12781"/>
                    <a:pt x="5915" y="12781"/>
                    <a:pt x="11262" y="12781"/>
                  </a:cubicBezTo>
                  <a:lnTo>
                    <a:pt x="181435" y="12781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6" name="任意形状 10035">
              <a:extLst>
                <a:ext uri="{FF2B5EF4-FFF2-40B4-BE49-F238E27FC236}">
                  <a16:creationId xmlns:a16="http://schemas.microsoft.com/office/drawing/2014/main" id="{97902EBA-2E91-1EBD-38C7-7403F288EB01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8965615" y="4430125"/>
              <a:ext cx="171470" cy="285580"/>
            </a:xfrm>
            <a:custGeom>
              <a:avLst/>
              <a:gdLst>
                <a:gd name="connsiteX0" fmla="*/ 171734 w 171470"/>
                <a:gd name="connsiteY0" fmla="*/ 43560 h 285580"/>
                <a:gd name="connsiteX1" fmla="*/ 128954 w 171470"/>
                <a:gd name="connsiteY1" fmla="*/ 88 h 285580"/>
                <a:gd name="connsiteX2" fmla="*/ 90894 w 171470"/>
                <a:gd name="connsiteY2" fmla="*/ 13415 h 285580"/>
                <a:gd name="connsiteX3" fmla="*/ 50316 w 171470"/>
                <a:gd name="connsiteY3" fmla="*/ 81003 h 285580"/>
                <a:gd name="connsiteX4" fmla="*/ 303 w 171470"/>
                <a:gd name="connsiteY4" fmla="*/ 282495 h 285580"/>
                <a:gd name="connsiteX5" fmla="*/ 4077 w 171470"/>
                <a:gd name="connsiteY5" fmla="*/ 285668 h 285580"/>
                <a:gd name="connsiteX6" fmla="*/ 7852 w 171470"/>
                <a:gd name="connsiteY6" fmla="*/ 284082 h 285580"/>
                <a:gd name="connsiteX7" fmla="*/ 29871 w 171470"/>
                <a:gd name="connsiteY7" fmla="*/ 196504 h 285580"/>
                <a:gd name="connsiteX8" fmla="*/ 72650 w 171470"/>
                <a:gd name="connsiteY8" fmla="*/ 227283 h 285580"/>
                <a:gd name="connsiteX9" fmla="*/ 133358 w 171470"/>
                <a:gd name="connsiteY9" fmla="*/ 202216 h 285580"/>
                <a:gd name="connsiteX10" fmla="*/ 158522 w 171470"/>
                <a:gd name="connsiteY10" fmla="*/ 143830 h 285580"/>
                <a:gd name="connsiteX11" fmla="*/ 135560 w 171470"/>
                <a:gd name="connsiteY11" fmla="*/ 96551 h 285580"/>
                <a:gd name="connsiteX12" fmla="*/ 171734 w 171470"/>
                <a:gd name="connsiteY12" fmla="*/ 43560 h 285580"/>
                <a:gd name="connsiteX13" fmla="*/ 115114 w 171470"/>
                <a:gd name="connsiteY13" fmla="*/ 96234 h 285580"/>
                <a:gd name="connsiteX14" fmla="*/ 100016 w 171470"/>
                <a:gd name="connsiteY14" fmla="*/ 98455 h 285580"/>
                <a:gd name="connsiteX15" fmla="*/ 86175 w 171470"/>
                <a:gd name="connsiteY15" fmla="*/ 97186 h 285580"/>
                <a:gd name="connsiteX16" fmla="*/ 101588 w 171470"/>
                <a:gd name="connsiteY16" fmla="*/ 94647 h 285580"/>
                <a:gd name="connsiteX17" fmla="*/ 115114 w 171470"/>
                <a:gd name="connsiteY17" fmla="*/ 96234 h 285580"/>
                <a:gd name="connsiteX18" fmla="*/ 154119 w 171470"/>
                <a:gd name="connsiteY18" fmla="*/ 36262 h 285580"/>
                <a:gd name="connsiteX19" fmla="*/ 125809 w 171470"/>
                <a:gd name="connsiteY19" fmla="*/ 91157 h 285580"/>
                <a:gd name="connsiteX20" fmla="*/ 101588 w 171470"/>
                <a:gd name="connsiteY20" fmla="*/ 87349 h 285580"/>
                <a:gd name="connsiteX21" fmla="*/ 77368 w 171470"/>
                <a:gd name="connsiteY21" fmla="*/ 97503 h 285580"/>
                <a:gd name="connsiteX22" fmla="*/ 99072 w 171470"/>
                <a:gd name="connsiteY22" fmla="*/ 105436 h 285580"/>
                <a:gd name="connsiteX23" fmla="*/ 124865 w 171470"/>
                <a:gd name="connsiteY23" fmla="*/ 101311 h 285580"/>
                <a:gd name="connsiteX24" fmla="*/ 138706 w 171470"/>
                <a:gd name="connsiteY24" fmla="*/ 137167 h 285580"/>
                <a:gd name="connsiteX25" fmla="*/ 122978 w 171470"/>
                <a:gd name="connsiteY25" fmla="*/ 191744 h 285580"/>
                <a:gd name="connsiteX26" fmla="*/ 71706 w 171470"/>
                <a:gd name="connsiteY26" fmla="*/ 220302 h 285580"/>
                <a:gd name="connsiteX27" fmla="*/ 35847 w 171470"/>
                <a:gd name="connsiteY27" fmla="*/ 179369 h 285580"/>
                <a:gd name="connsiteX28" fmla="*/ 37420 w 171470"/>
                <a:gd name="connsiteY28" fmla="*/ 165407 h 285580"/>
                <a:gd name="connsiteX29" fmla="*/ 57551 w 171470"/>
                <a:gd name="connsiteY29" fmla="*/ 85128 h 285580"/>
                <a:gd name="connsiteX30" fmla="*/ 124865 w 171470"/>
                <a:gd name="connsiteY30" fmla="*/ 7386 h 285580"/>
                <a:gd name="connsiteX31" fmla="*/ 154119 w 171470"/>
                <a:gd name="connsiteY31" fmla="*/ 36262 h 28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1470" h="285580">
                  <a:moveTo>
                    <a:pt x="171734" y="43560"/>
                  </a:moveTo>
                  <a:cubicBezTo>
                    <a:pt x="171734" y="19762"/>
                    <a:pt x="154433" y="88"/>
                    <a:pt x="128954" y="88"/>
                  </a:cubicBezTo>
                  <a:cubicBezTo>
                    <a:pt x="110710" y="88"/>
                    <a:pt x="101903" y="5165"/>
                    <a:pt x="90894" y="13415"/>
                  </a:cubicBezTo>
                  <a:cubicBezTo>
                    <a:pt x="73593" y="26108"/>
                    <a:pt x="56293" y="56887"/>
                    <a:pt x="50316" y="81003"/>
                  </a:cubicBezTo>
                  <a:lnTo>
                    <a:pt x="303" y="282495"/>
                  </a:lnTo>
                  <a:cubicBezTo>
                    <a:pt x="-12" y="283765"/>
                    <a:pt x="1561" y="285668"/>
                    <a:pt x="4077" y="285668"/>
                  </a:cubicBezTo>
                  <a:cubicBezTo>
                    <a:pt x="6594" y="285668"/>
                    <a:pt x="7537" y="285034"/>
                    <a:pt x="7852" y="284082"/>
                  </a:cubicBezTo>
                  <a:lnTo>
                    <a:pt x="29871" y="196504"/>
                  </a:lnTo>
                  <a:cubicBezTo>
                    <a:pt x="35847" y="215543"/>
                    <a:pt x="49687" y="227283"/>
                    <a:pt x="72650" y="227283"/>
                  </a:cubicBezTo>
                  <a:cubicBezTo>
                    <a:pt x="95612" y="227283"/>
                    <a:pt x="119203" y="216177"/>
                    <a:pt x="133358" y="202216"/>
                  </a:cubicBezTo>
                  <a:cubicBezTo>
                    <a:pt x="148457" y="187619"/>
                    <a:pt x="158522" y="167311"/>
                    <a:pt x="158522" y="143830"/>
                  </a:cubicBezTo>
                  <a:cubicBezTo>
                    <a:pt x="158522" y="120984"/>
                    <a:pt x="146884" y="104484"/>
                    <a:pt x="135560" y="96551"/>
                  </a:cubicBezTo>
                  <a:cubicBezTo>
                    <a:pt x="153804" y="86080"/>
                    <a:pt x="171734" y="66406"/>
                    <a:pt x="171734" y="43560"/>
                  </a:cubicBezTo>
                  <a:close/>
                  <a:moveTo>
                    <a:pt x="115114" y="96234"/>
                  </a:moveTo>
                  <a:cubicBezTo>
                    <a:pt x="111025" y="97820"/>
                    <a:pt x="107565" y="98455"/>
                    <a:pt x="100016" y="98455"/>
                  </a:cubicBezTo>
                  <a:cubicBezTo>
                    <a:pt x="95612" y="98455"/>
                    <a:pt x="89321" y="98772"/>
                    <a:pt x="86175" y="97186"/>
                  </a:cubicBezTo>
                  <a:cubicBezTo>
                    <a:pt x="86804" y="94012"/>
                    <a:pt x="98128" y="94647"/>
                    <a:pt x="101588" y="94647"/>
                  </a:cubicBezTo>
                  <a:cubicBezTo>
                    <a:pt x="108194" y="94647"/>
                    <a:pt x="111025" y="94647"/>
                    <a:pt x="115114" y="96234"/>
                  </a:cubicBezTo>
                  <a:close/>
                  <a:moveTo>
                    <a:pt x="154119" y="36262"/>
                  </a:moveTo>
                  <a:cubicBezTo>
                    <a:pt x="154119" y="58474"/>
                    <a:pt x="142166" y="81320"/>
                    <a:pt x="125809" y="91157"/>
                  </a:cubicBezTo>
                  <a:cubicBezTo>
                    <a:pt x="117316" y="87984"/>
                    <a:pt x="111025" y="87349"/>
                    <a:pt x="101588" y="87349"/>
                  </a:cubicBezTo>
                  <a:cubicBezTo>
                    <a:pt x="94983" y="87349"/>
                    <a:pt x="77368" y="87032"/>
                    <a:pt x="77368" y="97503"/>
                  </a:cubicBezTo>
                  <a:cubicBezTo>
                    <a:pt x="77053" y="106388"/>
                    <a:pt x="93410" y="105436"/>
                    <a:pt x="99072" y="105436"/>
                  </a:cubicBezTo>
                  <a:cubicBezTo>
                    <a:pt x="110710" y="105436"/>
                    <a:pt x="115429" y="105118"/>
                    <a:pt x="124865" y="101311"/>
                  </a:cubicBezTo>
                  <a:cubicBezTo>
                    <a:pt x="136818" y="112734"/>
                    <a:pt x="138391" y="122570"/>
                    <a:pt x="138706" y="137167"/>
                  </a:cubicBezTo>
                  <a:cubicBezTo>
                    <a:pt x="139335" y="155571"/>
                    <a:pt x="131785" y="179369"/>
                    <a:pt x="122978" y="191744"/>
                  </a:cubicBezTo>
                  <a:cubicBezTo>
                    <a:pt x="110710" y="208879"/>
                    <a:pt x="89635" y="220302"/>
                    <a:pt x="71706" y="220302"/>
                  </a:cubicBezTo>
                  <a:cubicBezTo>
                    <a:pt x="47800" y="220302"/>
                    <a:pt x="35847" y="201898"/>
                    <a:pt x="35847" y="179369"/>
                  </a:cubicBezTo>
                  <a:cubicBezTo>
                    <a:pt x="35847" y="176196"/>
                    <a:pt x="35847" y="171436"/>
                    <a:pt x="37420" y="165407"/>
                  </a:cubicBezTo>
                  <a:lnTo>
                    <a:pt x="57551" y="85128"/>
                  </a:lnTo>
                  <a:cubicBezTo>
                    <a:pt x="64471" y="57839"/>
                    <a:pt x="87119" y="7386"/>
                    <a:pt x="124865" y="7386"/>
                  </a:cubicBezTo>
                  <a:cubicBezTo>
                    <a:pt x="143109" y="7386"/>
                    <a:pt x="154119" y="17223"/>
                    <a:pt x="154119" y="36262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7" name="任意形状 10036">
              <a:extLst>
                <a:ext uri="{FF2B5EF4-FFF2-40B4-BE49-F238E27FC236}">
                  <a16:creationId xmlns:a16="http://schemas.microsoft.com/office/drawing/2014/main" id="{F259E153-58C8-CA6C-4DED-A40D63AD0F54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9148009" y="4554257"/>
              <a:ext cx="97322" cy="147486"/>
            </a:xfrm>
            <a:custGeom>
              <a:avLst/>
              <a:gdLst>
                <a:gd name="connsiteX0" fmla="*/ 97591 w 97322"/>
                <a:gd name="connsiteY0" fmla="*/ 107151 h 147486"/>
                <a:gd name="connsiteX1" fmla="*/ 90104 w 97322"/>
                <a:gd name="connsiteY1" fmla="*/ 107151 h 147486"/>
                <a:gd name="connsiteX2" fmla="*/ 84380 w 97322"/>
                <a:gd name="connsiteY2" fmla="*/ 127363 h 147486"/>
                <a:gd name="connsiteX3" fmla="*/ 62581 w 97322"/>
                <a:gd name="connsiteY3" fmla="*/ 128696 h 147486"/>
                <a:gd name="connsiteX4" fmla="*/ 22067 w 97322"/>
                <a:gd name="connsiteY4" fmla="*/ 128696 h 147486"/>
                <a:gd name="connsiteX5" fmla="*/ 66104 w 97322"/>
                <a:gd name="connsiteY5" fmla="*/ 91380 h 147486"/>
                <a:gd name="connsiteX6" fmla="*/ 97591 w 97322"/>
                <a:gd name="connsiteY6" fmla="*/ 43403 h 147486"/>
                <a:gd name="connsiteX7" fmla="*/ 46067 w 97322"/>
                <a:gd name="connsiteY7" fmla="*/ 90 h 147486"/>
                <a:gd name="connsiteX8" fmla="*/ 268 w 97322"/>
                <a:gd name="connsiteY8" fmla="*/ 39849 h 147486"/>
                <a:gd name="connsiteX9" fmla="*/ 11938 w 97322"/>
                <a:gd name="connsiteY9" fmla="*/ 52287 h 147486"/>
                <a:gd name="connsiteX10" fmla="*/ 23608 w 97322"/>
                <a:gd name="connsiteY10" fmla="*/ 40515 h 147486"/>
                <a:gd name="connsiteX11" fmla="*/ 10617 w 97322"/>
                <a:gd name="connsiteY11" fmla="*/ 28743 h 147486"/>
                <a:gd name="connsiteX12" fmla="*/ 42764 w 97322"/>
                <a:gd name="connsiteY12" fmla="*/ 8086 h 147486"/>
                <a:gd name="connsiteX13" fmla="*/ 76233 w 97322"/>
                <a:gd name="connsiteY13" fmla="*/ 43403 h 147486"/>
                <a:gd name="connsiteX14" fmla="*/ 55535 w 97322"/>
                <a:gd name="connsiteY14" fmla="*/ 86049 h 147486"/>
                <a:gd name="connsiteX15" fmla="*/ 2470 w 97322"/>
                <a:gd name="connsiteY15" fmla="*/ 138913 h 147486"/>
                <a:gd name="connsiteX16" fmla="*/ 268 w 97322"/>
                <a:gd name="connsiteY16" fmla="*/ 147576 h 147486"/>
                <a:gd name="connsiteX17" fmla="*/ 90985 w 97322"/>
                <a:gd name="connsiteY17" fmla="*/ 147576 h 147486"/>
                <a:gd name="connsiteX18" fmla="*/ 97591 w 97322"/>
                <a:gd name="connsiteY18" fmla="*/ 107151 h 14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322" h="147486">
                  <a:moveTo>
                    <a:pt x="97591" y="107151"/>
                  </a:moveTo>
                  <a:lnTo>
                    <a:pt x="90104" y="107151"/>
                  </a:lnTo>
                  <a:cubicBezTo>
                    <a:pt x="89444" y="112037"/>
                    <a:pt x="87242" y="125142"/>
                    <a:pt x="84380" y="127363"/>
                  </a:cubicBezTo>
                  <a:cubicBezTo>
                    <a:pt x="82618" y="128696"/>
                    <a:pt x="65664" y="128696"/>
                    <a:pt x="62581" y="128696"/>
                  </a:cubicBezTo>
                  <a:lnTo>
                    <a:pt x="22067" y="128696"/>
                  </a:lnTo>
                  <a:cubicBezTo>
                    <a:pt x="45186" y="108039"/>
                    <a:pt x="52893" y="101820"/>
                    <a:pt x="66104" y="91380"/>
                  </a:cubicBezTo>
                  <a:cubicBezTo>
                    <a:pt x="82398" y="78275"/>
                    <a:pt x="97591" y="64504"/>
                    <a:pt x="97591" y="43403"/>
                  </a:cubicBezTo>
                  <a:cubicBezTo>
                    <a:pt x="97591" y="16527"/>
                    <a:pt x="74251" y="90"/>
                    <a:pt x="46067" y="90"/>
                  </a:cubicBezTo>
                  <a:cubicBezTo>
                    <a:pt x="18764" y="90"/>
                    <a:pt x="268" y="19414"/>
                    <a:pt x="268" y="39849"/>
                  </a:cubicBezTo>
                  <a:cubicBezTo>
                    <a:pt x="268" y="51177"/>
                    <a:pt x="9736" y="52287"/>
                    <a:pt x="11938" y="52287"/>
                  </a:cubicBezTo>
                  <a:cubicBezTo>
                    <a:pt x="17223" y="52287"/>
                    <a:pt x="23608" y="48511"/>
                    <a:pt x="23608" y="40515"/>
                  </a:cubicBezTo>
                  <a:cubicBezTo>
                    <a:pt x="23608" y="36517"/>
                    <a:pt x="22067" y="28743"/>
                    <a:pt x="10617" y="28743"/>
                  </a:cubicBezTo>
                  <a:cubicBezTo>
                    <a:pt x="17443" y="12973"/>
                    <a:pt x="32416" y="8086"/>
                    <a:pt x="42764" y="8086"/>
                  </a:cubicBezTo>
                  <a:cubicBezTo>
                    <a:pt x="64783" y="8086"/>
                    <a:pt x="76233" y="25411"/>
                    <a:pt x="76233" y="43403"/>
                  </a:cubicBezTo>
                  <a:cubicBezTo>
                    <a:pt x="76233" y="62727"/>
                    <a:pt x="62581" y="78053"/>
                    <a:pt x="55535" y="86049"/>
                  </a:cubicBezTo>
                  <a:lnTo>
                    <a:pt x="2470" y="138913"/>
                  </a:lnTo>
                  <a:cubicBezTo>
                    <a:pt x="268" y="140913"/>
                    <a:pt x="268" y="141357"/>
                    <a:pt x="268" y="147576"/>
                  </a:cubicBezTo>
                  <a:lnTo>
                    <a:pt x="90985" y="147576"/>
                  </a:lnTo>
                  <a:lnTo>
                    <a:pt x="97591" y="107151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8" name="任意形状 10037">
              <a:extLst>
                <a:ext uri="{FF2B5EF4-FFF2-40B4-BE49-F238E27FC236}">
                  <a16:creationId xmlns:a16="http://schemas.microsoft.com/office/drawing/2014/main" id="{2C6D17DF-6991-CF87-8EE2-6BF7694ED8FC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9293179" y="4416164"/>
              <a:ext cx="72976" cy="317311"/>
            </a:xfrm>
            <a:custGeom>
              <a:avLst/>
              <a:gdLst>
                <a:gd name="connsiteX0" fmla="*/ 73249 w 72976"/>
                <a:gd name="connsiteY0" fmla="*/ 158744 h 317311"/>
                <a:gd name="connsiteX1" fmla="*/ 52489 w 72976"/>
                <a:gd name="connsiteY1" fmla="*/ 59743 h 317311"/>
                <a:gd name="connsiteX2" fmla="*/ 3418 w 72976"/>
                <a:gd name="connsiteY2" fmla="*/ 88 h 317311"/>
                <a:gd name="connsiteX3" fmla="*/ 273 w 72976"/>
                <a:gd name="connsiteY3" fmla="*/ 3261 h 317311"/>
                <a:gd name="connsiteX4" fmla="*/ 6249 w 72976"/>
                <a:gd name="connsiteY4" fmla="*/ 10560 h 317311"/>
                <a:gd name="connsiteX5" fmla="*/ 55005 w 72976"/>
                <a:gd name="connsiteY5" fmla="*/ 158744 h 317311"/>
                <a:gd name="connsiteX6" fmla="*/ 4362 w 72976"/>
                <a:gd name="connsiteY6" fmla="*/ 308832 h 317311"/>
                <a:gd name="connsiteX7" fmla="*/ 273 w 72976"/>
                <a:gd name="connsiteY7" fmla="*/ 314226 h 317311"/>
                <a:gd name="connsiteX8" fmla="*/ 3418 w 72976"/>
                <a:gd name="connsiteY8" fmla="*/ 317400 h 317311"/>
                <a:gd name="connsiteX9" fmla="*/ 53432 w 72976"/>
                <a:gd name="connsiteY9" fmla="*/ 255524 h 317311"/>
                <a:gd name="connsiteX10" fmla="*/ 73249 w 72976"/>
                <a:gd name="connsiteY10" fmla="*/ 158744 h 31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76" h="317311">
                  <a:moveTo>
                    <a:pt x="73249" y="158744"/>
                  </a:moveTo>
                  <a:cubicBezTo>
                    <a:pt x="73249" y="133994"/>
                    <a:pt x="69789" y="95599"/>
                    <a:pt x="52489" y="59743"/>
                  </a:cubicBezTo>
                  <a:cubicBezTo>
                    <a:pt x="33615" y="20714"/>
                    <a:pt x="6564" y="88"/>
                    <a:pt x="3418" y="88"/>
                  </a:cubicBezTo>
                  <a:cubicBezTo>
                    <a:pt x="1531" y="88"/>
                    <a:pt x="273" y="1358"/>
                    <a:pt x="273" y="3261"/>
                  </a:cubicBezTo>
                  <a:cubicBezTo>
                    <a:pt x="273" y="4213"/>
                    <a:pt x="273" y="4848"/>
                    <a:pt x="6249" y="10560"/>
                  </a:cubicBezTo>
                  <a:cubicBezTo>
                    <a:pt x="37075" y="41973"/>
                    <a:pt x="55005" y="92426"/>
                    <a:pt x="55005" y="158744"/>
                  </a:cubicBezTo>
                  <a:cubicBezTo>
                    <a:pt x="55005" y="213004"/>
                    <a:pt x="43367" y="268851"/>
                    <a:pt x="4362" y="308832"/>
                  </a:cubicBezTo>
                  <a:cubicBezTo>
                    <a:pt x="273" y="312640"/>
                    <a:pt x="273" y="313275"/>
                    <a:pt x="273" y="314226"/>
                  </a:cubicBezTo>
                  <a:cubicBezTo>
                    <a:pt x="273" y="316130"/>
                    <a:pt x="1531" y="317400"/>
                    <a:pt x="3418" y="317400"/>
                  </a:cubicBezTo>
                  <a:cubicBezTo>
                    <a:pt x="6564" y="317400"/>
                    <a:pt x="34874" y="295822"/>
                    <a:pt x="53432" y="255524"/>
                  </a:cubicBezTo>
                  <a:cubicBezTo>
                    <a:pt x="69474" y="220620"/>
                    <a:pt x="73249" y="185398"/>
                    <a:pt x="73249" y="158744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9" name="任意形状 10038">
              <a:extLst>
                <a:ext uri="{FF2B5EF4-FFF2-40B4-BE49-F238E27FC236}">
                  <a16:creationId xmlns:a16="http://schemas.microsoft.com/office/drawing/2014/main" id="{A3D0B59C-0BA7-9F67-7D2D-46B306E0944E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9454717" y="4513896"/>
              <a:ext cx="144379" cy="205300"/>
            </a:xfrm>
            <a:custGeom>
              <a:avLst/>
              <a:gdLst>
                <a:gd name="connsiteX0" fmla="*/ 143714 w 144379"/>
                <a:gd name="connsiteY0" fmla="*/ 20714 h 205300"/>
                <a:gd name="connsiteX1" fmla="*/ 144658 w 144379"/>
                <a:gd name="connsiteY1" fmla="*/ 15002 h 205300"/>
                <a:gd name="connsiteX2" fmla="*/ 135536 w 144379"/>
                <a:gd name="connsiteY2" fmla="*/ 6435 h 205300"/>
                <a:gd name="connsiteX3" fmla="*/ 122639 w 144379"/>
                <a:gd name="connsiteY3" fmla="*/ 20079 h 205300"/>
                <a:gd name="connsiteX4" fmla="*/ 93386 w 144379"/>
                <a:gd name="connsiteY4" fmla="*/ 88 h 205300"/>
                <a:gd name="connsiteX5" fmla="*/ 18522 w 144379"/>
                <a:gd name="connsiteY5" fmla="*/ 90205 h 205300"/>
                <a:gd name="connsiteX6" fmla="*/ 60358 w 144379"/>
                <a:gd name="connsiteY6" fmla="*/ 140340 h 205300"/>
                <a:gd name="connsiteX7" fmla="*/ 96846 w 144379"/>
                <a:gd name="connsiteY7" fmla="*/ 121936 h 205300"/>
                <a:gd name="connsiteX8" fmla="*/ 97160 w 144379"/>
                <a:gd name="connsiteY8" fmla="*/ 122253 h 205300"/>
                <a:gd name="connsiteX9" fmla="*/ 86780 w 144379"/>
                <a:gd name="connsiteY9" fmla="*/ 164138 h 205300"/>
                <a:gd name="connsiteX10" fmla="*/ 41485 w 144379"/>
                <a:gd name="connsiteY10" fmla="*/ 198408 h 205300"/>
                <a:gd name="connsiteX11" fmla="*/ 16321 w 144379"/>
                <a:gd name="connsiteY11" fmla="*/ 195235 h 205300"/>
                <a:gd name="connsiteX12" fmla="*/ 29217 w 144379"/>
                <a:gd name="connsiteY12" fmla="*/ 178735 h 205300"/>
                <a:gd name="connsiteX13" fmla="*/ 17264 w 144379"/>
                <a:gd name="connsiteY13" fmla="*/ 167629 h 205300"/>
                <a:gd name="connsiteX14" fmla="*/ 278 w 144379"/>
                <a:gd name="connsiteY14" fmla="*/ 186033 h 205300"/>
                <a:gd name="connsiteX15" fmla="*/ 42114 w 144379"/>
                <a:gd name="connsiteY15" fmla="*/ 205389 h 205300"/>
                <a:gd name="connsiteX16" fmla="*/ 108799 w 144379"/>
                <a:gd name="connsiteY16" fmla="*/ 161600 h 205300"/>
                <a:gd name="connsiteX17" fmla="*/ 143714 w 144379"/>
                <a:gd name="connsiteY17" fmla="*/ 20714 h 205300"/>
                <a:gd name="connsiteX18" fmla="*/ 102822 w 144379"/>
                <a:gd name="connsiteY18" fmla="*/ 99724 h 205300"/>
                <a:gd name="connsiteX19" fmla="*/ 86780 w 144379"/>
                <a:gd name="connsiteY19" fmla="*/ 121936 h 205300"/>
                <a:gd name="connsiteX20" fmla="*/ 61301 w 144379"/>
                <a:gd name="connsiteY20" fmla="*/ 133359 h 205300"/>
                <a:gd name="connsiteX21" fmla="*/ 40856 w 144379"/>
                <a:gd name="connsiteY21" fmla="*/ 104166 h 205300"/>
                <a:gd name="connsiteX22" fmla="*/ 58471 w 144379"/>
                <a:gd name="connsiteY22" fmla="*/ 35310 h 205300"/>
                <a:gd name="connsiteX23" fmla="*/ 93700 w 144379"/>
                <a:gd name="connsiteY23" fmla="*/ 7069 h 205300"/>
                <a:gd name="connsiteX24" fmla="*/ 118865 w 144379"/>
                <a:gd name="connsiteY24" fmla="*/ 34358 h 205300"/>
                <a:gd name="connsiteX25" fmla="*/ 117921 w 144379"/>
                <a:gd name="connsiteY25" fmla="*/ 39118 h 205300"/>
                <a:gd name="connsiteX26" fmla="*/ 102822 w 144379"/>
                <a:gd name="connsiteY26" fmla="*/ 99724 h 2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4379" h="205300">
                  <a:moveTo>
                    <a:pt x="143714" y="20714"/>
                  </a:moveTo>
                  <a:cubicBezTo>
                    <a:pt x="144029" y="18810"/>
                    <a:pt x="144658" y="17223"/>
                    <a:pt x="144658" y="15002"/>
                  </a:cubicBezTo>
                  <a:cubicBezTo>
                    <a:pt x="144658" y="9608"/>
                    <a:pt x="140883" y="6435"/>
                    <a:pt x="135536" y="6435"/>
                  </a:cubicBezTo>
                  <a:cubicBezTo>
                    <a:pt x="132390" y="6435"/>
                    <a:pt x="123897" y="8656"/>
                    <a:pt x="122639" y="20079"/>
                  </a:cubicBezTo>
                  <a:cubicBezTo>
                    <a:pt x="116977" y="8338"/>
                    <a:pt x="105968" y="88"/>
                    <a:pt x="93386" y="88"/>
                  </a:cubicBezTo>
                  <a:cubicBezTo>
                    <a:pt x="57527" y="88"/>
                    <a:pt x="18522" y="44512"/>
                    <a:pt x="18522" y="90205"/>
                  </a:cubicBezTo>
                  <a:cubicBezTo>
                    <a:pt x="18522" y="121619"/>
                    <a:pt x="37710" y="140340"/>
                    <a:pt x="60358" y="140340"/>
                  </a:cubicBezTo>
                  <a:cubicBezTo>
                    <a:pt x="78916" y="140340"/>
                    <a:pt x="93700" y="125426"/>
                    <a:pt x="96846" y="121936"/>
                  </a:cubicBezTo>
                  <a:lnTo>
                    <a:pt x="97160" y="122253"/>
                  </a:lnTo>
                  <a:cubicBezTo>
                    <a:pt x="90555" y="150494"/>
                    <a:pt x="86780" y="163504"/>
                    <a:pt x="86780" y="164138"/>
                  </a:cubicBezTo>
                  <a:cubicBezTo>
                    <a:pt x="85522" y="166994"/>
                    <a:pt x="74827" y="198408"/>
                    <a:pt x="41485" y="198408"/>
                  </a:cubicBezTo>
                  <a:cubicBezTo>
                    <a:pt x="35508" y="198408"/>
                    <a:pt x="25128" y="198091"/>
                    <a:pt x="16321" y="195235"/>
                  </a:cubicBezTo>
                  <a:cubicBezTo>
                    <a:pt x="25757" y="192379"/>
                    <a:pt x="29217" y="184129"/>
                    <a:pt x="29217" y="178735"/>
                  </a:cubicBezTo>
                  <a:cubicBezTo>
                    <a:pt x="29217" y="173658"/>
                    <a:pt x="25757" y="167629"/>
                    <a:pt x="17264" y="167629"/>
                  </a:cubicBezTo>
                  <a:cubicBezTo>
                    <a:pt x="10344" y="167629"/>
                    <a:pt x="278" y="173340"/>
                    <a:pt x="278" y="186033"/>
                  </a:cubicBezTo>
                  <a:cubicBezTo>
                    <a:pt x="278" y="199042"/>
                    <a:pt x="11917" y="205389"/>
                    <a:pt x="42114" y="205389"/>
                  </a:cubicBezTo>
                  <a:cubicBezTo>
                    <a:pt x="81433" y="205389"/>
                    <a:pt x="104081" y="180638"/>
                    <a:pt x="108799" y="161600"/>
                  </a:cubicBezTo>
                  <a:lnTo>
                    <a:pt x="143714" y="20714"/>
                  </a:lnTo>
                  <a:close/>
                  <a:moveTo>
                    <a:pt x="102822" y="99724"/>
                  </a:moveTo>
                  <a:cubicBezTo>
                    <a:pt x="100935" y="107974"/>
                    <a:pt x="93700" y="115907"/>
                    <a:pt x="86780" y="121936"/>
                  </a:cubicBezTo>
                  <a:cubicBezTo>
                    <a:pt x="80175" y="127647"/>
                    <a:pt x="70423" y="133359"/>
                    <a:pt x="61301" y="133359"/>
                  </a:cubicBezTo>
                  <a:cubicBezTo>
                    <a:pt x="45574" y="133359"/>
                    <a:pt x="40856" y="116859"/>
                    <a:pt x="40856" y="104166"/>
                  </a:cubicBezTo>
                  <a:cubicBezTo>
                    <a:pt x="40856" y="88935"/>
                    <a:pt x="49978" y="51493"/>
                    <a:pt x="58471" y="35310"/>
                  </a:cubicBezTo>
                  <a:cubicBezTo>
                    <a:pt x="66963" y="19762"/>
                    <a:pt x="80489" y="7069"/>
                    <a:pt x="93700" y="7069"/>
                  </a:cubicBezTo>
                  <a:cubicBezTo>
                    <a:pt x="114461" y="7069"/>
                    <a:pt x="118865" y="32771"/>
                    <a:pt x="118865" y="34358"/>
                  </a:cubicBezTo>
                  <a:cubicBezTo>
                    <a:pt x="118865" y="35944"/>
                    <a:pt x="118235" y="37848"/>
                    <a:pt x="117921" y="39118"/>
                  </a:cubicBezTo>
                  <a:lnTo>
                    <a:pt x="102822" y="99724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0" name="任意形状 10039">
              <a:extLst>
                <a:ext uri="{FF2B5EF4-FFF2-40B4-BE49-F238E27FC236}">
                  <a16:creationId xmlns:a16="http://schemas.microsoft.com/office/drawing/2014/main" id="{FFBF964D-6CA6-8FB9-E8F9-B7F417C41B30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9625188" y="4375646"/>
              <a:ext cx="97322" cy="147486"/>
            </a:xfrm>
            <a:custGeom>
              <a:avLst/>
              <a:gdLst>
                <a:gd name="connsiteX0" fmla="*/ 97606 w 97322"/>
                <a:gd name="connsiteY0" fmla="*/ 107145 h 147486"/>
                <a:gd name="connsiteX1" fmla="*/ 90120 w 97322"/>
                <a:gd name="connsiteY1" fmla="*/ 107145 h 147486"/>
                <a:gd name="connsiteX2" fmla="*/ 84395 w 97322"/>
                <a:gd name="connsiteY2" fmla="*/ 127358 h 147486"/>
                <a:gd name="connsiteX3" fmla="*/ 62596 w 97322"/>
                <a:gd name="connsiteY3" fmla="*/ 128690 h 147486"/>
                <a:gd name="connsiteX4" fmla="*/ 22082 w 97322"/>
                <a:gd name="connsiteY4" fmla="*/ 128690 h 147486"/>
                <a:gd name="connsiteX5" fmla="*/ 66119 w 97322"/>
                <a:gd name="connsiteY5" fmla="*/ 91375 h 147486"/>
                <a:gd name="connsiteX6" fmla="*/ 97606 w 97322"/>
                <a:gd name="connsiteY6" fmla="*/ 43397 h 147486"/>
                <a:gd name="connsiteX7" fmla="*/ 46082 w 97322"/>
                <a:gd name="connsiteY7" fmla="*/ 84 h 147486"/>
                <a:gd name="connsiteX8" fmla="*/ 283 w 97322"/>
                <a:gd name="connsiteY8" fmla="*/ 39843 h 147486"/>
                <a:gd name="connsiteX9" fmla="*/ 11953 w 97322"/>
                <a:gd name="connsiteY9" fmla="*/ 52282 h 147486"/>
                <a:gd name="connsiteX10" fmla="*/ 23623 w 97322"/>
                <a:gd name="connsiteY10" fmla="*/ 40510 h 147486"/>
                <a:gd name="connsiteX11" fmla="*/ 10632 w 97322"/>
                <a:gd name="connsiteY11" fmla="*/ 28737 h 147486"/>
                <a:gd name="connsiteX12" fmla="*/ 42779 w 97322"/>
                <a:gd name="connsiteY12" fmla="*/ 8080 h 147486"/>
                <a:gd name="connsiteX13" fmla="*/ 76248 w 97322"/>
                <a:gd name="connsiteY13" fmla="*/ 43397 h 147486"/>
                <a:gd name="connsiteX14" fmla="*/ 55550 w 97322"/>
                <a:gd name="connsiteY14" fmla="*/ 86044 h 147486"/>
                <a:gd name="connsiteX15" fmla="*/ 2485 w 97322"/>
                <a:gd name="connsiteY15" fmla="*/ 138908 h 147486"/>
                <a:gd name="connsiteX16" fmla="*/ 283 w 97322"/>
                <a:gd name="connsiteY16" fmla="*/ 147570 h 147486"/>
                <a:gd name="connsiteX17" fmla="*/ 91000 w 97322"/>
                <a:gd name="connsiteY17" fmla="*/ 147570 h 147486"/>
                <a:gd name="connsiteX18" fmla="*/ 97606 w 97322"/>
                <a:gd name="connsiteY18" fmla="*/ 107145 h 14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322" h="147486">
                  <a:moveTo>
                    <a:pt x="97606" y="107145"/>
                  </a:moveTo>
                  <a:lnTo>
                    <a:pt x="90120" y="107145"/>
                  </a:lnTo>
                  <a:cubicBezTo>
                    <a:pt x="89459" y="112032"/>
                    <a:pt x="87257" y="125137"/>
                    <a:pt x="84395" y="127358"/>
                  </a:cubicBezTo>
                  <a:cubicBezTo>
                    <a:pt x="82633" y="128690"/>
                    <a:pt x="65679" y="128690"/>
                    <a:pt x="62596" y="128690"/>
                  </a:cubicBezTo>
                  <a:lnTo>
                    <a:pt x="22082" y="128690"/>
                  </a:lnTo>
                  <a:cubicBezTo>
                    <a:pt x="45202" y="108033"/>
                    <a:pt x="52908" y="101814"/>
                    <a:pt x="66119" y="91375"/>
                  </a:cubicBezTo>
                  <a:cubicBezTo>
                    <a:pt x="82413" y="78270"/>
                    <a:pt x="97606" y="64498"/>
                    <a:pt x="97606" y="43397"/>
                  </a:cubicBezTo>
                  <a:cubicBezTo>
                    <a:pt x="97606" y="16521"/>
                    <a:pt x="74266" y="84"/>
                    <a:pt x="46082" y="84"/>
                  </a:cubicBezTo>
                  <a:cubicBezTo>
                    <a:pt x="18779" y="84"/>
                    <a:pt x="283" y="19408"/>
                    <a:pt x="283" y="39843"/>
                  </a:cubicBezTo>
                  <a:cubicBezTo>
                    <a:pt x="283" y="51171"/>
                    <a:pt x="9752" y="52282"/>
                    <a:pt x="11953" y="52282"/>
                  </a:cubicBezTo>
                  <a:cubicBezTo>
                    <a:pt x="17238" y="52282"/>
                    <a:pt x="23623" y="48506"/>
                    <a:pt x="23623" y="40510"/>
                  </a:cubicBezTo>
                  <a:cubicBezTo>
                    <a:pt x="23623" y="36512"/>
                    <a:pt x="22082" y="28737"/>
                    <a:pt x="10632" y="28737"/>
                  </a:cubicBezTo>
                  <a:cubicBezTo>
                    <a:pt x="17458" y="12967"/>
                    <a:pt x="32431" y="8080"/>
                    <a:pt x="42779" y="8080"/>
                  </a:cubicBezTo>
                  <a:cubicBezTo>
                    <a:pt x="64798" y="8080"/>
                    <a:pt x="76248" y="25406"/>
                    <a:pt x="76248" y="43397"/>
                  </a:cubicBezTo>
                  <a:cubicBezTo>
                    <a:pt x="76248" y="62721"/>
                    <a:pt x="62596" y="78048"/>
                    <a:pt x="55550" y="86044"/>
                  </a:cubicBezTo>
                  <a:lnTo>
                    <a:pt x="2485" y="138908"/>
                  </a:lnTo>
                  <a:cubicBezTo>
                    <a:pt x="283" y="140907"/>
                    <a:pt x="283" y="141351"/>
                    <a:pt x="283" y="147570"/>
                  </a:cubicBezTo>
                  <a:lnTo>
                    <a:pt x="91000" y="147570"/>
                  </a:lnTo>
                  <a:lnTo>
                    <a:pt x="97606" y="107145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1" name="任意形状 10040">
              <a:extLst>
                <a:ext uri="{FF2B5EF4-FFF2-40B4-BE49-F238E27FC236}">
                  <a16:creationId xmlns:a16="http://schemas.microsoft.com/office/drawing/2014/main" id="{241FAD1A-6BA8-64DA-D825-63466CDDADFE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9609278" y="4593768"/>
              <a:ext cx="74423" cy="141044"/>
            </a:xfrm>
            <a:custGeom>
              <a:avLst/>
              <a:gdLst>
                <a:gd name="connsiteX0" fmla="*/ 45201 w 74423"/>
                <a:gd name="connsiteY0" fmla="*/ 51178 h 141044"/>
                <a:gd name="connsiteX1" fmla="*/ 67660 w 74423"/>
                <a:gd name="connsiteY1" fmla="*/ 51178 h 141044"/>
                <a:gd name="connsiteX2" fmla="*/ 74706 w 74423"/>
                <a:gd name="connsiteY2" fmla="*/ 46291 h 141044"/>
                <a:gd name="connsiteX3" fmla="*/ 68101 w 74423"/>
                <a:gd name="connsiteY3" fmla="*/ 43182 h 141044"/>
                <a:gd name="connsiteX4" fmla="*/ 47183 w 74423"/>
                <a:gd name="connsiteY4" fmla="*/ 43182 h 141044"/>
                <a:gd name="connsiteX5" fmla="*/ 55330 w 74423"/>
                <a:gd name="connsiteY5" fmla="*/ 10308 h 141044"/>
                <a:gd name="connsiteX6" fmla="*/ 55990 w 74423"/>
                <a:gd name="connsiteY6" fmla="*/ 7199 h 141044"/>
                <a:gd name="connsiteX7" fmla="*/ 48504 w 74423"/>
                <a:gd name="connsiteY7" fmla="*/ 91 h 141044"/>
                <a:gd name="connsiteX8" fmla="*/ 38155 w 74423"/>
                <a:gd name="connsiteY8" fmla="*/ 9642 h 141044"/>
                <a:gd name="connsiteX9" fmla="*/ 29788 w 74423"/>
                <a:gd name="connsiteY9" fmla="*/ 43182 h 141044"/>
                <a:gd name="connsiteX10" fmla="*/ 7329 w 74423"/>
                <a:gd name="connsiteY10" fmla="*/ 43182 h 141044"/>
                <a:gd name="connsiteX11" fmla="*/ 283 w 74423"/>
                <a:gd name="connsiteY11" fmla="*/ 48068 h 141044"/>
                <a:gd name="connsiteX12" fmla="*/ 6889 w 74423"/>
                <a:gd name="connsiteY12" fmla="*/ 51178 h 141044"/>
                <a:gd name="connsiteX13" fmla="*/ 27806 w 74423"/>
                <a:gd name="connsiteY13" fmla="*/ 51178 h 141044"/>
                <a:gd name="connsiteX14" fmla="*/ 14815 w 74423"/>
                <a:gd name="connsiteY14" fmla="*/ 103598 h 141044"/>
                <a:gd name="connsiteX15" fmla="*/ 11513 w 74423"/>
                <a:gd name="connsiteY15" fmla="*/ 120034 h 141044"/>
                <a:gd name="connsiteX16" fmla="*/ 35073 w 74423"/>
                <a:gd name="connsiteY16" fmla="*/ 141136 h 141044"/>
                <a:gd name="connsiteX17" fmla="*/ 73385 w 74423"/>
                <a:gd name="connsiteY17" fmla="*/ 107152 h 141044"/>
                <a:gd name="connsiteX18" fmla="*/ 69862 w 74423"/>
                <a:gd name="connsiteY18" fmla="*/ 104264 h 141044"/>
                <a:gd name="connsiteX19" fmla="*/ 65238 w 74423"/>
                <a:gd name="connsiteY19" fmla="*/ 108484 h 141044"/>
                <a:gd name="connsiteX20" fmla="*/ 35733 w 74423"/>
                <a:gd name="connsiteY20" fmla="*/ 134916 h 141044"/>
                <a:gd name="connsiteX21" fmla="*/ 28027 w 74423"/>
                <a:gd name="connsiteY21" fmla="*/ 124033 h 141044"/>
                <a:gd name="connsiteX22" fmla="*/ 29348 w 74423"/>
                <a:gd name="connsiteY22" fmla="*/ 114926 h 141044"/>
                <a:gd name="connsiteX23" fmla="*/ 45201 w 74423"/>
                <a:gd name="connsiteY23" fmla="*/ 51178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201" y="51178"/>
                  </a:moveTo>
                  <a:lnTo>
                    <a:pt x="67660" y="51178"/>
                  </a:lnTo>
                  <a:cubicBezTo>
                    <a:pt x="71844" y="51178"/>
                    <a:pt x="74706" y="51178"/>
                    <a:pt x="74706" y="46291"/>
                  </a:cubicBezTo>
                  <a:cubicBezTo>
                    <a:pt x="74706" y="43182"/>
                    <a:pt x="71844" y="43182"/>
                    <a:pt x="68101" y="43182"/>
                  </a:cubicBezTo>
                  <a:lnTo>
                    <a:pt x="47183" y="43182"/>
                  </a:lnTo>
                  <a:lnTo>
                    <a:pt x="55330" y="10308"/>
                  </a:lnTo>
                  <a:cubicBezTo>
                    <a:pt x="55550" y="9198"/>
                    <a:pt x="55990" y="8087"/>
                    <a:pt x="55990" y="7199"/>
                  </a:cubicBezTo>
                  <a:cubicBezTo>
                    <a:pt x="55990" y="3200"/>
                    <a:pt x="52908" y="91"/>
                    <a:pt x="48504" y="91"/>
                  </a:cubicBezTo>
                  <a:cubicBezTo>
                    <a:pt x="42999" y="91"/>
                    <a:pt x="39696" y="3867"/>
                    <a:pt x="38155" y="9642"/>
                  </a:cubicBezTo>
                  <a:cubicBezTo>
                    <a:pt x="36614" y="15195"/>
                    <a:pt x="39476" y="4533"/>
                    <a:pt x="29788" y="43182"/>
                  </a:cubicBezTo>
                  <a:lnTo>
                    <a:pt x="7329" y="43182"/>
                  </a:lnTo>
                  <a:cubicBezTo>
                    <a:pt x="3146" y="43182"/>
                    <a:pt x="283" y="43182"/>
                    <a:pt x="283" y="48068"/>
                  </a:cubicBezTo>
                  <a:cubicBezTo>
                    <a:pt x="283" y="51178"/>
                    <a:pt x="2925" y="51178"/>
                    <a:pt x="6889" y="51178"/>
                  </a:cubicBezTo>
                  <a:lnTo>
                    <a:pt x="27806" y="51178"/>
                  </a:lnTo>
                  <a:lnTo>
                    <a:pt x="14815" y="103598"/>
                  </a:lnTo>
                  <a:cubicBezTo>
                    <a:pt x="13494" y="109151"/>
                    <a:pt x="11513" y="117147"/>
                    <a:pt x="11513" y="120034"/>
                  </a:cubicBezTo>
                  <a:cubicBezTo>
                    <a:pt x="11513" y="133139"/>
                    <a:pt x="22522" y="141136"/>
                    <a:pt x="35073" y="141136"/>
                  </a:cubicBezTo>
                  <a:cubicBezTo>
                    <a:pt x="59513" y="141136"/>
                    <a:pt x="73385" y="110039"/>
                    <a:pt x="73385" y="107152"/>
                  </a:cubicBezTo>
                  <a:cubicBezTo>
                    <a:pt x="73385" y="104264"/>
                    <a:pt x="70523" y="104264"/>
                    <a:pt x="69862" y="104264"/>
                  </a:cubicBezTo>
                  <a:cubicBezTo>
                    <a:pt x="67220" y="104264"/>
                    <a:pt x="67000" y="104708"/>
                    <a:pt x="65238" y="108484"/>
                  </a:cubicBezTo>
                  <a:cubicBezTo>
                    <a:pt x="59073" y="122478"/>
                    <a:pt x="47843" y="134916"/>
                    <a:pt x="35733" y="134916"/>
                  </a:cubicBezTo>
                  <a:cubicBezTo>
                    <a:pt x="31109" y="134916"/>
                    <a:pt x="28027" y="132029"/>
                    <a:pt x="28027" y="124033"/>
                  </a:cubicBezTo>
                  <a:cubicBezTo>
                    <a:pt x="28027" y="121811"/>
                    <a:pt x="28907" y="117147"/>
                    <a:pt x="29348" y="114926"/>
                  </a:cubicBezTo>
                  <a:lnTo>
                    <a:pt x="45201" y="51178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2" name="任意形状 10041">
              <a:extLst>
                <a:ext uri="{FF2B5EF4-FFF2-40B4-BE49-F238E27FC236}">
                  <a16:creationId xmlns:a16="http://schemas.microsoft.com/office/drawing/2014/main" id="{F2F1B688-AB4E-3B83-7763-3E34DC1F828A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6856557" y="4944807"/>
              <a:ext cx="83985" cy="48865"/>
            </a:xfrm>
            <a:custGeom>
              <a:avLst/>
              <a:gdLst>
                <a:gd name="connsiteX0" fmla="*/ 42345 w 83985"/>
                <a:gd name="connsiteY0" fmla="*/ 104 h 48865"/>
                <a:gd name="connsiteX1" fmla="*/ 195 w 83985"/>
                <a:gd name="connsiteY1" fmla="*/ 43259 h 48865"/>
                <a:gd name="connsiteX2" fmla="*/ 5857 w 83985"/>
                <a:gd name="connsiteY2" fmla="*/ 48970 h 48865"/>
                <a:gd name="connsiteX3" fmla="*/ 42345 w 83985"/>
                <a:gd name="connsiteY3" fmla="*/ 16605 h 48865"/>
                <a:gd name="connsiteX4" fmla="*/ 78519 w 83985"/>
                <a:gd name="connsiteY4" fmla="*/ 48970 h 48865"/>
                <a:gd name="connsiteX5" fmla="*/ 84181 w 83985"/>
                <a:gd name="connsiteY5" fmla="*/ 43259 h 48865"/>
                <a:gd name="connsiteX6" fmla="*/ 42345 w 83985"/>
                <a:gd name="connsiteY6" fmla="*/ 104 h 4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985" h="48865">
                  <a:moveTo>
                    <a:pt x="42345" y="104"/>
                  </a:moveTo>
                  <a:lnTo>
                    <a:pt x="195" y="43259"/>
                  </a:lnTo>
                  <a:lnTo>
                    <a:pt x="5857" y="48970"/>
                  </a:lnTo>
                  <a:lnTo>
                    <a:pt x="42345" y="16605"/>
                  </a:lnTo>
                  <a:lnTo>
                    <a:pt x="78519" y="48970"/>
                  </a:lnTo>
                  <a:lnTo>
                    <a:pt x="84181" y="43259"/>
                  </a:lnTo>
                  <a:lnTo>
                    <a:pt x="42345" y="104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3" name="任意形状 10042">
              <a:extLst>
                <a:ext uri="{FF2B5EF4-FFF2-40B4-BE49-F238E27FC236}">
                  <a16:creationId xmlns:a16="http://schemas.microsoft.com/office/drawing/2014/main" id="{21F8E5FB-2E78-6DE2-0E08-080D208EA76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6769739" y="5024769"/>
              <a:ext cx="257618" cy="143741"/>
            </a:xfrm>
            <a:custGeom>
              <a:avLst/>
              <a:gdLst>
                <a:gd name="connsiteX0" fmla="*/ 18752 w 257618"/>
                <a:gd name="connsiteY0" fmla="*/ 121635 h 143741"/>
                <a:gd name="connsiteX1" fmla="*/ 15921 w 257618"/>
                <a:gd name="connsiteY1" fmla="*/ 135279 h 143741"/>
                <a:gd name="connsiteX2" fmla="*/ 25043 w 257618"/>
                <a:gd name="connsiteY2" fmla="*/ 143846 h 143741"/>
                <a:gd name="connsiteX3" fmla="*/ 36681 w 257618"/>
                <a:gd name="connsiteY3" fmla="*/ 134962 h 143741"/>
                <a:gd name="connsiteX4" fmla="*/ 42658 w 257618"/>
                <a:gd name="connsiteY4" fmla="*/ 111481 h 143741"/>
                <a:gd name="connsiteX5" fmla="*/ 49578 w 257618"/>
                <a:gd name="connsiteY5" fmla="*/ 82923 h 143741"/>
                <a:gd name="connsiteX6" fmla="*/ 54925 w 257618"/>
                <a:gd name="connsiteY6" fmla="*/ 61663 h 143741"/>
                <a:gd name="connsiteX7" fmla="*/ 59014 w 257618"/>
                <a:gd name="connsiteY7" fmla="*/ 45797 h 143741"/>
                <a:gd name="connsiteX8" fmla="*/ 110286 w 257618"/>
                <a:gd name="connsiteY8" fmla="*/ 7085 h 143741"/>
                <a:gd name="connsiteX9" fmla="*/ 127272 w 257618"/>
                <a:gd name="connsiteY9" fmla="*/ 29297 h 143741"/>
                <a:gd name="connsiteX10" fmla="*/ 122554 w 257618"/>
                <a:gd name="connsiteY10" fmla="*/ 55634 h 143741"/>
                <a:gd name="connsiteX11" fmla="*/ 113747 w 257618"/>
                <a:gd name="connsiteY11" fmla="*/ 92442 h 143741"/>
                <a:gd name="connsiteX12" fmla="*/ 107455 w 257618"/>
                <a:gd name="connsiteY12" fmla="*/ 116558 h 143741"/>
                <a:gd name="connsiteX13" fmla="*/ 103366 w 257618"/>
                <a:gd name="connsiteY13" fmla="*/ 135279 h 143741"/>
                <a:gd name="connsiteX14" fmla="*/ 112488 w 257618"/>
                <a:gd name="connsiteY14" fmla="*/ 143846 h 143741"/>
                <a:gd name="connsiteX15" fmla="*/ 126643 w 257618"/>
                <a:gd name="connsiteY15" fmla="*/ 125760 h 143741"/>
                <a:gd name="connsiteX16" fmla="*/ 145516 w 257618"/>
                <a:gd name="connsiteY16" fmla="*/ 49288 h 143741"/>
                <a:gd name="connsiteX17" fmla="*/ 197417 w 257618"/>
                <a:gd name="connsiteY17" fmla="*/ 7085 h 143741"/>
                <a:gd name="connsiteX18" fmla="*/ 214403 w 257618"/>
                <a:gd name="connsiteY18" fmla="*/ 29297 h 143741"/>
                <a:gd name="connsiteX19" fmla="*/ 194901 w 257618"/>
                <a:gd name="connsiteY19" fmla="*/ 100375 h 143741"/>
                <a:gd name="connsiteX20" fmla="*/ 190812 w 257618"/>
                <a:gd name="connsiteY20" fmla="*/ 117827 h 143741"/>
                <a:gd name="connsiteX21" fmla="*/ 216605 w 257618"/>
                <a:gd name="connsiteY21" fmla="*/ 143846 h 143741"/>
                <a:gd name="connsiteX22" fmla="*/ 257811 w 257618"/>
                <a:gd name="connsiteY22" fmla="*/ 94980 h 143741"/>
                <a:gd name="connsiteX23" fmla="*/ 254037 w 257618"/>
                <a:gd name="connsiteY23" fmla="*/ 91807 h 143741"/>
                <a:gd name="connsiteX24" fmla="*/ 249318 w 257618"/>
                <a:gd name="connsiteY24" fmla="*/ 97519 h 143741"/>
                <a:gd name="connsiteX25" fmla="*/ 217234 w 257618"/>
                <a:gd name="connsiteY25" fmla="*/ 136866 h 143741"/>
                <a:gd name="connsiteX26" fmla="*/ 209685 w 257618"/>
                <a:gd name="connsiteY26" fmla="*/ 126394 h 143741"/>
                <a:gd name="connsiteX27" fmla="*/ 215347 w 257618"/>
                <a:gd name="connsiteY27" fmla="*/ 103865 h 143741"/>
                <a:gd name="connsiteX28" fmla="*/ 234534 w 257618"/>
                <a:gd name="connsiteY28" fmla="*/ 34057 h 143741"/>
                <a:gd name="connsiteX29" fmla="*/ 198361 w 257618"/>
                <a:gd name="connsiteY29" fmla="*/ 104 h 143741"/>
                <a:gd name="connsiteX30" fmla="*/ 147089 w 257618"/>
                <a:gd name="connsiteY30" fmla="*/ 30884 h 143741"/>
                <a:gd name="connsiteX31" fmla="*/ 137023 w 257618"/>
                <a:gd name="connsiteY31" fmla="*/ 8354 h 143741"/>
                <a:gd name="connsiteX32" fmla="*/ 111230 w 257618"/>
                <a:gd name="connsiteY32" fmla="*/ 104 h 143741"/>
                <a:gd name="connsiteX33" fmla="*/ 62160 w 257618"/>
                <a:gd name="connsiteY33" fmla="*/ 27710 h 143741"/>
                <a:gd name="connsiteX34" fmla="*/ 33221 w 257618"/>
                <a:gd name="connsiteY34" fmla="*/ 104 h 143741"/>
                <a:gd name="connsiteX35" fmla="*/ 9944 w 257618"/>
                <a:gd name="connsiteY35" fmla="*/ 18191 h 143741"/>
                <a:gd name="connsiteX36" fmla="*/ 193 w 257618"/>
                <a:gd name="connsiteY36" fmla="*/ 48970 h 143741"/>
                <a:gd name="connsiteX37" fmla="*/ 3968 w 257618"/>
                <a:gd name="connsiteY37" fmla="*/ 52143 h 143741"/>
                <a:gd name="connsiteX38" fmla="*/ 9315 w 257618"/>
                <a:gd name="connsiteY38" fmla="*/ 44845 h 143741"/>
                <a:gd name="connsiteX39" fmla="*/ 32278 w 257618"/>
                <a:gd name="connsiteY39" fmla="*/ 7085 h 143741"/>
                <a:gd name="connsiteX40" fmla="*/ 42029 w 257618"/>
                <a:gd name="connsiteY40" fmla="*/ 21682 h 143741"/>
                <a:gd name="connsiteX41" fmla="*/ 36996 w 257618"/>
                <a:gd name="connsiteY41" fmla="*/ 48336 h 143741"/>
                <a:gd name="connsiteX42" fmla="*/ 18752 w 257618"/>
                <a:gd name="connsiteY42" fmla="*/ 121635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7618" h="143741">
                  <a:moveTo>
                    <a:pt x="18752" y="121635"/>
                  </a:moveTo>
                  <a:cubicBezTo>
                    <a:pt x="17808" y="126394"/>
                    <a:pt x="15921" y="133692"/>
                    <a:pt x="15921" y="135279"/>
                  </a:cubicBezTo>
                  <a:cubicBezTo>
                    <a:pt x="15921" y="140991"/>
                    <a:pt x="20325" y="143846"/>
                    <a:pt x="25043" y="143846"/>
                  </a:cubicBezTo>
                  <a:cubicBezTo>
                    <a:pt x="28817" y="143846"/>
                    <a:pt x="34479" y="141308"/>
                    <a:pt x="36681" y="134962"/>
                  </a:cubicBezTo>
                  <a:cubicBezTo>
                    <a:pt x="36996" y="134327"/>
                    <a:pt x="40770" y="119413"/>
                    <a:pt x="42658" y="111481"/>
                  </a:cubicBezTo>
                  <a:lnTo>
                    <a:pt x="49578" y="82923"/>
                  </a:lnTo>
                  <a:cubicBezTo>
                    <a:pt x="51465" y="75942"/>
                    <a:pt x="53353" y="68961"/>
                    <a:pt x="54925" y="61663"/>
                  </a:cubicBezTo>
                  <a:cubicBezTo>
                    <a:pt x="56183" y="56268"/>
                    <a:pt x="58700" y="47066"/>
                    <a:pt x="59014" y="45797"/>
                  </a:cubicBezTo>
                  <a:cubicBezTo>
                    <a:pt x="63733" y="35961"/>
                    <a:pt x="80404" y="7085"/>
                    <a:pt x="110286" y="7085"/>
                  </a:cubicBezTo>
                  <a:cubicBezTo>
                    <a:pt x="124441" y="7085"/>
                    <a:pt x="127272" y="18826"/>
                    <a:pt x="127272" y="29297"/>
                  </a:cubicBezTo>
                  <a:cubicBezTo>
                    <a:pt x="127272" y="37230"/>
                    <a:pt x="125070" y="46114"/>
                    <a:pt x="122554" y="55634"/>
                  </a:cubicBezTo>
                  <a:lnTo>
                    <a:pt x="113747" y="92442"/>
                  </a:lnTo>
                  <a:lnTo>
                    <a:pt x="107455" y="116558"/>
                  </a:lnTo>
                  <a:cubicBezTo>
                    <a:pt x="106197" y="122904"/>
                    <a:pt x="103366" y="133692"/>
                    <a:pt x="103366" y="135279"/>
                  </a:cubicBezTo>
                  <a:cubicBezTo>
                    <a:pt x="103366" y="140991"/>
                    <a:pt x="107770" y="143846"/>
                    <a:pt x="112488" y="143846"/>
                  </a:cubicBezTo>
                  <a:cubicBezTo>
                    <a:pt x="122239" y="143846"/>
                    <a:pt x="124127" y="135914"/>
                    <a:pt x="126643" y="125760"/>
                  </a:cubicBezTo>
                  <a:cubicBezTo>
                    <a:pt x="131047" y="107990"/>
                    <a:pt x="142685" y="61663"/>
                    <a:pt x="145516" y="49288"/>
                  </a:cubicBezTo>
                  <a:cubicBezTo>
                    <a:pt x="146460" y="45163"/>
                    <a:pt x="163131" y="7085"/>
                    <a:pt x="197417" y="7085"/>
                  </a:cubicBezTo>
                  <a:cubicBezTo>
                    <a:pt x="210943" y="7085"/>
                    <a:pt x="214403" y="17874"/>
                    <a:pt x="214403" y="29297"/>
                  </a:cubicBezTo>
                  <a:cubicBezTo>
                    <a:pt x="214403" y="47384"/>
                    <a:pt x="201192" y="83557"/>
                    <a:pt x="194901" y="100375"/>
                  </a:cubicBezTo>
                  <a:cubicBezTo>
                    <a:pt x="192070" y="107990"/>
                    <a:pt x="190812" y="111481"/>
                    <a:pt x="190812" y="117827"/>
                  </a:cubicBezTo>
                  <a:cubicBezTo>
                    <a:pt x="190812" y="132740"/>
                    <a:pt x="201821" y="143846"/>
                    <a:pt x="216605" y="143846"/>
                  </a:cubicBezTo>
                  <a:cubicBezTo>
                    <a:pt x="246173" y="143846"/>
                    <a:pt x="257811" y="97519"/>
                    <a:pt x="257811" y="94980"/>
                  </a:cubicBezTo>
                  <a:cubicBezTo>
                    <a:pt x="257811" y="91807"/>
                    <a:pt x="254980" y="91807"/>
                    <a:pt x="254037" y="91807"/>
                  </a:cubicBezTo>
                  <a:cubicBezTo>
                    <a:pt x="250891" y="91807"/>
                    <a:pt x="250891" y="92759"/>
                    <a:pt x="249318" y="97519"/>
                  </a:cubicBezTo>
                  <a:cubicBezTo>
                    <a:pt x="244600" y="114336"/>
                    <a:pt x="234534" y="136866"/>
                    <a:pt x="217234" y="136866"/>
                  </a:cubicBezTo>
                  <a:cubicBezTo>
                    <a:pt x="211887" y="136866"/>
                    <a:pt x="209685" y="133692"/>
                    <a:pt x="209685" y="126394"/>
                  </a:cubicBezTo>
                  <a:cubicBezTo>
                    <a:pt x="209685" y="118461"/>
                    <a:pt x="212516" y="110846"/>
                    <a:pt x="215347" y="103865"/>
                  </a:cubicBezTo>
                  <a:cubicBezTo>
                    <a:pt x="221323" y="87365"/>
                    <a:pt x="234534" y="52143"/>
                    <a:pt x="234534" y="34057"/>
                  </a:cubicBezTo>
                  <a:cubicBezTo>
                    <a:pt x="234534" y="13431"/>
                    <a:pt x="221952" y="104"/>
                    <a:pt x="198361" y="104"/>
                  </a:cubicBezTo>
                  <a:cubicBezTo>
                    <a:pt x="174770" y="104"/>
                    <a:pt x="158727" y="14066"/>
                    <a:pt x="147089" y="30884"/>
                  </a:cubicBezTo>
                  <a:cubicBezTo>
                    <a:pt x="146774" y="26759"/>
                    <a:pt x="145831" y="15970"/>
                    <a:pt x="137023" y="8354"/>
                  </a:cubicBezTo>
                  <a:cubicBezTo>
                    <a:pt x="129160" y="1691"/>
                    <a:pt x="119094" y="104"/>
                    <a:pt x="111230" y="104"/>
                  </a:cubicBezTo>
                  <a:cubicBezTo>
                    <a:pt x="82920" y="104"/>
                    <a:pt x="67507" y="20412"/>
                    <a:pt x="62160" y="27710"/>
                  </a:cubicBezTo>
                  <a:cubicBezTo>
                    <a:pt x="60587" y="9624"/>
                    <a:pt x="47376" y="104"/>
                    <a:pt x="33221" y="104"/>
                  </a:cubicBezTo>
                  <a:cubicBezTo>
                    <a:pt x="18752" y="104"/>
                    <a:pt x="12775" y="12479"/>
                    <a:pt x="9944" y="18191"/>
                  </a:cubicBezTo>
                  <a:cubicBezTo>
                    <a:pt x="4282" y="29297"/>
                    <a:pt x="193" y="48018"/>
                    <a:pt x="193" y="48970"/>
                  </a:cubicBezTo>
                  <a:cubicBezTo>
                    <a:pt x="193" y="52143"/>
                    <a:pt x="3339" y="52143"/>
                    <a:pt x="3968" y="52143"/>
                  </a:cubicBezTo>
                  <a:cubicBezTo>
                    <a:pt x="7113" y="52143"/>
                    <a:pt x="7428" y="51826"/>
                    <a:pt x="9315" y="44845"/>
                  </a:cubicBezTo>
                  <a:cubicBezTo>
                    <a:pt x="14663" y="22316"/>
                    <a:pt x="20954" y="7085"/>
                    <a:pt x="32278" y="7085"/>
                  </a:cubicBezTo>
                  <a:cubicBezTo>
                    <a:pt x="37310" y="7085"/>
                    <a:pt x="42029" y="9624"/>
                    <a:pt x="42029" y="21682"/>
                  </a:cubicBezTo>
                  <a:cubicBezTo>
                    <a:pt x="42029" y="28345"/>
                    <a:pt x="41085" y="31835"/>
                    <a:pt x="36996" y="48336"/>
                  </a:cubicBezTo>
                  <a:lnTo>
                    <a:pt x="18752" y="121635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4" name="任意形状 10043">
              <a:extLst>
                <a:ext uri="{FF2B5EF4-FFF2-40B4-BE49-F238E27FC236}">
                  <a16:creationId xmlns:a16="http://schemas.microsoft.com/office/drawing/2014/main" id="{A92549B0-1F38-FE02-5243-38A55831A544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046046" y="5073793"/>
              <a:ext cx="74423" cy="141044"/>
            </a:xfrm>
            <a:custGeom>
              <a:avLst/>
              <a:gdLst>
                <a:gd name="connsiteX0" fmla="*/ 45120 w 74423"/>
                <a:gd name="connsiteY0" fmla="*/ 51193 h 141044"/>
                <a:gd name="connsiteX1" fmla="*/ 67579 w 74423"/>
                <a:gd name="connsiteY1" fmla="*/ 51193 h 141044"/>
                <a:gd name="connsiteX2" fmla="*/ 74625 w 74423"/>
                <a:gd name="connsiteY2" fmla="*/ 46306 h 141044"/>
                <a:gd name="connsiteX3" fmla="*/ 68019 w 74423"/>
                <a:gd name="connsiteY3" fmla="*/ 43197 h 141044"/>
                <a:gd name="connsiteX4" fmla="*/ 47102 w 74423"/>
                <a:gd name="connsiteY4" fmla="*/ 43197 h 141044"/>
                <a:gd name="connsiteX5" fmla="*/ 55249 w 74423"/>
                <a:gd name="connsiteY5" fmla="*/ 10323 h 141044"/>
                <a:gd name="connsiteX6" fmla="*/ 55909 w 74423"/>
                <a:gd name="connsiteY6" fmla="*/ 7214 h 141044"/>
                <a:gd name="connsiteX7" fmla="*/ 48423 w 74423"/>
                <a:gd name="connsiteY7" fmla="*/ 106 h 141044"/>
                <a:gd name="connsiteX8" fmla="*/ 38074 w 74423"/>
                <a:gd name="connsiteY8" fmla="*/ 9657 h 141044"/>
                <a:gd name="connsiteX9" fmla="*/ 29707 w 74423"/>
                <a:gd name="connsiteY9" fmla="*/ 43197 h 141044"/>
                <a:gd name="connsiteX10" fmla="*/ 7248 w 74423"/>
                <a:gd name="connsiteY10" fmla="*/ 43197 h 141044"/>
                <a:gd name="connsiteX11" fmla="*/ 202 w 74423"/>
                <a:gd name="connsiteY11" fmla="*/ 48083 h 141044"/>
                <a:gd name="connsiteX12" fmla="*/ 6808 w 74423"/>
                <a:gd name="connsiteY12" fmla="*/ 51193 h 141044"/>
                <a:gd name="connsiteX13" fmla="*/ 27725 w 74423"/>
                <a:gd name="connsiteY13" fmla="*/ 51193 h 141044"/>
                <a:gd name="connsiteX14" fmla="*/ 14734 w 74423"/>
                <a:gd name="connsiteY14" fmla="*/ 103613 h 141044"/>
                <a:gd name="connsiteX15" fmla="*/ 11431 w 74423"/>
                <a:gd name="connsiteY15" fmla="*/ 120049 h 141044"/>
                <a:gd name="connsiteX16" fmla="*/ 34991 w 74423"/>
                <a:gd name="connsiteY16" fmla="*/ 141151 h 141044"/>
                <a:gd name="connsiteX17" fmla="*/ 73304 w 74423"/>
                <a:gd name="connsiteY17" fmla="*/ 107167 h 141044"/>
                <a:gd name="connsiteX18" fmla="*/ 69781 w 74423"/>
                <a:gd name="connsiteY18" fmla="*/ 104279 h 141044"/>
                <a:gd name="connsiteX19" fmla="*/ 65157 w 74423"/>
                <a:gd name="connsiteY19" fmla="*/ 108499 h 141044"/>
                <a:gd name="connsiteX20" fmla="*/ 35652 w 74423"/>
                <a:gd name="connsiteY20" fmla="*/ 134931 h 141044"/>
                <a:gd name="connsiteX21" fmla="*/ 27945 w 74423"/>
                <a:gd name="connsiteY21" fmla="*/ 124048 h 141044"/>
                <a:gd name="connsiteX22" fmla="*/ 29267 w 74423"/>
                <a:gd name="connsiteY22" fmla="*/ 114941 h 141044"/>
                <a:gd name="connsiteX23" fmla="*/ 45120 w 74423"/>
                <a:gd name="connsiteY23" fmla="*/ 51193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20" y="51193"/>
                  </a:moveTo>
                  <a:lnTo>
                    <a:pt x="67579" y="51193"/>
                  </a:lnTo>
                  <a:cubicBezTo>
                    <a:pt x="71763" y="51193"/>
                    <a:pt x="74625" y="51193"/>
                    <a:pt x="74625" y="46306"/>
                  </a:cubicBezTo>
                  <a:cubicBezTo>
                    <a:pt x="74625" y="43197"/>
                    <a:pt x="71763" y="43197"/>
                    <a:pt x="68019" y="43197"/>
                  </a:cubicBezTo>
                  <a:lnTo>
                    <a:pt x="47102" y="43197"/>
                  </a:lnTo>
                  <a:lnTo>
                    <a:pt x="55249" y="10323"/>
                  </a:lnTo>
                  <a:cubicBezTo>
                    <a:pt x="55469" y="9213"/>
                    <a:pt x="55909" y="8102"/>
                    <a:pt x="55909" y="7214"/>
                  </a:cubicBezTo>
                  <a:cubicBezTo>
                    <a:pt x="55909" y="3215"/>
                    <a:pt x="52826" y="106"/>
                    <a:pt x="48423" y="106"/>
                  </a:cubicBezTo>
                  <a:cubicBezTo>
                    <a:pt x="42918" y="106"/>
                    <a:pt x="39615" y="3882"/>
                    <a:pt x="38074" y="9657"/>
                  </a:cubicBezTo>
                  <a:cubicBezTo>
                    <a:pt x="36533" y="15210"/>
                    <a:pt x="39395" y="4548"/>
                    <a:pt x="29707" y="43197"/>
                  </a:cubicBezTo>
                  <a:lnTo>
                    <a:pt x="7248" y="43197"/>
                  </a:lnTo>
                  <a:cubicBezTo>
                    <a:pt x="3064" y="43197"/>
                    <a:pt x="202" y="43197"/>
                    <a:pt x="202" y="48083"/>
                  </a:cubicBezTo>
                  <a:cubicBezTo>
                    <a:pt x="202" y="51193"/>
                    <a:pt x="2844" y="51193"/>
                    <a:pt x="6808" y="51193"/>
                  </a:cubicBezTo>
                  <a:lnTo>
                    <a:pt x="27725" y="51193"/>
                  </a:lnTo>
                  <a:lnTo>
                    <a:pt x="14734" y="103613"/>
                  </a:lnTo>
                  <a:cubicBezTo>
                    <a:pt x="13413" y="109166"/>
                    <a:pt x="11431" y="117162"/>
                    <a:pt x="11431" y="120049"/>
                  </a:cubicBezTo>
                  <a:cubicBezTo>
                    <a:pt x="11431" y="133154"/>
                    <a:pt x="22441" y="141151"/>
                    <a:pt x="34991" y="141151"/>
                  </a:cubicBezTo>
                  <a:cubicBezTo>
                    <a:pt x="59432" y="141151"/>
                    <a:pt x="73304" y="110054"/>
                    <a:pt x="73304" y="107167"/>
                  </a:cubicBezTo>
                  <a:cubicBezTo>
                    <a:pt x="73304" y="104279"/>
                    <a:pt x="70441" y="104279"/>
                    <a:pt x="69781" y="104279"/>
                  </a:cubicBezTo>
                  <a:cubicBezTo>
                    <a:pt x="67139" y="104279"/>
                    <a:pt x="66918" y="104723"/>
                    <a:pt x="65157" y="108499"/>
                  </a:cubicBezTo>
                  <a:cubicBezTo>
                    <a:pt x="58992" y="122493"/>
                    <a:pt x="47762" y="134931"/>
                    <a:pt x="35652" y="134931"/>
                  </a:cubicBezTo>
                  <a:cubicBezTo>
                    <a:pt x="31028" y="134931"/>
                    <a:pt x="27945" y="132044"/>
                    <a:pt x="27945" y="124048"/>
                  </a:cubicBezTo>
                  <a:cubicBezTo>
                    <a:pt x="27945" y="121826"/>
                    <a:pt x="28826" y="117162"/>
                    <a:pt x="29267" y="114941"/>
                  </a:cubicBezTo>
                  <a:lnTo>
                    <a:pt x="45120" y="5119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5" name="任意形状 10044">
              <a:extLst>
                <a:ext uri="{FF2B5EF4-FFF2-40B4-BE49-F238E27FC236}">
                  <a16:creationId xmlns:a16="http://schemas.microsoft.com/office/drawing/2014/main" id="{A450FCD2-37D9-4E6D-2063-82960F8BF4E5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252535" y="5048568"/>
              <a:ext cx="209177" cy="74250"/>
            </a:xfrm>
            <a:custGeom>
              <a:avLst/>
              <a:gdLst>
                <a:gd name="connsiteX0" fmla="*/ 198691 w 209177"/>
                <a:gd name="connsiteY0" fmla="*/ 12797 h 74250"/>
                <a:gd name="connsiteX1" fmla="*/ 209385 w 209177"/>
                <a:gd name="connsiteY1" fmla="*/ 6451 h 74250"/>
                <a:gd name="connsiteX2" fmla="*/ 199005 w 209177"/>
                <a:gd name="connsiteY2" fmla="*/ 104 h 74250"/>
                <a:gd name="connsiteX3" fmla="*/ 10588 w 209177"/>
                <a:gd name="connsiteY3" fmla="*/ 104 h 74250"/>
                <a:gd name="connsiteX4" fmla="*/ 208 w 209177"/>
                <a:gd name="connsiteY4" fmla="*/ 6451 h 74250"/>
                <a:gd name="connsiteX5" fmla="*/ 10903 w 209177"/>
                <a:gd name="connsiteY5" fmla="*/ 12797 h 74250"/>
                <a:gd name="connsiteX6" fmla="*/ 198691 w 209177"/>
                <a:gd name="connsiteY6" fmla="*/ 12797 h 74250"/>
                <a:gd name="connsiteX7" fmla="*/ 199005 w 209177"/>
                <a:gd name="connsiteY7" fmla="*/ 74355 h 74250"/>
                <a:gd name="connsiteX8" fmla="*/ 209385 w 209177"/>
                <a:gd name="connsiteY8" fmla="*/ 68009 h 74250"/>
                <a:gd name="connsiteX9" fmla="*/ 198691 w 209177"/>
                <a:gd name="connsiteY9" fmla="*/ 61663 h 74250"/>
                <a:gd name="connsiteX10" fmla="*/ 10903 w 209177"/>
                <a:gd name="connsiteY10" fmla="*/ 61663 h 74250"/>
                <a:gd name="connsiteX11" fmla="*/ 208 w 209177"/>
                <a:gd name="connsiteY11" fmla="*/ 68009 h 74250"/>
                <a:gd name="connsiteX12" fmla="*/ 10588 w 209177"/>
                <a:gd name="connsiteY12" fmla="*/ 74355 h 74250"/>
                <a:gd name="connsiteX13" fmla="*/ 199005 w 209177"/>
                <a:gd name="connsiteY13" fmla="*/ 74355 h 7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177" h="74250">
                  <a:moveTo>
                    <a:pt x="198691" y="12797"/>
                  </a:moveTo>
                  <a:cubicBezTo>
                    <a:pt x="203409" y="12797"/>
                    <a:pt x="209385" y="12797"/>
                    <a:pt x="209385" y="6451"/>
                  </a:cubicBezTo>
                  <a:cubicBezTo>
                    <a:pt x="209385" y="104"/>
                    <a:pt x="203409" y="104"/>
                    <a:pt x="199005" y="104"/>
                  </a:cubicBezTo>
                  <a:lnTo>
                    <a:pt x="10588" y="104"/>
                  </a:lnTo>
                  <a:cubicBezTo>
                    <a:pt x="6185" y="104"/>
                    <a:pt x="208" y="104"/>
                    <a:pt x="208" y="6451"/>
                  </a:cubicBezTo>
                  <a:cubicBezTo>
                    <a:pt x="208" y="12797"/>
                    <a:pt x="6185" y="12797"/>
                    <a:pt x="10903" y="12797"/>
                  </a:cubicBezTo>
                  <a:lnTo>
                    <a:pt x="198691" y="12797"/>
                  </a:lnTo>
                  <a:close/>
                  <a:moveTo>
                    <a:pt x="199005" y="74355"/>
                  </a:moveTo>
                  <a:cubicBezTo>
                    <a:pt x="203409" y="74355"/>
                    <a:pt x="209385" y="74355"/>
                    <a:pt x="209385" y="68009"/>
                  </a:cubicBezTo>
                  <a:cubicBezTo>
                    <a:pt x="209385" y="61663"/>
                    <a:pt x="203409" y="61663"/>
                    <a:pt x="198691" y="61663"/>
                  </a:cubicBezTo>
                  <a:lnTo>
                    <a:pt x="10903" y="61663"/>
                  </a:lnTo>
                  <a:cubicBezTo>
                    <a:pt x="6185" y="61663"/>
                    <a:pt x="208" y="61663"/>
                    <a:pt x="208" y="68009"/>
                  </a:cubicBezTo>
                  <a:cubicBezTo>
                    <a:pt x="208" y="74355"/>
                    <a:pt x="6185" y="74355"/>
                    <a:pt x="10588" y="74355"/>
                  </a:cubicBezTo>
                  <a:lnTo>
                    <a:pt x="199005" y="74355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6" name="任意形状 10045">
              <a:extLst>
                <a:ext uri="{FF2B5EF4-FFF2-40B4-BE49-F238E27FC236}">
                  <a16:creationId xmlns:a16="http://schemas.microsoft.com/office/drawing/2014/main" id="{EAC4A808-8A93-F0C2-B37E-0A01D5C47CA2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576069" y="5024769"/>
              <a:ext cx="257618" cy="143741"/>
            </a:xfrm>
            <a:custGeom>
              <a:avLst/>
              <a:gdLst>
                <a:gd name="connsiteX0" fmla="*/ 18777 w 257618"/>
                <a:gd name="connsiteY0" fmla="*/ 121635 h 143741"/>
                <a:gd name="connsiteX1" fmla="*/ 15946 w 257618"/>
                <a:gd name="connsiteY1" fmla="*/ 135279 h 143741"/>
                <a:gd name="connsiteX2" fmla="*/ 25068 w 257618"/>
                <a:gd name="connsiteY2" fmla="*/ 143846 h 143741"/>
                <a:gd name="connsiteX3" fmla="*/ 36707 w 257618"/>
                <a:gd name="connsiteY3" fmla="*/ 134962 h 143741"/>
                <a:gd name="connsiteX4" fmla="*/ 42683 w 257618"/>
                <a:gd name="connsiteY4" fmla="*/ 111481 h 143741"/>
                <a:gd name="connsiteX5" fmla="*/ 49603 w 257618"/>
                <a:gd name="connsiteY5" fmla="*/ 82923 h 143741"/>
                <a:gd name="connsiteX6" fmla="*/ 54951 w 257618"/>
                <a:gd name="connsiteY6" fmla="*/ 61663 h 143741"/>
                <a:gd name="connsiteX7" fmla="*/ 59040 w 257618"/>
                <a:gd name="connsiteY7" fmla="*/ 45797 h 143741"/>
                <a:gd name="connsiteX8" fmla="*/ 110312 w 257618"/>
                <a:gd name="connsiteY8" fmla="*/ 7085 h 143741"/>
                <a:gd name="connsiteX9" fmla="*/ 127298 w 257618"/>
                <a:gd name="connsiteY9" fmla="*/ 29297 h 143741"/>
                <a:gd name="connsiteX10" fmla="*/ 122580 w 257618"/>
                <a:gd name="connsiteY10" fmla="*/ 55634 h 143741"/>
                <a:gd name="connsiteX11" fmla="*/ 113772 w 257618"/>
                <a:gd name="connsiteY11" fmla="*/ 92442 h 143741"/>
                <a:gd name="connsiteX12" fmla="*/ 107481 w 257618"/>
                <a:gd name="connsiteY12" fmla="*/ 116558 h 143741"/>
                <a:gd name="connsiteX13" fmla="*/ 103392 w 257618"/>
                <a:gd name="connsiteY13" fmla="*/ 135279 h 143741"/>
                <a:gd name="connsiteX14" fmla="*/ 112514 w 257618"/>
                <a:gd name="connsiteY14" fmla="*/ 143846 h 143741"/>
                <a:gd name="connsiteX15" fmla="*/ 126669 w 257618"/>
                <a:gd name="connsiteY15" fmla="*/ 125760 h 143741"/>
                <a:gd name="connsiteX16" fmla="*/ 145542 w 257618"/>
                <a:gd name="connsiteY16" fmla="*/ 49288 h 143741"/>
                <a:gd name="connsiteX17" fmla="*/ 197443 w 257618"/>
                <a:gd name="connsiteY17" fmla="*/ 7085 h 143741"/>
                <a:gd name="connsiteX18" fmla="*/ 214429 w 257618"/>
                <a:gd name="connsiteY18" fmla="*/ 29297 h 143741"/>
                <a:gd name="connsiteX19" fmla="*/ 194926 w 257618"/>
                <a:gd name="connsiteY19" fmla="*/ 100375 h 143741"/>
                <a:gd name="connsiteX20" fmla="*/ 190837 w 257618"/>
                <a:gd name="connsiteY20" fmla="*/ 117827 h 143741"/>
                <a:gd name="connsiteX21" fmla="*/ 216631 w 257618"/>
                <a:gd name="connsiteY21" fmla="*/ 143846 h 143741"/>
                <a:gd name="connsiteX22" fmla="*/ 257837 w 257618"/>
                <a:gd name="connsiteY22" fmla="*/ 94980 h 143741"/>
                <a:gd name="connsiteX23" fmla="*/ 254062 w 257618"/>
                <a:gd name="connsiteY23" fmla="*/ 91807 h 143741"/>
                <a:gd name="connsiteX24" fmla="*/ 249344 w 257618"/>
                <a:gd name="connsiteY24" fmla="*/ 97519 h 143741"/>
                <a:gd name="connsiteX25" fmla="*/ 217260 w 257618"/>
                <a:gd name="connsiteY25" fmla="*/ 136866 h 143741"/>
                <a:gd name="connsiteX26" fmla="*/ 209710 w 257618"/>
                <a:gd name="connsiteY26" fmla="*/ 126394 h 143741"/>
                <a:gd name="connsiteX27" fmla="*/ 215372 w 257618"/>
                <a:gd name="connsiteY27" fmla="*/ 103865 h 143741"/>
                <a:gd name="connsiteX28" fmla="*/ 234560 w 257618"/>
                <a:gd name="connsiteY28" fmla="*/ 34057 h 143741"/>
                <a:gd name="connsiteX29" fmla="*/ 198387 w 257618"/>
                <a:gd name="connsiteY29" fmla="*/ 104 h 143741"/>
                <a:gd name="connsiteX30" fmla="*/ 147115 w 257618"/>
                <a:gd name="connsiteY30" fmla="*/ 30884 h 143741"/>
                <a:gd name="connsiteX31" fmla="*/ 137049 w 257618"/>
                <a:gd name="connsiteY31" fmla="*/ 8354 h 143741"/>
                <a:gd name="connsiteX32" fmla="*/ 111256 w 257618"/>
                <a:gd name="connsiteY32" fmla="*/ 104 h 143741"/>
                <a:gd name="connsiteX33" fmla="*/ 62186 w 257618"/>
                <a:gd name="connsiteY33" fmla="*/ 27710 h 143741"/>
                <a:gd name="connsiteX34" fmla="*/ 33247 w 257618"/>
                <a:gd name="connsiteY34" fmla="*/ 104 h 143741"/>
                <a:gd name="connsiteX35" fmla="*/ 9970 w 257618"/>
                <a:gd name="connsiteY35" fmla="*/ 18191 h 143741"/>
                <a:gd name="connsiteX36" fmla="*/ 219 w 257618"/>
                <a:gd name="connsiteY36" fmla="*/ 48970 h 143741"/>
                <a:gd name="connsiteX37" fmla="*/ 3993 w 257618"/>
                <a:gd name="connsiteY37" fmla="*/ 52143 h 143741"/>
                <a:gd name="connsiteX38" fmla="*/ 9341 w 257618"/>
                <a:gd name="connsiteY38" fmla="*/ 44845 h 143741"/>
                <a:gd name="connsiteX39" fmla="*/ 32303 w 257618"/>
                <a:gd name="connsiteY39" fmla="*/ 7085 h 143741"/>
                <a:gd name="connsiteX40" fmla="*/ 42054 w 257618"/>
                <a:gd name="connsiteY40" fmla="*/ 21682 h 143741"/>
                <a:gd name="connsiteX41" fmla="*/ 37021 w 257618"/>
                <a:gd name="connsiteY41" fmla="*/ 48336 h 143741"/>
                <a:gd name="connsiteX42" fmla="*/ 18777 w 257618"/>
                <a:gd name="connsiteY42" fmla="*/ 121635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7618" h="143741">
                  <a:moveTo>
                    <a:pt x="18777" y="121635"/>
                  </a:moveTo>
                  <a:cubicBezTo>
                    <a:pt x="17834" y="126394"/>
                    <a:pt x="15946" y="133692"/>
                    <a:pt x="15946" y="135279"/>
                  </a:cubicBezTo>
                  <a:cubicBezTo>
                    <a:pt x="15946" y="140991"/>
                    <a:pt x="20350" y="143846"/>
                    <a:pt x="25068" y="143846"/>
                  </a:cubicBezTo>
                  <a:cubicBezTo>
                    <a:pt x="28843" y="143846"/>
                    <a:pt x="34505" y="141308"/>
                    <a:pt x="36707" y="134962"/>
                  </a:cubicBezTo>
                  <a:cubicBezTo>
                    <a:pt x="37021" y="134327"/>
                    <a:pt x="40796" y="119413"/>
                    <a:pt x="42683" y="111481"/>
                  </a:cubicBezTo>
                  <a:lnTo>
                    <a:pt x="49603" y="82923"/>
                  </a:lnTo>
                  <a:cubicBezTo>
                    <a:pt x="51491" y="75942"/>
                    <a:pt x="53378" y="68961"/>
                    <a:pt x="54951" y="61663"/>
                  </a:cubicBezTo>
                  <a:cubicBezTo>
                    <a:pt x="56209" y="56268"/>
                    <a:pt x="58725" y="47066"/>
                    <a:pt x="59040" y="45797"/>
                  </a:cubicBezTo>
                  <a:cubicBezTo>
                    <a:pt x="63758" y="35961"/>
                    <a:pt x="80430" y="7085"/>
                    <a:pt x="110312" y="7085"/>
                  </a:cubicBezTo>
                  <a:cubicBezTo>
                    <a:pt x="124467" y="7085"/>
                    <a:pt x="127298" y="18826"/>
                    <a:pt x="127298" y="29297"/>
                  </a:cubicBezTo>
                  <a:cubicBezTo>
                    <a:pt x="127298" y="37230"/>
                    <a:pt x="125096" y="46114"/>
                    <a:pt x="122580" y="55634"/>
                  </a:cubicBezTo>
                  <a:lnTo>
                    <a:pt x="113772" y="92442"/>
                  </a:lnTo>
                  <a:lnTo>
                    <a:pt x="107481" y="116558"/>
                  </a:lnTo>
                  <a:cubicBezTo>
                    <a:pt x="106223" y="122904"/>
                    <a:pt x="103392" y="133692"/>
                    <a:pt x="103392" y="135279"/>
                  </a:cubicBezTo>
                  <a:cubicBezTo>
                    <a:pt x="103392" y="140991"/>
                    <a:pt x="107796" y="143846"/>
                    <a:pt x="112514" y="143846"/>
                  </a:cubicBezTo>
                  <a:cubicBezTo>
                    <a:pt x="122265" y="143846"/>
                    <a:pt x="124152" y="135914"/>
                    <a:pt x="126669" y="125760"/>
                  </a:cubicBezTo>
                  <a:cubicBezTo>
                    <a:pt x="131072" y="107990"/>
                    <a:pt x="142711" y="61663"/>
                    <a:pt x="145542" y="49288"/>
                  </a:cubicBezTo>
                  <a:cubicBezTo>
                    <a:pt x="146485" y="45163"/>
                    <a:pt x="163157" y="7085"/>
                    <a:pt x="197443" y="7085"/>
                  </a:cubicBezTo>
                  <a:cubicBezTo>
                    <a:pt x="210969" y="7085"/>
                    <a:pt x="214429" y="17874"/>
                    <a:pt x="214429" y="29297"/>
                  </a:cubicBezTo>
                  <a:cubicBezTo>
                    <a:pt x="214429" y="47384"/>
                    <a:pt x="201218" y="83557"/>
                    <a:pt x="194926" y="100375"/>
                  </a:cubicBezTo>
                  <a:cubicBezTo>
                    <a:pt x="192096" y="107990"/>
                    <a:pt x="190837" y="111481"/>
                    <a:pt x="190837" y="117827"/>
                  </a:cubicBezTo>
                  <a:cubicBezTo>
                    <a:pt x="190837" y="132740"/>
                    <a:pt x="201847" y="143846"/>
                    <a:pt x="216631" y="143846"/>
                  </a:cubicBezTo>
                  <a:cubicBezTo>
                    <a:pt x="246198" y="143846"/>
                    <a:pt x="257837" y="97519"/>
                    <a:pt x="257837" y="94980"/>
                  </a:cubicBezTo>
                  <a:cubicBezTo>
                    <a:pt x="257837" y="91807"/>
                    <a:pt x="255006" y="91807"/>
                    <a:pt x="254062" y="91807"/>
                  </a:cubicBezTo>
                  <a:cubicBezTo>
                    <a:pt x="250917" y="91807"/>
                    <a:pt x="250917" y="92759"/>
                    <a:pt x="249344" y="97519"/>
                  </a:cubicBezTo>
                  <a:cubicBezTo>
                    <a:pt x="244626" y="114336"/>
                    <a:pt x="234560" y="136866"/>
                    <a:pt x="217260" y="136866"/>
                  </a:cubicBezTo>
                  <a:cubicBezTo>
                    <a:pt x="211912" y="136866"/>
                    <a:pt x="209710" y="133692"/>
                    <a:pt x="209710" y="126394"/>
                  </a:cubicBezTo>
                  <a:cubicBezTo>
                    <a:pt x="209710" y="118461"/>
                    <a:pt x="212541" y="110846"/>
                    <a:pt x="215372" y="103865"/>
                  </a:cubicBezTo>
                  <a:cubicBezTo>
                    <a:pt x="221349" y="87365"/>
                    <a:pt x="234560" y="52143"/>
                    <a:pt x="234560" y="34057"/>
                  </a:cubicBezTo>
                  <a:cubicBezTo>
                    <a:pt x="234560" y="13431"/>
                    <a:pt x="221978" y="104"/>
                    <a:pt x="198387" y="104"/>
                  </a:cubicBezTo>
                  <a:cubicBezTo>
                    <a:pt x="174795" y="104"/>
                    <a:pt x="158753" y="14066"/>
                    <a:pt x="147115" y="30884"/>
                  </a:cubicBezTo>
                  <a:cubicBezTo>
                    <a:pt x="146800" y="26759"/>
                    <a:pt x="145856" y="15970"/>
                    <a:pt x="137049" y="8354"/>
                  </a:cubicBezTo>
                  <a:cubicBezTo>
                    <a:pt x="129185" y="1691"/>
                    <a:pt x="119119" y="104"/>
                    <a:pt x="111256" y="104"/>
                  </a:cubicBezTo>
                  <a:cubicBezTo>
                    <a:pt x="82946" y="104"/>
                    <a:pt x="67533" y="20412"/>
                    <a:pt x="62186" y="27710"/>
                  </a:cubicBezTo>
                  <a:cubicBezTo>
                    <a:pt x="60613" y="9624"/>
                    <a:pt x="47402" y="104"/>
                    <a:pt x="33247" y="104"/>
                  </a:cubicBezTo>
                  <a:cubicBezTo>
                    <a:pt x="18777" y="104"/>
                    <a:pt x="12801" y="12479"/>
                    <a:pt x="9970" y="18191"/>
                  </a:cubicBezTo>
                  <a:cubicBezTo>
                    <a:pt x="4308" y="29297"/>
                    <a:pt x="219" y="48018"/>
                    <a:pt x="219" y="48970"/>
                  </a:cubicBezTo>
                  <a:cubicBezTo>
                    <a:pt x="219" y="52143"/>
                    <a:pt x="3364" y="52143"/>
                    <a:pt x="3993" y="52143"/>
                  </a:cubicBezTo>
                  <a:cubicBezTo>
                    <a:pt x="7139" y="52143"/>
                    <a:pt x="7453" y="51826"/>
                    <a:pt x="9341" y="44845"/>
                  </a:cubicBezTo>
                  <a:cubicBezTo>
                    <a:pt x="14688" y="22316"/>
                    <a:pt x="20979" y="7085"/>
                    <a:pt x="32303" y="7085"/>
                  </a:cubicBezTo>
                  <a:cubicBezTo>
                    <a:pt x="37336" y="7085"/>
                    <a:pt x="42054" y="9624"/>
                    <a:pt x="42054" y="21682"/>
                  </a:cubicBezTo>
                  <a:cubicBezTo>
                    <a:pt x="42054" y="28345"/>
                    <a:pt x="41111" y="31835"/>
                    <a:pt x="37021" y="48336"/>
                  </a:cubicBezTo>
                  <a:lnTo>
                    <a:pt x="18777" y="121635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7" name="任意形状 10046">
              <a:extLst>
                <a:ext uri="{FF2B5EF4-FFF2-40B4-BE49-F238E27FC236}">
                  <a16:creationId xmlns:a16="http://schemas.microsoft.com/office/drawing/2014/main" id="{3C20C1D2-B631-53F3-5EFD-4CA82AFEFD5B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852375" y="5073793"/>
              <a:ext cx="74423" cy="141044"/>
            </a:xfrm>
            <a:custGeom>
              <a:avLst/>
              <a:gdLst>
                <a:gd name="connsiteX0" fmla="*/ 45146 w 74423"/>
                <a:gd name="connsiteY0" fmla="*/ 51193 h 141044"/>
                <a:gd name="connsiteX1" fmla="*/ 67605 w 74423"/>
                <a:gd name="connsiteY1" fmla="*/ 51193 h 141044"/>
                <a:gd name="connsiteX2" fmla="*/ 74651 w 74423"/>
                <a:gd name="connsiteY2" fmla="*/ 46306 h 141044"/>
                <a:gd name="connsiteX3" fmla="*/ 68045 w 74423"/>
                <a:gd name="connsiteY3" fmla="*/ 43197 h 141044"/>
                <a:gd name="connsiteX4" fmla="*/ 47127 w 74423"/>
                <a:gd name="connsiteY4" fmla="*/ 43197 h 141044"/>
                <a:gd name="connsiteX5" fmla="*/ 55274 w 74423"/>
                <a:gd name="connsiteY5" fmla="*/ 10323 h 141044"/>
                <a:gd name="connsiteX6" fmla="*/ 55935 w 74423"/>
                <a:gd name="connsiteY6" fmla="*/ 7214 h 141044"/>
                <a:gd name="connsiteX7" fmla="*/ 48448 w 74423"/>
                <a:gd name="connsiteY7" fmla="*/ 106 h 141044"/>
                <a:gd name="connsiteX8" fmla="*/ 38100 w 74423"/>
                <a:gd name="connsiteY8" fmla="*/ 9657 h 141044"/>
                <a:gd name="connsiteX9" fmla="*/ 29732 w 74423"/>
                <a:gd name="connsiteY9" fmla="*/ 43197 h 141044"/>
                <a:gd name="connsiteX10" fmla="*/ 7273 w 74423"/>
                <a:gd name="connsiteY10" fmla="*/ 43197 h 141044"/>
                <a:gd name="connsiteX11" fmla="*/ 227 w 74423"/>
                <a:gd name="connsiteY11" fmla="*/ 48083 h 141044"/>
                <a:gd name="connsiteX12" fmla="*/ 6833 w 74423"/>
                <a:gd name="connsiteY12" fmla="*/ 51193 h 141044"/>
                <a:gd name="connsiteX13" fmla="*/ 27751 w 74423"/>
                <a:gd name="connsiteY13" fmla="*/ 51193 h 141044"/>
                <a:gd name="connsiteX14" fmla="*/ 14760 w 74423"/>
                <a:gd name="connsiteY14" fmla="*/ 103613 h 141044"/>
                <a:gd name="connsiteX15" fmla="*/ 11457 w 74423"/>
                <a:gd name="connsiteY15" fmla="*/ 120049 h 141044"/>
                <a:gd name="connsiteX16" fmla="*/ 35017 w 74423"/>
                <a:gd name="connsiteY16" fmla="*/ 141151 h 141044"/>
                <a:gd name="connsiteX17" fmla="*/ 73329 w 74423"/>
                <a:gd name="connsiteY17" fmla="*/ 107167 h 141044"/>
                <a:gd name="connsiteX18" fmla="*/ 69806 w 74423"/>
                <a:gd name="connsiteY18" fmla="*/ 104279 h 141044"/>
                <a:gd name="connsiteX19" fmla="*/ 65182 w 74423"/>
                <a:gd name="connsiteY19" fmla="*/ 108499 h 141044"/>
                <a:gd name="connsiteX20" fmla="*/ 35678 w 74423"/>
                <a:gd name="connsiteY20" fmla="*/ 134931 h 141044"/>
                <a:gd name="connsiteX21" fmla="*/ 27971 w 74423"/>
                <a:gd name="connsiteY21" fmla="*/ 124048 h 141044"/>
                <a:gd name="connsiteX22" fmla="*/ 29292 w 74423"/>
                <a:gd name="connsiteY22" fmla="*/ 114941 h 141044"/>
                <a:gd name="connsiteX23" fmla="*/ 45146 w 74423"/>
                <a:gd name="connsiteY23" fmla="*/ 51193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46" y="51193"/>
                  </a:moveTo>
                  <a:lnTo>
                    <a:pt x="67605" y="51193"/>
                  </a:lnTo>
                  <a:cubicBezTo>
                    <a:pt x="71788" y="51193"/>
                    <a:pt x="74651" y="51193"/>
                    <a:pt x="74651" y="46306"/>
                  </a:cubicBezTo>
                  <a:cubicBezTo>
                    <a:pt x="74651" y="43197"/>
                    <a:pt x="71788" y="43197"/>
                    <a:pt x="68045" y="43197"/>
                  </a:cubicBezTo>
                  <a:lnTo>
                    <a:pt x="47127" y="43197"/>
                  </a:lnTo>
                  <a:lnTo>
                    <a:pt x="55274" y="10323"/>
                  </a:lnTo>
                  <a:cubicBezTo>
                    <a:pt x="55494" y="9213"/>
                    <a:pt x="55935" y="8102"/>
                    <a:pt x="55935" y="7214"/>
                  </a:cubicBezTo>
                  <a:cubicBezTo>
                    <a:pt x="55935" y="3215"/>
                    <a:pt x="52852" y="106"/>
                    <a:pt x="48448" y="106"/>
                  </a:cubicBezTo>
                  <a:cubicBezTo>
                    <a:pt x="42944" y="106"/>
                    <a:pt x="39641" y="3882"/>
                    <a:pt x="38100" y="9657"/>
                  </a:cubicBezTo>
                  <a:cubicBezTo>
                    <a:pt x="36558" y="15210"/>
                    <a:pt x="39421" y="4548"/>
                    <a:pt x="29732" y="43197"/>
                  </a:cubicBezTo>
                  <a:lnTo>
                    <a:pt x="7273" y="43197"/>
                  </a:lnTo>
                  <a:cubicBezTo>
                    <a:pt x="3090" y="43197"/>
                    <a:pt x="227" y="43197"/>
                    <a:pt x="227" y="48083"/>
                  </a:cubicBezTo>
                  <a:cubicBezTo>
                    <a:pt x="227" y="51193"/>
                    <a:pt x="2870" y="51193"/>
                    <a:pt x="6833" y="51193"/>
                  </a:cubicBezTo>
                  <a:lnTo>
                    <a:pt x="27751" y="51193"/>
                  </a:lnTo>
                  <a:lnTo>
                    <a:pt x="14760" y="103613"/>
                  </a:lnTo>
                  <a:cubicBezTo>
                    <a:pt x="13439" y="109166"/>
                    <a:pt x="11457" y="117162"/>
                    <a:pt x="11457" y="120049"/>
                  </a:cubicBezTo>
                  <a:cubicBezTo>
                    <a:pt x="11457" y="133154"/>
                    <a:pt x="22466" y="141151"/>
                    <a:pt x="35017" y="141151"/>
                  </a:cubicBezTo>
                  <a:cubicBezTo>
                    <a:pt x="59458" y="141151"/>
                    <a:pt x="73329" y="110054"/>
                    <a:pt x="73329" y="107167"/>
                  </a:cubicBezTo>
                  <a:cubicBezTo>
                    <a:pt x="73329" y="104279"/>
                    <a:pt x="70467" y="104279"/>
                    <a:pt x="69806" y="104279"/>
                  </a:cubicBezTo>
                  <a:cubicBezTo>
                    <a:pt x="67164" y="104279"/>
                    <a:pt x="66944" y="104723"/>
                    <a:pt x="65182" y="108499"/>
                  </a:cubicBezTo>
                  <a:cubicBezTo>
                    <a:pt x="59017" y="122493"/>
                    <a:pt x="47788" y="134931"/>
                    <a:pt x="35678" y="134931"/>
                  </a:cubicBezTo>
                  <a:cubicBezTo>
                    <a:pt x="31054" y="134931"/>
                    <a:pt x="27971" y="132044"/>
                    <a:pt x="27971" y="124048"/>
                  </a:cubicBezTo>
                  <a:cubicBezTo>
                    <a:pt x="27971" y="121826"/>
                    <a:pt x="28852" y="117162"/>
                    <a:pt x="29292" y="114941"/>
                  </a:cubicBezTo>
                  <a:lnTo>
                    <a:pt x="45146" y="5119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8" name="任意形状 10047">
              <a:extLst>
                <a:ext uri="{FF2B5EF4-FFF2-40B4-BE49-F238E27FC236}">
                  <a16:creationId xmlns:a16="http://schemas.microsoft.com/office/drawing/2014/main" id="{8DFFE9AB-CE1D-58A5-D4FC-7326F605B0E9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971177" y="4927037"/>
              <a:ext cx="122360" cy="317311"/>
            </a:xfrm>
            <a:custGeom>
              <a:avLst/>
              <a:gdLst>
                <a:gd name="connsiteX0" fmla="*/ 121019 w 122360"/>
                <a:gd name="connsiteY0" fmla="*/ 12162 h 317311"/>
                <a:gd name="connsiteX1" fmla="*/ 122592 w 122360"/>
                <a:gd name="connsiteY1" fmla="*/ 6451 h 317311"/>
                <a:gd name="connsiteX2" fmla="*/ 116301 w 122360"/>
                <a:gd name="connsiteY2" fmla="*/ 104 h 317311"/>
                <a:gd name="connsiteX3" fmla="*/ 110953 w 122360"/>
                <a:gd name="connsiteY3" fmla="*/ 2960 h 317311"/>
                <a:gd name="connsiteX4" fmla="*/ 1804 w 122360"/>
                <a:gd name="connsiteY4" fmla="*/ 305358 h 317311"/>
                <a:gd name="connsiteX5" fmla="*/ 231 w 122360"/>
                <a:gd name="connsiteY5" fmla="*/ 311069 h 317311"/>
                <a:gd name="connsiteX6" fmla="*/ 6522 w 122360"/>
                <a:gd name="connsiteY6" fmla="*/ 317416 h 317311"/>
                <a:gd name="connsiteX7" fmla="*/ 13442 w 122360"/>
                <a:gd name="connsiteY7" fmla="*/ 309800 h 317311"/>
                <a:gd name="connsiteX8" fmla="*/ 121019 w 122360"/>
                <a:gd name="connsiteY8" fmla="*/ 12162 h 31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360" h="317311">
                  <a:moveTo>
                    <a:pt x="121019" y="12162"/>
                  </a:moveTo>
                  <a:cubicBezTo>
                    <a:pt x="122592" y="8037"/>
                    <a:pt x="122592" y="6768"/>
                    <a:pt x="122592" y="6451"/>
                  </a:cubicBezTo>
                  <a:cubicBezTo>
                    <a:pt x="122592" y="2960"/>
                    <a:pt x="119761" y="104"/>
                    <a:pt x="116301" y="104"/>
                  </a:cubicBezTo>
                  <a:cubicBezTo>
                    <a:pt x="114099" y="104"/>
                    <a:pt x="111897" y="1056"/>
                    <a:pt x="110953" y="2960"/>
                  </a:cubicBezTo>
                  <a:lnTo>
                    <a:pt x="1804" y="305358"/>
                  </a:lnTo>
                  <a:cubicBezTo>
                    <a:pt x="231" y="309483"/>
                    <a:pt x="231" y="310752"/>
                    <a:pt x="231" y="311069"/>
                  </a:cubicBezTo>
                  <a:cubicBezTo>
                    <a:pt x="231" y="314560"/>
                    <a:pt x="3062" y="317416"/>
                    <a:pt x="6522" y="317416"/>
                  </a:cubicBezTo>
                  <a:cubicBezTo>
                    <a:pt x="10611" y="317416"/>
                    <a:pt x="11555" y="315194"/>
                    <a:pt x="13442" y="309800"/>
                  </a:cubicBezTo>
                  <a:lnTo>
                    <a:pt x="121019" y="12162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9" name="任意形状 10048">
              <a:extLst>
                <a:ext uri="{FF2B5EF4-FFF2-40B4-BE49-F238E27FC236}">
                  <a16:creationId xmlns:a16="http://schemas.microsoft.com/office/drawing/2014/main" id="{ACFFB1B6-A5A3-AB2F-0646-4EF2A62CC9F1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8211389" y="4895304"/>
              <a:ext cx="82098" cy="380456"/>
            </a:xfrm>
            <a:custGeom>
              <a:avLst/>
              <a:gdLst>
                <a:gd name="connsiteX0" fmla="*/ 82336 w 82098"/>
                <a:gd name="connsiteY0" fmla="*/ 377379 h 380456"/>
                <a:gd name="connsiteX1" fmla="*/ 81078 w 82098"/>
                <a:gd name="connsiteY1" fmla="*/ 374524 h 380456"/>
                <a:gd name="connsiteX2" fmla="*/ 32007 w 82098"/>
                <a:gd name="connsiteY2" fmla="*/ 281551 h 380456"/>
                <a:gd name="connsiteX3" fmla="*/ 21942 w 82098"/>
                <a:gd name="connsiteY3" fmla="*/ 190483 h 380456"/>
                <a:gd name="connsiteX4" fmla="*/ 79505 w 82098"/>
                <a:gd name="connsiteY4" fmla="*/ 7394 h 380456"/>
                <a:gd name="connsiteX5" fmla="*/ 82336 w 82098"/>
                <a:gd name="connsiteY5" fmla="*/ 3269 h 380456"/>
                <a:gd name="connsiteX6" fmla="*/ 78561 w 82098"/>
                <a:gd name="connsiteY6" fmla="*/ 96 h 380456"/>
                <a:gd name="connsiteX7" fmla="*/ 52768 w 82098"/>
                <a:gd name="connsiteY7" fmla="*/ 23895 h 380456"/>
                <a:gd name="connsiteX8" fmla="*/ 238 w 82098"/>
                <a:gd name="connsiteY8" fmla="*/ 190166 h 380456"/>
                <a:gd name="connsiteX9" fmla="*/ 49308 w 82098"/>
                <a:gd name="connsiteY9" fmla="*/ 352629 h 380456"/>
                <a:gd name="connsiteX10" fmla="*/ 78561 w 82098"/>
                <a:gd name="connsiteY10" fmla="*/ 380552 h 380456"/>
                <a:gd name="connsiteX11" fmla="*/ 82336 w 82098"/>
                <a:gd name="connsiteY11" fmla="*/ 377379 h 38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098" h="380456">
                  <a:moveTo>
                    <a:pt x="82336" y="377379"/>
                  </a:moveTo>
                  <a:cubicBezTo>
                    <a:pt x="82336" y="376110"/>
                    <a:pt x="81707" y="375475"/>
                    <a:pt x="81078" y="374524"/>
                  </a:cubicBezTo>
                  <a:cubicBezTo>
                    <a:pt x="66608" y="358975"/>
                    <a:pt x="45219" y="333273"/>
                    <a:pt x="32007" y="281551"/>
                  </a:cubicBezTo>
                  <a:cubicBezTo>
                    <a:pt x="24773" y="252676"/>
                    <a:pt x="21942" y="219993"/>
                    <a:pt x="21942" y="190483"/>
                  </a:cubicBezTo>
                  <a:cubicBezTo>
                    <a:pt x="21942" y="107030"/>
                    <a:pt x="41759" y="48645"/>
                    <a:pt x="79505" y="7394"/>
                  </a:cubicBezTo>
                  <a:cubicBezTo>
                    <a:pt x="82336" y="4539"/>
                    <a:pt x="82336" y="3904"/>
                    <a:pt x="82336" y="3269"/>
                  </a:cubicBezTo>
                  <a:cubicBezTo>
                    <a:pt x="82336" y="96"/>
                    <a:pt x="79819" y="96"/>
                    <a:pt x="78561" y="96"/>
                  </a:cubicBezTo>
                  <a:cubicBezTo>
                    <a:pt x="73843" y="96"/>
                    <a:pt x="56857" y="19135"/>
                    <a:pt x="52768" y="23895"/>
                  </a:cubicBezTo>
                  <a:cubicBezTo>
                    <a:pt x="20684" y="62289"/>
                    <a:pt x="238" y="119405"/>
                    <a:pt x="238" y="190166"/>
                  </a:cubicBezTo>
                  <a:cubicBezTo>
                    <a:pt x="238" y="235224"/>
                    <a:pt x="8101" y="299003"/>
                    <a:pt x="49308" y="352629"/>
                  </a:cubicBezTo>
                  <a:cubicBezTo>
                    <a:pt x="52453" y="356437"/>
                    <a:pt x="72899" y="380552"/>
                    <a:pt x="78561" y="380552"/>
                  </a:cubicBezTo>
                  <a:cubicBezTo>
                    <a:pt x="79819" y="380552"/>
                    <a:pt x="82336" y="380552"/>
                    <a:pt x="82336" y="377379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0" name="任意形状 10049">
              <a:extLst>
                <a:ext uri="{FF2B5EF4-FFF2-40B4-BE49-F238E27FC236}">
                  <a16:creationId xmlns:a16="http://schemas.microsoft.com/office/drawing/2014/main" id="{F43D8B4A-EA1A-D8F3-57F0-CEF3E2D06FA0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335743" y="4953692"/>
              <a:ext cx="103802" cy="211329"/>
            </a:xfrm>
            <a:custGeom>
              <a:avLst/>
              <a:gdLst>
                <a:gd name="connsiteX0" fmla="*/ 64725 w 103802"/>
                <a:gd name="connsiteY0" fmla="*/ 8354 h 211329"/>
                <a:gd name="connsiteX1" fmla="*/ 57491 w 103802"/>
                <a:gd name="connsiteY1" fmla="*/ 104 h 211329"/>
                <a:gd name="connsiteX2" fmla="*/ 242 w 103802"/>
                <a:gd name="connsiteY2" fmla="*/ 20412 h 211329"/>
                <a:gd name="connsiteX3" fmla="*/ 242 w 103802"/>
                <a:gd name="connsiteY3" fmla="*/ 30249 h 211329"/>
                <a:gd name="connsiteX4" fmla="*/ 41449 w 103802"/>
                <a:gd name="connsiteY4" fmla="*/ 21999 h 211329"/>
                <a:gd name="connsiteX5" fmla="*/ 41449 w 103802"/>
                <a:gd name="connsiteY5" fmla="*/ 186366 h 211329"/>
                <a:gd name="connsiteX6" fmla="*/ 12195 w 103802"/>
                <a:gd name="connsiteY6" fmla="*/ 201597 h 211329"/>
                <a:gd name="connsiteX7" fmla="*/ 2130 w 103802"/>
                <a:gd name="connsiteY7" fmla="*/ 201597 h 211329"/>
                <a:gd name="connsiteX8" fmla="*/ 2130 w 103802"/>
                <a:gd name="connsiteY8" fmla="*/ 211434 h 211329"/>
                <a:gd name="connsiteX9" fmla="*/ 53087 w 103802"/>
                <a:gd name="connsiteY9" fmla="*/ 210482 h 211329"/>
                <a:gd name="connsiteX10" fmla="*/ 104044 w 103802"/>
                <a:gd name="connsiteY10" fmla="*/ 211434 h 211329"/>
                <a:gd name="connsiteX11" fmla="*/ 104044 w 103802"/>
                <a:gd name="connsiteY11" fmla="*/ 201597 h 211329"/>
                <a:gd name="connsiteX12" fmla="*/ 93979 w 103802"/>
                <a:gd name="connsiteY12" fmla="*/ 201597 h 211329"/>
                <a:gd name="connsiteX13" fmla="*/ 64725 w 103802"/>
                <a:gd name="connsiteY13" fmla="*/ 186366 h 211329"/>
                <a:gd name="connsiteX14" fmla="*/ 64725 w 103802"/>
                <a:gd name="connsiteY14" fmla="*/ 8354 h 21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3802" h="211329">
                  <a:moveTo>
                    <a:pt x="64725" y="8354"/>
                  </a:moveTo>
                  <a:cubicBezTo>
                    <a:pt x="64725" y="739"/>
                    <a:pt x="64725" y="104"/>
                    <a:pt x="57491" y="104"/>
                  </a:cubicBezTo>
                  <a:cubicBezTo>
                    <a:pt x="37988" y="20412"/>
                    <a:pt x="10308" y="20412"/>
                    <a:pt x="242" y="20412"/>
                  </a:cubicBezTo>
                  <a:lnTo>
                    <a:pt x="242" y="30249"/>
                  </a:lnTo>
                  <a:cubicBezTo>
                    <a:pt x="6533" y="30249"/>
                    <a:pt x="25092" y="30249"/>
                    <a:pt x="41449" y="21999"/>
                  </a:cubicBezTo>
                  <a:lnTo>
                    <a:pt x="41449" y="186366"/>
                  </a:lnTo>
                  <a:cubicBezTo>
                    <a:pt x="41449" y="197789"/>
                    <a:pt x="40505" y="201597"/>
                    <a:pt x="12195" y="201597"/>
                  </a:cubicBezTo>
                  <a:lnTo>
                    <a:pt x="2130" y="201597"/>
                  </a:lnTo>
                  <a:lnTo>
                    <a:pt x="2130" y="211434"/>
                  </a:lnTo>
                  <a:cubicBezTo>
                    <a:pt x="13139" y="210482"/>
                    <a:pt x="40505" y="210482"/>
                    <a:pt x="53087" y="210482"/>
                  </a:cubicBezTo>
                  <a:cubicBezTo>
                    <a:pt x="65669" y="210482"/>
                    <a:pt x="93035" y="210482"/>
                    <a:pt x="104044" y="211434"/>
                  </a:cubicBezTo>
                  <a:lnTo>
                    <a:pt x="104044" y="201597"/>
                  </a:lnTo>
                  <a:lnTo>
                    <a:pt x="93979" y="201597"/>
                  </a:lnTo>
                  <a:cubicBezTo>
                    <a:pt x="65669" y="201597"/>
                    <a:pt x="64725" y="198107"/>
                    <a:pt x="64725" y="186366"/>
                  </a:cubicBezTo>
                  <a:lnTo>
                    <a:pt x="64725" y="8354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1" name="任意形状 10050">
              <a:extLst>
                <a:ext uri="{FF2B5EF4-FFF2-40B4-BE49-F238E27FC236}">
                  <a16:creationId xmlns:a16="http://schemas.microsoft.com/office/drawing/2014/main" id="{FC2B446D-5011-8F4F-03CF-99A2324A83C6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8561031" y="5079347"/>
              <a:ext cx="192191" cy="12692"/>
            </a:xfrm>
            <a:custGeom>
              <a:avLst/>
              <a:gdLst>
                <a:gd name="connsiteX0" fmla="*/ 181431 w 192191"/>
                <a:gd name="connsiteY0" fmla="*/ 12797 h 12692"/>
                <a:gd name="connsiteX1" fmla="*/ 192441 w 192191"/>
                <a:gd name="connsiteY1" fmla="*/ 6451 h 12692"/>
                <a:gd name="connsiteX2" fmla="*/ 181431 w 192191"/>
                <a:gd name="connsiteY2" fmla="*/ 104 h 12692"/>
                <a:gd name="connsiteX3" fmla="*/ 11259 w 192191"/>
                <a:gd name="connsiteY3" fmla="*/ 104 h 12692"/>
                <a:gd name="connsiteX4" fmla="*/ 249 w 192191"/>
                <a:gd name="connsiteY4" fmla="*/ 6451 h 12692"/>
                <a:gd name="connsiteX5" fmla="*/ 11259 w 192191"/>
                <a:gd name="connsiteY5" fmla="*/ 12797 h 12692"/>
                <a:gd name="connsiteX6" fmla="*/ 181431 w 192191"/>
                <a:gd name="connsiteY6" fmla="*/ 12797 h 12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91" h="12692">
                  <a:moveTo>
                    <a:pt x="181431" y="12797"/>
                  </a:moveTo>
                  <a:cubicBezTo>
                    <a:pt x="186779" y="12797"/>
                    <a:pt x="192441" y="12797"/>
                    <a:pt x="192441" y="6451"/>
                  </a:cubicBezTo>
                  <a:cubicBezTo>
                    <a:pt x="192441" y="104"/>
                    <a:pt x="186779" y="104"/>
                    <a:pt x="181431" y="104"/>
                  </a:cubicBezTo>
                  <a:lnTo>
                    <a:pt x="11259" y="104"/>
                  </a:lnTo>
                  <a:cubicBezTo>
                    <a:pt x="5911" y="104"/>
                    <a:pt x="249" y="104"/>
                    <a:pt x="249" y="6451"/>
                  </a:cubicBezTo>
                  <a:cubicBezTo>
                    <a:pt x="249" y="12797"/>
                    <a:pt x="5911" y="12797"/>
                    <a:pt x="11259" y="12797"/>
                  </a:cubicBezTo>
                  <a:lnTo>
                    <a:pt x="181431" y="12797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2" name="任意形状 10051">
              <a:extLst>
                <a:ext uri="{FF2B5EF4-FFF2-40B4-BE49-F238E27FC236}">
                  <a16:creationId xmlns:a16="http://schemas.microsoft.com/office/drawing/2014/main" id="{858F14B3-648A-F551-F047-D6A097FF0E4D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8858871" y="4940999"/>
              <a:ext cx="171470" cy="285580"/>
            </a:xfrm>
            <a:custGeom>
              <a:avLst/>
              <a:gdLst>
                <a:gd name="connsiteX0" fmla="*/ 171730 w 171470"/>
                <a:gd name="connsiteY0" fmla="*/ 43576 h 285580"/>
                <a:gd name="connsiteX1" fmla="*/ 128951 w 171470"/>
                <a:gd name="connsiteY1" fmla="*/ 104 h 285580"/>
                <a:gd name="connsiteX2" fmla="*/ 90890 w 171470"/>
                <a:gd name="connsiteY2" fmla="*/ 13431 h 285580"/>
                <a:gd name="connsiteX3" fmla="*/ 50313 w 171470"/>
                <a:gd name="connsiteY3" fmla="*/ 81019 h 285580"/>
                <a:gd name="connsiteX4" fmla="*/ 299 w 171470"/>
                <a:gd name="connsiteY4" fmla="*/ 282511 h 285580"/>
                <a:gd name="connsiteX5" fmla="*/ 4074 w 171470"/>
                <a:gd name="connsiteY5" fmla="*/ 285684 h 285580"/>
                <a:gd name="connsiteX6" fmla="*/ 7849 w 171470"/>
                <a:gd name="connsiteY6" fmla="*/ 284098 h 285580"/>
                <a:gd name="connsiteX7" fmla="*/ 29867 w 171470"/>
                <a:gd name="connsiteY7" fmla="*/ 196520 h 285580"/>
                <a:gd name="connsiteX8" fmla="*/ 72646 w 171470"/>
                <a:gd name="connsiteY8" fmla="*/ 227299 h 285580"/>
                <a:gd name="connsiteX9" fmla="*/ 133355 w 171470"/>
                <a:gd name="connsiteY9" fmla="*/ 202232 h 285580"/>
                <a:gd name="connsiteX10" fmla="*/ 158519 w 171470"/>
                <a:gd name="connsiteY10" fmla="*/ 143846 h 285580"/>
                <a:gd name="connsiteX11" fmla="*/ 135557 w 171470"/>
                <a:gd name="connsiteY11" fmla="*/ 96567 h 285580"/>
                <a:gd name="connsiteX12" fmla="*/ 171730 w 171470"/>
                <a:gd name="connsiteY12" fmla="*/ 43576 h 285580"/>
                <a:gd name="connsiteX13" fmla="*/ 115111 w 171470"/>
                <a:gd name="connsiteY13" fmla="*/ 96250 h 285580"/>
                <a:gd name="connsiteX14" fmla="*/ 100012 w 171470"/>
                <a:gd name="connsiteY14" fmla="*/ 98471 h 285580"/>
                <a:gd name="connsiteX15" fmla="*/ 86172 w 171470"/>
                <a:gd name="connsiteY15" fmla="*/ 97202 h 285580"/>
                <a:gd name="connsiteX16" fmla="*/ 101585 w 171470"/>
                <a:gd name="connsiteY16" fmla="*/ 94663 h 285580"/>
                <a:gd name="connsiteX17" fmla="*/ 115111 w 171470"/>
                <a:gd name="connsiteY17" fmla="*/ 96250 h 285580"/>
                <a:gd name="connsiteX18" fmla="*/ 154115 w 171470"/>
                <a:gd name="connsiteY18" fmla="*/ 36278 h 285580"/>
                <a:gd name="connsiteX19" fmla="*/ 125806 w 171470"/>
                <a:gd name="connsiteY19" fmla="*/ 91173 h 285580"/>
                <a:gd name="connsiteX20" fmla="*/ 101585 w 171470"/>
                <a:gd name="connsiteY20" fmla="*/ 87365 h 285580"/>
                <a:gd name="connsiteX21" fmla="*/ 77365 w 171470"/>
                <a:gd name="connsiteY21" fmla="*/ 97519 h 285580"/>
                <a:gd name="connsiteX22" fmla="*/ 99069 w 171470"/>
                <a:gd name="connsiteY22" fmla="*/ 105452 h 285580"/>
                <a:gd name="connsiteX23" fmla="*/ 124862 w 171470"/>
                <a:gd name="connsiteY23" fmla="*/ 101327 h 285580"/>
                <a:gd name="connsiteX24" fmla="*/ 138702 w 171470"/>
                <a:gd name="connsiteY24" fmla="*/ 137183 h 285580"/>
                <a:gd name="connsiteX25" fmla="*/ 122975 w 171470"/>
                <a:gd name="connsiteY25" fmla="*/ 191760 h 285580"/>
                <a:gd name="connsiteX26" fmla="*/ 71703 w 171470"/>
                <a:gd name="connsiteY26" fmla="*/ 220318 h 285580"/>
                <a:gd name="connsiteX27" fmla="*/ 35844 w 171470"/>
                <a:gd name="connsiteY27" fmla="*/ 179385 h 285580"/>
                <a:gd name="connsiteX28" fmla="*/ 37416 w 171470"/>
                <a:gd name="connsiteY28" fmla="*/ 165424 h 285580"/>
                <a:gd name="connsiteX29" fmla="*/ 57548 w 171470"/>
                <a:gd name="connsiteY29" fmla="*/ 85144 h 285580"/>
                <a:gd name="connsiteX30" fmla="*/ 124862 w 171470"/>
                <a:gd name="connsiteY30" fmla="*/ 7403 h 285580"/>
                <a:gd name="connsiteX31" fmla="*/ 154115 w 171470"/>
                <a:gd name="connsiteY31" fmla="*/ 36278 h 28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1470" h="285580">
                  <a:moveTo>
                    <a:pt x="171730" y="43576"/>
                  </a:moveTo>
                  <a:cubicBezTo>
                    <a:pt x="171730" y="19778"/>
                    <a:pt x="154430" y="104"/>
                    <a:pt x="128951" y="104"/>
                  </a:cubicBezTo>
                  <a:cubicBezTo>
                    <a:pt x="110707" y="104"/>
                    <a:pt x="101900" y="5181"/>
                    <a:pt x="90890" y="13431"/>
                  </a:cubicBezTo>
                  <a:cubicBezTo>
                    <a:pt x="73590" y="26124"/>
                    <a:pt x="56290" y="56903"/>
                    <a:pt x="50313" y="81019"/>
                  </a:cubicBezTo>
                  <a:lnTo>
                    <a:pt x="299" y="282511"/>
                  </a:lnTo>
                  <a:cubicBezTo>
                    <a:pt x="-15" y="283781"/>
                    <a:pt x="1557" y="285684"/>
                    <a:pt x="4074" y="285684"/>
                  </a:cubicBezTo>
                  <a:cubicBezTo>
                    <a:pt x="6590" y="285684"/>
                    <a:pt x="7534" y="285050"/>
                    <a:pt x="7849" y="284098"/>
                  </a:cubicBezTo>
                  <a:lnTo>
                    <a:pt x="29867" y="196520"/>
                  </a:lnTo>
                  <a:cubicBezTo>
                    <a:pt x="35844" y="215559"/>
                    <a:pt x="49684" y="227299"/>
                    <a:pt x="72646" y="227299"/>
                  </a:cubicBezTo>
                  <a:cubicBezTo>
                    <a:pt x="95609" y="227299"/>
                    <a:pt x="119200" y="216193"/>
                    <a:pt x="133355" y="202232"/>
                  </a:cubicBezTo>
                  <a:cubicBezTo>
                    <a:pt x="148453" y="187635"/>
                    <a:pt x="158519" y="167327"/>
                    <a:pt x="158519" y="143846"/>
                  </a:cubicBezTo>
                  <a:cubicBezTo>
                    <a:pt x="158519" y="121000"/>
                    <a:pt x="146881" y="104500"/>
                    <a:pt x="135557" y="96567"/>
                  </a:cubicBezTo>
                  <a:cubicBezTo>
                    <a:pt x="153801" y="86096"/>
                    <a:pt x="171730" y="66422"/>
                    <a:pt x="171730" y="43576"/>
                  </a:cubicBezTo>
                  <a:close/>
                  <a:moveTo>
                    <a:pt x="115111" y="96250"/>
                  </a:moveTo>
                  <a:cubicBezTo>
                    <a:pt x="111022" y="97836"/>
                    <a:pt x="107562" y="98471"/>
                    <a:pt x="100012" y="98471"/>
                  </a:cubicBezTo>
                  <a:cubicBezTo>
                    <a:pt x="95609" y="98471"/>
                    <a:pt x="89317" y="98788"/>
                    <a:pt x="86172" y="97202"/>
                  </a:cubicBezTo>
                  <a:cubicBezTo>
                    <a:pt x="86801" y="94028"/>
                    <a:pt x="98125" y="94663"/>
                    <a:pt x="101585" y="94663"/>
                  </a:cubicBezTo>
                  <a:cubicBezTo>
                    <a:pt x="108191" y="94663"/>
                    <a:pt x="111022" y="94663"/>
                    <a:pt x="115111" y="96250"/>
                  </a:cubicBezTo>
                  <a:close/>
                  <a:moveTo>
                    <a:pt x="154115" y="36278"/>
                  </a:moveTo>
                  <a:cubicBezTo>
                    <a:pt x="154115" y="58490"/>
                    <a:pt x="142162" y="81336"/>
                    <a:pt x="125806" y="91173"/>
                  </a:cubicBezTo>
                  <a:cubicBezTo>
                    <a:pt x="117313" y="88000"/>
                    <a:pt x="111022" y="87365"/>
                    <a:pt x="101585" y="87365"/>
                  </a:cubicBezTo>
                  <a:cubicBezTo>
                    <a:pt x="94979" y="87365"/>
                    <a:pt x="77365" y="87048"/>
                    <a:pt x="77365" y="97519"/>
                  </a:cubicBezTo>
                  <a:cubicBezTo>
                    <a:pt x="77050" y="106404"/>
                    <a:pt x="93407" y="105452"/>
                    <a:pt x="99069" y="105452"/>
                  </a:cubicBezTo>
                  <a:cubicBezTo>
                    <a:pt x="110707" y="105452"/>
                    <a:pt x="115425" y="105134"/>
                    <a:pt x="124862" y="101327"/>
                  </a:cubicBezTo>
                  <a:cubicBezTo>
                    <a:pt x="136815" y="112750"/>
                    <a:pt x="138388" y="122586"/>
                    <a:pt x="138702" y="137183"/>
                  </a:cubicBezTo>
                  <a:cubicBezTo>
                    <a:pt x="139331" y="155587"/>
                    <a:pt x="131782" y="179385"/>
                    <a:pt x="122975" y="191760"/>
                  </a:cubicBezTo>
                  <a:cubicBezTo>
                    <a:pt x="110707" y="208895"/>
                    <a:pt x="89632" y="220318"/>
                    <a:pt x="71703" y="220318"/>
                  </a:cubicBezTo>
                  <a:cubicBezTo>
                    <a:pt x="47797" y="220318"/>
                    <a:pt x="35844" y="201914"/>
                    <a:pt x="35844" y="179385"/>
                  </a:cubicBezTo>
                  <a:cubicBezTo>
                    <a:pt x="35844" y="176212"/>
                    <a:pt x="35844" y="171452"/>
                    <a:pt x="37416" y="165424"/>
                  </a:cubicBezTo>
                  <a:lnTo>
                    <a:pt x="57548" y="85144"/>
                  </a:lnTo>
                  <a:cubicBezTo>
                    <a:pt x="64468" y="57855"/>
                    <a:pt x="87116" y="7403"/>
                    <a:pt x="124862" y="7403"/>
                  </a:cubicBezTo>
                  <a:cubicBezTo>
                    <a:pt x="143106" y="7403"/>
                    <a:pt x="154115" y="17239"/>
                    <a:pt x="154115" y="36278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3" name="任意形状 10052">
              <a:extLst>
                <a:ext uri="{FF2B5EF4-FFF2-40B4-BE49-F238E27FC236}">
                  <a16:creationId xmlns:a16="http://schemas.microsoft.com/office/drawing/2014/main" id="{9B69A02C-1441-58CA-9EEB-9B4BCB5C9602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9053242" y="4895182"/>
              <a:ext cx="74423" cy="141044"/>
            </a:xfrm>
            <a:custGeom>
              <a:avLst/>
              <a:gdLst>
                <a:gd name="connsiteX0" fmla="*/ 45184 w 74423"/>
                <a:gd name="connsiteY0" fmla="*/ 51187 h 141044"/>
                <a:gd name="connsiteX1" fmla="*/ 67643 w 74423"/>
                <a:gd name="connsiteY1" fmla="*/ 51187 h 141044"/>
                <a:gd name="connsiteX2" fmla="*/ 74689 w 74423"/>
                <a:gd name="connsiteY2" fmla="*/ 46301 h 141044"/>
                <a:gd name="connsiteX3" fmla="*/ 68083 w 74423"/>
                <a:gd name="connsiteY3" fmla="*/ 43191 h 141044"/>
                <a:gd name="connsiteX4" fmla="*/ 47165 w 74423"/>
                <a:gd name="connsiteY4" fmla="*/ 43191 h 141044"/>
                <a:gd name="connsiteX5" fmla="*/ 55312 w 74423"/>
                <a:gd name="connsiteY5" fmla="*/ 10318 h 141044"/>
                <a:gd name="connsiteX6" fmla="*/ 55973 w 74423"/>
                <a:gd name="connsiteY6" fmla="*/ 7208 h 141044"/>
                <a:gd name="connsiteX7" fmla="*/ 48486 w 74423"/>
                <a:gd name="connsiteY7" fmla="*/ 100 h 141044"/>
                <a:gd name="connsiteX8" fmla="*/ 38138 w 74423"/>
                <a:gd name="connsiteY8" fmla="*/ 9651 h 141044"/>
                <a:gd name="connsiteX9" fmla="*/ 29770 w 74423"/>
                <a:gd name="connsiteY9" fmla="*/ 43191 h 141044"/>
                <a:gd name="connsiteX10" fmla="*/ 7311 w 74423"/>
                <a:gd name="connsiteY10" fmla="*/ 43191 h 141044"/>
                <a:gd name="connsiteX11" fmla="*/ 266 w 74423"/>
                <a:gd name="connsiteY11" fmla="*/ 48078 h 141044"/>
                <a:gd name="connsiteX12" fmla="*/ 6871 w 74423"/>
                <a:gd name="connsiteY12" fmla="*/ 51187 h 141044"/>
                <a:gd name="connsiteX13" fmla="*/ 27789 w 74423"/>
                <a:gd name="connsiteY13" fmla="*/ 51187 h 141044"/>
                <a:gd name="connsiteX14" fmla="*/ 14798 w 74423"/>
                <a:gd name="connsiteY14" fmla="*/ 103607 h 141044"/>
                <a:gd name="connsiteX15" fmla="*/ 11495 w 74423"/>
                <a:gd name="connsiteY15" fmla="*/ 120044 h 141044"/>
                <a:gd name="connsiteX16" fmla="*/ 35055 w 74423"/>
                <a:gd name="connsiteY16" fmla="*/ 141145 h 141044"/>
                <a:gd name="connsiteX17" fmla="*/ 73367 w 74423"/>
                <a:gd name="connsiteY17" fmla="*/ 107161 h 141044"/>
                <a:gd name="connsiteX18" fmla="*/ 69844 w 74423"/>
                <a:gd name="connsiteY18" fmla="*/ 104274 h 141044"/>
                <a:gd name="connsiteX19" fmla="*/ 65221 w 74423"/>
                <a:gd name="connsiteY19" fmla="*/ 108494 h 141044"/>
                <a:gd name="connsiteX20" fmla="*/ 35716 w 74423"/>
                <a:gd name="connsiteY20" fmla="*/ 134926 h 141044"/>
                <a:gd name="connsiteX21" fmla="*/ 28009 w 74423"/>
                <a:gd name="connsiteY21" fmla="*/ 124042 h 141044"/>
                <a:gd name="connsiteX22" fmla="*/ 29330 w 74423"/>
                <a:gd name="connsiteY22" fmla="*/ 114935 h 141044"/>
                <a:gd name="connsiteX23" fmla="*/ 45184 w 74423"/>
                <a:gd name="connsiteY23" fmla="*/ 51187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84" y="51187"/>
                  </a:moveTo>
                  <a:lnTo>
                    <a:pt x="67643" y="51187"/>
                  </a:lnTo>
                  <a:cubicBezTo>
                    <a:pt x="71826" y="51187"/>
                    <a:pt x="74689" y="51187"/>
                    <a:pt x="74689" y="46301"/>
                  </a:cubicBezTo>
                  <a:cubicBezTo>
                    <a:pt x="74689" y="43191"/>
                    <a:pt x="71826" y="43191"/>
                    <a:pt x="68083" y="43191"/>
                  </a:cubicBezTo>
                  <a:lnTo>
                    <a:pt x="47165" y="43191"/>
                  </a:lnTo>
                  <a:lnTo>
                    <a:pt x="55312" y="10318"/>
                  </a:lnTo>
                  <a:cubicBezTo>
                    <a:pt x="55532" y="9207"/>
                    <a:pt x="55973" y="8096"/>
                    <a:pt x="55973" y="7208"/>
                  </a:cubicBezTo>
                  <a:cubicBezTo>
                    <a:pt x="55973" y="3210"/>
                    <a:pt x="52890" y="100"/>
                    <a:pt x="48486" y="100"/>
                  </a:cubicBezTo>
                  <a:cubicBezTo>
                    <a:pt x="42982" y="100"/>
                    <a:pt x="39679" y="3876"/>
                    <a:pt x="38138" y="9651"/>
                  </a:cubicBezTo>
                  <a:cubicBezTo>
                    <a:pt x="36596" y="15204"/>
                    <a:pt x="39459" y="4543"/>
                    <a:pt x="29770" y="43191"/>
                  </a:cubicBezTo>
                  <a:lnTo>
                    <a:pt x="7311" y="43191"/>
                  </a:lnTo>
                  <a:cubicBezTo>
                    <a:pt x="3128" y="43191"/>
                    <a:pt x="266" y="43191"/>
                    <a:pt x="266" y="48078"/>
                  </a:cubicBezTo>
                  <a:cubicBezTo>
                    <a:pt x="266" y="51187"/>
                    <a:pt x="2908" y="51187"/>
                    <a:pt x="6871" y="51187"/>
                  </a:cubicBezTo>
                  <a:lnTo>
                    <a:pt x="27789" y="51187"/>
                  </a:lnTo>
                  <a:lnTo>
                    <a:pt x="14798" y="103607"/>
                  </a:lnTo>
                  <a:cubicBezTo>
                    <a:pt x="13477" y="109160"/>
                    <a:pt x="11495" y="117156"/>
                    <a:pt x="11495" y="120044"/>
                  </a:cubicBezTo>
                  <a:cubicBezTo>
                    <a:pt x="11495" y="133149"/>
                    <a:pt x="22504" y="141145"/>
                    <a:pt x="35055" y="141145"/>
                  </a:cubicBezTo>
                  <a:cubicBezTo>
                    <a:pt x="59496" y="141145"/>
                    <a:pt x="73367" y="110049"/>
                    <a:pt x="73367" y="107161"/>
                  </a:cubicBezTo>
                  <a:cubicBezTo>
                    <a:pt x="73367" y="104274"/>
                    <a:pt x="70505" y="104274"/>
                    <a:pt x="69844" y="104274"/>
                  </a:cubicBezTo>
                  <a:cubicBezTo>
                    <a:pt x="67202" y="104274"/>
                    <a:pt x="66982" y="104718"/>
                    <a:pt x="65221" y="108494"/>
                  </a:cubicBezTo>
                  <a:cubicBezTo>
                    <a:pt x="59055" y="122487"/>
                    <a:pt x="47826" y="134926"/>
                    <a:pt x="35716" y="134926"/>
                  </a:cubicBezTo>
                  <a:cubicBezTo>
                    <a:pt x="31092" y="134926"/>
                    <a:pt x="28009" y="132038"/>
                    <a:pt x="28009" y="124042"/>
                  </a:cubicBezTo>
                  <a:cubicBezTo>
                    <a:pt x="28009" y="121821"/>
                    <a:pt x="28890" y="117156"/>
                    <a:pt x="29330" y="114935"/>
                  </a:cubicBezTo>
                  <a:lnTo>
                    <a:pt x="45184" y="51187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4" name="任意形状 10053">
              <a:extLst>
                <a:ext uri="{FF2B5EF4-FFF2-40B4-BE49-F238E27FC236}">
                  <a16:creationId xmlns:a16="http://schemas.microsoft.com/office/drawing/2014/main" id="{98C2BABD-6227-DA9C-6AF5-9DF5B6ED74A5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9051393" y="5095979"/>
              <a:ext cx="80147" cy="147486"/>
            </a:xfrm>
            <a:custGeom>
              <a:avLst/>
              <a:gdLst>
                <a:gd name="connsiteX0" fmla="*/ 50027 w 80147"/>
                <a:gd name="connsiteY0" fmla="*/ 6326 h 147486"/>
                <a:gd name="connsiteX1" fmla="*/ 43422 w 80147"/>
                <a:gd name="connsiteY1" fmla="*/ 107 h 147486"/>
                <a:gd name="connsiteX2" fmla="*/ 265 w 80147"/>
                <a:gd name="connsiteY2" fmla="*/ 14322 h 147486"/>
                <a:gd name="connsiteX3" fmla="*/ 265 w 80147"/>
                <a:gd name="connsiteY3" fmla="*/ 22319 h 147486"/>
                <a:gd name="connsiteX4" fmla="*/ 32192 w 80147"/>
                <a:gd name="connsiteY4" fmla="*/ 16099 h 147486"/>
                <a:gd name="connsiteX5" fmla="*/ 32192 w 80147"/>
                <a:gd name="connsiteY5" fmla="*/ 129379 h 147486"/>
                <a:gd name="connsiteX6" fmla="*/ 10173 w 80147"/>
                <a:gd name="connsiteY6" fmla="*/ 139597 h 147486"/>
                <a:gd name="connsiteX7" fmla="*/ 1806 w 80147"/>
                <a:gd name="connsiteY7" fmla="*/ 139597 h 147486"/>
                <a:gd name="connsiteX8" fmla="*/ 1806 w 80147"/>
                <a:gd name="connsiteY8" fmla="*/ 147593 h 147486"/>
                <a:gd name="connsiteX9" fmla="*/ 41000 w 80147"/>
                <a:gd name="connsiteY9" fmla="*/ 146705 h 147486"/>
                <a:gd name="connsiteX10" fmla="*/ 80413 w 80147"/>
                <a:gd name="connsiteY10" fmla="*/ 147593 h 147486"/>
                <a:gd name="connsiteX11" fmla="*/ 80413 w 80147"/>
                <a:gd name="connsiteY11" fmla="*/ 139597 h 147486"/>
                <a:gd name="connsiteX12" fmla="*/ 72046 w 80147"/>
                <a:gd name="connsiteY12" fmla="*/ 139597 h 147486"/>
                <a:gd name="connsiteX13" fmla="*/ 50027 w 80147"/>
                <a:gd name="connsiteY13" fmla="*/ 129379 h 147486"/>
                <a:gd name="connsiteX14" fmla="*/ 50027 w 80147"/>
                <a:gd name="connsiteY14" fmla="*/ 6326 h 14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147" h="147486">
                  <a:moveTo>
                    <a:pt x="50027" y="6326"/>
                  </a:moveTo>
                  <a:cubicBezTo>
                    <a:pt x="50027" y="329"/>
                    <a:pt x="49587" y="107"/>
                    <a:pt x="43422" y="107"/>
                  </a:cubicBezTo>
                  <a:cubicBezTo>
                    <a:pt x="29330" y="14100"/>
                    <a:pt x="9293" y="14322"/>
                    <a:pt x="265" y="14322"/>
                  </a:cubicBezTo>
                  <a:lnTo>
                    <a:pt x="265" y="22319"/>
                  </a:lnTo>
                  <a:cubicBezTo>
                    <a:pt x="5549" y="22319"/>
                    <a:pt x="20082" y="22319"/>
                    <a:pt x="32192" y="16099"/>
                  </a:cubicBezTo>
                  <a:lnTo>
                    <a:pt x="32192" y="129379"/>
                  </a:lnTo>
                  <a:cubicBezTo>
                    <a:pt x="32192" y="136709"/>
                    <a:pt x="32192" y="139597"/>
                    <a:pt x="10173" y="139597"/>
                  </a:cubicBezTo>
                  <a:lnTo>
                    <a:pt x="1806" y="139597"/>
                  </a:lnTo>
                  <a:lnTo>
                    <a:pt x="1806" y="147593"/>
                  </a:lnTo>
                  <a:cubicBezTo>
                    <a:pt x="5770" y="147371"/>
                    <a:pt x="32853" y="146705"/>
                    <a:pt x="41000" y="146705"/>
                  </a:cubicBezTo>
                  <a:cubicBezTo>
                    <a:pt x="47825" y="146705"/>
                    <a:pt x="75569" y="147371"/>
                    <a:pt x="80413" y="147593"/>
                  </a:cubicBezTo>
                  <a:lnTo>
                    <a:pt x="80413" y="139597"/>
                  </a:lnTo>
                  <a:lnTo>
                    <a:pt x="72046" y="139597"/>
                  </a:lnTo>
                  <a:cubicBezTo>
                    <a:pt x="50027" y="139597"/>
                    <a:pt x="50027" y="136709"/>
                    <a:pt x="50027" y="129379"/>
                  </a:cubicBezTo>
                  <a:lnTo>
                    <a:pt x="50027" y="6326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5" name="任意形状 10054">
              <a:extLst>
                <a:ext uri="{FF2B5EF4-FFF2-40B4-BE49-F238E27FC236}">
                  <a16:creationId xmlns:a16="http://schemas.microsoft.com/office/drawing/2014/main" id="{44A2BF0D-1ACE-CAEA-4314-BCA3E3D55BDC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9182346" y="4895304"/>
              <a:ext cx="82098" cy="380456"/>
            </a:xfrm>
            <a:custGeom>
              <a:avLst/>
              <a:gdLst>
                <a:gd name="connsiteX0" fmla="*/ 82368 w 82098"/>
                <a:gd name="connsiteY0" fmla="*/ 190483 h 380456"/>
                <a:gd name="connsiteX1" fmla="*/ 33297 w 82098"/>
                <a:gd name="connsiteY1" fmla="*/ 28020 h 380456"/>
                <a:gd name="connsiteX2" fmla="*/ 4044 w 82098"/>
                <a:gd name="connsiteY2" fmla="*/ 96 h 380456"/>
                <a:gd name="connsiteX3" fmla="*/ 269 w 82098"/>
                <a:gd name="connsiteY3" fmla="*/ 3269 h 380456"/>
                <a:gd name="connsiteX4" fmla="*/ 2157 w 82098"/>
                <a:gd name="connsiteY4" fmla="*/ 6443 h 380456"/>
                <a:gd name="connsiteX5" fmla="*/ 50598 w 82098"/>
                <a:gd name="connsiteY5" fmla="*/ 99097 h 380456"/>
                <a:gd name="connsiteX6" fmla="*/ 60663 w 82098"/>
                <a:gd name="connsiteY6" fmla="*/ 190166 h 380456"/>
                <a:gd name="connsiteX7" fmla="*/ 49654 w 82098"/>
                <a:gd name="connsiteY7" fmla="*/ 285676 h 380456"/>
                <a:gd name="connsiteX8" fmla="*/ 3100 w 82098"/>
                <a:gd name="connsiteY8" fmla="*/ 373254 h 380456"/>
                <a:gd name="connsiteX9" fmla="*/ 269 w 82098"/>
                <a:gd name="connsiteY9" fmla="*/ 377379 h 380456"/>
                <a:gd name="connsiteX10" fmla="*/ 4044 w 82098"/>
                <a:gd name="connsiteY10" fmla="*/ 380552 h 380456"/>
                <a:gd name="connsiteX11" fmla="*/ 29837 w 82098"/>
                <a:gd name="connsiteY11" fmla="*/ 356754 h 380456"/>
                <a:gd name="connsiteX12" fmla="*/ 82368 w 82098"/>
                <a:gd name="connsiteY12" fmla="*/ 190483 h 38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2098" h="380456">
                  <a:moveTo>
                    <a:pt x="82368" y="190483"/>
                  </a:moveTo>
                  <a:cubicBezTo>
                    <a:pt x="82368" y="145425"/>
                    <a:pt x="74504" y="81645"/>
                    <a:pt x="33297" y="28020"/>
                  </a:cubicBezTo>
                  <a:cubicBezTo>
                    <a:pt x="30152" y="24212"/>
                    <a:pt x="9706" y="96"/>
                    <a:pt x="4044" y="96"/>
                  </a:cubicBezTo>
                  <a:cubicBezTo>
                    <a:pt x="2471" y="96"/>
                    <a:pt x="269" y="731"/>
                    <a:pt x="269" y="3269"/>
                  </a:cubicBezTo>
                  <a:cubicBezTo>
                    <a:pt x="269" y="4539"/>
                    <a:pt x="899" y="5491"/>
                    <a:pt x="2157" y="6443"/>
                  </a:cubicBezTo>
                  <a:cubicBezTo>
                    <a:pt x="17255" y="22943"/>
                    <a:pt x="37701" y="48645"/>
                    <a:pt x="50598" y="99097"/>
                  </a:cubicBezTo>
                  <a:cubicBezTo>
                    <a:pt x="57832" y="127973"/>
                    <a:pt x="60663" y="160656"/>
                    <a:pt x="60663" y="190166"/>
                  </a:cubicBezTo>
                  <a:cubicBezTo>
                    <a:pt x="60663" y="222214"/>
                    <a:pt x="57832" y="254580"/>
                    <a:pt x="49654" y="285676"/>
                  </a:cubicBezTo>
                  <a:cubicBezTo>
                    <a:pt x="37701" y="330100"/>
                    <a:pt x="19143" y="355485"/>
                    <a:pt x="3100" y="373254"/>
                  </a:cubicBezTo>
                  <a:cubicBezTo>
                    <a:pt x="269" y="376110"/>
                    <a:pt x="269" y="376745"/>
                    <a:pt x="269" y="377379"/>
                  </a:cubicBezTo>
                  <a:cubicBezTo>
                    <a:pt x="269" y="379918"/>
                    <a:pt x="2471" y="380552"/>
                    <a:pt x="4044" y="380552"/>
                  </a:cubicBezTo>
                  <a:cubicBezTo>
                    <a:pt x="8762" y="380552"/>
                    <a:pt x="26063" y="361196"/>
                    <a:pt x="29837" y="356754"/>
                  </a:cubicBezTo>
                  <a:cubicBezTo>
                    <a:pt x="61922" y="318359"/>
                    <a:pt x="82368" y="261243"/>
                    <a:pt x="82368" y="190483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6" name="任意形状 10055">
              <a:extLst>
                <a:ext uri="{FF2B5EF4-FFF2-40B4-BE49-F238E27FC236}">
                  <a16:creationId xmlns:a16="http://schemas.microsoft.com/office/drawing/2014/main" id="{6DDC34EF-5F07-37AE-7DBD-2DD0B9178C92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6932793" y="5455680"/>
              <a:ext cx="83985" cy="48865"/>
            </a:xfrm>
            <a:custGeom>
              <a:avLst/>
              <a:gdLst>
                <a:gd name="connsiteX0" fmla="*/ 42347 w 83985"/>
                <a:gd name="connsiteY0" fmla="*/ 120 h 48865"/>
                <a:gd name="connsiteX1" fmla="*/ 198 w 83985"/>
                <a:gd name="connsiteY1" fmla="*/ 43275 h 48865"/>
                <a:gd name="connsiteX2" fmla="*/ 5859 w 83985"/>
                <a:gd name="connsiteY2" fmla="*/ 48986 h 48865"/>
                <a:gd name="connsiteX3" fmla="*/ 42347 w 83985"/>
                <a:gd name="connsiteY3" fmla="*/ 16621 h 48865"/>
                <a:gd name="connsiteX4" fmla="*/ 78521 w 83985"/>
                <a:gd name="connsiteY4" fmla="*/ 48986 h 48865"/>
                <a:gd name="connsiteX5" fmla="*/ 84183 w 83985"/>
                <a:gd name="connsiteY5" fmla="*/ 43275 h 48865"/>
                <a:gd name="connsiteX6" fmla="*/ 42347 w 83985"/>
                <a:gd name="connsiteY6" fmla="*/ 120 h 4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985" h="48865">
                  <a:moveTo>
                    <a:pt x="42347" y="120"/>
                  </a:moveTo>
                  <a:lnTo>
                    <a:pt x="198" y="43275"/>
                  </a:lnTo>
                  <a:lnTo>
                    <a:pt x="5859" y="48986"/>
                  </a:lnTo>
                  <a:lnTo>
                    <a:pt x="42347" y="16621"/>
                  </a:lnTo>
                  <a:lnTo>
                    <a:pt x="78521" y="48986"/>
                  </a:lnTo>
                  <a:lnTo>
                    <a:pt x="84183" y="43275"/>
                  </a:lnTo>
                  <a:lnTo>
                    <a:pt x="42347" y="120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7" name="任意形状 10056">
              <a:extLst>
                <a:ext uri="{FF2B5EF4-FFF2-40B4-BE49-F238E27FC236}">
                  <a16:creationId xmlns:a16="http://schemas.microsoft.com/office/drawing/2014/main" id="{4443C0D8-0344-31BC-3057-ECD4A91543EA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6893450" y="5535643"/>
              <a:ext cx="138088" cy="143741"/>
            </a:xfrm>
            <a:custGeom>
              <a:avLst/>
              <a:gdLst>
                <a:gd name="connsiteX0" fmla="*/ 138286 w 138088"/>
                <a:gd name="connsiteY0" fmla="*/ 22332 h 143741"/>
                <a:gd name="connsiteX1" fmla="*/ 124445 w 138088"/>
                <a:gd name="connsiteY1" fmla="*/ 120 h 143741"/>
                <a:gd name="connsiteX2" fmla="*/ 109032 w 138088"/>
                <a:gd name="connsiteY2" fmla="*/ 15351 h 143741"/>
                <a:gd name="connsiteX3" fmla="*/ 114065 w 138088"/>
                <a:gd name="connsiteY3" fmla="*/ 24871 h 143741"/>
                <a:gd name="connsiteX4" fmla="*/ 124760 w 138088"/>
                <a:gd name="connsiteY4" fmla="*/ 50890 h 143741"/>
                <a:gd name="connsiteX5" fmla="*/ 68769 w 138088"/>
                <a:gd name="connsiteY5" fmla="*/ 136882 h 143741"/>
                <a:gd name="connsiteX6" fmla="*/ 45493 w 138088"/>
                <a:gd name="connsiteY6" fmla="*/ 109275 h 143741"/>
                <a:gd name="connsiteX7" fmla="*/ 63737 w 138088"/>
                <a:gd name="connsiteY7" fmla="*/ 42005 h 143741"/>
                <a:gd name="connsiteX8" fmla="*/ 67511 w 138088"/>
                <a:gd name="connsiteY8" fmla="*/ 26140 h 143741"/>
                <a:gd name="connsiteX9" fmla="*/ 41718 w 138088"/>
                <a:gd name="connsiteY9" fmla="*/ 120 h 143741"/>
                <a:gd name="connsiteX10" fmla="*/ 197 w 138088"/>
                <a:gd name="connsiteY10" fmla="*/ 48986 h 143741"/>
                <a:gd name="connsiteX11" fmla="*/ 3972 w 138088"/>
                <a:gd name="connsiteY11" fmla="*/ 52159 h 143741"/>
                <a:gd name="connsiteX12" fmla="*/ 9005 w 138088"/>
                <a:gd name="connsiteY12" fmla="*/ 46448 h 143741"/>
                <a:gd name="connsiteX13" fmla="*/ 40774 w 138088"/>
                <a:gd name="connsiteY13" fmla="*/ 7101 h 143741"/>
                <a:gd name="connsiteX14" fmla="*/ 48638 w 138088"/>
                <a:gd name="connsiteY14" fmla="*/ 17255 h 143741"/>
                <a:gd name="connsiteX15" fmla="*/ 43291 w 138088"/>
                <a:gd name="connsiteY15" fmla="*/ 39467 h 143741"/>
                <a:gd name="connsiteX16" fmla="*/ 25361 w 138088"/>
                <a:gd name="connsiteY16" fmla="*/ 104516 h 143741"/>
                <a:gd name="connsiteX17" fmla="*/ 67511 w 138088"/>
                <a:gd name="connsiteY17" fmla="*/ 143862 h 143741"/>
                <a:gd name="connsiteX18" fmla="*/ 138286 w 138088"/>
                <a:gd name="connsiteY18" fmla="*/ 22332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088" h="143741">
                  <a:moveTo>
                    <a:pt x="138286" y="22332"/>
                  </a:moveTo>
                  <a:cubicBezTo>
                    <a:pt x="138286" y="5197"/>
                    <a:pt x="130107" y="120"/>
                    <a:pt x="124445" y="120"/>
                  </a:cubicBezTo>
                  <a:cubicBezTo>
                    <a:pt x="116581" y="120"/>
                    <a:pt x="109032" y="8371"/>
                    <a:pt x="109032" y="15351"/>
                  </a:cubicBezTo>
                  <a:cubicBezTo>
                    <a:pt x="109032" y="19476"/>
                    <a:pt x="110605" y="21380"/>
                    <a:pt x="114065" y="24871"/>
                  </a:cubicBezTo>
                  <a:cubicBezTo>
                    <a:pt x="120671" y="31217"/>
                    <a:pt x="124760" y="39467"/>
                    <a:pt x="124760" y="50890"/>
                  </a:cubicBezTo>
                  <a:cubicBezTo>
                    <a:pt x="124760" y="64217"/>
                    <a:pt x="105572" y="136882"/>
                    <a:pt x="68769" y="136882"/>
                  </a:cubicBezTo>
                  <a:cubicBezTo>
                    <a:pt x="52727" y="136882"/>
                    <a:pt x="45493" y="125776"/>
                    <a:pt x="45493" y="109275"/>
                  </a:cubicBezTo>
                  <a:cubicBezTo>
                    <a:pt x="45493" y="91506"/>
                    <a:pt x="53986" y="68342"/>
                    <a:pt x="63737" y="42005"/>
                  </a:cubicBezTo>
                  <a:cubicBezTo>
                    <a:pt x="65938" y="36611"/>
                    <a:pt x="67511" y="32169"/>
                    <a:pt x="67511" y="26140"/>
                  </a:cubicBezTo>
                  <a:cubicBezTo>
                    <a:pt x="67511" y="11861"/>
                    <a:pt x="57446" y="120"/>
                    <a:pt x="41718" y="120"/>
                  </a:cubicBezTo>
                  <a:cubicBezTo>
                    <a:pt x="12150" y="120"/>
                    <a:pt x="197" y="46131"/>
                    <a:pt x="197" y="48986"/>
                  </a:cubicBezTo>
                  <a:cubicBezTo>
                    <a:pt x="197" y="52159"/>
                    <a:pt x="3343" y="52159"/>
                    <a:pt x="3972" y="52159"/>
                  </a:cubicBezTo>
                  <a:cubicBezTo>
                    <a:pt x="7117" y="52159"/>
                    <a:pt x="7432" y="51525"/>
                    <a:pt x="9005" y="46448"/>
                  </a:cubicBezTo>
                  <a:cubicBezTo>
                    <a:pt x="18127" y="14399"/>
                    <a:pt x="31652" y="7101"/>
                    <a:pt x="40774" y="7101"/>
                  </a:cubicBezTo>
                  <a:cubicBezTo>
                    <a:pt x="43291" y="7101"/>
                    <a:pt x="48638" y="7101"/>
                    <a:pt x="48638" y="17255"/>
                  </a:cubicBezTo>
                  <a:cubicBezTo>
                    <a:pt x="48638" y="25188"/>
                    <a:pt x="45493" y="33755"/>
                    <a:pt x="43291" y="39467"/>
                  </a:cubicBezTo>
                  <a:cubicBezTo>
                    <a:pt x="29450" y="76275"/>
                    <a:pt x="25361" y="90871"/>
                    <a:pt x="25361" y="104516"/>
                  </a:cubicBezTo>
                  <a:cubicBezTo>
                    <a:pt x="25361" y="138785"/>
                    <a:pt x="53042" y="143862"/>
                    <a:pt x="67511" y="143862"/>
                  </a:cubicBezTo>
                  <a:cubicBezTo>
                    <a:pt x="120356" y="143862"/>
                    <a:pt x="138286" y="38832"/>
                    <a:pt x="138286" y="22332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8" name="任意形状 10057">
              <a:extLst>
                <a:ext uri="{FF2B5EF4-FFF2-40B4-BE49-F238E27FC236}">
                  <a16:creationId xmlns:a16="http://schemas.microsoft.com/office/drawing/2014/main" id="{F2ED0C5D-C2F9-47E3-4FA7-52D6D74A4AAB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7046046" y="5584667"/>
              <a:ext cx="74423" cy="141044"/>
            </a:xfrm>
            <a:custGeom>
              <a:avLst/>
              <a:gdLst>
                <a:gd name="connsiteX0" fmla="*/ 45120 w 74423"/>
                <a:gd name="connsiteY0" fmla="*/ 51209 h 141044"/>
                <a:gd name="connsiteX1" fmla="*/ 67579 w 74423"/>
                <a:gd name="connsiteY1" fmla="*/ 51209 h 141044"/>
                <a:gd name="connsiteX2" fmla="*/ 74625 w 74423"/>
                <a:gd name="connsiteY2" fmla="*/ 46322 h 141044"/>
                <a:gd name="connsiteX3" fmla="*/ 68019 w 74423"/>
                <a:gd name="connsiteY3" fmla="*/ 43213 h 141044"/>
                <a:gd name="connsiteX4" fmla="*/ 47102 w 74423"/>
                <a:gd name="connsiteY4" fmla="*/ 43213 h 141044"/>
                <a:gd name="connsiteX5" fmla="*/ 55249 w 74423"/>
                <a:gd name="connsiteY5" fmla="*/ 10339 h 141044"/>
                <a:gd name="connsiteX6" fmla="*/ 55909 w 74423"/>
                <a:gd name="connsiteY6" fmla="*/ 7230 h 141044"/>
                <a:gd name="connsiteX7" fmla="*/ 48423 w 74423"/>
                <a:gd name="connsiteY7" fmla="*/ 122 h 141044"/>
                <a:gd name="connsiteX8" fmla="*/ 38074 w 74423"/>
                <a:gd name="connsiteY8" fmla="*/ 9673 h 141044"/>
                <a:gd name="connsiteX9" fmla="*/ 29707 w 74423"/>
                <a:gd name="connsiteY9" fmla="*/ 43213 h 141044"/>
                <a:gd name="connsiteX10" fmla="*/ 7248 w 74423"/>
                <a:gd name="connsiteY10" fmla="*/ 43213 h 141044"/>
                <a:gd name="connsiteX11" fmla="*/ 202 w 74423"/>
                <a:gd name="connsiteY11" fmla="*/ 48099 h 141044"/>
                <a:gd name="connsiteX12" fmla="*/ 6808 w 74423"/>
                <a:gd name="connsiteY12" fmla="*/ 51209 h 141044"/>
                <a:gd name="connsiteX13" fmla="*/ 27725 w 74423"/>
                <a:gd name="connsiteY13" fmla="*/ 51209 h 141044"/>
                <a:gd name="connsiteX14" fmla="*/ 14734 w 74423"/>
                <a:gd name="connsiteY14" fmla="*/ 103629 h 141044"/>
                <a:gd name="connsiteX15" fmla="*/ 11431 w 74423"/>
                <a:gd name="connsiteY15" fmla="*/ 120066 h 141044"/>
                <a:gd name="connsiteX16" fmla="*/ 34991 w 74423"/>
                <a:gd name="connsiteY16" fmla="*/ 141167 h 141044"/>
                <a:gd name="connsiteX17" fmla="*/ 73304 w 74423"/>
                <a:gd name="connsiteY17" fmla="*/ 107183 h 141044"/>
                <a:gd name="connsiteX18" fmla="*/ 69781 w 74423"/>
                <a:gd name="connsiteY18" fmla="*/ 104295 h 141044"/>
                <a:gd name="connsiteX19" fmla="*/ 65157 w 74423"/>
                <a:gd name="connsiteY19" fmla="*/ 108515 h 141044"/>
                <a:gd name="connsiteX20" fmla="*/ 35652 w 74423"/>
                <a:gd name="connsiteY20" fmla="*/ 134947 h 141044"/>
                <a:gd name="connsiteX21" fmla="*/ 27945 w 74423"/>
                <a:gd name="connsiteY21" fmla="*/ 124064 h 141044"/>
                <a:gd name="connsiteX22" fmla="*/ 29267 w 74423"/>
                <a:gd name="connsiteY22" fmla="*/ 114957 h 141044"/>
                <a:gd name="connsiteX23" fmla="*/ 45120 w 74423"/>
                <a:gd name="connsiteY23" fmla="*/ 51209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20" y="51209"/>
                  </a:moveTo>
                  <a:lnTo>
                    <a:pt x="67579" y="51209"/>
                  </a:lnTo>
                  <a:cubicBezTo>
                    <a:pt x="71763" y="51209"/>
                    <a:pt x="74625" y="51209"/>
                    <a:pt x="74625" y="46322"/>
                  </a:cubicBezTo>
                  <a:cubicBezTo>
                    <a:pt x="74625" y="43213"/>
                    <a:pt x="71763" y="43213"/>
                    <a:pt x="68019" y="43213"/>
                  </a:cubicBezTo>
                  <a:lnTo>
                    <a:pt x="47102" y="43213"/>
                  </a:lnTo>
                  <a:lnTo>
                    <a:pt x="55249" y="10339"/>
                  </a:lnTo>
                  <a:cubicBezTo>
                    <a:pt x="55469" y="9229"/>
                    <a:pt x="55909" y="8118"/>
                    <a:pt x="55909" y="7230"/>
                  </a:cubicBezTo>
                  <a:cubicBezTo>
                    <a:pt x="55909" y="3232"/>
                    <a:pt x="52826" y="122"/>
                    <a:pt x="48423" y="122"/>
                  </a:cubicBezTo>
                  <a:cubicBezTo>
                    <a:pt x="42918" y="122"/>
                    <a:pt x="39615" y="3898"/>
                    <a:pt x="38074" y="9673"/>
                  </a:cubicBezTo>
                  <a:cubicBezTo>
                    <a:pt x="36533" y="15226"/>
                    <a:pt x="39395" y="4564"/>
                    <a:pt x="29707" y="43213"/>
                  </a:cubicBezTo>
                  <a:lnTo>
                    <a:pt x="7248" y="43213"/>
                  </a:lnTo>
                  <a:cubicBezTo>
                    <a:pt x="3064" y="43213"/>
                    <a:pt x="202" y="43213"/>
                    <a:pt x="202" y="48099"/>
                  </a:cubicBezTo>
                  <a:cubicBezTo>
                    <a:pt x="202" y="51209"/>
                    <a:pt x="2844" y="51209"/>
                    <a:pt x="6808" y="51209"/>
                  </a:cubicBezTo>
                  <a:lnTo>
                    <a:pt x="27725" y="51209"/>
                  </a:lnTo>
                  <a:lnTo>
                    <a:pt x="14734" y="103629"/>
                  </a:lnTo>
                  <a:cubicBezTo>
                    <a:pt x="13413" y="109182"/>
                    <a:pt x="11431" y="117178"/>
                    <a:pt x="11431" y="120066"/>
                  </a:cubicBezTo>
                  <a:cubicBezTo>
                    <a:pt x="11431" y="133170"/>
                    <a:pt x="22441" y="141167"/>
                    <a:pt x="34991" y="141167"/>
                  </a:cubicBezTo>
                  <a:cubicBezTo>
                    <a:pt x="59432" y="141167"/>
                    <a:pt x="73304" y="110070"/>
                    <a:pt x="73304" y="107183"/>
                  </a:cubicBezTo>
                  <a:cubicBezTo>
                    <a:pt x="73304" y="104295"/>
                    <a:pt x="70441" y="104295"/>
                    <a:pt x="69781" y="104295"/>
                  </a:cubicBezTo>
                  <a:cubicBezTo>
                    <a:pt x="67139" y="104295"/>
                    <a:pt x="66918" y="104739"/>
                    <a:pt x="65157" y="108515"/>
                  </a:cubicBezTo>
                  <a:cubicBezTo>
                    <a:pt x="58992" y="122509"/>
                    <a:pt x="47762" y="134947"/>
                    <a:pt x="35652" y="134947"/>
                  </a:cubicBezTo>
                  <a:cubicBezTo>
                    <a:pt x="31028" y="134947"/>
                    <a:pt x="27945" y="132060"/>
                    <a:pt x="27945" y="124064"/>
                  </a:cubicBezTo>
                  <a:cubicBezTo>
                    <a:pt x="27945" y="121842"/>
                    <a:pt x="28826" y="117178"/>
                    <a:pt x="29267" y="114957"/>
                  </a:cubicBezTo>
                  <a:lnTo>
                    <a:pt x="45120" y="51209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9" name="任意形状 10058">
              <a:extLst>
                <a:ext uri="{FF2B5EF4-FFF2-40B4-BE49-F238E27FC236}">
                  <a16:creationId xmlns:a16="http://schemas.microsoft.com/office/drawing/2014/main" id="{F3D85F03-0408-9203-EE3D-4941042A56A9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7252535" y="5559441"/>
              <a:ext cx="209177" cy="74250"/>
            </a:xfrm>
            <a:custGeom>
              <a:avLst/>
              <a:gdLst>
                <a:gd name="connsiteX0" fmla="*/ 198691 w 209177"/>
                <a:gd name="connsiteY0" fmla="*/ 12813 h 74250"/>
                <a:gd name="connsiteX1" fmla="*/ 209385 w 209177"/>
                <a:gd name="connsiteY1" fmla="*/ 6467 h 74250"/>
                <a:gd name="connsiteX2" fmla="*/ 199005 w 209177"/>
                <a:gd name="connsiteY2" fmla="*/ 120 h 74250"/>
                <a:gd name="connsiteX3" fmla="*/ 10588 w 209177"/>
                <a:gd name="connsiteY3" fmla="*/ 120 h 74250"/>
                <a:gd name="connsiteX4" fmla="*/ 208 w 209177"/>
                <a:gd name="connsiteY4" fmla="*/ 6467 h 74250"/>
                <a:gd name="connsiteX5" fmla="*/ 10903 w 209177"/>
                <a:gd name="connsiteY5" fmla="*/ 12813 h 74250"/>
                <a:gd name="connsiteX6" fmla="*/ 198691 w 209177"/>
                <a:gd name="connsiteY6" fmla="*/ 12813 h 74250"/>
                <a:gd name="connsiteX7" fmla="*/ 199005 w 209177"/>
                <a:gd name="connsiteY7" fmla="*/ 74371 h 74250"/>
                <a:gd name="connsiteX8" fmla="*/ 209385 w 209177"/>
                <a:gd name="connsiteY8" fmla="*/ 68025 h 74250"/>
                <a:gd name="connsiteX9" fmla="*/ 198691 w 209177"/>
                <a:gd name="connsiteY9" fmla="*/ 61679 h 74250"/>
                <a:gd name="connsiteX10" fmla="*/ 10903 w 209177"/>
                <a:gd name="connsiteY10" fmla="*/ 61679 h 74250"/>
                <a:gd name="connsiteX11" fmla="*/ 208 w 209177"/>
                <a:gd name="connsiteY11" fmla="*/ 68025 h 74250"/>
                <a:gd name="connsiteX12" fmla="*/ 10588 w 209177"/>
                <a:gd name="connsiteY12" fmla="*/ 74371 h 74250"/>
                <a:gd name="connsiteX13" fmla="*/ 199005 w 209177"/>
                <a:gd name="connsiteY13" fmla="*/ 74371 h 7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177" h="74250">
                  <a:moveTo>
                    <a:pt x="198691" y="12813"/>
                  </a:moveTo>
                  <a:cubicBezTo>
                    <a:pt x="203409" y="12813"/>
                    <a:pt x="209385" y="12813"/>
                    <a:pt x="209385" y="6467"/>
                  </a:cubicBezTo>
                  <a:cubicBezTo>
                    <a:pt x="209385" y="120"/>
                    <a:pt x="203409" y="120"/>
                    <a:pt x="199005" y="120"/>
                  </a:cubicBezTo>
                  <a:lnTo>
                    <a:pt x="10588" y="120"/>
                  </a:lnTo>
                  <a:cubicBezTo>
                    <a:pt x="6185" y="120"/>
                    <a:pt x="208" y="120"/>
                    <a:pt x="208" y="6467"/>
                  </a:cubicBezTo>
                  <a:cubicBezTo>
                    <a:pt x="208" y="12813"/>
                    <a:pt x="6185" y="12813"/>
                    <a:pt x="10903" y="12813"/>
                  </a:cubicBezTo>
                  <a:lnTo>
                    <a:pt x="198691" y="12813"/>
                  </a:lnTo>
                  <a:close/>
                  <a:moveTo>
                    <a:pt x="199005" y="74371"/>
                  </a:moveTo>
                  <a:cubicBezTo>
                    <a:pt x="203409" y="74371"/>
                    <a:pt x="209385" y="74371"/>
                    <a:pt x="209385" y="68025"/>
                  </a:cubicBezTo>
                  <a:cubicBezTo>
                    <a:pt x="209385" y="61679"/>
                    <a:pt x="203409" y="61679"/>
                    <a:pt x="198691" y="61679"/>
                  </a:cubicBezTo>
                  <a:lnTo>
                    <a:pt x="10903" y="61679"/>
                  </a:lnTo>
                  <a:cubicBezTo>
                    <a:pt x="6185" y="61679"/>
                    <a:pt x="208" y="61679"/>
                    <a:pt x="208" y="68025"/>
                  </a:cubicBezTo>
                  <a:cubicBezTo>
                    <a:pt x="208" y="74371"/>
                    <a:pt x="6185" y="74371"/>
                    <a:pt x="10588" y="74371"/>
                  </a:cubicBezTo>
                  <a:lnTo>
                    <a:pt x="199005" y="74371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0" name="任意形状 10059">
              <a:extLst>
                <a:ext uri="{FF2B5EF4-FFF2-40B4-BE49-F238E27FC236}">
                  <a16:creationId xmlns:a16="http://schemas.microsoft.com/office/drawing/2014/main" id="{4D86CEDF-97E1-612C-C620-D2F2DAD5CDE7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576069" y="5535643"/>
              <a:ext cx="138088" cy="143741"/>
            </a:xfrm>
            <a:custGeom>
              <a:avLst/>
              <a:gdLst>
                <a:gd name="connsiteX0" fmla="*/ 138307 w 138088"/>
                <a:gd name="connsiteY0" fmla="*/ 22332 h 143741"/>
                <a:gd name="connsiteX1" fmla="*/ 124467 w 138088"/>
                <a:gd name="connsiteY1" fmla="*/ 120 h 143741"/>
                <a:gd name="connsiteX2" fmla="*/ 109054 w 138088"/>
                <a:gd name="connsiteY2" fmla="*/ 15351 h 143741"/>
                <a:gd name="connsiteX3" fmla="*/ 114087 w 138088"/>
                <a:gd name="connsiteY3" fmla="*/ 24871 h 143741"/>
                <a:gd name="connsiteX4" fmla="*/ 124781 w 138088"/>
                <a:gd name="connsiteY4" fmla="*/ 50890 h 143741"/>
                <a:gd name="connsiteX5" fmla="*/ 68791 w 138088"/>
                <a:gd name="connsiteY5" fmla="*/ 136882 h 143741"/>
                <a:gd name="connsiteX6" fmla="*/ 45514 w 138088"/>
                <a:gd name="connsiteY6" fmla="*/ 109275 h 143741"/>
                <a:gd name="connsiteX7" fmla="*/ 63758 w 138088"/>
                <a:gd name="connsiteY7" fmla="*/ 42005 h 143741"/>
                <a:gd name="connsiteX8" fmla="*/ 67533 w 138088"/>
                <a:gd name="connsiteY8" fmla="*/ 26140 h 143741"/>
                <a:gd name="connsiteX9" fmla="*/ 41740 w 138088"/>
                <a:gd name="connsiteY9" fmla="*/ 120 h 143741"/>
                <a:gd name="connsiteX10" fmla="*/ 219 w 138088"/>
                <a:gd name="connsiteY10" fmla="*/ 48986 h 143741"/>
                <a:gd name="connsiteX11" fmla="*/ 3993 w 138088"/>
                <a:gd name="connsiteY11" fmla="*/ 52159 h 143741"/>
                <a:gd name="connsiteX12" fmla="*/ 9026 w 138088"/>
                <a:gd name="connsiteY12" fmla="*/ 46448 h 143741"/>
                <a:gd name="connsiteX13" fmla="*/ 40796 w 138088"/>
                <a:gd name="connsiteY13" fmla="*/ 7101 h 143741"/>
                <a:gd name="connsiteX14" fmla="*/ 48660 w 138088"/>
                <a:gd name="connsiteY14" fmla="*/ 17255 h 143741"/>
                <a:gd name="connsiteX15" fmla="*/ 43312 w 138088"/>
                <a:gd name="connsiteY15" fmla="*/ 39467 h 143741"/>
                <a:gd name="connsiteX16" fmla="*/ 25383 w 138088"/>
                <a:gd name="connsiteY16" fmla="*/ 104516 h 143741"/>
                <a:gd name="connsiteX17" fmla="*/ 67533 w 138088"/>
                <a:gd name="connsiteY17" fmla="*/ 143862 h 143741"/>
                <a:gd name="connsiteX18" fmla="*/ 138307 w 138088"/>
                <a:gd name="connsiteY18" fmla="*/ 22332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088" h="143741">
                  <a:moveTo>
                    <a:pt x="138307" y="22332"/>
                  </a:moveTo>
                  <a:cubicBezTo>
                    <a:pt x="138307" y="5197"/>
                    <a:pt x="130129" y="120"/>
                    <a:pt x="124467" y="120"/>
                  </a:cubicBezTo>
                  <a:cubicBezTo>
                    <a:pt x="116603" y="120"/>
                    <a:pt x="109054" y="8371"/>
                    <a:pt x="109054" y="15351"/>
                  </a:cubicBezTo>
                  <a:cubicBezTo>
                    <a:pt x="109054" y="19476"/>
                    <a:pt x="110627" y="21380"/>
                    <a:pt x="114087" y="24871"/>
                  </a:cubicBezTo>
                  <a:cubicBezTo>
                    <a:pt x="120692" y="31217"/>
                    <a:pt x="124781" y="39467"/>
                    <a:pt x="124781" y="50890"/>
                  </a:cubicBezTo>
                  <a:cubicBezTo>
                    <a:pt x="124781" y="64217"/>
                    <a:pt x="105594" y="136882"/>
                    <a:pt x="68791" y="136882"/>
                  </a:cubicBezTo>
                  <a:cubicBezTo>
                    <a:pt x="52749" y="136882"/>
                    <a:pt x="45514" y="125776"/>
                    <a:pt x="45514" y="109275"/>
                  </a:cubicBezTo>
                  <a:cubicBezTo>
                    <a:pt x="45514" y="91506"/>
                    <a:pt x="54007" y="68342"/>
                    <a:pt x="63758" y="42005"/>
                  </a:cubicBezTo>
                  <a:cubicBezTo>
                    <a:pt x="65960" y="36611"/>
                    <a:pt x="67533" y="32169"/>
                    <a:pt x="67533" y="26140"/>
                  </a:cubicBezTo>
                  <a:cubicBezTo>
                    <a:pt x="67533" y="11861"/>
                    <a:pt x="57467" y="120"/>
                    <a:pt x="41740" y="120"/>
                  </a:cubicBezTo>
                  <a:cubicBezTo>
                    <a:pt x="12172" y="120"/>
                    <a:pt x="219" y="46131"/>
                    <a:pt x="219" y="48986"/>
                  </a:cubicBezTo>
                  <a:cubicBezTo>
                    <a:pt x="219" y="52159"/>
                    <a:pt x="3364" y="52159"/>
                    <a:pt x="3993" y="52159"/>
                  </a:cubicBezTo>
                  <a:cubicBezTo>
                    <a:pt x="7139" y="52159"/>
                    <a:pt x="7453" y="51525"/>
                    <a:pt x="9026" y="46448"/>
                  </a:cubicBezTo>
                  <a:cubicBezTo>
                    <a:pt x="18148" y="14399"/>
                    <a:pt x="31674" y="7101"/>
                    <a:pt x="40796" y="7101"/>
                  </a:cubicBezTo>
                  <a:cubicBezTo>
                    <a:pt x="43312" y="7101"/>
                    <a:pt x="48660" y="7101"/>
                    <a:pt x="48660" y="17255"/>
                  </a:cubicBezTo>
                  <a:cubicBezTo>
                    <a:pt x="48660" y="25188"/>
                    <a:pt x="45514" y="33755"/>
                    <a:pt x="43312" y="39467"/>
                  </a:cubicBezTo>
                  <a:cubicBezTo>
                    <a:pt x="29472" y="76275"/>
                    <a:pt x="25383" y="90871"/>
                    <a:pt x="25383" y="104516"/>
                  </a:cubicBezTo>
                  <a:cubicBezTo>
                    <a:pt x="25383" y="138785"/>
                    <a:pt x="53063" y="143862"/>
                    <a:pt x="67533" y="143862"/>
                  </a:cubicBezTo>
                  <a:cubicBezTo>
                    <a:pt x="120378" y="143862"/>
                    <a:pt x="138307" y="38832"/>
                    <a:pt x="138307" y="22332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1" name="任意形状 10060">
              <a:extLst>
                <a:ext uri="{FF2B5EF4-FFF2-40B4-BE49-F238E27FC236}">
                  <a16:creationId xmlns:a16="http://schemas.microsoft.com/office/drawing/2014/main" id="{BC45D836-C5DA-709C-2D9C-7F5D31E8882B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7728665" y="5584667"/>
              <a:ext cx="74423" cy="141044"/>
            </a:xfrm>
            <a:custGeom>
              <a:avLst/>
              <a:gdLst>
                <a:gd name="connsiteX0" fmla="*/ 45142 w 74423"/>
                <a:gd name="connsiteY0" fmla="*/ 51209 h 141044"/>
                <a:gd name="connsiteX1" fmla="*/ 67601 w 74423"/>
                <a:gd name="connsiteY1" fmla="*/ 51209 h 141044"/>
                <a:gd name="connsiteX2" fmla="*/ 74647 w 74423"/>
                <a:gd name="connsiteY2" fmla="*/ 46322 h 141044"/>
                <a:gd name="connsiteX3" fmla="*/ 68041 w 74423"/>
                <a:gd name="connsiteY3" fmla="*/ 43213 h 141044"/>
                <a:gd name="connsiteX4" fmla="*/ 47123 w 74423"/>
                <a:gd name="connsiteY4" fmla="*/ 43213 h 141044"/>
                <a:gd name="connsiteX5" fmla="*/ 55270 w 74423"/>
                <a:gd name="connsiteY5" fmla="*/ 10339 h 141044"/>
                <a:gd name="connsiteX6" fmla="*/ 55931 w 74423"/>
                <a:gd name="connsiteY6" fmla="*/ 7230 h 141044"/>
                <a:gd name="connsiteX7" fmla="*/ 48444 w 74423"/>
                <a:gd name="connsiteY7" fmla="*/ 122 h 141044"/>
                <a:gd name="connsiteX8" fmla="*/ 38096 w 74423"/>
                <a:gd name="connsiteY8" fmla="*/ 9673 h 141044"/>
                <a:gd name="connsiteX9" fmla="*/ 29729 w 74423"/>
                <a:gd name="connsiteY9" fmla="*/ 43213 h 141044"/>
                <a:gd name="connsiteX10" fmla="*/ 7270 w 74423"/>
                <a:gd name="connsiteY10" fmla="*/ 43213 h 141044"/>
                <a:gd name="connsiteX11" fmla="*/ 224 w 74423"/>
                <a:gd name="connsiteY11" fmla="*/ 48099 h 141044"/>
                <a:gd name="connsiteX12" fmla="*/ 6829 w 74423"/>
                <a:gd name="connsiteY12" fmla="*/ 51209 h 141044"/>
                <a:gd name="connsiteX13" fmla="*/ 27747 w 74423"/>
                <a:gd name="connsiteY13" fmla="*/ 51209 h 141044"/>
                <a:gd name="connsiteX14" fmla="*/ 14756 w 74423"/>
                <a:gd name="connsiteY14" fmla="*/ 103629 h 141044"/>
                <a:gd name="connsiteX15" fmla="*/ 11453 w 74423"/>
                <a:gd name="connsiteY15" fmla="*/ 120066 h 141044"/>
                <a:gd name="connsiteX16" fmla="*/ 35013 w 74423"/>
                <a:gd name="connsiteY16" fmla="*/ 141167 h 141044"/>
                <a:gd name="connsiteX17" fmla="*/ 73325 w 74423"/>
                <a:gd name="connsiteY17" fmla="*/ 107183 h 141044"/>
                <a:gd name="connsiteX18" fmla="*/ 69803 w 74423"/>
                <a:gd name="connsiteY18" fmla="*/ 104295 h 141044"/>
                <a:gd name="connsiteX19" fmla="*/ 65179 w 74423"/>
                <a:gd name="connsiteY19" fmla="*/ 108515 h 141044"/>
                <a:gd name="connsiteX20" fmla="*/ 35674 w 74423"/>
                <a:gd name="connsiteY20" fmla="*/ 134947 h 141044"/>
                <a:gd name="connsiteX21" fmla="*/ 27967 w 74423"/>
                <a:gd name="connsiteY21" fmla="*/ 124064 h 141044"/>
                <a:gd name="connsiteX22" fmla="*/ 29288 w 74423"/>
                <a:gd name="connsiteY22" fmla="*/ 114957 h 141044"/>
                <a:gd name="connsiteX23" fmla="*/ 45142 w 74423"/>
                <a:gd name="connsiteY23" fmla="*/ 51209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42" y="51209"/>
                  </a:moveTo>
                  <a:lnTo>
                    <a:pt x="67601" y="51209"/>
                  </a:lnTo>
                  <a:cubicBezTo>
                    <a:pt x="71784" y="51209"/>
                    <a:pt x="74647" y="51209"/>
                    <a:pt x="74647" y="46322"/>
                  </a:cubicBezTo>
                  <a:cubicBezTo>
                    <a:pt x="74647" y="43213"/>
                    <a:pt x="71784" y="43213"/>
                    <a:pt x="68041" y="43213"/>
                  </a:cubicBezTo>
                  <a:lnTo>
                    <a:pt x="47123" y="43213"/>
                  </a:lnTo>
                  <a:lnTo>
                    <a:pt x="55270" y="10339"/>
                  </a:lnTo>
                  <a:cubicBezTo>
                    <a:pt x="55490" y="9229"/>
                    <a:pt x="55931" y="8118"/>
                    <a:pt x="55931" y="7230"/>
                  </a:cubicBezTo>
                  <a:cubicBezTo>
                    <a:pt x="55931" y="3232"/>
                    <a:pt x="52848" y="122"/>
                    <a:pt x="48444" y="122"/>
                  </a:cubicBezTo>
                  <a:cubicBezTo>
                    <a:pt x="42940" y="122"/>
                    <a:pt x="39637" y="3898"/>
                    <a:pt x="38096" y="9673"/>
                  </a:cubicBezTo>
                  <a:cubicBezTo>
                    <a:pt x="36554" y="15226"/>
                    <a:pt x="39417" y="4564"/>
                    <a:pt x="29729" y="43213"/>
                  </a:cubicBezTo>
                  <a:lnTo>
                    <a:pt x="7270" y="43213"/>
                  </a:lnTo>
                  <a:cubicBezTo>
                    <a:pt x="3086" y="43213"/>
                    <a:pt x="224" y="43213"/>
                    <a:pt x="224" y="48099"/>
                  </a:cubicBezTo>
                  <a:cubicBezTo>
                    <a:pt x="224" y="51209"/>
                    <a:pt x="2866" y="51209"/>
                    <a:pt x="6829" y="51209"/>
                  </a:cubicBezTo>
                  <a:lnTo>
                    <a:pt x="27747" y="51209"/>
                  </a:lnTo>
                  <a:lnTo>
                    <a:pt x="14756" y="103629"/>
                  </a:lnTo>
                  <a:cubicBezTo>
                    <a:pt x="13435" y="109182"/>
                    <a:pt x="11453" y="117178"/>
                    <a:pt x="11453" y="120066"/>
                  </a:cubicBezTo>
                  <a:cubicBezTo>
                    <a:pt x="11453" y="133170"/>
                    <a:pt x="22462" y="141167"/>
                    <a:pt x="35013" y="141167"/>
                  </a:cubicBezTo>
                  <a:cubicBezTo>
                    <a:pt x="59454" y="141167"/>
                    <a:pt x="73325" y="110070"/>
                    <a:pt x="73325" y="107183"/>
                  </a:cubicBezTo>
                  <a:cubicBezTo>
                    <a:pt x="73325" y="104295"/>
                    <a:pt x="70463" y="104295"/>
                    <a:pt x="69803" y="104295"/>
                  </a:cubicBezTo>
                  <a:cubicBezTo>
                    <a:pt x="67160" y="104295"/>
                    <a:pt x="66940" y="104739"/>
                    <a:pt x="65179" y="108515"/>
                  </a:cubicBezTo>
                  <a:cubicBezTo>
                    <a:pt x="59013" y="122509"/>
                    <a:pt x="47784" y="134947"/>
                    <a:pt x="35674" y="134947"/>
                  </a:cubicBezTo>
                  <a:cubicBezTo>
                    <a:pt x="31050" y="134947"/>
                    <a:pt x="27967" y="132060"/>
                    <a:pt x="27967" y="124064"/>
                  </a:cubicBezTo>
                  <a:cubicBezTo>
                    <a:pt x="27967" y="121842"/>
                    <a:pt x="28848" y="117178"/>
                    <a:pt x="29288" y="114957"/>
                  </a:cubicBezTo>
                  <a:lnTo>
                    <a:pt x="45142" y="51209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2" name="任意形状 10061">
              <a:extLst>
                <a:ext uri="{FF2B5EF4-FFF2-40B4-BE49-F238E27FC236}">
                  <a16:creationId xmlns:a16="http://schemas.microsoft.com/office/drawing/2014/main" id="{BB43006D-9BA4-DD33-FC82-C94D7624014A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7847467" y="5437911"/>
              <a:ext cx="122360" cy="317311"/>
            </a:xfrm>
            <a:custGeom>
              <a:avLst/>
              <a:gdLst>
                <a:gd name="connsiteX0" fmla="*/ 121015 w 122360"/>
                <a:gd name="connsiteY0" fmla="*/ 12178 h 317311"/>
                <a:gd name="connsiteX1" fmla="*/ 122588 w 122360"/>
                <a:gd name="connsiteY1" fmla="*/ 6467 h 317311"/>
                <a:gd name="connsiteX2" fmla="*/ 116297 w 122360"/>
                <a:gd name="connsiteY2" fmla="*/ 120 h 317311"/>
                <a:gd name="connsiteX3" fmla="*/ 110949 w 122360"/>
                <a:gd name="connsiteY3" fmla="*/ 2976 h 317311"/>
                <a:gd name="connsiteX4" fmla="*/ 1800 w 122360"/>
                <a:gd name="connsiteY4" fmla="*/ 305374 h 317311"/>
                <a:gd name="connsiteX5" fmla="*/ 227 w 122360"/>
                <a:gd name="connsiteY5" fmla="*/ 311085 h 317311"/>
                <a:gd name="connsiteX6" fmla="*/ 6518 w 122360"/>
                <a:gd name="connsiteY6" fmla="*/ 317432 h 317311"/>
                <a:gd name="connsiteX7" fmla="*/ 13438 w 122360"/>
                <a:gd name="connsiteY7" fmla="*/ 309816 h 317311"/>
                <a:gd name="connsiteX8" fmla="*/ 121015 w 122360"/>
                <a:gd name="connsiteY8" fmla="*/ 12178 h 31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360" h="317311">
                  <a:moveTo>
                    <a:pt x="121015" y="12178"/>
                  </a:moveTo>
                  <a:cubicBezTo>
                    <a:pt x="122588" y="8053"/>
                    <a:pt x="122588" y="6784"/>
                    <a:pt x="122588" y="6467"/>
                  </a:cubicBezTo>
                  <a:cubicBezTo>
                    <a:pt x="122588" y="2976"/>
                    <a:pt x="119757" y="120"/>
                    <a:pt x="116297" y="120"/>
                  </a:cubicBezTo>
                  <a:cubicBezTo>
                    <a:pt x="114095" y="120"/>
                    <a:pt x="111893" y="1072"/>
                    <a:pt x="110949" y="2976"/>
                  </a:cubicBezTo>
                  <a:lnTo>
                    <a:pt x="1800" y="305374"/>
                  </a:lnTo>
                  <a:cubicBezTo>
                    <a:pt x="227" y="309499"/>
                    <a:pt x="227" y="310768"/>
                    <a:pt x="227" y="311085"/>
                  </a:cubicBezTo>
                  <a:cubicBezTo>
                    <a:pt x="227" y="314576"/>
                    <a:pt x="3058" y="317432"/>
                    <a:pt x="6518" y="317432"/>
                  </a:cubicBezTo>
                  <a:cubicBezTo>
                    <a:pt x="10607" y="317432"/>
                    <a:pt x="11551" y="315210"/>
                    <a:pt x="13438" y="309816"/>
                  </a:cubicBezTo>
                  <a:lnTo>
                    <a:pt x="121015" y="12178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3" name="任意形状 10062">
              <a:extLst>
                <a:ext uri="{FF2B5EF4-FFF2-40B4-BE49-F238E27FC236}">
                  <a16:creationId xmlns:a16="http://schemas.microsoft.com/office/drawing/2014/main" id="{97F3265C-26B8-2A5A-2123-4A7B8A8A9BDE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8087679" y="5406178"/>
              <a:ext cx="82098" cy="380456"/>
            </a:xfrm>
            <a:custGeom>
              <a:avLst/>
              <a:gdLst>
                <a:gd name="connsiteX0" fmla="*/ 82332 w 82098"/>
                <a:gd name="connsiteY0" fmla="*/ 377395 h 380456"/>
                <a:gd name="connsiteX1" fmla="*/ 81074 w 82098"/>
                <a:gd name="connsiteY1" fmla="*/ 374540 h 380456"/>
                <a:gd name="connsiteX2" fmla="*/ 32004 w 82098"/>
                <a:gd name="connsiteY2" fmla="*/ 281567 h 380456"/>
                <a:gd name="connsiteX3" fmla="*/ 21938 w 82098"/>
                <a:gd name="connsiteY3" fmla="*/ 190499 h 380456"/>
                <a:gd name="connsiteX4" fmla="*/ 79501 w 82098"/>
                <a:gd name="connsiteY4" fmla="*/ 7410 h 380456"/>
                <a:gd name="connsiteX5" fmla="*/ 82332 w 82098"/>
                <a:gd name="connsiteY5" fmla="*/ 3285 h 380456"/>
                <a:gd name="connsiteX6" fmla="*/ 78557 w 82098"/>
                <a:gd name="connsiteY6" fmla="*/ 112 h 380456"/>
                <a:gd name="connsiteX7" fmla="*/ 52764 w 82098"/>
                <a:gd name="connsiteY7" fmla="*/ 23911 h 380456"/>
                <a:gd name="connsiteX8" fmla="*/ 234 w 82098"/>
                <a:gd name="connsiteY8" fmla="*/ 190182 h 380456"/>
                <a:gd name="connsiteX9" fmla="*/ 49304 w 82098"/>
                <a:gd name="connsiteY9" fmla="*/ 352645 h 380456"/>
                <a:gd name="connsiteX10" fmla="*/ 78557 w 82098"/>
                <a:gd name="connsiteY10" fmla="*/ 380568 h 380456"/>
                <a:gd name="connsiteX11" fmla="*/ 82332 w 82098"/>
                <a:gd name="connsiteY11" fmla="*/ 377395 h 38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098" h="380456">
                  <a:moveTo>
                    <a:pt x="82332" y="377395"/>
                  </a:moveTo>
                  <a:cubicBezTo>
                    <a:pt x="82332" y="376126"/>
                    <a:pt x="81703" y="375492"/>
                    <a:pt x="81074" y="374540"/>
                  </a:cubicBezTo>
                  <a:cubicBezTo>
                    <a:pt x="66604" y="358991"/>
                    <a:pt x="45215" y="333289"/>
                    <a:pt x="32004" y="281567"/>
                  </a:cubicBezTo>
                  <a:cubicBezTo>
                    <a:pt x="24769" y="252692"/>
                    <a:pt x="21938" y="220009"/>
                    <a:pt x="21938" y="190499"/>
                  </a:cubicBezTo>
                  <a:cubicBezTo>
                    <a:pt x="21938" y="107046"/>
                    <a:pt x="41755" y="48661"/>
                    <a:pt x="79501" y="7410"/>
                  </a:cubicBezTo>
                  <a:cubicBezTo>
                    <a:pt x="82332" y="4555"/>
                    <a:pt x="82332" y="3920"/>
                    <a:pt x="82332" y="3285"/>
                  </a:cubicBezTo>
                  <a:cubicBezTo>
                    <a:pt x="82332" y="112"/>
                    <a:pt x="79815" y="112"/>
                    <a:pt x="78557" y="112"/>
                  </a:cubicBezTo>
                  <a:cubicBezTo>
                    <a:pt x="73839" y="112"/>
                    <a:pt x="56853" y="19151"/>
                    <a:pt x="52764" y="23911"/>
                  </a:cubicBezTo>
                  <a:cubicBezTo>
                    <a:pt x="20680" y="62305"/>
                    <a:pt x="234" y="119421"/>
                    <a:pt x="234" y="190182"/>
                  </a:cubicBezTo>
                  <a:cubicBezTo>
                    <a:pt x="234" y="235240"/>
                    <a:pt x="8098" y="299020"/>
                    <a:pt x="49304" y="352645"/>
                  </a:cubicBezTo>
                  <a:cubicBezTo>
                    <a:pt x="52449" y="356453"/>
                    <a:pt x="72895" y="380568"/>
                    <a:pt x="78557" y="380568"/>
                  </a:cubicBezTo>
                  <a:cubicBezTo>
                    <a:pt x="79815" y="380568"/>
                    <a:pt x="82332" y="380568"/>
                    <a:pt x="82332" y="377395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4" name="任意形状 10063">
              <a:extLst>
                <a:ext uri="{FF2B5EF4-FFF2-40B4-BE49-F238E27FC236}">
                  <a16:creationId xmlns:a16="http://schemas.microsoft.com/office/drawing/2014/main" id="{D8930184-E9E2-82CC-C29C-BCC1D99FCC44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8212033" y="5464565"/>
              <a:ext cx="103802" cy="211329"/>
            </a:xfrm>
            <a:custGeom>
              <a:avLst/>
              <a:gdLst>
                <a:gd name="connsiteX0" fmla="*/ 64721 w 103802"/>
                <a:gd name="connsiteY0" fmla="*/ 8370 h 211329"/>
                <a:gd name="connsiteX1" fmla="*/ 57487 w 103802"/>
                <a:gd name="connsiteY1" fmla="*/ 120 h 211329"/>
                <a:gd name="connsiteX2" fmla="*/ 238 w 103802"/>
                <a:gd name="connsiteY2" fmla="*/ 20428 h 211329"/>
                <a:gd name="connsiteX3" fmla="*/ 238 w 103802"/>
                <a:gd name="connsiteY3" fmla="*/ 30265 h 211329"/>
                <a:gd name="connsiteX4" fmla="*/ 41445 w 103802"/>
                <a:gd name="connsiteY4" fmla="*/ 22015 h 211329"/>
                <a:gd name="connsiteX5" fmla="*/ 41445 w 103802"/>
                <a:gd name="connsiteY5" fmla="*/ 186382 h 211329"/>
                <a:gd name="connsiteX6" fmla="*/ 12191 w 103802"/>
                <a:gd name="connsiteY6" fmla="*/ 201613 h 211329"/>
                <a:gd name="connsiteX7" fmla="*/ 2126 w 103802"/>
                <a:gd name="connsiteY7" fmla="*/ 201613 h 211329"/>
                <a:gd name="connsiteX8" fmla="*/ 2126 w 103802"/>
                <a:gd name="connsiteY8" fmla="*/ 211450 h 211329"/>
                <a:gd name="connsiteX9" fmla="*/ 53083 w 103802"/>
                <a:gd name="connsiteY9" fmla="*/ 210498 h 211329"/>
                <a:gd name="connsiteX10" fmla="*/ 104040 w 103802"/>
                <a:gd name="connsiteY10" fmla="*/ 211450 h 211329"/>
                <a:gd name="connsiteX11" fmla="*/ 104040 w 103802"/>
                <a:gd name="connsiteY11" fmla="*/ 201613 h 211329"/>
                <a:gd name="connsiteX12" fmla="*/ 93975 w 103802"/>
                <a:gd name="connsiteY12" fmla="*/ 201613 h 211329"/>
                <a:gd name="connsiteX13" fmla="*/ 64721 w 103802"/>
                <a:gd name="connsiteY13" fmla="*/ 186382 h 211329"/>
                <a:gd name="connsiteX14" fmla="*/ 64721 w 103802"/>
                <a:gd name="connsiteY14" fmla="*/ 8370 h 21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3802" h="211329">
                  <a:moveTo>
                    <a:pt x="64721" y="8370"/>
                  </a:moveTo>
                  <a:cubicBezTo>
                    <a:pt x="64721" y="755"/>
                    <a:pt x="64721" y="120"/>
                    <a:pt x="57487" y="120"/>
                  </a:cubicBezTo>
                  <a:cubicBezTo>
                    <a:pt x="37985" y="20428"/>
                    <a:pt x="10304" y="20428"/>
                    <a:pt x="238" y="20428"/>
                  </a:cubicBezTo>
                  <a:lnTo>
                    <a:pt x="238" y="30265"/>
                  </a:lnTo>
                  <a:cubicBezTo>
                    <a:pt x="6529" y="30265"/>
                    <a:pt x="25088" y="30265"/>
                    <a:pt x="41445" y="22015"/>
                  </a:cubicBezTo>
                  <a:lnTo>
                    <a:pt x="41445" y="186382"/>
                  </a:lnTo>
                  <a:cubicBezTo>
                    <a:pt x="41445" y="197805"/>
                    <a:pt x="40501" y="201613"/>
                    <a:pt x="12191" y="201613"/>
                  </a:cubicBezTo>
                  <a:lnTo>
                    <a:pt x="2126" y="201613"/>
                  </a:lnTo>
                  <a:lnTo>
                    <a:pt x="2126" y="211450"/>
                  </a:lnTo>
                  <a:cubicBezTo>
                    <a:pt x="13135" y="210498"/>
                    <a:pt x="40501" y="210498"/>
                    <a:pt x="53083" y="210498"/>
                  </a:cubicBezTo>
                  <a:cubicBezTo>
                    <a:pt x="65665" y="210498"/>
                    <a:pt x="93031" y="210498"/>
                    <a:pt x="104040" y="211450"/>
                  </a:cubicBezTo>
                  <a:lnTo>
                    <a:pt x="104040" y="201613"/>
                  </a:lnTo>
                  <a:lnTo>
                    <a:pt x="93975" y="201613"/>
                  </a:lnTo>
                  <a:cubicBezTo>
                    <a:pt x="65665" y="201613"/>
                    <a:pt x="64721" y="198123"/>
                    <a:pt x="64721" y="186382"/>
                  </a:cubicBezTo>
                  <a:lnTo>
                    <a:pt x="64721" y="8370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5" name="任意形状 10064">
              <a:extLst>
                <a:ext uri="{FF2B5EF4-FFF2-40B4-BE49-F238E27FC236}">
                  <a16:creationId xmlns:a16="http://schemas.microsoft.com/office/drawing/2014/main" id="{D6030D1C-E785-274E-0169-EB65041F3A2C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8437321" y="5590220"/>
              <a:ext cx="192191" cy="12692"/>
            </a:xfrm>
            <a:custGeom>
              <a:avLst/>
              <a:gdLst>
                <a:gd name="connsiteX0" fmla="*/ 181428 w 192191"/>
                <a:gd name="connsiteY0" fmla="*/ 12813 h 12692"/>
                <a:gd name="connsiteX1" fmla="*/ 192437 w 192191"/>
                <a:gd name="connsiteY1" fmla="*/ 6467 h 12692"/>
                <a:gd name="connsiteX2" fmla="*/ 181428 w 192191"/>
                <a:gd name="connsiteY2" fmla="*/ 120 h 12692"/>
                <a:gd name="connsiteX3" fmla="*/ 11255 w 192191"/>
                <a:gd name="connsiteY3" fmla="*/ 120 h 12692"/>
                <a:gd name="connsiteX4" fmla="*/ 245 w 192191"/>
                <a:gd name="connsiteY4" fmla="*/ 6467 h 12692"/>
                <a:gd name="connsiteX5" fmla="*/ 11255 w 192191"/>
                <a:gd name="connsiteY5" fmla="*/ 12813 h 12692"/>
                <a:gd name="connsiteX6" fmla="*/ 181428 w 192191"/>
                <a:gd name="connsiteY6" fmla="*/ 12813 h 12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91" h="12692">
                  <a:moveTo>
                    <a:pt x="181428" y="12813"/>
                  </a:moveTo>
                  <a:cubicBezTo>
                    <a:pt x="186775" y="12813"/>
                    <a:pt x="192437" y="12813"/>
                    <a:pt x="192437" y="6467"/>
                  </a:cubicBezTo>
                  <a:cubicBezTo>
                    <a:pt x="192437" y="120"/>
                    <a:pt x="186775" y="120"/>
                    <a:pt x="181428" y="120"/>
                  </a:cubicBezTo>
                  <a:lnTo>
                    <a:pt x="11255" y="120"/>
                  </a:lnTo>
                  <a:cubicBezTo>
                    <a:pt x="5907" y="120"/>
                    <a:pt x="245" y="120"/>
                    <a:pt x="245" y="6467"/>
                  </a:cubicBezTo>
                  <a:cubicBezTo>
                    <a:pt x="245" y="12813"/>
                    <a:pt x="5907" y="12813"/>
                    <a:pt x="11255" y="12813"/>
                  </a:cubicBezTo>
                  <a:lnTo>
                    <a:pt x="181428" y="1281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6" name="任意形状 10065">
              <a:extLst>
                <a:ext uri="{FF2B5EF4-FFF2-40B4-BE49-F238E27FC236}">
                  <a16:creationId xmlns:a16="http://schemas.microsoft.com/office/drawing/2014/main" id="{965100D7-644A-C727-6EB8-C756B225A816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8735161" y="5451873"/>
              <a:ext cx="171470" cy="285580"/>
            </a:xfrm>
            <a:custGeom>
              <a:avLst/>
              <a:gdLst>
                <a:gd name="connsiteX0" fmla="*/ 171726 w 171470"/>
                <a:gd name="connsiteY0" fmla="*/ 43592 h 285580"/>
                <a:gd name="connsiteX1" fmla="*/ 128947 w 171470"/>
                <a:gd name="connsiteY1" fmla="*/ 120 h 285580"/>
                <a:gd name="connsiteX2" fmla="*/ 90886 w 171470"/>
                <a:gd name="connsiteY2" fmla="*/ 13447 h 285580"/>
                <a:gd name="connsiteX3" fmla="*/ 50309 w 171470"/>
                <a:gd name="connsiteY3" fmla="*/ 81035 h 285580"/>
                <a:gd name="connsiteX4" fmla="*/ 295 w 171470"/>
                <a:gd name="connsiteY4" fmla="*/ 282527 h 285580"/>
                <a:gd name="connsiteX5" fmla="*/ 4070 w 171470"/>
                <a:gd name="connsiteY5" fmla="*/ 285701 h 285580"/>
                <a:gd name="connsiteX6" fmla="*/ 7845 w 171470"/>
                <a:gd name="connsiteY6" fmla="*/ 284114 h 285580"/>
                <a:gd name="connsiteX7" fmla="*/ 29863 w 171470"/>
                <a:gd name="connsiteY7" fmla="*/ 196536 h 285580"/>
                <a:gd name="connsiteX8" fmla="*/ 72642 w 171470"/>
                <a:gd name="connsiteY8" fmla="*/ 227315 h 285580"/>
                <a:gd name="connsiteX9" fmla="*/ 133351 w 171470"/>
                <a:gd name="connsiteY9" fmla="*/ 202248 h 285580"/>
                <a:gd name="connsiteX10" fmla="*/ 158515 w 171470"/>
                <a:gd name="connsiteY10" fmla="*/ 143862 h 285580"/>
                <a:gd name="connsiteX11" fmla="*/ 135553 w 171470"/>
                <a:gd name="connsiteY11" fmla="*/ 96583 h 285580"/>
                <a:gd name="connsiteX12" fmla="*/ 171726 w 171470"/>
                <a:gd name="connsiteY12" fmla="*/ 43592 h 285580"/>
                <a:gd name="connsiteX13" fmla="*/ 115107 w 171470"/>
                <a:gd name="connsiteY13" fmla="*/ 96266 h 285580"/>
                <a:gd name="connsiteX14" fmla="*/ 100008 w 171470"/>
                <a:gd name="connsiteY14" fmla="*/ 98487 h 285580"/>
                <a:gd name="connsiteX15" fmla="*/ 86168 w 171470"/>
                <a:gd name="connsiteY15" fmla="*/ 97218 h 285580"/>
                <a:gd name="connsiteX16" fmla="*/ 101581 w 171470"/>
                <a:gd name="connsiteY16" fmla="*/ 94679 h 285580"/>
                <a:gd name="connsiteX17" fmla="*/ 115107 w 171470"/>
                <a:gd name="connsiteY17" fmla="*/ 96266 h 285580"/>
                <a:gd name="connsiteX18" fmla="*/ 154111 w 171470"/>
                <a:gd name="connsiteY18" fmla="*/ 36294 h 285580"/>
                <a:gd name="connsiteX19" fmla="*/ 125802 w 171470"/>
                <a:gd name="connsiteY19" fmla="*/ 91189 h 285580"/>
                <a:gd name="connsiteX20" fmla="*/ 101581 w 171470"/>
                <a:gd name="connsiteY20" fmla="*/ 87381 h 285580"/>
                <a:gd name="connsiteX21" fmla="*/ 77361 w 171470"/>
                <a:gd name="connsiteY21" fmla="*/ 97535 h 285580"/>
                <a:gd name="connsiteX22" fmla="*/ 99065 w 171470"/>
                <a:gd name="connsiteY22" fmla="*/ 105468 h 285580"/>
                <a:gd name="connsiteX23" fmla="*/ 124858 w 171470"/>
                <a:gd name="connsiteY23" fmla="*/ 101343 h 285580"/>
                <a:gd name="connsiteX24" fmla="*/ 138698 w 171470"/>
                <a:gd name="connsiteY24" fmla="*/ 137199 h 285580"/>
                <a:gd name="connsiteX25" fmla="*/ 122971 w 171470"/>
                <a:gd name="connsiteY25" fmla="*/ 191776 h 285580"/>
                <a:gd name="connsiteX26" fmla="*/ 71699 w 171470"/>
                <a:gd name="connsiteY26" fmla="*/ 220334 h 285580"/>
                <a:gd name="connsiteX27" fmla="*/ 35840 w 171470"/>
                <a:gd name="connsiteY27" fmla="*/ 179401 h 285580"/>
                <a:gd name="connsiteX28" fmla="*/ 37412 w 171470"/>
                <a:gd name="connsiteY28" fmla="*/ 165440 h 285580"/>
                <a:gd name="connsiteX29" fmla="*/ 57544 w 171470"/>
                <a:gd name="connsiteY29" fmla="*/ 85160 h 285580"/>
                <a:gd name="connsiteX30" fmla="*/ 124858 w 171470"/>
                <a:gd name="connsiteY30" fmla="*/ 7419 h 285580"/>
                <a:gd name="connsiteX31" fmla="*/ 154111 w 171470"/>
                <a:gd name="connsiteY31" fmla="*/ 36294 h 28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1470" h="285580">
                  <a:moveTo>
                    <a:pt x="171726" y="43592"/>
                  </a:moveTo>
                  <a:cubicBezTo>
                    <a:pt x="171726" y="19794"/>
                    <a:pt x="154426" y="120"/>
                    <a:pt x="128947" y="120"/>
                  </a:cubicBezTo>
                  <a:cubicBezTo>
                    <a:pt x="110703" y="120"/>
                    <a:pt x="101896" y="5197"/>
                    <a:pt x="90886" y="13447"/>
                  </a:cubicBezTo>
                  <a:cubicBezTo>
                    <a:pt x="73586" y="26140"/>
                    <a:pt x="56286" y="56919"/>
                    <a:pt x="50309" y="81035"/>
                  </a:cubicBezTo>
                  <a:lnTo>
                    <a:pt x="295" y="282527"/>
                  </a:lnTo>
                  <a:cubicBezTo>
                    <a:pt x="-19" y="283797"/>
                    <a:pt x="1554" y="285701"/>
                    <a:pt x="4070" y="285701"/>
                  </a:cubicBezTo>
                  <a:cubicBezTo>
                    <a:pt x="6586" y="285701"/>
                    <a:pt x="7530" y="285066"/>
                    <a:pt x="7845" y="284114"/>
                  </a:cubicBezTo>
                  <a:lnTo>
                    <a:pt x="29863" y="196536"/>
                  </a:lnTo>
                  <a:cubicBezTo>
                    <a:pt x="35840" y="215575"/>
                    <a:pt x="49680" y="227315"/>
                    <a:pt x="72642" y="227315"/>
                  </a:cubicBezTo>
                  <a:cubicBezTo>
                    <a:pt x="95605" y="227315"/>
                    <a:pt x="119196" y="216209"/>
                    <a:pt x="133351" y="202248"/>
                  </a:cubicBezTo>
                  <a:cubicBezTo>
                    <a:pt x="148449" y="187651"/>
                    <a:pt x="158515" y="167343"/>
                    <a:pt x="158515" y="143862"/>
                  </a:cubicBezTo>
                  <a:cubicBezTo>
                    <a:pt x="158515" y="121016"/>
                    <a:pt x="146877" y="104516"/>
                    <a:pt x="135553" y="96583"/>
                  </a:cubicBezTo>
                  <a:cubicBezTo>
                    <a:pt x="153797" y="86112"/>
                    <a:pt x="171726" y="66438"/>
                    <a:pt x="171726" y="43592"/>
                  </a:cubicBezTo>
                  <a:close/>
                  <a:moveTo>
                    <a:pt x="115107" y="96266"/>
                  </a:moveTo>
                  <a:cubicBezTo>
                    <a:pt x="111018" y="97852"/>
                    <a:pt x="107558" y="98487"/>
                    <a:pt x="100008" y="98487"/>
                  </a:cubicBezTo>
                  <a:cubicBezTo>
                    <a:pt x="95605" y="98487"/>
                    <a:pt x="89314" y="98804"/>
                    <a:pt x="86168" y="97218"/>
                  </a:cubicBezTo>
                  <a:cubicBezTo>
                    <a:pt x="86797" y="94045"/>
                    <a:pt x="98121" y="94679"/>
                    <a:pt x="101581" y="94679"/>
                  </a:cubicBezTo>
                  <a:cubicBezTo>
                    <a:pt x="108187" y="94679"/>
                    <a:pt x="111018" y="94679"/>
                    <a:pt x="115107" y="96266"/>
                  </a:cubicBezTo>
                  <a:close/>
                  <a:moveTo>
                    <a:pt x="154111" y="36294"/>
                  </a:moveTo>
                  <a:cubicBezTo>
                    <a:pt x="154111" y="58506"/>
                    <a:pt x="142158" y="81352"/>
                    <a:pt x="125802" y="91189"/>
                  </a:cubicBezTo>
                  <a:cubicBezTo>
                    <a:pt x="117309" y="88016"/>
                    <a:pt x="111018" y="87381"/>
                    <a:pt x="101581" y="87381"/>
                  </a:cubicBezTo>
                  <a:cubicBezTo>
                    <a:pt x="94976" y="87381"/>
                    <a:pt x="77361" y="87064"/>
                    <a:pt x="77361" y="97535"/>
                  </a:cubicBezTo>
                  <a:cubicBezTo>
                    <a:pt x="77046" y="106420"/>
                    <a:pt x="93403" y="105468"/>
                    <a:pt x="99065" y="105468"/>
                  </a:cubicBezTo>
                  <a:cubicBezTo>
                    <a:pt x="110703" y="105468"/>
                    <a:pt x="115421" y="105150"/>
                    <a:pt x="124858" y="101343"/>
                  </a:cubicBezTo>
                  <a:cubicBezTo>
                    <a:pt x="136811" y="112766"/>
                    <a:pt x="138384" y="122603"/>
                    <a:pt x="138698" y="137199"/>
                  </a:cubicBezTo>
                  <a:cubicBezTo>
                    <a:pt x="139327" y="155603"/>
                    <a:pt x="131778" y="179401"/>
                    <a:pt x="122971" y="191776"/>
                  </a:cubicBezTo>
                  <a:cubicBezTo>
                    <a:pt x="110703" y="208911"/>
                    <a:pt x="89628" y="220334"/>
                    <a:pt x="71699" y="220334"/>
                  </a:cubicBezTo>
                  <a:cubicBezTo>
                    <a:pt x="47793" y="220334"/>
                    <a:pt x="35840" y="201930"/>
                    <a:pt x="35840" y="179401"/>
                  </a:cubicBezTo>
                  <a:cubicBezTo>
                    <a:pt x="35840" y="176228"/>
                    <a:pt x="35840" y="171468"/>
                    <a:pt x="37412" y="165440"/>
                  </a:cubicBezTo>
                  <a:lnTo>
                    <a:pt x="57544" y="85160"/>
                  </a:lnTo>
                  <a:cubicBezTo>
                    <a:pt x="64464" y="57871"/>
                    <a:pt x="87112" y="7419"/>
                    <a:pt x="124858" y="7419"/>
                  </a:cubicBezTo>
                  <a:cubicBezTo>
                    <a:pt x="143102" y="7419"/>
                    <a:pt x="154111" y="17255"/>
                    <a:pt x="154111" y="36294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7" name="任意形状 10066">
              <a:extLst>
                <a:ext uri="{FF2B5EF4-FFF2-40B4-BE49-F238E27FC236}">
                  <a16:creationId xmlns:a16="http://schemas.microsoft.com/office/drawing/2014/main" id="{F7451BA8-302E-ABD8-0632-9D0A5EC72EF8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8929532" y="5406055"/>
              <a:ext cx="74423" cy="141044"/>
            </a:xfrm>
            <a:custGeom>
              <a:avLst/>
              <a:gdLst>
                <a:gd name="connsiteX0" fmla="*/ 45180 w 74423"/>
                <a:gd name="connsiteY0" fmla="*/ 51203 h 141044"/>
                <a:gd name="connsiteX1" fmla="*/ 67639 w 74423"/>
                <a:gd name="connsiteY1" fmla="*/ 51203 h 141044"/>
                <a:gd name="connsiteX2" fmla="*/ 74685 w 74423"/>
                <a:gd name="connsiteY2" fmla="*/ 46317 h 141044"/>
                <a:gd name="connsiteX3" fmla="*/ 68079 w 74423"/>
                <a:gd name="connsiteY3" fmla="*/ 43207 h 141044"/>
                <a:gd name="connsiteX4" fmla="*/ 47161 w 74423"/>
                <a:gd name="connsiteY4" fmla="*/ 43207 h 141044"/>
                <a:gd name="connsiteX5" fmla="*/ 55308 w 74423"/>
                <a:gd name="connsiteY5" fmla="*/ 10334 h 141044"/>
                <a:gd name="connsiteX6" fmla="*/ 55969 w 74423"/>
                <a:gd name="connsiteY6" fmla="*/ 7224 h 141044"/>
                <a:gd name="connsiteX7" fmla="*/ 48482 w 74423"/>
                <a:gd name="connsiteY7" fmla="*/ 116 h 141044"/>
                <a:gd name="connsiteX8" fmla="*/ 38134 w 74423"/>
                <a:gd name="connsiteY8" fmla="*/ 9667 h 141044"/>
                <a:gd name="connsiteX9" fmla="*/ 29767 w 74423"/>
                <a:gd name="connsiteY9" fmla="*/ 43207 h 141044"/>
                <a:gd name="connsiteX10" fmla="*/ 7308 w 74423"/>
                <a:gd name="connsiteY10" fmla="*/ 43207 h 141044"/>
                <a:gd name="connsiteX11" fmla="*/ 262 w 74423"/>
                <a:gd name="connsiteY11" fmla="*/ 48094 h 141044"/>
                <a:gd name="connsiteX12" fmla="*/ 6867 w 74423"/>
                <a:gd name="connsiteY12" fmla="*/ 51203 h 141044"/>
                <a:gd name="connsiteX13" fmla="*/ 27785 w 74423"/>
                <a:gd name="connsiteY13" fmla="*/ 51203 h 141044"/>
                <a:gd name="connsiteX14" fmla="*/ 14794 w 74423"/>
                <a:gd name="connsiteY14" fmla="*/ 103623 h 141044"/>
                <a:gd name="connsiteX15" fmla="*/ 11491 w 74423"/>
                <a:gd name="connsiteY15" fmla="*/ 120060 h 141044"/>
                <a:gd name="connsiteX16" fmla="*/ 35051 w 74423"/>
                <a:gd name="connsiteY16" fmla="*/ 141161 h 141044"/>
                <a:gd name="connsiteX17" fmla="*/ 73363 w 74423"/>
                <a:gd name="connsiteY17" fmla="*/ 107177 h 141044"/>
                <a:gd name="connsiteX18" fmla="*/ 69841 w 74423"/>
                <a:gd name="connsiteY18" fmla="*/ 104290 h 141044"/>
                <a:gd name="connsiteX19" fmla="*/ 65217 w 74423"/>
                <a:gd name="connsiteY19" fmla="*/ 108510 h 141044"/>
                <a:gd name="connsiteX20" fmla="*/ 35712 w 74423"/>
                <a:gd name="connsiteY20" fmla="*/ 134942 h 141044"/>
                <a:gd name="connsiteX21" fmla="*/ 28005 w 74423"/>
                <a:gd name="connsiteY21" fmla="*/ 124058 h 141044"/>
                <a:gd name="connsiteX22" fmla="*/ 29326 w 74423"/>
                <a:gd name="connsiteY22" fmla="*/ 114951 h 141044"/>
                <a:gd name="connsiteX23" fmla="*/ 45180 w 74423"/>
                <a:gd name="connsiteY23" fmla="*/ 51203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80" y="51203"/>
                  </a:moveTo>
                  <a:lnTo>
                    <a:pt x="67639" y="51203"/>
                  </a:lnTo>
                  <a:cubicBezTo>
                    <a:pt x="71822" y="51203"/>
                    <a:pt x="74685" y="51203"/>
                    <a:pt x="74685" y="46317"/>
                  </a:cubicBezTo>
                  <a:cubicBezTo>
                    <a:pt x="74685" y="43207"/>
                    <a:pt x="71822" y="43207"/>
                    <a:pt x="68079" y="43207"/>
                  </a:cubicBezTo>
                  <a:lnTo>
                    <a:pt x="47161" y="43207"/>
                  </a:lnTo>
                  <a:lnTo>
                    <a:pt x="55308" y="10334"/>
                  </a:lnTo>
                  <a:cubicBezTo>
                    <a:pt x="55528" y="9223"/>
                    <a:pt x="55969" y="8113"/>
                    <a:pt x="55969" y="7224"/>
                  </a:cubicBezTo>
                  <a:cubicBezTo>
                    <a:pt x="55969" y="3226"/>
                    <a:pt x="52886" y="116"/>
                    <a:pt x="48482" y="116"/>
                  </a:cubicBezTo>
                  <a:cubicBezTo>
                    <a:pt x="42978" y="116"/>
                    <a:pt x="39675" y="3892"/>
                    <a:pt x="38134" y="9667"/>
                  </a:cubicBezTo>
                  <a:cubicBezTo>
                    <a:pt x="36592" y="15220"/>
                    <a:pt x="39455" y="4559"/>
                    <a:pt x="29767" y="43207"/>
                  </a:cubicBezTo>
                  <a:lnTo>
                    <a:pt x="7308" y="43207"/>
                  </a:lnTo>
                  <a:cubicBezTo>
                    <a:pt x="3124" y="43207"/>
                    <a:pt x="262" y="43207"/>
                    <a:pt x="262" y="48094"/>
                  </a:cubicBezTo>
                  <a:cubicBezTo>
                    <a:pt x="262" y="51203"/>
                    <a:pt x="2904" y="51203"/>
                    <a:pt x="6867" y="51203"/>
                  </a:cubicBezTo>
                  <a:lnTo>
                    <a:pt x="27785" y="51203"/>
                  </a:lnTo>
                  <a:lnTo>
                    <a:pt x="14794" y="103623"/>
                  </a:lnTo>
                  <a:cubicBezTo>
                    <a:pt x="13473" y="109176"/>
                    <a:pt x="11491" y="117172"/>
                    <a:pt x="11491" y="120060"/>
                  </a:cubicBezTo>
                  <a:cubicBezTo>
                    <a:pt x="11491" y="133165"/>
                    <a:pt x="22500" y="141161"/>
                    <a:pt x="35051" y="141161"/>
                  </a:cubicBezTo>
                  <a:cubicBezTo>
                    <a:pt x="59492" y="141161"/>
                    <a:pt x="73363" y="110065"/>
                    <a:pt x="73363" y="107177"/>
                  </a:cubicBezTo>
                  <a:cubicBezTo>
                    <a:pt x="73363" y="104290"/>
                    <a:pt x="70501" y="104290"/>
                    <a:pt x="69841" y="104290"/>
                  </a:cubicBezTo>
                  <a:cubicBezTo>
                    <a:pt x="67198" y="104290"/>
                    <a:pt x="66978" y="104734"/>
                    <a:pt x="65217" y="108510"/>
                  </a:cubicBezTo>
                  <a:cubicBezTo>
                    <a:pt x="59051" y="122503"/>
                    <a:pt x="47822" y="134942"/>
                    <a:pt x="35712" y="134942"/>
                  </a:cubicBezTo>
                  <a:cubicBezTo>
                    <a:pt x="31088" y="134942"/>
                    <a:pt x="28005" y="132054"/>
                    <a:pt x="28005" y="124058"/>
                  </a:cubicBezTo>
                  <a:cubicBezTo>
                    <a:pt x="28005" y="121837"/>
                    <a:pt x="28886" y="117172"/>
                    <a:pt x="29326" y="114951"/>
                  </a:cubicBezTo>
                  <a:lnTo>
                    <a:pt x="45180" y="5120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8" name="任意形状 10067">
              <a:extLst>
                <a:ext uri="{FF2B5EF4-FFF2-40B4-BE49-F238E27FC236}">
                  <a16:creationId xmlns:a16="http://schemas.microsoft.com/office/drawing/2014/main" id="{E025AAB2-CFA2-B0C0-83D2-B4E04E47C747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8917555" y="5606853"/>
              <a:ext cx="97322" cy="147486"/>
            </a:xfrm>
            <a:custGeom>
              <a:avLst/>
              <a:gdLst>
                <a:gd name="connsiteX0" fmla="*/ 97584 w 97322"/>
                <a:gd name="connsiteY0" fmla="*/ 107184 h 147486"/>
                <a:gd name="connsiteX1" fmla="*/ 90097 w 97322"/>
                <a:gd name="connsiteY1" fmla="*/ 107184 h 147486"/>
                <a:gd name="connsiteX2" fmla="*/ 84372 w 97322"/>
                <a:gd name="connsiteY2" fmla="*/ 127396 h 147486"/>
                <a:gd name="connsiteX3" fmla="*/ 62574 w 97322"/>
                <a:gd name="connsiteY3" fmla="*/ 128729 h 147486"/>
                <a:gd name="connsiteX4" fmla="*/ 22060 w 97322"/>
                <a:gd name="connsiteY4" fmla="*/ 128729 h 147486"/>
                <a:gd name="connsiteX5" fmla="*/ 66097 w 97322"/>
                <a:gd name="connsiteY5" fmla="*/ 91413 h 147486"/>
                <a:gd name="connsiteX6" fmla="*/ 97584 w 97322"/>
                <a:gd name="connsiteY6" fmla="*/ 43436 h 147486"/>
                <a:gd name="connsiteX7" fmla="*/ 46060 w 97322"/>
                <a:gd name="connsiteY7" fmla="*/ 123 h 147486"/>
                <a:gd name="connsiteX8" fmla="*/ 261 w 97322"/>
                <a:gd name="connsiteY8" fmla="*/ 39882 h 147486"/>
                <a:gd name="connsiteX9" fmla="*/ 11931 w 97322"/>
                <a:gd name="connsiteY9" fmla="*/ 52321 h 147486"/>
                <a:gd name="connsiteX10" fmla="*/ 23601 w 97322"/>
                <a:gd name="connsiteY10" fmla="*/ 40548 h 147486"/>
                <a:gd name="connsiteX11" fmla="*/ 10610 w 97322"/>
                <a:gd name="connsiteY11" fmla="*/ 28776 h 147486"/>
                <a:gd name="connsiteX12" fmla="*/ 42757 w 97322"/>
                <a:gd name="connsiteY12" fmla="*/ 8119 h 147486"/>
                <a:gd name="connsiteX13" fmla="*/ 76225 w 97322"/>
                <a:gd name="connsiteY13" fmla="*/ 43436 h 147486"/>
                <a:gd name="connsiteX14" fmla="*/ 55528 w 97322"/>
                <a:gd name="connsiteY14" fmla="*/ 86082 h 147486"/>
                <a:gd name="connsiteX15" fmla="*/ 2463 w 97322"/>
                <a:gd name="connsiteY15" fmla="*/ 138947 h 147486"/>
                <a:gd name="connsiteX16" fmla="*/ 261 w 97322"/>
                <a:gd name="connsiteY16" fmla="*/ 147609 h 147486"/>
                <a:gd name="connsiteX17" fmla="*/ 90978 w 97322"/>
                <a:gd name="connsiteY17" fmla="*/ 147609 h 147486"/>
                <a:gd name="connsiteX18" fmla="*/ 97584 w 97322"/>
                <a:gd name="connsiteY18" fmla="*/ 107184 h 14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322" h="147486">
                  <a:moveTo>
                    <a:pt x="97584" y="107184"/>
                  </a:moveTo>
                  <a:lnTo>
                    <a:pt x="90097" y="107184"/>
                  </a:lnTo>
                  <a:cubicBezTo>
                    <a:pt x="89437" y="112070"/>
                    <a:pt x="87235" y="125175"/>
                    <a:pt x="84372" y="127396"/>
                  </a:cubicBezTo>
                  <a:cubicBezTo>
                    <a:pt x="82611" y="128729"/>
                    <a:pt x="65656" y="128729"/>
                    <a:pt x="62574" y="128729"/>
                  </a:cubicBezTo>
                  <a:lnTo>
                    <a:pt x="22060" y="128729"/>
                  </a:lnTo>
                  <a:cubicBezTo>
                    <a:pt x="45179" y="108072"/>
                    <a:pt x="52886" y="101853"/>
                    <a:pt x="66097" y="91413"/>
                  </a:cubicBezTo>
                  <a:cubicBezTo>
                    <a:pt x="82391" y="78308"/>
                    <a:pt x="97584" y="64537"/>
                    <a:pt x="97584" y="43436"/>
                  </a:cubicBezTo>
                  <a:cubicBezTo>
                    <a:pt x="97584" y="16560"/>
                    <a:pt x="74244" y="123"/>
                    <a:pt x="46060" y="123"/>
                  </a:cubicBezTo>
                  <a:cubicBezTo>
                    <a:pt x="18757" y="123"/>
                    <a:pt x="261" y="19447"/>
                    <a:pt x="261" y="39882"/>
                  </a:cubicBezTo>
                  <a:cubicBezTo>
                    <a:pt x="261" y="51210"/>
                    <a:pt x="9729" y="52321"/>
                    <a:pt x="11931" y="52321"/>
                  </a:cubicBezTo>
                  <a:cubicBezTo>
                    <a:pt x="17215" y="52321"/>
                    <a:pt x="23601" y="48545"/>
                    <a:pt x="23601" y="40548"/>
                  </a:cubicBezTo>
                  <a:cubicBezTo>
                    <a:pt x="23601" y="36550"/>
                    <a:pt x="22060" y="28776"/>
                    <a:pt x="10610" y="28776"/>
                  </a:cubicBezTo>
                  <a:cubicBezTo>
                    <a:pt x="17436" y="13006"/>
                    <a:pt x="32408" y="8119"/>
                    <a:pt x="42757" y="8119"/>
                  </a:cubicBezTo>
                  <a:cubicBezTo>
                    <a:pt x="64776" y="8119"/>
                    <a:pt x="76225" y="25444"/>
                    <a:pt x="76225" y="43436"/>
                  </a:cubicBezTo>
                  <a:cubicBezTo>
                    <a:pt x="76225" y="62760"/>
                    <a:pt x="62574" y="78086"/>
                    <a:pt x="55528" y="86082"/>
                  </a:cubicBezTo>
                  <a:lnTo>
                    <a:pt x="2463" y="138947"/>
                  </a:lnTo>
                  <a:cubicBezTo>
                    <a:pt x="261" y="140946"/>
                    <a:pt x="261" y="141390"/>
                    <a:pt x="261" y="147609"/>
                  </a:cubicBezTo>
                  <a:lnTo>
                    <a:pt x="90978" y="147609"/>
                  </a:lnTo>
                  <a:lnTo>
                    <a:pt x="97584" y="107184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9" name="任意形状 10068">
              <a:extLst>
                <a:ext uri="{FF2B5EF4-FFF2-40B4-BE49-F238E27FC236}">
                  <a16:creationId xmlns:a16="http://schemas.microsoft.com/office/drawing/2014/main" id="{41229647-7CD6-F89F-9D8B-134D96B6B0DE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9058635" y="5406178"/>
              <a:ext cx="82098" cy="380456"/>
            </a:xfrm>
            <a:custGeom>
              <a:avLst/>
              <a:gdLst>
                <a:gd name="connsiteX0" fmla="*/ 82364 w 82098"/>
                <a:gd name="connsiteY0" fmla="*/ 190499 h 380456"/>
                <a:gd name="connsiteX1" fmla="*/ 33294 w 82098"/>
                <a:gd name="connsiteY1" fmla="*/ 28036 h 380456"/>
                <a:gd name="connsiteX2" fmla="*/ 4040 w 82098"/>
                <a:gd name="connsiteY2" fmla="*/ 112 h 380456"/>
                <a:gd name="connsiteX3" fmla="*/ 266 w 82098"/>
                <a:gd name="connsiteY3" fmla="*/ 3285 h 380456"/>
                <a:gd name="connsiteX4" fmla="*/ 2153 w 82098"/>
                <a:gd name="connsiteY4" fmla="*/ 6459 h 380456"/>
                <a:gd name="connsiteX5" fmla="*/ 50594 w 82098"/>
                <a:gd name="connsiteY5" fmla="*/ 99113 h 380456"/>
                <a:gd name="connsiteX6" fmla="*/ 60660 w 82098"/>
                <a:gd name="connsiteY6" fmla="*/ 190182 h 380456"/>
                <a:gd name="connsiteX7" fmla="*/ 49650 w 82098"/>
                <a:gd name="connsiteY7" fmla="*/ 285692 h 380456"/>
                <a:gd name="connsiteX8" fmla="*/ 3097 w 82098"/>
                <a:gd name="connsiteY8" fmla="*/ 373270 h 380456"/>
                <a:gd name="connsiteX9" fmla="*/ 266 w 82098"/>
                <a:gd name="connsiteY9" fmla="*/ 377395 h 380456"/>
                <a:gd name="connsiteX10" fmla="*/ 4040 w 82098"/>
                <a:gd name="connsiteY10" fmla="*/ 380568 h 380456"/>
                <a:gd name="connsiteX11" fmla="*/ 29833 w 82098"/>
                <a:gd name="connsiteY11" fmla="*/ 356770 h 380456"/>
                <a:gd name="connsiteX12" fmla="*/ 82364 w 82098"/>
                <a:gd name="connsiteY12" fmla="*/ 190499 h 38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2098" h="380456">
                  <a:moveTo>
                    <a:pt x="82364" y="190499"/>
                  </a:moveTo>
                  <a:cubicBezTo>
                    <a:pt x="82364" y="145441"/>
                    <a:pt x="74500" y="81661"/>
                    <a:pt x="33294" y="28036"/>
                  </a:cubicBezTo>
                  <a:cubicBezTo>
                    <a:pt x="30148" y="24228"/>
                    <a:pt x="9702" y="112"/>
                    <a:pt x="4040" y="112"/>
                  </a:cubicBezTo>
                  <a:cubicBezTo>
                    <a:pt x="2467" y="112"/>
                    <a:pt x="266" y="747"/>
                    <a:pt x="266" y="3285"/>
                  </a:cubicBezTo>
                  <a:cubicBezTo>
                    <a:pt x="266" y="4555"/>
                    <a:pt x="895" y="5507"/>
                    <a:pt x="2153" y="6459"/>
                  </a:cubicBezTo>
                  <a:cubicBezTo>
                    <a:pt x="17251" y="22959"/>
                    <a:pt x="37697" y="48661"/>
                    <a:pt x="50594" y="99113"/>
                  </a:cubicBezTo>
                  <a:cubicBezTo>
                    <a:pt x="57829" y="127989"/>
                    <a:pt x="60660" y="160672"/>
                    <a:pt x="60660" y="190182"/>
                  </a:cubicBezTo>
                  <a:cubicBezTo>
                    <a:pt x="60660" y="222230"/>
                    <a:pt x="57829" y="254596"/>
                    <a:pt x="49650" y="285692"/>
                  </a:cubicBezTo>
                  <a:cubicBezTo>
                    <a:pt x="37697" y="330116"/>
                    <a:pt x="19139" y="355501"/>
                    <a:pt x="3097" y="373270"/>
                  </a:cubicBezTo>
                  <a:cubicBezTo>
                    <a:pt x="266" y="376126"/>
                    <a:pt x="266" y="376761"/>
                    <a:pt x="266" y="377395"/>
                  </a:cubicBezTo>
                  <a:cubicBezTo>
                    <a:pt x="266" y="379934"/>
                    <a:pt x="2467" y="380568"/>
                    <a:pt x="4040" y="380568"/>
                  </a:cubicBezTo>
                  <a:cubicBezTo>
                    <a:pt x="8758" y="380568"/>
                    <a:pt x="26059" y="361213"/>
                    <a:pt x="29833" y="356770"/>
                  </a:cubicBezTo>
                  <a:cubicBezTo>
                    <a:pt x="61918" y="318375"/>
                    <a:pt x="82364" y="261259"/>
                    <a:pt x="82364" y="190499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0" name="任意形状 10069">
              <a:extLst>
                <a:ext uri="{FF2B5EF4-FFF2-40B4-BE49-F238E27FC236}">
                  <a16:creationId xmlns:a16="http://schemas.microsoft.com/office/drawing/2014/main" id="{2B2CCF23-3565-D3D1-301D-C25C99D4A6D3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6693271" y="6128366"/>
              <a:ext cx="129909" cy="227194"/>
            </a:xfrm>
            <a:custGeom>
              <a:avLst/>
              <a:gdLst>
                <a:gd name="connsiteX0" fmla="*/ 130101 w 129909"/>
                <a:gd name="connsiteY0" fmla="*/ 65190 h 227194"/>
                <a:gd name="connsiteX1" fmla="*/ 92354 w 129909"/>
                <a:gd name="connsiteY1" fmla="*/ 142 h 227194"/>
                <a:gd name="connsiteX2" fmla="*/ 191 w 129909"/>
                <a:gd name="connsiteY2" fmla="*/ 162288 h 227194"/>
                <a:gd name="connsiteX3" fmla="*/ 37937 w 129909"/>
                <a:gd name="connsiteY3" fmla="*/ 227336 h 227194"/>
                <a:gd name="connsiteX4" fmla="*/ 130101 w 129909"/>
                <a:gd name="connsiteY4" fmla="*/ 65190 h 227194"/>
                <a:gd name="connsiteX5" fmla="*/ 33533 w 129909"/>
                <a:gd name="connsiteY5" fmla="*/ 108662 h 227194"/>
                <a:gd name="connsiteX6" fmla="*/ 57754 w 129909"/>
                <a:gd name="connsiteY6" fmla="*/ 40440 h 227194"/>
                <a:gd name="connsiteX7" fmla="*/ 92040 w 129909"/>
                <a:gd name="connsiteY7" fmla="*/ 7122 h 227194"/>
                <a:gd name="connsiteX8" fmla="*/ 109340 w 129909"/>
                <a:gd name="connsiteY8" fmla="*/ 45517 h 227194"/>
                <a:gd name="connsiteX9" fmla="*/ 99275 w 129909"/>
                <a:gd name="connsiteY9" fmla="*/ 108662 h 227194"/>
                <a:gd name="connsiteX10" fmla="*/ 33533 w 129909"/>
                <a:gd name="connsiteY10" fmla="*/ 108662 h 227194"/>
                <a:gd name="connsiteX11" fmla="*/ 96444 w 129909"/>
                <a:gd name="connsiteY11" fmla="*/ 118816 h 227194"/>
                <a:gd name="connsiteX12" fmla="*/ 74425 w 129909"/>
                <a:gd name="connsiteY12" fmla="*/ 183230 h 227194"/>
                <a:gd name="connsiteX13" fmla="*/ 37937 w 129909"/>
                <a:gd name="connsiteY13" fmla="*/ 220356 h 227194"/>
                <a:gd name="connsiteX14" fmla="*/ 20951 w 129909"/>
                <a:gd name="connsiteY14" fmla="*/ 181644 h 227194"/>
                <a:gd name="connsiteX15" fmla="*/ 31017 w 129909"/>
                <a:gd name="connsiteY15" fmla="*/ 118816 h 227194"/>
                <a:gd name="connsiteX16" fmla="*/ 96444 w 129909"/>
                <a:gd name="connsiteY16" fmla="*/ 118816 h 227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909" h="227194">
                  <a:moveTo>
                    <a:pt x="130101" y="65190"/>
                  </a:moveTo>
                  <a:cubicBezTo>
                    <a:pt x="130101" y="44248"/>
                    <a:pt x="124439" y="142"/>
                    <a:pt x="92354" y="142"/>
                  </a:cubicBezTo>
                  <a:cubicBezTo>
                    <a:pt x="48632" y="142"/>
                    <a:pt x="191" y="89623"/>
                    <a:pt x="191" y="162288"/>
                  </a:cubicBezTo>
                  <a:cubicBezTo>
                    <a:pt x="191" y="192115"/>
                    <a:pt x="9313" y="227336"/>
                    <a:pt x="37937" y="227336"/>
                  </a:cubicBezTo>
                  <a:cubicBezTo>
                    <a:pt x="82289" y="227336"/>
                    <a:pt x="130101" y="136268"/>
                    <a:pt x="130101" y="65190"/>
                  </a:cubicBezTo>
                  <a:close/>
                  <a:moveTo>
                    <a:pt x="33533" y="108662"/>
                  </a:moveTo>
                  <a:cubicBezTo>
                    <a:pt x="38881" y="88354"/>
                    <a:pt x="45172" y="62969"/>
                    <a:pt x="57754" y="40440"/>
                  </a:cubicBezTo>
                  <a:cubicBezTo>
                    <a:pt x="66247" y="24892"/>
                    <a:pt x="77885" y="7122"/>
                    <a:pt x="92040" y="7122"/>
                  </a:cubicBezTo>
                  <a:cubicBezTo>
                    <a:pt x="107453" y="7122"/>
                    <a:pt x="109340" y="27430"/>
                    <a:pt x="109340" y="45517"/>
                  </a:cubicBezTo>
                  <a:cubicBezTo>
                    <a:pt x="109340" y="61065"/>
                    <a:pt x="106824" y="77248"/>
                    <a:pt x="99275" y="108662"/>
                  </a:cubicBezTo>
                  <a:lnTo>
                    <a:pt x="33533" y="108662"/>
                  </a:lnTo>
                  <a:close/>
                  <a:moveTo>
                    <a:pt x="96444" y="118816"/>
                  </a:moveTo>
                  <a:cubicBezTo>
                    <a:pt x="92984" y="133412"/>
                    <a:pt x="86378" y="160384"/>
                    <a:pt x="74425" y="183230"/>
                  </a:cubicBezTo>
                  <a:cubicBezTo>
                    <a:pt x="63416" y="204807"/>
                    <a:pt x="51463" y="220356"/>
                    <a:pt x="37937" y="220356"/>
                  </a:cubicBezTo>
                  <a:cubicBezTo>
                    <a:pt x="27557" y="220356"/>
                    <a:pt x="20951" y="211154"/>
                    <a:pt x="20951" y="181644"/>
                  </a:cubicBezTo>
                  <a:cubicBezTo>
                    <a:pt x="20951" y="168317"/>
                    <a:pt x="22838" y="149913"/>
                    <a:pt x="31017" y="118816"/>
                  </a:cubicBezTo>
                  <a:lnTo>
                    <a:pt x="96444" y="118816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1" name="任意形状 10070">
              <a:extLst>
                <a:ext uri="{FF2B5EF4-FFF2-40B4-BE49-F238E27FC236}">
                  <a16:creationId xmlns:a16="http://schemas.microsoft.com/office/drawing/2014/main" id="{FA248F53-D592-4F11-B88A-520F52D41B3F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6941451" y="6235617"/>
              <a:ext cx="209177" cy="74250"/>
            </a:xfrm>
            <a:custGeom>
              <a:avLst/>
              <a:gdLst>
                <a:gd name="connsiteX0" fmla="*/ 198681 w 209177"/>
                <a:gd name="connsiteY0" fmla="*/ 12834 h 74250"/>
                <a:gd name="connsiteX1" fmla="*/ 209376 w 209177"/>
                <a:gd name="connsiteY1" fmla="*/ 6488 h 74250"/>
                <a:gd name="connsiteX2" fmla="*/ 198995 w 209177"/>
                <a:gd name="connsiteY2" fmla="*/ 142 h 74250"/>
                <a:gd name="connsiteX3" fmla="*/ 10579 w 209177"/>
                <a:gd name="connsiteY3" fmla="*/ 142 h 74250"/>
                <a:gd name="connsiteX4" fmla="*/ 198 w 209177"/>
                <a:gd name="connsiteY4" fmla="*/ 6488 h 74250"/>
                <a:gd name="connsiteX5" fmla="*/ 10893 w 209177"/>
                <a:gd name="connsiteY5" fmla="*/ 12834 h 74250"/>
                <a:gd name="connsiteX6" fmla="*/ 198681 w 209177"/>
                <a:gd name="connsiteY6" fmla="*/ 12834 h 74250"/>
                <a:gd name="connsiteX7" fmla="*/ 198995 w 209177"/>
                <a:gd name="connsiteY7" fmla="*/ 74392 h 74250"/>
                <a:gd name="connsiteX8" fmla="*/ 209376 w 209177"/>
                <a:gd name="connsiteY8" fmla="*/ 68046 h 74250"/>
                <a:gd name="connsiteX9" fmla="*/ 198681 w 209177"/>
                <a:gd name="connsiteY9" fmla="*/ 61700 h 74250"/>
                <a:gd name="connsiteX10" fmla="*/ 10893 w 209177"/>
                <a:gd name="connsiteY10" fmla="*/ 61700 h 74250"/>
                <a:gd name="connsiteX11" fmla="*/ 198 w 209177"/>
                <a:gd name="connsiteY11" fmla="*/ 68046 h 74250"/>
                <a:gd name="connsiteX12" fmla="*/ 10579 w 209177"/>
                <a:gd name="connsiteY12" fmla="*/ 74392 h 74250"/>
                <a:gd name="connsiteX13" fmla="*/ 198995 w 209177"/>
                <a:gd name="connsiteY13" fmla="*/ 74392 h 7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177" h="74250">
                  <a:moveTo>
                    <a:pt x="198681" y="12834"/>
                  </a:moveTo>
                  <a:cubicBezTo>
                    <a:pt x="203399" y="12834"/>
                    <a:pt x="209376" y="12834"/>
                    <a:pt x="209376" y="6488"/>
                  </a:cubicBezTo>
                  <a:cubicBezTo>
                    <a:pt x="209376" y="142"/>
                    <a:pt x="203399" y="142"/>
                    <a:pt x="198995" y="142"/>
                  </a:cubicBezTo>
                  <a:lnTo>
                    <a:pt x="10579" y="142"/>
                  </a:lnTo>
                  <a:cubicBezTo>
                    <a:pt x="6175" y="142"/>
                    <a:pt x="198" y="142"/>
                    <a:pt x="198" y="6488"/>
                  </a:cubicBezTo>
                  <a:cubicBezTo>
                    <a:pt x="198" y="12834"/>
                    <a:pt x="6175" y="12834"/>
                    <a:pt x="10893" y="12834"/>
                  </a:cubicBezTo>
                  <a:lnTo>
                    <a:pt x="198681" y="12834"/>
                  </a:lnTo>
                  <a:close/>
                  <a:moveTo>
                    <a:pt x="198995" y="74392"/>
                  </a:moveTo>
                  <a:cubicBezTo>
                    <a:pt x="203399" y="74392"/>
                    <a:pt x="209376" y="74392"/>
                    <a:pt x="209376" y="68046"/>
                  </a:cubicBezTo>
                  <a:cubicBezTo>
                    <a:pt x="209376" y="61700"/>
                    <a:pt x="203399" y="61700"/>
                    <a:pt x="198681" y="61700"/>
                  </a:cubicBezTo>
                  <a:lnTo>
                    <a:pt x="10893" y="61700"/>
                  </a:lnTo>
                  <a:cubicBezTo>
                    <a:pt x="6175" y="61700"/>
                    <a:pt x="198" y="61700"/>
                    <a:pt x="198" y="68046"/>
                  </a:cubicBezTo>
                  <a:cubicBezTo>
                    <a:pt x="198" y="74392"/>
                    <a:pt x="6175" y="74392"/>
                    <a:pt x="10579" y="74392"/>
                  </a:cubicBezTo>
                  <a:lnTo>
                    <a:pt x="198995" y="74392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2" name="任意形状 10071">
              <a:extLst>
                <a:ext uri="{FF2B5EF4-FFF2-40B4-BE49-F238E27FC236}">
                  <a16:creationId xmlns:a16="http://schemas.microsoft.com/office/drawing/2014/main" id="{A44FBD12-4645-D58B-4621-3513D77FF096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7269073" y="6128366"/>
              <a:ext cx="129909" cy="227194"/>
            </a:xfrm>
            <a:custGeom>
              <a:avLst/>
              <a:gdLst>
                <a:gd name="connsiteX0" fmla="*/ 130119 w 129909"/>
                <a:gd name="connsiteY0" fmla="*/ 65190 h 227194"/>
                <a:gd name="connsiteX1" fmla="*/ 92373 w 129909"/>
                <a:gd name="connsiteY1" fmla="*/ 142 h 227194"/>
                <a:gd name="connsiteX2" fmla="*/ 209 w 129909"/>
                <a:gd name="connsiteY2" fmla="*/ 162288 h 227194"/>
                <a:gd name="connsiteX3" fmla="*/ 37955 w 129909"/>
                <a:gd name="connsiteY3" fmla="*/ 227336 h 227194"/>
                <a:gd name="connsiteX4" fmla="*/ 130119 w 129909"/>
                <a:gd name="connsiteY4" fmla="*/ 65190 h 227194"/>
                <a:gd name="connsiteX5" fmla="*/ 33551 w 129909"/>
                <a:gd name="connsiteY5" fmla="*/ 108662 h 227194"/>
                <a:gd name="connsiteX6" fmla="*/ 57772 w 129909"/>
                <a:gd name="connsiteY6" fmla="*/ 40440 h 227194"/>
                <a:gd name="connsiteX7" fmla="*/ 92058 w 129909"/>
                <a:gd name="connsiteY7" fmla="*/ 7122 h 227194"/>
                <a:gd name="connsiteX8" fmla="*/ 109358 w 129909"/>
                <a:gd name="connsiteY8" fmla="*/ 45517 h 227194"/>
                <a:gd name="connsiteX9" fmla="*/ 99293 w 129909"/>
                <a:gd name="connsiteY9" fmla="*/ 108662 h 227194"/>
                <a:gd name="connsiteX10" fmla="*/ 33551 w 129909"/>
                <a:gd name="connsiteY10" fmla="*/ 108662 h 227194"/>
                <a:gd name="connsiteX11" fmla="*/ 96462 w 129909"/>
                <a:gd name="connsiteY11" fmla="*/ 118816 h 227194"/>
                <a:gd name="connsiteX12" fmla="*/ 74443 w 129909"/>
                <a:gd name="connsiteY12" fmla="*/ 183230 h 227194"/>
                <a:gd name="connsiteX13" fmla="*/ 37955 w 129909"/>
                <a:gd name="connsiteY13" fmla="*/ 220356 h 227194"/>
                <a:gd name="connsiteX14" fmla="*/ 20969 w 129909"/>
                <a:gd name="connsiteY14" fmla="*/ 181644 h 227194"/>
                <a:gd name="connsiteX15" fmla="*/ 31035 w 129909"/>
                <a:gd name="connsiteY15" fmla="*/ 118816 h 227194"/>
                <a:gd name="connsiteX16" fmla="*/ 96462 w 129909"/>
                <a:gd name="connsiteY16" fmla="*/ 118816 h 227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909" h="227194">
                  <a:moveTo>
                    <a:pt x="130119" y="65190"/>
                  </a:moveTo>
                  <a:cubicBezTo>
                    <a:pt x="130119" y="44248"/>
                    <a:pt x="124457" y="142"/>
                    <a:pt x="92373" y="142"/>
                  </a:cubicBezTo>
                  <a:cubicBezTo>
                    <a:pt x="48650" y="142"/>
                    <a:pt x="209" y="89623"/>
                    <a:pt x="209" y="162288"/>
                  </a:cubicBezTo>
                  <a:cubicBezTo>
                    <a:pt x="209" y="192115"/>
                    <a:pt x="9331" y="227336"/>
                    <a:pt x="37955" y="227336"/>
                  </a:cubicBezTo>
                  <a:cubicBezTo>
                    <a:pt x="82307" y="227336"/>
                    <a:pt x="130119" y="136268"/>
                    <a:pt x="130119" y="65190"/>
                  </a:cubicBezTo>
                  <a:close/>
                  <a:moveTo>
                    <a:pt x="33551" y="108662"/>
                  </a:moveTo>
                  <a:cubicBezTo>
                    <a:pt x="38899" y="88354"/>
                    <a:pt x="45190" y="62969"/>
                    <a:pt x="57772" y="40440"/>
                  </a:cubicBezTo>
                  <a:cubicBezTo>
                    <a:pt x="66265" y="24892"/>
                    <a:pt x="77903" y="7122"/>
                    <a:pt x="92058" y="7122"/>
                  </a:cubicBezTo>
                  <a:cubicBezTo>
                    <a:pt x="107471" y="7122"/>
                    <a:pt x="109358" y="27430"/>
                    <a:pt x="109358" y="45517"/>
                  </a:cubicBezTo>
                  <a:cubicBezTo>
                    <a:pt x="109358" y="61065"/>
                    <a:pt x="106842" y="77248"/>
                    <a:pt x="99293" y="108662"/>
                  </a:cubicBezTo>
                  <a:lnTo>
                    <a:pt x="33551" y="108662"/>
                  </a:lnTo>
                  <a:close/>
                  <a:moveTo>
                    <a:pt x="96462" y="118816"/>
                  </a:moveTo>
                  <a:cubicBezTo>
                    <a:pt x="93002" y="133412"/>
                    <a:pt x="86396" y="160384"/>
                    <a:pt x="74443" y="183230"/>
                  </a:cubicBezTo>
                  <a:cubicBezTo>
                    <a:pt x="63434" y="204807"/>
                    <a:pt x="51481" y="220356"/>
                    <a:pt x="37955" y="220356"/>
                  </a:cubicBezTo>
                  <a:cubicBezTo>
                    <a:pt x="27575" y="220356"/>
                    <a:pt x="20969" y="211154"/>
                    <a:pt x="20969" y="181644"/>
                  </a:cubicBezTo>
                  <a:cubicBezTo>
                    <a:pt x="20969" y="168317"/>
                    <a:pt x="22857" y="149913"/>
                    <a:pt x="31035" y="118816"/>
                  </a:cubicBezTo>
                  <a:lnTo>
                    <a:pt x="96462" y="118816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3" name="任意形状 10072">
              <a:extLst>
                <a:ext uri="{FF2B5EF4-FFF2-40B4-BE49-F238E27FC236}">
                  <a16:creationId xmlns:a16="http://schemas.microsoft.com/office/drawing/2014/main" id="{246D2381-726C-4650-D4F7-8F2C59114C0D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7508271" y="6266397"/>
              <a:ext cx="192191" cy="12692"/>
            </a:xfrm>
            <a:custGeom>
              <a:avLst/>
              <a:gdLst>
                <a:gd name="connsiteX0" fmla="*/ 181398 w 192191"/>
                <a:gd name="connsiteY0" fmla="*/ 12834 h 12692"/>
                <a:gd name="connsiteX1" fmla="*/ 192407 w 192191"/>
                <a:gd name="connsiteY1" fmla="*/ 6488 h 12692"/>
                <a:gd name="connsiteX2" fmla="*/ 181398 w 192191"/>
                <a:gd name="connsiteY2" fmla="*/ 142 h 12692"/>
                <a:gd name="connsiteX3" fmla="*/ 11225 w 192191"/>
                <a:gd name="connsiteY3" fmla="*/ 142 h 12692"/>
                <a:gd name="connsiteX4" fmla="*/ 216 w 192191"/>
                <a:gd name="connsiteY4" fmla="*/ 6488 h 12692"/>
                <a:gd name="connsiteX5" fmla="*/ 11225 w 192191"/>
                <a:gd name="connsiteY5" fmla="*/ 12834 h 12692"/>
                <a:gd name="connsiteX6" fmla="*/ 181398 w 192191"/>
                <a:gd name="connsiteY6" fmla="*/ 12834 h 12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91" h="12692">
                  <a:moveTo>
                    <a:pt x="181398" y="12834"/>
                  </a:moveTo>
                  <a:cubicBezTo>
                    <a:pt x="186745" y="12834"/>
                    <a:pt x="192407" y="12834"/>
                    <a:pt x="192407" y="6488"/>
                  </a:cubicBezTo>
                  <a:cubicBezTo>
                    <a:pt x="192407" y="142"/>
                    <a:pt x="186745" y="142"/>
                    <a:pt x="181398" y="142"/>
                  </a:cubicBezTo>
                  <a:lnTo>
                    <a:pt x="11225" y="142"/>
                  </a:lnTo>
                  <a:cubicBezTo>
                    <a:pt x="5878" y="142"/>
                    <a:pt x="216" y="142"/>
                    <a:pt x="216" y="6488"/>
                  </a:cubicBezTo>
                  <a:cubicBezTo>
                    <a:pt x="216" y="12834"/>
                    <a:pt x="5878" y="12834"/>
                    <a:pt x="11225" y="12834"/>
                  </a:cubicBezTo>
                  <a:lnTo>
                    <a:pt x="181398" y="12834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4" name="任意形状 10073">
              <a:extLst>
                <a:ext uri="{FF2B5EF4-FFF2-40B4-BE49-F238E27FC236}">
                  <a16:creationId xmlns:a16="http://schemas.microsoft.com/office/drawing/2014/main" id="{7AF1B6B1-9F43-9203-D206-D5FF0BC7BFF0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7805837" y="6211819"/>
              <a:ext cx="146895" cy="208790"/>
            </a:xfrm>
            <a:custGeom>
              <a:avLst/>
              <a:gdLst>
                <a:gd name="connsiteX0" fmla="*/ 144605 w 146895"/>
                <a:gd name="connsiteY0" fmla="*/ 52498 h 208790"/>
                <a:gd name="connsiteX1" fmla="*/ 147122 w 146895"/>
                <a:gd name="connsiteY1" fmla="*/ 34094 h 208790"/>
                <a:gd name="connsiteX2" fmla="*/ 110948 w 146895"/>
                <a:gd name="connsiteY2" fmla="*/ 142 h 208790"/>
                <a:gd name="connsiteX3" fmla="*/ 62193 w 146895"/>
                <a:gd name="connsiteY3" fmla="*/ 27748 h 208790"/>
                <a:gd name="connsiteX4" fmla="*/ 33254 w 146895"/>
                <a:gd name="connsiteY4" fmla="*/ 142 h 208790"/>
                <a:gd name="connsiteX5" fmla="*/ 9977 w 146895"/>
                <a:gd name="connsiteY5" fmla="*/ 18228 h 208790"/>
                <a:gd name="connsiteX6" fmla="*/ 226 w 146895"/>
                <a:gd name="connsiteY6" fmla="*/ 49008 h 208790"/>
                <a:gd name="connsiteX7" fmla="*/ 4001 w 146895"/>
                <a:gd name="connsiteY7" fmla="*/ 52181 h 208790"/>
                <a:gd name="connsiteX8" fmla="*/ 9348 w 146895"/>
                <a:gd name="connsiteY8" fmla="*/ 44883 h 208790"/>
                <a:gd name="connsiteX9" fmla="*/ 32310 w 146895"/>
                <a:gd name="connsiteY9" fmla="*/ 7122 h 208790"/>
                <a:gd name="connsiteX10" fmla="*/ 42061 w 146895"/>
                <a:gd name="connsiteY10" fmla="*/ 21719 h 208790"/>
                <a:gd name="connsiteX11" fmla="*/ 37029 w 146895"/>
                <a:gd name="connsiteY11" fmla="*/ 48373 h 208790"/>
                <a:gd name="connsiteX12" fmla="*/ 18785 w 146895"/>
                <a:gd name="connsiteY12" fmla="*/ 121672 h 208790"/>
                <a:gd name="connsiteX13" fmla="*/ 15954 w 146895"/>
                <a:gd name="connsiteY13" fmla="*/ 135316 h 208790"/>
                <a:gd name="connsiteX14" fmla="*/ 25076 w 146895"/>
                <a:gd name="connsiteY14" fmla="*/ 143884 h 208790"/>
                <a:gd name="connsiteX15" fmla="*/ 36714 w 146895"/>
                <a:gd name="connsiteY15" fmla="*/ 134999 h 208790"/>
                <a:gd name="connsiteX16" fmla="*/ 42691 w 146895"/>
                <a:gd name="connsiteY16" fmla="*/ 111518 h 208790"/>
                <a:gd name="connsiteX17" fmla="*/ 49611 w 146895"/>
                <a:gd name="connsiteY17" fmla="*/ 82960 h 208790"/>
                <a:gd name="connsiteX18" fmla="*/ 54958 w 146895"/>
                <a:gd name="connsiteY18" fmla="*/ 61700 h 208790"/>
                <a:gd name="connsiteX19" fmla="*/ 58418 w 146895"/>
                <a:gd name="connsiteY19" fmla="*/ 47421 h 208790"/>
                <a:gd name="connsiteX20" fmla="*/ 79808 w 146895"/>
                <a:gd name="connsiteY20" fmla="*/ 18228 h 208790"/>
                <a:gd name="connsiteX21" fmla="*/ 110005 w 146895"/>
                <a:gd name="connsiteY21" fmla="*/ 7122 h 208790"/>
                <a:gd name="connsiteX22" fmla="*/ 126991 w 146895"/>
                <a:gd name="connsiteY22" fmla="*/ 29334 h 208790"/>
                <a:gd name="connsiteX23" fmla="*/ 123845 w 146895"/>
                <a:gd name="connsiteY23" fmla="*/ 49325 h 208790"/>
                <a:gd name="connsiteX24" fmla="*/ 87986 w 146895"/>
                <a:gd name="connsiteY24" fmla="*/ 195288 h 208790"/>
                <a:gd name="connsiteX25" fmla="*/ 87042 w 146895"/>
                <a:gd name="connsiteY25" fmla="*/ 200365 h 208790"/>
                <a:gd name="connsiteX26" fmla="*/ 95850 w 146895"/>
                <a:gd name="connsiteY26" fmla="*/ 208932 h 208790"/>
                <a:gd name="connsiteX27" fmla="*/ 108746 w 146895"/>
                <a:gd name="connsiteY27" fmla="*/ 196240 h 208790"/>
                <a:gd name="connsiteX28" fmla="*/ 144605 w 146895"/>
                <a:gd name="connsiteY28" fmla="*/ 52498 h 208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46895" h="208790">
                  <a:moveTo>
                    <a:pt x="144605" y="52498"/>
                  </a:moveTo>
                  <a:cubicBezTo>
                    <a:pt x="146178" y="46786"/>
                    <a:pt x="147122" y="42661"/>
                    <a:pt x="147122" y="34094"/>
                  </a:cubicBezTo>
                  <a:cubicBezTo>
                    <a:pt x="147122" y="13469"/>
                    <a:pt x="134540" y="142"/>
                    <a:pt x="110948" y="142"/>
                  </a:cubicBezTo>
                  <a:cubicBezTo>
                    <a:pt x="86099" y="142"/>
                    <a:pt x="69742" y="16642"/>
                    <a:pt x="62193" y="27748"/>
                  </a:cubicBezTo>
                  <a:cubicBezTo>
                    <a:pt x="60620" y="9661"/>
                    <a:pt x="47409" y="142"/>
                    <a:pt x="33254" y="142"/>
                  </a:cubicBezTo>
                  <a:cubicBezTo>
                    <a:pt x="18785" y="142"/>
                    <a:pt x="12808" y="12517"/>
                    <a:pt x="9977" y="18228"/>
                  </a:cubicBezTo>
                  <a:cubicBezTo>
                    <a:pt x="4315" y="29017"/>
                    <a:pt x="226" y="48056"/>
                    <a:pt x="226" y="49008"/>
                  </a:cubicBezTo>
                  <a:cubicBezTo>
                    <a:pt x="226" y="52181"/>
                    <a:pt x="3372" y="52181"/>
                    <a:pt x="4001" y="52181"/>
                  </a:cubicBezTo>
                  <a:cubicBezTo>
                    <a:pt x="7146" y="52181"/>
                    <a:pt x="7461" y="51863"/>
                    <a:pt x="9348" y="44883"/>
                  </a:cubicBezTo>
                  <a:cubicBezTo>
                    <a:pt x="14695" y="22353"/>
                    <a:pt x="20986" y="7122"/>
                    <a:pt x="32310" y="7122"/>
                  </a:cubicBezTo>
                  <a:cubicBezTo>
                    <a:pt x="37658" y="7122"/>
                    <a:pt x="42061" y="9661"/>
                    <a:pt x="42061" y="21719"/>
                  </a:cubicBezTo>
                  <a:cubicBezTo>
                    <a:pt x="42061" y="28382"/>
                    <a:pt x="41118" y="31873"/>
                    <a:pt x="37029" y="48373"/>
                  </a:cubicBezTo>
                  <a:lnTo>
                    <a:pt x="18785" y="121672"/>
                  </a:lnTo>
                  <a:cubicBezTo>
                    <a:pt x="17841" y="126432"/>
                    <a:pt x="15954" y="133730"/>
                    <a:pt x="15954" y="135316"/>
                  </a:cubicBezTo>
                  <a:cubicBezTo>
                    <a:pt x="15954" y="141028"/>
                    <a:pt x="20357" y="143884"/>
                    <a:pt x="25076" y="143884"/>
                  </a:cubicBezTo>
                  <a:cubicBezTo>
                    <a:pt x="28850" y="143884"/>
                    <a:pt x="34512" y="141345"/>
                    <a:pt x="36714" y="134999"/>
                  </a:cubicBezTo>
                  <a:cubicBezTo>
                    <a:pt x="37029" y="134364"/>
                    <a:pt x="40803" y="119451"/>
                    <a:pt x="42691" y="111518"/>
                  </a:cubicBezTo>
                  <a:lnTo>
                    <a:pt x="49611" y="82960"/>
                  </a:lnTo>
                  <a:cubicBezTo>
                    <a:pt x="51498" y="75979"/>
                    <a:pt x="53385" y="68998"/>
                    <a:pt x="54958" y="61700"/>
                  </a:cubicBezTo>
                  <a:cubicBezTo>
                    <a:pt x="55587" y="59796"/>
                    <a:pt x="58104" y="49325"/>
                    <a:pt x="58418" y="47421"/>
                  </a:cubicBezTo>
                  <a:cubicBezTo>
                    <a:pt x="59362" y="44565"/>
                    <a:pt x="69113" y="26796"/>
                    <a:pt x="79808" y="18228"/>
                  </a:cubicBezTo>
                  <a:cubicBezTo>
                    <a:pt x="86728" y="13151"/>
                    <a:pt x="96479" y="7122"/>
                    <a:pt x="110005" y="7122"/>
                  </a:cubicBezTo>
                  <a:cubicBezTo>
                    <a:pt x="123530" y="7122"/>
                    <a:pt x="126991" y="17911"/>
                    <a:pt x="126991" y="29334"/>
                  </a:cubicBezTo>
                  <a:cubicBezTo>
                    <a:pt x="126991" y="30921"/>
                    <a:pt x="126991" y="36632"/>
                    <a:pt x="123845" y="49325"/>
                  </a:cubicBezTo>
                  <a:lnTo>
                    <a:pt x="87986" y="195288"/>
                  </a:lnTo>
                  <a:cubicBezTo>
                    <a:pt x="87042" y="199096"/>
                    <a:pt x="87042" y="199730"/>
                    <a:pt x="87042" y="200365"/>
                  </a:cubicBezTo>
                  <a:cubicBezTo>
                    <a:pt x="87042" y="205125"/>
                    <a:pt x="90502" y="208932"/>
                    <a:pt x="95850" y="208932"/>
                  </a:cubicBezTo>
                  <a:cubicBezTo>
                    <a:pt x="105601" y="208932"/>
                    <a:pt x="107803" y="199730"/>
                    <a:pt x="108746" y="196240"/>
                  </a:cubicBezTo>
                  <a:lnTo>
                    <a:pt x="144605" y="52498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5" name="任意形状 10074">
              <a:extLst>
                <a:ext uri="{FF2B5EF4-FFF2-40B4-BE49-F238E27FC236}">
                  <a16:creationId xmlns:a16="http://schemas.microsoft.com/office/drawing/2014/main" id="{205DA39F-BE0A-28A2-762B-12D37B3716EA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8581184" y="5917193"/>
              <a:ext cx="83985" cy="48865"/>
            </a:xfrm>
            <a:custGeom>
              <a:avLst/>
              <a:gdLst>
                <a:gd name="connsiteX0" fmla="*/ 42400 w 83985"/>
                <a:gd name="connsiteY0" fmla="*/ 135 h 48865"/>
                <a:gd name="connsiteX1" fmla="*/ 250 w 83985"/>
                <a:gd name="connsiteY1" fmla="*/ 43289 h 48865"/>
                <a:gd name="connsiteX2" fmla="*/ 5912 w 83985"/>
                <a:gd name="connsiteY2" fmla="*/ 49001 h 48865"/>
                <a:gd name="connsiteX3" fmla="*/ 42400 w 83985"/>
                <a:gd name="connsiteY3" fmla="*/ 16635 h 48865"/>
                <a:gd name="connsiteX4" fmla="*/ 78573 w 83985"/>
                <a:gd name="connsiteY4" fmla="*/ 49001 h 48865"/>
                <a:gd name="connsiteX5" fmla="*/ 84235 w 83985"/>
                <a:gd name="connsiteY5" fmla="*/ 43289 h 48865"/>
                <a:gd name="connsiteX6" fmla="*/ 42400 w 83985"/>
                <a:gd name="connsiteY6" fmla="*/ 135 h 4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985" h="48865">
                  <a:moveTo>
                    <a:pt x="42400" y="135"/>
                  </a:moveTo>
                  <a:lnTo>
                    <a:pt x="250" y="43289"/>
                  </a:lnTo>
                  <a:lnTo>
                    <a:pt x="5912" y="49001"/>
                  </a:lnTo>
                  <a:lnTo>
                    <a:pt x="42400" y="16635"/>
                  </a:lnTo>
                  <a:lnTo>
                    <a:pt x="78573" y="49001"/>
                  </a:lnTo>
                  <a:lnTo>
                    <a:pt x="84235" y="43289"/>
                  </a:lnTo>
                  <a:lnTo>
                    <a:pt x="42400" y="135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6" name="任意形状 10075">
              <a:extLst>
                <a:ext uri="{FF2B5EF4-FFF2-40B4-BE49-F238E27FC236}">
                  <a16:creationId xmlns:a16="http://schemas.microsoft.com/office/drawing/2014/main" id="{758E31D8-B25B-0EFA-C772-0D7E965FF3E7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8494366" y="5997156"/>
              <a:ext cx="257618" cy="143741"/>
            </a:xfrm>
            <a:custGeom>
              <a:avLst/>
              <a:gdLst>
                <a:gd name="connsiteX0" fmla="*/ 18806 w 257618"/>
                <a:gd name="connsiteY0" fmla="*/ 121665 h 143741"/>
                <a:gd name="connsiteX1" fmla="*/ 15975 w 257618"/>
                <a:gd name="connsiteY1" fmla="*/ 135309 h 143741"/>
                <a:gd name="connsiteX2" fmla="*/ 25097 w 257618"/>
                <a:gd name="connsiteY2" fmla="*/ 143877 h 143741"/>
                <a:gd name="connsiteX3" fmla="*/ 36736 w 257618"/>
                <a:gd name="connsiteY3" fmla="*/ 134992 h 143741"/>
                <a:gd name="connsiteX4" fmla="*/ 42712 w 257618"/>
                <a:gd name="connsiteY4" fmla="*/ 111511 h 143741"/>
                <a:gd name="connsiteX5" fmla="*/ 49632 w 257618"/>
                <a:gd name="connsiteY5" fmla="*/ 82953 h 143741"/>
                <a:gd name="connsiteX6" fmla="*/ 54980 w 257618"/>
                <a:gd name="connsiteY6" fmla="*/ 61693 h 143741"/>
                <a:gd name="connsiteX7" fmla="*/ 59069 w 257618"/>
                <a:gd name="connsiteY7" fmla="*/ 45828 h 143741"/>
                <a:gd name="connsiteX8" fmla="*/ 110341 w 257618"/>
                <a:gd name="connsiteY8" fmla="*/ 7116 h 143741"/>
                <a:gd name="connsiteX9" fmla="*/ 127327 w 257618"/>
                <a:gd name="connsiteY9" fmla="*/ 29328 h 143741"/>
                <a:gd name="connsiteX10" fmla="*/ 122609 w 257618"/>
                <a:gd name="connsiteY10" fmla="*/ 55664 h 143741"/>
                <a:gd name="connsiteX11" fmla="*/ 113801 w 257618"/>
                <a:gd name="connsiteY11" fmla="*/ 92472 h 143741"/>
                <a:gd name="connsiteX12" fmla="*/ 107510 w 257618"/>
                <a:gd name="connsiteY12" fmla="*/ 116588 h 143741"/>
                <a:gd name="connsiteX13" fmla="*/ 103421 w 257618"/>
                <a:gd name="connsiteY13" fmla="*/ 135309 h 143741"/>
                <a:gd name="connsiteX14" fmla="*/ 112543 w 257618"/>
                <a:gd name="connsiteY14" fmla="*/ 143877 h 143741"/>
                <a:gd name="connsiteX15" fmla="*/ 126698 w 257618"/>
                <a:gd name="connsiteY15" fmla="*/ 125790 h 143741"/>
                <a:gd name="connsiteX16" fmla="*/ 145571 w 257618"/>
                <a:gd name="connsiteY16" fmla="*/ 49318 h 143741"/>
                <a:gd name="connsiteX17" fmla="*/ 197472 w 257618"/>
                <a:gd name="connsiteY17" fmla="*/ 7116 h 143741"/>
                <a:gd name="connsiteX18" fmla="*/ 214458 w 257618"/>
                <a:gd name="connsiteY18" fmla="*/ 29328 h 143741"/>
                <a:gd name="connsiteX19" fmla="*/ 194956 w 257618"/>
                <a:gd name="connsiteY19" fmla="*/ 100405 h 143741"/>
                <a:gd name="connsiteX20" fmla="*/ 190866 w 257618"/>
                <a:gd name="connsiteY20" fmla="*/ 117857 h 143741"/>
                <a:gd name="connsiteX21" fmla="*/ 216660 w 257618"/>
                <a:gd name="connsiteY21" fmla="*/ 143877 h 143741"/>
                <a:gd name="connsiteX22" fmla="*/ 257866 w 257618"/>
                <a:gd name="connsiteY22" fmla="*/ 95011 h 143741"/>
                <a:gd name="connsiteX23" fmla="*/ 254091 w 257618"/>
                <a:gd name="connsiteY23" fmla="*/ 91838 h 143741"/>
                <a:gd name="connsiteX24" fmla="*/ 249373 w 257618"/>
                <a:gd name="connsiteY24" fmla="*/ 97549 h 143741"/>
                <a:gd name="connsiteX25" fmla="*/ 217289 w 257618"/>
                <a:gd name="connsiteY25" fmla="*/ 136896 h 143741"/>
                <a:gd name="connsiteX26" fmla="*/ 209740 w 257618"/>
                <a:gd name="connsiteY26" fmla="*/ 126425 h 143741"/>
                <a:gd name="connsiteX27" fmla="*/ 215401 w 257618"/>
                <a:gd name="connsiteY27" fmla="*/ 103896 h 143741"/>
                <a:gd name="connsiteX28" fmla="*/ 234589 w 257618"/>
                <a:gd name="connsiteY28" fmla="*/ 34087 h 143741"/>
                <a:gd name="connsiteX29" fmla="*/ 198416 w 257618"/>
                <a:gd name="connsiteY29" fmla="*/ 135 h 143741"/>
                <a:gd name="connsiteX30" fmla="*/ 147144 w 257618"/>
                <a:gd name="connsiteY30" fmla="*/ 30914 h 143741"/>
                <a:gd name="connsiteX31" fmla="*/ 137078 w 257618"/>
                <a:gd name="connsiteY31" fmla="*/ 8385 h 143741"/>
                <a:gd name="connsiteX32" fmla="*/ 111285 w 257618"/>
                <a:gd name="connsiteY32" fmla="*/ 135 h 143741"/>
                <a:gd name="connsiteX33" fmla="*/ 62215 w 257618"/>
                <a:gd name="connsiteY33" fmla="*/ 27741 h 143741"/>
                <a:gd name="connsiteX34" fmla="*/ 33276 w 257618"/>
                <a:gd name="connsiteY34" fmla="*/ 135 h 143741"/>
                <a:gd name="connsiteX35" fmla="*/ 9999 w 257618"/>
                <a:gd name="connsiteY35" fmla="*/ 18222 h 143741"/>
                <a:gd name="connsiteX36" fmla="*/ 248 w 257618"/>
                <a:gd name="connsiteY36" fmla="*/ 49001 h 143741"/>
                <a:gd name="connsiteX37" fmla="*/ 4022 w 257618"/>
                <a:gd name="connsiteY37" fmla="*/ 52174 h 143741"/>
                <a:gd name="connsiteX38" fmla="*/ 9370 w 257618"/>
                <a:gd name="connsiteY38" fmla="*/ 44876 h 143741"/>
                <a:gd name="connsiteX39" fmla="*/ 32332 w 257618"/>
                <a:gd name="connsiteY39" fmla="*/ 7116 h 143741"/>
                <a:gd name="connsiteX40" fmla="*/ 42083 w 257618"/>
                <a:gd name="connsiteY40" fmla="*/ 21712 h 143741"/>
                <a:gd name="connsiteX41" fmla="*/ 37050 w 257618"/>
                <a:gd name="connsiteY41" fmla="*/ 48366 h 143741"/>
                <a:gd name="connsiteX42" fmla="*/ 18806 w 257618"/>
                <a:gd name="connsiteY42" fmla="*/ 121665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7618" h="143741">
                  <a:moveTo>
                    <a:pt x="18806" y="121665"/>
                  </a:moveTo>
                  <a:cubicBezTo>
                    <a:pt x="17863" y="126425"/>
                    <a:pt x="15975" y="133723"/>
                    <a:pt x="15975" y="135309"/>
                  </a:cubicBezTo>
                  <a:cubicBezTo>
                    <a:pt x="15975" y="141021"/>
                    <a:pt x="20379" y="143877"/>
                    <a:pt x="25097" y="143877"/>
                  </a:cubicBezTo>
                  <a:cubicBezTo>
                    <a:pt x="28872" y="143877"/>
                    <a:pt x="34534" y="141338"/>
                    <a:pt x="36736" y="134992"/>
                  </a:cubicBezTo>
                  <a:cubicBezTo>
                    <a:pt x="37050" y="134358"/>
                    <a:pt x="40825" y="119444"/>
                    <a:pt x="42712" y="111511"/>
                  </a:cubicBezTo>
                  <a:lnTo>
                    <a:pt x="49632" y="82953"/>
                  </a:lnTo>
                  <a:cubicBezTo>
                    <a:pt x="51520" y="75972"/>
                    <a:pt x="53407" y="68991"/>
                    <a:pt x="54980" y="61693"/>
                  </a:cubicBezTo>
                  <a:cubicBezTo>
                    <a:pt x="56238" y="56299"/>
                    <a:pt x="58755" y="47097"/>
                    <a:pt x="59069" y="45828"/>
                  </a:cubicBezTo>
                  <a:cubicBezTo>
                    <a:pt x="63787" y="35991"/>
                    <a:pt x="80459" y="7116"/>
                    <a:pt x="110341" y="7116"/>
                  </a:cubicBezTo>
                  <a:cubicBezTo>
                    <a:pt x="124496" y="7116"/>
                    <a:pt x="127327" y="18856"/>
                    <a:pt x="127327" y="29328"/>
                  </a:cubicBezTo>
                  <a:cubicBezTo>
                    <a:pt x="127327" y="37260"/>
                    <a:pt x="125125" y="46145"/>
                    <a:pt x="122609" y="55664"/>
                  </a:cubicBezTo>
                  <a:lnTo>
                    <a:pt x="113801" y="92472"/>
                  </a:lnTo>
                  <a:lnTo>
                    <a:pt x="107510" y="116588"/>
                  </a:lnTo>
                  <a:cubicBezTo>
                    <a:pt x="106252" y="122934"/>
                    <a:pt x="103421" y="133723"/>
                    <a:pt x="103421" y="135309"/>
                  </a:cubicBezTo>
                  <a:cubicBezTo>
                    <a:pt x="103421" y="141021"/>
                    <a:pt x="107825" y="143877"/>
                    <a:pt x="112543" y="143877"/>
                  </a:cubicBezTo>
                  <a:cubicBezTo>
                    <a:pt x="122294" y="143877"/>
                    <a:pt x="124181" y="135944"/>
                    <a:pt x="126698" y="125790"/>
                  </a:cubicBezTo>
                  <a:cubicBezTo>
                    <a:pt x="131101" y="108021"/>
                    <a:pt x="142740" y="61693"/>
                    <a:pt x="145571" y="49318"/>
                  </a:cubicBezTo>
                  <a:cubicBezTo>
                    <a:pt x="146515" y="45193"/>
                    <a:pt x="163186" y="7116"/>
                    <a:pt x="197472" y="7116"/>
                  </a:cubicBezTo>
                  <a:cubicBezTo>
                    <a:pt x="210998" y="7116"/>
                    <a:pt x="214458" y="17904"/>
                    <a:pt x="214458" y="29328"/>
                  </a:cubicBezTo>
                  <a:cubicBezTo>
                    <a:pt x="214458" y="47414"/>
                    <a:pt x="201247" y="83588"/>
                    <a:pt x="194956" y="100405"/>
                  </a:cubicBezTo>
                  <a:cubicBezTo>
                    <a:pt x="192125" y="108021"/>
                    <a:pt x="190866" y="111511"/>
                    <a:pt x="190866" y="117857"/>
                  </a:cubicBezTo>
                  <a:cubicBezTo>
                    <a:pt x="190866" y="132771"/>
                    <a:pt x="201876" y="143877"/>
                    <a:pt x="216660" y="143877"/>
                  </a:cubicBezTo>
                  <a:cubicBezTo>
                    <a:pt x="246228" y="143877"/>
                    <a:pt x="257866" y="97549"/>
                    <a:pt x="257866" y="95011"/>
                  </a:cubicBezTo>
                  <a:cubicBezTo>
                    <a:pt x="257866" y="91838"/>
                    <a:pt x="255035" y="91838"/>
                    <a:pt x="254091" y="91838"/>
                  </a:cubicBezTo>
                  <a:cubicBezTo>
                    <a:pt x="250946" y="91838"/>
                    <a:pt x="250946" y="92790"/>
                    <a:pt x="249373" y="97549"/>
                  </a:cubicBezTo>
                  <a:cubicBezTo>
                    <a:pt x="244655" y="114367"/>
                    <a:pt x="234589" y="136896"/>
                    <a:pt x="217289" y="136896"/>
                  </a:cubicBezTo>
                  <a:cubicBezTo>
                    <a:pt x="211941" y="136896"/>
                    <a:pt x="209740" y="133723"/>
                    <a:pt x="209740" y="126425"/>
                  </a:cubicBezTo>
                  <a:cubicBezTo>
                    <a:pt x="209740" y="118492"/>
                    <a:pt x="212570" y="110876"/>
                    <a:pt x="215401" y="103896"/>
                  </a:cubicBezTo>
                  <a:cubicBezTo>
                    <a:pt x="221378" y="87395"/>
                    <a:pt x="234589" y="52174"/>
                    <a:pt x="234589" y="34087"/>
                  </a:cubicBezTo>
                  <a:cubicBezTo>
                    <a:pt x="234589" y="13462"/>
                    <a:pt x="222007" y="135"/>
                    <a:pt x="198416" y="135"/>
                  </a:cubicBezTo>
                  <a:cubicBezTo>
                    <a:pt x="174824" y="135"/>
                    <a:pt x="158782" y="14097"/>
                    <a:pt x="147144" y="30914"/>
                  </a:cubicBezTo>
                  <a:cubicBezTo>
                    <a:pt x="146829" y="26789"/>
                    <a:pt x="145885" y="16000"/>
                    <a:pt x="137078" y="8385"/>
                  </a:cubicBezTo>
                  <a:cubicBezTo>
                    <a:pt x="129214" y="1721"/>
                    <a:pt x="119149" y="135"/>
                    <a:pt x="111285" y="135"/>
                  </a:cubicBezTo>
                  <a:cubicBezTo>
                    <a:pt x="82975" y="135"/>
                    <a:pt x="67562" y="20443"/>
                    <a:pt x="62215" y="27741"/>
                  </a:cubicBezTo>
                  <a:cubicBezTo>
                    <a:pt x="60642" y="9654"/>
                    <a:pt x="47431" y="135"/>
                    <a:pt x="33276" y="135"/>
                  </a:cubicBezTo>
                  <a:cubicBezTo>
                    <a:pt x="18806" y="135"/>
                    <a:pt x="12830" y="12510"/>
                    <a:pt x="9999" y="18222"/>
                  </a:cubicBezTo>
                  <a:cubicBezTo>
                    <a:pt x="4337" y="29328"/>
                    <a:pt x="248" y="48049"/>
                    <a:pt x="248" y="49001"/>
                  </a:cubicBezTo>
                  <a:cubicBezTo>
                    <a:pt x="248" y="52174"/>
                    <a:pt x="3393" y="52174"/>
                    <a:pt x="4022" y="52174"/>
                  </a:cubicBezTo>
                  <a:cubicBezTo>
                    <a:pt x="7168" y="52174"/>
                    <a:pt x="7483" y="51857"/>
                    <a:pt x="9370" y="44876"/>
                  </a:cubicBezTo>
                  <a:cubicBezTo>
                    <a:pt x="14717" y="22347"/>
                    <a:pt x="21008" y="7116"/>
                    <a:pt x="32332" y="7116"/>
                  </a:cubicBezTo>
                  <a:cubicBezTo>
                    <a:pt x="37365" y="7116"/>
                    <a:pt x="42083" y="9654"/>
                    <a:pt x="42083" y="21712"/>
                  </a:cubicBezTo>
                  <a:cubicBezTo>
                    <a:pt x="42083" y="28376"/>
                    <a:pt x="41140" y="31866"/>
                    <a:pt x="37050" y="48366"/>
                  </a:cubicBezTo>
                  <a:lnTo>
                    <a:pt x="18806" y="121665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7" name="任意形状 10076">
              <a:extLst>
                <a:ext uri="{FF2B5EF4-FFF2-40B4-BE49-F238E27FC236}">
                  <a16:creationId xmlns:a16="http://schemas.microsoft.com/office/drawing/2014/main" id="{FC25F08E-7232-A060-1753-937AE2ABBCDC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8770673" y="6046180"/>
              <a:ext cx="74423" cy="141044"/>
            </a:xfrm>
            <a:custGeom>
              <a:avLst/>
              <a:gdLst>
                <a:gd name="connsiteX0" fmla="*/ 45175 w 74423"/>
                <a:gd name="connsiteY0" fmla="*/ 51223 h 141044"/>
                <a:gd name="connsiteX1" fmla="*/ 67634 w 74423"/>
                <a:gd name="connsiteY1" fmla="*/ 51223 h 141044"/>
                <a:gd name="connsiteX2" fmla="*/ 74680 w 74423"/>
                <a:gd name="connsiteY2" fmla="*/ 46337 h 141044"/>
                <a:gd name="connsiteX3" fmla="*/ 68074 w 74423"/>
                <a:gd name="connsiteY3" fmla="*/ 43227 h 141044"/>
                <a:gd name="connsiteX4" fmla="*/ 47156 w 74423"/>
                <a:gd name="connsiteY4" fmla="*/ 43227 h 141044"/>
                <a:gd name="connsiteX5" fmla="*/ 55303 w 74423"/>
                <a:gd name="connsiteY5" fmla="*/ 10354 h 141044"/>
                <a:gd name="connsiteX6" fmla="*/ 55964 w 74423"/>
                <a:gd name="connsiteY6" fmla="*/ 7244 h 141044"/>
                <a:gd name="connsiteX7" fmla="*/ 48477 w 74423"/>
                <a:gd name="connsiteY7" fmla="*/ 136 h 141044"/>
                <a:gd name="connsiteX8" fmla="*/ 38129 w 74423"/>
                <a:gd name="connsiteY8" fmla="*/ 9687 h 141044"/>
                <a:gd name="connsiteX9" fmla="*/ 29762 w 74423"/>
                <a:gd name="connsiteY9" fmla="*/ 43227 h 141044"/>
                <a:gd name="connsiteX10" fmla="*/ 7303 w 74423"/>
                <a:gd name="connsiteY10" fmla="*/ 43227 h 141044"/>
                <a:gd name="connsiteX11" fmla="*/ 257 w 74423"/>
                <a:gd name="connsiteY11" fmla="*/ 48114 h 141044"/>
                <a:gd name="connsiteX12" fmla="*/ 6862 w 74423"/>
                <a:gd name="connsiteY12" fmla="*/ 51223 h 141044"/>
                <a:gd name="connsiteX13" fmla="*/ 27780 w 74423"/>
                <a:gd name="connsiteY13" fmla="*/ 51223 h 141044"/>
                <a:gd name="connsiteX14" fmla="*/ 14789 w 74423"/>
                <a:gd name="connsiteY14" fmla="*/ 103643 h 141044"/>
                <a:gd name="connsiteX15" fmla="*/ 11486 w 74423"/>
                <a:gd name="connsiteY15" fmla="*/ 120080 h 141044"/>
                <a:gd name="connsiteX16" fmla="*/ 35046 w 74423"/>
                <a:gd name="connsiteY16" fmla="*/ 141181 h 141044"/>
                <a:gd name="connsiteX17" fmla="*/ 73358 w 74423"/>
                <a:gd name="connsiteY17" fmla="*/ 107197 h 141044"/>
                <a:gd name="connsiteX18" fmla="*/ 69836 w 74423"/>
                <a:gd name="connsiteY18" fmla="*/ 104310 h 141044"/>
                <a:gd name="connsiteX19" fmla="*/ 65212 w 74423"/>
                <a:gd name="connsiteY19" fmla="*/ 108530 h 141044"/>
                <a:gd name="connsiteX20" fmla="*/ 35707 w 74423"/>
                <a:gd name="connsiteY20" fmla="*/ 134962 h 141044"/>
                <a:gd name="connsiteX21" fmla="*/ 28000 w 74423"/>
                <a:gd name="connsiteY21" fmla="*/ 124078 h 141044"/>
                <a:gd name="connsiteX22" fmla="*/ 29321 w 74423"/>
                <a:gd name="connsiteY22" fmla="*/ 114971 h 141044"/>
                <a:gd name="connsiteX23" fmla="*/ 45175 w 74423"/>
                <a:gd name="connsiteY23" fmla="*/ 51223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75" y="51223"/>
                  </a:moveTo>
                  <a:lnTo>
                    <a:pt x="67634" y="51223"/>
                  </a:lnTo>
                  <a:cubicBezTo>
                    <a:pt x="71817" y="51223"/>
                    <a:pt x="74680" y="51223"/>
                    <a:pt x="74680" y="46337"/>
                  </a:cubicBezTo>
                  <a:cubicBezTo>
                    <a:pt x="74680" y="43227"/>
                    <a:pt x="71817" y="43227"/>
                    <a:pt x="68074" y="43227"/>
                  </a:cubicBezTo>
                  <a:lnTo>
                    <a:pt x="47156" y="43227"/>
                  </a:lnTo>
                  <a:lnTo>
                    <a:pt x="55303" y="10354"/>
                  </a:lnTo>
                  <a:cubicBezTo>
                    <a:pt x="55523" y="9243"/>
                    <a:pt x="55964" y="8133"/>
                    <a:pt x="55964" y="7244"/>
                  </a:cubicBezTo>
                  <a:cubicBezTo>
                    <a:pt x="55964" y="3246"/>
                    <a:pt x="52881" y="136"/>
                    <a:pt x="48477" y="136"/>
                  </a:cubicBezTo>
                  <a:cubicBezTo>
                    <a:pt x="42973" y="136"/>
                    <a:pt x="39670" y="3912"/>
                    <a:pt x="38129" y="9687"/>
                  </a:cubicBezTo>
                  <a:cubicBezTo>
                    <a:pt x="36587" y="15240"/>
                    <a:pt x="39450" y="4579"/>
                    <a:pt x="29762" y="43227"/>
                  </a:cubicBezTo>
                  <a:lnTo>
                    <a:pt x="7303" y="43227"/>
                  </a:lnTo>
                  <a:cubicBezTo>
                    <a:pt x="3119" y="43227"/>
                    <a:pt x="257" y="43227"/>
                    <a:pt x="257" y="48114"/>
                  </a:cubicBezTo>
                  <a:cubicBezTo>
                    <a:pt x="257" y="51223"/>
                    <a:pt x="2899" y="51223"/>
                    <a:pt x="6862" y="51223"/>
                  </a:cubicBezTo>
                  <a:lnTo>
                    <a:pt x="27780" y="51223"/>
                  </a:lnTo>
                  <a:lnTo>
                    <a:pt x="14789" y="103643"/>
                  </a:lnTo>
                  <a:cubicBezTo>
                    <a:pt x="13468" y="109196"/>
                    <a:pt x="11486" y="117192"/>
                    <a:pt x="11486" y="120080"/>
                  </a:cubicBezTo>
                  <a:cubicBezTo>
                    <a:pt x="11486" y="133185"/>
                    <a:pt x="22495" y="141181"/>
                    <a:pt x="35046" y="141181"/>
                  </a:cubicBezTo>
                  <a:cubicBezTo>
                    <a:pt x="59487" y="141181"/>
                    <a:pt x="73358" y="110085"/>
                    <a:pt x="73358" y="107197"/>
                  </a:cubicBezTo>
                  <a:cubicBezTo>
                    <a:pt x="73358" y="104310"/>
                    <a:pt x="70496" y="104310"/>
                    <a:pt x="69836" y="104310"/>
                  </a:cubicBezTo>
                  <a:cubicBezTo>
                    <a:pt x="67193" y="104310"/>
                    <a:pt x="66973" y="104754"/>
                    <a:pt x="65212" y="108530"/>
                  </a:cubicBezTo>
                  <a:cubicBezTo>
                    <a:pt x="59046" y="122523"/>
                    <a:pt x="47817" y="134962"/>
                    <a:pt x="35707" y="134962"/>
                  </a:cubicBezTo>
                  <a:cubicBezTo>
                    <a:pt x="31083" y="134962"/>
                    <a:pt x="28000" y="132074"/>
                    <a:pt x="28000" y="124078"/>
                  </a:cubicBezTo>
                  <a:cubicBezTo>
                    <a:pt x="28000" y="121857"/>
                    <a:pt x="28881" y="117192"/>
                    <a:pt x="29321" y="114971"/>
                  </a:cubicBezTo>
                  <a:lnTo>
                    <a:pt x="45175" y="5122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8" name="任意形状 10077">
              <a:extLst>
                <a:ext uri="{FF2B5EF4-FFF2-40B4-BE49-F238E27FC236}">
                  <a16:creationId xmlns:a16="http://schemas.microsoft.com/office/drawing/2014/main" id="{22FE995D-0DA9-5E2A-CE1B-921661A618C0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8001931" y="6266397"/>
              <a:ext cx="1353555" cy="12691"/>
            </a:xfrm>
            <a:custGeom>
              <a:avLst/>
              <a:gdLst>
                <a:gd name="connsiteX0" fmla="*/ 0 w 1353555"/>
                <a:gd name="connsiteY0" fmla="*/ 0 h 12691"/>
                <a:gd name="connsiteX1" fmla="*/ 1353556 w 1353555"/>
                <a:gd name="connsiteY1" fmla="*/ 0 h 12691"/>
                <a:gd name="connsiteX2" fmla="*/ 1353556 w 1353555"/>
                <a:gd name="connsiteY2" fmla="*/ 12692 h 12691"/>
                <a:gd name="connsiteX3" fmla="*/ 0 w 1353555"/>
                <a:gd name="connsiteY3" fmla="*/ 12692 h 1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3555" h="12691">
                  <a:moveTo>
                    <a:pt x="0" y="0"/>
                  </a:moveTo>
                  <a:lnTo>
                    <a:pt x="1353556" y="0"/>
                  </a:lnTo>
                  <a:lnTo>
                    <a:pt x="1353556" y="12692"/>
                  </a:lnTo>
                  <a:lnTo>
                    <a:pt x="0" y="12692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9" name="任意形状 10078">
              <a:extLst>
                <a:ext uri="{FF2B5EF4-FFF2-40B4-BE49-F238E27FC236}">
                  <a16:creationId xmlns:a16="http://schemas.microsoft.com/office/drawing/2014/main" id="{517BF65C-6052-5CBC-0BD2-DC72CD7B2642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8036532" y="6329855"/>
              <a:ext cx="286242" cy="380773"/>
            </a:xfrm>
            <a:custGeom>
              <a:avLst/>
              <a:gdLst>
                <a:gd name="connsiteX0" fmla="*/ 99002 w 286242"/>
                <a:gd name="connsiteY0" fmla="*/ 380915 h 380773"/>
                <a:gd name="connsiteX1" fmla="*/ 112213 w 286242"/>
                <a:gd name="connsiteY1" fmla="*/ 374569 h 380773"/>
                <a:gd name="connsiteX2" fmla="*/ 284273 w 286242"/>
                <a:gd name="connsiteY2" fmla="*/ 12199 h 380773"/>
                <a:gd name="connsiteX3" fmla="*/ 286475 w 286242"/>
                <a:gd name="connsiteY3" fmla="*/ 6488 h 380773"/>
                <a:gd name="connsiteX4" fmla="*/ 280184 w 286242"/>
                <a:gd name="connsiteY4" fmla="*/ 141 h 380773"/>
                <a:gd name="connsiteX5" fmla="*/ 273264 w 286242"/>
                <a:gd name="connsiteY5" fmla="*/ 6488 h 380773"/>
                <a:gd name="connsiteX6" fmla="*/ 110955 w 286242"/>
                <a:gd name="connsiteY6" fmla="*/ 347914 h 380773"/>
                <a:gd name="connsiteX7" fmla="*/ 43955 w 286242"/>
                <a:gd name="connsiteY7" fmla="*/ 190528 h 380773"/>
                <a:gd name="connsiteX8" fmla="*/ 233 w 286242"/>
                <a:gd name="connsiteY8" fmla="*/ 224480 h 380773"/>
                <a:gd name="connsiteX9" fmla="*/ 4951 w 286242"/>
                <a:gd name="connsiteY9" fmla="*/ 229557 h 380773"/>
                <a:gd name="connsiteX10" fmla="*/ 27284 w 286242"/>
                <a:gd name="connsiteY10" fmla="*/ 212423 h 380773"/>
                <a:gd name="connsiteX11" fmla="*/ 99002 w 286242"/>
                <a:gd name="connsiteY11" fmla="*/ 380915 h 38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242" h="380773">
                  <a:moveTo>
                    <a:pt x="99002" y="380915"/>
                  </a:moveTo>
                  <a:cubicBezTo>
                    <a:pt x="108753" y="380915"/>
                    <a:pt x="109068" y="380597"/>
                    <a:pt x="112213" y="374569"/>
                  </a:cubicBezTo>
                  <a:lnTo>
                    <a:pt x="284273" y="12199"/>
                  </a:lnTo>
                  <a:cubicBezTo>
                    <a:pt x="286475" y="8074"/>
                    <a:pt x="286475" y="7439"/>
                    <a:pt x="286475" y="6488"/>
                  </a:cubicBezTo>
                  <a:cubicBezTo>
                    <a:pt x="286475" y="2997"/>
                    <a:pt x="283959" y="141"/>
                    <a:pt x="280184" y="141"/>
                  </a:cubicBezTo>
                  <a:cubicBezTo>
                    <a:pt x="276095" y="141"/>
                    <a:pt x="274837" y="2997"/>
                    <a:pt x="273264" y="6488"/>
                  </a:cubicBezTo>
                  <a:lnTo>
                    <a:pt x="110955" y="347914"/>
                  </a:lnTo>
                  <a:lnTo>
                    <a:pt x="43955" y="190528"/>
                  </a:lnTo>
                  <a:lnTo>
                    <a:pt x="233" y="224480"/>
                  </a:lnTo>
                  <a:lnTo>
                    <a:pt x="4951" y="229557"/>
                  </a:lnTo>
                  <a:lnTo>
                    <a:pt x="27284" y="212423"/>
                  </a:lnTo>
                  <a:lnTo>
                    <a:pt x="99002" y="380915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80" name="任意形状 10079">
              <a:extLst>
                <a:ext uri="{FF2B5EF4-FFF2-40B4-BE49-F238E27FC236}">
                  <a16:creationId xmlns:a16="http://schemas.microsoft.com/office/drawing/2014/main" id="{EA3C9993-615A-2D0C-34DC-F0AAC290FFC5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8316484" y="6329855"/>
              <a:ext cx="1039002" cy="12691"/>
            </a:xfrm>
            <a:custGeom>
              <a:avLst/>
              <a:gdLst>
                <a:gd name="connsiteX0" fmla="*/ 0 w 1039002"/>
                <a:gd name="connsiteY0" fmla="*/ 0 h 12691"/>
                <a:gd name="connsiteX1" fmla="*/ 1039003 w 1039002"/>
                <a:gd name="connsiteY1" fmla="*/ 0 h 12691"/>
                <a:gd name="connsiteX2" fmla="*/ 1039003 w 1039002"/>
                <a:gd name="connsiteY2" fmla="*/ 12692 h 12691"/>
                <a:gd name="connsiteX3" fmla="*/ 0 w 1039002"/>
                <a:gd name="connsiteY3" fmla="*/ 12692 h 1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9002" h="12691">
                  <a:moveTo>
                    <a:pt x="0" y="0"/>
                  </a:moveTo>
                  <a:lnTo>
                    <a:pt x="1039003" y="0"/>
                  </a:lnTo>
                  <a:lnTo>
                    <a:pt x="1039003" y="12692"/>
                  </a:lnTo>
                  <a:lnTo>
                    <a:pt x="0" y="12692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81" name="任意形状 10080">
              <a:extLst>
                <a:ext uri="{FF2B5EF4-FFF2-40B4-BE49-F238E27FC236}">
                  <a16:creationId xmlns:a16="http://schemas.microsoft.com/office/drawing/2014/main" id="{911BD6EB-5118-B6CB-D9A4-9249DD66CFB3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8347625" y="6375866"/>
              <a:ext cx="72976" cy="317311"/>
            </a:xfrm>
            <a:custGeom>
              <a:avLst/>
              <a:gdLst>
                <a:gd name="connsiteX0" fmla="*/ 73219 w 72976"/>
                <a:gd name="connsiteY0" fmla="*/ 314288 h 317311"/>
                <a:gd name="connsiteX1" fmla="*/ 67871 w 72976"/>
                <a:gd name="connsiteY1" fmla="*/ 307307 h 317311"/>
                <a:gd name="connsiteX2" fmla="*/ 18487 w 72976"/>
                <a:gd name="connsiteY2" fmla="*/ 158805 h 317311"/>
                <a:gd name="connsiteX3" fmla="*/ 69129 w 72976"/>
                <a:gd name="connsiteY3" fmla="*/ 8717 h 317311"/>
                <a:gd name="connsiteX4" fmla="*/ 73219 w 72976"/>
                <a:gd name="connsiteY4" fmla="*/ 3323 h 317311"/>
                <a:gd name="connsiteX5" fmla="*/ 70073 w 72976"/>
                <a:gd name="connsiteY5" fmla="*/ 150 h 317311"/>
                <a:gd name="connsiteX6" fmla="*/ 20059 w 72976"/>
                <a:gd name="connsiteY6" fmla="*/ 62026 h 317311"/>
                <a:gd name="connsiteX7" fmla="*/ 242 w 72976"/>
                <a:gd name="connsiteY7" fmla="*/ 158805 h 317311"/>
                <a:gd name="connsiteX8" fmla="*/ 21003 w 72976"/>
                <a:gd name="connsiteY8" fmla="*/ 257807 h 317311"/>
                <a:gd name="connsiteX9" fmla="*/ 70073 w 72976"/>
                <a:gd name="connsiteY9" fmla="*/ 317461 h 317311"/>
                <a:gd name="connsiteX10" fmla="*/ 73219 w 72976"/>
                <a:gd name="connsiteY10" fmla="*/ 314288 h 31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76" h="317311">
                  <a:moveTo>
                    <a:pt x="73219" y="314288"/>
                  </a:moveTo>
                  <a:cubicBezTo>
                    <a:pt x="73219" y="313336"/>
                    <a:pt x="73219" y="312701"/>
                    <a:pt x="67871" y="307307"/>
                  </a:cubicBezTo>
                  <a:cubicBezTo>
                    <a:pt x="28552" y="267326"/>
                    <a:pt x="18487" y="207354"/>
                    <a:pt x="18487" y="158805"/>
                  </a:cubicBezTo>
                  <a:cubicBezTo>
                    <a:pt x="18487" y="103593"/>
                    <a:pt x="30440" y="48381"/>
                    <a:pt x="69129" y="8717"/>
                  </a:cubicBezTo>
                  <a:cubicBezTo>
                    <a:pt x="73219" y="4910"/>
                    <a:pt x="73219" y="4275"/>
                    <a:pt x="73219" y="3323"/>
                  </a:cubicBezTo>
                  <a:cubicBezTo>
                    <a:pt x="73219" y="1102"/>
                    <a:pt x="71960" y="150"/>
                    <a:pt x="70073" y="150"/>
                  </a:cubicBezTo>
                  <a:cubicBezTo>
                    <a:pt x="66928" y="150"/>
                    <a:pt x="38618" y="21727"/>
                    <a:pt x="20059" y="62026"/>
                  </a:cubicBezTo>
                  <a:cubicBezTo>
                    <a:pt x="4017" y="96930"/>
                    <a:pt x="242" y="132151"/>
                    <a:pt x="242" y="158805"/>
                  </a:cubicBezTo>
                  <a:cubicBezTo>
                    <a:pt x="242" y="183556"/>
                    <a:pt x="3703" y="221950"/>
                    <a:pt x="21003" y="257807"/>
                  </a:cubicBezTo>
                  <a:cubicBezTo>
                    <a:pt x="39876" y="296836"/>
                    <a:pt x="66928" y="317461"/>
                    <a:pt x="70073" y="317461"/>
                  </a:cubicBezTo>
                  <a:cubicBezTo>
                    <a:pt x="71960" y="317461"/>
                    <a:pt x="73219" y="316509"/>
                    <a:pt x="73219" y="314288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82" name="任意形状 10081">
              <a:extLst>
                <a:ext uri="{FF2B5EF4-FFF2-40B4-BE49-F238E27FC236}">
                  <a16:creationId xmlns:a16="http://schemas.microsoft.com/office/drawing/2014/main" id="{F4E2AB6E-CDB6-D23E-CB7D-CA219020B108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8487276" y="6393636"/>
              <a:ext cx="83985" cy="48865"/>
            </a:xfrm>
            <a:custGeom>
              <a:avLst/>
              <a:gdLst>
                <a:gd name="connsiteX0" fmla="*/ 42397 w 83985"/>
                <a:gd name="connsiteY0" fmla="*/ 150 h 48865"/>
                <a:gd name="connsiteX1" fmla="*/ 247 w 83985"/>
                <a:gd name="connsiteY1" fmla="*/ 43304 h 48865"/>
                <a:gd name="connsiteX2" fmla="*/ 5909 w 83985"/>
                <a:gd name="connsiteY2" fmla="*/ 49016 h 48865"/>
                <a:gd name="connsiteX3" fmla="*/ 42397 w 83985"/>
                <a:gd name="connsiteY3" fmla="*/ 16650 h 48865"/>
                <a:gd name="connsiteX4" fmla="*/ 78570 w 83985"/>
                <a:gd name="connsiteY4" fmla="*/ 49016 h 48865"/>
                <a:gd name="connsiteX5" fmla="*/ 84232 w 83985"/>
                <a:gd name="connsiteY5" fmla="*/ 43304 h 48865"/>
                <a:gd name="connsiteX6" fmla="*/ 42397 w 83985"/>
                <a:gd name="connsiteY6" fmla="*/ 150 h 4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985" h="48865">
                  <a:moveTo>
                    <a:pt x="42397" y="150"/>
                  </a:moveTo>
                  <a:lnTo>
                    <a:pt x="247" y="43304"/>
                  </a:lnTo>
                  <a:lnTo>
                    <a:pt x="5909" y="49016"/>
                  </a:lnTo>
                  <a:lnTo>
                    <a:pt x="42397" y="16650"/>
                  </a:lnTo>
                  <a:lnTo>
                    <a:pt x="78570" y="49016"/>
                  </a:lnTo>
                  <a:lnTo>
                    <a:pt x="84232" y="43304"/>
                  </a:lnTo>
                  <a:lnTo>
                    <a:pt x="42397" y="150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83" name="任意形状 10082">
              <a:extLst>
                <a:ext uri="{FF2B5EF4-FFF2-40B4-BE49-F238E27FC236}">
                  <a16:creationId xmlns:a16="http://schemas.microsoft.com/office/drawing/2014/main" id="{513FFBC1-FAC8-7889-56A8-AB309355245B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8447932" y="6473598"/>
              <a:ext cx="138088" cy="143741"/>
            </a:xfrm>
            <a:custGeom>
              <a:avLst/>
              <a:gdLst>
                <a:gd name="connsiteX0" fmla="*/ 138335 w 138088"/>
                <a:gd name="connsiteY0" fmla="*/ 22362 h 143741"/>
                <a:gd name="connsiteX1" fmla="*/ 124494 w 138088"/>
                <a:gd name="connsiteY1" fmla="*/ 150 h 143741"/>
                <a:gd name="connsiteX2" fmla="*/ 109081 w 138088"/>
                <a:gd name="connsiteY2" fmla="*/ 15381 h 143741"/>
                <a:gd name="connsiteX3" fmla="*/ 114114 w 138088"/>
                <a:gd name="connsiteY3" fmla="*/ 24900 h 143741"/>
                <a:gd name="connsiteX4" fmla="*/ 124809 w 138088"/>
                <a:gd name="connsiteY4" fmla="*/ 50920 h 143741"/>
                <a:gd name="connsiteX5" fmla="*/ 68819 w 138088"/>
                <a:gd name="connsiteY5" fmla="*/ 136911 h 143741"/>
                <a:gd name="connsiteX6" fmla="*/ 45542 w 138088"/>
                <a:gd name="connsiteY6" fmla="*/ 109305 h 143741"/>
                <a:gd name="connsiteX7" fmla="*/ 63786 w 138088"/>
                <a:gd name="connsiteY7" fmla="*/ 42035 h 143741"/>
                <a:gd name="connsiteX8" fmla="*/ 67561 w 138088"/>
                <a:gd name="connsiteY8" fmla="*/ 26169 h 143741"/>
                <a:gd name="connsiteX9" fmla="*/ 41767 w 138088"/>
                <a:gd name="connsiteY9" fmla="*/ 150 h 143741"/>
                <a:gd name="connsiteX10" fmla="*/ 246 w 138088"/>
                <a:gd name="connsiteY10" fmla="*/ 49016 h 143741"/>
                <a:gd name="connsiteX11" fmla="*/ 4021 w 138088"/>
                <a:gd name="connsiteY11" fmla="*/ 52189 h 143741"/>
                <a:gd name="connsiteX12" fmla="*/ 9054 w 138088"/>
                <a:gd name="connsiteY12" fmla="*/ 46477 h 143741"/>
                <a:gd name="connsiteX13" fmla="*/ 40824 w 138088"/>
                <a:gd name="connsiteY13" fmla="*/ 7131 h 143741"/>
                <a:gd name="connsiteX14" fmla="*/ 48687 w 138088"/>
                <a:gd name="connsiteY14" fmla="*/ 17285 h 143741"/>
                <a:gd name="connsiteX15" fmla="*/ 43340 w 138088"/>
                <a:gd name="connsiteY15" fmla="*/ 39496 h 143741"/>
                <a:gd name="connsiteX16" fmla="*/ 25411 w 138088"/>
                <a:gd name="connsiteY16" fmla="*/ 104545 h 143741"/>
                <a:gd name="connsiteX17" fmla="*/ 67561 w 138088"/>
                <a:gd name="connsiteY17" fmla="*/ 143892 h 143741"/>
                <a:gd name="connsiteX18" fmla="*/ 138335 w 138088"/>
                <a:gd name="connsiteY18" fmla="*/ 22362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088" h="143741">
                  <a:moveTo>
                    <a:pt x="138335" y="22362"/>
                  </a:moveTo>
                  <a:cubicBezTo>
                    <a:pt x="138335" y="5227"/>
                    <a:pt x="130156" y="150"/>
                    <a:pt x="124494" y="150"/>
                  </a:cubicBezTo>
                  <a:cubicBezTo>
                    <a:pt x="116631" y="150"/>
                    <a:pt x="109081" y="8400"/>
                    <a:pt x="109081" y="15381"/>
                  </a:cubicBezTo>
                  <a:cubicBezTo>
                    <a:pt x="109081" y="19506"/>
                    <a:pt x="110654" y="21410"/>
                    <a:pt x="114114" y="24900"/>
                  </a:cubicBezTo>
                  <a:cubicBezTo>
                    <a:pt x="120720" y="31246"/>
                    <a:pt x="124809" y="39496"/>
                    <a:pt x="124809" y="50920"/>
                  </a:cubicBezTo>
                  <a:cubicBezTo>
                    <a:pt x="124809" y="64247"/>
                    <a:pt x="105621" y="136911"/>
                    <a:pt x="68819" y="136911"/>
                  </a:cubicBezTo>
                  <a:cubicBezTo>
                    <a:pt x="52777" y="136911"/>
                    <a:pt x="45542" y="125805"/>
                    <a:pt x="45542" y="109305"/>
                  </a:cubicBezTo>
                  <a:cubicBezTo>
                    <a:pt x="45542" y="91535"/>
                    <a:pt x="54035" y="68372"/>
                    <a:pt x="63786" y="42035"/>
                  </a:cubicBezTo>
                  <a:cubicBezTo>
                    <a:pt x="65988" y="36641"/>
                    <a:pt x="67561" y="32198"/>
                    <a:pt x="67561" y="26169"/>
                  </a:cubicBezTo>
                  <a:cubicBezTo>
                    <a:pt x="67561" y="11890"/>
                    <a:pt x="57495" y="150"/>
                    <a:pt x="41767" y="150"/>
                  </a:cubicBezTo>
                  <a:cubicBezTo>
                    <a:pt x="12199" y="150"/>
                    <a:pt x="246" y="46160"/>
                    <a:pt x="246" y="49016"/>
                  </a:cubicBezTo>
                  <a:cubicBezTo>
                    <a:pt x="246" y="52189"/>
                    <a:pt x="3392" y="52189"/>
                    <a:pt x="4021" y="52189"/>
                  </a:cubicBezTo>
                  <a:cubicBezTo>
                    <a:pt x="7167" y="52189"/>
                    <a:pt x="7481" y="51554"/>
                    <a:pt x="9054" y="46477"/>
                  </a:cubicBezTo>
                  <a:cubicBezTo>
                    <a:pt x="18176" y="14429"/>
                    <a:pt x="31702" y="7131"/>
                    <a:pt x="40824" y="7131"/>
                  </a:cubicBezTo>
                  <a:cubicBezTo>
                    <a:pt x="43340" y="7131"/>
                    <a:pt x="48687" y="7131"/>
                    <a:pt x="48687" y="17285"/>
                  </a:cubicBezTo>
                  <a:cubicBezTo>
                    <a:pt x="48687" y="25217"/>
                    <a:pt x="45542" y="33785"/>
                    <a:pt x="43340" y="39496"/>
                  </a:cubicBezTo>
                  <a:cubicBezTo>
                    <a:pt x="29500" y="76305"/>
                    <a:pt x="25411" y="90901"/>
                    <a:pt x="25411" y="104545"/>
                  </a:cubicBezTo>
                  <a:cubicBezTo>
                    <a:pt x="25411" y="138815"/>
                    <a:pt x="53091" y="143892"/>
                    <a:pt x="67561" y="143892"/>
                  </a:cubicBezTo>
                  <a:cubicBezTo>
                    <a:pt x="120405" y="143892"/>
                    <a:pt x="138335" y="38862"/>
                    <a:pt x="138335" y="22362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84" name="任意形状 10083">
              <a:extLst>
                <a:ext uri="{FF2B5EF4-FFF2-40B4-BE49-F238E27FC236}">
                  <a16:creationId xmlns:a16="http://schemas.microsoft.com/office/drawing/2014/main" id="{76D52348-AD37-1C1D-6548-0E6300BB1237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8600529" y="6522622"/>
              <a:ext cx="74423" cy="141044"/>
            </a:xfrm>
            <a:custGeom>
              <a:avLst/>
              <a:gdLst>
                <a:gd name="connsiteX0" fmla="*/ 45169 w 74423"/>
                <a:gd name="connsiteY0" fmla="*/ 51238 h 141044"/>
                <a:gd name="connsiteX1" fmla="*/ 67628 w 74423"/>
                <a:gd name="connsiteY1" fmla="*/ 51238 h 141044"/>
                <a:gd name="connsiteX2" fmla="*/ 74674 w 74423"/>
                <a:gd name="connsiteY2" fmla="*/ 46352 h 141044"/>
                <a:gd name="connsiteX3" fmla="*/ 68069 w 74423"/>
                <a:gd name="connsiteY3" fmla="*/ 43242 h 141044"/>
                <a:gd name="connsiteX4" fmla="*/ 47151 w 74423"/>
                <a:gd name="connsiteY4" fmla="*/ 43242 h 141044"/>
                <a:gd name="connsiteX5" fmla="*/ 55298 w 74423"/>
                <a:gd name="connsiteY5" fmla="*/ 10369 h 141044"/>
                <a:gd name="connsiteX6" fmla="*/ 55958 w 74423"/>
                <a:gd name="connsiteY6" fmla="*/ 7259 h 141044"/>
                <a:gd name="connsiteX7" fmla="*/ 48472 w 74423"/>
                <a:gd name="connsiteY7" fmla="*/ 151 h 141044"/>
                <a:gd name="connsiteX8" fmla="*/ 38123 w 74423"/>
                <a:gd name="connsiteY8" fmla="*/ 9702 h 141044"/>
                <a:gd name="connsiteX9" fmla="*/ 29756 w 74423"/>
                <a:gd name="connsiteY9" fmla="*/ 43242 h 141044"/>
                <a:gd name="connsiteX10" fmla="*/ 7297 w 74423"/>
                <a:gd name="connsiteY10" fmla="*/ 43242 h 141044"/>
                <a:gd name="connsiteX11" fmla="*/ 251 w 74423"/>
                <a:gd name="connsiteY11" fmla="*/ 48129 h 141044"/>
                <a:gd name="connsiteX12" fmla="*/ 6857 w 74423"/>
                <a:gd name="connsiteY12" fmla="*/ 51238 h 141044"/>
                <a:gd name="connsiteX13" fmla="*/ 27774 w 74423"/>
                <a:gd name="connsiteY13" fmla="*/ 51238 h 141044"/>
                <a:gd name="connsiteX14" fmla="*/ 14783 w 74423"/>
                <a:gd name="connsiteY14" fmla="*/ 103658 h 141044"/>
                <a:gd name="connsiteX15" fmla="*/ 11481 w 74423"/>
                <a:gd name="connsiteY15" fmla="*/ 120095 h 141044"/>
                <a:gd name="connsiteX16" fmla="*/ 35041 w 74423"/>
                <a:gd name="connsiteY16" fmla="*/ 141196 h 141044"/>
                <a:gd name="connsiteX17" fmla="*/ 73353 w 74423"/>
                <a:gd name="connsiteY17" fmla="*/ 107212 h 141044"/>
                <a:gd name="connsiteX18" fmla="*/ 69830 w 74423"/>
                <a:gd name="connsiteY18" fmla="*/ 104325 h 141044"/>
                <a:gd name="connsiteX19" fmla="*/ 65206 w 74423"/>
                <a:gd name="connsiteY19" fmla="*/ 108545 h 141044"/>
                <a:gd name="connsiteX20" fmla="*/ 35701 w 74423"/>
                <a:gd name="connsiteY20" fmla="*/ 134977 h 141044"/>
                <a:gd name="connsiteX21" fmla="*/ 27995 w 74423"/>
                <a:gd name="connsiteY21" fmla="*/ 124093 h 141044"/>
                <a:gd name="connsiteX22" fmla="*/ 29316 w 74423"/>
                <a:gd name="connsiteY22" fmla="*/ 114986 h 141044"/>
                <a:gd name="connsiteX23" fmla="*/ 45169 w 74423"/>
                <a:gd name="connsiteY23" fmla="*/ 51238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69" y="51238"/>
                  </a:moveTo>
                  <a:lnTo>
                    <a:pt x="67628" y="51238"/>
                  </a:lnTo>
                  <a:cubicBezTo>
                    <a:pt x="71812" y="51238"/>
                    <a:pt x="74674" y="51238"/>
                    <a:pt x="74674" y="46352"/>
                  </a:cubicBezTo>
                  <a:cubicBezTo>
                    <a:pt x="74674" y="43242"/>
                    <a:pt x="71812" y="43242"/>
                    <a:pt x="68069" y="43242"/>
                  </a:cubicBezTo>
                  <a:lnTo>
                    <a:pt x="47151" y="43242"/>
                  </a:lnTo>
                  <a:lnTo>
                    <a:pt x="55298" y="10369"/>
                  </a:lnTo>
                  <a:cubicBezTo>
                    <a:pt x="55518" y="9258"/>
                    <a:pt x="55958" y="8148"/>
                    <a:pt x="55958" y="7259"/>
                  </a:cubicBezTo>
                  <a:cubicBezTo>
                    <a:pt x="55958" y="3261"/>
                    <a:pt x="52876" y="151"/>
                    <a:pt x="48472" y="151"/>
                  </a:cubicBezTo>
                  <a:cubicBezTo>
                    <a:pt x="42967" y="151"/>
                    <a:pt x="39665" y="3927"/>
                    <a:pt x="38123" y="9702"/>
                  </a:cubicBezTo>
                  <a:cubicBezTo>
                    <a:pt x="36582" y="15255"/>
                    <a:pt x="39444" y="4594"/>
                    <a:pt x="29756" y="43242"/>
                  </a:cubicBezTo>
                  <a:lnTo>
                    <a:pt x="7297" y="43242"/>
                  </a:lnTo>
                  <a:cubicBezTo>
                    <a:pt x="3114" y="43242"/>
                    <a:pt x="251" y="43242"/>
                    <a:pt x="251" y="48129"/>
                  </a:cubicBezTo>
                  <a:cubicBezTo>
                    <a:pt x="251" y="51238"/>
                    <a:pt x="2893" y="51238"/>
                    <a:pt x="6857" y="51238"/>
                  </a:cubicBezTo>
                  <a:lnTo>
                    <a:pt x="27774" y="51238"/>
                  </a:lnTo>
                  <a:lnTo>
                    <a:pt x="14783" y="103658"/>
                  </a:lnTo>
                  <a:cubicBezTo>
                    <a:pt x="13462" y="109211"/>
                    <a:pt x="11481" y="117207"/>
                    <a:pt x="11481" y="120095"/>
                  </a:cubicBezTo>
                  <a:cubicBezTo>
                    <a:pt x="11481" y="133200"/>
                    <a:pt x="22490" y="141196"/>
                    <a:pt x="35041" y="141196"/>
                  </a:cubicBezTo>
                  <a:cubicBezTo>
                    <a:pt x="59481" y="141196"/>
                    <a:pt x="73353" y="110100"/>
                    <a:pt x="73353" y="107212"/>
                  </a:cubicBezTo>
                  <a:cubicBezTo>
                    <a:pt x="73353" y="104325"/>
                    <a:pt x="70491" y="104325"/>
                    <a:pt x="69830" y="104325"/>
                  </a:cubicBezTo>
                  <a:cubicBezTo>
                    <a:pt x="67188" y="104325"/>
                    <a:pt x="66968" y="104769"/>
                    <a:pt x="65206" y="108545"/>
                  </a:cubicBezTo>
                  <a:cubicBezTo>
                    <a:pt x="59041" y="122538"/>
                    <a:pt x="47811" y="134977"/>
                    <a:pt x="35701" y="134977"/>
                  </a:cubicBezTo>
                  <a:cubicBezTo>
                    <a:pt x="31077" y="134977"/>
                    <a:pt x="27995" y="132089"/>
                    <a:pt x="27995" y="124093"/>
                  </a:cubicBezTo>
                  <a:cubicBezTo>
                    <a:pt x="27995" y="121872"/>
                    <a:pt x="28875" y="117207"/>
                    <a:pt x="29316" y="114986"/>
                  </a:cubicBezTo>
                  <a:lnTo>
                    <a:pt x="45169" y="51238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85" name="任意形状 10084">
              <a:extLst>
                <a:ext uri="{FF2B5EF4-FFF2-40B4-BE49-F238E27FC236}">
                  <a16:creationId xmlns:a16="http://schemas.microsoft.com/office/drawing/2014/main" id="{CAC95DB9-6FD5-18DB-B2DB-6E36096C0332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8789543" y="6428857"/>
              <a:ext cx="209177" cy="211329"/>
            </a:xfrm>
            <a:custGeom>
              <a:avLst/>
              <a:gdLst>
                <a:gd name="connsiteX0" fmla="*/ 111294 w 209177"/>
                <a:gd name="connsiteY0" fmla="*/ 112161 h 211329"/>
                <a:gd name="connsiteX1" fmla="*/ 199054 w 209177"/>
                <a:gd name="connsiteY1" fmla="*/ 112161 h 211329"/>
                <a:gd name="connsiteX2" fmla="*/ 209434 w 209177"/>
                <a:gd name="connsiteY2" fmla="*/ 105814 h 211329"/>
                <a:gd name="connsiteX3" fmla="*/ 199054 w 209177"/>
                <a:gd name="connsiteY3" fmla="*/ 99468 h 211329"/>
                <a:gd name="connsiteX4" fmla="*/ 111294 w 209177"/>
                <a:gd name="connsiteY4" fmla="*/ 99468 h 211329"/>
                <a:gd name="connsiteX5" fmla="*/ 111294 w 209177"/>
                <a:gd name="connsiteY5" fmla="*/ 10621 h 211329"/>
                <a:gd name="connsiteX6" fmla="*/ 105003 w 209177"/>
                <a:gd name="connsiteY6" fmla="*/ 150 h 211329"/>
                <a:gd name="connsiteX7" fmla="*/ 98712 w 209177"/>
                <a:gd name="connsiteY7" fmla="*/ 10621 h 211329"/>
                <a:gd name="connsiteX8" fmla="*/ 98712 w 209177"/>
                <a:gd name="connsiteY8" fmla="*/ 99468 h 211329"/>
                <a:gd name="connsiteX9" fmla="*/ 10637 w 209177"/>
                <a:gd name="connsiteY9" fmla="*/ 99468 h 211329"/>
                <a:gd name="connsiteX10" fmla="*/ 257 w 209177"/>
                <a:gd name="connsiteY10" fmla="*/ 105814 h 211329"/>
                <a:gd name="connsiteX11" fmla="*/ 10637 w 209177"/>
                <a:gd name="connsiteY11" fmla="*/ 112161 h 211329"/>
                <a:gd name="connsiteX12" fmla="*/ 98712 w 209177"/>
                <a:gd name="connsiteY12" fmla="*/ 112161 h 211329"/>
                <a:gd name="connsiteX13" fmla="*/ 98712 w 209177"/>
                <a:gd name="connsiteY13" fmla="*/ 201008 h 211329"/>
                <a:gd name="connsiteX14" fmla="*/ 105003 w 209177"/>
                <a:gd name="connsiteY14" fmla="*/ 211479 h 211329"/>
                <a:gd name="connsiteX15" fmla="*/ 111294 w 209177"/>
                <a:gd name="connsiteY15" fmla="*/ 201008 h 211329"/>
                <a:gd name="connsiteX16" fmla="*/ 111294 w 209177"/>
                <a:gd name="connsiteY16" fmla="*/ 112161 h 21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9177" h="211329">
                  <a:moveTo>
                    <a:pt x="111294" y="112161"/>
                  </a:moveTo>
                  <a:lnTo>
                    <a:pt x="199054" y="112161"/>
                  </a:lnTo>
                  <a:cubicBezTo>
                    <a:pt x="203458" y="112161"/>
                    <a:pt x="209434" y="112161"/>
                    <a:pt x="209434" y="105814"/>
                  </a:cubicBezTo>
                  <a:cubicBezTo>
                    <a:pt x="209434" y="99468"/>
                    <a:pt x="203458" y="99468"/>
                    <a:pt x="199054" y="99468"/>
                  </a:cubicBezTo>
                  <a:lnTo>
                    <a:pt x="111294" y="99468"/>
                  </a:lnTo>
                  <a:lnTo>
                    <a:pt x="111294" y="10621"/>
                  </a:lnTo>
                  <a:cubicBezTo>
                    <a:pt x="111294" y="6179"/>
                    <a:pt x="111294" y="150"/>
                    <a:pt x="105003" y="150"/>
                  </a:cubicBezTo>
                  <a:cubicBezTo>
                    <a:pt x="98712" y="150"/>
                    <a:pt x="98712" y="6179"/>
                    <a:pt x="98712" y="10621"/>
                  </a:cubicBezTo>
                  <a:lnTo>
                    <a:pt x="98712" y="99468"/>
                  </a:lnTo>
                  <a:lnTo>
                    <a:pt x="10637" y="99468"/>
                  </a:lnTo>
                  <a:cubicBezTo>
                    <a:pt x="6233" y="99468"/>
                    <a:pt x="257" y="99468"/>
                    <a:pt x="257" y="105814"/>
                  </a:cubicBezTo>
                  <a:cubicBezTo>
                    <a:pt x="257" y="112161"/>
                    <a:pt x="6233" y="112161"/>
                    <a:pt x="10637" y="112161"/>
                  </a:cubicBezTo>
                  <a:lnTo>
                    <a:pt x="98712" y="112161"/>
                  </a:lnTo>
                  <a:lnTo>
                    <a:pt x="98712" y="201008"/>
                  </a:lnTo>
                  <a:cubicBezTo>
                    <a:pt x="98712" y="205450"/>
                    <a:pt x="98712" y="211479"/>
                    <a:pt x="105003" y="211479"/>
                  </a:cubicBezTo>
                  <a:cubicBezTo>
                    <a:pt x="111294" y="211479"/>
                    <a:pt x="111294" y="205450"/>
                    <a:pt x="111294" y="201008"/>
                  </a:cubicBezTo>
                  <a:lnTo>
                    <a:pt x="111294" y="112161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86" name="任意形状 10085">
              <a:extLst>
                <a:ext uri="{FF2B5EF4-FFF2-40B4-BE49-F238E27FC236}">
                  <a16:creationId xmlns:a16="http://schemas.microsoft.com/office/drawing/2014/main" id="{BD01D2DB-5029-AED0-B410-BDF3C73E1956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9094658" y="6470108"/>
              <a:ext cx="126764" cy="150722"/>
            </a:xfrm>
            <a:custGeom>
              <a:avLst/>
              <a:gdLst>
                <a:gd name="connsiteX0" fmla="*/ 36440 w 126764"/>
                <a:gd name="connsiteY0" fmla="*/ 71862 h 150722"/>
                <a:gd name="connsiteX1" fmla="*/ 63492 w 126764"/>
                <a:gd name="connsiteY1" fmla="*/ 76305 h 150722"/>
                <a:gd name="connsiteX2" fmla="*/ 88971 w 126764"/>
                <a:gd name="connsiteY2" fmla="*/ 66468 h 150722"/>
                <a:gd name="connsiteX3" fmla="*/ 66008 w 126764"/>
                <a:gd name="connsiteY3" fmla="*/ 57900 h 150722"/>
                <a:gd name="connsiteX4" fmla="*/ 36755 w 126764"/>
                <a:gd name="connsiteY4" fmla="*/ 63929 h 150722"/>
                <a:gd name="connsiteX5" fmla="*/ 24173 w 126764"/>
                <a:gd name="connsiteY5" fmla="*/ 45525 h 150722"/>
                <a:gd name="connsiteX6" fmla="*/ 83309 w 126764"/>
                <a:gd name="connsiteY6" fmla="*/ 14746 h 150722"/>
                <a:gd name="connsiteX7" fmla="*/ 112247 w 126764"/>
                <a:gd name="connsiteY7" fmla="*/ 23631 h 150722"/>
                <a:gd name="connsiteX8" fmla="*/ 118538 w 126764"/>
                <a:gd name="connsiteY8" fmla="*/ 26804 h 150722"/>
                <a:gd name="connsiteX9" fmla="*/ 127031 w 126764"/>
                <a:gd name="connsiteY9" fmla="*/ 18237 h 150722"/>
                <a:gd name="connsiteX10" fmla="*/ 86454 w 126764"/>
                <a:gd name="connsiteY10" fmla="*/ 150 h 150722"/>
                <a:gd name="connsiteX11" fmla="*/ 16309 w 126764"/>
                <a:gd name="connsiteY11" fmla="*/ 45525 h 150722"/>
                <a:gd name="connsiteX12" fmla="*/ 28891 w 126764"/>
                <a:gd name="connsiteY12" fmla="*/ 68054 h 150722"/>
                <a:gd name="connsiteX13" fmla="*/ 267 w 126764"/>
                <a:gd name="connsiteY13" fmla="*/ 110891 h 150722"/>
                <a:gd name="connsiteX14" fmla="*/ 51539 w 126764"/>
                <a:gd name="connsiteY14" fmla="*/ 150873 h 150722"/>
                <a:gd name="connsiteX15" fmla="*/ 110675 w 126764"/>
                <a:gd name="connsiteY15" fmla="*/ 118190 h 150722"/>
                <a:gd name="connsiteX16" fmla="*/ 107215 w 126764"/>
                <a:gd name="connsiteY16" fmla="*/ 115017 h 150722"/>
                <a:gd name="connsiteX17" fmla="*/ 104069 w 126764"/>
                <a:gd name="connsiteY17" fmla="*/ 117238 h 150722"/>
                <a:gd name="connsiteX18" fmla="*/ 54370 w 126764"/>
                <a:gd name="connsiteY18" fmla="*/ 136276 h 150722"/>
                <a:gd name="connsiteX19" fmla="*/ 8445 w 126764"/>
                <a:gd name="connsiteY19" fmla="*/ 108988 h 150722"/>
                <a:gd name="connsiteX20" fmla="*/ 36440 w 126764"/>
                <a:gd name="connsiteY20" fmla="*/ 71862 h 150722"/>
                <a:gd name="connsiteX21" fmla="*/ 46821 w 126764"/>
                <a:gd name="connsiteY21" fmla="*/ 67737 h 150722"/>
                <a:gd name="connsiteX22" fmla="*/ 66008 w 126764"/>
                <a:gd name="connsiteY22" fmla="*/ 64881 h 150722"/>
                <a:gd name="connsiteX23" fmla="*/ 80792 w 126764"/>
                <a:gd name="connsiteY23" fmla="*/ 66785 h 150722"/>
                <a:gd name="connsiteX24" fmla="*/ 63492 w 126764"/>
                <a:gd name="connsiteY24" fmla="*/ 69324 h 150722"/>
                <a:gd name="connsiteX25" fmla="*/ 46821 w 126764"/>
                <a:gd name="connsiteY25" fmla="*/ 67737 h 150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6764" h="150722">
                  <a:moveTo>
                    <a:pt x="36440" y="71862"/>
                  </a:moveTo>
                  <a:cubicBezTo>
                    <a:pt x="46821" y="76305"/>
                    <a:pt x="55943" y="76305"/>
                    <a:pt x="63492" y="76305"/>
                  </a:cubicBezTo>
                  <a:cubicBezTo>
                    <a:pt x="71670" y="76305"/>
                    <a:pt x="88971" y="76305"/>
                    <a:pt x="88971" y="66468"/>
                  </a:cubicBezTo>
                  <a:cubicBezTo>
                    <a:pt x="88971" y="58852"/>
                    <a:pt x="77961" y="57900"/>
                    <a:pt x="66008" y="57900"/>
                  </a:cubicBezTo>
                  <a:cubicBezTo>
                    <a:pt x="59403" y="57900"/>
                    <a:pt x="48393" y="58535"/>
                    <a:pt x="36755" y="63929"/>
                  </a:cubicBezTo>
                  <a:cubicBezTo>
                    <a:pt x="29520" y="60122"/>
                    <a:pt x="24173" y="54093"/>
                    <a:pt x="24173" y="45525"/>
                  </a:cubicBezTo>
                  <a:cubicBezTo>
                    <a:pt x="24173" y="26169"/>
                    <a:pt x="54999" y="14746"/>
                    <a:pt x="83309" y="14746"/>
                  </a:cubicBezTo>
                  <a:cubicBezTo>
                    <a:pt x="88341" y="14746"/>
                    <a:pt x="99665" y="14746"/>
                    <a:pt x="112247" y="23631"/>
                  </a:cubicBezTo>
                  <a:cubicBezTo>
                    <a:pt x="115707" y="26169"/>
                    <a:pt x="116337" y="26804"/>
                    <a:pt x="118538" y="26804"/>
                  </a:cubicBezTo>
                  <a:cubicBezTo>
                    <a:pt x="122628" y="26804"/>
                    <a:pt x="127031" y="22679"/>
                    <a:pt x="127031" y="18237"/>
                  </a:cubicBezTo>
                  <a:cubicBezTo>
                    <a:pt x="127031" y="12208"/>
                    <a:pt x="107844" y="150"/>
                    <a:pt x="86454" y="150"/>
                  </a:cubicBezTo>
                  <a:cubicBezTo>
                    <a:pt x="50281" y="150"/>
                    <a:pt x="16309" y="21410"/>
                    <a:pt x="16309" y="45525"/>
                  </a:cubicBezTo>
                  <a:cubicBezTo>
                    <a:pt x="16309" y="59170"/>
                    <a:pt x="27633" y="67103"/>
                    <a:pt x="28891" y="68054"/>
                  </a:cubicBezTo>
                  <a:cubicBezTo>
                    <a:pt x="10333" y="78526"/>
                    <a:pt x="267" y="96295"/>
                    <a:pt x="267" y="110891"/>
                  </a:cubicBezTo>
                  <a:cubicBezTo>
                    <a:pt x="267" y="131517"/>
                    <a:pt x="18196" y="150873"/>
                    <a:pt x="51539" y="150873"/>
                  </a:cubicBezTo>
                  <a:cubicBezTo>
                    <a:pt x="93060" y="150873"/>
                    <a:pt x="110675" y="122949"/>
                    <a:pt x="110675" y="118190"/>
                  </a:cubicBezTo>
                  <a:cubicBezTo>
                    <a:pt x="110675" y="116286"/>
                    <a:pt x="109102" y="115017"/>
                    <a:pt x="107215" y="115017"/>
                  </a:cubicBezTo>
                  <a:cubicBezTo>
                    <a:pt x="105642" y="115017"/>
                    <a:pt x="104698" y="116286"/>
                    <a:pt x="104069" y="117238"/>
                  </a:cubicBezTo>
                  <a:cubicBezTo>
                    <a:pt x="99665" y="124536"/>
                    <a:pt x="92116" y="136276"/>
                    <a:pt x="54370" y="136276"/>
                  </a:cubicBezTo>
                  <a:cubicBezTo>
                    <a:pt x="35182" y="136276"/>
                    <a:pt x="8445" y="131517"/>
                    <a:pt x="8445" y="108988"/>
                  </a:cubicBezTo>
                  <a:cubicBezTo>
                    <a:pt x="8445" y="98199"/>
                    <a:pt x="17253" y="81382"/>
                    <a:pt x="36440" y="71862"/>
                  </a:cubicBezTo>
                  <a:close/>
                  <a:moveTo>
                    <a:pt x="46821" y="67737"/>
                  </a:moveTo>
                  <a:cubicBezTo>
                    <a:pt x="54055" y="65199"/>
                    <a:pt x="60661" y="64881"/>
                    <a:pt x="66008" y="64881"/>
                  </a:cubicBezTo>
                  <a:cubicBezTo>
                    <a:pt x="73872" y="64881"/>
                    <a:pt x="75130" y="65199"/>
                    <a:pt x="80792" y="66785"/>
                  </a:cubicBezTo>
                  <a:cubicBezTo>
                    <a:pt x="76074" y="69006"/>
                    <a:pt x="75445" y="69324"/>
                    <a:pt x="63492" y="69324"/>
                  </a:cubicBezTo>
                  <a:cubicBezTo>
                    <a:pt x="56572" y="69324"/>
                    <a:pt x="52797" y="69324"/>
                    <a:pt x="46821" y="67737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87" name="任意形状 10086">
              <a:extLst>
                <a:ext uri="{FF2B5EF4-FFF2-40B4-BE49-F238E27FC236}">
                  <a16:creationId xmlns:a16="http://schemas.microsoft.com/office/drawing/2014/main" id="{CA6B93F0-0B3F-9151-59B2-2CF7F7964C71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9251090" y="6375866"/>
              <a:ext cx="72976" cy="317311"/>
            </a:xfrm>
            <a:custGeom>
              <a:avLst/>
              <a:gdLst>
                <a:gd name="connsiteX0" fmla="*/ 73248 w 72976"/>
                <a:gd name="connsiteY0" fmla="*/ 158805 h 317311"/>
                <a:gd name="connsiteX1" fmla="*/ 52487 w 72976"/>
                <a:gd name="connsiteY1" fmla="*/ 59804 h 317311"/>
                <a:gd name="connsiteX2" fmla="*/ 3417 w 72976"/>
                <a:gd name="connsiteY2" fmla="*/ 150 h 317311"/>
                <a:gd name="connsiteX3" fmla="*/ 272 w 72976"/>
                <a:gd name="connsiteY3" fmla="*/ 3323 h 317311"/>
                <a:gd name="connsiteX4" fmla="*/ 6248 w 72976"/>
                <a:gd name="connsiteY4" fmla="*/ 10621 h 317311"/>
                <a:gd name="connsiteX5" fmla="*/ 55004 w 72976"/>
                <a:gd name="connsiteY5" fmla="*/ 158805 h 317311"/>
                <a:gd name="connsiteX6" fmla="*/ 4361 w 72976"/>
                <a:gd name="connsiteY6" fmla="*/ 308894 h 317311"/>
                <a:gd name="connsiteX7" fmla="*/ 272 w 72976"/>
                <a:gd name="connsiteY7" fmla="*/ 314288 h 317311"/>
                <a:gd name="connsiteX8" fmla="*/ 3417 w 72976"/>
                <a:gd name="connsiteY8" fmla="*/ 317461 h 317311"/>
                <a:gd name="connsiteX9" fmla="*/ 53431 w 72976"/>
                <a:gd name="connsiteY9" fmla="*/ 255585 h 317311"/>
                <a:gd name="connsiteX10" fmla="*/ 73248 w 72976"/>
                <a:gd name="connsiteY10" fmla="*/ 158805 h 31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76" h="317311">
                  <a:moveTo>
                    <a:pt x="73248" y="158805"/>
                  </a:moveTo>
                  <a:cubicBezTo>
                    <a:pt x="73248" y="134055"/>
                    <a:pt x="69788" y="95661"/>
                    <a:pt x="52487" y="59804"/>
                  </a:cubicBezTo>
                  <a:cubicBezTo>
                    <a:pt x="33614" y="20775"/>
                    <a:pt x="6563" y="150"/>
                    <a:pt x="3417" y="150"/>
                  </a:cubicBezTo>
                  <a:cubicBezTo>
                    <a:pt x="1530" y="150"/>
                    <a:pt x="272" y="1419"/>
                    <a:pt x="272" y="3323"/>
                  </a:cubicBezTo>
                  <a:cubicBezTo>
                    <a:pt x="272" y="4275"/>
                    <a:pt x="272" y="4910"/>
                    <a:pt x="6248" y="10621"/>
                  </a:cubicBezTo>
                  <a:cubicBezTo>
                    <a:pt x="37074" y="42035"/>
                    <a:pt x="55004" y="92487"/>
                    <a:pt x="55004" y="158805"/>
                  </a:cubicBezTo>
                  <a:cubicBezTo>
                    <a:pt x="55004" y="213066"/>
                    <a:pt x="43365" y="268912"/>
                    <a:pt x="4361" y="308894"/>
                  </a:cubicBezTo>
                  <a:cubicBezTo>
                    <a:pt x="272" y="312701"/>
                    <a:pt x="272" y="313336"/>
                    <a:pt x="272" y="314288"/>
                  </a:cubicBezTo>
                  <a:cubicBezTo>
                    <a:pt x="272" y="316192"/>
                    <a:pt x="1530" y="317461"/>
                    <a:pt x="3417" y="317461"/>
                  </a:cubicBezTo>
                  <a:cubicBezTo>
                    <a:pt x="6563" y="317461"/>
                    <a:pt x="34872" y="295884"/>
                    <a:pt x="53431" y="255585"/>
                  </a:cubicBezTo>
                  <a:cubicBezTo>
                    <a:pt x="69473" y="220681"/>
                    <a:pt x="73248" y="185460"/>
                    <a:pt x="73248" y="158805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</p:grpSp>
    </p:spTree>
    <p:extLst>
      <p:ext uri="{BB962C8B-B14F-4D97-AF65-F5344CB8AC3E}">
        <p14:creationId xmlns:p14="http://schemas.microsoft.com/office/powerpoint/2010/main" val="25915417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9BBA7-B90B-0823-17F9-A7011D3C8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5FB7AF7-A2A6-0E38-48E4-6A107A0CC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计算梯度：反向传播（链式法则）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2B013CD-47FD-6867-966D-3B7737113E2F}"/>
                  </a:ext>
                </a:extLst>
              </p:cNvPr>
              <p:cNvSpPr txBox="1"/>
              <p:nvPr/>
            </p:nvSpPr>
            <p:spPr>
              <a:xfrm>
                <a:off x="519029" y="749453"/>
                <a:ext cx="10750061" cy="5580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000" b="0" i="0" u="none" strike="noStrike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假设一个三层神经网络（两个隐藏层）有以下结构：</a:t>
                </a:r>
                <a:endParaRPr lang="en-US" altLang="zh-CN" sz="2000" b="0" i="0" u="none" strike="noStrike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i="0" u="none" strike="noStrike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输入层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：特征维度为 </a:t>
                </a:r>
                <a14:m>
                  <m:oMath xmlns:m="http://schemas.openxmlformats.org/officeDocument/2006/math">
                    <m:r>
                      <a:rPr lang="en-US" altLang="zh-CN" sz="2000" b="0" i="1" u="none" strike="noStrike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𝑑</m:t>
                    </m:r>
                  </m:oMath>
                </a14:m>
                <a:r>
                  <a:rPr lang="zh-CN" altLang="en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输入为 </a:t>
                </a:r>
                <a:r>
                  <a:rPr lang="en-US" altLang="zh-CN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u="none" strike="noStrike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b="0" i="1" u="none" strike="noStrike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altLang="zh-CN" sz="2000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i="0" u="none" strike="noStrike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第一隐藏层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" altLang="zh-CN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个神经元，激活函数为 </a:t>
                </a:r>
                <a14:m>
                  <m:oMath xmlns:m="http://schemas.openxmlformats.org/officeDocument/2006/math">
                    <m:r>
                      <a:rPr lang="en-US" altLang="zh-CN" sz="2000" b="0" i="1" u="none" strike="noStrike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权重矩阵为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u="none" strike="noStrike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i="0" u="none" strike="noStrike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第</a:t>
                </a:r>
                <a:r>
                  <a:rPr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二</a:t>
                </a:r>
                <a:r>
                  <a:rPr lang="zh-CN" altLang="en-US" sz="2000" b="1" i="0" u="none" strike="noStrike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隐藏层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" altLang="zh-CN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个神经元，激活函数为 </a:t>
                </a:r>
                <a14:m>
                  <m:oMath xmlns:m="http://schemas.openxmlformats.org/officeDocument/2006/math">
                    <m:r>
                      <a:rPr lang="en-US" altLang="zh-CN" sz="2000" b="0" i="1" u="none" strike="noStrike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权重矩阵为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u="none" strike="noStrike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i="0" u="none" strike="noStrike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输出层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：有 </a:t>
                </a:r>
                <a14:m>
                  <m:oMath xmlns:m="http://schemas.openxmlformats.org/officeDocument/2006/math">
                    <m:r>
                      <a:rPr lang="en-US" altLang="zh-CN" sz="2000" b="0" i="1" u="none" strike="noStrike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000" b="0" i="1" u="none" strike="noStrike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" altLang="zh-CN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个神经元，无激活函数，权重矩阵为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p>
                          <m:sSupPr>
                            <m:ctrlPr>
                              <a:rPr lang="en-US" altLang="zh-CN" sz="2000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0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endParaRPr lang="en-US" altLang="zh-CN" sz="2000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lang="zh-CN" altLang="en-US" sz="2000" b="1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第一隐藏层的输出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000" b="0" i="1" u="none" strike="noStrike" smtClean="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u="none" strike="noStrike" smtClean="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altLang="zh-CN" sz="2000" b="0" i="1" u="none" strike="noStrike" smtClean="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,      </m:t>
                      </m:r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lang="zh-CN" altLang="en-US" sz="2000" b="1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第</a:t>
                </a:r>
                <a:r>
                  <a:rPr lang="zh-CN" altLang="en-US" sz="2000" b="1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二</a:t>
                </a:r>
                <a:r>
                  <a:rPr lang="zh-CN" altLang="en-US" sz="2000" b="1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隐藏层的输出：</a:t>
                </a:r>
                <a:endParaRPr lang="en-US" altLang="zh-CN" sz="2000" b="1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,      </m:t>
                      </m:r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lang="zh-CN" altLang="en-US" sz="2000" b="1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输出层的输出：</a:t>
                </a:r>
                <a:endParaRPr lang="en-US" altLang="zh-CN" sz="2000" b="1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b="0" i="1" u="none" strike="noStrike" smtClean="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u="none" strike="noStrike" smtClean="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altLang="zh-CN" sz="2000" b="0" i="1" u="none" strike="noStrike" dirty="0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lang="zh-CN" altLang="en-US" sz="2000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为了简单，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考虑</a:t>
                </a:r>
                <a:r>
                  <a:rPr lang="zh-CN" altLang="en-US" sz="2000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如下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损失函数：</a:t>
                </a:r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lit/>
                        </m:rP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2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 sz="2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|</m:t>
                      </m:r>
                      <m:sSubSup>
                        <m:sSubSup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lit/>
                            </m:r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" sz="2000" b="0" i="0" u="none" strike="noStrike" dirty="0">
                  <a:solidFill>
                    <a:srgbClr val="C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2B013CD-47FD-6867-966D-3B7737113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29" y="749453"/>
                <a:ext cx="10750061" cy="5580054"/>
              </a:xfrm>
              <a:prstGeom prst="rect">
                <a:avLst/>
              </a:prstGeom>
              <a:blipFill>
                <a:blip r:embed="rId2"/>
                <a:stretch>
                  <a:fillRect l="-4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椭圆形标注 1">
                <a:extLst>
                  <a:ext uri="{FF2B5EF4-FFF2-40B4-BE49-F238E27FC236}">
                    <a16:creationId xmlns:a16="http://schemas.microsoft.com/office/drawing/2014/main" id="{C80CA8A8-3AA5-19DA-542F-2A48C4D9FAC7}"/>
                  </a:ext>
                </a:extLst>
              </p:cNvPr>
              <p:cNvSpPr/>
              <p:nvPr/>
            </p:nvSpPr>
            <p:spPr>
              <a:xfrm>
                <a:off x="8498882" y="4844014"/>
                <a:ext cx="3499413" cy="1264533"/>
              </a:xfrm>
              <a:prstGeom prst="wedgeEllipseCallout">
                <a:avLst>
                  <a:gd name="adj1" fmla="val -89031"/>
                  <a:gd name="adj2" fmla="val -3234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前向传播信息流：</a:t>
                </a:r>
                <a:endParaRPr kumimoji="1" lang="en-US" altLang="zh-CN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𝒙</m:t>
                      </m:r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sSub>
                        <m:sSubPr>
                          <m:ctrlP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𝑾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𝝈</m:t>
                      </m:r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sSub>
                        <m:sSubPr>
                          <m:ctrlP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𝑾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𝝈</m:t>
                      </m:r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sSub>
                        <m:sSubPr>
                          <m:ctrlP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𝑾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𝟑</m:t>
                          </m:r>
                        </m:sub>
                      </m:sSub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acc>
                        <m:accPr>
                          <m:chr m:val="̂"/>
                          <m:ctrlP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accPr>
                        <m:e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kumimoji="1" lang="zh-CN" altLang="en-US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椭圆形标注 1">
                <a:extLst>
                  <a:ext uri="{FF2B5EF4-FFF2-40B4-BE49-F238E27FC236}">
                    <a16:creationId xmlns:a16="http://schemas.microsoft.com/office/drawing/2014/main" id="{C80CA8A8-3AA5-19DA-542F-2A48C4D9FA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8882" y="4844014"/>
                <a:ext cx="3499413" cy="1264533"/>
              </a:xfrm>
              <a:prstGeom prst="wedgeEllipseCallout">
                <a:avLst>
                  <a:gd name="adj1" fmla="val -89031"/>
                  <a:gd name="adj2" fmla="val -3234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7427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3C807-B903-3323-65A1-B40436FAA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52C3FB6-10A1-BA26-A9CC-5F2E48B91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计算梯度：反向传播（链式法则）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D8B932C-5F60-241C-FFDA-18949DDC3FD8}"/>
                  </a:ext>
                </a:extLst>
              </p:cNvPr>
              <p:cNvSpPr txBox="1"/>
              <p:nvPr/>
            </p:nvSpPr>
            <p:spPr>
              <a:xfrm>
                <a:off x="451877" y="777106"/>
                <a:ext cx="11335731" cy="55676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200" b="1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输出层的梯度计算：</a:t>
                </a:r>
                <a:endParaRPr lang="en-US" altLang="zh-CN" sz="2200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损失函数对输出层的输出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2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" altLang="zh-CN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</m:oMath>
                </a14:m>
                <a:r>
                  <a:rPr lang="zh-CN" altLang="en-US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endParaRPr lang="en-US" altLang="zh-CN" sz="22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kumimoji="1" lang="en-US" altLang="zh-CN" sz="2200" b="0" i="0" u="none" strike="noStrike" dirty="0" smtClean="0">
                          <a:solidFill>
                            <a:srgbClr val="B61516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kumimoji="1" lang="en-US" altLang="zh-CN" sz="2200" b="0" i="0" u="none" strike="noStrike" dirty="0" smtClean="0">
                          <a:solidFill>
                            <a:srgbClr val="B61516"/>
                          </a:solidFill>
                          <a:effectLst/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en-US" altLang="zh-CN" sz="2200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p>
                            <m:sSup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kumimoji="1" lang="en-US" altLang="zh-CN" sz="2200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2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</a:t>
                </a:r>
                <a:r>
                  <a:rPr lang="zh-CN" altLang="en-US" sz="2200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（链式法则），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en-US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endParaRPr lang="en-US" altLang="zh-CN" sz="22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2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CN" sz="22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22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2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zh-CN" sz="22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sSubSup>
                        <m:sSubSupPr>
                          <m:ctrlP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kumimoji="1" lang="en-US" altLang="zh-CN" sz="2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p>
                            <m:sSup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kumimoji="1" lang="en-US" altLang="zh-CN" sz="22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2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2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b>
                        <m:r>
                          <a:rPr lang="en-US" altLang="zh-CN" sz="22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zh-CN" altLang="en-US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en-US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endParaRPr lang="en-US" altLang="zh-CN" sz="22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d>
                        <m:dPr>
                          <m:ctrlP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22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2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zh-CN" sz="22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kumimoji="1" lang="en-US" altLang="zh-CN" sz="2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kumimoji="1" lang="zh-CN" altLang="en-US" sz="22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D8B932C-5F60-241C-FFDA-18949DDC3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877" y="777106"/>
                <a:ext cx="11335731" cy="5567678"/>
              </a:xfrm>
              <a:prstGeom prst="rect">
                <a:avLst/>
              </a:prstGeom>
              <a:blipFill>
                <a:blip r:embed="rId2"/>
                <a:stretch>
                  <a:fillRect l="-6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椭圆形标注 1">
            <a:extLst>
              <a:ext uri="{FF2B5EF4-FFF2-40B4-BE49-F238E27FC236}">
                <a16:creationId xmlns:a16="http://schemas.microsoft.com/office/drawing/2014/main" id="{78EFA8DA-4814-82BF-1E8B-C3E112C5448B}"/>
              </a:ext>
            </a:extLst>
          </p:cNvPr>
          <p:cNvSpPr/>
          <p:nvPr/>
        </p:nvSpPr>
        <p:spPr>
          <a:xfrm>
            <a:off x="8518967" y="2546430"/>
            <a:ext cx="2708476" cy="882570"/>
          </a:xfrm>
          <a:prstGeom prst="wedgeEllipseCallout">
            <a:avLst>
              <a:gd name="adj1" fmla="val -61151"/>
              <a:gd name="adj2" fmla="val 11364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计算过程需要检查维数是否一致</a:t>
            </a:r>
          </a:p>
        </p:txBody>
      </p:sp>
    </p:spTree>
    <p:extLst>
      <p:ext uri="{BB962C8B-B14F-4D97-AF65-F5344CB8AC3E}">
        <p14:creationId xmlns:p14="http://schemas.microsoft.com/office/powerpoint/2010/main" val="7337733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05F1-DF60-BA32-9B54-077544E14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BC68676-CD00-EF73-1837-1BB09F277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计算梯度：反向传播（链式法则）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690F62E-F67F-0D40-402F-56118DCD1D37}"/>
                  </a:ext>
                </a:extLst>
              </p:cNvPr>
              <p:cNvSpPr txBox="1"/>
              <p:nvPr/>
            </p:nvSpPr>
            <p:spPr>
              <a:xfrm>
                <a:off x="486750" y="797812"/>
                <a:ext cx="10896358" cy="5447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第二</a:t>
                </a:r>
                <a:r>
                  <a:rPr lang="zh-CN" altLang="en-US" sz="2000" b="1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隐藏层的梯度计算</a:t>
                </a:r>
                <a:r>
                  <a:rPr lang="en-US" altLang="zh-CN" sz="2000" b="1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:</a:t>
                </a:r>
                <a:endParaRPr lang="en-US" altLang="zh-CN" sz="2000" b="1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b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d>
                        <m:dPr>
                          <m:ctrlPr>
                            <a:rPr kumimoji="1" lang="en-US" altLang="zh-CN" sz="20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20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zh-CN" sz="20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kumimoji="1" lang="en-US" altLang="zh-CN" sz="20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  <m:r>
                        <a:rPr kumimoji="1" lang="en-US" altLang="zh-CN" sz="20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sz="20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sSub>
                        <m:sSubPr>
                          <m:ctrlP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0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kumimoji="1" lang="zh-CN" altLang="en-US" sz="20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kumimoji="1" lang="zh-CN" altLang="en-US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⊙</m:t>
                    </m:r>
                  </m:oMath>
                </a14:m>
                <a:r>
                  <a:rPr kumimoji="1" lang="en-US" altLang="zh-CN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表示两个对象逐元素相乘</a:t>
                </a:r>
                <a:endParaRPr kumimoji="1" lang="en-US" altLang="zh-CN" sz="20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b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d>
                        <m:dPr>
                          <m:ctrlPr>
                            <a:rPr kumimoji="1" lang="en-US" altLang="zh-CN" sz="20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20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zh-CN" sz="20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kumimoji="1" lang="en-US" altLang="zh-CN" sz="20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  <m:sSup>
                        <m:sSupPr>
                          <m:ctrlP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000" b="0" i="1" dirty="0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dirty="0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000" b="0" i="1" dirty="0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kumimoji="1" lang="zh-CN" altLang="en-US" sz="20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b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Sup>
                        <m:sSub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d>
                        <m:dPr>
                          <m:ctrlPr>
                            <a:rPr kumimoji="1" lang="en-US" altLang="zh-CN" sz="20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20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zh-CN" sz="20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kumimoji="1" lang="en-US" altLang="zh-CN" sz="20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  <m:sSup>
                        <m:sSupPr>
                          <m:ctrlP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000" b="0" i="1" dirty="0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dirty="0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000" b="0" i="1" dirty="0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0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kumimoji="1" lang="zh-CN" altLang="en-US" sz="20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690F62E-F67F-0D40-402F-56118DCD1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50" y="797812"/>
                <a:ext cx="10896358" cy="5447710"/>
              </a:xfrm>
              <a:prstGeom prst="rect">
                <a:avLst/>
              </a:prstGeom>
              <a:blipFill>
                <a:blip r:embed="rId2"/>
                <a:stretch>
                  <a:fillRect l="-6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1305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29D3B-82FA-F634-0C91-70E1FCACB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A1DE815-93E5-51F9-C0F1-3A118B434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反向传播（链式法则）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C7743CE-76BE-0752-2862-DC52949CF449}"/>
                  </a:ext>
                </a:extLst>
              </p:cNvPr>
              <p:cNvSpPr txBox="1"/>
              <p:nvPr/>
            </p:nvSpPr>
            <p:spPr>
              <a:xfrm>
                <a:off x="381243" y="941114"/>
                <a:ext cx="11429515" cy="4698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第一</a:t>
                </a:r>
                <a:r>
                  <a:rPr lang="zh-CN" altLang="en-US" sz="2400" b="1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隐藏层的梯度计算</a:t>
                </a:r>
                <a:r>
                  <a:rPr lang="en-US" altLang="zh-CN" sz="2400" b="1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:</a:t>
                </a:r>
                <a:endParaRPr lang="en-US" altLang="zh-CN" sz="2400" b="1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4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b>
                        <m:r>
                          <a:rPr lang="en-US" altLang="zh-CN" sz="24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zh-CN" altLang="en-US" sz="24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en-US" sz="24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endParaRPr lang="en-US" altLang="zh-CN" sz="24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Sup>
                        <m:sSub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d>
                        <m:dPr>
                          <m:ctrlPr>
                            <a:rPr kumimoji="1" lang="en-US" altLang="zh-CN" sz="24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24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zh-CN" sz="24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1" lang="en-US" altLang="zh-CN" sz="24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kumimoji="1" lang="en-US" altLang="zh-CN" sz="2400" i="1" dirty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  <m:sSup>
                        <m:sSupPr>
                          <m:ctrlP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400" i="1" dirty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kumimoji="1" lang="en-US" altLang="zh-CN" sz="24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kumimoji="1" lang="en-US" altLang="zh-CN" sz="2400" i="1" dirty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  <m:sSup>
                        <m:sSupPr>
                          <m:ctrlP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400" b="0" i="1" dirty="0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⊙</m:t>
                    </m:r>
                  </m:oMath>
                </a14:m>
                <a:r>
                  <a:rPr kumimoji="1" lang="en-US" altLang="zh-CN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表示两个对象逐元素相乘</a:t>
                </a:r>
                <a:endPara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sz="24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b>
                        <m:r>
                          <a:rPr lang="en-US" altLang="zh-CN" sz="24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zh-CN" altLang="en-US" sz="24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zh-CN" altLang="en-US" sz="24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endParaRPr lang="en-US" altLang="zh-CN" sz="24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[[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Sup>
                        <m:sSub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d>
                        <m:dPr>
                          <m:ctrlPr>
                            <a:rPr kumimoji="1" lang="en-US" altLang="zh-CN" sz="24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24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zh-CN" sz="24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1" lang="en-US" altLang="zh-CN" sz="24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kumimoji="1" lang="en-US" altLang="zh-CN" sz="2400" i="1" dirty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  <m:sSup>
                        <m:sSupPr>
                          <m:ctrlP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400" i="1" dirty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kumimoji="1" lang="en-US" altLang="zh-CN" sz="24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kumimoji="1" lang="en-US" altLang="zh-CN" sz="2400" i="1" dirty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  <m:sSup>
                        <m:sSupPr>
                          <m:ctrlP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kumimoji="1" lang="en-US" altLang="zh-CN" sz="24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4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kumimoji="1" lang="en-US" altLang="zh-CN" sz="2400" b="0" i="1" dirty="0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C7743CE-76BE-0752-2862-DC52949CF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3" y="941114"/>
                <a:ext cx="11429515" cy="4698722"/>
              </a:xfrm>
              <a:prstGeom prst="rect">
                <a:avLst/>
              </a:prstGeom>
              <a:blipFill>
                <a:blip r:embed="rId2"/>
                <a:stretch>
                  <a:fillRect l="-8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椭圆形标注 1">
                <a:extLst>
                  <a:ext uri="{FF2B5EF4-FFF2-40B4-BE49-F238E27FC236}">
                    <a16:creationId xmlns:a16="http://schemas.microsoft.com/office/drawing/2014/main" id="{CE848C4B-405E-3ACE-A7B0-99C28AB18271}"/>
                  </a:ext>
                </a:extLst>
              </p:cNvPr>
              <p:cNvSpPr/>
              <p:nvPr/>
            </p:nvSpPr>
            <p:spPr>
              <a:xfrm>
                <a:off x="6740326" y="3295024"/>
                <a:ext cx="4896090" cy="882570"/>
              </a:xfrm>
              <a:prstGeom prst="wedgeEllipseCallout">
                <a:avLst>
                  <a:gd name="adj1" fmla="val -72880"/>
                  <a:gd name="adj2" fmla="val 132009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反向传播信息流：</a:t>
                </a:r>
                <a:endParaRPr kumimoji="1" lang="en-US" altLang="zh-CN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accPr>
                        <m:e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𝒚</m:t>
                          </m:r>
                        </m:e>
                      </m:acc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sSub>
                        <m:sSubPr>
                          <m:ctrlP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𝑾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𝟑</m:t>
                          </m:r>
                        </m:sub>
                      </m:sSub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𝝈</m:t>
                      </m:r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sSub>
                        <m:sSubPr>
                          <m:ctrlP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𝑾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𝝈</m:t>
                      </m:r>
                      <m:r>
                        <a:rPr kumimoji="1" lang="en-US" altLang="zh-CN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r>
                        <a:rPr kumimoji="1" lang="en-US" altLang="zh-CN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𝒙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椭圆形标注 1">
                <a:extLst>
                  <a:ext uri="{FF2B5EF4-FFF2-40B4-BE49-F238E27FC236}">
                    <a16:creationId xmlns:a16="http://schemas.microsoft.com/office/drawing/2014/main" id="{CE848C4B-405E-3ACE-A7B0-99C28AB182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0326" y="3295024"/>
                <a:ext cx="4896090" cy="882570"/>
              </a:xfrm>
              <a:prstGeom prst="wedgeEllipseCallout">
                <a:avLst>
                  <a:gd name="adj1" fmla="val -72880"/>
                  <a:gd name="adj2" fmla="val 13200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16307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95740-D433-C16F-3182-DA656BAF7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AD7753B-9FBD-E025-F257-86F440D1E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反向传播（链式法则）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DF60FAA-83FB-0CFD-A0E2-9DD2044D7612}"/>
                  </a:ext>
                </a:extLst>
              </p:cNvPr>
              <p:cNvSpPr txBox="1"/>
              <p:nvPr/>
            </p:nvSpPr>
            <p:spPr>
              <a:xfrm>
                <a:off x="381242" y="797170"/>
                <a:ext cx="10527323" cy="55020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一般地，对任意 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L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层的全连接网络，记</a:t>
                </a:r>
                <a:endParaRPr kumimoji="1" lang="en-US" altLang="zh-CN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  <m:sup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sup>
                      </m:sSup>
                      <m:sSubSup>
                        <m:sSubSup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p>
                      </m:sSubSup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  <m:sup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b="0" i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b="0" i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p>
                            <m:sSupPr>
                              <m:ctrlP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sub>
                      </m:sSub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kumimoji="1" lang="en-US" altLang="zh-CN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  <m:sup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sSup>
                        <m:sSupPr>
                          <m:ctrlP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sup>
                      </m:sSup>
                      <m:sSubSup>
                        <m:sSubSupPr>
                          <m:ctrlP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p>
                      </m:sSubSup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kumimoji="1" lang="en-US" altLang="zh-CN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那么反向传播过程可以按如下公式递推：</a:t>
                </a:r>
                <a:endParaRPr kumimoji="1" lang="en-US" altLang="zh-CN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  <m:sup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p>
                            <m:sSupPr>
                              <m:ctrlP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sub>
                      </m:sSub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kumimoji="1" lang="en-US" altLang="zh-CN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  <m:sup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bSup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⊙</m:t>
                          </m:r>
                          <m:sSubSup>
                            <m:sSubSupPr>
                              <m:ctrlP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, 1≤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kumimoji="1" lang="en-US" altLang="zh-CN" b="0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b="0" i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p>
                            <m:sSupPr>
                              <m:ctrlP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sub>
                      </m:sSub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sup>
                          </m:sSubSup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⊙</m:t>
                          </m:r>
                          <m:sSubSup>
                            <m:sSubSupPr>
                              <m:ctrlP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sSup>
                        <m:sSupPr>
                          <m:ctrlP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  <m:sup>
                                  <m: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zh-CN" b="0" i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, 1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kumimoji="1" lang="en-US" altLang="zh-CN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p>
                            <m:sSupPr>
                              <m:ctrlP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sub>
                      </m:sSub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sup>
                          </m:sSubSup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⊙</m:t>
                          </m:r>
                          <m:sSubSup>
                            <m:sSubSupPr>
                              <m:ctrlP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kumimoji="1" lang="en-US" altLang="zh-CN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, 1</m:t>
                      </m:r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kumimoji="1" lang="en-US" altLang="zh-CN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DF60FAA-83FB-0CFD-A0E2-9DD2044D7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797170"/>
                <a:ext cx="10527323" cy="5502019"/>
              </a:xfrm>
              <a:prstGeom prst="rect">
                <a:avLst/>
              </a:prstGeom>
              <a:blipFill>
                <a:blip r:embed="rId2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97172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22915-872E-3F2A-6FDE-4CA905DC9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82ECC-D6FF-AD68-89C3-7502B4A99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</p:spPr>
        <p:txBody>
          <a:bodyPr/>
          <a:lstStyle/>
          <a:p>
            <a:r>
              <a:rPr lang="zh-CN" altLang="en-US" dirty="0"/>
              <a:t>案例：</a:t>
            </a:r>
            <a:r>
              <a:rPr lang="en-US" altLang="zh-CN" dirty="0"/>
              <a:t>MNIST</a:t>
            </a:r>
            <a:r>
              <a:rPr lang="zh-CN" altLang="en-US" dirty="0"/>
              <a:t>手写数字识别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5229B76-B711-3E85-C102-306F0F456A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242" y="981153"/>
                <a:ext cx="11429516" cy="5092476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n-US" altLang="zh-CN" sz="1800" dirty="0">
                    <a:solidFill>
                      <a:srgbClr val="C00000"/>
                    </a:solidFill>
                  </a:rPr>
                  <a:t>1. </a:t>
                </a:r>
                <a:r>
                  <a:rPr lang="zh-CN" altLang="en-US" sz="1800" dirty="0">
                    <a:solidFill>
                      <a:srgbClr val="C00000"/>
                    </a:solidFill>
                  </a:rPr>
                  <a:t>问题提出与数据表示 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(</a:t>
                </a:r>
                <a:r>
                  <a:rPr lang="en" altLang="zh-CN" sz="1800" dirty="0">
                    <a:solidFill>
                      <a:srgbClr val="C00000"/>
                    </a:solidFill>
                  </a:rPr>
                  <a:t>The Problem &amp; Data)</a:t>
                </a:r>
              </a:p>
              <a:p>
                <a:pPr marL="285750" indent="-285750">
                  <a:lnSpc>
                    <a:spcPct val="160000"/>
                  </a:lnSpc>
                  <a:buFont typeface="Wingdings" pitchFamily="2" charset="2"/>
                  <a:buChar char="Ø"/>
                </a:pPr>
                <a:r>
                  <a:rPr lang="zh-CN" altLang="en-US" sz="1800" dirty="0">
                    <a:solidFill>
                      <a:srgbClr val="C00000"/>
                    </a:solidFill>
                  </a:rPr>
                  <a:t>任务目标：</a:t>
                </a:r>
                <a:r>
                  <a:rPr lang="zh-CN" altLang="en-US" sz="1800" b="0" dirty="0"/>
                  <a:t>让计算机识别一张 </a:t>
                </a:r>
                <a:r>
                  <a:rPr lang="en-US" altLang="zh-CN" sz="1800" b="0" dirty="0"/>
                  <a:t>28x28</a:t>
                </a:r>
                <a:r>
                  <a:rPr lang="en" altLang="zh-CN" sz="1800" b="0" dirty="0"/>
                  <a:t> </a:t>
                </a:r>
                <a:r>
                  <a:rPr lang="zh-CN" altLang="en-US" sz="1800" b="0" dirty="0"/>
                  <a:t>像素的手写数字图片，判断它是 </a:t>
                </a:r>
                <a:r>
                  <a:rPr lang="en-US" altLang="zh-CN" sz="1800" b="0" dirty="0"/>
                  <a:t>0-9 </a:t>
                </a:r>
                <a:r>
                  <a:rPr lang="zh-CN" altLang="en-US" sz="1800" b="0" dirty="0"/>
                  <a:t>中的哪一个。有 </a:t>
                </a:r>
                <a:r>
                  <a:rPr lang="en-US" altLang="zh-CN" sz="1800" b="0" dirty="0"/>
                  <a:t>60000</a:t>
                </a:r>
                <a:r>
                  <a:rPr lang="zh-CN" altLang="en-US" sz="1800" b="0" dirty="0"/>
                  <a:t> 张训练集图，</a:t>
                </a:r>
                <a:r>
                  <a:rPr lang="en-US" altLang="zh-CN" sz="1800" b="0" dirty="0"/>
                  <a:t>10000</a:t>
                </a:r>
                <a:r>
                  <a:rPr lang="zh-CN" altLang="en-US" sz="1800" b="0" dirty="0"/>
                  <a:t>张测试集图</a:t>
                </a:r>
                <a:endParaRPr lang="en-US" altLang="zh-CN" sz="1800" b="0" dirty="0"/>
              </a:p>
              <a:p>
                <a:pPr marL="285750" indent="-285750">
                  <a:lnSpc>
                    <a:spcPct val="160000"/>
                  </a:lnSpc>
                  <a:buFont typeface="Wingdings" pitchFamily="2" charset="2"/>
                  <a:buChar char="Ø"/>
                </a:pPr>
                <a:endParaRPr lang="en-US" altLang="zh-CN" sz="1800" b="0" dirty="0"/>
              </a:p>
              <a:p>
                <a:pPr marL="285750" indent="-285750">
                  <a:lnSpc>
                    <a:spcPct val="160000"/>
                  </a:lnSpc>
                  <a:buFont typeface="Wingdings" pitchFamily="2" charset="2"/>
                  <a:buChar char="Ø"/>
                </a:pPr>
                <a:endParaRPr lang="en-US" altLang="zh-CN" sz="1800" b="0" dirty="0"/>
              </a:p>
              <a:p>
                <a:pPr marL="285750" indent="-285750">
                  <a:lnSpc>
                    <a:spcPct val="160000"/>
                  </a:lnSpc>
                  <a:buFont typeface="Wingdings" pitchFamily="2" charset="2"/>
                  <a:buChar char="Ø"/>
                </a:pPr>
                <a:endParaRPr lang="en-US" altLang="zh-CN" sz="1800" b="0" dirty="0"/>
              </a:p>
              <a:p>
                <a:pPr marL="285750" indent="-285750">
                  <a:lnSpc>
                    <a:spcPct val="160000"/>
                  </a:lnSpc>
                  <a:buFont typeface="Wingdings" pitchFamily="2" charset="2"/>
                  <a:buChar char="Ø"/>
                </a:pPr>
                <a:endParaRPr lang="en-US" altLang="zh-CN" sz="1800" b="0" dirty="0"/>
              </a:p>
              <a:p>
                <a:pPr marL="285750" indent="-285750">
                  <a:lnSpc>
                    <a:spcPct val="160000"/>
                  </a:lnSpc>
                  <a:buFont typeface="Wingdings" pitchFamily="2" charset="2"/>
                  <a:buChar char="Ø"/>
                </a:pPr>
                <a:endParaRPr lang="zh-CN" altLang="en-US" sz="1800" b="0" dirty="0"/>
              </a:p>
              <a:p>
                <a:pPr marL="285750" indent="-285750">
                  <a:lnSpc>
                    <a:spcPct val="160000"/>
                  </a:lnSpc>
                  <a:buFont typeface="Wingdings" pitchFamily="2" charset="2"/>
                  <a:buChar char="Ø"/>
                </a:pPr>
                <a:r>
                  <a:rPr lang="zh-CN" altLang="en-US" sz="1800" dirty="0">
                    <a:solidFill>
                      <a:srgbClr val="C00000"/>
                    </a:solidFill>
                  </a:rPr>
                  <a:t>数学抽象：</a:t>
                </a:r>
                <a:r>
                  <a:rPr lang="zh-CN" altLang="en-US" sz="1800" b="0" dirty="0"/>
                  <a:t>寻找一个分类函数映射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1800" b="0" dirty="0"/>
                  <a:t>，输入图片，输出分类结果</a:t>
                </a:r>
                <a:endParaRPr lang="zh-CN" altLang="en" sz="1800" b="0" dirty="0"/>
              </a:p>
              <a:p>
                <a:pPr marL="895350" lvl="1" indent="-285750">
                  <a:lnSpc>
                    <a:spcPct val="160000"/>
                  </a:lnSpc>
                  <a:buFont typeface="Wingdings" pitchFamily="2" charset="2"/>
                  <a:buChar char="Ø"/>
                </a:pPr>
                <a:r>
                  <a:rPr lang="zh-CN" altLang="en-US" sz="1600" dirty="0">
                    <a:solidFill>
                      <a:srgbClr val="C00000"/>
                    </a:solidFill>
                  </a:rPr>
                  <a:t>输入空间建模：</a:t>
                </a:r>
                <a:r>
                  <a:rPr lang="zh-CN" altLang="en-US" sz="1600" b="0" dirty="0"/>
                  <a:t>一张图片是一个矩阵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28×28</m:t>
                        </m:r>
                      </m:sup>
                    </m:sSup>
                  </m:oMath>
                </a14:m>
                <a:r>
                  <a:rPr lang="zh-CN" altLang="en" sz="1600" b="0" dirty="0"/>
                  <a:t>。</a:t>
                </a:r>
                <a:r>
                  <a:rPr lang="zh-CN" altLang="en-US" sz="1600" b="0" dirty="0"/>
                  <a:t>为了输入全连接网络，我们需要将其拉平</a:t>
                </a:r>
                <a:r>
                  <a:rPr lang="zh-CN" altLang="en-US" sz="1600" dirty="0">
                    <a:solidFill>
                      <a:srgbClr val="C00000"/>
                    </a:solidFill>
                  </a:rPr>
                  <a:t>向量化 </a:t>
                </a:r>
                <a:r>
                  <a:rPr lang="en-US" altLang="zh-CN" sz="1600" dirty="0">
                    <a:solidFill>
                      <a:srgbClr val="C00000"/>
                    </a:solidFill>
                  </a:rPr>
                  <a:t>(</a:t>
                </a:r>
                <a:r>
                  <a:rPr lang="en" altLang="zh-CN" sz="1600" dirty="0">
                    <a:solidFill>
                      <a:srgbClr val="C00000"/>
                    </a:solidFill>
                  </a:rPr>
                  <a:t>Vectorization)</a:t>
                </a:r>
                <a:r>
                  <a:rPr lang="zh-CN" altLang="en-US" sz="1600" b="0" dirty="0"/>
                  <a:t>，即变为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784</m:t>
                        </m:r>
                      </m:sup>
                    </m:sSup>
                  </m:oMath>
                </a14:m>
                <a:r>
                  <a:rPr lang="en" altLang="zh-CN" sz="1600" b="0" dirty="0"/>
                  <a:t> </a:t>
                </a:r>
                <a:endParaRPr lang="zh-CN" altLang="en" sz="1600" b="0" dirty="0"/>
              </a:p>
              <a:p>
                <a:pPr marL="895350" lvl="1" indent="-285750">
                  <a:lnSpc>
                    <a:spcPct val="160000"/>
                  </a:lnSpc>
                  <a:buFont typeface="Wingdings" pitchFamily="2" charset="2"/>
                  <a:buChar char="Ø"/>
                </a:pPr>
                <a:r>
                  <a:rPr lang="zh-CN" altLang="en-US" sz="1600" dirty="0">
                    <a:solidFill>
                      <a:srgbClr val="C00000"/>
                    </a:solidFill>
                  </a:rPr>
                  <a:t>输出空间建模：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0, 1, ⋯, 9</m:t>
                        </m:r>
                      </m:e>
                    </m:d>
                    <m:r>
                      <a:rPr lang="zh-CN" altLang="en-US" sz="1600" b="0" i="0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600" b="0" dirty="0"/>
                  <a:t>将其建模为离散概率分布，即转换为 </a:t>
                </a:r>
                <a:r>
                  <a:rPr lang="en" altLang="zh-CN" sz="1600" dirty="0">
                    <a:solidFill>
                      <a:srgbClr val="C00000"/>
                    </a:solidFill>
                  </a:rPr>
                  <a:t>One-hot </a:t>
                </a:r>
                <a:r>
                  <a:rPr lang="zh-CN" altLang="en-US" sz="1600" dirty="0">
                    <a:solidFill>
                      <a:srgbClr val="C00000"/>
                    </a:solidFill>
                  </a:rPr>
                  <a:t>编码向量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zh-CN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sup>
                    </m:sSup>
                  </m:oMath>
                </a14:m>
                <a:endParaRPr lang="zh-CN" altLang="en" sz="1600" dirty="0"/>
              </a:p>
              <a:p>
                <a:pPr marL="895350" lvl="1" indent="-285750">
                  <a:lnSpc>
                    <a:spcPct val="160000"/>
                  </a:lnSpc>
                  <a:buFont typeface="Wingdings" pitchFamily="2" charset="2"/>
                  <a:buChar char="Ø"/>
                </a:pPr>
                <a:r>
                  <a:rPr lang="zh-CN" altLang="en-US" sz="1600" dirty="0">
                    <a:solidFill>
                      <a:srgbClr val="C00000"/>
                    </a:solidFill>
                  </a:rPr>
                  <a:t>目标函数建模：</a:t>
                </a:r>
                <a:r>
                  <a:rPr lang="zh-CN" altLang="en-US" sz="1600" b="0" dirty="0">
                    <a:solidFill>
                      <a:srgbClr val="000000"/>
                    </a:solidFill>
                  </a:rPr>
                  <a:t>高维函数</a:t>
                </a:r>
                <a14:m>
                  <m:oMath xmlns:m="http://schemas.openxmlformats.org/officeDocument/2006/math">
                    <m:r>
                      <a:rPr lang="zh-CN" alt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784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zh-CN" altLang="en-US" sz="1600" b="0" i="0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600" b="0" dirty="0"/>
                  <a:t>每一张图片是 </a:t>
                </a:r>
                <a:r>
                  <a:rPr lang="en-US" altLang="zh-CN" sz="1600" b="0" dirty="0"/>
                  <a:t>784 </a:t>
                </a:r>
                <a:r>
                  <a:rPr lang="zh-CN" altLang="en-US" sz="1600" b="0" dirty="0"/>
                  <a:t>维向量空间中的一个“点”。我们的任务是在这个高维空间中找到划分不同数字簇的边界</a:t>
                </a:r>
                <a:endParaRPr lang="zh-CN" altLang="en-US" sz="1800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5229B76-B711-3E85-C102-306F0F456A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242" y="981153"/>
                <a:ext cx="11429516" cy="5092476"/>
              </a:xfrm>
              <a:blipFill>
                <a:blip r:embed="rId2"/>
                <a:stretch>
                  <a:fillRect l="-333" r="-222" b="-1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 descr="MNIST Dataset : Practical Applications Using Keras and PyTorch -  GeeksforGeeks">
            <a:extLst>
              <a:ext uri="{FF2B5EF4-FFF2-40B4-BE49-F238E27FC236}">
                <a16:creationId xmlns:a16="http://schemas.microsoft.com/office/drawing/2014/main" id="{5EEBBFB0-47FE-DCB6-0F67-21E08FA3C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245" y="1799045"/>
            <a:ext cx="7441034" cy="2054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20234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1566C-0217-D969-EB50-C4B2B8515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</p:spPr>
        <p:txBody>
          <a:bodyPr/>
          <a:lstStyle/>
          <a:p>
            <a:r>
              <a:rPr lang="zh-CN" altLang="en-US" dirty="0"/>
              <a:t>案例：</a:t>
            </a:r>
            <a:r>
              <a:rPr lang="en-US" altLang="zh-CN" dirty="0"/>
              <a:t>MNIST</a:t>
            </a:r>
            <a:r>
              <a:rPr lang="zh-CN" altLang="en-US" dirty="0"/>
              <a:t>手写数字识别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9E020B8-EB48-A528-5A43-4E22B6E020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159" y="1106660"/>
                <a:ext cx="11429516" cy="5184754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2. 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全连接神经网络表示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(</a:t>
                </a:r>
                <a:r>
                  <a:rPr lang="en" altLang="zh-CN" dirty="0">
                    <a:solidFill>
                      <a:srgbClr val="C00000"/>
                    </a:solidFill>
                  </a:rPr>
                  <a:t>Two-layer Fully Connected Network)</a:t>
                </a:r>
              </a:p>
              <a:p>
                <a:r>
                  <a:rPr lang="zh-CN" altLang="en-US" dirty="0"/>
                  <a:t>我们构建包含一个隐藏层的两层神经网络来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逼近高维函数</a:t>
                </a:r>
                <a:r>
                  <a:rPr lang="zh-CN" altLang="en-US" dirty="0"/>
                  <a:t>：</a:t>
                </a:r>
              </a:p>
              <a:p>
                <a:r>
                  <a:rPr lang="zh-CN" altLang="en-US" dirty="0">
                    <a:solidFill>
                      <a:srgbClr val="C00000"/>
                    </a:solidFill>
                  </a:rPr>
                  <a:t>网络架构定义：</a:t>
                </a:r>
              </a:p>
              <a:p>
                <a:pPr lvl="1"/>
                <a:r>
                  <a:rPr lang="zh-CN" altLang="en-US" dirty="0"/>
                  <a:t>输入层 </a:t>
                </a:r>
                <a:r>
                  <a:rPr lang="en-US" altLang="zh-CN" dirty="0"/>
                  <a:t>(</a:t>
                </a:r>
                <a:r>
                  <a:rPr lang="en" altLang="zh-CN" dirty="0"/>
                  <a:t>Input)</a:t>
                </a:r>
                <a:r>
                  <a:rPr lang="zh-CN" altLang="en" dirty="0"/>
                  <a:t>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𝟕𝟖𝟒</m:t>
                        </m:r>
                      </m:sup>
                    </m:sSup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784</a:t>
                </a:r>
                <a:r>
                  <a:rPr lang="zh-CN" altLang="en-US" dirty="0"/>
                  <a:t> 个神经元</a:t>
                </a:r>
                <a:endParaRPr lang="en" altLang="zh-CN" dirty="0"/>
              </a:p>
              <a:p>
                <a:pPr lvl="1"/>
                <a:r>
                  <a:rPr lang="zh-CN" altLang="en-US" dirty="0"/>
                  <a:t>隐藏层 </a:t>
                </a:r>
                <a:r>
                  <a:rPr lang="en-US" altLang="zh-CN" dirty="0"/>
                  <a:t>(</a:t>
                </a:r>
                <a:r>
                  <a:rPr lang="en" altLang="zh-CN" dirty="0"/>
                  <a:t>Hidden)</a:t>
                </a:r>
                <a:r>
                  <a:rPr lang="zh-CN" altLang="en" dirty="0"/>
                  <a:t>：</a:t>
                </a:r>
                <a:r>
                  <a:rPr lang="zh-CN" altLang="en-US" dirty="0"/>
                  <a:t>设定有 </a:t>
                </a:r>
                <a:r>
                  <a:rPr lang="en-US" altLang="zh-CN" dirty="0"/>
                  <a:t>h</a:t>
                </a:r>
                <a:r>
                  <a:rPr lang="en" altLang="zh-CN" dirty="0"/>
                  <a:t> </a:t>
                </a:r>
                <a:r>
                  <a:rPr lang="zh-CN" altLang="en-US" dirty="0"/>
                  <a:t>个神经元（例如 </a:t>
                </a:r>
                <a:r>
                  <a:rPr lang="en" altLang="zh-CN" dirty="0"/>
                  <a:t>h=128</a:t>
                </a:r>
                <a:r>
                  <a:rPr lang="zh-CN" altLang="en" dirty="0"/>
                  <a:t>）。</a:t>
                </a:r>
              </a:p>
              <a:p>
                <a:pPr lvl="1"/>
                <a:r>
                  <a:rPr lang="zh-CN" altLang="en-US" dirty="0"/>
                  <a:t>输出层 </a:t>
                </a:r>
                <a:r>
                  <a:rPr lang="en-US" altLang="zh-CN" dirty="0"/>
                  <a:t>(</a:t>
                </a:r>
                <a:r>
                  <a:rPr lang="en" altLang="zh-CN" dirty="0"/>
                  <a:t>Output)</a:t>
                </a:r>
                <a:r>
                  <a:rPr lang="zh-CN" altLang="en" dirty="0"/>
                  <a:t>：</a:t>
                </a:r>
                <a:r>
                  <a:rPr lang="zh-CN" altLang="en-US" dirty="0"/>
                  <a:t>对应 </a:t>
                </a:r>
                <a:r>
                  <a:rPr lang="en-US" altLang="zh-CN" dirty="0"/>
                  <a:t>10 </a:t>
                </a:r>
                <a:r>
                  <a:rPr lang="zh-CN" altLang="en-US" dirty="0"/>
                  <a:t>个数字类别，</a:t>
                </a:r>
                <a:r>
                  <a:rPr lang="en-US" altLang="zh-CN" dirty="0"/>
                  <a:t>10</a:t>
                </a:r>
                <a:r>
                  <a:rPr lang="zh-CN" altLang="en-US" dirty="0"/>
                  <a:t>个神经元</a:t>
                </a:r>
              </a:p>
              <a:p>
                <a:r>
                  <a:rPr lang="zh-CN" altLang="en-US" dirty="0">
                    <a:solidFill>
                      <a:srgbClr val="C00000"/>
                    </a:solidFill>
                  </a:rPr>
                  <a:t>第一层：特征提取与非线性变换，这一层负责将原始像素空间映射到某种特征空间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,           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  <a:p>
                <a:pPr lvl="1"/>
                <a:r>
                  <a:rPr lang="zh-CN" altLang="en-US" dirty="0"/>
                  <a:t>参数维度：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𝟕𝟖𝟒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   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sup>
                    </m:sSup>
                  </m:oMath>
                </a14:m>
                <a:endParaRPr lang="zh-CN" altLang="en" dirty="0"/>
              </a:p>
              <a:p>
                <a:pPr lvl="1"/>
                <a:r>
                  <a:rPr lang="zh-CN" altLang="en-US" dirty="0"/>
                  <a:t>激活函数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zh-CN" altLang="en" dirty="0"/>
                  <a:t>：</a:t>
                </a:r>
                <a:r>
                  <a:rPr lang="zh-CN" altLang="en-US" dirty="0"/>
                  <a:t>必须引入非线性（如 </a:t>
                </a:r>
                <a:r>
                  <a:rPr lang="en" altLang="zh-CN" dirty="0"/>
                  <a:t>ReLU: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1" i="1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" dirty="0"/>
                  <a:t>），</a:t>
                </a:r>
                <a:r>
                  <a:rPr lang="zh-CN" altLang="en-US" dirty="0"/>
                  <a:t>否则两层线性网络等价于一层线性网络</a:t>
                </a:r>
                <a:r>
                  <a:rPr lang="zh-CN" altLang="en" dirty="0"/>
                  <a:t>，</a:t>
                </a:r>
                <a:r>
                  <a:rPr lang="zh-CN" altLang="en-US" dirty="0"/>
                  <a:t>网络将失去逼近非线性函数的能力</a:t>
                </a:r>
              </a:p>
              <a:p>
                <a:r>
                  <a:rPr lang="zh-CN" altLang="en-US" dirty="0">
                    <a:solidFill>
                      <a:srgbClr val="C00000"/>
                    </a:solidFill>
                  </a:rPr>
                  <a:t>第二层：线性分类，这一层基于提取的特征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" altLang="zh-CN" dirty="0">
                    <a:solidFill>
                      <a:srgbClr val="C00000"/>
                    </a:solidFill>
                  </a:rPr>
                  <a:t> 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进行最终的分类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" altLang="zh-CN" dirty="0"/>
              </a:p>
              <a:p>
                <a:pPr lvl="1"/>
                <a:r>
                  <a:rPr lang="zh-CN" altLang="en-US" dirty="0"/>
                  <a:t>参数维度：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,  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sup>
                    </m:sSup>
                  </m:oMath>
                </a14:m>
                <a:endParaRPr lang="zh-CN" altLang="en" dirty="0"/>
              </a:p>
              <a:p>
                <a:pPr lvl="1"/>
                <a:r>
                  <a:rPr lang="zh-CN" altLang="en-US" dirty="0"/>
                  <a:t>输出：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sup>
                    </m:sSup>
                    <m:r>
                      <a:rPr lang="zh-CN" altLang="en-US" b="1" i="0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直接送入后续的 </a:t>
                </a:r>
                <a:r>
                  <a:rPr lang="en" altLang="zh-CN" dirty="0"/>
                  <a:t>Softmax </a:t>
                </a:r>
                <a:r>
                  <a:rPr lang="zh-CN" altLang="en-US" dirty="0"/>
                  <a:t>层。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" altLang="zh-CN" dirty="0">
                    <a:solidFill>
                      <a:srgbClr val="C00000"/>
                    </a:solidFill>
                  </a:rPr>
                  <a:t> 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的作用：</a:t>
                </a:r>
                <a:r>
                  <a:rPr lang="zh-CN" altLang="en-US" dirty="0"/>
                  <a:t>相当于构建了 </a:t>
                </a:r>
                <a:r>
                  <a:rPr lang="en-US" altLang="zh-CN" dirty="0"/>
                  <a:t>h</a:t>
                </a:r>
                <a:r>
                  <a:rPr lang="en" altLang="zh-CN" dirty="0"/>
                  <a:t> </a:t>
                </a:r>
                <a:r>
                  <a:rPr lang="zh-CN" altLang="en-US" dirty="0"/>
                  <a:t>个不同的“基底”或“特征模板”。输入 </a:t>
                </a:r>
                <a:r>
                  <a:rPr lang="en-US" altLang="zh-CN" dirty="0"/>
                  <a:t>x</a:t>
                </a:r>
                <a:r>
                  <a:rPr lang="en" altLang="zh-CN" dirty="0"/>
                  <a:t> </a:t>
                </a:r>
                <a:r>
                  <a:rPr lang="zh-CN" altLang="en-US" dirty="0"/>
                  <a:t>与某一行权重的点积越大，说明它与该特征模板越相似</a:t>
                </a:r>
              </a:p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" altLang="zh-CN" dirty="0">
                    <a:solidFill>
                      <a:srgbClr val="C00000"/>
                    </a:solidFill>
                  </a:rPr>
                  <a:t> 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的作用：</a:t>
                </a:r>
                <a:r>
                  <a:rPr lang="zh-CN" altLang="en-US" dirty="0"/>
                  <a:t>在数学上提供了弯曲空间的能力，使得模型可以划分线性不可分的数据（例如异或问题 </a:t>
                </a:r>
                <a:r>
                  <a:rPr lang="en" altLang="zh-CN" dirty="0"/>
                  <a:t>XOR</a:t>
                </a:r>
                <a:r>
                  <a:rPr lang="zh-CN" altLang="en" dirty="0"/>
                  <a:t>）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9E020B8-EB48-A528-5A43-4E22B6E020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159" y="1106660"/>
                <a:ext cx="11429516" cy="5184754"/>
              </a:xfrm>
              <a:blipFill>
                <a:blip r:embed="rId2"/>
                <a:stretch>
                  <a:fillRect l="-222" t="-1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CD04444A-86DA-D3A6-060F-CA7B8D17B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283" y="858558"/>
            <a:ext cx="4800358" cy="23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6972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7EDB8-B650-26A6-F8CC-D8AF79CCF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60D81E-1E94-C890-23DE-0CC7C8768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</p:spPr>
        <p:txBody>
          <a:bodyPr/>
          <a:lstStyle/>
          <a:p>
            <a:r>
              <a:rPr lang="zh-CN" altLang="en-US" dirty="0"/>
              <a:t>案例：</a:t>
            </a:r>
            <a:r>
              <a:rPr lang="en-US" altLang="zh-CN" dirty="0"/>
              <a:t>MNIST</a:t>
            </a:r>
            <a:r>
              <a:rPr lang="zh-CN" altLang="en-US" dirty="0"/>
              <a:t>识别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0E66376-BDDA-C943-220F-B31453AE04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3796" y="964376"/>
                <a:ext cx="11429516" cy="5333856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3. 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输出的建模：概率分布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(</a:t>
                </a:r>
                <a:r>
                  <a:rPr lang="en" altLang="zh-CN" dirty="0">
                    <a:solidFill>
                      <a:srgbClr val="C00000"/>
                    </a:solidFill>
                  </a:rPr>
                  <a:t>Probability Distribution)</a:t>
                </a:r>
              </a:p>
              <a:p>
                <a:r>
                  <a:rPr lang="zh-CN" altLang="en-US" dirty="0"/>
                  <a:t>网络的原始输出 </a:t>
                </a:r>
                <a:r>
                  <a:rPr lang="en-US" altLang="zh-CN" dirty="0"/>
                  <a:t>z</a:t>
                </a:r>
                <a:r>
                  <a:rPr lang="en" altLang="zh-CN" dirty="0"/>
                  <a:t> (Logits) </a:t>
                </a:r>
                <a:r>
                  <a:rPr lang="zh-CN" altLang="en-US" dirty="0"/>
                  <a:t>也是一个向量，我们需要将其转化为概率分布。</a:t>
                </a:r>
              </a:p>
              <a:p>
                <a:r>
                  <a:rPr lang="en" altLang="zh-CN" dirty="0"/>
                  <a:t>Softmax </a:t>
                </a:r>
                <a:r>
                  <a:rPr lang="zh-CN" altLang="en-US" dirty="0"/>
                  <a:t>函数：将任意实数向量映射为概率分布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1" i="1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dirty="0"/>
              </a:p>
              <a:p>
                <a:r>
                  <a:rPr lang="en" altLang="zh-CN" dirty="0">
                    <a:solidFill>
                      <a:srgbClr val="C00000"/>
                    </a:solidFill>
                  </a:rPr>
                  <a:t>4. Loss Function </a:t>
                </a:r>
                <a:r>
                  <a:rPr lang="zh-CN" altLang="en" dirty="0">
                    <a:solidFill>
                      <a:srgbClr val="C00000"/>
                    </a:solidFill>
                  </a:rPr>
                  <a:t>的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建模</a:t>
                </a:r>
                <a:r>
                  <a:rPr lang="zh-CN" altLang="en" dirty="0">
                    <a:solidFill>
                      <a:srgbClr val="C00000"/>
                    </a:solidFill>
                  </a:rPr>
                  <a:t>：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r>
                  <a:rPr lang="zh-CN" altLang="en-US" dirty="0"/>
                  <a:t>交叉熵 </a:t>
                </a:r>
                <a:r>
                  <a:rPr lang="en-US" altLang="zh-CN" dirty="0"/>
                  <a:t>(</a:t>
                </a:r>
                <a:r>
                  <a:rPr lang="en" altLang="zh-CN" dirty="0"/>
                  <a:t>Cross Entropy)</a:t>
                </a:r>
                <a:r>
                  <a:rPr lang="zh-CN" altLang="en-US" dirty="0"/>
                  <a:t>，衡量模型预测的概率分布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" altLang="zh-CN" dirty="0"/>
                  <a:t> </a:t>
                </a:r>
                <a:r>
                  <a:rPr lang="zh-CN" altLang="en-US" dirty="0"/>
                  <a:t>与真实标签分布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" altLang="zh-CN" dirty="0"/>
                  <a:t> </a:t>
                </a:r>
                <a:r>
                  <a:rPr lang="zh-CN" altLang="en-US" dirty="0"/>
                  <a:t>之间的差异</a:t>
                </a:r>
                <a:r>
                  <a:rPr lang="en-US" altLang="zh-CN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𝑳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𝟔𝟎𝟎𝟎𝟎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𝟔𝟎𝟎𝟎𝟎</m:t>
                          </m:r>
                        </m:sup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endParaRPr lang="en" altLang="zh-CN" dirty="0"/>
              </a:p>
              <a:p>
                <a:r>
                  <a:rPr lang="zh-CN" altLang="en-US" dirty="0"/>
                  <a:t>由于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" altLang="zh-CN" dirty="0"/>
                  <a:t> </a:t>
                </a:r>
                <a:r>
                  <a:rPr lang="zh-CN" altLang="en-US" dirty="0"/>
                  <a:t>是 </a:t>
                </a:r>
                <a:r>
                  <a:rPr lang="en" altLang="zh-CN" dirty="0"/>
                  <a:t>One-hot </a:t>
                </a:r>
                <a:r>
                  <a:rPr lang="zh-CN" altLang="en-US" dirty="0"/>
                  <a:t>向量（只有真实类别位置为 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，其余为 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），公式简化为：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)=−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𝟔𝟎𝟎𝟎𝟎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𝟔𝟎𝟎𝟎𝟎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altLang="zh-CN" b="1" i="1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target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0E66376-BDDA-C943-220F-B31453AE04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3796" y="964376"/>
                <a:ext cx="11429516" cy="5333856"/>
              </a:xfrm>
              <a:blipFill>
                <a:blip r:embed="rId2"/>
                <a:stretch>
                  <a:fillRect l="-333" t="-1188" b="-17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41767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B8F49-055D-04DD-CA4D-79CACCD6C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3EC45-4ED3-29E8-EAC9-C77CC26DE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</p:spPr>
        <p:txBody>
          <a:bodyPr/>
          <a:lstStyle/>
          <a:p>
            <a:r>
              <a:rPr lang="zh-CN" altLang="en-US" dirty="0"/>
              <a:t>案例：</a:t>
            </a:r>
            <a:r>
              <a:rPr lang="en-US" altLang="zh-CN" dirty="0"/>
              <a:t>MNIST</a:t>
            </a:r>
            <a:r>
              <a:rPr lang="zh-CN" altLang="en-US" dirty="0"/>
              <a:t>识别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D3266B0-962F-21B6-115F-C42A0F7B09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242" y="981154"/>
                <a:ext cx="11429516" cy="2075811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5. 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优化算法：</a:t>
                </a:r>
                <a:r>
                  <a:rPr lang="en" altLang="zh-CN" dirty="0">
                    <a:solidFill>
                      <a:srgbClr val="C00000"/>
                    </a:solidFill>
                  </a:rPr>
                  <a:t>SGD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，每次随机取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128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张图片作为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loss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 估计梯度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𝑳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𝟏𝟐𝟖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𝟏𝟐𝟖</m:t>
                          </m:r>
                        </m:sup>
                        <m:e>
                          <m:r>
                            <a:rPr lang="zh-CN" altLang="en-US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𝟏𝟎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链式法则 </a:t>
                </a:r>
                <a:r>
                  <a:rPr lang="en-US" altLang="zh-CN" dirty="0"/>
                  <a:t>(</a:t>
                </a:r>
                <a:r>
                  <a:rPr lang="en" altLang="zh-CN" dirty="0"/>
                  <a:t>The Chain Rule)</a:t>
                </a:r>
                <a:r>
                  <a:rPr lang="zh-CN" altLang="en" dirty="0"/>
                  <a:t>反向传播：</a:t>
                </a:r>
              </a:p>
              <a:p>
                <a:r>
                  <a:rPr lang="zh-CN" altLang="en-US" dirty="0"/>
                  <a:t>例如计算 </a:t>
                </a:r>
                <a:r>
                  <a:rPr lang="en" altLang="zh-CN" dirty="0"/>
                  <a:t>Loss </a:t>
                </a:r>
                <a:r>
                  <a:rPr lang="zh-CN" altLang="en-US" dirty="0"/>
                  <a:t>对第一层权重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" altLang="zh-CN" dirty="0"/>
                  <a:t> </a:t>
                </a:r>
                <a:r>
                  <a:rPr lang="zh-CN" altLang="en-US" dirty="0"/>
                  <a:t>的梯度：</a:t>
                </a:r>
                <a:endParaRPr lang="en-US" altLang="zh-CN" dirty="0"/>
              </a:p>
              <a:p>
                <a:endParaRPr lang="en-US" altLang="zh-CN" b="1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D3266B0-962F-21B6-115F-C42A0F7B09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242" y="981154"/>
                <a:ext cx="11429516" cy="2075811"/>
              </a:xfrm>
              <a:blipFill>
                <a:blip r:embed="rId105"/>
                <a:stretch>
                  <a:fillRect l="-444" t="-17073" b="-207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7" name="组合 96" descr="\documentclass{article}&#10;\usepackage{amsmath}&#10;\pagestyle{empty}&#10;\begin{document}&#10;&#10;$$\frac{\partial L}{\partial W^{(1)}} = \underbrace{\frac{\partial L}{\partial z^{(2)}}}_{\text{error}} \cdot \underbrace{\frac{\partial z^{(2)}}{\partial a^{(1)}}}_{W^{(2)}} \cdot \underbrace{\frac{\partial a^{(1)}}{\partial z^{(1)}}}_{\sigma'} \cdot \underbrace{\frac{\partial z^{(1)}}{\partial W^{(1)}}}_{x^T}$$&#10;&#10;\end{document}" title="IguanaTex Vector Display">
            <a:extLst>
              <a:ext uri="{FF2B5EF4-FFF2-40B4-BE49-F238E27FC236}">
                <a16:creationId xmlns:a16="http://schemas.microsoft.com/office/drawing/2014/main" id="{099E40DC-3245-A349-0525-985AF26286B2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654173" y="3196141"/>
            <a:ext cx="4647224" cy="1067266"/>
            <a:chOff x="5068116" y="3592692"/>
            <a:chExt cx="2681712" cy="615873"/>
          </a:xfrm>
        </p:grpSpPr>
        <p:sp>
          <p:nvSpPr>
            <p:cNvPr id="7" name="任意形状 6">
              <a:extLst>
                <a:ext uri="{FF2B5EF4-FFF2-40B4-BE49-F238E27FC236}">
                  <a16:creationId xmlns:a16="http://schemas.microsoft.com/office/drawing/2014/main" id="{E7CD4C1D-206A-CB54-A13C-4A039724A71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5196117" y="3620965"/>
              <a:ext cx="86518" cy="121388"/>
            </a:xfrm>
            <a:custGeom>
              <a:avLst/>
              <a:gdLst>
                <a:gd name="csX0" fmla="*/ 69737 w 86518"/>
                <a:gd name="csY0" fmla="*/ 62083 h 121388"/>
                <a:gd name="csX1" fmla="*/ 48519 w 86518"/>
                <a:gd name="csY1" fmla="*/ 42674 h 121388"/>
                <a:gd name="csX2" fmla="*/ 14964 w 86518"/>
                <a:gd name="csY2" fmla="*/ 58135 h 121388"/>
                <a:gd name="csX3" fmla="*/ 160 w 86518"/>
                <a:gd name="csY3" fmla="*/ 92183 h 121388"/>
                <a:gd name="csX4" fmla="*/ 30425 w 86518"/>
                <a:gd name="csY4" fmla="*/ 121461 h 121388"/>
                <a:gd name="csX5" fmla="*/ 86679 w 86518"/>
                <a:gd name="csY5" fmla="*/ 42674 h 121388"/>
                <a:gd name="csX6" fmla="*/ 51150 w 86518"/>
                <a:gd name="csY6" fmla="*/ 73 h 121388"/>
                <a:gd name="csX7" fmla="*/ 19734 w 86518"/>
                <a:gd name="csY7" fmla="*/ 26061 h 121388"/>
                <a:gd name="csX8" fmla="*/ 25984 w 86518"/>
                <a:gd name="csY8" fmla="*/ 31818 h 121388"/>
                <a:gd name="csX9" fmla="*/ 34866 w 86518"/>
                <a:gd name="csY9" fmla="*/ 23100 h 121388"/>
                <a:gd name="csX10" fmla="*/ 27136 w 86518"/>
                <a:gd name="csY10" fmla="*/ 17343 h 121388"/>
                <a:gd name="csX11" fmla="*/ 50821 w 86518"/>
                <a:gd name="csY11" fmla="*/ 4185 h 121388"/>
                <a:gd name="csX12" fmla="*/ 74342 w 86518"/>
                <a:gd name="csY12" fmla="*/ 33956 h 121388"/>
                <a:gd name="csX13" fmla="*/ 69901 w 86518"/>
                <a:gd name="csY13" fmla="*/ 62083 h 121388"/>
                <a:gd name="csX14" fmla="*/ 69737 w 86518"/>
                <a:gd name="csY14" fmla="*/ 62083 h 121388"/>
                <a:gd name="csX15" fmla="*/ 30919 w 86518"/>
                <a:gd name="csY15" fmla="*/ 116856 h 121388"/>
                <a:gd name="csX16" fmla="*/ 12826 w 86518"/>
                <a:gd name="csY16" fmla="*/ 98269 h 121388"/>
                <a:gd name="csX17" fmla="*/ 23682 w 86518"/>
                <a:gd name="csY17" fmla="*/ 60931 h 121388"/>
                <a:gd name="csX18" fmla="*/ 48519 w 86518"/>
                <a:gd name="csY18" fmla="*/ 46292 h 121388"/>
                <a:gd name="csX19" fmla="*/ 66776 w 86518"/>
                <a:gd name="csY19" fmla="*/ 68004 h 121388"/>
                <a:gd name="csX20" fmla="*/ 30919 w 86518"/>
                <a:gd name="csY20" fmla="*/ 116856 h 1213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86518" h="121388">
                  <a:moveTo>
                    <a:pt x="69737" y="62083"/>
                  </a:moveTo>
                  <a:cubicBezTo>
                    <a:pt x="68092" y="51885"/>
                    <a:pt x="61348" y="42674"/>
                    <a:pt x="48519" y="42674"/>
                  </a:cubicBezTo>
                  <a:cubicBezTo>
                    <a:pt x="38485" y="42674"/>
                    <a:pt x="27794" y="45305"/>
                    <a:pt x="14964" y="58135"/>
                  </a:cubicBezTo>
                  <a:cubicBezTo>
                    <a:pt x="1312" y="71787"/>
                    <a:pt x="160" y="87084"/>
                    <a:pt x="160" y="92183"/>
                  </a:cubicBezTo>
                  <a:cubicBezTo>
                    <a:pt x="160" y="102381"/>
                    <a:pt x="7398" y="121461"/>
                    <a:pt x="30425" y="121461"/>
                  </a:cubicBezTo>
                  <a:cubicBezTo>
                    <a:pt x="69572" y="121461"/>
                    <a:pt x="86679" y="66195"/>
                    <a:pt x="86679" y="42674"/>
                  </a:cubicBezTo>
                  <a:cubicBezTo>
                    <a:pt x="86679" y="16521"/>
                    <a:pt x="71382" y="73"/>
                    <a:pt x="51150" y="73"/>
                  </a:cubicBezTo>
                  <a:cubicBezTo>
                    <a:pt x="27300" y="73"/>
                    <a:pt x="19734" y="21455"/>
                    <a:pt x="19734" y="26061"/>
                  </a:cubicBezTo>
                  <a:cubicBezTo>
                    <a:pt x="19734" y="28364"/>
                    <a:pt x="21050" y="31818"/>
                    <a:pt x="25984" y="31818"/>
                  </a:cubicBezTo>
                  <a:cubicBezTo>
                    <a:pt x="31412" y="31818"/>
                    <a:pt x="34866" y="26883"/>
                    <a:pt x="34866" y="23100"/>
                  </a:cubicBezTo>
                  <a:cubicBezTo>
                    <a:pt x="34866" y="17343"/>
                    <a:pt x="29767" y="17343"/>
                    <a:pt x="27136" y="17343"/>
                  </a:cubicBezTo>
                  <a:cubicBezTo>
                    <a:pt x="34373" y="5172"/>
                    <a:pt x="46051" y="4185"/>
                    <a:pt x="50821" y="4185"/>
                  </a:cubicBezTo>
                  <a:cubicBezTo>
                    <a:pt x="62829" y="4185"/>
                    <a:pt x="74342" y="12738"/>
                    <a:pt x="74342" y="33956"/>
                  </a:cubicBezTo>
                  <a:cubicBezTo>
                    <a:pt x="74342" y="40371"/>
                    <a:pt x="73355" y="48760"/>
                    <a:pt x="69901" y="62083"/>
                  </a:cubicBezTo>
                  <a:lnTo>
                    <a:pt x="69737" y="62083"/>
                  </a:lnTo>
                  <a:close/>
                  <a:moveTo>
                    <a:pt x="30919" y="116856"/>
                  </a:moveTo>
                  <a:cubicBezTo>
                    <a:pt x="12826" y="116856"/>
                    <a:pt x="12826" y="99914"/>
                    <a:pt x="12826" y="98269"/>
                  </a:cubicBezTo>
                  <a:cubicBezTo>
                    <a:pt x="12826" y="93828"/>
                    <a:pt x="16938" y="70800"/>
                    <a:pt x="23682" y="60931"/>
                  </a:cubicBezTo>
                  <a:cubicBezTo>
                    <a:pt x="30261" y="51556"/>
                    <a:pt x="38321" y="46292"/>
                    <a:pt x="48519" y="46292"/>
                  </a:cubicBezTo>
                  <a:cubicBezTo>
                    <a:pt x="66447" y="46292"/>
                    <a:pt x="66776" y="64714"/>
                    <a:pt x="66776" y="68004"/>
                  </a:cubicBezTo>
                  <a:cubicBezTo>
                    <a:pt x="66776" y="79847"/>
                    <a:pt x="56249" y="116856"/>
                    <a:pt x="30919" y="116856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8" name="任意形状 7">
              <a:extLst>
                <a:ext uri="{FF2B5EF4-FFF2-40B4-BE49-F238E27FC236}">
                  <a16:creationId xmlns:a16="http://schemas.microsoft.com/office/drawing/2014/main" id="{64BCBA49-D406-D2B7-6F04-9F778D5A3A5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5292415" y="3626393"/>
              <a:ext cx="99347" cy="112342"/>
            </a:xfrm>
            <a:custGeom>
              <a:avLst/>
              <a:gdLst>
                <a:gd name="csX0" fmla="*/ 55268 w 99347"/>
                <a:gd name="csY0" fmla="*/ 12902 h 112342"/>
                <a:gd name="csX1" fmla="*/ 72703 w 99347"/>
                <a:gd name="csY1" fmla="*/ 5172 h 112342"/>
                <a:gd name="csX2" fmla="*/ 78954 w 99347"/>
                <a:gd name="csY2" fmla="*/ 2046 h 112342"/>
                <a:gd name="csX3" fmla="*/ 76322 w 99347"/>
                <a:gd name="csY3" fmla="*/ 73 h 112342"/>
                <a:gd name="csX4" fmla="*/ 51979 w 99347"/>
                <a:gd name="csY4" fmla="*/ 566 h 112342"/>
                <a:gd name="csX5" fmla="*/ 30102 w 99347"/>
                <a:gd name="csY5" fmla="*/ 73 h 112342"/>
                <a:gd name="csX6" fmla="*/ 26977 w 99347"/>
                <a:gd name="csY6" fmla="*/ 3362 h 112342"/>
                <a:gd name="csX7" fmla="*/ 31583 w 99347"/>
                <a:gd name="csY7" fmla="*/ 5172 h 112342"/>
                <a:gd name="csX8" fmla="*/ 37833 w 99347"/>
                <a:gd name="csY8" fmla="*/ 5501 h 112342"/>
                <a:gd name="csX9" fmla="*/ 42274 w 99347"/>
                <a:gd name="csY9" fmla="*/ 8132 h 112342"/>
                <a:gd name="csX10" fmla="*/ 41616 w 99347"/>
                <a:gd name="csY10" fmla="*/ 11257 h 112342"/>
                <a:gd name="csX11" fmla="*/ 19575 w 99347"/>
                <a:gd name="csY11" fmla="*/ 99585 h 112342"/>
                <a:gd name="csX12" fmla="*/ 4607 w 99347"/>
                <a:gd name="csY12" fmla="*/ 107316 h 112342"/>
                <a:gd name="csX13" fmla="*/ 166 w 99347"/>
                <a:gd name="csY13" fmla="*/ 110605 h 112342"/>
                <a:gd name="csX14" fmla="*/ 4607 w 99347"/>
                <a:gd name="csY14" fmla="*/ 112415 h 112342"/>
                <a:gd name="csX15" fmla="*/ 80763 w 99347"/>
                <a:gd name="csY15" fmla="*/ 112415 h 112342"/>
                <a:gd name="csX16" fmla="*/ 85862 w 99347"/>
                <a:gd name="csY16" fmla="*/ 109618 h 112342"/>
                <a:gd name="csX17" fmla="*/ 98856 w 99347"/>
                <a:gd name="csY17" fmla="*/ 74090 h 112342"/>
                <a:gd name="csX18" fmla="*/ 99514 w 99347"/>
                <a:gd name="csY18" fmla="*/ 71787 h 112342"/>
                <a:gd name="csX19" fmla="*/ 97540 w 99347"/>
                <a:gd name="csY19" fmla="*/ 69978 h 112342"/>
                <a:gd name="csX20" fmla="*/ 94744 w 99347"/>
                <a:gd name="csY20" fmla="*/ 73432 h 112342"/>
                <a:gd name="csX21" fmla="*/ 53459 w 99347"/>
                <a:gd name="csY21" fmla="*/ 107316 h 112342"/>
                <a:gd name="csX22" fmla="*/ 37997 w 99347"/>
                <a:gd name="csY22" fmla="*/ 107316 h 112342"/>
                <a:gd name="csX23" fmla="*/ 34379 w 99347"/>
                <a:gd name="csY23" fmla="*/ 107151 h 112342"/>
                <a:gd name="csX24" fmla="*/ 32241 w 99347"/>
                <a:gd name="csY24" fmla="*/ 105506 h 112342"/>
                <a:gd name="csX25" fmla="*/ 33063 w 99347"/>
                <a:gd name="csY25" fmla="*/ 101723 h 112342"/>
                <a:gd name="csX26" fmla="*/ 55268 w 99347"/>
                <a:gd name="csY26" fmla="*/ 12902 h 1123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99347" h="112342">
                  <a:moveTo>
                    <a:pt x="55268" y="12902"/>
                  </a:moveTo>
                  <a:cubicBezTo>
                    <a:pt x="56749" y="6981"/>
                    <a:pt x="57242" y="5172"/>
                    <a:pt x="72703" y="5172"/>
                  </a:cubicBezTo>
                  <a:cubicBezTo>
                    <a:pt x="77638" y="5172"/>
                    <a:pt x="78954" y="5172"/>
                    <a:pt x="78954" y="2046"/>
                  </a:cubicBezTo>
                  <a:cubicBezTo>
                    <a:pt x="78954" y="73"/>
                    <a:pt x="77144" y="73"/>
                    <a:pt x="76322" y="73"/>
                  </a:cubicBezTo>
                  <a:cubicBezTo>
                    <a:pt x="70894" y="73"/>
                    <a:pt x="57406" y="566"/>
                    <a:pt x="51979" y="566"/>
                  </a:cubicBezTo>
                  <a:cubicBezTo>
                    <a:pt x="47044" y="566"/>
                    <a:pt x="35037" y="73"/>
                    <a:pt x="30102" y="73"/>
                  </a:cubicBezTo>
                  <a:cubicBezTo>
                    <a:pt x="28951" y="73"/>
                    <a:pt x="26977" y="73"/>
                    <a:pt x="26977" y="3362"/>
                  </a:cubicBezTo>
                  <a:cubicBezTo>
                    <a:pt x="26977" y="5172"/>
                    <a:pt x="28457" y="5172"/>
                    <a:pt x="31583" y="5172"/>
                  </a:cubicBezTo>
                  <a:cubicBezTo>
                    <a:pt x="31912" y="5172"/>
                    <a:pt x="35037" y="5172"/>
                    <a:pt x="37833" y="5501"/>
                  </a:cubicBezTo>
                  <a:cubicBezTo>
                    <a:pt x="40794" y="5830"/>
                    <a:pt x="42274" y="5994"/>
                    <a:pt x="42274" y="8132"/>
                  </a:cubicBezTo>
                  <a:cubicBezTo>
                    <a:pt x="42274" y="8790"/>
                    <a:pt x="42110" y="9284"/>
                    <a:pt x="41616" y="11257"/>
                  </a:cubicBezTo>
                  <a:lnTo>
                    <a:pt x="19575" y="99585"/>
                  </a:lnTo>
                  <a:cubicBezTo>
                    <a:pt x="17931" y="106000"/>
                    <a:pt x="17602" y="107316"/>
                    <a:pt x="4607" y="107316"/>
                  </a:cubicBezTo>
                  <a:cubicBezTo>
                    <a:pt x="1811" y="107316"/>
                    <a:pt x="166" y="107316"/>
                    <a:pt x="166" y="110605"/>
                  </a:cubicBezTo>
                  <a:cubicBezTo>
                    <a:pt x="166" y="112415"/>
                    <a:pt x="1647" y="112415"/>
                    <a:pt x="4607" y="112415"/>
                  </a:cubicBezTo>
                  <a:lnTo>
                    <a:pt x="80763" y="112415"/>
                  </a:lnTo>
                  <a:cubicBezTo>
                    <a:pt x="84711" y="112415"/>
                    <a:pt x="84875" y="112415"/>
                    <a:pt x="85862" y="109618"/>
                  </a:cubicBezTo>
                  <a:lnTo>
                    <a:pt x="98856" y="74090"/>
                  </a:lnTo>
                  <a:cubicBezTo>
                    <a:pt x="99514" y="72281"/>
                    <a:pt x="99514" y="71952"/>
                    <a:pt x="99514" y="71787"/>
                  </a:cubicBezTo>
                  <a:cubicBezTo>
                    <a:pt x="99514" y="71129"/>
                    <a:pt x="99021" y="69978"/>
                    <a:pt x="97540" y="69978"/>
                  </a:cubicBezTo>
                  <a:cubicBezTo>
                    <a:pt x="96060" y="69978"/>
                    <a:pt x="95896" y="70800"/>
                    <a:pt x="94744" y="73432"/>
                  </a:cubicBezTo>
                  <a:cubicBezTo>
                    <a:pt x="89152" y="88565"/>
                    <a:pt x="81914" y="107316"/>
                    <a:pt x="53459" y="107316"/>
                  </a:cubicBezTo>
                  <a:lnTo>
                    <a:pt x="37997" y="107316"/>
                  </a:lnTo>
                  <a:cubicBezTo>
                    <a:pt x="35695" y="107316"/>
                    <a:pt x="35366" y="107316"/>
                    <a:pt x="34379" y="107151"/>
                  </a:cubicBezTo>
                  <a:cubicBezTo>
                    <a:pt x="32734" y="106987"/>
                    <a:pt x="32241" y="106822"/>
                    <a:pt x="32241" y="105506"/>
                  </a:cubicBezTo>
                  <a:cubicBezTo>
                    <a:pt x="32241" y="105013"/>
                    <a:pt x="32241" y="104684"/>
                    <a:pt x="33063" y="101723"/>
                  </a:cubicBezTo>
                  <a:lnTo>
                    <a:pt x="55268" y="12902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C8C738D-A314-4D38-96D1-F071A6C55154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5068116" y="3805599"/>
              <a:ext cx="451244" cy="6578"/>
            </a:xfrm>
            <a:prstGeom prst="rect">
              <a:avLst/>
            </a:pr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10" name="任意形状 9">
              <a:extLst>
                <a:ext uri="{FF2B5EF4-FFF2-40B4-BE49-F238E27FC236}">
                  <a16:creationId xmlns:a16="http://schemas.microsoft.com/office/drawing/2014/main" id="{15E2364B-49D2-E7A2-B7FD-73B9B76F1F1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5074696" y="3848016"/>
              <a:ext cx="86518" cy="121388"/>
            </a:xfrm>
            <a:custGeom>
              <a:avLst/>
              <a:gdLst>
                <a:gd name="csX0" fmla="*/ 69730 w 86518"/>
                <a:gd name="csY0" fmla="*/ 62097 h 121388"/>
                <a:gd name="csX1" fmla="*/ 48511 w 86518"/>
                <a:gd name="csY1" fmla="*/ 42687 h 121388"/>
                <a:gd name="csX2" fmla="*/ 14957 w 86518"/>
                <a:gd name="csY2" fmla="*/ 58149 h 121388"/>
                <a:gd name="csX3" fmla="*/ 153 w 86518"/>
                <a:gd name="csY3" fmla="*/ 92197 h 121388"/>
                <a:gd name="csX4" fmla="*/ 30418 w 86518"/>
                <a:gd name="csY4" fmla="*/ 121475 h 121388"/>
                <a:gd name="csX5" fmla="*/ 86671 w 86518"/>
                <a:gd name="csY5" fmla="*/ 42687 h 121388"/>
                <a:gd name="csX6" fmla="*/ 51143 w 86518"/>
                <a:gd name="csY6" fmla="*/ 86 h 121388"/>
                <a:gd name="csX7" fmla="*/ 19727 w 86518"/>
                <a:gd name="csY7" fmla="*/ 26075 h 121388"/>
                <a:gd name="csX8" fmla="*/ 25977 w 86518"/>
                <a:gd name="csY8" fmla="*/ 31832 h 121388"/>
                <a:gd name="csX9" fmla="*/ 34859 w 86518"/>
                <a:gd name="csY9" fmla="*/ 23114 h 121388"/>
                <a:gd name="csX10" fmla="*/ 27128 w 86518"/>
                <a:gd name="csY10" fmla="*/ 17357 h 121388"/>
                <a:gd name="csX11" fmla="*/ 50814 w 86518"/>
                <a:gd name="csY11" fmla="*/ 4198 h 121388"/>
                <a:gd name="csX12" fmla="*/ 74335 w 86518"/>
                <a:gd name="csY12" fmla="*/ 33970 h 121388"/>
                <a:gd name="csX13" fmla="*/ 69894 w 86518"/>
                <a:gd name="csY13" fmla="*/ 62097 h 121388"/>
                <a:gd name="csX14" fmla="*/ 69730 w 86518"/>
                <a:gd name="csY14" fmla="*/ 62097 h 121388"/>
                <a:gd name="csX15" fmla="*/ 30911 w 86518"/>
                <a:gd name="csY15" fmla="*/ 116869 h 121388"/>
                <a:gd name="csX16" fmla="*/ 12818 w 86518"/>
                <a:gd name="csY16" fmla="*/ 98283 h 121388"/>
                <a:gd name="csX17" fmla="*/ 23674 w 86518"/>
                <a:gd name="csY17" fmla="*/ 60945 h 121388"/>
                <a:gd name="csX18" fmla="*/ 48511 w 86518"/>
                <a:gd name="csY18" fmla="*/ 46306 h 121388"/>
                <a:gd name="csX19" fmla="*/ 66769 w 86518"/>
                <a:gd name="csY19" fmla="*/ 68018 h 121388"/>
                <a:gd name="csX20" fmla="*/ 30911 w 86518"/>
                <a:gd name="csY20" fmla="*/ 116869 h 1213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86518" h="121388">
                  <a:moveTo>
                    <a:pt x="69730" y="62097"/>
                  </a:moveTo>
                  <a:cubicBezTo>
                    <a:pt x="68085" y="51899"/>
                    <a:pt x="61341" y="42687"/>
                    <a:pt x="48511" y="42687"/>
                  </a:cubicBezTo>
                  <a:cubicBezTo>
                    <a:pt x="38478" y="42687"/>
                    <a:pt x="27786" y="45319"/>
                    <a:pt x="14957" y="58149"/>
                  </a:cubicBezTo>
                  <a:cubicBezTo>
                    <a:pt x="1305" y="71801"/>
                    <a:pt x="153" y="87098"/>
                    <a:pt x="153" y="92197"/>
                  </a:cubicBezTo>
                  <a:cubicBezTo>
                    <a:pt x="153" y="102395"/>
                    <a:pt x="7390" y="121475"/>
                    <a:pt x="30418" y="121475"/>
                  </a:cubicBezTo>
                  <a:cubicBezTo>
                    <a:pt x="69565" y="121475"/>
                    <a:pt x="86671" y="66209"/>
                    <a:pt x="86671" y="42687"/>
                  </a:cubicBezTo>
                  <a:cubicBezTo>
                    <a:pt x="86671" y="16535"/>
                    <a:pt x="71374" y="86"/>
                    <a:pt x="51143" y="86"/>
                  </a:cubicBezTo>
                  <a:cubicBezTo>
                    <a:pt x="27293" y="86"/>
                    <a:pt x="19727" y="21469"/>
                    <a:pt x="19727" y="26075"/>
                  </a:cubicBezTo>
                  <a:cubicBezTo>
                    <a:pt x="19727" y="28377"/>
                    <a:pt x="21042" y="31832"/>
                    <a:pt x="25977" y="31832"/>
                  </a:cubicBezTo>
                  <a:cubicBezTo>
                    <a:pt x="31405" y="31832"/>
                    <a:pt x="34859" y="26897"/>
                    <a:pt x="34859" y="23114"/>
                  </a:cubicBezTo>
                  <a:cubicBezTo>
                    <a:pt x="34859" y="17357"/>
                    <a:pt x="29760" y="17357"/>
                    <a:pt x="27128" y="17357"/>
                  </a:cubicBezTo>
                  <a:cubicBezTo>
                    <a:pt x="34366" y="5185"/>
                    <a:pt x="46044" y="4198"/>
                    <a:pt x="50814" y="4198"/>
                  </a:cubicBezTo>
                  <a:cubicBezTo>
                    <a:pt x="62821" y="4198"/>
                    <a:pt x="74335" y="12752"/>
                    <a:pt x="74335" y="33970"/>
                  </a:cubicBezTo>
                  <a:cubicBezTo>
                    <a:pt x="74335" y="40385"/>
                    <a:pt x="73348" y="48773"/>
                    <a:pt x="69894" y="62097"/>
                  </a:cubicBezTo>
                  <a:lnTo>
                    <a:pt x="69730" y="62097"/>
                  </a:lnTo>
                  <a:close/>
                  <a:moveTo>
                    <a:pt x="30911" y="116869"/>
                  </a:moveTo>
                  <a:cubicBezTo>
                    <a:pt x="12818" y="116869"/>
                    <a:pt x="12818" y="99928"/>
                    <a:pt x="12818" y="98283"/>
                  </a:cubicBezTo>
                  <a:cubicBezTo>
                    <a:pt x="12818" y="93842"/>
                    <a:pt x="16930" y="70814"/>
                    <a:pt x="23674" y="60945"/>
                  </a:cubicBezTo>
                  <a:cubicBezTo>
                    <a:pt x="30254" y="51570"/>
                    <a:pt x="38313" y="46306"/>
                    <a:pt x="48511" y="46306"/>
                  </a:cubicBezTo>
                  <a:cubicBezTo>
                    <a:pt x="66440" y="46306"/>
                    <a:pt x="66769" y="64728"/>
                    <a:pt x="66769" y="68018"/>
                  </a:cubicBezTo>
                  <a:cubicBezTo>
                    <a:pt x="66769" y="79861"/>
                    <a:pt x="56242" y="116869"/>
                    <a:pt x="30911" y="116869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11" name="任意形状 10">
              <a:extLst>
                <a:ext uri="{FF2B5EF4-FFF2-40B4-BE49-F238E27FC236}">
                  <a16:creationId xmlns:a16="http://schemas.microsoft.com/office/drawing/2014/main" id="{118EE822-4751-A640-31A1-1A31EF5DCE09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5173625" y="3853444"/>
              <a:ext cx="163331" cy="115960"/>
            </a:xfrm>
            <a:custGeom>
              <a:avLst/>
              <a:gdLst>
                <a:gd name="csX0" fmla="*/ 141943 w 163331"/>
                <a:gd name="csY0" fmla="*/ 19166 h 115960"/>
                <a:gd name="csX1" fmla="*/ 160366 w 163331"/>
                <a:gd name="csY1" fmla="*/ 5185 h 115960"/>
                <a:gd name="csX2" fmla="*/ 163491 w 163331"/>
                <a:gd name="csY2" fmla="*/ 1896 h 115960"/>
                <a:gd name="csX3" fmla="*/ 161517 w 163331"/>
                <a:gd name="csY3" fmla="*/ 86 h 115960"/>
                <a:gd name="csX4" fmla="*/ 148852 w 163331"/>
                <a:gd name="csY4" fmla="*/ 580 h 115960"/>
                <a:gd name="csX5" fmla="*/ 131746 w 163331"/>
                <a:gd name="csY5" fmla="*/ 86 h 115960"/>
                <a:gd name="csX6" fmla="*/ 128620 w 163331"/>
                <a:gd name="csY6" fmla="*/ 3212 h 115960"/>
                <a:gd name="csX7" fmla="*/ 131088 w 163331"/>
                <a:gd name="csY7" fmla="*/ 5185 h 115960"/>
                <a:gd name="csX8" fmla="*/ 140792 w 163331"/>
                <a:gd name="csY8" fmla="*/ 11600 h 115960"/>
                <a:gd name="csX9" fmla="*/ 138654 w 163331"/>
                <a:gd name="csY9" fmla="*/ 17028 h 115960"/>
                <a:gd name="csX10" fmla="*/ 94243 w 163331"/>
                <a:gd name="csY10" fmla="*/ 94500 h 115960"/>
                <a:gd name="csX11" fmla="*/ 88157 w 163331"/>
                <a:gd name="csY11" fmla="*/ 12916 h 115960"/>
                <a:gd name="csX12" fmla="*/ 99671 w 163331"/>
                <a:gd name="csY12" fmla="*/ 5185 h 115960"/>
                <a:gd name="csX13" fmla="*/ 104112 w 163331"/>
                <a:gd name="csY13" fmla="*/ 1896 h 115960"/>
                <a:gd name="csX14" fmla="*/ 101645 w 163331"/>
                <a:gd name="csY14" fmla="*/ 86 h 115960"/>
                <a:gd name="csX15" fmla="*/ 81578 w 163331"/>
                <a:gd name="csY15" fmla="*/ 580 h 115960"/>
                <a:gd name="csX16" fmla="*/ 64307 w 163331"/>
                <a:gd name="csY16" fmla="*/ 86 h 115960"/>
                <a:gd name="csX17" fmla="*/ 61182 w 163331"/>
                <a:gd name="csY17" fmla="*/ 3376 h 115960"/>
                <a:gd name="csX18" fmla="*/ 65130 w 163331"/>
                <a:gd name="csY18" fmla="*/ 5185 h 115960"/>
                <a:gd name="csX19" fmla="*/ 73847 w 163331"/>
                <a:gd name="csY19" fmla="*/ 9297 h 115960"/>
                <a:gd name="csX20" fmla="*/ 74834 w 163331"/>
                <a:gd name="csY20" fmla="*/ 21963 h 115960"/>
                <a:gd name="csX21" fmla="*/ 33220 w 163331"/>
                <a:gd name="csY21" fmla="*/ 94500 h 115960"/>
                <a:gd name="csX22" fmla="*/ 26970 w 163331"/>
                <a:gd name="csY22" fmla="*/ 11107 h 115960"/>
                <a:gd name="csX23" fmla="*/ 39470 w 163331"/>
                <a:gd name="csY23" fmla="*/ 5185 h 115960"/>
                <a:gd name="csX24" fmla="*/ 42925 w 163331"/>
                <a:gd name="csY24" fmla="*/ 1896 h 115960"/>
                <a:gd name="csX25" fmla="*/ 40622 w 163331"/>
                <a:gd name="csY25" fmla="*/ 86 h 115960"/>
                <a:gd name="csX26" fmla="*/ 20390 w 163331"/>
                <a:gd name="csY26" fmla="*/ 580 h 115960"/>
                <a:gd name="csX27" fmla="*/ 3120 w 163331"/>
                <a:gd name="csY27" fmla="*/ 86 h 115960"/>
                <a:gd name="csX28" fmla="*/ 159 w 163331"/>
                <a:gd name="csY28" fmla="*/ 3212 h 115960"/>
                <a:gd name="csX29" fmla="*/ 4271 w 163331"/>
                <a:gd name="csY29" fmla="*/ 5185 h 115960"/>
                <a:gd name="csX30" fmla="*/ 12989 w 163331"/>
                <a:gd name="csY30" fmla="*/ 11271 h 115960"/>
                <a:gd name="csX31" fmla="*/ 20390 w 163331"/>
                <a:gd name="csY31" fmla="*/ 111770 h 115960"/>
                <a:gd name="csX32" fmla="*/ 23022 w 163331"/>
                <a:gd name="csY32" fmla="*/ 116047 h 115960"/>
                <a:gd name="csX33" fmla="*/ 26970 w 163331"/>
                <a:gd name="csY33" fmla="*/ 112593 h 115960"/>
                <a:gd name="csX34" fmla="*/ 75328 w 163331"/>
                <a:gd name="csY34" fmla="*/ 28706 h 115960"/>
                <a:gd name="csX35" fmla="*/ 81414 w 163331"/>
                <a:gd name="csY35" fmla="*/ 111770 h 115960"/>
                <a:gd name="csX36" fmla="*/ 84045 w 163331"/>
                <a:gd name="csY36" fmla="*/ 116047 h 115960"/>
                <a:gd name="csX37" fmla="*/ 87993 w 163331"/>
                <a:gd name="csY37" fmla="*/ 112922 h 115960"/>
                <a:gd name="csX38" fmla="*/ 141943 w 163331"/>
                <a:gd name="csY38" fmla="*/ 19166 h 115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163331" h="115960">
                  <a:moveTo>
                    <a:pt x="141943" y="19166"/>
                  </a:moveTo>
                  <a:cubicBezTo>
                    <a:pt x="146056" y="11929"/>
                    <a:pt x="150003" y="6008"/>
                    <a:pt x="160366" y="5185"/>
                  </a:cubicBezTo>
                  <a:cubicBezTo>
                    <a:pt x="161846" y="5021"/>
                    <a:pt x="163491" y="5021"/>
                    <a:pt x="163491" y="1896"/>
                  </a:cubicBezTo>
                  <a:cubicBezTo>
                    <a:pt x="163491" y="1238"/>
                    <a:pt x="162833" y="86"/>
                    <a:pt x="161517" y="86"/>
                  </a:cubicBezTo>
                  <a:cubicBezTo>
                    <a:pt x="157569" y="86"/>
                    <a:pt x="152964" y="580"/>
                    <a:pt x="148852" y="580"/>
                  </a:cubicBezTo>
                  <a:cubicBezTo>
                    <a:pt x="143259" y="580"/>
                    <a:pt x="137173" y="86"/>
                    <a:pt x="131746" y="86"/>
                  </a:cubicBezTo>
                  <a:cubicBezTo>
                    <a:pt x="130759" y="86"/>
                    <a:pt x="128620" y="86"/>
                    <a:pt x="128620" y="3212"/>
                  </a:cubicBezTo>
                  <a:cubicBezTo>
                    <a:pt x="128620" y="5021"/>
                    <a:pt x="130101" y="5185"/>
                    <a:pt x="131088" y="5185"/>
                  </a:cubicBezTo>
                  <a:cubicBezTo>
                    <a:pt x="135035" y="5350"/>
                    <a:pt x="140792" y="6666"/>
                    <a:pt x="140792" y="11600"/>
                  </a:cubicBezTo>
                  <a:cubicBezTo>
                    <a:pt x="140792" y="13409"/>
                    <a:pt x="139970" y="14725"/>
                    <a:pt x="138654" y="17028"/>
                  </a:cubicBezTo>
                  <a:lnTo>
                    <a:pt x="94243" y="94500"/>
                  </a:lnTo>
                  <a:lnTo>
                    <a:pt x="88157" y="12916"/>
                  </a:lnTo>
                  <a:cubicBezTo>
                    <a:pt x="87993" y="9626"/>
                    <a:pt x="87664" y="5350"/>
                    <a:pt x="99671" y="5185"/>
                  </a:cubicBezTo>
                  <a:cubicBezTo>
                    <a:pt x="102468" y="5185"/>
                    <a:pt x="104112" y="5185"/>
                    <a:pt x="104112" y="1896"/>
                  </a:cubicBezTo>
                  <a:cubicBezTo>
                    <a:pt x="104112" y="251"/>
                    <a:pt x="102303" y="86"/>
                    <a:pt x="101645" y="86"/>
                  </a:cubicBezTo>
                  <a:cubicBezTo>
                    <a:pt x="95066" y="86"/>
                    <a:pt x="88157" y="580"/>
                    <a:pt x="81578" y="580"/>
                  </a:cubicBezTo>
                  <a:cubicBezTo>
                    <a:pt x="77795" y="580"/>
                    <a:pt x="68091" y="86"/>
                    <a:pt x="64307" y="86"/>
                  </a:cubicBezTo>
                  <a:cubicBezTo>
                    <a:pt x="63321" y="86"/>
                    <a:pt x="61182" y="86"/>
                    <a:pt x="61182" y="3376"/>
                  </a:cubicBezTo>
                  <a:cubicBezTo>
                    <a:pt x="61182" y="5185"/>
                    <a:pt x="62827" y="5185"/>
                    <a:pt x="65130" y="5185"/>
                  </a:cubicBezTo>
                  <a:cubicBezTo>
                    <a:pt x="72367" y="5185"/>
                    <a:pt x="73518" y="6172"/>
                    <a:pt x="73847" y="9297"/>
                  </a:cubicBezTo>
                  <a:lnTo>
                    <a:pt x="74834" y="21963"/>
                  </a:lnTo>
                  <a:lnTo>
                    <a:pt x="33220" y="94500"/>
                  </a:lnTo>
                  <a:lnTo>
                    <a:pt x="26970" y="11107"/>
                  </a:lnTo>
                  <a:cubicBezTo>
                    <a:pt x="26970" y="9133"/>
                    <a:pt x="26970" y="5350"/>
                    <a:pt x="39470" y="5185"/>
                  </a:cubicBezTo>
                  <a:cubicBezTo>
                    <a:pt x="41115" y="5185"/>
                    <a:pt x="42925" y="5185"/>
                    <a:pt x="42925" y="1896"/>
                  </a:cubicBezTo>
                  <a:cubicBezTo>
                    <a:pt x="42925" y="86"/>
                    <a:pt x="40951" y="86"/>
                    <a:pt x="40622" y="86"/>
                  </a:cubicBezTo>
                  <a:cubicBezTo>
                    <a:pt x="34043" y="86"/>
                    <a:pt x="27134" y="580"/>
                    <a:pt x="20390" y="580"/>
                  </a:cubicBezTo>
                  <a:cubicBezTo>
                    <a:pt x="14633" y="580"/>
                    <a:pt x="8712" y="86"/>
                    <a:pt x="3120" y="86"/>
                  </a:cubicBezTo>
                  <a:cubicBezTo>
                    <a:pt x="2297" y="86"/>
                    <a:pt x="159" y="86"/>
                    <a:pt x="159" y="3212"/>
                  </a:cubicBezTo>
                  <a:cubicBezTo>
                    <a:pt x="159" y="5185"/>
                    <a:pt x="1639" y="5185"/>
                    <a:pt x="4271" y="5185"/>
                  </a:cubicBezTo>
                  <a:cubicBezTo>
                    <a:pt x="12495" y="5185"/>
                    <a:pt x="12660" y="6666"/>
                    <a:pt x="12989" y="11271"/>
                  </a:cubicBezTo>
                  <a:lnTo>
                    <a:pt x="20390" y="111770"/>
                  </a:lnTo>
                  <a:cubicBezTo>
                    <a:pt x="20555" y="114731"/>
                    <a:pt x="20719" y="116047"/>
                    <a:pt x="23022" y="116047"/>
                  </a:cubicBezTo>
                  <a:cubicBezTo>
                    <a:pt x="24996" y="116047"/>
                    <a:pt x="25489" y="115060"/>
                    <a:pt x="26970" y="112593"/>
                  </a:cubicBezTo>
                  <a:lnTo>
                    <a:pt x="75328" y="28706"/>
                  </a:lnTo>
                  <a:lnTo>
                    <a:pt x="81414" y="111770"/>
                  </a:lnTo>
                  <a:cubicBezTo>
                    <a:pt x="81743" y="115225"/>
                    <a:pt x="82072" y="116047"/>
                    <a:pt x="84045" y="116047"/>
                  </a:cubicBezTo>
                  <a:cubicBezTo>
                    <a:pt x="86184" y="116047"/>
                    <a:pt x="87171" y="114402"/>
                    <a:pt x="87993" y="112922"/>
                  </a:cubicBezTo>
                  <a:lnTo>
                    <a:pt x="141943" y="19166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12" name="任意形状 11">
              <a:extLst>
                <a:ext uri="{FF2B5EF4-FFF2-40B4-BE49-F238E27FC236}">
                  <a16:creationId xmlns:a16="http://schemas.microsoft.com/office/drawing/2014/main" id="{701A8B4D-8952-42AC-587A-DC4D2323A4A2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5356010" y="3831915"/>
              <a:ext cx="29935" cy="115023"/>
            </a:xfrm>
            <a:custGeom>
              <a:avLst/>
              <a:gdLst>
                <a:gd name="csX0" fmla="*/ 27803 w 29935"/>
                <a:gd name="csY0" fmla="*/ 83 h 115023"/>
                <a:gd name="csX1" fmla="*/ 170 w 29935"/>
                <a:gd name="csY1" fmla="*/ 57537 h 115023"/>
                <a:gd name="csX2" fmla="*/ 27803 w 29935"/>
                <a:gd name="csY2" fmla="*/ 115107 h 115023"/>
                <a:gd name="csX3" fmla="*/ 30106 w 29935"/>
                <a:gd name="csY3" fmla="*/ 113725 h 115023"/>
                <a:gd name="csX4" fmla="*/ 28954 w 29935"/>
                <a:gd name="csY4" fmla="*/ 111998 h 115023"/>
                <a:gd name="csX5" fmla="*/ 7999 w 29935"/>
                <a:gd name="csY5" fmla="*/ 57653 h 115023"/>
                <a:gd name="csX6" fmla="*/ 29300 w 29935"/>
                <a:gd name="csY6" fmla="*/ 2847 h 115023"/>
                <a:gd name="csX7" fmla="*/ 30106 w 29935"/>
                <a:gd name="csY7" fmla="*/ 1465 h 115023"/>
                <a:gd name="csX8" fmla="*/ 27803 w 29935"/>
                <a:gd name="csY8" fmla="*/ 83 h 115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935" h="115023">
                  <a:moveTo>
                    <a:pt x="27803" y="83"/>
                  </a:moveTo>
                  <a:cubicBezTo>
                    <a:pt x="5927" y="15512"/>
                    <a:pt x="170" y="39921"/>
                    <a:pt x="170" y="57537"/>
                  </a:cubicBezTo>
                  <a:cubicBezTo>
                    <a:pt x="170" y="73772"/>
                    <a:pt x="5006" y="98987"/>
                    <a:pt x="27803" y="115107"/>
                  </a:cubicBezTo>
                  <a:cubicBezTo>
                    <a:pt x="28724" y="115107"/>
                    <a:pt x="30106" y="115107"/>
                    <a:pt x="30106" y="113725"/>
                  </a:cubicBezTo>
                  <a:cubicBezTo>
                    <a:pt x="30106" y="113034"/>
                    <a:pt x="29760" y="112804"/>
                    <a:pt x="28954" y="111998"/>
                  </a:cubicBezTo>
                  <a:cubicBezTo>
                    <a:pt x="13641" y="98181"/>
                    <a:pt x="7999" y="78608"/>
                    <a:pt x="7999" y="57653"/>
                  </a:cubicBezTo>
                  <a:cubicBezTo>
                    <a:pt x="7999" y="26565"/>
                    <a:pt x="19858" y="11367"/>
                    <a:pt x="29300" y="2847"/>
                  </a:cubicBezTo>
                  <a:cubicBezTo>
                    <a:pt x="29760" y="2386"/>
                    <a:pt x="30106" y="2041"/>
                    <a:pt x="30106" y="1465"/>
                  </a:cubicBezTo>
                  <a:cubicBezTo>
                    <a:pt x="30106" y="83"/>
                    <a:pt x="28724" y="83"/>
                    <a:pt x="27803" y="83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13" name="任意形状 12">
              <a:extLst>
                <a:ext uri="{FF2B5EF4-FFF2-40B4-BE49-F238E27FC236}">
                  <a16:creationId xmlns:a16="http://schemas.microsoft.com/office/drawing/2014/main" id="{67CCB70F-C56C-D616-7EAE-2EBCB765ED90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5406721" y="3841817"/>
              <a:ext cx="41910" cy="76451"/>
            </a:xfrm>
            <a:custGeom>
              <a:avLst/>
              <a:gdLst>
                <a:gd name="csX0" fmla="*/ 26194 w 41910"/>
                <a:gd name="csY0" fmla="*/ 3307 h 76451"/>
                <a:gd name="csX1" fmla="*/ 22740 w 41910"/>
                <a:gd name="csY1" fmla="*/ 83 h 76451"/>
                <a:gd name="csX2" fmla="*/ 173 w 41910"/>
                <a:gd name="csY2" fmla="*/ 7452 h 76451"/>
                <a:gd name="csX3" fmla="*/ 173 w 41910"/>
                <a:gd name="csY3" fmla="*/ 11597 h 76451"/>
                <a:gd name="csX4" fmla="*/ 16868 w 41910"/>
                <a:gd name="csY4" fmla="*/ 8373 h 76451"/>
                <a:gd name="csX5" fmla="*/ 16868 w 41910"/>
                <a:gd name="csY5" fmla="*/ 67094 h 76451"/>
                <a:gd name="csX6" fmla="*/ 5354 w 41910"/>
                <a:gd name="csY6" fmla="*/ 72390 h 76451"/>
                <a:gd name="csX7" fmla="*/ 979 w 41910"/>
                <a:gd name="csY7" fmla="*/ 72390 h 76451"/>
                <a:gd name="csX8" fmla="*/ 979 w 41910"/>
                <a:gd name="csY8" fmla="*/ 76535 h 76451"/>
                <a:gd name="csX9" fmla="*/ 21473 w 41910"/>
                <a:gd name="csY9" fmla="*/ 76075 h 76451"/>
                <a:gd name="csX10" fmla="*/ 42083 w 41910"/>
                <a:gd name="csY10" fmla="*/ 76535 h 76451"/>
                <a:gd name="csX11" fmla="*/ 42083 w 41910"/>
                <a:gd name="csY11" fmla="*/ 72390 h 76451"/>
                <a:gd name="csX12" fmla="*/ 37708 w 41910"/>
                <a:gd name="csY12" fmla="*/ 72390 h 76451"/>
                <a:gd name="csX13" fmla="*/ 26194 w 41910"/>
                <a:gd name="csY13" fmla="*/ 67094 h 76451"/>
                <a:gd name="csX14" fmla="*/ 26194 w 41910"/>
                <a:gd name="csY14" fmla="*/ 3307 h 764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1910" h="76451">
                  <a:moveTo>
                    <a:pt x="26194" y="3307"/>
                  </a:moveTo>
                  <a:cubicBezTo>
                    <a:pt x="26194" y="199"/>
                    <a:pt x="25964" y="83"/>
                    <a:pt x="22740" y="83"/>
                  </a:cubicBezTo>
                  <a:cubicBezTo>
                    <a:pt x="15371" y="7337"/>
                    <a:pt x="4894" y="7452"/>
                    <a:pt x="173" y="7452"/>
                  </a:cubicBezTo>
                  <a:lnTo>
                    <a:pt x="173" y="11597"/>
                  </a:lnTo>
                  <a:cubicBezTo>
                    <a:pt x="2936" y="11597"/>
                    <a:pt x="10535" y="11597"/>
                    <a:pt x="16868" y="8373"/>
                  </a:cubicBezTo>
                  <a:lnTo>
                    <a:pt x="16868" y="67094"/>
                  </a:lnTo>
                  <a:cubicBezTo>
                    <a:pt x="16868" y="70893"/>
                    <a:pt x="16868" y="72390"/>
                    <a:pt x="5354" y="72390"/>
                  </a:cubicBezTo>
                  <a:lnTo>
                    <a:pt x="979" y="72390"/>
                  </a:lnTo>
                  <a:lnTo>
                    <a:pt x="979" y="76535"/>
                  </a:lnTo>
                  <a:cubicBezTo>
                    <a:pt x="3051" y="76420"/>
                    <a:pt x="17213" y="76075"/>
                    <a:pt x="21473" y="76075"/>
                  </a:cubicBezTo>
                  <a:cubicBezTo>
                    <a:pt x="25043" y="76075"/>
                    <a:pt x="39550" y="76420"/>
                    <a:pt x="42083" y="76535"/>
                  </a:cubicBezTo>
                  <a:lnTo>
                    <a:pt x="42083" y="72390"/>
                  </a:lnTo>
                  <a:lnTo>
                    <a:pt x="37708" y="72390"/>
                  </a:lnTo>
                  <a:cubicBezTo>
                    <a:pt x="26194" y="72390"/>
                    <a:pt x="26194" y="70893"/>
                    <a:pt x="26194" y="67094"/>
                  </a:cubicBezTo>
                  <a:lnTo>
                    <a:pt x="26194" y="3307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14" name="任意形状 13">
              <a:extLst>
                <a:ext uri="{FF2B5EF4-FFF2-40B4-BE49-F238E27FC236}">
                  <a16:creationId xmlns:a16="http://schemas.microsoft.com/office/drawing/2014/main" id="{427285FF-7FC3-53C9-6ADF-E27485E05C90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5467911" y="3831915"/>
              <a:ext cx="29820" cy="115023"/>
            </a:xfrm>
            <a:custGeom>
              <a:avLst/>
              <a:gdLst>
                <a:gd name="csX0" fmla="*/ 2364 w 29820"/>
                <a:gd name="csY0" fmla="*/ 83 h 115023"/>
                <a:gd name="csX1" fmla="*/ 177 w 29820"/>
                <a:gd name="csY1" fmla="*/ 1465 h 115023"/>
                <a:gd name="csX2" fmla="*/ 1213 w 29820"/>
                <a:gd name="csY2" fmla="*/ 3192 h 115023"/>
                <a:gd name="csX3" fmla="*/ 22168 w 29820"/>
                <a:gd name="csY3" fmla="*/ 57537 h 115023"/>
                <a:gd name="csX4" fmla="*/ 2249 w 29820"/>
                <a:gd name="csY4" fmla="*/ 111077 h 115023"/>
                <a:gd name="csX5" fmla="*/ 177 w 29820"/>
                <a:gd name="csY5" fmla="*/ 113725 h 115023"/>
                <a:gd name="csX6" fmla="*/ 1674 w 29820"/>
                <a:gd name="csY6" fmla="*/ 115107 h 115023"/>
                <a:gd name="csX7" fmla="*/ 21593 w 29820"/>
                <a:gd name="csY7" fmla="*/ 93115 h 115023"/>
                <a:gd name="csX8" fmla="*/ 29998 w 29820"/>
                <a:gd name="csY8" fmla="*/ 57653 h 115023"/>
                <a:gd name="csX9" fmla="*/ 2364 w 29820"/>
                <a:gd name="csY9" fmla="*/ 83 h 115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9820" h="115023">
                  <a:moveTo>
                    <a:pt x="2364" y="83"/>
                  </a:moveTo>
                  <a:cubicBezTo>
                    <a:pt x="1559" y="83"/>
                    <a:pt x="177" y="83"/>
                    <a:pt x="177" y="1465"/>
                  </a:cubicBezTo>
                  <a:cubicBezTo>
                    <a:pt x="177" y="2041"/>
                    <a:pt x="522" y="2386"/>
                    <a:pt x="1213" y="3192"/>
                  </a:cubicBezTo>
                  <a:cubicBezTo>
                    <a:pt x="11115" y="12288"/>
                    <a:pt x="22168" y="27832"/>
                    <a:pt x="22168" y="57537"/>
                  </a:cubicBezTo>
                  <a:cubicBezTo>
                    <a:pt x="22168" y="81601"/>
                    <a:pt x="14684" y="99793"/>
                    <a:pt x="2249" y="111077"/>
                  </a:cubicBezTo>
                  <a:cubicBezTo>
                    <a:pt x="292" y="113034"/>
                    <a:pt x="177" y="113149"/>
                    <a:pt x="177" y="113725"/>
                  </a:cubicBezTo>
                  <a:cubicBezTo>
                    <a:pt x="177" y="114301"/>
                    <a:pt x="522" y="115107"/>
                    <a:pt x="1674" y="115107"/>
                  </a:cubicBezTo>
                  <a:cubicBezTo>
                    <a:pt x="3055" y="115107"/>
                    <a:pt x="13993" y="107507"/>
                    <a:pt x="21593" y="93115"/>
                  </a:cubicBezTo>
                  <a:cubicBezTo>
                    <a:pt x="26659" y="83559"/>
                    <a:pt x="29998" y="71124"/>
                    <a:pt x="29998" y="57653"/>
                  </a:cubicBezTo>
                  <a:cubicBezTo>
                    <a:pt x="29998" y="41418"/>
                    <a:pt x="25162" y="16203"/>
                    <a:pt x="2364" y="83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15" name="任意形状 14">
              <a:extLst>
                <a:ext uri="{FF2B5EF4-FFF2-40B4-BE49-F238E27FC236}">
                  <a16:creationId xmlns:a16="http://schemas.microsoft.com/office/drawing/2014/main" id="{9A21557D-85FB-8AD1-597D-A755AC550134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5593999" y="3789644"/>
              <a:ext cx="109381" cy="38489"/>
            </a:xfrm>
            <a:custGeom>
              <a:avLst/>
              <a:gdLst>
                <a:gd name="csX0" fmla="*/ 103973 w 109381"/>
                <a:gd name="csY0" fmla="*/ 6659 h 38489"/>
                <a:gd name="csX1" fmla="*/ 109566 w 109381"/>
                <a:gd name="csY1" fmla="*/ 3369 h 38489"/>
                <a:gd name="csX2" fmla="*/ 104138 w 109381"/>
                <a:gd name="csY2" fmla="*/ 79 h 38489"/>
                <a:gd name="csX3" fmla="*/ 5612 w 109381"/>
                <a:gd name="csY3" fmla="*/ 79 h 38489"/>
                <a:gd name="csX4" fmla="*/ 184 w 109381"/>
                <a:gd name="csY4" fmla="*/ 3369 h 38489"/>
                <a:gd name="csX5" fmla="*/ 5777 w 109381"/>
                <a:gd name="csY5" fmla="*/ 6659 h 38489"/>
                <a:gd name="csX6" fmla="*/ 103973 w 109381"/>
                <a:gd name="csY6" fmla="*/ 6659 h 38489"/>
                <a:gd name="csX7" fmla="*/ 104138 w 109381"/>
                <a:gd name="csY7" fmla="*/ 38568 h 38489"/>
                <a:gd name="csX8" fmla="*/ 109566 w 109381"/>
                <a:gd name="csY8" fmla="*/ 35279 h 38489"/>
                <a:gd name="csX9" fmla="*/ 103973 w 109381"/>
                <a:gd name="csY9" fmla="*/ 31989 h 38489"/>
                <a:gd name="csX10" fmla="*/ 5777 w 109381"/>
                <a:gd name="csY10" fmla="*/ 31989 h 38489"/>
                <a:gd name="csX11" fmla="*/ 184 w 109381"/>
                <a:gd name="csY11" fmla="*/ 35279 h 38489"/>
                <a:gd name="csX12" fmla="*/ 5612 w 109381"/>
                <a:gd name="csY12" fmla="*/ 38568 h 38489"/>
                <a:gd name="csX13" fmla="*/ 104138 w 109381"/>
                <a:gd name="csY13" fmla="*/ 38568 h 384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09381" h="38489">
                  <a:moveTo>
                    <a:pt x="103973" y="6659"/>
                  </a:moveTo>
                  <a:cubicBezTo>
                    <a:pt x="106441" y="6659"/>
                    <a:pt x="109566" y="6659"/>
                    <a:pt x="109566" y="3369"/>
                  </a:cubicBezTo>
                  <a:cubicBezTo>
                    <a:pt x="109566" y="79"/>
                    <a:pt x="106441" y="79"/>
                    <a:pt x="104138" y="79"/>
                  </a:cubicBezTo>
                  <a:lnTo>
                    <a:pt x="5612" y="79"/>
                  </a:lnTo>
                  <a:cubicBezTo>
                    <a:pt x="3310" y="79"/>
                    <a:pt x="184" y="79"/>
                    <a:pt x="184" y="3369"/>
                  </a:cubicBezTo>
                  <a:cubicBezTo>
                    <a:pt x="184" y="6659"/>
                    <a:pt x="3310" y="6659"/>
                    <a:pt x="5777" y="6659"/>
                  </a:cubicBezTo>
                  <a:lnTo>
                    <a:pt x="103973" y="6659"/>
                  </a:lnTo>
                  <a:close/>
                  <a:moveTo>
                    <a:pt x="104138" y="38568"/>
                  </a:moveTo>
                  <a:cubicBezTo>
                    <a:pt x="106441" y="38568"/>
                    <a:pt x="109566" y="38568"/>
                    <a:pt x="109566" y="35279"/>
                  </a:cubicBezTo>
                  <a:cubicBezTo>
                    <a:pt x="109566" y="31989"/>
                    <a:pt x="106441" y="31989"/>
                    <a:pt x="103973" y="31989"/>
                  </a:cubicBezTo>
                  <a:lnTo>
                    <a:pt x="5777" y="31989"/>
                  </a:lnTo>
                  <a:cubicBezTo>
                    <a:pt x="3310" y="31989"/>
                    <a:pt x="184" y="31989"/>
                    <a:pt x="184" y="35279"/>
                  </a:cubicBezTo>
                  <a:cubicBezTo>
                    <a:pt x="184" y="38568"/>
                    <a:pt x="3310" y="38568"/>
                    <a:pt x="5612" y="38568"/>
                  </a:cubicBezTo>
                  <a:lnTo>
                    <a:pt x="104138" y="38568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16" name="任意形状 15">
              <a:extLst>
                <a:ext uri="{FF2B5EF4-FFF2-40B4-BE49-F238E27FC236}">
                  <a16:creationId xmlns:a16="http://schemas.microsoft.com/office/drawing/2014/main" id="{83CA45A6-E636-0631-8B06-3BAA896715E2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5858915" y="3620965"/>
              <a:ext cx="86518" cy="121388"/>
            </a:xfrm>
            <a:custGeom>
              <a:avLst/>
              <a:gdLst>
                <a:gd name="csX0" fmla="*/ 69777 w 86518"/>
                <a:gd name="csY0" fmla="*/ 62083 h 121388"/>
                <a:gd name="csX1" fmla="*/ 48559 w 86518"/>
                <a:gd name="csY1" fmla="*/ 42674 h 121388"/>
                <a:gd name="csX2" fmla="*/ 15004 w 86518"/>
                <a:gd name="csY2" fmla="*/ 58135 h 121388"/>
                <a:gd name="csX3" fmla="*/ 201 w 86518"/>
                <a:gd name="csY3" fmla="*/ 92183 h 121388"/>
                <a:gd name="csX4" fmla="*/ 30466 w 86518"/>
                <a:gd name="csY4" fmla="*/ 121461 h 121388"/>
                <a:gd name="csX5" fmla="*/ 86719 w 86518"/>
                <a:gd name="csY5" fmla="*/ 42674 h 121388"/>
                <a:gd name="csX6" fmla="*/ 51190 w 86518"/>
                <a:gd name="csY6" fmla="*/ 73 h 121388"/>
                <a:gd name="csX7" fmla="*/ 19774 w 86518"/>
                <a:gd name="csY7" fmla="*/ 26061 h 121388"/>
                <a:gd name="csX8" fmla="*/ 26024 w 86518"/>
                <a:gd name="csY8" fmla="*/ 31818 h 121388"/>
                <a:gd name="csX9" fmla="*/ 34907 w 86518"/>
                <a:gd name="csY9" fmla="*/ 23100 h 121388"/>
                <a:gd name="csX10" fmla="*/ 27176 w 86518"/>
                <a:gd name="csY10" fmla="*/ 17343 h 121388"/>
                <a:gd name="csX11" fmla="*/ 50861 w 86518"/>
                <a:gd name="csY11" fmla="*/ 4185 h 121388"/>
                <a:gd name="csX12" fmla="*/ 74383 w 86518"/>
                <a:gd name="csY12" fmla="*/ 33956 h 121388"/>
                <a:gd name="csX13" fmla="*/ 69941 w 86518"/>
                <a:gd name="csY13" fmla="*/ 62083 h 121388"/>
                <a:gd name="csX14" fmla="*/ 69777 w 86518"/>
                <a:gd name="csY14" fmla="*/ 62083 h 121388"/>
                <a:gd name="csX15" fmla="*/ 30959 w 86518"/>
                <a:gd name="csY15" fmla="*/ 116856 h 121388"/>
                <a:gd name="csX16" fmla="*/ 12866 w 86518"/>
                <a:gd name="csY16" fmla="*/ 98269 h 121388"/>
                <a:gd name="csX17" fmla="*/ 23722 w 86518"/>
                <a:gd name="csY17" fmla="*/ 60931 h 121388"/>
                <a:gd name="csX18" fmla="*/ 48559 w 86518"/>
                <a:gd name="csY18" fmla="*/ 46292 h 121388"/>
                <a:gd name="csX19" fmla="*/ 66816 w 86518"/>
                <a:gd name="csY19" fmla="*/ 68004 h 121388"/>
                <a:gd name="csX20" fmla="*/ 30959 w 86518"/>
                <a:gd name="csY20" fmla="*/ 116856 h 1213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86518" h="121388">
                  <a:moveTo>
                    <a:pt x="69777" y="62083"/>
                  </a:moveTo>
                  <a:cubicBezTo>
                    <a:pt x="68132" y="51885"/>
                    <a:pt x="61388" y="42674"/>
                    <a:pt x="48559" y="42674"/>
                  </a:cubicBezTo>
                  <a:cubicBezTo>
                    <a:pt x="38525" y="42674"/>
                    <a:pt x="27834" y="45305"/>
                    <a:pt x="15004" y="58135"/>
                  </a:cubicBezTo>
                  <a:cubicBezTo>
                    <a:pt x="1352" y="71787"/>
                    <a:pt x="201" y="87084"/>
                    <a:pt x="201" y="92183"/>
                  </a:cubicBezTo>
                  <a:cubicBezTo>
                    <a:pt x="201" y="102381"/>
                    <a:pt x="7438" y="121461"/>
                    <a:pt x="30466" y="121461"/>
                  </a:cubicBezTo>
                  <a:cubicBezTo>
                    <a:pt x="69613" y="121461"/>
                    <a:pt x="86719" y="66195"/>
                    <a:pt x="86719" y="42674"/>
                  </a:cubicBezTo>
                  <a:cubicBezTo>
                    <a:pt x="86719" y="16521"/>
                    <a:pt x="71422" y="73"/>
                    <a:pt x="51190" y="73"/>
                  </a:cubicBezTo>
                  <a:cubicBezTo>
                    <a:pt x="27340" y="73"/>
                    <a:pt x="19774" y="21455"/>
                    <a:pt x="19774" y="26061"/>
                  </a:cubicBezTo>
                  <a:cubicBezTo>
                    <a:pt x="19774" y="28364"/>
                    <a:pt x="21090" y="31818"/>
                    <a:pt x="26024" y="31818"/>
                  </a:cubicBezTo>
                  <a:cubicBezTo>
                    <a:pt x="31452" y="31818"/>
                    <a:pt x="34907" y="26883"/>
                    <a:pt x="34907" y="23100"/>
                  </a:cubicBezTo>
                  <a:cubicBezTo>
                    <a:pt x="34907" y="17343"/>
                    <a:pt x="29808" y="17343"/>
                    <a:pt x="27176" y="17343"/>
                  </a:cubicBezTo>
                  <a:cubicBezTo>
                    <a:pt x="34413" y="5172"/>
                    <a:pt x="46091" y="4185"/>
                    <a:pt x="50861" y="4185"/>
                  </a:cubicBezTo>
                  <a:cubicBezTo>
                    <a:pt x="62869" y="4185"/>
                    <a:pt x="74383" y="12738"/>
                    <a:pt x="74383" y="33956"/>
                  </a:cubicBezTo>
                  <a:cubicBezTo>
                    <a:pt x="74383" y="40371"/>
                    <a:pt x="73396" y="48760"/>
                    <a:pt x="69941" y="62083"/>
                  </a:cubicBezTo>
                  <a:lnTo>
                    <a:pt x="69777" y="62083"/>
                  </a:lnTo>
                  <a:close/>
                  <a:moveTo>
                    <a:pt x="30959" y="116856"/>
                  </a:moveTo>
                  <a:cubicBezTo>
                    <a:pt x="12866" y="116856"/>
                    <a:pt x="12866" y="99914"/>
                    <a:pt x="12866" y="98269"/>
                  </a:cubicBezTo>
                  <a:cubicBezTo>
                    <a:pt x="12866" y="93828"/>
                    <a:pt x="16978" y="70800"/>
                    <a:pt x="23722" y="60931"/>
                  </a:cubicBezTo>
                  <a:cubicBezTo>
                    <a:pt x="30301" y="51556"/>
                    <a:pt x="38361" y="46292"/>
                    <a:pt x="48559" y="46292"/>
                  </a:cubicBezTo>
                  <a:cubicBezTo>
                    <a:pt x="66487" y="46292"/>
                    <a:pt x="66816" y="64714"/>
                    <a:pt x="66816" y="68004"/>
                  </a:cubicBezTo>
                  <a:cubicBezTo>
                    <a:pt x="66816" y="79847"/>
                    <a:pt x="56289" y="116856"/>
                    <a:pt x="30959" y="116856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17" name="任意形状 16">
              <a:extLst>
                <a:ext uri="{FF2B5EF4-FFF2-40B4-BE49-F238E27FC236}">
                  <a16:creationId xmlns:a16="http://schemas.microsoft.com/office/drawing/2014/main" id="{FFAE81B4-BA27-85AD-E07D-7022C108C614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5955213" y="3626393"/>
              <a:ext cx="99347" cy="112342"/>
            </a:xfrm>
            <a:custGeom>
              <a:avLst/>
              <a:gdLst>
                <a:gd name="csX0" fmla="*/ 55308 w 99347"/>
                <a:gd name="csY0" fmla="*/ 12902 h 112342"/>
                <a:gd name="csX1" fmla="*/ 72744 w 99347"/>
                <a:gd name="csY1" fmla="*/ 5172 h 112342"/>
                <a:gd name="csX2" fmla="*/ 78994 w 99347"/>
                <a:gd name="csY2" fmla="*/ 2046 h 112342"/>
                <a:gd name="csX3" fmla="*/ 76362 w 99347"/>
                <a:gd name="csY3" fmla="*/ 73 h 112342"/>
                <a:gd name="csX4" fmla="*/ 52019 w 99347"/>
                <a:gd name="csY4" fmla="*/ 566 h 112342"/>
                <a:gd name="csX5" fmla="*/ 30142 w 99347"/>
                <a:gd name="csY5" fmla="*/ 73 h 112342"/>
                <a:gd name="csX6" fmla="*/ 27017 w 99347"/>
                <a:gd name="csY6" fmla="*/ 3362 h 112342"/>
                <a:gd name="csX7" fmla="*/ 31623 w 99347"/>
                <a:gd name="csY7" fmla="*/ 5172 h 112342"/>
                <a:gd name="csX8" fmla="*/ 37873 w 99347"/>
                <a:gd name="csY8" fmla="*/ 5501 h 112342"/>
                <a:gd name="csX9" fmla="*/ 42314 w 99347"/>
                <a:gd name="csY9" fmla="*/ 8132 h 112342"/>
                <a:gd name="csX10" fmla="*/ 41656 w 99347"/>
                <a:gd name="csY10" fmla="*/ 11257 h 112342"/>
                <a:gd name="csX11" fmla="*/ 19615 w 99347"/>
                <a:gd name="csY11" fmla="*/ 99585 h 112342"/>
                <a:gd name="csX12" fmla="*/ 4648 w 99347"/>
                <a:gd name="csY12" fmla="*/ 107316 h 112342"/>
                <a:gd name="csX13" fmla="*/ 206 w 99347"/>
                <a:gd name="csY13" fmla="*/ 110605 h 112342"/>
                <a:gd name="csX14" fmla="*/ 4648 w 99347"/>
                <a:gd name="csY14" fmla="*/ 112415 h 112342"/>
                <a:gd name="csX15" fmla="*/ 80803 w 99347"/>
                <a:gd name="csY15" fmla="*/ 112415 h 112342"/>
                <a:gd name="csX16" fmla="*/ 85902 w 99347"/>
                <a:gd name="csY16" fmla="*/ 109618 h 112342"/>
                <a:gd name="csX17" fmla="*/ 98896 w 99347"/>
                <a:gd name="csY17" fmla="*/ 74090 h 112342"/>
                <a:gd name="csX18" fmla="*/ 99554 w 99347"/>
                <a:gd name="csY18" fmla="*/ 71787 h 112342"/>
                <a:gd name="csX19" fmla="*/ 97581 w 99347"/>
                <a:gd name="csY19" fmla="*/ 69978 h 112342"/>
                <a:gd name="csX20" fmla="*/ 94784 w 99347"/>
                <a:gd name="csY20" fmla="*/ 73432 h 112342"/>
                <a:gd name="csX21" fmla="*/ 53499 w 99347"/>
                <a:gd name="csY21" fmla="*/ 107316 h 112342"/>
                <a:gd name="csX22" fmla="*/ 38038 w 99347"/>
                <a:gd name="csY22" fmla="*/ 107316 h 112342"/>
                <a:gd name="csX23" fmla="*/ 34419 w 99347"/>
                <a:gd name="csY23" fmla="*/ 107151 h 112342"/>
                <a:gd name="csX24" fmla="*/ 32281 w 99347"/>
                <a:gd name="csY24" fmla="*/ 105506 h 112342"/>
                <a:gd name="csX25" fmla="*/ 33103 w 99347"/>
                <a:gd name="csY25" fmla="*/ 101723 h 112342"/>
                <a:gd name="csX26" fmla="*/ 55308 w 99347"/>
                <a:gd name="csY26" fmla="*/ 12902 h 1123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99347" h="112342">
                  <a:moveTo>
                    <a:pt x="55308" y="12902"/>
                  </a:moveTo>
                  <a:cubicBezTo>
                    <a:pt x="56789" y="6981"/>
                    <a:pt x="57282" y="5172"/>
                    <a:pt x="72744" y="5172"/>
                  </a:cubicBezTo>
                  <a:cubicBezTo>
                    <a:pt x="77678" y="5172"/>
                    <a:pt x="78994" y="5172"/>
                    <a:pt x="78994" y="2046"/>
                  </a:cubicBezTo>
                  <a:cubicBezTo>
                    <a:pt x="78994" y="73"/>
                    <a:pt x="77185" y="73"/>
                    <a:pt x="76362" y="73"/>
                  </a:cubicBezTo>
                  <a:cubicBezTo>
                    <a:pt x="70934" y="73"/>
                    <a:pt x="57447" y="566"/>
                    <a:pt x="52019" y="566"/>
                  </a:cubicBezTo>
                  <a:cubicBezTo>
                    <a:pt x="47084" y="566"/>
                    <a:pt x="35077" y="73"/>
                    <a:pt x="30142" y="73"/>
                  </a:cubicBezTo>
                  <a:cubicBezTo>
                    <a:pt x="28991" y="73"/>
                    <a:pt x="27017" y="73"/>
                    <a:pt x="27017" y="3362"/>
                  </a:cubicBezTo>
                  <a:cubicBezTo>
                    <a:pt x="27017" y="5172"/>
                    <a:pt x="28498" y="5172"/>
                    <a:pt x="31623" y="5172"/>
                  </a:cubicBezTo>
                  <a:cubicBezTo>
                    <a:pt x="31952" y="5172"/>
                    <a:pt x="35077" y="5172"/>
                    <a:pt x="37873" y="5501"/>
                  </a:cubicBezTo>
                  <a:cubicBezTo>
                    <a:pt x="40834" y="5830"/>
                    <a:pt x="42314" y="5994"/>
                    <a:pt x="42314" y="8132"/>
                  </a:cubicBezTo>
                  <a:cubicBezTo>
                    <a:pt x="42314" y="8790"/>
                    <a:pt x="42150" y="9284"/>
                    <a:pt x="41656" y="11257"/>
                  </a:cubicBezTo>
                  <a:lnTo>
                    <a:pt x="19615" y="99585"/>
                  </a:lnTo>
                  <a:cubicBezTo>
                    <a:pt x="17971" y="106000"/>
                    <a:pt x="17642" y="107316"/>
                    <a:pt x="4648" y="107316"/>
                  </a:cubicBezTo>
                  <a:cubicBezTo>
                    <a:pt x="1851" y="107316"/>
                    <a:pt x="206" y="107316"/>
                    <a:pt x="206" y="110605"/>
                  </a:cubicBezTo>
                  <a:cubicBezTo>
                    <a:pt x="206" y="112415"/>
                    <a:pt x="1687" y="112415"/>
                    <a:pt x="4648" y="112415"/>
                  </a:cubicBezTo>
                  <a:lnTo>
                    <a:pt x="80803" y="112415"/>
                  </a:lnTo>
                  <a:cubicBezTo>
                    <a:pt x="84751" y="112415"/>
                    <a:pt x="84915" y="112415"/>
                    <a:pt x="85902" y="109618"/>
                  </a:cubicBezTo>
                  <a:lnTo>
                    <a:pt x="98896" y="74090"/>
                  </a:lnTo>
                  <a:cubicBezTo>
                    <a:pt x="99554" y="72281"/>
                    <a:pt x="99554" y="71952"/>
                    <a:pt x="99554" y="71787"/>
                  </a:cubicBezTo>
                  <a:cubicBezTo>
                    <a:pt x="99554" y="71129"/>
                    <a:pt x="99061" y="69978"/>
                    <a:pt x="97581" y="69978"/>
                  </a:cubicBezTo>
                  <a:cubicBezTo>
                    <a:pt x="96100" y="69978"/>
                    <a:pt x="95936" y="70800"/>
                    <a:pt x="94784" y="73432"/>
                  </a:cubicBezTo>
                  <a:cubicBezTo>
                    <a:pt x="89192" y="88565"/>
                    <a:pt x="81955" y="107316"/>
                    <a:pt x="53499" y="107316"/>
                  </a:cubicBezTo>
                  <a:lnTo>
                    <a:pt x="38038" y="107316"/>
                  </a:lnTo>
                  <a:cubicBezTo>
                    <a:pt x="35735" y="107316"/>
                    <a:pt x="35406" y="107316"/>
                    <a:pt x="34419" y="107151"/>
                  </a:cubicBezTo>
                  <a:cubicBezTo>
                    <a:pt x="32774" y="106987"/>
                    <a:pt x="32281" y="106822"/>
                    <a:pt x="32281" y="105506"/>
                  </a:cubicBezTo>
                  <a:cubicBezTo>
                    <a:pt x="32281" y="105013"/>
                    <a:pt x="32281" y="104684"/>
                    <a:pt x="33103" y="101723"/>
                  </a:cubicBezTo>
                  <a:lnTo>
                    <a:pt x="55308" y="12902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5FA2D88-7F63-8456-FF0A-36DB8DD00823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5778146" y="3805599"/>
              <a:ext cx="356781" cy="6578"/>
            </a:xfrm>
            <a:prstGeom prst="rect">
              <a:avLst/>
            </a:pr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19" name="任意形状 18">
              <a:extLst>
                <a:ext uri="{FF2B5EF4-FFF2-40B4-BE49-F238E27FC236}">
                  <a16:creationId xmlns:a16="http://schemas.microsoft.com/office/drawing/2014/main" id="{1C9D868B-7568-2C54-5227-3CACBEEEEC0A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5784725" y="3848016"/>
              <a:ext cx="86518" cy="121388"/>
            </a:xfrm>
            <a:custGeom>
              <a:avLst/>
              <a:gdLst>
                <a:gd name="csX0" fmla="*/ 69773 w 86518"/>
                <a:gd name="csY0" fmla="*/ 62097 h 121388"/>
                <a:gd name="csX1" fmla="*/ 48554 w 86518"/>
                <a:gd name="csY1" fmla="*/ 42687 h 121388"/>
                <a:gd name="csX2" fmla="*/ 15000 w 86518"/>
                <a:gd name="csY2" fmla="*/ 58149 h 121388"/>
                <a:gd name="csX3" fmla="*/ 196 w 86518"/>
                <a:gd name="csY3" fmla="*/ 92197 h 121388"/>
                <a:gd name="csX4" fmla="*/ 30461 w 86518"/>
                <a:gd name="csY4" fmla="*/ 121475 h 121388"/>
                <a:gd name="csX5" fmla="*/ 86714 w 86518"/>
                <a:gd name="csY5" fmla="*/ 42687 h 121388"/>
                <a:gd name="csX6" fmla="*/ 51186 w 86518"/>
                <a:gd name="csY6" fmla="*/ 86 h 121388"/>
                <a:gd name="csX7" fmla="*/ 19770 w 86518"/>
                <a:gd name="csY7" fmla="*/ 26075 h 121388"/>
                <a:gd name="csX8" fmla="*/ 26020 w 86518"/>
                <a:gd name="csY8" fmla="*/ 31832 h 121388"/>
                <a:gd name="csX9" fmla="*/ 34902 w 86518"/>
                <a:gd name="csY9" fmla="*/ 23114 h 121388"/>
                <a:gd name="csX10" fmla="*/ 27171 w 86518"/>
                <a:gd name="csY10" fmla="*/ 17357 h 121388"/>
                <a:gd name="csX11" fmla="*/ 50857 w 86518"/>
                <a:gd name="csY11" fmla="*/ 4198 h 121388"/>
                <a:gd name="csX12" fmla="*/ 74378 w 86518"/>
                <a:gd name="csY12" fmla="*/ 33970 h 121388"/>
                <a:gd name="csX13" fmla="*/ 69937 w 86518"/>
                <a:gd name="csY13" fmla="*/ 62097 h 121388"/>
                <a:gd name="csX14" fmla="*/ 69773 w 86518"/>
                <a:gd name="csY14" fmla="*/ 62097 h 121388"/>
                <a:gd name="csX15" fmla="*/ 30954 w 86518"/>
                <a:gd name="csY15" fmla="*/ 116869 h 121388"/>
                <a:gd name="csX16" fmla="*/ 12861 w 86518"/>
                <a:gd name="csY16" fmla="*/ 98283 h 121388"/>
                <a:gd name="csX17" fmla="*/ 23717 w 86518"/>
                <a:gd name="csY17" fmla="*/ 60945 h 121388"/>
                <a:gd name="csX18" fmla="*/ 48554 w 86518"/>
                <a:gd name="csY18" fmla="*/ 46306 h 121388"/>
                <a:gd name="csX19" fmla="*/ 66812 w 86518"/>
                <a:gd name="csY19" fmla="*/ 68018 h 121388"/>
                <a:gd name="csX20" fmla="*/ 30954 w 86518"/>
                <a:gd name="csY20" fmla="*/ 116869 h 1213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86518" h="121388">
                  <a:moveTo>
                    <a:pt x="69773" y="62097"/>
                  </a:moveTo>
                  <a:cubicBezTo>
                    <a:pt x="68128" y="51899"/>
                    <a:pt x="61384" y="42687"/>
                    <a:pt x="48554" y="42687"/>
                  </a:cubicBezTo>
                  <a:cubicBezTo>
                    <a:pt x="38521" y="42687"/>
                    <a:pt x="27829" y="45319"/>
                    <a:pt x="15000" y="58149"/>
                  </a:cubicBezTo>
                  <a:cubicBezTo>
                    <a:pt x="1348" y="71801"/>
                    <a:pt x="196" y="87098"/>
                    <a:pt x="196" y="92197"/>
                  </a:cubicBezTo>
                  <a:cubicBezTo>
                    <a:pt x="196" y="102395"/>
                    <a:pt x="7433" y="121475"/>
                    <a:pt x="30461" y="121475"/>
                  </a:cubicBezTo>
                  <a:cubicBezTo>
                    <a:pt x="69608" y="121475"/>
                    <a:pt x="86714" y="66209"/>
                    <a:pt x="86714" y="42687"/>
                  </a:cubicBezTo>
                  <a:cubicBezTo>
                    <a:pt x="86714" y="16535"/>
                    <a:pt x="71417" y="86"/>
                    <a:pt x="51186" y="86"/>
                  </a:cubicBezTo>
                  <a:cubicBezTo>
                    <a:pt x="27336" y="86"/>
                    <a:pt x="19770" y="21469"/>
                    <a:pt x="19770" y="26075"/>
                  </a:cubicBezTo>
                  <a:cubicBezTo>
                    <a:pt x="19770" y="28377"/>
                    <a:pt x="21085" y="31832"/>
                    <a:pt x="26020" y="31832"/>
                  </a:cubicBezTo>
                  <a:cubicBezTo>
                    <a:pt x="31448" y="31832"/>
                    <a:pt x="34902" y="26897"/>
                    <a:pt x="34902" y="23114"/>
                  </a:cubicBezTo>
                  <a:cubicBezTo>
                    <a:pt x="34902" y="17357"/>
                    <a:pt x="29803" y="17357"/>
                    <a:pt x="27171" y="17357"/>
                  </a:cubicBezTo>
                  <a:cubicBezTo>
                    <a:pt x="34409" y="5185"/>
                    <a:pt x="46087" y="4198"/>
                    <a:pt x="50857" y="4198"/>
                  </a:cubicBezTo>
                  <a:cubicBezTo>
                    <a:pt x="62864" y="4198"/>
                    <a:pt x="74378" y="12752"/>
                    <a:pt x="74378" y="33970"/>
                  </a:cubicBezTo>
                  <a:cubicBezTo>
                    <a:pt x="74378" y="40385"/>
                    <a:pt x="73391" y="48773"/>
                    <a:pt x="69937" y="62097"/>
                  </a:cubicBezTo>
                  <a:lnTo>
                    <a:pt x="69773" y="62097"/>
                  </a:lnTo>
                  <a:close/>
                  <a:moveTo>
                    <a:pt x="30954" y="116869"/>
                  </a:moveTo>
                  <a:cubicBezTo>
                    <a:pt x="12861" y="116869"/>
                    <a:pt x="12861" y="99928"/>
                    <a:pt x="12861" y="98283"/>
                  </a:cubicBezTo>
                  <a:cubicBezTo>
                    <a:pt x="12861" y="93842"/>
                    <a:pt x="16973" y="70814"/>
                    <a:pt x="23717" y="60945"/>
                  </a:cubicBezTo>
                  <a:cubicBezTo>
                    <a:pt x="30297" y="51570"/>
                    <a:pt x="38356" y="46306"/>
                    <a:pt x="48554" y="46306"/>
                  </a:cubicBezTo>
                  <a:cubicBezTo>
                    <a:pt x="66483" y="46306"/>
                    <a:pt x="66812" y="64728"/>
                    <a:pt x="66812" y="68018"/>
                  </a:cubicBezTo>
                  <a:cubicBezTo>
                    <a:pt x="66812" y="79861"/>
                    <a:pt x="56285" y="116869"/>
                    <a:pt x="30954" y="116869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20" name="任意形状 19">
              <a:extLst>
                <a:ext uri="{FF2B5EF4-FFF2-40B4-BE49-F238E27FC236}">
                  <a16:creationId xmlns:a16="http://schemas.microsoft.com/office/drawing/2014/main" id="{23A6FBAC-1057-A65A-F028-C7220D092BFE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5881681" y="3893084"/>
              <a:ext cx="69740" cy="74510"/>
            </a:xfrm>
            <a:custGeom>
              <a:avLst/>
              <a:gdLst>
                <a:gd name="csX0" fmla="*/ 15005 w 69740"/>
                <a:gd name="csY0" fmla="*/ 59136 h 74510"/>
                <a:gd name="csX1" fmla="*/ 34579 w 69740"/>
                <a:gd name="csY1" fmla="*/ 40385 h 74510"/>
                <a:gd name="csX2" fmla="*/ 50698 w 69740"/>
                <a:gd name="csY2" fmla="*/ 25581 h 74510"/>
                <a:gd name="csX3" fmla="*/ 69943 w 69740"/>
                <a:gd name="csY3" fmla="*/ 1731 h 74510"/>
                <a:gd name="csX4" fmla="*/ 68134 w 69740"/>
                <a:gd name="csY4" fmla="*/ 86 h 74510"/>
                <a:gd name="csX5" fmla="*/ 65666 w 69740"/>
                <a:gd name="csY5" fmla="*/ 1896 h 74510"/>
                <a:gd name="csX6" fmla="*/ 53330 w 69740"/>
                <a:gd name="csY6" fmla="*/ 12423 h 74510"/>
                <a:gd name="csX7" fmla="*/ 44941 w 69740"/>
                <a:gd name="csY7" fmla="*/ 7159 h 74510"/>
                <a:gd name="csX8" fmla="*/ 33592 w 69740"/>
                <a:gd name="csY8" fmla="*/ 86 h 74510"/>
                <a:gd name="csX9" fmla="*/ 13690 w 69740"/>
                <a:gd name="csY9" fmla="*/ 18837 h 74510"/>
                <a:gd name="csX10" fmla="*/ 15663 w 69740"/>
                <a:gd name="csY10" fmla="*/ 20647 h 74510"/>
                <a:gd name="csX11" fmla="*/ 17802 w 69740"/>
                <a:gd name="csY11" fmla="*/ 18837 h 74510"/>
                <a:gd name="csX12" fmla="*/ 31783 w 69740"/>
                <a:gd name="csY12" fmla="*/ 11107 h 74510"/>
                <a:gd name="csX13" fmla="*/ 42145 w 69740"/>
                <a:gd name="csY13" fmla="*/ 13574 h 74510"/>
                <a:gd name="csX14" fmla="*/ 54810 w 69740"/>
                <a:gd name="csY14" fmla="*/ 16041 h 74510"/>
                <a:gd name="csX15" fmla="*/ 31947 w 69740"/>
                <a:gd name="csY15" fmla="*/ 37589 h 74510"/>
                <a:gd name="csX16" fmla="*/ 17144 w 69740"/>
                <a:gd name="csY16" fmla="*/ 51405 h 74510"/>
                <a:gd name="csX17" fmla="*/ 202 w 69740"/>
                <a:gd name="csY17" fmla="*/ 72952 h 74510"/>
                <a:gd name="csX18" fmla="*/ 2176 w 69740"/>
                <a:gd name="csY18" fmla="*/ 74597 h 74510"/>
                <a:gd name="csX19" fmla="*/ 4807 w 69740"/>
                <a:gd name="csY19" fmla="*/ 72459 h 74510"/>
                <a:gd name="csX20" fmla="*/ 18789 w 69740"/>
                <a:gd name="csY20" fmla="*/ 62261 h 74510"/>
                <a:gd name="csX21" fmla="*/ 28329 w 69740"/>
                <a:gd name="csY21" fmla="*/ 68511 h 74510"/>
                <a:gd name="csX22" fmla="*/ 38856 w 69740"/>
                <a:gd name="csY22" fmla="*/ 74597 h 74510"/>
                <a:gd name="csX23" fmla="*/ 64679 w 69740"/>
                <a:gd name="csY23" fmla="*/ 49267 h 74510"/>
                <a:gd name="csX24" fmla="*/ 62706 w 69740"/>
                <a:gd name="csY24" fmla="*/ 47622 h 74510"/>
                <a:gd name="csX25" fmla="*/ 60403 w 69740"/>
                <a:gd name="csY25" fmla="*/ 49760 h 74510"/>
                <a:gd name="csX26" fmla="*/ 40665 w 69740"/>
                <a:gd name="csY26" fmla="*/ 63577 h 74510"/>
                <a:gd name="csX27" fmla="*/ 30960 w 69740"/>
                <a:gd name="csY27" fmla="*/ 61439 h 74510"/>
                <a:gd name="csX28" fmla="*/ 19446 w 69740"/>
                <a:gd name="csY28" fmla="*/ 58642 h 74510"/>
                <a:gd name="csX29" fmla="*/ 15005 w 69740"/>
                <a:gd name="csY29" fmla="*/ 59136 h 74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69740" h="74510">
                  <a:moveTo>
                    <a:pt x="15005" y="59136"/>
                  </a:moveTo>
                  <a:cubicBezTo>
                    <a:pt x="23888" y="49596"/>
                    <a:pt x="28658" y="45484"/>
                    <a:pt x="34579" y="40385"/>
                  </a:cubicBezTo>
                  <a:cubicBezTo>
                    <a:pt x="34579" y="40220"/>
                    <a:pt x="44777" y="31503"/>
                    <a:pt x="50698" y="25581"/>
                  </a:cubicBezTo>
                  <a:cubicBezTo>
                    <a:pt x="66324" y="10284"/>
                    <a:pt x="69943" y="2389"/>
                    <a:pt x="69943" y="1731"/>
                  </a:cubicBezTo>
                  <a:cubicBezTo>
                    <a:pt x="69943" y="86"/>
                    <a:pt x="68462" y="86"/>
                    <a:pt x="68134" y="86"/>
                  </a:cubicBezTo>
                  <a:cubicBezTo>
                    <a:pt x="66982" y="86"/>
                    <a:pt x="66489" y="415"/>
                    <a:pt x="65666" y="1896"/>
                  </a:cubicBezTo>
                  <a:cubicBezTo>
                    <a:pt x="60732" y="9791"/>
                    <a:pt x="57278" y="12423"/>
                    <a:pt x="53330" y="12423"/>
                  </a:cubicBezTo>
                  <a:cubicBezTo>
                    <a:pt x="49382" y="12423"/>
                    <a:pt x="47409" y="9955"/>
                    <a:pt x="44941" y="7159"/>
                  </a:cubicBezTo>
                  <a:cubicBezTo>
                    <a:pt x="41816" y="3376"/>
                    <a:pt x="39020" y="86"/>
                    <a:pt x="33592" y="86"/>
                  </a:cubicBezTo>
                  <a:cubicBezTo>
                    <a:pt x="21256" y="86"/>
                    <a:pt x="13690" y="15383"/>
                    <a:pt x="13690" y="18837"/>
                  </a:cubicBezTo>
                  <a:cubicBezTo>
                    <a:pt x="13690" y="19660"/>
                    <a:pt x="14183" y="20647"/>
                    <a:pt x="15663" y="20647"/>
                  </a:cubicBezTo>
                  <a:cubicBezTo>
                    <a:pt x="17144" y="20647"/>
                    <a:pt x="17473" y="19824"/>
                    <a:pt x="17802" y="18837"/>
                  </a:cubicBezTo>
                  <a:cubicBezTo>
                    <a:pt x="20927" y="11271"/>
                    <a:pt x="30467" y="11107"/>
                    <a:pt x="31783" y="11107"/>
                  </a:cubicBezTo>
                  <a:cubicBezTo>
                    <a:pt x="35237" y="11107"/>
                    <a:pt x="38362" y="12258"/>
                    <a:pt x="42145" y="13574"/>
                  </a:cubicBezTo>
                  <a:cubicBezTo>
                    <a:pt x="48725" y="16041"/>
                    <a:pt x="50534" y="16041"/>
                    <a:pt x="54810" y="16041"/>
                  </a:cubicBezTo>
                  <a:cubicBezTo>
                    <a:pt x="48889" y="23114"/>
                    <a:pt x="35072" y="34957"/>
                    <a:pt x="31947" y="37589"/>
                  </a:cubicBezTo>
                  <a:lnTo>
                    <a:pt x="17144" y="51405"/>
                  </a:lnTo>
                  <a:cubicBezTo>
                    <a:pt x="5959" y="62425"/>
                    <a:pt x="202" y="71801"/>
                    <a:pt x="202" y="72952"/>
                  </a:cubicBezTo>
                  <a:cubicBezTo>
                    <a:pt x="202" y="74597"/>
                    <a:pt x="1847" y="74597"/>
                    <a:pt x="2176" y="74597"/>
                  </a:cubicBezTo>
                  <a:cubicBezTo>
                    <a:pt x="3492" y="74597"/>
                    <a:pt x="3821" y="74268"/>
                    <a:pt x="4807" y="72459"/>
                  </a:cubicBezTo>
                  <a:cubicBezTo>
                    <a:pt x="8591" y="66702"/>
                    <a:pt x="13525" y="62261"/>
                    <a:pt x="18789" y="62261"/>
                  </a:cubicBezTo>
                  <a:cubicBezTo>
                    <a:pt x="22572" y="62261"/>
                    <a:pt x="24217" y="63741"/>
                    <a:pt x="28329" y="68511"/>
                  </a:cubicBezTo>
                  <a:cubicBezTo>
                    <a:pt x="31125" y="71966"/>
                    <a:pt x="34085" y="74597"/>
                    <a:pt x="38856" y="74597"/>
                  </a:cubicBezTo>
                  <a:cubicBezTo>
                    <a:pt x="55139" y="74597"/>
                    <a:pt x="64679" y="53708"/>
                    <a:pt x="64679" y="49267"/>
                  </a:cubicBezTo>
                  <a:cubicBezTo>
                    <a:pt x="64679" y="48444"/>
                    <a:pt x="64021" y="47622"/>
                    <a:pt x="62706" y="47622"/>
                  </a:cubicBezTo>
                  <a:cubicBezTo>
                    <a:pt x="61225" y="47622"/>
                    <a:pt x="60896" y="48609"/>
                    <a:pt x="60403" y="49760"/>
                  </a:cubicBezTo>
                  <a:cubicBezTo>
                    <a:pt x="56620" y="60452"/>
                    <a:pt x="46093" y="63577"/>
                    <a:pt x="40665" y="63577"/>
                  </a:cubicBezTo>
                  <a:cubicBezTo>
                    <a:pt x="37375" y="63577"/>
                    <a:pt x="34414" y="62590"/>
                    <a:pt x="30960" y="61439"/>
                  </a:cubicBezTo>
                  <a:cubicBezTo>
                    <a:pt x="25368" y="59300"/>
                    <a:pt x="22901" y="58642"/>
                    <a:pt x="19446" y="58642"/>
                  </a:cubicBezTo>
                  <a:cubicBezTo>
                    <a:pt x="19118" y="58642"/>
                    <a:pt x="16486" y="58642"/>
                    <a:pt x="15005" y="59136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E90B8145-924E-058A-AFA2-B1432C0069EB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5971576" y="3831915"/>
              <a:ext cx="29935" cy="115023"/>
            </a:xfrm>
            <a:custGeom>
              <a:avLst/>
              <a:gdLst>
                <a:gd name="csX0" fmla="*/ 27840 w 29935"/>
                <a:gd name="csY0" fmla="*/ 83 h 115023"/>
                <a:gd name="csX1" fmla="*/ 207 w 29935"/>
                <a:gd name="csY1" fmla="*/ 57537 h 115023"/>
                <a:gd name="csX2" fmla="*/ 27840 w 29935"/>
                <a:gd name="csY2" fmla="*/ 115107 h 115023"/>
                <a:gd name="csX3" fmla="*/ 30143 w 29935"/>
                <a:gd name="csY3" fmla="*/ 113725 h 115023"/>
                <a:gd name="csX4" fmla="*/ 28992 w 29935"/>
                <a:gd name="csY4" fmla="*/ 111998 h 115023"/>
                <a:gd name="csX5" fmla="*/ 8036 w 29935"/>
                <a:gd name="csY5" fmla="*/ 57653 h 115023"/>
                <a:gd name="csX6" fmla="*/ 29337 w 29935"/>
                <a:gd name="csY6" fmla="*/ 2847 h 115023"/>
                <a:gd name="csX7" fmla="*/ 30143 w 29935"/>
                <a:gd name="csY7" fmla="*/ 1465 h 115023"/>
                <a:gd name="csX8" fmla="*/ 27840 w 29935"/>
                <a:gd name="csY8" fmla="*/ 83 h 115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935" h="115023">
                  <a:moveTo>
                    <a:pt x="27840" y="83"/>
                  </a:moveTo>
                  <a:cubicBezTo>
                    <a:pt x="5964" y="15512"/>
                    <a:pt x="207" y="39921"/>
                    <a:pt x="207" y="57537"/>
                  </a:cubicBezTo>
                  <a:cubicBezTo>
                    <a:pt x="207" y="73772"/>
                    <a:pt x="5043" y="98987"/>
                    <a:pt x="27840" y="115107"/>
                  </a:cubicBezTo>
                  <a:cubicBezTo>
                    <a:pt x="28761" y="115107"/>
                    <a:pt x="30143" y="115107"/>
                    <a:pt x="30143" y="113725"/>
                  </a:cubicBezTo>
                  <a:cubicBezTo>
                    <a:pt x="30143" y="113034"/>
                    <a:pt x="29798" y="112804"/>
                    <a:pt x="28992" y="111998"/>
                  </a:cubicBezTo>
                  <a:cubicBezTo>
                    <a:pt x="13678" y="98181"/>
                    <a:pt x="8036" y="78608"/>
                    <a:pt x="8036" y="57653"/>
                  </a:cubicBezTo>
                  <a:cubicBezTo>
                    <a:pt x="8036" y="26565"/>
                    <a:pt x="19896" y="11367"/>
                    <a:pt x="29337" y="2847"/>
                  </a:cubicBezTo>
                  <a:cubicBezTo>
                    <a:pt x="29798" y="2386"/>
                    <a:pt x="30143" y="2041"/>
                    <a:pt x="30143" y="1465"/>
                  </a:cubicBezTo>
                  <a:cubicBezTo>
                    <a:pt x="30143" y="83"/>
                    <a:pt x="28761" y="83"/>
                    <a:pt x="27840" y="83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BFA9B2FD-C74B-7275-300D-65D93EB8DF2D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6016990" y="3841817"/>
              <a:ext cx="50891" cy="76451"/>
            </a:xfrm>
            <a:custGeom>
              <a:avLst/>
              <a:gdLst>
                <a:gd name="csX0" fmla="*/ 51101 w 50891"/>
                <a:gd name="csY0" fmla="*/ 55580 h 76451"/>
                <a:gd name="csX1" fmla="*/ 47187 w 50891"/>
                <a:gd name="csY1" fmla="*/ 55580 h 76451"/>
                <a:gd name="csX2" fmla="*/ 44193 w 50891"/>
                <a:gd name="csY2" fmla="*/ 66058 h 76451"/>
                <a:gd name="csX3" fmla="*/ 32794 w 50891"/>
                <a:gd name="csY3" fmla="*/ 66749 h 76451"/>
                <a:gd name="csX4" fmla="*/ 11609 w 50891"/>
                <a:gd name="csY4" fmla="*/ 66749 h 76451"/>
                <a:gd name="csX5" fmla="*/ 34637 w 50891"/>
                <a:gd name="csY5" fmla="*/ 47405 h 76451"/>
                <a:gd name="csX6" fmla="*/ 51101 w 50891"/>
                <a:gd name="csY6" fmla="*/ 22535 h 76451"/>
                <a:gd name="csX7" fmla="*/ 24159 w 50891"/>
                <a:gd name="csY7" fmla="*/ 83 h 76451"/>
                <a:gd name="csX8" fmla="*/ 210 w 50891"/>
                <a:gd name="csY8" fmla="*/ 20693 h 76451"/>
                <a:gd name="csX9" fmla="*/ 6312 w 50891"/>
                <a:gd name="csY9" fmla="*/ 27141 h 76451"/>
                <a:gd name="csX10" fmla="*/ 12415 w 50891"/>
                <a:gd name="csY10" fmla="*/ 21039 h 76451"/>
                <a:gd name="csX11" fmla="*/ 5622 w 50891"/>
                <a:gd name="csY11" fmla="*/ 14936 h 76451"/>
                <a:gd name="csX12" fmla="*/ 22432 w 50891"/>
                <a:gd name="csY12" fmla="*/ 4228 h 76451"/>
                <a:gd name="csX13" fmla="*/ 39933 w 50891"/>
                <a:gd name="csY13" fmla="*/ 22535 h 76451"/>
                <a:gd name="csX14" fmla="*/ 29110 w 50891"/>
                <a:gd name="csY14" fmla="*/ 44642 h 76451"/>
                <a:gd name="csX15" fmla="*/ 1362 w 50891"/>
                <a:gd name="csY15" fmla="*/ 72045 h 76451"/>
                <a:gd name="csX16" fmla="*/ 210 w 50891"/>
                <a:gd name="csY16" fmla="*/ 76535 h 76451"/>
                <a:gd name="csX17" fmla="*/ 47647 w 50891"/>
                <a:gd name="csY17" fmla="*/ 76535 h 76451"/>
                <a:gd name="csX18" fmla="*/ 51101 w 50891"/>
                <a:gd name="csY18" fmla="*/ 55580 h 764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0891" h="76451">
                  <a:moveTo>
                    <a:pt x="51101" y="55580"/>
                  </a:moveTo>
                  <a:lnTo>
                    <a:pt x="47187" y="55580"/>
                  </a:lnTo>
                  <a:cubicBezTo>
                    <a:pt x="46841" y="58113"/>
                    <a:pt x="45690" y="64906"/>
                    <a:pt x="44193" y="66058"/>
                  </a:cubicBezTo>
                  <a:cubicBezTo>
                    <a:pt x="43272" y="66749"/>
                    <a:pt x="34406" y="66749"/>
                    <a:pt x="32794" y="66749"/>
                  </a:cubicBezTo>
                  <a:lnTo>
                    <a:pt x="11609" y="66749"/>
                  </a:lnTo>
                  <a:cubicBezTo>
                    <a:pt x="23698" y="56041"/>
                    <a:pt x="27728" y="52817"/>
                    <a:pt x="34637" y="47405"/>
                  </a:cubicBezTo>
                  <a:cubicBezTo>
                    <a:pt x="43157" y="40612"/>
                    <a:pt x="51101" y="33474"/>
                    <a:pt x="51101" y="22535"/>
                  </a:cubicBezTo>
                  <a:cubicBezTo>
                    <a:pt x="51101" y="8604"/>
                    <a:pt x="38897" y="83"/>
                    <a:pt x="24159" y="83"/>
                  </a:cubicBezTo>
                  <a:cubicBezTo>
                    <a:pt x="9882" y="83"/>
                    <a:pt x="210" y="10101"/>
                    <a:pt x="210" y="20693"/>
                  </a:cubicBezTo>
                  <a:cubicBezTo>
                    <a:pt x="210" y="26565"/>
                    <a:pt x="5161" y="27141"/>
                    <a:pt x="6312" y="27141"/>
                  </a:cubicBezTo>
                  <a:cubicBezTo>
                    <a:pt x="9076" y="27141"/>
                    <a:pt x="12415" y="25184"/>
                    <a:pt x="12415" y="21039"/>
                  </a:cubicBezTo>
                  <a:cubicBezTo>
                    <a:pt x="12415" y="18966"/>
                    <a:pt x="11609" y="14936"/>
                    <a:pt x="5622" y="14936"/>
                  </a:cubicBezTo>
                  <a:cubicBezTo>
                    <a:pt x="9191" y="6761"/>
                    <a:pt x="17020" y="4228"/>
                    <a:pt x="22432" y="4228"/>
                  </a:cubicBezTo>
                  <a:cubicBezTo>
                    <a:pt x="33946" y="4228"/>
                    <a:pt x="39933" y="13209"/>
                    <a:pt x="39933" y="22535"/>
                  </a:cubicBezTo>
                  <a:cubicBezTo>
                    <a:pt x="39933" y="32552"/>
                    <a:pt x="32794" y="40497"/>
                    <a:pt x="29110" y="44642"/>
                  </a:cubicBezTo>
                  <a:lnTo>
                    <a:pt x="1362" y="72045"/>
                  </a:lnTo>
                  <a:cubicBezTo>
                    <a:pt x="210" y="73081"/>
                    <a:pt x="210" y="73311"/>
                    <a:pt x="210" y="76535"/>
                  </a:cubicBezTo>
                  <a:lnTo>
                    <a:pt x="47647" y="76535"/>
                  </a:lnTo>
                  <a:lnTo>
                    <a:pt x="51101" y="55580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4719351C-408D-60C7-E526-CBA6AB751BA3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6083477" y="3831915"/>
              <a:ext cx="29820" cy="115023"/>
            </a:xfrm>
            <a:custGeom>
              <a:avLst/>
              <a:gdLst>
                <a:gd name="csX0" fmla="*/ 2402 w 29820"/>
                <a:gd name="csY0" fmla="*/ 83 h 115023"/>
                <a:gd name="csX1" fmla="*/ 214 w 29820"/>
                <a:gd name="csY1" fmla="*/ 1465 h 115023"/>
                <a:gd name="csX2" fmla="*/ 1250 w 29820"/>
                <a:gd name="csY2" fmla="*/ 3192 h 115023"/>
                <a:gd name="csX3" fmla="*/ 22206 w 29820"/>
                <a:gd name="csY3" fmla="*/ 57537 h 115023"/>
                <a:gd name="csX4" fmla="*/ 2287 w 29820"/>
                <a:gd name="csY4" fmla="*/ 111077 h 115023"/>
                <a:gd name="csX5" fmla="*/ 214 w 29820"/>
                <a:gd name="csY5" fmla="*/ 113725 h 115023"/>
                <a:gd name="csX6" fmla="*/ 1711 w 29820"/>
                <a:gd name="csY6" fmla="*/ 115107 h 115023"/>
                <a:gd name="csX7" fmla="*/ 21630 w 29820"/>
                <a:gd name="csY7" fmla="*/ 93115 h 115023"/>
                <a:gd name="csX8" fmla="*/ 30035 w 29820"/>
                <a:gd name="csY8" fmla="*/ 57653 h 115023"/>
                <a:gd name="csX9" fmla="*/ 2402 w 29820"/>
                <a:gd name="csY9" fmla="*/ 83 h 115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9820" h="115023">
                  <a:moveTo>
                    <a:pt x="2402" y="83"/>
                  </a:moveTo>
                  <a:cubicBezTo>
                    <a:pt x="1596" y="83"/>
                    <a:pt x="214" y="83"/>
                    <a:pt x="214" y="1465"/>
                  </a:cubicBezTo>
                  <a:cubicBezTo>
                    <a:pt x="214" y="2041"/>
                    <a:pt x="560" y="2386"/>
                    <a:pt x="1250" y="3192"/>
                  </a:cubicBezTo>
                  <a:cubicBezTo>
                    <a:pt x="11152" y="12288"/>
                    <a:pt x="22206" y="27832"/>
                    <a:pt x="22206" y="57537"/>
                  </a:cubicBezTo>
                  <a:cubicBezTo>
                    <a:pt x="22206" y="81601"/>
                    <a:pt x="14722" y="99793"/>
                    <a:pt x="2287" y="111077"/>
                  </a:cubicBezTo>
                  <a:cubicBezTo>
                    <a:pt x="329" y="113034"/>
                    <a:pt x="214" y="113149"/>
                    <a:pt x="214" y="113725"/>
                  </a:cubicBezTo>
                  <a:cubicBezTo>
                    <a:pt x="214" y="114301"/>
                    <a:pt x="560" y="115107"/>
                    <a:pt x="1711" y="115107"/>
                  </a:cubicBezTo>
                  <a:cubicBezTo>
                    <a:pt x="3093" y="115107"/>
                    <a:pt x="14031" y="107507"/>
                    <a:pt x="21630" y="93115"/>
                  </a:cubicBezTo>
                  <a:cubicBezTo>
                    <a:pt x="26696" y="83559"/>
                    <a:pt x="30035" y="71124"/>
                    <a:pt x="30035" y="57653"/>
                  </a:cubicBezTo>
                  <a:cubicBezTo>
                    <a:pt x="30035" y="41418"/>
                    <a:pt x="25199" y="16203"/>
                    <a:pt x="2402" y="83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98F21A32-542F-E488-629E-9E01BB9A92A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5754460" y="3979931"/>
              <a:ext cx="79609" cy="54937"/>
            </a:xfrm>
            <a:custGeom>
              <a:avLst/>
              <a:gdLst>
                <a:gd name="csX0" fmla="*/ 79805 w 79609"/>
                <a:gd name="csY0" fmla="*/ 39895 h 54937"/>
                <a:gd name="csX1" fmla="*/ 77502 w 79609"/>
                <a:gd name="csY1" fmla="*/ 35290 h 54937"/>
                <a:gd name="csX2" fmla="*/ 36381 w 79609"/>
                <a:gd name="csY2" fmla="*/ 26572 h 54937"/>
                <a:gd name="csX3" fmla="*/ 7761 w 79609"/>
                <a:gd name="csY3" fmla="*/ 913 h 54937"/>
                <a:gd name="csX4" fmla="*/ 4143 w 79609"/>
                <a:gd name="csY4" fmla="*/ 91 h 54937"/>
                <a:gd name="csX5" fmla="*/ 195 w 79609"/>
                <a:gd name="csY5" fmla="*/ 4367 h 54937"/>
                <a:gd name="csX6" fmla="*/ 195 w 79609"/>
                <a:gd name="csY6" fmla="*/ 6999 h 54937"/>
                <a:gd name="csX7" fmla="*/ 76351 w 79609"/>
                <a:gd name="csY7" fmla="*/ 55028 h 54937"/>
                <a:gd name="csX8" fmla="*/ 79805 w 79609"/>
                <a:gd name="csY8" fmla="*/ 50422 h 54937"/>
                <a:gd name="csX9" fmla="*/ 79805 w 79609"/>
                <a:gd name="csY9" fmla="*/ 39895 h 54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9609" h="54937">
                  <a:moveTo>
                    <a:pt x="79805" y="39895"/>
                  </a:moveTo>
                  <a:cubicBezTo>
                    <a:pt x="79805" y="36112"/>
                    <a:pt x="79805" y="35290"/>
                    <a:pt x="77502" y="35290"/>
                  </a:cubicBezTo>
                  <a:cubicBezTo>
                    <a:pt x="67469" y="35125"/>
                    <a:pt x="51185" y="33810"/>
                    <a:pt x="36381" y="26572"/>
                  </a:cubicBezTo>
                  <a:cubicBezTo>
                    <a:pt x="18617" y="17690"/>
                    <a:pt x="11873" y="7328"/>
                    <a:pt x="7761" y="913"/>
                  </a:cubicBezTo>
                  <a:cubicBezTo>
                    <a:pt x="7268" y="91"/>
                    <a:pt x="6281" y="91"/>
                    <a:pt x="4143" y="91"/>
                  </a:cubicBezTo>
                  <a:cubicBezTo>
                    <a:pt x="359" y="91"/>
                    <a:pt x="195" y="255"/>
                    <a:pt x="195" y="4367"/>
                  </a:cubicBezTo>
                  <a:lnTo>
                    <a:pt x="195" y="6999"/>
                  </a:lnTo>
                  <a:cubicBezTo>
                    <a:pt x="22565" y="47297"/>
                    <a:pt x="59573" y="55028"/>
                    <a:pt x="76351" y="55028"/>
                  </a:cubicBezTo>
                  <a:cubicBezTo>
                    <a:pt x="79805" y="55028"/>
                    <a:pt x="79805" y="54863"/>
                    <a:pt x="79805" y="50422"/>
                  </a:cubicBezTo>
                  <a:lnTo>
                    <a:pt x="79805" y="39895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95E2755-DC6F-B5FF-6129-1BC8802D04CD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5832426" y="4015131"/>
              <a:ext cx="50092" cy="19737"/>
            </a:xfrm>
            <a:prstGeom prst="rect">
              <a:avLst/>
            </a:pr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26" name="任意形状 25">
              <a:extLst>
                <a:ext uri="{FF2B5EF4-FFF2-40B4-BE49-F238E27FC236}">
                  <a16:creationId xmlns:a16="http://schemas.microsoft.com/office/drawing/2014/main" id="{D6EE396E-5A8A-B6EA-B5FA-D70983FAA9E5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5880873" y="4015130"/>
              <a:ext cx="79609" cy="54937"/>
            </a:xfrm>
            <a:custGeom>
              <a:avLst/>
              <a:gdLst>
                <a:gd name="csX0" fmla="*/ 79812 w 79609"/>
                <a:gd name="csY0" fmla="*/ 48120 h 54937"/>
                <a:gd name="csX1" fmla="*/ 3657 w 79609"/>
                <a:gd name="csY1" fmla="*/ 91 h 54937"/>
                <a:gd name="csX2" fmla="*/ 202 w 79609"/>
                <a:gd name="csY2" fmla="*/ 4696 h 54937"/>
                <a:gd name="csX3" fmla="*/ 202 w 79609"/>
                <a:gd name="csY3" fmla="*/ 15223 h 54937"/>
                <a:gd name="csX4" fmla="*/ 2505 w 79609"/>
                <a:gd name="csY4" fmla="*/ 19829 h 54937"/>
                <a:gd name="csX5" fmla="*/ 43626 w 79609"/>
                <a:gd name="csY5" fmla="*/ 28546 h 54937"/>
                <a:gd name="csX6" fmla="*/ 72246 w 79609"/>
                <a:gd name="csY6" fmla="*/ 54206 h 54937"/>
                <a:gd name="csX7" fmla="*/ 75865 w 79609"/>
                <a:gd name="csY7" fmla="*/ 55028 h 54937"/>
                <a:gd name="csX8" fmla="*/ 79812 w 79609"/>
                <a:gd name="csY8" fmla="*/ 50751 h 54937"/>
                <a:gd name="csX9" fmla="*/ 79812 w 79609"/>
                <a:gd name="csY9" fmla="*/ 48120 h 54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9609" h="54937">
                  <a:moveTo>
                    <a:pt x="79812" y="48120"/>
                  </a:moveTo>
                  <a:cubicBezTo>
                    <a:pt x="57443" y="7821"/>
                    <a:pt x="20434" y="91"/>
                    <a:pt x="3657" y="91"/>
                  </a:cubicBezTo>
                  <a:cubicBezTo>
                    <a:pt x="202" y="91"/>
                    <a:pt x="202" y="255"/>
                    <a:pt x="202" y="4696"/>
                  </a:cubicBezTo>
                  <a:lnTo>
                    <a:pt x="202" y="15223"/>
                  </a:lnTo>
                  <a:cubicBezTo>
                    <a:pt x="202" y="19006"/>
                    <a:pt x="202" y="19829"/>
                    <a:pt x="2505" y="19829"/>
                  </a:cubicBezTo>
                  <a:cubicBezTo>
                    <a:pt x="12539" y="19993"/>
                    <a:pt x="28823" y="21309"/>
                    <a:pt x="43626" y="28546"/>
                  </a:cubicBezTo>
                  <a:cubicBezTo>
                    <a:pt x="61390" y="37428"/>
                    <a:pt x="68134" y="47791"/>
                    <a:pt x="72246" y="54206"/>
                  </a:cubicBezTo>
                  <a:cubicBezTo>
                    <a:pt x="72740" y="55028"/>
                    <a:pt x="73726" y="55028"/>
                    <a:pt x="75865" y="55028"/>
                  </a:cubicBezTo>
                  <a:cubicBezTo>
                    <a:pt x="79648" y="55028"/>
                    <a:pt x="79812" y="54863"/>
                    <a:pt x="79812" y="50751"/>
                  </a:cubicBezTo>
                  <a:lnTo>
                    <a:pt x="79812" y="48120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27" name="任意形状 26">
              <a:extLst>
                <a:ext uri="{FF2B5EF4-FFF2-40B4-BE49-F238E27FC236}">
                  <a16:creationId xmlns:a16="http://schemas.microsoft.com/office/drawing/2014/main" id="{86A2CDC2-5C9F-6E9D-2E10-7872FE18488F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5952589" y="4015130"/>
              <a:ext cx="79609" cy="54937"/>
            </a:xfrm>
            <a:custGeom>
              <a:avLst/>
              <a:gdLst>
                <a:gd name="csX0" fmla="*/ 79817 w 79609"/>
                <a:gd name="csY0" fmla="*/ 4696 h 54937"/>
                <a:gd name="csX1" fmla="*/ 76363 w 79609"/>
                <a:gd name="csY1" fmla="*/ 91 h 54937"/>
                <a:gd name="csX2" fmla="*/ 207 w 79609"/>
                <a:gd name="csY2" fmla="*/ 48120 h 54937"/>
                <a:gd name="csX3" fmla="*/ 207 w 79609"/>
                <a:gd name="csY3" fmla="*/ 50751 h 54937"/>
                <a:gd name="csX4" fmla="*/ 4155 w 79609"/>
                <a:gd name="csY4" fmla="*/ 55028 h 54937"/>
                <a:gd name="csX5" fmla="*/ 8267 w 79609"/>
                <a:gd name="csY5" fmla="*/ 53712 h 54937"/>
                <a:gd name="csX6" fmla="*/ 77843 w 79609"/>
                <a:gd name="csY6" fmla="*/ 19829 h 54937"/>
                <a:gd name="csX7" fmla="*/ 79817 w 79609"/>
                <a:gd name="csY7" fmla="*/ 15223 h 54937"/>
                <a:gd name="csX8" fmla="*/ 79817 w 79609"/>
                <a:gd name="csY8" fmla="*/ 4696 h 54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9609" h="54937">
                  <a:moveTo>
                    <a:pt x="79817" y="4696"/>
                  </a:moveTo>
                  <a:cubicBezTo>
                    <a:pt x="79817" y="255"/>
                    <a:pt x="79817" y="91"/>
                    <a:pt x="76363" y="91"/>
                  </a:cubicBezTo>
                  <a:cubicBezTo>
                    <a:pt x="59585" y="91"/>
                    <a:pt x="22577" y="7986"/>
                    <a:pt x="207" y="48120"/>
                  </a:cubicBezTo>
                  <a:lnTo>
                    <a:pt x="207" y="50751"/>
                  </a:lnTo>
                  <a:cubicBezTo>
                    <a:pt x="207" y="54863"/>
                    <a:pt x="371" y="55028"/>
                    <a:pt x="4155" y="55028"/>
                  </a:cubicBezTo>
                  <a:cubicBezTo>
                    <a:pt x="7280" y="55028"/>
                    <a:pt x="7444" y="54863"/>
                    <a:pt x="8267" y="53712"/>
                  </a:cubicBezTo>
                  <a:cubicBezTo>
                    <a:pt x="21754" y="32165"/>
                    <a:pt x="44453" y="20486"/>
                    <a:pt x="77843" y="19829"/>
                  </a:cubicBezTo>
                  <a:cubicBezTo>
                    <a:pt x="79817" y="19829"/>
                    <a:pt x="79817" y="18677"/>
                    <a:pt x="79817" y="15223"/>
                  </a:cubicBezTo>
                  <a:lnTo>
                    <a:pt x="79817" y="4696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1614FEC-E9F8-57F8-3DF4-9D148EB7B6E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6030555" y="4015131"/>
              <a:ext cx="50092" cy="19737"/>
            </a:xfrm>
            <a:prstGeom prst="rect">
              <a:avLst/>
            </a:pr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29" name="任意形状 28">
              <a:extLst>
                <a:ext uri="{FF2B5EF4-FFF2-40B4-BE49-F238E27FC236}">
                  <a16:creationId xmlns:a16="http://schemas.microsoft.com/office/drawing/2014/main" id="{C30CAD0F-F575-90DD-E783-B35D7C1A0282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6079002" y="3979931"/>
              <a:ext cx="79609" cy="54937"/>
            </a:xfrm>
            <a:custGeom>
              <a:avLst/>
              <a:gdLst>
                <a:gd name="csX0" fmla="*/ 79824 w 79609"/>
                <a:gd name="csY0" fmla="*/ 4367 h 54937"/>
                <a:gd name="csX1" fmla="*/ 75877 w 79609"/>
                <a:gd name="csY1" fmla="*/ 91 h 54937"/>
                <a:gd name="csX2" fmla="*/ 71765 w 79609"/>
                <a:gd name="csY2" fmla="*/ 1406 h 54937"/>
                <a:gd name="csX3" fmla="*/ 2188 w 79609"/>
                <a:gd name="csY3" fmla="*/ 35290 h 54937"/>
                <a:gd name="csX4" fmla="*/ 214 w 79609"/>
                <a:gd name="csY4" fmla="*/ 39895 h 54937"/>
                <a:gd name="csX5" fmla="*/ 214 w 79609"/>
                <a:gd name="csY5" fmla="*/ 50422 h 54937"/>
                <a:gd name="csX6" fmla="*/ 3669 w 79609"/>
                <a:gd name="csY6" fmla="*/ 55028 h 54937"/>
                <a:gd name="csX7" fmla="*/ 79824 w 79609"/>
                <a:gd name="csY7" fmla="*/ 6999 h 54937"/>
                <a:gd name="csX8" fmla="*/ 79824 w 79609"/>
                <a:gd name="csY8" fmla="*/ 4367 h 54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9609" h="54937">
                  <a:moveTo>
                    <a:pt x="79824" y="4367"/>
                  </a:moveTo>
                  <a:cubicBezTo>
                    <a:pt x="79824" y="255"/>
                    <a:pt x="79660" y="91"/>
                    <a:pt x="75877" y="91"/>
                  </a:cubicBezTo>
                  <a:cubicBezTo>
                    <a:pt x="72752" y="91"/>
                    <a:pt x="72587" y="255"/>
                    <a:pt x="71765" y="1406"/>
                  </a:cubicBezTo>
                  <a:cubicBezTo>
                    <a:pt x="58277" y="22954"/>
                    <a:pt x="35578" y="34632"/>
                    <a:pt x="2188" y="35290"/>
                  </a:cubicBezTo>
                  <a:cubicBezTo>
                    <a:pt x="214" y="35290"/>
                    <a:pt x="214" y="36441"/>
                    <a:pt x="214" y="39895"/>
                  </a:cubicBezTo>
                  <a:lnTo>
                    <a:pt x="214" y="50422"/>
                  </a:lnTo>
                  <a:cubicBezTo>
                    <a:pt x="214" y="54863"/>
                    <a:pt x="214" y="55028"/>
                    <a:pt x="3669" y="55028"/>
                  </a:cubicBezTo>
                  <a:cubicBezTo>
                    <a:pt x="20446" y="55028"/>
                    <a:pt x="57455" y="47133"/>
                    <a:pt x="79824" y="6999"/>
                  </a:cubicBezTo>
                  <a:lnTo>
                    <a:pt x="79824" y="4367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30" name="任意形状 29">
              <a:extLst>
                <a:ext uri="{FF2B5EF4-FFF2-40B4-BE49-F238E27FC236}">
                  <a16:creationId xmlns:a16="http://schemas.microsoft.com/office/drawing/2014/main" id="{7FCB1D8A-3A13-22F5-1FBB-CDF574D3B859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5821901" y="4131552"/>
              <a:ext cx="49394" cy="52503"/>
            </a:xfrm>
            <a:custGeom>
              <a:avLst/>
              <a:gdLst>
                <a:gd name="csX0" fmla="*/ 46369 w 49394"/>
                <a:gd name="csY0" fmla="*/ 25200 h 52503"/>
                <a:gd name="csX1" fmla="*/ 49593 w 49394"/>
                <a:gd name="csY1" fmla="*/ 22667 h 52503"/>
                <a:gd name="csX2" fmla="*/ 26795 w 49394"/>
                <a:gd name="csY2" fmla="*/ 100 h 52503"/>
                <a:gd name="csX3" fmla="*/ 199 w 49394"/>
                <a:gd name="csY3" fmla="*/ 26236 h 52503"/>
                <a:gd name="csX4" fmla="*/ 28292 w 49394"/>
                <a:gd name="csY4" fmla="*/ 52603 h 52503"/>
                <a:gd name="csX5" fmla="*/ 49593 w 49394"/>
                <a:gd name="csY5" fmla="*/ 37635 h 52503"/>
                <a:gd name="csX6" fmla="*/ 47635 w 49394"/>
                <a:gd name="csY6" fmla="*/ 36023 h 52503"/>
                <a:gd name="csX7" fmla="*/ 45563 w 49394"/>
                <a:gd name="csY7" fmla="*/ 37865 h 52503"/>
                <a:gd name="csX8" fmla="*/ 29098 w 49394"/>
                <a:gd name="csY8" fmla="*/ 48918 h 52503"/>
                <a:gd name="csX9" fmla="*/ 15051 w 49394"/>
                <a:gd name="csY9" fmla="*/ 42125 h 52503"/>
                <a:gd name="csX10" fmla="*/ 10676 w 49394"/>
                <a:gd name="csY10" fmla="*/ 25200 h 52503"/>
                <a:gd name="csX11" fmla="*/ 46369 w 49394"/>
                <a:gd name="csY11" fmla="*/ 25200 h 52503"/>
                <a:gd name="csX12" fmla="*/ 10791 w 49394"/>
                <a:gd name="csY12" fmla="*/ 22206 h 52503"/>
                <a:gd name="csX13" fmla="*/ 26795 w 49394"/>
                <a:gd name="csY13" fmla="*/ 3323 h 52503"/>
                <a:gd name="csX14" fmla="*/ 41533 w 49394"/>
                <a:gd name="csY14" fmla="*/ 22206 h 52503"/>
                <a:gd name="csX15" fmla="*/ 10791 w 49394"/>
                <a:gd name="csY15" fmla="*/ 22206 h 52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49394" h="52503">
                  <a:moveTo>
                    <a:pt x="46369" y="25200"/>
                  </a:moveTo>
                  <a:cubicBezTo>
                    <a:pt x="48787" y="25200"/>
                    <a:pt x="49593" y="25200"/>
                    <a:pt x="49593" y="22667"/>
                  </a:cubicBezTo>
                  <a:cubicBezTo>
                    <a:pt x="49593" y="12534"/>
                    <a:pt x="43951" y="100"/>
                    <a:pt x="26795" y="100"/>
                  </a:cubicBezTo>
                  <a:cubicBezTo>
                    <a:pt x="11712" y="100"/>
                    <a:pt x="199" y="12074"/>
                    <a:pt x="199" y="26236"/>
                  </a:cubicBezTo>
                  <a:cubicBezTo>
                    <a:pt x="199" y="40858"/>
                    <a:pt x="12979" y="52603"/>
                    <a:pt x="28292" y="52603"/>
                  </a:cubicBezTo>
                  <a:cubicBezTo>
                    <a:pt x="43836" y="52603"/>
                    <a:pt x="49593" y="40168"/>
                    <a:pt x="49593" y="37635"/>
                  </a:cubicBezTo>
                  <a:cubicBezTo>
                    <a:pt x="49593" y="37174"/>
                    <a:pt x="49363" y="36023"/>
                    <a:pt x="47635" y="36023"/>
                  </a:cubicBezTo>
                  <a:cubicBezTo>
                    <a:pt x="46139" y="36023"/>
                    <a:pt x="45908" y="36713"/>
                    <a:pt x="45563" y="37865"/>
                  </a:cubicBezTo>
                  <a:cubicBezTo>
                    <a:pt x="41994" y="47191"/>
                    <a:pt x="33243" y="48918"/>
                    <a:pt x="29098" y="48918"/>
                  </a:cubicBezTo>
                  <a:cubicBezTo>
                    <a:pt x="23687" y="48918"/>
                    <a:pt x="18505" y="46500"/>
                    <a:pt x="15051" y="42125"/>
                  </a:cubicBezTo>
                  <a:cubicBezTo>
                    <a:pt x="10791" y="36713"/>
                    <a:pt x="10676" y="29690"/>
                    <a:pt x="10676" y="25200"/>
                  </a:cubicBezTo>
                  <a:lnTo>
                    <a:pt x="46369" y="25200"/>
                  </a:lnTo>
                  <a:close/>
                  <a:moveTo>
                    <a:pt x="10791" y="22206"/>
                  </a:moveTo>
                  <a:cubicBezTo>
                    <a:pt x="12058" y="5972"/>
                    <a:pt x="22420" y="3323"/>
                    <a:pt x="26795" y="3323"/>
                  </a:cubicBezTo>
                  <a:cubicBezTo>
                    <a:pt x="40957" y="3323"/>
                    <a:pt x="41418" y="19328"/>
                    <a:pt x="41533" y="22206"/>
                  </a:cubicBezTo>
                  <a:lnTo>
                    <a:pt x="10791" y="22206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31" name="任意形状 30">
              <a:extLst>
                <a:ext uri="{FF2B5EF4-FFF2-40B4-BE49-F238E27FC236}">
                  <a16:creationId xmlns:a16="http://schemas.microsoft.com/office/drawing/2014/main" id="{ACC13181-DF71-D649-C402-EFB7E15B874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5881535" y="4132127"/>
              <a:ext cx="41219" cy="50775"/>
            </a:xfrm>
            <a:custGeom>
              <a:avLst/>
              <a:gdLst>
                <a:gd name="csX0" fmla="*/ 17473 w 41219"/>
                <a:gd name="csY0" fmla="*/ 24624 h 50775"/>
                <a:gd name="csX1" fmla="*/ 32901 w 41219"/>
                <a:gd name="csY1" fmla="*/ 3323 h 50775"/>
                <a:gd name="csX2" fmla="*/ 30944 w 41219"/>
                <a:gd name="csY2" fmla="*/ 7468 h 50775"/>
                <a:gd name="csX3" fmla="*/ 36125 w 41219"/>
                <a:gd name="csY3" fmla="*/ 12765 h 50775"/>
                <a:gd name="csX4" fmla="*/ 41422 w 41219"/>
                <a:gd name="csY4" fmla="*/ 7468 h 50775"/>
                <a:gd name="csX5" fmla="*/ 32326 w 41219"/>
                <a:gd name="csY5" fmla="*/ 100 h 50775"/>
                <a:gd name="csX6" fmla="*/ 16782 w 41219"/>
                <a:gd name="csY6" fmla="*/ 12419 h 50775"/>
                <a:gd name="csX7" fmla="*/ 16667 w 41219"/>
                <a:gd name="csY7" fmla="*/ 12419 h 50775"/>
                <a:gd name="csX8" fmla="*/ 16667 w 41219"/>
                <a:gd name="csY8" fmla="*/ 100 h 50775"/>
                <a:gd name="csX9" fmla="*/ 202 w 41219"/>
                <a:gd name="csY9" fmla="*/ 1366 h 50775"/>
                <a:gd name="csX10" fmla="*/ 202 w 41219"/>
                <a:gd name="csY10" fmla="*/ 5511 h 50775"/>
                <a:gd name="csX11" fmla="*/ 8837 w 41219"/>
                <a:gd name="csY11" fmla="*/ 11959 h 50775"/>
                <a:gd name="csX12" fmla="*/ 8837 w 41219"/>
                <a:gd name="csY12" fmla="*/ 41780 h 50775"/>
                <a:gd name="csX13" fmla="*/ 202 w 41219"/>
                <a:gd name="csY13" fmla="*/ 46730 h 50775"/>
                <a:gd name="csX14" fmla="*/ 202 w 41219"/>
                <a:gd name="csY14" fmla="*/ 50875 h 50775"/>
                <a:gd name="csX15" fmla="*/ 13328 w 41219"/>
                <a:gd name="csY15" fmla="*/ 50415 h 50775"/>
                <a:gd name="csX16" fmla="*/ 28296 w 41219"/>
                <a:gd name="csY16" fmla="*/ 50875 h 50775"/>
                <a:gd name="csX17" fmla="*/ 28296 w 41219"/>
                <a:gd name="csY17" fmla="*/ 46730 h 50775"/>
                <a:gd name="csX18" fmla="*/ 25993 w 41219"/>
                <a:gd name="csY18" fmla="*/ 46730 h 50775"/>
                <a:gd name="csX19" fmla="*/ 17473 w 41219"/>
                <a:gd name="csY19" fmla="*/ 41549 h 50775"/>
                <a:gd name="csX20" fmla="*/ 17473 w 41219"/>
                <a:gd name="csY20" fmla="*/ 24624 h 50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41219" h="50775">
                  <a:moveTo>
                    <a:pt x="17473" y="24624"/>
                  </a:moveTo>
                  <a:cubicBezTo>
                    <a:pt x="17473" y="14952"/>
                    <a:pt x="21963" y="3323"/>
                    <a:pt x="32901" y="3323"/>
                  </a:cubicBezTo>
                  <a:cubicBezTo>
                    <a:pt x="31865" y="4129"/>
                    <a:pt x="30944" y="5626"/>
                    <a:pt x="30944" y="7468"/>
                  </a:cubicBezTo>
                  <a:cubicBezTo>
                    <a:pt x="30944" y="11268"/>
                    <a:pt x="33938" y="12765"/>
                    <a:pt x="36125" y="12765"/>
                  </a:cubicBezTo>
                  <a:cubicBezTo>
                    <a:pt x="38889" y="12765"/>
                    <a:pt x="41422" y="10923"/>
                    <a:pt x="41422" y="7468"/>
                  </a:cubicBezTo>
                  <a:cubicBezTo>
                    <a:pt x="41422" y="3554"/>
                    <a:pt x="37737" y="100"/>
                    <a:pt x="32326" y="100"/>
                  </a:cubicBezTo>
                  <a:cubicBezTo>
                    <a:pt x="26569" y="100"/>
                    <a:pt x="20236" y="3669"/>
                    <a:pt x="16782" y="12419"/>
                  </a:cubicBezTo>
                  <a:lnTo>
                    <a:pt x="16667" y="12419"/>
                  </a:lnTo>
                  <a:lnTo>
                    <a:pt x="16667" y="100"/>
                  </a:lnTo>
                  <a:lnTo>
                    <a:pt x="202" y="1366"/>
                  </a:lnTo>
                  <a:lnTo>
                    <a:pt x="202" y="5511"/>
                  </a:lnTo>
                  <a:cubicBezTo>
                    <a:pt x="7916" y="5511"/>
                    <a:pt x="8837" y="6317"/>
                    <a:pt x="8837" y="11959"/>
                  </a:cubicBezTo>
                  <a:lnTo>
                    <a:pt x="8837" y="41780"/>
                  </a:lnTo>
                  <a:cubicBezTo>
                    <a:pt x="8837" y="46730"/>
                    <a:pt x="7686" y="46730"/>
                    <a:pt x="202" y="46730"/>
                  </a:cubicBezTo>
                  <a:lnTo>
                    <a:pt x="202" y="50875"/>
                  </a:lnTo>
                  <a:cubicBezTo>
                    <a:pt x="778" y="50875"/>
                    <a:pt x="8607" y="50415"/>
                    <a:pt x="13328" y="50415"/>
                  </a:cubicBezTo>
                  <a:cubicBezTo>
                    <a:pt x="18279" y="50415"/>
                    <a:pt x="23345" y="50645"/>
                    <a:pt x="28296" y="50875"/>
                  </a:cubicBezTo>
                  <a:lnTo>
                    <a:pt x="28296" y="46730"/>
                  </a:lnTo>
                  <a:lnTo>
                    <a:pt x="25993" y="46730"/>
                  </a:lnTo>
                  <a:cubicBezTo>
                    <a:pt x="17473" y="46730"/>
                    <a:pt x="17473" y="45464"/>
                    <a:pt x="17473" y="41549"/>
                  </a:cubicBezTo>
                  <a:lnTo>
                    <a:pt x="17473" y="24624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32" name="任意形状 31">
              <a:extLst>
                <a:ext uri="{FF2B5EF4-FFF2-40B4-BE49-F238E27FC236}">
                  <a16:creationId xmlns:a16="http://schemas.microsoft.com/office/drawing/2014/main" id="{A7AA1FCA-D68E-4783-986E-A64495EBC46D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5932937" y="4132127"/>
              <a:ext cx="41219" cy="50775"/>
            </a:xfrm>
            <a:custGeom>
              <a:avLst/>
              <a:gdLst>
                <a:gd name="csX0" fmla="*/ 17476 w 41219"/>
                <a:gd name="csY0" fmla="*/ 24624 h 50775"/>
                <a:gd name="csX1" fmla="*/ 32904 w 41219"/>
                <a:gd name="csY1" fmla="*/ 3323 h 50775"/>
                <a:gd name="csX2" fmla="*/ 30947 w 41219"/>
                <a:gd name="csY2" fmla="*/ 7468 h 50775"/>
                <a:gd name="csX3" fmla="*/ 36128 w 41219"/>
                <a:gd name="csY3" fmla="*/ 12765 h 50775"/>
                <a:gd name="csX4" fmla="*/ 41425 w 41219"/>
                <a:gd name="csY4" fmla="*/ 7468 h 50775"/>
                <a:gd name="csX5" fmla="*/ 32329 w 41219"/>
                <a:gd name="csY5" fmla="*/ 100 h 50775"/>
                <a:gd name="csX6" fmla="*/ 16785 w 41219"/>
                <a:gd name="csY6" fmla="*/ 12419 h 50775"/>
                <a:gd name="csX7" fmla="*/ 16670 w 41219"/>
                <a:gd name="csY7" fmla="*/ 12419 h 50775"/>
                <a:gd name="csX8" fmla="*/ 16670 w 41219"/>
                <a:gd name="csY8" fmla="*/ 100 h 50775"/>
                <a:gd name="csX9" fmla="*/ 205 w 41219"/>
                <a:gd name="csY9" fmla="*/ 1366 h 50775"/>
                <a:gd name="csX10" fmla="*/ 205 w 41219"/>
                <a:gd name="csY10" fmla="*/ 5511 h 50775"/>
                <a:gd name="csX11" fmla="*/ 8841 w 41219"/>
                <a:gd name="csY11" fmla="*/ 11959 h 50775"/>
                <a:gd name="csX12" fmla="*/ 8841 w 41219"/>
                <a:gd name="csY12" fmla="*/ 41780 h 50775"/>
                <a:gd name="csX13" fmla="*/ 205 w 41219"/>
                <a:gd name="csY13" fmla="*/ 46730 h 50775"/>
                <a:gd name="csX14" fmla="*/ 205 w 41219"/>
                <a:gd name="csY14" fmla="*/ 50875 h 50775"/>
                <a:gd name="csX15" fmla="*/ 13331 w 41219"/>
                <a:gd name="csY15" fmla="*/ 50415 h 50775"/>
                <a:gd name="csX16" fmla="*/ 28299 w 41219"/>
                <a:gd name="csY16" fmla="*/ 50875 h 50775"/>
                <a:gd name="csX17" fmla="*/ 28299 w 41219"/>
                <a:gd name="csY17" fmla="*/ 46730 h 50775"/>
                <a:gd name="csX18" fmla="*/ 25996 w 41219"/>
                <a:gd name="csY18" fmla="*/ 46730 h 50775"/>
                <a:gd name="csX19" fmla="*/ 17476 w 41219"/>
                <a:gd name="csY19" fmla="*/ 41549 h 50775"/>
                <a:gd name="csX20" fmla="*/ 17476 w 41219"/>
                <a:gd name="csY20" fmla="*/ 24624 h 50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41219" h="50775">
                  <a:moveTo>
                    <a:pt x="17476" y="24624"/>
                  </a:moveTo>
                  <a:cubicBezTo>
                    <a:pt x="17476" y="14952"/>
                    <a:pt x="21966" y="3323"/>
                    <a:pt x="32904" y="3323"/>
                  </a:cubicBezTo>
                  <a:cubicBezTo>
                    <a:pt x="31868" y="4129"/>
                    <a:pt x="30947" y="5626"/>
                    <a:pt x="30947" y="7468"/>
                  </a:cubicBezTo>
                  <a:cubicBezTo>
                    <a:pt x="30947" y="11268"/>
                    <a:pt x="33941" y="12765"/>
                    <a:pt x="36128" y="12765"/>
                  </a:cubicBezTo>
                  <a:cubicBezTo>
                    <a:pt x="38892" y="12765"/>
                    <a:pt x="41425" y="10923"/>
                    <a:pt x="41425" y="7468"/>
                  </a:cubicBezTo>
                  <a:cubicBezTo>
                    <a:pt x="41425" y="3554"/>
                    <a:pt x="37740" y="100"/>
                    <a:pt x="32329" y="100"/>
                  </a:cubicBezTo>
                  <a:cubicBezTo>
                    <a:pt x="26572" y="100"/>
                    <a:pt x="20239" y="3669"/>
                    <a:pt x="16785" y="12419"/>
                  </a:cubicBezTo>
                  <a:lnTo>
                    <a:pt x="16670" y="12419"/>
                  </a:lnTo>
                  <a:lnTo>
                    <a:pt x="16670" y="100"/>
                  </a:lnTo>
                  <a:lnTo>
                    <a:pt x="205" y="1366"/>
                  </a:lnTo>
                  <a:lnTo>
                    <a:pt x="205" y="5511"/>
                  </a:lnTo>
                  <a:cubicBezTo>
                    <a:pt x="7919" y="5511"/>
                    <a:pt x="8841" y="6317"/>
                    <a:pt x="8841" y="11959"/>
                  </a:cubicBezTo>
                  <a:lnTo>
                    <a:pt x="8841" y="41780"/>
                  </a:lnTo>
                  <a:cubicBezTo>
                    <a:pt x="8841" y="46730"/>
                    <a:pt x="7689" y="46730"/>
                    <a:pt x="205" y="46730"/>
                  </a:cubicBezTo>
                  <a:lnTo>
                    <a:pt x="205" y="50875"/>
                  </a:lnTo>
                  <a:cubicBezTo>
                    <a:pt x="781" y="50875"/>
                    <a:pt x="8610" y="50415"/>
                    <a:pt x="13331" y="50415"/>
                  </a:cubicBezTo>
                  <a:cubicBezTo>
                    <a:pt x="18282" y="50415"/>
                    <a:pt x="23348" y="50645"/>
                    <a:pt x="28299" y="50875"/>
                  </a:cubicBezTo>
                  <a:lnTo>
                    <a:pt x="28299" y="46730"/>
                  </a:lnTo>
                  <a:lnTo>
                    <a:pt x="25996" y="46730"/>
                  </a:lnTo>
                  <a:cubicBezTo>
                    <a:pt x="17476" y="46730"/>
                    <a:pt x="17476" y="45464"/>
                    <a:pt x="17476" y="41549"/>
                  </a:cubicBezTo>
                  <a:lnTo>
                    <a:pt x="17476" y="24624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33" name="任意形状 32">
              <a:extLst>
                <a:ext uri="{FF2B5EF4-FFF2-40B4-BE49-F238E27FC236}">
                  <a16:creationId xmlns:a16="http://schemas.microsoft.com/office/drawing/2014/main" id="{BBF18ADD-FC8D-86AF-C075-A201EDCA9BDF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5983187" y="4131552"/>
              <a:ext cx="56417" cy="52503"/>
            </a:xfrm>
            <a:custGeom>
              <a:avLst/>
              <a:gdLst>
                <a:gd name="csX0" fmla="*/ 56626 w 56417"/>
                <a:gd name="csY0" fmla="*/ 26927 h 52503"/>
                <a:gd name="csX1" fmla="*/ 28417 w 56417"/>
                <a:gd name="csY1" fmla="*/ 100 h 52503"/>
                <a:gd name="csX2" fmla="*/ 208 w 56417"/>
                <a:gd name="csY2" fmla="*/ 26927 h 52503"/>
                <a:gd name="csX3" fmla="*/ 28417 w 56417"/>
                <a:gd name="csY3" fmla="*/ 52603 h 52503"/>
                <a:gd name="csX4" fmla="*/ 56626 w 56417"/>
                <a:gd name="csY4" fmla="*/ 26927 h 52503"/>
                <a:gd name="csX5" fmla="*/ 28417 w 56417"/>
                <a:gd name="csY5" fmla="*/ 48918 h 52503"/>
                <a:gd name="csX6" fmla="*/ 14140 w 56417"/>
                <a:gd name="csY6" fmla="*/ 41895 h 52503"/>
                <a:gd name="csX7" fmla="*/ 10686 w 56417"/>
                <a:gd name="csY7" fmla="*/ 25890 h 52503"/>
                <a:gd name="csX8" fmla="*/ 14831 w 56417"/>
                <a:gd name="csY8" fmla="*/ 9195 h 52503"/>
                <a:gd name="csX9" fmla="*/ 28417 w 56417"/>
                <a:gd name="csY9" fmla="*/ 3323 h 52503"/>
                <a:gd name="csX10" fmla="*/ 42579 w 56417"/>
                <a:gd name="csY10" fmla="*/ 10117 h 52503"/>
                <a:gd name="csX11" fmla="*/ 46148 w 56417"/>
                <a:gd name="csY11" fmla="*/ 25890 h 52503"/>
                <a:gd name="csX12" fmla="*/ 42464 w 56417"/>
                <a:gd name="csY12" fmla="*/ 42240 h 52503"/>
                <a:gd name="csX13" fmla="*/ 28417 w 56417"/>
                <a:gd name="csY13" fmla="*/ 48918 h 52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56417" h="52503">
                  <a:moveTo>
                    <a:pt x="56626" y="26927"/>
                  </a:moveTo>
                  <a:cubicBezTo>
                    <a:pt x="56626" y="12534"/>
                    <a:pt x="44306" y="100"/>
                    <a:pt x="28417" y="100"/>
                  </a:cubicBezTo>
                  <a:cubicBezTo>
                    <a:pt x="12528" y="100"/>
                    <a:pt x="208" y="12534"/>
                    <a:pt x="208" y="26927"/>
                  </a:cubicBezTo>
                  <a:cubicBezTo>
                    <a:pt x="208" y="41204"/>
                    <a:pt x="12873" y="52603"/>
                    <a:pt x="28417" y="52603"/>
                  </a:cubicBezTo>
                  <a:cubicBezTo>
                    <a:pt x="43961" y="52603"/>
                    <a:pt x="56626" y="41204"/>
                    <a:pt x="56626" y="26927"/>
                  </a:cubicBezTo>
                  <a:close/>
                  <a:moveTo>
                    <a:pt x="28417" y="48918"/>
                  </a:moveTo>
                  <a:cubicBezTo>
                    <a:pt x="24157" y="48918"/>
                    <a:pt x="17940" y="47536"/>
                    <a:pt x="14140" y="41895"/>
                  </a:cubicBezTo>
                  <a:cubicBezTo>
                    <a:pt x="11031" y="37174"/>
                    <a:pt x="10686" y="31187"/>
                    <a:pt x="10686" y="25890"/>
                  </a:cubicBezTo>
                  <a:cubicBezTo>
                    <a:pt x="10686" y="20940"/>
                    <a:pt x="10801" y="14146"/>
                    <a:pt x="14831" y="9195"/>
                  </a:cubicBezTo>
                  <a:cubicBezTo>
                    <a:pt x="17709" y="5856"/>
                    <a:pt x="22545" y="3323"/>
                    <a:pt x="28417" y="3323"/>
                  </a:cubicBezTo>
                  <a:cubicBezTo>
                    <a:pt x="35210" y="3323"/>
                    <a:pt x="40046" y="6547"/>
                    <a:pt x="42579" y="10117"/>
                  </a:cubicBezTo>
                  <a:cubicBezTo>
                    <a:pt x="45803" y="14607"/>
                    <a:pt x="46148" y="20364"/>
                    <a:pt x="46148" y="25890"/>
                  </a:cubicBezTo>
                  <a:cubicBezTo>
                    <a:pt x="46148" y="31417"/>
                    <a:pt x="45803" y="37519"/>
                    <a:pt x="42464" y="42240"/>
                  </a:cubicBezTo>
                  <a:cubicBezTo>
                    <a:pt x="39355" y="46615"/>
                    <a:pt x="34059" y="48918"/>
                    <a:pt x="28417" y="48918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34" name="任意形状 33">
              <a:extLst>
                <a:ext uri="{FF2B5EF4-FFF2-40B4-BE49-F238E27FC236}">
                  <a16:creationId xmlns:a16="http://schemas.microsoft.com/office/drawing/2014/main" id="{4E0A7D3A-4BDC-6D69-38C8-AA6FC339540E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6049903" y="4132127"/>
              <a:ext cx="41219" cy="50775"/>
            </a:xfrm>
            <a:custGeom>
              <a:avLst/>
              <a:gdLst>
                <a:gd name="csX0" fmla="*/ 17483 w 41219"/>
                <a:gd name="csY0" fmla="*/ 24624 h 50775"/>
                <a:gd name="csX1" fmla="*/ 32911 w 41219"/>
                <a:gd name="csY1" fmla="*/ 3323 h 50775"/>
                <a:gd name="csX2" fmla="*/ 30954 w 41219"/>
                <a:gd name="csY2" fmla="*/ 7468 h 50775"/>
                <a:gd name="csX3" fmla="*/ 36135 w 41219"/>
                <a:gd name="csY3" fmla="*/ 12765 h 50775"/>
                <a:gd name="csX4" fmla="*/ 41432 w 41219"/>
                <a:gd name="csY4" fmla="*/ 7468 h 50775"/>
                <a:gd name="csX5" fmla="*/ 32336 w 41219"/>
                <a:gd name="csY5" fmla="*/ 100 h 50775"/>
                <a:gd name="csX6" fmla="*/ 16792 w 41219"/>
                <a:gd name="csY6" fmla="*/ 12419 h 50775"/>
                <a:gd name="csX7" fmla="*/ 16677 w 41219"/>
                <a:gd name="csY7" fmla="*/ 12419 h 50775"/>
                <a:gd name="csX8" fmla="*/ 16677 w 41219"/>
                <a:gd name="csY8" fmla="*/ 100 h 50775"/>
                <a:gd name="csX9" fmla="*/ 212 w 41219"/>
                <a:gd name="csY9" fmla="*/ 1366 h 50775"/>
                <a:gd name="csX10" fmla="*/ 212 w 41219"/>
                <a:gd name="csY10" fmla="*/ 5511 h 50775"/>
                <a:gd name="csX11" fmla="*/ 8848 w 41219"/>
                <a:gd name="csY11" fmla="*/ 11959 h 50775"/>
                <a:gd name="csX12" fmla="*/ 8848 w 41219"/>
                <a:gd name="csY12" fmla="*/ 41780 h 50775"/>
                <a:gd name="csX13" fmla="*/ 212 w 41219"/>
                <a:gd name="csY13" fmla="*/ 46730 h 50775"/>
                <a:gd name="csX14" fmla="*/ 212 w 41219"/>
                <a:gd name="csY14" fmla="*/ 50875 h 50775"/>
                <a:gd name="csX15" fmla="*/ 13338 w 41219"/>
                <a:gd name="csY15" fmla="*/ 50415 h 50775"/>
                <a:gd name="csX16" fmla="*/ 28306 w 41219"/>
                <a:gd name="csY16" fmla="*/ 50875 h 50775"/>
                <a:gd name="csX17" fmla="*/ 28306 w 41219"/>
                <a:gd name="csY17" fmla="*/ 46730 h 50775"/>
                <a:gd name="csX18" fmla="*/ 26003 w 41219"/>
                <a:gd name="csY18" fmla="*/ 46730 h 50775"/>
                <a:gd name="csX19" fmla="*/ 17483 w 41219"/>
                <a:gd name="csY19" fmla="*/ 41549 h 50775"/>
                <a:gd name="csX20" fmla="*/ 17483 w 41219"/>
                <a:gd name="csY20" fmla="*/ 24624 h 50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41219" h="50775">
                  <a:moveTo>
                    <a:pt x="17483" y="24624"/>
                  </a:moveTo>
                  <a:cubicBezTo>
                    <a:pt x="17483" y="14952"/>
                    <a:pt x="21973" y="3323"/>
                    <a:pt x="32911" y="3323"/>
                  </a:cubicBezTo>
                  <a:cubicBezTo>
                    <a:pt x="31875" y="4129"/>
                    <a:pt x="30954" y="5626"/>
                    <a:pt x="30954" y="7468"/>
                  </a:cubicBezTo>
                  <a:cubicBezTo>
                    <a:pt x="30954" y="11268"/>
                    <a:pt x="33948" y="12765"/>
                    <a:pt x="36135" y="12765"/>
                  </a:cubicBezTo>
                  <a:cubicBezTo>
                    <a:pt x="38899" y="12765"/>
                    <a:pt x="41432" y="10923"/>
                    <a:pt x="41432" y="7468"/>
                  </a:cubicBezTo>
                  <a:cubicBezTo>
                    <a:pt x="41432" y="3554"/>
                    <a:pt x="37747" y="100"/>
                    <a:pt x="32336" y="100"/>
                  </a:cubicBezTo>
                  <a:cubicBezTo>
                    <a:pt x="26579" y="100"/>
                    <a:pt x="20246" y="3669"/>
                    <a:pt x="16792" y="12419"/>
                  </a:cubicBezTo>
                  <a:lnTo>
                    <a:pt x="16677" y="12419"/>
                  </a:lnTo>
                  <a:lnTo>
                    <a:pt x="16677" y="100"/>
                  </a:lnTo>
                  <a:lnTo>
                    <a:pt x="212" y="1366"/>
                  </a:lnTo>
                  <a:lnTo>
                    <a:pt x="212" y="5511"/>
                  </a:lnTo>
                  <a:cubicBezTo>
                    <a:pt x="7926" y="5511"/>
                    <a:pt x="8848" y="6317"/>
                    <a:pt x="8848" y="11959"/>
                  </a:cubicBezTo>
                  <a:lnTo>
                    <a:pt x="8848" y="41780"/>
                  </a:lnTo>
                  <a:cubicBezTo>
                    <a:pt x="8848" y="46730"/>
                    <a:pt x="7696" y="46730"/>
                    <a:pt x="212" y="46730"/>
                  </a:cubicBezTo>
                  <a:lnTo>
                    <a:pt x="212" y="50875"/>
                  </a:lnTo>
                  <a:cubicBezTo>
                    <a:pt x="788" y="50875"/>
                    <a:pt x="8617" y="50415"/>
                    <a:pt x="13338" y="50415"/>
                  </a:cubicBezTo>
                  <a:cubicBezTo>
                    <a:pt x="18289" y="50415"/>
                    <a:pt x="23355" y="50645"/>
                    <a:pt x="28306" y="50875"/>
                  </a:cubicBezTo>
                  <a:lnTo>
                    <a:pt x="28306" y="46730"/>
                  </a:lnTo>
                  <a:lnTo>
                    <a:pt x="26003" y="46730"/>
                  </a:lnTo>
                  <a:cubicBezTo>
                    <a:pt x="17483" y="46730"/>
                    <a:pt x="17483" y="45464"/>
                    <a:pt x="17483" y="41549"/>
                  </a:cubicBezTo>
                  <a:lnTo>
                    <a:pt x="17483" y="24624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35" name="任意形状 34">
              <a:extLst>
                <a:ext uri="{FF2B5EF4-FFF2-40B4-BE49-F238E27FC236}">
                  <a16:creationId xmlns:a16="http://schemas.microsoft.com/office/drawing/2014/main" id="{A78C6AE2-D73C-5FFD-595F-3392F155AA3D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6196224" y="3800171"/>
              <a:ext cx="17435" cy="17435"/>
            </a:xfrm>
            <a:custGeom>
              <a:avLst/>
              <a:gdLst>
                <a:gd name="csX0" fmla="*/ 17656 w 17435"/>
                <a:gd name="csY0" fmla="*/ 8797 h 17435"/>
                <a:gd name="csX1" fmla="*/ 8938 w 17435"/>
                <a:gd name="csY1" fmla="*/ 79 h 17435"/>
                <a:gd name="csX2" fmla="*/ 221 w 17435"/>
                <a:gd name="csY2" fmla="*/ 8797 h 17435"/>
                <a:gd name="csX3" fmla="*/ 8938 w 17435"/>
                <a:gd name="csY3" fmla="*/ 17515 h 17435"/>
                <a:gd name="csX4" fmla="*/ 17656 w 17435"/>
                <a:gd name="csY4" fmla="*/ 8797 h 174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435" h="17435">
                  <a:moveTo>
                    <a:pt x="17656" y="8797"/>
                  </a:moveTo>
                  <a:cubicBezTo>
                    <a:pt x="17656" y="4027"/>
                    <a:pt x="13708" y="79"/>
                    <a:pt x="8938" y="79"/>
                  </a:cubicBezTo>
                  <a:cubicBezTo>
                    <a:pt x="4168" y="79"/>
                    <a:pt x="221" y="4027"/>
                    <a:pt x="221" y="8797"/>
                  </a:cubicBezTo>
                  <a:cubicBezTo>
                    <a:pt x="221" y="13567"/>
                    <a:pt x="4168" y="17515"/>
                    <a:pt x="8938" y="17515"/>
                  </a:cubicBezTo>
                  <a:cubicBezTo>
                    <a:pt x="13708" y="17515"/>
                    <a:pt x="17656" y="13567"/>
                    <a:pt x="17656" y="8797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36" name="任意形状 35">
              <a:extLst>
                <a:ext uri="{FF2B5EF4-FFF2-40B4-BE49-F238E27FC236}">
                  <a16:creationId xmlns:a16="http://schemas.microsoft.com/office/drawing/2014/main" id="{4207C4CA-5CAF-2064-600D-CEB27DAA2EC0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6283107" y="3620965"/>
              <a:ext cx="86518" cy="121388"/>
            </a:xfrm>
            <a:custGeom>
              <a:avLst/>
              <a:gdLst>
                <a:gd name="csX0" fmla="*/ 69803 w 86518"/>
                <a:gd name="csY0" fmla="*/ 62083 h 121388"/>
                <a:gd name="csX1" fmla="*/ 48584 w 86518"/>
                <a:gd name="csY1" fmla="*/ 42674 h 121388"/>
                <a:gd name="csX2" fmla="*/ 15030 w 86518"/>
                <a:gd name="csY2" fmla="*/ 58135 h 121388"/>
                <a:gd name="csX3" fmla="*/ 226 w 86518"/>
                <a:gd name="csY3" fmla="*/ 92183 h 121388"/>
                <a:gd name="csX4" fmla="*/ 30491 w 86518"/>
                <a:gd name="csY4" fmla="*/ 121461 h 121388"/>
                <a:gd name="csX5" fmla="*/ 86744 w 86518"/>
                <a:gd name="csY5" fmla="*/ 42674 h 121388"/>
                <a:gd name="csX6" fmla="*/ 51216 w 86518"/>
                <a:gd name="csY6" fmla="*/ 73 h 121388"/>
                <a:gd name="csX7" fmla="*/ 19800 w 86518"/>
                <a:gd name="csY7" fmla="*/ 26061 h 121388"/>
                <a:gd name="csX8" fmla="*/ 26050 w 86518"/>
                <a:gd name="csY8" fmla="*/ 31818 h 121388"/>
                <a:gd name="csX9" fmla="*/ 34932 w 86518"/>
                <a:gd name="csY9" fmla="*/ 23100 h 121388"/>
                <a:gd name="csX10" fmla="*/ 27202 w 86518"/>
                <a:gd name="csY10" fmla="*/ 17343 h 121388"/>
                <a:gd name="csX11" fmla="*/ 50887 w 86518"/>
                <a:gd name="csY11" fmla="*/ 4185 h 121388"/>
                <a:gd name="csX12" fmla="*/ 74408 w 86518"/>
                <a:gd name="csY12" fmla="*/ 33956 h 121388"/>
                <a:gd name="csX13" fmla="*/ 69967 w 86518"/>
                <a:gd name="csY13" fmla="*/ 62083 h 121388"/>
                <a:gd name="csX14" fmla="*/ 69803 w 86518"/>
                <a:gd name="csY14" fmla="*/ 62083 h 121388"/>
                <a:gd name="csX15" fmla="*/ 30985 w 86518"/>
                <a:gd name="csY15" fmla="*/ 116856 h 121388"/>
                <a:gd name="csX16" fmla="*/ 12892 w 86518"/>
                <a:gd name="csY16" fmla="*/ 98269 h 121388"/>
                <a:gd name="csX17" fmla="*/ 23747 w 86518"/>
                <a:gd name="csY17" fmla="*/ 60931 h 121388"/>
                <a:gd name="csX18" fmla="*/ 48584 w 86518"/>
                <a:gd name="csY18" fmla="*/ 46292 h 121388"/>
                <a:gd name="csX19" fmla="*/ 66842 w 86518"/>
                <a:gd name="csY19" fmla="*/ 68004 h 121388"/>
                <a:gd name="csX20" fmla="*/ 30985 w 86518"/>
                <a:gd name="csY20" fmla="*/ 116856 h 1213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86518" h="121388">
                  <a:moveTo>
                    <a:pt x="69803" y="62083"/>
                  </a:moveTo>
                  <a:cubicBezTo>
                    <a:pt x="68158" y="51885"/>
                    <a:pt x="61414" y="42674"/>
                    <a:pt x="48584" y="42674"/>
                  </a:cubicBezTo>
                  <a:cubicBezTo>
                    <a:pt x="38551" y="42674"/>
                    <a:pt x="27859" y="45305"/>
                    <a:pt x="15030" y="58135"/>
                  </a:cubicBezTo>
                  <a:cubicBezTo>
                    <a:pt x="1378" y="71787"/>
                    <a:pt x="226" y="87084"/>
                    <a:pt x="226" y="92183"/>
                  </a:cubicBezTo>
                  <a:cubicBezTo>
                    <a:pt x="226" y="102381"/>
                    <a:pt x="7464" y="121461"/>
                    <a:pt x="30491" y="121461"/>
                  </a:cubicBezTo>
                  <a:cubicBezTo>
                    <a:pt x="69638" y="121461"/>
                    <a:pt x="86744" y="66195"/>
                    <a:pt x="86744" y="42674"/>
                  </a:cubicBezTo>
                  <a:cubicBezTo>
                    <a:pt x="86744" y="16521"/>
                    <a:pt x="71448" y="73"/>
                    <a:pt x="51216" y="73"/>
                  </a:cubicBezTo>
                  <a:cubicBezTo>
                    <a:pt x="27366" y="73"/>
                    <a:pt x="19800" y="21455"/>
                    <a:pt x="19800" y="26061"/>
                  </a:cubicBezTo>
                  <a:cubicBezTo>
                    <a:pt x="19800" y="28364"/>
                    <a:pt x="21116" y="31818"/>
                    <a:pt x="26050" y="31818"/>
                  </a:cubicBezTo>
                  <a:cubicBezTo>
                    <a:pt x="31478" y="31818"/>
                    <a:pt x="34932" y="26883"/>
                    <a:pt x="34932" y="23100"/>
                  </a:cubicBezTo>
                  <a:cubicBezTo>
                    <a:pt x="34932" y="17343"/>
                    <a:pt x="29833" y="17343"/>
                    <a:pt x="27202" y="17343"/>
                  </a:cubicBezTo>
                  <a:cubicBezTo>
                    <a:pt x="34439" y="5172"/>
                    <a:pt x="46117" y="4185"/>
                    <a:pt x="50887" y="4185"/>
                  </a:cubicBezTo>
                  <a:cubicBezTo>
                    <a:pt x="62894" y="4185"/>
                    <a:pt x="74408" y="12738"/>
                    <a:pt x="74408" y="33956"/>
                  </a:cubicBezTo>
                  <a:cubicBezTo>
                    <a:pt x="74408" y="40371"/>
                    <a:pt x="73421" y="48760"/>
                    <a:pt x="69967" y="62083"/>
                  </a:cubicBezTo>
                  <a:lnTo>
                    <a:pt x="69803" y="62083"/>
                  </a:lnTo>
                  <a:close/>
                  <a:moveTo>
                    <a:pt x="30985" y="116856"/>
                  </a:moveTo>
                  <a:cubicBezTo>
                    <a:pt x="12892" y="116856"/>
                    <a:pt x="12892" y="99914"/>
                    <a:pt x="12892" y="98269"/>
                  </a:cubicBezTo>
                  <a:cubicBezTo>
                    <a:pt x="12892" y="93828"/>
                    <a:pt x="17004" y="70800"/>
                    <a:pt x="23747" y="60931"/>
                  </a:cubicBezTo>
                  <a:cubicBezTo>
                    <a:pt x="30327" y="51556"/>
                    <a:pt x="38386" y="46292"/>
                    <a:pt x="48584" y="46292"/>
                  </a:cubicBezTo>
                  <a:cubicBezTo>
                    <a:pt x="66513" y="46292"/>
                    <a:pt x="66842" y="64714"/>
                    <a:pt x="66842" y="68004"/>
                  </a:cubicBezTo>
                  <a:cubicBezTo>
                    <a:pt x="66842" y="79847"/>
                    <a:pt x="56315" y="116856"/>
                    <a:pt x="30985" y="116856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37" name="任意形状 36">
              <a:extLst>
                <a:ext uri="{FF2B5EF4-FFF2-40B4-BE49-F238E27FC236}">
                  <a16:creationId xmlns:a16="http://schemas.microsoft.com/office/drawing/2014/main" id="{90FA8CA2-D879-C7C0-A7CB-01C0C0CBE989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6380063" y="3666034"/>
              <a:ext cx="69740" cy="74510"/>
            </a:xfrm>
            <a:custGeom>
              <a:avLst/>
              <a:gdLst>
                <a:gd name="csX0" fmla="*/ 15036 w 69740"/>
                <a:gd name="csY0" fmla="*/ 59122 h 74510"/>
                <a:gd name="csX1" fmla="*/ 34609 w 69740"/>
                <a:gd name="csY1" fmla="*/ 40371 h 74510"/>
                <a:gd name="csX2" fmla="*/ 50728 w 69740"/>
                <a:gd name="csY2" fmla="*/ 25568 h 74510"/>
                <a:gd name="csX3" fmla="*/ 69973 w 69740"/>
                <a:gd name="csY3" fmla="*/ 1717 h 74510"/>
                <a:gd name="csX4" fmla="*/ 68164 w 69740"/>
                <a:gd name="csY4" fmla="*/ 73 h 74510"/>
                <a:gd name="csX5" fmla="*/ 65696 w 69740"/>
                <a:gd name="csY5" fmla="*/ 1882 h 74510"/>
                <a:gd name="csX6" fmla="*/ 53360 w 69740"/>
                <a:gd name="csY6" fmla="*/ 12409 h 74510"/>
                <a:gd name="csX7" fmla="*/ 44972 w 69740"/>
                <a:gd name="csY7" fmla="*/ 7145 h 74510"/>
                <a:gd name="csX8" fmla="*/ 33622 w 69740"/>
                <a:gd name="csY8" fmla="*/ 73 h 74510"/>
                <a:gd name="csX9" fmla="*/ 13720 w 69740"/>
                <a:gd name="csY9" fmla="*/ 18824 h 74510"/>
                <a:gd name="csX10" fmla="*/ 15694 w 69740"/>
                <a:gd name="csY10" fmla="*/ 20633 h 74510"/>
                <a:gd name="csX11" fmla="*/ 17832 w 69740"/>
                <a:gd name="csY11" fmla="*/ 18824 h 74510"/>
                <a:gd name="csX12" fmla="*/ 31813 w 69740"/>
                <a:gd name="csY12" fmla="*/ 11093 h 74510"/>
                <a:gd name="csX13" fmla="*/ 42175 w 69740"/>
                <a:gd name="csY13" fmla="*/ 13560 h 74510"/>
                <a:gd name="csX14" fmla="*/ 54841 w 69740"/>
                <a:gd name="csY14" fmla="*/ 16027 h 74510"/>
                <a:gd name="csX15" fmla="*/ 31977 w 69740"/>
                <a:gd name="csY15" fmla="*/ 37575 h 74510"/>
                <a:gd name="csX16" fmla="*/ 17174 w 69740"/>
                <a:gd name="csY16" fmla="*/ 51391 h 74510"/>
                <a:gd name="csX17" fmla="*/ 232 w 69740"/>
                <a:gd name="csY17" fmla="*/ 72939 h 74510"/>
                <a:gd name="csX18" fmla="*/ 2206 w 69740"/>
                <a:gd name="csY18" fmla="*/ 74583 h 74510"/>
                <a:gd name="csX19" fmla="*/ 4838 w 69740"/>
                <a:gd name="csY19" fmla="*/ 72445 h 74510"/>
                <a:gd name="csX20" fmla="*/ 18819 w 69740"/>
                <a:gd name="csY20" fmla="*/ 62247 h 74510"/>
                <a:gd name="csX21" fmla="*/ 28359 w 69740"/>
                <a:gd name="csY21" fmla="*/ 68498 h 74510"/>
                <a:gd name="csX22" fmla="*/ 38886 w 69740"/>
                <a:gd name="csY22" fmla="*/ 74583 h 74510"/>
                <a:gd name="csX23" fmla="*/ 64710 w 69740"/>
                <a:gd name="csY23" fmla="*/ 49253 h 74510"/>
                <a:gd name="csX24" fmla="*/ 62736 w 69740"/>
                <a:gd name="csY24" fmla="*/ 47608 h 74510"/>
                <a:gd name="csX25" fmla="*/ 60433 w 69740"/>
                <a:gd name="csY25" fmla="*/ 49747 h 74510"/>
                <a:gd name="csX26" fmla="*/ 40695 w 69740"/>
                <a:gd name="csY26" fmla="*/ 63563 h 74510"/>
                <a:gd name="csX27" fmla="*/ 30991 w 69740"/>
                <a:gd name="csY27" fmla="*/ 61425 h 74510"/>
                <a:gd name="csX28" fmla="*/ 19477 w 69740"/>
                <a:gd name="csY28" fmla="*/ 58629 h 74510"/>
                <a:gd name="csX29" fmla="*/ 15036 w 69740"/>
                <a:gd name="csY29" fmla="*/ 59122 h 74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69740" h="74510">
                  <a:moveTo>
                    <a:pt x="15036" y="59122"/>
                  </a:moveTo>
                  <a:cubicBezTo>
                    <a:pt x="23918" y="49582"/>
                    <a:pt x="28688" y="45470"/>
                    <a:pt x="34609" y="40371"/>
                  </a:cubicBezTo>
                  <a:cubicBezTo>
                    <a:pt x="34609" y="40207"/>
                    <a:pt x="44807" y="31489"/>
                    <a:pt x="50728" y="25568"/>
                  </a:cubicBezTo>
                  <a:cubicBezTo>
                    <a:pt x="66354" y="10271"/>
                    <a:pt x="69973" y="2375"/>
                    <a:pt x="69973" y="1717"/>
                  </a:cubicBezTo>
                  <a:cubicBezTo>
                    <a:pt x="69973" y="73"/>
                    <a:pt x="68493" y="73"/>
                    <a:pt x="68164" y="73"/>
                  </a:cubicBezTo>
                  <a:cubicBezTo>
                    <a:pt x="67012" y="73"/>
                    <a:pt x="66519" y="402"/>
                    <a:pt x="65696" y="1882"/>
                  </a:cubicBezTo>
                  <a:cubicBezTo>
                    <a:pt x="60762" y="9777"/>
                    <a:pt x="57308" y="12409"/>
                    <a:pt x="53360" y="12409"/>
                  </a:cubicBezTo>
                  <a:cubicBezTo>
                    <a:pt x="49413" y="12409"/>
                    <a:pt x="47439" y="9942"/>
                    <a:pt x="44972" y="7145"/>
                  </a:cubicBezTo>
                  <a:cubicBezTo>
                    <a:pt x="41846" y="3362"/>
                    <a:pt x="39050" y="73"/>
                    <a:pt x="33622" y="73"/>
                  </a:cubicBezTo>
                  <a:cubicBezTo>
                    <a:pt x="21286" y="73"/>
                    <a:pt x="13720" y="15370"/>
                    <a:pt x="13720" y="18824"/>
                  </a:cubicBezTo>
                  <a:cubicBezTo>
                    <a:pt x="13720" y="19646"/>
                    <a:pt x="14213" y="20633"/>
                    <a:pt x="15694" y="20633"/>
                  </a:cubicBezTo>
                  <a:cubicBezTo>
                    <a:pt x="17174" y="20633"/>
                    <a:pt x="17503" y="19811"/>
                    <a:pt x="17832" y="18824"/>
                  </a:cubicBezTo>
                  <a:cubicBezTo>
                    <a:pt x="20957" y="11257"/>
                    <a:pt x="30497" y="11093"/>
                    <a:pt x="31813" y="11093"/>
                  </a:cubicBezTo>
                  <a:cubicBezTo>
                    <a:pt x="35267" y="11093"/>
                    <a:pt x="38392" y="12244"/>
                    <a:pt x="42175" y="13560"/>
                  </a:cubicBezTo>
                  <a:cubicBezTo>
                    <a:pt x="48755" y="16027"/>
                    <a:pt x="50564" y="16027"/>
                    <a:pt x="54841" y="16027"/>
                  </a:cubicBezTo>
                  <a:cubicBezTo>
                    <a:pt x="48919" y="23100"/>
                    <a:pt x="35103" y="34943"/>
                    <a:pt x="31977" y="37575"/>
                  </a:cubicBezTo>
                  <a:lnTo>
                    <a:pt x="17174" y="51391"/>
                  </a:lnTo>
                  <a:cubicBezTo>
                    <a:pt x="5989" y="62412"/>
                    <a:pt x="232" y="71787"/>
                    <a:pt x="232" y="72939"/>
                  </a:cubicBezTo>
                  <a:cubicBezTo>
                    <a:pt x="232" y="74583"/>
                    <a:pt x="1877" y="74583"/>
                    <a:pt x="2206" y="74583"/>
                  </a:cubicBezTo>
                  <a:cubicBezTo>
                    <a:pt x="3522" y="74583"/>
                    <a:pt x="3851" y="74255"/>
                    <a:pt x="4838" y="72445"/>
                  </a:cubicBezTo>
                  <a:cubicBezTo>
                    <a:pt x="8621" y="66688"/>
                    <a:pt x="13555" y="62247"/>
                    <a:pt x="18819" y="62247"/>
                  </a:cubicBezTo>
                  <a:cubicBezTo>
                    <a:pt x="22602" y="62247"/>
                    <a:pt x="24247" y="63728"/>
                    <a:pt x="28359" y="68498"/>
                  </a:cubicBezTo>
                  <a:cubicBezTo>
                    <a:pt x="31155" y="71952"/>
                    <a:pt x="34116" y="74583"/>
                    <a:pt x="38886" y="74583"/>
                  </a:cubicBezTo>
                  <a:cubicBezTo>
                    <a:pt x="55170" y="74583"/>
                    <a:pt x="64710" y="53694"/>
                    <a:pt x="64710" y="49253"/>
                  </a:cubicBezTo>
                  <a:cubicBezTo>
                    <a:pt x="64710" y="48431"/>
                    <a:pt x="64052" y="47608"/>
                    <a:pt x="62736" y="47608"/>
                  </a:cubicBezTo>
                  <a:cubicBezTo>
                    <a:pt x="61255" y="47608"/>
                    <a:pt x="60926" y="48595"/>
                    <a:pt x="60433" y="49747"/>
                  </a:cubicBezTo>
                  <a:cubicBezTo>
                    <a:pt x="56650" y="60438"/>
                    <a:pt x="46123" y="63563"/>
                    <a:pt x="40695" y="63563"/>
                  </a:cubicBezTo>
                  <a:cubicBezTo>
                    <a:pt x="37405" y="63563"/>
                    <a:pt x="34445" y="62576"/>
                    <a:pt x="30991" y="61425"/>
                  </a:cubicBezTo>
                  <a:cubicBezTo>
                    <a:pt x="25398" y="59287"/>
                    <a:pt x="22931" y="58629"/>
                    <a:pt x="19477" y="58629"/>
                  </a:cubicBezTo>
                  <a:cubicBezTo>
                    <a:pt x="19148" y="58629"/>
                    <a:pt x="16516" y="58629"/>
                    <a:pt x="15036" y="59122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38" name="任意形状 37">
              <a:extLst>
                <a:ext uri="{FF2B5EF4-FFF2-40B4-BE49-F238E27FC236}">
                  <a16:creationId xmlns:a16="http://schemas.microsoft.com/office/drawing/2014/main" id="{D65A5E00-12B2-5226-F717-11471FC26F1B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6469958" y="3592692"/>
              <a:ext cx="29935" cy="115023"/>
            </a:xfrm>
            <a:custGeom>
              <a:avLst/>
              <a:gdLst>
                <a:gd name="csX0" fmla="*/ 27870 w 29935"/>
                <a:gd name="csY0" fmla="*/ 69 h 115023"/>
                <a:gd name="csX1" fmla="*/ 237 w 29935"/>
                <a:gd name="csY1" fmla="*/ 57523 h 115023"/>
                <a:gd name="csX2" fmla="*/ 27870 w 29935"/>
                <a:gd name="csY2" fmla="*/ 115092 h 115023"/>
                <a:gd name="csX3" fmla="*/ 30173 w 29935"/>
                <a:gd name="csY3" fmla="*/ 113710 h 115023"/>
                <a:gd name="csX4" fmla="*/ 29022 w 29935"/>
                <a:gd name="csY4" fmla="*/ 111983 h 115023"/>
                <a:gd name="csX5" fmla="*/ 8067 w 29935"/>
                <a:gd name="csY5" fmla="*/ 57638 h 115023"/>
                <a:gd name="csX6" fmla="*/ 29367 w 29935"/>
                <a:gd name="csY6" fmla="*/ 2832 h 115023"/>
                <a:gd name="csX7" fmla="*/ 30173 w 29935"/>
                <a:gd name="csY7" fmla="*/ 1451 h 115023"/>
                <a:gd name="csX8" fmla="*/ 27870 w 29935"/>
                <a:gd name="csY8" fmla="*/ 69 h 115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935" h="115023">
                  <a:moveTo>
                    <a:pt x="27870" y="69"/>
                  </a:moveTo>
                  <a:cubicBezTo>
                    <a:pt x="5994" y="15498"/>
                    <a:pt x="237" y="39907"/>
                    <a:pt x="237" y="57523"/>
                  </a:cubicBezTo>
                  <a:cubicBezTo>
                    <a:pt x="237" y="73757"/>
                    <a:pt x="5073" y="98973"/>
                    <a:pt x="27870" y="115092"/>
                  </a:cubicBezTo>
                  <a:cubicBezTo>
                    <a:pt x="28792" y="115092"/>
                    <a:pt x="30173" y="115092"/>
                    <a:pt x="30173" y="113710"/>
                  </a:cubicBezTo>
                  <a:cubicBezTo>
                    <a:pt x="30173" y="113020"/>
                    <a:pt x="29828" y="112789"/>
                    <a:pt x="29022" y="111983"/>
                  </a:cubicBezTo>
                  <a:cubicBezTo>
                    <a:pt x="13708" y="98167"/>
                    <a:pt x="8067" y="78593"/>
                    <a:pt x="8067" y="57638"/>
                  </a:cubicBezTo>
                  <a:cubicBezTo>
                    <a:pt x="8067" y="26551"/>
                    <a:pt x="19926" y="11353"/>
                    <a:pt x="29367" y="2832"/>
                  </a:cubicBezTo>
                  <a:cubicBezTo>
                    <a:pt x="29828" y="2372"/>
                    <a:pt x="30173" y="2026"/>
                    <a:pt x="30173" y="1451"/>
                  </a:cubicBezTo>
                  <a:cubicBezTo>
                    <a:pt x="30173" y="69"/>
                    <a:pt x="28792" y="69"/>
                    <a:pt x="27870" y="69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39" name="任意形状 38">
              <a:extLst>
                <a:ext uri="{FF2B5EF4-FFF2-40B4-BE49-F238E27FC236}">
                  <a16:creationId xmlns:a16="http://schemas.microsoft.com/office/drawing/2014/main" id="{62450897-30A1-1A6A-E8C5-DEBAF5AEE2C8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6515372" y="3602594"/>
              <a:ext cx="50891" cy="76451"/>
            </a:xfrm>
            <a:custGeom>
              <a:avLst/>
              <a:gdLst>
                <a:gd name="csX0" fmla="*/ 51131 w 50891"/>
                <a:gd name="csY0" fmla="*/ 55566 h 76451"/>
                <a:gd name="csX1" fmla="*/ 47217 w 50891"/>
                <a:gd name="csY1" fmla="*/ 55566 h 76451"/>
                <a:gd name="csX2" fmla="*/ 44223 w 50891"/>
                <a:gd name="csY2" fmla="*/ 66043 h 76451"/>
                <a:gd name="csX3" fmla="*/ 32824 w 50891"/>
                <a:gd name="csY3" fmla="*/ 66734 h 76451"/>
                <a:gd name="csX4" fmla="*/ 11639 w 50891"/>
                <a:gd name="csY4" fmla="*/ 66734 h 76451"/>
                <a:gd name="csX5" fmla="*/ 34667 w 50891"/>
                <a:gd name="csY5" fmla="*/ 47391 h 76451"/>
                <a:gd name="csX6" fmla="*/ 51131 w 50891"/>
                <a:gd name="csY6" fmla="*/ 22521 h 76451"/>
                <a:gd name="csX7" fmla="*/ 24189 w 50891"/>
                <a:gd name="csY7" fmla="*/ 69 h 76451"/>
                <a:gd name="csX8" fmla="*/ 240 w 50891"/>
                <a:gd name="csY8" fmla="*/ 20679 h 76451"/>
                <a:gd name="csX9" fmla="*/ 6343 w 50891"/>
                <a:gd name="csY9" fmla="*/ 27126 h 76451"/>
                <a:gd name="csX10" fmla="*/ 12445 w 50891"/>
                <a:gd name="csY10" fmla="*/ 21024 h 76451"/>
                <a:gd name="csX11" fmla="*/ 5652 w 50891"/>
                <a:gd name="csY11" fmla="*/ 14922 h 76451"/>
                <a:gd name="csX12" fmla="*/ 22462 w 50891"/>
                <a:gd name="csY12" fmla="*/ 4214 h 76451"/>
                <a:gd name="csX13" fmla="*/ 39963 w 50891"/>
                <a:gd name="csY13" fmla="*/ 22521 h 76451"/>
                <a:gd name="csX14" fmla="*/ 29140 w 50891"/>
                <a:gd name="csY14" fmla="*/ 44627 h 76451"/>
                <a:gd name="csX15" fmla="*/ 1392 w 50891"/>
                <a:gd name="csY15" fmla="*/ 72030 h 76451"/>
                <a:gd name="csX16" fmla="*/ 240 w 50891"/>
                <a:gd name="csY16" fmla="*/ 76521 h 76451"/>
                <a:gd name="csX17" fmla="*/ 47677 w 50891"/>
                <a:gd name="csY17" fmla="*/ 76521 h 76451"/>
                <a:gd name="csX18" fmla="*/ 51131 w 50891"/>
                <a:gd name="csY18" fmla="*/ 55566 h 764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0891" h="76451">
                  <a:moveTo>
                    <a:pt x="51131" y="55566"/>
                  </a:moveTo>
                  <a:lnTo>
                    <a:pt x="47217" y="55566"/>
                  </a:lnTo>
                  <a:cubicBezTo>
                    <a:pt x="46871" y="58099"/>
                    <a:pt x="45720" y="64892"/>
                    <a:pt x="44223" y="66043"/>
                  </a:cubicBezTo>
                  <a:cubicBezTo>
                    <a:pt x="43302" y="66734"/>
                    <a:pt x="34436" y="66734"/>
                    <a:pt x="32824" y="66734"/>
                  </a:cubicBezTo>
                  <a:lnTo>
                    <a:pt x="11639" y="66734"/>
                  </a:lnTo>
                  <a:cubicBezTo>
                    <a:pt x="23729" y="56026"/>
                    <a:pt x="27758" y="52802"/>
                    <a:pt x="34667" y="47391"/>
                  </a:cubicBezTo>
                  <a:cubicBezTo>
                    <a:pt x="43187" y="40598"/>
                    <a:pt x="51131" y="33459"/>
                    <a:pt x="51131" y="22521"/>
                  </a:cubicBezTo>
                  <a:cubicBezTo>
                    <a:pt x="51131" y="8589"/>
                    <a:pt x="38927" y="69"/>
                    <a:pt x="24189" y="69"/>
                  </a:cubicBezTo>
                  <a:cubicBezTo>
                    <a:pt x="9912" y="69"/>
                    <a:pt x="240" y="10086"/>
                    <a:pt x="240" y="20679"/>
                  </a:cubicBezTo>
                  <a:cubicBezTo>
                    <a:pt x="240" y="26551"/>
                    <a:pt x="5191" y="27126"/>
                    <a:pt x="6343" y="27126"/>
                  </a:cubicBezTo>
                  <a:cubicBezTo>
                    <a:pt x="9106" y="27126"/>
                    <a:pt x="12445" y="25169"/>
                    <a:pt x="12445" y="21024"/>
                  </a:cubicBezTo>
                  <a:cubicBezTo>
                    <a:pt x="12445" y="18952"/>
                    <a:pt x="11639" y="14922"/>
                    <a:pt x="5652" y="14922"/>
                  </a:cubicBezTo>
                  <a:cubicBezTo>
                    <a:pt x="9221" y="6747"/>
                    <a:pt x="17051" y="4214"/>
                    <a:pt x="22462" y="4214"/>
                  </a:cubicBezTo>
                  <a:cubicBezTo>
                    <a:pt x="33976" y="4214"/>
                    <a:pt x="39963" y="13195"/>
                    <a:pt x="39963" y="22521"/>
                  </a:cubicBezTo>
                  <a:cubicBezTo>
                    <a:pt x="39963" y="32538"/>
                    <a:pt x="32824" y="40483"/>
                    <a:pt x="29140" y="44627"/>
                  </a:cubicBezTo>
                  <a:lnTo>
                    <a:pt x="1392" y="72030"/>
                  </a:lnTo>
                  <a:cubicBezTo>
                    <a:pt x="240" y="73067"/>
                    <a:pt x="240" y="73297"/>
                    <a:pt x="240" y="76521"/>
                  </a:cubicBezTo>
                  <a:lnTo>
                    <a:pt x="47677" y="76521"/>
                  </a:lnTo>
                  <a:lnTo>
                    <a:pt x="51131" y="55566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40" name="任意形状 39">
              <a:extLst>
                <a:ext uri="{FF2B5EF4-FFF2-40B4-BE49-F238E27FC236}">
                  <a16:creationId xmlns:a16="http://schemas.microsoft.com/office/drawing/2014/main" id="{2AC242B1-396E-F883-168F-4019402D14AB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6581858" y="3592692"/>
              <a:ext cx="29820" cy="115023"/>
            </a:xfrm>
            <a:custGeom>
              <a:avLst/>
              <a:gdLst>
                <a:gd name="csX0" fmla="*/ 2432 w 29820"/>
                <a:gd name="csY0" fmla="*/ 69 h 115023"/>
                <a:gd name="csX1" fmla="*/ 244 w 29820"/>
                <a:gd name="csY1" fmla="*/ 1451 h 115023"/>
                <a:gd name="csX2" fmla="*/ 1281 w 29820"/>
                <a:gd name="csY2" fmla="*/ 3178 h 115023"/>
                <a:gd name="csX3" fmla="*/ 22236 w 29820"/>
                <a:gd name="csY3" fmla="*/ 57523 h 115023"/>
                <a:gd name="csX4" fmla="*/ 2317 w 29820"/>
                <a:gd name="csY4" fmla="*/ 111062 h 115023"/>
                <a:gd name="csX5" fmla="*/ 244 w 29820"/>
                <a:gd name="csY5" fmla="*/ 113710 h 115023"/>
                <a:gd name="csX6" fmla="*/ 1741 w 29820"/>
                <a:gd name="csY6" fmla="*/ 115092 h 115023"/>
                <a:gd name="csX7" fmla="*/ 21660 w 29820"/>
                <a:gd name="csY7" fmla="*/ 93101 h 115023"/>
                <a:gd name="csX8" fmla="*/ 30065 w 29820"/>
                <a:gd name="csY8" fmla="*/ 57638 h 115023"/>
                <a:gd name="csX9" fmla="*/ 2432 w 29820"/>
                <a:gd name="csY9" fmla="*/ 69 h 115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9820" h="115023">
                  <a:moveTo>
                    <a:pt x="2432" y="69"/>
                  </a:moveTo>
                  <a:cubicBezTo>
                    <a:pt x="1626" y="69"/>
                    <a:pt x="244" y="69"/>
                    <a:pt x="244" y="1451"/>
                  </a:cubicBezTo>
                  <a:cubicBezTo>
                    <a:pt x="244" y="2026"/>
                    <a:pt x="590" y="2372"/>
                    <a:pt x="1281" y="3178"/>
                  </a:cubicBezTo>
                  <a:cubicBezTo>
                    <a:pt x="11182" y="12274"/>
                    <a:pt x="22236" y="27817"/>
                    <a:pt x="22236" y="57523"/>
                  </a:cubicBezTo>
                  <a:cubicBezTo>
                    <a:pt x="22236" y="81587"/>
                    <a:pt x="14752" y="99779"/>
                    <a:pt x="2317" y="111062"/>
                  </a:cubicBezTo>
                  <a:cubicBezTo>
                    <a:pt x="359" y="113020"/>
                    <a:pt x="244" y="113135"/>
                    <a:pt x="244" y="113710"/>
                  </a:cubicBezTo>
                  <a:cubicBezTo>
                    <a:pt x="244" y="114286"/>
                    <a:pt x="590" y="115092"/>
                    <a:pt x="1741" y="115092"/>
                  </a:cubicBezTo>
                  <a:cubicBezTo>
                    <a:pt x="3123" y="115092"/>
                    <a:pt x="14061" y="107493"/>
                    <a:pt x="21660" y="93101"/>
                  </a:cubicBezTo>
                  <a:cubicBezTo>
                    <a:pt x="26726" y="83544"/>
                    <a:pt x="30065" y="71109"/>
                    <a:pt x="30065" y="57638"/>
                  </a:cubicBezTo>
                  <a:cubicBezTo>
                    <a:pt x="30065" y="41404"/>
                    <a:pt x="25229" y="16188"/>
                    <a:pt x="2432" y="69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30BF276C-6F49-97A8-0E0B-C8FD539D998B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6274919" y="3805599"/>
              <a:ext cx="359998" cy="6578"/>
            </a:xfrm>
            <a:prstGeom prst="rect">
              <a:avLst/>
            </a:pr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42" name="任意形状 41">
              <a:extLst>
                <a:ext uri="{FF2B5EF4-FFF2-40B4-BE49-F238E27FC236}">
                  <a16:creationId xmlns:a16="http://schemas.microsoft.com/office/drawing/2014/main" id="{D039D5F2-993C-DDCD-6D1F-34569594F21F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6281499" y="3848016"/>
              <a:ext cx="86518" cy="121388"/>
            </a:xfrm>
            <a:custGeom>
              <a:avLst/>
              <a:gdLst>
                <a:gd name="csX0" fmla="*/ 69803 w 86518"/>
                <a:gd name="csY0" fmla="*/ 62097 h 121388"/>
                <a:gd name="csX1" fmla="*/ 48584 w 86518"/>
                <a:gd name="csY1" fmla="*/ 42687 h 121388"/>
                <a:gd name="csX2" fmla="*/ 15030 w 86518"/>
                <a:gd name="csY2" fmla="*/ 58149 h 121388"/>
                <a:gd name="csX3" fmla="*/ 226 w 86518"/>
                <a:gd name="csY3" fmla="*/ 92197 h 121388"/>
                <a:gd name="csX4" fmla="*/ 30491 w 86518"/>
                <a:gd name="csY4" fmla="*/ 121475 h 121388"/>
                <a:gd name="csX5" fmla="*/ 86744 w 86518"/>
                <a:gd name="csY5" fmla="*/ 42687 h 121388"/>
                <a:gd name="csX6" fmla="*/ 51216 w 86518"/>
                <a:gd name="csY6" fmla="*/ 86 h 121388"/>
                <a:gd name="csX7" fmla="*/ 19800 w 86518"/>
                <a:gd name="csY7" fmla="*/ 26075 h 121388"/>
                <a:gd name="csX8" fmla="*/ 26050 w 86518"/>
                <a:gd name="csY8" fmla="*/ 31832 h 121388"/>
                <a:gd name="csX9" fmla="*/ 34932 w 86518"/>
                <a:gd name="csY9" fmla="*/ 23114 h 121388"/>
                <a:gd name="csX10" fmla="*/ 27201 w 86518"/>
                <a:gd name="csY10" fmla="*/ 17357 h 121388"/>
                <a:gd name="csX11" fmla="*/ 50887 w 86518"/>
                <a:gd name="csY11" fmla="*/ 4198 h 121388"/>
                <a:gd name="csX12" fmla="*/ 74408 w 86518"/>
                <a:gd name="csY12" fmla="*/ 33970 h 121388"/>
                <a:gd name="csX13" fmla="*/ 69967 w 86518"/>
                <a:gd name="csY13" fmla="*/ 62097 h 121388"/>
                <a:gd name="csX14" fmla="*/ 69803 w 86518"/>
                <a:gd name="csY14" fmla="*/ 62097 h 121388"/>
                <a:gd name="csX15" fmla="*/ 30985 w 86518"/>
                <a:gd name="csY15" fmla="*/ 116869 h 121388"/>
                <a:gd name="csX16" fmla="*/ 12891 w 86518"/>
                <a:gd name="csY16" fmla="*/ 98283 h 121388"/>
                <a:gd name="csX17" fmla="*/ 23747 w 86518"/>
                <a:gd name="csY17" fmla="*/ 60945 h 121388"/>
                <a:gd name="csX18" fmla="*/ 48584 w 86518"/>
                <a:gd name="csY18" fmla="*/ 46306 h 121388"/>
                <a:gd name="csX19" fmla="*/ 66842 w 86518"/>
                <a:gd name="csY19" fmla="*/ 68018 h 121388"/>
                <a:gd name="csX20" fmla="*/ 30985 w 86518"/>
                <a:gd name="csY20" fmla="*/ 116869 h 1213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86518" h="121388">
                  <a:moveTo>
                    <a:pt x="69803" y="62097"/>
                  </a:moveTo>
                  <a:cubicBezTo>
                    <a:pt x="68158" y="51899"/>
                    <a:pt x="61414" y="42687"/>
                    <a:pt x="48584" y="42687"/>
                  </a:cubicBezTo>
                  <a:cubicBezTo>
                    <a:pt x="38551" y="42687"/>
                    <a:pt x="27859" y="45319"/>
                    <a:pt x="15030" y="58149"/>
                  </a:cubicBezTo>
                  <a:cubicBezTo>
                    <a:pt x="1378" y="71801"/>
                    <a:pt x="226" y="87098"/>
                    <a:pt x="226" y="92197"/>
                  </a:cubicBezTo>
                  <a:cubicBezTo>
                    <a:pt x="226" y="102395"/>
                    <a:pt x="7463" y="121475"/>
                    <a:pt x="30491" y="121475"/>
                  </a:cubicBezTo>
                  <a:cubicBezTo>
                    <a:pt x="69638" y="121475"/>
                    <a:pt x="86744" y="66209"/>
                    <a:pt x="86744" y="42687"/>
                  </a:cubicBezTo>
                  <a:cubicBezTo>
                    <a:pt x="86744" y="16535"/>
                    <a:pt x="71447" y="86"/>
                    <a:pt x="51216" y="86"/>
                  </a:cubicBezTo>
                  <a:cubicBezTo>
                    <a:pt x="27366" y="86"/>
                    <a:pt x="19800" y="21469"/>
                    <a:pt x="19800" y="26075"/>
                  </a:cubicBezTo>
                  <a:cubicBezTo>
                    <a:pt x="19800" y="28377"/>
                    <a:pt x="21116" y="31832"/>
                    <a:pt x="26050" y="31832"/>
                  </a:cubicBezTo>
                  <a:cubicBezTo>
                    <a:pt x="31478" y="31832"/>
                    <a:pt x="34932" y="26897"/>
                    <a:pt x="34932" y="23114"/>
                  </a:cubicBezTo>
                  <a:cubicBezTo>
                    <a:pt x="34932" y="17357"/>
                    <a:pt x="29833" y="17357"/>
                    <a:pt x="27201" y="17357"/>
                  </a:cubicBezTo>
                  <a:cubicBezTo>
                    <a:pt x="34439" y="5185"/>
                    <a:pt x="46117" y="4198"/>
                    <a:pt x="50887" y="4198"/>
                  </a:cubicBezTo>
                  <a:cubicBezTo>
                    <a:pt x="62894" y="4198"/>
                    <a:pt x="74408" y="12752"/>
                    <a:pt x="74408" y="33970"/>
                  </a:cubicBezTo>
                  <a:cubicBezTo>
                    <a:pt x="74408" y="40385"/>
                    <a:pt x="73421" y="48773"/>
                    <a:pt x="69967" y="62097"/>
                  </a:cubicBezTo>
                  <a:lnTo>
                    <a:pt x="69803" y="62097"/>
                  </a:lnTo>
                  <a:close/>
                  <a:moveTo>
                    <a:pt x="30985" y="116869"/>
                  </a:moveTo>
                  <a:cubicBezTo>
                    <a:pt x="12891" y="116869"/>
                    <a:pt x="12891" y="99928"/>
                    <a:pt x="12891" y="98283"/>
                  </a:cubicBezTo>
                  <a:cubicBezTo>
                    <a:pt x="12891" y="93842"/>
                    <a:pt x="17004" y="70814"/>
                    <a:pt x="23747" y="60945"/>
                  </a:cubicBezTo>
                  <a:cubicBezTo>
                    <a:pt x="30327" y="51570"/>
                    <a:pt x="38386" y="46306"/>
                    <a:pt x="48584" y="46306"/>
                  </a:cubicBezTo>
                  <a:cubicBezTo>
                    <a:pt x="66513" y="46306"/>
                    <a:pt x="66842" y="64728"/>
                    <a:pt x="66842" y="68018"/>
                  </a:cubicBezTo>
                  <a:cubicBezTo>
                    <a:pt x="66842" y="79861"/>
                    <a:pt x="56315" y="116869"/>
                    <a:pt x="30985" y="116869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43" name="任意形状 42">
              <a:extLst>
                <a:ext uri="{FF2B5EF4-FFF2-40B4-BE49-F238E27FC236}">
                  <a16:creationId xmlns:a16="http://schemas.microsoft.com/office/drawing/2014/main" id="{7FA58089-07AA-0304-54C8-4482C4B676D3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6377961" y="3893084"/>
              <a:ext cx="75333" cy="74510"/>
            </a:xfrm>
            <a:custGeom>
              <a:avLst/>
              <a:gdLst>
                <a:gd name="csX0" fmla="*/ 55005 w 75333"/>
                <a:gd name="csY0" fmla="*/ 10613 h 74510"/>
                <a:gd name="csX1" fmla="*/ 39873 w 75333"/>
                <a:gd name="csY1" fmla="*/ 86 h 74510"/>
                <a:gd name="csX2" fmla="*/ 232 w 75333"/>
                <a:gd name="csY2" fmla="*/ 48280 h 74510"/>
                <a:gd name="csX3" fmla="*/ 22108 w 75333"/>
                <a:gd name="csY3" fmla="*/ 74597 h 74510"/>
                <a:gd name="csX4" fmla="*/ 43491 w 75333"/>
                <a:gd name="csY4" fmla="*/ 62261 h 74510"/>
                <a:gd name="csX5" fmla="*/ 58459 w 75333"/>
                <a:gd name="csY5" fmla="*/ 74597 h 74510"/>
                <a:gd name="csX6" fmla="*/ 70631 w 75333"/>
                <a:gd name="csY6" fmla="*/ 65551 h 74510"/>
                <a:gd name="csX7" fmla="*/ 75565 w 75333"/>
                <a:gd name="csY7" fmla="*/ 49267 h 74510"/>
                <a:gd name="csX8" fmla="*/ 73592 w 75333"/>
                <a:gd name="csY8" fmla="*/ 47622 h 74510"/>
                <a:gd name="csX9" fmla="*/ 71289 w 75333"/>
                <a:gd name="csY9" fmla="*/ 50583 h 74510"/>
                <a:gd name="csX10" fmla="*/ 58788 w 75333"/>
                <a:gd name="csY10" fmla="*/ 70979 h 74510"/>
                <a:gd name="csX11" fmla="*/ 53854 w 75333"/>
                <a:gd name="csY11" fmla="*/ 63412 h 74510"/>
                <a:gd name="csX12" fmla="*/ 55992 w 75333"/>
                <a:gd name="csY12" fmla="*/ 51241 h 74510"/>
                <a:gd name="csX13" fmla="*/ 59610 w 75333"/>
                <a:gd name="csY13" fmla="*/ 36437 h 74510"/>
                <a:gd name="csX14" fmla="*/ 65532 w 75333"/>
                <a:gd name="csY14" fmla="*/ 13410 h 74510"/>
                <a:gd name="csX15" fmla="*/ 66683 w 75333"/>
                <a:gd name="csY15" fmla="*/ 7817 h 74510"/>
                <a:gd name="csX16" fmla="*/ 61913 w 75333"/>
                <a:gd name="csY16" fmla="*/ 3376 h 74510"/>
                <a:gd name="csX17" fmla="*/ 55005 w 75333"/>
                <a:gd name="csY17" fmla="*/ 10613 h 74510"/>
                <a:gd name="csX18" fmla="*/ 44314 w 75333"/>
                <a:gd name="csY18" fmla="*/ 53214 h 74510"/>
                <a:gd name="csX19" fmla="*/ 41024 w 75333"/>
                <a:gd name="csY19" fmla="*/ 59300 h 74510"/>
                <a:gd name="csX20" fmla="*/ 22437 w 75333"/>
                <a:gd name="csY20" fmla="*/ 70979 h 74510"/>
                <a:gd name="csX21" fmla="*/ 11910 w 75333"/>
                <a:gd name="csY21" fmla="*/ 55517 h 74510"/>
                <a:gd name="csX22" fmla="*/ 20957 w 75333"/>
                <a:gd name="csY22" fmla="*/ 19495 h 74510"/>
                <a:gd name="csX23" fmla="*/ 40037 w 75333"/>
                <a:gd name="csY23" fmla="*/ 3705 h 74510"/>
                <a:gd name="csX24" fmla="*/ 53031 w 75333"/>
                <a:gd name="csY24" fmla="*/ 18180 h 74510"/>
                <a:gd name="csX25" fmla="*/ 52538 w 75333"/>
                <a:gd name="csY25" fmla="*/ 20976 h 74510"/>
                <a:gd name="csX26" fmla="*/ 44314 w 75333"/>
                <a:gd name="csY26" fmla="*/ 53214 h 74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75333" h="74510">
                  <a:moveTo>
                    <a:pt x="55005" y="10613"/>
                  </a:moveTo>
                  <a:cubicBezTo>
                    <a:pt x="52044" y="4527"/>
                    <a:pt x="47274" y="86"/>
                    <a:pt x="39873" y="86"/>
                  </a:cubicBezTo>
                  <a:cubicBezTo>
                    <a:pt x="20628" y="86"/>
                    <a:pt x="232" y="24265"/>
                    <a:pt x="232" y="48280"/>
                  </a:cubicBezTo>
                  <a:cubicBezTo>
                    <a:pt x="232" y="63741"/>
                    <a:pt x="9279" y="74597"/>
                    <a:pt x="22108" y="74597"/>
                  </a:cubicBezTo>
                  <a:cubicBezTo>
                    <a:pt x="25398" y="74597"/>
                    <a:pt x="33622" y="73939"/>
                    <a:pt x="43491" y="62261"/>
                  </a:cubicBezTo>
                  <a:cubicBezTo>
                    <a:pt x="44807" y="69169"/>
                    <a:pt x="50564" y="74597"/>
                    <a:pt x="58459" y="74597"/>
                  </a:cubicBezTo>
                  <a:cubicBezTo>
                    <a:pt x="64216" y="74597"/>
                    <a:pt x="67999" y="70814"/>
                    <a:pt x="70631" y="65551"/>
                  </a:cubicBezTo>
                  <a:cubicBezTo>
                    <a:pt x="73427" y="59629"/>
                    <a:pt x="75565" y="49596"/>
                    <a:pt x="75565" y="49267"/>
                  </a:cubicBezTo>
                  <a:cubicBezTo>
                    <a:pt x="75565" y="47622"/>
                    <a:pt x="74085" y="47622"/>
                    <a:pt x="73592" y="47622"/>
                  </a:cubicBezTo>
                  <a:cubicBezTo>
                    <a:pt x="71947" y="47622"/>
                    <a:pt x="71782" y="48280"/>
                    <a:pt x="71289" y="50583"/>
                  </a:cubicBezTo>
                  <a:cubicBezTo>
                    <a:pt x="68493" y="61274"/>
                    <a:pt x="65532" y="70979"/>
                    <a:pt x="58788" y="70979"/>
                  </a:cubicBezTo>
                  <a:cubicBezTo>
                    <a:pt x="54347" y="70979"/>
                    <a:pt x="53854" y="66702"/>
                    <a:pt x="53854" y="63412"/>
                  </a:cubicBezTo>
                  <a:cubicBezTo>
                    <a:pt x="53854" y="59794"/>
                    <a:pt x="54183" y="58478"/>
                    <a:pt x="55992" y="51241"/>
                  </a:cubicBezTo>
                  <a:cubicBezTo>
                    <a:pt x="57801" y="44332"/>
                    <a:pt x="58130" y="42688"/>
                    <a:pt x="59610" y="36437"/>
                  </a:cubicBezTo>
                  <a:lnTo>
                    <a:pt x="65532" y="13410"/>
                  </a:lnTo>
                  <a:cubicBezTo>
                    <a:pt x="66683" y="8804"/>
                    <a:pt x="66683" y="8475"/>
                    <a:pt x="66683" y="7817"/>
                  </a:cubicBezTo>
                  <a:cubicBezTo>
                    <a:pt x="66683" y="5021"/>
                    <a:pt x="64709" y="3376"/>
                    <a:pt x="61913" y="3376"/>
                  </a:cubicBezTo>
                  <a:cubicBezTo>
                    <a:pt x="57966" y="3376"/>
                    <a:pt x="55498" y="6995"/>
                    <a:pt x="55005" y="10613"/>
                  </a:cubicBezTo>
                  <a:close/>
                  <a:moveTo>
                    <a:pt x="44314" y="53214"/>
                  </a:moveTo>
                  <a:cubicBezTo>
                    <a:pt x="43491" y="56175"/>
                    <a:pt x="43491" y="56504"/>
                    <a:pt x="41024" y="59300"/>
                  </a:cubicBezTo>
                  <a:cubicBezTo>
                    <a:pt x="33787" y="68347"/>
                    <a:pt x="27043" y="70979"/>
                    <a:pt x="22437" y="70979"/>
                  </a:cubicBezTo>
                  <a:cubicBezTo>
                    <a:pt x="14213" y="70979"/>
                    <a:pt x="11910" y="61932"/>
                    <a:pt x="11910" y="55517"/>
                  </a:cubicBezTo>
                  <a:cubicBezTo>
                    <a:pt x="11910" y="47293"/>
                    <a:pt x="17174" y="27062"/>
                    <a:pt x="20957" y="19495"/>
                  </a:cubicBezTo>
                  <a:cubicBezTo>
                    <a:pt x="26056" y="9791"/>
                    <a:pt x="33458" y="3705"/>
                    <a:pt x="40037" y="3705"/>
                  </a:cubicBezTo>
                  <a:cubicBezTo>
                    <a:pt x="50728" y="3705"/>
                    <a:pt x="53031" y="17193"/>
                    <a:pt x="53031" y="18180"/>
                  </a:cubicBezTo>
                  <a:cubicBezTo>
                    <a:pt x="53031" y="19166"/>
                    <a:pt x="52702" y="20153"/>
                    <a:pt x="52538" y="20976"/>
                  </a:cubicBezTo>
                  <a:lnTo>
                    <a:pt x="44314" y="53214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44" name="任意形状 43">
              <a:extLst>
                <a:ext uri="{FF2B5EF4-FFF2-40B4-BE49-F238E27FC236}">
                  <a16:creationId xmlns:a16="http://schemas.microsoft.com/office/drawing/2014/main" id="{AF99AC72-EFE5-E59F-A08B-6B3953B0F7FB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6471567" y="3831915"/>
              <a:ext cx="29935" cy="115023"/>
            </a:xfrm>
            <a:custGeom>
              <a:avLst/>
              <a:gdLst>
                <a:gd name="csX0" fmla="*/ 27870 w 29935"/>
                <a:gd name="csY0" fmla="*/ 83 h 115023"/>
                <a:gd name="csX1" fmla="*/ 237 w 29935"/>
                <a:gd name="csY1" fmla="*/ 57537 h 115023"/>
                <a:gd name="csX2" fmla="*/ 27870 w 29935"/>
                <a:gd name="csY2" fmla="*/ 115107 h 115023"/>
                <a:gd name="csX3" fmla="*/ 30173 w 29935"/>
                <a:gd name="csY3" fmla="*/ 113725 h 115023"/>
                <a:gd name="csX4" fmla="*/ 29022 w 29935"/>
                <a:gd name="csY4" fmla="*/ 111998 h 115023"/>
                <a:gd name="csX5" fmla="*/ 8067 w 29935"/>
                <a:gd name="csY5" fmla="*/ 57653 h 115023"/>
                <a:gd name="csX6" fmla="*/ 29367 w 29935"/>
                <a:gd name="csY6" fmla="*/ 2847 h 115023"/>
                <a:gd name="csX7" fmla="*/ 30173 w 29935"/>
                <a:gd name="csY7" fmla="*/ 1465 h 115023"/>
                <a:gd name="csX8" fmla="*/ 27870 w 29935"/>
                <a:gd name="csY8" fmla="*/ 83 h 115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935" h="115023">
                  <a:moveTo>
                    <a:pt x="27870" y="83"/>
                  </a:moveTo>
                  <a:cubicBezTo>
                    <a:pt x="5994" y="15512"/>
                    <a:pt x="237" y="39921"/>
                    <a:pt x="237" y="57537"/>
                  </a:cubicBezTo>
                  <a:cubicBezTo>
                    <a:pt x="237" y="73772"/>
                    <a:pt x="5073" y="98987"/>
                    <a:pt x="27870" y="115107"/>
                  </a:cubicBezTo>
                  <a:cubicBezTo>
                    <a:pt x="28792" y="115107"/>
                    <a:pt x="30173" y="115107"/>
                    <a:pt x="30173" y="113725"/>
                  </a:cubicBezTo>
                  <a:cubicBezTo>
                    <a:pt x="30173" y="113034"/>
                    <a:pt x="29828" y="112804"/>
                    <a:pt x="29022" y="111998"/>
                  </a:cubicBezTo>
                  <a:cubicBezTo>
                    <a:pt x="13709" y="98181"/>
                    <a:pt x="8067" y="78608"/>
                    <a:pt x="8067" y="57653"/>
                  </a:cubicBezTo>
                  <a:cubicBezTo>
                    <a:pt x="8067" y="26565"/>
                    <a:pt x="19926" y="11367"/>
                    <a:pt x="29367" y="2847"/>
                  </a:cubicBezTo>
                  <a:cubicBezTo>
                    <a:pt x="29828" y="2386"/>
                    <a:pt x="30173" y="2041"/>
                    <a:pt x="30173" y="1465"/>
                  </a:cubicBezTo>
                  <a:cubicBezTo>
                    <a:pt x="30173" y="83"/>
                    <a:pt x="28792" y="83"/>
                    <a:pt x="27870" y="83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45" name="任意形状 44">
              <a:extLst>
                <a:ext uri="{FF2B5EF4-FFF2-40B4-BE49-F238E27FC236}">
                  <a16:creationId xmlns:a16="http://schemas.microsoft.com/office/drawing/2014/main" id="{931770BB-FB23-8D59-7FD0-CDA49CE269C6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6522277" y="3841817"/>
              <a:ext cx="41910" cy="76451"/>
            </a:xfrm>
            <a:custGeom>
              <a:avLst/>
              <a:gdLst>
                <a:gd name="csX0" fmla="*/ 26262 w 41910"/>
                <a:gd name="csY0" fmla="*/ 3307 h 76451"/>
                <a:gd name="csX1" fmla="*/ 22808 w 41910"/>
                <a:gd name="csY1" fmla="*/ 83 h 76451"/>
                <a:gd name="csX2" fmla="*/ 240 w 41910"/>
                <a:gd name="csY2" fmla="*/ 7452 h 76451"/>
                <a:gd name="csX3" fmla="*/ 240 w 41910"/>
                <a:gd name="csY3" fmla="*/ 11597 h 76451"/>
                <a:gd name="csX4" fmla="*/ 16935 w 41910"/>
                <a:gd name="csY4" fmla="*/ 8373 h 76451"/>
                <a:gd name="csX5" fmla="*/ 16935 w 41910"/>
                <a:gd name="csY5" fmla="*/ 67094 h 76451"/>
                <a:gd name="csX6" fmla="*/ 5422 w 41910"/>
                <a:gd name="csY6" fmla="*/ 72390 h 76451"/>
                <a:gd name="csX7" fmla="*/ 1046 w 41910"/>
                <a:gd name="csY7" fmla="*/ 72390 h 76451"/>
                <a:gd name="csX8" fmla="*/ 1046 w 41910"/>
                <a:gd name="csY8" fmla="*/ 76535 h 76451"/>
                <a:gd name="csX9" fmla="*/ 21541 w 41910"/>
                <a:gd name="csY9" fmla="*/ 76075 h 76451"/>
                <a:gd name="csX10" fmla="*/ 42151 w 41910"/>
                <a:gd name="csY10" fmla="*/ 76535 h 76451"/>
                <a:gd name="csX11" fmla="*/ 42151 w 41910"/>
                <a:gd name="csY11" fmla="*/ 72390 h 76451"/>
                <a:gd name="csX12" fmla="*/ 37776 w 41910"/>
                <a:gd name="csY12" fmla="*/ 72390 h 76451"/>
                <a:gd name="csX13" fmla="*/ 26262 w 41910"/>
                <a:gd name="csY13" fmla="*/ 67094 h 76451"/>
                <a:gd name="csX14" fmla="*/ 26262 w 41910"/>
                <a:gd name="csY14" fmla="*/ 3307 h 764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1910" h="76451">
                  <a:moveTo>
                    <a:pt x="26262" y="3307"/>
                  </a:moveTo>
                  <a:cubicBezTo>
                    <a:pt x="26262" y="199"/>
                    <a:pt x="26031" y="83"/>
                    <a:pt x="22808" y="83"/>
                  </a:cubicBezTo>
                  <a:cubicBezTo>
                    <a:pt x="15439" y="7337"/>
                    <a:pt x="4961" y="7452"/>
                    <a:pt x="240" y="7452"/>
                  </a:cubicBezTo>
                  <a:lnTo>
                    <a:pt x="240" y="11597"/>
                  </a:lnTo>
                  <a:cubicBezTo>
                    <a:pt x="3004" y="11597"/>
                    <a:pt x="10603" y="11597"/>
                    <a:pt x="16935" y="8373"/>
                  </a:cubicBezTo>
                  <a:lnTo>
                    <a:pt x="16935" y="67094"/>
                  </a:lnTo>
                  <a:cubicBezTo>
                    <a:pt x="16935" y="70893"/>
                    <a:pt x="16935" y="72390"/>
                    <a:pt x="5422" y="72390"/>
                  </a:cubicBezTo>
                  <a:lnTo>
                    <a:pt x="1046" y="72390"/>
                  </a:lnTo>
                  <a:lnTo>
                    <a:pt x="1046" y="76535"/>
                  </a:lnTo>
                  <a:cubicBezTo>
                    <a:pt x="3119" y="76420"/>
                    <a:pt x="17281" y="76075"/>
                    <a:pt x="21541" y="76075"/>
                  </a:cubicBezTo>
                  <a:cubicBezTo>
                    <a:pt x="25110" y="76075"/>
                    <a:pt x="39618" y="76420"/>
                    <a:pt x="42151" y="76535"/>
                  </a:cubicBezTo>
                  <a:lnTo>
                    <a:pt x="42151" y="72390"/>
                  </a:lnTo>
                  <a:lnTo>
                    <a:pt x="37776" y="72390"/>
                  </a:lnTo>
                  <a:cubicBezTo>
                    <a:pt x="26262" y="72390"/>
                    <a:pt x="26262" y="70893"/>
                    <a:pt x="26262" y="67094"/>
                  </a:cubicBezTo>
                  <a:lnTo>
                    <a:pt x="26262" y="3307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46" name="任意形状 45">
              <a:extLst>
                <a:ext uri="{FF2B5EF4-FFF2-40B4-BE49-F238E27FC236}">
                  <a16:creationId xmlns:a16="http://schemas.microsoft.com/office/drawing/2014/main" id="{D902A11A-3222-DC93-3465-D0C80136A11B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6583467" y="3831915"/>
              <a:ext cx="29820" cy="115023"/>
            </a:xfrm>
            <a:custGeom>
              <a:avLst/>
              <a:gdLst>
                <a:gd name="csX0" fmla="*/ 2432 w 29820"/>
                <a:gd name="csY0" fmla="*/ 83 h 115023"/>
                <a:gd name="csX1" fmla="*/ 244 w 29820"/>
                <a:gd name="csY1" fmla="*/ 1465 h 115023"/>
                <a:gd name="csX2" fmla="*/ 1281 w 29820"/>
                <a:gd name="csY2" fmla="*/ 3192 h 115023"/>
                <a:gd name="csX3" fmla="*/ 22236 w 29820"/>
                <a:gd name="csY3" fmla="*/ 57537 h 115023"/>
                <a:gd name="csX4" fmla="*/ 2317 w 29820"/>
                <a:gd name="csY4" fmla="*/ 111077 h 115023"/>
                <a:gd name="csX5" fmla="*/ 244 w 29820"/>
                <a:gd name="csY5" fmla="*/ 113725 h 115023"/>
                <a:gd name="csX6" fmla="*/ 1741 w 29820"/>
                <a:gd name="csY6" fmla="*/ 115107 h 115023"/>
                <a:gd name="csX7" fmla="*/ 21660 w 29820"/>
                <a:gd name="csY7" fmla="*/ 93115 h 115023"/>
                <a:gd name="csX8" fmla="*/ 30065 w 29820"/>
                <a:gd name="csY8" fmla="*/ 57653 h 115023"/>
                <a:gd name="csX9" fmla="*/ 2432 w 29820"/>
                <a:gd name="csY9" fmla="*/ 83 h 115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9820" h="115023">
                  <a:moveTo>
                    <a:pt x="2432" y="83"/>
                  </a:moveTo>
                  <a:cubicBezTo>
                    <a:pt x="1626" y="83"/>
                    <a:pt x="244" y="83"/>
                    <a:pt x="244" y="1465"/>
                  </a:cubicBezTo>
                  <a:cubicBezTo>
                    <a:pt x="244" y="2041"/>
                    <a:pt x="590" y="2386"/>
                    <a:pt x="1281" y="3192"/>
                  </a:cubicBezTo>
                  <a:cubicBezTo>
                    <a:pt x="11183" y="12288"/>
                    <a:pt x="22236" y="27832"/>
                    <a:pt x="22236" y="57537"/>
                  </a:cubicBezTo>
                  <a:cubicBezTo>
                    <a:pt x="22236" y="81601"/>
                    <a:pt x="14752" y="99793"/>
                    <a:pt x="2317" y="111077"/>
                  </a:cubicBezTo>
                  <a:cubicBezTo>
                    <a:pt x="360" y="113034"/>
                    <a:pt x="244" y="113149"/>
                    <a:pt x="244" y="113725"/>
                  </a:cubicBezTo>
                  <a:cubicBezTo>
                    <a:pt x="244" y="114301"/>
                    <a:pt x="590" y="115107"/>
                    <a:pt x="1741" y="115107"/>
                  </a:cubicBezTo>
                  <a:cubicBezTo>
                    <a:pt x="3123" y="115107"/>
                    <a:pt x="14061" y="107507"/>
                    <a:pt x="21660" y="93115"/>
                  </a:cubicBezTo>
                  <a:cubicBezTo>
                    <a:pt x="26726" y="83559"/>
                    <a:pt x="30065" y="71124"/>
                    <a:pt x="30065" y="57653"/>
                  </a:cubicBezTo>
                  <a:cubicBezTo>
                    <a:pt x="30065" y="41418"/>
                    <a:pt x="25229" y="16203"/>
                    <a:pt x="2432" y="83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47" name="任意形状 46">
              <a:extLst>
                <a:ext uri="{FF2B5EF4-FFF2-40B4-BE49-F238E27FC236}">
                  <a16:creationId xmlns:a16="http://schemas.microsoft.com/office/drawing/2014/main" id="{1BDDE3CD-10EA-C503-9EFF-B99950ADE2DD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6251234" y="3979931"/>
              <a:ext cx="79609" cy="54937"/>
            </a:xfrm>
            <a:custGeom>
              <a:avLst/>
              <a:gdLst>
                <a:gd name="csX0" fmla="*/ 79835 w 79609"/>
                <a:gd name="csY0" fmla="*/ 39895 h 54937"/>
                <a:gd name="csX1" fmla="*/ 77532 w 79609"/>
                <a:gd name="csY1" fmla="*/ 35290 h 54937"/>
                <a:gd name="csX2" fmla="*/ 36411 w 79609"/>
                <a:gd name="csY2" fmla="*/ 26572 h 54937"/>
                <a:gd name="csX3" fmla="*/ 7791 w 79609"/>
                <a:gd name="csY3" fmla="*/ 913 h 54937"/>
                <a:gd name="csX4" fmla="*/ 4173 w 79609"/>
                <a:gd name="csY4" fmla="*/ 91 h 54937"/>
                <a:gd name="csX5" fmla="*/ 225 w 79609"/>
                <a:gd name="csY5" fmla="*/ 4367 h 54937"/>
                <a:gd name="csX6" fmla="*/ 225 w 79609"/>
                <a:gd name="csY6" fmla="*/ 6999 h 54937"/>
                <a:gd name="csX7" fmla="*/ 76381 w 79609"/>
                <a:gd name="csY7" fmla="*/ 55028 h 54937"/>
                <a:gd name="csX8" fmla="*/ 79835 w 79609"/>
                <a:gd name="csY8" fmla="*/ 50422 h 54937"/>
                <a:gd name="csX9" fmla="*/ 79835 w 79609"/>
                <a:gd name="csY9" fmla="*/ 39895 h 54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9609" h="54937">
                  <a:moveTo>
                    <a:pt x="79835" y="39895"/>
                  </a:moveTo>
                  <a:cubicBezTo>
                    <a:pt x="79835" y="36112"/>
                    <a:pt x="79835" y="35290"/>
                    <a:pt x="77532" y="35290"/>
                  </a:cubicBezTo>
                  <a:cubicBezTo>
                    <a:pt x="67499" y="35125"/>
                    <a:pt x="51215" y="33810"/>
                    <a:pt x="36411" y="26572"/>
                  </a:cubicBezTo>
                  <a:cubicBezTo>
                    <a:pt x="18647" y="17690"/>
                    <a:pt x="11903" y="7328"/>
                    <a:pt x="7791" y="913"/>
                  </a:cubicBezTo>
                  <a:cubicBezTo>
                    <a:pt x="7298" y="91"/>
                    <a:pt x="6311" y="91"/>
                    <a:pt x="4173" y="91"/>
                  </a:cubicBezTo>
                  <a:cubicBezTo>
                    <a:pt x="389" y="91"/>
                    <a:pt x="225" y="255"/>
                    <a:pt x="225" y="4367"/>
                  </a:cubicBezTo>
                  <a:lnTo>
                    <a:pt x="225" y="6999"/>
                  </a:lnTo>
                  <a:cubicBezTo>
                    <a:pt x="22595" y="47297"/>
                    <a:pt x="59603" y="55028"/>
                    <a:pt x="76381" y="55028"/>
                  </a:cubicBezTo>
                  <a:cubicBezTo>
                    <a:pt x="79835" y="55028"/>
                    <a:pt x="79835" y="54863"/>
                    <a:pt x="79835" y="50422"/>
                  </a:cubicBezTo>
                  <a:lnTo>
                    <a:pt x="79835" y="39895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096642CC-F12B-07EC-4563-3CA89427BD2B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6329199" y="4015131"/>
              <a:ext cx="51700" cy="19737"/>
            </a:xfrm>
            <a:prstGeom prst="rect">
              <a:avLst/>
            </a:pr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49" name="任意形状 48">
              <a:extLst>
                <a:ext uri="{FF2B5EF4-FFF2-40B4-BE49-F238E27FC236}">
                  <a16:creationId xmlns:a16="http://schemas.microsoft.com/office/drawing/2014/main" id="{B9F9A099-626D-274D-51C5-3205E82EF592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6379255" y="4015130"/>
              <a:ext cx="79609" cy="54937"/>
            </a:xfrm>
            <a:custGeom>
              <a:avLst/>
              <a:gdLst>
                <a:gd name="csX0" fmla="*/ 79842 w 79609"/>
                <a:gd name="csY0" fmla="*/ 48120 h 54937"/>
                <a:gd name="csX1" fmla="*/ 3687 w 79609"/>
                <a:gd name="csY1" fmla="*/ 91 h 54937"/>
                <a:gd name="csX2" fmla="*/ 233 w 79609"/>
                <a:gd name="csY2" fmla="*/ 4696 h 54937"/>
                <a:gd name="csX3" fmla="*/ 233 w 79609"/>
                <a:gd name="csY3" fmla="*/ 15223 h 54937"/>
                <a:gd name="csX4" fmla="*/ 2535 w 79609"/>
                <a:gd name="csY4" fmla="*/ 19829 h 54937"/>
                <a:gd name="csX5" fmla="*/ 43656 w 79609"/>
                <a:gd name="csY5" fmla="*/ 28546 h 54937"/>
                <a:gd name="csX6" fmla="*/ 72276 w 79609"/>
                <a:gd name="csY6" fmla="*/ 54206 h 54937"/>
                <a:gd name="csX7" fmla="*/ 75895 w 79609"/>
                <a:gd name="csY7" fmla="*/ 55028 h 54937"/>
                <a:gd name="csX8" fmla="*/ 79842 w 79609"/>
                <a:gd name="csY8" fmla="*/ 50751 h 54937"/>
                <a:gd name="csX9" fmla="*/ 79842 w 79609"/>
                <a:gd name="csY9" fmla="*/ 48120 h 54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9609" h="54937">
                  <a:moveTo>
                    <a:pt x="79842" y="48120"/>
                  </a:moveTo>
                  <a:cubicBezTo>
                    <a:pt x="57473" y="7821"/>
                    <a:pt x="20464" y="91"/>
                    <a:pt x="3687" y="91"/>
                  </a:cubicBezTo>
                  <a:cubicBezTo>
                    <a:pt x="233" y="91"/>
                    <a:pt x="233" y="255"/>
                    <a:pt x="233" y="4696"/>
                  </a:cubicBezTo>
                  <a:lnTo>
                    <a:pt x="233" y="15223"/>
                  </a:lnTo>
                  <a:cubicBezTo>
                    <a:pt x="233" y="19006"/>
                    <a:pt x="233" y="19829"/>
                    <a:pt x="2535" y="19829"/>
                  </a:cubicBezTo>
                  <a:cubicBezTo>
                    <a:pt x="12569" y="19993"/>
                    <a:pt x="28853" y="21309"/>
                    <a:pt x="43656" y="28546"/>
                  </a:cubicBezTo>
                  <a:cubicBezTo>
                    <a:pt x="61420" y="37428"/>
                    <a:pt x="68164" y="47791"/>
                    <a:pt x="72276" y="54206"/>
                  </a:cubicBezTo>
                  <a:cubicBezTo>
                    <a:pt x="72770" y="55028"/>
                    <a:pt x="73757" y="55028"/>
                    <a:pt x="75895" y="55028"/>
                  </a:cubicBezTo>
                  <a:cubicBezTo>
                    <a:pt x="79678" y="55028"/>
                    <a:pt x="79842" y="54863"/>
                    <a:pt x="79842" y="50751"/>
                  </a:cubicBezTo>
                  <a:lnTo>
                    <a:pt x="79842" y="48120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50" name="任意形状 49">
              <a:extLst>
                <a:ext uri="{FF2B5EF4-FFF2-40B4-BE49-F238E27FC236}">
                  <a16:creationId xmlns:a16="http://schemas.microsoft.com/office/drawing/2014/main" id="{B85FAE3A-3CCD-F6EF-3B2E-1BA787A63C09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6450971" y="4015130"/>
              <a:ext cx="79609" cy="54937"/>
            </a:xfrm>
            <a:custGeom>
              <a:avLst/>
              <a:gdLst>
                <a:gd name="csX0" fmla="*/ 79847 w 79609"/>
                <a:gd name="csY0" fmla="*/ 4696 h 54937"/>
                <a:gd name="csX1" fmla="*/ 76393 w 79609"/>
                <a:gd name="csY1" fmla="*/ 91 h 54937"/>
                <a:gd name="csX2" fmla="*/ 237 w 79609"/>
                <a:gd name="csY2" fmla="*/ 48120 h 54937"/>
                <a:gd name="csX3" fmla="*/ 237 w 79609"/>
                <a:gd name="csY3" fmla="*/ 50751 h 54937"/>
                <a:gd name="csX4" fmla="*/ 4185 w 79609"/>
                <a:gd name="csY4" fmla="*/ 55028 h 54937"/>
                <a:gd name="csX5" fmla="*/ 8297 w 79609"/>
                <a:gd name="csY5" fmla="*/ 53712 h 54937"/>
                <a:gd name="csX6" fmla="*/ 77873 w 79609"/>
                <a:gd name="csY6" fmla="*/ 19829 h 54937"/>
                <a:gd name="csX7" fmla="*/ 79847 w 79609"/>
                <a:gd name="csY7" fmla="*/ 15223 h 54937"/>
                <a:gd name="csX8" fmla="*/ 79847 w 79609"/>
                <a:gd name="csY8" fmla="*/ 4696 h 54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9609" h="54937">
                  <a:moveTo>
                    <a:pt x="79847" y="4696"/>
                  </a:moveTo>
                  <a:cubicBezTo>
                    <a:pt x="79847" y="255"/>
                    <a:pt x="79847" y="91"/>
                    <a:pt x="76393" y="91"/>
                  </a:cubicBezTo>
                  <a:cubicBezTo>
                    <a:pt x="59616" y="91"/>
                    <a:pt x="22607" y="7986"/>
                    <a:pt x="237" y="48120"/>
                  </a:cubicBezTo>
                  <a:lnTo>
                    <a:pt x="237" y="50751"/>
                  </a:lnTo>
                  <a:cubicBezTo>
                    <a:pt x="237" y="54863"/>
                    <a:pt x="402" y="55028"/>
                    <a:pt x="4185" y="55028"/>
                  </a:cubicBezTo>
                  <a:cubicBezTo>
                    <a:pt x="7310" y="55028"/>
                    <a:pt x="7474" y="54863"/>
                    <a:pt x="8297" y="53712"/>
                  </a:cubicBezTo>
                  <a:cubicBezTo>
                    <a:pt x="21784" y="32165"/>
                    <a:pt x="44483" y="20486"/>
                    <a:pt x="77873" y="19829"/>
                  </a:cubicBezTo>
                  <a:cubicBezTo>
                    <a:pt x="79847" y="19829"/>
                    <a:pt x="79847" y="18677"/>
                    <a:pt x="79847" y="15223"/>
                  </a:cubicBezTo>
                  <a:lnTo>
                    <a:pt x="79847" y="4696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D1EACB15-5377-A521-359E-3DEF9475F9BA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6528936" y="4015131"/>
              <a:ext cx="51700" cy="19737"/>
            </a:xfrm>
            <a:prstGeom prst="rect">
              <a:avLst/>
            </a:pr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52" name="任意形状 51">
              <a:extLst>
                <a:ext uri="{FF2B5EF4-FFF2-40B4-BE49-F238E27FC236}">
                  <a16:creationId xmlns:a16="http://schemas.microsoft.com/office/drawing/2014/main" id="{D7E88088-5B70-D8F5-134B-051D286A22CE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6578992" y="3979931"/>
              <a:ext cx="79609" cy="54937"/>
            </a:xfrm>
            <a:custGeom>
              <a:avLst/>
              <a:gdLst>
                <a:gd name="csX0" fmla="*/ 79855 w 79609"/>
                <a:gd name="csY0" fmla="*/ 4367 h 54937"/>
                <a:gd name="csX1" fmla="*/ 75907 w 79609"/>
                <a:gd name="csY1" fmla="*/ 91 h 54937"/>
                <a:gd name="csX2" fmla="*/ 71795 w 79609"/>
                <a:gd name="csY2" fmla="*/ 1406 h 54937"/>
                <a:gd name="csX3" fmla="*/ 2219 w 79609"/>
                <a:gd name="csY3" fmla="*/ 35290 h 54937"/>
                <a:gd name="csX4" fmla="*/ 245 w 79609"/>
                <a:gd name="csY4" fmla="*/ 39895 h 54937"/>
                <a:gd name="csX5" fmla="*/ 245 w 79609"/>
                <a:gd name="csY5" fmla="*/ 50422 h 54937"/>
                <a:gd name="csX6" fmla="*/ 3699 w 79609"/>
                <a:gd name="csY6" fmla="*/ 55028 h 54937"/>
                <a:gd name="csX7" fmla="*/ 79855 w 79609"/>
                <a:gd name="csY7" fmla="*/ 6999 h 54937"/>
                <a:gd name="csX8" fmla="*/ 79855 w 79609"/>
                <a:gd name="csY8" fmla="*/ 4367 h 54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9609" h="54937">
                  <a:moveTo>
                    <a:pt x="79855" y="4367"/>
                  </a:moveTo>
                  <a:cubicBezTo>
                    <a:pt x="79855" y="255"/>
                    <a:pt x="79690" y="91"/>
                    <a:pt x="75907" y="91"/>
                  </a:cubicBezTo>
                  <a:cubicBezTo>
                    <a:pt x="72782" y="91"/>
                    <a:pt x="72617" y="255"/>
                    <a:pt x="71795" y="1406"/>
                  </a:cubicBezTo>
                  <a:cubicBezTo>
                    <a:pt x="58307" y="22954"/>
                    <a:pt x="35609" y="34632"/>
                    <a:pt x="2219" y="35290"/>
                  </a:cubicBezTo>
                  <a:cubicBezTo>
                    <a:pt x="245" y="35290"/>
                    <a:pt x="245" y="36441"/>
                    <a:pt x="245" y="39895"/>
                  </a:cubicBezTo>
                  <a:lnTo>
                    <a:pt x="245" y="50422"/>
                  </a:lnTo>
                  <a:cubicBezTo>
                    <a:pt x="245" y="54863"/>
                    <a:pt x="245" y="55028"/>
                    <a:pt x="3699" y="55028"/>
                  </a:cubicBezTo>
                  <a:cubicBezTo>
                    <a:pt x="20476" y="55028"/>
                    <a:pt x="57485" y="47133"/>
                    <a:pt x="79855" y="6999"/>
                  </a:cubicBezTo>
                  <a:lnTo>
                    <a:pt x="79855" y="4367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53" name="任意形状 52">
              <a:extLst>
                <a:ext uri="{FF2B5EF4-FFF2-40B4-BE49-F238E27FC236}">
                  <a16:creationId xmlns:a16="http://schemas.microsoft.com/office/drawing/2014/main" id="{3D363AEC-DB57-C4E8-0590-241183E5B945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6316549" y="4127623"/>
              <a:ext cx="125846" cy="80942"/>
            </a:xfrm>
            <a:custGeom>
              <a:avLst/>
              <a:gdLst>
                <a:gd name="csX0" fmla="*/ 110531 w 125846"/>
                <a:gd name="csY0" fmla="*/ 13687 h 80942"/>
                <a:gd name="csX1" fmla="*/ 112603 w 125846"/>
                <a:gd name="csY1" fmla="*/ 10694 h 80942"/>
                <a:gd name="csX2" fmla="*/ 123426 w 125846"/>
                <a:gd name="csY2" fmla="*/ 4246 h 80942"/>
                <a:gd name="csX3" fmla="*/ 126074 w 125846"/>
                <a:gd name="csY3" fmla="*/ 1713 h 80942"/>
                <a:gd name="csX4" fmla="*/ 124462 w 125846"/>
                <a:gd name="csY4" fmla="*/ 101 h 80942"/>
                <a:gd name="csX5" fmla="*/ 115712 w 125846"/>
                <a:gd name="csY5" fmla="*/ 561 h 80942"/>
                <a:gd name="csX6" fmla="*/ 102932 w 125846"/>
                <a:gd name="csY6" fmla="*/ 101 h 80942"/>
                <a:gd name="csX7" fmla="*/ 100514 w 125846"/>
                <a:gd name="csY7" fmla="*/ 2634 h 80942"/>
                <a:gd name="csX8" fmla="*/ 102586 w 125846"/>
                <a:gd name="csY8" fmla="*/ 4246 h 80942"/>
                <a:gd name="csX9" fmla="*/ 108919 w 125846"/>
                <a:gd name="csY9" fmla="*/ 8276 h 80942"/>
                <a:gd name="csX10" fmla="*/ 107192 w 125846"/>
                <a:gd name="csY10" fmla="*/ 12421 h 80942"/>
                <a:gd name="csX11" fmla="*/ 74723 w 125846"/>
                <a:gd name="csY11" fmla="*/ 65730 h 80942"/>
                <a:gd name="csX12" fmla="*/ 68390 w 125846"/>
                <a:gd name="csY12" fmla="*/ 7585 h 80942"/>
                <a:gd name="csX13" fmla="*/ 76450 w 125846"/>
                <a:gd name="csY13" fmla="*/ 4246 h 80942"/>
                <a:gd name="csX14" fmla="*/ 79558 w 125846"/>
                <a:gd name="csY14" fmla="*/ 1713 h 80942"/>
                <a:gd name="csX15" fmla="*/ 77601 w 125846"/>
                <a:gd name="csY15" fmla="*/ 101 h 80942"/>
                <a:gd name="csX16" fmla="*/ 70463 w 125846"/>
                <a:gd name="csY16" fmla="*/ 446 h 80942"/>
                <a:gd name="csX17" fmla="*/ 62863 w 125846"/>
                <a:gd name="csY17" fmla="*/ 561 h 80942"/>
                <a:gd name="csX18" fmla="*/ 50774 w 125846"/>
                <a:gd name="csY18" fmla="*/ 101 h 80942"/>
                <a:gd name="csX19" fmla="*/ 48471 w 125846"/>
                <a:gd name="csY19" fmla="*/ 2634 h 80942"/>
                <a:gd name="csX20" fmla="*/ 51465 w 125846"/>
                <a:gd name="csY20" fmla="*/ 4246 h 80942"/>
                <a:gd name="csX21" fmla="*/ 57337 w 125846"/>
                <a:gd name="csY21" fmla="*/ 6203 h 80942"/>
                <a:gd name="csX22" fmla="*/ 58143 w 125846"/>
                <a:gd name="csY22" fmla="*/ 13687 h 80942"/>
                <a:gd name="csX23" fmla="*/ 26480 w 125846"/>
                <a:gd name="csY23" fmla="*/ 65730 h 80942"/>
                <a:gd name="csX24" fmla="*/ 20377 w 125846"/>
                <a:gd name="csY24" fmla="*/ 9312 h 80942"/>
                <a:gd name="csX25" fmla="*/ 20147 w 125846"/>
                <a:gd name="csY25" fmla="*/ 7585 h 80942"/>
                <a:gd name="csX26" fmla="*/ 28207 w 125846"/>
                <a:gd name="csY26" fmla="*/ 4246 h 80942"/>
                <a:gd name="csX27" fmla="*/ 31316 w 125846"/>
                <a:gd name="csY27" fmla="*/ 1713 h 80942"/>
                <a:gd name="csX28" fmla="*/ 29473 w 125846"/>
                <a:gd name="csY28" fmla="*/ 101 h 80942"/>
                <a:gd name="csX29" fmla="*/ 14620 w 125846"/>
                <a:gd name="csY29" fmla="*/ 561 h 80942"/>
                <a:gd name="csX30" fmla="*/ 2531 w 125846"/>
                <a:gd name="csY30" fmla="*/ 101 h 80942"/>
                <a:gd name="csX31" fmla="*/ 228 w 125846"/>
                <a:gd name="csY31" fmla="*/ 2519 h 80942"/>
                <a:gd name="csX32" fmla="*/ 3452 w 125846"/>
                <a:gd name="csY32" fmla="*/ 4246 h 80942"/>
                <a:gd name="csX33" fmla="*/ 9209 w 125846"/>
                <a:gd name="csY33" fmla="*/ 7815 h 80942"/>
                <a:gd name="csX34" fmla="*/ 16923 w 125846"/>
                <a:gd name="csY34" fmla="*/ 77934 h 80942"/>
                <a:gd name="csX35" fmla="*/ 19341 w 125846"/>
                <a:gd name="csY35" fmla="*/ 81043 h 80942"/>
                <a:gd name="csX36" fmla="*/ 22795 w 125846"/>
                <a:gd name="csY36" fmla="*/ 78740 h 80942"/>
                <a:gd name="csX37" fmla="*/ 58718 w 125846"/>
                <a:gd name="csY37" fmla="*/ 19559 h 80942"/>
                <a:gd name="csX38" fmla="*/ 65051 w 125846"/>
                <a:gd name="csY38" fmla="*/ 78050 h 80942"/>
                <a:gd name="csX39" fmla="*/ 67584 w 125846"/>
                <a:gd name="csY39" fmla="*/ 81043 h 80942"/>
                <a:gd name="csX40" fmla="*/ 71038 w 125846"/>
                <a:gd name="csY40" fmla="*/ 78625 h 80942"/>
                <a:gd name="csX41" fmla="*/ 110531 w 125846"/>
                <a:gd name="csY41" fmla="*/ 13687 h 809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5846" h="80942">
                  <a:moveTo>
                    <a:pt x="110531" y="13687"/>
                  </a:moveTo>
                  <a:lnTo>
                    <a:pt x="112603" y="10694"/>
                  </a:lnTo>
                  <a:cubicBezTo>
                    <a:pt x="115021" y="7585"/>
                    <a:pt x="117784" y="4706"/>
                    <a:pt x="123426" y="4246"/>
                  </a:cubicBezTo>
                  <a:cubicBezTo>
                    <a:pt x="124693" y="4131"/>
                    <a:pt x="126074" y="4016"/>
                    <a:pt x="126074" y="1713"/>
                  </a:cubicBezTo>
                  <a:cubicBezTo>
                    <a:pt x="126074" y="907"/>
                    <a:pt x="125383" y="101"/>
                    <a:pt x="124462" y="101"/>
                  </a:cubicBezTo>
                  <a:cubicBezTo>
                    <a:pt x="121814" y="101"/>
                    <a:pt x="118475" y="561"/>
                    <a:pt x="115712" y="561"/>
                  </a:cubicBezTo>
                  <a:cubicBezTo>
                    <a:pt x="111682" y="561"/>
                    <a:pt x="106731" y="101"/>
                    <a:pt x="102932" y="101"/>
                  </a:cubicBezTo>
                  <a:cubicBezTo>
                    <a:pt x="102356" y="101"/>
                    <a:pt x="100514" y="101"/>
                    <a:pt x="100514" y="2634"/>
                  </a:cubicBezTo>
                  <a:cubicBezTo>
                    <a:pt x="100514" y="4131"/>
                    <a:pt x="102126" y="4246"/>
                    <a:pt x="102586" y="4246"/>
                  </a:cubicBezTo>
                  <a:cubicBezTo>
                    <a:pt x="105119" y="4361"/>
                    <a:pt x="108919" y="5052"/>
                    <a:pt x="108919" y="8276"/>
                  </a:cubicBezTo>
                  <a:cubicBezTo>
                    <a:pt x="108919" y="9542"/>
                    <a:pt x="107652" y="11615"/>
                    <a:pt x="107192" y="12421"/>
                  </a:cubicBezTo>
                  <a:lnTo>
                    <a:pt x="74723" y="65730"/>
                  </a:lnTo>
                  <a:lnTo>
                    <a:pt x="68390" y="7585"/>
                  </a:lnTo>
                  <a:cubicBezTo>
                    <a:pt x="68390" y="4361"/>
                    <a:pt x="75068" y="4246"/>
                    <a:pt x="76450" y="4246"/>
                  </a:cubicBezTo>
                  <a:cubicBezTo>
                    <a:pt x="77947" y="4246"/>
                    <a:pt x="79558" y="4246"/>
                    <a:pt x="79558" y="1713"/>
                  </a:cubicBezTo>
                  <a:cubicBezTo>
                    <a:pt x="79558" y="1598"/>
                    <a:pt x="79443" y="101"/>
                    <a:pt x="77601" y="101"/>
                  </a:cubicBezTo>
                  <a:cubicBezTo>
                    <a:pt x="75413" y="101"/>
                    <a:pt x="72650" y="331"/>
                    <a:pt x="70463" y="446"/>
                  </a:cubicBezTo>
                  <a:cubicBezTo>
                    <a:pt x="68160" y="561"/>
                    <a:pt x="65166" y="561"/>
                    <a:pt x="62863" y="561"/>
                  </a:cubicBezTo>
                  <a:cubicBezTo>
                    <a:pt x="60215" y="561"/>
                    <a:pt x="53422" y="101"/>
                    <a:pt x="50774" y="101"/>
                  </a:cubicBezTo>
                  <a:cubicBezTo>
                    <a:pt x="50198" y="101"/>
                    <a:pt x="48471" y="101"/>
                    <a:pt x="48471" y="2634"/>
                  </a:cubicBezTo>
                  <a:cubicBezTo>
                    <a:pt x="48471" y="4246"/>
                    <a:pt x="49968" y="4246"/>
                    <a:pt x="51465" y="4246"/>
                  </a:cubicBezTo>
                  <a:cubicBezTo>
                    <a:pt x="56416" y="4246"/>
                    <a:pt x="56991" y="5052"/>
                    <a:pt x="57337" y="6203"/>
                  </a:cubicBezTo>
                  <a:cubicBezTo>
                    <a:pt x="57452" y="6894"/>
                    <a:pt x="57682" y="10118"/>
                    <a:pt x="58143" y="13687"/>
                  </a:cubicBezTo>
                  <a:lnTo>
                    <a:pt x="26480" y="65730"/>
                  </a:lnTo>
                  <a:lnTo>
                    <a:pt x="20377" y="9312"/>
                  </a:lnTo>
                  <a:cubicBezTo>
                    <a:pt x="20377" y="8851"/>
                    <a:pt x="20147" y="7700"/>
                    <a:pt x="20147" y="7585"/>
                  </a:cubicBezTo>
                  <a:cubicBezTo>
                    <a:pt x="20147" y="4246"/>
                    <a:pt x="27286" y="4246"/>
                    <a:pt x="28207" y="4246"/>
                  </a:cubicBezTo>
                  <a:cubicBezTo>
                    <a:pt x="29704" y="4246"/>
                    <a:pt x="31316" y="4246"/>
                    <a:pt x="31316" y="1713"/>
                  </a:cubicBezTo>
                  <a:cubicBezTo>
                    <a:pt x="31316" y="1252"/>
                    <a:pt x="30970" y="101"/>
                    <a:pt x="29473" y="101"/>
                  </a:cubicBezTo>
                  <a:cubicBezTo>
                    <a:pt x="26134" y="101"/>
                    <a:pt x="17959" y="561"/>
                    <a:pt x="14620" y="561"/>
                  </a:cubicBezTo>
                  <a:cubicBezTo>
                    <a:pt x="10821" y="561"/>
                    <a:pt x="5985" y="101"/>
                    <a:pt x="2531" y="101"/>
                  </a:cubicBezTo>
                  <a:cubicBezTo>
                    <a:pt x="1380" y="101"/>
                    <a:pt x="228" y="561"/>
                    <a:pt x="228" y="2519"/>
                  </a:cubicBezTo>
                  <a:cubicBezTo>
                    <a:pt x="228" y="4246"/>
                    <a:pt x="1610" y="4246"/>
                    <a:pt x="3452" y="4246"/>
                  </a:cubicBezTo>
                  <a:cubicBezTo>
                    <a:pt x="8864" y="4246"/>
                    <a:pt x="8864" y="4937"/>
                    <a:pt x="9209" y="7815"/>
                  </a:cubicBezTo>
                  <a:lnTo>
                    <a:pt x="16923" y="77934"/>
                  </a:lnTo>
                  <a:cubicBezTo>
                    <a:pt x="17154" y="80237"/>
                    <a:pt x="17269" y="81043"/>
                    <a:pt x="19341" y="81043"/>
                  </a:cubicBezTo>
                  <a:cubicBezTo>
                    <a:pt x="21298" y="81043"/>
                    <a:pt x="22104" y="80007"/>
                    <a:pt x="22795" y="78740"/>
                  </a:cubicBezTo>
                  <a:lnTo>
                    <a:pt x="58718" y="19559"/>
                  </a:lnTo>
                  <a:lnTo>
                    <a:pt x="65051" y="78050"/>
                  </a:lnTo>
                  <a:cubicBezTo>
                    <a:pt x="65281" y="80467"/>
                    <a:pt x="65857" y="81043"/>
                    <a:pt x="67584" y="81043"/>
                  </a:cubicBezTo>
                  <a:cubicBezTo>
                    <a:pt x="69541" y="81043"/>
                    <a:pt x="70232" y="80007"/>
                    <a:pt x="71038" y="78625"/>
                  </a:cubicBezTo>
                  <a:lnTo>
                    <a:pt x="110531" y="13687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54" name="任意形状 53">
              <a:extLst>
                <a:ext uri="{FF2B5EF4-FFF2-40B4-BE49-F238E27FC236}">
                  <a16:creationId xmlns:a16="http://schemas.microsoft.com/office/drawing/2014/main" id="{7E973F70-105B-EB88-2431-A1DC8CCF3CBC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6461315" y="4111627"/>
              <a:ext cx="24179" cy="82241"/>
            </a:xfrm>
            <a:custGeom>
              <a:avLst/>
              <a:gdLst>
                <a:gd name="csX0" fmla="*/ 24169 w 24179"/>
                <a:gd name="csY0" fmla="*/ 2073 h 82241"/>
                <a:gd name="csX1" fmla="*/ 24416 w 24179"/>
                <a:gd name="csY1" fmla="*/ 1250 h 82241"/>
                <a:gd name="csX2" fmla="*/ 23018 w 24179"/>
                <a:gd name="csY2" fmla="*/ 99 h 82241"/>
                <a:gd name="csX3" fmla="*/ 237 w 24179"/>
                <a:gd name="csY3" fmla="*/ 41220 h 82241"/>
                <a:gd name="csX4" fmla="*/ 23018 w 24179"/>
                <a:gd name="csY4" fmla="*/ 82341 h 82241"/>
                <a:gd name="csX5" fmla="*/ 24416 w 24179"/>
                <a:gd name="csY5" fmla="*/ 81189 h 82241"/>
                <a:gd name="csX6" fmla="*/ 23758 w 24179"/>
                <a:gd name="csY6" fmla="*/ 80120 h 82241"/>
                <a:gd name="csX7" fmla="*/ 6569 w 24179"/>
                <a:gd name="csY7" fmla="*/ 41220 h 82241"/>
                <a:gd name="csX8" fmla="*/ 24169 w 24179"/>
                <a:gd name="csY8" fmla="*/ 2073 h 822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4179" h="82241">
                  <a:moveTo>
                    <a:pt x="24169" y="2073"/>
                  </a:moveTo>
                  <a:cubicBezTo>
                    <a:pt x="24169" y="1990"/>
                    <a:pt x="24416" y="1662"/>
                    <a:pt x="24416" y="1250"/>
                  </a:cubicBezTo>
                  <a:cubicBezTo>
                    <a:pt x="24416" y="921"/>
                    <a:pt x="24251" y="99"/>
                    <a:pt x="23018" y="99"/>
                  </a:cubicBezTo>
                  <a:cubicBezTo>
                    <a:pt x="21373" y="99"/>
                    <a:pt x="237" y="13258"/>
                    <a:pt x="237" y="41220"/>
                  </a:cubicBezTo>
                  <a:cubicBezTo>
                    <a:pt x="237" y="69100"/>
                    <a:pt x="21373" y="82341"/>
                    <a:pt x="23018" y="82341"/>
                  </a:cubicBezTo>
                  <a:cubicBezTo>
                    <a:pt x="24251" y="82341"/>
                    <a:pt x="24416" y="81518"/>
                    <a:pt x="24416" y="81189"/>
                  </a:cubicBezTo>
                  <a:cubicBezTo>
                    <a:pt x="24416" y="80613"/>
                    <a:pt x="24087" y="80367"/>
                    <a:pt x="23758" y="80120"/>
                  </a:cubicBezTo>
                  <a:cubicBezTo>
                    <a:pt x="9201" y="68524"/>
                    <a:pt x="6569" y="51829"/>
                    <a:pt x="6569" y="41220"/>
                  </a:cubicBezTo>
                  <a:cubicBezTo>
                    <a:pt x="6569" y="21071"/>
                    <a:pt x="15863" y="7830"/>
                    <a:pt x="24169" y="2073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55" name="任意形状 54">
              <a:extLst>
                <a:ext uri="{FF2B5EF4-FFF2-40B4-BE49-F238E27FC236}">
                  <a16:creationId xmlns:a16="http://schemas.microsoft.com/office/drawing/2014/main" id="{BF306508-4B6F-2008-FB2A-81C684499F49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6501010" y="4118535"/>
              <a:ext cx="40956" cy="54772"/>
            </a:xfrm>
            <a:custGeom>
              <a:avLst/>
              <a:gdLst>
                <a:gd name="csX0" fmla="*/ 41196 w 40956"/>
                <a:gd name="csY0" fmla="*/ 38999 h 54772"/>
                <a:gd name="csX1" fmla="*/ 37742 w 40956"/>
                <a:gd name="csY1" fmla="*/ 38999 h 54772"/>
                <a:gd name="csX2" fmla="*/ 35357 w 40956"/>
                <a:gd name="csY2" fmla="*/ 46483 h 54772"/>
                <a:gd name="csX3" fmla="*/ 26557 w 40956"/>
                <a:gd name="csY3" fmla="*/ 46977 h 54772"/>
                <a:gd name="csX4" fmla="*/ 10437 w 40956"/>
                <a:gd name="csY4" fmla="*/ 46977 h 54772"/>
                <a:gd name="csX5" fmla="*/ 26886 w 40956"/>
                <a:gd name="csY5" fmla="*/ 35052 h 54772"/>
                <a:gd name="csX6" fmla="*/ 41196 w 40956"/>
                <a:gd name="csY6" fmla="*/ 16465 h 54772"/>
                <a:gd name="csX7" fmla="*/ 19484 w 40956"/>
                <a:gd name="csY7" fmla="*/ 99 h 54772"/>
                <a:gd name="csX8" fmla="*/ 239 w 40956"/>
                <a:gd name="csY8" fmla="*/ 14573 h 54772"/>
                <a:gd name="csX9" fmla="*/ 5009 w 40956"/>
                <a:gd name="csY9" fmla="*/ 19590 h 54772"/>
                <a:gd name="csX10" fmla="*/ 9862 w 40956"/>
                <a:gd name="csY10" fmla="*/ 14738 h 54772"/>
                <a:gd name="csX11" fmla="*/ 5174 w 40956"/>
                <a:gd name="csY11" fmla="*/ 9886 h 54772"/>
                <a:gd name="csX12" fmla="*/ 17757 w 40956"/>
                <a:gd name="csY12" fmla="*/ 3718 h 54772"/>
                <a:gd name="csX13" fmla="*/ 32396 w 40956"/>
                <a:gd name="csY13" fmla="*/ 16547 h 54772"/>
                <a:gd name="csX14" fmla="*/ 21293 w 40956"/>
                <a:gd name="csY14" fmla="*/ 34065 h 54772"/>
                <a:gd name="csX15" fmla="*/ 1226 w 40956"/>
                <a:gd name="csY15" fmla="*/ 51089 h 54772"/>
                <a:gd name="csX16" fmla="*/ 239 w 40956"/>
                <a:gd name="csY16" fmla="*/ 52405 h 54772"/>
                <a:gd name="csX17" fmla="*/ 239 w 40956"/>
                <a:gd name="csY17" fmla="*/ 54872 h 54772"/>
                <a:gd name="csX18" fmla="*/ 38482 w 40956"/>
                <a:gd name="csY18" fmla="*/ 54872 h 54772"/>
                <a:gd name="csX19" fmla="*/ 41196 w 40956"/>
                <a:gd name="csY19" fmla="*/ 38999 h 54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0956" h="54772">
                  <a:moveTo>
                    <a:pt x="41196" y="38999"/>
                  </a:moveTo>
                  <a:lnTo>
                    <a:pt x="37742" y="38999"/>
                  </a:lnTo>
                  <a:cubicBezTo>
                    <a:pt x="37495" y="40562"/>
                    <a:pt x="36672" y="45661"/>
                    <a:pt x="35357" y="46483"/>
                  </a:cubicBezTo>
                  <a:cubicBezTo>
                    <a:pt x="34699" y="46977"/>
                    <a:pt x="27790" y="46977"/>
                    <a:pt x="26557" y="46977"/>
                  </a:cubicBezTo>
                  <a:lnTo>
                    <a:pt x="10437" y="46977"/>
                  </a:lnTo>
                  <a:cubicBezTo>
                    <a:pt x="15865" y="42947"/>
                    <a:pt x="21951" y="38341"/>
                    <a:pt x="26886" y="35052"/>
                  </a:cubicBezTo>
                  <a:cubicBezTo>
                    <a:pt x="34287" y="29953"/>
                    <a:pt x="41196" y="25183"/>
                    <a:pt x="41196" y="16465"/>
                  </a:cubicBezTo>
                  <a:cubicBezTo>
                    <a:pt x="41196" y="5938"/>
                    <a:pt x="31245" y="99"/>
                    <a:pt x="19484" y="99"/>
                  </a:cubicBezTo>
                  <a:cubicBezTo>
                    <a:pt x="8381" y="99"/>
                    <a:pt x="239" y="6514"/>
                    <a:pt x="239" y="14573"/>
                  </a:cubicBezTo>
                  <a:cubicBezTo>
                    <a:pt x="239" y="18850"/>
                    <a:pt x="3858" y="19590"/>
                    <a:pt x="5009" y="19590"/>
                  </a:cubicBezTo>
                  <a:cubicBezTo>
                    <a:pt x="7230" y="19590"/>
                    <a:pt x="9862" y="18110"/>
                    <a:pt x="9862" y="14738"/>
                  </a:cubicBezTo>
                  <a:cubicBezTo>
                    <a:pt x="9862" y="11777"/>
                    <a:pt x="7723" y="10132"/>
                    <a:pt x="5174" y="9886"/>
                  </a:cubicBezTo>
                  <a:cubicBezTo>
                    <a:pt x="7477" y="6185"/>
                    <a:pt x="12247" y="3718"/>
                    <a:pt x="17757" y="3718"/>
                  </a:cubicBezTo>
                  <a:cubicBezTo>
                    <a:pt x="25734" y="3718"/>
                    <a:pt x="32396" y="8488"/>
                    <a:pt x="32396" y="16547"/>
                  </a:cubicBezTo>
                  <a:cubicBezTo>
                    <a:pt x="32396" y="23456"/>
                    <a:pt x="27626" y="28719"/>
                    <a:pt x="21293" y="34065"/>
                  </a:cubicBezTo>
                  <a:lnTo>
                    <a:pt x="1226" y="51089"/>
                  </a:lnTo>
                  <a:cubicBezTo>
                    <a:pt x="404" y="51829"/>
                    <a:pt x="322" y="51829"/>
                    <a:pt x="239" y="52405"/>
                  </a:cubicBezTo>
                  <a:lnTo>
                    <a:pt x="239" y="54872"/>
                  </a:lnTo>
                  <a:lnTo>
                    <a:pt x="38482" y="54872"/>
                  </a:lnTo>
                  <a:lnTo>
                    <a:pt x="41196" y="38999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56" name="任意形状 55">
              <a:extLst>
                <a:ext uri="{FF2B5EF4-FFF2-40B4-BE49-F238E27FC236}">
                  <a16:creationId xmlns:a16="http://schemas.microsoft.com/office/drawing/2014/main" id="{8C4E47BB-FB9A-51B8-9BBD-B81EAA0F314B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6557557" y="4111627"/>
              <a:ext cx="24096" cy="82241"/>
            </a:xfrm>
            <a:custGeom>
              <a:avLst/>
              <a:gdLst>
                <a:gd name="csX0" fmla="*/ 24340 w 24096"/>
                <a:gd name="csY0" fmla="*/ 41220 h 82241"/>
                <a:gd name="csX1" fmla="*/ 1559 w 24096"/>
                <a:gd name="csY1" fmla="*/ 99 h 82241"/>
                <a:gd name="csX2" fmla="*/ 243 w 24096"/>
                <a:gd name="csY2" fmla="*/ 1250 h 82241"/>
                <a:gd name="csX3" fmla="*/ 736 w 24096"/>
                <a:gd name="csY3" fmla="*/ 2319 h 82241"/>
                <a:gd name="csX4" fmla="*/ 18007 w 24096"/>
                <a:gd name="csY4" fmla="*/ 41220 h 82241"/>
                <a:gd name="csX5" fmla="*/ 13813 w 24096"/>
                <a:gd name="csY5" fmla="*/ 63096 h 82241"/>
                <a:gd name="csX6" fmla="*/ 654 w 24096"/>
                <a:gd name="csY6" fmla="*/ 80284 h 82241"/>
                <a:gd name="csX7" fmla="*/ 243 w 24096"/>
                <a:gd name="csY7" fmla="*/ 81189 h 82241"/>
                <a:gd name="csX8" fmla="*/ 1559 w 24096"/>
                <a:gd name="csY8" fmla="*/ 82341 h 82241"/>
                <a:gd name="csX9" fmla="*/ 24340 w 24096"/>
                <a:gd name="csY9" fmla="*/ 41220 h 822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096" h="82241">
                  <a:moveTo>
                    <a:pt x="24340" y="41220"/>
                  </a:moveTo>
                  <a:cubicBezTo>
                    <a:pt x="24340" y="13340"/>
                    <a:pt x="3204" y="99"/>
                    <a:pt x="1559" y="99"/>
                  </a:cubicBezTo>
                  <a:cubicBezTo>
                    <a:pt x="243" y="99"/>
                    <a:pt x="243" y="1086"/>
                    <a:pt x="243" y="1250"/>
                  </a:cubicBezTo>
                  <a:cubicBezTo>
                    <a:pt x="243" y="1333"/>
                    <a:pt x="243" y="1826"/>
                    <a:pt x="736" y="2319"/>
                  </a:cubicBezTo>
                  <a:cubicBezTo>
                    <a:pt x="13073" y="12106"/>
                    <a:pt x="18007" y="26416"/>
                    <a:pt x="18007" y="41220"/>
                  </a:cubicBezTo>
                  <a:cubicBezTo>
                    <a:pt x="18007" y="48621"/>
                    <a:pt x="16609" y="56352"/>
                    <a:pt x="13813" y="63096"/>
                  </a:cubicBezTo>
                  <a:cubicBezTo>
                    <a:pt x="9865" y="72472"/>
                    <a:pt x="4684" y="76995"/>
                    <a:pt x="654" y="80284"/>
                  </a:cubicBezTo>
                  <a:cubicBezTo>
                    <a:pt x="407" y="80449"/>
                    <a:pt x="243" y="80860"/>
                    <a:pt x="243" y="81189"/>
                  </a:cubicBezTo>
                  <a:cubicBezTo>
                    <a:pt x="243" y="81354"/>
                    <a:pt x="243" y="82341"/>
                    <a:pt x="1559" y="82341"/>
                  </a:cubicBezTo>
                  <a:cubicBezTo>
                    <a:pt x="3204" y="82341"/>
                    <a:pt x="24340" y="69182"/>
                    <a:pt x="24340" y="41220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57" name="任意形状 56">
              <a:extLst>
                <a:ext uri="{FF2B5EF4-FFF2-40B4-BE49-F238E27FC236}">
                  <a16:creationId xmlns:a16="http://schemas.microsoft.com/office/drawing/2014/main" id="{D9E1AD0A-5109-95D6-3BEB-A735FAA7E288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6696214" y="3800171"/>
              <a:ext cx="17435" cy="17435"/>
            </a:xfrm>
            <a:custGeom>
              <a:avLst/>
              <a:gdLst>
                <a:gd name="csX0" fmla="*/ 17686 w 17435"/>
                <a:gd name="csY0" fmla="*/ 8797 h 17435"/>
                <a:gd name="csX1" fmla="*/ 8968 w 17435"/>
                <a:gd name="csY1" fmla="*/ 79 h 17435"/>
                <a:gd name="csX2" fmla="*/ 251 w 17435"/>
                <a:gd name="csY2" fmla="*/ 8797 h 17435"/>
                <a:gd name="csX3" fmla="*/ 8968 w 17435"/>
                <a:gd name="csY3" fmla="*/ 17515 h 17435"/>
                <a:gd name="csX4" fmla="*/ 17686 w 17435"/>
                <a:gd name="csY4" fmla="*/ 8797 h 174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435" h="17435">
                  <a:moveTo>
                    <a:pt x="17686" y="8797"/>
                  </a:moveTo>
                  <a:cubicBezTo>
                    <a:pt x="17686" y="4027"/>
                    <a:pt x="13739" y="79"/>
                    <a:pt x="8968" y="79"/>
                  </a:cubicBezTo>
                  <a:cubicBezTo>
                    <a:pt x="4198" y="79"/>
                    <a:pt x="251" y="4027"/>
                    <a:pt x="251" y="8797"/>
                  </a:cubicBezTo>
                  <a:cubicBezTo>
                    <a:pt x="251" y="13567"/>
                    <a:pt x="4198" y="17515"/>
                    <a:pt x="8968" y="17515"/>
                  </a:cubicBezTo>
                  <a:cubicBezTo>
                    <a:pt x="13739" y="17515"/>
                    <a:pt x="17686" y="13567"/>
                    <a:pt x="17686" y="8797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58" name="任意形状 57">
              <a:extLst>
                <a:ext uri="{FF2B5EF4-FFF2-40B4-BE49-F238E27FC236}">
                  <a16:creationId xmlns:a16="http://schemas.microsoft.com/office/drawing/2014/main" id="{0B2A9C26-D8E0-C755-5150-34F55E807D07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6781489" y="3620965"/>
              <a:ext cx="86518" cy="121388"/>
            </a:xfrm>
            <a:custGeom>
              <a:avLst/>
              <a:gdLst>
                <a:gd name="csX0" fmla="*/ 69833 w 86518"/>
                <a:gd name="csY0" fmla="*/ 62083 h 121388"/>
                <a:gd name="csX1" fmla="*/ 48615 w 86518"/>
                <a:gd name="csY1" fmla="*/ 42674 h 121388"/>
                <a:gd name="csX2" fmla="*/ 15060 w 86518"/>
                <a:gd name="csY2" fmla="*/ 58135 h 121388"/>
                <a:gd name="csX3" fmla="*/ 257 w 86518"/>
                <a:gd name="csY3" fmla="*/ 92183 h 121388"/>
                <a:gd name="csX4" fmla="*/ 30521 w 86518"/>
                <a:gd name="csY4" fmla="*/ 121461 h 121388"/>
                <a:gd name="csX5" fmla="*/ 86775 w 86518"/>
                <a:gd name="csY5" fmla="*/ 42674 h 121388"/>
                <a:gd name="csX6" fmla="*/ 51246 w 86518"/>
                <a:gd name="csY6" fmla="*/ 73 h 121388"/>
                <a:gd name="csX7" fmla="*/ 19830 w 86518"/>
                <a:gd name="csY7" fmla="*/ 26061 h 121388"/>
                <a:gd name="csX8" fmla="*/ 26080 w 86518"/>
                <a:gd name="csY8" fmla="*/ 31818 h 121388"/>
                <a:gd name="csX9" fmla="*/ 34962 w 86518"/>
                <a:gd name="csY9" fmla="*/ 23100 h 121388"/>
                <a:gd name="csX10" fmla="*/ 27232 w 86518"/>
                <a:gd name="csY10" fmla="*/ 17343 h 121388"/>
                <a:gd name="csX11" fmla="*/ 50917 w 86518"/>
                <a:gd name="csY11" fmla="*/ 4185 h 121388"/>
                <a:gd name="csX12" fmla="*/ 74438 w 86518"/>
                <a:gd name="csY12" fmla="*/ 33956 h 121388"/>
                <a:gd name="csX13" fmla="*/ 69997 w 86518"/>
                <a:gd name="csY13" fmla="*/ 62083 h 121388"/>
                <a:gd name="csX14" fmla="*/ 69833 w 86518"/>
                <a:gd name="csY14" fmla="*/ 62083 h 121388"/>
                <a:gd name="csX15" fmla="*/ 31015 w 86518"/>
                <a:gd name="csY15" fmla="*/ 116856 h 121388"/>
                <a:gd name="csX16" fmla="*/ 12922 w 86518"/>
                <a:gd name="csY16" fmla="*/ 98269 h 121388"/>
                <a:gd name="csX17" fmla="*/ 23778 w 86518"/>
                <a:gd name="csY17" fmla="*/ 60931 h 121388"/>
                <a:gd name="csX18" fmla="*/ 48615 w 86518"/>
                <a:gd name="csY18" fmla="*/ 46292 h 121388"/>
                <a:gd name="csX19" fmla="*/ 66872 w 86518"/>
                <a:gd name="csY19" fmla="*/ 68004 h 121388"/>
                <a:gd name="csX20" fmla="*/ 31015 w 86518"/>
                <a:gd name="csY20" fmla="*/ 116856 h 1213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86518" h="121388">
                  <a:moveTo>
                    <a:pt x="69833" y="62083"/>
                  </a:moveTo>
                  <a:cubicBezTo>
                    <a:pt x="68188" y="51885"/>
                    <a:pt x="61444" y="42674"/>
                    <a:pt x="48615" y="42674"/>
                  </a:cubicBezTo>
                  <a:cubicBezTo>
                    <a:pt x="38581" y="42674"/>
                    <a:pt x="27890" y="45305"/>
                    <a:pt x="15060" y="58135"/>
                  </a:cubicBezTo>
                  <a:cubicBezTo>
                    <a:pt x="1408" y="71787"/>
                    <a:pt x="257" y="87084"/>
                    <a:pt x="257" y="92183"/>
                  </a:cubicBezTo>
                  <a:cubicBezTo>
                    <a:pt x="257" y="102381"/>
                    <a:pt x="7494" y="121461"/>
                    <a:pt x="30521" y="121461"/>
                  </a:cubicBezTo>
                  <a:cubicBezTo>
                    <a:pt x="69668" y="121461"/>
                    <a:pt x="86775" y="66195"/>
                    <a:pt x="86775" y="42674"/>
                  </a:cubicBezTo>
                  <a:cubicBezTo>
                    <a:pt x="86775" y="16521"/>
                    <a:pt x="71478" y="73"/>
                    <a:pt x="51246" y="73"/>
                  </a:cubicBezTo>
                  <a:cubicBezTo>
                    <a:pt x="27396" y="73"/>
                    <a:pt x="19830" y="21455"/>
                    <a:pt x="19830" y="26061"/>
                  </a:cubicBezTo>
                  <a:cubicBezTo>
                    <a:pt x="19830" y="28364"/>
                    <a:pt x="21146" y="31818"/>
                    <a:pt x="26080" y="31818"/>
                  </a:cubicBezTo>
                  <a:cubicBezTo>
                    <a:pt x="31508" y="31818"/>
                    <a:pt x="34962" y="26883"/>
                    <a:pt x="34962" y="23100"/>
                  </a:cubicBezTo>
                  <a:cubicBezTo>
                    <a:pt x="34962" y="17343"/>
                    <a:pt x="29863" y="17343"/>
                    <a:pt x="27232" y="17343"/>
                  </a:cubicBezTo>
                  <a:cubicBezTo>
                    <a:pt x="34469" y="5172"/>
                    <a:pt x="46147" y="4185"/>
                    <a:pt x="50917" y="4185"/>
                  </a:cubicBezTo>
                  <a:cubicBezTo>
                    <a:pt x="62925" y="4185"/>
                    <a:pt x="74438" y="12738"/>
                    <a:pt x="74438" y="33956"/>
                  </a:cubicBezTo>
                  <a:cubicBezTo>
                    <a:pt x="74438" y="40371"/>
                    <a:pt x="73452" y="48760"/>
                    <a:pt x="69997" y="62083"/>
                  </a:cubicBezTo>
                  <a:lnTo>
                    <a:pt x="69833" y="62083"/>
                  </a:lnTo>
                  <a:close/>
                  <a:moveTo>
                    <a:pt x="31015" y="116856"/>
                  </a:moveTo>
                  <a:cubicBezTo>
                    <a:pt x="12922" y="116856"/>
                    <a:pt x="12922" y="99914"/>
                    <a:pt x="12922" y="98269"/>
                  </a:cubicBezTo>
                  <a:cubicBezTo>
                    <a:pt x="12922" y="93828"/>
                    <a:pt x="17034" y="70800"/>
                    <a:pt x="23778" y="60931"/>
                  </a:cubicBezTo>
                  <a:cubicBezTo>
                    <a:pt x="30357" y="51556"/>
                    <a:pt x="38417" y="46292"/>
                    <a:pt x="48615" y="46292"/>
                  </a:cubicBezTo>
                  <a:cubicBezTo>
                    <a:pt x="66543" y="46292"/>
                    <a:pt x="66872" y="64714"/>
                    <a:pt x="66872" y="68004"/>
                  </a:cubicBezTo>
                  <a:cubicBezTo>
                    <a:pt x="66872" y="79847"/>
                    <a:pt x="56345" y="116856"/>
                    <a:pt x="31015" y="116856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59" name="任意形状 58">
              <a:extLst>
                <a:ext uri="{FF2B5EF4-FFF2-40B4-BE49-F238E27FC236}">
                  <a16:creationId xmlns:a16="http://schemas.microsoft.com/office/drawing/2014/main" id="{0374F568-7E38-14A8-9B73-DD84640F6CFE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6877951" y="3666034"/>
              <a:ext cx="75333" cy="74510"/>
            </a:xfrm>
            <a:custGeom>
              <a:avLst/>
              <a:gdLst>
                <a:gd name="csX0" fmla="*/ 55035 w 75333"/>
                <a:gd name="csY0" fmla="*/ 10600 h 74510"/>
                <a:gd name="csX1" fmla="*/ 39903 w 75333"/>
                <a:gd name="csY1" fmla="*/ 73 h 74510"/>
                <a:gd name="csX2" fmla="*/ 262 w 75333"/>
                <a:gd name="csY2" fmla="*/ 48266 h 74510"/>
                <a:gd name="csX3" fmla="*/ 22139 w 75333"/>
                <a:gd name="csY3" fmla="*/ 74583 h 74510"/>
                <a:gd name="csX4" fmla="*/ 43521 w 75333"/>
                <a:gd name="csY4" fmla="*/ 62247 h 74510"/>
                <a:gd name="csX5" fmla="*/ 58489 w 75333"/>
                <a:gd name="csY5" fmla="*/ 74583 h 74510"/>
                <a:gd name="csX6" fmla="*/ 70661 w 75333"/>
                <a:gd name="csY6" fmla="*/ 65537 h 74510"/>
                <a:gd name="csX7" fmla="*/ 75596 w 75333"/>
                <a:gd name="csY7" fmla="*/ 49253 h 74510"/>
                <a:gd name="csX8" fmla="*/ 73622 w 75333"/>
                <a:gd name="csY8" fmla="*/ 47608 h 74510"/>
                <a:gd name="csX9" fmla="*/ 71319 w 75333"/>
                <a:gd name="csY9" fmla="*/ 50569 h 74510"/>
                <a:gd name="csX10" fmla="*/ 58818 w 75333"/>
                <a:gd name="csY10" fmla="*/ 70965 h 74510"/>
                <a:gd name="csX11" fmla="*/ 53884 w 75333"/>
                <a:gd name="csY11" fmla="*/ 63399 h 74510"/>
                <a:gd name="csX12" fmla="*/ 56022 w 75333"/>
                <a:gd name="csY12" fmla="*/ 51227 h 74510"/>
                <a:gd name="csX13" fmla="*/ 59641 w 75333"/>
                <a:gd name="csY13" fmla="*/ 36423 h 74510"/>
                <a:gd name="csX14" fmla="*/ 65562 w 75333"/>
                <a:gd name="csY14" fmla="*/ 13396 h 74510"/>
                <a:gd name="csX15" fmla="*/ 66714 w 75333"/>
                <a:gd name="csY15" fmla="*/ 7803 h 74510"/>
                <a:gd name="csX16" fmla="*/ 61944 w 75333"/>
                <a:gd name="csY16" fmla="*/ 3362 h 74510"/>
                <a:gd name="csX17" fmla="*/ 55035 w 75333"/>
                <a:gd name="csY17" fmla="*/ 10600 h 74510"/>
                <a:gd name="csX18" fmla="*/ 44344 w 75333"/>
                <a:gd name="csY18" fmla="*/ 53201 h 74510"/>
                <a:gd name="csX19" fmla="*/ 41054 w 75333"/>
                <a:gd name="csY19" fmla="*/ 59287 h 74510"/>
                <a:gd name="csX20" fmla="*/ 22468 w 75333"/>
                <a:gd name="csY20" fmla="*/ 70965 h 74510"/>
                <a:gd name="csX21" fmla="*/ 11941 w 75333"/>
                <a:gd name="csY21" fmla="*/ 55503 h 74510"/>
                <a:gd name="csX22" fmla="*/ 20987 w 75333"/>
                <a:gd name="csY22" fmla="*/ 19482 h 74510"/>
                <a:gd name="csX23" fmla="*/ 40067 w 75333"/>
                <a:gd name="csY23" fmla="*/ 3691 h 74510"/>
                <a:gd name="csX24" fmla="*/ 53061 w 75333"/>
                <a:gd name="csY24" fmla="*/ 18166 h 74510"/>
                <a:gd name="csX25" fmla="*/ 52568 w 75333"/>
                <a:gd name="csY25" fmla="*/ 20962 h 74510"/>
                <a:gd name="csX26" fmla="*/ 44344 w 75333"/>
                <a:gd name="csY26" fmla="*/ 53201 h 74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75333" h="74510">
                  <a:moveTo>
                    <a:pt x="55035" y="10600"/>
                  </a:moveTo>
                  <a:cubicBezTo>
                    <a:pt x="52075" y="4514"/>
                    <a:pt x="47305" y="73"/>
                    <a:pt x="39903" y="73"/>
                  </a:cubicBezTo>
                  <a:cubicBezTo>
                    <a:pt x="20658" y="73"/>
                    <a:pt x="262" y="24252"/>
                    <a:pt x="262" y="48266"/>
                  </a:cubicBezTo>
                  <a:cubicBezTo>
                    <a:pt x="262" y="63728"/>
                    <a:pt x="9309" y="74583"/>
                    <a:pt x="22139" y="74583"/>
                  </a:cubicBezTo>
                  <a:cubicBezTo>
                    <a:pt x="25428" y="74583"/>
                    <a:pt x="33652" y="73926"/>
                    <a:pt x="43521" y="62247"/>
                  </a:cubicBezTo>
                  <a:cubicBezTo>
                    <a:pt x="44837" y="69156"/>
                    <a:pt x="50594" y="74583"/>
                    <a:pt x="58489" y="74583"/>
                  </a:cubicBezTo>
                  <a:cubicBezTo>
                    <a:pt x="64246" y="74583"/>
                    <a:pt x="68029" y="70800"/>
                    <a:pt x="70661" y="65537"/>
                  </a:cubicBezTo>
                  <a:cubicBezTo>
                    <a:pt x="73457" y="59616"/>
                    <a:pt x="75596" y="49582"/>
                    <a:pt x="75596" y="49253"/>
                  </a:cubicBezTo>
                  <a:cubicBezTo>
                    <a:pt x="75596" y="47608"/>
                    <a:pt x="74115" y="47608"/>
                    <a:pt x="73622" y="47608"/>
                  </a:cubicBezTo>
                  <a:cubicBezTo>
                    <a:pt x="71977" y="47608"/>
                    <a:pt x="71813" y="48266"/>
                    <a:pt x="71319" y="50569"/>
                  </a:cubicBezTo>
                  <a:cubicBezTo>
                    <a:pt x="68523" y="61260"/>
                    <a:pt x="65562" y="70965"/>
                    <a:pt x="58818" y="70965"/>
                  </a:cubicBezTo>
                  <a:cubicBezTo>
                    <a:pt x="54377" y="70965"/>
                    <a:pt x="53884" y="66688"/>
                    <a:pt x="53884" y="63399"/>
                  </a:cubicBezTo>
                  <a:cubicBezTo>
                    <a:pt x="53884" y="59780"/>
                    <a:pt x="54213" y="58464"/>
                    <a:pt x="56022" y="51227"/>
                  </a:cubicBezTo>
                  <a:cubicBezTo>
                    <a:pt x="57831" y="44319"/>
                    <a:pt x="58160" y="42674"/>
                    <a:pt x="59641" y="36423"/>
                  </a:cubicBezTo>
                  <a:lnTo>
                    <a:pt x="65562" y="13396"/>
                  </a:lnTo>
                  <a:cubicBezTo>
                    <a:pt x="66714" y="8790"/>
                    <a:pt x="66714" y="8461"/>
                    <a:pt x="66714" y="7803"/>
                  </a:cubicBezTo>
                  <a:cubicBezTo>
                    <a:pt x="66714" y="5007"/>
                    <a:pt x="64740" y="3362"/>
                    <a:pt x="61944" y="3362"/>
                  </a:cubicBezTo>
                  <a:cubicBezTo>
                    <a:pt x="57996" y="3362"/>
                    <a:pt x="55529" y="6981"/>
                    <a:pt x="55035" y="10600"/>
                  </a:cubicBezTo>
                  <a:close/>
                  <a:moveTo>
                    <a:pt x="44344" y="53201"/>
                  </a:moveTo>
                  <a:cubicBezTo>
                    <a:pt x="43521" y="56161"/>
                    <a:pt x="43521" y="56490"/>
                    <a:pt x="41054" y="59287"/>
                  </a:cubicBezTo>
                  <a:cubicBezTo>
                    <a:pt x="33817" y="68333"/>
                    <a:pt x="27073" y="70965"/>
                    <a:pt x="22468" y="70965"/>
                  </a:cubicBezTo>
                  <a:cubicBezTo>
                    <a:pt x="14243" y="70965"/>
                    <a:pt x="11941" y="61918"/>
                    <a:pt x="11941" y="55503"/>
                  </a:cubicBezTo>
                  <a:cubicBezTo>
                    <a:pt x="11941" y="47279"/>
                    <a:pt x="17204" y="27048"/>
                    <a:pt x="20987" y="19482"/>
                  </a:cubicBezTo>
                  <a:cubicBezTo>
                    <a:pt x="26086" y="9777"/>
                    <a:pt x="33488" y="3691"/>
                    <a:pt x="40067" y="3691"/>
                  </a:cubicBezTo>
                  <a:cubicBezTo>
                    <a:pt x="50759" y="3691"/>
                    <a:pt x="53061" y="17179"/>
                    <a:pt x="53061" y="18166"/>
                  </a:cubicBezTo>
                  <a:cubicBezTo>
                    <a:pt x="53061" y="19153"/>
                    <a:pt x="52732" y="20140"/>
                    <a:pt x="52568" y="20962"/>
                  </a:cubicBezTo>
                  <a:lnTo>
                    <a:pt x="44344" y="53201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60" name="任意形状 59">
              <a:extLst>
                <a:ext uri="{FF2B5EF4-FFF2-40B4-BE49-F238E27FC236}">
                  <a16:creationId xmlns:a16="http://schemas.microsoft.com/office/drawing/2014/main" id="{82E903F8-F370-8AB0-21AF-8D903CC5D94D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6971557" y="3592692"/>
              <a:ext cx="29935" cy="115023"/>
            </a:xfrm>
            <a:custGeom>
              <a:avLst/>
              <a:gdLst>
                <a:gd name="csX0" fmla="*/ 27901 w 29935"/>
                <a:gd name="csY0" fmla="*/ 69 h 115023"/>
                <a:gd name="csX1" fmla="*/ 268 w 29935"/>
                <a:gd name="csY1" fmla="*/ 57523 h 115023"/>
                <a:gd name="csX2" fmla="*/ 27901 w 29935"/>
                <a:gd name="csY2" fmla="*/ 115092 h 115023"/>
                <a:gd name="csX3" fmla="*/ 30204 w 29935"/>
                <a:gd name="csY3" fmla="*/ 113710 h 115023"/>
                <a:gd name="csX4" fmla="*/ 29052 w 29935"/>
                <a:gd name="csY4" fmla="*/ 111983 h 115023"/>
                <a:gd name="csX5" fmla="*/ 8097 w 29935"/>
                <a:gd name="csY5" fmla="*/ 57638 h 115023"/>
                <a:gd name="csX6" fmla="*/ 29398 w 29935"/>
                <a:gd name="csY6" fmla="*/ 2832 h 115023"/>
                <a:gd name="csX7" fmla="*/ 30204 w 29935"/>
                <a:gd name="csY7" fmla="*/ 1451 h 115023"/>
                <a:gd name="csX8" fmla="*/ 27901 w 29935"/>
                <a:gd name="csY8" fmla="*/ 69 h 115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935" h="115023">
                  <a:moveTo>
                    <a:pt x="27901" y="69"/>
                  </a:moveTo>
                  <a:cubicBezTo>
                    <a:pt x="6025" y="15498"/>
                    <a:pt x="268" y="39907"/>
                    <a:pt x="268" y="57523"/>
                  </a:cubicBezTo>
                  <a:cubicBezTo>
                    <a:pt x="268" y="73757"/>
                    <a:pt x="5103" y="98973"/>
                    <a:pt x="27901" y="115092"/>
                  </a:cubicBezTo>
                  <a:cubicBezTo>
                    <a:pt x="28822" y="115092"/>
                    <a:pt x="30204" y="115092"/>
                    <a:pt x="30204" y="113710"/>
                  </a:cubicBezTo>
                  <a:cubicBezTo>
                    <a:pt x="30204" y="113020"/>
                    <a:pt x="29858" y="112789"/>
                    <a:pt x="29052" y="111983"/>
                  </a:cubicBezTo>
                  <a:cubicBezTo>
                    <a:pt x="13739" y="98167"/>
                    <a:pt x="8097" y="78593"/>
                    <a:pt x="8097" y="57638"/>
                  </a:cubicBezTo>
                  <a:cubicBezTo>
                    <a:pt x="8097" y="26551"/>
                    <a:pt x="19956" y="11353"/>
                    <a:pt x="29398" y="2832"/>
                  </a:cubicBezTo>
                  <a:cubicBezTo>
                    <a:pt x="29858" y="2372"/>
                    <a:pt x="30204" y="2026"/>
                    <a:pt x="30204" y="1451"/>
                  </a:cubicBezTo>
                  <a:cubicBezTo>
                    <a:pt x="30204" y="69"/>
                    <a:pt x="28822" y="69"/>
                    <a:pt x="27901" y="69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61" name="任意形状 60">
              <a:extLst>
                <a:ext uri="{FF2B5EF4-FFF2-40B4-BE49-F238E27FC236}">
                  <a16:creationId xmlns:a16="http://schemas.microsoft.com/office/drawing/2014/main" id="{74C5EF55-AC94-DF58-A9C2-6662F2CB542E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7022268" y="3602594"/>
              <a:ext cx="41910" cy="76451"/>
            </a:xfrm>
            <a:custGeom>
              <a:avLst/>
              <a:gdLst>
                <a:gd name="csX0" fmla="*/ 26292 w 41910"/>
                <a:gd name="csY0" fmla="*/ 3293 h 76451"/>
                <a:gd name="csX1" fmla="*/ 22838 w 41910"/>
                <a:gd name="csY1" fmla="*/ 69 h 76451"/>
                <a:gd name="csX2" fmla="*/ 271 w 41910"/>
                <a:gd name="csY2" fmla="*/ 7438 h 76451"/>
                <a:gd name="csX3" fmla="*/ 271 w 41910"/>
                <a:gd name="csY3" fmla="*/ 11583 h 76451"/>
                <a:gd name="csX4" fmla="*/ 16966 w 41910"/>
                <a:gd name="csY4" fmla="*/ 8359 h 76451"/>
                <a:gd name="csX5" fmla="*/ 16966 w 41910"/>
                <a:gd name="csY5" fmla="*/ 67079 h 76451"/>
                <a:gd name="csX6" fmla="*/ 5452 w 41910"/>
                <a:gd name="csY6" fmla="*/ 72376 h 76451"/>
                <a:gd name="csX7" fmla="*/ 1077 w 41910"/>
                <a:gd name="csY7" fmla="*/ 72376 h 76451"/>
                <a:gd name="csX8" fmla="*/ 1077 w 41910"/>
                <a:gd name="csY8" fmla="*/ 76521 h 76451"/>
                <a:gd name="csX9" fmla="*/ 21571 w 41910"/>
                <a:gd name="csY9" fmla="*/ 76060 h 76451"/>
                <a:gd name="csX10" fmla="*/ 42181 w 41910"/>
                <a:gd name="csY10" fmla="*/ 76521 h 76451"/>
                <a:gd name="csX11" fmla="*/ 42181 w 41910"/>
                <a:gd name="csY11" fmla="*/ 72376 h 76451"/>
                <a:gd name="csX12" fmla="*/ 37806 w 41910"/>
                <a:gd name="csY12" fmla="*/ 72376 h 76451"/>
                <a:gd name="csX13" fmla="*/ 26292 w 41910"/>
                <a:gd name="csY13" fmla="*/ 67079 h 76451"/>
                <a:gd name="csX14" fmla="*/ 26292 w 41910"/>
                <a:gd name="csY14" fmla="*/ 3293 h 764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1910" h="76451">
                  <a:moveTo>
                    <a:pt x="26292" y="3293"/>
                  </a:moveTo>
                  <a:cubicBezTo>
                    <a:pt x="26292" y="184"/>
                    <a:pt x="26062" y="69"/>
                    <a:pt x="22838" y="69"/>
                  </a:cubicBezTo>
                  <a:cubicBezTo>
                    <a:pt x="15469" y="7323"/>
                    <a:pt x="4991" y="7438"/>
                    <a:pt x="271" y="7438"/>
                  </a:cubicBezTo>
                  <a:lnTo>
                    <a:pt x="271" y="11583"/>
                  </a:lnTo>
                  <a:cubicBezTo>
                    <a:pt x="3034" y="11583"/>
                    <a:pt x="10633" y="11583"/>
                    <a:pt x="16966" y="8359"/>
                  </a:cubicBezTo>
                  <a:lnTo>
                    <a:pt x="16966" y="67079"/>
                  </a:lnTo>
                  <a:cubicBezTo>
                    <a:pt x="16966" y="70879"/>
                    <a:pt x="16966" y="72376"/>
                    <a:pt x="5452" y="72376"/>
                  </a:cubicBezTo>
                  <a:lnTo>
                    <a:pt x="1077" y="72376"/>
                  </a:lnTo>
                  <a:lnTo>
                    <a:pt x="1077" y="76521"/>
                  </a:lnTo>
                  <a:cubicBezTo>
                    <a:pt x="3149" y="76406"/>
                    <a:pt x="17311" y="76060"/>
                    <a:pt x="21571" y="76060"/>
                  </a:cubicBezTo>
                  <a:cubicBezTo>
                    <a:pt x="25141" y="76060"/>
                    <a:pt x="39648" y="76406"/>
                    <a:pt x="42181" y="76521"/>
                  </a:cubicBezTo>
                  <a:lnTo>
                    <a:pt x="42181" y="72376"/>
                  </a:lnTo>
                  <a:lnTo>
                    <a:pt x="37806" y="72376"/>
                  </a:lnTo>
                  <a:cubicBezTo>
                    <a:pt x="26292" y="72376"/>
                    <a:pt x="26292" y="70879"/>
                    <a:pt x="26292" y="67079"/>
                  </a:cubicBezTo>
                  <a:lnTo>
                    <a:pt x="26292" y="3293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62" name="任意形状 61">
              <a:extLst>
                <a:ext uri="{FF2B5EF4-FFF2-40B4-BE49-F238E27FC236}">
                  <a16:creationId xmlns:a16="http://schemas.microsoft.com/office/drawing/2014/main" id="{10BE90E2-EFBD-E475-ABF1-7D4CCD69DF70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7083458" y="3592692"/>
              <a:ext cx="29820" cy="115023"/>
            </a:xfrm>
            <a:custGeom>
              <a:avLst/>
              <a:gdLst>
                <a:gd name="csX0" fmla="*/ 2462 w 29820"/>
                <a:gd name="csY0" fmla="*/ 69 h 115023"/>
                <a:gd name="csX1" fmla="*/ 275 w 29820"/>
                <a:gd name="csY1" fmla="*/ 1451 h 115023"/>
                <a:gd name="csX2" fmla="*/ 1311 w 29820"/>
                <a:gd name="csY2" fmla="*/ 3178 h 115023"/>
                <a:gd name="csX3" fmla="*/ 22266 w 29820"/>
                <a:gd name="csY3" fmla="*/ 57523 h 115023"/>
                <a:gd name="csX4" fmla="*/ 2347 w 29820"/>
                <a:gd name="csY4" fmla="*/ 111062 h 115023"/>
                <a:gd name="csX5" fmla="*/ 275 w 29820"/>
                <a:gd name="csY5" fmla="*/ 113710 h 115023"/>
                <a:gd name="csX6" fmla="*/ 1771 w 29820"/>
                <a:gd name="csY6" fmla="*/ 115092 h 115023"/>
                <a:gd name="csX7" fmla="*/ 21690 w 29820"/>
                <a:gd name="csY7" fmla="*/ 93101 h 115023"/>
                <a:gd name="csX8" fmla="*/ 30096 w 29820"/>
                <a:gd name="csY8" fmla="*/ 57638 h 115023"/>
                <a:gd name="csX9" fmla="*/ 2462 w 29820"/>
                <a:gd name="csY9" fmla="*/ 69 h 115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9820" h="115023">
                  <a:moveTo>
                    <a:pt x="2462" y="69"/>
                  </a:moveTo>
                  <a:cubicBezTo>
                    <a:pt x="1656" y="69"/>
                    <a:pt x="275" y="69"/>
                    <a:pt x="275" y="1451"/>
                  </a:cubicBezTo>
                  <a:cubicBezTo>
                    <a:pt x="275" y="2026"/>
                    <a:pt x="620" y="2372"/>
                    <a:pt x="1311" y="3178"/>
                  </a:cubicBezTo>
                  <a:cubicBezTo>
                    <a:pt x="11213" y="12274"/>
                    <a:pt x="22266" y="27817"/>
                    <a:pt x="22266" y="57523"/>
                  </a:cubicBezTo>
                  <a:cubicBezTo>
                    <a:pt x="22266" y="81587"/>
                    <a:pt x="14782" y="99779"/>
                    <a:pt x="2347" y="111062"/>
                  </a:cubicBezTo>
                  <a:cubicBezTo>
                    <a:pt x="390" y="113020"/>
                    <a:pt x="275" y="113135"/>
                    <a:pt x="275" y="113710"/>
                  </a:cubicBezTo>
                  <a:cubicBezTo>
                    <a:pt x="275" y="114286"/>
                    <a:pt x="620" y="115092"/>
                    <a:pt x="1771" y="115092"/>
                  </a:cubicBezTo>
                  <a:cubicBezTo>
                    <a:pt x="3153" y="115092"/>
                    <a:pt x="14091" y="107493"/>
                    <a:pt x="21690" y="93101"/>
                  </a:cubicBezTo>
                  <a:cubicBezTo>
                    <a:pt x="26756" y="83544"/>
                    <a:pt x="30096" y="71109"/>
                    <a:pt x="30096" y="57638"/>
                  </a:cubicBezTo>
                  <a:cubicBezTo>
                    <a:pt x="30096" y="41404"/>
                    <a:pt x="25260" y="16188"/>
                    <a:pt x="2462" y="69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3FC10719-5857-59C7-EA61-F856D10B2772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6774910" y="3805599"/>
              <a:ext cx="359998" cy="6578"/>
            </a:xfrm>
            <a:prstGeom prst="rect">
              <a:avLst/>
            </a:pr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64" name="任意形状 63">
              <a:extLst>
                <a:ext uri="{FF2B5EF4-FFF2-40B4-BE49-F238E27FC236}">
                  <a16:creationId xmlns:a16="http://schemas.microsoft.com/office/drawing/2014/main" id="{705899C4-75E7-5C81-E680-8FDD414EF11E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6783097" y="3848016"/>
              <a:ext cx="86518" cy="121388"/>
            </a:xfrm>
            <a:custGeom>
              <a:avLst/>
              <a:gdLst>
                <a:gd name="csX0" fmla="*/ 69833 w 86518"/>
                <a:gd name="csY0" fmla="*/ 62097 h 121388"/>
                <a:gd name="csX1" fmla="*/ 48615 w 86518"/>
                <a:gd name="csY1" fmla="*/ 42687 h 121388"/>
                <a:gd name="csX2" fmla="*/ 15060 w 86518"/>
                <a:gd name="csY2" fmla="*/ 58149 h 121388"/>
                <a:gd name="csX3" fmla="*/ 257 w 86518"/>
                <a:gd name="csY3" fmla="*/ 92197 h 121388"/>
                <a:gd name="csX4" fmla="*/ 30521 w 86518"/>
                <a:gd name="csY4" fmla="*/ 121475 h 121388"/>
                <a:gd name="csX5" fmla="*/ 86775 w 86518"/>
                <a:gd name="csY5" fmla="*/ 42687 h 121388"/>
                <a:gd name="csX6" fmla="*/ 51246 w 86518"/>
                <a:gd name="csY6" fmla="*/ 86 h 121388"/>
                <a:gd name="csX7" fmla="*/ 19830 w 86518"/>
                <a:gd name="csY7" fmla="*/ 26075 h 121388"/>
                <a:gd name="csX8" fmla="*/ 26080 w 86518"/>
                <a:gd name="csY8" fmla="*/ 31832 h 121388"/>
                <a:gd name="csX9" fmla="*/ 34963 w 86518"/>
                <a:gd name="csY9" fmla="*/ 23114 h 121388"/>
                <a:gd name="csX10" fmla="*/ 27232 w 86518"/>
                <a:gd name="csY10" fmla="*/ 17357 h 121388"/>
                <a:gd name="csX11" fmla="*/ 50917 w 86518"/>
                <a:gd name="csY11" fmla="*/ 4198 h 121388"/>
                <a:gd name="csX12" fmla="*/ 74439 w 86518"/>
                <a:gd name="csY12" fmla="*/ 33970 h 121388"/>
                <a:gd name="csX13" fmla="*/ 69997 w 86518"/>
                <a:gd name="csY13" fmla="*/ 62097 h 121388"/>
                <a:gd name="csX14" fmla="*/ 69833 w 86518"/>
                <a:gd name="csY14" fmla="*/ 62097 h 121388"/>
                <a:gd name="csX15" fmla="*/ 31015 w 86518"/>
                <a:gd name="csY15" fmla="*/ 116869 h 121388"/>
                <a:gd name="csX16" fmla="*/ 12922 w 86518"/>
                <a:gd name="csY16" fmla="*/ 98283 h 121388"/>
                <a:gd name="csX17" fmla="*/ 23778 w 86518"/>
                <a:gd name="csY17" fmla="*/ 60945 h 121388"/>
                <a:gd name="csX18" fmla="*/ 48615 w 86518"/>
                <a:gd name="csY18" fmla="*/ 46306 h 121388"/>
                <a:gd name="csX19" fmla="*/ 66872 w 86518"/>
                <a:gd name="csY19" fmla="*/ 68018 h 121388"/>
                <a:gd name="csX20" fmla="*/ 31015 w 86518"/>
                <a:gd name="csY20" fmla="*/ 116869 h 1213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86518" h="121388">
                  <a:moveTo>
                    <a:pt x="69833" y="62097"/>
                  </a:moveTo>
                  <a:cubicBezTo>
                    <a:pt x="68188" y="51899"/>
                    <a:pt x="61444" y="42687"/>
                    <a:pt x="48615" y="42687"/>
                  </a:cubicBezTo>
                  <a:cubicBezTo>
                    <a:pt x="38581" y="42687"/>
                    <a:pt x="27890" y="45319"/>
                    <a:pt x="15060" y="58149"/>
                  </a:cubicBezTo>
                  <a:cubicBezTo>
                    <a:pt x="1408" y="71801"/>
                    <a:pt x="257" y="87098"/>
                    <a:pt x="257" y="92197"/>
                  </a:cubicBezTo>
                  <a:cubicBezTo>
                    <a:pt x="257" y="102395"/>
                    <a:pt x="7494" y="121475"/>
                    <a:pt x="30521" y="121475"/>
                  </a:cubicBezTo>
                  <a:cubicBezTo>
                    <a:pt x="69669" y="121475"/>
                    <a:pt x="86775" y="66209"/>
                    <a:pt x="86775" y="42687"/>
                  </a:cubicBezTo>
                  <a:cubicBezTo>
                    <a:pt x="86775" y="16535"/>
                    <a:pt x="71478" y="86"/>
                    <a:pt x="51246" y="86"/>
                  </a:cubicBezTo>
                  <a:cubicBezTo>
                    <a:pt x="27396" y="86"/>
                    <a:pt x="19830" y="21469"/>
                    <a:pt x="19830" y="26075"/>
                  </a:cubicBezTo>
                  <a:cubicBezTo>
                    <a:pt x="19830" y="28377"/>
                    <a:pt x="21146" y="31832"/>
                    <a:pt x="26080" y="31832"/>
                  </a:cubicBezTo>
                  <a:cubicBezTo>
                    <a:pt x="31508" y="31832"/>
                    <a:pt x="34963" y="26897"/>
                    <a:pt x="34963" y="23114"/>
                  </a:cubicBezTo>
                  <a:cubicBezTo>
                    <a:pt x="34963" y="17357"/>
                    <a:pt x="29864" y="17357"/>
                    <a:pt x="27232" y="17357"/>
                  </a:cubicBezTo>
                  <a:cubicBezTo>
                    <a:pt x="34469" y="5185"/>
                    <a:pt x="46147" y="4198"/>
                    <a:pt x="50917" y="4198"/>
                  </a:cubicBezTo>
                  <a:cubicBezTo>
                    <a:pt x="62925" y="4198"/>
                    <a:pt x="74439" y="12752"/>
                    <a:pt x="74439" y="33970"/>
                  </a:cubicBezTo>
                  <a:cubicBezTo>
                    <a:pt x="74439" y="40385"/>
                    <a:pt x="73452" y="48773"/>
                    <a:pt x="69997" y="62097"/>
                  </a:cubicBezTo>
                  <a:lnTo>
                    <a:pt x="69833" y="62097"/>
                  </a:lnTo>
                  <a:close/>
                  <a:moveTo>
                    <a:pt x="31015" y="116869"/>
                  </a:moveTo>
                  <a:cubicBezTo>
                    <a:pt x="12922" y="116869"/>
                    <a:pt x="12922" y="99928"/>
                    <a:pt x="12922" y="98283"/>
                  </a:cubicBezTo>
                  <a:cubicBezTo>
                    <a:pt x="12922" y="93842"/>
                    <a:pt x="17034" y="70814"/>
                    <a:pt x="23778" y="60945"/>
                  </a:cubicBezTo>
                  <a:cubicBezTo>
                    <a:pt x="30357" y="51570"/>
                    <a:pt x="38417" y="46306"/>
                    <a:pt x="48615" y="46306"/>
                  </a:cubicBezTo>
                  <a:cubicBezTo>
                    <a:pt x="66543" y="46306"/>
                    <a:pt x="66872" y="64728"/>
                    <a:pt x="66872" y="68018"/>
                  </a:cubicBezTo>
                  <a:cubicBezTo>
                    <a:pt x="66872" y="79861"/>
                    <a:pt x="56345" y="116869"/>
                    <a:pt x="31015" y="116869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65" name="任意形状 64">
              <a:extLst>
                <a:ext uri="{FF2B5EF4-FFF2-40B4-BE49-F238E27FC236}">
                  <a16:creationId xmlns:a16="http://schemas.microsoft.com/office/drawing/2014/main" id="{8933BB51-23D5-BB34-3737-A94EE0BEA5CA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6880053" y="3893084"/>
              <a:ext cx="69740" cy="74510"/>
            </a:xfrm>
            <a:custGeom>
              <a:avLst/>
              <a:gdLst>
                <a:gd name="csX0" fmla="*/ 15066 w 69740"/>
                <a:gd name="csY0" fmla="*/ 59136 h 74510"/>
                <a:gd name="csX1" fmla="*/ 34639 w 69740"/>
                <a:gd name="csY1" fmla="*/ 40385 h 74510"/>
                <a:gd name="csX2" fmla="*/ 50759 w 69740"/>
                <a:gd name="csY2" fmla="*/ 25581 h 74510"/>
                <a:gd name="csX3" fmla="*/ 70003 w 69740"/>
                <a:gd name="csY3" fmla="*/ 1731 h 74510"/>
                <a:gd name="csX4" fmla="*/ 68194 w 69740"/>
                <a:gd name="csY4" fmla="*/ 86 h 74510"/>
                <a:gd name="csX5" fmla="*/ 65727 w 69740"/>
                <a:gd name="csY5" fmla="*/ 1896 h 74510"/>
                <a:gd name="csX6" fmla="*/ 53391 w 69740"/>
                <a:gd name="csY6" fmla="*/ 12423 h 74510"/>
                <a:gd name="csX7" fmla="*/ 45002 w 69740"/>
                <a:gd name="csY7" fmla="*/ 7159 h 74510"/>
                <a:gd name="csX8" fmla="*/ 33653 w 69740"/>
                <a:gd name="csY8" fmla="*/ 86 h 74510"/>
                <a:gd name="csX9" fmla="*/ 13750 w 69740"/>
                <a:gd name="csY9" fmla="*/ 18837 h 74510"/>
                <a:gd name="csX10" fmla="*/ 15724 w 69740"/>
                <a:gd name="csY10" fmla="*/ 20647 h 74510"/>
                <a:gd name="csX11" fmla="*/ 17862 w 69740"/>
                <a:gd name="csY11" fmla="*/ 18837 h 74510"/>
                <a:gd name="csX12" fmla="*/ 31843 w 69740"/>
                <a:gd name="csY12" fmla="*/ 11107 h 74510"/>
                <a:gd name="csX13" fmla="*/ 42206 w 69740"/>
                <a:gd name="csY13" fmla="*/ 13574 h 74510"/>
                <a:gd name="csX14" fmla="*/ 54871 w 69740"/>
                <a:gd name="csY14" fmla="*/ 16041 h 74510"/>
                <a:gd name="csX15" fmla="*/ 32008 w 69740"/>
                <a:gd name="csY15" fmla="*/ 37589 h 74510"/>
                <a:gd name="csX16" fmla="*/ 17204 w 69740"/>
                <a:gd name="csY16" fmla="*/ 51405 h 74510"/>
                <a:gd name="csX17" fmla="*/ 262 w 69740"/>
                <a:gd name="csY17" fmla="*/ 72952 h 74510"/>
                <a:gd name="csX18" fmla="*/ 2236 w 69740"/>
                <a:gd name="csY18" fmla="*/ 74597 h 74510"/>
                <a:gd name="csX19" fmla="*/ 4868 w 69740"/>
                <a:gd name="csY19" fmla="*/ 72459 h 74510"/>
                <a:gd name="csX20" fmla="*/ 18849 w 69740"/>
                <a:gd name="csY20" fmla="*/ 62261 h 74510"/>
                <a:gd name="csX21" fmla="*/ 28389 w 69740"/>
                <a:gd name="csY21" fmla="*/ 68511 h 74510"/>
                <a:gd name="csX22" fmla="*/ 38916 w 69740"/>
                <a:gd name="csY22" fmla="*/ 74597 h 74510"/>
                <a:gd name="csX23" fmla="*/ 64740 w 69740"/>
                <a:gd name="csY23" fmla="*/ 49267 h 74510"/>
                <a:gd name="csX24" fmla="*/ 62766 w 69740"/>
                <a:gd name="csY24" fmla="*/ 47622 h 74510"/>
                <a:gd name="csX25" fmla="*/ 60463 w 69740"/>
                <a:gd name="csY25" fmla="*/ 49760 h 74510"/>
                <a:gd name="csX26" fmla="*/ 40725 w 69740"/>
                <a:gd name="csY26" fmla="*/ 63577 h 74510"/>
                <a:gd name="csX27" fmla="*/ 31021 w 69740"/>
                <a:gd name="csY27" fmla="*/ 61439 h 74510"/>
                <a:gd name="csX28" fmla="*/ 19507 w 69740"/>
                <a:gd name="csY28" fmla="*/ 58642 h 74510"/>
                <a:gd name="csX29" fmla="*/ 15066 w 69740"/>
                <a:gd name="csY29" fmla="*/ 59136 h 74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69740" h="74510">
                  <a:moveTo>
                    <a:pt x="15066" y="59136"/>
                  </a:moveTo>
                  <a:cubicBezTo>
                    <a:pt x="23948" y="49596"/>
                    <a:pt x="28718" y="45484"/>
                    <a:pt x="34639" y="40385"/>
                  </a:cubicBezTo>
                  <a:cubicBezTo>
                    <a:pt x="34639" y="40220"/>
                    <a:pt x="44837" y="31503"/>
                    <a:pt x="50759" y="25581"/>
                  </a:cubicBezTo>
                  <a:cubicBezTo>
                    <a:pt x="66385" y="10284"/>
                    <a:pt x="70003" y="2389"/>
                    <a:pt x="70003" y="1731"/>
                  </a:cubicBezTo>
                  <a:cubicBezTo>
                    <a:pt x="70003" y="86"/>
                    <a:pt x="68523" y="86"/>
                    <a:pt x="68194" y="86"/>
                  </a:cubicBezTo>
                  <a:cubicBezTo>
                    <a:pt x="67043" y="86"/>
                    <a:pt x="66549" y="415"/>
                    <a:pt x="65727" y="1896"/>
                  </a:cubicBezTo>
                  <a:cubicBezTo>
                    <a:pt x="60792" y="9791"/>
                    <a:pt x="57338" y="12423"/>
                    <a:pt x="53391" y="12423"/>
                  </a:cubicBezTo>
                  <a:cubicBezTo>
                    <a:pt x="49443" y="12423"/>
                    <a:pt x="47469" y="9955"/>
                    <a:pt x="45002" y="7159"/>
                  </a:cubicBezTo>
                  <a:cubicBezTo>
                    <a:pt x="41877" y="3376"/>
                    <a:pt x="39080" y="86"/>
                    <a:pt x="33653" y="86"/>
                  </a:cubicBezTo>
                  <a:cubicBezTo>
                    <a:pt x="21316" y="86"/>
                    <a:pt x="13750" y="15383"/>
                    <a:pt x="13750" y="18837"/>
                  </a:cubicBezTo>
                  <a:cubicBezTo>
                    <a:pt x="13750" y="19660"/>
                    <a:pt x="14244" y="20647"/>
                    <a:pt x="15724" y="20647"/>
                  </a:cubicBezTo>
                  <a:cubicBezTo>
                    <a:pt x="17204" y="20647"/>
                    <a:pt x="17533" y="19824"/>
                    <a:pt x="17862" y="18837"/>
                  </a:cubicBezTo>
                  <a:cubicBezTo>
                    <a:pt x="20987" y="11271"/>
                    <a:pt x="30527" y="11107"/>
                    <a:pt x="31843" y="11107"/>
                  </a:cubicBezTo>
                  <a:cubicBezTo>
                    <a:pt x="35297" y="11107"/>
                    <a:pt x="38423" y="12258"/>
                    <a:pt x="42206" y="13574"/>
                  </a:cubicBezTo>
                  <a:cubicBezTo>
                    <a:pt x="48785" y="16041"/>
                    <a:pt x="50594" y="16041"/>
                    <a:pt x="54871" y="16041"/>
                  </a:cubicBezTo>
                  <a:cubicBezTo>
                    <a:pt x="48949" y="23114"/>
                    <a:pt x="35133" y="34957"/>
                    <a:pt x="32008" y="37589"/>
                  </a:cubicBezTo>
                  <a:lnTo>
                    <a:pt x="17204" y="51405"/>
                  </a:lnTo>
                  <a:cubicBezTo>
                    <a:pt x="6019" y="62425"/>
                    <a:pt x="262" y="71801"/>
                    <a:pt x="262" y="72952"/>
                  </a:cubicBezTo>
                  <a:cubicBezTo>
                    <a:pt x="262" y="74597"/>
                    <a:pt x="1907" y="74597"/>
                    <a:pt x="2236" y="74597"/>
                  </a:cubicBezTo>
                  <a:cubicBezTo>
                    <a:pt x="3552" y="74597"/>
                    <a:pt x="3881" y="74268"/>
                    <a:pt x="4868" y="72459"/>
                  </a:cubicBezTo>
                  <a:cubicBezTo>
                    <a:pt x="8651" y="66702"/>
                    <a:pt x="13586" y="62261"/>
                    <a:pt x="18849" y="62261"/>
                  </a:cubicBezTo>
                  <a:cubicBezTo>
                    <a:pt x="22632" y="62261"/>
                    <a:pt x="24277" y="63741"/>
                    <a:pt x="28389" y="68511"/>
                  </a:cubicBezTo>
                  <a:cubicBezTo>
                    <a:pt x="31185" y="71966"/>
                    <a:pt x="34146" y="74597"/>
                    <a:pt x="38916" y="74597"/>
                  </a:cubicBezTo>
                  <a:cubicBezTo>
                    <a:pt x="55200" y="74597"/>
                    <a:pt x="64740" y="53708"/>
                    <a:pt x="64740" y="49267"/>
                  </a:cubicBezTo>
                  <a:cubicBezTo>
                    <a:pt x="64740" y="48444"/>
                    <a:pt x="64082" y="47622"/>
                    <a:pt x="62766" y="47622"/>
                  </a:cubicBezTo>
                  <a:cubicBezTo>
                    <a:pt x="61286" y="47622"/>
                    <a:pt x="60957" y="48609"/>
                    <a:pt x="60463" y="49760"/>
                  </a:cubicBezTo>
                  <a:cubicBezTo>
                    <a:pt x="56680" y="60452"/>
                    <a:pt x="46153" y="63577"/>
                    <a:pt x="40725" y="63577"/>
                  </a:cubicBezTo>
                  <a:cubicBezTo>
                    <a:pt x="37436" y="63577"/>
                    <a:pt x="34475" y="62590"/>
                    <a:pt x="31021" y="61439"/>
                  </a:cubicBezTo>
                  <a:cubicBezTo>
                    <a:pt x="25428" y="59300"/>
                    <a:pt x="22961" y="58642"/>
                    <a:pt x="19507" y="58642"/>
                  </a:cubicBezTo>
                  <a:cubicBezTo>
                    <a:pt x="19178" y="58642"/>
                    <a:pt x="16546" y="58642"/>
                    <a:pt x="15066" y="59136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66" name="任意形状 65">
              <a:extLst>
                <a:ext uri="{FF2B5EF4-FFF2-40B4-BE49-F238E27FC236}">
                  <a16:creationId xmlns:a16="http://schemas.microsoft.com/office/drawing/2014/main" id="{99808BB5-5584-CA65-B2F5-11AD3A24F860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6969948" y="3831915"/>
              <a:ext cx="29935" cy="115023"/>
            </a:xfrm>
            <a:custGeom>
              <a:avLst/>
              <a:gdLst>
                <a:gd name="csX0" fmla="*/ 27901 w 29935"/>
                <a:gd name="csY0" fmla="*/ 83 h 115023"/>
                <a:gd name="csX1" fmla="*/ 268 w 29935"/>
                <a:gd name="csY1" fmla="*/ 57537 h 115023"/>
                <a:gd name="csX2" fmla="*/ 27901 w 29935"/>
                <a:gd name="csY2" fmla="*/ 115107 h 115023"/>
                <a:gd name="csX3" fmla="*/ 30203 w 29935"/>
                <a:gd name="csY3" fmla="*/ 113725 h 115023"/>
                <a:gd name="csX4" fmla="*/ 29052 w 29935"/>
                <a:gd name="csY4" fmla="*/ 111998 h 115023"/>
                <a:gd name="csX5" fmla="*/ 8097 w 29935"/>
                <a:gd name="csY5" fmla="*/ 57653 h 115023"/>
                <a:gd name="csX6" fmla="*/ 29397 w 29935"/>
                <a:gd name="csY6" fmla="*/ 2847 h 115023"/>
                <a:gd name="csX7" fmla="*/ 30203 w 29935"/>
                <a:gd name="csY7" fmla="*/ 1465 h 115023"/>
                <a:gd name="csX8" fmla="*/ 27901 w 29935"/>
                <a:gd name="csY8" fmla="*/ 83 h 115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935" h="115023">
                  <a:moveTo>
                    <a:pt x="27901" y="83"/>
                  </a:moveTo>
                  <a:cubicBezTo>
                    <a:pt x="6024" y="15512"/>
                    <a:pt x="268" y="39921"/>
                    <a:pt x="268" y="57537"/>
                  </a:cubicBezTo>
                  <a:cubicBezTo>
                    <a:pt x="268" y="73772"/>
                    <a:pt x="5103" y="98987"/>
                    <a:pt x="27901" y="115107"/>
                  </a:cubicBezTo>
                  <a:cubicBezTo>
                    <a:pt x="28822" y="115107"/>
                    <a:pt x="30203" y="115107"/>
                    <a:pt x="30203" y="113725"/>
                  </a:cubicBezTo>
                  <a:cubicBezTo>
                    <a:pt x="30203" y="113034"/>
                    <a:pt x="29858" y="112804"/>
                    <a:pt x="29052" y="111998"/>
                  </a:cubicBezTo>
                  <a:cubicBezTo>
                    <a:pt x="13739" y="98181"/>
                    <a:pt x="8097" y="78608"/>
                    <a:pt x="8097" y="57653"/>
                  </a:cubicBezTo>
                  <a:cubicBezTo>
                    <a:pt x="8097" y="26565"/>
                    <a:pt x="19956" y="11367"/>
                    <a:pt x="29397" y="2847"/>
                  </a:cubicBezTo>
                  <a:cubicBezTo>
                    <a:pt x="29858" y="2386"/>
                    <a:pt x="30203" y="2041"/>
                    <a:pt x="30203" y="1465"/>
                  </a:cubicBezTo>
                  <a:cubicBezTo>
                    <a:pt x="30203" y="83"/>
                    <a:pt x="28822" y="83"/>
                    <a:pt x="27901" y="83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67" name="任意形状 66">
              <a:extLst>
                <a:ext uri="{FF2B5EF4-FFF2-40B4-BE49-F238E27FC236}">
                  <a16:creationId xmlns:a16="http://schemas.microsoft.com/office/drawing/2014/main" id="{B3E6370B-450E-A212-A220-756F521D90DF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7020659" y="3841817"/>
              <a:ext cx="41910" cy="76451"/>
            </a:xfrm>
            <a:custGeom>
              <a:avLst/>
              <a:gdLst>
                <a:gd name="csX0" fmla="*/ 26292 w 41910"/>
                <a:gd name="csY0" fmla="*/ 3307 h 76451"/>
                <a:gd name="csX1" fmla="*/ 22838 w 41910"/>
                <a:gd name="csY1" fmla="*/ 83 h 76451"/>
                <a:gd name="csX2" fmla="*/ 271 w 41910"/>
                <a:gd name="csY2" fmla="*/ 7452 h 76451"/>
                <a:gd name="csX3" fmla="*/ 271 w 41910"/>
                <a:gd name="csY3" fmla="*/ 11597 h 76451"/>
                <a:gd name="csX4" fmla="*/ 16966 w 41910"/>
                <a:gd name="csY4" fmla="*/ 8373 h 76451"/>
                <a:gd name="csX5" fmla="*/ 16966 w 41910"/>
                <a:gd name="csY5" fmla="*/ 67094 h 76451"/>
                <a:gd name="csX6" fmla="*/ 5452 w 41910"/>
                <a:gd name="csY6" fmla="*/ 72390 h 76451"/>
                <a:gd name="csX7" fmla="*/ 1077 w 41910"/>
                <a:gd name="csY7" fmla="*/ 72390 h 76451"/>
                <a:gd name="csX8" fmla="*/ 1077 w 41910"/>
                <a:gd name="csY8" fmla="*/ 76535 h 76451"/>
                <a:gd name="csX9" fmla="*/ 21571 w 41910"/>
                <a:gd name="csY9" fmla="*/ 76075 h 76451"/>
                <a:gd name="csX10" fmla="*/ 42181 w 41910"/>
                <a:gd name="csY10" fmla="*/ 76535 h 76451"/>
                <a:gd name="csX11" fmla="*/ 42181 w 41910"/>
                <a:gd name="csY11" fmla="*/ 72390 h 76451"/>
                <a:gd name="csX12" fmla="*/ 37806 w 41910"/>
                <a:gd name="csY12" fmla="*/ 72390 h 76451"/>
                <a:gd name="csX13" fmla="*/ 26292 w 41910"/>
                <a:gd name="csY13" fmla="*/ 67094 h 76451"/>
                <a:gd name="csX14" fmla="*/ 26292 w 41910"/>
                <a:gd name="csY14" fmla="*/ 3307 h 764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1910" h="76451">
                  <a:moveTo>
                    <a:pt x="26292" y="3307"/>
                  </a:moveTo>
                  <a:cubicBezTo>
                    <a:pt x="26292" y="199"/>
                    <a:pt x="26062" y="83"/>
                    <a:pt x="22838" y="83"/>
                  </a:cubicBezTo>
                  <a:cubicBezTo>
                    <a:pt x="15469" y="7337"/>
                    <a:pt x="4991" y="7452"/>
                    <a:pt x="271" y="7452"/>
                  </a:cubicBezTo>
                  <a:lnTo>
                    <a:pt x="271" y="11597"/>
                  </a:lnTo>
                  <a:cubicBezTo>
                    <a:pt x="3034" y="11597"/>
                    <a:pt x="10633" y="11597"/>
                    <a:pt x="16966" y="8373"/>
                  </a:cubicBezTo>
                  <a:lnTo>
                    <a:pt x="16966" y="67094"/>
                  </a:lnTo>
                  <a:cubicBezTo>
                    <a:pt x="16966" y="70893"/>
                    <a:pt x="16966" y="72390"/>
                    <a:pt x="5452" y="72390"/>
                  </a:cubicBezTo>
                  <a:lnTo>
                    <a:pt x="1077" y="72390"/>
                  </a:lnTo>
                  <a:lnTo>
                    <a:pt x="1077" y="76535"/>
                  </a:lnTo>
                  <a:cubicBezTo>
                    <a:pt x="3149" y="76420"/>
                    <a:pt x="17311" y="76075"/>
                    <a:pt x="21571" y="76075"/>
                  </a:cubicBezTo>
                  <a:cubicBezTo>
                    <a:pt x="25141" y="76075"/>
                    <a:pt x="39648" y="76420"/>
                    <a:pt x="42181" y="76535"/>
                  </a:cubicBezTo>
                  <a:lnTo>
                    <a:pt x="42181" y="72390"/>
                  </a:lnTo>
                  <a:lnTo>
                    <a:pt x="37806" y="72390"/>
                  </a:lnTo>
                  <a:cubicBezTo>
                    <a:pt x="26292" y="72390"/>
                    <a:pt x="26292" y="70893"/>
                    <a:pt x="26292" y="67094"/>
                  </a:cubicBezTo>
                  <a:lnTo>
                    <a:pt x="26292" y="3307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68" name="任意形状 67">
              <a:extLst>
                <a:ext uri="{FF2B5EF4-FFF2-40B4-BE49-F238E27FC236}">
                  <a16:creationId xmlns:a16="http://schemas.microsoft.com/office/drawing/2014/main" id="{B737BC0C-E04B-1C48-DE2E-66BF2B5439B1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7081849" y="3831915"/>
              <a:ext cx="29820" cy="115023"/>
            </a:xfrm>
            <a:custGeom>
              <a:avLst/>
              <a:gdLst>
                <a:gd name="csX0" fmla="*/ 2462 w 29820"/>
                <a:gd name="csY0" fmla="*/ 83 h 115023"/>
                <a:gd name="csX1" fmla="*/ 275 w 29820"/>
                <a:gd name="csY1" fmla="*/ 1465 h 115023"/>
                <a:gd name="csX2" fmla="*/ 1311 w 29820"/>
                <a:gd name="csY2" fmla="*/ 3192 h 115023"/>
                <a:gd name="csX3" fmla="*/ 22266 w 29820"/>
                <a:gd name="csY3" fmla="*/ 57537 h 115023"/>
                <a:gd name="csX4" fmla="*/ 2347 w 29820"/>
                <a:gd name="csY4" fmla="*/ 111077 h 115023"/>
                <a:gd name="csX5" fmla="*/ 275 w 29820"/>
                <a:gd name="csY5" fmla="*/ 113725 h 115023"/>
                <a:gd name="csX6" fmla="*/ 1771 w 29820"/>
                <a:gd name="csY6" fmla="*/ 115107 h 115023"/>
                <a:gd name="csX7" fmla="*/ 21690 w 29820"/>
                <a:gd name="csY7" fmla="*/ 93115 h 115023"/>
                <a:gd name="csX8" fmla="*/ 30095 w 29820"/>
                <a:gd name="csY8" fmla="*/ 57653 h 115023"/>
                <a:gd name="csX9" fmla="*/ 2462 w 29820"/>
                <a:gd name="csY9" fmla="*/ 83 h 115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9820" h="115023">
                  <a:moveTo>
                    <a:pt x="2462" y="83"/>
                  </a:moveTo>
                  <a:cubicBezTo>
                    <a:pt x="1656" y="83"/>
                    <a:pt x="275" y="83"/>
                    <a:pt x="275" y="1465"/>
                  </a:cubicBezTo>
                  <a:cubicBezTo>
                    <a:pt x="275" y="2041"/>
                    <a:pt x="620" y="2386"/>
                    <a:pt x="1311" y="3192"/>
                  </a:cubicBezTo>
                  <a:cubicBezTo>
                    <a:pt x="11213" y="12288"/>
                    <a:pt x="22266" y="27832"/>
                    <a:pt x="22266" y="57537"/>
                  </a:cubicBezTo>
                  <a:cubicBezTo>
                    <a:pt x="22266" y="81601"/>
                    <a:pt x="14782" y="99793"/>
                    <a:pt x="2347" y="111077"/>
                  </a:cubicBezTo>
                  <a:cubicBezTo>
                    <a:pt x="390" y="113034"/>
                    <a:pt x="275" y="113149"/>
                    <a:pt x="275" y="113725"/>
                  </a:cubicBezTo>
                  <a:cubicBezTo>
                    <a:pt x="275" y="114301"/>
                    <a:pt x="620" y="115107"/>
                    <a:pt x="1771" y="115107"/>
                  </a:cubicBezTo>
                  <a:cubicBezTo>
                    <a:pt x="3153" y="115107"/>
                    <a:pt x="14091" y="107507"/>
                    <a:pt x="21690" y="93115"/>
                  </a:cubicBezTo>
                  <a:cubicBezTo>
                    <a:pt x="26756" y="83559"/>
                    <a:pt x="30095" y="71124"/>
                    <a:pt x="30095" y="57653"/>
                  </a:cubicBezTo>
                  <a:cubicBezTo>
                    <a:pt x="30095" y="41418"/>
                    <a:pt x="25260" y="16203"/>
                    <a:pt x="2462" y="83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69" name="任意形状 68">
              <a:extLst>
                <a:ext uri="{FF2B5EF4-FFF2-40B4-BE49-F238E27FC236}">
                  <a16:creationId xmlns:a16="http://schemas.microsoft.com/office/drawing/2014/main" id="{39A7ED78-40DE-4B3D-6880-68BAE56D9FDE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6751224" y="3979931"/>
              <a:ext cx="79609" cy="54937"/>
            </a:xfrm>
            <a:custGeom>
              <a:avLst/>
              <a:gdLst>
                <a:gd name="csX0" fmla="*/ 79865 w 79609"/>
                <a:gd name="csY0" fmla="*/ 39895 h 54937"/>
                <a:gd name="csX1" fmla="*/ 77562 w 79609"/>
                <a:gd name="csY1" fmla="*/ 35290 h 54937"/>
                <a:gd name="csX2" fmla="*/ 36442 w 79609"/>
                <a:gd name="csY2" fmla="*/ 26572 h 54937"/>
                <a:gd name="csX3" fmla="*/ 7822 w 79609"/>
                <a:gd name="csY3" fmla="*/ 913 h 54937"/>
                <a:gd name="csX4" fmla="*/ 4203 w 79609"/>
                <a:gd name="csY4" fmla="*/ 91 h 54937"/>
                <a:gd name="csX5" fmla="*/ 255 w 79609"/>
                <a:gd name="csY5" fmla="*/ 4367 h 54937"/>
                <a:gd name="csX6" fmla="*/ 255 w 79609"/>
                <a:gd name="csY6" fmla="*/ 6999 h 54937"/>
                <a:gd name="csX7" fmla="*/ 76411 w 79609"/>
                <a:gd name="csY7" fmla="*/ 55028 h 54937"/>
                <a:gd name="csX8" fmla="*/ 79865 w 79609"/>
                <a:gd name="csY8" fmla="*/ 50422 h 54937"/>
                <a:gd name="csX9" fmla="*/ 79865 w 79609"/>
                <a:gd name="csY9" fmla="*/ 39895 h 54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9609" h="54937">
                  <a:moveTo>
                    <a:pt x="79865" y="39895"/>
                  </a:moveTo>
                  <a:cubicBezTo>
                    <a:pt x="79865" y="36112"/>
                    <a:pt x="79865" y="35290"/>
                    <a:pt x="77562" y="35290"/>
                  </a:cubicBezTo>
                  <a:cubicBezTo>
                    <a:pt x="67529" y="35125"/>
                    <a:pt x="51245" y="33810"/>
                    <a:pt x="36442" y="26572"/>
                  </a:cubicBezTo>
                  <a:cubicBezTo>
                    <a:pt x="18677" y="17690"/>
                    <a:pt x="11934" y="7328"/>
                    <a:pt x="7822" y="913"/>
                  </a:cubicBezTo>
                  <a:cubicBezTo>
                    <a:pt x="7328" y="91"/>
                    <a:pt x="6341" y="91"/>
                    <a:pt x="4203" y="91"/>
                  </a:cubicBezTo>
                  <a:cubicBezTo>
                    <a:pt x="420" y="91"/>
                    <a:pt x="255" y="255"/>
                    <a:pt x="255" y="4367"/>
                  </a:cubicBezTo>
                  <a:lnTo>
                    <a:pt x="255" y="6999"/>
                  </a:lnTo>
                  <a:cubicBezTo>
                    <a:pt x="22625" y="47297"/>
                    <a:pt x="59634" y="55028"/>
                    <a:pt x="76411" y="55028"/>
                  </a:cubicBezTo>
                  <a:cubicBezTo>
                    <a:pt x="79865" y="55028"/>
                    <a:pt x="79865" y="54863"/>
                    <a:pt x="79865" y="50422"/>
                  </a:cubicBezTo>
                  <a:lnTo>
                    <a:pt x="79865" y="39895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C4226568-6DA9-CD99-4828-5CE43CBD5CAB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6829190" y="4015131"/>
              <a:ext cx="51700" cy="19737"/>
            </a:xfrm>
            <a:prstGeom prst="rect">
              <a:avLst/>
            </a:pr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71" name="任意形状 70">
              <a:extLst>
                <a:ext uri="{FF2B5EF4-FFF2-40B4-BE49-F238E27FC236}">
                  <a16:creationId xmlns:a16="http://schemas.microsoft.com/office/drawing/2014/main" id="{30BCAF5D-FB7E-97DC-6687-ABA683D69EE0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6879246" y="4015130"/>
              <a:ext cx="79609" cy="54937"/>
            </a:xfrm>
            <a:custGeom>
              <a:avLst/>
              <a:gdLst>
                <a:gd name="csX0" fmla="*/ 79873 w 79609"/>
                <a:gd name="csY0" fmla="*/ 48120 h 54937"/>
                <a:gd name="csX1" fmla="*/ 3717 w 79609"/>
                <a:gd name="csY1" fmla="*/ 91 h 54937"/>
                <a:gd name="csX2" fmla="*/ 263 w 79609"/>
                <a:gd name="csY2" fmla="*/ 4696 h 54937"/>
                <a:gd name="csX3" fmla="*/ 263 w 79609"/>
                <a:gd name="csY3" fmla="*/ 15223 h 54937"/>
                <a:gd name="csX4" fmla="*/ 2566 w 79609"/>
                <a:gd name="csY4" fmla="*/ 19829 h 54937"/>
                <a:gd name="csX5" fmla="*/ 43686 w 79609"/>
                <a:gd name="csY5" fmla="*/ 28546 h 54937"/>
                <a:gd name="csX6" fmla="*/ 72307 w 79609"/>
                <a:gd name="csY6" fmla="*/ 54206 h 54937"/>
                <a:gd name="csX7" fmla="*/ 75925 w 79609"/>
                <a:gd name="csY7" fmla="*/ 55028 h 54937"/>
                <a:gd name="csX8" fmla="*/ 79873 w 79609"/>
                <a:gd name="csY8" fmla="*/ 50751 h 54937"/>
                <a:gd name="csX9" fmla="*/ 79873 w 79609"/>
                <a:gd name="csY9" fmla="*/ 48120 h 54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9609" h="54937">
                  <a:moveTo>
                    <a:pt x="79873" y="48120"/>
                  </a:moveTo>
                  <a:cubicBezTo>
                    <a:pt x="57503" y="7821"/>
                    <a:pt x="20494" y="91"/>
                    <a:pt x="3717" y="91"/>
                  </a:cubicBezTo>
                  <a:cubicBezTo>
                    <a:pt x="263" y="91"/>
                    <a:pt x="263" y="255"/>
                    <a:pt x="263" y="4696"/>
                  </a:cubicBezTo>
                  <a:lnTo>
                    <a:pt x="263" y="15223"/>
                  </a:lnTo>
                  <a:cubicBezTo>
                    <a:pt x="263" y="19006"/>
                    <a:pt x="263" y="19829"/>
                    <a:pt x="2566" y="19829"/>
                  </a:cubicBezTo>
                  <a:cubicBezTo>
                    <a:pt x="12599" y="19993"/>
                    <a:pt x="28883" y="21309"/>
                    <a:pt x="43686" y="28546"/>
                  </a:cubicBezTo>
                  <a:cubicBezTo>
                    <a:pt x="61451" y="37428"/>
                    <a:pt x="68194" y="47791"/>
                    <a:pt x="72307" y="54206"/>
                  </a:cubicBezTo>
                  <a:cubicBezTo>
                    <a:pt x="72800" y="55028"/>
                    <a:pt x="73787" y="55028"/>
                    <a:pt x="75925" y="55028"/>
                  </a:cubicBezTo>
                  <a:cubicBezTo>
                    <a:pt x="79708" y="55028"/>
                    <a:pt x="79873" y="54863"/>
                    <a:pt x="79873" y="50751"/>
                  </a:cubicBezTo>
                  <a:lnTo>
                    <a:pt x="79873" y="48120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72" name="任意形状 71">
              <a:extLst>
                <a:ext uri="{FF2B5EF4-FFF2-40B4-BE49-F238E27FC236}">
                  <a16:creationId xmlns:a16="http://schemas.microsoft.com/office/drawing/2014/main" id="{63306F02-5567-594A-0B47-E3E949B48145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6950961" y="4015130"/>
              <a:ext cx="79609" cy="54937"/>
            </a:xfrm>
            <a:custGeom>
              <a:avLst/>
              <a:gdLst>
                <a:gd name="csX0" fmla="*/ 79877 w 79609"/>
                <a:gd name="csY0" fmla="*/ 4696 h 54937"/>
                <a:gd name="csX1" fmla="*/ 76423 w 79609"/>
                <a:gd name="csY1" fmla="*/ 91 h 54937"/>
                <a:gd name="csX2" fmla="*/ 267 w 79609"/>
                <a:gd name="csY2" fmla="*/ 48120 h 54937"/>
                <a:gd name="csX3" fmla="*/ 267 w 79609"/>
                <a:gd name="csY3" fmla="*/ 50751 h 54937"/>
                <a:gd name="csX4" fmla="*/ 4215 w 79609"/>
                <a:gd name="csY4" fmla="*/ 55028 h 54937"/>
                <a:gd name="csX5" fmla="*/ 8327 w 79609"/>
                <a:gd name="csY5" fmla="*/ 53712 h 54937"/>
                <a:gd name="csX6" fmla="*/ 77903 w 79609"/>
                <a:gd name="csY6" fmla="*/ 19829 h 54937"/>
                <a:gd name="csX7" fmla="*/ 79877 w 79609"/>
                <a:gd name="csY7" fmla="*/ 15223 h 54937"/>
                <a:gd name="csX8" fmla="*/ 79877 w 79609"/>
                <a:gd name="csY8" fmla="*/ 4696 h 54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9609" h="54937">
                  <a:moveTo>
                    <a:pt x="79877" y="4696"/>
                  </a:moveTo>
                  <a:cubicBezTo>
                    <a:pt x="79877" y="255"/>
                    <a:pt x="79877" y="91"/>
                    <a:pt x="76423" y="91"/>
                  </a:cubicBezTo>
                  <a:cubicBezTo>
                    <a:pt x="59646" y="91"/>
                    <a:pt x="22637" y="7986"/>
                    <a:pt x="267" y="48120"/>
                  </a:cubicBezTo>
                  <a:lnTo>
                    <a:pt x="267" y="50751"/>
                  </a:lnTo>
                  <a:cubicBezTo>
                    <a:pt x="267" y="54863"/>
                    <a:pt x="432" y="55028"/>
                    <a:pt x="4215" y="55028"/>
                  </a:cubicBezTo>
                  <a:cubicBezTo>
                    <a:pt x="7340" y="55028"/>
                    <a:pt x="7505" y="54863"/>
                    <a:pt x="8327" y="53712"/>
                  </a:cubicBezTo>
                  <a:cubicBezTo>
                    <a:pt x="21815" y="32165"/>
                    <a:pt x="44513" y="20486"/>
                    <a:pt x="77903" y="19829"/>
                  </a:cubicBezTo>
                  <a:cubicBezTo>
                    <a:pt x="79877" y="19829"/>
                    <a:pt x="79877" y="18677"/>
                    <a:pt x="79877" y="15223"/>
                  </a:cubicBezTo>
                  <a:lnTo>
                    <a:pt x="79877" y="4696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6E39895C-FAA0-5361-60C5-09B965158BCB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7028927" y="4015131"/>
              <a:ext cx="51700" cy="19737"/>
            </a:xfrm>
            <a:prstGeom prst="rect">
              <a:avLst/>
            </a:pr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74" name="任意形状 73">
              <a:extLst>
                <a:ext uri="{FF2B5EF4-FFF2-40B4-BE49-F238E27FC236}">
                  <a16:creationId xmlns:a16="http://schemas.microsoft.com/office/drawing/2014/main" id="{07B1E1F5-468A-29C5-9C87-1CB610E79A82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7078983" y="3979931"/>
              <a:ext cx="79609" cy="54937"/>
            </a:xfrm>
            <a:custGeom>
              <a:avLst/>
              <a:gdLst>
                <a:gd name="csX0" fmla="*/ 79885 w 79609"/>
                <a:gd name="csY0" fmla="*/ 4367 h 54937"/>
                <a:gd name="csX1" fmla="*/ 75937 w 79609"/>
                <a:gd name="csY1" fmla="*/ 91 h 54937"/>
                <a:gd name="csX2" fmla="*/ 71825 w 79609"/>
                <a:gd name="csY2" fmla="*/ 1406 h 54937"/>
                <a:gd name="csX3" fmla="*/ 2249 w 79609"/>
                <a:gd name="csY3" fmla="*/ 35290 h 54937"/>
                <a:gd name="csX4" fmla="*/ 275 w 79609"/>
                <a:gd name="csY4" fmla="*/ 39895 h 54937"/>
                <a:gd name="csX5" fmla="*/ 275 w 79609"/>
                <a:gd name="csY5" fmla="*/ 50422 h 54937"/>
                <a:gd name="csX6" fmla="*/ 3729 w 79609"/>
                <a:gd name="csY6" fmla="*/ 55028 h 54937"/>
                <a:gd name="csX7" fmla="*/ 79885 w 79609"/>
                <a:gd name="csY7" fmla="*/ 6999 h 54937"/>
                <a:gd name="csX8" fmla="*/ 79885 w 79609"/>
                <a:gd name="csY8" fmla="*/ 4367 h 54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9609" h="54937">
                  <a:moveTo>
                    <a:pt x="79885" y="4367"/>
                  </a:moveTo>
                  <a:cubicBezTo>
                    <a:pt x="79885" y="255"/>
                    <a:pt x="79720" y="91"/>
                    <a:pt x="75937" y="91"/>
                  </a:cubicBezTo>
                  <a:cubicBezTo>
                    <a:pt x="72812" y="91"/>
                    <a:pt x="72648" y="255"/>
                    <a:pt x="71825" y="1406"/>
                  </a:cubicBezTo>
                  <a:cubicBezTo>
                    <a:pt x="58338" y="22954"/>
                    <a:pt x="35639" y="34632"/>
                    <a:pt x="2249" y="35290"/>
                  </a:cubicBezTo>
                  <a:cubicBezTo>
                    <a:pt x="275" y="35290"/>
                    <a:pt x="275" y="36441"/>
                    <a:pt x="275" y="39895"/>
                  </a:cubicBezTo>
                  <a:lnTo>
                    <a:pt x="275" y="50422"/>
                  </a:lnTo>
                  <a:cubicBezTo>
                    <a:pt x="275" y="54863"/>
                    <a:pt x="275" y="55028"/>
                    <a:pt x="3729" y="55028"/>
                  </a:cubicBezTo>
                  <a:cubicBezTo>
                    <a:pt x="20506" y="55028"/>
                    <a:pt x="57515" y="47133"/>
                    <a:pt x="79885" y="6999"/>
                  </a:cubicBezTo>
                  <a:lnTo>
                    <a:pt x="79885" y="4367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75" name="任意形状 74">
              <a:extLst>
                <a:ext uri="{FF2B5EF4-FFF2-40B4-BE49-F238E27FC236}">
                  <a16:creationId xmlns:a16="http://schemas.microsoft.com/office/drawing/2014/main" id="{065E25FF-D911-6329-915A-A6F09530051B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6899281" y="4140589"/>
              <a:ext cx="66665" cy="50775"/>
            </a:xfrm>
            <a:custGeom>
              <a:avLst/>
              <a:gdLst>
                <a:gd name="csX0" fmla="*/ 60826 w 66665"/>
                <a:gd name="csY0" fmla="*/ 7929 h 50775"/>
                <a:gd name="csX1" fmla="*/ 65086 w 66665"/>
                <a:gd name="csY1" fmla="*/ 7008 h 50775"/>
                <a:gd name="csX2" fmla="*/ 66929 w 66665"/>
                <a:gd name="csY2" fmla="*/ 3324 h 50775"/>
                <a:gd name="csX3" fmla="*/ 61978 w 66665"/>
                <a:gd name="csY3" fmla="*/ 100 h 50775"/>
                <a:gd name="csX4" fmla="*/ 32502 w 66665"/>
                <a:gd name="csY4" fmla="*/ 100 h 50775"/>
                <a:gd name="csX5" fmla="*/ 264 w 66665"/>
                <a:gd name="csY5" fmla="*/ 32108 h 50775"/>
                <a:gd name="csX6" fmla="*/ 19952 w 66665"/>
                <a:gd name="csY6" fmla="*/ 50876 h 50775"/>
                <a:gd name="csX7" fmla="*/ 51040 w 66665"/>
                <a:gd name="csY7" fmla="*/ 20134 h 50775"/>
                <a:gd name="csX8" fmla="*/ 47585 w 66665"/>
                <a:gd name="csY8" fmla="*/ 7929 h 50775"/>
                <a:gd name="csX9" fmla="*/ 60826 w 66665"/>
                <a:gd name="csY9" fmla="*/ 7929 h 50775"/>
                <a:gd name="csX10" fmla="*/ 20067 w 66665"/>
                <a:gd name="csY10" fmla="*/ 47652 h 50775"/>
                <a:gd name="csX11" fmla="*/ 8669 w 66665"/>
                <a:gd name="csY11" fmla="*/ 35332 h 50775"/>
                <a:gd name="csX12" fmla="*/ 30545 w 66665"/>
                <a:gd name="csY12" fmla="*/ 7929 h 50775"/>
                <a:gd name="csX13" fmla="*/ 42404 w 66665"/>
                <a:gd name="csY13" fmla="*/ 18867 h 50775"/>
                <a:gd name="csX14" fmla="*/ 35726 w 66665"/>
                <a:gd name="csY14" fmla="*/ 39017 h 50775"/>
                <a:gd name="csX15" fmla="*/ 20067 w 66665"/>
                <a:gd name="csY15" fmla="*/ 47652 h 50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66665" h="50775">
                  <a:moveTo>
                    <a:pt x="60826" y="7929"/>
                  </a:moveTo>
                  <a:cubicBezTo>
                    <a:pt x="62784" y="7929"/>
                    <a:pt x="63820" y="7929"/>
                    <a:pt x="65086" y="7008"/>
                  </a:cubicBezTo>
                  <a:cubicBezTo>
                    <a:pt x="66583" y="5742"/>
                    <a:pt x="66929" y="4130"/>
                    <a:pt x="66929" y="3324"/>
                  </a:cubicBezTo>
                  <a:cubicBezTo>
                    <a:pt x="66929" y="100"/>
                    <a:pt x="63935" y="100"/>
                    <a:pt x="61978" y="100"/>
                  </a:cubicBezTo>
                  <a:lnTo>
                    <a:pt x="32502" y="100"/>
                  </a:lnTo>
                  <a:cubicBezTo>
                    <a:pt x="14080" y="100"/>
                    <a:pt x="264" y="18292"/>
                    <a:pt x="264" y="32108"/>
                  </a:cubicBezTo>
                  <a:cubicBezTo>
                    <a:pt x="264" y="42816"/>
                    <a:pt x="8208" y="50876"/>
                    <a:pt x="19952" y="50876"/>
                  </a:cubicBezTo>
                  <a:cubicBezTo>
                    <a:pt x="34460" y="50876"/>
                    <a:pt x="51040" y="37750"/>
                    <a:pt x="51040" y="20134"/>
                  </a:cubicBezTo>
                  <a:cubicBezTo>
                    <a:pt x="51040" y="18292"/>
                    <a:pt x="51040" y="13111"/>
                    <a:pt x="47585" y="7929"/>
                  </a:cubicBezTo>
                  <a:lnTo>
                    <a:pt x="60826" y="7929"/>
                  </a:lnTo>
                  <a:close/>
                  <a:moveTo>
                    <a:pt x="20067" y="47652"/>
                  </a:moveTo>
                  <a:cubicBezTo>
                    <a:pt x="13850" y="47652"/>
                    <a:pt x="8669" y="43507"/>
                    <a:pt x="8669" y="35332"/>
                  </a:cubicBezTo>
                  <a:cubicBezTo>
                    <a:pt x="8669" y="31878"/>
                    <a:pt x="10741" y="7929"/>
                    <a:pt x="30545" y="7929"/>
                  </a:cubicBezTo>
                  <a:cubicBezTo>
                    <a:pt x="36417" y="7929"/>
                    <a:pt x="42404" y="10117"/>
                    <a:pt x="42404" y="18867"/>
                  </a:cubicBezTo>
                  <a:cubicBezTo>
                    <a:pt x="42404" y="20940"/>
                    <a:pt x="41368" y="31302"/>
                    <a:pt x="35726" y="39017"/>
                  </a:cubicBezTo>
                  <a:cubicBezTo>
                    <a:pt x="30890" y="45349"/>
                    <a:pt x="24443" y="47652"/>
                    <a:pt x="20067" y="47652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76" name="任意形状 75">
              <a:extLst>
                <a:ext uri="{FF2B5EF4-FFF2-40B4-BE49-F238E27FC236}">
                  <a16:creationId xmlns:a16="http://schemas.microsoft.com/office/drawing/2014/main" id="{2C2ECFB6-FDEF-0171-D3D9-F58F49AA25F5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6980488" y="4111344"/>
              <a:ext cx="22780" cy="42847"/>
            </a:xfrm>
            <a:custGeom>
              <a:avLst/>
              <a:gdLst>
                <a:gd name="csX0" fmla="*/ 22227 w 22780"/>
                <a:gd name="csY0" fmla="*/ 7829 h 42847"/>
                <a:gd name="csX1" fmla="*/ 23049 w 22780"/>
                <a:gd name="csY1" fmla="*/ 4950 h 42847"/>
                <a:gd name="csX2" fmla="*/ 17950 w 22780"/>
                <a:gd name="csY2" fmla="*/ 98 h 42847"/>
                <a:gd name="csX3" fmla="*/ 13263 w 22780"/>
                <a:gd name="csY3" fmla="*/ 3881 h 42847"/>
                <a:gd name="csX4" fmla="*/ 597 w 22780"/>
                <a:gd name="csY4" fmla="*/ 39492 h 42847"/>
                <a:gd name="csX5" fmla="*/ 268 w 22780"/>
                <a:gd name="csY5" fmla="*/ 40808 h 42847"/>
                <a:gd name="csX6" fmla="*/ 3805 w 22780"/>
                <a:gd name="csY6" fmla="*/ 42946 h 42847"/>
                <a:gd name="csX7" fmla="*/ 5203 w 22780"/>
                <a:gd name="csY7" fmla="*/ 41548 h 42847"/>
                <a:gd name="csX8" fmla="*/ 22227 w 22780"/>
                <a:gd name="csY8" fmla="*/ 7829 h 428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2780" h="42847">
                  <a:moveTo>
                    <a:pt x="22227" y="7829"/>
                  </a:moveTo>
                  <a:cubicBezTo>
                    <a:pt x="22309" y="7746"/>
                    <a:pt x="23049" y="6184"/>
                    <a:pt x="23049" y="4950"/>
                  </a:cubicBezTo>
                  <a:cubicBezTo>
                    <a:pt x="23049" y="1990"/>
                    <a:pt x="20418" y="98"/>
                    <a:pt x="17950" y="98"/>
                  </a:cubicBezTo>
                  <a:cubicBezTo>
                    <a:pt x="14579" y="98"/>
                    <a:pt x="13674" y="2647"/>
                    <a:pt x="13263" y="3881"/>
                  </a:cubicBezTo>
                  <a:lnTo>
                    <a:pt x="597" y="39492"/>
                  </a:lnTo>
                  <a:cubicBezTo>
                    <a:pt x="268" y="40479"/>
                    <a:pt x="268" y="40725"/>
                    <a:pt x="268" y="40808"/>
                  </a:cubicBezTo>
                  <a:cubicBezTo>
                    <a:pt x="268" y="42123"/>
                    <a:pt x="3723" y="42946"/>
                    <a:pt x="3805" y="42946"/>
                  </a:cubicBezTo>
                  <a:cubicBezTo>
                    <a:pt x="4545" y="42946"/>
                    <a:pt x="4710" y="42535"/>
                    <a:pt x="5203" y="41548"/>
                  </a:cubicBezTo>
                  <a:lnTo>
                    <a:pt x="22227" y="7829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77" name="任意形状 76">
              <a:extLst>
                <a:ext uri="{FF2B5EF4-FFF2-40B4-BE49-F238E27FC236}">
                  <a16:creationId xmlns:a16="http://schemas.microsoft.com/office/drawing/2014/main" id="{45B685DE-2828-118D-DC29-ED82DE83D8F0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7196204" y="3800171"/>
              <a:ext cx="17435" cy="17435"/>
            </a:xfrm>
            <a:custGeom>
              <a:avLst/>
              <a:gdLst>
                <a:gd name="csX0" fmla="*/ 17716 w 17435"/>
                <a:gd name="csY0" fmla="*/ 8797 h 17435"/>
                <a:gd name="csX1" fmla="*/ 8999 w 17435"/>
                <a:gd name="csY1" fmla="*/ 79 h 17435"/>
                <a:gd name="csX2" fmla="*/ 281 w 17435"/>
                <a:gd name="csY2" fmla="*/ 8797 h 17435"/>
                <a:gd name="csX3" fmla="*/ 8999 w 17435"/>
                <a:gd name="csY3" fmla="*/ 17515 h 17435"/>
                <a:gd name="csX4" fmla="*/ 17716 w 17435"/>
                <a:gd name="csY4" fmla="*/ 8797 h 174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435" h="17435">
                  <a:moveTo>
                    <a:pt x="17716" y="8797"/>
                  </a:moveTo>
                  <a:cubicBezTo>
                    <a:pt x="17716" y="4027"/>
                    <a:pt x="13769" y="79"/>
                    <a:pt x="8999" y="79"/>
                  </a:cubicBezTo>
                  <a:cubicBezTo>
                    <a:pt x="4229" y="79"/>
                    <a:pt x="281" y="4027"/>
                    <a:pt x="281" y="8797"/>
                  </a:cubicBezTo>
                  <a:cubicBezTo>
                    <a:pt x="281" y="13567"/>
                    <a:pt x="4229" y="17515"/>
                    <a:pt x="8999" y="17515"/>
                  </a:cubicBezTo>
                  <a:cubicBezTo>
                    <a:pt x="13769" y="17515"/>
                    <a:pt x="17716" y="13567"/>
                    <a:pt x="17716" y="8797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78" name="任意形状 77">
              <a:extLst>
                <a:ext uri="{FF2B5EF4-FFF2-40B4-BE49-F238E27FC236}">
                  <a16:creationId xmlns:a16="http://schemas.microsoft.com/office/drawing/2014/main" id="{B702B9D7-9974-D0FC-6761-0B44E79D8032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7328711" y="3620965"/>
              <a:ext cx="86518" cy="121388"/>
            </a:xfrm>
            <a:custGeom>
              <a:avLst/>
              <a:gdLst>
                <a:gd name="csX0" fmla="*/ 69866 w 86518"/>
                <a:gd name="csY0" fmla="*/ 62083 h 121388"/>
                <a:gd name="csX1" fmla="*/ 48648 w 86518"/>
                <a:gd name="csY1" fmla="*/ 42674 h 121388"/>
                <a:gd name="csX2" fmla="*/ 15093 w 86518"/>
                <a:gd name="csY2" fmla="*/ 58135 h 121388"/>
                <a:gd name="csX3" fmla="*/ 290 w 86518"/>
                <a:gd name="csY3" fmla="*/ 92183 h 121388"/>
                <a:gd name="csX4" fmla="*/ 30555 w 86518"/>
                <a:gd name="csY4" fmla="*/ 121461 h 121388"/>
                <a:gd name="csX5" fmla="*/ 86808 w 86518"/>
                <a:gd name="csY5" fmla="*/ 42674 h 121388"/>
                <a:gd name="csX6" fmla="*/ 51279 w 86518"/>
                <a:gd name="csY6" fmla="*/ 73 h 121388"/>
                <a:gd name="csX7" fmla="*/ 19863 w 86518"/>
                <a:gd name="csY7" fmla="*/ 26061 h 121388"/>
                <a:gd name="csX8" fmla="*/ 26114 w 86518"/>
                <a:gd name="csY8" fmla="*/ 31818 h 121388"/>
                <a:gd name="csX9" fmla="*/ 34996 w 86518"/>
                <a:gd name="csY9" fmla="*/ 23100 h 121388"/>
                <a:gd name="csX10" fmla="*/ 27265 w 86518"/>
                <a:gd name="csY10" fmla="*/ 17343 h 121388"/>
                <a:gd name="csX11" fmla="*/ 50950 w 86518"/>
                <a:gd name="csY11" fmla="*/ 4185 h 121388"/>
                <a:gd name="csX12" fmla="*/ 74472 w 86518"/>
                <a:gd name="csY12" fmla="*/ 33956 h 121388"/>
                <a:gd name="csX13" fmla="*/ 70031 w 86518"/>
                <a:gd name="csY13" fmla="*/ 62083 h 121388"/>
                <a:gd name="csX14" fmla="*/ 69866 w 86518"/>
                <a:gd name="csY14" fmla="*/ 62083 h 121388"/>
                <a:gd name="csX15" fmla="*/ 31048 w 86518"/>
                <a:gd name="csY15" fmla="*/ 116856 h 121388"/>
                <a:gd name="csX16" fmla="*/ 12955 w 86518"/>
                <a:gd name="csY16" fmla="*/ 98269 h 121388"/>
                <a:gd name="csX17" fmla="*/ 23811 w 86518"/>
                <a:gd name="csY17" fmla="*/ 60931 h 121388"/>
                <a:gd name="csX18" fmla="*/ 48648 w 86518"/>
                <a:gd name="csY18" fmla="*/ 46292 h 121388"/>
                <a:gd name="csX19" fmla="*/ 66905 w 86518"/>
                <a:gd name="csY19" fmla="*/ 68004 h 121388"/>
                <a:gd name="csX20" fmla="*/ 31048 w 86518"/>
                <a:gd name="csY20" fmla="*/ 116856 h 1213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86518" h="121388">
                  <a:moveTo>
                    <a:pt x="69866" y="62083"/>
                  </a:moveTo>
                  <a:cubicBezTo>
                    <a:pt x="68221" y="51885"/>
                    <a:pt x="61477" y="42674"/>
                    <a:pt x="48648" y="42674"/>
                  </a:cubicBezTo>
                  <a:cubicBezTo>
                    <a:pt x="38614" y="42674"/>
                    <a:pt x="27923" y="45305"/>
                    <a:pt x="15093" y="58135"/>
                  </a:cubicBezTo>
                  <a:cubicBezTo>
                    <a:pt x="1441" y="71787"/>
                    <a:pt x="290" y="87084"/>
                    <a:pt x="290" y="92183"/>
                  </a:cubicBezTo>
                  <a:cubicBezTo>
                    <a:pt x="290" y="102381"/>
                    <a:pt x="7527" y="121461"/>
                    <a:pt x="30555" y="121461"/>
                  </a:cubicBezTo>
                  <a:cubicBezTo>
                    <a:pt x="69702" y="121461"/>
                    <a:pt x="86808" y="66195"/>
                    <a:pt x="86808" y="42674"/>
                  </a:cubicBezTo>
                  <a:cubicBezTo>
                    <a:pt x="86808" y="16521"/>
                    <a:pt x="71511" y="73"/>
                    <a:pt x="51279" y="73"/>
                  </a:cubicBezTo>
                  <a:cubicBezTo>
                    <a:pt x="27429" y="73"/>
                    <a:pt x="19863" y="21455"/>
                    <a:pt x="19863" y="26061"/>
                  </a:cubicBezTo>
                  <a:cubicBezTo>
                    <a:pt x="19863" y="28364"/>
                    <a:pt x="21179" y="31818"/>
                    <a:pt x="26114" y="31818"/>
                  </a:cubicBezTo>
                  <a:cubicBezTo>
                    <a:pt x="31541" y="31818"/>
                    <a:pt x="34996" y="26883"/>
                    <a:pt x="34996" y="23100"/>
                  </a:cubicBezTo>
                  <a:cubicBezTo>
                    <a:pt x="34996" y="17343"/>
                    <a:pt x="29897" y="17343"/>
                    <a:pt x="27265" y="17343"/>
                  </a:cubicBezTo>
                  <a:cubicBezTo>
                    <a:pt x="34502" y="5172"/>
                    <a:pt x="46180" y="4185"/>
                    <a:pt x="50950" y="4185"/>
                  </a:cubicBezTo>
                  <a:cubicBezTo>
                    <a:pt x="62958" y="4185"/>
                    <a:pt x="74472" y="12738"/>
                    <a:pt x="74472" y="33956"/>
                  </a:cubicBezTo>
                  <a:cubicBezTo>
                    <a:pt x="74472" y="40371"/>
                    <a:pt x="73485" y="48760"/>
                    <a:pt x="70031" y="62083"/>
                  </a:cubicBezTo>
                  <a:lnTo>
                    <a:pt x="69866" y="62083"/>
                  </a:lnTo>
                  <a:close/>
                  <a:moveTo>
                    <a:pt x="31048" y="116856"/>
                  </a:moveTo>
                  <a:cubicBezTo>
                    <a:pt x="12955" y="116856"/>
                    <a:pt x="12955" y="99914"/>
                    <a:pt x="12955" y="98269"/>
                  </a:cubicBezTo>
                  <a:cubicBezTo>
                    <a:pt x="12955" y="93828"/>
                    <a:pt x="17067" y="70800"/>
                    <a:pt x="23811" y="60931"/>
                  </a:cubicBezTo>
                  <a:cubicBezTo>
                    <a:pt x="30390" y="51556"/>
                    <a:pt x="38450" y="46292"/>
                    <a:pt x="48648" y="46292"/>
                  </a:cubicBezTo>
                  <a:cubicBezTo>
                    <a:pt x="66576" y="46292"/>
                    <a:pt x="66905" y="64714"/>
                    <a:pt x="66905" y="68004"/>
                  </a:cubicBezTo>
                  <a:cubicBezTo>
                    <a:pt x="66905" y="79847"/>
                    <a:pt x="56378" y="116856"/>
                    <a:pt x="31048" y="116856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79" name="任意形状 78">
              <a:extLst>
                <a:ext uri="{FF2B5EF4-FFF2-40B4-BE49-F238E27FC236}">
                  <a16:creationId xmlns:a16="http://schemas.microsoft.com/office/drawing/2014/main" id="{21C7FEED-2D89-E9E5-676B-8F75571CCC62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7425667" y="3666034"/>
              <a:ext cx="69740" cy="74510"/>
            </a:xfrm>
            <a:custGeom>
              <a:avLst/>
              <a:gdLst>
                <a:gd name="csX0" fmla="*/ 15099 w 69740"/>
                <a:gd name="csY0" fmla="*/ 59122 h 74510"/>
                <a:gd name="csX1" fmla="*/ 34672 w 69740"/>
                <a:gd name="csY1" fmla="*/ 40371 h 74510"/>
                <a:gd name="csX2" fmla="*/ 50792 w 69740"/>
                <a:gd name="csY2" fmla="*/ 25568 h 74510"/>
                <a:gd name="csX3" fmla="*/ 70036 w 69740"/>
                <a:gd name="csY3" fmla="*/ 1717 h 74510"/>
                <a:gd name="csX4" fmla="*/ 68227 w 69740"/>
                <a:gd name="csY4" fmla="*/ 73 h 74510"/>
                <a:gd name="csX5" fmla="*/ 65760 w 69740"/>
                <a:gd name="csY5" fmla="*/ 1882 h 74510"/>
                <a:gd name="csX6" fmla="*/ 53424 w 69740"/>
                <a:gd name="csY6" fmla="*/ 12409 h 74510"/>
                <a:gd name="csX7" fmla="*/ 45035 w 69740"/>
                <a:gd name="csY7" fmla="*/ 7145 h 74510"/>
                <a:gd name="csX8" fmla="*/ 33686 w 69740"/>
                <a:gd name="csY8" fmla="*/ 73 h 74510"/>
                <a:gd name="csX9" fmla="*/ 13783 w 69740"/>
                <a:gd name="csY9" fmla="*/ 18824 h 74510"/>
                <a:gd name="csX10" fmla="*/ 15757 w 69740"/>
                <a:gd name="csY10" fmla="*/ 20633 h 74510"/>
                <a:gd name="csX11" fmla="*/ 17895 w 69740"/>
                <a:gd name="csY11" fmla="*/ 18824 h 74510"/>
                <a:gd name="csX12" fmla="*/ 31876 w 69740"/>
                <a:gd name="csY12" fmla="*/ 11093 h 74510"/>
                <a:gd name="csX13" fmla="*/ 42239 w 69740"/>
                <a:gd name="csY13" fmla="*/ 13560 h 74510"/>
                <a:gd name="csX14" fmla="*/ 54904 w 69740"/>
                <a:gd name="csY14" fmla="*/ 16027 h 74510"/>
                <a:gd name="csX15" fmla="*/ 32041 w 69740"/>
                <a:gd name="csY15" fmla="*/ 37575 h 74510"/>
                <a:gd name="csX16" fmla="*/ 17237 w 69740"/>
                <a:gd name="csY16" fmla="*/ 51391 h 74510"/>
                <a:gd name="csX17" fmla="*/ 295 w 69740"/>
                <a:gd name="csY17" fmla="*/ 72939 h 74510"/>
                <a:gd name="csX18" fmla="*/ 2269 w 69740"/>
                <a:gd name="csY18" fmla="*/ 74583 h 74510"/>
                <a:gd name="csX19" fmla="*/ 4901 w 69740"/>
                <a:gd name="csY19" fmla="*/ 72445 h 74510"/>
                <a:gd name="csX20" fmla="*/ 18882 w 69740"/>
                <a:gd name="csY20" fmla="*/ 62247 h 74510"/>
                <a:gd name="csX21" fmla="*/ 28422 w 69740"/>
                <a:gd name="csY21" fmla="*/ 68498 h 74510"/>
                <a:gd name="csX22" fmla="*/ 38949 w 69740"/>
                <a:gd name="csY22" fmla="*/ 74583 h 74510"/>
                <a:gd name="csX23" fmla="*/ 64773 w 69740"/>
                <a:gd name="csY23" fmla="*/ 49253 h 74510"/>
                <a:gd name="csX24" fmla="*/ 62799 w 69740"/>
                <a:gd name="csY24" fmla="*/ 47608 h 74510"/>
                <a:gd name="csX25" fmla="*/ 60496 w 69740"/>
                <a:gd name="csY25" fmla="*/ 49747 h 74510"/>
                <a:gd name="csX26" fmla="*/ 40758 w 69740"/>
                <a:gd name="csY26" fmla="*/ 63563 h 74510"/>
                <a:gd name="csX27" fmla="*/ 31054 w 69740"/>
                <a:gd name="csY27" fmla="*/ 61425 h 74510"/>
                <a:gd name="csX28" fmla="*/ 19540 w 69740"/>
                <a:gd name="csY28" fmla="*/ 58629 h 74510"/>
                <a:gd name="csX29" fmla="*/ 15099 w 69740"/>
                <a:gd name="csY29" fmla="*/ 59122 h 74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69740" h="74510">
                  <a:moveTo>
                    <a:pt x="15099" y="59122"/>
                  </a:moveTo>
                  <a:cubicBezTo>
                    <a:pt x="23981" y="49582"/>
                    <a:pt x="28751" y="45470"/>
                    <a:pt x="34672" y="40371"/>
                  </a:cubicBezTo>
                  <a:cubicBezTo>
                    <a:pt x="34672" y="40207"/>
                    <a:pt x="44870" y="31489"/>
                    <a:pt x="50792" y="25568"/>
                  </a:cubicBezTo>
                  <a:cubicBezTo>
                    <a:pt x="66418" y="10271"/>
                    <a:pt x="70036" y="2375"/>
                    <a:pt x="70036" y="1717"/>
                  </a:cubicBezTo>
                  <a:cubicBezTo>
                    <a:pt x="70036" y="73"/>
                    <a:pt x="68556" y="73"/>
                    <a:pt x="68227" y="73"/>
                  </a:cubicBezTo>
                  <a:cubicBezTo>
                    <a:pt x="67076" y="73"/>
                    <a:pt x="66582" y="402"/>
                    <a:pt x="65760" y="1882"/>
                  </a:cubicBezTo>
                  <a:cubicBezTo>
                    <a:pt x="60825" y="9777"/>
                    <a:pt x="57371" y="12409"/>
                    <a:pt x="53424" y="12409"/>
                  </a:cubicBezTo>
                  <a:cubicBezTo>
                    <a:pt x="49476" y="12409"/>
                    <a:pt x="47502" y="9942"/>
                    <a:pt x="45035" y="7145"/>
                  </a:cubicBezTo>
                  <a:cubicBezTo>
                    <a:pt x="41910" y="3362"/>
                    <a:pt x="39114" y="73"/>
                    <a:pt x="33686" y="73"/>
                  </a:cubicBezTo>
                  <a:cubicBezTo>
                    <a:pt x="21349" y="73"/>
                    <a:pt x="13783" y="15370"/>
                    <a:pt x="13783" y="18824"/>
                  </a:cubicBezTo>
                  <a:cubicBezTo>
                    <a:pt x="13783" y="19646"/>
                    <a:pt x="14277" y="20633"/>
                    <a:pt x="15757" y="20633"/>
                  </a:cubicBezTo>
                  <a:cubicBezTo>
                    <a:pt x="17237" y="20633"/>
                    <a:pt x="17566" y="19811"/>
                    <a:pt x="17895" y="18824"/>
                  </a:cubicBezTo>
                  <a:cubicBezTo>
                    <a:pt x="21020" y="11257"/>
                    <a:pt x="30560" y="11093"/>
                    <a:pt x="31876" y="11093"/>
                  </a:cubicBezTo>
                  <a:cubicBezTo>
                    <a:pt x="35330" y="11093"/>
                    <a:pt x="38456" y="12244"/>
                    <a:pt x="42239" y="13560"/>
                  </a:cubicBezTo>
                  <a:cubicBezTo>
                    <a:pt x="48818" y="16027"/>
                    <a:pt x="50627" y="16027"/>
                    <a:pt x="54904" y="16027"/>
                  </a:cubicBezTo>
                  <a:cubicBezTo>
                    <a:pt x="48983" y="23100"/>
                    <a:pt x="35166" y="34943"/>
                    <a:pt x="32041" y="37575"/>
                  </a:cubicBezTo>
                  <a:lnTo>
                    <a:pt x="17237" y="51391"/>
                  </a:lnTo>
                  <a:cubicBezTo>
                    <a:pt x="6052" y="62412"/>
                    <a:pt x="295" y="71787"/>
                    <a:pt x="295" y="72939"/>
                  </a:cubicBezTo>
                  <a:cubicBezTo>
                    <a:pt x="295" y="74583"/>
                    <a:pt x="1940" y="74583"/>
                    <a:pt x="2269" y="74583"/>
                  </a:cubicBezTo>
                  <a:cubicBezTo>
                    <a:pt x="3585" y="74583"/>
                    <a:pt x="3914" y="74255"/>
                    <a:pt x="4901" y="72445"/>
                  </a:cubicBezTo>
                  <a:cubicBezTo>
                    <a:pt x="8684" y="66688"/>
                    <a:pt x="13619" y="62247"/>
                    <a:pt x="18882" y="62247"/>
                  </a:cubicBezTo>
                  <a:cubicBezTo>
                    <a:pt x="22665" y="62247"/>
                    <a:pt x="24310" y="63728"/>
                    <a:pt x="28422" y="68498"/>
                  </a:cubicBezTo>
                  <a:cubicBezTo>
                    <a:pt x="31218" y="71952"/>
                    <a:pt x="34179" y="74583"/>
                    <a:pt x="38949" y="74583"/>
                  </a:cubicBezTo>
                  <a:cubicBezTo>
                    <a:pt x="55233" y="74583"/>
                    <a:pt x="64773" y="53694"/>
                    <a:pt x="64773" y="49253"/>
                  </a:cubicBezTo>
                  <a:cubicBezTo>
                    <a:pt x="64773" y="48431"/>
                    <a:pt x="64115" y="47608"/>
                    <a:pt x="62799" y="47608"/>
                  </a:cubicBezTo>
                  <a:cubicBezTo>
                    <a:pt x="61319" y="47608"/>
                    <a:pt x="60990" y="48595"/>
                    <a:pt x="60496" y="49747"/>
                  </a:cubicBezTo>
                  <a:cubicBezTo>
                    <a:pt x="56713" y="60438"/>
                    <a:pt x="46186" y="63563"/>
                    <a:pt x="40758" y="63563"/>
                  </a:cubicBezTo>
                  <a:cubicBezTo>
                    <a:pt x="37469" y="63563"/>
                    <a:pt x="34508" y="62576"/>
                    <a:pt x="31054" y="61425"/>
                  </a:cubicBezTo>
                  <a:cubicBezTo>
                    <a:pt x="25461" y="59287"/>
                    <a:pt x="22994" y="58629"/>
                    <a:pt x="19540" y="58629"/>
                  </a:cubicBezTo>
                  <a:cubicBezTo>
                    <a:pt x="19211" y="58629"/>
                    <a:pt x="16579" y="58629"/>
                    <a:pt x="15099" y="59122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80" name="任意形状 79">
              <a:extLst>
                <a:ext uri="{FF2B5EF4-FFF2-40B4-BE49-F238E27FC236}">
                  <a16:creationId xmlns:a16="http://schemas.microsoft.com/office/drawing/2014/main" id="{185B583D-835E-65ED-581B-BA57C017DF80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7515562" y="3592692"/>
              <a:ext cx="29935" cy="115023"/>
            </a:xfrm>
            <a:custGeom>
              <a:avLst/>
              <a:gdLst>
                <a:gd name="csX0" fmla="*/ 27934 w 29935"/>
                <a:gd name="csY0" fmla="*/ 69 h 115023"/>
                <a:gd name="csX1" fmla="*/ 301 w 29935"/>
                <a:gd name="csY1" fmla="*/ 57523 h 115023"/>
                <a:gd name="csX2" fmla="*/ 27934 w 29935"/>
                <a:gd name="csY2" fmla="*/ 115092 h 115023"/>
                <a:gd name="csX3" fmla="*/ 30236 w 29935"/>
                <a:gd name="csY3" fmla="*/ 113710 h 115023"/>
                <a:gd name="csX4" fmla="*/ 29085 w 29935"/>
                <a:gd name="csY4" fmla="*/ 111983 h 115023"/>
                <a:gd name="csX5" fmla="*/ 8130 w 29935"/>
                <a:gd name="csY5" fmla="*/ 57638 h 115023"/>
                <a:gd name="csX6" fmla="*/ 29431 w 29935"/>
                <a:gd name="csY6" fmla="*/ 2832 h 115023"/>
                <a:gd name="csX7" fmla="*/ 30236 w 29935"/>
                <a:gd name="csY7" fmla="*/ 1451 h 115023"/>
                <a:gd name="csX8" fmla="*/ 27934 w 29935"/>
                <a:gd name="csY8" fmla="*/ 69 h 115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935" h="115023">
                  <a:moveTo>
                    <a:pt x="27934" y="69"/>
                  </a:moveTo>
                  <a:cubicBezTo>
                    <a:pt x="6057" y="15498"/>
                    <a:pt x="301" y="39907"/>
                    <a:pt x="301" y="57523"/>
                  </a:cubicBezTo>
                  <a:cubicBezTo>
                    <a:pt x="301" y="73757"/>
                    <a:pt x="5136" y="98973"/>
                    <a:pt x="27934" y="115092"/>
                  </a:cubicBezTo>
                  <a:cubicBezTo>
                    <a:pt x="28855" y="115092"/>
                    <a:pt x="30236" y="115092"/>
                    <a:pt x="30236" y="113710"/>
                  </a:cubicBezTo>
                  <a:cubicBezTo>
                    <a:pt x="30236" y="113020"/>
                    <a:pt x="29891" y="112789"/>
                    <a:pt x="29085" y="111983"/>
                  </a:cubicBezTo>
                  <a:cubicBezTo>
                    <a:pt x="13772" y="98167"/>
                    <a:pt x="8130" y="78593"/>
                    <a:pt x="8130" y="57638"/>
                  </a:cubicBezTo>
                  <a:cubicBezTo>
                    <a:pt x="8130" y="26551"/>
                    <a:pt x="19989" y="11353"/>
                    <a:pt x="29431" y="2832"/>
                  </a:cubicBezTo>
                  <a:cubicBezTo>
                    <a:pt x="29891" y="2372"/>
                    <a:pt x="30236" y="2026"/>
                    <a:pt x="30236" y="1451"/>
                  </a:cubicBezTo>
                  <a:cubicBezTo>
                    <a:pt x="30236" y="69"/>
                    <a:pt x="28855" y="69"/>
                    <a:pt x="27934" y="69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81" name="任意形状 80">
              <a:extLst>
                <a:ext uri="{FF2B5EF4-FFF2-40B4-BE49-F238E27FC236}">
                  <a16:creationId xmlns:a16="http://schemas.microsoft.com/office/drawing/2014/main" id="{96BE52B9-438D-74A8-28EF-1E73B406DBA7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7566272" y="3602594"/>
              <a:ext cx="41910" cy="76451"/>
            </a:xfrm>
            <a:custGeom>
              <a:avLst/>
              <a:gdLst>
                <a:gd name="csX0" fmla="*/ 26325 w 41910"/>
                <a:gd name="csY0" fmla="*/ 3293 h 76451"/>
                <a:gd name="csX1" fmla="*/ 22871 w 41910"/>
                <a:gd name="csY1" fmla="*/ 69 h 76451"/>
                <a:gd name="csX2" fmla="*/ 304 w 41910"/>
                <a:gd name="csY2" fmla="*/ 7438 h 76451"/>
                <a:gd name="csX3" fmla="*/ 304 w 41910"/>
                <a:gd name="csY3" fmla="*/ 11583 h 76451"/>
                <a:gd name="csX4" fmla="*/ 16999 w 41910"/>
                <a:gd name="csY4" fmla="*/ 8359 h 76451"/>
                <a:gd name="csX5" fmla="*/ 16999 w 41910"/>
                <a:gd name="csY5" fmla="*/ 67079 h 76451"/>
                <a:gd name="csX6" fmla="*/ 5485 w 41910"/>
                <a:gd name="csY6" fmla="*/ 72376 h 76451"/>
                <a:gd name="csX7" fmla="*/ 1110 w 41910"/>
                <a:gd name="csY7" fmla="*/ 72376 h 76451"/>
                <a:gd name="csX8" fmla="*/ 1110 w 41910"/>
                <a:gd name="csY8" fmla="*/ 76521 h 76451"/>
                <a:gd name="csX9" fmla="*/ 21604 w 41910"/>
                <a:gd name="csY9" fmla="*/ 76060 h 76451"/>
                <a:gd name="csX10" fmla="*/ 42214 w 41910"/>
                <a:gd name="csY10" fmla="*/ 76521 h 76451"/>
                <a:gd name="csX11" fmla="*/ 42214 w 41910"/>
                <a:gd name="csY11" fmla="*/ 72376 h 76451"/>
                <a:gd name="csX12" fmla="*/ 37839 w 41910"/>
                <a:gd name="csY12" fmla="*/ 72376 h 76451"/>
                <a:gd name="csX13" fmla="*/ 26325 w 41910"/>
                <a:gd name="csY13" fmla="*/ 67079 h 76451"/>
                <a:gd name="csX14" fmla="*/ 26325 w 41910"/>
                <a:gd name="csY14" fmla="*/ 3293 h 764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1910" h="76451">
                  <a:moveTo>
                    <a:pt x="26325" y="3293"/>
                  </a:moveTo>
                  <a:cubicBezTo>
                    <a:pt x="26325" y="184"/>
                    <a:pt x="26095" y="69"/>
                    <a:pt x="22871" y="69"/>
                  </a:cubicBezTo>
                  <a:cubicBezTo>
                    <a:pt x="15502" y="7323"/>
                    <a:pt x="5024" y="7438"/>
                    <a:pt x="304" y="7438"/>
                  </a:cubicBezTo>
                  <a:lnTo>
                    <a:pt x="304" y="11583"/>
                  </a:lnTo>
                  <a:cubicBezTo>
                    <a:pt x="3067" y="11583"/>
                    <a:pt x="10666" y="11583"/>
                    <a:pt x="16999" y="8359"/>
                  </a:cubicBezTo>
                  <a:lnTo>
                    <a:pt x="16999" y="67079"/>
                  </a:lnTo>
                  <a:cubicBezTo>
                    <a:pt x="16999" y="70879"/>
                    <a:pt x="16999" y="72376"/>
                    <a:pt x="5485" y="72376"/>
                  </a:cubicBezTo>
                  <a:lnTo>
                    <a:pt x="1110" y="72376"/>
                  </a:lnTo>
                  <a:lnTo>
                    <a:pt x="1110" y="76521"/>
                  </a:lnTo>
                  <a:cubicBezTo>
                    <a:pt x="3182" y="76406"/>
                    <a:pt x="17344" y="76060"/>
                    <a:pt x="21604" y="76060"/>
                  </a:cubicBezTo>
                  <a:cubicBezTo>
                    <a:pt x="25174" y="76060"/>
                    <a:pt x="39681" y="76406"/>
                    <a:pt x="42214" y="76521"/>
                  </a:cubicBezTo>
                  <a:lnTo>
                    <a:pt x="42214" y="72376"/>
                  </a:lnTo>
                  <a:lnTo>
                    <a:pt x="37839" y="72376"/>
                  </a:lnTo>
                  <a:cubicBezTo>
                    <a:pt x="26325" y="72376"/>
                    <a:pt x="26325" y="70879"/>
                    <a:pt x="26325" y="67079"/>
                  </a:cubicBezTo>
                  <a:lnTo>
                    <a:pt x="26325" y="3293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82" name="任意形状 81">
              <a:extLst>
                <a:ext uri="{FF2B5EF4-FFF2-40B4-BE49-F238E27FC236}">
                  <a16:creationId xmlns:a16="http://schemas.microsoft.com/office/drawing/2014/main" id="{7903DD10-5C01-E245-2CE7-5F1050757D9D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7627462" y="3592692"/>
              <a:ext cx="29820" cy="115023"/>
            </a:xfrm>
            <a:custGeom>
              <a:avLst/>
              <a:gdLst>
                <a:gd name="csX0" fmla="*/ 2495 w 29820"/>
                <a:gd name="csY0" fmla="*/ 69 h 115023"/>
                <a:gd name="csX1" fmla="*/ 308 w 29820"/>
                <a:gd name="csY1" fmla="*/ 1451 h 115023"/>
                <a:gd name="csX2" fmla="*/ 1344 w 29820"/>
                <a:gd name="csY2" fmla="*/ 3178 h 115023"/>
                <a:gd name="csX3" fmla="*/ 22299 w 29820"/>
                <a:gd name="csY3" fmla="*/ 57523 h 115023"/>
                <a:gd name="csX4" fmla="*/ 2380 w 29820"/>
                <a:gd name="csY4" fmla="*/ 111062 h 115023"/>
                <a:gd name="csX5" fmla="*/ 308 w 29820"/>
                <a:gd name="csY5" fmla="*/ 113710 h 115023"/>
                <a:gd name="csX6" fmla="*/ 1804 w 29820"/>
                <a:gd name="csY6" fmla="*/ 115092 h 115023"/>
                <a:gd name="csX7" fmla="*/ 21723 w 29820"/>
                <a:gd name="csY7" fmla="*/ 93101 h 115023"/>
                <a:gd name="csX8" fmla="*/ 30128 w 29820"/>
                <a:gd name="csY8" fmla="*/ 57638 h 115023"/>
                <a:gd name="csX9" fmla="*/ 2495 w 29820"/>
                <a:gd name="csY9" fmla="*/ 69 h 115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9820" h="115023">
                  <a:moveTo>
                    <a:pt x="2495" y="69"/>
                  </a:moveTo>
                  <a:cubicBezTo>
                    <a:pt x="1689" y="69"/>
                    <a:pt x="308" y="69"/>
                    <a:pt x="308" y="1451"/>
                  </a:cubicBezTo>
                  <a:cubicBezTo>
                    <a:pt x="308" y="2026"/>
                    <a:pt x="653" y="2372"/>
                    <a:pt x="1344" y="3178"/>
                  </a:cubicBezTo>
                  <a:cubicBezTo>
                    <a:pt x="11246" y="12274"/>
                    <a:pt x="22299" y="27817"/>
                    <a:pt x="22299" y="57523"/>
                  </a:cubicBezTo>
                  <a:cubicBezTo>
                    <a:pt x="22299" y="81587"/>
                    <a:pt x="14815" y="99779"/>
                    <a:pt x="2380" y="111062"/>
                  </a:cubicBezTo>
                  <a:cubicBezTo>
                    <a:pt x="423" y="113020"/>
                    <a:pt x="308" y="113135"/>
                    <a:pt x="308" y="113710"/>
                  </a:cubicBezTo>
                  <a:cubicBezTo>
                    <a:pt x="308" y="114286"/>
                    <a:pt x="653" y="115092"/>
                    <a:pt x="1804" y="115092"/>
                  </a:cubicBezTo>
                  <a:cubicBezTo>
                    <a:pt x="3186" y="115092"/>
                    <a:pt x="14124" y="107493"/>
                    <a:pt x="21723" y="93101"/>
                  </a:cubicBezTo>
                  <a:cubicBezTo>
                    <a:pt x="26789" y="83544"/>
                    <a:pt x="30128" y="71109"/>
                    <a:pt x="30128" y="57638"/>
                  </a:cubicBezTo>
                  <a:cubicBezTo>
                    <a:pt x="30128" y="41404"/>
                    <a:pt x="25293" y="16188"/>
                    <a:pt x="2495" y="69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44A3980F-44A0-8203-B1DE-5771D36476A9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7274900" y="3805599"/>
              <a:ext cx="451244" cy="6578"/>
            </a:xfrm>
            <a:prstGeom prst="rect">
              <a:avLst/>
            </a:pr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84" name="任意形状 83">
              <a:extLst>
                <a:ext uri="{FF2B5EF4-FFF2-40B4-BE49-F238E27FC236}">
                  <a16:creationId xmlns:a16="http://schemas.microsoft.com/office/drawing/2014/main" id="{35F0B7A5-310F-B614-F4A1-0B9468B430A4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7281479" y="3848016"/>
              <a:ext cx="86518" cy="121388"/>
            </a:xfrm>
            <a:custGeom>
              <a:avLst/>
              <a:gdLst>
                <a:gd name="csX0" fmla="*/ 69863 w 86518"/>
                <a:gd name="csY0" fmla="*/ 62097 h 121388"/>
                <a:gd name="csX1" fmla="*/ 48645 w 86518"/>
                <a:gd name="csY1" fmla="*/ 42687 h 121388"/>
                <a:gd name="csX2" fmla="*/ 15090 w 86518"/>
                <a:gd name="csY2" fmla="*/ 58149 h 121388"/>
                <a:gd name="csX3" fmla="*/ 287 w 86518"/>
                <a:gd name="csY3" fmla="*/ 92197 h 121388"/>
                <a:gd name="csX4" fmla="*/ 30552 w 86518"/>
                <a:gd name="csY4" fmla="*/ 121475 h 121388"/>
                <a:gd name="csX5" fmla="*/ 86805 w 86518"/>
                <a:gd name="csY5" fmla="*/ 42687 h 121388"/>
                <a:gd name="csX6" fmla="*/ 51277 w 86518"/>
                <a:gd name="csY6" fmla="*/ 86 h 121388"/>
                <a:gd name="csX7" fmla="*/ 19860 w 86518"/>
                <a:gd name="csY7" fmla="*/ 26075 h 121388"/>
                <a:gd name="csX8" fmla="*/ 26111 w 86518"/>
                <a:gd name="csY8" fmla="*/ 31832 h 121388"/>
                <a:gd name="csX9" fmla="*/ 34993 w 86518"/>
                <a:gd name="csY9" fmla="*/ 23114 h 121388"/>
                <a:gd name="csX10" fmla="*/ 27262 w 86518"/>
                <a:gd name="csY10" fmla="*/ 17357 h 121388"/>
                <a:gd name="csX11" fmla="*/ 50948 w 86518"/>
                <a:gd name="csY11" fmla="*/ 4198 h 121388"/>
                <a:gd name="csX12" fmla="*/ 74469 w 86518"/>
                <a:gd name="csY12" fmla="*/ 33970 h 121388"/>
                <a:gd name="csX13" fmla="*/ 70028 w 86518"/>
                <a:gd name="csY13" fmla="*/ 62097 h 121388"/>
                <a:gd name="csX14" fmla="*/ 69863 w 86518"/>
                <a:gd name="csY14" fmla="*/ 62097 h 121388"/>
                <a:gd name="csX15" fmla="*/ 31045 w 86518"/>
                <a:gd name="csY15" fmla="*/ 116869 h 121388"/>
                <a:gd name="csX16" fmla="*/ 12952 w 86518"/>
                <a:gd name="csY16" fmla="*/ 98283 h 121388"/>
                <a:gd name="csX17" fmla="*/ 23808 w 86518"/>
                <a:gd name="csY17" fmla="*/ 60945 h 121388"/>
                <a:gd name="csX18" fmla="*/ 48645 w 86518"/>
                <a:gd name="csY18" fmla="*/ 46306 h 121388"/>
                <a:gd name="csX19" fmla="*/ 66902 w 86518"/>
                <a:gd name="csY19" fmla="*/ 68018 h 121388"/>
                <a:gd name="csX20" fmla="*/ 31045 w 86518"/>
                <a:gd name="csY20" fmla="*/ 116869 h 1213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86518" h="121388">
                  <a:moveTo>
                    <a:pt x="69863" y="62097"/>
                  </a:moveTo>
                  <a:cubicBezTo>
                    <a:pt x="68218" y="51899"/>
                    <a:pt x="61475" y="42687"/>
                    <a:pt x="48645" y="42687"/>
                  </a:cubicBezTo>
                  <a:cubicBezTo>
                    <a:pt x="38611" y="42687"/>
                    <a:pt x="27920" y="45319"/>
                    <a:pt x="15090" y="58149"/>
                  </a:cubicBezTo>
                  <a:cubicBezTo>
                    <a:pt x="1438" y="71801"/>
                    <a:pt x="287" y="87098"/>
                    <a:pt x="287" y="92197"/>
                  </a:cubicBezTo>
                  <a:cubicBezTo>
                    <a:pt x="287" y="102395"/>
                    <a:pt x="7524" y="121475"/>
                    <a:pt x="30552" y="121475"/>
                  </a:cubicBezTo>
                  <a:cubicBezTo>
                    <a:pt x="69699" y="121475"/>
                    <a:pt x="86805" y="66209"/>
                    <a:pt x="86805" y="42687"/>
                  </a:cubicBezTo>
                  <a:cubicBezTo>
                    <a:pt x="86805" y="16535"/>
                    <a:pt x="71508" y="86"/>
                    <a:pt x="51277" y="86"/>
                  </a:cubicBezTo>
                  <a:cubicBezTo>
                    <a:pt x="27427" y="86"/>
                    <a:pt x="19860" y="21469"/>
                    <a:pt x="19860" y="26075"/>
                  </a:cubicBezTo>
                  <a:cubicBezTo>
                    <a:pt x="19860" y="28377"/>
                    <a:pt x="21176" y="31832"/>
                    <a:pt x="26111" y="31832"/>
                  </a:cubicBezTo>
                  <a:cubicBezTo>
                    <a:pt x="31539" y="31832"/>
                    <a:pt x="34993" y="26897"/>
                    <a:pt x="34993" y="23114"/>
                  </a:cubicBezTo>
                  <a:cubicBezTo>
                    <a:pt x="34993" y="17357"/>
                    <a:pt x="29894" y="17357"/>
                    <a:pt x="27262" y="17357"/>
                  </a:cubicBezTo>
                  <a:cubicBezTo>
                    <a:pt x="34499" y="5185"/>
                    <a:pt x="46178" y="4198"/>
                    <a:pt x="50948" y="4198"/>
                  </a:cubicBezTo>
                  <a:cubicBezTo>
                    <a:pt x="62955" y="4198"/>
                    <a:pt x="74469" y="12752"/>
                    <a:pt x="74469" y="33970"/>
                  </a:cubicBezTo>
                  <a:cubicBezTo>
                    <a:pt x="74469" y="40385"/>
                    <a:pt x="73482" y="48773"/>
                    <a:pt x="70028" y="62097"/>
                  </a:cubicBezTo>
                  <a:lnTo>
                    <a:pt x="69863" y="62097"/>
                  </a:lnTo>
                  <a:close/>
                  <a:moveTo>
                    <a:pt x="31045" y="116869"/>
                  </a:moveTo>
                  <a:cubicBezTo>
                    <a:pt x="12952" y="116869"/>
                    <a:pt x="12952" y="99928"/>
                    <a:pt x="12952" y="98283"/>
                  </a:cubicBezTo>
                  <a:cubicBezTo>
                    <a:pt x="12952" y="93842"/>
                    <a:pt x="17064" y="70814"/>
                    <a:pt x="23808" y="60945"/>
                  </a:cubicBezTo>
                  <a:cubicBezTo>
                    <a:pt x="30387" y="51570"/>
                    <a:pt x="38447" y="46306"/>
                    <a:pt x="48645" y="46306"/>
                  </a:cubicBezTo>
                  <a:cubicBezTo>
                    <a:pt x="66574" y="46306"/>
                    <a:pt x="66902" y="64728"/>
                    <a:pt x="66902" y="68018"/>
                  </a:cubicBezTo>
                  <a:cubicBezTo>
                    <a:pt x="66902" y="79861"/>
                    <a:pt x="56376" y="116869"/>
                    <a:pt x="31045" y="116869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85" name="任意形状 84">
              <a:extLst>
                <a:ext uri="{FF2B5EF4-FFF2-40B4-BE49-F238E27FC236}">
                  <a16:creationId xmlns:a16="http://schemas.microsoft.com/office/drawing/2014/main" id="{4B4F96E3-BEAA-DF03-31D3-5ED0A0B33719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7380409" y="3853444"/>
              <a:ext cx="163331" cy="115960"/>
            </a:xfrm>
            <a:custGeom>
              <a:avLst/>
              <a:gdLst>
                <a:gd name="csX0" fmla="*/ 142077 w 163331"/>
                <a:gd name="csY0" fmla="*/ 19166 h 115960"/>
                <a:gd name="csX1" fmla="*/ 160499 w 163331"/>
                <a:gd name="csY1" fmla="*/ 5185 h 115960"/>
                <a:gd name="csX2" fmla="*/ 163624 w 163331"/>
                <a:gd name="csY2" fmla="*/ 1896 h 115960"/>
                <a:gd name="csX3" fmla="*/ 161651 w 163331"/>
                <a:gd name="csY3" fmla="*/ 86 h 115960"/>
                <a:gd name="csX4" fmla="*/ 148985 w 163331"/>
                <a:gd name="csY4" fmla="*/ 580 h 115960"/>
                <a:gd name="csX5" fmla="*/ 131879 w 163331"/>
                <a:gd name="csY5" fmla="*/ 86 h 115960"/>
                <a:gd name="csX6" fmla="*/ 128754 w 163331"/>
                <a:gd name="csY6" fmla="*/ 3212 h 115960"/>
                <a:gd name="csX7" fmla="*/ 131221 w 163331"/>
                <a:gd name="csY7" fmla="*/ 5185 h 115960"/>
                <a:gd name="csX8" fmla="*/ 140926 w 163331"/>
                <a:gd name="csY8" fmla="*/ 11600 h 115960"/>
                <a:gd name="csX9" fmla="*/ 138787 w 163331"/>
                <a:gd name="csY9" fmla="*/ 17028 h 115960"/>
                <a:gd name="csX10" fmla="*/ 94377 w 163331"/>
                <a:gd name="csY10" fmla="*/ 94500 h 115960"/>
                <a:gd name="csX11" fmla="*/ 88291 w 163331"/>
                <a:gd name="csY11" fmla="*/ 12916 h 115960"/>
                <a:gd name="csX12" fmla="*/ 99805 w 163331"/>
                <a:gd name="csY12" fmla="*/ 5185 h 115960"/>
                <a:gd name="csX13" fmla="*/ 104246 w 163331"/>
                <a:gd name="csY13" fmla="*/ 1896 h 115960"/>
                <a:gd name="csX14" fmla="*/ 101779 w 163331"/>
                <a:gd name="csY14" fmla="*/ 86 h 115960"/>
                <a:gd name="csX15" fmla="*/ 81712 w 163331"/>
                <a:gd name="csY15" fmla="*/ 580 h 115960"/>
                <a:gd name="csX16" fmla="*/ 64441 w 163331"/>
                <a:gd name="csY16" fmla="*/ 86 h 115960"/>
                <a:gd name="csX17" fmla="*/ 61316 w 163331"/>
                <a:gd name="csY17" fmla="*/ 3376 h 115960"/>
                <a:gd name="csX18" fmla="*/ 65263 w 163331"/>
                <a:gd name="csY18" fmla="*/ 5185 h 115960"/>
                <a:gd name="csX19" fmla="*/ 73981 w 163331"/>
                <a:gd name="csY19" fmla="*/ 9297 h 115960"/>
                <a:gd name="csX20" fmla="*/ 74968 w 163331"/>
                <a:gd name="csY20" fmla="*/ 21963 h 115960"/>
                <a:gd name="csX21" fmla="*/ 33354 w 163331"/>
                <a:gd name="csY21" fmla="*/ 94500 h 115960"/>
                <a:gd name="csX22" fmla="*/ 27103 w 163331"/>
                <a:gd name="csY22" fmla="*/ 11107 h 115960"/>
                <a:gd name="csX23" fmla="*/ 39604 w 163331"/>
                <a:gd name="csY23" fmla="*/ 5185 h 115960"/>
                <a:gd name="csX24" fmla="*/ 43058 w 163331"/>
                <a:gd name="csY24" fmla="*/ 1896 h 115960"/>
                <a:gd name="csX25" fmla="*/ 40756 w 163331"/>
                <a:gd name="csY25" fmla="*/ 86 h 115960"/>
                <a:gd name="csX26" fmla="*/ 20524 w 163331"/>
                <a:gd name="csY26" fmla="*/ 580 h 115960"/>
                <a:gd name="csX27" fmla="*/ 3253 w 163331"/>
                <a:gd name="csY27" fmla="*/ 86 h 115960"/>
                <a:gd name="csX28" fmla="*/ 293 w 163331"/>
                <a:gd name="csY28" fmla="*/ 3212 h 115960"/>
                <a:gd name="csX29" fmla="*/ 4405 w 163331"/>
                <a:gd name="csY29" fmla="*/ 5185 h 115960"/>
                <a:gd name="csX30" fmla="*/ 13122 w 163331"/>
                <a:gd name="csY30" fmla="*/ 11271 h 115960"/>
                <a:gd name="csX31" fmla="*/ 20524 w 163331"/>
                <a:gd name="csY31" fmla="*/ 111770 h 115960"/>
                <a:gd name="csX32" fmla="*/ 23156 w 163331"/>
                <a:gd name="csY32" fmla="*/ 116047 h 115960"/>
                <a:gd name="csX33" fmla="*/ 27103 w 163331"/>
                <a:gd name="csY33" fmla="*/ 112593 h 115960"/>
                <a:gd name="csX34" fmla="*/ 75461 w 163331"/>
                <a:gd name="csY34" fmla="*/ 28706 h 115960"/>
                <a:gd name="csX35" fmla="*/ 81547 w 163331"/>
                <a:gd name="csY35" fmla="*/ 111770 h 115960"/>
                <a:gd name="csX36" fmla="*/ 84179 w 163331"/>
                <a:gd name="csY36" fmla="*/ 116047 h 115960"/>
                <a:gd name="csX37" fmla="*/ 88127 w 163331"/>
                <a:gd name="csY37" fmla="*/ 112922 h 115960"/>
                <a:gd name="csX38" fmla="*/ 142077 w 163331"/>
                <a:gd name="csY38" fmla="*/ 19166 h 115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163331" h="115960">
                  <a:moveTo>
                    <a:pt x="142077" y="19166"/>
                  </a:moveTo>
                  <a:cubicBezTo>
                    <a:pt x="146189" y="11929"/>
                    <a:pt x="150137" y="6008"/>
                    <a:pt x="160499" y="5185"/>
                  </a:cubicBezTo>
                  <a:cubicBezTo>
                    <a:pt x="161980" y="5021"/>
                    <a:pt x="163624" y="5021"/>
                    <a:pt x="163624" y="1896"/>
                  </a:cubicBezTo>
                  <a:cubicBezTo>
                    <a:pt x="163624" y="1238"/>
                    <a:pt x="162967" y="86"/>
                    <a:pt x="161651" y="86"/>
                  </a:cubicBezTo>
                  <a:cubicBezTo>
                    <a:pt x="157703" y="86"/>
                    <a:pt x="153098" y="580"/>
                    <a:pt x="148985" y="580"/>
                  </a:cubicBezTo>
                  <a:cubicBezTo>
                    <a:pt x="143393" y="580"/>
                    <a:pt x="137307" y="86"/>
                    <a:pt x="131879" y="86"/>
                  </a:cubicBezTo>
                  <a:cubicBezTo>
                    <a:pt x="130892" y="86"/>
                    <a:pt x="128754" y="86"/>
                    <a:pt x="128754" y="3212"/>
                  </a:cubicBezTo>
                  <a:cubicBezTo>
                    <a:pt x="128754" y="5021"/>
                    <a:pt x="130234" y="5185"/>
                    <a:pt x="131221" y="5185"/>
                  </a:cubicBezTo>
                  <a:cubicBezTo>
                    <a:pt x="135169" y="5350"/>
                    <a:pt x="140926" y="6666"/>
                    <a:pt x="140926" y="11600"/>
                  </a:cubicBezTo>
                  <a:cubicBezTo>
                    <a:pt x="140926" y="13409"/>
                    <a:pt x="140103" y="14725"/>
                    <a:pt x="138787" y="17028"/>
                  </a:cubicBezTo>
                  <a:lnTo>
                    <a:pt x="94377" y="94500"/>
                  </a:lnTo>
                  <a:lnTo>
                    <a:pt x="88291" y="12916"/>
                  </a:lnTo>
                  <a:cubicBezTo>
                    <a:pt x="88127" y="9626"/>
                    <a:pt x="87798" y="5350"/>
                    <a:pt x="99805" y="5185"/>
                  </a:cubicBezTo>
                  <a:cubicBezTo>
                    <a:pt x="102601" y="5185"/>
                    <a:pt x="104246" y="5185"/>
                    <a:pt x="104246" y="1896"/>
                  </a:cubicBezTo>
                  <a:cubicBezTo>
                    <a:pt x="104246" y="251"/>
                    <a:pt x="102437" y="86"/>
                    <a:pt x="101779" y="86"/>
                  </a:cubicBezTo>
                  <a:cubicBezTo>
                    <a:pt x="95199" y="86"/>
                    <a:pt x="88291" y="580"/>
                    <a:pt x="81712" y="580"/>
                  </a:cubicBezTo>
                  <a:cubicBezTo>
                    <a:pt x="77929" y="580"/>
                    <a:pt x="68224" y="86"/>
                    <a:pt x="64441" y="86"/>
                  </a:cubicBezTo>
                  <a:cubicBezTo>
                    <a:pt x="63454" y="86"/>
                    <a:pt x="61316" y="86"/>
                    <a:pt x="61316" y="3376"/>
                  </a:cubicBezTo>
                  <a:cubicBezTo>
                    <a:pt x="61316" y="5185"/>
                    <a:pt x="62961" y="5185"/>
                    <a:pt x="65263" y="5185"/>
                  </a:cubicBezTo>
                  <a:cubicBezTo>
                    <a:pt x="72501" y="5185"/>
                    <a:pt x="73652" y="6172"/>
                    <a:pt x="73981" y="9297"/>
                  </a:cubicBezTo>
                  <a:lnTo>
                    <a:pt x="74968" y="21963"/>
                  </a:lnTo>
                  <a:lnTo>
                    <a:pt x="33354" y="94500"/>
                  </a:lnTo>
                  <a:lnTo>
                    <a:pt x="27103" y="11107"/>
                  </a:lnTo>
                  <a:cubicBezTo>
                    <a:pt x="27103" y="9133"/>
                    <a:pt x="27103" y="5350"/>
                    <a:pt x="39604" y="5185"/>
                  </a:cubicBezTo>
                  <a:cubicBezTo>
                    <a:pt x="41249" y="5185"/>
                    <a:pt x="43058" y="5185"/>
                    <a:pt x="43058" y="1896"/>
                  </a:cubicBezTo>
                  <a:cubicBezTo>
                    <a:pt x="43058" y="86"/>
                    <a:pt x="41084" y="86"/>
                    <a:pt x="40756" y="86"/>
                  </a:cubicBezTo>
                  <a:cubicBezTo>
                    <a:pt x="34176" y="86"/>
                    <a:pt x="27268" y="580"/>
                    <a:pt x="20524" y="580"/>
                  </a:cubicBezTo>
                  <a:cubicBezTo>
                    <a:pt x="14767" y="580"/>
                    <a:pt x="8846" y="86"/>
                    <a:pt x="3253" y="86"/>
                  </a:cubicBezTo>
                  <a:cubicBezTo>
                    <a:pt x="2431" y="86"/>
                    <a:pt x="293" y="86"/>
                    <a:pt x="293" y="3212"/>
                  </a:cubicBezTo>
                  <a:cubicBezTo>
                    <a:pt x="293" y="5185"/>
                    <a:pt x="1773" y="5185"/>
                    <a:pt x="4405" y="5185"/>
                  </a:cubicBezTo>
                  <a:cubicBezTo>
                    <a:pt x="12629" y="5185"/>
                    <a:pt x="12793" y="6666"/>
                    <a:pt x="13122" y="11271"/>
                  </a:cubicBezTo>
                  <a:lnTo>
                    <a:pt x="20524" y="111770"/>
                  </a:lnTo>
                  <a:cubicBezTo>
                    <a:pt x="20689" y="114731"/>
                    <a:pt x="20853" y="116047"/>
                    <a:pt x="23156" y="116047"/>
                  </a:cubicBezTo>
                  <a:cubicBezTo>
                    <a:pt x="25130" y="116047"/>
                    <a:pt x="25623" y="115060"/>
                    <a:pt x="27103" y="112593"/>
                  </a:cubicBezTo>
                  <a:lnTo>
                    <a:pt x="75461" y="28706"/>
                  </a:lnTo>
                  <a:lnTo>
                    <a:pt x="81547" y="111770"/>
                  </a:lnTo>
                  <a:cubicBezTo>
                    <a:pt x="81876" y="115225"/>
                    <a:pt x="82205" y="116047"/>
                    <a:pt x="84179" y="116047"/>
                  </a:cubicBezTo>
                  <a:cubicBezTo>
                    <a:pt x="86317" y="116047"/>
                    <a:pt x="87304" y="114402"/>
                    <a:pt x="88127" y="112922"/>
                  </a:cubicBezTo>
                  <a:lnTo>
                    <a:pt x="142077" y="19166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86" name="任意形状 85">
              <a:extLst>
                <a:ext uri="{FF2B5EF4-FFF2-40B4-BE49-F238E27FC236}">
                  <a16:creationId xmlns:a16="http://schemas.microsoft.com/office/drawing/2014/main" id="{95FDF7DF-A2E7-35EE-2CA0-6C79CB7E8E0D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7562794" y="3831915"/>
              <a:ext cx="29935" cy="115023"/>
            </a:xfrm>
            <a:custGeom>
              <a:avLst/>
              <a:gdLst>
                <a:gd name="csX0" fmla="*/ 27937 w 29935"/>
                <a:gd name="csY0" fmla="*/ 83 h 115023"/>
                <a:gd name="csX1" fmla="*/ 303 w 29935"/>
                <a:gd name="csY1" fmla="*/ 57537 h 115023"/>
                <a:gd name="csX2" fmla="*/ 27937 w 29935"/>
                <a:gd name="csY2" fmla="*/ 115107 h 115023"/>
                <a:gd name="csX3" fmla="*/ 30239 w 29935"/>
                <a:gd name="csY3" fmla="*/ 113725 h 115023"/>
                <a:gd name="csX4" fmla="*/ 29088 w 29935"/>
                <a:gd name="csY4" fmla="*/ 111998 h 115023"/>
                <a:gd name="csX5" fmla="*/ 8133 w 29935"/>
                <a:gd name="csY5" fmla="*/ 57653 h 115023"/>
                <a:gd name="csX6" fmla="*/ 29433 w 29935"/>
                <a:gd name="csY6" fmla="*/ 2847 h 115023"/>
                <a:gd name="csX7" fmla="*/ 30239 w 29935"/>
                <a:gd name="csY7" fmla="*/ 1465 h 115023"/>
                <a:gd name="csX8" fmla="*/ 27937 w 29935"/>
                <a:gd name="csY8" fmla="*/ 83 h 115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935" h="115023">
                  <a:moveTo>
                    <a:pt x="27937" y="83"/>
                  </a:moveTo>
                  <a:cubicBezTo>
                    <a:pt x="6060" y="15512"/>
                    <a:pt x="303" y="39921"/>
                    <a:pt x="303" y="57537"/>
                  </a:cubicBezTo>
                  <a:cubicBezTo>
                    <a:pt x="303" y="73772"/>
                    <a:pt x="5139" y="98987"/>
                    <a:pt x="27937" y="115107"/>
                  </a:cubicBezTo>
                  <a:cubicBezTo>
                    <a:pt x="28858" y="115107"/>
                    <a:pt x="30239" y="115107"/>
                    <a:pt x="30239" y="113725"/>
                  </a:cubicBezTo>
                  <a:cubicBezTo>
                    <a:pt x="30239" y="113034"/>
                    <a:pt x="29894" y="112804"/>
                    <a:pt x="29088" y="111998"/>
                  </a:cubicBezTo>
                  <a:cubicBezTo>
                    <a:pt x="13775" y="98181"/>
                    <a:pt x="8133" y="78608"/>
                    <a:pt x="8133" y="57653"/>
                  </a:cubicBezTo>
                  <a:cubicBezTo>
                    <a:pt x="8133" y="26565"/>
                    <a:pt x="19992" y="11367"/>
                    <a:pt x="29433" y="2847"/>
                  </a:cubicBezTo>
                  <a:cubicBezTo>
                    <a:pt x="29894" y="2386"/>
                    <a:pt x="30239" y="2041"/>
                    <a:pt x="30239" y="1465"/>
                  </a:cubicBezTo>
                  <a:cubicBezTo>
                    <a:pt x="30239" y="83"/>
                    <a:pt x="28858" y="83"/>
                    <a:pt x="27937" y="83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87" name="任意形状 86">
              <a:extLst>
                <a:ext uri="{FF2B5EF4-FFF2-40B4-BE49-F238E27FC236}">
                  <a16:creationId xmlns:a16="http://schemas.microsoft.com/office/drawing/2014/main" id="{892FBF63-A72E-0ECD-4F4D-CF07C35BF40F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7613504" y="3841817"/>
              <a:ext cx="41910" cy="76451"/>
            </a:xfrm>
            <a:custGeom>
              <a:avLst/>
              <a:gdLst>
                <a:gd name="csX0" fmla="*/ 26328 w 41910"/>
                <a:gd name="csY0" fmla="*/ 3307 h 76451"/>
                <a:gd name="csX1" fmla="*/ 22874 w 41910"/>
                <a:gd name="csY1" fmla="*/ 83 h 76451"/>
                <a:gd name="csX2" fmla="*/ 307 w 41910"/>
                <a:gd name="csY2" fmla="*/ 7452 h 76451"/>
                <a:gd name="csX3" fmla="*/ 307 w 41910"/>
                <a:gd name="csY3" fmla="*/ 11597 h 76451"/>
                <a:gd name="csX4" fmla="*/ 17002 w 41910"/>
                <a:gd name="csY4" fmla="*/ 8373 h 76451"/>
                <a:gd name="csX5" fmla="*/ 17002 w 41910"/>
                <a:gd name="csY5" fmla="*/ 67094 h 76451"/>
                <a:gd name="csX6" fmla="*/ 5488 w 41910"/>
                <a:gd name="csY6" fmla="*/ 72390 h 76451"/>
                <a:gd name="csX7" fmla="*/ 1113 w 41910"/>
                <a:gd name="csY7" fmla="*/ 72390 h 76451"/>
                <a:gd name="csX8" fmla="*/ 1113 w 41910"/>
                <a:gd name="csY8" fmla="*/ 76535 h 76451"/>
                <a:gd name="csX9" fmla="*/ 21607 w 41910"/>
                <a:gd name="csY9" fmla="*/ 76075 h 76451"/>
                <a:gd name="csX10" fmla="*/ 42217 w 41910"/>
                <a:gd name="csY10" fmla="*/ 76535 h 76451"/>
                <a:gd name="csX11" fmla="*/ 42217 w 41910"/>
                <a:gd name="csY11" fmla="*/ 72390 h 76451"/>
                <a:gd name="csX12" fmla="*/ 37842 w 41910"/>
                <a:gd name="csY12" fmla="*/ 72390 h 76451"/>
                <a:gd name="csX13" fmla="*/ 26328 w 41910"/>
                <a:gd name="csY13" fmla="*/ 67094 h 76451"/>
                <a:gd name="csX14" fmla="*/ 26328 w 41910"/>
                <a:gd name="csY14" fmla="*/ 3307 h 764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1910" h="76451">
                  <a:moveTo>
                    <a:pt x="26328" y="3307"/>
                  </a:moveTo>
                  <a:cubicBezTo>
                    <a:pt x="26328" y="199"/>
                    <a:pt x="26098" y="83"/>
                    <a:pt x="22874" y="83"/>
                  </a:cubicBezTo>
                  <a:cubicBezTo>
                    <a:pt x="15505" y="7337"/>
                    <a:pt x="5027" y="7452"/>
                    <a:pt x="307" y="7452"/>
                  </a:cubicBezTo>
                  <a:lnTo>
                    <a:pt x="307" y="11597"/>
                  </a:lnTo>
                  <a:cubicBezTo>
                    <a:pt x="3070" y="11597"/>
                    <a:pt x="10669" y="11597"/>
                    <a:pt x="17002" y="8373"/>
                  </a:cubicBezTo>
                  <a:lnTo>
                    <a:pt x="17002" y="67094"/>
                  </a:lnTo>
                  <a:cubicBezTo>
                    <a:pt x="17002" y="70893"/>
                    <a:pt x="17002" y="72390"/>
                    <a:pt x="5488" y="72390"/>
                  </a:cubicBezTo>
                  <a:lnTo>
                    <a:pt x="1113" y="72390"/>
                  </a:lnTo>
                  <a:lnTo>
                    <a:pt x="1113" y="76535"/>
                  </a:lnTo>
                  <a:cubicBezTo>
                    <a:pt x="3185" y="76420"/>
                    <a:pt x="17347" y="76075"/>
                    <a:pt x="21607" y="76075"/>
                  </a:cubicBezTo>
                  <a:cubicBezTo>
                    <a:pt x="25176" y="76075"/>
                    <a:pt x="39684" y="76420"/>
                    <a:pt x="42217" y="76535"/>
                  </a:cubicBezTo>
                  <a:lnTo>
                    <a:pt x="42217" y="72390"/>
                  </a:lnTo>
                  <a:lnTo>
                    <a:pt x="37842" y="72390"/>
                  </a:lnTo>
                  <a:cubicBezTo>
                    <a:pt x="26328" y="72390"/>
                    <a:pt x="26328" y="70893"/>
                    <a:pt x="26328" y="67094"/>
                  </a:cubicBezTo>
                  <a:lnTo>
                    <a:pt x="26328" y="3307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88" name="任意形状 87">
              <a:extLst>
                <a:ext uri="{FF2B5EF4-FFF2-40B4-BE49-F238E27FC236}">
                  <a16:creationId xmlns:a16="http://schemas.microsoft.com/office/drawing/2014/main" id="{908050F9-4DED-8FCB-4E16-9EE195F3442C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7674694" y="3831915"/>
              <a:ext cx="29820" cy="115023"/>
            </a:xfrm>
            <a:custGeom>
              <a:avLst/>
              <a:gdLst>
                <a:gd name="csX0" fmla="*/ 2498 w 29820"/>
                <a:gd name="csY0" fmla="*/ 83 h 115023"/>
                <a:gd name="csX1" fmla="*/ 311 w 29820"/>
                <a:gd name="csY1" fmla="*/ 1465 h 115023"/>
                <a:gd name="csX2" fmla="*/ 1347 w 29820"/>
                <a:gd name="csY2" fmla="*/ 3192 h 115023"/>
                <a:gd name="csX3" fmla="*/ 22302 w 29820"/>
                <a:gd name="csY3" fmla="*/ 57537 h 115023"/>
                <a:gd name="csX4" fmla="*/ 2383 w 29820"/>
                <a:gd name="csY4" fmla="*/ 111077 h 115023"/>
                <a:gd name="csX5" fmla="*/ 311 w 29820"/>
                <a:gd name="csY5" fmla="*/ 113725 h 115023"/>
                <a:gd name="csX6" fmla="*/ 1807 w 29820"/>
                <a:gd name="csY6" fmla="*/ 115107 h 115023"/>
                <a:gd name="csX7" fmla="*/ 21726 w 29820"/>
                <a:gd name="csY7" fmla="*/ 93115 h 115023"/>
                <a:gd name="csX8" fmla="*/ 30131 w 29820"/>
                <a:gd name="csY8" fmla="*/ 57653 h 115023"/>
                <a:gd name="csX9" fmla="*/ 2498 w 29820"/>
                <a:gd name="csY9" fmla="*/ 83 h 115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9820" h="115023">
                  <a:moveTo>
                    <a:pt x="2498" y="83"/>
                  </a:moveTo>
                  <a:cubicBezTo>
                    <a:pt x="1692" y="83"/>
                    <a:pt x="311" y="83"/>
                    <a:pt x="311" y="1465"/>
                  </a:cubicBezTo>
                  <a:cubicBezTo>
                    <a:pt x="311" y="2041"/>
                    <a:pt x="656" y="2386"/>
                    <a:pt x="1347" y="3192"/>
                  </a:cubicBezTo>
                  <a:cubicBezTo>
                    <a:pt x="11249" y="12288"/>
                    <a:pt x="22302" y="27832"/>
                    <a:pt x="22302" y="57537"/>
                  </a:cubicBezTo>
                  <a:cubicBezTo>
                    <a:pt x="22302" y="81601"/>
                    <a:pt x="14818" y="99793"/>
                    <a:pt x="2383" y="111077"/>
                  </a:cubicBezTo>
                  <a:cubicBezTo>
                    <a:pt x="426" y="113034"/>
                    <a:pt x="311" y="113149"/>
                    <a:pt x="311" y="113725"/>
                  </a:cubicBezTo>
                  <a:cubicBezTo>
                    <a:pt x="311" y="114301"/>
                    <a:pt x="656" y="115107"/>
                    <a:pt x="1807" y="115107"/>
                  </a:cubicBezTo>
                  <a:cubicBezTo>
                    <a:pt x="3189" y="115107"/>
                    <a:pt x="14127" y="107507"/>
                    <a:pt x="21726" y="93115"/>
                  </a:cubicBezTo>
                  <a:cubicBezTo>
                    <a:pt x="26792" y="83559"/>
                    <a:pt x="30131" y="71124"/>
                    <a:pt x="30131" y="57653"/>
                  </a:cubicBezTo>
                  <a:cubicBezTo>
                    <a:pt x="30131" y="41418"/>
                    <a:pt x="25296" y="16203"/>
                    <a:pt x="2498" y="83"/>
                  </a:cubicBez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89" name="任意形状 88">
              <a:extLst>
                <a:ext uri="{FF2B5EF4-FFF2-40B4-BE49-F238E27FC236}">
                  <a16:creationId xmlns:a16="http://schemas.microsoft.com/office/drawing/2014/main" id="{1B98633F-4CEB-3EB1-A11C-AF36D1D73D0E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7251214" y="3979931"/>
              <a:ext cx="79609" cy="54937"/>
            </a:xfrm>
            <a:custGeom>
              <a:avLst/>
              <a:gdLst>
                <a:gd name="csX0" fmla="*/ 79895 w 79609"/>
                <a:gd name="csY0" fmla="*/ 39895 h 54937"/>
                <a:gd name="csX1" fmla="*/ 77593 w 79609"/>
                <a:gd name="csY1" fmla="*/ 35290 h 54937"/>
                <a:gd name="csX2" fmla="*/ 36472 w 79609"/>
                <a:gd name="csY2" fmla="*/ 26572 h 54937"/>
                <a:gd name="csX3" fmla="*/ 7852 w 79609"/>
                <a:gd name="csY3" fmla="*/ 913 h 54937"/>
                <a:gd name="csX4" fmla="*/ 4233 w 79609"/>
                <a:gd name="csY4" fmla="*/ 91 h 54937"/>
                <a:gd name="csX5" fmla="*/ 286 w 79609"/>
                <a:gd name="csY5" fmla="*/ 4367 h 54937"/>
                <a:gd name="csX6" fmla="*/ 286 w 79609"/>
                <a:gd name="csY6" fmla="*/ 6999 h 54937"/>
                <a:gd name="csX7" fmla="*/ 76441 w 79609"/>
                <a:gd name="csY7" fmla="*/ 55028 h 54937"/>
                <a:gd name="csX8" fmla="*/ 79895 w 79609"/>
                <a:gd name="csY8" fmla="*/ 50422 h 54937"/>
                <a:gd name="csX9" fmla="*/ 79895 w 79609"/>
                <a:gd name="csY9" fmla="*/ 39895 h 54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9609" h="54937">
                  <a:moveTo>
                    <a:pt x="79895" y="39895"/>
                  </a:moveTo>
                  <a:cubicBezTo>
                    <a:pt x="79895" y="36112"/>
                    <a:pt x="79895" y="35290"/>
                    <a:pt x="77593" y="35290"/>
                  </a:cubicBezTo>
                  <a:cubicBezTo>
                    <a:pt x="67559" y="35125"/>
                    <a:pt x="51275" y="33810"/>
                    <a:pt x="36472" y="26572"/>
                  </a:cubicBezTo>
                  <a:cubicBezTo>
                    <a:pt x="18708" y="17690"/>
                    <a:pt x="11964" y="7328"/>
                    <a:pt x="7852" y="913"/>
                  </a:cubicBezTo>
                  <a:cubicBezTo>
                    <a:pt x="7358" y="91"/>
                    <a:pt x="6371" y="91"/>
                    <a:pt x="4233" y="91"/>
                  </a:cubicBezTo>
                  <a:cubicBezTo>
                    <a:pt x="450" y="91"/>
                    <a:pt x="286" y="255"/>
                    <a:pt x="286" y="4367"/>
                  </a:cubicBezTo>
                  <a:lnTo>
                    <a:pt x="286" y="6999"/>
                  </a:lnTo>
                  <a:cubicBezTo>
                    <a:pt x="22655" y="47297"/>
                    <a:pt x="59664" y="55028"/>
                    <a:pt x="76441" y="55028"/>
                  </a:cubicBezTo>
                  <a:cubicBezTo>
                    <a:pt x="79895" y="55028"/>
                    <a:pt x="79895" y="54863"/>
                    <a:pt x="79895" y="50422"/>
                  </a:cubicBezTo>
                  <a:lnTo>
                    <a:pt x="79895" y="39895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1FA4AEF0-8D82-5655-F1AB-4F8800C31292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7329180" y="4015131"/>
              <a:ext cx="97323" cy="19737"/>
            </a:xfrm>
            <a:prstGeom prst="rect">
              <a:avLst/>
            </a:pr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91" name="任意形状 90">
              <a:extLst>
                <a:ext uri="{FF2B5EF4-FFF2-40B4-BE49-F238E27FC236}">
                  <a16:creationId xmlns:a16="http://schemas.microsoft.com/office/drawing/2014/main" id="{B7CF8D74-61FE-5282-4EA5-8C71E4B7C8C6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7424859" y="4015130"/>
              <a:ext cx="79609" cy="54937"/>
            </a:xfrm>
            <a:custGeom>
              <a:avLst/>
              <a:gdLst>
                <a:gd name="csX0" fmla="*/ 79906 w 79609"/>
                <a:gd name="csY0" fmla="*/ 48120 h 54937"/>
                <a:gd name="csX1" fmla="*/ 3750 w 79609"/>
                <a:gd name="csY1" fmla="*/ 91 h 54937"/>
                <a:gd name="csX2" fmla="*/ 296 w 79609"/>
                <a:gd name="csY2" fmla="*/ 4696 h 54937"/>
                <a:gd name="csX3" fmla="*/ 296 w 79609"/>
                <a:gd name="csY3" fmla="*/ 15223 h 54937"/>
                <a:gd name="csX4" fmla="*/ 2599 w 79609"/>
                <a:gd name="csY4" fmla="*/ 19829 h 54937"/>
                <a:gd name="csX5" fmla="*/ 43720 w 79609"/>
                <a:gd name="csY5" fmla="*/ 28546 h 54937"/>
                <a:gd name="csX6" fmla="*/ 72340 w 79609"/>
                <a:gd name="csY6" fmla="*/ 54206 h 54937"/>
                <a:gd name="csX7" fmla="*/ 75958 w 79609"/>
                <a:gd name="csY7" fmla="*/ 55028 h 54937"/>
                <a:gd name="csX8" fmla="*/ 79906 w 79609"/>
                <a:gd name="csY8" fmla="*/ 50751 h 54937"/>
                <a:gd name="csX9" fmla="*/ 79906 w 79609"/>
                <a:gd name="csY9" fmla="*/ 48120 h 54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9609" h="54937">
                  <a:moveTo>
                    <a:pt x="79906" y="48120"/>
                  </a:moveTo>
                  <a:cubicBezTo>
                    <a:pt x="57536" y="7821"/>
                    <a:pt x="20527" y="91"/>
                    <a:pt x="3750" y="91"/>
                  </a:cubicBezTo>
                  <a:cubicBezTo>
                    <a:pt x="296" y="91"/>
                    <a:pt x="296" y="255"/>
                    <a:pt x="296" y="4696"/>
                  </a:cubicBezTo>
                  <a:lnTo>
                    <a:pt x="296" y="15223"/>
                  </a:lnTo>
                  <a:cubicBezTo>
                    <a:pt x="296" y="19006"/>
                    <a:pt x="296" y="19829"/>
                    <a:pt x="2599" y="19829"/>
                  </a:cubicBezTo>
                  <a:cubicBezTo>
                    <a:pt x="12632" y="19993"/>
                    <a:pt x="28916" y="21309"/>
                    <a:pt x="43720" y="28546"/>
                  </a:cubicBezTo>
                  <a:cubicBezTo>
                    <a:pt x="61484" y="37428"/>
                    <a:pt x="68228" y="47791"/>
                    <a:pt x="72340" y="54206"/>
                  </a:cubicBezTo>
                  <a:cubicBezTo>
                    <a:pt x="72833" y="55028"/>
                    <a:pt x="73820" y="55028"/>
                    <a:pt x="75958" y="55028"/>
                  </a:cubicBezTo>
                  <a:cubicBezTo>
                    <a:pt x="79741" y="55028"/>
                    <a:pt x="79906" y="54863"/>
                    <a:pt x="79906" y="50751"/>
                  </a:cubicBezTo>
                  <a:lnTo>
                    <a:pt x="79906" y="48120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92" name="任意形状 91">
              <a:extLst>
                <a:ext uri="{FF2B5EF4-FFF2-40B4-BE49-F238E27FC236}">
                  <a16:creationId xmlns:a16="http://schemas.microsoft.com/office/drawing/2014/main" id="{6483C4C3-7558-9076-463C-713168DD2A3E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7496575" y="4015130"/>
              <a:ext cx="79609" cy="54937"/>
            </a:xfrm>
            <a:custGeom>
              <a:avLst/>
              <a:gdLst>
                <a:gd name="csX0" fmla="*/ 79910 w 79609"/>
                <a:gd name="csY0" fmla="*/ 4696 h 54937"/>
                <a:gd name="csX1" fmla="*/ 76456 w 79609"/>
                <a:gd name="csY1" fmla="*/ 91 h 54937"/>
                <a:gd name="csX2" fmla="*/ 300 w 79609"/>
                <a:gd name="csY2" fmla="*/ 48120 h 54937"/>
                <a:gd name="csX3" fmla="*/ 300 w 79609"/>
                <a:gd name="csY3" fmla="*/ 50751 h 54937"/>
                <a:gd name="csX4" fmla="*/ 4248 w 79609"/>
                <a:gd name="csY4" fmla="*/ 55028 h 54937"/>
                <a:gd name="csX5" fmla="*/ 8360 w 79609"/>
                <a:gd name="csY5" fmla="*/ 53712 h 54937"/>
                <a:gd name="csX6" fmla="*/ 77937 w 79609"/>
                <a:gd name="csY6" fmla="*/ 19829 h 54937"/>
                <a:gd name="csX7" fmla="*/ 79910 w 79609"/>
                <a:gd name="csY7" fmla="*/ 15223 h 54937"/>
                <a:gd name="csX8" fmla="*/ 79910 w 79609"/>
                <a:gd name="csY8" fmla="*/ 4696 h 54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9609" h="54937">
                  <a:moveTo>
                    <a:pt x="79910" y="4696"/>
                  </a:moveTo>
                  <a:cubicBezTo>
                    <a:pt x="79910" y="255"/>
                    <a:pt x="79910" y="91"/>
                    <a:pt x="76456" y="91"/>
                  </a:cubicBezTo>
                  <a:cubicBezTo>
                    <a:pt x="59679" y="91"/>
                    <a:pt x="22670" y="7986"/>
                    <a:pt x="300" y="48120"/>
                  </a:cubicBezTo>
                  <a:lnTo>
                    <a:pt x="300" y="50751"/>
                  </a:lnTo>
                  <a:cubicBezTo>
                    <a:pt x="300" y="54863"/>
                    <a:pt x="465" y="55028"/>
                    <a:pt x="4248" y="55028"/>
                  </a:cubicBezTo>
                  <a:cubicBezTo>
                    <a:pt x="7373" y="55028"/>
                    <a:pt x="7538" y="54863"/>
                    <a:pt x="8360" y="53712"/>
                  </a:cubicBezTo>
                  <a:cubicBezTo>
                    <a:pt x="21848" y="32165"/>
                    <a:pt x="44546" y="20486"/>
                    <a:pt x="77937" y="19829"/>
                  </a:cubicBezTo>
                  <a:cubicBezTo>
                    <a:pt x="79910" y="19829"/>
                    <a:pt x="79910" y="18677"/>
                    <a:pt x="79910" y="15223"/>
                  </a:cubicBezTo>
                  <a:lnTo>
                    <a:pt x="79910" y="4696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90E816FB-42D3-377C-A6E2-2D1A78435E6D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7574540" y="4015131"/>
              <a:ext cx="97323" cy="19737"/>
            </a:xfrm>
            <a:prstGeom prst="rect">
              <a:avLst/>
            </a:pr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94" name="任意形状 93">
              <a:extLst>
                <a:ext uri="{FF2B5EF4-FFF2-40B4-BE49-F238E27FC236}">
                  <a16:creationId xmlns:a16="http://schemas.microsoft.com/office/drawing/2014/main" id="{B4E4FF10-36CD-C4A7-550C-C256CA71BB6A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7670219" y="3979931"/>
              <a:ext cx="79609" cy="54937"/>
            </a:xfrm>
            <a:custGeom>
              <a:avLst/>
              <a:gdLst>
                <a:gd name="csX0" fmla="*/ 79921 w 79609"/>
                <a:gd name="csY0" fmla="*/ 4367 h 54937"/>
                <a:gd name="csX1" fmla="*/ 75973 w 79609"/>
                <a:gd name="csY1" fmla="*/ 91 h 54937"/>
                <a:gd name="csX2" fmla="*/ 71861 w 79609"/>
                <a:gd name="csY2" fmla="*/ 1406 h 54937"/>
                <a:gd name="csX3" fmla="*/ 2285 w 79609"/>
                <a:gd name="csY3" fmla="*/ 35290 h 54937"/>
                <a:gd name="csX4" fmla="*/ 311 w 79609"/>
                <a:gd name="csY4" fmla="*/ 39895 h 54937"/>
                <a:gd name="csX5" fmla="*/ 311 w 79609"/>
                <a:gd name="csY5" fmla="*/ 50422 h 54937"/>
                <a:gd name="csX6" fmla="*/ 3765 w 79609"/>
                <a:gd name="csY6" fmla="*/ 55028 h 54937"/>
                <a:gd name="csX7" fmla="*/ 79921 w 79609"/>
                <a:gd name="csY7" fmla="*/ 6999 h 54937"/>
                <a:gd name="csX8" fmla="*/ 79921 w 79609"/>
                <a:gd name="csY8" fmla="*/ 4367 h 54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9609" h="54937">
                  <a:moveTo>
                    <a:pt x="79921" y="4367"/>
                  </a:moveTo>
                  <a:cubicBezTo>
                    <a:pt x="79921" y="255"/>
                    <a:pt x="79756" y="91"/>
                    <a:pt x="75973" y="91"/>
                  </a:cubicBezTo>
                  <a:cubicBezTo>
                    <a:pt x="72848" y="91"/>
                    <a:pt x="72683" y="255"/>
                    <a:pt x="71861" y="1406"/>
                  </a:cubicBezTo>
                  <a:cubicBezTo>
                    <a:pt x="58373" y="22954"/>
                    <a:pt x="35675" y="34632"/>
                    <a:pt x="2285" y="35290"/>
                  </a:cubicBezTo>
                  <a:cubicBezTo>
                    <a:pt x="311" y="35290"/>
                    <a:pt x="311" y="36441"/>
                    <a:pt x="311" y="39895"/>
                  </a:cubicBezTo>
                  <a:lnTo>
                    <a:pt x="311" y="50422"/>
                  </a:lnTo>
                  <a:cubicBezTo>
                    <a:pt x="311" y="54863"/>
                    <a:pt x="311" y="55028"/>
                    <a:pt x="3765" y="55028"/>
                  </a:cubicBezTo>
                  <a:cubicBezTo>
                    <a:pt x="20542" y="55028"/>
                    <a:pt x="57551" y="47133"/>
                    <a:pt x="79921" y="6999"/>
                  </a:cubicBezTo>
                  <a:lnTo>
                    <a:pt x="79921" y="4367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95" name="任意形状 94">
              <a:extLst>
                <a:ext uri="{FF2B5EF4-FFF2-40B4-BE49-F238E27FC236}">
                  <a16:creationId xmlns:a16="http://schemas.microsoft.com/office/drawing/2014/main" id="{3986D73D-6C35-D4F5-714F-2F046D327B4E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7423278" y="4149946"/>
              <a:ext cx="61598" cy="51927"/>
            </a:xfrm>
            <a:custGeom>
              <a:avLst/>
              <a:gdLst>
                <a:gd name="csX0" fmla="*/ 23438 w 61598"/>
                <a:gd name="csY0" fmla="*/ 38672 h 51927"/>
                <a:gd name="csX1" fmla="*/ 12615 w 61598"/>
                <a:gd name="csY1" fmla="*/ 48804 h 51927"/>
                <a:gd name="csX2" fmla="*/ 6398 w 61598"/>
                <a:gd name="csY2" fmla="*/ 47192 h 51927"/>
                <a:gd name="csX3" fmla="*/ 11464 w 61598"/>
                <a:gd name="csY3" fmla="*/ 40860 h 51927"/>
                <a:gd name="csX4" fmla="*/ 6858 w 61598"/>
                <a:gd name="csY4" fmla="*/ 36599 h 51927"/>
                <a:gd name="csX5" fmla="*/ 295 w 61598"/>
                <a:gd name="csY5" fmla="*/ 43623 h 51927"/>
                <a:gd name="csX6" fmla="*/ 12385 w 61598"/>
                <a:gd name="csY6" fmla="*/ 52028 h 51927"/>
                <a:gd name="csX7" fmla="*/ 25280 w 61598"/>
                <a:gd name="csY7" fmla="*/ 43853 h 51927"/>
                <a:gd name="csX8" fmla="*/ 38982 w 61598"/>
                <a:gd name="csY8" fmla="*/ 52028 h 51927"/>
                <a:gd name="csX9" fmla="*/ 59246 w 61598"/>
                <a:gd name="csY9" fmla="*/ 34412 h 51927"/>
                <a:gd name="csX10" fmla="*/ 57404 w 61598"/>
                <a:gd name="csY10" fmla="*/ 32915 h 51927"/>
                <a:gd name="csX11" fmla="*/ 55216 w 61598"/>
                <a:gd name="csY11" fmla="*/ 34872 h 51927"/>
                <a:gd name="csX12" fmla="*/ 39442 w 61598"/>
                <a:gd name="csY12" fmla="*/ 48804 h 51927"/>
                <a:gd name="csX13" fmla="*/ 32419 w 61598"/>
                <a:gd name="csY13" fmla="*/ 41320 h 51927"/>
                <a:gd name="csX14" fmla="*/ 38406 w 61598"/>
                <a:gd name="csY14" fmla="*/ 15069 h 51927"/>
                <a:gd name="csX15" fmla="*/ 49690 w 61598"/>
                <a:gd name="csY15" fmla="*/ 3324 h 51927"/>
                <a:gd name="csX16" fmla="*/ 55907 w 61598"/>
                <a:gd name="csY16" fmla="*/ 4936 h 51927"/>
                <a:gd name="csX17" fmla="*/ 50841 w 61598"/>
                <a:gd name="csY17" fmla="*/ 11269 h 51927"/>
                <a:gd name="csX18" fmla="*/ 55447 w 61598"/>
                <a:gd name="csY18" fmla="*/ 15529 h 51927"/>
                <a:gd name="csX19" fmla="*/ 61894 w 61598"/>
                <a:gd name="csY19" fmla="*/ 8506 h 51927"/>
                <a:gd name="csX20" fmla="*/ 49920 w 61598"/>
                <a:gd name="csY20" fmla="*/ 101 h 51927"/>
                <a:gd name="csX21" fmla="*/ 37025 w 61598"/>
                <a:gd name="csY21" fmla="*/ 8275 h 51927"/>
                <a:gd name="csX22" fmla="*/ 23208 w 61598"/>
                <a:gd name="csY22" fmla="*/ 101 h 51927"/>
                <a:gd name="csX23" fmla="*/ 2944 w 61598"/>
                <a:gd name="csY23" fmla="*/ 17717 h 51927"/>
                <a:gd name="csX24" fmla="*/ 4901 w 61598"/>
                <a:gd name="csY24" fmla="*/ 19214 h 51927"/>
                <a:gd name="csX25" fmla="*/ 7089 w 61598"/>
                <a:gd name="csY25" fmla="*/ 17256 h 51927"/>
                <a:gd name="csX26" fmla="*/ 22863 w 61598"/>
                <a:gd name="csY26" fmla="*/ 3324 h 51927"/>
                <a:gd name="csX27" fmla="*/ 29771 w 61598"/>
                <a:gd name="csY27" fmla="*/ 10924 h 51927"/>
                <a:gd name="csX28" fmla="*/ 27353 w 61598"/>
                <a:gd name="csY28" fmla="*/ 22898 h 51927"/>
                <a:gd name="csX29" fmla="*/ 23438 w 61598"/>
                <a:gd name="csY29" fmla="*/ 38672 h 519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61598" h="51927">
                  <a:moveTo>
                    <a:pt x="23438" y="38672"/>
                  </a:moveTo>
                  <a:cubicBezTo>
                    <a:pt x="22287" y="42587"/>
                    <a:pt x="18487" y="48804"/>
                    <a:pt x="12615" y="48804"/>
                  </a:cubicBezTo>
                  <a:cubicBezTo>
                    <a:pt x="12270" y="48804"/>
                    <a:pt x="8816" y="48804"/>
                    <a:pt x="6398" y="47192"/>
                  </a:cubicBezTo>
                  <a:cubicBezTo>
                    <a:pt x="11118" y="45695"/>
                    <a:pt x="11464" y="41550"/>
                    <a:pt x="11464" y="40860"/>
                  </a:cubicBezTo>
                  <a:cubicBezTo>
                    <a:pt x="11464" y="38326"/>
                    <a:pt x="9507" y="36599"/>
                    <a:pt x="6858" y="36599"/>
                  </a:cubicBezTo>
                  <a:cubicBezTo>
                    <a:pt x="3634" y="36599"/>
                    <a:pt x="295" y="39363"/>
                    <a:pt x="295" y="43623"/>
                  </a:cubicBezTo>
                  <a:cubicBezTo>
                    <a:pt x="295" y="49380"/>
                    <a:pt x="6743" y="52028"/>
                    <a:pt x="12385" y="52028"/>
                  </a:cubicBezTo>
                  <a:cubicBezTo>
                    <a:pt x="17681" y="52028"/>
                    <a:pt x="22402" y="48689"/>
                    <a:pt x="25280" y="43853"/>
                  </a:cubicBezTo>
                  <a:cubicBezTo>
                    <a:pt x="28044" y="49955"/>
                    <a:pt x="34376" y="52028"/>
                    <a:pt x="38982" y="52028"/>
                  </a:cubicBezTo>
                  <a:cubicBezTo>
                    <a:pt x="52223" y="52028"/>
                    <a:pt x="59246" y="37636"/>
                    <a:pt x="59246" y="34412"/>
                  </a:cubicBezTo>
                  <a:cubicBezTo>
                    <a:pt x="59246" y="32915"/>
                    <a:pt x="57749" y="32915"/>
                    <a:pt x="57404" y="32915"/>
                  </a:cubicBezTo>
                  <a:cubicBezTo>
                    <a:pt x="55792" y="32915"/>
                    <a:pt x="55677" y="33491"/>
                    <a:pt x="55216" y="34872"/>
                  </a:cubicBezTo>
                  <a:cubicBezTo>
                    <a:pt x="52798" y="42817"/>
                    <a:pt x="45890" y="48804"/>
                    <a:pt x="39442" y="48804"/>
                  </a:cubicBezTo>
                  <a:cubicBezTo>
                    <a:pt x="34837" y="48804"/>
                    <a:pt x="32419" y="45695"/>
                    <a:pt x="32419" y="41320"/>
                  </a:cubicBezTo>
                  <a:cubicBezTo>
                    <a:pt x="32419" y="38326"/>
                    <a:pt x="35182" y="27849"/>
                    <a:pt x="38406" y="15069"/>
                  </a:cubicBezTo>
                  <a:cubicBezTo>
                    <a:pt x="40709" y="6203"/>
                    <a:pt x="45890" y="3324"/>
                    <a:pt x="49690" y="3324"/>
                  </a:cubicBezTo>
                  <a:cubicBezTo>
                    <a:pt x="49920" y="3324"/>
                    <a:pt x="53489" y="3324"/>
                    <a:pt x="55907" y="4936"/>
                  </a:cubicBezTo>
                  <a:cubicBezTo>
                    <a:pt x="52223" y="5973"/>
                    <a:pt x="50841" y="9197"/>
                    <a:pt x="50841" y="11269"/>
                  </a:cubicBezTo>
                  <a:cubicBezTo>
                    <a:pt x="50841" y="13802"/>
                    <a:pt x="52798" y="15529"/>
                    <a:pt x="55447" y="15529"/>
                  </a:cubicBezTo>
                  <a:cubicBezTo>
                    <a:pt x="58095" y="15529"/>
                    <a:pt x="61894" y="13341"/>
                    <a:pt x="61894" y="8506"/>
                  </a:cubicBezTo>
                  <a:cubicBezTo>
                    <a:pt x="61894" y="2058"/>
                    <a:pt x="54526" y="101"/>
                    <a:pt x="49920" y="101"/>
                  </a:cubicBezTo>
                  <a:cubicBezTo>
                    <a:pt x="44163" y="101"/>
                    <a:pt x="39558" y="3900"/>
                    <a:pt x="37025" y="8275"/>
                  </a:cubicBezTo>
                  <a:cubicBezTo>
                    <a:pt x="34952" y="3555"/>
                    <a:pt x="29656" y="101"/>
                    <a:pt x="23208" y="101"/>
                  </a:cubicBezTo>
                  <a:cubicBezTo>
                    <a:pt x="10312" y="101"/>
                    <a:pt x="2944" y="14263"/>
                    <a:pt x="2944" y="17717"/>
                  </a:cubicBezTo>
                  <a:cubicBezTo>
                    <a:pt x="2944" y="19214"/>
                    <a:pt x="4556" y="19214"/>
                    <a:pt x="4901" y="19214"/>
                  </a:cubicBezTo>
                  <a:cubicBezTo>
                    <a:pt x="6398" y="19214"/>
                    <a:pt x="6513" y="18753"/>
                    <a:pt x="7089" y="17256"/>
                  </a:cubicBezTo>
                  <a:cubicBezTo>
                    <a:pt x="9967" y="8275"/>
                    <a:pt x="17221" y="3324"/>
                    <a:pt x="22863" y="3324"/>
                  </a:cubicBezTo>
                  <a:cubicBezTo>
                    <a:pt x="26662" y="3324"/>
                    <a:pt x="29771" y="5397"/>
                    <a:pt x="29771" y="10924"/>
                  </a:cubicBezTo>
                  <a:cubicBezTo>
                    <a:pt x="29771" y="13226"/>
                    <a:pt x="28389" y="18983"/>
                    <a:pt x="27353" y="22898"/>
                  </a:cubicBezTo>
                  <a:lnTo>
                    <a:pt x="23438" y="38672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  <p:sp>
          <p:nvSpPr>
            <p:cNvPr id="96" name="任意形状 95">
              <a:extLst>
                <a:ext uri="{FF2B5EF4-FFF2-40B4-BE49-F238E27FC236}">
                  <a16:creationId xmlns:a16="http://schemas.microsoft.com/office/drawing/2014/main" id="{D0E059B6-A5EA-CB69-9355-DF8E9399C80A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7499414" y="4112313"/>
              <a:ext cx="69165" cy="55513"/>
            </a:xfrm>
            <a:custGeom>
              <a:avLst/>
              <a:gdLst>
                <a:gd name="csX0" fmla="*/ 41010 w 69165"/>
                <a:gd name="csY0" fmla="*/ 6513 h 55513"/>
                <a:gd name="csX1" fmla="*/ 45122 w 69165"/>
                <a:gd name="csY1" fmla="*/ 3799 h 55513"/>
                <a:gd name="csX2" fmla="*/ 53921 w 69165"/>
                <a:gd name="csY2" fmla="*/ 3799 h 55513"/>
                <a:gd name="csX3" fmla="*/ 64284 w 69165"/>
                <a:gd name="csY3" fmla="*/ 11448 h 55513"/>
                <a:gd name="csX4" fmla="*/ 63708 w 69165"/>
                <a:gd name="csY4" fmla="*/ 17534 h 55513"/>
                <a:gd name="csX5" fmla="*/ 63626 w 69165"/>
                <a:gd name="csY5" fmla="*/ 18274 h 55513"/>
                <a:gd name="csX6" fmla="*/ 65353 w 69165"/>
                <a:gd name="csY6" fmla="*/ 19754 h 55513"/>
                <a:gd name="csX7" fmla="*/ 67245 w 69165"/>
                <a:gd name="csY7" fmla="*/ 17534 h 55513"/>
                <a:gd name="csX8" fmla="*/ 69301 w 69165"/>
                <a:gd name="csY8" fmla="*/ 2813 h 55513"/>
                <a:gd name="csX9" fmla="*/ 69465 w 69165"/>
                <a:gd name="csY9" fmla="*/ 1497 h 55513"/>
                <a:gd name="csX10" fmla="*/ 66751 w 69165"/>
                <a:gd name="csY10" fmla="*/ 99 h 55513"/>
                <a:gd name="csX11" fmla="*/ 9100 w 69165"/>
                <a:gd name="csY11" fmla="*/ 99 h 55513"/>
                <a:gd name="csX12" fmla="*/ 6221 w 69165"/>
                <a:gd name="csY12" fmla="*/ 1826 h 55513"/>
                <a:gd name="csX13" fmla="*/ 793 w 69165"/>
                <a:gd name="csY13" fmla="*/ 16958 h 55513"/>
                <a:gd name="csX14" fmla="*/ 300 w 69165"/>
                <a:gd name="csY14" fmla="*/ 18356 h 55513"/>
                <a:gd name="csX15" fmla="*/ 2027 w 69165"/>
                <a:gd name="csY15" fmla="*/ 19754 h 55513"/>
                <a:gd name="csX16" fmla="*/ 4165 w 69165"/>
                <a:gd name="csY16" fmla="*/ 17534 h 55513"/>
                <a:gd name="csX17" fmla="*/ 21436 w 69165"/>
                <a:gd name="csY17" fmla="*/ 3799 h 55513"/>
                <a:gd name="csX18" fmla="*/ 30318 w 69165"/>
                <a:gd name="csY18" fmla="*/ 3799 h 55513"/>
                <a:gd name="csX19" fmla="*/ 32950 w 69165"/>
                <a:gd name="csY19" fmla="*/ 3964 h 55513"/>
                <a:gd name="csX20" fmla="*/ 32950 w 69165"/>
                <a:gd name="csY20" fmla="*/ 4457 h 55513"/>
                <a:gd name="csX21" fmla="*/ 21929 w 69165"/>
                <a:gd name="csY21" fmla="*/ 48457 h 55513"/>
                <a:gd name="csX22" fmla="*/ 12389 w 69165"/>
                <a:gd name="csY22" fmla="*/ 51911 h 55513"/>
                <a:gd name="csX23" fmla="*/ 10580 w 69165"/>
                <a:gd name="csY23" fmla="*/ 51911 h 55513"/>
                <a:gd name="csX24" fmla="*/ 8360 w 69165"/>
                <a:gd name="csY24" fmla="*/ 52322 h 55513"/>
                <a:gd name="csX25" fmla="*/ 7619 w 69165"/>
                <a:gd name="csY25" fmla="*/ 54214 h 55513"/>
                <a:gd name="csX26" fmla="*/ 9264 w 69165"/>
                <a:gd name="csY26" fmla="*/ 55612 h 55513"/>
                <a:gd name="csX27" fmla="*/ 16831 w 69165"/>
                <a:gd name="csY27" fmla="*/ 55365 h 55513"/>
                <a:gd name="csX28" fmla="*/ 24479 w 69165"/>
                <a:gd name="csY28" fmla="*/ 55283 h 55513"/>
                <a:gd name="csX29" fmla="*/ 32456 w 69165"/>
                <a:gd name="csY29" fmla="*/ 55365 h 55513"/>
                <a:gd name="csX30" fmla="*/ 40023 w 69165"/>
                <a:gd name="csY30" fmla="*/ 55612 h 55513"/>
                <a:gd name="csX31" fmla="*/ 42161 w 69165"/>
                <a:gd name="csY31" fmla="*/ 53309 h 55513"/>
                <a:gd name="csX32" fmla="*/ 39529 w 69165"/>
                <a:gd name="csY32" fmla="*/ 51911 h 55513"/>
                <a:gd name="csX33" fmla="*/ 37720 w 69165"/>
                <a:gd name="csY33" fmla="*/ 51911 h 55513"/>
                <a:gd name="csX34" fmla="*/ 31223 w 69165"/>
                <a:gd name="csY34" fmla="*/ 51500 h 55513"/>
                <a:gd name="csX35" fmla="*/ 30071 w 69165"/>
                <a:gd name="csY35" fmla="*/ 50430 h 55513"/>
                <a:gd name="csX36" fmla="*/ 30400 w 69165"/>
                <a:gd name="csY36" fmla="*/ 48703 h 55513"/>
                <a:gd name="csX37" fmla="*/ 41010 w 69165"/>
                <a:gd name="csY37" fmla="*/ 6513 h 55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69165" h="55513">
                  <a:moveTo>
                    <a:pt x="41010" y="6513"/>
                  </a:moveTo>
                  <a:cubicBezTo>
                    <a:pt x="41667" y="3964"/>
                    <a:pt x="41667" y="3799"/>
                    <a:pt x="45122" y="3799"/>
                  </a:cubicBezTo>
                  <a:lnTo>
                    <a:pt x="53921" y="3799"/>
                  </a:lnTo>
                  <a:cubicBezTo>
                    <a:pt x="63133" y="3799"/>
                    <a:pt x="64284" y="6349"/>
                    <a:pt x="64284" y="11448"/>
                  </a:cubicBezTo>
                  <a:cubicBezTo>
                    <a:pt x="64284" y="12024"/>
                    <a:pt x="64284" y="13586"/>
                    <a:pt x="63708" y="17534"/>
                  </a:cubicBezTo>
                  <a:lnTo>
                    <a:pt x="63626" y="18274"/>
                  </a:lnTo>
                  <a:cubicBezTo>
                    <a:pt x="63626" y="19096"/>
                    <a:pt x="64119" y="19754"/>
                    <a:pt x="65353" y="19754"/>
                  </a:cubicBezTo>
                  <a:cubicBezTo>
                    <a:pt x="66916" y="19754"/>
                    <a:pt x="67080" y="19014"/>
                    <a:pt x="67245" y="17534"/>
                  </a:cubicBezTo>
                  <a:lnTo>
                    <a:pt x="69301" y="2813"/>
                  </a:lnTo>
                  <a:cubicBezTo>
                    <a:pt x="69465" y="1990"/>
                    <a:pt x="69465" y="1826"/>
                    <a:pt x="69465" y="1497"/>
                  </a:cubicBezTo>
                  <a:cubicBezTo>
                    <a:pt x="69465" y="99"/>
                    <a:pt x="68149" y="99"/>
                    <a:pt x="66751" y="99"/>
                  </a:cubicBezTo>
                  <a:lnTo>
                    <a:pt x="9100" y="99"/>
                  </a:lnTo>
                  <a:cubicBezTo>
                    <a:pt x="6962" y="99"/>
                    <a:pt x="6879" y="99"/>
                    <a:pt x="6221" y="1826"/>
                  </a:cubicBezTo>
                  <a:lnTo>
                    <a:pt x="793" y="16958"/>
                  </a:lnTo>
                  <a:cubicBezTo>
                    <a:pt x="711" y="17123"/>
                    <a:pt x="300" y="18274"/>
                    <a:pt x="300" y="18356"/>
                  </a:cubicBezTo>
                  <a:cubicBezTo>
                    <a:pt x="300" y="18850"/>
                    <a:pt x="629" y="19754"/>
                    <a:pt x="2027" y="19754"/>
                  </a:cubicBezTo>
                  <a:cubicBezTo>
                    <a:pt x="3343" y="19754"/>
                    <a:pt x="3425" y="19508"/>
                    <a:pt x="4165" y="17534"/>
                  </a:cubicBezTo>
                  <a:cubicBezTo>
                    <a:pt x="7866" y="7747"/>
                    <a:pt x="10251" y="3799"/>
                    <a:pt x="21436" y="3799"/>
                  </a:cubicBezTo>
                  <a:lnTo>
                    <a:pt x="30318" y="3799"/>
                  </a:lnTo>
                  <a:cubicBezTo>
                    <a:pt x="30976" y="3799"/>
                    <a:pt x="32127" y="3799"/>
                    <a:pt x="32950" y="3964"/>
                  </a:cubicBezTo>
                  <a:lnTo>
                    <a:pt x="32950" y="4457"/>
                  </a:lnTo>
                  <a:lnTo>
                    <a:pt x="21929" y="48457"/>
                  </a:lnTo>
                  <a:cubicBezTo>
                    <a:pt x="21272" y="51088"/>
                    <a:pt x="21025" y="51911"/>
                    <a:pt x="12389" y="51911"/>
                  </a:cubicBezTo>
                  <a:lnTo>
                    <a:pt x="10580" y="51911"/>
                  </a:lnTo>
                  <a:cubicBezTo>
                    <a:pt x="8853" y="51911"/>
                    <a:pt x="8771" y="51993"/>
                    <a:pt x="8360" y="52322"/>
                  </a:cubicBezTo>
                  <a:cubicBezTo>
                    <a:pt x="7948" y="52733"/>
                    <a:pt x="7619" y="53638"/>
                    <a:pt x="7619" y="54214"/>
                  </a:cubicBezTo>
                  <a:cubicBezTo>
                    <a:pt x="7619" y="54707"/>
                    <a:pt x="7948" y="55612"/>
                    <a:pt x="9264" y="55612"/>
                  </a:cubicBezTo>
                  <a:cubicBezTo>
                    <a:pt x="11732" y="55612"/>
                    <a:pt x="14363" y="55365"/>
                    <a:pt x="16831" y="55365"/>
                  </a:cubicBezTo>
                  <a:cubicBezTo>
                    <a:pt x="19380" y="55365"/>
                    <a:pt x="21929" y="55283"/>
                    <a:pt x="24479" y="55283"/>
                  </a:cubicBezTo>
                  <a:cubicBezTo>
                    <a:pt x="27111" y="55283"/>
                    <a:pt x="29825" y="55365"/>
                    <a:pt x="32456" y="55365"/>
                  </a:cubicBezTo>
                  <a:cubicBezTo>
                    <a:pt x="34924" y="55365"/>
                    <a:pt x="37555" y="55612"/>
                    <a:pt x="40023" y="55612"/>
                  </a:cubicBezTo>
                  <a:cubicBezTo>
                    <a:pt x="40598" y="55612"/>
                    <a:pt x="42161" y="55612"/>
                    <a:pt x="42161" y="53309"/>
                  </a:cubicBezTo>
                  <a:cubicBezTo>
                    <a:pt x="42161" y="51911"/>
                    <a:pt x="40927" y="51911"/>
                    <a:pt x="39529" y="51911"/>
                  </a:cubicBezTo>
                  <a:lnTo>
                    <a:pt x="37720" y="51911"/>
                  </a:lnTo>
                  <a:cubicBezTo>
                    <a:pt x="35582" y="51911"/>
                    <a:pt x="33361" y="51911"/>
                    <a:pt x="31223" y="51500"/>
                  </a:cubicBezTo>
                  <a:cubicBezTo>
                    <a:pt x="30565" y="51417"/>
                    <a:pt x="30071" y="51335"/>
                    <a:pt x="30071" y="50430"/>
                  </a:cubicBezTo>
                  <a:cubicBezTo>
                    <a:pt x="30071" y="50019"/>
                    <a:pt x="30071" y="49855"/>
                    <a:pt x="30400" y="48703"/>
                  </a:cubicBezTo>
                  <a:lnTo>
                    <a:pt x="41010" y="6513"/>
                  </a:lnTo>
                  <a:close/>
                </a:path>
              </a:pathLst>
            </a:custGeom>
            <a:solidFill>
              <a:srgbClr val="000000"/>
            </a:solidFill>
            <a:ln w="16463" cap="flat">
              <a:noFill/>
              <a:prstDash val="solid"/>
              <a:miter/>
            </a:ln>
          </p:spPr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CCE2B252-3228-048E-44C6-214BDE2AF6B5}"/>
                  </a:ext>
                </a:extLst>
              </p:cNvPr>
              <p:cNvSpPr txBox="1"/>
              <p:nvPr/>
            </p:nvSpPr>
            <p:spPr>
              <a:xfrm>
                <a:off x="-179906" y="4310955"/>
                <a:ext cx="119906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解释：</a:t>
                </a:r>
                <a:r>
                  <a:rPr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误差从输出层出发，经过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的转置“传回”到隐藏层，乘以激活函数的导数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𝜎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′</m:t>
                    </m:r>
                  </m:oMath>
                </a14:m>
                <a:r>
                  <a:rPr lang="zh-CN" altLang="e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最后与输入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𝑥</m:t>
                    </m:r>
                  </m:oMath>
                </a14:m>
                <a:r>
                  <a:rPr lang="en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结合计算出梯度。</a:t>
                </a:r>
                <a:endPara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CCE2B252-3228-048E-44C6-214BDE2AF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9906" y="4310955"/>
                <a:ext cx="11990664" cy="646331"/>
              </a:xfrm>
              <a:prstGeom prst="rect">
                <a:avLst/>
              </a:prstGeom>
              <a:blipFill>
                <a:blip r:embed="rId106"/>
                <a:stretch>
                  <a:fillRect t="-3846" b="-13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文本框 98">
            <a:extLst>
              <a:ext uri="{FF2B5EF4-FFF2-40B4-BE49-F238E27FC236}">
                <a16:creationId xmlns:a16="http://schemas.microsoft.com/office/drawing/2014/main" id="{8FCD7FD4-B709-7F6E-0387-F0BD14E8C361}"/>
              </a:ext>
            </a:extLst>
          </p:cNvPr>
          <p:cNvSpPr txBox="1"/>
          <p:nvPr/>
        </p:nvSpPr>
        <p:spPr>
          <a:xfrm>
            <a:off x="287383" y="5050971"/>
            <a:ext cx="11715320" cy="1156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反向传播本质上是向量微积分中在某一个参数点处 </a:t>
            </a:r>
            <a:r>
              <a:rPr lang="en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Jacobian </a:t>
            </a:r>
            <a:r>
              <a:rPr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矩阵乘法的应用，本质是若干矩阵的乘积</a:t>
            </a:r>
            <a:endParaRPr lang="en-US" altLang="zh-CN" sz="1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在编程实现中（如 </a:t>
            </a:r>
            <a:r>
              <a:rPr lang="en" altLang="zh-CN" sz="16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PyTorch</a:t>
            </a:r>
            <a:r>
              <a:rPr lang="zh-CN" altLang="e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），</a:t>
            </a:r>
            <a:r>
              <a:rPr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可以通过构建计算图（</a:t>
            </a:r>
            <a:r>
              <a:rPr lang="en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Computational Graph</a:t>
            </a:r>
            <a:r>
              <a:rPr lang="zh-CN" altLang="e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自动完成，并借助 </a:t>
            </a:r>
            <a:r>
              <a:rPr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GPU</a:t>
            </a:r>
            <a:r>
              <a:rPr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的并行运算能力实现大规模计算的加速</a:t>
            </a:r>
          </a:p>
        </p:txBody>
      </p:sp>
      <p:grpSp>
        <p:nvGrpSpPr>
          <p:cNvPr id="114" name="组合 113" descr="\documentclass{article}&#10;\usepackage{amsmath}&#10;\pagestyle{empty}&#10;\begin{document}&#10;&#10;$$W \leftarrow W - \eta \cdot \frac{\partial L}{\partial W}$$&#10;&#10;&#10;&#10;\end{document}" title="IguanaTex Vector Display">
            <a:extLst>
              <a:ext uri="{FF2B5EF4-FFF2-40B4-BE49-F238E27FC236}">
                <a16:creationId xmlns:a16="http://schemas.microsoft.com/office/drawing/2014/main" id="{6D99A2A5-0CBE-4619-CE2F-CCDB517B03E3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9053661" y="1503263"/>
            <a:ext cx="2250831" cy="603443"/>
            <a:chOff x="5942325" y="3669850"/>
            <a:chExt cx="1387800" cy="372066"/>
          </a:xfrm>
        </p:grpSpPr>
        <p:sp>
          <p:nvSpPr>
            <p:cNvPr id="103" name="任意形状 102">
              <a:extLst>
                <a:ext uri="{FF2B5EF4-FFF2-40B4-BE49-F238E27FC236}">
                  <a16:creationId xmlns:a16="http://schemas.microsoft.com/office/drawing/2014/main" id="{2205EF39-5920-6314-184F-78DBE529A3D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942325" y="3795529"/>
              <a:ext cx="173697" cy="124880"/>
            </a:xfrm>
            <a:custGeom>
              <a:avLst/>
              <a:gdLst>
                <a:gd name="csX0" fmla="*/ 150976 w 173697"/>
                <a:gd name="csY0" fmla="*/ 20625 h 124880"/>
                <a:gd name="csX1" fmla="*/ 170567 w 173697"/>
                <a:gd name="csY1" fmla="*/ 5569 h 124880"/>
                <a:gd name="csX2" fmla="*/ 173890 w 173697"/>
                <a:gd name="csY2" fmla="*/ 2026 h 124880"/>
                <a:gd name="csX3" fmla="*/ 171791 w 173697"/>
                <a:gd name="csY3" fmla="*/ 77 h 124880"/>
                <a:gd name="csX4" fmla="*/ 158322 w 173697"/>
                <a:gd name="csY4" fmla="*/ 609 h 124880"/>
                <a:gd name="csX5" fmla="*/ 140130 w 173697"/>
                <a:gd name="csY5" fmla="*/ 77 h 124880"/>
                <a:gd name="csX6" fmla="*/ 136807 w 173697"/>
                <a:gd name="csY6" fmla="*/ 3443 h 124880"/>
                <a:gd name="csX7" fmla="*/ 139431 w 173697"/>
                <a:gd name="csY7" fmla="*/ 5569 h 124880"/>
                <a:gd name="csX8" fmla="*/ 149751 w 173697"/>
                <a:gd name="csY8" fmla="*/ 12477 h 124880"/>
                <a:gd name="csX9" fmla="*/ 147477 w 173697"/>
                <a:gd name="csY9" fmla="*/ 18322 h 124880"/>
                <a:gd name="csX10" fmla="*/ 100248 w 173697"/>
                <a:gd name="csY10" fmla="*/ 101753 h 124880"/>
                <a:gd name="csX11" fmla="*/ 93776 w 173697"/>
                <a:gd name="csY11" fmla="*/ 13894 h 124880"/>
                <a:gd name="csX12" fmla="*/ 106021 w 173697"/>
                <a:gd name="csY12" fmla="*/ 5569 h 124880"/>
                <a:gd name="csX13" fmla="*/ 110744 w 173697"/>
                <a:gd name="csY13" fmla="*/ 2026 h 124880"/>
                <a:gd name="csX14" fmla="*/ 108120 w 173697"/>
                <a:gd name="csY14" fmla="*/ 77 h 124880"/>
                <a:gd name="csX15" fmla="*/ 86779 w 173697"/>
                <a:gd name="csY15" fmla="*/ 609 h 124880"/>
                <a:gd name="csX16" fmla="*/ 68413 w 173697"/>
                <a:gd name="csY16" fmla="*/ 77 h 124880"/>
                <a:gd name="csX17" fmla="*/ 65089 w 173697"/>
                <a:gd name="csY17" fmla="*/ 3620 h 124880"/>
                <a:gd name="csX18" fmla="*/ 69287 w 173697"/>
                <a:gd name="csY18" fmla="*/ 5569 h 124880"/>
                <a:gd name="csX19" fmla="*/ 78558 w 173697"/>
                <a:gd name="csY19" fmla="*/ 9997 h 124880"/>
                <a:gd name="csX20" fmla="*/ 79608 w 173697"/>
                <a:gd name="csY20" fmla="*/ 23636 h 124880"/>
                <a:gd name="csX21" fmla="*/ 35352 w 173697"/>
                <a:gd name="csY21" fmla="*/ 101753 h 124880"/>
                <a:gd name="csX22" fmla="*/ 28705 w 173697"/>
                <a:gd name="csY22" fmla="*/ 11946 h 124880"/>
                <a:gd name="csX23" fmla="*/ 41999 w 173697"/>
                <a:gd name="csY23" fmla="*/ 5569 h 124880"/>
                <a:gd name="csX24" fmla="*/ 45673 w 173697"/>
                <a:gd name="csY24" fmla="*/ 2026 h 124880"/>
                <a:gd name="csX25" fmla="*/ 43224 w 173697"/>
                <a:gd name="csY25" fmla="*/ 77 h 124880"/>
                <a:gd name="csX26" fmla="*/ 21709 w 173697"/>
                <a:gd name="csY26" fmla="*/ 609 h 124880"/>
                <a:gd name="csX27" fmla="*/ 3342 w 173697"/>
                <a:gd name="csY27" fmla="*/ 77 h 124880"/>
                <a:gd name="csX28" fmla="*/ 193 w 173697"/>
                <a:gd name="csY28" fmla="*/ 3443 h 124880"/>
                <a:gd name="csX29" fmla="*/ 4566 w 173697"/>
                <a:gd name="csY29" fmla="*/ 5569 h 124880"/>
                <a:gd name="csX30" fmla="*/ 13837 w 173697"/>
                <a:gd name="csY30" fmla="*/ 12123 h 124880"/>
                <a:gd name="csX31" fmla="*/ 21709 w 173697"/>
                <a:gd name="csY31" fmla="*/ 120353 h 124880"/>
                <a:gd name="csX32" fmla="*/ 24507 w 173697"/>
                <a:gd name="csY32" fmla="*/ 124958 h 124880"/>
                <a:gd name="csX33" fmla="*/ 28705 w 173697"/>
                <a:gd name="csY33" fmla="*/ 121238 h 124880"/>
                <a:gd name="csX34" fmla="*/ 80132 w 173697"/>
                <a:gd name="csY34" fmla="*/ 30899 h 124880"/>
                <a:gd name="csX35" fmla="*/ 86604 w 173697"/>
                <a:gd name="csY35" fmla="*/ 120353 h 124880"/>
                <a:gd name="csX36" fmla="*/ 89403 w 173697"/>
                <a:gd name="csY36" fmla="*/ 124958 h 124880"/>
                <a:gd name="csX37" fmla="*/ 93601 w 173697"/>
                <a:gd name="csY37" fmla="*/ 121593 h 124880"/>
                <a:gd name="csX38" fmla="*/ 150976 w 173697"/>
                <a:gd name="csY38" fmla="*/ 20625 h 124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173697" h="124880">
                  <a:moveTo>
                    <a:pt x="150976" y="20625"/>
                  </a:moveTo>
                  <a:cubicBezTo>
                    <a:pt x="155349" y="12831"/>
                    <a:pt x="159547" y="6454"/>
                    <a:pt x="170567" y="5569"/>
                  </a:cubicBezTo>
                  <a:cubicBezTo>
                    <a:pt x="172141" y="5391"/>
                    <a:pt x="173890" y="5391"/>
                    <a:pt x="173890" y="2026"/>
                  </a:cubicBezTo>
                  <a:cubicBezTo>
                    <a:pt x="173890" y="1317"/>
                    <a:pt x="173191" y="77"/>
                    <a:pt x="171791" y="77"/>
                  </a:cubicBezTo>
                  <a:cubicBezTo>
                    <a:pt x="167593" y="77"/>
                    <a:pt x="162695" y="609"/>
                    <a:pt x="158322" y="609"/>
                  </a:cubicBezTo>
                  <a:cubicBezTo>
                    <a:pt x="152375" y="609"/>
                    <a:pt x="145903" y="77"/>
                    <a:pt x="140130" y="77"/>
                  </a:cubicBezTo>
                  <a:cubicBezTo>
                    <a:pt x="139081" y="77"/>
                    <a:pt x="136807" y="77"/>
                    <a:pt x="136807" y="3443"/>
                  </a:cubicBezTo>
                  <a:cubicBezTo>
                    <a:pt x="136807" y="5391"/>
                    <a:pt x="138381" y="5569"/>
                    <a:pt x="139431" y="5569"/>
                  </a:cubicBezTo>
                  <a:cubicBezTo>
                    <a:pt x="143629" y="5746"/>
                    <a:pt x="149751" y="7163"/>
                    <a:pt x="149751" y="12477"/>
                  </a:cubicBezTo>
                  <a:cubicBezTo>
                    <a:pt x="149751" y="14425"/>
                    <a:pt x="148877" y="15842"/>
                    <a:pt x="147477" y="18322"/>
                  </a:cubicBezTo>
                  <a:lnTo>
                    <a:pt x="100248" y="101753"/>
                  </a:lnTo>
                  <a:lnTo>
                    <a:pt x="93776" y="13894"/>
                  </a:lnTo>
                  <a:cubicBezTo>
                    <a:pt x="93601" y="10351"/>
                    <a:pt x="93252" y="5746"/>
                    <a:pt x="106021" y="5569"/>
                  </a:cubicBezTo>
                  <a:cubicBezTo>
                    <a:pt x="108994" y="5569"/>
                    <a:pt x="110744" y="5569"/>
                    <a:pt x="110744" y="2026"/>
                  </a:cubicBezTo>
                  <a:cubicBezTo>
                    <a:pt x="110744" y="255"/>
                    <a:pt x="108820" y="77"/>
                    <a:pt x="108120" y="77"/>
                  </a:cubicBezTo>
                  <a:cubicBezTo>
                    <a:pt x="101123" y="77"/>
                    <a:pt x="93776" y="609"/>
                    <a:pt x="86779" y="609"/>
                  </a:cubicBezTo>
                  <a:cubicBezTo>
                    <a:pt x="82756" y="609"/>
                    <a:pt x="72436" y="77"/>
                    <a:pt x="68413" y="77"/>
                  </a:cubicBezTo>
                  <a:cubicBezTo>
                    <a:pt x="67363" y="77"/>
                    <a:pt x="65089" y="77"/>
                    <a:pt x="65089" y="3620"/>
                  </a:cubicBezTo>
                  <a:cubicBezTo>
                    <a:pt x="65089" y="5569"/>
                    <a:pt x="66838" y="5569"/>
                    <a:pt x="69287" y="5569"/>
                  </a:cubicBezTo>
                  <a:cubicBezTo>
                    <a:pt x="76984" y="5569"/>
                    <a:pt x="78208" y="6631"/>
                    <a:pt x="78558" y="9997"/>
                  </a:cubicBezTo>
                  <a:lnTo>
                    <a:pt x="79608" y="23636"/>
                  </a:lnTo>
                  <a:lnTo>
                    <a:pt x="35352" y="101753"/>
                  </a:lnTo>
                  <a:lnTo>
                    <a:pt x="28705" y="11946"/>
                  </a:lnTo>
                  <a:cubicBezTo>
                    <a:pt x="28705" y="9820"/>
                    <a:pt x="28705" y="5746"/>
                    <a:pt x="41999" y="5569"/>
                  </a:cubicBezTo>
                  <a:cubicBezTo>
                    <a:pt x="43749" y="5569"/>
                    <a:pt x="45673" y="5569"/>
                    <a:pt x="45673" y="2026"/>
                  </a:cubicBezTo>
                  <a:cubicBezTo>
                    <a:pt x="45673" y="77"/>
                    <a:pt x="43574" y="77"/>
                    <a:pt x="43224" y="77"/>
                  </a:cubicBezTo>
                  <a:cubicBezTo>
                    <a:pt x="36227" y="77"/>
                    <a:pt x="28880" y="609"/>
                    <a:pt x="21709" y="609"/>
                  </a:cubicBezTo>
                  <a:cubicBezTo>
                    <a:pt x="15586" y="609"/>
                    <a:pt x="9289" y="77"/>
                    <a:pt x="3342" y="77"/>
                  </a:cubicBezTo>
                  <a:cubicBezTo>
                    <a:pt x="2467" y="77"/>
                    <a:pt x="193" y="77"/>
                    <a:pt x="193" y="3443"/>
                  </a:cubicBezTo>
                  <a:cubicBezTo>
                    <a:pt x="193" y="5569"/>
                    <a:pt x="1768" y="5569"/>
                    <a:pt x="4566" y="5569"/>
                  </a:cubicBezTo>
                  <a:cubicBezTo>
                    <a:pt x="13312" y="5569"/>
                    <a:pt x="13487" y="7163"/>
                    <a:pt x="13837" y="12123"/>
                  </a:cubicBezTo>
                  <a:lnTo>
                    <a:pt x="21709" y="120353"/>
                  </a:lnTo>
                  <a:cubicBezTo>
                    <a:pt x="21884" y="123541"/>
                    <a:pt x="22058" y="124958"/>
                    <a:pt x="24507" y="124958"/>
                  </a:cubicBezTo>
                  <a:cubicBezTo>
                    <a:pt x="26606" y="124958"/>
                    <a:pt x="27131" y="123895"/>
                    <a:pt x="28705" y="121238"/>
                  </a:cubicBezTo>
                  <a:lnTo>
                    <a:pt x="80132" y="30899"/>
                  </a:lnTo>
                  <a:lnTo>
                    <a:pt x="86604" y="120353"/>
                  </a:lnTo>
                  <a:cubicBezTo>
                    <a:pt x="86954" y="124072"/>
                    <a:pt x="87304" y="124958"/>
                    <a:pt x="89403" y="124958"/>
                  </a:cubicBezTo>
                  <a:cubicBezTo>
                    <a:pt x="91677" y="124958"/>
                    <a:pt x="92727" y="123187"/>
                    <a:pt x="93601" y="121593"/>
                  </a:cubicBezTo>
                  <a:lnTo>
                    <a:pt x="150976" y="20625"/>
                  </a:lnTo>
                  <a:close/>
                </a:path>
              </a:pathLst>
            </a:custGeom>
            <a:solidFill>
              <a:srgbClr val="000000"/>
            </a:solidFill>
            <a:ln w="17502" cap="flat">
              <a:noFill/>
              <a:prstDash val="solid"/>
              <a:miter/>
            </a:ln>
          </p:spPr>
        </p:sp>
        <p:sp>
          <p:nvSpPr>
            <p:cNvPr id="104" name="任意形状 103">
              <a:extLst>
                <a:ext uri="{FF2B5EF4-FFF2-40B4-BE49-F238E27FC236}">
                  <a16:creationId xmlns:a16="http://schemas.microsoft.com/office/drawing/2014/main" id="{3488CF0A-DBB1-2CAB-83CA-4C7DF4B732D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180587" y="3825996"/>
              <a:ext cx="155330" cy="92464"/>
            </a:xfrm>
            <a:custGeom>
              <a:avLst/>
              <a:gdLst>
                <a:gd name="csX0" fmla="*/ 149240 w 155330"/>
                <a:gd name="csY0" fmla="*/ 49853 h 92464"/>
                <a:gd name="csX1" fmla="*/ 155537 w 155330"/>
                <a:gd name="csY1" fmla="*/ 46310 h 92464"/>
                <a:gd name="csX2" fmla="*/ 149240 w 155330"/>
                <a:gd name="csY2" fmla="*/ 42767 h 92464"/>
                <a:gd name="csX3" fmla="*/ 19273 w 155330"/>
                <a:gd name="csY3" fmla="*/ 42767 h 92464"/>
                <a:gd name="csX4" fmla="*/ 35016 w 155330"/>
                <a:gd name="csY4" fmla="*/ 25762 h 92464"/>
                <a:gd name="csX5" fmla="*/ 44287 w 155330"/>
                <a:gd name="csY5" fmla="*/ 2203 h 92464"/>
                <a:gd name="csX6" fmla="*/ 40789 w 155330"/>
                <a:gd name="csY6" fmla="*/ 77 h 92464"/>
                <a:gd name="csX7" fmla="*/ 36940 w 155330"/>
                <a:gd name="csY7" fmla="*/ 3620 h 92464"/>
                <a:gd name="csX8" fmla="*/ 2831 w 155330"/>
                <a:gd name="csY8" fmla="*/ 44007 h 92464"/>
                <a:gd name="csX9" fmla="*/ 207 w 155330"/>
                <a:gd name="csY9" fmla="*/ 46310 h 92464"/>
                <a:gd name="csX10" fmla="*/ 2831 w 155330"/>
                <a:gd name="csY10" fmla="*/ 48613 h 92464"/>
                <a:gd name="csX11" fmla="*/ 37115 w 155330"/>
                <a:gd name="csY11" fmla="*/ 89885 h 92464"/>
                <a:gd name="csX12" fmla="*/ 40789 w 155330"/>
                <a:gd name="csY12" fmla="*/ 92542 h 92464"/>
                <a:gd name="csX13" fmla="*/ 44287 w 155330"/>
                <a:gd name="csY13" fmla="*/ 90417 h 92464"/>
                <a:gd name="csX14" fmla="*/ 35366 w 155330"/>
                <a:gd name="csY14" fmla="*/ 67035 h 92464"/>
                <a:gd name="csX15" fmla="*/ 19273 w 155330"/>
                <a:gd name="csY15" fmla="*/ 49853 h 92464"/>
                <a:gd name="csX16" fmla="*/ 149240 w 155330"/>
                <a:gd name="csY16" fmla="*/ 49853 h 924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5330" h="92464">
                  <a:moveTo>
                    <a:pt x="149240" y="49853"/>
                  </a:moveTo>
                  <a:cubicBezTo>
                    <a:pt x="152389" y="49853"/>
                    <a:pt x="155537" y="49853"/>
                    <a:pt x="155537" y="46310"/>
                  </a:cubicBezTo>
                  <a:cubicBezTo>
                    <a:pt x="155537" y="42767"/>
                    <a:pt x="152389" y="42767"/>
                    <a:pt x="149240" y="42767"/>
                  </a:cubicBezTo>
                  <a:lnTo>
                    <a:pt x="19273" y="42767"/>
                  </a:lnTo>
                  <a:cubicBezTo>
                    <a:pt x="28894" y="35327"/>
                    <a:pt x="33617" y="28065"/>
                    <a:pt x="35016" y="25762"/>
                  </a:cubicBezTo>
                  <a:cubicBezTo>
                    <a:pt x="42888" y="13540"/>
                    <a:pt x="44287" y="2380"/>
                    <a:pt x="44287" y="2203"/>
                  </a:cubicBezTo>
                  <a:cubicBezTo>
                    <a:pt x="44287" y="77"/>
                    <a:pt x="42188" y="77"/>
                    <a:pt x="40789" y="77"/>
                  </a:cubicBezTo>
                  <a:cubicBezTo>
                    <a:pt x="37815" y="77"/>
                    <a:pt x="37640" y="432"/>
                    <a:pt x="36940" y="3620"/>
                  </a:cubicBezTo>
                  <a:cubicBezTo>
                    <a:pt x="32917" y="20979"/>
                    <a:pt x="22597" y="35682"/>
                    <a:pt x="2831" y="44007"/>
                  </a:cubicBezTo>
                  <a:cubicBezTo>
                    <a:pt x="906" y="44716"/>
                    <a:pt x="207" y="45070"/>
                    <a:pt x="207" y="46310"/>
                  </a:cubicBezTo>
                  <a:cubicBezTo>
                    <a:pt x="207" y="47550"/>
                    <a:pt x="1081" y="47904"/>
                    <a:pt x="2831" y="48613"/>
                  </a:cubicBezTo>
                  <a:cubicBezTo>
                    <a:pt x="21022" y="56229"/>
                    <a:pt x="32742" y="70046"/>
                    <a:pt x="37115" y="89885"/>
                  </a:cubicBezTo>
                  <a:cubicBezTo>
                    <a:pt x="37640" y="92011"/>
                    <a:pt x="37815" y="92542"/>
                    <a:pt x="40789" y="92542"/>
                  </a:cubicBezTo>
                  <a:cubicBezTo>
                    <a:pt x="42188" y="92542"/>
                    <a:pt x="44287" y="92542"/>
                    <a:pt x="44287" y="90417"/>
                  </a:cubicBezTo>
                  <a:cubicBezTo>
                    <a:pt x="44287" y="90062"/>
                    <a:pt x="42713" y="78903"/>
                    <a:pt x="35366" y="67035"/>
                  </a:cubicBezTo>
                  <a:cubicBezTo>
                    <a:pt x="31868" y="61721"/>
                    <a:pt x="26795" y="55521"/>
                    <a:pt x="19273" y="49853"/>
                  </a:cubicBezTo>
                  <a:lnTo>
                    <a:pt x="149240" y="49853"/>
                  </a:lnTo>
                  <a:close/>
                </a:path>
              </a:pathLst>
            </a:custGeom>
            <a:solidFill>
              <a:srgbClr val="000000"/>
            </a:solidFill>
            <a:ln w="17502" cap="flat">
              <a:noFill/>
              <a:prstDash val="solid"/>
              <a:miter/>
            </a:ln>
          </p:spPr>
        </p:sp>
        <p:sp>
          <p:nvSpPr>
            <p:cNvPr id="105" name="任意形状 104">
              <a:extLst>
                <a:ext uri="{FF2B5EF4-FFF2-40B4-BE49-F238E27FC236}">
                  <a16:creationId xmlns:a16="http://schemas.microsoft.com/office/drawing/2014/main" id="{BA5BFCAE-2975-94CE-1218-EF4FA240EE1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403922" y="3795529"/>
              <a:ext cx="173697" cy="124880"/>
            </a:xfrm>
            <a:custGeom>
              <a:avLst/>
              <a:gdLst>
                <a:gd name="csX0" fmla="*/ 151002 w 173697"/>
                <a:gd name="csY0" fmla="*/ 20625 h 124880"/>
                <a:gd name="csX1" fmla="*/ 170593 w 173697"/>
                <a:gd name="csY1" fmla="*/ 5569 h 124880"/>
                <a:gd name="csX2" fmla="*/ 173917 w 173697"/>
                <a:gd name="csY2" fmla="*/ 2026 h 124880"/>
                <a:gd name="csX3" fmla="*/ 171818 w 173697"/>
                <a:gd name="csY3" fmla="*/ 77 h 124880"/>
                <a:gd name="csX4" fmla="*/ 158349 w 173697"/>
                <a:gd name="csY4" fmla="*/ 609 h 124880"/>
                <a:gd name="csX5" fmla="*/ 140157 w 173697"/>
                <a:gd name="csY5" fmla="*/ 77 h 124880"/>
                <a:gd name="csX6" fmla="*/ 136833 w 173697"/>
                <a:gd name="csY6" fmla="*/ 3443 h 124880"/>
                <a:gd name="csX7" fmla="*/ 139457 w 173697"/>
                <a:gd name="csY7" fmla="*/ 5569 h 124880"/>
                <a:gd name="csX8" fmla="*/ 149777 w 173697"/>
                <a:gd name="csY8" fmla="*/ 12477 h 124880"/>
                <a:gd name="csX9" fmla="*/ 147503 w 173697"/>
                <a:gd name="csY9" fmla="*/ 18322 h 124880"/>
                <a:gd name="csX10" fmla="*/ 100275 w 173697"/>
                <a:gd name="csY10" fmla="*/ 101753 h 124880"/>
                <a:gd name="csX11" fmla="*/ 93803 w 173697"/>
                <a:gd name="csY11" fmla="*/ 13894 h 124880"/>
                <a:gd name="csX12" fmla="*/ 106047 w 173697"/>
                <a:gd name="csY12" fmla="*/ 5569 h 124880"/>
                <a:gd name="csX13" fmla="*/ 110770 w 173697"/>
                <a:gd name="csY13" fmla="*/ 2026 h 124880"/>
                <a:gd name="csX14" fmla="*/ 108146 w 173697"/>
                <a:gd name="csY14" fmla="*/ 77 h 124880"/>
                <a:gd name="csX15" fmla="*/ 86806 w 173697"/>
                <a:gd name="csY15" fmla="*/ 609 h 124880"/>
                <a:gd name="csX16" fmla="*/ 68439 w 173697"/>
                <a:gd name="csY16" fmla="*/ 77 h 124880"/>
                <a:gd name="csX17" fmla="*/ 65115 w 173697"/>
                <a:gd name="csY17" fmla="*/ 3620 h 124880"/>
                <a:gd name="csX18" fmla="*/ 69314 w 173697"/>
                <a:gd name="csY18" fmla="*/ 5569 h 124880"/>
                <a:gd name="csX19" fmla="*/ 78584 w 173697"/>
                <a:gd name="csY19" fmla="*/ 9997 h 124880"/>
                <a:gd name="csX20" fmla="*/ 79634 w 173697"/>
                <a:gd name="csY20" fmla="*/ 23636 h 124880"/>
                <a:gd name="csX21" fmla="*/ 35379 w 173697"/>
                <a:gd name="csY21" fmla="*/ 101753 h 124880"/>
                <a:gd name="csX22" fmla="*/ 28732 w 173697"/>
                <a:gd name="csY22" fmla="*/ 11946 h 124880"/>
                <a:gd name="csX23" fmla="*/ 42026 w 173697"/>
                <a:gd name="csY23" fmla="*/ 5569 h 124880"/>
                <a:gd name="csX24" fmla="*/ 45699 w 173697"/>
                <a:gd name="csY24" fmla="*/ 2026 h 124880"/>
                <a:gd name="csX25" fmla="*/ 43250 w 173697"/>
                <a:gd name="csY25" fmla="*/ 77 h 124880"/>
                <a:gd name="csX26" fmla="*/ 21735 w 173697"/>
                <a:gd name="csY26" fmla="*/ 609 h 124880"/>
                <a:gd name="csX27" fmla="*/ 3368 w 173697"/>
                <a:gd name="csY27" fmla="*/ 77 h 124880"/>
                <a:gd name="csX28" fmla="*/ 220 w 173697"/>
                <a:gd name="csY28" fmla="*/ 3443 h 124880"/>
                <a:gd name="csX29" fmla="*/ 4593 w 173697"/>
                <a:gd name="csY29" fmla="*/ 5569 h 124880"/>
                <a:gd name="csX30" fmla="*/ 13863 w 173697"/>
                <a:gd name="csY30" fmla="*/ 12123 h 124880"/>
                <a:gd name="csX31" fmla="*/ 21735 w 173697"/>
                <a:gd name="csY31" fmla="*/ 120353 h 124880"/>
                <a:gd name="csX32" fmla="*/ 24534 w 173697"/>
                <a:gd name="csY32" fmla="*/ 124958 h 124880"/>
                <a:gd name="csX33" fmla="*/ 28732 w 173697"/>
                <a:gd name="csY33" fmla="*/ 121238 h 124880"/>
                <a:gd name="csX34" fmla="*/ 80159 w 173697"/>
                <a:gd name="csY34" fmla="*/ 30899 h 124880"/>
                <a:gd name="csX35" fmla="*/ 86631 w 173697"/>
                <a:gd name="csY35" fmla="*/ 120353 h 124880"/>
                <a:gd name="csX36" fmla="*/ 89430 w 173697"/>
                <a:gd name="csY36" fmla="*/ 124958 h 124880"/>
                <a:gd name="csX37" fmla="*/ 93628 w 173697"/>
                <a:gd name="csY37" fmla="*/ 121593 h 124880"/>
                <a:gd name="csX38" fmla="*/ 151002 w 173697"/>
                <a:gd name="csY38" fmla="*/ 20625 h 124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173697" h="124880">
                  <a:moveTo>
                    <a:pt x="151002" y="20625"/>
                  </a:moveTo>
                  <a:cubicBezTo>
                    <a:pt x="155375" y="12831"/>
                    <a:pt x="159573" y="6454"/>
                    <a:pt x="170593" y="5569"/>
                  </a:cubicBezTo>
                  <a:cubicBezTo>
                    <a:pt x="172167" y="5391"/>
                    <a:pt x="173917" y="5391"/>
                    <a:pt x="173917" y="2026"/>
                  </a:cubicBezTo>
                  <a:cubicBezTo>
                    <a:pt x="173917" y="1317"/>
                    <a:pt x="173217" y="77"/>
                    <a:pt x="171818" y="77"/>
                  </a:cubicBezTo>
                  <a:cubicBezTo>
                    <a:pt x="167619" y="77"/>
                    <a:pt x="162722" y="609"/>
                    <a:pt x="158349" y="609"/>
                  </a:cubicBezTo>
                  <a:cubicBezTo>
                    <a:pt x="152401" y="609"/>
                    <a:pt x="145929" y="77"/>
                    <a:pt x="140157" y="77"/>
                  </a:cubicBezTo>
                  <a:cubicBezTo>
                    <a:pt x="139107" y="77"/>
                    <a:pt x="136833" y="77"/>
                    <a:pt x="136833" y="3443"/>
                  </a:cubicBezTo>
                  <a:cubicBezTo>
                    <a:pt x="136833" y="5391"/>
                    <a:pt x="138408" y="5569"/>
                    <a:pt x="139457" y="5569"/>
                  </a:cubicBezTo>
                  <a:cubicBezTo>
                    <a:pt x="143655" y="5746"/>
                    <a:pt x="149777" y="7163"/>
                    <a:pt x="149777" y="12477"/>
                  </a:cubicBezTo>
                  <a:cubicBezTo>
                    <a:pt x="149777" y="14425"/>
                    <a:pt x="148903" y="15842"/>
                    <a:pt x="147503" y="18322"/>
                  </a:cubicBezTo>
                  <a:lnTo>
                    <a:pt x="100275" y="101753"/>
                  </a:lnTo>
                  <a:lnTo>
                    <a:pt x="93803" y="13894"/>
                  </a:lnTo>
                  <a:cubicBezTo>
                    <a:pt x="93628" y="10351"/>
                    <a:pt x="93278" y="5746"/>
                    <a:pt x="106047" y="5569"/>
                  </a:cubicBezTo>
                  <a:cubicBezTo>
                    <a:pt x="109021" y="5569"/>
                    <a:pt x="110770" y="5569"/>
                    <a:pt x="110770" y="2026"/>
                  </a:cubicBezTo>
                  <a:cubicBezTo>
                    <a:pt x="110770" y="255"/>
                    <a:pt x="108846" y="77"/>
                    <a:pt x="108146" y="77"/>
                  </a:cubicBezTo>
                  <a:cubicBezTo>
                    <a:pt x="101149" y="77"/>
                    <a:pt x="93803" y="609"/>
                    <a:pt x="86806" y="609"/>
                  </a:cubicBezTo>
                  <a:cubicBezTo>
                    <a:pt x="82782" y="609"/>
                    <a:pt x="72462" y="77"/>
                    <a:pt x="68439" y="77"/>
                  </a:cubicBezTo>
                  <a:cubicBezTo>
                    <a:pt x="67389" y="77"/>
                    <a:pt x="65115" y="77"/>
                    <a:pt x="65115" y="3620"/>
                  </a:cubicBezTo>
                  <a:cubicBezTo>
                    <a:pt x="65115" y="5569"/>
                    <a:pt x="66865" y="5569"/>
                    <a:pt x="69314" y="5569"/>
                  </a:cubicBezTo>
                  <a:cubicBezTo>
                    <a:pt x="77010" y="5569"/>
                    <a:pt x="78235" y="6631"/>
                    <a:pt x="78584" y="9997"/>
                  </a:cubicBezTo>
                  <a:lnTo>
                    <a:pt x="79634" y="23636"/>
                  </a:lnTo>
                  <a:lnTo>
                    <a:pt x="35379" y="101753"/>
                  </a:lnTo>
                  <a:lnTo>
                    <a:pt x="28732" y="11946"/>
                  </a:lnTo>
                  <a:cubicBezTo>
                    <a:pt x="28732" y="9820"/>
                    <a:pt x="28732" y="5746"/>
                    <a:pt x="42026" y="5569"/>
                  </a:cubicBezTo>
                  <a:cubicBezTo>
                    <a:pt x="43775" y="5569"/>
                    <a:pt x="45699" y="5569"/>
                    <a:pt x="45699" y="2026"/>
                  </a:cubicBezTo>
                  <a:cubicBezTo>
                    <a:pt x="45699" y="77"/>
                    <a:pt x="43600" y="77"/>
                    <a:pt x="43250" y="77"/>
                  </a:cubicBezTo>
                  <a:cubicBezTo>
                    <a:pt x="36253" y="77"/>
                    <a:pt x="28907" y="609"/>
                    <a:pt x="21735" y="609"/>
                  </a:cubicBezTo>
                  <a:cubicBezTo>
                    <a:pt x="15613" y="609"/>
                    <a:pt x="9315" y="77"/>
                    <a:pt x="3368" y="77"/>
                  </a:cubicBezTo>
                  <a:cubicBezTo>
                    <a:pt x="2494" y="77"/>
                    <a:pt x="220" y="77"/>
                    <a:pt x="220" y="3443"/>
                  </a:cubicBezTo>
                  <a:cubicBezTo>
                    <a:pt x="220" y="5569"/>
                    <a:pt x="1794" y="5569"/>
                    <a:pt x="4593" y="5569"/>
                  </a:cubicBezTo>
                  <a:cubicBezTo>
                    <a:pt x="13339" y="5569"/>
                    <a:pt x="13514" y="7163"/>
                    <a:pt x="13863" y="12123"/>
                  </a:cubicBezTo>
                  <a:lnTo>
                    <a:pt x="21735" y="120353"/>
                  </a:lnTo>
                  <a:cubicBezTo>
                    <a:pt x="21910" y="123541"/>
                    <a:pt x="22085" y="124958"/>
                    <a:pt x="24534" y="124958"/>
                  </a:cubicBezTo>
                  <a:cubicBezTo>
                    <a:pt x="26633" y="124958"/>
                    <a:pt x="27157" y="123895"/>
                    <a:pt x="28732" y="121238"/>
                  </a:cubicBezTo>
                  <a:lnTo>
                    <a:pt x="80159" y="30899"/>
                  </a:lnTo>
                  <a:lnTo>
                    <a:pt x="86631" y="120353"/>
                  </a:lnTo>
                  <a:cubicBezTo>
                    <a:pt x="86981" y="124072"/>
                    <a:pt x="87330" y="124958"/>
                    <a:pt x="89430" y="124958"/>
                  </a:cubicBezTo>
                  <a:cubicBezTo>
                    <a:pt x="91703" y="124958"/>
                    <a:pt x="92753" y="123187"/>
                    <a:pt x="93628" y="121593"/>
                  </a:cubicBezTo>
                  <a:lnTo>
                    <a:pt x="151002" y="20625"/>
                  </a:lnTo>
                  <a:close/>
                </a:path>
              </a:pathLst>
            </a:custGeom>
            <a:solidFill>
              <a:srgbClr val="000000"/>
            </a:solidFill>
            <a:ln w="17502" cap="flat">
              <a:noFill/>
              <a:prstDash val="solid"/>
              <a:miter/>
            </a:ln>
          </p:spPr>
        </p:sp>
        <p:sp>
          <p:nvSpPr>
            <p:cNvPr id="106" name="任意形状 105">
              <a:extLst>
                <a:ext uri="{FF2B5EF4-FFF2-40B4-BE49-F238E27FC236}">
                  <a16:creationId xmlns:a16="http://schemas.microsoft.com/office/drawing/2014/main" id="{8ADAC337-5E1A-C9E5-31E0-AE746D37AD2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637189" y="3868686"/>
              <a:ext cx="106877" cy="7085"/>
            </a:xfrm>
            <a:custGeom>
              <a:avLst/>
              <a:gdLst>
                <a:gd name="csX0" fmla="*/ 100987 w 106877"/>
                <a:gd name="csY0" fmla="*/ 7163 h 7085"/>
                <a:gd name="csX1" fmla="*/ 107110 w 106877"/>
                <a:gd name="csY1" fmla="*/ 3620 h 7085"/>
                <a:gd name="csX2" fmla="*/ 100987 w 106877"/>
                <a:gd name="csY2" fmla="*/ 77 h 7085"/>
                <a:gd name="csX3" fmla="*/ 6355 w 106877"/>
                <a:gd name="csY3" fmla="*/ 77 h 7085"/>
                <a:gd name="csX4" fmla="*/ 233 w 106877"/>
                <a:gd name="csY4" fmla="*/ 3620 h 7085"/>
                <a:gd name="csX5" fmla="*/ 6355 w 106877"/>
                <a:gd name="csY5" fmla="*/ 7163 h 7085"/>
                <a:gd name="csX6" fmla="*/ 100987 w 106877"/>
                <a:gd name="csY6" fmla="*/ 7163 h 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6877" h="7085">
                  <a:moveTo>
                    <a:pt x="100987" y="7163"/>
                  </a:moveTo>
                  <a:cubicBezTo>
                    <a:pt x="103961" y="7163"/>
                    <a:pt x="107110" y="7163"/>
                    <a:pt x="107110" y="3620"/>
                  </a:cubicBezTo>
                  <a:cubicBezTo>
                    <a:pt x="107110" y="77"/>
                    <a:pt x="103961" y="77"/>
                    <a:pt x="100987" y="77"/>
                  </a:cubicBezTo>
                  <a:lnTo>
                    <a:pt x="6355" y="77"/>
                  </a:lnTo>
                  <a:cubicBezTo>
                    <a:pt x="3381" y="77"/>
                    <a:pt x="233" y="77"/>
                    <a:pt x="233" y="3620"/>
                  </a:cubicBezTo>
                  <a:cubicBezTo>
                    <a:pt x="233" y="7163"/>
                    <a:pt x="3381" y="7163"/>
                    <a:pt x="6355" y="7163"/>
                  </a:cubicBezTo>
                  <a:lnTo>
                    <a:pt x="100987" y="7163"/>
                  </a:lnTo>
                  <a:close/>
                </a:path>
              </a:pathLst>
            </a:custGeom>
            <a:solidFill>
              <a:srgbClr val="000000"/>
            </a:solidFill>
            <a:ln w="17502" cap="flat">
              <a:noFill/>
              <a:prstDash val="solid"/>
              <a:miter/>
            </a:ln>
          </p:spPr>
        </p:sp>
        <p:sp>
          <p:nvSpPr>
            <p:cNvPr id="107" name="任意形状 106">
              <a:extLst>
                <a:ext uri="{FF2B5EF4-FFF2-40B4-BE49-F238E27FC236}">
                  <a16:creationId xmlns:a16="http://schemas.microsoft.com/office/drawing/2014/main" id="{B96E7DE7-2548-CCE3-9A9E-17DF9A9839A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802665" y="3838219"/>
              <a:ext cx="81688" cy="116555"/>
            </a:xfrm>
            <a:custGeom>
              <a:avLst/>
              <a:gdLst>
                <a:gd name="csX0" fmla="*/ 80531 w 81688"/>
                <a:gd name="csY0" fmla="*/ 29305 h 116555"/>
                <a:gd name="csX1" fmla="*/ 81931 w 81688"/>
                <a:gd name="csY1" fmla="*/ 19031 h 116555"/>
                <a:gd name="csX2" fmla="*/ 61815 w 81688"/>
                <a:gd name="csY2" fmla="*/ 77 h 116555"/>
                <a:gd name="csX3" fmla="*/ 34702 w 81688"/>
                <a:gd name="csY3" fmla="*/ 15488 h 116555"/>
                <a:gd name="csX4" fmla="*/ 18609 w 81688"/>
                <a:gd name="csY4" fmla="*/ 77 h 116555"/>
                <a:gd name="csX5" fmla="*/ 5665 w 81688"/>
                <a:gd name="csY5" fmla="*/ 10174 h 116555"/>
                <a:gd name="csX6" fmla="*/ 242 w 81688"/>
                <a:gd name="csY6" fmla="*/ 27356 h 116555"/>
                <a:gd name="csX7" fmla="*/ 2342 w 81688"/>
                <a:gd name="csY7" fmla="*/ 29128 h 116555"/>
                <a:gd name="csX8" fmla="*/ 5315 w 81688"/>
                <a:gd name="csY8" fmla="*/ 25054 h 116555"/>
                <a:gd name="csX9" fmla="*/ 18084 w 81688"/>
                <a:gd name="csY9" fmla="*/ 3974 h 116555"/>
                <a:gd name="csX10" fmla="*/ 23507 w 81688"/>
                <a:gd name="csY10" fmla="*/ 12123 h 116555"/>
                <a:gd name="csX11" fmla="*/ 20708 w 81688"/>
                <a:gd name="csY11" fmla="*/ 27002 h 116555"/>
                <a:gd name="csX12" fmla="*/ 10563 w 81688"/>
                <a:gd name="csY12" fmla="*/ 67920 h 116555"/>
                <a:gd name="csX13" fmla="*/ 8989 w 81688"/>
                <a:gd name="csY13" fmla="*/ 75537 h 116555"/>
                <a:gd name="csX14" fmla="*/ 14061 w 81688"/>
                <a:gd name="csY14" fmla="*/ 80320 h 116555"/>
                <a:gd name="csX15" fmla="*/ 20533 w 81688"/>
                <a:gd name="csY15" fmla="*/ 75360 h 116555"/>
                <a:gd name="csX16" fmla="*/ 23857 w 81688"/>
                <a:gd name="csY16" fmla="*/ 62252 h 116555"/>
                <a:gd name="csX17" fmla="*/ 27705 w 81688"/>
                <a:gd name="csY17" fmla="*/ 46310 h 116555"/>
                <a:gd name="csX18" fmla="*/ 30679 w 81688"/>
                <a:gd name="csY18" fmla="*/ 34442 h 116555"/>
                <a:gd name="csX19" fmla="*/ 32603 w 81688"/>
                <a:gd name="csY19" fmla="*/ 26471 h 116555"/>
                <a:gd name="csX20" fmla="*/ 44498 w 81688"/>
                <a:gd name="csY20" fmla="*/ 10174 h 116555"/>
                <a:gd name="csX21" fmla="*/ 61290 w 81688"/>
                <a:gd name="csY21" fmla="*/ 3974 h 116555"/>
                <a:gd name="csX22" fmla="*/ 70736 w 81688"/>
                <a:gd name="csY22" fmla="*/ 16374 h 116555"/>
                <a:gd name="csX23" fmla="*/ 68987 w 81688"/>
                <a:gd name="csY23" fmla="*/ 27533 h 116555"/>
                <a:gd name="csX24" fmla="*/ 49046 w 81688"/>
                <a:gd name="csY24" fmla="*/ 109016 h 116555"/>
                <a:gd name="csX25" fmla="*/ 48521 w 81688"/>
                <a:gd name="csY25" fmla="*/ 111850 h 116555"/>
                <a:gd name="csX26" fmla="*/ 53419 w 81688"/>
                <a:gd name="csY26" fmla="*/ 116633 h 116555"/>
                <a:gd name="csX27" fmla="*/ 60590 w 81688"/>
                <a:gd name="csY27" fmla="*/ 109547 h 116555"/>
                <a:gd name="csX28" fmla="*/ 80531 w 81688"/>
                <a:gd name="csY28" fmla="*/ 29305 h 1165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81688" h="116555">
                  <a:moveTo>
                    <a:pt x="80531" y="29305"/>
                  </a:moveTo>
                  <a:cubicBezTo>
                    <a:pt x="81406" y="26116"/>
                    <a:pt x="81931" y="23814"/>
                    <a:pt x="81931" y="19031"/>
                  </a:cubicBezTo>
                  <a:cubicBezTo>
                    <a:pt x="81931" y="7517"/>
                    <a:pt x="74934" y="77"/>
                    <a:pt x="61815" y="77"/>
                  </a:cubicBezTo>
                  <a:cubicBezTo>
                    <a:pt x="47996" y="77"/>
                    <a:pt x="38900" y="9288"/>
                    <a:pt x="34702" y="15488"/>
                  </a:cubicBezTo>
                  <a:cubicBezTo>
                    <a:pt x="33827" y="5391"/>
                    <a:pt x="26481" y="77"/>
                    <a:pt x="18609" y="77"/>
                  </a:cubicBezTo>
                  <a:cubicBezTo>
                    <a:pt x="10563" y="77"/>
                    <a:pt x="7239" y="6986"/>
                    <a:pt x="5665" y="10174"/>
                  </a:cubicBezTo>
                  <a:cubicBezTo>
                    <a:pt x="2516" y="16197"/>
                    <a:pt x="242" y="26825"/>
                    <a:pt x="242" y="27356"/>
                  </a:cubicBezTo>
                  <a:cubicBezTo>
                    <a:pt x="242" y="29128"/>
                    <a:pt x="1992" y="29128"/>
                    <a:pt x="2342" y="29128"/>
                  </a:cubicBezTo>
                  <a:cubicBezTo>
                    <a:pt x="4091" y="29128"/>
                    <a:pt x="4266" y="28951"/>
                    <a:pt x="5315" y="25054"/>
                  </a:cubicBezTo>
                  <a:cubicBezTo>
                    <a:pt x="8289" y="12477"/>
                    <a:pt x="11787" y="3974"/>
                    <a:pt x="18084" y="3974"/>
                  </a:cubicBezTo>
                  <a:cubicBezTo>
                    <a:pt x="21058" y="3974"/>
                    <a:pt x="23507" y="5391"/>
                    <a:pt x="23507" y="12123"/>
                  </a:cubicBezTo>
                  <a:cubicBezTo>
                    <a:pt x="23507" y="15843"/>
                    <a:pt x="22982" y="17791"/>
                    <a:pt x="20708" y="27002"/>
                  </a:cubicBezTo>
                  <a:lnTo>
                    <a:pt x="10563" y="67920"/>
                  </a:lnTo>
                  <a:cubicBezTo>
                    <a:pt x="10038" y="70577"/>
                    <a:pt x="8989" y="74652"/>
                    <a:pt x="8989" y="75537"/>
                  </a:cubicBezTo>
                  <a:cubicBezTo>
                    <a:pt x="8989" y="78726"/>
                    <a:pt x="11437" y="80320"/>
                    <a:pt x="14061" y="80320"/>
                  </a:cubicBezTo>
                  <a:cubicBezTo>
                    <a:pt x="16160" y="80320"/>
                    <a:pt x="19309" y="78903"/>
                    <a:pt x="20533" y="75360"/>
                  </a:cubicBezTo>
                  <a:cubicBezTo>
                    <a:pt x="20708" y="75006"/>
                    <a:pt x="22807" y="66680"/>
                    <a:pt x="23857" y="62252"/>
                  </a:cubicBezTo>
                  <a:lnTo>
                    <a:pt x="27705" y="46310"/>
                  </a:lnTo>
                  <a:cubicBezTo>
                    <a:pt x="28755" y="42413"/>
                    <a:pt x="29804" y="38516"/>
                    <a:pt x="30679" y="34442"/>
                  </a:cubicBezTo>
                  <a:cubicBezTo>
                    <a:pt x="31029" y="33379"/>
                    <a:pt x="32428" y="27533"/>
                    <a:pt x="32603" y="26471"/>
                  </a:cubicBezTo>
                  <a:cubicBezTo>
                    <a:pt x="33128" y="24876"/>
                    <a:pt x="38550" y="14957"/>
                    <a:pt x="44498" y="10174"/>
                  </a:cubicBezTo>
                  <a:cubicBezTo>
                    <a:pt x="48346" y="7340"/>
                    <a:pt x="53768" y="3974"/>
                    <a:pt x="61290" y="3974"/>
                  </a:cubicBezTo>
                  <a:cubicBezTo>
                    <a:pt x="68812" y="3974"/>
                    <a:pt x="70736" y="9997"/>
                    <a:pt x="70736" y="16374"/>
                  </a:cubicBezTo>
                  <a:cubicBezTo>
                    <a:pt x="70736" y="17260"/>
                    <a:pt x="70736" y="20448"/>
                    <a:pt x="68987" y="27533"/>
                  </a:cubicBezTo>
                  <a:lnTo>
                    <a:pt x="49046" y="109016"/>
                  </a:lnTo>
                  <a:cubicBezTo>
                    <a:pt x="48521" y="111142"/>
                    <a:pt x="48521" y="111496"/>
                    <a:pt x="48521" y="111850"/>
                  </a:cubicBezTo>
                  <a:cubicBezTo>
                    <a:pt x="48521" y="114507"/>
                    <a:pt x="50445" y="116633"/>
                    <a:pt x="53419" y="116633"/>
                  </a:cubicBezTo>
                  <a:cubicBezTo>
                    <a:pt x="58841" y="116633"/>
                    <a:pt x="60066" y="111496"/>
                    <a:pt x="60590" y="109547"/>
                  </a:cubicBezTo>
                  <a:lnTo>
                    <a:pt x="80531" y="29305"/>
                  </a:lnTo>
                  <a:close/>
                </a:path>
              </a:pathLst>
            </a:custGeom>
            <a:solidFill>
              <a:srgbClr val="000000"/>
            </a:solidFill>
            <a:ln w="17502" cap="flat">
              <a:noFill/>
              <a:prstDash val="solid"/>
              <a:miter/>
            </a:ln>
          </p:spPr>
        </p:sp>
        <p:sp>
          <p:nvSpPr>
            <p:cNvPr id="108" name="任意形状 107">
              <a:extLst>
                <a:ext uri="{FF2B5EF4-FFF2-40B4-BE49-F238E27FC236}">
                  <a16:creationId xmlns:a16="http://schemas.microsoft.com/office/drawing/2014/main" id="{5AC3E434-CEFD-5175-810D-2EE2A10D306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944636" y="3862841"/>
              <a:ext cx="18541" cy="18776"/>
            </a:xfrm>
            <a:custGeom>
              <a:avLst/>
              <a:gdLst>
                <a:gd name="csX0" fmla="*/ 18792 w 18541"/>
                <a:gd name="csY0" fmla="*/ 9466 h 18776"/>
                <a:gd name="csX1" fmla="*/ 9521 w 18541"/>
                <a:gd name="csY1" fmla="*/ 77 h 18776"/>
                <a:gd name="csX2" fmla="*/ 250 w 18541"/>
                <a:gd name="csY2" fmla="*/ 9466 h 18776"/>
                <a:gd name="csX3" fmla="*/ 9521 w 18541"/>
                <a:gd name="csY3" fmla="*/ 18854 h 18776"/>
                <a:gd name="csX4" fmla="*/ 18792 w 18541"/>
                <a:gd name="csY4" fmla="*/ 9466 h 187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541" h="18776">
                  <a:moveTo>
                    <a:pt x="18792" y="9466"/>
                  </a:moveTo>
                  <a:cubicBezTo>
                    <a:pt x="18792" y="4329"/>
                    <a:pt x="14594" y="77"/>
                    <a:pt x="9521" y="77"/>
                  </a:cubicBezTo>
                  <a:cubicBezTo>
                    <a:pt x="4448" y="77"/>
                    <a:pt x="250" y="4329"/>
                    <a:pt x="250" y="9466"/>
                  </a:cubicBezTo>
                  <a:cubicBezTo>
                    <a:pt x="250" y="14603"/>
                    <a:pt x="4448" y="18854"/>
                    <a:pt x="9521" y="18854"/>
                  </a:cubicBezTo>
                  <a:cubicBezTo>
                    <a:pt x="14594" y="18854"/>
                    <a:pt x="18792" y="14603"/>
                    <a:pt x="18792" y="9466"/>
                  </a:cubicBezTo>
                  <a:close/>
                </a:path>
              </a:pathLst>
            </a:custGeom>
            <a:solidFill>
              <a:srgbClr val="000000"/>
            </a:solidFill>
            <a:ln w="17502" cap="flat">
              <a:noFill/>
              <a:prstDash val="solid"/>
              <a:miter/>
            </a:ln>
          </p:spPr>
        </p:sp>
        <p:sp>
          <p:nvSpPr>
            <p:cNvPr id="109" name="任意形状 108">
              <a:extLst>
                <a:ext uri="{FF2B5EF4-FFF2-40B4-BE49-F238E27FC236}">
                  <a16:creationId xmlns:a16="http://schemas.microsoft.com/office/drawing/2014/main" id="{E98A91DA-26C4-5CED-7664-11D1A66FC6A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080267" y="3669850"/>
              <a:ext cx="92008" cy="130726"/>
            </a:xfrm>
            <a:custGeom>
              <a:avLst/>
              <a:gdLst>
                <a:gd name="csX0" fmla="*/ 74250 w 92008"/>
                <a:gd name="csY0" fmla="*/ 66851 h 130726"/>
                <a:gd name="csX1" fmla="*/ 51685 w 92008"/>
                <a:gd name="csY1" fmla="*/ 45949 h 130726"/>
                <a:gd name="csX2" fmla="*/ 16001 w 92008"/>
                <a:gd name="csY2" fmla="*/ 62600 h 130726"/>
                <a:gd name="csX3" fmla="*/ 258 w 92008"/>
                <a:gd name="csY3" fmla="*/ 99267 h 130726"/>
                <a:gd name="csX4" fmla="*/ 32444 w 92008"/>
                <a:gd name="csY4" fmla="*/ 130797 h 130726"/>
                <a:gd name="csX5" fmla="*/ 92267 w 92008"/>
                <a:gd name="csY5" fmla="*/ 45949 h 130726"/>
                <a:gd name="csX6" fmla="*/ 54484 w 92008"/>
                <a:gd name="csY6" fmla="*/ 71 h 130726"/>
                <a:gd name="csX7" fmla="*/ 21074 w 92008"/>
                <a:gd name="csY7" fmla="*/ 28058 h 130726"/>
                <a:gd name="csX8" fmla="*/ 27721 w 92008"/>
                <a:gd name="csY8" fmla="*/ 34258 h 130726"/>
                <a:gd name="csX9" fmla="*/ 37167 w 92008"/>
                <a:gd name="csY9" fmla="*/ 24870 h 130726"/>
                <a:gd name="csX10" fmla="*/ 28945 w 92008"/>
                <a:gd name="csY10" fmla="*/ 18670 h 130726"/>
                <a:gd name="csX11" fmla="*/ 54134 w 92008"/>
                <a:gd name="csY11" fmla="*/ 4499 h 130726"/>
                <a:gd name="csX12" fmla="*/ 79148 w 92008"/>
                <a:gd name="csY12" fmla="*/ 36561 h 130726"/>
                <a:gd name="csX13" fmla="*/ 74425 w 92008"/>
                <a:gd name="csY13" fmla="*/ 66851 h 130726"/>
                <a:gd name="csX14" fmla="*/ 74250 w 92008"/>
                <a:gd name="csY14" fmla="*/ 66851 h 130726"/>
                <a:gd name="csX15" fmla="*/ 32969 w 92008"/>
                <a:gd name="csY15" fmla="*/ 125837 h 130726"/>
                <a:gd name="csX16" fmla="*/ 13727 w 92008"/>
                <a:gd name="csY16" fmla="*/ 105821 h 130726"/>
                <a:gd name="csX17" fmla="*/ 25272 w 92008"/>
                <a:gd name="csY17" fmla="*/ 65611 h 130726"/>
                <a:gd name="csX18" fmla="*/ 51685 w 92008"/>
                <a:gd name="csY18" fmla="*/ 49846 h 130726"/>
                <a:gd name="csX19" fmla="*/ 71101 w 92008"/>
                <a:gd name="csY19" fmla="*/ 73228 h 130726"/>
                <a:gd name="csX20" fmla="*/ 32969 w 92008"/>
                <a:gd name="csY20" fmla="*/ 125837 h 1307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92008" h="130726">
                  <a:moveTo>
                    <a:pt x="74250" y="66851"/>
                  </a:moveTo>
                  <a:cubicBezTo>
                    <a:pt x="72501" y="55868"/>
                    <a:pt x="65329" y="45949"/>
                    <a:pt x="51685" y="45949"/>
                  </a:cubicBezTo>
                  <a:cubicBezTo>
                    <a:pt x="41015" y="45949"/>
                    <a:pt x="29645" y="48783"/>
                    <a:pt x="16001" y="62600"/>
                  </a:cubicBezTo>
                  <a:cubicBezTo>
                    <a:pt x="1483" y="77302"/>
                    <a:pt x="258" y="93775"/>
                    <a:pt x="258" y="99267"/>
                  </a:cubicBezTo>
                  <a:cubicBezTo>
                    <a:pt x="258" y="110249"/>
                    <a:pt x="7955" y="130797"/>
                    <a:pt x="32444" y="130797"/>
                  </a:cubicBezTo>
                  <a:cubicBezTo>
                    <a:pt x="74075" y="130797"/>
                    <a:pt x="92267" y="71279"/>
                    <a:pt x="92267" y="45949"/>
                  </a:cubicBezTo>
                  <a:cubicBezTo>
                    <a:pt x="92267" y="17784"/>
                    <a:pt x="75999" y="71"/>
                    <a:pt x="54484" y="71"/>
                  </a:cubicBezTo>
                  <a:cubicBezTo>
                    <a:pt x="29120" y="71"/>
                    <a:pt x="21074" y="23098"/>
                    <a:pt x="21074" y="28058"/>
                  </a:cubicBezTo>
                  <a:cubicBezTo>
                    <a:pt x="21074" y="30538"/>
                    <a:pt x="22473" y="34258"/>
                    <a:pt x="27721" y="34258"/>
                  </a:cubicBezTo>
                  <a:cubicBezTo>
                    <a:pt x="33493" y="34258"/>
                    <a:pt x="37167" y="28944"/>
                    <a:pt x="37167" y="24870"/>
                  </a:cubicBezTo>
                  <a:cubicBezTo>
                    <a:pt x="37167" y="18670"/>
                    <a:pt x="31744" y="18670"/>
                    <a:pt x="28945" y="18670"/>
                  </a:cubicBezTo>
                  <a:cubicBezTo>
                    <a:pt x="36642" y="5562"/>
                    <a:pt x="49061" y="4499"/>
                    <a:pt x="54134" y="4499"/>
                  </a:cubicBezTo>
                  <a:cubicBezTo>
                    <a:pt x="66903" y="4499"/>
                    <a:pt x="79148" y="13710"/>
                    <a:pt x="79148" y="36561"/>
                  </a:cubicBezTo>
                  <a:cubicBezTo>
                    <a:pt x="79148" y="43469"/>
                    <a:pt x="78098" y="52503"/>
                    <a:pt x="74425" y="66851"/>
                  </a:cubicBezTo>
                  <a:lnTo>
                    <a:pt x="74250" y="66851"/>
                  </a:lnTo>
                  <a:close/>
                  <a:moveTo>
                    <a:pt x="32969" y="125837"/>
                  </a:moveTo>
                  <a:cubicBezTo>
                    <a:pt x="13727" y="125837"/>
                    <a:pt x="13727" y="107592"/>
                    <a:pt x="13727" y="105821"/>
                  </a:cubicBezTo>
                  <a:cubicBezTo>
                    <a:pt x="13727" y="101038"/>
                    <a:pt x="18100" y="76239"/>
                    <a:pt x="25272" y="65611"/>
                  </a:cubicBezTo>
                  <a:cubicBezTo>
                    <a:pt x="32269" y="55514"/>
                    <a:pt x="40840" y="49846"/>
                    <a:pt x="51685" y="49846"/>
                  </a:cubicBezTo>
                  <a:cubicBezTo>
                    <a:pt x="70752" y="49846"/>
                    <a:pt x="71101" y="69685"/>
                    <a:pt x="71101" y="73228"/>
                  </a:cubicBezTo>
                  <a:cubicBezTo>
                    <a:pt x="71101" y="85982"/>
                    <a:pt x="59906" y="125837"/>
                    <a:pt x="32969" y="125837"/>
                  </a:cubicBezTo>
                  <a:close/>
                </a:path>
              </a:pathLst>
            </a:custGeom>
            <a:solidFill>
              <a:srgbClr val="000000"/>
            </a:solidFill>
            <a:ln w="17502" cap="flat">
              <a:noFill/>
              <a:prstDash val="solid"/>
              <a:miter/>
            </a:ln>
          </p:spPr>
        </p:sp>
        <p:sp>
          <p:nvSpPr>
            <p:cNvPr id="110" name="任意形状 109">
              <a:extLst>
                <a:ext uri="{FF2B5EF4-FFF2-40B4-BE49-F238E27FC236}">
                  <a16:creationId xmlns:a16="http://schemas.microsoft.com/office/drawing/2014/main" id="{778BC50F-C908-7491-37BE-4F186CC49A9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182676" y="3675695"/>
              <a:ext cx="105652" cy="120983"/>
            </a:xfrm>
            <a:custGeom>
              <a:avLst/>
              <a:gdLst>
                <a:gd name="csX0" fmla="*/ 58863 w 105652"/>
                <a:gd name="csY0" fmla="*/ 13887 h 120983"/>
                <a:gd name="csX1" fmla="*/ 77404 w 105652"/>
                <a:gd name="csY1" fmla="*/ 5562 h 120983"/>
                <a:gd name="csX2" fmla="*/ 84051 w 105652"/>
                <a:gd name="csY2" fmla="*/ 2196 h 120983"/>
                <a:gd name="csX3" fmla="*/ 81253 w 105652"/>
                <a:gd name="csY3" fmla="*/ 71 h 120983"/>
                <a:gd name="csX4" fmla="*/ 55364 w 105652"/>
                <a:gd name="csY4" fmla="*/ 602 h 120983"/>
                <a:gd name="csX5" fmla="*/ 32100 w 105652"/>
                <a:gd name="csY5" fmla="*/ 71 h 120983"/>
                <a:gd name="csX6" fmla="*/ 28776 w 105652"/>
                <a:gd name="csY6" fmla="*/ 3613 h 120983"/>
                <a:gd name="csX7" fmla="*/ 33674 w 105652"/>
                <a:gd name="csY7" fmla="*/ 5562 h 120983"/>
                <a:gd name="csX8" fmla="*/ 40321 w 105652"/>
                <a:gd name="csY8" fmla="*/ 5916 h 120983"/>
                <a:gd name="csX9" fmla="*/ 45044 w 105652"/>
                <a:gd name="csY9" fmla="*/ 8750 h 120983"/>
                <a:gd name="csX10" fmla="*/ 44344 w 105652"/>
                <a:gd name="csY10" fmla="*/ 12116 h 120983"/>
                <a:gd name="csX11" fmla="*/ 20905 w 105652"/>
                <a:gd name="csY11" fmla="*/ 107238 h 120983"/>
                <a:gd name="csX12" fmla="*/ 4987 w 105652"/>
                <a:gd name="csY12" fmla="*/ 115563 h 120983"/>
                <a:gd name="csX13" fmla="*/ 264 w 105652"/>
                <a:gd name="csY13" fmla="*/ 119106 h 120983"/>
                <a:gd name="csX14" fmla="*/ 4987 w 105652"/>
                <a:gd name="csY14" fmla="*/ 121054 h 120983"/>
                <a:gd name="csX15" fmla="*/ 85976 w 105652"/>
                <a:gd name="csY15" fmla="*/ 121054 h 120983"/>
                <a:gd name="csX16" fmla="*/ 91398 w 105652"/>
                <a:gd name="csY16" fmla="*/ 118043 h 120983"/>
                <a:gd name="csX17" fmla="*/ 105217 w 105652"/>
                <a:gd name="csY17" fmla="*/ 79782 h 120983"/>
                <a:gd name="csX18" fmla="*/ 105917 w 105652"/>
                <a:gd name="csY18" fmla="*/ 77302 h 120983"/>
                <a:gd name="csX19" fmla="*/ 103818 w 105652"/>
                <a:gd name="csY19" fmla="*/ 75353 h 120983"/>
                <a:gd name="csX20" fmla="*/ 100844 w 105652"/>
                <a:gd name="csY20" fmla="*/ 79073 h 120983"/>
                <a:gd name="csX21" fmla="*/ 56939 w 105652"/>
                <a:gd name="csY21" fmla="*/ 115563 h 120983"/>
                <a:gd name="csX22" fmla="*/ 40496 w 105652"/>
                <a:gd name="csY22" fmla="*/ 115563 h 120983"/>
                <a:gd name="csX23" fmla="*/ 36648 w 105652"/>
                <a:gd name="csY23" fmla="*/ 115386 h 120983"/>
                <a:gd name="csX24" fmla="*/ 34374 w 105652"/>
                <a:gd name="csY24" fmla="*/ 113615 h 120983"/>
                <a:gd name="csX25" fmla="*/ 35248 w 105652"/>
                <a:gd name="csY25" fmla="*/ 109541 h 120983"/>
                <a:gd name="csX26" fmla="*/ 58863 w 105652"/>
                <a:gd name="csY26" fmla="*/ 13887 h 1209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05652" h="120983">
                  <a:moveTo>
                    <a:pt x="58863" y="13887"/>
                  </a:moveTo>
                  <a:cubicBezTo>
                    <a:pt x="60437" y="7510"/>
                    <a:pt x="60962" y="5562"/>
                    <a:pt x="77404" y="5562"/>
                  </a:cubicBezTo>
                  <a:cubicBezTo>
                    <a:pt x="82652" y="5562"/>
                    <a:pt x="84051" y="5562"/>
                    <a:pt x="84051" y="2196"/>
                  </a:cubicBezTo>
                  <a:cubicBezTo>
                    <a:pt x="84051" y="71"/>
                    <a:pt x="82127" y="71"/>
                    <a:pt x="81253" y="71"/>
                  </a:cubicBezTo>
                  <a:cubicBezTo>
                    <a:pt x="75480" y="71"/>
                    <a:pt x="61137" y="602"/>
                    <a:pt x="55364" y="602"/>
                  </a:cubicBezTo>
                  <a:cubicBezTo>
                    <a:pt x="50117" y="602"/>
                    <a:pt x="37347" y="71"/>
                    <a:pt x="32100" y="71"/>
                  </a:cubicBezTo>
                  <a:cubicBezTo>
                    <a:pt x="30875" y="71"/>
                    <a:pt x="28776" y="71"/>
                    <a:pt x="28776" y="3613"/>
                  </a:cubicBezTo>
                  <a:cubicBezTo>
                    <a:pt x="28776" y="5562"/>
                    <a:pt x="30351" y="5562"/>
                    <a:pt x="33674" y="5562"/>
                  </a:cubicBezTo>
                  <a:cubicBezTo>
                    <a:pt x="34024" y="5562"/>
                    <a:pt x="37347" y="5562"/>
                    <a:pt x="40321" y="5916"/>
                  </a:cubicBezTo>
                  <a:cubicBezTo>
                    <a:pt x="43470" y="6270"/>
                    <a:pt x="45044" y="6448"/>
                    <a:pt x="45044" y="8750"/>
                  </a:cubicBezTo>
                  <a:cubicBezTo>
                    <a:pt x="45044" y="9459"/>
                    <a:pt x="44869" y="9990"/>
                    <a:pt x="44344" y="12116"/>
                  </a:cubicBezTo>
                  <a:lnTo>
                    <a:pt x="20905" y="107238"/>
                  </a:lnTo>
                  <a:cubicBezTo>
                    <a:pt x="19156" y="114146"/>
                    <a:pt x="18806" y="115563"/>
                    <a:pt x="4987" y="115563"/>
                  </a:cubicBezTo>
                  <a:cubicBezTo>
                    <a:pt x="2013" y="115563"/>
                    <a:pt x="264" y="115563"/>
                    <a:pt x="264" y="119106"/>
                  </a:cubicBezTo>
                  <a:cubicBezTo>
                    <a:pt x="264" y="121054"/>
                    <a:pt x="1838" y="121054"/>
                    <a:pt x="4987" y="121054"/>
                  </a:cubicBezTo>
                  <a:lnTo>
                    <a:pt x="85976" y="121054"/>
                  </a:lnTo>
                  <a:cubicBezTo>
                    <a:pt x="90174" y="121054"/>
                    <a:pt x="90349" y="121054"/>
                    <a:pt x="91398" y="118043"/>
                  </a:cubicBezTo>
                  <a:lnTo>
                    <a:pt x="105217" y="79782"/>
                  </a:lnTo>
                  <a:cubicBezTo>
                    <a:pt x="105917" y="77833"/>
                    <a:pt x="105917" y="77479"/>
                    <a:pt x="105917" y="77302"/>
                  </a:cubicBezTo>
                  <a:cubicBezTo>
                    <a:pt x="105917" y="76593"/>
                    <a:pt x="105392" y="75353"/>
                    <a:pt x="103818" y="75353"/>
                  </a:cubicBezTo>
                  <a:cubicBezTo>
                    <a:pt x="102243" y="75353"/>
                    <a:pt x="102068" y="76239"/>
                    <a:pt x="100844" y="79073"/>
                  </a:cubicBezTo>
                  <a:cubicBezTo>
                    <a:pt x="94897" y="95370"/>
                    <a:pt x="87200" y="115563"/>
                    <a:pt x="56939" y="115563"/>
                  </a:cubicBezTo>
                  <a:lnTo>
                    <a:pt x="40496" y="115563"/>
                  </a:lnTo>
                  <a:cubicBezTo>
                    <a:pt x="38047" y="115563"/>
                    <a:pt x="37697" y="115563"/>
                    <a:pt x="36648" y="115386"/>
                  </a:cubicBezTo>
                  <a:cubicBezTo>
                    <a:pt x="34899" y="115209"/>
                    <a:pt x="34374" y="115032"/>
                    <a:pt x="34374" y="113615"/>
                  </a:cubicBezTo>
                  <a:cubicBezTo>
                    <a:pt x="34374" y="113083"/>
                    <a:pt x="34374" y="112729"/>
                    <a:pt x="35248" y="109541"/>
                  </a:cubicBezTo>
                  <a:lnTo>
                    <a:pt x="58863" y="13887"/>
                  </a:lnTo>
                  <a:close/>
                </a:path>
              </a:pathLst>
            </a:custGeom>
            <a:solidFill>
              <a:srgbClr val="000000"/>
            </a:solidFill>
            <a:ln w="17502" cap="flat">
              <a:noFill/>
              <a:prstDash val="solid"/>
              <a:miter/>
            </a:ln>
          </p:spPr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86BD390B-1E19-E64F-B729-891F46FA500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7038043" y="3868686"/>
              <a:ext cx="292082" cy="7085"/>
            </a:xfrm>
            <a:prstGeom prst="rect">
              <a:avLst/>
            </a:prstGeom>
            <a:solidFill>
              <a:srgbClr val="000000"/>
            </a:solidFill>
            <a:ln w="17502" cap="flat">
              <a:noFill/>
              <a:prstDash val="solid"/>
              <a:miter/>
            </a:ln>
          </p:spPr>
        </p:sp>
        <p:sp>
          <p:nvSpPr>
            <p:cNvPr id="112" name="任意形状 111">
              <a:extLst>
                <a:ext uri="{FF2B5EF4-FFF2-40B4-BE49-F238E27FC236}">
                  <a16:creationId xmlns:a16="http://schemas.microsoft.com/office/drawing/2014/main" id="{375226D7-5C68-0880-554E-40331701C66B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7045040" y="3911190"/>
              <a:ext cx="92008" cy="130726"/>
            </a:xfrm>
            <a:custGeom>
              <a:avLst/>
              <a:gdLst>
                <a:gd name="csX0" fmla="*/ 74248 w 92008"/>
                <a:gd name="csY0" fmla="*/ 66864 h 130726"/>
                <a:gd name="csX1" fmla="*/ 51683 w 92008"/>
                <a:gd name="csY1" fmla="*/ 45962 h 130726"/>
                <a:gd name="csX2" fmla="*/ 15999 w 92008"/>
                <a:gd name="csY2" fmla="*/ 62613 h 130726"/>
                <a:gd name="csX3" fmla="*/ 256 w 92008"/>
                <a:gd name="csY3" fmla="*/ 99280 h 130726"/>
                <a:gd name="csX4" fmla="*/ 32442 w 92008"/>
                <a:gd name="csY4" fmla="*/ 130810 h 130726"/>
                <a:gd name="csX5" fmla="*/ 92265 w 92008"/>
                <a:gd name="csY5" fmla="*/ 45962 h 130726"/>
                <a:gd name="csX6" fmla="*/ 54482 w 92008"/>
                <a:gd name="csY6" fmla="*/ 84 h 130726"/>
                <a:gd name="csX7" fmla="*/ 21072 w 92008"/>
                <a:gd name="csY7" fmla="*/ 28072 h 130726"/>
                <a:gd name="csX8" fmla="*/ 27719 w 92008"/>
                <a:gd name="csY8" fmla="*/ 34271 h 130726"/>
                <a:gd name="csX9" fmla="*/ 37165 w 92008"/>
                <a:gd name="csY9" fmla="*/ 24883 h 130726"/>
                <a:gd name="csX10" fmla="*/ 28943 w 92008"/>
                <a:gd name="csY10" fmla="*/ 18684 h 130726"/>
                <a:gd name="csX11" fmla="*/ 54132 w 92008"/>
                <a:gd name="csY11" fmla="*/ 4513 h 130726"/>
                <a:gd name="csX12" fmla="*/ 79146 w 92008"/>
                <a:gd name="csY12" fmla="*/ 36574 h 130726"/>
                <a:gd name="csX13" fmla="*/ 74423 w 92008"/>
                <a:gd name="csY13" fmla="*/ 66864 h 130726"/>
                <a:gd name="csX14" fmla="*/ 74248 w 92008"/>
                <a:gd name="csY14" fmla="*/ 66864 h 130726"/>
                <a:gd name="csX15" fmla="*/ 32967 w 92008"/>
                <a:gd name="csY15" fmla="*/ 125851 h 130726"/>
                <a:gd name="csX16" fmla="*/ 13725 w 92008"/>
                <a:gd name="csY16" fmla="*/ 105834 h 130726"/>
                <a:gd name="csX17" fmla="*/ 25270 w 92008"/>
                <a:gd name="csY17" fmla="*/ 65624 h 130726"/>
                <a:gd name="csX18" fmla="*/ 51683 w 92008"/>
                <a:gd name="csY18" fmla="*/ 49859 h 130726"/>
                <a:gd name="csX19" fmla="*/ 71099 w 92008"/>
                <a:gd name="csY19" fmla="*/ 73241 h 130726"/>
                <a:gd name="csX20" fmla="*/ 32967 w 92008"/>
                <a:gd name="csY20" fmla="*/ 125851 h 1307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92008" h="130726">
                  <a:moveTo>
                    <a:pt x="74248" y="66864"/>
                  </a:moveTo>
                  <a:cubicBezTo>
                    <a:pt x="72499" y="55882"/>
                    <a:pt x="65327" y="45962"/>
                    <a:pt x="51683" y="45962"/>
                  </a:cubicBezTo>
                  <a:cubicBezTo>
                    <a:pt x="41013" y="45962"/>
                    <a:pt x="29643" y="48797"/>
                    <a:pt x="15999" y="62613"/>
                  </a:cubicBezTo>
                  <a:cubicBezTo>
                    <a:pt x="1481" y="77315"/>
                    <a:pt x="256" y="93789"/>
                    <a:pt x="256" y="99280"/>
                  </a:cubicBezTo>
                  <a:cubicBezTo>
                    <a:pt x="256" y="110263"/>
                    <a:pt x="7953" y="130810"/>
                    <a:pt x="32442" y="130810"/>
                  </a:cubicBezTo>
                  <a:cubicBezTo>
                    <a:pt x="74073" y="130810"/>
                    <a:pt x="92265" y="71293"/>
                    <a:pt x="92265" y="45962"/>
                  </a:cubicBezTo>
                  <a:cubicBezTo>
                    <a:pt x="92265" y="17798"/>
                    <a:pt x="75997" y="84"/>
                    <a:pt x="54482" y="84"/>
                  </a:cubicBezTo>
                  <a:cubicBezTo>
                    <a:pt x="29118" y="84"/>
                    <a:pt x="21072" y="23112"/>
                    <a:pt x="21072" y="28072"/>
                  </a:cubicBezTo>
                  <a:cubicBezTo>
                    <a:pt x="21072" y="30552"/>
                    <a:pt x="22471" y="34271"/>
                    <a:pt x="27719" y="34271"/>
                  </a:cubicBezTo>
                  <a:cubicBezTo>
                    <a:pt x="33491" y="34271"/>
                    <a:pt x="37165" y="28957"/>
                    <a:pt x="37165" y="24883"/>
                  </a:cubicBezTo>
                  <a:cubicBezTo>
                    <a:pt x="37165" y="18684"/>
                    <a:pt x="31742" y="18684"/>
                    <a:pt x="28943" y="18684"/>
                  </a:cubicBezTo>
                  <a:cubicBezTo>
                    <a:pt x="36640" y="5575"/>
                    <a:pt x="49059" y="4513"/>
                    <a:pt x="54132" y="4513"/>
                  </a:cubicBezTo>
                  <a:cubicBezTo>
                    <a:pt x="66901" y="4513"/>
                    <a:pt x="79146" y="13724"/>
                    <a:pt x="79146" y="36574"/>
                  </a:cubicBezTo>
                  <a:cubicBezTo>
                    <a:pt x="79146" y="43483"/>
                    <a:pt x="78096" y="52516"/>
                    <a:pt x="74423" y="66864"/>
                  </a:cubicBezTo>
                  <a:lnTo>
                    <a:pt x="74248" y="66864"/>
                  </a:lnTo>
                  <a:close/>
                  <a:moveTo>
                    <a:pt x="32967" y="125851"/>
                  </a:moveTo>
                  <a:cubicBezTo>
                    <a:pt x="13725" y="125851"/>
                    <a:pt x="13725" y="107606"/>
                    <a:pt x="13725" y="105834"/>
                  </a:cubicBezTo>
                  <a:cubicBezTo>
                    <a:pt x="13725" y="101052"/>
                    <a:pt x="18098" y="76253"/>
                    <a:pt x="25270" y="65624"/>
                  </a:cubicBezTo>
                  <a:cubicBezTo>
                    <a:pt x="32267" y="55528"/>
                    <a:pt x="40838" y="49859"/>
                    <a:pt x="51683" y="49859"/>
                  </a:cubicBezTo>
                  <a:cubicBezTo>
                    <a:pt x="70750" y="49859"/>
                    <a:pt x="71099" y="69699"/>
                    <a:pt x="71099" y="73241"/>
                  </a:cubicBezTo>
                  <a:cubicBezTo>
                    <a:pt x="71099" y="85995"/>
                    <a:pt x="59904" y="125851"/>
                    <a:pt x="32967" y="125851"/>
                  </a:cubicBezTo>
                  <a:close/>
                </a:path>
              </a:pathLst>
            </a:custGeom>
            <a:solidFill>
              <a:srgbClr val="000000"/>
            </a:solidFill>
            <a:ln w="17502" cap="flat">
              <a:noFill/>
              <a:prstDash val="solid"/>
              <a:miter/>
            </a:ln>
          </p:spPr>
        </p:sp>
        <p:sp>
          <p:nvSpPr>
            <p:cNvPr id="113" name="任意形状 112">
              <a:extLst>
                <a:ext uri="{FF2B5EF4-FFF2-40B4-BE49-F238E27FC236}">
                  <a16:creationId xmlns:a16="http://schemas.microsoft.com/office/drawing/2014/main" id="{70B5360B-7644-66D6-BFF2-A522B611C74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7150248" y="3917035"/>
              <a:ext cx="173697" cy="124880"/>
            </a:xfrm>
            <a:custGeom>
              <a:avLst/>
              <a:gdLst>
                <a:gd name="csX0" fmla="*/ 151044 w 173697"/>
                <a:gd name="csY0" fmla="*/ 20632 h 124880"/>
                <a:gd name="csX1" fmla="*/ 170636 w 173697"/>
                <a:gd name="csY1" fmla="*/ 5575 h 124880"/>
                <a:gd name="csX2" fmla="*/ 173959 w 173697"/>
                <a:gd name="csY2" fmla="*/ 2033 h 124880"/>
                <a:gd name="csX3" fmla="*/ 171860 w 173697"/>
                <a:gd name="csY3" fmla="*/ 84 h 124880"/>
                <a:gd name="csX4" fmla="*/ 158391 w 173697"/>
                <a:gd name="csY4" fmla="*/ 616 h 124880"/>
                <a:gd name="csX5" fmla="*/ 140199 w 173697"/>
                <a:gd name="csY5" fmla="*/ 84 h 124880"/>
                <a:gd name="csX6" fmla="*/ 136876 w 173697"/>
                <a:gd name="csY6" fmla="*/ 3450 h 124880"/>
                <a:gd name="csX7" fmla="*/ 139500 w 173697"/>
                <a:gd name="csY7" fmla="*/ 5575 h 124880"/>
                <a:gd name="csX8" fmla="*/ 149820 w 173697"/>
                <a:gd name="csY8" fmla="*/ 12484 h 124880"/>
                <a:gd name="csX9" fmla="*/ 147546 w 173697"/>
                <a:gd name="csY9" fmla="*/ 18329 h 124880"/>
                <a:gd name="csX10" fmla="*/ 100317 w 173697"/>
                <a:gd name="csY10" fmla="*/ 101760 h 124880"/>
                <a:gd name="csX11" fmla="*/ 93845 w 173697"/>
                <a:gd name="csY11" fmla="*/ 13901 h 124880"/>
                <a:gd name="csX12" fmla="*/ 106090 w 173697"/>
                <a:gd name="csY12" fmla="*/ 5575 h 124880"/>
                <a:gd name="csX13" fmla="*/ 110812 w 173697"/>
                <a:gd name="csY13" fmla="*/ 2033 h 124880"/>
                <a:gd name="csX14" fmla="*/ 108189 w 173697"/>
                <a:gd name="csY14" fmla="*/ 84 h 124880"/>
                <a:gd name="csX15" fmla="*/ 86848 w 173697"/>
                <a:gd name="csY15" fmla="*/ 616 h 124880"/>
                <a:gd name="csX16" fmla="*/ 68481 w 173697"/>
                <a:gd name="csY16" fmla="*/ 84 h 124880"/>
                <a:gd name="csX17" fmla="*/ 65158 w 173697"/>
                <a:gd name="csY17" fmla="*/ 3627 h 124880"/>
                <a:gd name="csX18" fmla="*/ 69356 w 173697"/>
                <a:gd name="csY18" fmla="*/ 5575 h 124880"/>
                <a:gd name="csX19" fmla="*/ 78627 w 173697"/>
                <a:gd name="csY19" fmla="*/ 10004 h 124880"/>
                <a:gd name="csX20" fmla="*/ 79676 w 173697"/>
                <a:gd name="csY20" fmla="*/ 23643 h 124880"/>
                <a:gd name="csX21" fmla="*/ 35421 w 173697"/>
                <a:gd name="csY21" fmla="*/ 101760 h 124880"/>
                <a:gd name="csX22" fmla="*/ 28774 w 173697"/>
                <a:gd name="csY22" fmla="*/ 11952 h 124880"/>
                <a:gd name="csX23" fmla="*/ 42068 w 173697"/>
                <a:gd name="csY23" fmla="*/ 5575 h 124880"/>
                <a:gd name="csX24" fmla="*/ 45742 w 173697"/>
                <a:gd name="csY24" fmla="*/ 2033 h 124880"/>
                <a:gd name="csX25" fmla="*/ 43293 w 173697"/>
                <a:gd name="csY25" fmla="*/ 84 h 124880"/>
                <a:gd name="csX26" fmla="*/ 21777 w 173697"/>
                <a:gd name="csY26" fmla="*/ 616 h 124880"/>
                <a:gd name="csX27" fmla="*/ 3411 w 173697"/>
                <a:gd name="csY27" fmla="*/ 84 h 124880"/>
                <a:gd name="csX28" fmla="*/ 262 w 173697"/>
                <a:gd name="csY28" fmla="*/ 3450 h 124880"/>
                <a:gd name="csX29" fmla="*/ 4635 w 173697"/>
                <a:gd name="csY29" fmla="*/ 5575 h 124880"/>
                <a:gd name="csX30" fmla="*/ 13906 w 173697"/>
                <a:gd name="csY30" fmla="*/ 12129 h 124880"/>
                <a:gd name="csX31" fmla="*/ 21777 w 173697"/>
                <a:gd name="csY31" fmla="*/ 120359 h 124880"/>
                <a:gd name="csX32" fmla="*/ 24576 w 173697"/>
                <a:gd name="csY32" fmla="*/ 124965 h 124880"/>
                <a:gd name="csX33" fmla="*/ 28774 w 173697"/>
                <a:gd name="csY33" fmla="*/ 121245 h 124880"/>
                <a:gd name="csX34" fmla="*/ 80201 w 173697"/>
                <a:gd name="csY34" fmla="*/ 30906 h 124880"/>
                <a:gd name="csX35" fmla="*/ 86673 w 173697"/>
                <a:gd name="csY35" fmla="*/ 120359 h 124880"/>
                <a:gd name="csX36" fmla="*/ 89472 w 173697"/>
                <a:gd name="csY36" fmla="*/ 124965 h 124880"/>
                <a:gd name="csX37" fmla="*/ 93670 w 173697"/>
                <a:gd name="csY37" fmla="*/ 121599 h 124880"/>
                <a:gd name="csX38" fmla="*/ 151044 w 173697"/>
                <a:gd name="csY38" fmla="*/ 20632 h 124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173697" h="124880">
                  <a:moveTo>
                    <a:pt x="151044" y="20632"/>
                  </a:moveTo>
                  <a:cubicBezTo>
                    <a:pt x="155417" y="12838"/>
                    <a:pt x="159616" y="6461"/>
                    <a:pt x="170636" y="5575"/>
                  </a:cubicBezTo>
                  <a:cubicBezTo>
                    <a:pt x="172210" y="5398"/>
                    <a:pt x="173959" y="5398"/>
                    <a:pt x="173959" y="2033"/>
                  </a:cubicBezTo>
                  <a:cubicBezTo>
                    <a:pt x="173959" y="1324"/>
                    <a:pt x="173259" y="84"/>
                    <a:pt x="171860" y="84"/>
                  </a:cubicBezTo>
                  <a:cubicBezTo>
                    <a:pt x="167662" y="84"/>
                    <a:pt x="162764" y="616"/>
                    <a:pt x="158391" y="616"/>
                  </a:cubicBezTo>
                  <a:cubicBezTo>
                    <a:pt x="152444" y="616"/>
                    <a:pt x="145972" y="84"/>
                    <a:pt x="140199" y="84"/>
                  </a:cubicBezTo>
                  <a:cubicBezTo>
                    <a:pt x="139150" y="84"/>
                    <a:pt x="136876" y="84"/>
                    <a:pt x="136876" y="3450"/>
                  </a:cubicBezTo>
                  <a:cubicBezTo>
                    <a:pt x="136876" y="5398"/>
                    <a:pt x="138450" y="5575"/>
                    <a:pt x="139500" y="5575"/>
                  </a:cubicBezTo>
                  <a:cubicBezTo>
                    <a:pt x="143698" y="5753"/>
                    <a:pt x="149820" y="7170"/>
                    <a:pt x="149820" y="12484"/>
                  </a:cubicBezTo>
                  <a:cubicBezTo>
                    <a:pt x="149820" y="14432"/>
                    <a:pt x="148945" y="15849"/>
                    <a:pt x="147546" y="18329"/>
                  </a:cubicBezTo>
                  <a:lnTo>
                    <a:pt x="100317" y="101760"/>
                  </a:lnTo>
                  <a:lnTo>
                    <a:pt x="93845" y="13901"/>
                  </a:lnTo>
                  <a:cubicBezTo>
                    <a:pt x="93670" y="10358"/>
                    <a:pt x="93320" y="5753"/>
                    <a:pt x="106090" y="5575"/>
                  </a:cubicBezTo>
                  <a:cubicBezTo>
                    <a:pt x="109063" y="5575"/>
                    <a:pt x="110812" y="5575"/>
                    <a:pt x="110812" y="2033"/>
                  </a:cubicBezTo>
                  <a:cubicBezTo>
                    <a:pt x="110812" y="261"/>
                    <a:pt x="108888" y="84"/>
                    <a:pt x="108189" y="84"/>
                  </a:cubicBezTo>
                  <a:cubicBezTo>
                    <a:pt x="101192" y="84"/>
                    <a:pt x="93845" y="616"/>
                    <a:pt x="86848" y="616"/>
                  </a:cubicBezTo>
                  <a:cubicBezTo>
                    <a:pt x="82825" y="616"/>
                    <a:pt x="72505" y="84"/>
                    <a:pt x="68481" y="84"/>
                  </a:cubicBezTo>
                  <a:cubicBezTo>
                    <a:pt x="67432" y="84"/>
                    <a:pt x="65158" y="84"/>
                    <a:pt x="65158" y="3627"/>
                  </a:cubicBezTo>
                  <a:cubicBezTo>
                    <a:pt x="65158" y="5575"/>
                    <a:pt x="66907" y="5575"/>
                    <a:pt x="69356" y="5575"/>
                  </a:cubicBezTo>
                  <a:cubicBezTo>
                    <a:pt x="77053" y="5575"/>
                    <a:pt x="78277" y="6638"/>
                    <a:pt x="78627" y="10004"/>
                  </a:cubicBezTo>
                  <a:lnTo>
                    <a:pt x="79676" y="23643"/>
                  </a:lnTo>
                  <a:lnTo>
                    <a:pt x="35421" y="101760"/>
                  </a:lnTo>
                  <a:lnTo>
                    <a:pt x="28774" y="11952"/>
                  </a:lnTo>
                  <a:cubicBezTo>
                    <a:pt x="28774" y="9827"/>
                    <a:pt x="28774" y="5753"/>
                    <a:pt x="42068" y="5575"/>
                  </a:cubicBezTo>
                  <a:cubicBezTo>
                    <a:pt x="43818" y="5575"/>
                    <a:pt x="45742" y="5575"/>
                    <a:pt x="45742" y="2033"/>
                  </a:cubicBezTo>
                  <a:cubicBezTo>
                    <a:pt x="45742" y="84"/>
                    <a:pt x="43643" y="84"/>
                    <a:pt x="43293" y="84"/>
                  </a:cubicBezTo>
                  <a:cubicBezTo>
                    <a:pt x="36296" y="84"/>
                    <a:pt x="28949" y="616"/>
                    <a:pt x="21777" y="616"/>
                  </a:cubicBezTo>
                  <a:cubicBezTo>
                    <a:pt x="15655" y="616"/>
                    <a:pt x="9358" y="84"/>
                    <a:pt x="3411" y="84"/>
                  </a:cubicBezTo>
                  <a:cubicBezTo>
                    <a:pt x="2536" y="84"/>
                    <a:pt x="262" y="84"/>
                    <a:pt x="262" y="3450"/>
                  </a:cubicBezTo>
                  <a:cubicBezTo>
                    <a:pt x="262" y="5575"/>
                    <a:pt x="1836" y="5575"/>
                    <a:pt x="4635" y="5575"/>
                  </a:cubicBezTo>
                  <a:cubicBezTo>
                    <a:pt x="13381" y="5575"/>
                    <a:pt x="13556" y="7170"/>
                    <a:pt x="13906" y="12129"/>
                  </a:cubicBezTo>
                  <a:lnTo>
                    <a:pt x="21777" y="120359"/>
                  </a:lnTo>
                  <a:cubicBezTo>
                    <a:pt x="21952" y="123548"/>
                    <a:pt x="22127" y="124965"/>
                    <a:pt x="24576" y="124965"/>
                  </a:cubicBezTo>
                  <a:cubicBezTo>
                    <a:pt x="26675" y="124965"/>
                    <a:pt x="27200" y="123902"/>
                    <a:pt x="28774" y="121245"/>
                  </a:cubicBezTo>
                  <a:lnTo>
                    <a:pt x="80201" y="30906"/>
                  </a:lnTo>
                  <a:lnTo>
                    <a:pt x="86673" y="120359"/>
                  </a:lnTo>
                  <a:cubicBezTo>
                    <a:pt x="87023" y="124079"/>
                    <a:pt x="87373" y="124965"/>
                    <a:pt x="89472" y="124965"/>
                  </a:cubicBezTo>
                  <a:cubicBezTo>
                    <a:pt x="91746" y="124965"/>
                    <a:pt x="92796" y="123194"/>
                    <a:pt x="93670" y="121599"/>
                  </a:cubicBezTo>
                  <a:lnTo>
                    <a:pt x="151044" y="20632"/>
                  </a:lnTo>
                  <a:close/>
                </a:path>
              </a:pathLst>
            </a:custGeom>
            <a:solidFill>
              <a:srgbClr val="000000"/>
            </a:solidFill>
            <a:ln w="17502" cap="flat">
              <a:noFill/>
              <a:prstDash val="solid"/>
              <a:miter/>
            </a:ln>
          </p:spPr>
        </p:sp>
      </p:grpSp>
      <p:sp>
        <p:nvSpPr>
          <p:cNvPr id="115" name="文本框 114">
            <a:extLst>
              <a:ext uri="{FF2B5EF4-FFF2-40B4-BE49-F238E27FC236}">
                <a16:creationId xmlns:a16="http://schemas.microsoft.com/office/drawing/2014/main" id="{41D0AF16-E35F-D205-69EA-63DB6FE345B1}"/>
              </a:ext>
            </a:extLst>
          </p:cNvPr>
          <p:cNvSpPr txBox="1"/>
          <p:nvPr/>
        </p:nvSpPr>
        <p:spPr>
          <a:xfrm>
            <a:off x="9396010" y="2365144"/>
            <a:ext cx="22365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超参数：</a:t>
            </a:r>
            <a:endParaRPr lang="en-US" altLang="zh-CN" sz="1600" dirty="0"/>
          </a:p>
          <a:p>
            <a:r>
              <a:rPr lang="zh-CN" altLang="en-US" sz="1600" dirty="0"/>
              <a:t>选择合适的学习率 </a:t>
            </a:r>
            <a:endParaRPr lang="en-US" altLang="zh-CN" sz="1600" dirty="0"/>
          </a:p>
          <a:p>
            <a:r>
              <a:rPr kumimoji="1" lang="zh-CN" altLang="en-US" sz="1600" dirty="0"/>
              <a:t>选择合适的随机初始化</a:t>
            </a:r>
          </a:p>
        </p:txBody>
      </p:sp>
    </p:spTree>
    <p:extLst>
      <p:ext uri="{BB962C8B-B14F-4D97-AF65-F5344CB8AC3E}">
        <p14:creationId xmlns:p14="http://schemas.microsoft.com/office/powerpoint/2010/main" val="3531804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FC015-63E1-25FB-5788-3A4D7C062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AEB268-834F-4A88-7E74-5230EB338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</p:spPr>
        <p:txBody>
          <a:bodyPr/>
          <a:lstStyle/>
          <a:p>
            <a:r>
              <a:rPr lang="zh-CN" altLang="en-US" dirty="0"/>
              <a:t>案例：</a:t>
            </a:r>
            <a:r>
              <a:rPr lang="en-US" altLang="zh-CN" dirty="0"/>
              <a:t>MNIST</a:t>
            </a:r>
            <a:r>
              <a:rPr lang="zh-CN" altLang="en-US" dirty="0"/>
              <a:t>识别</a:t>
            </a:r>
            <a:r>
              <a:rPr lang="en-US" altLang="zh-CN" dirty="0"/>
              <a:t> (</a:t>
            </a:r>
            <a:r>
              <a:rPr lang="zh-CN" altLang="en-US" dirty="0"/>
              <a:t>手写反向传播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498937-4BC3-EED3-FE3F-D605C8B35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414" y="920577"/>
            <a:ext cx="7215790" cy="2508423"/>
          </a:xfrm>
          <a:prstGeom prst="rect">
            <a:avLst/>
          </a:prstGeom>
        </p:spPr>
      </p:pic>
      <p:pic>
        <p:nvPicPr>
          <p:cNvPr id="100" name="图片 99">
            <a:extLst>
              <a:ext uri="{FF2B5EF4-FFF2-40B4-BE49-F238E27FC236}">
                <a16:creationId xmlns:a16="http://schemas.microsoft.com/office/drawing/2014/main" id="{5E56CB73-C239-3160-9199-772A3C0B9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77" y="2361470"/>
            <a:ext cx="4156906" cy="3921768"/>
          </a:xfrm>
          <a:prstGeom prst="rect">
            <a:avLst/>
          </a:prstGeom>
        </p:spPr>
      </p:pic>
      <p:pic>
        <p:nvPicPr>
          <p:cNvPr id="101" name="图片 100">
            <a:extLst>
              <a:ext uri="{FF2B5EF4-FFF2-40B4-BE49-F238E27FC236}">
                <a16:creationId xmlns:a16="http://schemas.microsoft.com/office/drawing/2014/main" id="{0AAD3EDD-69AE-26EA-A625-4A9EE7988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177" y="830043"/>
            <a:ext cx="3884880" cy="1463363"/>
          </a:xfrm>
          <a:prstGeom prst="rect">
            <a:avLst/>
          </a:prstGeom>
        </p:spPr>
      </p:pic>
      <p:pic>
        <p:nvPicPr>
          <p:cNvPr id="102" name="图片 101">
            <a:extLst>
              <a:ext uri="{FF2B5EF4-FFF2-40B4-BE49-F238E27FC236}">
                <a16:creationId xmlns:a16="http://schemas.microsoft.com/office/drawing/2014/main" id="{9526A0AE-A1F6-0948-21CE-B7C697D30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5232" y="3686538"/>
            <a:ext cx="1848007" cy="2508423"/>
          </a:xfrm>
          <a:prstGeom prst="rect">
            <a:avLst/>
          </a:prstGeom>
        </p:spPr>
      </p:pic>
      <p:pic>
        <p:nvPicPr>
          <p:cNvPr id="116" name="图片 115">
            <a:extLst>
              <a:ext uri="{FF2B5EF4-FFF2-40B4-BE49-F238E27FC236}">
                <a16:creationId xmlns:a16="http://schemas.microsoft.com/office/drawing/2014/main" id="{C25B33FC-BE12-2EF6-4245-7BBBC0C5BD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919" y="3686538"/>
            <a:ext cx="1848007" cy="2543934"/>
          </a:xfrm>
          <a:prstGeom prst="rect">
            <a:avLst/>
          </a:prstGeom>
        </p:spPr>
      </p:pic>
      <p:pic>
        <p:nvPicPr>
          <p:cNvPr id="117" name="图片 116">
            <a:extLst>
              <a:ext uri="{FF2B5EF4-FFF2-40B4-BE49-F238E27FC236}">
                <a16:creationId xmlns:a16="http://schemas.microsoft.com/office/drawing/2014/main" id="{51AFBE16-1B0C-94BC-3AA1-003E9A92BC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6349" y="3719042"/>
            <a:ext cx="1848007" cy="252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6337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5130E-07D1-F7E5-5095-3C1EC47B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6ED59BD-FA2F-EF6C-BFF2-91ACF3198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内容小结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31FC1A-9618-F6D9-A66A-B9F69A327B8B}"/>
              </a:ext>
            </a:extLst>
          </p:cNvPr>
          <p:cNvSpPr txBox="1"/>
          <p:nvPr/>
        </p:nvSpPr>
        <p:spPr>
          <a:xfrm>
            <a:off x="260307" y="982023"/>
            <a:ext cx="11818779" cy="5013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深度学习的基本操作对象是矩阵和向量：</a:t>
            </a:r>
            <a:endParaRPr lang="en-US" altLang="zh-CN" sz="2400" b="1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一张 </a:t>
            </a:r>
            <a:r>
              <a:rPr kumimoji="1"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28x28 </a:t>
            </a:r>
            <a:r>
              <a:rPr kumimoji="1"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像素的图像可以展平看成一个 </a:t>
            </a:r>
            <a:r>
              <a:rPr kumimoji="1"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784 </a:t>
            </a:r>
            <a:r>
              <a:rPr kumimoji="1"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维的向量，或</a:t>
            </a:r>
            <a:r>
              <a:rPr kumimoji="1"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28x28 </a:t>
            </a:r>
            <a:r>
              <a:rPr kumimoji="1"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的矩阵</a:t>
            </a:r>
            <a:endParaRPr kumimoji="1" lang="en-US" altLang="zh-CN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权重矩阵可以表示线性变换，作用之后通常叠加非线性激活函数</a:t>
            </a:r>
            <a:endParaRPr lang="en-US" altLang="zh-CN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概率统计：</a:t>
            </a:r>
            <a:endParaRPr lang="en-US" altLang="zh-CN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Softmax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激活函数可以将模型的输出转化为概率分布</a:t>
            </a:r>
            <a:endParaRPr lang="en-US" altLang="zh-CN" sz="2400" b="0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交叉熵和 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散度可以衡量两个概率分布的差异，从而构建损失函数</a:t>
            </a:r>
            <a:endParaRPr lang="en-US" altLang="zh-CN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优化算法基础：</a:t>
            </a:r>
            <a:endParaRPr lang="en-US" altLang="zh-CN" sz="2400" b="1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梯度下降及其衍生算法可以优化损失函数</a:t>
            </a:r>
            <a:endParaRPr lang="en-US" altLang="zh-CN" sz="24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sz="24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通过链式法则可以反向传播求出各层参数的梯度</a:t>
            </a:r>
            <a:endParaRPr lang="en-US" altLang="zh-CN" sz="24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89964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59904-91D4-383B-9CDF-AA97727C0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F9378D1-6655-6A22-8A97-8AA2BF051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非作业思考题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B7F879B-A2EE-1D04-E7F4-25D797E6F8EE}"/>
                  </a:ext>
                </a:extLst>
              </p:cNvPr>
              <p:cNvSpPr txBox="1"/>
              <p:nvPr/>
            </p:nvSpPr>
            <p:spPr>
              <a:xfrm>
                <a:off x="82062" y="761979"/>
                <a:ext cx="12109938" cy="5383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1.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设如下两个向量：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𝒖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1, −2, 2</m:t>
                            </m:r>
                          </m:e>
                        </m:d>
                      </m:e>
                      <m:sup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⊤</m:t>
                        </m:r>
                      </m:sup>
                    </m:sSup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𝒗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3, 0, −1</m:t>
                            </m:r>
                          </m:e>
                        </m:d>
                      </m:e>
                      <m:sup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⊤</m:t>
                        </m:r>
                      </m:sup>
                    </m:sSup>
                    <m:r>
                      <a:rPr lang="zh-CN" alt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。</m:t>
                    </m:r>
                  </m:oMath>
                </a14:m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buAutoNum type="arabicParenBoth"/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计算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1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1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𝒖</m:t>
                            </m:r>
                            <m:r>
                              <m:rPr>
                                <m:lit/>
                              </m:r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|</m:t>
                            </m:r>
                          </m:e>
                        </m:d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r>
                      <m:rPr>
                        <m:lit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||</m:t>
                    </m:r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𝒖</m:t>
                    </m:r>
                    <m:r>
                      <m:rPr>
                        <m:lit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r>
                      <m:rPr>
                        <m:lit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||</m:t>
                    </m:r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𝒗</m:t>
                    </m:r>
                    <m:r>
                      <m:rPr>
                        <m:lit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arenBoth"/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深度学习中经常使用正则项，请解释使用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||</m:t>
                    </m:r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𝒘</m:t>
                    </m:r>
                    <m:r>
                      <m:rPr>
                        <m:lit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||</m:t>
                    </m:r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𝒘</m:t>
                    </m:r>
                    <m:r>
                      <m:rPr>
                        <m:lit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正则化对模型学到的解有什么影响</a:t>
                </a:r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arenBoth"/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计算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𝒖</m:t>
                    </m:r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𝒗</m:t>
                    </m:r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的夹角，并解释“特征之间正交”在深度神经网络中的意义</a:t>
                </a:r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2.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图像可以表示为矩阵，每个元素表示像素值。假设一幅 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3×3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的灰度图像矩阵为</a:t>
                </a:r>
                <a:endParaRPr lang="en-US" altLang="zh-CN" sz="16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6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150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75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将该图像拉长为一个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9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维的向量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𝒗</m:t>
                    </m:r>
                  </m:oMath>
                </a14:m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，并左乘一个反对角矩阵（即从左下角到右上角的元素为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，其他元素全为零的矩阵），再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reshape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回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3x3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的图像</a:t>
                </a:r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3.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考虑矩阵 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𝑀</m:t>
                    </m:r>
                    <m:r>
                      <a:rPr lang="en-US" altLang="zh-CN" sz="1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6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AutoNum type="arabicParenBoth"/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计算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𝑀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⊤</m:t>
                        </m:r>
                      </m:sup>
                    </m:sSup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𝑀</m:t>
                    </m:r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并计算其特征值和特征值向量</a:t>
                </a:r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AutoNum type="arabicParenBoth"/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写出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𝑀</m:t>
                    </m:r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SVD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分解形式</a:t>
                </a:r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AutoNum type="arabicParenBoth"/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利用奇异值分解给出矩阵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𝑀</m:t>
                    </m:r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的秩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近似，并计算近似误差</a:t>
                </a:r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4.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编程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Wingdings" pitchFamily="2" charset="2"/>
                  </a:rPr>
                  <a:t>：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使用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Python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读取一张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MNIST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手写数字图像，对图像矩阵做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SVD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分解并保留前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5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10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20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个奇异值，显示压缩后的图像</a:t>
                </a:r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B7F879B-A2EE-1D04-E7F4-25D797E6F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62" y="761979"/>
                <a:ext cx="12109938" cy="5383590"/>
              </a:xfrm>
              <a:prstGeom prst="rect">
                <a:avLst/>
              </a:prstGeom>
              <a:blipFill>
                <a:blip r:embed="rId2"/>
                <a:stretch>
                  <a:fillRect l="-419" b="-7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24255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95D23-AF5A-844B-4DC4-20D87C6D5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8546F6B-EEEB-4EF0-BDE7-15F642153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非作业思考题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0C4D50A-E1C4-BAF2-7AEF-4A6B05146968}"/>
                  </a:ext>
                </a:extLst>
              </p:cNvPr>
              <p:cNvSpPr txBox="1"/>
              <p:nvPr/>
            </p:nvSpPr>
            <p:spPr>
              <a:xfrm>
                <a:off x="186610" y="761979"/>
                <a:ext cx="11818779" cy="5525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5.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假设两个离散分布</a:t>
                </a:r>
                <a:r>
                  <a:rPr lang="zh-CN" altLang="en-US" sz="16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en-US" altLang="zh-CN" sz="16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 </a:t>
                </a:r>
                <a:r>
                  <a:rPr lang="en-US" altLang="zh-CN" sz="16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q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定义在三个类别上：</a:t>
                </a:r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b="1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0.1, 0.4, 0.5</m:t>
                          </m:r>
                        </m:e>
                      </m:d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1600" b="1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=[0.2, 0.3, 0.5]</m:t>
                      </m:r>
                    </m:oMath>
                  </m:oMathPara>
                </a14:m>
                <a:endParaRPr lang="en-US" altLang="zh-CN" sz="16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分别计算 </a:t>
                </a:r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KL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散度</a:t>
                </a:r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D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𝐾𝐿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𝒒</m:t>
                    </m:r>
                    <m:r>
                      <a:rPr lang="en-US" altLang="zh-CN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altLang="zh-CN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</m:e>
                    </m:d>
                  </m:oMath>
                </a14:m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D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𝐾𝐿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𝒑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altLang="zh-CN" sz="1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𝒒</m:t>
                        </m:r>
                      </m:e>
                    </m:d>
                  </m:oMath>
                </a14:m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以及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CrossEntropy</m:t>
                    </m:r>
                    <m:d>
                      <m:dPr>
                        <m:ctrlP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𝒒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</m:e>
                    </m:d>
                    <m:r>
                      <a:rPr lang="zh-CN" alt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，</m:t>
                    </m:r>
                    <m:r>
                      <m:rPr>
                        <m:sty m:val="p"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CrossEntropy</m:t>
                    </m:r>
                    <m:d>
                      <m:dPr>
                        <m:ctrlP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  <m:r>
                          <a:rPr lang="en-US" altLang="zh-CN" sz="1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𝒒</m:t>
                        </m:r>
                      </m:e>
                    </m:d>
                  </m:oMath>
                </a14:m>
                <a:endParaRPr lang="en-US" altLang="zh-CN" sz="16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6.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设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𝒑</m:t>
                    </m:r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=[</m:t>
                    </m:r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⋯, </m:t>
                    </m:r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]</m:t>
                    </m:r>
                  </m:oMath>
                </a14:m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是定义在有限集合上的概率分布，熵的定义为</a:t>
                </a:r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𝐻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𝑖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sz="1600" b="0" i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600" b="0" i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请给出使得熵最大的分布，并证明你   的结果</a:t>
                </a:r>
                <a:endParaRPr lang="en-US" altLang="zh-CN" sz="16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7.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设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𝒑</m:t>
                    </m:r>
                  </m:oMath>
                </a14:m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𝒒</m:t>
                    </m:r>
                  </m:oMath>
                </a14:m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是两个离散概率分布，</a:t>
                </a:r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KL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散度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D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𝐾𝐿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𝒑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𝒒</m:t>
                        </m:r>
                      </m:e>
                    </m:d>
                  </m:oMath>
                </a14:m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总是非负的吗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？如果是，请证明，如果不是，请给出反例</a:t>
                </a:r>
                <a:endParaRPr lang="en-US" altLang="zh-CN" sz="16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8</a:t>
                </a:r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.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考虑如下的二元优化问题：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𝐿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+3</m:t>
                            </m:r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16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AutoNum type="arabicParenBoth"/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计算梯度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∇</m:t>
                    </m:r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𝐿</m:t>
                    </m:r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</m:t>
                    </m:r>
                  </m:oMath>
                </a14:m>
                <a:endParaRPr lang="en-US" altLang="zh-CN" sz="16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AutoNum type="arabicParenBoth"/>
                </a:pP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用初始点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(0, 0)</m:t>
                    </m:r>
                  </m:oMath>
                </a14:m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学习率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𝜂</m:t>
                    </m:r>
                    <m:r>
                      <a:rPr lang="en-US" altLang="zh-CN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=0.1</m:t>
                    </m:r>
                  </m:oMath>
                </a14:m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执行 </a:t>
                </a:r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5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次梯度下降算法，记录每一步的结果</a:t>
                </a:r>
                <a:endParaRPr lang="en-US" altLang="zh-CN" sz="16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AutoNum type="arabicParenBoth"/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用初始点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(0, 0)</m:t>
                    </m:r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学习率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𝜂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=0.1</m:t>
                    </m:r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执行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5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次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Adam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算法，记录每一步的结果</a:t>
                </a:r>
                <a:endParaRPr lang="en-US" altLang="zh-CN" sz="16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9.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对一个两层神经网络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:=</m:t>
                    </m:r>
                    <m:acc>
                      <m:accPr>
                        <m:chr m:val="̂"/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1600" b="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eLU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zh-CN" alt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采样一个数据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1, 1</m:t>
                            </m:r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0.8, 0.2</m:t>
                            </m:r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考虑均方误   差损失函数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。计算损失函数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L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关于参数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在如下点处的梯度：</a:t>
                </a:r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其中</m:t>
                      </m:r>
                      <m:r>
                        <a:rPr lang="zh-CN" alt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ReLU</m:t>
                      </m:r>
                      <m:d>
                        <m:dPr>
                          <m:ctrlP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0C4D50A-E1C4-BAF2-7AEF-4A6B05146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10" y="761979"/>
                <a:ext cx="11818779" cy="5525808"/>
              </a:xfrm>
              <a:prstGeom prst="rect">
                <a:avLst/>
              </a:prstGeom>
              <a:blipFill>
                <a:blip r:embed="rId2"/>
                <a:stretch>
                  <a:fillRect l="-322" b="-294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42610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A6170-EB49-7226-6C33-FDE40B343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97AC490-5BCB-7EC7-7D57-D101B689A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向量（</a:t>
            </a:r>
            <a:r>
              <a:rPr lang="en-US" altLang="zh-CN" dirty="0"/>
              <a:t>vector</a:t>
            </a:r>
            <a:r>
              <a:rPr lang="zh-CN" altLang="en-US" dirty="0"/>
              <a:t>）的基本运算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2687F44-B11A-8343-40F6-F79B1B7897CC}"/>
                  </a:ext>
                </a:extLst>
              </p:cNvPr>
              <p:cNvSpPr txBox="1"/>
              <p:nvPr/>
            </p:nvSpPr>
            <p:spPr>
              <a:xfrm>
                <a:off x="414281" y="1532679"/>
                <a:ext cx="7404719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向量加法：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, ⋯,</m:t>
                            </m:r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2687F44-B11A-8343-40F6-F79B1B789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81" y="1532679"/>
                <a:ext cx="7404719" cy="375872"/>
              </a:xfrm>
              <a:prstGeom prst="rect">
                <a:avLst/>
              </a:prstGeom>
              <a:blipFill>
                <a:blip r:embed="rId2"/>
                <a:stretch>
                  <a:fillRect l="-2568" t="-19355" b="-48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DB1D0A1-7EE3-FBAE-894B-6021F173A206}"/>
                  </a:ext>
                </a:extLst>
              </p:cNvPr>
              <p:cNvSpPr txBox="1"/>
              <p:nvPr/>
            </p:nvSpPr>
            <p:spPr>
              <a:xfrm>
                <a:off x="414281" y="2803908"/>
                <a:ext cx="6331605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数乘向量：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, ⋯,</m:t>
                            </m:r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DB1D0A1-7EE3-FBAE-894B-6021F173A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81" y="2803908"/>
                <a:ext cx="6331605" cy="375872"/>
              </a:xfrm>
              <a:prstGeom prst="rect">
                <a:avLst/>
              </a:prstGeom>
              <a:blipFill>
                <a:blip r:embed="rId3"/>
                <a:stretch>
                  <a:fillRect l="-3000" t="-19355" b="-48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5DD5309-BD27-0F53-89E9-2E0C228F2F2D}"/>
                  </a:ext>
                </a:extLst>
              </p:cNvPr>
              <p:cNvSpPr txBox="1"/>
              <p:nvPr/>
            </p:nvSpPr>
            <p:spPr>
              <a:xfrm>
                <a:off x="414281" y="4824132"/>
                <a:ext cx="4336700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zh-CN" altLang="en-US" sz="2400" b="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向量内积：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kumimoji="1"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400" i="1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nary>
                  </m:oMath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5DD5309-BD27-0F53-89E9-2E0C228F2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81" y="4824132"/>
                <a:ext cx="4336700" cy="398955"/>
              </a:xfrm>
              <a:prstGeom prst="rect">
                <a:avLst/>
              </a:prstGeom>
              <a:blipFill>
                <a:blip r:embed="rId4"/>
                <a:stretch>
                  <a:fillRect l="-4386" t="-145455" r="-2047" b="-2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28A9B638-4350-4D9E-AE87-4C2AED23E82C}"/>
              </a:ext>
            </a:extLst>
          </p:cNvPr>
          <p:cNvSpPr txBox="1"/>
          <p:nvPr/>
        </p:nvSpPr>
        <p:spPr>
          <a:xfrm>
            <a:off x="214403" y="884613"/>
            <a:ext cx="29931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p"/>
            </a:pPr>
            <a:r>
              <a:rPr kumimoji="1"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向量的基本运算：</a:t>
            </a:r>
            <a:endParaRPr kumimoji="1" lang="en-US" altLang="zh-CN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3636AE7-2F43-D950-0E19-C616A419AEB4}"/>
              </a:ext>
            </a:extLst>
          </p:cNvPr>
          <p:cNvSpPr txBox="1"/>
          <p:nvPr/>
        </p:nvSpPr>
        <p:spPr>
          <a:xfrm>
            <a:off x="4553756" y="2146171"/>
            <a:ext cx="3802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2"/>
                </a:solidFill>
              </a:rPr>
              <a:t>v(</a:t>
            </a:r>
            <a:r>
              <a:rPr lang="zh-CN" altLang="en-US" sz="2000" dirty="0">
                <a:solidFill>
                  <a:schemeClr val="tx2"/>
                </a:solidFill>
              </a:rPr>
              <a:t>国王</a:t>
            </a:r>
            <a:r>
              <a:rPr lang="en-US" altLang="zh-CN" sz="2000" dirty="0">
                <a:solidFill>
                  <a:schemeClr val="tx2"/>
                </a:solidFill>
              </a:rPr>
              <a:t>)-v(</a:t>
            </a:r>
            <a:r>
              <a:rPr lang="zh-CN" altLang="en-US" sz="2000" dirty="0">
                <a:solidFill>
                  <a:schemeClr val="tx2"/>
                </a:solidFill>
              </a:rPr>
              <a:t>男性</a:t>
            </a:r>
            <a:r>
              <a:rPr lang="en-US" altLang="zh-CN" sz="2000" dirty="0">
                <a:solidFill>
                  <a:schemeClr val="tx2"/>
                </a:solidFill>
              </a:rPr>
              <a:t>)+v(</a:t>
            </a:r>
            <a:r>
              <a:rPr lang="zh-CN" altLang="en-US" sz="2000" dirty="0">
                <a:solidFill>
                  <a:schemeClr val="tx2"/>
                </a:solidFill>
              </a:rPr>
              <a:t>女性</a:t>
            </a:r>
            <a:r>
              <a:rPr lang="en-US" altLang="zh-CN" sz="2000" dirty="0">
                <a:solidFill>
                  <a:schemeClr val="tx2"/>
                </a:solidFill>
              </a:rPr>
              <a:t>)=v(</a:t>
            </a:r>
            <a:r>
              <a:rPr lang="zh-CN" altLang="en-US" sz="2000" dirty="0">
                <a:solidFill>
                  <a:schemeClr val="tx2"/>
                </a:solidFill>
              </a:rPr>
              <a:t>女王</a:t>
            </a:r>
            <a:r>
              <a:rPr lang="en-US" altLang="zh-CN" sz="2000" dirty="0">
                <a:solidFill>
                  <a:schemeClr val="tx2"/>
                </a:solidFill>
              </a:rPr>
              <a:t>)</a:t>
            </a:r>
            <a:endParaRPr lang="zh-CN" altLang="en-US" sz="2000" dirty="0">
              <a:solidFill>
                <a:schemeClr val="tx2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0D3193-9140-0FED-22DD-6093E791B218}"/>
              </a:ext>
            </a:extLst>
          </p:cNvPr>
          <p:cNvSpPr txBox="1"/>
          <p:nvPr/>
        </p:nvSpPr>
        <p:spPr>
          <a:xfrm>
            <a:off x="310707" y="5451657"/>
            <a:ext cx="7696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70707"/>
                </a:solidFill>
              </a:rPr>
              <a:t>内积是衡量两个向量</a:t>
            </a:r>
            <a:r>
              <a:rPr lang="zh-CN" altLang="en-US" sz="2000" b="1" dirty="0">
                <a:solidFill>
                  <a:srgbClr val="070707"/>
                </a:solidFill>
              </a:rPr>
              <a:t>有多像</a:t>
            </a:r>
            <a:r>
              <a:rPr lang="zh-CN" altLang="en-US" sz="2000" dirty="0">
                <a:solidFill>
                  <a:srgbClr val="070707"/>
                </a:solidFill>
              </a:rPr>
              <a:t>的工具，可以计算语义相似度、匹配度</a:t>
            </a:r>
            <a:endParaRPr lang="en-US" altLang="zh-CN" sz="2000" dirty="0">
              <a:solidFill>
                <a:srgbClr val="070707"/>
              </a:solidFill>
            </a:endParaRPr>
          </a:p>
          <a:p>
            <a:pPr algn="l"/>
            <a:r>
              <a:rPr lang="zh-CN" altLang="en-US" sz="2000" dirty="0">
                <a:solidFill>
                  <a:srgbClr val="B61516"/>
                </a:solidFill>
              </a:rPr>
              <a:t>投影：</a:t>
            </a:r>
            <a:r>
              <a:rPr lang="zh-CN" altLang="en-US" sz="2000" dirty="0">
                <a:solidFill>
                  <a:schemeClr val="tx2"/>
                </a:solidFill>
              </a:rPr>
              <a:t>判断两者的相似度，例如用来分类，黑色与灰色向量更近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594151F-0D17-2433-949D-4B29E7CD2C92}"/>
              </a:ext>
            </a:extLst>
          </p:cNvPr>
          <p:cNvCxnSpPr/>
          <p:nvPr/>
        </p:nvCxnSpPr>
        <p:spPr>
          <a:xfrm>
            <a:off x="9635499" y="5619295"/>
            <a:ext cx="209525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9CE2AD9-B641-B66C-4F29-F54F49F34192}"/>
              </a:ext>
            </a:extLst>
          </p:cNvPr>
          <p:cNvCxnSpPr>
            <a:cxnSpLocks/>
          </p:cNvCxnSpPr>
          <p:nvPr/>
        </p:nvCxnSpPr>
        <p:spPr>
          <a:xfrm flipV="1">
            <a:off x="9804832" y="4312627"/>
            <a:ext cx="0" cy="146698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B357DC9-60FD-AD8B-40EB-9559333B652E}"/>
              </a:ext>
            </a:extLst>
          </p:cNvPr>
          <p:cNvCxnSpPr>
            <a:cxnSpLocks/>
          </p:cNvCxnSpPr>
          <p:nvPr/>
        </p:nvCxnSpPr>
        <p:spPr>
          <a:xfrm flipV="1">
            <a:off x="9787899" y="5373485"/>
            <a:ext cx="1776144" cy="245810"/>
          </a:xfrm>
          <a:prstGeom prst="straightConnector1">
            <a:avLst/>
          </a:prstGeom>
          <a:ln w="38100">
            <a:solidFill>
              <a:srgbClr val="0707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BAF96F7-F094-59D7-46D8-72AB66601EBD}"/>
                  </a:ext>
                </a:extLst>
              </p:cNvPr>
              <p:cNvSpPr txBox="1"/>
              <p:nvPr/>
            </p:nvSpPr>
            <p:spPr>
              <a:xfrm>
                <a:off x="310707" y="3443710"/>
                <a:ext cx="19004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000" b="1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kumimoji="1" lang="en-US" altLang="zh-CN" sz="2000" b="0" i="1" smtClean="0">
                          <a:solidFill>
                            <a:srgbClr val="07070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000" b="1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2000" b="0" i="1" smtClean="0">
                          <a:solidFill>
                            <a:srgbClr val="070707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2000" b="0" i="1" smtClean="0">
                          <a:solidFill>
                            <a:srgbClr val="070707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zh-CN" sz="2000" b="1" i="1" smtClean="0">
                          <a:solidFill>
                            <a:srgbClr val="070707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kumimoji="1" lang="zh-CN" altLang="en-US" sz="2000" b="1" dirty="0">
                  <a:solidFill>
                    <a:srgbClr val="070707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BAF96F7-F094-59D7-46D8-72AB6660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707" y="3443710"/>
                <a:ext cx="1900457" cy="400110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6A1624DE-C329-FA87-7788-4F429088A4D4}"/>
              </a:ext>
            </a:extLst>
          </p:cNvPr>
          <p:cNvSpPr txBox="1"/>
          <p:nvPr/>
        </p:nvSpPr>
        <p:spPr>
          <a:xfrm>
            <a:off x="2279760" y="3501530"/>
            <a:ext cx="70952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B61516"/>
                </a:solidFill>
              </a:rPr>
              <a:t>向量更新：</a:t>
            </a:r>
            <a:r>
              <a:rPr lang="zh-CN" altLang="en-US" sz="2000" dirty="0">
                <a:solidFill>
                  <a:srgbClr val="070707"/>
                </a:solidFill>
              </a:rPr>
              <a:t>数乘 </a:t>
            </a:r>
            <a:r>
              <a:rPr lang="en-US" altLang="zh-CN" sz="2000" dirty="0">
                <a:solidFill>
                  <a:srgbClr val="070707"/>
                </a:solidFill>
              </a:rPr>
              <a:t>c </a:t>
            </a:r>
            <a:r>
              <a:rPr lang="zh-CN" altLang="en-US" sz="2000" dirty="0">
                <a:solidFill>
                  <a:srgbClr val="070707"/>
                </a:solidFill>
              </a:rPr>
              <a:t>的大小控制强度，决定了更新要“走多远”</a:t>
            </a:r>
            <a:endParaRPr kumimoji="1" lang="zh-CN" altLang="en-US" sz="2000" dirty="0">
              <a:solidFill>
                <a:srgbClr val="070707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1ADCEF6-3CEB-1FE8-F029-95B0D7A47D2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3800" b="39801"/>
          <a:stretch>
            <a:fillRect/>
          </a:stretch>
        </p:blipFill>
        <p:spPr>
          <a:xfrm>
            <a:off x="8779065" y="997137"/>
            <a:ext cx="2316075" cy="164417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E557A8F-B19A-1B1B-E1E2-5D5093714242}"/>
              </a:ext>
            </a:extLst>
          </p:cNvPr>
          <p:cNvSpPr txBox="1"/>
          <p:nvPr/>
        </p:nvSpPr>
        <p:spPr>
          <a:xfrm>
            <a:off x="310707" y="2146171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rgbClr val="070707"/>
                </a:solidFill>
              </a:rPr>
              <a:t>语义空间可以进行向量的加减运算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7AF0A30-4CC5-632A-9E20-B18C647ACF85}"/>
                  </a:ext>
                </a:extLst>
              </p:cNvPr>
              <p:cNvSpPr txBox="1"/>
              <p:nvPr/>
            </p:nvSpPr>
            <p:spPr>
              <a:xfrm>
                <a:off x="310707" y="4156190"/>
                <a:ext cx="16780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000" b="1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000" b="0" i="1" smtClean="0">
                          <a:solidFill>
                            <a:srgbClr val="070707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000" b="1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000" dirty="0">
                  <a:solidFill>
                    <a:srgbClr val="070707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7AF0A30-4CC5-632A-9E20-B18C647AC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707" y="4156190"/>
                <a:ext cx="1678023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3CEFE289-ACE4-1848-A9DF-6084F6953703}"/>
              </a:ext>
            </a:extLst>
          </p:cNvPr>
          <p:cNvSpPr txBox="1"/>
          <p:nvPr/>
        </p:nvSpPr>
        <p:spPr>
          <a:xfrm>
            <a:off x="2211164" y="4156190"/>
            <a:ext cx="62119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B61516"/>
                </a:solidFill>
              </a:rPr>
              <a:t>特征加权</a:t>
            </a:r>
            <a:r>
              <a:rPr lang="en-US" altLang="zh-CN" sz="2000" dirty="0">
                <a:solidFill>
                  <a:srgbClr val="B61516"/>
                </a:solidFill>
              </a:rPr>
              <a:t>:</a:t>
            </a:r>
            <a:r>
              <a:rPr lang="zh-CN" altLang="en-US" sz="2000" dirty="0">
                <a:solidFill>
                  <a:srgbClr val="B61516"/>
                </a:solidFill>
              </a:rPr>
              <a:t> </a:t>
            </a:r>
            <a:r>
              <a:rPr lang="zh-CN" altLang="en-US" sz="2000" dirty="0">
                <a:solidFill>
                  <a:srgbClr val="070707"/>
                </a:solidFill>
              </a:rPr>
              <a:t>有的特征需要乘以很大的权重，有的则很小</a:t>
            </a:r>
            <a:endParaRPr kumimoji="1" lang="zh-CN" altLang="en-US" sz="2000" dirty="0">
              <a:solidFill>
                <a:srgbClr val="07070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8895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FD35D-65BF-149D-3AC7-0A62EAC56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CD2D27F-B1F6-7779-9594-C91625AF7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距离（</a:t>
            </a:r>
            <a:r>
              <a:rPr lang="en-US" altLang="zh-CN" dirty="0"/>
              <a:t>distance</a:t>
            </a:r>
            <a:r>
              <a:rPr lang="zh-CN" altLang="en-US" dirty="0"/>
              <a:t>）（模型输出向量和标签向量的误差）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F50B8C2-4D59-3D0B-897A-78582DE7168B}"/>
                  </a:ext>
                </a:extLst>
              </p:cNvPr>
              <p:cNvSpPr txBox="1"/>
              <p:nvPr/>
            </p:nvSpPr>
            <p:spPr>
              <a:xfrm>
                <a:off x="650574" y="1038141"/>
                <a:ext cx="4459426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F50B8C2-4D59-3D0B-897A-78582DE71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74" y="1038141"/>
                <a:ext cx="4459426" cy="501291"/>
              </a:xfrm>
              <a:prstGeom prst="rect">
                <a:avLst/>
              </a:prstGeom>
              <a:blipFill>
                <a:blip r:embed="rId2"/>
                <a:stretch>
                  <a:fillRect l="-852" t="-2439" r="-284" b="-17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1EFE550-B9D9-0DD5-602E-73A489468B8B}"/>
                  </a:ext>
                </a:extLst>
              </p:cNvPr>
              <p:cNvSpPr txBox="1"/>
              <p:nvPr/>
            </p:nvSpPr>
            <p:spPr>
              <a:xfrm>
                <a:off x="3087768" y="1791994"/>
                <a:ext cx="7823663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n-US" altLang="zh-CN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d</m:t>
                      </m:r>
                      <m:r>
                        <m:rPr>
                          <m:sty m:val="p"/>
                        </m:rP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ist</m:t>
                      </m:r>
                      <m:d>
                        <m:dPr>
                          <m:ctrlP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𝒙</m:t>
                          </m:r>
                          <m:r>
                            <a:rPr kumimoji="1"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 </m:t>
                          </m:r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𝒚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r>
                        <m:rPr>
                          <m:lit/>
                        </m:rP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||</m:t>
                      </m:r>
                      <m:r>
                        <a:rPr kumimoji="1" lang="en-US" altLang="zh-CN" sz="2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𝒙</m:t>
                      </m:r>
                      <m: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𝒚</m:t>
                      </m:r>
                      <m:r>
                        <m:rPr>
                          <m:lit/>
                        </m:rP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|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lit/>
                            </m:rPr>
                            <a:rPr kumimoji="1"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|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1EFE550-B9D9-0DD5-602E-73A489468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768" y="1791994"/>
                <a:ext cx="7823663" cy="556434"/>
              </a:xfrm>
              <a:prstGeom prst="rect">
                <a:avLst/>
              </a:prstGeom>
              <a:blipFill>
                <a:blip r:embed="rId3"/>
                <a:stretch>
                  <a:fillRect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F5C250A-C38F-AD99-F519-DB398E549C87}"/>
                  </a:ext>
                </a:extLst>
              </p:cNvPr>
              <p:cNvSpPr txBox="1"/>
              <p:nvPr/>
            </p:nvSpPr>
            <p:spPr>
              <a:xfrm>
                <a:off x="215857" y="1854576"/>
                <a:ext cx="489414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l">
                  <a:buFont typeface="Wingdings" pitchFamily="2" charset="2"/>
                  <a:buChar char="p"/>
                </a:pP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向量</a:t>
                </a:r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</m:oMath>
                </a14:m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到向量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𝒚</m:t>
                    </m:r>
                  </m:oMath>
                </a14:m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的距离定义为：</a:t>
                </a:r>
                <a:endParaRPr kumimoji="1" lang="en-US" altLang="zh-CN" sz="24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F5C250A-C38F-AD99-F519-DB398E549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57" y="1854576"/>
                <a:ext cx="4894143" cy="461665"/>
              </a:xfrm>
              <a:prstGeom prst="rect">
                <a:avLst/>
              </a:prstGeom>
              <a:blipFill>
                <a:blip r:embed="rId4"/>
                <a:stretch>
                  <a:fillRect l="-1550" t="-7895" r="-8010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5C0611B-2076-0D1F-48DC-267CE5036079}"/>
                  </a:ext>
                </a:extLst>
              </p:cNvPr>
              <p:cNvSpPr txBox="1"/>
              <p:nvPr/>
            </p:nvSpPr>
            <p:spPr>
              <a:xfrm>
                <a:off x="5632882" y="1008516"/>
                <a:ext cx="4627870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5C0611B-2076-0D1F-48DC-267CE5036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882" y="1008516"/>
                <a:ext cx="4627870" cy="501291"/>
              </a:xfrm>
              <a:prstGeom prst="rect">
                <a:avLst/>
              </a:prstGeom>
              <a:blipFill>
                <a:blip r:embed="rId5"/>
                <a:stretch>
                  <a:fillRect t="-2439" b="-24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07523F0-A5D0-3FC9-0A5C-51C58667C599}"/>
                  </a:ext>
                </a:extLst>
              </p:cNvPr>
              <p:cNvSpPr txBox="1"/>
              <p:nvPr/>
            </p:nvSpPr>
            <p:spPr>
              <a:xfrm>
                <a:off x="296912" y="2600990"/>
                <a:ext cx="6055568" cy="3077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200000"/>
                  </a:lnSpc>
                </a:pP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距离需要满足如下条件：</a:t>
                </a:r>
                <a:endParaRPr kumimoji="1" lang="en-US" altLang="zh-CN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kumimoji="1" lang="en-US" altLang="zh-CN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(1)</a:t>
                </a:r>
                <a:r>
                  <a:rPr kumimoji="1"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非负性：</a:t>
                </a:r>
                <a14:m>
                  <m:oMath xmlns:m="http://schemas.openxmlformats.org/officeDocument/2006/math">
                    <m:r>
                      <a:rPr kumimoji="1" lang="en-US" altLang="zh-CN" sz="2000" b="1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𝐝𝐢𝐬𝐭</m:t>
                    </m:r>
                    <m:d>
                      <m:dPr>
                        <m:ctrlPr>
                          <a:rPr kumimoji="1" lang="en-US" altLang="zh-CN" sz="2000" b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  <m:r>
                          <a:rPr kumimoji="1" lang="en-US" altLang="zh-CN" sz="2000" b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000" b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kumimoji="1" lang="en-US" altLang="zh-CN" sz="2000" b="1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≥</m:t>
                    </m:r>
                    <m:r>
                      <a:rPr kumimoji="1" lang="en-US" altLang="zh-CN" sz="2000" b="1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𝟎</m:t>
                    </m:r>
                    <m:r>
                      <a:rPr kumimoji="1" lang="zh-CN" altLang="en-US" sz="2000" b="1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</m:oMath>
                </a14:m>
                <a:endParaRPr kumimoji="1" lang="en-US" altLang="zh-CN" sz="2000" b="1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kumimoji="1" lang="en-US" altLang="zh-CN" sz="2000" b="1" dirty="0">
                    <a:solidFill>
                      <a:srgbClr val="B61516"/>
                    </a:solidFill>
                    <a:ea typeface="Microsoft YaHei" panose="020B0503020204020204" pitchFamily="34" charset="-122"/>
                  </a:rPr>
                  <a:t>	</a:t>
                </a:r>
                <a14:m>
                  <m:oMath xmlns:m="http://schemas.openxmlformats.org/officeDocument/2006/math">
                    <m:r>
                      <a:rPr kumimoji="1" lang="zh-CN" altLang="en-US" sz="2000" b="1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且 </m:t>
                    </m:r>
                    <m:r>
                      <a:rPr kumimoji="1" lang="en-US" altLang="zh-CN" sz="2000" b="1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𝐝𝐢𝐬𝐭</m:t>
                    </m:r>
                    <m:d>
                      <m:dPr>
                        <m:ctrlPr>
                          <a:rPr kumimoji="1" lang="en-US" altLang="zh-CN" sz="2000" b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  <m:r>
                          <a:rPr kumimoji="1" lang="en-US" altLang="zh-CN" sz="2000" b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000" b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kumimoji="1" lang="en-US" altLang="zh-CN" sz="2000" b="1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kumimoji="1" lang="en-US" altLang="zh-CN" sz="2000" b="1" i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</m:oMath>
                </a14:m>
                <a:r>
                  <a:rPr kumimoji="1" lang="en-US" altLang="zh-CN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 ⟺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kumimoji="1" lang="en-US" altLang="zh-CN" sz="2000" b="1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000" b="1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kumimoji="1" lang="en-US" altLang="zh-CN" sz="2000" b="1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kumimoji="1" lang="en-US" altLang="zh-CN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(2) </a:t>
                </a:r>
                <a:r>
                  <a:rPr kumimoji="1"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对称性： </a:t>
                </a:r>
                <a14:m>
                  <m:oMath xmlns:m="http://schemas.openxmlformats.org/officeDocument/2006/math">
                    <m:r>
                      <a:rPr kumimoji="1" lang="en-US" altLang="zh-CN" sz="2000" b="1" i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𝐝𝐢𝐬𝐭</m:t>
                    </m:r>
                    <m:d>
                      <m:dPr>
                        <m:ctrlP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kumimoji="1" lang="en-US" altLang="zh-CN" sz="2000" b="1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kumimoji="1" lang="en-US" altLang="zh-CN" sz="2000" b="1" i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𝐝𝐢𝐬𝐭</m:t>
                    </m:r>
                    <m:d>
                      <m:dPr>
                        <m:ctrlP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𝒚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</m:e>
                    </m:d>
                  </m:oMath>
                </a14:m>
                <a:endParaRPr kumimoji="1" lang="en-US" altLang="zh-CN" sz="2000" b="1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kumimoji="1" lang="en-US" altLang="zh-CN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(3) </a:t>
                </a:r>
                <a:r>
                  <a:rPr kumimoji="1"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三角不等式：</a:t>
                </a:r>
                <a:r>
                  <a:rPr kumimoji="1" lang="en-US" altLang="zh-CN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1" i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𝐝𝐢𝐬𝐭</m:t>
                    </m:r>
                    <m:d>
                      <m:dPr>
                        <m:ctrlP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kumimoji="1" lang="en-US" altLang="zh-CN" sz="2000" b="1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≤</m:t>
                    </m:r>
                    <m:r>
                      <a:rPr kumimoji="1" lang="en-US" altLang="zh-CN" sz="2000" b="1" i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𝐝𝐢𝐬𝐭</m:t>
                    </m:r>
                    <m:d>
                      <m:dPr>
                        <m:ctrlP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𝒛</m:t>
                        </m:r>
                      </m:e>
                    </m:d>
                    <m:r>
                      <a:rPr kumimoji="1" lang="en-US" altLang="zh-CN" sz="2000" b="1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</m:t>
                    </m:r>
                    <m:r>
                      <a:rPr kumimoji="1" lang="en-US" altLang="zh-CN" sz="2000" b="1" i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𝐝𝐢𝐬𝐭</m:t>
                    </m:r>
                    <m:d>
                      <m:dPr>
                        <m:ctrlP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𝒛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𝒚</m:t>
                        </m:r>
                      </m:e>
                    </m:d>
                  </m:oMath>
                </a14:m>
                <a:endParaRPr kumimoji="1" lang="en-US" altLang="zh-CN" sz="2000" b="1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07523F0-A5D0-3FC9-0A5C-51C58667C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12" y="2600990"/>
                <a:ext cx="6055568" cy="3077189"/>
              </a:xfrm>
              <a:prstGeom prst="rect">
                <a:avLst/>
              </a:prstGeom>
              <a:blipFill>
                <a:blip r:embed="rId6"/>
                <a:stretch>
                  <a:fillRect l="-1046" b="-28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A2ED21D7-CED9-C936-BAF8-CA7D146A6D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9714" y="2600990"/>
            <a:ext cx="5150557" cy="362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3191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FA169-FFA4-8864-CC88-10344CDC3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CC8681E-60CD-03AB-DA57-D39264B9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线性相关性（</a:t>
            </a: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dependence</a:t>
            </a:r>
            <a:r>
              <a:rPr lang="zh-CN" altLang="en-US" dirty="0"/>
              <a:t>）（数据的独立性）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D95B9A0-D3BF-4A75-0C7C-58954EEA9C8C}"/>
                  </a:ext>
                </a:extLst>
              </p:cNvPr>
              <p:cNvSpPr txBox="1"/>
              <p:nvPr/>
            </p:nvSpPr>
            <p:spPr>
              <a:xfrm>
                <a:off x="1466708" y="2077178"/>
                <a:ext cx="782366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200" b="1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3200" b="1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3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200" b="1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3200" b="1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3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200" b="1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3200" b="1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𝑘</m:t>
                          </m:r>
                        </m:sub>
                      </m:sSub>
                      <m:r>
                        <a:rPr kumimoji="1" lang="en-US" altLang="zh-CN" sz="3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3200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D95B9A0-D3BF-4A75-0C7C-58954EEA9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708" y="2077178"/>
                <a:ext cx="7823663" cy="584775"/>
              </a:xfrm>
              <a:prstGeom prst="rect">
                <a:avLst/>
              </a:prstGeom>
              <a:blipFill>
                <a:blip r:embed="rId2"/>
                <a:stretch>
                  <a:fillRect b="-212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7A1F8AC-3976-42C9-45F2-FDA2D6DD2514}"/>
                  </a:ext>
                </a:extLst>
              </p:cNvPr>
              <p:cNvSpPr txBox="1"/>
              <p:nvPr/>
            </p:nvSpPr>
            <p:spPr>
              <a:xfrm>
                <a:off x="381243" y="866322"/>
                <a:ext cx="11611466" cy="1139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一族向量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kumimoji="1"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1"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1"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,⋯, </m:t>
                    </m:r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m:rPr>
                        <m:lit/>
                      </m:rPr>
                      <a:rPr kumimoji="1"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称为</a:t>
                </a:r>
                <a:r>
                  <a:rPr kumimoji="1" lang="zh-CN" altLang="en-US" sz="24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线性相关的（</a:t>
                </a:r>
                <a:r>
                  <a:rPr kumimoji="1" lang="en-US" altLang="zh-CN" sz="24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linearly dependent</a:t>
                </a:r>
                <a:r>
                  <a:rPr kumimoji="1" lang="zh-CN" altLang="en-US" sz="24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如果存在一组不全为 </a:t>
                </a:r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的实数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使得</a:t>
                </a:r>
                <a:endParaRPr kumimoji="1" lang="zh-CN" altLang="en-US" sz="2400" b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7A1F8AC-3976-42C9-45F2-FDA2D6DD2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3" y="866322"/>
                <a:ext cx="11611466" cy="1139030"/>
              </a:xfrm>
              <a:prstGeom prst="rect">
                <a:avLst/>
              </a:prstGeom>
              <a:blipFill>
                <a:blip r:embed="rId3"/>
                <a:stretch>
                  <a:fillRect l="-765" r="-219" b="-1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60CC30C-5A5A-8267-AD4C-621AB0D73C29}"/>
                  </a:ext>
                </a:extLst>
              </p:cNvPr>
              <p:cNvSpPr txBox="1"/>
              <p:nvPr/>
            </p:nvSpPr>
            <p:spPr>
              <a:xfrm>
                <a:off x="381242" y="2733779"/>
                <a:ext cx="11611466" cy="1135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一族向量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1"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1"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,⋯, </m:t>
                    </m:r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m:rPr>
                        <m:lit/>
                      </m:rPr>
                      <a:rPr kumimoji="1"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称为</a:t>
                </a:r>
                <a:r>
                  <a:rPr kumimoji="1" lang="zh-CN" altLang="en-US" sz="24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线性不相关的（</a:t>
                </a:r>
                <a:r>
                  <a:rPr kumimoji="1" lang="en-US" altLang="zh-CN" sz="24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linearly independent</a:t>
                </a:r>
                <a:r>
                  <a:rPr kumimoji="1" lang="zh-CN" altLang="en-US" sz="24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如果它们不是线性相关的，也即</a:t>
                </a:r>
                <a:endParaRPr kumimoji="1" lang="zh-CN" altLang="en-US" sz="2400" b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60CC30C-5A5A-8267-AD4C-621AB0D73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2733779"/>
                <a:ext cx="11611466" cy="1135054"/>
              </a:xfrm>
              <a:prstGeom prst="rect">
                <a:avLst/>
              </a:prstGeom>
              <a:blipFill>
                <a:blip r:embed="rId4"/>
                <a:stretch>
                  <a:fillRect l="-765" b="-1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CC93057-B92D-B6A9-CEF6-6144FEAA61A9}"/>
                  </a:ext>
                </a:extLst>
              </p:cNvPr>
              <p:cNvSpPr txBox="1"/>
              <p:nvPr/>
            </p:nvSpPr>
            <p:spPr>
              <a:xfrm>
                <a:off x="868831" y="3991114"/>
                <a:ext cx="100570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400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1" lang="en-US" altLang="zh-CN" sz="24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1" lang="en-US" altLang="zh-CN" sz="24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+⋯+</m:t>
                    </m:r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kumimoji="1" lang="en-US" altLang="zh-CN" sz="24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𝑘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=0</m:t>
                    </m:r>
                  </m:oMath>
                </a14:m>
                <a:r>
                  <a:rPr kumimoji="1" lang="zh-CN" altLang="en-US" sz="2400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成立，则必须有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=⋯=</m:t>
                    </m:r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𝑘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=0</m:t>
                    </m:r>
                  </m:oMath>
                </a14:m>
                <a:endParaRPr kumimoji="1" lang="zh-CN" altLang="en-US" sz="2400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CC93057-B92D-B6A9-CEF6-6144FEAA6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31" y="3991114"/>
                <a:ext cx="10057077" cy="461665"/>
              </a:xfrm>
              <a:prstGeom prst="rect">
                <a:avLst/>
              </a:prstGeom>
              <a:blipFill>
                <a:blip r:embed="rId5"/>
                <a:stretch>
                  <a:fillRect l="-1009" t="-10811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11177ED-326C-026D-129F-40E2C71D4E61}"/>
                  </a:ext>
                </a:extLst>
              </p:cNvPr>
              <p:cNvSpPr txBox="1"/>
              <p:nvPr/>
            </p:nvSpPr>
            <p:spPr>
              <a:xfrm>
                <a:off x="6797156" y="4909755"/>
                <a:ext cx="3128292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lit/>
                        </m:rP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lit/>
                        </m:rP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zh-CN" altLang="en-US" sz="2000" i="1">
                          <a:latin typeface="Cambria Math" panose="02040503050406030204" pitchFamily="18" charset="0"/>
                        </a:rPr>
                        <m:t>线性</m:t>
                      </m:r>
                      <m:r>
                        <a:rPr kumimoji="1" lang="zh-CN" altLang="en-US" sz="2000" i="1" smtClean="0">
                          <a:latin typeface="Cambria Math" panose="02040503050406030204" pitchFamily="18" charset="0"/>
                        </a:rPr>
                        <m:t>相关</m:t>
                      </m:r>
                      <m:r>
                        <a:rPr kumimoji="1" lang="zh-CN" altLang="en-US" sz="2000" b="0" i="1" smtClean="0"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kumimoji="1" lang="en-US" altLang="zh-CN" sz="2000" b="0" i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kumimoji="1" lang="zh-CN" altLang="en-US" sz="2000" i="1">
                          <a:latin typeface="Cambria Math" panose="02040503050406030204" pitchFamily="18" charset="0"/>
                        </a:rPr>
                        <m:t>因为</m:t>
                      </m:r>
                      <m:r>
                        <a:rPr kumimoji="1" lang="zh-CN" alt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+1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zh-CN" altLang="en-US" sz="20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11177ED-326C-026D-129F-40E2C71D4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156" y="4909755"/>
                <a:ext cx="3128292" cy="1015663"/>
              </a:xfrm>
              <a:prstGeom prst="rect">
                <a:avLst/>
              </a:prstGeom>
              <a:blipFill>
                <a:blip r:embed="rId6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EA4B67A1-321D-09F4-B760-1749894D3278}"/>
              </a:ext>
            </a:extLst>
          </p:cNvPr>
          <p:cNvSpPr txBox="1"/>
          <p:nvPr/>
        </p:nvSpPr>
        <p:spPr>
          <a:xfrm>
            <a:off x="30387" y="5015746"/>
            <a:ext cx="13569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kumimoji="1"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个用户的</a:t>
            </a:r>
            <a:r>
              <a:rPr kumimoji="1"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kumimoji="1"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个特征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CF0B9D8-5BEC-D3F6-B97B-4223BFA537FB}"/>
                  </a:ext>
                </a:extLst>
              </p:cNvPr>
              <p:cNvSpPr txBox="1"/>
              <p:nvPr/>
            </p:nvSpPr>
            <p:spPr>
              <a:xfrm>
                <a:off x="1466708" y="4909755"/>
                <a:ext cx="1422407" cy="8138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000" b="0" i="1" smtClean="0">
                          <a:solidFill>
                            <a:srgbClr val="07070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000" b="0" i="1" smtClean="0">
                                  <a:solidFill>
                                    <a:srgbClr val="07070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070707"/>
                                  </a:solidFill>
                                  <a:latin typeface="Cambria Math" panose="02040503050406030204" pitchFamily="18" charset="0"/>
                                </a:rPr>
                                <m:t>1000</m:t>
                              </m:r>
                            </m:e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070707"/>
                                  </a:solidFill>
                                  <a:latin typeface="Cambria Math" panose="02040503050406030204" pitchFamily="18" charset="0"/>
                                </a:rPr>
                                <m:t>2000</m:t>
                              </m:r>
                            </m:e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070707"/>
                                  </a:solidFill>
                                  <a:latin typeface="Cambria Math" panose="02040503050406030204" pitchFamily="18" charset="0"/>
                                </a:rPr>
                                <m:t>3000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000" dirty="0">
                  <a:solidFill>
                    <a:srgbClr val="070707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CF0B9D8-5BEC-D3F6-B97B-4223BFA53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708" y="4909755"/>
                <a:ext cx="1422407" cy="813877"/>
              </a:xfrm>
              <a:prstGeom prst="rect">
                <a:avLst/>
              </a:prstGeom>
              <a:blipFill>
                <a:blip r:embed="rId7"/>
                <a:stretch>
                  <a:fillRect l="-2655" b="-1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BC781A6-0368-DCE4-C883-B44D824A3565}"/>
                  </a:ext>
                </a:extLst>
              </p:cNvPr>
              <p:cNvSpPr txBox="1"/>
              <p:nvPr/>
            </p:nvSpPr>
            <p:spPr>
              <a:xfrm>
                <a:off x="3279205" y="4909755"/>
                <a:ext cx="1408362" cy="8201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000" b="0" i="1" smtClean="0">
                          <a:solidFill>
                            <a:srgbClr val="07070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000" b="0" i="1" smtClean="0">
                                  <a:solidFill>
                                    <a:srgbClr val="07070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070707"/>
                                  </a:solidFill>
                                  <a:latin typeface="Cambria Math" panose="02040503050406030204" pitchFamily="18" charset="0"/>
                                </a:rPr>
                                <m:t>1500</m:t>
                              </m:r>
                            </m:e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070707"/>
                                  </a:solidFill>
                                  <a:latin typeface="Cambria Math" panose="02040503050406030204" pitchFamily="18" charset="0"/>
                                </a:rPr>
                                <m:t>500</m:t>
                              </m:r>
                            </m:e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070707"/>
                                  </a:solidFill>
                                  <a:latin typeface="Cambria Math" panose="02040503050406030204" pitchFamily="18" charset="0"/>
                                </a:rPr>
                                <m:t>500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000" dirty="0">
                  <a:solidFill>
                    <a:srgbClr val="070707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BC781A6-0368-DCE4-C883-B44D824A3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205" y="4909755"/>
                <a:ext cx="1408362" cy="820161"/>
              </a:xfrm>
              <a:prstGeom prst="rect">
                <a:avLst/>
              </a:prstGeom>
              <a:blipFill>
                <a:blip r:embed="rId9"/>
                <a:stretch>
                  <a:fillRect l="-3571" t="-1515"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92729ED-A53D-CA8F-E198-D995B52E3C2B}"/>
                  </a:ext>
                </a:extLst>
              </p:cNvPr>
              <p:cNvSpPr txBox="1"/>
              <p:nvPr/>
            </p:nvSpPr>
            <p:spPr>
              <a:xfrm>
                <a:off x="5077657" y="4903471"/>
                <a:ext cx="1422407" cy="8201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sz="2000" b="0" i="1" smtClean="0">
                          <a:solidFill>
                            <a:srgbClr val="07070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000" b="0" i="1" smtClean="0">
                              <a:solidFill>
                                <a:srgbClr val="07070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000" b="0" i="1" smtClean="0">
                                  <a:solidFill>
                                    <a:srgbClr val="07070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070707"/>
                                  </a:solidFill>
                                  <a:latin typeface="Cambria Math" panose="02040503050406030204" pitchFamily="18" charset="0"/>
                                </a:rPr>
                                <m:t>2500</m:t>
                              </m:r>
                            </m:e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070707"/>
                                  </a:solidFill>
                                  <a:latin typeface="Cambria Math" panose="02040503050406030204" pitchFamily="18" charset="0"/>
                                </a:rPr>
                                <m:t>2500</m:t>
                              </m:r>
                            </m:e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070707"/>
                                  </a:solidFill>
                                  <a:latin typeface="Cambria Math" panose="02040503050406030204" pitchFamily="18" charset="0"/>
                                </a:rPr>
                                <m:t>3500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000" dirty="0">
                  <a:solidFill>
                    <a:srgbClr val="070707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92729ED-A53D-CA8F-E198-D995B52E3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657" y="4903471"/>
                <a:ext cx="1422407" cy="820161"/>
              </a:xfrm>
              <a:prstGeom prst="rect">
                <a:avLst/>
              </a:prstGeom>
              <a:blipFill>
                <a:blip r:embed="rId10"/>
                <a:stretch>
                  <a:fillRect l="-2655" t="-1515" b="-12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D3B7DE4A-0625-1198-F8C6-C36FCD3BA33B}"/>
              </a:ext>
            </a:extLst>
          </p:cNvPr>
          <p:cNvSpPr txBox="1"/>
          <p:nvPr/>
        </p:nvSpPr>
        <p:spPr>
          <a:xfrm>
            <a:off x="1560114" y="583786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rgbClr val="070707"/>
                </a:solidFill>
              </a:rPr>
              <a:t>基本工资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B757408-7F13-946E-EDDD-18DBE6E2AB78}"/>
              </a:ext>
            </a:extLst>
          </p:cNvPr>
          <p:cNvSpPr txBox="1"/>
          <p:nvPr/>
        </p:nvSpPr>
        <p:spPr>
          <a:xfrm>
            <a:off x="3409751" y="583914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rgbClr val="070707"/>
                </a:solidFill>
              </a:rPr>
              <a:t>绩效工资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0EC308-D673-5CED-E655-C4E1B0949540}"/>
              </a:ext>
            </a:extLst>
          </p:cNvPr>
          <p:cNvSpPr txBox="1"/>
          <p:nvPr/>
        </p:nvSpPr>
        <p:spPr>
          <a:xfrm>
            <a:off x="5445221" y="5837868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rgbClr val="070707"/>
                </a:solidFill>
              </a:rPr>
              <a:t>总收入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C47FB0D-6A94-7F24-7A4C-A7660A9BE5CB}"/>
              </a:ext>
            </a:extLst>
          </p:cNvPr>
          <p:cNvSpPr txBox="1"/>
          <p:nvPr/>
        </p:nvSpPr>
        <p:spPr>
          <a:xfrm>
            <a:off x="10099847" y="4903471"/>
            <a:ext cx="1935190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个特征是有冗余的，不是完全独立的</a:t>
            </a:r>
          </a:p>
        </p:txBody>
      </p:sp>
    </p:spTree>
    <p:extLst>
      <p:ext uri="{BB962C8B-B14F-4D97-AF65-F5344CB8AC3E}">
        <p14:creationId xmlns:p14="http://schemas.microsoft.com/office/powerpoint/2010/main" val="19500428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E8F56-26A8-FA0F-D71B-A0FA34A5B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5851007-2072-650F-9792-BDE51B1EE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矩阵乘法</a:t>
            </a:r>
            <a:r>
              <a:rPr lang="en-US" altLang="zh-CN" dirty="0"/>
              <a:t>(matrix multiplication)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5CA619F-492D-5E22-5F6B-5C79ACE2979E}"/>
                  </a:ext>
                </a:extLst>
              </p:cNvPr>
              <p:cNvSpPr txBox="1"/>
              <p:nvPr/>
            </p:nvSpPr>
            <p:spPr>
              <a:xfrm>
                <a:off x="196417" y="4808285"/>
                <a:ext cx="33372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p"/>
                </a:pP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结合律：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𝑨𝑩</m:t>
                        </m:r>
                      </m:e>
                    </m:d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𝑪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𝑨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𝑩𝑪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</m:t>
                    </m:r>
                  </m:oMath>
                </a14:m>
                <a:endParaRPr kumimoji="1" lang="en-US" altLang="zh-CN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5CA619F-492D-5E22-5F6B-5C79ACE29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417" y="4808285"/>
                <a:ext cx="3337260" cy="400110"/>
              </a:xfrm>
              <a:prstGeom prst="rect">
                <a:avLst/>
              </a:prstGeom>
              <a:blipFill>
                <a:blip r:embed="rId2"/>
                <a:stretch>
                  <a:fillRect l="-1515" t="-9375" b="-28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6DC3A01-D4DE-0C2F-14AB-1ED8192A2050}"/>
                  </a:ext>
                </a:extLst>
              </p:cNvPr>
              <p:cNvSpPr txBox="1"/>
              <p:nvPr/>
            </p:nvSpPr>
            <p:spPr>
              <a:xfrm>
                <a:off x="196417" y="5342997"/>
                <a:ext cx="40253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p"/>
                </a:pP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分配律：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𝑨</m:t>
                    </m:r>
                    <m:d>
                      <m:dPr>
                        <m:ctrlP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𝑩</m:t>
                        </m:r>
                        <m: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</m:t>
                        </m:r>
                        <m: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𝑪</m:t>
                        </m:r>
                      </m:e>
                    </m:d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𝑨𝑩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𝑨𝑪</m:t>
                    </m:r>
                  </m:oMath>
                </a14:m>
                <a:endParaRPr kumimoji="1" lang="en-US" altLang="zh-CN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6DC3A01-D4DE-0C2F-14AB-1ED8192A2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417" y="5342997"/>
                <a:ext cx="4025333" cy="400110"/>
              </a:xfrm>
              <a:prstGeom prst="rect">
                <a:avLst/>
              </a:prstGeom>
              <a:blipFill>
                <a:blip r:embed="rId3"/>
                <a:stretch>
                  <a:fillRect l="-1258" t="-6061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69F90FB-B4E5-DEB2-2C70-2CE3109B5634}"/>
                  </a:ext>
                </a:extLst>
              </p:cNvPr>
              <p:cNvSpPr txBox="1"/>
              <p:nvPr/>
            </p:nvSpPr>
            <p:spPr>
              <a:xfrm>
                <a:off x="196416" y="5854687"/>
                <a:ext cx="388580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p"/>
                </a:pP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一般不满足交换律：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𝑨𝑩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≠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𝑩𝑨</m:t>
                    </m:r>
                  </m:oMath>
                </a14:m>
                <a:endParaRPr kumimoji="1" lang="en-US" altLang="zh-CN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69F90FB-B4E5-DEB2-2C70-2CE3109B5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416" y="5854687"/>
                <a:ext cx="3885807" cy="400110"/>
              </a:xfrm>
              <a:prstGeom prst="rect">
                <a:avLst/>
              </a:prstGeom>
              <a:blipFill>
                <a:blip r:embed="rId4"/>
                <a:stretch>
                  <a:fillRect l="-1303" t="-6061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DC72303-A2D1-1227-290F-5F6FD93D023F}"/>
                  </a:ext>
                </a:extLst>
              </p:cNvPr>
              <p:cNvSpPr txBox="1"/>
              <p:nvPr/>
            </p:nvSpPr>
            <p:spPr>
              <a:xfrm>
                <a:off x="381243" y="1037257"/>
                <a:ext cx="93664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p"/>
                </a:pP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矩阵向量乘法：</a:t>
                </a:r>
                <a14:m>
                  <m:oMath xmlns:m="http://schemas.openxmlformats.org/officeDocument/2006/math"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𝑨</m:t>
                    </m:r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𝒎</m:t>
                        </m:r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×</m:t>
                        </m:r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𝒏</m:t>
                        </m:r>
                      </m:sup>
                    </m:sSup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𝒏</m:t>
                        </m:r>
                      </m:sup>
                    </m:sSup>
                  </m:oMath>
                </a14:m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，记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𝒚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:=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𝑨𝒙</m:t>
                    </m:r>
                  </m:oMath>
                </a14:m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𝒚</m:t>
                    </m:r>
                  </m:oMath>
                </a14:m>
                <a:r>
                  <a:rPr kumimoji="1"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的第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𝒊</m:t>
                    </m:r>
                  </m:oMath>
                </a14:m>
                <a:r>
                  <a:rPr kumimoji="1"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个分量计算为：</a:t>
                </a:r>
                <a:endParaRPr kumimoji="1" lang="en-US" altLang="zh-CN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DC72303-A2D1-1227-290F-5F6FD93D0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3" y="1037257"/>
                <a:ext cx="9366410" cy="400110"/>
              </a:xfrm>
              <a:prstGeom prst="rect">
                <a:avLst/>
              </a:prstGeom>
              <a:blipFill>
                <a:blip r:embed="rId5"/>
                <a:stretch>
                  <a:fillRect l="-678" t="-6061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14CD7F2-FA90-E34E-E7FF-621C60D7817E}"/>
                  </a:ext>
                </a:extLst>
              </p:cNvPr>
              <p:cNvSpPr txBox="1"/>
              <p:nvPr/>
            </p:nvSpPr>
            <p:spPr>
              <a:xfrm>
                <a:off x="1728228" y="1549637"/>
                <a:ext cx="51734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14CD7F2-FA90-E34E-E7FF-621C60D78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228" y="1549637"/>
                <a:ext cx="5173468" cy="523220"/>
              </a:xfrm>
              <a:prstGeom prst="rect">
                <a:avLst/>
              </a:prstGeom>
              <a:blipFill>
                <a:blip r:embed="rId6"/>
                <a:stretch>
                  <a:fillRect b="-93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>
            <a:extLst>
              <a:ext uri="{FF2B5EF4-FFF2-40B4-BE49-F238E27FC236}">
                <a16:creationId xmlns:a16="http://schemas.microsoft.com/office/drawing/2014/main" id="{AE6E8128-934B-0D48-50B7-82DE736375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6938" y="1387097"/>
            <a:ext cx="3425062" cy="986467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6B3E72B1-51AF-09F6-0872-513CE40FA6DB}"/>
              </a:ext>
            </a:extLst>
          </p:cNvPr>
          <p:cNvSpPr txBox="1"/>
          <p:nvPr/>
        </p:nvSpPr>
        <p:spPr>
          <a:xfrm>
            <a:off x="9961212" y="1112392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矩阵向量乘法例子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11AB03B-DC19-2227-6981-E8F53F895A4A}"/>
                  </a:ext>
                </a:extLst>
              </p:cNvPr>
              <p:cNvSpPr txBox="1"/>
              <p:nvPr/>
            </p:nvSpPr>
            <p:spPr>
              <a:xfrm>
                <a:off x="381242" y="2667044"/>
                <a:ext cx="113966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p"/>
                </a:pP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矩阵矩阵乘法：</a:t>
                </a:r>
                <a14:m>
                  <m:oMath xmlns:m="http://schemas.openxmlformats.org/officeDocument/2006/math"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𝑨</m:t>
                    </m:r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𝒎</m:t>
                        </m:r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×</m:t>
                        </m:r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</m:sup>
                    </m:sSup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𝑩</m:t>
                    </m:r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×</m:t>
                        </m:r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𝒏</m:t>
                        </m:r>
                      </m:sup>
                    </m:sSup>
                  </m:oMath>
                </a14:m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，记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𝑪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:=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𝑨𝑩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𝒎</m:t>
                        </m:r>
                        <m: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×</m:t>
                        </m:r>
                        <m: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𝒏</m:t>
                        </m:r>
                      </m:sup>
                    </m:sSup>
                  </m:oMath>
                </a14:m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𝑪</m:t>
                    </m:r>
                  </m:oMath>
                </a14:m>
                <a:r>
                  <a:rPr kumimoji="1"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的第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𝒊</m:t>
                    </m:r>
                  </m:oMath>
                </a14:m>
                <a:r>
                  <a:rPr kumimoji="1"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行第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𝒋</m:t>
                    </m:r>
                  </m:oMath>
                </a14:m>
                <a:r>
                  <a:rPr kumimoji="1"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列元素计算为：</a:t>
                </a:r>
                <a:endParaRPr kumimoji="1" lang="en-US" altLang="zh-CN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11AB03B-DC19-2227-6981-E8F53F895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2667044"/>
                <a:ext cx="11396646" cy="400110"/>
              </a:xfrm>
              <a:prstGeom prst="rect">
                <a:avLst/>
              </a:prstGeom>
              <a:blipFill>
                <a:blip r:embed="rId8"/>
                <a:stretch>
                  <a:fillRect l="-557" t="-9375" b="-28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6D64B14-A52E-98F4-7F2F-516CE457A9A5}"/>
                  </a:ext>
                </a:extLst>
              </p:cNvPr>
              <p:cNvSpPr txBox="1"/>
              <p:nvPr/>
            </p:nvSpPr>
            <p:spPr>
              <a:xfrm>
                <a:off x="1876216" y="2993179"/>
                <a:ext cx="8024183" cy="1268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𝑖𝑝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𝑝𝑗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6D64B14-A52E-98F4-7F2F-516CE457A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216" y="2993179"/>
                <a:ext cx="8024183" cy="1268552"/>
              </a:xfrm>
              <a:prstGeom prst="rect">
                <a:avLst/>
              </a:prstGeom>
              <a:blipFill>
                <a:blip r:embed="rId9"/>
                <a:stretch>
                  <a:fillRect l="-2212" t="-105941" b="-1623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图片 21">
            <a:extLst>
              <a:ext uri="{FF2B5EF4-FFF2-40B4-BE49-F238E27FC236}">
                <a16:creationId xmlns:a16="http://schemas.microsoft.com/office/drawing/2014/main" id="{A212D3B0-187E-3FB1-9005-7B1403CFF2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9091" y="4786057"/>
            <a:ext cx="4892107" cy="947653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6A1553F8-CE86-D4C5-1FBA-6C6C1793C256}"/>
              </a:ext>
            </a:extLst>
          </p:cNvPr>
          <p:cNvSpPr txBox="1"/>
          <p:nvPr/>
        </p:nvSpPr>
        <p:spPr>
          <a:xfrm>
            <a:off x="8980946" y="5820743"/>
            <a:ext cx="65916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第一列：图片</a:t>
            </a:r>
            <a:r>
              <a:rPr kumimoji="1" lang="en-US" altLang="zh-CN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5B5D8AE-5D0F-80E2-B914-7E53B51A4D5B}"/>
                  </a:ext>
                </a:extLst>
              </p:cNvPr>
              <p:cNvSpPr txBox="1"/>
              <p:nvPr/>
            </p:nvSpPr>
            <p:spPr>
              <a:xfrm>
                <a:off x="583660" y="2169895"/>
                <a:ext cx="828598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/>
                  <a:t>A</a:t>
                </a:r>
                <a:r>
                  <a:rPr lang="zh-CN" altLang="en-US" sz="2000" dirty="0"/>
                  <a:t>的每一行都在对输入特征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000" dirty="0"/>
                  <a:t> </a:t>
                </a:r>
                <a:r>
                  <a:rPr lang="zh-CN" altLang="en-US" sz="2000" dirty="0"/>
                  <a:t>进行加权求和，得到线性变换后的特征表示</a:t>
                </a:r>
                <a:endParaRPr kumimoji="1" lang="zh-CN" altLang="en-US" sz="20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5B5D8AE-5D0F-80E2-B914-7E53B51A4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60" y="2169895"/>
                <a:ext cx="8285986" cy="400110"/>
              </a:xfrm>
              <a:prstGeom prst="rect">
                <a:avLst/>
              </a:prstGeom>
              <a:blipFill>
                <a:blip r:embed="rId11"/>
                <a:stretch>
                  <a:fillRect l="-919" t="-12121" r="-613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789BF4F8-A8BB-AAD5-9C79-1FFEEC68D144}"/>
              </a:ext>
            </a:extLst>
          </p:cNvPr>
          <p:cNvSpPr txBox="1"/>
          <p:nvPr/>
        </p:nvSpPr>
        <p:spPr>
          <a:xfrm>
            <a:off x="90791" y="4285084"/>
            <a:ext cx="1208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我们想一次性计算</a:t>
            </a:r>
            <a:r>
              <a:rPr lang="en-US" altLang="zh-CN" sz="2000" dirty="0"/>
              <a:t>n</a:t>
            </a:r>
            <a:r>
              <a:rPr lang="zh-CN" altLang="en-US" sz="2000" dirty="0"/>
              <a:t>张图像</a:t>
            </a:r>
            <a:r>
              <a:rPr lang="en-US" altLang="zh-CN" sz="2000" dirty="0"/>
              <a:t> (</a:t>
            </a:r>
            <a:r>
              <a:rPr lang="zh-CN" altLang="en-US" sz="2000" dirty="0"/>
              <a:t>例如</a:t>
            </a:r>
            <a:r>
              <a:rPr lang="en-US" altLang="zh-CN" sz="2000" dirty="0"/>
              <a:t>n=64 </a:t>
            </a:r>
            <a:r>
              <a:rPr lang="zh-CN" altLang="en-US" sz="2000" dirty="0"/>
              <a:t>或</a:t>
            </a:r>
            <a:r>
              <a:rPr lang="en-US" altLang="zh-CN" sz="2000" dirty="0"/>
              <a:t>128) </a:t>
            </a:r>
            <a:r>
              <a:rPr lang="zh-CN" altLang="en-US" sz="2000" dirty="0"/>
              <a:t>图片线性变换的结果，把 </a:t>
            </a:r>
            <a:r>
              <a:rPr lang="en-US" altLang="zh-CN" sz="2000" dirty="0"/>
              <a:t>n</a:t>
            </a:r>
            <a:r>
              <a:rPr lang="zh-CN" altLang="en-US" sz="2000" dirty="0"/>
              <a:t> 个向量拼起来变为矩阵，同时处理</a:t>
            </a:r>
            <a:endParaRPr kumimoji="1"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B629A7-BE8D-0DB1-81CF-0ADA59A76FF3}"/>
              </a:ext>
            </a:extLst>
          </p:cNvPr>
          <p:cNvSpPr txBox="1"/>
          <p:nvPr/>
        </p:nvSpPr>
        <p:spPr>
          <a:xfrm>
            <a:off x="9587401" y="5809651"/>
            <a:ext cx="7232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第二列：</a:t>
            </a:r>
            <a:endParaRPr kumimoji="1" lang="en-US" altLang="zh-CN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kumimoji="1"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图片</a:t>
            </a:r>
            <a:r>
              <a:rPr kumimoji="1" lang="en-US" altLang="zh-CN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kumimoji="1" lang="zh-CN" alt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61025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B49C4-520A-0EB4-5419-8AB84CA53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7001B4C-4B11-E328-BD79-E7C941502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特殊的矩阵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9176919-7084-1436-CC70-F944F5C3059E}"/>
                  </a:ext>
                </a:extLst>
              </p:cNvPr>
              <p:cNvSpPr txBox="1"/>
              <p:nvPr/>
            </p:nvSpPr>
            <p:spPr>
              <a:xfrm>
                <a:off x="116773" y="2395445"/>
                <a:ext cx="5410201" cy="1011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对角矩阵：除对角线外其他元素均为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 </m:t>
                    </m:r>
                    <m:r>
                      <m:rPr>
                        <m:sty m:val="p"/>
                      </m:rP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when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𝑗</m:t>
                    </m:r>
                  </m:oMath>
                </a14:m>
                <a:endParaRPr lang="zh-CN" altLang="en-US" sz="2000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9176919-7084-1436-CC70-F944F5C30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73" y="2395445"/>
                <a:ext cx="5410201" cy="1011174"/>
              </a:xfrm>
              <a:prstGeom prst="rect">
                <a:avLst/>
              </a:prstGeom>
              <a:blipFill>
                <a:blip r:embed="rId2"/>
                <a:stretch>
                  <a:fillRect l="-937"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AC51B8D-AC38-C108-2711-C887AE7065DC}"/>
                  </a:ext>
                </a:extLst>
              </p:cNvPr>
              <p:cNvSpPr txBox="1"/>
              <p:nvPr/>
            </p:nvSpPr>
            <p:spPr>
              <a:xfrm>
                <a:off x="116773" y="4001608"/>
                <a:ext cx="4793300" cy="8988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 algn="l">
                  <a:buFont typeface="Wingdings" pitchFamily="2" charset="2"/>
                  <a:buChar char="p"/>
                </a:pP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下三角矩阵：对角线以上的元素全为</a:t>
                </a:r>
                <a:r>
                  <a:rPr kumimoji="1"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 </m:t>
                      </m:r>
                      <m:r>
                        <m:rPr>
                          <m:sty m:val="p"/>
                        </m:rPr>
                        <a:rPr lang="en-US" altLang="zh-CN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for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𝑗</m:t>
                      </m:r>
                    </m:oMath>
                  </m:oMathPara>
                </a14:m>
                <a:endParaRPr kumimoji="1" lang="zh-CN" altLang="en-US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AC51B8D-AC38-C108-2711-C887AE706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73" y="4001608"/>
                <a:ext cx="4793300" cy="898836"/>
              </a:xfrm>
              <a:prstGeom prst="rect">
                <a:avLst/>
              </a:prstGeom>
              <a:blipFill>
                <a:blip r:embed="rId3"/>
                <a:stretch>
                  <a:fillRect l="-1058" t="-2778" r="-265" b="-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0504D6AC-C236-8A50-0ECB-91424E2203E0}"/>
              </a:ext>
            </a:extLst>
          </p:cNvPr>
          <p:cNvSpPr txBox="1"/>
          <p:nvPr/>
        </p:nvSpPr>
        <p:spPr>
          <a:xfrm>
            <a:off x="-157088" y="2681172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zh-CN" altLang="en-US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DB40FAF-D1FC-0DB2-7CF7-6EFC82993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754" y="2527331"/>
            <a:ext cx="4090221" cy="1098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29682A0-BA70-C1BD-597E-D6E19C48C986}"/>
                  </a:ext>
                </a:extLst>
              </p:cNvPr>
              <p:cNvSpPr txBox="1"/>
              <p:nvPr/>
            </p:nvSpPr>
            <p:spPr>
              <a:xfrm>
                <a:off x="131018" y="5149566"/>
                <a:ext cx="4793300" cy="10527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 algn="l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上三角矩阵：对角线以下的元素全为</a:t>
                </a:r>
                <a:r>
                  <a:rPr kumimoji="1"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 </m:t>
                      </m:r>
                      <m:r>
                        <m:rPr>
                          <m:sty m:val="p"/>
                        </m:rP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for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&gt;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𝑗</m:t>
                      </m:r>
                    </m:oMath>
                  </m:oMathPara>
                </a14:m>
                <a:endParaRPr kumimoji="1" lang="zh-CN" altLang="en-US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29682A0-BA70-C1BD-597E-D6E19C48C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8" y="5149566"/>
                <a:ext cx="4793300" cy="1052724"/>
              </a:xfrm>
              <a:prstGeom prst="rect">
                <a:avLst/>
              </a:prstGeom>
              <a:blipFill>
                <a:blip r:embed="rId5"/>
                <a:stretch>
                  <a:fillRect l="-1058" r="-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6B383800-3B86-EC31-4C7B-8C89A279BD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8344" y="4879057"/>
            <a:ext cx="2446321" cy="133537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C386092-0B46-E179-4E9F-1B56913959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2129" y="3781519"/>
            <a:ext cx="1766382" cy="8731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030F02D-C6ED-2D04-4F62-27F4A4A8421F}"/>
                  </a:ext>
                </a:extLst>
              </p:cNvPr>
              <p:cNvSpPr txBox="1"/>
              <p:nvPr/>
            </p:nvSpPr>
            <p:spPr>
              <a:xfrm>
                <a:off x="131018" y="973902"/>
                <a:ext cx="6211167" cy="1011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单位矩阵：对角线元素全为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，其他元素均为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:r>
                  <a:rPr lang="en-US" altLang="zh-CN" sz="2000" dirty="0">
                    <a:solidFill>
                      <a:schemeClr val="bg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𝒊𝒊</m:t>
                            </m:r>
                          </m:sub>
                        </m:s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 </m:t>
                    </m:r>
                    <m:r>
                      <m:rPr>
                        <m:sty m:val="p"/>
                      </m:rP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when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𝑗</m:t>
                    </m:r>
                  </m:oMath>
                </a14:m>
                <a:endParaRPr lang="zh-CN" altLang="en-US" sz="2000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030F02D-C6ED-2D04-4F62-27F4A4A84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8" y="973902"/>
                <a:ext cx="6211167" cy="1011174"/>
              </a:xfrm>
              <a:prstGeom prst="rect">
                <a:avLst/>
              </a:prstGeom>
              <a:blipFill>
                <a:blip r:embed="rId8"/>
                <a:stretch>
                  <a:fillRect l="-816" r="-408"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>
            <a:extLst>
              <a:ext uri="{FF2B5EF4-FFF2-40B4-BE49-F238E27FC236}">
                <a16:creationId xmlns:a16="http://schemas.microsoft.com/office/drawing/2014/main" id="{08F30B39-CB3A-4E01-5ABC-6BF1C14F06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3065" y="863539"/>
            <a:ext cx="1371600" cy="12319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58965DB-B8B1-98CD-308F-AE14BD703717}"/>
              </a:ext>
            </a:extLst>
          </p:cNvPr>
          <p:cNvSpPr txBox="1"/>
          <p:nvPr/>
        </p:nvSpPr>
        <p:spPr>
          <a:xfrm>
            <a:off x="8615545" y="1235109"/>
            <a:ext cx="3445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恒等映射：</a:t>
            </a:r>
            <a:r>
              <a:rPr lang="en-US" altLang="zh-CN" sz="2000" dirty="0"/>
              <a:t>Ax = x</a:t>
            </a:r>
            <a:r>
              <a:rPr lang="zh-CN" altLang="en-US" sz="2000" dirty="0"/>
              <a:t>，用于保留信息</a:t>
            </a:r>
            <a:endParaRPr kumimoji="1"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A07B5D-7023-D1CF-E6C6-18BC10E70368}"/>
              </a:ext>
            </a:extLst>
          </p:cNvPr>
          <p:cNvSpPr txBox="1"/>
          <p:nvPr/>
        </p:nvSpPr>
        <p:spPr>
          <a:xfrm>
            <a:off x="9840153" y="2594201"/>
            <a:ext cx="2351847" cy="964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对角变换：</a:t>
            </a:r>
            <a:r>
              <a:rPr lang="en-US" altLang="zh-CN" sz="2000" dirty="0"/>
              <a:t>Ax </a:t>
            </a:r>
            <a:r>
              <a:rPr lang="zh-CN" altLang="en-US" sz="2000" dirty="0"/>
              <a:t>对 </a:t>
            </a:r>
            <a:r>
              <a:rPr lang="en-US" altLang="zh-CN" sz="2000" dirty="0"/>
              <a:t>x</a:t>
            </a:r>
            <a:r>
              <a:rPr lang="zh-CN" altLang="en-US" sz="2000" dirty="0"/>
              <a:t>不同维度解耦处理</a:t>
            </a:r>
            <a:endParaRPr kumimoji="1"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4E77C7-B89A-9215-3839-1BAAE11F663E}"/>
              </a:ext>
            </a:extLst>
          </p:cNvPr>
          <p:cNvSpPr txBox="1"/>
          <p:nvPr/>
        </p:nvSpPr>
        <p:spPr>
          <a:xfrm>
            <a:off x="8615546" y="4225470"/>
            <a:ext cx="3367616" cy="1708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下三角变换：因果掩码 </a:t>
            </a:r>
            <a:r>
              <a:rPr lang="en-US" altLang="zh-CN" dirty="0"/>
              <a:t>(</a:t>
            </a:r>
            <a:r>
              <a:rPr lang="en" altLang="zh-CN" dirty="0"/>
              <a:t>Causal Masking)</a:t>
            </a:r>
            <a:r>
              <a:rPr lang="zh-CN" altLang="en-US" dirty="0"/>
              <a:t>，</a:t>
            </a:r>
            <a:r>
              <a:rPr lang="en-US" altLang="zh-CN" dirty="0"/>
              <a:t>Ax </a:t>
            </a:r>
            <a:r>
              <a:rPr lang="zh-CN" altLang="en-US" dirty="0"/>
              <a:t>对 </a:t>
            </a:r>
            <a:r>
              <a:rPr lang="en-US" altLang="zh-CN" dirty="0"/>
              <a:t>x</a:t>
            </a:r>
            <a:r>
              <a:rPr lang="zh-CN" altLang="en-US" dirty="0"/>
              <a:t> 处理时，第 </a:t>
            </a:r>
            <a:r>
              <a:rPr lang="en" altLang="zh-CN" sz="1600" dirty="0"/>
              <a:t>t</a:t>
            </a:r>
            <a:r>
              <a:rPr lang="en" altLang="zh-CN" dirty="0"/>
              <a:t> </a:t>
            </a:r>
            <a:r>
              <a:rPr lang="zh-CN" altLang="en-US" dirty="0"/>
              <a:t>个位置的输出，只能依赖于第 </a:t>
            </a:r>
            <a:r>
              <a:rPr lang="en-US" altLang="zh-CN" sz="1600" dirty="0"/>
              <a:t>1</a:t>
            </a:r>
            <a:r>
              <a:rPr lang="zh-CN" altLang="en-US" dirty="0"/>
              <a:t> 到 </a:t>
            </a:r>
            <a:r>
              <a:rPr lang="en" altLang="zh-CN" sz="1600" dirty="0"/>
              <a:t>t</a:t>
            </a:r>
            <a:r>
              <a:rPr lang="en" altLang="zh-CN" dirty="0"/>
              <a:t> </a:t>
            </a:r>
            <a:r>
              <a:rPr lang="zh-CN" altLang="en-US" dirty="0"/>
              <a:t>个位置的输入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71289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48C6F-633F-547F-9EEE-46821DBD6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8ABA913-C3E7-3B1E-C7EA-49B217B0C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矩阵的逆 </a:t>
            </a:r>
            <a:r>
              <a:rPr lang="en-US" altLang="zh-CN" dirty="0"/>
              <a:t>(inverse)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739BE29-0201-E66B-130E-A06396C83DB5}"/>
                  </a:ext>
                </a:extLst>
              </p:cNvPr>
              <p:cNvSpPr txBox="1"/>
              <p:nvPr/>
            </p:nvSpPr>
            <p:spPr>
              <a:xfrm>
                <a:off x="146540" y="894891"/>
                <a:ext cx="7188116" cy="1454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对于一个方阵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，如果存在一个矩阵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  <m:r>
                      <a:rPr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  <m:r>
                          <a:rPr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r>
                          <a:rPr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使得</a:t>
                </a:r>
                <a:endParaRPr lang="en-US" altLang="zh-CN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𝑨𝑩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𝑩𝑨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𝑰</m:t>
                      </m:r>
                    </m:oMath>
                  </m:oMathPara>
                </a14:m>
                <a:endParaRPr lang="en-US" altLang="zh-CN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 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则称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</m:oMath>
                </a14:m>
                <a:r>
                  <a:rPr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的逆，记为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≔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</m:oMath>
                </a14:m>
                <a:endParaRPr lang="zh-CN" altLang="en-US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739BE29-0201-E66B-130E-A06396C83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40" y="894891"/>
                <a:ext cx="7188116" cy="1454309"/>
              </a:xfrm>
              <a:prstGeom prst="rect">
                <a:avLst/>
              </a:prstGeom>
              <a:blipFill>
                <a:blip r:embed="rId2"/>
                <a:stretch>
                  <a:fillRect l="-705" r="-705" b="-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AB1D1854-8516-81EE-218E-BEFDB81832E0}"/>
              </a:ext>
            </a:extLst>
          </p:cNvPr>
          <p:cNvSpPr txBox="1"/>
          <p:nvPr/>
        </p:nvSpPr>
        <p:spPr>
          <a:xfrm>
            <a:off x="-127322" y="1180618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FF0253A-D183-31B5-86AE-1BA5E087483B}"/>
                  </a:ext>
                </a:extLst>
              </p:cNvPr>
              <p:cNvSpPr txBox="1"/>
              <p:nvPr/>
            </p:nvSpPr>
            <p:spPr>
              <a:xfrm>
                <a:off x="131018" y="2482112"/>
                <a:ext cx="5410201" cy="506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单位矩阵的逆：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𝑰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</m:oMath>
                </a14:m>
                <a:endParaRPr lang="zh-CN" altLang="en-US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FF0253A-D183-31B5-86AE-1BA5E0874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8" y="2482112"/>
                <a:ext cx="5410201" cy="506677"/>
              </a:xfrm>
              <a:prstGeom prst="rect">
                <a:avLst/>
              </a:prstGeom>
              <a:blipFill>
                <a:blip r:embed="rId3"/>
                <a:stretch>
                  <a:fillRect l="-937" b="-21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13939A1-93D2-3017-49EA-834BBD83036D}"/>
                  </a:ext>
                </a:extLst>
              </p:cNvPr>
              <p:cNvSpPr txBox="1"/>
              <p:nvPr/>
            </p:nvSpPr>
            <p:spPr>
              <a:xfrm>
                <a:off x="146539" y="3121701"/>
                <a:ext cx="6887307" cy="506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正交矩阵（定义为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⊤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⊤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</m:oMath>
                </a14:m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）的逆：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⊤</m:t>
                        </m:r>
                      </m:sup>
                    </m:sSup>
                  </m:oMath>
                </a14:m>
                <a:endParaRPr lang="zh-CN" altLang="en-US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13939A1-93D2-3017-49EA-834BBD830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39" y="3121701"/>
                <a:ext cx="6887307" cy="506677"/>
              </a:xfrm>
              <a:prstGeom prst="rect">
                <a:avLst/>
              </a:prstGeom>
              <a:blipFill>
                <a:blip r:embed="rId4"/>
                <a:stretch>
                  <a:fillRect l="-737" b="-21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535D7926-CC65-715E-3237-C73B2FBB75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2554" y="5252877"/>
            <a:ext cx="4970584" cy="107208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AF8721E-7BBD-E36E-CCA6-1F782CA71F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2303" y="3714526"/>
            <a:ext cx="3739174" cy="111086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9F25E6B-CFEB-D6C2-352F-F76487E6C8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078" y="2996166"/>
            <a:ext cx="1981808" cy="17369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DC089FC-37A7-A9B0-3D4C-241CD176BDA0}"/>
                  </a:ext>
                </a:extLst>
              </p:cNvPr>
              <p:cNvSpPr txBox="1"/>
              <p:nvPr/>
            </p:nvSpPr>
            <p:spPr>
              <a:xfrm>
                <a:off x="146539" y="4789924"/>
                <a:ext cx="8223738" cy="499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en-US" altLang="zh-CN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2x2 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i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可逆当且仅当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𝟏𝟐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，此时求逆为：</a:t>
                </a: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DC089FC-37A7-A9B0-3D4C-241CD176B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39" y="4789924"/>
                <a:ext cx="8223738" cy="499560"/>
              </a:xfrm>
              <a:prstGeom prst="rect">
                <a:avLst/>
              </a:prstGeom>
              <a:blipFill>
                <a:blip r:embed="rId8"/>
                <a:stretch>
                  <a:fillRect l="-616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E6DEA735-71A7-AC9B-DEA4-4FCE6DC164E1}"/>
              </a:ext>
            </a:extLst>
          </p:cNvPr>
          <p:cNvSpPr txBox="1"/>
          <p:nvPr/>
        </p:nvSpPr>
        <p:spPr>
          <a:xfrm>
            <a:off x="132000" y="404828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正交矩阵例子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CD6C27-DB19-848B-FAE5-FD033CB5423E}"/>
              </a:ext>
            </a:extLst>
          </p:cNvPr>
          <p:cNvSpPr txBox="1"/>
          <p:nvPr/>
        </p:nvSpPr>
        <p:spPr>
          <a:xfrm>
            <a:off x="7877878" y="1043884"/>
            <a:ext cx="3732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逆矩阵是线性变换的“逆变换</a:t>
            </a:r>
            <a:r>
              <a:rPr lang="en" altLang="zh-CN" sz="2000" b="1" dirty="0"/>
              <a:t>” </a:t>
            </a:r>
            <a:endParaRPr kumimoji="1"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00973EF-65DC-1D12-7FB8-B6C7663BC1E6}"/>
                  </a:ext>
                </a:extLst>
              </p:cNvPr>
              <p:cNvSpPr txBox="1"/>
              <p:nvPr/>
            </p:nvSpPr>
            <p:spPr>
              <a:xfrm>
                <a:off x="7033846" y="1414703"/>
                <a:ext cx="5119367" cy="1708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dirty="0"/>
                  <a:t>把复杂的数据 </a:t>
                </a:r>
                <a:r>
                  <a:rPr lang="en-US" altLang="zh-CN" dirty="0"/>
                  <a:t>x</a:t>
                </a:r>
                <a:r>
                  <a:rPr lang="en" altLang="zh-CN" dirty="0"/>
                  <a:t> </a:t>
                </a:r>
                <a:r>
                  <a:rPr lang="zh-CN" altLang="en-US" dirty="0"/>
                  <a:t>映射到一个简单的分布 </a:t>
                </a:r>
                <a:r>
                  <a:rPr lang="en-US" altLang="zh-CN" dirty="0"/>
                  <a:t>z</a:t>
                </a:r>
                <a:r>
                  <a:rPr lang="zh-CN" altLang="en" dirty="0"/>
                  <a:t>（</a:t>
                </a:r>
                <a:r>
                  <a:rPr lang="zh-CN" altLang="en-US" dirty="0"/>
                  <a:t>编码过程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r>
                  <a:rPr lang="zh-CN" altLang="en" dirty="0"/>
                  <a:t>）</a:t>
                </a: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dirty="0"/>
                  <a:t>然后我们还能从 </a:t>
                </a:r>
                <a:r>
                  <a:rPr lang="en-US" altLang="zh-CN" dirty="0"/>
                  <a:t>z</a:t>
                </a:r>
                <a:r>
                  <a:rPr lang="en" altLang="zh-CN" dirty="0"/>
                  <a:t> </a:t>
                </a:r>
                <a:r>
                  <a:rPr lang="zh-CN" altLang="en-US" dirty="0"/>
                  <a:t>完美地还原出 </a:t>
                </a:r>
                <a:r>
                  <a:rPr lang="en-US" altLang="zh-CN" dirty="0"/>
                  <a:t>x</a:t>
                </a:r>
                <a:r>
                  <a:rPr lang="zh-CN" altLang="en" dirty="0"/>
                  <a:t>（</a:t>
                </a:r>
                <a:r>
                  <a:rPr lang="zh-CN" altLang="en-US" dirty="0"/>
                  <a:t>解码过程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" dirty="0"/>
                  <a:t>）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00973EF-65DC-1D12-7FB8-B6C7663BC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846" y="1414703"/>
                <a:ext cx="5119367" cy="1708353"/>
              </a:xfrm>
              <a:prstGeom prst="rect">
                <a:avLst/>
              </a:prstGeom>
              <a:blipFill>
                <a:blip r:embed="rId9"/>
                <a:stretch>
                  <a:fillRect l="-494"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7D754E7F-E602-3E19-0DB9-919BF426B98D}"/>
              </a:ext>
            </a:extLst>
          </p:cNvPr>
          <p:cNvSpPr/>
          <p:nvPr/>
        </p:nvSpPr>
        <p:spPr>
          <a:xfrm>
            <a:off x="7772400" y="4825387"/>
            <a:ext cx="4354159" cy="13162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i="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正交矩阵不改变模长，可以对向量进行旋转一个角度</a:t>
            </a:r>
            <a:endParaRPr lang="en-US" altLang="zh-CN" sz="1400" b="1" i="0" dirty="0">
              <a:solidFill>
                <a:srgbClr val="C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旋转位置编码：对一句话中不同位置的词向量旋转不同的角度</a:t>
            </a:r>
            <a:endParaRPr lang="zh-CN" altLang="en-US" sz="1400" b="1" i="0" dirty="0">
              <a:solidFill>
                <a:srgbClr val="C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32844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BA3572-4877-A026-B689-318B3A0B4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79B571A-917E-7360-9B25-FE133249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矩阵的行列式 </a:t>
            </a:r>
            <a:r>
              <a:rPr lang="en-US" altLang="zh-CN" dirty="0"/>
              <a:t>(determinant)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ACE458-C5F5-00AC-1BEB-25ECB4A4D6A3}"/>
              </a:ext>
            </a:extLst>
          </p:cNvPr>
          <p:cNvSpPr txBox="1"/>
          <p:nvPr/>
        </p:nvSpPr>
        <p:spPr>
          <a:xfrm>
            <a:off x="-157088" y="2681172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2EBCD25-EAA0-D3E2-707C-EE69CEAE703F}"/>
                  </a:ext>
                </a:extLst>
              </p:cNvPr>
              <p:cNvSpPr txBox="1"/>
              <p:nvPr/>
            </p:nvSpPr>
            <p:spPr>
              <a:xfrm>
                <a:off x="131018" y="973902"/>
                <a:ext cx="10923844" cy="1045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\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\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𝒋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ℝ</m:t>
                        </m:r>
                      </m:e>
                      <m:sup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𝒏</m:t>
                            </m:r>
                            <m:r>
                              <a:rPr lang="en-US" altLang="zh-CN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e>
                        </m:d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𝒏</m:t>
                            </m:r>
                            <m:r>
                              <a:rPr lang="en-US" altLang="zh-CN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是去掉第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𝒊</m:t>
                    </m:r>
                  </m:oMath>
                </a14:m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行和第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𝒋</m:t>
                    </m:r>
                  </m:oMath>
                </a14:m>
                <a:r>
                  <a:rPr lang="en-US" altLang="zh-CN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列之后的矩阵</a:t>
                </a:r>
                <a:endParaRPr lang="en-US" altLang="zh-CN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b="1" dirty="0">
                    <a:solidFill>
                      <a:srgbClr val="000000"/>
                    </a:solidFill>
                    <a:ea typeface="微软雅黑" panose="020B0503020204020204" pitchFamily="34" charset="-122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en-US" altLang="zh-CN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的行列式可如下递归地定义：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2EBCD25-EAA0-D3E2-707C-EE69CEAE7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8" y="973902"/>
                <a:ext cx="10923844" cy="1045864"/>
              </a:xfrm>
              <a:prstGeom prst="rect">
                <a:avLst/>
              </a:prstGeom>
              <a:blipFill>
                <a:blip r:embed="rId2"/>
                <a:stretch>
                  <a:fillRect l="-465" b="-10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6F9271F-9412-F35C-3E17-2CB2273DB047}"/>
                  </a:ext>
                </a:extLst>
              </p:cNvPr>
              <p:cNvSpPr txBox="1"/>
              <p:nvPr/>
            </p:nvSpPr>
            <p:spPr>
              <a:xfrm>
                <a:off x="2379785" y="2231689"/>
                <a:ext cx="6886309" cy="967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det</m:t>
                      </m:r>
                      <m:d>
                        <m:dPr>
                          <m:ctrlP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:=</m:t>
                      </m:r>
                      <m:r>
                        <m:rPr>
                          <m:lit/>
                        </m:rP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kumimoji="1" lang="en-US" altLang="zh-CN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m:rPr>
                          <m:lit/>
                        </m:rP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1" lang="en-US" altLang="zh-CN" sz="2000" b="1" i="1" smtClean="0">
                                  <a:latin typeface="Cambria Math" panose="02040503050406030204" pitchFamily="18" charset="0"/>
                                </a:rPr>
                                <m:t>\</m:t>
                              </m:r>
                              <m:r>
                                <a:rPr kumimoji="1" lang="en-US" altLang="zh-CN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kumimoji="1" lang="en-US" altLang="zh-CN" sz="2000" b="1" i="1" smtClean="0">
                                  <a:latin typeface="Cambria Math" panose="02040503050406030204" pitchFamily="18" charset="0"/>
                                </a:rPr>
                                <m:t>, \</m:t>
                              </m:r>
                              <m:r>
                                <a:rPr kumimoji="1" lang="en-US" altLang="zh-CN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sSub>
                            <m:sSubPr>
                              <m:ctrlP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1" lang="en-US" altLang="zh-CN" sz="2000" b="1" i="1">
                                  <a:latin typeface="Cambria Math" panose="02040503050406030204" pitchFamily="18" charset="0"/>
                                </a:rPr>
                                <m:t>\</m:t>
                              </m:r>
                              <m:r>
                                <a:rPr kumimoji="1" lang="en-US" altLang="zh-CN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kumimoji="1" lang="en-US" altLang="zh-CN" sz="2000" b="1" i="1">
                                  <a:latin typeface="Cambria Math" panose="02040503050406030204" pitchFamily="18" charset="0"/>
                                </a:rPr>
                                <m:t>, \</m:t>
                              </m:r>
                              <m:r>
                                <a:rPr kumimoji="1" lang="en-US" altLang="zh-CN" sz="20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6F9271F-9412-F35C-3E17-2CB2273DB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785" y="2231689"/>
                <a:ext cx="6886309" cy="967444"/>
              </a:xfrm>
              <a:prstGeom prst="rect">
                <a:avLst/>
              </a:prstGeom>
              <a:blipFill>
                <a:blip r:embed="rId3"/>
                <a:stretch>
                  <a:fillRect t="-98718" b="-1448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C318F75-0EFC-E32E-0F8C-992A4F79A4CD}"/>
                  </a:ext>
                </a:extLst>
              </p:cNvPr>
              <p:cNvSpPr txBox="1"/>
              <p:nvPr/>
            </p:nvSpPr>
            <p:spPr>
              <a:xfrm>
                <a:off x="447314" y="3161276"/>
                <a:ext cx="5410201" cy="499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1x1 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的矩阵行列式定义为：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b="1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r>
                      <a:rPr lang="en-US" altLang="zh-CN" sz="2000" b="1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  <m:r>
                      <a:rPr lang="en-US" altLang="zh-CN" sz="2000" b="1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|=</m:t>
                    </m:r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𝟏𝟏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</m:oMath>
                </a14:m>
                <a:endParaRPr lang="zh-CN" altLang="en-US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C318F75-0EFC-E32E-0F8C-992A4F79A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14" y="3161276"/>
                <a:ext cx="5410201" cy="499560"/>
              </a:xfrm>
              <a:prstGeom prst="rect">
                <a:avLst/>
              </a:prstGeom>
              <a:blipFill>
                <a:blip r:embed="rId4"/>
                <a:stretch>
                  <a:fillRect l="-1171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CAD63FE-A553-CF43-2DA9-AE43090D28B8}"/>
              </a:ext>
            </a:extLst>
          </p:cNvPr>
          <p:cNvSpPr txBox="1"/>
          <p:nvPr/>
        </p:nvSpPr>
        <p:spPr>
          <a:xfrm>
            <a:off x="182739" y="4064481"/>
            <a:ext cx="9230892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sz="2000" b="1" dirty="0">
                <a:solidFill>
                  <a:srgbClr val="000000"/>
                </a:solidFill>
                <a:ea typeface="微软雅黑" panose="020B0503020204020204" pitchFamily="34" charset="-122"/>
              </a:rPr>
              <a:t>行列式的几何含义：</a:t>
            </a:r>
            <a:r>
              <a:rPr lang="zh-CN" altLang="en-US" sz="2000" b="1" dirty="0">
                <a:solidFill>
                  <a:srgbClr val="B61516"/>
                </a:solidFill>
                <a:ea typeface="微软雅黑" panose="020B0503020204020204" pitchFamily="34" charset="-122"/>
              </a:rPr>
              <a:t>有向面积或体积的概念在一般的欧几里得空间中的推广</a:t>
            </a:r>
            <a:endParaRPr lang="zh-CN" altLang="en-US" sz="2000" b="1" dirty="0">
              <a:solidFill>
                <a:srgbClr val="B615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07C5275-089C-A797-259B-76F37849433A}"/>
                  </a:ext>
                </a:extLst>
              </p:cNvPr>
              <p:cNvSpPr txBox="1"/>
              <p:nvPr/>
            </p:nvSpPr>
            <p:spPr>
              <a:xfrm>
                <a:off x="2520462" y="4632492"/>
                <a:ext cx="8651343" cy="9326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CN" altLang="en-US" sz="2000" i="1">
                          <a:latin typeface="Cambria Math" panose="02040503050406030204" pitchFamily="18" charset="0"/>
                        </a:rPr>
                        <m:t>其中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000" i="1">
                          <a:latin typeface="Cambria Math" panose="02040503050406030204" pitchFamily="18" charset="0"/>
                        </a:rPr>
                        <m:t>代表</m:t>
                      </m:r>
                      <m:r>
                        <a:rPr kumimoji="1" lang="zh-CN" alt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 的第 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 列， 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=1,2, ⋯,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07C5275-089C-A797-259B-76F378494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462" y="4632492"/>
                <a:ext cx="8651343" cy="932628"/>
              </a:xfrm>
              <a:prstGeom prst="rect">
                <a:avLst/>
              </a:prstGeom>
              <a:blipFill>
                <a:blip r:embed="rId5"/>
                <a:stretch>
                  <a:fillRect t="-101333" b="-154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2D9AC5F-5B9C-933D-D9FF-EBA93A2EB8B3}"/>
                  </a:ext>
                </a:extLst>
              </p:cNvPr>
              <p:cNvSpPr txBox="1"/>
              <p:nvPr/>
            </p:nvSpPr>
            <p:spPr>
              <a:xfrm>
                <a:off x="564545" y="5611804"/>
                <a:ext cx="435087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kumimoji="1"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的行列式代表了集合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kumimoji="1"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的“体积”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2D9AC5F-5B9C-933D-D9FF-EBA93A2EB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45" y="5611804"/>
                <a:ext cx="4350871" cy="400110"/>
              </a:xfrm>
              <a:prstGeom prst="rect">
                <a:avLst/>
              </a:prstGeom>
              <a:blipFill>
                <a:blip r:embed="rId6"/>
                <a:stretch>
                  <a:fillRect t="-9375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E045E2B5-9936-AABC-982F-CC4199CADF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2215" y="2531240"/>
            <a:ext cx="2126670" cy="210125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0F569D3-18D2-C560-9710-06DBD55AFD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2215" y="1368432"/>
            <a:ext cx="1880537" cy="96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88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3.77866"/>
  <p:tag name="ORIGINALWIDTH" val="104.2726"/>
  <p:tag name="OUTPUTTYPE" val="SVG"/>
  <p:tag name="IGUANATEXVERSION" val="160"/>
  <p:tag name="LATEXADDIN" val="\documentclass{article}&#10;\usepackage{amsmath}&#10;\pagestyle{empty}&#10;\begin{document}&#10;&#10;$$&#10;       X = \begin{bmatrix}&#10;       x_{11} &amp; x_{12} &amp; x_{1d} \\&#10;       x_{21} &amp; x_{22} &amp; x_{2d} \\&#10;       \vdots &amp; \vdots &amp; \vdots \\&#10;       x_{n1} &amp; x_{n2} &amp; x_{nd}&#10;       \end{bmatrix}.&#10;$$&#10;&#10;\end{document}"/>
  <p:tag name="IGUANATEXSIZE" val="14"/>
  <p:tag name="IGUANATEXCURSOR" val="245"/>
  <p:tag name="TRANSPARENCY" val="True"/>
  <p:tag name="LATEXENGINEID" val="0"/>
  <p:tag name="TEMPFOLDER" val="/Users/baizhiwei/Library/Containers/com.microsoft.Powerpoint/Data/tmp/TemporaryItems/"/>
  <p:tag name="LATEXFORMHEIGHT" val="426.65"/>
  <p:tag name="LATEXFORMWIDTH" val="513.35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457"/>
  <p:tag name="ORIGINALWIDTH" val="8.209204"/>
  <p:tag name="LATEXADDIN" val="\documentclass{article}&#10;\usepackage{amsmath}&#10;\pagestyle{empty}&#10;\begin{document}&#10;&#10;$$&#10;       X = \begin{bmatrix}&#10;       x_{11} &amp; x_{12} &amp; x_{1d} \\&#10;       x_{21} &amp; x_{22} &amp; x_{2d} \\&#10;       \vdots &amp; \vdots &amp; \vdots \\&#10;       x_{n1} &amp; x_{n2} &amp; x_{nd}&#10;       \end{bmatrix}.&#10;$$&#10;&#10;\end{document}"/>
  <p:tag name="IGUANATEXSIZE" val="14"/>
  <p:tag name="IGUANATEXCURSOR" val="245"/>
  <p:tag name="TRANSPARENCY" val="True"/>
  <p:tag name="LATEXENGINEID" val="0"/>
  <p:tag name="TEMPFOLDER" val="/Users/baizhiwei/Library/Containers/com.microsoft.Powerpoint/Data/tmp/TemporaryItems/"/>
  <p:tag name="LATEXFORMHEIGHT" val="426.65"/>
  <p:tag name="LATEXFORMWIDTH" val="513.35"/>
  <p:tag name="LATEXFORMWRAP" val="True"/>
  <p:tag name="BITMAPVECTOR" val="1"/>
  <p:tag name="EMFCHILD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7"/>
  <p:tag name="ORIGINALWIDTH" val="6.625149"/>
  <p:tag name="EMFCHILD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92277"/>
  <p:tag name="ORIGINALWIDTH" val="3.317547"/>
  <p:tag name="EMFCHIL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95"/>
  <p:tag name="ORIGINALWIDTH" val="0.6873921"/>
  <p:tag name="EMFCHIL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95"/>
  <p:tag name="ORIGINALWIDTH" val="0.6873921"/>
  <p:tag name="EMFCHIL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95"/>
  <p:tag name="ORIGINALWIDTH" val="0.6873921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92277"/>
  <p:tag name="ORIGINALWIDTH" val="3.317547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6"/>
  <p:tag name="ORIGINALWIDTH" val="4.961371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8453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8453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6"/>
  <p:tag name="ORIGINALWIDTH" val="4.961371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8453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3.082412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6"/>
  <p:tag name="ORIGINALWIDTH" val="4.961371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8453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09577"/>
  <p:tag name="ORIGINALWIDTH" val="3.584554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6"/>
  <p:tag name="ORIGINALWIDTH" val="4.961371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3.082412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8453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6"/>
  <p:tag name="ORIGINALWIDTH" val="4.961371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3.082412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3.082412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6"/>
  <p:tag name="ORIGINALWIDTH" val="4.961371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3.082412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09577"/>
  <p:tag name="ORIGINALWIDTH" val="3.584554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6"/>
  <p:tag name="ORIGINALWIDTH" val="4.961371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84"/>
  <p:tag name="ORIGINALWIDTH" val="4.260999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8453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6"/>
  <p:tag name="ORIGINALWIDTH" val="4.961371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84"/>
  <p:tag name="ORIGINALWIDTH" val="4.260999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3.082412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6"/>
  <p:tag name="ORIGINALWIDTH" val="4.961371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84"/>
  <p:tag name="ORIGINALWIDTH" val="4.260999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09577"/>
  <p:tag name="ORIGINALWIDTH" val="3.584554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92277"/>
  <p:tag name="ORIGINALWIDTH" val="3.317547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95"/>
  <p:tag name="ORIGINALWIDTH" val="0.6873921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95"/>
  <p:tag name="ORIGINALWIDTH" val="0.6873921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95"/>
  <p:tag name="ORIGINALWIDTH" val="0.6873921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92277"/>
  <p:tag name="ORIGINALWIDTH" val="3.317547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5.73392"/>
  <p:tag name="ORIGINALWIDTH" val="21.72525"/>
  <p:tag name="OUTPUTTYPE" val="SVG"/>
  <p:tag name="IGUANATEXVERSION" val="160"/>
  <p:tag name="LATEXADDIN" val="\documentclass{article}&#10;\usepackage{amsmath}&#10;\pagestyle{empty}&#10;\begin{document}&#10;&#10;$$&#10;\left[\begin{array}{l}&#10;1 \\&#10;0 \\&#10;0 \\&#10;\vdots \\&#10;0&#10;\end{array}\right]&#10;$$&#10;&#10;\end{document}"/>
  <p:tag name="IGUANATEXSIZE" val="14"/>
  <p:tag name="IGUANATEXCURSOR" val="133"/>
  <p:tag name="TRANSPARENCY" val="True"/>
  <p:tag name="LATEXENGINEID" val="0"/>
  <p:tag name="TEMPFOLDER" val="/Users/baizhiwei/Library/Containers/com.microsoft.Powerpoint/Data/tmp/TemporaryItems/"/>
  <p:tag name="LATEXFORMHEIGHT" val="426.65"/>
  <p:tag name="LATEXFORMWIDTH" val="513.35"/>
  <p:tag name="LATEXFORMWRAP" val="True"/>
  <p:tag name="BITMAPVECTOR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92278"/>
  <p:tag name="ORIGINALWIDTH" val="3.317548"/>
  <p:tag name="LATEXADDIN" val="\documentclass{article}&#10;\usepackage{amsmath}&#10;\pagestyle{empty}&#10;\begin{document}&#10;&#10;$$&#10;\left[\begin{array}{l}&#10;1 \\&#10;0 \\&#10;0 \\&#10;\vdots \\&#10;0&#10;\end{array}\right]&#10;$$&#10;&#10;\end{document}"/>
  <p:tag name="IGUANATEXSIZE" val="14"/>
  <p:tag name="IGUANATEXCURSOR" val="133"/>
  <p:tag name="TRANSPARENCY" val="True"/>
  <p:tag name="LATEXENGINEID" val="0"/>
  <p:tag name="TEMPFOLDER" val="/Users/baizhiwei/Library/Containers/com.microsoft.Powerpoint/Data/tmp/TemporaryItems/"/>
  <p:tag name="LATEXFORMHEIGHT" val="426.65"/>
  <p:tag name="LATEXFORMWIDTH" val="513.35"/>
  <p:tag name="LATEXFORMWRAP" val="True"/>
  <p:tag name="BITMAPVECTOR" val="1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92278"/>
  <p:tag name="ORIGINALWIDTH" val="3.317548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3.287627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94263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94263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6018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6018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6018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94263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92278"/>
  <p:tag name="ORIGINALWIDTH" val="3.317548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92278"/>
  <p:tag name="ORIGINALWIDTH" val="3.317548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8.21884"/>
  <p:tag name="ORIGINALWIDTH" val="113.065"/>
  <p:tag name="OUTPUTTYPE" val="SVG"/>
  <p:tag name="IGUANATEXVERSION" val="160"/>
  <p:tag name="LATEXADDIN" val="\documentclass{article}&#10;\usepackage{amsmath}&#10;\pagestyle{empty}&#10;\begin{document}&#10;&#10;$$&#10;\begin{gathered}&#10;m_t=\beta_1  m_{t-1}+\left(1-\beta_1\right) g_t \\&#10;v_t=\beta_2  v_{t-1}+\left(1-\beta_2\right) g_t^2 \\&#10;\hat{m}_t=m_t /\left(1-\beta_1^t\right) \\&#10;\hat{v}_t=v_t /\left(1-\beta_2^t\right) \\&#10;\theta=\theta-\eta \frac{\hat{m}_t} {\sqrt{\left(\hat{v}_t+\varepsilon\right)}}&#10;\end{gathered}&#10;$$&#10;&#10;\end{document}"/>
  <p:tag name="IGUANATEXSIZE" val="14"/>
  <p:tag name="IGUANATEXCURSOR" val="369"/>
  <p:tag name="TRANSPARENCY" val="True"/>
  <p:tag name="LATEXENGINEID" val="0"/>
  <p:tag name="TEMPFOLDER" val="/Users/baizhiwei/Library/Containers/com.microsoft.Powerpoint/Data/tmp/TemporaryItems/"/>
  <p:tag name="LATEXFORMHEIGHT" val="426.65"/>
  <p:tag name="LATEXFORMWIDTH" val="513.35"/>
  <p:tag name="LATEXFORMWRAP" val="True"/>
  <p:tag name="BITMAPVECTOR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8.088447"/>
  <p:tag name="LATEXADDIN" val="\documentclass{article}&#10;\usepackage{amsmath}&#10;\pagestyle{empty}&#10;\begin{document}&#10;&#10;$$&#10;\begin{gathered}&#10;m_t=\beta_1  m_{t-1}+\left(1-\beta_1\right) g_t \\&#10;v_t=\beta_2  v_{t-1}+\left(1-\beta_2\right) g_t^2 \\&#10;\hat{m}_t=m_t /\left(1-\beta_1^t\right) \\&#10;\hat{v}_t=v_t /\left(1-\beta_2^t\right) \\&#10;\theta=\theta-\eta \frac{\hat{m}_t} {\sqrt{\left(\hat{v}_t+\varepsilon\right)}}&#10;\end{gathered}&#10;$$&#10;&#10;\end{document}"/>
  <p:tag name="IGUANATEXSIZE" val="14"/>
  <p:tag name="IGUANATEXCURSOR" val="369"/>
  <p:tag name="TRANSPARENCY" val="True"/>
  <p:tag name="LATEXENGINEID" val="0"/>
  <p:tag name="TEMPFOLDER" val="/Users/baizhiwei/Library/Containers/com.microsoft.Powerpoint/Data/tmp/TemporaryItems/"/>
  <p:tag name="LATEXFORMHEIGHT" val="426.65"/>
  <p:tag name="LATEXFORMWIDTH" val="513.35"/>
  <p:tag name="LATEXFORMWRAP" val="True"/>
  <p:tag name="BITMAPVECTOR" val="1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32"/>
  <p:tag name="ORIGINALWIDTH" val="6.567542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66373"/>
  <p:tag name="ORIGINALWIDTH" val="5.383653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7"/>
  <p:tag name="ORIGINALWIDTH" val="2.51638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8.088447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416942"/>
  <p:tag name="ORIGINALWIDTH" val="4.673326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7"/>
  <p:tag name="ORIGINALWIDTH" val="2.51638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11"/>
  <p:tag name="ORIGINALWIDTH" val="6.567542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4"/>
  <p:tag name="ORIGINALWIDTH" val="2.291232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11"/>
  <p:tag name="ORIGINALWIDTH" val="3.259077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915"/>
  <p:tag name="ORIGINALWIDTH" val="6.034231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66373"/>
  <p:tag name="ORIGINALWIDTH" val="5.383653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7"/>
  <p:tag name="ORIGINALWIDTH" val="2.51638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4"/>
  <p:tag name="ORIGINALWIDTH" val="2.291232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17"/>
  <p:tag name="ORIGINALWIDTH" val="4.533075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4.335557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32"/>
  <p:tag name="ORIGINALWIDTH" val="6.567542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66373"/>
  <p:tag name="ORIGINALWIDTH" val="5.383653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7"/>
  <p:tag name="ORIGINALWIDTH" val="3.055624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4.335557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416942"/>
  <p:tag name="ORIGINALWIDTH" val="4.673326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7"/>
  <p:tag name="ORIGINALWIDTH" val="2.51638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11"/>
  <p:tag name="ORIGINALWIDTH" val="6.567542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4"/>
  <p:tag name="ORIGINALWIDTH" val="2.291232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11"/>
  <p:tag name="ORIGINALWIDTH" val="3.259077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915"/>
  <p:tag name="ORIGINALWIDTH" val="6.034231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66373"/>
  <p:tag name="ORIGINALWIDTH" val="5.383653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7"/>
  <p:tag name="ORIGINALWIDTH" val="3.055624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4"/>
  <p:tag name="ORIGINALWIDTH" val="2.291232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17"/>
  <p:tag name="ORIGINALWIDTH" val="4.533075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7"/>
  <p:tag name="ORIGINALWIDTH" val="3.055624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534218"/>
  <p:tag name="ORIGINALWIDTH" val="2.636882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8.088447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32"/>
  <p:tag name="ORIGINALWIDTH" val="6.567542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8.088447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4"/>
  <p:tag name="ORIGINALWIDTH" val="3.841743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452"/>
  <p:tag name="ORIGINALWIDTH" val="2.577635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11"/>
  <p:tag name="ORIGINALWIDTH" val="3.259077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915"/>
  <p:tag name="ORIGINALWIDTH" val="6.034231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66373"/>
  <p:tag name="ORIGINALWIDTH" val="5.383653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7"/>
  <p:tag name="ORIGINALWIDTH" val="2.51638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452"/>
  <p:tag name="ORIGINALWIDTH" val="2.577635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534218"/>
  <p:tag name="ORIGINALWIDTH" val="2.636882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4.335557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32"/>
  <p:tag name="ORIGINALWIDTH" val="6.567542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4.335557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4"/>
  <p:tag name="ORIGINALWIDTH" val="3.841743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452"/>
  <p:tag name="ORIGINALWIDTH" val="2.577635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11"/>
  <p:tag name="ORIGINALWIDTH" val="3.259077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915"/>
  <p:tag name="ORIGINALWIDTH" val="6.034231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66373"/>
  <p:tag name="ORIGINALWIDTH" val="5.383653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7"/>
  <p:tag name="ORIGINALWIDTH" val="3.055624"/>
  <p:tag name="EMFCHILD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452"/>
  <p:tag name="ORIGINALWIDTH" val="2.577635"/>
  <p:tag name="EMFCHILD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33224"/>
  <p:tag name="ORIGINALWIDTH" val="4.07876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32"/>
  <p:tag name="ORIGINALWIDTH" val="6.567542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33224"/>
  <p:tag name="ORIGINALWIDTH" val="4.07876"/>
  <p:tag name="EMFCHILD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915"/>
  <p:tag name="ORIGINALWIDTH" val="6.034231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5393"/>
  <p:tag name="ORIGINALWIDTH" val="4.61207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534218"/>
  <p:tag name="ORIGINALWIDTH" val="2.636882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8.088447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601"/>
  <p:tag name="ORIGINALWIDTH" val="42.49764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5515"/>
  <p:tag name="ORIGINALWIDTH" val="8.987156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601"/>
  <p:tag name="ORIGINALWIDTH" val="32.6216"/>
  <p:tag name="EMFCHILD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4"/>
  <p:tag name="ORIGINALWIDTH" val="2.291232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534218"/>
  <p:tag name="ORIGINALWIDTH" val="2.636882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4.335557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11"/>
  <p:tag name="ORIGINALWIDTH" val="6.567542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2228"/>
  <p:tag name="ORIGINALWIDTH" val="3.980016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4"/>
  <p:tag name="ORIGINALWIDTH" val="2.291232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7.30303"/>
  <p:tag name="ORIGINALWIDTH" val="162.4296"/>
  <p:tag name="OUTPUTTYPE" val="SVG"/>
  <p:tag name="IGUANATEXVERSION" val="160"/>
  <p:tag name="LATEXADDIN" val="\documentclass{article}&#10;\usepackage{amsmath}&#10;\pagestyle{empty}&#10;\begin{document}&#10;&#10;$$\frac{\partial L}{\partial W^{(1)}} = \underbrace{\frac{\partial L}{\partial z^{(2)}}}_{\text{error}} \cdot \underbrace{\frac{\partial z^{(2)}}{\partial a^{(1)}}}_{W^{(2)}} \cdot \underbrace{\frac{\partial a^{(1)}}{\partial z^{(1)}}}_{\sigma'} \cdot \underbrace{\frac{\partial z^{(1)}}{\partial W^{(1)}}}_{x^T}$$&#10;&#10;\end{document}"/>
  <p:tag name="IGUANATEXSIZE" val="13"/>
  <p:tag name="IGUANATEXCURSOR" val="182"/>
  <p:tag name="TRANSPARENCY" val="True"/>
  <p:tag name="LATEXENGINEID" val="0"/>
  <p:tag name="TEMPFOLDER" val="/Users/baizhiwei/Library/Containers/com.microsoft.Powerpoint/Data/tmp/TemporaryItems/"/>
  <p:tag name="LATEXFORMHEIGHT" val="426.65"/>
  <p:tag name="LATEXFORMWIDTH" val="513.35"/>
  <p:tag name="LATEXFORMWRAP" val="True"/>
  <p:tag name="BITMAPVECTOR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.9261"/>
  <p:tag name="ORIGINALWIDTH" val="78.05399"/>
  <p:tag name="OUTPUTTYPE" val="SVG"/>
  <p:tag name="IGUANATEXVERSION" val="160"/>
  <p:tag name="LATEXADDIN" val="\documentclass{article}&#10;\usepackage{amsmath}&#10;\pagestyle{empty}&#10;\begin{document}&#10;&#10;$$W \leftarrow W - \eta \cdot \frac{\partial L}{\partial W}$$&#10;&#10;&#10;&#10;\end{document}"/>
  <p:tag name="IGUANATEXSIZE" val="14"/>
  <p:tag name="IGUANATEXCURSOR" val="142"/>
  <p:tag name="TRANSPARENCY" val="True"/>
  <p:tag name="LATEXENGINEID" val="0"/>
  <p:tag name="TEMPFOLDER" val="/Users/baizhiwei/Library/Containers/com.microsoft.Powerpoint/Data/tmp/TemporaryItems/"/>
  <p:tag name="LATEXFORMHEIGHT" val="426.65"/>
  <p:tag name="LATEXFORMWIDTH" val="513.35"/>
  <p:tag name="LATEXFORMWRAP" val="True"/>
  <p:tag name="BITMAPVECTOR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22"/>
  <p:tag name="ORIGINALWIDTH" val="9.769236"/>
  <p:tag name="LATEXADDIN" val="\documentclass{article}&#10;\usepackage{amsmath}&#10;\pagestyle{empty}&#10;\begin{document}&#10;&#10;$$W \leftarrow W - \eta \cdot \frac{\partial L}{\partial W}$$&#10;&#10;&#10;&#10;\end{document}"/>
  <p:tag name="IGUANATEXSIZE" val="14"/>
  <p:tag name="IGUANATEXCURSOR" val="142"/>
  <p:tag name="TRANSPARENCY" val="True"/>
  <p:tag name="LATEXENGINEID" val="0"/>
  <p:tag name="TEMPFOLDER" val="/Users/baizhiwei/Library/Containers/com.microsoft.Powerpoint/Data/tmp/TemporaryItems/"/>
  <p:tag name="LATEXFORMHEIGHT" val="426.65"/>
  <p:tag name="LATEXFORMWIDTH" val="513.35"/>
  <p:tag name="LATEXFORMWRAP" val="True"/>
  <p:tag name="BITMAPVECTOR" val="1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0045"/>
  <p:tag name="ORIGINALWIDTH" val="8.736221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22"/>
  <p:tag name="ORIGINALWIDTH" val="9.769236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5"/>
  <p:tag name="ORIGINALWIDTH" val="6.01108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5399"/>
  <p:tag name="ORIGINALWIDTH" val="4.594376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42801"/>
  <p:tag name="EMFCHILD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52418"/>
  <p:tag name="ORIGINALWIDTH" val="5.174803"/>
  <p:tag name="EMFCHILD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443"/>
  <p:tag name="ORIGINALWIDTH" val="5.942183"/>
  <p:tag name="EMFCHILD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5"/>
  <p:tag name="ORIGINALWIDTH" val="16.42756"/>
  <p:tag name="EMFCHILD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52418"/>
  <p:tag name="ORIGINALWIDTH" val="5.174803"/>
  <p:tag name="EMFCHILD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22"/>
  <p:tag name="ORIGINALWIDTH" val="9.769236"/>
  <p:tag name="EMFCHILD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52393"/>
  <p:tag name="ORIGINALWIDTH" val="5.240339"/>
  <p:tag name="LATEXADDIN" val="\documentclass{article}&#10;\usepackage{amsmath}&#10;\pagestyle{empty}&#10;\begin{document}&#10;&#10;$$\frac{\partial L}{\partial W^{(1)}} = \underbrace{\frac{\partial L}{\partial z^{(2)}}}_{\text{error}} \cdot \underbrace{\frac{\partial z^{(2)}}{\partial a^{(1)}}}_{W^{(2)}} \cdot \underbrace{\frac{\partial a^{(1)}}{\partial z^{(1)}}}_{\sigma'} \cdot \underbrace{\frac{\partial z^{(1)}}{\partial W^{(1)}}}_{x^T}$$&#10;&#10;\end{document}"/>
  <p:tag name="IGUANATEXSIZE" val="13"/>
  <p:tag name="IGUANATEXCURSOR" val="182"/>
  <p:tag name="TRANSPARENCY" val="True"/>
  <p:tag name="LATEXENGINEID" val="0"/>
  <p:tag name="TEMPFOLDER" val="/Users/baizhiwei/Library/Containers/com.microsoft.Powerpoint/Data/tmp/TemporaryItems/"/>
  <p:tag name="LATEXFORMHEIGHT" val="426.65"/>
  <p:tag name="LATEXFORMWIDTH" val="513.35"/>
  <p:tag name="LATEXFORMWRAP" val="True"/>
  <p:tag name="BITMAPVECTOR" val="1"/>
  <p:tag name="EMFCHILD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482"/>
  <p:tag name="ORIGINALWIDTH" val="6.017384"/>
  <p:tag name="EMFCHILD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252"/>
  <p:tag name="ORIGINALWIDTH" val="27.33156"/>
  <p:tag name="EMFCHILD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52393"/>
  <p:tag name="ORIGINALWIDTH" val="5.240339"/>
  <p:tag name="EMFCHILD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23"/>
  <p:tag name="ORIGINALWIDTH" val="9.892853"/>
  <p:tag name="EMFCHILD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6869"/>
  <p:tag name="ORIGINALWIDTH" val="1.813144"/>
  <p:tag name="EMFCHILD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588"/>
  <p:tag name="ORIGINALWIDTH" val="2.538462"/>
  <p:tag name="EMFCHILD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6869"/>
  <p:tag name="ORIGINALWIDTH" val="1.806178"/>
  <p:tag name="EMFCHILD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54"/>
  <p:tag name="ORIGINALWIDTH" val="6.625137"/>
  <p:tag name="EMFCHILD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52393"/>
  <p:tag name="ORIGINALWIDTH" val="5.240339"/>
  <p:tag name="EMFCHILD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482"/>
  <p:tag name="ORIGINALWIDTH" val="6.017384"/>
  <p:tag name="EMFCHILD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252"/>
  <p:tag name="ORIGINALWIDTH" val="21.60999"/>
  <p:tag name="EMFCHILD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52393"/>
  <p:tag name="ORIGINALWIDTH" val="5.240339"/>
  <p:tag name="EMFCHILD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22"/>
  <p:tag name="ORIGINALWIDTH" val="4.224107"/>
  <p:tag name="EMFCHILD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6869"/>
  <p:tag name="ORIGINALWIDTH" val="1.813144"/>
  <p:tag name="EMFCHILD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588"/>
  <p:tag name="ORIGINALWIDTH" val="3.082435"/>
  <p:tag name="EMFCHILD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6869"/>
  <p:tag name="ORIGINALWIDTH" val="1.806178"/>
  <p:tag name="EMFCHILD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499"/>
  <p:tag name="ORIGINALWIDTH" val="4.821866"/>
  <p:tag name="EMFCHILD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95457"/>
  <p:tag name="ORIGINALWIDTH" val="3.03404"/>
  <p:tag name="EMFCHILD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499"/>
  <p:tag name="ORIGINALWIDTH" val="4.821866"/>
  <p:tag name="EMFCHILD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499"/>
  <p:tag name="ORIGINALWIDTH" val="4.821866"/>
  <p:tag name="EMFCHILD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95457"/>
  <p:tag name="ORIGINALWIDTH" val="3.03404"/>
  <p:tag name="EMFCHILD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499"/>
  <p:tag name="ORIGINALWIDTH" val="4.821866"/>
  <p:tag name="EMFCHILD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80073"/>
  <p:tag name="ORIGINALWIDTH" val="2.991763"/>
  <p:tag name="EMFCHILD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75409"/>
  <p:tag name="ORIGINALWIDTH" val="2.496608"/>
  <p:tag name="EMFCHILD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75409"/>
  <p:tag name="ORIGINALWIDTH" val="2.496608"/>
  <p:tag name="EMFCHILD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80073"/>
  <p:tag name="ORIGINALWIDTH" val="3.417141"/>
  <p:tag name="EMFCHILD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75409"/>
  <p:tag name="ORIGINALWIDTH" val="2.496608"/>
  <p:tag name="EMFCHILD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27"/>
  <p:tag name="ORIGINALWIDTH" val="1.056027"/>
  <p:tag name="EMFCHILD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52393"/>
  <p:tag name="ORIGINALWIDTH" val="5.240339"/>
  <p:tag name="EMFCHILD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22"/>
  <p:tag name="ORIGINALWIDTH" val="4.224107"/>
  <p:tag name="EMFCHILD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6869"/>
  <p:tag name="ORIGINALWIDTH" val="1.813144"/>
  <p:tag name="EMFCHILD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588"/>
  <p:tag name="ORIGINALWIDTH" val="3.082435"/>
  <p:tag name="EMFCHILD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6869"/>
  <p:tag name="ORIGINALWIDTH" val="1.806178"/>
  <p:tag name="EMFCHILD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252"/>
  <p:tag name="ORIGINALWIDTH" val="21.80485"/>
  <p:tag name="EMFCHILD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52393"/>
  <p:tag name="ORIGINALWIDTH" val="5.240339"/>
  <p:tag name="EMFCHILD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22"/>
  <p:tag name="ORIGINALWIDTH" val="4.562871"/>
  <p:tag name="EMFCHILD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6869"/>
  <p:tag name="ORIGINALWIDTH" val="1.813144"/>
  <p:tag name="EMFCHILD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588"/>
  <p:tag name="ORIGINALWIDTH" val="2.538462"/>
  <p:tag name="EMFCHILD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6869"/>
  <p:tag name="ORIGINALWIDTH" val="1.806178"/>
  <p:tag name="EMFCHILD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499"/>
  <p:tag name="ORIGINALWIDTH" val="4.821866"/>
  <p:tag name="EMFCHILD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95457"/>
  <p:tag name="ORIGINALWIDTH" val="3.131436"/>
  <p:tag name="EMFCHILD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499"/>
  <p:tag name="ORIGINALWIDTH" val="4.821866"/>
  <p:tag name="EMFCHILD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499"/>
  <p:tag name="ORIGINALWIDTH" val="4.821866"/>
  <p:tag name="EMFCHILD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95457"/>
  <p:tag name="ORIGINALWIDTH" val="3.131436"/>
  <p:tag name="EMFCHILD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499"/>
  <p:tag name="ORIGINALWIDTH" val="4.821866"/>
  <p:tag name="EMFCHILD" val="Tru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02605"/>
  <p:tag name="ORIGINALWIDTH" val="7.622411"/>
  <p:tag name="EMFCHILD" val="Tru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81284"/>
  <p:tag name="ORIGINALWIDTH" val="1.464506"/>
  <p:tag name="EMFCHILD" val="Tru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17505"/>
  <p:tag name="ORIGINALWIDTH" val="2.480679"/>
  <p:tag name="EMFCHILD" val="Tru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81284"/>
  <p:tag name="ORIGINALWIDTH" val="1.459479"/>
  <p:tag name="EMFCHILD" val="Tru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27"/>
  <p:tag name="ORIGINALWIDTH" val="1.056027"/>
  <p:tag name="EMFCHILD" val="Tru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52393"/>
  <p:tag name="ORIGINALWIDTH" val="5.240339"/>
  <p:tag name="EMFCHILD" val="Tru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22"/>
  <p:tag name="ORIGINALWIDTH" val="4.562871"/>
  <p:tag name="EMFCHILD" val="Tru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6869"/>
  <p:tag name="ORIGINALWIDTH" val="1.813144"/>
  <p:tag name="EMFCHILD" val="Tru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588"/>
  <p:tag name="ORIGINALWIDTH" val="2.538462"/>
  <p:tag name="EMFCHILD" val="Tru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6869"/>
  <p:tag name="ORIGINALWIDTH" val="1.806178"/>
  <p:tag name="EMFCHILD" val="Tru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252"/>
  <p:tag name="ORIGINALWIDTH" val="21.80485"/>
  <p:tag name="EMFCHILD" val="Tru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52393"/>
  <p:tag name="ORIGINALWIDTH" val="5.240339"/>
  <p:tag name="EMFCHILD" val="Tru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22"/>
  <p:tag name="ORIGINALWIDTH" val="4.224107"/>
  <p:tag name="EMFCHILD" val="Tru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6869"/>
  <p:tag name="ORIGINALWIDTH" val="1.813144"/>
  <p:tag name="EMFCHILD" val="Tru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588"/>
  <p:tag name="ORIGINALWIDTH" val="2.538462"/>
  <p:tag name="EMFCHILD" val="Tru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6869"/>
  <p:tag name="ORIGINALWIDTH" val="1.806178"/>
  <p:tag name="EMFCHILD" val="Tru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499"/>
  <p:tag name="ORIGINALWIDTH" val="4.821866"/>
  <p:tag name="EMFCHILD" val="Tru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95457"/>
  <p:tag name="ORIGINALWIDTH" val="3.131436"/>
  <p:tag name="EMFCHILD" val="Tru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499"/>
  <p:tag name="ORIGINALWIDTH" val="4.821866"/>
  <p:tag name="EMFCHILD" val="Tru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499"/>
  <p:tag name="ORIGINALWIDTH" val="4.821866"/>
  <p:tag name="EMFCHILD" val="Tru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95457"/>
  <p:tag name="ORIGINALWIDTH" val="3.131436"/>
  <p:tag name="EMFCHILD" val="Tru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499"/>
  <p:tag name="ORIGINALWIDTH" val="4.821866"/>
  <p:tag name="EMFCHILD" val="Tru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75409"/>
  <p:tag name="ORIGINALWIDTH" val="4.037856"/>
  <p:tag name="EMFCHILD" val="Tru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595215"/>
  <p:tag name="ORIGINALWIDTH" val="1.37977"/>
  <p:tag name="EMFCHILD" val="Tru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27"/>
  <p:tag name="ORIGINALWIDTH" val="1.056027"/>
  <p:tag name="EMFCHILD" val="Tru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52393"/>
  <p:tag name="ORIGINALWIDTH" val="5.240339"/>
  <p:tag name="EMFCHILD" val="Tru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22"/>
  <p:tag name="ORIGINALWIDTH" val="4.224107"/>
  <p:tag name="EMFCHILD" val="Tru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6869"/>
  <p:tag name="ORIGINALWIDTH" val="1.813144"/>
  <p:tag name="EMFCHILD" val="Tru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588"/>
  <p:tag name="ORIGINALWIDTH" val="2.538462"/>
  <p:tag name="EMFCHILD" val="Tru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6869"/>
  <p:tag name="ORIGINALWIDTH" val="1.806178"/>
  <p:tag name="EMFCHILD" val="Tru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252"/>
  <p:tag name="ORIGINALWIDTH" val="27.33156"/>
  <p:tag name="EMFCHILD" val="Tru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52393"/>
  <p:tag name="ORIGINALWIDTH" val="5.240339"/>
  <p:tag name="EMFCHILD" val="Tru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23"/>
  <p:tag name="ORIGINALWIDTH" val="9.892853"/>
  <p:tag name="EMFCHILD" val="Tru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6869"/>
  <p:tag name="ORIGINALWIDTH" val="1.813144"/>
  <p:tag name="EMFCHILD" val="Tru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588"/>
  <p:tag name="ORIGINALWIDTH" val="2.538462"/>
  <p:tag name="EMFCHILD" val="Tru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6869"/>
  <p:tag name="ORIGINALWIDTH" val="1.806178"/>
  <p:tag name="EMFCHILD" val="Tru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499"/>
  <p:tag name="ORIGINALWIDTH" val="4.821866"/>
  <p:tag name="EMFCHILD" val="Tru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95457"/>
  <p:tag name="ORIGINALWIDTH" val="5.894792"/>
  <p:tag name="EMFCHILD" val="Tru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499"/>
  <p:tag name="ORIGINALWIDTH" val="4.821866"/>
  <p:tag name="EMFCHILD" val="Tru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499"/>
  <p:tag name="ORIGINALWIDTH" val="4.821866"/>
  <p:tag name="EMFCHILD" val="Tru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95457"/>
  <p:tag name="ORIGINALWIDTH" val="5.894792"/>
  <p:tag name="EMFCHILD" val="Tru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499"/>
  <p:tag name="ORIGINALWIDTH" val="4.821866"/>
  <p:tag name="EMFCHILD" val="Tru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85"/>
  <p:tag name="ORIGINALWIDTH" val="3.730951"/>
  <p:tag name="EMFCHILD" val="Tru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62386"/>
  <p:tag name="ORIGINALWIDTH" val="4.18928"/>
  <p:tag name="EMFCHILD" val="True"/>
</p:tagLst>
</file>

<file path=ppt/theme/theme1.xml><?xml version="1.0" encoding="utf-8"?>
<a:theme xmlns:a="http://schemas.openxmlformats.org/drawingml/2006/main" name="1_自定义设计方案">
  <a:themeElements>
    <a:clrScheme name="潘冬远waxy">
      <a:dk1>
        <a:srgbClr val="B61616"/>
      </a:dk1>
      <a:lt1>
        <a:srgbClr val="FFFFFF"/>
      </a:lt1>
      <a:dk2>
        <a:srgbClr val="242C2D"/>
      </a:dk2>
      <a:lt2>
        <a:srgbClr val="133984"/>
      </a:lt2>
      <a:accent1>
        <a:srgbClr val="D73C1E"/>
      </a:accent1>
      <a:accent2>
        <a:srgbClr val="3769AF"/>
      </a:accent2>
      <a:accent3>
        <a:srgbClr val="EBAA05"/>
      </a:accent3>
      <a:accent4>
        <a:srgbClr val="A0B932"/>
      </a:accent4>
      <a:accent5>
        <a:srgbClr val="82B9BE"/>
      </a:accent5>
      <a:accent6>
        <a:srgbClr val="B4915F"/>
      </a:accent6>
      <a:hlink>
        <a:srgbClr val="196E7D"/>
      </a:hlink>
      <a:folHlink>
        <a:srgbClr val="BEBEBE"/>
      </a:folHlink>
    </a:clrScheme>
    <a:fontScheme name="SJTU标准I">
      <a:majorFont>
        <a:latin typeface="Book Antiqua"/>
        <a:ea typeface="黑体"/>
        <a:cs typeface=""/>
      </a:majorFont>
      <a:minorFont>
        <a:latin typeface="Book Antiqua"/>
        <a:ea typeface="黑体"/>
        <a:cs typeface=""/>
      </a:minorFont>
    </a:fontScheme>
    <a:fmtScheme name="光面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7355</TotalTime>
  <Words>8813</Words>
  <Application>Microsoft Office PowerPoint</Application>
  <PresentationFormat>宽屏</PresentationFormat>
  <Paragraphs>678</Paragraphs>
  <Slides>63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2" baseType="lpstr">
      <vt:lpstr>等线</vt:lpstr>
      <vt:lpstr>微软雅黑</vt:lpstr>
      <vt:lpstr>微软雅黑</vt:lpstr>
      <vt:lpstr>Arial</vt:lpstr>
      <vt:lpstr>Book Antiqua</vt:lpstr>
      <vt:lpstr>Cambria Math</vt:lpstr>
      <vt:lpstr>Noto Sans</vt:lpstr>
      <vt:lpstr>Wingdings</vt:lpstr>
      <vt:lpstr>1_自定义设计方案</vt:lpstr>
      <vt:lpstr>PowerPoint 演示文稿</vt:lpstr>
      <vt:lpstr>目录</vt:lpstr>
      <vt:lpstr>目录</vt:lpstr>
      <vt:lpstr>向量（vector）：数据的数学表示</vt:lpstr>
      <vt:lpstr>范数（norm）：衡量向量的大小</vt:lpstr>
      <vt:lpstr>角度（angle）（特征的相似度）</vt:lpstr>
      <vt:lpstr>矩阵（matrix）（神经网络表达式，数据的表示）</vt:lpstr>
      <vt:lpstr>矩阵的特征值（eigenvalue）</vt:lpstr>
      <vt:lpstr>向量和矩阵在神经网络中的应用</vt:lpstr>
      <vt:lpstr>目录</vt:lpstr>
      <vt:lpstr>概率分布</vt:lpstr>
      <vt:lpstr>【算例】离散分布：抛硬币实验</vt:lpstr>
      <vt:lpstr>【算例解答】离散分布 - 计算均值</vt:lpstr>
      <vt:lpstr>【算例解答】离散分布 - 计算方差</vt:lpstr>
      <vt:lpstr>【算例】连续分布：均匀分布</vt:lpstr>
      <vt:lpstr>【算例解答】连续分布 - 均匀分布</vt:lpstr>
      <vt:lpstr>概率分布的建模</vt:lpstr>
      <vt:lpstr>概率分布的建模</vt:lpstr>
      <vt:lpstr>衡量两个概率分布的差异（建模输出分布和目标分布的误差）</vt:lpstr>
      <vt:lpstr>【算例】KL散度计算</vt:lpstr>
      <vt:lpstr>【算例解答】KL散度 - 逐项计算</vt:lpstr>
      <vt:lpstr>【算例解答】KL散度 - 求和结果</vt:lpstr>
      <vt:lpstr>【算例】三个分布对比 - 差距逐渐增大</vt:lpstr>
      <vt:lpstr>衡量两个概率分布的差异</vt:lpstr>
      <vt:lpstr>目录</vt:lpstr>
      <vt:lpstr>损失函数（衡量误差）</vt:lpstr>
      <vt:lpstr>梯度下降法（Gradient Descent, GD）</vt:lpstr>
      <vt:lpstr>梯度下降法（Gradient Descent, GD）</vt:lpstr>
      <vt:lpstr>【算例】梯度下降法求最小值</vt:lpstr>
      <vt:lpstr>【算例解答】梯度下降 - 第1次迭代</vt:lpstr>
      <vt:lpstr>【算例解答】梯度下降 - 继续迭代</vt:lpstr>
      <vt:lpstr>【算例总结】梯度下降的规律</vt:lpstr>
      <vt:lpstr>梯度下降优化算法（Gradient Descent，GD）</vt:lpstr>
      <vt:lpstr>【算例】随机梯度下降 vs 梯度下降</vt:lpstr>
      <vt:lpstr>【算例解答】梯度下降GD - 使用全部样本</vt:lpstr>
      <vt:lpstr>【算例解答】随机梯度下降SGD - 只用1个样本</vt:lpstr>
      <vt:lpstr>【算例总结】GD vs SGD 对比</vt:lpstr>
      <vt:lpstr>随机梯度下降(Stochastic Gradient Descent, SGD)</vt:lpstr>
      <vt:lpstr>带动量的梯度下降法</vt:lpstr>
      <vt:lpstr>带动量的梯度下降法</vt:lpstr>
      <vt:lpstr>自适应优化方法: Adagrad</vt:lpstr>
      <vt:lpstr>Adam 优化算法</vt:lpstr>
      <vt:lpstr>计算梯度：反向传播（链式法则）</vt:lpstr>
      <vt:lpstr>计算梯度：反向传播（链式法则）</vt:lpstr>
      <vt:lpstr>计算梯度：反向传播（链式法则）</vt:lpstr>
      <vt:lpstr>反向传播（链式法则）</vt:lpstr>
      <vt:lpstr>反向传播（链式法则）</vt:lpstr>
      <vt:lpstr>案例：MNIST手写数字识别</vt:lpstr>
      <vt:lpstr>案例：MNIST手写数字识别</vt:lpstr>
      <vt:lpstr>案例：MNIST识别</vt:lpstr>
      <vt:lpstr>案例：MNIST识别</vt:lpstr>
      <vt:lpstr>案例：MNIST识别 (手写反向传播)</vt:lpstr>
      <vt:lpstr>内容小结</vt:lpstr>
      <vt:lpstr>非作业思考题</vt:lpstr>
      <vt:lpstr>非作业思考题</vt:lpstr>
      <vt:lpstr>PowerPoint 演示文稿</vt:lpstr>
      <vt:lpstr>向量（vector）的基本运算</vt:lpstr>
      <vt:lpstr>距离（distance）（模型输出向量和标签向量的误差）</vt:lpstr>
      <vt:lpstr>线性相关性（linear dependence）（数据的独立性）</vt:lpstr>
      <vt:lpstr>矩阵乘法(matrix multiplication)</vt:lpstr>
      <vt:lpstr>特殊的矩阵</vt:lpstr>
      <vt:lpstr>矩阵的逆 (inverse)</vt:lpstr>
      <vt:lpstr>矩阵的行列式 (determinant)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Frequency perspective to understand depth effect and robustness of deep learning</dc:title>
  <dc:creator>zhiqin xu</dc:creator>
  <cp:lastModifiedBy>zhiqin xu</cp:lastModifiedBy>
  <cp:revision>692</cp:revision>
  <dcterms:created xsi:type="dcterms:W3CDTF">2020-06-05T07:59:00Z</dcterms:created>
  <dcterms:modified xsi:type="dcterms:W3CDTF">2026-08-04T09:15:01Z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0FE3EF06A9C74838A2BB9773EB8F8EE0_12</vt:lpwstr>
  </property>
  <property fmtid="{D5CDD505-2E9C-101B-9397-08002B2CF9AE}" pid="3" name="KSOProductBuildVer">
    <vt:lpwstr>2052-12.1.0.19302</vt:lpwstr>
  </property>
</Properties>
</file>