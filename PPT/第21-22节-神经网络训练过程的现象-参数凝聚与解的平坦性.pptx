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notesSlides/notesSlide7.xml" ContentType="application/vnd.openxmlformats-officedocument.presentationml.notesSlide+xml"/>
  <Override PartName="/ppt/tags/tag4.xml" ContentType="application/vnd.openxmlformats-officedocument.presentationml.tags+xml"/>
  <Override PartName="/ppt/notesSlides/notesSlide8.xml" ContentType="application/vnd.openxmlformats-officedocument.presentationml.notesSlide+xml"/>
  <Override PartName="/ppt/tags/tag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4.xml" ContentType="application/vnd.openxmlformats-officedocument.presentationml.notesSlide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media/image50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10345" r:id="rId2"/>
    <p:sldId id="10471" r:id="rId3"/>
    <p:sldId id="10362" r:id="rId4"/>
    <p:sldId id="10839" r:id="rId5"/>
    <p:sldId id="10404" r:id="rId6"/>
    <p:sldId id="10431" r:id="rId7"/>
    <p:sldId id="10449" r:id="rId8"/>
    <p:sldId id="1243" r:id="rId9"/>
    <p:sldId id="10412" r:id="rId10"/>
    <p:sldId id="10845" r:id="rId11"/>
    <p:sldId id="10844" r:id="rId12"/>
    <p:sldId id="10197" r:id="rId13"/>
    <p:sldId id="10432" r:id="rId14"/>
    <p:sldId id="1247" r:id="rId15"/>
    <p:sldId id="10843" r:id="rId16"/>
    <p:sldId id="10840" r:id="rId17"/>
    <p:sldId id="10469" r:id="rId18"/>
    <p:sldId id="10185" r:id="rId19"/>
    <p:sldId id="2318" r:id="rId20"/>
    <p:sldId id="10433" r:id="rId21"/>
    <p:sldId id="10435" r:id="rId22"/>
    <p:sldId id="10192" r:id="rId23"/>
    <p:sldId id="10193" r:id="rId24"/>
    <p:sldId id="10455" r:id="rId25"/>
    <p:sldId id="10470" r:id="rId26"/>
    <p:sldId id="418" r:id="rId27"/>
    <p:sldId id="10846" r:id="rId28"/>
    <p:sldId id="10395" r:id="rId29"/>
    <p:sldId id="10392" r:id="rId30"/>
    <p:sldId id="10394" r:id="rId31"/>
    <p:sldId id="10443" r:id="rId32"/>
    <p:sldId id="10473" r:id="rId33"/>
    <p:sldId id="10484" r:id="rId34"/>
    <p:sldId id="10474" r:id="rId35"/>
    <p:sldId id="10482" r:id="rId36"/>
    <p:sldId id="10483" r:id="rId37"/>
    <p:sldId id="10472" r:id="rId38"/>
    <p:sldId id="10468" r:id="rId39"/>
    <p:sldId id="10320" r:id="rId40"/>
    <p:sldId id="10321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耀宇" initials="张耀宇" lastIdx="1" clrIdx="0"/>
  <p:cmAuthor id="2" name="zhiqin xu" initials="z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FF"/>
    <a:srgbClr val="070707"/>
    <a:srgbClr val="4845D2"/>
    <a:srgbClr val="FE0303"/>
    <a:srgbClr val="002B7F"/>
    <a:srgbClr val="1D41D5"/>
    <a:srgbClr val="0000FF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20" autoAdjust="0"/>
    <p:restoredTop sz="87753" autoAdjust="0"/>
  </p:normalViewPr>
  <p:slideViewPr>
    <p:cSldViewPr snapToGrid="0">
      <p:cViewPr varScale="1">
        <p:scale>
          <a:sx n="74" d="100"/>
          <a:sy n="74" d="100"/>
        </p:scale>
        <p:origin x="870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16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CCD4-B0A0-4411-AF27-E52F275BA53D}" type="datetimeFigureOut">
              <a:rPr lang="zh-CN" altLang="en-US" smtClean="0"/>
              <a:t>2026/8/10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FB6C25-FFE4-4126-ADF1-3137FE8DB2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5B131-4498-C781-84C1-584C6089C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971648-E3BB-9286-CBF1-7596921A0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F0F76F3-F80A-7BDF-614F-105A41F7D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B1652F-A555-E055-75FE-D526779AEC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73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051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399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793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145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419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AB7B8-D248-6F5E-4788-2514DCE8A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C4DF65-AAE6-CEB1-2FE1-9F732B60D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DC0EBA-5CDA-EEF6-7874-2541BB362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6EF98B-78A2-CBC5-65D9-9B0C700C52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FB6C25-FFE4-4126-ADF1-3137FE8DB2D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846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8D4D8-A5D8-46CF-B9CD-41FBFF809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0784F1A-F0C0-1BF1-B0CC-846E0B988B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AB1785-5752-6D9C-6184-75ADAC182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AB705D-6CA4-D847-30A5-8B3E3BB16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724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5976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572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3615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87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1649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2836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FB6C25-FFE4-4126-ADF1-3137FE8DB2D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728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FB6C25-FFE4-4126-ADF1-3137FE8DB2D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786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欢迎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81242" y="3716337"/>
            <a:ext cx="11429516" cy="1523959"/>
          </a:xfrm>
        </p:spPr>
        <p:txBody>
          <a:bodyPr vert="horz" lIns="0" tIns="0" rIns="0" bIns="0" rtlCol="0" anchor="t" anchorCtr="0">
            <a:normAutofit/>
          </a:bodyPr>
          <a:lstStyle>
            <a:lvl1pPr algn="ctr">
              <a:defRPr lang="zh-CN" altLang="en-US" sz="5400" b="1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zh-CN" altLang="en-US" dirty="0"/>
              <a:t>欢迎页面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81242" y="5336848"/>
            <a:ext cx="11429516" cy="7619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j-ea"/>
                <a:ea typeface="+mj-ea"/>
              </a:defRPr>
            </a:lvl1pPr>
            <a:lvl2pPr marL="60960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备注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81242" y="6237360"/>
            <a:ext cx="11429516" cy="4571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2540" smtClean="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2026/8/10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762226" y="3717192"/>
            <a:ext cx="10667548" cy="1333464"/>
          </a:xfrm>
        </p:spPr>
        <p:txBody>
          <a:bodyPr lIns="0" tIns="0" rIns="0" bIns="0" anchor="t" anchorCtr="0">
            <a:normAutofit/>
          </a:bodyPr>
          <a:lstStyle>
            <a:lvl1pPr algn="ctr"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讲演主标题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429113" y="5387513"/>
            <a:ext cx="5333774" cy="57148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algn="ctr">
              <a:defRPr lang="zh-CN" altLang="en-US" dirty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演讲者</a:t>
            </a:r>
          </a:p>
        </p:txBody>
      </p:sp>
      <p:sp>
        <p:nvSpPr>
          <p:cNvPr id="17" name="日期占位符 16"/>
          <p:cNvSpPr>
            <a:spLocks noGrp="1"/>
          </p:cNvSpPr>
          <p:nvPr>
            <p:ph type="dt" sz="half" idx="11"/>
          </p:nvPr>
        </p:nvSpPr>
        <p:spPr>
          <a:xfrm>
            <a:off x="3429113" y="6229835"/>
            <a:ext cx="5333774" cy="45718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D2032502-F676-4D52-ABE7-5D8167C8AC58}" type="datetimeFigureOut">
              <a:rPr lang="zh-CN" altLang="en-US" smtClean="0"/>
              <a:t>2026/8/10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/>
          <a:srcRect b="37632"/>
          <a:stretch>
            <a:fillRect/>
          </a:stretch>
        </p:blipFill>
        <p:spPr>
          <a:xfrm>
            <a:off x="0" y="-14"/>
            <a:ext cx="12192000" cy="340934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34117" y="5941837"/>
            <a:ext cx="2723765" cy="720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结尾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197884"/>
            <a:ext cx="12192000" cy="3723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80002" y="2699982"/>
            <a:ext cx="3626453" cy="960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页面标题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2736001" y="6318000"/>
            <a:ext cx="6720000" cy="5400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36002" y="6318000"/>
            <a:ext cx="960000" cy="540000"/>
          </a:xfrm>
        </p:spPr>
        <p:txBody>
          <a:bodyPr/>
          <a:lstStyle/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"/>
            <a:ext cx="12192000" cy="685800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44642" y="1805992"/>
            <a:ext cx="3302721" cy="2708599"/>
          </a:xfrm>
          <a:prstGeom prst="rect">
            <a:avLst/>
          </a:prstGeom>
        </p:spPr>
      </p:pic>
      <p:cxnSp>
        <p:nvCxnSpPr>
          <p:cNvPr id="10" name="直接连接符 9"/>
          <p:cNvCxnSpPr/>
          <p:nvPr/>
        </p:nvCxnSpPr>
        <p:spPr>
          <a:xfrm>
            <a:off x="431818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8807295" y="3429002"/>
            <a:ext cx="295292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E0AC87-F9B6-4F7A-AB3A-6863E2A5800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14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"/>
            <a:ext cx="12192000" cy="665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9726" y="6100774"/>
            <a:ext cx="2611396" cy="51846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1802" y="235137"/>
            <a:ext cx="8632687" cy="337358"/>
          </a:xfrm>
          <a:prstGeom prst="rect">
            <a:avLst/>
          </a:prstGeom>
        </p:spPr>
        <p:txBody>
          <a:bodyPr anchor="ctr"/>
          <a:lstStyle>
            <a:lvl1pPr>
              <a:defRPr sz="2000">
                <a:solidFill>
                  <a:schemeClr val="accent1"/>
                </a:solidFill>
                <a:effectLst>
                  <a:glow rad="25400">
                    <a:srgbClr val="BFE2F3"/>
                  </a:glo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65863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0" y="5821680"/>
            <a:ext cx="12192000" cy="1036320"/>
          </a:xfrm>
          <a:prstGeom prst="rect">
            <a:avLst/>
          </a:prstGeom>
          <a:solidFill>
            <a:srgbClr val="C915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19" y="6100774"/>
            <a:ext cx="2143761" cy="51846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0411"/>
            <a:ext cx="121920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486667"/>
      </p:ext>
    </p:extLst>
  </p:cSld>
  <p:clrMapOvr>
    <a:masterClrMapping/>
  </p:clrMapOvr>
  <p:transition>
    <p:fade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368" y="263408"/>
            <a:ext cx="8940432" cy="65771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10"/>
          </p:nvPr>
        </p:nvSpPr>
        <p:spPr>
          <a:xfrm>
            <a:off x="381368" y="1142440"/>
            <a:ext cx="11429264" cy="49914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20000"/>
              </a:lnSpc>
              <a:defRPr sz="2500">
                <a:solidFill>
                  <a:schemeClr val="accent2"/>
                </a:solidFill>
              </a:defRPr>
            </a:lvl1pPr>
            <a:lvl2pPr>
              <a:lnSpc>
                <a:spcPct val="120000"/>
              </a:lnSpc>
              <a:defRPr sz="2117">
                <a:solidFill>
                  <a:schemeClr val="accent2"/>
                </a:solidFill>
              </a:defRPr>
            </a:lvl2pPr>
            <a:lvl3pPr>
              <a:lnSpc>
                <a:spcPct val="120000"/>
              </a:lnSpc>
              <a:defRPr sz="1905">
                <a:solidFill>
                  <a:schemeClr val="accent2"/>
                </a:solidFill>
              </a:defRPr>
            </a:lvl3pPr>
            <a:lvl4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4pPr>
            <a:lvl5pPr>
              <a:lnSpc>
                <a:spcPct val="120000"/>
              </a:lnSpc>
              <a:defRPr sz="1693">
                <a:solidFill>
                  <a:schemeClr val="accent2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33E3E6D-D003-4285-9CD3-F9F948F4D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r="1346"/>
          <a:stretch/>
        </p:blipFill>
        <p:spPr>
          <a:xfrm>
            <a:off x="516" y="6149854"/>
            <a:ext cx="12191484" cy="411617"/>
          </a:xfrm>
          <a:prstGeom prst="rect">
            <a:avLst/>
          </a:prstGeom>
        </p:spPr>
      </p:pic>
      <p:pic>
        <p:nvPicPr>
          <p:cNvPr id="13" name="图片 12" descr="文本&#10;&#10;中度可信度描述已自动生成">
            <a:extLst>
              <a:ext uri="{FF2B5EF4-FFF2-40B4-BE49-F238E27FC236}">
                <a16:creationId xmlns:a16="http://schemas.microsoft.com/office/drawing/2014/main" id="{20F80C42-4A81-4868-AA78-9E4FF9811EE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3162" y="263409"/>
            <a:ext cx="2305463" cy="75790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B998610-38B8-4F4F-8E37-98D574A43924}"/>
              </a:ext>
            </a:extLst>
          </p:cNvPr>
          <p:cNvSpPr/>
          <p:nvPr userDrawn="1"/>
        </p:nvSpPr>
        <p:spPr>
          <a:xfrm>
            <a:off x="-1" y="311884"/>
            <a:ext cx="360363" cy="560759"/>
          </a:xfrm>
          <a:prstGeom prst="rect">
            <a:avLst/>
          </a:prstGeom>
          <a:gradFill>
            <a:gsLst>
              <a:gs pos="100000">
                <a:schemeClr val="accent4"/>
              </a:gs>
              <a:gs pos="62000">
                <a:schemeClr val="tx2"/>
              </a:gs>
            </a:gsLst>
            <a:lin ang="2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just"/>
            <a:endParaRPr lang="zh-CN" alt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166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2" cstate="print"/>
          <a:srcRect r="1346"/>
          <a:stretch>
            <a:fillRect/>
          </a:stretch>
        </p:blipFill>
        <p:spPr>
          <a:xfrm>
            <a:off x="516" y="341947"/>
            <a:ext cx="12191484" cy="411617"/>
          </a:xfrm>
          <a:prstGeom prst="rect">
            <a:avLst/>
          </a:prstGeom>
        </p:spPr>
      </p:pic>
      <p:sp>
        <p:nvSpPr>
          <p:cNvPr id="9" name="矩形 6"/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905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81242" y="0"/>
            <a:ext cx="11429516" cy="76197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b" anchorCtr="0">
            <a:noAutofit/>
          </a:bodyPr>
          <a:lstStyle/>
          <a:p>
            <a:r>
              <a:rPr lang="zh-CN" altLang="en-US" dirty="0"/>
              <a:t>页面标题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81242" y="981154"/>
            <a:ext cx="11429516" cy="5333856"/>
          </a:xfrm>
          <a:prstGeom prst="rect">
            <a:avLst/>
          </a:prstGeom>
        </p:spPr>
        <p:txBody>
          <a:bodyPr vert="horz" lIns="90000" tIns="0" rIns="91440" bIns="0" rtlCol="0">
            <a:normAutofit/>
          </a:bodyPr>
          <a:lstStyle/>
          <a:p>
            <a:pPr lvl="0"/>
            <a:r>
              <a:rPr lang="zh-CN" altLang="en-US" dirty="0"/>
              <a:t>第一级文本内容</a:t>
            </a:r>
          </a:p>
          <a:p>
            <a:pPr lvl="1"/>
            <a:r>
              <a:rPr lang="zh-CN" altLang="en-US" dirty="0"/>
              <a:t>第二级文本内容</a:t>
            </a:r>
          </a:p>
          <a:p>
            <a:pPr lvl="2"/>
            <a:r>
              <a:rPr lang="zh-CN" altLang="en-US" dirty="0"/>
              <a:t>第三级文本内容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667146" y="6318000"/>
            <a:ext cx="6857709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905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81242" y="6318000"/>
            <a:ext cx="952460" cy="54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95">
                <a:solidFill>
                  <a:schemeClr val="bg1"/>
                </a:solidFill>
              </a:defRPr>
            </a:lvl1pPr>
          </a:lstStyle>
          <a:p>
            <a:fld id="{66E0AC87-F9B6-4F7A-AB3A-6863E2A5800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359" y="6371999"/>
            <a:ext cx="1622722" cy="4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12192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80000"/>
        <a:buFontTx/>
        <a:buNone/>
        <a:defRPr sz="24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96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70000"/>
        <a:buFontTx/>
        <a:buNone/>
        <a:defRPr sz="20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219200" indent="0" algn="just" defTabSz="1219200" rtl="0" eaLnBrk="1" latinLnBrk="0" hangingPunct="1">
        <a:lnSpc>
          <a:spcPct val="120000"/>
        </a:lnSpc>
        <a:spcBef>
          <a:spcPts val="0"/>
        </a:spcBef>
        <a:spcAft>
          <a:spcPts val="635"/>
        </a:spcAft>
        <a:buSzPct val="60000"/>
        <a:buFontTx/>
        <a:buNone/>
        <a:defRPr sz="1800" b="1" kern="1200">
          <a:solidFill>
            <a:schemeClr val="tx2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0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Relationship Id="rId6" Type="http://schemas.openxmlformats.org/officeDocument/2006/relationships/image" Target="../media/image90.png"/><Relationship Id="rId11" Type="http://schemas.openxmlformats.org/officeDocument/2006/relationships/image" Target="../media/image120.png"/><Relationship Id="rId15" Type="http://schemas.openxmlformats.org/officeDocument/2006/relationships/image" Target="../media/image12.png"/><Relationship Id="rId10" Type="http://schemas.openxmlformats.org/officeDocument/2006/relationships/image" Target="../media/image110.png"/><Relationship Id="rId14" Type="http://schemas.openxmlformats.org/officeDocument/2006/relationships/image" Target="../media/image9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tiff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0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18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Relationship Id="rId6" Type="http://schemas.openxmlformats.org/officeDocument/2006/relationships/image" Target="../media/image16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31.png"/><Relationship Id="rId12" Type="http://schemas.openxmlformats.org/officeDocument/2006/relationships/image" Target="../media/image2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11" Type="http://schemas.openxmlformats.org/officeDocument/2006/relationships/image" Target="../media/image23.png"/><Relationship Id="rId10" Type="http://schemas.openxmlformats.org/officeDocument/2006/relationships/image" Target="../media/image22.pn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6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8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image" Target="../media/image3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0.png"/><Relationship Id="rId11" Type="http://schemas.openxmlformats.org/officeDocument/2006/relationships/image" Target="../media/image34.png"/><Relationship Id="rId10" Type="http://schemas.openxmlformats.org/officeDocument/2006/relationships/image" Target="../media/image662.png"/><Relationship Id="rId9" Type="http://schemas.openxmlformats.org/officeDocument/2006/relationships/image" Target="../media/image6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0.png"/><Relationship Id="rId3" Type="http://schemas.openxmlformats.org/officeDocument/2006/relationships/image" Target="../media/image42.png"/><Relationship Id="rId7" Type="http://schemas.openxmlformats.org/officeDocument/2006/relationships/image" Target="../media/image67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6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0.png"/><Relationship Id="rId7" Type="http://schemas.openxmlformats.org/officeDocument/2006/relationships/image" Target="../media/image42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10.png"/><Relationship Id="rId5" Type="http://schemas.openxmlformats.org/officeDocument/2006/relationships/image" Target="../media/image85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jpg"/><Relationship Id="rId4" Type="http://schemas.openxmlformats.org/officeDocument/2006/relationships/image" Target="../media/image4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60.png"/><Relationship Id="rId5" Type="http://schemas.openxmlformats.org/officeDocument/2006/relationships/image" Target="../media/image550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CA15B-281D-1C59-E951-6ECE481AE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EA63D1B-585A-BE51-03AE-11833879C6B6}"/>
              </a:ext>
            </a:extLst>
          </p:cNvPr>
          <p:cNvSpPr txBox="1"/>
          <p:nvPr/>
        </p:nvSpPr>
        <p:spPr>
          <a:xfrm>
            <a:off x="6591" y="3217630"/>
            <a:ext cx="12192000" cy="37240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4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神经网络训练过程的现象</a:t>
            </a:r>
            <a:endParaRPr lang="en-US" altLang="zh-CN" sz="4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凝聚现象与解的平坦性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上海交通大学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defTabSz="864235" fontAlgn="auto">
              <a:lnSpc>
                <a:spcPct val="100000"/>
              </a:lnSpc>
              <a:spcAft>
                <a:spcPts val="2400"/>
              </a:spcAft>
              <a:defRPr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SJTU AI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大课</a:t>
            </a:r>
          </a:p>
          <a:p>
            <a:pPr lvl="0" algn="ctr" defTabSz="864235">
              <a:defRPr/>
            </a:pPr>
            <a:fld id="{E102F756-3B96-CC46-A2D4-96CC8736307C}" type="datetime3"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lvl="0" algn="ctr" defTabSz="864235">
                <a:defRPr/>
              </a:pPr>
              <a:t>2026年8月10日星期一</a:t>
            </a:fld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98994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3CCAA17-2403-1497-0A4B-89D4E878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48CDE113-1C4D-2734-DADF-1682E6074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了解神经网络训练过程的常见特征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帮助理解神经网络算法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指导自己训练网络的调参过程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BB0B221-900C-6139-C2B2-A31841B484EE}"/>
              </a:ext>
            </a:extLst>
          </p:cNvPr>
          <p:cNvSpPr txBox="1"/>
          <p:nvPr/>
        </p:nvSpPr>
        <p:spPr>
          <a:xfrm>
            <a:off x="550333" y="5579533"/>
            <a:ext cx="58272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参考：</a:t>
            </a:r>
            <a:r>
              <a:rPr lang="en-US" altLang="zh-CN" sz="2000" dirty="0"/>
              <a:t>《</a:t>
            </a:r>
            <a:r>
              <a:rPr lang="zh-CN" altLang="en-US" sz="2000" dirty="0"/>
              <a:t>深度学习现象导论</a:t>
            </a:r>
            <a:r>
              <a:rPr lang="en-US" altLang="zh-CN" sz="2000" dirty="0"/>
              <a:t>》</a:t>
            </a:r>
            <a:r>
              <a:rPr lang="zh-CN" altLang="en-US" sz="2000" dirty="0"/>
              <a:t>第七、八、十一章。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86026B2-3A88-1421-35A9-3EA1CFA92013}"/>
              </a:ext>
            </a:extLst>
          </p:cNvPr>
          <p:cNvSpPr txBox="1"/>
          <p:nvPr/>
        </p:nvSpPr>
        <p:spPr>
          <a:xfrm>
            <a:off x="92764" y="6374296"/>
            <a:ext cx="30751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1000" dirty="0">
                <a:solidFill>
                  <a:schemeClr val="bg1"/>
                </a:solidFill>
              </a:rPr>
              <a:t>PPT</a:t>
            </a:r>
            <a:r>
              <a:rPr lang="zh-CN" altLang="en-US" sz="1000" dirty="0">
                <a:solidFill>
                  <a:schemeClr val="bg1"/>
                </a:solidFill>
              </a:rPr>
              <a:t>主要贡献：许志钦</a:t>
            </a:r>
          </a:p>
        </p:txBody>
      </p:sp>
    </p:spTree>
    <p:extLst>
      <p:ext uri="{BB962C8B-B14F-4D97-AF65-F5344CB8AC3E}">
        <p14:creationId xmlns:p14="http://schemas.microsoft.com/office/powerpoint/2010/main" val="3438254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3935" y="144826"/>
            <a:ext cx="2576687" cy="337358"/>
          </a:xfrm>
        </p:spPr>
        <p:txBody>
          <a:bodyPr/>
          <a:lstStyle/>
          <a:p>
            <a:r>
              <a:rPr lang="zh-CN" altLang="en-US" sz="2800"/>
              <a:t>目录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3855154" y="1357151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一、函数空间：频率原则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3855154" y="2510532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二、参数空间：凝聚现象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855154" y="3663914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三、损失景观：最小值点的平坦性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555F-1597-E589-FE4E-C51EC178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950FEC2-73DC-DE13-F18E-157D379B4EB5}"/>
              </a:ext>
            </a:extLst>
          </p:cNvPr>
          <p:cNvSpPr txBox="1"/>
          <p:nvPr/>
        </p:nvSpPr>
        <p:spPr>
          <a:xfrm>
            <a:off x="1" y="27826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参数空间：凝聚现象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B28EDE-90B9-3CE5-CE2E-17A920C06C4F}"/>
              </a:ext>
            </a:extLst>
          </p:cNvPr>
          <p:cNvSpPr txBox="1"/>
          <p:nvPr/>
        </p:nvSpPr>
        <p:spPr>
          <a:xfrm>
            <a:off x="0" y="391885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凝聚现象：小初始化下，同层神经元会有趋同的偏好。</a:t>
            </a:r>
          </a:p>
        </p:txBody>
      </p:sp>
    </p:spTree>
    <p:extLst>
      <p:ext uri="{BB962C8B-B14F-4D97-AF65-F5344CB8AC3E}">
        <p14:creationId xmlns:p14="http://schemas.microsoft.com/office/powerpoint/2010/main" val="636528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4E76057-D310-A6A9-8DEF-EC781D04DCB8}"/>
              </a:ext>
            </a:extLst>
          </p:cNvPr>
          <p:cNvSpPr txBox="1"/>
          <p:nvPr/>
        </p:nvSpPr>
        <p:spPr>
          <a:xfrm>
            <a:off x="101595" y="2921168"/>
            <a:ext cx="1209040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初始化是如何影响神经网络训练的？</a:t>
            </a:r>
          </a:p>
        </p:txBody>
      </p:sp>
    </p:spTree>
    <p:extLst>
      <p:ext uri="{BB962C8B-B14F-4D97-AF65-F5344CB8AC3E}">
        <p14:creationId xmlns:p14="http://schemas.microsoft.com/office/powerpoint/2010/main" val="2520305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B6D2A-308A-661C-0460-AA8E6ED2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B8475-14EF-817D-2435-30AD0E5C537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420" y="40707"/>
            <a:ext cx="12024360" cy="633413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常见初始化的尺度参数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BCAD266-08D0-CF70-2437-D95202F47E7D}"/>
                  </a:ext>
                </a:extLst>
              </p:cNvPr>
              <p:cNvSpPr txBox="1"/>
              <p:nvPr/>
            </p:nvSpPr>
            <p:spPr>
              <a:xfrm>
                <a:off x="1279131" y="4493515"/>
                <a:ext cx="3647326" cy="865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/>
                  <a:t> 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</m:oMath>
                </a14:m>
                <a:endParaRPr lang="en-US" altLang="zh-CN" sz="2400" dirty="0"/>
              </a:p>
              <a:p>
                <a:pPr algn="ctr"/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~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BBCAD266-08D0-CF70-2437-D95202F47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131" y="4493515"/>
                <a:ext cx="3647326" cy="865622"/>
              </a:xfrm>
              <a:prstGeom prst="rect">
                <a:avLst/>
              </a:prstGeom>
              <a:blipFill>
                <a:blip r:embed="rId6"/>
                <a:stretch>
                  <a:fillRect t="-2899" b="-159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94B870-7777-8D60-EBA0-2C8A66F221C3}"/>
                  </a:ext>
                </a:extLst>
              </p:cNvPr>
              <p:cNvSpPr txBox="1"/>
              <p:nvPr/>
            </p:nvSpPr>
            <p:spPr>
              <a:xfrm>
                <a:off x="997513" y="5490921"/>
                <a:ext cx="426799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solidFill>
                      <a:schemeClr val="tx2"/>
                    </a:solidFill>
                  </a:rPr>
                  <a:t>常用高斯分布</a:t>
                </a:r>
                <a:r>
                  <a:rPr lang="en-US" altLang="zh-CN" sz="2000" dirty="0">
                    <a:solidFill>
                      <a:schemeClr val="tx2"/>
                    </a:solidFill>
                  </a:rPr>
                  <a:t>/</a:t>
                </a:r>
                <a:r>
                  <a:rPr lang="zh-CN" altLang="en-US" sz="2000" dirty="0">
                    <a:solidFill>
                      <a:schemeClr val="tx2"/>
                    </a:solidFill>
                  </a:rPr>
                  <a:t>均匀分布（例如，</a:t>
                </a:r>
                <a:r>
                  <a:rPr lang="en-US" altLang="zh-CN" sz="20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zh-CN" altLang="en-US" sz="2000" dirty="0">
                    <a:solidFill>
                      <a:schemeClr val="tx2"/>
                    </a:solidFill>
                  </a:rPr>
                  <a:t>）初始化参数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3B94B870-7777-8D60-EBA0-2C8A66F22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513" y="5490921"/>
                <a:ext cx="4267992" cy="707886"/>
              </a:xfrm>
              <a:prstGeom prst="rect">
                <a:avLst/>
              </a:prstGeom>
              <a:blipFill>
                <a:blip r:embed="rId7"/>
                <a:stretch>
                  <a:fillRect t="-8772"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0485E55-24F2-17FB-AB3C-259F429FEF93}"/>
                  </a:ext>
                </a:extLst>
              </p:cNvPr>
              <p:cNvSpPr txBox="1"/>
              <p:nvPr/>
            </p:nvSpPr>
            <p:spPr>
              <a:xfrm>
                <a:off x="694360" y="3307845"/>
                <a:ext cx="4816868" cy="5434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>
                    <a:solidFill>
                      <a:schemeClr val="tx2"/>
                    </a:solidFill>
                  </a:rPr>
                  <a:t>常见初始化：</a:t>
                </a:r>
                <a:r>
                  <a:rPr lang="en-US" altLang="zh-CN" sz="2800" dirty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 Scale </a:t>
                </a:r>
                <a:r>
                  <a:rPr lang="en-US" altLang="zh-CN" sz="2800" i="1" dirty="0">
                    <a:solidFill>
                      <a:schemeClr val="tx2"/>
                    </a:solidFill>
                    <a:latin typeface="Cambria Math" panose="02040503050406030204" pitchFamily="18" charset="0"/>
                  </a:rPr>
                  <a:t>~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kumimoji="1" lang="zh-CN" altLang="en-US" sz="2800" dirty="0"/>
                  <a:t> </a:t>
                </a:r>
                <a:endParaRPr lang="zh-CN" altLang="en-US" sz="28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D0485E55-24F2-17FB-AB3C-259F429FE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360" y="3307845"/>
                <a:ext cx="4816868" cy="543418"/>
              </a:xfrm>
              <a:prstGeom prst="rect">
                <a:avLst/>
              </a:prstGeom>
              <a:blipFill>
                <a:blip r:embed="rId10"/>
                <a:stretch>
                  <a:fillRect t="-13636" b="-295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D835C40D-5B42-F71D-E386-1053646FF13F}"/>
              </a:ext>
            </a:extLst>
          </p:cNvPr>
          <p:cNvSpPr txBox="1"/>
          <p:nvPr/>
        </p:nvSpPr>
        <p:spPr>
          <a:xfrm>
            <a:off x="1320228" y="954645"/>
            <a:ext cx="3945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dirty="0">
                <a:solidFill>
                  <a:srgbClr val="070707"/>
                </a:solidFill>
              </a:rPr>
              <a:t>两层全连接网络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63CE9B-4B29-B182-7B84-53B1F6E1C451}"/>
                  </a:ext>
                </a:extLst>
              </p:cNvPr>
              <p:cNvSpPr txBox="1"/>
              <p:nvPr/>
            </p:nvSpPr>
            <p:spPr>
              <a:xfrm>
                <a:off x="330753" y="3942436"/>
                <a:ext cx="5842032" cy="4789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2400" dirty="0"/>
                  <a:t>通过调节</a:t>
                </a:r>
                <a:r>
                  <a:rPr kumimoji="1"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kumimoji="1" lang="en-US" altLang="zh-CN" sz="2400" dirty="0"/>
                  <a:t> </a:t>
                </a:r>
                <a:r>
                  <a:rPr kumimoji="1" lang="zh-CN" altLang="en-US" sz="2400" dirty="0"/>
                  <a:t>调节初始化大小</a:t>
                </a:r>
                <a:r>
                  <a:rPr kumimoji="1" lang="en-US" altLang="zh-CN" sz="2400" dirty="0"/>
                  <a:t> </a:t>
                </a: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6663CE9B-4B29-B182-7B84-53B1F6E1C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753" y="3942436"/>
                <a:ext cx="5842032" cy="478977"/>
              </a:xfrm>
              <a:prstGeom prst="rect">
                <a:avLst/>
              </a:prstGeom>
              <a:blipFill>
                <a:blip r:embed="rId11"/>
                <a:stretch>
                  <a:fillRect t="-15789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091737B-9765-8C1F-4B8F-A4CB38711DEE}"/>
                  </a:ext>
                </a:extLst>
              </p:cNvPr>
              <p:cNvSpPr txBox="1"/>
              <p:nvPr/>
            </p:nvSpPr>
            <p:spPr>
              <a:xfrm>
                <a:off x="1480651" y="1549967"/>
                <a:ext cx="3244286" cy="967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091737B-9765-8C1F-4B8F-A4CB38711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651" y="1549967"/>
                <a:ext cx="3244286" cy="967444"/>
              </a:xfrm>
              <a:prstGeom prst="rect">
                <a:avLst/>
              </a:prstGeom>
              <a:blipFill>
                <a:blip r:embed="rId12"/>
                <a:stretch>
                  <a:fillRect t="-97436" b="-144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F787273-A26C-79D4-CE35-01144453BAA8}"/>
                  </a:ext>
                </a:extLst>
              </p:cNvPr>
              <p:cNvSpPr txBox="1"/>
              <p:nvPr/>
            </p:nvSpPr>
            <p:spPr>
              <a:xfrm>
                <a:off x="1212029" y="2751452"/>
                <a:ext cx="3713581" cy="4358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bSup>
                          <m:sSubSup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kumimoji="1" lang="en-US" altLang="zh-CN" sz="2000" dirty="0"/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(0,</m:t>
                    </m:r>
                    <m:sSubSup>
                      <m:sSubSupPr>
                        <m:ctrlPr>
                          <a:rPr kumimoji="1"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kumimoji="1"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0F787273-A26C-79D4-CE35-01144453B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029" y="2751452"/>
                <a:ext cx="3713581" cy="435825"/>
              </a:xfrm>
              <a:prstGeom prst="rect">
                <a:avLst/>
              </a:prstGeom>
              <a:blipFill>
                <a:blip r:embed="rId13"/>
                <a:stretch>
                  <a:fillRect t="-2778" b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D34B1D29-1070-6928-F2B8-A802A241E557}"/>
              </a:ext>
            </a:extLst>
          </p:cNvPr>
          <p:cNvSpPr txBox="1"/>
          <p:nvPr/>
        </p:nvSpPr>
        <p:spPr>
          <a:xfrm>
            <a:off x="222015" y="2286790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高斯分布初始化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4D9C2E6-3C64-0C87-B214-31F0503E0EB2}"/>
              </a:ext>
            </a:extLst>
          </p:cNvPr>
          <p:cNvGrpSpPr/>
          <p:nvPr/>
        </p:nvGrpSpPr>
        <p:grpSpPr>
          <a:xfrm>
            <a:off x="6070600" y="1710476"/>
            <a:ext cx="5734103" cy="2783039"/>
            <a:chOff x="5983573" y="906459"/>
            <a:chExt cx="5734103" cy="27830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DB61567-E6AD-8C01-B9DE-0346BA4547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r="48171" b="51975"/>
            <a:stretch/>
          </p:blipFill>
          <p:spPr>
            <a:xfrm>
              <a:off x="5983573" y="906459"/>
              <a:ext cx="5734103" cy="2634184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70784BF-F52D-ABC8-FF66-C8EA7FF43745}"/>
                </a:ext>
              </a:extLst>
            </p:cNvPr>
            <p:cNvSpPr/>
            <p:nvPr/>
          </p:nvSpPr>
          <p:spPr>
            <a:xfrm>
              <a:off x="9356651" y="1230329"/>
              <a:ext cx="446568" cy="4784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zh-CN" altLang="en-US" sz="1800" dirty="0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BF2DD249-8EC6-CCD3-A1AF-6D5220BFB835}"/>
                </a:ext>
              </a:extLst>
            </p:cNvPr>
            <p:cNvSpPr/>
            <p:nvPr/>
          </p:nvSpPr>
          <p:spPr>
            <a:xfrm>
              <a:off x="9356651" y="1926460"/>
              <a:ext cx="446568" cy="17630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kumimoji="1" lang="zh-CN" altLang="en-US" sz="1800" dirty="0"/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4A92AED5-3AEC-9B93-3417-768A5A66411C}"/>
              </a:ext>
            </a:extLst>
          </p:cNvPr>
          <p:cNvSpPr txBox="1"/>
          <p:nvPr/>
        </p:nvSpPr>
        <p:spPr>
          <a:xfrm>
            <a:off x="6837287" y="5490921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随着宽度变大，初始化尺度变小！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84C946E-2ECD-AFD0-A452-B0E211E06A82}"/>
              </a:ext>
            </a:extLst>
          </p:cNvPr>
          <p:cNvSpPr txBox="1"/>
          <p:nvPr/>
        </p:nvSpPr>
        <p:spPr>
          <a:xfrm>
            <a:off x="6701883" y="4788245"/>
            <a:ext cx="40318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讨论：这样的初始化有什么特点？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BF46277-25D2-25B5-6990-78C52F92FEBB}"/>
                  </a:ext>
                </a:extLst>
              </p:cNvPr>
              <p:cNvSpPr txBox="1"/>
              <p:nvPr/>
            </p:nvSpPr>
            <p:spPr>
              <a:xfrm>
                <a:off x="6319497" y="1407910"/>
                <a:ext cx="39751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000" dirty="0"/>
                  <a:t>: 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000" dirty="0"/>
                  <a:t> 的维度；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zh-CN" sz="2000" dirty="0"/>
                  <a:t>: </a:t>
                </a:r>
                <a:r>
                  <a:rPr lang="zh-CN" altLang="en-US" sz="2000" dirty="0"/>
                  <a:t>隐藏神经元个数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BF46277-25D2-25B5-6990-78C52F92F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97" y="1407910"/>
                <a:ext cx="3975191" cy="400110"/>
              </a:xfrm>
              <a:prstGeom prst="rect">
                <a:avLst/>
              </a:prstGeom>
              <a:blipFill>
                <a:blip r:embed="rId15"/>
                <a:stretch>
                  <a:fillRect t="-13636" b="-28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7723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折线图&#10;&#10;描述已自动生成">
            <a:extLst>
              <a:ext uri="{FF2B5EF4-FFF2-40B4-BE49-F238E27FC236}">
                <a16:creationId xmlns:a16="http://schemas.microsoft.com/office/drawing/2014/main" id="{ADFDEBE6-C642-FD84-3BA7-6D7A58BC968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807" y="1047565"/>
            <a:ext cx="5971193" cy="4478395"/>
          </a:xfrm>
          <a:prstGeom prst="rect">
            <a:avLst/>
          </a:prstGeom>
        </p:spPr>
      </p:pic>
      <p:sp>
        <p:nvSpPr>
          <p:cNvPr id="4" name="标题 1">
            <a:extLst>
              <a:ext uri="{FF2B5EF4-FFF2-40B4-BE49-F238E27FC236}">
                <a16:creationId xmlns:a16="http://schemas.microsoft.com/office/drawing/2014/main" id="{835A6FC1-5281-4FDF-FC4E-3BA3F3641C19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在很大初始化下神经网络输出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24B8A40-499A-FF35-D02F-8167F8D4247F}"/>
                  </a:ext>
                </a:extLst>
              </p:cNvPr>
              <p:cNvSpPr txBox="1"/>
              <p:nvPr/>
            </p:nvSpPr>
            <p:spPr>
              <a:xfrm>
                <a:off x="201058" y="1047564"/>
                <a:ext cx="6392925" cy="33021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0" lang="zh-CN" altLang="en-US" sz="28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神经网络模型：</a:t>
                </a:r>
                <a:endParaRPr kumimoji="0" lang="en-US" altLang="zh-CN" sz="2800" b="1" i="1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𝒇</m:t>
                      </m:r>
                      <m:d>
                        <m:dPr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</a:rPr>
                            <m:t>𝒙</m:t>
                          </m:r>
                        </m:e>
                      </m:d>
                      <m:r>
                        <a:rPr kumimoji="0" lang="en-US" altLang="zh-CN" sz="24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Microsoft YaHei" panose="020B0503020204020204" pitchFamily="34" charset="-122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  <m:d>
                            <m:dPr>
                              <m:ctrlP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lang="en-US" altLang="zh-CN" sz="2400" b="1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b="1" dirty="0">
                  <a:solidFill>
                    <a:srgbClr val="242C2D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242C2D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激活函数：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2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800" dirty="0">
                    <a:solidFill>
                      <a:schemeClr val="tx2"/>
                    </a:solidFill>
                  </a:rPr>
                  <a:t>ReLU(x)=max(0,x)</a:t>
                </a:r>
                <a:endParaRPr lang="zh-CN" altLang="en-US" sz="28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00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24B8A40-499A-FF35-D02F-8167F8D42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8" y="1047564"/>
                <a:ext cx="6392925" cy="3302122"/>
              </a:xfrm>
              <a:prstGeom prst="rect">
                <a:avLst/>
              </a:prstGeom>
              <a:blipFill>
                <a:blip r:embed="rId6"/>
                <a:stretch>
                  <a:fillRect l="-20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FDDC333F-52CC-BC8F-3FE4-20D7DF9BD777}"/>
              </a:ext>
            </a:extLst>
          </p:cNvPr>
          <p:cNvSpPr txBox="1"/>
          <p:nvPr/>
        </p:nvSpPr>
        <p:spPr>
          <a:xfrm>
            <a:off x="1256789" y="4849418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初始化太大，容易过拟合！</a:t>
            </a:r>
          </a:p>
        </p:txBody>
      </p:sp>
    </p:spTree>
    <p:extLst>
      <p:ext uri="{BB962C8B-B14F-4D97-AF65-F5344CB8AC3E}">
        <p14:creationId xmlns:p14="http://schemas.microsoft.com/office/powerpoint/2010/main" val="367965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3E2820-4ECC-B841-92D1-BDAE42E3E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59" y="2137547"/>
            <a:ext cx="11378985" cy="2821778"/>
          </a:xfrm>
          <a:prstGeom prst="rect">
            <a:avLst/>
          </a:prstGeom>
        </p:spPr>
      </p:pic>
      <p:sp>
        <p:nvSpPr>
          <p:cNvPr id="2" name="TextBox 9">
            <a:extLst>
              <a:ext uri="{FF2B5EF4-FFF2-40B4-BE49-F238E27FC236}">
                <a16:creationId xmlns:a16="http://schemas.microsoft.com/office/drawing/2014/main" id="{8FE4F816-C92E-A7B6-1D7B-1F59C10CCA43}"/>
              </a:ext>
            </a:extLst>
          </p:cNvPr>
          <p:cNvSpPr txBox="1"/>
          <p:nvPr/>
        </p:nvSpPr>
        <p:spPr>
          <a:xfrm>
            <a:off x="1420445" y="1685459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37E8E899-7D47-DF0E-42FB-A9800CFD3C4B}"/>
              </a:ext>
            </a:extLst>
          </p:cNvPr>
          <p:cNvSpPr txBox="1"/>
          <p:nvPr/>
        </p:nvSpPr>
        <p:spPr>
          <a:xfrm>
            <a:off x="5266749" y="1673672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中等初始化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C0EC32EA-BC69-8608-979A-0CD1402EDAD5}"/>
              </a:ext>
            </a:extLst>
          </p:cNvPr>
          <p:cNvSpPr txBox="1"/>
          <p:nvPr/>
        </p:nvSpPr>
        <p:spPr>
          <a:xfrm>
            <a:off x="8818509" y="1693944"/>
            <a:ext cx="22466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小初始化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3D1F27C9-AD5E-9220-7C9F-65D9945D8ABD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不同初始化大小对网络输出的影响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3FC1490-9ACB-58F5-B393-B47F5A52F117}"/>
              </a:ext>
            </a:extLst>
          </p:cNvPr>
          <p:cNvSpPr txBox="1"/>
          <p:nvPr/>
        </p:nvSpPr>
        <p:spPr>
          <a:xfrm>
            <a:off x="1485661" y="4786841"/>
            <a:ext cx="1624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有些锯齿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9DA80C8-1055-E01B-FFD0-6A3CA72B740F}"/>
              </a:ext>
            </a:extLst>
          </p:cNvPr>
          <p:cNvSpPr txBox="1"/>
          <p:nvPr/>
        </p:nvSpPr>
        <p:spPr>
          <a:xfrm>
            <a:off x="5331965" y="4786841"/>
            <a:ext cx="1624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光滑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C64689-A1CA-65A3-CF13-E6ED065314BA}"/>
              </a:ext>
            </a:extLst>
          </p:cNvPr>
          <p:cNvSpPr txBox="1"/>
          <p:nvPr/>
        </p:nvSpPr>
        <p:spPr>
          <a:xfrm>
            <a:off x="9095284" y="4786841"/>
            <a:ext cx="1624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分片线性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AA9684A-E284-537D-9906-64A26011C1F4}"/>
                  </a:ext>
                </a:extLst>
              </p:cNvPr>
              <p:cNvSpPr txBox="1"/>
              <p:nvPr/>
            </p:nvSpPr>
            <p:spPr>
              <a:xfrm>
                <a:off x="2716032" y="4580097"/>
                <a:ext cx="1373646" cy="7280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AA9684A-E284-537D-9906-64A26011C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6032" y="4580097"/>
                <a:ext cx="1373646" cy="7280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D60071-57C6-F121-DBFD-9F1E0CDBED2C}"/>
                  </a:ext>
                </a:extLst>
              </p:cNvPr>
              <p:cNvSpPr txBox="1"/>
              <p:nvPr/>
            </p:nvSpPr>
            <p:spPr>
              <a:xfrm>
                <a:off x="6130992" y="4580097"/>
                <a:ext cx="1205202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CD60071-57C6-F121-DBFD-9F1E0CDBE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992" y="4580097"/>
                <a:ext cx="1205202" cy="6705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8FEF8D-995A-B4AF-951A-E0A9C8F0719C}"/>
                  </a:ext>
                </a:extLst>
              </p:cNvPr>
              <p:cNvSpPr txBox="1"/>
              <p:nvPr/>
            </p:nvSpPr>
            <p:spPr>
              <a:xfrm>
                <a:off x="10220093" y="4608855"/>
                <a:ext cx="1575816" cy="670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zh-CN" sz="2000" b="0" i="1" smtClean="0">
                          <a:latin typeface="Cambria Math" panose="02040503050406030204" pitchFamily="18" charset="0"/>
                        </a:rPr>
                        <m:t>~</m:t>
                      </m:r>
                      <m:f>
                        <m:fPr>
                          <m:ctrlP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p>
                              <m:r>
                                <a:rPr kumimoji="1" lang="en-US" altLang="zh-CN" sz="2000" b="0" i="1" smtClean="0">
                                  <a:latin typeface="Cambria Math" panose="02040503050406030204" pitchFamily="18" charset="0"/>
                                </a:rPr>
                                <m:t>1.75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58FEF8D-995A-B4AF-951A-E0A9C8F07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0093" y="4608855"/>
                <a:ext cx="1575816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27E3585-8697-8B4A-7F6F-98DC90DB40FF}"/>
                  </a:ext>
                </a:extLst>
              </p:cNvPr>
              <p:cNvSpPr txBox="1"/>
              <p:nvPr/>
            </p:nvSpPr>
            <p:spPr>
              <a:xfrm>
                <a:off x="466765" y="900970"/>
                <a:ext cx="11429516" cy="10129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kumimoji="0" lang="zh-CN" altLang="en-US" sz="2400" b="1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神经网络模型：</a:t>
                </a:r>
                <a14:m>
                  <m:oMath xmlns:m="http://schemas.openxmlformats.org/officeDocument/2006/math">
                    <m: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𝒇</m:t>
                    </m:r>
                    <m:d>
                      <m:dPr>
                        <m:ctrlP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kumimoji="0" lang="en-US" altLang="zh-CN" sz="20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𝒙</m:t>
                        </m:r>
                      </m:e>
                    </m:d>
                    <m:r>
                      <a:rPr kumimoji="0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altLang="zh-CN" sz="20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sz="20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0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CN" sz="2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𝟏𝟎𝟎𝟎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US" altLang="zh-CN" sz="20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𝝈</m:t>
                        </m:r>
                        <m:d>
                          <m:dPr>
                            <m:ctrlP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0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  <m:sub>
                                <m:r>
                                  <a:rPr lang="en-US" altLang="zh-CN" sz="20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zh-CN" altLang="en-US" sz="2000" b="1" dirty="0">
                    <a:solidFill>
                      <a:srgbClr val="242C2D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 </a:t>
                </a:r>
                <a:r>
                  <a:rPr lang="zh-CN" altLang="en-US" sz="2400" b="1" dirty="0">
                    <a:solidFill>
                      <a:srgbClr val="242C2D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激活函数：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schemeClr val="tx2"/>
                    </a:solidFill>
                  </a:rPr>
                  <a:t>ReLU(x)=max(0,x)</a:t>
                </a:r>
                <a:endParaRPr lang="zh-CN" altLang="en-US" sz="2400" dirty="0">
                  <a:solidFill>
                    <a:schemeClr val="tx2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527E3585-8697-8B4A-7F6F-98DC90DB4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65" y="900970"/>
                <a:ext cx="11429516" cy="1012906"/>
              </a:xfrm>
              <a:prstGeom prst="rect">
                <a:avLst/>
              </a:prstGeom>
              <a:blipFill>
                <a:blip r:embed="rId10"/>
                <a:stretch>
                  <a:fillRect l="-854" t="-31325" b="-295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本框 14">
            <a:extLst>
              <a:ext uri="{FF2B5EF4-FFF2-40B4-BE49-F238E27FC236}">
                <a16:creationId xmlns:a16="http://schemas.microsoft.com/office/drawing/2014/main" id="{AAC81196-5152-CF50-5756-75C8B2D339E4}"/>
              </a:ext>
            </a:extLst>
          </p:cNvPr>
          <p:cNvSpPr txBox="1"/>
          <p:nvPr/>
        </p:nvSpPr>
        <p:spPr>
          <a:xfrm>
            <a:off x="2060620" y="5834130"/>
            <a:ext cx="80621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dirty="0"/>
              <a:t>通过分析一维函数拟合的特点，来推断一般任务是如何受初始化影响</a:t>
            </a:r>
          </a:p>
        </p:txBody>
      </p:sp>
    </p:spTree>
    <p:extLst>
      <p:ext uri="{BB962C8B-B14F-4D97-AF65-F5344CB8AC3E}">
        <p14:creationId xmlns:p14="http://schemas.microsoft.com/office/powerpoint/2010/main" val="406756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C00D-AAED-8DC2-865B-0E911AE0D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F57B233-C5D7-326D-1127-7222796AAC09}"/>
                  </a:ext>
                </a:extLst>
              </p:cNvPr>
              <p:cNvSpPr txBox="1"/>
              <p:nvPr/>
            </p:nvSpPr>
            <p:spPr>
              <a:xfrm>
                <a:off x="819833" y="1412726"/>
                <a:ext cx="36228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B6161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𝜎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6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B61616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B61616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61616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ReLU(x)=max(0,x)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F57B233-C5D7-326D-1127-7222796AA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33" y="1412726"/>
                <a:ext cx="3622843" cy="461665"/>
              </a:xfrm>
              <a:prstGeom prst="rect">
                <a:avLst/>
              </a:prstGeom>
              <a:blipFill>
                <a:blip r:embed="rId6"/>
                <a:stretch>
                  <a:fillRect t="-10811" r="-1748" b="-29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1BA436B-07AE-33D3-EDBA-2561CFD9FAA2}"/>
              </a:ext>
            </a:extLst>
          </p:cNvPr>
          <p:cNvCxnSpPr>
            <a:cxnSpLocks/>
          </p:cNvCxnSpPr>
          <p:nvPr/>
        </p:nvCxnSpPr>
        <p:spPr>
          <a:xfrm flipH="1">
            <a:off x="2749074" y="2104329"/>
            <a:ext cx="798911" cy="143086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C3872A-7389-74AD-17DD-36FFFF2D7D31}"/>
                  </a:ext>
                </a:extLst>
              </p:cNvPr>
              <p:cNvSpPr txBox="1"/>
              <p:nvPr/>
            </p:nvSpPr>
            <p:spPr>
              <a:xfrm>
                <a:off x="6096000" y="812129"/>
                <a:ext cx="5977836" cy="27437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</a:rPr>
                  <a:t>ReLU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</a:rPr>
                  <a:t>函数的转折点： 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</a:endParaRPr>
              </a:p>
              <a:p>
                <a:pPr marR="0" lvl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altLang="zh-CN" sz="2400" i="1">
                          <a:solidFill>
                            <a:srgbClr val="B61616"/>
                          </a:solidFill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zh-CN" sz="2400" i="1">
                          <a:solidFill>
                            <a:srgbClr val="B61616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solidFill>
                            <a:srgbClr val="B61616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sz="2400" i="1">
                          <a:solidFill>
                            <a:srgbClr val="B61616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400" dirty="0">
                  <a:solidFill>
                    <a:srgbClr val="B61616"/>
                  </a:solidFill>
                </a:endParaRPr>
              </a:p>
              <a:p>
                <a:pPr marR="0" lvl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/>
                        </a:rPr>
                        <m:t>𝑥</m:t>
                      </m:r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黑体"/>
                        </a:rPr>
                        <m:t>=−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/>
                            </a:rPr>
                          </m:ctrlPr>
                        </m:fPr>
                        <m:num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/>
                            </a:rPr>
                            <m:t>𝑏</m:t>
                          </m:r>
                        </m:num>
                        <m:den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黑体"/>
                            </a:rPr>
                            <m:t>𝑤</m:t>
                          </m:r>
                        </m:den>
                      </m:f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zh-CN" altLang="en-US" sz="2400" dirty="0">
                    <a:solidFill>
                      <a:schemeClr val="tx2"/>
                    </a:solidFill>
                    <a:latin typeface="Book Antiqua"/>
                    <a:ea typeface="黑体"/>
                  </a:rPr>
                  <a:t>每个神经元的非线性主要在</a:t>
                </a:r>
                <a:r>
                  <a:rPr lang="zh-CN" altLang="en-US" sz="2400" b="1" dirty="0">
                    <a:solidFill>
                      <a:srgbClr val="C00000"/>
                    </a:solidFill>
                    <a:latin typeface="Book Antiqua"/>
                    <a:ea typeface="黑体"/>
                  </a:rPr>
                  <a:t>转折点附近</a:t>
                </a:r>
                <a:endPara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Book Antiqua"/>
                  <a:ea typeface="黑体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40C3872A-7389-74AD-17DD-36FFFF2D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812129"/>
                <a:ext cx="5977836" cy="2743764"/>
              </a:xfrm>
              <a:prstGeom prst="rect">
                <a:avLst/>
              </a:prstGeom>
              <a:blipFill>
                <a:blip r:embed="rId7"/>
                <a:stretch>
                  <a:fillRect l="-1486" b="-3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标题 1">
            <a:extLst>
              <a:ext uri="{FF2B5EF4-FFF2-40B4-BE49-F238E27FC236}">
                <a16:creationId xmlns:a16="http://schemas.microsoft.com/office/drawing/2014/main" id="{E6A3C1AE-9B07-D17B-D4CC-F821388FDCAC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参数不同会导致</a:t>
            </a:r>
            <a:r>
              <a:rPr kumimoji="1" lang="en-US" altLang="zh-CN" dirty="0" err="1"/>
              <a:t>ReLU</a:t>
            </a:r>
            <a:r>
              <a:rPr kumimoji="1" lang="zh-CN" altLang="en-US" dirty="0"/>
              <a:t>的转折点不同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AD87501-9178-3CB9-8990-D6A0A7F52AA7}"/>
                  </a:ext>
                </a:extLst>
              </p:cNvPr>
              <p:cNvSpPr txBox="1"/>
              <p:nvPr/>
            </p:nvSpPr>
            <p:spPr>
              <a:xfrm>
                <a:off x="677251" y="4398835"/>
                <a:ext cx="1124077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lang="en-US" altLang="zh-CN" sz="3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3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3200" dirty="0">
                    <a:solidFill>
                      <a:schemeClr val="tx2"/>
                    </a:solidFill>
                    <a:latin typeface="Book Antiqua"/>
                    <a:ea typeface="黑体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𝜎</m:t>
                    </m:r>
                    <m:d>
                      <m:dPr>
                        <m:ctrlP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𝑤𝑥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𝑏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</m:d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en-US" altLang="zh-CN" sz="32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𝑘</m:t>
                    </m:r>
                    <m:func>
                      <m:funcPr>
                        <m:ctrl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zh-CN" sz="32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max</m:t>
                        </m:r>
                      </m:fName>
                      <m:e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r>
                          <a:rPr lang="en-US" altLang="zh-CN" sz="3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3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3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2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kumimoji="0" lang="en-US" altLang="zh-CN" sz="32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e>
                    </m:func>
                  </m:oMath>
                </a14:m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AD87501-9178-3CB9-8990-D6A0A7F52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51" y="4398835"/>
                <a:ext cx="11240773" cy="584775"/>
              </a:xfrm>
              <a:prstGeom prst="rect">
                <a:avLst/>
              </a:prstGeom>
              <a:blipFill>
                <a:blip r:embed="rId8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D02F4A15-8C88-0FFD-429A-A9836CDA125D}"/>
              </a:ext>
            </a:extLst>
          </p:cNvPr>
          <p:cNvCxnSpPr>
            <a:cxnSpLocks/>
          </p:cNvCxnSpPr>
          <p:nvPr/>
        </p:nvCxnSpPr>
        <p:spPr>
          <a:xfrm flipV="1">
            <a:off x="1187450" y="3535196"/>
            <a:ext cx="1561624" cy="2069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75892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35027-7569-1BBB-9A88-9C846ABDF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>
            <a:extLst>
              <a:ext uri="{FF2B5EF4-FFF2-40B4-BE49-F238E27FC236}">
                <a16:creationId xmlns:a16="http://schemas.microsoft.com/office/drawing/2014/main" id="{CA76D53E-7F9D-9721-326F-A75A4D42FF8C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参数不同会导致</a:t>
            </a:r>
            <a:r>
              <a:rPr kumimoji="1" lang="en-US" altLang="zh-CN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ReLU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的转折点不同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A7F3BB-EF7C-C826-3C76-239C715DD4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97598" y="917427"/>
            <a:ext cx="8893343" cy="52295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7536FDC-B57D-17DE-6816-6AB8522C5646}"/>
                  </a:ext>
                </a:extLst>
              </p:cNvPr>
              <p:cNvSpPr txBox="1"/>
              <p:nvPr/>
            </p:nvSpPr>
            <p:spPr>
              <a:xfrm>
                <a:off x="201059" y="1003985"/>
                <a:ext cx="332105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 xmlns:m="http://schemas.openxmlformats.org/officeDocument/2006/math">
                    <m:r>
                      <a:rPr kumimoji="0" lang="en-US" altLang="zh-CN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𝑤</m:t>
                    </m:r>
                  </m:oMath>
                </a14:m>
                <a:r>
                  <a: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 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同号时，转折点相同的两个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ReLU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函数可以等效成一个</a:t>
                </a:r>
                <a:r>
                  <a:rPr kumimoji="0" lang="en-US" altLang="zh-CN" sz="1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ReLU</a:t>
                </a:r>
                <a:r>
                  <a: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函数！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7536FDC-B57D-17DE-6816-6AB8522C5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59" y="1003985"/>
                <a:ext cx="3321050" cy="923330"/>
              </a:xfrm>
              <a:prstGeom prst="rect">
                <a:avLst/>
              </a:prstGeom>
              <a:blipFill>
                <a:blip r:embed="rId7"/>
                <a:stretch>
                  <a:fillRect l="-1651" t="-5960" b="-112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9379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F898-E5DD-2586-0823-4274C433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>
            <a:extLst>
              <a:ext uri="{FF2B5EF4-FFF2-40B4-BE49-F238E27FC236}">
                <a16:creationId xmlns:a16="http://schemas.microsoft.com/office/drawing/2014/main" id="{6631929D-0598-F096-38AA-5B19C4BC1A1F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参数不同会导致</a:t>
            </a:r>
            <a:r>
              <a:rPr kumimoji="1" lang="en-US" altLang="zh-CN" dirty="0" err="1"/>
              <a:t>ReLU</a:t>
            </a:r>
            <a:r>
              <a:rPr kumimoji="1" lang="zh-CN" altLang="en-US" dirty="0"/>
              <a:t>的转折点不同</a:t>
            </a:r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8486F0C-2F1C-D6FE-062E-6D278E757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9907" y="974577"/>
            <a:ext cx="8893343" cy="528011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E064937-AD52-4DBE-1509-875C0C0E925A}"/>
              </a:ext>
            </a:extLst>
          </p:cNvPr>
          <p:cNvSpPr txBox="1"/>
          <p:nvPr/>
        </p:nvSpPr>
        <p:spPr>
          <a:xfrm>
            <a:off x="201059" y="1003985"/>
            <a:ext cx="3321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转折点不相同的两个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ReLU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函数不能等效成一个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ReLU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函数！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5504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D69490D-5697-296C-84B4-9E76F047DD22}"/>
                  </a:ext>
                </a:extLst>
              </p:cNvPr>
              <p:cNvSpPr txBox="1"/>
              <p:nvPr/>
            </p:nvSpPr>
            <p:spPr>
              <a:xfrm>
                <a:off x="233588" y="1110247"/>
                <a:ext cx="5862412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lvl="0" indent="-457200">
                  <a:buFont typeface="Arial" panose="020B0604020202020204" pitchFamily="34" charset="0"/>
                  <a:buChar char="•"/>
                  <a:defRPr/>
                </a:pPr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对于一维输入</a:t>
                </a:r>
                <a:r>
                  <a:rPr kumimoji="0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altLang="zh-CN" sz="2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42C2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𝑤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42C2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𝑏</m:t>
                        </m:r>
                      </m:e>
                      <m:sub>
                        <m:r>
                          <a:rPr kumimoji="0" lang="en-US" altLang="zh-CN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kumimoji="0" lang="en-US" altLang="zh-CN" sz="2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42C2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 是二维向量，我们用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zh-CN" sz="2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altLang="zh-CN" sz="2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kumimoji="0" lang="en-US" altLang="zh-CN" sz="2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𝒌</m:t>
                        </m:r>
                      </m:sub>
                    </m:sSub>
                  </m:oMath>
                </a14:m>
                <a:r>
                  <a: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表示该向量的方向：</a:t>
                </a:r>
                <a:r>
                  <a:rPr lang="en-US" altLang="zh-CN" sz="2800" dirty="0">
                    <a:solidFill>
                      <a:srgbClr val="B61616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8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80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lang="en-US" altLang="zh-CN" sz="28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altLang="zh-CN" sz="2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1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</m:acc>
                          </m:e>
                        </m:d>
                      </m:e>
                    </m:func>
                    <m:r>
                      <a:rPr lang="en-US" altLang="zh-CN" sz="2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8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5D69490D-5697-296C-84B4-9E76F047D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588" y="1110247"/>
                <a:ext cx="5862412" cy="1384995"/>
              </a:xfrm>
              <a:prstGeom prst="rect">
                <a:avLst/>
              </a:prstGeom>
              <a:blipFill>
                <a:blip r:embed="rId7"/>
                <a:stretch>
                  <a:fillRect l="-1871" t="-6608" r="-8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9A2464B-2E7D-DE15-F3B9-60A49BA109D6}"/>
                  </a:ext>
                </a:extLst>
              </p:cNvPr>
              <p:cNvSpPr txBox="1"/>
              <p:nvPr/>
            </p:nvSpPr>
            <p:spPr>
              <a:xfrm>
                <a:off x="6945988" y="921583"/>
                <a:ext cx="4529086" cy="4484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  <m: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𝝈</m:t>
                          </m:r>
                          <m:d>
                            <m:d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6161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>
                  <a:defRPr/>
                </a:pPr>
                <a:endParaRPr kumimoji="1" lang="en-US" altLang="zh-CN" sz="2400" dirty="0"/>
              </a:p>
              <a:p>
                <a:pPr>
                  <a:defRPr/>
                </a:pPr>
                <a:r>
                  <a:rPr kumimoji="1" lang="zh-CN" altLang="en-US" sz="2400" dirty="0"/>
                  <a:t>转折点：</a:t>
                </a:r>
                <a:r>
                  <a:rPr lang="en-US" altLang="zh-CN" sz="2400" dirty="0">
                    <a:solidFill>
                      <a:srgbClr val="242C2D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242C2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242C2D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kumimoji="0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Cambria Math" panose="02040503050406030204" pitchFamily="18" charset="0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40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 lvl="0">
                  <a:defRPr/>
                </a:pPr>
                <a:r>
                  <a:rPr kumimoji="1" lang="zh-CN" altLang="en-US" sz="2400" dirty="0"/>
                  <a:t>角度：</a:t>
                </a:r>
                <a:r>
                  <a:rPr lang="en-US" altLang="zh-CN" sz="2400" dirty="0">
                    <a:solidFill>
                      <a:srgbClr val="242C2D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zh-CN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tan</m:t>
                        </m:r>
                      </m:fName>
                      <m:e>
                        <m:d>
                          <m:d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4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chemeClr val="tx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0" lang="en-US" altLang="zh-CN" sz="2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US" altLang="zh-CN" sz="24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chemeClr val="tx2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𝒘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2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:</m:t>
                    </m:r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lvl="0">
                  <a:defRPr/>
                </a:pPr>
                <a:r>
                  <a:rPr kumimoji="1" lang="zh-CN" altLang="en-US" sz="2400" dirty="0"/>
                  <a:t>幅度：</a:t>
                </a:r>
                <a:r>
                  <a:rPr lang="en-US" altLang="zh-CN" sz="2400" dirty="0">
                    <a:solidFill>
                      <a:srgbClr val="242C2D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𝐴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e>
                    </m:d>
                    <m:rad>
                      <m:radPr>
                        <m:degHide m:val="on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  <m:sup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b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sSubSup>
                          <m:sSubSup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Sup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𝑏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  <m:sup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400" dirty="0">
                  <a:solidFill>
                    <a:schemeClr val="tx2"/>
                  </a:solidFill>
                  <a:latin typeface="Book Antiqua"/>
                  <a:ea typeface="黑体"/>
                </a:endParaRPr>
              </a:p>
              <a:p>
                <a:pPr lvl="0"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特征：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)</m:t>
                    </m:r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9A2464B-2E7D-DE15-F3B9-60A49BA10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988" y="921583"/>
                <a:ext cx="4529086" cy="4484882"/>
              </a:xfrm>
              <a:prstGeom prst="rect">
                <a:avLst/>
              </a:prstGeom>
              <a:blipFill>
                <a:blip r:embed="rId8"/>
                <a:stretch>
                  <a:fillRect l="-2019" b="-1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AC733628-F481-9F10-96E0-F7F425409D91}"/>
              </a:ext>
            </a:extLst>
          </p:cNvPr>
          <p:cNvGrpSpPr/>
          <p:nvPr/>
        </p:nvGrpSpPr>
        <p:grpSpPr>
          <a:xfrm>
            <a:off x="298932" y="2678219"/>
            <a:ext cx="4612887" cy="3083567"/>
            <a:chOff x="298932" y="2678219"/>
            <a:chExt cx="4612887" cy="3083567"/>
          </a:xfrm>
        </p:grpSpPr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4990E164-5D3A-5777-3569-E5050E066BE7}"/>
                </a:ext>
              </a:extLst>
            </p:cNvPr>
            <p:cNvCxnSpPr/>
            <p:nvPr/>
          </p:nvCxnSpPr>
          <p:spPr>
            <a:xfrm>
              <a:off x="800736" y="5326409"/>
              <a:ext cx="4111083" cy="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49BB6629-017C-B290-6B3F-9994B321E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136" y="2678219"/>
              <a:ext cx="0" cy="2800590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6E718DED-DDE1-69D5-26C4-19BC4B05AA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3136" y="3830028"/>
              <a:ext cx="1557454" cy="1496381"/>
            </a:xfrm>
            <a:prstGeom prst="straightConnector1">
              <a:avLst/>
            </a:prstGeom>
            <a:ln w="3810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曲线 16">
              <a:extLst>
                <a:ext uri="{FF2B5EF4-FFF2-40B4-BE49-F238E27FC236}">
                  <a16:creationId xmlns:a16="http://schemas.microsoft.com/office/drawing/2014/main" id="{2E6DCC96-C762-D68F-164E-22B78C73612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1265596" y="5010681"/>
              <a:ext cx="505071" cy="126381"/>
            </a:xfrm>
            <a:prstGeom prst="curvedConnector3">
              <a:avLst>
                <a:gd name="adj1" fmla="val 13203"/>
              </a:avLst>
            </a:prstGeom>
            <a:ln w="38100">
              <a:solidFill>
                <a:srgbClr val="C0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516F10-9C1B-752D-CC5F-A30C598CAF76}"/>
                    </a:ext>
                  </a:extLst>
                </p:cNvPr>
                <p:cNvSpPr txBox="1"/>
                <p:nvPr/>
              </p:nvSpPr>
              <p:spPr>
                <a:xfrm>
                  <a:off x="1607341" y="4715346"/>
                  <a:ext cx="235290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  <m:sSub>
                          <m:sSubPr>
                            <m:ctrlP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kumimoji="0" lang="en-US" altLang="zh-CN" sz="2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242C2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accPr>
                              <m:e>
                                <m:r>
                                  <a:rPr kumimoji="0" lang="en-US" altLang="zh-CN" sz="2800" b="1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242C2D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𝒘</m:t>
                                </m:r>
                              </m:e>
                            </m:acc>
                          </m:e>
                          <m:sub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𝒌</m:t>
                            </m:r>
                          </m:sub>
                        </m:sSub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∈(−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𝝅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𝝅</m:t>
                        </m:r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]</m:t>
                        </m:r>
                      </m:oMath>
                    </m:oMathPara>
                  </a14:m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F0516F10-9C1B-752D-CC5F-A30C598CA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7341" y="4715346"/>
                  <a:ext cx="2352907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CDB6804-F623-0661-F0D8-9F6092124D93}"/>
                    </a:ext>
                  </a:extLst>
                </p:cNvPr>
                <p:cNvSpPr txBox="1"/>
                <p:nvPr/>
              </p:nvSpPr>
              <p:spPr>
                <a:xfrm>
                  <a:off x="2394742" y="5238566"/>
                  <a:ext cx="7700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𝒘</m:t>
                            </m:r>
                          </m:e>
                          <m:sub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61616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DCDB6804-F623-0661-F0D8-9F6092124D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94742" y="5238566"/>
                  <a:ext cx="770052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C05F3BA-6D67-559C-0FE1-1F072DE50D20}"/>
                    </a:ext>
                  </a:extLst>
                </p:cNvPr>
                <p:cNvSpPr txBox="1"/>
                <p:nvPr/>
              </p:nvSpPr>
              <p:spPr>
                <a:xfrm>
                  <a:off x="298932" y="3626075"/>
                  <a:ext cx="7700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𝒃</m:t>
                            </m:r>
                          </m:e>
                          <m:sub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2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𝒌</m:t>
                            </m:r>
                          </m:sub>
                        </m:sSub>
                      </m:oMath>
                    </m:oMathPara>
                  </a14:m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B61616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" name="文本框 14">
                  <a:extLst>
                    <a:ext uri="{FF2B5EF4-FFF2-40B4-BE49-F238E27FC236}">
                      <a16:creationId xmlns:a16="http://schemas.microsoft.com/office/drawing/2014/main" id="{DC05F3BA-6D67-559C-0FE1-1F072DE50D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932" y="3626075"/>
                  <a:ext cx="770052" cy="52322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6FCE1C1-188A-0558-8639-6ED8F98E2675}"/>
                    </a:ext>
                  </a:extLst>
                </p:cNvPr>
                <p:cNvSpPr txBox="1"/>
                <p:nvPr/>
              </p:nvSpPr>
              <p:spPr>
                <a:xfrm>
                  <a:off x="2489945" y="3555294"/>
                  <a:ext cx="77005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sSub>
                          <m:sSubPr>
                            <m:ctrlP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𝒘</m:t>
                            </m:r>
                          </m:e>
                          <m:sub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𝒌</m:t>
                            </m:r>
                          </m:sub>
                        </m:sSub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𝒃</m:t>
                            </m:r>
                          </m:e>
                          <m:sub>
                            <m:r>
                              <a:rPr kumimoji="0" lang="en-US" altLang="zh-CN" sz="2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242C2D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𝒌</m:t>
                            </m:r>
                          </m:sub>
                        </m:sSub>
                        <m:r>
                          <a:rPr kumimoji="0" lang="en-US" altLang="zh-CN" sz="2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)</m:t>
                        </m:r>
                      </m:oMath>
                    </m:oMathPara>
                  </a14:m>
                  <a:endParaRPr kumimoji="0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C6FCE1C1-188A-0558-8639-6ED8F98E26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9945" y="3555294"/>
                  <a:ext cx="770052" cy="523220"/>
                </a:xfrm>
                <a:prstGeom prst="rect">
                  <a:avLst/>
                </a:prstGeom>
                <a:blipFill>
                  <a:blip r:embed="rId12"/>
                  <a:stretch>
                    <a:fillRect r="-7244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标题 1">
            <a:extLst>
              <a:ext uri="{FF2B5EF4-FFF2-40B4-BE49-F238E27FC236}">
                <a16:creationId xmlns:a16="http://schemas.microsoft.com/office/drawing/2014/main" id="{7C581F09-96D5-429C-C41D-22720AAE692F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神经元的特征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0465DEF-4A06-BFC7-59DC-5A4EAF53102F}"/>
              </a:ext>
            </a:extLst>
          </p:cNvPr>
          <p:cNvSpPr txBox="1"/>
          <p:nvPr/>
        </p:nvSpPr>
        <p:spPr>
          <a:xfrm>
            <a:off x="3978214" y="5673748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000" dirty="0"/>
              <a:t>很重要！如果没理解，要提问！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326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73CFA53-0B67-3873-5DF3-ED0848F06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5938"/>
          <a:stretch/>
        </p:blipFill>
        <p:spPr>
          <a:xfrm>
            <a:off x="1045212" y="967847"/>
            <a:ext cx="10101576" cy="24019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4221760-2BB6-EB85-B048-8EF605EBC121}"/>
              </a:ext>
            </a:extLst>
          </p:cNvPr>
          <p:cNvSpPr txBox="1"/>
          <p:nvPr/>
        </p:nvSpPr>
        <p:spPr>
          <a:xfrm>
            <a:off x="1651505" y="3488234"/>
            <a:ext cx="223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/>
              <a:t>大初始化</a:t>
            </a:r>
          </a:p>
        </p:txBody>
      </p:sp>
      <p:sp>
        <p:nvSpPr>
          <p:cNvPr id="5" name="右箭头 4">
            <a:extLst>
              <a:ext uri="{FF2B5EF4-FFF2-40B4-BE49-F238E27FC236}">
                <a16:creationId xmlns:a16="http://schemas.microsoft.com/office/drawing/2014/main" id="{18F74DA0-B01D-9492-236D-0BE46B6405F8}"/>
              </a:ext>
            </a:extLst>
          </p:cNvPr>
          <p:cNvSpPr/>
          <p:nvPr/>
        </p:nvSpPr>
        <p:spPr>
          <a:xfrm>
            <a:off x="4516625" y="3575405"/>
            <a:ext cx="1143000" cy="2011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EDE860-0C21-B44A-1FE0-8570DC5556DC}"/>
              </a:ext>
            </a:extLst>
          </p:cNvPr>
          <p:cNvSpPr txBox="1"/>
          <p:nvPr/>
        </p:nvSpPr>
        <p:spPr>
          <a:xfrm>
            <a:off x="6653125" y="3488234"/>
            <a:ext cx="49774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tx2"/>
                </a:solidFill>
                <a:ea typeface="Microsoft YaHei" panose="020B0503020204020204" pitchFamily="34" charset="-122"/>
              </a:rPr>
              <a:t>表现出很多</a:t>
            </a:r>
            <a:r>
              <a:rPr kumimoji="1" lang="zh-CN" altLang="en-US" sz="2400" b="1" dirty="0">
                <a:solidFill>
                  <a:schemeClr val="tx1"/>
                </a:solidFill>
                <a:ea typeface="Microsoft YaHei" panose="020B0503020204020204" pitchFamily="34" charset="-122"/>
              </a:rPr>
              <a:t>转折，且有点随机</a:t>
            </a:r>
            <a:endParaRPr kumimoji="1" lang="zh-CN" altLang="en-US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BF957E3-BAF9-2F39-BED6-0B734BA8C17A}"/>
              </a:ext>
            </a:extLst>
          </p:cNvPr>
          <p:cNvSpPr txBox="1"/>
          <p:nvPr/>
        </p:nvSpPr>
        <p:spPr>
          <a:xfrm>
            <a:off x="1648457" y="3997250"/>
            <a:ext cx="223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/>
              <a:t>减小初始化</a:t>
            </a:r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1D60D99B-0B31-BDF0-EA57-BEE2FED2B6F2}"/>
              </a:ext>
            </a:extLst>
          </p:cNvPr>
          <p:cNvSpPr/>
          <p:nvPr/>
        </p:nvSpPr>
        <p:spPr>
          <a:xfrm>
            <a:off x="4516625" y="4077359"/>
            <a:ext cx="1143000" cy="2011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FD7FF8D-5946-9546-3E76-A93429329775}"/>
              </a:ext>
            </a:extLst>
          </p:cNvPr>
          <p:cNvSpPr txBox="1"/>
          <p:nvPr/>
        </p:nvSpPr>
        <p:spPr>
          <a:xfrm>
            <a:off x="6653124" y="3973939"/>
            <a:ext cx="5719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tx2"/>
                </a:solidFill>
                <a:ea typeface="Microsoft YaHei" panose="020B0503020204020204" pitchFamily="34" charset="-122"/>
              </a:rPr>
              <a:t>表现出</a:t>
            </a:r>
            <a:r>
              <a:rPr kumimoji="1" lang="zh-CN" altLang="en-US" sz="2400" b="1" dirty="0">
                <a:ea typeface="Microsoft YaHei" panose="020B0503020204020204" pitchFamily="34" charset="-122"/>
              </a:rPr>
              <a:t>转折</a:t>
            </a:r>
            <a:r>
              <a:rPr kumimoji="1" lang="zh-CN" altLang="en-US" sz="2400" dirty="0">
                <a:solidFill>
                  <a:schemeClr val="tx2"/>
                </a:solidFill>
                <a:ea typeface="Microsoft YaHei" panose="020B0503020204020204" pitchFamily="34" charset="-122"/>
              </a:rPr>
              <a:t>但这些转折让输出变得</a:t>
            </a:r>
            <a:r>
              <a:rPr kumimoji="1" lang="zh-CN" altLang="en-US" sz="2400" b="1" dirty="0">
                <a:ea typeface="Microsoft YaHei" panose="020B0503020204020204" pitchFamily="34" charset="-122"/>
              </a:rPr>
              <a:t>光滑</a:t>
            </a:r>
            <a:endParaRPr kumimoji="1" lang="zh-CN" altLang="en-US" sz="24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02ADB22-1C75-681C-9B93-82EE39F5D730}"/>
              </a:ext>
            </a:extLst>
          </p:cNvPr>
          <p:cNvSpPr txBox="1"/>
          <p:nvPr/>
        </p:nvSpPr>
        <p:spPr>
          <a:xfrm>
            <a:off x="1636265" y="4506266"/>
            <a:ext cx="2231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2400" dirty="0"/>
              <a:t>进一步减小</a:t>
            </a:r>
          </a:p>
        </p:txBody>
      </p:sp>
      <p:sp>
        <p:nvSpPr>
          <p:cNvPr id="14" name="右箭头 13">
            <a:extLst>
              <a:ext uri="{FF2B5EF4-FFF2-40B4-BE49-F238E27FC236}">
                <a16:creationId xmlns:a16="http://schemas.microsoft.com/office/drawing/2014/main" id="{992F1295-5853-1B21-CFDC-C0A8333D555A}"/>
              </a:ext>
            </a:extLst>
          </p:cNvPr>
          <p:cNvSpPr/>
          <p:nvPr/>
        </p:nvSpPr>
        <p:spPr>
          <a:xfrm>
            <a:off x="4516625" y="4605737"/>
            <a:ext cx="1143000" cy="201168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7FADD81-1D01-589C-F1F9-76B272FB5FD9}"/>
              </a:ext>
            </a:extLst>
          </p:cNvPr>
          <p:cNvSpPr txBox="1"/>
          <p:nvPr/>
        </p:nvSpPr>
        <p:spPr>
          <a:xfrm>
            <a:off x="6653125" y="4459644"/>
            <a:ext cx="44807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>
                <a:solidFill>
                  <a:schemeClr val="tx2"/>
                </a:solidFill>
                <a:ea typeface="Microsoft YaHei" panose="020B0503020204020204" pitchFamily="34" charset="-122"/>
              </a:rPr>
              <a:t>转折点的位置</a:t>
            </a:r>
            <a:r>
              <a:rPr kumimoji="1" lang="zh-CN" altLang="en-US" sz="2400" b="1" dirty="0">
                <a:ea typeface="Microsoft YaHei" panose="020B0503020204020204" pitchFamily="34" charset="-122"/>
              </a:rPr>
              <a:t>集中在两个位置</a:t>
            </a:r>
            <a:endParaRPr kumimoji="1" lang="zh-CN" alt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1F42AE-69F4-B429-9B5E-72153C0D526E}"/>
                  </a:ext>
                </a:extLst>
              </p:cNvPr>
              <p:cNvSpPr txBox="1"/>
              <p:nvPr/>
            </p:nvSpPr>
            <p:spPr>
              <a:xfrm>
                <a:off x="7454928" y="5191967"/>
                <a:ext cx="4338072" cy="1142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sz="2400" dirty="0">
                    <a:solidFill>
                      <a:srgbClr val="0000FF"/>
                    </a:solidFill>
                  </a:rPr>
                  <a:t>提示我们网络中不同神经元的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zh-CN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kumimoji="1"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可能</m:t>
                    </m:r>
                    <m:r>
                      <a:rPr kumimoji="1" lang="zh-CN" altLang="en-US" sz="24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有某种</m:t>
                    </m:r>
                    <m:r>
                      <a:rPr kumimoji="1" lang="zh-CN" altLang="en-US" sz="24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一致性</m:t>
                    </m:r>
                  </m:oMath>
                </a14:m>
                <a:endParaRPr kumimoji="1" lang="zh-CN" altLang="en-US" sz="24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61F42AE-69F4-B429-9B5E-72153C0D5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928" y="5191967"/>
                <a:ext cx="4338072" cy="1142813"/>
              </a:xfrm>
              <a:prstGeom prst="rect">
                <a:avLst/>
              </a:prstGeom>
              <a:blipFill>
                <a:blip r:embed="rId5"/>
                <a:stretch>
                  <a:fillRect l="-2339" b="-5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下箭头 19">
            <a:extLst>
              <a:ext uri="{FF2B5EF4-FFF2-40B4-BE49-F238E27FC236}">
                <a16:creationId xmlns:a16="http://schemas.microsoft.com/office/drawing/2014/main" id="{0AEDDFD5-39ED-33DE-73D2-7FB6868CBC5A}"/>
              </a:ext>
            </a:extLst>
          </p:cNvPr>
          <p:cNvSpPr/>
          <p:nvPr/>
        </p:nvSpPr>
        <p:spPr>
          <a:xfrm>
            <a:off x="9401600" y="4914627"/>
            <a:ext cx="222364" cy="350008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n w="0"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4328748-7229-E405-9B0A-75F19ADCFB63}"/>
              </a:ext>
            </a:extLst>
          </p:cNvPr>
          <p:cNvSpPr txBox="1">
            <a:spLocks/>
          </p:cNvSpPr>
          <p:nvPr/>
        </p:nvSpPr>
        <p:spPr>
          <a:xfrm>
            <a:off x="201059" y="155448"/>
            <a:ext cx="11429516" cy="761979"/>
          </a:xfrm>
          <a:prstGeom prst="rect">
            <a:avLst/>
          </a:prstGeom>
        </p:spPr>
        <p:txBody>
          <a:bodyPr/>
          <a:lstStyle>
            <a:lvl1pPr algn="l" defTabSz="1219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kumimoji="1" lang="zh-CN" altLang="en-US" dirty="0"/>
              <a:t>不同初始化大小对网络输出的影响</a:t>
            </a:r>
          </a:p>
        </p:txBody>
      </p:sp>
    </p:spTree>
    <p:extLst>
      <p:ext uri="{BB962C8B-B14F-4D97-AF65-F5344CB8AC3E}">
        <p14:creationId xmlns:p14="http://schemas.microsoft.com/office/powerpoint/2010/main" val="58405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D1C9A07-4DC3-AB2C-CE15-5F2E9FFC98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8485"/>
          <a:stretch/>
        </p:blipFill>
        <p:spPr>
          <a:xfrm>
            <a:off x="6282234" y="953150"/>
            <a:ext cx="5912426" cy="48454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2BD1509-60FF-3F48-B063-2ADDF9FBD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5413"/>
            <a:ext cx="10858500" cy="635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不同网络输出对应的特征</a:t>
            </a:r>
            <a:endParaRPr lang="en-US" sz="3600" b="1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F0F81C6-1FEB-34E4-7994-9E08DF47BBBF}"/>
              </a:ext>
            </a:extLst>
          </p:cNvPr>
          <p:cNvSpPr txBox="1"/>
          <p:nvPr/>
        </p:nvSpPr>
        <p:spPr>
          <a:xfrm>
            <a:off x="4096364" y="3164953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3DCF9-C84A-FD9A-138E-A21EC88FCE3B}"/>
                  </a:ext>
                </a:extLst>
              </p:cNvPr>
              <p:cNvSpPr txBox="1"/>
              <p:nvPr/>
            </p:nvSpPr>
            <p:spPr>
              <a:xfrm>
                <a:off x="162892" y="966454"/>
                <a:ext cx="3437122" cy="3352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  <m: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𝝈</m:t>
                          </m:r>
                          <m:d>
                            <m:d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6161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en-US" altLang="zh-CN" sz="24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4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𝒘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: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ad>
                        <m:radPr>
                          <m:degHide m:val="on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400" dirty="0">
                  <a:solidFill>
                    <a:schemeClr val="tx2"/>
                  </a:solidFill>
                  <a:latin typeface="Book Antiqua"/>
                  <a:ea typeface="黑体"/>
                </a:endParaRPr>
              </a:p>
              <a:p>
                <a:pPr lvl="0"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特征：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)</m:t>
                    </m:r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3DCF9-C84A-FD9A-138E-A21EC88FC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92" y="966454"/>
                <a:ext cx="3437122" cy="3352777"/>
              </a:xfrm>
              <a:prstGeom prst="rect">
                <a:avLst/>
              </a:prstGeom>
              <a:blipFill>
                <a:blip r:embed="rId6"/>
                <a:stretch>
                  <a:fillRect l="-9926" t="-35472" b="-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68FDE-9B9E-77DD-8E61-8BE42E23F7A9}"/>
                  </a:ext>
                </a:extLst>
              </p:cNvPr>
              <p:cNvSpPr txBox="1"/>
              <p:nvPr/>
            </p:nvSpPr>
            <p:spPr>
              <a:xfrm>
                <a:off x="290482" y="4352379"/>
                <a:ext cx="3181941" cy="188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青色：初始特征分布</a:t>
                </a:r>
                <a:endParaRPr kumimoji="1" lang="en-US" altLang="zh-CN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b="1" dirty="0"/>
                  <a:t>红色：训练后特征分布</a:t>
                </a:r>
                <a:endParaRPr kumimoji="1" lang="en-US" altLang="zh-CN" sz="2000" b="1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>
                    <a:solidFill>
                      <a:schemeClr val="tx2"/>
                    </a:solidFill>
                  </a:rPr>
                  <a:t>每个点代表一个神经元；</a:t>
                </a:r>
                <a:r>
                  <a:rPr lang="en-US" altLang="zh-CN" sz="20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zh-CN" sz="2000" dirty="0">
                    <a:solidFill>
                      <a:schemeClr val="tx2"/>
                    </a:solidFill>
                  </a:rPr>
                  <a:t> </a:t>
                </a:r>
                <a:r>
                  <a:rPr kumimoji="1" lang="zh-CN" altLang="en-US" sz="2000" dirty="0">
                    <a:solidFill>
                      <a:schemeClr val="tx2"/>
                    </a:solidFill>
                  </a:rPr>
                  <a:t>进行归一化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68FDE-9B9E-77DD-8E61-8BE42E23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82" y="4352379"/>
                <a:ext cx="3181941" cy="1887889"/>
              </a:xfrm>
              <a:prstGeom prst="rect">
                <a:avLst/>
              </a:prstGeom>
              <a:blipFill>
                <a:blip r:embed="rId7"/>
                <a:stretch>
                  <a:fillRect l="-1992" r="-6375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73BDBD0E-8711-5326-E69B-5E90B499FEED}"/>
              </a:ext>
            </a:extLst>
          </p:cNvPr>
          <p:cNvSpPr txBox="1"/>
          <p:nvPr/>
        </p:nvSpPr>
        <p:spPr>
          <a:xfrm>
            <a:off x="-23600" y="606898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tx2"/>
                </a:solidFill>
              </a:rPr>
              <a:t>代码： https://github.com/xuzhiqin1990/understanding_dl/tree/main/code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13B338-4DA8-562E-B100-D9D0E565BB8E}"/>
              </a:ext>
            </a:extLst>
          </p:cNvPr>
          <p:cNvSpPr txBox="1"/>
          <p:nvPr/>
        </p:nvSpPr>
        <p:spPr>
          <a:xfrm>
            <a:off x="3786506" y="4148853"/>
            <a:ext cx="285962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参数训练前后差别</a:t>
            </a:r>
            <a:r>
              <a:rPr kumimoji="1" lang="zh-CN" altLang="en-US" sz="2000" dirty="0"/>
              <a:t>不大</a:t>
            </a:r>
            <a:endParaRPr kumimoji="1" lang="en-US" altLang="zh-CN" sz="2000" dirty="0"/>
          </a:p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受初始化影响很大！</a:t>
            </a:r>
            <a:endParaRPr kumimoji="1" lang="en-US" altLang="zh-CN" sz="2000" dirty="0">
              <a:solidFill>
                <a:schemeClr val="tx2"/>
              </a:solidFill>
            </a:endParaRPr>
          </a:p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初始化很随机，所以</a:t>
            </a:r>
            <a:r>
              <a:rPr kumimoji="1" lang="en-US" altLang="zh-CN" sz="2000" dirty="0" err="1">
                <a:solidFill>
                  <a:schemeClr val="tx2"/>
                </a:solidFill>
              </a:rPr>
              <a:t>ReLU</a:t>
            </a:r>
            <a:r>
              <a:rPr kumimoji="1" lang="zh-CN" altLang="en-US" sz="2000" dirty="0">
                <a:solidFill>
                  <a:schemeClr val="tx2"/>
                </a:solidFill>
              </a:rPr>
              <a:t>的转折分布随机！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9F38BD-F3A5-3202-EAFA-0A50CDDCE2DF}"/>
              </a:ext>
            </a:extLst>
          </p:cNvPr>
          <p:cNvSpPr txBox="1"/>
          <p:nvPr/>
        </p:nvSpPr>
        <p:spPr>
          <a:xfrm>
            <a:off x="7680383" y="1644868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chemeClr val="tx2"/>
                </a:solidFill>
              </a:rPr>
              <a:t>绿色和红色点几乎重叠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17BD81-093E-6A2F-DB0A-36DAB01885BB}"/>
              </a:ext>
            </a:extLst>
          </p:cNvPr>
          <p:cNvSpPr txBox="1"/>
          <p:nvPr/>
        </p:nvSpPr>
        <p:spPr>
          <a:xfrm>
            <a:off x="9032161" y="5999322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600" dirty="0">
                <a:solidFill>
                  <a:schemeClr val="tx2"/>
                </a:solidFill>
              </a:rPr>
              <a:t>每张图纵坐标归一化到最大值为</a:t>
            </a:r>
            <a:r>
              <a:rPr kumimoji="1" lang="en-US" altLang="zh-CN" sz="1600" dirty="0">
                <a:solidFill>
                  <a:schemeClr val="tx2"/>
                </a:solidFill>
              </a:rPr>
              <a:t>1</a:t>
            </a:r>
            <a:endParaRPr kumimoji="1" lang="zh-CN" altLang="en-US" sz="1600" dirty="0">
              <a:solidFill>
                <a:schemeClr val="tx2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E4EE220-BD6B-A055-04D1-E1B082E898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0090" y="1092244"/>
            <a:ext cx="2388164" cy="172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1455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3D1C9A07-4DC3-AB2C-CE15-5F2E9FFC98B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1" r="8062"/>
          <a:stretch/>
        </p:blipFill>
        <p:spPr>
          <a:xfrm>
            <a:off x="6372336" y="942266"/>
            <a:ext cx="5819664" cy="484548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2BD1509-60FF-3F48-B063-2ADDF9FBD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5413"/>
            <a:ext cx="10858500" cy="635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不同网络输出对应的特征</a:t>
            </a:r>
            <a:endParaRPr lang="en-US" sz="3600" b="1" dirty="0"/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F0F81C6-1FEB-34E4-7994-9E08DF47BBBF}"/>
              </a:ext>
            </a:extLst>
          </p:cNvPr>
          <p:cNvSpPr txBox="1"/>
          <p:nvPr/>
        </p:nvSpPr>
        <p:spPr>
          <a:xfrm>
            <a:off x="4096364" y="3164953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小初始化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3DCF9-C84A-FD9A-138E-A21EC88FCE3B}"/>
                  </a:ext>
                </a:extLst>
              </p:cNvPr>
              <p:cNvSpPr txBox="1"/>
              <p:nvPr/>
            </p:nvSpPr>
            <p:spPr>
              <a:xfrm>
                <a:off x="162892" y="966454"/>
                <a:ext cx="3437122" cy="3352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  <m: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𝝈</m:t>
                          </m:r>
                          <m:d>
                            <m:d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6161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en-US" altLang="zh-CN" sz="24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4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𝒘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: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ad>
                        <m:radPr>
                          <m:degHide m:val="on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400" dirty="0">
                  <a:solidFill>
                    <a:schemeClr val="tx2"/>
                  </a:solidFill>
                  <a:latin typeface="Book Antiqua"/>
                  <a:ea typeface="黑体"/>
                </a:endParaRPr>
              </a:p>
              <a:p>
                <a:pPr lvl="0"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特征：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)</m:t>
                    </m:r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3DCF9-C84A-FD9A-138E-A21EC88FC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92" y="966454"/>
                <a:ext cx="3437122" cy="3352777"/>
              </a:xfrm>
              <a:prstGeom prst="rect">
                <a:avLst/>
              </a:prstGeom>
              <a:blipFill>
                <a:blip r:embed="rId6"/>
                <a:stretch>
                  <a:fillRect l="-9926" t="-35472" b="-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68FDE-9B9E-77DD-8E61-8BE42E23F7A9}"/>
                  </a:ext>
                </a:extLst>
              </p:cNvPr>
              <p:cNvSpPr txBox="1"/>
              <p:nvPr/>
            </p:nvSpPr>
            <p:spPr>
              <a:xfrm>
                <a:off x="290482" y="4352379"/>
                <a:ext cx="3181941" cy="188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青色：初始特征分布</a:t>
                </a:r>
                <a:endParaRPr kumimoji="1" lang="en-US" altLang="zh-CN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b="1" dirty="0"/>
                  <a:t>红色：训练后特征分布</a:t>
                </a:r>
                <a:endParaRPr kumimoji="1" lang="en-US" altLang="zh-CN" sz="2000" b="1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>
                    <a:solidFill>
                      <a:schemeClr val="tx2"/>
                    </a:solidFill>
                  </a:rPr>
                  <a:t>每个点代表一个神经元；</a:t>
                </a:r>
                <a:r>
                  <a:rPr lang="en-US" altLang="zh-CN" sz="20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zh-CN" sz="2000" dirty="0">
                    <a:solidFill>
                      <a:schemeClr val="tx2"/>
                    </a:solidFill>
                  </a:rPr>
                  <a:t> </a:t>
                </a:r>
                <a:r>
                  <a:rPr kumimoji="1" lang="zh-CN" altLang="en-US" sz="2000" dirty="0">
                    <a:solidFill>
                      <a:schemeClr val="tx2"/>
                    </a:solidFill>
                  </a:rPr>
                  <a:t>进行归一化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68FDE-9B9E-77DD-8E61-8BE42E23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82" y="4352379"/>
                <a:ext cx="3181941" cy="1887889"/>
              </a:xfrm>
              <a:prstGeom prst="rect">
                <a:avLst/>
              </a:prstGeom>
              <a:blipFill>
                <a:blip r:embed="rId7"/>
                <a:stretch>
                  <a:fillRect l="-1992" r="-6375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6113B338-4DA8-562E-B100-D9D0E565BB8E}"/>
              </a:ext>
            </a:extLst>
          </p:cNvPr>
          <p:cNvSpPr txBox="1"/>
          <p:nvPr/>
        </p:nvSpPr>
        <p:spPr>
          <a:xfrm>
            <a:off x="3786505" y="4148853"/>
            <a:ext cx="30059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参数训练前后差别</a:t>
            </a:r>
            <a:r>
              <a:rPr kumimoji="1" lang="zh-CN" altLang="en-US" sz="2000" dirty="0">
                <a:solidFill>
                  <a:schemeClr val="accent1"/>
                </a:solidFill>
              </a:rPr>
              <a:t>很大</a:t>
            </a:r>
            <a:endParaRPr kumimoji="1" lang="en-US" altLang="zh-CN" sz="2000" dirty="0">
              <a:solidFill>
                <a:schemeClr val="accent1"/>
              </a:solidFill>
            </a:endParaRPr>
          </a:p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受初始化影响不大！</a:t>
            </a:r>
            <a:endParaRPr kumimoji="1" lang="en-US" altLang="zh-CN" sz="2000" dirty="0">
              <a:solidFill>
                <a:schemeClr val="tx2"/>
              </a:solidFill>
            </a:endParaRPr>
          </a:p>
          <a:p>
            <a:pPr algn="l"/>
            <a:endParaRPr kumimoji="1" lang="en-US" altLang="zh-CN" sz="2000" dirty="0">
              <a:solidFill>
                <a:schemeClr val="tx2"/>
              </a:solidFill>
            </a:endParaRPr>
          </a:p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有效神经元取决于数据！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9F38BD-F3A5-3202-EAFA-0A50CDDCE2DF}"/>
              </a:ext>
            </a:extLst>
          </p:cNvPr>
          <p:cNvSpPr txBox="1"/>
          <p:nvPr/>
        </p:nvSpPr>
        <p:spPr>
          <a:xfrm>
            <a:off x="9238447" y="1644867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chemeClr val="tx2"/>
                </a:solidFill>
              </a:rPr>
              <a:t>大部分神经元凝聚到两个方向！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17BD81-093E-6A2F-DB0A-36DAB01885BB}"/>
              </a:ext>
            </a:extLst>
          </p:cNvPr>
          <p:cNvSpPr txBox="1"/>
          <p:nvPr/>
        </p:nvSpPr>
        <p:spPr>
          <a:xfrm>
            <a:off x="9032161" y="5999322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600" dirty="0">
                <a:solidFill>
                  <a:schemeClr val="tx2"/>
                </a:solidFill>
              </a:rPr>
              <a:t>每张图纵坐标归一化到最大值为</a:t>
            </a:r>
            <a:r>
              <a:rPr kumimoji="1" lang="en-US" altLang="zh-CN" sz="1600" dirty="0">
                <a:solidFill>
                  <a:schemeClr val="tx2"/>
                </a:solidFill>
              </a:rPr>
              <a:t>1</a:t>
            </a:r>
            <a:endParaRPr kumimoji="1" lang="zh-CN" altLang="en-US" sz="1600" dirty="0">
              <a:solidFill>
                <a:schemeClr val="tx2"/>
              </a:solidFill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E4EE220-BD6B-A055-04D1-E1B082E8981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70090" y="1098164"/>
            <a:ext cx="2388164" cy="170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7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D1FDBF-F788-0649-9007-7D90BA2E5A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0034"/>
          <a:stretch/>
        </p:blipFill>
        <p:spPr>
          <a:xfrm>
            <a:off x="3398281" y="898540"/>
            <a:ext cx="8793719" cy="2076149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2BD1509-60FF-3F48-B063-2ADDF9FBD7C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25413"/>
            <a:ext cx="10858500" cy="63500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err="1"/>
              <a:t>不同网络输出对应的特征</a:t>
            </a:r>
            <a:endParaRPr lang="en-US" sz="3600" b="1" dirty="0"/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49C3926E-65C3-AD7E-16B1-B7F9D50EFB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7661" b="8811"/>
          <a:stretch/>
        </p:blipFill>
        <p:spPr>
          <a:xfrm>
            <a:off x="3398281" y="3773056"/>
            <a:ext cx="8793719" cy="2261171"/>
          </a:xfrm>
          <a:prstGeom prst="rect">
            <a:avLst/>
          </a:prstGeom>
        </p:spPr>
      </p:pic>
      <p:sp>
        <p:nvSpPr>
          <p:cNvPr id="14" name="TextBox 9">
            <a:extLst>
              <a:ext uri="{FF2B5EF4-FFF2-40B4-BE49-F238E27FC236}">
                <a16:creationId xmlns:a16="http://schemas.microsoft.com/office/drawing/2014/main" id="{9F0F81C6-1FEB-34E4-7994-9E08DF47BBBF}"/>
              </a:ext>
            </a:extLst>
          </p:cNvPr>
          <p:cNvSpPr txBox="1"/>
          <p:nvPr/>
        </p:nvSpPr>
        <p:spPr>
          <a:xfrm>
            <a:off x="4096364" y="3164953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大初始化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C3B10FD0-A2E3-97EA-4E99-1283A11E149F}"/>
              </a:ext>
            </a:extLst>
          </p:cNvPr>
          <p:cNvSpPr txBox="1"/>
          <p:nvPr/>
        </p:nvSpPr>
        <p:spPr>
          <a:xfrm>
            <a:off x="6950380" y="3112816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中等初始化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E04362BA-7953-FBA1-B607-12F99F54F681}"/>
              </a:ext>
            </a:extLst>
          </p:cNvPr>
          <p:cNvSpPr txBox="1"/>
          <p:nvPr/>
        </p:nvSpPr>
        <p:spPr>
          <a:xfrm>
            <a:off x="9804396" y="3166905"/>
            <a:ext cx="1689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小初始化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3DCF9-C84A-FD9A-138E-A21EC88FCE3B}"/>
                  </a:ext>
                </a:extLst>
              </p:cNvPr>
              <p:cNvSpPr txBox="1"/>
              <p:nvPr/>
            </p:nvSpPr>
            <p:spPr>
              <a:xfrm>
                <a:off x="162892" y="966454"/>
                <a:ext cx="3437122" cy="3352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𝒇</m:t>
                          </m:r>
                        </m:e>
                        <m: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𝜽</m:t>
                          </m:r>
                        </m:sub>
                      </m:sSub>
                      <m:r>
                        <a:rPr kumimoji="0" lang="en-US" altLang="zh-CN" sz="24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𝒌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</m:t>
                          </m:r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  <m:sup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𝒂</m:t>
                              </m:r>
                            </m:e>
                            <m: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𝒌</m:t>
                              </m:r>
                            </m:sub>
                          </m:sSub>
                          <m:r>
                            <a:rPr kumimoji="0" lang="en-US" altLang="zh-CN" sz="24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𝝈</m:t>
                          </m:r>
                          <m:d>
                            <m:dPr>
                              <m:ctrlP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B61616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𝒙</m:t>
                              </m:r>
                              <m:r>
                                <a:rPr kumimoji="0" lang="en-US" altLang="zh-CN" sz="24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𝒃</m:t>
                                  </m:r>
                                </m:e>
                                <m:sub>
                                  <m: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B61616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𝒌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tan</m:t>
                          </m:r>
                        </m:fName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en-US" altLang="zh-CN" sz="24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kumimoji="0" lang="en-US" altLang="zh-CN" sz="24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kumimoji="0" lang="en-US" altLang="zh-CN" sz="24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chemeClr val="tx2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𝒘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chemeClr val="tx2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: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𝐴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𝑘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ad>
                        <m:radPr>
                          <m:degHide m:val="on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2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</m:t>
                          </m:r>
                          <m:sSubSup>
                            <m:sSubSup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Sup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𝑏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𝑘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2400" dirty="0">
                  <a:solidFill>
                    <a:schemeClr val="tx2"/>
                  </a:solidFill>
                  <a:latin typeface="Book Antiqua"/>
                  <a:ea typeface="黑体"/>
                </a:endParaRPr>
              </a:p>
              <a:p>
                <a:pPr lvl="0"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2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特征：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(</m:t>
                    </m:r>
                    <m:sSub>
                      <m:sSub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黑体"/>
                        <a:cs typeface="+mn-cs"/>
                      </a:rPr>
                      <m:t>)</m:t>
                    </m:r>
                  </m:oMath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A1A3DCF9-C84A-FD9A-138E-A21EC88FCE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92" y="966454"/>
                <a:ext cx="3437122" cy="3352777"/>
              </a:xfrm>
              <a:prstGeom prst="rect">
                <a:avLst/>
              </a:prstGeom>
              <a:blipFill>
                <a:blip r:embed="rId6"/>
                <a:stretch>
                  <a:fillRect l="-9926" t="-35472" b="-22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68FDE-9B9E-77DD-8E61-8BE42E23F7A9}"/>
                  </a:ext>
                </a:extLst>
              </p:cNvPr>
              <p:cNvSpPr txBox="1"/>
              <p:nvPr/>
            </p:nvSpPr>
            <p:spPr>
              <a:xfrm>
                <a:off x="290482" y="4352379"/>
                <a:ext cx="3181941" cy="1887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b="1" dirty="0">
                    <a:solidFill>
                      <a:schemeClr val="accent5">
                        <a:lumMod val="75000"/>
                      </a:schemeClr>
                    </a:solidFill>
                  </a:rPr>
                  <a:t>青色：初始特征分布</a:t>
                </a:r>
                <a:endParaRPr kumimoji="1" lang="en-US" altLang="zh-CN" sz="2000" b="1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b="1" dirty="0"/>
                  <a:t>红色：训练后特征分布</a:t>
                </a:r>
                <a:endParaRPr kumimoji="1" lang="en-US" altLang="zh-CN" sz="2000" b="1" dirty="0"/>
              </a:p>
              <a:p>
                <a:pPr marL="342900" indent="-34290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000" dirty="0">
                    <a:solidFill>
                      <a:schemeClr val="tx2"/>
                    </a:solidFill>
                  </a:rPr>
                  <a:t>每个点代表一个神经元；</a:t>
                </a:r>
                <a:r>
                  <a:rPr lang="en-US" altLang="zh-CN" sz="2000" b="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kumimoji="1" lang="en-US" altLang="zh-CN" sz="2000" dirty="0">
                    <a:solidFill>
                      <a:schemeClr val="tx2"/>
                    </a:solidFill>
                  </a:rPr>
                  <a:t> </a:t>
                </a:r>
                <a:r>
                  <a:rPr kumimoji="1" lang="zh-CN" altLang="en-US" sz="2000" dirty="0">
                    <a:solidFill>
                      <a:schemeClr val="tx2"/>
                    </a:solidFill>
                  </a:rPr>
                  <a:t>进行归一化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D468FDE-9B9E-77DD-8E61-8BE42E23F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482" y="4352379"/>
                <a:ext cx="3181941" cy="1887889"/>
              </a:xfrm>
              <a:prstGeom prst="rect">
                <a:avLst/>
              </a:prstGeom>
              <a:blipFill>
                <a:blip r:embed="rId7"/>
                <a:stretch>
                  <a:fillRect l="-1992" r="-6375" b="-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6113B338-4DA8-562E-B100-D9D0E565BB8E}"/>
              </a:ext>
            </a:extLst>
          </p:cNvPr>
          <p:cNvSpPr txBox="1"/>
          <p:nvPr/>
        </p:nvSpPr>
        <p:spPr>
          <a:xfrm>
            <a:off x="3670090" y="3596166"/>
            <a:ext cx="2807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参数训练前后差别不大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E9F38BD-F3A5-3202-EAFA-0A50CDDCE2DF}"/>
              </a:ext>
            </a:extLst>
          </p:cNvPr>
          <p:cNvSpPr txBox="1"/>
          <p:nvPr/>
        </p:nvSpPr>
        <p:spPr>
          <a:xfrm>
            <a:off x="4025654" y="407190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chemeClr val="tx2"/>
                </a:solidFill>
              </a:rPr>
              <a:t>绿色和红色点几乎重叠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A159E8C-9E62-1475-288C-5D43B77F88FE}"/>
              </a:ext>
            </a:extLst>
          </p:cNvPr>
          <p:cNvSpPr txBox="1"/>
          <p:nvPr/>
        </p:nvSpPr>
        <p:spPr>
          <a:xfrm>
            <a:off x="9221929" y="3559176"/>
            <a:ext cx="28440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参数训练前后差别很大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D49AE9-5951-939F-2FC9-ACE9A751606B}"/>
              </a:ext>
            </a:extLst>
          </p:cNvPr>
          <p:cNvSpPr txBox="1"/>
          <p:nvPr/>
        </p:nvSpPr>
        <p:spPr>
          <a:xfrm>
            <a:off x="9749863" y="4019277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400" dirty="0">
                <a:solidFill>
                  <a:schemeClr val="tx2"/>
                </a:solidFill>
              </a:rPr>
              <a:t>末态参数凝聚到两个方向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D17BD81-093E-6A2F-DB0A-36DAB01885BB}"/>
              </a:ext>
            </a:extLst>
          </p:cNvPr>
          <p:cNvSpPr txBox="1"/>
          <p:nvPr/>
        </p:nvSpPr>
        <p:spPr>
          <a:xfrm>
            <a:off x="9032161" y="5999322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1600" dirty="0">
                <a:solidFill>
                  <a:schemeClr val="tx2"/>
                </a:solidFill>
              </a:rPr>
              <a:t>每张图纵坐标归一化到最大值为</a:t>
            </a:r>
            <a:r>
              <a:rPr kumimoji="1" lang="en-US" altLang="zh-CN" sz="1600" dirty="0">
                <a:solidFill>
                  <a:schemeClr val="tx2"/>
                </a:solidFill>
              </a:rPr>
              <a:t>1</a:t>
            </a:r>
            <a:endParaRPr kumimoji="1" lang="zh-CN" altLang="en-US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23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4B8A1-D46C-4811-ACAB-7C719B2B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一维实验：凝聚的过程</a:t>
            </a:r>
            <a:endParaRPr lang="zh-CN" altLang="en-US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75213ACF-F202-4FD2-BC58-2C07DBA8D48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2"/>
          <a:stretch/>
        </p:blipFill>
        <p:spPr>
          <a:xfrm>
            <a:off x="63500" y="2690735"/>
            <a:ext cx="4537362" cy="30605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CF4DE31-1901-4AF5-B70D-42F8065D4388}"/>
                  </a:ext>
                </a:extLst>
              </p:cNvPr>
              <p:cNvSpPr txBox="1"/>
              <p:nvPr/>
            </p:nvSpPr>
            <p:spPr>
              <a:xfrm>
                <a:off x="892107" y="818325"/>
                <a:ext cx="8166549" cy="14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</m:d>
                      <m:r>
                        <a:rPr kumimoji="0" lang="en-US" altLang="zh-CN" sz="3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𝑗</m:t>
                          </m:r>
                          <m: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=1</m:t>
                          </m:r>
                        </m:sub>
                        <m:sup>
                          <m:r>
                            <a:rPr kumimoji="0" lang="en-US" altLang="zh-CN" sz="3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  <m:func>
                            <m:funcPr>
                              <m:ctrlP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uncPr>
                            <m:fName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𝜎</m:t>
                              </m:r>
                            </m:fName>
                            <m:e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0" lang="en-US" altLang="zh-C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kumimoji="0" lang="en-US" altLang="zh-C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en-US" altLang="zh-C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kumimoji="0" lang="en-US" altLang="zh-CN" sz="32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kumimoji="0" lang="en-US" altLang="zh-CN" sz="32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等线 Light" panose="02010600030101010101" pitchFamily="2" charset="-122"/>
                  <a:ea typeface="等线" panose="0201060003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CF4DE31-1901-4AF5-B70D-42F8065D4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107" y="818325"/>
                <a:ext cx="8166549" cy="1492396"/>
              </a:xfrm>
              <a:prstGeom prst="rect">
                <a:avLst/>
              </a:prstGeom>
              <a:blipFill>
                <a:blip r:embed="rId6"/>
                <a:stretch>
                  <a:fillRect t="-105932" b="-1576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095A64F5-0B09-4D84-96FD-DCA7C5A25D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034" y="2348307"/>
            <a:ext cx="3869267" cy="29019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4E0179F-F859-42C7-9F98-32A69910A7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3110" y="2348307"/>
            <a:ext cx="3199130" cy="319913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3373EA17-E79A-9D5D-4AFF-DCB6ECB966D1}"/>
              </a:ext>
            </a:extLst>
          </p:cNvPr>
          <p:cNvCxnSpPr/>
          <p:nvPr/>
        </p:nvCxnSpPr>
        <p:spPr>
          <a:xfrm>
            <a:off x="8253301" y="5457812"/>
            <a:ext cx="3268924" cy="52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55D1FC0-1F0E-A125-88E0-B385D42A2C34}"/>
              </a:ext>
            </a:extLst>
          </p:cNvPr>
          <p:cNvCxnSpPr>
            <a:cxnSpLocks/>
          </p:cNvCxnSpPr>
          <p:nvPr/>
        </p:nvCxnSpPr>
        <p:spPr>
          <a:xfrm flipV="1">
            <a:off x="8405701" y="2110478"/>
            <a:ext cx="0" cy="34997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B75296F-B253-5506-82FD-0DBC36883DB8}"/>
                  </a:ext>
                </a:extLst>
              </p:cNvPr>
              <p:cNvSpPr txBox="1"/>
              <p:nvPr/>
            </p:nvSpPr>
            <p:spPr>
              <a:xfrm>
                <a:off x="8987510" y="5517350"/>
                <a:ext cx="1843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𝑤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B75296F-B253-5506-82FD-0DBC36883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7510" y="5517350"/>
                <a:ext cx="1843669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8DC0CF0-F092-AFF5-4BCF-D10ED53C32A7}"/>
                  </a:ext>
                </a:extLst>
              </p:cNvPr>
              <p:cNvSpPr txBox="1"/>
              <p:nvPr/>
            </p:nvSpPr>
            <p:spPr>
              <a:xfrm rot="16200000">
                <a:off x="7735965" y="3524007"/>
                <a:ext cx="874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08DC0CF0-F092-AFF5-4BCF-D10ED53C3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35965" y="3524007"/>
                <a:ext cx="874180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AFF8AF98-59E0-347D-01BA-73AF9E99C97F}"/>
              </a:ext>
            </a:extLst>
          </p:cNvPr>
          <p:cNvSpPr txBox="1"/>
          <p:nvPr/>
        </p:nvSpPr>
        <p:spPr>
          <a:xfrm>
            <a:off x="1360821" y="5309787"/>
            <a:ext cx="3133344" cy="96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tx2"/>
                </a:solidFill>
              </a:rPr>
              <a:t>蓝点为训练点</a:t>
            </a:r>
            <a:endParaRPr kumimoji="1" lang="en-US" altLang="zh-CN" sz="2000" dirty="0">
              <a:solidFill>
                <a:schemeClr val="tx2"/>
              </a:solidFill>
            </a:endParaRPr>
          </a:p>
          <a:p>
            <a:pPr algn="l"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tx2"/>
                </a:solidFill>
              </a:rPr>
              <a:t>红线为输出函数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DB74CB-2F5A-9772-F032-B9B900EB7AB0}"/>
              </a:ext>
            </a:extLst>
          </p:cNvPr>
          <p:cNvSpPr txBox="1"/>
          <p:nvPr/>
        </p:nvSpPr>
        <p:spPr>
          <a:xfrm>
            <a:off x="5440646" y="5782697"/>
            <a:ext cx="313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损失函数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A5BD57-BC47-ECB3-89F8-F42887A1ED02}"/>
              </a:ext>
            </a:extLst>
          </p:cNvPr>
          <p:cNvSpPr txBox="1"/>
          <p:nvPr/>
        </p:nvSpPr>
        <p:spPr>
          <a:xfrm>
            <a:off x="9058656" y="5802268"/>
            <a:ext cx="313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>
                <a:solidFill>
                  <a:schemeClr val="tx2"/>
                </a:solidFill>
              </a:rPr>
              <a:t>输入权重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F7388B8-6E94-1808-6DD7-D3C130D520D4}"/>
                  </a:ext>
                </a:extLst>
              </p:cNvPr>
              <p:cNvSpPr txBox="1"/>
              <p:nvPr/>
            </p:nvSpPr>
            <p:spPr>
              <a:xfrm>
                <a:off x="9077197" y="1184848"/>
                <a:ext cx="3133344" cy="1472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>
                  <a:lnSpc>
                    <a:spcPct val="150000"/>
                  </a:lnSpc>
                </a:pPr>
                <a:r>
                  <a:rPr kumimoji="1" lang="zh-CN" altLang="en-US" sz="2000" dirty="0">
                    <a:solidFill>
                      <a:schemeClr val="tx2"/>
                    </a:solidFill>
                  </a:rPr>
                  <a:t>蓝线为训练轨迹</a:t>
                </a:r>
                <a:endParaRPr kumimoji="1" lang="en-US" altLang="zh-CN" sz="2000" dirty="0">
                  <a:solidFill>
                    <a:schemeClr val="tx2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000" dirty="0">
                    <a:solidFill>
                      <a:schemeClr val="tx2"/>
                    </a:solidFill>
                  </a:rPr>
                  <a:t>红点为神经元当前状态</a:t>
                </a:r>
                <a:endParaRPr kumimoji="1" lang="en-US" altLang="zh-CN" sz="2000" dirty="0">
                  <a:solidFill>
                    <a:schemeClr val="tx2"/>
                  </a:solidFill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kumimoji="1" lang="zh-CN" altLang="en-US" sz="2000" dirty="0">
                    <a:solidFill>
                      <a:schemeClr val="tx2"/>
                    </a:solidFill>
                  </a:rPr>
                  <a:t>每一个点对应一组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CN" sz="2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kumimoji="1" lang="en-US" altLang="zh-CN" sz="2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0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F7388B8-6E94-1808-6DD7-D3C130D52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7197" y="1184848"/>
                <a:ext cx="3133344" cy="1472839"/>
              </a:xfrm>
              <a:prstGeom prst="rect">
                <a:avLst/>
              </a:prstGeom>
              <a:blipFill>
                <a:blip r:embed="rId11"/>
                <a:stretch>
                  <a:fillRect l="-1946" b="-37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DEEC8E9D-1063-895A-180F-28750C82AE5B}"/>
              </a:ext>
            </a:extLst>
          </p:cNvPr>
          <p:cNvSpPr txBox="1"/>
          <p:nvPr/>
        </p:nvSpPr>
        <p:spPr>
          <a:xfrm>
            <a:off x="8673088" y="948039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讨论：训练过程有什么特点？</a:t>
            </a:r>
          </a:p>
        </p:txBody>
      </p:sp>
    </p:spTree>
    <p:extLst>
      <p:ext uri="{BB962C8B-B14F-4D97-AF65-F5344CB8AC3E}">
        <p14:creationId xmlns:p14="http://schemas.microsoft.com/office/powerpoint/2010/main" val="574237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4B8A1-D46C-4811-ACAB-7C719B2B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神经元运动轨迹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F10B76-5185-41B4-BA03-DCE90C458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324"/>
            <a:ext cx="12192000" cy="472135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187D1BB-4311-B726-9CAB-9EAEE3EEA371}"/>
              </a:ext>
            </a:extLst>
          </p:cNvPr>
          <p:cNvSpPr txBox="1"/>
          <p:nvPr/>
        </p:nvSpPr>
        <p:spPr>
          <a:xfrm>
            <a:off x="2962655" y="925358"/>
            <a:ext cx="5591035" cy="50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tx2"/>
                </a:solidFill>
              </a:rPr>
              <a:t>相同方向的这群神经元等效成一个神经元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E7CB409-B4C6-170E-B6F9-6F7EC13DEDFB}"/>
              </a:ext>
            </a:extLst>
          </p:cNvPr>
          <p:cNvSpPr txBox="1"/>
          <p:nvPr/>
        </p:nvSpPr>
        <p:spPr>
          <a:xfrm>
            <a:off x="381242" y="5681193"/>
            <a:ext cx="9468814" cy="50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tx2"/>
                </a:solidFill>
              </a:rPr>
              <a:t>训练过程，先用一个有效神经元，误差仍然大，逐步增加有效神经元数目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7554D54D-87DE-7CA2-8095-1C00B8DF17D9}"/>
              </a:ext>
            </a:extLst>
          </p:cNvPr>
          <p:cNvCxnSpPr/>
          <p:nvPr/>
        </p:nvCxnSpPr>
        <p:spPr>
          <a:xfrm>
            <a:off x="8215594" y="4962880"/>
            <a:ext cx="3268924" cy="52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D11FA88-4618-2768-4049-011EDC268C7B}"/>
              </a:ext>
            </a:extLst>
          </p:cNvPr>
          <p:cNvCxnSpPr>
            <a:cxnSpLocks/>
          </p:cNvCxnSpPr>
          <p:nvPr/>
        </p:nvCxnSpPr>
        <p:spPr>
          <a:xfrm flipV="1">
            <a:off x="8367994" y="1615546"/>
            <a:ext cx="0" cy="34997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5FB0C1B-B956-1DAB-05CF-85CA51362E7D}"/>
                  </a:ext>
                </a:extLst>
              </p:cNvPr>
              <p:cNvSpPr txBox="1"/>
              <p:nvPr/>
            </p:nvSpPr>
            <p:spPr>
              <a:xfrm>
                <a:off x="8949803" y="5022418"/>
                <a:ext cx="1843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𝑤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5FB0C1B-B956-1DAB-05CF-85CA51362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9803" y="5022418"/>
                <a:ext cx="1843669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E8359CE-3DB4-E393-173C-9A73EABBFE37}"/>
                  </a:ext>
                </a:extLst>
              </p:cNvPr>
              <p:cNvSpPr txBox="1"/>
              <p:nvPr/>
            </p:nvSpPr>
            <p:spPr>
              <a:xfrm rot="16200000">
                <a:off x="7698258" y="3029075"/>
                <a:ext cx="874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8E8359CE-3DB4-E393-173C-9A73EABBF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698258" y="3029075"/>
                <a:ext cx="87418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8459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4B8A1-D46C-4811-ACAB-7C719B2BB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神经元运动轨迹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F10B76-5185-41B4-BA03-DCE90C458F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366"/>
            <a:ext cx="12192000" cy="432126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AFD9B7E-4C0D-E560-8C21-CC963CFE606A}"/>
              </a:ext>
            </a:extLst>
          </p:cNvPr>
          <p:cNvSpPr txBox="1"/>
          <p:nvPr/>
        </p:nvSpPr>
        <p:spPr>
          <a:xfrm>
            <a:off x="2962655" y="925358"/>
            <a:ext cx="5591035" cy="50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tx2"/>
                </a:solidFill>
              </a:rPr>
              <a:t>相同方向的这群神经元等效成一个神经元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B6A8F9-A314-06DD-056F-F792010AF4AE}"/>
              </a:ext>
            </a:extLst>
          </p:cNvPr>
          <p:cNvSpPr txBox="1"/>
          <p:nvPr/>
        </p:nvSpPr>
        <p:spPr>
          <a:xfrm>
            <a:off x="381242" y="5681193"/>
            <a:ext cx="9468814" cy="502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zh-CN" altLang="en-US" sz="2000" dirty="0">
                <a:solidFill>
                  <a:schemeClr val="tx2"/>
                </a:solidFill>
              </a:rPr>
              <a:t>训练过程，先用一个有效神经元，误差仍然大，逐步增加有效神经元数目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68C9888-6AE1-037C-5B0D-91E4F6962458}"/>
              </a:ext>
            </a:extLst>
          </p:cNvPr>
          <p:cNvSpPr txBox="1"/>
          <p:nvPr/>
        </p:nvSpPr>
        <p:spPr>
          <a:xfrm>
            <a:off x="8035365" y="7200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讨论：这样的拟合有什么好处？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8595EB-D8C1-1FA5-36DB-B1CEA5F15429}"/>
              </a:ext>
            </a:extLst>
          </p:cNvPr>
          <p:cNvSpPr txBox="1"/>
          <p:nvPr/>
        </p:nvSpPr>
        <p:spPr>
          <a:xfrm>
            <a:off x="8035365" y="959828"/>
            <a:ext cx="3796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用尽量少的有效神经元拟合数据</a:t>
            </a:r>
          </a:p>
        </p:txBody>
      </p:sp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6BBB293A-18C4-57E1-2D62-86BD4CA70EB8}"/>
              </a:ext>
            </a:extLst>
          </p:cNvPr>
          <p:cNvCxnSpPr/>
          <p:nvPr/>
        </p:nvCxnSpPr>
        <p:spPr>
          <a:xfrm>
            <a:off x="8315666" y="4968415"/>
            <a:ext cx="3268924" cy="52039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05133CF-C653-EECF-743B-1C164EF11A00}"/>
              </a:ext>
            </a:extLst>
          </p:cNvPr>
          <p:cNvCxnSpPr>
            <a:cxnSpLocks/>
          </p:cNvCxnSpPr>
          <p:nvPr/>
        </p:nvCxnSpPr>
        <p:spPr>
          <a:xfrm flipV="1">
            <a:off x="8468066" y="1621081"/>
            <a:ext cx="0" cy="349973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2C4F8E5-0D6A-CCCB-F4BC-FC82545C11F1}"/>
                  </a:ext>
                </a:extLst>
              </p:cNvPr>
              <p:cNvSpPr txBox="1"/>
              <p:nvPr/>
            </p:nvSpPr>
            <p:spPr>
              <a:xfrm>
                <a:off x="9049875" y="5027953"/>
                <a:ext cx="184366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𝑤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02C4F8E5-0D6A-CCCB-F4BC-FC82545C1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9875" y="5027953"/>
                <a:ext cx="184366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0405ED2-ED0B-ECA1-010D-E3DBF411CFC9}"/>
                  </a:ext>
                </a:extLst>
              </p:cNvPr>
              <p:cNvSpPr txBox="1"/>
              <p:nvPr/>
            </p:nvSpPr>
            <p:spPr>
              <a:xfrm rot="16200000">
                <a:off x="7798330" y="3034610"/>
                <a:ext cx="87418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0" lang="en-US" altLang="zh-CN" sz="2000" b="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B61616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𝑏</m:t>
                      </m:r>
                    </m:oMath>
                  </m:oMathPara>
                </a14:m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0405ED2-ED0B-ECA1-010D-E3DBF411C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7798330" y="3034610"/>
                <a:ext cx="87418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60870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0DA55-670D-8578-AFEB-64E8A9F0E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314B2C-F786-403A-50CE-BF64EDB6F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小初始化的凝聚现象示意图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3433B9-B00A-F435-5C8F-A72447969A08}"/>
              </a:ext>
            </a:extLst>
          </p:cNvPr>
          <p:cNvGrpSpPr/>
          <p:nvPr/>
        </p:nvGrpSpPr>
        <p:grpSpPr>
          <a:xfrm>
            <a:off x="2406026" y="1307684"/>
            <a:ext cx="7379947" cy="2828657"/>
            <a:chOff x="4270750" y="2989953"/>
            <a:chExt cx="7882206" cy="2997310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4107641E-150B-4DA2-35CE-012449E79B8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088"/>
            <a:stretch/>
          </p:blipFill>
          <p:spPr>
            <a:xfrm>
              <a:off x="4270750" y="2989953"/>
              <a:ext cx="7882206" cy="2975796"/>
            </a:xfrm>
            <a:prstGeom prst="rect">
              <a:avLst/>
            </a:prstGeom>
          </p:spPr>
        </p:pic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E700C410-3AC1-0DCC-EB83-C2E00CFFF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172699" y="5652286"/>
              <a:ext cx="1737086" cy="334977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AFC800-FCC7-8D31-FAE2-CCA3CBD7154E}"/>
                  </a:ext>
                </a:extLst>
              </p:cNvPr>
              <p:cNvSpPr txBox="1"/>
              <p:nvPr/>
            </p:nvSpPr>
            <p:spPr>
              <a:xfrm>
                <a:off x="7544709" y="4057256"/>
                <a:ext cx="3321049" cy="1211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（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sz="24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i="0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zh-CN" altLang="en-US" sz="2400" dirty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（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sz="2400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B3AFC800-FCC7-8D31-FAE2-CCA3CBD71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4709" y="4057256"/>
                <a:ext cx="3321049" cy="1211870"/>
              </a:xfrm>
              <a:prstGeom prst="rect">
                <a:avLst/>
              </a:prstGeom>
              <a:blipFill>
                <a:blip r:embed="rId6"/>
                <a:stretch>
                  <a:fillRect l="-1287" r="-551" b="-65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300E57-51ED-C3C1-293F-7D509953254A}"/>
                  </a:ext>
                </a:extLst>
              </p:cNvPr>
              <p:cNvSpPr txBox="1"/>
              <p:nvPr/>
            </p:nvSpPr>
            <p:spPr>
              <a:xfrm>
                <a:off x="1899046" y="4141012"/>
                <a:ext cx="3071036" cy="113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altLang="zh-CN" sz="24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1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sz="2400" b="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F1300E57-51ED-C3C1-293F-7D5099532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9046" y="4141012"/>
                <a:ext cx="3071036" cy="11358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436EDD4-83C3-9389-8416-AE7965B20BCB}"/>
                  </a:ext>
                </a:extLst>
              </p:cNvPr>
              <p:cNvSpPr txBox="1"/>
              <p:nvPr/>
            </p:nvSpPr>
            <p:spPr>
              <a:xfrm>
                <a:off x="5049184" y="4293457"/>
                <a:ext cx="2266014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b="0" i="1" dirty="0">
                  <a:solidFill>
                    <a:schemeClr val="tx2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sz="2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1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  <m:sup>
                          <m:r>
                            <a:rPr lang="en-US" altLang="zh-CN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</m:oMath>
                  </m:oMathPara>
                </a14:m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3436EDD4-83C3-9389-8416-AE7965B20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9184" y="4293457"/>
                <a:ext cx="2266014" cy="830997"/>
              </a:xfrm>
              <a:prstGeom prst="rect">
                <a:avLst/>
              </a:prstGeom>
              <a:blipFill>
                <a:blip r:embed="rId8"/>
                <a:stretch>
                  <a:fillRect b="-1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 17">
            <a:extLst>
              <a:ext uri="{FF2B5EF4-FFF2-40B4-BE49-F238E27FC236}">
                <a16:creationId xmlns:a16="http://schemas.microsoft.com/office/drawing/2014/main" id="{33E6C9E7-C880-17F5-EC57-A227AA1E5DD3}"/>
              </a:ext>
            </a:extLst>
          </p:cNvPr>
          <p:cNvSpPr/>
          <p:nvPr/>
        </p:nvSpPr>
        <p:spPr>
          <a:xfrm>
            <a:off x="1707650" y="5468775"/>
            <a:ext cx="17556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8642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</a:rPr>
              <a:t>随机初始化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E767ACC-509B-6EE9-74A1-84CC05CD26A9}"/>
              </a:ext>
            </a:extLst>
          </p:cNvPr>
          <p:cNvSpPr/>
          <p:nvPr/>
        </p:nvSpPr>
        <p:spPr>
          <a:xfrm>
            <a:off x="5004735" y="5468774"/>
            <a:ext cx="25399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8642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</a:rPr>
              <a:t>经过训练：达到参数凝聚状态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EA183ED-3F21-F53D-2AA6-25264BCEE159}"/>
              </a:ext>
            </a:extLst>
          </p:cNvPr>
          <p:cNvSpPr/>
          <p:nvPr/>
        </p:nvSpPr>
        <p:spPr>
          <a:xfrm>
            <a:off x="8117487" y="5468774"/>
            <a:ext cx="20697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8642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dirty="0">
                <a:solidFill>
                  <a:schemeClr val="tx2"/>
                </a:solidFill>
                <a:latin typeface="+mn-ea"/>
              </a:rPr>
              <a:t>等价于小网络</a:t>
            </a:r>
            <a:endParaRPr lang="en-US" altLang="zh-CN" sz="2400" b="1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36128A1-39A8-A861-3319-8F82F2AED566}"/>
              </a:ext>
            </a:extLst>
          </p:cNvPr>
          <p:cNvCxnSpPr/>
          <p:nvPr/>
        </p:nvCxnSpPr>
        <p:spPr>
          <a:xfrm>
            <a:off x="4886597" y="4204606"/>
            <a:ext cx="0" cy="10795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434CEB6C-4BB9-54C5-B1E4-43C8E884AB69}"/>
              </a:ext>
            </a:extLst>
          </p:cNvPr>
          <p:cNvCxnSpPr/>
          <p:nvPr/>
        </p:nvCxnSpPr>
        <p:spPr>
          <a:xfrm>
            <a:off x="7544707" y="4197400"/>
            <a:ext cx="0" cy="10795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ECF0DBFD-CFC5-DB08-B847-557D09AE409E}"/>
              </a:ext>
            </a:extLst>
          </p:cNvPr>
          <p:cNvSpPr txBox="1"/>
          <p:nvPr/>
        </p:nvSpPr>
        <p:spPr>
          <a:xfrm>
            <a:off x="0" y="870857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凝聚现象：小初始化下，同层神经元会有趋同的偏好。</a:t>
            </a:r>
          </a:p>
        </p:txBody>
      </p:sp>
    </p:spTree>
    <p:extLst>
      <p:ext uri="{BB962C8B-B14F-4D97-AF65-F5344CB8AC3E}">
        <p14:creationId xmlns:p14="http://schemas.microsoft.com/office/powerpoint/2010/main" val="2984189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一种潜在的解释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76" y="882295"/>
            <a:ext cx="6345721" cy="118288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61261" y="958468"/>
            <a:ext cx="12346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Arial" panose="020B0604020202020204" pitchFamily="34" charset="0"/>
                <a:ea typeface="黑体"/>
                <a:cs typeface="Arial" panose="020B0604020202020204" pitchFamily="34" charset="0"/>
              </a:rPr>
              <a:t>1995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B61616"/>
              </a:solidFill>
              <a:effectLst/>
              <a:uLnTx/>
              <a:uFillTx/>
              <a:latin typeface="Arial" panose="020B0604020202020204" pitchFamily="34" charset="0"/>
              <a:ea typeface="黑体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844B42-9E80-9088-738F-107528732DC1}"/>
              </a:ext>
            </a:extLst>
          </p:cNvPr>
          <p:cNvSpPr txBox="1"/>
          <p:nvPr/>
        </p:nvSpPr>
        <p:spPr>
          <a:xfrm>
            <a:off x="381242" y="2948894"/>
            <a:ext cx="10809767" cy="26139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tx2"/>
                </a:solidFill>
              </a:rPr>
              <a:t>为什么过参数化网络不会</a:t>
            </a:r>
            <a:r>
              <a:rPr kumimoji="1" lang="zh-CN" altLang="en-US" sz="2800" dirty="0">
                <a:solidFill>
                  <a:srgbClr val="C00000"/>
                </a:solidFill>
              </a:rPr>
              <a:t>过拟合数据</a:t>
            </a:r>
            <a:r>
              <a:rPr kumimoji="1" lang="zh-CN" altLang="en-US" sz="2800" dirty="0">
                <a:solidFill>
                  <a:schemeClr val="tx2"/>
                </a:solidFill>
              </a:rPr>
              <a:t>？</a:t>
            </a:r>
            <a:endParaRPr kumimoji="1" lang="en-US" altLang="zh-CN" sz="2800" dirty="0">
              <a:solidFill>
                <a:schemeClr val="tx2"/>
              </a:solidFill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2800" dirty="0">
                <a:solidFill>
                  <a:schemeClr val="tx2"/>
                </a:solidFill>
              </a:rPr>
              <a:t>	</a:t>
            </a:r>
            <a:r>
              <a:rPr kumimoji="1" lang="zh-CN" altLang="en-US" sz="2800" dirty="0">
                <a:solidFill>
                  <a:schemeClr val="tx2"/>
                </a:solidFill>
              </a:rPr>
              <a:t>神经网络具有低频偏好，且偏向会等效于小网络</a:t>
            </a:r>
            <a:endParaRPr kumimoji="1" lang="en-US" altLang="zh-CN" sz="2800" dirty="0">
              <a:solidFill>
                <a:schemeClr val="tx2"/>
              </a:solidFill>
            </a:endParaRP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2800" dirty="0">
                <a:solidFill>
                  <a:schemeClr val="tx2"/>
                </a:solidFill>
              </a:rPr>
              <a:t>什么是神经网络的</a:t>
            </a:r>
            <a:r>
              <a:rPr kumimoji="1" lang="zh-CN" altLang="en-US" sz="2800" dirty="0">
                <a:solidFill>
                  <a:srgbClr val="C00000"/>
                </a:solidFill>
              </a:rPr>
              <a:t>有效参数量</a:t>
            </a:r>
            <a:r>
              <a:rPr kumimoji="1" lang="zh-CN" altLang="en-US" sz="2800" dirty="0">
                <a:solidFill>
                  <a:schemeClr val="tx2"/>
                </a:solidFill>
              </a:rPr>
              <a:t>？</a:t>
            </a:r>
            <a:r>
              <a:rPr kumimoji="1" lang="en-US" altLang="zh-CN" sz="2800" dirty="0">
                <a:solidFill>
                  <a:schemeClr val="tx2"/>
                </a:solidFill>
              </a:rPr>
              <a:t>							</a:t>
            </a:r>
            <a:r>
              <a:rPr kumimoji="1" lang="zh-CN" altLang="en-US" sz="2800" dirty="0">
                <a:solidFill>
                  <a:schemeClr val="tx2"/>
                </a:solidFill>
              </a:rPr>
              <a:t>神经网络的有效参数量是等效小网络的参数量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6E5D56D-4D3F-944F-FBDD-E1B26E6587C7}"/>
              </a:ext>
            </a:extLst>
          </p:cNvPr>
          <p:cNvSpPr txBox="1"/>
          <p:nvPr/>
        </p:nvSpPr>
        <p:spPr>
          <a:xfrm>
            <a:off x="452387" y="5775650"/>
            <a:ext cx="7622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当有效神经元数目变多时，神经网络可以学习越来越高频的部分。</a:t>
            </a:r>
          </a:p>
        </p:txBody>
      </p:sp>
    </p:spTree>
    <p:extLst>
      <p:ext uri="{BB962C8B-B14F-4D97-AF65-F5344CB8AC3E}">
        <p14:creationId xmlns:p14="http://schemas.microsoft.com/office/powerpoint/2010/main" val="1928667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0E958-5699-477D-842D-A59481E567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89250"/>
            <a:ext cx="12192000" cy="617538"/>
          </a:xfrm>
        </p:spPr>
        <p:txBody>
          <a:bodyPr/>
          <a:lstStyle/>
          <a:p>
            <a:pPr algn="ctr"/>
            <a:r>
              <a:rPr lang="zh-CN" altLang="en-US" b="1" dirty="0"/>
              <a:t>实际网络中是否有凝聚现象？</a:t>
            </a:r>
          </a:p>
        </p:txBody>
      </p:sp>
    </p:spTree>
    <p:extLst>
      <p:ext uri="{BB962C8B-B14F-4D97-AF65-F5344CB8AC3E}">
        <p14:creationId xmlns:p14="http://schemas.microsoft.com/office/powerpoint/2010/main" val="3439893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70371-8E94-4C1E-8CCD-E51B5FCD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Resnet18</a:t>
            </a:r>
            <a:r>
              <a:rPr lang="zh-CN" altLang="en-US" dirty="0"/>
              <a:t> 中的一层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2C5470-43A8-44EB-9183-639FE9B310E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0976" y="719669"/>
            <a:ext cx="3708055" cy="91442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EF8F92A-ECD3-4CD8-90F4-A8B69E15B7E6}"/>
              </a:ext>
            </a:extLst>
          </p:cNvPr>
          <p:cNvSpPr txBox="1"/>
          <p:nvPr/>
        </p:nvSpPr>
        <p:spPr>
          <a:xfrm>
            <a:off x="433252" y="892692"/>
            <a:ext cx="5156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B61616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将每一个卷积核看作一个单元，计算两两之间余弦相似度：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3E8CBD-7351-4CC7-BF8F-10831885FE7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"/>
          <a:stretch/>
        </p:blipFill>
        <p:spPr>
          <a:xfrm>
            <a:off x="1389888" y="1591779"/>
            <a:ext cx="9567672" cy="367444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852ABC8-A684-D4E5-A156-0D4CDE5E7081}"/>
              </a:ext>
            </a:extLst>
          </p:cNvPr>
          <p:cNvSpPr txBox="1"/>
          <p:nvPr/>
        </p:nvSpPr>
        <p:spPr>
          <a:xfrm>
            <a:off x="7789013" y="5386532"/>
            <a:ext cx="1630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初始权重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5402E3-26B0-494C-CA27-EDEB842C5946}"/>
              </a:ext>
            </a:extLst>
          </p:cNvPr>
          <p:cNvSpPr txBox="1"/>
          <p:nvPr/>
        </p:nvSpPr>
        <p:spPr>
          <a:xfrm>
            <a:off x="2390516" y="5386532"/>
            <a:ext cx="1898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Book Antiqua"/>
                <a:ea typeface="黑体"/>
                <a:cs typeface="+mn-cs"/>
              </a:rPr>
              <a:t>训练末期权重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EC013C4-729F-DA9E-053C-EFE62FB92755}"/>
              </a:ext>
            </a:extLst>
          </p:cNvPr>
          <p:cNvSpPr/>
          <p:nvPr/>
        </p:nvSpPr>
        <p:spPr>
          <a:xfrm>
            <a:off x="3748749" y="1720890"/>
            <a:ext cx="1483909" cy="1617332"/>
          </a:xfrm>
          <a:prstGeom prst="ellipse">
            <a:avLst/>
          </a:prstGeom>
          <a:noFill/>
          <a:ln w="2857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B09860B5-F6E6-F00F-B862-F3DBCCD47422}"/>
              </a:ext>
            </a:extLst>
          </p:cNvPr>
          <p:cNvSpPr/>
          <p:nvPr/>
        </p:nvSpPr>
        <p:spPr>
          <a:xfrm>
            <a:off x="1717288" y="4103648"/>
            <a:ext cx="959005" cy="1003611"/>
          </a:xfrm>
          <a:prstGeom prst="ellipse">
            <a:avLst/>
          </a:prstGeom>
          <a:noFill/>
          <a:ln w="2857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FC0CFE-01FC-6F0D-5FEA-C4129B0D2DD0}"/>
              </a:ext>
            </a:extLst>
          </p:cNvPr>
          <p:cNvSpPr txBox="1"/>
          <p:nvPr/>
        </p:nvSpPr>
        <p:spPr>
          <a:xfrm>
            <a:off x="154006" y="5078756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余弦相似度将近</a:t>
            </a:r>
            <a:r>
              <a:rPr kumimoji="1" lang="en-US" altLang="zh-CN" sz="2000" dirty="0"/>
              <a:t>1</a:t>
            </a:r>
          </a:p>
          <a:p>
            <a:pPr algn="l"/>
            <a:r>
              <a:rPr kumimoji="1" lang="zh-CN" altLang="en-US" sz="2000" dirty="0"/>
              <a:t>这些卷积核很类似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F4276E-6835-40C6-0BC2-0E119F261AAE}"/>
              </a:ext>
            </a:extLst>
          </p:cNvPr>
          <p:cNvSpPr txBox="1"/>
          <p:nvPr/>
        </p:nvSpPr>
        <p:spPr>
          <a:xfrm>
            <a:off x="9353033" y="5107259"/>
            <a:ext cx="22669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初始完全没有凝聚</a:t>
            </a:r>
          </a:p>
        </p:txBody>
      </p:sp>
    </p:spTree>
    <p:extLst>
      <p:ext uri="{BB962C8B-B14F-4D97-AF65-F5344CB8AC3E}">
        <p14:creationId xmlns:p14="http://schemas.microsoft.com/office/powerpoint/2010/main" val="1295691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BF7B78-9010-2C7D-DE18-E8D6BEF87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kumimoji="1" lang="zh-CN" altLang="en-US" dirty="0"/>
              <a:t>既然发生凝聚，为什么不直接训练一个小网络？</a:t>
            </a:r>
            <a:endParaRPr kumimoji="1"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B6FB80-B2C1-4F30-0003-CE10C0BAF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表达能力：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凝聚的大网络和等效的小网络</a:t>
            </a:r>
            <a:r>
              <a:rPr kumimoji="1" lang="zh-CN" altLang="en-US" dirty="0">
                <a:solidFill>
                  <a:srgbClr val="FF0000"/>
                </a:solidFill>
              </a:rPr>
              <a:t>表达的函数一样</a:t>
            </a:r>
            <a:endParaRPr kumimoji="1" lang="en-US" altLang="zh-CN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/>
              <a:t>训练过程</a:t>
            </a:r>
            <a:endParaRPr kumimoji="1" lang="en-US" altLang="zh-CN" dirty="0"/>
          </a:p>
          <a:p>
            <a:pPr lvl="1">
              <a:lnSpc>
                <a:spcPct val="150000"/>
              </a:lnSpc>
            </a:pPr>
            <a:r>
              <a:rPr kumimoji="1" lang="zh-CN" altLang="en-US" dirty="0"/>
              <a:t>理论和实验均发现，凝聚的大网络比小网络</a:t>
            </a:r>
            <a:r>
              <a:rPr kumimoji="1" lang="zh-CN" altLang="en-US" dirty="0">
                <a:solidFill>
                  <a:srgbClr val="FF0000"/>
                </a:solidFill>
              </a:rPr>
              <a:t>更容易训练</a:t>
            </a:r>
            <a:r>
              <a:rPr kumimoji="1" lang="zh-CN" altLang="en-US" dirty="0"/>
              <a:t>，因为参数更多，可使损失函数下降的方向更多。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77F3B9-9BD5-A792-309B-1A72A1477032}"/>
              </a:ext>
            </a:extLst>
          </p:cNvPr>
          <p:cNvSpPr txBox="1"/>
          <p:nvPr/>
        </p:nvSpPr>
        <p:spPr>
          <a:xfrm>
            <a:off x="1050324" y="4176584"/>
            <a:ext cx="5186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讨论：是否可以直接把所有参数初始化成</a:t>
            </a:r>
            <a:r>
              <a:rPr kumimoji="1" lang="en-US" altLang="zh-CN" sz="2000" dirty="0"/>
              <a:t>0</a:t>
            </a:r>
            <a:r>
              <a:rPr kumimoji="1" lang="zh-CN" altLang="en-US" sz="2000" dirty="0"/>
              <a:t>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F26C9D-2FE5-9479-ACD3-9E27A593491E}"/>
              </a:ext>
            </a:extLst>
          </p:cNvPr>
          <p:cNvSpPr txBox="1"/>
          <p:nvPr/>
        </p:nvSpPr>
        <p:spPr>
          <a:xfrm>
            <a:off x="1050324" y="5045742"/>
            <a:ext cx="102313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000" dirty="0"/>
              <a:t>不能！这样梯度一直是零，无法训练，所以初始化太小，有训练变慢的代价。默认初始化对大部分任务是很好的平衡，但现在大语言模型的训练通常会调参初始化，以提升性能。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3631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84F91-D2BB-9BAD-33D3-1D77F7A4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38C8CEEA-625E-A8A1-E258-D9FC711B22E6}"/>
              </a:ext>
            </a:extLst>
          </p:cNvPr>
          <p:cNvSpPr txBox="1"/>
          <p:nvPr/>
        </p:nvSpPr>
        <p:spPr>
          <a:xfrm>
            <a:off x="1" y="278266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损失景观：最小值点的平坦性</a:t>
            </a:r>
          </a:p>
        </p:txBody>
      </p:sp>
    </p:spTree>
    <p:extLst>
      <p:ext uri="{BB962C8B-B14F-4D97-AF65-F5344CB8AC3E}">
        <p14:creationId xmlns:p14="http://schemas.microsoft.com/office/powerpoint/2010/main" val="555614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平坦解与尖锐解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47"/>
          <a:stretch/>
        </p:blipFill>
        <p:spPr>
          <a:xfrm>
            <a:off x="1098550" y="1238250"/>
            <a:ext cx="9994900" cy="35995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A944E6D-9C69-032D-98E1-2AB5108BA389}"/>
              </a:ext>
            </a:extLst>
          </p:cNvPr>
          <p:cNvSpPr txBox="1"/>
          <p:nvPr/>
        </p:nvSpPr>
        <p:spPr>
          <a:xfrm>
            <a:off x="203218" y="6334780"/>
            <a:ext cx="782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</a:rPr>
              <a:t>Keskar</a:t>
            </a:r>
            <a:r>
              <a:rPr lang="en" altLang="zh-CN" sz="1400" dirty="0">
                <a:solidFill>
                  <a:schemeClr val="bg1"/>
                </a:solidFill>
              </a:rPr>
              <a:t>, Nitish Shirish, et al. "On Large-Batch Training for Deep Learning: Generalization Gap and Sharp Minima." International Conference on Learning Representations. 2016.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6C274F-E099-476B-8C35-A2AFE58C5850}"/>
              </a:ext>
            </a:extLst>
          </p:cNvPr>
          <p:cNvSpPr txBox="1"/>
          <p:nvPr/>
        </p:nvSpPr>
        <p:spPr>
          <a:xfrm>
            <a:off x="9505507" y="5104017"/>
            <a:ext cx="2498652" cy="96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tx2"/>
                </a:solidFill>
              </a:rPr>
              <a:t>Y</a:t>
            </a:r>
            <a:r>
              <a:rPr kumimoji="1" lang="zh-CN" altLang="en-US" sz="2000" dirty="0">
                <a:solidFill>
                  <a:schemeClr val="tx2"/>
                </a:solidFill>
              </a:rPr>
              <a:t>轴为损失函数</a:t>
            </a:r>
            <a:endParaRPr kumimoji="1" lang="en-US" altLang="zh-CN" sz="2000" dirty="0">
              <a:solidFill>
                <a:schemeClr val="tx2"/>
              </a:solidFill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tx2"/>
                </a:solidFill>
              </a:rPr>
              <a:t>X</a:t>
            </a:r>
            <a:r>
              <a:rPr kumimoji="1" lang="zh-CN" altLang="en-US" sz="2000" dirty="0">
                <a:solidFill>
                  <a:schemeClr val="tx2"/>
                </a:solidFill>
              </a:rPr>
              <a:t>轴为参数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405574-260A-4207-E4E3-326C45EE7D3E}"/>
              </a:ext>
            </a:extLst>
          </p:cNvPr>
          <p:cNvSpPr txBox="1"/>
          <p:nvPr/>
        </p:nvSpPr>
        <p:spPr>
          <a:xfrm>
            <a:off x="691376" y="5062654"/>
            <a:ext cx="42883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讨论：选择哪个解比较好？为什么？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AACAA5-3DA8-63A7-FCDA-C814CB3EE451}"/>
              </a:ext>
            </a:extLst>
          </p:cNvPr>
          <p:cNvSpPr txBox="1"/>
          <p:nvPr/>
        </p:nvSpPr>
        <p:spPr>
          <a:xfrm>
            <a:off x="691376" y="5698717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训练集和测试集通常都会有噪音，平坦的解更鲁棒，泛化好。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D3D54-65A1-7BA7-4E06-01322C60E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D823A4E-693F-017F-14E0-2EB93C4C0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平坦解与尖锐解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2F9B144-DC9E-52FF-878D-19801DC990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7847"/>
          <a:stretch/>
        </p:blipFill>
        <p:spPr>
          <a:xfrm>
            <a:off x="1098550" y="1238250"/>
            <a:ext cx="9994900" cy="359956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EDB5FB4-6D08-E551-C9D2-54E9769A5249}"/>
              </a:ext>
            </a:extLst>
          </p:cNvPr>
          <p:cNvSpPr txBox="1"/>
          <p:nvPr/>
        </p:nvSpPr>
        <p:spPr>
          <a:xfrm>
            <a:off x="203218" y="6334780"/>
            <a:ext cx="782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</a:rPr>
              <a:t>Keskar</a:t>
            </a:r>
            <a:r>
              <a:rPr lang="en" altLang="zh-CN" sz="1400" dirty="0">
                <a:solidFill>
                  <a:schemeClr val="bg1"/>
                </a:solidFill>
              </a:rPr>
              <a:t>, Nitish Shirish, et al. "On Large-Batch Training for Deep Learning: Generalization Gap and Sharp Minima." International Conference on Learning Representations. 2016.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AFE2E5-B2EA-5BD9-BDE9-D2EF0888C971}"/>
              </a:ext>
            </a:extLst>
          </p:cNvPr>
          <p:cNvSpPr txBox="1"/>
          <p:nvPr/>
        </p:nvSpPr>
        <p:spPr>
          <a:xfrm>
            <a:off x="9505507" y="5104017"/>
            <a:ext cx="2498652" cy="96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tx2"/>
                </a:solidFill>
              </a:rPr>
              <a:t>Y</a:t>
            </a:r>
            <a:r>
              <a:rPr kumimoji="1" lang="zh-CN" altLang="en-US" sz="2000" dirty="0">
                <a:solidFill>
                  <a:schemeClr val="tx2"/>
                </a:solidFill>
              </a:rPr>
              <a:t>轴为损失函数</a:t>
            </a:r>
            <a:endParaRPr kumimoji="1" lang="en-US" altLang="zh-CN" sz="2000" dirty="0">
              <a:solidFill>
                <a:schemeClr val="tx2"/>
              </a:solidFill>
            </a:endParaRPr>
          </a:p>
          <a:p>
            <a:pPr algn="l">
              <a:lnSpc>
                <a:spcPct val="150000"/>
              </a:lnSpc>
            </a:pPr>
            <a:r>
              <a:rPr kumimoji="1" lang="en-US" altLang="zh-CN" sz="2000" dirty="0">
                <a:solidFill>
                  <a:schemeClr val="tx2"/>
                </a:solidFill>
              </a:rPr>
              <a:t>X</a:t>
            </a:r>
            <a:r>
              <a:rPr kumimoji="1" lang="zh-CN" altLang="en-US" sz="2000" dirty="0">
                <a:solidFill>
                  <a:schemeClr val="tx2"/>
                </a:solidFill>
              </a:rPr>
              <a:t>轴为参数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ECE4A3-8389-1CA5-7198-7AE141208BA5}"/>
              </a:ext>
            </a:extLst>
          </p:cNvPr>
          <p:cNvSpPr txBox="1"/>
          <p:nvPr/>
        </p:nvSpPr>
        <p:spPr>
          <a:xfrm>
            <a:off x="691376" y="5062654"/>
            <a:ext cx="85475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zh-CN" altLang="en-US" sz="2000" dirty="0"/>
              <a:t>讨论：随机梯度下降中，大批量还是小批量的训练选择平坦解？为什么？</a:t>
            </a:r>
          </a:p>
        </p:txBody>
      </p:sp>
    </p:spTree>
    <p:extLst>
      <p:ext uri="{BB962C8B-B14F-4D97-AF65-F5344CB8AC3E}">
        <p14:creationId xmlns:p14="http://schemas.microsoft.com/office/powerpoint/2010/main" val="401786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3A18959-E940-2C60-EFA4-EF5BC1BB4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实验例子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490D69-78AC-FB55-7BB8-9E0C54B0B97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1163" y="786184"/>
            <a:ext cx="6914990" cy="46282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AD0E722-9079-8E91-D414-38D17989C14C}"/>
              </a:ext>
            </a:extLst>
          </p:cNvPr>
          <p:cNvSpPr txBox="1"/>
          <p:nvPr/>
        </p:nvSpPr>
        <p:spPr>
          <a:xfrm>
            <a:off x="158467" y="6334780"/>
            <a:ext cx="782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</a:rPr>
              <a:t>Keskar</a:t>
            </a:r>
            <a:r>
              <a:rPr lang="en" altLang="zh-CN" sz="1400" dirty="0">
                <a:solidFill>
                  <a:schemeClr val="bg1"/>
                </a:solidFill>
              </a:rPr>
              <a:t>, Nitish Shirish, et al. "On Large-Batch Training for Deep Learning: Generalization Gap and Sharp Minima." International Conference on Learning Representations. 2016.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83543A-8F41-CCE9-11D9-896122CE1028}"/>
                  </a:ext>
                </a:extLst>
              </p:cNvPr>
              <p:cNvSpPr txBox="1"/>
              <p:nvPr/>
            </p:nvSpPr>
            <p:spPr>
              <a:xfrm>
                <a:off x="6227064" y="2756595"/>
                <a:ext cx="5964936" cy="11390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sz="24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SB</a:t>
                </a:r>
                <a:r>
                  <a:rPr kumimoji="1" lang="zh-CN" alt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得到的对应解</a:t>
                </a: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  <m:sup>
                        <m: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bSup>
                  </m:oMath>
                </a14:m>
                <a:endParaRPr kumimoji="1" lang="en-US" altLang="zh-CN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342900" indent="-342900" algn="ctr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CN" alt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LB </a:t>
                </a:r>
                <a:r>
                  <a:rPr kumimoji="1" lang="zh-CN" altLang="en-US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得到的对应解</a:t>
                </a:r>
                <a:r>
                  <a:rPr kumimoji="1" lang="en-US" altLang="zh-CN" sz="24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kumimoji="1" lang="en-US" altLang="zh-CN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bSup>
                  </m:oMath>
                </a14:m>
                <a:endParaRPr kumimoji="1" lang="zh-CN" altLang="en-US" sz="2400" dirty="0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083543A-8F41-CCE9-11D9-896122CE1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064" y="2756595"/>
                <a:ext cx="5964936" cy="1139030"/>
              </a:xfrm>
              <a:prstGeom prst="rect">
                <a:avLst/>
              </a:prstGeom>
              <a:blipFill>
                <a:blip r:embed="rId5"/>
                <a:stretch>
                  <a:fillRect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9FA05945-3C19-286F-B306-E2F7899028EA}"/>
              </a:ext>
            </a:extLst>
          </p:cNvPr>
          <p:cNvSpPr txBox="1"/>
          <p:nvPr/>
        </p:nvSpPr>
        <p:spPr>
          <a:xfrm>
            <a:off x="7251045" y="3898110"/>
            <a:ext cx="4290165" cy="1134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2400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SB</a:t>
            </a:r>
            <a:r>
              <a:rPr lang="zh-CN" altLang="en-US" sz="2400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为 小批量 </a:t>
            </a:r>
            <a:r>
              <a:rPr lang="en-US" altLang="zh-CN" sz="2400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256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242C2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LB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为 大批量 总样本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/10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C12D5EE-0056-0D65-4EE4-BA2340524D37}"/>
                  </a:ext>
                </a:extLst>
              </p:cNvPr>
              <p:cNvSpPr txBox="1"/>
              <p:nvPr/>
            </p:nvSpPr>
            <p:spPr>
              <a:xfrm>
                <a:off x="1527048" y="5627136"/>
                <a:ext cx="44714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zh-CN" altLang="en-US" sz="2000" dirty="0"/>
                  <a:t>一维线性插值：</a:t>
                </a:r>
                <a14:m>
                  <m:oMath xmlns:m="http://schemas.openxmlformats.org/officeDocument/2006/math"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sSubSup>
                      <m:sSubSup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3C12D5EE-0056-0D65-4EE4-BA2340524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048" y="5627136"/>
                <a:ext cx="4471416" cy="400110"/>
              </a:xfrm>
              <a:prstGeom prst="rect">
                <a:avLst/>
              </a:prstGeom>
              <a:blipFill>
                <a:blip r:embed="rId6"/>
                <a:stretch>
                  <a:fillRect l="-1416" t="-15625" b="-1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79AF1216-359B-7314-2F81-ABE6E786AA29}"/>
              </a:ext>
            </a:extLst>
          </p:cNvPr>
          <p:cNvSpPr txBox="1"/>
          <p:nvPr/>
        </p:nvSpPr>
        <p:spPr>
          <a:xfrm>
            <a:off x="7406034" y="1393488"/>
            <a:ext cx="3739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2400" dirty="0"/>
              <a:t>数据：</a:t>
            </a:r>
            <a:r>
              <a:rPr kumimoji="1" lang="en-US" altLang="zh-CN" sz="2400" dirty="0"/>
              <a:t>CIFAR100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pPr algn="l"/>
            <a:r>
              <a:rPr kumimoji="1" lang="zh-CN" altLang="en-US" sz="2400" dirty="0"/>
              <a:t>优化器：</a:t>
            </a:r>
            <a:r>
              <a:rPr kumimoji="1" lang="en-US" altLang="zh-CN" sz="2400" dirty="0"/>
              <a:t>ADAM</a:t>
            </a:r>
            <a:r>
              <a:rPr kumimoji="1" lang="zh-CN" altLang="en-US" sz="2400" dirty="0"/>
              <a:t> </a:t>
            </a:r>
            <a:endParaRPr kumimoji="1" lang="en-US" altLang="zh-CN" sz="2400" dirty="0"/>
          </a:p>
          <a:p>
            <a:pPr algn="l"/>
            <a:r>
              <a:rPr kumimoji="1" lang="zh-CN" altLang="en-US" sz="2400" dirty="0"/>
              <a:t>网络结构：</a:t>
            </a:r>
            <a:r>
              <a:rPr kumimoji="1" lang="en-US" altLang="zh-CN" sz="2400" dirty="0"/>
              <a:t>CNN</a:t>
            </a:r>
            <a:endParaRPr kumimoji="1"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82556C-01C1-3C75-2340-D11F5E8B83B1}"/>
                  </a:ext>
                </a:extLst>
              </p:cNvPr>
              <p:cNvSpPr txBox="1"/>
              <p:nvPr/>
            </p:nvSpPr>
            <p:spPr>
              <a:xfrm>
                <a:off x="1527048" y="4983035"/>
                <a:ext cx="2101850" cy="336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CN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zh-CN" alt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 </a:t>
                </a:r>
                <a:r>
                  <a:rPr kumimoji="1" lang="en-US" altLang="zh-CN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SB</a:t>
                </a:r>
                <a:r>
                  <a:rPr kumimoji="1" lang="zh-CN" alt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对应解</a:t>
                </a:r>
                <a:r>
                  <a:rPr kumimoji="1" lang="en-US" altLang="zh-CN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𝑠</m:t>
                        </m:r>
                      </m:sub>
                      <m:sup>
                        <m: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bSup>
                  </m:oMath>
                </a14:m>
                <a:endParaRPr kumimoji="1"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F182556C-01C1-3C75-2340-D11F5E8B8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048" y="4983035"/>
                <a:ext cx="2101850" cy="336567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C17EF2-A5A6-11A8-E899-E9E436103DD1}"/>
                  </a:ext>
                </a:extLst>
              </p:cNvPr>
              <p:cNvSpPr txBox="1"/>
              <p:nvPr/>
            </p:nvSpPr>
            <p:spPr>
              <a:xfrm>
                <a:off x="3762756" y="4999070"/>
                <a:ext cx="2101850" cy="3466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kumimoji="1" lang="en-US" altLang="zh-CN" sz="12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CN" sz="12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CN" alt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， </a:t>
                </a:r>
                <a:r>
                  <a:rPr kumimoji="1" lang="en-US" altLang="zh-CN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LB</a:t>
                </a:r>
                <a:r>
                  <a:rPr kumimoji="1" lang="zh-CN" altLang="en-US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对应解</a:t>
                </a:r>
                <a:r>
                  <a:rPr kumimoji="1" lang="en-US" altLang="zh-CN" sz="1200" dirty="0">
                    <a:solidFill>
                      <a:schemeClr val="tx2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bSupPr>
                      <m:e>
                        <m: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𝑥</m:t>
                        </m:r>
                      </m:e>
                      <m:sub>
                        <m: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𝑙</m:t>
                        </m:r>
                      </m:sub>
                      <m:sup>
                        <m:r>
                          <a:rPr kumimoji="1" lang="en-US" altLang="zh-CN" sz="12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∗</m:t>
                        </m:r>
                      </m:sup>
                    </m:sSubSup>
                  </m:oMath>
                </a14:m>
                <a:endParaRPr kumimoji="1" lang="en-US" altLang="zh-CN" sz="1200" dirty="0">
                  <a:solidFill>
                    <a:schemeClr val="tx2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88C17EF2-A5A6-11A8-E899-E9E436103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756" y="4999070"/>
                <a:ext cx="2101850" cy="346698"/>
              </a:xfrm>
              <a:prstGeom prst="rect">
                <a:avLst/>
              </a:prstGeom>
              <a:blipFill>
                <a:blip r:embed="rId8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7186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6DD79-76D6-E74B-336A-F97C2E05F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更多实验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FA16198-56DC-9F9C-0097-757E5431954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447999"/>
            <a:ext cx="12353900" cy="3671595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7CF80BD-345E-DD21-4E3A-F0F3AE932917}"/>
              </a:ext>
            </a:extLst>
          </p:cNvPr>
          <p:cNvSpPr txBox="1"/>
          <p:nvPr/>
        </p:nvSpPr>
        <p:spPr>
          <a:xfrm>
            <a:off x="158467" y="6334780"/>
            <a:ext cx="782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</a:rPr>
              <a:t>Keskar</a:t>
            </a:r>
            <a:r>
              <a:rPr lang="en" altLang="zh-CN" sz="1400" dirty="0">
                <a:solidFill>
                  <a:schemeClr val="bg1"/>
                </a:solidFill>
              </a:rPr>
              <a:t>, Nitish Shirish, et al. "On Large-Batch Training for Deep Learning: Generalization Gap and Sharp Minima." International Conference on Learning Representations. 2016.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04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CC2BC3-FFEF-1A29-E3A6-A535BE25A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更多实验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2A9F976-9079-DA1B-F469-C92EDDF0DCF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093"/>
          <a:stretch/>
        </p:blipFill>
        <p:spPr>
          <a:xfrm>
            <a:off x="-85" y="1292517"/>
            <a:ext cx="12252790" cy="305821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DDCFC76-74D1-6D08-5811-FA3947BA69D1}"/>
              </a:ext>
            </a:extLst>
          </p:cNvPr>
          <p:cNvSpPr txBox="1"/>
          <p:nvPr/>
        </p:nvSpPr>
        <p:spPr>
          <a:xfrm>
            <a:off x="158467" y="6334780"/>
            <a:ext cx="7829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400" dirty="0" err="1">
                <a:solidFill>
                  <a:schemeClr val="bg1"/>
                </a:solidFill>
              </a:rPr>
              <a:t>Keskar</a:t>
            </a:r>
            <a:r>
              <a:rPr lang="en" altLang="zh-CN" sz="1400" dirty="0">
                <a:solidFill>
                  <a:schemeClr val="bg1"/>
                </a:solidFill>
              </a:rPr>
              <a:t>, Nitish Shirish, et al. "On Large-Batch Training for Deep Learning: Generalization Gap and Sharp Minima." International Conference on Learning Representations. 2016.</a:t>
            </a:r>
            <a:endParaRPr kumimoji="1"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5376DCA-AF9D-CB8D-B81E-B90318C1C77C}"/>
              </a:ext>
            </a:extLst>
          </p:cNvPr>
          <p:cNvSpPr txBox="1"/>
          <p:nvPr/>
        </p:nvSpPr>
        <p:spPr>
          <a:xfrm>
            <a:off x="698863" y="4739049"/>
            <a:ext cx="612648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1800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SB </a:t>
            </a:r>
            <a:r>
              <a:rPr lang="zh-CN" altLang="en-US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 小批量   </a:t>
            </a:r>
            <a:r>
              <a:rPr lang="en-US" altLang="zh-CN" sz="1800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256</a:t>
            </a:r>
            <a:r>
              <a:rPr lang="zh-CN" altLang="en-US" sz="1800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个训练数据为一个批次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 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LB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为 </a:t>
            </a:r>
            <a:r>
              <a:rPr lang="zh-CN" altLang="en-US" dirty="0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大批量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10%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42C2D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的训练数据为一个</a:t>
            </a:r>
            <a:r>
              <a:rPr lang="zh-CN" altLang="en-US">
                <a:solidFill>
                  <a:srgbClr val="242C2D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批次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242C2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0445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0E958-5699-477D-842D-A59481E567C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2889250"/>
            <a:ext cx="12192000" cy="617538"/>
          </a:xfrm>
        </p:spPr>
        <p:txBody>
          <a:bodyPr/>
          <a:lstStyle/>
          <a:p>
            <a:pPr algn="ctr"/>
            <a:r>
              <a:rPr lang="zh-CN" altLang="en-US" b="1" dirty="0"/>
              <a:t>稳定边缘现象 </a:t>
            </a:r>
            <a:r>
              <a:rPr lang="en-US" altLang="zh-CN" b="1" dirty="0"/>
              <a:t>(Edge of stability)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4357993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稳定性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F9BAB05-7CE1-31B6-50B6-A45DBD678083}"/>
                  </a:ext>
                </a:extLst>
              </p:cNvPr>
              <p:cNvSpPr txBox="1"/>
              <p:nvPr/>
            </p:nvSpPr>
            <p:spPr>
              <a:xfrm>
                <a:off x="3390940" y="806368"/>
                <a:ext cx="4203119" cy="44210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黑体"/>
                    <a:cs typeface="+mn-cs"/>
                  </a:rPr>
                  <a:t>考虑一个二次函数：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42C2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L</m:t>
                    </m:r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42C2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1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242C2D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𝜆</m:t>
                    </m:r>
                    <m:sSup>
                      <m:sSupPr>
                        <m:ctrlP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pPr>
                      <m:e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𝜃</m:t>
                        </m:r>
                      </m:e>
                      <m:sup>
                        <m:r>
                          <a:rPr kumimoji="1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242C2D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/>
                    <a:ea typeface="黑体"/>
                    <a:cs typeface="+mn-cs"/>
                  </a:rPr>
                  <a:t>其梯度下降可以表示为：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+1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</m:t>
                      </m:r>
                      <m:f>
                        <m:f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</m:t>
                          </m:r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𝐿</m:t>
                          </m:r>
                        </m:num>
                        <m:den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𝜕𝜃</m:t>
                          </m:r>
                        </m:den>
                      </m:f>
                    </m:oMath>
                  </m:oMathPara>
                </a14:m>
                <a:endPara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  <m:r>
                        <a:rPr kumimoji="1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𝜂𝜆</m:t>
                      </m:r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Cambria Math" panose="02040503050406030204" pitchFamily="18" charset="0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𝜂𝜆</m:t>
                          </m:r>
                        </m:e>
                      </m:d>
                      <m:sSub>
                        <m:sSub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𝜃</m:t>
                          </m:r>
                        </m:e>
                        <m:sub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 panose="02040602050305030304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AF9BAB05-7CE1-31B6-50B6-A45DBD678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0940" y="806368"/>
                <a:ext cx="4203119" cy="4421018"/>
              </a:xfrm>
              <a:prstGeom prst="rect">
                <a:avLst/>
              </a:prstGeom>
              <a:blipFill>
                <a:blip r:embed="rId3"/>
                <a:stretch>
                  <a:fillRect l="-18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FA0A62-EBBA-0029-E2C0-D3B8CE028457}"/>
                  </a:ext>
                </a:extLst>
              </p:cNvPr>
              <p:cNvSpPr txBox="1"/>
              <p:nvPr/>
            </p:nvSpPr>
            <p:spPr>
              <a:xfrm>
                <a:off x="7707086" y="761105"/>
                <a:ext cx="4367214" cy="4734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marR="0" lvl="0" indent="-45720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 panose="02040602050305030304"/>
                    <a:ea typeface="黑体" panose="02010609060101010101" charset="-122"/>
                    <a:cs typeface="+mn-cs"/>
                  </a:rPr>
                  <a:t>如果我们要保证这个迭代过程不会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Book Antiqua" panose="02040602050305030304"/>
                    <a:ea typeface="黑体" panose="02010609060101010101" charset="-122"/>
                    <a:cs typeface="+mn-cs"/>
                  </a:rPr>
                  <a:t>爆炸</a:t>
                </a:r>
                <a:r>
                  <a:rPr kumimoji="1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2C2D"/>
                    </a:solidFill>
                    <a:effectLst/>
                    <a:uLnTx/>
                    <a:uFillTx/>
                    <a:latin typeface="Book Antiqua" panose="02040602050305030304"/>
                    <a:ea typeface="黑体" panose="02010609060101010101" charset="-122"/>
                    <a:cs typeface="+mn-cs"/>
                  </a:rPr>
                  <a:t>：</a:t>
                </a:r>
                <a:endPara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 panose="02040602050305030304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  <m:r>
                                <a:rPr kumimoji="1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&lt;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242C2D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 panose="02040602050305030304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1−</m:t>
                          </m:r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𝜂𝜆</m:t>
                          </m:r>
                        </m:e>
                      </m:d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&lt;1</m:t>
                      </m:r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 panose="02040602050305030304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−1&lt;1−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𝜂𝜆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&lt;1</m:t>
                      </m:r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 panose="02040602050305030304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𝜂𝜆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&lt;2</m:t>
                      </m:r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42C2D"/>
                  </a:solidFill>
                  <a:effectLst/>
                  <a:uLnTx/>
                  <a:uFillTx/>
                  <a:latin typeface="Book Antiqua" panose="02040602050305030304"/>
                  <a:ea typeface="黑体" panose="02010609060101010101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𝜂</m:t>
                      </m:r>
                      <m:r>
                        <a:rPr kumimoji="1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242C2D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&lt;</m:t>
                      </m:r>
                      <m:f>
                        <m:fPr>
                          <m:ctrlP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fPr>
                        <m:num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num>
                        <m:den>
                          <m:r>
                            <a:rPr kumimoji="1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242C2D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B61616"/>
                  </a:solidFill>
                  <a:effectLst/>
                  <a:uLnTx/>
                  <a:uFillTx/>
                  <a:latin typeface="Book Antiqua"/>
                  <a:ea typeface="黑体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FFA0A62-EBBA-0029-E2C0-D3B8CE028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7086" y="761105"/>
                <a:ext cx="4367214" cy="4734116"/>
              </a:xfrm>
              <a:prstGeom prst="rect">
                <a:avLst/>
              </a:prstGeom>
              <a:blipFill>
                <a:blip r:embed="rId4"/>
                <a:stretch>
                  <a:fillRect l="-1813" r="-9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9107D1D9-CA65-FD21-612B-57DE23463ACE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66"/>
          <a:stretch/>
        </p:blipFill>
        <p:spPr>
          <a:xfrm>
            <a:off x="-19781" y="1627575"/>
            <a:ext cx="3270459" cy="299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858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8DFC-A32A-9F3C-8517-6808FDFD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损失景观：最小值点的平坦性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07ACC17-7270-C48D-5124-34DD68B3B8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86"/>
          <a:stretch>
            <a:fillRect/>
          </a:stretch>
        </p:blipFill>
        <p:spPr>
          <a:xfrm>
            <a:off x="544153" y="1062506"/>
            <a:ext cx="11006459" cy="3952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54FF93B-942E-9DF2-25C5-E02AEE78B256}"/>
                  </a:ext>
                </a:extLst>
              </p:cNvPr>
              <p:cNvSpPr txBox="1"/>
              <p:nvPr/>
            </p:nvSpPr>
            <p:spPr>
              <a:xfrm>
                <a:off x="1970117" y="4904255"/>
                <a:ext cx="193662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zh-CN" altLang="en-US" sz="2000" dirty="0"/>
                  <a:t> 越小，越平坦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54FF93B-942E-9DF2-25C5-E02AEE78B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0117" y="4904255"/>
                <a:ext cx="1936620" cy="400110"/>
              </a:xfrm>
              <a:prstGeom prst="rect">
                <a:avLst/>
              </a:prstGeom>
              <a:blipFill>
                <a:blip r:embed="rId3"/>
                <a:stretch>
                  <a:fillRect t="-13846" r="-2830" b="-23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7567FB4-ACE2-8009-51FD-412311E09BF3}"/>
                  </a:ext>
                </a:extLst>
              </p:cNvPr>
              <p:cNvSpPr txBox="1"/>
              <p:nvPr/>
            </p:nvSpPr>
            <p:spPr>
              <a:xfrm>
                <a:off x="1751527" y="5322108"/>
                <a:ext cx="9388698" cy="874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sz="2000" dirty="0"/>
                  <a:t>实验发现：损失函数有多个不同解，每个解的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2000" dirty="0"/>
                  <a:t>不一样，训练找到的解经常满足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~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lit/>
                          </m:r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den>
                    </m:f>
                  </m:oMath>
                </a14:m>
                <a:r>
                  <a:rPr lang="en-US" altLang="zh-CN" sz="2000" dirty="0"/>
                  <a:t>. </a:t>
                </a:r>
                <a:r>
                  <a:rPr lang="zh-CN" altLang="en-US" sz="2000" dirty="0"/>
                  <a:t>越大的学习率，找到的解越平坦。但学习率也不能太大。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7567FB4-ACE2-8009-51FD-412311E09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1527" y="5322108"/>
                <a:ext cx="9388698" cy="874470"/>
              </a:xfrm>
              <a:prstGeom prst="rect">
                <a:avLst/>
              </a:prstGeom>
              <a:blipFill>
                <a:blip r:embed="rId4"/>
                <a:stretch>
                  <a:fillRect l="-649" t="-4895" b="-13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0401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4359E-2631-0D89-9566-982FB4517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18772E-C3C7-0763-BD08-2CDEE052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损失景观：最小值点的平坦性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62CE652-A35B-A31C-5BD8-71B53FAEF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72" y="924543"/>
            <a:ext cx="4505587" cy="50089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862DD1-DEF1-47D0-F49A-BFE9CD2E6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8532" y="1546430"/>
            <a:ext cx="5354527" cy="13875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BED3FF-3A79-2554-517C-59DA9A4301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0403" y="3129164"/>
            <a:ext cx="6333482" cy="40118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8D73576-26B7-AFCF-18CF-A0E96847101B}"/>
              </a:ext>
            </a:extLst>
          </p:cNvPr>
          <p:cNvSpPr txBox="1"/>
          <p:nvPr/>
        </p:nvSpPr>
        <p:spPr>
          <a:xfrm>
            <a:off x="6477625" y="3718385"/>
            <a:ext cx="48654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2000" dirty="0"/>
              <a:t>Hessian </a:t>
            </a:r>
            <a:r>
              <a:rPr lang="zh-CN" altLang="en-US" sz="2000" dirty="0"/>
              <a:t>矩阵的特征值反映函数的平坦性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86138E-7E4A-75D2-0A1A-A65449610E3E}"/>
              </a:ext>
            </a:extLst>
          </p:cNvPr>
          <p:cNvSpPr txBox="1"/>
          <p:nvPr/>
        </p:nvSpPr>
        <p:spPr>
          <a:xfrm>
            <a:off x="5715832" y="4472742"/>
            <a:ext cx="609492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2"/>
                </a:solidFill>
              </a:rPr>
              <a:t>用Hessian矩阵的最大特征刻画神经网络局部极小点附近损失景观的平坦程度。</a:t>
            </a:r>
            <a:endParaRPr lang="en-US" altLang="zh-CN" sz="2000" dirty="0">
              <a:solidFill>
                <a:schemeClr val="tx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F34C8E-BEB3-8309-1A72-88681FE98860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3061021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349C7-2C9E-47D0-940E-AFFAB2269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稳定边缘现象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562E9F7-C258-DB8B-7559-9602B8744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90930"/>
            <a:ext cx="12192000" cy="26627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55093C5-E16B-33E6-DE79-044C673FB310}"/>
                  </a:ext>
                </a:extLst>
              </p:cNvPr>
              <p:cNvSpPr txBox="1"/>
              <p:nvPr/>
            </p:nvSpPr>
            <p:spPr>
              <a:xfrm>
                <a:off x="446809" y="977777"/>
                <a:ext cx="11290762" cy="1956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2"/>
                    </a:solidFill>
                  </a:rPr>
                  <a:t>用Hessian矩阵的最大特征刻画神经网络局部极小点附近损失景观的平坦程度。</a:t>
                </a:r>
                <a:endParaRPr lang="en-US" altLang="zh-CN" sz="2400" dirty="0">
                  <a:solidFill>
                    <a:schemeClr val="tx2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2"/>
                    </a:solidFill>
                  </a:rPr>
                  <a:t>类似地，梯度下降的稳定性条件变为:</a:t>
                </a:r>
                <a:endParaRPr lang="en-US" altLang="zh-CN" sz="24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zh-CN" altLang="en-US" sz="2400" dirty="0">
                    <a:solidFill>
                      <a:schemeClr val="tx2"/>
                    </a:solidFill>
                  </a:rPr>
                  <a:t>  为学习率。下图第二、三行为相应实验的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chemeClr val="tx2"/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55093C5-E16B-33E6-DE79-044C673FB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9" y="977777"/>
                <a:ext cx="11290762" cy="1956754"/>
              </a:xfrm>
              <a:prstGeom prst="rect">
                <a:avLst/>
              </a:prstGeom>
              <a:blipFill>
                <a:blip r:embed="rId5"/>
                <a:stretch>
                  <a:fillRect l="-810" t="-4050" b="-46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40055B-8A68-AF27-23E5-921476894849}"/>
                  </a:ext>
                </a:extLst>
              </p:cNvPr>
              <p:cNvSpPr txBox="1"/>
              <p:nvPr/>
            </p:nvSpPr>
            <p:spPr>
              <a:xfrm>
                <a:off x="0" y="5653671"/>
                <a:ext cx="121920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800" dirty="0"/>
                  <a:t>训练收敛到的最小值点的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2/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CN" sz="2800" dirty="0"/>
                  <a:t>, </a:t>
                </a:r>
                <a:r>
                  <a:rPr lang="zh-CN" altLang="en-US" sz="2800" dirty="0"/>
                  <a:t>处于稳定边缘！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440055B-8A68-AF27-23E5-921476894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53671"/>
                <a:ext cx="12192000" cy="523220"/>
              </a:xfrm>
              <a:prstGeom prst="rect">
                <a:avLst/>
              </a:prstGeom>
              <a:blipFill>
                <a:blip r:embed="rId6"/>
                <a:stretch>
                  <a:fillRect t="-17442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E6D62A43-5C83-52CA-146B-2B6BBF16BAF8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2493771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F391E-2533-168A-B2F0-60FC218A5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ED1268-7ADD-2764-912D-B927F3CAD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稳定边缘现象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C463CB4-7B15-AD2E-A291-DA825C702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857" y="2571086"/>
            <a:ext cx="10542321" cy="35660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9D85A85-791B-8888-2EA9-3D7A3403D8D3}"/>
                  </a:ext>
                </a:extLst>
              </p:cNvPr>
              <p:cNvSpPr txBox="1"/>
              <p:nvPr/>
            </p:nvSpPr>
            <p:spPr>
              <a:xfrm>
                <a:off x="446809" y="977777"/>
                <a:ext cx="11290762" cy="19567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solidFill>
                      <a:schemeClr val="tx2"/>
                    </a:solidFill>
                  </a:rPr>
                  <a:t>用Hessian矩阵的最大特征刻画神经网络局部极小点附近损失景观的平坦程度。</a:t>
                </a:r>
                <a:endParaRPr lang="en-US" altLang="zh-CN" sz="2400" dirty="0">
                  <a:solidFill>
                    <a:schemeClr val="tx2"/>
                  </a:solidFill>
                </a:endParaRPr>
              </a:p>
              <a:p>
                <a:r>
                  <a:rPr lang="zh-CN" altLang="en-US" sz="2400" dirty="0">
                    <a:solidFill>
                      <a:schemeClr val="tx2"/>
                    </a:solidFill>
                  </a:rPr>
                  <a:t>类似地，梯度下降的稳定性条件变为:</a:t>
                </a:r>
                <a:endParaRPr lang="en-US" altLang="zh-CN" sz="24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den>
                      </m:f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zh-CN" alt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59D85A85-791B-8888-2EA9-3D7A3403D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809" y="977777"/>
                <a:ext cx="11290762" cy="1956754"/>
              </a:xfrm>
              <a:prstGeom prst="rect">
                <a:avLst/>
              </a:prstGeom>
              <a:blipFill>
                <a:blip r:embed="rId5"/>
                <a:stretch>
                  <a:fillRect l="-810" t="-40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2899A92-DACC-1F46-2751-3A6CE43DB0D2}"/>
                  </a:ext>
                </a:extLst>
              </p:cNvPr>
              <p:cNvSpPr txBox="1"/>
              <p:nvPr/>
            </p:nvSpPr>
            <p:spPr>
              <a:xfrm>
                <a:off x="0" y="2831241"/>
                <a:ext cx="212218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 dirty="0"/>
                  <a:t>损失函数</a:t>
                </a:r>
                <a:endParaRPr lang="en-US" altLang="zh-CN" sz="2000" dirty="0"/>
              </a:p>
              <a:p>
                <a:pPr algn="l"/>
                <a:r>
                  <a:rPr lang="zh-CN" altLang="en-US" sz="2000" dirty="0"/>
                  <a:t>不同颜色用不同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2899A92-DACC-1F46-2751-3A6CE43DB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31241"/>
                <a:ext cx="2122184" cy="707886"/>
              </a:xfrm>
              <a:prstGeom prst="rect">
                <a:avLst/>
              </a:prstGeom>
              <a:blipFill>
                <a:blip r:embed="rId6"/>
                <a:stretch>
                  <a:fillRect l="-2874" t="-6838"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840FD48-B24D-9484-C15C-45F2FF7B3551}"/>
                  </a:ext>
                </a:extLst>
              </p:cNvPr>
              <p:cNvSpPr txBox="1"/>
              <p:nvPr/>
            </p:nvSpPr>
            <p:spPr>
              <a:xfrm>
                <a:off x="307571" y="4335781"/>
                <a:ext cx="134953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2000" dirty="0"/>
                  <a:t>点：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algn="l"/>
                <a:r>
                  <a:rPr lang="zh-CN" altLang="en-US" sz="2000" dirty="0"/>
                  <a:t>虚线：</a:t>
                </a:r>
                <a:r>
                  <a:rPr lang="en-US" altLang="zh-CN" sz="2000" dirty="0"/>
                  <a:t>2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840FD48-B24D-9484-C15C-45F2FF7B3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571" y="4335781"/>
                <a:ext cx="1349537" cy="707886"/>
              </a:xfrm>
              <a:prstGeom prst="rect">
                <a:avLst/>
              </a:prstGeom>
              <a:blipFill>
                <a:blip r:embed="rId7"/>
                <a:stretch>
                  <a:fillRect l="-4505" t="-6897" b="-163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1040CBB8-44D6-1197-8BD0-E67DE0A89127}"/>
              </a:ext>
            </a:extLst>
          </p:cNvPr>
          <p:cNvSpPr txBox="1"/>
          <p:nvPr/>
        </p:nvSpPr>
        <p:spPr>
          <a:xfrm>
            <a:off x="10351980" y="44862"/>
            <a:ext cx="18400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800" dirty="0">
                <a:solidFill>
                  <a:schemeClr val="bg1">
                    <a:lumMod val="65000"/>
                  </a:schemeClr>
                </a:solidFill>
              </a:rPr>
              <a:t>阅读材料</a:t>
            </a:r>
          </a:p>
        </p:txBody>
      </p:sp>
    </p:spTree>
    <p:extLst>
      <p:ext uri="{BB962C8B-B14F-4D97-AF65-F5344CB8AC3E}">
        <p14:creationId xmlns:p14="http://schemas.microsoft.com/office/powerpoint/2010/main" val="41290703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32C1D-DF60-D4A1-23CA-DD7E3664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更多的技巧提升解的平坦性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0BDFBC-8A2E-CCBA-662F-B662C1958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小批次找到的解更平坦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学习率越（合理的）大，找到的解越平坦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dirty="0"/>
              <a:t>Dropout</a:t>
            </a:r>
            <a:r>
              <a:rPr lang="zh-CN" altLang="en-US" dirty="0"/>
              <a:t>算法找到解更平坦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6545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8555F-1597-E589-FE4E-C51EC1780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1950FEC2-73DC-DE13-F18E-157D379B4EB5}"/>
              </a:ext>
            </a:extLst>
          </p:cNvPr>
          <p:cNvSpPr txBox="1"/>
          <p:nvPr/>
        </p:nvSpPr>
        <p:spPr>
          <a:xfrm>
            <a:off x="0" y="2711565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提供的代码可以复现一维凝聚现象的实验</a:t>
            </a:r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3600" b="1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E789B5-062B-3146-A0DA-0CDA7C60F7DC}"/>
              </a:ext>
            </a:extLst>
          </p:cNvPr>
          <p:cNvSpPr txBox="1"/>
          <p:nvPr/>
        </p:nvSpPr>
        <p:spPr>
          <a:xfrm>
            <a:off x="63500" y="6435334"/>
            <a:ext cx="79243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 </a:t>
            </a:r>
            <a:r>
              <a:rPr lang="en-US" altLang="zh-CN" sz="1400" dirty="0">
                <a:solidFill>
                  <a:schemeClr val="bg1"/>
                </a:solidFill>
              </a:rPr>
              <a:t>《</a:t>
            </a:r>
            <a:r>
              <a:rPr lang="zh-CN" altLang="en-US" sz="1400" dirty="0">
                <a:solidFill>
                  <a:schemeClr val="bg1"/>
                </a:solidFill>
              </a:rPr>
              <a:t>深度学习现象导论</a:t>
            </a:r>
            <a:r>
              <a:rPr lang="en-US" altLang="zh-CN" sz="1400" dirty="0">
                <a:solidFill>
                  <a:schemeClr val="bg1"/>
                </a:solidFill>
              </a:rPr>
              <a:t>》 </a:t>
            </a:r>
            <a:r>
              <a:rPr lang="zh-CN" altLang="en-US" sz="1400" dirty="0">
                <a:solidFill>
                  <a:schemeClr val="bg1"/>
                </a:solidFill>
              </a:rPr>
              <a:t>许志钦、张耀宇</a:t>
            </a:r>
          </a:p>
        </p:txBody>
      </p:sp>
    </p:spTree>
    <p:extLst>
      <p:ext uri="{BB962C8B-B14F-4D97-AF65-F5344CB8AC3E}">
        <p14:creationId xmlns:p14="http://schemas.microsoft.com/office/powerpoint/2010/main" val="26958369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0|9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|34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7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5|93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9.6|12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2.9"/>
</p:tagLst>
</file>

<file path=ppt/theme/theme1.xml><?xml version="1.0" encoding="utf-8"?>
<a:theme xmlns:a="http://schemas.openxmlformats.org/drawingml/2006/main" name="1_自定义设计方案">
  <a:themeElements>
    <a:clrScheme name="潘冬远waxy">
      <a:dk1>
        <a:srgbClr val="B61616"/>
      </a:dk1>
      <a:lt1>
        <a:srgbClr val="FFFFFF"/>
      </a:lt1>
      <a:dk2>
        <a:srgbClr val="242C2D"/>
      </a:dk2>
      <a:lt2>
        <a:srgbClr val="133984"/>
      </a:lt2>
      <a:accent1>
        <a:srgbClr val="D73C1E"/>
      </a:accent1>
      <a:accent2>
        <a:srgbClr val="3769AF"/>
      </a:accent2>
      <a:accent3>
        <a:srgbClr val="EBAA05"/>
      </a:accent3>
      <a:accent4>
        <a:srgbClr val="A0B932"/>
      </a:accent4>
      <a:accent5>
        <a:srgbClr val="82B9BE"/>
      </a:accent5>
      <a:accent6>
        <a:srgbClr val="B4915F"/>
      </a:accent6>
      <a:hlink>
        <a:srgbClr val="196E7D"/>
      </a:hlink>
      <a:folHlink>
        <a:srgbClr val="BEBEBE"/>
      </a:folHlink>
    </a:clrScheme>
    <a:fontScheme name="SJTU标准I">
      <a:majorFont>
        <a:latin typeface="Book Antiqua"/>
        <a:ea typeface="黑体"/>
        <a:cs typeface=""/>
      </a:majorFont>
      <a:minorFont>
        <a:latin typeface="Book Antiqua"/>
        <a:ea typeface="黑体"/>
        <a:cs typeface=""/>
      </a:minorFont>
    </a:fontScheme>
    <a:fmtScheme name="光面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38100">
          <a:solidFill>
            <a:srgbClr val="C0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5624</TotalTime>
  <Words>2943</Words>
  <Application>Microsoft Office PowerPoint</Application>
  <PresentationFormat>宽屏</PresentationFormat>
  <Paragraphs>275</Paragraphs>
  <Slides>40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等线</vt:lpstr>
      <vt:lpstr>等线 Light</vt:lpstr>
      <vt:lpstr>黑体</vt:lpstr>
      <vt:lpstr>Microsoft YaHei</vt:lpstr>
      <vt:lpstr>Microsoft YaHei</vt:lpstr>
      <vt:lpstr>Arial</vt:lpstr>
      <vt:lpstr>Book Antiqua</vt:lpstr>
      <vt:lpstr>Calibri</vt:lpstr>
      <vt:lpstr>Cambria Math</vt:lpstr>
      <vt:lpstr>Times New Roman</vt:lpstr>
      <vt:lpstr>1_自定义设计方案</vt:lpstr>
      <vt:lpstr>PowerPoint 演示文稿</vt:lpstr>
      <vt:lpstr>目标</vt:lpstr>
      <vt:lpstr>目录</vt:lpstr>
      <vt:lpstr>PowerPoint 演示文稿</vt:lpstr>
      <vt:lpstr>PowerPoint 演示文稿</vt:lpstr>
      <vt:lpstr>常见初始化的尺度参数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不同网络输出对应的特征</vt:lpstr>
      <vt:lpstr>不同网络输出对应的特征</vt:lpstr>
      <vt:lpstr>不同网络输出对应的特征</vt:lpstr>
      <vt:lpstr>一维实验：凝聚的过程</vt:lpstr>
      <vt:lpstr>神经元运动轨迹</vt:lpstr>
      <vt:lpstr>神经元运动轨迹</vt:lpstr>
      <vt:lpstr>小初始化的凝聚现象示意图</vt:lpstr>
      <vt:lpstr>一种潜在的解释</vt:lpstr>
      <vt:lpstr>实际网络中是否有凝聚现象？</vt:lpstr>
      <vt:lpstr>Resnet18 中的一层</vt:lpstr>
      <vt:lpstr>既然发生凝聚，为什么不直接训练一个小网络？</vt:lpstr>
      <vt:lpstr>PowerPoint 演示文稿</vt:lpstr>
      <vt:lpstr>平坦解与尖锐解</vt:lpstr>
      <vt:lpstr>平坦解与尖锐解</vt:lpstr>
      <vt:lpstr>实验例子</vt:lpstr>
      <vt:lpstr>更多实验</vt:lpstr>
      <vt:lpstr>更多实验</vt:lpstr>
      <vt:lpstr>稳定边缘现象 (Edge of stability)</vt:lpstr>
      <vt:lpstr>稳定性</vt:lpstr>
      <vt:lpstr>损失景观：最小值点的平坦性</vt:lpstr>
      <vt:lpstr>损失景观：最小值点的平坦性</vt:lpstr>
      <vt:lpstr>稳定边缘现象</vt:lpstr>
      <vt:lpstr>稳定边缘现象</vt:lpstr>
      <vt:lpstr>更多的技巧提升解的平坦性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Frequency perspective to understand depth effect and robustness of deep learning</dc:title>
  <dc:creator>zhiqin xu</dc:creator>
  <cp:lastModifiedBy>zhiqin xu</cp:lastModifiedBy>
  <cp:revision>593</cp:revision>
  <dcterms:created xsi:type="dcterms:W3CDTF">2020-06-05T07:59:00Z</dcterms:created>
  <dcterms:modified xsi:type="dcterms:W3CDTF">2026-08-10T12:10:33Z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0FE3EF06A9C74838A2BB9773EB8F8EE0_12</vt:lpwstr>
  </property>
  <property fmtid="{D5CDD505-2E9C-101B-9397-08002B2CF9AE}" pid="3" name="KSOProductBuildVer">
    <vt:lpwstr>2052-12.1.0.19302</vt:lpwstr>
  </property>
</Properties>
</file>