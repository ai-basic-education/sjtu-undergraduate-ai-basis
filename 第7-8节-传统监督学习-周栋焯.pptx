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314" r:id="rId2"/>
    <p:sldId id="10354" r:id="rId3"/>
    <p:sldId id="10361" r:id="rId4"/>
    <p:sldId id="10367" r:id="rId5"/>
    <p:sldId id="10381" r:id="rId6"/>
    <p:sldId id="10362" r:id="rId7"/>
    <p:sldId id="10382" r:id="rId8"/>
    <p:sldId id="260" r:id="rId9"/>
    <p:sldId id="10369" r:id="rId10"/>
    <p:sldId id="10383" r:id="rId11"/>
    <p:sldId id="10384" r:id="rId12"/>
    <p:sldId id="10380" r:id="rId13"/>
    <p:sldId id="10364" r:id="rId14"/>
    <p:sldId id="10373" r:id="rId15"/>
    <p:sldId id="10385" r:id="rId16"/>
    <p:sldId id="10377" r:id="rId17"/>
    <p:sldId id="10376" r:id="rId18"/>
    <p:sldId id="10363" r:id="rId19"/>
    <p:sldId id="10386" r:id="rId20"/>
    <p:sldId id="10400" r:id="rId21"/>
    <p:sldId id="10387" r:id="rId22"/>
    <p:sldId id="10389" r:id="rId23"/>
    <p:sldId id="10372" r:id="rId24"/>
    <p:sldId id="10353" r:id="rId25"/>
    <p:sldId id="10391" r:id="rId26"/>
    <p:sldId id="10392" r:id="rId27"/>
    <p:sldId id="10399" r:id="rId28"/>
    <p:sldId id="1032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与目录" id="{E16E27CC-1BBC-AC4E-922C-7D48AA8F4D76}">
          <p14:sldIdLst>
            <p14:sldId id="2314"/>
            <p14:sldId id="10354"/>
          </p14:sldIdLst>
        </p14:section>
        <p14:section name="第一节" id="{9F139EFA-3D2F-524E-B20E-2D2181600DF8}">
          <p14:sldIdLst>
            <p14:sldId id="10361"/>
            <p14:sldId id="10367"/>
            <p14:sldId id="10381"/>
          </p14:sldIdLst>
        </p14:section>
        <p14:section name="第二节" id="{3878EE42-64CB-7341-ACAD-31EAB31AC43E}">
          <p14:sldIdLst>
            <p14:sldId id="10362"/>
            <p14:sldId id="10382"/>
            <p14:sldId id="260"/>
            <p14:sldId id="10369"/>
            <p14:sldId id="10383"/>
            <p14:sldId id="10384"/>
            <p14:sldId id="10380"/>
          </p14:sldIdLst>
        </p14:section>
        <p14:section name="第三节" id="{DA0693EE-3C4C-A948-AE50-6EE902EED0CB}">
          <p14:sldIdLst>
            <p14:sldId id="10364"/>
            <p14:sldId id="10373"/>
            <p14:sldId id="10385"/>
            <p14:sldId id="10377"/>
            <p14:sldId id="10376"/>
          </p14:sldIdLst>
        </p14:section>
        <p14:section name="第四节" id="{743B3694-8775-E54A-B449-7D69E8BA2971}">
          <p14:sldIdLst>
            <p14:sldId id="10363"/>
            <p14:sldId id="10386"/>
            <p14:sldId id="10400"/>
            <p14:sldId id="10387"/>
            <p14:sldId id="10389"/>
            <p14:sldId id="10372"/>
          </p14:sldIdLst>
        </p14:section>
        <p14:section name="总结" id="{BEF27FA2-F71C-194E-BD4E-FCE88338B7C2}">
          <p14:sldIdLst>
            <p14:sldId id="10353"/>
            <p14:sldId id="10391"/>
            <p14:sldId id="10392"/>
            <p14:sldId id="10399"/>
            <p14:sldId id="1032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D41D5"/>
    <a:srgbClr val="000000"/>
    <a:srgbClr val="D73C1E"/>
    <a:srgbClr val="B61516"/>
    <a:srgbClr val="070707"/>
    <a:srgbClr val="002B7F"/>
    <a:srgbClr val="3232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62" autoAdjust="0"/>
    <p:restoredTop sz="89457" autoAdjust="0"/>
  </p:normalViewPr>
  <p:slideViewPr>
    <p:cSldViewPr snapToGrid="0">
      <p:cViewPr>
        <p:scale>
          <a:sx n="122" d="100"/>
          <a:sy n="122" d="100"/>
        </p:scale>
        <p:origin x="384" y="10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2952"/>
    </p:cViewPr>
  </p:sorterViewPr>
  <p:notesViewPr>
    <p:cSldViewPr snapToGrid="0">
      <p:cViewPr varScale="1">
        <p:scale>
          <a:sx n="70" d="100"/>
          <a:sy n="70" d="100"/>
        </p:scale>
        <p:origin x="2547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FE79F7C-34C1-4D7C-817B-EE84AA9B9D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CCCD9A-3D9D-46B9-A7E5-33ABED3108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76995-7265-45E8-A9DD-3334EEF1A353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AAC71-1D78-4F24-A075-206709D73D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669D59-F476-40E4-B116-1ECC46950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97389-2A4A-4819-AAE4-803C35258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88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2974-D3CE-004F-808E-E43BDBA07C0F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1051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C463-F816-7CC6-CE64-F77F3046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6F7C468-C581-547B-8871-BEEC3FAE2C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953ACA-34F1-418E-A1E7-028F18F1A69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4EA6FEB6-0EC2-37F7-EBBE-0AE1EE6AE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C224A8C5-9C3A-1D22-DBD1-6AD694003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542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C463-F816-7CC6-CE64-F77F3046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6F7C468-C581-547B-8871-BEEC3FAE2C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953ACA-34F1-418E-A1E7-028F18F1A69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4EA6FEB6-0EC2-37F7-EBBE-0AE1EE6AE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C224A8C5-9C3A-1D22-DBD1-6AD694003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10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430E-8366-FF1F-81FA-30126B95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3EA242B-4701-B4F1-67FF-39F63CA9F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CA347-18BC-4560-84AD-F412C4730CDD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D0CED28A-2523-A6E6-8C8C-7FB6834A6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0F9B25FB-BACA-F9A0-F272-F6EEFAEE4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41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FFBE-6063-1051-9418-9BD3ACC8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F6E82E-16B6-9544-DF0F-7B91895DE6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CA347-18BC-4560-84AD-F412C4730CDD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3DD6CA4B-A3A1-A0EA-F4FA-43933411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EC0314F0-C072-08E4-F03B-4DC5BACE0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21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9655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4118" y="3717192"/>
            <a:ext cx="11523764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98913" y="5387513"/>
            <a:ext cx="63941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236843" y="6229835"/>
            <a:ext cx="571831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437E-93F6-1045-30BB-E70861E9E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页面标题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3F575-2B35-BD81-72E3-40F667AEDD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267D-6A4F-FA05-FC69-0D34F123D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B01B7-8796-3FAB-148C-D82F1FB797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1242" y="927100"/>
            <a:ext cx="11429758" cy="5218113"/>
          </a:xfrm>
        </p:spPr>
        <p:txBody>
          <a:bodyPr/>
          <a:lstStyle/>
          <a:p>
            <a:pPr lvl="0"/>
            <a:r>
              <a:rPr lang="en-US" dirty="0" err="1"/>
              <a:t>一级标题内容</a:t>
            </a:r>
            <a:endParaRPr lang="en-US" dirty="0"/>
          </a:p>
          <a:p>
            <a:pPr lvl="1"/>
            <a:r>
              <a:rPr lang="en-US" dirty="0" err="1"/>
              <a:t>二级标题内容</a:t>
            </a:r>
            <a:endParaRPr lang="en-US" dirty="0"/>
          </a:p>
          <a:p>
            <a:pPr lvl="2"/>
            <a:r>
              <a:rPr lang="en-US" dirty="0" err="1"/>
              <a:t>三级标题内容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8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/xx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8" r:id="rId5"/>
    <p:sldLayoutId id="2147483657" r:id="rId6"/>
  </p:sldLayoutIdLst>
  <p:hf hdr="0" ftr="0" dt="0"/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20.png"/><Relationship Id="rId12" Type="http://schemas.openxmlformats.org/officeDocument/2006/relationships/image" Target="../media/image27.png"/><Relationship Id="rId2" Type="http://schemas.openxmlformats.org/officeDocument/2006/relationships/video" Target="../media/media1.mp4"/><Relationship Id="rId16" Type="http://schemas.openxmlformats.org/officeDocument/2006/relationships/image" Target="../media/image31.png"/><Relationship Id="rId1" Type="http://schemas.microsoft.com/office/2007/relationships/media" Target="../media/media1.mp4"/><Relationship Id="rId6" Type="http://schemas.openxmlformats.org/officeDocument/2006/relationships/image" Target="../media/image25.png"/><Relationship Id="rId11" Type="http://schemas.openxmlformats.org/officeDocument/2006/relationships/image" Target="../media/image26.png"/><Relationship Id="rId5" Type="http://schemas.openxmlformats.org/officeDocument/2006/relationships/image" Target="../media/image17.png"/><Relationship Id="rId15" Type="http://schemas.openxmlformats.org/officeDocument/2006/relationships/image" Target="../media/image30.png"/><Relationship Id="rId10" Type="http://schemas.openxmlformats.org/officeDocument/2006/relationships/image" Target="../media/image250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40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slideLayout" Target="../slideLayouts/slideLayout2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595ACC-32E0-A7D5-35A2-CCA59EB5C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传统机器学习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监督学习</a:t>
            </a:r>
            <a:endParaRPr lang="en-C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E345D47-C3D0-4DDE-607E-CCAD4772F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8913" y="4768620"/>
            <a:ext cx="6394174" cy="1542970"/>
          </a:xfrm>
        </p:spPr>
        <p:txBody>
          <a:bodyPr>
            <a:normAutofit fontScale="85000" lnSpcReduction="20000"/>
          </a:bodyPr>
          <a:lstStyle/>
          <a:p>
            <a:pPr defTabSz="864235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64235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defTabSz="864235">
              <a:defRPr/>
            </a:pPr>
            <a:fld id="{E102F756-3B96-CC46-A2D4-96CC8736307C}" type="datetime3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pPr lvl="0" defTabSz="864235">
                <a:defRPr/>
              </a:pPr>
              <a:t>2025年12月20日星期六</a:t>
            </a:fld>
            <a:endParaRPr lang="en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BC17B4-76D8-D4D3-AF65-C3B4BB358051}"/>
              </a:ext>
            </a:extLst>
          </p:cNvPr>
          <p:cNvSpPr txBox="1"/>
          <p:nvPr/>
        </p:nvSpPr>
        <p:spPr>
          <a:xfrm>
            <a:off x="92765" y="6374296"/>
            <a:ext cx="2544418" cy="40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</a:rPr>
              <a:t>PPT</a:t>
            </a:r>
            <a:r>
              <a:rPr lang="zh-CN" altLang="en-US" sz="2000" dirty="0">
                <a:solidFill>
                  <a:schemeClr val="bg1"/>
                </a:solidFill>
              </a:rPr>
              <a:t>贡献：周栋焯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5717-CE55-6CB0-664E-5AFD66CD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47FC-9D99-12F9-07A3-1C17B95F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E3C73-61A8-2693-3468-F320DBE96ADE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382BF-1385-C859-6151-31817A9F99C4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BB8358-CAF0-9647-865B-9028CF4D9677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三、决策树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74E5C7-3E8D-BA85-B740-61B45DF9917B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08A42F-B707-4198-8CD4-728FA745AFA3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2</a:t>
            </a:fld>
            <a:r>
              <a:rPr lang="en-US" altLang="zh-CN">
                <a:solidFill>
                  <a:schemeClr val="bg1"/>
                </a:solidFill>
              </a:rPr>
              <a:t>/26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CF77-DE99-DC11-051C-FB904504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9D3C0-EDB8-4AAF-2B3F-E6749FA0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40292C-5862-EFFE-E5EB-AE58647A1A6A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D08AAD-DB64-233F-B261-17888E60FD5F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AE68E6-48BB-A9E4-BA27-9BB1516032EE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</a:t>
            </a:r>
            <a:r>
              <a:rPr lang="zh-CN" altLang="en-US" dirty="0"/>
              <a:t>、</a:t>
            </a:r>
            <a:r>
              <a:rPr lang="zh-CN" altLang="en-US"/>
              <a:t>决策树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6DC2CF-B859-4396-68EC-C299B6695DFA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1092D6-96B8-44DE-A101-D07EBCDCD65A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r>
              <a:rPr lang="en-US" altLang="zh-CN">
                <a:solidFill>
                  <a:schemeClr val="bg1"/>
                </a:solidFill>
              </a:rPr>
              <a:t>/26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4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机器学习可以做什么？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A08AC-3620-3313-40E1-9D695F7D5D9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2B7F"/>
                </a:solidFill>
              </a:rPr>
              <a:t>机器学习（</a:t>
            </a:r>
            <a:r>
              <a:rPr lang="en-US" altLang="zh-CN" b="1" i="0" dirty="0">
                <a:solidFill>
                  <a:srgbClr val="002B7F"/>
                </a:solidFill>
                <a:effectLst/>
              </a:rPr>
              <a:t>Machine Learning</a:t>
            </a:r>
            <a:r>
              <a:rPr lang="en-US" altLang="zh-CN" b="1" dirty="0">
                <a:solidFill>
                  <a:srgbClr val="002B7F"/>
                </a:solidFill>
              </a:rPr>
              <a:t>,</a:t>
            </a:r>
            <a:r>
              <a:rPr lang="zh-CN" altLang="en-US" b="1" dirty="0">
                <a:solidFill>
                  <a:srgbClr val="002B7F"/>
                </a:solidFill>
              </a:rPr>
              <a:t> </a:t>
            </a:r>
            <a:r>
              <a:rPr lang="en-US" altLang="zh-CN" b="1" dirty="0">
                <a:solidFill>
                  <a:srgbClr val="002B7F"/>
                </a:solidFill>
              </a:rPr>
              <a:t>ML</a:t>
            </a:r>
            <a:r>
              <a:rPr lang="zh-CN" altLang="en-US" b="1" dirty="0">
                <a:solidFill>
                  <a:srgbClr val="002B7F"/>
                </a:solidFill>
              </a:rPr>
              <a:t>）</a:t>
            </a:r>
            <a:r>
              <a:rPr lang="zh-CN" altLang="en-US" dirty="0"/>
              <a:t>是实现人工智能常用的途径之一。</a:t>
            </a:r>
            <a:br>
              <a:rPr lang="en-US" altLang="zh-CN" dirty="0"/>
            </a:br>
            <a:r>
              <a:rPr lang="zh-CN" altLang="en-US" b="0" i="0" dirty="0">
                <a:solidFill>
                  <a:srgbClr val="202122"/>
                </a:solidFill>
                <a:effectLst/>
              </a:rPr>
              <a:t>机器学习算法是一类从</a:t>
            </a:r>
            <a:r>
              <a:rPr lang="zh-CN" altLang="en-US" b="0" i="0" u="none" strike="noStrike" dirty="0">
                <a:effectLst/>
              </a:rPr>
              <a:t>数据</a:t>
            </a:r>
            <a:r>
              <a:rPr lang="zh-CN" altLang="en-US" b="0" i="0" dirty="0">
                <a:solidFill>
                  <a:srgbClr val="202122"/>
                </a:solidFill>
                <a:effectLst/>
              </a:rPr>
              <a:t>中自动分析获得</a:t>
            </a:r>
            <a:r>
              <a:rPr lang="zh-CN" altLang="en-US" b="0" i="0" u="none" strike="noStrike" dirty="0">
                <a:effectLst/>
              </a:rPr>
              <a:t>规律</a:t>
            </a:r>
            <a:r>
              <a:rPr lang="zh-CN" altLang="en-US" b="0" i="0" dirty="0">
                <a:solidFill>
                  <a:srgbClr val="202122"/>
                </a:solidFill>
                <a:effectLst/>
              </a:rPr>
              <a:t>，并利用规律对未知数据进行预测的算法</a:t>
            </a:r>
            <a:r>
              <a:rPr lang="zh-CN" altLang="en-US" b="0" dirty="0">
                <a:solidFill>
                  <a:srgbClr val="202122"/>
                </a:solidFill>
              </a:rPr>
              <a:t>，</a:t>
            </a:r>
            <a:r>
              <a:rPr lang="zh-CN" altLang="en-US" b="0" i="0" dirty="0">
                <a:solidFill>
                  <a:srgbClr val="202122"/>
                </a:solidFill>
                <a:effectLst/>
              </a:rPr>
              <a:t>例如：</a:t>
            </a:r>
            <a:endParaRPr lang="en-US" altLang="zh-CN" dirty="0">
              <a:solidFill>
                <a:srgbClr val="20212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70771" y="2349747"/>
            <a:ext cx="3022429" cy="2473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数据降维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聚类方法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异常检测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0841108E-BFA3-25D9-AAF4-07DA71CDA919}"/>
              </a:ext>
            </a:extLst>
          </p:cNvPr>
          <p:cNvSpPr txBox="1"/>
          <p:nvPr/>
        </p:nvSpPr>
        <p:spPr>
          <a:xfrm>
            <a:off x="8167094" y="2349747"/>
            <a:ext cx="3145140" cy="2473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高效采样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最优决策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环境探索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66BFC-B9EE-48C7-7C92-A94BABF9CD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4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35CD32-35B8-2C49-6533-6774B0F9D17B}"/>
              </a:ext>
            </a:extLst>
          </p:cNvPr>
          <p:cNvSpPr txBox="1"/>
          <p:nvPr/>
        </p:nvSpPr>
        <p:spPr>
          <a:xfrm>
            <a:off x="1374448" y="2349747"/>
            <a:ext cx="3022429" cy="2473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线性回归</a:t>
            </a: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数据分类</a:t>
            </a: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序列预测</a:t>
            </a: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8BBB-11F2-A723-0057-F2B6F73B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BD5B41-CA31-7A17-A8D3-7AA91688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监督学习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54A02-EE7E-7484-3B77-6119852D1A1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基本问题</a:t>
            </a:r>
            <a:r>
              <a:rPr lang="zh-CN" altLang="en-US" dirty="0"/>
              <a:t>：分类问题 </a:t>
            </a:r>
            <a:r>
              <a:rPr lang="en-US" altLang="zh-CN" dirty="0"/>
              <a:t>&amp; 回归问题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602217-1683-B384-27AB-9E5A00FF6F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5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7BD5E5F7-9857-85F5-21A7-C346E626B9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500" b="62167" l="25400" r="36400">
                        <a14:foregroundMark x1="25400" y1="46833" x2="25400" y2="46833"/>
                        <a14:foregroundMark x1="29400" y1="49833" x2="29400" y2="49833"/>
                        <a14:backgroundMark x1="29667" y1="43000" x2="29667" y2="43000"/>
                        <a14:backgroundMark x1="28733" y1="41000" x2="33067" y2="44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36" t="35588" r="62222" b="34725"/>
          <a:stretch/>
        </p:blipFill>
        <p:spPr bwMode="auto">
          <a:xfrm>
            <a:off x="8136464" y="1794159"/>
            <a:ext cx="1651001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3F60EA44-6FF3-7E16-422A-C79714D7C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299" b="62743" l="63604" r="74104">
                        <a14:foregroundMark x1="63800" y1="39667" x2="63800" y2="39667"/>
                        <a14:foregroundMark x1="65867" y1="55833" x2="65867" y2="55833"/>
                        <a14:foregroundMark x1="68333" y1="58167" x2="68333" y2="58167"/>
                        <a14:foregroundMark x1="69800" y1="53333" x2="69800" y2="53333"/>
                        <a14:foregroundMark x1="72333" y1="54167" x2="72333" y2="54167"/>
                        <a14:foregroundMark x1="73467" y1="46833" x2="73467" y2="46833"/>
                        <a14:foregroundMark x1="72533" y1="40167" x2="72533" y2="40167"/>
                        <a14:foregroundMark x1="70933" y1="44500" x2="70933" y2="44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292" t="35243" r="24583" b="34201"/>
          <a:stretch/>
        </p:blipFill>
        <p:spPr bwMode="auto">
          <a:xfrm>
            <a:off x="2290234" y="1794159"/>
            <a:ext cx="1600200" cy="149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A77B6FF-02B8-5BC5-DC36-BDAE9BF459FF}"/>
              </a:ext>
            </a:extLst>
          </p:cNvPr>
          <p:cNvSpPr txBox="1"/>
          <p:nvPr/>
        </p:nvSpPr>
        <p:spPr>
          <a:xfrm>
            <a:off x="1524001" y="3312271"/>
            <a:ext cx="313266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分类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预测非连续的、离散的数据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2F103C-A290-C691-851A-2F516A07D6F4}"/>
              </a:ext>
            </a:extLst>
          </p:cNvPr>
          <p:cNvSpPr txBox="1"/>
          <p:nvPr/>
        </p:nvSpPr>
        <p:spPr>
          <a:xfrm>
            <a:off x="7395631" y="3312270"/>
            <a:ext cx="313266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回归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预测连续的、具体的数据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7B56A6D-25D1-0364-1EDA-B943933F89D0}"/>
                  </a:ext>
                </a:extLst>
              </p:cNvPr>
              <p:cNvSpPr txBox="1"/>
              <p:nvPr/>
            </p:nvSpPr>
            <p:spPr>
              <a:xfrm>
                <a:off x="1524000" y="4104908"/>
                <a:ext cx="3522133" cy="1942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输入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2"/>
                    </a:solidFill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误差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7B56A6D-25D1-0364-1EDA-B943933F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104908"/>
                <a:ext cx="3522133" cy="1942648"/>
              </a:xfrm>
              <a:prstGeom prst="rect">
                <a:avLst/>
              </a:prstGeom>
              <a:blipFill>
                <a:blip r:embed="rId5"/>
                <a:stretch>
                  <a:fillRect l="-1730" b="-36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EBCF1B4-BBDB-FF92-3759-1C9AD6D5309E}"/>
                  </a:ext>
                </a:extLst>
              </p:cNvPr>
              <p:cNvSpPr txBox="1"/>
              <p:nvPr/>
            </p:nvSpPr>
            <p:spPr>
              <a:xfrm>
                <a:off x="7230535" y="4104908"/>
                <a:ext cx="3522133" cy="1942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输入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2000" dirty="0">
                    <a:solidFill>
                      <a:schemeClr val="tx2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误差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EBCF1B4-BBDB-FF92-3759-1C9AD6D53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535" y="4104908"/>
                <a:ext cx="3522133" cy="1942648"/>
              </a:xfrm>
              <a:prstGeom prst="rect">
                <a:avLst/>
              </a:prstGeom>
              <a:blipFill>
                <a:blip r:embed="rId6"/>
                <a:stretch>
                  <a:fillRect l="-1730" b="-36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6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0657-0AAA-570A-1AED-1A189FFB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8D638-455E-1566-6B50-B306D0C4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D39ACE-765B-7837-28FF-60FD6CFB3E4B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一、绪论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A250BE-D2BB-7D08-978A-0C052907C32D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D39C2D-A191-3AD7-DE11-FD01AC26B541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</a:t>
            </a:r>
            <a:r>
              <a:rPr lang="zh-CN" altLang="en-US" dirty="0"/>
              <a:t>、</a:t>
            </a:r>
            <a:r>
              <a:rPr lang="zh-CN" altLang="en-US"/>
              <a:t>决策树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5A787-9836-9886-06F6-8E1565A571CF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421B51-2E34-4748-BF21-2345147DD798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6</a:t>
            </a:fld>
            <a:r>
              <a:rPr lang="en-US" altLang="zh-CN">
                <a:solidFill>
                  <a:schemeClr val="bg1"/>
                </a:solidFill>
              </a:rPr>
              <a:t>/26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612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E6F2-3C1D-111A-355B-60317247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72BE-50F9-9015-7A82-0D1FB316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回归问题</a:t>
            </a:r>
            <a:r>
              <a:rPr lang="zh-CN" altLang="en-US" dirty="0"/>
              <a:t>：最小二乘法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DFBD2-FE33-EDB0-4D37-1BC66EF3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7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19188D-73CC-7E45-1C41-BCEDCC1FEB91}"/>
                  </a:ext>
                </a:extLst>
              </p:cNvPr>
              <p:cNvSpPr txBox="1"/>
              <p:nvPr/>
            </p:nvSpPr>
            <p:spPr>
              <a:xfrm>
                <a:off x="8253106" y="1621784"/>
                <a:ext cx="3669933" cy="7305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CN" sz="3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19188D-73CC-7E45-1C41-BCEDCC1FE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106" y="1621784"/>
                <a:ext cx="3669933" cy="730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22480C72-5EA1-AECF-465D-2B3363410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50122"/>
              </p:ext>
            </p:extLst>
          </p:nvPr>
        </p:nvGraphicFramePr>
        <p:xfrm>
          <a:off x="5150321" y="3938966"/>
          <a:ext cx="4393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81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5FBAEB-FDBA-BABA-8E47-E304936DB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0297"/>
              </p:ext>
            </p:extLst>
          </p:nvPr>
        </p:nvGraphicFramePr>
        <p:xfrm>
          <a:off x="6845033" y="3938966"/>
          <a:ext cx="4504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493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A18897-349C-8A9B-5428-6BE830317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224960"/>
              </p:ext>
            </p:extLst>
          </p:nvPr>
        </p:nvGraphicFramePr>
        <p:xfrm>
          <a:off x="5949704" y="3933611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6820630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1712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3EB549-044E-C4F2-724C-6E7ABF930573}"/>
                  </a:ext>
                </a:extLst>
              </p:cNvPr>
              <p:cNvSpPr txBox="1"/>
              <p:nvPr/>
            </p:nvSpPr>
            <p:spPr>
              <a:xfrm flipH="1">
                <a:off x="6006469" y="3502429"/>
                <a:ext cx="2464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3EB549-044E-C4F2-724C-6E7ABF930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06469" y="3502429"/>
                <a:ext cx="246469" cy="430887"/>
              </a:xfrm>
              <a:prstGeom prst="rect">
                <a:avLst/>
              </a:prstGeom>
              <a:blipFill>
                <a:blip r:embed="rId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EEBF55-F586-552E-D133-6F81730F51CA}"/>
                  </a:ext>
                </a:extLst>
              </p:cNvPr>
              <p:cNvSpPr txBox="1"/>
              <p:nvPr/>
            </p:nvSpPr>
            <p:spPr>
              <a:xfrm>
                <a:off x="6366889" y="3861029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EEBF55-F586-552E-D133-6F81730F5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889" y="3861029"/>
                <a:ext cx="3600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648AB-F4B7-B5A5-49FB-6140C0C6387C}"/>
                  </a:ext>
                </a:extLst>
              </p:cNvPr>
              <p:cNvSpPr txBox="1"/>
              <p:nvPr/>
            </p:nvSpPr>
            <p:spPr>
              <a:xfrm>
                <a:off x="6797723" y="3478200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648AB-F4B7-B5A5-49FB-6140C0C6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723" y="3478200"/>
                <a:ext cx="4393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CAEFA3-4FE9-15D2-22A7-B979FA3862F1}"/>
                  </a:ext>
                </a:extLst>
              </p:cNvPr>
              <p:cNvSpPr txBox="1"/>
              <p:nvPr/>
            </p:nvSpPr>
            <p:spPr>
              <a:xfrm>
                <a:off x="5104852" y="3471445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CAEFA3-4FE9-15D2-22A7-B979FA386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852" y="3471445"/>
                <a:ext cx="4393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6FD076-F536-B649-38AE-62A349F71F62}"/>
                  </a:ext>
                </a:extLst>
              </p:cNvPr>
              <p:cNvSpPr txBox="1"/>
              <p:nvPr/>
            </p:nvSpPr>
            <p:spPr>
              <a:xfrm>
                <a:off x="5542570" y="3899422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6FD076-F536-B649-38AE-62A349F71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570" y="3899422"/>
                <a:ext cx="3600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3F80FC7E-1592-294E-DC0E-E3EC76768F81}"/>
              </a:ext>
            </a:extLst>
          </p:cNvPr>
          <p:cNvSpPr/>
          <p:nvPr/>
        </p:nvSpPr>
        <p:spPr>
          <a:xfrm rot="5400000">
            <a:off x="2304079" y="2351418"/>
            <a:ext cx="326022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086084-92AC-37BA-31FA-F87F2F8CD672}"/>
              </a:ext>
            </a:extLst>
          </p:cNvPr>
          <p:cNvGrpSpPr/>
          <p:nvPr/>
        </p:nvGrpSpPr>
        <p:grpSpPr>
          <a:xfrm>
            <a:off x="171596" y="3096582"/>
            <a:ext cx="3991031" cy="3265884"/>
            <a:chOff x="343697" y="3273447"/>
            <a:chExt cx="3991031" cy="326588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82C0FA4-D34B-CFE2-5D30-05E3AED5A1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5035" t="9411" r="21073" b="10581"/>
            <a:stretch/>
          </p:blipFill>
          <p:spPr>
            <a:xfrm>
              <a:off x="1378021" y="3273447"/>
              <a:ext cx="2956707" cy="29263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747E0D9-4F63-4545-0BEA-1B88C735A5D7}"/>
                    </a:ext>
                  </a:extLst>
                </p:cNvPr>
                <p:cNvSpPr txBox="1"/>
                <p:nvPr/>
              </p:nvSpPr>
              <p:spPr>
                <a:xfrm>
                  <a:off x="2121728" y="6169999"/>
                  <a:ext cx="12961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dirty="0"/>
                    <a:t>位移</a:t>
                  </a:r>
                  <a:r>
                    <a:rPr lang="zh-CN" altLang="en-US" dirty="0"/>
                    <a:t>大小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CN" i="1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747E0D9-4F63-4545-0BEA-1B88C735A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728" y="6169999"/>
                  <a:ext cx="1296124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4245" t="-14754" b="-180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700C444-7515-030F-C646-6F6EB17E3F92}"/>
                    </a:ext>
                  </a:extLst>
                </p:cNvPr>
                <p:cNvSpPr txBox="1"/>
                <p:nvPr/>
              </p:nvSpPr>
              <p:spPr>
                <a:xfrm>
                  <a:off x="343697" y="4349734"/>
                  <a:ext cx="11079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CN" dirty="0"/>
                    <a:t>弹簧拉力</a:t>
                  </a:r>
                  <a:br>
                    <a:rPr lang="en-US" dirty="0"/>
                  </a:br>
                  <a:r>
                    <a:rPr lang="zh-CN" altLang="en-US" dirty="0"/>
                    <a:t>大小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700C444-7515-030F-C646-6F6EB17E3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697" y="4349734"/>
                  <a:ext cx="1107996" cy="646331"/>
                </a:xfrm>
                <a:prstGeom prst="rect">
                  <a:avLst/>
                </a:prstGeom>
                <a:blipFill>
                  <a:blip r:embed="rId10"/>
                  <a:stretch>
                    <a:fillRect l="-3846" t="-8491" r="-4396" b="-113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B286B7F-8D8F-7F20-1590-D59F92F044EF}"/>
              </a:ext>
            </a:extLst>
          </p:cNvPr>
          <p:cNvSpPr txBox="1"/>
          <p:nvPr/>
        </p:nvSpPr>
        <p:spPr>
          <a:xfrm>
            <a:off x="484054" y="1050273"/>
            <a:ext cx="1057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tx2"/>
                </a:solidFill>
              </a:rPr>
              <a:t>大学物理实验课</a:t>
            </a:r>
            <a:r>
              <a:rPr lang="zh-CN" altLang="en-US" dirty="0">
                <a:solidFill>
                  <a:schemeClr val="tx2"/>
                </a:solidFill>
              </a:rPr>
              <a:t>，测量轻质弹簧拉力与弹簧伸长位移的关系，以验证胡克定律，并测算弹簧弹性系数。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D359B1-795A-BEA5-FFE0-39759FA7BB60}"/>
              </a:ext>
            </a:extLst>
          </p:cNvPr>
          <p:cNvGrpSpPr/>
          <p:nvPr/>
        </p:nvGrpSpPr>
        <p:grpSpPr>
          <a:xfrm>
            <a:off x="944910" y="1576728"/>
            <a:ext cx="3284031" cy="871279"/>
            <a:chOff x="6669149" y="116259"/>
            <a:chExt cx="2269553" cy="63030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DE116D-DFB5-CBBF-B73B-36EA73949A1F}"/>
                </a:ext>
              </a:extLst>
            </p:cNvPr>
            <p:cNvSpPr/>
            <p:nvPr/>
          </p:nvSpPr>
          <p:spPr>
            <a:xfrm>
              <a:off x="8258713" y="121106"/>
              <a:ext cx="378826" cy="378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BD64754-5DFA-82B0-5AF5-7CB779DE0337}"/>
                </a:ext>
              </a:extLst>
            </p:cNvPr>
            <p:cNvGrpSpPr/>
            <p:nvPr/>
          </p:nvGrpSpPr>
          <p:grpSpPr>
            <a:xfrm>
              <a:off x="6669149" y="116259"/>
              <a:ext cx="2269553" cy="630308"/>
              <a:chOff x="6758940" y="691048"/>
              <a:chExt cx="2269553" cy="63030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62F6E08-96C6-81E5-4E3C-E6E778E54902}"/>
                  </a:ext>
                </a:extLst>
              </p:cNvPr>
              <p:cNvSpPr/>
              <p:nvPr/>
            </p:nvSpPr>
            <p:spPr>
              <a:xfrm>
                <a:off x="6758940" y="1076366"/>
                <a:ext cx="2269553" cy="24499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21FBE4E-AE3C-1D66-DF73-6BC997AA0A8B}"/>
                  </a:ext>
                </a:extLst>
              </p:cNvPr>
              <p:cNvSpPr/>
              <p:nvPr/>
            </p:nvSpPr>
            <p:spPr>
              <a:xfrm>
                <a:off x="6758940" y="691048"/>
                <a:ext cx="175260" cy="3788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02754D0-DB6F-46E6-EF2D-F5151D3E5A4E}"/>
                </a:ext>
              </a:extLst>
            </p:cNvPr>
            <p:cNvCxnSpPr>
              <a:cxnSpLocks/>
              <a:stCxn id="33" idx="3"/>
              <a:endCxn id="30" idx="1"/>
            </p:cNvCxnSpPr>
            <p:nvPr/>
          </p:nvCxnSpPr>
          <p:spPr>
            <a:xfrm>
              <a:off x="6844409" y="305672"/>
              <a:ext cx="1414304" cy="48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84E1719-E5EB-97AE-F46A-D1A00FEEC3C2}"/>
                </a:ext>
              </a:extLst>
            </p:cNvPr>
            <p:cNvSpPr/>
            <p:nvPr/>
          </p:nvSpPr>
          <p:spPr>
            <a:xfrm>
              <a:off x="7118209" y="213187"/>
              <a:ext cx="791178" cy="184969"/>
            </a:xfrm>
            <a:custGeom>
              <a:avLst/>
              <a:gdLst>
                <a:gd name="connsiteX0" fmla="*/ 0 w 1577782"/>
                <a:gd name="connsiteY0" fmla="*/ 152400 h 184969"/>
                <a:gd name="connsiteX1" fmla="*/ 22860 w 1577782"/>
                <a:gd name="connsiteY1" fmla="*/ 38100 h 184969"/>
                <a:gd name="connsiteX2" fmla="*/ 30480 w 1577782"/>
                <a:gd name="connsiteY2" fmla="*/ 15240 h 184969"/>
                <a:gd name="connsiteX3" fmla="*/ 53340 w 1577782"/>
                <a:gd name="connsiteY3" fmla="*/ 0 h 184969"/>
                <a:gd name="connsiteX4" fmla="*/ 99060 w 1577782"/>
                <a:gd name="connsiteY4" fmla="*/ 30480 h 184969"/>
                <a:gd name="connsiteX5" fmla="*/ 114300 w 1577782"/>
                <a:gd name="connsiteY5" fmla="*/ 76200 h 184969"/>
                <a:gd name="connsiteX6" fmla="*/ 106680 w 1577782"/>
                <a:gd name="connsiteY6" fmla="*/ 144780 h 184969"/>
                <a:gd name="connsiteX7" fmla="*/ 99060 w 1577782"/>
                <a:gd name="connsiteY7" fmla="*/ 167640 h 184969"/>
                <a:gd name="connsiteX8" fmla="*/ 76200 w 1577782"/>
                <a:gd name="connsiteY8" fmla="*/ 175260 h 184969"/>
                <a:gd name="connsiteX9" fmla="*/ 68580 w 1577782"/>
                <a:gd name="connsiteY9" fmla="*/ 53340 h 184969"/>
                <a:gd name="connsiteX10" fmla="*/ 76200 w 1577782"/>
                <a:gd name="connsiteY10" fmla="*/ 30480 h 184969"/>
                <a:gd name="connsiteX11" fmla="*/ 121920 w 1577782"/>
                <a:gd name="connsiteY11" fmla="*/ 0 h 184969"/>
                <a:gd name="connsiteX12" fmla="*/ 175260 w 1577782"/>
                <a:gd name="connsiteY12" fmla="*/ 22860 h 184969"/>
                <a:gd name="connsiteX13" fmla="*/ 190500 w 1577782"/>
                <a:gd name="connsiteY13" fmla="*/ 68580 h 184969"/>
                <a:gd name="connsiteX14" fmla="*/ 182880 w 1577782"/>
                <a:gd name="connsiteY14" fmla="*/ 129540 h 184969"/>
                <a:gd name="connsiteX15" fmla="*/ 167640 w 1577782"/>
                <a:gd name="connsiteY15" fmla="*/ 152400 h 184969"/>
                <a:gd name="connsiteX16" fmla="*/ 152400 w 1577782"/>
                <a:gd name="connsiteY16" fmla="*/ 106680 h 184969"/>
                <a:gd name="connsiteX17" fmla="*/ 160020 w 1577782"/>
                <a:gd name="connsiteY17" fmla="*/ 45720 h 184969"/>
                <a:gd name="connsiteX18" fmla="*/ 167640 w 1577782"/>
                <a:gd name="connsiteY18" fmla="*/ 22860 h 184969"/>
                <a:gd name="connsiteX19" fmla="*/ 213360 w 1577782"/>
                <a:gd name="connsiteY19" fmla="*/ 7620 h 184969"/>
                <a:gd name="connsiteX20" fmla="*/ 236220 w 1577782"/>
                <a:gd name="connsiteY20" fmla="*/ 0 h 184969"/>
                <a:gd name="connsiteX21" fmla="*/ 259080 w 1577782"/>
                <a:gd name="connsiteY21" fmla="*/ 7620 h 184969"/>
                <a:gd name="connsiteX22" fmla="*/ 281940 w 1577782"/>
                <a:gd name="connsiteY22" fmla="*/ 53340 h 184969"/>
                <a:gd name="connsiteX23" fmla="*/ 274320 w 1577782"/>
                <a:gd name="connsiteY23" fmla="*/ 152400 h 184969"/>
                <a:gd name="connsiteX24" fmla="*/ 251460 w 1577782"/>
                <a:gd name="connsiteY24" fmla="*/ 167640 h 184969"/>
                <a:gd name="connsiteX25" fmla="*/ 228600 w 1577782"/>
                <a:gd name="connsiteY25" fmla="*/ 152400 h 184969"/>
                <a:gd name="connsiteX26" fmla="*/ 220980 w 1577782"/>
                <a:gd name="connsiteY26" fmla="*/ 129540 h 184969"/>
                <a:gd name="connsiteX27" fmla="*/ 228600 w 1577782"/>
                <a:gd name="connsiteY27" fmla="*/ 68580 h 184969"/>
                <a:gd name="connsiteX28" fmla="*/ 236220 w 1577782"/>
                <a:gd name="connsiteY28" fmla="*/ 45720 h 184969"/>
                <a:gd name="connsiteX29" fmla="*/ 259080 w 1577782"/>
                <a:gd name="connsiteY29" fmla="*/ 38100 h 184969"/>
                <a:gd name="connsiteX30" fmla="*/ 312420 w 1577782"/>
                <a:gd name="connsiteY30" fmla="*/ 22860 h 184969"/>
                <a:gd name="connsiteX31" fmla="*/ 358140 w 1577782"/>
                <a:gd name="connsiteY31" fmla="*/ 60960 h 184969"/>
                <a:gd name="connsiteX32" fmla="*/ 373380 w 1577782"/>
                <a:gd name="connsiteY32" fmla="*/ 106680 h 184969"/>
                <a:gd name="connsiteX33" fmla="*/ 365760 w 1577782"/>
                <a:gd name="connsiteY33" fmla="*/ 144780 h 184969"/>
                <a:gd name="connsiteX34" fmla="*/ 342900 w 1577782"/>
                <a:gd name="connsiteY34" fmla="*/ 152400 h 184969"/>
                <a:gd name="connsiteX35" fmla="*/ 320040 w 1577782"/>
                <a:gd name="connsiteY35" fmla="*/ 106680 h 184969"/>
                <a:gd name="connsiteX36" fmla="*/ 327660 w 1577782"/>
                <a:gd name="connsiteY36" fmla="*/ 68580 h 184969"/>
                <a:gd name="connsiteX37" fmla="*/ 335280 w 1577782"/>
                <a:gd name="connsiteY37" fmla="*/ 45720 h 184969"/>
                <a:gd name="connsiteX38" fmla="*/ 411480 w 1577782"/>
                <a:gd name="connsiteY38" fmla="*/ 7620 h 184969"/>
                <a:gd name="connsiteX39" fmla="*/ 434340 w 1577782"/>
                <a:gd name="connsiteY39" fmla="*/ 15240 h 184969"/>
                <a:gd name="connsiteX40" fmla="*/ 441960 w 1577782"/>
                <a:gd name="connsiteY40" fmla="*/ 38100 h 184969"/>
                <a:gd name="connsiteX41" fmla="*/ 449580 w 1577782"/>
                <a:gd name="connsiteY41" fmla="*/ 68580 h 184969"/>
                <a:gd name="connsiteX42" fmla="*/ 464820 w 1577782"/>
                <a:gd name="connsiteY42" fmla="*/ 121920 h 184969"/>
                <a:gd name="connsiteX43" fmla="*/ 434340 w 1577782"/>
                <a:gd name="connsiteY43" fmla="*/ 160020 h 184969"/>
                <a:gd name="connsiteX44" fmla="*/ 411480 w 1577782"/>
                <a:gd name="connsiteY44" fmla="*/ 144780 h 184969"/>
                <a:gd name="connsiteX45" fmla="*/ 403860 w 1577782"/>
                <a:gd name="connsiteY45" fmla="*/ 114300 h 184969"/>
                <a:gd name="connsiteX46" fmla="*/ 441960 w 1577782"/>
                <a:gd name="connsiteY46" fmla="*/ 38100 h 184969"/>
                <a:gd name="connsiteX47" fmla="*/ 464820 w 1577782"/>
                <a:gd name="connsiteY47" fmla="*/ 30480 h 184969"/>
                <a:gd name="connsiteX48" fmla="*/ 510540 w 1577782"/>
                <a:gd name="connsiteY48" fmla="*/ 7620 h 184969"/>
                <a:gd name="connsiteX49" fmla="*/ 541020 w 1577782"/>
                <a:gd name="connsiteY49" fmla="*/ 15240 h 184969"/>
                <a:gd name="connsiteX50" fmla="*/ 548640 w 1577782"/>
                <a:gd name="connsiteY50" fmla="*/ 91440 h 184969"/>
                <a:gd name="connsiteX51" fmla="*/ 541020 w 1577782"/>
                <a:gd name="connsiteY51" fmla="*/ 121920 h 184969"/>
                <a:gd name="connsiteX52" fmla="*/ 502920 w 1577782"/>
                <a:gd name="connsiteY52" fmla="*/ 160020 h 184969"/>
                <a:gd name="connsiteX53" fmla="*/ 480060 w 1577782"/>
                <a:gd name="connsiteY53" fmla="*/ 167640 h 184969"/>
                <a:gd name="connsiteX54" fmla="*/ 457200 w 1577782"/>
                <a:gd name="connsiteY54" fmla="*/ 160020 h 184969"/>
                <a:gd name="connsiteX55" fmla="*/ 441960 w 1577782"/>
                <a:gd name="connsiteY55" fmla="*/ 114300 h 184969"/>
                <a:gd name="connsiteX56" fmla="*/ 502920 w 1577782"/>
                <a:gd name="connsiteY56" fmla="*/ 38100 h 184969"/>
                <a:gd name="connsiteX57" fmla="*/ 525780 w 1577782"/>
                <a:gd name="connsiteY57" fmla="*/ 22860 h 184969"/>
                <a:gd name="connsiteX58" fmla="*/ 548640 w 1577782"/>
                <a:gd name="connsiteY58" fmla="*/ 7620 h 184969"/>
                <a:gd name="connsiteX59" fmla="*/ 594360 w 1577782"/>
                <a:gd name="connsiteY59" fmla="*/ 22860 h 184969"/>
                <a:gd name="connsiteX60" fmla="*/ 617220 w 1577782"/>
                <a:gd name="connsiteY60" fmla="*/ 30480 h 184969"/>
                <a:gd name="connsiteX61" fmla="*/ 640080 w 1577782"/>
                <a:gd name="connsiteY61" fmla="*/ 45720 h 184969"/>
                <a:gd name="connsiteX62" fmla="*/ 685800 w 1577782"/>
                <a:gd name="connsiteY62" fmla="*/ 68580 h 184969"/>
                <a:gd name="connsiteX63" fmla="*/ 693420 w 1577782"/>
                <a:gd name="connsiteY63" fmla="*/ 91440 h 184969"/>
                <a:gd name="connsiteX64" fmla="*/ 678180 w 1577782"/>
                <a:gd name="connsiteY64" fmla="*/ 167640 h 184969"/>
                <a:gd name="connsiteX65" fmla="*/ 632460 w 1577782"/>
                <a:gd name="connsiteY65" fmla="*/ 160020 h 184969"/>
                <a:gd name="connsiteX66" fmla="*/ 617220 w 1577782"/>
                <a:gd name="connsiteY66" fmla="*/ 114300 h 184969"/>
                <a:gd name="connsiteX67" fmla="*/ 624840 w 1577782"/>
                <a:gd name="connsiteY67" fmla="*/ 68580 h 184969"/>
                <a:gd name="connsiteX68" fmla="*/ 640080 w 1577782"/>
                <a:gd name="connsiteY68" fmla="*/ 45720 h 184969"/>
                <a:gd name="connsiteX69" fmla="*/ 693420 w 1577782"/>
                <a:gd name="connsiteY69" fmla="*/ 30480 h 184969"/>
                <a:gd name="connsiteX70" fmla="*/ 739140 w 1577782"/>
                <a:gd name="connsiteY70" fmla="*/ 38100 h 184969"/>
                <a:gd name="connsiteX71" fmla="*/ 777240 w 1577782"/>
                <a:gd name="connsiteY71" fmla="*/ 106680 h 184969"/>
                <a:gd name="connsiteX72" fmla="*/ 754380 w 1577782"/>
                <a:gd name="connsiteY72" fmla="*/ 167640 h 184969"/>
                <a:gd name="connsiteX73" fmla="*/ 731520 w 1577782"/>
                <a:gd name="connsiteY73" fmla="*/ 160020 h 184969"/>
                <a:gd name="connsiteX74" fmla="*/ 731520 w 1577782"/>
                <a:gd name="connsiteY74" fmla="*/ 91440 h 184969"/>
                <a:gd name="connsiteX75" fmla="*/ 739140 w 1577782"/>
                <a:gd name="connsiteY75" fmla="*/ 68580 h 184969"/>
                <a:gd name="connsiteX76" fmla="*/ 762000 w 1577782"/>
                <a:gd name="connsiteY76" fmla="*/ 60960 h 184969"/>
                <a:gd name="connsiteX77" fmla="*/ 784860 w 1577782"/>
                <a:gd name="connsiteY77" fmla="*/ 45720 h 184969"/>
                <a:gd name="connsiteX78" fmla="*/ 830580 w 1577782"/>
                <a:gd name="connsiteY78" fmla="*/ 30480 h 184969"/>
                <a:gd name="connsiteX79" fmla="*/ 853440 w 1577782"/>
                <a:gd name="connsiteY79" fmla="*/ 38100 h 184969"/>
                <a:gd name="connsiteX80" fmla="*/ 891540 w 1577782"/>
                <a:gd name="connsiteY80" fmla="*/ 106680 h 184969"/>
                <a:gd name="connsiteX81" fmla="*/ 899160 w 1577782"/>
                <a:gd name="connsiteY81" fmla="*/ 137160 h 184969"/>
                <a:gd name="connsiteX82" fmla="*/ 891540 w 1577782"/>
                <a:gd name="connsiteY82" fmla="*/ 160020 h 184969"/>
                <a:gd name="connsiteX83" fmla="*/ 845820 w 1577782"/>
                <a:gd name="connsiteY83" fmla="*/ 160020 h 184969"/>
                <a:gd name="connsiteX84" fmla="*/ 830580 w 1577782"/>
                <a:gd name="connsiteY84" fmla="*/ 137160 h 184969"/>
                <a:gd name="connsiteX85" fmla="*/ 853440 w 1577782"/>
                <a:gd name="connsiteY85" fmla="*/ 76200 h 184969"/>
                <a:gd name="connsiteX86" fmla="*/ 899160 w 1577782"/>
                <a:gd name="connsiteY86" fmla="*/ 60960 h 184969"/>
                <a:gd name="connsiteX87" fmla="*/ 922020 w 1577782"/>
                <a:gd name="connsiteY87" fmla="*/ 53340 h 184969"/>
                <a:gd name="connsiteX88" fmla="*/ 982980 w 1577782"/>
                <a:gd name="connsiteY88" fmla="*/ 60960 h 184969"/>
                <a:gd name="connsiteX89" fmla="*/ 998220 w 1577782"/>
                <a:gd name="connsiteY89" fmla="*/ 106680 h 184969"/>
                <a:gd name="connsiteX90" fmla="*/ 990600 w 1577782"/>
                <a:gd name="connsiteY90" fmla="*/ 160020 h 184969"/>
                <a:gd name="connsiteX91" fmla="*/ 975360 w 1577782"/>
                <a:gd name="connsiteY91" fmla="*/ 137160 h 184969"/>
                <a:gd name="connsiteX92" fmla="*/ 982980 w 1577782"/>
                <a:gd name="connsiteY92" fmla="*/ 83820 h 184969"/>
                <a:gd name="connsiteX93" fmla="*/ 990600 w 1577782"/>
                <a:gd name="connsiteY93" fmla="*/ 60960 h 184969"/>
                <a:gd name="connsiteX94" fmla="*/ 1036320 w 1577782"/>
                <a:gd name="connsiteY94" fmla="*/ 45720 h 184969"/>
                <a:gd name="connsiteX95" fmla="*/ 1082040 w 1577782"/>
                <a:gd name="connsiteY95" fmla="*/ 53340 h 184969"/>
                <a:gd name="connsiteX96" fmla="*/ 1097280 w 1577782"/>
                <a:gd name="connsiteY96" fmla="*/ 99060 h 184969"/>
                <a:gd name="connsiteX97" fmla="*/ 1089660 w 1577782"/>
                <a:gd name="connsiteY97" fmla="*/ 167640 h 184969"/>
                <a:gd name="connsiteX98" fmla="*/ 1066800 w 1577782"/>
                <a:gd name="connsiteY98" fmla="*/ 160020 h 184969"/>
                <a:gd name="connsiteX99" fmla="*/ 1043940 w 1577782"/>
                <a:gd name="connsiteY99" fmla="*/ 114300 h 184969"/>
                <a:gd name="connsiteX100" fmla="*/ 1066800 w 1577782"/>
                <a:gd name="connsiteY100" fmla="*/ 68580 h 184969"/>
                <a:gd name="connsiteX101" fmla="*/ 1074420 w 1577782"/>
                <a:gd name="connsiteY101" fmla="*/ 45720 h 184969"/>
                <a:gd name="connsiteX102" fmla="*/ 1120140 w 1577782"/>
                <a:gd name="connsiteY102" fmla="*/ 38100 h 184969"/>
                <a:gd name="connsiteX103" fmla="*/ 1181100 w 1577782"/>
                <a:gd name="connsiteY103" fmla="*/ 45720 h 184969"/>
                <a:gd name="connsiteX104" fmla="*/ 1196340 w 1577782"/>
                <a:gd name="connsiteY104" fmla="*/ 68580 h 184969"/>
                <a:gd name="connsiteX105" fmla="*/ 1203960 w 1577782"/>
                <a:gd name="connsiteY105" fmla="*/ 91440 h 184969"/>
                <a:gd name="connsiteX106" fmla="*/ 1226820 w 1577782"/>
                <a:gd name="connsiteY106" fmla="*/ 137160 h 184969"/>
                <a:gd name="connsiteX107" fmla="*/ 1181100 w 1577782"/>
                <a:gd name="connsiteY107" fmla="*/ 144780 h 184969"/>
                <a:gd name="connsiteX108" fmla="*/ 1150620 w 1577782"/>
                <a:gd name="connsiteY108" fmla="*/ 99060 h 184969"/>
                <a:gd name="connsiteX109" fmla="*/ 1181100 w 1577782"/>
                <a:gd name="connsiteY109" fmla="*/ 60960 h 184969"/>
                <a:gd name="connsiteX110" fmla="*/ 1219200 w 1577782"/>
                <a:gd name="connsiteY110" fmla="*/ 30480 h 184969"/>
                <a:gd name="connsiteX111" fmla="*/ 1280160 w 1577782"/>
                <a:gd name="connsiteY111" fmla="*/ 45720 h 184969"/>
                <a:gd name="connsiteX112" fmla="*/ 1295400 w 1577782"/>
                <a:gd name="connsiteY112" fmla="*/ 68580 h 184969"/>
                <a:gd name="connsiteX113" fmla="*/ 1318260 w 1577782"/>
                <a:gd name="connsiteY113" fmla="*/ 83820 h 184969"/>
                <a:gd name="connsiteX114" fmla="*/ 1325880 w 1577782"/>
                <a:gd name="connsiteY114" fmla="*/ 129540 h 184969"/>
                <a:gd name="connsiteX115" fmla="*/ 1303020 w 1577782"/>
                <a:gd name="connsiteY115" fmla="*/ 137160 h 184969"/>
                <a:gd name="connsiteX116" fmla="*/ 1287780 w 1577782"/>
                <a:gd name="connsiteY116" fmla="*/ 114300 h 184969"/>
                <a:gd name="connsiteX117" fmla="*/ 1310640 w 1577782"/>
                <a:gd name="connsiteY117" fmla="*/ 38100 h 184969"/>
                <a:gd name="connsiteX118" fmla="*/ 1356360 w 1577782"/>
                <a:gd name="connsiteY118" fmla="*/ 22860 h 184969"/>
                <a:gd name="connsiteX119" fmla="*/ 1409700 w 1577782"/>
                <a:gd name="connsiteY119" fmla="*/ 45720 h 184969"/>
                <a:gd name="connsiteX120" fmla="*/ 1417320 w 1577782"/>
                <a:gd name="connsiteY120" fmla="*/ 68580 h 184969"/>
                <a:gd name="connsiteX121" fmla="*/ 1432560 w 1577782"/>
                <a:gd name="connsiteY121" fmla="*/ 91440 h 184969"/>
                <a:gd name="connsiteX122" fmla="*/ 1447800 w 1577782"/>
                <a:gd name="connsiteY122" fmla="*/ 137160 h 184969"/>
                <a:gd name="connsiteX123" fmla="*/ 1440180 w 1577782"/>
                <a:gd name="connsiteY123" fmla="*/ 160020 h 184969"/>
                <a:gd name="connsiteX124" fmla="*/ 1409700 w 1577782"/>
                <a:gd name="connsiteY124" fmla="*/ 129540 h 184969"/>
                <a:gd name="connsiteX125" fmla="*/ 1432560 w 1577782"/>
                <a:gd name="connsiteY125" fmla="*/ 76200 h 184969"/>
                <a:gd name="connsiteX126" fmla="*/ 1455420 w 1577782"/>
                <a:gd name="connsiteY126" fmla="*/ 68580 h 184969"/>
                <a:gd name="connsiteX127" fmla="*/ 1516380 w 1577782"/>
                <a:gd name="connsiteY127" fmla="*/ 99060 h 184969"/>
                <a:gd name="connsiteX128" fmla="*/ 1531620 w 1577782"/>
                <a:gd name="connsiteY128" fmla="*/ 144780 h 184969"/>
                <a:gd name="connsiteX129" fmla="*/ 1524000 w 1577782"/>
                <a:gd name="connsiteY129" fmla="*/ 175260 h 184969"/>
                <a:gd name="connsiteX130" fmla="*/ 1501140 w 1577782"/>
                <a:gd name="connsiteY130" fmla="*/ 182880 h 184969"/>
                <a:gd name="connsiteX131" fmla="*/ 1485900 w 1577782"/>
                <a:gd name="connsiteY131" fmla="*/ 137160 h 184969"/>
                <a:gd name="connsiteX132" fmla="*/ 1508760 w 1577782"/>
                <a:gd name="connsiteY132" fmla="*/ 91440 h 184969"/>
                <a:gd name="connsiteX133" fmla="*/ 1531620 w 1577782"/>
                <a:gd name="connsiteY133" fmla="*/ 76200 h 184969"/>
                <a:gd name="connsiteX134" fmla="*/ 1554480 w 1577782"/>
                <a:gd name="connsiteY134" fmla="*/ 68580 h 184969"/>
                <a:gd name="connsiteX135" fmla="*/ 1577340 w 1577782"/>
                <a:gd name="connsiteY135" fmla="*/ 114300 h 184969"/>
                <a:gd name="connsiteX136" fmla="*/ 1577340 w 1577782"/>
                <a:gd name="connsiteY136" fmla="*/ 129540 h 18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577782" h="184969">
                  <a:moveTo>
                    <a:pt x="0" y="152400"/>
                  </a:moveTo>
                  <a:cubicBezTo>
                    <a:pt x="6381" y="107731"/>
                    <a:pt x="8163" y="82191"/>
                    <a:pt x="22860" y="38100"/>
                  </a:cubicBezTo>
                  <a:cubicBezTo>
                    <a:pt x="25400" y="30480"/>
                    <a:pt x="25462" y="21512"/>
                    <a:pt x="30480" y="15240"/>
                  </a:cubicBezTo>
                  <a:cubicBezTo>
                    <a:pt x="36201" y="8089"/>
                    <a:pt x="45720" y="5080"/>
                    <a:pt x="53340" y="0"/>
                  </a:cubicBezTo>
                  <a:cubicBezTo>
                    <a:pt x="83678" y="7585"/>
                    <a:pt x="85904" y="880"/>
                    <a:pt x="99060" y="30480"/>
                  </a:cubicBezTo>
                  <a:cubicBezTo>
                    <a:pt x="105584" y="45160"/>
                    <a:pt x="114300" y="76200"/>
                    <a:pt x="114300" y="76200"/>
                  </a:cubicBezTo>
                  <a:cubicBezTo>
                    <a:pt x="111760" y="99060"/>
                    <a:pt x="110461" y="122092"/>
                    <a:pt x="106680" y="144780"/>
                  </a:cubicBezTo>
                  <a:cubicBezTo>
                    <a:pt x="105360" y="152703"/>
                    <a:pt x="104740" y="161960"/>
                    <a:pt x="99060" y="167640"/>
                  </a:cubicBezTo>
                  <a:cubicBezTo>
                    <a:pt x="93380" y="173320"/>
                    <a:pt x="83820" y="172720"/>
                    <a:pt x="76200" y="175260"/>
                  </a:cubicBezTo>
                  <a:cubicBezTo>
                    <a:pt x="55025" y="111735"/>
                    <a:pt x="55965" y="135336"/>
                    <a:pt x="68580" y="53340"/>
                  </a:cubicBezTo>
                  <a:cubicBezTo>
                    <a:pt x="69801" y="45401"/>
                    <a:pt x="70520" y="36160"/>
                    <a:pt x="76200" y="30480"/>
                  </a:cubicBezTo>
                  <a:cubicBezTo>
                    <a:pt x="89152" y="17528"/>
                    <a:pt x="121920" y="0"/>
                    <a:pt x="121920" y="0"/>
                  </a:cubicBezTo>
                  <a:cubicBezTo>
                    <a:pt x="136322" y="3601"/>
                    <a:pt x="165515" y="7268"/>
                    <a:pt x="175260" y="22860"/>
                  </a:cubicBezTo>
                  <a:cubicBezTo>
                    <a:pt x="183774" y="36483"/>
                    <a:pt x="190500" y="68580"/>
                    <a:pt x="190500" y="68580"/>
                  </a:cubicBezTo>
                  <a:cubicBezTo>
                    <a:pt x="187960" y="88900"/>
                    <a:pt x="188268" y="109783"/>
                    <a:pt x="182880" y="129540"/>
                  </a:cubicBezTo>
                  <a:cubicBezTo>
                    <a:pt x="180470" y="138375"/>
                    <a:pt x="174966" y="157895"/>
                    <a:pt x="167640" y="152400"/>
                  </a:cubicBezTo>
                  <a:cubicBezTo>
                    <a:pt x="154789" y="142761"/>
                    <a:pt x="152400" y="106680"/>
                    <a:pt x="152400" y="106680"/>
                  </a:cubicBezTo>
                  <a:cubicBezTo>
                    <a:pt x="154940" y="86360"/>
                    <a:pt x="156357" y="65868"/>
                    <a:pt x="160020" y="45720"/>
                  </a:cubicBezTo>
                  <a:cubicBezTo>
                    <a:pt x="161457" y="37817"/>
                    <a:pt x="161104" y="27529"/>
                    <a:pt x="167640" y="22860"/>
                  </a:cubicBezTo>
                  <a:cubicBezTo>
                    <a:pt x="180712" y="13523"/>
                    <a:pt x="198120" y="12700"/>
                    <a:pt x="213360" y="7620"/>
                  </a:cubicBezTo>
                  <a:lnTo>
                    <a:pt x="236220" y="0"/>
                  </a:lnTo>
                  <a:cubicBezTo>
                    <a:pt x="243840" y="2540"/>
                    <a:pt x="252808" y="2602"/>
                    <a:pt x="259080" y="7620"/>
                  </a:cubicBezTo>
                  <a:cubicBezTo>
                    <a:pt x="272509" y="18363"/>
                    <a:pt x="276920" y="38281"/>
                    <a:pt x="281940" y="53340"/>
                  </a:cubicBezTo>
                  <a:cubicBezTo>
                    <a:pt x="279400" y="86360"/>
                    <a:pt x="282853" y="120401"/>
                    <a:pt x="274320" y="152400"/>
                  </a:cubicBezTo>
                  <a:cubicBezTo>
                    <a:pt x="271960" y="161249"/>
                    <a:pt x="260618" y="167640"/>
                    <a:pt x="251460" y="167640"/>
                  </a:cubicBezTo>
                  <a:cubicBezTo>
                    <a:pt x="242302" y="167640"/>
                    <a:pt x="236220" y="157480"/>
                    <a:pt x="228600" y="152400"/>
                  </a:cubicBezTo>
                  <a:cubicBezTo>
                    <a:pt x="226060" y="144780"/>
                    <a:pt x="220980" y="137572"/>
                    <a:pt x="220980" y="129540"/>
                  </a:cubicBezTo>
                  <a:cubicBezTo>
                    <a:pt x="220980" y="109062"/>
                    <a:pt x="224937" y="88728"/>
                    <a:pt x="228600" y="68580"/>
                  </a:cubicBezTo>
                  <a:cubicBezTo>
                    <a:pt x="230037" y="60677"/>
                    <a:pt x="230540" y="51400"/>
                    <a:pt x="236220" y="45720"/>
                  </a:cubicBezTo>
                  <a:cubicBezTo>
                    <a:pt x="241900" y="40040"/>
                    <a:pt x="251357" y="40307"/>
                    <a:pt x="259080" y="38100"/>
                  </a:cubicBezTo>
                  <a:cubicBezTo>
                    <a:pt x="326057" y="18964"/>
                    <a:pt x="257610" y="41130"/>
                    <a:pt x="312420" y="22860"/>
                  </a:cubicBezTo>
                  <a:cubicBezTo>
                    <a:pt x="349838" y="32215"/>
                    <a:pt x="342644" y="22220"/>
                    <a:pt x="358140" y="60960"/>
                  </a:cubicBezTo>
                  <a:cubicBezTo>
                    <a:pt x="364106" y="75875"/>
                    <a:pt x="373380" y="106680"/>
                    <a:pt x="373380" y="106680"/>
                  </a:cubicBezTo>
                  <a:cubicBezTo>
                    <a:pt x="370840" y="119380"/>
                    <a:pt x="372944" y="134004"/>
                    <a:pt x="365760" y="144780"/>
                  </a:cubicBezTo>
                  <a:cubicBezTo>
                    <a:pt x="361305" y="151463"/>
                    <a:pt x="350358" y="155383"/>
                    <a:pt x="342900" y="152400"/>
                  </a:cubicBezTo>
                  <a:cubicBezTo>
                    <a:pt x="331537" y="147855"/>
                    <a:pt x="323248" y="116303"/>
                    <a:pt x="320040" y="106680"/>
                  </a:cubicBezTo>
                  <a:cubicBezTo>
                    <a:pt x="322580" y="93980"/>
                    <a:pt x="324519" y="81145"/>
                    <a:pt x="327660" y="68580"/>
                  </a:cubicBezTo>
                  <a:cubicBezTo>
                    <a:pt x="329608" y="60788"/>
                    <a:pt x="329600" y="51400"/>
                    <a:pt x="335280" y="45720"/>
                  </a:cubicBezTo>
                  <a:cubicBezTo>
                    <a:pt x="365521" y="15479"/>
                    <a:pt x="377063" y="16224"/>
                    <a:pt x="411480" y="7620"/>
                  </a:cubicBezTo>
                  <a:cubicBezTo>
                    <a:pt x="419100" y="10160"/>
                    <a:pt x="428660" y="9560"/>
                    <a:pt x="434340" y="15240"/>
                  </a:cubicBezTo>
                  <a:cubicBezTo>
                    <a:pt x="440020" y="20920"/>
                    <a:pt x="439753" y="30377"/>
                    <a:pt x="441960" y="38100"/>
                  </a:cubicBezTo>
                  <a:cubicBezTo>
                    <a:pt x="444837" y="48170"/>
                    <a:pt x="446703" y="58510"/>
                    <a:pt x="449580" y="68580"/>
                  </a:cubicBezTo>
                  <a:cubicBezTo>
                    <a:pt x="471444" y="145102"/>
                    <a:pt x="440999" y="26635"/>
                    <a:pt x="464820" y="121920"/>
                  </a:cubicBezTo>
                  <a:cubicBezTo>
                    <a:pt x="460062" y="136194"/>
                    <a:pt x="457318" y="160020"/>
                    <a:pt x="434340" y="160020"/>
                  </a:cubicBezTo>
                  <a:cubicBezTo>
                    <a:pt x="425182" y="160020"/>
                    <a:pt x="419100" y="149860"/>
                    <a:pt x="411480" y="144780"/>
                  </a:cubicBezTo>
                  <a:cubicBezTo>
                    <a:pt x="408940" y="134620"/>
                    <a:pt x="403860" y="124773"/>
                    <a:pt x="403860" y="114300"/>
                  </a:cubicBezTo>
                  <a:cubicBezTo>
                    <a:pt x="403860" y="94279"/>
                    <a:pt x="426767" y="43164"/>
                    <a:pt x="441960" y="38100"/>
                  </a:cubicBezTo>
                  <a:cubicBezTo>
                    <a:pt x="449580" y="35560"/>
                    <a:pt x="457636" y="34072"/>
                    <a:pt x="464820" y="30480"/>
                  </a:cubicBezTo>
                  <a:cubicBezTo>
                    <a:pt x="523906" y="937"/>
                    <a:pt x="453081" y="26773"/>
                    <a:pt x="510540" y="7620"/>
                  </a:cubicBezTo>
                  <a:cubicBezTo>
                    <a:pt x="520700" y="10160"/>
                    <a:pt x="532306" y="9431"/>
                    <a:pt x="541020" y="15240"/>
                  </a:cubicBezTo>
                  <a:cubicBezTo>
                    <a:pt x="568523" y="33575"/>
                    <a:pt x="553044" y="67216"/>
                    <a:pt x="548640" y="91440"/>
                  </a:cubicBezTo>
                  <a:cubicBezTo>
                    <a:pt x="546767" y="101744"/>
                    <a:pt x="545145" y="112294"/>
                    <a:pt x="541020" y="121920"/>
                  </a:cubicBezTo>
                  <a:cubicBezTo>
                    <a:pt x="532707" y="141316"/>
                    <a:pt x="521393" y="150784"/>
                    <a:pt x="502920" y="160020"/>
                  </a:cubicBezTo>
                  <a:cubicBezTo>
                    <a:pt x="495736" y="163612"/>
                    <a:pt x="487680" y="165100"/>
                    <a:pt x="480060" y="167640"/>
                  </a:cubicBezTo>
                  <a:cubicBezTo>
                    <a:pt x="472440" y="165100"/>
                    <a:pt x="461869" y="166556"/>
                    <a:pt x="457200" y="160020"/>
                  </a:cubicBezTo>
                  <a:cubicBezTo>
                    <a:pt x="447863" y="146948"/>
                    <a:pt x="441960" y="114300"/>
                    <a:pt x="441960" y="114300"/>
                  </a:cubicBezTo>
                  <a:cubicBezTo>
                    <a:pt x="462992" y="51204"/>
                    <a:pt x="443834" y="77491"/>
                    <a:pt x="502920" y="38100"/>
                  </a:cubicBezTo>
                  <a:lnTo>
                    <a:pt x="525780" y="22860"/>
                  </a:lnTo>
                  <a:lnTo>
                    <a:pt x="548640" y="7620"/>
                  </a:lnTo>
                  <a:lnTo>
                    <a:pt x="594360" y="22860"/>
                  </a:lnTo>
                  <a:cubicBezTo>
                    <a:pt x="601980" y="25400"/>
                    <a:pt x="610537" y="26025"/>
                    <a:pt x="617220" y="30480"/>
                  </a:cubicBezTo>
                  <a:cubicBezTo>
                    <a:pt x="624840" y="35560"/>
                    <a:pt x="631889" y="41624"/>
                    <a:pt x="640080" y="45720"/>
                  </a:cubicBezTo>
                  <a:cubicBezTo>
                    <a:pt x="703176" y="77268"/>
                    <a:pt x="620286" y="24904"/>
                    <a:pt x="685800" y="68580"/>
                  </a:cubicBezTo>
                  <a:cubicBezTo>
                    <a:pt x="688340" y="76200"/>
                    <a:pt x="693420" y="83408"/>
                    <a:pt x="693420" y="91440"/>
                  </a:cubicBezTo>
                  <a:cubicBezTo>
                    <a:pt x="693420" y="126464"/>
                    <a:pt x="687564" y="139488"/>
                    <a:pt x="678180" y="167640"/>
                  </a:cubicBezTo>
                  <a:cubicBezTo>
                    <a:pt x="662940" y="165100"/>
                    <a:pt x="644087" y="170194"/>
                    <a:pt x="632460" y="160020"/>
                  </a:cubicBezTo>
                  <a:cubicBezTo>
                    <a:pt x="620370" y="149442"/>
                    <a:pt x="617220" y="114300"/>
                    <a:pt x="617220" y="114300"/>
                  </a:cubicBezTo>
                  <a:cubicBezTo>
                    <a:pt x="619760" y="99060"/>
                    <a:pt x="619954" y="83237"/>
                    <a:pt x="624840" y="68580"/>
                  </a:cubicBezTo>
                  <a:cubicBezTo>
                    <a:pt x="627736" y="59892"/>
                    <a:pt x="632929" y="51441"/>
                    <a:pt x="640080" y="45720"/>
                  </a:cubicBezTo>
                  <a:cubicBezTo>
                    <a:pt x="645049" y="41745"/>
                    <a:pt x="691429" y="30978"/>
                    <a:pt x="693420" y="30480"/>
                  </a:cubicBezTo>
                  <a:cubicBezTo>
                    <a:pt x="708660" y="33020"/>
                    <a:pt x="726483" y="29240"/>
                    <a:pt x="739140" y="38100"/>
                  </a:cubicBezTo>
                  <a:cubicBezTo>
                    <a:pt x="761924" y="54049"/>
                    <a:pt x="769157" y="82430"/>
                    <a:pt x="777240" y="106680"/>
                  </a:cubicBezTo>
                  <a:cubicBezTo>
                    <a:pt x="775407" y="115843"/>
                    <a:pt x="771442" y="160815"/>
                    <a:pt x="754380" y="167640"/>
                  </a:cubicBezTo>
                  <a:cubicBezTo>
                    <a:pt x="746922" y="170623"/>
                    <a:pt x="739140" y="162560"/>
                    <a:pt x="731520" y="160020"/>
                  </a:cubicBezTo>
                  <a:cubicBezTo>
                    <a:pt x="721737" y="120886"/>
                    <a:pt x="720637" y="134972"/>
                    <a:pt x="731520" y="91440"/>
                  </a:cubicBezTo>
                  <a:cubicBezTo>
                    <a:pt x="733468" y="83648"/>
                    <a:pt x="733460" y="74260"/>
                    <a:pt x="739140" y="68580"/>
                  </a:cubicBezTo>
                  <a:cubicBezTo>
                    <a:pt x="744820" y="62900"/>
                    <a:pt x="754816" y="64552"/>
                    <a:pt x="762000" y="60960"/>
                  </a:cubicBezTo>
                  <a:cubicBezTo>
                    <a:pt x="770191" y="56864"/>
                    <a:pt x="776491" y="49439"/>
                    <a:pt x="784860" y="45720"/>
                  </a:cubicBezTo>
                  <a:cubicBezTo>
                    <a:pt x="799540" y="39196"/>
                    <a:pt x="830580" y="30480"/>
                    <a:pt x="830580" y="30480"/>
                  </a:cubicBezTo>
                  <a:cubicBezTo>
                    <a:pt x="838200" y="33020"/>
                    <a:pt x="847760" y="32420"/>
                    <a:pt x="853440" y="38100"/>
                  </a:cubicBezTo>
                  <a:cubicBezTo>
                    <a:pt x="875272" y="59932"/>
                    <a:pt x="883874" y="79850"/>
                    <a:pt x="891540" y="106680"/>
                  </a:cubicBezTo>
                  <a:cubicBezTo>
                    <a:pt x="894417" y="116750"/>
                    <a:pt x="896620" y="127000"/>
                    <a:pt x="899160" y="137160"/>
                  </a:cubicBezTo>
                  <a:cubicBezTo>
                    <a:pt x="896620" y="144780"/>
                    <a:pt x="897220" y="154340"/>
                    <a:pt x="891540" y="160020"/>
                  </a:cubicBezTo>
                  <a:cubicBezTo>
                    <a:pt x="876300" y="175260"/>
                    <a:pt x="861060" y="165100"/>
                    <a:pt x="845820" y="160020"/>
                  </a:cubicBezTo>
                  <a:cubicBezTo>
                    <a:pt x="840740" y="152400"/>
                    <a:pt x="831716" y="146247"/>
                    <a:pt x="830580" y="137160"/>
                  </a:cubicBezTo>
                  <a:cubicBezTo>
                    <a:pt x="829021" y="124688"/>
                    <a:pt x="838776" y="85365"/>
                    <a:pt x="853440" y="76200"/>
                  </a:cubicBezTo>
                  <a:cubicBezTo>
                    <a:pt x="867063" y="67686"/>
                    <a:pt x="883920" y="66040"/>
                    <a:pt x="899160" y="60960"/>
                  </a:cubicBezTo>
                  <a:lnTo>
                    <a:pt x="922020" y="53340"/>
                  </a:lnTo>
                  <a:cubicBezTo>
                    <a:pt x="942340" y="55880"/>
                    <a:pt x="966204" y="49217"/>
                    <a:pt x="982980" y="60960"/>
                  </a:cubicBezTo>
                  <a:cubicBezTo>
                    <a:pt x="996140" y="70172"/>
                    <a:pt x="998220" y="106680"/>
                    <a:pt x="998220" y="106680"/>
                  </a:cubicBezTo>
                  <a:cubicBezTo>
                    <a:pt x="995680" y="124460"/>
                    <a:pt x="1001376" y="145652"/>
                    <a:pt x="990600" y="160020"/>
                  </a:cubicBezTo>
                  <a:cubicBezTo>
                    <a:pt x="985105" y="167346"/>
                    <a:pt x="976271" y="146273"/>
                    <a:pt x="975360" y="137160"/>
                  </a:cubicBezTo>
                  <a:cubicBezTo>
                    <a:pt x="973573" y="119289"/>
                    <a:pt x="979458" y="101432"/>
                    <a:pt x="982980" y="83820"/>
                  </a:cubicBezTo>
                  <a:cubicBezTo>
                    <a:pt x="984555" y="75944"/>
                    <a:pt x="984064" y="65629"/>
                    <a:pt x="990600" y="60960"/>
                  </a:cubicBezTo>
                  <a:cubicBezTo>
                    <a:pt x="1003672" y="51623"/>
                    <a:pt x="1036320" y="45720"/>
                    <a:pt x="1036320" y="45720"/>
                  </a:cubicBezTo>
                  <a:cubicBezTo>
                    <a:pt x="1051560" y="48260"/>
                    <a:pt x="1070413" y="43166"/>
                    <a:pt x="1082040" y="53340"/>
                  </a:cubicBezTo>
                  <a:cubicBezTo>
                    <a:pt x="1094130" y="63918"/>
                    <a:pt x="1097280" y="99060"/>
                    <a:pt x="1097280" y="99060"/>
                  </a:cubicBezTo>
                  <a:cubicBezTo>
                    <a:pt x="1094740" y="121920"/>
                    <a:pt x="1099946" y="147068"/>
                    <a:pt x="1089660" y="167640"/>
                  </a:cubicBezTo>
                  <a:cubicBezTo>
                    <a:pt x="1086068" y="174824"/>
                    <a:pt x="1073072" y="165038"/>
                    <a:pt x="1066800" y="160020"/>
                  </a:cubicBezTo>
                  <a:cubicBezTo>
                    <a:pt x="1053371" y="149277"/>
                    <a:pt x="1048960" y="129359"/>
                    <a:pt x="1043940" y="114300"/>
                  </a:cubicBezTo>
                  <a:cubicBezTo>
                    <a:pt x="1063093" y="56841"/>
                    <a:pt x="1037257" y="127666"/>
                    <a:pt x="1066800" y="68580"/>
                  </a:cubicBezTo>
                  <a:cubicBezTo>
                    <a:pt x="1070392" y="61396"/>
                    <a:pt x="1067446" y="49705"/>
                    <a:pt x="1074420" y="45720"/>
                  </a:cubicBezTo>
                  <a:cubicBezTo>
                    <a:pt x="1087835" y="38055"/>
                    <a:pt x="1104900" y="40640"/>
                    <a:pt x="1120140" y="38100"/>
                  </a:cubicBezTo>
                  <a:cubicBezTo>
                    <a:pt x="1140460" y="40640"/>
                    <a:pt x="1162087" y="38115"/>
                    <a:pt x="1181100" y="45720"/>
                  </a:cubicBezTo>
                  <a:cubicBezTo>
                    <a:pt x="1189603" y="49121"/>
                    <a:pt x="1192244" y="60389"/>
                    <a:pt x="1196340" y="68580"/>
                  </a:cubicBezTo>
                  <a:cubicBezTo>
                    <a:pt x="1199932" y="75764"/>
                    <a:pt x="1200368" y="84256"/>
                    <a:pt x="1203960" y="91440"/>
                  </a:cubicBezTo>
                  <a:cubicBezTo>
                    <a:pt x="1233503" y="150526"/>
                    <a:pt x="1207667" y="79701"/>
                    <a:pt x="1226820" y="137160"/>
                  </a:cubicBezTo>
                  <a:cubicBezTo>
                    <a:pt x="1211665" y="147263"/>
                    <a:pt x="1200029" y="163709"/>
                    <a:pt x="1181100" y="144780"/>
                  </a:cubicBezTo>
                  <a:cubicBezTo>
                    <a:pt x="1168148" y="131828"/>
                    <a:pt x="1150620" y="99060"/>
                    <a:pt x="1150620" y="99060"/>
                  </a:cubicBezTo>
                  <a:cubicBezTo>
                    <a:pt x="1165455" y="54556"/>
                    <a:pt x="1146633" y="95427"/>
                    <a:pt x="1181100" y="60960"/>
                  </a:cubicBezTo>
                  <a:cubicBezTo>
                    <a:pt x="1215567" y="26493"/>
                    <a:pt x="1174696" y="45315"/>
                    <a:pt x="1219200" y="30480"/>
                  </a:cubicBezTo>
                  <a:cubicBezTo>
                    <a:pt x="1221097" y="30859"/>
                    <a:pt x="1272350" y="39472"/>
                    <a:pt x="1280160" y="45720"/>
                  </a:cubicBezTo>
                  <a:cubicBezTo>
                    <a:pt x="1287311" y="51441"/>
                    <a:pt x="1288924" y="62104"/>
                    <a:pt x="1295400" y="68580"/>
                  </a:cubicBezTo>
                  <a:cubicBezTo>
                    <a:pt x="1301876" y="75056"/>
                    <a:pt x="1310640" y="78740"/>
                    <a:pt x="1318260" y="83820"/>
                  </a:cubicBezTo>
                  <a:cubicBezTo>
                    <a:pt x="1328363" y="98975"/>
                    <a:pt x="1344809" y="110611"/>
                    <a:pt x="1325880" y="129540"/>
                  </a:cubicBezTo>
                  <a:cubicBezTo>
                    <a:pt x="1320200" y="135220"/>
                    <a:pt x="1310640" y="134620"/>
                    <a:pt x="1303020" y="137160"/>
                  </a:cubicBezTo>
                  <a:cubicBezTo>
                    <a:pt x="1297940" y="129540"/>
                    <a:pt x="1288691" y="123413"/>
                    <a:pt x="1287780" y="114300"/>
                  </a:cubicBezTo>
                  <a:cubicBezTo>
                    <a:pt x="1286501" y="101513"/>
                    <a:pt x="1290635" y="50603"/>
                    <a:pt x="1310640" y="38100"/>
                  </a:cubicBezTo>
                  <a:cubicBezTo>
                    <a:pt x="1324263" y="29586"/>
                    <a:pt x="1356360" y="22860"/>
                    <a:pt x="1356360" y="22860"/>
                  </a:cubicBezTo>
                  <a:cubicBezTo>
                    <a:pt x="1374663" y="27436"/>
                    <a:pt x="1396544" y="29275"/>
                    <a:pt x="1409700" y="45720"/>
                  </a:cubicBezTo>
                  <a:cubicBezTo>
                    <a:pt x="1414718" y="51992"/>
                    <a:pt x="1413728" y="61396"/>
                    <a:pt x="1417320" y="68580"/>
                  </a:cubicBezTo>
                  <a:cubicBezTo>
                    <a:pt x="1421416" y="76771"/>
                    <a:pt x="1428841" y="83071"/>
                    <a:pt x="1432560" y="91440"/>
                  </a:cubicBezTo>
                  <a:cubicBezTo>
                    <a:pt x="1439084" y="106120"/>
                    <a:pt x="1447800" y="137160"/>
                    <a:pt x="1447800" y="137160"/>
                  </a:cubicBezTo>
                  <a:cubicBezTo>
                    <a:pt x="1445260" y="144780"/>
                    <a:pt x="1447364" y="156428"/>
                    <a:pt x="1440180" y="160020"/>
                  </a:cubicBezTo>
                  <a:cubicBezTo>
                    <a:pt x="1416957" y="171631"/>
                    <a:pt x="1412603" y="138249"/>
                    <a:pt x="1409700" y="129540"/>
                  </a:cubicBezTo>
                  <a:cubicBezTo>
                    <a:pt x="1414276" y="111237"/>
                    <a:pt x="1416115" y="89356"/>
                    <a:pt x="1432560" y="76200"/>
                  </a:cubicBezTo>
                  <a:cubicBezTo>
                    <a:pt x="1438832" y="71182"/>
                    <a:pt x="1447800" y="71120"/>
                    <a:pt x="1455420" y="68580"/>
                  </a:cubicBezTo>
                  <a:cubicBezTo>
                    <a:pt x="1495713" y="75295"/>
                    <a:pt x="1501141" y="64773"/>
                    <a:pt x="1516380" y="99060"/>
                  </a:cubicBezTo>
                  <a:cubicBezTo>
                    <a:pt x="1522904" y="113740"/>
                    <a:pt x="1531620" y="144780"/>
                    <a:pt x="1531620" y="144780"/>
                  </a:cubicBezTo>
                  <a:cubicBezTo>
                    <a:pt x="1529080" y="154940"/>
                    <a:pt x="1530542" y="167082"/>
                    <a:pt x="1524000" y="175260"/>
                  </a:cubicBezTo>
                  <a:cubicBezTo>
                    <a:pt x="1518982" y="181532"/>
                    <a:pt x="1506820" y="188560"/>
                    <a:pt x="1501140" y="182880"/>
                  </a:cubicBezTo>
                  <a:cubicBezTo>
                    <a:pt x="1489781" y="171521"/>
                    <a:pt x="1485900" y="137160"/>
                    <a:pt x="1485900" y="137160"/>
                  </a:cubicBezTo>
                  <a:cubicBezTo>
                    <a:pt x="1492098" y="118567"/>
                    <a:pt x="1493988" y="106212"/>
                    <a:pt x="1508760" y="91440"/>
                  </a:cubicBezTo>
                  <a:cubicBezTo>
                    <a:pt x="1515236" y="84964"/>
                    <a:pt x="1523429" y="80296"/>
                    <a:pt x="1531620" y="76200"/>
                  </a:cubicBezTo>
                  <a:cubicBezTo>
                    <a:pt x="1538804" y="72608"/>
                    <a:pt x="1546860" y="71120"/>
                    <a:pt x="1554480" y="68580"/>
                  </a:cubicBezTo>
                  <a:cubicBezTo>
                    <a:pt x="1567324" y="87846"/>
                    <a:pt x="1572833" y="91766"/>
                    <a:pt x="1577340" y="114300"/>
                  </a:cubicBezTo>
                  <a:cubicBezTo>
                    <a:pt x="1578336" y="119281"/>
                    <a:pt x="1577340" y="124460"/>
                    <a:pt x="1577340" y="129540"/>
                  </a:cubicBez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2" name="TextBox 35">
            <a:extLst>
              <a:ext uri="{FF2B5EF4-FFF2-40B4-BE49-F238E27FC236}">
                <a16:creationId xmlns:a16="http://schemas.microsoft.com/office/drawing/2014/main" id="{55437BB0-7D6B-B952-1AFF-D152E2F0ABE1}"/>
              </a:ext>
            </a:extLst>
          </p:cNvPr>
          <p:cNvSpPr txBox="1"/>
          <p:nvPr/>
        </p:nvSpPr>
        <p:spPr>
          <a:xfrm>
            <a:off x="841959" y="247742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2"/>
                </a:solidFill>
              </a:rPr>
              <a:t>独立测量</a:t>
            </a:r>
            <a:endParaRPr lang="en-US" altLang="zh-CN" dirty="0">
              <a:solidFill>
                <a:schemeClr val="tx2"/>
              </a:solidFill>
            </a:endParaRPr>
          </a:p>
          <a:p>
            <a:pPr algn="l"/>
            <a:r>
              <a:rPr lang="zh-CN" altLang="en-US" dirty="0">
                <a:solidFill>
                  <a:schemeClr val="tx2"/>
                </a:solidFill>
              </a:rPr>
              <a:t>多组数据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8" name="Right Arrow 22">
            <a:extLst>
              <a:ext uri="{FF2B5EF4-FFF2-40B4-BE49-F238E27FC236}">
                <a16:creationId xmlns:a16="http://schemas.microsoft.com/office/drawing/2014/main" id="{027DB923-D7BA-F784-43B8-F53F4CF2E7D4}"/>
              </a:ext>
            </a:extLst>
          </p:cNvPr>
          <p:cNvSpPr/>
          <p:nvPr/>
        </p:nvSpPr>
        <p:spPr>
          <a:xfrm>
            <a:off x="4521006" y="1471883"/>
            <a:ext cx="326022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7CF320C9-2A85-17D6-BF01-8AB221A6D5BD}"/>
              </a:ext>
            </a:extLst>
          </p:cNvPr>
          <p:cNvSpPr txBox="1"/>
          <p:nvPr/>
        </p:nvSpPr>
        <p:spPr>
          <a:xfrm>
            <a:off x="6994977" y="251077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最小化</a:t>
            </a:r>
            <a:endParaRPr lang="en-US" altLang="zh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误差平方和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ACCF9B51-26AC-6F05-6A62-F4108C0395D4}"/>
              </a:ext>
            </a:extLst>
          </p:cNvPr>
          <p:cNvSpPr txBox="1"/>
          <p:nvPr/>
        </p:nvSpPr>
        <p:spPr>
          <a:xfrm>
            <a:off x="4125462" y="251077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线性模型</a:t>
            </a:r>
            <a:endParaRPr lang="en-CN" altLang="zh-CN" dirty="0">
              <a:solidFill>
                <a:schemeClr val="tx2"/>
              </a:solidFill>
            </a:endParaRPr>
          </a:p>
          <a:p>
            <a:pPr algn="l"/>
            <a:r>
              <a:rPr lang="zh-CN" altLang="en-US" dirty="0">
                <a:solidFill>
                  <a:schemeClr val="tx2"/>
                </a:solidFill>
              </a:rPr>
              <a:t>胡克定律</a:t>
            </a:r>
            <a:endParaRPr lang="en-US" altLang="zh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25">
                <a:extLst>
                  <a:ext uri="{FF2B5EF4-FFF2-40B4-BE49-F238E27FC236}">
                    <a16:creationId xmlns:a16="http://schemas.microsoft.com/office/drawing/2014/main" id="{BAD47D97-4B6F-0AA7-C20A-A0B0505658DD}"/>
                  </a:ext>
                </a:extLst>
              </p:cNvPr>
              <p:cNvSpPr txBox="1"/>
              <p:nvPr/>
            </p:nvSpPr>
            <p:spPr>
              <a:xfrm>
                <a:off x="5313205" y="1597433"/>
                <a:ext cx="1700722" cy="615553"/>
              </a:xfrm>
              <a:prstGeom prst="rect">
                <a:avLst/>
              </a:prstGeom>
              <a:noFill/>
              <a:ln w="38100">
                <a:noFill/>
                <a:prstDash val="sysDot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𝑘𝑥</m:t>
                      </m:r>
                    </m:oMath>
                  </m:oMathPara>
                </a14:m>
                <a:endParaRPr lang="en-CN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25">
                <a:extLst>
                  <a:ext uri="{FF2B5EF4-FFF2-40B4-BE49-F238E27FC236}">
                    <a16:creationId xmlns:a16="http://schemas.microsoft.com/office/drawing/2014/main" id="{BAD47D97-4B6F-0AA7-C20A-A0B050565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205" y="1597433"/>
                <a:ext cx="1700722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22">
            <a:extLst>
              <a:ext uri="{FF2B5EF4-FFF2-40B4-BE49-F238E27FC236}">
                <a16:creationId xmlns:a16="http://schemas.microsoft.com/office/drawing/2014/main" id="{6A288806-F3A2-9111-A692-8DFF108AB6D4}"/>
              </a:ext>
            </a:extLst>
          </p:cNvPr>
          <p:cNvSpPr/>
          <p:nvPr/>
        </p:nvSpPr>
        <p:spPr>
          <a:xfrm>
            <a:off x="7442598" y="1482833"/>
            <a:ext cx="326022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9220EC7-A6AD-6312-E3D8-2C7152E73DEA}"/>
                  </a:ext>
                </a:extLst>
              </p:cNvPr>
              <p:cNvSpPr txBox="1"/>
              <p:nvPr/>
            </p:nvSpPr>
            <p:spPr>
              <a:xfrm>
                <a:off x="7984146" y="3786113"/>
                <a:ext cx="4207854" cy="630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dirty="0"/>
                  <a:t>误差函数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9220EC7-A6AD-6312-E3D8-2C7152E7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146" y="3786113"/>
                <a:ext cx="4207854" cy="630622"/>
              </a:xfrm>
              <a:prstGeom prst="rect">
                <a:avLst/>
              </a:prstGeom>
              <a:blipFill>
                <a:blip r:embed="rId12"/>
                <a:stretch>
                  <a:fillRect l="-1594" t="-41346" b="-1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8507C2-8D4F-B7CE-AD7F-5C0E478D6389}"/>
                  </a:ext>
                </a:extLst>
              </p:cNvPr>
              <p:cNvSpPr txBox="1"/>
              <p:nvPr/>
            </p:nvSpPr>
            <p:spPr>
              <a:xfrm>
                <a:off x="8522086" y="2318413"/>
                <a:ext cx="3290022" cy="744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32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8507C2-8D4F-B7CE-AD7F-5C0E478D6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086" y="2318413"/>
                <a:ext cx="3290022" cy="7443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C163EC2-A742-3721-306C-6FAD959BF4D2}"/>
                  </a:ext>
                </a:extLst>
              </p:cNvPr>
              <p:cNvSpPr txBox="1"/>
              <p:nvPr/>
            </p:nvSpPr>
            <p:spPr>
              <a:xfrm>
                <a:off x="7984146" y="4427432"/>
                <a:ext cx="4036258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矩阵形式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  <m: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𝑿𝑲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𝑿𝑲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C163EC2-A742-3721-306C-6FAD959BF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146" y="4427432"/>
                <a:ext cx="4036258" cy="618311"/>
              </a:xfrm>
              <a:prstGeom prst="rect">
                <a:avLst/>
              </a:prstGeom>
              <a:blipFill>
                <a:blip r:embed="rId14"/>
                <a:stretch>
                  <a:fillRect l="-1662" b="-12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49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0" grpId="0"/>
      <p:bldP spid="21" grpId="0"/>
      <p:bldP spid="22" grpId="0"/>
      <p:bldP spid="23" grpId="0" animBg="1"/>
      <p:bldP spid="12" grpId="0"/>
      <p:bldP spid="38" grpId="0" animBg="1"/>
      <p:bldP spid="39" grpId="0"/>
      <p:bldP spid="40" grpId="0"/>
      <p:bldP spid="42" grpId="0"/>
      <p:bldP spid="44" grpId="0" animBg="1"/>
      <p:bldP spid="45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sq-3d" descr="lsq-3d">
            <a:hlinkClick r:id="" action="ppaction://media"/>
            <a:extLst>
              <a:ext uri="{FF2B5EF4-FFF2-40B4-BE49-F238E27FC236}">
                <a16:creationId xmlns:a16="http://schemas.microsoft.com/office/drawing/2014/main" id="{C8326F93-8517-B143-8429-6105BB74F6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b="17084"/>
          <a:stretch/>
        </p:blipFill>
        <p:spPr>
          <a:xfrm>
            <a:off x="5214180" y="1013141"/>
            <a:ext cx="5979600" cy="4958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9D7B8C-F403-574C-9EB0-0F53E1FD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回归问题</a:t>
            </a:r>
            <a:r>
              <a:rPr lang="zh-CN" altLang="en-US" dirty="0"/>
              <a:t>：最小二乘法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F19538-5B2A-4C4F-9DAC-8C0B6C648D8E}"/>
                  </a:ext>
                </a:extLst>
              </p:cNvPr>
              <p:cNvSpPr txBox="1"/>
              <p:nvPr/>
            </p:nvSpPr>
            <p:spPr>
              <a:xfrm>
                <a:off x="281374" y="1140024"/>
                <a:ext cx="548393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000" b="1" dirty="0">
                    <a:solidFill>
                      <a:schemeClr val="tx1"/>
                    </a:solidFill>
                  </a:rPr>
                  <a:t>最小二乘法的几何意义</a:t>
                </a:r>
                <a:r>
                  <a:rPr lang="zh-CN" altLang="en-US" sz="2000" b="1" dirty="0">
                    <a:solidFill>
                      <a:schemeClr val="tx1"/>
                    </a:solidFill>
                  </a:rPr>
                  <a:t>：</a:t>
                </a:r>
                <a:br>
                  <a:rPr lang="en-US" altLang="zh-CN" sz="2000" b="1" dirty="0">
                    <a:solidFill>
                      <a:schemeClr val="tx1"/>
                    </a:solidFill>
                  </a:rPr>
                </a:br>
                <a:r>
                  <a:rPr lang="en-US" altLang="zh-CN" sz="2000" b="1" dirty="0">
                    <a:solidFill>
                      <a:schemeClr val="tx1"/>
                    </a:solidFill>
                  </a:rPr>
                  <a:t>	</a:t>
                </a:r>
                <a:r>
                  <a:rPr lang="en-CN" altLang="zh-CN" sz="2000" b="1" dirty="0">
                    <a:solidFill>
                      <a:schemeClr val="tx1"/>
                    </a:solidFill>
                  </a:rPr>
                  <a:t>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altLang="zh-C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CN" altLang="zh-CN" sz="2000" b="1" dirty="0">
                    <a:solidFill>
                      <a:schemeClr val="tx1"/>
                    </a:solidFill>
                  </a:rPr>
                  <a:t> 使得目标向量与拟合向量距离最短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F19538-5B2A-4C4F-9DAC-8C0B6C648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74" y="1140024"/>
                <a:ext cx="5483937" cy="707886"/>
              </a:xfrm>
              <a:prstGeom prst="rect">
                <a:avLst/>
              </a:prstGeom>
              <a:blipFill>
                <a:blip r:embed="rId6"/>
                <a:stretch>
                  <a:fillRect l="-1111" t="-6897" r="-1111" b="-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C98050-813C-6D47-9229-0B3463E15BCB}"/>
                  </a:ext>
                </a:extLst>
              </p:cNvPr>
              <p:cNvSpPr txBox="1"/>
              <p:nvPr/>
            </p:nvSpPr>
            <p:spPr>
              <a:xfrm>
                <a:off x="756307" y="2035121"/>
                <a:ext cx="167353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N" sz="36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C98050-813C-6D47-9229-0B3463E1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7" y="2035121"/>
                <a:ext cx="1673535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3">
            <a:extLst>
              <a:ext uri="{FF2B5EF4-FFF2-40B4-BE49-F238E27FC236}">
                <a16:creationId xmlns:a16="http://schemas.microsoft.com/office/drawing/2014/main" id="{80562401-49B8-234E-A5E3-EF998B051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66024"/>
              </p:ext>
            </p:extLst>
          </p:nvPr>
        </p:nvGraphicFramePr>
        <p:xfrm>
          <a:off x="1296646" y="3835510"/>
          <a:ext cx="108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0551164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932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7C476A-D6D7-B341-8356-210F3F9FA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038971"/>
              </p:ext>
            </p:extLst>
          </p:nvPr>
        </p:nvGraphicFramePr>
        <p:xfrm>
          <a:off x="3747523" y="3835510"/>
          <a:ext cx="36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F7936A7E-8098-5042-80F4-F701B0C95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77086"/>
              </p:ext>
            </p:extLst>
          </p:nvPr>
        </p:nvGraphicFramePr>
        <p:xfrm>
          <a:off x="2852193" y="3830155"/>
          <a:ext cx="36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6820630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17121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7221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597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5276A2-271F-7B4C-B8AB-FEB8A8D31072}"/>
                  </a:ext>
                </a:extLst>
              </p:cNvPr>
              <p:cNvSpPr txBox="1"/>
              <p:nvPr/>
            </p:nvSpPr>
            <p:spPr>
              <a:xfrm flipH="1">
                <a:off x="2908958" y="3398973"/>
                <a:ext cx="2464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5276A2-271F-7B4C-B8AB-FEB8A8D31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08958" y="3398973"/>
                <a:ext cx="24646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2A03D1-A260-4E4B-8ED7-FA1039491B05}"/>
                  </a:ext>
                </a:extLst>
              </p:cNvPr>
              <p:cNvSpPr txBox="1"/>
              <p:nvPr/>
            </p:nvSpPr>
            <p:spPr>
              <a:xfrm>
                <a:off x="3269378" y="3757573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2A03D1-A260-4E4B-8ED7-FA1039491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78" y="3757573"/>
                <a:ext cx="36000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E91E36-3BF6-1D41-92C4-D4D7A6AFDB51}"/>
                  </a:ext>
                </a:extLst>
              </p:cNvPr>
              <p:cNvSpPr txBox="1"/>
              <p:nvPr/>
            </p:nvSpPr>
            <p:spPr>
              <a:xfrm>
                <a:off x="3700212" y="3374744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E91E36-3BF6-1D41-92C4-D4D7A6AFD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12" y="3374744"/>
                <a:ext cx="43938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874027-ECCA-614D-A02E-ACCE27775287}"/>
                  </a:ext>
                </a:extLst>
              </p:cNvPr>
              <p:cNvSpPr txBox="1"/>
              <p:nvPr/>
            </p:nvSpPr>
            <p:spPr>
              <a:xfrm>
                <a:off x="1664069" y="3374744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874027-ECCA-614D-A02E-ACCE2777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069" y="3374744"/>
                <a:ext cx="4393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EE727-547B-3845-B506-939E7A860934}"/>
                  </a:ext>
                </a:extLst>
              </p:cNvPr>
              <p:cNvSpPr txBox="1"/>
              <p:nvPr/>
            </p:nvSpPr>
            <p:spPr>
              <a:xfrm>
                <a:off x="2428545" y="3759443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EE727-547B-3845-B506-939E7A86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545" y="3759443"/>
                <a:ext cx="3600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B89DB2-4B92-D74C-9CB1-5AFF15410B11}"/>
                  </a:ext>
                </a:extLst>
              </p:cNvPr>
              <p:cNvSpPr txBox="1"/>
              <p:nvPr/>
            </p:nvSpPr>
            <p:spPr>
              <a:xfrm>
                <a:off x="10574145" y="2392680"/>
                <a:ext cx="1133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8CA58C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rgbClr val="8CA58C"/>
                    </a:solidFill>
                  </a:rPr>
                  <a:t> </a:t>
                </a:r>
                <a:r>
                  <a:rPr lang="zh-CN" altLang="en-US" dirty="0">
                    <a:solidFill>
                      <a:srgbClr val="8CA58C"/>
                    </a:solidFill>
                  </a:rPr>
                  <a:t>的</a:t>
                </a:r>
                <a:r>
                  <a:rPr lang="en-CN" dirty="0">
                    <a:solidFill>
                      <a:srgbClr val="8CA58C"/>
                    </a:solidFill>
                  </a:rPr>
                  <a:t>列空间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B89DB2-4B92-D74C-9CB1-5AFF15410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145" y="2392680"/>
                <a:ext cx="1133324" cy="276999"/>
              </a:xfrm>
              <a:prstGeom prst="rect">
                <a:avLst/>
              </a:prstGeom>
              <a:blipFill>
                <a:blip r:embed="rId13"/>
                <a:stretch>
                  <a:fillRect l="-7527" t="-35556" r="-12366" b="-4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6A89E3-9E02-9949-B2AC-BF1778E9DC0A}"/>
              </a:ext>
            </a:extLst>
          </p:cNvPr>
          <p:cNvCxnSpPr/>
          <p:nvPr/>
        </p:nvCxnSpPr>
        <p:spPr>
          <a:xfrm flipH="1">
            <a:off x="9768840" y="2537460"/>
            <a:ext cx="784860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227370-4243-8842-AA2D-E76E50C32DD3}"/>
                  </a:ext>
                </a:extLst>
              </p:cNvPr>
              <p:cNvSpPr txBox="1"/>
              <p:nvPr/>
            </p:nvSpPr>
            <p:spPr>
              <a:xfrm>
                <a:off x="6848630" y="1791296"/>
                <a:ext cx="4190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A5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>
                    <a:solidFill>
                      <a:srgbClr val="FFA500"/>
                    </a:solidFill>
                  </a:rPr>
                  <a:t> </a:t>
                </a:r>
                <a:r>
                  <a:rPr lang="en-CN" dirty="0">
                    <a:solidFill>
                      <a:srgbClr val="FFA500"/>
                    </a:solidFill>
                  </a:rPr>
                  <a:t>目标向量: 待拟合数据组成的高维向量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227370-4243-8842-AA2D-E76E50C32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630" y="1791296"/>
                <a:ext cx="4190571" cy="369332"/>
              </a:xfrm>
              <a:prstGeom prst="rect">
                <a:avLst/>
              </a:prstGeom>
              <a:blipFill>
                <a:blip r:embed="rId14"/>
                <a:stretch>
                  <a:fillRect t="-15000" r="-727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CEA2C3-9C62-2B42-8093-B459CFD7364A}"/>
              </a:ext>
            </a:extLst>
          </p:cNvPr>
          <p:cNvCxnSpPr/>
          <p:nvPr/>
        </p:nvCxnSpPr>
        <p:spPr>
          <a:xfrm flipH="1">
            <a:off x="8097366" y="2181940"/>
            <a:ext cx="818034" cy="1056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FBC2ED-8C1F-3D4F-AE04-A70BF1C2EE53}"/>
                  </a:ext>
                </a:extLst>
              </p:cNvPr>
              <p:cNvSpPr txBox="1"/>
              <p:nvPr/>
            </p:nvSpPr>
            <p:spPr>
              <a:xfrm>
                <a:off x="10413717" y="4016438"/>
                <a:ext cx="1451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4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̂"/>
                        <m:ctrlPr>
                          <a:rPr lang="en-US" b="1" i="1" smtClean="0">
                            <a:solidFill>
                              <a:srgbClr val="0064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0064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006400"/>
                    </a:solidFill>
                  </a:rPr>
                  <a:t> </a:t>
                </a:r>
                <a:r>
                  <a:rPr lang="en-CN" dirty="0">
                    <a:solidFill>
                      <a:srgbClr val="006400"/>
                    </a:solidFill>
                  </a:rPr>
                  <a:t>拟合向量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FBC2ED-8C1F-3D4F-AE04-A70BF1C2E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717" y="4016438"/>
                <a:ext cx="1451038" cy="369332"/>
              </a:xfrm>
              <a:prstGeom prst="rect">
                <a:avLst/>
              </a:prstGeom>
              <a:blipFill>
                <a:blip r:embed="rId15"/>
                <a:stretch>
                  <a:fillRect t="-15000" r="-3361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67CDA5-4BDB-D246-A811-87231925B98F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8343900" y="3741331"/>
            <a:ext cx="2069817" cy="459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id="{F8551E1C-50E5-7C5E-CF82-8EDC72619ADA}"/>
                  </a:ext>
                </a:extLst>
              </p:cNvPr>
              <p:cNvSpPr txBox="1"/>
              <p:nvPr/>
            </p:nvSpPr>
            <p:spPr>
              <a:xfrm>
                <a:off x="756307" y="2717029"/>
                <a:ext cx="166552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̂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N" sz="3600" b="1" dirty="0"/>
              </a:p>
            </p:txBody>
          </p:sp>
        </mc:Choice>
        <mc:Fallback xmlns=""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id="{F8551E1C-50E5-7C5E-CF82-8EDC72619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7" y="2717029"/>
                <a:ext cx="1665521" cy="5539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0067050E-9A6F-A686-FA4E-A6A03A74E124}"/>
              </a:ext>
            </a:extLst>
          </p:cNvPr>
          <p:cNvSpPr txBox="1"/>
          <p:nvPr/>
        </p:nvSpPr>
        <p:spPr>
          <a:xfrm>
            <a:off x="2443017" y="2125662"/>
            <a:ext cx="2837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未必有解、未必有唯一解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C8F60A-60C4-ED8B-97B2-598926E4311E}"/>
              </a:ext>
            </a:extLst>
          </p:cNvPr>
          <p:cNvSpPr txBox="1"/>
          <p:nvPr/>
        </p:nvSpPr>
        <p:spPr>
          <a:xfrm>
            <a:off x="2428545" y="2873023"/>
            <a:ext cx="3102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欧式距离下存在唯一最小解</a:t>
            </a:r>
            <a:endParaRPr lang="zh-CN" alt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A182E1F-15B5-40B4-9070-6A771F36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242" y="6318000"/>
            <a:ext cx="1362214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8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588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2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  <p:bldLst>
      <p:bldP spid="3" grpId="0"/>
      <p:bldP spid="4" grpId="0"/>
      <p:bldP spid="8" grpId="0"/>
      <p:bldP spid="9" grpId="0"/>
      <p:bldP spid="10" grpId="0"/>
      <p:bldP spid="11" grpId="0"/>
      <p:bldP spid="12" grpId="0"/>
      <p:bldP spid="14" grpId="0"/>
      <p:bldP spid="17" grpId="0"/>
      <p:bldP spid="20" grpId="0"/>
      <p:bldP spid="13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5196-AC5F-C197-EAFB-559B5CB6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分类问题</a:t>
            </a:r>
            <a:r>
              <a:rPr lang="zh-CN" altLang="en-US" dirty="0"/>
              <a:t>：二分类问题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D319D-BDAE-C9FB-C3DE-7ED43F3FF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76" y="968375"/>
            <a:ext cx="5163126" cy="49212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69B1-3D88-3BF7-FA50-F563D3ECE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9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E9CFE34-1F53-02BC-0490-55A0392A8CA4}"/>
                  </a:ext>
                </a:extLst>
              </p:cNvPr>
              <p:cNvSpPr txBox="1"/>
              <p:nvPr/>
            </p:nvSpPr>
            <p:spPr>
              <a:xfrm>
                <a:off x="5942302" y="1238160"/>
                <a:ext cx="6148098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2"/>
                    </a:solidFill>
                  </a:rPr>
                  <a:t>例</a:t>
                </a:r>
                <a:r>
                  <a:rPr lang="en-US" altLang="zh-CN" b="1" dirty="0">
                    <a:solidFill>
                      <a:schemeClr val="tx2"/>
                    </a:solidFill>
                  </a:rPr>
                  <a:t>. 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平面散点二分类问题</a:t>
                </a:r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r>
                  <a:rPr lang="zh-CN" altLang="en-US" dirty="0">
                    <a:solidFill>
                      <a:schemeClr val="tx2"/>
                    </a:solidFill>
                  </a:rPr>
                  <a:t>图中的平面上有一系列散点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，其中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绿色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的点具有标签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，而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红色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的点具有标签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。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r>
                  <a:rPr lang="zh-CN" altLang="en-US" dirty="0">
                    <a:solidFill>
                      <a:schemeClr val="tx2"/>
                    </a:solidFill>
                  </a:rPr>
                  <a:t>图中的黑色实线代表一个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决策边界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，它尝试将平面分成两个区域，其中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红色区域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将覆盖尽可能多的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红点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以及尽可能少的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绿点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，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绿色区域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则相反。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endParaRPr lang="en-US" altLang="zh-CN" dirty="0">
                  <a:solidFill>
                    <a:schemeClr val="tx2"/>
                  </a:solidFill>
                </a:endParaRPr>
              </a:p>
              <a:p>
                <a:r>
                  <a:rPr lang="zh-CN" altLang="en-US" dirty="0">
                    <a:solidFill>
                      <a:schemeClr val="tx2"/>
                    </a:solidFill>
                  </a:rPr>
                  <a:t>显然不同的直线会带来不同的决策边界，我们的目标是尝试找到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最优的决策边界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。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E9CFE34-1F53-02BC-0490-55A0392A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302" y="1238160"/>
                <a:ext cx="6148098" cy="3108543"/>
              </a:xfrm>
              <a:prstGeom prst="rect">
                <a:avLst/>
              </a:prstGeom>
              <a:blipFill>
                <a:blip r:embed="rId3"/>
                <a:stretch>
                  <a:fillRect l="-893" t="-1569" r="-595" b="-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D8013A2A-D79F-D7AB-825F-F82EEEB137A2}"/>
              </a:ext>
            </a:extLst>
          </p:cNvPr>
          <p:cNvSpPr txBox="1"/>
          <p:nvPr/>
        </p:nvSpPr>
        <p:spPr>
          <a:xfrm>
            <a:off x="6532418" y="4616488"/>
            <a:ext cx="2837029" cy="877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如何定义“最优边界”？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如何找到“最优边界”？</a:t>
            </a:r>
          </a:p>
        </p:txBody>
      </p:sp>
    </p:spTree>
    <p:extLst>
      <p:ext uri="{BB962C8B-B14F-4D97-AF65-F5344CB8AC3E}">
        <p14:creationId xmlns:p14="http://schemas.microsoft.com/office/powerpoint/2010/main" val="28180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1E2C-4DAD-E322-9672-6E559561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0C19-7332-4670-C80D-818A6594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逻辑回归（</a:t>
            </a:r>
            <a:r>
              <a:rPr lang="en-US" altLang="zh-CN" dirty="0"/>
              <a:t>Logistic Regression</a:t>
            </a:r>
            <a:r>
              <a:rPr lang="zh-CN" altLang="en-US" dirty="0"/>
              <a:t>，</a:t>
            </a:r>
            <a:r>
              <a:rPr lang="en-US" altLang="zh-CN" dirty="0"/>
              <a:t>LR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A0F165-9F26-4520-67F8-2084BCD7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10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3353BBE-22C1-27F8-3147-3CAB9456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409" y="1159876"/>
            <a:ext cx="4369858" cy="2257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3646EA4-8485-E97F-F97B-EDC27035BE01}"/>
                  </a:ext>
                </a:extLst>
              </p:cNvPr>
              <p:cNvSpPr txBox="1"/>
              <p:nvPr/>
            </p:nvSpPr>
            <p:spPr>
              <a:xfrm>
                <a:off x="863071" y="1308107"/>
                <a:ext cx="6096000" cy="1284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schemeClr val="tx2"/>
                    </a:solidFill>
                  </a:rPr>
                  <a:t> 分类模型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sz="2400" b="1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tx2"/>
                    </a:solidFill>
                  </a:rPr>
                  <a:t>逻辑回归模型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3646EA4-8485-E97F-F97B-EDC27035B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1" y="1308107"/>
                <a:ext cx="6096000" cy="1284582"/>
              </a:xfrm>
              <a:prstGeom prst="rect">
                <a:avLst/>
              </a:prstGeom>
              <a:blipFill>
                <a:blip r:embed="rId3"/>
                <a:stretch>
                  <a:fillRect l="-16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A00F641-013E-5113-7CF5-643DD6E74A3B}"/>
              </a:ext>
            </a:extLst>
          </p:cNvPr>
          <p:cNvCxnSpPr>
            <a:cxnSpLocks/>
          </p:cNvCxnSpPr>
          <p:nvPr/>
        </p:nvCxnSpPr>
        <p:spPr>
          <a:xfrm>
            <a:off x="5232400" y="2345766"/>
            <a:ext cx="1981200" cy="143434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F49FD5B-58B9-5959-00B1-B2C4383DD7BA}"/>
                  </a:ext>
                </a:extLst>
              </p:cNvPr>
              <p:cNvSpPr txBox="1"/>
              <p:nvPr/>
            </p:nvSpPr>
            <p:spPr>
              <a:xfrm>
                <a:off x="863071" y="3672716"/>
                <a:ext cx="10898187" cy="615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schemeClr val="tx2"/>
                    </a:solidFill>
                  </a:rPr>
                  <a:t> 分类误差函数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F49FD5B-58B9-5959-00B1-B2C4383DD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1" y="3672716"/>
                <a:ext cx="10898187" cy="615874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600D5E4-4EC5-E3C0-448C-582772EB60AE}"/>
                  </a:ext>
                </a:extLst>
              </p:cNvPr>
              <p:cNvSpPr txBox="1"/>
              <p:nvPr/>
            </p:nvSpPr>
            <p:spPr>
              <a:xfrm>
                <a:off x="863071" y="4302086"/>
                <a:ext cx="11279187" cy="615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2"/>
                    </a:solidFill>
                  </a:rPr>
                  <a:t>逻辑回归误差函数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func>
                              <m:func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600D5E4-4EC5-E3C0-448C-582772EB6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1" y="4302086"/>
                <a:ext cx="11279187" cy="615874"/>
              </a:xfrm>
              <a:prstGeom prst="rect">
                <a:avLst/>
              </a:prstGeom>
              <a:blipFill>
                <a:blip r:embed="rId5"/>
                <a:stretch>
                  <a:fillRect l="-865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22">
            <a:extLst>
              <a:ext uri="{FF2B5EF4-FFF2-40B4-BE49-F238E27FC236}">
                <a16:creationId xmlns:a16="http://schemas.microsoft.com/office/drawing/2014/main" id="{F64F2EFF-9FF6-EB84-83ED-56CF5147FC6A}"/>
              </a:ext>
            </a:extLst>
          </p:cNvPr>
          <p:cNvSpPr/>
          <p:nvPr/>
        </p:nvSpPr>
        <p:spPr>
          <a:xfrm rot="5400000">
            <a:off x="2215609" y="2716236"/>
            <a:ext cx="587628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C0785B1-24B2-C98B-334E-C620FDDE7310}"/>
              </a:ext>
            </a:extLst>
          </p:cNvPr>
          <p:cNvSpPr txBox="1"/>
          <p:nvPr/>
        </p:nvSpPr>
        <p:spPr>
          <a:xfrm>
            <a:off x="863071" y="54147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课外阅读：利用最大似然估计导出逻辑回归的误差函数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19EA15-0803-C3F1-1BDF-2B3BFAEB9055}"/>
              </a:ext>
            </a:extLst>
          </p:cNvPr>
          <p:cNvSpPr txBox="1"/>
          <p:nvPr/>
        </p:nvSpPr>
        <p:spPr>
          <a:xfrm>
            <a:off x="7421608" y="384013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（不连续，不利于基于梯度的优化算法）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A4FDC7-CF0E-5B83-3503-BA6907A6C1E8}"/>
              </a:ext>
            </a:extLst>
          </p:cNvPr>
          <p:cNvSpPr txBox="1"/>
          <p:nvPr/>
        </p:nvSpPr>
        <p:spPr>
          <a:xfrm>
            <a:off x="9729933" y="445274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（具有概率解释）</a:t>
            </a:r>
          </a:p>
        </p:txBody>
      </p:sp>
    </p:spTree>
    <p:extLst>
      <p:ext uri="{BB962C8B-B14F-4D97-AF65-F5344CB8AC3E}">
        <p14:creationId xmlns:p14="http://schemas.microsoft.com/office/powerpoint/2010/main" val="166081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29" grpId="0"/>
      <p:bldP spid="32" grpId="0" animBg="1"/>
      <p:bldP spid="34" grpId="0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50A3-A2D3-819A-B2CC-64260281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4029-3C5F-1466-61DC-EAE9C89E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线性判别分析</a:t>
            </a:r>
            <a:r>
              <a:rPr lang="zh-CN" altLang="en-US" dirty="0"/>
              <a:t>（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Discriminant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，</a:t>
            </a:r>
            <a:r>
              <a:rPr lang="en-US" altLang="zh-CN" dirty="0"/>
              <a:t>LDA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735C3C-CFD7-5DA6-C58F-F44EDFB1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11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D5B5DBD2-3215-1E6D-5CB6-7882F9431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5" r="6884"/>
          <a:stretch/>
        </p:blipFill>
        <p:spPr>
          <a:xfrm>
            <a:off x="381242" y="2261590"/>
            <a:ext cx="4119121" cy="3305610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1383DBD8-8FA0-86AA-DA5E-7528708C20B6}"/>
              </a:ext>
            </a:extLst>
          </p:cNvPr>
          <p:cNvSpPr txBox="1"/>
          <p:nvPr/>
        </p:nvSpPr>
        <p:spPr>
          <a:xfrm>
            <a:off x="343616" y="1226903"/>
            <a:ext cx="831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LDA </a:t>
            </a:r>
            <a:r>
              <a:rPr lang="zh-CN" altLang="en-US" sz="2400" dirty="0">
                <a:solidFill>
                  <a:schemeClr val="tx1"/>
                </a:solidFill>
              </a:rPr>
              <a:t>的朴素思想：样本在直线上的投影点按照不同类型聚集</a:t>
            </a:r>
            <a:endParaRPr lang="en-CN" altLang="zh-CN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87069CC-6D19-D08C-50A0-23600888E097}"/>
                  </a:ext>
                </a:extLst>
              </p:cNvPr>
              <p:cNvSpPr txBox="1"/>
              <p:nvPr/>
            </p:nvSpPr>
            <p:spPr>
              <a:xfrm>
                <a:off x="4804774" y="2153493"/>
                <a:ext cx="53298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2"/>
                    </a:solidFill>
                  </a:rPr>
                  <a:t>第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000" b="1" dirty="0">
                    <a:solidFill>
                      <a:schemeClr val="tx2"/>
                    </a:solidFill>
                  </a:rPr>
                  <a:t> 类样本中心与协方差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    </a:t>
                </a:r>
                <a:r>
                  <a:rPr lang="en-US" altLang="zh-CN" sz="2000" dirty="0">
                    <a:solidFill>
                      <a:schemeClr val="tx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altLang="zh-CN" sz="2000" dirty="0">
                    <a:solidFill>
                      <a:schemeClr val="tx2"/>
                    </a:solidFill>
                  </a:rPr>
                  <a:t>)</a:t>
                </a:r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87069CC-6D19-D08C-50A0-23600888E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774" y="2153493"/>
                <a:ext cx="5329826" cy="400110"/>
              </a:xfrm>
              <a:prstGeom prst="rect">
                <a:avLst/>
              </a:prstGeom>
              <a:blipFill>
                <a:blip r:embed="rId3"/>
                <a:stretch>
                  <a:fillRect l="-1143" t="-12121" b="-28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D5299BC-1DEF-913F-E4E3-9F0B4335DED8}"/>
                  </a:ext>
                </a:extLst>
              </p:cNvPr>
              <p:cNvSpPr txBox="1"/>
              <p:nvPr/>
            </p:nvSpPr>
            <p:spPr>
              <a:xfrm>
                <a:off x="4804774" y="2605188"/>
                <a:ext cx="53298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2"/>
                    </a:solidFill>
                  </a:rPr>
                  <a:t>投影后所得中心与协方差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D5299BC-1DEF-913F-E4E3-9F0B4335D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774" y="2605188"/>
                <a:ext cx="5329826" cy="400110"/>
              </a:xfrm>
              <a:prstGeom prst="rect">
                <a:avLst/>
              </a:prstGeom>
              <a:blipFill>
                <a:blip r:embed="rId4"/>
                <a:stretch>
                  <a:fillRect l="-1143" t="-12121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9EFDC2D9-7AD5-028C-8817-CD598F1E656F}"/>
              </a:ext>
            </a:extLst>
          </p:cNvPr>
          <p:cNvGrpSpPr/>
          <p:nvPr/>
        </p:nvGrpSpPr>
        <p:grpSpPr>
          <a:xfrm>
            <a:off x="4804774" y="3309174"/>
            <a:ext cx="4820323" cy="1210442"/>
            <a:chOff x="4804774" y="3141468"/>
            <a:chExt cx="4820323" cy="121044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48ACFBE-743F-818E-1BC9-30295C21747B}"/>
                </a:ext>
              </a:extLst>
            </p:cNvPr>
            <p:cNvSpPr txBox="1"/>
            <p:nvPr/>
          </p:nvSpPr>
          <p:spPr>
            <a:xfrm>
              <a:off x="4804774" y="3141468"/>
              <a:ext cx="20532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/>
                <a:t>最大化目标函数</a:t>
              </a:r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9F0DC6F-4AAD-BFB6-DE7B-1773159928A1}"/>
                    </a:ext>
                  </a:extLst>
                </p:cNvPr>
                <p:cNvSpPr txBox="1"/>
                <p:nvPr/>
              </p:nvSpPr>
              <p:spPr>
                <a:xfrm>
                  <a:off x="5995257" y="3677302"/>
                  <a:ext cx="3629840" cy="6746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den>
                        </m:f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den>
                        </m:f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9F0DC6F-4AAD-BFB6-DE7B-177315992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5257" y="3677302"/>
                  <a:ext cx="3629840" cy="674608"/>
                </a:xfrm>
                <a:prstGeom prst="rect">
                  <a:avLst/>
                </a:prstGeom>
                <a:blipFill>
                  <a:blip r:embed="rId5"/>
                  <a:stretch>
                    <a:fillRect b="-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2BE9B12-A48B-5206-0661-1124E5BDB10A}"/>
                  </a:ext>
                </a:extLst>
              </p:cNvPr>
              <p:cNvSpPr txBox="1"/>
              <p:nvPr/>
            </p:nvSpPr>
            <p:spPr>
              <a:xfrm>
                <a:off x="4711375" y="4773737"/>
                <a:ext cx="6096000" cy="55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argm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ax</m:t>
                              </m:r>
                            </m:e>
                            <m:lim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2BE9B12-A48B-5206-0661-1124E5BD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75" y="4773737"/>
                <a:ext cx="6096000" cy="554319"/>
              </a:xfrm>
              <a:prstGeom prst="rect">
                <a:avLst/>
              </a:prstGeom>
              <a:blipFill>
                <a:blip r:embed="rId6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3F71D5B-1539-874D-4D41-1D9D9FA9B1D2}"/>
                  </a:ext>
                </a:extLst>
              </p:cNvPr>
              <p:cNvSpPr txBox="1"/>
              <p:nvPr/>
            </p:nvSpPr>
            <p:spPr>
              <a:xfrm>
                <a:off x="4804774" y="556720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课外阅读：利用拉格朗日乘子法导出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3F71D5B-1539-874D-4D41-1D9D9FA9B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774" y="5567200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l="-800" t="-1311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0EAB0C0-93D2-D813-08CB-5BD30151D27A}"/>
              </a:ext>
            </a:extLst>
          </p:cNvPr>
          <p:cNvSpPr txBox="1"/>
          <p:nvPr/>
        </p:nvSpPr>
        <p:spPr>
          <a:xfrm>
            <a:off x="9779433" y="387217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（增大不同类的距离）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AB108E-DF71-F86F-9831-60094EA45D62}"/>
              </a:ext>
            </a:extLst>
          </p:cNvPr>
          <p:cNvSpPr txBox="1"/>
          <p:nvPr/>
        </p:nvSpPr>
        <p:spPr>
          <a:xfrm>
            <a:off x="9779433" y="424748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（减小同一类的距离）</a:t>
            </a:r>
          </a:p>
        </p:txBody>
      </p:sp>
    </p:spTree>
    <p:extLst>
      <p:ext uri="{BB962C8B-B14F-4D97-AF65-F5344CB8AC3E}">
        <p14:creationId xmlns:p14="http://schemas.microsoft.com/office/powerpoint/2010/main" val="373726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24" grpId="0"/>
      <p:bldP spid="25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0E6C-EDF9-650A-9851-9E9BFF68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多分类学习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6BD3A-5D50-54CD-B289-F018514F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12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9317288-D96F-00E5-9845-541423DE2C15}"/>
              </a:ext>
            </a:extLst>
          </p:cNvPr>
          <p:cNvSpPr txBox="1"/>
          <p:nvPr/>
        </p:nvSpPr>
        <p:spPr>
          <a:xfrm>
            <a:off x="381242" y="1050462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如何利用已有的二分类算法进行多分类问题？</a:t>
            </a:r>
            <a:endParaRPr lang="en-CN" altLang="zh-CN" sz="2400" b="1" dirty="0">
              <a:solidFill>
                <a:schemeClr val="tx1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07568878-29B0-6A62-0FFC-D0F1A7F1B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09" y="2537308"/>
            <a:ext cx="5512794" cy="202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0DBCED-C50F-FAE5-873B-4EB5E7908358}"/>
                  </a:ext>
                </a:extLst>
              </p:cNvPr>
              <p:cNvSpPr txBox="1"/>
              <p:nvPr/>
            </p:nvSpPr>
            <p:spPr>
              <a:xfrm>
                <a:off x="983611" y="5075067"/>
                <a:ext cx="4308056" cy="865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OvO (One vs One)</a:t>
                </a:r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en-US" altLang="zh-CN" sz="1600" i="1" dirty="0">
                    <a:solidFill>
                      <a:schemeClr val="tx2"/>
                    </a:solidFill>
                  </a:rPr>
                  <a:t>N </a:t>
                </a:r>
                <a:r>
                  <a:rPr lang="zh-CN" altLang="en-US" sz="1600" dirty="0">
                    <a:solidFill>
                      <a:schemeClr val="tx2"/>
                    </a:solidFill>
                  </a:rPr>
                  <a:t>个类别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160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chemeClr val="tx2"/>
                    </a:solidFill>
                  </a:rPr>
                  <a:t> 个二分类任务</a:t>
                </a:r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</a:rPr>
                  <a:t>更耗时，但更准确，没有混淆其它的类别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0DBCED-C50F-FAE5-873B-4EB5E790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11" y="5075067"/>
                <a:ext cx="4308056" cy="865237"/>
              </a:xfrm>
              <a:prstGeom prst="rect">
                <a:avLst/>
              </a:prstGeom>
              <a:blipFill>
                <a:blip r:embed="rId4"/>
                <a:stretch>
                  <a:fillRect t="-4965" b="-7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5FCB48-FF8C-B233-C576-5331750E82C4}"/>
                  </a:ext>
                </a:extLst>
              </p:cNvPr>
              <p:cNvSpPr txBox="1"/>
              <p:nvPr/>
            </p:nvSpPr>
            <p:spPr>
              <a:xfrm>
                <a:off x="7198145" y="5075067"/>
                <a:ext cx="4010244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OvR (One vs Rest)</a:t>
                </a:r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en-US" altLang="zh-CN" sz="1600" i="1" dirty="0">
                    <a:solidFill>
                      <a:schemeClr val="tx2"/>
                    </a:solidFill>
                  </a:rPr>
                  <a:t>N </a:t>
                </a:r>
                <a:r>
                  <a:rPr lang="zh-CN" altLang="en-US" sz="1600" dirty="0">
                    <a:solidFill>
                      <a:schemeClr val="tx2"/>
                    </a:solidFill>
                  </a:rPr>
                  <a:t>个类别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16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1600" b="0" i="1" dirty="0">
                    <a:solidFill>
                      <a:schemeClr val="tx2"/>
                    </a:solidFill>
                    <a:latin typeface="+mj-lt"/>
                  </a:rPr>
                  <a:t>N </a:t>
                </a:r>
                <a:r>
                  <a:rPr lang="zh-CN" altLang="en-US" sz="1600" dirty="0">
                    <a:solidFill>
                      <a:schemeClr val="tx2"/>
                    </a:solidFill>
                  </a:rPr>
                  <a:t>个二分类任务</a:t>
                </a:r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</a:rPr>
                  <a:t>更常用，但容易存在类别不平衡的问题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5FCB48-FF8C-B233-C576-5331750E8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145" y="5075067"/>
                <a:ext cx="4010244" cy="861774"/>
              </a:xfrm>
              <a:prstGeom prst="rect">
                <a:avLst/>
              </a:prstGeom>
              <a:blipFill>
                <a:blip r:embed="rId5"/>
                <a:stretch>
                  <a:fillRect t="-4965" b="-7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302F62A-6755-32F8-6B34-96EE18157CED}"/>
              </a:ext>
            </a:extLst>
          </p:cNvPr>
          <p:cNvCxnSpPr/>
          <p:nvPr/>
        </p:nvCxnSpPr>
        <p:spPr>
          <a:xfrm>
            <a:off x="6096000" y="2370667"/>
            <a:ext cx="0" cy="245533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274F0B9-C327-8704-AA37-BC984592010D}"/>
              </a:ext>
            </a:extLst>
          </p:cNvPr>
          <p:cNvCxnSpPr/>
          <p:nvPr/>
        </p:nvCxnSpPr>
        <p:spPr>
          <a:xfrm flipH="1">
            <a:off x="1270000" y="2946400"/>
            <a:ext cx="1176867" cy="762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5873BED-603C-27D3-9127-2B9455F438ED}"/>
              </a:ext>
            </a:extLst>
          </p:cNvPr>
          <p:cNvCxnSpPr/>
          <p:nvPr/>
        </p:nvCxnSpPr>
        <p:spPr>
          <a:xfrm flipH="1">
            <a:off x="1574800" y="3225800"/>
            <a:ext cx="872067" cy="42333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CCAEA65-23AB-5F5E-FF2B-E24FE433A807}"/>
              </a:ext>
            </a:extLst>
          </p:cNvPr>
          <p:cNvCxnSpPr>
            <a:cxnSpLocks/>
          </p:cNvCxnSpPr>
          <p:nvPr/>
        </p:nvCxnSpPr>
        <p:spPr>
          <a:xfrm flipH="1">
            <a:off x="2446867" y="3318933"/>
            <a:ext cx="431800" cy="42333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7DEB02A-CA6D-FE01-ADE6-0A551F01C66B}"/>
              </a:ext>
            </a:extLst>
          </p:cNvPr>
          <p:cNvCxnSpPr>
            <a:cxnSpLocks/>
          </p:cNvCxnSpPr>
          <p:nvPr/>
        </p:nvCxnSpPr>
        <p:spPr>
          <a:xfrm>
            <a:off x="3149600" y="3318933"/>
            <a:ext cx="287867" cy="42333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D852481-2894-D183-B5A7-679B0D241653}"/>
              </a:ext>
            </a:extLst>
          </p:cNvPr>
          <p:cNvCxnSpPr>
            <a:cxnSpLocks/>
          </p:cNvCxnSpPr>
          <p:nvPr/>
        </p:nvCxnSpPr>
        <p:spPr>
          <a:xfrm>
            <a:off x="3640667" y="3166533"/>
            <a:ext cx="550333" cy="4826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463BFD6-3762-1830-602F-3EF90816626C}"/>
              </a:ext>
            </a:extLst>
          </p:cNvPr>
          <p:cNvCxnSpPr>
            <a:cxnSpLocks/>
          </p:cNvCxnSpPr>
          <p:nvPr/>
        </p:nvCxnSpPr>
        <p:spPr>
          <a:xfrm>
            <a:off x="3750733" y="2844800"/>
            <a:ext cx="829734" cy="1778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6CBCC49-3267-0757-B1BF-5CB63B5C45D7}"/>
              </a:ext>
            </a:extLst>
          </p:cNvPr>
          <p:cNvSpPr txBox="1"/>
          <p:nvPr/>
        </p:nvSpPr>
        <p:spPr>
          <a:xfrm>
            <a:off x="2344141" y="208181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四分类问题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E15850D-4252-BB6B-D0C8-398FB6449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952" y="2537308"/>
            <a:ext cx="5224725" cy="2158171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801372-E207-DBAC-7BA1-D684C2930D73}"/>
              </a:ext>
            </a:extLst>
          </p:cNvPr>
          <p:cNvCxnSpPr>
            <a:cxnSpLocks/>
          </p:cNvCxnSpPr>
          <p:nvPr/>
        </p:nvCxnSpPr>
        <p:spPr>
          <a:xfrm flipH="1">
            <a:off x="7323667" y="3128433"/>
            <a:ext cx="1089866" cy="4699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8337468-F726-8029-DBF7-90D30AB0964E}"/>
              </a:ext>
            </a:extLst>
          </p:cNvPr>
          <p:cNvCxnSpPr>
            <a:cxnSpLocks/>
          </p:cNvCxnSpPr>
          <p:nvPr/>
        </p:nvCxnSpPr>
        <p:spPr>
          <a:xfrm flipH="1">
            <a:off x="8483600" y="3363383"/>
            <a:ext cx="296333" cy="25301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C91773A-0E8D-CFA5-3478-E21EB3A1A473}"/>
              </a:ext>
            </a:extLst>
          </p:cNvPr>
          <p:cNvCxnSpPr>
            <a:cxnSpLocks/>
          </p:cNvCxnSpPr>
          <p:nvPr/>
        </p:nvCxnSpPr>
        <p:spPr>
          <a:xfrm>
            <a:off x="9330267" y="3363383"/>
            <a:ext cx="339804" cy="2349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F08E3D2-84FF-D934-605D-6F537D69BD8E}"/>
              </a:ext>
            </a:extLst>
          </p:cNvPr>
          <p:cNvCxnSpPr>
            <a:cxnSpLocks/>
          </p:cNvCxnSpPr>
          <p:nvPr/>
        </p:nvCxnSpPr>
        <p:spPr>
          <a:xfrm>
            <a:off x="9670071" y="3166533"/>
            <a:ext cx="1311196" cy="4826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50265A2-0676-0CFE-1A08-CD7CD82A4043}"/>
              </a:ext>
            </a:extLst>
          </p:cNvPr>
          <p:cNvSpPr txBox="1"/>
          <p:nvPr/>
        </p:nvSpPr>
        <p:spPr>
          <a:xfrm>
            <a:off x="8380791" y="208181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四分类问题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D70F5AB-2423-5E92-5A8B-5ADF14A62DAF}"/>
              </a:ext>
            </a:extLst>
          </p:cNvPr>
          <p:cNvSpPr txBox="1"/>
          <p:nvPr/>
        </p:nvSpPr>
        <p:spPr>
          <a:xfrm>
            <a:off x="6392576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是不是红色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B77B6D-EE09-3E75-FE8D-9DBB6825851C}"/>
              </a:ext>
            </a:extLst>
          </p:cNvPr>
          <p:cNvSpPr txBox="1"/>
          <p:nvPr/>
        </p:nvSpPr>
        <p:spPr>
          <a:xfrm>
            <a:off x="7777747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是不是蓝色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AB588B1-2568-F7A5-B30C-4ECBB5706652}"/>
              </a:ext>
            </a:extLst>
          </p:cNvPr>
          <p:cNvSpPr txBox="1"/>
          <p:nvPr/>
        </p:nvSpPr>
        <p:spPr>
          <a:xfrm>
            <a:off x="9162918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是不是紫色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73CFBCA-FDFB-4790-6E37-4D113B1020D6}"/>
              </a:ext>
            </a:extLst>
          </p:cNvPr>
          <p:cNvSpPr txBox="1"/>
          <p:nvPr/>
        </p:nvSpPr>
        <p:spPr>
          <a:xfrm>
            <a:off x="10548088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是不是绿色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9E3924-EF73-3C03-13E5-225308A5B131}"/>
              </a:ext>
            </a:extLst>
          </p:cNvPr>
          <p:cNvSpPr txBox="1"/>
          <p:nvPr/>
        </p:nvSpPr>
        <p:spPr>
          <a:xfrm>
            <a:off x="344747" y="2480846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红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蓝？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266034-59C0-A1CE-639F-485200FD2FDB}"/>
              </a:ext>
            </a:extLst>
          </p:cNvPr>
          <p:cNvSpPr txBox="1"/>
          <p:nvPr/>
        </p:nvSpPr>
        <p:spPr>
          <a:xfrm>
            <a:off x="4924694" y="2555459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紫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绿？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F4D8777-65E9-900A-E03F-E6476B52BCD8}"/>
              </a:ext>
            </a:extLst>
          </p:cNvPr>
          <p:cNvSpPr txBox="1"/>
          <p:nvPr/>
        </p:nvSpPr>
        <p:spPr>
          <a:xfrm>
            <a:off x="4476882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蓝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紫？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008A50E-E4D7-F9FA-B4E6-A2CA829A5348}"/>
              </a:ext>
            </a:extLst>
          </p:cNvPr>
          <p:cNvSpPr txBox="1"/>
          <p:nvPr/>
        </p:nvSpPr>
        <p:spPr>
          <a:xfrm>
            <a:off x="3279644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蓝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绿？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EE92A9F-AD6B-955D-76E9-EBDFF731D982}"/>
              </a:ext>
            </a:extLst>
          </p:cNvPr>
          <p:cNvSpPr txBox="1"/>
          <p:nvPr/>
        </p:nvSpPr>
        <p:spPr>
          <a:xfrm>
            <a:off x="2082405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紫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红？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62002C1-E870-B48B-8C2A-D8337C33D3D5}"/>
              </a:ext>
            </a:extLst>
          </p:cNvPr>
          <p:cNvSpPr txBox="1"/>
          <p:nvPr/>
        </p:nvSpPr>
        <p:spPr>
          <a:xfrm>
            <a:off x="885166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红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绿？</a:t>
            </a:r>
          </a:p>
        </p:txBody>
      </p:sp>
    </p:spTree>
    <p:extLst>
      <p:ext uri="{BB962C8B-B14F-4D97-AF65-F5344CB8AC3E}">
        <p14:creationId xmlns:p14="http://schemas.microsoft.com/office/powerpoint/2010/main" val="321360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6" grpId="0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13E1-BF5A-E128-C303-155C0A78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328CB-B9B0-B9E4-0878-68D880DE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F0EB75-C518-3F2C-2F1C-437005A4D4B9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一、绪论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485AF6-403C-4ECD-AF6C-A8868D7B9D6A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AB92A9-C5E4-F39D-69CC-5C0938C12B29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三、</a:t>
            </a:r>
            <a:r>
              <a:rPr lang="zh-CN" altLang="en-CN"/>
              <a:t>决策树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E88BE3-C4B7-00CD-44DD-BEC4C9F35E6A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C5448A-DCBD-4B84-8C49-4CD051736635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13</a:t>
            </a:fld>
            <a:r>
              <a:rPr lang="en-US" altLang="zh-CN">
                <a:solidFill>
                  <a:schemeClr val="bg1"/>
                </a:solidFill>
              </a:rPr>
              <a:t>/26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3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710D-66C3-FFE3-B89D-2C81751B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决策树</a:t>
            </a:r>
            <a:r>
              <a:rPr lang="zh-CN" altLang="en-US" dirty="0"/>
              <a:t>的基本流程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36CEF-FC83-7882-189B-CFAECDCA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14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7186E-77C4-408D-174E-71932086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67"/>
          <a:stretch/>
        </p:blipFill>
        <p:spPr>
          <a:xfrm>
            <a:off x="863842" y="2351616"/>
            <a:ext cx="4749800" cy="33720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2BE08C-37F7-2136-5081-F4C271D99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37" b="98682" l="1613" r="99707">
                        <a14:foregroundMark x1="28739" y1="17326" x2="28739" y2="17326"/>
                        <a14:foregroundMark x1="74373" y1="86707" x2="76545" y2="89326"/>
                        <a14:foregroundMark x1="26404" y1="28849" x2="72376" y2="84299"/>
                        <a14:foregroundMark x1="9824" y1="8851" x2="20954" y2="22276"/>
                        <a14:foregroundMark x1="76833" y1="14124" x2="1906" y2="90960"/>
                        <a14:foregroundMark x1="75660" y1="21092" x2="38710" y2="91149"/>
                        <a14:foregroundMark x1="89150" y1="35782" x2="82111" y2="27684"/>
                        <a14:foregroundMark x1="73900" y1="44256" x2="75637" y2="79203"/>
                        <a14:foregroundMark x1="87348" y1="84355" x2="87456" y2="86579"/>
                        <a14:foregroundMark x1="87197" y1="81232" x2="87233" y2="81976"/>
                        <a14:foregroundMark x1="86769" y1="72384" x2="86848" y2="74019"/>
                        <a14:foregroundMark x1="83724" y1="9416" x2="85665" y2="49551"/>
                        <a14:foregroundMark x1="22018" y1="20589" x2="19941" y2="22222"/>
                        <a14:foregroundMark x1="36950" y1="8851" x2="25657" y2="17728"/>
                        <a14:foregroundMark x1="19941" y1="22222" x2="17279" y2="28105"/>
                        <a14:foregroundMark x1="9139" y1="56232" x2="18035" y2="86441"/>
                        <a14:foregroundMark x1="18035" y1="86441" x2="46774" y2="91525"/>
                        <a14:foregroundMark x1="46774" y1="91525" x2="82845" y2="63653"/>
                        <a14:foregroundMark x1="82845" y1="63653" x2="69501" y2="10546"/>
                        <a14:foregroundMark x1="69501" y1="10546" x2="28316" y2="20054"/>
                        <a14:foregroundMark x1="27819" y1="26604" x2="53372" y2="72316"/>
                        <a14:foregroundMark x1="53372" y1="72316" x2="73167" y2="20151"/>
                        <a14:foregroundMark x1="73167" y1="20151" x2="51613" y2="64783"/>
                        <a14:foregroundMark x1="51613" y1="64783" x2="44135" y2="38983"/>
                        <a14:foregroundMark x1="44135" y1="38983" x2="55718" y2="36347"/>
                        <a14:foregroundMark x1="55718" y1="36347" x2="27566" y2="82298"/>
                        <a14:foregroundMark x1="27566" y1="82298" x2="7038" y2="84934"/>
                        <a14:foregroundMark x1="7038" y1="84934" x2="14223" y2="65537"/>
                        <a14:foregroundMark x1="96921" y1="46328" x2="93255" y2="73823"/>
                        <a14:foregroundMark x1="54692" y1="6026" x2="79326" y2="7345"/>
                        <a14:foregroundMark x1="16569" y1="6591" x2="4545" y2="47458"/>
                        <a14:foregroundMark x1="13636" y1="9416" x2="41202" y2="8851"/>
                        <a14:foregroundMark x1="92815" y1="10923" x2="99853" y2="41431"/>
                        <a14:foregroundMark x1="89150" y1="5650" x2="8651" y2="5273"/>
                        <a14:foregroundMark x1="7625" y1="8851" x2="3519" y2="35782"/>
                        <a14:foregroundMark x1="3959" y1="8851" x2="3959" y2="8851"/>
                        <a14:foregroundMark x1="2933" y1="3578" x2="22727" y2="3766"/>
                        <a14:foregroundMark x1="22727" y1="3766" x2="74194" y2="1883"/>
                        <a14:foregroundMark x1="74194" y1="1883" x2="96481" y2="2637"/>
                        <a14:foregroundMark x1="96481" y1="2637" x2="94428" y2="8663"/>
                        <a14:foregroundMark x1="80938" y1="27872" x2="47947" y2="96234"/>
                        <a14:foregroundMark x1="47947" y1="96234" x2="13050" y2="93597"/>
                        <a14:foregroundMark x1="13050" y1="93597" x2="16569" y2="92467"/>
                        <a14:foregroundMark x1="15689" y1="30508" x2="15689" y2="30508"/>
                        <a14:foregroundMark x1="30645" y1="26742" x2="14809" y2="44821"/>
                        <a14:foregroundMark x1="28152" y1="14689" x2="1613" y2="55179"/>
                        <a14:foregroundMark x1="1613" y1="55179" x2="1613" y2="55179"/>
                        <a14:backgroundMark x1="74340" y1="99623" x2="73167" y2="83804"/>
                        <a14:backgroundMark x1="73167" y1="83804" x2="87830" y2="77024"/>
                        <a14:backgroundMark x1="87830" y1="77024" x2="92082" y2="77778"/>
                        <a14:backgroundMark x1="74340" y1="93597" x2="96774" y2="87947"/>
                        <a14:backgroundMark x1="90176" y1="92090" x2="78006" y2="95480"/>
                        <a14:backgroundMark x1="78006" y1="96422" x2="90176" y2="96422"/>
                        <a14:backgroundMark x1="90176" y1="96422" x2="86657" y2="79849"/>
                        <a14:backgroundMark x1="90323" y1="36535" x2="87830" y2="725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960" y="2351616"/>
            <a:ext cx="4330923" cy="33720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178891D-A8B4-BA00-B553-68F8EF9B2541}"/>
              </a:ext>
            </a:extLst>
          </p:cNvPr>
          <p:cNvSpPr txBox="1"/>
          <p:nvPr/>
        </p:nvSpPr>
        <p:spPr>
          <a:xfrm>
            <a:off x="1084714" y="5782906"/>
            <a:ext cx="4308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西瓜问题的一棵决策树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C69C49-914A-D09B-E618-453447162C18}"/>
              </a:ext>
            </a:extLst>
          </p:cNvPr>
          <p:cNvSpPr txBox="1"/>
          <p:nvPr/>
        </p:nvSpPr>
        <p:spPr>
          <a:xfrm>
            <a:off x="7083827" y="5782906"/>
            <a:ext cx="4308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出门问题的一棵决策树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328AB03-4C95-4A5E-0A43-CB7257A4A35B}"/>
              </a:ext>
            </a:extLst>
          </p:cNvPr>
          <p:cNvSpPr txBox="1"/>
          <p:nvPr/>
        </p:nvSpPr>
        <p:spPr>
          <a:xfrm>
            <a:off x="381241" y="1050462"/>
            <a:ext cx="11010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一种树状结构，其中每个内部节点表示一个判断，每个分支代表一个判断结果，最后每个叶节点代表一种分类结果。</a:t>
            </a:r>
            <a:endParaRPr lang="en-CN" altLang="zh-C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0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3AFC-A10F-6CC1-827D-6CE4830A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C4E3-DC35-CC59-22E8-4C207B43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决策树</a:t>
            </a:r>
            <a:r>
              <a:rPr lang="zh-CN" altLang="en-US" dirty="0"/>
              <a:t>的基本流程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663AF-ACCC-2D41-6277-A158BEF5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15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FBEF631-2766-15A2-8B87-D17E72947F14}"/>
              </a:ext>
            </a:extLst>
          </p:cNvPr>
          <p:cNvSpPr txBox="1"/>
          <p:nvPr/>
        </p:nvSpPr>
        <p:spPr>
          <a:xfrm>
            <a:off x="381240" y="1050462"/>
            <a:ext cx="11556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决策树的生成是一个递归过程：对整体集合进行第一次划分，然后对每个部分都生成一个决策子树。</a:t>
            </a:r>
            <a:endParaRPr lang="en-CN" altLang="zh-CN" sz="2000" b="1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CE928B-1332-5835-43DC-7DBD83D7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8" y="2974962"/>
            <a:ext cx="3891624" cy="23844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E60853-1031-37BD-489F-62B5ADBC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08" y="2974962"/>
            <a:ext cx="3891624" cy="23844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784C2D6-2EAE-366A-7362-465AA674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949" y="2974962"/>
            <a:ext cx="3891624" cy="2384437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C90FA77E-37A5-6A81-2347-332C3C34B794}"/>
              </a:ext>
            </a:extLst>
          </p:cNvPr>
          <p:cNvSpPr/>
          <p:nvPr/>
        </p:nvSpPr>
        <p:spPr>
          <a:xfrm>
            <a:off x="84668" y="3522133"/>
            <a:ext cx="4039640" cy="18372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1189FC-AFD4-F081-C7BF-67854D1D837A}"/>
              </a:ext>
            </a:extLst>
          </p:cNvPr>
          <p:cNvSpPr txBox="1"/>
          <p:nvPr/>
        </p:nvSpPr>
        <p:spPr>
          <a:xfrm>
            <a:off x="884484" y="2101396"/>
            <a:ext cx="309180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首次划分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根据纹理制定三种标准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444D9F6-58E4-76BC-A6AE-05AF7E76FC6D}"/>
              </a:ext>
            </a:extLst>
          </p:cNvPr>
          <p:cNvSpPr/>
          <p:nvPr/>
        </p:nvSpPr>
        <p:spPr>
          <a:xfrm>
            <a:off x="6193228" y="3522133"/>
            <a:ext cx="1822704" cy="81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B04CFA-9103-A8BC-F6D6-E3D39834292C}"/>
              </a:ext>
            </a:extLst>
          </p:cNvPr>
          <p:cNvSpPr txBox="1"/>
          <p:nvPr/>
        </p:nvSpPr>
        <p:spPr>
          <a:xfrm>
            <a:off x="5054600" y="2085823"/>
            <a:ext cx="208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不断划分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对于纹理清晰的瓜按根蒂继续划分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7EA321-BACA-0F62-2C4E-F4441B31F5B1}"/>
              </a:ext>
            </a:extLst>
          </p:cNvPr>
          <p:cNvSpPr txBox="1"/>
          <p:nvPr/>
        </p:nvSpPr>
        <p:spPr>
          <a:xfrm>
            <a:off x="9060455" y="2113188"/>
            <a:ext cx="209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递归生成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对每个部分不断划分直至分类结束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75B98B1-EEF4-5C4B-2681-655DB88ED3A2}"/>
              </a:ext>
            </a:extLst>
          </p:cNvPr>
          <p:cNvSpPr/>
          <p:nvPr/>
        </p:nvSpPr>
        <p:spPr>
          <a:xfrm>
            <a:off x="4082466" y="4059546"/>
            <a:ext cx="3891625" cy="13272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EE25A6-1F2D-C6AA-1736-948C7E390CC3}"/>
              </a:ext>
            </a:extLst>
          </p:cNvPr>
          <p:cNvSpPr txBox="1"/>
          <p:nvPr/>
        </p:nvSpPr>
        <p:spPr>
          <a:xfrm>
            <a:off x="3048000" y="58075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划分标准？何时停止？泛化能力？</a:t>
            </a:r>
          </a:p>
        </p:txBody>
      </p:sp>
    </p:spTree>
    <p:extLst>
      <p:ext uri="{BB962C8B-B14F-4D97-AF65-F5344CB8AC3E}">
        <p14:creationId xmlns:p14="http://schemas.microsoft.com/office/powerpoint/2010/main" val="148636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1" grpId="0"/>
      <p:bldP spid="14" grpId="0"/>
      <p:bldP spid="16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AD1A-1E98-CE2A-2796-B9B8C0AD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剪枝处理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282ED-54FA-8193-D5D4-38B605D3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16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00A4E-485F-8910-FE9B-16744EB5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168"/>
          <a:stretch/>
        </p:blipFill>
        <p:spPr>
          <a:xfrm>
            <a:off x="381242" y="2322087"/>
            <a:ext cx="5918938" cy="3760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E8272-09FF-E127-A710-5F918581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32"/>
          <a:stretch/>
        </p:blipFill>
        <p:spPr>
          <a:xfrm>
            <a:off x="6096000" y="2984819"/>
            <a:ext cx="5918938" cy="3097634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1C2BAE74-EE64-243D-67B8-961343F640B3}"/>
              </a:ext>
            </a:extLst>
          </p:cNvPr>
          <p:cNvSpPr txBox="1"/>
          <p:nvPr/>
        </p:nvSpPr>
        <p:spPr>
          <a:xfrm>
            <a:off x="381242" y="1157144"/>
            <a:ext cx="8185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过大过密的决策树容易导致“过拟合”，因此需要及时进行“剪枝”</a:t>
            </a:r>
            <a:endParaRPr lang="en-CN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9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93513-48C0-F6B8-69E4-451F2CD0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多变量决策树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238B-BF64-95E5-306E-D1DE4E31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17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F8DDF0-39CD-6167-0EB9-481024D7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40" y="1958705"/>
            <a:ext cx="2480246" cy="25352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96628A-441D-4A17-B12A-283F4FAFB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589" y="2183348"/>
            <a:ext cx="2438987" cy="23106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38D345-6B55-0029-888C-AC583D5E0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92234"/>
            <a:ext cx="3204609" cy="18017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D351E7-541F-F5AC-7B9C-4FDEBAD48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712" y="2279624"/>
            <a:ext cx="2659045" cy="2214342"/>
          </a:xfrm>
          <a:prstGeom prst="rect">
            <a:avLst/>
          </a:prstGeo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8C298A55-0E84-08CF-91A8-59D335195B4A}"/>
              </a:ext>
            </a:extLst>
          </p:cNvPr>
          <p:cNvSpPr txBox="1"/>
          <p:nvPr/>
        </p:nvSpPr>
        <p:spPr>
          <a:xfrm>
            <a:off x="381240" y="1050462"/>
            <a:ext cx="11556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内部叶子节点未必一定得是单变量判断条件，有时候使用多变量条件会得到更好的决策树。</a:t>
            </a:r>
            <a:endParaRPr lang="en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F8F152-CD4F-A18F-C094-8705407571A7}"/>
              </a:ext>
            </a:extLst>
          </p:cNvPr>
          <p:cNvSpPr txBox="1"/>
          <p:nvPr/>
        </p:nvSpPr>
        <p:spPr>
          <a:xfrm>
            <a:off x="238200" y="4694322"/>
            <a:ext cx="51463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单变量决策树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划分边界必定垂直坐标轴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如果真实边界比较复杂时需要大量分段近似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D33EBF-77BC-152E-1378-4E8F157EE098}"/>
              </a:ext>
            </a:extLst>
          </p:cNvPr>
          <p:cNvSpPr txBox="1"/>
          <p:nvPr/>
        </p:nvSpPr>
        <p:spPr>
          <a:xfrm>
            <a:off x="6468485" y="4694322"/>
            <a:ext cx="56642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多变量决策树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划分边界未必垂直坐标轴（甚至未必是直线段）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拟合真实边界的能力更强，但自由度太高也会使得学习困难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1B62398E-6DFE-6743-E7C4-94111D1EBCA6}"/>
              </a:ext>
            </a:extLst>
          </p:cNvPr>
          <p:cNvSpPr txBox="1"/>
          <p:nvPr/>
        </p:nvSpPr>
        <p:spPr>
          <a:xfrm>
            <a:off x="269188" y="5807538"/>
            <a:ext cx="9076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讨论：如果在叶子节点使用线性模型，或者继续嵌套决策树，或者甚至使用神经网络，会怎么样？</a:t>
            </a:r>
            <a:endParaRPr lang="en-CN" sz="16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98AD23-433D-4D2D-B417-C4B19C23FA51}"/>
              </a:ext>
            </a:extLst>
          </p:cNvPr>
          <p:cNvSpPr txBox="1"/>
          <p:nvPr/>
        </p:nvSpPr>
        <p:spPr>
          <a:xfrm>
            <a:off x="5016501" y="1459322"/>
            <a:ext cx="615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（例如变量之间可能有相关性，只用单变量条件不容易刻画）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3000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B947-C54E-79A7-510F-86055AF3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F31D7-268B-1425-14E2-A984AF07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C9215A-9BD0-C99B-2C22-D94A8BF491D8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一、绪论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197E95-E6E0-BCEA-8937-C17693C6A96C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二、线性分类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032673-0E2F-D87D-CB73-0FBA73DB8F0D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三、决策树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4BACB1-892A-BB5D-B91E-DC3EEE4FD887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5AFF99-F04E-424D-B5F3-A9277D5D0A79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18</a:t>
            </a:fld>
            <a:r>
              <a:rPr lang="en-US" altLang="zh-CN">
                <a:solidFill>
                  <a:schemeClr val="bg1"/>
                </a:solidFill>
              </a:rPr>
              <a:t>/26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39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9498-BACC-AB13-D79B-BD0DCDDD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3B86DCB0-011F-2B52-9CAF-8A0C8E1A9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点到线的距离</a:t>
            </a:r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8F6AB-8418-A7ED-4310-38F9C31FD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19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DE4B7ECE-5AF7-4298-124F-BFAAD73E275B}"/>
              </a:ext>
            </a:extLst>
          </p:cNvPr>
          <p:cNvGrpSpPr/>
          <p:nvPr/>
        </p:nvGrpSpPr>
        <p:grpSpPr>
          <a:xfrm>
            <a:off x="3612829" y="1592807"/>
            <a:ext cx="4081463" cy="3124200"/>
            <a:chOff x="474134" y="2370666"/>
            <a:chExt cx="4081463" cy="3124200"/>
          </a:xfrm>
        </p:grpSpPr>
        <p:sp>
          <p:nvSpPr>
            <p:cNvPr id="9" name="Line 4"/>
            <p:cNvSpPr>
              <a:spLocks noChangeShapeType="1"/>
            </p:cNvSpPr>
            <p:nvPr/>
          </p:nvSpPr>
          <p:spPr bwMode="auto">
            <a:xfrm flipV="1">
              <a:off x="609071" y="2453216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V="1">
              <a:off x="474134" y="5378979"/>
              <a:ext cx="4081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1648883" y="3208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1074208" y="35660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8456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1379008" y="29691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utoShape 14"/>
            <p:cNvSpPr>
              <a:spLocks noChangeArrowheads="1"/>
            </p:cNvSpPr>
            <p:nvPr/>
          </p:nvSpPr>
          <p:spPr bwMode="auto">
            <a:xfrm>
              <a:off x="2661708" y="36422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22934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AutoShape 16"/>
            <p:cNvSpPr>
              <a:spLocks noChangeArrowheads="1"/>
            </p:cNvSpPr>
            <p:nvPr/>
          </p:nvSpPr>
          <p:spPr bwMode="auto">
            <a:xfrm>
              <a:off x="32840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1975908" y="50900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2598208" y="39597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19"/>
            <p:cNvSpPr>
              <a:spLocks noChangeArrowheads="1"/>
            </p:cNvSpPr>
            <p:nvPr/>
          </p:nvSpPr>
          <p:spPr bwMode="auto">
            <a:xfrm>
              <a:off x="1975908" y="44042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20"/>
            <p:cNvSpPr>
              <a:spLocks noChangeArrowheads="1"/>
            </p:cNvSpPr>
            <p:nvPr/>
          </p:nvSpPr>
          <p:spPr bwMode="auto">
            <a:xfrm>
              <a:off x="2674408" y="4797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921808" y="2435754"/>
              <a:ext cx="2438400" cy="2667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utoShape 23"/>
            <p:cNvSpPr>
              <a:spLocks noChangeArrowheads="1"/>
            </p:cNvSpPr>
            <p:nvPr/>
          </p:nvSpPr>
          <p:spPr bwMode="auto">
            <a:xfrm>
              <a:off x="1845733" y="23706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4"/>
            <p:cNvSpPr>
              <a:spLocks noChangeArrowheads="1"/>
            </p:cNvSpPr>
            <p:nvPr/>
          </p:nvSpPr>
          <p:spPr bwMode="auto">
            <a:xfrm>
              <a:off x="2455333" y="2446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01A8FDD-F494-A243-3EF5-BF316BB502E6}"/>
                  </a:ext>
                </a:extLst>
              </p:cNvPr>
              <p:cNvSpPr txBox="1"/>
              <p:nvPr/>
            </p:nvSpPr>
            <p:spPr>
              <a:xfrm>
                <a:off x="6120977" y="1764031"/>
                <a:ext cx="2053704" cy="626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01A8FDD-F494-A243-3EF5-BF316BB50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977" y="1764031"/>
                <a:ext cx="2053704" cy="626582"/>
              </a:xfrm>
              <a:prstGeom prst="rect">
                <a:avLst/>
              </a:prstGeom>
              <a:blipFill>
                <a:blip r:embed="rId3"/>
                <a:stretch>
                  <a:fillRect l="-613" r="-2454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97A494D-F88E-90CA-FAEA-F3FD04091AB0}"/>
                  </a:ext>
                </a:extLst>
              </p:cNvPr>
              <p:cNvSpPr txBox="1"/>
              <p:nvPr/>
            </p:nvSpPr>
            <p:spPr>
              <a:xfrm>
                <a:off x="3864633" y="1847798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97A494D-F88E-90CA-FAEA-F3FD0409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633" y="1847798"/>
                <a:ext cx="1468607" cy="313291"/>
              </a:xfrm>
              <a:prstGeom prst="rect">
                <a:avLst/>
              </a:prstGeom>
              <a:blipFill>
                <a:blip r:embed="rId4"/>
                <a:stretch>
                  <a:fillRect l="-2564" r="-2564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2FAD12E-2AD3-D170-0423-F79E7B1A477A}"/>
                  </a:ext>
                </a:extLst>
              </p:cNvPr>
              <p:cNvSpPr txBox="1"/>
              <p:nvPr/>
            </p:nvSpPr>
            <p:spPr>
              <a:xfrm>
                <a:off x="6085197" y="4059783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000" dirty="0">
                  <a:solidFill>
                    <a:srgbClr val="1D41D5"/>
                  </a:solidFill>
                </a:endParaRPr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2FAD12E-2AD3-D170-0423-F79E7B1A4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197" y="4059783"/>
                <a:ext cx="1468607" cy="313291"/>
              </a:xfrm>
              <a:prstGeom prst="rect">
                <a:avLst/>
              </a:prstGeom>
              <a:blipFill>
                <a:blip r:embed="rId5"/>
                <a:stretch>
                  <a:fillRect l="-1724" r="-3448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>
            <a:extLst>
              <a:ext uri="{FF2B5EF4-FFF2-40B4-BE49-F238E27FC236}">
                <a16:creationId xmlns:a16="http://schemas.microsoft.com/office/drawing/2014/main" id="{6DBD51CE-69B8-AA78-5B10-98F4407B916C}"/>
              </a:ext>
            </a:extLst>
          </p:cNvPr>
          <p:cNvSpPr/>
          <p:nvPr/>
        </p:nvSpPr>
        <p:spPr>
          <a:xfrm>
            <a:off x="4387351" y="3926432"/>
            <a:ext cx="45719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7D0811A-804D-41B1-BAC3-2EB9FC8313CB}"/>
                  </a:ext>
                </a:extLst>
              </p:cNvPr>
              <p:cNvSpPr txBox="1"/>
              <p:nvPr/>
            </p:nvSpPr>
            <p:spPr>
              <a:xfrm>
                <a:off x="4090128" y="2399335"/>
                <a:ext cx="2292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7D0811A-804D-41B1-BAC3-2EB9FC831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128" y="2399335"/>
                <a:ext cx="229229" cy="307777"/>
              </a:xfrm>
              <a:prstGeom prst="rect">
                <a:avLst/>
              </a:prstGeom>
              <a:blipFill>
                <a:blip r:embed="rId6"/>
                <a:stretch>
                  <a:fillRect l="-15789" r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8CFF2669-FA88-7002-655B-B0198A1F3821}"/>
              </a:ext>
            </a:extLst>
          </p:cNvPr>
          <p:cNvSpPr/>
          <p:nvPr/>
        </p:nvSpPr>
        <p:spPr>
          <a:xfrm>
            <a:off x="4454203" y="2585313"/>
            <a:ext cx="45719" cy="4571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5888" name="直线箭头连接符 165887">
            <a:extLst>
              <a:ext uri="{FF2B5EF4-FFF2-40B4-BE49-F238E27FC236}">
                <a16:creationId xmlns:a16="http://schemas.microsoft.com/office/drawing/2014/main" id="{A5DB22BA-A743-3B8A-033E-64622F60E3E4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3747766" y="2631032"/>
            <a:ext cx="729297" cy="196536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892" name="文本框 165891">
                <a:extLst>
                  <a:ext uri="{FF2B5EF4-FFF2-40B4-BE49-F238E27FC236}">
                    <a16:creationId xmlns:a16="http://schemas.microsoft.com/office/drawing/2014/main" id="{C570E652-F324-4C39-0C95-90F8C3C0BBE6}"/>
                  </a:ext>
                </a:extLst>
              </p:cNvPr>
              <p:cNvSpPr txBox="1"/>
              <p:nvPr/>
            </p:nvSpPr>
            <p:spPr>
              <a:xfrm>
                <a:off x="4388136" y="3940599"/>
                <a:ext cx="33445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5892" name="文本框 165891">
                <a:extLst>
                  <a:ext uri="{FF2B5EF4-FFF2-40B4-BE49-F238E27FC236}">
                    <a16:creationId xmlns:a16="http://schemas.microsoft.com/office/drawing/2014/main" id="{C570E652-F324-4C39-0C95-90F8C3C0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136" y="3940599"/>
                <a:ext cx="334451" cy="307777"/>
              </a:xfrm>
              <a:prstGeom prst="rect">
                <a:avLst/>
              </a:prstGeom>
              <a:blipFill>
                <a:blip r:embed="rId7"/>
                <a:stretch>
                  <a:fillRect l="-11111" r="-7407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894" name="直线箭头连接符 165893">
            <a:extLst>
              <a:ext uri="{FF2B5EF4-FFF2-40B4-BE49-F238E27FC236}">
                <a16:creationId xmlns:a16="http://schemas.microsoft.com/office/drawing/2014/main" id="{60C52365-1B39-18FB-322C-9275C833DBA3}"/>
              </a:ext>
            </a:extLst>
          </p:cNvPr>
          <p:cNvCxnSpPr>
            <a:endCxn id="7" idx="4"/>
          </p:cNvCxnSpPr>
          <p:nvPr/>
        </p:nvCxnSpPr>
        <p:spPr>
          <a:xfrm flipV="1">
            <a:off x="4409753" y="2631032"/>
            <a:ext cx="67310" cy="13182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895" name="文本框 165894">
                <a:extLst>
                  <a:ext uri="{FF2B5EF4-FFF2-40B4-BE49-F238E27FC236}">
                    <a16:creationId xmlns:a16="http://schemas.microsoft.com/office/drawing/2014/main" id="{C3F4FBEA-2FEA-7570-DF36-0FDACD39A7D7}"/>
                  </a:ext>
                </a:extLst>
              </p:cNvPr>
              <p:cNvSpPr txBox="1"/>
              <p:nvPr/>
            </p:nvSpPr>
            <p:spPr>
              <a:xfrm>
                <a:off x="4479257" y="3184661"/>
                <a:ext cx="8059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5895" name="文本框 165894">
                <a:extLst>
                  <a:ext uri="{FF2B5EF4-FFF2-40B4-BE49-F238E27FC236}">
                    <a16:creationId xmlns:a16="http://schemas.microsoft.com/office/drawing/2014/main" id="{C3F4FBEA-2FEA-7570-DF36-0FDACD39A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57" y="3184661"/>
                <a:ext cx="805926" cy="307777"/>
              </a:xfrm>
              <a:prstGeom prst="rect">
                <a:avLst/>
              </a:prstGeom>
              <a:blipFill>
                <a:blip r:embed="rId8"/>
                <a:stretch>
                  <a:fillRect l="-3077" r="-1538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897" name="直线连接符 165896">
            <a:extLst>
              <a:ext uri="{FF2B5EF4-FFF2-40B4-BE49-F238E27FC236}">
                <a16:creationId xmlns:a16="http://schemas.microsoft.com/office/drawing/2014/main" id="{EDEAEDEC-04C1-5186-04CF-42604FBE0048}"/>
              </a:ext>
            </a:extLst>
          </p:cNvPr>
          <p:cNvCxnSpPr>
            <a:cxnSpLocks/>
            <a:stCxn id="7" idx="7"/>
          </p:cNvCxnSpPr>
          <p:nvPr/>
        </p:nvCxnSpPr>
        <p:spPr>
          <a:xfrm>
            <a:off x="4493227" y="2592008"/>
            <a:ext cx="656936" cy="553463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902" name="直线箭头连接符 165901">
            <a:extLst>
              <a:ext uri="{FF2B5EF4-FFF2-40B4-BE49-F238E27FC236}">
                <a16:creationId xmlns:a16="http://schemas.microsoft.com/office/drawing/2014/main" id="{E223164E-6FDA-EF15-E8B0-9952716EE56F}"/>
              </a:ext>
            </a:extLst>
          </p:cNvPr>
          <p:cNvCxnSpPr>
            <a:cxnSpLocks/>
          </p:cNvCxnSpPr>
          <p:nvPr/>
        </p:nvCxnSpPr>
        <p:spPr>
          <a:xfrm flipH="1" flipV="1">
            <a:off x="2807970" y="2788195"/>
            <a:ext cx="2124679" cy="2118715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905" name="文本框 165904">
                <a:extLst>
                  <a:ext uri="{FF2B5EF4-FFF2-40B4-BE49-F238E27FC236}">
                    <a16:creationId xmlns:a16="http://schemas.microsoft.com/office/drawing/2014/main" id="{FDC1CB5B-2C31-040F-73BE-9A239C056EF2}"/>
                  </a:ext>
                </a:extLst>
              </p:cNvPr>
              <p:cNvSpPr txBox="1"/>
              <p:nvPr/>
            </p:nvSpPr>
            <p:spPr>
              <a:xfrm>
                <a:off x="2811229" y="2633383"/>
                <a:ext cx="9808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65905" name="文本框 165904">
                <a:extLst>
                  <a:ext uri="{FF2B5EF4-FFF2-40B4-BE49-F238E27FC236}">
                    <a16:creationId xmlns:a16="http://schemas.microsoft.com/office/drawing/2014/main" id="{FDC1CB5B-2C31-040F-73BE-9A239C056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229" y="2633383"/>
                <a:ext cx="98085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5907" name="文本框 165906">
                <a:extLst>
                  <a:ext uri="{FF2B5EF4-FFF2-40B4-BE49-F238E27FC236}">
                    <a16:creationId xmlns:a16="http://schemas.microsoft.com/office/drawing/2014/main" id="{B1E0867D-CBEC-DC11-68AF-3EFC05CDB7A9}"/>
                  </a:ext>
                </a:extLst>
              </p:cNvPr>
              <p:cNvSpPr txBox="1"/>
              <p:nvPr/>
            </p:nvSpPr>
            <p:spPr>
              <a:xfrm>
                <a:off x="6008997" y="2602233"/>
                <a:ext cx="3238420" cy="723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dirty="0"/>
                  <a:t> 到直线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i="1" dirty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CN" altLang="en-US" dirty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的距离</a:t>
                </a:r>
                <a:endParaRPr lang="en-US" altLang="zh-CN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:r>
                  <a:rPr lang="zh-CN" altLang="en-US" b="1" dirty="0">
                    <a:solidFill>
                      <a:srgbClr val="00B050"/>
                    </a:solidFill>
                  </a:rPr>
                  <a:t>虚线长度：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8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5907" name="文本框 165906">
                <a:extLst>
                  <a:ext uri="{FF2B5EF4-FFF2-40B4-BE49-F238E27FC236}">
                    <a16:creationId xmlns:a16="http://schemas.microsoft.com/office/drawing/2014/main" id="{B1E0867D-CBEC-DC11-68AF-3EFC05CDB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97" y="2602233"/>
                <a:ext cx="3238420" cy="723018"/>
              </a:xfrm>
              <a:prstGeom prst="rect">
                <a:avLst/>
              </a:prstGeom>
              <a:blipFill>
                <a:blip r:embed="rId10"/>
                <a:stretch>
                  <a:fillRect l="-1953" t="-6897"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910" name="矩形 165909">
            <a:extLst>
              <a:ext uri="{FF2B5EF4-FFF2-40B4-BE49-F238E27FC236}">
                <a16:creationId xmlns:a16="http://schemas.microsoft.com/office/drawing/2014/main" id="{EAB93FE0-F1B2-C963-0A63-FD53569F445B}"/>
              </a:ext>
            </a:extLst>
          </p:cNvPr>
          <p:cNvSpPr/>
          <p:nvPr/>
        </p:nvSpPr>
        <p:spPr>
          <a:xfrm rot="2593721">
            <a:off x="4139105" y="4227820"/>
            <a:ext cx="167230" cy="12223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4212398"/>
      </p:ext>
    </p:extLst>
  </p:cSld>
  <p:clrMapOvr>
    <a:masterClrMapping/>
  </p:clrMapOvr>
  <p:transition advTm="349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63" grpId="0"/>
      <p:bldP spid="6" grpId="0"/>
      <p:bldP spid="165892" grpId="0"/>
      <p:bldP spid="1658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9498-BACC-AB13-D79B-BD0DCDDD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3B86DCB0-011F-2B52-9CAF-8A0C8E1A9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分类问题</a:t>
            </a:r>
            <a:r>
              <a:rPr lang="zh-CN" altLang="en-US" dirty="0"/>
              <a:t>：二分类问题</a:t>
            </a:r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8F6AB-8418-A7ED-4310-38F9C31FD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20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EB073D25-8CB8-8B11-335D-F7124C449D1A}"/>
                  </a:ext>
                </a:extLst>
              </p:cNvPr>
              <p:cNvSpPr txBox="1"/>
              <p:nvPr/>
            </p:nvSpPr>
            <p:spPr>
              <a:xfrm>
                <a:off x="381242" y="1050462"/>
                <a:ext cx="1058680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1"/>
                    </a:solidFill>
                  </a:rPr>
                  <a:t>目标：在样本空间中找到一个超平面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，将不同类别的样本分开。</a:t>
                </a:r>
                <a:endParaRPr lang="en-CN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EB073D25-8CB8-8B11-335D-F7124C449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050462"/>
                <a:ext cx="10586809" cy="468205"/>
              </a:xfrm>
              <a:prstGeom prst="rect">
                <a:avLst/>
              </a:prstGeom>
              <a:blipFill>
                <a:blip r:embed="rId3"/>
                <a:stretch>
                  <a:fillRect l="-922" t="-15584" b="-22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DE4B7ECE-5AF7-4298-124F-BFAAD73E275B}"/>
              </a:ext>
            </a:extLst>
          </p:cNvPr>
          <p:cNvGrpSpPr/>
          <p:nvPr/>
        </p:nvGrpSpPr>
        <p:grpSpPr>
          <a:xfrm>
            <a:off x="693738" y="1972734"/>
            <a:ext cx="4081463" cy="3124200"/>
            <a:chOff x="474134" y="2370666"/>
            <a:chExt cx="4081463" cy="3124200"/>
          </a:xfrm>
        </p:grpSpPr>
        <p:sp>
          <p:nvSpPr>
            <p:cNvPr id="9" name="Line 4"/>
            <p:cNvSpPr>
              <a:spLocks noChangeShapeType="1"/>
            </p:cNvSpPr>
            <p:nvPr/>
          </p:nvSpPr>
          <p:spPr bwMode="auto">
            <a:xfrm flipV="1">
              <a:off x="609071" y="2453216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V="1">
              <a:off x="474134" y="5378979"/>
              <a:ext cx="4081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1648883" y="3208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1074208" y="35660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1226608" y="41121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8456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1379008" y="29691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845608" y="38835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>
              <a:off x="998008" y="4035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13"/>
            <p:cNvSpPr>
              <a:spLocks noChangeArrowheads="1"/>
            </p:cNvSpPr>
            <p:nvPr/>
          </p:nvSpPr>
          <p:spPr bwMode="auto">
            <a:xfrm>
              <a:off x="1760008" y="3654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utoShape 14"/>
            <p:cNvSpPr>
              <a:spLocks noChangeArrowheads="1"/>
            </p:cNvSpPr>
            <p:nvPr/>
          </p:nvSpPr>
          <p:spPr bwMode="auto">
            <a:xfrm>
              <a:off x="2661708" y="36422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22934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AutoShape 16"/>
            <p:cNvSpPr>
              <a:spLocks noChangeArrowheads="1"/>
            </p:cNvSpPr>
            <p:nvPr/>
          </p:nvSpPr>
          <p:spPr bwMode="auto">
            <a:xfrm>
              <a:off x="32840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1975908" y="50900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2598208" y="39597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19"/>
            <p:cNvSpPr>
              <a:spLocks noChangeArrowheads="1"/>
            </p:cNvSpPr>
            <p:nvPr/>
          </p:nvSpPr>
          <p:spPr bwMode="auto">
            <a:xfrm>
              <a:off x="1975908" y="44042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20"/>
            <p:cNvSpPr>
              <a:spLocks noChangeArrowheads="1"/>
            </p:cNvSpPr>
            <p:nvPr/>
          </p:nvSpPr>
          <p:spPr bwMode="auto">
            <a:xfrm>
              <a:off x="2674408" y="4797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1"/>
            <p:cNvSpPr>
              <a:spLocks noChangeArrowheads="1"/>
            </p:cNvSpPr>
            <p:nvPr/>
          </p:nvSpPr>
          <p:spPr bwMode="auto">
            <a:xfrm>
              <a:off x="3360208" y="38835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921808" y="2435754"/>
              <a:ext cx="2438400" cy="2667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utoShape 23"/>
            <p:cNvSpPr>
              <a:spLocks noChangeArrowheads="1"/>
            </p:cNvSpPr>
            <p:nvPr/>
          </p:nvSpPr>
          <p:spPr bwMode="auto">
            <a:xfrm>
              <a:off x="1845733" y="23706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4"/>
            <p:cNvSpPr>
              <a:spLocks noChangeArrowheads="1"/>
            </p:cNvSpPr>
            <p:nvPr/>
          </p:nvSpPr>
          <p:spPr bwMode="auto">
            <a:xfrm>
              <a:off x="2455333" y="2446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AutoShape 25"/>
            <p:cNvSpPr>
              <a:spLocks noChangeArrowheads="1"/>
            </p:cNvSpPr>
            <p:nvPr/>
          </p:nvSpPr>
          <p:spPr bwMode="auto">
            <a:xfrm>
              <a:off x="3522133" y="3208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770ADC2-B29F-6FC7-CE27-31C53C14AA27}"/>
              </a:ext>
            </a:extLst>
          </p:cNvPr>
          <p:cNvGrpSpPr/>
          <p:nvPr/>
        </p:nvGrpSpPr>
        <p:grpSpPr>
          <a:xfrm>
            <a:off x="6886589" y="1967972"/>
            <a:ext cx="4081462" cy="3124200"/>
            <a:chOff x="3995738" y="2743200"/>
            <a:chExt cx="4081462" cy="3124200"/>
          </a:xfrm>
        </p:grpSpPr>
        <p:sp>
          <p:nvSpPr>
            <p:cNvPr id="33" name="Line 4">
              <a:extLst>
                <a:ext uri="{FF2B5EF4-FFF2-40B4-BE49-F238E27FC236}">
                  <a16:creationId xmlns:a16="http://schemas.microsoft.com/office/drawing/2014/main" id="{6C681059-05A5-AFE9-E737-822FB6629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0675" y="282575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5">
              <a:extLst>
                <a:ext uri="{FF2B5EF4-FFF2-40B4-BE49-F238E27FC236}">
                  <a16:creationId xmlns:a16="http://schemas.microsoft.com/office/drawing/2014/main" id="{E6A011B5-D81D-37B2-D53E-4E86984F0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5738" y="575151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utoShape 6">
              <a:extLst>
                <a:ext uri="{FF2B5EF4-FFF2-40B4-BE49-F238E27FC236}">
                  <a16:creationId xmlns:a16="http://schemas.microsoft.com/office/drawing/2014/main" id="{5CCEAC12-7E76-A457-F1EA-C357FC689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488" y="3581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AutoShape 7">
              <a:extLst>
                <a:ext uri="{FF2B5EF4-FFF2-40B4-BE49-F238E27FC236}">
                  <a16:creationId xmlns:a16="http://schemas.microsoft.com/office/drawing/2014/main" id="{E499E1DA-F8B7-BFAB-3914-C71DF2644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3938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AutoShape 8">
              <a:extLst>
                <a:ext uri="{FF2B5EF4-FFF2-40B4-BE49-F238E27FC236}">
                  <a16:creationId xmlns:a16="http://schemas.microsoft.com/office/drawing/2014/main" id="{3BD03CA7-EABA-6773-5513-34A8E1640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213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AutoShape 9">
              <a:extLst>
                <a:ext uri="{FF2B5EF4-FFF2-40B4-BE49-F238E27FC236}">
                  <a16:creationId xmlns:a16="http://schemas.microsoft.com/office/drawing/2014/main" id="{3E590143-87B5-F434-D90A-7BF22451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AutoShape 10">
              <a:extLst>
                <a:ext uri="{FF2B5EF4-FFF2-40B4-BE49-F238E27FC236}">
                  <a16:creationId xmlns:a16="http://schemas.microsoft.com/office/drawing/2014/main" id="{F8DFD9D9-03C3-FAC0-007D-C5775F67C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0613" y="3341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utoShape 11">
              <a:extLst>
                <a:ext uri="{FF2B5EF4-FFF2-40B4-BE49-F238E27FC236}">
                  <a16:creationId xmlns:a16="http://schemas.microsoft.com/office/drawing/2014/main" id="{FE0AC748-5F90-4464-8B41-9BE30C40D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13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AutoShape 12">
              <a:extLst>
                <a:ext uri="{FF2B5EF4-FFF2-40B4-BE49-F238E27FC236}">
                  <a16:creationId xmlns:a16="http://schemas.microsoft.com/office/drawing/2014/main" id="{FD0D623B-E914-AF50-EC4B-EAF100B0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613" y="4408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3A9E6ED3-0BCC-CFB4-BF8C-E6EAF9E64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13" y="4027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5260EEE1-0BC7-3B14-6CFC-AEA377A73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3313" y="4014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AutoShape 15">
              <a:extLst>
                <a:ext uri="{FF2B5EF4-FFF2-40B4-BE49-F238E27FC236}">
                  <a16:creationId xmlns:a16="http://schemas.microsoft.com/office/drawing/2014/main" id="{FDCE73BA-9A27-0CC1-DCFB-D1616E32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AutoShape 16">
              <a:extLst>
                <a:ext uri="{FF2B5EF4-FFF2-40B4-BE49-F238E27FC236}">
                  <a16:creationId xmlns:a16="http://schemas.microsoft.com/office/drawing/2014/main" id="{61A4B3A0-4FD6-F3DD-9662-6B2097E57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56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AutoShape 17">
              <a:extLst>
                <a:ext uri="{FF2B5EF4-FFF2-40B4-BE49-F238E27FC236}">
                  <a16:creationId xmlns:a16="http://schemas.microsoft.com/office/drawing/2014/main" id="{428B4314-2968-AFE7-5E39-63813698F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5462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AutoShape 18">
              <a:extLst>
                <a:ext uri="{FF2B5EF4-FFF2-40B4-BE49-F238E27FC236}">
                  <a16:creationId xmlns:a16="http://schemas.microsoft.com/office/drawing/2014/main" id="{99F6D2BD-883F-35B7-A74D-6197B0470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813" y="4332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AutoShape 19">
              <a:extLst>
                <a:ext uri="{FF2B5EF4-FFF2-40B4-BE49-F238E27FC236}">
                  <a16:creationId xmlns:a16="http://schemas.microsoft.com/office/drawing/2014/main" id="{13784BD9-3B96-F438-0FFA-2E447930F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4776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AutoShape 20">
              <a:extLst>
                <a:ext uri="{FF2B5EF4-FFF2-40B4-BE49-F238E27FC236}">
                  <a16:creationId xmlns:a16="http://schemas.microsoft.com/office/drawing/2014/main" id="{B86D6560-850F-8581-CF7F-B6905E832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6013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AutoShape 21">
              <a:extLst>
                <a:ext uri="{FF2B5EF4-FFF2-40B4-BE49-F238E27FC236}">
                  <a16:creationId xmlns:a16="http://schemas.microsoft.com/office/drawing/2014/main" id="{078FF566-E34A-E103-2FAA-825F283B1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22">
              <a:extLst>
                <a:ext uri="{FF2B5EF4-FFF2-40B4-BE49-F238E27FC236}">
                  <a16:creationId xmlns:a16="http://schemas.microsoft.com/office/drawing/2014/main" id="{0E314DF1-9128-DB9F-ED23-19EC15DA1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3414" y="3048000"/>
              <a:ext cx="2676525" cy="2427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utoShape 23">
              <a:extLst>
                <a:ext uri="{FF2B5EF4-FFF2-40B4-BE49-F238E27FC236}">
                  <a16:creationId xmlns:a16="http://schemas.microsoft.com/office/drawing/2014/main" id="{706011A2-313B-F8A9-DA9B-DBAD65BC3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338" y="27432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AutoShape 24">
              <a:extLst>
                <a:ext uri="{FF2B5EF4-FFF2-40B4-BE49-F238E27FC236}">
                  <a16:creationId xmlns:a16="http://schemas.microsoft.com/office/drawing/2014/main" id="{C60F1725-A9BC-F1DE-E7D0-2E15A100F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6938" y="2819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AutoShape 25">
              <a:extLst>
                <a:ext uri="{FF2B5EF4-FFF2-40B4-BE49-F238E27FC236}">
                  <a16:creationId xmlns:a16="http://schemas.microsoft.com/office/drawing/2014/main" id="{36C1190E-1442-B6A3-EF02-4CE00B32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3738" y="3581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33E6215F-3965-F5D2-58E5-73AE86266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5814" y="274320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617DA491-77BE-40A8-1F42-D3E8076FE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338" y="3048000"/>
              <a:ext cx="2971800" cy="2286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9">
              <a:extLst>
                <a:ext uri="{FF2B5EF4-FFF2-40B4-BE49-F238E27FC236}">
                  <a16:creationId xmlns:a16="http://schemas.microsoft.com/office/drawing/2014/main" id="{AC4C25AC-C063-0B04-2A44-B2C03CE50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7738" y="2819400"/>
              <a:ext cx="1828800" cy="2895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30">
              <a:extLst>
                <a:ext uri="{FF2B5EF4-FFF2-40B4-BE49-F238E27FC236}">
                  <a16:creationId xmlns:a16="http://schemas.microsoft.com/office/drawing/2014/main" id="{1A6EAEA1-91D9-C58E-ADBF-5967830DE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9138" y="2743200"/>
              <a:ext cx="1828800" cy="2895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31">
              <a:extLst>
                <a:ext uri="{FF2B5EF4-FFF2-40B4-BE49-F238E27FC236}">
                  <a16:creationId xmlns:a16="http://schemas.microsoft.com/office/drawing/2014/main" id="{B99B031D-EB43-15E6-FD15-24C03D2330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738" y="2895600"/>
              <a:ext cx="2667000" cy="25908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01A8FDD-F494-A243-3EF5-BF316BB502E6}"/>
                  </a:ext>
                </a:extLst>
              </p:cNvPr>
              <p:cNvSpPr txBox="1"/>
              <p:nvPr/>
            </p:nvSpPr>
            <p:spPr>
              <a:xfrm>
                <a:off x="3503612" y="2133072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01A8FDD-F494-A243-3EF5-BF316BB50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612" y="2133072"/>
                <a:ext cx="1468607" cy="313291"/>
              </a:xfrm>
              <a:prstGeom prst="rect">
                <a:avLst/>
              </a:prstGeom>
              <a:blipFill>
                <a:blip r:embed="rId4"/>
                <a:stretch>
                  <a:fillRect l="-2075" t="-3922" r="-2905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97A494D-F88E-90CA-FAEA-F3FD04091AB0}"/>
                  </a:ext>
                </a:extLst>
              </p:cNvPr>
              <p:cNvSpPr txBox="1"/>
              <p:nvPr/>
            </p:nvSpPr>
            <p:spPr>
              <a:xfrm>
                <a:off x="945542" y="2227725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97A494D-F88E-90CA-FAEA-F3FD0409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42" y="2227725"/>
                <a:ext cx="1468607" cy="313291"/>
              </a:xfrm>
              <a:prstGeom prst="rect">
                <a:avLst/>
              </a:prstGeom>
              <a:blipFill>
                <a:blip r:embed="rId5"/>
                <a:stretch>
                  <a:fillRect l="-2075" t="-1923" r="-3320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2FAD12E-2AD3-D170-0423-F79E7B1A477A}"/>
                  </a:ext>
                </a:extLst>
              </p:cNvPr>
              <p:cNvSpPr txBox="1"/>
              <p:nvPr/>
            </p:nvSpPr>
            <p:spPr>
              <a:xfrm>
                <a:off x="3166106" y="4439710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000" dirty="0">
                  <a:solidFill>
                    <a:srgbClr val="1D41D5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2FAD12E-2AD3-D170-0423-F79E7B1A4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106" y="4439710"/>
                <a:ext cx="1468607" cy="313291"/>
              </a:xfrm>
              <a:prstGeom prst="rect">
                <a:avLst/>
              </a:prstGeom>
              <a:blipFill>
                <a:blip r:embed="rId6"/>
                <a:stretch>
                  <a:fillRect l="-2075" t="-1923" r="-3320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963" name="文本框 165962">
                <a:extLst>
                  <a:ext uri="{FF2B5EF4-FFF2-40B4-BE49-F238E27FC236}">
                    <a16:creationId xmlns:a16="http://schemas.microsoft.com/office/drawing/2014/main" id="{5A881A6E-5821-594D-549D-AC8C1E7CB7C9}"/>
                  </a:ext>
                </a:extLst>
              </p:cNvPr>
              <p:cNvSpPr txBox="1"/>
              <p:nvPr/>
            </p:nvSpPr>
            <p:spPr>
              <a:xfrm>
                <a:off x="244624" y="5151148"/>
                <a:ext cx="5146376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线性分类模型 </a:t>
                </a:r>
                <a:b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𝑦</m:t>
                      </m:r>
                      <m:r>
                        <a:rPr lang="en-US" altLang="zh-CN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sign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5963" name="文本框 165962">
                <a:extLst>
                  <a:ext uri="{FF2B5EF4-FFF2-40B4-BE49-F238E27FC236}">
                    <a16:creationId xmlns:a16="http://schemas.microsoft.com/office/drawing/2014/main" id="{5A881A6E-5821-594D-549D-AC8C1E7C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4" y="5151148"/>
                <a:ext cx="5146376" cy="681982"/>
              </a:xfrm>
              <a:prstGeom prst="rect">
                <a:avLst/>
              </a:prstGeom>
              <a:blipFill>
                <a:blip r:embed="rId7"/>
                <a:stretch>
                  <a:fillRect t="-4464" b="-4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964" name="文本框 165963">
            <a:extLst>
              <a:ext uri="{FF2B5EF4-FFF2-40B4-BE49-F238E27FC236}">
                <a16:creationId xmlns:a16="http://schemas.microsoft.com/office/drawing/2014/main" id="{E144A8BE-5D0B-C477-DA3C-0688225B576C}"/>
              </a:ext>
            </a:extLst>
          </p:cNvPr>
          <p:cNvSpPr txBox="1"/>
          <p:nvPr/>
        </p:nvSpPr>
        <p:spPr>
          <a:xfrm>
            <a:off x="6437476" y="5151148"/>
            <a:ext cx="5146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符合条件的超平面中，哪个才是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最好的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b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首先什么是“好的”超平面？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BE5BC1-EE2E-8F6E-BF96-6B428E1600B5}"/>
              </a:ext>
            </a:extLst>
          </p:cNvPr>
          <p:cNvSpPr txBox="1"/>
          <p:nvPr/>
        </p:nvSpPr>
        <p:spPr>
          <a:xfrm>
            <a:off x="1024932" y="309489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33890755"/>
      </p:ext>
    </p:extLst>
  </p:cSld>
  <p:clrMapOvr>
    <a:masterClrMapping/>
  </p:clrMapOvr>
  <p:transition advTm="349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/>
      <p:bldP spid="32" grpId="0"/>
      <p:bldP spid="63" grpId="0"/>
      <p:bldP spid="165963" grpId="0"/>
      <p:bldP spid="16596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8AE3-56FE-67AA-16EF-C2948F4B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051F8B8-7341-87FB-9D93-9444AA43F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分类间隔与支持向量（</a:t>
            </a:r>
            <a:r>
              <a:rPr lang="en-US" altLang="zh-CN" dirty="0"/>
              <a:t>Support Vector</a:t>
            </a:r>
            <a:r>
              <a:rPr lang="zh-CN" altLang="en-US" dirty="0"/>
              <a:t>）</a:t>
            </a:r>
            <a:endParaRPr lang="en-US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E078F7F-1E85-B17C-C975-C518E6A2B870}"/>
              </a:ext>
            </a:extLst>
          </p:cNvPr>
          <p:cNvGrpSpPr/>
          <p:nvPr/>
        </p:nvGrpSpPr>
        <p:grpSpPr>
          <a:xfrm>
            <a:off x="776289" y="2164430"/>
            <a:ext cx="4081462" cy="3305175"/>
            <a:chOff x="4052888" y="3076575"/>
            <a:chExt cx="4081462" cy="3305175"/>
          </a:xfrm>
        </p:grpSpPr>
        <p:sp>
          <p:nvSpPr>
            <p:cNvPr id="207876" name="Line 4">
              <a:extLst>
                <a:ext uri="{FF2B5EF4-FFF2-40B4-BE49-F238E27FC236}">
                  <a16:creationId xmlns:a16="http://schemas.microsoft.com/office/drawing/2014/main" id="{4138E682-F550-6BCC-E041-5E31C7012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7825" y="334010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7" name="Line 5">
              <a:extLst>
                <a:ext uri="{FF2B5EF4-FFF2-40B4-BE49-F238E27FC236}">
                  <a16:creationId xmlns:a16="http://schemas.microsoft.com/office/drawing/2014/main" id="{02F46437-4B64-300C-AF90-0E85857A2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2888" y="626586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8" name="AutoShape 6">
              <a:extLst>
                <a:ext uri="{FF2B5EF4-FFF2-40B4-BE49-F238E27FC236}">
                  <a16:creationId xmlns:a16="http://schemas.microsoft.com/office/drawing/2014/main" id="{B51D98C7-3700-FE86-99D0-5BBBFB2BF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638" y="4095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9" name="AutoShape 7">
              <a:extLst>
                <a:ext uri="{FF2B5EF4-FFF2-40B4-BE49-F238E27FC236}">
                  <a16:creationId xmlns:a16="http://schemas.microsoft.com/office/drawing/2014/main" id="{A48A6C1A-F38B-5E1B-8E0C-761F45694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52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0" name="AutoShape 8">
              <a:extLst>
                <a:ext uri="{FF2B5EF4-FFF2-40B4-BE49-F238E27FC236}">
                  <a16:creationId xmlns:a16="http://schemas.microsoft.com/office/drawing/2014/main" id="{8B19E53A-4F0E-B77B-DA47-CE4C1A971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363" y="4999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1" name="AutoShape 9">
              <a:extLst>
                <a:ext uri="{FF2B5EF4-FFF2-40B4-BE49-F238E27FC236}">
                  <a16:creationId xmlns:a16="http://schemas.microsoft.com/office/drawing/2014/main" id="{B7C38234-87CC-6E94-B34C-65B4D5AC4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3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2" name="AutoShape 10">
              <a:extLst>
                <a:ext uri="{FF2B5EF4-FFF2-40B4-BE49-F238E27FC236}">
                  <a16:creationId xmlns:a16="http://schemas.microsoft.com/office/drawing/2014/main" id="{C7993828-5583-95B6-4645-91C60AA19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3856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3" name="AutoShape 11">
              <a:extLst>
                <a:ext uri="{FF2B5EF4-FFF2-40B4-BE49-F238E27FC236}">
                  <a16:creationId xmlns:a16="http://schemas.microsoft.com/office/drawing/2014/main" id="{2C4C2C0E-9AD1-8776-9843-30CE58309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363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4" name="AutoShape 12">
              <a:extLst>
                <a:ext uri="{FF2B5EF4-FFF2-40B4-BE49-F238E27FC236}">
                  <a16:creationId xmlns:a16="http://schemas.microsoft.com/office/drawing/2014/main" id="{FD84BE8E-6B55-C6D1-CB06-EE8E95219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763" y="4922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5" name="AutoShape 13">
              <a:extLst>
                <a:ext uri="{FF2B5EF4-FFF2-40B4-BE49-F238E27FC236}">
                  <a16:creationId xmlns:a16="http://schemas.microsoft.com/office/drawing/2014/main" id="{CFA3CD07-F1A5-98DA-DCF8-737DB5E61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8763" y="4541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6" name="AutoShape 14">
              <a:extLst>
                <a:ext uri="{FF2B5EF4-FFF2-40B4-BE49-F238E27FC236}">
                  <a16:creationId xmlns:a16="http://schemas.microsoft.com/office/drawing/2014/main" id="{5E482E8B-D6A7-15D2-DDA4-D8C14DC5A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0463" y="45291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7" name="AutoShape 15">
              <a:extLst>
                <a:ext uri="{FF2B5EF4-FFF2-40B4-BE49-F238E27FC236}">
                  <a16:creationId xmlns:a16="http://schemas.microsoft.com/office/drawing/2014/main" id="{1C5A01B8-ECE2-F9EF-6AF3-100E96B15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1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8" name="AutoShape 16">
              <a:extLst>
                <a:ext uri="{FF2B5EF4-FFF2-40B4-BE49-F238E27FC236}">
                  <a16:creationId xmlns:a16="http://schemas.microsoft.com/office/drawing/2014/main" id="{80E36557-CFD4-0D0E-7914-58965DB34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27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9" name="AutoShape 17">
              <a:extLst>
                <a:ext uri="{FF2B5EF4-FFF2-40B4-BE49-F238E27FC236}">
                  <a16:creationId xmlns:a16="http://schemas.microsoft.com/office/drawing/2014/main" id="{39669322-CCF8-8B5D-4C48-E54739AF0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663" y="5976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0" name="AutoShape 18">
              <a:extLst>
                <a:ext uri="{FF2B5EF4-FFF2-40B4-BE49-F238E27FC236}">
                  <a16:creationId xmlns:a16="http://schemas.microsoft.com/office/drawing/2014/main" id="{455A2F87-5BBF-8C50-16B7-0BCE79E31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6963" y="4846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1" name="AutoShape 19">
              <a:extLst>
                <a:ext uri="{FF2B5EF4-FFF2-40B4-BE49-F238E27FC236}">
                  <a16:creationId xmlns:a16="http://schemas.microsoft.com/office/drawing/2014/main" id="{1C51C107-1B90-608C-7BF1-39D2C2293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8638" y="53403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2" name="AutoShape 20">
              <a:extLst>
                <a:ext uri="{FF2B5EF4-FFF2-40B4-BE49-F238E27FC236}">
                  <a16:creationId xmlns:a16="http://schemas.microsoft.com/office/drawing/2014/main" id="{2471F4C5-87EF-F960-5848-62F414C0C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3163" y="5684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3" name="AutoShape 21">
              <a:extLst>
                <a:ext uri="{FF2B5EF4-FFF2-40B4-BE49-F238E27FC236}">
                  <a16:creationId xmlns:a16="http://schemas.microsoft.com/office/drawing/2014/main" id="{C203396A-3D22-0297-39CE-FEE200AFC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963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5" name="AutoShape 23">
              <a:extLst>
                <a:ext uri="{FF2B5EF4-FFF2-40B4-BE49-F238E27FC236}">
                  <a16:creationId xmlns:a16="http://schemas.microsoft.com/office/drawing/2014/main" id="{A93864DB-EE11-5750-0820-FC93E8BC1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488" y="32575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6" name="AutoShape 24">
              <a:extLst>
                <a:ext uri="{FF2B5EF4-FFF2-40B4-BE49-F238E27FC236}">
                  <a16:creationId xmlns:a16="http://schemas.microsoft.com/office/drawing/2014/main" id="{4385B2A0-1547-F3CA-59B5-FD2FD5E9D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4088" y="3333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7" name="AutoShape 25">
              <a:extLst>
                <a:ext uri="{FF2B5EF4-FFF2-40B4-BE49-F238E27FC236}">
                  <a16:creationId xmlns:a16="http://schemas.microsoft.com/office/drawing/2014/main" id="{DDC50ACB-99DF-7C8A-39ED-8DA51AC57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888" y="4095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8" name="Line 26">
              <a:extLst>
                <a:ext uri="{FF2B5EF4-FFF2-40B4-BE49-F238E27FC236}">
                  <a16:creationId xmlns:a16="http://schemas.microsoft.com/office/drawing/2014/main" id="{6EE14252-C379-4660-A3B0-F0BC2F91C9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2964" y="325755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5" name="Line 33">
              <a:extLst>
                <a:ext uri="{FF2B5EF4-FFF2-40B4-BE49-F238E27FC236}">
                  <a16:creationId xmlns:a16="http://schemas.microsoft.com/office/drawing/2014/main" id="{8A90D785-FF12-DF35-BBB5-8CA2E5CAD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3340100"/>
              <a:ext cx="762000" cy="615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6" name="Line 34">
              <a:extLst>
                <a:ext uri="{FF2B5EF4-FFF2-40B4-BE49-F238E27FC236}">
                  <a16:creationId xmlns:a16="http://schemas.microsoft.com/office/drawing/2014/main" id="{0CA9F53D-0272-9B8D-FAE5-6EB8B2074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88050" y="4362450"/>
              <a:ext cx="25400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9" name="Text Box 37">
              <a:extLst>
                <a:ext uri="{FF2B5EF4-FFF2-40B4-BE49-F238E27FC236}">
                  <a16:creationId xmlns:a16="http://schemas.microsoft.com/office/drawing/2014/main" id="{216F5A41-1AE8-2228-4254-41EEAC9F7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0225" y="3476625"/>
              <a:ext cx="4953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r</a:t>
              </a:r>
            </a:p>
          </p:txBody>
        </p:sp>
        <p:sp>
          <p:nvSpPr>
            <p:cNvPr id="207910" name="Oval 38">
              <a:extLst>
                <a:ext uri="{FF2B5EF4-FFF2-40B4-BE49-F238E27FC236}">
                  <a16:creationId xmlns:a16="http://schemas.microsoft.com/office/drawing/2014/main" id="{53D920E7-7AF7-4D50-AE29-5425A0BEE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0" y="4476751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1" name="Oval 39">
              <a:extLst>
                <a:ext uri="{FF2B5EF4-FFF2-40B4-BE49-F238E27FC236}">
                  <a16:creationId xmlns:a16="http://schemas.microsoft.com/office/drawing/2014/main" id="{78442FFA-EDAD-FF3C-54C9-DBDEADD5D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200" y="5272089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2" name="Oval 40">
              <a:extLst>
                <a:ext uri="{FF2B5EF4-FFF2-40B4-BE49-F238E27FC236}">
                  <a16:creationId xmlns:a16="http://schemas.microsoft.com/office/drawing/2014/main" id="{24E7532D-C821-6802-F1D2-B7C2DF149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3" y="4459289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3" name="Line 41">
              <a:extLst>
                <a:ext uri="{FF2B5EF4-FFF2-40B4-BE49-F238E27FC236}">
                  <a16:creationId xmlns:a16="http://schemas.microsoft.com/office/drawing/2014/main" id="{6CE4BF3E-E289-BDA7-3F72-25E8258D0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64164" y="5176839"/>
              <a:ext cx="244475" cy="174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4" name="Line 42">
              <a:extLst>
                <a:ext uri="{FF2B5EF4-FFF2-40B4-BE49-F238E27FC236}">
                  <a16:creationId xmlns:a16="http://schemas.microsoft.com/office/drawing/2014/main" id="{B15605D2-6FD8-0FFF-DAB8-B67B199C9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6550" y="4614864"/>
              <a:ext cx="234950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5" name="Line 43">
              <a:extLst>
                <a:ext uri="{FF2B5EF4-FFF2-40B4-BE49-F238E27FC236}">
                  <a16:creationId xmlns:a16="http://schemas.microsoft.com/office/drawing/2014/main" id="{C52BC8BB-CBE3-5F2C-C37F-E24EB7128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1114" y="3438525"/>
              <a:ext cx="2009775" cy="26939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6" name="Line 44">
              <a:extLst>
                <a:ext uri="{FF2B5EF4-FFF2-40B4-BE49-F238E27FC236}">
                  <a16:creationId xmlns:a16="http://schemas.microsoft.com/office/drawing/2014/main" id="{38DC651B-1CF6-91C3-9453-A4EC01799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3414" y="3076575"/>
              <a:ext cx="2066925" cy="27701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7" name="Line 45">
              <a:extLst>
                <a:ext uri="{FF2B5EF4-FFF2-40B4-BE49-F238E27FC236}">
                  <a16:creationId xmlns:a16="http://schemas.microsoft.com/office/drawing/2014/main" id="{5506EFF4-42A9-1B93-FEB3-10ADF0E2F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7950" y="3143250"/>
              <a:ext cx="552450" cy="41910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8" name="Text Box 46">
              <a:extLst>
                <a:ext uri="{FF2B5EF4-FFF2-40B4-BE49-F238E27FC236}">
                  <a16:creationId xmlns:a16="http://schemas.microsoft.com/office/drawing/2014/main" id="{D9A00C97-279D-BF91-A65E-6C6D19BBC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63" y="3119438"/>
              <a:ext cx="1143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i="1" dirty="0"/>
                <a:t>ρ</a:t>
              </a:r>
              <a:endParaRPr lang="en-US" altLang="en-US" i="1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BD118-914F-702E-D590-7BD3E7665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21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6D5AD13-DCA6-A397-8F5F-68BFFF61B87B}"/>
              </a:ext>
            </a:extLst>
          </p:cNvPr>
          <p:cNvSpPr txBox="1"/>
          <p:nvPr/>
        </p:nvSpPr>
        <p:spPr>
          <a:xfrm>
            <a:off x="381242" y="1050462"/>
            <a:ext cx="5751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想法：所有样本点尽量远离分类超平面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en-CN" altLang="zh-CN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21E60940-4977-08F8-687F-CFAEF096FDA3}"/>
                  </a:ext>
                </a:extLst>
              </p:cNvPr>
              <p:cNvSpPr txBox="1"/>
              <p:nvPr/>
            </p:nvSpPr>
            <p:spPr>
              <a:xfrm>
                <a:off x="4616986" y="1945124"/>
                <a:ext cx="7323654" cy="3226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样本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到超平面的距离为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分类超平面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是齐次的，可以要求所有的样本满足</a:t>
                </a:r>
                <a:br>
                  <a:rPr lang="en-US" altLang="zh-CN" dirty="0">
                    <a:solidFill>
                      <a:schemeClr val="tx2"/>
                    </a:solidFill>
                  </a:rPr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≥+1,   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=+1;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≤−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1,   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此时使得等号成立的样本被称为“支持向量”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两个异类支持向量到超平面的距离之和称为“间隔”，等于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最终得到优化问题：</a:t>
                </a:r>
                <a:endParaRPr lang="en-CN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21E60940-4977-08F8-687F-CFAEF096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986" y="1945124"/>
                <a:ext cx="7323654" cy="3226140"/>
              </a:xfrm>
              <a:prstGeom prst="rect">
                <a:avLst/>
              </a:prstGeom>
              <a:blipFill>
                <a:blip r:embed="rId3"/>
                <a:stretch>
                  <a:fillRect l="-499" r="-666" b="-1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3FEB5FB-D272-DF9E-263F-D3A4E1177A5E}"/>
                  </a:ext>
                </a:extLst>
              </p:cNvPr>
              <p:cNvSpPr txBox="1"/>
              <p:nvPr/>
            </p:nvSpPr>
            <p:spPr>
              <a:xfrm>
                <a:off x="5963707" y="4626539"/>
                <a:ext cx="6096000" cy="926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≥1,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3FEB5FB-D272-DF9E-263F-D3A4E117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707" y="4626539"/>
                <a:ext cx="6096000" cy="926920"/>
              </a:xfrm>
              <a:prstGeom prst="rect">
                <a:avLst/>
              </a:prstGeom>
              <a:blipFill>
                <a:blip r:embed="rId4"/>
                <a:stretch>
                  <a:fillRect b="-1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F942D9-86A1-D9F9-EF18-FBF59C23074C}"/>
                  </a:ext>
                </a:extLst>
              </p:cNvPr>
              <p:cNvSpPr txBox="1"/>
              <p:nvPr/>
            </p:nvSpPr>
            <p:spPr>
              <a:xfrm>
                <a:off x="8610072" y="1264137"/>
                <a:ext cx="3514195" cy="764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zh-CN" altLang="en-US" sz="1400" dirty="0">
                    <a:solidFill>
                      <a:schemeClr val="tx1"/>
                    </a:solidFill>
                  </a:rPr>
                  <a:t>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</a:rPr>
                  <a:t> 到直线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𝐵𝑦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</a:rPr>
                  <a:t> 的距离 </a:t>
                </a:r>
                <a:br>
                  <a:rPr lang="en-US" altLang="zh-CN" sz="14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F942D9-86A1-D9F9-EF18-FBF59C230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072" y="1264137"/>
                <a:ext cx="3514195" cy="764568"/>
              </a:xfrm>
              <a:prstGeom prst="rect">
                <a:avLst/>
              </a:prstGeom>
              <a:blipFill>
                <a:blip r:embed="rId5"/>
                <a:stretch>
                  <a:fillRect l="-520" t="-2381" b="-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E7386D3C-7340-B308-FA01-E3AE788DF77D}"/>
              </a:ext>
            </a:extLst>
          </p:cNvPr>
          <p:cNvCxnSpPr>
            <a:endCxn id="3" idx="2"/>
          </p:cNvCxnSpPr>
          <p:nvPr/>
        </p:nvCxnSpPr>
        <p:spPr>
          <a:xfrm flipV="1">
            <a:off x="9011707" y="2028705"/>
            <a:ext cx="1355463" cy="392900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355803"/>
      </p:ext>
    </p:extLst>
  </p:cSld>
  <p:clrMapOvr>
    <a:masterClrMapping/>
  </p:clrMapOvr>
  <p:transition advTm="349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9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C599-100E-2FB1-BC37-CE9E50DC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32" name="文本框 207931">
            <a:extLst>
              <a:ext uri="{FF2B5EF4-FFF2-40B4-BE49-F238E27FC236}">
                <a16:creationId xmlns:a16="http://schemas.microsoft.com/office/drawing/2014/main" id="{F8E4DACB-3258-F410-A93F-13B80A8EF8BA}"/>
              </a:ext>
            </a:extLst>
          </p:cNvPr>
          <p:cNvSpPr txBox="1"/>
          <p:nvPr/>
        </p:nvSpPr>
        <p:spPr>
          <a:xfrm>
            <a:off x="5372894" y="1957098"/>
            <a:ext cx="6096000" cy="171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引入</a:t>
            </a:r>
            <a:r>
              <a:rPr lang="zh-CN" altLang="en-US" dirty="0"/>
              <a:t>松弛变量</a:t>
            </a:r>
            <a:r>
              <a:rPr lang="zh-CN" altLang="en-US" dirty="0">
                <a:solidFill>
                  <a:schemeClr val="tx2"/>
                </a:solidFill>
              </a:rPr>
              <a:t>后的优化问题为</a:t>
            </a:r>
            <a:endParaRPr lang="en-US" altLang="zh-CN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6EB5D20F-422D-E325-9BB7-9169B1AEB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硬间隔与软间隔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4D1FA-9366-BF88-252D-75B65330F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22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F3EC13C6-B7E7-C1ED-9C91-064460C045B4}"/>
                  </a:ext>
                </a:extLst>
              </p:cNvPr>
              <p:cNvSpPr txBox="1"/>
              <p:nvPr/>
            </p:nvSpPr>
            <p:spPr>
              <a:xfrm>
                <a:off x="381242" y="1050462"/>
                <a:ext cx="59411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1"/>
                    </a:solidFill>
                  </a:rPr>
                  <a:t>硬间隔：样本点满足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>
                    <a:solidFill>
                      <a:schemeClr val="tx1"/>
                    </a:solidFill>
                  </a:rPr>
                  <a:t>软间隔：样本点满足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N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F3EC13C6-B7E7-C1ED-9C91-064460C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050462"/>
                <a:ext cx="5941178" cy="830997"/>
              </a:xfrm>
              <a:prstGeom prst="rect">
                <a:avLst/>
              </a:prstGeom>
              <a:blipFill>
                <a:blip r:embed="rId3"/>
                <a:stretch>
                  <a:fillRect l="-1643" t="-8759" b="-11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1">
            <a:extLst>
              <a:ext uri="{FF2B5EF4-FFF2-40B4-BE49-F238E27FC236}">
                <a16:creationId xmlns:a16="http://schemas.microsoft.com/office/drawing/2014/main" id="{09D370CE-38B5-2ADD-C72E-26BDAF6FF0E2}"/>
              </a:ext>
            </a:extLst>
          </p:cNvPr>
          <p:cNvGrpSpPr/>
          <p:nvPr/>
        </p:nvGrpSpPr>
        <p:grpSpPr>
          <a:xfrm>
            <a:off x="772319" y="2163488"/>
            <a:ext cx="4081462" cy="3305175"/>
            <a:chOff x="2395538" y="2524125"/>
            <a:chExt cx="4081462" cy="3305175"/>
          </a:xfrm>
        </p:grpSpPr>
        <p:sp>
          <p:nvSpPr>
            <p:cNvPr id="48" name="Line 4">
              <a:extLst>
                <a:ext uri="{FF2B5EF4-FFF2-40B4-BE49-F238E27FC236}">
                  <a16:creationId xmlns:a16="http://schemas.microsoft.com/office/drawing/2014/main" id="{7DA12B7B-451F-6B61-51A3-A20C2040C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0475" y="278765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5">
              <a:extLst>
                <a:ext uri="{FF2B5EF4-FFF2-40B4-BE49-F238E27FC236}">
                  <a16:creationId xmlns:a16="http://schemas.microsoft.com/office/drawing/2014/main" id="{6B376F26-E1F2-5AEE-7423-1ECF865D06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5538" y="571341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AutoShape 6">
              <a:extLst>
                <a:ext uri="{FF2B5EF4-FFF2-40B4-BE49-F238E27FC236}">
                  <a16:creationId xmlns:a16="http://schemas.microsoft.com/office/drawing/2014/main" id="{5E1F8B00-F508-A286-14BE-F4CF761C0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288" y="35433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AutoShape 7">
              <a:extLst>
                <a:ext uri="{FF2B5EF4-FFF2-40B4-BE49-F238E27FC236}">
                  <a16:creationId xmlns:a16="http://schemas.microsoft.com/office/drawing/2014/main" id="{173AAD62-4BDD-9374-3FFC-ADE64A510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613" y="390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AutoShape 8">
              <a:extLst>
                <a:ext uri="{FF2B5EF4-FFF2-40B4-BE49-F238E27FC236}">
                  <a16:creationId xmlns:a16="http://schemas.microsoft.com/office/drawing/2014/main" id="{1CAFA2FC-C79E-479D-2DEF-131258C6B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013" y="4446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AutoShape 9">
              <a:extLst>
                <a:ext uri="{FF2B5EF4-FFF2-40B4-BE49-F238E27FC236}">
                  <a16:creationId xmlns:a16="http://schemas.microsoft.com/office/drawing/2014/main" id="{89D077CB-8F2E-90DD-572A-A75B21E7D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013" y="4903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AutoShape 10">
              <a:extLst>
                <a:ext uri="{FF2B5EF4-FFF2-40B4-BE49-F238E27FC236}">
                  <a16:creationId xmlns:a16="http://schemas.microsoft.com/office/drawing/2014/main" id="{10B59E9B-6389-FACB-8055-10078A273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13" y="3303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AutoShape 11">
              <a:extLst>
                <a:ext uri="{FF2B5EF4-FFF2-40B4-BE49-F238E27FC236}">
                  <a16:creationId xmlns:a16="http://schemas.microsoft.com/office/drawing/2014/main" id="{D27B16B3-3792-0D78-8821-1E0EBDDB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013" y="4217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AutoShape 12">
              <a:extLst>
                <a:ext uri="{FF2B5EF4-FFF2-40B4-BE49-F238E27FC236}">
                  <a16:creationId xmlns:a16="http://schemas.microsoft.com/office/drawing/2014/main" id="{129FE5F0-1373-7809-7A2D-0469AC8DA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4370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AutoShape 13">
              <a:extLst>
                <a:ext uri="{FF2B5EF4-FFF2-40B4-BE49-F238E27FC236}">
                  <a16:creationId xmlns:a16="http://schemas.microsoft.com/office/drawing/2014/main" id="{C8E3DE53-4D2D-1E32-03C2-08251CDD4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3989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AutoShape 14">
              <a:extLst>
                <a:ext uri="{FF2B5EF4-FFF2-40B4-BE49-F238E27FC236}">
                  <a16:creationId xmlns:a16="http://schemas.microsoft.com/office/drawing/2014/main" id="{24514B37-1A45-40E9-ABA0-B7352CCA7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113" y="3976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AutoShape 15">
              <a:extLst>
                <a:ext uri="{FF2B5EF4-FFF2-40B4-BE49-F238E27FC236}">
                  <a16:creationId xmlns:a16="http://schemas.microsoft.com/office/drawing/2014/main" id="{4480A3A1-0648-F155-D3A6-C3E976763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3" y="4903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AutoShape 16">
              <a:extLst>
                <a:ext uri="{FF2B5EF4-FFF2-40B4-BE49-F238E27FC236}">
                  <a16:creationId xmlns:a16="http://schemas.microsoft.com/office/drawing/2014/main" id="{F678BBEA-FFA1-91E1-6559-910B45F63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413" y="4903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AutoShape 17">
              <a:extLst>
                <a:ext uri="{FF2B5EF4-FFF2-40B4-BE49-F238E27FC236}">
                  <a16:creationId xmlns:a16="http://schemas.microsoft.com/office/drawing/2014/main" id="{0944F04B-4F0B-3862-9311-3C8C9757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313" y="5424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AutoShape 18">
              <a:extLst>
                <a:ext uri="{FF2B5EF4-FFF2-40B4-BE49-F238E27FC236}">
                  <a16:creationId xmlns:a16="http://schemas.microsoft.com/office/drawing/2014/main" id="{FA300BE8-B3CE-1EFC-3BB5-2097EF89F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613" y="4294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AutoShape 19">
              <a:extLst>
                <a:ext uri="{FF2B5EF4-FFF2-40B4-BE49-F238E27FC236}">
                  <a16:creationId xmlns:a16="http://schemas.microsoft.com/office/drawing/2014/main" id="{3ED29321-E744-D328-AE9B-39EEE9AE9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288" y="47879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2" name="AutoShape 20">
              <a:extLst>
                <a:ext uri="{FF2B5EF4-FFF2-40B4-BE49-F238E27FC236}">
                  <a16:creationId xmlns:a16="http://schemas.microsoft.com/office/drawing/2014/main" id="{950FFCA9-387F-C732-4F32-7A9921AFE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5132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3" name="AutoShape 21">
              <a:extLst>
                <a:ext uri="{FF2B5EF4-FFF2-40B4-BE49-F238E27FC236}">
                  <a16:creationId xmlns:a16="http://schemas.microsoft.com/office/drawing/2014/main" id="{DDFEF637-BC2F-BB3B-591C-1746294CB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13" y="4217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5" name="AutoShape 22">
              <a:extLst>
                <a:ext uri="{FF2B5EF4-FFF2-40B4-BE49-F238E27FC236}">
                  <a16:creationId xmlns:a16="http://schemas.microsoft.com/office/drawing/2014/main" id="{21AD1D7F-A568-2594-0438-0AFCECFE1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27051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4" name="AutoShape 23">
              <a:extLst>
                <a:ext uri="{FF2B5EF4-FFF2-40B4-BE49-F238E27FC236}">
                  <a16:creationId xmlns:a16="http://schemas.microsoft.com/office/drawing/2014/main" id="{347DDFE7-A226-DA98-EF42-334BA0916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738" y="27813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9" name="AutoShape 24">
              <a:extLst>
                <a:ext uri="{FF2B5EF4-FFF2-40B4-BE49-F238E27FC236}">
                  <a16:creationId xmlns:a16="http://schemas.microsoft.com/office/drawing/2014/main" id="{45E1EDCE-7519-AAB3-046D-970E16CCE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38" y="35433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0" name="AutoShape 25">
              <a:extLst>
                <a:ext uri="{FF2B5EF4-FFF2-40B4-BE49-F238E27FC236}">
                  <a16:creationId xmlns:a16="http://schemas.microsoft.com/office/drawing/2014/main" id="{EADFB8C5-C970-20A1-9623-F564A7464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963" y="39878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2" name="AutoShape 27">
              <a:extLst>
                <a:ext uri="{FF2B5EF4-FFF2-40B4-BE49-F238E27FC236}">
                  <a16:creationId xmlns:a16="http://schemas.microsoft.com/office/drawing/2014/main" id="{6683831D-5D29-2CE9-4D27-A8C4F4DEB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725" y="3773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3" name="Line 28">
              <a:extLst>
                <a:ext uri="{FF2B5EF4-FFF2-40B4-BE49-F238E27FC236}">
                  <a16:creationId xmlns:a16="http://schemas.microsoft.com/office/drawing/2014/main" id="{044DE632-730E-C9B3-452A-C66634DB9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5613" y="270510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4" name="Line 29">
              <a:extLst>
                <a:ext uri="{FF2B5EF4-FFF2-40B4-BE49-F238E27FC236}">
                  <a16:creationId xmlns:a16="http://schemas.microsoft.com/office/drawing/2014/main" id="{CA021B14-BA39-F149-0870-46F96CD60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0700" y="3810000"/>
              <a:ext cx="25400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7" name="Oval 30">
              <a:extLst>
                <a:ext uri="{FF2B5EF4-FFF2-40B4-BE49-F238E27FC236}">
                  <a16:creationId xmlns:a16="http://schemas.microsoft.com/office/drawing/2014/main" id="{B4E9216F-E7DE-2AAF-654F-D0F342137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800" y="3924300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8" name="Oval 31">
              <a:extLst>
                <a:ext uri="{FF2B5EF4-FFF2-40B4-BE49-F238E27FC236}">
                  <a16:creationId xmlns:a16="http://schemas.microsoft.com/office/drawing/2014/main" id="{92253D86-6775-3431-F32C-78FE4A7E4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719638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9" name="Oval 32">
              <a:extLst>
                <a:ext uri="{FF2B5EF4-FFF2-40B4-BE49-F238E27FC236}">
                  <a16:creationId xmlns:a16="http://schemas.microsoft.com/office/drawing/2014/main" id="{BE6364A4-60BA-6C18-A73C-F0D73674E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263" y="3906838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20" name="Line 33">
              <a:extLst>
                <a:ext uri="{FF2B5EF4-FFF2-40B4-BE49-F238E27FC236}">
                  <a16:creationId xmlns:a16="http://schemas.microsoft.com/office/drawing/2014/main" id="{FD892B0E-87EA-2AF0-8819-3E6A3FC2C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06813" y="4624388"/>
              <a:ext cx="244475" cy="174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1" name="Line 34">
              <a:extLst>
                <a:ext uri="{FF2B5EF4-FFF2-40B4-BE49-F238E27FC236}">
                  <a16:creationId xmlns:a16="http://schemas.microsoft.com/office/drawing/2014/main" id="{4FCC03EF-3D8D-57AB-ABF9-1A95DBEC9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59200" y="4062413"/>
              <a:ext cx="234950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2" name="Line 35">
              <a:extLst>
                <a:ext uri="{FF2B5EF4-FFF2-40B4-BE49-F238E27FC236}">
                  <a16:creationId xmlns:a16="http://schemas.microsoft.com/office/drawing/2014/main" id="{DCD394BE-B6C9-5328-3306-4DAFFAC762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3763" y="2886075"/>
              <a:ext cx="2009775" cy="26939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3" name="Line 36">
              <a:extLst>
                <a:ext uri="{FF2B5EF4-FFF2-40B4-BE49-F238E27FC236}">
                  <a16:creationId xmlns:a16="http://schemas.microsoft.com/office/drawing/2014/main" id="{E820EAA3-059C-17C0-2707-1C96A0F62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6063" y="2524125"/>
              <a:ext cx="2066925" cy="27701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4" name="Line 37">
              <a:extLst>
                <a:ext uri="{FF2B5EF4-FFF2-40B4-BE49-F238E27FC236}">
                  <a16:creationId xmlns:a16="http://schemas.microsoft.com/office/drawing/2014/main" id="{AF79B63E-4594-BE06-F472-CD292CB65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5938" y="3208338"/>
              <a:ext cx="841375" cy="5826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5" name="Line 38">
              <a:extLst>
                <a:ext uri="{FF2B5EF4-FFF2-40B4-BE49-F238E27FC236}">
                  <a16:creationId xmlns:a16="http://schemas.microsoft.com/office/drawing/2014/main" id="{6E721C26-1EE2-6C3E-C517-DEF092F75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925" y="4064000"/>
              <a:ext cx="809625" cy="57785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6" name="Text Box 39">
              <a:extLst>
                <a:ext uri="{FF2B5EF4-FFF2-40B4-BE49-F238E27FC236}">
                  <a16:creationId xmlns:a16="http://schemas.microsoft.com/office/drawing/2014/main" id="{5D007EE6-CC0E-E898-A1D7-D75D4E9A0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488" y="3603625"/>
              <a:ext cx="704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sz="2000" i="1">
                  <a:cs typeface="Times New Roman" panose="02020603050405020304" pitchFamily="18" charset="0"/>
                </a:rPr>
                <a:t>ξ</a:t>
              </a:r>
              <a:r>
                <a:rPr lang="en-US" altLang="en-US" sz="2000" i="1" baseline="-25000"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07927" name="Text Box 40">
              <a:extLst>
                <a:ext uri="{FF2B5EF4-FFF2-40B4-BE49-F238E27FC236}">
                  <a16:creationId xmlns:a16="http://schemas.microsoft.com/office/drawing/2014/main" id="{A346BD0B-2C02-A569-5D53-AE37D6B45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7550" y="4067175"/>
              <a:ext cx="704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sz="2000" i="1">
                  <a:cs typeface="Times New Roman" panose="02020603050405020304" pitchFamily="18" charset="0"/>
                </a:rPr>
                <a:t>ξ</a:t>
              </a:r>
              <a:r>
                <a:rPr lang="en-US" altLang="en-US" sz="2000" i="1" baseline="-25000"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07928" name="Oval 41">
              <a:extLst>
                <a:ext uri="{FF2B5EF4-FFF2-40B4-BE49-F238E27FC236}">
                  <a16:creationId xmlns:a16="http://schemas.microsoft.com/office/drawing/2014/main" id="{EEE86DCE-1B1C-23DD-8622-3DC4B7676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700" y="3708400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29" name="Oval 42">
              <a:extLst>
                <a:ext uri="{FF2B5EF4-FFF2-40B4-BE49-F238E27FC236}">
                  <a16:creationId xmlns:a16="http://schemas.microsoft.com/office/drawing/2014/main" id="{3E8651C1-C933-BC2D-5C4C-5688FF5D3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525" y="3916363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7930" name="文本框 207929">
                <a:extLst>
                  <a:ext uri="{FF2B5EF4-FFF2-40B4-BE49-F238E27FC236}">
                    <a16:creationId xmlns:a16="http://schemas.microsoft.com/office/drawing/2014/main" id="{C6B27641-203E-AC06-6773-14B053A4C606}"/>
                  </a:ext>
                </a:extLst>
              </p:cNvPr>
              <p:cNvSpPr txBox="1"/>
              <p:nvPr/>
            </p:nvSpPr>
            <p:spPr>
              <a:xfrm>
                <a:off x="5555456" y="2307816"/>
                <a:ext cx="6096000" cy="1402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≥0,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7930" name="文本框 207929">
                <a:extLst>
                  <a:ext uri="{FF2B5EF4-FFF2-40B4-BE49-F238E27FC236}">
                    <a16:creationId xmlns:a16="http://schemas.microsoft.com/office/drawing/2014/main" id="{C6B27641-203E-AC06-6773-14B053A4C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456" y="2307816"/>
                <a:ext cx="6096000" cy="1402563"/>
              </a:xfrm>
              <a:prstGeom prst="rect">
                <a:avLst/>
              </a:prstGeom>
              <a:blipFill>
                <a:blip r:embed="rId4"/>
                <a:stretch>
                  <a:fillRect b="-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934" name="文本框 207933">
                <a:extLst>
                  <a:ext uri="{FF2B5EF4-FFF2-40B4-BE49-F238E27FC236}">
                    <a16:creationId xmlns:a16="http://schemas.microsoft.com/office/drawing/2014/main" id="{9834AEC3-37F4-5257-6733-E176664A1F9D}"/>
                  </a:ext>
                </a:extLst>
              </p:cNvPr>
              <p:cNvSpPr txBox="1"/>
              <p:nvPr/>
            </p:nvSpPr>
            <p:spPr>
              <a:xfrm>
                <a:off x="5739054" y="4119896"/>
                <a:ext cx="50805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讨论：常数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 的不同取值会带来什么不同结果？ </a:t>
                </a:r>
                <a:br>
                  <a:rPr lang="en-US" altLang="zh-CN" dirty="0"/>
                </a:br>
                <a:r>
                  <a:rPr lang="en-US" altLang="zh-CN" dirty="0"/>
                  <a:t>            </a:t>
                </a:r>
                <a:r>
                  <a:rPr lang="zh-CN" altLang="en-US" dirty="0"/>
                  <a:t>特别地，当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lang="zh-CN" altLang="en-US" dirty="0"/>
                  <a:t> 时会怎么样？</a:t>
                </a:r>
              </a:p>
            </p:txBody>
          </p:sp>
        </mc:Choice>
        <mc:Fallback xmlns="">
          <p:sp>
            <p:nvSpPr>
              <p:cNvPr id="207934" name="文本框 207933">
                <a:extLst>
                  <a:ext uri="{FF2B5EF4-FFF2-40B4-BE49-F238E27FC236}">
                    <a16:creationId xmlns:a16="http://schemas.microsoft.com/office/drawing/2014/main" id="{9834AEC3-37F4-5257-6733-E176664A1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054" y="4119896"/>
                <a:ext cx="5080552" cy="646331"/>
              </a:xfrm>
              <a:prstGeom prst="rect">
                <a:avLst/>
              </a:prstGeom>
              <a:blipFill>
                <a:blip r:embed="rId5"/>
                <a:stretch>
                  <a:fillRect l="-959" t="-8491" r="-120" b="-11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60F50CF1-D3F4-AEE5-2DE5-2DF72E1FC8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42818" y="1562268"/>
            <a:ext cx="255298" cy="496094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87EF1CD-3A18-52E9-70E0-5BF52CA8B102}"/>
              </a:ext>
            </a:extLst>
          </p:cNvPr>
          <p:cNvSpPr txBox="1"/>
          <p:nvPr/>
        </p:nvSpPr>
        <p:spPr>
          <a:xfrm>
            <a:off x="1400175" y="5417864"/>
            <a:ext cx="230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如果线性不可分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AA18B8-0835-61A5-E397-8915FFED7AB0}"/>
              </a:ext>
            </a:extLst>
          </p:cNvPr>
          <p:cNvSpPr txBox="1"/>
          <p:nvPr/>
        </p:nvSpPr>
        <p:spPr>
          <a:xfrm>
            <a:off x="5739054" y="5417864"/>
            <a:ext cx="508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思考：如何克服线性不可分的困难？</a:t>
            </a:r>
          </a:p>
        </p:txBody>
      </p:sp>
    </p:spTree>
    <p:extLst>
      <p:ext uri="{BB962C8B-B14F-4D97-AF65-F5344CB8AC3E}">
        <p14:creationId xmlns:p14="http://schemas.microsoft.com/office/powerpoint/2010/main" val="2165157358"/>
      </p:ext>
    </p:extLst>
  </p:cSld>
  <p:clrMapOvr>
    <a:masterClrMapping/>
  </p:clrMapOvr>
  <p:transition advTm="349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7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32" grpId="0" uiExpand="1" build="p"/>
      <p:bldP spid="207874" grpId="0"/>
      <p:bldP spid="6" grpId="0"/>
      <p:bldP spid="207930" grpId="0"/>
      <p:bldP spid="207934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 of a triangle&#10;&#10;AI-generated content may be incorrect.">
            <a:extLst>
              <a:ext uri="{FF2B5EF4-FFF2-40B4-BE49-F238E27FC236}">
                <a16:creationId xmlns:a16="http://schemas.microsoft.com/office/drawing/2014/main" id="{AA405872-609C-0A22-8E11-47079424D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144" y="1305396"/>
            <a:ext cx="4732228" cy="2648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960D8D-A29A-2BB9-6037-32791582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拓展</a:t>
            </a:r>
            <a:r>
              <a:rPr lang="zh-CN" altLang="en-US" dirty="0"/>
              <a:t>：</a:t>
            </a:r>
            <a:r>
              <a:rPr lang="en-CN" dirty="0"/>
              <a:t>核函数支持向量机</a:t>
            </a:r>
            <a:r>
              <a:rPr lang="zh-CN" altLang="en-US" dirty="0"/>
              <a:t>（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SVM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6E750-307E-AB8F-911C-9309F1549C8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想法：低维下线性不可分的问题，可以映射到更高维变成线性可分问题。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DDA35-79D5-C222-6BA4-EB0013805A08}"/>
              </a:ext>
            </a:extLst>
          </p:cNvPr>
          <p:cNvSpPr txBox="1"/>
          <p:nvPr/>
        </p:nvSpPr>
        <p:spPr>
          <a:xfrm>
            <a:off x="1322174" y="6418723"/>
            <a:ext cx="8785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https://</a:t>
            </a:r>
            <a:r>
              <a:rPr lang="en-US" sz="1600" dirty="0" err="1">
                <a:solidFill>
                  <a:schemeClr val="bg1"/>
                </a:solidFill>
              </a:rPr>
              <a:t>medium.com</a:t>
            </a:r>
            <a:r>
              <a:rPr lang="en-US" sz="1600" dirty="0">
                <a:solidFill>
                  <a:schemeClr val="bg1"/>
                </a:solidFill>
              </a:rPr>
              <a:t>/@abhishekjainindore24/svm-kernels-and-its-type-dfc3d5f2dcd8</a:t>
            </a:r>
            <a:endParaRPr lang="en-CN" sz="1600" dirty="0">
              <a:solidFill>
                <a:schemeClr val="bg1"/>
              </a:solidFill>
            </a:endParaRP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71B66093-6EB5-0887-2BD2-133CA5D46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85" y="4089422"/>
            <a:ext cx="5264402" cy="2216590"/>
          </a:xfrm>
          <a:prstGeom prst="rect">
            <a:avLst/>
          </a:prstGeom>
        </p:spPr>
      </p:pic>
      <p:pic>
        <p:nvPicPr>
          <p:cNvPr id="11" name="Picture 10" descr="A graph of a sphere with a pointy object&#10;&#10;AI-generated content may be incorrect.">
            <a:extLst>
              <a:ext uri="{FF2B5EF4-FFF2-40B4-BE49-F238E27FC236}">
                <a16:creationId xmlns:a16="http://schemas.microsoft.com/office/drawing/2014/main" id="{38669EC3-0D00-25CA-7A66-B57498978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798" y="3954129"/>
            <a:ext cx="5232921" cy="2050092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60AF719B-DB96-B811-CE89-FB767E1DA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0"/>
          <a:stretch/>
        </p:blipFill>
        <p:spPr>
          <a:xfrm>
            <a:off x="789210" y="1501642"/>
            <a:ext cx="5264401" cy="225623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E09B4-29ED-0BB4-87F4-EBB41910C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23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328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130E-07D1-F7E5-5095-3C1EC47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ED59BD-FA2F-EF6C-BFF2-91ACF31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内容小结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CE68F9-B4E3-E5B4-F121-57D296ED046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最小二乘法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CN" altLang="zh-CN" dirty="0"/>
              <a:t>线性判别分析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</a:t>
            </a:r>
            <a:endParaRPr lang="en-US" altLang="zh-CN" sz="24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支持向量机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3323-E858-D586-32E3-71D3B29A31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24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8996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F2D9-8211-DFA9-7195-05164E3E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>
                <a:normAutofit/>
              </a:bodyPr>
              <a:lstStyle/>
              <a:p>
                <a:pPr marL="342900" lvl="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zh-CN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，采用线性模型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𝑤𝑥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来拟合这个数据集，并且选择误差函数为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zh-CN" altLang="zh-CN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  <m:sSub>
                                  <m:sSubPr>
                                    <m:ctrlPr>
                                      <a:rPr lang="zh-CN" alt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。请求出使得误差函数取得最小值的参数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，并且说明这样参数是否是唯一存在的。</a:t>
                </a:r>
                <a:br>
                  <a:rPr lang="en-US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600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zh-CN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，采用线性模型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，并且选择误差函数为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zh-CN" altLang="zh-CN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1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zh-CN" alt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sSup>
                      <m:sSupPr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是事先取定的超参数。请求出使得误差函数取得最小值的参数 </a:t>
                </a:r>
                <a14:m>
                  <m:oMath xmlns:m="http://schemas.openxmlformats.org/officeDocument/2006/math">
                    <m:r>
                      <a:rPr lang="en-US" altLang="zh-CN" sz="16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，并且说明这样参数是否是唯一存在的，以及讨论参数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的作用。</a:t>
                </a:r>
                <a:br>
                  <a:rPr lang="en-US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600" kern="100" dirty="0">
                  <a:effectLst/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，设样本均值向量为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−2,1</m:t>
                        </m: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=(2,−1)</m:t>
                    </m:r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，样本协方差矩阵为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，请按照线性判别分析（</a:t>
                </a:r>
                <a: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LDA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）的步骤计算出二维向量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，并尝试给出几何解释。</a:t>
                </a:r>
                <a:b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6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1,0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,−1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3,3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,+1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0,4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,−1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3,−2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,+1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，请根据支持向量机的几何解释直接给出分类边界直线，并简单说明理由。</a:t>
                </a:r>
                <a:endParaRPr lang="en-US" altLang="zh-CN" sz="16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endParaRPr lang="zh-CN" alt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t="-2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D5973-E736-765A-CC53-5663226D9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25</a:t>
            </a:fld>
            <a:r>
              <a:rPr lang="en-US" altLang="zh-CN" dirty="0"/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3531258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6723-8396-A86C-5F67-DDCBB72D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AABC-C3AF-7A94-3BEC-32A0C287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2CBE88-5B78-CCBC-2477-70E94FB7182E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381242" y="927100"/>
                <a:ext cx="11429758" cy="5390900"/>
              </a:xfrm>
            </p:spPr>
            <p:txBody>
              <a:bodyPr>
                <a:normAutofit/>
              </a:bodyPr>
              <a:lstStyle/>
              <a:p>
                <a:pPr marL="342900" lvl="0" indent="-342900">
                  <a:lnSpc>
                    <a:spcPct val="115000"/>
                  </a:lnSpc>
                  <a:buFont typeface="+mj-lt"/>
                  <a:buAutoNum type="arabicPeriod" startAt="5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，采用逻辑回归模型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进行分类任务，其中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Sigmoid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函数。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的反函数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与导函数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;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注意到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的值域为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，因此通常把逻辑回归模型的输入解释成后验概率估计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=1|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，即给定样本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后其类别为</a:t>
                </a:r>
                <a: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1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的概率。请验证关系式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=1|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=0|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假设样本之间都是独立的，那么模型将会认为观察到这组数据的联合概率为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，我们希望选择合适的参数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使得这个概率尽可能大，因此定义“对数似然函数”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6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zh-CN" altLang="zh-CN" sz="16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。请将其整理为关于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的具体表达式，并讨论“取对数”的作用；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的一阶导数，并结合梯度下降法的过程，尝试给出表达式的几何直观解释。</a:t>
                </a:r>
                <a:endParaRPr lang="en-CN" altLang="zh-CN" sz="1600" dirty="0"/>
              </a:p>
              <a:p>
                <a:pPr marL="34290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endParaRPr lang="zh-CN" altLang="zh-CN" sz="1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endParaRPr lang="en-US" altLang="zh-CN" sz="16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2CBE88-5B78-CCBC-2477-70E94FB71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381242" y="927100"/>
                <a:ext cx="11429758" cy="5390900"/>
              </a:xfrm>
              <a:blipFill>
                <a:blip r:embed="rId2"/>
                <a:stretch>
                  <a:fillRect r="-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05162-D39B-3822-2AB6-D8CAB6516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26</a:t>
            </a:fld>
            <a:r>
              <a:rPr lang="en-US" altLang="zh-CN" dirty="0"/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3680401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28C6-61AC-A696-7205-63048480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717C30-E0BC-9F8A-FCBE-09827649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上机练习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386681-6E78-7BD0-D734-17BDBDD0D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CN" altLang="zh-CN" dirty="0"/>
              <a:t>线性判别分析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支持向量机与核函数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9584-D5D6-CF25-567A-4765CE3FB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27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5944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 descr="\documentclass{article}&#10;\usepackage{amsmath}&#10;\pagestyle{empty}&#10;\begin{document}&#10;&#10;$$&#10;\begin{aligned}&#10;&amp; m_t=\beta_1 m_{t-1}-\left(1-\beta_1\right)g_t \\&#10;&amp; s_t=\beta_2 s_{t-1}-\left(1-\beta_2\right) g_t^2 \\&#10;&amp; \theta_{t+1}=\theta_t-\eta \frac{m_t}{\sqrt{s_t+\epsilon}} g_t&#10;\end{aligned}&#10;$$&#10;&#10;&#10;&#10;\end{document}" title="IguanaTex Vector Display">
            <a:extLst>
              <a:ext uri="{FF2B5EF4-FFF2-40B4-BE49-F238E27FC236}">
                <a16:creationId xmlns:a16="http://schemas.microsoft.com/office/drawing/2014/main" id="{86591B1A-84E3-909D-3169-B4D2BA30F81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40000" y="2540000"/>
            <a:ext cx="2010295" cy="898364"/>
            <a:chOff x="5647553" y="3667502"/>
            <a:chExt cx="2010295" cy="898364"/>
          </a:xfrm>
        </p:grpSpPr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94D30B40-7C9F-4DD4-9E4E-283E85EB7C8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647553" y="3721011"/>
              <a:ext cx="143812" cy="78699"/>
            </a:xfrm>
            <a:custGeom>
              <a:avLst/>
              <a:gdLst>
                <a:gd name="connsiteX0" fmla="*/ 10536 w 143812"/>
                <a:gd name="connsiteY0" fmla="*/ 66610 h 78699"/>
                <a:gd name="connsiteX1" fmla="*/ 8956 w 143812"/>
                <a:gd name="connsiteY1" fmla="*/ 74081 h 78699"/>
                <a:gd name="connsiteX2" fmla="*/ 14048 w 143812"/>
                <a:gd name="connsiteY2" fmla="*/ 78772 h 78699"/>
                <a:gd name="connsiteX3" fmla="*/ 20545 w 143812"/>
                <a:gd name="connsiteY3" fmla="*/ 73907 h 78699"/>
                <a:gd name="connsiteX4" fmla="*/ 23881 w 143812"/>
                <a:gd name="connsiteY4" fmla="*/ 61051 h 78699"/>
                <a:gd name="connsiteX5" fmla="*/ 27744 w 143812"/>
                <a:gd name="connsiteY5" fmla="*/ 45415 h 78699"/>
                <a:gd name="connsiteX6" fmla="*/ 30730 w 143812"/>
                <a:gd name="connsiteY6" fmla="*/ 33776 h 78699"/>
                <a:gd name="connsiteX7" fmla="*/ 33012 w 143812"/>
                <a:gd name="connsiteY7" fmla="*/ 25089 h 78699"/>
                <a:gd name="connsiteX8" fmla="*/ 61634 w 143812"/>
                <a:gd name="connsiteY8" fmla="*/ 3894 h 78699"/>
                <a:gd name="connsiteX9" fmla="*/ 71117 w 143812"/>
                <a:gd name="connsiteY9" fmla="*/ 16055 h 78699"/>
                <a:gd name="connsiteX10" fmla="*/ 68483 w 143812"/>
                <a:gd name="connsiteY10" fmla="*/ 30475 h 78699"/>
                <a:gd name="connsiteX11" fmla="*/ 63566 w 143812"/>
                <a:gd name="connsiteY11" fmla="*/ 50627 h 78699"/>
                <a:gd name="connsiteX12" fmla="*/ 60054 w 143812"/>
                <a:gd name="connsiteY12" fmla="*/ 63831 h 78699"/>
                <a:gd name="connsiteX13" fmla="*/ 57771 w 143812"/>
                <a:gd name="connsiteY13" fmla="*/ 74081 h 78699"/>
                <a:gd name="connsiteX14" fmla="*/ 62864 w 143812"/>
                <a:gd name="connsiteY14" fmla="*/ 78772 h 78699"/>
                <a:gd name="connsiteX15" fmla="*/ 70765 w 143812"/>
                <a:gd name="connsiteY15" fmla="*/ 68869 h 78699"/>
                <a:gd name="connsiteX16" fmla="*/ 81301 w 143812"/>
                <a:gd name="connsiteY16" fmla="*/ 27000 h 78699"/>
                <a:gd name="connsiteX17" fmla="*/ 110274 w 143812"/>
                <a:gd name="connsiteY17" fmla="*/ 3894 h 78699"/>
                <a:gd name="connsiteX18" fmla="*/ 119756 w 143812"/>
                <a:gd name="connsiteY18" fmla="*/ 16055 h 78699"/>
                <a:gd name="connsiteX19" fmla="*/ 108870 w 143812"/>
                <a:gd name="connsiteY19" fmla="*/ 54971 h 78699"/>
                <a:gd name="connsiteX20" fmla="*/ 106587 w 143812"/>
                <a:gd name="connsiteY20" fmla="*/ 64526 h 78699"/>
                <a:gd name="connsiteX21" fmla="*/ 120986 w 143812"/>
                <a:gd name="connsiteY21" fmla="*/ 78772 h 78699"/>
                <a:gd name="connsiteX22" fmla="*/ 143989 w 143812"/>
                <a:gd name="connsiteY22" fmla="*/ 52017 h 78699"/>
                <a:gd name="connsiteX23" fmla="*/ 141882 w 143812"/>
                <a:gd name="connsiteY23" fmla="*/ 50280 h 78699"/>
                <a:gd name="connsiteX24" fmla="*/ 139248 w 143812"/>
                <a:gd name="connsiteY24" fmla="*/ 53407 h 78699"/>
                <a:gd name="connsiteX25" fmla="*/ 121337 w 143812"/>
                <a:gd name="connsiteY25" fmla="*/ 74949 h 78699"/>
                <a:gd name="connsiteX26" fmla="*/ 117123 w 143812"/>
                <a:gd name="connsiteY26" fmla="*/ 69216 h 78699"/>
                <a:gd name="connsiteX27" fmla="*/ 120283 w 143812"/>
                <a:gd name="connsiteY27" fmla="*/ 56882 h 78699"/>
                <a:gd name="connsiteX28" fmla="*/ 130995 w 143812"/>
                <a:gd name="connsiteY28" fmla="*/ 18661 h 78699"/>
                <a:gd name="connsiteX29" fmla="*/ 110801 w 143812"/>
                <a:gd name="connsiteY29" fmla="*/ 72 h 78699"/>
                <a:gd name="connsiteX30" fmla="*/ 82179 w 143812"/>
                <a:gd name="connsiteY30" fmla="*/ 16924 h 78699"/>
                <a:gd name="connsiteX31" fmla="*/ 76560 w 143812"/>
                <a:gd name="connsiteY31" fmla="*/ 4589 h 78699"/>
                <a:gd name="connsiteX32" fmla="*/ 62161 w 143812"/>
                <a:gd name="connsiteY32" fmla="*/ 72 h 78699"/>
                <a:gd name="connsiteX33" fmla="*/ 34768 w 143812"/>
                <a:gd name="connsiteY33" fmla="*/ 15187 h 78699"/>
                <a:gd name="connsiteX34" fmla="*/ 18614 w 143812"/>
                <a:gd name="connsiteY34" fmla="*/ 72 h 78699"/>
                <a:gd name="connsiteX35" fmla="*/ 5619 w 143812"/>
                <a:gd name="connsiteY35" fmla="*/ 9975 h 78699"/>
                <a:gd name="connsiteX36" fmla="*/ 176 w 143812"/>
                <a:gd name="connsiteY36" fmla="*/ 26826 h 78699"/>
                <a:gd name="connsiteX37" fmla="*/ 2283 w 143812"/>
                <a:gd name="connsiteY37" fmla="*/ 28564 h 78699"/>
                <a:gd name="connsiteX38" fmla="*/ 5268 w 143812"/>
                <a:gd name="connsiteY38" fmla="*/ 24568 h 78699"/>
                <a:gd name="connsiteX39" fmla="*/ 18087 w 143812"/>
                <a:gd name="connsiteY39" fmla="*/ 3894 h 78699"/>
                <a:gd name="connsiteX40" fmla="*/ 23530 w 143812"/>
                <a:gd name="connsiteY40" fmla="*/ 11886 h 78699"/>
                <a:gd name="connsiteX41" fmla="*/ 20721 w 143812"/>
                <a:gd name="connsiteY41" fmla="*/ 26479 h 78699"/>
                <a:gd name="connsiteX42" fmla="*/ 10536 w 143812"/>
                <a:gd name="connsiteY42" fmla="*/ 66610 h 7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3812" h="78699">
                  <a:moveTo>
                    <a:pt x="10536" y="66610"/>
                  </a:moveTo>
                  <a:cubicBezTo>
                    <a:pt x="10009" y="69216"/>
                    <a:pt x="8956" y="73212"/>
                    <a:pt x="8956" y="74081"/>
                  </a:cubicBezTo>
                  <a:cubicBezTo>
                    <a:pt x="8956" y="77208"/>
                    <a:pt x="11414" y="78772"/>
                    <a:pt x="14048" y="78772"/>
                  </a:cubicBezTo>
                  <a:cubicBezTo>
                    <a:pt x="16155" y="78772"/>
                    <a:pt x="19316" y="77382"/>
                    <a:pt x="20545" y="73907"/>
                  </a:cubicBezTo>
                  <a:cubicBezTo>
                    <a:pt x="20721" y="73560"/>
                    <a:pt x="22828" y="65394"/>
                    <a:pt x="23881" y="61051"/>
                  </a:cubicBezTo>
                  <a:lnTo>
                    <a:pt x="27744" y="45415"/>
                  </a:lnTo>
                  <a:cubicBezTo>
                    <a:pt x="28798" y="41593"/>
                    <a:pt x="29852" y="37771"/>
                    <a:pt x="30730" y="33776"/>
                  </a:cubicBezTo>
                  <a:cubicBezTo>
                    <a:pt x="31432" y="30822"/>
                    <a:pt x="32837" y="25784"/>
                    <a:pt x="33012" y="25089"/>
                  </a:cubicBezTo>
                  <a:cubicBezTo>
                    <a:pt x="35646" y="19704"/>
                    <a:pt x="44953" y="3894"/>
                    <a:pt x="61634" y="3894"/>
                  </a:cubicBezTo>
                  <a:cubicBezTo>
                    <a:pt x="69536" y="3894"/>
                    <a:pt x="71117" y="10322"/>
                    <a:pt x="71117" y="16055"/>
                  </a:cubicBezTo>
                  <a:cubicBezTo>
                    <a:pt x="71117" y="20398"/>
                    <a:pt x="69887" y="25263"/>
                    <a:pt x="68483" y="30475"/>
                  </a:cubicBezTo>
                  <a:lnTo>
                    <a:pt x="63566" y="50627"/>
                  </a:lnTo>
                  <a:lnTo>
                    <a:pt x="60054" y="63831"/>
                  </a:lnTo>
                  <a:cubicBezTo>
                    <a:pt x="59352" y="67305"/>
                    <a:pt x="57771" y="73212"/>
                    <a:pt x="57771" y="74081"/>
                  </a:cubicBezTo>
                  <a:cubicBezTo>
                    <a:pt x="57771" y="77208"/>
                    <a:pt x="60230" y="78772"/>
                    <a:pt x="62864" y="78772"/>
                  </a:cubicBezTo>
                  <a:cubicBezTo>
                    <a:pt x="68307" y="78772"/>
                    <a:pt x="69361" y="74428"/>
                    <a:pt x="70765" y="68869"/>
                  </a:cubicBezTo>
                  <a:cubicBezTo>
                    <a:pt x="73224" y="59140"/>
                    <a:pt x="79721" y="33776"/>
                    <a:pt x="81301" y="27000"/>
                  </a:cubicBezTo>
                  <a:cubicBezTo>
                    <a:pt x="81828" y="24742"/>
                    <a:pt x="91134" y="3894"/>
                    <a:pt x="110274" y="3894"/>
                  </a:cubicBezTo>
                  <a:cubicBezTo>
                    <a:pt x="117825" y="3894"/>
                    <a:pt x="119756" y="9801"/>
                    <a:pt x="119756" y="16055"/>
                  </a:cubicBezTo>
                  <a:cubicBezTo>
                    <a:pt x="119756" y="25958"/>
                    <a:pt x="112382" y="45763"/>
                    <a:pt x="108870" y="54971"/>
                  </a:cubicBezTo>
                  <a:cubicBezTo>
                    <a:pt x="107289" y="59140"/>
                    <a:pt x="106587" y="61051"/>
                    <a:pt x="106587" y="64526"/>
                  </a:cubicBezTo>
                  <a:cubicBezTo>
                    <a:pt x="106587" y="72691"/>
                    <a:pt x="112733" y="78772"/>
                    <a:pt x="120986" y="78772"/>
                  </a:cubicBezTo>
                  <a:cubicBezTo>
                    <a:pt x="137492" y="78772"/>
                    <a:pt x="143989" y="53407"/>
                    <a:pt x="143989" y="52017"/>
                  </a:cubicBezTo>
                  <a:cubicBezTo>
                    <a:pt x="143989" y="50280"/>
                    <a:pt x="142408" y="50280"/>
                    <a:pt x="141882" y="50280"/>
                  </a:cubicBezTo>
                  <a:cubicBezTo>
                    <a:pt x="140126" y="50280"/>
                    <a:pt x="140126" y="50801"/>
                    <a:pt x="139248" y="53407"/>
                  </a:cubicBezTo>
                  <a:cubicBezTo>
                    <a:pt x="136614" y="62615"/>
                    <a:pt x="130995" y="74949"/>
                    <a:pt x="121337" y="74949"/>
                  </a:cubicBezTo>
                  <a:cubicBezTo>
                    <a:pt x="118352" y="74949"/>
                    <a:pt x="117123" y="73212"/>
                    <a:pt x="117123" y="69216"/>
                  </a:cubicBezTo>
                  <a:cubicBezTo>
                    <a:pt x="117123" y="64873"/>
                    <a:pt x="118703" y="60704"/>
                    <a:pt x="120283" y="56882"/>
                  </a:cubicBezTo>
                  <a:cubicBezTo>
                    <a:pt x="123620" y="47848"/>
                    <a:pt x="130995" y="28564"/>
                    <a:pt x="130995" y="18661"/>
                  </a:cubicBezTo>
                  <a:cubicBezTo>
                    <a:pt x="130995" y="7369"/>
                    <a:pt x="123971" y="72"/>
                    <a:pt x="110801" y="72"/>
                  </a:cubicBezTo>
                  <a:cubicBezTo>
                    <a:pt x="97631" y="72"/>
                    <a:pt x="88676" y="7716"/>
                    <a:pt x="82179" y="16924"/>
                  </a:cubicBezTo>
                  <a:cubicBezTo>
                    <a:pt x="82003" y="14665"/>
                    <a:pt x="81477" y="8759"/>
                    <a:pt x="76560" y="4589"/>
                  </a:cubicBezTo>
                  <a:cubicBezTo>
                    <a:pt x="72170" y="941"/>
                    <a:pt x="66551" y="72"/>
                    <a:pt x="62161" y="72"/>
                  </a:cubicBezTo>
                  <a:cubicBezTo>
                    <a:pt x="46358" y="72"/>
                    <a:pt x="37753" y="11191"/>
                    <a:pt x="34768" y="15187"/>
                  </a:cubicBezTo>
                  <a:cubicBezTo>
                    <a:pt x="33890" y="5284"/>
                    <a:pt x="26515" y="72"/>
                    <a:pt x="18614" y="72"/>
                  </a:cubicBezTo>
                  <a:cubicBezTo>
                    <a:pt x="10536" y="72"/>
                    <a:pt x="7200" y="6848"/>
                    <a:pt x="5619" y="9975"/>
                  </a:cubicBezTo>
                  <a:cubicBezTo>
                    <a:pt x="2459" y="16055"/>
                    <a:pt x="176" y="26305"/>
                    <a:pt x="176" y="26826"/>
                  </a:cubicBezTo>
                  <a:cubicBezTo>
                    <a:pt x="176" y="28564"/>
                    <a:pt x="1932" y="28564"/>
                    <a:pt x="2283" y="28564"/>
                  </a:cubicBezTo>
                  <a:cubicBezTo>
                    <a:pt x="4039" y="28564"/>
                    <a:pt x="4215" y="28390"/>
                    <a:pt x="5268" y="24568"/>
                  </a:cubicBezTo>
                  <a:cubicBezTo>
                    <a:pt x="8253" y="12233"/>
                    <a:pt x="11765" y="3894"/>
                    <a:pt x="18087" y="3894"/>
                  </a:cubicBezTo>
                  <a:cubicBezTo>
                    <a:pt x="20896" y="3894"/>
                    <a:pt x="23530" y="5284"/>
                    <a:pt x="23530" y="11886"/>
                  </a:cubicBezTo>
                  <a:cubicBezTo>
                    <a:pt x="23530" y="15534"/>
                    <a:pt x="23003" y="17445"/>
                    <a:pt x="20721" y="26479"/>
                  </a:cubicBezTo>
                  <a:lnTo>
                    <a:pt x="10536" y="6661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形状 5">
              <a:extLst>
                <a:ext uri="{FF2B5EF4-FFF2-40B4-BE49-F238E27FC236}">
                  <a16:creationId xmlns:a16="http://schemas.microsoft.com/office/drawing/2014/main" id="{E81F022B-8157-CA41-FF04-434EBBD8897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801798" y="3747851"/>
              <a:ext cx="41545" cy="77222"/>
            </a:xfrm>
            <a:custGeom>
              <a:avLst/>
              <a:gdLst>
                <a:gd name="connsiteX0" fmla="*/ 25260 w 41545"/>
                <a:gd name="connsiteY0" fmla="*/ 28044 h 77222"/>
                <a:gd name="connsiteX1" fmla="*/ 37797 w 41545"/>
                <a:gd name="connsiteY1" fmla="*/ 28044 h 77222"/>
                <a:gd name="connsiteX2" fmla="*/ 41731 w 41545"/>
                <a:gd name="connsiteY2" fmla="*/ 25369 h 77222"/>
                <a:gd name="connsiteX3" fmla="*/ 38043 w 41545"/>
                <a:gd name="connsiteY3" fmla="*/ 23666 h 77222"/>
                <a:gd name="connsiteX4" fmla="*/ 26366 w 41545"/>
                <a:gd name="connsiteY4" fmla="*/ 23666 h 77222"/>
                <a:gd name="connsiteX5" fmla="*/ 30914 w 41545"/>
                <a:gd name="connsiteY5" fmla="*/ 5668 h 77222"/>
                <a:gd name="connsiteX6" fmla="*/ 31283 w 41545"/>
                <a:gd name="connsiteY6" fmla="*/ 3965 h 77222"/>
                <a:gd name="connsiteX7" fmla="*/ 27104 w 41545"/>
                <a:gd name="connsiteY7" fmla="*/ 74 h 77222"/>
                <a:gd name="connsiteX8" fmla="*/ 21326 w 41545"/>
                <a:gd name="connsiteY8" fmla="*/ 5303 h 77222"/>
                <a:gd name="connsiteX9" fmla="*/ 16656 w 41545"/>
                <a:gd name="connsiteY9" fmla="*/ 23666 h 77222"/>
                <a:gd name="connsiteX10" fmla="*/ 4118 w 41545"/>
                <a:gd name="connsiteY10" fmla="*/ 23666 h 77222"/>
                <a:gd name="connsiteX11" fmla="*/ 185 w 41545"/>
                <a:gd name="connsiteY11" fmla="*/ 26341 h 77222"/>
                <a:gd name="connsiteX12" fmla="*/ 3872 w 41545"/>
                <a:gd name="connsiteY12" fmla="*/ 28044 h 77222"/>
                <a:gd name="connsiteX13" fmla="*/ 15549 w 41545"/>
                <a:gd name="connsiteY13" fmla="*/ 28044 h 77222"/>
                <a:gd name="connsiteX14" fmla="*/ 8297 w 41545"/>
                <a:gd name="connsiteY14" fmla="*/ 56744 h 77222"/>
                <a:gd name="connsiteX15" fmla="*/ 6454 w 41545"/>
                <a:gd name="connsiteY15" fmla="*/ 65743 h 77222"/>
                <a:gd name="connsiteX16" fmla="*/ 19606 w 41545"/>
                <a:gd name="connsiteY16" fmla="*/ 77296 h 77222"/>
                <a:gd name="connsiteX17" fmla="*/ 40993 w 41545"/>
                <a:gd name="connsiteY17" fmla="*/ 58690 h 77222"/>
                <a:gd name="connsiteX18" fmla="*/ 39026 w 41545"/>
                <a:gd name="connsiteY18" fmla="*/ 57109 h 77222"/>
                <a:gd name="connsiteX19" fmla="*/ 36445 w 41545"/>
                <a:gd name="connsiteY19" fmla="*/ 59420 h 77222"/>
                <a:gd name="connsiteX20" fmla="*/ 19974 w 41545"/>
                <a:gd name="connsiteY20" fmla="*/ 73891 h 77222"/>
                <a:gd name="connsiteX21" fmla="*/ 15672 w 41545"/>
                <a:gd name="connsiteY21" fmla="*/ 67932 h 77222"/>
                <a:gd name="connsiteX22" fmla="*/ 16410 w 41545"/>
                <a:gd name="connsiteY22" fmla="*/ 62946 h 77222"/>
                <a:gd name="connsiteX23" fmla="*/ 25260 w 41545"/>
                <a:gd name="connsiteY23" fmla="*/ 28044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260" y="28044"/>
                  </a:moveTo>
                  <a:lnTo>
                    <a:pt x="37797" y="28044"/>
                  </a:lnTo>
                  <a:cubicBezTo>
                    <a:pt x="40133" y="28044"/>
                    <a:pt x="41731" y="28044"/>
                    <a:pt x="41731" y="25369"/>
                  </a:cubicBezTo>
                  <a:cubicBezTo>
                    <a:pt x="41731" y="23666"/>
                    <a:pt x="40133" y="23666"/>
                    <a:pt x="38043" y="23666"/>
                  </a:cubicBezTo>
                  <a:lnTo>
                    <a:pt x="26366" y="23666"/>
                  </a:lnTo>
                  <a:lnTo>
                    <a:pt x="30914" y="5668"/>
                  </a:lnTo>
                  <a:cubicBezTo>
                    <a:pt x="31037" y="5060"/>
                    <a:pt x="31283" y="4452"/>
                    <a:pt x="31283" y="3965"/>
                  </a:cubicBezTo>
                  <a:cubicBezTo>
                    <a:pt x="31283" y="1776"/>
                    <a:pt x="29562" y="74"/>
                    <a:pt x="27104" y="74"/>
                  </a:cubicBezTo>
                  <a:cubicBezTo>
                    <a:pt x="24031" y="74"/>
                    <a:pt x="22187" y="2141"/>
                    <a:pt x="21326" y="5303"/>
                  </a:cubicBezTo>
                  <a:cubicBezTo>
                    <a:pt x="20466" y="8343"/>
                    <a:pt x="22064" y="2506"/>
                    <a:pt x="16656" y="23666"/>
                  </a:cubicBezTo>
                  <a:lnTo>
                    <a:pt x="4118" y="23666"/>
                  </a:lnTo>
                  <a:cubicBezTo>
                    <a:pt x="1783" y="23666"/>
                    <a:pt x="185" y="23666"/>
                    <a:pt x="185" y="26341"/>
                  </a:cubicBezTo>
                  <a:cubicBezTo>
                    <a:pt x="185" y="28044"/>
                    <a:pt x="1660" y="28044"/>
                    <a:pt x="3872" y="28044"/>
                  </a:cubicBezTo>
                  <a:lnTo>
                    <a:pt x="15549" y="28044"/>
                  </a:lnTo>
                  <a:lnTo>
                    <a:pt x="8297" y="56744"/>
                  </a:lnTo>
                  <a:cubicBezTo>
                    <a:pt x="7560" y="59784"/>
                    <a:pt x="6454" y="64162"/>
                    <a:pt x="6454" y="65743"/>
                  </a:cubicBezTo>
                  <a:cubicBezTo>
                    <a:pt x="6454" y="72918"/>
                    <a:pt x="12599" y="77296"/>
                    <a:pt x="19606" y="77296"/>
                  </a:cubicBezTo>
                  <a:cubicBezTo>
                    <a:pt x="33249" y="77296"/>
                    <a:pt x="40993" y="60271"/>
                    <a:pt x="40993" y="58690"/>
                  </a:cubicBezTo>
                  <a:cubicBezTo>
                    <a:pt x="40993" y="57109"/>
                    <a:pt x="39395" y="57109"/>
                    <a:pt x="39026" y="57109"/>
                  </a:cubicBezTo>
                  <a:cubicBezTo>
                    <a:pt x="37551" y="57109"/>
                    <a:pt x="37429" y="57352"/>
                    <a:pt x="36445" y="59420"/>
                  </a:cubicBezTo>
                  <a:cubicBezTo>
                    <a:pt x="33004" y="67081"/>
                    <a:pt x="26735" y="73891"/>
                    <a:pt x="19974" y="73891"/>
                  </a:cubicBezTo>
                  <a:cubicBezTo>
                    <a:pt x="17393" y="73891"/>
                    <a:pt x="15672" y="72310"/>
                    <a:pt x="15672" y="67932"/>
                  </a:cubicBezTo>
                  <a:cubicBezTo>
                    <a:pt x="15672" y="66716"/>
                    <a:pt x="16164" y="64162"/>
                    <a:pt x="16410" y="62946"/>
                  </a:cubicBezTo>
                  <a:lnTo>
                    <a:pt x="25260" y="28044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3843FCAD-2CE7-DFEA-A364-639C2571FD7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17069" y="3734040"/>
              <a:ext cx="116770" cy="40652"/>
            </a:xfrm>
            <a:custGeom>
              <a:avLst/>
              <a:gdLst>
                <a:gd name="connsiteX0" fmla="*/ 110992 w 116770"/>
                <a:gd name="connsiteY0" fmla="*/ 7021 h 40652"/>
                <a:gd name="connsiteX1" fmla="*/ 116962 w 116770"/>
                <a:gd name="connsiteY1" fmla="*/ 3547 h 40652"/>
                <a:gd name="connsiteX2" fmla="*/ 111167 w 116770"/>
                <a:gd name="connsiteY2" fmla="*/ 72 h 40652"/>
                <a:gd name="connsiteX3" fmla="*/ 5986 w 116770"/>
                <a:gd name="connsiteY3" fmla="*/ 72 h 40652"/>
                <a:gd name="connsiteX4" fmla="*/ 191 w 116770"/>
                <a:gd name="connsiteY4" fmla="*/ 3547 h 40652"/>
                <a:gd name="connsiteX5" fmla="*/ 6161 w 116770"/>
                <a:gd name="connsiteY5" fmla="*/ 7021 h 40652"/>
                <a:gd name="connsiteX6" fmla="*/ 110992 w 116770"/>
                <a:gd name="connsiteY6" fmla="*/ 7021 h 40652"/>
                <a:gd name="connsiteX7" fmla="*/ 111167 w 116770"/>
                <a:gd name="connsiteY7" fmla="*/ 40725 h 40652"/>
                <a:gd name="connsiteX8" fmla="*/ 116962 w 116770"/>
                <a:gd name="connsiteY8" fmla="*/ 37250 h 40652"/>
                <a:gd name="connsiteX9" fmla="*/ 110992 w 116770"/>
                <a:gd name="connsiteY9" fmla="*/ 33776 h 40652"/>
                <a:gd name="connsiteX10" fmla="*/ 6161 w 116770"/>
                <a:gd name="connsiteY10" fmla="*/ 33776 h 40652"/>
                <a:gd name="connsiteX11" fmla="*/ 191 w 116770"/>
                <a:gd name="connsiteY11" fmla="*/ 37250 h 40652"/>
                <a:gd name="connsiteX12" fmla="*/ 5986 w 116770"/>
                <a:gd name="connsiteY12" fmla="*/ 40725 h 40652"/>
                <a:gd name="connsiteX13" fmla="*/ 111167 w 116770"/>
                <a:gd name="connsiteY13" fmla="*/ 40725 h 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770" h="40652">
                  <a:moveTo>
                    <a:pt x="110992" y="7021"/>
                  </a:moveTo>
                  <a:cubicBezTo>
                    <a:pt x="113626" y="7021"/>
                    <a:pt x="116962" y="7021"/>
                    <a:pt x="116962" y="3547"/>
                  </a:cubicBezTo>
                  <a:cubicBezTo>
                    <a:pt x="116962" y="72"/>
                    <a:pt x="113626" y="72"/>
                    <a:pt x="111167" y="72"/>
                  </a:cubicBezTo>
                  <a:lnTo>
                    <a:pt x="5986" y="72"/>
                  </a:lnTo>
                  <a:cubicBezTo>
                    <a:pt x="3527" y="72"/>
                    <a:pt x="191" y="72"/>
                    <a:pt x="191" y="3547"/>
                  </a:cubicBezTo>
                  <a:cubicBezTo>
                    <a:pt x="191" y="7021"/>
                    <a:pt x="3527" y="7021"/>
                    <a:pt x="6161" y="7021"/>
                  </a:cubicBezTo>
                  <a:lnTo>
                    <a:pt x="110992" y="7021"/>
                  </a:lnTo>
                  <a:close/>
                  <a:moveTo>
                    <a:pt x="111167" y="40725"/>
                  </a:moveTo>
                  <a:cubicBezTo>
                    <a:pt x="113626" y="40725"/>
                    <a:pt x="116962" y="40725"/>
                    <a:pt x="116962" y="37250"/>
                  </a:cubicBezTo>
                  <a:cubicBezTo>
                    <a:pt x="116962" y="33776"/>
                    <a:pt x="113626" y="33776"/>
                    <a:pt x="110992" y="33776"/>
                  </a:cubicBezTo>
                  <a:lnTo>
                    <a:pt x="6161" y="33776"/>
                  </a:lnTo>
                  <a:cubicBezTo>
                    <a:pt x="3527" y="33776"/>
                    <a:pt x="191" y="33776"/>
                    <a:pt x="191" y="37250"/>
                  </a:cubicBezTo>
                  <a:cubicBezTo>
                    <a:pt x="191" y="40725"/>
                    <a:pt x="3527" y="40725"/>
                    <a:pt x="5986" y="40725"/>
                  </a:cubicBezTo>
                  <a:lnTo>
                    <a:pt x="111167" y="40725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4450CD5-0DB8-88D3-87B2-92649B8CCAC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097831" y="3675146"/>
              <a:ext cx="95721" cy="156356"/>
            </a:xfrm>
            <a:custGeom>
              <a:avLst/>
              <a:gdLst>
                <a:gd name="connsiteX0" fmla="*/ 95923 w 95721"/>
                <a:gd name="connsiteY0" fmla="*/ 23873 h 156356"/>
                <a:gd name="connsiteX1" fmla="*/ 72042 w 95721"/>
                <a:gd name="connsiteY1" fmla="*/ 72 h 156356"/>
                <a:gd name="connsiteX2" fmla="*/ 50795 w 95721"/>
                <a:gd name="connsiteY2" fmla="*/ 7369 h 156356"/>
                <a:gd name="connsiteX3" fmla="*/ 28144 w 95721"/>
                <a:gd name="connsiteY3" fmla="*/ 44373 h 156356"/>
                <a:gd name="connsiteX4" fmla="*/ 224 w 95721"/>
                <a:gd name="connsiteY4" fmla="*/ 154691 h 156356"/>
                <a:gd name="connsiteX5" fmla="*/ 2331 w 95721"/>
                <a:gd name="connsiteY5" fmla="*/ 156428 h 156356"/>
                <a:gd name="connsiteX6" fmla="*/ 4438 w 95721"/>
                <a:gd name="connsiteY6" fmla="*/ 155560 h 156356"/>
                <a:gd name="connsiteX7" fmla="*/ 16730 w 95721"/>
                <a:gd name="connsiteY7" fmla="*/ 107611 h 156356"/>
                <a:gd name="connsiteX8" fmla="*/ 40611 w 95721"/>
                <a:gd name="connsiteY8" fmla="*/ 124462 h 156356"/>
                <a:gd name="connsiteX9" fmla="*/ 74501 w 95721"/>
                <a:gd name="connsiteY9" fmla="*/ 110738 h 156356"/>
                <a:gd name="connsiteX10" fmla="*/ 88548 w 95721"/>
                <a:gd name="connsiteY10" fmla="*/ 78772 h 156356"/>
                <a:gd name="connsiteX11" fmla="*/ 75730 w 95721"/>
                <a:gd name="connsiteY11" fmla="*/ 52886 h 156356"/>
                <a:gd name="connsiteX12" fmla="*/ 95923 w 95721"/>
                <a:gd name="connsiteY12" fmla="*/ 23873 h 156356"/>
                <a:gd name="connsiteX13" fmla="*/ 64316 w 95721"/>
                <a:gd name="connsiteY13" fmla="*/ 52712 h 156356"/>
                <a:gd name="connsiteX14" fmla="*/ 55888 w 95721"/>
                <a:gd name="connsiteY14" fmla="*/ 53928 h 156356"/>
                <a:gd name="connsiteX15" fmla="*/ 48161 w 95721"/>
                <a:gd name="connsiteY15" fmla="*/ 53233 h 156356"/>
                <a:gd name="connsiteX16" fmla="*/ 56766 w 95721"/>
                <a:gd name="connsiteY16" fmla="*/ 51843 h 156356"/>
                <a:gd name="connsiteX17" fmla="*/ 64316 w 95721"/>
                <a:gd name="connsiteY17" fmla="*/ 52712 h 156356"/>
                <a:gd name="connsiteX18" fmla="*/ 86090 w 95721"/>
                <a:gd name="connsiteY18" fmla="*/ 19877 h 156356"/>
                <a:gd name="connsiteX19" fmla="*/ 70286 w 95721"/>
                <a:gd name="connsiteY19" fmla="*/ 49932 h 156356"/>
                <a:gd name="connsiteX20" fmla="*/ 56766 w 95721"/>
                <a:gd name="connsiteY20" fmla="*/ 47848 h 156356"/>
                <a:gd name="connsiteX21" fmla="*/ 43245 w 95721"/>
                <a:gd name="connsiteY21" fmla="*/ 53407 h 156356"/>
                <a:gd name="connsiteX22" fmla="*/ 55361 w 95721"/>
                <a:gd name="connsiteY22" fmla="*/ 57750 h 156356"/>
                <a:gd name="connsiteX23" fmla="*/ 69760 w 95721"/>
                <a:gd name="connsiteY23" fmla="*/ 55492 h 156356"/>
                <a:gd name="connsiteX24" fmla="*/ 77486 w 95721"/>
                <a:gd name="connsiteY24" fmla="*/ 75123 h 156356"/>
                <a:gd name="connsiteX25" fmla="*/ 68706 w 95721"/>
                <a:gd name="connsiteY25" fmla="*/ 105005 h 156356"/>
                <a:gd name="connsiteX26" fmla="*/ 40084 w 95721"/>
                <a:gd name="connsiteY26" fmla="*/ 120640 h 156356"/>
                <a:gd name="connsiteX27" fmla="*/ 20066 w 95721"/>
                <a:gd name="connsiteY27" fmla="*/ 98229 h 156356"/>
                <a:gd name="connsiteX28" fmla="*/ 20944 w 95721"/>
                <a:gd name="connsiteY28" fmla="*/ 90585 h 156356"/>
                <a:gd name="connsiteX29" fmla="*/ 32182 w 95721"/>
                <a:gd name="connsiteY29" fmla="*/ 46632 h 156356"/>
                <a:gd name="connsiteX30" fmla="*/ 69760 w 95721"/>
                <a:gd name="connsiteY30" fmla="*/ 4068 h 156356"/>
                <a:gd name="connsiteX31" fmla="*/ 86090 w 95721"/>
                <a:gd name="connsiteY31" fmla="*/ 19877 h 15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721" h="156356">
                  <a:moveTo>
                    <a:pt x="95923" y="23873"/>
                  </a:moveTo>
                  <a:cubicBezTo>
                    <a:pt x="95923" y="10843"/>
                    <a:pt x="86266" y="72"/>
                    <a:pt x="72042" y="72"/>
                  </a:cubicBezTo>
                  <a:cubicBezTo>
                    <a:pt x="61858" y="72"/>
                    <a:pt x="56941" y="2852"/>
                    <a:pt x="50795" y="7369"/>
                  </a:cubicBezTo>
                  <a:cubicBezTo>
                    <a:pt x="41138" y="14318"/>
                    <a:pt x="31480" y="31170"/>
                    <a:pt x="28144" y="44373"/>
                  </a:cubicBezTo>
                  <a:lnTo>
                    <a:pt x="224" y="154691"/>
                  </a:lnTo>
                  <a:cubicBezTo>
                    <a:pt x="48" y="155386"/>
                    <a:pt x="926" y="156428"/>
                    <a:pt x="2331" y="156428"/>
                  </a:cubicBezTo>
                  <a:cubicBezTo>
                    <a:pt x="3736" y="156428"/>
                    <a:pt x="4263" y="156081"/>
                    <a:pt x="4438" y="155560"/>
                  </a:cubicBezTo>
                  <a:lnTo>
                    <a:pt x="16730" y="107611"/>
                  </a:lnTo>
                  <a:cubicBezTo>
                    <a:pt x="20066" y="118034"/>
                    <a:pt x="27792" y="124462"/>
                    <a:pt x="40611" y="124462"/>
                  </a:cubicBezTo>
                  <a:cubicBezTo>
                    <a:pt x="53429" y="124462"/>
                    <a:pt x="66599" y="118382"/>
                    <a:pt x="74501" y="110738"/>
                  </a:cubicBezTo>
                  <a:cubicBezTo>
                    <a:pt x="82929" y="102746"/>
                    <a:pt x="88548" y="91627"/>
                    <a:pt x="88548" y="78772"/>
                  </a:cubicBezTo>
                  <a:cubicBezTo>
                    <a:pt x="88548" y="66263"/>
                    <a:pt x="82051" y="57229"/>
                    <a:pt x="75730" y="52886"/>
                  </a:cubicBezTo>
                  <a:cubicBezTo>
                    <a:pt x="85914" y="47153"/>
                    <a:pt x="95923" y="36382"/>
                    <a:pt x="95923" y="23873"/>
                  </a:cubicBezTo>
                  <a:close/>
                  <a:moveTo>
                    <a:pt x="64316" y="52712"/>
                  </a:moveTo>
                  <a:cubicBezTo>
                    <a:pt x="62033" y="53581"/>
                    <a:pt x="60102" y="53928"/>
                    <a:pt x="55888" y="53928"/>
                  </a:cubicBezTo>
                  <a:cubicBezTo>
                    <a:pt x="53429" y="53928"/>
                    <a:pt x="49917" y="54102"/>
                    <a:pt x="48161" y="53233"/>
                  </a:cubicBezTo>
                  <a:cubicBezTo>
                    <a:pt x="48513" y="51496"/>
                    <a:pt x="54834" y="51843"/>
                    <a:pt x="56766" y="51843"/>
                  </a:cubicBezTo>
                  <a:cubicBezTo>
                    <a:pt x="60453" y="51843"/>
                    <a:pt x="62033" y="51843"/>
                    <a:pt x="64316" y="52712"/>
                  </a:cubicBezTo>
                  <a:close/>
                  <a:moveTo>
                    <a:pt x="86090" y="19877"/>
                  </a:moveTo>
                  <a:cubicBezTo>
                    <a:pt x="86090" y="32038"/>
                    <a:pt x="79417" y="44547"/>
                    <a:pt x="70286" y="49932"/>
                  </a:cubicBezTo>
                  <a:cubicBezTo>
                    <a:pt x="65545" y="48195"/>
                    <a:pt x="62033" y="47848"/>
                    <a:pt x="56766" y="47848"/>
                  </a:cubicBezTo>
                  <a:cubicBezTo>
                    <a:pt x="53078" y="47848"/>
                    <a:pt x="43245" y="47674"/>
                    <a:pt x="43245" y="53407"/>
                  </a:cubicBezTo>
                  <a:cubicBezTo>
                    <a:pt x="43069" y="58271"/>
                    <a:pt x="52200" y="57750"/>
                    <a:pt x="55361" y="57750"/>
                  </a:cubicBezTo>
                  <a:cubicBezTo>
                    <a:pt x="61858" y="57750"/>
                    <a:pt x="64492" y="57577"/>
                    <a:pt x="69760" y="55492"/>
                  </a:cubicBezTo>
                  <a:cubicBezTo>
                    <a:pt x="76432" y="61746"/>
                    <a:pt x="77310" y="67132"/>
                    <a:pt x="77486" y="75123"/>
                  </a:cubicBezTo>
                  <a:cubicBezTo>
                    <a:pt x="77837" y="85199"/>
                    <a:pt x="73623" y="98229"/>
                    <a:pt x="68706" y="105005"/>
                  </a:cubicBezTo>
                  <a:cubicBezTo>
                    <a:pt x="61858" y="114386"/>
                    <a:pt x="50093" y="120640"/>
                    <a:pt x="40084" y="120640"/>
                  </a:cubicBezTo>
                  <a:cubicBezTo>
                    <a:pt x="26739" y="120640"/>
                    <a:pt x="20066" y="110564"/>
                    <a:pt x="20066" y="98229"/>
                  </a:cubicBezTo>
                  <a:cubicBezTo>
                    <a:pt x="20066" y="96492"/>
                    <a:pt x="20066" y="93886"/>
                    <a:pt x="20944" y="90585"/>
                  </a:cubicBezTo>
                  <a:lnTo>
                    <a:pt x="32182" y="46632"/>
                  </a:lnTo>
                  <a:cubicBezTo>
                    <a:pt x="36045" y="31691"/>
                    <a:pt x="48688" y="4068"/>
                    <a:pt x="69760" y="4068"/>
                  </a:cubicBezTo>
                  <a:cubicBezTo>
                    <a:pt x="79944" y="4068"/>
                    <a:pt x="86090" y="9454"/>
                    <a:pt x="86090" y="19877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E84A3382-440D-0041-E23E-9990E1D7F4A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205305" y="3743109"/>
              <a:ext cx="44741" cy="80749"/>
            </a:xfrm>
            <a:custGeom>
              <a:avLst/>
              <a:gdLst>
                <a:gd name="connsiteX0" fmla="*/ 27986 w 44741"/>
                <a:gd name="connsiteY0" fmla="*/ 3479 h 80749"/>
                <a:gd name="connsiteX1" fmla="*/ 24299 w 44741"/>
                <a:gd name="connsiteY1" fmla="*/ 74 h 80749"/>
                <a:gd name="connsiteX2" fmla="*/ 207 w 44741"/>
                <a:gd name="connsiteY2" fmla="*/ 7857 h 80749"/>
                <a:gd name="connsiteX3" fmla="*/ 207 w 44741"/>
                <a:gd name="connsiteY3" fmla="*/ 12235 h 80749"/>
                <a:gd name="connsiteX4" fmla="*/ 18030 w 44741"/>
                <a:gd name="connsiteY4" fmla="*/ 8830 h 80749"/>
                <a:gd name="connsiteX5" fmla="*/ 18030 w 44741"/>
                <a:gd name="connsiteY5" fmla="*/ 70851 h 80749"/>
                <a:gd name="connsiteX6" fmla="*/ 5738 w 44741"/>
                <a:gd name="connsiteY6" fmla="*/ 76445 h 80749"/>
                <a:gd name="connsiteX7" fmla="*/ 1068 w 44741"/>
                <a:gd name="connsiteY7" fmla="*/ 76445 h 80749"/>
                <a:gd name="connsiteX8" fmla="*/ 1068 w 44741"/>
                <a:gd name="connsiteY8" fmla="*/ 80823 h 80749"/>
                <a:gd name="connsiteX9" fmla="*/ 22947 w 44741"/>
                <a:gd name="connsiteY9" fmla="*/ 80337 h 80749"/>
                <a:gd name="connsiteX10" fmla="*/ 44949 w 44741"/>
                <a:gd name="connsiteY10" fmla="*/ 80823 h 80749"/>
                <a:gd name="connsiteX11" fmla="*/ 44949 w 44741"/>
                <a:gd name="connsiteY11" fmla="*/ 76445 h 80749"/>
                <a:gd name="connsiteX12" fmla="*/ 40278 w 44741"/>
                <a:gd name="connsiteY12" fmla="*/ 76445 h 80749"/>
                <a:gd name="connsiteX13" fmla="*/ 27986 w 44741"/>
                <a:gd name="connsiteY13" fmla="*/ 70851 h 80749"/>
                <a:gd name="connsiteX14" fmla="*/ 27986 w 44741"/>
                <a:gd name="connsiteY14" fmla="*/ 3479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41" h="80749">
                  <a:moveTo>
                    <a:pt x="27986" y="3479"/>
                  </a:moveTo>
                  <a:cubicBezTo>
                    <a:pt x="27986" y="195"/>
                    <a:pt x="27741" y="74"/>
                    <a:pt x="24299" y="74"/>
                  </a:cubicBezTo>
                  <a:cubicBezTo>
                    <a:pt x="16432" y="7735"/>
                    <a:pt x="5247" y="7857"/>
                    <a:pt x="207" y="7857"/>
                  </a:cubicBezTo>
                  <a:lnTo>
                    <a:pt x="207" y="12235"/>
                  </a:lnTo>
                  <a:cubicBezTo>
                    <a:pt x="3157" y="12235"/>
                    <a:pt x="11270" y="12235"/>
                    <a:pt x="18030" y="8830"/>
                  </a:cubicBezTo>
                  <a:lnTo>
                    <a:pt x="18030" y="70851"/>
                  </a:lnTo>
                  <a:cubicBezTo>
                    <a:pt x="18030" y="74864"/>
                    <a:pt x="18030" y="76445"/>
                    <a:pt x="5738" y="76445"/>
                  </a:cubicBezTo>
                  <a:lnTo>
                    <a:pt x="1068" y="76445"/>
                  </a:lnTo>
                  <a:lnTo>
                    <a:pt x="1068" y="80823"/>
                  </a:lnTo>
                  <a:cubicBezTo>
                    <a:pt x="3280" y="80701"/>
                    <a:pt x="18399" y="80337"/>
                    <a:pt x="22947" y="80337"/>
                  </a:cubicBezTo>
                  <a:cubicBezTo>
                    <a:pt x="26757" y="80337"/>
                    <a:pt x="42245" y="80701"/>
                    <a:pt x="44949" y="80823"/>
                  </a:cubicBezTo>
                  <a:lnTo>
                    <a:pt x="44949" y="76445"/>
                  </a:lnTo>
                  <a:lnTo>
                    <a:pt x="40278" y="76445"/>
                  </a:lnTo>
                  <a:cubicBezTo>
                    <a:pt x="27986" y="76445"/>
                    <a:pt x="27986" y="74864"/>
                    <a:pt x="27986" y="70851"/>
                  </a:cubicBezTo>
                  <a:lnTo>
                    <a:pt x="27986" y="347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0568AC67-BE1B-43F7-9D0B-B2E21877C9C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275774" y="3721011"/>
              <a:ext cx="143812" cy="78699"/>
            </a:xfrm>
            <a:custGeom>
              <a:avLst/>
              <a:gdLst>
                <a:gd name="connsiteX0" fmla="*/ 10572 w 143812"/>
                <a:gd name="connsiteY0" fmla="*/ 66610 h 78699"/>
                <a:gd name="connsiteX1" fmla="*/ 8991 w 143812"/>
                <a:gd name="connsiteY1" fmla="*/ 74081 h 78699"/>
                <a:gd name="connsiteX2" fmla="*/ 14084 w 143812"/>
                <a:gd name="connsiteY2" fmla="*/ 78772 h 78699"/>
                <a:gd name="connsiteX3" fmla="*/ 20581 w 143812"/>
                <a:gd name="connsiteY3" fmla="*/ 73907 h 78699"/>
                <a:gd name="connsiteX4" fmla="*/ 23917 w 143812"/>
                <a:gd name="connsiteY4" fmla="*/ 61051 h 78699"/>
                <a:gd name="connsiteX5" fmla="*/ 27780 w 143812"/>
                <a:gd name="connsiteY5" fmla="*/ 45415 h 78699"/>
                <a:gd name="connsiteX6" fmla="*/ 30765 w 143812"/>
                <a:gd name="connsiteY6" fmla="*/ 33776 h 78699"/>
                <a:gd name="connsiteX7" fmla="*/ 33048 w 143812"/>
                <a:gd name="connsiteY7" fmla="*/ 25089 h 78699"/>
                <a:gd name="connsiteX8" fmla="*/ 61670 w 143812"/>
                <a:gd name="connsiteY8" fmla="*/ 3894 h 78699"/>
                <a:gd name="connsiteX9" fmla="*/ 71152 w 143812"/>
                <a:gd name="connsiteY9" fmla="*/ 16055 h 78699"/>
                <a:gd name="connsiteX10" fmla="*/ 68518 w 143812"/>
                <a:gd name="connsiteY10" fmla="*/ 30475 h 78699"/>
                <a:gd name="connsiteX11" fmla="*/ 63602 w 143812"/>
                <a:gd name="connsiteY11" fmla="*/ 50627 h 78699"/>
                <a:gd name="connsiteX12" fmla="*/ 60090 w 143812"/>
                <a:gd name="connsiteY12" fmla="*/ 63831 h 78699"/>
                <a:gd name="connsiteX13" fmla="*/ 57807 w 143812"/>
                <a:gd name="connsiteY13" fmla="*/ 74081 h 78699"/>
                <a:gd name="connsiteX14" fmla="*/ 62899 w 143812"/>
                <a:gd name="connsiteY14" fmla="*/ 78772 h 78699"/>
                <a:gd name="connsiteX15" fmla="*/ 70801 w 143812"/>
                <a:gd name="connsiteY15" fmla="*/ 68869 h 78699"/>
                <a:gd name="connsiteX16" fmla="*/ 81337 w 143812"/>
                <a:gd name="connsiteY16" fmla="*/ 27000 h 78699"/>
                <a:gd name="connsiteX17" fmla="*/ 110310 w 143812"/>
                <a:gd name="connsiteY17" fmla="*/ 3894 h 78699"/>
                <a:gd name="connsiteX18" fmla="*/ 119792 w 143812"/>
                <a:gd name="connsiteY18" fmla="*/ 16055 h 78699"/>
                <a:gd name="connsiteX19" fmla="*/ 108905 w 143812"/>
                <a:gd name="connsiteY19" fmla="*/ 54971 h 78699"/>
                <a:gd name="connsiteX20" fmla="*/ 106622 w 143812"/>
                <a:gd name="connsiteY20" fmla="*/ 64526 h 78699"/>
                <a:gd name="connsiteX21" fmla="*/ 121021 w 143812"/>
                <a:gd name="connsiteY21" fmla="*/ 78772 h 78699"/>
                <a:gd name="connsiteX22" fmla="*/ 144024 w 143812"/>
                <a:gd name="connsiteY22" fmla="*/ 52017 h 78699"/>
                <a:gd name="connsiteX23" fmla="*/ 141917 w 143812"/>
                <a:gd name="connsiteY23" fmla="*/ 50280 h 78699"/>
                <a:gd name="connsiteX24" fmla="*/ 139283 w 143812"/>
                <a:gd name="connsiteY24" fmla="*/ 53407 h 78699"/>
                <a:gd name="connsiteX25" fmla="*/ 121373 w 143812"/>
                <a:gd name="connsiteY25" fmla="*/ 74949 h 78699"/>
                <a:gd name="connsiteX26" fmla="*/ 117158 w 143812"/>
                <a:gd name="connsiteY26" fmla="*/ 69216 h 78699"/>
                <a:gd name="connsiteX27" fmla="*/ 120319 w 143812"/>
                <a:gd name="connsiteY27" fmla="*/ 56882 h 78699"/>
                <a:gd name="connsiteX28" fmla="*/ 131030 w 143812"/>
                <a:gd name="connsiteY28" fmla="*/ 18661 h 78699"/>
                <a:gd name="connsiteX29" fmla="*/ 110837 w 143812"/>
                <a:gd name="connsiteY29" fmla="*/ 72 h 78699"/>
                <a:gd name="connsiteX30" fmla="*/ 82215 w 143812"/>
                <a:gd name="connsiteY30" fmla="*/ 16924 h 78699"/>
                <a:gd name="connsiteX31" fmla="*/ 76596 w 143812"/>
                <a:gd name="connsiteY31" fmla="*/ 4589 h 78699"/>
                <a:gd name="connsiteX32" fmla="*/ 62197 w 143812"/>
                <a:gd name="connsiteY32" fmla="*/ 72 h 78699"/>
                <a:gd name="connsiteX33" fmla="*/ 34804 w 143812"/>
                <a:gd name="connsiteY33" fmla="*/ 15187 h 78699"/>
                <a:gd name="connsiteX34" fmla="*/ 18649 w 143812"/>
                <a:gd name="connsiteY34" fmla="*/ 72 h 78699"/>
                <a:gd name="connsiteX35" fmla="*/ 5655 w 143812"/>
                <a:gd name="connsiteY35" fmla="*/ 9975 h 78699"/>
                <a:gd name="connsiteX36" fmla="*/ 212 w 143812"/>
                <a:gd name="connsiteY36" fmla="*/ 26826 h 78699"/>
                <a:gd name="connsiteX37" fmla="*/ 2319 w 143812"/>
                <a:gd name="connsiteY37" fmla="*/ 28564 h 78699"/>
                <a:gd name="connsiteX38" fmla="*/ 5304 w 143812"/>
                <a:gd name="connsiteY38" fmla="*/ 24568 h 78699"/>
                <a:gd name="connsiteX39" fmla="*/ 18122 w 143812"/>
                <a:gd name="connsiteY39" fmla="*/ 3894 h 78699"/>
                <a:gd name="connsiteX40" fmla="*/ 23566 w 143812"/>
                <a:gd name="connsiteY40" fmla="*/ 11886 h 78699"/>
                <a:gd name="connsiteX41" fmla="*/ 20756 w 143812"/>
                <a:gd name="connsiteY41" fmla="*/ 26479 h 78699"/>
                <a:gd name="connsiteX42" fmla="*/ 10572 w 143812"/>
                <a:gd name="connsiteY42" fmla="*/ 66610 h 7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3812" h="78699">
                  <a:moveTo>
                    <a:pt x="10572" y="66610"/>
                  </a:moveTo>
                  <a:cubicBezTo>
                    <a:pt x="10045" y="69216"/>
                    <a:pt x="8991" y="73212"/>
                    <a:pt x="8991" y="74081"/>
                  </a:cubicBezTo>
                  <a:cubicBezTo>
                    <a:pt x="8991" y="77208"/>
                    <a:pt x="11450" y="78772"/>
                    <a:pt x="14084" y="78772"/>
                  </a:cubicBezTo>
                  <a:cubicBezTo>
                    <a:pt x="16191" y="78772"/>
                    <a:pt x="19352" y="77382"/>
                    <a:pt x="20581" y="73907"/>
                  </a:cubicBezTo>
                  <a:cubicBezTo>
                    <a:pt x="20756" y="73560"/>
                    <a:pt x="22863" y="65394"/>
                    <a:pt x="23917" y="61051"/>
                  </a:cubicBezTo>
                  <a:lnTo>
                    <a:pt x="27780" y="45415"/>
                  </a:lnTo>
                  <a:cubicBezTo>
                    <a:pt x="28834" y="41593"/>
                    <a:pt x="29887" y="37771"/>
                    <a:pt x="30765" y="33776"/>
                  </a:cubicBezTo>
                  <a:cubicBezTo>
                    <a:pt x="31468" y="30822"/>
                    <a:pt x="32872" y="25784"/>
                    <a:pt x="33048" y="25089"/>
                  </a:cubicBezTo>
                  <a:cubicBezTo>
                    <a:pt x="35682" y="19704"/>
                    <a:pt x="44988" y="3894"/>
                    <a:pt x="61670" y="3894"/>
                  </a:cubicBezTo>
                  <a:cubicBezTo>
                    <a:pt x="69572" y="3894"/>
                    <a:pt x="71152" y="10322"/>
                    <a:pt x="71152" y="16055"/>
                  </a:cubicBezTo>
                  <a:cubicBezTo>
                    <a:pt x="71152" y="20398"/>
                    <a:pt x="69923" y="25263"/>
                    <a:pt x="68518" y="30475"/>
                  </a:cubicBezTo>
                  <a:lnTo>
                    <a:pt x="63602" y="50627"/>
                  </a:lnTo>
                  <a:lnTo>
                    <a:pt x="60090" y="63831"/>
                  </a:lnTo>
                  <a:cubicBezTo>
                    <a:pt x="59387" y="67305"/>
                    <a:pt x="57807" y="73212"/>
                    <a:pt x="57807" y="74081"/>
                  </a:cubicBezTo>
                  <a:cubicBezTo>
                    <a:pt x="57807" y="77208"/>
                    <a:pt x="60265" y="78772"/>
                    <a:pt x="62899" y="78772"/>
                  </a:cubicBezTo>
                  <a:cubicBezTo>
                    <a:pt x="68343" y="78772"/>
                    <a:pt x="69396" y="74428"/>
                    <a:pt x="70801" y="68869"/>
                  </a:cubicBezTo>
                  <a:cubicBezTo>
                    <a:pt x="73259" y="59140"/>
                    <a:pt x="79756" y="33776"/>
                    <a:pt x="81337" y="27000"/>
                  </a:cubicBezTo>
                  <a:cubicBezTo>
                    <a:pt x="81864" y="24742"/>
                    <a:pt x="91170" y="3894"/>
                    <a:pt x="110310" y="3894"/>
                  </a:cubicBezTo>
                  <a:cubicBezTo>
                    <a:pt x="117861" y="3894"/>
                    <a:pt x="119792" y="9801"/>
                    <a:pt x="119792" y="16055"/>
                  </a:cubicBezTo>
                  <a:cubicBezTo>
                    <a:pt x="119792" y="25958"/>
                    <a:pt x="112417" y="45763"/>
                    <a:pt x="108905" y="54971"/>
                  </a:cubicBezTo>
                  <a:cubicBezTo>
                    <a:pt x="107325" y="59140"/>
                    <a:pt x="106622" y="61051"/>
                    <a:pt x="106622" y="64526"/>
                  </a:cubicBezTo>
                  <a:cubicBezTo>
                    <a:pt x="106622" y="72691"/>
                    <a:pt x="112768" y="78772"/>
                    <a:pt x="121021" y="78772"/>
                  </a:cubicBezTo>
                  <a:cubicBezTo>
                    <a:pt x="137527" y="78772"/>
                    <a:pt x="144024" y="53407"/>
                    <a:pt x="144024" y="52017"/>
                  </a:cubicBezTo>
                  <a:cubicBezTo>
                    <a:pt x="144024" y="50280"/>
                    <a:pt x="142444" y="50280"/>
                    <a:pt x="141917" y="50280"/>
                  </a:cubicBezTo>
                  <a:cubicBezTo>
                    <a:pt x="140161" y="50280"/>
                    <a:pt x="140161" y="50801"/>
                    <a:pt x="139283" y="53407"/>
                  </a:cubicBezTo>
                  <a:cubicBezTo>
                    <a:pt x="136649" y="62615"/>
                    <a:pt x="131030" y="74949"/>
                    <a:pt x="121373" y="74949"/>
                  </a:cubicBezTo>
                  <a:cubicBezTo>
                    <a:pt x="118387" y="74949"/>
                    <a:pt x="117158" y="73212"/>
                    <a:pt x="117158" y="69216"/>
                  </a:cubicBezTo>
                  <a:cubicBezTo>
                    <a:pt x="117158" y="64873"/>
                    <a:pt x="118739" y="60704"/>
                    <a:pt x="120319" y="56882"/>
                  </a:cubicBezTo>
                  <a:cubicBezTo>
                    <a:pt x="123655" y="47848"/>
                    <a:pt x="131030" y="28564"/>
                    <a:pt x="131030" y="18661"/>
                  </a:cubicBezTo>
                  <a:cubicBezTo>
                    <a:pt x="131030" y="7369"/>
                    <a:pt x="124006" y="72"/>
                    <a:pt x="110837" y="72"/>
                  </a:cubicBezTo>
                  <a:cubicBezTo>
                    <a:pt x="97667" y="72"/>
                    <a:pt x="88712" y="7716"/>
                    <a:pt x="82215" y="16924"/>
                  </a:cubicBezTo>
                  <a:cubicBezTo>
                    <a:pt x="82039" y="14665"/>
                    <a:pt x="81512" y="8759"/>
                    <a:pt x="76596" y="4589"/>
                  </a:cubicBezTo>
                  <a:cubicBezTo>
                    <a:pt x="72206" y="941"/>
                    <a:pt x="66587" y="72"/>
                    <a:pt x="62197" y="72"/>
                  </a:cubicBezTo>
                  <a:cubicBezTo>
                    <a:pt x="46393" y="72"/>
                    <a:pt x="37789" y="11191"/>
                    <a:pt x="34804" y="15187"/>
                  </a:cubicBezTo>
                  <a:cubicBezTo>
                    <a:pt x="33926" y="5284"/>
                    <a:pt x="26551" y="72"/>
                    <a:pt x="18649" y="72"/>
                  </a:cubicBezTo>
                  <a:cubicBezTo>
                    <a:pt x="10572" y="72"/>
                    <a:pt x="7235" y="6848"/>
                    <a:pt x="5655" y="9975"/>
                  </a:cubicBezTo>
                  <a:cubicBezTo>
                    <a:pt x="2494" y="16055"/>
                    <a:pt x="212" y="26305"/>
                    <a:pt x="212" y="26826"/>
                  </a:cubicBezTo>
                  <a:cubicBezTo>
                    <a:pt x="212" y="28564"/>
                    <a:pt x="1968" y="28564"/>
                    <a:pt x="2319" y="28564"/>
                  </a:cubicBezTo>
                  <a:cubicBezTo>
                    <a:pt x="4075" y="28564"/>
                    <a:pt x="4250" y="28390"/>
                    <a:pt x="5304" y="24568"/>
                  </a:cubicBezTo>
                  <a:cubicBezTo>
                    <a:pt x="8289" y="12233"/>
                    <a:pt x="11801" y="3894"/>
                    <a:pt x="18122" y="3894"/>
                  </a:cubicBezTo>
                  <a:cubicBezTo>
                    <a:pt x="20932" y="3894"/>
                    <a:pt x="23566" y="5284"/>
                    <a:pt x="23566" y="11886"/>
                  </a:cubicBezTo>
                  <a:cubicBezTo>
                    <a:pt x="23566" y="15534"/>
                    <a:pt x="23039" y="17445"/>
                    <a:pt x="20756" y="26479"/>
                  </a:cubicBezTo>
                  <a:lnTo>
                    <a:pt x="10572" y="6661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B47A6FDC-4D7D-3807-8CC9-066DB9DD626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430019" y="3747851"/>
              <a:ext cx="41545" cy="77222"/>
            </a:xfrm>
            <a:custGeom>
              <a:avLst/>
              <a:gdLst>
                <a:gd name="connsiteX0" fmla="*/ 25295 w 41545"/>
                <a:gd name="connsiteY0" fmla="*/ 28044 h 77222"/>
                <a:gd name="connsiteX1" fmla="*/ 37833 w 41545"/>
                <a:gd name="connsiteY1" fmla="*/ 28044 h 77222"/>
                <a:gd name="connsiteX2" fmla="*/ 41766 w 41545"/>
                <a:gd name="connsiteY2" fmla="*/ 25369 h 77222"/>
                <a:gd name="connsiteX3" fmla="*/ 38079 w 41545"/>
                <a:gd name="connsiteY3" fmla="*/ 23666 h 77222"/>
                <a:gd name="connsiteX4" fmla="*/ 26402 w 41545"/>
                <a:gd name="connsiteY4" fmla="*/ 23666 h 77222"/>
                <a:gd name="connsiteX5" fmla="*/ 30950 w 41545"/>
                <a:gd name="connsiteY5" fmla="*/ 5668 h 77222"/>
                <a:gd name="connsiteX6" fmla="*/ 31318 w 41545"/>
                <a:gd name="connsiteY6" fmla="*/ 3965 h 77222"/>
                <a:gd name="connsiteX7" fmla="*/ 27139 w 41545"/>
                <a:gd name="connsiteY7" fmla="*/ 74 h 77222"/>
                <a:gd name="connsiteX8" fmla="*/ 21362 w 41545"/>
                <a:gd name="connsiteY8" fmla="*/ 5303 h 77222"/>
                <a:gd name="connsiteX9" fmla="*/ 16691 w 41545"/>
                <a:gd name="connsiteY9" fmla="*/ 23666 h 77222"/>
                <a:gd name="connsiteX10" fmla="*/ 4154 w 41545"/>
                <a:gd name="connsiteY10" fmla="*/ 23666 h 77222"/>
                <a:gd name="connsiteX11" fmla="*/ 220 w 41545"/>
                <a:gd name="connsiteY11" fmla="*/ 26341 h 77222"/>
                <a:gd name="connsiteX12" fmla="*/ 3908 w 41545"/>
                <a:gd name="connsiteY12" fmla="*/ 28044 h 77222"/>
                <a:gd name="connsiteX13" fmla="*/ 15585 w 41545"/>
                <a:gd name="connsiteY13" fmla="*/ 28044 h 77222"/>
                <a:gd name="connsiteX14" fmla="*/ 8333 w 41545"/>
                <a:gd name="connsiteY14" fmla="*/ 56744 h 77222"/>
                <a:gd name="connsiteX15" fmla="*/ 6489 w 41545"/>
                <a:gd name="connsiteY15" fmla="*/ 65743 h 77222"/>
                <a:gd name="connsiteX16" fmla="*/ 19641 w 41545"/>
                <a:gd name="connsiteY16" fmla="*/ 77296 h 77222"/>
                <a:gd name="connsiteX17" fmla="*/ 41029 w 41545"/>
                <a:gd name="connsiteY17" fmla="*/ 58690 h 77222"/>
                <a:gd name="connsiteX18" fmla="*/ 39062 w 41545"/>
                <a:gd name="connsiteY18" fmla="*/ 57109 h 77222"/>
                <a:gd name="connsiteX19" fmla="*/ 36481 w 41545"/>
                <a:gd name="connsiteY19" fmla="*/ 59420 h 77222"/>
                <a:gd name="connsiteX20" fmla="*/ 20010 w 41545"/>
                <a:gd name="connsiteY20" fmla="*/ 73891 h 77222"/>
                <a:gd name="connsiteX21" fmla="*/ 15708 w 41545"/>
                <a:gd name="connsiteY21" fmla="*/ 67932 h 77222"/>
                <a:gd name="connsiteX22" fmla="*/ 16445 w 41545"/>
                <a:gd name="connsiteY22" fmla="*/ 62946 h 77222"/>
                <a:gd name="connsiteX23" fmla="*/ 25295 w 41545"/>
                <a:gd name="connsiteY23" fmla="*/ 28044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295" y="28044"/>
                  </a:moveTo>
                  <a:lnTo>
                    <a:pt x="37833" y="28044"/>
                  </a:lnTo>
                  <a:cubicBezTo>
                    <a:pt x="40168" y="28044"/>
                    <a:pt x="41766" y="28044"/>
                    <a:pt x="41766" y="25369"/>
                  </a:cubicBezTo>
                  <a:cubicBezTo>
                    <a:pt x="41766" y="23666"/>
                    <a:pt x="40168" y="23666"/>
                    <a:pt x="38079" y="23666"/>
                  </a:cubicBezTo>
                  <a:lnTo>
                    <a:pt x="26402" y="23666"/>
                  </a:lnTo>
                  <a:lnTo>
                    <a:pt x="30950" y="5668"/>
                  </a:lnTo>
                  <a:cubicBezTo>
                    <a:pt x="31073" y="5060"/>
                    <a:pt x="31318" y="4452"/>
                    <a:pt x="31318" y="3965"/>
                  </a:cubicBezTo>
                  <a:cubicBezTo>
                    <a:pt x="31318" y="1776"/>
                    <a:pt x="29598" y="74"/>
                    <a:pt x="27139" y="74"/>
                  </a:cubicBezTo>
                  <a:cubicBezTo>
                    <a:pt x="24066" y="74"/>
                    <a:pt x="22223" y="2141"/>
                    <a:pt x="21362" y="5303"/>
                  </a:cubicBezTo>
                  <a:cubicBezTo>
                    <a:pt x="20502" y="8343"/>
                    <a:pt x="22100" y="2506"/>
                    <a:pt x="16691" y="23666"/>
                  </a:cubicBezTo>
                  <a:lnTo>
                    <a:pt x="4154" y="23666"/>
                  </a:lnTo>
                  <a:cubicBezTo>
                    <a:pt x="1818" y="23666"/>
                    <a:pt x="220" y="23666"/>
                    <a:pt x="220" y="26341"/>
                  </a:cubicBezTo>
                  <a:cubicBezTo>
                    <a:pt x="220" y="28044"/>
                    <a:pt x="1695" y="28044"/>
                    <a:pt x="3908" y="28044"/>
                  </a:cubicBezTo>
                  <a:lnTo>
                    <a:pt x="15585" y="28044"/>
                  </a:lnTo>
                  <a:lnTo>
                    <a:pt x="8333" y="56744"/>
                  </a:lnTo>
                  <a:cubicBezTo>
                    <a:pt x="7595" y="59784"/>
                    <a:pt x="6489" y="64162"/>
                    <a:pt x="6489" y="65743"/>
                  </a:cubicBezTo>
                  <a:cubicBezTo>
                    <a:pt x="6489" y="72918"/>
                    <a:pt x="12635" y="77296"/>
                    <a:pt x="19641" y="77296"/>
                  </a:cubicBezTo>
                  <a:cubicBezTo>
                    <a:pt x="33285" y="77296"/>
                    <a:pt x="41029" y="60271"/>
                    <a:pt x="41029" y="58690"/>
                  </a:cubicBezTo>
                  <a:cubicBezTo>
                    <a:pt x="41029" y="57109"/>
                    <a:pt x="39431" y="57109"/>
                    <a:pt x="39062" y="57109"/>
                  </a:cubicBezTo>
                  <a:cubicBezTo>
                    <a:pt x="37587" y="57109"/>
                    <a:pt x="37464" y="57352"/>
                    <a:pt x="36481" y="59420"/>
                  </a:cubicBezTo>
                  <a:cubicBezTo>
                    <a:pt x="33039" y="67081"/>
                    <a:pt x="26770" y="73891"/>
                    <a:pt x="20010" y="73891"/>
                  </a:cubicBezTo>
                  <a:cubicBezTo>
                    <a:pt x="17429" y="73891"/>
                    <a:pt x="15708" y="72310"/>
                    <a:pt x="15708" y="67932"/>
                  </a:cubicBezTo>
                  <a:cubicBezTo>
                    <a:pt x="15708" y="66716"/>
                    <a:pt x="16200" y="64162"/>
                    <a:pt x="16445" y="62946"/>
                  </a:cubicBezTo>
                  <a:lnTo>
                    <a:pt x="25295" y="28044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8694B869-A458-4BDA-2AFB-FC4DA50B51B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491176" y="3790415"/>
              <a:ext cx="83091" cy="5958"/>
            </a:xfrm>
            <a:custGeom>
              <a:avLst/>
              <a:gdLst>
                <a:gd name="connsiteX0" fmla="*/ 78399 w 83091"/>
                <a:gd name="connsiteY0" fmla="*/ 6033 h 5958"/>
                <a:gd name="connsiteX1" fmla="*/ 83315 w 83091"/>
                <a:gd name="connsiteY1" fmla="*/ 3114 h 5958"/>
                <a:gd name="connsiteX2" fmla="*/ 78399 w 83091"/>
                <a:gd name="connsiteY2" fmla="*/ 74 h 5958"/>
                <a:gd name="connsiteX3" fmla="*/ 5140 w 83091"/>
                <a:gd name="connsiteY3" fmla="*/ 74 h 5958"/>
                <a:gd name="connsiteX4" fmla="*/ 223 w 83091"/>
                <a:gd name="connsiteY4" fmla="*/ 2992 h 5958"/>
                <a:gd name="connsiteX5" fmla="*/ 5140 w 83091"/>
                <a:gd name="connsiteY5" fmla="*/ 6033 h 5958"/>
                <a:gd name="connsiteX6" fmla="*/ 78399 w 83091"/>
                <a:gd name="connsiteY6" fmla="*/ 6033 h 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091" h="5958">
                  <a:moveTo>
                    <a:pt x="78399" y="6033"/>
                  </a:moveTo>
                  <a:cubicBezTo>
                    <a:pt x="80365" y="6033"/>
                    <a:pt x="83315" y="6033"/>
                    <a:pt x="83315" y="3114"/>
                  </a:cubicBezTo>
                  <a:cubicBezTo>
                    <a:pt x="83315" y="74"/>
                    <a:pt x="80488" y="74"/>
                    <a:pt x="78399" y="74"/>
                  </a:cubicBezTo>
                  <a:lnTo>
                    <a:pt x="5140" y="74"/>
                  </a:lnTo>
                  <a:cubicBezTo>
                    <a:pt x="3173" y="74"/>
                    <a:pt x="223" y="74"/>
                    <a:pt x="223" y="2992"/>
                  </a:cubicBezTo>
                  <a:cubicBezTo>
                    <a:pt x="223" y="6033"/>
                    <a:pt x="3050" y="6033"/>
                    <a:pt x="5140" y="6033"/>
                  </a:cubicBezTo>
                  <a:lnTo>
                    <a:pt x="78399" y="6033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B386B595-329E-B75D-1239-E7508CFF8D1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601047" y="3743109"/>
              <a:ext cx="44741" cy="80749"/>
            </a:xfrm>
            <a:custGeom>
              <a:avLst/>
              <a:gdLst>
                <a:gd name="connsiteX0" fmla="*/ 28009 w 44741"/>
                <a:gd name="connsiteY0" fmla="*/ 3479 h 80749"/>
                <a:gd name="connsiteX1" fmla="*/ 24321 w 44741"/>
                <a:gd name="connsiteY1" fmla="*/ 74 h 80749"/>
                <a:gd name="connsiteX2" fmla="*/ 230 w 44741"/>
                <a:gd name="connsiteY2" fmla="*/ 7857 h 80749"/>
                <a:gd name="connsiteX3" fmla="*/ 230 w 44741"/>
                <a:gd name="connsiteY3" fmla="*/ 12235 h 80749"/>
                <a:gd name="connsiteX4" fmla="*/ 18053 w 44741"/>
                <a:gd name="connsiteY4" fmla="*/ 8830 h 80749"/>
                <a:gd name="connsiteX5" fmla="*/ 18053 w 44741"/>
                <a:gd name="connsiteY5" fmla="*/ 70851 h 80749"/>
                <a:gd name="connsiteX6" fmla="*/ 5761 w 44741"/>
                <a:gd name="connsiteY6" fmla="*/ 76445 h 80749"/>
                <a:gd name="connsiteX7" fmla="*/ 1090 w 44741"/>
                <a:gd name="connsiteY7" fmla="*/ 76445 h 80749"/>
                <a:gd name="connsiteX8" fmla="*/ 1090 w 44741"/>
                <a:gd name="connsiteY8" fmla="*/ 80823 h 80749"/>
                <a:gd name="connsiteX9" fmla="*/ 22969 w 44741"/>
                <a:gd name="connsiteY9" fmla="*/ 80337 h 80749"/>
                <a:gd name="connsiteX10" fmla="*/ 44971 w 44741"/>
                <a:gd name="connsiteY10" fmla="*/ 80823 h 80749"/>
                <a:gd name="connsiteX11" fmla="*/ 44971 w 44741"/>
                <a:gd name="connsiteY11" fmla="*/ 76445 h 80749"/>
                <a:gd name="connsiteX12" fmla="*/ 40301 w 44741"/>
                <a:gd name="connsiteY12" fmla="*/ 76445 h 80749"/>
                <a:gd name="connsiteX13" fmla="*/ 28009 w 44741"/>
                <a:gd name="connsiteY13" fmla="*/ 70851 h 80749"/>
                <a:gd name="connsiteX14" fmla="*/ 28009 w 44741"/>
                <a:gd name="connsiteY14" fmla="*/ 3479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41" h="80749">
                  <a:moveTo>
                    <a:pt x="28009" y="3479"/>
                  </a:moveTo>
                  <a:cubicBezTo>
                    <a:pt x="28009" y="195"/>
                    <a:pt x="27763" y="74"/>
                    <a:pt x="24321" y="74"/>
                  </a:cubicBezTo>
                  <a:cubicBezTo>
                    <a:pt x="16455" y="7735"/>
                    <a:pt x="5269" y="7857"/>
                    <a:pt x="230" y="7857"/>
                  </a:cubicBezTo>
                  <a:lnTo>
                    <a:pt x="230" y="12235"/>
                  </a:lnTo>
                  <a:cubicBezTo>
                    <a:pt x="3180" y="12235"/>
                    <a:pt x="11292" y="12235"/>
                    <a:pt x="18053" y="8830"/>
                  </a:cubicBezTo>
                  <a:lnTo>
                    <a:pt x="18053" y="70851"/>
                  </a:lnTo>
                  <a:cubicBezTo>
                    <a:pt x="18053" y="74864"/>
                    <a:pt x="18053" y="76445"/>
                    <a:pt x="5761" y="76445"/>
                  </a:cubicBezTo>
                  <a:lnTo>
                    <a:pt x="1090" y="76445"/>
                  </a:lnTo>
                  <a:lnTo>
                    <a:pt x="1090" y="80823"/>
                  </a:lnTo>
                  <a:cubicBezTo>
                    <a:pt x="3303" y="80701"/>
                    <a:pt x="18421" y="80337"/>
                    <a:pt x="22969" y="80337"/>
                  </a:cubicBezTo>
                  <a:cubicBezTo>
                    <a:pt x="26780" y="80337"/>
                    <a:pt x="42267" y="80701"/>
                    <a:pt x="44971" y="80823"/>
                  </a:cubicBezTo>
                  <a:lnTo>
                    <a:pt x="44971" y="76445"/>
                  </a:lnTo>
                  <a:lnTo>
                    <a:pt x="40301" y="76445"/>
                  </a:lnTo>
                  <a:cubicBezTo>
                    <a:pt x="28009" y="76445"/>
                    <a:pt x="28009" y="74864"/>
                    <a:pt x="28009" y="70851"/>
                  </a:cubicBezTo>
                  <a:lnTo>
                    <a:pt x="28009" y="347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7BE415D3-1BFD-CC02-84CC-AD851D64EA5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720018" y="3750892"/>
              <a:ext cx="107288" cy="6949"/>
            </a:xfrm>
            <a:custGeom>
              <a:avLst/>
              <a:gdLst>
                <a:gd name="connsiteX0" fmla="*/ 101379 w 107288"/>
                <a:gd name="connsiteY0" fmla="*/ 7021 h 6949"/>
                <a:gd name="connsiteX1" fmla="*/ 107525 w 107288"/>
                <a:gd name="connsiteY1" fmla="*/ 3547 h 6949"/>
                <a:gd name="connsiteX2" fmla="*/ 101379 w 107288"/>
                <a:gd name="connsiteY2" fmla="*/ 72 h 6949"/>
                <a:gd name="connsiteX3" fmla="*/ 6382 w 107288"/>
                <a:gd name="connsiteY3" fmla="*/ 72 h 6949"/>
                <a:gd name="connsiteX4" fmla="*/ 236 w 107288"/>
                <a:gd name="connsiteY4" fmla="*/ 3547 h 6949"/>
                <a:gd name="connsiteX5" fmla="*/ 6382 w 107288"/>
                <a:gd name="connsiteY5" fmla="*/ 7021 h 6949"/>
                <a:gd name="connsiteX6" fmla="*/ 101379 w 107288"/>
                <a:gd name="connsiteY6" fmla="*/ 7021 h 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288" h="6949">
                  <a:moveTo>
                    <a:pt x="101379" y="7021"/>
                  </a:moveTo>
                  <a:cubicBezTo>
                    <a:pt x="104364" y="7021"/>
                    <a:pt x="107525" y="7021"/>
                    <a:pt x="107525" y="3547"/>
                  </a:cubicBezTo>
                  <a:cubicBezTo>
                    <a:pt x="107525" y="72"/>
                    <a:pt x="104364" y="72"/>
                    <a:pt x="101379" y="72"/>
                  </a:cubicBezTo>
                  <a:lnTo>
                    <a:pt x="6382" y="72"/>
                  </a:lnTo>
                  <a:cubicBezTo>
                    <a:pt x="3397" y="72"/>
                    <a:pt x="236" y="72"/>
                    <a:pt x="236" y="3547"/>
                  </a:cubicBezTo>
                  <a:cubicBezTo>
                    <a:pt x="236" y="7021"/>
                    <a:pt x="3397" y="7021"/>
                    <a:pt x="6382" y="7021"/>
                  </a:cubicBezTo>
                  <a:lnTo>
                    <a:pt x="101379" y="7021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2D5492E3-12E1-CFD0-6B06-F6B9D277402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898422" y="3667502"/>
              <a:ext cx="40738" cy="173729"/>
            </a:xfrm>
            <a:custGeom>
              <a:avLst/>
              <a:gdLst>
                <a:gd name="connsiteX0" fmla="*/ 40984 w 40738"/>
                <a:gd name="connsiteY0" fmla="*/ 172064 h 173729"/>
                <a:gd name="connsiteX1" fmla="*/ 37999 w 40738"/>
                <a:gd name="connsiteY1" fmla="*/ 168242 h 173729"/>
                <a:gd name="connsiteX2" fmla="*/ 10431 w 40738"/>
                <a:gd name="connsiteY2" fmla="*/ 86937 h 173729"/>
                <a:gd name="connsiteX3" fmla="*/ 38702 w 40738"/>
                <a:gd name="connsiteY3" fmla="*/ 4763 h 173729"/>
                <a:gd name="connsiteX4" fmla="*/ 40984 w 40738"/>
                <a:gd name="connsiteY4" fmla="*/ 1809 h 173729"/>
                <a:gd name="connsiteX5" fmla="*/ 39228 w 40738"/>
                <a:gd name="connsiteY5" fmla="*/ 72 h 173729"/>
                <a:gd name="connsiteX6" fmla="*/ 11309 w 40738"/>
                <a:gd name="connsiteY6" fmla="*/ 33949 h 173729"/>
                <a:gd name="connsiteX7" fmla="*/ 246 w 40738"/>
                <a:gd name="connsiteY7" fmla="*/ 86937 h 173729"/>
                <a:gd name="connsiteX8" fmla="*/ 11836 w 40738"/>
                <a:gd name="connsiteY8" fmla="*/ 141140 h 173729"/>
                <a:gd name="connsiteX9" fmla="*/ 39228 w 40738"/>
                <a:gd name="connsiteY9" fmla="*/ 173801 h 173729"/>
                <a:gd name="connsiteX10" fmla="*/ 40984 w 40738"/>
                <a:gd name="connsiteY10" fmla="*/ 172064 h 17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38" h="173729">
                  <a:moveTo>
                    <a:pt x="40984" y="172064"/>
                  </a:moveTo>
                  <a:cubicBezTo>
                    <a:pt x="40984" y="171543"/>
                    <a:pt x="40984" y="171195"/>
                    <a:pt x="37999" y="168242"/>
                  </a:cubicBezTo>
                  <a:cubicBezTo>
                    <a:pt x="16050" y="146352"/>
                    <a:pt x="10431" y="113517"/>
                    <a:pt x="10431" y="86937"/>
                  </a:cubicBezTo>
                  <a:cubicBezTo>
                    <a:pt x="10431" y="56708"/>
                    <a:pt x="17103" y="26479"/>
                    <a:pt x="38702" y="4763"/>
                  </a:cubicBezTo>
                  <a:cubicBezTo>
                    <a:pt x="40984" y="2678"/>
                    <a:pt x="40984" y="2331"/>
                    <a:pt x="40984" y="1809"/>
                  </a:cubicBezTo>
                  <a:cubicBezTo>
                    <a:pt x="40984" y="593"/>
                    <a:pt x="40282" y="72"/>
                    <a:pt x="39228" y="72"/>
                  </a:cubicBezTo>
                  <a:cubicBezTo>
                    <a:pt x="37473" y="72"/>
                    <a:pt x="21669" y="11886"/>
                    <a:pt x="11309" y="33949"/>
                  </a:cubicBezTo>
                  <a:cubicBezTo>
                    <a:pt x="2353" y="53060"/>
                    <a:pt x="246" y="72344"/>
                    <a:pt x="246" y="86937"/>
                  </a:cubicBezTo>
                  <a:cubicBezTo>
                    <a:pt x="246" y="100488"/>
                    <a:pt x="2178" y="121509"/>
                    <a:pt x="11836" y="141140"/>
                  </a:cubicBezTo>
                  <a:cubicBezTo>
                    <a:pt x="22371" y="162509"/>
                    <a:pt x="37473" y="173801"/>
                    <a:pt x="39228" y="173801"/>
                  </a:cubicBezTo>
                  <a:cubicBezTo>
                    <a:pt x="40282" y="173801"/>
                    <a:pt x="40984" y="173280"/>
                    <a:pt x="40984" y="172064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B4762EC6-42B8-F81C-CC77-F880135D412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964954" y="3682095"/>
              <a:ext cx="57946" cy="115703"/>
            </a:xfrm>
            <a:custGeom>
              <a:avLst/>
              <a:gdLst>
                <a:gd name="connsiteX0" fmla="*/ 36247 w 57946"/>
                <a:gd name="connsiteY0" fmla="*/ 4589 h 115703"/>
                <a:gd name="connsiteX1" fmla="*/ 32209 w 57946"/>
                <a:gd name="connsiteY1" fmla="*/ 72 h 115703"/>
                <a:gd name="connsiteX2" fmla="*/ 250 w 57946"/>
                <a:gd name="connsiteY2" fmla="*/ 11191 h 115703"/>
                <a:gd name="connsiteX3" fmla="*/ 250 w 57946"/>
                <a:gd name="connsiteY3" fmla="*/ 16576 h 115703"/>
                <a:gd name="connsiteX4" fmla="*/ 23253 w 57946"/>
                <a:gd name="connsiteY4" fmla="*/ 12059 h 115703"/>
                <a:gd name="connsiteX5" fmla="*/ 23253 w 57946"/>
                <a:gd name="connsiteY5" fmla="*/ 102051 h 115703"/>
                <a:gd name="connsiteX6" fmla="*/ 6923 w 57946"/>
                <a:gd name="connsiteY6" fmla="*/ 110390 h 115703"/>
                <a:gd name="connsiteX7" fmla="*/ 1304 w 57946"/>
                <a:gd name="connsiteY7" fmla="*/ 110390 h 115703"/>
                <a:gd name="connsiteX8" fmla="*/ 1304 w 57946"/>
                <a:gd name="connsiteY8" fmla="*/ 115776 h 115703"/>
                <a:gd name="connsiteX9" fmla="*/ 29750 w 57946"/>
                <a:gd name="connsiteY9" fmla="*/ 115255 h 115703"/>
                <a:gd name="connsiteX10" fmla="*/ 58197 w 57946"/>
                <a:gd name="connsiteY10" fmla="*/ 115776 h 115703"/>
                <a:gd name="connsiteX11" fmla="*/ 58197 w 57946"/>
                <a:gd name="connsiteY11" fmla="*/ 110390 h 115703"/>
                <a:gd name="connsiteX12" fmla="*/ 52578 w 57946"/>
                <a:gd name="connsiteY12" fmla="*/ 110390 h 115703"/>
                <a:gd name="connsiteX13" fmla="*/ 36247 w 57946"/>
                <a:gd name="connsiteY13" fmla="*/ 102051 h 115703"/>
                <a:gd name="connsiteX14" fmla="*/ 36247 w 57946"/>
                <a:gd name="connsiteY14" fmla="*/ 4589 h 11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946" h="115703">
                  <a:moveTo>
                    <a:pt x="36247" y="4589"/>
                  </a:moveTo>
                  <a:cubicBezTo>
                    <a:pt x="36247" y="420"/>
                    <a:pt x="36247" y="72"/>
                    <a:pt x="32209" y="72"/>
                  </a:cubicBezTo>
                  <a:cubicBezTo>
                    <a:pt x="21322" y="11191"/>
                    <a:pt x="5869" y="11191"/>
                    <a:pt x="250" y="11191"/>
                  </a:cubicBezTo>
                  <a:lnTo>
                    <a:pt x="250" y="16576"/>
                  </a:lnTo>
                  <a:cubicBezTo>
                    <a:pt x="3762" y="16576"/>
                    <a:pt x="14122" y="16576"/>
                    <a:pt x="23253" y="12059"/>
                  </a:cubicBezTo>
                  <a:lnTo>
                    <a:pt x="23253" y="102051"/>
                  </a:lnTo>
                  <a:cubicBezTo>
                    <a:pt x="23253" y="108305"/>
                    <a:pt x="22726" y="110390"/>
                    <a:pt x="6923" y="110390"/>
                  </a:cubicBezTo>
                  <a:lnTo>
                    <a:pt x="1304" y="110390"/>
                  </a:lnTo>
                  <a:lnTo>
                    <a:pt x="1304" y="115776"/>
                  </a:lnTo>
                  <a:cubicBezTo>
                    <a:pt x="7450" y="115255"/>
                    <a:pt x="22726" y="115255"/>
                    <a:pt x="29750" y="115255"/>
                  </a:cubicBezTo>
                  <a:cubicBezTo>
                    <a:pt x="36774" y="115255"/>
                    <a:pt x="52051" y="115255"/>
                    <a:pt x="58197" y="115776"/>
                  </a:cubicBezTo>
                  <a:lnTo>
                    <a:pt x="58197" y="110390"/>
                  </a:lnTo>
                  <a:lnTo>
                    <a:pt x="52578" y="110390"/>
                  </a:lnTo>
                  <a:cubicBezTo>
                    <a:pt x="36774" y="110390"/>
                    <a:pt x="36247" y="108479"/>
                    <a:pt x="36247" y="102051"/>
                  </a:cubicBezTo>
                  <a:lnTo>
                    <a:pt x="36247" y="458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55BA1165-9C99-C33E-E6F2-2CCFFD188E9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090718" y="3750892"/>
              <a:ext cx="107288" cy="6949"/>
            </a:xfrm>
            <a:custGeom>
              <a:avLst/>
              <a:gdLst>
                <a:gd name="connsiteX0" fmla="*/ 101400 w 107288"/>
                <a:gd name="connsiteY0" fmla="*/ 7021 h 6949"/>
                <a:gd name="connsiteX1" fmla="*/ 107546 w 107288"/>
                <a:gd name="connsiteY1" fmla="*/ 3547 h 6949"/>
                <a:gd name="connsiteX2" fmla="*/ 101400 w 107288"/>
                <a:gd name="connsiteY2" fmla="*/ 72 h 6949"/>
                <a:gd name="connsiteX3" fmla="*/ 6403 w 107288"/>
                <a:gd name="connsiteY3" fmla="*/ 72 h 6949"/>
                <a:gd name="connsiteX4" fmla="*/ 257 w 107288"/>
                <a:gd name="connsiteY4" fmla="*/ 3547 h 6949"/>
                <a:gd name="connsiteX5" fmla="*/ 6403 w 107288"/>
                <a:gd name="connsiteY5" fmla="*/ 7021 h 6949"/>
                <a:gd name="connsiteX6" fmla="*/ 101400 w 107288"/>
                <a:gd name="connsiteY6" fmla="*/ 7021 h 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288" h="6949">
                  <a:moveTo>
                    <a:pt x="101400" y="7021"/>
                  </a:moveTo>
                  <a:cubicBezTo>
                    <a:pt x="104385" y="7021"/>
                    <a:pt x="107546" y="7021"/>
                    <a:pt x="107546" y="3547"/>
                  </a:cubicBezTo>
                  <a:cubicBezTo>
                    <a:pt x="107546" y="72"/>
                    <a:pt x="104385" y="72"/>
                    <a:pt x="101400" y="72"/>
                  </a:cubicBezTo>
                  <a:lnTo>
                    <a:pt x="6403" y="72"/>
                  </a:lnTo>
                  <a:cubicBezTo>
                    <a:pt x="3418" y="72"/>
                    <a:pt x="257" y="72"/>
                    <a:pt x="257" y="3547"/>
                  </a:cubicBezTo>
                  <a:cubicBezTo>
                    <a:pt x="257" y="7021"/>
                    <a:pt x="3418" y="7021"/>
                    <a:pt x="6403" y="7021"/>
                  </a:cubicBezTo>
                  <a:lnTo>
                    <a:pt x="101400" y="7021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CDF4602E-2E5B-046E-E833-EC1ABF38AC8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256984" y="3675146"/>
              <a:ext cx="95721" cy="156356"/>
            </a:xfrm>
            <a:custGeom>
              <a:avLst/>
              <a:gdLst>
                <a:gd name="connsiteX0" fmla="*/ 95989 w 95721"/>
                <a:gd name="connsiteY0" fmla="*/ 23873 h 156356"/>
                <a:gd name="connsiteX1" fmla="*/ 72108 w 95721"/>
                <a:gd name="connsiteY1" fmla="*/ 72 h 156356"/>
                <a:gd name="connsiteX2" fmla="*/ 50861 w 95721"/>
                <a:gd name="connsiteY2" fmla="*/ 7369 h 156356"/>
                <a:gd name="connsiteX3" fmla="*/ 28209 w 95721"/>
                <a:gd name="connsiteY3" fmla="*/ 44373 h 156356"/>
                <a:gd name="connsiteX4" fmla="*/ 290 w 95721"/>
                <a:gd name="connsiteY4" fmla="*/ 154691 h 156356"/>
                <a:gd name="connsiteX5" fmla="*/ 2397 w 95721"/>
                <a:gd name="connsiteY5" fmla="*/ 156428 h 156356"/>
                <a:gd name="connsiteX6" fmla="*/ 4504 w 95721"/>
                <a:gd name="connsiteY6" fmla="*/ 155560 h 156356"/>
                <a:gd name="connsiteX7" fmla="*/ 16796 w 95721"/>
                <a:gd name="connsiteY7" fmla="*/ 107611 h 156356"/>
                <a:gd name="connsiteX8" fmla="*/ 40677 w 95721"/>
                <a:gd name="connsiteY8" fmla="*/ 124462 h 156356"/>
                <a:gd name="connsiteX9" fmla="*/ 74566 w 95721"/>
                <a:gd name="connsiteY9" fmla="*/ 110738 h 156356"/>
                <a:gd name="connsiteX10" fmla="*/ 88614 w 95721"/>
                <a:gd name="connsiteY10" fmla="*/ 78772 h 156356"/>
                <a:gd name="connsiteX11" fmla="*/ 75796 w 95721"/>
                <a:gd name="connsiteY11" fmla="*/ 52886 h 156356"/>
                <a:gd name="connsiteX12" fmla="*/ 95989 w 95721"/>
                <a:gd name="connsiteY12" fmla="*/ 23873 h 156356"/>
                <a:gd name="connsiteX13" fmla="*/ 64382 w 95721"/>
                <a:gd name="connsiteY13" fmla="*/ 52712 h 156356"/>
                <a:gd name="connsiteX14" fmla="*/ 55953 w 95721"/>
                <a:gd name="connsiteY14" fmla="*/ 53928 h 156356"/>
                <a:gd name="connsiteX15" fmla="*/ 48227 w 95721"/>
                <a:gd name="connsiteY15" fmla="*/ 53233 h 156356"/>
                <a:gd name="connsiteX16" fmla="*/ 56831 w 95721"/>
                <a:gd name="connsiteY16" fmla="*/ 51843 h 156356"/>
                <a:gd name="connsiteX17" fmla="*/ 64382 w 95721"/>
                <a:gd name="connsiteY17" fmla="*/ 52712 h 156356"/>
                <a:gd name="connsiteX18" fmla="*/ 86156 w 95721"/>
                <a:gd name="connsiteY18" fmla="*/ 19877 h 156356"/>
                <a:gd name="connsiteX19" fmla="*/ 70352 w 95721"/>
                <a:gd name="connsiteY19" fmla="*/ 49932 h 156356"/>
                <a:gd name="connsiteX20" fmla="*/ 56831 w 95721"/>
                <a:gd name="connsiteY20" fmla="*/ 47848 h 156356"/>
                <a:gd name="connsiteX21" fmla="*/ 43310 w 95721"/>
                <a:gd name="connsiteY21" fmla="*/ 53407 h 156356"/>
                <a:gd name="connsiteX22" fmla="*/ 55427 w 95721"/>
                <a:gd name="connsiteY22" fmla="*/ 57750 h 156356"/>
                <a:gd name="connsiteX23" fmla="*/ 69825 w 95721"/>
                <a:gd name="connsiteY23" fmla="*/ 55492 h 156356"/>
                <a:gd name="connsiteX24" fmla="*/ 77552 w 95721"/>
                <a:gd name="connsiteY24" fmla="*/ 75123 h 156356"/>
                <a:gd name="connsiteX25" fmla="*/ 68772 w 95721"/>
                <a:gd name="connsiteY25" fmla="*/ 105005 h 156356"/>
                <a:gd name="connsiteX26" fmla="*/ 40150 w 95721"/>
                <a:gd name="connsiteY26" fmla="*/ 120640 h 156356"/>
                <a:gd name="connsiteX27" fmla="*/ 20132 w 95721"/>
                <a:gd name="connsiteY27" fmla="*/ 98229 h 156356"/>
                <a:gd name="connsiteX28" fmla="*/ 21010 w 95721"/>
                <a:gd name="connsiteY28" fmla="*/ 90585 h 156356"/>
                <a:gd name="connsiteX29" fmla="*/ 32248 w 95721"/>
                <a:gd name="connsiteY29" fmla="*/ 46632 h 156356"/>
                <a:gd name="connsiteX30" fmla="*/ 69825 w 95721"/>
                <a:gd name="connsiteY30" fmla="*/ 4068 h 156356"/>
                <a:gd name="connsiteX31" fmla="*/ 86156 w 95721"/>
                <a:gd name="connsiteY31" fmla="*/ 19877 h 15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721" h="156356">
                  <a:moveTo>
                    <a:pt x="95989" y="23873"/>
                  </a:moveTo>
                  <a:cubicBezTo>
                    <a:pt x="95989" y="10843"/>
                    <a:pt x="86331" y="72"/>
                    <a:pt x="72108" y="72"/>
                  </a:cubicBezTo>
                  <a:cubicBezTo>
                    <a:pt x="61924" y="72"/>
                    <a:pt x="57007" y="2852"/>
                    <a:pt x="50861" y="7369"/>
                  </a:cubicBezTo>
                  <a:cubicBezTo>
                    <a:pt x="41203" y="14318"/>
                    <a:pt x="31546" y="31170"/>
                    <a:pt x="28209" y="44373"/>
                  </a:cubicBezTo>
                  <a:lnTo>
                    <a:pt x="290" y="154691"/>
                  </a:lnTo>
                  <a:cubicBezTo>
                    <a:pt x="114" y="155386"/>
                    <a:pt x="992" y="156428"/>
                    <a:pt x="2397" y="156428"/>
                  </a:cubicBezTo>
                  <a:cubicBezTo>
                    <a:pt x="3802" y="156428"/>
                    <a:pt x="4328" y="156081"/>
                    <a:pt x="4504" y="155560"/>
                  </a:cubicBezTo>
                  <a:lnTo>
                    <a:pt x="16796" y="107611"/>
                  </a:lnTo>
                  <a:cubicBezTo>
                    <a:pt x="20132" y="118034"/>
                    <a:pt x="27858" y="124462"/>
                    <a:pt x="40677" y="124462"/>
                  </a:cubicBezTo>
                  <a:cubicBezTo>
                    <a:pt x="53495" y="124462"/>
                    <a:pt x="66665" y="118382"/>
                    <a:pt x="74566" y="110738"/>
                  </a:cubicBezTo>
                  <a:cubicBezTo>
                    <a:pt x="82995" y="102746"/>
                    <a:pt x="88614" y="91627"/>
                    <a:pt x="88614" y="78772"/>
                  </a:cubicBezTo>
                  <a:cubicBezTo>
                    <a:pt x="88614" y="66263"/>
                    <a:pt x="82117" y="57229"/>
                    <a:pt x="75796" y="52886"/>
                  </a:cubicBezTo>
                  <a:cubicBezTo>
                    <a:pt x="85980" y="47153"/>
                    <a:pt x="95989" y="36382"/>
                    <a:pt x="95989" y="23873"/>
                  </a:cubicBezTo>
                  <a:close/>
                  <a:moveTo>
                    <a:pt x="64382" y="52712"/>
                  </a:moveTo>
                  <a:cubicBezTo>
                    <a:pt x="62099" y="53581"/>
                    <a:pt x="60168" y="53928"/>
                    <a:pt x="55953" y="53928"/>
                  </a:cubicBezTo>
                  <a:cubicBezTo>
                    <a:pt x="53495" y="53928"/>
                    <a:pt x="49983" y="54102"/>
                    <a:pt x="48227" y="53233"/>
                  </a:cubicBezTo>
                  <a:cubicBezTo>
                    <a:pt x="48578" y="51496"/>
                    <a:pt x="54900" y="51843"/>
                    <a:pt x="56831" y="51843"/>
                  </a:cubicBezTo>
                  <a:cubicBezTo>
                    <a:pt x="60519" y="51843"/>
                    <a:pt x="62099" y="51843"/>
                    <a:pt x="64382" y="52712"/>
                  </a:cubicBezTo>
                  <a:close/>
                  <a:moveTo>
                    <a:pt x="86156" y="19877"/>
                  </a:moveTo>
                  <a:cubicBezTo>
                    <a:pt x="86156" y="32038"/>
                    <a:pt x="79483" y="44547"/>
                    <a:pt x="70352" y="49932"/>
                  </a:cubicBezTo>
                  <a:cubicBezTo>
                    <a:pt x="65611" y="48195"/>
                    <a:pt x="62099" y="47848"/>
                    <a:pt x="56831" y="47848"/>
                  </a:cubicBezTo>
                  <a:cubicBezTo>
                    <a:pt x="53144" y="47848"/>
                    <a:pt x="43310" y="47674"/>
                    <a:pt x="43310" y="53407"/>
                  </a:cubicBezTo>
                  <a:cubicBezTo>
                    <a:pt x="43135" y="58271"/>
                    <a:pt x="52266" y="57750"/>
                    <a:pt x="55427" y="57750"/>
                  </a:cubicBezTo>
                  <a:cubicBezTo>
                    <a:pt x="61924" y="57750"/>
                    <a:pt x="64558" y="57577"/>
                    <a:pt x="69825" y="55492"/>
                  </a:cubicBezTo>
                  <a:cubicBezTo>
                    <a:pt x="76498" y="61746"/>
                    <a:pt x="77376" y="67132"/>
                    <a:pt x="77552" y="75123"/>
                  </a:cubicBezTo>
                  <a:cubicBezTo>
                    <a:pt x="77903" y="85199"/>
                    <a:pt x="73688" y="98229"/>
                    <a:pt x="68772" y="105005"/>
                  </a:cubicBezTo>
                  <a:cubicBezTo>
                    <a:pt x="61924" y="114386"/>
                    <a:pt x="50159" y="120640"/>
                    <a:pt x="40150" y="120640"/>
                  </a:cubicBezTo>
                  <a:cubicBezTo>
                    <a:pt x="26805" y="120640"/>
                    <a:pt x="20132" y="110564"/>
                    <a:pt x="20132" y="98229"/>
                  </a:cubicBezTo>
                  <a:cubicBezTo>
                    <a:pt x="20132" y="96492"/>
                    <a:pt x="20132" y="93886"/>
                    <a:pt x="21010" y="90585"/>
                  </a:cubicBezTo>
                  <a:lnTo>
                    <a:pt x="32248" y="46632"/>
                  </a:lnTo>
                  <a:cubicBezTo>
                    <a:pt x="36111" y="31691"/>
                    <a:pt x="48754" y="4068"/>
                    <a:pt x="69825" y="4068"/>
                  </a:cubicBezTo>
                  <a:cubicBezTo>
                    <a:pt x="80010" y="4068"/>
                    <a:pt x="86156" y="9454"/>
                    <a:pt x="86156" y="19877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E83E2242-14F9-737F-76BA-B8A968452C3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364458" y="3743109"/>
              <a:ext cx="44741" cy="80749"/>
            </a:xfrm>
            <a:custGeom>
              <a:avLst/>
              <a:gdLst>
                <a:gd name="connsiteX0" fmla="*/ 28052 w 44741"/>
                <a:gd name="connsiteY0" fmla="*/ 3479 h 80749"/>
                <a:gd name="connsiteX1" fmla="*/ 24365 w 44741"/>
                <a:gd name="connsiteY1" fmla="*/ 74 h 80749"/>
                <a:gd name="connsiteX2" fmla="*/ 273 w 44741"/>
                <a:gd name="connsiteY2" fmla="*/ 7857 h 80749"/>
                <a:gd name="connsiteX3" fmla="*/ 273 w 44741"/>
                <a:gd name="connsiteY3" fmla="*/ 12235 h 80749"/>
                <a:gd name="connsiteX4" fmla="*/ 18096 w 44741"/>
                <a:gd name="connsiteY4" fmla="*/ 8830 h 80749"/>
                <a:gd name="connsiteX5" fmla="*/ 18096 w 44741"/>
                <a:gd name="connsiteY5" fmla="*/ 70851 h 80749"/>
                <a:gd name="connsiteX6" fmla="*/ 5804 w 44741"/>
                <a:gd name="connsiteY6" fmla="*/ 76445 h 80749"/>
                <a:gd name="connsiteX7" fmla="*/ 1133 w 44741"/>
                <a:gd name="connsiteY7" fmla="*/ 76445 h 80749"/>
                <a:gd name="connsiteX8" fmla="*/ 1133 w 44741"/>
                <a:gd name="connsiteY8" fmla="*/ 80823 h 80749"/>
                <a:gd name="connsiteX9" fmla="*/ 23013 w 44741"/>
                <a:gd name="connsiteY9" fmla="*/ 80337 h 80749"/>
                <a:gd name="connsiteX10" fmla="*/ 45015 w 44741"/>
                <a:gd name="connsiteY10" fmla="*/ 80823 h 80749"/>
                <a:gd name="connsiteX11" fmla="*/ 45015 w 44741"/>
                <a:gd name="connsiteY11" fmla="*/ 76445 h 80749"/>
                <a:gd name="connsiteX12" fmla="*/ 40344 w 44741"/>
                <a:gd name="connsiteY12" fmla="*/ 76445 h 80749"/>
                <a:gd name="connsiteX13" fmla="*/ 28052 w 44741"/>
                <a:gd name="connsiteY13" fmla="*/ 70851 h 80749"/>
                <a:gd name="connsiteX14" fmla="*/ 28052 w 44741"/>
                <a:gd name="connsiteY14" fmla="*/ 3479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41" h="80749">
                  <a:moveTo>
                    <a:pt x="28052" y="3479"/>
                  </a:moveTo>
                  <a:cubicBezTo>
                    <a:pt x="28052" y="195"/>
                    <a:pt x="27806" y="74"/>
                    <a:pt x="24365" y="74"/>
                  </a:cubicBezTo>
                  <a:cubicBezTo>
                    <a:pt x="16498" y="7735"/>
                    <a:pt x="5313" y="7857"/>
                    <a:pt x="273" y="7857"/>
                  </a:cubicBezTo>
                  <a:lnTo>
                    <a:pt x="273" y="12235"/>
                  </a:lnTo>
                  <a:cubicBezTo>
                    <a:pt x="3223" y="12235"/>
                    <a:pt x="11335" y="12235"/>
                    <a:pt x="18096" y="8830"/>
                  </a:cubicBezTo>
                  <a:lnTo>
                    <a:pt x="18096" y="70851"/>
                  </a:lnTo>
                  <a:cubicBezTo>
                    <a:pt x="18096" y="74864"/>
                    <a:pt x="18096" y="76445"/>
                    <a:pt x="5804" y="76445"/>
                  </a:cubicBezTo>
                  <a:lnTo>
                    <a:pt x="1133" y="76445"/>
                  </a:lnTo>
                  <a:lnTo>
                    <a:pt x="1133" y="80823"/>
                  </a:lnTo>
                  <a:cubicBezTo>
                    <a:pt x="3346" y="80701"/>
                    <a:pt x="18465" y="80337"/>
                    <a:pt x="23013" y="80337"/>
                  </a:cubicBezTo>
                  <a:cubicBezTo>
                    <a:pt x="26823" y="80337"/>
                    <a:pt x="42311" y="80701"/>
                    <a:pt x="45015" y="80823"/>
                  </a:cubicBezTo>
                  <a:lnTo>
                    <a:pt x="45015" y="76445"/>
                  </a:lnTo>
                  <a:lnTo>
                    <a:pt x="40344" y="76445"/>
                  </a:lnTo>
                  <a:cubicBezTo>
                    <a:pt x="28052" y="76445"/>
                    <a:pt x="28052" y="74864"/>
                    <a:pt x="28052" y="70851"/>
                  </a:cubicBezTo>
                  <a:lnTo>
                    <a:pt x="28052" y="347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B41FFE52-C0CD-9F9F-2782-178C7CEB7EF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439843" y="3667502"/>
              <a:ext cx="40738" cy="173729"/>
            </a:xfrm>
            <a:custGeom>
              <a:avLst/>
              <a:gdLst>
                <a:gd name="connsiteX0" fmla="*/ 41016 w 40738"/>
                <a:gd name="connsiteY0" fmla="*/ 86937 h 173729"/>
                <a:gd name="connsiteX1" fmla="*/ 29426 w 40738"/>
                <a:gd name="connsiteY1" fmla="*/ 32733 h 173729"/>
                <a:gd name="connsiteX2" fmla="*/ 2033 w 40738"/>
                <a:gd name="connsiteY2" fmla="*/ 72 h 173729"/>
                <a:gd name="connsiteX3" fmla="*/ 277 w 40738"/>
                <a:gd name="connsiteY3" fmla="*/ 1809 h 173729"/>
                <a:gd name="connsiteX4" fmla="*/ 3614 w 40738"/>
                <a:gd name="connsiteY4" fmla="*/ 5805 h 173729"/>
                <a:gd name="connsiteX5" fmla="*/ 30831 w 40738"/>
                <a:gd name="connsiteY5" fmla="*/ 86937 h 173729"/>
                <a:gd name="connsiteX6" fmla="*/ 2560 w 40738"/>
                <a:gd name="connsiteY6" fmla="*/ 169111 h 173729"/>
                <a:gd name="connsiteX7" fmla="*/ 277 w 40738"/>
                <a:gd name="connsiteY7" fmla="*/ 172064 h 173729"/>
                <a:gd name="connsiteX8" fmla="*/ 2033 w 40738"/>
                <a:gd name="connsiteY8" fmla="*/ 173801 h 173729"/>
                <a:gd name="connsiteX9" fmla="*/ 29953 w 40738"/>
                <a:gd name="connsiteY9" fmla="*/ 139924 h 173729"/>
                <a:gd name="connsiteX10" fmla="*/ 41016 w 40738"/>
                <a:gd name="connsiteY10" fmla="*/ 86937 h 17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38" h="173729">
                  <a:moveTo>
                    <a:pt x="41016" y="86937"/>
                  </a:moveTo>
                  <a:cubicBezTo>
                    <a:pt x="41016" y="73386"/>
                    <a:pt x="39084" y="52365"/>
                    <a:pt x="29426" y="32733"/>
                  </a:cubicBezTo>
                  <a:cubicBezTo>
                    <a:pt x="18891" y="11365"/>
                    <a:pt x="3789" y="72"/>
                    <a:pt x="2033" y="72"/>
                  </a:cubicBezTo>
                  <a:cubicBezTo>
                    <a:pt x="980" y="72"/>
                    <a:pt x="277" y="767"/>
                    <a:pt x="277" y="1809"/>
                  </a:cubicBezTo>
                  <a:cubicBezTo>
                    <a:pt x="277" y="2331"/>
                    <a:pt x="277" y="2678"/>
                    <a:pt x="3614" y="5805"/>
                  </a:cubicBezTo>
                  <a:cubicBezTo>
                    <a:pt x="20822" y="23004"/>
                    <a:pt x="30831" y="50627"/>
                    <a:pt x="30831" y="86937"/>
                  </a:cubicBezTo>
                  <a:cubicBezTo>
                    <a:pt x="30831" y="116644"/>
                    <a:pt x="24334" y="147221"/>
                    <a:pt x="2560" y="169111"/>
                  </a:cubicBezTo>
                  <a:cubicBezTo>
                    <a:pt x="277" y="171195"/>
                    <a:pt x="277" y="171543"/>
                    <a:pt x="277" y="172064"/>
                  </a:cubicBezTo>
                  <a:cubicBezTo>
                    <a:pt x="277" y="173106"/>
                    <a:pt x="980" y="173801"/>
                    <a:pt x="2033" y="173801"/>
                  </a:cubicBezTo>
                  <a:cubicBezTo>
                    <a:pt x="3789" y="173801"/>
                    <a:pt x="19593" y="161988"/>
                    <a:pt x="29953" y="139924"/>
                  </a:cubicBezTo>
                  <a:cubicBezTo>
                    <a:pt x="38908" y="120814"/>
                    <a:pt x="41016" y="101530"/>
                    <a:pt x="41016" y="86937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C564EA5C-F131-B628-608E-A3EBB4574C4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530021" y="3721011"/>
              <a:ext cx="80598" cy="112402"/>
            </a:xfrm>
            <a:custGeom>
              <a:avLst/>
              <a:gdLst>
                <a:gd name="connsiteX0" fmla="*/ 80354 w 80598"/>
                <a:gd name="connsiteY0" fmla="*/ 11365 h 112402"/>
                <a:gd name="connsiteX1" fmla="*/ 80881 w 80598"/>
                <a:gd name="connsiteY1" fmla="*/ 8237 h 112402"/>
                <a:gd name="connsiteX2" fmla="*/ 75789 w 80598"/>
                <a:gd name="connsiteY2" fmla="*/ 3547 h 112402"/>
                <a:gd name="connsiteX3" fmla="*/ 68590 w 80598"/>
                <a:gd name="connsiteY3" fmla="*/ 11017 h 112402"/>
                <a:gd name="connsiteX4" fmla="*/ 52259 w 80598"/>
                <a:gd name="connsiteY4" fmla="*/ 72 h 112402"/>
                <a:gd name="connsiteX5" fmla="*/ 10467 w 80598"/>
                <a:gd name="connsiteY5" fmla="*/ 49411 h 112402"/>
                <a:gd name="connsiteX6" fmla="*/ 33822 w 80598"/>
                <a:gd name="connsiteY6" fmla="*/ 76860 h 112402"/>
                <a:gd name="connsiteX7" fmla="*/ 54191 w 80598"/>
                <a:gd name="connsiteY7" fmla="*/ 66784 h 112402"/>
                <a:gd name="connsiteX8" fmla="*/ 54366 w 80598"/>
                <a:gd name="connsiteY8" fmla="*/ 66958 h 112402"/>
                <a:gd name="connsiteX9" fmla="*/ 48572 w 80598"/>
                <a:gd name="connsiteY9" fmla="*/ 89890 h 112402"/>
                <a:gd name="connsiteX10" fmla="*/ 23286 w 80598"/>
                <a:gd name="connsiteY10" fmla="*/ 108653 h 112402"/>
                <a:gd name="connsiteX11" fmla="*/ 9238 w 80598"/>
                <a:gd name="connsiteY11" fmla="*/ 106916 h 112402"/>
                <a:gd name="connsiteX12" fmla="*/ 16438 w 80598"/>
                <a:gd name="connsiteY12" fmla="*/ 97882 h 112402"/>
                <a:gd name="connsiteX13" fmla="*/ 9765 w 80598"/>
                <a:gd name="connsiteY13" fmla="*/ 91801 h 112402"/>
                <a:gd name="connsiteX14" fmla="*/ 283 w 80598"/>
                <a:gd name="connsiteY14" fmla="*/ 101877 h 112402"/>
                <a:gd name="connsiteX15" fmla="*/ 23637 w 80598"/>
                <a:gd name="connsiteY15" fmla="*/ 112475 h 112402"/>
                <a:gd name="connsiteX16" fmla="*/ 60863 w 80598"/>
                <a:gd name="connsiteY16" fmla="*/ 88500 h 112402"/>
                <a:gd name="connsiteX17" fmla="*/ 80354 w 80598"/>
                <a:gd name="connsiteY17" fmla="*/ 11365 h 112402"/>
                <a:gd name="connsiteX18" fmla="*/ 57527 w 80598"/>
                <a:gd name="connsiteY18" fmla="*/ 54623 h 112402"/>
                <a:gd name="connsiteX19" fmla="*/ 48572 w 80598"/>
                <a:gd name="connsiteY19" fmla="*/ 66784 h 112402"/>
                <a:gd name="connsiteX20" fmla="*/ 34348 w 80598"/>
                <a:gd name="connsiteY20" fmla="*/ 73038 h 112402"/>
                <a:gd name="connsiteX21" fmla="*/ 22935 w 80598"/>
                <a:gd name="connsiteY21" fmla="*/ 57055 h 112402"/>
                <a:gd name="connsiteX22" fmla="*/ 32768 w 80598"/>
                <a:gd name="connsiteY22" fmla="*/ 19356 h 112402"/>
                <a:gd name="connsiteX23" fmla="*/ 52435 w 80598"/>
                <a:gd name="connsiteY23" fmla="*/ 3894 h 112402"/>
                <a:gd name="connsiteX24" fmla="*/ 66482 w 80598"/>
                <a:gd name="connsiteY24" fmla="*/ 18835 h 112402"/>
                <a:gd name="connsiteX25" fmla="*/ 65956 w 80598"/>
                <a:gd name="connsiteY25" fmla="*/ 21441 h 112402"/>
                <a:gd name="connsiteX26" fmla="*/ 57527 w 80598"/>
                <a:gd name="connsiteY26" fmla="*/ 54623 h 11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598" h="112402">
                  <a:moveTo>
                    <a:pt x="80354" y="11365"/>
                  </a:moveTo>
                  <a:cubicBezTo>
                    <a:pt x="80530" y="10322"/>
                    <a:pt x="80881" y="9454"/>
                    <a:pt x="80881" y="8237"/>
                  </a:cubicBezTo>
                  <a:cubicBezTo>
                    <a:pt x="80881" y="5284"/>
                    <a:pt x="78774" y="3547"/>
                    <a:pt x="75789" y="3547"/>
                  </a:cubicBezTo>
                  <a:cubicBezTo>
                    <a:pt x="74033" y="3547"/>
                    <a:pt x="69292" y="4763"/>
                    <a:pt x="68590" y="11017"/>
                  </a:cubicBezTo>
                  <a:cubicBezTo>
                    <a:pt x="65429" y="4589"/>
                    <a:pt x="59283" y="72"/>
                    <a:pt x="52259" y="72"/>
                  </a:cubicBezTo>
                  <a:cubicBezTo>
                    <a:pt x="32241" y="72"/>
                    <a:pt x="10467" y="24394"/>
                    <a:pt x="10467" y="49411"/>
                  </a:cubicBezTo>
                  <a:cubicBezTo>
                    <a:pt x="10467" y="66610"/>
                    <a:pt x="21179" y="76860"/>
                    <a:pt x="33822" y="76860"/>
                  </a:cubicBezTo>
                  <a:cubicBezTo>
                    <a:pt x="44182" y="76860"/>
                    <a:pt x="52435" y="68695"/>
                    <a:pt x="54191" y="66784"/>
                  </a:cubicBezTo>
                  <a:lnTo>
                    <a:pt x="54366" y="66958"/>
                  </a:lnTo>
                  <a:cubicBezTo>
                    <a:pt x="50679" y="82420"/>
                    <a:pt x="48572" y="89543"/>
                    <a:pt x="48572" y="89890"/>
                  </a:cubicBezTo>
                  <a:cubicBezTo>
                    <a:pt x="47869" y="91454"/>
                    <a:pt x="41899" y="108653"/>
                    <a:pt x="23286" y="108653"/>
                  </a:cubicBezTo>
                  <a:cubicBezTo>
                    <a:pt x="19950" y="108653"/>
                    <a:pt x="14155" y="108479"/>
                    <a:pt x="9238" y="106916"/>
                  </a:cubicBezTo>
                  <a:cubicBezTo>
                    <a:pt x="14506" y="105352"/>
                    <a:pt x="16438" y="100835"/>
                    <a:pt x="16438" y="97882"/>
                  </a:cubicBezTo>
                  <a:cubicBezTo>
                    <a:pt x="16438" y="95102"/>
                    <a:pt x="14506" y="91801"/>
                    <a:pt x="9765" y="91801"/>
                  </a:cubicBezTo>
                  <a:cubicBezTo>
                    <a:pt x="5902" y="91801"/>
                    <a:pt x="283" y="94928"/>
                    <a:pt x="283" y="101877"/>
                  </a:cubicBezTo>
                  <a:cubicBezTo>
                    <a:pt x="283" y="109000"/>
                    <a:pt x="6780" y="112475"/>
                    <a:pt x="23637" y="112475"/>
                  </a:cubicBezTo>
                  <a:cubicBezTo>
                    <a:pt x="45587" y="112475"/>
                    <a:pt x="58229" y="98924"/>
                    <a:pt x="60863" y="88500"/>
                  </a:cubicBezTo>
                  <a:lnTo>
                    <a:pt x="80354" y="11365"/>
                  </a:lnTo>
                  <a:close/>
                  <a:moveTo>
                    <a:pt x="57527" y="54623"/>
                  </a:moveTo>
                  <a:cubicBezTo>
                    <a:pt x="56473" y="59140"/>
                    <a:pt x="52435" y="63483"/>
                    <a:pt x="48572" y="66784"/>
                  </a:cubicBezTo>
                  <a:cubicBezTo>
                    <a:pt x="44884" y="69911"/>
                    <a:pt x="39441" y="73038"/>
                    <a:pt x="34348" y="73038"/>
                  </a:cubicBezTo>
                  <a:cubicBezTo>
                    <a:pt x="25569" y="73038"/>
                    <a:pt x="22935" y="64005"/>
                    <a:pt x="22935" y="57055"/>
                  </a:cubicBezTo>
                  <a:cubicBezTo>
                    <a:pt x="22935" y="48716"/>
                    <a:pt x="28027" y="28216"/>
                    <a:pt x="32768" y="19356"/>
                  </a:cubicBezTo>
                  <a:cubicBezTo>
                    <a:pt x="37509" y="10843"/>
                    <a:pt x="45060" y="3894"/>
                    <a:pt x="52435" y="3894"/>
                  </a:cubicBezTo>
                  <a:cubicBezTo>
                    <a:pt x="64024" y="3894"/>
                    <a:pt x="66482" y="17966"/>
                    <a:pt x="66482" y="18835"/>
                  </a:cubicBezTo>
                  <a:cubicBezTo>
                    <a:pt x="66482" y="19704"/>
                    <a:pt x="66131" y="20746"/>
                    <a:pt x="65956" y="21441"/>
                  </a:cubicBezTo>
                  <a:lnTo>
                    <a:pt x="57527" y="54623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39BB39F2-A3AD-45BE-0B31-BD268949E60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616303" y="3747851"/>
              <a:ext cx="41545" cy="77222"/>
            </a:xfrm>
            <a:custGeom>
              <a:avLst/>
              <a:gdLst>
                <a:gd name="connsiteX0" fmla="*/ 25363 w 41545"/>
                <a:gd name="connsiteY0" fmla="*/ 28044 h 77222"/>
                <a:gd name="connsiteX1" fmla="*/ 37900 w 41545"/>
                <a:gd name="connsiteY1" fmla="*/ 28044 h 77222"/>
                <a:gd name="connsiteX2" fmla="*/ 41834 w 41545"/>
                <a:gd name="connsiteY2" fmla="*/ 25369 h 77222"/>
                <a:gd name="connsiteX3" fmla="*/ 38146 w 41545"/>
                <a:gd name="connsiteY3" fmla="*/ 23666 h 77222"/>
                <a:gd name="connsiteX4" fmla="*/ 26469 w 41545"/>
                <a:gd name="connsiteY4" fmla="*/ 23666 h 77222"/>
                <a:gd name="connsiteX5" fmla="*/ 31017 w 41545"/>
                <a:gd name="connsiteY5" fmla="*/ 5668 h 77222"/>
                <a:gd name="connsiteX6" fmla="*/ 31386 w 41545"/>
                <a:gd name="connsiteY6" fmla="*/ 3965 h 77222"/>
                <a:gd name="connsiteX7" fmla="*/ 27206 w 41545"/>
                <a:gd name="connsiteY7" fmla="*/ 74 h 77222"/>
                <a:gd name="connsiteX8" fmla="*/ 21429 w 41545"/>
                <a:gd name="connsiteY8" fmla="*/ 5303 h 77222"/>
                <a:gd name="connsiteX9" fmla="*/ 16759 w 41545"/>
                <a:gd name="connsiteY9" fmla="*/ 23666 h 77222"/>
                <a:gd name="connsiteX10" fmla="*/ 4221 w 41545"/>
                <a:gd name="connsiteY10" fmla="*/ 23666 h 77222"/>
                <a:gd name="connsiteX11" fmla="*/ 288 w 41545"/>
                <a:gd name="connsiteY11" fmla="*/ 26341 h 77222"/>
                <a:gd name="connsiteX12" fmla="*/ 3975 w 41545"/>
                <a:gd name="connsiteY12" fmla="*/ 28044 h 77222"/>
                <a:gd name="connsiteX13" fmla="*/ 15652 w 41545"/>
                <a:gd name="connsiteY13" fmla="*/ 28044 h 77222"/>
                <a:gd name="connsiteX14" fmla="*/ 8400 w 41545"/>
                <a:gd name="connsiteY14" fmla="*/ 56744 h 77222"/>
                <a:gd name="connsiteX15" fmla="*/ 6556 w 41545"/>
                <a:gd name="connsiteY15" fmla="*/ 65743 h 77222"/>
                <a:gd name="connsiteX16" fmla="*/ 19709 w 41545"/>
                <a:gd name="connsiteY16" fmla="*/ 77296 h 77222"/>
                <a:gd name="connsiteX17" fmla="*/ 41096 w 41545"/>
                <a:gd name="connsiteY17" fmla="*/ 58690 h 77222"/>
                <a:gd name="connsiteX18" fmla="*/ 39129 w 41545"/>
                <a:gd name="connsiteY18" fmla="*/ 57109 h 77222"/>
                <a:gd name="connsiteX19" fmla="*/ 36548 w 41545"/>
                <a:gd name="connsiteY19" fmla="*/ 59420 h 77222"/>
                <a:gd name="connsiteX20" fmla="*/ 20077 w 41545"/>
                <a:gd name="connsiteY20" fmla="*/ 73891 h 77222"/>
                <a:gd name="connsiteX21" fmla="*/ 15775 w 41545"/>
                <a:gd name="connsiteY21" fmla="*/ 67932 h 77222"/>
                <a:gd name="connsiteX22" fmla="*/ 16513 w 41545"/>
                <a:gd name="connsiteY22" fmla="*/ 62946 h 77222"/>
                <a:gd name="connsiteX23" fmla="*/ 25363 w 41545"/>
                <a:gd name="connsiteY23" fmla="*/ 28044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363" y="28044"/>
                  </a:moveTo>
                  <a:lnTo>
                    <a:pt x="37900" y="28044"/>
                  </a:lnTo>
                  <a:cubicBezTo>
                    <a:pt x="40236" y="28044"/>
                    <a:pt x="41834" y="28044"/>
                    <a:pt x="41834" y="25369"/>
                  </a:cubicBezTo>
                  <a:cubicBezTo>
                    <a:pt x="41834" y="23666"/>
                    <a:pt x="40236" y="23666"/>
                    <a:pt x="38146" y="23666"/>
                  </a:cubicBezTo>
                  <a:lnTo>
                    <a:pt x="26469" y="23666"/>
                  </a:lnTo>
                  <a:lnTo>
                    <a:pt x="31017" y="5668"/>
                  </a:lnTo>
                  <a:cubicBezTo>
                    <a:pt x="31140" y="5060"/>
                    <a:pt x="31386" y="4452"/>
                    <a:pt x="31386" y="3965"/>
                  </a:cubicBezTo>
                  <a:cubicBezTo>
                    <a:pt x="31386" y="1776"/>
                    <a:pt x="29665" y="74"/>
                    <a:pt x="27206" y="74"/>
                  </a:cubicBezTo>
                  <a:cubicBezTo>
                    <a:pt x="24134" y="74"/>
                    <a:pt x="22290" y="2141"/>
                    <a:pt x="21429" y="5303"/>
                  </a:cubicBezTo>
                  <a:cubicBezTo>
                    <a:pt x="20569" y="8343"/>
                    <a:pt x="22167" y="2506"/>
                    <a:pt x="16759" y="23666"/>
                  </a:cubicBezTo>
                  <a:lnTo>
                    <a:pt x="4221" y="23666"/>
                  </a:lnTo>
                  <a:cubicBezTo>
                    <a:pt x="1886" y="23666"/>
                    <a:pt x="288" y="23666"/>
                    <a:pt x="288" y="26341"/>
                  </a:cubicBezTo>
                  <a:cubicBezTo>
                    <a:pt x="288" y="28044"/>
                    <a:pt x="1763" y="28044"/>
                    <a:pt x="3975" y="28044"/>
                  </a:cubicBezTo>
                  <a:lnTo>
                    <a:pt x="15652" y="28044"/>
                  </a:lnTo>
                  <a:lnTo>
                    <a:pt x="8400" y="56744"/>
                  </a:lnTo>
                  <a:cubicBezTo>
                    <a:pt x="7663" y="59784"/>
                    <a:pt x="6556" y="64162"/>
                    <a:pt x="6556" y="65743"/>
                  </a:cubicBezTo>
                  <a:cubicBezTo>
                    <a:pt x="6556" y="72918"/>
                    <a:pt x="12702" y="77296"/>
                    <a:pt x="19709" y="77296"/>
                  </a:cubicBezTo>
                  <a:cubicBezTo>
                    <a:pt x="33352" y="77296"/>
                    <a:pt x="41096" y="60271"/>
                    <a:pt x="41096" y="58690"/>
                  </a:cubicBezTo>
                  <a:cubicBezTo>
                    <a:pt x="41096" y="57109"/>
                    <a:pt x="39498" y="57109"/>
                    <a:pt x="39129" y="57109"/>
                  </a:cubicBezTo>
                  <a:cubicBezTo>
                    <a:pt x="37654" y="57109"/>
                    <a:pt x="37532" y="57352"/>
                    <a:pt x="36548" y="59420"/>
                  </a:cubicBezTo>
                  <a:cubicBezTo>
                    <a:pt x="33106" y="67081"/>
                    <a:pt x="26838" y="73891"/>
                    <a:pt x="20077" y="73891"/>
                  </a:cubicBezTo>
                  <a:cubicBezTo>
                    <a:pt x="17496" y="73891"/>
                    <a:pt x="15775" y="72310"/>
                    <a:pt x="15775" y="67932"/>
                  </a:cubicBezTo>
                  <a:cubicBezTo>
                    <a:pt x="15775" y="66716"/>
                    <a:pt x="16267" y="64162"/>
                    <a:pt x="16513" y="62946"/>
                  </a:cubicBezTo>
                  <a:lnTo>
                    <a:pt x="25363" y="28044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EA44603F-3ACA-F19A-6855-75CB5207C9B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651592" y="4003148"/>
              <a:ext cx="64619" cy="78699"/>
            </a:xfrm>
            <a:custGeom>
              <a:avLst/>
              <a:gdLst>
                <a:gd name="connsiteX0" fmla="*/ 59703 w 64619"/>
                <a:gd name="connsiteY0" fmla="*/ 11902 h 78699"/>
                <a:gd name="connsiteX1" fmla="*/ 51274 w 64619"/>
                <a:gd name="connsiteY1" fmla="*/ 19720 h 78699"/>
                <a:gd name="connsiteX2" fmla="*/ 56718 w 64619"/>
                <a:gd name="connsiteY2" fmla="*/ 24758 h 78699"/>
                <a:gd name="connsiteX3" fmla="*/ 64795 w 64619"/>
                <a:gd name="connsiteY3" fmla="*/ 15029 h 78699"/>
                <a:gd name="connsiteX4" fmla="*/ 43899 w 64619"/>
                <a:gd name="connsiteY4" fmla="*/ 88 h 78699"/>
                <a:gd name="connsiteX5" fmla="*/ 14224 w 64619"/>
                <a:gd name="connsiteY5" fmla="*/ 25453 h 78699"/>
                <a:gd name="connsiteX6" fmla="*/ 32310 w 64619"/>
                <a:gd name="connsiteY6" fmla="*/ 42652 h 78699"/>
                <a:gd name="connsiteX7" fmla="*/ 50572 w 64619"/>
                <a:gd name="connsiteY7" fmla="*/ 55855 h 78699"/>
                <a:gd name="connsiteX8" fmla="*/ 25462 w 64619"/>
                <a:gd name="connsiteY8" fmla="*/ 74966 h 78699"/>
                <a:gd name="connsiteX9" fmla="*/ 5444 w 64619"/>
                <a:gd name="connsiteY9" fmla="*/ 65758 h 78699"/>
                <a:gd name="connsiteX10" fmla="*/ 16506 w 64619"/>
                <a:gd name="connsiteY10" fmla="*/ 56550 h 78699"/>
                <a:gd name="connsiteX11" fmla="*/ 10009 w 64619"/>
                <a:gd name="connsiteY11" fmla="*/ 50470 h 78699"/>
                <a:gd name="connsiteX12" fmla="*/ 176 w 64619"/>
                <a:gd name="connsiteY12" fmla="*/ 61936 h 78699"/>
                <a:gd name="connsiteX13" fmla="*/ 25286 w 64619"/>
                <a:gd name="connsiteY13" fmla="*/ 78788 h 78699"/>
                <a:gd name="connsiteX14" fmla="*/ 60581 w 64619"/>
                <a:gd name="connsiteY14" fmla="*/ 49949 h 78699"/>
                <a:gd name="connsiteX15" fmla="*/ 55137 w 64619"/>
                <a:gd name="connsiteY15" fmla="*/ 37266 h 78699"/>
                <a:gd name="connsiteX16" fmla="*/ 37578 w 64619"/>
                <a:gd name="connsiteY16" fmla="*/ 29970 h 78699"/>
                <a:gd name="connsiteX17" fmla="*/ 24233 w 64619"/>
                <a:gd name="connsiteY17" fmla="*/ 19546 h 78699"/>
                <a:gd name="connsiteX18" fmla="*/ 43899 w 64619"/>
                <a:gd name="connsiteY18" fmla="*/ 3910 h 78699"/>
                <a:gd name="connsiteX19" fmla="*/ 59703 w 64619"/>
                <a:gd name="connsiteY19" fmla="*/ 11902 h 7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619" h="78699">
                  <a:moveTo>
                    <a:pt x="59703" y="11902"/>
                  </a:moveTo>
                  <a:cubicBezTo>
                    <a:pt x="54786" y="12076"/>
                    <a:pt x="51274" y="15898"/>
                    <a:pt x="51274" y="19720"/>
                  </a:cubicBezTo>
                  <a:cubicBezTo>
                    <a:pt x="51274" y="22152"/>
                    <a:pt x="52855" y="24758"/>
                    <a:pt x="56718" y="24758"/>
                  </a:cubicBezTo>
                  <a:cubicBezTo>
                    <a:pt x="60581" y="24758"/>
                    <a:pt x="64795" y="21804"/>
                    <a:pt x="64795" y="15029"/>
                  </a:cubicBezTo>
                  <a:cubicBezTo>
                    <a:pt x="64795" y="7211"/>
                    <a:pt x="57245" y="88"/>
                    <a:pt x="43899" y="88"/>
                  </a:cubicBezTo>
                  <a:cubicBezTo>
                    <a:pt x="20721" y="88"/>
                    <a:pt x="14224" y="17809"/>
                    <a:pt x="14224" y="25453"/>
                  </a:cubicBezTo>
                  <a:cubicBezTo>
                    <a:pt x="14224" y="39004"/>
                    <a:pt x="27218" y="41610"/>
                    <a:pt x="32310" y="42652"/>
                  </a:cubicBezTo>
                  <a:cubicBezTo>
                    <a:pt x="41441" y="44389"/>
                    <a:pt x="50572" y="46300"/>
                    <a:pt x="50572" y="55855"/>
                  </a:cubicBezTo>
                  <a:cubicBezTo>
                    <a:pt x="50572" y="60372"/>
                    <a:pt x="46533" y="74966"/>
                    <a:pt x="25462" y="74966"/>
                  </a:cubicBezTo>
                  <a:cubicBezTo>
                    <a:pt x="23003" y="74966"/>
                    <a:pt x="9483" y="74966"/>
                    <a:pt x="5444" y="65758"/>
                  </a:cubicBezTo>
                  <a:cubicBezTo>
                    <a:pt x="12117" y="66627"/>
                    <a:pt x="16506" y="61415"/>
                    <a:pt x="16506" y="56550"/>
                  </a:cubicBezTo>
                  <a:cubicBezTo>
                    <a:pt x="16506" y="52555"/>
                    <a:pt x="13697" y="50470"/>
                    <a:pt x="10009" y="50470"/>
                  </a:cubicBezTo>
                  <a:cubicBezTo>
                    <a:pt x="5444" y="50470"/>
                    <a:pt x="176" y="54118"/>
                    <a:pt x="176" y="61936"/>
                  </a:cubicBezTo>
                  <a:cubicBezTo>
                    <a:pt x="176" y="71839"/>
                    <a:pt x="10185" y="78788"/>
                    <a:pt x="25286" y="78788"/>
                  </a:cubicBezTo>
                  <a:cubicBezTo>
                    <a:pt x="53733" y="78788"/>
                    <a:pt x="60581" y="57766"/>
                    <a:pt x="60581" y="49949"/>
                  </a:cubicBezTo>
                  <a:cubicBezTo>
                    <a:pt x="60581" y="43694"/>
                    <a:pt x="57245" y="39351"/>
                    <a:pt x="55137" y="37266"/>
                  </a:cubicBezTo>
                  <a:cubicBezTo>
                    <a:pt x="50396" y="32402"/>
                    <a:pt x="45304" y="31533"/>
                    <a:pt x="37578" y="29970"/>
                  </a:cubicBezTo>
                  <a:cubicBezTo>
                    <a:pt x="31256" y="28580"/>
                    <a:pt x="24233" y="27364"/>
                    <a:pt x="24233" y="19546"/>
                  </a:cubicBezTo>
                  <a:cubicBezTo>
                    <a:pt x="24233" y="14508"/>
                    <a:pt x="28447" y="3910"/>
                    <a:pt x="43899" y="3910"/>
                  </a:cubicBezTo>
                  <a:cubicBezTo>
                    <a:pt x="48289" y="3910"/>
                    <a:pt x="57069" y="5126"/>
                    <a:pt x="59703" y="11902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2FDDD382-B525-84A1-F434-14760D3DFC2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729934" y="4029989"/>
              <a:ext cx="41545" cy="77222"/>
            </a:xfrm>
            <a:custGeom>
              <a:avLst/>
              <a:gdLst>
                <a:gd name="connsiteX0" fmla="*/ 25256 w 41545"/>
                <a:gd name="connsiteY0" fmla="*/ 28060 h 77222"/>
                <a:gd name="connsiteX1" fmla="*/ 37793 w 41545"/>
                <a:gd name="connsiteY1" fmla="*/ 28060 h 77222"/>
                <a:gd name="connsiteX2" fmla="*/ 41727 w 41545"/>
                <a:gd name="connsiteY2" fmla="*/ 25385 h 77222"/>
                <a:gd name="connsiteX3" fmla="*/ 38039 w 41545"/>
                <a:gd name="connsiteY3" fmla="*/ 23682 h 77222"/>
                <a:gd name="connsiteX4" fmla="*/ 26362 w 41545"/>
                <a:gd name="connsiteY4" fmla="*/ 23682 h 77222"/>
                <a:gd name="connsiteX5" fmla="*/ 30910 w 41545"/>
                <a:gd name="connsiteY5" fmla="*/ 5684 h 77222"/>
                <a:gd name="connsiteX6" fmla="*/ 31279 w 41545"/>
                <a:gd name="connsiteY6" fmla="*/ 3981 h 77222"/>
                <a:gd name="connsiteX7" fmla="*/ 27099 w 41545"/>
                <a:gd name="connsiteY7" fmla="*/ 90 h 77222"/>
                <a:gd name="connsiteX8" fmla="*/ 21322 w 41545"/>
                <a:gd name="connsiteY8" fmla="*/ 5319 h 77222"/>
                <a:gd name="connsiteX9" fmla="*/ 16652 w 41545"/>
                <a:gd name="connsiteY9" fmla="*/ 23682 h 77222"/>
                <a:gd name="connsiteX10" fmla="*/ 4114 w 41545"/>
                <a:gd name="connsiteY10" fmla="*/ 23682 h 77222"/>
                <a:gd name="connsiteX11" fmla="*/ 181 w 41545"/>
                <a:gd name="connsiteY11" fmla="*/ 26358 h 77222"/>
                <a:gd name="connsiteX12" fmla="*/ 3868 w 41545"/>
                <a:gd name="connsiteY12" fmla="*/ 28060 h 77222"/>
                <a:gd name="connsiteX13" fmla="*/ 15545 w 41545"/>
                <a:gd name="connsiteY13" fmla="*/ 28060 h 77222"/>
                <a:gd name="connsiteX14" fmla="*/ 8293 w 41545"/>
                <a:gd name="connsiteY14" fmla="*/ 56760 h 77222"/>
                <a:gd name="connsiteX15" fmla="*/ 6449 w 41545"/>
                <a:gd name="connsiteY15" fmla="*/ 65759 h 77222"/>
                <a:gd name="connsiteX16" fmla="*/ 19602 w 41545"/>
                <a:gd name="connsiteY16" fmla="*/ 77312 h 77222"/>
                <a:gd name="connsiteX17" fmla="*/ 40989 w 41545"/>
                <a:gd name="connsiteY17" fmla="*/ 58706 h 77222"/>
                <a:gd name="connsiteX18" fmla="*/ 39022 w 41545"/>
                <a:gd name="connsiteY18" fmla="*/ 57125 h 77222"/>
                <a:gd name="connsiteX19" fmla="*/ 36441 w 41545"/>
                <a:gd name="connsiteY19" fmla="*/ 59436 h 77222"/>
                <a:gd name="connsiteX20" fmla="*/ 19970 w 41545"/>
                <a:gd name="connsiteY20" fmla="*/ 73907 h 77222"/>
                <a:gd name="connsiteX21" fmla="*/ 15668 w 41545"/>
                <a:gd name="connsiteY21" fmla="*/ 67948 h 77222"/>
                <a:gd name="connsiteX22" fmla="*/ 16406 w 41545"/>
                <a:gd name="connsiteY22" fmla="*/ 62962 h 77222"/>
                <a:gd name="connsiteX23" fmla="*/ 25256 w 41545"/>
                <a:gd name="connsiteY23" fmla="*/ 28060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256" y="28060"/>
                  </a:moveTo>
                  <a:lnTo>
                    <a:pt x="37793" y="28060"/>
                  </a:lnTo>
                  <a:cubicBezTo>
                    <a:pt x="40129" y="28060"/>
                    <a:pt x="41727" y="28060"/>
                    <a:pt x="41727" y="25385"/>
                  </a:cubicBezTo>
                  <a:cubicBezTo>
                    <a:pt x="41727" y="23682"/>
                    <a:pt x="40129" y="23682"/>
                    <a:pt x="38039" y="23682"/>
                  </a:cubicBezTo>
                  <a:lnTo>
                    <a:pt x="26362" y="23682"/>
                  </a:lnTo>
                  <a:lnTo>
                    <a:pt x="30910" y="5684"/>
                  </a:lnTo>
                  <a:cubicBezTo>
                    <a:pt x="31033" y="5076"/>
                    <a:pt x="31279" y="4468"/>
                    <a:pt x="31279" y="3981"/>
                  </a:cubicBezTo>
                  <a:cubicBezTo>
                    <a:pt x="31279" y="1792"/>
                    <a:pt x="29558" y="90"/>
                    <a:pt x="27099" y="90"/>
                  </a:cubicBezTo>
                  <a:cubicBezTo>
                    <a:pt x="24027" y="90"/>
                    <a:pt x="22183" y="2157"/>
                    <a:pt x="21322" y="5319"/>
                  </a:cubicBezTo>
                  <a:cubicBezTo>
                    <a:pt x="20462" y="8359"/>
                    <a:pt x="22060" y="2522"/>
                    <a:pt x="16652" y="23682"/>
                  </a:cubicBezTo>
                  <a:lnTo>
                    <a:pt x="4114" y="23682"/>
                  </a:lnTo>
                  <a:cubicBezTo>
                    <a:pt x="1779" y="23682"/>
                    <a:pt x="181" y="23682"/>
                    <a:pt x="181" y="26358"/>
                  </a:cubicBezTo>
                  <a:cubicBezTo>
                    <a:pt x="181" y="28060"/>
                    <a:pt x="1656" y="28060"/>
                    <a:pt x="3868" y="28060"/>
                  </a:cubicBezTo>
                  <a:lnTo>
                    <a:pt x="15545" y="28060"/>
                  </a:lnTo>
                  <a:lnTo>
                    <a:pt x="8293" y="56760"/>
                  </a:lnTo>
                  <a:cubicBezTo>
                    <a:pt x="7556" y="59801"/>
                    <a:pt x="6449" y="64179"/>
                    <a:pt x="6449" y="65759"/>
                  </a:cubicBezTo>
                  <a:cubicBezTo>
                    <a:pt x="6449" y="72934"/>
                    <a:pt x="12595" y="77312"/>
                    <a:pt x="19602" y="77312"/>
                  </a:cubicBezTo>
                  <a:cubicBezTo>
                    <a:pt x="33245" y="77312"/>
                    <a:pt x="40989" y="60287"/>
                    <a:pt x="40989" y="58706"/>
                  </a:cubicBezTo>
                  <a:cubicBezTo>
                    <a:pt x="40989" y="57125"/>
                    <a:pt x="39391" y="57125"/>
                    <a:pt x="39022" y="57125"/>
                  </a:cubicBezTo>
                  <a:cubicBezTo>
                    <a:pt x="37547" y="57125"/>
                    <a:pt x="37424" y="57368"/>
                    <a:pt x="36441" y="59436"/>
                  </a:cubicBezTo>
                  <a:cubicBezTo>
                    <a:pt x="32999" y="67097"/>
                    <a:pt x="26731" y="73907"/>
                    <a:pt x="19970" y="73907"/>
                  </a:cubicBezTo>
                  <a:cubicBezTo>
                    <a:pt x="17389" y="73907"/>
                    <a:pt x="15668" y="72326"/>
                    <a:pt x="15668" y="67948"/>
                  </a:cubicBezTo>
                  <a:cubicBezTo>
                    <a:pt x="15668" y="66732"/>
                    <a:pt x="16160" y="64179"/>
                    <a:pt x="16406" y="62962"/>
                  </a:cubicBezTo>
                  <a:lnTo>
                    <a:pt x="25256" y="2806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1FB020BD-7504-90F1-F91C-3130248265C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845204" y="4016178"/>
              <a:ext cx="116770" cy="40652"/>
            </a:xfrm>
            <a:custGeom>
              <a:avLst/>
              <a:gdLst>
                <a:gd name="connsiteX0" fmla="*/ 110988 w 116770"/>
                <a:gd name="connsiteY0" fmla="*/ 7037 h 40652"/>
                <a:gd name="connsiteX1" fmla="*/ 116958 w 116770"/>
                <a:gd name="connsiteY1" fmla="*/ 3563 h 40652"/>
                <a:gd name="connsiteX2" fmla="*/ 111163 w 116770"/>
                <a:gd name="connsiteY2" fmla="*/ 88 h 40652"/>
                <a:gd name="connsiteX3" fmla="*/ 5982 w 116770"/>
                <a:gd name="connsiteY3" fmla="*/ 88 h 40652"/>
                <a:gd name="connsiteX4" fmla="*/ 187 w 116770"/>
                <a:gd name="connsiteY4" fmla="*/ 3563 h 40652"/>
                <a:gd name="connsiteX5" fmla="*/ 6157 w 116770"/>
                <a:gd name="connsiteY5" fmla="*/ 7037 h 40652"/>
                <a:gd name="connsiteX6" fmla="*/ 110988 w 116770"/>
                <a:gd name="connsiteY6" fmla="*/ 7037 h 40652"/>
                <a:gd name="connsiteX7" fmla="*/ 111163 w 116770"/>
                <a:gd name="connsiteY7" fmla="*/ 40741 h 40652"/>
                <a:gd name="connsiteX8" fmla="*/ 116958 w 116770"/>
                <a:gd name="connsiteY8" fmla="*/ 37266 h 40652"/>
                <a:gd name="connsiteX9" fmla="*/ 110988 w 116770"/>
                <a:gd name="connsiteY9" fmla="*/ 33792 h 40652"/>
                <a:gd name="connsiteX10" fmla="*/ 6157 w 116770"/>
                <a:gd name="connsiteY10" fmla="*/ 33792 h 40652"/>
                <a:gd name="connsiteX11" fmla="*/ 187 w 116770"/>
                <a:gd name="connsiteY11" fmla="*/ 37266 h 40652"/>
                <a:gd name="connsiteX12" fmla="*/ 5982 w 116770"/>
                <a:gd name="connsiteY12" fmla="*/ 40741 h 40652"/>
                <a:gd name="connsiteX13" fmla="*/ 111163 w 116770"/>
                <a:gd name="connsiteY13" fmla="*/ 40741 h 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770" h="40652">
                  <a:moveTo>
                    <a:pt x="110988" y="7037"/>
                  </a:moveTo>
                  <a:cubicBezTo>
                    <a:pt x="113622" y="7037"/>
                    <a:pt x="116958" y="7037"/>
                    <a:pt x="116958" y="3563"/>
                  </a:cubicBezTo>
                  <a:cubicBezTo>
                    <a:pt x="116958" y="88"/>
                    <a:pt x="113622" y="88"/>
                    <a:pt x="111163" y="88"/>
                  </a:cubicBezTo>
                  <a:lnTo>
                    <a:pt x="5982" y="88"/>
                  </a:lnTo>
                  <a:cubicBezTo>
                    <a:pt x="3523" y="88"/>
                    <a:pt x="187" y="88"/>
                    <a:pt x="187" y="3563"/>
                  </a:cubicBezTo>
                  <a:cubicBezTo>
                    <a:pt x="187" y="7037"/>
                    <a:pt x="3523" y="7037"/>
                    <a:pt x="6157" y="7037"/>
                  </a:cubicBezTo>
                  <a:lnTo>
                    <a:pt x="110988" y="7037"/>
                  </a:lnTo>
                  <a:close/>
                  <a:moveTo>
                    <a:pt x="111163" y="40741"/>
                  </a:moveTo>
                  <a:cubicBezTo>
                    <a:pt x="113622" y="40741"/>
                    <a:pt x="116958" y="40741"/>
                    <a:pt x="116958" y="37266"/>
                  </a:cubicBezTo>
                  <a:cubicBezTo>
                    <a:pt x="116958" y="33792"/>
                    <a:pt x="113622" y="33792"/>
                    <a:pt x="110988" y="33792"/>
                  </a:cubicBezTo>
                  <a:lnTo>
                    <a:pt x="6157" y="33792"/>
                  </a:lnTo>
                  <a:cubicBezTo>
                    <a:pt x="3523" y="33792"/>
                    <a:pt x="187" y="33792"/>
                    <a:pt x="187" y="37266"/>
                  </a:cubicBezTo>
                  <a:cubicBezTo>
                    <a:pt x="187" y="40741"/>
                    <a:pt x="3523" y="40741"/>
                    <a:pt x="5982" y="40741"/>
                  </a:cubicBezTo>
                  <a:lnTo>
                    <a:pt x="111163" y="40741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82F894BF-ED65-078F-9DB0-8838E3DFADE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025966" y="3957284"/>
              <a:ext cx="95721" cy="156356"/>
            </a:xfrm>
            <a:custGeom>
              <a:avLst/>
              <a:gdLst>
                <a:gd name="connsiteX0" fmla="*/ 95919 w 95721"/>
                <a:gd name="connsiteY0" fmla="*/ 23889 h 156356"/>
                <a:gd name="connsiteX1" fmla="*/ 72038 w 95721"/>
                <a:gd name="connsiteY1" fmla="*/ 88 h 156356"/>
                <a:gd name="connsiteX2" fmla="*/ 50791 w 95721"/>
                <a:gd name="connsiteY2" fmla="*/ 7385 h 156356"/>
                <a:gd name="connsiteX3" fmla="*/ 28139 w 95721"/>
                <a:gd name="connsiteY3" fmla="*/ 44389 h 156356"/>
                <a:gd name="connsiteX4" fmla="*/ 220 w 95721"/>
                <a:gd name="connsiteY4" fmla="*/ 154707 h 156356"/>
                <a:gd name="connsiteX5" fmla="*/ 2327 w 95721"/>
                <a:gd name="connsiteY5" fmla="*/ 156445 h 156356"/>
                <a:gd name="connsiteX6" fmla="*/ 4434 w 95721"/>
                <a:gd name="connsiteY6" fmla="*/ 155576 h 156356"/>
                <a:gd name="connsiteX7" fmla="*/ 16726 w 95721"/>
                <a:gd name="connsiteY7" fmla="*/ 107627 h 156356"/>
                <a:gd name="connsiteX8" fmla="*/ 40607 w 95721"/>
                <a:gd name="connsiteY8" fmla="*/ 124478 h 156356"/>
                <a:gd name="connsiteX9" fmla="*/ 74497 w 95721"/>
                <a:gd name="connsiteY9" fmla="*/ 110754 h 156356"/>
                <a:gd name="connsiteX10" fmla="*/ 88544 w 95721"/>
                <a:gd name="connsiteY10" fmla="*/ 78788 h 156356"/>
                <a:gd name="connsiteX11" fmla="*/ 75726 w 95721"/>
                <a:gd name="connsiteY11" fmla="*/ 52902 h 156356"/>
                <a:gd name="connsiteX12" fmla="*/ 95919 w 95721"/>
                <a:gd name="connsiteY12" fmla="*/ 23889 h 156356"/>
                <a:gd name="connsiteX13" fmla="*/ 64312 w 95721"/>
                <a:gd name="connsiteY13" fmla="*/ 52728 h 156356"/>
                <a:gd name="connsiteX14" fmla="*/ 55884 w 95721"/>
                <a:gd name="connsiteY14" fmla="*/ 53944 h 156356"/>
                <a:gd name="connsiteX15" fmla="*/ 48157 w 95721"/>
                <a:gd name="connsiteY15" fmla="*/ 53249 h 156356"/>
                <a:gd name="connsiteX16" fmla="*/ 56761 w 95721"/>
                <a:gd name="connsiteY16" fmla="*/ 51860 h 156356"/>
                <a:gd name="connsiteX17" fmla="*/ 64312 w 95721"/>
                <a:gd name="connsiteY17" fmla="*/ 52728 h 156356"/>
                <a:gd name="connsiteX18" fmla="*/ 86086 w 95721"/>
                <a:gd name="connsiteY18" fmla="*/ 19893 h 156356"/>
                <a:gd name="connsiteX19" fmla="*/ 70282 w 95721"/>
                <a:gd name="connsiteY19" fmla="*/ 49949 h 156356"/>
                <a:gd name="connsiteX20" fmla="*/ 56761 w 95721"/>
                <a:gd name="connsiteY20" fmla="*/ 47864 h 156356"/>
                <a:gd name="connsiteX21" fmla="*/ 43241 w 95721"/>
                <a:gd name="connsiteY21" fmla="*/ 53423 h 156356"/>
                <a:gd name="connsiteX22" fmla="*/ 55357 w 95721"/>
                <a:gd name="connsiteY22" fmla="*/ 57766 h 156356"/>
                <a:gd name="connsiteX23" fmla="*/ 69756 w 95721"/>
                <a:gd name="connsiteY23" fmla="*/ 55508 h 156356"/>
                <a:gd name="connsiteX24" fmla="*/ 77482 w 95721"/>
                <a:gd name="connsiteY24" fmla="*/ 75139 h 156356"/>
                <a:gd name="connsiteX25" fmla="*/ 68702 w 95721"/>
                <a:gd name="connsiteY25" fmla="*/ 105021 h 156356"/>
                <a:gd name="connsiteX26" fmla="*/ 40080 w 95721"/>
                <a:gd name="connsiteY26" fmla="*/ 120656 h 156356"/>
                <a:gd name="connsiteX27" fmla="*/ 20062 w 95721"/>
                <a:gd name="connsiteY27" fmla="*/ 98245 h 156356"/>
                <a:gd name="connsiteX28" fmla="*/ 20940 w 95721"/>
                <a:gd name="connsiteY28" fmla="*/ 90601 h 156356"/>
                <a:gd name="connsiteX29" fmla="*/ 32178 w 95721"/>
                <a:gd name="connsiteY29" fmla="*/ 46648 h 156356"/>
                <a:gd name="connsiteX30" fmla="*/ 69756 w 95721"/>
                <a:gd name="connsiteY30" fmla="*/ 4084 h 156356"/>
                <a:gd name="connsiteX31" fmla="*/ 86086 w 95721"/>
                <a:gd name="connsiteY31" fmla="*/ 19893 h 15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721" h="156356">
                  <a:moveTo>
                    <a:pt x="95919" y="23889"/>
                  </a:moveTo>
                  <a:cubicBezTo>
                    <a:pt x="95919" y="10860"/>
                    <a:pt x="86262" y="88"/>
                    <a:pt x="72038" y="88"/>
                  </a:cubicBezTo>
                  <a:cubicBezTo>
                    <a:pt x="61854" y="88"/>
                    <a:pt x="56937" y="2868"/>
                    <a:pt x="50791" y="7385"/>
                  </a:cubicBezTo>
                  <a:cubicBezTo>
                    <a:pt x="41133" y="14334"/>
                    <a:pt x="31476" y="31186"/>
                    <a:pt x="28139" y="44389"/>
                  </a:cubicBezTo>
                  <a:lnTo>
                    <a:pt x="220" y="154707"/>
                  </a:lnTo>
                  <a:cubicBezTo>
                    <a:pt x="44" y="155402"/>
                    <a:pt x="922" y="156445"/>
                    <a:pt x="2327" y="156445"/>
                  </a:cubicBezTo>
                  <a:cubicBezTo>
                    <a:pt x="3732" y="156445"/>
                    <a:pt x="4258" y="156097"/>
                    <a:pt x="4434" y="155576"/>
                  </a:cubicBezTo>
                  <a:lnTo>
                    <a:pt x="16726" y="107627"/>
                  </a:lnTo>
                  <a:cubicBezTo>
                    <a:pt x="20062" y="118051"/>
                    <a:pt x="27788" y="124478"/>
                    <a:pt x="40607" y="124478"/>
                  </a:cubicBezTo>
                  <a:cubicBezTo>
                    <a:pt x="53425" y="124478"/>
                    <a:pt x="66595" y="118398"/>
                    <a:pt x="74497" y="110754"/>
                  </a:cubicBezTo>
                  <a:cubicBezTo>
                    <a:pt x="82925" y="102762"/>
                    <a:pt x="88544" y="91644"/>
                    <a:pt x="88544" y="78788"/>
                  </a:cubicBezTo>
                  <a:cubicBezTo>
                    <a:pt x="88544" y="66279"/>
                    <a:pt x="82047" y="57245"/>
                    <a:pt x="75726" y="52902"/>
                  </a:cubicBezTo>
                  <a:cubicBezTo>
                    <a:pt x="85910" y="47169"/>
                    <a:pt x="95919" y="36398"/>
                    <a:pt x="95919" y="23889"/>
                  </a:cubicBezTo>
                  <a:close/>
                  <a:moveTo>
                    <a:pt x="64312" y="52728"/>
                  </a:moveTo>
                  <a:cubicBezTo>
                    <a:pt x="62029" y="53597"/>
                    <a:pt x="60098" y="53944"/>
                    <a:pt x="55884" y="53944"/>
                  </a:cubicBezTo>
                  <a:cubicBezTo>
                    <a:pt x="53425" y="53944"/>
                    <a:pt x="49913" y="54118"/>
                    <a:pt x="48157" y="53249"/>
                  </a:cubicBezTo>
                  <a:cubicBezTo>
                    <a:pt x="48508" y="51512"/>
                    <a:pt x="54830" y="51860"/>
                    <a:pt x="56761" y="51860"/>
                  </a:cubicBezTo>
                  <a:cubicBezTo>
                    <a:pt x="60449" y="51860"/>
                    <a:pt x="62029" y="51860"/>
                    <a:pt x="64312" y="52728"/>
                  </a:cubicBezTo>
                  <a:close/>
                  <a:moveTo>
                    <a:pt x="86086" y="19893"/>
                  </a:moveTo>
                  <a:cubicBezTo>
                    <a:pt x="86086" y="32055"/>
                    <a:pt x="79413" y="44563"/>
                    <a:pt x="70282" y="49949"/>
                  </a:cubicBezTo>
                  <a:cubicBezTo>
                    <a:pt x="65541" y="48211"/>
                    <a:pt x="62029" y="47864"/>
                    <a:pt x="56761" y="47864"/>
                  </a:cubicBezTo>
                  <a:cubicBezTo>
                    <a:pt x="53074" y="47864"/>
                    <a:pt x="43241" y="47690"/>
                    <a:pt x="43241" y="53423"/>
                  </a:cubicBezTo>
                  <a:cubicBezTo>
                    <a:pt x="43065" y="58288"/>
                    <a:pt x="52196" y="57766"/>
                    <a:pt x="55357" y="57766"/>
                  </a:cubicBezTo>
                  <a:cubicBezTo>
                    <a:pt x="61854" y="57766"/>
                    <a:pt x="64488" y="57593"/>
                    <a:pt x="69756" y="55508"/>
                  </a:cubicBezTo>
                  <a:cubicBezTo>
                    <a:pt x="76428" y="61762"/>
                    <a:pt x="77306" y="67148"/>
                    <a:pt x="77482" y="75139"/>
                  </a:cubicBezTo>
                  <a:cubicBezTo>
                    <a:pt x="77833" y="85216"/>
                    <a:pt x="73619" y="98245"/>
                    <a:pt x="68702" y="105021"/>
                  </a:cubicBezTo>
                  <a:cubicBezTo>
                    <a:pt x="61854" y="114402"/>
                    <a:pt x="50089" y="120656"/>
                    <a:pt x="40080" y="120656"/>
                  </a:cubicBezTo>
                  <a:cubicBezTo>
                    <a:pt x="26735" y="120656"/>
                    <a:pt x="20062" y="110580"/>
                    <a:pt x="20062" y="98245"/>
                  </a:cubicBezTo>
                  <a:cubicBezTo>
                    <a:pt x="20062" y="96508"/>
                    <a:pt x="20062" y="93902"/>
                    <a:pt x="20940" y="90601"/>
                  </a:cubicBezTo>
                  <a:lnTo>
                    <a:pt x="32178" y="46648"/>
                  </a:lnTo>
                  <a:cubicBezTo>
                    <a:pt x="36041" y="31707"/>
                    <a:pt x="48684" y="4084"/>
                    <a:pt x="69756" y="4084"/>
                  </a:cubicBezTo>
                  <a:cubicBezTo>
                    <a:pt x="79940" y="4084"/>
                    <a:pt x="86086" y="9470"/>
                    <a:pt x="86086" y="19893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0BFA6127-5B4E-65E3-5BEA-483935E970E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127786" y="4025246"/>
              <a:ext cx="54329" cy="80749"/>
            </a:xfrm>
            <a:custGeom>
              <a:avLst/>
              <a:gdLst>
                <a:gd name="connsiteX0" fmla="*/ 54532 w 54329"/>
                <a:gd name="connsiteY0" fmla="*/ 58706 h 80749"/>
                <a:gd name="connsiteX1" fmla="*/ 50353 w 54329"/>
                <a:gd name="connsiteY1" fmla="*/ 58706 h 80749"/>
                <a:gd name="connsiteX2" fmla="*/ 47157 w 54329"/>
                <a:gd name="connsiteY2" fmla="*/ 69773 h 80749"/>
                <a:gd name="connsiteX3" fmla="*/ 34989 w 54329"/>
                <a:gd name="connsiteY3" fmla="*/ 70502 h 80749"/>
                <a:gd name="connsiteX4" fmla="*/ 12372 w 54329"/>
                <a:gd name="connsiteY4" fmla="*/ 70502 h 80749"/>
                <a:gd name="connsiteX5" fmla="*/ 36955 w 54329"/>
                <a:gd name="connsiteY5" fmla="*/ 50072 h 80749"/>
                <a:gd name="connsiteX6" fmla="*/ 54532 w 54329"/>
                <a:gd name="connsiteY6" fmla="*/ 23804 h 80749"/>
                <a:gd name="connsiteX7" fmla="*/ 25770 w 54329"/>
                <a:gd name="connsiteY7" fmla="*/ 90 h 80749"/>
                <a:gd name="connsiteX8" fmla="*/ 203 w 54329"/>
                <a:gd name="connsiteY8" fmla="*/ 21858 h 80749"/>
                <a:gd name="connsiteX9" fmla="*/ 6718 w 54329"/>
                <a:gd name="connsiteY9" fmla="*/ 28668 h 80749"/>
                <a:gd name="connsiteX10" fmla="*/ 13232 w 54329"/>
                <a:gd name="connsiteY10" fmla="*/ 22223 h 80749"/>
                <a:gd name="connsiteX11" fmla="*/ 5980 w 54329"/>
                <a:gd name="connsiteY11" fmla="*/ 15778 h 80749"/>
                <a:gd name="connsiteX12" fmla="*/ 23926 w 54329"/>
                <a:gd name="connsiteY12" fmla="*/ 4468 h 80749"/>
                <a:gd name="connsiteX13" fmla="*/ 42609 w 54329"/>
                <a:gd name="connsiteY13" fmla="*/ 23804 h 80749"/>
                <a:gd name="connsiteX14" fmla="*/ 31055 w 54329"/>
                <a:gd name="connsiteY14" fmla="*/ 47153 h 80749"/>
                <a:gd name="connsiteX15" fmla="*/ 1432 w 54329"/>
                <a:gd name="connsiteY15" fmla="*/ 76096 h 80749"/>
                <a:gd name="connsiteX16" fmla="*/ 203 w 54329"/>
                <a:gd name="connsiteY16" fmla="*/ 80839 h 80749"/>
                <a:gd name="connsiteX17" fmla="*/ 50845 w 54329"/>
                <a:gd name="connsiteY17" fmla="*/ 80839 h 80749"/>
                <a:gd name="connsiteX18" fmla="*/ 54532 w 54329"/>
                <a:gd name="connsiteY18" fmla="*/ 58706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329" h="80749">
                  <a:moveTo>
                    <a:pt x="54532" y="58706"/>
                  </a:moveTo>
                  <a:lnTo>
                    <a:pt x="50353" y="58706"/>
                  </a:lnTo>
                  <a:cubicBezTo>
                    <a:pt x="49984" y="61381"/>
                    <a:pt x="48755" y="68557"/>
                    <a:pt x="47157" y="69773"/>
                  </a:cubicBezTo>
                  <a:cubicBezTo>
                    <a:pt x="46174" y="70502"/>
                    <a:pt x="36709" y="70502"/>
                    <a:pt x="34989" y="70502"/>
                  </a:cubicBezTo>
                  <a:lnTo>
                    <a:pt x="12372" y="70502"/>
                  </a:lnTo>
                  <a:cubicBezTo>
                    <a:pt x="25278" y="59193"/>
                    <a:pt x="29580" y="55787"/>
                    <a:pt x="36955" y="50072"/>
                  </a:cubicBezTo>
                  <a:cubicBezTo>
                    <a:pt x="46051" y="42897"/>
                    <a:pt x="54532" y="35357"/>
                    <a:pt x="54532" y="23804"/>
                  </a:cubicBezTo>
                  <a:cubicBezTo>
                    <a:pt x="54532" y="9089"/>
                    <a:pt x="41503" y="90"/>
                    <a:pt x="25770" y="90"/>
                  </a:cubicBezTo>
                  <a:cubicBezTo>
                    <a:pt x="10528" y="90"/>
                    <a:pt x="203" y="10670"/>
                    <a:pt x="203" y="21858"/>
                  </a:cubicBezTo>
                  <a:cubicBezTo>
                    <a:pt x="203" y="28060"/>
                    <a:pt x="5489" y="28668"/>
                    <a:pt x="6718" y="28668"/>
                  </a:cubicBezTo>
                  <a:cubicBezTo>
                    <a:pt x="9668" y="28668"/>
                    <a:pt x="13232" y="26601"/>
                    <a:pt x="13232" y="22223"/>
                  </a:cubicBezTo>
                  <a:cubicBezTo>
                    <a:pt x="13232" y="20034"/>
                    <a:pt x="12372" y="15778"/>
                    <a:pt x="5980" y="15778"/>
                  </a:cubicBezTo>
                  <a:cubicBezTo>
                    <a:pt x="9791" y="7143"/>
                    <a:pt x="18149" y="4468"/>
                    <a:pt x="23926" y="4468"/>
                  </a:cubicBezTo>
                  <a:cubicBezTo>
                    <a:pt x="36218" y="4468"/>
                    <a:pt x="42609" y="13953"/>
                    <a:pt x="42609" y="23804"/>
                  </a:cubicBezTo>
                  <a:cubicBezTo>
                    <a:pt x="42609" y="34384"/>
                    <a:pt x="34989" y="42775"/>
                    <a:pt x="31055" y="47153"/>
                  </a:cubicBezTo>
                  <a:lnTo>
                    <a:pt x="1432" y="76096"/>
                  </a:lnTo>
                  <a:cubicBezTo>
                    <a:pt x="203" y="77191"/>
                    <a:pt x="203" y="77434"/>
                    <a:pt x="203" y="80839"/>
                  </a:cubicBezTo>
                  <a:lnTo>
                    <a:pt x="50845" y="80839"/>
                  </a:lnTo>
                  <a:lnTo>
                    <a:pt x="54532" y="58706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C95CEABB-67AF-9082-8521-97A317D7E1B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207948" y="4003148"/>
              <a:ext cx="64619" cy="78699"/>
            </a:xfrm>
            <a:custGeom>
              <a:avLst/>
              <a:gdLst>
                <a:gd name="connsiteX0" fmla="*/ 59734 w 64619"/>
                <a:gd name="connsiteY0" fmla="*/ 11902 h 78699"/>
                <a:gd name="connsiteX1" fmla="*/ 51306 w 64619"/>
                <a:gd name="connsiteY1" fmla="*/ 19720 h 78699"/>
                <a:gd name="connsiteX2" fmla="*/ 56749 w 64619"/>
                <a:gd name="connsiteY2" fmla="*/ 24758 h 78699"/>
                <a:gd name="connsiteX3" fmla="*/ 64827 w 64619"/>
                <a:gd name="connsiteY3" fmla="*/ 15029 h 78699"/>
                <a:gd name="connsiteX4" fmla="*/ 43931 w 64619"/>
                <a:gd name="connsiteY4" fmla="*/ 88 h 78699"/>
                <a:gd name="connsiteX5" fmla="*/ 14255 w 64619"/>
                <a:gd name="connsiteY5" fmla="*/ 25453 h 78699"/>
                <a:gd name="connsiteX6" fmla="*/ 32342 w 64619"/>
                <a:gd name="connsiteY6" fmla="*/ 42652 h 78699"/>
                <a:gd name="connsiteX7" fmla="*/ 50603 w 64619"/>
                <a:gd name="connsiteY7" fmla="*/ 55855 h 78699"/>
                <a:gd name="connsiteX8" fmla="*/ 25493 w 64619"/>
                <a:gd name="connsiteY8" fmla="*/ 74966 h 78699"/>
                <a:gd name="connsiteX9" fmla="*/ 5475 w 64619"/>
                <a:gd name="connsiteY9" fmla="*/ 65758 h 78699"/>
                <a:gd name="connsiteX10" fmla="*/ 16538 w 64619"/>
                <a:gd name="connsiteY10" fmla="*/ 56550 h 78699"/>
                <a:gd name="connsiteX11" fmla="*/ 10041 w 64619"/>
                <a:gd name="connsiteY11" fmla="*/ 50470 h 78699"/>
                <a:gd name="connsiteX12" fmla="*/ 208 w 64619"/>
                <a:gd name="connsiteY12" fmla="*/ 61936 h 78699"/>
                <a:gd name="connsiteX13" fmla="*/ 25318 w 64619"/>
                <a:gd name="connsiteY13" fmla="*/ 78788 h 78699"/>
                <a:gd name="connsiteX14" fmla="*/ 60612 w 64619"/>
                <a:gd name="connsiteY14" fmla="*/ 49949 h 78699"/>
                <a:gd name="connsiteX15" fmla="*/ 55169 w 64619"/>
                <a:gd name="connsiteY15" fmla="*/ 37266 h 78699"/>
                <a:gd name="connsiteX16" fmla="*/ 37609 w 64619"/>
                <a:gd name="connsiteY16" fmla="*/ 29970 h 78699"/>
                <a:gd name="connsiteX17" fmla="*/ 24264 w 64619"/>
                <a:gd name="connsiteY17" fmla="*/ 19546 h 78699"/>
                <a:gd name="connsiteX18" fmla="*/ 43931 w 64619"/>
                <a:gd name="connsiteY18" fmla="*/ 3910 h 78699"/>
                <a:gd name="connsiteX19" fmla="*/ 59734 w 64619"/>
                <a:gd name="connsiteY19" fmla="*/ 11902 h 7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619" h="78699">
                  <a:moveTo>
                    <a:pt x="59734" y="11902"/>
                  </a:moveTo>
                  <a:cubicBezTo>
                    <a:pt x="54818" y="12076"/>
                    <a:pt x="51306" y="15898"/>
                    <a:pt x="51306" y="19720"/>
                  </a:cubicBezTo>
                  <a:cubicBezTo>
                    <a:pt x="51306" y="22152"/>
                    <a:pt x="52886" y="24758"/>
                    <a:pt x="56749" y="24758"/>
                  </a:cubicBezTo>
                  <a:cubicBezTo>
                    <a:pt x="60612" y="24758"/>
                    <a:pt x="64827" y="21804"/>
                    <a:pt x="64827" y="15029"/>
                  </a:cubicBezTo>
                  <a:cubicBezTo>
                    <a:pt x="64827" y="7211"/>
                    <a:pt x="57276" y="88"/>
                    <a:pt x="43931" y="88"/>
                  </a:cubicBezTo>
                  <a:cubicBezTo>
                    <a:pt x="20752" y="88"/>
                    <a:pt x="14255" y="17809"/>
                    <a:pt x="14255" y="25453"/>
                  </a:cubicBezTo>
                  <a:cubicBezTo>
                    <a:pt x="14255" y="39004"/>
                    <a:pt x="27249" y="41610"/>
                    <a:pt x="32342" y="42652"/>
                  </a:cubicBezTo>
                  <a:cubicBezTo>
                    <a:pt x="41473" y="44389"/>
                    <a:pt x="50603" y="46300"/>
                    <a:pt x="50603" y="55855"/>
                  </a:cubicBezTo>
                  <a:cubicBezTo>
                    <a:pt x="50603" y="60372"/>
                    <a:pt x="46565" y="74966"/>
                    <a:pt x="25493" y="74966"/>
                  </a:cubicBezTo>
                  <a:cubicBezTo>
                    <a:pt x="23035" y="74966"/>
                    <a:pt x="9514" y="74966"/>
                    <a:pt x="5475" y="65758"/>
                  </a:cubicBezTo>
                  <a:cubicBezTo>
                    <a:pt x="12148" y="66627"/>
                    <a:pt x="16538" y="61415"/>
                    <a:pt x="16538" y="56550"/>
                  </a:cubicBezTo>
                  <a:cubicBezTo>
                    <a:pt x="16538" y="52555"/>
                    <a:pt x="13728" y="50470"/>
                    <a:pt x="10041" y="50470"/>
                  </a:cubicBezTo>
                  <a:cubicBezTo>
                    <a:pt x="5475" y="50470"/>
                    <a:pt x="208" y="54118"/>
                    <a:pt x="208" y="61936"/>
                  </a:cubicBezTo>
                  <a:cubicBezTo>
                    <a:pt x="208" y="71839"/>
                    <a:pt x="10217" y="78788"/>
                    <a:pt x="25318" y="78788"/>
                  </a:cubicBezTo>
                  <a:cubicBezTo>
                    <a:pt x="53764" y="78788"/>
                    <a:pt x="60612" y="57766"/>
                    <a:pt x="60612" y="49949"/>
                  </a:cubicBezTo>
                  <a:cubicBezTo>
                    <a:pt x="60612" y="43694"/>
                    <a:pt x="57276" y="39351"/>
                    <a:pt x="55169" y="37266"/>
                  </a:cubicBezTo>
                  <a:cubicBezTo>
                    <a:pt x="50428" y="32402"/>
                    <a:pt x="45336" y="31533"/>
                    <a:pt x="37609" y="29970"/>
                  </a:cubicBezTo>
                  <a:cubicBezTo>
                    <a:pt x="31288" y="28580"/>
                    <a:pt x="24264" y="27364"/>
                    <a:pt x="24264" y="19546"/>
                  </a:cubicBezTo>
                  <a:cubicBezTo>
                    <a:pt x="24264" y="14508"/>
                    <a:pt x="28478" y="3910"/>
                    <a:pt x="43931" y="3910"/>
                  </a:cubicBezTo>
                  <a:cubicBezTo>
                    <a:pt x="48321" y="3910"/>
                    <a:pt x="57101" y="5126"/>
                    <a:pt x="59734" y="11902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20B7987E-FA66-3A92-C48A-9DF29BBE22E3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286289" y="4029989"/>
              <a:ext cx="41545" cy="77222"/>
            </a:xfrm>
            <a:custGeom>
              <a:avLst/>
              <a:gdLst>
                <a:gd name="connsiteX0" fmla="*/ 25287 w 41545"/>
                <a:gd name="connsiteY0" fmla="*/ 28060 h 77222"/>
                <a:gd name="connsiteX1" fmla="*/ 37825 w 41545"/>
                <a:gd name="connsiteY1" fmla="*/ 28060 h 77222"/>
                <a:gd name="connsiteX2" fmla="*/ 41758 w 41545"/>
                <a:gd name="connsiteY2" fmla="*/ 25385 h 77222"/>
                <a:gd name="connsiteX3" fmla="*/ 38071 w 41545"/>
                <a:gd name="connsiteY3" fmla="*/ 23682 h 77222"/>
                <a:gd name="connsiteX4" fmla="*/ 26394 w 41545"/>
                <a:gd name="connsiteY4" fmla="*/ 23682 h 77222"/>
                <a:gd name="connsiteX5" fmla="*/ 30941 w 41545"/>
                <a:gd name="connsiteY5" fmla="*/ 5684 h 77222"/>
                <a:gd name="connsiteX6" fmla="*/ 31310 w 41545"/>
                <a:gd name="connsiteY6" fmla="*/ 3981 h 77222"/>
                <a:gd name="connsiteX7" fmla="*/ 27131 w 41545"/>
                <a:gd name="connsiteY7" fmla="*/ 90 h 77222"/>
                <a:gd name="connsiteX8" fmla="*/ 21354 w 41545"/>
                <a:gd name="connsiteY8" fmla="*/ 5319 h 77222"/>
                <a:gd name="connsiteX9" fmla="*/ 16683 w 41545"/>
                <a:gd name="connsiteY9" fmla="*/ 23682 h 77222"/>
                <a:gd name="connsiteX10" fmla="*/ 4146 w 41545"/>
                <a:gd name="connsiteY10" fmla="*/ 23682 h 77222"/>
                <a:gd name="connsiteX11" fmla="*/ 212 w 41545"/>
                <a:gd name="connsiteY11" fmla="*/ 26358 h 77222"/>
                <a:gd name="connsiteX12" fmla="*/ 3900 w 41545"/>
                <a:gd name="connsiteY12" fmla="*/ 28060 h 77222"/>
                <a:gd name="connsiteX13" fmla="*/ 15577 w 41545"/>
                <a:gd name="connsiteY13" fmla="*/ 28060 h 77222"/>
                <a:gd name="connsiteX14" fmla="*/ 8325 w 41545"/>
                <a:gd name="connsiteY14" fmla="*/ 56760 h 77222"/>
                <a:gd name="connsiteX15" fmla="*/ 6481 w 41545"/>
                <a:gd name="connsiteY15" fmla="*/ 65759 h 77222"/>
                <a:gd name="connsiteX16" fmla="*/ 19633 w 41545"/>
                <a:gd name="connsiteY16" fmla="*/ 77312 h 77222"/>
                <a:gd name="connsiteX17" fmla="*/ 41021 w 41545"/>
                <a:gd name="connsiteY17" fmla="*/ 58706 h 77222"/>
                <a:gd name="connsiteX18" fmla="*/ 39054 w 41545"/>
                <a:gd name="connsiteY18" fmla="*/ 57125 h 77222"/>
                <a:gd name="connsiteX19" fmla="*/ 36473 w 41545"/>
                <a:gd name="connsiteY19" fmla="*/ 59436 h 77222"/>
                <a:gd name="connsiteX20" fmla="*/ 20002 w 41545"/>
                <a:gd name="connsiteY20" fmla="*/ 73907 h 77222"/>
                <a:gd name="connsiteX21" fmla="*/ 15700 w 41545"/>
                <a:gd name="connsiteY21" fmla="*/ 67948 h 77222"/>
                <a:gd name="connsiteX22" fmla="*/ 16437 w 41545"/>
                <a:gd name="connsiteY22" fmla="*/ 62962 h 77222"/>
                <a:gd name="connsiteX23" fmla="*/ 25287 w 41545"/>
                <a:gd name="connsiteY23" fmla="*/ 28060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287" y="28060"/>
                  </a:moveTo>
                  <a:lnTo>
                    <a:pt x="37825" y="28060"/>
                  </a:lnTo>
                  <a:cubicBezTo>
                    <a:pt x="40160" y="28060"/>
                    <a:pt x="41758" y="28060"/>
                    <a:pt x="41758" y="25385"/>
                  </a:cubicBezTo>
                  <a:cubicBezTo>
                    <a:pt x="41758" y="23682"/>
                    <a:pt x="40160" y="23682"/>
                    <a:pt x="38071" y="23682"/>
                  </a:cubicBezTo>
                  <a:lnTo>
                    <a:pt x="26394" y="23682"/>
                  </a:lnTo>
                  <a:lnTo>
                    <a:pt x="30941" y="5684"/>
                  </a:lnTo>
                  <a:cubicBezTo>
                    <a:pt x="31064" y="5076"/>
                    <a:pt x="31310" y="4468"/>
                    <a:pt x="31310" y="3981"/>
                  </a:cubicBezTo>
                  <a:cubicBezTo>
                    <a:pt x="31310" y="1792"/>
                    <a:pt x="29589" y="90"/>
                    <a:pt x="27131" y="90"/>
                  </a:cubicBezTo>
                  <a:cubicBezTo>
                    <a:pt x="24058" y="90"/>
                    <a:pt x="22214" y="2157"/>
                    <a:pt x="21354" y="5319"/>
                  </a:cubicBezTo>
                  <a:cubicBezTo>
                    <a:pt x="20494" y="8359"/>
                    <a:pt x="22091" y="2522"/>
                    <a:pt x="16683" y="23682"/>
                  </a:cubicBezTo>
                  <a:lnTo>
                    <a:pt x="4146" y="23682"/>
                  </a:lnTo>
                  <a:cubicBezTo>
                    <a:pt x="1810" y="23682"/>
                    <a:pt x="212" y="23682"/>
                    <a:pt x="212" y="26358"/>
                  </a:cubicBezTo>
                  <a:cubicBezTo>
                    <a:pt x="212" y="28060"/>
                    <a:pt x="1687" y="28060"/>
                    <a:pt x="3900" y="28060"/>
                  </a:cubicBezTo>
                  <a:lnTo>
                    <a:pt x="15577" y="28060"/>
                  </a:lnTo>
                  <a:lnTo>
                    <a:pt x="8325" y="56760"/>
                  </a:lnTo>
                  <a:cubicBezTo>
                    <a:pt x="7587" y="59801"/>
                    <a:pt x="6481" y="64179"/>
                    <a:pt x="6481" y="65759"/>
                  </a:cubicBezTo>
                  <a:cubicBezTo>
                    <a:pt x="6481" y="72934"/>
                    <a:pt x="12627" y="77312"/>
                    <a:pt x="19633" y="77312"/>
                  </a:cubicBezTo>
                  <a:cubicBezTo>
                    <a:pt x="33277" y="77312"/>
                    <a:pt x="41021" y="60287"/>
                    <a:pt x="41021" y="58706"/>
                  </a:cubicBezTo>
                  <a:cubicBezTo>
                    <a:pt x="41021" y="57125"/>
                    <a:pt x="39423" y="57125"/>
                    <a:pt x="39054" y="57125"/>
                  </a:cubicBezTo>
                  <a:cubicBezTo>
                    <a:pt x="37579" y="57125"/>
                    <a:pt x="37456" y="57368"/>
                    <a:pt x="36473" y="59436"/>
                  </a:cubicBezTo>
                  <a:cubicBezTo>
                    <a:pt x="33031" y="67097"/>
                    <a:pt x="26762" y="73907"/>
                    <a:pt x="20002" y="73907"/>
                  </a:cubicBezTo>
                  <a:cubicBezTo>
                    <a:pt x="17421" y="73907"/>
                    <a:pt x="15700" y="72326"/>
                    <a:pt x="15700" y="67948"/>
                  </a:cubicBezTo>
                  <a:cubicBezTo>
                    <a:pt x="15700" y="66732"/>
                    <a:pt x="16191" y="64179"/>
                    <a:pt x="16437" y="62962"/>
                  </a:cubicBezTo>
                  <a:lnTo>
                    <a:pt x="25287" y="2806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46A0383A-AA11-F984-A15E-1E7D1C7A1B2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347447" y="4072553"/>
              <a:ext cx="83091" cy="5958"/>
            </a:xfrm>
            <a:custGeom>
              <a:avLst/>
              <a:gdLst>
                <a:gd name="connsiteX0" fmla="*/ 78390 w 83091"/>
                <a:gd name="connsiteY0" fmla="*/ 6049 h 5958"/>
                <a:gd name="connsiteX1" fmla="*/ 83307 w 83091"/>
                <a:gd name="connsiteY1" fmla="*/ 3130 h 5958"/>
                <a:gd name="connsiteX2" fmla="*/ 78390 w 83091"/>
                <a:gd name="connsiteY2" fmla="*/ 90 h 5958"/>
                <a:gd name="connsiteX3" fmla="*/ 5132 w 83091"/>
                <a:gd name="connsiteY3" fmla="*/ 90 h 5958"/>
                <a:gd name="connsiteX4" fmla="*/ 215 w 83091"/>
                <a:gd name="connsiteY4" fmla="*/ 3008 h 5958"/>
                <a:gd name="connsiteX5" fmla="*/ 5132 w 83091"/>
                <a:gd name="connsiteY5" fmla="*/ 6049 h 5958"/>
                <a:gd name="connsiteX6" fmla="*/ 78390 w 83091"/>
                <a:gd name="connsiteY6" fmla="*/ 6049 h 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091" h="5958">
                  <a:moveTo>
                    <a:pt x="78390" y="6049"/>
                  </a:moveTo>
                  <a:cubicBezTo>
                    <a:pt x="80357" y="6049"/>
                    <a:pt x="83307" y="6049"/>
                    <a:pt x="83307" y="3130"/>
                  </a:cubicBezTo>
                  <a:cubicBezTo>
                    <a:pt x="83307" y="90"/>
                    <a:pt x="80480" y="90"/>
                    <a:pt x="78390" y="90"/>
                  </a:cubicBezTo>
                  <a:lnTo>
                    <a:pt x="5132" y="90"/>
                  </a:lnTo>
                  <a:cubicBezTo>
                    <a:pt x="3165" y="90"/>
                    <a:pt x="215" y="90"/>
                    <a:pt x="215" y="3008"/>
                  </a:cubicBezTo>
                  <a:cubicBezTo>
                    <a:pt x="215" y="6049"/>
                    <a:pt x="3042" y="6049"/>
                    <a:pt x="5132" y="6049"/>
                  </a:cubicBezTo>
                  <a:lnTo>
                    <a:pt x="78390" y="604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CEC9B62D-7178-A314-C723-506D674440E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457317" y="4025246"/>
              <a:ext cx="44741" cy="80749"/>
            </a:xfrm>
            <a:custGeom>
              <a:avLst/>
              <a:gdLst>
                <a:gd name="connsiteX0" fmla="*/ 28001 w 44741"/>
                <a:gd name="connsiteY0" fmla="*/ 3495 h 80749"/>
                <a:gd name="connsiteX1" fmla="*/ 24313 w 44741"/>
                <a:gd name="connsiteY1" fmla="*/ 90 h 80749"/>
                <a:gd name="connsiteX2" fmla="*/ 221 w 44741"/>
                <a:gd name="connsiteY2" fmla="*/ 7873 h 80749"/>
                <a:gd name="connsiteX3" fmla="*/ 221 w 44741"/>
                <a:gd name="connsiteY3" fmla="*/ 12251 h 80749"/>
                <a:gd name="connsiteX4" fmla="*/ 18044 w 44741"/>
                <a:gd name="connsiteY4" fmla="*/ 8846 h 80749"/>
                <a:gd name="connsiteX5" fmla="*/ 18044 w 44741"/>
                <a:gd name="connsiteY5" fmla="*/ 70867 h 80749"/>
                <a:gd name="connsiteX6" fmla="*/ 5753 w 44741"/>
                <a:gd name="connsiteY6" fmla="*/ 76461 h 80749"/>
                <a:gd name="connsiteX7" fmla="*/ 1082 w 44741"/>
                <a:gd name="connsiteY7" fmla="*/ 76461 h 80749"/>
                <a:gd name="connsiteX8" fmla="*/ 1082 w 44741"/>
                <a:gd name="connsiteY8" fmla="*/ 80839 h 80749"/>
                <a:gd name="connsiteX9" fmla="*/ 22961 w 44741"/>
                <a:gd name="connsiteY9" fmla="*/ 80353 h 80749"/>
                <a:gd name="connsiteX10" fmla="*/ 44963 w 44741"/>
                <a:gd name="connsiteY10" fmla="*/ 80839 h 80749"/>
                <a:gd name="connsiteX11" fmla="*/ 44963 w 44741"/>
                <a:gd name="connsiteY11" fmla="*/ 76461 h 80749"/>
                <a:gd name="connsiteX12" fmla="*/ 40292 w 44741"/>
                <a:gd name="connsiteY12" fmla="*/ 76461 h 80749"/>
                <a:gd name="connsiteX13" fmla="*/ 28001 w 44741"/>
                <a:gd name="connsiteY13" fmla="*/ 70867 h 80749"/>
                <a:gd name="connsiteX14" fmla="*/ 28001 w 44741"/>
                <a:gd name="connsiteY14" fmla="*/ 3495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41" h="80749">
                  <a:moveTo>
                    <a:pt x="28001" y="3495"/>
                  </a:moveTo>
                  <a:cubicBezTo>
                    <a:pt x="28001" y="211"/>
                    <a:pt x="27755" y="90"/>
                    <a:pt x="24313" y="90"/>
                  </a:cubicBezTo>
                  <a:cubicBezTo>
                    <a:pt x="16447" y="7751"/>
                    <a:pt x="5261" y="7873"/>
                    <a:pt x="221" y="7873"/>
                  </a:cubicBezTo>
                  <a:lnTo>
                    <a:pt x="221" y="12251"/>
                  </a:lnTo>
                  <a:cubicBezTo>
                    <a:pt x="3172" y="12251"/>
                    <a:pt x="11284" y="12251"/>
                    <a:pt x="18044" y="8846"/>
                  </a:cubicBezTo>
                  <a:lnTo>
                    <a:pt x="18044" y="70867"/>
                  </a:lnTo>
                  <a:cubicBezTo>
                    <a:pt x="18044" y="74880"/>
                    <a:pt x="18044" y="76461"/>
                    <a:pt x="5753" y="76461"/>
                  </a:cubicBezTo>
                  <a:lnTo>
                    <a:pt x="1082" y="76461"/>
                  </a:lnTo>
                  <a:lnTo>
                    <a:pt x="1082" y="80839"/>
                  </a:lnTo>
                  <a:cubicBezTo>
                    <a:pt x="3294" y="80718"/>
                    <a:pt x="18413" y="80353"/>
                    <a:pt x="22961" y="80353"/>
                  </a:cubicBezTo>
                  <a:cubicBezTo>
                    <a:pt x="26772" y="80353"/>
                    <a:pt x="42259" y="80718"/>
                    <a:pt x="44963" y="80839"/>
                  </a:cubicBezTo>
                  <a:lnTo>
                    <a:pt x="44963" y="76461"/>
                  </a:lnTo>
                  <a:lnTo>
                    <a:pt x="40292" y="76461"/>
                  </a:lnTo>
                  <a:cubicBezTo>
                    <a:pt x="28001" y="76461"/>
                    <a:pt x="28001" y="74880"/>
                    <a:pt x="28001" y="70867"/>
                  </a:cubicBezTo>
                  <a:lnTo>
                    <a:pt x="28001" y="3495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D1E87672-DF62-062A-81EE-CD24E7AB1E6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6576288" y="4033029"/>
              <a:ext cx="107288" cy="6949"/>
            </a:xfrm>
            <a:custGeom>
              <a:avLst/>
              <a:gdLst>
                <a:gd name="connsiteX0" fmla="*/ 101371 w 107288"/>
                <a:gd name="connsiteY0" fmla="*/ 7037 h 6949"/>
                <a:gd name="connsiteX1" fmla="*/ 107517 w 107288"/>
                <a:gd name="connsiteY1" fmla="*/ 3563 h 6949"/>
                <a:gd name="connsiteX2" fmla="*/ 101371 w 107288"/>
                <a:gd name="connsiteY2" fmla="*/ 88 h 6949"/>
                <a:gd name="connsiteX3" fmla="*/ 6374 w 107288"/>
                <a:gd name="connsiteY3" fmla="*/ 88 h 6949"/>
                <a:gd name="connsiteX4" fmla="*/ 228 w 107288"/>
                <a:gd name="connsiteY4" fmla="*/ 3563 h 6949"/>
                <a:gd name="connsiteX5" fmla="*/ 6374 w 107288"/>
                <a:gd name="connsiteY5" fmla="*/ 7037 h 6949"/>
                <a:gd name="connsiteX6" fmla="*/ 101371 w 107288"/>
                <a:gd name="connsiteY6" fmla="*/ 7037 h 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288" h="6949">
                  <a:moveTo>
                    <a:pt x="101371" y="7037"/>
                  </a:moveTo>
                  <a:cubicBezTo>
                    <a:pt x="104356" y="7037"/>
                    <a:pt x="107517" y="7037"/>
                    <a:pt x="107517" y="3563"/>
                  </a:cubicBezTo>
                  <a:cubicBezTo>
                    <a:pt x="107517" y="88"/>
                    <a:pt x="104356" y="88"/>
                    <a:pt x="101371" y="88"/>
                  </a:cubicBezTo>
                  <a:lnTo>
                    <a:pt x="6374" y="88"/>
                  </a:lnTo>
                  <a:cubicBezTo>
                    <a:pt x="3389" y="88"/>
                    <a:pt x="228" y="88"/>
                    <a:pt x="228" y="3563"/>
                  </a:cubicBezTo>
                  <a:cubicBezTo>
                    <a:pt x="228" y="7037"/>
                    <a:pt x="3389" y="7037"/>
                    <a:pt x="6374" y="7037"/>
                  </a:cubicBezTo>
                  <a:lnTo>
                    <a:pt x="101371" y="7037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60FBB05E-ADB7-9094-D5DC-7E05226E76C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6754693" y="3949639"/>
              <a:ext cx="40738" cy="173729"/>
            </a:xfrm>
            <a:custGeom>
              <a:avLst/>
              <a:gdLst>
                <a:gd name="connsiteX0" fmla="*/ 40976 w 40738"/>
                <a:gd name="connsiteY0" fmla="*/ 172080 h 173729"/>
                <a:gd name="connsiteX1" fmla="*/ 37991 w 40738"/>
                <a:gd name="connsiteY1" fmla="*/ 168258 h 173729"/>
                <a:gd name="connsiteX2" fmla="*/ 10423 w 40738"/>
                <a:gd name="connsiteY2" fmla="*/ 86953 h 173729"/>
                <a:gd name="connsiteX3" fmla="*/ 38694 w 40738"/>
                <a:gd name="connsiteY3" fmla="*/ 4779 h 173729"/>
                <a:gd name="connsiteX4" fmla="*/ 40976 w 40738"/>
                <a:gd name="connsiteY4" fmla="*/ 1826 h 173729"/>
                <a:gd name="connsiteX5" fmla="*/ 39220 w 40738"/>
                <a:gd name="connsiteY5" fmla="*/ 88 h 173729"/>
                <a:gd name="connsiteX6" fmla="*/ 11301 w 40738"/>
                <a:gd name="connsiteY6" fmla="*/ 33966 h 173729"/>
                <a:gd name="connsiteX7" fmla="*/ 238 w 40738"/>
                <a:gd name="connsiteY7" fmla="*/ 86953 h 173729"/>
                <a:gd name="connsiteX8" fmla="*/ 11827 w 40738"/>
                <a:gd name="connsiteY8" fmla="*/ 141157 h 173729"/>
                <a:gd name="connsiteX9" fmla="*/ 39220 w 40738"/>
                <a:gd name="connsiteY9" fmla="*/ 173818 h 173729"/>
                <a:gd name="connsiteX10" fmla="*/ 40976 w 40738"/>
                <a:gd name="connsiteY10" fmla="*/ 172080 h 17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38" h="173729">
                  <a:moveTo>
                    <a:pt x="40976" y="172080"/>
                  </a:moveTo>
                  <a:cubicBezTo>
                    <a:pt x="40976" y="171559"/>
                    <a:pt x="40976" y="171212"/>
                    <a:pt x="37991" y="168258"/>
                  </a:cubicBezTo>
                  <a:cubicBezTo>
                    <a:pt x="16042" y="146368"/>
                    <a:pt x="10423" y="113534"/>
                    <a:pt x="10423" y="86953"/>
                  </a:cubicBezTo>
                  <a:cubicBezTo>
                    <a:pt x="10423" y="56724"/>
                    <a:pt x="17095" y="26495"/>
                    <a:pt x="38694" y="4779"/>
                  </a:cubicBezTo>
                  <a:cubicBezTo>
                    <a:pt x="40976" y="2694"/>
                    <a:pt x="40976" y="2347"/>
                    <a:pt x="40976" y="1826"/>
                  </a:cubicBezTo>
                  <a:cubicBezTo>
                    <a:pt x="40976" y="610"/>
                    <a:pt x="40274" y="88"/>
                    <a:pt x="39220" y="88"/>
                  </a:cubicBezTo>
                  <a:cubicBezTo>
                    <a:pt x="37464" y="88"/>
                    <a:pt x="21661" y="11902"/>
                    <a:pt x="11301" y="33966"/>
                  </a:cubicBezTo>
                  <a:cubicBezTo>
                    <a:pt x="2345" y="53076"/>
                    <a:pt x="238" y="72360"/>
                    <a:pt x="238" y="86953"/>
                  </a:cubicBezTo>
                  <a:cubicBezTo>
                    <a:pt x="238" y="100504"/>
                    <a:pt x="2170" y="121525"/>
                    <a:pt x="11827" y="141157"/>
                  </a:cubicBezTo>
                  <a:cubicBezTo>
                    <a:pt x="22363" y="162525"/>
                    <a:pt x="37464" y="173818"/>
                    <a:pt x="39220" y="173818"/>
                  </a:cubicBezTo>
                  <a:cubicBezTo>
                    <a:pt x="40274" y="173818"/>
                    <a:pt x="40976" y="173296"/>
                    <a:pt x="40976" y="172080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7E15E7B2-2CFC-D640-9041-7164FD34B42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6821224" y="3964233"/>
              <a:ext cx="57946" cy="115703"/>
            </a:xfrm>
            <a:custGeom>
              <a:avLst/>
              <a:gdLst>
                <a:gd name="connsiteX0" fmla="*/ 36239 w 57946"/>
                <a:gd name="connsiteY0" fmla="*/ 4605 h 115703"/>
                <a:gd name="connsiteX1" fmla="*/ 32200 w 57946"/>
                <a:gd name="connsiteY1" fmla="*/ 88 h 115703"/>
                <a:gd name="connsiteX2" fmla="*/ 242 w 57946"/>
                <a:gd name="connsiteY2" fmla="*/ 11207 h 115703"/>
                <a:gd name="connsiteX3" fmla="*/ 242 w 57946"/>
                <a:gd name="connsiteY3" fmla="*/ 16593 h 115703"/>
                <a:gd name="connsiteX4" fmla="*/ 23245 w 57946"/>
                <a:gd name="connsiteY4" fmla="*/ 12076 h 115703"/>
                <a:gd name="connsiteX5" fmla="*/ 23245 w 57946"/>
                <a:gd name="connsiteY5" fmla="*/ 102067 h 115703"/>
                <a:gd name="connsiteX6" fmla="*/ 6915 w 57946"/>
                <a:gd name="connsiteY6" fmla="*/ 110406 h 115703"/>
                <a:gd name="connsiteX7" fmla="*/ 1296 w 57946"/>
                <a:gd name="connsiteY7" fmla="*/ 110406 h 115703"/>
                <a:gd name="connsiteX8" fmla="*/ 1296 w 57946"/>
                <a:gd name="connsiteY8" fmla="*/ 115792 h 115703"/>
                <a:gd name="connsiteX9" fmla="*/ 29742 w 57946"/>
                <a:gd name="connsiteY9" fmla="*/ 115271 h 115703"/>
                <a:gd name="connsiteX10" fmla="*/ 58189 w 57946"/>
                <a:gd name="connsiteY10" fmla="*/ 115792 h 115703"/>
                <a:gd name="connsiteX11" fmla="*/ 58189 w 57946"/>
                <a:gd name="connsiteY11" fmla="*/ 110406 h 115703"/>
                <a:gd name="connsiteX12" fmla="*/ 52569 w 57946"/>
                <a:gd name="connsiteY12" fmla="*/ 110406 h 115703"/>
                <a:gd name="connsiteX13" fmla="*/ 36239 w 57946"/>
                <a:gd name="connsiteY13" fmla="*/ 102067 h 115703"/>
                <a:gd name="connsiteX14" fmla="*/ 36239 w 57946"/>
                <a:gd name="connsiteY14" fmla="*/ 4605 h 11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946" h="115703">
                  <a:moveTo>
                    <a:pt x="36239" y="4605"/>
                  </a:moveTo>
                  <a:cubicBezTo>
                    <a:pt x="36239" y="436"/>
                    <a:pt x="36239" y="88"/>
                    <a:pt x="32200" y="88"/>
                  </a:cubicBezTo>
                  <a:cubicBezTo>
                    <a:pt x="21313" y="11207"/>
                    <a:pt x="5861" y="11207"/>
                    <a:pt x="242" y="11207"/>
                  </a:cubicBezTo>
                  <a:lnTo>
                    <a:pt x="242" y="16593"/>
                  </a:lnTo>
                  <a:cubicBezTo>
                    <a:pt x="3754" y="16593"/>
                    <a:pt x="14114" y="16593"/>
                    <a:pt x="23245" y="12076"/>
                  </a:cubicBezTo>
                  <a:lnTo>
                    <a:pt x="23245" y="102067"/>
                  </a:lnTo>
                  <a:cubicBezTo>
                    <a:pt x="23245" y="108322"/>
                    <a:pt x="22718" y="110406"/>
                    <a:pt x="6915" y="110406"/>
                  </a:cubicBezTo>
                  <a:lnTo>
                    <a:pt x="1296" y="110406"/>
                  </a:lnTo>
                  <a:lnTo>
                    <a:pt x="1296" y="115792"/>
                  </a:lnTo>
                  <a:cubicBezTo>
                    <a:pt x="7441" y="115271"/>
                    <a:pt x="22718" y="115271"/>
                    <a:pt x="29742" y="115271"/>
                  </a:cubicBezTo>
                  <a:cubicBezTo>
                    <a:pt x="36766" y="115271"/>
                    <a:pt x="52043" y="115271"/>
                    <a:pt x="58189" y="115792"/>
                  </a:cubicBezTo>
                  <a:lnTo>
                    <a:pt x="58189" y="110406"/>
                  </a:lnTo>
                  <a:lnTo>
                    <a:pt x="52569" y="110406"/>
                  </a:lnTo>
                  <a:cubicBezTo>
                    <a:pt x="36766" y="110406"/>
                    <a:pt x="36239" y="108495"/>
                    <a:pt x="36239" y="102067"/>
                  </a:cubicBezTo>
                  <a:lnTo>
                    <a:pt x="36239" y="4605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4798E580-1D1D-858E-D596-ADF8F59CF87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6946989" y="4033029"/>
              <a:ext cx="107288" cy="6949"/>
            </a:xfrm>
            <a:custGeom>
              <a:avLst/>
              <a:gdLst>
                <a:gd name="connsiteX0" fmla="*/ 101392 w 107288"/>
                <a:gd name="connsiteY0" fmla="*/ 7037 h 6949"/>
                <a:gd name="connsiteX1" fmla="*/ 107538 w 107288"/>
                <a:gd name="connsiteY1" fmla="*/ 3563 h 6949"/>
                <a:gd name="connsiteX2" fmla="*/ 101392 w 107288"/>
                <a:gd name="connsiteY2" fmla="*/ 88 h 6949"/>
                <a:gd name="connsiteX3" fmla="*/ 6395 w 107288"/>
                <a:gd name="connsiteY3" fmla="*/ 88 h 6949"/>
                <a:gd name="connsiteX4" fmla="*/ 249 w 107288"/>
                <a:gd name="connsiteY4" fmla="*/ 3563 h 6949"/>
                <a:gd name="connsiteX5" fmla="*/ 6395 w 107288"/>
                <a:gd name="connsiteY5" fmla="*/ 7037 h 6949"/>
                <a:gd name="connsiteX6" fmla="*/ 101392 w 107288"/>
                <a:gd name="connsiteY6" fmla="*/ 7037 h 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288" h="6949">
                  <a:moveTo>
                    <a:pt x="101392" y="7037"/>
                  </a:moveTo>
                  <a:cubicBezTo>
                    <a:pt x="104377" y="7037"/>
                    <a:pt x="107538" y="7037"/>
                    <a:pt x="107538" y="3563"/>
                  </a:cubicBezTo>
                  <a:cubicBezTo>
                    <a:pt x="107538" y="88"/>
                    <a:pt x="104377" y="88"/>
                    <a:pt x="101392" y="88"/>
                  </a:cubicBezTo>
                  <a:lnTo>
                    <a:pt x="6395" y="88"/>
                  </a:lnTo>
                  <a:cubicBezTo>
                    <a:pt x="3410" y="88"/>
                    <a:pt x="249" y="88"/>
                    <a:pt x="249" y="3563"/>
                  </a:cubicBezTo>
                  <a:cubicBezTo>
                    <a:pt x="249" y="7037"/>
                    <a:pt x="3410" y="7037"/>
                    <a:pt x="6395" y="7037"/>
                  </a:cubicBezTo>
                  <a:lnTo>
                    <a:pt x="101392" y="7037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形状 35">
              <a:extLst>
                <a:ext uri="{FF2B5EF4-FFF2-40B4-BE49-F238E27FC236}">
                  <a16:creationId xmlns:a16="http://schemas.microsoft.com/office/drawing/2014/main" id="{5CAFD1E8-865A-D46A-C683-B7226162D49B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113255" y="3957284"/>
              <a:ext cx="95721" cy="156356"/>
            </a:xfrm>
            <a:custGeom>
              <a:avLst/>
              <a:gdLst>
                <a:gd name="connsiteX0" fmla="*/ 95981 w 95721"/>
                <a:gd name="connsiteY0" fmla="*/ 23889 h 156356"/>
                <a:gd name="connsiteX1" fmla="*/ 72100 w 95721"/>
                <a:gd name="connsiteY1" fmla="*/ 88 h 156356"/>
                <a:gd name="connsiteX2" fmla="*/ 50853 w 95721"/>
                <a:gd name="connsiteY2" fmla="*/ 7385 h 156356"/>
                <a:gd name="connsiteX3" fmla="*/ 28201 w 95721"/>
                <a:gd name="connsiteY3" fmla="*/ 44389 h 156356"/>
                <a:gd name="connsiteX4" fmla="*/ 281 w 95721"/>
                <a:gd name="connsiteY4" fmla="*/ 154707 h 156356"/>
                <a:gd name="connsiteX5" fmla="*/ 2389 w 95721"/>
                <a:gd name="connsiteY5" fmla="*/ 156445 h 156356"/>
                <a:gd name="connsiteX6" fmla="*/ 4496 w 95721"/>
                <a:gd name="connsiteY6" fmla="*/ 155576 h 156356"/>
                <a:gd name="connsiteX7" fmla="*/ 16787 w 95721"/>
                <a:gd name="connsiteY7" fmla="*/ 107627 h 156356"/>
                <a:gd name="connsiteX8" fmla="*/ 40668 w 95721"/>
                <a:gd name="connsiteY8" fmla="*/ 124478 h 156356"/>
                <a:gd name="connsiteX9" fmla="*/ 74558 w 95721"/>
                <a:gd name="connsiteY9" fmla="*/ 110754 h 156356"/>
                <a:gd name="connsiteX10" fmla="*/ 88606 w 95721"/>
                <a:gd name="connsiteY10" fmla="*/ 78788 h 156356"/>
                <a:gd name="connsiteX11" fmla="*/ 75787 w 95721"/>
                <a:gd name="connsiteY11" fmla="*/ 52902 h 156356"/>
                <a:gd name="connsiteX12" fmla="*/ 95981 w 95721"/>
                <a:gd name="connsiteY12" fmla="*/ 23889 h 156356"/>
                <a:gd name="connsiteX13" fmla="*/ 64374 w 95721"/>
                <a:gd name="connsiteY13" fmla="*/ 52728 h 156356"/>
                <a:gd name="connsiteX14" fmla="*/ 55945 w 95721"/>
                <a:gd name="connsiteY14" fmla="*/ 53944 h 156356"/>
                <a:gd name="connsiteX15" fmla="*/ 48219 w 95721"/>
                <a:gd name="connsiteY15" fmla="*/ 53249 h 156356"/>
                <a:gd name="connsiteX16" fmla="*/ 56823 w 95721"/>
                <a:gd name="connsiteY16" fmla="*/ 51860 h 156356"/>
                <a:gd name="connsiteX17" fmla="*/ 64374 w 95721"/>
                <a:gd name="connsiteY17" fmla="*/ 52728 h 156356"/>
                <a:gd name="connsiteX18" fmla="*/ 86148 w 95721"/>
                <a:gd name="connsiteY18" fmla="*/ 19893 h 156356"/>
                <a:gd name="connsiteX19" fmla="*/ 70344 w 95721"/>
                <a:gd name="connsiteY19" fmla="*/ 49949 h 156356"/>
                <a:gd name="connsiteX20" fmla="*/ 56823 w 95721"/>
                <a:gd name="connsiteY20" fmla="*/ 47864 h 156356"/>
                <a:gd name="connsiteX21" fmla="*/ 43302 w 95721"/>
                <a:gd name="connsiteY21" fmla="*/ 53423 h 156356"/>
                <a:gd name="connsiteX22" fmla="*/ 55418 w 95721"/>
                <a:gd name="connsiteY22" fmla="*/ 57766 h 156356"/>
                <a:gd name="connsiteX23" fmla="*/ 69817 w 95721"/>
                <a:gd name="connsiteY23" fmla="*/ 55508 h 156356"/>
                <a:gd name="connsiteX24" fmla="*/ 77543 w 95721"/>
                <a:gd name="connsiteY24" fmla="*/ 75139 h 156356"/>
                <a:gd name="connsiteX25" fmla="*/ 68764 w 95721"/>
                <a:gd name="connsiteY25" fmla="*/ 105021 h 156356"/>
                <a:gd name="connsiteX26" fmla="*/ 40142 w 95721"/>
                <a:gd name="connsiteY26" fmla="*/ 120656 h 156356"/>
                <a:gd name="connsiteX27" fmla="*/ 20124 w 95721"/>
                <a:gd name="connsiteY27" fmla="*/ 98245 h 156356"/>
                <a:gd name="connsiteX28" fmla="*/ 21002 w 95721"/>
                <a:gd name="connsiteY28" fmla="*/ 90601 h 156356"/>
                <a:gd name="connsiteX29" fmla="*/ 32240 w 95721"/>
                <a:gd name="connsiteY29" fmla="*/ 46648 h 156356"/>
                <a:gd name="connsiteX30" fmla="*/ 69817 w 95721"/>
                <a:gd name="connsiteY30" fmla="*/ 4084 h 156356"/>
                <a:gd name="connsiteX31" fmla="*/ 86148 w 95721"/>
                <a:gd name="connsiteY31" fmla="*/ 19893 h 15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721" h="156356">
                  <a:moveTo>
                    <a:pt x="95981" y="23889"/>
                  </a:moveTo>
                  <a:cubicBezTo>
                    <a:pt x="95981" y="10860"/>
                    <a:pt x="86323" y="88"/>
                    <a:pt x="72100" y="88"/>
                  </a:cubicBezTo>
                  <a:cubicBezTo>
                    <a:pt x="61915" y="88"/>
                    <a:pt x="56999" y="2868"/>
                    <a:pt x="50853" y="7385"/>
                  </a:cubicBezTo>
                  <a:cubicBezTo>
                    <a:pt x="41195" y="14334"/>
                    <a:pt x="31537" y="31186"/>
                    <a:pt x="28201" y="44389"/>
                  </a:cubicBezTo>
                  <a:lnTo>
                    <a:pt x="281" y="154707"/>
                  </a:lnTo>
                  <a:cubicBezTo>
                    <a:pt x="106" y="155402"/>
                    <a:pt x="984" y="156445"/>
                    <a:pt x="2389" y="156445"/>
                  </a:cubicBezTo>
                  <a:cubicBezTo>
                    <a:pt x="3793" y="156445"/>
                    <a:pt x="4320" y="156097"/>
                    <a:pt x="4496" y="155576"/>
                  </a:cubicBezTo>
                  <a:lnTo>
                    <a:pt x="16787" y="107627"/>
                  </a:lnTo>
                  <a:cubicBezTo>
                    <a:pt x="20124" y="118051"/>
                    <a:pt x="27850" y="124478"/>
                    <a:pt x="40668" y="124478"/>
                  </a:cubicBezTo>
                  <a:cubicBezTo>
                    <a:pt x="53487" y="124478"/>
                    <a:pt x="66657" y="118398"/>
                    <a:pt x="74558" y="110754"/>
                  </a:cubicBezTo>
                  <a:cubicBezTo>
                    <a:pt x="82987" y="102762"/>
                    <a:pt x="88606" y="91644"/>
                    <a:pt x="88606" y="78788"/>
                  </a:cubicBezTo>
                  <a:cubicBezTo>
                    <a:pt x="88606" y="66279"/>
                    <a:pt x="82109" y="57245"/>
                    <a:pt x="75787" y="52902"/>
                  </a:cubicBezTo>
                  <a:cubicBezTo>
                    <a:pt x="85972" y="47169"/>
                    <a:pt x="95981" y="36398"/>
                    <a:pt x="95981" y="23889"/>
                  </a:cubicBezTo>
                  <a:close/>
                  <a:moveTo>
                    <a:pt x="64374" y="52728"/>
                  </a:moveTo>
                  <a:cubicBezTo>
                    <a:pt x="62091" y="53597"/>
                    <a:pt x="60159" y="53944"/>
                    <a:pt x="55945" y="53944"/>
                  </a:cubicBezTo>
                  <a:cubicBezTo>
                    <a:pt x="53487" y="53944"/>
                    <a:pt x="49975" y="54118"/>
                    <a:pt x="48219" y="53249"/>
                  </a:cubicBezTo>
                  <a:cubicBezTo>
                    <a:pt x="48570" y="51512"/>
                    <a:pt x="54892" y="51860"/>
                    <a:pt x="56823" y="51860"/>
                  </a:cubicBezTo>
                  <a:cubicBezTo>
                    <a:pt x="60511" y="51860"/>
                    <a:pt x="62091" y="51860"/>
                    <a:pt x="64374" y="52728"/>
                  </a:cubicBezTo>
                  <a:close/>
                  <a:moveTo>
                    <a:pt x="86148" y="19893"/>
                  </a:moveTo>
                  <a:cubicBezTo>
                    <a:pt x="86148" y="32055"/>
                    <a:pt x="79475" y="44563"/>
                    <a:pt x="70344" y="49949"/>
                  </a:cubicBezTo>
                  <a:cubicBezTo>
                    <a:pt x="65603" y="48211"/>
                    <a:pt x="62091" y="47864"/>
                    <a:pt x="56823" y="47864"/>
                  </a:cubicBezTo>
                  <a:cubicBezTo>
                    <a:pt x="53136" y="47864"/>
                    <a:pt x="43302" y="47690"/>
                    <a:pt x="43302" y="53423"/>
                  </a:cubicBezTo>
                  <a:cubicBezTo>
                    <a:pt x="43127" y="58288"/>
                    <a:pt x="52258" y="57766"/>
                    <a:pt x="55418" y="57766"/>
                  </a:cubicBezTo>
                  <a:cubicBezTo>
                    <a:pt x="61915" y="57766"/>
                    <a:pt x="64549" y="57593"/>
                    <a:pt x="69817" y="55508"/>
                  </a:cubicBezTo>
                  <a:cubicBezTo>
                    <a:pt x="76490" y="61762"/>
                    <a:pt x="77368" y="67148"/>
                    <a:pt x="77543" y="75139"/>
                  </a:cubicBezTo>
                  <a:cubicBezTo>
                    <a:pt x="77895" y="85216"/>
                    <a:pt x="73680" y="98245"/>
                    <a:pt x="68764" y="105021"/>
                  </a:cubicBezTo>
                  <a:cubicBezTo>
                    <a:pt x="61915" y="114402"/>
                    <a:pt x="50151" y="120656"/>
                    <a:pt x="40142" y="120656"/>
                  </a:cubicBezTo>
                  <a:cubicBezTo>
                    <a:pt x="26796" y="120656"/>
                    <a:pt x="20124" y="110580"/>
                    <a:pt x="20124" y="98245"/>
                  </a:cubicBezTo>
                  <a:cubicBezTo>
                    <a:pt x="20124" y="96508"/>
                    <a:pt x="20124" y="93902"/>
                    <a:pt x="21002" y="90601"/>
                  </a:cubicBezTo>
                  <a:lnTo>
                    <a:pt x="32240" y="46648"/>
                  </a:lnTo>
                  <a:cubicBezTo>
                    <a:pt x="36103" y="31707"/>
                    <a:pt x="48746" y="4084"/>
                    <a:pt x="69817" y="4084"/>
                  </a:cubicBezTo>
                  <a:cubicBezTo>
                    <a:pt x="80002" y="4084"/>
                    <a:pt x="86148" y="9470"/>
                    <a:pt x="86148" y="19893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AE5F90DC-7500-63B1-E508-A1BC7E6387CE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7215074" y="4025246"/>
              <a:ext cx="54329" cy="80749"/>
            </a:xfrm>
            <a:custGeom>
              <a:avLst/>
              <a:gdLst>
                <a:gd name="connsiteX0" fmla="*/ 54594 w 54329"/>
                <a:gd name="connsiteY0" fmla="*/ 58706 h 80749"/>
                <a:gd name="connsiteX1" fmla="*/ 50415 w 54329"/>
                <a:gd name="connsiteY1" fmla="*/ 58706 h 80749"/>
                <a:gd name="connsiteX2" fmla="*/ 47219 w 54329"/>
                <a:gd name="connsiteY2" fmla="*/ 69773 h 80749"/>
                <a:gd name="connsiteX3" fmla="*/ 35050 w 54329"/>
                <a:gd name="connsiteY3" fmla="*/ 70502 h 80749"/>
                <a:gd name="connsiteX4" fmla="*/ 12434 w 54329"/>
                <a:gd name="connsiteY4" fmla="*/ 70502 h 80749"/>
                <a:gd name="connsiteX5" fmla="*/ 37017 w 54329"/>
                <a:gd name="connsiteY5" fmla="*/ 50072 h 80749"/>
                <a:gd name="connsiteX6" fmla="*/ 54594 w 54329"/>
                <a:gd name="connsiteY6" fmla="*/ 23804 h 80749"/>
                <a:gd name="connsiteX7" fmla="*/ 25832 w 54329"/>
                <a:gd name="connsiteY7" fmla="*/ 90 h 80749"/>
                <a:gd name="connsiteX8" fmla="*/ 265 w 54329"/>
                <a:gd name="connsiteY8" fmla="*/ 21858 h 80749"/>
                <a:gd name="connsiteX9" fmla="*/ 6779 w 54329"/>
                <a:gd name="connsiteY9" fmla="*/ 28668 h 80749"/>
                <a:gd name="connsiteX10" fmla="*/ 13294 w 54329"/>
                <a:gd name="connsiteY10" fmla="*/ 22223 h 80749"/>
                <a:gd name="connsiteX11" fmla="*/ 6042 w 54329"/>
                <a:gd name="connsiteY11" fmla="*/ 15778 h 80749"/>
                <a:gd name="connsiteX12" fmla="*/ 23988 w 54329"/>
                <a:gd name="connsiteY12" fmla="*/ 4468 h 80749"/>
                <a:gd name="connsiteX13" fmla="*/ 42671 w 54329"/>
                <a:gd name="connsiteY13" fmla="*/ 23804 h 80749"/>
                <a:gd name="connsiteX14" fmla="*/ 31117 w 54329"/>
                <a:gd name="connsiteY14" fmla="*/ 47153 h 80749"/>
                <a:gd name="connsiteX15" fmla="*/ 1494 w 54329"/>
                <a:gd name="connsiteY15" fmla="*/ 76096 h 80749"/>
                <a:gd name="connsiteX16" fmla="*/ 265 w 54329"/>
                <a:gd name="connsiteY16" fmla="*/ 80839 h 80749"/>
                <a:gd name="connsiteX17" fmla="*/ 50907 w 54329"/>
                <a:gd name="connsiteY17" fmla="*/ 80839 h 80749"/>
                <a:gd name="connsiteX18" fmla="*/ 54594 w 54329"/>
                <a:gd name="connsiteY18" fmla="*/ 58706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329" h="80749">
                  <a:moveTo>
                    <a:pt x="54594" y="58706"/>
                  </a:moveTo>
                  <a:lnTo>
                    <a:pt x="50415" y="58706"/>
                  </a:lnTo>
                  <a:cubicBezTo>
                    <a:pt x="50046" y="61381"/>
                    <a:pt x="48817" y="68557"/>
                    <a:pt x="47219" y="69773"/>
                  </a:cubicBezTo>
                  <a:cubicBezTo>
                    <a:pt x="46236" y="70502"/>
                    <a:pt x="36771" y="70502"/>
                    <a:pt x="35050" y="70502"/>
                  </a:cubicBezTo>
                  <a:lnTo>
                    <a:pt x="12434" y="70502"/>
                  </a:lnTo>
                  <a:cubicBezTo>
                    <a:pt x="25340" y="59193"/>
                    <a:pt x="29642" y="55787"/>
                    <a:pt x="37017" y="50072"/>
                  </a:cubicBezTo>
                  <a:cubicBezTo>
                    <a:pt x="46113" y="42897"/>
                    <a:pt x="54594" y="35357"/>
                    <a:pt x="54594" y="23804"/>
                  </a:cubicBezTo>
                  <a:cubicBezTo>
                    <a:pt x="54594" y="9089"/>
                    <a:pt x="41565" y="90"/>
                    <a:pt x="25832" y="90"/>
                  </a:cubicBezTo>
                  <a:cubicBezTo>
                    <a:pt x="10590" y="90"/>
                    <a:pt x="265" y="10670"/>
                    <a:pt x="265" y="21858"/>
                  </a:cubicBezTo>
                  <a:cubicBezTo>
                    <a:pt x="265" y="28060"/>
                    <a:pt x="5550" y="28668"/>
                    <a:pt x="6779" y="28668"/>
                  </a:cubicBezTo>
                  <a:cubicBezTo>
                    <a:pt x="9729" y="28668"/>
                    <a:pt x="13294" y="26601"/>
                    <a:pt x="13294" y="22223"/>
                  </a:cubicBezTo>
                  <a:cubicBezTo>
                    <a:pt x="13294" y="20034"/>
                    <a:pt x="12434" y="15778"/>
                    <a:pt x="6042" y="15778"/>
                  </a:cubicBezTo>
                  <a:cubicBezTo>
                    <a:pt x="9852" y="7143"/>
                    <a:pt x="18211" y="4468"/>
                    <a:pt x="23988" y="4468"/>
                  </a:cubicBezTo>
                  <a:cubicBezTo>
                    <a:pt x="36279" y="4468"/>
                    <a:pt x="42671" y="13953"/>
                    <a:pt x="42671" y="23804"/>
                  </a:cubicBezTo>
                  <a:cubicBezTo>
                    <a:pt x="42671" y="34384"/>
                    <a:pt x="35050" y="42775"/>
                    <a:pt x="31117" y="47153"/>
                  </a:cubicBezTo>
                  <a:lnTo>
                    <a:pt x="1494" y="76096"/>
                  </a:lnTo>
                  <a:cubicBezTo>
                    <a:pt x="265" y="77191"/>
                    <a:pt x="265" y="77434"/>
                    <a:pt x="265" y="80839"/>
                  </a:cubicBezTo>
                  <a:lnTo>
                    <a:pt x="50907" y="80839"/>
                  </a:lnTo>
                  <a:lnTo>
                    <a:pt x="54594" y="58706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形状 37">
              <a:extLst>
                <a:ext uri="{FF2B5EF4-FFF2-40B4-BE49-F238E27FC236}">
                  <a16:creationId xmlns:a16="http://schemas.microsoft.com/office/drawing/2014/main" id="{5BCA0A78-879D-00EC-A628-61215DB307D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7296114" y="3949639"/>
              <a:ext cx="40738" cy="173729"/>
            </a:xfrm>
            <a:custGeom>
              <a:avLst/>
              <a:gdLst>
                <a:gd name="connsiteX0" fmla="*/ 41007 w 40738"/>
                <a:gd name="connsiteY0" fmla="*/ 86953 h 173729"/>
                <a:gd name="connsiteX1" fmla="*/ 29418 w 40738"/>
                <a:gd name="connsiteY1" fmla="*/ 32749 h 173729"/>
                <a:gd name="connsiteX2" fmla="*/ 2025 w 40738"/>
                <a:gd name="connsiteY2" fmla="*/ 88 h 173729"/>
                <a:gd name="connsiteX3" fmla="*/ 269 w 40738"/>
                <a:gd name="connsiteY3" fmla="*/ 1826 h 173729"/>
                <a:gd name="connsiteX4" fmla="*/ 3606 w 40738"/>
                <a:gd name="connsiteY4" fmla="*/ 5821 h 173729"/>
                <a:gd name="connsiteX5" fmla="*/ 30823 w 40738"/>
                <a:gd name="connsiteY5" fmla="*/ 86953 h 173729"/>
                <a:gd name="connsiteX6" fmla="*/ 2552 w 40738"/>
                <a:gd name="connsiteY6" fmla="*/ 169127 h 173729"/>
                <a:gd name="connsiteX7" fmla="*/ 269 w 40738"/>
                <a:gd name="connsiteY7" fmla="*/ 172080 h 173729"/>
                <a:gd name="connsiteX8" fmla="*/ 2025 w 40738"/>
                <a:gd name="connsiteY8" fmla="*/ 173818 h 173729"/>
                <a:gd name="connsiteX9" fmla="*/ 29945 w 40738"/>
                <a:gd name="connsiteY9" fmla="*/ 139940 h 173729"/>
                <a:gd name="connsiteX10" fmla="*/ 41007 w 40738"/>
                <a:gd name="connsiteY10" fmla="*/ 86953 h 17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38" h="173729">
                  <a:moveTo>
                    <a:pt x="41007" y="86953"/>
                  </a:moveTo>
                  <a:cubicBezTo>
                    <a:pt x="41007" y="73402"/>
                    <a:pt x="39076" y="52381"/>
                    <a:pt x="29418" y="32749"/>
                  </a:cubicBezTo>
                  <a:cubicBezTo>
                    <a:pt x="18882" y="11381"/>
                    <a:pt x="3781" y="88"/>
                    <a:pt x="2025" y="88"/>
                  </a:cubicBezTo>
                  <a:cubicBezTo>
                    <a:pt x="972" y="88"/>
                    <a:pt x="269" y="783"/>
                    <a:pt x="269" y="1826"/>
                  </a:cubicBezTo>
                  <a:cubicBezTo>
                    <a:pt x="269" y="2347"/>
                    <a:pt x="269" y="2694"/>
                    <a:pt x="3606" y="5821"/>
                  </a:cubicBezTo>
                  <a:cubicBezTo>
                    <a:pt x="20814" y="23021"/>
                    <a:pt x="30823" y="50644"/>
                    <a:pt x="30823" y="86953"/>
                  </a:cubicBezTo>
                  <a:cubicBezTo>
                    <a:pt x="30823" y="116661"/>
                    <a:pt x="24326" y="147237"/>
                    <a:pt x="2552" y="169127"/>
                  </a:cubicBezTo>
                  <a:cubicBezTo>
                    <a:pt x="269" y="171212"/>
                    <a:pt x="269" y="171559"/>
                    <a:pt x="269" y="172080"/>
                  </a:cubicBezTo>
                  <a:cubicBezTo>
                    <a:pt x="269" y="173123"/>
                    <a:pt x="972" y="173818"/>
                    <a:pt x="2025" y="173818"/>
                  </a:cubicBezTo>
                  <a:cubicBezTo>
                    <a:pt x="3781" y="173818"/>
                    <a:pt x="19585" y="162004"/>
                    <a:pt x="29945" y="139940"/>
                  </a:cubicBezTo>
                  <a:cubicBezTo>
                    <a:pt x="38900" y="120830"/>
                    <a:pt x="41007" y="101546"/>
                    <a:pt x="41007" y="86953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1513F913-925A-66BB-BC85-E038AB68009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386291" y="4003148"/>
              <a:ext cx="80598" cy="112402"/>
            </a:xfrm>
            <a:custGeom>
              <a:avLst/>
              <a:gdLst>
                <a:gd name="connsiteX0" fmla="*/ 80346 w 80598"/>
                <a:gd name="connsiteY0" fmla="*/ 11381 h 112402"/>
                <a:gd name="connsiteX1" fmla="*/ 80873 w 80598"/>
                <a:gd name="connsiteY1" fmla="*/ 8254 h 112402"/>
                <a:gd name="connsiteX2" fmla="*/ 75781 w 80598"/>
                <a:gd name="connsiteY2" fmla="*/ 3563 h 112402"/>
                <a:gd name="connsiteX3" fmla="*/ 68581 w 80598"/>
                <a:gd name="connsiteY3" fmla="*/ 11033 h 112402"/>
                <a:gd name="connsiteX4" fmla="*/ 52251 w 80598"/>
                <a:gd name="connsiteY4" fmla="*/ 88 h 112402"/>
                <a:gd name="connsiteX5" fmla="*/ 10459 w 80598"/>
                <a:gd name="connsiteY5" fmla="*/ 49427 h 112402"/>
                <a:gd name="connsiteX6" fmla="*/ 33814 w 80598"/>
                <a:gd name="connsiteY6" fmla="*/ 76877 h 112402"/>
                <a:gd name="connsiteX7" fmla="*/ 54183 w 80598"/>
                <a:gd name="connsiteY7" fmla="*/ 66800 h 112402"/>
                <a:gd name="connsiteX8" fmla="*/ 54358 w 80598"/>
                <a:gd name="connsiteY8" fmla="*/ 66974 h 112402"/>
                <a:gd name="connsiteX9" fmla="*/ 48564 w 80598"/>
                <a:gd name="connsiteY9" fmla="*/ 89906 h 112402"/>
                <a:gd name="connsiteX10" fmla="*/ 23278 w 80598"/>
                <a:gd name="connsiteY10" fmla="*/ 108669 h 112402"/>
                <a:gd name="connsiteX11" fmla="*/ 9230 w 80598"/>
                <a:gd name="connsiteY11" fmla="*/ 106932 h 112402"/>
                <a:gd name="connsiteX12" fmla="*/ 16430 w 80598"/>
                <a:gd name="connsiteY12" fmla="*/ 97898 h 112402"/>
                <a:gd name="connsiteX13" fmla="*/ 9757 w 80598"/>
                <a:gd name="connsiteY13" fmla="*/ 91817 h 112402"/>
                <a:gd name="connsiteX14" fmla="*/ 275 w 80598"/>
                <a:gd name="connsiteY14" fmla="*/ 101894 h 112402"/>
                <a:gd name="connsiteX15" fmla="*/ 23629 w 80598"/>
                <a:gd name="connsiteY15" fmla="*/ 112491 h 112402"/>
                <a:gd name="connsiteX16" fmla="*/ 60855 w 80598"/>
                <a:gd name="connsiteY16" fmla="*/ 88517 h 112402"/>
                <a:gd name="connsiteX17" fmla="*/ 80346 w 80598"/>
                <a:gd name="connsiteY17" fmla="*/ 11381 h 112402"/>
                <a:gd name="connsiteX18" fmla="*/ 57519 w 80598"/>
                <a:gd name="connsiteY18" fmla="*/ 54639 h 112402"/>
                <a:gd name="connsiteX19" fmla="*/ 48564 w 80598"/>
                <a:gd name="connsiteY19" fmla="*/ 66800 h 112402"/>
                <a:gd name="connsiteX20" fmla="*/ 34340 w 80598"/>
                <a:gd name="connsiteY20" fmla="*/ 73055 h 112402"/>
                <a:gd name="connsiteX21" fmla="*/ 22927 w 80598"/>
                <a:gd name="connsiteY21" fmla="*/ 57072 h 112402"/>
                <a:gd name="connsiteX22" fmla="*/ 32760 w 80598"/>
                <a:gd name="connsiteY22" fmla="*/ 19372 h 112402"/>
                <a:gd name="connsiteX23" fmla="*/ 52427 w 80598"/>
                <a:gd name="connsiteY23" fmla="*/ 3910 h 112402"/>
                <a:gd name="connsiteX24" fmla="*/ 66474 w 80598"/>
                <a:gd name="connsiteY24" fmla="*/ 18851 h 112402"/>
                <a:gd name="connsiteX25" fmla="*/ 65948 w 80598"/>
                <a:gd name="connsiteY25" fmla="*/ 21457 h 112402"/>
                <a:gd name="connsiteX26" fmla="*/ 57519 w 80598"/>
                <a:gd name="connsiteY26" fmla="*/ 54639 h 11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598" h="112402">
                  <a:moveTo>
                    <a:pt x="80346" y="11381"/>
                  </a:moveTo>
                  <a:cubicBezTo>
                    <a:pt x="80522" y="10338"/>
                    <a:pt x="80873" y="9470"/>
                    <a:pt x="80873" y="8254"/>
                  </a:cubicBezTo>
                  <a:cubicBezTo>
                    <a:pt x="80873" y="5300"/>
                    <a:pt x="78766" y="3563"/>
                    <a:pt x="75781" y="3563"/>
                  </a:cubicBezTo>
                  <a:cubicBezTo>
                    <a:pt x="74025" y="3563"/>
                    <a:pt x="69284" y="4779"/>
                    <a:pt x="68581" y="11033"/>
                  </a:cubicBezTo>
                  <a:cubicBezTo>
                    <a:pt x="65421" y="4605"/>
                    <a:pt x="59275" y="88"/>
                    <a:pt x="52251" y="88"/>
                  </a:cubicBezTo>
                  <a:cubicBezTo>
                    <a:pt x="32233" y="88"/>
                    <a:pt x="10459" y="24410"/>
                    <a:pt x="10459" y="49427"/>
                  </a:cubicBezTo>
                  <a:cubicBezTo>
                    <a:pt x="10459" y="66627"/>
                    <a:pt x="21171" y="76877"/>
                    <a:pt x="33814" y="76877"/>
                  </a:cubicBezTo>
                  <a:cubicBezTo>
                    <a:pt x="44174" y="76877"/>
                    <a:pt x="52427" y="68711"/>
                    <a:pt x="54183" y="66800"/>
                  </a:cubicBezTo>
                  <a:lnTo>
                    <a:pt x="54358" y="66974"/>
                  </a:lnTo>
                  <a:cubicBezTo>
                    <a:pt x="50671" y="82436"/>
                    <a:pt x="48564" y="89559"/>
                    <a:pt x="48564" y="89906"/>
                  </a:cubicBezTo>
                  <a:cubicBezTo>
                    <a:pt x="47861" y="91470"/>
                    <a:pt x="41891" y="108669"/>
                    <a:pt x="23278" y="108669"/>
                  </a:cubicBezTo>
                  <a:cubicBezTo>
                    <a:pt x="19941" y="108669"/>
                    <a:pt x="14147" y="108495"/>
                    <a:pt x="9230" y="106932"/>
                  </a:cubicBezTo>
                  <a:cubicBezTo>
                    <a:pt x="14498" y="105368"/>
                    <a:pt x="16430" y="100851"/>
                    <a:pt x="16430" y="97898"/>
                  </a:cubicBezTo>
                  <a:cubicBezTo>
                    <a:pt x="16430" y="95118"/>
                    <a:pt x="14498" y="91817"/>
                    <a:pt x="9757" y="91817"/>
                  </a:cubicBezTo>
                  <a:cubicBezTo>
                    <a:pt x="5894" y="91817"/>
                    <a:pt x="275" y="94945"/>
                    <a:pt x="275" y="101894"/>
                  </a:cubicBezTo>
                  <a:cubicBezTo>
                    <a:pt x="275" y="109017"/>
                    <a:pt x="6772" y="112491"/>
                    <a:pt x="23629" y="112491"/>
                  </a:cubicBezTo>
                  <a:cubicBezTo>
                    <a:pt x="45578" y="112491"/>
                    <a:pt x="58221" y="98940"/>
                    <a:pt x="60855" y="88517"/>
                  </a:cubicBezTo>
                  <a:lnTo>
                    <a:pt x="80346" y="11381"/>
                  </a:lnTo>
                  <a:close/>
                  <a:moveTo>
                    <a:pt x="57519" y="54639"/>
                  </a:moveTo>
                  <a:cubicBezTo>
                    <a:pt x="56465" y="59156"/>
                    <a:pt x="52427" y="63500"/>
                    <a:pt x="48564" y="66800"/>
                  </a:cubicBezTo>
                  <a:cubicBezTo>
                    <a:pt x="44876" y="69927"/>
                    <a:pt x="39433" y="73055"/>
                    <a:pt x="34340" y="73055"/>
                  </a:cubicBezTo>
                  <a:cubicBezTo>
                    <a:pt x="25561" y="73055"/>
                    <a:pt x="22927" y="64021"/>
                    <a:pt x="22927" y="57072"/>
                  </a:cubicBezTo>
                  <a:cubicBezTo>
                    <a:pt x="22927" y="48733"/>
                    <a:pt x="28019" y="28232"/>
                    <a:pt x="32760" y="19372"/>
                  </a:cubicBezTo>
                  <a:cubicBezTo>
                    <a:pt x="37501" y="10860"/>
                    <a:pt x="45052" y="3910"/>
                    <a:pt x="52427" y="3910"/>
                  </a:cubicBezTo>
                  <a:cubicBezTo>
                    <a:pt x="64016" y="3910"/>
                    <a:pt x="66474" y="17982"/>
                    <a:pt x="66474" y="18851"/>
                  </a:cubicBezTo>
                  <a:cubicBezTo>
                    <a:pt x="66474" y="19720"/>
                    <a:pt x="66123" y="20762"/>
                    <a:pt x="65948" y="21457"/>
                  </a:cubicBezTo>
                  <a:lnTo>
                    <a:pt x="57519" y="5463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10F64554-818C-7DC9-CEEB-E65698C7423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481454" y="3927456"/>
              <a:ext cx="54329" cy="80749"/>
            </a:xfrm>
            <a:custGeom>
              <a:avLst/>
              <a:gdLst>
                <a:gd name="connsiteX0" fmla="*/ 54609 w 54329"/>
                <a:gd name="connsiteY0" fmla="*/ 58700 h 80749"/>
                <a:gd name="connsiteX1" fmla="*/ 50430 w 54329"/>
                <a:gd name="connsiteY1" fmla="*/ 58700 h 80749"/>
                <a:gd name="connsiteX2" fmla="*/ 47234 w 54329"/>
                <a:gd name="connsiteY2" fmla="*/ 69767 h 80749"/>
                <a:gd name="connsiteX3" fmla="*/ 35065 w 54329"/>
                <a:gd name="connsiteY3" fmla="*/ 70497 h 80749"/>
                <a:gd name="connsiteX4" fmla="*/ 12449 w 54329"/>
                <a:gd name="connsiteY4" fmla="*/ 70497 h 80749"/>
                <a:gd name="connsiteX5" fmla="*/ 37032 w 54329"/>
                <a:gd name="connsiteY5" fmla="*/ 50066 h 80749"/>
                <a:gd name="connsiteX6" fmla="*/ 54609 w 54329"/>
                <a:gd name="connsiteY6" fmla="*/ 23798 h 80749"/>
                <a:gd name="connsiteX7" fmla="*/ 25847 w 54329"/>
                <a:gd name="connsiteY7" fmla="*/ 84 h 80749"/>
                <a:gd name="connsiteX8" fmla="*/ 280 w 54329"/>
                <a:gd name="connsiteY8" fmla="*/ 21852 h 80749"/>
                <a:gd name="connsiteX9" fmla="*/ 6795 w 54329"/>
                <a:gd name="connsiteY9" fmla="*/ 28663 h 80749"/>
                <a:gd name="connsiteX10" fmla="*/ 13309 w 54329"/>
                <a:gd name="connsiteY10" fmla="*/ 22217 h 80749"/>
                <a:gd name="connsiteX11" fmla="*/ 6057 w 54329"/>
                <a:gd name="connsiteY11" fmla="*/ 15772 h 80749"/>
                <a:gd name="connsiteX12" fmla="*/ 24003 w 54329"/>
                <a:gd name="connsiteY12" fmla="*/ 4462 h 80749"/>
                <a:gd name="connsiteX13" fmla="*/ 42686 w 54329"/>
                <a:gd name="connsiteY13" fmla="*/ 23798 h 80749"/>
                <a:gd name="connsiteX14" fmla="*/ 31132 w 54329"/>
                <a:gd name="connsiteY14" fmla="*/ 47147 h 80749"/>
                <a:gd name="connsiteX15" fmla="*/ 1509 w 54329"/>
                <a:gd name="connsiteY15" fmla="*/ 76091 h 80749"/>
                <a:gd name="connsiteX16" fmla="*/ 280 w 54329"/>
                <a:gd name="connsiteY16" fmla="*/ 80834 h 80749"/>
                <a:gd name="connsiteX17" fmla="*/ 50922 w 54329"/>
                <a:gd name="connsiteY17" fmla="*/ 80834 h 80749"/>
                <a:gd name="connsiteX18" fmla="*/ 54609 w 54329"/>
                <a:gd name="connsiteY18" fmla="*/ 58700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329" h="80749">
                  <a:moveTo>
                    <a:pt x="54609" y="58700"/>
                  </a:moveTo>
                  <a:lnTo>
                    <a:pt x="50430" y="58700"/>
                  </a:lnTo>
                  <a:cubicBezTo>
                    <a:pt x="50061" y="61376"/>
                    <a:pt x="48832" y="68551"/>
                    <a:pt x="47234" y="69767"/>
                  </a:cubicBezTo>
                  <a:cubicBezTo>
                    <a:pt x="46251" y="70497"/>
                    <a:pt x="36786" y="70497"/>
                    <a:pt x="35065" y="70497"/>
                  </a:cubicBezTo>
                  <a:lnTo>
                    <a:pt x="12449" y="70497"/>
                  </a:lnTo>
                  <a:cubicBezTo>
                    <a:pt x="25355" y="59187"/>
                    <a:pt x="29657" y="55782"/>
                    <a:pt x="37032" y="50066"/>
                  </a:cubicBezTo>
                  <a:cubicBezTo>
                    <a:pt x="46128" y="42891"/>
                    <a:pt x="54609" y="35351"/>
                    <a:pt x="54609" y="23798"/>
                  </a:cubicBezTo>
                  <a:cubicBezTo>
                    <a:pt x="54609" y="9083"/>
                    <a:pt x="41580" y="84"/>
                    <a:pt x="25847" y="84"/>
                  </a:cubicBezTo>
                  <a:cubicBezTo>
                    <a:pt x="10605" y="84"/>
                    <a:pt x="280" y="10664"/>
                    <a:pt x="280" y="21852"/>
                  </a:cubicBezTo>
                  <a:cubicBezTo>
                    <a:pt x="280" y="28055"/>
                    <a:pt x="5565" y="28663"/>
                    <a:pt x="6795" y="28663"/>
                  </a:cubicBezTo>
                  <a:cubicBezTo>
                    <a:pt x="9745" y="28663"/>
                    <a:pt x="13309" y="26595"/>
                    <a:pt x="13309" y="22217"/>
                  </a:cubicBezTo>
                  <a:cubicBezTo>
                    <a:pt x="13309" y="20028"/>
                    <a:pt x="12449" y="15772"/>
                    <a:pt x="6057" y="15772"/>
                  </a:cubicBezTo>
                  <a:cubicBezTo>
                    <a:pt x="9867" y="7138"/>
                    <a:pt x="18226" y="4462"/>
                    <a:pt x="24003" y="4462"/>
                  </a:cubicBezTo>
                  <a:cubicBezTo>
                    <a:pt x="36295" y="4462"/>
                    <a:pt x="42686" y="13948"/>
                    <a:pt x="42686" y="23798"/>
                  </a:cubicBezTo>
                  <a:cubicBezTo>
                    <a:pt x="42686" y="34378"/>
                    <a:pt x="35065" y="42769"/>
                    <a:pt x="31132" y="47147"/>
                  </a:cubicBezTo>
                  <a:lnTo>
                    <a:pt x="1509" y="76091"/>
                  </a:lnTo>
                  <a:cubicBezTo>
                    <a:pt x="280" y="77185"/>
                    <a:pt x="280" y="77428"/>
                    <a:pt x="280" y="80834"/>
                  </a:cubicBezTo>
                  <a:lnTo>
                    <a:pt x="50922" y="80834"/>
                  </a:lnTo>
                  <a:lnTo>
                    <a:pt x="54609" y="5870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541E68CB-C8FB-DCFD-5E33-7340C9F5159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472573" y="4046879"/>
              <a:ext cx="41545" cy="77222"/>
            </a:xfrm>
            <a:custGeom>
              <a:avLst/>
              <a:gdLst>
                <a:gd name="connsiteX0" fmla="*/ 25355 w 41545"/>
                <a:gd name="connsiteY0" fmla="*/ 28061 h 77222"/>
                <a:gd name="connsiteX1" fmla="*/ 37892 w 41545"/>
                <a:gd name="connsiteY1" fmla="*/ 28061 h 77222"/>
                <a:gd name="connsiteX2" fmla="*/ 41825 w 41545"/>
                <a:gd name="connsiteY2" fmla="*/ 25386 h 77222"/>
                <a:gd name="connsiteX3" fmla="*/ 38138 w 41545"/>
                <a:gd name="connsiteY3" fmla="*/ 23683 h 77222"/>
                <a:gd name="connsiteX4" fmla="*/ 26461 w 41545"/>
                <a:gd name="connsiteY4" fmla="*/ 23683 h 77222"/>
                <a:gd name="connsiteX5" fmla="*/ 31009 w 41545"/>
                <a:gd name="connsiteY5" fmla="*/ 5685 h 77222"/>
                <a:gd name="connsiteX6" fmla="*/ 31378 w 41545"/>
                <a:gd name="connsiteY6" fmla="*/ 3982 h 77222"/>
                <a:gd name="connsiteX7" fmla="*/ 27198 w 41545"/>
                <a:gd name="connsiteY7" fmla="*/ 91 h 77222"/>
                <a:gd name="connsiteX8" fmla="*/ 21421 w 41545"/>
                <a:gd name="connsiteY8" fmla="*/ 5320 h 77222"/>
                <a:gd name="connsiteX9" fmla="*/ 16750 w 41545"/>
                <a:gd name="connsiteY9" fmla="*/ 23683 h 77222"/>
                <a:gd name="connsiteX10" fmla="*/ 4213 w 41545"/>
                <a:gd name="connsiteY10" fmla="*/ 23683 h 77222"/>
                <a:gd name="connsiteX11" fmla="*/ 280 w 41545"/>
                <a:gd name="connsiteY11" fmla="*/ 26359 h 77222"/>
                <a:gd name="connsiteX12" fmla="*/ 3967 w 41545"/>
                <a:gd name="connsiteY12" fmla="*/ 28061 h 77222"/>
                <a:gd name="connsiteX13" fmla="*/ 15644 w 41545"/>
                <a:gd name="connsiteY13" fmla="*/ 28061 h 77222"/>
                <a:gd name="connsiteX14" fmla="*/ 8392 w 41545"/>
                <a:gd name="connsiteY14" fmla="*/ 56761 h 77222"/>
                <a:gd name="connsiteX15" fmla="*/ 6548 w 41545"/>
                <a:gd name="connsiteY15" fmla="*/ 65760 h 77222"/>
                <a:gd name="connsiteX16" fmla="*/ 19700 w 41545"/>
                <a:gd name="connsiteY16" fmla="*/ 77313 h 77222"/>
                <a:gd name="connsiteX17" fmla="*/ 41088 w 41545"/>
                <a:gd name="connsiteY17" fmla="*/ 58707 h 77222"/>
                <a:gd name="connsiteX18" fmla="*/ 39121 w 41545"/>
                <a:gd name="connsiteY18" fmla="*/ 57126 h 77222"/>
                <a:gd name="connsiteX19" fmla="*/ 36540 w 41545"/>
                <a:gd name="connsiteY19" fmla="*/ 59437 h 77222"/>
                <a:gd name="connsiteX20" fmla="*/ 20069 w 41545"/>
                <a:gd name="connsiteY20" fmla="*/ 73908 h 77222"/>
                <a:gd name="connsiteX21" fmla="*/ 15767 w 41545"/>
                <a:gd name="connsiteY21" fmla="*/ 67949 h 77222"/>
                <a:gd name="connsiteX22" fmla="*/ 16505 w 41545"/>
                <a:gd name="connsiteY22" fmla="*/ 62963 h 77222"/>
                <a:gd name="connsiteX23" fmla="*/ 25355 w 41545"/>
                <a:gd name="connsiteY23" fmla="*/ 28061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355" y="28061"/>
                  </a:moveTo>
                  <a:lnTo>
                    <a:pt x="37892" y="28061"/>
                  </a:lnTo>
                  <a:cubicBezTo>
                    <a:pt x="40228" y="28061"/>
                    <a:pt x="41825" y="28061"/>
                    <a:pt x="41825" y="25386"/>
                  </a:cubicBezTo>
                  <a:cubicBezTo>
                    <a:pt x="41825" y="23683"/>
                    <a:pt x="40228" y="23683"/>
                    <a:pt x="38138" y="23683"/>
                  </a:cubicBezTo>
                  <a:lnTo>
                    <a:pt x="26461" y="23683"/>
                  </a:lnTo>
                  <a:lnTo>
                    <a:pt x="31009" y="5685"/>
                  </a:lnTo>
                  <a:cubicBezTo>
                    <a:pt x="31132" y="5077"/>
                    <a:pt x="31378" y="4469"/>
                    <a:pt x="31378" y="3982"/>
                  </a:cubicBezTo>
                  <a:cubicBezTo>
                    <a:pt x="31378" y="1793"/>
                    <a:pt x="29657" y="91"/>
                    <a:pt x="27198" y="91"/>
                  </a:cubicBezTo>
                  <a:cubicBezTo>
                    <a:pt x="24125" y="91"/>
                    <a:pt x="22282" y="2158"/>
                    <a:pt x="21421" y="5320"/>
                  </a:cubicBezTo>
                  <a:cubicBezTo>
                    <a:pt x="20561" y="8360"/>
                    <a:pt x="22159" y="2523"/>
                    <a:pt x="16750" y="23683"/>
                  </a:cubicBezTo>
                  <a:lnTo>
                    <a:pt x="4213" y="23683"/>
                  </a:lnTo>
                  <a:cubicBezTo>
                    <a:pt x="1877" y="23683"/>
                    <a:pt x="280" y="23683"/>
                    <a:pt x="280" y="26359"/>
                  </a:cubicBezTo>
                  <a:cubicBezTo>
                    <a:pt x="280" y="28061"/>
                    <a:pt x="1755" y="28061"/>
                    <a:pt x="3967" y="28061"/>
                  </a:cubicBezTo>
                  <a:lnTo>
                    <a:pt x="15644" y="28061"/>
                  </a:lnTo>
                  <a:lnTo>
                    <a:pt x="8392" y="56761"/>
                  </a:lnTo>
                  <a:cubicBezTo>
                    <a:pt x="7655" y="59802"/>
                    <a:pt x="6548" y="64180"/>
                    <a:pt x="6548" y="65760"/>
                  </a:cubicBezTo>
                  <a:cubicBezTo>
                    <a:pt x="6548" y="72935"/>
                    <a:pt x="12694" y="77313"/>
                    <a:pt x="19700" y="77313"/>
                  </a:cubicBezTo>
                  <a:cubicBezTo>
                    <a:pt x="33344" y="77313"/>
                    <a:pt x="41088" y="60288"/>
                    <a:pt x="41088" y="58707"/>
                  </a:cubicBezTo>
                  <a:cubicBezTo>
                    <a:pt x="41088" y="57126"/>
                    <a:pt x="39490" y="57126"/>
                    <a:pt x="39121" y="57126"/>
                  </a:cubicBezTo>
                  <a:cubicBezTo>
                    <a:pt x="37646" y="57126"/>
                    <a:pt x="37523" y="57369"/>
                    <a:pt x="36540" y="59437"/>
                  </a:cubicBezTo>
                  <a:cubicBezTo>
                    <a:pt x="33098" y="67098"/>
                    <a:pt x="26830" y="73908"/>
                    <a:pt x="20069" y="73908"/>
                  </a:cubicBezTo>
                  <a:cubicBezTo>
                    <a:pt x="17488" y="73908"/>
                    <a:pt x="15767" y="72327"/>
                    <a:pt x="15767" y="67949"/>
                  </a:cubicBezTo>
                  <a:cubicBezTo>
                    <a:pt x="15767" y="66733"/>
                    <a:pt x="16259" y="64180"/>
                    <a:pt x="16505" y="62963"/>
                  </a:cubicBezTo>
                  <a:lnTo>
                    <a:pt x="25355" y="28061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43493C01-EB4E-0310-1AEC-FF297482688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649836" y="4281821"/>
              <a:ext cx="72520" cy="124390"/>
            </a:xfrm>
            <a:custGeom>
              <a:avLst/>
              <a:gdLst>
                <a:gd name="connsiteX0" fmla="*/ 72697 w 72520"/>
                <a:gd name="connsiteY0" fmla="*/ 35721 h 124390"/>
                <a:gd name="connsiteX1" fmla="*/ 51625 w 72520"/>
                <a:gd name="connsiteY1" fmla="*/ 107 h 124390"/>
                <a:gd name="connsiteX2" fmla="*/ 176 w 72520"/>
                <a:gd name="connsiteY2" fmla="*/ 88883 h 124390"/>
                <a:gd name="connsiteX3" fmla="*/ 21247 w 72520"/>
                <a:gd name="connsiteY3" fmla="*/ 124497 h 124390"/>
                <a:gd name="connsiteX4" fmla="*/ 72697 w 72520"/>
                <a:gd name="connsiteY4" fmla="*/ 35721 h 124390"/>
                <a:gd name="connsiteX5" fmla="*/ 18789 w 72520"/>
                <a:gd name="connsiteY5" fmla="*/ 59522 h 124390"/>
                <a:gd name="connsiteX6" fmla="*/ 32310 w 72520"/>
                <a:gd name="connsiteY6" fmla="*/ 22171 h 124390"/>
                <a:gd name="connsiteX7" fmla="*/ 51450 w 72520"/>
                <a:gd name="connsiteY7" fmla="*/ 3929 h 124390"/>
                <a:gd name="connsiteX8" fmla="*/ 61108 w 72520"/>
                <a:gd name="connsiteY8" fmla="*/ 24950 h 124390"/>
                <a:gd name="connsiteX9" fmla="*/ 55489 w 72520"/>
                <a:gd name="connsiteY9" fmla="*/ 59522 h 124390"/>
                <a:gd name="connsiteX10" fmla="*/ 18789 w 72520"/>
                <a:gd name="connsiteY10" fmla="*/ 59522 h 124390"/>
                <a:gd name="connsiteX11" fmla="*/ 53908 w 72520"/>
                <a:gd name="connsiteY11" fmla="*/ 65082 h 124390"/>
                <a:gd name="connsiteX12" fmla="*/ 41617 w 72520"/>
                <a:gd name="connsiteY12" fmla="*/ 100349 h 124390"/>
                <a:gd name="connsiteX13" fmla="*/ 21247 w 72520"/>
                <a:gd name="connsiteY13" fmla="*/ 120675 h 124390"/>
                <a:gd name="connsiteX14" fmla="*/ 11765 w 72520"/>
                <a:gd name="connsiteY14" fmla="*/ 99480 h 124390"/>
                <a:gd name="connsiteX15" fmla="*/ 17384 w 72520"/>
                <a:gd name="connsiteY15" fmla="*/ 65082 h 124390"/>
                <a:gd name="connsiteX16" fmla="*/ 53908 w 72520"/>
                <a:gd name="connsiteY16" fmla="*/ 65082 h 12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520" h="124390">
                  <a:moveTo>
                    <a:pt x="72697" y="35721"/>
                  </a:moveTo>
                  <a:cubicBezTo>
                    <a:pt x="72697" y="24255"/>
                    <a:pt x="69536" y="107"/>
                    <a:pt x="51625" y="107"/>
                  </a:cubicBezTo>
                  <a:cubicBezTo>
                    <a:pt x="27218" y="107"/>
                    <a:pt x="176" y="49099"/>
                    <a:pt x="176" y="88883"/>
                  </a:cubicBezTo>
                  <a:cubicBezTo>
                    <a:pt x="176" y="105213"/>
                    <a:pt x="5268" y="124497"/>
                    <a:pt x="21247" y="124497"/>
                  </a:cubicBezTo>
                  <a:cubicBezTo>
                    <a:pt x="46006" y="124497"/>
                    <a:pt x="72697" y="74637"/>
                    <a:pt x="72697" y="35721"/>
                  </a:cubicBezTo>
                  <a:close/>
                  <a:moveTo>
                    <a:pt x="18789" y="59522"/>
                  </a:moveTo>
                  <a:cubicBezTo>
                    <a:pt x="21774" y="48404"/>
                    <a:pt x="25286" y="34505"/>
                    <a:pt x="32310" y="22171"/>
                  </a:cubicBezTo>
                  <a:cubicBezTo>
                    <a:pt x="37051" y="13658"/>
                    <a:pt x="43548" y="3929"/>
                    <a:pt x="51450" y="3929"/>
                  </a:cubicBezTo>
                  <a:cubicBezTo>
                    <a:pt x="60054" y="3929"/>
                    <a:pt x="61108" y="15048"/>
                    <a:pt x="61108" y="24950"/>
                  </a:cubicBezTo>
                  <a:cubicBezTo>
                    <a:pt x="61108" y="33463"/>
                    <a:pt x="59703" y="42323"/>
                    <a:pt x="55489" y="59522"/>
                  </a:cubicBezTo>
                  <a:lnTo>
                    <a:pt x="18789" y="59522"/>
                  </a:lnTo>
                  <a:close/>
                  <a:moveTo>
                    <a:pt x="53908" y="65082"/>
                  </a:moveTo>
                  <a:cubicBezTo>
                    <a:pt x="51977" y="73073"/>
                    <a:pt x="48289" y="87840"/>
                    <a:pt x="41617" y="100349"/>
                  </a:cubicBezTo>
                  <a:cubicBezTo>
                    <a:pt x="35471" y="112162"/>
                    <a:pt x="28798" y="120675"/>
                    <a:pt x="21247" y="120675"/>
                  </a:cubicBezTo>
                  <a:cubicBezTo>
                    <a:pt x="15453" y="120675"/>
                    <a:pt x="11765" y="115637"/>
                    <a:pt x="11765" y="99480"/>
                  </a:cubicBezTo>
                  <a:cubicBezTo>
                    <a:pt x="11765" y="92183"/>
                    <a:pt x="12819" y="82107"/>
                    <a:pt x="17384" y="65082"/>
                  </a:cubicBezTo>
                  <a:lnTo>
                    <a:pt x="53908" y="65082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5FBF3A96-CD8A-FC97-889F-E6066D5055F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730055" y="4354353"/>
              <a:ext cx="41545" cy="77222"/>
            </a:xfrm>
            <a:custGeom>
              <a:avLst/>
              <a:gdLst>
                <a:gd name="connsiteX0" fmla="*/ 25256 w 41545"/>
                <a:gd name="connsiteY0" fmla="*/ 28079 h 77222"/>
                <a:gd name="connsiteX1" fmla="*/ 37793 w 41545"/>
                <a:gd name="connsiteY1" fmla="*/ 28079 h 77222"/>
                <a:gd name="connsiteX2" fmla="*/ 41727 w 41545"/>
                <a:gd name="connsiteY2" fmla="*/ 25403 h 77222"/>
                <a:gd name="connsiteX3" fmla="*/ 38039 w 41545"/>
                <a:gd name="connsiteY3" fmla="*/ 23701 h 77222"/>
                <a:gd name="connsiteX4" fmla="*/ 26362 w 41545"/>
                <a:gd name="connsiteY4" fmla="*/ 23701 h 77222"/>
                <a:gd name="connsiteX5" fmla="*/ 30910 w 41545"/>
                <a:gd name="connsiteY5" fmla="*/ 5702 h 77222"/>
                <a:gd name="connsiteX6" fmla="*/ 31279 w 41545"/>
                <a:gd name="connsiteY6" fmla="*/ 4000 h 77222"/>
                <a:gd name="connsiteX7" fmla="*/ 27099 w 41545"/>
                <a:gd name="connsiteY7" fmla="*/ 108 h 77222"/>
                <a:gd name="connsiteX8" fmla="*/ 21322 w 41545"/>
                <a:gd name="connsiteY8" fmla="*/ 5338 h 77222"/>
                <a:gd name="connsiteX9" fmla="*/ 16652 w 41545"/>
                <a:gd name="connsiteY9" fmla="*/ 23701 h 77222"/>
                <a:gd name="connsiteX10" fmla="*/ 4114 w 41545"/>
                <a:gd name="connsiteY10" fmla="*/ 23701 h 77222"/>
                <a:gd name="connsiteX11" fmla="*/ 181 w 41545"/>
                <a:gd name="connsiteY11" fmla="*/ 26376 h 77222"/>
                <a:gd name="connsiteX12" fmla="*/ 3868 w 41545"/>
                <a:gd name="connsiteY12" fmla="*/ 28079 h 77222"/>
                <a:gd name="connsiteX13" fmla="*/ 15545 w 41545"/>
                <a:gd name="connsiteY13" fmla="*/ 28079 h 77222"/>
                <a:gd name="connsiteX14" fmla="*/ 8293 w 41545"/>
                <a:gd name="connsiteY14" fmla="*/ 56779 h 77222"/>
                <a:gd name="connsiteX15" fmla="*/ 6449 w 41545"/>
                <a:gd name="connsiteY15" fmla="*/ 65778 h 77222"/>
                <a:gd name="connsiteX16" fmla="*/ 19602 w 41545"/>
                <a:gd name="connsiteY16" fmla="*/ 77331 h 77222"/>
                <a:gd name="connsiteX17" fmla="*/ 40989 w 41545"/>
                <a:gd name="connsiteY17" fmla="*/ 58725 h 77222"/>
                <a:gd name="connsiteX18" fmla="*/ 39022 w 41545"/>
                <a:gd name="connsiteY18" fmla="*/ 57144 h 77222"/>
                <a:gd name="connsiteX19" fmla="*/ 36441 w 41545"/>
                <a:gd name="connsiteY19" fmla="*/ 59454 h 77222"/>
                <a:gd name="connsiteX20" fmla="*/ 19970 w 41545"/>
                <a:gd name="connsiteY20" fmla="*/ 73926 h 77222"/>
                <a:gd name="connsiteX21" fmla="*/ 15668 w 41545"/>
                <a:gd name="connsiteY21" fmla="*/ 67967 h 77222"/>
                <a:gd name="connsiteX22" fmla="*/ 16406 w 41545"/>
                <a:gd name="connsiteY22" fmla="*/ 62981 h 77222"/>
                <a:gd name="connsiteX23" fmla="*/ 25256 w 41545"/>
                <a:gd name="connsiteY23" fmla="*/ 28079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256" y="28079"/>
                  </a:moveTo>
                  <a:lnTo>
                    <a:pt x="37793" y="28079"/>
                  </a:lnTo>
                  <a:cubicBezTo>
                    <a:pt x="40129" y="28079"/>
                    <a:pt x="41727" y="28079"/>
                    <a:pt x="41727" y="25403"/>
                  </a:cubicBezTo>
                  <a:cubicBezTo>
                    <a:pt x="41727" y="23701"/>
                    <a:pt x="40129" y="23701"/>
                    <a:pt x="38039" y="23701"/>
                  </a:cubicBezTo>
                  <a:lnTo>
                    <a:pt x="26362" y="23701"/>
                  </a:lnTo>
                  <a:lnTo>
                    <a:pt x="30910" y="5702"/>
                  </a:lnTo>
                  <a:cubicBezTo>
                    <a:pt x="31033" y="5094"/>
                    <a:pt x="31279" y="4486"/>
                    <a:pt x="31279" y="4000"/>
                  </a:cubicBezTo>
                  <a:cubicBezTo>
                    <a:pt x="31279" y="1811"/>
                    <a:pt x="29558" y="108"/>
                    <a:pt x="27099" y="108"/>
                  </a:cubicBezTo>
                  <a:cubicBezTo>
                    <a:pt x="24027" y="108"/>
                    <a:pt x="22183" y="2176"/>
                    <a:pt x="21322" y="5338"/>
                  </a:cubicBezTo>
                  <a:cubicBezTo>
                    <a:pt x="20462" y="8378"/>
                    <a:pt x="22060" y="2541"/>
                    <a:pt x="16652" y="23701"/>
                  </a:cubicBezTo>
                  <a:lnTo>
                    <a:pt x="4114" y="23701"/>
                  </a:lnTo>
                  <a:cubicBezTo>
                    <a:pt x="1779" y="23701"/>
                    <a:pt x="181" y="23701"/>
                    <a:pt x="181" y="26376"/>
                  </a:cubicBezTo>
                  <a:cubicBezTo>
                    <a:pt x="181" y="28079"/>
                    <a:pt x="1656" y="28079"/>
                    <a:pt x="3868" y="28079"/>
                  </a:cubicBezTo>
                  <a:lnTo>
                    <a:pt x="15545" y="28079"/>
                  </a:lnTo>
                  <a:lnTo>
                    <a:pt x="8293" y="56779"/>
                  </a:lnTo>
                  <a:cubicBezTo>
                    <a:pt x="7556" y="59819"/>
                    <a:pt x="6449" y="64197"/>
                    <a:pt x="6449" y="65778"/>
                  </a:cubicBezTo>
                  <a:cubicBezTo>
                    <a:pt x="6449" y="72953"/>
                    <a:pt x="12595" y="77331"/>
                    <a:pt x="19602" y="77331"/>
                  </a:cubicBezTo>
                  <a:cubicBezTo>
                    <a:pt x="33245" y="77331"/>
                    <a:pt x="40989" y="60306"/>
                    <a:pt x="40989" y="58725"/>
                  </a:cubicBezTo>
                  <a:cubicBezTo>
                    <a:pt x="40989" y="57144"/>
                    <a:pt x="39391" y="57144"/>
                    <a:pt x="39022" y="57144"/>
                  </a:cubicBezTo>
                  <a:cubicBezTo>
                    <a:pt x="37547" y="57144"/>
                    <a:pt x="37424" y="57387"/>
                    <a:pt x="36441" y="59454"/>
                  </a:cubicBezTo>
                  <a:cubicBezTo>
                    <a:pt x="32999" y="67116"/>
                    <a:pt x="26731" y="73926"/>
                    <a:pt x="19970" y="73926"/>
                  </a:cubicBezTo>
                  <a:cubicBezTo>
                    <a:pt x="17389" y="73926"/>
                    <a:pt x="15668" y="72345"/>
                    <a:pt x="15668" y="67967"/>
                  </a:cubicBezTo>
                  <a:cubicBezTo>
                    <a:pt x="15668" y="66751"/>
                    <a:pt x="16160" y="64197"/>
                    <a:pt x="16406" y="62981"/>
                  </a:cubicBezTo>
                  <a:lnTo>
                    <a:pt x="25256" y="2807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形状 43">
              <a:extLst>
                <a:ext uri="{FF2B5EF4-FFF2-40B4-BE49-F238E27FC236}">
                  <a16:creationId xmlns:a16="http://schemas.microsoft.com/office/drawing/2014/main" id="{92C51ABC-7AB2-16F9-6EB2-C343ED87BCC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5786542" y="4355083"/>
              <a:ext cx="90466" cy="89626"/>
            </a:xfrm>
            <a:custGeom>
              <a:avLst/>
              <a:gdLst>
                <a:gd name="connsiteX0" fmla="*/ 48490 w 90466"/>
                <a:gd name="connsiteY0" fmla="*/ 47901 h 89626"/>
                <a:gd name="connsiteX1" fmla="*/ 86103 w 90466"/>
                <a:gd name="connsiteY1" fmla="*/ 47901 h 89626"/>
                <a:gd name="connsiteX2" fmla="*/ 90650 w 90466"/>
                <a:gd name="connsiteY2" fmla="*/ 44983 h 89626"/>
                <a:gd name="connsiteX3" fmla="*/ 86103 w 90466"/>
                <a:gd name="connsiteY3" fmla="*/ 41942 h 89626"/>
                <a:gd name="connsiteX4" fmla="*/ 48490 w 90466"/>
                <a:gd name="connsiteY4" fmla="*/ 41942 h 89626"/>
                <a:gd name="connsiteX5" fmla="*/ 48490 w 90466"/>
                <a:gd name="connsiteY5" fmla="*/ 4608 h 89626"/>
                <a:gd name="connsiteX6" fmla="*/ 45540 w 90466"/>
                <a:gd name="connsiteY6" fmla="*/ 108 h 89626"/>
                <a:gd name="connsiteX7" fmla="*/ 42467 w 90466"/>
                <a:gd name="connsiteY7" fmla="*/ 4608 h 89626"/>
                <a:gd name="connsiteX8" fmla="*/ 42467 w 90466"/>
                <a:gd name="connsiteY8" fmla="*/ 41942 h 89626"/>
                <a:gd name="connsiteX9" fmla="*/ 4732 w 90466"/>
                <a:gd name="connsiteY9" fmla="*/ 41942 h 89626"/>
                <a:gd name="connsiteX10" fmla="*/ 184 w 90466"/>
                <a:gd name="connsiteY10" fmla="*/ 44861 h 89626"/>
                <a:gd name="connsiteX11" fmla="*/ 4732 w 90466"/>
                <a:gd name="connsiteY11" fmla="*/ 47901 h 89626"/>
                <a:gd name="connsiteX12" fmla="*/ 42467 w 90466"/>
                <a:gd name="connsiteY12" fmla="*/ 47901 h 89626"/>
                <a:gd name="connsiteX13" fmla="*/ 42467 w 90466"/>
                <a:gd name="connsiteY13" fmla="*/ 85236 h 89626"/>
                <a:gd name="connsiteX14" fmla="*/ 45417 w 90466"/>
                <a:gd name="connsiteY14" fmla="*/ 89735 h 89626"/>
                <a:gd name="connsiteX15" fmla="*/ 48490 w 90466"/>
                <a:gd name="connsiteY15" fmla="*/ 85236 h 89626"/>
                <a:gd name="connsiteX16" fmla="*/ 48490 w 90466"/>
                <a:gd name="connsiteY16" fmla="*/ 47901 h 8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466" h="89626">
                  <a:moveTo>
                    <a:pt x="48490" y="47901"/>
                  </a:moveTo>
                  <a:lnTo>
                    <a:pt x="86103" y="47901"/>
                  </a:lnTo>
                  <a:cubicBezTo>
                    <a:pt x="87700" y="47901"/>
                    <a:pt x="90650" y="47901"/>
                    <a:pt x="90650" y="44983"/>
                  </a:cubicBezTo>
                  <a:cubicBezTo>
                    <a:pt x="90650" y="41942"/>
                    <a:pt x="87823" y="41942"/>
                    <a:pt x="86103" y="41942"/>
                  </a:cubicBezTo>
                  <a:lnTo>
                    <a:pt x="48490" y="41942"/>
                  </a:lnTo>
                  <a:lnTo>
                    <a:pt x="48490" y="4608"/>
                  </a:lnTo>
                  <a:cubicBezTo>
                    <a:pt x="48490" y="3027"/>
                    <a:pt x="48490" y="108"/>
                    <a:pt x="45540" y="108"/>
                  </a:cubicBezTo>
                  <a:cubicBezTo>
                    <a:pt x="42467" y="108"/>
                    <a:pt x="42467" y="2905"/>
                    <a:pt x="42467" y="4608"/>
                  </a:cubicBezTo>
                  <a:lnTo>
                    <a:pt x="42467" y="41942"/>
                  </a:lnTo>
                  <a:lnTo>
                    <a:pt x="4732" y="41942"/>
                  </a:lnTo>
                  <a:cubicBezTo>
                    <a:pt x="3134" y="41942"/>
                    <a:pt x="184" y="41942"/>
                    <a:pt x="184" y="44861"/>
                  </a:cubicBezTo>
                  <a:cubicBezTo>
                    <a:pt x="184" y="47901"/>
                    <a:pt x="3011" y="47901"/>
                    <a:pt x="4732" y="47901"/>
                  </a:cubicBezTo>
                  <a:lnTo>
                    <a:pt x="42467" y="47901"/>
                  </a:lnTo>
                  <a:lnTo>
                    <a:pt x="42467" y="85236"/>
                  </a:lnTo>
                  <a:cubicBezTo>
                    <a:pt x="42467" y="86817"/>
                    <a:pt x="42467" y="89735"/>
                    <a:pt x="45417" y="89735"/>
                  </a:cubicBezTo>
                  <a:cubicBezTo>
                    <a:pt x="48490" y="89735"/>
                    <a:pt x="48490" y="86938"/>
                    <a:pt x="48490" y="85236"/>
                  </a:cubicBezTo>
                  <a:lnTo>
                    <a:pt x="48490" y="47901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45B00B43-3D0D-F9E3-BF4A-48A89DDBEAD0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5899132" y="4349610"/>
              <a:ext cx="44741" cy="80749"/>
            </a:xfrm>
            <a:custGeom>
              <a:avLst/>
              <a:gdLst>
                <a:gd name="connsiteX0" fmla="*/ 27969 w 44741"/>
                <a:gd name="connsiteY0" fmla="*/ 3513 h 80749"/>
                <a:gd name="connsiteX1" fmla="*/ 24282 w 44741"/>
                <a:gd name="connsiteY1" fmla="*/ 108 h 80749"/>
                <a:gd name="connsiteX2" fmla="*/ 190 w 44741"/>
                <a:gd name="connsiteY2" fmla="*/ 7891 h 80749"/>
                <a:gd name="connsiteX3" fmla="*/ 190 w 44741"/>
                <a:gd name="connsiteY3" fmla="*/ 12269 h 80749"/>
                <a:gd name="connsiteX4" fmla="*/ 18013 w 44741"/>
                <a:gd name="connsiteY4" fmla="*/ 8864 h 80749"/>
                <a:gd name="connsiteX5" fmla="*/ 18013 w 44741"/>
                <a:gd name="connsiteY5" fmla="*/ 70886 h 80749"/>
                <a:gd name="connsiteX6" fmla="*/ 5721 w 44741"/>
                <a:gd name="connsiteY6" fmla="*/ 76480 h 80749"/>
                <a:gd name="connsiteX7" fmla="*/ 1050 w 44741"/>
                <a:gd name="connsiteY7" fmla="*/ 76480 h 80749"/>
                <a:gd name="connsiteX8" fmla="*/ 1050 w 44741"/>
                <a:gd name="connsiteY8" fmla="*/ 80858 h 80749"/>
                <a:gd name="connsiteX9" fmla="*/ 22929 w 44741"/>
                <a:gd name="connsiteY9" fmla="*/ 80371 h 80749"/>
                <a:gd name="connsiteX10" fmla="*/ 44932 w 44741"/>
                <a:gd name="connsiteY10" fmla="*/ 80858 h 80749"/>
                <a:gd name="connsiteX11" fmla="*/ 44932 w 44741"/>
                <a:gd name="connsiteY11" fmla="*/ 76480 h 80749"/>
                <a:gd name="connsiteX12" fmla="*/ 40261 w 44741"/>
                <a:gd name="connsiteY12" fmla="*/ 76480 h 80749"/>
                <a:gd name="connsiteX13" fmla="*/ 27969 w 44741"/>
                <a:gd name="connsiteY13" fmla="*/ 70886 h 80749"/>
                <a:gd name="connsiteX14" fmla="*/ 27969 w 44741"/>
                <a:gd name="connsiteY14" fmla="*/ 3513 h 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41" h="80749">
                  <a:moveTo>
                    <a:pt x="27969" y="3513"/>
                  </a:moveTo>
                  <a:cubicBezTo>
                    <a:pt x="27969" y="230"/>
                    <a:pt x="27723" y="108"/>
                    <a:pt x="24282" y="108"/>
                  </a:cubicBezTo>
                  <a:cubicBezTo>
                    <a:pt x="16415" y="7770"/>
                    <a:pt x="5229" y="7891"/>
                    <a:pt x="190" y="7891"/>
                  </a:cubicBezTo>
                  <a:lnTo>
                    <a:pt x="190" y="12269"/>
                  </a:lnTo>
                  <a:cubicBezTo>
                    <a:pt x="3140" y="12269"/>
                    <a:pt x="11252" y="12269"/>
                    <a:pt x="18013" y="8864"/>
                  </a:cubicBezTo>
                  <a:lnTo>
                    <a:pt x="18013" y="70886"/>
                  </a:lnTo>
                  <a:cubicBezTo>
                    <a:pt x="18013" y="74899"/>
                    <a:pt x="18013" y="76480"/>
                    <a:pt x="5721" y="76480"/>
                  </a:cubicBezTo>
                  <a:lnTo>
                    <a:pt x="1050" y="76480"/>
                  </a:lnTo>
                  <a:lnTo>
                    <a:pt x="1050" y="80858"/>
                  </a:lnTo>
                  <a:cubicBezTo>
                    <a:pt x="3263" y="80736"/>
                    <a:pt x="18382" y="80371"/>
                    <a:pt x="22929" y="80371"/>
                  </a:cubicBezTo>
                  <a:cubicBezTo>
                    <a:pt x="26740" y="80371"/>
                    <a:pt x="42227" y="80736"/>
                    <a:pt x="44932" y="80858"/>
                  </a:cubicBezTo>
                  <a:lnTo>
                    <a:pt x="44932" y="76480"/>
                  </a:lnTo>
                  <a:lnTo>
                    <a:pt x="40261" y="76480"/>
                  </a:lnTo>
                  <a:cubicBezTo>
                    <a:pt x="27969" y="76480"/>
                    <a:pt x="27969" y="74899"/>
                    <a:pt x="27969" y="70886"/>
                  </a:cubicBezTo>
                  <a:lnTo>
                    <a:pt x="27969" y="3513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89C93EDE-EC97-35EB-83F9-D65C333D21F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023117" y="4340542"/>
              <a:ext cx="116770" cy="40652"/>
            </a:xfrm>
            <a:custGeom>
              <a:avLst/>
              <a:gdLst>
                <a:gd name="connsiteX0" fmla="*/ 110998 w 116770"/>
                <a:gd name="connsiteY0" fmla="*/ 7056 h 40652"/>
                <a:gd name="connsiteX1" fmla="*/ 116968 w 116770"/>
                <a:gd name="connsiteY1" fmla="*/ 3582 h 40652"/>
                <a:gd name="connsiteX2" fmla="*/ 111173 w 116770"/>
                <a:gd name="connsiteY2" fmla="*/ 107 h 40652"/>
                <a:gd name="connsiteX3" fmla="*/ 5992 w 116770"/>
                <a:gd name="connsiteY3" fmla="*/ 107 h 40652"/>
                <a:gd name="connsiteX4" fmla="*/ 197 w 116770"/>
                <a:gd name="connsiteY4" fmla="*/ 3582 h 40652"/>
                <a:gd name="connsiteX5" fmla="*/ 6167 w 116770"/>
                <a:gd name="connsiteY5" fmla="*/ 7056 h 40652"/>
                <a:gd name="connsiteX6" fmla="*/ 110998 w 116770"/>
                <a:gd name="connsiteY6" fmla="*/ 7056 h 40652"/>
                <a:gd name="connsiteX7" fmla="*/ 111173 w 116770"/>
                <a:gd name="connsiteY7" fmla="*/ 40760 h 40652"/>
                <a:gd name="connsiteX8" fmla="*/ 116968 w 116770"/>
                <a:gd name="connsiteY8" fmla="*/ 37285 h 40652"/>
                <a:gd name="connsiteX9" fmla="*/ 110998 w 116770"/>
                <a:gd name="connsiteY9" fmla="*/ 33810 h 40652"/>
                <a:gd name="connsiteX10" fmla="*/ 6167 w 116770"/>
                <a:gd name="connsiteY10" fmla="*/ 33810 h 40652"/>
                <a:gd name="connsiteX11" fmla="*/ 197 w 116770"/>
                <a:gd name="connsiteY11" fmla="*/ 37285 h 40652"/>
                <a:gd name="connsiteX12" fmla="*/ 5992 w 116770"/>
                <a:gd name="connsiteY12" fmla="*/ 40760 h 40652"/>
                <a:gd name="connsiteX13" fmla="*/ 111173 w 116770"/>
                <a:gd name="connsiteY13" fmla="*/ 40760 h 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770" h="40652">
                  <a:moveTo>
                    <a:pt x="110998" y="7056"/>
                  </a:moveTo>
                  <a:cubicBezTo>
                    <a:pt x="113632" y="7056"/>
                    <a:pt x="116968" y="7056"/>
                    <a:pt x="116968" y="3582"/>
                  </a:cubicBezTo>
                  <a:cubicBezTo>
                    <a:pt x="116968" y="107"/>
                    <a:pt x="113632" y="107"/>
                    <a:pt x="111173" y="107"/>
                  </a:cubicBezTo>
                  <a:lnTo>
                    <a:pt x="5992" y="107"/>
                  </a:lnTo>
                  <a:cubicBezTo>
                    <a:pt x="3533" y="107"/>
                    <a:pt x="197" y="107"/>
                    <a:pt x="197" y="3582"/>
                  </a:cubicBezTo>
                  <a:cubicBezTo>
                    <a:pt x="197" y="7056"/>
                    <a:pt x="3533" y="7056"/>
                    <a:pt x="6167" y="7056"/>
                  </a:cubicBezTo>
                  <a:lnTo>
                    <a:pt x="110998" y="7056"/>
                  </a:lnTo>
                  <a:close/>
                  <a:moveTo>
                    <a:pt x="111173" y="40760"/>
                  </a:moveTo>
                  <a:cubicBezTo>
                    <a:pt x="113632" y="40760"/>
                    <a:pt x="116968" y="40760"/>
                    <a:pt x="116968" y="37285"/>
                  </a:cubicBezTo>
                  <a:cubicBezTo>
                    <a:pt x="116968" y="33810"/>
                    <a:pt x="113632" y="33810"/>
                    <a:pt x="110998" y="33810"/>
                  </a:cubicBezTo>
                  <a:lnTo>
                    <a:pt x="6167" y="33810"/>
                  </a:lnTo>
                  <a:cubicBezTo>
                    <a:pt x="3533" y="33810"/>
                    <a:pt x="197" y="33810"/>
                    <a:pt x="197" y="37285"/>
                  </a:cubicBezTo>
                  <a:cubicBezTo>
                    <a:pt x="197" y="40760"/>
                    <a:pt x="3533" y="40760"/>
                    <a:pt x="5992" y="40760"/>
                  </a:cubicBezTo>
                  <a:lnTo>
                    <a:pt x="111173" y="4076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形状 46">
              <a:extLst>
                <a:ext uri="{FF2B5EF4-FFF2-40B4-BE49-F238E27FC236}">
                  <a16:creationId xmlns:a16="http://schemas.microsoft.com/office/drawing/2014/main" id="{FF052C3E-1E65-D9AE-9077-9509BE9637A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206009" y="4281821"/>
              <a:ext cx="72520" cy="124390"/>
            </a:xfrm>
            <a:custGeom>
              <a:avLst/>
              <a:gdLst>
                <a:gd name="connsiteX0" fmla="*/ 72728 w 72520"/>
                <a:gd name="connsiteY0" fmla="*/ 35721 h 124390"/>
                <a:gd name="connsiteX1" fmla="*/ 51657 w 72520"/>
                <a:gd name="connsiteY1" fmla="*/ 107 h 124390"/>
                <a:gd name="connsiteX2" fmla="*/ 208 w 72520"/>
                <a:gd name="connsiteY2" fmla="*/ 88883 h 124390"/>
                <a:gd name="connsiteX3" fmla="*/ 21279 w 72520"/>
                <a:gd name="connsiteY3" fmla="*/ 124497 h 124390"/>
                <a:gd name="connsiteX4" fmla="*/ 72728 w 72520"/>
                <a:gd name="connsiteY4" fmla="*/ 35721 h 124390"/>
                <a:gd name="connsiteX5" fmla="*/ 18821 w 72520"/>
                <a:gd name="connsiteY5" fmla="*/ 59522 h 124390"/>
                <a:gd name="connsiteX6" fmla="*/ 32342 w 72520"/>
                <a:gd name="connsiteY6" fmla="*/ 22171 h 124390"/>
                <a:gd name="connsiteX7" fmla="*/ 51481 w 72520"/>
                <a:gd name="connsiteY7" fmla="*/ 3929 h 124390"/>
                <a:gd name="connsiteX8" fmla="*/ 61139 w 72520"/>
                <a:gd name="connsiteY8" fmla="*/ 24950 h 124390"/>
                <a:gd name="connsiteX9" fmla="*/ 55520 w 72520"/>
                <a:gd name="connsiteY9" fmla="*/ 59522 h 124390"/>
                <a:gd name="connsiteX10" fmla="*/ 18821 w 72520"/>
                <a:gd name="connsiteY10" fmla="*/ 59522 h 124390"/>
                <a:gd name="connsiteX11" fmla="*/ 53940 w 72520"/>
                <a:gd name="connsiteY11" fmla="*/ 65082 h 124390"/>
                <a:gd name="connsiteX12" fmla="*/ 41648 w 72520"/>
                <a:gd name="connsiteY12" fmla="*/ 100349 h 124390"/>
                <a:gd name="connsiteX13" fmla="*/ 21279 w 72520"/>
                <a:gd name="connsiteY13" fmla="*/ 120675 h 124390"/>
                <a:gd name="connsiteX14" fmla="*/ 11797 w 72520"/>
                <a:gd name="connsiteY14" fmla="*/ 99480 h 124390"/>
                <a:gd name="connsiteX15" fmla="*/ 17416 w 72520"/>
                <a:gd name="connsiteY15" fmla="*/ 65082 h 124390"/>
                <a:gd name="connsiteX16" fmla="*/ 53940 w 72520"/>
                <a:gd name="connsiteY16" fmla="*/ 65082 h 12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520" h="124390">
                  <a:moveTo>
                    <a:pt x="72728" y="35721"/>
                  </a:moveTo>
                  <a:cubicBezTo>
                    <a:pt x="72728" y="24255"/>
                    <a:pt x="69568" y="107"/>
                    <a:pt x="51657" y="107"/>
                  </a:cubicBezTo>
                  <a:cubicBezTo>
                    <a:pt x="27249" y="107"/>
                    <a:pt x="208" y="49099"/>
                    <a:pt x="208" y="88883"/>
                  </a:cubicBezTo>
                  <a:cubicBezTo>
                    <a:pt x="208" y="105213"/>
                    <a:pt x="5300" y="124497"/>
                    <a:pt x="21279" y="124497"/>
                  </a:cubicBezTo>
                  <a:cubicBezTo>
                    <a:pt x="46038" y="124497"/>
                    <a:pt x="72728" y="74637"/>
                    <a:pt x="72728" y="35721"/>
                  </a:cubicBezTo>
                  <a:close/>
                  <a:moveTo>
                    <a:pt x="18821" y="59522"/>
                  </a:moveTo>
                  <a:cubicBezTo>
                    <a:pt x="21806" y="48404"/>
                    <a:pt x="25318" y="34505"/>
                    <a:pt x="32342" y="22171"/>
                  </a:cubicBezTo>
                  <a:cubicBezTo>
                    <a:pt x="37083" y="13658"/>
                    <a:pt x="43580" y="3929"/>
                    <a:pt x="51481" y="3929"/>
                  </a:cubicBezTo>
                  <a:cubicBezTo>
                    <a:pt x="60086" y="3929"/>
                    <a:pt x="61139" y="15048"/>
                    <a:pt x="61139" y="24950"/>
                  </a:cubicBezTo>
                  <a:cubicBezTo>
                    <a:pt x="61139" y="33463"/>
                    <a:pt x="59734" y="42323"/>
                    <a:pt x="55520" y="59522"/>
                  </a:cubicBezTo>
                  <a:lnTo>
                    <a:pt x="18821" y="59522"/>
                  </a:lnTo>
                  <a:close/>
                  <a:moveTo>
                    <a:pt x="53940" y="65082"/>
                  </a:moveTo>
                  <a:cubicBezTo>
                    <a:pt x="52008" y="73073"/>
                    <a:pt x="48321" y="87840"/>
                    <a:pt x="41648" y="100349"/>
                  </a:cubicBezTo>
                  <a:cubicBezTo>
                    <a:pt x="35502" y="112162"/>
                    <a:pt x="28830" y="120675"/>
                    <a:pt x="21279" y="120675"/>
                  </a:cubicBezTo>
                  <a:cubicBezTo>
                    <a:pt x="15484" y="120675"/>
                    <a:pt x="11797" y="115637"/>
                    <a:pt x="11797" y="99480"/>
                  </a:cubicBezTo>
                  <a:cubicBezTo>
                    <a:pt x="11797" y="92183"/>
                    <a:pt x="12850" y="82107"/>
                    <a:pt x="17416" y="65082"/>
                  </a:cubicBezTo>
                  <a:lnTo>
                    <a:pt x="53940" y="65082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形状 47">
              <a:extLst>
                <a:ext uri="{FF2B5EF4-FFF2-40B4-BE49-F238E27FC236}">
                  <a16:creationId xmlns:a16="http://schemas.microsoft.com/office/drawing/2014/main" id="{42BAB5A3-7260-A7B1-BD3F-0BC6A7F6F83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286229" y="4354353"/>
              <a:ext cx="41545" cy="77222"/>
            </a:xfrm>
            <a:custGeom>
              <a:avLst/>
              <a:gdLst>
                <a:gd name="connsiteX0" fmla="*/ 25287 w 41545"/>
                <a:gd name="connsiteY0" fmla="*/ 28079 h 77222"/>
                <a:gd name="connsiteX1" fmla="*/ 37825 w 41545"/>
                <a:gd name="connsiteY1" fmla="*/ 28079 h 77222"/>
                <a:gd name="connsiteX2" fmla="*/ 41758 w 41545"/>
                <a:gd name="connsiteY2" fmla="*/ 25403 h 77222"/>
                <a:gd name="connsiteX3" fmla="*/ 38071 w 41545"/>
                <a:gd name="connsiteY3" fmla="*/ 23701 h 77222"/>
                <a:gd name="connsiteX4" fmla="*/ 26394 w 41545"/>
                <a:gd name="connsiteY4" fmla="*/ 23701 h 77222"/>
                <a:gd name="connsiteX5" fmla="*/ 30941 w 41545"/>
                <a:gd name="connsiteY5" fmla="*/ 5702 h 77222"/>
                <a:gd name="connsiteX6" fmla="*/ 31310 w 41545"/>
                <a:gd name="connsiteY6" fmla="*/ 4000 h 77222"/>
                <a:gd name="connsiteX7" fmla="*/ 27131 w 41545"/>
                <a:gd name="connsiteY7" fmla="*/ 108 h 77222"/>
                <a:gd name="connsiteX8" fmla="*/ 21354 w 41545"/>
                <a:gd name="connsiteY8" fmla="*/ 5338 h 77222"/>
                <a:gd name="connsiteX9" fmla="*/ 16683 w 41545"/>
                <a:gd name="connsiteY9" fmla="*/ 23701 h 77222"/>
                <a:gd name="connsiteX10" fmla="*/ 4146 w 41545"/>
                <a:gd name="connsiteY10" fmla="*/ 23701 h 77222"/>
                <a:gd name="connsiteX11" fmla="*/ 212 w 41545"/>
                <a:gd name="connsiteY11" fmla="*/ 26376 h 77222"/>
                <a:gd name="connsiteX12" fmla="*/ 3900 w 41545"/>
                <a:gd name="connsiteY12" fmla="*/ 28079 h 77222"/>
                <a:gd name="connsiteX13" fmla="*/ 15577 w 41545"/>
                <a:gd name="connsiteY13" fmla="*/ 28079 h 77222"/>
                <a:gd name="connsiteX14" fmla="*/ 8325 w 41545"/>
                <a:gd name="connsiteY14" fmla="*/ 56779 h 77222"/>
                <a:gd name="connsiteX15" fmla="*/ 6481 w 41545"/>
                <a:gd name="connsiteY15" fmla="*/ 65778 h 77222"/>
                <a:gd name="connsiteX16" fmla="*/ 19633 w 41545"/>
                <a:gd name="connsiteY16" fmla="*/ 77331 h 77222"/>
                <a:gd name="connsiteX17" fmla="*/ 41021 w 41545"/>
                <a:gd name="connsiteY17" fmla="*/ 58725 h 77222"/>
                <a:gd name="connsiteX18" fmla="*/ 39054 w 41545"/>
                <a:gd name="connsiteY18" fmla="*/ 57144 h 77222"/>
                <a:gd name="connsiteX19" fmla="*/ 36473 w 41545"/>
                <a:gd name="connsiteY19" fmla="*/ 59454 h 77222"/>
                <a:gd name="connsiteX20" fmla="*/ 20002 w 41545"/>
                <a:gd name="connsiteY20" fmla="*/ 73926 h 77222"/>
                <a:gd name="connsiteX21" fmla="*/ 15700 w 41545"/>
                <a:gd name="connsiteY21" fmla="*/ 67967 h 77222"/>
                <a:gd name="connsiteX22" fmla="*/ 16437 w 41545"/>
                <a:gd name="connsiteY22" fmla="*/ 62981 h 77222"/>
                <a:gd name="connsiteX23" fmla="*/ 25287 w 41545"/>
                <a:gd name="connsiteY23" fmla="*/ 28079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287" y="28079"/>
                  </a:moveTo>
                  <a:lnTo>
                    <a:pt x="37825" y="28079"/>
                  </a:lnTo>
                  <a:cubicBezTo>
                    <a:pt x="40160" y="28079"/>
                    <a:pt x="41758" y="28079"/>
                    <a:pt x="41758" y="25403"/>
                  </a:cubicBezTo>
                  <a:cubicBezTo>
                    <a:pt x="41758" y="23701"/>
                    <a:pt x="40160" y="23701"/>
                    <a:pt x="38071" y="23701"/>
                  </a:cubicBezTo>
                  <a:lnTo>
                    <a:pt x="26394" y="23701"/>
                  </a:lnTo>
                  <a:lnTo>
                    <a:pt x="30941" y="5702"/>
                  </a:lnTo>
                  <a:cubicBezTo>
                    <a:pt x="31064" y="5094"/>
                    <a:pt x="31310" y="4486"/>
                    <a:pt x="31310" y="4000"/>
                  </a:cubicBezTo>
                  <a:cubicBezTo>
                    <a:pt x="31310" y="1811"/>
                    <a:pt x="29589" y="108"/>
                    <a:pt x="27131" y="108"/>
                  </a:cubicBezTo>
                  <a:cubicBezTo>
                    <a:pt x="24058" y="108"/>
                    <a:pt x="22214" y="2176"/>
                    <a:pt x="21354" y="5338"/>
                  </a:cubicBezTo>
                  <a:cubicBezTo>
                    <a:pt x="20494" y="8378"/>
                    <a:pt x="22091" y="2541"/>
                    <a:pt x="16683" y="23701"/>
                  </a:cubicBezTo>
                  <a:lnTo>
                    <a:pt x="4146" y="23701"/>
                  </a:lnTo>
                  <a:cubicBezTo>
                    <a:pt x="1810" y="23701"/>
                    <a:pt x="212" y="23701"/>
                    <a:pt x="212" y="26376"/>
                  </a:cubicBezTo>
                  <a:cubicBezTo>
                    <a:pt x="212" y="28079"/>
                    <a:pt x="1687" y="28079"/>
                    <a:pt x="3900" y="28079"/>
                  </a:cubicBezTo>
                  <a:lnTo>
                    <a:pt x="15577" y="28079"/>
                  </a:lnTo>
                  <a:lnTo>
                    <a:pt x="8325" y="56779"/>
                  </a:lnTo>
                  <a:cubicBezTo>
                    <a:pt x="7587" y="59819"/>
                    <a:pt x="6481" y="64197"/>
                    <a:pt x="6481" y="65778"/>
                  </a:cubicBezTo>
                  <a:cubicBezTo>
                    <a:pt x="6481" y="72953"/>
                    <a:pt x="12627" y="77331"/>
                    <a:pt x="19633" y="77331"/>
                  </a:cubicBezTo>
                  <a:cubicBezTo>
                    <a:pt x="33277" y="77331"/>
                    <a:pt x="41021" y="60306"/>
                    <a:pt x="41021" y="58725"/>
                  </a:cubicBezTo>
                  <a:cubicBezTo>
                    <a:pt x="41021" y="57144"/>
                    <a:pt x="39423" y="57144"/>
                    <a:pt x="39054" y="57144"/>
                  </a:cubicBezTo>
                  <a:cubicBezTo>
                    <a:pt x="37579" y="57144"/>
                    <a:pt x="37456" y="57387"/>
                    <a:pt x="36473" y="59454"/>
                  </a:cubicBezTo>
                  <a:cubicBezTo>
                    <a:pt x="33031" y="67116"/>
                    <a:pt x="26762" y="73926"/>
                    <a:pt x="20002" y="73926"/>
                  </a:cubicBezTo>
                  <a:cubicBezTo>
                    <a:pt x="17421" y="73926"/>
                    <a:pt x="15700" y="72345"/>
                    <a:pt x="15700" y="67967"/>
                  </a:cubicBezTo>
                  <a:cubicBezTo>
                    <a:pt x="15700" y="66751"/>
                    <a:pt x="16191" y="64197"/>
                    <a:pt x="16437" y="62981"/>
                  </a:cubicBezTo>
                  <a:lnTo>
                    <a:pt x="25287" y="2807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形状 48">
              <a:extLst>
                <a:ext uri="{FF2B5EF4-FFF2-40B4-BE49-F238E27FC236}">
                  <a16:creationId xmlns:a16="http://schemas.microsoft.com/office/drawing/2014/main" id="{4E915407-E8CB-6114-3F65-382F0BF27BB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396485" y="4357393"/>
              <a:ext cx="107288" cy="6949"/>
            </a:xfrm>
            <a:custGeom>
              <a:avLst/>
              <a:gdLst>
                <a:gd name="connsiteX0" fmla="*/ 101361 w 107288"/>
                <a:gd name="connsiteY0" fmla="*/ 7056 h 6949"/>
                <a:gd name="connsiteX1" fmla="*/ 107507 w 107288"/>
                <a:gd name="connsiteY1" fmla="*/ 3582 h 6949"/>
                <a:gd name="connsiteX2" fmla="*/ 101361 w 107288"/>
                <a:gd name="connsiteY2" fmla="*/ 107 h 6949"/>
                <a:gd name="connsiteX3" fmla="*/ 6364 w 107288"/>
                <a:gd name="connsiteY3" fmla="*/ 107 h 6949"/>
                <a:gd name="connsiteX4" fmla="*/ 218 w 107288"/>
                <a:gd name="connsiteY4" fmla="*/ 3582 h 6949"/>
                <a:gd name="connsiteX5" fmla="*/ 6364 w 107288"/>
                <a:gd name="connsiteY5" fmla="*/ 7056 h 6949"/>
                <a:gd name="connsiteX6" fmla="*/ 101361 w 107288"/>
                <a:gd name="connsiteY6" fmla="*/ 7056 h 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288" h="6949">
                  <a:moveTo>
                    <a:pt x="101361" y="7056"/>
                  </a:moveTo>
                  <a:cubicBezTo>
                    <a:pt x="104346" y="7056"/>
                    <a:pt x="107507" y="7056"/>
                    <a:pt x="107507" y="3582"/>
                  </a:cubicBezTo>
                  <a:cubicBezTo>
                    <a:pt x="107507" y="107"/>
                    <a:pt x="104346" y="107"/>
                    <a:pt x="101361" y="107"/>
                  </a:cubicBezTo>
                  <a:lnTo>
                    <a:pt x="6364" y="107"/>
                  </a:lnTo>
                  <a:cubicBezTo>
                    <a:pt x="3379" y="107"/>
                    <a:pt x="218" y="107"/>
                    <a:pt x="218" y="3582"/>
                  </a:cubicBezTo>
                  <a:cubicBezTo>
                    <a:pt x="218" y="7056"/>
                    <a:pt x="3379" y="7056"/>
                    <a:pt x="6364" y="7056"/>
                  </a:cubicBezTo>
                  <a:lnTo>
                    <a:pt x="101361" y="7056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2FF39CC1-790A-88FC-632A-64623E36BC3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562598" y="4327512"/>
              <a:ext cx="82003" cy="114313"/>
            </a:xfrm>
            <a:custGeom>
              <a:avLst/>
              <a:gdLst>
                <a:gd name="connsiteX0" fmla="*/ 80826 w 82003"/>
                <a:gd name="connsiteY0" fmla="*/ 28772 h 114313"/>
                <a:gd name="connsiteX1" fmla="*/ 82231 w 82003"/>
                <a:gd name="connsiteY1" fmla="*/ 18696 h 114313"/>
                <a:gd name="connsiteX2" fmla="*/ 62038 w 82003"/>
                <a:gd name="connsiteY2" fmla="*/ 107 h 114313"/>
                <a:gd name="connsiteX3" fmla="*/ 34820 w 82003"/>
                <a:gd name="connsiteY3" fmla="*/ 15221 h 114313"/>
                <a:gd name="connsiteX4" fmla="*/ 18665 w 82003"/>
                <a:gd name="connsiteY4" fmla="*/ 107 h 114313"/>
                <a:gd name="connsiteX5" fmla="*/ 5671 w 82003"/>
                <a:gd name="connsiteY5" fmla="*/ 10009 h 114313"/>
                <a:gd name="connsiteX6" fmla="*/ 228 w 82003"/>
                <a:gd name="connsiteY6" fmla="*/ 26861 h 114313"/>
                <a:gd name="connsiteX7" fmla="*/ 2335 w 82003"/>
                <a:gd name="connsiteY7" fmla="*/ 28599 h 114313"/>
                <a:gd name="connsiteX8" fmla="*/ 5320 w 82003"/>
                <a:gd name="connsiteY8" fmla="*/ 24603 h 114313"/>
                <a:gd name="connsiteX9" fmla="*/ 18139 w 82003"/>
                <a:gd name="connsiteY9" fmla="*/ 3929 h 114313"/>
                <a:gd name="connsiteX10" fmla="*/ 23582 w 82003"/>
                <a:gd name="connsiteY10" fmla="*/ 11921 h 114313"/>
                <a:gd name="connsiteX11" fmla="*/ 20773 w 82003"/>
                <a:gd name="connsiteY11" fmla="*/ 26514 h 114313"/>
                <a:gd name="connsiteX12" fmla="*/ 10588 w 82003"/>
                <a:gd name="connsiteY12" fmla="*/ 66645 h 114313"/>
                <a:gd name="connsiteX13" fmla="*/ 9008 w 82003"/>
                <a:gd name="connsiteY13" fmla="*/ 74116 h 114313"/>
                <a:gd name="connsiteX14" fmla="*/ 14100 w 82003"/>
                <a:gd name="connsiteY14" fmla="*/ 78806 h 114313"/>
                <a:gd name="connsiteX15" fmla="*/ 20597 w 82003"/>
                <a:gd name="connsiteY15" fmla="*/ 73942 h 114313"/>
                <a:gd name="connsiteX16" fmla="*/ 23933 w 82003"/>
                <a:gd name="connsiteY16" fmla="*/ 61086 h 114313"/>
                <a:gd name="connsiteX17" fmla="*/ 27796 w 82003"/>
                <a:gd name="connsiteY17" fmla="*/ 45450 h 114313"/>
                <a:gd name="connsiteX18" fmla="*/ 30782 w 82003"/>
                <a:gd name="connsiteY18" fmla="*/ 33810 h 114313"/>
                <a:gd name="connsiteX19" fmla="*/ 32713 w 82003"/>
                <a:gd name="connsiteY19" fmla="*/ 25993 h 114313"/>
                <a:gd name="connsiteX20" fmla="*/ 44654 w 82003"/>
                <a:gd name="connsiteY20" fmla="*/ 10009 h 114313"/>
                <a:gd name="connsiteX21" fmla="*/ 61511 w 82003"/>
                <a:gd name="connsiteY21" fmla="*/ 3929 h 114313"/>
                <a:gd name="connsiteX22" fmla="*/ 70993 w 82003"/>
                <a:gd name="connsiteY22" fmla="*/ 16090 h 114313"/>
                <a:gd name="connsiteX23" fmla="*/ 69237 w 82003"/>
                <a:gd name="connsiteY23" fmla="*/ 27035 h 114313"/>
                <a:gd name="connsiteX24" fmla="*/ 49219 w 82003"/>
                <a:gd name="connsiteY24" fmla="*/ 106950 h 114313"/>
                <a:gd name="connsiteX25" fmla="*/ 48692 w 82003"/>
                <a:gd name="connsiteY25" fmla="*/ 109730 h 114313"/>
                <a:gd name="connsiteX26" fmla="*/ 53609 w 82003"/>
                <a:gd name="connsiteY26" fmla="*/ 114421 h 114313"/>
                <a:gd name="connsiteX27" fmla="*/ 60808 w 82003"/>
                <a:gd name="connsiteY27" fmla="*/ 107472 h 114313"/>
                <a:gd name="connsiteX28" fmla="*/ 80826 w 82003"/>
                <a:gd name="connsiteY28" fmla="*/ 28772 h 11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2003" h="114313">
                  <a:moveTo>
                    <a:pt x="80826" y="28772"/>
                  </a:moveTo>
                  <a:cubicBezTo>
                    <a:pt x="81704" y="25645"/>
                    <a:pt x="82231" y="23387"/>
                    <a:pt x="82231" y="18696"/>
                  </a:cubicBezTo>
                  <a:cubicBezTo>
                    <a:pt x="82231" y="7404"/>
                    <a:pt x="75207" y="107"/>
                    <a:pt x="62038" y="107"/>
                  </a:cubicBezTo>
                  <a:cubicBezTo>
                    <a:pt x="48165" y="107"/>
                    <a:pt x="39035" y="9141"/>
                    <a:pt x="34820" y="15221"/>
                  </a:cubicBezTo>
                  <a:cubicBezTo>
                    <a:pt x="33942" y="5319"/>
                    <a:pt x="26567" y="107"/>
                    <a:pt x="18665" y="107"/>
                  </a:cubicBezTo>
                  <a:cubicBezTo>
                    <a:pt x="10588" y="107"/>
                    <a:pt x="7252" y="6882"/>
                    <a:pt x="5671" y="10009"/>
                  </a:cubicBezTo>
                  <a:cubicBezTo>
                    <a:pt x="2511" y="15916"/>
                    <a:pt x="228" y="26340"/>
                    <a:pt x="228" y="26861"/>
                  </a:cubicBezTo>
                  <a:cubicBezTo>
                    <a:pt x="228" y="28599"/>
                    <a:pt x="1984" y="28599"/>
                    <a:pt x="2335" y="28599"/>
                  </a:cubicBezTo>
                  <a:cubicBezTo>
                    <a:pt x="4091" y="28599"/>
                    <a:pt x="4267" y="28425"/>
                    <a:pt x="5320" y="24603"/>
                  </a:cubicBezTo>
                  <a:cubicBezTo>
                    <a:pt x="8305" y="12268"/>
                    <a:pt x="11817" y="3929"/>
                    <a:pt x="18139" y="3929"/>
                  </a:cubicBezTo>
                  <a:cubicBezTo>
                    <a:pt x="21124" y="3929"/>
                    <a:pt x="23582" y="5319"/>
                    <a:pt x="23582" y="11921"/>
                  </a:cubicBezTo>
                  <a:cubicBezTo>
                    <a:pt x="23582" y="15569"/>
                    <a:pt x="23055" y="17480"/>
                    <a:pt x="20773" y="26514"/>
                  </a:cubicBezTo>
                  <a:lnTo>
                    <a:pt x="10588" y="66645"/>
                  </a:lnTo>
                  <a:cubicBezTo>
                    <a:pt x="10061" y="69251"/>
                    <a:pt x="9008" y="73247"/>
                    <a:pt x="9008" y="74116"/>
                  </a:cubicBezTo>
                  <a:cubicBezTo>
                    <a:pt x="9008" y="77243"/>
                    <a:pt x="11466" y="78806"/>
                    <a:pt x="14100" y="78806"/>
                  </a:cubicBezTo>
                  <a:cubicBezTo>
                    <a:pt x="16207" y="78806"/>
                    <a:pt x="19368" y="77416"/>
                    <a:pt x="20597" y="73942"/>
                  </a:cubicBezTo>
                  <a:cubicBezTo>
                    <a:pt x="20773" y="73594"/>
                    <a:pt x="22880" y="65429"/>
                    <a:pt x="23933" y="61086"/>
                  </a:cubicBezTo>
                  <a:lnTo>
                    <a:pt x="27796" y="45450"/>
                  </a:lnTo>
                  <a:cubicBezTo>
                    <a:pt x="28850" y="41628"/>
                    <a:pt x="29904" y="37806"/>
                    <a:pt x="30782" y="33810"/>
                  </a:cubicBezTo>
                  <a:cubicBezTo>
                    <a:pt x="31133" y="32768"/>
                    <a:pt x="32537" y="27035"/>
                    <a:pt x="32713" y="25993"/>
                  </a:cubicBezTo>
                  <a:cubicBezTo>
                    <a:pt x="33240" y="24429"/>
                    <a:pt x="38683" y="14700"/>
                    <a:pt x="44654" y="10009"/>
                  </a:cubicBezTo>
                  <a:cubicBezTo>
                    <a:pt x="48517" y="7230"/>
                    <a:pt x="53960" y="3929"/>
                    <a:pt x="61511" y="3929"/>
                  </a:cubicBezTo>
                  <a:cubicBezTo>
                    <a:pt x="69061" y="3929"/>
                    <a:pt x="70993" y="9836"/>
                    <a:pt x="70993" y="16090"/>
                  </a:cubicBezTo>
                  <a:cubicBezTo>
                    <a:pt x="70993" y="16959"/>
                    <a:pt x="70993" y="20086"/>
                    <a:pt x="69237" y="27035"/>
                  </a:cubicBezTo>
                  <a:lnTo>
                    <a:pt x="49219" y="106950"/>
                  </a:lnTo>
                  <a:cubicBezTo>
                    <a:pt x="48692" y="109035"/>
                    <a:pt x="48692" y="109383"/>
                    <a:pt x="48692" y="109730"/>
                  </a:cubicBezTo>
                  <a:cubicBezTo>
                    <a:pt x="48692" y="112336"/>
                    <a:pt x="50624" y="114421"/>
                    <a:pt x="53609" y="114421"/>
                  </a:cubicBezTo>
                  <a:cubicBezTo>
                    <a:pt x="59052" y="114421"/>
                    <a:pt x="60282" y="109383"/>
                    <a:pt x="60808" y="107472"/>
                  </a:cubicBezTo>
                  <a:lnTo>
                    <a:pt x="80826" y="28772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形状 50">
              <a:extLst>
                <a:ext uri="{FF2B5EF4-FFF2-40B4-BE49-F238E27FC236}">
                  <a16:creationId xmlns:a16="http://schemas.microsoft.com/office/drawing/2014/main" id="{AA572C8B-92F7-39E3-3CD8-C23261A39C0A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857336" y="4209983"/>
              <a:ext cx="143812" cy="78699"/>
            </a:xfrm>
            <a:custGeom>
              <a:avLst/>
              <a:gdLst>
                <a:gd name="connsiteX0" fmla="*/ 10605 w 143812"/>
                <a:gd name="connsiteY0" fmla="*/ 66638 h 78699"/>
                <a:gd name="connsiteX1" fmla="*/ 9024 w 143812"/>
                <a:gd name="connsiteY1" fmla="*/ 74109 h 78699"/>
                <a:gd name="connsiteX2" fmla="*/ 14117 w 143812"/>
                <a:gd name="connsiteY2" fmla="*/ 78800 h 78699"/>
                <a:gd name="connsiteX3" fmla="*/ 20614 w 143812"/>
                <a:gd name="connsiteY3" fmla="*/ 73935 h 78699"/>
                <a:gd name="connsiteX4" fmla="*/ 23950 w 143812"/>
                <a:gd name="connsiteY4" fmla="*/ 61079 h 78699"/>
                <a:gd name="connsiteX5" fmla="*/ 27813 w 143812"/>
                <a:gd name="connsiteY5" fmla="*/ 45444 h 78699"/>
                <a:gd name="connsiteX6" fmla="*/ 30798 w 143812"/>
                <a:gd name="connsiteY6" fmla="*/ 33804 h 78699"/>
                <a:gd name="connsiteX7" fmla="*/ 33081 w 143812"/>
                <a:gd name="connsiteY7" fmla="*/ 25117 h 78699"/>
                <a:gd name="connsiteX8" fmla="*/ 61703 w 143812"/>
                <a:gd name="connsiteY8" fmla="*/ 3922 h 78699"/>
                <a:gd name="connsiteX9" fmla="*/ 71185 w 143812"/>
                <a:gd name="connsiteY9" fmla="*/ 16083 h 78699"/>
                <a:gd name="connsiteX10" fmla="*/ 68551 w 143812"/>
                <a:gd name="connsiteY10" fmla="*/ 30503 h 78699"/>
                <a:gd name="connsiteX11" fmla="*/ 63635 w 143812"/>
                <a:gd name="connsiteY11" fmla="*/ 50655 h 78699"/>
                <a:gd name="connsiteX12" fmla="*/ 60123 w 143812"/>
                <a:gd name="connsiteY12" fmla="*/ 63859 h 78699"/>
                <a:gd name="connsiteX13" fmla="*/ 57840 w 143812"/>
                <a:gd name="connsiteY13" fmla="*/ 74109 h 78699"/>
                <a:gd name="connsiteX14" fmla="*/ 62932 w 143812"/>
                <a:gd name="connsiteY14" fmla="*/ 78800 h 78699"/>
                <a:gd name="connsiteX15" fmla="*/ 70834 w 143812"/>
                <a:gd name="connsiteY15" fmla="*/ 68897 h 78699"/>
                <a:gd name="connsiteX16" fmla="*/ 81370 w 143812"/>
                <a:gd name="connsiteY16" fmla="*/ 27028 h 78699"/>
                <a:gd name="connsiteX17" fmla="*/ 110343 w 143812"/>
                <a:gd name="connsiteY17" fmla="*/ 3922 h 78699"/>
                <a:gd name="connsiteX18" fmla="*/ 119825 w 143812"/>
                <a:gd name="connsiteY18" fmla="*/ 16083 h 78699"/>
                <a:gd name="connsiteX19" fmla="*/ 108938 w 143812"/>
                <a:gd name="connsiteY19" fmla="*/ 54999 h 78699"/>
                <a:gd name="connsiteX20" fmla="*/ 106655 w 143812"/>
                <a:gd name="connsiteY20" fmla="*/ 64554 h 78699"/>
                <a:gd name="connsiteX21" fmla="*/ 121054 w 143812"/>
                <a:gd name="connsiteY21" fmla="*/ 78800 h 78699"/>
                <a:gd name="connsiteX22" fmla="*/ 144057 w 143812"/>
                <a:gd name="connsiteY22" fmla="*/ 52045 h 78699"/>
                <a:gd name="connsiteX23" fmla="*/ 141950 w 143812"/>
                <a:gd name="connsiteY23" fmla="*/ 50308 h 78699"/>
                <a:gd name="connsiteX24" fmla="*/ 139316 w 143812"/>
                <a:gd name="connsiteY24" fmla="*/ 53435 h 78699"/>
                <a:gd name="connsiteX25" fmla="*/ 121405 w 143812"/>
                <a:gd name="connsiteY25" fmla="*/ 74978 h 78699"/>
                <a:gd name="connsiteX26" fmla="*/ 117191 w 143812"/>
                <a:gd name="connsiteY26" fmla="*/ 69244 h 78699"/>
                <a:gd name="connsiteX27" fmla="*/ 120352 w 143812"/>
                <a:gd name="connsiteY27" fmla="*/ 56910 h 78699"/>
                <a:gd name="connsiteX28" fmla="*/ 131063 w 143812"/>
                <a:gd name="connsiteY28" fmla="*/ 18689 h 78699"/>
                <a:gd name="connsiteX29" fmla="*/ 110870 w 143812"/>
                <a:gd name="connsiteY29" fmla="*/ 100 h 78699"/>
                <a:gd name="connsiteX30" fmla="*/ 82248 w 143812"/>
                <a:gd name="connsiteY30" fmla="*/ 16952 h 78699"/>
                <a:gd name="connsiteX31" fmla="*/ 76629 w 143812"/>
                <a:gd name="connsiteY31" fmla="*/ 4617 h 78699"/>
                <a:gd name="connsiteX32" fmla="*/ 62230 w 143812"/>
                <a:gd name="connsiteY32" fmla="*/ 100 h 78699"/>
                <a:gd name="connsiteX33" fmla="*/ 34837 w 143812"/>
                <a:gd name="connsiteY33" fmla="*/ 15215 h 78699"/>
                <a:gd name="connsiteX34" fmla="*/ 18682 w 143812"/>
                <a:gd name="connsiteY34" fmla="*/ 100 h 78699"/>
                <a:gd name="connsiteX35" fmla="*/ 5688 w 143812"/>
                <a:gd name="connsiteY35" fmla="*/ 10003 h 78699"/>
                <a:gd name="connsiteX36" fmla="*/ 245 w 143812"/>
                <a:gd name="connsiteY36" fmla="*/ 26854 h 78699"/>
                <a:gd name="connsiteX37" fmla="*/ 2352 w 143812"/>
                <a:gd name="connsiteY37" fmla="*/ 28592 h 78699"/>
                <a:gd name="connsiteX38" fmla="*/ 5337 w 143812"/>
                <a:gd name="connsiteY38" fmla="*/ 24596 h 78699"/>
                <a:gd name="connsiteX39" fmla="*/ 18155 w 143812"/>
                <a:gd name="connsiteY39" fmla="*/ 3922 h 78699"/>
                <a:gd name="connsiteX40" fmla="*/ 23599 w 143812"/>
                <a:gd name="connsiteY40" fmla="*/ 11914 h 78699"/>
                <a:gd name="connsiteX41" fmla="*/ 20789 w 143812"/>
                <a:gd name="connsiteY41" fmla="*/ 26507 h 78699"/>
                <a:gd name="connsiteX42" fmla="*/ 10605 w 143812"/>
                <a:gd name="connsiteY42" fmla="*/ 66638 h 7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3812" h="78699">
                  <a:moveTo>
                    <a:pt x="10605" y="66638"/>
                  </a:moveTo>
                  <a:cubicBezTo>
                    <a:pt x="10078" y="69244"/>
                    <a:pt x="9024" y="73240"/>
                    <a:pt x="9024" y="74109"/>
                  </a:cubicBezTo>
                  <a:cubicBezTo>
                    <a:pt x="9024" y="77236"/>
                    <a:pt x="11483" y="78800"/>
                    <a:pt x="14117" y="78800"/>
                  </a:cubicBezTo>
                  <a:cubicBezTo>
                    <a:pt x="16224" y="78800"/>
                    <a:pt x="19385" y="77410"/>
                    <a:pt x="20614" y="73935"/>
                  </a:cubicBezTo>
                  <a:cubicBezTo>
                    <a:pt x="20789" y="73588"/>
                    <a:pt x="22896" y="65422"/>
                    <a:pt x="23950" y="61079"/>
                  </a:cubicBezTo>
                  <a:lnTo>
                    <a:pt x="27813" y="45444"/>
                  </a:lnTo>
                  <a:cubicBezTo>
                    <a:pt x="28867" y="41621"/>
                    <a:pt x="29920" y="37799"/>
                    <a:pt x="30798" y="33804"/>
                  </a:cubicBezTo>
                  <a:cubicBezTo>
                    <a:pt x="31501" y="30850"/>
                    <a:pt x="32905" y="25812"/>
                    <a:pt x="33081" y="25117"/>
                  </a:cubicBezTo>
                  <a:cubicBezTo>
                    <a:pt x="35715" y="19732"/>
                    <a:pt x="45021" y="3922"/>
                    <a:pt x="61703" y="3922"/>
                  </a:cubicBezTo>
                  <a:cubicBezTo>
                    <a:pt x="69605" y="3922"/>
                    <a:pt x="71185" y="10350"/>
                    <a:pt x="71185" y="16083"/>
                  </a:cubicBezTo>
                  <a:cubicBezTo>
                    <a:pt x="71185" y="20427"/>
                    <a:pt x="69956" y="25291"/>
                    <a:pt x="68551" y="30503"/>
                  </a:cubicBezTo>
                  <a:lnTo>
                    <a:pt x="63635" y="50655"/>
                  </a:lnTo>
                  <a:lnTo>
                    <a:pt x="60123" y="63859"/>
                  </a:lnTo>
                  <a:cubicBezTo>
                    <a:pt x="59420" y="67333"/>
                    <a:pt x="57840" y="73240"/>
                    <a:pt x="57840" y="74109"/>
                  </a:cubicBezTo>
                  <a:cubicBezTo>
                    <a:pt x="57840" y="77236"/>
                    <a:pt x="60298" y="78800"/>
                    <a:pt x="62932" y="78800"/>
                  </a:cubicBezTo>
                  <a:cubicBezTo>
                    <a:pt x="68376" y="78800"/>
                    <a:pt x="69429" y="74456"/>
                    <a:pt x="70834" y="68897"/>
                  </a:cubicBezTo>
                  <a:cubicBezTo>
                    <a:pt x="73292" y="59168"/>
                    <a:pt x="79789" y="33804"/>
                    <a:pt x="81370" y="27028"/>
                  </a:cubicBezTo>
                  <a:cubicBezTo>
                    <a:pt x="81897" y="24770"/>
                    <a:pt x="91203" y="3922"/>
                    <a:pt x="110343" y="3922"/>
                  </a:cubicBezTo>
                  <a:cubicBezTo>
                    <a:pt x="117894" y="3922"/>
                    <a:pt x="119825" y="9829"/>
                    <a:pt x="119825" y="16083"/>
                  </a:cubicBezTo>
                  <a:cubicBezTo>
                    <a:pt x="119825" y="25986"/>
                    <a:pt x="112450" y="45791"/>
                    <a:pt x="108938" y="54999"/>
                  </a:cubicBezTo>
                  <a:cubicBezTo>
                    <a:pt x="107358" y="59168"/>
                    <a:pt x="106655" y="61079"/>
                    <a:pt x="106655" y="64554"/>
                  </a:cubicBezTo>
                  <a:cubicBezTo>
                    <a:pt x="106655" y="72719"/>
                    <a:pt x="112801" y="78800"/>
                    <a:pt x="121054" y="78800"/>
                  </a:cubicBezTo>
                  <a:cubicBezTo>
                    <a:pt x="137560" y="78800"/>
                    <a:pt x="144057" y="53435"/>
                    <a:pt x="144057" y="52045"/>
                  </a:cubicBezTo>
                  <a:cubicBezTo>
                    <a:pt x="144057" y="50308"/>
                    <a:pt x="142477" y="50308"/>
                    <a:pt x="141950" y="50308"/>
                  </a:cubicBezTo>
                  <a:cubicBezTo>
                    <a:pt x="140194" y="50308"/>
                    <a:pt x="140194" y="50829"/>
                    <a:pt x="139316" y="53435"/>
                  </a:cubicBezTo>
                  <a:cubicBezTo>
                    <a:pt x="136682" y="62643"/>
                    <a:pt x="131063" y="74978"/>
                    <a:pt x="121405" y="74978"/>
                  </a:cubicBezTo>
                  <a:cubicBezTo>
                    <a:pt x="118420" y="74978"/>
                    <a:pt x="117191" y="73240"/>
                    <a:pt x="117191" y="69244"/>
                  </a:cubicBezTo>
                  <a:cubicBezTo>
                    <a:pt x="117191" y="64901"/>
                    <a:pt x="118772" y="60732"/>
                    <a:pt x="120352" y="56910"/>
                  </a:cubicBezTo>
                  <a:cubicBezTo>
                    <a:pt x="123688" y="47876"/>
                    <a:pt x="131063" y="28592"/>
                    <a:pt x="131063" y="18689"/>
                  </a:cubicBezTo>
                  <a:cubicBezTo>
                    <a:pt x="131063" y="7397"/>
                    <a:pt x="124039" y="100"/>
                    <a:pt x="110870" y="100"/>
                  </a:cubicBezTo>
                  <a:cubicBezTo>
                    <a:pt x="97700" y="100"/>
                    <a:pt x="88745" y="7744"/>
                    <a:pt x="82248" y="16952"/>
                  </a:cubicBezTo>
                  <a:cubicBezTo>
                    <a:pt x="82072" y="14693"/>
                    <a:pt x="81545" y="8787"/>
                    <a:pt x="76629" y="4617"/>
                  </a:cubicBezTo>
                  <a:cubicBezTo>
                    <a:pt x="72239" y="969"/>
                    <a:pt x="66620" y="100"/>
                    <a:pt x="62230" y="100"/>
                  </a:cubicBezTo>
                  <a:cubicBezTo>
                    <a:pt x="46426" y="100"/>
                    <a:pt x="37822" y="11219"/>
                    <a:pt x="34837" y="15215"/>
                  </a:cubicBezTo>
                  <a:cubicBezTo>
                    <a:pt x="33959" y="5312"/>
                    <a:pt x="26584" y="100"/>
                    <a:pt x="18682" y="100"/>
                  </a:cubicBezTo>
                  <a:cubicBezTo>
                    <a:pt x="10605" y="100"/>
                    <a:pt x="7268" y="6876"/>
                    <a:pt x="5688" y="10003"/>
                  </a:cubicBezTo>
                  <a:cubicBezTo>
                    <a:pt x="2527" y="16083"/>
                    <a:pt x="245" y="26333"/>
                    <a:pt x="245" y="26854"/>
                  </a:cubicBezTo>
                  <a:cubicBezTo>
                    <a:pt x="245" y="28592"/>
                    <a:pt x="2001" y="28592"/>
                    <a:pt x="2352" y="28592"/>
                  </a:cubicBezTo>
                  <a:cubicBezTo>
                    <a:pt x="4108" y="28592"/>
                    <a:pt x="4283" y="28418"/>
                    <a:pt x="5337" y="24596"/>
                  </a:cubicBezTo>
                  <a:cubicBezTo>
                    <a:pt x="8322" y="12261"/>
                    <a:pt x="11834" y="3922"/>
                    <a:pt x="18155" y="3922"/>
                  </a:cubicBezTo>
                  <a:cubicBezTo>
                    <a:pt x="20965" y="3922"/>
                    <a:pt x="23599" y="5312"/>
                    <a:pt x="23599" y="11914"/>
                  </a:cubicBezTo>
                  <a:cubicBezTo>
                    <a:pt x="23599" y="15562"/>
                    <a:pt x="23072" y="17473"/>
                    <a:pt x="20789" y="26507"/>
                  </a:cubicBezTo>
                  <a:lnTo>
                    <a:pt x="10605" y="66638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形状 51">
              <a:extLst>
                <a:ext uri="{FF2B5EF4-FFF2-40B4-BE49-F238E27FC236}">
                  <a16:creationId xmlns:a16="http://schemas.microsoft.com/office/drawing/2014/main" id="{8C392E74-C80D-F07E-67C7-E30CA2304359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011581" y="4236824"/>
              <a:ext cx="41545" cy="77222"/>
            </a:xfrm>
            <a:custGeom>
              <a:avLst/>
              <a:gdLst>
                <a:gd name="connsiteX0" fmla="*/ 25328 w 41545"/>
                <a:gd name="connsiteY0" fmla="*/ 28072 h 77222"/>
                <a:gd name="connsiteX1" fmla="*/ 37866 w 41545"/>
                <a:gd name="connsiteY1" fmla="*/ 28072 h 77222"/>
                <a:gd name="connsiteX2" fmla="*/ 41799 w 41545"/>
                <a:gd name="connsiteY2" fmla="*/ 25397 h 77222"/>
                <a:gd name="connsiteX3" fmla="*/ 38112 w 41545"/>
                <a:gd name="connsiteY3" fmla="*/ 23694 h 77222"/>
                <a:gd name="connsiteX4" fmla="*/ 26435 w 41545"/>
                <a:gd name="connsiteY4" fmla="*/ 23694 h 77222"/>
                <a:gd name="connsiteX5" fmla="*/ 30983 w 41545"/>
                <a:gd name="connsiteY5" fmla="*/ 5696 h 77222"/>
                <a:gd name="connsiteX6" fmla="*/ 31351 w 41545"/>
                <a:gd name="connsiteY6" fmla="*/ 3993 h 77222"/>
                <a:gd name="connsiteX7" fmla="*/ 27172 w 41545"/>
                <a:gd name="connsiteY7" fmla="*/ 102 h 77222"/>
                <a:gd name="connsiteX8" fmla="*/ 21395 w 41545"/>
                <a:gd name="connsiteY8" fmla="*/ 5331 h 77222"/>
                <a:gd name="connsiteX9" fmla="*/ 16724 w 41545"/>
                <a:gd name="connsiteY9" fmla="*/ 23694 h 77222"/>
                <a:gd name="connsiteX10" fmla="*/ 4187 w 41545"/>
                <a:gd name="connsiteY10" fmla="*/ 23694 h 77222"/>
                <a:gd name="connsiteX11" fmla="*/ 253 w 41545"/>
                <a:gd name="connsiteY11" fmla="*/ 26370 h 77222"/>
                <a:gd name="connsiteX12" fmla="*/ 3941 w 41545"/>
                <a:gd name="connsiteY12" fmla="*/ 28072 h 77222"/>
                <a:gd name="connsiteX13" fmla="*/ 15618 w 41545"/>
                <a:gd name="connsiteY13" fmla="*/ 28072 h 77222"/>
                <a:gd name="connsiteX14" fmla="*/ 8366 w 41545"/>
                <a:gd name="connsiteY14" fmla="*/ 56772 h 77222"/>
                <a:gd name="connsiteX15" fmla="*/ 6522 w 41545"/>
                <a:gd name="connsiteY15" fmla="*/ 65771 h 77222"/>
                <a:gd name="connsiteX16" fmla="*/ 19674 w 41545"/>
                <a:gd name="connsiteY16" fmla="*/ 77324 h 77222"/>
                <a:gd name="connsiteX17" fmla="*/ 41062 w 41545"/>
                <a:gd name="connsiteY17" fmla="*/ 58718 h 77222"/>
                <a:gd name="connsiteX18" fmla="*/ 39095 w 41545"/>
                <a:gd name="connsiteY18" fmla="*/ 57137 h 77222"/>
                <a:gd name="connsiteX19" fmla="*/ 36514 w 41545"/>
                <a:gd name="connsiteY19" fmla="*/ 59448 h 77222"/>
                <a:gd name="connsiteX20" fmla="*/ 20043 w 41545"/>
                <a:gd name="connsiteY20" fmla="*/ 73919 h 77222"/>
                <a:gd name="connsiteX21" fmla="*/ 15741 w 41545"/>
                <a:gd name="connsiteY21" fmla="*/ 67960 h 77222"/>
                <a:gd name="connsiteX22" fmla="*/ 16478 w 41545"/>
                <a:gd name="connsiteY22" fmla="*/ 62974 h 77222"/>
                <a:gd name="connsiteX23" fmla="*/ 25328 w 41545"/>
                <a:gd name="connsiteY23" fmla="*/ 28072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328" y="28072"/>
                  </a:moveTo>
                  <a:lnTo>
                    <a:pt x="37866" y="28072"/>
                  </a:lnTo>
                  <a:cubicBezTo>
                    <a:pt x="40201" y="28072"/>
                    <a:pt x="41799" y="28072"/>
                    <a:pt x="41799" y="25397"/>
                  </a:cubicBezTo>
                  <a:cubicBezTo>
                    <a:pt x="41799" y="23694"/>
                    <a:pt x="40201" y="23694"/>
                    <a:pt x="38112" y="23694"/>
                  </a:cubicBezTo>
                  <a:lnTo>
                    <a:pt x="26435" y="23694"/>
                  </a:lnTo>
                  <a:lnTo>
                    <a:pt x="30983" y="5696"/>
                  </a:lnTo>
                  <a:cubicBezTo>
                    <a:pt x="31106" y="5088"/>
                    <a:pt x="31351" y="4480"/>
                    <a:pt x="31351" y="3993"/>
                  </a:cubicBezTo>
                  <a:cubicBezTo>
                    <a:pt x="31351" y="1804"/>
                    <a:pt x="29631" y="102"/>
                    <a:pt x="27172" y="102"/>
                  </a:cubicBezTo>
                  <a:cubicBezTo>
                    <a:pt x="24099" y="102"/>
                    <a:pt x="22256" y="2169"/>
                    <a:pt x="21395" y="5331"/>
                  </a:cubicBezTo>
                  <a:cubicBezTo>
                    <a:pt x="20535" y="8371"/>
                    <a:pt x="22133" y="2534"/>
                    <a:pt x="16724" y="23694"/>
                  </a:cubicBezTo>
                  <a:lnTo>
                    <a:pt x="4187" y="23694"/>
                  </a:lnTo>
                  <a:cubicBezTo>
                    <a:pt x="1851" y="23694"/>
                    <a:pt x="253" y="23694"/>
                    <a:pt x="253" y="26370"/>
                  </a:cubicBezTo>
                  <a:cubicBezTo>
                    <a:pt x="253" y="28072"/>
                    <a:pt x="1728" y="28072"/>
                    <a:pt x="3941" y="28072"/>
                  </a:cubicBezTo>
                  <a:lnTo>
                    <a:pt x="15618" y="28072"/>
                  </a:lnTo>
                  <a:lnTo>
                    <a:pt x="8366" y="56772"/>
                  </a:lnTo>
                  <a:cubicBezTo>
                    <a:pt x="7628" y="59812"/>
                    <a:pt x="6522" y="64190"/>
                    <a:pt x="6522" y="65771"/>
                  </a:cubicBezTo>
                  <a:cubicBezTo>
                    <a:pt x="6522" y="72946"/>
                    <a:pt x="12668" y="77324"/>
                    <a:pt x="19674" y="77324"/>
                  </a:cubicBezTo>
                  <a:cubicBezTo>
                    <a:pt x="33318" y="77324"/>
                    <a:pt x="41062" y="60299"/>
                    <a:pt x="41062" y="58718"/>
                  </a:cubicBezTo>
                  <a:cubicBezTo>
                    <a:pt x="41062" y="57137"/>
                    <a:pt x="39464" y="57137"/>
                    <a:pt x="39095" y="57137"/>
                  </a:cubicBezTo>
                  <a:cubicBezTo>
                    <a:pt x="37620" y="57137"/>
                    <a:pt x="37497" y="57380"/>
                    <a:pt x="36514" y="59448"/>
                  </a:cubicBezTo>
                  <a:cubicBezTo>
                    <a:pt x="33072" y="67109"/>
                    <a:pt x="26803" y="73919"/>
                    <a:pt x="20043" y="73919"/>
                  </a:cubicBezTo>
                  <a:cubicBezTo>
                    <a:pt x="17462" y="73919"/>
                    <a:pt x="15741" y="72338"/>
                    <a:pt x="15741" y="67960"/>
                  </a:cubicBezTo>
                  <a:cubicBezTo>
                    <a:pt x="15741" y="66744"/>
                    <a:pt x="16233" y="64190"/>
                    <a:pt x="16478" y="62974"/>
                  </a:cubicBezTo>
                  <a:lnTo>
                    <a:pt x="25328" y="28072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形状 52">
              <a:extLst>
                <a:ext uri="{FF2B5EF4-FFF2-40B4-BE49-F238E27FC236}">
                  <a16:creationId xmlns:a16="http://schemas.microsoft.com/office/drawing/2014/main" id="{7CAEA909-84C7-D9B4-8B77-D6572255FCA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672066" y="4357393"/>
              <a:ext cx="576354" cy="6948"/>
            </a:xfrm>
            <a:custGeom>
              <a:avLst/>
              <a:gdLst>
                <a:gd name="connsiteX0" fmla="*/ 0 w 576354"/>
                <a:gd name="connsiteY0" fmla="*/ 0 h 6948"/>
                <a:gd name="connsiteX1" fmla="*/ 576355 w 576354"/>
                <a:gd name="connsiteY1" fmla="*/ 0 h 6948"/>
                <a:gd name="connsiteX2" fmla="*/ 576355 w 576354"/>
                <a:gd name="connsiteY2" fmla="*/ 6949 h 6948"/>
                <a:gd name="connsiteX3" fmla="*/ 0 w 576354"/>
                <a:gd name="connsiteY3" fmla="*/ 6949 h 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354" h="6948">
                  <a:moveTo>
                    <a:pt x="0" y="0"/>
                  </a:moveTo>
                  <a:lnTo>
                    <a:pt x="576355" y="0"/>
                  </a:lnTo>
                  <a:lnTo>
                    <a:pt x="576355" y="6949"/>
                  </a:lnTo>
                  <a:lnTo>
                    <a:pt x="0" y="694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形状 53">
              <a:extLst>
                <a:ext uri="{FF2B5EF4-FFF2-40B4-BE49-F238E27FC236}">
                  <a16:creationId xmlns:a16="http://schemas.microsoft.com/office/drawing/2014/main" id="{3C5F9040-D8E8-7C99-4F5D-E19BDC84902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684884" y="4392137"/>
              <a:ext cx="136964" cy="173729"/>
            </a:xfrm>
            <a:custGeom>
              <a:avLst/>
              <a:gdLst>
                <a:gd name="connsiteX0" fmla="*/ 55723 w 136964"/>
                <a:gd name="connsiteY0" fmla="*/ 155594 h 173729"/>
                <a:gd name="connsiteX1" fmla="*/ 24818 w 136964"/>
                <a:gd name="connsiteY1" fmla="*/ 88014 h 173729"/>
                <a:gd name="connsiteX2" fmla="*/ 22184 w 136964"/>
                <a:gd name="connsiteY2" fmla="*/ 85234 h 173729"/>
                <a:gd name="connsiteX3" fmla="*/ 19199 w 136964"/>
                <a:gd name="connsiteY3" fmla="*/ 86624 h 173729"/>
                <a:gd name="connsiteX4" fmla="*/ 2517 w 136964"/>
                <a:gd name="connsiteY4" fmla="*/ 99132 h 173729"/>
                <a:gd name="connsiteX5" fmla="*/ 234 w 136964"/>
                <a:gd name="connsiteY5" fmla="*/ 101912 h 173729"/>
                <a:gd name="connsiteX6" fmla="*/ 1990 w 136964"/>
                <a:gd name="connsiteY6" fmla="*/ 103823 h 173729"/>
                <a:gd name="connsiteX7" fmla="*/ 7961 w 136964"/>
                <a:gd name="connsiteY7" fmla="*/ 100001 h 173729"/>
                <a:gd name="connsiteX8" fmla="*/ 13580 w 136964"/>
                <a:gd name="connsiteY8" fmla="*/ 95831 h 173729"/>
                <a:gd name="connsiteX9" fmla="*/ 48172 w 136964"/>
                <a:gd name="connsiteY9" fmla="*/ 171056 h 173729"/>
                <a:gd name="connsiteX10" fmla="*/ 51859 w 136964"/>
                <a:gd name="connsiteY10" fmla="*/ 173836 h 173729"/>
                <a:gd name="connsiteX11" fmla="*/ 56249 w 136964"/>
                <a:gd name="connsiteY11" fmla="*/ 170361 h 173729"/>
                <a:gd name="connsiteX12" fmla="*/ 135970 w 136964"/>
                <a:gd name="connsiteY12" fmla="*/ 7056 h 173729"/>
                <a:gd name="connsiteX13" fmla="*/ 137199 w 136964"/>
                <a:gd name="connsiteY13" fmla="*/ 3581 h 173729"/>
                <a:gd name="connsiteX14" fmla="*/ 133687 w 136964"/>
                <a:gd name="connsiteY14" fmla="*/ 107 h 173729"/>
                <a:gd name="connsiteX15" fmla="*/ 129648 w 136964"/>
                <a:gd name="connsiteY15" fmla="*/ 3755 h 173729"/>
                <a:gd name="connsiteX16" fmla="*/ 55723 w 136964"/>
                <a:gd name="connsiteY16" fmla="*/ 155594 h 17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964" h="173729">
                  <a:moveTo>
                    <a:pt x="55723" y="155594"/>
                  </a:moveTo>
                  <a:lnTo>
                    <a:pt x="24818" y="88014"/>
                  </a:lnTo>
                  <a:cubicBezTo>
                    <a:pt x="23589" y="85234"/>
                    <a:pt x="22711" y="85234"/>
                    <a:pt x="22184" y="85234"/>
                  </a:cubicBezTo>
                  <a:cubicBezTo>
                    <a:pt x="22008" y="85234"/>
                    <a:pt x="21130" y="85234"/>
                    <a:pt x="19199" y="86624"/>
                  </a:cubicBezTo>
                  <a:lnTo>
                    <a:pt x="2517" y="99132"/>
                  </a:lnTo>
                  <a:cubicBezTo>
                    <a:pt x="234" y="100870"/>
                    <a:pt x="234" y="101391"/>
                    <a:pt x="234" y="101912"/>
                  </a:cubicBezTo>
                  <a:cubicBezTo>
                    <a:pt x="234" y="102781"/>
                    <a:pt x="761" y="103823"/>
                    <a:pt x="1990" y="103823"/>
                  </a:cubicBezTo>
                  <a:cubicBezTo>
                    <a:pt x="3044" y="103823"/>
                    <a:pt x="6029" y="101391"/>
                    <a:pt x="7961" y="100001"/>
                  </a:cubicBezTo>
                  <a:cubicBezTo>
                    <a:pt x="9014" y="99132"/>
                    <a:pt x="11648" y="97221"/>
                    <a:pt x="13580" y="95831"/>
                  </a:cubicBezTo>
                  <a:lnTo>
                    <a:pt x="48172" y="171056"/>
                  </a:lnTo>
                  <a:cubicBezTo>
                    <a:pt x="49401" y="173836"/>
                    <a:pt x="50279" y="173836"/>
                    <a:pt x="51859" y="173836"/>
                  </a:cubicBezTo>
                  <a:cubicBezTo>
                    <a:pt x="54493" y="173836"/>
                    <a:pt x="55020" y="172794"/>
                    <a:pt x="56249" y="170361"/>
                  </a:cubicBezTo>
                  <a:lnTo>
                    <a:pt x="135970" y="7056"/>
                  </a:lnTo>
                  <a:cubicBezTo>
                    <a:pt x="137199" y="4624"/>
                    <a:pt x="137199" y="3929"/>
                    <a:pt x="137199" y="3581"/>
                  </a:cubicBezTo>
                  <a:cubicBezTo>
                    <a:pt x="137199" y="1844"/>
                    <a:pt x="135794" y="107"/>
                    <a:pt x="133687" y="107"/>
                  </a:cubicBezTo>
                  <a:cubicBezTo>
                    <a:pt x="132282" y="107"/>
                    <a:pt x="131053" y="975"/>
                    <a:pt x="129648" y="3755"/>
                  </a:cubicBezTo>
                  <a:lnTo>
                    <a:pt x="55723" y="155594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2FF0FB66-9E01-4756-7331-EF0912D416F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818396" y="4392137"/>
              <a:ext cx="430024" cy="6948"/>
            </a:xfrm>
            <a:custGeom>
              <a:avLst/>
              <a:gdLst>
                <a:gd name="connsiteX0" fmla="*/ 0 w 430024"/>
                <a:gd name="connsiteY0" fmla="*/ 0 h 6948"/>
                <a:gd name="connsiteX1" fmla="*/ 430025 w 430024"/>
                <a:gd name="connsiteY1" fmla="*/ 0 h 6948"/>
                <a:gd name="connsiteX2" fmla="*/ 430025 w 430024"/>
                <a:gd name="connsiteY2" fmla="*/ 6949 h 6948"/>
                <a:gd name="connsiteX3" fmla="*/ 0 w 430024"/>
                <a:gd name="connsiteY3" fmla="*/ 6949 h 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024" h="6948">
                  <a:moveTo>
                    <a:pt x="0" y="0"/>
                  </a:moveTo>
                  <a:lnTo>
                    <a:pt x="430025" y="0"/>
                  </a:lnTo>
                  <a:lnTo>
                    <a:pt x="430025" y="6949"/>
                  </a:lnTo>
                  <a:lnTo>
                    <a:pt x="0" y="694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0C41C3B7-5D7E-D7C2-5F99-9593535804E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827527" y="4447672"/>
              <a:ext cx="64619" cy="78699"/>
            </a:xfrm>
            <a:custGeom>
              <a:avLst/>
              <a:gdLst>
                <a:gd name="connsiteX0" fmla="*/ 59770 w 64619"/>
                <a:gd name="connsiteY0" fmla="*/ 11927 h 78699"/>
                <a:gd name="connsiteX1" fmla="*/ 51341 w 64619"/>
                <a:gd name="connsiteY1" fmla="*/ 19745 h 78699"/>
                <a:gd name="connsiteX2" fmla="*/ 56784 w 64619"/>
                <a:gd name="connsiteY2" fmla="*/ 24783 h 78699"/>
                <a:gd name="connsiteX3" fmla="*/ 64862 w 64619"/>
                <a:gd name="connsiteY3" fmla="*/ 15055 h 78699"/>
                <a:gd name="connsiteX4" fmla="*/ 43966 w 64619"/>
                <a:gd name="connsiteY4" fmla="*/ 114 h 78699"/>
                <a:gd name="connsiteX5" fmla="*/ 14290 w 64619"/>
                <a:gd name="connsiteY5" fmla="*/ 25478 h 78699"/>
                <a:gd name="connsiteX6" fmla="*/ 32377 w 64619"/>
                <a:gd name="connsiteY6" fmla="*/ 42677 h 78699"/>
                <a:gd name="connsiteX7" fmla="*/ 50639 w 64619"/>
                <a:gd name="connsiteY7" fmla="*/ 55881 h 78699"/>
                <a:gd name="connsiteX8" fmla="*/ 25528 w 64619"/>
                <a:gd name="connsiteY8" fmla="*/ 74991 h 78699"/>
                <a:gd name="connsiteX9" fmla="*/ 5511 w 64619"/>
                <a:gd name="connsiteY9" fmla="*/ 65783 h 78699"/>
                <a:gd name="connsiteX10" fmla="*/ 16573 w 64619"/>
                <a:gd name="connsiteY10" fmla="*/ 56576 h 78699"/>
                <a:gd name="connsiteX11" fmla="*/ 10076 w 64619"/>
                <a:gd name="connsiteY11" fmla="*/ 50495 h 78699"/>
                <a:gd name="connsiteX12" fmla="*/ 243 w 64619"/>
                <a:gd name="connsiteY12" fmla="*/ 61961 h 78699"/>
                <a:gd name="connsiteX13" fmla="*/ 25353 w 64619"/>
                <a:gd name="connsiteY13" fmla="*/ 78813 h 78699"/>
                <a:gd name="connsiteX14" fmla="*/ 60648 w 64619"/>
                <a:gd name="connsiteY14" fmla="*/ 49974 h 78699"/>
                <a:gd name="connsiteX15" fmla="*/ 55204 w 64619"/>
                <a:gd name="connsiteY15" fmla="*/ 37292 h 78699"/>
                <a:gd name="connsiteX16" fmla="*/ 37645 w 64619"/>
                <a:gd name="connsiteY16" fmla="*/ 29995 h 78699"/>
                <a:gd name="connsiteX17" fmla="*/ 24299 w 64619"/>
                <a:gd name="connsiteY17" fmla="*/ 19571 h 78699"/>
                <a:gd name="connsiteX18" fmla="*/ 43966 w 64619"/>
                <a:gd name="connsiteY18" fmla="*/ 3936 h 78699"/>
                <a:gd name="connsiteX19" fmla="*/ 59770 w 64619"/>
                <a:gd name="connsiteY19" fmla="*/ 11927 h 7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619" h="78699">
                  <a:moveTo>
                    <a:pt x="59770" y="11927"/>
                  </a:moveTo>
                  <a:cubicBezTo>
                    <a:pt x="54853" y="12101"/>
                    <a:pt x="51341" y="15923"/>
                    <a:pt x="51341" y="19745"/>
                  </a:cubicBezTo>
                  <a:cubicBezTo>
                    <a:pt x="51341" y="22177"/>
                    <a:pt x="52921" y="24783"/>
                    <a:pt x="56784" y="24783"/>
                  </a:cubicBezTo>
                  <a:cubicBezTo>
                    <a:pt x="60648" y="24783"/>
                    <a:pt x="64862" y="21830"/>
                    <a:pt x="64862" y="15055"/>
                  </a:cubicBezTo>
                  <a:cubicBezTo>
                    <a:pt x="64862" y="7237"/>
                    <a:pt x="57311" y="114"/>
                    <a:pt x="43966" y="114"/>
                  </a:cubicBezTo>
                  <a:cubicBezTo>
                    <a:pt x="20787" y="114"/>
                    <a:pt x="14290" y="17834"/>
                    <a:pt x="14290" y="25478"/>
                  </a:cubicBezTo>
                  <a:cubicBezTo>
                    <a:pt x="14290" y="39029"/>
                    <a:pt x="27284" y="41635"/>
                    <a:pt x="32377" y="42677"/>
                  </a:cubicBezTo>
                  <a:cubicBezTo>
                    <a:pt x="41508" y="44415"/>
                    <a:pt x="50639" y="46326"/>
                    <a:pt x="50639" y="55881"/>
                  </a:cubicBezTo>
                  <a:cubicBezTo>
                    <a:pt x="50639" y="60398"/>
                    <a:pt x="46600" y="74991"/>
                    <a:pt x="25528" y="74991"/>
                  </a:cubicBezTo>
                  <a:cubicBezTo>
                    <a:pt x="23070" y="74991"/>
                    <a:pt x="9549" y="74991"/>
                    <a:pt x="5511" y="65783"/>
                  </a:cubicBezTo>
                  <a:cubicBezTo>
                    <a:pt x="12183" y="66652"/>
                    <a:pt x="16573" y="61440"/>
                    <a:pt x="16573" y="56576"/>
                  </a:cubicBezTo>
                  <a:cubicBezTo>
                    <a:pt x="16573" y="52580"/>
                    <a:pt x="13764" y="50495"/>
                    <a:pt x="10076" y="50495"/>
                  </a:cubicBezTo>
                  <a:cubicBezTo>
                    <a:pt x="5511" y="50495"/>
                    <a:pt x="243" y="54144"/>
                    <a:pt x="243" y="61961"/>
                  </a:cubicBezTo>
                  <a:cubicBezTo>
                    <a:pt x="243" y="71864"/>
                    <a:pt x="10252" y="78813"/>
                    <a:pt x="25353" y="78813"/>
                  </a:cubicBezTo>
                  <a:cubicBezTo>
                    <a:pt x="53799" y="78813"/>
                    <a:pt x="60648" y="57792"/>
                    <a:pt x="60648" y="49974"/>
                  </a:cubicBezTo>
                  <a:cubicBezTo>
                    <a:pt x="60648" y="43720"/>
                    <a:pt x="57311" y="39377"/>
                    <a:pt x="55204" y="37292"/>
                  </a:cubicBezTo>
                  <a:cubicBezTo>
                    <a:pt x="50463" y="32427"/>
                    <a:pt x="45371" y="31559"/>
                    <a:pt x="37645" y="29995"/>
                  </a:cubicBezTo>
                  <a:cubicBezTo>
                    <a:pt x="31323" y="28605"/>
                    <a:pt x="24299" y="27389"/>
                    <a:pt x="24299" y="19571"/>
                  </a:cubicBezTo>
                  <a:cubicBezTo>
                    <a:pt x="24299" y="14533"/>
                    <a:pt x="28514" y="3936"/>
                    <a:pt x="43966" y="3936"/>
                  </a:cubicBezTo>
                  <a:cubicBezTo>
                    <a:pt x="48356" y="3936"/>
                    <a:pt x="57136" y="5152"/>
                    <a:pt x="59770" y="11927"/>
                  </a:cubicBez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形状 56">
              <a:extLst>
                <a:ext uri="{FF2B5EF4-FFF2-40B4-BE49-F238E27FC236}">
                  <a16:creationId xmlns:a16="http://schemas.microsoft.com/office/drawing/2014/main" id="{F51A08FD-C7C2-B19F-20DC-EA495B4D50E8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905869" y="4474513"/>
              <a:ext cx="41545" cy="77222"/>
            </a:xfrm>
            <a:custGeom>
              <a:avLst/>
              <a:gdLst>
                <a:gd name="connsiteX0" fmla="*/ 25322 w 41545"/>
                <a:gd name="connsiteY0" fmla="*/ 28086 h 77222"/>
                <a:gd name="connsiteX1" fmla="*/ 37860 w 41545"/>
                <a:gd name="connsiteY1" fmla="*/ 28086 h 77222"/>
                <a:gd name="connsiteX2" fmla="*/ 41793 w 41545"/>
                <a:gd name="connsiteY2" fmla="*/ 25410 h 77222"/>
                <a:gd name="connsiteX3" fmla="*/ 38106 w 41545"/>
                <a:gd name="connsiteY3" fmla="*/ 23708 h 77222"/>
                <a:gd name="connsiteX4" fmla="*/ 26429 w 41545"/>
                <a:gd name="connsiteY4" fmla="*/ 23708 h 77222"/>
                <a:gd name="connsiteX5" fmla="*/ 30977 w 41545"/>
                <a:gd name="connsiteY5" fmla="*/ 5709 h 77222"/>
                <a:gd name="connsiteX6" fmla="*/ 31345 w 41545"/>
                <a:gd name="connsiteY6" fmla="*/ 4007 h 77222"/>
                <a:gd name="connsiteX7" fmla="*/ 27166 w 41545"/>
                <a:gd name="connsiteY7" fmla="*/ 115 h 77222"/>
                <a:gd name="connsiteX8" fmla="*/ 21389 w 41545"/>
                <a:gd name="connsiteY8" fmla="*/ 5345 h 77222"/>
                <a:gd name="connsiteX9" fmla="*/ 16718 w 41545"/>
                <a:gd name="connsiteY9" fmla="*/ 23708 h 77222"/>
                <a:gd name="connsiteX10" fmla="*/ 4181 w 41545"/>
                <a:gd name="connsiteY10" fmla="*/ 23708 h 77222"/>
                <a:gd name="connsiteX11" fmla="*/ 247 w 41545"/>
                <a:gd name="connsiteY11" fmla="*/ 26383 h 77222"/>
                <a:gd name="connsiteX12" fmla="*/ 3935 w 41545"/>
                <a:gd name="connsiteY12" fmla="*/ 28086 h 77222"/>
                <a:gd name="connsiteX13" fmla="*/ 15612 w 41545"/>
                <a:gd name="connsiteY13" fmla="*/ 28086 h 77222"/>
                <a:gd name="connsiteX14" fmla="*/ 8360 w 41545"/>
                <a:gd name="connsiteY14" fmla="*/ 56786 h 77222"/>
                <a:gd name="connsiteX15" fmla="*/ 6516 w 41545"/>
                <a:gd name="connsiteY15" fmla="*/ 65785 h 77222"/>
                <a:gd name="connsiteX16" fmla="*/ 19668 w 41545"/>
                <a:gd name="connsiteY16" fmla="*/ 77338 h 77222"/>
                <a:gd name="connsiteX17" fmla="*/ 41056 w 41545"/>
                <a:gd name="connsiteY17" fmla="*/ 58732 h 77222"/>
                <a:gd name="connsiteX18" fmla="*/ 39089 w 41545"/>
                <a:gd name="connsiteY18" fmla="*/ 57151 h 77222"/>
                <a:gd name="connsiteX19" fmla="*/ 36508 w 41545"/>
                <a:gd name="connsiteY19" fmla="*/ 59461 h 77222"/>
                <a:gd name="connsiteX20" fmla="*/ 20037 w 41545"/>
                <a:gd name="connsiteY20" fmla="*/ 73933 h 77222"/>
                <a:gd name="connsiteX21" fmla="*/ 15735 w 41545"/>
                <a:gd name="connsiteY21" fmla="*/ 67974 h 77222"/>
                <a:gd name="connsiteX22" fmla="*/ 16472 w 41545"/>
                <a:gd name="connsiteY22" fmla="*/ 62988 h 77222"/>
                <a:gd name="connsiteX23" fmla="*/ 25322 w 41545"/>
                <a:gd name="connsiteY23" fmla="*/ 28086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322" y="28086"/>
                  </a:moveTo>
                  <a:lnTo>
                    <a:pt x="37860" y="28086"/>
                  </a:lnTo>
                  <a:cubicBezTo>
                    <a:pt x="40195" y="28086"/>
                    <a:pt x="41793" y="28086"/>
                    <a:pt x="41793" y="25410"/>
                  </a:cubicBezTo>
                  <a:cubicBezTo>
                    <a:pt x="41793" y="23708"/>
                    <a:pt x="40195" y="23708"/>
                    <a:pt x="38106" y="23708"/>
                  </a:cubicBezTo>
                  <a:lnTo>
                    <a:pt x="26429" y="23708"/>
                  </a:lnTo>
                  <a:lnTo>
                    <a:pt x="30977" y="5709"/>
                  </a:lnTo>
                  <a:cubicBezTo>
                    <a:pt x="31100" y="5101"/>
                    <a:pt x="31345" y="4493"/>
                    <a:pt x="31345" y="4007"/>
                  </a:cubicBezTo>
                  <a:cubicBezTo>
                    <a:pt x="31345" y="1818"/>
                    <a:pt x="29625" y="115"/>
                    <a:pt x="27166" y="115"/>
                  </a:cubicBezTo>
                  <a:cubicBezTo>
                    <a:pt x="24093" y="115"/>
                    <a:pt x="22250" y="2183"/>
                    <a:pt x="21389" y="5345"/>
                  </a:cubicBezTo>
                  <a:cubicBezTo>
                    <a:pt x="20529" y="8385"/>
                    <a:pt x="22127" y="2548"/>
                    <a:pt x="16718" y="23708"/>
                  </a:cubicBezTo>
                  <a:lnTo>
                    <a:pt x="4181" y="23708"/>
                  </a:lnTo>
                  <a:cubicBezTo>
                    <a:pt x="1845" y="23708"/>
                    <a:pt x="247" y="23708"/>
                    <a:pt x="247" y="26383"/>
                  </a:cubicBezTo>
                  <a:cubicBezTo>
                    <a:pt x="247" y="28086"/>
                    <a:pt x="1722" y="28086"/>
                    <a:pt x="3935" y="28086"/>
                  </a:cubicBezTo>
                  <a:lnTo>
                    <a:pt x="15612" y="28086"/>
                  </a:lnTo>
                  <a:lnTo>
                    <a:pt x="8360" y="56786"/>
                  </a:lnTo>
                  <a:cubicBezTo>
                    <a:pt x="7622" y="59826"/>
                    <a:pt x="6516" y="64204"/>
                    <a:pt x="6516" y="65785"/>
                  </a:cubicBezTo>
                  <a:cubicBezTo>
                    <a:pt x="6516" y="72960"/>
                    <a:pt x="12662" y="77338"/>
                    <a:pt x="19668" y="77338"/>
                  </a:cubicBezTo>
                  <a:cubicBezTo>
                    <a:pt x="33312" y="77338"/>
                    <a:pt x="41056" y="60312"/>
                    <a:pt x="41056" y="58732"/>
                  </a:cubicBezTo>
                  <a:cubicBezTo>
                    <a:pt x="41056" y="57151"/>
                    <a:pt x="39458" y="57151"/>
                    <a:pt x="39089" y="57151"/>
                  </a:cubicBezTo>
                  <a:cubicBezTo>
                    <a:pt x="37614" y="57151"/>
                    <a:pt x="37491" y="57394"/>
                    <a:pt x="36508" y="59461"/>
                  </a:cubicBezTo>
                  <a:cubicBezTo>
                    <a:pt x="33066" y="67123"/>
                    <a:pt x="26797" y="73933"/>
                    <a:pt x="20037" y="73933"/>
                  </a:cubicBezTo>
                  <a:cubicBezTo>
                    <a:pt x="17456" y="73933"/>
                    <a:pt x="15735" y="72352"/>
                    <a:pt x="15735" y="67974"/>
                  </a:cubicBezTo>
                  <a:cubicBezTo>
                    <a:pt x="15735" y="66758"/>
                    <a:pt x="16227" y="64204"/>
                    <a:pt x="16472" y="62988"/>
                  </a:cubicBezTo>
                  <a:lnTo>
                    <a:pt x="25322" y="28086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CC7DF9E7-BAA7-87BF-C1DB-6BD2EF31677A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011384" y="4423177"/>
              <a:ext cx="116770" cy="115703"/>
            </a:xfrm>
            <a:custGeom>
              <a:avLst/>
              <a:gdLst>
                <a:gd name="connsiteX0" fmla="*/ 62238 w 116770"/>
                <a:gd name="connsiteY0" fmla="*/ 61440 h 115703"/>
                <a:gd name="connsiteX1" fmla="*/ 111229 w 116770"/>
                <a:gd name="connsiteY1" fmla="*/ 61440 h 115703"/>
                <a:gd name="connsiteX2" fmla="*/ 117024 w 116770"/>
                <a:gd name="connsiteY2" fmla="*/ 57966 h 115703"/>
                <a:gd name="connsiteX3" fmla="*/ 111229 w 116770"/>
                <a:gd name="connsiteY3" fmla="*/ 54491 h 115703"/>
                <a:gd name="connsiteX4" fmla="*/ 62238 w 116770"/>
                <a:gd name="connsiteY4" fmla="*/ 54491 h 115703"/>
                <a:gd name="connsiteX5" fmla="*/ 62238 w 116770"/>
                <a:gd name="connsiteY5" fmla="*/ 5847 h 115703"/>
                <a:gd name="connsiteX6" fmla="*/ 58726 w 116770"/>
                <a:gd name="connsiteY6" fmla="*/ 114 h 115703"/>
                <a:gd name="connsiteX7" fmla="*/ 55214 w 116770"/>
                <a:gd name="connsiteY7" fmla="*/ 5847 h 115703"/>
                <a:gd name="connsiteX8" fmla="*/ 55214 w 116770"/>
                <a:gd name="connsiteY8" fmla="*/ 54491 h 115703"/>
                <a:gd name="connsiteX9" fmla="*/ 6048 w 116770"/>
                <a:gd name="connsiteY9" fmla="*/ 54491 h 115703"/>
                <a:gd name="connsiteX10" fmla="*/ 253 w 116770"/>
                <a:gd name="connsiteY10" fmla="*/ 57966 h 115703"/>
                <a:gd name="connsiteX11" fmla="*/ 6048 w 116770"/>
                <a:gd name="connsiteY11" fmla="*/ 61440 h 115703"/>
                <a:gd name="connsiteX12" fmla="*/ 55214 w 116770"/>
                <a:gd name="connsiteY12" fmla="*/ 61440 h 115703"/>
                <a:gd name="connsiteX13" fmla="*/ 55214 w 116770"/>
                <a:gd name="connsiteY13" fmla="*/ 110084 h 115703"/>
                <a:gd name="connsiteX14" fmla="*/ 58726 w 116770"/>
                <a:gd name="connsiteY14" fmla="*/ 115818 h 115703"/>
                <a:gd name="connsiteX15" fmla="*/ 62238 w 116770"/>
                <a:gd name="connsiteY15" fmla="*/ 110084 h 115703"/>
                <a:gd name="connsiteX16" fmla="*/ 62238 w 116770"/>
                <a:gd name="connsiteY16" fmla="*/ 61440 h 11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770" h="115703">
                  <a:moveTo>
                    <a:pt x="62238" y="61440"/>
                  </a:moveTo>
                  <a:lnTo>
                    <a:pt x="111229" y="61440"/>
                  </a:lnTo>
                  <a:cubicBezTo>
                    <a:pt x="113688" y="61440"/>
                    <a:pt x="117024" y="61440"/>
                    <a:pt x="117024" y="57966"/>
                  </a:cubicBezTo>
                  <a:cubicBezTo>
                    <a:pt x="117024" y="54491"/>
                    <a:pt x="113688" y="54491"/>
                    <a:pt x="111229" y="54491"/>
                  </a:cubicBezTo>
                  <a:lnTo>
                    <a:pt x="62238" y="54491"/>
                  </a:lnTo>
                  <a:lnTo>
                    <a:pt x="62238" y="5847"/>
                  </a:lnTo>
                  <a:cubicBezTo>
                    <a:pt x="62238" y="3415"/>
                    <a:pt x="62238" y="114"/>
                    <a:pt x="58726" y="114"/>
                  </a:cubicBezTo>
                  <a:cubicBezTo>
                    <a:pt x="55214" y="114"/>
                    <a:pt x="55214" y="3415"/>
                    <a:pt x="55214" y="5847"/>
                  </a:cubicBezTo>
                  <a:lnTo>
                    <a:pt x="55214" y="54491"/>
                  </a:lnTo>
                  <a:lnTo>
                    <a:pt x="6048" y="54491"/>
                  </a:lnTo>
                  <a:cubicBezTo>
                    <a:pt x="3589" y="54491"/>
                    <a:pt x="253" y="54491"/>
                    <a:pt x="253" y="57966"/>
                  </a:cubicBezTo>
                  <a:cubicBezTo>
                    <a:pt x="253" y="61440"/>
                    <a:pt x="3589" y="61440"/>
                    <a:pt x="6048" y="61440"/>
                  </a:cubicBezTo>
                  <a:lnTo>
                    <a:pt x="55214" y="61440"/>
                  </a:lnTo>
                  <a:lnTo>
                    <a:pt x="55214" y="110084"/>
                  </a:lnTo>
                  <a:cubicBezTo>
                    <a:pt x="55214" y="112517"/>
                    <a:pt x="55214" y="115818"/>
                    <a:pt x="58726" y="115818"/>
                  </a:cubicBezTo>
                  <a:cubicBezTo>
                    <a:pt x="62238" y="115818"/>
                    <a:pt x="62238" y="112517"/>
                    <a:pt x="62238" y="110084"/>
                  </a:cubicBezTo>
                  <a:lnTo>
                    <a:pt x="62238" y="61440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8FD2F8DC-1B6B-E763-14D5-A88455EEC51D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185399" y="4449583"/>
              <a:ext cx="57770" cy="76788"/>
            </a:xfrm>
            <a:custGeom>
              <a:avLst/>
              <a:gdLst>
                <a:gd name="connsiteX0" fmla="*/ 44338 w 57770"/>
                <a:gd name="connsiteY0" fmla="*/ 35728 h 76788"/>
                <a:gd name="connsiteX1" fmla="*/ 50308 w 57770"/>
                <a:gd name="connsiteY1" fmla="*/ 32775 h 76788"/>
                <a:gd name="connsiteX2" fmla="*/ 45216 w 57770"/>
                <a:gd name="connsiteY2" fmla="*/ 30343 h 76788"/>
                <a:gd name="connsiteX3" fmla="*/ 16769 w 57770"/>
                <a:gd name="connsiteY3" fmla="*/ 30343 h 76788"/>
                <a:gd name="connsiteX4" fmla="*/ 46796 w 57770"/>
                <a:gd name="connsiteY4" fmla="*/ 5499 h 76788"/>
                <a:gd name="connsiteX5" fmla="*/ 52239 w 57770"/>
                <a:gd name="connsiteY5" fmla="*/ 5499 h 76788"/>
                <a:gd name="connsiteX6" fmla="*/ 58034 w 57770"/>
                <a:gd name="connsiteY6" fmla="*/ 2546 h 76788"/>
                <a:gd name="connsiteX7" fmla="*/ 52766 w 57770"/>
                <a:gd name="connsiteY7" fmla="*/ 114 h 76788"/>
                <a:gd name="connsiteX8" fmla="*/ 46620 w 57770"/>
                <a:gd name="connsiteY8" fmla="*/ 114 h 76788"/>
                <a:gd name="connsiteX9" fmla="*/ 263 w 57770"/>
                <a:gd name="connsiteY9" fmla="*/ 44067 h 76788"/>
                <a:gd name="connsiteX10" fmla="*/ 32046 w 57770"/>
                <a:gd name="connsiteY10" fmla="*/ 76902 h 76788"/>
                <a:gd name="connsiteX11" fmla="*/ 54873 w 57770"/>
                <a:gd name="connsiteY11" fmla="*/ 68042 h 76788"/>
                <a:gd name="connsiteX12" fmla="*/ 53117 w 57770"/>
                <a:gd name="connsiteY12" fmla="*/ 65610 h 76788"/>
                <a:gd name="connsiteX13" fmla="*/ 50835 w 57770"/>
                <a:gd name="connsiteY13" fmla="*/ 66652 h 76788"/>
                <a:gd name="connsiteX14" fmla="*/ 32397 w 57770"/>
                <a:gd name="connsiteY14" fmla="*/ 73080 h 76788"/>
                <a:gd name="connsiteX15" fmla="*/ 13433 w 57770"/>
                <a:gd name="connsiteY15" fmla="*/ 50495 h 76788"/>
                <a:gd name="connsiteX16" fmla="*/ 15364 w 57770"/>
                <a:gd name="connsiteY16" fmla="*/ 35728 h 76788"/>
                <a:gd name="connsiteX17" fmla="*/ 44338 w 57770"/>
                <a:gd name="connsiteY17" fmla="*/ 35728 h 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70" h="76788">
                  <a:moveTo>
                    <a:pt x="44338" y="35728"/>
                  </a:moveTo>
                  <a:cubicBezTo>
                    <a:pt x="47147" y="35728"/>
                    <a:pt x="50308" y="35728"/>
                    <a:pt x="50308" y="32775"/>
                  </a:cubicBezTo>
                  <a:cubicBezTo>
                    <a:pt x="50308" y="30343"/>
                    <a:pt x="48201" y="30343"/>
                    <a:pt x="45216" y="30343"/>
                  </a:cubicBezTo>
                  <a:lnTo>
                    <a:pt x="16769" y="30343"/>
                  </a:lnTo>
                  <a:cubicBezTo>
                    <a:pt x="20983" y="15576"/>
                    <a:pt x="30817" y="5499"/>
                    <a:pt x="46796" y="5499"/>
                  </a:cubicBezTo>
                  <a:lnTo>
                    <a:pt x="52239" y="5499"/>
                  </a:lnTo>
                  <a:cubicBezTo>
                    <a:pt x="55224" y="5499"/>
                    <a:pt x="58034" y="5499"/>
                    <a:pt x="58034" y="2546"/>
                  </a:cubicBezTo>
                  <a:cubicBezTo>
                    <a:pt x="58034" y="114"/>
                    <a:pt x="55751" y="114"/>
                    <a:pt x="52766" y="114"/>
                  </a:cubicBezTo>
                  <a:lnTo>
                    <a:pt x="46620" y="114"/>
                  </a:lnTo>
                  <a:cubicBezTo>
                    <a:pt x="23793" y="114"/>
                    <a:pt x="263" y="17487"/>
                    <a:pt x="263" y="44067"/>
                  </a:cubicBezTo>
                  <a:cubicBezTo>
                    <a:pt x="263" y="63178"/>
                    <a:pt x="13433" y="76902"/>
                    <a:pt x="32046" y="76902"/>
                  </a:cubicBezTo>
                  <a:cubicBezTo>
                    <a:pt x="43460" y="76902"/>
                    <a:pt x="54873" y="69953"/>
                    <a:pt x="54873" y="68042"/>
                  </a:cubicBezTo>
                  <a:cubicBezTo>
                    <a:pt x="54873" y="67521"/>
                    <a:pt x="54698" y="65610"/>
                    <a:pt x="53117" y="65610"/>
                  </a:cubicBezTo>
                  <a:cubicBezTo>
                    <a:pt x="52766" y="65610"/>
                    <a:pt x="52415" y="65610"/>
                    <a:pt x="50835" y="66652"/>
                  </a:cubicBezTo>
                  <a:cubicBezTo>
                    <a:pt x="45391" y="70127"/>
                    <a:pt x="38894" y="73080"/>
                    <a:pt x="32397" y="73080"/>
                  </a:cubicBezTo>
                  <a:cubicBezTo>
                    <a:pt x="22213" y="73080"/>
                    <a:pt x="13433" y="65783"/>
                    <a:pt x="13433" y="50495"/>
                  </a:cubicBezTo>
                  <a:cubicBezTo>
                    <a:pt x="13433" y="44415"/>
                    <a:pt x="14838" y="37813"/>
                    <a:pt x="15364" y="35728"/>
                  </a:cubicBezTo>
                  <a:lnTo>
                    <a:pt x="44338" y="35728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AB8BAFB6-E2C4-599A-FDD2-26121CA796A0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272126" y="4327512"/>
              <a:ext cx="80598" cy="112402"/>
            </a:xfrm>
            <a:custGeom>
              <a:avLst/>
              <a:gdLst>
                <a:gd name="connsiteX0" fmla="*/ 80340 w 80598"/>
                <a:gd name="connsiteY0" fmla="*/ 11399 h 112402"/>
                <a:gd name="connsiteX1" fmla="*/ 80867 w 80598"/>
                <a:gd name="connsiteY1" fmla="*/ 8272 h 112402"/>
                <a:gd name="connsiteX2" fmla="*/ 75774 w 80598"/>
                <a:gd name="connsiteY2" fmla="*/ 3582 h 112402"/>
                <a:gd name="connsiteX3" fmla="*/ 68575 w 80598"/>
                <a:gd name="connsiteY3" fmla="*/ 11052 h 112402"/>
                <a:gd name="connsiteX4" fmla="*/ 52245 w 80598"/>
                <a:gd name="connsiteY4" fmla="*/ 107 h 112402"/>
                <a:gd name="connsiteX5" fmla="*/ 10453 w 80598"/>
                <a:gd name="connsiteY5" fmla="*/ 49446 h 112402"/>
                <a:gd name="connsiteX6" fmla="*/ 33807 w 80598"/>
                <a:gd name="connsiteY6" fmla="*/ 76895 h 112402"/>
                <a:gd name="connsiteX7" fmla="*/ 54176 w 80598"/>
                <a:gd name="connsiteY7" fmla="*/ 66819 h 112402"/>
                <a:gd name="connsiteX8" fmla="*/ 54352 w 80598"/>
                <a:gd name="connsiteY8" fmla="*/ 66993 h 112402"/>
                <a:gd name="connsiteX9" fmla="*/ 48557 w 80598"/>
                <a:gd name="connsiteY9" fmla="*/ 89925 h 112402"/>
                <a:gd name="connsiteX10" fmla="*/ 23271 w 80598"/>
                <a:gd name="connsiteY10" fmla="*/ 108688 h 112402"/>
                <a:gd name="connsiteX11" fmla="*/ 9224 w 80598"/>
                <a:gd name="connsiteY11" fmla="*/ 106950 h 112402"/>
                <a:gd name="connsiteX12" fmla="*/ 16423 w 80598"/>
                <a:gd name="connsiteY12" fmla="*/ 97916 h 112402"/>
                <a:gd name="connsiteX13" fmla="*/ 9750 w 80598"/>
                <a:gd name="connsiteY13" fmla="*/ 91836 h 112402"/>
                <a:gd name="connsiteX14" fmla="*/ 268 w 80598"/>
                <a:gd name="connsiteY14" fmla="*/ 101912 h 112402"/>
                <a:gd name="connsiteX15" fmla="*/ 23623 w 80598"/>
                <a:gd name="connsiteY15" fmla="*/ 112510 h 112402"/>
                <a:gd name="connsiteX16" fmla="*/ 60849 w 80598"/>
                <a:gd name="connsiteY16" fmla="*/ 88535 h 112402"/>
                <a:gd name="connsiteX17" fmla="*/ 80340 w 80598"/>
                <a:gd name="connsiteY17" fmla="*/ 11399 h 112402"/>
                <a:gd name="connsiteX18" fmla="*/ 57512 w 80598"/>
                <a:gd name="connsiteY18" fmla="*/ 54658 h 112402"/>
                <a:gd name="connsiteX19" fmla="*/ 48557 w 80598"/>
                <a:gd name="connsiteY19" fmla="*/ 66819 h 112402"/>
                <a:gd name="connsiteX20" fmla="*/ 34334 w 80598"/>
                <a:gd name="connsiteY20" fmla="*/ 73073 h 112402"/>
                <a:gd name="connsiteX21" fmla="*/ 22920 w 80598"/>
                <a:gd name="connsiteY21" fmla="*/ 57090 h 112402"/>
                <a:gd name="connsiteX22" fmla="*/ 32753 w 80598"/>
                <a:gd name="connsiteY22" fmla="*/ 19391 h 112402"/>
                <a:gd name="connsiteX23" fmla="*/ 52420 w 80598"/>
                <a:gd name="connsiteY23" fmla="*/ 3929 h 112402"/>
                <a:gd name="connsiteX24" fmla="*/ 66468 w 80598"/>
                <a:gd name="connsiteY24" fmla="*/ 18870 h 112402"/>
                <a:gd name="connsiteX25" fmla="*/ 65941 w 80598"/>
                <a:gd name="connsiteY25" fmla="*/ 21476 h 112402"/>
                <a:gd name="connsiteX26" fmla="*/ 57512 w 80598"/>
                <a:gd name="connsiteY26" fmla="*/ 54658 h 11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598" h="112402">
                  <a:moveTo>
                    <a:pt x="80340" y="11399"/>
                  </a:moveTo>
                  <a:cubicBezTo>
                    <a:pt x="80515" y="10357"/>
                    <a:pt x="80867" y="9488"/>
                    <a:pt x="80867" y="8272"/>
                  </a:cubicBezTo>
                  <a:cubicBezTo>
                    <a:pt x="80867" y="5319"/>
                    <a:pt x="78759" y="3582"/>
                    <a:pt x="75774" y="3582"/>
                  </a:cubicBezTo>
                  <a:cubicBezTo>
                    <a:pt x="74018" y="3582"/>
                    <a:pt x="69277" y="4798"/>
                    <a:pt x="68575" y="11052"/>
                  </a:cubicBezTo>
                  <a:cubicBezTo>
                    <a:pt x="65414" y="4624"/>
                    <a:pt x="59268" y="107"/>
                    <a:pt x="52245" y="107"/>
                  </a:cubicBezTo>
                  <a:cubicBezTo>
                    <a:pt x="32227" y="107"/>
                    <a:pt x="10453" y="24429"/>
                    <a:pt x="10453" y="49446"/>
                  </a:cubicBezTo>
                  <a:cubicBezTo>
                    <a:pt x="10453" y="66645"/>
                    <a:pt x="21164" y="76895"/>
                    <a:pt x="33807" y="76895"/>
                  </a:cubicBezTo>
                  <a:cubicBezTo>
                    <a:pt x="44167" y="76895"/>
                    <a:pt x="52420" y="68730"/>
                    <a:pt x="54176" y="66819"/>
                  </a:cubicBezTo>
                  <a:lnTo>
                    <a:pt x="54352" y="66993"/>
                  </a:lnTo>
                  <a:cubicBezTo>
                    <a:pt x="50664" y="82455"/>
                    <a:pt x="48557" y="89578"/>
                    <a:pt x="48557" y="89925"/>
                  </a:cubicBezTo>
                  <a:cubicBezTo>
                    <a:pt x="47855" y="91489"/>
                    <a:pt x="41884" y="108688"/>
                    <a:pt x="23271" y="108688"/>
                  </a:cubicBezTo>
                  <a:cubicBezTo>
                    <a:pt x="19935" y="108688"/>
                    <a:pt x="14140" y="108514"/>
                    <a:pt x="9224" y="106950"/>
                  </a:cubicBezTo>
                  <a:cubicBezTo>
                    <a:pt x="14492" y="105387"/>
                    <a:pt x="16423" y="100870"/>
                    <a:pt x="16423" y="97916"/>
                  </a:cubicBezTo>
                  <a:cubicBezTo>
                    <a:pt x="16423" y="95137"/>
                    <a:pt x="14492" y="91836"/>
                    <a:pt x="9750" y="91836"/>
                  </a:cubicBezTo>
                  <a:cubicBezTo>
                    <a:pt x="5887" y="91836"/>
                    <a:pt x="268" y="94963"/>
                    <a:pt x="268" y="101912"/>
                  </a:cubicBezTo>
                  <a:cubicBezTo>
                    <a:pt x="268" y="109035"/>
                    <a:pt x="6765" y="112510"/>
                    <a:pt x="23623" y="112510"/>
                  </a:cubicBezTo>
                  <a:cubicBezTo>
                    <a:pt x="45572" y="112510"/>
                    <a:pt x="58215" y="98959"/>
                    <a:pt x="60849" y="88535"/>
                  </a:cubicBezTo>
                  <a:lnTo>
                    <a:pt x="80340" y="11399"/>
                  </a:lnTo>
                  <a:close/>
                  <a:moveTo>
                    <a:pt x="57512" y="54658"/>
                  </a:moveTo>
                  <a:cubicBezTo>
                    <a:pt x="56459" y="59175"/>
                    <a:pt x="52420" y="63518"/>
                    <a:pt x="48557" y="66819"/>
                  </a:cubicBezTo>
                  <a:cubicBezTo>
                    <a:pt x="44870" y="69946"/>
                    <a:pt x="39426" y="73073"/>
                    <a:pt x="34334" y="73073"/>
                  </a:cubicBezTo>
                  <a:cubicBezTo>
                    <a:pt x="25554" y="73073"/>
                    <a:pt x="22920" y="64039"/>
                    <a:pt x="22920" y="57090"/>
                  </a:cubicBezTo>
                  <a:cubicBezTo>
                    <a:pt x="22920" y="48751"/>
                    <a:pt x="28012" y="28251"/>
                    <a:pt x="32753" y="19391"/>
                  </a:cubicBezTo>
                  <a:cubicBezTo>
                    <a:pt x="37495" y="10878"/>
                    <a:pt x="45045" y="3929"/>
                    <a:pt x="52420" y="3929"/>
                  </a:cubicBezTo>
                  <a:cubicBezTo>
                    <a:pt x="64009" y="3929"/>
                    <a:pt x="66468" y="18001"/>
                    <a:pt x="66468" y="18870"/>
                  </a:cubicBezTo>
                  <a:cubicBezTo>
                    <a:pt x="66468" y="19738"/>
                    <a:pt x="66117" y="20781"/>
                    <a:pt x="65941" y="21476"/>
                  </a:cubicBezTo>
                  <a:lnTo>
                    <a:pt x="57512" y="54658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形状 60">
              <a:extLst>
                <a:ext uri="{FF2B5EF4-FFF2-40B4-BE49-F238E27FC236}">
                  <a16:creationId xmlns:a16="http://schemas.microsoft.com/office/drawing/2014/main" id="{A3840ECD-1B27-6484-66BB-D9F3AB5D9203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358408" y="4354353"/>
              <a:ext cx="41545" cy="77222"/>
            </a:xfrm>
            <a:custGeom>
              <a:avLst/>
              <a:gdLst>
                <a:gd name="connsiteX0" fmla="*/ 25348 w 41545"/>
                <a:gd name="connsiteY0" fmla="*/ 28079 h 77222"/>
                <a:gd name="connsiteX1" fmla="*/ 37886 w 41545"/>
                <a:gd name="connsiteY1" fmla="*/ 28079 h 77222"/>
                <a:gd name="connsiteX2" fmla="*/ 41819 w 41545"/>
                <a:gd name="connsiteY2" fmla="*/ 25403 h 77222"/>
                <a:gd name="connsiteX3" fmla="*/ 38131 w 41545"/>
                <a:gd name="connsiteY3" fmla="*/ 23701 h 77222"/>
                <a:gd name="connsiteX4" fmla="*/ 26454 w 41545"/>
                <a:gd name="connsiteY4" fmla="*/ 23701 h 77222"/>
                <a:gd name="connsiteX5" fmla="*/ 31002 w 41545"/>
                <a:gd name="connsiteY5" fmla="*/ 5702 h 77222"/>
                <a:gd name="connsiteX6" fmla="*/ 31371 w 41545"/>
                <a:gd name="connsiteY6" fmla="*/ 4000 h 77222"/>
                <a:gd name="connsiteX7" fmla="*/ 27192 w 41545"/>
                <a:gd name="connsiteY7" fmla="*/ 108 h 77222"/>
                <a:gd name="connsiteX8" fmla="*/ 21415 w 41545"/>
                <a:gd name="connsiteY8" fmla="*/ 5338 h 77222"/>
                <a:gd name="connsiteX9" fmla="*/ 16744 w 41545"/>
                <a:gd name="connsiteY9" fmla="*/ 23701 h 77222"/>
                <a:gd name="connsiteX10" fmla="*/ 4206 w 41545"/>
                <a:gd name="connsiteY10" fmla="*/ 23701 h 77222"/>
                <a:gd name="connsiteX11" fmla="*/ 273 w 41545"/>
                <a:gd name="connsiteY11" fmla="*/ 26376 h 77222"/>
                <a:gd name="connsiteX12" fmla="*/ 3961 w 41545"/>
                <a:gd name="connsiteY12" fmla="*/ 28079 h 77222"/>
                <a:gd name="connsiteX13" fmla="*/ 15638 w 41545"/>
                <a:gd name="connsiteY13" fmla="*/ 28079 h 77222"/>
                <a:gd name="connsiteX14" fmla="*/ 8386 w 41545"/>
                <a:gd name="connsiteY14" fmla="*/ 56779 h 77222"/>
                <a:gd name="connsiteX15" fmla="*/ 6542 w 41545"/>
                <a:gd name="connsiteY15" fmla="*/ 65778 h 77222"/>
                <a:gd name="connsiteX16" fmla="*/ 19694 w 41545"/>
                <a:gd name="connsiteY16" fmla="*/ 77331 h 77222"/>
                <a:gd name="connsiteX17" fmla="*/ 41081 w 41545"/>
                <a:gd name="connsiteY17" fmla="*/ 58725 h 77222"/>
                <a:gd name="connsiteX18" fmla="*/ 39115 w 41545"/>
                <a:gd name="connsiteY18" fmla="*/ 57144 h 77222"/>
                <a:gd name="connsiteX19" fmla="*/ 36534 w 41545"/>
                <a:gd name="connsiteY19" fmla="*/ 59454 h 77222"/>
                <a:gd name="connsiteX20" fmla="*/ 20063 w 41545"/>
                <a:gd name="connsiteY20" fmla="*/ 73926 h 77222"/>
                <a:gd name="connsiteX21" fmla="*/ 15761 w 41545"/>
                <a:gd name="connsiteY21" fmla="*/ 67967 h 77222"/>
                <a:gd name="connsiteX22" fmla="*/ 16498 w 41545"/>
                <a:gd name="connsiteY22" fmla="*/ 62981 h 77222"/>
                <a:gd name="connsiteX23" fmla="*/ 25348 w 41545"/>
                <a:gd name="connsiteY23" fmla="*/ 28079 h 7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545" h="77222">
                  <a:moveTo>
                    <a:pt x="25348" y="28079"/>
                  </a:moveTo>
                  <a:lnTo>
                    <a:pt x="37886" y="28079"/>
                  </a:lnTo>
                  <a:cubicBezTo>
                    <a:pt x="40221" y="28079"/>
                    <a:pt x="41819" y="28079"/>
                    <a:pt x="41819" y="25403"/>
                  </a:cubicBezTo>
                  <a:cubicBezTo>
                    <a:pt x="41819" y="23701"/>
                    <a:pt x="40221" y="23701"/>
                    <a:pt x="38131" y="23701"/>
                  </a:cubicBezTo>
                  <a:lnTo>
                    <a:pt x="26454" y="23701"/>
                  </a:lnTo>
                  <a:lnTo>
                    <a:pt x="31002" y="5702"/>
                  </a:lnTo>
                  <a:cubicBezTo>
                    <a:pt x="31125" y="5094"/>
                    <a:pt x="31371" y="4486"/>
                    <a:pt x="31371" y="4000"/>
                  </a:cubicBezTo>
                  <a:cubicBezTo>
                    <a:pt x="31371" y="1811"/>
                    <a:pt x="29650" y="108"/>
                    <a:pt x="27192" y="108"/>
                  </a:cubicBezTo>
                  <a:cubicBezTo>
                    <a:pt x="24119" y="108"/>
                    <a:pt x="22275" y="2176"/>
                    <a:pt x="21415" y="5338"/>
                  </a:cubicBezTo>
                  <a:cubicBezTo>
                    <a:pt x="20554" y="8378"/>
                    <a:pt x="22152" y="2541"/>
                    <a:pt x="16744" y="23701"/>
                  </a:cubicBezTo>
                  <a:lnTo>
                    <a:pt x="4206" y="23701"/>
                  </a:lnTo>
                  <a:cubicBezTo>
                    <a:pt x="1871" y="23701"/>
                    <a:pt x="273" y="23701"/>
                    <a:pt x="273" y="26376"/>
                  </a:cubicBezTo>
                  <a:cubicBezTo>
                    <a:pt x="273" y="28079"/>
                    <a:pt x="1748" y="28079"/>
                    <a:pt x="3961" y="28079"/>
                  </a:cubicBezTo>
                  <a:lnTo>
                    <a:pt x="15638" y="28079"/>
                  </a:lnTo>
                  <a:lnTo>
                    <a:pt x="8386" y="56779"/>
                  </a:lnTo>
                  <a:cubicBezTo>
                    <a:pt x="7648" y="59819"/>
                    <a:pt x="6542" y="64197"/>
                    <a:pt x="6542" y="65778"/>
                  </a:cubicBezTo>
                  <a:cubicBezTo>
                    <a:pt x="6542" y="72953"/>
                    <a:pt x="12688" y="77331"/>
                    <a:pt x="19694" y="77331"/>
                  </a:cubicBezTo>
                  <a:cubicBezTo>
                    <a:pt x="33338" y="77331"/>
                    <a:pt x="41081" y="60306"/>
                    <a:pt x="41081" y="58725"/>
                  </a:cubicBezTo>
                  <a:cubicBezTo>
                    <a:pt x="41081" y="57144"/>
                    <a:pt x="39484" y="57144"/>
                    <a:pt x="39115" y="57144"/>
                  </a:cubicBezTo>
                  <a:cubicBezTo>
                    <a:pt x="37640" y="57144"/>
                    <a:pt x="37517" y="57387"/>
                    <a:pt x="36534" y="59454"/>
                  </a:cubicBezTo>
                  <a:cubicBezTo>
                    <a:pt x="33092" y="67116"/>
                    <a:pt x="26823" y="73926"/>
                    <a:pt x="20063" y="73926"/>
                  </a:cubicBezTo>
                  <a:cubicBezTo>
                    <a:pt x="17481" y="73926"/>
                    <a:pt x="15761" y="72345"/>
                    <a:pt x="15761" y="67967"/>
                  </a:cubicBezTo>
                  <a:cubicBezTo>
                    <a:pt x="15761" y="66751"/>
                    <a:pt x="16252" y="64197"/>
                    <a:pt x="16498" y="62981"/>
                  </a:cubicBezTo>
                  <a:lnTo>
                    <a:pt x="25348" y="28079"/>
                  </a:lnTo>
                  <a:close/>
                </a:path>
              </a:pathLst>
            </a:custGeom>
            <a:solidFill>
              <a:srgbClr val="000000"/>
            </a:solidFill>
            <a:ln w="17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0.52666"/>
  <p:tag name="ORIGINALWIDTH" val="113.065"/>
  <p:tag name="OUTPUTTYPE" val="SVG"/>
  <p:tag name="IGUANATEXVERSION" val="160"/>
  <p:tag name="LATEXADDIN" val="\documentclass{article}&#10;\usepackage{amsmath}&#10;\pagestyle{empty}&#10;\begin{document}&#10;&#10;$$&#10;\begin{aligned}&#10;&amp; m_t=\beta_1 m_{t-1}-\left(1-\beta_1\right)g_t \\&#10;&amp; s_t=\beta_2 s_{t-1}-\left(1-\beta_2\right) g_t^2 \\&#10;&amp; \theta_{t+1}=\theta_t-\eta \frac{m_t}{\sqrt{s_t+\epsilon}} g_t&#10;\end{aligned}&#10;$$&#10;&#10;&#10;&#10;\end{document}"/>
  <p:tag name="IGUANATEXSIZE" val="14"/>
  <p:tag name="IGUANATEXCURSOR" val="241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6266"/>
  <p:tag name="ORIGINALWIDTH" val="8.088414"/>
  <p:tag name="LATEXADDIN" val="\documentclass{article}&#10;\usepackage{amsmath}&#10;\pagestyle{empty}&#10;\begin{document}&#10;&#10;$$&#10;\begin{aligned}&#10;&amp; m_t=\beta_1 m_{t-1}-\left(1-\beta_1\right)g_t \\&#10;&amp; s_t=\beta_2 s_{t-1}-\left(1-\beta_2\right) g_t^2 \\&#10;&amp; \theta_{t+1}=\theta_t-\eta \frac{m_t}{\sqrt{s_t+\epsilon}} g_t&#10;\end{aligned}&#10;$$&#10;&#10;&#10;&#10;\end{document}"/>
  <p:tag name="IGUANATEXSIZE" val="14"/>
  <p:tag name="IGUANATEXCURSOR" val="241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86389"/>
  <p:tag name="ORIGINALWIDTH" val="6.567492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93925"/>
  <p:tag name="ORIGINALWIDTH" val="5.383633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2.516367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6266"/>
  <p:tag name="ORIGINALWIDTH" val="8.088414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350956"/>
  <p:tag name="ORIGINALWIDTH" val="4.673285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2.516367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8324"/>
  <p:tag name="ORIGINALWIDTH" val="6.034196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71035"/>
  <p:tag name="ORIGINALWIDTH" val="2.291226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7481"/>
  <p:tag name="ORIGINALWIDTH" val="3.259055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8324"/>
  <p:tag name="ORIGINALWIDTH" val="6.034196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93925"/>
  <p:tag name="ORIGINALWIDTH" val="5.383633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2.516367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71035"/>
  <p:tag name="ORIGINALWIDTH" val="2.291226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1823"/>
  <p:tag name="ORIGINALWIDTH" val="4.533071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6266"/>
  <p:tag name="ORIGINALWIDTH" val="3.634365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86389"/>
  <p:tag name="ORIGINALWIDTH" val="6.567492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93925"/>
  <p:tag name="ORIGINALWIDTH" val="5.383633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3.055624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6266"/>
  <p:tag name="ORIGINALWIDTH" val="3.634365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350956"/>
  <p:tag name="ORIGINALWIDTH" val="4.673285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2.516367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8324"/>
  <p:tag name="ORIGINALWIDTH" val="6.034196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71035"/>
  <p:tag name="ORIGINALWIDTH" val="2.29122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7481"/>
  <p:tag name="ORIGINALWIDTH" val="3.259055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8324"/>
  <p:tag name="ORIGINALWIDTH" val="6.034196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93925"/>
  <p:tag name="ORIGINALWIDTH" val="5.383633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3.055624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71035"/>
  <p:tag name="ORIGINALWIDTH" val="2.291226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1823"/>
  <p:tag name="ORIGINALWIDTH" val="4.533071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3.055624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96063"/>
  <p:tag name="ORIGINALWIDTH" val="4.07874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0833"/>
  <p:tag name="ORIGINALWIDTH" val="5.088077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1564"/>
  <p:tag name="ORIGINALWIDTH" val="2.516367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86389"/>
  <p:tag name="ORIGINALWIDTH" val="6.567492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96063"/>
  <p:tag name="ORIGINALWIDTH" val="4.07874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8324"/>
  <p:tag name="ORIGINALWIDTH" val="6.034196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9303"/>
  <p:tag name="ORIGINALWIDTH" val="4.612092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6266"/>
  <p:tag name="ORIGINALWIDTH" val="8.088414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7762"/>
  <p:tag name="ORIGINALWIDTH" val="32.41586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71035"/>
  <p:tag name="ORIGINALWIDTH" val="7.703262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07762"/>
  <p:tag name="ORIGINALWIDTH" val="24.18583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6266"/>
  <p:tag name="ORIGINALWIDTH" val="3.634365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7481"/>
  <p:tag name="ORIGINALWIDTH" val="6.567492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18785"/>
  <p:tag name="ORIGINALWIDTH" val="3.249156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1823"/>
  <p:tag name="ORIGINALWIDTH" val="4.533071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43194"/>
  <p:tag name="ORIGINALWIDTH" val="2.336614"/>
  <p:tag name="EMFCHILD" val="True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19879</TotalTime>
  <Words>1931</Words>
  <Application>Microsoft Macintosh PowerPoint</Application>
  <PresentationFormat>宽屏</PresentationFormat>
  <Paragraphs>259</Paragraphs>
  <Slides>28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Microsoft YaHei</vt:lpstr>
      <vt:lpstr>Microsoft YaHei</vt:lpstr>
      <vt:lpstr>等线</vt:lpstr>
      <vt:lpstr>黑体</vt:lpstr>
      <vt:lpstr>Arial</vt:lpstr>
      <vt:lpstr>Book Antiqua</vt:lpstr>
      <vt:lpstr>Calibri</vt:lpstr>
      <vt:lpstr>Cambria Math</vt:lpstr>
      <vt:lpstr>Wingdings</vt:lpstr>
      <vt:lpstr>1_自定义设计方案</vt:lpstr>
      <vt:lpstr>传统机器学习 – 监督学习</vt:lpstr>
      <vt:lpstr>目录</vt:lpstr>
      <vt:lpstr>目录</vt:lpstr>
      <vt:lpstr>机器学习可以做什么？</vt:lpstr>
      <vt:lpstr>监督学习</vt:lpstr>
      <vt:lpstr>目录</vt:lpstr>
      <vt:lpstr>回归问题：最小二乘法</vt:lpstr>
      <vt:lpstr>回归问题：最小二乘法</vt:lpstr>
      <vt:lpstr>分类问题：二分类问题</vt:lpstr>
      <vt:lpstr>逻辑回归（Logistic Regression，LR）</vt:lpstr>
      <vt:lpstr>线性判别分析（Linear Discriminant Analysis，LDA）</vt:lpstr>
      <vt:lpstr>多分类学习</vt:lpstr>
      <vt:lpstr>目录</vt:lpstr>
      <vt:lpstr>决策树的基本流程</vt:lpstr>
      <vt:lpstr>决策树的基本流程</vt:lpstr>
      <vt:lpstr>剪枝处理</vt:lpstr>
      <vt:lpstr>多变量决策树</vt:lpstr>
      <vt:lpstr>目录</vt:lpstr>
      <vt:lpstr>点到线的距离</vt:lpstr>
      <vt:lpstr>分类问题：二分类问题</vt:lpstr>
      <vt:lpstr>分类间隔与支持向量（Support Vector）</vt:lpstr>
      <vt:lpstr>硬间隔与软间隔</vt:lpstr>
      <vt:lpstr>拓展：核函数支持向量机（Kernel SVM）</vt:lpstr>
      <vt:lpstr>内容小结</vt:lpstr>
      <vt:lpstr>课后习题</vt:lpstr>
      <vt:lpstr>课后习题</vt:lpstr>
      <vt:lpstr>上机练习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Microsoft Office User</cp:lastModifiedBy>
  <cp:revision>627</cp:revision>
  <dcterms:created xsi:type="dcterms:W3CDTF">2020-06-05T07:59:00Z</dcterms:created>
  <dcterms:modified xsi:type="dcterms:W3CDTF">2025-12-20T15:05:16Z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