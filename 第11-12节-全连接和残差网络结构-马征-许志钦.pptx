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xml" ContentType="application/vnd.openxmlformats-officedocument.presentationml.tags+xml"/>
  <Override PartName="/ppt/tags/tag181.xml" ContentType="application/vnd.openxmlformats-officedocument.presentationml.tags+xml"/>
  <Override PartName="/ppt/tags/tag1840.xml" ContentType="application/vnd.openxmlformats-officedocument.presentationml.tags+xml"/>
  <Override PartName="/ppt/tags/tag1860.xml" ContentType="application/vnd.openxmlformats-officedocument.presentationml.tags+xml"/>
  <Override PartName="/ppt/tags/tag189.xml" ContentType="application/vnd.openxmlformats-officedocument.presentationml.tags+xml"/>
  <Override PartName="/ppt/tags/tag19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40"/>
  </p:notesMasterIdLst>
  <p:sldIdLst>
    <p:sldId id="2314" r:id="rId3"/>
    <p:sldId id="10442" r:id="rId4"/>
    <p:sldId id="10899" r:id="rId5"/>
    <p:sldId id="390" r:id="rId6"/>
    <p:sldId id="391" r:id="rId7"/>
    <p:sldId id="392" r:id="rId8"/>
    <p:sldId id="393" r:id="rId9"/>
    <p:sldId id="394" r:id="rId10"/>
    <p:sldId id="395" r:id="rId11"/>
    <p:sldId id="396" r:id="rId12"/>
    <p:sldId id="10900" r:id="rId13"/>
    <p:sldId id="10901" r:id="rId14"/>
    <p:sldId id="397" r:id="rId15"/>
    <p:sldId id="10446" r:id="rId16"/>
    <p:sldId id="398" r:id="rId17"/>
    <p:sldId id="10444" r:id="rId18"/>
    <p:sldId id="10897" r:id="rId19"/>
    <p:sldId id="10898" r:id="rId20"/>
    <p:sldId id="10813" r:id="rId21"/>
    <p:sldId id="10349" r:id="rId22"/>
    <p:sldId id="10351" r:id="rId23"/>
    <p:sldId id="10352" r:id="rId24"/>
    <p:sldId id="10420" r:id="rId25"/>
    <p:sldId id="10902" r:id="rId26"/>
    <p:sldId id="10903" r:id="rId27"/>
    <p:sldId id="10451" r:id="rId28"/>
    <p:sldId id="376" r:id="rId29"/>
    <p:sldId id="10860" r:id="rId30"/>
    <p:sldId id="10861" r:id="rId31"/>
    <p:sldId id="10862" r:id="rId32"/>
    <p:sldId id="10863" r:id="rId33"/>
    <p:sldId id="10864" r:id="rId34"/>
    <p:sldId id="10865" r:id="rId35"/>
    <p:sldId id="10866" r:id="rId36"/>
    <p:sldId id="10356" r:id="rId37"/>
    <p:sldId id="10358" r:id="rId38"/>
    <p:sldId id="1032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22" autoAdjust="0"/>
    <p:restoredTop sz="89457" autoAdjust="0"/>
  </p:normalViewPr>
  <p:slideViewPr>
    <p:cSldViewPr snapToGrid="0">
      <p:cViewPr>
        <p:scale>
          <a:sx n="81" d="100"/>
          <a:sy n="81" d="100"/>
        </p:scale>
        <p:origin x="345" y="138"/>
      </p:cViewPr>
      <p:guideLst/>
    </p:cSldViewPr>
  </p:slideViewPr>
  <p:notesTextViewPr>
    <p:cViewPr>
      <p:scale>
        <a:sx n="3" d="2"/>
        <a:sy n="3" d="2"/>
      </p:scale>
      <p:origin x="0" y="0"/>
    </p:cViewPr>
  </p:notesTextViewPr>
  <p:sorterViewPr>
    <p:cViewPr>
      <p:scale>
        <a:sx n="75" d="100"/>
        <a:sy n="75" d="100"/>
      </p:scale>
      <p:origin x="0" y="-23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14" name="图片 13" descr="图片包含 建筑物, 圆屋顶, 地板&#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18" name="平行四边形 17"/>
          <p:cNvSpPr/>
          <p:nvPr userDrawn="1"/>
        </p:nvSpPr>
        <p:spPr>
          <a:xfrm>
            <a:off x="0" y="1"/>
            <a:ext cx="12191483" cy="685800"/>
          </a:xfrm>
          <a:prstGeom prst="parallelogram">
            <a:avLst>
              <a:gd name="adj" fmla="val 444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pic>
        <p:nvPicPr>
          <p:cNvPr id="7" name="图片 6" descr="图片包含 户外, 标牌, 黑色&#10;&#10;自动生成的说明"/>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sp>
        <p:nvSpPr>
          <p:cNvPr id="8" name="文本占位符 31"/>
          <p:cNvSpPr>
            <a:spLocks noGrp="1"/>
          </p:cNvSpPr>
          <p:nvPr>
            <p:ph type="body" sz="quarter" idx="11"/>
          </p:nvPr>
        </p:nvSpPr>
        <p:spPr>
          <a:xfrm>
            <a:off x="1075351" y="43657"/>
            <a:ext cx="7081677"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9" name="文本占位符 31"/>
          <p:cNvSpPr>
            <a:spLocks noGrp="1"/>
          </p:cNvSpPr>
          <p:nvPr>
            <p:ph type="body" sz="quarter" idx="12"/>
          </p:nvPr>
        </p:nvSpPr>
        <p:spPr>
          <a:xfrm>
            <a:off x="319056"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0" name="文本占位符 31"/>
          <p:cNvSpPr>
            <a:spLocks noGrp="1"/>
          </p:cNvSpPr>
          <p:nvPr>
            <p:ph type="body" sz="quarter" idx="13"/>
          </p:nvPr>
        </p:nvSpPr>
        <p:spPr>
          <a:xfrm>
            <a:off x="4788940"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7" name="文本占位符 16"/>
          <p:cNvSpPr>
            <a:spLocks noGrp="1"/>
          </p:cNvSpPr>
          <p:nvPr>
            <p:ph type="body" sz="quarter" idx="14" hasCustomPrompt="1"/>
          </p:nvPr>
        </p:nvSpPr>
        <p:spPr>
          <a:xfrm>
            <a:off x="319056" y="766710"/>
            <a:ext cx="11568144" cy="4765791"/>
          </a:xfrm>
          <a:prstGeom prst="rect">
            <a:avLst/>
          </a:prstGeom>
        </p:spPr>
        <p:txBody>
          <a:bodyPr/>
          <a:lstStyle>
            <a:lvl1pPr marL="228600" indent="-228600">
              <a:lnSpc>
                <a:spcPct val="130000"/>
              </a:lnSpc>
              <a:buFontTx/>
              <a:buBlip>
                <a:blip r:embed="rId4"/>
              </a:buBlip>
              <a:defRPr sz="2000">
                <a:solidFill>
                  <a:schemeClr val="accent2"/>
                </a:solidFill>
              </a:defRPr>
            </a:lvl1pPr>
            <a:lvl2pPr>
              <a:lnSpc>
                <a:spcPct val="130000"/>
              </a:lnSpc>
              <a:defRPr sz="2000">
                <a:solidFill>
                  <a:schemeClr val="accent2"/>
                </a:solidFill>
              </a:defRPr>
            </a:lvl2pPr>
            <a:lvl3pPr>
              <a:lnSpc>
                <a:spcPct val="130000"/>
              </a:lnSpc>
              <a:defRPr sz="1800">
                <a:solidFill>
                  <a:schemeClr val="accent2"/>
                </a:solidFill>
              </a:defRPr>
            </a:lvl3pPr>
            <a:lvl4pPr>
              <a:lnSpc>
                <a:spcPct val="130000"/>
              </a:lnSpc>
              <a:defRPr sz="1600">
                <a:solidFill>
                  <a:schemeClr val="accent2"/>
                </a:solidFill>
              </a:defRPr>
            </a:lvl4pPr>
            <a:lvl5pPr>
              <a:lnSpc>
                <a:spcPct val="130000"/>
              </a:lnSpc>
              <a:defRPr sz="1600">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平行四边形 20"/>
          <p:cNvSpPr/>
          <p:nvPr userDrawn="1"/>
        </p:nvSpPr>
        <p:spPr>
          <a:xfrm>
            <a:off x="11428834" y="119857"/>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平行四边形 21"/>
          <p:cNvSpPr/>
          <p:nvPr userDrawn="1"/>
        </p:nvSpPr>
        <p:spPr>
          <a:xfrm>
            <a:off x="11016782" y="322602"/>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p:cNvPicPr>
            <a:picLocks noChangeAspect="1"/>
          </p:cNvPicPr>
          <p:nvPr userDrawn="1"/>
        </p:nvPicPr>
        <p:blipFill rotWithShape="1">
          <a:blip r:embed="rId5" cstate="print"/>
          <a:srcRect r="1346"/>
          <a:stretch>
            <a:fillRect/>
          </a:stretch>
        </p:blipFill>
        <p:spPr>
          <a:xfrm>
            <a:off x="516" y="6041797"/>
            <a:ext cx="12166903" cy="411617"/>
          </a:xfrm>
          <a:prstGeom prst="rect">
            <a:avLst/>
          </a:prstGeom>
        </p:spPr>
      </p:pic>
    </p:spTree>
    <p:extLst>
      <p:ext uri="{BB962C8B-B14F-4D97-AF65-F5344CB8AC3E}">
        <p14:creationId xmlns:p14="http://schemas.microsoft.com/office/powerpoint/2010/main" val="341284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2.png"/><Relationship Id="rId5" Type="http://schemas.openxmlformats.org/officeDocument/2006/relationships/slideLayout" Target="../slideLayouts/slideLayout13.xml"/><Relationship Id="rId10"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67"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4.xml"/><Relationship Id="rId7" Type="http://schemas.openxmlformats.org/officeDocument/2006/relationships/image" Target="../media/image3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6.xml"/><Relationship Id="rId5" Type="http://schemas.openxmlformats.org/officeDocument/2006/relationships/slideLayout" Target="../slideLayouts/slideLayout5.xml"/><Relationship Id="rId10" Type="http://schemas.openxmlformats.org/officeDocument/2006/relationships/image" Target="../media/image12.png"/><Relationship Id="rId4" Type="http://schemas.openxmlformats.org/officeDocument/2006/relationships/tags" Target="../tags/tag5.xml"/><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9.xml"/><Relationship Id="rId7" Type="http://schemas.openxmlformats.org/officeDocument/2006/relationships/image" Target="../media/image1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slideLayout" Target="../slideLayouts/slideLayout8.xml"/><Relationship Id="rId4" Type="http://schemas.openxmlformats.org/officeDocument/2006/relationships/tags" Target="../tags/tag10.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81.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20.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9.png"/><Relationship Id="rId5" Type="http://schemas.openxmlformats.org/officeDocument/2006/relationships/tags" Target="../tags/tag17.xml"/><Relationship Id="rId10" Type="http://schemas.openxmlformats.org/officeDocument/2006/relationships/image" Target="../media/image18.png"/><Relationship Id="rId4" Type="http://schemas.openxmlformats.org/officeDocument/2006/relationships/tags" Target="../tags/tag16.xml"/><Relationship Id="rId9" Type="http://schemas.openxmlformats.org/officeDocument/2006/relationships/image" Target="../media/image17.png"/><Relationship Id="rId14" Type="http://schemas.openxmlformats.org/officeDocument/2006/relationships/image" Target="../media/image320.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89.xml"/><Relationship Id="rId18" Type="http://schemas.openxmlformats.org/officeDocument/2006/relationships/image" Target="../media/image380.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340.png"/><Relationship Id="rId17" Type="http://schemas.openxmlformats.org/officeDocument/2006/relationships/image" Target="../media/image370.png"/><Relationship Id="rId2" Type="http://schemas.openxmlformats.org/officeDocument/2006/relationships/tags" Target="../tags/tag21.xml"/><Relationship Id="rId16" Type="http://schemas.openxmlformats.org/officeDocument/2006/relationships/tags" Target="../tags/tag192.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1860.xml"/><Relationship Id="rId5" Type="http://schemas.openxmlformats.org/officeDocument/2006/relationships/tags" Target="../tags/tag24.xml"/><Relationship Id="rId15" Type="http://schemas.openxmlformats.org/officeDocument/2006/relationships/image" Target="../media/image21.png"/><Relationship Id="rId10" Type="http://schemas.openxmlformats.org/officeDocument/2006/relationships/image" Target="../media/image330.png"/><Relationship Id="rId4" Type="http://schemas.openxmlformats.org/officeDocument/2006/relationships/tags" Target="../tags/tag23.xml"/><Relationship Id="rId9" Type="http://schemas.openxmlformats.org/officeDocument/2006/relationships/tags" Target="../tags/tag1840.xml"/><Relationship Id="rId14" Type="http://schemas.openxmlformats.org/officeDocument/2006/relationships/image" Target="../media/image35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23.png"/><Relationship Id="rId4"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36.xml"/><Relationship Id="rId7" Type="http://schemas.openxmlformats.org/officeDocument/2006/relationships/image" Target="../media/image54.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9.xml"/><Relationship Id="rId7" Type="http://schemas.openxmlformats.org/officeDocument/2006/relationships/image" Target="../media/image30.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29.png"/><Relationship Id="rId5" Type="http://schemas.openxmlformats.org/officeDocument/2006/relationships/slideLayout" Target="../slideLayouts/slideLayout8.xml"/><Relationship Id="rId4" Type="http://schemas.openxmlformats.org/officeDocument/2006/relationships/tags" Target="../tags/tag40.xml"/><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3800.png"/><Relationship Id="rId13" Type="http://schemas.openxmlformats.org/officeDocument/2006/relationships/image" Target="../media/image39.png"/><Relationship Id="rId3" Type="http://schemas.openxmlformats.org/officeDocument/2006/relationships/image" Target="../media/image3300.png"/><Relationship Id="rId7" Type="http://schemas.openxmlformats.org/officeDocument/2006/relationships/image" Target="../media/image3700.png"/><Relationship Id="rId12" Type="http://schemas.openxmlformats.org/officeDocument/2006/relationships/image" Target="../media/image37.png"/><Relationship Id="rId2" Type="http://schemas.openxmlformats.org/officeDocument/2006/relationships/image" Target="../media/image3200.png"/><Relationship Id="rId1" Type="http://schemas.openxmlformats.org/officeDocument/2006/relationships/slideLayout" Target="../slideLayouts/slideLayout6.xml"/><Relationship Id="rId6" Type="http://schemas.openxmlformats.org/officeDocument/2006/relationships/image" Target="../media/image360.png"/><Relationship Id="rId11" Type="http://schemas.openxmlformats.org/officeDocument/2006/relationships/image" Target="../media/image410.png"/><Relationship Id="rId5" Type="http://schemas.openxmlformats.org/officeDocument/2006/relationships/image" Target="../media/image3500.png"/><Relationship Id="rId10" Type="http://schemas.openxmlformats.org/officeDocument/2006/relationships/image" Target="../media/image401.png"/><Relationship Id="rId4" Type="http://schemas.openxmlformats.org/officeDocument/2006/relationships/image" Target="../media/image3400.png"/><Relationship Id="rId9" Type="http://schemas.openxmlformats.org/officeDocument/2006/relationships/image" Target="../media/image390.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1.png"/><Relationship Id="rId1" Type="http://schemas.openxmlformats.org/officeDocument/2006/relationships/slideLayout" Target="../slideLayouts/slideLayout6.xml"/><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42.png"/><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hyperlink" Target="http://www.kaggle.com/" TargetMode="External"/><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hyperlink" Target="https://www.kaggle.com/competitions/lstm-transformers-2/overview" TargetMode="External"/><Relationship Id="rId4" Type="http://schemas.openxmlformats.org/officeDocument/2006/relationships/hyperlink" Target="https://www.kaggle.com/competitions/cnn-cifar-10"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58.png"/><Relationship Id="rId1" Type="http://schemas.openxmlformats.org/officeDocument/2006/relationships/slideLayout" Target="../slideLayouts/slideLayout6.xml"/><Relationship Id="rId5" Type="http://schemas.openxmlformats.org/officeDocument/2006/relationships/image" Target="../media/image60.png"/><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zh-CN" altLang="en-US"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数据与神经网络结构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2025年10月28日星期二</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1150932-90EC-F9C5-3504-45AEBEF1B123}"/>
              </a:ext>
            </a:extLst>
          </p:cNvPr>
          <p:cNvSpPr txBox="1"/>
          <p:nvPr/>
        </p:nvSpPr>
        <p:spPr>
          <a:xfrm>
            <a:off x="92764" y="6374296"/>
            <a:ext cx="3075189" cy="400110"/>
          </a:xfrm>
          <a:prstGeom prst="rect">
            <a:avLst/>
          </a:prstGeom>
          <a:noFill/>
        </p:spPr>
        <p:txBody>
          <a:bodyPr wrap="square" rtlCol="0">
            <a:spAutoFit/>
          </a:bodyPr>
          <a:lstStyle/>
          <a:p>
            <a:pPr algn="l"/>
            <a:r>
              <a:rPr lang="en-US" altLang="zh-CN" sz="2000" dirty="0">
                <a:solidFill>
                  <a:schemeClr val="bg1"/>
                </a:solidFill>
              </a:rPr>
              <a:t>PPT</a:t>
            </a:r>
            <a:r>
              <a:rPr lang="zh-CN" altLang="en-US" sz="2000" dirty="0">
                <a:solidFill>
                  <a:schemeClr val="bg1"/>
                </a:solidFill>
              </a:rPr>
              <a:t>贡献：马征、许志钦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1AFCB-D557-2169-B64E-F77EEE26D0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336E97-7A57-EFE2-4D5F-87D54ED10DF6}"/>
              </a:ext>
            </a:extLst>
          </p:cNvPr>
          <p:cNvSpPr>
            <a:spLocks noGrp="1"/>
          </p:cNvSpPr>
          <p:nvPr>
            <p:ph type="title"/>
          </p:nvPr>
        </p:nvSpPr>
        <p:spPr>
          <a:xfrm>
            <a:off x="381242" y="2844289"/>
            <a:ext cx="11429516" cy="761979"/>
          </a:xfrm>
        </p:spPr>
        <p:txBody>
          <a:bodyPr/>
          <a:lstStyle/>
          <a:p>
            <a:pPr algn="ctr"/>
            <a:r>
              <a:rPr lang="zh-CN" altLang="en-US" dirty="0"/>
              <a:t>神经网络简介</a:t>
            </a:r>
          </a:p>
        </p:txBody>
      </p:sp>
      <p:sp>
        <p:nvSpPr>
          <p:cNvPr id="4" name="文本框 3">
            <a:extLst>
              <a:ext uri="{FF2B5EF4-FFF2-40B4-BE49-F238E27FC236}">
                <a16:creationId xmlns:a16="http://schemas.microsoft.com/office/drawing/2014/main" id="{70266AC2-01F9-6417-8B33-2E5B01447125}"/>
              </a:ext>
            </a:extLst>
          </p:cNvPr>
          <p:cNvSpPr txBox="1"/>
          <p:nvPr/>
        </p:nvSpPr>
        <p:spPr>
          <a:xfrm>
            <a:off x="3008415" y="5693666"/>
            <a:ext cx="6590805" cy="369332"/>
          </a:xfrm>
          <a:prstGeom prst="rect">
            <a:avLst/>
          </a:prstGeom>
          <a:noFill/>
        </p:spPr>
        <p:txBody>
          <a:bodyPr wrap="square">
            <a:spAutoFit/>
          </a:bodyPr>
          <a:lstStyle/>
          <a:p>
            <a:r>
              <a:rPr lang="zh-CN" altLang="en-US" dirty="0"/>
              <a:t>神经元时如何起作用的，以及神经网络架构是如何模仿神经元的</a:t>
            </a:r>
          </a:p>
        </p:txBody>
      </p:sp>
    </p:spTree>
    <p:extLst>
      <p:ext uri="{BB962C8B-B14F-4D97-AF65-F5344CB8AC3E}">
        <p14:creationId xmlns:p14="http://schemas.microsoft.com/office/powerpoint/2010/main" val="3948307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6F93-8CEC-8E84-C21E-7F04E8FBB4E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98F5342-D867-528B-101A-DDE6E20AEBF8}"/>
              </a:ext>
            </a:extLst>
          </p:cNvPr>
          <p:cNvSpPr>
            <a:spLocks noGrp="1"/>
          </p:cNvSpPr>
          <p:nvPr>
            <p:ph type="title"/>
          </p:nvPr>
        </p:nvSpPr>
        <p:spPr/>
        <p:txBody>
          <a:bodyPr/>
          <a:lstStyle/>
          <a:p>
            <a:r>
              <a:rPr lang="zh-CN" altLang="en-US" dirty="0"/>
              <a:t>单个神经元如何感知信息</a:t>
            </a:r>
          </a:p>
        </p:txBody>
      </p:sp>
      <p:pic>
        <p:nvPicPr>
          <p:cNvPr id="4" name="图片 3">
            <a:extLst>
              <a:ext uri="{FF2B5EF4-FFF2-40B4-BE49-F238E27FC236}">
                <a16:creationId xmlns:a16="http://schemas.microsoft.com/office/drawing/2014/main" id="{444FA3E7-3CED-6D13-AE2D-0854CF4CB93D}"/>
              </a:ext>
            </a:extLst>
          </p:cNvPr>
          <p:cNvPicPr>
            <a:picLocks noChangeAspect="1"/>
          </p:cNvPicPr>
          <p:nvPr/>
        </p:nvPicPr>
        <p:blipFill>
          <a:blip r:embed="rId3"/>
          <a:stretch>
            <a:fillRect/>
          </a:stretch>
        </p:blipFill>
        <p:spPr>
          <a:xfrm>
            <a:off x="2548612" y="2650156"/>
            <a:ext cx="7267699" cy="3345838"/>
          </a:xfrm>
          <a:prstGeom prst="rect">
            <a:avLst/>
          </a:prstGeom>
        </p:spPr>
      </p:pic>
      <p:pic>
        <p:nvPicPr>
          <p:cNvPr id="6" name="图片 5">
            <a:extLst>
              <a:ext uri="{FF2B5EF4-FFF2-40B4-BE49-F238E27FC236}">
                <a16:creationId xmlns:a16="http://schemas.microsoft.com/office/drawing/2014/main" id="{B36B9240-2C0E-BFC2-62A9-7D83CE146A0F}"/>
              </a:ext>
            </a:extLst>
          </p:cNvPr>
          <p:cNvPicPr>
            <a:picLocks noChangeAspect="1"/>
          </p:cNvPicPr>
          <p:nvPr/>
        </p:nvPicPr>
        <p:blipFill>
          <a:blip r:embed="rId4"/>
          <a:stretch>
            <a:fillRect/>
          </a:stretch>
        </p:blipFill>
        <p:spPr>
          <a:xfrm>
            <a:off x="4120301" y="812778"/>
            <a:ext cx="3622410" cy="1598122"/>
          </a:xfrm>
          <a:prstGeom prst="rect">
            <a:avLst/>
          </a:prstGeom>
        </p:spPr>
      </p:pic>
      <p:sp>
        <p:nvSpPr>
          <p:cNvPr id="7" name="文本框 6">
            <a:extLst>
              <a:ext uri="{FF2B5EF4-FFF2-40B4-BE49-F238E27FC236}">
                <a16:creationId xmlns:a16="http://schemas.microsoft.com/office/drawing/2014/main" id="{2DABCDA3-FC12-846C-F66F-09BE5E5F5912}"/>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sz="1800" b="0" i="0" u="none" strike="noStrike" baseline="0" dirty="0">
                <a:solidFill>
                  <a:schemeClr val="tx2"/>
                </a:solidFill>
                <a:latin typeface="FandolSong-Regular-Identity-H"/>
              </a:rPr>
              <a:t>感知信息的基本条件是对不同的输入能够区分</a:t>
            </a:r>
            <a:endParaRPr lang="zh-CN" altLang="en-US" dirty="0">
              <a:solidFill>
                <a:schemeClr val="tx2"/>
              </a:solidFill>
            </a:endParaRPr>
          </a:p>
        </p:txBody>
      </p:sp>
    </p:spTree>
    <p:extLst>
      <p:ext uri="{BB962C8B-B14F-4D97-AF65-F5344CB8AC3E}">
        <p14:creationId xmlns:p14="http://schemas.microsoft.com/office/powerpoint/2010/main" val="294019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a:t>
            </a:r>
          </a:p>
        </p:txBody>
      </p:sp>
      <p:sp>
        <p:nvSpPr>
          <p:cNvPr id="5" name="文本框 4"/>
          <p:cNvSpPr txBox="1"/>
          <p:nvPr>
            <p:custDataLst>
              <p:tags r:id="rId2"/>
            </p:custDataLst>
          </p:nvPr>
        </p:nvSpPr>
        <p:spPr>
          <a:xfrm>
            <a:off x="393700" y="917059"/>
            <a:ext cx="6172200" cy="460375"/>
          </a:xfrm>
          <a:prstGeom prst="rect">
            <a:avLst/>
          </a:prstGeom>
          <a:noFill/>
        </p:spPr>
        <p:txBody>
          <a:bodyPr wrap="square">
            <a:spAutoFit/>
          </a:bodyPr>
          <a:lstStyle/>
          <a:p>
            <a:pPr marL="285750" indent="-285750">
              <a:buFont typeface="Arial" panose="020B0604020202020204" pitchFamily="34" charset="0"/>
              <a:buChar char="•"/>
            </a:pPr>
            <a:r>
              <a:rPr lang="zh-CN" altLang="en-US" sz="2400" b="0" i="0" u="none" strike="noStrike" baseline="0" dirty="0">
                <a:solidFill>
                  <a:schemeClr val="tx2"/>
                </a:solidFill>
                <a:latin typeface="FandolSong-Regular-Identity-H"/>
              </a:rPr>
              <a:t>一个</a:t>
            </a:r>
            <a:r>
              <a:rPr lang="zh-CN" altLang="en-US" sz="2400" dirty="0">
                <a:latin typeface="LMRoman10-Regular-Identity-H"/>
                <a:sym typeface="+mn-ea"/>
              </a:rPr>
              <a:t>预测股票升降的</a:t>
            </a:r>
            <a:r>
              <a:rPr lang="zh-CN" altLang="en-US" sz="2400" b="0" i="0" u="none" strike="noStrike" baseline="0" dirty="0">
                <a:solidFill>
                  <a:schemeClr val="tx2"/>
                </a:solidFill>
                <a:latin typeface="FandolSong-Regular-Identity-H"/>
              </a:rPr>
              <a:t>例子：</a:t>
            </a:r>
          </a:p>
        </p:txBody>
      </p:sp>
      <mc:AlternateContent xmlns:mc="http://schemas.openxmlformats.org/markup-compatibility/2006" xmlns:a14="http://schemas.microsoft.com/office/drawing/2010/main">
        <mc:Choice Requires="a14">
          <p:sp>
            <p:nvSpPr>
              <p:cNvPr id="4" name="文本框 3"/>
              <p:cNvSpPr txBox="1"/>
              <p:nvPr>
                <p:custDataLst>
                  <p:tags r:id="rId3"/>
                </p:custDataLst>
              </p:nvPr>
            </p:nvSpPr>
            <p:spPr>
              <a:xfrm>
                <a:off x="682625" y="1436489"/>
                <a:ext cx="11092180" cy="943528"/>
              </a:xfrm>
              <a:prstGeom prst="rect">
                <a:avLst/>
              </a:prstGeom>
              <a:noFill/>
            </p:spPr>
            <p:txBody>
              <a:bodyPr wrap="square">
                <a:spAutoFit/>
              </a:bodyPr>
              <a:lstStyle/>
              <a:p>
                <a:pPr algn="l">
                  <a:lnSpc>
                    <a:spcPct val="150000"/>
                  </a:lnSpc>
                </a:pPr>
                <a:r>
                  <a:rPr lang="zh-CN" altLang="en-US" sz="2000" b="0" i="0" u="none" strike="noStrike" baseline="0" dirty="0">
                    <a:solidFill>
                      <a:schemeClr val="tx2"/>
                    </a:solidFill>
                    <a:latin typeface="+mn-ea"/>
                    <a:cs typeface="+mn-ea"/>
                  </a:rPr>
                  <a:t>假设</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有两个朋友，</a:t>
                </a:r>
                <a:r>
                  <a:rPr lang="en-US" altLang="zh-CN" sz="2000" b="0" i="0" u="none" strike="noStrike" baseline="0" dirty="0">
                    <a:solidFill>
                      <a:schemeClr val="tx2"/>
                    </a:solidFill>
                    <a:latin typeface="+mn-ea"/>
                    <a:cs typeface="+mn-ea"/>
                  </a:rPr>
                  <a:t>B </a:t>
                </a:r>
                <a:r>
                  <a:rPr lang="zh-CN" altLang="en-US" sz="2000" b="0" i="0" u="none" strike="noStrike" baseline="0" dirty="0">
                    <a:solidFill>
                      <a:schemeClr val="tx2"/>
                    </a:solidFill>
                    <a:latin typeface="+mn-ea"/>
                    <a:cs typeface="+mn-ea"/>
                  </a:rPr>
                  <a:t>和</a:t>
                </a:r>
                <a:r>
                  <a:rPr lang="en-US" altLang="zh-CN" sz="2000" b="0" i="0" u="none" strike="noStrike" baseline="0" dirty="0">
                    <a:solidFill>
                      <a:schemeClr val="tx2"/>
                    </a:solidFill>
                    <a:latin typeface="+mn-ea"/>
                    <a:cs typeface="+mn-ea"/>
                  </a:rPr>
                  <a:t>C</a:t>
                </a:r>
                <a:r>
                  <a:rPr lang="zh-CN" altLang="en-US" sz="2000" b="0" i="0" u="none" strike="noStrike" baseline="0" dirty="0">
                    <a:solidFill>
                      <a:schemeClr val="tx2"/>
                    </a:solidFill>
                    <a:latin typeface="+mn-ea"/>
                    <a:cs typeface="+mn-ea"/>
                  </a:rPr>
                  <a:t>。</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自己有一个判断值</a:t>
                </a:r>
                <a14:m>
                  <m:oMath xmlns:m="http://schemas.openxmlformats.org/officeDocument/2006/math">
                    <m:sSub>
                      <m:sSubPr>
                        <m:ctrlPr>
                          <a:rPr lang="en-US" altLang="zh-CN" sz="2000" b="0" i="1" u="none" strike="noStrike" baseline="0" smtClean="0">
                            <a:solidFill>
                              <a:schemeClr val="tx2"/>
                            </a:solidFill>
                            <a:latin typeface="Cambria Math" panose="02040503050406030204" pitchFamily="18" charset="0"/>
                            <a:cs typeface="Cambria Math" panose="02040503050406030204" charset="0"/>
                          </a:rPr>
                        </m:ctrlPr>
                      </m:sSubPr>
                      <m:e>
                        <m:r>
                          <a:rPr lang="en-US" altLang="zh-CN" sz="2000" b="0" i="1" u="none" strike="noStrike" baseline="0" smtClean="0">
                            <a:solidFill>
                              <a:schemeClr val="tx2"/>
                            </a:solidFill>
                            <a:latin typeface="Cambria Math" panose="02040503050406030204" charset="0"/>
                            <a:cs typeface="Cambria Math" panose="02040503050406030204" charset="0"/>
                          </a:rPr>
                          <m:t>𝑎</m:t>
                        </m:r>
                      </m:e>
                      <m:sub>
                        <m:r>
                          <a:rPr lang="en-US" altLang="zh-CN" sz="2000" b="0" i="1" u="none" strike="noStrike" baseline="0" smtClean="0">
                            <a:solidFill>
                              <a:schemeClr val="tx2"/>
                            </a:solidFill>
                            <a:latin typeface="Cambria Math" panose="02040503050406030204" charset="0"/>
                            <a:ea typeface="MS Mincho" charset="0"/>
                            <a:cs typeface="Cambria Math" panose="02040503050406030204" charset="0"/>
                          </a:rPr>
                          <m:t>0</m:t>
                        </m:r>
                      </m:sub>
                    </m:sSub>
                  </m:oMath>
                </a14:m>
                <a:r>
                  <a:rPr lang="zh-CN" altLang="en-US" sz="2000" u="none" strike="noStrike" baseline="0" dirty="0">
                    <a:solidFill>
                      <a:schemeClr val="tx2"/>
                    </a:solidFill>
                    <a:latin typeface="Cambria Math" panose="02040503050406030204" charset="0"/>
                    <a:cs typeface="Cambria Math" panose="02040503050406030204" charset="0"/>
                  </a:rPr>
                  <a:t>，同时接收到了</a:t>
                </a:r>
                <a:r>
                  <a:rPr lang="en-US" altLang="zh-CN" sz="2000" u="none" strike="noStrike" baseline="0" dirty="0">
                    <a:solidFill>
                      <a:schemeClr val="tx2"/>
                    </a:solidFill>
                    <a:latin typeface="Cambria Math" panose="02040503050406030204" charset="0"/>
                    <a:cs typeface="Cambria Math" panose="02040503050406030204" charset="0"/>
                  </a:rPr>
                  <a:t>B</a:t>
                </a:r>
                <a:r>
                  <a:rPr lang="zh-CN" altLang="en-US" sz="2000" u="none" strike="noStrike" baseline="0" dirty="0">
                    <a:solidFill>
                      <a:schemeClr val="tx2"/>
                    </a:solidFill>
                    <a:latin typeface="Cambria Math" panose="02040503050406030204" charset="0"/>
                    <a:cs typeface="Cambria Math" panose="02040503050406030204" charset="0"/>
                  </a:rPr>
                  <a:t>和</a:t>
                </a:r>
                <a:r>
                  <a:rPr lang="en-US" altLang="zh-CN" sz="2000" u="none" strike="noStrike" baseline="0" dirty="0">
                    <a:solidFill>
                      <a:schemeClr val="tx2"/>
                    </a:solidFill>
                    <a:latin typeface="Cambria Math" panose="02040503050406030204" charset="0"/>
                    <a:cs typeface="Cambria Math" panose="02040503050406030204" charset="0"/>
                  </a:rPr>
                  <a:t>C</a:t>
                </a:r>
                <a:r>
                  <a:rPr lang="zh-CN" altLang="en-US" sz="2000" u="none" strike="noStrike" baseline="0" dirty="0">
                    <a:solidFill>
                      <a:schemeClr val="tx2"/>
                    </a:solidFill>
                    <a:latin typeface="Cambria Math" panose="02040503050406030204" charset="0"/>
                    <a:cs typeface="Cambria Math" panose="02040503050406030204" charset="0"/>
                  </a:rPr>
                  <a:t>的信息，分别记为</a:t>
                </a:r>
                <a14:m>
                  <m:oMath xmlns:m="http://schemas.openxmlformats.org/officeDocument/2006/math">
                    <m:r>
                      <a:rPr lang="en-US" altLang="zh-CN" sz="2000" b="0" i="1" u="none" strike="noStrike" baseline="0" dirty="0">
                        <a:solidFill>
                          <a:schemeClr val="tx2"/>
                        </a:solidFill>
                        <a:latin typeface="Cambria Math" panose="02040503050406030204" charset="0"/>
                        <a:cs typeface="Cambria Math" panose="02040503050406030204" charset="0"/>
                      </a:rPr>
                      <m:t>𝑏</m:t>
                    </m:r>
                    <m:r>
                      <a:rPr lang="zh-CN" altLang="en-US" sz="2000" b="0" i="1" u="none" strike="noStrike" baseline="0" dirty="0">
                        <a:solidFill>
                          <a:schemeClr val="tx2"/>
                        </a:solidFill>
                        <a:latin typeface="Cambria Math" panose="02040503050406030204" charset="0"/>
                        <a:cs typeface="Cambria Math" panose="02040503050406030204" charset="0"/>
                      </a:rPr>
                      <m:t>和</m:t>
                    </m:r>
                    <m:r>
                      <a:rPr lang="en-US" altLang="zh-CN" sz="2000" b="0" i="1" u="none" strike="noStrike" baseline="0" dirty="0">
                        <a:solidFill>
                          <a:schemeClr val="tx2"/>
                        </a:solidFill>
                        <a:latin typeface="Cambria Math" panose="02040503050406030204" charset="0"/>
                        <a:cs typeface="Cambria Math" panose="02040503050406030204" charset="0"/>
                      </a:rPr>
                      <m:t>𝑐</m:t>
                    </m:r>
                  </m:oMath>
                </a14:m>
                <a:r>
                  <a:rPr lang="zh-CN" altLang="en-US" sz="2000" u="none" strike="noStrike" baseline="0" dirty="0">
                    <a:solidFill>
                      <a:schemeClr val="tx2"/>
                    </a:solidFill>
                    <a:latin typeface="Cambria Math" panose="02040503050406030204" charset="0"/>
                    <a:cs typeface="Cambria Math" panose="02040503050406030204" charset="0"/>
                  </a:rPr>
                  <a:t>。</a:t>
                </a:r>
                <a:r>
                  <a:rPr lang="zh-CN" altLang="en-US" sz="2000" b="0" i="0" u="none" strike="noStrike" baseline="0" dirty="0">
                    <a:solidFill>
                      <a:schemeClr val="tx2"/>
                    </a:solidFill>
                    <a:latin typeface="+mn-ea"/>
                    <a:cs typeface="+mn-ea"/>
                  </a:rPr>
                  <a:t>因此，</a:t>
                </a:r>
              </a:p>
            </p:txBody>
          </p:sp>
        </mc:Choice>
        <mc:Fallback xmlns="">
          <p:sp>
            <p:nvSpPr>
              <p:cNvPr id="4" name="文本框 3"/>
              <p:cNvSpPr txBox="1">
                <a:spLocks noRot="1" noChangeAspect="1" noMove="1" noResize="1" noEditPoints="1" noAdjustHandles="1" noChangeArrowheads="1" noChangeShapeType="1" noTextEdit="1"/>
              </p:cNvSpPr>
              <p:nvPr>
                <p:custDataLst>
                  <p:tags r:id="rId6"/>
                </p:custDataLst>
              </p:nvPr>
            </p:nvSpPr>
            <p:spPr>
              <a:xfrm>
                <a:off x="682625" y="1436489"/>
                <a:ext cx="11092180" cy="943528"/>
              </a:xfrm>
              <a:prstGeom prst="rect">
                <a:avLst/>
              </a:prstGeom>
              <a:blipFill>
                <a:blip r:embed="rId7"/>
                <a:stretch>
                  <a:fillRect l="-604" r="-220" b="-11039"/>
                </a:stretch>
              </a:blipFill>
            </p:spPr>
            <p:txBody>
              <a:bodyPr/>
              <a:lstStyle/>
              <a:p>
                <a:r>
                  <a:rPr lang="zh-CN" altLang="en-US">
                    <a:noFill/>
                  </a:rPr>
                  <a:t> </a:t>
                </a:r>
              </a:p>
            </p:txBody>
          </p:sp>
        </mc:Fallback>
      </mc:AlternateContent>
      <p:pic>
        <p:nvPicPr>
          <p:cNvPr id="6" name="图片 5"/>
          <p:cNvPicPr>
            <a:picLocks noChangeAspect="1"/>
          </p:cNvPicPr>
          <p:nvPr>
            <p:custDataLst>
              <p:tags r:id="rId4"/>
            </p:custDataLst>
          </p:nvPr>
        </p:nvPicPr>
        <p:blipFill>
          <a:blip r:embed="rId8">
            <a:clrChange>
              <a:clrFrom>
                <a:srgbClr val="FFFFFF">
                  <a:alpha val="100000"/>
                </a:srgbClr>
              </a:clrFrom>
              <a:clrTo>
                <a:srgbClr val="FFFFFF">
                  <a:alpha val="100000"/>
                  <a:alpha val="0"/>
                </a:srgbClr>
              </a:clrTo>
            </a:clrChange>
          </a:blip>
          <a:stretch>
            <a:fillRect/>
          </a:stretch>
        </p:blipFill>
        <p:spPr>
          <a:xfrm>
            <a:off x="2097405" y="2598933"/>
            <a:ext cx="7132320" cy="501634"/>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82625" y="3237230"/>
                <a:ext cx="7628255" cy="494238"/>
              </a:xfrm>
              <a:prstGeom prst="rect">
                <a:avLst/>
              </a:prstGeom>
              <a:noFill/>
            </p:spPr>
            <p:txBody>
              <a:bodyPr wrap="square" rtlCol="0" anchor="t">
                <a:spAutoFit/>
              </a:bodyPr>
              <a:lstStyle/>
              <a:p>
                <a:pPr algn="l">
                  <a:lnSpc>
                    <a:spcPct val="150000"/>
                  </a:lnSpc>
                </a:pPr>
                <a:r>
                  <a:rPr lang="zh-CN" altLang="en-US" sz="2000" dirty="0">
                    <a:solidFill>
                      <a:schemeClr val="tx2"/>
                    </a:solidFill>
                    <a:latin typeface="+mn-ea"/>
                    <a:cs typeface="+mn-ea"/>
                    <a:sym typeface="+mn-ea"/>
                  </a:rPr>
                  <a:t>如果</a:t>
                </a:r>
                <a:r>
                  <a:rPr lang="en-US" altLang="zh-CN" sz="2000" dirty="0">
                    <a:solidFill>
                      <a:schemeClr val="tx2"/>
                    </a:solidFill>
                    <a:latin typeface="+mn-ea"/>
                    <a:cs typeface="+mn-ea"/>
                    <a:sym typeface="+mn-ea"/>
                  </a:rPr>
                  <a:t>B</a:t>
                </a:r>
                <a:r>
                  <a:rPr lang="zh-CN" altLang="en-US" sz="2000" dirty="0">
                    <a:solidFill>
                      <a:schemeClr val="tx2"/>
                    </a:solidFill>
                    <a:latin typeface="+mn-ea"/>
                    <a:cs typeface="+mn-ea"/>
                    <a:sym typeface="+mn-ea"/>
                  </a:rPr>
                  <a:t>是一个经济学家，而</a:t>
                </a:r>
                <a:r>
                  <a:rPr lang="en-US" altLang="zh-CN" sz="2000" dirty="0">
                    <a:solidFill>
                      <a:schemeClr val="tx2"/>
                    </a:solidFill>
                    <a:latin typeface="+mn-ea"/>
                    <a:cs typeface="+mn-ea"/>
                    <a:sym typeface="+mn-ea"/>
                  </a:rPr>
                  <a:t>C </a:t>
                </a:r>
                <a:r>
                  <a:rPr lang="zh-CN" altLang="en-US" sz="2000" dirty="0">
                    <a:solidFill>
                      <a:schemeClr val="tx2"/>
                    </a:solidFill>
                    <a:latin typeface="+mn-ea"/>
                    <a:cs typeface="+mn-ea"/>
                    <a:sym typeface="+mn-ea"/>
                  </a:rPr>
                  <a:t>是一个普通人</a:t>
                </a:r>
                <a:r>
                  <a:rPr lang="zh-CN" sz="2000" dirty="0">
                    <a:solidFill>
                      <a:schemeClr val="tx2"/>
                    </a:solidFill>
                    <a:latin typeface="+mn-ea"/>
                    <a:cs typeface="+mn-ea"/>
                    <a:sym typeface="+mn-ea"/>
                  </a:rPr>
                  <a:t>，则有，</a:t>
                </a:r>
                <a14:m>
                  <m:oMath xmlns:m="http://schemas.openxmlformats.org/officeDocument/2006/math">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1</m:t>
                        </m:r>
                      </m:sub>
                    </m:sSub>
                    <m:r>
                      <a:rPr lang="en-US" altLang="zh-CN" sz="2000" i="1" dirty="0">
                        <a:solidFill>
                          <a:schemeClr val="tx2"/>
                        </a:solidFill>
                        <a:latin typeface="Cambria Math" panose="02040503050406030204" charset="0"/>
                        <a:cs typeface="Cambria Math" panose="02040503050406030204" charset="0"/>
                        <a:sym typeface="+mn-ea"/>
                      </a:rPr>
                      <m:t>&gt;</m:t>
                    </m:r>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2</m:t>
                        </m:r>
                      </m:sub>
                    </m:sSub>
                    <m:r>
                      <a:rPr lang="en-US" altLang="zh-CN" sz="2000" i="1" dirty="0">
                        <a:solidFill>
                          <a:schemeClr val="tx2"/>
                        </a:solidFill>
                        <a:latin typeface="Cambria Math" panose="02040503050406030204" charset="0"/>
                        <a:cs typeface="Cambria Math" panose="02040503050406030204" charset="0"/>
                        <a:sym typeface="+mn-ea"/>
                      </a:rPr>
                      <m:t>&gt;0</m:t>
                    </m:r>
                  </m:oMath>
                </a14:m>
                <a:r>
                  <a:rPr lang="zh-CN" altLang="en-US" sz="2000" dirty="0">
                    <a:solidFill>
                      <a:schemeClr val="tx2"/>
                    </a:solidFill>
                    <a:latin typeface="Cambria Math" panose="02040503050406030204" charset="0"/>
                    <a:cs typeface="Cambria Math" panose="02040503050406030204" charset="0"/>
                    <a:sym typeface="+mn-ea"/>
                  </a:rPr>
                  <a:t>。</a:t>
                </a:r>
              </a:p>
            </p:txBody>
          </p:sp>
        </mc:Choice>
        <mc:Fallback xmlns="">
          <p:sp>
            <p:nvSpPr>
              <p:cNvPr id="7" name="文本框 6"/>
              <p:cNvSpPr txBox="1">
                <a:spLocks noRot="1" noChangeAspect="1" noMove="1" noResize="1" noEditPoints="1" noAdjustHandles="1" noChangeArrowheads="1" noChangeShapeType="1" noTextEdit="1"/>
              </p:cNvSpPr>
              <p:nvPr/>
            </p:nvSpPr>
            <p:spPr>
              <a:xfrm>
                <a:off x="682625" y="3237230"/>
                <a:ext cx="7628255" cy="494238"/>
              </a:xfrm>
              <a:prstGeom prst="rect">
                <a:avLst/>
              </a:prstGeom>
              <a:blipFill>
                <a:blip r:embed="rId9"/>
                <a:stretch>
                  <a:fillRect l="-879" b="-18519"/>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D7624A7E-694A-5B6C-4406-FA72760E4207}"/>
              </a:ext>
            </a:extLst>
          </p:cNvPr>
          <p:cNvSpPr>
            <a:spLocks noGrp="1"/>
          </p:cNvSpPr>
          <p:nvPr>
            <p:ph type="title"/>
          </p:nvPr>
        </p:nvSpPr>
        <p:spPr/>
        <p:txBody>
          <a:bodyPr/>
          <a:lstStyle/>
          <a:p>
            <a:r>
              <a:rPr lang="zh-CN" altLang="en-US" dirty="0"/>
              <a:t>单个神经元如何感知信息</a:t>
            </a:r>
          </a:p>
        </p:txBody>
      </p:sp>
      <p:pic>
        <p:nvPicPr>
          <p:cNvPr id="3" name="图片 2">
            <a:extLst>
              <a:ext uri="{FF2B5EF4-FFF2-40B4-BE49-F238E27FC236}">
                <a16:creationId xmlns:a16="http://schemas.microsoft.com/office/drawing/2014/main" id="{3028F7BF-965C-BE08-2E06-3501E33E2564}"/>
              </a:ext>
            </a:extLst>
          </p:cNvPr>
          <p:cNvPicPr>
            <a:picLocks noChangeAspect="1"/>
          </p:cNvPicPr>
          <p:nvPr/>
        </p:nvPicPr>
        <p:blipFill>
          <a:blip r:embed="rId10"/>
          <a:stretch>
            <a:fillRect/>
          </a:stretch>
        </p:blipFill>
        <p:spPr>
          <a:xfrm>
            <a:off x="4094901" y="3957780"/>
            <a:ext cx="3622410" cy="15981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单个神经元如何感知信息：权重</a:t>
            </a:r>
          </a:p>
        </p:txBody>
      </p:sp>
      <p:pic>
        <p:nvPicPr>
          <p:cNvPr id="8" name="图片 7"/>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blip>
          <a:stretch>
            <a:fillRect/>
          </a:stretch>
        </p:blipFill>
        <p:spPr>
          <a:xfrm>
            <a:off x="816997" y="1586881"/>
            <a:ext cx="5528558" cy="2676524"/>
          </a:xfrm>
          <a:prstGeom prst="rect">
            <a:avLst/>
          </a:prstGeom>
        </p:spPr>
      </p:pic>
      <p:pic>
        <p:nvPicPr>
          <p:cNvPr id="10" name="图片 9"/>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6636385" y="2234247"/>
            <a:ext cx="3744081" cy="1278573"/>
          </a:xfrm>
          <a:prstGeom prst="rect">
            <a:avLst/>
          </a:prstGeom>
        </p:spPr>
      </p:pic>
      <p:pic>
        <p:nvPicPr>
          <p:cNvPr id="12" name="图片 11"/>
          <p:cNvPicPr>
            <a:picLocks noChangeAspect="1"/>
          </p:cNvPicPr>
          <p:nvPr>
            <p:custDataLst>
              <p:tags r:id="rId4"/>
            </p:custDataLst>
          </p:nvPr>
        </p:nvPicPr>
        <p:blipFill>
          <a:blip r:embed="rId8">
            <a:clrChange>
              <a:clrFrom>
                <a:srgbClr val="FFFFFF">
                  <a:alpha val="100000"/>
                </a:srgbClr>
              </a:clrFrom>
              <a:clrTo>
                <a:srgbClr val="FFFFFF">
                  <a:alpha val="100000"/>
                  <a:alpha val="0"/>
                </a:srgbClr>
              </a:clrTo>
            </a:clrChange>
          </a:blip>
          <a:stretch>
            <a:fillRect/>
          </a:stretch>
        </p:blipFill>
        <p:spPr>
          <a:xfrm>
            <a:off x="3806190" y="4572000"/>
            <a:ext cx="5160645" cy="466090"/>
          </a:xfrm>
          <a:prstGeom prst="rect">
            <a:avLst/>
          </a:prstGeom>
        </p:spPr>
      </p:pic>
      <p:sp>
        <p:nvSpPr>
          <p:cNvPr id="2" name="文本框 1"/>
          <p:cNvSpPr txBox="1"/>
          <p:nvPr/>
        </p:nvSpPr>
        <p:spPr>
          <a:xfrm>
            <a:off x="567690" y="817880"/>
            <a:ext cx="9508490" cy="46037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sz="2400"/>
              <a:t>我们可以把这类收集信息的方式推广到一般的形式</a:t>
            </a:r>
          </a:p>
        </p:txBody>
      </p:sp>
      <p:sp>
        <p:nvSpPr>
          <p:cNvPr id="3" name="文本框 2"/>
          <p:cNvSpPr txBox="1"/>
          <p:nvPr/>
        </p:nvSpPr>
        <p:spPr>
          <a:xfrm>
            <a:off x="965200" y="4572000"/>
            <a:ext cx="3296285" cy="460375"/>
          </a:xfrm>
          <a:prstGeom prst="rect">
            <a:avLst/>
          </a:prstGeom>
          <a:noFill/>
        </p:spPr>
        <p:txBody>
          <a:bodyPr wrap="square" rtlCol="0">
            <a:spAutoFit/>
          </a:bodyPr>
          <a:lstStyle/>
          <a:p>
            <a:r>
              <a:rPr lang="zh-CN" altLang="en-US" sz="2400">
                <a:latin typeface="华文宋体" panose="02010600040101010101" charset="-122"/>
                <a:ea typeface="华文宋体" panose="02010600040101010101" charset="-122"/>
              </a:rPr>
              <a:t>单个神经元的输出为</a:t>
            </a:r>
          </a:p>
        </p:txBody>
      </p:sp>
      <p:pic>
        <p:nvPicPr>
          <p:cNvPr id="4" name="图片 3">
            <a:extLst>
              <a:ext uri="{FF2B5EF4-FFF2-40B4-BE49-F238E27FC236}">
                <a16:creationId xmlns:a16="http://schemas.microsoft.com/office/drawing/2014/main" id="{2271D1F8-401B-A2ED-073D-977C9ABF8114}"/>
              </a:ext>
            </a:extLst>
          </p:cNvPr>
          <p:cNvPicPr>
            <a:picLocks noChangeAspect="1"/>
          </p:cNvPicPr>
          <p:nvPr/>
        </p:nvPicPr>
        <p:blipFill>
          <a:blip r:embed="rId9"/>
          <a:stretch>
            <a:fillRect/>
          </a:stretch>
        </p:blipFill>
        <p:spPr>
          <a:xfrm>
            <a:off x="4577501" y="5222885"/>
            <a:ext cx="2369399" cy="10453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a:t>
            </a:r>
          </a:p>
        </p:txBody>
      </p:sp>
      <p:pic>
        <p:nvPicPr>
          <p:cNvPr id="4" name="图片 3"/>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868680" y="1263093"/>
            <a:ext cx="10454640" cy="5164683"/>
          </a:xfrm>
          <a:prstGeom prst="rect">
            <a:avLst/>
          </a:prstGeom>
        </p:spPr>
      </p:pic>
      <p:sp>
        <p:nvSpPr>
          <p:cNvPr id="5" name="文本框 4"/>
          <p:cNvSpPr txBox="1"/>
          <p:nvPr/>
        </p:nvSpPr>
        <p:spPr>
          <a:xfrm>
            <a:off x="522605" y="802640"/>
            <a:ext cx="10013950" cy="460375"/>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2400"/>
              <a:t>简单地把多个神经元堆在一起，我们就可以得到单层神经网络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单层神经网络：矩阵形式</a:t>
            </a:r>
          </a:p>
        </p:txBody>
      </p:sp>
      <p:pic>
        <p:nvPicPr>
          <p:cNvPr id="2" name="图片 1"/>
          <p:cNvPicPr>
            <a:picLocks noChangeAspect="1"/>
          </p:cNvPicPr>
          <p:nvPr>
            <p:custDataLst>
              <p:tags r:id="rId2"/>
            </p:custDataLst>
          </p:nvPr>
        </p:nvPicPr>
        <p:blipFill>
          <a:blip r:embed="rId9">
            <a:clrChange>
              <a:clrFrom>
                <a:srgbClr val="FFFFFF">
                  <a:alpha val="100000"/>
                </a:srgbClr>
              </a:clrFrom>
              <a:clrTo>
                <a:srgbClr val="FFFFFF">
                  <a:alpha val="100000"/>
                  <a:alpha val="0"/>
                </a:srgbClr>
              </a:clrTo>
            </a:clrChange>
          </a:blip>
          <a:stretch>
            <a:fillRect/>
          </a:stretch>
        </p:blipFill>
        <p:spPr>
          <a:xfrm>
            <a:off x="592455" y="1305560"/>
            <a:ext cx="5341620" cy="2639060"/>
          </a:xfrm>
          <a:prstGeom prst="rect">
            <a:avLst/>
          </a:prstGeom>
        </p:spPr>
      </p:pic>
      <p:pic>
        <p:nvPicPr>
          <p:cNvPr id="3" name="图片 2"/>
          <p:cNvPicPr>
            <a:picLocks noChangeAspect="1"/>
          </p:cNvPicPr>
          <p:nvPr>
            <p:custDataLst>
              <p:tags r:id="rId3"/>
            </p:custDataLst>
          </p:nvPr>
        </p:nvPicPr>
        <p:blipFill>
          <a:blip r:embed="rId10">
            <a:clrChange>
              <a:clrFrom>
                <a:srgbClr val="FFFFFF">
                  <a:alpha val="100000"/>
                </a:srgbClr>
              </a:clrFrom>
              <a:clrTo>
                <a:srgbClr val="FFFFFF">
                  <a:alpha val="100000"/>
                  <a:alpha val="0"/>
                </a:srgbClr>
              </a:clrTo>
            </a:clrChange>
          </a:blip>
          <a:stretch>
            <a:fillRect/>
          </a:stretch>
        </p:blipFill>
        <p:spPr>
          <a:xfrm>
            <a:off x="6366510" y="1441450"/>
            <a:ext cx="3943985" cy="2591435"/>
          </a:xfrm>
          <a:prstGeom prst="rect">
            <a:avLst/>
          </a:prstGeom>
        </p:spPr>
      </p:pic>
      <p:pic>
        <p:nvPicPr>
          <p:cNvPr id="7" name="图片 6"/>
          <p:cNvPicPr>
            <a:picLocks noChangeAspect="1"/>
          </p:cNvPicPr>
          <p:nvPr>
            <p:custDataLst>
              <p:tags r:id="rId4"/>
            </p:custDataLst>
          </p:nvPr>
        </p:nvPicPr>
        <p:blipFill>
          <a:blip r:embed="rId11">
            <a:clrChange>
              <a:clrFrom>
                <a:srgbClr val="FFFFFF">
                  <a:alpha val="100000"/>
                </a:srgbClr>
              </a:clrFrom>
              <a:clrTo>
                <a:srgbClr val="FFFFFF">
                  <a:alpha val="100000"/>
                  <a:alpha val="0"/>
                </a:srgbClr>
              </a:clrTo>
            </a:clrChange>
          </a:blip>
          <a:stretch>
            <a:fillRect/>
          </a:stretch>
        </p:blipFill>
        <p:spPr>
          <a:xfrm>
            <a:off x="1393190" y="4605020"/>
            <a:ext cx="2924175" cy="591057"/>
          </a:xfrm>
          <a:prstGeom prst="rect">
            <a:avLst/>
          </a:prstGeom>
        </p:spPr>
      </p:pic>
      <p:sp>
        <p:nvSpPr>
          <p:cNvPr id="10" name="文本框 9"/>
          <p:cNvSpPr txBox="1"/>
          <p:nvPr>
            <p:custDataLst>
              <p:tags r:id="rId5"/>
            </p:custDataLst>
          </p:nvPr>
        </p:nvSpPr>
        <p:spPr>
          <a:xfrm>
            <a:off x="322580" y="4075430"/>
            <a:ext cx="2954020" cy="398780"/>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t>神经网络的高维输出：</a:t>
            </a:r>
          </a:p>
        </p:txBody>
      </p:sp>
      <p:pic>
        <p:nvPicPr>
          <p:cNvPr id="12" name="图片 11"/>
          <p:cNvPicPr>
            <a:picLocks noChangeAspect="1"/>
          </p:cNvPicPr>
          <p:nvPr>
            <p:custDataLst>
              <p:tags r:id="rId6"/>
            </p:custDataLst>
          </p:nvPr>
        </p:nvPicPr>
        <p:blipFill>
          <a:blip r:embed="rId12">
            <a:clrChange>
              <a:clrFrom>
                <a:srgbClr val="FFFFFF">
                  <a:alpha val="100000"/>
                </a:srgbClr>
              </a:clrFrom>
              <a:clrTo>
                <a:srgbClr val="FFFFFF">
                  <a:alpha val="100000"/>
                  <a:alpha val="0"/>
                </a:srgbClr>
              </a:clrTo>
            </a:clrChange>
          </a:blip>
          <a:stretch>
            <a:fillRect/>
          </a:stretch>
        </p:blipFill>
        <p:spPr>
          <a:xfrm>
            <a:off x="6299835" y="4574540"/>
            <a:ext cx="5760085" cy="408940"/>
          </a:xfrm>
          <a:prstGeom prst="rect">
            <a:avLst/>
          </a:prstGeom>
        </p:spPr>
      </p:pic>
      <p:sp>
        <p:nvSpPr>
          <p:cNvPr id="6" name="文本框 5"/>
          <p:cNvSpPr txBox="1"/>
          <p:nvPr/>
        </p:nvSpPr>
        <p:spPr>
          <a:xfrm>
            <a:off x="5906770" y="85979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参数的矩阵形式</a:t>
            </a:r>
          </a:p>
        </p:txBody>
      </p:sp>
      <p:sp>
        <p:nvSpPr>
          <p:cNvPr id="8" name="文本框 7"/>
          <p:cNvSpPr txBox="1"/>
          <p:nvPr/>
        </p:nvSpPr>
        <p:spPr>
          <a:xfrm>
            <a:off x="322580" y="80645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单层神经网络</a:t>
            </a:r>
          </a:p>
        </p:txBody>
      </p:sp>
      <mc:AlternateContent xmlns:mc="http://schemas.openxmlformats.org/markup-compatibility/2006" xmlns:a14="http://schemas.microsoft.com/office/drawing/2010/main">
        <mc:Choice Requires="a14">
          <p:sp>
            <p:nvSpPr>
              <p:cNvPr id="13" name="文本框 12"/>
              <p:cNvSpPr txBox="1"/>
              <p:nvPr>
                <p:custDataLst>
                  <p:tags r:id="rId7"/>
                </p:custDataLst>
              </p:nvPr>
            </p:nvSpPr>
            <p:spPr>
              <a:xfrm>
                <a:off x="5906770" y="4075430"/>
                <a:ext cx="2806700" cy="36830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CN" i="1">
                        <a:latin typeface="Cambria Math" panose="02040503050406030204" charset="0"/>
                        <a:ea typeface="MS Mincho" charset="0"/>
                        <a:cs typeface="Cambria Math" panose="02040503050406030204" charset="0"/>
                      </a:rPr>
                      <m:t>∘</m:t>
                    </m:r>
                  </m:oMath>
                </a14:m>
                <a:r>
                  <a:rPr lang="en-US" altLang="zh-CN">
                    <a:latin typeface="+mn-ea"/>
                    <a:cs typeface="+mn-ea"/>
                  </a:rPr>
                  <a:t> </a:t>
                </a:r>
                <a:r>
                  <a:rPr lang="zh-CN" altLang="en-US">
                    <a:latin typeface="+mn-ea"/>
                    <a:cs typeface="+mn-ea"/>
                  </a:rPr>
                  <a:t>表示对每个元素作用：</a:t>
                </a:r>
              </a:p>
            </p:txBody>
          </p:sp>
        </mc:Choice>
        <mc:Fallback xmlns="">
          <p:sp>
            <p:nvSpPr>
              <p:cNvPr id="13" name="文本框 12"/>
              <p:cNvSpPr txBox="1">
                <a:spLocks noRot="1" noChangeAspect="1" noMove="1" noResize="1" noEditPoints="1" noAdjustHandles="1" noChangeArrowheads="1" noChangeShapeType="1" noTextEdit="1"/>
              </p:cNvSpPr>
              <p:nvPr>
                <p:custDataLst>
                  <p:tags r:id="rId13"/>
                </p:custDataLst>
              </p:nvPr>
            </p:nvSpPr>
            <p:spPr>
              <a:xfrm>
                <a:off x="5906770" y="4075430"/>
                <a:ext cx="2806700" cy="368300"/>
              </a:xfrm>
              <a:prstGeom prst="rect">
                <a:avLst/>
              </a:prstGeom>
              <a:blipFill rotWithShape="1">
                <a:blip r:embed="rId14"/>
                <a:stretch>
                  <a:fillRect r="-928"/>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单层神经网络：设计功能</a:t>
            </a:r>
          </a:p>
        </p:txBody>
      </p:sp>
      <mc:AlternateContent xmlns:mc="http://schemas.openxmlformats.org/markup-compatibility/2006" xmlns:a14="http://schemas.microsoft.com/office/drawing/2010/main">
        <mc:Choice Requires="a14">
          <p:sp>
            <p:nvSpPr>
              <p:cNvPr id="4" name="文本框 3"/>
              <p:cNvSpPr txBox="1"/>
              <p:nvPr>
                <p:custDataLst>
                  <p:tags r:id="rId2"/>
                </p:custDataLst>
              </p:nvPr>
            </p:nvSpPr>
            <p:spPr>
              <a:xfrm>
                <a:off x="6960850" y="3098290"/>
                <a:ext cx="1588958" cy="400110"/>
              </a:xfrm>
              <a:prstGeom prst="rect">
                <a:avLst/>
              </a:prstGeom>
              <a:noFill/>
            </p:spPr>
            <p:txBody>
              <a:bodyPr wrap="square" rtlCol="0">
                <a:spAutoFit/>
              </a:bodyPr>
              <a:lstStyle/>
              <a:p>
                <a:pPr algn="l"/>
                <a:r>
                  <a:rPr lang="en-US" altLang="zh-CN" sz="2000" dirty="0"/>
                  <a:t>Not: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m:t>
                    </m:r>
                  </m:oMath>
                </a14:m>
                <a:r>
                  <a:rPr lang="en-US" altLang="zh-CN" sz="2000" dirty="0"/>
                  <a:t>0</a:t>
                </a:r>
                <a:endParaRPr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custDataLst>
                  <p:tags r:id="rId9"/>
                </p:custDataLst>
              </p:nvPr>
            </p:nvSpPr>
            <p:spPr>
              <a:xfrm>
                <a:off x="6960850" y="3098290"/>
                <a:ext cx="1588958" cy="400110"/>
              </a:xfrm>
              <a:prstGeom prst="rect">
                <a:avLst/>
              </a:prstGeom>
              <a:blipFill rotWithShape="1">
                <a:blip r:embed="rId10"/>
                <a:stretch>
                  <a:fillRect l="-39" t="-31" r="11"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4172169" y="3700270"/>
                <a:ext cx="287061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800" b="0" i="1" smtClean="0">
                          <a:solidFill>
                            <a:schemeClr val="tx2"/>
                          </a:solidFill>
                          <a:latin typeface="Cambria Math" panose="02040503050406030204" charset="0"/>
                        </a:rPr>
                        <m:t>𝜎</m:t>
                      </m:r>
                      <m:d>
                        <m:dPr>
                          <m:ctrlPr>
                            <a:rPr lang="en-US" altLang="zh-CN" sz="2800" b="0" i="1" smtClean="0">
                              <a:solidFill>
                                <a:schemeClr val="tx2"/>
                              </a:solidFill>
                              <a:latin typeface="Cambria Math" panose="02040503050406030204" pitchFamily="18" charset="0"/>
                            </a:rPr>
                          </m:ctrlPr>
                        </m:dPr>
                        <m:e>
                          <m:r>
                            <a:rPr lang="en-US" altLang="zh-CN" sz="2800" b="0" i="1" smtClean="0">
                              <a:solidFill>
                                <a:schemeClr val="tx2"/>
                              </a:solidFill>
                              <a:latin typeface="Cambria Math" panose="02040503050406030204" charset="0"/>
                            </a:rPr>
                            <m:t>𝑥</m:t>
                          </m:r>
                        </m:e>
                      </m:d>
                      <m:r>
                        <a:rPr lang="en-US" altLang="zh-CN" sz="2800" b="0" i="1" smtClean="0">
                          <a:solidFill>
                            <a:schemeClr val="tx2"/>
                          </a:solidFill>
                          <a:latin typeface="Cambria Math" panose="02040503050406030204" charset="0"/>
                        </a:rPr>
                        <m:t>=−</m:t>
                      </m:r>
                      <m:r>
                        <a:rPr lang="en-US" altLang="zh-CN" sz="2800" b="0" i="1" smtClean="0">
                          <a:solidFill>
                            <a:schemeClr val="tx2"/>
                          </a:solidFill>
                          <a:latin typeface="Cambria Math" panose="02040503050406030204" charset="0"/>
                        </a:rPr>
                        <m:t>𝑥</m:t>
                      </m:r>
                    </m:oMath>
                  </m:oMathPara>
                </a14:m>
                <a:endParaRPr lang="zh-CN" altLang="en-US" sz="2800" dirty="0">
                  <a:solidFill>
                    <a:schemeClr val="tx2"/>
                  </a:solidFill>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11"/>
                </p:custDataLst>
              </p:nvPr>
            </p:nvSpPr>
            <p:spPr>
              <a:xfrm>
                <a:off x="4172169" y="3700270"/>
                <a:ext cx="2870615" cy="523220"/>
              </a:xfrm>
              <a:prstGeom prst="rect">
                <a:avLst/>
              </a:prstGeom>
              <a:blipFill rotWithShape="1">
                <a:blip r:embed="rId12"/>
                <a:stretch>
                  <a:fillRect l="-8" t="-24" r="22" b="20"/>
                </a:stretch>
              </a:blipFill>
            </p:spPr>
            <p:txBody>
              <a:bodyPr/>
              <a:lstStyle/>
              <a:p>
                <a:r>
                  <a:rPr lang="zh-CN" altLang="en-US">
                    <a:noFill/>
                  </a:rPr>
                  <a:t> </a:t>
                </a:r>
              </a:p>
            </p:txBody>
          </p:sp>
        </mc:Fallback>
      </mc:AlternateContent>
      <p:sp>
        <p:nvSpPr>
          <p:cNvPr id="15" name="文本框 14"/>
          <p:cNvSpPr txBox="1"/>
          <p:nvPr>
            <p:custDataLst>
              <p:tags r:id="rId4"/>
            </p:custDataLst>
          </p:nvPr>
        </p:nvSpPr>
        <p:spPr>
          <a:xfrm>
            <a:off x="334373" y="4477972"/>
            <a:ext cx="11684834" cy="1753235"/>
          </a:xfrm>
          <a:prstGeom prst="rect">
            <a:avLst/>
          </a:prstGeom>
          <a:noFill/>
        </p:spPr>
        <p:txBody>
          <a:bodyPr wrap="square">
            <a:spAutoFit/>
          </a:bodyPr>
          <a:lstStyle/>
          <a:p>
            <a:pPr>
              <a:lnSpc>
                <a:spcPct val="150000"/>
              </a:lnSpc>
            </a:pPr>
            <a:r>
              <a:rPr lang="en-US" altLang="zh-CN" sz="1800" dirty="0">
                <a:solidFill>
                  <a:schemeClr val="tx2"/>
                </a:solidFill>
              </a:rPr>
              <a:t>The Dartmouth Conference of 1956 was organized by Marvin Minsky, John McCarthy and two senior scientists: Claude Shannon and Nathan Rochester of IBM. The proposal for the conference included this assertion: </a:t>
            </a:r>
            <a:r>
              <a:rPr lang="en-US" altLang="zh-CN" b="1" dirty="0">
                <a:solidFill>
                  <a:schemeClr val="tx2"/>
                </a:solidFill>
              </a:rPr>
              <a:t>"every aspect of learning or any other feature of intelligence can be so precisely described that a machine can be made to simulate it"</a:t>
            </a:r>
            <a:r>
              <a:rPr lang="en-US" altLang="zh-CN" sz="1800" dirty="0">
                <a:solidFill>
                  <a:schemeClr val="tx2"/>
                </a:solidFill>
              </a:rPr>
              <a:t>.</a:t>
            </a:r>
          </a:p>
        </p:txBody>
      </p:sp>
      <mc:AlternateContent xmlns:mc="http://schemas.openxmlformats.org/markup-compatibility/2006" xmlns:a14="http://schemas.microsoft.com/office/drawing/2010/main">
        <mc:Choice Requires="a14">
          <p:sp>
            <p:nvSpPr>
              <p:cNvPr id="9" name="文本框 8"/>
              <p:cNvSpPr txBox="1"/>
              <p:nvPr>
                <p:custDataLst>
                  <p:tags r:id="rId5"/>
                </p:custDataLst>
              </p:nvPr>
            </p:nvSpPr>
            <p:spPr>
              <a:xfrm>
                <a:off x="2665710" y="3098154"/>
                <a:ext cx="1588958" cy="400110"/>
              </a:xfrm>
              <a:prstGeom prst="rect">
                <a:avLst/>
              </a:prstGeom>
              <a:noFill/>
            </p:spPr>
            <p:txBody>
              <a:bodyPr wrap="square" rtlCol="0">
                <a:spAutoFit/>
              </a:bodyPr>
              <a:lstStyle/>
              <a:p>
                <a:pPr algn="l"/>
                <a:r>
                  <a:rPr lang="en-US" altLang="zh-CN" sz="2000" dirty="0"/>
                  <a:t>AND: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=2</m:t>
                    </m:r>
                  </m:oMath>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custDataLst>
                  <p:tags r:id="rId13"/>
                </p:custDataLst>
              </p:nvPr>
            </p:nvSpPr>
            <p:spPr>
              <a:xfrm>
                <a:off x="2665710" y="3098154"/>
                <a:ext cx="1588958" cy="400110"/>
              </a:xfrm>
              <a:prstGeom prst="rect">
                <a:avLst/>
              </a:prstGeom>
              <a:blipFill rotWithShape="1">
                <a:blip r:embed="rId14"/>
                <a:stretch>
                  <a:fillRect l="-39" t="-156" r="11" b="12"/>
                </a:stretch>
              </a:blipFill>
            </p:spPr>
            <p:txBody>
              <a:bodyPr/>
              <a:lstStyle/>
              <a:p>
                <a:r>
                  <a:rPr lang="zh-CN" altLang="en-US">
                    <a:noFill/>
                  </a:rPr>
                  <a:t> </a:t>
                </a:r>
              </a:p>
            </p:txBody>
          </p:sp>
        </mc:Fallback>
      </mc:AlternateContent>
      <p:pic>
        <p:nvPicPr>
          <p:cNvPr id="14" name="图片 13"/>
          <p:cNvPicPr>
            <a:picLocks noChangeAspect="1"/>
          </p:cNvPicPr>
          <p:nvPr>
            <p:custDataLst>
              <p:tags r:id="rId6"/>
            </p:custDataLst>
          </p:nvPr>
        </p:nvPicPr>
        <p:blipFill>
          <a:blip r:embed="rId15">
            <a:clrChange>
              <a:clrFrom>
                <a:srgbClr val="FFFFFF">
                  <a:alpha val="100000"/>
                </a:srgbClr>
              </a:clrFrom>
              <a:clrTo>
                <a:srgbClr val="FFFFFF">
                  <a:alpha val="100000"/>
                  <a:alpha val="0"/>
                </a:srgbClr>
              </a:clrTo>
            </a:clrChange>
          </a:blip>
          <a:stretch>
            <a:fillRect/>
          </a:stretch>
        </p:blipFill>
        <p:spPr>
          <a:xfrm>
            <a:off x="3401695" y="1562100"/>
            <a:ext cx="4064635" cy="1296670"/>
          </a:xfrm>
          <a:prstGeom prst="rect">
            <a:avLst/>
          </a:prstGeom>
        </p:spPr>
      </p:pic>
      <mc:AlternateContent xmlns:mc="http://schemas.openxmlformats.org/markup-compatibility/2006" xmlns:a14="http://schemas.microsoft.com/office/drawing/2010/main">
        <mc:Choice Requires="a14">
          <p:sp>
            <p:nvSpPr>
              <p:cNvPr id="16" name="文本框 15"/>
              <p:cNvSpPr txBox="1"/>
              <p:nvPr>
                <p:custDataLst>
                  <p:tags r:id="rId7"/>
                </p:custDataLst>
              </p:nvPr>
            </p:nvSpPr>
            <p:spPr>
              <a:xfrm>
                <a:off x="4813352" y="3098237"/>
                <a:ext cx="1588958" cy="400110"/>
              </a:xfrm>
              <a:prstGeom prst="rect">
                <a:avLst/>
              </a:prstGeom>
              <a:noFill/>
            </p:spPr>
            <p:txBody>
              <a:bodyPr wrap="square" rtlCol="0">
                <a:spAutoFit/>
              </a:bodyPr>
              <a:lstStyle/>
              <a:p>
                <a:pPr algn="l"/>
                <a:r>
                  <a:rPr lang="en-US" altLang="zh-CN" sz="2000" dirty="0"/>
                  <a:t>Or: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=1</m:t>
                    </m:r>
                  </m:oMath>
                </a14:m>
                <a:endParaRPr lang="zh-CN" altLang="en-US" sz="2000" dirty="0"/>
              </a:p>
            </p:txBody>
          </p:sp>
        </mc:Choice>
        <mc:Fallback xmlns="">
          <p:sp>
            <p:nvSpPr>
              <p:cNvPr id="16" name="文本框 15"/>
              <p:cNvSpPr txBox="1">
                <a:spLocks noRot="1" noChangeAspect="1" noMove="1" noResize="1" noEditPoints="1" noAdjustHandles="1" noChangeArrowheads="1" noChangeShapeType="1" noTextEdit="1"/>
              </p:cNvSpPr>
              <p:nvPr>
                <p:custDataLst>
                  <p:tags r:id="rId16"/>
                </p:custDataLst>
              </p:nvPr>
            </p:nvSpPr>
            <p:spPr>
              <a:xfrm>
                <a:off x="4813352" y="3098237"/>
                <a:ext cx="1588958" cy="400110"/>
              </a:xfrm>
              <a:prstGeom prst="rect">
                <a:avLst/>
              </a:prstGeom>
              <a:blipFill rotWithShape="1">
                <a:blip r:embed="rId17"/>
                <a:stretch>
                  <a:fillRect l="-3" t="-18" r="15"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66115" y="994410"/>
                <a:ext cx="5276850" cy="47752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a:t>考虑输入是两维的，</a:t>
                </a:r>
                <a14:m>
                  <m:oMath xmlns:m="http://schemas.openxmlformats.org/officeDocument/2006/math">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pitchFamily="18" charset="0"/>
                            <a:cs typeface="Cambria Math" panose="02040503050406030204" charset="0"/>
                          </a:rPr>
                        </m:ctrlPr>
                      </m:sSupPr>
                      <m:e>
                        <m:r>
                          <a:rPr lang="en-US" altLang="zh-CN" sz="2400" i="1">
                            <a:latin typeface="Cambria Math" panose="02040503050406030204" charset="0"/>
                            <a:cs typeface="Cambria Math" panose="02040503050406030204" charset="0"/>
                          </a:rPr>
                          <m:t>{0,1}</m:t>
                        </m:r>
                      </m:e>
                      <m:sup>
                        <m:r>
                          <a:rPr lang="en-US" altLang="zh-CN" sz="2400" i="1">
                            <a:latin typeface="Cambria Math" panose="02040503050406030204" charset="0"/>
                            <a:cs typeface="Cambria Math" panose="02040503050406030204" charset="0"/>
                          </a:rPr>
                          <m:t>2</m:t>
                        </m:r>
                      </m:sup>
                    </m:sSup>
                  </m:oMath>
                </a14:m>
                <a:endParaRPr lang="en-US" altLang="zh-CN" sz="2400" i="1">
                  <a:latin typeface="Cambria Math" panose="02040503050406030204" charset="0"/>
                  <a:cs typeface="Cambria Math" panose="02040503050406030204"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66115" y="994410"/>
                <a:ext cx="5276850" cy="477520"/>
              </a:xfrm>
              <a:prstGeom prst="rect">
                <a:avLst/>
              </a:prstGeom>
              <a:blipFill rotWithShape="1">
                <a:blip r:embed="rId18"/>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单层神经网络：局限性</a:t>
            </a:r>
          </a:p>
        </p:txBody>
      </p:sp>
      <p:pic>
        <p:nvPicPr>
          <p:cNvPr id="2" name="图片 1"/>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3417310" y="1658592"/>
            <a:ext cx="4902096" cy="4603820"/>
          </a:xfrm>
          <a:prstGeom prst="rect">
            <a:avLst/>
          </a:prstGeom>
        </p:spPr>
      </p:pic>
      <p:sp>
        <p:nvSpPr>
          <p:cNvPr id="3" name="文本框 2"/>
          <p:cNvSpPr txBox="1"/>
          <p:nvPr/>
        </p:nvSpPr>
        <p:spPr>
          <a:xfrm>
            <a:off x="481330" y="969010"/>
            <a:ext cx="6607175" cy="52197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a:t>单层神经网络是无法做好</a:t>
            </a:r>
            <a:r>
              <a:rPr lang="en-US" altLang="zh-CN" sz="2800"/>
              <a:t>XOR</a:t>
            </a:r>
            <a:r>
              <a:rPr lang="zh-CN" altLang="en-US" sz="2800"/>
              <a:t>问题，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pic>
        <p:nvPicPr>
          <p:cNvPr id="5" name="图片 4"/>
          <p:cNvPicPr>
            <a:picLocks noChangeAspect="1"/>
          </p:cNvPicPr>
          <p:nvPr>
            <p:custDataLst>
              <p:tags r:id="rId2"/>
            </p:custDataLst>
          </p:nvPr>
        </p:nvPicPr>
        <p:blipFill>
          <a:blip r:embed="rId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2371090" y="1490980"/>
            <a:ext cx="6798310" cy="5080635"/>
          </a:xfrm>
          <a:prstGeom prst="rect">
            <a:avLst/>
          </a:prstGeom>
        </p:spPr>
      </p:pic>
      <p:sp>
        <p:nvSpPr>
          <p:cNvPr id="4" name="文本框 3"/>
          <p:cNvSpPr txBox="1"/>
          <p:nvPr>
            <p:custDataLst>
              <p:tags r:id="rId3"/>
            </p:custDataLst>
          </p:nvPr>
        </p:nvSpPr>
        <p:spPr>
          <a:xfrm>
            <a:off x="481330" y="969010"/>
            <a:ext cx="10443210" cy="521970"/>
          </a:xfrm>
          <a:prstGeom prst="rect">
            <a:avLst/>
          </a:prstGeom>
          <a:noFill/>
        </p:spPr>
        <p:txBody>
          <a:bodyPr wrap="square" rtlCol="0">
            <a:spAutoFit/>
          </a:bodyPr>
          <a:lstStyle/>
          <a:p>
            <a:pPr marL="285750" indent="-285750">
              <a:buFont typeface="Arial" panose="020B0604020202020204" pitchFamily="34" charset="0"/>
              <a:buChar char="•"/>
            </a:pPr>
            <a:r>
              <a:rPr sz="2800"/>
              <a:t>多层神经网络是在一层神经网络的基础上堆叠起来的。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4047723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6B4A-23BF-BFDB-CFE7-C05C5A04D7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1BF9EE-DC8B-6C80-590A-1083ADE2AEC7}"/>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理解神经网络</a:t>
            </a:r>
          </a:p>
        </p:txBody>
      </p:sp>
      <p:sp>
        <p:nvSpPr>
          <p:cNvPr id="7" name="文本框 6">
            <a:extLst>
              <a:ext uri="{FF2B5EF4-FFF2-40B4-BE49-F238E27FC236}">
                <a16:creationId xmlns:a16="http://schemas.microsoft.com/office/drawing/2014/main" id="{3E39704A-D61E-DEA1-1ADA-35EEFD843304}"/>
              </a:ext>
            </a:extLst>
          </p:cNvPr>
          <p:cNvSpPr txBox="1"/>
          <p:nvPr>
            <p:custDataLst>
              <p:tags r:id="rId1"/>
            </p:custDataLst>
          </p:nvPr>
        </p:nvSpPr>
        <p:spPr>
          <a:xfrm>
            <a:off x="393700" y="917059"/>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线性</a:t>
            </a:r>
            <a:r>
              <a:rPr lang="en-US" altLang="zh-CN" b="1" dirty="0"/>
              <a:t>-</a:t>
            </a:r>
            <a:r>
              <a:rPr lang="zh-CN" altLang="en-US" b="1" dirty="0">
                <a:solidFill>
                  <a:schemeClr val="bg2"/>
                </a:solidFill>
              </a:rPr>
              <a:t>非线性</a:t>
            </a:r>
            <a:r>
              <a:rPr lang="zh-CN" altLang="en-US" b="1" dirty="0"/>
              <a:t>变换</a:t>
            </a:r>
            <a:endParaRPr lang="zh-CN" altLang="en-US" dirty="0">
              <a:solidFill>
                <a:schemeClr val="tx2"/>
              </a:solidFill>
            </a:endParaRPr>
          </a:p>
        </p:txBody>
      </p:sp>
      <p:sp>
        <p:nvSpPr>
          <p:cNvPr id="8" name="文本框 7">
            <a:extLst>
              <a:ext uri="{FF2B5EF4-FFF2-40B4-BE49-F238E27FC236}">
                <a16:creationId xmlns:a16="http://schemas.microsoft.com/office/drawing/2014/main" id="{F8423A60-DC0D-FEE6-1367-719BCEC238CC}"/>
              </a:ext>
            </a:extLst>
          </p:cNvPr>
          <p:cNvSpPr txBox="1"/>
          <p:nvPr>
            <p:custDataLst>
              <p:tags r:id="rId2"/>
            </p:custDataLst>
          </p:nvPr>
        </p:nvSpPr>
        <p:spPr>
          <a:xfrm>
            <a:off x="469900" y="2796150"/>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投影到高维空间</a:t>
            </a:r>
            <a:r>
              <a:rPr lang="zh-CN" altLang="en-US" dirty="0"/>
              <a:t> </a:t>
            </a:r>
            <a:endParaRPr lang="zh-CN" altLang="en-US" dirty="0">
              <a:solidFill>
                <a:schemeClr val="tx2"/>
              </a:solidFill>
            </a:endParaRPr>
          </a:p>
        </p:txBody>
      </p:sp>
      <p:pic>
        <p:nvPicPr>
          <p:cNvPr id="16" name="图片 15">
            <a:extLst>
              <a:ext uri="{FF2B5EF4-FFF2-40B4-BE49-F238E27FC236}">
                <a16:creationId xmlns:a16="http://schemas.microsoft.com/office/drawing/2014/main" id="{11D00D91-DBDF-58D7-E8DE-BCFD08A9D1EC}"/>
              </a:ext>
            </a:extLst>
          </p:cNvPr>
          <p:cNvPicPr>
            <a:picLocks noChangeAspect="1"/>
          </p:cNvPicPr>
          <p:nvPr/>
        </p:nvPicPr>
        <p:blipFill>
          <a:blip r:embed="rId5"/>
          <a:srcRect t="34337" b="36908"/>
          <a:stretch>
            <a:fillRect/>
          </a:stretch>
        </p:blipFill>
        <p:spPr>
          <a:xfrm>
            <a:off x="3479800" y="1086490"/>
            <a:ext cx="5851398" cy="399802"/>
          </a:xfrm>
          <a:prstGeom prst="rect">
            <a:avLst/>
          </a:prstGeom>
        </p:spPr>
      </p:pic>
      <p:cxnSp>
        <p:nvCxnSpPr>
          <p:cNvPr id="4" name="直接连接符 3">
            <a:extLst>
              <a:ext uri="{FF2B5EF4-FFF2-40B4-BE49-F238E27FC236}">
                <a16:creationId xmlns:a16="http://schemas.microsoft.com/office/drawing/2014/main" id="{EAC1BC13-209E-5F64-5C75-225F64055A0A}"/>
              </a:ext>
            </a:extLst>
          </p:cNvPr>
          <p:cNvCxnSpPr/>
          <p:nvPr/>
        </p:nvCxnSpPr>
        <p:spPr>
          <a:xfrm>
            <a:off x="5062847" y="1456704"/>
            <a:ext cx="22681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C6FB2DB-E8F8-8769-9BFC-CC87620220DC}"/>
              </a:ext>
            </a:extLst>
          </p:cNvPr>
          <p:cNvCxnSpPr>
            <a:cxnSpLocks/>
          </p:cNvCxnSpPr>
          <p:nvPr/>
        </p:nvCxnSpPr>
        <p:spPr>
          <a:xfrm>
            <a:off x="4476997" y="1535873"/>
            <a:ext cx="3024250"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3B93A79-356E-8B90-D80B-FEC2C7041037}"/>
              </a:ext>
            </a:extLst>
          </p:cNvPr>
          <p:cNvSpPr txBox="1"/>
          <p:nvPr/>
        </p:nvSpPr>
        <p:spPr>
          <a:xfrm>
            <a:off x="1147948" y="1640565"/>
            <a:ext cx="6096000" cy="923330"/>
          </a:xfrm>
          <a:prstGeom prst="rect">
            <a:avLst/>
          </a:prstGeom>
          <a:noFill/>
        </p:spPr>
        <p:txBody>
          <a:bodyPr wrap="square">
            <a:spAutoFit/>
          </a:bodyPr>
          <a:lstStyle/>
          <a:p>
            <a:r>
              <a:rPr lang="zh-CN" altLang="en-US" sz="1800" b="0" i="0" dirty="0">
                <a:solidFill>
                  <a:srgbClr val="000000"/>
                </a:solidFill>
                <a:effectLst/>
                <a:latin typeface="FandolSong-Regular-Identity-H"/>
              </a:rPr>
              <a:t>线性函数满足不了实际当中大量非线性的问题</a:t>
            </a:r>
            <a:endParaRPr lang="en-US" altLang="zh-CN" sz="1800" b="0" i="0" dirty="0">
              <a:solidFill>
                <a:srgbClr val="000000"/>
              </a:solidFill>
              <a:effectLst/>
              <a:latin typeface="FandolSong-Regular-Identity-H"/>
            </a:endParaRPr>
          </a:p>
          <a:p>
            <a:r>
              <a:rPr lang="zh-CN" altLang="en-US" dirty="0"/>
              <a:t>套上一个非线性激活函数</a:t>
            </a:r>
            <a:endParaRPr lang="en-US" altLang="zh-CN" dirty="0"/>
          </a:p>
          <a:p>
            <a:r>
              <a:rPr lang="zh-CN" altLang="en-US" dirty="0"/>
              <a:t>只套一个不够，套多次</a:t>
            </a:r>
          </a:p>
        </p:txBody>
      </p:sp>
      <p:pic>
        <p:nvPicPr>
          <p:cNvPr id="15" name="图片 14">
            <a:extLst>
              <a:ext uri="{FF2B5EF4-FFF2-40B4-BE49-F238E27FC236}">
                <a16:creationId xmlns:a16="http://schemas.microsoft.com/office/drawing/2014/main" id="{B6BB4F42-60C7-2723-3D47-A9E5F53F6CA8}"/>
              </a:ext>
            </a:extLst>
          </p:cNvPr>
          <p:cNvPicPr>
            <a:picLocks noChangeAspect="1"/>
          </p:cNvPicPr>
          <p:nvPr/>
        </p:nvPicPr>
        <p:blipFill>
          <a:blip r:embed="rId6"/>
          <a:stretch>
            <a:fillRect/>
          </a:stretch>
        </p:blipFill>
        <p:spPr>
          <a:xfrm>
            <a:off x="3589504" y="2796150"/>
            <a:ext cx="4799236" cy="1958309"/>
          </a:xfrm>
          <a:prstGeom prst="rect">
            <a:avLst/>
          </a:prstGeom>
        </p:spPr>
      </p:pic>
      <p:sp>
        <p:nvSpPr>
          <p:cNvPr id="17" name="文本框 16">
            <a:extLst>
              <a:ext uri="{FF2B5EF4-FFF2-40B4-BE49-F238E27FC236}">
                <a16:creationId xmlns:a16="http://schemas.microsoft.com/office/drawing/2014/main" id="{5C928A1B-4AC2-EF31-4893-C8BAEB4B1E48}"/>
              </a:ext>
            </a:extLst>
          </p:cNvPr>
          <p:cNvSpPr txBox="1"/>
          <p:nvPr>
            <p:custDataLst>
              <p:tags r:id="rId3"/>
            </p:custDataLst>
          </p:nvPr>
        </p:nvSpPr>
        <p:spPr>
          <a:xfrm>
            <a:off x="469900" y="4802048"/>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函数空间的 </a:t>
            </a:r>
            <a:r>
              <a:rPr lang="en-US" altLang="zh-CN" b="1" dirty="0"/>
              <a:t>Monte-Carlo </a:t>
            </a:r>
            <a:r>
              <a:rPr lang="zh-CN" altLang="en-US" b="1" dirty="0"/>
              <a:t>采样</a:t>
            </a:r>
            <a:r>
              <a:rPr lang="zh-CN" altLang="en-US" dirty="0"/>
              <a:t> </a:t>
            </a:r>
            <a:endParaRPr lang="zh-CN" altLang="en-US" dirty="0">
              <a:solidFill>
                <a:schemeClr val="tx2"/>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804C46-DB1F-9C51-574C-8CFEB7AEC7DE}"/>
                  </a:ext>
                </a:extLst>
              </p:cNvPr>
              <p:cNvSpPr txBox="1"/>
              <p:nvPr/>
            </p:nvSpPr>
            <p:spPr>
              <a:xfrm>
                <a:off x="3776353" y="5003366"/>
                <a:ext cx="6096000"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f>
                        <m:fPr>
                          <m:ctrlPr>
                            <a:rPr lang="en-US" altLang="zh-CN" b="0" i="1" smtClean="0">
                              <a:solidFill>
                                <a:schemeClr val="bg2"/>
                              </a:solidFill>
                              <a:latin typeface="Cambria Math" panose="02040503050406030204" pitchFamily="18" charset="0"/>
                            </a:rPr>
                          </m:ctrlPr>
                        </m:fPr>
                        <m:num>
                          <m:r>
                            <a:rPr lang="en-US" altLang="zh-CN" b="0" i="1" smtClean="0">
                              <a:solidFill>
                                <a:schemeClr val="bg2"/>
                              </a:solidFill>
                              <a:latin typeface="Cambria Math" panose="02040503050406030204" pitchFamily="18" charset="0"/>
                            </a:rPr>
                            <m:t>1</m:t>
                          </m:r>
                        </m:num>
                        <m:den>
                          <m:r>
                            <a:rPr lang="en-US" altLang="zh-CN" b="0" i="1" smtClean="0">
                              <a:solidFill>
                                <a:schemeClr val="bg2"/>
                              </a:solidFill>
                              <a:latin typeface="Cambria Math" panose="02040503050406030204" pitchFamily="18" charset="0"/>
                            </a:rPr>
                            <m:t>𝑚</m:t>
                          </m:r>
                        </m:den>
                      </m:f>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𝑗</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m:oMathPara>
                </a14:m>
                <a:endParaRPr lang="zh-CN" altLang="en-US" dirty="0"/>
              </a:p>
            </p:txBody>
          </p:sp>
        </mc:Choice>
        <mc:Fallback xmlns="">
          <p:sp>
            <p:nvSpPr>
              <p:cNvPr id="18" name="文本框 17">
                <a:extLst>
                  <a:ext uri="{FF2B5EF4-FFF2-40B4-BE49-F238E27FC236}">
                    <a16:creationId xmlns:a16="http://schemas.microsoft.com/office/drawing/2014/main" id="{F4804C46-DB1F-9C51-574C-8CFEB7AEC7DE}"/>
                  </a:ext>
                </a:extLst>
              </p:cNvPr>
              <p:cNvSpPr txBox="1">
                <a:spLocks noRot="1" noChangeAspect="1" noMove="1" noResize="1" noEditPoints="1" noAdjustHandles="1" noChangeArrowheads="1" noChangeShapeType="1" noTextEdit="1"/>
              </p:cNvSpPr>
              <p:nvPr/>
            </p:nvSpPr>
            <p:spPr>
              <a:xfrm>
                <a:off x="3776353" y="5003366"/>
                <a:ext cx="6096000" cy="795859"/>
              </a:xfrm>
              <a:prstGeom prst="rect">
                <a:avLst/>
              </a:prstGeom>
              <a:blipFill>
                <a:blip r:embed="rId7"/>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67838B9A-1BA5-2BC7-575C-4D1089E49A11}"/>
              </a:ext>
            </a:extLst>
          </p:cNvPr>
          <p:cNvSpPr txBox="1"/>
          <p:nvPr/>
        </p:nvSpPr>
        <p:spPr>
          <a:xfrm>
            <a:off x="4453247" y="5799225"/>
            <a:ext cx="6096000" cy="369332"/>
          </a:xfrm>
          <a:prstGeom prst="rect">
            <a:avLst/>
          </a:prstGeom>
          <a:noFill/>
        </p:spPr>
        <p:txBody>
          <a:bodyPr wrap="square">
            <a:spAutoFit/>
          </a:bodyPr>
          <a:lstStyle/>
          <a:p>
            <a:r>
              <a:rPr lang="zh-CN" altLang="en-US" sz="1800" b="0" i="0" dirty="0">
                <a:solidFill>
                  <a:srgbClr val="000000"/>
                </a:solidFill>
                <a:effectLst/>
                <a:latin typeface="FandolSong-Regular-Identity-H"/>
              </a:rPr>
              <a:t>这个形式类似于对 </a:t>
            </a:r>
            <a:r>
              <a:rPr lang="en-US" altLang="zh-CN" sz="1800" b="0" i="1" dirty="0">
                <a:solidFill>
                  <a:srgbClr val="000000"/>
                </a:solidFill>
                <a:effectLst/>
                <a:latin typeface="CMMI10"/>
              </a:rPr>
              <a:t>m </a:t>
            </a:r>
            <a:r>
              <a:rPr lang="zh-CN" altLang="en-US" sz="1800" b="0" i="0" dirty="0">
                <a:solidFill>
                  <a:srgbClr val="000000"/>
                </a:solidFill>
                <a:effectLst/>
                <a:latin typeface="FandolSong-Regular-Identity-H"/>
              </a:rPr>
              <a:t>个函数做加权平均</a:t>
            </a:r>
            <a:r>
              <a:rPr lang="zh-CN" altLang="en-US" dirty="0"/>
              <a:t> </a:t>
            </a:r>
          </a:p>
        </p:txBody>
      </p:sp>
      <p:pic>
        <p:nvPicPr>
          <p:cNvPr id="2" name="图片 1">
            <a:extLst>
              <a:ext uri="{FF2B5EF4-FFF2-40B4-BE49-F238E27FC236}">
                <a16:creationId xmlns:a16="http://schemas.microsoft.com/office/drawing/2014/main" id="{38319728-FFE5-FDE7-B0FA-2E3F7FEBA64A}"/>
              </a:ext>
            </a:extLst>
          </p:cNvPr>
          <p:cNvPicPr>
            <a:picLocks noChangeAspect="1"/>
          </p:cNvPicPr>
          <p:nvPr/>
        </p:nvPicPr>
        <p:blipFill>
          <a:blip r:embed="rId8"/>
          <a:stretch>
            <a:fillRect/>
          </a:stretch>
        </p:blipFill>
        <p:spPr>
          <a:xfrm>
            <a:off x="553708" y="3213072"/>
            <a:ext cx="2924879" cy="670772"/>
          </a:xfrm>
          <a:prstGeom prst="rect">
            <a:avLst/>
          </a:prstGeom>
        </p:spPr>
      </p:pic>
    </p:spTree>
    <p:extLst>
      <p:ext uri="{BB962C8B-B14F-4D97-AF65-F5344CB8AC3E}">
        <p14:creationId xmlns:p14="http://schemas.microsoft.com/office/powerpoint/2010/main" val="78970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多层神经网络：解</a:t>
            </a:r>
            <a:r>
              <a:rPr lang="en-US" altLang="zh-CN"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XOR</a:t>
            </a: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问题</a:t>
            </a:r>
          </a:p>
        </p:txBody>
      </p:sp>
      <p:pic>
        <p:nvPicPr>
          <p:cNvPr id="2" name="图片 1"/>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1211580" y="1028065"/>
            <a:ext cx="5387975" cy="3509010"/>
          </a:xfrm>
          <a:prstGeom prst="rect">
            <a:avLst/>
          </a:prstGeom>
        </p:spPr>
      </p:pic>
      <p:pic>
        <p:nvPicPr>
          <p:cNvPr id="3" name="图片 2"/>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99695" y="4791075"/>
            <a:ext cx="11993245" cy="979170"/>
          </a:xfrm>
          <a:prstGeom prst="rect">
            <a:avLst/>
          </a:prstGeom>
        </p:spPr>
      </p:pic>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6654165" y="1233170"/>
                <a:ext cx="4502785" cy="3099435"/>
              </a:xfrm>
              <a:prstGeom prst="rect">
                <a:avLst/>
              </a:prstGeom>
              <a:noFill/>
            </p:spPr>
            <p:txBody>
              <a:bodyPr wrap="square" rtlCol="0">
                <a:noAutofit/>
              </a:bodyPr>
              <a:lstStyle/>
              <a:p>
                <a:pPr marL="342900" indent="-342900" algn="l">
                  <a:lnSpc>
                    <a:spcPct val="200000"/>
                  </a:lnSpc>
                  <a:buFont typeface="Arial" panose="020B0604020202020204" pitchFamily="34" charset="0"/>
                  <a:buChar char="•"/>
                </a:pPr>
                <a:r>
                  <a:rPr lang="zh-CN" altLang="en-US" sz="2000" dirty="0">
                    <a:latin typeface="Cambria Math" panose="02040503050406030204" charset="0"/>
                  </a:rPr>
                  <a:t>假设，</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1</m:t>
                                </m:r>
                              </m:sub>
                            </m:sSub>
                            <m:r>
                              <a:rPr lang="en-US" altLang="zh-CN" sz="2000" b="0" i="1" smtClean="0">
                                <a:latin typeface="Cambria Math" panose="02040503050406030204"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2</m:t>
                                </m:r>
                              </m:sub>
                            </m:sSub>
                          </m:num>
                          <m:den>
                            <m:r>
                              <a:rPr lang="en-US" altLang="zh-CN" sz="2000" b="0" i="1" smtClean="0">
                                <a:latin typeface="Cambria Math" panose="02040503050406030204" charset="0"/>
                              </a:rPr>
                              <m:t>2</m:t>
                            </m:r>
                          </m:den>
                        </m:f>
                      </m:e>
                    </m:d>
                  </m:oMath>
                </a14:m>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(0,0), (1,1)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1+1</m:t>
                            </m:r>
                          </m:num>
                          <m:den>
                            <m:r>
                              <a:rPr lang="en-US" altLang="zh-CN" sz="2000" b="0" i="1" smtClean="0">
                                <a:latin typeface="Cambria Math" panose="02040503050406030204" pitchFamily="18" charset="0"/>
                              </a:rPr>
                              <m:t>2</m:t>
                            </m:r>
                          </m:den>
                        </m:f>
                      </m:e>
                    </m:d>
                    <m:r>
                      <a:rPr lang="en-US" altLang="zh-CN" sz="2000" b="0" i="1" smtClean="0">
                        <a:latin typeface="Cambria Math" panose="02040503050406030204" charset="0"/>
                      </a:rPr>
                      <m:t>=1</m:t>
                    </m:r>
                  </m:oMath>
                </a14:m>
                <a:r>
                  <a:rPr lang="zh-CN" altLang="en-US" sz="2000" dirty="0">
                    <a:latin typeface="Cambria Math" panose="02040503050406030204" charset="0"/>
                  </a:rPr>
                  <a:t>。</a:t>
                </a:r>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(1,0), (0,1)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charset="0"/>
                              </a:rPr>
                              <m:t>1</m:t>
                            </m:r>
                            <m:r>
                              <a:rPr lang="en-US" altLang="zh-CN" sz="2000" b="0" i="1" smtClean="0">
                                <a:latin typeface="Cambria Math" panose="02040503050406030204" pitchFamily="18" charset="0"/>
                              </a:rPr>
                              <m:t>+0</m:t>
                            </m:r>
                          </m:num>
                          <m:den>
                            <m:r>
                              <a:rPr lang="en-US" altLang="zh-CN" sz="2000" b="0" i="1" smtClean="0">
                                <a:latin typeface="Cambria Math" panose="02040503050406030204" charset="0"/>
                              </a:rPr>
                              <m:t>2</m:t>
                            </m:r>
                          </m:den>
                        </m:f>
                      </m:e>
                    </m:d>
                    <m:r>
                      <a:rPr lang="en-US" altLang="zh-CN" sz="2000" b="0" i="1" smtClean="0">
                        <a:latin typeface="Cambria Math" panose="02040503050406030204" charset="0"/>
                      </a:rPr>
                      <m:t>=0</m:t>
                    </m:r>
                  </m:oMath>
                </a14:m>
                <a:r>
                  <a:rPr lang="zh-CN" altLang="en-US" sz="2000" dirty="0">
                    <a:latin typeface="Cambria Math" panose="02040503050406030204" charset="0"/>
                  </a:rPr>
                  <a:t>。</a:t>
                </a:r>
              </a:p>
            </p:txBody>
          </p:sp>
        </mc:Choice>
        <mc:Fallback xmlns="">
          <p:sp>
            <p:nvSpPr>
              <p:cNvPr id="6" name="文本框 5"/>
              <p:cNvSpPr txBox="1">
                <a:spLocks noRot="1" noChangeAspect="1" noMove="1" noResize="1" noEditPoints="1" noAdjustHandles="1" noChangeArrowheads="1" noChangeShapeType="1" noTextEdit="1"/>
              </p:cNvSpPr>
              <p:nvPr>
                <p:custDataLst>
                  <p:tags r:id="rId8"/>
                </p:custDataLst>
              </p:nvPr>
            </p:nvSpPr>
            <p:spPr>
              <a:xfrm>
                <a:off x="6654165" y="1233170"/>
                <a:ext cx="4502785" cy="3099435"/>
              </a:xfrm>
              <a:prstGeom prst="rect">
                <a:avLst/>
              </a:prstGeom>
              <a:blipFill>
                <a:blip r:embed="rId9"/>
                <a:stretch>
                  <a:fillRect l="-1220" r="-7182"/>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529C-39B8-511F-4F2E-48878DCC33D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897534-A113-8B90-B562-104408BA2AC5}"/>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万有逼近定理</a:t>
            </a:r>
          </a:p>
        </p:txBody>
      </p:sp>
      <p:pic>
        <p:nvPicPr>
          <p:cNvPr id="2" name="图片 1">
            <a:extLst>
              <a:ext uri="{FF2B5EF4-FFF2-40B4-BE49-F238E27FC236}">
                <a16:creationId xmlns:a16="http://schemas.microsoft.com/office/drawing/2014/main" id="{43256DE1-3150-C542-AA6F-04930EA698E8}"/>
              </a:ext>
            </a:extLst>
          </p:cNvPr>
          <p:cNvPicPr>
            <a:picLocks noChangeAspect="1"/>
          </p:cNvPicPr>
          <p:nvPr/>
        </p:nvPicPr>
        <p:blipFill>
          <a:blip r:embed="rId2"/>
          <a:stretch>
            <a:fillRect/>
          </a:stretch>
        </p:blipFill>
        <p:spPr>
          <a:xfrm>
            <a:off x="1942481" y="847422"/>
            <a:ext cx="8622615" cy="3750836"/>
          </a:xfrm>
          <a:prstGeom prst="rect">
            <a:avLst/>
          </a:prstGeom>
        </p:spPr>
      </p:pic>
      <p:sp>
        <p:nvSpPr>
          <p:cNvPr id="9" name="文本框 8">
            <a:extLst>
              <a:ext uri="{FF2B5EF4-FFF2-40B4-BE49-F238E27FC236}">
                <a16:creationId xmlns:a16="http://schemas.microsoft.com/office/drawing/2014/main" id="{81052F37-C1DA-AF7F-2BAE-B28C484EC2D9}"/>
              </a:ext>
            </a:extLst>
          </p:cNvPr>
          <p:cNvSpPr txBox="1"/>
          <p:nvPr/>
        </p:nvSpPr>
        <p:spPr>
          <a:xfrm>
            <a:off x="157789" y="5875754"/>
            <a:ext cx="6096000" cy="646331"/>
          </a:xfrm>
          <a:prstGeom prst="rect">
            <a:avLst/>
          </a:prstGeom>
          <a:noFill/>
        </p:spPr>
        <p:txBody>
          <a:bodyPr wrap="square">
            <a:spAutoFit/>
          </a:bodyPr>
          <a:lstStyle/>
          <a:p>
            <a:r>
              <a:rPr lang="en-US" altLang="zh-CN" sz="1800" b="0" i="0" dirty="0">
                <a:solidFill>
                  <a:srgbClr val="000000"/>
                </a:solidFill>
                <a:effectLst/>
                <a:latin typeface="LMRoman10-Regular-Identity-H"/>
              </a:rPr>
              <a:t>(</a:t>
            </a:r>
            <a:r>
              <a:rPr lang="en-US" altLang="zh-CN" sz="1800" b="0" i="0" dirty="0" err="1">
                <a:solidFill>
                  <a:srgbClr val="000000"/>
                </a:solidFill>
                <a:effectLst/>
                <a:latin typeface="LMRoman10-Regular-Identity-H"/>
              </a:rPr>
              <a:t>Cybenko</a:t>
            </a:r>
            <a:r>
              <a:rPr lang="en-US" altLang="zh-CN" sz="1800" b="0" i="0" dirty="0">
                <a:solidFill>
                  <a:srgbClr val="000000"/>
                </a:solidFill>
                <a:effectLst/>
                <a:latin typeface="LMRoman10-Regular-Identity-H"/>
              </a:rPr>
              <a:t>, 1989; Hornik et al., 1989; </a:t>
            </a:r>
            <a:r>
              <a:rPr lang="en-US" altLang="zh-CN" sz="1800" b="0" i="0" dirty="0" err="1">
                <a:solidFill>
                  <a:srgbClr val="000000"/>
                </a:solidFill>
                <a:effectLst/>
                <a:latin typeface="LMRoman10-Regular-Identity-H"/>
              </a:rPr>
              <a:t>Leshno</a:t>
            </a:r>
            <a:r>
              <a:rPr lang="en-US" altLang="zh-CN" sz="1800" b="0" i="0" dirty="0">
                <a:solidFill>
                  <a:srgbClr val="000000"/>
                </a:solidFill>
                <a:effectLst/>
                <a:latin typeface="LMRoman10-Regular-Identity-H"/>
              </a:rPr>
              <a:t> et al., 1993)</a:t>
            </a:r>
            <a:r>
              <a:rPr lang="en-US" altLang="zh-CN" dirty="0"/>
              <a:t> </a:t>
            </a:r>
            <a:br>
              <a:rPr lang="en-US" altLang="zh-CN" dirty="0"/>
            </a:br>
            <a:endParaRPr lang="zh-CN" altLang="en-US" dirty="0"/>
          </a:p>
        </p:txBody>
      </p:sp>
      <p:sp>
        <p:nvSpPr>
          <p:cNvPr id="12" name="文本框 11">
            <a:extLst>
              <a:ext uri="{FF2B5EF4-FFF2-40B4-BE49-F238E27FC236}">
                <a16:creationId xmlns:a16="http://schemas.microsoft.com/office/drawing/2014/main" id="{DDB34C4A-E36C-0698-ABFB-AB9929F10EAE}"/>
              </a:ext>
            </a:extLst>
          </p:cNvPr>
          <p:cNvSpPr txBox="1"/>
          <p:nvPr/>
        </p:nvSpPr>
        <p:spPr>
          <a:xfrm>
            <a:off x="6362700" y="5552588"/>
            <a:ext cx="5791200" cy="646331"/>
          </a:xfrm>
          <a:prstGeom prst="rect">
            <a:avLst/>
          </a:prstGeom>
          <a:noFill/>
        </p:spPr>
        <p:txBody>
          <a:bodyPr wrap="square">
            <a:spAutoFit/>
          </a:bodyPr>
          <a:lstStyle/>
          <a:p>
            <a:pPr>
              <a:buNone/>
            </a:pPr>
            <a:r>
              <a:rPr lang="zh-CN" altLang="en-US" sz="1800" b="0" i="0" dirty="0">
                <a:solidFill>
                  <a:srgbClr val="000000"/>
                </a:solidFill>
                <a:effectLst/>
                <a:latin typeface="FandolSong-Regular-Identity-H"/>
              </a:rPr>
              <a:t>在人工智能这个领域，“命名法”是一个非常常用的方法，对一个新的研究成果，取一个好的名字非常重要。</a:t>
            </a:r>
            <a:r>
              <a:rPr lang="zh-CN" altLang="en-US" dirty="0"/>
              <a:t> </a:t>
            </a:r>
          </a:p>
        </p:txBody>
      </p:sp>
    </p:spTree>
    <p:extLst>
      <p:ext uri="{BB962C8B-B14F-4D97-AF65-F5344CB8AC3E}">
        <p14:creationId xmlns:p14="http://schemas.microsoft.com/office/powerpoint/2010/main" val="144096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sp>
        <p:nvSpPr>
          <p:cNvPr id="5" name="内容占位符 4"/>
          <p:cNvSpPr>
            <a:spLocks noGrp="1"/>
          </p:cNvSpPr>
          <p:nvPr>
            <p:custDataLst>
              <p:tags r:id="rId2"/>
            </p:custDataLst>
          </p:nvPr>
        </p:nvSpPr>
        <p:spPr>
          <a:xfrm>
            <a:off x="381242" y="981154"/>
            <a:ext cx="11429516" cy="5333856"/>
          </a:xfrm>
          <a:prstGeom prst="rect">
            <a:avLst/>
          </a:prstGeom>
        </p:spPr>
        <p:txBody>
          <a:bodyPr vert="horz" lIns="90000" tIns="0" rIns="91440" bIns="0" rtlCol="0">
            <a:normAutofit/>
          </a:bodyPr>
          <a:lstStyle>
            <a:lvl1pPr marL="381635" indent="-381635" algn="just" defTabSz="1219200" rtl="0" eaLnBrk="1" latinLnBrk="0" hangingPunct="1">
              <a:lnSpc>
                <a:spcPct val="120000"/>
              </a:lnSpc>
              <a:spcBef>
                <a:spcPts val="0"/>
              </a:spcBef>
              <a:spcAft>
                <a:spcPts val="635"/>
              </a:spcAft>
              <a:buSzPct val="80000"/>
              <a:buFontTx/>
              <a:buBlip>
                <a:blip r:embed="rId4"/>
              </a:buBlip>
              <a:defRPr sz="2400" b="1" kern="1200">
                <a:solidFill>
                  <a:schemeClr val="tx2"/>
                </a:solidFill>
                <a:latin typeface="微软雅黑" panose="020B0503020204020204" charset="-122"/>
                <a:ea typeface="微软雅黑" panose="020B0503020204020204" charset="-122"/>
                <a:cs typeface="+mn-cs"/>
              </a:defRPr>
            </a:lvl1pPr>
            <a:lvl2pPr marL="914400" indent="-304800" algn="just" defTabSz="1219200" rtl="0" eaLnBrk="1" latinLnBrk="0" hangingPunct="1">
              <a:lnSpc>
                <a:spcPct val="120000"/>
              </a:lnSpc>
              <a:spcBef>
                <a:spcPts val="0"/>
              </a:spcBef>
              <a:spcAft>
                <a:spcPts val="635"/>
              </a:spcAft>
              <a:buSzPct val="70000"/>
              <a:buFontTx/>
              <a:buBlip>
                <a:blip r:embed="rId4"/>
              </a:buBlip>
              <a:defRPr sz="2000" b="1" kern="1200">
                <a:solidFill>
                  <a:schemeClr val="tx2"/>
                </a:solidFill>
                <a:latin typeface="微软雅黑" panose="020B0503020204020204" charset="-122"/>
                <a:ea typeface="微软雅黑" panose="020B0503020204020204" charset="-122"/>
                <a:cs typeface="+mn-cs"/>
              </a:defRPr>
            </a:lvl2pPr>
            <a:lvl3pPr marL="1524000" indent="-304800" algn="just" defTabSz="1219200" rtl="0" eaLnBrk="1" latinLnBrk="0" hangingPunct="1">
              <a:lnSpc>
                <a:spcPct val="120000"/>
              </a:lnSpc>
              <a:spcBef>
                <a:spcPts val="0"/>
              </a:spcBef>
              <a:spcAft>
                <a:spcPts val="635"/>
              </a:spcAft>
              <a:buSzPct val="60000"/>
              <a:buFontTx/>
              <a:buBlip>
                <a:blip r:embed="rId4"/>
              </a:buBlip>
              <a:defRPr sz="1800" b="1" kern="1200">
                <a:solidFill>
                  <a:schemeClr val="tx2"/>
                </a:solidFill>
                <a:latin typeface="微软雅黑" panose="020B0503020204020204" charset="-122"/>
                <a:ea typeface="微软雅黑" panose="020B050302020402020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a:lstStyle>
          <a:p>
            <a:pPr>
              <a:lnSpc>
                <a:spcPct val="150000"/>
              </a:lnSpc>
            </a:pPr>
            <a:r>
              <a:rPr lang="zh-CN" altLang="en-US" dirty="0"/>
              <a:t>两层网络具有万有逼近定理（</a:t>
            </a:r>
            <a:r>
              <a:rPr lang="en-US" altLang="zh-CN" dirty="0" err="1"/>
              <a:t>Cybenko</a:t>
            </a:r>
            <a:r>
              <a:rPr lang="en-US" altLang="zh-CN" dirty="0"/>
              <a:t> 1989</a:t>
            </a:r>
            <a:r>
              <a:rPr lang="zh-CN" altLang="en-US" dirty="0"/>
              <a:t>）</a:t>
            </a:r>
            <a:endParaRPr lang="en-US" altLang="zh-CN" dirty="0"/>
          </a:p>
          <a:p>
            <a:pPr lvl="1">
              <a:lnSpc>
                <a:spcPct val="150000"/>
              </a:lnSpc>
            </a:pPr>
            <a:r>
              <a:rPr lang="zh-CN" altLang="en-US" dirty="0"/>
              <a:t>激活函数是非多项式的非线性函数</a:t>
            </a:r>
            <a:endParaRPr lang="en-US" altLang="zh-CN" dirty="0"/>
          </a:p>
          <a:p>
            <a:pPr>
              <a:lnSpc>
                <a:spcPct val="150000"/>
              </a:lnSpc>
            </a:pPr>
            <a:r>
              <a:rPr lang="zh-CN" altLang="en-US" dirty="0"/>
              <a:t>多项式函数是否有万有逼近定理？</a:t>
            </a:r>
            <a:endParaRPr lang="en-US" altLang="zh-CN" dirty="0"/>
          </a:p>
          <a:p>
            <a:pPr>
              <a:lnSpc>
                <a:spcPct val="150000"/>
              </a:lnSpc>
            </a:pPr>
            <a:r>
              <a:rPr lang="zh-CN" altLang="en-US" dirty="0"/>
              <a:t>为什么激活函数不能是多项式函数？</a:t>
            </a:r>
            <a:endParaRPr lang="en-US" altLang="zh-CN" dirty="0"/>
          </a:p>
          <a:p>
            <a:pPr>
              <a:lnSpc>
                <a:spcPct val="150000"/>
              </a:lnSpc>
            </a:pPr>
            <a:r>
              <a:rPr lang="zh-CN" altLang="en-US" dirty="0"/>
              <a:t>万有逼近定理对实际问题有什么帮助？</a:t>
            </a:r>
            <a:endParaRPr lang="en-US" altLang="zh-CN" dirty="0"/>
          </a:p>
        </p:txBody>
      </p:sp>
      <p:sp>
        <p:nvSpPr>
          <p:cNvPr id="14" name="文本框 13">
            <a:extLst>
              <a:ext uri="{FF2B5EF4-FFF2-40B4-BE49-F238E27FC236}">
                <a16:creationId xmlns:a16="http://schemas.microsoft.com/office/drawing/2014/main" id="{43655D3B-A2C4-D5B7-1911-CEED083798C3}"/>
              </a:ext>
            </a:extLst>
          </p:cNvPr>
          <p:cNvSpPr txBox="1"/>
          <p:nvPr/>
        </p:nvSpPr>
        <p:spPr>
          <a:xfrm>
            <a:off x="5769429" y="2230745"/>
            <a:ext cx="2544233" cy="369332"/>
          </a:xfrm>
          <a:prstGeom prst="rect">
            <a:avLst/>
          </a:prstGeom>
          <a:noFill/>
        </p:spPr>
        <p:txBody>
          <a:bodyPr wrap="square">
            <a:spAutoFit/>
          </a:bodyPr>
          <a:lstStyle/>
          <a:p>
            <a:r>
              <a:rPr lang="en-US" altLang="zh-CN" sz="1800" b="0" i="0" dirty="0" err="1">
                <a:solidFill>
                  <a:srgbClr val="000000"/>
                </a:solidFill>
                <a:effectLst/>
                <a:latin typeface="LMRoman10-Regular-Identity-H"/>
              </a:rPr>
              <a:t>Weierstrass</a:t>
            </a:r>
            <a:r>
              <a:rPr lang="en-US" altLang="zh-CN" sz="1800" b="0" i="0" dirty="0">
                <a:solidFill>
                  <a:srgbClr val="000000"/>
                </a:solidFill>
                <a:effectLst/>
                <a:latin typeface="LMRoman10-Regular-Identity-H"/>
              </a:rPr>
              <a:t> </a:t>
            </a:r>
            <a:r>
              <a:rPr lang="zh-CN" altLang="en-US" sz="1800" b="0" i="0" dirty="0">
                <a:solidFill>
                  <a:srgbClr val="000000"/>
                </a:solidFill>
                <a:effectLst/>
                <a:latin typeface="FandolSong-Regular-Identity-H"/>
              </a:rPr>
              <a:t>逼近定理</a:t>
            </a:r>
            <a:r>
              <a:rPr lang="en-US" altLang="zh-CN" sz="1800" b="0" i="0" dirty="0">
                <a:solidFill>
                  <a:srgbClr val="000000"/>
                </a:solidFill>
                <a:effectLst/>
                <a:latin typeface="FandolSong-Regular-Identity-H"/>
              </a:rPr>
              <a:t>?</a:t>
            </a:r>
            <a:endParaRPr lang="zh-CN" altLang="en-US"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E0D3B0C-DC0A-BA11-31C5-22DE9FFE27B9}"/>
                  </a:ext>
                </a:extLst>
              </p:cNvPr>
              <p:cNvSpPr txBox="1"/>
              <p:nvPr/>
            </p:nvSpPr>
            <p:spPr>
              <a:xfrm>
                <a:off x="5774872" y="2856673"/>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两层网络，</a:t>
                </a:r>
                <a14:m>
                  <m:oMath xmlns:m="http://schemas.openxmlformats.org/officeDocument/2006/math">
                    <m:r>
                      <a:rPr lang="en-US" altLang="zh-CN" sz="1800" b="0" i="1" smtClean="0">
                        <a:solidFill>
                          <a:schemeClr val="tx2"/>
                        </a:solidFill>
                        <a:effectLst/>
                        <a:latin typeface="Cambria Math" panose="02040503050406030204" pitchFamily="18" charset="0"/>
                      </a:rPr>
                      <m:t>𝜎</m:t>
                    </m:r>
                    <m:d>
                      <m:dPr>
                        <m:ctrlPr>
                          <a:rPr lang="en-US" altLang="zh-CN" sz="1800" b="0" i="1" smtClean="0">
                            <a:solidFill>
                              <a:schemeClr val="tx2"/>
                            </a:solidFill>
                            <a:effectLst/>
                            <a:latin typeface="Cambria Math" panose="02040503050406030204" pitchFamily="18" charset="0"/>
                          </a:rPr>
                        </m:ctrlPr>
                      </m:dPr>
                      <m:e>
                        <m:r>
                          <a:rPr lang="en-US" altLang="zh-CN" sz="1800" b="0" i="1" smtClean="0">
                            <a:solidFill>
                              <a:schemeClr val="tx2"/>
                            </a:solidFill>
                            <a:effectLst/>
                            <a:latin typeface="Cambria Math" panose="02040503050406030204" pitchFamily="18" charset="0"/>
                          </a:rPr>
                          <m:t>𝑥</m:t>
                        </m:r>
                      </m:e>
                    </m:d>
                    <m:r>
                      <a:rPr lang="en-US" altLang="zh-CN" sz="1800" b="0" i="1" smtClean="0">
                        <a:solidFill>
                          <a:schemeClr val="tx2"/>
                        </a:solidFill>
                        <a:effectLst/>
                        <a:latin typeface="Cambria Math" panose="02040503050406030204" pitchFamily="18" charset="0"/>
                      </a:rPr>
                      <m:t>=</m:t>
                    </m:r>
                    <m:sSup>
                      <m:sSupPr>
                        <m:ctrlPr>
                          <a:rPr lang="en-US" altLang="zh-CN" sz="1800" b="0" i="1" smtClean="0">
                            <a:solidFill>
                              <a:schemeClr val="tx2"/>
                            </a:solidFill>
                            <a:effectLst/>
                            <a:latin typeface="Cambria Math" panose="02040503050406030204" pitchFamily="18" charset="0"/>
                          </a:rPr>
                        </m:ctrlPr>
                      </m:sSupPr>
                      <m:e>
                        <m:r>
                          <a:rPr lang="en-US" altLang="zh-CN" sz="1800" b="0" i="1" smtClean="0">
                            <a:solidFill>
                              <a:schemeClr val="tx2"/>
                            </a:solidFill>
                            <a:effectLst/>
                            <a:latin typeface="Cambria Math" panose="02040503050406030204" pitchFamily="18" charset="0"/>
                          </a:rPr>
                          <m:t>𝑥</m:t>
                        </m:r>
                      </m:e>
                      <m:sup>
                        <m:r>
                          <a:rPr lang="en-US" altLang="zh-CN" sz="1800" b="0" i="1" smtClean="0">
                            <a:solidFill>
                              <a:schemeClr val="tx2"/>
                            </a:solidFill>
                            <a:effectLst/>
                            <a:latin typeface="Cambria Math" panose="02040503050406030204" pitchFamily="18" charset="0"/>
                          </a:rPr>
                          <m:t>2</m:t>
                        </m:r>
                      </m:sup>
                    </m:sSup>
                  </m:oMath>
                </a14:m>
                <a:r>
                  <a:rPr lang="en-US" altLang="zh-CN" dirty="0">
                    <a:solidFill>
                      <a:schemeClr val="tx2"/>
                    </a:solidFill>
                  </a:rPr>
                  <a:t>, </a:t>
                </a:r>
                <a:r>
                  <a:rPr lang="zh-CN" altLang="en-US" dirty="0">
                    <a:solidFill>
                      <a:schemeClr val="tx2"/>
                    </a:solidFill>
                  </a:rPr>
                  <a:t>只能逼近二次函数</a:t>
                </a:r>
              </a:p>
            </p:txBody>
          </p:sp>
        </mc:Choice>
        <mc:Fallback xmlns="">
          <p:sp>
            <p:nvSpPr>
              <p:cNvPr id="2" name="文本框 1">
                <a:extLst>
                  <a:ext uri="{FF2B5EF4-FFF2-40B4-BE49-F238E27FC236}">
                    <a16:creationId xmlns:a16="http://schemas.microsoft.com/office/drawing/2014/main" id="{2E0D3B0C-DC0A-BA11-31C5-22DE9FFE27B9}"/>
                  </a:ext>
                </a:extLst>
              </p:cNvPr>
              <p:cNvSpPr txBox="1">
                <a:spLocks noRot="1" noChangeAspect="1" noMove="1" noResize="1" noEditPoints="1" noAdjustHandles="1" noChangeArrowheads="1" noChangeShapeType="1" noTextEdit="1"/>
              </p:cNvSpPr>
              <p:nvPr/>
            </p:nvSpPr>
            <p:spPr>
              <a:xfrm>
                <a:off x="5774872" y="2856673"/>
                <a:ext cx="4626428" cy="369332"/>
              </a:xfrm>
              <a:prstGeom prst="rect">
                <a:avLst/>
              </a:prstGeom>
              <a:blipFill>
                <a:blip r:embed="rId5"/>
                <a:stretch>
                  <a:fillRect l="-1054" t="-15000" b="-300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F2724C1-5C52-985C-AEF3-93A3147C2005}"/>
              </a:ext>
            </a:extLst>
          </p:cNvPr>
          <p:cNvSpPr txBox="1"/>
          <p:nvPr/>
        </p:nvSpPr>
        <p:spPr>
          <a:xfrm>
            <a:off x="6000448" y="3531581"/>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万有逼近构造的解通常不是训练得到的解</a:t>
            </a:r>
            <a:endParaRPr lang="zh-CN" altLang="en-US"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3465559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897D2-CD91-92D4-706A-8B13BFCD3BE6}"/>
              </a:ext>
            </a:extLst>
          </p:cNvPr>
          <p:cNvSpPr>
            <a:spLocks noGrp="1"/>
          </p:cNvSpPr>
          <p:nvPr>
            <p:ph type="title"/>
          </p:nvPr>
        </p:nvSpPr>
        <p:spPr/>
        <p:txBody>
          <a:bodyPr/>
          <a:lstStyle/>
          <a:p>
            <a:r>
              <a:rPr kumimoji="1" lang="zh-CN" altLang="en-US" dirty="0"/>
              <a:t>请思考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E4CBF1-5986-0F58-6D88-394FF657C6E0}"/>
                  </a:ext>
                </a:extLst>
              </p:cNvPr>
              <p:cNvSpPr>
                <a:spLocks noGrp="1"/>
              </p:cNvSpPr>
              <p:nvPr>
                <p:ph idx="1"/>
              </p:nvPr>
            </p:nvSpPr>
            <p:spPr/>
            <p:txBody>
              <a:bodyPr/>
              <a:lstStyle/>
              <a:p>
                <a:r>
                  <a:rPr kumimoji="1" lang="zh-CN" altLang="en-US" dirty="0"/>
                  <a:t>激活函数是</a:t>
                </a:r>
                <a:r>
                  <a:rPr kumimoji="1" lang="en-US" altLang="zh-CN" dirty="0"/>
                  <a:t> </a:t>
                </a:r>
                <a14:m>
                  <m:oMath xmlns:m="http://schemas.openxmlformats.org/officeDocument/2006/math">
                    <m:r>
                      <a:rPr kumimoji="1" lang="en-US" altLang="zh-CN" i="1" dirty="0" smtClean="0">
                        <a:latin typeface="Cambria Math" panose="02040503050406030204" pitchFamily="18" charset="0"/>
                      </a:rPr>
                      <m:t>𝑅𝑒𝐿𝑈</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m:t>
                    </m:r>
                    <m:r>
                      <m:rPr>
                        <m:sty m:val="p"/>
                      </m:rPr>
                      <a:rPr kumimoji="1" lang="en-US" altLang="zh-CN" i="1" dirty="0">
                        <a:latin typeface="Cambria Math" panose="02040503050406030204" pitchFamily="18" charset="0"/>
                      </a:rPr>
                      <m:t>Max</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𝟎</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𝒙</m:t>
                    </m:r>
                    <m:r>
                      <a:rPr kumimoji="1" lang="en-US" altLang="zh-CN" b="1" i="1" dirty="0" smtClean="0">
                        <a:latin typeface="Cambria Math" panose="02040503050406030204" pitchFamily="18" charset="0"/>
                      </a:rPr>
                      <m:t>)</m:t>
                    </m:r>
                  </m:oMath>
                </a14:m>
                <a:r>
                  <a:rPr kumimoji="1" lang="zh-CN" altLang="en-US" dirty="0"/>
                  <a:t>，且所有偏置项为</a:t>
                </a:r>
                <a:r>
                  <a:rPr kumimoji="1" lang="en-US" altLang="zh-CN" dirty="0"/>
                  <a:t>0</a:t>
                </a:r>
                <a:r>
                  <a:rPr kumimoji="1" lang="zh-CN" altLang="en-US" dirty="0"/>
                  <a:t>，输入输出均一维</a:t>
                </a:r>
                <a:endParaRPr kumimoji="1" lang="en-US" altLang="zh-CN" dirty="0"/>
              </a:p>
              <a:p>
                <a:r>
                  <a:rPr kumimoji="1" lang="zh-CN" altLang="en-US" dirty="0"/>
                  <a:t>两层的神经网络函数的形状是什么样的？</a:t>
                </a:r>
              </a:p>
            </p:txBody>
          </p:sp>
        </mc:Choice>
        <mc:Fallback xmlns="">
          <p:sp>
            <p:nvSpPr>
              <p:cNvPr id="3" name="内容占位符 2">
                <a:extLst>
                  <a:ext uri="{FF2B5EF4-FFF2-40B4-BE49-F238E27FC236}">
                    <a16:creationId xmlns:a16="http://schemas.microsoft.com/office/drawing/2014/main" id="{39E4CBF1-5986-0F58-6D88-394FF657C6E0}"/>
                  </a:ext>
                </a:extLst>
              </p:cNvPr>
              <p:cNvSpPr>
                <a:spLocks noGrp="1" noRot="1" noChangeAspect="1" noMove="1" noResize="1" noEditPoints="1" noAdjustHandles="1" noChangeArrowheads="1" noChangeShapeType="1" noTextEdit="1"/>
              </p:cNvSpPr>
              <p:nvPr>
                <p:ph idx="1"/>
              </p:nvPr>
            </p:nvSpPr>
            <p:spPr>
              <a:blipFill>
                <a:blip r:embed="rId2"/>
                <a:stretch>
                  <a:fillRect l="-889" t="-11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961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897D2-CD91-92D4-706A-8B13BFCD3BE6}"/>
              </a:ext>
            </a:extLst>
          </p:cNvPr>
          <p:cNvSpPr>
            <a:spLocks noGrp="1"/>
          </p:cNvSpPr>
          <p:nvPr>
            <p:ph type="title"/>
          </p:nvPr>
        </p:nvSpPr>
        <p:spPr/>
        <p:txBody>
          <a:bodyPr/>
          <a:lstStyle/>
          <a:p>
            <a:r>
              <a:rPr kumimoji="1" lang="zh-CN" altLang="en-US" dirty="0"/>
              <a:t>请思考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E4CBF1-5986-0F58-6D88-394FF657C6E0}"/>
                  </a:ext>
                </a:extLst>
              </p:cNvPr>
              <p:cNvSpPr>
                <a:spLocks noGrp="1"/>
              </p:cNvSpPr>
              <p:nvPr>
                <p:ph idx="1"/>
              </p:nvPr>
            </p:nvSpPr>
            <p:spPr/>
            <p:txBody>
              <a:bodyPr/>
              <a:lstStyle/>
              <a:p>
                <a:r>
                  <a:rPr kumimoji="1" lang="zh-CN" altLang="en-US" dirty="0"/>
                  <a:t>激活函数是</a:t>
                </a:r>
                <a:r>
                  <a:rPr kumimoji="1" lang="en-US" altLang="zh-CN" dirty="0"/>
                  <a:t> </a:t>
                </a:r>
                <a14:m>
                  <m:oMath xmlns:m="http://schemas.openxmlformats.org/officeDocument/2006/math">
                    <m:r>
                      <a:rPr kumimoji="1" lang="en-US" altLang="zh-CN" i="1" dirty="0" smtClean="0">
                        <a:latin typeface="Cambria Math" panose="02040503050406030204" pitchFamily="18" charset="0"/>
                      </a:rPr>
                      <m:t>𝑅𝑒𝐿𝑈</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m:t>
                    </m:r>
                    <m:r>
                      <m:rPr>
                        <m:sty m:val="p"/>
                      </m:rPr>
                      <a:rPr kumimoji="1" lang="en-US" altLang="zh-CN" i="1" dirty="0">
                        <a:latin typeface="Cambria Math" panose="02040503050406030204" pitchFamily="18" charset="0"/>
                      </a:rPr>
                      <m:t>Max</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𝟎</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𝒙</m:t>
                    </m:r>
                    <m:r>
                      <a:rPr kumimoji="1" lang="en-US" altLang="zh-CN" b="1" i="1" dirty="0" smtClean="0">
                        <a:latin typeface="Cambria Math" panose="02040503050406030204" pitchFamily="18" charset="0"/>
                      </a:rPr>
                      <m:t>)</m:t>
                    </m:r>
                  </m:oMath>
                </a14:m>
                <a:r>
                  <a:rPr kumimoji="1" lang="zh-CN" altLang="en-US" dirty="0"/>
                  <a:t>，且所有偏置项为</a:t>
                </a:r>
                <a:r>
                  <a:rPr kumimoji="1" lang="en-US" altLang="zh-CN" dirty="0"/>
                  <a:t>0</a:t>
                </a:r>
                <a:r>
                  <a:rPr kumimoji="1" lang="zh-CN" altLang="en-US" dirty="0"/>
                  <a:t>，输入输出均一维</a:t>
                </a:r>
                <a:endParaRPr kumimoji="1" lang="en-US" altLang="zh-CN" dirty="0"/>
              </a:p>
              <a:p>
                <a:r>
                  <a:rPr kumimoji="1" lang="zh-CN" altLang="en-US" dirty="0"/>
                  <a:t>两层的神经网络函数的形状是什么样的？</a:t>
                </a:r>
              </a:p>
            </p:txBody>
          </p:sp>
        </mc:Choice>
        <mc:Fallback xmlns="">
          <p:sp>
            <p:nvSpPr>
              <p:cNvPr id="3" name="内容占位符 2">
                <a:extLst>
                  <a:ext uri="{FF2B5EF4-FFF2-40B4-BE49-F238E27FC236}">
                    <a16:creationId xmlns:a16="http://schemas.microsoft.com/office/drawing/2014/main" id="{39E4CBF1-5986-0F58-6D88-394FF657C6E0}"/>
                  </a:ext>
                </a:extLst>
              </p:cNvPr>
              <p:cNvSpPr>
                <a:spLocks noGrp="1" noRot="1" noChangeAspect="1" noMove="1" noResize="1" noEditPoints="1" noAdjustHandles="1" noChangeArrowheads="1" noChangeShapeType="1" noTextEdit="1"/>
              </p:cNvSpPr>
              <p:nvPr>
                <p:ph idx="1"/>
              </p:nvPr>
            </p:nvSpPr>
            <p:spPr>
              <a:blipFill>
                <a:blip r:embed="rId2"/>
                <a:stretch>
                  <a:fillRect l="-889" t="-11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F03D8AA-159D-DCB0-5E81-A6BD18D1307C}"/>
                  </a:ext>
                </a:extLst>
              </p:cNvPr>
              <p:cNvSpPr txBox="1"/>
              <p:nvPr/>
            </p:nvSpPr>
            <p:spPr>
              <a:xfrm>
                <a:off x="4468923" y="1804633"/>
                <a:ext cx="4050083" cy="122501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𝑓</m:t>
                          </m:r>
                        </m:e>
                        <m:sub>
                          <m:r>
                            <a:rPr kumimoji="1" lang="en-US" altLang="zh-CN" sz="2800" b="0" i="1" smtClean="0">
                              <a:latin typeface="Cambria Math" panose="02040503050406030204" pitchFamily="18" charset="0"/>
                            </a:rPr>
                            <m:t>𝜃</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𝑥</m:t>
                          </m:r>
                        </m:e>
                      </m:d>
                      <m:r>
                        <a:rPr kumimoji="1" lang="en-US" altLang="zh-CN" sz="2800" b="0" i="1" smtClean="0">
                          <a:latin typeface="Cambria Math" panose="02040503050406030204" pitchFamily="18" charset="0"/>
                        </a:rPr>
                        <m:t>=</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𝑗</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𝑚</m:t>
                          </m:r>
                        </m:sup>
                        <m:e>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𝑎</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𝜎</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𝑤</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𝑥</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𝑏</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m:t>
                          </m:r>
                        </m:e>
                      </m:nary>
                    </m:oMath>
                  </m:oMathPara>
                </a14:m>
                <a:endParaRPr kumimoji="1" lang="zh-CN" altLang="en-US" sz="2800" dirty="0"/>
              </a:p>
            </p:txBody>
          </p:sp>
        </mc:Choice>
        <mc:Fallback xmlns="">
          <p:sp>
            <p:nvSpPr>
              <p:cNvPr id="4" name="文本框 3">
                <a:extLst>
                  <a:ext uri="{FF2B5EF4-FFF2-40B4-BE49-F238E27FC236}">
                    <a16:creationId xmlns:a16="http://schemas.microsoft.com/office/drawing/2014/main" id="{8F03D8AA-159D-DCB0-5E81-A6BD18D1307C}"/>
                  </a:ext>
                </a:extLst>
              </p:cNvPr>
              <p:cNvSpPr txBox="1">
                <a:spLocks noRot="1" noChangeAspect="1" noMove="1" noResize="1" noEditPoints="1" noAdjustHandles="1" noChangeArrowheads="1" noChangeShapeType="1" noTextEdit="1"/>
              </p:cNvSpPr>
              <p:nvPr/>
            </p:nvSpPr>
            <p:spPr>
              <a:xfrm>
                <a:off x="4468923" y="1804633"/>
                <a:ext cx="4050083" cy="1225015"/>
              </a:xfrm>
              <a:prstGeom prst="rect">
                <a:avLst/>
              </a:prstGeom>
              <a:blipFill>
                <a:blip r:embed="rId3"/>
                <a:stretch>
                  <a:fillRect l="-2500" t="-115464" r="-2812" b="-169072"/>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F881B19B-E5AD-D42B-ABE2-8202743BF8E6}"/>
              </a:ext>
            </a:extLst>
          </p:cNvPr>
          <p:cNvCxnSpPr/>
          <p:nvPr/>
        </p:nvCxnSpPr>
        <p:spPr>
          <a:xfrm>
            <a:off x="714703" y="4813738"/>
            <a:ext cx="217564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34EF0137-2E87-EE9D-3AEB-3D9D050A5BDE}"/>
              </a:ext>
            </a:extLst>
          </p:cNvPr>
          <p:cNvCxnSpPr>
            <a:cxnSpLocks/>
          </p:cNvCxnSpPr>
          <p:nvPr/>
        </p:nvCxnSpPr>
        <p:spPr>
          <a:xfrm flipV="1">
            <a:off x="2890345" y="2816492"/>
            <a:ext cx="893379" cy="199724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27B77658-A8F4-FD38-8220-CC92BA9604B8}"/>
              </a:ext>
            </a:extLst>
          </p:cNvPr>
          <p:cNvCxnSpPr>
            <a:cxnSpLocks/>
          </p:cNvCxnSpPr>
          <p:nvPr/>
        </p:nvCxnSpPr>
        <p:spPr>
          <a:xfrm>
            <a:off x="4130566" y="4807202"/>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A30E7861-5A33-3513-2431-A90F64752C07}"/>
              </a:ext>
            </a:extLst>
          </p:cNvPr>
          <p:cNvCxnSpPr>
            <a:cxnSpLocks/>
          </p:cNvCxnSpPr>
          <p:nvPr/>
        </p:nvCxnSpPr>
        <p:spPr>
          <a:xfrm flipH="1" flipV="1">
            <a:off x="6009055" y="3092669"/>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20" name="直线连接符 19">
            <a:extLst>
              <a:ext uri="{FF2B5EF4-FFF2-40B4-BE49-F238E27FC236}">
                <a16:creationId xmlns:a16="http://schemas.microsoft.com/office/drawing/2014/main" id="{8135E4D1-AC76-08C7-B5B7-6E45379D2FF8}"/>
              </a:ext>
            </a:extLst>
          </p:cNvPr>
          <p:cNvCxnSpPr>
            <a:cxnSpLocks/>
          </p:cNvCxnSpPr>
          <p:nvPr/>
        </p:nvCxnSpPr>
        <p:spPr>
          <a:xfrm flipV="1">
            <a:off x="6009055" y="3429000"/>
            <a:ext cx="969821" cy="138473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B766B597-9208-F605-BF04-9E055E9E6D06}"/>
              </a:ext>
            </a:extLst>
          </p:cNvPr>
          <p:cNvCxnSpPr>
            <a:cxnSpLocks/>
          </p:cNvCxnSpPr>
          <p:nvPr/>
        </p:nvCxnSpPr>
        <p:spPr>
          <a:xfrm flipV="1">
            <a:off x="6017179" y="4011470"/>
            <a:ext cx="1085456" cy="80226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BEA2A74C-BAA8-DA06-7720-FD3F3FCE3998}"/>
              </a:ext>
            </a:extLst>
          </p:cNvPr>
          <p:cNvCxnSpPr>
            <a:cxnSpLocks/>
          </p:cNvCxnSpPr>
          <p:nvPr/>
        </p:nvCxnSpPr>
        <p:spPr>
          <a:xfrm>
            <a:off x="6025303" y="4813738"/>
            <a:ext cx="1488773" cy="72677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EC61E9C3-04E5-DDC6-992C-FBF05ABFC8E0}"/>
              </a:ext>
            </a:extLst>
          </p:cNvPr>
          <p:cNvCxnSpPr>
            <a:cxnSpLocks/>
          </p:cNvCxnSpPr>
          <p:nvPr/>
        </p:nvCxnSpPr>
        <p:spPr>
          <a:xfrm>
            <a:off x="6025303" y="4813737"/>
            <a:ext cx="744386" cy="94595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4C63189-9E56-D17F-D550-8B3CB839A710}"/>
              </a:ext>
            </a:extLst>
          </p:cNvPr>
          <p:cNvCxnSpPr>
            <a:cxnSpLocks/>
          </p:cNvCxnSpPr>
          <p:nvPr/>
        </p:nvCxnSpPr>
        <p:spPr>
          <a:xfrm flipH="1">
            <a:off x="5047358" y="4813736"/>
            <a:ext cx="977945" cy="94595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19557BAE-4DD0-1D1E-41F6-7C75432483DF}"/>
              </a:ext>
            </a:extLst>
          </p:cNvPr>
          <p:cNvCxnSpPr>
            <a:cxnSpLocks/>
          </p:cNvCxnSpPr>
          <p:nvPr/>
        </p:nvCxnSpPr>
        <p:spPr>
          <a:xfrm flipH="1">
            <a:off x="4512158" y="4813735"/>
            <a:ext cx="1521269" cy="33633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610CE5B9-F7BC-156E-BD3A-80DEC59C9DD7}"/>
              </a:ext>
            </a:extLst>
          </p:cNvPr>
          <p:cNvCxnSpPr>
            <a:cxnSpLocks/>
          </p:cNvCxnSpPr>
          <p:nvPr/>
        </p:nvCxnSpPr>
        <p:spPr>
          <a:xfrm flipH="1" flipV="1">
            <a:off x="4426903" y="3675138"/>
            <a:ext cx="1567918" cy="113424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AB8220C7-0639-6B8F-5749-4C6FB530A175}"/>
              </a:ext>
            </a:extLst>
          </p:cNvPr>
          <p:cNvCxnSpPr>
            <a:cxnSpLocks/>
          </p:cNvCxnSpPr>
          <p:nvPr/>
        </p:nvCxnSpPr>
        <p:spPr>
          <a:xfrm flipH="1" flipV="1">
            <a:off x="5021082" y="3182862"/>
            <a:ext cx="1004221" cy="166021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AA22265C-CBB0-1136-2D2C-416C5D5F9E8E}"/>
              </a:ext>
            </a:extLst>
          </p:cNvPr>
          <p:cNvCxnSpPr>
            <a:cxnSpLocks/>
          </p:cNvCxnSpPr>
          <p:nvPr/>
        </p:nvCxnSpPr>
        <p:spPr>
          <a:xfrm>
            <a:off x="8185748" y="4853825"/>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DC08913E-F22F-A53B-F057-B42DEC623267}"/>
              </a:ext>
            </a:extLst>
          </p:cNvPr>
          <p:cNvCxnSpPr>
            <a:cxnSpLocks/>
          </p:cNvCxnSpPr>
          <p:nvPr/>
        </p:nvCxnSpPr>
        <p:spPr>
          <a:xfrm flipH="1" flipV="1">
            <a:off x="10064237" y="3139292"/>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49" name="直线连接符 48">
            <a:extLst>
              <a:ext uri="{FF2B5EF4-FFF2-40B4-BE49-F238E27FC236}">
                <a16:creationId xmlns:a16="http://schemas.microsoft.com/office/drawing/2014/main" id="{849DE87C-E6A2-9557-9AF3-1E4F9D7F8AA3}"/>
              </a:ext>
            </a:extLst>
          </p:cNvPr>
          <p:cNvCxnSpPr>
            <a:cxnSpLocks/>
          </p:cNvCxnSpPr>
          <p:nvPr/>
        </p:nvCxnSpPr>
        <p:spPr>
          <a:xfrm flipV="1">
            <a:off x="10072361" y="4011470"/>
            <a:ext cx="1866914" cy="84889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6FE43694-086F-D950-3F64-19FEB42A8B0E}"/>
              </a:ext>
            </a:extLst>
          </p:cNvPr>
          <p:cNvCxnSpPr>
            <a:cxnSpLocks/>
          </p:cNvCxnSpPr>
          <p:nvPr/>
        </p:nvCxnSpPr>
        <p:spPr>
          <a:xfrm flipH="1" flipV="1">
            <a:off x="8169758" y="4309241"/>
            <a:ext cx="1880245" cy="5467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B8D26104-7473-81E0-E279-675DAC775331}"/>
              </a:ext>
            </a:extLst>
          </p:cNvPr>
          <p:cNvSpPr txBox="1"/>
          <p:nvPr/>
        </p:nvSpPr>
        <p:spPr>
          <a:xfrm>
            <a:off x="8870731" y="2007476"/>
            <a:ext cx="2972617" cy="400110"/>
          </a:xfrm>
          <a:prstGeom prst="rect">
            <a:avLst/>
          </a:prstGeom>
          <a:noFill/>
        </p:spPr>
        <p:txBody>
          <a:bodyPr wrap="square" rtlCol="0">
            <a:spAutoFit/>
          </a:bodyPr>
          <a:lstStyle/>
          <a:p>
            <a:pPr algn="l"/>
            <a:r>
              <a:rPr kumimoji="1" lang="zh-CN" altLang="en-US" sz="2000" dirty="0"/>
              <a:t>没有万有逼近能力！</a:t>
            </a:r>
          </a:p>
        </p:txBody>
      </p:sp>
    </p:spTree>
    <p:extLst>
      <p:ext uri="{BB962C8B-B14F-4D97-AF65-F5344CB8AC3E}">
        <p14:creationId xmlns:p14="http://schemas.microsoft.com/office/powerpoint/2010/main" val="74308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linds(horizontal)">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linds(horizontal)">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linds(horizontal)">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linds(horizontal)">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linds(horizontal)">
                                      <p:cBhvr>
                                        <p:cTn id="43"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blinds(horizontal)">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linds(horizontal)">
                                      <p:cBhvr>
                                        <p:cTn id="53" dur="500"/>
                                        <p:tgtEl>
                                          <p:spTgt spid="3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blinds(horizontal)">
                                      <p:cBhvr>
                                        <p:cTn id="58" dur="500"/>
                                        <p:tgtEl>
                                          <p:spTgt spid="40"/>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5" presetClass="entr" presetSubtype="10" fill="hold" grpId="0"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checkerboard(across)">
                                      <p:cBhvr>
                                        <p:cTn id="7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6BA5-A3FC-CBEF-FA90-31DF079E2E0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6639BA-212B-F57A-087F-E0D53691BE9A}"/>
              </a:ext>
            </a:extLst>
          </p:cNvPr>
          <p:cNvSpPr>
            <a:spLocks noGrp="1"/>
          </p:cNvSpPr>
          <p:nvPr>
            <p:ph type="title"/>
          </p:nvPr>
        </p:nvSpPr>
        <p:spPr>
          <a:xfrm>
            <a:off x="381242" y="2844289"/>
            <a:ext cx="11429516" cy="761979"/>
          </a:xfrm>
        </p:spPr>
        <p:txBody>
          <a:bodyPr/>
          <a:lstStyle/>
          <a:p>
            <a:pPr algn="ctr"/>
            <a:r>
              <a:rPr lang="zh-CN" altLang="en-US" dirty="0"/>
              <a:t>残差神经网络</a:t>
            </a:r>
          </a:p>
        </p:txBody>
      </p:sp>
    </p:spTree>
    <p:extLst>
      <p:ext uri="{BB962C8B-B14F-4D97-AF65-F5344CB8AC3E}">
        <p14:creationId xmlns:p14="http://schemas.microsoft.com/office/powerpoint/2010/main" val="143106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退化问题</a:t>
            </a:r>
            <a:endParaRPr lang="zh-CN" altLang="en-US" dirty="0"/>
          </a:p>
        </p:txBody>
      </p:sp>
      <p:pic>
        <p:nvPicPr>
          <p:cNvPr id="17" name="图片 16" descr="IMG_256"/>
          <p:cNvPicPr>
            <a:picLocks noChangeAspect="1"/>
          </p:cNvPicPr>
          <p:nvPr/>
        </p:nvPicPr>
        <p:blipFill>
          <a:blip r:embed="rId2"/>
          <a:stretch>
            <a:fillRect/>
          </a:stretch>
        </p:blipFill>
        <p:spPr>
          <a:xfrm>
            <a:off x="980534" y="1233785"/>
            <a:ext cx="10230930" cy="3417424"/>
          </a:xfrm>
          <a:prstGeom prst="rect">
            <a:avLst/>
          </a:prstGeom>
          <a:noFill/>
          <a:ln w="9525">
            <a:noFill/>
          </a:ln>
        </p:spPr>
      </p:pic>
      <p:sp>
        <p:nvSpPr>
          <p:cNvPr id="18" name="文本框 17"/>
          <p:cNvSpPr txBox="1"/>
          <p:nvPr/>
        </p:nvSpPr>
        <p:spPr>
          <a:xfrm>
            <a:off x="1172269" y="4964355"/>
            <a:ext cx="10039195" cy="1689052"/>
          </a:xfrm>
          <a:prstGeom prst="rect">
            <a:avLst/>
          </a:prstGeom>
          <a:noFill/>
        </p:spPr>
        <p:txBody>
          <a:bodyPr wrap="square" rtlCol="0">
            <a:spAutoFit/>
          </a:bodyPr>
          <a:lstStyle/>
          <a:p>
            <a:pPr>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利用20层和56层的普通网络对于CIFAR-10数据集的训练误差（左图）和测试误差（右图）。可见</a:t>
            </a:r>
            <a:r>
              <a:rPr lang="zh-CN" altLang="en-US" sz="2400" b="1" dirty="0">
                <a:solidFill>
                  <a:srgbClr val="000000"/>
                </a:solidFill>
                <a:latin typeface="微软雅黑" panose="020B0503020204020204" pitchFamily="34" charset="-122"/>
                <a:ea typeface="微软雅黑" panose="020B0503020204020204" pitchFamily="34" charset="-122"/>
              </a:rPr>
              <a:t>越深的网络会产生越大的训练误差和测试误差</a:t>
            </a:r>
            <a:r>
              <a:rPr lang="zh-CN" altLang="en-US" sz="2400" dirty="0">
                <a:solidFill>
                  <a:srgbClr val="000000"/>
                </a:solidFill>
                <a:latin typeface="微软雅黑" panose="020B0503020204020204" pitchFamily="34" charset="-122"/>
                <a:ea typeface="微软雅黑" panose="020B0503020204020204" pitchFamily="34" charset="-122"/>
              </a:rPr>
              <a:t>。</a:t>
            </a:r>
          </a:p>
          <a:p>
            <a:pPr algn="just">
              <a:lnSpc>
                <a:spcPct val="150000"/>
              </a:lnSpc>
            </a:pP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Sigmoid</a:t>
            </a:r>
            <a:r>
              <a:rPr lang="zh-CN" altLang="en-US" dirty="0">
                <a:latin typeface="微软雅黑" panose="020B0503020204020204" pitchFamily="34" charset="-122"/>
                <a:ea typeface="微软雅黑" panose="020B0503020204020204" pitchFamily="34" charset="-122"/>
              </a:rPr>
              <a:t>函数饱和</a:t>
            </a:r>
            <a:endParaRPr lang="zh-CN" altLang="en-US" dirty="0"/>
          </a:p>
        </p:txBody>
      </p:sp>
      <p:sp>
        <p:nvSpPr>
          <p:cNvPr id="8" name="文本框 6"/>
          <p:cNvSpPr txBox="1"/>
          <p:nvPr/>
        </p:nvSpPr>
        <p:spPr>
          <a:xfrm>
            <a:off x="1115438" y="1013364"/>
            <a:ext cx="942862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rgbClr val="000000"/>
                </a:solidFill>
                <a:latin typeface="微软雅黑" panose="020B0503020204020204" pitchFamily="34" charset="-122"/>
                <a:ea typeface="微软雅黑" panose="020B0503020204020204" pitchFamily="34" charset="-122"/>
                <a:sym typeface="+mn-ea"/>
              </a:rPr>
              <a:t>下图是一个极简单的深度神经网络：每一层都只有一个单一的神经元。</a:t>
            </a:r>
            <a:endParaRPr lang="zh-CN" altLang="en-US" sz="24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1"/>
              <p:cNvSpPr txBox="1"/>
              <p:nvPr/>
            </p:nvSpPr>
            <p:spPr>
              <a:xfrm>
                <a:off x="1115438" y="5217871"/>
                <a:ext cx="10695320" cy="10427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当输入稍微远离坐标原点，</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sigmoid</a:t>
                </a:r>
                <a:r>
                  <a:rPr lang="zh-CN" altLang="en-US" sz="2000" dirty="0">
                    <a:solidFill>
                      <a:srgbClr val="000000"/>
                    </a:solidFill>
                    <a:latin typeface="微软雅黑" panose="020B0503020204020204" pitchFamily="34" charset="-122"/>
                    <a:ea typeface="微软雅黑" panose="020B0503020204020204" pitchFamily="34" charset="-122"/>
                  </a:rPr>
                  <a:t>函数的梯度变小，几乎为零。根据链式法则，反向传播会经过很多</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sigmoid</a:t>
                </a:r>
                <a:r>
                  <a:rPr lang="zh-CN" altLang="en-US" sz="2000" dirty="0">
                    <a:solidFill>
                      <a:srgbClr val="000000"/>
                    </a:solidFill>
                    <a:latin typeface="微软雅黑" panose="020B0503020204020204" pitchFamily="34" charset="-122"/>
                    <a:ea typeface="微软雅黑" panose="020B0503020204020204" pitchFamily="34" charset="-122"/>
                  </a:rPr>
                  <a:t>函数，最终导致权重</a:t>
                </a:r>
                <a14:m>
                  <m:oMath xmlns:m="http://schemas.openxmlformats.org/officeDocument/2006/math">
                    <m:r>
                      <a:rPr lang="en-US" altLang="zh-CN" sz="2000" b="1"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𝒘</m:t>
                    </m:r>
                  </m:oMath>
                </a14:m>
                <a:r>
                  <a:rPr lang="zh-CN" altLang="en-US" sz="2000" dirty="0">
                    <a:solidFill>
                      <a:srgbClr val="000000"/>
                    </a:solidFill>
                    <a:latin typeface="微软雅黑" panose="020B0503020204020204" pitchFamily="34" charset="-122"/>
                    <a:ea typeface="微软雅黑" panose="020B0503020204020204" pitchFamily="34" charset="-122"/>
                  </a:rPr>
                  <a:t>对损失函数几乎没影响，这样不利于权重的优化</a:t>
                </a:r>
                <a:r>
                  <a:rPr lang="zh-CN" altLang="en-US" sz="2400" dirty="0">
                    <a:solidFill>
                      <a:srgbClr val="000000"/>
                    </a:solidFill>
                    <a:latin typeface="微软雅黑" panose="020B0503020204020204" pitchFamily="34" charset="-122"/>
                    <a:ea typeface="微软雅黑" panose="020B0503020204020204" pitchFamily="34" charset="-122"/>
                  </a:rPr>
                  <a:t>。</a:t>
                </a:r>
              </a:p>
            </p:txBody>
          </p:sp>
        </mc:Choice>
        <mc:Fallback xmlns="">
          <p:sp>
            <p:nvSpPr>
              <p:cNvPr id="10" name="文本框 1"/>
              <p:cNvSpPr txBox="1">
                <a:spLocks noRot="1" noChangeAspect="1" noMove="1" noResize="1" noEditPoints="1" noAdjustHandles="1" noChangeArrowheads="1" noChangeShapeType="1" noTextEdit="1"/>
              </p:cNvSpPr>
              <p:nvPr/>
            </p:nvSpPr>
            <p:spPr>
              <a:xfrm>
                <a:off x="1115438" y="5217871"/>
                <a:ext cx="10695320" cy="1042721"/>
              </a:xfrm>
              <a:prstGeom prst="rect">
                <a:avLst/>
              </a:prstGeom>
              <a:blipFill rotWithShape="1">
                <a:blip r:embed="rId2"/>
                <a:stretch>
                  <a:fillRect l="-4" t="-7" r="4" b="-840"/>
                </a:stretch>
              </a:blipFill>
            </p:spPr>
            <p:txBody>
              <a:bodyPr/>
              <a:lstStyle/>
              <a:p>
                <a:r>
                  <a:rPr lang="zh-CN" altLang="en-US">
                    <a:noFill/>
                  </a:rPr>
                  <a:t> </a:t>
                </a:r>
              </a:p>
            </p:txBody>
          </p:sp>
        </mc:Fallback>
      </mc:AlternateContent>
      <p:sp>
        <p:nvSpPr>
          <p:cNvPr id="4" name="流程图: 接点 3"/>
          <p:cNvSpPr/>
          <p:nvPr/>
        </p:nvSpPr>
        <p:spPr>
          <a:xfrm>
            <a:off x="191550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cxnSp>
        <p:nvCxnSpPr>
          <p:cNvPr id="12" name="直接箭头连接符 11"/>
          <p:cNvCxnSpPr>
            <a:stCxn id="4" idx="6"/>
            <a:endCxn id="14" idx="2"/>
          </p:cNvCxnSpPr>
          <p:nvPr/>
        </p:nvCxnSpPr>
        <p:spPr>
          <a:xfrm>
            <a:off x="2640805" y="2146486"/>
            <a:ext cx="949224"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流程图: 接点 13"/>
              <p:cNvSpPr/>
              <p:nvPr/>
            </p:nvSpPr>
            <p:spPr>
              <a:xfrm>
                <a:off x="3590029" y="1765498"/>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1</m:t>
                          </m:r>
                        </m:sub>
                      </m:sSub>
                    </m:oMath>
                  </m:oMathPara>
                </a14:m>
                <a:endParaRPr lang="zh-CN" altLang="en-US" dirty="0">
                  <a:solidFill>
                    <a:schemeClr val="bg1"/>
                  </a:solidFill>
                </a:endParaRPr>
              </a:p>
            </p:txBody>
          </p:sp>
        </mc:Choice>
        <mc:Fallback xmlns="">
          <p:sp>
            <p:nvSpPr>
              <p:cNvPr id="14" name="流程图: 接点 13"/>
              <p:cNvSpPr>
                <a:spLocks noRot="1" noChangeAspect="1" noMove="1" noResize="1" noEditPoints="1" noAdjustHandles="1" noChangeArrowheads="1" noChangeShapeType="1" noTextEdit="1"/>
              </p:cNvSpPr>
              <p:nvPr/>
            </p:nvSpPr>
            <p:spPr>
              <a:xfrm>
                <a:off x="3590029" y="1765498"/>
                <a:ext cx="725300" cy="761978"/>
              </a:xfrm>
              <a:prstGeom prst="flowChartConnector">
                <a:avLst/>
              </a:prstGeom>
              <a:blipFill rotWithShape="1">
                <a:blip r:embed="rId3"/>
                <a:stretch>
                  <a:fillRect l="-3816" t="-3609" r="-3783"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流程图: 接点 14"/>
              <p:cNvSpPr/>
              <p:nvPr/>
            </p:nvSpPr>
            <p:spPr>
              <a:xfrm>
                <a:off x="530217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2</m:t>
                          </m:r>
                        </m:sub>
                      </m:sSub>
                    </m:oMath>
                  </m:oMathPara>
                </a14:m>
                <a:endParaRPr lang="zh-CN" altLang="en-US" dirty="0">
                  <a:solidFill>
                    <a:schemeClr val="bg1"/>
                  </a:solidFill>
                </a:endParaRPr>
              </a:p>
            </p:txBody>
          </p:sp>
        </mc:Choice>
        <mc:Fallback xmlns="">
          <p:sp>
            <p:nvSpPr>
              <p:cNvPr id="15" name="流程图: 接点 14"/>
              <p:cNvSpPr>
                <a:spLocks noRot="1" noChangeAspect="1" noMove="1" noResize="1" noEditPoints="1" noAdjustHandles="1" noChangeArrowheads="1" noChangeShapeType="1" noTextEdit="1"/>
              </p:cNvSpPr>
              <p:nvPr/>
            </p:nvSpPr>
            <p:spPr>
              <a:xfrm>
                <a:off x="5302175" y="1765497"/>
                <a:ext cx="725300" cy="761978"/>
              </a:xfrm>
              <a:prstGeom prst="flowChartConnector">
                <a:avLst/>
              </a:prstGeom>
              <a:blipFill rotWithShape="1">
                <a:blip r:embed="rId4"/>
                <a:stretch>
                  <a:fillRect l="-3842" t="-3609" r="-3757"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流程图: 接点 15"/>
              <p:cNvSpPr/>
              <p:nvPr/>
            </p:nvSpPr>
            <p:spPr>
              <a:xfrm>
                <a:off x="8461880"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4</m:t>
                          </m:r>
                        </m:sub>
                      </m:sSub>
                    </m:oMath>
                  </m:oMathPara>
                </a14:m>
                <a:endParaRPr lang="zh-CN" altLang="en-US" dirty="0">
                  <a:solidFill>
                    <a:schemeClr val="bg1"/>
                  </a:solidFill>
                </a:endParaRPr>
              </a:p>
            </p:txBody>
          </p:sp>
        </mc:Choice>
        <mc:Fallback xmlns="">
          <p:sp>
            <p:nvSpPr>
              <p:cNvPr id="16" name="流程图: 接点 15"/>
              <p:cNvSpPr>
                <a:spLocks noRot="1" noChangeAspect="1" noMove="1" noResize="1" noEditPoints="1" noAdjustHandles="1" noChangeArrowheads="1" noChangeShapeType="1" noTextEdit="1"/>
              </p:cNvSpPr>
              <p:nvPr/>
            </p:nvSpPr>
            <p:spPr>
              <a:xfrm>
                <a:off x="8461880" y="1764013"/>
                <a:ext cx="725300" cy="761978"/>
              </a:xfrm>
              <a:prstGeom prst="flowChartConnector">
                <a:avLst/>
              </a:prstGeom>
              <a:blipFill rotWithShape="1">
                <a:blip r:embed="rId5"/>
                <a:stretch>
                  <a:fillRect l="-3834" t="-3665" r="-3765"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流程图: 接点 16"/>
              <p:cNvSpPr/>
              <p:nvPr/>
            </p:nvSpPr>
            <p:spPr>
              <a:xfrm>
                <a:off x="6916844"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3</m:t>
                          </m:r>
                        </m:sub>
                      </m:sSub>
                    </m:oMath>
                  </m:oMathPara>
                </a14:m>
                <a:endParaRPr lang="zh-CN" altLang="en-US" dirty="0">
                  <a:solidFill>
                    <a:schemeClr val="bg1"/>
                  </a:solidFill>
                </a:endParaRPr>
              </a:p>
            </p:txBody>
          </p:sp>
        </mc:Choice>
        <mc:Fallback xmlns="">
          <p:sp>
            <p:nvSpPr>
              <p:cNvPr id="17" name="流程图: 接点 16"/>
              <p:cNvSpPr>
                <a:spLocks noRot="1" noChangeAspect="1" noMove="1" noResize="1" noEditPoints="1" noAdjustHandles="1" noChangeArrowheads="1" noChangeShapeType="1" noTextEdit="1"/>
              </p:cNvSpPr>
              <p:nvPr/>
            </p:nvSpPr>
            <p:spPr>
              <a:xfrm>
                <a:off x="6916844" y="1764013"/>
                <a:ext cx="725300" cy="761978"/>
              </a:xfrm>
              <a:prstGeom prst="flowChartConnector">
                <a:avLst/>
              </a:prstGeom>
              <a:blipFill rotWithShape="1">
                <a:blip r:embed="rId6"/>
                <a:stretch>
                  <a:fillRect l="-3823" t="-3665" r="-3776"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3" name="直接箭头连接符 22"/>
          <p:cNvCxnSpPr>
            <a:stCxn id="14" idx="6"/>
            <a:endCxn id="15" idx="2"/>
          </p:cNvCxnSpPr>
          <p:nvPr/>
        </p:nvCxnSpPr>
        <p:spPr>
          <a:xfrm flipV="1">
            <a:off x="4315329" y="2146486"/>
            <a:ext cx="986846"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5" idx="6"/>
            <a:endCxn id="17" idx="2"/>
          </p:cNvCxnSpPr>
          <p:nvPr/>
        </p:nvCxnSpPr>
        <p:spPr>
          <a:xfrm flipV="1">
            <a:off x="6027475" y="2145002"/>
            <a:ext cx="889369" cy="148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6"/>
            <a:endCxn id="16" idx="2"/>
          </p:cNvCxnSpPr>
          <p:nvPr/>
        </p:nvCxnSpPr>
        <p:spPr>
          <a:xfrm>
            <a:off x="7642144" y="2145002"/>
            <a:ext cx="819736"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6" idx="6"/>
            <a:endCxn id="35" idx="1"/>
          </p:cNvCxnSpPr>
          <p:nvPr/>
        </p:nvCxnSpPr>
        <p:spPr>
          <a:xfrm>
            <a:off x="9187180" y="2145002"/>
            <a:ext cx="725300"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p:cNvSpPr txBox="1"/>
              <p:nvPr/>
            </p:nvSpPr>
            <p:spPr>
              <a:xfrm>
                <a:off x="9912480" y="1944947"/>
                <a:ext cx="364015" cy="400110"/>
              </a:xfrm>
              <a:prstGeom prst="rect">
                <a:avLst/>
              </a:prstGeom>
              <a:noFill/>
            </p:spPr>
            <p:txBody>
              <a:bodyPr wrap="square" rtlCol="0">
                <a:spAutoFit/>
              </a:bodyPr>
              <a:lstStyle/>
              <a:p>
                <a:pPr algn="l"/>
                <a14:m>
                  <m:oMathPara xmlns:m="http://schemas.openxmlformats.org/officeDocument/2006/math">
                    <m:oMathParaPr>
                      <m:jc m:val="left"/>
                    </m:oMathParaPr>
                    <m:oMath xmlns:m="http://schemas.openxmlformats.org/officeDocument/2006/math">
                      <m:r>
                        <a:rPr lang="en-US" altLang="zh-CN" sz="2000" i="1" dirty="0" smtClean="0">
                          <a:solidFill>
                            <a:schemeClr val="tx2"/>
                          </a:solidFill>
                          <a:latin typeface="Cambria Math" panose="02040503050406030204" pitchFamily="18" charset="0"/>
                        </a:rPr>
                        <m:t>𝐶</m:t>
                      </m:r>
                    </m:oMath>
                  </m:oMathPara>
                </a14:m>
                <a:endParaRPr lang="zh-CN" altLang="en-US" sz="2000" i="1" dirty="0">
                  <a:solidFill>
                    <a:schemeClr val="tx2"/>
                  </a:solidFill>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9912480" y="1944947"/>
                <a:ext cx="364015" cy="400110"/>
              </a:xfrm>
              <a:prstGeom prst="rect">
                <a:avLst/>
              </a:prstGeom>
              <a:blipFill rotWithShape="1">
                <a:blip r:embed="rId7"/>
                <a:stretch>
                  <a:fillRect l="-36" t="-144" r="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p:cNvSpPr txBox="1"/>
              <p:nvPr/>
            </p:nvSpPr>
            <p:spPr>
              <a:xfrm>
                <a:off x="2808384" y="1663177"/>
                <a:ext cx="541108"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𝑤</m:t>
                          </m:r>
                        </m:e>
                        <m:sub>
                          <m:r>
                            <a:rPr lang="en-US" altLang="zh-CN" sz="2000" b="0" i="1" smtClean="0">
                              <a:solidFill>
                                <a:schemeClr val="tx2"/>
                              </a:solidFill>
                              <a:latin typeface="Cambria Math" panose="02040503050406030204" pitchFamily="18" charset="0"/>
                            </a:rPr>
                            <m:t>1</m:t>
                          </m:r>
                        </m:sub>
                      </m:sSub>
                    </m:oMath>
                  </m:oMathPara>
                </a14:m>
                <a:endParaRPr lang="zh-CN" altLang="en-US" sz="2000" dirty="0"/>
              </a:p>
            </p:txBody>
          </p:sp>
        </mc:Choice>
        <mc:Fallback xmlns="">
          <p:sp>
            <p:nvSpPr>
              <p:cNvPr id="49" name="文本框 48"/>
              <p:cNvSpPr txBox="1">
                <a:spLocks noRot="1" noChangeAspect="1" noMove="1" noResize="1" noEditPoints="1" noAdjustHandles="1" noChangeArrowheads="1" noChangeShapeType="1" noTextEdit="1"/>
              </p:cNvSpPr>
              <p:nvPr/>
            </p:nvSpPr>
            <p:spPr>
              <a:xfrm>
                <a:off x="2808384" y="1663177"/>
                <a:ext cx="541108" cy="400110"/>
              </a:xfrm>
              <a:prstGeom prst="rect">
                <a:avLst/>
              </a:prstGeom>
              <a:blipFill rotWithShape="1">
                <a:blip r:embed="rId8"/>
                <a:stretch>
                  <a:fillRect l="-77" t="-28" r="93"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4539238" y="1693955"/>
                <a:ext cx="5420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2</m:t>
                          </m:r>
                        </m:sub>
                      </m:sSub>
                    </m:oMath>
                  </m:oMathPara>
                </a14:m>
                <a:endParaRPr lang="zh-CN" altLang="en-US" dirty="0"/>
              </a:p>
            </p:txBody>
          </p:sp>
        </mc:Choice>
        <mc:Fallback xmlns="">
          <p:sp>
            <p:nvSpPr>
              <p:cNvPr id="51" name="文本框 50"/>
              <p:cNvSpPr txBox="1">
                <a:spLocks noRot="1" noChangeAspect="1" noMove="1" noResize="1" noEditPoints="1" noAdjustHandles="1" noChangeArrowheads="1" noChangeShapeType="1" noTextEdit="1"/>
              </p:cNvSpPr>
              <p:nvPr/>
            </p:nvSpPr>
            <p:spPr>
              <a:xfrm>
                <a:off x="4539238" y="1693955"/>
                <a:ext cx="542029" cy="369332"/>
              </a:xfrm>
              <a:prstGeom prst="rect">
                <a:avLst/>
              </a:prstGeom>
              <a:blipFill rotWithShape="1">
                <a:blip r:embed="rId9"/>
                <a:stretch>
                  <a:fillRect l="-48" t="-111" r="117" b="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6193689" y="1709721"/>
                <a:ext cx="5598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3</m:t>
                          </m:r>
                        </m:sub>
                      </m:sSub>
                    </m:oMath>
                  </m:oMathPara>
                </a14:m>
                <a:endParaRPr lang="zh-CN" altLang="en-US" dirty="0"/>
              </a:p>
            </p:txBody>
          </p:sp>
        </mc:Choice>
        <mc:Fallback xmlns="">
          <p:sp>
            <p:nvSpPr>
              <p:cNvPr id="53" name="文本框 52"/>
              <p:cNvSpPr txBox="1">
                <a:spLocks noRot="1" noChangeAspect="1" noMove="1" noResize="1" noEditPoints="1" noAdjustHandles="1" noChangeArrowheads="1" noChangeShapeType="1" noTextEdit="1"/>
              </p:cNvSpPr>
              <p:nvPr/>
            </p:nvSpPr>
            <p:spPr>
              <a:xfrm>
                <a:off x="6193689" y="1709721"/>
                <a:ext cx="559856" cy="369332"/>
              </a:xfrm>
              <a:prstGeom prst="rect">
                <a:avLst/>
              </a:prstGeom>
              <a:blipFill rotWithShape="1">
                <a:blip r:embed="rId10"/>
                <a:stretch>
                  <a:fillRect l="-95" t="-81" r="57"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p:cNvSpPr txBox="1"/>
              <p:nvPr/>
            </p:nvSpPr>
            <p:spPr>
              <a:xfrm>
                <a:off x="7835665" y="1705846"/>
                <a:ext cx="531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2"/>
                              </a:solidFill>
                              <a:latin typeface="Cambria Math" panose="02040503050406030204" pitchFamily="18" charset="0"/>
                            </a:rPr>
                          </m:ctrlPr>
                        </m:sSubPr>
                        <m:e>
                          <m:r>
                            <a:rPr lang="en-US" altLang="zh-CN" sz="1800" b="0" i="1" smtClean="0">
                              <a:solidFill>
                                <a:schemeClr val="tx2"/>
                              </a:solidFill>
                              <a:latin typeface="Cambria Math" panose="02040503050406030204" pitchFamily="18" charset="0"/>
                            </a:rPr>
                            <m:t>𝑤</m:t>
                          </m:r>
                        </m:e>
                        <m:sub>
                          <m:r>
                            <a:rPr lang="en-US" altLang="zh-CN" i="1">
                              <a:solidFill>
                                <a:schemeClr val="tx2"/>
                              </a:solidFill>
                              <a:latin typeface="Cambria Math" panose="02040503050406030204" pitchFamily="18" charset="0"/>
                            </a:rPr>
                            <m:t>4</m:t>
                          </m:r>
                        </m:sub>
                      </m:sSub>
                    </m:oMath>
                  </m:oMathPara>
                </a14:m>
                <a:endParaRPr lang="zh-CN" altLang="en-US" dirty="0"/>
              </a:p>
            </p:txBody>
          </p:sp>
        </mc:Choice>
        <mc:Fallback xmlns="">
          <p:sp>
            <p:nvSpPr>
              <p:cNvPr id="55" name="文本框 54"/>
              <p:cNvSpPr txBox="1">
                <a:spLocks noRot="1" noChangeAspect="1" noMove="1" noResize="1" noEditPoints="1" noAdjustHandles="1" noChangeArrowheads="1" noChangeShapeType="1" noTextEdit="1"/>
              </p:cNvSpPr>
              <p:nvPr/>
            </p:nvSpPr>
            <p:spPr>
              <a:xfrm>
                <a:off x="7835665" y="1705846"/>
                <a:ext cx="531779" cy="369332"/>
              </a:xfrm>
              <a:prstGeom prst="rect">
                <a:avLst/>
              </a:prstGeom>
              <a:blipFill rotWithShape="1">
                <a:blip r:embed="rId11"/>
                <a:stretch>
                  <a:fillRect l="-75" t="-64" r="9" b="171"/>
                </a:stretch>
              </a:blipFill>
            </p:spPr>
            <p:txBody>
              <a:bodyPr/>
              <a:lstStyle/>
              <a:p>
                <a:r>
                  <a:rPr lang="zh-CN" altLang="en-US">
                    <a:noFill/>
                  </a:rPr>
                  <a:t> </a:t>
                </a:r>
              </a:p>
            </p:txBody>
          </p:sp>
        </mc:Fallback>
      </mc:AlternateContent>
      <p:pic>
        <p:nvPicPr>
          <p:cNvPr id="64" name="图片 6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88747" y="2676434"/>
            <a:ext cx="3142547" cy="2487611"/>
          </a:xfrm>
          <a:prstGeom prst="rect">
            <a:avLst/>
          </a:prstGeom>
        </p:spPr>
      </p:pic>
      <p:pic>
        <p:nvPicPr>
          <p:cNvPr id="66" name="图片 6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60708" y="2623175"/>
            <a:ext cx="3262641" cy="25408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残差神经网络</a:t>
            </a:r>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381242" y="844550"/>
                <a:ext cx="8133080" cy="2893356"/>
              </a:xfrm>
              <a:prstGeom prst="rect">
                <a:avLst/>
              </a:prstGeom>
              <a:noFill/>
            </p:spPr>
            <p:txBody>
              <a:bodyPr wrap="square" rtlCol="0">
                <a:spAutoFit/>
              </a:bodyPr>
              <a:lstStyle/>
              <a:p>
                <a:pPr indent="0" fontAlgn="auto">
                  <a:lnSpc>
                    <a:spcPct val="150000"/>
                  </a:lnSpc>
                  <a:buFont typeface="Arial" panose="020B0604020202020204" pitchFamily="34" charset="0"/>
                  <a:buNone/>
                </a:pPr>
                <a:r>
                  <a:rPr lang="zh-CN" altLang="en-US" sz="2400" dirty="0">
                    <a:solidFill>
                      <a:schemeClr val="tx2"/>
                    </a:solidFill>
                    <a:latin typeface="微软雅黑" panose="020B0503020204020204" pitchFamily="34" charset="-122"/>
                    <a:ea typeface="微软雅黑" panose="020B0503020204020204" pitchFamily="34" charset="-122"/>
                  </a:rPr>
                  <a:t>问题：随着网络层数的增加，训练深层网络越来越困难</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梯度爆炸和梯度消失问题</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退化问题：网络深度增加时，性能出现饱和甚至下降的现象</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额外增加的层可能并未学习到新的特征表示，而只是近似恒等映射</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网络越深,参数量越大,过拟合风险也随之增加，导致泛化性能下降</a:t>
                </a:r>
              </a:p>
              <a:p>
                <a:pPr lvl="0" indent="0" fontAlgn="auto">
                  <a:lnSpc>
                    <a:spcPct val="150000"/>
                  </a:lnSpc>
                  <a:buFont typeface="Wingdings" panose="05000000000000000000" charset="0"/>
                  <a:buNone/>
                </a:pPr>
                <a:r>
                  <a:rPr lang="zh-CN" altLang="en-US" sz="2400" dirty="0">
                    <a:solidFill>
                      <a:schemeClr val="tx2"/>
                    </a:solidFill>
                    <a:latin typeface="微软雅黑" panose="020B0503020204020204" pitchFamily="34" charset="-122"/>
                    <a:ea typeface="微软雅黑" panose="020B0503020204020204" pitchFamily="34" charset="-122"/>
                  </a:rPr>
                  <a:t>解决方案：加入残差连接：</a:t>
                </a:r>
                <a14:m>
                  <m:oMath xmlns:m="http://schemas.openxmlformats.org/officeDocument/2006/math">
                    <m:sSub>
                      <m:sSubPr>
                        <m:ctrlPr>
                          <a:rPr lang="en-US" altLang="zh-CN" sz="240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r>
                          <a:rPr lang="en-US" altLang="zh-CN" sz="2400" b="0" i="1" smtClean="0">
                            <a:solidFill>
                              <a:schemeClr val="tx2"/>
                            </a:solidFill>
                            <a:latin typeface="Cambria Math" panose="02040503050406030204" pitchFamily="18" charset="0"/>
                          </a:rPr>
                          <m:t>+1</m:t>
                        </m:r>
                      </m:sub>
                    </m:sSub>
                    <m:r>
                      <a:rPr lang="en-US" altLang="zh-CN" sz="2400" b="0" i="1" smtClean="0">
                        <a:solidFill>
                          <a:schemeClr val="tx2"/>
                        </a:solidFill>
                        <a:latin typeface="Cambria Math" panose="02040503050406030204" pitchFamily="18" charset="0"/>
                      </a:rPr>
                      <m:t>=</m:t>
                    </m:r>
                    <m:r>
                      <a:rPr lang="zh-CN" altLang="en-US" sz="2400" b="0" i="1" smtClean="0">
                        <a:solidFill>
                          <a:schemeClr val="tx2"/>
                        </a:solidFill>
                        <a:latin typeface="Cambria Math" panose="02040503050406030204" pitchFamily="18" charset="0"/>
                      </a:rPr>
                      <m:t>𝜎</m:t>
                    </m:r>
                    <m:d>
                      <m:dPr>
                        <m:ctrlPr>
                          <a:rPr lang="en-US" altLang="zh-CN" sz="2400" b="0" i="1" smtClean="0">
                            <a:solidFill>
                              <a:schemeClr val="tx2"/>
                            </a:solidFill>
                            <a:latin typeface="Cambria Math" panose="02040503050406030204" pitchFamily="18" charset="0"/>
                          </a:rPr>
                        </m:ctrlPr>
                      </m:dPr>
                      <m:e>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𝑊</m:t>
                            </m:r>
                          </m:e>
                          <m:sub>
                            <m:r>
                              <a:rPr lang="en-US" altLang="zh-CN" sz="2400" b="0" i="1" smtClean="0">
                                <a:solidFill>
                                  <a:schemeClr val="tx2"/>
                                </a:solidFill>
                                <a:latin typeface="Cambria Math" panose="02040503050406030204" pitchFamily="18" charset="0"/>
                              </a:rPr>
                              <m:t>𝑙</m:t>
                            </m:r>
                          </m:sub>
                        </m:sSub>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𝑏</m:t>
                            </m:r>
                          </m:e>
                          <m:sub>
                            <m:r>
                              <a:rPr lang="en-US" altLang="zh-CN" sz="2400" b="0" i="1" smtClean="0">
                                <a:solidFill>
                                  <a:schemeClr val="tx2"/>
                                </a:solidFill>
                                <a:latin typeface="Cambria Math" panose="02040503050406030204" pitchFamily="18" charset="0"/>
                              </a:rPr>
                              <m:t>𝑙</m:t>
                            </m:r>
                          </m:sub>
                        </m:sSub>
                      </m:e>
                    </m:d>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oMath>
                </a14:m>
                <a:endParaRPr lang="zh-CN" altLang="en-US" sz="24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81242" y="844550"/>
                <a:ext cx="8133080" cy="2893356"/>
              </a:xfrm>
              <a:prstGeom prst="rect">
                <a:avLst/>
              </a:prstGeom>
              <a:blipFill rotWithShape="1">
                <a:blip r:embed="rId2"/>
                <a:stretch>
                  <a:fillRect l="-3" r="3" b="10"/>
                </a:stretch>
              </a:blipFill>
            </p:spPr>
            <p:txBody>
              <a:bodyPr/>
              <a:lstStyle/>
              <a:p>
                <a:r>
                  <a:rPr lang="zh-CN" altLang="en-US">
                    <a:noFill/>
                  </a:rPr>
                  <a:t> </a:t>
                </a:r>
              </a:p>
            </p:txBody>
          </p:sp>
        </mc:Fallback>
      </mc:AlternateContent>
      <p:pic>
        <p:nvPicPr>
          <p:cNvPr id="13" name="图片 12"/>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47395" y="3820477"/>
            <a:ext cx="5861685" cy="205359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5342" y="3742055"/>
            <a:ext cx="3989263" cy="2132012"/>
          </a:xfrm>
          <a:prstGeom prst="rect">
            <a:avLst/>
          </a:prstGeom>
        </p:spPr>
      </p:pic>
      <p:sp>
        <p:nvSpPr>
          <p:cNvPr id="8" name="文本框 7"/>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stretch>
            <a:fillRect/>
          </a:stretch>
        </p:blipFill>
        <p:spPr>
          <a:xfrm>
            <a:off x="3130827" y="5550774"/>
            <a:ext cx="5930343" cy="763985"/>
          </a:xfrm>
          <a:prstGeom prst="rect">
            <a:avLst/>
          </a:prstGeom>
        </p:spPr>
      </p:pic>
      <p:sp>
        <p:nvSpPr>
          <p:cNvPr id="3" name="标题 2"/>
          <p:cNvSpPr>
            <a:spLocks noGrp="1"/>
          </p:cNvSpPr>
          <p:nvPr>
            <p:ph type="title"/>
          </p:nvPr>
        </p:nvSpPr>
        <p:spPr/>
        <p:txBody>
          <a:bodyPr/>
          <a:lstStyle/>
          <a:p>
            <a:r>
              <a:rPr lang="zh-CN" altLang="en-US"/>
              <a:t>损失函数</a:t>
            </a:r>
            <a:endParaRPr lang="zh-CN" altLang="en-US" dirty="0"/>
          </a:p>
        </p:txBody>
      </p:sp>
      <mc:AlternateContent xmlns:mc="http://schemas.openxmlformats.org/markup-compatibility/2006" xmlns:a14="http://schemas.microsoft.com/office/drawing/2010/main">
        <mc:Choice Requires="a14">
          <p:sp>
            <p:nvSpPr>
              <p:cNvPr id="10" name="文本框 9"/>
              <p:cNvSpPr txBox="1"/>
              <p:nvPr/>
            </p:nvSpPr>
            <p:spPr>
              <a:xfrm>
                <a:off x="677770" y="892773"/>
                <a:ext cx="11132988" cy="472052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我们希望从这个函数空间中找到一个最佳函数来逼近这组数据背后的目标函数。为了实现这一点，我们通常会定义一个</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损失函数</a:t>
                </a:r>
                <a14:m>
                  <m:oMath xmlns:m="http://schemas.openxmlformats.org/officeDocument/2006/math">
                    <m:r>
                      <m:rPr>
                        <m:sty m:val="p"/>
                      </m:rPr>
                      <a:rPr kumimoji="0" lang="en-US" altLang="zh-CN" sz="2000" b="1"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R</m:t>
                    </m:r>
                    <m:d>
                      <m:dPr>
                        <m:ctrlP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e>
                    </m:d>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𝑙</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来衡量模型</a:t>
                </a:r>
                <a14:m>
                  <m:oMath xmlns:m="http://schemas.openxmlformats.org/officeDocument/2006/math">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与目标函数</a:t>
                </a:r>
                <a14:m>
                  <m:oMath xmlns:m="http://schemas.openxmlformats.org/officeDocument/2006/math">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之间的差距。</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000" dirty="0">
                    <a:solidFill>
                      <a:srgbClr val="070707"/>
                    </a:solidFill>
                    <a:ea typeface="微软雅黑" panose="020B0503020204020204" pitchFamily="34" charset="-122"/>
                  </a:rPr>
                  <a:t>在数据集</a:t>
                </a:r>
                <a14:m>
                  <m:oMath xmlns:m="http://schemas.openxmlformats.org/officeDocument/2006/math">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sup>
                    </m:sSub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上定义常见的损失函数：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均方误差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Mean Squared Error, MSE </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绝对误差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Mean Absolute Error</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MAE</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677770" y="892773"/>
                <a:ext cx="11132988" cy="4720523"/>
              </a:xfrm>
              <a:prstGeom prst="rect">
                <a:avLst/>
              </a:prstGeom>
              <a:blipFill>
                <a:blip r:embed="rId3"/>
                <a:stretch>
                  <a:fillRect l="-548" r="-548"/>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4304889" y="2808908"/>
            <a:ext cx="3582216" cy="812870"/>
          </a:xfrm>
          <a:prstGeom prst="rect">
            <a:avLst/>
          </a:prstGeom>
        </p:spPr>
      </p:pic>
      <p:pic>
        <p:nvPicPr>
          <p:cNvPr id="9" name="图片 8"/>
          <p:cNvPicPr>
            <a:picLocks noChangeAspect="1"/>
          </p:cNvPicPr>
          <p:nvPr/>
        </p:nvPicPr>
        <p:blipFill>
          <a:blip r:embed="rId5"/>
          <a:stretch>
            <a:fillRect/>
          </a:stretch>
        </p:blipFill>
        <p:spPr>
          <a:xfrm>
            <a:off x="4177314" y="4229030"/>
            <a:ext cx="3837367" cy="812870"/>
          </a:xfrm>
          <a:prstGeom prst="rect">
            <a:avLst/>
          </a:prstGeom>
        </p:spPr>
      </p:pic>
      <p:sp>
        <p:nvSpPr>
          <p:cNvPr id="2" name="文本框 1">
            <a:extLst>
              <a:ext uri="{FF2B5EF4-FFF2-40B4-BE49-F238E27FC236}">
                <a16:creationId xmlns:a16="http://schemas.microsoft.com/office/drawing/2014/main" id="{0ECCD142-776C-C259-7234-4072EE47B005}"/>
              </a:ext>
            </a:extLst>
          </p:cNvPr>
          <p:cNvSpPr txBox="1"/>
          <p:nvPr/>
        </p:nvSpPr>
        <p:spPr>
          <a:xfrm>
            <a:off x="8372267" y="4379767"/>
            <a:ext cx="308090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思考：可以去掉绝对值吗？</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82E3A-9C5E-D75B-4988-CA559429FB78}"/>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3D9FA70C-27E8-C284-3356-E518B2EC2AB3}"/>
              </a:ext>
            </a:extLst>
          </p:cNvPr>
          <p:cNvPicPr>
            <a:picLocks noChangeAspect="1"/>
          </p:cNvPicPr>
          <p:nvPr/>
        </p:nvPicPr>
        <p:blipFill>
          <a:blip r:embed="rId2"/>
          <a:stretch>
            <a:fillRect/>
          </a:stretch>
        </p:blipFill>
        <p:spPr>
          <a:xfrm>
            <a:off x="3405993" y="1299263"/>
            <a:ext cx="5930343" cy="763985"/>
          </a:xfrm>
          <a:prstGeom prst="rect">
            <a:avLst/>
          </a:prstGeom>
        </p:spPr>
      </p:pic>
      <p:sp>
        <p:nvSpPr>
          <p:cNvPr id="3" name="标题 2">
            <a:extLst>
              <a:ext uri="{FF2B5EF4-FFF2-40B4-BE49-F238E27FC236}">
                <a16:creationId xmlns:a16="http://schemas.microsoft.com/office/drawing/2014/main" id="{927CA340-4F48-A90F-4E34-021BF11F05C7}"/>
              </a:ext>
            </a:extLst>
          </p:cNvPr>
          <p:cNvSpPr>
            <a:spLocks noGrp="1"/>
          </p:cNvSpPr>
          <p:nvPr>
            <p:ph type="title"/>
          </p:nvPr>
        </p:nvSpPr>
        <p:spPr/>
        <p:txBody>
          <a:bodyPr/>
          <a:lstStyle/>
          <a:p>
            <a:r>
              <a:rPr lang="zh-CN" altLang="en-US"/>
              <a:t>损失函数</a:t>
            </a:r>
            <a:endParaRPr lang="zh-CN" altLang="en-US" dirty="0"/>
          </a:p>
        </p:txBody>
      </p:sp>
      <p:sp>
        <p:nvSpPr>
          <p:cNvPr id="10" name="文本框 9">
            <a:extLst>
              <a:ext uri="{FF2B5EF4-FFF2-40B4-BE49-F238E27FC236}">
                <a16:creationId xmlns:a16="http://schemas.microsoft.com/office/drawing/2014/main" id="{E8900FAA-D382-25C0-07F1-8BF851592F50}"/>
              </a:ext>
            </a:extLst>
          </p:cNvPr>
          <p:cNvSpPr txBox="1"/>
          <p:nvPr/>
        </p:nvSpPr>
        <p:spPr>
          <a:xfrm>
            <a:off x="677770" y="892773"/>
            <a:ext cx="11132988" cy="49962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0537E56E-4172-8F68-7EE0-6CF290A54A4A}"/>
              </a:ext>
            </a:extLst>
          </p:cNvPr>
          <p:cNvPicPr>
            <a:picLocks noChangeAspect="1"/>
          </p:cNvPicPr>
          <p:nvPr/>
        </p:nvPicPr>
        <p:blipFill>
          <a:blip r:embed="rId3"/>
          <a:stretch>
            <a:fillRect/>
          </a:stretch>
        </p:blipFill>
        <p:spPr>
          <a:xfrm>
            <a:off x="2059513" y="2156382"/>
            <a:ext cx="8278287" cy="4139144"/>
          </a:xfrm>
          <a:prstGeom prst="rect">
            <a:avLst/>
          </a:prstGeom>
        </p:spPr>
      </p:pic>
    </p:spTree>
    <p:extLst>
      <p:ext uri="{BB962C8B-B14F-4D97-AF65-F5344CB8AC3E}">
        <p14:creationId xmlns:p14="http://schemas.microsoft.com/office/powerpoint/2010/main" val="77747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A3007-125B-C41F-A814-071AF641C2D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6BA0162-2511-A9CA-DB4D-458686FC8079}"/>
              </a:ext>
            </a:extLst>
          </p:cNvPr>
          <p:cNvSpPr>
            <a:spLocks noGrp="1"/>
          </p:cNvSpPr>
          <p:nvPr>
            <p:ph type="title"/>
          </p:nvPr>
        </p:nvSpPr>
        <p:spPr/>
        <p:txBody>
          <a:bodyPr/>
          <a:lstStyle/>
          <a:p>
            <a:r>
              <a:rPr lang="en-US" altLang="zh-CN" dirty="0" err="1"/>
              <a:t>Softmax</a:t>
            </a:r>
            <a:r>
              <a:rPr lang="en-US" altLang="zh-CN" dirty="0"/>
              <a:t>,</a:t>
            </a:r>
            <a:r>
              <a:rPr lang="zh-CN" altLang="en-US" dirty="0"/>
              <a:t>困惑度（</a:t>
            </a:r>
            <a:r>
              <a:rPr lang="en-US" altLang="zh-CN" dirty="0"/>
              <a:t>Perplexity</a:t>
            </a:r>
            <a:r>
              <a:rPr lang="zh-CN" altLang="en-US" dirty="0"/>
              <a:t>）</a:t>
            </a:r>
            <a:r>
              <a:rPr lang="en-US" altLang="zh-CN" dirty="0"/>
              <a:t> </a:t>
            </a:r>
            <a:endParaRPr lang="zh-CN" altLang="en-US" dirty="0"/>
          </a:p>
        </p:txBody>
      </p:sp>
      <p:pic>
        <p:nvPicPr>
          <p:cNvPr id="4" name="图片 3">
            <a:extLst>
              <a:ext uri="{FF2B5EF4-FFF2-40B4-BE49-F238E27FC236}">
                <a16:creationId xmlns:a16="http://schemas.microsoft.com/office/drawing/2014/main" id="{D4E18A90-F2CB-49A4-29A5-8A6EE52CD900}"/>
              </a:ext>
            </a:extLst>
          </p:cNvPr>
          <p:cNvPicPr>
            <a:picLocks noChangeAspect="1"/>
          </p:cNvPicPr>
          <p:nvPr/>
        </p:nvPicPr>
        <p:blipFill>
          <a:blip r:embed="rId2"/>
          <a:stretch>
            <a:fillRect/>
          </a:stretch>
        </p:blipFill>
        <p:spPr>
          <a:xfrm>
            <a:off x="996257" y="980683"/>
            <a:ext cx="9935633" cy="2099888"/>
          </a:xfrm>
          <a:prstGeom prst="rect">
            <a:avLst/>
          </a:prstGeom>
        </p:spPr>
      </p:pic>
      <p:pic>
        <p:nvPicPr>
          <p:cNvPr id="7" name="图片 6">
            <a:extLst>
              <a:ext uri="{FF2B5EF4-FFF2-40B4-BE49-F238E27FC236}">
                <a16:creationId xmlns:a16="http://schemas.microsoft.com/office/drawing/2014/main" id="{6C0CEDF8-DE1F-F2C2-C89D-C9FA8D4CA2BA}"/>
              </a:ext>
            </a:extLst>
          </p:cNvPr>
          <p:cNvPicPr>
            <a:picLocks noChangeAspect="1"/>
          </p:cNvPicPr>
          <p:nvPr/>
        </p:nvPicPr>
        <p:blipFill>
          <a:blip r:embed="rId3"/>
          <a:stretch>
            <a:fillRect/>
          </a:stretch>
        </p:blipFill>
        <p:spPr>
          <a:xfrm>
            <a:off x="1073843" y="3382433"/>
            <a:ext cx="9943668" cy="2353733"/>
          </a:xfrm>
          <a:prstGeom prst="rect">
            <a:avLst/>
          </a:prstGeom>
        </p:spPr>
      </p:pic>
    </p:spTree>
    <p:extLst>
      <p:ext uri="{BB962C8B-B14F-4D97-AF65-F5344CB8AC3E}">
        <p14:creationId xmlns:p14="http://schemas.microsoft.com/office/powerpoint/2010/main" val="3380103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7119-BAAF-7B38-52C1-3BEEE45BD78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D606EFA-41DC-8057-BC81-65C72FF1EB6F}"/>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pic>
        <p:nvPicPr>
          <p:cNvPr id="2" name="图片 1">
            <a:extLst>
              <a:ext uri="{FF2B5EF4-FFF2-40B4-BE49-F238E27FC236}">
                <a16:creationId xmlns:a16="http://schemas.microsoft.com/office/drawing/2014/main" id="{515991EC-0F0D-89B6-769B-CD174BED47F6}"/>
              </a:ext>
            </a:extLst>
          </p:cNvPr>
          <p:cNvPicPr>
            <a:picLocks noChangeAspect="1"/>
          </p:cNvPicPr>
          <p:nvPr/>
        </p:nvPicPr>
        <p:blipFill>
          <a:blip r:embed="rId3"/>
          <a:srcRect t="50642" r="50950" b="6088"/>
          <a:stretch>
            <a:fillRect/>
          </a:stretch>
        </p:blipFill>
        <p:spPr>
          <a:xfrm>
            <a:off x="2824113" y="1428692"/>
            <a:ext cx="7037049" cy="3570875"/>
          </a:xfrm>
          <a:prstGeom prst="rect">
            <a:avLst/>
          </a:prstGeom>
        </p:spPr>
      </p:pic>
    </p:spTree>
    <p:custDataLst>
      <p:tags r:id="rId1"/>
    </p:custDataLst>
    <p:extLst>
      <p:ext uri="{BB962C8B-B14F-4D97-AF65-F5344CB8AC3E}">
        <p14:creationId xmlns:p14="http://schemas.microsoft.com/office/powerpoint/2010/main" val="3080143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14020" y="880110"/>
            <a:ext cx="10202545" cy="583565"/>
          </a:xfrm>
          <a:prstGeom prst="rect">
            <a:avLst/>
          </a:prstGeom>
          <a:noFill/>
        </p:spPr>
        <p:txBody>
          <a:bodyPr wrap="square" rtlCol="0">
            <a:spAutoFit/>
          </a:bodyPr>
          <a:lstStyle/>
          <a:p>
            <a:r>
              <a:rPr lang="en-US" altLang="zh-CN" sz="3200"/>
              <a:t>Lecun Initializatioin</a:t>
            </a:r>
          </a:p>
        </p:txBody>
      </p:sp>
      <p:sp>
        <p:nvSpPr>
          <p:cNvPr id="7" name="文本框 6"/>
          <p:cNvSpPr txBox="1"/>
          <p:nvPr>
            <p:custDataLst>
              <p:tags r:id="rId2"/>
            </p:custDataLst>
          </p:nvPr>
        </p:nvSpPr>
        <p:spPr>
          <a:xfrm>
            <a:off x="465667" y="2392045"/>
            <a:ext cx="7187565" cy="583565"/>
          </a:xfrm>
          <a:prstGeom prst="rect">
            <a:avLst/>
          </a:prstGeom>
          <a:noFill/>
        </p:spPr>
        <p:txBody>
          <a:bodyPr wrap="square" rtlCol="0">
            <a:spAutoFit/>
          </a:bodyPr>
          <a:lstStyle/>
          <a:p>
            <a:r>
              <a:rPr lang="en-US" altLang="zh-CN" sz="3200"/>
              <a:t>Xavier Initialization</a:t>
            </a:r>
          </a:p>
        </p:txBody>
      </p:sp>
      <p:sp>
        <p:nvSpPr>
          <p:cNvPr id="14" name="文本框 13"/>
          <p:cNvSpPr txBox="1"/>
          <p:nvPr/>
        </p:nvSpPr>
        <p:spPr>
          <a:xfrm>
            <a:off x="465667" y="3931164"/>
            <a:ext cx="6096000" cy="583565"/>
          </a:xfrm>
          <a:prstGeom prst="rect">
            <a:avLst/>
          </a:prstGeom>
          <a:noFill/>
        </p:spPr>
        <p:txBody>
          <a:bodyPr wrap="square" rtlCol="0" anchor="t">
            <a:spAutoFit/>
          </a:bodyPr>
          <a:lstStyle/>
          <a:p>
            <a:r>
              <a:rPr lang="zh-CN" altLang="en-US" sz="3200" dirty="0"/>
              <a:t>Kaiming Initialization</a:t>
            </a:r>
          </a:p>
        </p:txBody>
      </p:sp>
      <p:sp>
        <p:nvSpPr>
          <p:cNvPr id="3" name="标题 2">
            <a:extLst>
              <a:ext uri="{FF2B5EF4-FFF2-40B4-BE49-F238E27FC236}">
                <a16:creationId xmlns:a16="http://schemas.microsoft.com/office/drawing/2014/main" id="{A29263F6-FAF4-5C6B-6749-D42F03B45D83}"/>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sp>
        <p:nvSpPr>
          <p:cNvPr id="9" name="文本框 8">
            <a:extLst>
              <a:ext uri="{FF2B5EF4-FFF2-40B4-BE49-F238E27FC236}">
                <a16:creationId xmlns:a16="http://schemas.microsoft.com/office/drawing/2014/main" id="{09CAF7DA-951A-9D7C-F755-DDD67FE3BB73}"/>
              </a:ext>
            </a:extLst>
          </p:cNvPr>
          <p:cNvSpPr txBox="1"/>
          <p:nvPr/>
        </p:nvSpPr>
        <p:spPr>
          <a:xfrm>
            <a:off x="381242" y="5169686"/>
            <a:ext cx="4908550" cy="1015663"/>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solidFill>
                  <a:schemeClr val="tx2"/>
                </a:solidFill>
              </a:rPr>
              <a:t>模型越大，初始化越小</a:t>
            </a:r>
            <a:endParaRPr lang="en-US" altLang="zh-CN" sz="2000" dirty="0">
              <a:solidFill>
                <a:schemeClr val="tx2"/>
              </a:solidFill>
            </a:endParaRPr>
          </a:p>
          <a:p>
            <a:pPr marL="342900" indent="-342900" algn="l">
              <a:buFont typeface="Arial" panose="020B0604020202020204" pitchFamily="34" charset="0"/>
              <a:buChar char="•"/>
            </a:pPr>
            <a:r>
              <a:rPr lang="zh-CN" altLang="en-US" sz="2000" dirty="0">
                <a:solidFill>
                  <a:schemeClr val="tx2"/>
                </a:solidFill>
              </a:rPr>
              <a:t>初始化对结果影响很大</a:t>
            </a:r>
            <a:endParaRPr lang="en-US" altLang="zh-CN" sz="2000" dirty="0">
              <a:solidFill>
                <a:schemeClr val="tx2"/>
              </a:solidFill>
            </a:endParaRPr>
          </a:p>
          <a:p>
            <a:pPr marL="342900" indent="-342900" algn="l">
              <a:buFont typeface="Arial" panose="020B0604020202020204" pitchFamily="34" charset="0"/>
              <a:buChar char="•"/>
            </a:pPr>
            <a:r>
              <a:rPr lang="zh-CN" altLang="en-US" sz="2000" dirty="0">
                <a:solidFill>
                  <a:schemeClr val="tx2"/>
                </a:solidFill>
              </a:rPr>
              <a:t>大语言模型的训练一般不用这些初始化</a:t>
            </a:r>
          </a:p>
        </p:txBody>
      </p:sp>
      <p:pic>
        <p:nvPicPr>
          <p:cNvPr id="12" name="图片 11">
            <a:extLst>
              <a:ext uri="{FF2B5EF4-FFF2-40B4-BE49-F238E27FC236}">
                <a16:creationId xmlns:a16="http://schemas.microsoft.com/office/drawing/2014/main" id="{80151A20-35D0-2B12-7479-1152F4A6BD09}"/>
              </a:ext>
            </a:extLst>
          </p:cNvPr>
          <p:cNvPicPr>
            <a:picLocks noChangeAspect="1"/>
          </p:cNvPicPr>
          <p:nvPr/>
        </p:nvPicPr>
        <p:blipFill>
          <a:blip r:embed="rId4"/>
          <a:stretch>
            <a:fillRect/>
          </a:stretch>
        </p:blipFill>
        <p:spPr>
          <a:xfrm>
            <a:off x="3378200" y="1498845"/>
            <a:ext cx="5880100" cy="988767"/>
          </a:xfrm>
          <a:prstGeom prst="rect">
            <a:avLst/>
          </a:prstGeom>
        </p:spPr>
      </p:pic>
      <p:pic>
        <p:nvPicPr>
          <p:cNvPr id="15" name="图片 14">
            <a:extLst>
              <a:ext uri="{FF2B5EF4-FFF2-40B4-BE49-F238E27FC236}">
                <a16:creationId xmlns:a16="http://schemas.microsoft.com/office/drawing/2014/main" id="{DB5E08A5-D267-C0E1-2720-887D273189F2}"/>
              </a:ext>
            </a:extLst>
          </p:cNvPr>
          <p:cNvPicPr>
            <a:picLocks noChangeAspect="1"/>
          </p:cNvPicPr>
          <p:nvPr/>
        </p:nvPicPr>
        <p:blipFill>
          <a:blip r:embed="rId5"/>
          <a:stretch>
            <a:fillRect/>
          </a:stretch>
        </p:blipFill>
        <p:spPr>
          <a:xfrm>
            <a:off x="3357879" y="2956055"/>
            <a:ext cx="7269481" cy="1110740"/>
          </a:xfrm>
          <a:prstGeom prst="rect">
            <a:avLst/>
          </a:prstGeom>
        </p:spPr>
      </p:pic>
      <p:pic>
        <p:nvPicPr>
          <p:cNvPr id="17" name="图片 16">
            <a:extLst>
              <a:ext uri="{FF2B5EF4-FFF2-40B4-BE49-F238E27FC236}">
                <a16:creationId xmlns:a16="http://schemas.microsoft.com/office/drawing/2014/main" id="{88498088-2196-9F29-8737-FF239F9B6316}"/>
              </a:ext>
            </a:extLst>
          </p:cNvPr>
          <p:cNvPicPr>
            <a:picLocks noChangeAspect="1"/>
          </p:cNvPicPr>
          <p:nvPr/>
        </p:nvPicPr>
        <p:blipFill>
          <a:blip r:embed="rId6"/>
          <a:stretch>
            <a:fillRect/>
          </a:stretch>
        </p:blipFill>
        <p:spPr>
          <a:xfrm>
            <a:off x="3357879" y="4460203"/>
            <a:ext cx="6887633" cy="1196056"/>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实验</a:t>
            </a:r>
          </a:p>
        </p:txBody>
      </p:sp>
    </p:spTree>
    <p:extLst>
      <p:ext uri="{BB962C8B-B14F-4D97-AF65-F5344CB8AC3E}">
        <p14:creationId xmlns:p14="http://schemas.microsoft.com/office/powerpoint/2010/main" val="2872320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2807948"/>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机会。</a:t>
            </a:r>
            <a:endParaRPr lang="en-US" altLang="zh-CN" sz="2000"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b="1"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2327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CNN: </a:t>
            </a:r>
            <a:r>
              <a:rPr lang="en-US" altLang="zh-CN" sz="2000" dirty="0">
                <a:hlinkClick r:id="rId4"/>
              </a:rPr>
              <a:t>CNN-Cifar10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LSTM + Transformer: </a:t>
            </a:r>
            <a:r>
              <a:rPr lang="en-US" altLang="zh-CN" sz="2000" dirty="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4730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经典分类任务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MNIST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DC178AE6-5D79-83F6-7601-A89FF27C3A50}"/>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BFE89C92-3DC2-5AE7-8DA1-C7ECF32D41D8}"/>
              </a:ext>
            </a:extLst>
          </p:cNvPr>
          <p:cNvSpPr txBox="1"/>
          <p:nvPr/>
        </p:nvSpPr>
        <p:spPr>
          <a:xfrm>
            <a:off x="380999" y="1012121"/>
            <a:ext cx="11255830" cy="3731278"/>
          </a:xfrm>
          <a:prstGeom prst="rect">
            <a:avLst/>
          </a:prstGeom>
          <a:noFill/>
        </p:spPr>
        <p:txBody>
          <a:bodyPr wrap="square" rtlCol="0">
            <a:spAutoFit/>
          </a:bodyPr>
          <a:lstStyle/>
          <a:p>
            <a:pPr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是一个被广泛使用的手写数字图像数据集。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内容：</a:t>
            </a:r>
            <a:r>
              <a:rPr lang="en-US" altLang="zh-CN" sz="2000" dirty="0">
                <a:solidFill>
                  <a:schemeClr val="tx2"/>
                </a:solidFill>
                <a:latin typeface="微软雅黑" panose="020B0503020204020204" pitchFamily="34" charset="-122"/>
                <a:ea typeface="微软雅黑" panose="020B0503020204020204" pitchFamily="34" charset="-122"/>
              </a:rPr>
              <a:t>70,000 </a:t>
            </a:r>
            <a:r>
              <a:rPr lang="zh-CN" altLang="en-US" sz="2000" dirty="0">
                <a:solidFill>
                  <a:schemeClr val="tx2"/>
                </a:solidFill>
                <a:latin typeface="微软雅黑" panose="020B0503020204020204" pitchFamily="34" charset="-122"/>
                <a:ea typeface="微软雅黑" panose="020B0503020204020204" pitchFamily="34" charset="-122"/>
              </a:rPr>
              <a:t>张 </a:t>
            </a:r>
            <a:r>
              <a:rPr lang="en-US" altLang="zh-CN" sz="2000" dirty="0">
                <a:solidFill>
                  <a:schemeClr val="tx2"/>
                </a:solidFill>
                <a:latin typeface="微软雅黑" panose="020B0503020204020204" pitchFamily="34" charset="-122"/>
                <a:ea typeface="微软雅黑" panose="020B0503020204020204" pitchFamily="34" charset="-122"/>
              </a:rPr>
              <a:t>28x28 </a:t>
            </a:r>
            <a:r>
              <a:rPr lang="zh-CN" altLang="en-US" sz="2000" dirty="0">
                <a:solidFill>
                  <a:schemeClr val="tx2"/>
                </a:solidFill>
                <a:latin typeface="微软雅黑" panose="020B0503020204020204" pitchFamily="34" charset="-122"/>
                <a:ea typeface="微软雅黑" panose="020B0503020204020204" pitchFamily="34" charset="-122"/>
              </a:rPr>
              <a:t>像素的灰度手写数字图片（</a:t>
            </a:r>
            <a:r>
              <a:rPr lang="en-US" altLang="zh-CN" sz="2000" dirty="0">
                <a:solidFill>
                  <a:schemeClr val="tx2"/>
                </a:solidFill>
                <a:latin typeface="微软雅黑" panose="020B0503020204020204" pitchFamily="34" charset="-122"/>
                <a:ea typeface="微软雅黑" panose="020B0503020204020204" pitchFamily="34" charset="-122"/>
              </a:rPr>
              <a:t>0-9</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划分：</a:t>
            </a:r>
            <a:r>
              <a:rPr lang="en-US" altLang="zh-CN" sz="2000" dirty="0">
                <a:solidFill>
                  <a:schemeClr val="tx2"/>
                </a:solidFill>
                <a:latin typeface="微软雅黑" panose="020B0503020204020204" pitchFamily="34" charset="-122"/>
                <a:ea typeface="微软雅黑" panose="020B0503020204020204" pitchFamily="34" charset="-122"/>
              </a:rPr>
              <a:t>60,000 </a:t>
            </a:r>
            <a:r>
              <a:rPr lang="zh-CN" altLang="en-US" sz="2000" dirty="0">
                <a:solidFill>
                  <a:schemeClr val="tx2"/>
                </a:solidFill>
                <a:latin typeface="微软雅黑" panose="020B0503020204020204" pitchFamily="34" charset="-122"/>
                <a:ea typeface="微软雅黑" panose="020B0503020204020204" pitchFamily="34" charset="-122"/>
              </a:rPr>
              <a:t>张用于训练，</a:t>
            </a:r>
            <a:r>
              <a:rPr lang="en-US" altLang="zh-CN" sz="2000" dirty="0">
                <a:solidFill>
                  <a:schemeClr val="tx2"/>
                </a:solidFill>
                <a:latin typeface="微软雅黑" panose="020B0503020204020204" pitchFamily="34" charset="-122"/>
                <a:ea typeface="微软雅黑" panose="020B0503020204020204" pitchFamily="34" charset="-122"/>
              </a:rPr>
              <a:t>10,000 </a:t>
            </a:r>
            <a:r>
              <a:rPr lang="zh-CN" altLang="en-US" sz="2000" dirty="0">
                <a:solidFill>
                  <a:schemeClr val="tx2"/>
                </a:solidFill>
                <a:latin typeface="微软雅黑" panose="020B0503020204020204" pitchFamily="34" charset="-122"/>
                <a:ea typeface="微软雅黑" panose="020B0503020204020204" pitchFamily="34" charset="-122"/>
              </a:rPr>
              <a:t>张用于测试</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地位：由 </a:t>
            </a:r>
            <a:r>
              <a:rPr lang="en-US" altLang="zh-CN" sz="2000" dirty="0">
                <a:solidFill>
                  <a:schemeClr val="tx2"/>
                </a:solidFill>
                <a:latin typeface="微软雅黑" panose="020B0503020204020204" pitchFamily="34" charset="-122"/>
                <a:ea typeface="微软雅黑" panose="020B0503020204020204" pitchFamily="34" charset="-122"/>
              </a:rPr>
              <a:t>Yann </a:t>
            </a:r>
            <a:r>
              <a:rPr lang="en-US" altLang="zh-CN" sz="2000" dirty="0" err="1">
                <a:solidFill>
                  <a:schemeClr val="tx2"/>
                </a:solidFill>
                <a:latin typeface="微软雅黑" panose="020B0503020204020204" pitchFamily="34" charset="-122"/>
                <a:ea typeface="微软雅黑" panose="020B0503020204020204" pitchFamily="34" charset="-122"/>
              </a:rPr>
              <a:t>Lecun</a:t>
            </a:r>
            <a:r>
              <a:rPr lang="en-US" altLang="zh-CN" sz="2000" dirty="0">
                <a:solidFill>
                  <a:schemeClr val="tx2"/>
                </a:solidFill>
                <a:latin typeface="微软雅黑" panose="020B0503020204020204" pitchFamily="34" charset="-122"/>
                <a:ea typeface="微软雅黑" panose="020B0503020204020204" pitchFamily="34" charset="-122"/>
              </a:rPr>
              <a:t> </a:t>
            </a:r>
            <a:r>
              <a:rPr lang="zh-CN" altLang="en-US" sz="2000" dirty="0">
                <a:solidFill>
                  <a:schemeClr val="tx2"/>
                </a:solidFill>
                <a:latin typeface="微软雅黑" panose="020B0503020204020204" pitchFamily="34" charset="-122"/>
                <a:ea typeface="微软雅黑" panose="020B0503020204020204" pitchFamily="34" charset="-122"/>
              </a:rPr>
              <a:t>创建，是机器学习特别是图像分类领域最经典、最常用的“入门级”基准数据集，常被称为图像分类领域的“</a:t>
            </a:r>
            <a:r>
              <a:rPr lang="en-US" altLang="zh-CN" sz="2000" dirty="0">
                <a:solidFill>
                  <a:schemeClr val="tx2"/>
                </a:solidFill>
                <a:latin typeface="微软雅黑" panose="020B0503020204020204" pitchFamily="34" charset="-122"/>
                <a:ea typeface="微软雅黑" panose="020B0503020204020204" pitchFamily="34" charset="-122"/>
              </a:rPr>
              <a:t>Hello World”</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CAFB6E47-915B-E8C5-BD12-755C6CB2D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3168" y="4069616"/>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490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代码简介</a:t>
            </a:r>
          </a:p>
        </p:txBody>
      </p:sp>
      <p:sp>
        <p:nvSpPr>
          <p:cNvPr id="2" name="文本框 1">
            <a:extLst>
              <a:ext uri="{FF2B5EF4-FFF2-40B4-BE49-F238E27FC236}">
                <a16:creationId xmlns:a16="http://schemas.microsoft.com/office/drawing/2014/main" id="{114D424B-660C-2D83-3B83-7BA94B7C3A4D}"/>
              </a:ext>
            </a:extLst>
          </p:cNvPr>
          <p:cNvSpPr txBox="1"/>
          <p:nvPr/>
        </p:nvSpPr>
        <p:spPr>
          <a:xfrm>
            <a:off x="380999" y="1012121"/>
            <a:ext cx="11255830" cy="4654608"/>
          </a:xfrm>
          <a:prstGeom prst="rect">
            <a:avLst/>
          </a:prstGeom>
          <a:noFill/>
        </p:spPr>
        <p:txBody>
          <a:bodyPr wrap="square" rtlCol="0">
            <a:spAutoFit/>
          </a:bodyPr>
          <a:lstStyle/>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r>
              <a:rPr lang="en-US" altLang="zh-CN" sz="2000" dirty="0">
                <a:hlinkClick r:id="rId2"/>
              </a:rPr>
              <a:t>MNIST_AND_MLP2 | Kaggle</a:t>
            </a:r>
            <a:endParaRPr lang="en-US" altLang="zh-CN" sz="2000" dirty="0"/>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实现了：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读取加载 </a:t>
            </a: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根据超参数</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其他两个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同理</a:t>
            </a: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EAA9300-109C-FDF2-3D59-07740A81B219}"/>
              </a:ext>
            </a:extLst>
          </p:cNvPr>
          <p:cNvPicPr>
            <a:picLocks noChangeAspect="1"/>
          </p:cNvPicPr>
          <p:nvPr/>
        </p:nvPicPr>
        <p:blipFill>
          <a:blip r:embed="rId3"/>
          <a:stretch>
            <a:fillRect/>
          </a:stretch>
        </p:blipFill>
        <p:spPr>
          <a:xfrm>
            <a:off x="380999" y="823764"/>
            <a:ext cx="8314956" cy="2501500"/>
          </a:xfrm>
          <a:prstGeom prst="rect">
            <a:avLst/>
          </a:prstGeom>
        </p:spPr>
      </p:pic>
    </p:spTree>
    <p:extLst>
      <p:ext uri="{BB962C8B-B14F-4D97-AF65-F5344CB8AC3E}">
        <p14:creationId xmlns:p14="http://schemas.microsoft.com/office/powerpoint/2010/main" val="444560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409119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1098297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习题</a:t>
            </a:r>
            <a:endParaRPr lang="zh-CN" altLang="en-US" dirty="0"/>
          </a:p>
        </p:txBody>
      </p:sp>
      <p:sp>
        <p:nvSpPr>
          <p:cNvPr id="6" name="文本框 5">
            <a:extLst>
              <a:ext uri="{FF2B5EF4-FFF2-40B4-BE49-F238E27FC236}">
                <a16:creationId xmlns:a16="http://schemas.microsoft.com/office/drawing/2014/main" id="{A24480AD-8A3A-408E-B28E-B717A0983F40}"/>
              </a:ext>
            </a:extLst>
          </p:cNvPr>
          <p:cNvSpPr txBox="1"/>
          <p:nvPr/>
        </p:nvSpPr>
        <p:spPr>
          <a:xfrm>
            <a:off x="101059" y="6351998"/>
            <a:ext cx="9639572" cy="37728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深度学习现象导论</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许志钦、张耀宇 </a:t>
            </a:r>
            <a:r>
              <a:rPr lang="en-US" altLang="zh-CN" sz="1400" dirty="0">
                <a:solidFill>
                  <a:schemeClr val="bg1"/>
                </a:solidFill>
                <a:latin typeface="Times New Roman" panose="02020603050405020304" pitchFamily="18" charset="0"/>
                <a:cs typeface="Times New Roman" panose="02020603050405020304" pitchFamily="18" charset="0"/>
              </a:rPr>
              <a:t>https://github.com/xuzhiqin1990/understanding_dl</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381242" y="981154"/>
            <a:ext cx="11429516" cy="5333856"/>
          </a:xfrm>
        </p:spPr>
        <p:txBody>
          <a:bodyPr>
            <a:normAutofit/>
          </a:bodyPr>
          <a:lstStyle/>
          <a:p>
            <a:pPr marL="342900" indent="-342900">
              <a:buFont typeface="+mj-lt"/>
              <a:buAutoNum type="arabicPeriod"/>
            </a:pPr>
            <a:r>
              <a:rPr kumimoji="1" lang="zh-CN" altLang="en-US" b="0" dirty="0"/>
              <a:t>残差网络中的跳跃连接（</a:t>
            </a:r>
            <a:r>
              <a:rPr kumimoji="1" lang="en-US" altLang="zh-CN" b="0" dirty="0"/>
              <a:t>Skip Connection</a:t>
            </a:r>
            <a:r>
              <a:rPr kumimoji="1" lang="zh-CN" altLang="en-US" b="0" dirty="0"/>
              <a:t>）对缓解梯度消失问题有重要作用。请推导残差网络中梯度反向传播的公式，并说明该公式如何体现出残差连接有助于梯度传播。</a:t>
            </a:r>
          </a:p>
        </p:txBody>
      </p:sp>
    </p:spTree>
    <p:extLst>
      <p:ext uri="{BB962C8B-B14F-4D97-AF65-F5344CB8AC3E}">
        <p14:creationId xmlns:p14="http://schemas.microsoft.com/office/powerpoint/2010/main" val="3192064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参考答案</a:t>
            </a:r>
            <a:endParaRPr lang="zh-CN" altLang="en-US" dirty="0"/>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210941" y="839894"/>
                <a:ext cx="12074918" cy="5333856"/>
              </a:xfrm>
            </p:spPr>
            <p:txBody>
              <a:bodyPr>
                <a:noAutofit/>
              </a:bodyPr>
              <a:lstStyle/>
              <a:p>
                <a:r>
                  <a:rPr kumimoji="1" lang="zh-CN" altLang="en-US" sz="2000" b="0" dirty="0"/>
                  <a:t>假设网络有</a:t>
                </a:r>
                <a14:m>
                  <m:oMath xmlns:m="http://schemas.openxmlformats.org/officeDocument/2006/math">
                    <m:r>
                      <a:rPr kumimoji="1" lang="en-US" altLang="zh-CN" sz="2000" b="0" i="1" smtClean="0">
                        <a:latin typeface="Cambria Math" panose="02040503050406030204" pitchFamily="18" charset="0"/>
                      </a:rPr>
                      <m:t>𝐾</m:t>
                    </m:r>
                  </m:oMath>
                </a14:m>
                <a:r>
                  <a:rPr kumimoji="1" lang="zh-CN" altLang="en-US" sz="2000" b="0" dirty="0"/>
                  <a:t>层，每一层都具有残差连接，即</a:t>
                </a:r>
                <a:endParaRPr kumimoji="1" lang="en-US" altLang="zh-CN" sz="2000" b="0"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+1)</m:t>
                          </m:r>
                        </m:sup>
                      </m:sSup>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𝐹</m:t>
                      </m:r>
                      <m:d>
                        <m:dPr>
                          <m:ctrlPr>
                            <a:rPr kumimoji="1" lang="en-US" altLang="zh-CN" sz="2000" b="0" i="1" smtClean="0">
                              <a:latin typeface="Cambria Math" panose="02040503050406030204" pitchFamily="18" charset="0"/>
                            </a:rPr>
                          </m:ctrlPr>
                        </m:dPr>
                        <m:e>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smtClean="0">
                                      <a:latin typeface="Cambria Math" panose="02040503050406030204" pitchFamily="18" charset="0"/>
                                    </a:rPr>
                                    <m:t>𝑘</m:t>
                                  </m:r>
                                </m:e>
                              </m:d>
                            </m:sup>
                          </m:sSup>
                        </m:e>
                      </m:d>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m:t>
                          </m:r>
                        </m:sup>
                      </m:sSup>
                    </m:oMath>
                  </m:oMathPara>
                </a14:m>
                <a:endParaRPr kumimoji="1" lang="en-US" altLang="zh-CN" sz="2000" b="0" dirty="0"/>
              </a:p>
              <a:p>
                <a:r>
                  <a:rPr kumimoji="1" lang="zh-CN" altLang="en-US" sz="2000" b="0" dirty="0"/>
                  <a:t>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ctr"/>
                <a14:m>
                  <m:oMathPara xmlns:m="http://schemas.openxmlformats.org/officeDocument/2006/math">
                    <m:oMathParaPr>
                      <m:jc m:val="center"/>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𝐼</m:t>
                      </m:r>
                      <m:r>
                        <a:rPr kumimoji="1" lang="en-US" altLang="zh-CN" sz="2000" b="0" i="1" smtClean="0">
                          <a:latin typeface="Cambria Math" panose="02040503050406030204" pitchFamily="18" charset="0"/>
                        </a:rPr>
                        <m:t>)</m:t>
                      </m:r>
                    </m:oMath>
                  </m:oMathPara>
                </a14:m>
                <a:endParaRPr kumimoji="1" lang="en-US" altLang="zh-CN" sz="2000" b="0" dirty="0"/>
              </a:p>
              <a:p>
                <a:r>
                  <a:rPr kumimoji="1" lang="zh-CN" altLang="en-US" sz="2000" b="0" dirty="0"/>
                  <a:t>如果没有残差连接，对损失函数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l"/>
                <a14:m>
                  <m:oMathPara xmlns:m="http://schemas.openxmlformats.org/officeDocument/2006/math">
                    <m:oMathParaPr>
                      <m:jc m:val="centerGroup"/>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m:oMathPara>
                </a14:m>
                <a:endParaRPr kumimoji="1" lang="en-US" altLang="zh-CN" sz="2000" b="0" dirty="0"/>
              </a:p>
              <a:p>
                <a:pPr algn="l"/>
                <a:endParaRPr kumimoji="1" lang="en-US" altLang="zh-CN" sz="2000" b="0" dirty="0"/>
              </a:p>
              <a:p>
                <a:pPr algn="l"/>
                <a:r>
                  <a:rPr kumimoji="1" lang="zh-CN" altLang="en-US" sz="2000" b="0" dirty="0"/>
                  <a:t>由于 </a:t>
                </a:r>
                <a14:m>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a14:m>
                <a:r>
                  <a:rPr kumimoji="1" lang="zh-CN" altLang="en-US" sz="2000" b="0" dirty="0"/>
                  <a:t> 可能包含较小的权重矩阵乘积，在深层网络中容易导致梯度衰减甚至消失。</a:t>
                </a:r>
              </a:p>
            </p:txBody>
          </p:sp>
        </mc:Choice>
        <mc:Fallback xmlns="">
          <p:sp>
            <p:nvSpPr>
              <p:cNvPr id="7" name="内容占位符 2">
                <a:extLst>
                  <a:ext uri="{FF2B5EF4-FFF2-40B4-BE49-F238E27FC236}">
                    <a16:creationId xmlns:a16="http://schemas.microsoft.com/office/drawing/2014/main" id="{E36B3902-E8EB-48FE-B688-8C1DB0558A76}"/>
                  </a:ext>
                </a:extLst>
              </p:cNvPr>
              <p:cNvSpPr>
                <a:spLocks noGrp="1" noRot="1" noChangeAspect="1" noMove="1" noResize="1" noEditPoints="1" noAdjustHandles="1" noChangeArrowheads="1" noChangeShapeType="1" noTextEdit="1"/>
              </p:cNvSpPr>
              <p:nvPr>
                <p:ph idx="1"/>
              </p:nvPr>
            </p:nvSpPr>
            <p:spPr>
              <a:xfrm>
                <a:off x="210941" y="839894"/>
                <a:ext cx="12074918" cy="5333856"/>
              </a:xfrm>
              <a:blipFill>
                <a:blip r:embed="rId2"/>
                <a:stretch>
                  <a:fillRect l="-556" t="-9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686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6.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840.xml><?xml version="1.0" encoding="utf-8"?>
<p:tagLst xmlns:p="http://schemas.openxmlformats.org/presentationml/2006/main">
  <p:tag name="KSO_WM_BEAUTIFY_FLAG" val=""/>
</p:tagLst>
</file>

<file path=ppt/tags/tag1860.xml><?xml version="1.0" encoding="utf-8"?>
<p:tagLst xmlns:p="http://schemas.openxmlformats.org/presentationml/2006/main">
  <p:tag name="KSO_WM_BEAUTIFY_FLAG" val=""/>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1062</TotalTime>
  <Words>1726</Words>
  <Application>Microsoft Office PowerPoint</Application>
  <PresentationFormat>宽屏</PresentationFormat>
  <Paragraphs>178</Paragraphs>
  <Slides>37</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37</vt:i4>
      </vt:variant>
    </vt:vector>
  </HeadingPairs>
  <TitlesOfParts>
    <vt:vector size="52" baseType="lpstr">
      <vt:lpstr>CMMI10</vt:lpstr>
      <vt:lpstr>FandolSong-Regular-Identity-H</vt:lpstr>
      <vt:lpstr>LMRoman10-Regular-Identity-H</vt:lpstr>
      <vt:lpstr>quote-cjk-patch</vt:lpstr>
      <vt:lpstr>等线</vt:lpstr>
      <vt:lpstr>华文宋体</vt:lpstr>
      <vt:lpstr>微软雅黑</vt:lpstr>
      <vt:lpstr>Arial</vt:lpstr>
      <vt:lpstr>Book Antiqua</vt:lpstr>
      <vt:lpstr>Cambria Math</vt:lpstr>
      <vt:lpstr>Segoe UI</vt:lpstr>
      <vt:lpstr>Times New Roman</vt:lpstr>
      <vt:lpstr>Wingdings</vt:lpstr>
      <vt:lpstr>1_自定义设计方案</vt:lpstr>
      <vt:lpstr>2_自定义设计方案</vt:lpstr>
      <vt:lpstr>PowerPoint 演示文稿</vt:lpstr>
      <vt:lpstr>神经网络简介</vt:lpstr>
      <vt:lpstr>单个神经元如何感知信息</vt:lpstr>
      <vt:lpstr>单个神经元如何感知信息</vt:lpstr>
      <vt:lpstr>PowerPoint 演示文稿</vt:lpstr>
      <vt:lpstr>PowerPoint 演示文稿</vt:lpstr>
      <vt:lpstr>PowerPoint 演示文稿</vt:lpstr>
      <vt:lpstr>PowerPoint 演示文稿</vt:lpstr>
      <vt:lpstr>PowerPoint 演示文稿</vt:lpstr>
      <vt:lpstr>PowerPoint 演示文稿</vt:lpstr>
      <vt:lpstr>多层神经网络</vt:lpstr>
      <vt:lpstr>理解神经网络</vt:lpstr>
      <vt:lpstr>PowerPoint 演示文稿</vt:lpstr>
      <vt:lpstr>万有逼近定理</vt:lpstr>
      <vt:lpstr>PowerPoint 演示文稿</vt:lpstr>
      <vt:lpstr>多层神经网络</vt:lpstr>
      <vt:lpstr>请思考</vt:lpstr>
      <vt:lpstr>请思考</vt:lpstr>
      <vt:lpstr>残差神经网络</vt:lpstr>
      <vt:lpstr>退化问题</vt:lpstr>
      <vt:lpstr>Sigmoid函数饱和</vt:lpstr>
      <vt:lpstr>残差神经网络</vt:lpstr>
      <vt:lpstr>损失函数</vt:lpstr>
      <vt:lpstr>损失函数</vt:lpstr>
      <vt:lpstr>Softmax,困惑度（Perplexity） </vt:lpstr>
      <vt:lpstr>参数的初始化</vt:lpstr>
      <vt:lpstr>参数的初始化</vt:lpstr>
      <vt:lpstr>实验</vt:lpstr>
      <vt:lpstr>Kaggle介绍</vt:lpstr>
      <vt:lpstr>Kaggle注册</vt:lpstr>
      <vt:lpstr>经典分类任务 MNIST 数据集介绍</vt:lpstr>
      <vt:lpstr>代码简介</vt:lpstr>
      <vt:lpstr>Kaggle跑实验说明</vt:lpstr>
      <vt:lpstr>Kaggle提交成绩</vt:lpstr>
      <vt:lpstr>习题</vt:lpstr>
      <vt:lpstr>参考答案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622</cp:revision>
  <dcterms:created xsi:type="dcterms:W3CDTF">2020-06-05T07:59:00Z</dcterms:created>
  <dcterms:modified xsi:type="dcterms:W3CDTF">2025-10-28T07:12:09Z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